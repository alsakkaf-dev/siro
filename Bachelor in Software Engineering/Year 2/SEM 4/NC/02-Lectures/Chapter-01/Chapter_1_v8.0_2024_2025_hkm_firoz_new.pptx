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30"/>
  </p:notesMasterIdLst>
  <p:sldIdLst>
    <p:sldId id="960" r:id="rId2"/>
    <p:sldId id="956" r:id="rId3"/>
    <p:sldId id="486" r:id="rId4"/>
    <p:sldId id="957" r:id="rId5"/>
    <p:sldId id="959" r:id="rId6"/>
    <p:sldId id="961" r:id="rId7"/>
    <p:sldId id="264" r:id="rId8"/>
    <p:sldId id="958" r:id="rId9"/>
    <p:sldId id="962" r:id="rId10"/>
    <p:sldId id="963" r:id="rId11"/>
    <p:sldId id="488" r:id="rId12"/>
    <p:sldId id="964" r:id="rId13"/>
    <p:sldId id="965" r:id="rId14"/>
    <p:sldId id="966" r:id="rId15"/>
    <p:sldId id="967" r:id="rId16"/>
    <p:sldId id="489" r:id="rId17"/>
    <p:sldId id="490" r:id="rId18"/>
    <p:sldId id="491" r:id="rId19"/>
    <p:sldId id="969" r:id="rId20"/>
    <p:sldId id="973" r:id="rId21"/>
    <p:sldId id="492" r:id="rId22"/>
    <p:sldId id="974" r:id="rId23"/>
    <p:sldId id="970" r:id="rId24"/>
    <p:sldId id="494" r:id="rId25"/>
    <p:sldId id="981" r:id="rId26"/>
    <p:sldId id="975" r:id="rId27"/>
    <p:sldId id="496" r:id="rId28"/>
    <p:sldId id="976" r:id="rId29"/>
    <p:sldId id="379" r:id="rId30"/>
    <p:sldId id="977" r:id="rId31"/>
    <p:sldId id="479" r:id="rId32"/>
    <p:sldId id="978" r:id="rId33"/>
    <p:sldId id="979" r:id="rId34"/>
    <p:sldId id="980" r:id="rId35"/>
    <p:sldId id="968" r:id="rId36"/>
    <p:sldId id="982" r:id="rId37"/>
    <p:sldId id="983" r:id="rId38"/>
    <p:sldId id="380" r:id="rId39"/>
    <p:sldId id="498" r:id="rId40"/>
    <p:sldId id="287" r:id="rId41"/>
    <p:sldId id="984" r:id="rId42"/>
    <p:sldId id="288" r:id="rId43"/>
    <p:sldId id="985" r:id="rId44"/>
    <p:sldId id="289" r:id="rId45"/>
    <p:sldId id="293" r:id="rId46"/>
    <p:sldId id="986" r:id="rId47"/>
    <p:sldId id="294" r:id="rId48"/>
    <p:sldId id="987" r:id="rId49"/>
    <p:sldId id="372" r:id="rId50"/>
    <p:sldId id="988" r:id="rId51"/>
    <p:sldId id="371" r:id="rId52"/>
    <p:sldId id="989" r:id="rId53"/>
    <p:sldId id="298" r:id="rId54"/>
    <p:sldId id="299" r:id="rId55"/>
    <p:sldId id="300" r:id="rId56"/>
    <p:sldId id="991" r:id="rId57"/>
    <p:sldId id="992" r:id="rId58"/>
    <p:sldId id="995" r:id="rId59"/>
    <p:sldId id="994" r:id="rId60"/>
    <p:sldId id="996" r:id="rId61"/>
    <p:sldId id="997" r:id="rId62"/>
    <p:sldId id="998" r:id="rId63"/>
    <p:sldId id="999" r:id="rId64"/>
    <p:sldId id="1000" r:id="rId65"/>
    <p:sldId id="1001" r:id="rId66"/>
    <p:sldId id="1002" r:id="rId67"/>
    <p:sldId id="1003" r:id="rId68"/>
    <p:sldId id="320" r:id="rId69"/>
    <p:sldId id="321" r:id="rId70"/>
    <p:sldId id="1004" r:id="rId71"/>
    <p:sldId id="1005" r:id="rId72"/>
    <p:sldId id="1006" r:id="rId73"/>
    <p:sldId id="1007" r:id="rId74"/>
    <p:sldId id="1008" r:id="rId75"/>
    <p:sldId id="1009" r:id="rId76"/>
    <p:sldId id="326" r:id="rId77"/>
    <p:sldId id="1010" r:id="rId78"/>
    <p:sldId id="1011" r:id="rId79"/>
    <p:sldId id="1012" r:id="rId80"/>
    <p:sldId id="1013" r:id="rId81"/>
    <p:sldId id="499" r:id="rId82"/>
    <p:sldId id="332" r:id="rId83"/>
    <p:sldId id="333" r:id="rId84"/>
    <p:sldId id="1014" r:id="rId85"/>
    <p:sldId id="500" r:id="rId86"/>
    <p:sldId id="474" r:id="rId87"/>
    <p:sldId id="475" r:id="rId88"/>
    <p:sldId id="1023" r:id="rId89"/>
    <p:sldId id="1025" r:id="rId90"/>
    <p:sldId id="1026" r:id="rId91"/>
    <p:sldId id="1027" r:id="rId92"/>
    <p:sldId id="1028" r:id="rId93"/>
    <p:sldId id="473" r:id="rId94"/>
    <p:sldId id="480" r:id="rId95"/>
    <p:sldId id="481" r:id="rId96"/>
    <p:sldId id="462" r:id="rId97"/>
    <p:sldId id="482" r:id="rId98"/>
    <p:sldId id="483" r:id="rId99"/>
    <p:sldId id="484" r:id="rId100"/>
    <p:sldId id="485" r:id="rId101"/>
    <p:sldId id="467" r:id="rId102"/>
    <p:sldId id="468" r:id="rId103"/>
    <p:sldId id="469" r:id="rId104"/>
    <p:sldId id="470" r:id="rId105"/>
    <p:sldId id="472" r:id="rId106"/>
    <p:sldId id="1029" r:id="rId107"/>
    <p:sldId id="399" r:id="rId108"/>
    <p:sldId id="1030" r:id="rId109"/>
    <p:sldId id="501" r:id="rId110"/>
    <p:sldId id="1015" r:id="rId111"/>
    <p:sldId id="1017" r:id="rId112"/>
    <p:sldId id="1018" r:id="rId113"/>
    <p:sldId id="502" r:id="rId114"/>
    <p:sldId id="1020" r:id="rId115"/>
    <p:sldId id="503" r:id="rId116"/>
    <p:sldId id="1021" r:id="rId117"/>
    <p:sldId id="504" r:id="rId118"/>
    <p:sldId id="1022" r:id="rId119"/>
    <p:sldId id="505" r:id="rId120"/>
    <p:sldId id="1031" r:id="rId121"/>
    <p:sldId id="1032" r:id="rId122"/>
    <p:sldId id="1033" r:id="rId123"/>
    <p:sldId id="1034" r:id="rId124"/>
    <p:sldId id="1036" r:id="rId125"/>
    <p:sldId id="1035" r:id="rId126"/>
    <p:sldId id="1037" r:id="rId127"/>
    <p:sldId id="1038" r:id="rId128"/>
    <p:sldId id="1039" r:id="rId12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056" userDrawn="1">
          <p15:clr>
            <a:srgbClr val="A4A3A4"/>
          </p15:clr>
        </p15:guide>
        <p15:guide id="2" pos="55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3C6CDF"/>
    <a:srgbClr val="9CDFF9"/>
    <a:srgbClr val="B8C2C9"/>
    <a:srgbClr val="D6DCE0"/>
    <a:srgbClr val="0000A3"/>
    <a:srgbClr val="010086"/>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2179" autoAdjust="0"/>
    <p:restoredTop sz="90748"/>
  </p:normalViewPr>
  <p:slideViewPr>
    <p:cSldViewPr snapToGrid="0" snapToObjects="1">
      <p:cViewPr varScale="1">
        <p:scale>
          <a:sx n="86" d="100"/>
          <a:sy n="86" d="100"/>
        </p:scale>
        <p:origin x="691" y="72"/>
      </p:cViewPr>
      <p:guideLst>
        <p:guide orient="horz" pos="1056"/>
        <p:guide pos="55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tableStyles" Target="tableStyle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10/9/2024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7.2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a:p>
            <a:pPr marL="0" indent="0">
              <a:buFont typeface="Arial" panose="020B0604020202020204" pitchFamily="34" charset="0"/>
              <a:buNone/>
            </a:pPr>
            <a:r>
              <a:rPr lang="en-US" dirty="0"/>
              <a:t>Feb. 2020</a:t>
            </a:r>
          </a:p>
          <a:p>
            <a:pPr marL="171450" indent="-171450">
              <a:buFont typeface="Arial" panose="020B0604020202020204" pitchFamily="34" charset="0"/>
              <a:buChar char="•"/>
            </a:pPr>
            <a:r>
              <a:rPr lang="en-US" dirty="0"/>
              <a:t>a few updates suggest by Catherine Rosenberg (thanks!)</a:t>
            </a:r>
          </a:p>
          <a:p>
            <a:pPr marL="171450" indent="-171450">
              <a:buFont typeface="Arial" panose="020B0604020202020204" pitchFamily="34" charset="0"/>
              <a:buChar char="•"/>
            </a:pPr>
            <a:r>
              <a:rPr lang="en-US" dirty="0"/>
              <a:t>titles in a </a:t>
            </a:r>
            <a:r>
              <a:rPr lang="en-US"/>
              <a:t>lighter font</a:t>
            </a:r>
            <a:endParaRPr lang="en-US" dirty="0"/>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Slide Image Placeholder 1"/>
          <p:cNvSpPr>
            <a:spLocks noGrp="1" noRot="1" noChangeAspect="1" noChangeArrowheads="1" noTextEdit="1"/>
          </p:cNvSpPr>
          <p:nvPr>
            <p:ph type="sldImg"/>
          </p:nvPr>
        </p:nvSpPr>
        <p:spPr>
          <a:ln/>
        </p:spPr>
      </p:sp>
      <p:sp>
        <p:nvSpPr>
          <p:cNvPr id="19459"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buFontTx/>
              <a:buChar char="•"/>
            </a:pPr>
            <a:r>
              <a:rPr lang="en-MY" altLang="en-US">
                <a:ea typeface="ＭＳ Ｐゴシック" panose="020B0600070205080204" pitchFamily="34" charset="-128"/>
              </a:rPr>
              <a:t>These applications include email, Web surfing, social networks, instant messaging, Voiceover-IP (VoIP), video streaming, distributed games, peer-to-peer (P2P) file sharing, television over the Internet, remote login, and much, much more. </a:t>
            </a:r>
          </a:p>
          <a:p>
            <a:pPr>
              <a:buFontTx/>
              <a:buChar char="•"/>
            </a:pPr>
            <a:r>
              <a:rPr lang="en-MY" altLang="en-US">
                <a:ea typeface="ＭＳ Ｐゴシック" panose="020B0600070205080204" pitchFamily="34" charset="-128"/>
              </a:rPr>
              <a:t>The applications are said to be </a:t>
            </a:r>
            <a:r>
              <a:rPr lang="en-MY" altLang="en-US" b="1">
                <a:ea typeface="ＭＳ Ｐゴシック" panose="020B0600070205080204" pitchFamily="34" charset="-128"/>
              </a:rPr>
              <a:t>distributed applications, since they involve multiple </a:t>
            </a:r>
            <a:r>
              <a:rPr lang="en-MY" altLang="en-US">
                <a:ea typeface="ＭＳ Ｐゴシック" panose="020B0600070205080204" pitchFamily="34" charset="-128"/>
              </a:rPr>
              <a:t>end systems that exchange data with each other</a:t>
            </a:r>
          </a:p>
          <a:p>
            <a:endParaRPr lang="en-MY" altLang="en-US">
              <a:ea typeface="ＭＳ Ｐゴシック" panose="020B0600070205080204" pitchFamily="34" charset="-128"/>
            </a:endParaRPr>
          </a:p>
        </p:txBody>
      </p:sp>
      <p:sp>
        <p:nvSpPr>
          <p:cNvPr id="19460"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14FFE74B-6028-4CF3-9598-42842BA3B83F}" type="slidenum">
              <a:rPr lang="en-MY" altLang="en-US" sz="1300" smtClean="0">
                <a:latin typeface="Times New Roman" panose="02020603050405020304" pitchFamily="18" charset="0"/>
              </a:rPr>
              <a:pPr/>
              <a:t>7</a:t>
            </a:fld>
            <a:endParaRPr lang="en-MY" altLang="en-US" sz="1300">
              <a:latin typeface="Times New Roman" panose="02020603050405020304" pitchFamily="18"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important points</a:t>
            </a:r>
          </a:p>
          <a:p>
            <a:pPr marL="171450" indent="-171450">
              <a:buFont typeface="Arial" panose="020B0604020202020204" pitchFamily="34" charset="0"/>
              <a:buChar char="•"/>
            </a:pPr>
            <a:r>
              <a:rPr lang="en-US" b="1" dirty="0"/>
              <a:t>distributed</a:t>
            </a:r>
            <a:r>
              <a:rPr lang="en-US" dirty="0"/>
              <a:t> entities, exchanging messages (governed by protocols)</a:t>
            </a:r>
          </a:p>
          <a:p>
            <a:pPr marL="171450" indent="-171450">
              <a:buFont typeface="Arial" panose="020B0604020202020204" pitchFamily="34" charset="0"/>
              <a:buChar char="•"/>
            </a:pPr>
            <a:r>
              <a:rPr lang="en-US" dirty="0"/>
              <a:t>Time going down</a:t>
            </a:r>
          </a:p>
          <a:p>
            <a:pPr marL="171450" indent="-171450">
              <a:buFont typeface="Arial" panose="020B0604020202020204" pitchFamily="34" charset="0"/>
              <a:buChar char="•"/>
            </a:pPr>
            <a:r>
              <a:rPr lang="en-US" dirty="0"/>
              <a:t>go over definition of protocol (showing format, order of messages sent and received, and actions taken)</a:t>
            </a:r>
          </a:p>
          <a:p>
            <a:pPr marL="0" indent="0">
              <a:buFont typeface="Arial" panose="020B0604020202020204" pitchFamily="34" charset="0"/>
              <a:buNone/>
            </a:pPr>
            <a:r>
              <a:rPr lang="en-US" dirty="0"/>
              <a:t>We’ll see these kinds of diagrams a lot</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a:p>
        </p:txBody>
      </p:sp>
    </p:spTree>
    <p:extLst>
      <p:ext uri="{BB962C8B-B14F-4D97-AF65-F5344CB8AC3E}">
        <p14:creationId xmlns:p14="http://schemas.microsoft.com/office/powerpoint/2010/main" val="36170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Slide Image Placeholder 1"/>
          <p:cNvSpPr>
            <a:spLocks noGrp="1" noRot="1" noChangeAspect="1" noChangeArrowheads="1" noTextEdit="1"/>
          </p:cNvSpPr>
          <p:nvPr>
            <p:ph type="sldImg"/>
          </p:nvPr>
        </p:nvSpPr>
        <p:spPr>
          <a:ln/>
        </p:spPr>
      </p:sp>
      <p:sp>
        <p:nvSpPr>
          <p:cNvPr id="33795"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buSzPct val="75000"/>
            </a:pPr>
            <a:r>
              <a:rPr lang="en-US" altLang="en-US">
                <a:ea typeface="ＭＳ Ｐゴシック" panose="020B0600070205080204" pitchFamily="34" charset="-128"/>
              </a:rPr>
              <a:t>Introductions </a:t>
            </a:r>
          </a:p>
          <a:p>
            <a:pPr>
              <a:buSzPct val="75000"/>
              <a:buFont typeface="Wingdings" panose="05000000000000000000" pitchFamily="2" charset="2"/>
              <a:buChar char="à"/>
            </a:pPr>
            <a:r>
              <a:rPr lang="en-US" altLang="en-US">
                <a:ea typeface="ＭＳ Ｐゴシック" panose="020B0600070205080204" pitchFamily="34" charset="-128"/>
                <a:sym typeface="Wingdings" panose="05000000000000000000" pitchFamily="2" charset="2"/>
              </a:rPr>
              <a:t>s</a:t>
            </a:r>
            <a:r>
              <a:rPr lang="en-US" altLang="en-US">
                <a:ea typeface="ＭＳ Ｐゴシック" panose="020B0600070205080204" pitchFamily="34" charset="-128"/>
              </a:rPr>
              <a:t>pecific message sent</a:t>
            </a:r>
          </a:p>
          <a:p>
            <a:r>
              <a:rPr lang="en-US" altLang="en-US">
                <a:ea typeface="ＭＳ Ｐゴシック" panose="020B0600070205080204" pitchFamily="34" charset="-128"/>
                <a:sym typeface="Wingdings" panose="05000000000000000000" pitchFamily="2" charset="2"/>
              </a:rPr>
              <a:t></a:t>
            </a:r>
            <a:r>
              <a:rPr lang="en-US" altLang="en-US">
                <a:ea typeface="ＭＳ Ｐゴシック" panose="020B0600070205080204" pitchFamily="34" charset="-128"/>
              </a:rPr>
              <a:t>specific actions taken when message received, or other events</a:t>
            </a:r>
          </a:p>
          <a:p>
            <a:endParaRPr lang="en-MY" altLang="en-US">
              <a:ea typeface="ＭＳ Ｐゴシック" panose="020B0600070205080204" pitchFamily="34" charset="-128"/>
            </a:endParaRPr>
          </a:p>
        </p:txBody>
      </p:sp>
      <p:sp>
        <p:nvSpPr>
          <p:cNvPr id="33796"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B0E01DA7-6271-45C5-AAD6-C5C7542FA0DA}" type="slidenum">
              <a:rPr lang="en-MY" altLang="en-US" sz="1300" smtClean="0">
                <a:latin typeface="Times New Roman" panose="02020603050405020304" pitchFamily="18" charset="0"/>
              </a:rPr>
              <a:pPr/>
              <a:t>11</a:t>
            </a:fld>
            <a:endParaRPr lang="en-MY" altLang="en-US" sz="1300">
              <a:latin typeface="Times New Roman" panose="02020603050405020304" pitchFamily="18"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a:t>
            </a:fld>
            <a:endParaRPr lang="en-US"/>
          </a:p>
        </p:txBody>
      </p:sp>
    </p:spTree>
    <p:extLst>
      <p:ext uri="{BB962C8B-B14F-4D97-AF65-F5344CB8AC3E}">
        <p14:creationId xmlns:p14="http://schemas.microsoft.com/office/powerpoint/2010/main" val="162493217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a:p>
        </p:txBody>
      </p:sp>
    </p:spTree>
    <p:extLst>
      <p:ext uri="{BB962C8B-B14F-4D97-AF65-F5344CB8AC3E}">
        <p14:creationId xmlns:p14="http://schemas.microsoft.com/office/powerpoint/2010/main" val="67077503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a:t>
            </a:fld>
            <a:endParaRPr lang="en-US"/>
          </a:p>
        </p:txBody>
      </p:sp>
    </p:spTree>
    <p:extLst>
      <p:ext uri="{BB962C8B-B14F-4D97-AF65-F5344CB8AC3E}">
        <p14:creationId xmlns:p14="http://schemas.microsoft.com/office/powerpoint/2010/main" val="255388953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a:t>
            </a:fld>
            <a:endParaRPr lang="en-US"/>
          </a:p>
        </p:txBody>
      </p:sp>
    </p:spTree>
    <p:extLst>
      <p:ext uri="{BB962C8B-B14F-4D97-AF65-F5344CB8AC3E}">
        <p14:creationId xmlns:p14="http://schemas.microsoft.com/office/powerpoint/2010/main" val="20835108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a:t>
            </a:fld>
            <a:endParaRPr lang="en-US"/>
          </a:p>
        </p:txBody>
      </p:sp>
    </p:spTree>
    <p:extLst>
      <p:ext uri="{BB962C8B-B14F-4D97-AF65-F5344CB8AC3E}">
        <p14:creationId xmlns:p14="http://schemas.microsoft.com/office/powerpoint/2010/main" val="321685545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821931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127239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688188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27107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792980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79980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ChangeArrowheads="1" noTextEdit="1"/>
          </p:cNvSpPr>
          <p:nvPr>
            <p:ph type="sldImg"/>
          </p:nvPr>
        </p:nvSpPr>
        <p:spPr>
          <a:ln/>
        </p:spPr>
      </p:sp>
      <p:sp>
        <p:nvSpPr>
          <p:cNvPr id="57347"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ea typeface="ＭＳ Ｐゴシック" panose="020B0600070205080204" pitchFamily="34" charset="-128"/>
            </a:endParaRPr>
          </a:p>
        </p:txBody>
      </p:sp>
      <p:sp>
        <p:nvSpPr>
          <p:cNvPr id="57348" name="Slide Number Placeholder 3"/>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defTabSz="914400" eaLnBrk="1" hangingPunct="1"/>
            <a:fld id="{E34AC8BA-6FB7-4B44-852E-5AC658A9AA4B}" type="slidenum">
              <a:rPr lang="en-US" altLang="en-US" sz="1200" smtClean="0">
                <a:solidFill>
                  <a:srgbClr val="000000"/>
                </a:solidFill>
                <a:latin typeface="Calibri" panose="020F0502020204030204" pitchFamily="34" charset="0"/>
              </a:rPr>
              <a:pPr defTabSz="914400" eaLnBrk="1" hangingPunct="1"/>
              <a:t>29</a:t>
            </a:fld>
            <a:endParaRPr lang="en-US" altLang="en-US" sz="1200">
              <a:solidFill>
                <a:srgbClr val="000000"/>
              </a:solidFill>
              <a:latin typeface="Calibri" panose="020F0502020204030204" pitchFamily="34"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288933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78742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077614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569866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35</a:t>
            </a:fld>
            <a:endParaRPr lang="en-US"/>
          </a:p>
        </p:txBody>
      </p:sp>
    </p:spTree>
    <p:extLst>
      <p:ext uri="{BB962C8B-B14F-4D97-AF65-F5344CB8AC3E}">
        <p14:creationId xmlns:p14="http://schemas.microsoft.com/office/powerpoint/2010/main" val="357169207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36</a:t>
            </a:fld>
            <a:endParaRPr lang="en-US"/>
          </a:p>
        </p:txBody>
      </p:sp>
    </p:spTree>
    <p:extLst>
      <p:ext uri="{BB962C8B-B14F-4D97-AF65-F5344CB8AC3E}">
        <p14:creationId xmlns:p14="http://schemas.microsoft.com/office/powerpoint/2010/main" val="124831468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37</a:t>
            </a:fld>
            <a:endParaRPr lang="en-US"/>
          </a:p>
        </p:txBody>
      </p:sp>
    </p:spTree>
    <p:extLst>
      <p:ext uri="{BB962C8B-B14F-4D97-AF65-F5344CB8AC3E}">
        <p14:creationId xmlns:p14="http://schemas.microsoft.com/office/powerpoint/2010/main" val="359399778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Slide Image Placeholder 1"/>
          <p:cNvSpPr>
            <a:spLocks noGrp="1" noRot="1" noChangeAspect="1" noChangeArrowheads="1" noTextEdit="1"/>
          </p:cNvSpPr>
          <p:nvPr>
            <p:ph type="sldImg"/>
          </p:nvPr>
        </p:nvSpPr>
        <p:spPr>
          <a:ln/>
        </p:spPr>
      </p:sp>
      <p:sp>
        <p:nvSpPr>
          <p:cNvPr id="77827"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ea typeface="ＭＳ Ｐゴシック" panose="020B0600070205080204" pitchFamily="34" charset="-128"/>
              </a:rPr>
              <a:t>Transmit = forward</a:t>
            </a:r>
            <a:endParaRPr lang="en-MY" altLang="en-US">
              <a:ea typeface="ＭＳ Ｐゴシック" panose="020B0600070205080204" pitchFamily="34" charset="-128"/>
            </a:endParaRPr>
          </a:p>
        </p:txBody>
      </p:sp>
      <p:sp>
        <p:nvSpPr>
          <p:cNvPr id="77828"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0D8F6576-3E5A-48BA-9F78-B7D522D4F9FE}" type="slidenum">
              <a:rPr lang="en-MY" altLang="en-US" sz="1300" smtClean="0">
                <a:latin typeface="Times New Roman" panose="02020603050405020304" pitchFamily="18" charset="0"/>
              </a:rPr>
              <a:pPr/>
              <a:t>39</a:t>
            </a:fld>
            <a:endParaRPr lang="en-MY" altLang="en-US" sz="1300">
              <a:latin typeface="Times New Roman" panose="02020603050405020304" pitchFamily="18"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a:p>
        </p:txBody>
      </p:sp>
    </p:spTree>
    <p:extLst>
      <p:ext uri="{BB962C8B-B14F-4D97-AF65-F5344CB8AC3E}">
        <p14:creationId xmlns:p14="http://schemas.microsoft.com/office/powerpoint/2010/main" val="245249589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43</a:t>
            </a:fld>
            <a:endParaRPr lang="en-US"/>
          </a:p>
        </p:txBody>
      </p:sp>
    </p:spTree>
    <p:extLst>
      <p:ext uri="{BB962C8B-B14F-4D97-AF65-F5344CB8AC3E}">
        <p14:creationId xmlns:p14="http://schemas.microsoft.com/office/powerpoint/2010/main" val="19932185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Slide Image Placeholder 1"/>
          <p:cNvSpPr>
            <a:spLocks noGrp="1" noRot="1" noChangeAspect="1" noChangeArrowheads="1" noTextEdit="1"/>
          </p:cNvSpPr>
          <p:nvPr>
            <p:ph type="sldImg"/>
          </p:nvPr>
        </p:nvSpPr>
        <p:spPr>
          <a:ln/>
        </p:spPr>
      </p:sp>
      <p:sp>
        <p:nvSpPr>
          <p:cNvPr id="84995"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MY" altLang="en-US">
              <a:ea typeface="ＭＳ Ｐゴシック" panose="020B0600070205080204" pitchFamily="34" charset="-128"/>
            </a:endParaRPr>
          </a:p>
        </p:txBody>
      </p:sp>
      <p:sp>
        <p:nvSpPr>
          <p:cNvPr id="84996"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69C243BC-72FD-453F-835A-587295AA3D31}" type="slidenum">
              <a:rPr lang="en-MY" altLang="en-US" sz="1300" smtClean="0">
                <a:latin typeface="Times New Roman" panose="02020603050405020304" pitchFamily="18" charset="0"/>
              </a:rPr>
              <a:pPr/>
              <a:t>44</a:t>
            </a:fld>
            <a:endParaRPr lang="en-MY" altLang="en-US" sz="1300">
              <a:latin typeface="Times New Roman" panose="02020603050405020304" pitchFamily="18"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46</a:t>
            </a:fld>
            <a:endParaRPr lang="en-US"/>
          </a:p>
        </p:txBody>
      </p:sp>
    </p:spTree>
    <p:extLst>
      <p:ext uri="{BB962C8B-B14F-4D97-AF65-F5344CB8AC3E}">
        <p14:creationId xmlns:p14="http://schemas.microsoft.com/office/powerpoint/2010/main" val="158030626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48</a:t>
            </a:fld>
            <a:endParaRPr lang="en-US"/>
          </a:p>
        </p:txBody>
      </p:sp>
    </p:spTree>
    <p:extLst>
      <p:ext uri="{BB962C8B-B14F-4D97-AF65-F5344CB8AC3E}">
        <p14:creationId xmlns:p14="http://schemas.microsoft.com/office/powerpoint/2010/main" val="6766402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50</a:t>
            </a:fld>
            <a:endParaRPr lang="en-US"/>
          </a:p>
        </p:txBody>
      </p:sp>
    </p:spTree>
    <p:extLst>
      <p:ext uri="{BB962C8B-B14F-4D97-AF65-F5344CB8AC3E}">
        <p14:creationId xmlns:p14="http://schemas.microsoft.com/office/powerpoint/2010/main" val="161102408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52</a:t>
            </a:fld>
            <a:endParaRPr lang="en-US"/>
          </a:p>
        </p:txBody>
      </p:sp>
    </p:spTree>
    <p:extLst>
      <p:ext uri="{BB962C8B-B14F-4D97-AF65-F5344CB8AC3E}">
        <p14:creationId xmlns:p14="http://schemas.microsoft.com/office/powerpoint/2010/main" val="93530445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56</a:t>
            </a:fld>
            <a:endParaRPr lang="en-US"/>
          </a:p>
        </p:txBody>
      </p:sp>
    </p:spTree>
    <p:extLst>
      <p:ext uri="{BB962C8B-B14F-4D97-AF65-F5344CB8AC3E}">
        <p14:creationId xmlns:p14="http://schemas.microsoft.com/office/powerpoint/2010/main" val="236600936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57</a:t>
            </a:fld>
            <a:endParaRPr lang="en-US"/>
          </a:p>
        </p:txBody>
      </p:sp>
    </p:spTree>
    <p:extLst>
      <p:ext uri="{BB962C8B-B14F-4D97-AF65-F5344CB8AC3E}">
        <p14:creationId xmlns:p14="http://schemas.microsoft.com/office/powerpoint/2010/main" val="344872197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58</a:t>
            </a:fld>
            <a:endParaRPr lang="en-US"/>
          </a:p>
        </p:txBody>
      </p:sp>
    </p:spTree>
    <p:extLst>
      <p:ext uri="{BB962C8B-B14F-4D97-AF65-F5344CB8AC3E}">
        <p14:creationId xmlns:p14="http://schemas.microsoft.com/office/powerpoint/2010/main" val="223280083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59</a:t>
            </a:fld>
            <a:endParaRPr lang="en-US"/>
          </a:p>
        </p:txBody>
      </p:sp>
    </p:spTree>
    <p:extLst>
      <p:ext uri="{BB962C8B-B14F-4D97-AF65-F5344CB8AC3E}">
        <p14:creationId xmlns:p14="http://schemas.microsoft.com/office/powerpoint/2010/main" val="293988831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60</a:t>
            </a:fld>
            <a:endParaRPr lang="en-US"/>
          </a:p>
        </p:txBody>
      </p:sp>
    </p:spTree>
    <p:extLst>
      <p:ext uri="{BB962C8B-B14F-4D97-AF65-F5344CB8AC3E}">
        <p14:creationId xmlns:p14="http://schemas.microsoft.com/office/powerpoint/2010/main" val="128465218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61</a:t>
            </a:fld>
            <a:endParaRPr lang="en-US"/>
          </a:p>
        </p:txBody>
      </p:sp>
    </p:spTree>
    <p:extLst>
      <p:ext uri="{BB962C8B-B14F-4D97-AF65-F5344CB8AC3E}">
        <p14:creationId xmlns:p14="http://schemas.microsoft.com/office/powerpoint/2010/main" val="196981580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62</a:t>
            </a:fld>
            <a:endParaRPr lang="en-US"/>
          </a:p>
        </p:txBody>
      </p:sp>
    </p:spTree>
    <p:extLst>
      <p:ext uri="{BB962C8B-B14F-4D97-AF65-F5344CB8AC3E}">
        <p14:creationId xmlns:p14="http://schemas.microsoft.com/office/powerpoint/2010/main" val="332206108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a:p>
        </p:txBody>
      </p:sp>
    </p:spTree>
    <p:extLst>
      <p:ext uri="{BB962C8B-B14F-4D97-AF65-F5344CB8AC3E}">
        <p14:creationId xmlns:p14="http://schemas.microsoft.com/office/powerpoint/2010/main" val="755528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64</a:t>
            </a:fld>
            <a:endParaRPr lang="en-US"/>
          </a:p>
        </p:txBody>
      </p:sp>
    </p:spTree>
    <p:extLst>
      <p:ext uri="{BB962C8B-B14F-4D97-AF65-F5344CB8AC3E}">
        <p14:creationId xmlns:p14="http://schemas.microsoft.com/office/powerpoint/2010/main" val="352754212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65</a:t>
            </a:fld>
            <a:endParaRPr lang="en-US"/>
          </a:p>
        </p:txBody>
      </p:sp>
    </p:spTree>
    <p:extLst>
      <p:ext uri="{BB962C8B-B14F-4D97-AF65-F5344CB8AC3E}">
        <p14:creationId xmlns:p14="http://schemas.microsoft.com/office/powerpoint/2010/main" val="393510890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66</a:t>
            </a:fld>
            <a:endParaRPr lang="en-US"/>
          </a:p>
        </p:txBody>
      </p:sp>
    </p:spTree>
    <p:extLst>
      <p:ext uri="{BB962C8B-B14F-4D97-AF65-F5344CB8AC3E}">
        <p14:creationId xmlns:p14="http://schemas.microsoft.com/office/powerpoint/2010/main" val="286805944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67</a:t>
            </a:fld>
            <a:endParaRPr lang="en-US"/>
          </a:p>
        </p:txBody>
      </p:sp>
    </p:spTree>
    <p:extLst>
      <p:ext uri="{BB962C8B-B14F-4D97-AF65-F5344CB8AC3E}">
        <p14:creationId xmlns:p14="http://schemas.microsoft.com/office/powerpoint/2010/main" val="272792925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Slide Image Placeholder 1"/>
          <p:cNvSpPr>
            <a:spLocks noGrp="1" noRot="1" noChangeAspect="1" noChangeArrowheads="1" noTextEdit="1"/>
          </p:cNvSpPr>
          <p:nvPr>
            <p:ph type="sldImg"/>
          </p:nvPr>
        </p:nvSpPr>
        <p:spPr>
          <a:ln/>
        </p:spPr>
      </p:sp>
      <p:sp>
        <p:nvSpPr>
          <p:cNvPr id="128003"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ea typeface="ＭＳ Ｐゴシック" panose="020B0600070205080204" pitchFamily="34" charset="-128"/>
              </a:rPr>
              <a:t>Total nodal delay = nodal processing delay + queuing delay + transmission Delay + propagation delay</a:t>
            </a:r>
            <a:endParaRPr lang="ms-MY" altLang="en-US">
              <a:ea typeface="ＭＳ Ｐゴシック" panose="020B0600070205080204" pitchFamily="34" charset="-128"/>
            </a:endParaRPr>
          </a:p>
          <a:p>
            <a:endParaRPr lang="en-MY" altLang="en-US">
              <a:ea typeface="ＭＳ Ｐゴシック" panose="020B0600070205080204" pitchFamily="34" charset="-128"/>
            </a:endParaRPr>
          </a:p>
        </p:txBody>
      </p:sp>
      <p:sp>
        <p:nvSpPr>
          <p:cNvPr id="128004"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E13B0685-55F9-46FE-9FD4-66BC248D8D31}" type="slidenum">
              <a:rPr lang="en-MY" altLang="en-US" sz="1300" smtClean="0">
                <a:latin typeface="Times New Roman" panose="02020603050405020304" pitchFamily="18" charset="0"/>
              </a:rPr>
              <a:pPr/>
              <a:t>69</a:t>
            </a:fld>
            <a:endParaRPr lang="en-MY" altLang="en-US" sz="1300">
              <a:latin typeface="Times New Roman" panose="02020603050405020304" pitchFamily="18"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70</a:t>
            </a:fld>
            <a:endParaRPr lang="en-US"/>
          </a:p>
        </p:txBody>
      </p:sp>
    </p:spTree>
    <p:extLst>
      <p:ext uri="{BB962C8B-B14F-4D97-AF65-F5344CB8AC3E}">
        <p14:creationId xmlns:p14="http://schemas.microsoft.com/office/powerpoint/2010/main" val="57081554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71</a:t>
            </a:fld>
            <a:endParaRPr lang="en-US"/>
          </a:p>
        </p:txBody>
      </p:sp>
    </p:spTree>
    <p:extLst>
      <p:ext uri="{BB962C8B-B14F-4D97-AF65-F5344CB8AC3E}">
        <p14:creationId xmlns:p14="http://schemas.microsoft.com/office/powerpoint/2010/main" val="203750694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72</a:t>
            </a:fld>
            <a:endParaRPr lang="en-US"/>
          </a:p>
        </p:txBody>
      </p:sp>
    </p:spTree>
    <p:extLst>
      <p:ext uri="{BB962C8B-B14F-4D97-AF65-F5344CB8AC3E}">
        <p14:creationId xmlns:p14="http://schemas.microsoft.com/office/powerpoint/2010/main" val="400620572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73</a:t>
            </a:fld>
            <a:endParaRPr lang="en-US"/>
          </a:p>
        </p:txBody>
      </p:sp>
    </p:spTree>
    <p:extLst>
      <p:ext uri="{BB962C8B-B14F-4D97-AF65-F5344CB8AC3E}">
        <p14:creationId xmlns:p14="http://schemas.microsoft.com/office/powerpoint/2010/main" val="406059341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74</a:t>
            </a:fld>
            <a:endParaRPr lang="en-US"/>
          </a:p>
        </p:txBody>
      </p:sp>
    </p:spTree>
    <p:extLst>
      <p:ext uri="{BB962C8B-B14F-4D97-AF65-F5344CB8AC3E}">
        <p14:creationId xmlns:p14="http://schemas.microsoft.com/office/powerpoint/2010/main" val="171513356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75</a:t>
            </a:fld>
            <a:endParaRPr lang="en-US"/>
          </a:p>
        </p:txBody>
      </p:sp>
    </p:spTree>
    <p:extLst>
      <p:ext uri="{BB962C8B-B14F-4D97-AF65-F5344CB8AC3E}">
        <p14:creationId xmlns:p14="http://schemas.microsoft.com/office/powerpoint/2010/main" val="278585155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a:p>
        </p:txBody>
      </p:sp>
    </p:spTree>
    <p:extLst>
      <p:ext uri="{BB962C8B-B14F-4D97-AF65-F5344CB8AC3E}">
        <p14:creationId xmlns:p14="http://schemas.microsoft.com/office/powerpoint/2010/main" val="183511076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a:p>
        </p:txBody>
      </p:sp>
    </p:spTree>
    <p:extLst>
      <p:ext uri="{BB962C8B-B14F-4D97-AF65-F5344CB8AC3E}">
        <p14:creationId xmlns:p14="http://schemas.microsoft.com/office/powerpoint/2010/main" val="79288825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a:p>
        </p:txBody>
      </p:sp>
    </p:spTree>
    <p:extLst>
      <p:ext uri="{BB962C8B-B14F-4D97-AF65-F5344CB8AC3E}">
        <p14:creationId xmlns:p14="http://schemas.microsoft.com/office/powerpoint/2010/main" val="283354850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80</a:t>
            </a:fld>
            <a:endParaRPr lang="en-US"/>
          </a:p>
        </p:txBody>
      </p:sp>
    </p:spTree>
    <p:extLst>
      <p:ext uri="{BB962C8B-B14F-4D97-AF65-F5344CB8AC3E}">
        <p14:creationId xmlns:p14="http://schemas.microsoft.com/office/powerpoint/2010/main" val="321591174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Slide Image Placeholder 1"/>
          <p:cNvSpPr>
            <a:spLocks noGrp="1" noRot="1" noChangeAspect="1" noChangeArrowheads="1" noTextEdit="1"/>
          </p:cNvSpPr>
          <p:nvPr>
            <p:ph type="sldImg"/>
          </p:nvPr>
        </p:nvSpPr>
        <p:spPr>
          <a:ln/>
        </p:spPr>
      </p:sp>
      <p:sp>
        <p:nvSpPr>
          <p:cNvPr id="149507"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b="1">
                <a:solidFill>
                  <a:srgbClr val="C00000"/>
                </a:solidFill>
                <a:ea typeface="ＭＳ Ｐゴシック" panose="020B0600070205080204" pitchFamily="34" charset="-128"/>
              </a:rPr>
              <a:t>Tip:</a:t>
            </a:r>
          </a:p>
          <a:p>
            <a:r>
              <a:rPr lang="en-US" altLang="en-US">
                <a:ea typeface="ＭＳ Ｐゴシック" panose="020B0600070205080204" pitchFamily="34" charset="-128"/>
              </a:rPr>
              <a:t>In bottleneck link,</a:t>
            </a:r>
          </a:p>
          <a:p>
            <a:r>
              <a:rPr lang="en-US" altLang="en-US">
                <a:ea typeface="ＭＳ Ｐゴシック" panose="020B0600070205080204" pitchFamily="34" charset="-128"/>
              </a:rPr>
              <a:t>Throughput = the rate of the link on the end-to-end path that constrains  end-to-end throughput </a:t>
            </a:r>
            <a:r>
              <a:rPr lang="en-US" altLang="en-US">
                <a:ea typeface="ＭＳ Ｐゴシック" panose="020B0600070205080204" pitchFamily="34" charset="-128"/>
                <a:sym typeface="Wingdings" panose="05000000000000000000" pitchFamily="2" charset="2"/>
              </a:rPr>
              <a:t> whichever is smaller</a:t>
            </a:r>
            <a:endParaRPr lang="en-MY" altLang="en-US">
              <a:ea typeface="ＭＳ Ｐゴシック" panose="020B0600070205080204" pitchFamily="34" charset="-128"/>
            </a:endParaRPr>
          </a:p>
          <a:p>
            <a:endParaRPr lang="en-MY" altLang="en-US">
              <a:ea typeface="ＭＳ Ｐゴシック" panose="020B0600070205080204" pitchFamily="34" charset="-128"/>
            </a:endParaRPr>
          </a:p>
        </p:txBody>
      </p:sp>
      <p:sp>
        <p:nvSpPr>
          <p:cNvPr id="149508"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735DEAA1-6520-4EEC-A448-1CA227E61505}" type="slidenum">
              <a:rPr lang="en-MY" altLang="en-US" sz="1300" smtClean="0">
                <a:latin typeface="Times New Roman" panose="02020603050405020304" pitchFamily="18" charset="0"/>
              </a:rPr>
              <a:pPr/>
              <a:t>81</a:t>
            </a:fld>
            <a:endParaRPr lang="en-MY" altLang="en-US" sz="1300">
              <a:latin typeface="Times New Roman" panose="02020603050405020304" pitchFamily="18"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Slide Image Placeholder 1"/>
          <p:cNvSpPr>
            <a:spLocks noGrp="1" noRot="1" noChangeAspect="1" noChangeArrowheads="1" noTextEdit="1"/>
          </p:cNvSpPr>
          <p:nvPr>
            <p:ph type="sldImg"/>
          </p:nvPr>
        </p:nvSpPr>
        <p:spPr>
          <a:ln/>
        </p:spPr>
      </p:sp>
      <p:sp>
        <p:nvSpPr>
          <p:cNvPr id="152579"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MY" altLang="en-US">
                <a:ea typeface="ＭＳ Ｐゴシック" panose="020B0600070205080204" pitchFamily="34" charset="-128"/>
              </a:rPr>
              <a:t>Of course, these expressions for throughput and transfer time are</a:t>
            </a:r>
          </a:p>
          <a:p>
            <a:r>
              <a:rPr lang="en-MY" altLang="en-US">
                <a:ea typeface="ＭＳ Ｐゴシック" panose="020B0600070205080204" pitchFamily="34" charset="-128"/>
              </a:rPr>
              <a:t>only approximations, as they do not account for store-and-forward and processing delays as well as protocol issues.</a:t>
            </a:r>
          </a:p>
        </p:txBody>
      </p:sp>
      <p:sp>
        <p:nvSpPr>
          <p:cNvPr id="152580"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D679EE73-5DFE-4F19-A8F6-81DAFE012D21}" type="slidenum">
              <a:rPr lang="en-MY" altLang="en-US" sz="1300" smtClean="0">
                <a:latin typeface="Times New Roman" panose="02020603050405020304" pitchFamily="18" charset="0"/>
              </a:rPr>
              <a:pPr/>
              <a:t>83</a:t>
            </a:fld>
            <a:endParaRPr lang="en-MY" altLang="en-US" sz="1300">
              <a:latin typeface="Times New Roman" panose="02020603050405020304" pitchFamily="18" charset="0"/>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84</a:t>
            </a:fld>
            <a:endParaRPr lang="en-US"/>
          </a:p>
        </p:txBody>
      </p:sp>
    </p:spTree>
    <p:extLst>
      <p:ext uri="{BB962C8B-B14F-4D97-AF65-F5344CB8AC3E}">
        <p14:creationId xmlns:p14="http://schemas.microsoft.com/office/powerpoint/2010/main" val="381912636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a:p>
        </p:txBody>
      </p:sp>
    </p:spTree>
    <p:extLst>
      <p:ext uri="{BB962C8B-B14F-4D97-AF65-F5344CB8AC3E}">
        <p14:creationId xmlns:p14="http://schemas.microsoft.com/office/powerpoint/2010/main" val="13316327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a:p>
        </p:txBody>
      </p:sp>
    </p:spTree>
    <p:extLst>
      <p:ext uri="{BB962C8B-B14F-4D97-AF65-F5344CB8AC3E}">
        <p14:creationId xmlns:p14="http://schemas.microsoft.com/office/powerpoint/2010/main" val="110491750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a:p>
        </p:txBody>
      </p:sp>
    </p:spTree>
    <p:extLst>
      <p:ext uri="{BB962C8B-B14F-4D97-AF65-F5344CB8AC3E}">
        <p14:creationId xmlns:p14="http://schemas.microsoft.com/office/powerpoint/2010/main" val="252111882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91</a:t>
            </a:fld>
            <a:endParaRPr lang="en-US"/>
          </a:p>
        </p:txBody>
      </p:sp>
    </p:spTree>
    <p:extLst>
      <p:ext uri="{BB962C8B-B14F-4D97-AF65-F5344CB8AC3E}">
        <p14:creationId xmlns:p14="http://schemas.microsoft.com/office/powerpoint/2010/main" val="103373857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92</a:t>
            </a:fld>
            <a:endParaRPr lang="en-US"/>
          </a:p>
        </p:txBody>
      </p:sp>
    </p:spTree>
    <p:extLst>
      <p:ext uri="{BB962C8B-B14F-4D97-AF65-F5344CB8AC3E}">
        <p14:creationId xmlns:p14="http://schemas.microsoft.com/office/powerpoint/2010/main" val="41924317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Slide Image Placeholder 1"/>
          <p:cNvSpPr>
            <a:spLocks noGrp="1" noRot="1" noChangeAspect="1" noChangeArrowheads="1" noTextEdit="1"/>
          </p:cNvSpPr>
          <p:nvPr>
            <p:ph type="sldImg"/>
          </p:nvPr>
        </p:nvSpPr>
        <p:spPr>
          <a:ln/>
        </p:spPr>
      </p:sp>
      <p:sp>
        <p:nvSpPr>
          <p:cNvPr id="169987"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ms-MY" altLang="en-US">
              <a:ea typeface="ＭＳ Ｐゴシック" panose="020B0600070205080204" pitchFamily="34" charset="-128"/>
            </a:endParaRPr>
          </a:p>
        </p:txBody>
      </p:sp>
      <p:sp>
        <p:nvSpPr>
          <p:cNvPr id="169988"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2A6B5D6A-2A5E-4DCD-B0BD-5F64A71C5859}" type="slidenum">
              <a:rPr lang="en-US" altLang="en-US" sz="1300" smtClean="0">
                <a:latin typeface="Times New Roman" panose="02020603050405020304" pitchFamily="18" charset="0"/>
              </a:rPr>
              <a:pPr/>
              <a:t>93</a:t>
            </a:fld>
            <a:endParaRPr lang="en-US" altLang="en-US" sz="1300">
              <a:latin typeface="Times New Roman" panose="02020603050405020304" pitchFamily="18" charset="0"/>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Slide Image Placeholder 1"/>
          <p:cNvSpPr>
            <a:spLocks noGrp="1" noRot="1" noChangeAspect="1" noChangeArrowheads="1" noTextEdit="1"/>
          </p:cNvSpPr>
          <p:nvPr>
            <p:ph type="sldImg"/>
          </p:nvPr>
        </p:nvSpPr>
        <p:spPr>
          <a:ln/>
        </p:spPr>
      </p:sp>
      <p:sp>
        <p:nvSpPr>
          <p:cNvPr id="183299" name="Notes Placeholder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ea typeface="ＭＳ Ｐゴシック" panose="020B0600070205080204" pitchFamily="34" charset="-128"/>
              </a:rPr>
              <a:t>1960s </a:t>
            </a:r>
            <a:r>
              <a:rPr lang="mr-IN" altLang="en-US">
                <a:ea typeface="ＭＳ Ｐゴシック" panose="020B0600070205080204" pitchFamily="34" charset="-128"/>
              </a:rPr>
              <a:t>–</a:t>
            </a:r>
            <a:r>
              <a:rPr lang="en-US" altLang="en-US">
                <a:ea typeface="ＭＳ Ｐゴシック" panose="020B0600070205080204" pitchFamily="34" charset="-128"/>
              </a:rPr>
              <a:t> TCPIP</a:t>
            </a:r>
          </a:p>
          <a:p>
            <a:r>
              <a:rPr lang="en-US" altLang="en-US">
                <a:ea typeface="ＭＳ Ｐゴシック" panose="020B0600070205080204" pitchFamily="34" charset="-128"/>
              </a:rPr>
              <a:t>1970s </a:t>
            </a:r>
            <a:r>
              <a:rPr lang="mr-IN" altLang="en-US">
                <a:ea typeface="ＭＳ Ｐゴシック" panose="020B0600070205080204" pitchFamily="34" charset="-128"/>
              </a:rPr>
              <a:t>–</a:t>
            </a:r>
            <a:r>
              <a:rPr lang="en-US" altLang="en-US">
                <a:ea typeface="ＭＳ Ｐゴシック" panose="020B0600070205080204" pitchFamily="34" charset="-128"/>
              </a:rPr>
              <a:t> OSI</a:t>
            </a:r>
          </a:p>
          <a:p>
            <a:endParaRPr lang="en-US" altLang="en-US">
              <a:ea typeface="ＭＳ Ｐゴシック" panose="020B0600070205080204" pitchFamily="34" charset="-128"/>
            </a:endParaRPr>
          </a:p>
        </p:txBody>
      </p:sp>
      <p:sp>
        <p:nvSpPr>
          <p:cNvPr id="183300" name="Slide Number Placeholder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61629ECE-E40B-4F37-9EB3-32591DBC18A1}" type="slidenum">
              <a:rPr lang="en-US" altLang="en-US" sz="1300" smtClean="0">
                <a:latin typeface="Times New Roman" panose="02020603050405020304" pitchFamily="18" charset="0"/>
              </a:rPr>
              <a:pPr/>
              <a:t>105</a:t>
            </a:fld>
            <a:endParaRPr lang="en-US" altLang="en-US" sz="1300">
              <a:latin typeface="Times New Roman" panose="02020603050405020304" pitchFamily="18"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a:p>
        </p:txBody>
      </p:sp>
    </p:spTree>
    <p:extLst>
      <p:ext uri="{BB962C8B-B14F-4D97-AF65-F5344CB8AC3E}">
        <p14:creationId xmlns:p14="http://schemas.microsoft.com/office/powerpoint/2010/main" val="35976730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Arial" panose="020B0604020202020204" pitchFamily="34" charset="0"/>
                <a:ea typeface="ＭＳ Ｐゴシック" panose="020B0600070205080204" pitchFamily="34" charset="-128"/>
              </a:defRPr>
            </a:lvl1pPr>
            <a:lvl2pPr marL="742950" indent="-285750" defTabSz="966788">
              <a:defRPr sz="2400">
                <a:solidFill>
                  <a:schemeClr val="tx1"/>
                </a:solidFill>
                <a:latin typeface="Arial" panose="020B0604020202020204" pitchFamily="34" charset="0"/>
                <a:ea typeface="ＭＳ Ｐゴシック" panose="020B0600070205080204" pitchFamily="34" charset="-128"/>
              </a:defRPr>
            </a:lvl2pPr>
            <a:lvl3pPr marL="1143000" indent="-228600" defTabSz="966788">
              <a:defRPr sz="2400">
                <a:solidFill>
                  <a:schemeClr val="tx1"/>
                </a:solidFill>
                <a:latin typeface="Arial" panose="020B0604020202020204" pitchFamily="34" charset="0"/>
                <a:ea typeface="ＭＳ Ｐゴシック" panose="020B0600070205080204" pitchFamily="34" charset="-128"/>
              </a:defRPr>
            </a:lvl3pPr>
            <a:lvl4pPr marL="1600200" indent="-228600" defTabSz="966788">
              <a:defRPr sz="2400">
                <a:solidFill>
                  <a:schemeClr val="tx1"/>
                </a:solidFill>
                <a:latin typeface="Arial" panose="020B0604020202020204" pitchFamily="34" charset="0"/>
                <a:ea typeface="ＭＳ Ｐゴシック" panose="020B0600070205080204" pitchFamily="34" charset="-128"/>
              </a:defRPr>
            </a:lvl4pPr>
            <a:lvl5pPr marL="2057400" indent="-228600" defTabSz="966788">
              <a:defRPr sz="24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148AC9B6-158E-48A5-BFBA-3DD227902E97}" type="slidenum">
              <a:rPr lang="en-US" altLang="en-US" sz="1300" smtClean="0">
                <a:latin typeface="Times New Roman" panose="02020603050405020304" pitchFamily="18" charset="0"/>
              </a:rPr>
              <a:pPr/>
              <a:t>107</a:t>
            </a:fld>
            <a:endParaRPr lang="en-US" altLang="en-US" sz="1300">
              <a:latin typeface="Times New Roman" panose="02020603050405020304" pitchFamily="18" charset="0"/>
            </a:endParaRPr>
          </a:p>
        </p:txBody>
      </p:sp>
      <p:sp>
        <p:nvSpPr>
          <p:cNvPr id="187395" name="Rectangle 2"/>
          <p:cNvSpPr>
            <a:spLocks noGrp="1" noRot="1" noChangeAspect="1" noChangeArrowheads="1" noTextEdit="1"/>
          </p:cNvSpPr>
          <p:nvPr>
            <p:ph type="sldImg"/>
          </p:nvPr>
        </p:nvSpPr>
        <p:spPr>
          <a:ln/>
        </p:spPr>
      </p:sp>
      <p:sp>
        <p:nvSpPr>
          <p:cNvPr id="18739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ea typeface="ＭＳ Ｐゴシック" panose="020B0600070205080204" pitchFamily="34" charset="-128"/>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108</a:t>
            </a:fld>
            <a:endParaRPr lang="en-US"/>
          </a:p>
        </p:txBody>
      </p:sp>
    </p:spTree>
    <p:extLst>
      <p:ext uri="{BB962C8B-B14F-4D97-AF65-F5344CB8AC3E}">
        <p14:creationId xmlns:p14="http://schemas.microsoft.com/office/powerpoint/2010/main" val="13125683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Segue: from </a:t>
            </a:r>
            <a:r>
              <a:rPr lang="en-US" dirty="0" err="1"/>
              <a:t>performanceto</a:t>
            </a:r>
            <a:r>
              <a:rPr lang="en-US" dirty="0"/>
              <a:t> security</a:t>
            </a:r>
          </a:p>
        </p:txBody>
      </p:sp>
      <p:sp>
        <p:nvSpPr>
          <p:cNvPr id="4" name="Slide Number Placeholder 3"/>
          <p:cNvSpPr>
            <a:spLocks noGrp="1"/>
          </p:cNvSpPr>
          <p:nvPr>
            <p:ph type="sldNum" sz="quarter" idx="5"/>
          </p:nvPr>
        </p:nvSpPr>
        <p:spPr/>
        <p:txBody>
          <a:bodyPr/>
          <a:lstStyle/>
          <a:p>
            <a:fld id="{3D91EEAC-CFEF-9647-876F-EABC6B8338D7}" type="slidenum">
              <a:rPr lang="en-US" smtClean="0"/>
              <a:t>110</a:t>
            </a:fld>
            <a:endParaRPr lang="en-US"/>
          </a:p>
        </p:txBody>
      </p:sp>
    </p:spTree>
    <p:extLst>
      <p:ext uri="{BB962C8B-B14F-4D97-AF65-F5344CB8AC3E}">
        <p14:creationId xmlns:p14="http://schemas.microsoft.com/office/powerpoint/2010/main" val="363381484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111</a:t>
            </a:fld>
            <a:endParaRPr lang="en-US"/>
          </a:p>
        </p:txBody>
      </p:sp>
    </p:spTree>
    <p:extLst>
      <p:ext uri="{BB962C8B-B14F-4D97-AF65-F5344CB8AC3E}">
        <p14:creationId xmlns:p14="http://schemas.microsoft.com/office/powerpoint/2010/main" val="196222793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112</a:t>
            </a:fld>
            <a:endParaRPr lang="en-US"/>
          </a:p>
        </p:txBody>
      </p:sp>
    </p:spTree>
    <p:extLst>
      <p:ext uri="{BB962C8B-B14F-4D97-AF65-F5344CB8AC3E}">
        <p14:creationId xmlns:p14="http://schemas.microsoft.com/office/powerpoint/2010/main" val="150955879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114</a:t>
            </a:fld>
            <a:endParaRPr lang="en-US"/>
          </a:p>
        </p:txBody>
      </p:sp>
    </p:spTree>
    <p:extLst>
      <p:ext uri="{BB962C8B-B14F-4D97-AF65-F5344CB8AC3E}">
        <p14:creationId xmlns:p14="http://schemas.microsoft.com/office/powerpoint/2010/main" val="296521720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116</a:t>
            </a:fld>
            <a:endParaRPr lang="en-US"/>
          </a:p>
        </p:txBody>
      </p:sp>
    </p:spTree>
    <p:extLst>
      <p:ext uri="{BB962C8B-B14F-4D97-AF65-F5344CB8AC3E}">
        <p14:creationId xmlns:p14="http://schemas.microsoft.com/office/powerpoint/2010/main" val="291494917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a:p>
        </p:txBody>
      </p:sp>
    </p:spTree>
    <p:extLst>
      <p:ext uri="{BB962C8B-B14F-4D97-AF65-F5344CB8AC3E}">
        <p14:creationId xmlns:p14="http://schemas.microsoft.com/office/powerpoint/2010/main" val="390400999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120</a:t>
            </a:fld>
            <a:endParaRPr lang="en-US"/>
          </a:p>
        </p:txBody>
      </p:sp>
    </p:spTree>
    <p:extLst>
      <p:ext uri="{BB962C8B-B14F-4D97-AF65-F5344CB8AC3E}">
        <p14:creationId xmlns:p14="http://schemas.microsoft.com/office/powerpoint/2010/main" val="370925736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121</a:t>
            </a:fld>
            <a:endParaRPr lang="en-US"/>
          </a:p>
        </p:txBody>
      </p:sp>
    </p:spTree>
    <p:extLst>
      <p:ext uri="{BB962C8B-B14F-4D97-AF65-F5344CB8AC3E}">
        <p14:creationId xmlns:p14="http://schemas.microsoft.com/office/powerpoint/2010/main" val="157917058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122</a:t>
            </a:fld>
            <a:endParaRPr lang="en-US"/>
          </a:p>
        </p:txBody>
      </p:sp>
    </p:spTree>
    <p:extLst>
      <p:ext uri="{BB962C8B-B14F-4D97-AF65-F5344CB8AC3E}">
        <p14:creationId xmlns:p14="http://schemas.microsoft.com/office/powerpoint/2010/main" val="104102346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123</a:t>
            </a:fld>
            <a:endParaRPr lang="en-US"/>
          </a:p>
        </p:txBody>
      </p:sp>
    </p:spTree>
    <p:extLst>
      <p:ext uri="{BB962C8B-B14F-4D97-AF65-F5344CB8AC3E}">
        <p14:creationId xmlns:p14="http://schemas.microsoft.com/office/powerpoint/2010/main" val="42217531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124</a:t>
            </a:fld>
            <a:endParaRPr lang="en-US"/>
          </a:p>
        </p:txBody>
      </p:sp>
    </p:spTree>
    <p:extLst>
      <p:ext uri="{BB962C8B-B14F-4D97-AF65-F5344CB8AC3E}">
        <p14:creationId xmlns:p14="http://schemas.microsoft.com/office/powerpoint/2010/main" val="133297990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125</a:t>
            </a:fld>
            <a:endParaRPr lang="en-US"/>
          </a:p>
        </p:txBody>
      </p:sp>
    </p:spTree>
    <p:extLst>
      <p:ext uri="{BB962C8B-B14F-4D97-AF65-F5344CB8AC3E}">
        <p14:creationId xmlns:p14="http://schemas.microsoft.com/office/powerpoint/2010/main" val="258048580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126</a:t>
            </a:fld>
            <a:endParaRPr lang="en-US"/>
          </a:p>
        </p:txBody>
      </p:sp>
    </p:spTree>
    <p:extLst>
      <p:ext uri="{BB962C8B-B14F-4D97-AF65-F5344CB8AC3E}">
        <p14:creationId xmlns:p14="http://schemas.microsoft.com/office/powerpoint/2010/main" val="34226491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127</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128</a:t>
            </a:fld>
            <a:endParaRPr lang="en-US"/>
          </a:p>
        </p:txBody>
      </p:sp>
    </p:spTree>
    <p:extLst>
      <p:ext uri="{BB962C8B-B14F-4D97-AF65-F5344CB8AC3E}">
        <p14:creationId xmlns:p14="http://schemas.microsoft.com/office/powerpoint/2010/main" val="17439879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atin typeface="+mj-lt"/>
              </a:defRPr>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pPr>
              <a:defRPr/>
            </a:pPr>
            <a:fld id="{91A6085D-93A0-46F4-88D7-0B979ABEF66D}" type="datetime1">
              <a:rPr lang="en-US"/>
              <a:pPr>
                <a:defRPr/>
              </a:pPr>
              <a:t>10/9/2024</a:t>
            </a:fld>
            <a:endParaRPr lang="en-US"/>
          </a:p>
        </p:txBody>
      </p:sp>
      <p:sp>
        <p:nvSpPr>
          <p:cNvPr id="3" name="Footer Placeholder 2"/>
          <p:cNvSpPr>
            <a:spLocks noGrp="1"/>
          </p:cNvSpPr>
          <p:nvPr>
            <p:ph type="ftr" sz="quarter" idx="11"/>
          </p:nvPr>
        </p:nvSpPr>
        <p:spPr/>
        <p:txBody>
          <a:bodyPr/>
          <a:lstStyle>
            <a:lvl1pPr>
              <a:defRPr/>
            </a:lvl1pPr>
          </a:lstStyle>
          <a:p>
            <a:pPr>
              <a:defRPr/>
            </a:pPr>
            <a:r>
              <a:rPr lang="en-US"/>
              <a:t>Introduction</a:t>
            </a:r>
          </a:p>
        </p:txBody>
      </p:sp>
      <p:sp>
        <p:nvSpPr>
          <p:cNvPr id="4" name="Slide Number Placeholder 3"/>
          <p:cNvSpPr>
            <a:spLocks noGrp="1"/>
          </p:cNvSpPr>
          <p:nvPr>
            <p:ph type="sldNum" sz="quarter" idx="12"/>
          </p:nvPr>
        </p:nvSpPr>
        <p:spPr/>
        <p:txBody>
          <a:bodyPr/>
          <a:lstStyle>
            <a:lvl1pPr>
              <a:defRPr/>
            </a:lvl1pPr>
          </a:lstStyle>
          <a:p>
            <a:pPr>
              <a:defRPr/>
            </a:pPr>
            <a:r>
              <a:rPr lang="en-US" altLang="en-US"/>
              <a:t>1-</a:t>
            </a:r>
            <a:fld id="{D3A6273E-7CC0-4A37-9FE5-7AC2E8F62564}" type="slidenum">
              <a:rPr lang="en-US" altLang="en-US"/>
              <a:pPr>
                <a:defRPr/>
              </a:pPr>
              <a:t>‹#›</a:t>
            </a:fld>
            <a:endParaRPr lang="en-US" altLang="en-US"/>
          </a:p>
        </p:txBody>
      </p:sp>
    </p:spTree>
    <p:extLst>
      <p:ext uri="{BB962C8B-B14F-4D97-AF65-F5344CB8AC3E}">
        <p14:creationId xmlns:p14="http://schemas.microsoft.com/office/powerpoint/2010/main" val="75201566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fld id="{8E86B632-8C25-41AE-A191-8AEF7A9D1010}" type="datetime1">
              <a:rPr lang="en-US"/>
              <a:pPr>
                <a:defRPr/>
              </a:pPr>
              <a:t>10/9/2024</a:t>
            </a:fld>
            <a:endParaRPr lang="en-US"/>
          </a:p>
        </p:txBody>
      </p:sp>
      <p:sp>
        <p:nvSpPr>
          <p:cNvPr id="8" name="Rectangle 5"/>
          <p:cNvSpPr>
            <a:spLocks noGrp="1" noChangeArrowheads="1"/>
          </p:cNvSpPr>
          <p:nvPr>
            <p:ph type="ftr" sz="quarter" idx="11"/>
          </p:nvPr>
        </p:nvSpPr>
        <p:spPr>
          <a:ln/>
        </p:spPr>
        <p:txBody>
          <a:bodyPr/>
          <a:lstStyle>
            <a:lvl1pPr>
              <a:defRPr/>
            </a:lvl1pPr>
          </a:lstStyle>
          <a:p>
            <a:pPr>
              <a:defRPr/>
            </a:pPr>
            <a:r>
              <a:rPr lang="en-US"/>
              <a:t>Introduction</a:t>
            </a:r>
          </a:p>
        </p:txBody>
      </p:sp>
      <p:sp>
        <p:nvSpPr>
          <p:cNvPr id="9" name="Rectangle 6"/>
          <p:cNvSpPr>
            <a:spLocks noGrp="1" noChangeArrowheads="1"/>
          </p:cNvSpPr>
          <p:nvPr>
            <p:ph type="sldNum" sz="quarter" idx="12"/>
          </p:nvPr>
        </p:nvSpPr>
        <p:spPr>
          <a:ln/>
        </p:spPr>
        <p:txBody>
          <a:bodyPr/>
          <a:lstStyle>
            <a:lvl1pPr>
              <a:defRPr/>
            </a:lvl1pPr>
          </a:lstStyle>
          <a:p>
            <a:pPr>
              <a:defRPr/>
            </a:pPr>
            <a:r>
              <a:rPr lang="en-US" altLang="en-US"/>
              <a:t>2-</a:t>
            </a:r>
            <a:fld id="{1C272775-C7C0-44A5-A40D-2B4D29AAF0B6}" type="slidenum">
              <a:rPr lang="en-US" altLang="en-US"/>
              <a:pPr>
                <a:defRPr/>
              </a:pPr>
              <a:t>‹#›</a:t>
            </a:fld>
            <a:endParaRPr lang="en-US" altLang="en-US"/>
          </a:p>
        </p:txBody>
      </p:sp>
    </p:spTree>
    <p:extLst>
      <p:ext uri="{BB962C8B-B14F-4D97-AF65-F5344CB8AC3E}">
        <p14:creationId xmlns:p14="http://schemas.microsoft.com/office/powerpoint/2010/main" val="298714644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 id="2147483656" r:id="rId6"/>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jpe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5.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3.png"/><Relationship Id="rId18" Type="http://schemas.openxmlformats.org/officeDocument/2006/relationships/image" Target="../media/image16.png"/><Relationship Id="rId3" Type="http://schemas.openxmlformats.org/officeDocument/2006/relationships/image" Target="../media/image6.png"/><Relationship Id="rId21" Type="http://schemas.openxmlformats.org/officeDocument/2006/relationships/image" Target="../media/image10.png"/><Relationship Id="rId7" Type="http://schemas.openxmlformats.org/officeDocument/2006/relationships/image" Target="../media/image18.png"/><Relationship Id="rId12" Type="http://schemas.openxmlformats.org/officeDocument/2006/relationships/image" Target="../media/image14.png"/><Relationship Id="rId17" Type="http://schemas.openxmlformats.org/officeDocument/2006/relationships/image" Target="../media/image15.png"/><Relationship Id="rId2" Type="http://schemas.openxmlformats.org/officeDocument/2006/relationships/image" Target="../media/image20.png"/><Relationship Id="rId16" Type="http://schemas.openxmlformats.org/officeDocument/2006/relationships/image" Target="../media/image13.png"/><Relationship Id="rId20" Type="http://schemas.openxmlformats.org/officeDocument/2006/relationships/image" Target="../media/image9.png"/><Relationship Id="rId1" Type="http://schemas.openxmlformats.org/officeDocument/2006/relationships/slideLayout" Target="../slideLayouts/slideLayout2.xml"/><Relationship Id="rId6" Type="http://schemas.openxmlformats.org/officeDocument/2006/relationships/image" Target="../media/image12.png"/><Relationship Id="rId11" Type="http://schemas.openxmlformats.org/officeDocument/2006/relationships/image" Target="../media/image19.png"/><Relationship Id="rId5" Type="http://schemas.openxmlformats.org/officeDocument/2006/relationships/image" Target="../media/image11.png"/><Relationship Id="rId15" Type="http://schemas.openxmlformats.org/officeDocument/2006/relationships/image" Target="../media/image25.png"/><Relationship Id="rId10" Type="http://schemas.openxmlformats.org/officeDocument/2006/relationships/image" Target="../media/image17.png"/><Relationship Id="rId19" Type="http://schemas.openxmlformats.org/officeDocument/2006/relationships/image" Target="../media/image8.png"/><Relationship Id="rId4" Type="http://schemas.openxmlformats.org/officeDocument/2006/relationships/image" Target="../media/image4.png"/><Relationship Id="rId9" Type="http://schemas.openxmlformats.org/officeDocument/2006/relationships/image" Target="../media/image22.png"/><Relationship Id="rId14" Type="http://schemas.openxmlformats.org/officeDocument/2006/relationships/image" Target="../media/image24.png"/><Relationship Id="rId22" Type="http://schemas.openxmlformats.org/officeDocument/2006/relationships/image" Target="../media/image5.png"/></Relationships>
</file>

<file path=ppt/slides/_rels/slide6.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3.png"/><Relationship Id="rId18" Type="http://schemas.openxmlformats.org/officeDocument/2006/relationships/image" Target="../media/image16.png"/><Relationship Id="rId3" Type="http://schemas.openxmlformats.org/officeDocument/2006/relationships/image" Target="../media/image6.png"/><Relationship Id="rId21" Type="http://schemas.openxmlformats.org/officeDocument/2006/relationships/image" Target="../media/image10.png"/><Relationship Id="rId7" Type="http://schemas.openxmlformats.org/officeDocument/2006/relationships/image" Target="../media/image18.png"/><Relationship Id="rId12" Type="http://schemas.openxmlformats.org/officeDocument/2006/relationships/image" Target="../media/image14.png"/><Relationship Id="rId17" Type="http://schemas.openxmlformats.org/officeDocument/2006/relationships/image" Target="../media/image15.png"/><Relationship Id="rId2" Type="http://schemas.openxmlformats.org/officeDocument/2006/relationships/image" Target="../media/image20.png"/><Relationship Id="rId16" Type="http://schemas.openxmlformats.org/officeDocument/2006/relationships/image" Target="../media/image13.png"/><Relationship Id="rId20" Type="http://schemas.openxmlformats.org/officeDocument/2006/relationships/image" Target="../media/image9.png"/><Relationship Id="rId1" Type="http://schemas.openxmlformats.org/officeDocument/2006/relationships/slideLayout" Target="../slideLayouts/slideLayout2.xml"/><Relationship Id="rId6" Type="http://schemas.openxmlformats.org/officeDocument/2006/relationships/image" Target="../media/image12.png"/><Relationship Id="rId11" Type="http://schemas.openxmlformats.org/officeDocument/2006/relationships/image" Target="../media/image19.png"/><Relationship Id="rId5" Type="http://schemas.openxmlformats.org/officeDocument/2006/relationships/image" Target="../media/image11.png"/><Relationship Id="rId15" Type="http://schemas.openxmlformats.org/officeDocument/2006/relationships/image" Target="../media/image25.png"/><Relationship Id="rId10" Type="http://schemas.openxmlformats.org/officeDocument/2006/relationships/image" Target="../media/image17.png"/><Relationship Id="rId19" Type="http://schemas.openxmlformats.org/officeDocument/2006/relationships/image" Target="../media/image8.png"/><Relationship Id="rId4" Type="http://schemas.openxmlformats.org/officeDocument/2006/relationships/image" Target="../media/image4.png"/><Relationship Id="rId9" Type="http://schemas.openxmlformats.org/officeDocument/2006/relationships/image" Target="../media/image22.png"/><Relationship Id="rId14" Type="http://schemas.openxmlformats.org/officeDocument/2006/relationships/image" Target="../media/image24.png"/><Relationship Id="rId22"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xml"/><Relationship Id="rId1" Type="http://schemas.openxmlformats.org/officeDocument/2006/relationships/slideLayout" Target="../slideLayouts/slideLayout5.xml"/><Relationship Id="rId4" Type="http://schemas.openxmlformats.org/officeDocument/2006/relationships/image" Target="../media/image27.png"/></Relationships>
</file>

<file path=ppt/slides/_rels/slide8.xml.rels><?xml version="1.0" encoding="UTF-8" standalone="yes"?>
<Relationships xmlns="http://schemas.openxmlformats.org/package/2006/relationships"><Relationship Id="rId8" Type="http://schemas.openxmlformats.org/officeDocument/2006/relationships/image" Target="../media/image33.emf"/><Relationship Id="rId13" Type="http://schemas.openxmlformats.org/officeDocument/2006/relationships/image" Target="../media/image38.jpeg"/><Relationship Id="rId3" Type="http://schemas.openxmlformats.org/officeDocument/2006/relationships/image" Target="../media/image29.png"/><Relationship Id="rId7" Type="http://schemas.openxmlformats.org/officeDocument/2006/relationships/image" Target="../media/image32.png"/><Relationship Id="rId12" Type="http://schemas.openxmlformats.org/officeDocument/2006/relationships/image" Target="../media/image37.jpeg"/><Relationship Id="rId2" Type="http://schemas.openxmlformats.org/officeDocument/2006/relationships/image" Target="../media/image28.jpeg"/><Relationship Id="rId1" Type="http://schemas.openxmlformats.org/officeDocument/2006/relationships/slideLayout" Target="../slideLayouts/slideLayout4.xml"/><Relationship Id="rId6" Type="http://schemas.openxmlformats.org/officeDocument/2006/relationships/image" Target="../media/image31.png"/><Relationship Id="rId11" Type="http://schemas.openxmlformats.org/officeDocument/2006/relationships/image" Target="../media/image36.png"/><Relationship Id="rId5" Type="http://schemas.openxmlformats.org/officeDocument/2006/relationships/oleObject" Target="../embeddings/oleObject1.bin"/><Relationship Id="rId15" Type="http://schemas.openxmlformats.org/officeDocument/2006/relationships/image" Target="../media/image40.png"/><Relationship Id="rId10" Type="http://schemas.openxmlformats.org/officeDocument/2006/relationships/image" Target="../media/image35.png"/><Relationship Id="rId4" Type="http://schemas.openxmlformats.org/officeDocument/2006/relationships/image" Target="../media/image30.jpeg"/><Relationship Id="rId9" Type="http://schemas.openxmlformats.org/officeDocument/2006/relationships/image" Target="../media/image34.png"/><Relationship Id="rId14" Type="http://schemas.openxmlformats.org/officeDocument/2006/relationships/image" Target="../media/image39.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xml"/><Relationship Id="rId1" Type="http://schemas.openxmlformats.org/officeDocument/2006/relationships/slideLayout" Target="../slideLayouts/slideLayout2.xml"/><Relationship Id="rId5" Type="http://schemas.openxmlformats.org/officeDocument/2006/relationships/image" Target="../media/image43.png"/><Relationship Id="rId4" Type="http://schemas.openxmlformats.org/officeDocument/2006/relationships/image" Target="../media/image42.png"/></Relationships>
</file>

<file path=ppt/slides/_rels/slide1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5.xml"/><Relationship Id="rId1" Type="http://schemas.openxmlformats.org/officeDocument/2006/relationships/slideLayout" Target="../slideLayouts/slideLayout5.xml"/><Relationship Id="rId4" Type="http://schemas.openxmlformats.org/officeDocument/2006/relationships/image" Target="../media/image3.png"/></Relationships>
</file>

<file path=ppt/slides/_rels/slide1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19.png"/><Relationship Id="rId18" Type="http://schemas.openxmlformats.org/officeDocument/2006/relationships/image" Target="../media/image13.png"/><Relationship Id="rId3" Type="http://schemas.openxmlformats.org/officeDocument/2006/relationships/image" Target="../media/image20.png"/><Relationship Id="rId21" Type="http://schemas.openxmlformats.org/officeDocument/2006/relationships/image" Target="../media/image8.png"/><Relationship Id="rId7" Type="http://schemas.openxmlformats.org/officeDocument/2006/relationships/image" Target="../media/image11.png"/><Relationship Id="rId12" Type="http://schemas.openxmlformats.org/officeDocument/2006/relationships/image" Target="../media/image17.png"/><Relationship Id="rId17" Type="http://schemas.openxmlformats.org/officeDocument/2006/relationships/image" Target="../media/image25.png"/><Relationship Id="rId2" Type="http://schemas.openxmlformats.org/officeDocument/2006/relationships/notesSlide" Target="../notesSlides/notesSlide7.xml"/><Relationship Id="rId16" Type="http://schemas.openxmlformats.org/officeDocument/2006/relationships/image" Target="../media/image24.png"/><Relationship Id="rId20" Type="http://schemas.openxmlformats.org/officeDocument/2006/relationships/image" Target="../media/image16.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22.png"/><Relationship Id="rId5" Type="http://schemas.openxmlformats.org/officeDocument/2006/relationships/image" Target="../media/image4.png"/><Relationship Id="rId15" Type="http://schemas.openxmlformats.org/officeDocument/2006/relationships/image" Target="../media/image23.png"/><Relationship Id="rId23" Type="http://schemas.openxmlformats.org/officeDocument/2006/relationships/image" Target="../media/image10.png"/><Relationship Id="rId10" Type="http://schemas.openxmlformats.org/officeDocument/2006/relationships/image" Target="../media/image21.png"/><Relationship Id="rId19" Type="http://schemas.openxmlformats.org/officeDocument/2006/relationships/image" Target="../media/image15.png"/><Relationship Id="rId4" Type="http://schemas.openxmlformats.org/officeDocument/2006/relationships/image" Target="../media/image6.png"/><Relationship Id="rId9" Type="http://schemas.openxmlformats.org/officeDocument/2006/relationships/image" Target="../media/image18.png"/><Relationship Id="rId14" Type="http://schemas.openxmlformats.org/officeDocument/2006/relationships/image" Target="../media/image14.png"/><Relationship Id="rId22" Type="http://schemas.openxmlformats.org/officeDocument/2006/relationships/image" Target="../media/image9.png"/></Relationships>
</file>

<file path=ppt/slides/_rels/slide14.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9.png"/><Relationship Id="rId18" Type="http://schemas.openxmlformats.org/officeDocument/2006/relationships/image" Target="../media/image5.png"/><Relationship Id="rId3" Type="http://schemas.openxmlformats.org/officeDocument/2006/relationships/image" Target="../media/image11.png"/><Relationship Id="rId21" Type="http://schemas.openxmlformats.org/officeDocument/2006/relationships/image" Target="../media/image15.png"/><Relationship Id="rId7" Type="http://schemas.openxmlformats.org/officeDocument/2006/relationships/image" Target="../media/image19.png"/><Relationship Id="rId12" Type="http://schemas.openxmlformats.org/officeDocument/2006/relationships/image" Target="../media/image16.png"/><Relationship Id="rId17" Type="http://schemas.openxmlformats.org/officeDocument/2006/relationships/image" Target="../media/image18.png"/><Relationship Id="rId2" Type="http://schemas.openxmlformats.org/officeDocument/2006/relationships/notesSlide" Target="../notesSlides/notesSlide8.xml"/><Relationship Id="rId16" Type="http://schemas.openxmlformats.org/officeDocument/2006/relationships/image" Target="../media/image12.png"/><Relationship Id="rId20" Type="http://schemas.openxmlformats.org/officeDocument/2006/relationships/image" Target="../media/image14.png"/><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image" Target="../media/image13.png"/><Relationship Id="rId5" Type="http://schemas.openxmlformats.org/officeDocument/2006/relationships/image" Target="../media/image22.png"/><Relationship Id="rId15" Type="http://schemas.openxmlformats.org/officeDocument/2006/relationships/image" Target="../media/image4.png"/><Relationship Id="rId23" Type="http://schemas.openxmlformats.org/officeDocument/2006/relationships/image" Target="../media/image8.png"/><Relationship Id="rId10" Type="http://schemas.openxmlformats.org/officeDocument/2006/relationships/image" Target="../media/image25.png"/><Relationship Id="rId19" Type="http://schemas.openxmlformats.org/officeDocument/2006/relationships/image" Target="../media/image20.png"/><Relationship Id="rId4" Type="http://schemas.openxmlformats.org/officeDocument/2006/relationships/image" Target="../media/image21.png"/><Relationship Id="rId9" Type="http://schemas.openxmlformats.org/officeDocument/2006/relationships/image" Target="../media/image24.png"/><Relationship Id="rId14" Type="http://schemas.openxmlformats.org/officeDocument/2006/relationships/image" Target="../media/image10.png"/><Relationship Id="rId22" Type="http://schemas.openxmlformats.org/officeDocument/2006/relationships/image" Target="../media/image6.png"/></Relationships>
</file>

<file path=ppt/slides/_rels/slide15.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9.png"/><Relationship Id="rId18" Type="http://schemas.openxmlformats.org/officeDocument/2006/relationships/image" Target="../media/image5.png"/><Relationship Id="rId3" Type="http://schemas.openxmlformats.org/officeDocument/2006/relationships/image" Target="../media/image11.png"/><Relationship Id="rId21" Type="http://schemas.openxmlformats.org/officeDocument/2006/relationships/image" Target="../media/image15.png"/><Relationship Id="rId7" Type="http://schemas.openxmlformats.org/officeDocument/2006/relationships/image" Target="../media/image19.png"/><Relationship Id="rId12" Type="http://schemas.openxmlformats.org/officeDocument/2006/relationships/image" Target="../media/image16.png"/><Relationship Id="rId17" Type="http://schemas.openxmlformats.org/officeDocument/2006/relationships/image" Target="../media/image18.png"/><Relationship Id="rId2" Type="http://schemas.openxmlformats.org/officeDocument/2006/relationships/notesSlide" Target="../notesSlides/notesSlide9.xml"/><Relationship Id="rId16" Type="http://schemas.openxmlformats.org/officeDocument/2006/relationships/image" Target="../media/image12.png"/><Relationship Id="rId20" Type="http://schemas.openxmlformats.org/officeDocument/2006/relationships/image" Target="../media/image14.png"/><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image" Target="../media/image13.png"/><Relationship Id="rId5" Type="http://schemas.openxmlformats.org/officeDocument/2006/relationships/image" Target="../media/image22.png"/><Relationship Id="rId15" Type="http://schemas.openxmlformats.org/officeDocument/2006/relationships/image" Target="../media/image4.png"/><Relationship Id="rId23" Type="http://schemas.openxmlformats.org/officeDocument/2006/relationships/image" Target="../media/image8.png"/><Relationship Id="rId10" Type="http://schemas.openxmlformats.org/officeDocument/2006/relationships/image" Target="../media/image25.png"/><Relationship Id="rId19" Type="http://schemas.openxmlformats.org/officeDocument/2006/relationships/image" Target="../media/image20.png"/><Relationship Id="rId4" Type="http://schemas.openxmlformats.org/officeDocument/2006/relationships/image" Target="../media/image21.png"/><Relationship Id="rId9" Type="http://schemas.openxmlformats.org/officeDocument/2006/relationships/image" Target="../media/image24.png"/><Relationship Id="rId14" Type="http://schemas.openxmlformats.org/officeDocument/2006/relationships/image" Target="../media/image10.png"/><Relationship Id="rId22" Type="http://schemas.openxmlformats.org/officeDocument/2006/relationships/image" Target="../media/image6.png"/></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6.pn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3.png"/><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3.png"/><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9.png"/><Relationship Id="rId18" Type="http://schemas.openxmlformats.org/officeDocument/2006/relationships/image" Target="../media/image5.png"/><Relationship Id="rId3" Type="http://schemas.openxmlformats.org/officeDocument/2006/relationships/image" Target="../media/image11.png"/><Relationship Id="rId21" Type="http://schemas.openxmlformats.org/officeDocument/2006/relationships/image" Target="../media/image15.png"/><Relationship Id="rId7" Type="http://schemas.openxmlformats.org/officeDocument/2006/relationships/image" Target="../media/image19.png"/><Relationship Id="rId12" Type="http://schemas.openxmlformats.org/officeDocument/2006/relationships/image" Target="../media/image16.png"/><Relationship Id="rId17" Type="http://schemas.openxmlformats.org/officeDocument/2006/relationships/image" Target="../media/image18.png"/><Relationship Id="rId2" Type="http://schemas.openxmlformats.org/officeDocument/2006/relationships/notesSlide" Target="../notesSlides/notesSlide10.xml"/><Relationship Id="rId16" Type="http://schemas.openxmlformats.org/officeDocument/2006/relationships/image" Target="../media/image12.png"/><Relationship Id="rId20" Type="http://schemas.openxmlformats.org/officeDocument/2006/relationships/image" Target="../media/image14.png"/><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image" Target="../media/image13.png"/><Relationship Id="rId5" Type="http://schemas.openxmlformats.org/officeDocument/2006/relationships/image" Target="../media/image22.png"/><Relationship Id="rId15" Type="http://schemas.openxmlformats.org/officeDocument/2006/relationships/image" Target="../media/image4.png"/><Relationship Id="rId23" Type="http://schemas.openxmlformats.org/officeDocument/2006/relationships/image" Target="../media/image8.png"/><Relationship Id="rId10" Type="http://schemas.openxmlformats.org/officeDocument/2006/relationships/image" Target="../media/image25.png"/><Relationship Id="rId19" Type="http://schemas.openxmlformats.org/officeDocument/2006/relationships/image" Target="../media/image20.png"/><Relationship Id="rId4" Type="http://schemas.openxmlformats.org/officeDocument/2006/relationships/image" Target="../media/image21.png"/><Relationship Id="rId9" Type="http://schemas.openxmlformats.org/officeDocument/2006/relationships/image" Target="../media/image24.png"/><Relationship Id="rId14" Type="http://schemas.openxmlformats.org/officeDocument/2006/relationships/image" Target="../media/image10.png"/><Relationship Id="rId22" Type="http://schemas.openxmlformats.org/officeDocument/2006/relationships/image" Target="../media/image6.png"/></Relationships>
</file>

<file path=ppt/slides/_rels/slide20.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11.xml"/><Relationship Id="rId1" Type="http://schemas.openxmlformats.org/officeDocument/2006/relationships/slideLayout" Target="../slideLayouts/slideLayout3.xml"/><Relationship Id="rId5" Type="http://schemas.openxmlformats.org/officeDocument/2006/relationships/image" Target="../media/image43.png"/><Relationship Id="rId4" Type="http://schemas.openxmlformats.org/officeDocument/2006/relationships/image" Target="../media/image47.emf"/></Relationships>
</file>

<file path=ppt/slides/_rels/slide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8.pn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43.png"/><Relationship Id="rId5" Type="http://schemas.openxmlformats.org/officeDocument/2006/relationships/image" Target="../media/image51.png"/><Relationship Id="rId4" Type="http://schemas.openxmlformats.org/officeDocument/2006/relationships/image" Target="../media/image50.png"/></Relationships>
</file>

<file path=ppt/slides/_rels/slide23.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43.png"/><Relationship Id="rId5" Type="http://schemas.openxmlformats.org/officeDocument/2006/relationships/image" Target="../media/image51.png"/><Relationship Id="rId4" Type="http://schemas.openxmlformats.org/officeDocument/2006/relationships/image" Target="../media/image50.png"/></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2.png"/><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png"/><Relationship Id="rId7" Type="http://schemas.openxmlformats.org/officeDocument/2006/relationships/image" Target="../media/image56.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55.png"/><Relationship Id="rId11" Type="http://schemas.openxmlformats.org/officeDocument/2006/relationships/image" Target="../media/image59.png"/><Relationship Id="rId5" Type="http://schemas.openxmlformats.org/officeDocument/2006/relationships/image" Target="../media/image54.png"/><Relationship Id="rId10" Type="http://schemas.openxmlformats.org/officeDocument/2006/relationships/image" Target="../media/image58.png"/><Relationship Id="rId4" Type="http://schemas.openxmlformats.org/officeDocument/2006/relationships/image" Target="../media/image53.png"/><Relationship Id="rId9" Type="http://schemas.openxmlformats.org/officeDocument/2006/relationships/image" Target="../media/image43.png"/></Relationships>
</file>

<file path=ppt/slides/_rels/slide26.xml.rels><?xml version="1.0" encoding="UTF-8" standalone="yes"?>
<Relationships xmlns="http://schemas.openxmlformats.org/package/2006/relationships"><Relationship Id="rId8" Type="http://schemas.openxmlformats.org/officeDocument/2006/relationships/image" Target="../media/image63.png"/><Relationship Id="rId13" Type="http://schemas.openxmlformats.org/officeDocument/2006/relationships/image" Target="../media/image68.png"/><Relationship Id="rId3" Type="http://schemas.openxmlformats.org/officeDocument/2006/relationships/image" Target="../media/image5.png"/><Relationship Id="rId7" Type="http://schemas.openxmlformats.org/officeDocument/2006/relationships/image" Target="../media/image62.png"/><Relationship Id="rId12" Type="http://schemas.openxmlformats.org/officeDocument/2006/relationships/image" Target="../media/image67.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61.png"/><Relationship Id="rId11" Type="http://schemas.openxmlformats.org/officeDocument/2006/relationships/image" Target="../media/image66.png"/><Relationship Id="rId5" Type="http://schemas.openxmlformats.org/officeDocument/2006/relationships/image" Target="../media/image60.png"/><Relationship Id="rId10" Type="http://schemas.openxmlformats.org/officeDocument/2006/relationships/image" Target="../media/image65.png"/><Relationship Id="rId4" Type="http://schemas.openxmlformats.org/officeDocument/2006/relationships/image" Target="../media/image53.png"/><Relationship Id="rId9" Type="http://schemas.openxmlformats.org/officeDocument/2006/relationships/image" Target="../media/image64.png"/><Relationship Id="rId14" Type="http://schemas.openxmlformats.org/officeDocument/2006/relationships/image" Target="../media/image43.png"/></Relationships>
</file>

<file path=ppt/slides/_rels/slide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9.png"/><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8" Type="http://schemas.openxmlformats.org/officeDocument/2006/relationships/image" Target="../media/image58.png"/><Relationship Id="rId13" Type="http://schemas.openxmlformats.org/officeDocument/2006/relationships/image" Target="../media/image4.png"/><Relationship Id="rId3" Type="http://schemas.openxmlformats.org/officeDocument/2006/relationships/image" Target="../media/image5.png"/><Relationship Id="rId7" Type="http://schemas.openxmlformats.org/officeDocument/2006/relationships/image" Target="../media/image72.png"/><Relationship Id="rId12" Type="http://schemas.openxmlformats.org/officeDocument/2006/relationships/image" Target="../media/image75.png"/><Relationship Id="rId2" Type="http://schemas.openxmlformats.org/officeDocument/2006/relationships/notesSlide" Target="../notesSlides/notesSlide16.xml"/><Relationship Id="rId16" Type="http://schemas.openxmlformats.org/officeDocument/2006/relationships/image" Target="../media/image78.png"/><Relationship Id="rId1" Type="http://schemas.openxmlformats.org/officeDocument/2006/relationships/slideLayout" Target="../slideLayouts/slideLayout3.xml"/><Relationship Id="rId6" Type="http://schemas.openxmlformats.org/officeDocument/2006/relationships/image" Target="../media/image71.png"/><Relationship Id="rId11" Type="http://schemas.openxmlformats.org/officeDocument/2006/relationships/image" Target="../media/image74.png"/><Relationship Id="rId5" Type="http://schemas.openxmlformats.org/officeDocument/2006/relationships/image" Target="../media/image70.png"/><Relationship Id="rId15" Type="http://schemas.openxmlformats.org/officeDocument/2006/relationships/image" Target="../media/image77.png"/><Relationship Id="rId10" Type="http://schemas.openxmlformats.org/officeDocument/2006/relationships/image" Target="../media/image73.png"/><Relationship Id="rId4" Type="http://schemas.openxmlformats.org/officeDocument/2006/relationships/image" Target="../media/image53.png"/><Relationship Id="rId9" Type="http://schemas.openxmlformats.org/officeDocument/2006/relationships/image" Target="../media/image59.png"/><Relationship Id="rId14" Type="http://schemas.openxmlformats.org/officeDocument/2006/relationships/image" Target="../media/image76.png"/></Relationships>
</file>

<file path=ppt/slides/_rels/slide29.xml.rels><?xml version="1.0" encoding="UTF-8" standalone="yes"?>
<Relationships xmlns="http://schemas.openxmlformats.org/package/2006/relationships"><Relationship Id="rId8" Type="http://schemas.openxmlformats.org/officeDocument/2006/relationships/image" Target="../media/image84.png"/><Relationship Id="rId13" Type="http://schemas.openxmlformats.org/officeDocument/2006/relationships/image" Target="../media/image88.png"/><Relationship Id="rId18" Type="http://schemas.openxmlformats.org/officeDocument/2006/relationships/image" Target="../media/image92.png"/><Relationship Id="rId26" Type="http://schemas.openxmlformats.org/officeDocument/2006/relationships/image" Target="../media/image100.png"/><Relationship Id="rId3" Type="http://schemas.openxmlformats.org/officeDocument/2006/relationships/image" Target="../media/image79.png"/><Relationship Id="rId21" Type="http://schemas.openxmlformats.org/officeDocument/2006/relationships/image" Target="../media/image95.png"/><Relationship Id="rId7" Type="http://schemas.openxmlformats.org/officeDocument/2006/relationships/image" Target="../media/image83.png"/><Relationship Id="rId12" Type="http://schemas.openxmlformats.org/officeDocument/2006/relationships/image" Target="../media/image87.png"/><Relationship Id="rId17" Type="http://schemas.openxmlformats.org/officeDocument/2006/relationships/image" Target="../media/image4.png"/><Relationship Id="rId25" Type="http://schemas.openxmlformats.org/officeDocument/2006/relationships/image" Target="../media/image99.png"/><Relationship Id="rId2" Type="http://schemas.openxmlformats.org/officeDocument/2006/relationships/notesSlide" Target="../notesSlides/notesSlide17.xml"/><Relationship Id="rId16" Type="http://schemas.openxmlformats.org/officeDocument/2006/relationships/image" Target="../media/image91.png"/><Relationship Id="rId20" Type="http://schemas.openxmlformats.org/officeDocument/2006/relationships/image" Target="../media/image94.png"/><Relationship Id="rId29" Type="http://schemas.openxmlformats.org/officeDocument/2006/relationships/image" Target="../media/image103.png"/><Relationship Id="rId1" Type="http://schemas.openxmlformats.org/officeDocument/2006/relationships/slideLayout" Target="../slideLayouts/slideLayout5.xml"/><Relationship Id="rId6" Type="http://schemas.openxmlformats.org/officeDocument/2006/relationships/image" Target="../media/image82.png"/><Relationship Id="rId11" Type="http://schemas.openxmlformats.org/officeDocument/2006/relationships/image" Target="../media/image13.png"/><Relationship Id="rId24" Type="http://schemas.openxmlformats.org/officeDocument/2006/relationships/image" Target="../media/image98.png"/><Relationship Id="rId32" Type="http://schemas.openxmlformats.org/officeDocument/2006/relationships/image" Target="../media/image3.png"/><Relationship Id="rId5" Type="http://schemas.openxmlformats.org/officeDocument/2006/relationships/image" Target="../media/image81.png"/><Relationship Id="rId15" Type="http://schemas.openxmlformats.org/officeDocument/2006/relationships/image" Target="../media/image90.png"/><Relationship Id="rId23" Type="http://schemas.openxmlformats.org/officeDocument/2006/relationships/image" Target="../media/image97.png"/><Relationship Id="rId28" Type="http://schemas.openxmlformats.org/officeDocument/2006/relationships/image" Target="../media/image102.png"/><Relationship Id="rId10" Type="http://schemas.openxmlformats.org/officeDocument/2006/relationships/image" Target="../media/image86.png"/><Relationship Id="rId19" Type="http://schemas.openxmlformats.org/officeDocument/2006/relationships/image" Target="../media/image93.png"/><Relationship Id="rId31" Type="http://schemas.openxmlformats.org/officeDocument/2006/relationships/image" Target="../media/image105.png"/><Relationship Id="rId4" Type="http://schemas.openxmlformats.org/officeDocument/2006/relationships/image" Target="../media/image80.png"/><Relationship Id="rId9" Type="http://schemas.openxmlformats.org/officeDocument/2006/relationships/image" Target="../media/image85.png"/><Relationship Id="rId14" Type="http://schemas.openxmlformats.org/officeDocument/2006/relationships/image" Target="../media/image89.png"/><Relationship Id="rId22" Type="http://schemas.openxmlformats.org/officeDocument/2006/relationships/image" Target="../media/image96.png"/><Relationship Id="rId27" Type="http://schemas.openxmlformats.org/officeDocument/2006/relationships/image" Target="../media/image101.png"/><Relationship Id="rId30" Type="http://schemas.openxmlformats.org/officeDocument/2006/relationships/image" Target="../media/image104.png"/></Relationships>
</file>

<file path=ppt/slides/_rels/slide3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notesSlide" Target="../notesSlides/notesSlide18.xml"/><Relationship Id="rId1" Type="http://schemas.openxmlformats.org/officeDocument/2006/relationships/slideLayout" Target="../slideLayouts/slideLayout3.xml"/><Relationship Id="rId4" Type="http://schemas.openxmlformats.org/officeDocument/2006/relationships/image" Target="../media/image107.emf"/></Relationships>
</file>

<file path=ppt/slides/_rels/slide31.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png"/><Relationship Id="rId1" Type="http://schemas.openxmlformats.org/officeDocument/2006/relationships/slideLayout" Target="../slideLayouts/slideLayout5.xml"/><Relationship Id="rId4" Type="http://schemas.openxmlformats.org/officeDocument/2006/relationships/image" Target="../media/image107.emf"/></Relationships>
</file>

<file path=ppt/slides/_rels/slide32.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19.xml"/><Relationship Id="rId1" Type="http://schemas.openxmlformats.org/officeDocument/2006/relationships/slideLayout" Target="../slideLayouts/slideLayout3.xml"/><Relationship Id="rId5" Type="http://schemas.openxmlformats.org/officeDocument/2006/relationships/image" Target="../media/image112.jpeg"/><Relationship Id="rId4" Type="http://schemas.openxmlformats.org/officeDocument/2006/relationships/image" Target="../media/image111.jpeg"/></Relationships>
</file>

<file path=ppt/slides/_rels/slide33.xml.rels><?xml version="1.0" encoding="UTF-8" standalone="yes"?>
<Relationships xmlns="http://schemas.openxmlformats.org/package/2006/relationships"><Relationship Id="rId3" Type="http://schemas.openxmlformats.org/officeDocument/2006/relationships/image" Target="../media/image113.png"/><Relationship Id="rId7" Type="http://schemas.openxmlformats.org/officeDocument/2006/relationships/image" Target="../media/image117.png"/><Relationship Id="rId2" Type="http://schemas.openxmlformats.org/officeDocument/2006/relationships/notesSlide" Target="../notesSlides/notesSlide20.xml"/><Relationship Id="rId1" Type="http://schemas.openxmlformats.org/officeDocument/2006/relationships/slideLayout" Target="../slideLayouts/slideLayout3.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9.png"/><Relationship Id="rId18" Type="http://schemas.openxmlformats.org/officeDocument/2006/relationships/image" Target="../media/image5.png"/><Relationship Id="rId3" Type="http://schemas.openxmlformats.org/officeDocument/2006/relationships/image" Target="../media/image11.png"/><Relationship Id="rId21" Type="http://schemas.openxmlformats.org/officeDocument/2006/relationships/image" Target="../media/image15.png"/><Relationship Id="rId7" Type="http://schemas.openxmlformats.org/officeDocument/2006/relationships/image" Target="../media/image19.png"/><Relationship Id="rId12" Type="http://schemas.openxmlformats.org/officeDocument/2006/relationships/image" Target="../media/image16.png"/><Relationship Id="rId17" Type="http://schemas.openxmlformats.org/officeDocument/2006/relationships/image" Target="../media/image18.png"/><Relationship Id="rId2" Type="http://schemas.openxmlformats.org/officeDocument/2006/relationships/notesSlide" Target="../notesSlides/notesSlide23.xml"/><Relationship Id="rId16" Type="http://schemas.openxmlformats.org/officeDocument/2006/relationships/image" Target="../media/image12.png"/><Relationship Id="rId20" Type="http://schemas.openxmlformats.org/officeDocument/2006/relationships/image" Target="../media/image14.png"/><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image" Target="../media/image13.png"/><Relationship Id="rId5" Type="http://schemas.openxmlformats.org/officeDocument/2006/relationships/image" Target="../media/image22.png"/><Relationship Id="rId15" Type="http://schemas.openxmlformats.org/officeDocument/2006/relationships/image" Target="../media/image4.png"/><Relationship Id="rId23" Type="http://schemas.openxmlformats.org/officeDocument/2006/relationships/image" Target="../media/image8.png"/><Relationship Id="rId10" Type="http://schemas.openxmlformats.org/officeDocument/2006/relationships/image" Target="../media/image25.png"/><Relationship Id="rId19" Type="http://schemas.openxmlformats.org/officeDocument/2006/relationships/image" Target="../media/image20.png"/><Relationship Id="rId4" Type="http://schemas.openxmlformats.org/officeDocument/2006/relationships/image" Target="../media/image21.png"/><Relationship Id="rId9" Type="http://schemas.openxmlformats.org/officeDocument/2006/relationships/image" Target="../media/image24.png"/><Relationship Id="rId14" Type="http://schemas.openxmlformats.org/officeDocument/2006/relationships/image" Target="../media/image10.png"/><Relationship Id="rId22" Type="http://schemas.openxmlformats.org/officeDocument/2006/relationships/image" Target="../media/image6.png"/></Relationships>
</file>

<file path=ppt/slides/_rels/slide37.xml.rels><?xml version="1.0" encoding="UTF-8" standalone="yes"?>
<Relationships xmlns="http://schemas.openxmlformats.org/package/2006/relationships"><Relationship Id="rId3" Type="http://schemas.openxmlformats.org/officeDocument/2006/relationships/image" Target="../media/image118.png"/><Relationship Id="rId7" Type="http://schemas.openxmlformats.org/officeDocument/2006/relationships/image" Target="../media/image43.png"/><Relationship Id="rId2" Type="http://schemas.openxmlformats.org/officeDocument/2006/relationships/notesSlide" Target="../notesSlides/notesSlide24.xml"/><Relationship Id="rId1" Type="http://schemas.openxmlformats.org/officeDocument/2006/relationships/slideLayout" Target="../slideLayouts/slideLayout3.xml"/><Relationship Id="rId6" Type="http://schemas.openxmlformats.org/officeDocument/2006/relationships/image" Target="../media/image107.emf"/><Relationship Id="rId5" Type="http://schemas.openxmlformats.org/officeDocument/2006/relationships/image" Target="../media/image120.png"/><Relationship Id="rId4" Type="http://schemas.openxmlformats.org/officeDocument/2006/relationships/image" Target="../media/image119.png"/></Relationships>
</file>

<file path=ppt/slides/_rels/slide3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25.xml"/><Relationship Id="rId1" Type="http://schemas.openxmlformats.org/officeDocument/2006/relationships/slideLayout" Target="../slideLayouts/slideLayout5.xml"/><Relationship Id="rId4" Type="http://schemas.openxmlformats.org/officeDocument/2006/relationships/image" Target="../media/image3.png"/></Relationships>
</file>

<file path=ppt/slides/_rels/slide40.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22.png"/><Relationship Id="rId1" Type="http://schemas.openxmlformats.org/officeDocument/2006/relationships/slideLayout" Target="../slideLayouts/slideLayout5.xml"/><Relationship Id="rId4" Type="http://schemas.openxmlformats.org/officeDocument/2006/relationships/image" Target="../media/image3.png"/></Relationships>
</file>

<file path=ppt/slides/_rels/slide4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4.png"/><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5.jpeg"/><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6.png"/><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7.png"/><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8.jpeg"/><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9.jpeg"/><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30.jpeg"/><Relationship Id="rId1" Type="http://schemas.openxmlformats.org/officeDocument/2006/relationships/slideLayout" Target="../slideLayouts/slideLayout5.xml"/></Relationships>
</file>

<file path=ppt/slides/_rels/slide5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hyperlink" Target="http://isp-in-malaysia.blogspot.com/2011/04/isp-listing.html" TargetMode="External"/><Relationship Id="rId2" Type="http://schemas.openxmlformats.org/officeDocument/2006/relationships/notesSlide" Target="../notesSlides/notesSlide41.xml"/><Relationship Id="rId1" Type="http://schemas.openxmlformats.org/officeDocument/2006/relationships/slideLayout" Target="../slideLayouts/slideLayout3.xml"/><Relationship Id="rId5" Type="http://schemas.openxmlformats.org/officeDocument/2006/relationships/hyperlink" Target="http://www.soyacincau.com/2010/11/19/broadband-in-malaysia-cost-comparison-table/" TargetMode="External"/><Relationship Id="rId4" Type="http://schemas.openxmlformats.org/officeDocument/2006/relationships/hyperlink" Target="http://en.wikipedia.org/wiki/Internet_in_Malaysia" TargetMode="External"/></Relationships>
</file>

<file path=ppt/slides/_rels/slide65.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42.xml"/><Relationship Id="rId1" Type="http://schemas.openxmlformats.org/officeDocument/2006/relationships/slideLayout" Target="../slideLayouts/slideLayout3.xml"/><Relationship Id="rId4" Type="http://schemas.openxmlformats.org/officeDocument/2006/relationships/image" Target="../media/image132.png"/></Relationships>
</file>

<file path=ppt/slides/_rels/slide6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24.pn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45.xml"/><Relationship Id="rId1" Type="http://schemas.openxmlformats.org/officeDocument/2006/relationships/slideLayout" Target="../slideLayouts/slideLayout5.xml"/><Relationship Id="rId4" Type="http://schemas.openxmlformats.org/officeDocument/2006/relationships/image" Target="../media/image3.png"/></Relationships>
</file>

<file path=ppt/slides/_rels/slide7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3" Type="http://schemas.openxmlformats.org/officeDocument/2006/relationships/image" Target="../media/image134.emf"/><Relationship Id="rId2" Type="http://schemas.openxmlformats.org/officeDocument/2006/relationships/notesSlide" Target="../notesSlides/notesSlide48.xml"/><Relationship Id="rId1" Type="http://schemas.openxmlformats.org/officeDocument/2006/relationships/slideLayout" Target="../slideLayouts/slideLayout3.xml"/><Relationship Id="rId4" Type="http://schemas.openxmlformats.org/officeDocument/2006/relationships/image" Target="../media/image135.png"/></Relationships>
</file>

<file path=ppt/slides/_rels/slide73.xml.rels><?xml version="1.0" encoding="UTF-8" standalone="yes"?>
<Relationships xmlns="http://schemas.openxmlformats.org/package/2006/relationships"><Relationship Id="rId3" Type="http://schemas.openxmlformats.org/officeDocument/2006/relationships/image" Target="../media/image134.emf"/><Relationship Id="rId2" Type="http://schemas.openxmlformats.org/officeDocument/2006/relationships/notesSlide" Target="../notesSlides/notesSlide49.xml"/><Relationship Id="rId1" Type="http://schemas.openxmlformats.org/officeDocument/2006/relationships/slideLayout" Target="../slideLayouts/slideLayout3.xml"/><Relationship Id="rId4" Type="http://schemas.openxmlformats.org/officeDocument/2006/relationships/image" Target="../media/image135.png"/></Relationships>
</file>

<file path=ppt/slides/_rels/slide74.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137.png"/></Relationships>
</file>

<file path=ppt/slides/_rels/slide7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38.png"/><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56.xml"/><Relationship Id="rId1" Type="http://schemas.openxmlformats.org/officeDocument/2006/relationships/slideLayout" Target="../slideLayouts/slideLayout5.xml"/><Relationship Id="rId5" Type="http://schemas.openxmlformats.org/officeDocument/2006/relationships/image" Target="../media/image3.png"/><Relationship Id="rId4" Type="http://schemas.openxmlformats.org/officeDocument/2006/relationships/image" Target="../media/image140.png"/></Relationships>
</file>

<file path=ppt/slides/_rels/slide8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41.png"/><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42.png"/><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143.emf"/><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143.emf"/><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3" Type="http://schemas.openxmlformats.org/officeDocument/2006/relationships/image" Target="../media/image144.wmf"/><Relationship Id="rId2" Type="http://schemas.openxmlformats.org/officeDocument/2006/relationships/oleObject" Target="../embeddings/oleObject3.bin"/><Relationship Id="rId1" Type="http://schemas.openxmlformats.org/officeDocument/2006/relationships/slideLayout" Target="../slideLayouts/slideLayout2.xml"/><Relationship Id="rId4" Type="http://schemas.openxmlformats.org/officeDocument/2006/relationships/image" Target="../media/image108.png"/></Relationships>
</file>

<file path=ppt/slides/_rels/slide95.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oleObject" Target="../embeddings/oleObject4.bin"/><Relationship Id="rId1" Type="http://schemas.openxmlformats.org/officeDocument/2006/relationships/slideLayout" Target="../slideLayouts/slideLayout3.xml"/><Relationship Id="rId6" Type="http://schemas.openxmlformats.org/officeDocument/2006/relationships/image" Target="../media/image108.png"/><Relationship Id="rId5" Type="http://schemas.openxmlformats.org/officeDocument/2006/relationships/image" Target="../media/image146.png"/><Relationship Id="rId4" Type="http://schemas.openxmlformats.org/officeDocument/2006/relationships/oleObject" Target="../embeddings/oleObject5.bin"/></Relationships>
</file>

<file path=ppt/slides/_rels/slide96.xml.rels><?xml version="1.0" encoding="UTF-8" standalone="yes"?>
<Relationships xmlns="http://schemas.openxmlformats.org/package/2006/relationships"><Relationship Id="rId3" Type="http://schemas.openxmlformats.org/officeDocument/2006/relationships/image" Target="../media/image147.wmf"/><Relationship Id="rId2" Type="http://schemas.openxmlformats.org/officeDocument/2006/relationships/oleObject" Target="../embeddings/oleObject6.bin"/><Relationship Id="rId1" Type="http://schemas.openxmlformats.org/officeDocument/2006/relationships/slideLayout" Target="../slideLayouts/slideLayout2.xml"/><Relationship Id="rId6" Type="http://schemas.openxmlformats.org/officeDocument/2006/relationships/image" Target="../media/image108.png"/><Relationship Id="rId5" Type="http://schemas.openxmlformats.org/officeDocument/2006/relationships/oleObject" Target="../embeddings/oleObject8.bin"/><Relationship Id="rId4" Type="http://schemas.openxmlformats.org/officeDocument/2006/relationships/oleObject" Target="../embeddings/oleObject7.bin"/></Relationships>
</file>

<file path=ppt/slides/_rels/slide97.xml.rels><?xml version="1.0" encoding="UTF-8" standalone="yes"?>
<Relationships xmlns="http://schemas.openxmlformats.org/package/2006/relationships"><Relationship Id="rId3" Type="http://schemas.openxmlformats.org/officeDocument/2006/relationships/image" Target="../media/image148.wmf"/><Relationship Id="rId2" Type="http://schemas.openxmlformats.org/officeDocument/2006/relationships/oleObject" Target="../embeddings/oleObject9.bin"/><Relationship Id="rId1" Type="http://schemas.openxmlformats.org/officeDocument/2006/relationships/slideLayout" Target="../slideLayouts/slideLayout2.xml"/><Relationship Id="rId4" Type="http://schemas.openxmlformats.org/officeDocument/2006/relationships/image" Target="../media/image108.png"/></Relationships>
</file>

<file path=ppt/slides/_rels/slide98.xml.rels><?xml version="1.0" encoding="UTF-8" standalone="yes"?>
<Relationships xmlns="http://schemas.openxmlformats.org/package/2006/relationships"><Relationship Id="rId8" Type="http://schemas.openxmlformats.org/officeDocument/2006/relationships/image" Target="../media/image150.png"/><Relationship Id="rId3" Type="http://schemas.openxmlformats.org/officeDocument/2006/relationships/image" Target="../media/image149.wmf"/><Relationship Id="rId7" Type="http://schemas.openxmlformats.org/officeDocument/2006/relationships/oleObject" Target="../embeddings/oleObject13.bin"/><Relationship Id="rId2" Type="http://schemas.openxmlformats.org/officeDocument/2006/relationships/oleObject" Target="../embeddings/oleObject10.bin"/><Relationship Id="rId1" Type="http://schemas.openxmlformats.org/officeDocument/2006/relationships/slideLayout" Target="../slideLayouts/slideLayout2.xml"/><Relationship Id="rId6" Type="http://schemas.openxmlformats.org/officeDocument/2006/relationships/oleObject" Target="../embeddings/oleObject12.bin"/><Relationship Id="rId5" Type="http://schemas.openxmlformats.org/officeDocument/2006/relationships/image" Target="../media/image147.wmf"/><Relationship Id="rId4" Type="http://schemas.openxmlformats.org/officeDocument/2006/relationships/oleObject" Target="../embeddings/oleObject11.bin"/><Relationship Id="rId9" Type="http://schemas.openxmlformats.org/officeDocument/2006/relationships/image" Target="../media/image108.png"/></Relationships>
</file>

<file path=ppt/slides/_rels/slide99.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oleObject" Target="../embeddings/oleObject14.bin"/><Relationship Id="rId1" Type="http://schemas.openxmlformats.org/officeDocument/2006/relationships/slideLayout" Target="../slideLayouts/slideLayout2.xml"/><Relationship Id="rId4" Type="http://schemas.openxmlformats.org/officeDocument/2006/relationships/image" Target="../media/image108.png"/></Relationships>
</file>

<file path=ppt/slides/_rels/slide100.xml.rels><?xml version="1.0" encoding="UTF-8" standalone="yes"?>
<Relationships xmlns="http://schemas.openxmlformats.org/package/2006/relationships"><Relationship Id="rId8" Type="http://schemas.openxmlformats.org/officeDocument/2006/relationships/image" Target="../media/image152.png"/><Relationship Id="rId3" Type="http://schemas.openxmlformats.org/officeDocument/2006/relationships/image" Target="../media/image149.wmf"/><Relationship Id="rId7" Type="http://schemas.openxmlformats.org/officeDocument/2006/relationships/oleObject" Target="../embeddings/oleObject18.bin"/><Relationship Id="rId2" Type="http://schemas.openxmlformats.org/officeDocument/2006/relationships/oleObject" Target="../embeddings/oleObject15.bin"/><Relationship Id="rId1" Type="http://schemas.openxmlformats.org/officeDocument/2006/relationships/slideLayout" Target="../slideLayouts/slideLayout2.xml"/><Relationship Id="rId6" Type="http://schemas.openxmlformats.org/officeDocument/2006/relationships/oleObject" Target="../embeddings/oleObject17.bin"/><Relationship Id="rId5" Type="http://schemas.openxmlformats.org/officeDocument/2006/relationships/image" Target="../media/image147.wmf"/><Relationship Id="rId4" Type="http://schemas.openxmlformats.org/officeDocument/2006/relationships/oleObject" Target="../embeddings/oleObject16.bin"/><Relationship Id="rId9" Type="http://schemas.openxmlformats.org/officeDocument/2006/relationships/image" Target="../media/image108.png"/></Relationships>
</file>

<file path=ppt/slides/_rels/slide101.xml.rels><?xml version="1.0" encoding="UTF-8" standalone="yes"?>
<Relationships xmlns="http://schemas.openxmlformats.org/package/2006/relationships"><Relationship Id="rId3" Type="http://schemas.openxmlformats.org/officeDocument/2006/relationships/image" Target="../media/image148.wmf"/><Relationship Id="rId2" Type="http://schemas.openxmlformats.org/officeDocument/2006/relationships/oleObject" Target="../embeddings/oleObject19.bin"/><Relationship Id="rId1" Type="http://schemas.openxmlformats.org/officeDocument/2006/relationships/slideLayout" Target="../slideLayouts/slideLayout2.xml"/><Relationship Id="rId4" Type="http://schemas.openxmlformats.org/officeDocument/2006/relationships/image" Target="../media/image108.png"/></Relationships>
</file>

<file path=ppt/slides/_rels/slide102.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oleObject" Target="../embeddings/oleObject20.bin"/><Relationship Id="rId1" Type="http://schemas.openxmlformats.org/officeDocument/2006/relationships/slideLayout" Target="../slideLayouts/slideLayout2.xml"/><Relationship Id="rId4" Type="http://schemas.openxmlformats.org/officeDocument/2006/relationships/image" Target="../media/image108.png"/></Relationships>
</file>

<file path=ppt/slides/_rels/slide103.xml.rels><?xml version="1.0" encoding="UTF-8" standalone="yes"?>
<Relationships xmlns="http://schemas.openxmlformats.org/package/2006/relationships"><Relationship Id="rId3" Type="http://schemas.openxmlformats.org/officeDocument/2006/relationships/image" Target="../media/image154.wmf"/><Relationship Id="rId2" Type="http://schemas.openxmlformats.org/officeDocument/2006/relationships/oleObject" Target="../embeddings/oleObject21.bin"/><Relationship Id="rId1" Type="http://schemas.openxmlformats.org/officeDocument/2006/relationships/slideLayout" Target="../slideLayouts/slideLayout3.xml"/><Relationship Id="rId6" Type="http://schemas.openxmlformats.org/officeDocument/2006/relationships/image" Target="../media/image108.png"/><Relationship Id="rId5" Type="http://schemas.openxmlformats.org/officeDocument/2006/relationships/image" Target="../media/image155.wmf"/><Relationship Id="rId4" Type="http://schemas.openxmlformats.org/officeDocument/2006/relationships/oleObject" Target="../embeddings/oleObject22.bin"/></Relationships>
</file>

<file path=ppt/slides/_rels/slide104.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oleObject" Target="../embeddings/oleObject23.bin"/><Relationship Id="rId1" Type="http://schemas.openxmlformats.org/officeDocument/2006/relationships/slideLayout" Target="../slideLayouts/slideLayout2.xml"/><Relationship Id="rId4" Type="http://schemas.openxmlformats.org/officeDocument/2006/relationships/image" Target="../media/image108.png"/></Relationships>
</file>

<file path=ppt/slides/_rels/slide105.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65.xml"/><Relationship Id="rId1" Type="http://schemas.openxmlformats.org/officeDocument/2006/relationships/slideLayout" Target="../slideLayouts/slideLayout2.xml"/><Relationship Id="rId5" Type="http://schemas.openxmlformats.org/officeDocument/2006/relationships/image" Target="../media/image108.png"/><Relationship Id="rId4" Type="http://schemas.openxmlformats.org/officeDocument/2006/relationships/image" Target="../media/image158.png"/></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67.xml"/><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59.png"/><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2.xml"/><Relationship Id="rId1" Type="http://schemas.openxmlformats.org/officeDocument/2006/relationships/slideLayout" Target="../slideLayouts/slideLayout3.xml"/><Relationship Id="rId4" Type="http://schemas.openxmlformats.org/officeDocument/2006/relationships/image" Target="../media/image160.emf"/></Relationships>
</file>

<file path=ppt/slides/_rels/slide115.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5.xml"/></Relationships>
</file>

<file path=ppt/slides/_rels/slide11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3.xml"/><Relationship Id="rId1" Type="http://schemas.openxmlformats.org/officeDocument/2006/relationships/slideLayout" Target="../slideLayouts/slideLayout3.xml"/><Relationship Id="rId5" Type="http://schemas.openxmlformats.org/officeDocument/2006/relationships/image" Target="../media/image162.jpeg"/><Relationship Id="rId4" Type="http://schemas.openxmlformats.org/officeDocument/2006/relationships/image" Target="../media/image160.emf"/></Relationships>
</file>

<file path=ppt/slides/_rels/slide117.xml.rels><?xml version="1.0" encoding="UTF-8" standalone="yes"?>
<Relationships xmlns="http://schemas.openxmlformats.org/package/2006/relationships"><Relationship Id="rId2" Type="http://schemas.openxmlformats.org/officeDocument/2006/relationships/image" Target="../media/image163.jpeg"/><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4.xml"/><Relationship Id="rId1" Type="http://schemas.openxmlformats.org/officeDocument/2006/relationships/slideLayout" Target="../slideLayouts/slideLayout3.xml"/><Relationship Id="rId4" Type="http://schemas.openxmlformats.org/officeDocument/2006/relationships/image" Target="../media/image160.emf"/></Relationships>
</file>

<file path=ppt/slides/_rels/slide119.xml.rels><?xml version="1.0" encoding="UTF-8" standalone="yes"?>
<Relationships xmlns="http://schemas.openxmlformats.org/package/2006/relationships"><Relationship Id="rId2" Type="http://schemas.openxmlformats.org/officeDocument/2006/relationships/image" Target="../media/image164.jpeg"/><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image" Target="../media/image167.png"/><Relationship Id="rId7" Type="http://schemas.openxmlformats.org/officeDocument/2006/relationships/image" Target="../media/image43.png"/><Relationship Id="rId2" Type="http://schemas.openxmlformats.org/officeDocument/2006/relationships/notesSlide" Target="../notesSlides/notesSlide83.xml"/><Relationship Id="rId1" Type="http://schemas.openxmlformats.org/officeDocument/2006/relationships/slideLayout" Target="../slideLayouts/slideLayout3.xml"/><Relationship Id="rId6" Type="http://schemas.openxmlformats.org/officeDocument/2006/relationships/image" Target="../media/image169.png"/><Relationship Id="rId5" Type="http://schemas.openxmlformats.org/officeDocument/2006/relationships/image" Target="../media/image168.png"/><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CCC80C3A-FA40-BD44-901E-27B4E4B22B51}"/>
              </a:ext>
            </a:extLst>
          </p:cNvPr>
          <p:cNvSpPr>
            <a:spLocks noGrp="1"/>
          </p:cNvSpPr>
          <p:nvPr>
            <p:ph type="sldNum" sz="quarter" idx="4"/>
          </p:nvPr>
        </p:nvSpPr>
        <p:spPr/>
        <p:txBody>
          <a:bodyPr/>
          <a:lstStyle/>
          <a:p>
            <a:r>
              <a:rPr lang="en-US"/>
              <a:t>Introduction: 1-</a:t>
            </a:r>
            <a:fld id="{C4204591-24BD-A542-B9D5-F8D8A88D2FEE}" type="slidenum">
              <a:rPr lang="en-US" smtClean="0"/>
              <a:pPr/>
              <a:t>1</a:t>
            </a:fld>
            <a:endParaRPr lang="en-US" dirty="0"/>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63393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1</a:t>
            </a:r>
            <a:br>
              <a:rPr lang="en-US" altLang="en-US" sz="6000" b="1" dirty="0">
                <a:solidFill>
                  <a:srgbClr val="000099"/>
                </a:solidFill>
                <a:latin typeface="+mj-lt"/>
              </a:rPr>
            </a:br>
            <a:r>
              <a:rPr lang="en-US" altLang="en-US" sz="5400" b="1" dirty="0">
                <a:solidFill>
                  <a:srgbClr val="000099"/>
                </a:solidFill>
                <a:latin typeface="+mj-lt"/>
              </a:rPr>
              <a:t>Computer Network and the Internet</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pic>
        <p:nvPicPr>
          <p:cNvPr id="10" name="Picture 9" descr="A picture containing outdoor, water, bridge, building&#10;&#10;Description automatically generated">
            <a:extLst>
              <a:ext uri="{FF2B5EF4-FFF2-40B4-BE49-F238E27FC236}">
                <a16:creationId xmlns:a16="http://schemas.microsoft.com/office/drawing/2014/main" id="{8FF33017-B1D4-1D43-9BC0-3EC96B262BA1}"/>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latin typeface="+mj-lt"/>
                <a:cs typeface="Calibri" panose="020F0502020204030204" pitchFamily="34" charset="0"/>
              </a:rPr>
              <a:t>Chapter 1: introduction</a:t>
            </a:r>
            <a:endParaRPr lang="en-US" dirty="0">
              <a:latin typeface="+mj-lt"/>
            </a:endParaRPr>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6816" y="1375384"/>
            <a:ext cx="4842088" cy="4351338"/>
          </a:xfrm>
        </p:spPr>
        <p:txBody>
          <a:bodyPr>
            <a:noAutofit/>
          </a:bodyPr>
          <a:lstStyle/>
          <a:p>
            <a:pPr>
              <a:buNone/>
            </a:pPr>
            <a:r>
              <a:rPr lang="en-US" altLang="en-US" sz="3200" i="1" dirty="0">
                <a:solidFill>
                  <a:srgbClr val="CC0000"/>
                </a:solidFill>
                <a:latin typeface="Calibri" panose="020F0502020204030204" pitchFamily="34" charset="0"/>
                <a:cs typeface="Calibri" panose="020F0502020204030204" pitchFamily="34" charset="0"/>
              </a:rPr>
              <a:t>Chapter goal:</a:t>
            </a:r>
            <a:r>
              <a:rPr lang="en-US" altLang="en-US" sz="3200" i="1" dirty="0">
                <a:latin typeface="Calibri" panose="020F0502020204030204" pitchFamily="34" charset="0"/>
                <a:cs typeface="Calibri" panose="020F0502020204030204" pitchFamily="34" charset="0"/>
              </a:rPr>
              <a:t> </a:t>
            </a:r>
          </a:p>
          <a:p>
            <a:pPr marL="342900" indent="-225425">
              <a:spcBef>
                <a:spcPts val="600"/>
              </a:spcBef>
            </a:pPr>
            <a:r>
              <a:rPr lang="en-US" altLang="en-US" dirty="0">
                <a:latin typeface="Calibri" panose="020F0502020204030204" pitchFamily="34" charset="0"/>
                <a:cs typeface="Calibri" panose="020F0502020204030204" pitchFamily="34" charset="0"/>
              </a:rPr>
              <a:t>Get “</a:t>
            </a:r>
            <a:r>
              <a:rPr lang="en-US" altLang="ja-JP" dirty="0">
                <a:latin typeface="Calibri" panose="020F0502020204030204" pitchFamily="34" charset="0"/>
                <a:cs typeface="Calibri" panose="020F0502020204030204" pitchFamily="34" charset="0"/>
              </a:rPr>
              <a:t>feel,” “big picture,” introduction to terminology</a:t>
            </a:r>
          </a:p>
          <a:p>
            <a:pPr marL="800100" lvl="1" indent="-225425">
              <a:spcBef>
                <a:spcPts val="600"/>
              </a:spcBef>
            </a:pPr>
            <a:r>
              <a:rPr lang="en-US" altLang="en-US" dirty="0">
                <a:latin typeface="Calibri" panose="020F0502020204030204" pitchFamily="34" charset="0"/>
                <a:cs typeface="Calibri" panose="020F0502020204030204" pitchFamily="34" charset="0"/>
              </a:rPr>
              <a:t>more depth, detail </a:t>
            </a:r>
            <a:r>
              <a:rPr lang="en-US" altLang="en-US" i="1" dirty="0">
                <a:latin typeface="Calibri" panose="020F0502020204030204" pitchFamily="34" charset="0"/>
                <a:cs typeface="Calibri" panose="020F0502020204030204" pitchFamily="34" charset="0"/>
              </a:rPr>
              <a:t>later</a:t>
            </a:r>
            <a:r>
              <a:rPr lang="en-US" altLang="en-US" dirty="0">
                <a:latin typeface="Calibri" panose="020F0502020204030204" pitchFamily="34" charset="0"/>
                <a:cs typeface="Calibri" panose="020F0502020204030204" pitchFamily="34" charset="0"/>
              </a:rPr>
              <a:t> in course</a:t>
            </a:r>
          </a:p>
          <a:p>
            <a:pPr marL="342900" indent="-225425">
              <a:spcBef>
                <a:spcPts val="600"/>
              </a:spcBef>
            </a:pPr>
            <a:r>
              <a:rPr lang="en-US" altLang="en-US" dirty="0">
                <a:latin typeface="Calibri" panose="020F0502020204030204" pitchFamily="34" charset="0"/>
                <a:cs typeface="Calibri" panose="020F0502020204030204" pitchFamily="34" charset="0"/>
              </a:rPr>
              <a:t>Approach:</a:t>
            </a:r>
          </a:p>
          <a:p>
            <a:pPr marL="628650" lvl="1" indent="-225425">
              <a:spcBef>
                <a:spcPts val="600"/>
              </a:spcBef>
              <a:buSzPct val="85000"/>
            </a:pPr>
            <a:r>
              <a:rPr lang="en-US" altLang="en-US" sz="2800" dirty="0">
                <a:latin typeface="Calibri" panose="020F0502020204030204" pitchFamily="34" charset="0"/>
                <a:ea typeface="Arial" panose="020B0604020202020204" pitchFamily="34" charset="0"/>
                <a:cs typeface="Calibri" panose="020F0502020204030204" pitchFamily="34" charset="0"/>
              </a:rPr>
              <a:t>use Internet as example</a:t>
            </a:r>
          </a:p>
          <a:p>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2</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422888"/>
            <a:ext cx="5994400" cy="4799013"/>
          </a:xfrm>
        </p:spPr>
        <p:txBody>
          <a:bodyPr>
            <a:normAutofit lnSpcReduction="10000"/>
          </a:bodyPr>
          <a:lstStyle/>
          <a:p>
            <a:pPr eaLnBrk="1" hangingPunct="1">
              <a:buFont typeface="Wingdings" panose="05000000000000000000" pitchFamily="2" charset="2"/>
              <a:buNone/>
            </a:pPr>
            <a:r>
              <a:rPr lang="en-US" altLang="en-US" sz="3200" i="1" dirty="0">
                <a:solidFill>
                  <a:srgbClr val="CC0000"/>
                </a:solidFill>
                <a:latin typeface="Calibri" panose="020F0502020204030204" pitchFamily="34" charset="0"/>
                <a:cs typeface="Calibri" panose="020F0502020204030204" pitchFamily="34" charset="0"/>
              </a:rPr>
              <a:t>Overview/roadmap:</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What </a:t>
            </a:r>
            <a:r>
              <a:rPr lang="en-US" altLang="en-US" sz="2600" i="1" dirty="0">
                <a:latin typeface="Calibri" panose="020F0502020204030204" pitchFamily="34" charset="0"/>
                <a:cs typeface="Calibri" panose="020F0502020204030204" pitchFamily="34" charset="0"/>
              </a:rPr>
              <a:t>is</a:t>
            </a:r>
            <a:r>
              <a:rPr lang="en-US" altLang="ja-JP" sz="2600" dirty="0">
                <a:latin typeface="Calibri" panose="020F0502020204030204" pitchFamily="34" charset="0"/>
                <a:cs typeface="Calibri" panose="020F0502020204030204" pitchFamily="34" charset="0"/>
              </a:rPr>
              <a:t> the Internet?</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What</a:t>
            </a:r>
            <a:r>
              <a:rPr lang="en-US" altLang="en-US" sz="2600" i="1" dirty="0">
                <a:latin typeface="Calibri" panose="020F0502020204030204" pitchFamily="34" charset="0"/>
                <a:cs typeface="Calibri" panose="020F0502020204030204" pitchFamily="34" charset="0"/>
              </a:rPr>
              <a:t> is </a:t>
            </a:r>
            <a:r>
              <a:rPr lang="en-US" altLang="ja-JP" sz="2600" dirty="0">
                <a:latin typeface="Calibri" panose="020F0502020204030204" pitchFamily="34" charset="0"/>
                <a:cs typeface="Calibri" panose="020F0502020204030204" pitchFamily="34" charset="0"/>
              </a:rPr>
              <a:t>a protocol?</a:t>
            </a:r>
          </a:p>
          <a:p>
            <a:pPr marL="403225" indent="-285750" eaLnBrk="1" hangingPunct="1">
              <a:spcBef>
                <a:spcPts val="800"/>
              </a:spcBef>
            </a:pPr>
            <a:r>
              <a:rPr lang="en-US" altLang="en-US" sz="2600" dirty="0">
                <a:solidFill>
                  <a:srgbClr val="0000A8"/>
                </a:solidFill>
                <a:latin typeface="Calibri" panose="020F0502020204030204" pitchFamily="34" charset="0"/>
                <a:cs typeface="Calibri" panose="020F0502020204030204" pitchFamily="34" charset="0"/>
              </a:rPr>
              <a:t>Network edge: </a:t>
            </a:r>
            <a:r>
              <a:rPr lang="en-US" altLang="en-US" sz="2600" dirty="0">
                <a:latin typeface="Calibri" panose="020F0502020204030204" pitchFamily="34" charset="0"/>
                <a:cs typeface="Calibri" panose="020F0502020204030204" pitchFamily="34" charset="0"/>
              </a:rPr>
              <a:t>hosts, access network, physical media</a:t>
            </a:r>
          </a:p>
          <a:p>
            <a:pPr marL="403225" indent="-285750" eaLnBrk="1" hangingPunct="1">
              <a:spcBef>
                <a:spcPts val="800"/>
              </a:spcBef>
            </a:pPr>
            <a:r>
              <a:rPr lang="en-US" altLang="en-US" sz="2600" dirty="0">
                <a:solidFill>
                  <a:srgbClr val="0000A8"/>
                </a:solidFill>
                <a:latin typeface="Calibri" panose="020F0502020204030204" pitchFamily="34" charset="0"/>
                <a:cs typeface="Calibri" panose="020F0502020204030204" pitchFamily="34" charset="0"/>
              </a:rPr>
              <a:t>Network core: </a:t>
            </a:r>
            <a:r>
              <a:rPr lang="en-US" altLang="en-US" sz="2600" dirty="0">
                <a:latin typeface="Calibri" panose="020F0502020204030204" pitchFamily="34" charset="0"/>
                <a:cs typeface="Calibri" panose="020F0502020204030204" pitchFamily="34" charset="0"/>
              </a:rPr>
              <a:t>packet/circuit switching, internet structure</a:t>
            </a:r>
          </a:p>
          <a:p>
            <a:pPr marL="403225" indent="-285750" eaLnBrk="1" hangingPunct="1">
              <a:spcBef>
                <a:spcPts val="800"/>
              </a:spcBef>
            </a:pPr>
            <a:r>
              <a:rPr lang="en-US" altLang="en-US" sz="2600" dirty="0">
                <a:solidFill>
                  <a:srgbClr val="0000A8"/>
                </a:solidFill>
                <a:latin typeface="Calibri" panose="020F0502020204030204" pitchFamily="34" charset="0"/>
                <a:cs typeface="Calibri" panose="020F0502020204030204" pitchFamily="34" charset="0"/>
              </a:rPr>
              <a:t>Performance: </a:t>
            </a:r>
            <a:r>
              <a:rPr lang="en-US" altLang="en-US" sz="2600" dirty="0">
                <a:latin typeface="Calibri" panose="020F0502020204030204" pitchFamily="34" charset="0"/>
                <a:cs typeface="Calibri" panose="020F0502020204030204" pitchFamily="34" charset="0"/>
              </a:rPr>
              <a:t>loss, delay, throughput</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Security</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Protocol layers, service models</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8" name="Picture 7" descr="Kurose&amp;Ross 8th ed cover picture">
            <a:extLst>
              <a:ext uri="{FF2B5EF4-FFF2-40B4-BE49-F238E27FC236}">
                <a16:creationId xmlns:a16="http://schemas.microsoft.com/office/drawing/2014/main" id="{B95BDA7C-AC0B-3A4E-88AC-B4ADDAD94A93}"/>
              </a:ext>
            </a:extLst>
          </p:cNvPr>
          <p:cNvPicPr>
            <a:picLocks noChangeAspect="1"/>
          </p:cNvPicPr>
          <p:nvPr/>
        </p:nvPicPr>
        <p:blipFill>
          <a:blip r:embed="rId3"/>
          <a:stretch>
            <a:fillRect/>
          </a:stretch>
        </p:blipFill>
        <p:spPr>
          <a:xfrm>
            <a:off x="942108" y="4457786"/>
            <a:ext cx="2745129" cy="2058847"/>
          </a:xfrm>
          <a:prstGeom prst="rect">
            <a:avLst/>
          </a:prstGeom>
        </p:spPr>
      </p:pic>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itle 1"/>
          <p:cNvSpPr>
            <a:spLocks noGrp="1" noChangeArrowheads="1"/>
          </p:cNvSpPr>
          <p:nvPr>
            <p:ph type="title"/>
          </p:nvPr>
        </p:nvSpPr>
        <p:spPr/>
        <p:txBody>
          <a:bodyPr/>
          <a:lstStyle/>
          <a:p>
            <a:r>
              <a:rPr lang="en-MY" altLang="en-US" b="1">
                <a:solidFill>
                  <a:srgbClr val="C00000"/>
                </a:solidFill>
                <a:ea typeface="ＭＳ Ｐゴシック" panose="020B0600070205080204" pitchFamily="34" charset="-128"/>
              </a:rPr>
              <a:t>What Is the Internet?</a:t>
            </a:r>
            <a:endParaRPr lang="en-US" altLang="en-US">
              <a:ea typeface="ＭＳ Ｐゴシック" panose="020B0600070205080204" pitchFamily="34" charset="-128"/>
            </a:endParaRPr>
          </a:p>
        </p:txBody>
      </p:sp>
      <p:sp>
        <p:nvSpPr>
          <p:cNvPr id="15363" name="Content Placeholder 2"/>
          <p:cNvSpPr>
            <a:spLocks noGrp="1" noChangeArrowheads="1"/>
          </p:cNvSpPr>
          <p:nvPr>
            <p:ph idx="1"/>
          </p:nvPr>
        </p:nvSpPr>
        <p:spPr/>
        <p:txBody>
          <a:bodyPr/>
          <a:lstStyle/>
          <a:p>
            <a:r>
              <a:rPr lang="en-MY" altLang="en-US" dirty="0">
                <a:ea typeface="ＭＳ Ｐゴシック" panose="020B0600070205080204" pitchFamily="34" charset="-128"/>
              </a:rPr>
              <a:t>Internet can be defined in two ways</a:t>
            </a:r>
          </a:p>
          <a:p>
            <a:pPr lvl="1"/>
            <a:r>
              <a:rPr lang="en-MY" altLang="en-US" dirty="0">
                <a:solidFill>
                  <a:srgbClr val="C00000"/>
                </a:solidFill>
                <a:ea typeface="Arial" panose="020B0604020202020204" pitchFamily="34" charset="0"/>
              </a:rPr>
              <a:t>The basic components – i.e. the nuts and bolt view</a:t>
            </a:r>
          </a:p>
          <a:p>
            <a:pPr lvl="2"/>
            <a:r>
              <a:rPr lang="en-MY" altLang="en-US" sz="2400" dirty="0">
                <a:ea typeface="Arial" panose="020B0604020202020204" pitchFamily="34" charset="0"/>
              </a:rPr>
              <a:t>the basic hardware and software components that make up the Internet</a:t>
            </a:r>
          </a:p>
          <a:p>
            <a:pPr lvl="1"/>
            <a:r>
              <a:rPr lang="en-MY" altLang="en-US" dirty="0">
                <a:solidFill>
                  <a:srgbClr val="C00000"/>
                </a:solidFill>
                <a:ea typeface="Arial" panose="020B0604020202020204" pitchFamily="34" charset="0"/>
              </a:rPr>
              <a:t>The services it provide – service view</a:t>
            </a:r>
          </a:p>
          <a:p>
            <a:pPr lvl="2"/>
            <a:r>
              <a:rPr lang="en-MY" altLang="en-US" sz="2400" dirty="0">
                <a:ea typeface="Arial" panose="020B0604020202020204" pitchFamily="34" charset="0"/>
              </a:rPr>
              <a:t> a networking infrastructure that provides services to distributed applications</a:t>
            </a:r>
          </a:p>
          <a:p>
            <a:endParaRPr lang="en-US" altLang="en-US" dirty="0">
              <a:ea typeface="ＭＳ Ｐゴシック" panose="020B0600070205080204" pitchFamily="34" charset="-128"/>
            </a:endParaRPr>
          </a:p>
        </p:txBody>
      </p:sp>
      <p:sp>
        <p:nvSpPr>
          <p:cNvPr id="4" name="Footer Placeholder 3"/>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dirty="0"/>
              <a:t>Introduction</a:t>
            </a:r>
          </a:p>
        </p:txBody>
      </p:sp>
      <p:sp>
        <p:nvSpPr>
          <p:cNvPr id="15365" name="Slide Number Placeholder 4"/>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lnSpc>
                <a:spcPct val="100000"/>
              </a:lnSpc>
              <a:spcBef>
                <a:spcPct val="0"/>
              </a:spcBef>
              <a:buClrTx/>
              <a:buSzTx/>
              <a:buFontTx/>
              <a:buNone/>
            </a:pPr>
            <a:r>
              <a:rPr lang="en-US" altLang="en-US" dirty="0"/>
              <a:t>1-</a:t>
            </a:r>
            <a:fld id="{5AE42DEE-4EFD-4272-B04D-0980BF676BBF}" type="slidenum">
              <a:rPr lang="en-US" altLang="en-US" smtClean="0"/>
              <a:pPr>
                <a:defRPr/>
              </a:pPr>
              <a:t>3</a:t>
            </a:fld>
            <a:endParaRPr lang="en-US" altLang="en-US" sz="1200" dirty="0">
              <a:latin typeface="Tahoma" panose="020B0604030504040204" pitchFamily="34" charset="0"/>
            </a:endParaRPr>
          </a:p>
        </p:txBody>
      </p:sp>
      <p:sp>
        <p:nvSpPr>
          <p:cNvPr id="15366" name="TextBox 5"/>
          <p:cNvSpPr txBox="1">
            <a:spLocks noChangeArrowheads="1"/>
          </p:cNvSpPr>
          <p:nvPr/>
        </p:nvSpPr>
        <p:spPr bwMode="auto">
          <a:xfrm>
            <a:off x="4075930" y="4454525"/>
            <a:ext cx="2663825" cy="58420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a:latin typeface="Arial" panose="020B0604020202020204" pitchFamily="34" charset="0"/>
              </a:rPr>
              <a:t>Internet: the network of networks</a:t>
            </a:r>
            <a:endParaRPr lang="ms-MY" altLang="en-US" sz="1600">
              <a:latin typeface="Arial" panose="020B0604020202020204" pitchFamily="34" charset="0"/>
            </a:endParaRPr>
          </a:p>
        </p:txBody>
      </p:sp>
      <p:pic>
        <p:nvPicPr>
          <p:cNvPr id="2" name="Graphic 3" descr="Puzzle">
            <a:extLst>
              <a:ext uri="{FF2B5EF4-FFF2-40B4-BE49-F238E27FC236}">
                <a16:creationId xmlns:a16="http://schemas.microsoft.com/office/drawing/2014/main" id="{915C5542-0B26-6117-FFAF-3419448613A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rot="2653558">
            <a:off x="10625653" y="551936"/>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8376764-E8EE-2343-BDE8-8A38CADB2B10}"/>
              </a:ext>
            </a:extLst>
          </p:cNvPr>
          <p:cNvSpPr txBox="1"/>
          <p:nvPr/>
        </p:nvSpPr>
        <p:spPr>
          <a:xfrm>
            <a:off x="9190439" y="3479610"/>
            <a:ext cx="1364989" cy="523220"/>
          </a:xfrm>
          <a:prstGeom prst="rect">
            <a:avLst/>
          </a:prstGeom>
          <a:noFill/>
        </p:spPr>
        <p:txBody>
          <a:bodyPr wrap="none" rtlCol="0">
            <a:spAutoFit/>
          </a:bodyPr>
          <a:lstStyle/>
          <a:p>
            <a:r>
              <a:rPr lang="en-US" sz="2800" dirty="0"/>
              <a:t>Internet</a:t>
            </a:r>
          </a:p>
        </p:txBody>
      </p:sp>
      <p:sp>
        <p:nvSpPr>
          <p:cNvPr id="5" name="Rectangle 4">
            <a:extLst>
              <a:ext uri="{FF2B5EF4-FFF2-40B4-BE49-F238E27FC236}">
                <a16:creationId xmlns:a16="http://schemas.microsoft.com/office/drawing/2014/main" id="{BEDDBC9A-D563-454D-A345-7C56FB5C09DB}"/>
              </a:ext>
            </a:extLst>
          </p:cNvPr>
          <p:cNvSpPr/>
          <p:nvPr/>
        </p:nvSpPr>
        <p:spPr>
          <a:xfrm>
            <a:off x="9250302" y="3526527"/>
            <a:ext cx="1558255" cy="538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29037"/>
            <a:ext cx="10515600" cy="894622"/>
          </a:xfrm>
        </p:spPr>
        <p:txBody>
          <a:bodyPr/>
          <a:lstStyle/>
          <a:p>
            <a:r>
              <a:rPr lang="en-US" altLang="ja-JP" dirty="0"/>
              <a:t>The Internet: a “nuts and bolts” view</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4</a:t>
            </a:fld>
            <a:endParaRPr lang="en-US" dirty="0"/>
          </a:p>
        </p:txBody>
      </p:sp>
      <p:grpSp>
        <p:nvGrpSpPr>
          <p:cNvPr id="801" name="Group 800">
            <a:extLst>
              <a:ext uri="{FF2B5EF4-FFF2-40B4-BE49-F238E27FC236}">
                <a16:creationId xmlns:a16="http://schemas.microsoft.com/office/drawing/2014/main" id="{120F2BC7-BB63-8D47-A127-7655CBFA7174}"/>
              </a:ext>
            </a:extLst>
          </p:cNvPr>
          <p:cNvGrpSpPr/>
          <p:nvPr/>
        </p:nvGrpSpPr>
        <p:grpSpPr>
          <a:xfrm>
            <a:off x="7205350" y="1488461"/>
            <a:ext cx="4525460" cy="4859961"/>
            <a:chOff x="7268561" y="1458365"/>
            <a:chExt cx="4525460" cy="4859961"/>
          </a:xfrm>
        </p:grpSpPr>
        <p:sp>
          <p:nvSpPr>
            <p:cNvPr id="371" name="Freeform 370">
              <a:extLst>
                <a:ext uri="{FF2B5EF4-FFF2-40B4-BE49-F238E27FC236}">
                  <a16:creationId xmlns:a16="http://schemas.microsoft.com/office/drawing/2014/main" id="{21662630-62BB-AE4A-A779-AEACD21E6D7C}"/>
                </a:ext>
              </a:extLst>
            </p:cNvPr>
            <p:cNvSpPr/>
            <p:nvPr/>
          </p:nvSpPr>
          <p:spPr>
            <a:xfrm>
              <a:off x="9048399" y="3035682"/>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337287" y="1795939"/>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68561" y="3259155"/>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75612" y="4653038"/>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742485" y="1458365"/>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94046" y="4161826"/>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70119" y="5749679"/>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85357" y="3149444"/>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900911" y="3897954"/>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834382" y="3164075"/>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604024" y="1751946"/>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90412" y="1821099"/>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342279" y="3647812"/>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829373" y="3417823"/>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80978" y="4647841"/>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126229" y="4198152"/>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grpSp>
        <p:nvGrpSpPr>
          <p:cNvPr id="1030" name="Group 1029">
            <a:extLst>
              <a:ext uri="{FF2B5EF4-FFF2-40B4-BE49-F238E27FC236}">
                <a16:creationId xmlns:a16="http://schemas.microsoft.com/office/drawing/2014/main" id="{54348108-FD66-5941-95B5-3AA9BB3E9A2D}"/>
              </a:ext>
            </a:extLst>
          </p:cNvPr>
          <p:cNvGrpSpPr/>
          <p:nvPr/>
        </p:nvGrpSpPr>
        <p:grpSpPr>
          <a:xfrm>
            <a:off x="1297913" y="3134990"/>
            <a:ext cx="5623201" cy="1305077"/>
            <a:chOff x="1297913" y="3209940"/>
            <a:chExt cx="5623201" cy="1305077"/>
          </a:xfrm>
        </p:grpSpPr>
        <p:sp>
          <p:nvSpPr>
            <p:cNvPr id="666" name="Content Placeholder 2">
              <a:extLst>
                <a:ext uri="{FF2B5EF4-FFF2-40B4-BE49-F238E27FC236}">
                  <a16:creationId xmlns:a16="http://schemas.microsoft.com/office/drawing/2014/main" id="{B356736A-B49C-8045-8159-87CAE4974452}"/>
                </a:ext>
              </a:extLst>
            </p:cNvPr>
            <p:cNvSpPr txBox="1">
              <a:spLocks/>
            </p:cNvSpPr>
            <p:nvPr/>
          </p:nvSpPr>
          <p:spPr>
            <a:xfrm>
              <a:off x="3142962" y="3209940"/>
              <a:ext cx="3778152" cy="1305077"/>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58" indent="0">
                <a:buNone/>
              </a:pPr>
              <a:r>
                <a:rPr lang="en-US" altLang="en-US" sz="2400" i="1" dirty="0">
                  <a:solidFill>
                    <a:srgbClr val="C00000"/>
                  </a:solidFill>
                  <a:latin typeface="+mn-lt"/>
                </a:rPr>
                <a:t>Packet switches</a:t>
              </a:r>
              <a:r>
                <a:rPr lang="en-US" altLang="en-US" sz="2400" dirty="0">
                  <a:latin typeface="+mn-lt"/>
                </a:rPr>
                <a:t>: forward packets (chunks of data)</a:t>
              </a:r>
            </a:p>
            <a:p>
              <a:pPr marL="346075" lvl="1" indent="-231775">
                <a:buClr>
                  <a:srgbClr val="0000A8"/>
                </a:buClr>
              </a:pPr>
              <a:r>
                <a:rPr lang="en-US" altLang="en-US" sz="2000" i="1" dirty="0">
                  <a:solidFill>
                    <a:schemeClr val="tx1"/>
                  </a:solidFill>
                  <a:latin typeface="+mn-lt"/>
                </a:rPr>
                <a:t>routers</a:t>
              </a:r>
              <a:r>
                <a:rPr lang="en-US" altLang="en-US" sz="2000" dirty="0">
                  <a:solidFill>
                    <a:schemeClr val="tx1"/>
                  </a:solidFill>
                  <a:latin typeface="+mn-lt"/>
                </a:rPr>
                <a:t>, </a:t>
              </a:r>
              <a:r>
                <a:rPr lang="en-US" altLang="en-US" sz="2000" i="1" dirty="0">
                  <a:solidFill>
                    <a:schemeClr val="tx1"/>
                  </a:solidFill>
                  <a:latin typeface="+mn-lt"/>
                </a:rPr>
                <a:t>switches</a:t>
              </a:r>
              <a:endParaRPr lang="en-US" dirty="0">
                <a:solidFill>
                  <a:schemeClr val="tx1"/>
                </a:solidFill>
                <a:latin typeface="+mn-lt"/>
              </a:endParaRPr>
            </a:p>
          </p:txBody>
        </p:sp>
        <p:grpSp>
          <p:nvGrpSpPr>
            <p:cNvPr id="1029" name="Group 1028">
              <a:extLst>
                <a:ext uri="{FF2B5EF4-FFF2-40B4-BE49-F238E27FC236}">
                  <a16:creationId xmlns:a16="http://schemas.microsoft.com/office/drawing/2014/main" id="{324B3D7B-0A87-684A-8AD5-E426CBAB8D91}"/>
                </a:ext>
              </a:extLst>
            </p:cNvPr>
            <p:cNvGrpSpPr/>
            <p:nvPr/>
          </p:nvGrpSpPr>
          <p:grpSpPr>
            <a:xfrm>
              <a:off x="1297913" y="3389820"/>
              <a:ext cx="1370315" cy="390629"/>
              <a:chOff x="1220207" y="3379800"/>
              <a:chExt cx="1448022" cy="400649"/>
            </a:xfrm>
          </p:grpSpPr>
          <p:grpSp>
            <p:nvGrpSpPr>
              <p:cNvPr id="745" name="Group 744">
                <a:extLst>
                  <a:ext uri="{FF2B5EF4-FFF2-40B4-BE49-F238E27FC236}">
                    <a16:creationId xmlns:a16="http://schemas.microsoft.com/office/drawing/2014/main" id="{BBA75EB6-A2DF-8442-902E-889D709A01F1}"/>
                  </a:ext>
                </a:extLst>
              </p:cNvPr>
              <p:cNvGrpSpPr/>
              <p:nvPr/>
            </p:nvGrpSpPr>
            <p:grpSpPr>
              <a:xfrm>
                <a:off x="1220207" y="3403733"/>
                <a:ext cx="608897" cy="339238"/>
                <a:chOff x="7493876" y="2774731"/>
                <a:chExt cx="1481958" cy="894622"/>
              </a:xfrm>
            </p:grpSpPr>
            <p:sp>
              <p:nvSpPr>
                <p:cNvPr id="746" name="Freeform 745">
                  <a:extLst>
                    <a:ext uri="{FF2B5EF4-FFF2-40B4-BE49-F238E27FC236}">
                      <a16:creationId xmlns:a16="http://schemas.microsoft.com/office/drawing/2014/main" id="{57ECBDF9-CECF-C743-928A-01551F1149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47" name="Oval 746">
                  <a:extLst>
                    <a:ext uri="{FF2B5EF4-FFF2-40B4-BE49-F238E27FC236}">
                      <a16:creationId xmlns:a16="http://schemas.microsoft.com/office/drawing/2014/main" id="{2CED8E12-8866-B24C-8ADD-B298A9E92C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48" name="Group 747">
                  <a:extLst>
                    <a:ext uri="{FF2B5EF4-FFF2-40B4-BE49-F238E27FC236}">
                      <a16:creationId xmlns:a16="http://schemas.microsoft.com/office/drawing/2014/main" id="{B88578A5-178A-394F-A0E8-E56A6CA32F70}"/>
                    </a:ext>
                  </a:extLst>
                </p:cNvPr>
                <p:cNvGrpSpPr/>
                <p:nvPr/>
              </p:nvGrpSpPr>
              <p:grpSpPr>
                <a:xfrm>
                  <a:off x="7713663" y="2848339"/>
                  <a:ext cx="1042107" cy="425543"/>
                  <a:chOff x="7786941" y="2884917"/>
                  <a:chExt cx="897649" cy="353919"/>
                </a:xfrm>
              </p:grpSpPr>
              <p:sp>
                <p:nvSpPr>
                  <p:cNvPr id="749" name="Freeform 748">
                    <a:extLst>
                      <a:ext uri="{FF2B5EF4-FFF2-40B4-BE49-F238E27FC236}">
                        <a16:creationId xmlns:a16="http://schemas.microsoft.com/office/drawing/2014/main" id="{C0BC3D29-EE76-8343-B65A-EA82E9B3D4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Freeform 749">
                    <a:extLst>
                      <a:ext uri="{FF2B5EF4-FFF2-40B4-BE49-F238E27FC236}">
                        <a16:creationId xmlns:a16="http://schemas.microsoft.com/office/drawing/2014/main" id="{0CE947DD-742E-DB41-8709-8C742E1F31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Freeform 750">
                    <a:extLst>
                      <a:ext uri="{FF2B5EF4-FFF2-40B4-BE49-F238E27FC236}">
                        <a16:creationId xmlns:a16="http://schemas.microsoft.com/office/drawing/2014/main" id="{4327083F-593C-164C-8B48-4EAC6FFF62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Freeform 751">
                    <a:extLst>
                      <a:ext uri="{FF2B5EF4-FFF2-40B4-BE49-F238E27FC236}">
                        <a16:creationId xmlns:a16="http://schemas.microsoft.com/office/drawing/2014/main" id="{872F4F49-B007-CF47-9AE7-A2818399B5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53" name="Group 752">
                <a:extLst>
                  <a:ext uri="{FF2B5EF4-FFF2-40B4-BE49-F238E27FC236}">
                    <a16:creationId xmlns:a16="http://schemas.microsoft.com/office/drawing/2014/main" id="{ABB80B22-84B3-E44D-B158-999620842AA7}"/>
                  </a:ext>
                </a:extLst>
              </p:cNvPr>
              <p:cNvGrpSpPr/>
              <p:nvPr/>
            </p:nvGrpSpPr>
            <p:grpSpPr>
              <a:xfrm>
                <a:off x="2172962" y="3379800"/>
                <a:ext cx="495267" cy="400649"/>
                <a:chOff x="3668110" y="2448910"/>
                <a:chExt cx="3794234" cy="2165130"/>
              </a:xfrm>
            </p:grpSpPr>
            <p:sp>
              <p:nvSpPr>
                <p:cNvPr id="754" name="Rectangle 753">
                  <a:extLst>
                    <a:ext uri="{FF2B5EF4-FFF2-40B4-BE49-F238E27FC236}">
                      <a16:creationId xmlns:a16="http://schemas.microsoft.com/office/drawing/2014/main" id="{87ED6994-8AAE-CE4F-9382-5B72DC8DF39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Freeform 754">
                  <a:extLst>
                    <a:ext uri="{FF2B5EF4-FFF2-40B4-BE49-F238E27FC236}">
                      <a16:creationId xmlns:a16="http://schemas.microsoft.com/office/drawing/2014/main" id="{784A6571-0523-1D4B-BC2E-19620F5C60E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56" name="Group 755">
                  <a:extLst>
                    <a:ext uri="{FF2B5EF4-FFF2-40B4-BE49-F238E27FC236}">
                      <a16:creationId xmlns:a16="http://schemas.microsoft.com/office/drawing/2014/main" id="{040EF2EE-7544-044B-8B2E-5E76FBF3EC47}"/>
                    </a:ext>
                  </a:extLst>
                </p:cNvPr>
                <p:cNvGrpSpPr/>
                <p:nvPr/>
              </p:nvGrpSpPr>
              <p:grpSpPr>
                <a:xfrm>
                  <a:off x="3941378" y="2603243"/>
                  <a:ext cx="3202061" cy="1066110"/>
                  <a:chOff x="7939341" y="3037317"/>
                  <a:chExt cx="897649" cy="353919"/>
                </a:xfrm>
              </p:grpSpPr>
              <p:sp>
                <p:nvSpPr>
                  <p:cNvPr id="757" name="Freeform 756">
                    <a:extLst>
                      <a:ext uri="{FF2B5EF4-FFF2-40B4-BE49-F238E27FC236}">
                        <a16:creationId xmlns:a16="http://schemas.microsoft.com/office/drawing/2014/main" id="{E671E855-462B-9F48-9621-5EEE15B393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Freeform 757">
                    <a:extLst>
                      <a:ext uri="{FF2B5EF4-FFF2-40B4-BE49-F238E27FC236}">
                        <a16:creationId xmlns:a16="http://schemas.microsoft.com/office/drawing/2014/main" id="{E5AE17A8-6FB1-3241-8C26-DCA5087F65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Freeform 758">
                    <a:extLst>
                      <a:ext uri="{FF2B5EF4-FFF2-40B4-BE49-F238E27FC236}">
                        <a16:creationId xmlns:a16="http://schemas.microsoft.com/office/drawing/2014/main" id="{105030C8-02D0-8E46-B13A-AC9E5D59E2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Freeform 759">
                    <a:extLst>
                      <a:ext uri="{FF2B5EF4-FFF2-40B4-BE49-F238E27FC236}">
                        <a16:creationId xmlns:a16="http://schemas.microsoft.com/office/drawing/2014/main" id="{F4B9D081-C772-7E49-BCB3-B3BD733377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grpSp>
        <p:nvGrpSpPr>
          <p:cNvPr id="1031" name="Group 1030">
            <a:extLst>
              <a:ext uri="{FF2B5EF4-FFF2-40B4-BE49-F238E27FC236}">
                <a16:creationId xmlns:a16="http://schemas.microsoft.com/office/drawing/2014/main" id="{D0CE68AC-9608-4542-887A-2F687C3134E7}"/>
              </a:ext>
            </a:extLst>
          </p:cNvPr>
          <p:cNvGrpSpPr/>
          <p:nvPr/>
        </p:nvGrpSpPr>
        <p:grpSpPr>
          <a:xfrm>
            <a:off x="972848" y="3887572"/>
            <a:ext cx="5946258" cy="1994414"/>
            <a:chOff x="972848" y="3947532"/>
            <a:chExt cx="5946258" cy="1994414"/>
          </a:xfrm>
        </p:grpSpPr>
        <p:sp>
          <p:nvSpPr>
            <p:cNvPr id="665" name="Content Placeholder 2">
              <a:extLst>
                <a:ext uri="{FF2B5EF4-FFF2-40B4-BE49-F238E27FC236}">
                  <a16:creationId xmlns:a16="http://schemas.microsoft.com/office/drawing/2014/main" id="{56DCFF71-4A93-554C-87E6-E1CF58A6C86F}"/>
                </a:ext>
              </a:extLst>
            </p:cNvPr>
            <p:cNvSpPr txBox="1">
              <a:spLocks/>
            </p:cNvSpPr>
            <p:nvPr/>
          </p:nvSpPr>
          <p:spPr>
            <a:xfrm>
              <a:off x="3140954" y="3947532"/>
              <a:ext cx="3778152" cy="1994414"/>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58" indent="0">
                <a:buNone/>
              </a:pPr>
              <a:endParaRPr lang="en-US" altLang="en-US" dirty="0">
                <a:latin typeface="+mn-lt"/>
                <a:ea typeface="Arial" panose="020B0604020202020204" pitchFamily="34" charset="0"/>
              </a:endParaRPr>
            </a:p>
            <a:p>
              <a:pPr marL="6858" indent="0">
                <a:buClr>
                  <a:srgbClr val="0000A8"/>
                </a:buClr>
                <a:buNone/>
              </a:pPr>
              <a:r>
                <a:rPr lang="en-US" altLang="en-US" sz="2400" i="1" dirty="0">
                  <a:solidFill>
                    <a:srgbClr val="C00000"/>
                  </a:solidFill>
                  <a:latin typeface="+mn-lt"/>
                  <a:ea typeface="Arial" panose="020B0604020202020204" pitchFamily="34" charset="0"/>
                </a:rPr>
                <a:t>Communication links</a:t>
              </a:r>
            </a:p>
            <a:p>
              <a:pPr marL="346075" lvl="1" indent="-231775">
                <a:buClr>
                  <a:srgbClr val="0000A3"/>
                </a:buClr>
              </a:pPr>
              <a:r>
                <a:rPr lang="en-US" altLang="en-US" sz="2000" dirty="0">
                  <a:solidFill>
                    <a:schemeClr val="tx1"/>
                  </a:solidFill>
                  <a:latin typeface="+mn-lt"/>
                  <a:ea typeface="Arial" panose="020B0604020202020204" pitchFamily="34" charset="0"/>
                </a:rPr>
                <a:t>fiber, copper, radio, satellite</a:t>
              </a:r>
            </a:p>
            <a:p>
              <a:pPr marL="346075" lvl="1" indent="-231775">
                <a:buClr>
                  <a:srgbClr val="0000A3"/>
                </a:buClr>
              </a:pPr>
              <a:r>
                <a:rPr lang="en-US" altLang="en-US" sz="2000" dirty="0">
                  <a:solidFill>
                    <a:schemeClr val="tx1"/>
                  </a:solidFill>
                  <a:latin typeface="+mn-lt"/>
                  <a:ea typeface="Arial" panose="020B0604020202020204" pitchFamily="34" charset="0"/>
                </a:rPr>
                <a:t>transmission rate: </a:t>
              </a:r>
              <a:r>
                <a:rPr lang="en-US" altLang="en-US" sz="2000" i="1" dirty="0">
                  <a:solidFill>
                    <a:schemeClr val="tx1"/>
                  </a:solidFill>
                  <a:latin typeface="+mn-lt"/>
                  <a:ea typeface="Arial" panose="020B0604020202020204" pitchFamily="34" charset="0"/>
                </a:rPr>
                <a:t>bandwidth</a:t>
              </a:r>
              <a:br>
                <a:rPr lang="en-US" altLang="en-US" sz="2000" i="1" dirty="0">
                  <a:solidFill>
                    <a:srgbClr val="C00000"/>
                  </a:solidFill>
                  <a:latin typeface="+mn-lt"/>
                  <a:ea typeface="Arial" panose="020B0604020202020204" pitchFamily="34" charset="0"/>
                </a:rPr>
              </a:br>
              <a:endParaRPr lang="en-US" dirty="0">
                <a:solidFill>
                  <a:schemeClr val="tx1"/>
                </a:solidFill>
                <a:latin typeface="+mn-lt"/>
              </a:endParaRPr>
            </a:p>
          </p:txBody>
        </p:sp>
        <p:grpSp>
          <p:nvGrpSpPr>
            <p:cNvPr id="761" name="Group 523">
              <a:extLst>
                <a:ext uri="{FF2B5EF4-FFF2-40B4-BE49-F238E27FC236}">
                  <a16:creationId xmlns:a16="http://schemas.microsoft.com/office/drawing/2014/main" id="{3CE85344-DD21-5E4F-AD4D-61319F4B7BB9}"/>
                </a:ext>
              </a:extLst>
            </p:cNvPr>
            <p:cNvGrpSpPr>
              <a:grpSpLocks/>
            </p:cNvGrpSpPr>
            <p:nvPr/>
          </p:nvGrpSpPr>
          <p:grpSpPr bwMode="auto">
            <a:xfrm>
              <a:off x="2428229" y="4382136"/>
              <a:ext cx="457200" cy="733152"/>
              <a:chOff x="6061075" y="1844675"/>
              <a:chExt cx="457200" cy="733152"/>
            </a:xfrm>
          </p:grpSpPr>
          <p:sp>
            <p:nvSpPr>
              <p:cNvPr id="762" name="Line 426">
                <a:extLst>
                  <a:ext uri="{FF2B5EF4-FFF2-40B4-BE49-F238E27FC236}">
                    <a16:creationId xmlns:a16="http://schemas.microsoft.com/office/drawing/2014/main" id="{9888E198-7917-2646-B0B1-5204D8AB12D1}"/>
                  </a:ext>
                </a:extLst>
              </p:cNvPr>
              <p:cNvSpPr>
                <a:spLocks noChangeShapeType="1"/>
              </p:cNvSpPr>
              <p:nvPr/>
            </p:nvSpPr>
            <p:spPr bwMode="auto">
              <a:xfrm>
                <a:off x="6289675" y="2403475"/>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63" name="Group 782">
                <a:extLst>
                  <a:ext uri="{FF2B5EF4-FFF2-40B4-BE49-F238E27FC236}">
                    <a16:creationId xmlns:a16="http://schemas.microsoft.com/office/drawing/2014/main" id="{58FC930D-315E-7643-B53D-BAC68BA23952}"/>
                  </a:ext>
                </a:extLst>
              </p:cNvPr>
              <p:cNvGrpSpPr>
                <a:grpSpLocks/>
              </p:cNvGrpSpPr>
              <p:nvPr/>
            </p:nvGrpSpPr>
            <p:grpSpPr bwMode="auto">
              <a:xfrm>
                <a:off x="6061075" y="1844675"/>
                <a:ext cx="457200" cy="631825"/>
                <a:chOff x="742" y="2409"/>
                <a:chExt cx="576" cy="881"/>
              </a:xfrm>
            </p:grpSpPr>
            <p:grpSp>
              <p:nvGrpSpPr>
                <p:cNvPr id="764" name="Group 783">
                  <a:extLst>
                    <a:ext uri="{FF2B5EF4-FFF2-40B4-BE49-F238E27FC236}">
                      <a16:creationId xmlns:a16="http://schemas.microsoft.com/office/drawing/2014/main" id="{A47EEDDE-0CD1-D349-A579-20E32B19F18B}"/>
                    </a:ext>
                  </a:extLst>
                </p:cNvPr>
                <p:cNvGrpSpPr>
                  <a:grpSpLocks/>
                </p:cNvGrpSpPr>
                <p:nvPr/>
              </p:nvGrpSpPr>
              <p:grpSpPr bwMode="auto">
                <a:xfrm>
                  <a:off x="832" y="2643"/>
                  <a:ext cx="376" cy="647"/>
                  <a:chOff x="3130" y="3288"/>
                  <a:chExt cx="410" cy="742"/>
                </a:xfrm>
              </p:grpSpPr>
              <p:sp>
                <p:nvSpPr>
                  <p:cNvPr id="767" name="Line 270">
                    <a:extLst>
                      <a:ext uri="{FF2B5EF4-FFF2-40B4-BE49-F238E27FC236}">
                        <a16:creationId xmlns:a16="http://schemas.microsoft.com/office/drawing/2014/main" id="{3180512C-4B0B-7F46-8A7F-667DFFD95C91}"/>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68" name="Line 271">
                    <a:extLst>
                      <a:ext uri="{FF2B5EF4-FFF2-40B4-BE49-F238E27FC236}">
                        <a16:creationId xmlns:a16="http://schemas.microsoft.com/office/drawing/2014/main" id="{1D8B57FC-DE75-6140-998D-E59C77677944}"/>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69" name="Line 272">
                    <a:extLst>
                      <a:ext uri="{FF2B5EF4-FFF2-40B4-BE49-F238E27FC236}">
                        <a16:creationId xmlns:a16="http://schemas.microsoft.com/office/drawing/2014/main" id="{0E3A10FA-121E-8F49-BD9A-8D316F46440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0" name="Line 273">
                    <a:extLst>
                      <a:ext uri="{FF2B5EF4-FFF2-40B4-BE49-F238E27FC236}">
                        <a16:creationId xmlns:a16="http://schemas.microsoft.com/office/drawing/2014/main" id="{B03955E7-72EA-E645-BD1F-3A51313D1C0F}"/>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1" name="Line 274">
                    <a:extLst>
                      <a:ext uri="{FF2B5EF4-FFF2-40B4-BE49-F238E27FC236}">
                        <a16:creationId xmlns:a16="http://schemas.microsoft.com/office/drawing/2014/main" id="{987291A3-F28E-B54C-9A3A-6A39ECE4F6F1}"/>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2" name="Line 275">
                    <a:extLst>
                      <a:ext uri="{FF2B5EF4-FFF2-40B4-BE49-F238E27FC236}">
                        <a16:creationId xmlns:a16="http://schemas.microsoft.com/office/drawing/2014/main" id="{628A289C-66A4-B640-8048-E92DF98B9F4A}"/>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3" name="Line 276">
                    <a:extLst>
                      <a:ext uri="{FF2B5EF4-FFF2-40B4-BE49-F238E27FC236}">
                        <a16:creationId xmlns:a16="http://schemas.microsoft.com/office/drawing/2014/main" id="{D4C14A7E-7E0D-1A4E-BDD8-CE26384AD65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4" name="Line 277">
                    <a:extLst>
                      <a:ext uri="{FF2B5EF4-FFF2-40B4-BE49-F238E27FC236}">
                        <a16:creationId xmlns:a16="http://schemas.microsoft.com/office/drawing/2014/main" id="{4292F8B0-C0F4-1245-BD1E-5A8D246809C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5" name="Line 278">
                    <a:extLst>
                      <a:ext uri="{FF2B5EF4-FFF2-40B4-BE49-F238E27FC236}">
                        <a16:creationId xmlns:a16="http://schemas.microsoft.com/office/drawing/2014/main" id="{86843223-BFA3-8941-8F39-7E3A1DF1989A}"/>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6" name="Line 279">
                    <a:extLst>
                      <a:ext uri="{FF2B5EF4-FFF2-40B4-BE49-F238E27FC236}">
                        <a16:creationId xmlns:a16="http://schemas.microsoft.com/office/drawing/2014/main" id="{EB2A9D49-3E36-D849-8C87-89AF5AD76B5A}"/>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7" name="Line 280">
                    <a:extLst>
                      <a:ext uri="{FF2B5EF4-FFF2-40B4-BE49-F238E27FC236}">
                        <a16:creationId xmlns:a16="http://schemas.microsoft.com/office/drawing/2014/main" id="{76DF3186-C8BB-8C47-B549-17970E80E675}"/>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8" name="Line 281">
                    <a:extLst>
                      <a:ext uri="{FF2B5EF4-FFF2-40B4-BE49-F238E27FC236}">
                        <a16:creationId xmlns:a16="http://schemas.microsoft.com/office/drawing/2014/main" id="{5B3421DE-180E-CD4B-B22F-7BCD908C8CB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79" name="Line 282">
                    <a:extLst>
                      <a:ext uri="{FF2B5EF4-FFF2-40B4-BE49-F238E27FC236}">
                        <a16:creationId xmlns:a16="http://schemas.microsoft.com/office/drawing/2014/main" id="{8771C100-8213-7D42-865F-6E0936A209A0}"/>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80" name="Line 283">
                    <a:extLst>
                      <a:ext uri="{FF2B5EF4-FFF2-40B4-BE49-F238E27FC236}">
                        <a16:creationId xmlns:a16="http://schemas.microsoft.com/office/drawing/2014/main" id="{D8E2062E-A026-E143-A095-B86CAAABCA8E}"/>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781" name="Line 284">
                    <a:extLst>
                      <a:ext uri="{FF2B5EF4-FFF2-40B4-BE49-F238E27FC236}">
                        <a16:creationId xmlns:a16="http://schemas.microsoft.com/office/drawing/2014/main" id="{EA0BC754-B5B5-1E4B-B9C6-EAFBFE7E448A}"/>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765" name="Picture 799" descr="cell_tower_radiation copy">
                  <a:extLst>
                    <a:ext uri="{FF2B5EF4-FFF2-40B4-BE49-F238E27FC236}">
                      <a16:creationId xmlns:a16="http://schemas.microsoft.com/office/drawing/2014/main" id="{AED3D0BD-C212-E844-B1BC-E1FA00DEC09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2" y="2409"/>
                  <a:ext cx="5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6" name="Oval 800">
                  <a:extLst>
                    <a:ext uri="{FF2B5EF4-FFF2-40B4-BE49-F238E27FC236}">
                      <a16:creationId xmlns:a16="http://schemas.microsoft.com/office/drawing/2014/main" id="{36C4F605-E562-D44F-B04E-2154B84D3887}"/>
                    </a:ext>
                  </a:extLst>
                </p:cNvPr>
                <p:cNvSpPr>
                  <a:spLocks noChangeArrowheads="1"/>
                </p:cNvSpPr>
                <p:nvPr/>
              </p:nvSpPr>
              <p:spPr bwMode="auto">
                <a:xfrm>
                  <a:off x="986" y="2597"/>
                  <a:ext cx="66" cy="69"/>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grpSp>
          <p:nvGrpSpPr>
            <p:cNvPr id="782" name="Group 779">
              <a:extLst>
                <a:ext uri="{FF2B5EF4-FFF2-40B4-BE49-F238E27FC236}">
                  <a16:creationId xmlns:a16="http://schemas.microsoft.com/office/drawing/2014/main" id="{4D090097-C44B-8A45-AB77-7AF215F1B545}"/>
                </a:ext>
              </a:extLst>
            </p:cNvPr>
            <p:cNvGrpSpPr>
              <a:grpSpLocks/>
            </p:cNvGrpSpPr>
            <p:nvPr/>
          </p:nvGrpSpPr>
          <p:grpSpPr bwMode="auto">
            <a:xfrm>
              <a:off x="972848" y="4585926"/>
              <a:ext cx="452014" cy="316353"/>
              <a:chOff x="2967" y="478"/>
              <a:chExt cx="788" cy="625"/>
            </a:xfrm>
          </p:grpSpPr>
          <p:pic>
            <p:nvPicPr>
              <p:cNvPr id="783" name="Picture 780" descr="access_point_stylized_small">
                <a:extLst>
                  <a:ext uri="{FF2B5EF4-FFF2-40B4-BE49-F238E27FC236}">
                    <a16:creationId xmlns:a16="http://schemas.microsoft.com/office/drawing/2014/main" id="{1F07554B-D715-0D4E-AAF0-488CEBA86E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4" name="Picture 781" descr="antenna_radiation_stylized">
                <a:extLst>
                  <a:ext uri="{FF2B5EF4-FFF2-40B4-BE49-F238E27FC236}">
                    <a16:creationId xmlns:a16="http://schemas.microsoft.com/office/drawing/2014/main" id="{8C3F87E8-E561-1F45-A0CC-59530C690E7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28" name="Picture 4" descr="Image result for Ethernet cable">
              <a:extLst>
                <a:ext uri="{FF2B5EF4-FFF2-40B4-BE49-F238E27FC236}">
                  <a16:creationId xmlns:a16="http://schemas.microsoft.com/office/drawing/2014/main" id="{4D6709F1-B65B-CB40-900E-0CC03ABDCB1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56310" y="4560750"/>
              <a:ext cx="874495" cy="513355"/>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33" name="Group 1032">
            <a:extLst>
              <a:ext uri="{FF2B5EF4-FFF2-40B4-BE49-F238E27FC236}">
                <a16:creationId xmlns:a16="http://schemas.microsoft.com/office/drawing/2014/main" id="{8E9854E9-7803-5740-9C99-B136AC17E35E}"/>
              </a:ext>
            </a:extLst>
          </p:cNvPr>
          <p:cNvGrpSpPr/>
          <p:nvPr/>
        </p:nvGrpSpPr>
        <p:grpSpPr>
          <a:xfrm>
            <a:off x="413554" y="1318241"/>
            <a:ext cx="6618129" cy="1705461"/>
            <a:chOff x="413554" y="1318241"/>
            <a:chExt cx="6618129" cy="1705461"/>
          </a:xfrm>
        </p:grpSpPr>
        <p:sp>
          <p:nvSpPr>
            <p:cNvPr id="664" name="Content Placeholder 2">
              <a:extLst>
                <a:ext uri="{FF2B5EF4-FFF2-40B4-BE49-F238E27FC236}">
                  <a16:creationId xmlns:a16="http://schemas.microsoft.com/office/drawing/2014/main" id="{DCE6B56E-C2B5-5B4B-AB11-E2D353C0D14D}"/>
                </a:ext>
              </a:extLst>
            </p:cNvPr>
            <p:cNvSpPr txBox="1">
              <a:spLocks/>
            </p:cNvSpPr>
            <p:nvPr/>
          </p:nvSpPr>
          <p:spPr>
            <a:xfrm>
              <a:off x="3142484" y="1318241"/>
              <a:ext cx="3889199" cy="1705461"/>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ct val="15000"/>
                </a:spcBef>
                <a:buClr>
                  <a:srgbClr val="0000A8"/>
                </a:buClr>
                <a:buNone/>
              </a:pPr>
              <a:r>
                <a:rPr lang="en-US" altLang="en-US" sz="2400" dirty="0">
                  <a:latin typeface="+mn-lt"/>
                </a:rPr>
                <a:t>Billions of connected computing </a:t>
              </a:r>
              <a:r>
                <a:rPr lang="en-US" altLang="en-US" sz="2400" i="1" dirty="0">
                  <a:solidFill>
                    <a:srgbClr val="C00000"/>
                  </a:solidFill>
                  <a:latin typeface="+mn-lt"/>
                </a:rPr>
                <a:t>devices</a:t>
              </a:r>
              <a:r>
                <a:rPr lang="en-US" altLang="en-US" sz="2400" dirty="0">
                  <a:latin typeface="+mn-lt"/>
                </a:rPr>
                <a:t>: </a:t>
              </a:r>
            </a:p>
            <a:p>
              <a:pPr marL="346075" lvl="1" indent="-231775">
                <a:spcBef>
                  <a:spcPct val="15000"/>
                </a:spcBef>
                <a:buClr>
                  <a:srgbClr val="0000A3"/>
                </a:buClr>
              </a:pPr>
              <a:r>
                <a:rPr lang="en-US" altLang="en-US" sz="2000" i="1" dirty="0">
                  <a:solidFill>
                    <a:srgbClr val="C00000"/>
                  </a:solidFill>
                  <a:latin typeface="+mn-lt"/>
                  <a:ea typeface="MS PGothic" panose="020B0600070205080204" pitchFamily="34" charset="-128"/>
                </a:rPr>
                <a:t>hosts</a:t>
              </a:r>
              <a:r>
                <a:rPr lang="en-US" altLang="en-US" sz="2000" i="1" dirty="0">
                  <a:solidFill>
                    <a:srgbClr val="CC0000"/>
                  </a:solidFill>
                  <a:latin typeface="+mn-lt"/>
                  <a:ea typeface="MS PGothic" panose="020B0600070205080204" pitchFamily="34" charset="-128"/>
                </a:rPr>
                <a:t> </a:t>
              </a:r>
              <a:r>
                <a:rPr lang="en-US" altLang="en-US" sz="2000" i="1" dirty="0">
                  <a:solidFill>
                    <a:schemeClr val="tx1"/>
                  </a:solidFill>
                  <a:latin typeface="+mn-lt"/>
                  <a:ea typeface="MS PGothic" panose="020B0600070205080204" pitchFamily="34" charset="-128"/>
                </a:rPr>
                <a:t>= end systems </a:t>
              </a:r>
            </a:p>
            <a:p>
              <a:pPr marL="346075" lvl="1" indent="-231775">
                <a:buClr>
                  <a:srgbClr val="0000A3"/>
                </a:buClr>
              </a:pPr>
              <a:r>
                <a:rPr lang="en-US" altLang="en-US" sz="2000" dirty="0">
                  <a:solidFill>
                    <a:schemeClr val="tx1"/>
                  </a:solidFill>
                  <a:latin typeface="+mn-lt"/>
                  <a:ea typeface="Arial" panose="020B0604020202020204" pitchFamily="34" charset="0"/>
                </a:rPr>
                <a:t>running </a:t>
              </a:r>
              <a:r>
                <a:rPr lang="en-US" altLang="en-US" sz="2000" i="1" dirty="0">
                  <a:solidFill>
                    <a:schemeClr val="tx1"/>
                  </a:solidFill>
                  <a:latin typeface="+mn-lt"/>
                  <a:ea typeface="Arial" panose="020B0604020202020204" pitchFamily="34" charset="0"/>
                </a:rPr>
                <a:t>network </a:t>
              </a:r>
              <a:r>
                <a:rPr lang="en-US" altLang="en-US" sz="2000" i="1" dirty="0">
                  <a:solidFill>
                    <a:srgbClr val="C00000"/>
                  </a:solidFill>
                  <a:latin typeface="+mn-lt"/>
                  <a:ea typeface="Arial" panose="020B0604020202020204" pitchFamily="34" charset="0"/>
                </a:rPr>
                <a:t>apps </a:t>
              </a:r>
              <a:r>
                <a:rPr lang="en-US" altLang="en-US" sz="2000" dirty="0">
                  <a:solidFill>
                    <a:schemeClr val="tx1"/>
                  </a:solidFill>
                  <a:latin typeface="+mn-lt"/>
                  <a:ea typeface="Arial" panose="020B0604020202020204" pitchFamily="34" charset="0"/>
                </a:rPr>
                <a:t>at Internet’s “edge”</a:t>
              </a:r>
            </a:p>
          </p:txBody>
        </p:sp>
        <p:grpSp>
          <p:nvGrpSpPr>
            <p:cNvPr id="1027" name="Group 1026">
              <a:extLst>
                <a:ext uri="{FF2B5EF4-FFF2-40B4-BE49-F238E27FC236}">
                  <a16:creationId xmlns:a16="http://schemas.microsoft.com/office/drawing/2014/main" id="{8BBA7298-062F-6A4B-87BC-7B7336FE4AE0}"/>
                </a:ext>
              </a:extLst>
            </p:cNvPr>
            <p:cNvGrpSpPr/>
            <p:nvPr/>
          </p:nvGrpSpPr>
          <p:grpSpPr>
            <a:xfrm>
              <a:off x="413554" y="1342201"/>
              <a:ext cx="2520730" cy="1345159"/>
              <a:chOff x="177500" y="1428021"/>
              <a:chExt cx="2679234" cy="1453172"/>
            </a:xfrm>
          </p:grpSpPr>
          <p:grpSp>
            <p:nvGrpSpPr>
              <p:cNvPr id="667" name="Group 1064">
                <a:extLst>
                  <a:ext uri="{FF2B5EF4-FFF2-40B4-BE49-F238E27FC236}">
                    <a16:creationId xmlns:a16="http://schemas.microsoft.com/office/drawing/2014/main" id="{5022FF17-4E4A-B546-8D5E-67340101EFB4}"/>
                  </a:ext>
                </a:extLst>
              </p:cNvPr>
              <p:cNvGrpSpPr>
                <a:grpSpLocks/>
              </p:cNvGrpSpPr>
              <p:nvPr/>
            </p:nvGrpSpPr>
            <p:grpSpPr bwMode="auto">
              <a:xfrm>
                <a:off x="2228805" y="1490654"/>
                <a:ext cx="627929" cy="611023"/>
                <a:chOff x="877" y="1008"/>
                <a:chExt cx="2747" cy="2591"/>
              </a:xfrm>
            </p:grpSpPr>
            <p:pic>
              <p:nvPicPr>
                <p:cNvPr id="668" name="Picture 1065" descr="antenna_stylized">
                  <a:extLst>
                    <a:ext uri="{FF2B5EF4-FFF2-40B4-BE49-F238E27FC236}">
                      <a16:creationId xmlns:a16="http://schemas.microsoft.com/office/drawing/2014/main" id="{B702F2D6-4760-AE4A-8D39-6444C3C22B6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9" name="Picture 1066" descr="laptop_keyboard">
                  <a:extLst>
                    <a:ext uri="{FF2B5EF4-FFF2-40B4-BE49-F238E27FC236}">
                      <a16:creationId xmlns:a16="http://schemas.microsoft.com/office/drawing/2014/main" id="{6F83D117-2593-C242-A397-BA633102C76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0" name="Freeform 1067">
                  <a:extLst>
                    <a:ext uri="{FF2B5EF4-FFF2-40B4-BE49-F238E27FC236}">
                      <a16:creationId xmlns:a16="http://schemas.microsoft.com/office/drawing/2014/main" id="{A08BD328-7EC2-6143-96A3-54C445A893A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671" name="Picture 1068" descr="screen">
                  <a:extLst>
                    <a:ext uri="{FF2B5EF4-FFF2-40B4-BE49-F238E27FC236}">
                      <a16:creationId xmlns:a16="http://schemas.microsoft.com/office/drawing/2014/main" id="{2730AE22-E399-F741-992E-07BB8306136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2" name="Freeform 1069">
                  <a:extLst>
                    <a:ext uri="{FF2B5EF4-FFF2-40B4-BE49-F238E27FC236}">
                      <a16:creationId xmlns:a16="http://schemas.microsoft.com/office/drawing/2014/main" id="{A44AEC1A-DDEF-8649-ACEF-C31525DC4F8C}"/>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3" name="Freeform 1070">
                  <a:extLst>
                    <a:ext uri="{FF2B5EF4-FFF2-40B4-BE49-F238E27FC236}">
                      <a16:creationId xmlns:a16="http://schemas.microsoft.com/office/drawing/2014/main" id="{5853CB23-D335-0343-9001-8E1A2BD6E23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4" name="Freeform 1071">
                  <a:extLst>
                    <a:ext uri="{FF2B5EF4-FFF2-40B4-BE49-F238E27FC236}">
                      <a16:creationId xmlns:a16="http://schemas.microsoft.com/office/drawing/2014/main" id="{9B0951B7-0F7D-9C4B-B650-994FE73C238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 name="Freeform 1072">
                  <a:extLst>
                    <a:ext uri="{FF2B5EF4-FFF2-40B4-BE49-F238E27FC236}">
                      <a16:creationId xmlns:a16="http://schemas.microsoft.com/office/drawing/2014/main" id="{33FCA0B6-1595-5249-B422-13CD8769D42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 name="Freeform 1073">
                  <a:extLst>
                    <a:ext uri="{FF2B5EF4-FFF2-40B4-BE49-F238E27FC236}">
                      <a16:creationId xmlns:a16="http://schemas.microsoft.com/office/drawing/2014/main" id="{F62240FB-2C21-464F-A37A-3A22AA3F6094}"/>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 name="Freeform 1074">
                  <a:extLst>
                    <a:ext uri="{FF2B5EF4-FFF2-40B4-BE49-F238E27FC236}">
                      <a16:creationId xmlns:a16="http://schemas.microsoft.com/office/drawing/2014/main" id="{1C4D12B9-3576-0C40-A5F3-E88CED5A65E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78" name="Group 1075">
                  <a:extLst>
                    <a:ext uri="{FF2B5EF4-FFF2-40B4-BE49-F238E27FC236}">
                      <a16:creationId xmlns:a16="http://schemas.microsoft.com/office/drawing/2014/main" id="{ED887E1E-DD70-534D-8096-6A8445796890}"/>
                    </a:ext>
                  </a:extLst>
                </p:cNvPr>
                <p:cNvGrpSpPr>
                  <a:grpSpLocks/>
                </p:cNvGrpSpPr>
                <p:nvPr/>
              </p:nvGrpSpPr>
              <p:grpSpPr bwMode="auto">
                <a:xfrm>
                  <a:off x="1709" y="3008"/>
                  <a:ext cx="507" cy="234"/>
                  <a:chOff x="1740" y="2642"/>
                  <a:chExt cx="752" cy="327"/>
                </a:xfrm>
              </p:grpSpPr>
              <p:sp>
                <p:nvSpPr>
                  <p:cNvPr id="685" name="Freeform 1076">
                    <a:extLst>
                      <a:ext uri="{FF2B5EF4-FFF2-40B4-BE49-F238E27FC236}">
                        <a16:creationId xmlns:a16="http://schemas.microsoft.com/office/drawing/2014/main" id="{16EAA6DD-B1A8-144B-9226-221860B2C21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6" name="Freeform 1077">
                    <a:extLst>
                      <a:ext uri="{FF2B5EF4-FFF2-40B4-BE49-F238E27FC236}">
                        <a16:creationId xmlns:a16="http://schemas.microsoft.com/office/drawing/2014/main" id="{66B6CABD-230C-7243-A78E-898BA47EF04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7" name="Freeform 1078">
                    <a:extLst>
                      <a:ext uri="{FF2B5EF4-FFF2-40B4-BE49-F238E27FC236}">
                        <a16:creationId xmlns:a16="http://schemas.microsoft.com/office/drawing/2014/main" id="{4CC52902-7299-9D44-8559-C2ED9AE5E84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 name="Freeform 1079">
                    <a:extLst>
                      <a:ext uri="{FF2B5EF4-FFF2-40B4-BE49-F238E27FC236}">
                        <a16:creationId xmlns:a16="http://schemas.microsoft.com/office/drawing/2014/main" id="{11ABD305-4F14-BC40-BD6A-352B5CDB303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 name="Freeform 1080">
                    <a:extLst>
                      <a:ext uri="{FF2B5EF4-FFF2-40B4-BE49-F238E27FC236}">
                        <a16:creationId xmlns:a16="http://schemas.microsoft.com/office/drawing/2014/main" id="{17190967-E1E6-5043-B08E-8AC745D8F29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0" name="Freeform 1081">
                    <a:extLst>
                      <a:ext uri="{FF2B5EF4-FFF2-40B4-BE49-F238E27FC236}">
                        <a16:creationId xmlns:a16="http://schemas.microsoft.com/office/drawing/2014/main" id="{263B67CA-6E08-194D-A17F-B5F081E960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9" name="Freeform 1082">
                  <a:extLst>
                    <a:ext uri="{FF2B5EF4-FFF2-40B4-BE49-F238E27FC236}">
                      <a16:creationId xmlns:a16="http://schemas.microsoft.com/office/drawing/2014/main" id="{0B9D92C1-58EA-3545-8372-C7FB45D4592C}"/>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0" name="Freeform 1083">
                  <a:extLst>
                    <a:ext uri="{FF2B5EF4-FFF2-40B4-BE49-F238E27FC236}">
                      <a16:creationId xmlns:a16="http://schemas.microsoft.com/office/drawing/2014/main" id="{8891C4B3-775A-5D4B-8605-353D88CA8F1B}"/>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1" name="Freeform 1084">
                  <a:extLst>
                    <a:ext uri="{FF2B5EF4-FFF2-40B4-BE49-F238E27FC236}">
                      <a16:creationId xmlns:a16="http://schemas.microsoft.com/office/drawing/2014/main" id="{15D3C69E-0271-3E43-9366-2C696E0D69B4}"/>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2" name="Freeform 1085">
                  <a:extLst>
                    <a:ext uri="{FF2B5EF4-FFF2-40B4-BE49-F238E27FC236}">
                      <a16:creationId xmlns:a16="http://schemas.microsoft.com/office/drawing/2014/main" id="{ADD26EEC-6896-C548-A843-E80F9DCD71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3" name="Freeform 1086">
                  <a:extLst>
                    <a:ext uri="{FF2B5EF4-FFF2-40B4-BE49-F238E27FC236}">
                      <a16:creationId xmlns:a16="http://schemas.microsoft.com/office/drawing/2014/main" id="{E53FD945-5CCA-D946-AE8F-F0FAEF2D22B5}"/>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4" name="Freeform 1087">
                  <a:extLst>
                    <a:ext uri="{FF2B5EF4-FFF2-40B4-BE49-F238E27FC236}">
                      <a16:creationId xmlns:a16="http://schemas.microsoft.com/office/drawing/2014/main" id="{0F3817C7-9A9B-0646-B0B3-A73EFFAB4B2A}"/>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91" name="Group 652">
                <a:extLst>
                  <a:ext uri="{FF2B5EF4-FFF2-40B4-BE49-F238E27FC236}">
                    <a16:creationId xmlns:a16="http://schemas.microsoft.com/office/drawing/2014/main" id="{9D2EACAC-DF98-DA4A-AE3F-51E8DD2B4C42}"/>
                  </a:ext>
                </a:extLst>
              </p:cNvPr>
              <p:cNvGrpSpPr>
                <a:grpSpLocks/>
              </p:cNvGrpSpPr>
              <p:nvPr/>
            </p:nvGrpSpPr>
            <p:grpSpPr bwMode="auto">
              <a:xfrm>
                <a:off x="1187669" y="1611378"/>
                <a:ext cx="511595" cy="419441"/>
                <a:chOff x="2751" y="1851"/>
                <a:chExt cx="462" cy="478"/>
              </a:xfrm>
            </p:grpSpPr>
            <p:pic>
              <p:nvPicPr>
                <p:cNvPr id="692" name="Picture 653" descr="iphone_stylized_small">
                  <a:extLst>
                    <a:ext uri="{FF2B5EF4-FFF2-40B4-BE49-F238E27FC236}">
                      <a16:creationId xmlns:a16="http://schemas.microsoft.com/office/drawing/2014/main" id="{740341C1-662D-A34D-8611-03419E533778}"/>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3" name="Picture 654" descr="antenna_radiation_stylized">
                  <a:extLst>
                    <a:ext uri="{FF2B5EF4-FFF2-40B4-BE49-F238E27FC236}">
                      <a16:creationId xmlns:a16="http://schemas.microsoft.com/office/drawing/2014/main" id="{91137A94-E2FE-3745-A6A1-7032FFAD30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95" name="Group 694">
                <a:extLst>
                  <a:ext uri="{FF2B5EF4-FFF2-40B4-BE49-F238E27FC236}">
                    <a16:creationId xmlns:a16="http://schemas.microsoft.com/office/drawing/2014/main" id="{8A1A4F59-101C-5A44-9353-F4F7B7B5C271}"/>
                  </a:ext>
                </a:extLst>
              </p:cNvPr>
              <p:cNvGrpSpPr/>
              <p:nvPr/>
            </p:nvGrpSpPr>
            <p:grpSpPr>
              <a:xfrm>
                <a:off x="1346422" y="2111586"/>
                <a:ext cx="580012" cy="769607"/>
                <a:chOff x="7797061" y="3296104"/>
                <a:chExt cx="347997" cy="396620"/>
              </a:xfrm>
            </p:grpSpPr>
            <p:pic>
              <p:nvPicPr>
                <p:cNvPr id="696" name="Picture 571" descr="fridge2.png">
                  <a:extLst>
                    <a:ext uri="{FF2B5EF4-FFF2-40B4-BE49-F238E27FC236}">
                      <a16:creationId xmlns:a16="http://schemas.microsoft.com/office/drawing/2014/main" id="{E4504F14-C086-2648-AE25-9099DA319E9F}"/>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7" name="Picture 1115" descr="antenna_stylized">
                  <a:extLst>
                    <a:ext uri="{FF2B5EF4-FFF2-40B4-BE49-F238E27FC236}">
                      <a16:creationId xmlns:a16="http://schemas.microsoft.com/office/drawing/2014/main" id="{DBC8EDC7-746D-2C4D-9A17-8EB8D63AD795}"/>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98" name="Group 950">
                <a:extLst>
                  <a:ext uri="{FF2B5EF4-FFF2-40B4-BE49-F238E27FC236}">
                    <a16:creationId xmlns:a16="http://schemas.microsoft.com/office/drawing/2014/main" id="{7B618E2E-A39F-B846-A9D4-9090544DC388}"/>
                  </a:ext>
                </a:extLst>
              </p:cNvPr>
              <p:cNvGrpSpPr>
                <a:grpSpLocks/>
              </p:cNvGrpSpPr>
              <p:nvPr/>
            </p:nvGrpSpPr>
            <p:grpSpPr bwMode="auto">
              <a:xfrm>
                <a:off x="1018136" y="2414197"/>
                <a:ext cx="228492" cy="436354"/>
                <a:chOff x="4140" y="429"/>
                <a:chExt cx="1425" cy="2396"/>
              </a:xfrm>
            </p:grpSpPr>
            <p:sp>
              <p:nvSpPr>
                <p:cNvPr id="699" name="Freeform 951">
                  <a:extLst>
                    <a:ext uri="{FF2B5EF4-FFF2-40B4-BE49-F238E27FC236}">
                      <a16:creationId xmlns:a16="http://schemas.microsoft.com/office/drawing/2014/main" id="{81580889-B794-4446-8951-1A0DB18A08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0" name="Rectangle 952">
                  <a:extLst>
                    <a:ext uri="{FF2B5EF4-FFF2-40B4-BE49-F238E27FC236}">
                      <a16:creationId xmlns:a16="http://schemas.microsoft.com/office/drawing/2014/main" id="{13058817-CDE6-2646-BD08-C280F500014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01" name="Freeform 953">
                  <a:extLst>
                    <a:ext uri="{FF2B5EF4-FFF2-40B4-BE49-F238E27FC236}">
                      <a16:creationId xmlns:a16="http://schemas.microsoft.com/office/drawing/2014/main" id="{0ECC32FC-E1D8-2F43-935A-C6D3F862360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2" name="Freeform 954">
                  <a:extLst>
                    <a:ext uri="{FF2B5EF4-FFF2-40B4-BE49-F238E27FC236}">
                      <a16:creationId xmlns:a16="http://schemas.microsoft.com/office/drawing/2014/main" id="{F5DA1565-D316-C449-BE52-133DC9DB436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3" name="Rectangle 955">
                  <a:extLst>
                    <a:ext uri="{FF2B5EF4-FFF2-40B4-BE49-F238E27FC236}">
                      <a16:creationId xmlns:a16="http://schemas.microsoft.com/office/drawing/2014/main" id="{5F33C1DF-29B7-2D44-990C-5CEAB475710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704" name="Group 956">
                  <a:extLst>
                    <a:ext uri="{FF2B5EF4-FFF2-40B4-BE49-F238E27FC236}">
                      <a16:creationId xmlns:a16="http://schemas.microsoft.com/office/drawing/2014/main" id="{9F311C1D-F353-2947-854E-B69FE0FD8652}"/>
                    </a:ext>
                  </a:extLst>
                </p:cNvPr>
                <p:cNvGrpSpPr>
                  <a:grpSpLocks/>
                </p:cNvGrpSpPr>
                <p:nvPr/>
              </p:nvGrpSpPr>
              <p:grpSpPr bwMode="auto">
                <a:xfrm>
                  <a:off x="4749" y="668"/>
                  <a:ext cx="581" cy="145"/>
                  <a:chOff x="614" y="2568"/>
                  <a:chExt cx="725" cy="139"/>
                </a:xfrm>
              </p:grpSpPr>
              <p:sp>
                <p:nvSpPr>
                  <p:cNvPr id="729" name="AutoShape 957">
                    <a:extLst>
                      <a:ext uri="{FF2B5EF4-FFF2-40B4-BE49-F238E27FC236}">
                        <a16:creationId xmlns:a16="http://schemas.microsoft.com/office/drawing/2014/main" id="{516D1518-AD10-9A4F-9242-B6A1E5270E6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30" name="AutoShape 958">
                    <a:extLst>
                      <a:ext uri="{FF2B5EF4-FFF2-40B4-BE49-F238E27FC236}">
                        <a16:creationId xmlns:a16="http://schemas.microsoft.com/office/drawing/2014/main" id="{13A777B3-EDB4-DE4D-867B-3D1BAB79C47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705" name="Rectangle 959">
                  <a:extLst>
                    <a:ext uri="{FF2B5EF4-FFF2-40B4-BE49-F238E27FC236}">
                      <a16:creationId xmlns:a16="http://schemas.microsoft.com/office/drawing/2014/main" id="{ABBF2549-7C28-A54A-92DF-235966861AC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706" name="Group 960">
                  <a:extLst>
                    <a:ext uri="{FF2B5EF4-FFF2-40B4-BE49-F238E27FC236}">
                      <a16:creationId xmlns:a16="http://schemas.microsoft.com/office/drawing/2014/main" id="{0F04C3BD-023C-EC43-A70A-3034892DB3DF}"/>
                    </a:ext>
                  </a:extLst>
                </p:cNvPr>
                <p:cNvGrpSpPr>
                  <a:grpSpLocks/>
                </p:cNvGrpSpPr>
                <p:nvPr/>
              </p:nvGrpSpPr>
              <p:grpSpPr bwMode="auto">
                <a:xfrm>
                  <a:off x="4747" y="994"/>
                  <a:ext cx="581" cy="134"/>
                  <a:chOff x="614" y="2568"/>
                  <a:chExt cx="725" cy="139"/>
                </a:xfrm>
              </p:grpSpPr>
              <p:sp>
                <p:nvSpPr>
                  <p:cNvPr id="727" name="AutoShape 961">
                    <a:extLst>
                      <a:ext uri="{FF2B5EF4-FFF2-40B4-BE49-F238E27FC236}">
                        <a16:creationId xmlns:a16="http://schemas.microsoft.com/office/drawing/2014/main" id="{296AE61C-5065-8B46-9B82-47F15AF7FD4E}"/>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28" name="AutoShape 962">
                    <a:extLst>
                      <a:ext uri="{FF2B5EF4-FFF2-40B4-BE49-F238E27FC236}">
                        <a16:creationId xmlns:a16="http://schemas.microsoft.com/office/drawing/2014/main" id="{53D8E0CC-D820-E146-A130-C72FC95E308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707" name="Rectangle 963">
                  <a:extLst>
                    <a:ext uri="{FF2B5EF4-FFF2-40B4-BE49-F238E27FC236}">
                      <a16:creationId xmlns:a16="http://schemas.microsoft.com/office/drawing/2014/main" id="{4B57531B-B596-5544-9528-BFD23FCF400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08" name="Rectangle 964">
                  <a:extLst>
                    <a:ext uri="{FF2B5EF4-FFF2-40B4-BE49-F238E27FC236}">
                      <a16:creationId xmlns:a16="http://schemas.microsoft.com/office/drawing/2014/main" id="{50D26A27-3EA2-6740-9E67-0818730A88C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709" name="Group 965">
                  <a:extLst>
                    <a:ext uri="{FF2B5EF4-FFF2-40B4-BE49-F238E27FC236}">
                      <a16:creationId xmlns:a16="http://schemas.microsoft.com/office/drawing/2014/main" id="{778BB7A9-22A2-1048-B18B-F862B2598429}"/>
                    </a:ext>
                  </a:extLst>
                </p:cNvPr>
                <p:cNvGrpSpPr>
                  <a:grpSpLocks/>
                </p:cNvGrpSpPr>
                <p:nvPr/>
              </p:nvGrpSpPr>
              <p:grpSpPr bwMode="auto">
                <a:xfrm>
                  <a:off x="4735" y="1627"/>
                  <a:ext cx="582" cy="151"/>
                  <a:chOff x="614" y="2568"/>
                  <a:chExt cx="725" cy="139"/>
                </a:xfrm>
              </p:grpSpPr>
              <p:sp>
                <p:nvSpPr>
                  <p:cNvPr id="725" name="AutoShape 966">
                    <a:extLst>
                      <a:ext uri="{FF2B5EF4-FFF2-40B4-BE49-F238E27FC236}">
                        <a16:creationId xmlns:a16="http://schemas.microsoft.com/office/drawing/2014/main" id="{3CF2188D-8154-074B-A17A-44933C64F2D7}"/>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26" name="AutoShape 967">
                    <a:extLst>
                      <a:ext uri="{FF2B5EF4-FFF2-40B4-BE49-F238E27FC236}">
                        <a16:creationId xmlns:a16="http://schemas.microsoft.com/office/drawing/2014/main" id="{2C883BF5-FF0C-B44B-861D-11BD20501B3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710" name="Freeform 968">
                  <a:extLst>
                    <a:ext uri="{FF2B5EF4-FFF2-40B4-BE49-F238E27FC236}">
                      <a16:creationId xmlns:a16="http://schemas.microsoft.com/office/drawing/2014/main" id="{90E801C3-1EB3-074D-9BBD-AE81B8AAAF1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11" name="Group 969">
                  <a:extLst>
                    <a:ext uri="{FF2B5EF4-FFF2-40B4-BE49-F238E27FC236}">
                      <a16:creationId xmlns:a16="http://schemas.microsoft.com/office/drawing/2014/main" id="{0B861F6D-6B6D-3044-B744-64935AA25886}"/>
                    </a:ext>
                  </a:extLst>
                </p:cNvPr>
                <p:cNvGrpSpPr>
                  <a:grpSpLocks/>
                </p:cNvGrpSpPr>
                <p:nvPr/>
              </p:nvGrpSpPr>
              <p:grpSpPr bwMode="auto">
                <a:xfrm>
                  <a:off x="4739" y="1327"/>
                  <a:ext cx="582" cy="139"/>
                  <a:chOff x="614" y="2568"/>
                  <a:chExt cx="725" cy="139"/>
                </a:xfrm>
              </p:grpSpPr>
              <p:sp>
                <p:nvSpPr>
                  <p:cNvPr id="723" name="AutoShape 970">
                    <a:extLst>
                      <a:ext uri="{FF2B5EF4-FFF2-40B4-BE49-F238E27FC236}">
                        <a16:creationId xmlns:a16="http://schemas.microsoft.com/office/drawing/2014/main" id="{588E0EB5-C704-6646-A7DF-17C2C9237BD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24" name="AutoShape 971">
                    <a:extLst>
                      <a:ext uri="{FF2B5EF4-FFF2-40B4-BE49-F238E27FC236}">
                        <a16:creationId xmlns:a16="http://schemas.microsoft.com/office/drawing/2014/main" id="{125E70E5-5E94-EA4C-8970-6D8BC99D3154}"/>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712" name="Rectangle 972">
                  <a:extLst>
                    <a:ext uri="{FF2B5EF4-FFF2-40B4-BE49-F238E27FC236}">
                      <a16:creationId xmlns:a16="http://schemas.microsoft.com/office/drawing/2014/main" id="{E5D3AE86-3AA9-6E46-BE96-5D22107EF01C}"/>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13" name="Freeform 973">
                  <a:extLst>
                    <a:ext uri="{FF2B5EF4-FFF2-40B4-BE49-F238E27FC236}">
                      <a16:creationId xmlns:a16="http://schemas.microsoft.com/office/drawing/2014/main" id="{56DA0D9F-D49E-8E40-A05B-A591E516A43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4" name="Freeform 974">
                  <a:extLst>
                    <a:ext uri="{FF2B5EF4-FFF2-40B4-BE49-F238E27FC236}">
                      <a16:creationId xmlns:a16="http://schemas.microsoft.com/office/drawing/2014/main" id="{B1BD6DC2-2442-7F40-8912-04AD0AD66AC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5" name="Oval 975">
                  <a:extLst>
                    <a:ext uri="{FF2B5EF4-FFF2-40B4-BE49-F238E27FC236}">
                      <a16:creationId xmlns:a16="http://schemas.microsoft.com/office/drawing/2014/main" id="{2F05989C-6D89-364A-BB82-89E681188A9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16" name="Freeform 976">
                  <a:extLst>
                    <a:ext uri="{FF2B5EF4-FFF2-40B4-BE49-F238E27FC236}">
                      <a16:creationId xmlns:a16="http://schemas.microsoft.com/office/drawing/2014/main" id="{68D8E8F3-FC40-184B-B332-4DA27CFDD04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 name="AutoShape 977">
                  <a:extLst>
                    <a:ext uri="{FF2B5EF4-FFF2-40B4-BE49-F238E27FC236}">
                      <a16:creationId xmlns:a16="http://schemas.microsoft.com/office/drawing/2014/main" id="{0EDECD8B-0333-B945-A0B9-EB923B056196}"/>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18" name="AutoShape 978">
                  <a:extLst>
                    <a:ext uri="{FF2B5EF4-FFF2-40B4-BE49-F238E27FC236}">
                      <a16:creationId xmlns:a16="http://schemas.microsoft.com/office/drawing/2014/main" id="{6C701197-39E1-9342-985C-C17B4CD9708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19" name="Oval 979">
                  <a:extLst>
                    <a:ext uri="{FF2B5EF4-FFF2-40B4-BE49-F238E27FC236}">
                      <a16:creationId xmlns:a16="http://schemas.microsoft.com/office/drawing/2014/main" id="{36907BAD-35A5-864D-9BC0-D6AB6AE515D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20" name="Oval 980">
                  <a:extLst>
                    <a:ext uri="{FF2B5EF4-FFF2-40B4-BE49-F238E27FC236}">
                      <a16:creationId xmlns:a16="http://schemas.microsoft.com/office/drawing/2014/main" id="{D2A4BDF5-240B-A547-A854-A8E54F6A66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721" name="Oval 981">
                  <a:extLst>
                    <a:ext uri="{FF2B5EF4-FFF2-40B4-BE49-F238E27FC236}">
                      <a16:creationId xmlns:a16="http://schemas.microsoft.com/office/drawing/2014/main" id="{36A0FAEF-6623-0246-9799-BED3E56C9744}"/>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722" name="Rectangle 982">
                  <a:extLst>
                    <a:ext uri="{FF2B5EF4-FFF2-40B4-BE49-F238E27FC236}">
                      <a16:creationId xmlns:a16="http://schemas.microsoft.com/office/drawing/2014/main" id="{2C86DB95-9A39-144E-82C0-930EAC6C344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733" name="Group 732">
                <a:extLst>
                  <a:ext uri="{FF2B5EF4-FFF2-40B4-BE49-F238E27FC236}">
                    <a16:creationId xmlns:a16="http://schemas.microsoft.com/office/drawing/2014/main" id="{4599802E-5DCE-8740-82B3-1318B6412EC2}"/>
                  </a:ext>
                </a:extLst>
              </p:cNvPr>
              <p:cNvGrpSpPr/>
              <p:nvPr/>
            </p:nvGrpSpPr>
            <p:grpSpPr>
              <a:xfrm>
                <a:off x="2053502" y="2245186"/>
                <a:ext cx="672582" cy="617342"/>
                <a:chOff x="5275406" y="2711455"/>
                <a:chExt cx="452949" cy="405518"/>
              </a:xfrm>
            </p:grpSpPr>
            <p:pic>
              <p:nvPicPr>
                <p:cNvPr id="734" name="Picture 733" descr="server_rack.png">
                  <a:extLst>
                    <a:ext uri="{FF2B5EF4-FFF2-40B4-BE49-F238E27FC236}">
                      <a16:creationId xmlns:a16="http://schemas.microsoft.com/office/drawing/2014/main" id="{E7A5369B-12BA-534E-89DB-EC5EDF954DE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35" name="Picture 734" descr="server_rack.png">
                  <a:extLst>
                    <a:ext uri="{FF2B5EF4-FFF2-40B4-BE49-F238E27FC236}">
                      <a16:creationId xmlns:a16="http://schemas.microsoft.com/office/drawing/2014/main" id="{A1A7AD27-600E-554D-ACF5-603AB2D208E5}"/>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36" name="Picture 735" descr="server_rack.png">
                  <a:extLst>
                    <a:ext uri="{FF2B5EF4-FFF2-40B4-BE49-F238E27FC236}">
                      <a16:creationId xmlns:a16="http://schemas.microsoft.com/office/drawing/2014/main" id="{6352AB59-3424-1947-A902-45E2FFF24CD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nvGrpSpPr>
              <p:cNvPr id="737" name="Group 590">
                <a:extLst>
                  <a:ext uri="{FF2B5EF4-FFF2-40B4-BE49-F238E27FC236}">
                    <a16:creationId xmlns:a16="http://schemas.microsoft.com/office/drawing/2014/main" id="{572BBB3E-35BE-7341-92D5-A1D830B307C1}"/>
                  </a:ext>
                </a:extLst>
              </p:cNvPr>
              <p:cNvGrpSpPr>
                <a:grpSpLocks/>
              </p:cNvGrpSpPr>
              <p:nvPr/>
            </p:nvGrpSpPr>
            <p:grpSpPr bwMode="auto">
              <a:xfrm flipH="1">
                <a:off x="618085" y="1595547"/>
                <a:ext cx="517401" cy="503916"/>
                <a:chOff x="2839" y="3501"/>
                <a:chExt cx="755" cy="803"/>
              </a:xfrm>
            </p:grpSpPr>
            <p:pic>
              <p:nvPicPr>
                <p:cNvPr id="738" name="Picture 591" descr="desktop_computer_stylized_medium">
                  <a:extLst>
                    <a:ext uri="{FF2B5EF4-FFF2-40B4-BE49-F238E27FC236}">
                      <a16:creationId xmlns:a16="http://schemas.microsoft.com/office/drawing/2014/main" id="{4B6339C5-8B14-B747-B25F-54A251041EA5}"/>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9" name="Freeform 592">
                  <a:extLst>
                    <a:ext uri="{FF2B5EF4-FFF2-40B4-BE49-F238E27FC236}">
                      <a16:creationId xmlns:a16="http://schemas.microsoft.com/office/drawing/2014/main" id="{C8A47756-1909-F941-BDCB-37836D98015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41" name="Group 740">
                <a:extLst>
                  <a:ext uri="{FF2B5EF4-FFF2-40B4-BE49-F238E27FC236}">
                    <a16:creationId xmlns:a16="http://schemas.microsoft.com/office/drawing/2014/main" id="{0CD6FDAC-4A62-F644-A898-08237435CEE7}"/>
                  </a:ext>
                </a:extLst>
              </p:cNvPr>
              <p:cNvGrpSpPr/>
              <p:nvPr/>
            </p:nvGrpSpPr>
            <p:grpSpPr>
              <a:xfrm>
                <a:off x="1609415" y="1428021"/>
                <a:ext cx="748578" cy="712374"/>
                <a:chOff x="8631407" y="2290407"/>
                <a:chExt cx="530702" cy="478009"/>
              </a:xfrm>
            </p:grpSpPr>
            <p:pic>
              <p:nvPicPr>
                <p:cNvPr id="742" name="Picture 568" descr="light2.png">
                  <a:extLst>
                    <a:ext uri="{FF2B5EF4-FFF2-40B4-BE49-F238E27FC236}">
                      <a16:creationId xmlns:a16="http://schemas.microsoft.com/office/drawing/2014/main" id="{80F2F245-5874-164C-BC9E-BD1DF1724A7D}"/>
                    </a:ext>
                  </a:extLst>
                </p:cNvPr>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3" name="Picture 1017" descr="antenna_stylized">
                  <a:extLst>
                    <a:ext uri="{FF2B5EF4-FFF2-40B4-BE49-F238E27FC236}">
                      <a16:creationId xmlns:a16="http://schemas.microsoft.com/office/drawing/2014/main" id="{1AD2A78D-F97F-784F-ACAD-B716A9EDAFB5}"/>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9" name="Group 788">
                <a:extLst>
                  <a:ext uri="{FF2B5EF4-FFF2-40B4-BE49-F238E27FC236}">
                    <a16:creationId xmlns:a16="http://schemas.microsoft.com/office/drawing/2014/main" id="{8BE00D22-4F3C-6E49-97D4-F851E2CC6728}"/>
                  </a:ext>
                </a:extLst>
              </p:cNvPr>
              <p:cNvGrpSpPr/>
              <p:nvPr/>
            </p:nvGrpSpPr>
            <p:grpSpPr>
              <a:xfrm>
                <a:off x="177500" y="2082690"/>
                <a:ext cx="849312" cy="226109"/>
                <a:chOff x="8493165" y="2029804"/>
                <a:chExt cx="849312" cy="226109"/>
              </a:xfrm>
            </p:grpSpPr>
            <p:pic>
              <p:nvPicPr>
                <p:cNvPr id="790" name="Picture 603" descr="car_icon_small">
                  <a:extLst>
                    <a:ext uri="{FF2B5EF4-FFF2-40B4-BE49-F238E27FC236}">
                      <a16:creationId xmlns:a16="http://schemas.microsoft.com/office/drawing/2014/main" id="{6DCAB099-A51A-9A49-B92D-E7B09B08E024}"/>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1" name="Picture 1017" descr="antenna_stylized">
                  <a:extLst>
                    <a:ext uri="{FF2B5EF4-FFF2-40B4-BE49-F238E27FC236}">
                      <a16:creationId xmlns:a16="http://schemas.microsoft.com/office/drawing/2014/main" id="{02B73421-B1D6-C74B-BF10-DBF86596B990}"/>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grpSp>
        <p:nvGrpSpPr>
          <p:cNvPr id="797" name="Group 796">
            <a:extLst>
              <a:ext uri="{FF2B5EF4-FFF2-40B4-BE49-F238E27FC236}">
                <a16:creationId xmlns:a16="http://schemas.microsoft.com/office/drawing/2014/main" id="{D383E01F-FA6F-5647-A6B1-D5444F12E4E2}"/>
              </a:ext>
            </a:extLst>
          </p:cNvPr>
          <p:cNvGrpSpPr/>
          <p:nvPr/>
        </p:nvGrpSpPr>
        <p:grpSpPr>
          <a:xfrm>
            <a:off x="7414072" y="1891912"/>
            <a:ext cx="4144321" cy="4300892"/>
            <a:chOff x="7432700" y="1830405"/>
            <a:chExt cx="4144321" cy="4300892"/>
          </a:xfrm>
        </p:grpSpPr>
        <p:grpSp>
          <p:nvGrpSpPr>
            <p:cNvPr id="787" name="Group 786">
              <a:extLst>
                <a:ext uri="{FF2B5EF4-FFF2-40B4-BE49-F238E27FC236}">
                  <a16:creationId xmlns:a16="http://schemas.microsoft.com/office/drawing/2014/main" id="{C944F5F4-7AD1-AE48-9769-ABE2F95B5A26}"/>
                </a:ext>
              </a:extLst>
            </p:cNvPr>
            <p:cNvGrpSpPr/>
            <p:nvPr/>
          </p:nvGrpSpPr>
          <p:grpSpPr>
            <a:xfrm>
              <a:off x="7432700" y="1830405"/>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87144" y="329610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58573" y="339916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96" name="Group 795">
              <a:extLst>
                <a:ext uri="{FF2B5EF4-FFF2-40B4-BE49-F238E27FC236}">
                  <a16:creationId xmlns:a16="http://schemas.microsoft.com/office/drawing/2014/main" id="{2287FB5D-0F91-9741-8D3A-0A38C2D4142B}"/>
                </a:ext>
              </a:extLst>
            </p:cNvPr>
            <p:cNvGrpSpPr/>
            <p:nvPr/>
          </p:nvGrpSpPr>
          <p:grpSpPr>
            <a:xfrm>
              <a:off x="7767607" y="4870841"/>
              <a:ext cx="2692126" cy="1260456"/>
              <a:chOff x="7767607" y="4870841"/>
              <a:chExt cx="2692126" cy="1260456"/>
            </a:xfrm>
          </p:grpSpPr>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2541" y="524463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794" name="Group 793">
                <a:extLst>
                  <a:ext uri="{FF2B5EF4-FFF2-40B4-BE49-F238E27FC236}">
                    <a16:creationId xmlns:a16="http://schemas.microsoft.com/office/drawing/2014/main" id="{418A016B-3865-5C4A-BF54-A4D433F011BA}"/>
                  </a:ext>
                </a:extLst>
              </p:cNvPr>
              <p:cNvGrpSpPr/>
              <p:nvPr/>
            </p:nvGrpSpPr>
            <p:grpSpPr>
              <a:xfrm>
                <a:off x="7767607" y="4870841"/>
                <a:ext cx="2080029" cy="1260456"/>
                <a:chOff x="7767607" y="4870841"/>
                <a:chExt cx="2080029" cy="1260456"/>
              </a:xfrm>
            </p:grpSpPr>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74481" y="487084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195307" y="582348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67607" y="525174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47535" y="547533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45760" y="549681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28372" y="576581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1503" y="560706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1032" name="Group 1031">
            <a:extLst>
              <a:ext uri="{FF2B5EF4-FFF2-40B4-BE49-F238E27FC236}">
                <a16:creationId xmlns:a16="http://schemas.microsoft.com/office/drawing/2014/main" id="{036990DA-17DD-924D-9A43-4A9775E07569}"/>
              </a:ext>
            </a:extLst>
          </p:cNvPr>
          <p:cNvGrpSpPr/>
          <p:nvPr/>
        </p:nvGrpSpPr>
        <p:grpSpPr>
          <a:xfrm>
            <a:off x="1728873" y="5539150"/>
            <a:ext cx="5446393" cy="1149445"/>
            <a:chOff x="1728873" y="5539150"/>
            <a:chExt cx="5446393" cy="1149445"/>
          </a:xfrm>
        </p:grpSpPr>
        <p:sp>
          <p:nvSpPr>
            <p:cNvPr id="838" name="Freeform 417">
              <a:extLst>
                <a:ext uri="{FF2B5EF4-FFF2-40B4-BE49-F238E27FC236}">
                  <a16:creationId xmlns:a16="http://schemas.microsoft.com/office/drawing/2014/main" id="{F705D6E8-49A7-AA46-A818-65E5953EC2BE}"/>
                </a:ext>
              </a:extLst>
            </p:cNvPr>
            <p:cNvSpPr>
              <a:spLocks/>
            </p:cNvSpPr>
            <p:nvPr/>
          </p:nvSpPr>
          <p:spPr bwMode="auto">
            <a:xfrm>
              <a:off x="1728873" y="566014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872" name="Content Placeholder 2">
              <a:extLst>
                <a:ext uri="{FF2B5EF4-FFF2-40B4-BE49-F238E27FC236}">
                  <a16:creationId xmlns:a16="http://schemas.microsoft.com/office/drawing/2014/main" id="{5F6F3EFF-3938-B04A-9425-41262E778239}"/>
                </a:ext>
              </a:extLst>
            </p:cNvPr>
            <p:cNvSpPr txBox="1">
              <a:spLocks/>
            </p:cNvSpPr>
            <p:nvPr/>
          </p:nvSpPr>
          <p:spPr>
            <a:xfrm>
              <a:off x="3142713" y="5539150"/>
              <a:ext cx="4032553" cy="1149445"/>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58" indent="0">
                <a:buClr>
                  <a:srgbClr val="0000A8"/>
                </a:buClr>
                <a:buNone/>
              </a:pPr>
              <a:r>
                <a:rPr lang="en-US" altLang="en-US" sz="2400" i="1" dirty="0">
                  <a:solidFill>
                    <a:srgbClr val="C00000"/>
                  </a:solidFill>
                  <a:latin typeface="+mn-lt"/>
                  <a:ea typeface="Arial" panose="020B0604020202020204" pitchFamily="34" charset="0"/>
                </a:rPr>
                <a:t>Networks</a:t>
              </a:r>
            </a:p>
            <a:p>
              <a:pPr marL="346075" lvl="1" indent="-231775">
                <a:buClr>
                  <a:srgbClr val="0000A3"/>
                </a:buClr>
              </a:pPr>
              <a:r>
                <a:rPr lang="en-US" altLang="en-US" sz="2000" dirty="0">
                  <a:solidFill>
                    <a:schemeClr val="tx1"/>
                  </a:solidFill>
                  <a:latin typeface="+mn-lt"/>
                  <a:ea typeface="Arial" panose="020B0604020202020204" pitchFamily="34" charset="0"/>
                </a:rPr>
                <a:t>collection of devices, routers, links: managed by an organization</a:t>
              </a:r>
              <a:endParaRPr lang="en-US" dirty="0">
                <a:solidFill>
                  <a:schemeClr val="tx1"/>
                </a:solidFill>
                <a:latin typeface="+mn-lt"/>
              </a:endParaRPr>
            </a:p>
          </p:txBody>
        </p:sp>
      </p:grpSp>
      <p:sp>
        <p:nvSpPr>
          <p:cNvPr id="3" name="Freeform 2">
            <a:extLst>
              <a:ext uri="{FF2B5EF4-FFF2-40B4-BE49-F238E27FC236}">
                <a16:creationId xmlns:a16="http://schemas.microsoft.com/office/drawing/2014/main" id="{C27B58DA-1AEB-4740-B294-405BA04A628A}"/>
              </a:ext>
            </a:extLst>
          </p:cNvPr>
          <p:cNvSpPr/>
          <p:nvPr/>
        </p:nvSpPr>
        <p:spPr>
          <a:xfrm>
            <a:off x="7189291" y="1641975"/>
            <a:ext cx="4101062" cy="4254341"/>
          </a:xfrm>
          <a:custGeom>
            <a:avLst/>
            <a:gdLst>
              <a:gd name="connsiteX0" fmla="*/ 2112364 w 4107620"/>
              <a:gd name="connsiteY0" fmla="*/ 1261685 h 4330718"/>
              <a:gd name="connsiteX1" fmla="*/ 1712971 w 4107620"/>
              <a:gd name="connsiteY1" fmla="*/ 1293216 h 4330718"/>
              <a:gd name="connsiteX2" fmla="*/ 1387150 w 4107620"/>
              <a:gd name="connsiteY2" fmla="*/ 904333 h 4330718"/>
              <a:gd name="connsiteX3" fmla="*/ 1134902 w 4107620"/>
              <a:gd name="connsiteY3" fmla="*/ 568002 h 4330718"/>
              <a:gd name="connsiteX4" fmla="*/ 840612 w 4107620"/>
              <a:gd name="connsiteY4" fmla="*/ 851781 h 4330718"/>
              <a:gd name="connsiteX5" fmla="*/ 703978 w 4107620"/>
              <a:gd name="connsiteY5" fmla="*/ 1356278 h 4330718"/>
              <a:gd name="connsiteX6" fmla="*/ 1240006 w 4107620"/>
              <a:gd name="connsiteY6" fmla="*/ 1955368 h 4330718"/>
              <a:gd name="connsiteX7" fmla="*/ 1303068 w 4107620"/>
              <a:gd name="connsiteY7" fmla="*/ 2375781 h 4330718"/>
              <a:gd name="connsiteX8" fmla="*/ 220502 w 4107620"/>
              <a:gd name="connsiteY8" fmla="*/ 2302209 h 4330718"/>
              <a:gd name="connsiteX9" fmla="*/ 83868 w 4107620"/>
              <a:gd name="connsiteY9" fmla="*/ 2943340 h 4330718"/>
              <a:gd name="connsiteX10" fmla="*/ 1218985 w 4107620"/>
              <a:gd name="connsiteY10" fmla="*/ 3258650 h 4330718"/>
              <a:gd name="connsiteX11" fmla="*/ 1124392 w 4107620"/>
              <a:gd name="connsiteY11" fmla="*/ 3647533 h 4330718"/>
              <a:gd name="connsiteX12" fmla="*/ 924695 w 4107620"/>
              <a:gd name="connsiteY12" fmla="*/ 3763147 h 4330718"/>
              <a:gd name="connsiteX13" fmla="*/ 1324088 w 4107620"/>
              <a:gd name="connsiteY13" fmla="*/ 3962843 h 4330718"/>
              <a:gd name="connsiteX14" fmla="*/ 1576337 w 4107620"/>
              <a:gd name="connsiteY14" fmla="*/ 3899781 h 4330718"/>
              <a:gd name="connsiteX15" fmla="*/ 1818075 w 4107620"/>
              <a:gd name="connsiteY15" fmla="*/ 4036416 h 4330718"/>
              <a:gd name="connsiteX16" fmla="*/ 1996750 w 4107620"/>
              <a:gd name="connsiteY16" fmla="*/ 4299174 h 4330718"/>
              <a:gd name="connsiteX17" fmla="*/ 2448695 w 4107620"/>
              <a:gd name="connsiteY17" fmla="*/ 4299174 h 4330718"/>
              <a:gd name="connsiteX18" fmla="*/ 2764006 w 4107620"/>
              <a:gd name="connsiteY18" fmla="*/ 4057436 h 4330718"/>
              <a:gd name="connsiteX19" fmla="*/ 2995233 w 4107620"/>
              <a:gd name="connsiteY19" fmla="*/ 4025905 h 4330718"/>
              <a:gd name="connsiteX20" fmla="*/ 3016254 w 4107620"/>
              <a:gd name="connsiteY20" fmla="*/ 3731616 h 4330718"/>
              <a:gd name="connsiteX21" fmla="*/ 3194930 w 4107620"/>
              <a:gd name="connsiteY21" fmla="*/ 3300692 h 4330718"/>
              <a:gd name="connsiteX22" fmla="*/ 3972695 w 4107620"/>
              <a:gd name="connsiteY22" fmla="*/ 3122016 h 4330718"/>
              <a:gd name="connsiteX23" fmla="*/ 3909633 w 4107620"/>
              <a:gd name="connsiteY23" fmla="*/ 1818733 h 4330718"/>
              <a:gd name="connsiteX24" fmla="*/ 4046268 w 4107620"/>
              <a:gd name="connsiteY24" fmla="*/ 904333 h 4330718"/>
              <a:gd name="connsiteX25" fmla="*/ 3962185 w 4107620"/>
              <a:gd name="connsiteY25" fmla="*/ 147588 h 4330718"/>
              <a:gd name="connsiteX26" fmla="*/ 2480226 w 4107620"/>
              <a:gd name="connsiteY26" fmla="*/ 63505 h 4330718"/>
              <a:gd name="connsiteX27" fmla="*/ 2133385 w 4107620"/>
              <a:gd name="connsiteY27" fmla="*/ 872802 h 4330718"/>
              <a:gd name="connsiteX28" fmla="*/ 2238488 w 4107620"/>
              <a:gd name="connsiteY28" fmla="*/ 1230154 h 4330718"/>
              <a:gd name="connsiteX29" fmla="*/ 2112364 w 4107620"/>
              <a:gd name="connsiteY29" fmla="*/ 1261685 h 4330718"/>
              <a:gd name="connsiteX0" fmla="*/ 1996750 w 4107620"/>
              <a:gd name="connsiteY0" fmla="*/ 1366789 h 4330718"/>
              <a:gd name="connsiteX1" fmla="*/ 1712971 w 4107620"/>
              <a:gd name="connsiteY1" fmla="*/ 1293216 h 4330718"/>
              <a:gd name="connsiteX2" fmla="*/ 1387150 w 4107620"/>
              <a:gd name="connsiteY2" fmla="*/ 904333 h 4330718"/>
              <a:gd name="connsiteX3" fmla="*/ 1134902 w 4107620"/>
              <a:gd name="connsiteY3" fmla="*/ 568002 h 4330718"/>
              <a:gd name="connsiteX4" fmla="*/ 840612 w 4107620"/>
              <a:gd name="connsiteY4" fmla="*/ 851781 h 4330718"/>
              <a:gd name="connsiteX5" fmla="*/ 703978 w 4107620"/>
              <a:gd name="connsiteY5" fmla="*/ 1356278 h 4330718"/>
              <a:gd name="connsiteX6" fmla="*/ 1240006 w 4107620"/>
              <a:gd name="connsiteY6" fmla="*/ 1955368 h 4330718"/>
              <a:gd name="connsiteX7" fmla="*/ 1303068 w 4107620"/>
              <a:gd name="connsiteY7" fmla="*/ 2375781 h 4330718"/>
              <a:gd name="connsiteX8" fmla="*/ 220502 w 4107620"/>
              <a:gd name="connsiteY8" fmla="*/ 2302209 h 4330718"/>
              <a:gd name="connsiteX9" fmla="*/ 83868 w 4107620"/>
              <a:gd name="connsiteY9" fmla="*/ 2943340 h 4330718"/>
              <a:gd name="connsiteX10" fmla="*/ 1218985 w 4107620"/>
              <a:gd name="connsiteY10" fmla="*/ 3258650 h 4330718"/>
              <a:gd name="connsiteX11" fmla="*/ 1124392 w 4107620"/>
              <a:gd name="connsiteY11" fmla="*/ 3647533 h 4330718"/>
              <a:gd name="connsiteX12" fmla="*/ 924695 w 4107620"/>
              <a:gd name="connsiteY12" fmla="*/ 3763147 h 4330718"/>
              <a:gd name="connsiteX13" fmla="*/ 1324088 w 4107620"/>
              <a:gd name="connsiteY13" fmla="*/ 3962843 h 4330718"/>
              <a:gd name="connsiteX14" fmla="*/ 1576337 w 4107620"/>
              <a:gd name="connsiteY14" fmla="*/ 3899781 h 4330718"/>
              <a:gd name="connsiteX15" fmla="*/ 1818075 w 4107620"/>
              <a:gd name="connsiteY15" fmla="*/ 4036416 h 4330718"/>
              <a:gd name="connsiteX16" fmla="*/ 1996750 w 4107620"/>
              <a:gd name="connsiteY16" fmla="*/ 4299174 h 4330718"/>
              <a:gd name="connsiteX17" fmla="*/ 2448695 w 4107620"/>
              <a:gd name="connsiteY17" fmla="*/ 4299174 h 4330718"/>
              <a:gd name="connsiteX18" fmla="*/ 2764006 w 4107620"/>
              <a:gd name="connsiteY18" fmla="*/ 4057436 h 4330718"/>
              <a:gd name="connsiteX19" fmla="*/ 2995233 w 4107620"/>
              <a:gd name="connsiteY19" fmla="*/ 4025905 h 4330718"/>
              <a:gd name="connsiteX20" fmla="*/ 3016254 w 4107620"/>
              <a:gd name="connsiteY20" fmla="*/ 3731616 h 4330718"/>
              <a:gd name="connsiteX21" fmla="*/ 3194930 w 4107620"/>
              <a:gd name="connsiteY21" fmla="*/ 3300692 h 4330718"/>
              <a:gd name="connsiteX22" fmla="*/ 3972695 w 4107620"/>
              <a:gd name="connsiteY22" fmla="*/ 3122016 h 4330718"/>
              <a:gd name="connsiteX23" fmla="*/ 3909633 w 4107620"/>
              <a:gd name="connsiteY23" fmla="*/ 1818733 h 4330718"/>
              <a:gd name="connsiteX24" fmla="*/ 4046268 w 4107620"/>
              <a:gd name="connsiteY24" fmla="*/ 904333 h 4330718"/>
              <a:gd name="connsiteX25" fmla="*/ 3962185 w 4107620"/>
              <a:gd name="connsiteY25" fmla="*/ 147588 h 4330718"/>
              <a:gd name="connsiteX26" fmla="*/ 2480226 w 4107620"/>
              <a:gd name="connsiteY26" fmla="*/ 63505 h 4330718"/>
              <a:gd name="connsiteX27" fmla="*/ 2133385 w 4107620"/>
              <a:gd name="connsiteY27" fmla="*/ 872802 h 4330718"/>
              <a:gd name="connsiteX28" fmla="*/ 2238488 w 4107620"/>
              <a:gd name="connsiteY28" fmla="*/ 1230154 h 4330718"/>
              <a:gd name="connsiteX29" fmla="*/ 1996750 w 4107620"/>
              <a:gd name="connsiteY29" fmla="*/ 1366789 h 4330718"/>
              <a:gd name="connsiteX0" fmla="*/ 1996750 w 4107620"/>
              <a:gd name="connsiteY0" fmla="*/ 1339069 h 4302998"/>
              <a:gd name="connsiteX1" fmla="*/ 1712971 w 4107620"/>
              <a:gd name="connsiteY1" fmla="*/ 1265496 h 4302998"/>
              <a:gd name="connsiteX2" fmla="*/ 1387150 w 4107620"/>
              <a:gd name="connsiteY2" fmla="*/ 876613 h 4302998"/>
              <a:gd name="connsiteX3" fmla="*/ 1134902 w 4107620"/>
              <a:gd name="connsiteY3" fmla="*/ 540282 h 4302998"/>
              <a:gd name="connsiteX4" fmla="*/ 840612 w 4107620"/>
              <a:gd name="connsiteY4" fmla="*/ 824061 h 4302998"/>
              <a:gd name="connsiteX5" fmla="*/ 703978 w 4107620"/>
              <a:gd name="connsiteY5" fmla="*/ 1328558 h 4302998"/>
              <a:gd name="connsiteX6" fmla="*/ 1240006 w 4107620"/>
              <a:gd name="connsiteY6" fmla="*/ 1927648 h 4302998"/>
              <a:gd name="connsiteX7" fmla="*/ 1303068 w 4107620"/>
              <a:gd name="connsiteY7" fmla="*/ 2348061 h 4302998"/>
              <a:gd name="connsiteX8" fmla="*/ 220502 w 4107620"/>
              <a:gd name="connsiteY8" fmla="*/ 2274489 h 4302998"/>
              <a:gd name="connsiteX9" fmla="*/ 83868 w 4107620"/>
              <a:gd name="connsiteY9" fmla="*/ 2915620 h 4302998"/>
              <a:gd name="connsiteX10" fmla="*/ 1218985 w 4107620"/>
              <a:gd name="connsiteY10" fmla="*/ 3230930 h 4302998"/>
              <a:gd name="connsiteX11" fmla="*/ 1124392 w 4107620"/>
              <a:gd name="connsiteY11" fmla="*/ 3619813 h 4302998"/>
              <a:gd name="connsiteX12" fmla="*/ 924695 w 4107620"/>
              <a:gd name="connsiteY12" fmla="*/ 3735427 h 4302998"/>
              <a:gd name="connsiteX13" fmla="*/ 1324088 w 4107620"/>
              <a:gd name="connsiteY13" fmla="*/ 3935123 h 4302998"/>
              <a:gd name="connsiteX14" fmla="*/ 1576337 w 4107620"/>
              <a:gd name="connsiteY14" fmla="*/ 3872061 h 4302998"/>
              <a:gd name="connsiteX15" fmla="*/ 1818075 w 4107620"/>
              <a:gd name="connsiteY15" fmla="*/ 4008696 h 4302998"/>
              <a:gd name="connsiteX16" fmla="*/ 1996750 w 4107620"/>
              <a:gd name="connsiteY16" fmla="*/ 4271454 h 4302998"/>
              <a:gd name="connsiteX17" fmla="*/ 2448695 w 4107620"/>
              <a:gd name="connsiteY17" fmla="*/ 4271454 h 4302998"/>
              <a:gd name="connsiteX18" fmla="*/ 2764006 w 4107620"/>
              <a:gd name="connsiteY18" fmla="*/ 4029716 h 4302998"/>
              <a:gd name="connsiteX19" fmla="*/ 2995233 w 4107620"/>
              <a:gd name="connsiteY19" fmla="*/ 3998185 h 4302998"/>
              <a:gd name="connsiteX20" fmla="*/ 3016254 w 4107620"/>
              <a:gd name="connsiteY20" fmla="*/ 3703896 h 4302998"/>
              <a:gd name="connsiteX21" fmla="*/ 3194930 w 4107620"/>
              <a:gd name="connsiteY21" fmla="*/ 3272972 h 4302998"/>
              <a:gd name="connsiteX22" fmla="*/ 3972695 w 4107620"/>
              <a:gd name="connsiteY22" fmla="*/ 3094296 h 4302998"/>
              <a:gd name="connsiteX23" fmla="*/ 3909633 w 4107620"/>
              <a:gd name="connsiteY23" fmla="*/ 1791013 h 4302998"/>
              <a:gd name="connsiteX24" fmla="*/ 4046268 w 4107620"/>
              <a:gd name="connsiteY24" fmla="*/ 876613 h 4302998"/>
              <a:gd name="connsiteX25" fmla="*/ 3962185 w 4107620"/>
              <a:gd name="connsiteY25" fmla="*/ 119868 h 4302998"/>
              <a:gd name="connsiteX26" fmla="*/ 2480226 w 4107620"/>
              <a:gd name="connsiteY26" fmla="*/ 35785 h 4302998"/>
              <a:gd name="connsiteX27" fmla="*/ 2185936 w 4107620"/>
              <a:gd name="connsiteY27" fmla="*/ 466709 h 4302998"/>
              <a:gd name="connsiteX28" fmla="*/ 2238488 w 4107620"/>
              <a:gd name="connsiteY28" fmla="*/ 1202434 h 4302998"/>
              <a:gd name="connsiteX29" fmla="*/ 1996750 w 4107620"/>
              <a:gd name="connsiteY29" fmla="*/ 1339069 h 4302998"/>
              <a:gd name="connsiteX0" fmla="*/ 1996750 w 4107620"/>
              <a:gd name="connsiteY0" fmla="*/ 1339069 h 4302998"/>
              <a:gd name="connsiteX1" fmla="*/ 1712971 w 4107620"/>
              <a:gd name="connsiteY1" fmla="*/ 1265496 h 4302998"/>
              <a:gd name="connsiteX2" fmla="*/ 1387150 w 4107620"/>
              <a:gd name="connsiteY2" fmla="*/ 876613 h 4302998"/>
              <a:gd name="connsiteX3" fmla="*/ 1134902 w 4107620"/>
              <a:gd name="connsiteY3" fmla="*/ 540282 h 4302998"/>
              <a:gd name="connsiteX4" fmla="*/ 840612 w 4107620"/>
              <a:gd name="connsiteY4" fmla="*/ 824061 h 4302998"/>
              <a:gd name="connsiteX5" fmla="*/ 703978 w 4107620"/>
              <a:gd name="connsiteY5" fmla="*/ 1328558 h 4302998"/>
              <a:gd name="connsiteX6" fmla="*/ 1240006 w 4107620"/>
              <a:gd name="connsiteY6" fmla="*/ 1927648 h 4302998"/>
              <a:gd name="connsiteX7" fmla="*/ 1303068 w 4107620"/>
              <a:gd name="connsiteY7" fmla="*/ 2348061 h 4302998"/>
              <a:gd name="connsiteX8" fmla="*/ 220502 w 4107620"/>
              <a:gd name="connsiteY8" fmla="*/ 2274489 h 4302998"/>
              <a:gd name="connsiteX9" fmla="*/ 83868 w 4107620"/>
              <a:gd name="connsiteY9" fmla="*/ 2915620 h 4302998"/>
              <a:gd name="connsiteX10" fmla="*/ 1218985 w 4107620"/>
              <a:gd name="connsiteY10" fmla="*/ 3230930 h 4302998"/>
              <a:gd name="connsiteX11" fmla="*/ 1124392 w 4107620"/>
              <a:gd name="connsiteY11" fmla="*/ 3619813 h 4302998"/>
              <a:gd name="connsiteX12" fmla="*/ 924695 w 4107620"/>
              <a:gd name="connsiteY12" fmla="*/ 3735427 h 4302998"/>
              <a:gd name="connsiteX13" fmla="*/ 1324088 w 4107620"/>
              <a:gd name="connsiteY13" fmla="*/ 3935123 h 4302998"/>
              <a:gd name="connsiteX14" fmla="*/ 1576337 w 4107620"/>
              <a:gd name="connsiteY14" fmla="*/ 3872061 h 4302998"/>
              <a:gd name="connsiteX15" fmla="*/ 1818075 w 4107620"/>
              <a:gd name="connsiteY15" fmla="*/ 4008696 h 4302998"/>
              <a:gd name="connsiteX16" fmla="*/ 1996750 w 4107620"/>
              <a:gd name="connsiteY16" fmla="*/ 4271454 h 4302998"/>
              <a:gd name="connsiteX17" fmla="*/ 2448695 w 4107620"/>
              <a:gd name="connsiteY17" fmla="*/ 4271454 h 4302998"/>
              <a:gd name="connsiteX18" fmla="*/ 2764006 w 4107620"/>
              <a:gd name="connsiteY18" fmla="*/ 4029716 h 4302998"/>
              <a:gd name="connsiteX19" fmla="*/ 2995233 w 4107620"/>
              <a:gd name="connsiteY19" fmla="*/ 3998185 h 4302998"/>
              <a:gd name="connsiteX20" fmla="*/ 3016254 w 4107620"/>
              <a:gd name="connsiteY20" fmla="*/ 3703896 h 4302998"/>
              <a:gd name="connsiteX21" fmla="*/ 3194930 w 4107620"/>
              <a:gd name="connsiteY21" fmla="*/ 3272972 h 4302998"/>
              <a:gd name="connsiteX22" fmla="*/ 3972695 w 4107620"/>
              <a:gd name="connsiteY22" fmla="*/ 3094296 h 4302998"/>
              <a:gd name="connsiteX23" fmla="*/ 3909633 w 4107620"/>
              <a:gd name="connsiteY23" fmla="*/ 1791013 h 4302998"/>
              <a:gd name="connsiteX24" fmla="*/ 4046268 w 4107620"/>
              <a:gd name="connsiteY24" fmla="*/ 876613 h 4302998"/>
              <a:gd name="connsiteX25" fmla="*/ 3962185 w 4107620"/>
              <a:gd name="connsiteY25" fmla="*/ 119868 h 4302998"/>
              <a:gd name="connsiteX26" fmla="*/ 2480226 w 4107620"/>
              <a:gd name="connsiteY26" fmla="*/ 35785 h 4302998"/>
              <a:gd name="connsiteX27" fmla="*/ 2270019 w 4107620"/>
              <a:gd name="connsiteY27" fmla="*/ 466709 h 4302998"/>
              <a:gd name="connsiteX28" fmla="*/ 2238488 w 4107620"/>
              <a:gd name="connsiteY28" fmla="*/ 1202434 h 4302998"/>
              <a:gd name="connsiteX29" fmla="*/ 1996750 w 4107620"/>
              <a:gd name="connsiteY29" fmla="*/ 1339069 h 4302998"/>
              <a:gd name="connsiteX0" fmla="*/ 1996750 w 4101062"/>
              <a:gd name="connsiteY0" fmla="*/ 1290412 h 4254341"/>
              <a:gd name="connsiteX1" fmla="*/ 1712971 w 4101062"/>
              <a:gd name="connsiteY1" fmla="*/ 1216839 h 4254341"/>
              <a:gd name="connsiteX2" fmla="*/ 1387150 w 4101062"/>
              <a:gd name="connsiteY2" fmla="*/ 827956 h 4254341"/>
              <a:gd name="connsiteX3" fmla="*/ 1134902 w 4101062"/>
              <a:gd name="connsiteY3" fmla="*/ 491625 h 4254341"/>
              <a:gd name="connsiteX4" fmla="*/ 840612 w 4101062"/>
              <a:gd name="connsiteY4" fmla="*/ 775404 h 4254341"/>
              <a:gd name="connsiteX5" fmla="*/ 703978 w 4101062"/>
              <a:gd name="connsiteY5" fmla="*/ 1279901 h 4254341"/>
              <a:gd name="connsiteX6" fmla="*/ 1240006 w 4101062"/>
              <a:gd name="connsiteY6" fmla="*/ 1878991 h 4254341"/>
              <a:gd name="connsiteX7" fmla="*/ 1303068 w 4101062"/>
              <a:gd name="connsiteY7" fmla="*/ 2299404 h 4254341"/>
              <a:gd name="connsiteX8" fmla="*/ 220502 w 4101062"/>
              <a:gd name="connsiteY8" fmla="*/ 2225832 h 4254341"/>
              <a:gd name="connsiteX9" fmla="*/ 83868 w 4101062"/>
              <a:gd name="connsiteY9" fmla="*/ 2866963 h 4254341"/>
              <a:gd name="connsiteX10" fmla="*/ 1218985 w 4101062"/>
              <a:gd name="connsiteY10" fmla="*/ 3182273 h 4254341"/>
              <a:gd name="connsiteX11" fmla="*/ 1124392 w 4101062"/>
              <a:gd name="connsiteY11" fmla="*/ 3571156 h 4254341"/>
              <a:gd name="connsiteX12" fmla="*/ 924695 w 4101062"/>
              <a:gd name="connsiteY12" fmla="*/ 3686770 h 4254341"/>
              <a:gd name="connsiteX13" fmla="*/ 1324088 w 4101062"/>
              <a:gd name="connsiteY13" fmla="*/ 3886466 h 4254341"/>
              <a:gd name="connsiteX14" fmla="*/ 1576337 w 4101062"/>
              <a:gd name="connsiteY14" fmla="*/ 3823404 h 4254341"/>
              <a:gd name="connsiteX15" fmla="*/ 1818075 w 4101062"/>
              <a:gd name="connsiteY15" fmla="*/ 3960039 h 4254341"/>
              <a:gd name="connsiteX16" fmla="*/ 1996750 w 4101062"/>
              <a:gd name="connsiteY16" fmla="*/ 4222797 h 4254341"/>
              <a:gd name="connsiteX17" fmla="*/ 2448695 w 4101062"/>
              <a:gd name="connsiteY17" fmla="*/ 4222797 h 4254341"/>
              <a:gd name="connsiteX18" fmla="*/ 2764006 w 4101062"/>
              <a:gd name="connsiteY18" fmla="*/ 3981059 h 4254341"/>
              <a:gd name="connsiteX19" fmla="*/ 2995233 w 4101062"/>
              <a:gd name="connsiteY19" fmla="*/ 3949528 h 4254341"/>
              <a:gd name="connsiteX20" fmla="*/ 3016254 w 4101062"/>
              <a:gd name="connsiteY20" fmla="*/ 3655239 h 4254341"/>
              <a:gd name="connsiteX21" fmla="*/ 3194930 w 4101062"/>
              <a:gd name="connsiteY21" fmla="*/ 3224315 h 4254341"/>
              <a:gd name="connsiteX22" fmla="*/ 3972695 w 4101062"/>
              <a:gd name="connsiteY22" fmla="*/ 3045639 h 4254341"/>
              <a:gd name="connsiteX23" fmla="*/ 3909633 w 4101062"/>
              <a:gd name="connsiteY23" fmla="*/ 1742356 h 4254341"/>
              <a:gd name="connsiteX24" fmla="*/ 4046268 w 4101062"/>
              <a:gd name="connsiteY24" fmla="*/ 827956 h 4254341"/>
              <a:gd name="connsiteX25" fmla="*/ 3962185 w 4101062"/>
              <a:gd name="connsiteY25" fmla="*/ 71211 h 4254341"/>
              <a:gd name="connsiteX26" fmla="*/ 2574819 w 4101062"/>
              <a:gd name="connsiteY26" fmla="*/ 71211 h 4254341"/>
              <a:gd name="connsiteX27" fmla="*/ 2270019 w 4101062"/>
              <a:gd name="connsiteY27" fmla="*/ 418052 h 4254341"/>
              <a:gd name="connsiteX28" fmla="*/ 2238488 w 4101062"/>
              <a:gd name="connsiteY28" fmla="*/ 1153777 h 4254341"/>
              <a:gd name="connsiteX29" fmla="*/ 1996750 w 4101062"/>
              <a:gd name="connsiteY29" fmla="*/ 1290412 h 425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101062" h="4254341">
                <a:moveTo>
                  <a:pt x="1996750" y="1290412"/>
                </a:moveTo>
                <a:cubicBezTo>
                  <a:pt x="1909164" y="1300922"/>
                  <a:pt x="1814571" y="1293915"/>
                  <a:pt x="1712971" y="1216839"/>
                </a:cubicBezTo>
                <a:cubicBezTo>
                  <a:pt x="1611371" y="1139763"/>
                  <a:pt x="1483495" y="948825"/>
                  <a:pt x="1387150" y="827956"/>
                </a:cubicBezTo>
                <a:cubicBezTo>
                  <a:pt x="1290805" y="707087"/>
                  <a:pt x="1225992" y="500384"/>
                  <a:pt x="1134902" y="491625"/>
                </a:cubicBezTo>
                <a:cubicBezTo>
                  <a:pt x="1043812" y="482866"/>
                  <a:pt x="912433" y="644025"/>
                  <a:pt x="840612" y="775404"/>
                </a:cubicBezTo>
                <a:cubicBezTo>
                  <a:pt x="768791" y="906783"/>
                  <a:pt x="637412" y="1095970"/>
                  <a:pt x="703978" y="1279901"/>
                </a:cubicBezTo>
                <a:cubicBezTo>
                  <a:pt x="770544" y="1463832"/>
                  <a:pt x="1140158" y="1709074"/>
                  <a:pt x="1240006" y="1878991"/>
                </a:cubicBezTo>
                <a:cubicBezTo>
                  <a:pt x="1339854" y="2048908"/>
                  <a:pt x="1472985" y="2241597"/>
                  <a:pt x="1303068" y="2299404"/>
                </a:cubicBezTo>
                <a:cubicBezTo>
                  <a:pt x="1133151" y="2357211"/>
                  <a:pt x="423702" y="2131239"/>
                  <a:pt x="220502" y="2225832"/>
                </a:cubicBezTo>
                <a:cubicBezTo>
                  <a:pt x="17302" y="2320425"/>
                  <a:pt x="-82546" y="2707556"/>
                  <a:pt x="83868" y="2866963"/>
                </a:cubicBezTo>
                <a:cubicBezTo>
                  <a:pt x="250282" y="3026370"/>
                  <a:pt x="1045564" y="3064908"/>
                  <a:pt x="1218985" y="3182273"/>
                </a:cubicBezTo>
                <a:cubicBezTo>
                  <a:pt x="1392406" y="3299638"/>
                  <a:pt x="1173440" y="3487073"/>
                  <a:pt x="1124392" y="3571156"/>
                </a:cubicBezTo>
                <a:cubicBezTo>
                  <a:pt x="1075344" y="3655239"/>
                  <a:pt x="891412" y="3634218"/>
                  <a:pt x="924695" y="3686770"/>
                </a:cubicBezTo>
                <a:cubicBezTo>
                  <a:pt x="957978" y="3739322"/>
                  <a:pt x="1215481" y="3863694"/>
                  <a:pt x="1324088" y="3886466"/>
                </a:cubicBezTo>
                <a:cubicBezTo>
                  <a:pt x="1432695" y="3909238"/>
                  <a:pt x="1494006" y="3811142"/>
                  <a:pt x="1576337" y="3823404"/>
                </a:cubicBezTo>
                <a:cubicBezTo>
                  <a:pt x="1658668" y="3835666"/>
                  <a:pt x="1748006" y="3893474"/>
                  <a:pt x="1818075" y="3960039"/>
                </a:cubicBezTo>
                <a:cubicBezTo>
                  <a:pt x="1888144" y="4026604"/>
                  <a:pt x="1891647" y="4179004"/>
                  <a:pt x="1996750" y="4222797"/>
                </a:cubicBezTo>
                <a:cubicBezTo>
                  <a:pt x="2101853" y="4266590"/>
                  <a:pt x="2320819" y="4263087"/>
                  <a:pt x="2448695" y="4222797"/>
                </a:cubicBezTo>
                <a:cubicBezTo>
                  <a:pt x="2576571" y="4182507"/>
                  <a:pt x="2672916" y="4026604"/>
                  <a:pt x="2764006" y="3981059"/>
                </a:cubicBezTo>
                <a:cubicBezTo>
                  <a:pt x="2855096" y="3935514"/>
                  <a:pt x="2953192" y="4003831"/>
                  <a:pt x="2995233" y="3949528"/>
                </a:cubicBezTo>
                <a:cubicBezTo>
                  <a:pt x="3037274" y="3895225"/>
                  <a:pt x="2982971" y="3776108"/>
                  <a:pt x="3016254" y="3655239"/>
                </a:cubicBezTo>
                <a:cubicBezTo>
                  <a:pt x="3049537" y="3534370"/>
                  <a:pt x="3035523" y="3325915"/>
                  <a:pt x="3194930" y="3224315"/>
                </a:cubicBezTo>
                <a:cubicBezTo>
                  <a:pt x="3354337" y="3122715"/>
                  <a:pt x="3853578" y="3292632"/>
                  <a:pt x="3972695" y="3045639"/>
                </a:cubicBezTo>
                <a:cubicBezTo>
                  <a:pt x="4091812" y="2798646"/>
                  <a:pt x="3897371" y="2111970"/>
                  <a:pt x="3909633" y="1742356"/>
                </a:cubicBezTo>
                <a:cubicBezTo>
                  <a:pt x="3921895" y="1372742"/>
                  <a:pt x="4037509" y="1106480"/>
                  <a:pt x="4046268" y="827956"/>
                </a:cubicBezTo>
                <a:cubicBezTo>
                  <a:pt x="4055027" y="549432"/>
                  <a:pt x="4207426" y="197335"/>
                  <a:pt x="3962185" y="71211"/>
                </a:cubicBezTo>
                <a:cubicBezTo>
                  <a:pt x="3716944" y="-54913"/>
                  <a:pt x="2856847" y="13404"/>
                  <a:pt x="2574819" y="71211"/>
                </a:cubicBezTo>
                <a:cubicBezTo>
                  <a:pt x="2292791" y="129018"/>
                  <a:pt x="2310309" y="223611"/>
                  <a:pt x="2270019" y="418052"/>
                </a:cubicBezTo>
                <a:cubicBezTo>
                  <a:pt x="2229729" y="612493"/>
                  <a:pt x="2284033" y="1008384"/>
                  <a:pt x="2238488" y="1153777"/>
                </a:cubicBezTo>
                <a:cubicBezTo>
                  <a:pt x="2192943" y="1299170"/>
                  <a:pt x="2084336" y="1279902"/>
                  <a:pt x="1996750" y="1290412"/>
                </a:cubicBezTo>
                <a:close/>
              </a:path>
            </a:pathLst>
          </a:custGeom>
          <a:noFill/>
          <a:ln>
            <a:solidFill>
              <a:schemeClr val="accent1">
                <a:shade val="50000"/>
                <a:alpha val="5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92581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97"/>
                                        </p:tgtEl>
                                        <p:attrNameLst>
                                          <p:attrName>style.visibility</p:attrName>
                                        </p:attrNameLst>
                                      </p:cBhvr>
                                      <p:to>
                                        <p:strVal val="visible"/>
                                      </p:to>
                                    </p:set>
                                    <p:animEffect transition="in" filter="dissolve">
                                      <p:cBhvr>
                                        <p:cTn id="7" dur="500"/>
                                        <p:tgtEl>
                                          <p:spTgt spid="797"/>
                                        </p:tgtEl>
                                      </p:cBhvr>
                                    </p:animEffect>
                                  </p:childTnLst>
                                </p:cTn>
                              </p:par>
                              <p:par>
                                <p:cTn id="8" presetID="9" presetClass="entr" presetSubtype="0" fill="hold" nodeType="withEffect">
                                  <p:stCondLst>
                                    <p:cond delay="0"/>
                                  </p:stCondLst>
                                  <p:childTnLst>
                                    <p:set>
                                      <p:cBhvr>
                                        <p:cTn id="9" dur="1" fill="hold">
                                          <p:stCondLst>
                                            <p:cond delay="0"/>
                                          </p:stCondLst>
                                        </p:cTn>
                                        <p:tgtEl>
                                          <p:spTgt spid="1033"/>
                                        </p:tgtEl>
                                        <p:attrNameLst>
                                          <p:attrName>style.visibility</p:attrName>
                                        </p:attrNameLst>
                                      </p:cBhvr>
                                      <p:to>
                                        <p:strVal val="visible"/>
                                      </p:to>
                                    </p:set>
                                    <p:animEffect transition="in" filter="dissolve">
                                      <p:cBhvr>
                                        <p:cTn id="10" dur="500"/>
                                        <p:tgtEl>
                                          <p:spTgt spid="103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par>
                                <p:cTn id="14" presetID="9" presetClass="exit" presetSubtype="0" fill="hold" grpId="0" nodeType="withEffect">
                                  <p:stCondLst>
                                    <p:cond delay="0"/>
                                  </p:stCondLst>
                                  <p:childTnLst>
                                    <p:animEffect transition="out" filter="dissolve">
                                      <p:cBhvr>
                                        <p:cTn id="15" dur="500"/>
                                        <p:tgtEl>
                                          <p:spTgt spid="5"/>
                                        </p:tgtEl>
                                      </p:cBhvr>
                                    </p:animEffect>
                                    <p:set>
                                      <p:cBhvr>
                                        <p:cTn id="16" dur="1" fill="hold">
                                          <p:stCondLst>
                                            <p:cond delay="499"/>
                                          </p:stCondLst>
                                        </p:cTn>
                                        <p:tgtEl>
                                          <p:spTgt spid="5"/>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024"/>
                                        </p:tgtEl>
                                        <p:attrNameLst>
                                          <p:attrName>style.visibility</p:attrName>
                                        </p:attrNameLst>
                                      </p:cBhvr>
                                      <p:to>
                                        <p:strVal val="visible"/>
                                      </p:to>
                                    </p:set>
                                    <p:animEffect transition="in" filter="dissolve">
                                      <p:cBhvr>
                                        <p:cTn id="21" dur="500"/>
                                        <p:tgtEl>
                                          <p:spTgt spid="1024"/>
                                        </p:tgtEl>
                                      </p:cBhvr>
                                    </p:animEffect>
                                  </p:childTnLst>
                                </p:cTn>
                              </p:par>
                              <p:par>
                                <p:cTn id="22" presetID="9" presetClass="entr" presetSubtype="0" fill="hold" nodeType="withEffect">
                                  <p:stCondLst>
                                    <p:cond delay="0"/>
                                  </p:stCondLst>
                                  <p:childTnLst>
                                    <p:set>
                                      <p:cBhvr>
                                        <p:cTn id="23" dur="1" fill="hold">
                                          <p:stCondLst>
                                            <p:cond delay="0"/>
                                          </p:stCondLst>
                                        </p:cTn>
                                        <p:tgtEl>
                                          <p:spTgt spid="1030"/>
                                        </p:tgtEl>
                                        <p:attrNameLst>
                                          <p:attrName>style.visibility</p:attrName>
                                        </p:attrNameLst>
                                      </p:cBhvr>
                                      <p:to>
                                        <p:strVal val="visible"/>
                                      </p:to>
                                    </p:set>
                                    <p:animEffect transition="in" filter="dissolve">
                                      <p:cBhvr>
                                        <p:cTn id="24" dur="500"/>
                                        <p:tgtEl>
                                          <p:spTgt spid="1030"/>
                                        </p:tgtEl>
                                      </p:cBhvr>
                                    </p:animEffect>
                                  </p:childTnLst>
                                </p:cTn>
                              </p:par>
                              <p:par>
                                <p:cTn id="25" presetID="9" presetClass="entr" presetSubtype="0" fill="hold" grpId="1"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dissolv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25"/>
                                        </p:tgtEl>
                                        <p:attrNameLst>
                                          <p:attrName>style.visibility</p:attrName>
                                        </p:attrNameLst>
                                      </p:cBhvr>
                                      <p:to>
                                        <p:strVal val="visible"/>
                                      </p:to>
                                    </p:set>
                                    <p:animEffect transition="in" filter="dissolve">
                                      <p:cBhvr>
                                        <p:cTn id="32" dur="500"/>
                                        <p:tgtEl>
                                          <p:spTgt spid="1025"/>
                                        </p:tgtEl>
                                      </p:cBhvr>
                                    </p:animEffect>
                                  </p:childTnLst>
                                </p:cTn>
                              </p:par>
                              <p:par>
                                <p:cTn id="33" presetID="9" presetClass="entr" presetSubtype="0" fill="hold" nodeType="withEffect">
                                  <p:stCondLst>
                                    <p:cond delay="0"/>
                                  </p:stCondLst>
                                  <p:childTnLst>
                                    <p:set>
                                      <p:cBhvr>
                                        <p:cTn id="34" dur="1" fill="hold">
                                          <p:stCondLst>
                                            <p:cond delay="0"/>
                                          </p:stCondLst>
                                        </p:cTn>
                                        <p:tgtEl>
                                          <p:spTgt spid="1031"/>
                                        </p:tgtEl>
                                        <p:attrNameLst>
                                          <p:attrName>style.visibility</p:attrName>
                                        </p:attrNameLst>
                                      </p:cBhvr>
                                      <p:to>
                                        <p:strVal val="visible"/>
                                      </p:to>
                                    </p:set>
                                    <p:animEffect transition="in" filter="dissolve">
                                      <p:cBhvr>
                                        <p:cTn id="35" dur="500"/>
                                        <p:tgtEl>
                                          <p:spTgt spid="103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01"/>
                                        </p:tgtEl>
                                        <p:attrNameLst>
                                          <p:attrName>style.visibility</p:attrName>
                                        </p:attrNameLst>
                                      </p:cBhvr>
                                      <p:to>
                                        <p:strVal val="visible"/>
                                      </p:to>
                                    </p:set>
                                    <p:animEffect transition="in" filter="dissolve">
                                      <p:cBhvr>
                                        <p:cTn id="40" dur="500"/>
                                        <p:tgtEl>
                                          <p:spTgt spid="801"/>
                                        </p:tgtEl>
                                      </p:cBhvr>
                                    </p:animEffect>
                                  </p:childTnLst>
                                </p:cTn>
                              </p:par>
                              <p:par>
                                <p:cTn id="41" presetID="9" presetClass="exit" presetSubtype="0" fill="hold" grpId="1" nodeType="withEffect">
                                  <p:stCondLst>
                                    <p:cond delay="0"/>
                                  </p:stCondLst>
                                  <p:childTnLst>
                                    <p:animEffect transition="out" filter="dissolve">
                                      <p:cBhvr>
                                        <p:cTn id="42" dur="500"/>
                                        <p:tgtEl>
                                          <p:spTgt spid="3"/>
                                        </p:tgtEl>
                                      </p:cBhvr>
                                    </p:animEffect>
                                    <p:set>
                                      <p:cBhvr>
                                        <p:cTn id="43" dur="1" fill="hold">
                                          <p:stCondLst>
                                            <p:cond delay="499"/>
                                          </p:stCondLst>
                                        </p:cTn>
                                        <p:tgtEl>
                                          <p:spTgt spid="3"/>
                                        </p:tgtEl>
                                        <p:attrNameLst>
                                          <p:attrName>style.visibility</p:attrName>
                                        </p:attrNameLst>
                                      </p:cBhvr>
                                      <p:to>
                                        <p:strVal val="hidden"/>
                                      </p:to>
                                    </p:set>
                                  </p:childTnLst>
                                </p:cTn>
                              </p:par>
                              <p:par>
                                <p:cTn id="44" presetID="9" presetClass="entr" presetSubtype="0" fill="hold" nodeType="withEffect">
                                  <p:stCondLst>
                                    <p:cond delay="0"/>
                                  </p:stCondLst>
                                  <p:childTnLst>
                                    <p:set>
                                      <p:cBhvr>
                                        <p:cTn id="45" dur="1" fill="hold">
                                          <p:stCondLst>
                                            <p:cond delay="0"/>
                                          </p:stCondLst>
                                        </p:cTn>
                                        <p:tgtEl>
                                          <p:spTgt spid="1032"/>
                                        </p:tgtEl>
                                        <p:attrNameLst>
                                          <p:attrName>style.visibility</p:attrName>
                                        </p:attrNameLst>
                                      </p:cBhvr>
                                      <p:to>
                                        <p:strVal val="visible"/>
                                      </p:to>
                                    </p:set>
                                    <p:animEffect transition="in" filter="dissolve">
                                      <p:cBhvr>
                                        <p:cTn id="46" dur="500"/>
                                        <p:tgtEl>
                                          <p:spTgt spid="10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3" grpId="0" animBg="1"/>
      <p:bldP spid="3" grpId="1"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88366B7-1FF0-134B-B419-0A5A82710974}"/>
              </a:ext>
            </a:extLst>
          </p:cNvPr>
          <p:cNvSpPr>
            <a:spLocks noGrp="1"/>
          </p:cNvSpPr>
          <p:nvPr>
            <p:ph idx="1"/>
          </p:nvPr>
        </p:nvSpPr>
        <p:spPr>
          <a:xfrm>
            <a:off x="838200" y="1317240"/>
            <a:ext cx="5394571" cy="957996"/>
          </a:xfrm>
        </p:spPr>
        <p:txBody>
          <a:bodyPr/>
          <a:lstStyle/>
          <a:p>
            <a:pPr>
              <a:buSzPct val="75000"/>
            </a:pPr>
            <a:r>
              <a:rPr lang="en-US" altLang="en-US" i="1" dirty="0">
                <a:solidFill>
                  <a:srgbClr val="CC0000"/>
                </a:solidFill>
                <a:ea typeface="ＭＳ Ｐゴシック" panose="020B0600070205080204" pitchFamily="34" charset="-128"/>
                <a:cs typeface="Calibri" panose="020F0502020204030204" pitchFamily="34" charset="0"/>
              </a:rPr>
              <a:t>Internet: “</a:t>
            </a:r>
            <a:r>
              <a:rPr lang="en-US" altLang="ja-JP" dirty="0">
                <a:solidFill>
                  <a:srgbClr val="CC0000"/>
                </a:solidFill>
                <a:ea typeface="ＭＳ Ｐゴシック" panose="020B0600070205080204" pitchFamily="34" charset="-128"/>
                <a:cs typeface="Calibri" panose="020F0502020204030204" pitchFamily="34" charset="0"/>
              </a:rPr>
              <a:t>network of networks”</a:t>
            </a:r>
          </a:p>
          <a:p>
            <a:pPr lvl="1"/>
            <a:r>
              <a:rPr lang="en-US" altLang="en-US" dirty="0">
                <a:ea typeface="Arial" panose="020B0604020202020204" pitchFamily="34" charset="0"/>
                <a:cs typeface="Calibri" panose="020F0502020204030204" pitchFamily="34" charset="0"/>
              </a:rPr>
              <a:t>Interconnected ISPs</a:t>
            </a:r>
          </a:p>
          <a:p>
            <a:pPr marL="0"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The Internet: a “nuts and bolts” view</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5</a:t>
            </a:fld>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grpSp>
        <p:nvGrpSpPr>
          <p:cNvPr id="787" name="Group 786">
            <a:extLst>
              <a:ext uri="{FF2B5EF4-FFF2-40B4-BE49-F238E27FC236}">
                <a16:creationId xmlns:a16="http://schemas.microsoft.com/office/drawing/2014/main" id="{C944F5F4-7AD1-AE48-9769-ABE2F95B5A26}"/>
              </a:ext>
            </a:extLst>
          </p:cNvPr>
          <p:cNvGrpSpPr/>
          <p:nvPr/>
        </p:nvGrpSpPr>
        <p:grpSpPr>
          <a:xfrm>
            <a:off x="7414072" y="1891912"/>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68516" y="3357611"/>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39945" y="3460672"/>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63913" y="5306138"/>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55853" y="4932348"/>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010801" y="5861358"/>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48979" y="5313247"/>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28907" y="5536844"/>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27132" y="5558317"/>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647169" y="6015687"/>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9992875" y="5668575"/>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61" name="Group 60">
            <a:extLst>
              <a:ext uri="{FF2B5EF4-FFF2-40B4-BE49-F238E27FC236}">
                <a16:creationId xmlns:a16="http://schemas.microsoft.com/office/drawing/2014/main" id="{00B1A3B8-3BA8-BE40-9467-4856BB566DE2}"/>
              </a:ext>
            </a:extLst>
          </p:cNvPr>
          <p:cNvGrpSpPr/>
          <p:nvPr/>
        </p:nvGrpSpPr>
        <p:grpSpPr>
          <a:xfrm>
            <a:off x="903234" y="2211213"/>
            <a:ext cx="5467985" cy="3728445"/>
            <a:chOff x="903234" y="2258690"/>
            <a:chExt cx="5467985" cy="3388633"/>
          </a:xfrm>
        </p:grpSpPr>
        <p:sp>
          <p:nvSpPr>
            <p:cNvPr id="609" name="Content Placeholder 2">
              <a:extLst>
                <a:ext uri="{FF2B5EF4-FFF2-40B4-BE49-F238E27FC236}">
                  <a16:creationId xmlns:a16="http://schemas.microsoft.com/office/drawing/2014/main" id="{2BC3B19B-09E2-1747-9154-87E1DFE72365}"/>
                </a:ext>
              </a:extLst>
            </p:cNvPr>
            <p:cNvSpPr txBox="1">
              <a:spLocks/>
            </p:cNvSpPr>
            <p:nvPr/>
          </p:nvSpPr>
          <p:spPr>
            <a:xfrm>
              <a:off x="903234" y="2258690"/>
              <a:ext cx="5394571" cy="1658665"/>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75000"/>
              </a:pPr>
              <a:r>
                <a:rPr lang="en-US" altLang="en-US" i="1" dirty="0">
                  <a:solidFill>
                    <a:srgbClr val="CC0000"/>
                  </a:solidFill>
                  <a:ea typeface="ＭＳ Ｐゴシック" panose="020B0600070205080204" pitchFamily="34" charset="-128"/>
                  <a:cs typeface="Calibri" panose="020F0502020204030204" pitchFamily="34" charset="0"/>
                </a:rPr>
                <a:t>protocols</a:t>
              </a:r>
              <a:r>
                <a:rPr lang="en-US" altLang="en-US" dirty="0">
                  <a:solidFill>
                    <a:srgbClr val="FF0000"/>
                  </a:solidFill>
                  <a:ea typeface="ＭＳ Ｐゴシック" panose="020B0600070205080204" pitchFamily="34" charset="-128"/>
                  <a:cs typeface="Calibri" panose="020F0502020204030204" pitchFamily="34" charset="0"/>
                </a:rPr>
                <a:t> </a:t>
              </a:r>
              <a:r>
                <a:rPr lang="en-US" altLang="en-US" dirty="0">
                  <a:ea typeface="ＭＳ Ｐゴシック" panose="020B0600070205080204" pitchFamily="34" charset="-128"/>
                  <a:cs typeface="Calibri" panose="020F0502020204030204" pitchFamily="34" charset="0"/>
                </a:rPr>
                <a:t>are </a:t>
              </a:r>
              <a:r>
                <a:rPr lang="en-US" altLang="en-US" i="1" dirty="0">
                  <a:ea typeface="ＭＳ Ｐゴシック" panose="020B0600070205080204" pitchFamily="34" charset="-128"/>
                  <a:cs typeface="Calibri" panose="020F0502020204030204" pitchFamily="34" charset="0"/>
                </a:rPr>
                <a:t>everywhere</a:t>
              </a:r>
            </a:p>
            <a:p>
              <a:pPr lvl="1">
                <a:buSzPct val="75000"/>
              </a:pPr>
              <a:r>
                <a:rPr lang="en-US" altLang="en-US" dirty="0">
                  <a:ea typeface="ＭＳ Ｐゴシック" panose="020B0600070205080204" pitchFamily="34" charset="-128"/>
                  <a:cs typeface="Calibri" panose="020F0502020204030204" pitchFamily="34" charset="0"/>
                </a:rPr>
                <a:t>control sending, receiving of messages</a:t>
              </a:r>
            </a:p>
            <a:p>
              <a:pPr lvl="1"/>
              <a:r>
                <a:rPr lang="en-US" altLang="en-US" dirty="0">
                  <a:ea typeface="Arial" panose="020B0604020202020204" pitchFamily="34" charset="0"/>
                  <a:cs typeface="Calibri" panose="020F0502020204030204" pitchFamily="34" charset="0"/>
                </a:rPr>
                <a:t>e.g., HTTP (Web), streaming video, Skype, TCP, IP, </a:t>
              </a:r>
              <a:r>
                <a:rPr lang="en-US" altLang="en-US" dirty="0" err="1">
                  <a:ea typeface="Arial" panose="020B0604020202020204" pitchFamily="34" charset="0"/>
                  <a:cs typeface="Calibri" panose="020F0502020204030204" pitchFamily="34" charset="0"/>
                </a:rPr>
                <a:t>WiFi</a:t>
              </a:r>
              <a:r>
                <a:rPr lang="en-US" altLang="en-US" dirty="0">
                  <a:ea typeface="Arial" panose="020B0604020202020204" pitchFamily="34" charset="0"/>
                  <a:cs typeface="Calibri" panose="020F0502020204030204" pitchFamily="34" charset="0"/>
                </a:rPr>
                <a:t>, 4G, Ethernet</a:t>
              </a:r>
              <a:endParaRPr lang="en-US" altLang="en-US" sz="2800" dirty="0">
                <a:ea typeface="Arial" panose="020B0604020202020204" pitchFamily="34" charset="0"/>
                <a:cs typeface="Calibri" panose="020F0502020204030204" pitchFamily="34" charset="0"/>
              </a:endParaRPr>
            </a:p>
            <a:p>
              <a:pPr marL="0" indent="0">
                <a:buFont typeface="Wingdings" pitchFamily="2" charset="2"/>
                <a:buNone/>
              </a:pPr>
              <a:endParaRPr lang="en-US" dirty="0"/>
            </a:p>
          </p:txBody>
        </p:sp>
        <p:sp>
          <p:nvSpPr>
            <p:cNvPr id="610" name="Content Placeholder 2">
              <a:extLst>
                <a:ext uri="{FF2B5EF4-FFF2-40B4-BE49-F238E27FC236}">
                  <a16:creationId xmlns:a16="http://schemas.microsoft.com/office/drawing/2014/main" id="{E555BFB4-FB8B-A747-972A-566DF9A79370}"/>
                </a:ext>
              </a:extLst>
            </p:cNvPr>
            <p:cNvSpPr txBox="1">
              <a:spLocks/>
            </p:cNvSpPr>
            <p:nvPr/>
          </p:nvSpPr>
          <p:spPr>
            <a:xfrm>
              <a:off x="976648" y="3949219"/>
              <a:ext cx="5394571" cy="169810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75000"/>
              </a:pPr>
              <a:r>
                <a:rPr lang="en-US" altLang="en-US" i="1" dirty="0">
                  <a:solidFill>
                    <a:srgbClr val="C00000"/>
                  </a:solidFill>
                  <a:ea typeface="ＭＳ Ｐゴシック" panose="020B0600070205080204" pitchFamily="34" charset="-128"/>
                  <a:cs typeface="Calibri" panose="020F0502020204030204" pitchFamily="34" charset="0"/>
                </a:rPr>
                <a:t>Internet  standards</a:t>
              </a:r>
            </a:p>
            <a:p>
              <a:pPr lvl="1"/>
              <a:r>
                <a:rPr lang="en-US" altLang="en-US" dirty="0">
                  <a:ea typeface="Arial" panose="020B0604020202020204" pitchFamily="34" charset="0"/>
                  <a:cs typeface="Calibri" panose="020F0502020204030204" pitchFamily="34" charset="0"/>
                </a:rPr>
                <a:t>RFC: Request for Comments</a:t>
              </a:r>
            </a:p>
            <a:p>
              <a:pPr lvl="1"/>
              <a:r>
                <a:rPr lang="en-US" altLang="en-US" dirty="0">
                  <a:ea typeface="Arial" panose="020B0604020202020204" pitchFamily="34" charset="0"/>
                  <a:cs typeface="Calibri" panose="020F0502020204030204" pitchFamily="34" charset="0"/>
                </a:rPr>
                <a:t>IETF: Internet Engineering Task Force</a:t>
              </a:r>
            </a:p>
            <a:p>
              <a:pPr marL="0" indent="0">
                <a:buFont typeface="Wingdings" pitchFamily="2" charset="2"/>
                <a:buNone/>
              </a:pPr>
              <a:endParaRPr lang="en-US" dirty="0"/>
            </a:p>
          </p:txBody>
        </p:sp>
      </p:grpSp>
      <p:grpSp>
        <p:nvGrpSpPr>
          <p:cNvPr id="15" name="Group 14">
            <a:extLst>
              <a:ext uri="{FF2B5EF4-FFF2-40B4-BE49-F238E27FC236}">
                <a16:creationId xmlns:a16="http://schemas.microsoft.com/office/drawing/2014/main" id="{EF538D7F-D092-0B46-9D93-497135430F9C}"/>
              </a:ext>
            </a:extLst>
          </p:cNvPr>
          <p:cNvGrpSpPr/>
          <p:nvPr/>
        </p:nvGrpSpPr>
        <p:grpSpPr>
          <a:xfrm>
            <a:off x="6860324" y="4962204"/>
            <a:ext cx="1547658" cy="518734"/>
            <a:chOff x="6860324" y="4962204"/>
            <a:chExt cx="1547658" cy="518734"/>
          </a:xfrm>
        </p:grpSpPr>
        <p:cxnSp>
          <p:nvCxnSpPr>
            <p:cNvPr id="5" name="Straight Connector 4">
              <a:extLst>
                <a:ext uri="{FF2B5EF4-FFF2-40B4-BE49-F238E27FC236}">
                  <a16:creationId xmlns:a16="http://schemas.microsoft.com/office/drawing/2014/main" id="{0CCA2A64-0E06-F545-9FC0-961CFBCC86F8}"/>
                </a:ext>
              </a:extLst>
            </p:cNvPr>
            <p:cNvCxnSpPr>
              <a:cxnSpLocks/>
            </p:cNvCxnSpPr>
            <p:nvPr/>
          </p:nvCxnSpPr>
          <p:spPr>
            <a:xfrm flipH="1">
              <a:off x="7968718" y="5327774"/>
              <a:ext cx="439264" cy="153164"/>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ED9BBA3E-BB93-084A-B9DE-C031B991FC2B}"/>
                </a:ext>
              </a:extLst>
            </p:cNvPr>
            <p:cNvSpPr txBox="1"/>
            <p:nvPr/>
          </p:nvSpPr>
          <p:spPr>
            <a:xfrm>
              <a:off x="6860324" y="4962204"/>
              <a:ext cx="912109" cy="338554"/>
            </a:xfrm>
            <a:prstGeom prst="rect">
              <a:avLst/>
            </a:prstGeom>
            <a:noFill/>
          </p:spPr>
          <p:txBody>
            <a:bodyPr wrap="none" rtlCol="0">
              <a:spAutoFit/>
            </a:bodyPr>
            <a:lstStyle/>
            <a:p>
              <a:r>
                <a:rPr lang="en-US" sz="1600" i="1" dirty="0">
                  <a:solidFill>
                    <a:srgbClr val="C00000"/>
                  </a:solidFill>
                </a:rPr>
                <a:t>Ethernet</a:t>
              </a:r>
              <a:endParaRPr lang="en-US" i="1" dirty="0">
                <a:solidFill>
                  <a:srgbClr val="C00000"/>
                </a:solidFill>
              </a:endParaRPr>
            </a:p>
          </p:txBody>
        </p:sp>
        <p:cxnSp>
          <p:nvCxnSpPr>
            <p:cNvPr id="11" name="Straight Connector 10">
              <a:extLst>
                <a:ext uri="{FF2B5EF4-FFF2-40B4-BE49-F238E27FC236}">
                  <a16:creationId xmlns:a16="http://schemas.microsoft.com/office/drawing/2014/main" id="{1E38A1FD-ACE2-5F42-9B08-5B2D9CEBC672}"/>
                </a:ext>
              </a:extLst>
            </p:cNvPr>
            <p:cNvCxnSpPr>
              <a:cxnSpLocks/>
            </p:cNvCxnSpPr>
            <p:nvPr/>
          </p:nvCxnSpPr>
          <p:spPr>
            <a:xfrm>
              <a:off x="7704138" y="5144424"/>
              <a:ext cx="470403" cy="21674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091E281-A56A-C34A-A030-5A236D4E586A}"/>
              </a:ext>
            </a:extLst>
          </p:cNvPr>
          <p:cNvGrpSpPr/>
          <p:nvPr/>
        </p:nvGrpSpPr>
        <p:grpSpPr>
          <a:xfrm>
            <a:off x="7562720" y="3698398"/>
            <a:ext cx="3589569" cy="1371857"/>
            <a:chOff x="7562720" y="3668418"/>
            <a:chExt cx="3589569" cy="1371857"/>
          </a:xfrm>
        </p:grpSpPr>
        <p:cxnSp>
          <p:nvCxnSpPr>
            <p:cNvPr id="612" name="Straight Connector 611">
              <a:extLst>
                <a:ext uri="{FF2B5EF4-FFF2-40B4-BE49-F238E27FC236}">
                  <a16:creationId xmlns:a16="http://schemas.microsoft.com/office/drawing/2014/main" id="{45AD7D7E-22F3-B04F-B8D9-3DB14B4EB528}"/>
                </a:ext>
              </a:extLst>
            </p:cNvPr>
            <p:cNvCxnSpPr>
              <a:cxnSpLocks/>
            </p:cNvCxnSpPr>
            <p:nvPr/>
          </p:nvCxnSpPr>
          <p:spPr>
            <a:xfrm flipH="1">
              <a:off x="8285300" y="3668418"/>
              <a:ext cx="2866989" cy="1371857"/>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13" name="TextBox 612">
              <a:extLst>
                <a:ext uri="{FF2B5EF4-FFF2-40B4-BE49-F238E27FC236}">
                  <a16:creationId xmlns:a16="http://schemas.microsoft.com/office/drawing/2014/main" id="{1E2ACEB7-973B-E046-843B-EB2B7621639C}"/>
                </a:ext>
              </a:extLst>
            </p:cNvPr>
            <p:cNvSpPr txBox="1"/>
            <p:nvPr/>
          </p:nvSpPr>
          <p:spPr>
            <a:xfrm>
              <a:off x="7562720" y="4539626"/>
              <a:ext cx="620363" cy="338554"/>
            </a:xfrm>
            <a:prstGeom prst="rect">
              <a:avLst/>
            </a:prstGeom>
            <a:noFill/>
          </p:spPr>
          <p:txBody>
            <a:bodyPr wrap="none" rtlCol="0">
              <a:spAutoFit/>
            </a:bodyPr>
            <a:lstStyle/>
            <a:p>
              <a:r>
                <a:rPr lang="en-US" sz="1600" i="1" dirty="0">
                  <a:solidFill>
                    <a:srgbClr val="C00000"/>
                  </a:solidFill>
                </a:rPr>
                <a:t>HTTP</a:t>
              </a:r>
              <a:endParaRPr lang="en-US" i="1" dirty="0">
                <a:solidFill>
                  <a:srgbClr val="C00000"/>
                </a:solidFill>
              </a:endParaRPr>
            </a:p>
          </p:txBody>
        </p:sp>
        <p:cxnSp>
          <p:nvCxnSpPr>
            <p:cNvPr id="614" name="Straight Connector 613">
              <a:extLst>
                <a:ext uri="{FF2B5EF4-FFF2-40B4-BE49-F238E27FC236}">
                  <a16:creationId xmlns:a16="http://schemas.microsoft.com/office/drawing/2014/main" id="{37BB92CD-AD73-F344-953E-3EFDD2781945}"/>
                </a:ext>
              </a:extLst>
            </p:cNvPr>
            <p:cNvCxnSpPr>
              <a:cxnSpLocks/>
            </p:cNvCxnSpPr>
            <p:nvPr/>
          </p:nvCxnSpPr>
          <p:spPr>
            <a:xfrm>
              <a:off x="8099825" y="4723687"/>
              <a:ext cx="402218" cy="115861"/>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75BE2CBD-8554-CF42-81E0-EE46D8DE60ED}"/>
              </a:ext>
            </a:extLst>
          </p:cNvPr>
          <p:cNvGrpSpPr/>
          <p:nvPr/>
        </p:nvGrpSpPr>
        <p:grpSpPr>
          <a:xfrm>
            <a:off x="6371219" y="2787535"/>
            <a:ext cx="1271296" cy="663792"/>
            <a:chOff x="6371219" y="2787535"/>
            <a:chExt cx="1271296" cy="663792"/>
          </a:xfrm>
        </p:grpSpPr>
        <p:cxnSp>
          <p:nvCxnSpPr>
            <p:cNvPr id="632" name="Straight Connector 631">
              <a:extLst>
                <a:ext uri="{FF2B5EF4-FFF2-40B4-BE49-F238E27FC236}">
                  <a16:creationId xmlns:a16="http://schemas.microsoft.com/office/drawing/2014/main" id="{DE526F1B-649C-344E-8FAB-A9478EF8DA65}"/>
                </a:ext>
              </a:extLst>
            </p:cNvPr>
            <p:cNvCxnSpPr>
              <a:cxnSpLocks/>
              <a:endCxn id="91" idx="0"/>
            </p:cNvCxnSpPr>
            <p:nvPr/>
          </p:nvCxnSpPr>
          <p:spPr>
            <a:xfrm>
              <a:off x="7631020" y="2787535"/>
              <a:ext cx="11495" cy="663792"/>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33" name="TextBox 632">
              <a:extLst>
                <a:ext uri="{FF2B5EF4-FFF2-40B4-BE49-F238E27FC236}">
                  <a16:creationId xmlns:a16="http://schemas.microsoft.com/office/drawing/2014/main" id="{B4A890F6-DD55-B341-BDF4-AF2E70A3CC15}"/>
                </a:ext>
              </a:extLst>
            </p:cNvPr>
            <p:cNvSpPr txBox="1"/>
            <p:nvPr/>
          </p:nvSpPr>
          <p:spPr>
            <a:xfrm>
              <a:off x="6371219" y="2944679"/>
              <a:ext cx="665567" cy="338554"/>
            </a:xfrm>
            <a:prstGeom prst="rect">
              <a:avLst/>
            </a:prstGeom>
            <a:noFill/>
          </p:spPr>
          <p:txBody>
            <a:bodyPr wrap="none" rtlCol="0">
              <a:spAutoFit/>
            </a:bodyPr>
            <a:lstStyle/>
            <a:p>
              <a:r>
                <a:rPr lang="en-US" sz="1600" i="1" dirty="0">
                  <a:solidFill>
                    <a:srgbClr val="C00000"/>
                  </a:solidFill>
                </a:rPr>
                <a:t>Skype</a:t>
              </a:r>
              <a:endParaRPr lang="en-US" i="1" dirty="0">
                <a:solidFill>
                  <a:srgbClr val="C00000"/>
                </a:solidFill>
              </a:endParaRPr>
            </a:p>
          </p:txBody>
        </p:sp>
        <p:cxnSp>
          <p:nvCxnSpPr>
            <p:cNvPr id="634" name="Straight Connector 633">
              <a:extLst>
                <a:ext uri="{FF2B5EF4-FFF2-40B4-BE49-F238E27FC236}">
                  <a16:creationId xmlns:a16="http://schemas.microsoft.com/office/drawing/2014/main" id="{967D0F28-333C-D24F-9D2D-61124A38416B}"/>
                </a:ext>
              </a:extLst>
            </p:cNvPr>
            <p:cNvCxnSpPr>
              <a:cxnSpLocks/>
            </p:cNvCxnSpPr>
            <p:nvPr/>
          </p:nvCxnSpPr>
          <p:spPr>
            <a:xfrm>
              <a:off x="6973411" y="3119431"/>
              <a:ext cx="559043"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FD6F349B-89A1-1F4D-9830-6378C687F92A}"/>
              </a:ext>
            </a:extLst>
          </p:cNvPr>
          <p:cNvGrpSpPr/>
          <p:nvPr/>
        </p:nvGrpSpPr>
        <p:grpSpPr>
          <a:xfrm>
            <a:off x="9335579" y="2816377"/>
            <a:ext cx="675986" cy="552257"/>
            <a:chOff x="6710761" y="2934593"/>
            <a:chExt cx="675986" cy="552257"/>
          </a:xfrm>
        </p:grpSpPr>
        <p:cxnSp>
          <p:nvCxnSpPr>
            <p:cNvPr id="636" name="Straight Connector 635">
              <a:extLst>
                <a:ext uri="{FF2B5EF4-FFF2-40B4-BE49-F238E27FC236}">
                  <a16:creationId xmlns:a16="http://schemas.microsoft.com/office/drawing/2014/main" id="{38988E68-C8D7-1041-AEC2-7701BE5D1028}"/>
                </a:ext>
              </a:extLst>
            </p:cNvPr>
            <p:cNvCxnSpPr>
              <a:cxnSpLocks/>
            </p:cNvCxnSpPr>
            <p:nvPr/>
          </p:nvCxnSpPr>
          <p:spPr>
            <a:xfrm flipH="1">
              <a:off x="7084556" y="2978118"/>
              <a:ext cx="302191" cy="508732"/>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37" name="TextBox 636">
              <a:extLst>
                <a:ext uri="{FF2B5EF4-FFF2-40B4-BE49-F238E27FC236}">
                  <a16:creationId xmlns:a16="http://schemas.microsoft.com/office/drawing/2014/main" id="{A6C4F23A-36F1-5E47-94EF-BAE3479A332E}"/>
                </a:ext>
              </a:extLst>
            </p:cNvPr>
            <p:cNvSpPr txBox="1"/>
            <p:nvPr/>
          </p:nvSpPr>
          <p:spPr>
            <a:xfrm>
              <a:off x="6710761" y="2934593"/>
              <a:ext cx="341760" cy="338554"/>
            </a:xfrm>
            <a:prstGeom prst="rect">
              <a:avLst/>
            </a:prstGeom>
            <a:noFill/>
          </p:spPr>
          <p:txBody>
            <a:bodyPr wrap="none" rtlCol="0">
              <a:spAutoFit/>
            </a:bodyPr>
            <a:lstStyle/>
            <a:p>
              <a:r>
                <a:rPr lang="en-US" sz="1600" i="1" dirty="0">
                  <a:solidFill>
                    <a:srgbClr val="C00000"/>
                  </a:solidFill>
                </a:rPr>
                <a:t>IP</a:t>
              </a:r>
              <a:endParaRPr lang="en-US" i="1" dirty="0">
                <a:solidFill>
                  <a:srgbClr val="C00000"/>
                </a:solidFill>
              </a:endParaRPr>
            </a:p>
          </p:txBody>
        </p:sp>
        <p:cxnSp>
          <p:nvCxnSpPr>
            <p:cNvPr id="638" name="Straight Connector 637">
              <a:extLst>
                <a:ext uri="{FF2B5EF4-FFF2-40B4-BE49-F238E27FC236}">
                  <a16:creationId xmlns:a16="http://schemas.microsoft.com/office/drawing/2014/main" id="{40A312C7-3E2E-8F40-B008-F9AB8292FEA3}"/>
                </a:ext>
              </a:extLst>
            </p:cNvPr>
            <p:cNvCxnSpPr>
              <a:cxnSpLocks/>
            </p:cNvCxnSpPr>
            <p:nvPr/>
          </p:nvCxnSpPr>
          <p:spPr>
            <a:xfrm>
              <a:off x="6973411" y="3119431"/>
              <a:ext cx="262240"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39" name="Group 638">
            <a:extLst>
              <a:ext uri="{FF2B5EF4-FFF2-40B4-BE49-F238E27FC236}">
                <a16:creationId xmlns:a16="http://schemas.microsoft.com/office/drawing/2014/main" id="{A0B59F70-E34B-7A47-8095-6CB4A425440B}"/>
              </a:ext>
            </a:extLst>
          </p:cNvPr>
          <p:cNvGrpSpPr/>
          <p:nvPr/>
        </p:nvGrpSpPr>
        <p:grpSpPr>
          <a:xfrm>
            <a:off x="9064971" y="5697822"/>
            <a:ext cx="554960" cy="927829"/>
            <a:chOff x="6934147" y="3177198"/>
            <a:chExt cx="554960" cy="927829"/>
          </a:xfrm>
        </p:grpSpPr>
        <p:cxnSp>
          <p:nvCxnSpPr>
            <p:cNvPr id="640" name="Straight Connector 639">
              <a:extLst>
                <a:ext uri="{FF2B5EF4-FFF2-40B4-BE49-F238E27FC236}">
                  <a16:creationId xmlns:a16="http://schemas.microsoft.com/office/drawing/2014/main" id="{7CF95D26-9671-0C42-8E8C-4CE179CE7B74}"/>
                </a:ext>
              </a:extLst>
            </p:cNvPr>
            <p:cNvCxnSpPr>
              <a:cxnSpLocks/>
            </p:cNvCxnSpPr>
            <p:nvPr/>
          </p:nvCxnSpPr>
          <p:spPr>
            <a:xfrm flipH="1">
              <a:off x="7091527" y="3177198"/>
              <a:ext cx="204850" cy="289979"/>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41" name="TextBox 640">
              <a:extLst>
                <a:ext uri="{FF2B5EF4-FFF2-40B4-BE49-F238E27FC236}">
                  <a16:creationId xmlns:a16="http://schemas.microsoft.com/office/drawing/2014/main" id="{99BE214C-A081-5541-8D5F-AB06808F8378}"/>
                </a:ext>
              </a:extLst>
            </p:cNvPr>
            <p:cNvSpPr txBox="1"/>
            <p:nvPr/>
          </p:nvSpPr>
          <p:spPr>
            <a:xfrm>
              <a:off x="6934147" y="3766473"/>
              <a:ext cx="554960" cy="338554"/>
            </a:xfrm>
            <a:prstGeom prst="rect">
              <a:avLst/>
            </a:prstGeom>
            <a:noFill/>
          </p:spPr>
          <p:txBody>
            <a:bodyPr wrap="none" rtlCol="0">
              <a:spAutoFit/>
            </a:bodyPr>
            <a:lstStyle/>
            <a:p>
              <a:r>
                <a:rPr lang="en-US" sz="1600" i="1" dirty="0" err="1">
                  <a:solidFill>
                    <a:srgbClr val="C00000"/>
                  </a:solidFill>
                </a:rPr>
                <a:t>WiFi</a:t>
              </a:r>
              <a:endParaRPr lang="en-US" i="1" dirty="0">
                <a:solidFill>
                  <a:srgbClr val="C00000"/>
                </a:solidFill>
              </a:endParaRPr>
            </a:p>
          </p:txBody>
        </p:sp>
        <p:cxnSp>
          <p:nvCxnSpPr>
            <p:cNvPr id="642" name="Straight Connector 641">
              <a:extLst>
                <a:ext uri="{FF2B5EF4-FFF2-40B4-BE49-F238E27FC236}">
                  <a16:creationId xmlns:a16="http://schemas.microsoft.com/office/drawing/2014/main" id="{8DD32BFA-CE2F-B048-B320-A046B7A403E7}"/>
                </a:ext>
              </a:extLst>
            </p:cNvPr>
            <p:cNvCxnSpPr>
              <a:cxnSpLocks/>
            </p:cNvCxnSpPr>
            <p:nvPr/>
          </p:nvCxnSpPr>
          <p:spPr>
            <a:xfrm flipV="1">
              <a:off x="7230890" y="3377014"/>
              <a:ext cx="1" cy="45078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43" name="Group 642">
            <a:extLst>
              <a:ext uri="{FF2B5EF4-FFF2-40B4-BE49-F238E27FC236}">
                <a16:creationId xmlns:a16="http://schemas.microsoft.com/office/drawing/2014/main" id="{1965E68E-3EF0-9445-A466-1B0BCA9A0A95}"/>
              </a:ext>
            </a:extLst>
          </p:cNvPr>
          <p:cNvGrpSpPr/>
          <p:nvPr/>
        </p:nvGrpSpPr>
        <p:grpSpPr>
          <a:xfrm>
            <a:off x="8229600" y="1604463"/>
            <a:ext cx="1050146" cy="671367"/>
            <a:chOff x="7375489" y="2684454"/>
            <a:chExt cx="1050146" cy="671367"/>
          </a:xfrm>
        </p:grpSpPr>
        <p:cxnSp>
          <p:nvCxnSpPr>
            <p:cNvPr id="644" name="Straight Connector 643">
              <a:extLst>
                <a:ext uri="{FF2B5EF4-FFF2-40B4-BE49-F238E27FC236}">
                  <a16:creationId xmlns:a16="http://schemas.microsoft.com/office/drawing/2014/main" id="{70102BD4-D7CF-EA44-B451-F173BE4D5BC5}"/>
                </a:ext>
              </a:extLst>
            </p:cNvPr>
            <p:cNvCxnSpPr>
              <a:cxnSpLocks/>
            </p:cNvCxnSpPr>
            <p:nvPr/>
          </p:nvCxnSpPr>
          <p:spPr>
            <a:xfrm flipV="1">
              <a:off x="7375489" y="3222818"/>
              <a:ext cx="628291" cy="133003"/>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45" name="TextBox 644">
              <a:extLst>
                <a:ext uri="{FF2B5EF4-FFF2-40B4-BE49-F238E27FC236}">
                  <a16:creationId xmlns:a16="http://schemas.microsoft.com/office/drawing/2014/main" id="{C50489E1-DD07-B045-9B42-9681020DCB49}"/>
                </a:ext>
              </a:extLst>
            </p:cNvPr>
            <p:cNvSpPr txBox="1"/>
            <p:nvPr/>
          </p:nvSpPr>
          <p:spPr>
            <a:xfrm>
              <a:off x="8006931" y="2684454"/>
              <a:ext cx="418704" cy="338554"/>
            </a:xfrm>
            <a:prstGeom prst="rect">
              <a:avLst/>
            </a:prstGeom>
            <a:noFill/>
          </p:spPr>
          <p:txBody>
            <a:bodyPr wrap="none" rtlCol="0">
              <a:spAutoFit/>
            </a:bodyPr>
            <a:lstStyle/>
            <a:p>
              <a:r>
                <a:rPr lang="en-US" sz="1600" i="1" dirty="0">
                  <a:solidFill>
                    <a:srgbClr val="C00000"/>
                  </a:solidFill>
                </a:rPr>
                <a:t>4G</a:t>
              </a:r>
              <a:endParaRPr lang="en-US" i="1" dirty="0">
                <a:solidFill>
                  <a:srgbClr val="C00000"/>
                </a:solidFill>
              </a:endParaRPr>
            </a:p>
          </p:txBody>
        </p:sp>
        <p:cxnSp>
          <p:nvCxnSpPr>
            <p:cNvPr id="646" name="Straight Connector 645">
              <a:extLst>
                <a:ext uri="{FF2B5EF4-FFF2-40B4-BE49-F238E27FC236}">
                  <a16:creationId xmlns:a16="http://schemas.microsoft.com/office/drawing/2014/main" id="{3B8E874C-0A2E-C546-9A26-12BBEB875B0D}"/>
                </a:ext>
              </a:extLst>
            </p:cNvPr>
            <p:cNvCxnSpPr>
              <a:cxnSpLocks/>
              <a:stCxn id="48" idx="1"/>
            </p:cNvCxnSpPr>
            <p:nvPr/>
          </p:nvCxnSpPr>
          <p:spPr>
            <a:xfrm flipV="1">
              <a:off x="7620426" y="2864310"/>
              <a:ext cx="430426" cy="44896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47" name="Group 646">
            <a:extLst>
              <a:ext uri="{FF2B5EF4-FFF2-40B4-BE49-F238E27FC236}">
                <a16:creationId xmlns:a16="http://schemas.microsoft.com/office/drawing/2014/main" id="{9278791A-6408-FE49-97C8-366AE865D0FC}"/>
              </a:ext>
            </a:extLst>
          </p:cNvPr>
          <p:cNvGrpSpPr/>
          <p:nvPr/>
        </p:nvGrpSpPr>
        <p:grpSpPr>
          <a:xfrm>
            <a:off x="10484543" y="4543615"/>
            <a:ext cx="1037942" cy="1262658"/>
            <a:chOff x="6559961" y="3177198"/>
            <a:chExt cx="1037942" cy="1262658"/>
          </a:xfrm>
        </p:grpSpPr>
        <p:cxnSp>
          <p:nvCxnSpPr>
            <p:cNvPr id="648" name="Straight Connector 647">
              <a:extLst>
                <a:ext uri="{FF2B5EF4-FFF2-40B4-BE49-F238E27FC236}">
                  <a16:creationId xmlns:a16="http://schemas.microsoft.com/office/drawing/2014/main" id="{54518172-05CD-6E4B-96A3-5AE490F57D81}"/>
                </a:ext>
              </a:extLst>
            </p:cNvPr>
            <p:cNvCxnSpPr>
              <a:cxnSpLocks/>
            </p:cNvCxnSpPr>
            <p:nvPr/>
          </p:nvCxnSpPr>
          <p:spPr>
            <a:xfrm flipH="1">
              <a:off x="6559961" y="3177198"/>
              <a:ext cx="736416" cy="894404"/>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49" name="TextBox 648">
              <a:extLst>
                <a:ext uri="{FF2B5EF4-FFF2-40B4-BE49-F238E27FC236}">
                  <a16:creationId xmlns:a16="http://schemas.microsoft.com/office/drawing/2014/main" id="{4B6916C7-17C2-0043-9CA5-2291C94B8E33}"/>
                </a:ext>
              </a:extLst>
            </p:cNvPr>
            <p:cNvSpPr txBox="1"/>
            <p:nvPr/>
          </p:nvSpPr>
          <p:spPr>
            <a:xfrm>
              <a:off x="7104370" y="4101302"/>
              <a:ext cx="493533" cy="338554"/>
            </a:xfrm>
            <a:prstGeom prst="rect">
              <a:avLst/>
            </a:prstGeom>
            <a:noFill/>
          </p:spPr>
          <p:txBody>
            <a:bodyPr wrap="none" rtlCol="0">
              <a:spAutoFit/>
            </a:bodyPr>
            <a:lstStyle/>
            <a:p>
              <a:r>
                <a:rPr lang="en-US" sz="1600" i="1" dirty="0">
                  <a:solidFill>
                    <a:srgbClr val="C00000"/>
                  </a:solidFill>
                </a:rPr>
                <a:t>TCP</a:t>
              </a:r>
              <a:endParaRPr lang="en-US" i="1" dirty="0">
                <a:solidFill>
                  <a:srgbClr val="C00000"/>
                </a:solidFill>
              </a:endParaRPr>
            </a:p>
          </p:txBody>
        </p:sp>
        <p:cxnSp>
          <p:nvCxnSpPr>
            <p:cNvPr id="650" name="Straight Connector 649">
              <a:extLst>
                <a:ext uri="{FF2B5EF4-FFF2-40B4-BE49-F238E27FC236}">
                  <a16:creationId xmlns:a16="http://schemas.microsoft.com/office/drawing/2014/main" id="{335A84F3-D0D9-FA40-8F7D-57F594BAB312}"/>
                </a:ext>
              </a:extLst>
            </p:cNvPr>
            <p:cNvCxnSpPr>
              <a:cxnSpLocks/>
            </p:cNvCxnSpPr>
            <p:nvPr/>
          </p:nvCxnSpPr>
          <p:spPr>
            <a:xfrm flipH="1" flipV="1">
              <a:off x="6929789" y="3709511"/>
              <a:ext cx="297918" cy="45078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E364A443-9918-5240-B7CC-82287B806A53}"/>
              </a:ext>
            </a:extLst>
          </p:cNvPr>
          <p:cNvGrpSpPr/>
          <p:nvPr/>
        </p:nvGrpSpPr>
        <p:grpSpPr>
          <a:xfrm>
            <a:off x="9218788" y="2327787"/>
            <a:ext cx="2594095" cy="1025465"/>
            <a:chOff x="9218788" y="2327787"/>
            <a:chExt cx="2594095" cy="1025465"/>
          </a:xfrm>
        </p:grpSpPr>
        <p:cxnSp>
          <p:nvCxnSpPr>
            <p:cNvPr id="652" name="Straight Connector 651">
              <a:extLst>
                <a:ext uri="{FF2B5EF4-FFF2-40B4-BE49-F238E27FC236}">
                  <a16:creationId xmlns:a16="http://schemas.microsoft.com/office/drawing/2014/main" id="{77901D56-40A9-044D-A6DB-ADD17E4B4B0E}"/>
                </a:ext>
              </a:extLst>
            </p:cNvPr>
            <p:cNvCxnSpPr>
              <a:cxnSpLocks/>
            </p:cNvCxnSpPr>
            <p:nvPr/>
          </p:nvCxnSpPr>
          <p:spPr>
            <a:xfrm>
              <a:off x="9218788" y="2327787"/>
              <a:ext cx="1698979" cy="1025465"/>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54" name="TextBox 653">
              <a:extLst>
                <a:ext uri="{FF2B5EF4-FFF2-40B4-BE49-F238E27FC236}">
                  <a16:creationId xmlns:a16="http://schemas.microsoft.com/office/drawing/2014/main" id="{AAECF4C4-245B-3B4F-935D-656C1B7C4318}"/>
                </a:ext>
              </a:extLst>
            </p:cNvPr>
            <p:cNvSpPr txBox="1"/>
            <p:nvPr/>
          </p:nvSpPr>
          <p:spPr>
            <a:xfrm>
              <a:off x="10772213" y="2684297"/>
              <a:ext cx="1040670" cy="584775"/>
            </a:xfrm>
            <a:prstGeom prst="rect">
              <a:avLst/>
            </a:prstGeom>
            <a:noFill/>
          </p:spPr>
          <p:txBody>
            <a:bodyPr wrap="none" rtlCol="0">
              <a:spAutoFit/>
            </a:bodyPr>
            <a:lstStyle/>
            <a:p>
              <a:r>
                <a:rPr lang="en-US" sz="1600" i="1" dirty="0">
                  <a:solidFill>
                    <a:srgbClr val="C00000"/>
                  </a:solidFill>
                </a:rPr>
                <a:t>Streaming</a:t>
              </a:r>
            </a:p>
            <a:p>
              <a:r>
                <a:rPr lang="en-US" sz="1600" i="1" dirty="0">
                  <a:solidFill>
                    <a:srgbClr val="C00000"/>
                  </a:solidFill>
                </a:rPr>
                <a:t>video</a:t>
              </a:r>
              <a:endParaRPr lang="en-US" i="1" dirty="0">
                <a:solidFill>
                  <a:srgbClr val="C00000"/>
                </a:solidFill>
              </a:endParaRPr>
            </a:p>
          </p:txBody>
        </p:sp>
        <p:cxnSp>
          <p:nvCxnSpPr>
            <p:cNvPr id="656" name="Straight Connector 655">
              <a:extLst>
                <a:ext uri="{FF2B5EF4-FFF2-40B4-BE49-F238E27FC236}">
                  <a16:creationId xmlns:a16="http://schemas.microsoft.com/office/drawing/2014/main" id="{89160B6B-CFAC-0C4E-AFB5-940C8EF68FD6}"/>
                </a:ext>
              </a:extLst>
            </p:cNvPr>
            <p:cNvCxnSpPr>
              <a:cxnSpLocks/>
            </p:cNvCxnSpPr>
            <p:nvPr/>
          </p:nvCxnSpPr>
          <p:spPr>
            <a:xfrm flipV="1">
              <a:off x="10569552" y="2937299"/>
              <a:ext cx="405322" cy="14757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 name="TextBox 6">
            <a:extLst>
              <a:ext uri="{FF2B5EF4-FFF2-40B4-BE49-F238E27FC236}">
                <a16:creationId xmlns:a16="http://schemas.microsoft.com/office/drawing/2014/main" id="{D0DA0A6F-3DBC-7137-079C-B582430B567C}"/>
              </a:ext>
            </a:extLst>
          </p:cNvPr>
          <p:cNvSpPr txBox="1"/>
          <p:nvPr/>
        </p:nvSpPr>
        <p:spPr>
          <a:xfrm>
            <a:off x="822847" y="5589031"/>
            <a:ext cx="6093372" cy="1200329"/>
          </a:xfrm>
          <a:prstGeom prst="rect">
            <a:avLst/>
          </a:prstGeom>
          <a:noFill/>
        </p:spPr>
        <p:txBody>
          <a:bodyPr wrap="square">
            <a:spAutoFit/>
          </a:bodyPr>
          <a:lstStyle/>
          <a:p>
            <a:pPr>
              <a:lnSpc>
                <a:spcPct val="100000"/>
              </a:lnSpc>
              <a:spcBef>
                <a:spcPct val="0"/>
              </a:spcBef>
              <a:buClrTx/>
              <a:buSzTx/>
              <a:buFont typeface="Arial" panose="020B0604020202020204" pitchFamily="34" charset="0"/>
              <a:buChar char="•"/>
            </a:pPr>
            <a:r>
              <a:rPr lang="en-MY" altLang="en-US" sz="1800" dirty="0">
                <a:latin typeface="Arial" panose="020B0604020202020204" pitchFamily="34" charset="0"/>
              </a:rPr>
              <a:t>All the pieces of the Internet run </a:t>
            </a:r>
            <a:r>
              <a:rPr lang="en-MY" altLang="en-US" sz="1800" i="1" dirty="0">
                <a:solidFill>
                  <a:srgbClr val="C00000"/>
                </a:solidFill>
                <a:latin typeface="Arial" panose="020B0604020202020204" pitchFamily="34" charset="0"/>
              </a:rPr>
              <a:t>protocols</a:t>
            </a:r>
            <a:r>
              <a:rPr lang="en-MY" altLang="en-US" sz="1800" b="1" dirty="0">
                <a:latin typeface="Arial" panose="020B0604020202020204" pitchFamily="34" charset="0"/>
              </a:rPr>
              <a:t> </a:t>
            </a:r>
            <a:r>
              <a:rPr lang="en-MY" altLang="en-US" sz="1800" dirty="0">
                <a:latin typeface="Arial" panose="020B0604020202020204" pitchFamily="34" charset="0"/>
              </a:rPr>
              <a:t>that controls the sending and receiving of information</a:t>
            </a:r>
          </a:p>
          <a:p>
            <a:pPr>
              <a:lnSpc>
                <a:spcPct val="100000"/>
              </a:lnSpc>
              <a:spcBef>
                <a:spcPct val="0"/>
              </a:spcBef>
              <a:buClrTx/>
              <a:buSzTx/>
              <a:buFont typeface="Arial" panose="020B0604020202020204" pitchFamily="34" charset="0"/>
              <a:buChar char="•"/>
            </a:pPr>
            <a:r>
              <a:rPr lang="en-MY" altLang="en-US" sz="1800" dirty="0">
                <a:solidFill>
                  <a:srgbClr val="C00000"/>
                </a:solidFill>
                <a:latin typeface="Arial" panose="020B0604020202020204" pitchFamily="34" charset="0"/>
              </a:rPr>
              <a:t>TCP/IP</a:t>
            </a:r>
            <a:r>
              <a:rPr lang="en-MY" altLang="en-US" sz="1800" b="1" dirty="0">
                <a:latin typeface="Arial" panose="020B0604020202020204" pitchFamily="34" charset="0"/>
              </a:rPr>
              <a:t>  </a:t>
            </a:r>
            <a:r>
              <a:rPr lang="en-MY" altLang="en-US" sz="1800" dirty="0">
                <a:latin typeface="Arial" panose="020B0604020202020204" pitchFamily="34" charset="0"/>
              </a:rPr>
              <a:t>are two of the most important protocols in the Internet</a:t>
            </a:r>
            <a:endParaRPr lang="en-MY" dirty="0"/>
          </a:p>
        </p:txBody>
      </p:sp>
    </p:spTree>
    <p:extLst>
      <p:ext uri="{BB962C8B-B14F-4D97-AF65-F5344CB8AC3E}">
        <p14:creationId xmlns:p14="http://schemas.microsoft.com/office/powerpoint/2010/main" val="178774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9" presetClass="entr" presetSubtype="0" fill="hold"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dissolve">
                                      <p:cBhvr>
                                        <p:cTn id="11" dur="500"/>
                                        <p:tgtEl>
                                          <p:spTgt spid="18"/>
                                        </p:tgtEl>
                                      </p:cBhvr>
                                    </p:animEffect>
                                  </p:childTnLst>
                                </p:cTn>
                              </p:par>
                            </p:childTnLst>
                          </p:cTn>
                        </p:par>
                        <p:par>
                          <p:cTn id="12" fill="hold">
                            <p:stCondLst>
                              <p:cond delay="1500"/>
                            </p:stCondLst>
                            <p:childTnLst>
                              <p:par>
                                <p:cTn id="13" presetID="9" presetClass="entr" presetSubtype="0" fill="hold" nodeType="afterEffect">
                                  <p:stCondLst>
                                    <p:cond delay="500"/>
                                  </p:stCondLst>
                                  <p:childTnLst>
                                    <p:set>
                                      <p:cBhvr>
                                        <p:cTn id="14" dur="1" fill="hold">
                                          <p:stCondLst>
                                            <p:cond delay="0"/>
                                          </p:stCondLst>
                                        </p:cTn>
                                        <p:tgtEl>
                                          <p:spTgt spid="35"/>
                                        </p:tgtEl>
                                        <p:attrNameLst>
                                          <p:attrName>style.visibility</p:attrName>
                                        </p:attrNameLst>
                                      </p:cBhvr>
                                      <p:to>
                                        <p:strVal val="visible"/>
                                      </p:to>
                                    </p:set>
                                    <p:animEffect transition="in" filter="dissolve">
                                      <p:cBhvr>
                                        <p:cTn id="15" dur="500"/>
                                        <p:tgtEl>
                                          <p:spTgt spid="35"/>
                                        </p:tgtEl>
                                      </p:cBhvr>
                                    </p:animEffect>
                                  </p:childTnLst>
                                </p:cTn>
                              </p:par>
                            </p:childTnLst>
                          </p:cTn>
                        </p:par>
                        <p:par>
                          <p:cTn id="16" fill="hold">
                            <p:stCondLst>
                              <p:cond delay="2500"/>
                            </p:stCondLst>
                            <p:childTnLst>
                              <p:par>
                                <p:cTn id="17" presetID="9" presetClass="entr" presetSubtype="0" fill="hold" nodeType="afterEffect">
                                  <p:stCondLst>
                                    <p:cond delay="0"/>
                                  </p:stCondLst>
                                  <p:childTnLst>
                                    <p:set>
                                      <p:cBhvr>
                                        <p:cTn id="18" dur="1" fill="hold">
                                          <p:stCondLst>
                                            <p:cond delay="0"/>
                                          </p:stCondLst>
                                        </p:cTn>
                                        <p:tgtEl>
                                          <p:spTgt spid="64"/>
                                        </p:tgtEl>
                                        <p:attrNameLst>
                                          <p:attrName>style.visibility</p:attrName>
                                        </p:attrNameLst>
                                      </p:cBhvr>
                                      <p:to>
                                        <p:strVal val="visible"/>
                                      </p:to>
                                    </p:set>
                                    <p:animEffect transition="in" filter="dissolve">
                                      <p:cBhvr>
                                        <p:cTn id="19" dur="500"/>
                                        <p:tgtEl>
                                          <p:spTgt spid="64"/>
                                        </p:tgtEl>
                                      </p:cBhvr>
                                    </p:animEffect>
                                  </p:childTnLst>
                                </p:cTn>
                              </p:par>
                            </p:childTnLst>
                          </p:cTn>
                        </p:par>
                        <p:par>
                          <p:cTn id="20" fill="hold">
                            <p:stCondLst>
                              <p:cond delay="3000"/>
                            </p:stCondLst>
                            <p:childTnLst>
                              <p:par>
                                <p:cTn id="21" presetID="9" presetClass="entr" presetSubtype="0" fill="hold" nodeType="afterEffect">
                                  <p:stCondLst>
                                    <p:cond delay="500"/>
                                  </p:stCondLst>
                                  <p:childTnLst>
                                    <p:set>
                                      <p:cBhvr>
                                        <p:cTn id="22" dur="1" fill="hold">
                                          <p:stCondLst>
                                            <p:cond delay="0"/>
                                          </p:stCondLst>
                                        </p:cTn>
                                        <p:tgtEl>
                                          <p:spTgt spid="647"/>
                                        </p:tgtEl>
                                        <p:attrNameLst>
                                          <p:attrName>style.visibility</p:attrName>
                                        </p:attrNameLst>
                                      </p:cBhvr>
                                      <p:to>
                                        <p:strVal val="visible"/>
                                      </p:to>
                                    </p:set>
                                    <p:animEffect transition="in" filter="dissolve">
                                      <p:cBhvr>
                                        <p:cTn id="23" dur="500"/>
                                        <p:tgtEl>
                                          <p:spTgt spid="647"/>
                                        </p:tgtEl>
                                      </p:cBhvr>
                                    </p:animEffect>
                                  </p:childTnLst>
                                </p:cTn>
                              </p:par>
                            </p:childTnLst>
                          </p:cTn>
                        </p:par>
                        <p:par>
                          <p:cTn id="24" fill="hold">
                            <p:stCondLst>
                              <p:cond delay="4000"/>
                            </p:stCondLst>
                            <p:childTnLst>
                              <p:par>
                                <p:cTn id="25" presetID="9" presetClass="entr" presetSubtype="0" fill="hold" nodeType="afterEffect">
                                  <p:stCondLst>
                                    <p:cond delay="500"/>
                                  </p:stCondLst>
                                  <p:childTnLst>
                                    <p:set>
                                      <p:cBhvr>
                                        <p:cTn id="26" dur="1" fill="hold">
                                          <p:stCondLst>
                                            <p:cond delay="0"/>
                                          </p:stCondLst>
                                        </p:cTn>
                                        <p:tgtEl>
                                          <p:spTgt spid="635"/>
                                        </p:tgtEl>
                                        <p:attrNameLst>
                                          <p:attrName>style.visibility</p:attrName>
                                        </p:attrNameLst>
                                      </p:cBhvr>
                                      <p:to>
                                        <p:strVal val="visible"/>
                                      </p:to>
                                    </p:set>
                                    <p:animEffect transition="in" filter="dissolve">
                                      <p:cBhvr>
                                        <p:cTn id="27" dur="500"/>
                                        <p:tgtEl>
                                          <p:spTgt spid="635"/>
                                        </p:tgtEl>
                                      </p:cBhvr>
                                    </p:animEffect>
                                  </p:childTnLst>
                                </p:cTn>
                              </p:par>
                            </p:childTnLst>
                          </p:cTn>
                        </p:par>
                        <p:par>
                          <p:cTn id="28" fill="hold">
                            <p:stCondLst>
                              <p:cond delay="5000"/>
                            </p:stCondLst>
                            <p:childTnLst>
                              <p:par>
                                <p:cTn id="29" presetID="9" presetClass="entr" presetSubtype="0" fill="hold" nodeType="afterEffect">
                                  <p:stCondLst>
                                    <p:cond delay="500"/>
                                  </p:stCondLst>
                                  <p:childTnLst>
                                    <p:set>
                                      <p:cBhvr>
                                        <p:cTn id="30" dur="1" fill="hold">
                                          <p:stCondLst>
                                            <p:cond delay="0"/>
                                          </p:stCondLst>
                                        </p:cTn>
                                        <p:tgtEl>
                                          <p:spTgt spid="639"/>
                                        </p:tgtEl>
                                        <p:attrNameLst>
                                          <p:attrName>style.visibility</p:attrName>
                                        </p:attrNameLst>
                                      </p:cBhvr>
                                      <p:to>
                                        <p:strVal val="visible"/>
                                      </p:to>
                                    </p:set>
                                    <p:animEffect transition="in" filter="dissolve">
                                      <p:cBhvr>
                                        <p:cTn id="31" dur="500"/>
                                        <p:tgtEl>
                                          <p:spTgt spid="639"/>
                                        </p:tgtEl>
                                      </p:cBhvr>
                                    </p:animEffect>
                                  </p:childTnLst>
                                </p:cTn>
                              </p:par>
                            </p:childTnLst>
                          </p:cTn>
                        </p:par>
                        <p:par>
                          <p:cTn id="32" fill="hold">
                            <p:stCondLst>
                              <p:cond delay="6000"/>
                            </p:stCondLst>
                            <p:childTnLst>
                              <p:par>
                                <p:cTn id="33" presetID="9" presetClass="entr" presetSubtype="0" fill="hold" nodeType="afterEffect">
                                  <p:stCondLst>
                                    <p:cond delay="500"/>
                                  </p:stCondLst>
                                  <p:childTnLst>
                                    <p:set>
                                      <p:cBhvr>
                                        <p:cTn id="34" dur="1" fill="hold">
                                          <p:stCondLst>
                                            <p:cond delay="0"/>
                                          </p:stCondLst>
                                        </p:cTn>
                                        <p:tgtEl>
                                          <p:spTgt spid="643"/>
                                        </p:tgtEl>
                                        <p:attrNameLst>
                                          <p:attrName>style.visibility</p:attrName>
                                        </p:attrNameLst>
                                      </p:cBhvr>
                                      <p:to>
                                        <p:strVal val="visible"/>
                                      </p:to>
                                    </p:set>
                                    <p:animEffect transition="in" filter="dissolve">
                                      <p:cBhvr>
                                        <p:cTn id="35" dur="500"/>
                                        <p:tgtEl>
                                          <p:spTgt spid="643"/>
                                        </p:tgtEl>
                                      </p:cBhvr>
                                    </p:animEffect>
                                  </p:childTnLst>
                                </p:cTn>
                              </p:par>
                            </p:childTnLst>
                          </p:cTn>
                        </p:par>
                        <p:par>
                          <p:cTn id="36" fill="hold">
                            <p:stCondLst>
                              <p:cond delay="7000"/>
                            </p:stCondLst>
                            <p:childTnLst>
                              <p:par>
                                <p:cTn id="37" presetID="9" presetClass="entr" presetSubtype="0" fill="hold" nodeType="afterEffect">
                                  <p:stCondLst>
                                    <p:cond delay="500"/>
                                  </p:stCondLst>
                                  <p:childTnLst>
                                    <p:set>
                                      <p:cBhvr>
                                        <p:cTn id="38" dur="1" fill="hold">
                                          <p:stCondLst>
                                            <p:cond delay="0"/>
                                          </p:stCondLst>
                                        </p:cTn>
                                        <p:tgtEl>
                                          <p:spTgt spid="15"/>
                                        </p:tgtEl>
                                        <p:attrNameLst>
                                          <p:attrName>style.visibility</p:attrName>
                                        </p:attrNameLst>
                                      </p:cBhvr>
                                      <p:to>
                                        <p:strVal val="visible"/>
                                      </p:to>
                                    </p:set>
                                    <p:animEffect transition="in" filter="dissolve">
                                      <p:cBhvr>
                                        <p:cTn id="3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88366B7-1FF0-134B-B419-0A5A82710974}"/>
              </a:ext>
            </a:extLst>
          </p:cNvPr>
          <p:cNvSpPr>
            <a:spLocks noGrp="1"/>
          </p:cNvSpPr>
          <p:nvPr>
            <p:ph idx="1"/>
          </p:nvPr>
        </p:nvSpPr>
        <p:spPr>
          <a:xfrm>
            <a:off x="868663" y="1426343"/>
            <a:ext cx="5394571" cy="2251565"/>
          </a:xfrm>
        </p:spPr>
        <p:txBody>
          <a:bodyPr>
            <a:noAutofit/>
          </a:bodyPr>
          <a:lstStyle/>
          <a:p>
            <a:pPr>
              <a:buSzPct val="75000"/>
            </a:pPr>
            <a:r>
              <a:rPr lang="en-US" altLang="en-US" i="1" dirty="0">
                <a:solidFill>
                  <a:srgbClr val="CC0000"/>
                </a:solidFill>
                <a:ea typeface="ＭＳ Ｐゴシック" panose="020B0600070205080204" pitchFamily="34" charset="-128"/>
              </a:rPr>
              <a:t>Infrastructure </a:t>
            </a:r>
            <a:r>
              <a:rPr lang="en-US" altLang="en-US" dirty="0">
                <a:ea typeface="ＭＳ Ｐゴシック" panose="020B0600070205080204" pitchFamily="34" charset="-128"/>
              </a:rPr>
              <a:t>that provides services to applications:</a:t>
            </a:r>
            <a:endParaRPr lang="en-US" altLang="en-US" sz="2400" dirty="0">
              <a:ea typeface="ＭＳ Ｐゴシック" panose="020B0600070205080204" pitchFamily="34" charset="-128"/>
            </a:endParaRPr>
          </a:p>
          <a:p>
            <a:pPr lvl="1"/>
            <a:r>
              <a:rPr lang="en-US" altLang="en-US" dirty="0">
                <a:ea typeface="Arial" panose="020B0604020202020204" pitchFamily="34" charset="0"/>
              </a:rPr>
              <a:t>Web</a:t>
            </a:r>
            <a:r>
              <a:rPr lang="en-US" altLang="en-US">
                <a:ea typeface="Arial" panose="020B0604020202020204" pitchFamily="34" charset="0"/>
              </a:rPr>
              <a:t>, streaming </a:t>
            </a:r>
            <a:r>
              <a:rPr lang="en-US" altLang="en-US" dirty="0">
                <a:ea typeface="Arial" panose="020B0604020202020204" pitchFamily="34" charset="0"/>
              </a:rPr>
              <a:t>video, multimedia teleconferencing, email, games, e-commerce, social media, inter-connected appliances, …</a:t>
            </a:r>
          </a:p>
          <a:p>
            <a:pPr marL="130175" indent="0">
              <a:buNone/>
            </a:pPr>
            <a:endParaRPr lang="en-US" altLang="en-US" dirty="0">
              <a:ea typeface="Arial" panose="020B0604020202020204" pitchFamily="34" charset="0"/>
            </a:endParaRPr>
          </a:p>
          <a:p>
            <a:pPr marL="0"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The Internet: a “service” view</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6</a:t>
            </a:fld>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grpSp>
        <p:nvGrpSpPr>
          <p:cNvPr id="787" name="Group 786">
            <a:extLst>
              <a:ext uri="{FF2B5EF4-FFF2-40B4-BE49-F238E27FC236}">
                <a16:creationId xmlns:a16="http://schemas.microsoft.com/office/drawing/2014/main" id="{C944F5F4-7AD1-AE48-9769-ABE2F95B5A26}"/>
              </a:ext>
            </a:extLst>
          </p:cNvPr>
          <p:cNvGrpSpPr/>
          <p:nvPr/>
        </p:nvGrpSpPr>
        <p:grpSpPr>
          <a:xfrm>
            <a:off x="7414072" y="1891912"/>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68516" y="3357611"/>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39945" y="3460672"/>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63913" y="5306138"/>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55853" y="4932348"/>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010801" y="5861358"/>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48979" y="5313247"/>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28907" y="5536844"/>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27132" y="5558317"/>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647169" y="6015687"/>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9992875" y="5668575"/>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571" name="Group 570">
            <a:extLst>
              <a:ext uri="{FF2B5EF4-FFF2-40B4-BE49-F238E27FC236}">
                <a16:creationId xmlns:a16="http://schemas.microsoft.com/office/drawing/2014/main" id="{6E7E1949-D432-8F47-806C-E1300655FD5B}"/>
              </a:ext>
            </a:extLst>
          </p:cNvPr>
          <p:cNvGrpSpPr/>
          <p:nvPr/>
        </p:nvGrpSpPr>
        <p:grpSpPr>
          <a:xfrm>
            <a:off x="7562720" y="3698398"/>
            <a:ext cx="3589569" cy="1371857"/>
            <a:chOff x="7562720" y="3668418"/>
            <a:chExt cx="3589569" cy="1371857"/>
          </a:xfrm>
        </p:grpSpPr>
        <p:cxnSp>
          <p:nvCxnSpPr>
            <p:cNvPr id="572" name="Straight Connector 571">
              <a:extLst>
                <a:ext uri="{FF2B5EF4-FFF2-40B4-BE49-F238E27FC236}">
                  <a16:creationId xmlns:a16="http://schemas.microsoft.com/office/drawing/2014/main" id="{CDEF5ABA-1B3E-E140-B54D-1BC500151074}"/>
                </a:ext>
              </a:extLst>
            </p:cNvPr>
            <p:cNvCxnSpPr>
              <a:cxnSpLocks/>
            </p:cNvCxnSpPr>
            <p:nvPr/>
          </p:nvCxnSpPr>
          <p:spPr>
            <a:xfrm flipH="1">
              <a:off x="8285300" y="3668418"/>
              <a:ext cx="2866989" cy="1371857"/>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575" name="TextBox 574">
              <a:extLst>
                <a:ext uri="{FF2B5EF4-FFF2-40B4-BE49-F238E27FC236}">
                  <a16:creationId xmlns:a16="http://schemas.microsoft.com/office/drawing/2014/main" id="{E0F4780A-E96A-7C4F-98CD-8BE40652E91D}"/>
                </a:ext>
              </a:extLst>
            </p:cNvPr>
            <p:cNvSpPr txBox="1"/>
            <p:nvPr/>
          </p:nvSpPr>
          <p:spPr>
            <a:xfrm>
              <a:off x="7562720" y="4539626"/>
              <a:ext cx="620363" cy="338554"/>
            </a:xfrm>
            <a:prstGeom prst="rect">
              <a:avLst/>
            </a:prstGeom>
            <a:noFill/>
          </p:spPr>
          <p:txBody>
            <a:bodyPr wrap="none" rtlCol="0">
              <a:spAutoFit/>
            </a:bodyPr>
            <a:lstStyle/>
            <a:p>
              <a:r>
                <a:rPr lang="en-US" sz="1600" i="1" dirty="0">
                  <a:solidFill>
                    <a:srgbClr val="C00000"/>
                  </a:solidFill>
                </a:rPr>
                <a:t>HTTP</a:t>
              </a:r>
              <a:endParaRPr lang="en-US" i="1" dirty="0">
                <a:solidFill>
                  <a:srgbClr val="C00000"/>
                </a:solidFill>
              </a:endParaRPr>
            </a:p>
          </p:txBody>
        </p:sp>
        <p:cxnSp>
          <p:nvCxnSpPr>
            <p:cNvPr id="576" name="Straight Connector 575">
              <a:extLst>
                <a:ext uri="{FF2B5EF4-FFF2-40B4-BE49-F238E27FC236}">
                  <a16:creationId xmlns:a16="http://schemas.microsoft.com/office/drawing/2014/main" id="{554065B8-11FC-3B4E-8CEB-951199B1DF2C}"/>
                </a:ext>
              </a:extLst>
            </p:cNvPr>
            <p:cNvCxnSpPr>
              <a:cxnSpLocks/>
            </p:cNvCxnSpPr>
            <p:nvPr/>
          </p:nvCxnSpPr>
          <p:spPr>
            <a:xfrm>
              <a:off x="8099825" y="4723687"/>
              <a:ext cx="402218" cy="115861"/>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11" name="Group 610">
            <a:extLst>
              <a:ext uri="{FF2B5EF4-FFF2-40B4-BE49-F238E27FC236}">
                <a16:creationId xmlns:a16="http://schemas.microsoft.com/office/drawing/2014/main" id="{FCFF39BD-FF72-D744-894D-516FB364E8AE}"/>
              </a:ext>
            </a:extLst>
          </p:cNvPr>
          <p:cNvGrpSpPr/>
          <p:nvPr/>
        </p:nvGrpSpPr>
        <p:grpSpPr>
          <a:xfrm>
            <a:off x="6371219" y="2787535"/>
            <a:ext cx="1271296" cy="663792"/>
            <a:chOff x="6371219" y="2787535"/>
            <a:chExt cx="1271296" cy="663792"/>
          </a:xfrm>
        </p:grpSpPr>
        <p:cxnSp>
          <p:nvCxnSpPr>
            <p:cNvPr id="631" name="Straight Connector 630">
              <a:extLst>
                <a:ext uri="{FF2B5EF4-FFF2-40B4-BE49-F238E27FC236}">
                  <a16:creationId xmlns:a16="http://schemas.microsoft.com/office/drawing/2014/main" id="{1AB1A9D8-C145-B64F-A99E-384F072DA600}"/>
                </a:ext>
              </a:extLst>
            </p:cNvPr>
            <p:cNvCxnSpPr>
              <a:cxnSpLocks/>
            </p:cNvCxnSpPr>
            <p:nvPr/>
          </p:nvCxnSpPr>
          <p:spPr>
            <a:xfrm>
              <a:off x="7631020" y="2787535"/>
              <a:ext cx="11495" cy="663792"/>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51" name="TextBox 650">
              <a:extLst>
                <a:ext uri="{FF2B5EF4-FFF2-40B4-BE49-F238E27FC236}">
                  <a16:creationId xmlns:a16="http://schemas.microsoft.com/office/drawing/2014/main" id="{488A4C35-0916-9F43-8EB4-57709849D76D}"/>
                </a:ext>
              </a:extLst>
            </p:cNvPr>
            <p:cNvSpPr txBox="1"/>
            <p:nvPr/>
          </p:nvSpPr>
          <p:spPr>
            <a:xfrm>
              <a:off x="6371219" y="2944679"/>
              <a:ext cx="665567" cy="338554"/>
            </a:xfrm>
            <a:prstGeom prst="rect">
              <a:avLst/>
            </a:prstGeom>
            <a:noFill/>
          </p:spPr>
          <p:txBody>
            <a:bodyPr wrap="none" rtlCol="0">
              <a:spAutoFit/>
            </a:bodyPr>
            <a:lstStyle/>
            <a:p>
              <a:r>
                <a:rPr lang="en-US" sz="1600" i="1" dirty="0">
                  <a:solidFill>
                    <a:srgbClr val="C00000"/>
                  </a:solidFill>
                </a:rPr>
                <a:t>Skype</a:t>
              </a:r>
              <a:endParaRPr lang="en-US" i="1" dirty="0">
                <a:solidFill>
                  <a:srgbClr val="C00000"/>
                </a:solidFill>
              </a:endParaRPr>
            </a:p>
          </p:txBody>
        </p:sp>
        <p:cxnSp>
          <p:nvCxnSpPr>
            <p:cNvPr id="652" name="Straight Connector 651">
              <a:extLst>
                <a:ext uri="{FF2B5EF4-FFF2-40B4-BE49-F238E27FC236}">
                  <a16:creationId xmlns:a16="http://schemas.microsoft.com/office/drawing/2014/main" id="{D72E54CC-6B2F-634D-BC7D-2171694AA3FB}"/>
                </a:ext>
              </a:extLst>
            </p:cNvPr>
            <p:cNvCxnSpPr>
              <a:cxnSpLocks/>
            </p:cNvCxnSpPr>
            <p:nvPr/>
          </p:nvCxnSpPr>
          <p:spPr>
            <a:xfrm>
              <a:off x="6973411" y="3119431"/>
              <a:ext cx="559043"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54" name="Group 653">
            <a:extLst>
              <a:ext uri="{FF2B5EF4-FFF2-40B4-BE49-F238E27FC236}">
                <a16:creationId xmlns:a16="http://schemas.microsoft.com/office/drawing/2014/main" id="{B4BC79F0-E00C-7044-BC07-1474A974BA16}"/>
              </a:ext>
            </a:extLst>
          </p:cNvPr>
          <p:cNvGrpSpPr/>
          <p:nvPr/>
        </p:nvGrpSpPr>
        <p:grpSpPr>
          <a:xfrm>
            <a:off x="9218788" y="2327787"/>
            <a:ext cx="2594095" cy="1025465"/>
            <a:chOff x="9218788" y="2327787"/>
            <a:chExt cx="2594095" cy="1025465"/>
          </a:xfrm>
        </p:grpSpPr>
        <p:cxnSp>
          <p:nvCxnSpPr>
            <p:cNvPr id="656" name="Straight Connector 655">
              <a:extLst>
                <a:ext uri="{FF2B5EF4-FFF2-40B4-BE49-F238E27FC236}">
                  <a16:creationId xmlns:a16="http://schemas.microsoft.com/office/drawing/2014/main" id="{B102C048-49F5-7548-812F-9F5B72021501}"/>
                </a:ext>
              </a:extLst>
            </p:cNvPr>
            <p:cNvCxnSpPr>
              <a:cxnSpLocks/>
            </p:cNvCxnSpPr>
            <p:nvPr/>
          </p:nvCxnSpPr>
          <p:spPr>
            <a:xfrm>
              <a:off x="9218788" y="2327787"/>
              <a:ext cx="1698979" cy="1025465"/>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59" name="TextBox 658">
              <a:extLst>
                <a:ext uri="{FF2B5EF4-FFF2-40B4-BE49-F238E27FC236}">
                  <a16:creationId xmlns:a16="http://schemas.microsoft.com/office/drawing/2014/main" id="{F126167F-C8BB-234E-9136-D15CA93E673F}"/>
                </a:ext>
              </a:extLst>
            </p:cNvPr>
            <p:cNvSpPr txBox="1"/>
            <p:nvPr/>
          </p:nvSpPr>
          <p:spPr>
            <a:xfrm>
              <a:off x="10772213" y="2684297"/>
              <a:ext cx="1040670" cy="584775"/>
            </a:xfrm>
            <a:prstGeom prst="rect">
              <a:avLst/>
            </a:prstGeom>
            <a:noFill/>
          </p:spPr>
          <p:txBody>
            <a:bodyPr wrap="none" rtlCol="0">
              <a:spAutoFit/>
            </a:bodyPr>
            <a:lstStyle/>
            <a:p>
              <a:r>
                <a:rPr lang="en-US" sz="1600" i="1" dirty="0">
                  <a:solidFill>
                    <a:srgbClr val="C00000"/>
                  </a:solidFill>
                </a:rPr>
                <a:t>Streaming</a:t>
              </a:r>
            </a:p>
            <a:p>
              <a:r>
                <a:rPr lang="en-US" sz="1600" i="1" dirty="0">
                  <a:solidFill>
                    <a:srgbClr val="C00000"/>
                  </a:solidFill>
                </a:rPr>
                <a:t>video</a:t>
              </a:r>
              <a:endParaRPr lang="en-US" i="1" dirty="0">
                <a:solidFill>
                  <a:srgbClr val="C00000"/>
                </a:solidFill>
              </a:endParaRPr>
            </a:p>
          </p:txBody>
        </p:sp>
        <p:cxnSp>
          <p:nvCxnSpPr>
            <p:cNvPr id="660" name="Straight Connector 659">
              <a:extLst>
                <a:ext uri="{FF2B5EF4-FFF2-40B4-BE49-F238E27FC236}">
                  <a16:creationId xmlns:a16="http://schemas.microsoft.com/office/drawing/2014/main" id="{662BF10B-C3AA-B044-B3C4-6ADB2CCF2BD6}"/>
                </a:ext>
              </a:extLst>
            </p:cNvPr>
            <p:cNvCxnSpPr>
              <a:cxnSpLocks/>
            </p:cNvCxnSpPr>
            <p:nvPr/>
          </p:nvCxnSpPr>
          <p:spPr>
            <a:xfrm flipV="1">
              <a:off x="10569552" y="2937299"/>
              <a:ext cx="405322" cy="14757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09" name="Content Placeholder 2">
            <a:extLst>
              <a:ext uri="{FF2B5EF4-FFF2-40B4-BE49-F238E27FC236}">
                <a16:creationId xmlns:a16="http://schemas.microsoft.com/office/drawing/2014/main" id="{AA2FA344-354C-4B4C-B02C-3A8507EDA90B}"/>
              </a:ext>
            </a:extLst>
          </p:cNvPr>
          <p:cNvSpPr txBox="1">
            <a:spLocks/>
          </p:cNvSpPr>
          <p:nvPr/>
        </p:nvSpPr>
        <p:spPr>
          <a:xfrm>
            <a:off x="868663" y="3677908"/>
            <a:ext cx="5394571" cy="272101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75000"/>
            </a:pPr>
            <a:r>
              <a:rPr lang="en-US" altLang="en-US" dirty="0">
                <a:ea typeface="ＭＳ Ｐゴシック" panose="020B0600070205080204" pitchFamily="34" charset="-128"/>
              </a:rPr>
              <a:t>provides </a:t>
            </a:r>
            <a:r>
              <a:rPr lang="en-US" altLang="en-US" i="1" dirty="0">
                <a:solidFill>
                  <a:srgbClr val="C00000"/>
                </a:solidFill>
                <a:ea typeface="ＭＳ Ｐゴシック" panose="020B0600070205080204" pitchFamily="34" charset="-128"/>
              </a:rPr>
              <a:t>programming interface </a:t>
            </a:r>
            <a:r>
              <a:rPr lang="en-US" altLang="en-US" dirty="0">
                <a:ea typeface="ＭＳ Ｐゴシック" panose="020B0600070205080204" pitchFamily="34" charset="-128"/>
              </a:rPr>
              <a:t>to distributed applications:</a:t>
            </a:r>
          </a:p>
          <a:p>
            <a:pPr lvl="1"/>
            <a:r>
              <a:rPr lang="en-US" altLang="en-US" dirty="0">
                <a:ea typeface="Arial" panose="020B0604020202020204" pitchFamily="34" charset="0"/>
              </a:rPr>
              <a:t>“hooks” allowing sending/receiving  apps to </a:t>
            </a:r>
            <a:r>
              <a:rPr lang="ja-JP" altLang="en-US">
                <a:ea typeface="ＭＳ Ｐゴシック" panose="020B0600070205080204" pitchFamily="34" charset="-128"/>
              </a:rPr>
              <a:t>“</a:t>
            </a:r>
            <a:r>
              <a:rPr lang="en-US" altLang="ja-JP" dirty="0">
                <a:ea typeface="ＭＳ Ｐゴシック" panose="020B0600070205080204" pitchFamily="34" charset="-128"/>
              </a:rPr>
              <a:t>connect</a:t>
            </a:r>
            <a:r>
              <a:rPr lang="ja-JP" altLang="en-US">
                <a:ea typeface="ＭＳ Ｐゴシック" panose="020B0600070205080204" pitchFamily="34" charset="-128"/>
              </a:rPr>
              <a:t>”</a:t>
            </a:r>
            <a:r>
              <a:rPr lang="en-US" altLang="ja-JP" dirty="0">
                <a:ea typeface="ＭＳ Ｐゴシック" panose="020B0600070205080204" pitchFamily="34" charset="-128"/>
              </a:rPr>
              <a:t> to, use  Internet transport service</a:t>
            </a:r>
          </a:p>
          <a:p>
            <a:pPr lvl="1"/>
            <a:r>
              <a:rPr lang="en-US" altLang="en-US" dirty="0">
                <a:ea typeface="Arial" panose="020B0604020202020204" pitchFamily="34" charset="0"/>
              </a:rPr>
              <a:t>provides service options, analogous to postal service</a:t>
            </a:r>
          </a:p>
          <a:p>
            <a:endParaRPr lang="en-US" altLang="en-US" dirty="0">
              <a:ea typeface="Arial" panose="020B0604020202020204" pitchFamily="34" charset="0"/>
            </a:endParaRPr>
          </a:p>
          <a:p>
            <a:pPr marL="0" indent="0">
              <a:buFont typeface="Wingdings" pitchFamily="2" charset="2"/>
              <a:buNone/>
            </a:pPr>
            <a:endParaRPr lang="en-US" dirty="0"/>
          </a:p>
        </p:txBody>
      </p:sp>
    </p:spTree>
    <p:extLst>
      <p:ext uri="{BB962C8B-B14F-4D97-AF65-F5344CB8AC3E}">
        <p14:creationId xmlns:p14="http://schemas.microsoft.com/office/powerpoint/2010/main" val="2955511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9"/>
                                        </p:tgtEl>
                                        <p:attrNameLst>
                                          <p:attrName>style.visibility</p:attrName>
                                        </p:attrNameLst>
                                      </p:cBhvr>
                                      <p:to>
                                        <p:strVal val="visible"/>
                                      </p:to>
                                    </p:set>
                                    <p:animEffect transition="in" filter="dissolve">
                                      <p:cBhvr>
                                        <p:cTn id="7" dur="500"/>
                                        <p:tgtEl>
                                          <p:spTgt spid="6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7850" y="981076"/>
            <a:ext cx="4457700" cy="531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3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07250" y="456944"/>
            <a:ext cx="3136900" cy="68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6" name="Rectangle 11"/>
          <p:cNvSpPr>
            <a:spLocks noChangeArrowheads="1"/>
          </p:cNvSpPr>
          <p:nvPr/>
        </p:nvSpPr>
        <p:spPr bwMode="auto">
          <a:xfrm>
            <a:off x="1847850" y="188914"/>
            <a:ext cx="2868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i="1">
                <a:solidFill>
                  <a:srgbClr val="C00000"/>
                </a:solidFill>
                <a:latin typeface="Arial" panose="020B0604020202020204" pitchFamily="34" charset="0"/>
                <a:sym typeface="Wingdings" panose="05000000000000000000" pitchFamily="2" charset="2"/>
              </a:rPr>
              <a:t>The ‘service</a:t>
            </a:r>
            <a:r>
              <a:rPr lang="en-MY" altLang="en-US" sz="2400" b="1">
                <a:solidFill>
                  <a:srgbClr val="C00000"/>
                </a:solidFill>
                <a:latin typeface="Arial" panose="020B0604020202020204" pitchFamily="34" charset="0"/>
                <a:sym typeface="Wingdings" panose="05000000000000000000" pitchFamily="2" charset="2"/>
              </a:rPr>
              <a:t>’ view </a:t>
            </a:r>
            <a:endParaRPr lang="en-MY" altLang="en-US" sz="2400" b="1">
              <a:solidFill>
                <a:srgbClr val="C00000"/>
              </a:solidFill>
              <a:latin typeface="Arial" panose="020B0604020202020204" pitchFamily="34" charset="0"/>
            </a:endParaRPr>
          </a:p>
        </p:txBody>
      </p:sp>
      <p:sp>
        <p:nvSpPr>
          <p:cNvPr id="18437" name="Rectangle 8"/>
          <p:cNvSpPr>
            <a:spLocks noChangeArrowheads="1"/>
          </p:cNvSpPr>
          <p:nvPr/>
        </p:nvSpPr>
        <p:spPr bwMode="auto">
          <a:xfrm>
            <a:off x="6305550" y="1307587"/>
            <a:ext cx="4643437" cy="4708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Arial" panose="020B0604020202020204" pitchFamily="34" charset="0"/>
              <a:buChar char="•"/>
            </a:pPr>
            <a:r>
              <a:rPr lang="en-MY" altLang="en-US" sz="2000" dirty="0">
                <a:latin typeface="Arial" panose="020B0604020202020204" pitchFamily="34" charset="0"/>
              </a:rPr>
              <a:t>These applications include </a:t>
            </a:r>
          </a:p>
          <a:p>
            <a:pPr lvl="1">
              <a:lnSpc>
                <a:spcPct val="100000"/>
              </a:lnSpc>
              <a:spcBef>
                <a:spcPct val="0"/>
              </a:spcBef>
              <a:buClrTx/>
            </a:pPr>
            <a:r>
              <a:rPr lang="en-MY" altLang="en-US" sz="2000" i="1" dirty="0">
                <a:latin typeface="Arial" panose="020B0604020202020204" pitchFamily="34" charset="0"/>
                <a:ea typeface="ＭＳ Ｐゴシック" panose="020B0600070205080204" pitchFamily="34" charset="-128"/>
              </a:rPr>
              <a:t> </a:t>
            </a:r>
            <a:r>
              <a:rPr lang="en-MY" altLang="en-US" sz="2000" i="1" dirty="0">
                <a:solidFill>
                  <a:srgbClr val="0070C0"/>
                </a:solidFill>
                <a:latin typeface="Arial" panose="020B0604020202020204" pitchFamily="34" charset="0"/>
                <a:ea typeface="ＭＳ Ｐゴシック" panose="020B0600070205080204" pitchFamily="34" charset="-128"/>
              </a:rPr>
              <a:t>email, Web surfing, social networks, instant messaging, Voiceover-IP (VoIP), video streaming, distributed games, peer-to-peer (P2P) file sharing</a:t>
            </a:r>
            <a:r>
              <a:rPr lang="en-MY" altLang="en-US" sz="2000" i="1" dirty="0">
                <a:latin typeface="Arial" panose="020B0604020202020204" pitchFamily="34" charset="0"/>
                <a:ea typeface="ＭＳ Ｐゴシック" panose="020B0600070205080204" pitchFamily="34" charset="-128"/>
              </a:rPr>
              <a:t>, etc </a:t>
            </a:r>
          </a:p>
          <a:p>
            <a:pPr lvl="1">
              <a:lnSpc>
                <a:spcPct val="100000"/>
              </a:lnSpc>
              <a:spcBef>
                <a:spcPct val="0"/>
              </a:spcBef>
              <a:buClrTx/>
            </a:pPr>
            <a:r>
              <a:rPr lang="en-MY" altLang="en-US" sz="2000" b="1" dirty="0">
                <a:latin typeface="Arial" panose="020B0604020202020204" pitchFamily="34" charset="0"/>
                <a:ea typeface="ＭＳ Ｐゴシック" panose="020B0600070205080204" pitchFamily="34" charset="-128"/>
              </a:rPr>
              <a:t> </a:t>
            </a:r>
            <a:r>
              <a:rPr lang="en-MY" altLang="en-US" sz="2000" i="1" dirty="0">
                <a:solidFill>
                  <a:srgbClr val="C00000"/>
                </a:solidFill>
                <a:latin typeface="Arial" panose="020B0604020202020204" pitchFamily="34" charset="0"/>
                <a:ea typeface="ＭＳ Ｐゴシック" panose="020B0600070205080204" pitchFamily="34" charset="-128"/>
              </a:rPr>
              <a:t>Distributed applications </a:t>
            </a:r>
            <a:r>
              <a:rPr lang="en-MY" altLang="en-US" sz="2000" b="1" dirty="0">
                <a:latin typeface="Arial" panose="020B0604020202020204" pitchFamily="34" charset="0"/>
                <a:ea typeface="ＭＳ Ｐゴシック" panose="020B0600070205080204" pitchFamily="34" charset="-128"/>
                <a:sym typeface="Wingdings" panose="05000000000000000000" pitchFamily="2" charset="2"/>
              </a:rPr>
              <a:t> </a:t>
            </a:r>
            <a:r>
              <a:rPr lang="en-MY" altLang="en-US" sz="2000" dirty="0">
                <a:latin typeface="Arial" panose="020B0604020202020204" pitchFamily="34" charset="0"/>
                <a:ea typeface="ＭＳ Ｐゴシック" panose="020B0600070205080204" pitchFamily="34" charset="-128"/>
                <a:sym typeface="Wingdings" panose="05000000000000000000" pitchFamily="2" charset="2"/>
              </a:rPr>
              <a:t>i</a:t>
            </a:r>
            <a:r>
              <a:rPr lang="en-MY" altLang="en-US" sz="2000" dirty="0">
                <a:latin typeface="Arial" panose="020B0604020202020204" pitchFamily="34" charset="0"/>
                <a:ea typeface="ＭＳ Ｐゴシック" panose="020B0600070205080204" pitchFamily="34" charset="-128"/>
              </a:rPr>
              <a:t>nvolve </a:t>
            </a:r>
            <a:r>
              <a:rPr lang="en-MY" altLang="en-US" sz="2000" dirty="0">
                <a:solidFill>
                  <a:srgbClr val="C00000"/>
                </a:solidFill>
                <a:latin typeface="Arial" panose="020B0604020202020204" pitchFamily="34" charset="0"/>
                <a:ea typeface="ＭＳ Ｐゴシック" panose="020B0600070205080204" pitchFamily="34" charset="-128"/>
              </a:rPr>
              <a:t>multiple end systems</a:t>
            </a:r>
            <a:r>
              <a:rPr lang="en-MY" altLang="en-US" sz="2000" dirty="0">
                <a:latin typeface="Arial" panose="020B0604020202020204" pitchFamily="34" charset="0"/>
                <a:ea typeface="ＭＳ Ｐゴシック" panose="020B0600070205080204" pitchFamily="34" charset="-128"/>
              </a:rPr>
              <a:t> exchanging data</a:t>
            </a:r>
          </a:p>
          <a:p>
            <a:pPr>
              <a:lnSpc>
                <a:spcPct val="100000"/>
              </a:lnSpc>
              <a:spcBef>
                <a:spcPct val="0"/>
              </a:spcBef>
              <a:buClrTx/>
              <a:buSzTx/>
              <a:buFont typeface="Arial" panose="020B0604020202020204" pitchFamily="34" charset="0"/>
              <a:buChar char="•"/>
            </a:pPr>
            <a:r>
              <a:rPr lang="en-MY" altLang="en-US" sz="2000" dirty="0">
                <a:latin typeface="Arial" panose="020B0604020202020204" pitchFamily="34" charset="0"/>
              </a:rPr>
              <a:t> Have </a:t>
            </a:r>
            <a:r>
              <a:rPr lang="en-MY" altLang="en-US" sz="2000" i="1" dirty="0">
                <a:solidFill>
                  <a:srgbClr val="C00000"/>
                </a:solidFill>
                <a:latin typeface="Arial" panose="020B0604020202020204" pitchFamily="34" charset="0"/>
              </a:rPr>
              <a:t>Application Programming Interface (API)</a:t>
            </a:r>
          </a:p>
          <a:p>
            <a:pPr lvl="1">
              <a:lnSpc>
                <a:spcPct val="100000"/>
              </a:lnSpc>
              <a:spcBef>
                <a:spcPct val="0"/>
              </a:spcBef>
              <a:buClrTx/>
            </a:pPr>
            <a:r>
              <a:rPr lang="en-MY" altLang="en-US" sz="2000" i="1" dirty="0">
                <a:solidFill>
                  <a:srgbClr val="C00000"/>
                </a:solidFill>
                <a:latin typeface="Arial" panose="020B0604020202020204" pitchFamily="34" charset="0"/>
                <a:ea typeface="ＭＳ Ｐゴシック" panose="020B0600070205080204" pitchFamily="34" charset="-128"/>
              </a:rPr>
              <a:t> </a:t>
            </a:r>
            <a:r>
              <a:rPr lang="en-MY" altLang="en-US" sz="2000" dirty="0">
                <a:latin typeface="Arial" panose="020B0604020202020204" pitchFamily="34" charset="0"/>
                <a:ea typeface="ＭＳ Ｐゴシック" panose="020B0600070205080204" pitchFamily="34" charset="-128"/>
              </a:rPr>
              <a:t>to communicate between different platforms through the Internet</a:t>
            </a:r>
          </a:p>
          <a:p>
            <a:pPr>
              <a:lnSpc>
                <a:spcPct val="100000"/>
              </a:lnSpc>
              <a:spcBef>
                <a:spcPct val="0"/>
              </a:spcBef>
              <a:buClrTx/>
              <a:buSzTx/>
              <a:buFont typeface="Arial" panose="020B0604020202020204" pitchFamily="34" charset="0"/>
              <a:buChar char="•"/>
            </a:pPr>
            <a:r>
              <a:rPr lang="en-US" altLang="en-US" sz="2000" dirty="0">
                <a:solidFill>
                  <a:srgbClr val="C00000"/>
                </a:solidFill>
                <a:latin typeface="Arial" panose="020B0604020202020204" pitchFamily="34" charset="0"/>
              </a:rPr>
              <a:t>Internet is  a network of networks </a:t>
            </a:r>
          </a:p>
          <a:p>
            <a:pPr lvl="1">
              <a:lnSpc>
                <a:spcPct val="100000"/>
              </a:lnSpc>
              <a:spcBef>
                <a:spcPct val="0"/>
              </a:spcBef>
              <a:buClrTx/>
            </a:pPr>
            <a:r>
              <a:rPr lang="en-US" altLang="en-US" sz="2000" dirty="0">
                <a:latin typeface="Arial" panose="020B0604020202020204" pitchFamily="34" charset="0"/>
                <a:ea typeface="ＭＳ Ｐゴシック" panose="020B0600070205080204" pitchFamily="34" charset="-128"/>
              </a:rPr>
              <a:t>Interconnected ISPs</a:t>
            </a:r>
            <a:endParaRPr lang="en-MY" altLang="en-US" sz="2000" dirty="0">
              <a:latin typeface="Arial" panose="020B0604020202020204" pitchFamily="34" charset="0"/>
              <a:ea typeface="ＭＳ Ｐゴシック" panose="020B0600070205080204" pitchFamily="34" charset="-128"/>
            </a:endParaRPr>
          </a:p>
        </p:txBody>
      </p:sp>
      <p:sp>
        <p:nvSpPr>
          <p:cNvPr id="2" name="Slide Number Placeholder 5">
            <a:extLst>
              <a:ext uri="{FF2B5EF4-FFF2-40B4-BE49-F238E27FC236}">
                <a16:creationId xmlns:a16="http://schemas.microsoft.com/office/drawing/2014/main" id="{2313266D-B504-0D27-336E-3877739DFE13}"/>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7</a:t>
            </a:fld>
            <a:endParaRPr lang="en-US" dirty="0"/>
          </a:p>
        </p:txBody>
      </p:sp>
    </p:spTree>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B62AB8-B4D6-B043-ABA8-88BB01847B5D}"/>
              </a:ext>
            </a:extLst>
          </p:cNvPr>
          <p:cNvSpPr>
            <a:spLocks noGrp="1"/>
          </p:cNvSpPr>
          <p:nvPr>
            <p:ph type="title"/>
          </p:nvPr>
        </p:nvSpPr>
        <p:spPr>
          <a:xfrm>
            <a:off x="787400" y="335989"/>
            <a:ext cx="10515600" cy="894622"/>
          </a:xfrm>
        </p:spPr>
        <p:txBody>
          <a:bodyPr/>
          <a:lstStyle/>
          <a:p>
            <a:r>
              <a:rPr lang="en-US" altLang="ja-JP" dirty="0"/>
              <a:t>“Fun” Internet-connected devices</a:t>
            </a:r>
            <a:endParaRPr lang="en-US" dirty="0"/>
          </a:p>
        </p:txBody>
      </p:sp>
      <p:sp>
        <p:nvSpPr>
          <p:cNvPr id="3" name="Slide Number Placeholder 2">
            <a:extLst>
              <a:ext uri="{FF2B5EF4-FFF2-40B4-BE49-F238E27FC236}">
                <a16:creationId xmlns:a16="http://schemas.microsoft.com/office/drawing/2014/main" id="{D71DF906-FC3F-E54F-AF2B-B76A3BBE1E70}"/>
              </a:ext>
            </a:extLst>
          </p:cNvPr>
          <p:cNvSpPr>
            <a:spLocks noGrp="1"/>
          </p:cNvSpPr>
          <p:nvPr>
            <p:ph type="sldNum" sz="quarter" idx="4"/>
          </p:nvPr>
        </p:nvSpPr>
        <p:spPr/>
        <p:txBody>
          <a:bodyPr/>
          <a:lstStyle/>
          <a:p>
            <a:r>
              <a:rPr lang="en-US"/>
              <a:t>Introduction: 1-</a:t>
            </a:r>
            <a:fld id="{C4204591-24BD-A542-B9D5-F8D8A88D2FEE}" type="slidenum">
              <a:rPr lang="en-US" smtClean="0"/>
              <a:pPr/>
              <a:t>8</a:t>
            </a:fld>
            <a:endParaRPr lang="en-US" dirty="0"/>
          </a:p>
        </p:txBody>
      </p:sp>
      <p:pic>
        <p:nvPicPr>
          <p:cNvPr id="4" name="Picture 4" descr="whisper">
            <a:extLst>
              <a:ext uri="{FF2B5EF4-FFF2-40B4-BE49-F238E27FC236}">
                <a16:creationId xmlns:a16="http://schemas.microsoft.com/office/drawing/2014/main" id="{BFAA5176-D98E-2541-91FA-3453E486B0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3111" y="1717360"/>
            <a:ext cx="1895475" cy="1560513"/>
          </a:xfrm>
          <a:prstGeom prst="rect">
            <a:avLst/>
          </a:prstGeom>
          <a:noFill/>
          <a:ln>
            <a:noFill/>
          </a:ln>
        </p:spPr>
      </p:pic>
      <p:pic>
        <p:nvPicPr>
          <p:cNvPr id="5" name="Picture 3" descr="toaster">
            <a:extLst>
              <a:ext uri="{FF2B5EF4-FFF2-40B4-BE49-F238E27FC236}">
                <a16:creationId xmlns:a16="http://schemas.microsoft.com/office/drawing/2014/main" id="{0982414B-A50E-6846-B3C9-35B07D5259B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42101" y="2878043"/>
            <a:ext cx="1675416" cy="1970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7">
            <a:extLst>
              <a:ext uri="{FF2B5EF4-FFF2-40B4-BE49-F238E27FC236}">
                <a16:creationId xmlns:a16="http://schemas.microsoft.com/office/drawing/2014/main" id="{4181DE53-23D0-7546-8926-67F62CECB3D0}"/>
              </a:ext>
            </a:extLst>
          </p:cNvPr>
          <p:cNvSpPr txBox="1">
            <a:spLocks noChangeArrowheads="1"/>
          </p:cNvSpPr>
          <p:nvPr/>
        </p:nvSpPr>
        <p:spPr bwMode="auto">
          <a:xfrm>
            <a:off x="3460474" y="3117609"/>
            <a:ext cx="1631665" cy="338554"/>
          </a:xfrm>
          <a:prstGeom prst="rect">
            <a:avLst/>
          </a:prstGeom>
          <a:noFill/>
          <a:ln>
            <a:noFill/>
          </a:ln>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Arial" panose="020B0604020202020204" pitchFamily="34" charset="0"/>
              </a:rPr>
              <a:t>IP picture frame</a:t>
            </a:r>
          </a:p>
        </p:txBody>
      </p:sp>
      <p:sp>
        <p:nvSpPr>
          <p:cNvPr id="7" name="Text Box 8">
            <a:extLst>
              <a:ext uri="{FF2B5EF4-FFF2-40B4-BE49-F238E27FC236}">
                <a16:creationId xmlns:a16="http://schemas.microsoft.com/office/drawing/2014/main" id="{FBA8D6BC-9873-5440-8898-10CB69473F0F}"/>
              </a:ext>
            </a:extLst>
          </p:cNvPr>
          <p:cNvSpPr txBox="1">
            <a:spLocks noChangeArrowheads="1"/>
          </p:cNvSpPr>
          <p:nvPr/>
        </p:nvSpPr>
        <p:spPr bwMode="auto">
          <a:xfrm>
            <a:off x="7685668" y="3125184"/>
            <a:ext cx="22463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Arial" panose="020B0604020202020204" pitchFamily="34" charset="0"/>
              </a:rPr>
              <a:t>Web-enabled toaster +</a:t>
            </a:r>
          </a:p>
          <a:p>
            <a:pPr>
              <a:lnSpc>
                <a:spcPct val="100000"/>
              </a:lnSpc>
              <a:spcBef>
                <a:spcPct val="0"/>
              </a:spcBef>
              <a:buClrTx/>
              <a:buSzTx/>
              <a:buFontTx/>
              <a:buNone/>
            </a:pPr>
            <a:r>
              <a:rPr lang="en-US" altLang="en-US" sz="1600" dirty="0">
                <a:latin typeface="Arial" panose="020B0604020202020204" pitchFamily="34" charset="0"/>
              </a:rPr>
              <a:t>weather forecaster</a:t>
            </a:r>
          </a:p>
        </p:txBody>
      </p:sp>
      <p:pic>
        <p:nvPicPr>
          <p:cNvPr id="8" name="Picture 9" descr="cisco">
            <a:extLst>
              <a:ext uri="{FF2B5EF4-FFF2-40B4-BE49-F238E27FC236}">
                <a16:creationId xmlns:a16="http://schemas.microsoft.com/office/drawing/2014/main" id="{C9D9F2A6-C27F-204F-A396-2B09F622CFC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94807" y="5026276"/>
            <a:ext cx="1768379" cy="1416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10">
            <a:extLst>
              <a:ext uri="{FF2B5EF4-FFF2-40B4-BE49-F238E27FC236}">
                <a16:creationId xmlns:a16="http://schemas.microsoft.com/office/drawing/2014/main" id="{C7AD8890-4AC4-954C-9A9A-64FC8FE5115F}"/>
              </a:ext>
            </a:extLst>
          </p:cNvPr>
          <p:cNvSpPr txBox="1">
            <a:spLocks noChangeArrowheads="1"/>
          </p:cNvSpPr>
          <p:nvPr/>
        </p:nvSpPr>
        <p:spPr bwMode="auto">
          <a:xfrm>
            <a:off x="592259" y="5554753"/>
            <a:ext cx="15970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Arial" panose="020B0604020202020204" pitchFamily="34" charset="0"/>
              </a:rPr>
              <a:t>Internet phones</a:t>
            </a:r>
          </a:p>
        </p:txBody>
      </p:sp>
      <p:grpSp>
        <p:nvGrpSpPr>
          <p:cNvPr id="10" name="Group 9">
            <a:extLst>
              <a:ext uri="{FF2B5EF4-FFF2-40B4-BE49-F238E27FC236}">
                <a16:creationId xmlns:a16="http://schemas.microsoft.com/office/drawing/2014/main" id="{ABBEC5BB-21D0-474B-91BF-DE1F5184103D}"/>
              </a:ext>
            </a:extLst>
          </p:cNvPr>
          <p:cNvGrpSpPr/>
          <p:nvPr/>
        </p:nvGrpSpPr>
        <p:grpSpPr>
          <a:xfrm>
            <a:off x="2055482" y="1410532"/>
            <a:ext cx="1179513" cy="2761796"/>
            <a:chOff x="2506141" y="1897178"/>
            <a:chExt cx="1179513" cy="2761796"/>
          </a:xfrm>
        </p:grpSpPr>
        <p:graphicFrame>
          <p:nvGraphicFramePr>
            <p:cNvPr id="11" name="Object 14">
              <a:extLst>
                <a:ext uri="{FF2B5EF4-FFF2-40B4-BE49-F238E27FC236}">
                  <a16:creationId xmlns:a16="http://schemas.microsoft.com/office/drawing/2014/main" id="{2DC66987-6296-4244-81B5-408D6F49E1C3}"/>
                </a:ext>
              </a:extLst>
            </p:cNvPr>
            <p:cNvGraphicFramePr>
              <a:graphicFrameLocks noChangeAspect="1"/>
            </p:cNvGraphicFramePr>
            <p:nvPr>
              <p:extLst>
                <p:ext uri="{D42A27DB-BD31-4B8C-83A1-F6EECF244321}">
                  <p14:modId xmlns:p14="http://schemas.microsoft.com/office/powerpoint/2010/main" val="152810231"/>
                </p:ext>
              </p:extLst>
            </p:nvPr>
          </p:nvGraphicFramePr>
          <p:xfrm>
            <a:off x="2694260" y="1897178"/>
            <a:ext cx="803275" cy="2168525"/>
          </p:xfrm>
          <a:graphic>
            <a:graphicData uri="http://schemas.openxmlformats.org/presentationml/2006/ole">
              <mc:AlternateContent xmlns:mc="http://schemas.openxmlformats.org/markup-compatibility/2006">
                <mc:Choice xmlns:v="urn:schemas-microsoft-com:vml" Requires="v">
                  <p:oleObj r:id="rId5" imgW="1434415" imgH="3873016" progId="">
                    <p:embed/>
                  </p:oleObj>
                </mc:Choice>
                <mc:Fallback>
                  <p:oleObj r:id="rId5" imgW="1434415" imgH="3873016" progId="">
                    <p:embed/>
                    <p:pic>
                      <p:nvPicPr>
                        <p:cNvPr id="15371" name="Object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94260" y="1897178"/>
                          <a:ext cx="803275" cy="2168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sp>
          <p:nvSpPr>
            <p:cNvPr id="12" name="Text Box 8">
              <a:extLst>
                <a:ext uri="{FF2B5EF4-FFF2-40B4-BE49-F238E27FC236}">
                  <a16:creationId xmlns:a16="http://schemas.microsoft.com/office/drawing/2014/main" id="{03865E9F-E744-3A46-9EBD-1411FCB23B0A}"/>
                </a:ext>
              </a:extLst>
            </p:cNvPr>
            <p:cNvSpPr txBox="1">
              <a:spLocks noChangeArrowheads="1"/>
            </p:cNvSpPr>
            <p:nvPr/>
          </p:nvSpPr>
          <p:spPr bwMode="auto">
            <a:xfrm>
              <a:off x="2506141" y="4077949"/>
              <a:ext cx="11795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Arial" panose="020B0604020202020204" pitchFamily="34" charset="0"/>
                </a:rPr>
                <a:t>Internet </a:t>
              </a:r>
            </a:p>
            <a:p>
              <a:pPr algn="ctr">
                <a:lnSpc>
                  <a:spcPct val="100000"/>
                </a:lnSpc>
                <a:spcBef>
                  <a:spcPct val="0"/>
                </a:spcBef>
                <a:buClrTx/>
                <a:buSzTx/>
                <a:buFontTx/>
                <a:buNone/>
              </a:pPr>
              <a:r>
                <a:rPr lang="en-US" altLang="en-US" sz="1600" dirty="0">
                  <a:latin typeface="Arial" panose="020B0604020202020204" pitchFamily="34" charset="0"/>
                </a:rPr>
                <a:t>refrigerator</a:t>
              </a:r>
            </a:p>
          </p:txBody>
        </p:sp>
      </p:grpSp>
      <p:pic>
        <p:nvPicPr>
          <p:cNvPr id="13" name="Picture 16">
            <a:extLst>
              <a:ext uri="{FF2B5EF4-FFF2-40B4-BE49-F238E27FC236}">
                <a16:creationId xmlns:a16="http://schemas.microsoft.com/office/drawing/2014/main" id="{85E57D8C-0502-A74A-AE40-F1167D4C93D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68398" y="3591303"/>
            <a:ext cx="1552575" cy="74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8">
            <a:extLst>
              <a:ext uri="{FF2B5EF4-FFF2-40B4-BE49-F238E27FC236}">
                <a16:creationId xmlns:a16="http://schemas.microsoft.com/office/drawing/2014/main" id="{29CF8B45-77DE-7E40-8D19-6A8EEB3A0737}"/>
              </a:ext>
            </a:extLst>
          </p:cNvPr>
          <p:cNvSpPr txBox="1">
            <a:spLocks noChangeArrowheads="1"/>
          </p:cNvSpPr>
          <p:nvPr/>
        </p:nvSpPr>
        <p:spPr bwMode="auto">
          <a:xfrm>
            <a:off x="3863186" y="4172328"/>
            <a:ext cx="172354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Arial" panose="020B0604020202020204" pitchFamily="34" charset="0"/>
              </a:rPr>
              <a:t>Slingbox: remote</a:t>
            </a:r>
          </a:p>
          <a:p>
            <a:pPr>
              <a:lnSpc>
                <a:spcPct val="100000"/>
              </a:lnSpc>
              <a:spcBef>
                <a:spcPct val="0"/>
              </a:spcBef>
              <a:buClrTx/>
              <a:buSzTx/>
              <a:buFontTx/>
              <a:buNone/>
            </a:pPr>
            <a:r>
              <a:rPr lang="en-US" altLang="en-US" sz="1600" dirty="0">
                <a:latin typeface="Arial" panose="020B0604020202020204" pitchFamily="34" charset="0"/>
              </a:rPr>
              <a:t>control cable TV</a:t>
            </a:r>
          </a:p>
        </p:txBody>
      </p:sp>
      <p:grpSp>
        <p:nvGrpSpPr>
          <p:cNvPr id="15" name="Group 14">
            <a:extLst>
              <a:ext uri="{FF2B5EF4-FFF2-40B4-BE49-F238E27FC236}">
                <a16:creationId xmlns:a16="http://schemas.microsoft.com/office/drawing/2014/main" id="{47039C00-F163-0242-B27E-88F4B684A34F}"/>
              </a:ext>
            </a:extLst>
          </p:cNvPr>
          <p:cNvGrpSpPr/>
          <p:nvPr/>
        </p:nvGrpSpPr>
        <p:grpSpPr>
          <a:xfrm>
            <a:off x="8939158" y="1273330"/>
            <a:ext cx="1941513" cy="1792254"/>
            <a:chOff x="8990069" y="2735515"/>
            <a:chExt cx="1941513" cy="1792254"/>
          </a:xfrm>
        </p:grpSpPr>
        <p:pic>
          <p:nvPicPr>
            <p:cNvPr id="16" name="Picture 23">
              <a:extLst>
                <a:ext uri="{FF2B5EF4-FFF2-40B4-BE49-F238E27FC236}">
                  <a16:creationId xmlns:a16="http://schemas.microsoft.com/office/drawing/2014/main" id="{12DC02F1-9588-8544-AE86-F32907C387E0}"/>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9500012" y="2735515"/>
              <a:ext cx="695325" cy="1096962"/>
            </a:xfrm>
            <a:prstGeom prst="rect">
              <a:avLst/>
            </a:prstGeom>
            <a:noFill/>
            <a:ln>
              <a:noFill/>
            </a:ln>
            <a:effectLst>
              <a:outerShdw blurRad="50800" dist="38100" dir="8100000" algn="tr" rotWithShape="0">
                <a:prstClr val="black">
                  <a:alpha val="40000"/>
                </a:prst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 Box 10">
              <a:extLst>
                <a:ext uri="{FF2B5EF4-FFF2-40B4-BE49-F238E27FC236}">
                  <a16:creationId xmlns:a16="http://schemas.microsoft.com/office/drawing/2014/main" id="{7460E56A-C582-CB4B-BB20-ABA2CC497C55}"/>
                </a:ext>
              </a:extLst>
            </p:cNvPr>
            <p:cNvSpPr txBox="1">
              <a:spLocks noChangeArrowheads="1"/>
            </p:cNvSpPr>
            <p:nvPr/>
          </p:nvSpPr>
          <p:spPr bwMode="auto">
            <a:xfrm>
              <a:off x="8990069" y="3943569"/>
              <a:ext cx="1941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Arial" panose="020B0604020202020204" pitchFamily="34" charset="0"/>
                </a:rPr>
                <a:t>Tweet-a-watt: </a:t>
              </a:r>
            </a:p>
            <a:p>
              <a:pPr algn="ctr">
                <a:lnSpc>
                  <a:spcPct val="100000"/>
                </a:lnSpc>
                <a:spcBef>
                  <a:spcPct val="0"/>
                </a:spcBef>
                <a:buClrTx/>
                <a:buSzTx/>
                <a:buFontTx/>
                <a:buNone/>
              </a:pPr>
              <a:r>
                <a:rPr lang="en-US" altLang="en-US" sz="1600" dirty="0">
                  <a:latin typeface="Arial" panose="020B0604020202020204" pitchFamily="34" charset="0"/>
                </a:rPr>
                <a:t>monitor energy use</a:t>
              </a:r>
            </a:p>
          </p:txBody>
        </p:sp>
      </p:grpSp>
      <p:pic>
        <p:nvPicPr>
          <p:cNvPr id="18" name="Picture 1">
            <a:extLst>
              <a:ext uri="{FF2B5EF4-FFF2-40B4-BE49-F238E27FC236}">
                <a16:creationId xmlns:a16="http://schemas.microsoft.com/office/drawing/2014/main" id="{1D54884B-8FF7-2B48-A721-AE22F7F5C6B9}"/>
              </a:ext>
            </a:extLst>
          </p:cNvPr>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5012950" y="5057407"/>
            <a:ext cx="1289050" cy="154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8">
            <a:extLst>
              <a:ext uri="{FF2B5EF4-FFF2-40B4-BE49-F238E27FC236}">
                <a16:creationId xmlns:a16="http://schemas.microsoft.com/office/drawing/2014/main" id="{1C3CA974-2833-8B4A-AD26-CA911E1B00D5}"/>
              </a:ext>
            </a:extLst>
          </p:cNvPr>
          <p:cNvSpPr txBox="1">
            <a:spLocks noChangeArrowheads="1"/>
          </p:cNvSpPr>
          <p:nvPr/>
        </p:nvSpPr>
        <p:spPr bwMode="auto">
          <a:xfrm>
            <a:off x="6327301" y="5049292"/>
            <a:ext cx="1233488"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err="1">
                <a:latin typeface="Arial" panose="020B0604020202020204" pitchFamily="34" charset="0"/>
              </a:rPr>
              <a:t>sensorized</a:t>
            </a:r>
            <a:r>
              <a:rPr lang="en-US" altLang="en-US" sz="1600" dirty="0">
                <a:latin typeface="Arial" panose="020B0604020202020204" pitchFamily="34" charset="0"/>
              </a:rPr>
              <a:t>,</a:t>
            </a:r>
          </a:p>
          <a:p>
            <a:pPr>
              <a:lnSpc>
                <a:spcPct val="100000"/>
              </a:lnSpc>
              <a:spcBef>
                <a:spcPct val="0"/>
              </a:spcBef>
              <a:buClrTx/>
              <a:buSzTx/>
              <a:buFontTx/>
              <a:buNone/>
            </a:pPr>
            <a:r>
              <a:rPr lang="en-US" altLang="en-US" sz="1600" dirty="0">
                <a:latin typeface="Arial" panose="020B0604020202020204" pitchFamily="34" charset="0"/>
              </a:rPr>
              <a:t>bed</a:t>
            </a:r>
          </a:p>
          <a:p>
            <a:pPr>
              <a:lnSpc>
                <a:spcPct val="100000"/>
              </a:lnSpc>
              <a:spcBef>
                <a:spcPct val="0"/>
              </a:spcBef>
              <a:buClrTx/>
              <a:buSzTx/>
              <a:buFontTx/>
              <a:buNone/>
            </a:pPr>
            <a:r>
              <a:rPr lang="en-US" altLang="en-US" sz="1600" dirty="0">
                <a:latin typeface="Arial" panose="020B0604020202020204" pitchFamily="34" charset="0"/>
              </a:rPr>
              <a:t>mattress</a:t>
            </a:r>
          </a:p>
        </p:txBody>
      </p:sp>
      <p:grpSp>
        <p:nvGrpSpPr>
          <p:cNvPr id="20" name="Group 19">
            <a:extLst>
              <a:ext uri="{FF2B5EF4-FFF2-40B4-BE49-F238E27FC236}">
                <a16:creationId xmlns:a16="http://schemas.microsoft.com/office/drawing/2014/main" id="{95921A14-7A9E-D843-B710-C98FE965CE48}"/>
              </a:ext>
            </a:extLst>
          </p:cNvPr>
          <p:cNvGrpSpPr/>
          <p:nvPr/>
        </p:nvGrpSpPr>
        <p:grpSpPr>
          <a:xfrm>
            <a:off x="814227" y="3747548"/>
            <a:ext cx="2762409" cy="1188113"/>
            <a:chOff x="1752086" y="3835708"/>
            <a:chExt cx="2762409" cy="1188113"/>
          </a:xfrm>
        </p:grpSpPr>
        <p:sp>
          <p:nvSpPr>
            <p:cNvPr id="21" name="Text Box 8">
              <a:extLst>
                <a:ext uri="{FF2B5EF4-FFF2-40B4-BE49-F238E27FC236}">
                  <a16:creationId xmlns:a16="http://schemas.microsoft.com/office/drawing/2014/main" id="{7BC8E854-5333-004E-AB0E-8D451C613A03}"/>
                </a:ext>
              </a:extLst>
            </p:cNvPr>
            <p:cNvSpPr txBox="1">
              <a:spLocks noChangeArrowheads="1"/>
            </p:cNvSpPr>
            <p:nvPr/>
          </p:nvSpPr>
          <p:spPr bwMode="auto">
            <a:xfrm>
              <a:off x="2802167" y="4685267"/>
              <a:ext cx="17123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Arial" panose="020B0604020202020204" pitchFamily="34" charset="0"/>
                </a:rPr>
                <a:t>Security Camera</a:t>
              </a:r>
            </a:p>
          </p:txBody>
        </p:sp>
        <p:pic>
          <p:nvPicPr>
            <p:cNvPr id="22" name="Picture 21">
              <a:extLst>
                <a:ext uri="{FF2B5EF4-FFF2-40B4-BE49-F238E27FC236}">
                  <a16:creationId xmlns:a16="http://schemas.microsoft.com/office/drawing/2014/main" id="{4977361F-F946-E746-BAEB-374C849AA1E2}"/>
                </a:ext>
              </a:extLst>
            </p:cNvPr>
            <p:cNvPicPr>
              <a:picLocks noChangeAspect="1"/>
            </p:cNvPicPr>
            <p:nvPr/>
          </p:nvPicPr>
          <p:blipFill>
            <a:blip r:embed="rId10"/>
            <a:stretch>
              <a:fillRect/>
            </a:stretch>
          </p:blipFill>
          <p:spPr>
            <a:xfrm>
              <a:off x="1752086" y="3835708"/>
              <a:ext cx="1124188" cy="1136342"/>
            </a:xfrm>
            <a:prstGeom prst="rect">
              <a:avLst/>
            </a:prstGeom>
          </p:spPr>
        </p:pic>
      </p:grpSp>
      <p:grpSp>
        <p:nvGrpSpPr>
          <p:cNvPr id="23" name="Group 22">
            <a:extLst>
              <a:ext uri="{FF2B5EF4-FFF2-40B4-BE49-F238E27FC236}">
                <a16:creationId xmlns:a16="http://schemas.microsoft.com/office/drawing/2014/main" id="{C12767D5-9E29-564E-80E2-F55B4A82324A}"/>
              </a:ext>
            </a:extLst>
          </p:cNvPr>
          <p:cNvGrpSpPr/>
          <p:nvPr/>
        </p:nvGrpSpPr>
        <p:grpSpPr>
          <a:xfrm>
            <a:off x="616543" y="1793419"/>
            <a:ext cx="1518364" cy="1496298"/>
            <a:chOff x="1456757" y="1837775"/>
            <a:chExt cx="1518364" cy="1496298"/>
          </a:xfrm>
        </p:grpSpPr>
        <p:pic>
          <p:nvPicPr>
            <p:cNvPr id="24" name="Picture 23">
              <a:extLst>
                <a:ext uri="{FF2B5EF4-FFF2-40B4-BE49-F238E27FC236}">
                  <a16:creationId xmlns:a16="http://schemas.microsoft.com/office/drawing/2014/main" id="{FC6DC43C-35CF-D641-A0D1-45393D71C3E5}"/>
                </a:ext>
              </a:extLst>
            </p:cNvPr>
            <p:cNvPicPr>
              <a:picLocks noChangeAspect="1"/>
            </p:cNvPicPr>
            <p:nvPr/>
          </p:nvPicPr>
          <p:blipFill>
            <a:blip r:embed="rId11"/>
            <a:stretch>
              <a:fillRect/>
            </a:stretch>
          </p:blipFill>
          <p:spPr>
            <a:xfrm>
              <a:off x="1665601" y="1837775"/>
              <a:ext cx="550338" cy="1149734"/>
            </a:xfrm>
            <a:prstGeom prst="rect">
              <a:avLst/>
            </a:prstGeom>
          </p:spPr>
        </p:pic>
        <p:sp>
          <p:nvSpPr>
            <p:cNvPr id="25" name="Text Box 8">
              <a:extLst>
                <a:ext uri="{FF2B5EF4-FFF2-40B4-BE49-F238E27FC236}">
                  <a16:creationId xmlns:a16="http://schemas.microsoft.com/office/drawing/2014/main" id="{23F7E456-D71D-3844-AE63-866B36C95BB3}"/>
                </a:ext>
              </a:extLst>
            </p:cNvPr>
            <p:cNvSpPr txBox="1">
              <a:spLocks noChangeArrowheads="1"/>
            </p:cNvSpPr>
            <p:nvPr/>
          </p:nvSpPr>
          <p:spPr bwMode="auto">
            <a:xfrm>
              <a:off x="1456757" y="2995519"/>
              <a:ext cx="151836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Arial" panose="020B0604020202020204" pitchFamily="34" charset="0"/>
                </a:rPr>
                <a:t>Amazon Echo</a:t>
              </a:r>
            </a:p>
          </p:txBody>
        </p:sp>
      </p:grpSp>
      <p:grpSp>
        <p:nvGrpSpPr>
          <p:cNvPr id="26" name="Group 25">
            <a:extLst>
              <a:ext uri="{FF2B5EF4-FFF2-40B4-BE49-F238E27FC236}">
                <a16:creationId xmlns:a16="http://schemas.microsoft.com/office/drawing/2014/main" id="{11948532-9530-1146-897B-DCFADC27A92F}"/>
              </a:ext>
            </a:extLst>
          </p:cNvPr>
          <p:cNvGrpSpPr/>
          <p:nvPr/>
        </p:nvGrpSpPr>
        <p:grpSpPr>
          <a:xfrm>
            <a:off x="5244182" y="1499728"/>
            <a:ext cx="2735863" cy="1058026"/>
            <a:chOff x="616980" y="5292729"/>
            <a:chExt cx="3127445" cy="1171571"/>
          </a:xfrm>
        </p:grpSpPr>
        <p:grpSp>
          <p:nvGrpSpPr>
            <p:cNvPr id="27" name="Group 26">
              <a:extLst>
                <a:ext uri="{FF2B5EF4-FFF2-40B4-BE49-F238E27FC236}">
                  <a16:creationId xmlns:a16="http://schemas.microsoft.com/office/drawing/2014/main" id="{ACDED42E-CC7D-9245-8E47-BC40291CA6D2}"/>
                </a:ext>
              </a:extLst>
            </p:cNvPr>
            <p:cNvGrpSpPr/>
            <p:nvPr/>
          </p:nvGrpSpPr>
          <p:grpSpPr>
            <a:xfrm>
              <a:off x="616980" y="5292729"/>
              <a:ext cx="3127445" cy="821190"/>
              <a:chOff x="842590" y="5420084"/>
              <a:chExt cx="3127445" cy="821190"/>
            </a:xfrm>
            <a:effectLst>
              <a:outerShdw blurRad="50800" dist="38100" dir="8100000" algn="tr" rotWithShape="0">
                <a:prstClr val="black">
                  <a:alpha val="40000"/>
                </a:prstClr>
              </a:outerShdw>
            </a:effectLst>
          </p:grpSpPr>
          <p:pic>
            <p:nvPicPr>
              <p:cNvPr id="29" name="Picture 28">
                <a:extLst>
                  <a:ext uri="{FF2B5EF4-FFF2-40B4-BE49-F238E27FC236}">
                    <a16:creationId xmlns:a16="http://schemas.microsoft.com/office/drawing/2014/main" id="{CD3E45EE-DA47-FB4C-AC41-27292F878C02}"/>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842590" y="5420084"/>
                <a:ext cx="2016478" cy="821190"/>
              </a:xfrm>
              <a:prstGeom prst="rect">
                <a:avLst/>
              </a:prstGeom>
            </p:spPr>
          </p:pic>
          <p:pic>
            <p:nvPicPr>
              <p:cNvPr id="30" name="Picture 29">
                <a:extLst>
                  <a:ext uri="{FF2B5EF4-FFF2-40B4-BE49-F238E27FC236}">
                    <a16:creationId xmlns:a16="http://schemas.microsoft.com/office/drawing/2014/main" id="{30103B98-660D-084B-8321-DBA525F85DB1}"/>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l="44905"/>
              <a:stretch/>
            </p:blipFill>
            <p:spPr>
              <a:xfrm>
                <a:off x="2859067" y="5420084"/>
                <a:ext cx="1110968" cy="821190"/>
              </a:xfrm>
              <a:prstGeom prst="rect">
                <a:avLst/>
              </a:prstGeom>
            </p:spPr>
          </p:pic>
        </p:grpSp>
        <p:sp>
          <p:nvSpPr>
            <p:cNvPr id="28" name="Text Box 8">
              <a:extLst>
                <a:ext uri="{FF2B5EF4-FFF2-40B4-BE49-F238E27FC236}">
                  <a16:creationId xmlns:a16="http://schemas.microsoft.com/office/drawing/2014/main" id="{353FBC48-20B8-084C-B54B-2A578BE3B2E8}"/>
                </a:ext>
              </a:extLst>
            </p:cNvPr>
            <p:cNvSpPr txBox="1">
              <a:spLocks noChangeArrowheads="1"/>
            </p:cNvSpPr>
            <p:nvPr/>
          </p:nvSpPr>
          <p:spPr bwMode="auto">
            <a:xfrm>
              <a:off x="1008562" y="6125746"/>
              <a:ext cx="21579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Arial" panose="020B0604020202020204" pitchFamily="34" charset="0"/>
                </a:rPr>
                <a:t>Pacemaker &amp; Monitor</a:t>
              </a:r>
            </a:p>
          </p:txBody>
        </p:sp>
      </p:grpSp>
      <p:sp>
        <p:nvSpPr>
          <p:cNvPr id="31" name="TextBox 30">
            <a:extLst>
              <a:ext uri="{FF2B5EF4-FFF2-40B4-BE49-F238E27FC236}">
                <a16:creationId xmlns:a16="http://schemas.microsoft.com/office/drawing/2014/main" id="{6893A0B6-39E7-204C-827B-349BC5FC8535}"/>
              </a:ext>
            </a:extLst>
          </p:cNvPr>
          <p:cNvSpPr txBox="1"/>
          <p:nvPr/>
        </p:nvSpPr>
        <p:spPr>
          <a:xfrm>
            <a:off x="9556912" y="5333549"/>
            <a:ext cx="1814920" cy="707886"/>
          </a:xfrm>
          <a:prstGeom prst="rect">
            <a:avLst/>
          </a:prstGeom>
          <a:noFill/>
        </p:spPr>
        <p:txBody>
          <a:bodyPr wrap="none" rtlCol="0">
            <a:spAutoFit/>
          </a:bodyPr>
          <a:lstStyle/>
          <a:p>
            <a:r>
              <a:rPr lang="en-US" sz="4000" i="1" dirty="0">
                <a:solidFill>
                  <a:srgbClr val="0000A8"/>
                </a:solidFill>
              </a:rPr>
              <a:t>Others?</a:t>
            </a:r>
          </a:p>
        </p:txBody>
      </p:sp>
      <p:pic>
        <p:nvPicPr>
          <p:cNvPr id="32" name="Picture 31">
            <a:extLst>
              <a:ext uri="{FF2B5EF4-FFF2-40B4-BE49-F238E27FC236}">
                <a16:creationId xmlns:a16="http://schemas.microsoft.com/office/drawing/2014/main" id="{D4B1D193-AA5A-2B4F-A43C-A5DB01A465A2}"/>
              </a:ext>
            </a:extLst>
          </p:cNvPr>
          <p:cNvPicPr>
            <a:picLocks noChangeAspect="1"/>
          </p:cNvPicPr>
          <p:nvPr/>
        </p:nvPicPr>
        <p:blipFill>
          <a:blip r:embed="rId14"/>
          <a:stretch>
            <a:fillRect/>
          </a:stretch>
        </p:blipFill>
        <p:spPr>
          <a:xfrm>
            <a:off x="7586090" y="5333549"/>
            <a:ext cx="1308005" cy="1292102"/>
          </a:xfrm>
          <a:prstGeom prst="rect">
            <a:avLst/>
          </a:prstGeom>
        </p:spPr>
      </p:pic>
      <p:sp>
        <p:nvSpPr>
          <p:cNvPr id="33" name="Text Box 10">
            <a:extLst>
              <a:ext uri="{FF2B5EF4-FFF2-40B4-BE49-F238E27FC236}">
                <a16:creationId xmlns:a16="http://schemas.microsoft.com/office/drawing/2014/main" id="{10243502-70F1-454C-B91D-F4CBAD87DA2A}"/>
              </a:ext>
            </a:extLst>
          </p:cNvPr>
          <p:cNvSpPr txBox="1">
            <a:spLocks noChangeArrowheads="1"/>
          </p:cNvSpPr>
          <p:nvPr/>
        </p:nvSpPr>
        <p:spPr bwMode="auto">
          <a:xfrm>
            <a:off x="8513461" y="6201538"/>
            <a:ext cx="628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Arial" panose="020B0604020202020204" pitchFamily="34" charset="0"/>
              </a:rPr>
              <a:t>Fitbit</a:t>
            </a:r>
          </a:p>
        </p:txBody>
      </p:sp>
      <p:pic>
        <p:nvPicPr>
          <p:cNvPr id="34" name="Picture 33">
            <a:extLst>
              <a:ext uri="{FF2B5EF4-FFF2-40B4-BE49-F238E27FC236}">
                <a16:creationId xmlns:a16="http://schemas.microsoft.com/office/drawing/2014/main" id="{4397B6CC-7ACF-AB44-AEEB-6942A1959FC5}"/>
              </a:ext>
            </a:extLst>
          </p:cNvPr>
          <p:cNvPicPr>
            <a:picLocks noChangeAspect="1"/>
          </p:cNvPicPr>
          <p:nvPr/>
        </p:nvPicPr>
        <p:blipFill>
          <a:blip r:embed="rId15"/>
          <a:stretch>
            <a:fillRect/>
          </a:stretch>
        </p:blipFill>
        <p:spPr>
          <a:xfrm>
            <a:off x="8545572" y="4018683"/>
            <a:ext cx="1551621" cy="663838"/>
          </a:xfrm>
          <a:prstGeom prst="rect">
            <a:avLst/>
          </a:prstGeom>
        </p:spPr>
      </p:pic>
      <p:sp>
        <p:nvSpPr>
          <p:cNvPr id="35" name="Text Box 10">
            <a:extLst>
              <a:ext uri="{FF2B5EF4-FFF2-40B4-BE49-F238E27FC236}">
                <a16:creationId xmlns:a16="http://schemas.microsoft.com/office/drawing/2014/main" id="{D5046EF2-BE9A-5947-80CD-08C169F54DE6}"/>
              </a:ext>
            </a:extLst>
          </p:cNvPr>
          <p:cNvSpPr txBox="1">
            <a:spLocks noChangeArrowheads="1"/>
          </p:cNvSpPr>
          <p:nvPr/>
        </p:nvSpPr>
        <p:spPr bwMode="auto">
          <a:xfrm>
            <a:off x="8865032" y="4682521"/>
            <a:ext cx="1220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Arial" panose="020B0604020202020204" pitchFamily="34" charset="0"/>
              </a:rPr>
              <a:t>AR devices</a:t>
            </a:r>
          </a:p>
        </p:txBody>
      </p:sp>
    </p:spTree>
    <p:extLst>
      <p:ext uri="{BB962C8B-B14F-4D97-AF65-F5344CB8AC3E}">
        <p14:creationId xmlns:p14="http://schemas.microsoft.com/office/powerpoint/2010/main" val="53302354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What’s a protocol?</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9</a:t>
            </a:fld>
            <a:endParaRPr lang="en-US" dirty="0"/>
          </a:p>
        </p:txBody>
      </p:sp>
      <p:sp>
        <p:nvSpPr>
          <p:cNvPr id="609" name="Rectangle 3">
            <a:extLst>
              <a:ext uri="{FF2B5EF4-FFF2-40B4-BE49-F238E27FC236}">
                <a16:creationId xmlns:a16="http://schemas.microsoft.com/office/drawing/2014/main" id="{206E5658-AD06-5B45-9559-3CE607888606}"/>
              </a:ext>
            </a:extLst>
          </p:cNvPr>
          <p:cNvSpPr txBox="1">
            <a:spLocks noChangeArrowheads="1"/>
          </p:cNvSpPr>
          <p:nvPr/>
        </p:nvSpPr>
        <p:spPr>
          <a:xfrm>
            <a:off x="844202" y="1490089"/>
            <a:ext cx="3581400" cy="46482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ea typeface="ＭＳ Ｐゴシック" panose="020B0600070205080204" pitchFamily="34" charset="-128"/>
              </a:rPr>
              <a:t>Human protocols:</a:t>
            </a:r>
          </a:p>
          <a:p>
            <a:pPr marL="349250" indent="-220663">
              <a:buSzPct val="75000"/>
            </a:pPr>
            <a:r>
              <a:rPr lang="en-US" altLang="ja-JP" sz="2400" dirty="0">
                <a:ea typeface="ＭＳ Ｐゴシック" panose="020B0600070205080204" pitchFamily="34" charset="-128"/>
              </a:rPr>
              <a:t>“what’s the time?”</a:t>
            </a:r>
          </a:p>
          <a:p>
            <a:pPr marL="349250" indent="-220663">
              <a:buSzPct val="75000"/>
            </a:pPr>
            <a:r>
              <a:rPr lang="en-US" altLang="ja-JP" sz="2400" dirty="0">
                <a:ea typeface="ＭＳ Ｐゴシック" panose="020B0600070205080204" pitchFamily="34" charset="-128"/>
              </a:rPr>
              <a:t>“I have a question”</a:t>
            </a:r>
          </a:p>
          <a:p>
            <a:pPr marL="349250" indent="-220663">
              <a:buSzPct val="75000"/>
            </a:pPr>
            <a:r>
              <a:rPr lang="en-US" altLang="en-US" sz="2400" dirty="0">
                <a:ea typeface="ＭＳ Ｐゴシック" panose="020B0600070205080204" pitchFamily="34" charset="-128"/>
              </a:rPr>
              <a:t>introductions</a:t>
            </a:r>
            <a:endParaRPr lang="en-US" altLang="en-US" dirty="0">
              <a:ea typeface="ＭＳ Ｐゴシック" panose="020B0600070205080204" pitchFamily="34" charset="-128"/>
            </a:endParaRPr>
          </a:p>
          <a:p>
            <a:pPr lvl="1"/>
            <a:endParaRPr lang="en-US" altLang="en-US" sz="2000" dirty="0">
              <a:ea typeface="Arial" panose="020B0604020202020204" pitchFamily="34" charset="0"/>
            </a:endParaRPr>
          </a:p>
          <a:p>
            <a:pPr>
              <a:buFont typeface="Wingdings" pitchFamily="2" charset="2"/>
              <a:buNone/>
            </a:pPr>
            <a:r>
              <a:rPr lang="en-US" altLang="en-US" sz="2400" dirty="0">
                <a:ea typeface="ＭＳ Ｐゴシック" panose="020B0600070205080204" pitchFamily="34" charset="-128"/>
              </a:rPr>
              <a:t>… specific messages sent</a:t>
            </a:r>
          </a:p>
          <a:p>
            <a:pPr>
              <a:buFont typeface="Wingdings" pitchFamily="2" charset="2"/>
              <a:buNone/>
            </a:pPr>
            <a:r>
              <a:rPr lang="en-US" altLang="en-US" sz="2400" dirty="0">
                <a:ea typeface="ＭＳ Ｐゴシック" panose="020B0600070205080204" pitchFamily="34" charset="-128"/>
              </a:rPr>
              <a:t>… specific actions taken when message received, or other events</a:t>
            </a:r>
          </a:p>
        </p:txBody>
      </p:sp>
      <p:sp>
        <p:nvSpPr>
          <p:cNvPr id="610" name="Rectangle 4">
            <a:extLst>
              <a:ext uri="{FF2B5EF4-FFF2-40B4-BE49-F238E27FC236}">
                <a16:creationId xmlns:a16="http://schemas.microsoft.com/office/drawing/2014/main" id="{9D396FB4-4702-8A46-BFF5-B81AA58972AF}"/>
              </a:ext>
            </a:extLst>
          </p:cNvPr>
          <p:cNvSpPr txBox="1">
            <a:spLocks noChangeArrowheads="1"/>
          </p:cNvSpPr>
          <p:nvPr/>
        </p:nvSpPr>
        <p:spPr>
          <a:xfrm>
            <a:off x="5182172" y="1500137"/>
            <a:ext cx="5780439" cy="25908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protocols:</a:t>
            </a:r>
          </a:p>
          <a:p>
            <a:pPr marL="349250" indent="-220663">
              <a:buSzPct val="75000"/>
            </a:pPr>
            <a:r>
              <a:rPr lang="en-US" altLang="en-US" sz="2400" dirty="0">
                <a:latin typeface="Calibri" panose="020F0502020204030204" pitchFamily="34" charset="0"/>
                <a:ea typeface="ＭＳ Ｐゴシック" panose="020B0600070205080204" pitchFamily="34" charset="-128"/>
                <a:cs typeface="Calibri" panose="020F0502020204030204" pitchFamily="34" charset="0"/>
              </a:rPr>
              <a:t>computers (devices) rather than humans</a:t>
            </a:r>
          </a:p>
          <a:p>
            <a:pPr marL="349250" indent="-220663">
              <a:buSzPct val="75000"/>
            </a:pPr>
            <a:r>
              <a:rPr lang="en-US" altLang="en-US" sz="2400" dirty="0">
                <a:latin typeface="Calibri" panose="020F0502020204030204" pitchFamily="34" charset="0"/>
                <a:ea typeface="ＭＳ Ｐゴシック" panose="020B0600070205080204" pitchFamily="34" charset="-128"/>
                <a:cs typeface="Calibri" panose="020F0502020204030204" pitchFamily="34" charset="0"/>
              </a:rPr>
              <a:t>all communication activity in Internet governed by protocols</a:t>
            </a:r>
          </a:p>
        </p:txBody>
      </p:sp>
      <p:grpSp>
        <p:nvGrpSpPr>
          <p:cNvPr id="7" name="Group 6">
            <a:extLst>
              <a:ext uri="{FF2B5EF4-FFF2-40B4-BE49-F238E27FC236}">
                <a16:creationId xmlns:a16="http://schemas.microsoft.com/office/drawing/2014/main" id="{ED53E871-92D8-754E-98DE-E8454C077808}"/>
              </a:ext>
            </a:extLst>
          </p:cNvPr>
          <p:cNvGrpSpPr/>
          <p:nvPr/>
        </p:nvGrpSpPr>
        <p:grpSpPr>
          <a:xfrm>
            <a:off x="5192221" y="3708643"/>
            <a:ext cx="5860823" cy="2568587"/>
            <a:chOff x="5573361" y="3999310"/>
            <a:chExt cx="5860823" cy="2568587"/>
          </a:xfrm>
        </p:grpSpPr>
        <p:sp>
          <p:nvSpPr>
            <p:cNvPr id="612" name="Rectangle 5">
              <a:extLst>
                <a:ext uri="{FF2B5EF4-FFF2-40B4-BE49-F238E27FC236}">
                  <a16:creationId xmlns:a16="http://schemas.microsoft.com/office/drawing/2014/main" id="{638623C1-C1BD-AA44-B5D3-D4E8981772E9}"/>
                </a:ext>
              </a:extLst>
            </p:cNvPr>
            <p:cNvSpPr>
              <a:spLocks noChangeArrowheads="1"/>
            </p:cNvSpPr>
            <p:nvPr/>
          </p:nvSpPr>
          <p:spPr bwMode="auto">
            <a:xfrm>
              <a:off x="5573361" y="4205697"/>
              <a:ext cx="5720151"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spcBef>
                  <a:spcPct val="20000"/>
                </a:spcBef>
                <a:buClr>
                  <a:schemeClr val="accent2"/>
                </a:buClr>
                <a:buSzPct val="85000"/>
                <a:buFont typeface="Wingdings" pitchFamily="2" charset="2"/>
                <a:buNone/>
              </a:pPr>
              <a:r>
                <a:rPr lang="en-US" altLang="en-US" sz="2800" i="1" dirty="0">
                  <a:solidFill>
                    <a:srgbClr val="CC0000"/>
                  </a:solidFill>
                  <a:latin typeface="+mn-lt"/>
                </a:rPr>
                <a:t>Protocols</a:t>
              </a:r>
              <a:r>
                <a:rPr lang="en-US" altLang="en-US" sz="2800" i="1" dirty="0">
                  <a:latin typeface="+mn-lt"/>
                </a:rPr>
                <a:t> define the </a:t>
              </a:r>
              <a:r>
                <a:rPr lang="en-US" altLang="en-US" sz="2800" i="1" dirty="0">
                  <a:solidFill>
                    <a:srgbClr val="CC0000"/>
                  </a:solidFill>
                  <a:latin typeface="+mn-lt"/>
                </a:rPr>
                <a:t>format</a:t>
              </a:r>
              <a:r>
                <a:rPr lang="en-US" altLang="en-US" sz="2800" i="1" dirty="0">
                  <a:latin typeface="+mn-lt"/>
                </a:rPr>
                <a:t>, </a:t>
              </a:r>
              <a:r>
                <a:rPr lang="en-US" altLang="en-US" sz="2800" i="1" dirty="0">
                  <a:solidFill>
                    <a:srgbClr val="CC0000"/>
                  </a:solidFill>
                  <a:latin typeface="+mn-lt"/>
                </a:rPr>
                <a:t>order</a:t>
              </a:r>
              <a:r>
                <a:rPr lang="en-US" altLang="en-US" sz="2800" i="1" dirty="0">
                  <a:latin typeface="+mn-lt"/>
                </a:rPr>
                <a:t> of </a:t>
              </a:r>
              <a:r>
                <a:rPr lang="en-US" altLang="en-US" sz="2800" i="1" dirty="0">
                  <a:solidFill>
                    <a:srgbClr val="CC0000"/>
                  </a:solidFill>
                  <a:latin typeface="+mn-lt"/>
                </a:rPr>
                <a:t>messages sent and received</a:t>
              </a:r>
              <a:r>
                <a:rPr lang="en-US" altLang="en-US" sz="2800" i="1" dirty="0">
                  <a:latin typeface="+mn-lt"/>
                </a:rPr>
                <a:t> among network entities, and </a:t>
              </a:r>
              <a:r>
                <a:rPr lang="en-US" altLang="en-US" sz="2800" i="1" dirty="0">
                  <a:solidFill>
                    <a:srgbClr val="CC0000"/>
                  </a:solidFill>
                  <a:latin typeface="+mn-lt"/>
                </a:rPr>
                <a:t>actions taken</a:t>
              </a:r>
              <a:r>
                <a:rPr lang="en-US" altLang="en-US" sz="2800" i="1" dirty="0">
                  <a:latin typeface="+mn-lt"/>
                </a:rPr>
                <a:t> on msg transmission, receipt</a:t>
              </a:r>
              <a:r>
                <a:rPr lang="en-US" altLang="en-US" i="1" dirty="0">
                  <a:solidFill>
                    <a:srgbClr val="FF0000"/>
                  </a:solidFill>
                  <a:latin typeface="+mn-lt"/>
                </a:rPr>
                <a:t> </a:t>
              </a:r>
            </a:p>
          </p:txBody>
        </p:sp>
        <p:sp>
          <p:nvSpPr>
            <p:cNvPr id="613" name="Rectangle 6">
              <a:extLst>
                <a:ext uri="{FF2B5EF4-FFF2-40B4-BE49-F238E27FC236}">
                  <a16:creationId xmlns:a16="http://schemas.microsoft.com/office/drawing/2014/main" id="{4BB2FBA9-962F-5D48-9F9D-959DBE62A5C6}"/>
                </a:ext>
              </a:extLst>
            </p:cNvPr>
            <p:cNvSpPr>
              <a:spLocks noChangeArrowheads="1"/>
            </p:cNvSpPr>
            <p:nvPr/>
          </p:nvSpPr>
          <p:spPr bwMode="auto">
            <a:xfrm>
              <a:off x="5653745" y="3999310"/>
              <a:ext cx="5780439" cy="2362200"/>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grpSp>
    </p:spTree>
    <p:extLst>
      <p:ext uri="{BB962C8B-B14F-4D97-AF65-F5344CB8AC3E}">
        <p14:creationId xmlns:p14="http://schemas.microsoft.com/office/powerpoint/2010/main" val="2609794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0"/>
                                        </p:tgtEl>
                                        <p:attrNameLst>
                                          <p:attrName>style.visibility</p:attrName>
                                        </p:attrNameLst>
                                      </p:cBhvr>
                                      <p:to>
                                        <p:strVal val="visible"/>
                                      </p:to>
                                    </p:set>
                                    <p:animEffect transition="in" filter="dissolve">
                                      <p:cBhvr>
                                        <p:cTn id="7" dur="500"/>
                                        <p:tgtEl>
                                          <p:spTgt spid="6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0"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What’s a protocol?</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10</a:t>
            </a:fld>
            <a:endParaRPr lang="en-US" dirty="0"/>
          </a:p>
        </p:txBody>
      </p:sp>
      <p:sp>
        <p:nvSpPr>
          <p:cNvPr id="10" name="Rectangle 3">
            <a:extLst>
              <a:ext uri="{FF2B5EF4-FFF2-40B4-BE49-F238E27FC236}">
                <a16:creationId xmlns:a16="http://schemas.microsoft.com/office/drawing/2014/main" id="{5FDA5BE8-E15B-EA45-8818-A68BEA678236}"/>
              </a:ext>
            </a:extLst>
          </p:cNvPr>
          <p:cNvSpPr txBox="1">
            <a:spLocks noChangeArrowheads="1"/>
          </p:cNvSpPr>
          <p:nvPr/>
        </p:nvSpPr>
        <p:spPr>
          <a:xfrm>
            <a:off x="885095" y="1371600"/>
            <a:ext cx="8153400" cy="6858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dirty="0">
                <a:ea typeface="ＭＳ Ｐゴシック" panose="020B0600070205080204" pitchFamily="34" charset="-128"/>
              </a:rPr>
              <a:t>A human protocol and a computer network protocol:</a:t>
            </a:r>
          </a:p>
          <a:p>
            <a:pPr>
              <a:buFont typeface="Wingdings" pitchFamily="2" charset="2"/>
              <a:buNone/>
            </a:pPr>
            <a:endParaRPr lang="en-US" altLang="en-US" dirty="0">
              <a:ea typeface="ＭＳ Ｐゴシック" panose="020B0600070205080204" pitchFamily="34" charset="-128"/>
            </a:endParaRPr>
          </a:p>
        </p:txBody>
      </p:sp>
      <p:sp>
        <p:nvSpPr>
          <p:cNvPr id="11" name="Rectangle 8">
            <a:extLst>
              <a:ext uri="{FF2B5EF4-FFF2-40B4-BE49-F238E27FC236}">
                <a16:creationId xmlns:a16="http://schemas.microsoft.com/office/drawing/2014/main" id="{CD43C19F-41ED-3443-B50D-7AA2E7350B6B}"/>
              </a:ext>
            </a:extLst>
          </p:cNvPr>
          <p:cNvSpPr>
            <a:spLocks noChangeArrowheads="1"/>
          </p:cNvSpPr>
          <p:nvPr/>
        </p:nvSpPr>
        <p:spPr bwMode="auto">
          <a:xfrm>
            <a:off x="980344" y="5862638"/>
            <a:ext cx="5511891"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chemeClr val="accent2"/>
              </a:buClr>
              <a:buSzPct val="85000"/>
              <a:buFont typeface="Wingdings" pitchFamily="2" charset="2"/>
              <a:buNone/>
            </a:pPr>
            <a:r>
              <a:rPr lang="en-US" altLang="en-US" sz="3200" i="1" dirty="0">
                <a:solidFill>
                  <a:srgbClr val="CC0000"/>
                </a:solidFill>
                <a:latin typeface="Calibri" panose="020F0502020204030204" pitchFamily="34" charset="0"/>
                <a:cs typeface="Calibri" panose="020F0502020204030204" pitchFamily="34" charset="0"/>
              </a:rPr>
              <a:t>Q:</a:t>
            </a:r>
            <a:r>
              <a:rPr lang="en-US" altLang="en-US" sz="3200" dirty="0">
                <a:latin typeface="Calibri" panose="020F0502020204030204" pitchFamily="34" charset="0"/>
                <a:cs typeface="Calibri" panose="020F0502020204030204" pitchFamily="34" charset="0"/>
              </a:rPr>
              <a:t> other human protocols? </a:t>
            </a:r>
          </a:p>
        </p:txBody>
      </p:sp>
      <p:pic>
        <p:nvPicPr>
          <p:cNvPr id="13" name="Picture 62" descr="Alice">
            <a:extLst>
              <a:ext uri="{FF2B5EF4-FFF2-40B4-BE49-F238E27FC236}">
                <a16:creationId xmlns:a16="http://schemas.microsoft.com/office/drawing/2014/main" id="{6AC32637-72CC-184C-8EF2-C7474809C0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7642" y="2314576"/>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63" descr="Bob">
            <a:extLst>
              <a:ext uri="{FF2B5EF4-FFF2-40B4-BE49-F238E27FC236}">
                <a16:creationId xmlns:a16="http://schemas.microsoft.com/office/drawing/2014/main" id="{0C9653DB-36BF-FC4E-96D5-398A63E280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96992" y="2709863"/>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8">
            <a:extLst>
              <a:ext uri="{FF2B5EF4-FFF2-40B4-BE49-F238E27FC236}">
                <a16:creationId xmlns:a16="http://schemas.microsoft.com/office/drawing/2014/main" id="{2A0AB36B-394C-B44E-9FDF-B5332733F92C}"/>
              </a:ext>
            </a:extLst>
          </p:cNvPr>
          <p:cNvGrpSpPr/>
          <p:nvPr/>
        </p:nvGrpSpPr>
        <p:grpSpPr>
          <a:xfrm>
            <a:off x="2925329" y="2422526"/>
            <a:ext cx="1762125" cy="563562"/>
            <a:chOff x="2925329" y="2422526"/>
            <a:chExt cx="1762125" cy="563562"/>
          </a:xfrm>
        </p:grpSpPr>
        <p:sp>
          <p:nvSpPr>
            <p:cNvPr id="12" name="Line 10">
              <a:extLst>
                <a:ext uri="{FF2B5EF4-FFF2-40B4-BE49-F238E27FC236}">
                  <a16:creationId xmlns:a16="http://schemas.microsoft.com/office/drawing/2014/main" id="{AF107355-7D98-0B44-975B-CBF0C399423E}"/>
                </a:ext>
              </a:extLst>
            </p:cNvPr>
            <p:cNvSpPr>
              <a:spLocks noChangeShapeType="1"/>
            </p:cNvSpPr>
            <p:nvPr/>
          </p:nvSpPr>
          <p:spPr bwMode="auto">
            <a:xfrm>
              <a:off x="2925329" y="2709863"/>
              <a:ext cx="1762125" cy="276225"/>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sp>
          <p:nvSpPr>
            <p:cNvPr id="15" name="Text Box 64">
              <a:extLst>
                <a:ext uri="{FF2B5EF4-FFF2-40B4-BE49-F238E27FC236}">
                  <a16:creationId xmlns:a16="http://schemas.microsoft.com/office/drawing/2014/main" id="{E3C8F55E-81A4-6845-B300-C80C498A8F1A}"/>
                </a:ext>
              </a:extLst>
            </p:cNvPr>
            <p:cNvSpPr txBox="1">
              <a:spLocks noChangeArrowheads="1"/>
            </p:cNvSpPr>
            <p:nvPr/>
          </p:nvSpPr>
          <p:spPr bwMode="auto">
            <a:xfrm>
              <a:off x="3366654" y="2422526"/>
              <a:ext cx="447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Hi</a:t>
              </a:r>
            </a:p>
          </p:txBody>
        </p:sp>
      </p:grpSp>
      <p:grpSp>
        <p:nvGrpSpPr>
          <p:cNvPr id="79" name="Group 78">
            <a:extLst>
              <a:ext uri="{FF2B5EF4-FFF2-40B4-BE49-F238E27FC236}">
                <a16:creationId xmlns:a16="http://schemas.microsoft.com/office/drawing/2014/main" id="{A770EA7E-36C8-3342-B70C-2DA2FD8C7B3E}"/>
              </a:ext>
            </a:extLst>
          </p:cNvPr>
          <p:cNvGrpSpPr/>
          <p:nvPr/>
        </p:nvGrpSpPr>
        <p:grpSpPr>
          <a:xfrm>
            <a:off x="2617354" y="3046413"/>
            <a:ext cx="2085975" cy="584200"/>
            <a:chOff x="2617354" y="3046413"/>
            <a:chExt cx="2085975" cy="584200"/>
          </a:xfrm>
        </p:grpSpPr>
        <p:sp>
          <p:nvSpPr>
            <p:cNvPr id="16" name="Line 66">
              <a:extLst>
                <a:ext uri="{FF2B5EF4-FFF2-40B4-BE49-F238E27FC236}">
                  <a16:creationId xmlns:a16="http://schemas.microsoft.com/office/drawing/2014/main" id="{7BC224F4-2A52-C946-B3A2-501E3BADDE24}"/>
                </a:ext>
              </a:extLst>
            </p:cNvPr>
            <p:cNvSpPr>
              <a:spLocks noChangeShapeType="1"/>
            </p:cNvSpPr>
            <p:nvPr/>
          </p:nvSpPr>
          <p:spPr bwMode="auto">
            <a:xfrm flipV="1">
              <a:off x="2617354" y="3268663"/>
              <a:ext cx="2085975" cy="361950"/>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sp>
          <p:nvSpPr>
            <p:cNvPr id="17" name="Text Box 67">
              <a:extLst>
                <a:ext uri="{FF2B5EF4-FFF2-40B4-BE49-F238E27FC236}">
                  <a16:creationId xmlns:a16="http://schemas.microsoft.com/office/drawing/2014/main" id="{EF38DB23-31AC-F649-B4F9-0760E840DF33}"/>
                </a:ext>
              </a:extLst>
            </p:cNvPr>
            <p:cNvSpPr txBox="1">
              <a:spLocks noChangeArrowheads="1"/>
            </p:cNvSpPr>
            <p:nvPr/>
          </p:nvSpPr>
          <p:spPr bwMode="auto">
            <a:xfrm>
              <a:off x="3357129" y="3046413"/>
              <a:ext cx="447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a:latin typeface="Calibri" panose="020F0502020204030204" pitchFamily="34" charset="0"/>
                  <a:cs typeface="Calibri" panose="020F0502020204030204" pitchFamily="34" charset="0"/>
                </a:rPr>
                <a:t>Hi</a:t>
              </a:r>
            </a:p>
          </p:txBody>
        </p:sp>
      </p:grpSp>
      <p:grpSp>
        <p:nvGrpSpPr>
          <p:cNvPr id="80" name="Group 79">
            <a:extLst>
              <a:ext uri="{FF2B5EF4-FFF2-40B4-BE49-F238E27FC236}">
                <a16:creationId xmlns:a16="http://schemas.microsoft.com/office/drawing/2014/main" id="{C148AFC4-3C67-AC4E-9DBE-C6C666348971}"/>
              </a:ext>
            </a:extLst>
          </p:cNvPr>
          <p:cNvGrpSpPr/>
          <p:nvPr/>
        </p:nvGrpSpPr>
        <p:grpSpPr>
          <a:xfrm>
            <a:off x="2601479" y="3632201"/>
            <a:ext cx="2162175" cy="708025"/>
            <a:chOff x="2601479" y="3632201"/>
            <a:chExt cx="2162175" cy="708025"/>
          </a:xfrm>
        </p:grpSpPr>
        <p:sp>
          <p:nvSpPr>
            <p:cNvPr id="18" name="Line 70">
              <a:extLst>
                <a:ext uri="{FF2B5EF4-FFF2-40B4-BE49-F238E27FC236}">
                  <a16:creationId xmlns:a16="http://schemas.microsoft.com/office/drawing/2014/main" id="{D7E081E5-97A2-4147-A169-A6935464DFF0}"/>
                </a:ext>
              </a:extLst>
            </p:cNvPr>
            <p:cNvSpPr>
              <a:spLocks noChangeShapeType="1"/>
            </p:cNvSpPr>
            <p:nvPr/>
          </p:nvSpPr>
          <p:spPr bwMode="auto">
            <a:xfrm>
              <a:off x="2601479" y="3700463"/>
              <a:ext cx="2162175" cy="43815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grpSp>
          <p:nvGrpSpPr>
            <p:cNvPr id="19" name="Group 72">
              <a:extLst>
                <a:ext uri="{FF2B5EF4-FFF2-40B4-BE49-F238E27FC236}">
                  <a16:creationId xmlns:a16="http://schemas.microsoft.com/office/drawing/2014/main" id="{A01E23B5-0258-7C4C-BA5D-199419A7F92F}"/>
                </a:ext>
              </a:extLst>
            </p:cNvPr>
            <p:cNvGrpSpPr>
              <a:grpSpLocks/>
            </p:cNvGrpSpPr>
            <p:nvPr/>
          </p:nvGrpSpPr>
          <p:grpSpPr bwMode="auto">
            <a:xfrm>
              <a:off x="3158693" y="3632201"/>
              <a:ext cx="974725" cy="708025"/>
              <a:chOff x="773" y="2747"/>
              <a:chExt cx="614" cy="446"/>
            </a:xfrm>
          </p:grpSpPr>
          <p:sp>
            <p:nvSpPr>
              <p:cNvPr id="20" name="Rectangle 71">
                <a:extLst>
                  <a:ext uri="{FF2B5EF4-FFF2-40B4-BE49-F238E27FC236}">
                    <a16:creationId xmlns:a16="http://schemas.microsoft.com/office/drawing/2014/main" id="{66DE04EC-3AB2-4545-8A40-349D717B3F7F}"/>
                  </a:ext>
                </a:extLst>
              </p:cNvPr>
              <p:cNvSpPr>
                <a:spLocks noChangeArrowheads="1"/>
              </p:cNvSpPr>
              <p:nvPr/>
            </p:nvSpPr>
            <p:spPr bwMode="auto">
              <a:xfrm>
                <a:off x="786" y="2790"/>
                <a:ext cx="588"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21" name="Text Box 69">
                <a:extLst>
                  <a:ext uri="{FF2B5EF4-FFF2-40B4-BE49-F238E27FC236}">
                    <a16:creationId xmlns:a16="http://schemas.microsoft.com/office/drawing/2014/main" id="{74B04ADF-02C6-6943-8532-39BACC3EDB9B}"/>
                  </a:ext>
                </a:extLst>
              </p:cNvPr>
              <p:cNvSpPr txBox="1">
                <a:spLocks noChangeArrowheads="1"/>
              </p:cNvSpPr>
              <p:nvPr/>
            </p:nvSpPr>
            <p:spPr bwMode="auto">
              <a:xfrm>
                <a:off x="773" y="2747"/>
                <a:ext cx="614" cy="44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latin typeface="Calibri" panose="020F0502020204030204" pitchFamily="34" charset="0"/>
                    <a:cs typeface="Calibri" panose="020F0502020204030204" pitchFamily="34" charset="0"/>
                  </a:rPr>
                  <a:t>Got the</a:t>
                </a:r>
              </a:p>
              <a:p>
                <a:pPr algn="ctr"/>
                <a:r>
                  <a:rPr lang="en-US" altLang="en-US" sz="2000" dirty="0">
                    <a:latin typeface="Calibri" panose="020F0502020204030204" pitchFamily="34" charset="0"/>
                    <a:cs typeface="Calibri" panose="020F0502020204030204" pitchFamily="34" charset="0"/>
                  </a:rPr>
                  <a:t>time?</a:t>
                </a:r>
              </a:p>
            </p:txBody>
          </p:sp>
        </p:grpSp>
      </p:grpSp>
      <p:grpSp>
        <p:nvGrpSpPr>
          <p:cNvPr id="81" name="Group 80">
            <a:extLst>
              <a:ext uri="{FF2B5EF4-FFF2-40B4-BE49-F238E27FC236}">
                <a16:creationId xmlns:a16="http://schemas.microsoft.com/office/drawing/2014/main" id="{0746F316-9DC6-CE4A-B297-F2AB0B6A4762}"/>
              </a:ext>
            </a:extLst>
          </p:cNvPr>
          <p:cNvGrpSpPr/>
          <p:nvPr/>
        </p:nvGrpSpPr>
        <p:grpSpPr>
          <a:xfrm>
            <a:off x="2763404" y="4271963"/>
            <a:ext cx="1952625" cy="466731"/>
            <a:chOff x="2763404" y="4271963"/>
            <a:chExt cx="1952625" cy="466731"/>
          </a:xfrm>
        </p:grpSpPr>
        <p:sp>
          <p:nvSpPr>
            <p:cNvPr id="22" name="Line 73">
              <a:extLst>
                <a:ext uri="{FF2B5EF4-FFF2-40B4-BE49-F238E27FC236}">
                  <a16:creationId xmlns:a16="http://schemas.microsoft.com/office/drawing/2014/main" id="{33CD3426-2C89-A640-B8D9-4426CF1B003F}"/>
                </a:ext>
              </a:extLst>
            </p:cNvPr>
            <p:cNvSpPr>
              <a:spLocks noChangeShapeType="1"/>
            </p:cNvSpPr>
            <p:nvPr/>
          </p:nvSpPr>
          <p:spPr bwMode="auto">
            <a:xfrm flipV="1">
              <a:off x="2763404" y="4271963"/>
              <a:ext cx="1952625" cy="333375"/>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grpSp>
          <p:nvGrpSpPr>
            <p:cNvPr id="23" name="Group 76">
              <a:extLst>
                <a:ext uri="{FF2B5EF4-FFF2-40B4-BE49-F238E27FC236}">
                  <a16:creationId xmlns:a16="http://schemas.microsoft.com/office/drawing/2014/main" id="{A6420C74-64CF-2247-8D4B-DD2DBFA6F771}"/>
                </a:ext>
              </a:extLst>
            </p:cNvPr>
            <p:cNvGrpSpPr>
              <a:grpSpLocks/>
            </p:cNvGrpSpPr>
            <p:nvPr/>
          </p:nvGrpSpPr>
          <p:grpSpPr bwMode="auto">
            <a:xfrm>
              <a:off x="3233304" y="4276731"/>
              <a:ext cx="796925" cy="461963"/>
              <a:chOff x="1046" y="2771"/>
              <a:chExt cx="502" cy="291"/>
            </a:xfrm>
          </p:grpSpPr>
          <p:sp>
            <p:nvSpPr>
              <p:cNvPr id="24" name="Rectangle 75">
                <a:extLst>
                  <a:ext uri="{FF2B5EF4-FFF2-40B4-BE49-F238E27FC236}">
                    <a16:creationId xmlns:a16="http://schemas.microsoft.com/office/drawing/2014/main" id="{D5183736-BE0E-AB46-AFBB-CE022786DFEA}"/>
                  </a:ext>
                </a:extLst>
              </p:cNvPr>
              <p:cNvSpPr>
                <a:spLocks noChangeArrowheads="1"/>
              </p:cNvSpPr>
              <p:nvPr/>
            </p:nvSpPr>
            <p:spPr bwMode="auto">
              <a:xfrm>
                <a:off x="1104" y="2820"/>
                <a:ext cx="444" cy="18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25" name="Text Box 74">
                <a:extLst>
                  <a:ext uri="{FF2B5EF4-FFF2-40B4-BE49-F238E27FC236}">
                    <a16:creationId xmlns:a16="http://schemas.microsoft.com/office/drawing/2014/main" id="{1F4F822A-BED8-454A-AAC2-A1B3AFF6B966}"/>
                  </a:ext>
                </a:extLst>
              </p:cNvPr>
              <p:cNvSpPr txBox="1">
                <a:spLocks noChangeArrowheads="1"/>
              </p:cNvSpPr>
              <p:nvPr/>
            </p:nvSpPr>
            <p:spPr bwMode="auto">
              <a:xfrm>
                <a:off x="1046" y="2771"/>
                <a:ext cx="46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a:latin typeface="Calibri" panose="020F0502020204030204" pitchFamily="34" charset="0"/>
                    <a:cs typeface="Calibri" panose="020F0502020204030204" pitchFamily="34" charset="0"/>
                  </a:rPr>
                  <a:t>2:00</a:t>
                </a:r>
              </a:p>
            </p:txBody>
          </p:sp>
        </p:grpSp>
      </p:grpSp>
      <p:sp>
        <p:nvSpPr>
          <p:cNvPr id="37" name="Line 101">
            <a:extLst>
              <a:ext uri="{FF2B5EF4-FFF2-40B4-BE49-F238E27FC236}">
                <a16:creationId xmlns:a16="http://schemas.microsoft.com/office/drawing/2014/main" id="{CAF66A4D-D465-0449-A83A-EAD8BADEBC8D}"/>
              </a:ext>
            </a:extLst>
          </p:cNvPr>
          <p:cNvSpPr>
            <a:spLocks noChangeShapeType="1"/>
          </p:cNvSpPr>
          <p:nvPr/>
        </p:nvSpPr>
        <p:spPr bwMode="auto">
          <a:xfrm>
            <a:off x="5730145" y="2115345"/>
            <a:ext cx="0" cy="3573462"/>
          </a:xfrm>
          <a:prstGeom prst="line">
            <a:avLst/>
          </a:prstGeom>
          <a:noFill/>
          <a:ln w="19050">
            <a:solidFill>
              <a:schemeClr val="bg1">
                <a:lumMod val="7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38" name="Group 105">
            <a:extLst>
              <a:ext uri="{FF2B5EF4-FFF2-40B4-BE49-F238E27FC236}">
                <a16:creationId xmlns:a16="http://schemas.microsoft.com/office/drawing/2014/main" id="{CC2D24A5-7C64-F545-A05A-3752F815F89F}"/>
              </a:ext>
            </a:extLst>
          </p:cNvPr>
          <p:cNvGrpSpPr>
            <a:grpSpLocks/>
          </p:cNvGrpSpPr>
          <p:nvPr/>
        </p:nvGrpSpPr>
        <p:grpSpPr bwMode="auto">
          <a:xfrm>
            <a:off x="5403417" y="4910138"/>
            <a:ext cx="720725" cy="396875"/>
            <a:chOff x="2198" y="3221"/>
            <a:chExt cx="454" cy="250"/>
          </a:xfrm>
        </p:grpSpPr>
        <p:sp>
          <p:nvSpPr>
            <p:cNvPr id="39" name="Rectangle 104">
              <a:extLst>
                <a:ext uri="{FF2B5EF4-FFF2-40B4-BE49-F238E27FC236}">
                  <a16:creationId xmlns:a16="http://schemas.microsoft.com/office/drawing/2014/main" id="{6BF887FC-DA49-BC42-A376-A29D67B86ED9}"/>
                </a:ext>
              </a:extLst>
            </p:cNvPr>
            <p:cNvSpPr>
              <a:spLocks noChangeArrowheads="1"/>
            </p:cNvSpPr>
            <p:nvPr/>
          </p:nvSpPr>
          <p:spPr bwMode="auto">
            <a:xfrm>
              <a:off x="2244" y="3282"/>
              <a:ext cx="408" cy="1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40" name="Text Box 102">
              <a:extLst>
                <a:ext uri="{FF2B5EF4-FFF2-40B4-BE49-F238E27FC236}">
                  <a16:creationId xmlns:a16="http://schemas.microsoft.com/office/drawing/2014/main" id="{FD6E114D-BB61-5A43-A6C4-EB93B477DD11}"/>
                </a:ext>
              </a:extLst>
            </p:cNvPr>
            <p:cNvSpPr txBox="1">
              <a:spLocks noChangeArrowheads="1"/>
            </p:cNvSpPr>
            <p:nvPr/>
          </p:nvSpPr>
          <p:spPr bwMode="auto">
            <a:xfrm>
              <a:off x="2198" y="3221"/>
              <a:ext cx="41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a:latin typeface="Calibri" panose="020F0502020204030204" pitchFamily="34" charset="0"/>
                  <a:cs typeface="Calibri" panose="020F0502020204030204" pitchFamily="34" charset="0"/>
                </a:rPr>
                <a:t>time</a:t>
              </a:r>
            </a:p>
          </p:txBody>
        </p:sp>
      </p:grpSp>
      <p:grpSp>
        <p:nvGrpSpPr>
          <p:cNvPr id="83" name="Group 82">
            <a:extLst>
              <a:ext uri="{FF2B5EF4-FFF2-40B4-BE49-F238E27FC236}">
                <a16:creationId xmlns:a16="http://schemas.microsoft.com/office/drawing/2014/main" id="{0CD6B86A-6F1B-0548-9764-136C60D90701}"/>
              </a:ext>
            </a:extLst>
          </p:cNvPr>
          <p:cNvGrpSpPr/>
          <p:nvPr/>
        </p:nvGrpSpPr>
        <p:grpSpPr>
          <a:xfrm>
            <a:off x="6786129" y="3255963"/>
            <a:ext cx="2216150" cy="589096"/>
            <a:chOff x="6786129" y="3255963"/>
            <a:chExt cx="2216150" cy="589096"/>
          </a:xfrm>
        </p:grpSpPr>
        <p:sp>
          <p:nvSpPr>
            <p:cNvPr id="28" name="Line 90">
              <a:extLst>
                <a:ext uri="{FF2B5EF4-FFF2-40B4-BE49-F238E27FC236}">
                  <a16:creationId xmlns:a16="http://schemas.microsoft.com/office/drawing/2014/main" id="{BE73EB41-048F-AA4A-A7C0-5C13D2C2255F}"/>
                </a:ext>
              </a:extLst>
            </p:cNvPr>
            <p:cNvSpPr>
              <a:spLocks noChangeShapeType="1"/>
            </p:cNvSpPr>
            <p:nvPr/>
          </p:nvSpPr>
          <p:spPr bwMode="auto">
            <a:xfrm flipV="1">
              <a:off x="6786129" y="3255963"/>
              <a:ext cx="2216150" cy="398463"/>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sp>
          <p:nvSpPr>
            <p:cNvPr id="29" name="Rectangle 92">
              <a:extLst>
                <a:ext uri="{FF2B5EF4-FFF2-40B4-BE49-F238E27FC236}">
                  <a16:creationId xmlns:a16="http://schemas.microsoft.com/office/drawing/2014/main" id="{3D5059BF-BB04-1840-B77C-F70CB09CD95F}"/>
                </a:ext>
              </a:extLst>
            </p:cNvPr>
            <p:cNvSpPr>
              <a:spLocks noChangeArrowheads="1"/>
            </p:cNvSpPr>
            <p:nvPr/>
          </p:nvSpPr>
          <p:spPr bwMode="auto">
            <a:xfrm>
              <a:off x="7221104" y="3278188"/>
              <a:ext cx="1438275" cy="3937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30" name="Text Box 91">
              <a:extLst>
                <a:ext uri="{FF2B5EF4-FFF2-40B4-BE49-F238E27FC236}">
                  <a16:creationId xmlns:a16="http://schemas.microsoft.com/office/drawing/2014/main" id="{8B99F7C9-41C0-E948-A1F8-DBFF6271EFCF}"/>
                </a:ext>
              </a:extLst>
            </p:cNvPr>
            <p:cNvSpPr txBox="1">
              <a:spLocks noChangeArrowheads="1"/>
            </p:cNvSpPr>
            <p:nvPr/>
          </p:nvSpPr>
          <p:spPr bwMode="auto">
            <a:xfrm>
              <a:off x="7125853" y="3279776"/>
              <a:ext cx="163512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a:latin typeface="Calibri" panose="020F0502020204030204" pitchFamily="34" charset="0"/>
                  <a:cs typeface="Calibri" panose="020F0502020204030204" pitchFamily="34" charset="0"/>
                </a:rPr>
                <a:t>TCP connection</a:t>
              </a:r>
            </a:p>
            <a:p>
              <a:pPr algn="ctr">
                <a:lnSpc>
                  <a:spcPct val="85000"/>
                </a:lnSpc>
              </a:pPr>
              <a:r>
                <a:rPr lang="en-US" altLang="en-US" sz="1800">
                  <a:latin typeface="Calibri" panose="020F0502020204030204" pitchFamily="34" charset="0"/>
                  <a:cs typeface="Calibri" panose="020F0502020204030204" pitchFamily="34" charset="0"/>
                </a:rPr>
                <a:t>response</a:t>
              </a:r>
            </a:p>
          </p:txBody>
        </p:sp>
      </p:grpSp>
      <p:grpSp>
        <p:nvGrpSpPr>
          <p:cNvPr id="85" name="Group 84">
            <a:extLst>
              <a:ext uri="{FF2B5EF4-FFF2-40B4-BE49-F238E27FC236}">
                <a16:creationId xmlns:a16="http://schemas.microsoft.com/office/drawing/2014/main" id="{B3F6BB2A-A83B-6E42-97C8-7ABAD5335595}"/>
              </a:ext>
            </a:extLst>
          </p:cNvPr>
          <p:cNvGrpSpPr/>
          <p:nvPr/>
        </p:nvGrpSpPr>
        <p:grpSpPr>
          <a:xfrm>
            <a:off x="6833754" y="4448176"/>
            <a:ext cx="2343150" cy="461665"/>
            <a:chOff x="6833754" y="4448176"/>
            <a:chExt cx="2343150" cy="461665"/>
          </a:xfrm>
        </p:grpSpPr>
        <p:sp>
          <p:nvSpPr>
            <p:cNvPr id="26" name="Line 85">
              <a:extLst>
                <a:ext uri="{FF2B5EF4-FFF2-40B4-BE49-F238E27FC236}">
                  <a16:creationId xmlns:a16="http://schemas.microsoft.com/office/drawing/2014/main" id="{45CDA1E6-D436-1747-9985-487C3C2A77F0}"/>
                </a:ext>
              </a:extLst>
            </p:cNvPr>
            <p:cNvSpPr>
              <a:spLocks noChangeShapeType="1"/>
            </p:cNvSpPr>
            <p:nvPr/>
          </p:nvSpPr>
          <p:spPr bwMode="auto">
            <a:xfrm flipV="1">
              <a:off x="6833754" y="4464051"/>
              <a:ext cx="2343150" cy="428625"/>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sp>
          <p:nvSpPr>
            <p:cNvPr id="35" name="Rectangle 99">
              <a:extLst>
                <a:ext uri="{FF2B5EF4-FFF2-40B4-BE49-F238E27FC236}">
                  <a16:creationId xmlns:a16="http://schemas.microsoft.com/office/drawing/2014/main" id="{0522444E-A828-BE46-A531-855D0C776C75}"/>
                </a:ext>
              </a:extLst>
            </p:cNvPr>
            <p:cNvSpPr>
              <a:spLocks noChangeArrowheads="1"/>
            </p:cNvSpPr>
            <p:nvPr/>
          </p:nvSpPr>
          <p:spPr bwMode="auto">
            <a:xfrm>
              <a:off x="7602104" y="4562476"/>
              <a:ext cx="919163"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36" name="Text Box 100">
              <a:extLst>
                <a:ext uri="{FF2B5EF4-FFF2-40B4-BE49-F238E27FC236}">
                  <a16:creationId xmlns:a16="http://schemas.microsoft.com/office/drawing/2014/main" id="{D6A3FC64-B8C3-524A-97EA-7601A8235EE4}"/>
                </a:ext>
              </a:extLst>
            </p:cNvPr>
            <p:cNvSpPr txBox="1">
              <a:spLocks noChangeArrowheads="1"/>
            </p:cNvSpPr>
            <p:nvPr/>
          </p:nvSpPr>
          <p:spPr bwMode="auto">
            <a:xfrm>
              <a:off x="7568767" y="4448176"/>
              <a:ext cx="8819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a:latin typeface="Calibri" panose="020F0502020204030204" pitchFamily="34" charset="0"/>
                  <a:cs typeface="Calibri" panose="020F0502020204030204" pitchFamily="34" charset="0"/>
                </a:rPr>
                <a:t>&lt;file&gt;</a:t>
              </a:r>
            </a:p>
          </p:txBody>
        </p:sp>
      </p:grpSp>
      <p:grpSp>
        <p:nvGrpSpPr>
          <p:cNvPr id="82" name="Group 81">
            <a:extLst>
              <a:ext uri="{FF2B5EF4-FFF2-40B4-BE49-F238E27FC236}">
                <a16:creationId xmlns:a16="http://schemas.microsoft.com/office/drawing/2014/main" id="{0CDE2E27-ED1E-7344-9B31-50A4E5C09D16}"/>
              </a:ext>
            </a:extLst>
          </p:cNvPr>
          <p:cNvGrpSpPr/>
          <p:nvPr/>
        </p:nvGrpSpPr>
        <p:grpSpPr>
          <a:xfrm>
            <a:off x="6848042" y="2620963"/>
            <a:ext cx="2176462" cy="565283"/>
            <a:chOff x="6848042" y="2620963"/>
            <a:chExt cx="2176462" cy="565283"/>
          </a:xfrm>
        </p:grpSpPr>
        <p:sp>
          <p:nvSpPr>
            <p:cNvPr id="27" name="Line 89">
              <a:extLst>
                <a:ext uri="{FF2B5EF4-FFF2-40B4-BE49-F238E27FC236}">
                  <a16:creationId xmlns:a16="http://schemas.microsoft.com/office/drawing/2014/main" id="{ABF41D13-8507-D844-86E0-3E5322573953}"/>
                </a:ext>
              </a:extLst>
            </p:cNvPr>
            <p:cNvSpPr>
              <a:spLocks noChangeShapeType="1"/>
            </p:cNvSpPr>
            <p:nvPr/>
          </p:nvSpPr>
          <p:spPr bwMode="auto">
            <a:xfrm>
              <a:off x="6848042" y="2749551"/>
              <a:ext cx="2176462" cy="347662"/>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sp>
          <p:nvSpPr>
            <p:cNvPr id="41" name="Rectangle 52">
              <a:extLst>
                <a:ext uri="{FF2B5EF4-FFF2-40B4-BE49-F238E27FC236}">
                  <a16:creationId xmlns:a16="http://schemas.microsoft.com/office/drawing/2014/main" id="{3880A042-2FB6-1941-9EF6-2BBEF497D0DB}"/>
                </a:ext>
              </a:extLst>
            </p:cNvPr>
            <p:cNvSpPr>
              <a:spLocks noChangeArrowheads="1"/>
            </p:cNvSpPr>
            <p:nvPr/>
          </p:nvSpPr>
          <p:spPr bwMode="auto">
            <a:xfrm>
              <a:off x="7133792" y="2689226"/>
              <a:ext cx="1365250" cy="4397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42" name="Text Box 91">
              <a:extLst>
                <a:ext uri="{FF2B5EF4-FFF2-40B4-BE49-F238E27FC236}">
                  <a16:creationId xmlns:a16="http://schemas.microsoft.com/office/drawing/2014/main" id="{520D7CEC-5ABE-CB47-A52E-8A54D3A49642}"/>
                </a:ext>
              </a:extLst>
            </p:cNvPr>
            <p:cNvSpPr txBox="1">
              <a:spLocks noChangeArrowheads="1"/>
            </p:cNvSpPr>
            <p:nvPr/>
          </p:nvSpPr>
          <p:spPr bwMode="auto">
            <a:xfrm>
              <a:off x="7170303" y="2620963"/>
              <a:ext cx="163512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Calibri" panose="020F0502020204030204" pitchFamily="34" charset="0"/>
                  <a:cs typeface="Calibri" panose="020F0502020204030204" pitchFamily="34" charset="0"/>
                </a:rPr>
                <a:t>TCP connection</a:t>
              </a:r>
            </a:p>
            <a:p>
              <a:pPr algn="ctr">
                <a:lnSpc>
                  <a:spcPct val="85000"/>
                </a:lnSpc>
              </a:pPr>
              <a:r>
                <a:rPr lang="en-US" altLang="en-US" sz="1800" dirty="0">
                  <a:latin typeface="Calibri" panose="020F0502020204030204" pitchFamily="34" charset="0"/>
                  <a:cs typeface="Calibri" panose="020F0502020204030204" pitchFamily="34" charset="0"/>
                </a:rPr>
                <a:t>request</a:t>
              </a:r>
            </a:p>
          </p:txBody>
        </p:sp>
      </p:grpSp>
      <p:grpSp>
        <p:nvGrpSpPr>
          <p:cNvPr id="43" name="Group 57">
            <a:extLst>
              <a:ext uri="{FF2B5EF4-FFF2-40B4-BE49-F238E27FC236}">
                <a16:creationId xmlns:a16="http://schemas.microsoft.com/office/drawing/2014/main" id="{4A4CE652-658D-B343-B65F-6AC8513C167B}"/>
              </a:ext>
            </a:extLst>
          </p:cNvPr>
          <p:cNvGrpSpPr>
            <a:grpSpLocks/>
          </p:cNvGrpSpPr>
          <p:nvPr/>
        </p:nvGrpSpPr>
        <p:grpSpPr bwMode="auto">
          <a:xfrm>
            <a:off x="9080067" y="2720976"/>
            <a:ext cx="357186" cy="755650"/>
            <a:chOff x="4140" y="429"/>
            <a:chExt cx="1425" cy="2396"/>
          </a:xfrm>
        </p:grpSpPr>
        <p:sp>
          <p:nvSpPr>
            <p:cNvPr id="44" name="Freeform 58">
              <a:extLst>
                <a:ext uri="{FF2B5EF4-FFF2-40B4-BE49-F238E27FC236}">
                  <a16:creationId xmlns:a16="http://schemas.microsoft.com/office/drawing/2014/main" id="{ADF25789-D94D-6440-A211-5DCCB02CE5A2}"/>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Calibri" panose="020F0502020204030204" pitchFamily="34" charset="0"/>
                <a:cs typeface="Calibri" panose="020F0502020204030204" pitchFamily="34" charset="0"/>
              </a:endParaRPr>
            </a:p>
          </p:txBody>
        </p:sp>
        <p:sp>
          <p:nvSpPr>
            <p:cNvPr id="45" name="Rectangle 59">
              <a:extLst>
                <a:ext uri="{FF2B5EF4-FFF2-40B4-BE49-F238E27FC236}">
                  <a16:creationId xmlns:a16="http://schemas.microsoft.com/office/drawing/2014/main" id="{E3F6D782-AA2A-884C-8F31-18FB963D429A}"/>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46" name="Freeform 60">
              <a:extLst>
                <a:ext uri="{FF2B5EF4-FFF2-40B4-BE49-F238E27FC236}">
                  <a16:creationId xmlns:a16="http://schemas.microsoft.com/office/drawing/2014/main" id="{8E62C232-6002-7B40-98F7-09DFB8653CE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Calibri" panose="020F0502020204030204" pitchFamily="34" charset="0"/>
                <a:cs typeface="Calibri" panose="020F0502020204030204" pitchFamily="34" charset="0"/>
              </a:endParaRPr>
            </a:p>
          </p:txBody>
        </p:sp>
        <p:sp>
          <p:nvSpPr>
            <p:cNvPr id="47" name="Freeform 61">
              <a:extLst>
                <a:ext uri="{FF2B5EF4-FFF2-40B4-BE49-F238E27FC236}">
                  <a16:creationId xmlns:a16="http://schemas.microsoft.com/office/drawing/2014/main" id="{4AE6A750-54A6-B943-91AB-340390A7C6C1}"/>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Calibri" panose="020F0502020204030204" pitchFamily="34" charset="0"/>
                <a:cs typeface="Calibri" panose="020F0502020204030204" pitchFamily="34" charset="0"/>
              </a:endParaRPr>
            </a:p>
          </p:txBody>
        </p:sp>
        <p:sp>
          <p:nvSpPr>
            <p:cNvPr id="48" name="Rectangle 62">
              <a:extLst>
                <a:ext uri="{FF2B5EF4-FFF2-40B4-BE49-F238E27FC236}">
                  <a16:creationId xmlns:a16="http://schemas.microsoft.com/office/drawing/2014/main" id="{E71E8CB8-4382-3242-ABC5-C14F81AC8593}"/>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nvGrpSpPr>
            <p:cNvPr id="49" name="Group 63">
              <a:extLst>
                <a:ext uri="{FF2B5EF4-FFF2-40B4-BE49-F238E27FC236}">
                  <a16:creationId xmlns:a16="http://schemas.microsoft.com/office/drawing/2014/main" id="{E7EC998A-9B7F-0746-ABE8-80C8192CA7B9}"/>
                </a:ext>
              </a:extLst>
            </p:cNvPr>
            <p:cNvGrpSpPr>
              <a:grpSpLocks/>
            </p:cNvGrpSpPr>
            <p:nvPr/>
          </p:nvGrpSpPr>
          <p:grpSpPr bwMode="auto">
            <a:xfrm>
              <a:off x="4749" y="668"/>
              <a:ext cx="581" cy="145"/>
              <a:chOff x="614" y="2568"/>
              <a:chExt cx="725" cy="139"/>
            </a:xfrm>
          </p:grpSpPr>
          <p:sp>
            <p:nvSpPr>
              <p:cNvPr id="74" name="AutoShape 64">
                <a:extLst>
                  <a:ext uri="{FF2B5EF4-FFF2-40B4-BE49-F238E27FC236}">
                    <a16:creationId xmlns:a16="http://schemas.microsoft.com/office/drawing/2014/main" id="{89BFB453-7EA4-7040-A1A5-7D0E5E721F0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75" name="AutoShape 65">
                <a:extLst>
                  <a:ext uri="{FF2B5EF4-FFF2-40B4-BE49-F238E27FC236}">
                    <a16:creationId xmlns:a16="http://schemas.microsoft.com/office/drawing/2014/main" id="{DD4207D9-1C2C-A642-874A-C950D1B2F63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sp>
          <p:nvSpPr>
            <p:cNvPr id="50" name="Rectangle 66">
              <a:extLst>
                <a:ext uri="{FF2B5EF4-FFF2-40B4-BE49-F238E27FC236}">
                  <a16:creationId xmlns:a16="http://schemas.microsoft.com/office/drawing/2014/main" id="{B93B87B1-D6FF-1A43-AFA9-2F4308B469D1}"/>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nvGrpSpPr>
            <p:cNvPr id="51" name="Group 67">
              <a:extLst>
                <a:ext uri="{FF2B5EF4-FFF2-40B4-BE49-F238E27FC236}">
                  <a16:creationId xmlns:a16="http://schemas.microsoft.com/office/drawing/2014/main" id="{38088FF7-02F0-DB41-8855-F8E64BFD6295}"/>
                </a:ext>
              </a:extLst>
            </p:cNvPr>
            <p:cNvGrpSpPr>
              <a:grpSpLocks/>
            </p:cNvGrpSpPr>
            <p:nvPr/>
          </p:nvGrpSpPr>
          <p:grpSpPr bwMode="auto">
            <a:xfrm>
              <a:off x="4747" y="994"/>
              <a:ext cx="581" cy="134"/>
              <a:chOff x="614" y="2568"/>
              <a:chExt cx="725" cy="139"/>
            </a:xfrm>
          </p:grpSpPr>
          <p:sp>
            <p:nvSpPr>
              <p:cNvPr id="72" name="AutoShape 68">
                <a:extLst>
                  <a:ext uri="{FF2B5EF4-FFF2-40B4-BE49-F238E27FC236}">
                    <a16:creationId xmlns:a16="http://schemas.microsoft.com/office/drawing/2014/main" id="{2800C9B7-CBF6-284C-B26D-9F63F319DF21}"/>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73" name="AutoShape 69">
                <a:extLst>
                  <a:ext uri="{FF2B5EF4-FFF2-40B4-BE49-F238E27FC236}">
                    <a16:creationId xmlns:a16="http://schemas.microsoft.com/office/drawing/2014/main" id="{96A6E1AD-EAAE-7447-A0BC-68D76E1B928F}"/>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sp>
          <p:nvSpPr>
            <p:cNvPr id="52" name="Rectangle 70">
              <a:extLst>
                <a:ext uri="{FF2B5EF4-FFF2-40B4-BE49-F238E27FC236}">
                  <a16:creationId xmlns:a16="http://schemas.microsoft.com/office/drawing/2014/main" id="{81E7EE8D-57F7-6848-B16A-D11B811B8054}"/>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53" name="Rectangle 71">
              <a:extLst>
                <a:ext uri="{FF2B5EF4-FFF2-40B4-BE49-F238E27FC236}">
                  <a16:creationId xmlns:a16="http://schemas.microsoft.com/office/drawing/2014/main" id="{0C489C2A-C1EE-ED4E-915C-600DF0A70B15}"/>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nvGrpSpPr>
            <p:cNvPr id="54" name="Group 72">
              <a:extLst>
                <a:ext uri="{FF2B5EF4-FFF2-40B4-BE49-F238E27FC236}">
                  <a16:creationId xmlns:a16="http://schemas.microsoft.com/office/drawing/2014/main" id="{3D5AED95-1F84-444D-A859-E38C83F838CB}"/>
                </a:ext>
              </a:extLst>
            </p:cNvPr>
            <p:cNvGrpSpPr>
              <a:grpSpLocks/>
            </p:cNvGrpSpPr>
            <p:nvPr/>
          </p:nvGrpSpPr>
          <p:grpSpPr bwMode="auto">
            <a:xfrm>
              <a:off x="4735" y="1627"/>
              <a:ext cx="582" cy="151"/>
              <a:chOff x="614" y="2568"/>
              <a:chExt cx="725" cy="139"/>
            </a:xfrm>
          </p:grpSpPr>
          <p:sp>
            <p:nvSpPr>
              <p:cNvPr id="70" name="AutoShape 73">
                <a:extLst>
                  <a:ext uri="{FF2B5EF4-FFF2-40B4-BE49-F238E27FC236}">
                    <a16:creationId xmlns:a16="http://schemas.microsoft.com/office/drawing/2014/main" id="{A9389B09-349A-964B-85BC-37C0E562CA26}"/>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71" name="AutoShape 74">
                <a:extLst>
                  <a:ext uri="{FF2B5EF4-FFF2-40B4-BE49-F238E27FC236}">
                    <a16:creationId xmlns:a16="http://schemas.microsoft.com/office/drawing/2014/main" id="{4ACE943E-F10C-654A-BD48-143DEEAAE85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sp>
          <p:nvSpPr>
            <p:cNvPr id="55" name="Freeform 75">
              <a:extLst>
                <a:ext uri="{FF2B5EF4-FFF2-40B4-BE49-F238E27FC236}">
                  <a16:creationId xmlns:a16="http://schemas.microsoft.com/office/drawing/2014/main" id="{9F74734C-9E68-9045-A6CE-133984B96481}"/>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Calibri" panose="020F0502020204030204" pitchFamily="34" charset="0"/>
                <a:cs typeface="Calibri" panose="020F0502020204030204" pitchFamily="34" charset="0"/>
              </a:endParaRPr>
            </a:p>
          </p:txBody>
        </p:sp>
        <p:grpSp>
          <p:nvGrpSpPr>
            <p:cNvPr id="56" name="Group 76">
              <a:extLst>
                <a:ext uri="{FF2B5EF4-FFF2-40B4-BE49-F238E27FC236}">
                  <a16:creationId xmlns:a16="http://schemas.microsoft.com/office/drawing/2014/main" id="{99AB90FB-10F4-8646-A5E4-C5948E7CADAE}"/>
                </a:ext>
              </a:extLst>
            </p:cNvPr>
            <p:cNvGrpSpPr>
              <a:grpSpLocks/>
            </p:cNvGrpSpPr>
            <p:nvPr/>
          </p:nvGrpSpPr>
          <p:grpSpPr bwMode="auto">
            <a:xfrm>
              <a:off x="4739" y="1327"/>
              <a:ext cx="582" cy="139"/>
              <a:chOff x="614" y="2568"/>
              <a:chExt cx="725" cy="139"/>
            </a:xfrm>
          </p:grpSpPr>
          <p:sp>
            <p:nvSpPr>
              <p:cNvPr id="68" name="AutoShape 77">
                <a:extLst>
                  <a:ext uri="{FF2B5EF4-FFF2-40B4-BE49-F238E27FC236}">
                    <a16:creationId xmlns:a16="http://schemas.microsoft.com/office/drawing/2014/main" id="{7F4F7BD0-881C-EA41-BF03-C3C7AA0E14C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69" name="AutoShape 78">
                <a:extLst>
                  <a:ext uri="{FF2B5EF4-FFF2-40B4-BE49-F238E27FC236}">
                    <a16:creationId xmlns:a16="http://schemas.microsoft.com/office/drawing/2014/main" id="{82794333-9BCA-1844-811D-E175BCA1CB6B}"/>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sp>
          <p:nvSpPr>
            <p:cNvPr id="57" name="Rectangle 79">
              <a:extLst>
                <a:ext uri="{FF2B5EF4-FFF2-40B4-BE49-F238E27FC236}">
                  <a16:creationId xmlns:a16="http://schemas.microsoft.com/office/drawing/2014/main" id="{68D85044-2238-9042-992D-932AE7A07DC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58" name="Freeform 80">
              <a:extLst>
                <a:ext uri="{FF2B5EF4-FFF2-40B4-BE49-F238E27FC236}">
                  <a16:creationId xmlns:a16="http://schemas.microsoft.com/office/drawing/2014/main" id="{E6A4A31B-CB3E-DB4B-8D15-11D8649E5CCD}"/>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Calibri" panose="020F0502020204030204" pitchFamily="34" charset="0"/>
                <a:cs typeface="Calibri" panose="020F0502020204030204" pitchFamily="34" charset="0"/>
              </a:endParaRPr>
            </a:p>
          </p:txBody>
        </p:sp>
        <p:sp>
          <p:nvSpPr>
            <p:cNvPr id="59" name="Freeform 81">
              <a:extLst>
                <a:ext uri="{FF2B5EF4-FFF2-40B4-BE49-F238E27FC236}">
                  <a16:creationId xmlns:a16="http://schemas.microsoft.com/office/drawing/2014/main" id="{F52D98EE-0DD8-4D4C-98E3-A45D68AEDD56}"/>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Calibri" panose="020F0502020204030204" pitchFamily="34" charset="0"/>
                <a:cs typeface="Calibri" panose="020F0502020204030204" pitchFamily="34" charset="0"/>
              </a:endParaRPr>
            </a:p>
          </p:txBody>
        </p:sp>
        <p:sp>
          <p:nvSpPr>
            <p:cNvPr id="60" name="Oval 82">
              <a:extLst>
                <a:ext uri="{FF2B5EF4-FFF2-40B4-BE49-F238E27FC236}">
                  <a16:creationId xmlns:a16="http://schemas.microsoft.com/office/drawing/2014/main" id="{490E9F0F-6592-0E4D-A291-EBC6AB463A49}"/>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61" name="Freeform 83">
              <a:extLst>
                <a:ext uri="{FF2B5EF4-FFF2-40B4-BE49-F238E27FC236}">
                  <a16:creationId xmlns:a16="http://schemas.microsoft.com/office/drawing/2014/main" id="{250F3DCA-32F4-CC4A-891A-B30F6D8ECE25}"/>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Calibri" panose="020F0502020204030204" pitchFamily="34" charset="0"/>
                <a:cs typeface="Calibri" panose="020F0502020204030204" pitchFamily="34" charset="0"/>
              </a:endParaRPr>
            </a:p>
          </p:txBody>
        </p:sp>
        <p:sp>
          <p:nvSpPr>
            <p:cNvPr id="62" name="AutoShape 84">
              <a:extLst>
                <a:ext uri="{FF2B5EF4-FFF2-40B4-BE49-F238E27FC236}">
                  <a16:creationId xmlns:a16="http://schemas.microsoft.com/office/drawing/2014/main" id="{6DF44EB1-30B7-8E4A-A62D-94C2ECCAE568}"/>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63" name="AutoShape 85">
              <a:extLst>
                <a:ext uri="{FF2B5EF4-FFF2-40B4-BE49-F238E27FC236}">
                  <a16:creationId xmlns:a16="http://schemas.microsoft.com/office/drawing/2014/main" id="{1E80FD31-CF6D-E841-82CE-8485CA3930B6}"/>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64" name="Oval 86">
              <a:extLst>
                <a:ext uri="{FF2B5EF4-FFF2-40B4-BE49-F238E27FC236}">
                  <a16:creationId xmlns:a16="http://schemas.microsoft.com/office/drawing/2014/main" id="{A6798635-53B6-DB47-8748-A593507CD788}"/>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65" name="Oval 87">
              <a:extLst>
                <a:ext uri="{FF2B5EF4-FFF2-40B4-BE49-F238E27FC236}">
                  <a16:creationId xmlns:a16="http://schemas.microsoft.com/office/drawing/2014/main" id="{37BB0D05-8767-CF4E-8C65-67C1D8D3FDA2}"/>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latin typeface="Calibri" panose="020F0502020204030204" pitchFamily="34" charset="0"/>
                <a:cs typeface="Calibri" panose="020F0502020204030204" pitchFamily="34" charset="0"/>
              </a:endParaRPr>
            </a:p>
          </p:txBody>
        </p:sp>
        <p:sp>
          <p:nvSpPr>
            <p:cNvPr id="66" name="Oval 88">
              <a:extLst>
                <a:ext uri="{FF2B5EF4-FFF2-40B4-BE49-F238E27FC236}">
                  <a16:creationId xmlns:a16="http://schemas.microsoft.com/office/drawing/2014/main" id="{FA7F2C7C-7482-A14C-87FE-F9538208A662}"/>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sp>
          <p:nvSpPr>
            <p:cNvPr id="67" name="Rectangle 89">
              <a:extLst>
                <a:ext uri="{FF2B5EF4-FFF2-40B4-BE49-F238E27FC236}">
                  <a16:creationId xmlns:a16="http://schemas.microsoft.com/office/drawing/2014/main" id="{9D056117-88A7-394A-A294-1A033CE4FB8C}"/>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Calibri" panose="020F0502020204030204" pitchFamily="34" charset="0"/>
                <a:cs typeface="Calibri" panose="020F0502020204030204" pitchFamily="34" charset="0"/>
              </a:endParaRPr>
            </a:p>
          </p:txBody>
        </p:sp>
      </p:grpSp>
      <p:grpSp>
        <p:nvGrpSpPr>
          <p:cNvPr id="76" name="Group 90">
            <a:extLst>
              <a:ext uri="{FF2B5EF4-FFF2-40B4-BE49-F238E27FC236}">
                <a16:creationId xmlns:a16="http://schemas.microsoft.com/office/drawing/2014/main" id="{95F59C81-FDB0-844F-941B-B561FC589D42}"/>
              </a:ext>
            </a:extLst>
          </p:cNvPr>
          <p:cNvGrpSpPr>
            <a:grpSpLocks/>
          </p:cNvGrpSpPr>
          <p:nvPr/>
        </p:nvGrpSpPr>
        <p:grpSpPr bwMode="auto">
          <a:xfrm>
            <a:off x="5943167" y="2278063"/>
            <a:ext cx="893762" cy="828675"/>
            <a:chOff x="-44" y="1473"/>
            <a:chExt cx="981" cy="1105"/>
          </a:xfrm>
        </p:grpSpPr>
        <p:pic>
          <p:nvPicPr>
            <p:cNvPr id="77" name="Picture 91" descr="desktop_computer_stylized_medium">
              <a:extLst>
                <a:ext uri="{FF2B5EF4-FFF2-40B4-BE49-F238E27FC236}">
                  <a16:creationId xmlns:a16="http://schemas.microsoft.com/office/drawing/2014/main" id="{82B0CE96-D20F-0542-B0DD-F5A7003AAB2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Freeform 92">
              <a:extLst>
                <a:ext uri="{FF2B5EF4-FFF2-40B4-BE49-F238E27FC236}">
                  <a16:creationId xmlns:a16="http://schemas.microsoft.com/office/drawing/2014/main" id="{F915E8C7-3CEB-4841-BD57-4B6D62B70280}"/>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latin typeface="Calibri" panose="020F0502020204030204" pitchFamily="34" charset="0"/>
                <a:cs typeface="Calibri" panose="020F0502020204030204" pitchFamily="34" charset="0"/>
              </a:endParaRPr>
            </a:p>
          </p:txBody>
        </p:sp>
      </p:grpSp>
      <p:grpSp>
        <p:nvGrpSpPr>
          <p:cNvPr id="84" name="Group 83">
            <a:extLst>
              <a:ext uri="{FF2B5EF4-FFF2-40B4-BE49-F238E27FC236}">
                <a16:creationId xmlns:a16="http://schemas.microsoft.com/office/drawing/2014/main" id="{FE692778-9BBA-824F-8F43-DA909E4E4FB8}"/>
              </a:ext>
            </a:extLst>
          </p:cNvPr>
          <p:cNvGrpSpPr/>
          <p:nvPr/>
        </p:nvGrpSpPr>
        <p:grpSpPr>
          <a:xfrm>
            <a:off x="6666309" y="3902076"/>
            <a:ext cx="2925958" cy="425450"/>
            <a:chOff x="6666309" y="3902076"/>
            <a:chExt cx="2925958" cy="425450"/>
          </a:xfrm>
        </p:grpSpPr>
        <p:sp>
          <p:nvSpPr>
            <p:cNvPr id="31" name="Line 94">
              <a:extLst>
                <a:ext uri="{FF2B5EF4-FFF2-40B4-BE49-F238E27FC236}">
                  <a16:creationId xmlns:a16="http://schemas.microsoft.com/office/drawing/2014/main" id="{1E51E9DA-15A6-C14B-AFD5-A46BE25514EC}"/>
                </a:ext>
              </a:extLst>
            </p:cNvPr>
            <p:cNvSpPr>
              <a:spLocks noChangeShapeType="1"/>
            </p:cNvSpPr>
            <p:nvPr/>
          </p:nvSpPr>
          <p:spPr bwMode="auto">
            <a:xfrm>
              <a:off x="6833754" y="3902076"/>
              <a:ext cx="2400300" cy="41910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7F4E0794-86DC-1F40-8E76-AAAF9B0356E2}"/>
                </a:ext>
              </a:extLst>
            </p:cNvPr>
            <p:cNvSpPr/>
            <p:nvPr/>
          </p:nvSpPr>
          <p:spPr>
            <a:xfrm>
              <a:off x="7315200" y="4021087"/>
              <a:ext cx="1687079" cy="28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Box 95">
              <a:extLst>
                <a:ext uri="{FF2B5EF4-FFF2-40B4-BE49-F238E27FC236}">
                  <a16:creationId xmlns:a16="http://schemas.microsoft.com/office/drawing/2014/main" id="{F4BA7FFC-6F32-A047-8695-B7E781EB81A0}"/>
                </a:ext>
              </a:extLst>
            </p:cNvPr>
            <p:cNvSpPr txBox="1">
              <a:spLocks noChangeArrowheads="1"/>
            </p:cNvSpPr>
            <p:nvPr/>
          </p:nvSpPr>
          <p:spPr bwMode="auto">
            <a:xfrm>
              <a:off x="6666309" y="3960813"/>
              <a:ext cx="292595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Calibri" panose="020F0502020204030204" pitchFamily="34" charset="0"/>
                  <a:cs typeface="Calibri" panose="020F0502020204030204" pitchFamily="34" charset="0"/>
                </a:rPr>
                <a:t>GET</a:t>
              </a:r>
              <a:r>
                <a:rPr lang="en-US" altLang="en-US" sz="1400" dirty="0">
                  <a:latin typeface="Calibri" panose="020F0502020204030204" pitchFamily="34" charset="0"/>
                  <a:cs typeface="Calibri" panose="020F0502020204030204" pitchFamily="34" charset="0"/>
                </a:rPr>
                <a:t> </a:t>
              </a:r>
              <a:r>
                <a:rPr lang="en-US" altLang="en-US" sz="1200" dirty="0">
                  <a:latin typeface="+mn-lt"/>
                  <a:cs typeface="Calibri" panose="020F0502020204030204" pitchFamily="34" charset="0"/>
                </a:rPr>
                <a:t>http://</a:t>
              </a:r>
              <a:r>
                <a:rPr lang="en-US" altLang="en-US" sz="1200" dirty="0" err="1">
                  <a:latin typeface="+mn-lt"/>
                  <a:cs typeface="Calibri" panose="020F0502020204030204" pitchFamily="34" charset="0"/>
                </a:rPr>
                <a:t>gaia.cs.umass.edu</a:t>
              </a:r>
              <a:r>
                <a:rPr lang="en-US" altLang="en-US" sz="1200" dirty="0">
                  <a:latin typeface="+mn-lt"/>
                  <a:cs typeface="Calibri" panose="020F0502020204030204" pitchFamily="34" charset="0"/>
                </a:rPr>
                <a:t>/</a:t>
              </a:r>
              <a:r>
                <a:rPr lang="en-US" altLang="en-US" sz="1200" dirty="0" err="1">
                  <a:latin typeface="+mn-lt"/>
                  <a:cs typeface="Calibri" panose="020F0502020204030204" pitchFamily="34" charset="0"/>
                </a:rPr>
                <a:t>kurose_ross</a:t>
              </a:r>
              <a:endParaRPr lang="en-US" altLang="en-US" dirty="0">
                <a:latin typeface="+mn-lt"/>
                <a:cs typeface="Calibri" panose="020F0502020204030204" pitchFamily="34" charset="0"/>
              </a:endParaRPr>
            </a:p>
          </p:txBody>
        </p:sp>
      </p:grpSp>
    </p:spTree>
    <p:extLst>
      <p:ext uri="{BB962C8B-B14F-4D97-AF65-F5344CB8AC3E}">
        <p14:creationId xmlns:p14="http://schemas.microsoft.com/office/powerpoint/2010/main" val="1958923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500"/>
                                        <p:tgtEl>
                                          <p:spTgt spid="9"/>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79"/>
                                        </p:tgtEl>
                                        <p:attrNameLst>
                                          <p:attrName>style.visibility</p:attrName>
                                        </p:attrNameLst>
                                      </p:cBhvr>
                                      <p:to>
                                        <p:strVal val="visible"/>
                                      </p:to>
                                    </p:set>
                                    <p:animEffect transition="in" filter="wipe(right)">
                                      <p:cBhvr>
                                        <p:cTn id="19" dur="500"/>
                                        <p:tgtEl>
                                          <p:spTgt spid="79"/>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0"/>
                                        </p:tgtEl>
                                        <p:attrNameLst>
                                          <p:attrName>style.visibility</p:attrName>
                                        </p:attrNameLst>
                                      </p:cBhvr>
                                      <p:to>
                                        <p:strVal val="visible"/>
                                      </p:to>
                                    </p:set>
                                    <p:animEffect transition="in" filter="wipe(left)">
                                      <p:cBhvr>
                                        <p:cTn id="23" dur="500"/>
                                        <p:tgtEl>
                                          <p:spTgt spid="8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wipe(right)">
                                      <p:cBhvr>
                                        <p:cTn id="27" dur="500"/>
                                        <p:tgtEl>
                                          <p:spTgt spid="81"/>
                                        </p:tgtEl>
                                      </p:cBhvr>
                                    </p:animEffect>
                                  </p:childTnLst>
                                </p:cTn>
                              </p:par>
                            </p:childTnLst>
                          </p:cTn>
                        </p:par>
                        <p:par>
                          <p:cTn id="28" fill="hold">
                            <p:stCondLst>
                              <p:cond delay="3000"/>
                            </p:stCondLst>
                            <p:childTnLst>
                              <p:par>
                                <p:cTn id="29" presetID="9" presetClass="entr" presetSubtype="0" fill="hold" grpId="0" nodeType="afterEffect">
                                  <p:stCondLst>
                                    <p:cond delay="1000"/>
                                  </p:stCondLst>
                                  <p:childTnLst>
                                    <p:set>
                                      <p:cBhvr>
                                        <p:cTn id="30" dur="1" fill="hold">
                                          <p:stCondLst>
                                            <p:cond delay="0"/>
                                          </p:stCondLst>
                                        </p:cTn>
                                        <p:tgtEl>
                                          <p:spTgt spid="11"/>
                                        </p:tgtEl>
                                        <p:attrNameLst>
                                          <p:attrName>style.visibility</p:attrName>
                                        </p:attrNameLst>
                                      </p:cBhvr>
                                      <p:to>
                                        <p:strVal val="visible"/>
                                      </p:to>
                                    </p:set>
                                    <p:animEffect transition="in" filter="dissolv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6"/>
                                        </p:tgtEl>
                                        <p:attrNameLst>
                                          <p:attrName>style.visibility</p:attrName>
                                        </p:attrNameLst>
                                      </p:cBhvr>
                                      <p:to>
                                        <p:strVal val="visible"/>
                                      </p:to>
                                    </p:set>
                                    <p:animEffect transition="in" filter="dissolve">
                                      <p:cBhvr>
                                        <p:cTn id="36" dur="500"/>
                                        <p:tgtEl>
                                          <p:spTgt spid="76"/>
                                        </p:tgtEl>
                                      </p:cBhvr>
                                    </p:animEffect>
                                  </p:childTnLst>
                                </p:cTn>
                              </p:par>
                            </p:childTnLst>
                          </p:cTn>
                        </p:par>
                        <p:par>
                          <p:cTn id="37" fill="hold">
                            <p:stCondLst>
                              <p:cond delay="500"/>
                            </p:stCondLst>
                            <p:childTnLst>
                              <p:par>
                                <p:cTn id="38" presetID="22" presetClass="entr" presetSubtype="8" fill="hold" nodeType="afterEffect">
                                  <p:stCondLst>
                                    <p:cond delay="0"/>
                                  </p:stCondLst>
                                  <p:childTnLst>
                                    <p:set>
                                      <p:cBhvr>
                                        <p:cTn id="39" dur="1" fill="hold">
                                          <p:stCondLst>
                                            <p:cond delay="0"/>
                                          </p:stCondLst>
                                        </p:cTn>
                                        <p:tgtEl>
                                          <p:spTgt spid="82"/>
                                        </p:tgtEl>
                                        <p:attrNameLst>
                                          <p:attrName>style.visibility</p:attrName>
                                        </p:attrNameLst>
                                      </p:cBhvr>
                                      <p:to>
                                        <p:strVal val="visible"/>
                                      </p:to>
                                    </p:set>
                                    <p:animEffect transition="in" filter="wipe(left)">
                                      <p:cBhvr>
                                        <p:cTn id="40" dur="500"/>
                                        <p:tgtEl>
                                          <p:spTgt spid="82"/>
                                        </p:tgtEl>
                                      </p:cBhvr>
                                    </p:animEffect>
                                  </p:childTnLst>
                                </p:cTn>
                              </p:par>
                            </p:childTnLst>
                          </p:cTn>
                        </p:par>
                        <p:par>
                          <p:cTn id="41" fill="hold">
                            <p:stCondLst>
                              <p:cond delay="1000"/>
                            </p:stCondLst>
                            <p:childTnLst>
                              <p:par>
                                <p:cTn id="42" presetID="9" presetClass="entr" presetSubtype="0" fill="hold" nodeType="afterEffect">
                                  <p:stCondLst>
                                    <p:cond delay="0"/>
                                  </p:stCondLst>
                                  <p:childTnLst>
                                    <p:set>
                                      <p:cBhvr>
                                        <p:cTn id="43" dur="1" fill="hold">
                                          <p:stCondLst>
                                            <p:cond delay="0"/>
                                          </p:stCondLst>
                                        </p:cTn>
                                        <p:tgtEl>
                                          <p:spTgt spid="43"/>
                                        </p:tgtEl>
                                        <p:attrNameLst>
                                          <p:attrName>style.visibility</p:attrName>
                                        </p:attrNameLst>
                                      </p:cBhvr>
                                      <p:to>
                                        <p:strVal val="visible"/>
                                      </p:to>
                                    </p:set>
                                    <p:animEffect transition="in" filter="dissolve">
                                      <p:cBhvr>
                                        <p:cTn id="44" dur="500"/>
                                        <p:tgtEl>
                                          <p:spTgt spid="43"/>
                                        </p:tgtEl>
                                      </p:cBhvr>
                                    </p:animEffect>
                                  </p:childTnLst>
                                </p:cTn>
                              </p:par>
                            </p:childTnLst>
                          </p:cTn>
                        </p:par>
                        <p:par>
                          <p:cTn id="45" fill="hold">
                            <p:stCondLst>
                              <p:cond delay="1500"/>
                            </p:stCondLst>
                            <p:childTnLst>
                              <p:par>
                                <p:cTn id="46" presetID="22" presetClass="entr" presetSubtype="2" fill="hold" nodeType="afterEffect">
                                  <p:stCondLst>
                                    <p:cond delay="0"/>
                                  </p:stCondLst>
                                  <p:childTnLst>
                                    <p:set>
                                      <p:cBhvr>
                                        <p:cTn id="47" dur="1" fill="hold">
                                          <p:stCondLst>
                                            <p:cond delay="0"/>
                                          </p:stCondLst>
                                        </p:cTn>
                                        <p:tgtEl>
                                          <p:spTgt spid="83"/>
                                        </p:tgtEl>
                                        <p:attrNameLst>
                                          <p:attrName>style.visibility</p:attrName>
                                        </p:attrNameLst>
                                      </p:cBhvr>
                                      <p:to>
                                        <p:strVal val="visible"/>
                                      </p:to>
                                    </p:set>
                                    <p:animEffect transition="in" filter="wipe(right)">
                                      <p:cBhvr>
                                        <p:cTn id="48" dur="500"/>
                                        <p:tgtEl>
                                          <p:spTgt spid="83"/>
                                        </p:tgtEl>
                                      </p:cBhvr>
                                    </p:animEffect>
                                  </p:childTnLst>
                                </p:cTn>
                              </p:par>
                            </p:childTnLst>
                          </p:cTn>
                        </p:par>
                        <p:par>
                          <p:cTn id="49" fill="hold">
                            <p:stCondLst>
                              <p:cond delay="2000"/>
                            </p:stCondLst>
                            <p:childTnLst>
                              <p:par>
                                <p:cTn id="50" presetID="22" presetClass="entr" presetSubtype="8" fill="hold" nodeType="afterEffect">
                                  <p:stCondLst>
                                    <p:cond delay="0"/>
                                  </p:stCondLst>
                                  <p:childTnLst>
                                    <p:set>
                                      <p:cBhvr>
                                        <p:cTn id="51" dur="1" fill="hold">
                                          <p:stCondLst>
                                            <p:cond delay="0"/>
                                          </p:stCondLst>
                                        </p:cTn>
                                        <p:tgtEl>
                                          <p:spTgt spid="84"/>
                                        </p:tgtEl>
                                        <p:attrNameLst>
                                          <p:attrName>style.visibility</p:attrName>
                                        </p:attrNameLst>
                                      </p:cBhvr>
                                      <p:to>
                                        <p:strVal val="visible"/>
                                      </p:to>
                                    </p:set>
                                    <p:animEffect transition="in" filter="wipe(left)">
                                      <p:cBhvr>
                                        <p:cTn id="52" dur="500"/>
                                        <p:tgtEl>
                                          <p:spTgt spid="84"/>
                                        </p:tgtEl>
                                      </p:cBhvr>
                                    </p:animEffect>
                                  </p:childTnLst>
                                </p:cTn>
                              </p:par>
                            </p:childTnLst>
                          </p:cTn>
                        </p:par>
                        <p:par>
                          <p:cTn id="53" fill="hold">
                            <p:stCondLst>
                              <p:cond delay="2500"/>
                            </p:stCondLst>
                            <p:childTnLst>
                              <p:par>
                                <p:cTn id="54" presetID="22" presetClass="entr" presetSubtype="2" fill="hold" nodeType="afterEffect">
                                  <p:stCondLst>
                                    <p:cond delay="0"/>
                                  </p:stCondLst>
                                  <p:childTnLst>
                                    <p:set>
                                      <p:cBhvr>
                                        <p:cTn id="55" dur="1" fill="hold">
                                          <p:stCondLst>
                                            <p:cond delay="0"/>
                                          </p:stCondLst>
                                        </p:cTn>
                                        <p:tgtEl>
                                          <p:spTgt spid="85"/>
                                        </p:tgtEl>
                                        <p:attrNameLst>
                                          <p:attrName>style.visibility</p:attrName>
                                        </p:attrNameLst>
                                      </p:cBhvr>
                                      <p:to>
                                        <p:strVal val="visible"/>
                                      </p:to>
                                    </p:set>
                                    <p:animEffect transition="in" filter="wipe(right)">
                                      <p:cBhvr>
                                        <p:cTn id="5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3"/>
          <a:srcRect/>
          <a:stretch>
            <a:fillRect/>
          </a:stretch>
        </p:blipFill>
        <p:spPr bwMode="auto">
          <a:xfrm>
            <a:off x="2711450" y="836613"/>
            <a:ext cx="6521450" cy="4464050"/>
          </a:xfrm>
          <a:prstGeom prst="rect">
            <a:avLst/>
          </a:prstGeom>
          <a:solidFill>
            <a:schemeClr val="accent2">
              <a:lumMod val="50000"/>
            </a:schemeClr>
          </a:solidFill>
          <a:ln w="9525">
            <a:noFill/>
            <a:miter lim="800000"/>
            <a:headEnd/>
            <a:tailEnd/>
          </a:ln>
        </p:spPr>
      </p:pic>
      <p:sp>
        <p:nvSpPr>
          <p:cNvPr id="32771" name="Rectangle 4"/>
          <p:cNvSpPr>
            <a:spLocks noChangeArrowheads="1"/>
          </p:cNvSpPr>
          <p:nvPr/>
        </p:nvSpPr>
        <p:spPr bwMode="auto">
          <a:xfrm>
            <a:off x="2208214" y="333376"/>
            <a:ext cx="322103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a:solidFill>
                  <a:srgbClr val="C00000"/>
                </a:solidFill>
                <a:latin typeface="Arial" panose="020B0604020202020204" pitchFamily="34" charset="0"/>
              </a:rPr>
              <a:t>A human protocol</a:t>
            </a:r>
          </a:p>
        </p:txBody>
      </p:sp>
      <p:sp>
        <p:nvSpPr>
          <p:cNvPr id="32772" name="Rectangle 5"/>
          <p:cNvSpPr>
            <a:spLocks noChangeArrowheads="1"/>
          </p:cNvSpPr>
          <p:nvPr/>
        </p:nvSpPr>
        <p:spPr bwMode="auto">
          <a:xfrm>
            <a:off x="6024564" y="260350"/>
            <a:ext cx="367188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a:lnSpc>
                <a:spcPct val="100000"/>
              </a:lnSpc>
              <a:spcBef>
                <a:spcPct val="0"/>
              </a:spcBef>
              <a:buClrTx/>
              <a:buSzTx/>
              <a:buFontTx/>
              <a:buNone/>
            </a:pPr>
            <a:r>
              <a:rPr lang="en-MY" altLang="en-US" sz="2400" b="1">
                <a:solidFill>
                  <a:srgbClr val="C00000"/>
                </a:solidFill>
                <a:latin typeface="Arial" panose="020B0604020202020204" pitchFamily="34" charset="0"/>
              </a:rPr>
              <a:t>A computer network protocol</a:t>
            </a:r>
          </a:p>
        </p:txBody>
      </p:sp>
      <p:pic>
        <p:nvPicPr>
          <p:cNvPr id="2" name="Graphic 3" descr="Puzzle">
            <a:extLst>
              <a:ext uri="{FF2B5EF4-FFF2-40B4-BE49-F238E27FC236}">
                <a16:creationId xmlns:a16="http://schemas.microsoft.com/office/drawing/2014/main" id="{453A40B7-FB62-FDE1-C756-158A3DF1770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rot="2653558">
            <a:off x="10717103" y="364051"/>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Slide Number Placeholder 5">
            <a:extLst>
              <a:ext uri="{FF2B5EF4-FFF2-40B4-BE49-F238E27FC236}">
                <a16:creationId xmlns:a16="http://schemas.microsoft.com/office/drawing/2014/main" id="{A449E19D-ED67-6A75-6367-F05338F8762E}"/>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11</a:t>
            </a:fld>
            <a:endParaRPr lang="en-US" dirty="0"/>
          </a:p>
        </p:txBody>
      </p:sp>
    </p:spTree>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pPr>
            <a:r>
              <a:rPr lang="en-US" altLang="en-US" sz="3200" dirty="0">
                <a:solidFill>
                  <a:srgbClr val="0000A8"/>
                </a:solidFill>
                <a:latin typeface="Calibri" panose="020F0502020204030204" pitchFamily="34" charset="0"/>
                <a:cs typeface="Calibri" panose="020F0502020204030204" pitchFamily="34" charset="0"/>
              </a:rPr>
              <a:t>Network edge: </a:t>
            </a:r>
            <a:r>
              <a:rPr lang="en-US" altLang="en-US" sz="3200" dirty="0">
                <a:latin typeface="Calibri" panose="020F0502020204030204" pitchFamily="34" charset="0"/>
                <a:cs typeface="Calibri" panose="020F0502020204030204" pitchFamily="34" charset="0"/>
              </a:rPr>
              <a:t>hosts, access network, physical media</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5D50F62E-24AA-E249-A90A-18C2FD24028E}"/>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lstStyle/>
          <a:p>
            <a:r>
              <a:rPr lang="en-US" altLang="ja-JP" dirty="0"/>
              <a:t>A closer look at Internet structure</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13</a:t>
            </a:fld>
            <a:endParaRPr lang="en-US" dirty="0"/>
          </a:p>
        </p:txBody>
      </p:sp>
      <p:grpSp>
        <p:nvGrpSpPr>
          <p:cNvPr id="801" name="Group 800">
            <a:extLst>
              <a:ext uri="{FF2B5EF4-FFF2-40B4-BE49-F238E27FC236}">
                <a16:creationId xmlns:a16="http://schemas.microsoft.com/office/drawing/2014/main" id="{120F2BC7-BB63-8D47-A127-7655CBFA7174}"/>
              </a:ext>
            </a:extLst>
          </p:cNvPr>
          <p:cNvGrpSpPr/>
          <p:nvPr/>
        </p:nvGrpSpPr>
        <p:grpSpPr>
          <a:xfrm>
            <a:off x="7205350" y="1488461"/>
            <a:ext cx="4525460" cy="4859961"/>
            <a:chOff x="7268561" y="1458365"/>
            <a:chExt cx="4525460" cy="4859961"/>
          </a:xfrm>
        </p:grpSpPr>
        <p:sp>
          <p:nvSpPr>
            <p:cNvPr id="371" name="Freeform 370">
              <a:extLst>
                <a:ext uri="{FF2B5EF4-FFF2-40B4-BE49-F238E27FC236}">
                  <a16:creationId xmlns:a16="http://schemas.microsoft.com/office/drawing/2014/main" id="{21662630-62BB-AE4A-A779-AEACD21E6D7C}"/>
                </a:ext>
              </a:extLst>
            </p:cNvPr>
            <p:cNvSpPr/>
            <p:nvPr/>
          </p:nvSpPr>
          <p:spPr>
            <a:xfrm>
              <a:off x="9048399" y="3035682"/>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337287" y="1795939"/>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68561" y="3259155"/>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75612" y="4653038"/>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742485" y="1458365"/>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94046" y="4161826"/>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70119" y="5749679"/>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85357" y="3149444"/>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900911" y="3897954"/>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834382" y="3164075"/>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604024" y="1751946"/>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90412" y="1821099"/>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342279" y="3647812"/>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829373" y="3417823"/>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80978" y="4647841"/>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126229" y="4198152"/>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9" name="Rectangle 8">
            <a:extLst>
              <a:ext uri="{FF2B5EF4-FFF2-40B4-BE49-F238E27FC236}">
                <a16:creationId xmlns:a16="http://schemas.microsoft.com/office/drawing/2014/main" id="{04483029-0B46-154F-9CA3-FEA06875B8DB}"/>
              </a:ext>
            </a:extLst>
          </p:cNvPr>
          <p:cNvSpPr/>
          <p:nvPr/>
        </p:nvSpPr>
        <p:spPr>
          <a:xfrm>
            <a:off x="6718300"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97" name="Group 796">
            <a:extLst>
              <a:ext uri="{FF2B5EF4-FFF2-40B4-BE49-F238E27FC236}">
                <a16:creationId xmlns:a16="http://schemas.microsoft.com/office/drawing/2014/main" id="{D383E01F-FA6F-5647-A6B1-D5444F12E4E2}"/>
              </a:ext>
            </a:extLst>
          </p:cNvPr>
          <p:cNvGrpSpPr/>
          <p:nvPr/>
        </p:nvGrpSpPr>
        <p:grpSpPr>
          <a:xfrm>
            <a:off x="7439074" y="1859725"/>
            <a:ext cx="4144321" cy="4300892"/>
            <a:chOff x="7432700" y="1830405"/>
            <a:chExt cx="4144321" cy="4300892"/>
          </a:xfrm>
        </p:grpSpPr>
        <p:grpSp>
          <p:nvGrpSpPr>
            <p:cNvPr id="787" name="Group 786">
              <a:extLst>
                <a:ext uri="{FF2B5EF4-FFF2-40B4-BE49-F238E27FC236}">
                  <a16:creationId xmlns:a16="http://schemas.microsoft.com/office/drawing/2014/main" id="{C944F5F4-7AD1-AE48-9769-ABE2F95B5A26}"/>
                </a:ext>
              </a:extLst>
            </p:cNvPr>
            <p:cNvGrpSpPr/>
            <p:nvPr/>
          </p:nvGrpSpPr>
          <p:grpSpPr>
            <a:xfrm>
              <a:off x="7432700" y="1830405"/>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87144" y="329610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58573" y="339916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96" name="Group 795">
              <a:extLst>
                <a:ext uri="{FF2B5EF4-FFF2-40B4-BE49-F238E27FC236}">
                  <a16:creationId xmlns:a16="http://schemas.microsoft.com/office/drawing/2014/main" id="{2287FB5D-0F91-9741-8D3A-0A38C2D4142B}"/>
                </a:ext>
              </a:extLst>
            </p:cNvPr>
            <p:cNvGrpSpPr/>
            <p:nvPr/>
          </p:nvGrpSpPr>
          <p:grpSpPr>
            <a:xfrm>
              <a:off x="7767607" y="4870841"/>
              <a:ext cx="2692126" cy="1260456"/>
              <a:chOff x="7767607" y="4870841"/>
              <a:chExt cx="2692126" cy="1260456"/>
            </a:xfrm>
          </p:grpSpPr>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2541" y="524463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794" name="Group 793">
                <a:extLst>
                  <a:ext uri="{FF2B5EF4-FFF2-40B4-BE49-F238E27FC236}">
                    <a16:creationId xmlns:a16="http://schemas.microsoft.com/office/drawing/2014/main" id="{418A016B-3865-5C4A-BF54-A4D433F011BA}"/>
                  </a:ext>
                </a:extLst>
              </p:cNvPr>
              <p:cNvGrpSpPr/>
              <p:nvPr/>
            </p:nvGrpSpPr>
            <p:grpSpPr>
              <a:xfrm>
                <a:off x="7767607" y="4870841"/>
                <a:ext cx="2080029" cy="1260456"/>
                <a:chOff x="7767607" y="4870841"/>
                <a:chExt cx="2080029" cy="1260456"/>
              </a:xfrm>
            </p:grpSpPr>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74481" y="487084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195307" y="582348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67607" y="525174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47535" y="547533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45760" y="549681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28372" y="576581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1503" y="560706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grpSp>
      <p:grpSp>
        <p:nvGrpSpPr>
          <p:cNvPr id="8" name="Group 7">
            <a:extLst>
              <a:ext uri="{FF2B5EF4-FFF2-40B4-BE49-F238E27FC236}">
                <a16:creationId xmlns:a16="http://schemas.microsoft.com/office/drawing/2014/main" id="{FCEA6D79-FD00-1148-A95A-8E46A45625BA}"/>
              </a:ext>
            </a:extLst>
          </p:cNvPr>
          <p:cNvGrpSpPr/>
          <p:nvPr/>
        </p:nvGrpSpPr>
        <p:grpSpPr>
          <a:xfrm>
            <a:off x="7332141" y="1814171"/>
            <a:ext cx="4398669" cy="4440468"/>
            <a:chOff x="7295123" y="1843082"/>
            <a:chExt cx="4398669" cy="4440468"/>
          </a:xfrm>
        </p:grpSpPr>
        <p:sp>
          <p:nvSpPr>
            <p:cNvPr id="614" name="Oval 613">
              <a:extLst>
                <a:ext uri="{FF2B5EF4-FFF2-40B4-BE49-F238E27FC236}">
                  <a16:creationId xmlns:a16="http://schemas.microsoft.com/office/drawing/2014/main" id="{6D8354C1-1210-1940-9F91-B4758D5841DC}"/>
                </a:ext>
              </a:extLst>
            </p:cNvPr>
            <p:cNvSpPr/>
            <p:nvPr/>
          </p:nvSpPr>
          <p:spPr>
            <a:xfrm>
              <a:off x="7866885" y="345088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1" name="Oval 630">
              <a:extLst>
                <a:ext uri="{FF2B5EF4-FFF2-40B4-BE49-F238E27FC236}">
                  <a16:creationId xmlns:a16="http://schemas.microsoft.com/office/drawing/2014/main" id="{E3958303-11B7-AC47-B40B-E7F34DA98B87}"/>
                </a:ext>
              </a:extLst>
            </p:cNvPr>
            <p:cNvSpPr/>
            <p:nvPr/>
          </p:nvSpPr>
          <p:spPr>
            <a:xfrm>
              <a:off x="7675465" y="3247424"/>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2" name="Oval 631">
              <a:extLst>
                <a:ext uri="{FF2B5EF4-FFF2-40B4-BE49-F238E27FC236}">
                  <a16:creationId xmlns:a16="http://schemas.microsoft.com/office/drawing/2014/main" id="{E52B2236-5BAD-4448-BEE0-0CD0D214FDEF}"/>
                </a:ext>
              </a:extLst>
            </p:cNvPr>
            <p:cNvSpPr/>
            <p:nvPr/>
          </p:nvSpPr>
          <p:spPr>
            <a:xfrm>
              <a:off x="7295123" y="3349484"/>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94D09F97-D3D9-764B-B75B-ED7B4816D5B9}"/>
                </a:ext>
              </a:extLst>
            </p:cNvPr>
            <p:cNvGrpSpPr/>
            <p:nvPr/>
          </p:nvGrpSpPr>
          <p:grpSpPr>
            <a:xfrm>
              <a:off x="7384850" y="1843082"/>
              <a:ext cx="4308942" cy="4440468"/>
              <a:chOff x="7384850" y="1843082"/>
              <a:chExt cx="4308942" cy="4440468"/>
            </a:xfrm>
          </p:grpSpPr>
          <p:sp>
            <p:nvSpPr>
              <p:cNvPr id="609" name="Oval 608">
                <a:extLst>
                  <a:ext uri="{FF2B5EF4-FFF2-40B4-BE49-F238E27FC236}">
                    <a16:creationId xmlns:a16="http://schemas.microsoft.com/office/drawing/2014/main" id="{8000236D-4FCB-8E42-8443-B60A47AB111C}"/>
                  </a:ext>
                </a:extLst>
              </p:cNvPr>
              <p:cNvSpPr/>
              <p:nvPr/>
            </p:nvSpPr>
            <p:spPr>
              <a:xfrm>
                <a:off x="9026135" y="577348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0" name="Oval 609">
                <a:extLst>
                  <a:ext uri="{FF2B5EF4-FFF2-40B4-BE49-F238E27FC236}">
                    <a16:creationId xmlns:a16="http://schemas.microsoft.com/office/drawing/2014/main" id="{D2A0E321-E076-5E4B-B83B-757AFB1A4CEA}"/>
                  </a:ext>
                </a:extLst>
              </p:cNvPr>
              <p:cNvSpPr/>
              <p:nvPr/>
            </p:nvSpPr>
            <p:spPr>
              <a:xfrm>
                <a:off x="8465833" y="5458029"/>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1" name="Oval 610">
                <a:extLst>
                  <a:ext uri="{FF2B5EF4-FFF2-40B4-BE49-F238E27FC236}">
                    <a16:creationId xmlns:a16="http://schemas.microsoft.com/office/drawing/2014/main" id="{25D6BB58-705A-994A-A4C0-4597BD3E586E}"/>
                  </a:ext>
                </a:extLst>
              </p:cNvPr>
              <p:cNvSpPr/>
              <p:nvPr/>
            </p:nvSpPr>
            <p:spPr>
              <a:xfrm>
                <a:off x="7992829" y="538502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2" name="Oval 611">
                <a:extLst>
                  <a:ext uri="{FF2B5EF4-FFF2-40B4-BE49-F238E27FC236}">
                    <a16:creationId xmlns:a16="http://schemas.microsoft.com/office/drawing/2014/main" id="{626C6AB3-E95B-4E45-912D-03BD50D0AB9E}"/>
                  </a:ext>
                </a:extLst>
              </p:cNvPr>
              <p:cNvSpPr/>
              <p:nvPr/>
            </p:nvSpPr>
            <p:spPr>
              <a:xfrm>
                <a:off x="7652236" y="518975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3" name="Oval 612">
                <a:extLst>
                  <a:ext uri="{FF2B5EF4-FFF2-40B4-BE49-F238E27FC236}">
                    <a16:creationId xmlns:a16="http://schemas.microsoft.com/office/drawing/2014/main" id="{651092E3-127F-B747-AC6B-A506BBC80C9F}"/>
                  </a:ext>
                </a:extLst>
              </p:cNvPr>
              <p:cNvSpPr/>
              <p:nvPr/>
            </p:nvSpPr>
            <p:spPr>
              <a:xfrm>
                <a:off x="11017339" y="3399436"/>
                <a:ext cx="612311" cy="510076"/>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3" name="Oval 632">
                <a:extLst>
                  <a:ext uri="{FF2B5EF4-FFF2-40B4-BE49-F238E27FC236}">
                    <a16:creationId xmlns:a16="http://schemas.microsoft.com/office/drawing/2014/main" id="{C302BF23-8204-FB46-A78D-495CB59FC0FB}"/>
                  </a:ext>
                </a:extLst>
              </p:cNvPr>
              <p:cNvSpPr/>
              <p:nvPr/>
            </p:nvSpPr>
            <p:spPr>
              <a:xfrm>
                <a:off x="8605132" y="192548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4" name="Oval 633">
                <a:extLst>
                  <a:ext uri="{FF2B5EF4-FFF2-40B4-BE49-F238E27FC236}">
                    <a16:creationId xmlns:a16="http://schemas.microsoft.com/office/drawing/2014/main" id="{ED9D1CE7-97E7-BE42-9A9E-DFF564EF6FD2}"/>
                  </a:ext>
                </a:extLst>
              </p:cNvPr>
              <p:cNvSpPr/>
              <p:nvPr/>
            </p:nvSpPr>
            <p:spPr>
              <a:xfrm>
                <a:off x="7384850" y="233272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a:extLst>
                  <a:ext uri="{FF2B5EF4-FFF2-40B4-BE49-F238E27FC236}">
                    <a16:creationId xmlns:a16="http://schemas.microsoft.com/office/drawing/2014/main" id="{78E6AF30-B350-C649-8449-B69F6002DF42}"/>
                  </a:ext>
                </a:extLst>
              </p:cNvPr>
              <p:cNvSpPr/>
              <p:nvPr/>
            </p:nvSpPr>
            <p:spPr>
              <a:xfrm>
                <a:off x="7643306" y="184308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6" name="Oval 635">
                <a:extLst>
                  <a:ext uri="{FF2B5EF4-FFF2-40B4-BE49-F238E27FC236}">
                    <a16:creationId xmlns:a16="http://schemas.microsoft.com/office/drawing/2014/main" id="{33196CF4-E8B7-C748-AEBE-BE1C069588D5}"/>
                  </a:ext>
                </a:extLst>
              </p:cNvPr>
              <p:cNvSpPr/>
              <p:nvPr/>
            </p:nvSpPr>
            <p:spPr>
              <a:xfrm>
                <a:off x="11081481" y="4188998"/>
                <a:ext cx="612311" cy="510076"/>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7" name="Oval 636">
                <a:extLst>
                  <a:ext uri="{FF2B5EF4-FFF2-40B4-BE49-F238E27FC236}">
                    <a16:creationId xmlns:a16="http://schemas.microsoft.com/office/drawing/2014/main" id="{B8AA2F12-9606-F944-8D71-78704F4F02AC}"/>
                  </a:ext>
                </a:extLst>
              </p:cNvPr>
              <p:cNvSpPr/>
              <p:nvPr/>
            </p:nvSpPr>
            <p:spPr>
              <a:xfrm>
                <a:off x="7866885" y="4808926"/>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8" name="Oval 637">
                <a:extLst>
                  <a:ext uri="{FF2B5EF4-FFF2-40B4-BE49-F238E27FC236}">
                    <a16:creationId xmlns:a16="http://schemas.microsoft.com/office/drawing/2014/main" id="{C1E7801D-A747-164C-BE12-1FDEB3DFE743}"/>
                  </a:ext>
                </a:extLst>
              </p:cNvPr>
              <p:cNvSpPr/>
              <p:nvPr/>
            </p:nvSpPr>
            <p:spPr>
              <a:xfrm>
                <a:off x="9786432" y="558368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9" name="Oval 638">
                <a:extLst>
                  <a:ext uri="{FF2B5EF4-FFF2-40B4-BE49-F238E27FC236}">
                    <a16:creationId xmlns:a16="http://schemas.microsoft.com/office/drawing/2014/main" id="{DF73A1CD-668E-B544-868D-FCFA8CE79DB9}"/>
                  </a:ext>
                </a:extLst>
              </p:cNvPr>
              <p:cNvSpPr/>
              <p:nvPr/>
            </p:nvSpPr>
            <p:spPr>
              <a:xfrm>
                <a:off x="10048818" y="5198326"/>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640" name="Content Placeholder 2">
            <a:extLst>
              <a:ext uri="{FF2B5EF4-FFF2-40B4-BE49-F238E27FC236}">
                <a16:creationId xmlns:a16="http://schemas.microsoft.com/office/drawing/2014/main" id="{CAE1DAE5-E210-1642-9C4E-115EA6D0718E}"/>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74625" indent="0">
              <a:buSzPct val="75000"/>
              <a:buNone/>
            </a:pPr>
            <a:endParaRPr lang="en-US" altLang="en-US" dirty="0"/>
          </a:p>
          <a:p>
            <a:endParaRPr lang="en-US" dirty="0"/>
          </a:p>
        </p:txBody>
      </p:sp>
    </p:spTree>
    <p:extLst>
      <p:ext uri="{BB962C8B-B14F-4D97-AF65-F5344CB8AC3E}">
        <p14:creationId xmlns:p14="http://schemas.microsoft.com/office/powerpoint/2010/main" val="4133981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640">
                                            <p:txEl>
                                              <p:pRg st="0" end="0"/>
                                            </p:txEl>
                                          </p:spTgt>
                                        </p:tgtEl>
                                        <p:attrNameLst>
                                          <p:attrName>style.visibility</p:attrName>
                                        </p:attrNameLst>
                                      </p:cBhvr>
                                      <p:to>
                                        <p:strVal val="visible"/>
                                      </p:to>
                                    </p:set>
                                    <p:animEffect transition="in" filter="dissolve">
                                      <p:cBhvr>
                                        <p:cTn id="13" dur="500"/>
                                        <p:tgtEl>
                                          <p:spTgt spid="640">
                                            <p:txEl>
                                              <p:pRg st="0" end="0"/>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640">
                                            <p:txEl>
                                              <p:pRg st="1" end="1"/>
                                            </p:txEl>
                                          </p:spTgt>
                                        </p:tgtEl>
                                        <p:attrNameLst>
                                          <p:attrName>style.visibility</p:attrName>
                                        </p:attrNameLst>
                                      </p:cBhvr>
                                      <p:to>
                                        <p:strVal val="visible"/>
                                      </p:to>
                                    </p:set>
                                    <p:animEffect transition="in" filter="dissolve">
                                      <p:cBhvr>
                                        <p:cTn id="16" dur="500"/>
                                        <p:tgtEl>
                                          <p:spTgt spid="640">
                                            <p:txEl>
                                              <p:pRg st="1" end="1"/>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640">
                                            <p:txEl>
                                              <p:pRg st="2" end="2"/>
                                            </p:txEl>
                                          </p:spTgt>
                                        </p:tgtEl>
                                        <p:attrNameLst>
                                          <p:attrName>style.visibility</p:attrName>
                                        </p:attrNameLst>
                                      </p:cBhvr>
                                      <p:to>
                                        <p:strVal val="visible"/>
                                      </p:to>
                                    </p:set>
                                    <p:animEffect transition="in" filter="dissolve">
                                      <p:cBhvr>
                                        <p:cTn id="19" dur="500"/>
                                        <p:tgtEl>
                                          <p:spTgt spid="64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40" grpId="0" build="p"/>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lstStyle/>
          <a:p>
            <a:r>
              <a:rPr lang="en-US" altLang="ja-JP" dirty="0"/>
              <a:t>A closer look at Internet structure</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14</a:t>
            </a:fld>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9" name="Rectangle 8">
            <a:extLst>
              <a:ext uri="{FF2B5EF4-FFF2-40B4-BE49-F238E27FC236}">
                <a16:creationId xmlns:a16="http://schemas.microsoft.com/office/drawing/2014/main" id="{04483029-0B46-154F-9CA3-FEA06875B8DB}"/>
              </a:ext>
            </a:extLst>
          </p:cNvPr>
          <p:cNvSpPr/>
          <p:nvPr/>
        </p:nvSpPr>
        <p:spPr>
          <a:xfrm>
            <a:off x="6471025" y="145155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7380480" y="1798646"/>
            <a:ext cx="4322981" cy="3874447"/>
            <a:chOff x="11448552" y="1676017"/>
            <a:chExt cx="4322981" cy="3874447"/>
          </a:xfrm>
        </p:grpSpPr>
        <p:sp>
          <p:nvSpPr>
            <p:cNvPr id="609" name="Oval 608">
              <a:extLst>
                <a:ext uri="{FF2B5EF4-FFF2-40B4-BE49-F238E27FC236}">
                  <a16:creationId xmlns:a16="http://schemas.microsoft.com/office/drawing/2014/main" id="{8000236D-4FCB-8E42-8443-B60A47AB111C}"/>
                </a:ext>
              </a:extLst>
            </p:cNvPr>
            <p:cNvSpPr/>
            <p:nvPr/>
          </p:nvSpPr>
          <p:spPr>
            <a:xfrm>
              <a:off x="11548524" y="3627656"/>
              <a:ext cx="1007401" cy="44821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0" name="Oval 609">
              <a:extLst>
                <a:ext uri="{FF2B5EF4-FFF2-40B4-BE49-F238E27FC236}">
                  <a16:creationId xmlns:a16="http://schemas.microsoft.com/office/drawing/2014/main" id="{D2A0E321-E076-5E4B-B83B-757AFB1A4CEA}"/>
                </a:ext>
              </a:extLst>
            </p:cNvPr>
            <p:cNvSpPr/>
            <p:nvPr/>
          </p:nvSpPr>
          <p:spPr>
            <a:xfrm rot="1622536">
              <a:off x="12634901" y="5270789"/>
              <a:ext cx="887739" cy="16172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3" name="Oval 612">
              <a:extLst>
                <a:ext uri="{FF2B5EF4-FFF2-40B4-BE49-F238E27FC236}">
                  <a16:creationId xmlns:a16="http://schemas.microsoft.com/office/drawing/2014/main" id="{651092E3-127F-B747-AC6B-A506BBC80C9F}"/>
                </a:ext>
              </a:extLst>
            </p:cNvPr>
            <p:cNvSpPr/>
            <p:nvPr/>
          </p:nvSpPr>
          <p:spPr>
            <a:xfrm>
              <a:off x="12775958" y="1847944"/>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3" name="Oval 632">
              <a:extLst>
                <a:ext uri="{FF2B5EF4-FFF2-40B4-BE49-F238E27FC236}">
                  <a16:creationId xmlns:a16="http://schemas.microsoft.com/office/drawing/2014/main" id="{C302BF23-8204-FB46-A78D-495CB59FC0FB}"/>
                </a:ext>
              </a:extLst>
            </p:cNvPr>
            <p:cNvSpPr/>
            <p:nvPr/>
          </p:nvSpPr>
          <p:spPr>
            <a:xfrm>
              <a:off x="12669374" y="4563454"/>
              <a:ext cx="1698836"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a:extLst>
                <a:ext uri="{FF2B5EF4-FFF2-40B4-BE49-F238E27FC236}">
                  <a16:creationId xmlns:a16="http://schemas.microsoft.com/office/drawing/2014/main" id="{78E6AF30-B350-C649-8449-B69F6002DF42}"/>
                </a:ext>
              </a:extLst>
            </p:cNvPr>
            <p:cNvSpPr/>
            <p:nvPr/>
          </p:nvSpPr>
          <p:spPr>
            <a:xfrm>
              <a:off x="12239699" y="4881027"/>
              <a:ext cx="660040" cy="553827"/>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6" name="Oval 635">
              <a:extLst>
                <a:ext uri="{FF2B5EF4-FFF2-40B4-BE49-F238E27FC236}">
                  <a16:creationId xmlns:a16="http://schemas.microsoft.com/office/drawing/2014/main" id="{33196CF4-E8B7-C748-AEBE-BE1C069588D5}"/>
                </a:ext>
              </a:extLst>
            </p:cNvPr>
            <p:cNvSpPr/>
            <p:nvPr/>
          </p:nvSpPr>
          <p:spPr>
            <a:xfrm>
              <a:off x="12638017" y="2106713"/>
              <a:ext cx="503074" cy="24332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7" name="Oval 636">
              <a:extLst>
                <a:ext uri="{FF2B5EF4-FFF2-40B4-BE49-F238E27FC236}">
                  <a16:creationId xmlns:a16="http://schemas.microsoft.com/office/drawing/2014/main" id="{B8AA2F12-9606-F944-8D71-78704F4F02AC}"/>
                </a:ext>
              </a:extLst>
            </p:cNvPr>
            <p:cNvSpPr/>
            <p:nvPr/>
          </p:nvSpPr>
          <p:spPr>
            <a:xfrm>
              <a:off x="13837524" y="504039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8" name="Oval 637">
              <a:extLst>
                <a:ext uri="{FF2B5EF4-FFF2-40B4-BE49-F238E27FC236}">
                  <a16:creationId xmlns:a16="http://schemas.microsoft.com/office/drawing/2014/main" id="{C1E7801D-A747-164C-BE12-1FDEB3DFE743}"/>
                </a:ext>
              </a:extLst>
            </p:cNvPr>
            <p:cNvSpPr/>
            <p:nvPr/>
          </p:nvSpPr>
          <p:spPr>
            <a:xfrm rot="2528345">
              <a:off x="12297976" y="2504847"/>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9" name="Oval 638">
              <a:extLst>
                <a:ext uri="{FF2B5EF4-FFF2-40B4-BE49-F238E27FC236}">
                  <a16:creationId xmlns:a16="http://schemas.microsoft.com/office/drawing/2014/main" id="{DF73A1CD-668E-B544-868D-FCFA8CE79DB9}"/>
                </a:ext>
              </a:extLst>
            </p:cNvPr>
            <p:cNvSpPr/>
            <p:nvPr/>
          </p:nvSpPr>
          <p:spPr>
            <a:xfrm>
              <a:off x="11972286" y="1972003"/>
              <a:ext cx="612303" cy="75426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1" name="Oval 570">
              <a:extLst>
                <a:ext uri="{FF2B5EF4-FFF2-40B4-BE49-F238E27FC236}">
                  <a16:creationId xmlns:a16="http://schemas.microsoft.com/office/drawing/2014/main" id="{500940CE-3A4B-8544-8F75-20D608AFFFB0}"/>
                </a:ext>
              </a:extLst>
            </p:cNvPr>
            <p:cNvSpPr/>
            <p:nvPr/>
          </p:nvSpPr>
          <p:spPr>
            <a:xfrm>
              <a:off x="11792971" y="167601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Oval 571">
              <a:extLst>
                <a:ext uri="{FF2B5EF4-FFF2-40B4-BE49-F238E27FC236}">
                  <a16:creationId xmlns:a16="http://schemas.microsoft.com/office/drawing/2014/main" id="{E74C110B-4F40-B84E-93CB-C30BF30DDED9}"/>
                </a:ext>
              </a:extLst>
            </p:cNvPr>
            <p:cNvSpPr/>
            <p:nvPr/>
          </p:nvSpPr>
          <p:spPr>
            <a:xfrm>
              <a:off x="11448552" y="2167072"/>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5" name="Oval 574">
              <a:extLst>
                <a:ext uri="{FF2B5EF4-FFF2-40B4-BE49-F238E27FC236}">
                  <a16:creationId xmlns:a16="http://schemas.microsoft.com/office/drawing/2014/main" id="{2CC4CBCD-9D3E-664B-9A59-A12E27F46392}"/>
                </a:ext>
              </a:extLst>
            </p:cNvPr>
            <p:cNvSpPr/>
            <p:nvPr/>
          </p:nvSpPr>
          <p:spPr>
            <a:xfrm>
              <a:off x="11807613" y="308958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Oval 575">
              <a:extLst>
                <a:ext uri="{FF2B5EF4-FFF2-40B4-BE49-F238E27FC236}">
                  <a16:creationId xmlns:a16="http://schemas.microsoft.com/office/drawing/2014/main" id="{F26C818D-F631-C04E-9F69-A6D978B05150}"/>
                </a:ext>
              </a:extLst>
            </p:cNvPr>
            <p:cNvSpPr/>
            <p:nvPr/>
          </p:nvSpPr>
          <p:spPr>
            <a:xfrm>
              <a:off x="11461856" y="3203435"/>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0" name="Oval 639">
              <a:extLst>
                <a:ext uri="{FF2B5EF4-FFF2-40B4-BE49-F238E27FC236}">
                  <a16:creationId xmlns:a16="http://schemas.microsoft.com/office/drawing/2014/main" id="{67287325-A3CF-3F47-9A8A-8C7EE2AD7C46}"/>
                </a:ext>
              </a:extLst>
            </p:cNvPr>
            <p:cNvSpPr/>
            <p:nvPr/>
          </p:nvSpPr>
          <p:spPr>
            <a:xfrm>
              <a:off x="14880961" y="3246013"/>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1" name="Oval 640">
              <a:extLst>
                <a:ext uri="{FF2B5EF4-FFF2-40B4-BE49-F238E27FC236}">
                  <a16:creationId xmlns:a16="http://schemas.microsoft.com/office/drawing/2014/main" id="{0F5FBC8A-7824-B94D-A922-EFEF1B35EA37}"/>
                </a:ext>
              </a:extLst>
            </p:cNvPr>
            <p:cNvSpPr/>
            <p:nvPr/>
          </p:nvSpPr>
          <p:spPr>
            <a:xfrm>
              <a:off x="14958490" y="4026029"/>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42" name="Content Placeholder 2">
            <a:extLst>
              <a:ext uri="{FF2B5EF4-FFF2-40B4-BE49-F238E27FC236}">
                <a16:creationId xmlns:a16="http://schemas.microsoft.com/office/drawing/2014/main" id="{42E83185-879F-5940-902F-C059E5776B03}"/>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1113"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Access networks, physical media:</a:t>
            </a:r>
          </a:p>
          <a:p>
            <a:pPr marL="290513" indent="-176213">
              <a:buSzPct val="100000"/>
            </a:pPr>
            <a:r>
              <a:rPr lang="en-US" altLang="en-US" dirty="0">
                <a:latin typeface="Calibri" panose="020F0502020204030204" pitchFamily="34" charset="0"/>
                <a:cs typeface="Calibri" panose="020F0502020204030204" pitchFamily="34" charset="0"/>
              </a:rPr>
              <a:t>wired, wireless communication links</a:t>
            </a:r>
            <a:r>
              <a:rPr lang="en-US" altLang="en-US" dirty="0">
                <a:solidFill>
                  <a:srgbClr val="FF0000"/>
                </a:solidFill>
                <a:latin typeface="Calibri" panose="020F0502020204030204" pitchFamily="34" charset="0"/>
                <a:cs typeface="Calibri" panose="020F0502020204030204" pitchFamily="34" charset="0"/>
              </a:rPr>
              <a:t> </a:t>
            </a:r>
          </a:p>
          <a:p>
            <a:pPr marL="174625" indent="0">
              <a:buSzPct val="75000"/>
              <a:buNone/>
            </a:pPr>
            <a:endParaRPr lang="en-US" altLang="en-US" dirty="0"/>
          </a:p>
          <a:p>
            <a:endParaRPr lang="en-US" dirty="0"/>
          </a:p>
        </p:txBody>
      </p:sp>
      <p:sp>
        <p:nvSpPr>
          <p:cNvPr id="35" name="Rectangle 34">
            <a:extLst>
              <a:ext uri="{FF2B5EF4-FFF2-40B4-BE49-F238E27FC236}">
                <a16:creationId xmlns:a16="http://schemas.microsoft.com/office/drawing/2014/main" id="{CED6763B-8C95-A249-B406-399CD97D3BBA}"/>
              </a:ext>
            </a:extLst>
          </p:cNvPr>
          <p:cNvSpPr/>
          <p:nvPr/>
        </p:nvSpPr>
        <p:spPr>
          <a:xfrm>
            <a:off x="683172" y="1681655"/>
            <a:ext cx="5787853" cy="1703362"/>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4769332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lstStyle/>
          <a:p>
            <a:r>
              <a:rPr lang="en-US" altLang="ja-JP" dirty="0"/>
              <a:t>A closer look at Internet structure</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1113"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Access networks, physical media:</a:t>
            </a:r>
          </a:p>
          <a:p>
            <a:pPr marL="290513" indent="-176213">
              <a:buSzPct val="100000"/>
            </a:pPr>
            <a:r>
              <a:rPr lang="en-US" altLang="en-US" dirty="0">
                <a:latin typeface="Calibri" panose="020F0502020204030204" pitchFamily="34" charset="0"/>
                <a:cs typeface="Calibri" panose="020F0502020204030204" pitchFamily="34" charset="0"/>
              </a:rPr>
              <a:t>wired, wireless communication links</a:t>
            </a:r>
            <a:r>
              <a:rPr lang="en-US" altLang="en-US" dirty="0">
                <a:solidFill>
                  <a:srgbClr val="FF0000"/>
                </a:solidFill>
                <a:latin typeface="Calibri" panose="020F0502020204030204" pitchFamily="34" charset="0"/>
                <a:cs typeface="Calibri" panose="020F0502020204030204" pitchFamily="34" charset="0"/>
              </a:rPr>
              <a:t> </a:t>
            </a:r>
          </a:p>
          <a:p>
            <a:pPr marL="9525"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Network core: </a:t>
            </a:r>
          </a:p>
          <a:p>
            <a:pPr marL="342900" lvl="1" indent="-207963">
              <a:lnSpc>
                <a:spcPct val="85000"/>
              </a:lnSpc>
              <a:spcBef>
                <a:spcPct val="15000"/>
              </a:spcBef>
              <a:buClr>
                <a:srgbClr val="000099"/>
              </a:buClr>
              <a:buSzPct val="95000"/>
              <a:buFont typeface="Wingdings" pitchFamily="2" charset="2"/>
              <a:buChar char="§"/>
            </a:pPr>
            <a:r>
              <a:rPr lang="en-US" altLang="en-US" sz="2800" dirty="0">
                <a:latin typeface="Calibri" panose="020F0502020204030204" pitchFamily="34" charset="0"/>
                <a:cs typeface="Calibri" panose="020F0502020204030204" pitchFamily="34" charset="0"/>
              </a:rPr>
              <a:t>interconnected routers</a:t>
            </a:r>
          </a:p>
          <a:p>
            <a:pPr marL="342900" lvl="1" indent="-207963">
              <a:lnSpc>
                <a:spcPct val="85000"/>
              </a:lnSpc>
              <a:spcBef>
                <a:spcPct val="15000"/>
              </a:spcBef>
              <a:buClr>
                <a:srgbClr val="000099"/>
              </a:buClr>
              <a:buSzPct val="95000"/>
              <a:buFont typeface="Wingdings" pitchFamily="2" charset="2"/>
              <a:buChar char="§"/>
            </a:pPr>
            <a:r>
              <a:rPr lang="en-US" altLang="en-US" sz="2800" dirty="0">
                <a:latin typeface="Calibri" panose="020F0502020204030204" pitchFamily="34" charset="0"/>
                <a:cs typeface="Calibri" panose="020F0502020204030204" pitchFamily="34" charset="0"/>
              </a:rPr>
              <a:t>network of networks</a:t>
            </a:r>
          </a:p>
          <a:p>
            <a:pPr marL="174625" indent="0">
              <a:buSzPct val="75000"/>
              <a:buNone/>
            </a:pPr>
            <a:endParaRPr lang="en-US" altLang="en-US" dirty="0"/>
          </a:p>
          <a:p>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15</a:t>
            </a:fld>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8694912" y="1702617"/>
            <a:ext cx="2658888" cy="2831440"/>
            <a:chOff x="17449127" y="2067553"/>
            <a:chExt cx="2658888" cy="2831440"/>
          </a:xfrm>
        </p:grpSpPr>
        <p:sp>
          <p:nvSpPr>
            <p:cNvPr id="640" name="Oval 639">
              <a:extLst>
                <a:ext uri="{FF2B5EF4-FFF2-40B4-BE49-F238E27FC236}">
                  <a16:creationId xmlns:a16="http://schemas.microsoft.com/office/drawing/2014/main" id="{67287325-A3CF-3F47-9A8A-8C7EE2AD7C46}"/>
                </a:ext>
              </a:extLst>
            </p:cNvPr>
            <p:cNvSpPr/>
            <p:nvPr/>
          </p:nvSpPr>
          <p:spPr>
            <a:xfrm>
              <a:off x="18054808" y="2067553"/>
              <a:ext cx="2053207" cy="139951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1" name="Oval 610">
              <a:extLst>
                <a:ext uri="{FF2B5EF4-FFF2-40B4-BE49-F238E27FC236}">
                  <a16:creationId xmlns:a16="http://schemas.microsoft.com/office/drawing/2014/main" id="{D09BD5F5-1EE1-7744-94DF-5BEAED02584D}"/>
                </a:ext>
              </a:extLst>
            </p:cNvPr>
            <p:cNvSpPr/>
            <p:nvPr/>
          </p:nvSpPr>
          <p:spPr>
            <a:xfrm>
              <a:off x="17449127" y="3391110"/>
              <a:ext cx="2173774" cy="1507883"/>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6" name="Rectangle 495">
            <a:extLst>
              <a:ext uri="{FF2B5EF4-FFF2-40B4-BE49-F238E27FC236}">
                <a16:creationId xmlns:a16="http://schemas.microsoft.com/office/drawing/2014/main" id="{E9B89C25-995B-4D4B-BEAF-83AAF26ACE92}"/>
              </a:ext>
            </a:extLst>
          </p:cNvPr>
          <p:cNvSpPr/>
          <p:nvPr/>
        </p:nvSpPr>
        <p:spPr>
          <a:xfrm>
            <a:off x="807652" y="1884278"/>
            <a:ext cx="5787853" cy="2921876"/>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a:extLst>
              <a:ext uri="{FF2B5EF4-FFF2-40B4-BE49-F238E27FC236}">
                <a16:creationId xmlns:a16="http://schemas.microsoft.com/office/drawing/2014/main" id="{22D8BA93-CE35-C54A-BCA8-174D5BBE10D2}"/>
              </a:ext>
            </a:extLst>
          </p:cNvPr>
          <p:cNvSpPr/>
          <p:nvPr/>
        </p:nvSpPr>
        <p:spPr>
          <a:xfrm>
            <a:off x="7157545" y="1523999"/>
            <a:ext cx="4550979" cy="4897821"/>
          </a:xfrm>
          <a:custGeom>
            <a:avLst/>
            <a:gdLst>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713187 w 4656083"/>
              <a:gd name="connsiteY6" fmla="*/ 3100551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126410 w 4656369"/>
              <a:gd name="connsiteY0" fmla="*/ 234571 h 4953715"/>
              <a:gd name="connsiteX1" fmla="*/ 286 w 4656369"/>
              <a:gd name="connsiteY1" fmla="*/ 13853 h 4953715"/>
              <a:gd name="connsiteX2" fmla="*/ 94879 w 4656369"/>
              <a:gd name="connsiteY2" fmla="*/ 24363 h 4953715"/>
              <a:gd name="connsiteX3" fmla="*/ 2375624 w 4656369"/>
              <a:gd name="connsiteY3" fmla="*/ 55894 h 4953715"/>
              <a:gd name="connsiteX4" fmla="*/ 2438686 w 4656369"/>
              <a:gd name="connsiteY4" fmla="*/ 1485300 h 4953715"/>
              <a:gd name="connsiteX5" fmla="*/ 1692452 w 4656369"/>
              <a:gd name="connsiteY5" fmla="*/ 1937246 h 4953715"/>
              <a:gd name="connsiteX6" fmla="*/ 1555817 w 4656369"/>
              <a:gd name="connsiteY6" fmla="*/ 2483783 h 4953715"/>
              <a:gd name="connsiteX7" fmla="*/ 3132369 w 4656369"/>
              <a:gd name="connsiteY7" fmla="*/ 3103894 h 4953715"/>
              <a:gd name="connsiteX8" fmla="*/ 3605335 w 4656369"/>
              <a:gd name="connsiteY8" fmla="*/ 2883177 h 4953715"/>
              <a:gd name="connsiteX9" fmla="*/ 3805031 w 4656369"/>
              <a:gd name="connsiteY9" fmla="*/ 2609907 h 4953715"/>
              <a:gd name="connsiteX10" fmla="*/ 3826052 w 4656369"/>
              <a:gd name="connsiteY10" fmla="*/ 2273577 h 4953715"/>
              <a:gd name="connsiteX11" fmla="*/ 3784011 w 4656369"/>
              <a:gd name="connsiteY11" fmla="*/ 2073880 h 4953715"/>
              <a:gd name="connsiteX12" fmla="*/ 3689417 w 4656369"/>
              <a:gd name="connsiteY12" fmla="*/ 1895204 h 4953715"/>
              <a:gd name="connsiteX13" fmla="*/ 3447679 w 4656369"/>
              <a:gd name="connsiteY13" fmla="*/ 1737549 h 4953715"/>
              <a:gd name="connsiteX14" fmla="*/ 4498714 w 4656369"/>
              <a:gd name="connsiteY14" fmla="*/ 1600915 h 4953715"/>
              <a:gd name="connsiteX15" fmla="*/ 4656369 w 4656369"/>
              <a:gd name="connsiteY15" fmla="*/ 2935728 h 4953715"/>
              <a:gd name="connsiteX16" fmla="*/ 4509224 w 4656369"/>
              <a:gd name="connsiteY16" fmla="*/ 4575342 h 4953715"/>
              <a:gd name="connsiteX17" fmla="*/ 3500231 w 4656369"/>
              <a:gd name="connsiteY17" fmla="*/ 4953715 h 4953715"/>
              <a:gd name="connsiteX18" fmla="*/ 105390 w 4656369"/>
              <a:gd name="connsiteY18" fmla="*/ 4911673 h 4953715"/>
              <a:gd name="connsiteX19" fmla="*/ 126410 w 4656369"/>
              <a:gd name="connsiteY19" fmla="*/ 234571 h 4953715"/>
              <a:gd name="connsiteX0" fmla="*/ 190699 w 4720658"/>
              <a:gd name="connsiteY0" fmla="*/ 417353 h 5136497"/>
              <a:gd name="connsiteX1" fmla="*/ 159168 w 4720658"/>
              <a:gd name="connsiteY1" fmla="*/ 207145 h 5136497"/>
              <a:gd name="connsiteX2" fmla="*/ 2439913 w 4720658"/>
              <a:gd name="connsiteY2" fmla="*/ 238676 h 5136497"/>
              <a:gd name="connsiteX3" fmla="*/ 2502975 w 4720658"/>
              <a:gd name="connsiteY3" fmla="*/ 1668082 h 5136497"/>
              <a:gd name="connsiteX4" fmla="*/ 1756741 w 4720658"/>
              <a:gd name="connsiteY4" fmla="*/ 2120028 h 5136497"/>
              <a:gd name="connsiteX5" fmla="*/ 1620106 w 4720658"/>
              <a:gd name="connsiteY5" fmla="*/ 2666565 h 5136497"/>
              <a:gd name="connsiteX6" fmla="*/ 3196658 w 4720658"/>
              <a:gd name="connsiteY6" fmla="*/ 3286676 h 5136497"/>
              <a:gd name="connsiteX7" fmla="*/ 3669624 w 4720658"/>
              <a:gd name="connsiteY7" fmla="*/ 3065959 h 5136497"/>
              <a:gd name="connsiteX8" fmla="*/ 3869320 w 4720658"/>
              <a:gd name="connsiteY8" fmla="*/ 2792689 h 5136497"/>
              <a:gd name="connsiteX9" fmla="*/ 3890341 w 4720658"/>
              <a:gd name="connsiteY9" fmla="*/ 2456359 h 5136497"/>
              <a:gd name="connsiteX10" fmla="*/ 3848300 w 4720658"/>
              <a:gd name="connsiteY10" fmla="*/ 2256662 h 5136497"/>
              <a:gd name="connsiteX11" fmla="*/ 3753706 w 4720658"/>
              <a:gd name="connsiteY11" fmla="*/ 2077986 h 5136497"/>
              <a:gd name="connsiteX12" fmla="*/ 3511968 w 4720658"/>
              <a:gd name="connsiteY12" fmla="*/ 1920331 h 5136497"/>
              <a:gd name="connsiteX13" fmla="*/ 4563003 w 4720658"/>
              <a:gd name="connsiteY13" fmla="*/ 1783697 h 5136497"/>
              <a:gd name="connsiteX14" fmla="*/ 4720658 w 4720658"/>
              <a:gd name="connsiteY14" fmla="*/ 3118510 h 5136497"/>
              <a:gd name="connsiteX15" fmla="*/ 4573513 w 4720658"/>
              <a:gd name="connsiteY15" fmla="*/ 4758124 h 5136497"/>
              <a:gd name="connsiteX16" fmla="*/ 3564520 w 4720658"/>
              <a:gd name="connsiteY16" fmla="*/ 5136497 h 5136497"/>
              <a:gd name="connsiteX17" fmla="*/ 169679 w 4720658"/>
              <a:gd name="connsiteY17" fmla="*/ 5094455 h 5136497"/>
              <a:gd name="connsiteX18" fmla="*/ 190699 w 4720658"/>
              <a:gd name="connsiteY18" fmla="*/ 417353 h 5136497"/>
              <a:gd name="connsiteX0" fmla="*/ 21020 w 4550979"/>
              <a:gd name="connsiteY0" fmla="*/ 476180 h 5195324"/>
              <a:gd name="connsiteX1" fmla="*/ 2270234 w 4550979"/>
              <a:gd name="connsiteY1" fmla="*/ 297503 h 5195324"/>
              <a:gd name="connsiteX2" fmla="*/ 2333296 w 4550979"/>
              <a:gd name="connsiteY2" fmla="*/ 1726909 h 5195324"/>
              <a:gd name="connsiteX3" fmla="*/ 1587062 w 4550979"/>
              <a:gd name="connsiteY3" fmla="*/ 2178855 h 5195324"/>
              <a:gd name="connsiteX4" fmla="*/ 1450427 w 4550979"/>
              <a:gd name="connsiteY4" fmla="*/ 2725392 h 5195324"/>
              <a:gd name="connsiteX5" fmla="*/ 3026979 w 4550979"/>
              <a:gd name="connsiteY5" fmla="*/ 3345503 h 5195324"/>
              <a:gd name="connsiteX6" fmla="*/ 3499945 w 4550979"/>
              <a:gd name="connsiteY6" fmla="*/ 3124786 h 5195324"/>
              <a:gd name="connsiteX7" fmla="*/ 3699641 w 4550979"/>
              <a:gd name="connsiteY7" fmla="*/ 2851516 h 5195324"/>
              <a:gd name="connsiteX8" fmla="*/ 3720662 w 4550979"/>
              <a:gd name="connsiteY8" fmla="*/ 2515186 h 5195324"/>
              <a:gd name="connsiteX9" fmla="*/ 3678621 w 4550979"/>
              <a:gd name="connsiteY9" fmla="*/ 2315489 h 5195324"/>
              <a:gd name="connsiteX10" fmla="*/ 3584027 w 4550979"/>
              <a:gd name="connsiteY10" fmla="*/ 2136813 h 5195324"/>
              <a:gd name="connsiteX11" fmla="*/ 3342289 w 4550979"/>
              <a:gd name="connsiteY11" fmla="*/ 1979158 h 5195324"/>
              <a:gd name="connsiteX12" fmla="*/ 4393324 w 4550979"/>
              <a:gd name="connsiteY12" fmla="*/ 1842524 h 5195324"/>
              <a:gd name="connsiteX13" fmla="*/ 4550979 w 4550979"/>
              <a:gd name="connsiteY13" fmla="*/ 3177337 h 5195324"/>
              <a:gd name="connsiteX14" fmla="*/ 4403834 w 4550979"/>
              <a:gd name="connsiteY14" fmla="*/ 4816951 h 5195324"/>
              <a:gd name="connsiteX15" fmla="*/ 3394841 w 4550979"/>
              <a:gd name="connsiteY15" fmla="*/ 5195324 h 5195324"/>
              <a:gd name="connsiteX16" fmla="*/ 0 w 4550979"/>
              <a:gd name="connsiteY16" fmla="*/ 5153282 h 5195324"/>
              <a:gd name="connsiteX17" fmla="*/ 21020 w 4550979"/>
              <a:gd name="connsiteY17" fmla="*/ 476180 h 5195324"/>
              <a:gd name="connsiteX0" fmla="*/ 21020 w 4550979"/>
              <a:gd name="connsiteY0" fmla="*/ 258442 h 4977586"/>
              <a:gd name="connsiteX1" fmla="*/ 2270234 w 4550979"/>
              <a:gd name="connsiteY1" fmla="*/ 79765 h 4977586"/>
              <a:gd name="connsiteX2" fmla="*/ 2333296 w 4550979"/>
              <a:gd name="connsiteY2" fmla="*/ 1509171 h 4977586"/>
              <a:gd name="connsiteX3" fmla="*/ 1587062 w 4550979"/>
              <a:gd name="connsiteY3" fmla="*/ 1961117 h 4977586"/>
              <a:gd name="connsiteX4" fmla="*/ 1450427 w 4550979"/>
              <a:gd name="connsiteY4" fmla="*/ 2507654 h 4977586"/>
              <a:gd name="connsiteX5" fmla="*/ 3026979 w 4550979"/>
              <a:gd name="connsiteY5" fmla="*/ 3127765 h 4977586"/>
              <a:gd name="connsiteX6" fmla="*/ 3499945 w 4550979"/>
              <a:gd name="connsiteY6" fmla="*/ 2907048 h 4977586"/>
              <a:gd name="connsiteX7" fmla="*/ 3699641 w 4550979"/>
              <a:gd name="connsiteY7" fmla="*/ 2633778 h 4977586"/>
              <a:gd name="connsiteX8" fmla="*/ 3720662 w 4550979"/>
              <a:gd name="connsiteY8" fmla="*/ 2297448 h 4977586"/>
              <a:gd name="connsiteX9" fmla="*/ 3678621 w 4550979"/>
              <a:gd name="connsiteY9" fmla="*/ 2097751 h 4977586"/>
              <a:gd name="connsiteX10" fmla="*/ 3584027 w 4550979"/>
              <a:gd name="connsiteY10" fmla="*/ 1919075 h 4977586"/>
              <a:gd name="connsiteX11" fmla="*/ 3342289 w 4550979"/>
              <a:gd name="connsiteY11" fmla="*/ 1761420 h 4977586"/>
              <a:gd name="connsiteX12" fmla="*/ 4393324 w 4550979"/>
              <a:gd name="connsiteY12" fmla="*/ 1624786 h 4977586"/>
              <a:gd name="connsiteX13" fmla="*/ 4550979 w 4550979"/>
              <a:gd name="connsiteY13" fmla="*/ 2959599 h 4977586"/>
              <a:gd name="connsiteX14" fmla="*/ 4403834 w 4550979"/>
              <a:gd name="connsiteY14" fmla="*/ 4599213 h 4977586"/>
              <a:gd name="connsiteX15" fmla="*/ 3394841 w 4550979"/>
              <a:gd name="connsiteY15" fmla="*/ 4977586 h 4977586"/>
              <a:gd name="connsiteX16" fmla="*/ 0 w 4550979"/>
              <a:gd name="connsiteY16" fmla="*/ 4935544 h 4977586"/>
              <a:gd name="connsiteX17" fmla="*/ 21020 w 4550979"/>
              <a:gd name="connsiteY17" fmla="*/ 258442 h 4977586"/>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026979 w 4550979"/>
              <a:gd name="connsiteY5" fmla="*/ 3048000 h 4897821"/>
              <a:gd name="connsiteX6" fmla="*/ 3499945 w 4550979"/>
              <a:gd name="connsiteY6" fmla="*/ 2827283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50979" h="4897821">
                <a:moveTo>
                  <a:pt x="21020" y="178677"/>
                </a:moveTo>
                <a:cubicBezTo>
                  <a:pt x="1030013" y="42043"/>
                  <a:pt x="1453930" y="54304"/>
                  <a:pt x="2270234" y="0"/>
                </a:cubicBezTo>
                <a:cubicBezTo>
                  <a:pt x="2291255" y="476469"/>
                  <a:pt x="1902372" y="963447"/>
                  <a:pt x="2333296" y="1429406"/>
                </a:cubicBezTo>
                <a:lnTo>
                  <a:pt x="1587062" y="1881352"/>
                </a:lnTo>
                <a:lnTo>
                  <a:pt x="1450427" y="2427889"/>
                </a:lnTo>
                <a:cubicBezTo>
                  <a:pt x="1681655" y="2998951"/>
                  <a:pt x="2312276" y="3139089"/>
                  <a:pt x="3026979" y="3048000"/>
                </a:cubicBezTo>
                <a:lnTo>
                  <a:pt x="3499945" y="2827283"/>
                </a:lnTo>
                <a:lnTo>
                  <a:pt x="3699641" y="2554013"/>
                </a:lnTo>
                <a:lnTo>
                  <a:pt x="3720662" y="2217683"/>
                </a:lnTo>
                <a:lnTo>
                  <a:pt x="3678621" y="2017986"/>
                </a:lnTo>
                <a:lnTo>
                  <a:pt x="3584027" y="1839310"/>
                </a:lnTo>
                <a:lnTo>
                  <a:pt x="3342289" y="1681655"/>
                </a:lnTo>
                <a:lnTo>
                  <a:pt x="4393324" y="1545021"/>
                </a:lnTo>
                <a:lnTo>
                  <a:pt x="4550979" y="2879834"/>
                </a:lnTo>
                <a:lnTo>
                  <a:pt x="4403834" y="4519448"/>
                </a:lnTo>
                <a:lnTo>
                  <a:pt x="3394841" y="4897821"/>
                </a:lnTo>
                <a:lnTo>
                  <a:pt x="0" y="4855779"/>
                </a:lnTo>
                <a:cubicBezTo>
                  <a:pt x="7007" y="3296745"/>
                  <a:pt x="14013" y="1737711"/>
                  <a:pt x="21020" y="178677"/>
                </a:cubicBezTo>
                <a:close/>
              </a:path>
            </a:pathLst>
          </a:custGeom>
          <a:solidFill>
            <a:schemeClr val="bg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4655351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38915"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6657DBBE-40D5-4E81-8FB2-AC0A2D51DECA}" type="slidenum">
              <a:rPr lang="en-US" altLang="en-US" sz="1200">
                <a:latin typeface="Tahoma" panose="020B0604030504040204" pitchFamily="34" charset="0"/>
              </a:rPr>
              <a:pPr>
                <a:lnSpc>
                  <a:spcPct val="100000"/>
                </a:lnSpc>
                <a:spcBef>
                  <a:spcPct val="0"/>
                </a:spcBef>
                <a:buClrTx/>
                <a:buSzTx/>
                <a:buFontTx/>
                <a:buNone/>
              </a:pPr>
              <a:t>16</a:t>
            </a:fld>
            <a:endParaRPr lang="en-US" altLang="en-US" sz="1200">
              <a:latin typeface="Tahoma" panose="020B0604030504040204" pitchFamily="34" charset="0"/>
            </a:endParaRPr>
          </a:p>
        </p:txBody>
      </p:sp>
      <p:pic>
        <p:nvPicPr>
          <p:cNvPr id="3891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92539" y="404813"/>
            <a:ext cx="4879975" cy="582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17" name="Rectangle 4"/>
          <p:cNvSpPr>
            <a:spLocks noChangeArrowheads="1"/>
          </p:cNvSpPr>
          <p:nvPr/>
        </p:nvSpPr>
        <p:spPr bwMode="auto">
          <a:xfrm>
            <a:off x="1847850" y="188914"/>
            <a:ext cx="21048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i="1">
                <a:solidFill>
                  <a:srgbClr val="C00000"/>
                </a:solidFill>
                <a:latin typeface="Arial" panose="020B0604020202020204" pitchFamily="34" charset="0"/>
                <a:sym typeface="Wingdings" panose="05000000000000000000" pitchFamily="2" charset="2"/>
              </a:rPr>
              <a:t>A closer look</a:t>
            </a:r>
            <a:endParaRPr lang="en-MY" altLang="en-US" sz="2400" b="1">
              <a:solidFill>
                <a:srgbClr val="C00000"/>
              </a:solidFill>
              <a:latin typeface="Arial" panose="020B0604020202020204" pitchFamily="34" charset="0"/>
            </a:endParaRPr>
          </a:p>
        </p:txBody>
      </p:sp>
      <p:sp>
        <p:nvSpPr>
          <p:cNvPr id="6" name="Rounded Rectangular Callout 8"/>
          <p:cNvSpPr/>
          <p:nvPr/>
        </p:nvSpPr>
        <p:spPr>
          <a:xfrm>
            <a:off x="2279650" y="684214"/>
            <a:ext cx="1512888" cy="719137"/>
          </a:xfrm>
          <a:prstGeom prst="wedgeRoundRectCallout">
            <a:avLst>
              <a:gd name="adj1" fmla="val 82321"/>
              <a:gd name="adj2" fmla="val 15192"/>
              <a:gd name="adj3" fmla="val 16667"/>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a:t>Network edge</a:t>
            </a:r>
            <a:endParaRPr lang="en-MY" sz="2000" b="1" dirty="0"/>
          </a:p>
        </p:txBody>
      </p:sp>
      <p:sp>
        <p:nvSpPr>
          <p:cNvPr id="7" name="Rounded Rectangular Callout 14"/>
          <p:cNvSpPr/>
          <p:nvPr/>
        </p:nvSpPr>
        <p:spPr>
          <a:xfrm>
            <a:off x="7319963" y="333375"/>
            <a:ext cx="2089150" cy="719138"/>
          </a:xfrm>
          <a:prstGeom prst="wedgeRoundRectCallout">
            <a:avLst>
              <a:gd name="adj1" fmla="val -22427"/>
              <a:gd name="adj2" fmla="val 119769"/>
              <a:gd name="adj3" fmla="val 16667"/>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a:t>Media: Wired/wireless</a:t>
            </a:r>
            <a:endParaRPr lang="en-MY" sz="2000" b="1" dirty="0"/>
          </a:p>
        </p:txBody>
      </p:sp>
      <p:sp>
        <p:nvSpPr>
          <p:cNvPr id="8" name="Rounded Rectangular Callout 18"/>
          <p:cNvSpPr/>
          <p:nvPr/>
        </p:nvSpPr>
        <p:spPr>
          <a:xfrm>
            <a:off x="7967663" y="4221164"/>
            <a:ext cx="2089150" cy="720725"/>
          </a:xfrm>
          <a:prstGeom prst="wedgeRoundRectCallout">
            <a:avLst>
              <a:gd name="adj1" fmla="val -64498"/>
              <a:gd name="adj2" fmla="val -96855"/>
              <a:gd name="adj3" fmla="val 16667"/>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a:t>Network Core</a:t>
            </a:r>
            <a:endParaRPr lang="en-MY" sz="2000" b="1" dirty="0"/>
          </a:p>
        </p:txBody>
      </p:sp>
      <p:sp>
        <p:nvSpPr>
          <p:cNvPr id="9" name="Rounded Rectangular Callout 20"/>
          <p:cNvSpPr/>
          <p:nvPr/>
        </p:nvSpPr>
        <p:spPr>
          <a:xfrm>
            <a:off x="3143250" y="1844676"/>
            <a:ext cx="2089150" cy="720725"/>
          </a:xfrm>
          <a:prstGeom prst="wedgeRoundRectCallout">
            <a:avLst>
              <a:gd name="adj1" fmla="val 59905"/>
              <a:gd name="adj2" fmla="val -91766"/>
              <a:gd name="adj3" fmla="val 16667"/>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a:t>Access Networks</a:t>
            </a:r>
            <a:endParaRPr lang="en-MY" sz="2000" b="1" dirty="0"/>
          </a:p>
        </p:txBody>
      </p:sp>
      <p:pic>
        <p:nvPicPr>
          <p:cNvPr id="38922" name="Graphic 9"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882188" y="1031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39939"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4141FD0B-6158-4DBB-8077-31D20892AD46}" type="slidenum">
              <a:rPr lang="en-US" altLang="en-US" sz="1200">
                <a:latin typeface="Tahoma" panose="020B0604030504040204" pitchFamily="34" charset="0"/>
              </a:rPr>
              <a:pPr>
                <a:lnSpc>
                  <a:spcPct val="100000"/>
                </a:lnSpc>
                <a:spcBef>
                  <a:spcPct val="0"/>
                </a:spcBef>
                <a:buClrTx/>
                <a:buSzTx/>
                <a:buFontTx/>
                <a:buNone/>
              </a:pPr>
              <a:t>17</a:t>
            </a:fld>
            <a:endParaRPr lang="en-US" altLang="en-US" sz="1200">
              <a:latin typeface="Tahoma" panose="020B0604030504040204" pitchFamily="34" charset="0"/>
            </a:endParaRPr>
          </a:p>
        </p:txBody>
      </p:sp>
      <p:pic>
        <p:nvPicPr>
          <p:cNvPr id="39940" name="Graphic 3" descr="Puzzle"/>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4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549275"/>
            <a:ext cx="4321175" cy="542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942" name="TextBox 5"/>
          <p:cNvSpPr txBox="1">
            <a:spLocks noChangeArrowheads="1"/>
          </p:cNvSpPr>
          <p:nvPr/>
        </p:nvSpPr>
        <p:spPr bwMode="auto">
          <a:xfrm>
            <a:off x="6888164" y="1052513"/>
            <a:ext cx="22320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solidFill>
                  <a:srgbClr val="C00000"/>
                </a:solidFill>
                <a:latin typeface="Arial" panose="020B0604020202020204" pitchFamily="34" charset="0"/>
              </a:rPr>
              <a:t>End system interaction</a:t>
            </a:r>
            <a:endParaRPr lang="en-MY" altLang="en-US" sz="2400" b="1">
              <a:solidFill>
                <a:srgbClr val="C00000"/>
              </a:solidFill>
              <a:latin typeface="Arial" panose="020B0604020202020204" pitchFamily="34" charset="0"/>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40963"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C5A78007-206D-40AC-85B5-A6962ADD8F10}" type="slidenum">
              <a:rPr lang="en-US" altLang="en-US" sz="1200">
                <a:latin typeface="Tahoma" panose="020B0604030504040204" pitchFamily="34" charset="0"/>
              </a:rPr>
              <a:pPr>
                <a:lnSpc>
                  <a:spcPct val="100000"/>
                </a:lnSpc>
                <a:spcBef>
                  <a:spcPct val="0"/>
                </a:spcBef>
                <a:buClrTx/>
                <a:buSzTx/>
                <a:buFontTx/>
                <a:buNone/>
              </a:pPr>
              <a:t>18</a:t>
            </a:fld>
            <a:endParaRPr lang="en-US" altLang="en-US" sz="1200">
              <a:latin typeface="Tahoma" panose="020B0604030504040204" pitchFamily="34" charset="0"/>
            </a:endParaRPr>
          </a:p>
        </p:txBody>
      </p:sp>
      <p:pic>
        <p:nvPicPr>
          <p:cNvPr id="40964" name="Graphic 3" descr="Puzzle"/>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8213" y="549275"/>
            <a:ext cx="4443412" cy="541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6" name="Rectangle 5"/>
          <p:cNvSpPr>
            <a:spLocks noChangeArrowheads="1"/>
          </p:cNvSpPr>
          <p:nvPr/>
        </p:nvSpPr>
        <p:spPr bwMode="auto">
          <a:xfrm>
            <a:off x="6816726" y="908051"/>
            <a:ext cx="27971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dirty="0">
                <a:solidFill>
                  <a:srgbClr val="C00000"/>
                </a:solidFill>
                <a:latin typeface="Arial" panose="020B0604020202020204" pitchFamily="34" charset="0"/>
              </a:rPr>
              <a:t>Access networks</a:t>
            </a:r>
          </a:p>
        </p:txBody>
      </p:sp>
      <p:sp>
        <p:nvSpPr>
          <p:cNvPr id="40967" name="Rectangle 6"/>
          <p:cNvSpPr>
            <a:spLocks noChangeArrowheads="1"/>
          </p:cNvSpPr>
          <p:nvPr/>
        </p:nvSpPr>
        <p:spPr bwMode="auto">
          <a:xfrm>
            <a:off x="6311900" y="2133601"/>
            <a:ext cx="3924300" cy="267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a:latin typeface="Arial" panose="020B0604020202020204" pitchFamily="34" charset="0"/>
              </a:rPr>
              <a:t>The network </a:t>
            </a:r>
            <a:r>
              <a:rPr lang="en-MY" altLang="en-US" sz="2400">
                <a:solidFill>
                  <a:srgbClr val="C00000"/>
                </a:solidFill>
                <a:latin typeface="Arial" panose="020B0604020202020204" pitchFamily="34" charset="0"/>
              </a:rPr>
              <a:t>that physically connects</a:t>
            </a:r>
            <a:r>
              <a:rPr lang="en-MY" altLang="en-US" sz="2400">
                <a:latin typeface="Arial" panose="020B0604020202020204" pitchFamily="34" charset="0"/>
              </a:rPr>
              <a:t> an </a:t>
            </a:r>
            <a:r>
              <a:rPr lang="en-MY" altLang="en-US" sz="2400">
                <a:solidFill>
                  <a:srgbClr val="C00000"/>
                </a:solidFill>
                <a:latin typeface="Arial" panose="020B0604020202020204" pitchFamily="34" charset="0"/>
              </a:rPr>
              <a:t>end system to the first router </a:t>
            </a:r>
            <a:r>
              <a:rPr lang="en-MY" altLang="en-US" sz="2400">
                <a:latin typeface="Arial" panose="020B0604020202020204" pitchFamily="34" charset="0"/>
              </a:rPr>
              <a:t>(also known as the “</a:t>
            </a:r>
            <a:r>
              <a:rPr lang="en-MY" altLang="en-US" sz="2400" i="1" u="sng">
                <a:latin typeface="Arial" panose="020B0604020202020204" pitchFamily="34" charset="0"/>
              </a:rPr>
              <a:t>edge router</a:t>
            </a:r>
            <a:r>
              <a:rPr lang="en-MY" altLang="en-US" sz="2400">
                <a:latin typeface="Arial" panose="020B0604020202020204" pitchFamily="34" charset="0"/>
              </a:rPr>
              <a:t>”) on a path from the end system to any other distant end system.</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48710" y="273146"/>
            <a:ext cx="10515600" cy="894622"/>
          </a:xfrm>
        </p:spPr>
        <p:txBody>
          <a:bodyPr/>
          <a:lstStyle/>
          <a:p>
            <a:r>
              <a:rPr lang="en-US" altLang="en-US" dirty="0">
                <a:ea typeface="ＭＳ Ｐゴシック" panose="020B0600070205080204" pitchFamily="34" charset="-128"/>
              </a:rPr>
              <a:t>Access networks and physical media</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19</a:t>
            </a:fld>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9" name="Rectangle 8">
            <a:extLst>
              <a:ext uri="{FF2B5EF4-FFF2-40B4-BE49-F238E27FC236}">
                <a16:creationId xmlns:a16="http://schemas.microsoft.com/office/drawing/2014/main" id="{04483029-0B46-154F-9CA3-FEA06875B8DB}"/>
              </a:ext>
            </a:extLst>
          </p:cNvPr>
          <p:cNvSpPr/>
          <p:nvPr/>
        </p:nvSpPr>
        <p:spPr>
          <a:xfrm>
            <a:off x="6471025" y="145155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7380480" y="1798646"/>
            <a:ext cx="4322981" cy="3874447"/>
            <a:chOff x="11448552" y="1676017"/>
            <a:chExt cx="4322981" cy="3874447"/>
          </a:xfrm>
        </p:grpSpPr>
        <p:sp>
          <p:nvSpPr>
            <p:cNvPr id="609" name="Oval 608">
              <a:extLst>
                <a:ext uri="{FF2B5EF4-FFF2-40B4-BE49-F238E27FC236}">
                  <a16:creationId xmlns:a16="http://schemas.microsoft.com/office/drawing/2014/main" id="{8000236D-4FCB-8E42-8443-B60A47AB111C}"/>
                </a:ext>
              </a:extLst>
            </p:cNvPr>
            <p:cNvSpPr/>
            <p:nvPr/>
          </p:nvSpPr>
          <p:spPr>
            <a:xfrm>
              <a:off x="11548524" y="3627656"/>
              <a:ext cx="1007401" cy="44821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0" name="Oval 609">
              <a:extLst>
                <a:ext uri="{FF2B5EF4-FFF2-40B4-BE49-F238E27FC236}">
                  <a16:creationId xmlns:a16="http://schemas.microsoft.com/office/drawing/2014/main" id="{D2A0E321-E076-5E4B-B83B-757AFB1A4CEA}"/>
                </a:ext>
              </a:extLst>
            </p:cNvPr>
            <p:cNvSpPr/>
            <p:nvPr/>
          </p:nvSpPr>
          <p:spPr>
            <a:xfrm rot="1622536">
              <a:off x="12634901" y="5270789"/>
              <a:ext cx="887739" cy="16172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3" name="Oval 612">
              <a:extLst>
                <a:ext uri="{FF2B5EF4-FFF2-40B4-BE49-F238E27FC236}">
                  <a16:creationId xmlns:a16="http://schemas.microsoft.com/office/drawing/2014/main" id="{651092E3-127F-B747-AC6B-A506BBC80C9F}"/>
                </a:ext>
              </a:extLst>
            </p:cNvPr>
            <p:cNvSpPr/>
            <p:nvPr/>
          </p:nvSpPr>
          <p:spPr>
            <a:xfrm>
              <a:off x="12775958" y="1847944"/>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3" name="Oval 632">
              <a:extLst>
                <a:ext uri="{FF2B5EF4-FFF2-40B4-BE49-F238E27FC236}">
                  <a16:creationId xmlns:a16="http://schemas.microsoft.com/office/drawing/2014/main" id="{C302BF23-8204-FB46-A78D-495CB59FC0FB}"/>
                </a:ext>
              </a:extLst>
            </p:cNvPr>
            <p:cNvSpPr/>
            <p:nvPr/>
          </p:nvSpPr>
          <p:spPr>
            <a:xfrm>
              <a:off x="12669374" y="4563454"/>
              <a:ext cx="1698836"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a:extLst>
                <a:ext uri="{FF2B5EF4-FFF2-40B4-BE49-F238E27FC236}">
                  <a16:creationId xmlns:a16="http://schemas.microsoft.com/office/drawing/2014/main" id="{78E6AF30-B350-C649-8449-B69F6002DF42}"/>
                </a:ext>
              </a:extLst>
            </p:cNvPr>
            <p:cNvSpPr/>
            <p:nvPr/>
          </p:nvSpPr>
          <p:spPr>
            <a:xfrm>
              <a:off x="12239699" y="4881027"/>
              <a:ext cx="660040" cy="553827"/>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6" name="Oval 635">
              <a:extLst>
                <a:ext uri="{FF2B5EF4-FFF2-40B4-BE49-F238E27FC236}">
                  <a16:creationId xmlns:a16="http://schemas.microsoft.com/office/drawing/2014/main" id="{33196CF4-E8B7-C748-AEBE-BE1C069588D5}"/>
                </a:ext>
              </a:extLst>
            </p:cNvPr>
            <p:cNvSpPr/>
            <p:nvPr/>
          </p:nvSpPr>
          <p:spPr>
            <a:xfrm>
              <a:off x="12638017" y="2106713"/>
              <a:ext cx="503074" cy="24332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7" name="Oval 636">
              <a:extLst>
                <a:ext uri="{FF2B5EF4-FFF2-40B4-BE49-F238E27FC236}">
                  <a16:creationId xmlns:a16="http://schemas.microsoft.com/office/drawing/2014/main" id="{B8AA2F12-9606-F944-8D71-78704F4F02AC}"/>
                </a:ext>
              </a:extLst>
            </p:cNvPr>
            <p:cNvSpPr/>
            <p:nvPr/>
          </p:nvSpPr>
          <p:spPr>
            <a:xfrm>
              <a:off x="13837524" y="504039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8" name="Oval 637">
              <a:extLst>
                <a:ext uri="{FF2B5EF4-FFF2-40B4-BE49-F238E27FC236}">
                  <a16:creationId xmlns:a16="http://schemas.microsoft.com/office/drawing/2014/main" id="{C1E7801D-A747-164C-BE12-1FDEB3DFE743}"/>
                </a:ext>
              </a:extLst>
            </p:cNvPr>
            <p:cNvSpPr/>
            <p:nvPr/>
          </p:nvSpPr>
          <p:spPr>
            <a:xfrm rot="2528345">
              <a:off x="12297976" y="2504847"/>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9" name="Oval 638">
              <a:extLst>
                <a:ext uri="{FF2B5EF4-FFF2-40B4-BE49-F238E27FC236}">
                  <a16:creationId xmlns:a16="http://schemas.microsoft.com/office/drawing/2014/main" id="{DF73A1CD-668E-B544-868D-FCFA8CE79DB9}"/>
                </a:ext>
              </a:extLst>
            </p:cNvPr>
            <p:cNvSpPr/>
            <p:nvPr/>
          </p:nvSpPr>
          <p:spPr>
            <a:xfrm>
              <a:off x="11972286" y="1972003"/>
              <a:ext cx="612303" cy="75426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1" name="Oval 570">
              <a:extLst>
                <a:ext uri="{FF2B5EF4-FFF2-40B4-BE49-F238E27FC236}">
                  <a16:creationId xmlns:a16="http://schemas.microsoft.com/office/drawing/2014/main" id="{500940CE-3A4B-8544-8F75-20D608AFFFB0}"/>
                </a:ext>
              </a:extLst>
            </p:cNvPr>
            <p:cNvSpPr/>
            <p:nvPr/>
          </p:nvSpPr>
          <p:spPr>
            <a:xfrm>
              <a:off x="11792971" y="167601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Oval 571">
              <a:extLst>
                <a:ext uri="{FF2B5EF4-FFF2-40B4-BE49-F238E27FC236}">
                  <a16:creationId xmlns:a16="http://schemas.microsoft.com/office/drawing/2014/main" id="{E74C110B-4F40-B84E-93CB-C30BF30DDED9}"/>
                </a:ext>
              </a:extLst>
            </p:cNvPr>
            <p:cNvSpPr/>
            <p:nvPr/>
          </p:nvSpPr>
          <p:spPr>
            <a:xfrm>
              <a:off x="11448552" y="2167072"/>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5" name="Oval 574">
              <a:extLst>
                <a:ext uri="{FF2B5EF4-FFF2-40B4-BE49-F238E27FC236}">
                  <a16:creationId xmlns:a16="http://schemas.microsoft.com/office/drawing/2014/main" id="{2CC4CBCD-9D3E-664B-9A59-A12E27F46392}"/>
                </a:ext>
              </a:extLst>
            </p:cNvPr>
            <p:cNvSpPr/>
            <p:nvPr/>
          </p:nvSpPr>
          <p:spPr>
            <a:xfrm>
              <a:off x="11807613" y="308958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Oval 575">
              <a:extLst>
                <a:ext uri="{FF2B5EF4-FFF2-40B4-BE49-F238E27FC236}">
                  <a16:creationId xmlns:a16="http://schemas.microsoft.com/office/drawing/2014/main" id="{F26C818D-F631-C04E-9F69-A6D978B05150}"/>
                </a:ext>
              </a:extLst>
            </p:cNvPr>
            <p:cNvSpPr/>
            <p:nvPr/>
          </p:nvSpPr>
          <p:spPr>
            <a:xfrm>
              <a:off x="11461856" y="3203435"/>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0" name="Oval 639">
              <a:extLst>
                <a:ext uri="{FF2B5EF4-FFF2-40B4-BE49-F238E27FC236}">
                  <a16:creationId xmlns:a16="http://schemas.microsoft.com/office/drawing/2014/main" id="{67287325-A3CF-3F47-9A8A-8C7EE2AD7C46}"/>
                </a:ext>
              </a:extLst>
            </p:cNvPr>
            <p:cNvSpPr/>
            <p:nvPr/>
          </p:nvSpPr>
          <p:spPr>
            <a:xfrm>
              <a:off x="14880961" y="3246013"/>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1" name="Oval 640">
              <a:extLst>
                <a:ext uri="{FF2B5EF4-FFF2-40B4-BE49-F238E27FC236}">
                  <a16:creationId xmlns:a16="http://schemas.microsoft.com/office/drawing/2014/main" id="{0F5FBC8A-7824-B94D-A922-EFEF1B35EA37}"/>
                </a:ext>
              </a:extLst>
            </p:cNvPr>
            <p:cNvSpPr/>
            <p:nvPr/>
          </p:nvSpPr>
          <p:spPr>
            <a:xfrm>
              <a:off x="14958490" y="4026029"/>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42" name="Content Placeholder 2">
            <a:extLst>
              <a:ext uri="{FF2B5EF4-FFF2-40B4-BE49-F238E27FC236}">
                <a16:creationId xmlns:a16="http://schemas.microsoft.com/office/drawing/2014/main" id="{42E83185-879F-5940-902F-C059E5776B03}"/>
              </a:ext>
            </a:extLst>
          </p:cNvPr>
          <p:cNvSpPr>
            <a:spLocks noGrp="1"/>
          </p:cNvSpPr>
          <p:nvPr>
            <p:ph sz="half" idx="1"/>
          </p:nvPr>
        </p:nvSpPr>
        <p:spPr>
          <a:xfrm>
            <a:off x="839285" y="1424002"/>
            <a:ext cx="5823897" cy="2635217"/>
          </a:xfrm>
        </p:spPr>
        <p:txBody>
          <a:bodyPr>
            <a:normAutofit/>
          </a:bodyPr>
          <a:lstStyle/>
          <a:p>
            <a:pPr>
              <a:spcBef>
                <a:spcPts val="600"/>
              </a:spcBef>
              <a:buNone/>
            </a:pPr>
            <a:r>
              <a:rPr lang="en-US" altLang="en-US" sz="3200" i="1" dirty="0">
                <a:solidFill>
                  <a:srgbClr val="CC0000"/>
                </a:solidFill>
                <a:ea typeface="ＭＳ Ｐゴシック" panose="020B0600070205080204" pitchFamily="34" charset="-128"/>
              </a:rPr>
              <a:t>Q: How to connect end systems to edge router?</a:t>
            </a:r>
          </a:p>
          <a:p>
            <a:pPr>
              <a:spcBef>
                <a:spcPts val="600"/>
              </a:spcBef>
              <a:buSzPct val="75000"/>
            </a:pPr>
            <a:r>
              <a:rPr lang="en-US" altLang="en-US" sz="2400" dirty="0">
                <a:ea typeface="ＭＳ Ｐゴシック" panose="020B0600070205080204" pitchFamily="34" charset="-128"/>
              </a:rPr>
              <a:t>residential access nets</a:t>
            </a:r>
          </a:p>
          <a:p>
            <a:pPr>
              <a:spcBef>
                <a:spcPts val="600"/>
              </a:spcBef>
              <a:buSzPct val="75000"/>
            </a:pPr>
            <a:r>
              <a:rPr lang="en-US" altLang="en-US" sz="2400" dirty="0">
                <a:ea typeface="ＭＳ Ｐゴシック" panose="020B0600070205080204" pitchFamily="34" charset="-128"/>
              </a:rPr>
              <a:t>institutional access networks (school, company)</a:t>
            </a:r>
          </a:p>
          <a:p>
            <a:pPr>
              <a:spcBef>
                <a:spcPts val="600"/>
              </a:spcBef>
              <a:spcAft>
                <a:spcPct val="30000"/>
              </a:spcAft>
              <a:buSzPct val="75000"/>
            </a:pPr>
            <a:r>
              <a:rPr lang="en-US" altLang="en-US" sz="2400" dirty="0">
                <a:ea typeface="ＭＳ Ｐゴシック" panose="020B0600070205080204" pitchFamily="34" charset="-128"/>
              </a:rPr>
              <a:t>mobile access networks (</a:t>
            </a:r>
            <a:r>
              <a:rPr lang="en-US" altLang="en-US" sz="2400" dirty="0" err="1">
                <a:ea typeface="ＭＳ Ｐゴシック" panose="020B0600070205080204" pitchFamily="34" charset="-128"/>
              </a:rPr>
              <a:t>WiFi</a:t>
            </a:r>
            <a:r>
              <a:rPr lang="en-US" altLang="en-US" sz="2400" dirty="0">
                <a:ea typeface="ＭＳ Ｐゴシック" panose="020B0600070205080204" pitchFamily="34" charset="-128"/>
              </a:rPr>
              <a:t>, 4G/5G)</a:t>
            </a:r>
            <a:endParaRPr lang="en-US" altLang="en-US" sz="2400" dirty="0">
              <a:solidFill>
                <a:srgbClr val="FF0000"/>
              </a:solidFill>
              <a:ea typeface="ＭＳ Ｐゴシック" panose="020B0600070205080204" pitchFamily="34" charset="-128"/>
            </a:endParaRPr>
          </a:p>
          <a:p>
            <a:pPr marL="174625" indent="0">
              <a:buSzPct val="75000"/>
              <a:buNone/>
            </a:pPr>
            <a:endParaRPr lang="en-US" altLang="en-US" dirty="0"/>
          </a:p>
          <a:p>
            <a:endParaRPr lang="en-US" dirty="0"/>
          </a:p>
        </p:txBody>
      </p:sp>
      <p:sp>
        <p:nvSpPr>
          <p:cNvPr id="496" name="Content Placeholder 2">
            <a:extLst>
              <a:ext uri="{FF2B5EF4-FFF2-40B4-BE49-F238E27FC236}">
                <a16:creationId xmlns:a16="http://schemas.microsoft.com/office/drawing/2014/main" id="{75FB7291-DE91-BB43-84BC-D0298124FC57}"/>
              </a:ext>
            </a:extLst>
          </p:cNvPr>
          <p:cNvSpPr txBox="1">
            <a:spLocks/>
          </p:cNvSpPr>
          <p:nvPr/>
        </p:nvSpPr>
        <p:spPr>
          <a:xfrm>
            <a:off x="759558" y="4154280"/>
            <a:ext cx="6495974" cy="152463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200" i="1" dirty="0">
                <a:solidFill>
                  <a:srgbClr val="CC0000"/>
                </a:solidFill>
                <a:ea typeface="ＭＳ Ｐゴシック" panose="020B0600070205080204" pitchFamily="34" charset="-128"/>
              </a:rPr>
              <a:t>What to look for: </a:t>
            </a:r>
          </a:p>
          <a:p>
            <a:pPr>
              <a:buSzPct val="75000"/>
            </a:pPr>
            <a:r>
              <a:rPr lang="en-US" altLang="en-US" sz="2400" dirty="0">
                <a:ea typeface="ＭＳ Ｐゴシック" panose="020B0600070205080204" pitchFamily="34" charset="-128"/>
              </a:rPr>
              <a:t>transmission rate  (bits per second) of access network?</a:t>
            </a:r>
          </a:p>
          <a:p>
            <a:pPr>
              <a:buSzPct val="75000"/>
            </a:pPr>
            <a:r>
              <a:rPr lang="en-US" altLang="en-US" sz="2400" dirty="0">
                <a:ea typeface="ＭＳ Ｐゴシック" panose="020B0600070205080204" pitchFamily="34" charset="-128"/>
              </a:rPr>
              <a:t>shared or dedicated access among users?</a:t>
            </a:r>
          </a:p>
          <a:p>
            <a:pPr marL="174625" indent="0">
              <a:buSzPct val="75000"/>
              <a:buFont typeface="Wingdings" pitchFamily="2" charset="2"/>
              <a:buNone/>
            </a:pPr>
            <a:endParaRPr lang="en-US" altLang="en-US" dirty="0"/>
          </a:p>
          <a:p>
            <a:endParaRPr lang="en-US" dirty="0"/>
          </a:p>
        </p:txBody>
      </p:sp>
    </p:spTree>
    <p:extLst>
      <p:ext uri="{BB962C8B-B14F-4D97-AF65-F5344CB8AC3E}">
        <p14:creationId xmlns:p14="http://schemas.microsoft.com/office/powerpoint/2010/main" val="415464851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7" name="Group 156">
            <a:extLst>
              <a:ext uri="{FF2B5EF4-FFF2-40B4-BE49-F238E27FC236}">
                <a16:creationId xmlns:a16="http://schemas.microsoft.com/office/drawing/2014/main" id="{4FE7365B-0CF2-6D4E-8662-17C5789974A9}"/>
              </a:ext>
            </a:extLst>
          </p:cNvPr>
          <p:cNvGrpSpPr/>
          <p:nvPr/>
        </p:nvGrpSpPr>
        <p:grpSpPr>
          <a:xfrm>
            <a:off x="6745014" y="2947413"/>
            <a:ext cx="2178050" cy="1147763"/>
            <a:chOff x="6634372" y="2940623"/>
            <a:chExt cx="2178050" cy="1147763"/>
          </a:xfrm>
        </p:grpSpPr>
        <p:sp>
          <p:nvSpPr>
            <p:cNvPr id="158" name="Freeform 129">
              <a:extLst>
                <a:ext uri="{FF2B5EF4-FFF2-40B4-BE49-F238E27FC236}">
                  <a16:creationId xmlns:a16="http://schemas.microsoft.com/office/drawing/2014/main" id="{40DE505F-8692-0345-9DB0-E86A6C74F03A}"/>
                </a:ext>
              </a:extLst>
            </p:cNvPr>
            <p:cNvSpPr>
              <a:spLocks/>
            </p:cNvSpPr>
            <p:nvPr/>
          </p:nvSpPr>
          <p:spPr bwMode="auto">
            <a:xfrm>
              <a:off x="6634372" y="2940623"/>
              <a:ext cx="2178050" cy="1147763"/>
            </a:xfrm>
            <a:custGeom>
              <a:avLst/>
              <a:gdLst>
                <a:gd name="T0" fmla="*/ 1509012 w 765"/>
                <a:gd name="T1" fmla="*/ 5729 h 459"/>
                <a:gd name="T2" fmla="*/ 1027025 w 765"/>
                <a:gd name="T3" fmla="*/ 40395 h 459"/>
                <a:gd name="T4" fmla="*/ 340902 w 765"/>
                <a:gd name="T5" fmla="*/ 58024 h 459"/>
                <a:gd name="T6" fmla="*/ 49874 w 765"/>
                <a:gd name="T7" fmla="*/ 194383 h 459"/>
                <a:gd name="T8" fmla="*/ 640932 w 765"/>
                <a:gd name="T9" fmla="*/ 256788 h 459"/>
                <a:gd name="T10" fmla="*/ 1233656 w 765"/>
                <a:gd name="T11" fmla="*/ 246677 h 459"/>
                <a:gd name="T12" fmla="*/ 2079640 w 765"/>
                <a:gd name="T13" fmla="*/ 256788 h 459"/>
                <a:gd name="T14" fmla="*/ 2485867 w 765"/>
                <a:gd name="T15" fmla="*/ 251149 h 459"/>
                <a:gd name="T16" fmla="*/ 2678580 w 765"/>
                <a:gd name="T17" fmla="*/ 215337 h 459"/>
                <a:gd name="T18" fmla="*/ 2671282 w 765"/>
                <a:gd name="T19" fmla="*/ 91397 h 459"/>
                <a:gd name="T20" fmla="*/ 2357408 w 765"/>
                <a:gd name="T21" fmla="*/ 19830 h 459"/>
                <a:gd name="T22" fmla="*/ 1509012 w 765"/>
                <a:gd name="T23" fmla="*/ 5729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5"/>
                <a:gd name="T37" fmla="*/ 0 h 459"/>
                <a:gd name="T38" fmla="*/ 765 w 765"/>
                <a:gd name="T39" fmla="*/ 459 h 4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9CDFF9"/>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Line 130">
              <a:extLst>
                <a:ext uri="{FF2B5EF4-FFF2-40B4-BE49-F238E27FC236}">
                  <a16:creationId xmlns:a16="http://schemas.microsoft.com/office/drawing/2014/main" id="{CC1BFC25-D727-AD4D-932D-8009CE2F7FCA}"/>
                </a:ext>
              </a:extLst>
            </p:cNvPr>
            <p:cNvSpPr>
              <a:spLocks noChangeShapeType="1"/>
            </p:cNvSpPr>
            <p:nvPr/>
          </p:nvSpPr>
          <p:spPr bwMode="auto">
            <a:xfrm flipV="1">
              <a:off x="7464635" y="3294636"/>
              <a:ext cx="168275" cy="120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Line 131">
              <a:extLst>
                <a:ext uri="{FF2B5EF4-FFF2-40B4-BE49-F238E27FC236}">
                  <a16:creationId xmlns:a16="http://schemas.microsoft.com/office/drawing/2014/main" id="{61F57A9F-0CD0-5C4E-86E8-ADC53B557A3B}"/>
                </a:ext>
              </a:extLst>
            </p:cNvPr>
            <p:cNvSpPr>
              <a:spLocks noChangeShapeType="1"/>
            </p:cNvSpPr>
            <p:nvPr/>
          </p:nvSpPr>
          <p:spPr bwMode="auto">
            <a:xfrm>
              <a:off x="7231272" y="3534348"/>
              <a:ext cx="0" cy="1143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Line 132">
              <a:extLst>
                <a:ext uri="{FF2B5EF4-FFF2-40B4-BE49-F238E27FC236}">
                  <a16:creationId xmlns:a16="http://schemas.microsoft.com/office/drawing/2014/main" id="{1718B686-5972-DA46-8450-6B2CB8980D36}"/>
                </a:ext>
              </a:extLst>
            </p:cNvPr>
            <p:cNvSpPr>
              <a:spLocks noChangeShapeType="1"/>
            </p:cNvSpPr>
            <p:nvPr/>
          </p:nvSpPr>
          <p:spPr bwMode="auto">
            <a:xfrm flipV="1">
              <a:off x="7464635" y="3391473"/>
              <a:ext cx="358775" cy="400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Line 133">
              <a:extLst>
                <a:ext uri="{FF2B5EF4-FFF2-40B4-BE49-F238E27FC236}">
                  <a16:creationId xmlns:a16="http://schemas.microsoft.com/office/drawing/2014/main" id="{B42FEC22-AB27-0D42-869D-64B05CD22DA3}"/>
                </a:ext>
              </a:extLst>
            </p:cNvPr>
            <p:cNvSpPr>
              <a:spLocks noChangeShapeType="1"/>
            </p:cNvSpPr>
            <p:nvPr/>
          </p:nvSpPr>
          <p:spPr bwMode="auto">
            <a:xfrm>
              <a:off x="7961522" y="3389886"/>
              <a:ext cx="0" cy="271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 name="Line 134">
              <a:extLst>
                <a:ext uri="{FF2B5EF4-FFF2-40B4-BE49-F238E27FC236}">
                  <a16:creationId xmlns:a16="http://schemas.microsoft.com/office/drawing/2014/main" id="{CAD79659-4AA7-BF43-AA32-59993085B2B5}"/>
                </a:ext>
              </a:extLst>
            </p:cNvPr>
            <p:cNvSpPr>
              <a:spLocks noChangeShapeType="1"/>
            </p:cNvSpPr>
            <p:nvPr/>
          </p:nvSpPr>
          <p:spPr bwMode="auto">
            <a:xfrm>
              <a:off x="7490035" y="3813748"/>
              <a:ext cx="25717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 name="Line 135">
              <a:extLst>
                <a:ext uri="{FF2B5EF4-FFF2-40B4-BE49-F238E27FC236}">
                  <a16:creationId xmlns:a16="http://schemas.microsoft.com/office/drawing/2014/main" id="{F7F9DB5C-1752-3341-B2E8-C273BF78641C}"/>
                </a:ext>
              </a:extLst>
            </p:cNvPr>
            <p:cNvSpPr>
              <a:spLocks noChangeShapeType="1"/>
            </p:cNvSpPr>
            <p:nvPr/>
          </p:nvSpPr>
          <p:spPr bwMode="auto">
            <a:xfrm>
              <a:off x="8245685" y="3801048"/>
              <a:ext cx="241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Line 172">
              <a:extLst>
                <a:ext uri="{FF2B5EF4-FFF2-40B4-BE49-F238E27FC236}">
                  <a16:creationId xmlns:a16="http://schemas.microsoft.com/office/drawing/2014/main" id="{FFC4002F-4477-624F-8ED5-E93EA6CC0598}"/>
                </a:ext>
              </a:extLst>
            </p:cNvPr>
            <p:cNvSpPr>
              <a:spLocks noChangeShapeType="1"/>
            </p:cNvSpPr>
            <p:nvPr/>
          </p:nvSpPr>
          <p:spPr bwMode="auto">
            <a:xfrm>
              <a:off x="8510797" y="3797873"/>
              <a:ext cx="242888" cy="0"/>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 name="Text Box 580">
              <a:extLst>
                <a:ext uri="{FF2B5EF4-FFF2-40B4-BE49-F238E27FC236}">
                  <a16:creationId xmlns:a16="http://schemas.microsoft.com/office/drawing/2014/main" id="{ACBE8DF7-D16E-E14B-90B6-558C55C0DDC5}"/>
                </a:ext>
              </a:extLst>
            </p:cNvPr>
            <p:cNvSpPr txBox="1">
              <a:spLocks noChangeArrowheads="1"/>
            </p:cNvSpPr>
            <p:nvPr/>
          </p:nvSpPr>
          <p:spPr bwMode="auto">
            <a:xfrm>
              <a:off x="8207585" y="3191448"/>
              <a:ext cx="55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ISP</a:t>
              </a:r>
            </a:p>
          </p:txBody>
        </p:sp>
        <p:grpSp>
          <p:nvGrpSpPr>
            <p:cNvPr id="167" name="Group 166">
              <a:extLst>
                <a:ext uri="{FF2B5EF4-FFF2-40B4-BE49-F238E27FC236}">
                  <a16:creationId xmlns:a16="http://schemas.microsoft.com/office/drawing/2014/main" id="{4F16207F-582A-1640-9758-D1D4AB63C1AD}"/>
                </a:ext>
              </a:extLst>
            </p:cNvPr>
            <p:cNvGrpSpPr/>
            <p:nvPr/>
          </p:nvGrpSpPr>
          <p:grpSpPr>
            <a:xfrm>
              <a:off x="6972551" y="3193191"/>
              <a:ext cx="576221" cy="330754"/>
              <a:chOff x="7493876" y="2774731"/>
              <a:chExt cx="1481958" cy="894622"/>
            </a:xfrm>
          </p:grpSpPr>
          <p:sp>
            <p:nvSpPr>
              <p:cNvPr id="192" name="Freeform 191">
                <a:extLst>
                  <a:ext uri="{FF2B5EF4-FFF2-40B4-BE49-F238E27FC236}">
                    <a16:creationId xmlns:a16="http://schemas.microsoft.com/office/drawing/2014/main" id="{8CB87AD0-1F5F-CC48-8F7E-433D23860E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3" name="Oval 192">
                <a:extLst>
                  <a:ext uri="{FF2B5EF4-FFF2-40B4-BE49-F238E27FC236}">
                    <a16:creationId xmlns:a16="http://schemas.microsoft.com/office/drawing/2014/main" id="{6529692B-F269-C243-BA24-E4BF8FDA899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351E7744-7123-6D4B-85E6-B3A507AE763C}"/>
                  </a:ext>
                </a:extLst>
              </p:cNvPr>
              <p:cNvGrpSpPr/>
              <p:nvPr/>
            </p:nvGrpSpPr>
            <p:grpSpPr>
              <a:xfrm>
                <a:off x="7713663" y="2848339"/>
                <a:ext cx="1042107" cy="425543"/>
                <a:chOff x="7786941" y="2884917"/>
                <a:chExt cx="897649" cy="353919"/>
              </a:xfrm>
            </p:grpSpPr>
            <p:sp>
              <p:nvSpPr>
                <p:cNvPr id="195" name="Freeform 194">
                  <a:extLst>
                    <a:ext uri="{FF2B5EF4-FFF2-40B4-BE49-F238E27FC236}">
                      <a16:creationId xmlns:a16="http://schemas.microsoft.com/office/drawing/2014/main" id="{D1029CA6-C2F3-FF45-91EF-15AF0F20C0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 name="Freeform 195">
                  <a:extLst>
                    <a:ext uri="{FF2B5EF4-FFF2-40B4-BE49-F238E27FC236}">
                      <a16:creationId xmlns:a16="http://schemas.microsoft.com/office/drawing/2014/main" id="{51839164-1EE5-804A-8D25-CC2C5B8885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7" name="Freeform 196">
                  <a:extLst>
                    <a:ext uri="{FF2B5EF4-FFF2-40B4-BE49-F238E27FC236}">
                      <a16:creationId xmlns:a16="http://schemas.microsoft.com/office/drawing/2014/main" id="{FF2ADE02-E4B7-1F42-A6D9-9E518AE7455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6B699C31-703A-E049-8445-0251EF0EC7E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112657C9-2B1C-464C-B664-009C9B87C46E}"/>
                </a:ext>
              </a:extLst>
            </p:cNvPr>
            <p:cNvGrpSpPr/>
            <p:nvPr/>
          </p:nvGrpSpPr>
          <p:grpSpPr>
            <a:xfrm>
              <a:off x="6955883" y="3598924"/>
              <a:ext cx="576221" cy="330754"/>
              <a:chOff x="7493876" y="2774731"/>
              <a:chExt cx="1481958" cy="894622"/>
            </a:xfrm>
          </p:grpSpPr>
          <p:sp>
            <p:nvSpPr>
              <p:cNvPr id="185" name="Freeform 184">
                <a:extLst>
                  <a:ext uri="{FF2B5EF4-FFF2-40B4-BE49-F238E27FC236}">
                    <a16:creationId xmlns:a16="http://schemas.microsoft.com/office/drawing/2014/main" id="{45B05C36-2E4E-394B-9F08-B52E1B9FCE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6" name="Oval 185">
                <a:extLst>
                  <a:ext uri="{FF2B5EF4-FFF2-40B4-BE49-F238E27FC236}">
                    <a16:creationId xmlns:a16="http://schemas.microsoft.com/office/drawing/2014/main" id="{81F630B3-D1BF-5942-81D4-51DE1AA6E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7" name="Group 186">
                <a:extLst>
                  <a:ext uri="{FF2B5EF4-FFF2-40B4-BE49-F238E27FC236}">
                    <a16:creationId xmlns:a16="http://schemas.microsoft.com/office/drawing/2014/main" id="{EEB78467-07B5-234D-87F6-94C3F198E0D6}"/>
                  </a:ext>
                </a:extLst>
              </p:cNvPr>
              <p:cNvGrpSpPr/>
              <p:nvPr/>
            </p:nvGrpSpPr>
            <p:grpSpPr>
              <a:xfrm>
                <a:off x="7713663" y="2848339"/>
                <a:ext cx="1042107" cy="425543"/>
                <a:chOff x="7786941" y="2884917"/>
                <a:chExt cx="897649" cy="353919"/>
              </a:xfrm>
            </p:grpSpPr>
            <p:sp>
              <p:nvSpPr>
                <p:cNvPr id="188" name="Freeform 187">
                  <a:extLst>
                    <a:ext uri="{FF2B5EF4-FFF2-40B4-BE49-F238E27FC236}">
                      <a16:creationId xmlns:a16="http://schemas.microsoft.com/office/drawing/2014/main" id="{9D366415-ABBC-F44B-9A8C-EF997C48DA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 name="Freeform 188">
                  <a:extLst>
                    <a:ext uri="{FF2B5EF4-FFF2-40B4-BE49-F238E27FC236}">
                      <a16:creationId xmlns:a16="http://schemas.microsoft.com/office/drawing/2014/main" id="{F661368A-D1A5-BD4D-8014-E42D38154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88992003-9DD6-FB4A-A6B8-C981B5A1B0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D51EB078-6D1B-A34F-BC6D-1132156447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2BCDF68D-C756-C842-A015-6B56DEF238B7}"/>
                </a:ext>
              </a:extLst>
            </p:cNvPr>
            <p:cNvGrpSpPr/>
            <p:nvPr/>
          </p:nvGrpSpPr>
          <p:grpSpPr>
            <a:xfrm>
              <a:off x="7720114" y="3593282"/>
              <a:ext cx="576221" cy="330754"/>
              <a:chOff x="7493876" y="2774731"/>
              <a:chExt cx="1481958" cy="894622"/>
            </a:xfrm>
          </p:grpSpPr>
          <p:sp>
            <p:nvSpPr>
              <p:cNvPr id="178" name="Freeform 177">
                <a:extLst>
                  <a:ext uri="{FF2B5EF4-FFF2-40B4-BE49-F238E27FC236}">
                    <a16:creationId xmlns:a16="http://schemas.microsoft.com/office/drawing/2014/main" id="{50934850-2B02-CD47-ABA0-24759729C11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35B062D7-BF74-C14E-B1E8-702BA91D5C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E0C6A5ED-08F2-4749-9658-C573A2633D76}"/>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9DBE865-2695-8A45-82F3-DEE52966AF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E3EEAA19-E572-7347-A807-3E19B64957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A5912A8E-8AC5-0A40-B58C-7A1236AB74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84AC52AA-A89D-A548-9B8A-36C520B687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451DCC0B-CF83-FE4A-B66E-827D2B24DBF9}"/>
                </a:ext>
              </a:extLst>
            </p:cNvPr>
            <p:cNvGrpSpPr/>
            <p:nvPr/>
          </p:nvGrpSpPr>
          <p:grpSpPr>
            <a:xfrm>
              <a:off x="7618622" y="3082478"/>
              <a:ext cx="576221" cy="330754"/>
              <a:chOff x="7493876" y="2774731"/>
              <a:chExt cx="1481958" cy="894622"/>
            </a:xfrm>
          </p:grpSpPr>
          <p:sp>
            <p:nvSpPr>
              <p:cNvPr id="171" name="Freeform 170">
                <a:extLst>
                  <a:ext uri="{FF2B5EF4-FFF2-40B4-BE49-F238E27FC236}">
                    <a16:creationId xmlns:a16="http://schemas.microsoft.com/office/drawing/2014/main" id="{00331BBA-EC67-F64D-BF3C-96A5FBF3D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2" name="Oval 171">
                <a:extLst>
                  <a:ext uri="{FF2B5EF4-FFF2-40B4-BE49-F238E27FC236}">
                    <a16:creationId xmlns:a16="http://schemas.microsoft.com/office/drawing/2014/main" id="{863117E0-75B3-714A-8A78-456DB99C211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3" name="Group 172">
                <a:extLst>
                  <a:ext uri="{FF2B5EF4-FFF2-40B4-BE49-F238E27FC236}">
                    <a16:creationId xmlns:a16="http://schemas.microsoft.com/office/drawing/2014/main" id="{2E22C89F-90E0-564A-B49C-2943AA77A866}"/>
                  </a:ext>
                </a:extLst>
              </p:cNvPr>
              <p:cNvGrpSpPr/>
              <p:nvPr/>
            </p:nvGrpSpPr>
            <p:grpSpPr>
              <a:xfrm>
                <a:off x="7713663" y="2848339"/>
                <a:ext cx="1042107" cy="425543"/>
                <a:chOff x="7786941" y="2884917"/>
                <a:chExt cx="897649" cy="353919"/>
              </a:xfrm>
            </p:grpSpPr>
            <p:sp>
              <p:nvSpPr>
                <p:cNvPr id="174" name="Freeform 173">
                  <a:extLst>
                    <a:ext uri="{FF2B5EF4-FFF2-40B4-BE49-F238E27FC236}">
                      <a16:creationId xmlns:a16="http://schemas.microsoft.com/office/drawing/2014/main" id="{79344540-AE9B-F845-B49C-C25ABD4D09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46CF243F-7407-9A46-B12E-221427A59A7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1A40EBD6-E642-D14B-AA50-184636F20A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ED79DD0B-A70A-4649-9BE9-2ACD3F88BC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Access networks: digital subscriber line (DSL)</a:t>
            </a:r>
            <a:endParaRPr lang="en-US" dirty="0"/>
          </a:p>
        </p:txBody>
      </p:sp>
      <p:sp>
        <p:nvSpPr>
          <p:cNvPr id="95" name="Freeform 3">
            <a:extLst>
              <a:ext uri="{FF2B5EF4-FFF2-40B4-BE49-F238E27FC236}">
                <a16:creationId xmlns:a16="http://schemas.microsoft.com/office/drawing/2014/main" id="{2CC01EB9-754B-CE41-8582-3B2E9CE9F114}"/>
              </a:ext>
            </a:extLst>
          </p:cNvPr>
          <p:cNvSpPr>
            <a:spLocks/>
          </p:cNvSpPr>
          <p:nvPr/>
        </p:nvSpPr>
        <p:spPr bwMode="auto">
          <a:xfrm>
            <a:off x="5902873" y="1444625"/>
            <a:ext cx="2216150" cy="1477963"/>
          </a:xfrm>
          <a:custGeom>
            <a:avLst/>
            <a:gdLst>
              <a:gd name="T0" fmla="*/ 2147483647 w 1396"/>
              <a:gd name="T1" fmla="*/ 2147483647 h 931"/>
              <a:gd name="T2" fmla="*/ 2147483647 w 1396"/>
              <a:gd name="T3" fmla="*/ 2147483647 h 931"/>
              <a:gd name="T4" fmla="*/ 2147483647 w 1396"/>
              <a:gd name="T5" fmla="*/ 2147483647 h 931"/>
              <a:gd name="T6" fmla="*/ 2147483647 w 1396"/>
              <a:gd name="T7" fmla="*/ 2147483647 h 931"/>
              <a:gd name="T8" fmla="*/ 2147483647 w 1396"/>
              <a:gd name="T9" fmla="*/ 2147483647 h 931"/>
              <a:gd name="T10" fmla="*/ 2147483647 w 1396"/>
              <a:gd name="T11" fmla="*/ 2147483647 h 931"/>
              <a:gd name="T12" fmla="*/ 2147483647 w 1396"/>
              <a:gd name="T13" fmla="*/ 2147483647 h 931"/>
              <a:gd name="T14" fmla="*/ 2147483647 w 1396"/>
              <a:gd name="T15" fmla="*/ 2147483647 h 931"/>
              <a:gd name="T16" fmla="*/ 2147483647 w 1396"/>
              <a:gd name="T17" fmla="*/ 2147483647 h 931"/>
              <a:gd name="T18" fmla="*/ 2147483647 w 1396"/>
              <a:gd name="T19" fmla="*/ 2147483647 h 931"/>
              <a:gd name="T20" fmla="*/ 2147483647 w 1396"/>
              <a:gd name="T21" fmla="*/ 2147483647 h 931"/>
              <a:gd name="T22" fmla="*/ 2147483647 w 1396"/>
              <a:gd name="T23" fmla="*/ 2147483647 h 931"/>
              <a:gd name="T24" fmla="*/ 2147483647 w 1396"/>
              <a:gd name="T25" fmla="*/ 2147483647 h 931"/>
              <a:gd name="T26" fmla="*/ 2147483647 w 1396"/>
              <a:gd name="T27" fmla="*/ 2147483647 h 931"/>
              <a:gd name="T28" fmla="*/ 2147483647 w 1396"/>
              <a:gd name="T29" fmla="*/ 2147483647 h 931"/>
              <a:gd name="T30" fmla="*/ 2147483647 w 1396"/>
              <a:gd name="T31" fmla="*/ 2147483647 h 9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6"/>
              <a:gd name="T49" fmla="*/ 0 h 931"/>
              <a:gd name="T50" fmla="*/ 1396 w 1396"/>
              <a:gd name="T51" fmla="*/ 931 h 9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6" h="931">
                <a:moveTo>
                  <a:pt x="873" y="18"/>
                </a:moveTo>
                <a:cubicBezTo>
                  <a:pt x="787" y="32"/>
                  <a:pt x="625" y="55"/>
                  <a:pt x="526" y="89"/>
                </a:cubicBezTo>
                <a:cubicBezTo>
                  <a:pt x="426" y="122"/>
                  <a:pt x="346" y="184"/>
                  <a:pt x="278" y="216"/>
                </a:cubicBezTo>
                <a:cubicBezTo>
                  <a:pt x="210" y="248"/>
                  <a:pt x="159" y="236"/>
                  <a:pt x="118" y="283"/>
                </a:cubicBezTo>
                <a:cubicBezTo>
                  <a:pt x="77" y="330"/>
                  <a:pt x="46" y="416"/>
                  <a:pt x="30" y="497"/>
                </a:cubicBezTo>
                <a:cubicBezTo>
                  <a:pt x="14" y="578"/>
                  <a:pt x="0" y="714"/>
                  <a:pt x="24" y="768"/>
                </a:cubicBezTo>
                <a:cubicBezTo>
                  <a:pt x="49" y="821"/>
                  <a:pt x="112" y="796"/>
                  <a:pt x="178" y="818"/>
                </a:cubicBezTo>
                <a:cubicBezTo>
                  <a:pt x="244" y="840"/>
                  <a:pt x="318" y="886"/>
                  <a:pt x="421" y="902"/>
                </a:cubicBezTo>
                <a:cubicBezTo>
                  <a:pt x="524" y="918"/>
                  <a:pt x="681" y="916"/>
                  <a:pt x="793" y="916"/>
                </a:cubicBezTo>
                <a:cubicBezTo>
                  <a:pt x="905" y="916"/>
                  <a:pt x="1004" y="931"/>
                  <a:pt x="1095" y="902"/>
                </a:cubicBezTo>
                <a:cubicBezTo>
                  <a:pt x="1186" y="873"/>
                  <a:pt x="1291" y="813"/>
                  <a:pt x="1337" y="744"/>
                </a:cubicBezTo>
                <a:cubicBezTo>
                  <a:pt x="1383" y="675"/>
                  <a:pt x="1365" y="580"/>
                  <a:pt x="1372" y="487"/>
                </a:cubicBezTo>
                <a:cubicBezTo>
                  <a:pt x="1378" y="393"/>
                  <a:pt x="1396" y="256"/>
                  <a:pt x="1377" y="179"/>
                </a:cubicBezTo>
                <a:cubicBezTo>
                  <a:pt x="1358" y="102"/>
                  <a:pt x="1314" y="57"/>
                  <a:pt x="1259" y="28"/>
                </a:cubicBezTo>
                <a:cubicBezTo>
                  <a:pt x="1203" y="0"/>
                  <a:pt x="1110" y="7"/>
                  <a:pt x="1046" y="5"/>
                </a:cubicBezTo>
                <a:cubicBezTo>
                  <a:pt x="981" y="3"/>
                  <a:pt x="959" y="5"/>
                  <a:pt x="873" y="18"/>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Oval 9">
            <a:extLst>
              <a:ext uri="{FF2B5EF4-FFF2-40B4-BE49-F238E27FC236}">
                <a16:creationId xmlns:a16="http://schemas.microsoft.com/office/drawing/2014/main" id="{B627A3EE-6F93-284A-83BB-FE4EAD9D53CD}"/>
              </a:ext>
            </a:extLst>
          </p:cNvPr>
          <p:cNvSpPr>
            <a:spLocks noChangeArrowheads="1"/>
          </p:cNvSpPr>
          <p:nvPr/>
        </p:nvSpPr>
        <p:spPr bwMode="auto">
          <a:xfrm>
            <a:off x="6902998" y="2151063"/>
            <a:ext cx="193675" cy="193675"/>
          </a:xfrm>
          <a:prstGeom prst="ellipse">
            <a:avLst/>
          </a:prstGeom>
          <a:solidFill>
            <a:schemeClr val="tx1"/>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7" name="Oval 12">
            <a:extLst>
              <a:ext uri="{FF2B5EF4-FFF2-40B4-BE49-F238E27FC236}">
                <a16:creationId xmlns:a16="http://schemas.microsoft.com/office/drawing/2014/main" id="{C57B5EF8-F77C-1B42-AB82-72529296692D}"/>
              </a:ext>
            </a:extLst>
          </p:cNvPr>
          <p:cNvSpPr>
            <a:spLocks noChangeArrowheads="1"/>
          </p:cNvSpPr>
          <p:nvPr/>
        </p:nvSpPr>
        <p:spPr bwMode="auto">
          <a:xfrm>
            <a:off x="7283998" y="1779588"/>
            <a:ext cx="193675" cy="193675"/>
          </a:xfrm>
          <a:prstGeom prst="ellipse">
            <a:avLst/>
          </a:prstGeom>
          <a:solidFill>
            <a:schemeClr val="tx1"/>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8" name="Line 15">
            <a:extLst>
              <a:ext uri="{FF2B5EF4-FFF2-40B4-BE49-F238E27FC236}">
                <a16:creationId xmlns:a16="http://schemas.microsoft.com/office/drawing/2014/main" id="{61C37BF6-4477-1B43-8E1D-3D1B221EC6A7}"/>
              </a:ext>
            </a:extLst>
          </p:cNvPr>
          <p:cNvSpPr>
            <a:spLocks noChangeShapeType="1"/>
          </p:cNvSpPr>
          <p:nvPr/>
        </p:nvSpPr>
        <p:spPr bwMode="auto">
          <a:xfrm flipV="1">
            <a:off x="6990311" y="1920875"/>
            <a:ext cx="317500" cy="336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16">
            <a:extLst>
              <a:ext uri="{FF2B5EF4-FFF2-40B4-BE49-F238E27FC236}">
                <a16:creationId xmlns:a16="http://schemas.microsoft.com/office/drawing/2014/main" id="{8B677416-ACBA-BE49-99D1-9E00AF65AB46}"/>
              </a:ext>
            </a:extLst>
          </p:cNvPr>
          <p:cNvSpPr>
            <a:spLocks noChangeShapeType="1"/>
          </p:cNvSpPr>
          <p:nvPr/>
        </p:nvSpPr>
        <p:spPr bwMode="auto">
          <a:xfrm>
            <a:off x="7384011" y="1897063"/>
            <a:ext cx="400050" cy="59055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Rectangle 44">
            <a:extLst>
              <a:ext uri="{FF2B5EF4-FFF2-40B4-BE49-F238E27FC236}">
                <a16:creationId xmlns:a16="http://schemas.microsoft.com/office/drawing/2014/main" id="{8C3CA799-9994-7B4C-A236-0CBDAF9C4754}"/>
              </a:ext>
            </a:extLst>
          </p:cNvPr>
          <p:cNvSpPr>
            <a:spLocks noChangeArrowheads="1"/>
          </p:cNvSpPr>
          <p:nvPr/>
        </p:nvSpPr>
        <p:spPr bwMode="auto">
          <a:xfrm>
            <a:off x="6182273" y="1900238"/>
            <a:ext cx="955675" cy="700087"/>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1" name="Text Box 45">
            <a:extLst>
              <a:ext uri="{FF2B5EF4-FFF2-40B4-BE49-F238E27FC236}">
                <a16:creationId xmlns:a16="http://schemas.microsoft.com/office/drawing/2014/main" id="{ABC0609F-F95A-6A4D-ACAE-3A0EAA895F3E}"/>
              </a:ext>
            </a:extLst>
          </p:cNvPr>
          <p:cNvSpPr txBox="1">
            <a:spLocks noChangeArrowheads="1"/>
          </p:cNvSpPr>
          <p:nvPr/>
        </p:nvSpPr>
        <p:spPr bwMode="auto">
          <a:xfrm>
            <a:off x="5637761" y="1419225"/>
            <a:ext cx="1925637"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central office</a:t>
            </a:r>
          </a:p>
        </p:txBody>
      </p:sp>
      <p:sp>
        <p:nvSpPr>
          <p:cNvPr id="102" name="Line 14">
            <a:extLst>
              <a:ext uri="{FF2B5EF4-FFF2-40B4-BE49-F238E27FC236}">
                <a16:creationId xmlns:a16="http://schemas.microsoft.com/office/drawing/2014/main" id="{C86E3CF4-AAAA-074D-BAA4-B02F477DCD0E}"/>
              </a:ext>
            </a:extLst>
          </p:cNvPr>
          <p:cNvSpPr>
            <a:spLocks noChangeShapeType="1"/>
          </p:cNvSpPr>
          <p:nvPr/>
        </p:nvSpPr>
        <p:spPr bwMode="auto">
          <a:xfrm flipV="1">
            <a:off x="4288386" y="2306638"/>
            <a:ext cx="193833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Text Box 17">
            <a:extLst>
              <a:ext uri="{FF2B5EF4-FFF2-40B4-BE49-F238E27FC236}">
                <a16:creationId xmlns:a16="http://schemas.microsoft.com/office/drawing/2014/main" id="{840DC24E-DBCB-E94C-8975-B46FBD3E0BE6}"/>
              </a:ext>
            </a:extLst>
          </p:cNvPr>
          <p:cNvSpPr txBox="1">
            <a:spLocks noChangeArrowheads="1"/>
          </p:cNvSpPr>
          <p:nvPr/>
        </p:nvSpPr>
        <p:spPr bwMode="auto">
          <a:xfrm>
            <a:off x="7539586" y="1473200"/>
            <a:ext cx="10747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telephone</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p:txBody>
      </p:sp>
      <p:grpSp>
        <p:nvGrpSpPr>
          <p:cNvPr id="104" name="Group 108">
            <a:extLst>
              <a:ext uri="{FF2B5EF4-FFF2-40B4-BE49-F238E27FC236}">
                <a16:creationId xmlns:a16="http://schemas.microsoft.com/office/drawing/2014/main" id="{218A2C9E-40B0-5943-B5FF-D927729FA1FA}"/>
              </a:ext>
            </a:extLst>
          </p:cNvPr>
          <p:cNvGrpSpPr>
            <a:grpSpLocks/>
          </p:cNvGrpSpPr>
          <p:nvPr/>
        </p:nvGrpSpPr>
        <p:grpSpPr bwMode="auto">
          <a:xfrm>
            <a:off x="6239423" y="2017713"/>
            <a:ext cx="368300" cy="519112"/>
            <a:chOff x="1852" y="2562"/>
            <a:chExt cx="355" cy="471"/>
          </a:xfrm>
        </p:grpSpPr>
        <p:sp>
          <p:nvSpPr>
            <p:cNvPr id="105" name="Freeform 109">
              <a:extLst>
                <a:ext uri="{FF2B5EF4-FFF2-40B4-BE49-F238E27FC236}">
                  <a16:creationId xmlns:a16="http://schemas.microsoft.com/office/drawing/2014/main" id="{45B8912E-0D7C-E043-A9BD-224FD05B1482}"/>
                </a:ext>
              </a:extLst>
            </p:cNvPr>
            <p:cNvSpPr>
              <a:spLocks/>
            </p:cNvSpPr>
            <p:nvPr/>
          </p:nvSpPr>
          <p:spPr bwMode="auto">
            <a:xfrm>
              <a:off x="1852" y="2621"/>
              <a:ext cx="318" cy="412"/>
            </a:xfrm>
            <a:custGeom>
              <a:avLst/>
              <a:gdLst>
                <a:gd name="T0" fmla="*/ 0 w 318"/>
                <a:gd name="T1" fmla="*/ 412 h 412"/>
                <a:gd name="T2" fmla="*/ 3 w 318"/>
                <a:gd name="T3" fmla="*/ 1 h 412"/>
                <a:gd name="T4" fmla="*/ 74 w 318"/>
                <a:gd name="T5" fmla="*/ 0 h 412"/>
                <a:gd name="T6" fmla="*/ 254 w 318"/>
                <a:gd name="T7" fmla="*/ 111 h 412"/>
                <a:gd name="T8" fmla="*/ 318 w 318"/>
                <a:gd name="T9" fmla="*/ 115 h 412"/>
                <a:gd name="T10" fmla="*/ 318 w 318"/>
                <a:gd name="T11" fmla="*/ 308 h 412"/>
                <a:gd name="T12" fmla="*/ 246 w 318"/>
                <a:gd name="T13" fmla="*/ 308 h 412"/>
                <a:gd name="T14" fmla="*/ 74 w 318"/>
                <a:gd name="T15" fmla="*/ 412 h 412"/>
                <a:gd name="T16" fmla="*/ 0 w 318"/>
                <a:gd name="T17" fmla="*/ 412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100000">
                  <a:schemeClr val="accent1"/>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Freeform 110">
              <a:extLst>
                <a:ext uri="{FF2B5EF4-FFF2-40B4-BE49-F238E27FC236}">
                  <a16:creationId xmlns:a16="http://schemas.microsoft.com/office/drawing/2014/main" id="{C648ABA8-AD4C-7045-B95D-4AFA6789EE18}"/>
                </a:ext>
              </a:extLst>
            </p:cNvPr>
            <p:cNvSpPr>
              <a:spLocks/>
            </p:cNvSpPr>
            <p:nvPr/>
          </p:nvSpPr>
          <p:spPr bwMode="auto">
            <a:xfrm>
              <a:off x="1854" y="2562"/>
              <a:ext cx="353" cy="369"/>
            </a:xfrm>
            <a:custGeom>
              <a:avLst/>
              <a:gdLst>
                <a:gd name="T0" fmla="*/ 0 w 353"/>
                <a:gd name="T1" fmla="*/ 59 h 369"/>
                <a:gd name="T2" fmla="*/ 32 w 353"/>
                <a:gd name="T3" fmla="*/ 0 h 369"/>
                <a:gd name="T4" fmla="*/ 105 w 353"/>
                <a:gd name="T5" fmla="*/ 0 h 369"/>
                <a:gd name="T6" fmla="*/ 276 w 353"/>
                <a:gd name="T7" fmla="*/ 113 h 369"/>
                <a:gd name="T8" fmla="*/ 353 w 353"/>
                <a:gd name="T9" fmla="*/ 113 h 369"/>
                <a:gd name="T10" fmla="*/ 353 w 353"/>
                <a:gd name="T11" fmla="*/ 315 h 369"/>
                <a:gd name="T12" fmla="*/ 318 w 353"/>
                <a:gd name="T13" fmla="*/ 369 h 369"/>
                <a:gd name="T14" fmla="*/ 315 w 353"/>
                <a:gd name="T15" fmla="*/ 173 h 369"/>
                <a:gd name="T16" fmla="*/ 254 w 353"/>
                <a:gd name="T17" fmla="*/ 173 h 369"/>
                <a:gd name="T18" fmla="*/ 75 w 353"/>
                <a:gd name="T19" fmla="*/ 60 h 369"/>
                <a:gd name="T20" fmla="*/ 0 w 353"/>
                <a:gd name="T21" fmla="*/ 59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chemeClr val="accent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Line 111">
              <a:extLst>
                <a:ext uri="{FF2B5EF4-FFF2-40B4-BE49-F238E27FC236}">
                  <a16:creationId xmlns:a16="http://schemas.microsoft.com/office/drawing/2014/main" id="{880C7F42-24AB-BE42-A8D4-BCF7622D469B}"/>
                </a:ext>
              </a:extLst>
            </p:cNvPr>
            <p:cNvSpPr>
              <a:spLocks noChangeShapeType="1"/>
            </p:cNvSpPr>
            <p:nvPr/>
          </p:nvSpPr>
          <p:spPr bwMode="auto">
            <a:xfrm flipH="1">
              <a:off x="2167" y="2674"/>
              <a:ext cx="34"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Line 112">
              <a:extLst>
                <a:ext uri="{FF2B5EF4-FFF2-40B4-BE49-F238E27FC236}">
                  <a16:creationId xmlns:a16="http://schemas.microsoft.com/office/drawing/2014/main" id="{CB4756AB-EF1F-9E4A-8E5F-FC03EF7B6841}"/>
                </a:ext>
              </a:extLst>
            </p:cNvPr>
            <p:cNvSpPr>
              <a:spLocks noChangeShapeType="1"/>
            </p:cNvSpPr>
            <p:nvPr/>
          </p:nvSpPr>
          <p:spPr bwMode="auto">
            <a:xfrm>
              <a:off x="1880" y="2830"/>
              <a:ext cx="26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 name="Freeform 113">
              <a:extLst>
                <a:ext uri="{FF2B5EF4-FFF2-40B4-BE49-F238E27FC236}">
                  <a16:creationId xmlns:a16="http://schemas.microsoft.com/office/drawing/2014/main" id="{F4FDFC8D-7497-0B4E-BB98-EC6A2F919570}"/>
                </a:ext>
              </a:extLst>
            </p:cNvPr>
            <p:cNvSpPr>
              <a:spLocks/>
            </p:cNvSpPr>
            <p:nvPr/>
          </p:nvSpPr>
          <p:spPr bwMode="auto">
            <a:xfrm>
              <a:off x="1874" y="2670"/>
              <a:ext cx="264" cy="105"/>
            </a:xfrm>
            <a:custGeom>
              <a:avLst/>
              <a:gdLst>
                <a:gd name="T0" fmla="*/ 0 w 264"/>
                <a:gd name="T1" fmla="*/ 0 h 105"/>
                <a:gd name="T2" fmla="*/ 52 w 264"/>
                <a:gd name="T3" fmla="*/ 0 h 105"/>
                <a:gd name="T4" fmla="*/ 207 w 264"/>
                <a:gd name="T5" fmla="*/ 105 h 105"/>
                <a:gd name="T6" fmla="*/ 264 w 264"/>
                <a:gd name="T7" fmla="*/ 105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 name="Freeform 114">
              <a:extLst>
                <a:ext uri="{FF2B5EF4-FFF2-40B4-BE49-F238E27FC236}">
                  <a16:creationId xmlns:a16="http://schemas.microsoft.com/office/drawing/2014/main" id="{59F7FFFC-6804-A54D-A576-FA1FEBB9A136}"/>
                </a:ext>
              </a:extLst>
            </p:cNvPr>
            <p:cNvSpPr>
              <a:spLocks/>
            </p:cNvSpPr>
            <p:nvPr/>
          </p:nvSpPr>
          <p:spPr bwMode="auto">
            <a:xfrm flipV="1">
              <a:off x="1874" y="2884"/>
              <a:ext cx="264" cy="105"/>
            </a:xfrm>
            <a:custGeom>
              <a:avLst/>
              <a:gdLst>
                <a:gd name="T0" fmla="*/ 0 w 264"/>
                <a:gd name="T1" fmla="*/ 0 h 105"/>
                <a:gd name="T2" fmla="*/ 52 w 264"/>
                <a:gd name="T3" fmla="*/ 0 h 105"/>
                <a:gd name="T4" fmla="*/ 207 w 264"/>
                <a:gd name="T5" fmla="*/ 105 h 105"/>
                <a:gd name="T6" fmla="*/ 264 w 264"/>
                <a:gd name="T7" fmla="*/ 105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 name="Text Box 115">
            <a:extLst>
              <a:ext uri="{FF2B5EF4-FFF2-40B4-BE49-F238E27FC236}">
                <a16:creationId xmlns:a16="http://schemas.microsoft.com/office/drawing/2014/main" id="{C49B2571-785F-8141-BD4A-B30372BAB3EA}"/>
              </a:ext>
            </a:extLst>
          </p:cNvPr>
          <p:cNvSpPr txBox="1">
            <a:spLocks noChangeArrowheads="1"/>
          </p:cNvSpPr>
          <p:nvPr/>
        </p:nvSpPr>
        <p:spPr bwMode="auto">
          <a:xfrm>
            <a:off x="5918748" y="2562225"/>
            <a:ext cx="950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DSLAM</a:t>
            </a:r>
          </a:p>
        </p:txBody>
      </p:sp>
      <p:grpSp>
        <p:nvGrpSpPr>
          <p:cNvPr id="112" name="Group 118">
            <a:extLst>
              <a:ext uri="{FF2B5EF4-FFF2-40B4-BE49-F238E27FC236}">
                <a16:creationId xmlns:a16="http://schemas.microsoft.com/office/drawing/2014/main" id="{C9BAF3DB-0084-0642-AE8F-E48499FC4E61}"/>
              </a:ext>
            </a:extLst>
          </p:cNvPr>
          <p:cNvGrpSpPr>
            <a:grpSpLocks/>
          </p:cNvGrpSpPr>
          <p:nvPr/>
        </p:nvGrpSpPr>
        <p:grpSpPr bwMode="auto">
          <a:xfrm>
            <a:off x="4980536" y="1304925"/>
            <a:ext cx="796925" cy="658813"/>
            <a:chOff x="1671" y="1861"/>
            <a:chExt cx="502" cy="415"/>
          </a:xfrm>
        </p:grpSpPr>
        <p:sp>
          <p:nvSpPr>
            <p:cNvPr id="113" name="Rectangle 116">
              <a:extLst>
                <a:ext uri="{FF2B5EF4-FFF2-40B4-BE49-F238E27FC236}">
                  <a16:creationId xmlns:a16="http://schemas.microsoft.com/office/drawing/2014/main" id="{BF2CCE2C-7318-3F45-89ED-AC0CE601E4BC}"/>
                </a:ext>
              </a:extLst>
            </p:cNvPr>
            <p:cNvSpPr>
              <a:spLocks noChangeArrowheads="1"/>
            </p:cNvSpPr>
            <p:nvPr/>
          </p:nvSpPr>
          <p:spPr bwMode="auto">
            <a:xfrm>
              <a:off x="1742" y="1966"/>
              <a:ext cx="360" cy="310"/>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4" name="AutoShape 117">
              <a:extLst>
                <a:ext uri="{FF2B5EF4-FFF2-40B4-BE49-F238E27FC236}">
                  <a16:creationId xmlns:a16="http://schemas.microsoft.com/office/drawing/2014/main" id="{7F3ACC6C-EF23-B844-A225-435E1C02C5FD}"/>
                </a:ext>
              </a:extLst>
            </p:cNvPr>
            <p:cNvSpPr>
              <a:spLocks noChangeArrowheads="1"/>
            </p:cNvSpPr>
            <p:nvPr/>
          </p:nvSpPr>
          <p:spPr bwMode="auto">
            <a:xfrm>
              <a:off x="1671" y="1861"/>
              <a:ext cx="502" cy="129"/>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15" name="Freeform 119">
            <a:extLst>
              <a:ext uri="{FF2B5EF4-FFF2-40B4-BE49-F238E27FC236}">
                <a16:creationId xmlns:a16="http://schemas.microsoft.com/office/drawing/2014/main" id="{AE2A4503-59F8-EE45-A067-8713395B9C4D}"/>
              </a:ext>
            </a:extLst>
          </p:cNvPr>
          <p:cNvSpPr>
            <a:spLocks/>
          </p:cNvSpPr>
          <p:nvPr/>
        </p:nvSpPr>
        <p:spPr bwMode="auto">
          <a:xfrm>
            <a:off x="5583786" y="1893888"/>
            <a:ext cx="674687" cy="239712"/>
          </a:xfrm>
          <a:custGeom>
            <a:avLst/>
            <a:gdLst>
              <a:gd name="T0" fmla="*/ 0 w 425"/>
              <a:gd name="T1" fmla="*/ 0 h 151"/>
              <a:gd name="T2" fmla="*/ 0 w 425"/>
              <a:gd name="T3" fmla="*/ 2147483647 h 151"/>
              <a:gd name="T4" fmla="*/ 2147483647 w 425"/>
              <a:gd name="T5" fmla="*/ 2147483647 h 151"/>
              <a:gd name="T6" fmla="*/ 0 60000 65536"/>
              <a:gd name="T7" fmla="*/ 0 60000 65536"/>
              <a:gd name="T8" fmla="*/ 0 60000 65536"/>
              <a:gd name="T9" fmla="*/ 0 w 425"/>
              <a:gd name="T10" fmla="*/ 0 h 151"/>
              <a:gd name="T11" fmla="*/ 425 w 425"/>
              <a:gd name="T12" fmla="*/ 151 h 151"/>
            </a:gdLst>
            <a:ahLst/>
            <a:cxnLst>
              <a:cxn ang="T6">
                <a:pos x="T0" y="T1"/>
              </a:cxn>
              <a:cxn ang="T7">
                <a:pos x="T2" y="T3"/>
              </a:cxn>
              <a:cxn ang="T8">
                <a:pos x="T4" y="T5"/>
              </a:cxn>
            </a:cxnLst>
            <a:rect l="T9" t="T10" r="T11" b="T12"/>
            <a:pathLst>
              <a:path w="425" h="151">
                <a:moveTo>
                  <a:pt x="0" y="0"/>
                </a:moveTo>
                <a:lnTo>
                  <a:pt x="0" y="151"/>
                </a:lnTo>
                <a:lnTo>
                  <a:pt x="425" y="151"/>
                </a:lnTo>
              </a:path>
            </a:pathLst>
          </a:cu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Line 120">
            <a:extLst>
              <a:ext uri="{FF2B5EF4-FFF2-40B4-BE49-F238E27FC236}">
                <a16:creationId xmlns:a16="http://schemas.microsoft.com/office/drawing/2014/main" id="{D69F4117-7839-1943-A5FE-926B01D84B78}"/>
              </a:ext>
            </a:extLst>
          </p:cNvPr>
          <p:cNvSpPr>
            <a:spLocks noChangeShapeType="1"/>
          </p:cNvSpPr>
          <p:nvPr/>
        </p:nvSpPr>
        <p:spPr bwMode="auto">
          <a:xfrm>
            <a:off x="6612486" y="2259013"/>
            <a:ext cx="3778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 name="Freeform 123">
            <a:extLst>
              <a:ext uri="{FF2B5EF4-FFF2-40B4-BE49-F238E27FC236}">
                <a16:creationId xmlns:a16="http://schemas.microsoft.com/office/drawing/2014/main" id="{71A3F73C-866C-2049-9C1B-445DBD854DB4}"/>
              </a:ext>
            </a:extLst>
          </p:cNvPr>
          <p:cNvSpPr>
            <a:spLocks/>
          </p:cNvSpPr>
          <p:nvPr/>
        </p:nvSpPr>
        <p:spPr bwMode="auto">
          <a:xfrm>
            <a:off x="6612486" y="2327275"/>
            <a:ext cx="463550" cy="1009650"/>
          </a:xfrm>
          <a:custGeom>
            <a:avLst/>
            <a:gdLst>
              <a:gd name="T0" fmla="*/ 0 w 292"/>
              <a:gd name="T1" fmla="*/ 0 h 636"/>
              <a:gd name="T2" fmla="*/ 2147483647 w 292"/>
              <a:gd name="T3" fmla="*/ 0 h 636"/>
              <a:gd name="T4" fmla="*/ 2147483647 w 292"/>
              <a:gd name="T5" fmla="*/ 2147483647 h 636"/>
              <a:gd name="T6" fmla="*/ 2147483647 w 292"/>
              <a:gd name="T7" fmla="*/ 2147483647 h 636"/>
              <a:gd name="T8" fmla="*/ 0 60000 65536"/>
              <a:gd name="T9" fmla="*/ 0 60000 65536"/>
              <a:gd name="T10" fmla="*/ 0 60000 65536"/>
              <a:gd name="T11" fmla="*/ 0 60000 65536"/>
              <a:gd name="T12" fmla="*/ 0 w 292"/>
              <a:gd name="T13" fmla="*/ 0 h 636"/>
              <a:gd name="T14" fmla="*/ 292 w 292"/>
              <a:gd name="T15" fmla="*/ 636 h 636"/>
            </a:gdLst>
            <a:ahLst/>
            <a:cxnLst>
              <a:cxn ang="T8">
                <a:pos x="T0" y="T1"/>
              </a:cxn>
              <a:cxn ang="T9">
                <a:pos x="T2" y="T3"/>
              </a:cxn>
              <a:cxn ang="T10">
                <a:pos x="T4" y="T5"/>
              </a:cxn>
              <a:cxn ang="T11">
                <a:pos x="T6" y="T7"/>
              </a:cxn>
            </a:cxnLst>
            <a:rect l="T12" t="T13" r="T14" b="T15"/>
            <a:pathLst>
              <a:path w="292" h="636">
                <a:moveTo>
                  <a:pt x="0" y="0"/>
                </a:moveTo>
                <a:lnTo>
                  <a:pt x="130" y="0"/>
                </a:lnTo>
                <a:lnTo>
                  <a:pt x="130" y="636"/>
                </a:lnTo>
                <a:lnTo>
                  <a:pt x="292" y="636"/>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18" name="Group 135">
            <a:extLst>
              <a:ext uri="{FF2B5EF4-FFF2-40B4-BE49-F238E27FC236}">
                <a16:creationId xmlns:a16="http://schemas.microsoft.com/office/drawing/2014/main" id="{7DC11D2E-7EFC-264E-9DA3-A2DC76738630}"/>
              </a:ext>
            </a:extLst>
          </p:cNvPr>
          <p:cNvGrpSpPr>
            <a:grpSpLocks/>
          </p:cNvGrpSpPr>
          <p:nvPr/>
        </p:nvGrpSpPr>
        <p:grpSpPr bwMode="auto">
          <a:xfrm>
            <a:off x="2375448" y="2384425"/>
            <a:ext cx="3117850" cy="1611313"/>
            <a:chOff x="490" y="1538"/>
            <a:chExt cx="1964" cy="1015"/>
          </a:xfrm>
        </p:grpSpPr>
        <p:sp>
          <p:nvSpPr>
            <p:cNvPr id="119" name="Text Box 124">
              <a:extLst>
                <a:ext uri="{FF2B5EF4-FFF2-40B4-BE49-F238E27FC236}">
                  <a16:creationId xmlns:a16="http://schemas.microsoft.com/office/drawing/2014/main" id="{F820F6C6-093F-9C4E-AB3B-6C47EF093FC5}"/>
                </a:ext>
              </a:extLst>
            </p:cNvPr>
            <p:cNvSpPr txBox="1">
              <a:spLocks noChangeArrowheads="1"/>
            </p:cNvSpPr>
            <p:nvPr/>
          </p:nvSpPr>
          <p:spPr bwMode="auto">
            <a:xfrm>
              <a:off x="490" y="2102"/>
              <a:ext cx="1809"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voice, data transmitted</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different frequencies over</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dedicated </a:t>
              </a:r>
              <a:r>
                <a:rPr kumimoji="0" lang="en-US" altLang="en-US" sz="1600" b="0" i="1"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line to central office</a:t>
              </a:r>
            </a:p>
          </p:txBody>
        </p:sp>
        <p:sp>
          <p:nvSpPr>
            <p:cNvPr id="120" name="Line 125">
              <a:extLst>
                <a:ext uri="{FF2B5EF4-FFF2-40B4-BE49-F238E27FC236}">
                  <a16:creationId xmlns:a16="http://schemas.microsoft.com/office/drawing/2014/main" id="{B265F954-771D-354D-8226-0A3C1F05D93D}"/>
                </a:ext>
              </a:extLst>
            </p:cNvPr>
            <p:cNvSpPr>
              <a:spLocks noChangeShapeType="1"/>
            </p:cNvSpPr>
            <p:nvPr/>
          </p:nvSpPr>
          <p:spPr bwMode="auto">
            <a:xfrm flipV="1">
              <a:off x="2093" y="1538"/>
              <a:ext cx="361" cy="58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 name="Rectangle 52">
            <a:extLst>
              <a:ext uri="{FF2B5EF4-FFF2-40B4-BE49-F238E27FC236}">
                <a16:creationId xmlns:a16="http://schemas.microsoft.com/office/drawing/2014/main" id="{2727FB33-7506-E74E-B6C6-D1B4CA8AE42F}"/>
              </a:ext>
            </a:extLst>
          </p:cNvPr>
          <p:cNvSpPr>
            <a:spLocks noChangeArrowheads="1"/>
          </p:cNvSpPr>
          <p:nvPr/>
        </p:nvSpPr>
        <p:spPr bwMode="auto">
          <a:xfrm>
            <a:off x="1010672" y="4004660"/>
            <a:ext cx="10515599"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38188" indent="-280988">
              <a:defRPr sz="2400">
                <a:solidFill>
                  <a:schemeClr val="tx1"/>
                </a:solidFill>
                <a:latin typeface="Arial" panose="020B0604020202020204" pitchFamily="34" charset="0"/>
                <a:ea typeface="ＭＳ Ｐゴシック" panose="020B0600070205080204" pitchFamily="34" charset="-128"/>
              </a:defRPr>
            </a:lvl2pPr>
            <a:lvl3pPr marL="1147763" indent="-233363">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ct val="20000"/>
              </a:spcBef>
              <a:spcAft>
                <a:spcPts val="0"/>
              </a:spcAft>
              <a:buClr>
                <a:srgbClr val="ED7D31"/>
              </a:buClr>
              <a:buSzPct val="85000"/>
              <a:buFontTx/>
              <a:buNone/>
              <a:tabLst/>
              <a:defRPr/>
            </a:pPr>
            <a:endParaRPr kumimoji="0" lang="en-US" altLang="en-US" sz="2400" b="0" i="0" u="none" strike="noStrike" kern="1200" cap="none" spc="0" normalizeH="0" baseline="0" noProof="0" dirty="0">
              <a:ln>
                <a:noFill/>
              </a:ln>
              <a:solidFill>
                <a:srgbClr val="FF0000"/>
              </a:solidFill>
              <a:effectLst/>
              <a:uLnTx/>
              <a:uFillTx/>
              <a:latin typeface="Comic Sans MS" panose="030F0902030302020204" pitchFamily="66" charset="0"/>
              <a:ea typeface="ＭＳ Ｐゴシック" panose="020B0600070205080204" pitchFamily="34" charset="-128"/>
              <a:cs typeface="+mn-cs"/>
            </a:endParaRPr>
          </a:p>
          <a:p>
            <a:pPr marL="738188" marR="0" lvl="1" indent="-219075" algn="l" defTabSz="914400" rtl="0" eaLnBrk="1" fontAlgn="auto" latinLnBrk="0" hangingPunct="1">
              <a:lnSpc>
                <a:spcPct val="9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existing</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telephone line to central office DSLAM</a:t>
            </a:r>
          </a:p>
          <a:p>
            <a:pPr marL="1147763" marR="0" lvl="2" indent="-233363" algn="l" defTabSz="914400" rtl="0" eaLnBrk="1" fontAlgn="auto" latinLnBrk="0" hangingPunct="1">
              <a:lnSpc>
                <a:spcPct val="9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over DSL phone line goes to Internet</a:t>
            </a:r>
          </a:p>
          <a:p>
            <a:pPr marL="1147763" marR="0" lvl="2" indent="-233363" algn="l" defTabSz="914400" rtl="0" eaLnBrk="1" fontAlgn="auto" latinLnBrk="0" hangingPunct="1">
              <a:lnSpc>
                <a:spcPct val="9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DSL phone line goes to telephone net</a:t>
            </a:r>
          </a:p>
          <a:p>
            <a:pPr marL="738188" marR="0" lvl="1" indent="-219075" algn="l" defTabSz="914400" rtl="0" eaLnBrk="1" fontAlgn="auto" latinLnBrk="0" hangingPunct="1">
              <a:lnSpc>
                <a:spcPct val="9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24-52 Mbps dedicated downstream transmission rate </a:t>
            </a:r>
          </a:p>
          <a:p>
            <a:pPr marL="738188" marR="0" lvl="1" indent="-219075" algn="l" defTabSz="914400" rtl="0" eaLnBrk="1" fontAlgn="auto" latinLnBrk="0" hangingPunct="1">
              <a:lnSpc>
                <a:spcPct val="9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3.5-16 Mbps dedicated upstream transmission rate</a:t>
            </a:r>
          </a:p>
        </p:txBody>
      </p:sp>
      <p:sp>
        <p:nvSpPr>
          <p:cNvPr id="122" name="Rectangle 90">
            <a:extLst>
              <a:ext uri="{FF2B5EF4-FFF2-40B4-BE49-F238E27FC236}">
                <a16:creationId xmlns:a16="http://schemas.microsoft.com/office/drawing/2014/main" id="{2B92D0F8-9673-174E-ABDD-490B4CD83240}"/>
              </a:ext>
            </a:extLst>
          </p:cNvPr>
          <p:cNvSpPr>
            <a:spLocks noChangeArrowheads="1"/>
          </p:cNvSpPr>
          <p:nvPr/>
        </p:nvSpPr>
        <p:spPr bwMode="auto">
          <a:xfrm>
            <a:off x="2835823" y="1757363"/>
            <a:ext cx="1978025" cy="1395412"/>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23" name="Line 7">
            <a:extLst>
              <a:ext uri="{FF2B5EF4-FFF2-40B4-BE49-F238E27FC236}">
                <a16:creationId xmlns:a16="http://schemas.microsoft.com/office/drawing/2014/main" id="{C21251FC-E166-AC42-B133-BE3F95DBDFE2}"/>
              </a:ext>
            </a:extLst>
          </p:cNvPr>
          <p:cNvSpPr>
            <a:spLocks noChangeShapeType="1"/>
          </p:cNvSpPr>
          <p:nvPr/>
        </p:nvSpPr>
        <p:spPr bwMode="auto">
          <a:xfrm flipV="1">
            <a:off x="3321598" y="2308225"/>
            <a:ext cx="365125"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 name="Text Box 39">
            <a:extLst>
              <a:ext uri="{FF2B5EF4-FFF2-40B4-BE49-F238E27FC236}">
                <a16:creationId xmlns:a16="http://schemas.microsoft.com/office/drawing/2014/main" id="{D8496936-8AB9-684C-9A18-7A7544551DDD}"/>
              </a:ext>
            </a:extLst>
          </p:cNvPr>
          <p:cNvSpPr txBox="1">
            <a:spLocks noChangeArrowheads="1"/>
          </p:cNvSpPr>
          <p:nvPr/>
        </p:nvSpPr>
        <p:spPr bwMode="auto">
          <a:xfrm>
            <a:off x="3583536" y="2414588"/>
            <a:ext cx="774700"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DSL</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modem</a:t>
            </a:r>
          </a:p>
        </p:txBody>
      </p:sp>
      <p:sp>
        <p:nvSpPr>
          <p:cNvPr id="125" name="Text Box 41">
            <a:extLst>
              <a:ext uri="{FF2B5EF4-FFF2-40B4-BE49-F238E27FC236}">
                <a16:creationId xmlns:a16="http://schemas.microsoft.com/office/drawing/2014/main" id="{EADDD86B-745F-024B-9185-ADF0A40570D1}"/>
              </a:ext>
            </a:extLst>
          </p:cNvPr>
          <p:cNvSpPr txBox="1">
            <a:spLocks noChangeArrowheads="1"/>
          </p:cNvSpPr>
          <p:nvPr/>
        </p:nvSpPr>
        <p:spPr bwMode="auto">
          <a:xfrm>
            <a:off x="4261398" y="2438400"/>
            <a:ext cx="70643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splitter</a:t>
            </a:r>
          </a:p>
        </p:txBody>
      </p:sp>
      <p:grpSp>
        <p:nvGrpSpPr>
          <p:cNvPr id="126" name="Group 94">
            <a:extLst>
              <a:ext uri="{FF2B5EF4-FFF2-40B4-BE49-F238E27FC236}">
                <a16:creationId xmlns:a16="http://schemas.microsoft.com/office/drawing/2014/main" id="{B8E4BADE-83DB-6E48-8758-3C586A60214D}"/>
              </a:ext>
            </a:extLst>
          </p:cNvPr>
          <p:cNvGrpSpPr>
            <a:grpSpLocks/>
          </p:cNvGrpSpPr>
          <p:nvPr/>
        </p:nvGrpSpPr>
        <p:grpSpPr bwMode="auto">
          <a:xfrm>
            <a:off x="3677198" y="2195513"/>
            <a:ext cx="614363" cy="220662"/>
            <a:chOff x="322" y="890"/>
            <a:chExt cx="872" cy="339"/>
          </a:xfrm>
        </p:grpSpPr>
        <p:sp>
          <p:nvSpPr>
            <p:cNvPr id="127" name="Rectangle 95">
              <a:extLst>
                <a:ext uri="{FF2B5EF4-FFF2-40B4-BE49-F238E27FC236}">
                  <a16:creationId xmlns:a16="http://schemas.microsoft.com/office/drawing/2014/main" id="{EF4650A9-E136-A746-BBB1-8E2CB021FC15}"/>
                </a:ext>
              </a:extLst>
            </p:cNvPr>
            <p:cNvSpPr>
              <a:spLocks noChangeArrowheads="1"/>
            </p:cNvSpPr>
            <p:nvPr/>
          </p:nvSpPr>
          <p:spPr bwMode="auto">
            <a:xfrm>
              <a:off x="322" y="1005"/>
              <a:ext cx="872" cy="224"/>
            </a:xfrm>
            <a:prstGeom prst="rect">
              <a:avLst/>
            </a:prstGeom>
            <a:solidFill>
              <a:schemeClr val="bg1">
                <a:lumMod val="7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28" name="Rectangle 96">
              <a:extLst>
                <a:ext uri="{FF2B5EF4-FFF2-40B4-BE49-F238E27FC236}">
                  <a16:creationId xmlns:a16="http://schemas.microsoft.com/office/drawing/2014/main" id="{D0CF841A-8554-624D-86A1-1E42B847F646}"/>
                </a:ext>
              </a:extLst>
            </p:cNvPr>
            <p:cNvSpPr>
              <a:spLocks noChangeArrowheads="1"/>
            </p:cNvSpPr>
            <p:nvPr/>
          </p:nvSpPr>
          <p:spPr bwMode="auto">
            <a:xfrm>
              <a:off x="394" y="1073"/>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29" name="Rectangle 97">
              <a:extLst>
                <a:ext uri="{FF2B5EF4-FFF2-40B4-BE49-F238E27FC236}">
                  <a16:creationId xmlns:a16="http://schemas.microsoft.com/office/drawing/2014/main" id="{3FD8358D-90D2-0B45-973D-DDA1E5D9553C}"/>
                </a:ext>
              </a:extLst>
            </p:cNvPr>
            <p:cNvSpPr>
              <a:spLocks noChangeArrowheads="1"/>
            </p:cNvSpPr>
            <p:nvPr/>
          </p:nvSpPr>
          <p:spPr bwMode="auto">
            <a:xfrm>
              <a:off x="466" y="1073"/>
              <a:ext cx="56"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0" name="Rectangle 98">
              <a:extLst>
                <a:ext uri="{FF2B5EF4-FFF2-40B4-BE49-F238E27FC236}">
                  <a16:creationId xmlns:a16="http://schemas.microsoft.com/office/drawing/2014/main" id="{22A39A62-0617-DE41-B483-0B36601B1B04}"/>
                </a:ext>
              </a:extLst>
            </p:cNvPr>
            <p:cNvSpPr>
              <a:spLocks noChangeArrowheads="1"/>
            </p:cNvSpPr>
            <p:nvPr/>
          </p:nvSpPr>
          <p:spPr bwMode="auto">
            <a:xfrm>
              <a:off x="541"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99">
              <a:extLst>
                <a:ext uri="{FF2B5EF4-FFF2-40B4-BE49-F238E27FC236}">
                  <a16:creationId xmlns:a16="http://schemas.microsoft.com/office/drawing/2014/main" id="{70CBDBDE-EA6B-AD4F-9BBC-19A5D1E28AFB}"/>
                </a:ext>
              </a:extLst>
            </p:cNvPr>
            <p:cNvSpPr>
              <a:spLocks noChangeArrowheads="1"/>
            </p:cNvSpPr>
            <p:nvPr/>
          </p:nvSpPr>
          <p:spPr bwMode="auto">
            <a:xfrm>
              <a:off x="615"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2" name="AutoShape 100">
              <a:extLst>
                <a:ext uri="{FF2B5EF4-FFF2-40B4-BE49-F238E27FC236}">
                  <a16:creationId xmlns:a16="http://schemas.microsoft.com/office/drawing/2014/main" id="{9E5FC757-6FA6-7344-948E-99FB53AF99C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8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 name="AutoShape 102">
            <a:extLst>
              <a:ext uri="{FF2B5EF4-FFF2-40B4-BE49-F238E27FC236}">
                <a16:creationId xmlns:a16="http://schemas.microsoft.com/office/drawing/2014/main" id="{CC195EEC-FB36-F24B-A858-23772E742026}"/>
              </a:ext>
            </a:extLst>
          </p:cNvPr>
          <p:cNvSpPr>
            <a:spLocks noChangeArrowheads="1"/>
          </p:cNvSpPr>
          <p:nvPr/>
        </p:nvSpPr>
        <p:spPr bwMode="auto">
          <a:xfrm>
            <a:off x="2553248" y="1346200"/>
            <a:ext cx="2498725" cy="468313"/>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4" name="Rectangle 103">
            <a:extLst>
              <a:ext uri="{FF2B5EF4-FFF2-40B4-BE49-F238E27FC236}">
                <a16:creationId xmlns:a16="http://schemas.microsoft.com/office/drawing/2014/main" id="{E92D772C-9AFC-9349-9025-8376CFF02765}"/>
              </a:ext>
            </a:extLst>
          </p:cNvPr>
          <p:cNvSpPr>
            <a:spLocks noChangeArrowheads="1"/>
          </p:cNvSpPr>
          <p:nvPr/>
        </p:nvSpPr>
        <p:spPr bwMode="auto">
          <a:xfrm>
            <a:off x="4531273" y="2246313"/>
            <a:ext cx="166688" cy="144462"/>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5" name="Freeform 104">
            <a:extLst>
              <a:ext uri="{FF2B5EF4-FFF2-40B4-BE49-F238E27FC236}">
                <a16:creationId xmlns:a16="http://schemas.microsoft.com/office/drawing/2014/main" id="{31C23065-7938-0F48-81C0-C7E9438F805C}"/>
              </a:ext>
            </a:extLst>
          </p:cNvPr>
          <p:cNvSpPr>
            <a:spLocks/>
          </p:cNvSpPr>
          <p:nvPr/>
        </p:nvSpPr>
        <p:spPr bwMode="auto">
          <a:xfrm>
            <a:off x="4007398" y="1801813"/>
            <a:ext cx="604838"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136" name="Object 3">
            <a:extLst>
              <a:ext uri="{FF2B5EF4-FFF2-40B4-BE49-F238E27FC236}">
                <a16:creationId xmlns:a16="http://schemas.microsoft.com/office/drawing/2014/main" id="{5697AB3B-F080-8640-9CE2-419B33C50CF8}"/>
              </a:ext>
            </a:extLst>
          </p:cNvPr>
          <p:cNvGraphicFramePr>
            <a:graphicFrameLocks noChangeAspect="1"/>
          </p:cNvGraphicFramePr>
          <p:nvPr/>
        </p:nvGraphicFramePr>
        <p:xfrm>
          <a:off x="3667673" y="1598613"/>
          <a:ext cx="490538" cy="369887"/>
        </p:xfrm>
        <a:graphic>
          <a:graphicData uri="http://schemas.openxmlformats.org/presentationml/2006/ole">
            <mc:AlternateContent xmlns:mc="http://schemas.openxmlformats.org/markup-compatibility/2006">
              <mc:Choice xmlns:v="urn:schemas-microsoft-com:vml" Requires="v">
                <p:oleObj name="Clip" r:id="rId3" imgW="9131300" imgH="6438900" progId="MS_ClipArt_Gallery.2">
                  <p:embed/>
                </p:oleObj>
              </mc:Choice>
              <mc:Fallback>
                <p:oleObj name="Clip" r:id="rId3" imgW="9131300" imgH="6438900" progId="MS_ClipArt_Gallery.2">
                  <p:embed/>
                  <p:pic>
                    <p:nvPicPr>
                      <p:cNvPr id="136" name="Object 3">
                        <a:extLst>
                          <a:ext uri="{FF2B5EF4-FFF2-40B4-BE49-F238E27FC236}">
                            <a16:creationId xmlns:a16="http://schemas.microsoft.com/office/drawing/2014/main" id="{5697AB3B-F080-8640-9CE2-419B33C50CF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67673" y="1598613"/>
                        <a:ext cx="4905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137" name="Line 130">
            <a:extLst>
              <a:ext uri="{FF2B5EF4-FFF2-40B4-BE49-F238E27FC236}">
                <a16:creationId xmlns:a16="http://schemas.microsoft.com/office/drawing/2014/main" id="{EB0812CC-AFEC-F147-B616-6659B4656ADC}"/>
              </a:ext>
            </a:extLst>
          </p:cNvPr>
          <p:cNvSpPr>
            <a:spLocks noChangeShapeType="1"/>
          </p:cNvSpPr>
          <p:nvPr/>
        </p:nvSpPr>
        <p:spPr bwMode="auto">
          <a:xfrm flipH="1">
            <a:off x="4294736" y="2308225"/>
            <a:ext cx="23971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 name="AutoShape 131">
            <a:extLst>
              <a:ext uri="{FF2B5EF4-FFF2-40B4-BE49-F238E27FC236}">
                <a16:creationId xmlns:a16="http://schemas.microsoft.com/office/drawing/2014/main" id="{4A782F57-90A1-0546-906A-779DD46840D3}"/>
              </a:ext>
            </a:extLst>
          </p:cNvPr>
          <p:cNvSpPr>
            <a:spLocks noChangeArrowheads="1"/>
          </p:cNvSpPr>
          <p:nvPr/>
        </p:nvSpPr>
        <p:spPr bwMode="auto">
          <a:xfrm>
            <a:off x="6042573" y="1646238"/>
            <a:ext cx="1206500" cy="261937"/>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39" name="Group 136">
            <a:extLst>
              <a:ext uri="{FF2B5EF4-FFF2-40B4-BE49-F238E27FC236}">
                <a16:creationId xmlns:a16="http://schemas.microsoft.com/office/drawing/2014/main" id="{C3294CA0-A83A-DA46-8A62-EBF0F7BF323E}"/>
              </a:ext>
            </a:extLst>
          </p:cNvPr>
          <p:cNvGrpSpPr>
            <a:grpSpLocks/>
          </p:cNvGrpSpPr>
          <p:nvPr/>
        </p:nvGrpSpPr>
        <p:grpSpPr bwMode="auto">
          <a:xfrm>
            <a:off x="5275811" y="2809875"/>
            <a:ext cx="1323975" cy="1174750"/>
            <a:chOff x="2317" y="1806"/>
            <a:chExt cx="834" cy="740"/>
          </a:xfrm>
        </p:grpSpPr>
        <p:sp>
          <p:nvSpPr>
            <p:cNvPr id="140" name="Line 132">
              <a:extLst>
                <a:ext uri="{FF2B5EF4-FFF2-40B4-BE49-F238E27FC236}">
                  <a16:creationId xmlns:a16="http://schemas.microsoft.com/office/drawing/2014/main" id="{7ACA0D7A-9A8B-164D-8196-0D58A33B101B}"/>
                </a:ext>
              </a:extLst>
            </p:cNvPr>
            <p:cNvSpPr>
              <a:spLocks noChangeShapeType="1"/>
            </p:cNvSpPr>
            <p:nvPr/>
          </p:nvSpPr>
          <p:spPr bwMode="auto">
            <a:xfrm flipV="1">
              <a:off x="2671" y="1806"/>
              <a:ext cx="268" cy="43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133">
              <a:extLst>
                <a:ext uri="{FF2B5EF4-FFF2-40B4-BE49-F238E27FC236}">
                  <a16:creationId xmlns:a16="http://schemas.microsoft.com/office/drawing/2014/main" id="{217BB671-44AF-9E41-AB6C-D8AD58156A6B}"/>
                </a:ext>
              </a:extLst>
            </p:cNvPr>
            <p:cNvSpPr txBox="1">
              <a:spLocks noChangeArrowheads="1"/>
            </p:cNvSpPr>
            <p:nvPr/>
          </p:nvSpPr>
          <p:spPr bwMode="auto">
            <a:xfrm>
              <a:off x="2317" y="2226"/>
              <a:ext cx="83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DSL access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multiplexer</a:t>
              </a:r>
            </a:p>
          </p:txBody>
        </p:sp>
      </p:grpSp>
      <p:grpSp>
        <p:nvGrpSpPr>
          <p:cNvPr id="142" name="Group 141">
            <a:extLst>
              <a:ext uri="{FF2B5EF4-FFF2-40B4-BE49-F238E27FC236}">
                <a16:creationId xmlns:a16="http://schemas.microsoft.com/office/drawing/2014/main" id="{FAAF6165-084E-AD4E-9369-2E1C7C7F794B}"/>
              </a:ext>
            </a:extLst>
          </p:cNvPr>
          <p:cNvGrpSpPr>
            <a:grpSpLocks/>
          </p:cNvGrpSpPr>
          <p:nvPr/>
        </p:nvGrpSpPr>
        <p:grpSpPr bwMode="auto">
          <a:xfrm>
            <a:off x="2740573" y="1985963"/>
            <a:ext cx="642938" cy="644525"/>
            <a:chOff x="-44" y="1473"/>
            <a:chExt cx="981" cy="1105"/>
          </a:xfrm>
        </p:grpSpPr>
        <p:pic>
          <p:nvPicPr>
            <p:cNvPr id="143" name="Picture 142" descr="desktop_computer_stylized_medium">
              <a:extLst>
                <a:ext uri="{FF2B5EF4-FFF2-40B4-BE49-F238E27FC236}">
                  <a16:creationId xmlns:a16="http://schemas.microsoft.com/office/drawing/2014/main" id="{AB8FFE91-63AE-D84F-86AA-964095AB9A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Freeform 143">
              <a:extLst>
                <a:ext uri="{FF2B5EF4-FFF2-40B4-BE49-F238E27FC236}">
                  <a16:creationId xmlns:a16="http://schemas.microsoft.com/office/drawing/2014/main" id="{F37A1DB2-D794-F84F-AC85-6EB60FF36CD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6751722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45059"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82743CAF-CA5E-4583-9CC4-28D234A14BC9}" type="slidenum">
              <a:rPr lang="en-US" altLang="en-US" sz="1200">
                <a:latin typeface="Tahoma" panose="020B0604030504040204" pitchFamily="34" charset="0"/>
              </a:rPr>
              <a:pPr>
                <a:lnSpc>
                  <a:spcPct val="100000"/>
                </a:lnSpc>
                <a:spcBef>
                  <a:spcPct val="0"/>
                </a:spcBef>
                <a:buClrTx/>
                <a:buSzTx/>
                <a:buFontTx/>
                <a:buNone/>
              </a:pPr>
              <a:t>21</a:t>
            </a:fld>
            <a:endParaRPr lang="en-US" altLang="en-US" sz="1200">
              <a:latin typeface="Tahoma" panose="020B0604030504040204" pitchFamily="34" charset="0"/>
            </a:endParaRPr>
          </a:p>
        </p:txBody>
      </p:sp>
      <p:pic>
        <p:nvPicPr>
          <p:cNvPr id="4506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47046" y="1458803"/>
            <a:ext cx="9691177" cy="3940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061" name="Graphic 4"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Access networks: cable-based access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Rectangle 60">
            <a:extLst>
              <a:ext uri="{FF2B5EF4-FFF2-40B4-BE49-F238E27FC236}">
                <a16:creationId xmlns:a16="http://schemas.microsoft.com/office/drawing/2014/main" id="{55C1251C-79AE-8E45-A29D-D20BC725A961}"/>
              </a:ext>
            </a:extLst>
          </p:cNvPr>
          <p:cNvSpPr>
            <a:spLocks noChangeArrowheads="1"/>
          </p:cNvSpPr>
          <p:nvPr/>
        </p:nvSpPr>
        <p:spPr bwMode="auto">
          <a:xfrm>
            <a:off x="2097142" y="1686498"/>
            <a:ext cx="1793875" cy="92551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2" name="Line 7">
            <a:extLst>
              <a:ext uri="{FF2B5EF4-FFF2-40B4-BE49-F238E27FC236}">
                <a16:creationId xmlns:a16="http://schemas.microsoft.com/office/drawing/2014/main" id="{29D57EF7-9FD7-8E4C-8851-986BAF26F81A}"/>
              </a:ext>
            </a:extLst>
          </p:cNvPr>
          <p:cNvSpPr>
            <a:spLocks noChangeShapeType="1"/>
          </p:cNvSpPr>
          <p:nvPr/>
        </p:nvSpPr>
        <p:spPr bwMode="auto">
          <a:xfrm flipV="1">
            <a:off x="2398767" y="2237361"/>
            <a:ext cx="3651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Text Box 39">
            <a:extLst>
              <a:ext uri="{FF2B5EF4-FFF2-40B4-BE49-F238E27FC236}">
                <a16:creationId xmlns:a16="http://schemas.microsoft.com/office/drawing/2014/main" id="{E2260115-6B62-6442-BFA6-A406A51902CD}"/>
              </a:ext>
            </a:extLst>
          </p:cNvPr>
          <p:cNvSpPr txBox="1">
            <a:spLocks noChangeArrowheads="1"/>
          </p:cNvSpPr>
          <p:nvPr/>
        </p:nvSpPr>
        <p:spPr bwMode="auto">
          <a:xfrm>
            <a:off x="2560692" y="2388173"/>
            <a:ext cx="774700"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cable</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modem</a:t>
            </a:r>
          </a:p>
        </p:txBody>
      </p:sp>
      <p:sp>
        <p:nvSpPr>
          <p:cNvPr id="631" name="Text Box 41">
            <a:extLst>
              <a:ext uri="{FF2B5EF4-FFF2-40B4-BE49-F238E27FC236}">
                <a16:creationId xmlns:a16="http://schemas.microsoft.com/office/drawing/2014/main" id="{B16AC43B-CDE4-3943-992B-D7039B5F9CA3}"/>
              </a:ext>
            </a:extLst>
          </p:cNvPr>
          <p:cNvSpPr txBox="1">
            <a:spLocks noChangeArrowheads="1"/>
          </p:cNvSpPr>
          <p:nvPr/>
        </p:nvSpPr>
        <p:spPr bwMode="auto">
          <a:xfrm>
            <a:off x="3227442" y="2389761"/>
            <a:ext cx="706438"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splitter</a:t>
            </a:r>
          </a:p>
        </p:txBody>
      </p:sp>
      <p:grpSp>
        <p:nvGrpSpPr>
          <p:cNvPr id="632" name="Group 64">
            <a:extLst>
              <a:ext uri="{FF2B5EF4-FFF2-40B4-BE49-F238E27FC236}">
                <a16:creationId xmlns:a16="http://schemas.microsoft.com/office/drawing/2014/main" id="{59FF6125-68C3-404F-958E-E497C5054413}"/>
              </a:ext>
            </a:extLst>
          </p:cNvPr>
          <p:cNvGrpSpPr>
            <a:grpSpLocks/>
          </p:cNvGrpSpPr>
          <p:nvPr/>
        </p:nvGrpSpPr>
        <p:grpSpPr bwMode="auto">
          <a:xfrm>
            <a:off x="2744842" y="2113536"/>
            <a:ext cx="614363" cy="220662"/>
            <a:chOff x="322" y="890"/>
            <a:chExt cx="872" cy="339"/>
          </a:xfrm>
        </p:grpSpPr>
        <p:sp>
          <p:nvSpPr>
            <p:cNvPr id="634" name="Rectangle 65">
              <a:extLst>
                <a:ext uri="{FF2B5EF4-FFF2-40B4-BE49-F238E27FC236}">
                  <a16:creationId xmlns:a16="http://schemas.microsoft.com/office/drawing/2014/main" id="{A04303C8-C01F-8E4D-8DD9-97A6F17FB683}"/>
                </a:ext>
              </a:extLst>
            </p:cNvPr>
            <p:cNvSpPr>
              <a:spLocks noChangeArrowheads="1"/>
            </p:cNvSpPr>
            <p:nvPr/>
          </p:nvSpPr>
          <p:spPr bwMode="auto">
            <a:xfrm>
              <a:off x="322" y="1005"/>
              <a:ext cx="872" cy="224"/>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3" name="Rectangle 66">
              <a:extLst>
                <a:ext uri="{FF2B5EF4-FFF2-40B4-BE49-F238E27FC236}">
                  <a16:creationId xmlns:a16="http://schemas.microsoft.com/office/drawing/2014/main" id="{F4E92BE5-6E50-3A42-86C7-AE2B0766F22A}"/>
                </a:ext>
              </a:extLst>
            </p:cNvPr>
            <p:cNvSpPr>
              <a:spLocks noChangeArrowheads="1"/>
            </p:cNvSpPr>
            <p:nvPr/>
          </p:nvSpPr>
          <p:spPr bwMode="auto">
            <a:xfrm>
              <a:off x="394" y="1073"/>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67">
              <a:extLst>
                <a:ext uri="{FF2B5EF4-FFF2-40B4-BE49-F238E27FC236}">
                  <a16:creationId xmlns:a16="http://schemas.microsoft.com/office/drawing/2014/main" id="{48B16CFE-F93D-134C-AA5B-0DEC4F393771}"/>
                </a:ext>
              </a:extLst>
            </p:cNvPr>
            <p:cNvSpPr>
              <a:spLocks noChangeArrowheads="1"/>
            </p:cNvSpPr>
            <p:nvPr/>
          </p:nvSpPr>
          <p:spPr bwMode="auto">
            <a:xfrm>
              <a:off x="466" y="1073"/>
              <a:ext cx="56"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68">
              <a:extLst>
                <a:ext uri="{FF2B5EF4-FFF2-40B4-BE49-F238E27FC236}">
                  <a16:creationId xmlns:a16="http://schemas.microsoft.com/office/drawing/2014/main" id="{26BB4A5D-5EA1-3D45-BD71-6DC59C9203DF}"/>
                </a:ext>
              </a:extLst>
            </p:cNvPr>
            <p:cNvSpPr>
              <a:spLocks noChangeArrowheads="1"/>
            </p:cNvSpPr>
            <p:nvPr/>
          </p:nvSpPr>
          <p:spPr bwMode="auto">
            <a:xfrm>
              <a:off x="541"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Rectangle 69">
              <a:extLst>
                <a:ext uri="{FF2B5EF4-FFF2-40B4-BE49-F238E27FC236}">
                  <a16:creationId xmlns:a16="http://schemas.microsoft.com/office/drawing/2014/main" id="{85A45FB4-6297-2C4A-9FCA-EC5650EC0E45}"/>
                </a:ext>
              </a:extLst>
            </p:cNvPr>
            <p:cNvSpPr>
              <a:spLocks noChangeArrowheads="1"/>
            </p:cNvSpPr>
            <p:nvPr/>
          </p:nvSpPr>
          <p:spPr bwMode="auto">
            <a:xfrm>
              <a:off x="615"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AutoShape 70">
              <a:extLst>
                <a:ext uri="{FF2B5EF4-FFF2-40B4-BE49-F238E27FC236}">
                  <a16:creationId xmlns:a16="http://schemas.microsoft.com/office/drawing/2014/main" id="{28F48A32-80A3-EA4F-9C35-F6F37E1D52D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8" name="AutoShape 72">
            <a:extLst>
              <a:ext uri="{FF2B5EF4-FFF2-40B4-BE49-F238E27FC236}">
                <a16:creationId xmlns:a16="http://schemas.microsoft.com/office/drawing/2014/main" id="{00521831-0ED5-1349-A47C-654339E42A5E}"/>
              </a:ext>
            </a:extLst>
          </p:cNvPr>
          <p:cNvSpPr>
            <a:spLocks noChangeArrowheads="1"/>
          </p:cNvSpPr>
          <p:nvPr/>
        </p:nvSpPr>
        <p:spPr bwMode="auto">
          <a:xfrm>
            <a:off x="1859017" y="1275336"/>
            <a:ext cx="2268538" cy="468312"/>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9" name="Rectangle 73">
            <a:extLst>
              <a:ext uri="{FF2B5EF4-FFF2-40B4-BE49-F238E27FC236}">
                <a16:creationId xmlns:a16="http://schemas.microsoft.com/office/drawing/2014/main" id="{FD3FC836-7E87-9B4B-B95B-3BA0FE84BF70}"/>
              </a:ext>
            </a:extLst>
          </p:cNvPr>
          <p:cNvSpPr>
            <a:spLocks noChangeArrowheads="1"/>
          </p:cNvSpPr>
          <p:nvPr/>
        </p:nvSpPr>
        <p:spPr bwMode="auto">
          <a:xfrm>
            <a:off x="3475092" y="2175448"/>
            <a:ext cx="166688" cy="144463"/>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0" name="Freeform 74">
            <a:extLst>
              <a:ext uri="{FF2B5EF4-FFF2-40B4-BE49-F238E27FC236}">
                <a16:creationId xmlns:a16="http://schemas.microsoft.com/office/drawing/2014/main" id="{02BC4B2D-D64A-8743-BADC-E5942116F402}"/>
              </a:ext>
            </a:extLst>
          </p:cNvPr>
          <p:cNvSpPr>
            <a:spLocks/>
          </p:cNvSpPr>
          <p:nvPr/>
        </p:nvSpPr>
        <p:spPr bwMode="auto">
          <a:xfrm>
            <a:off x="3084567" y="1730948"/>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 name="Line 95">
            <a:extLst>
              <a:ext uri="{FF2B5EF4-FFF2-40B4-BE49-F238E27FC236}">
                <a16:creationId xmlns:a16="http://schemas.microsoft.com/office/drawing/2014/main" id="{92E8BA01-B757-A445-BCC4-2A21C55AFB06}"/>
              </a:ext>
            </a:extLst>
          </p:cNvPr>
          <p:cNvSpPr>
            <a:spLocks noChangeShapeType="1"/>
          </p:cNvSpPr>
          <p:nvPr/>
        </p:nvSpPr>
        <p:spPr bwMode="auto">
          <a:xfrm flipH="1">
            <a:off x="3383017" y="2237361"/>
            <a:ext cx="2397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52" name="Picture 96" descr="tv">
            <a:extLst>
              <a:ext uri="{FF2B5EF4-FFF2-40B4-BE49-F238E27FC236}">
                <a16:creationId xmlns:a16="http://schemas.microsoft.com/office/drawing/2014/main" id="{06B7565B-0476-B44C-9A6B-CF79DB7BFD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67" y="1391223"/>
            <a:ext cx="755650"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54" name="Group 117">
            <a:extLst>
              <a:ext uri="{FF2B5EF4-FFF2-40B4-BE49-F238E27FC236}">
                <a16:creationId xmlns:a16="http://schemas.microsoft.com/office/drawing/2014/main" id="{5F9A759B-4E1F-9A42-88D3-95E2D1ADE5D5}"/>
              </a:ext>
            </a:extLst>
          </p:cNvPr>
          <p:cNvGrpSpPr>
            <a:grpSpLocks/>
          </p:cNvGrpSpPr>
          <p:nvPr/>
        </p:nvGrpSpPr>
        <p:grpSpPr bwMode="auto">
          <a:xfrm>
            <a:off x="4116442" y="1505523"/>
            <a:ext cx="850900" cy="527050"/>
            <a:chOff x="-490" y="1664"/>
            <a:chExt cx="1429" cy="842"/>
          </a:xfrm>
        </p:grpSpPr>
        <p:sp>
          <p:nvSpPr>
            <p:cNvPr id="656" name="AutoShape 111">
              <a:extLst>
                <a:ext uri="{FF2B5EF4-FFF2-40B4-BE49-F238E27FC236}">
                  <a16:creationId xmlns:a16="http://schemas.microsoft.com/office/drawing/2014/main" id="{A37F5E29-F1C8-BD4E-B673-F4A5E1378B0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59" name="Group 116">
              <a:extLst>
                <a:ext uri="{FF2B5EF4-FFF2-40B4-BE49-F238E27FC236}">
                  <a16:creationId xmlns:a16="http://schemas.microsoft.com/office/drawing/2014/main" id="{2DA152DF-FEA3-294D-B52C-2222A7727E66}"/>
                </a:ext>
              </a:extLst>
            </p:cNvPr>
            <p:cNvGrpSpPr>
              <a:grpSpLocks/>
            </p:cNvGrpSpPr>
            <p:nvPr/>
          </p:nvGrpSpPr>
          <p:grpSpPr bwMode="auto">
            <a:xfrm>
              <a:off x="-427" y="1737"/>
              <a:ext cx="1217" cy="769"/>
              <a:chOff x="-427" y="1737"/>
              <a:chExt cx="1217" cy="769"/>
            </a:xfrm>
          </p:grpSpPr>
          <p:sp>
            <p:nvSpPr>
              <p:cNvPr id="660" name="Rectangle 99">
                <a:extLst>
                  <a:ext uri="{FF2B5EF4-FFF2-40B4-BE49-F238E27FC236}">
                    <a16:creationId xmlns:a16="http://schemas.microsoft.com/office/drawing/2014/main" id="{FEF82E20-9540-FA47-B132-B655B1AF0A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1" name="Line 7">
                <a:extLst>
                  <a:ext uri="{FF2B5EF4-FFF2-40B4-BE49-F238E27FC236}">
                    <a16:creationId xmlns:a16="http://schemas.microsoft.com/office/drawing/2014/main" id="{B4ECB5F0-AD7E-C54C-BBB3-5E4CD32BA91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2" name="Group 103">
                <a:extLst>
                  <a:ext uri="{FF2B5EF4-FFF2-40B4-BE49-F238E27FC236}">
                    <a16:creationId xmlns:a16="http://schemas.microsoft.com/office/drawing/2014/main" id="{BB9980BD-7F9B-A245-B8F6-E05A608C9B84}"/>
                  </a:ext>
                </a:extLst>
              </p:cNvPr>
              <p:cNvGrpSpPr>
                <a:grpSpLocks/>
              </p:cNvGrpSpPr>
              <p:nvPr/>
            </p:nvGrpSpPr>
            <p:grpSpPr bwMode="auto">
              <a:xfrm>
                <a:off x="68" y="2192"/>
                <a:ext cx="387" cy="139"/>
                <a:chOff x="322" y="890"/>
                <a:chExt cx="872" cy="339"/>
              </a:xfrm>
            </p:grpSpPr>
            <p:sp>
              <p:nvSpPr>
                <p:cNvPr id="668" name="Rectangle 104">
                  <a:extLst>
                    <a:ext uri="{FF2B5EF4-FFF2-40B4-BE49-F238E27FC236}">
                      <a16:creationId xmlns:a16="http://schemas.microsoft.com/office/drawing/2014/main" id="{CB801CDD-878F-264A-B04B-22F90AFEA560}"/>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9" name="Rectangle 105">
                  <a:extLst>
                    <a:ext uri="{FF2B5EF4-FFF2-40B4-BE49-F238E27FC236}">
                      <a16:creationId xmlns:a16="http://schemas.microsoft.com/office/drawing/2014/main" id="{40EF4DE4-AB89-BF47-BE95-0FE3143D693A}"/>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0" name="Rectangle 106">
                  <a:extLst>
                    <a:ext uri="{FF2B5EF4-FFF2-40B4-BE49-F238E27FC236}">
                      <a16:creationId xmlns:a16="http://schemas.microsoft.com/office/drawing/2014/main" id="{8A2E685A-F21F-A044-A292-443868825A0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1" name="Rectangle 107">
                  <a:extLst>
                    <a:ext uri="{FF2B5EF4-FFF2-40B4-BE49-F238E27FC236}">
                      <a16:creationId xmlns:a16="http://schemas.microsoft.com/office/drawing/2014/main" id="{9CEDA3B1-67D8-8140-8400-1801AD93A458}"/>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2" name="Rectangle 108">
                  <a:extLst>
                    <a:ext uri="{FF2B5EF4-FFF2-40B4-BE49-F238E27FC236}">
                      <a16:creationId xmlns:a16="http://schemas.microsoft.com/office/drawing/2014/main" id="{3E0A215B-99C5-3A45-923B-3E1FCFA96F7E}"/>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3" name="AutoShape 109">
                  <a:extLst>
                    <a:ext uri="{FF2B5EF4-FFF2-40B4-BE49-F238E27FC236}">
                      <a16:creationId xmlns:a16="http://schemas.microsoft.com/office/drawing/2014/main" id="{03427BB6-F823-1943-A491-FE684FCEF995}"/>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663" name="Picture 110" descr="desktop_computer_stylized_small">
                <a:extLst>
                  <a:ext uri="{FF2B5EF4-FFF2-40B4-BE49-F238E27FC236}">
                    <a16:creationId xmlns:a16="http://schemas.microsoft.com/office/drawing/2014/main" id="{81C3AA03-0C7A-FE4D-8FD6-D0582D645E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4" name="Rectangle 112">
                <a:extLst>
                  <a:ext uri="{FF2B5EF4-FFF2-40B4-BE49-F238E27FC236}">
                    <a16:creationId xmlns:a16="http://schemas.microsoft.com/office/drawing/2014/main" id="{156C1929-05F3-934C-84C9-0ACB6362725E}"/>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5" name="Freeform 113">
                <a:extLst>
                  <a:ext uri="{FF2B5EF4-FFF2-40B4-BE49-F238E27FC236}">
                    <a16:creationId xmlns:a16="http://schemas.microsoft.com/office/drawing/2014/main" id="{5320422D-A8AF-E64D-9F26-C8B5750D9B1E}"/>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 name="Line 114">
                <a:extLst>
                  <a:ext uri="{FF2B5EF4-FFF2-40B4-BE49-F238E27FC236}">
                    <a16:creationId xmlns:a16="http://schemas.microsoft.com/office/drawing/2014/main" id="{3EDC9FDD-617A-8546-9A8D-6862867D76B1}"/>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67" name="Picture 115" descr="tv">
                <a:extLst>
                  <a:ext uri="{FF2B5EF4-FFF2-40B4-BE49-F238E27FC236}">
                    <a16:creationId xmlns:a16="http://schemas.microsoft.com/office/drawing/2014/main" id="{252176B8-F3FD-5844-B5A3-7BF9CDF001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74" name="Group 118">
            <a:extLst>
              <a:ext uri="{FF2B5EF4-FFF2-40B4-BE49-F238E27FC236}">
                <a16:creationId xmlns:a16="http://schemas.microsoft.com/office/drawing/2014/main" id="{087367B6-4D70-604B-8798-517094B2852A}"/>
              </a:ext>
            </a:extLst>
          </p:cNvPr>
          <p:cNvGrpSpPr>
            <a:grpSpLocks/>
          </p:cNvGrpSpPr>
          <p:nvPr/>
        </p:nvGrpSpPr>
        <p:grpSpPr bwMode="auto">
          <a:xfrm>
            <a:off x="5018142" y="1499173"/>
            <a:ext cx="850900" cy="527050"/>
            <a:chOff x="-490" y="1664"/>
            <a:chExt cx="1429" cy="842"/>
          </a:xfrm>
        </p:grpSpPr>
        <p:sp>
          <p:nvSpPr>
            <p:cNvPr id="675" name="AutoShape 119">
              <a:extLst>
                <a:ext uri="{FF2B5EF4-FFF2-40B4-BE49-F238E27FC236}">
                  <a16:creationId xmlns:a16="http://schemas.microsoft.com/office/drawing/2014/main" id="{D0705D65-1E98-FB46-A6B4-9487DA18C7BF}"/>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76" name="Group 120">
              <a:extLst>
                <a:ext uri="{FF2B5EF4-FFF2-40B4-BE49-F238E27FC236}">
                  <a16:creationId xmlns:a16="http://schemas.microsoft.com/office/drawing/2014/main" id="{BACFDD7A-CE89-BF4A-A529-778489B85D0D}"/>
                </a:ext>
              </a:extLst>
            </p:cNvPr>
            <p:cNvGrpSpPr>
              <a:grpSpLocks/>
            </p:cNvGrpSpPr>
            <p:nvPr/>
          </p:nvGrpSpPr>
          <p:grpSpPr bwMode="auto">
            <a:xfrm>
              <a:off x="-427" y="1737"/>
              <a:ext cx="1217" cy="769"/>
              <a:chOff x="-427" y="1737"/>
              <a:chExt cx="1217" cy="769"/>
            </a:xfrm>
          </p:grpSpPr>
          <p:sp>
            <p:nvSpPr>
              <p:cNvPr id="677" name="Rectangle 121">
                <a:extLst>
                  <a:ext uri="{FF2B5EF4-FFF2-40B4-BE49-F238E27FC236}">
                    <a16:creationId xmlns:a16="http://schemas.microsoft.com/office/drawing/2014/main" id="{2E58DC0C-E3FF-9A4A-BCAA-688B1D8659A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8" name="Line 7">
                <a:extLst>
                  <a:ext uri="{FF2B5EF4-FFF2-40B4-BE49-F238E27FC236}">
                    <a16:creationId xmlns:a16="http://schemas.microsoft.com/office/drawing/2014/main" id="{22D21B4A-F92E-B047-83E1-B9AD411C62A9}"/>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79" name="Group 123">
                <a:extLst>
                  <a:ext uri="{FF2B5EF4-FFF2-40B4-BE49-F238E27FC236}">
                    <a16:creationId xmlns:a16="http://schemas.microsoft.com/office/drawing/2014/main" id="{B7C38FD8-AEF7-474B-A4FD-027D3DB985AA}"/>
                  </a:ext>
                </a:extLst>
              </p:cNvPr>
              <p:cNvGrpSpPr>
                <a:grpSpLocks/>
              </p:cNvGrpSpPr>
              <p:nvPr/>
            </p:nvGrpSpPr>
            <p:grpSpPr bwMode="auto">
              <a:xfrm>
                <a:off x="68" y="2192"/>
                <a:ext cx="387" cy="139"/>
                <a:chOff x="322" y="890"/>
                <a:chExt cx="872" cy="339"/>
              </a:xfrm>
            </p:grpSpPr>
            <p:sp>
              <p:nvSpPr>
                <p:cNvPr id="685" name="Rectangle 124">
                  <a:extLst>
                    <a:ext uri="{FF2B5EF4-FFF2-40B4-BE49-F238E27FC236}">
                      <a16:creationId xmlns:a16="http://schemas.microsoft.com/office/drawing/2014/main" id="{89BC40B5-F324-084A-AAD2-E95D6012736F}"/>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6" name="Rectangle 125">
                  <a:extLst>
                    <a:ext uri="{FF2B5EF4-FFF2-40B4-BE49-F238E27FC236}">
                      <a16:creationId xmlns:a16="http://schemas.microsoft.com/office/drawing/2014/main" id="{F88ABF72-A8F0-4143-907E-B17400F7508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7" name="Rectangle 126">
                  <a:extLst>
                    <a:ext uri="{FF2B5EF4-FFF2-40B4-BE49-F238E27FC236}">
                      <a16:creationId xmlns:a16="http://schemas.microsoft.com/office/drawing/2014/main" id="{7CB754ED-8EDA-2843-9D7A-93B067C9EA6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8" name="Rectangle 127">
                  <a:extLst>
                    <a:ext uri="{FF2B5EF4-FFF2-40B4-BE49-F238E27FC236}">
                      <a16:creationId xmlns:a16="http://schemas.microsoft.com/office/drawing/2014/main" id="{A34B79E6-F1DF-E74B-9FB2-88F5D6DC7E5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9" name="Rectangle 128">
                  <a:extLst>
                    <a:ext uri="{FF2B5EF4-FFF2-40B4-BE49-F238E27FC236}">
                      <a16:creationId xmlns:a16="http://schemas.microsoft.com/office/drawing/2014/main" id="{AD595A8F-88AF-A445-A105-4A989940941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0" name="AutoShape 129">
                  <a:extLst>
                    <a:ext uri="{FF2B5EF4-FFF2-40B4-BE49-F238E27FC236}">
                      <a16:creationId xmlns:a16="http://schemas.microsoft.com/office/drawing/2014/main" id="{050E52BF-49DA-324C-9803-B502A47D8F9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680" name="Picture 130" descr="desktop_computer_stylized_small">
                <a:extLst>
                  <a:ext uri="{FF2B5EF4-FFF2-40B4-BE49-F238E27FC236}">
                    <a16:creationId xmlns:a16="http://schemas.microsoft.com/office/drawing/2014/main" id="{4C1535D7-F881-874A-B719-63A277CDC40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1" name="Rectangle 131">
                <a:extLst>
                  <a:ext uri="{FF2B5EF4-FFF2-40B4-BE49-F238E27FC236}">
                    <a16:creationId xmlns:a16="http://schemas.microsoft.com/office/drawing/2014/main" id="{24165D37-4D41-4C46-9B07-0868F9F5A8B1}"/>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2" name="Freeform 132">
                <a:extLst>
                  <a:ext uri="{FF2B5EF4-FFF2-40B4-BE49-F238E27FC236}">
                    <a16:creationId xmlns:a16="http://schemas.microsoft.com/office/drawing/2014/main" id="{C44CEEE1-83E3-A14C-A7E9-A9F0E5741B6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 name="Line 133">
                <a:extLst>
                  <a:ext uri="{FF2B5EF4-FFF2-40B4-BE49-F238E27FC236}">
                    <a16:creationId xmlns:a16="http://schemas.microsoft.com/office/drawing/2014/main" id="{62F2C93F-511D-3147-B8BE-81E8838762E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84" name="Picture 134" descr="tv">
                <a:extLst>
                  <a:ext uri="{FF2B5EF4-FFF2-40B4-BE49-F238E27FC236}">
                    <a16:creationId xmlns:a16="http://schemas.microsoft.com/office/drawing/2014/main" id="{BCC7F36B-9984-5F40-8042-AAFF0875E4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91" name="Group 135">
            <a:extLst>
              <a:ext uri="{FF2B5EF4-FFF2-40B4-BE49-F238E27FC236}">
                <a16:creationId xmlns:a16="http://schemas.microsoft.com/office/drawing/2014/main" id="{B35A80F1-D0E0-F049-AF3B-A40C61B0C1DC}"/>
              </a:ext>
            </a:extLst>
          </p:cNvPr>
          <p:cNvGrpSpPr>
            <a:grpSpLocks/>
          </p:cNvGrpSpPr>
          <p:nvPr/>
        </p:nvGrpSpPr>
        <p:grpSpPr bwMode="auto">
          <a:xfrm>
            <a:off x="4203755" y="2345311"/>
            <a:ext cx="850900" cy="527050"/>
            <a:chOff x="-490" y="1664"/>
            <a:chExt cx="1429" cy="842"/>
          </a:xfrm>
        </p:grpSpPr>
        <p:sp>
          <p:nvSpPr>
            <p:cNvPr id="692" name="AutoShape 136">
              <a:extLst>
                <a:ext uri="{FF2B5EF4-FFF2-40B4-BE49-F238E27FC236}">
                  <a16:creationId xmlns:a16="http://schemas.microsoft.com/office/drawing/2014/main" id="{F38822C2-4C99-5C4E-8386-17BBD6B7D24B}"/>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93" name="Group 137">
              <a:extLst>
                <a:ext uri="{FF2B5EF4-FFF2-40B4-BE49-F238E27FC236}">
                  <a16:creationId xmlns:a16="http://schemas.microsoft.com/office/drawing/2014/main" id="{280A7536-2297-7545-8BD8-ACCAE36D2084}"/>
                </a:ext>
              </a:extLst>
            </p:cNvPr>
            <p:cNvGrpSpPr>
              <a:grpSpLocks/>
            </p:cNvGrpSpPr>
            <p:nvPr/>
          </p:nvGrpSpPr>
          <p:grpSpPr bwMode="auto">
            <a:xfrm>
              <a:off x="-427" y="1737"/>
              <a:ext cx="1217" cy="769"/>
              <a:chOff x="-427" y="1737"/>
              <a:chExt cx="1217" cy="769"/>
            </a:xfrm>
          </p:grpSpPr>
          <p:sp>
            <p:nvSpPr>
              <p:cNvPr id="694" name="Rectangle 138">
                <a:extLst>
                  <a:ext uri="{FF2B5EF4-FFF2-40B4-BE49-F238E27FC236}">
                    <a16:creationId xmlns:a16="http://schemas.microsoft.com/office/drawing/2014/main" id="{FD4AA4EA-1734-E548-8AAE-E12D871545A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5" name="Line 7">
                <a:extLst>
                  <a:ext uri="{FF2B5EF4-FFF2-40B4-BE49-F238E27FC236}">
                    <a16:creationId xmlns:a16="http://schemas.microsoft.com/office/drawing/2014/main" id="{770E1C91-B880-D946-BC70-EE5844E3C4C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96" name="Group 140">
                <a:extLst>
                  <a:ext uri="{FF2B5EF4-FFF2-40B4-BE49-F238E27FC236}">
                    <a16:creationId xmlns:a16="http://schemas.microsoft.com/office/drawing/2014/main" id="{B7E245A3-5E8E-A74D-AF55-7D6A9DF0318A}"/>
                  </a:ext>
                </a:extLst>
              </p:cNvPr>
              <p:cNvGrpSpPr>
                <a:grpSpLocks/>
              </p:cNvGrpSpPr>
              <p:nvPr/>
            </p:nvGrpSpPr>
            <p:grpSpPr bwMode="auto">
              <a:xfrm>
                <a:off x="68" y="2192"/>
                <a:ext cx="387" cy="139"/>
                <a:chOff x="322" y="890"/>
                <a:chExt cx="872" cy="339"/>
              </a:xfrm>
            </p:grpSpPr>
            <p:sp>
              <p:nvSpPr>
                <p:cNvPr id="702" name="Rectangle 141">
                  <a:extLst>
                    <a:ext uri="{FF2B5EF4-FFF2-40B4-BE49-F238E27FC236}">
                      <a16:creationId xmlns:a16="http://schemas.microsoft.com/office/drawing/2014/main" id="{E8CA17C2-65F4-C847-A921-177D38C81B88}"/>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3" name="Rectangle 142">
                  <a:extLst>
                    <a:ext uri="{FF2B5EF4-FFF2-40B4-BE49-F238E27FC236}">
                      <a16:creationId xmlns:a16="http://schemas.microsoft.com/office/drawing/2014/main" id="{0248A613-8BF9-744E-A64D-D564AF82529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4" name="Rectangle 143">
                  <a:extLst>
                    <a:ext uri="{FF2B5EF4-FFF2-40B4-BE49-F238E27FC236}">
                      <a16:creationId xmlns:a16="http://schemas.microsoft.com/office/drawing/2014/main" id="{406CCBDD-EEEE-1D45-AA33-2EBE6279F4C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5" name="Rectangle 144">
                  <a:extLst>
                    <a:ext uri="{FF2B5EF4-FFF2-40B4-BE49-F238E27FC236}">
                      <a16:creationId xmlns:a16="http://schemas.microsoft.com/office/drawing/2014/main" id="{977402B9-0CBB-0D4B-B4B0-9589408E2B8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6" name="Rectangle 145">
                  <a:extLst>
                    <a:ext uri="{FF2B5EF4-FFF2-40B4-BE49-F238E27FC236}">
                      <a16:creationId xmlns:a16="http://schemas.microsoft.com/office/drawing/2014/main" id="{3D3165A8-FF26-134E-9F1C-A7A20F77AF0B}"/>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7" name="AutoShape 146">
                  <a:extLst>
                    <a:ext uri="{FF2B5EF4-FFF2-40B4-BE49-F238E27FC236}">
                      <a16:creationId xmlns:a16="http://schemas.microsoft.com/office/drawing/2014/main" id="{EC84391B-1851-544C-B2BC-7C592248BE2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697" name="Picture 147" descr="desktop_computer_stylized_small">
                <a:extLst>
                  <a:ext uri="{FF2B5EF4-FFF2-40B4-BE49-F238E27FC236}">
                    <a16:creationId xmlns:a16="http://schemas.microsoft.com/office/drawing/2014/main" id="{E527FB23-79FC-7A4B-A986-12E7037C92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8" name="Rectangle 148">
                <a:extLst>
                  <a:ext uri="{FF2B5EF4-FFF2-40B4-BE49-F238E27FC236}">
                    <a16:creationId xmlns:a16="http://schemas.microsoft.com/office/drawing/2014/main" id="{61BFA118-3935-F540-A954-BA2E87833344}"/>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9" name="Freeform 149">
                <a:extLst>
                  <a:ext uri="{FF2B5EF4-FFF2-40B4-BE49-F238E27FC236}">
                    <a16:creationId xmlns:a16="http://schemas.microsoft.com/office/drawing/2014/main" id="{043DF8A9-6DC7-F349-B0A7-2CC27CE1489F}"/>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 name="Line 150">
                <a:extLst>
                  <a:ext uri="{FF2B5EF4-FFF2-40B4-BE49-F238E27FC236}">
                    <a16:creationId xmlns:a16="http://schemas.microsoft.com/office/drawing/2014/main" id="{74759C54-5940-F74A-BC60-5BE43CD21C00}"/>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01" name="Picture 151" descr="tv">
                <a:extLst>
                  <a:ext uri="{FF2B5EF4-FFF2-40B4-BE49-F238E27FC236}">
                    <a16:creationId xmlns:a16="http://schemas.microsoft.com/office/drawing/2014/main" id="{4E572681-7AA1-214C-A61D-E41CBA2888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08" name="Group 152">
            <a:extLst>
              <a:ext uri="{FF2B5EF4-FFF2-40B4-BE49-F238E27FC236}">
                <a16:creationId xmlns:a16="http://schemas.microsoft.com/office/drawing/2014/main" id="{B99E0137-E9E9-2449-A341-E95B1A39B473}"/>
              </a:ext>
            </a:extLst>
          </p:cNvPr>
          <p:cNvGrpSpPr>
            <a:grpSpLocks/>
          </p:cNvGrpSpPr>
          <p:nvPr/>
        </p:nvGrpSpPr>
        <p:grpSpPr bwMode="auto">
          <a:xfrm>
            <a:off x="5070530" y="2354836"/>
            <a:ext cx="850900" cy="527050"/>
            <a:chOff x="-490" y="1664"/>
            <a:chExt cx="1429" cy="842"/>
          </a:xfrm>
        </p:grpSpPr>
        <p:sp>
          <p:nvSpPr>
            <p:cNvPr id="709" name="AutoShape 153">
              <a:extLst>
                <a:ext uri="{FF2B5EF4-FFF2-40B4-BE49-F238E27FC236}">
                  <a16:creationId xmlns:a16="http://schemas.microsoft.com/office/drawing/2014/main" id="{6638BF32-7CF1-1B4E-AAED-A6CBD4BB69A0}"/>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10" name="Group 154">
              <a:extLst>
                <a:ext uri="{FF2B5EF4-FFF2-40B4-BE49-F238E27FC236}">
                  <a16:creationId xmlns:a16="http://schemas.microsoft.com/office/drawing/2014/main" id="{BE2429F4-383A-544D-BD63-8AF872349ED4}"/>
                </a:ext>
              </a:extLst>
            </p:cNvPr>
            <p:cNvGrpSpPr>
              <a:grpSpLocks/>
            </p:cNvGrpSpPr>
            <p:nvPr/>
          </p:nvGrpSpPr>
          <p:grpSpPr bwMode="auto">
            <a:xfrm>
              <a:off x="-427" y="1737"/>
              <a:ext cx="1217" cy="769"/>
              <a:chOff x="-427" y="1737"/>
              <a:chExt cx="1217" cy="769"/>
            </a:xfrm>
          </p:grpSpPr>
          <p:sp>
            <p:nvSpPr>
              <p:cNvPr id="711" name="Rectangle 155">
                <a:extLst>
                  <a:ext uri="{FF2B5EF4-FFF2-40B4-BE49-F238E27FC236}">
                    <a16:creationId xmlns:a16="http://schemas.microsoft.com/office/drawing/2014/main" id="{EBB425AA-0585-2749-BC85-AFA5C7AAAA5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2" name="Line 7">
                <a:extLst>
                  <a:ext uri="{FF2B5EF4-FFF2-40B4-BE49-F238E27FC236}">
                    <a16:creationId xmlns:a16="http://schemas.microsoft.com/office/drawing/2014/main" id="{A482784A-1FA4-1E45-85F9-5DE284EE814F}"/>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13" name="Group 157">
                <a:extLst>
                  <a:ext uri="{FF2B5EF4-FFF2-40B4-BE49-F238E27FC236}">
                    <a16:creationId xmlns:a16="http://schemas.microsoft.com/office/drawing/2014/main" id="{F0EAA516-BD5F-774A-9B68-AEA2591140A2}"/>
                  </a:ext>
                </a:extLst>
              </p:cNvPr>
              <p:cNvGrpSpPr>
                <a:grpSpLocks/>
              </p:cNvGrpSpPr>
              <p:nvPr/>
            </p:nvGrpSpPr>
            <p:grpSpPr bwMode="auto">
              <a:xfrm>
                <a:off x="68" y="2192"/>
                <a:ext cx="387" cy="139"/>
                <a:chOff x="322" y="890"/>
                <a:chExt cx="872" cy="339"/>
              </a:xfrm>
            </p:grpSpPr>
            <p:sp>
              <p:nvSpPr>
                <p:cNvPr id="719" name="Rectangle 158">
                  <a:extLst>
                    <a:ext uri="{FF2B5EF4-FFF2-40B4-BE49-F238E27FC236}">
                      <a16:creationId xmlns:a16="http://schemas.microsoft.com/office/drawing/2014/main" id="{D26B702C-4102-F746-8A1A-44FA54012212}"/>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0" name="Rectangle 159">
                  <a:extLst>
                    <a:ext uri="{FF2B5EF4-FFF2-40B4-BE49-F238E27FC236}">
                      <a16:creationId xmlns:a16="http://schemas.microsoft.com/office/drawing/2014/main" id="{836CD9F3-93C8-EE4D-A1F1-161D2391D82D}"/>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1" name="Rectangle 160">
                  <a:extLst>
                    <a:ext uri="{FF2B5EF4-FFF2-40B4-BE49-F238E27FC236}">
                      <a16:creationId xmlns:a16="http://schemas.microsoft.com/office/drawing/2014/main" id="{A3BCDA4F-140D-7E44-A8FC-8D7C2D705EBC}"/>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2" name="Rectangle 161">
                  <a:extLst>
                    <a:ext uri="{FF2B5EF4-FFF2-40B4-BE49-F238E27FC236}">
                      <a16:creationId xmlns:a16="http://schemas.microsoft.com/office/drawing/2014/main" id="{56A4DF97-4C28-D947-BF5A-829F0697D1B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3" name="Rectangle 162">
                  <a:extLst>
                    <a:ext uri="{FF2B5EF4-FFF2-40B4-BE49-F238E27FC236}">
                      <a16:creationId xmlns:a16="http://schemas.microsoft.com/office/drawing/2014/main" id="{D68B0B55-2628-AF44-9B8B-2405E00A0C4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4" name="AutoShape 163">
                  <a:extLst>
                    <a:ext uri="{FF2B5EF4-FFF2-40B4-BE49-F238E27FC236}">
                      <a16:creationId xmlns:a16="http://schemas.microsoft.com/office/drawing/2014/main" id="{8629FA7E-1037-8C4F-8810-408283380C7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714" name="Picture 164" descr="desktop_computer_stylized_small">
                <a:extLst>
                  <a:ext uri="{FF2B5EF4-FFF2-40B4-BE49-F238E27FC236}">
                    <a16:creationId xmlns:a16="http://schemas.microsoft.com/office/drawing/2014/main" id="{2C8AE386-EE13-6D42-9CE2-3226B5E36C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5" name="Rectangle 165">
                <a:extLst>
                  <a:ext uri="{FF2B5EF4-FFF2-40B4-BE49-F238E27FC236}">
                    <a16:creationId xmlns:a16="http://schemas.microsoft.com/office/drawing/2014/main" id="{9AC9091D-06AA-5245-BF88-B75BC27623E8}"/>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6" name="Freeform 166">
                <a:extLst>
                  <a:ext uri="{FF2B5EF4-FFF2-40B4-BE49-F238E27FC236}">
                    <a16:creationId xmlns:a16="http://schemas.microsoft.com/office/drawing/2014/main" id="{0327A2D8-A266-3E44-8EA9-71273B379721}"/>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 name="Line 167">
                <a:extLst>
                  <a:ext uri="{FF2B5EF4-FFF2-40B4-BE49-F238E27FC236}">
                    <a16:creationId xmlns:a16="http://schemas.microsoft.com/office/drawing/2014/main" id="{F2687AEF-F7A2-2143-8718-7CD837CBF922}"/>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18" name="Picture 168" descr="tv">
                <a:extLst>
                  <a:ext uri="{FF2B5EF4-FFF2-40B4-BE49-F238E27FC236}">
                    <a16:creationId xmlns:a16="http://schemas.microsoft.com/office/drawing/2014/main" id="{AAFC4C6D-F52A-6046-9403-425D9D673F4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25" name="Line 169">
            <a:extLst>
              <a:ext uri="{FF2B5EF4-FFF2-40B4-BE49-F238E27FC236}">
                <a16:creationId xmlns:a16="http://schemas.microsoft.com/office/drawing/2014/main" id="{ADE52973-3C0D-654A-B045-1EDAD64D65D6}"/>
              </a:ext>
            </a:extLst>
          </p:cNvPr>
          <p:cNvSpPr>
            <a:spLocks noChangeShapeType="1"/>
          </p:cNvSpPr>
          <p:nvPr/>
        </p:nvSpPr>
        <p:spPr bwMode="auto">
          <a:xfrm>
            <a:off x="3657655" y="2248473"/>
            <a:ext cx="369093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26" name="Group 170">
            <a:extLst>
              <a:ext uri="{FF2B5EF4-FFF2-40B4-BE49-F238E27FC236}">
                <a16:creationId xmlns:a16="http://schemas.microsoft.com/office/drawing/2014/main" id="{3D447709-B395-E140-A6E8-A4B0C8933F41}"/>
              </a:ext>
            </a:extLst>
          </p:cNvPr>
          <p:cNvGrpSpPr>
            <a:grpSpLocks/>
          </p:cNvGrpSpPr>
          <p:nvPr/>
        </p:nvGrpSpPr>
        <p:grpSpPr bwMode="auto">
          <a:xfrm>
            <a:off x="6159555" y="1507111"/>
            <a:ext cx="850900" cy="527050"/>
            <a:chOff x="-490" y="1664"/>
            <a:chExt cx="1429" cy="842"/>
          </a:xfrm>
        </p:grpSpPr>
        <p:sp>
          <p:nvSpPr>
            <p:cNvPr id="727" name="AutoShape 171">
              <a:extLst>
                <a:ext uri="{FF2B5EF4-FFF2-40B4-BE49-F238E27FC236}">
                  <a16:creationId xmlns:a16="http://schemas.microsoft.com/office/drawing/2014/main" id="{F84AA9D6-A486-E04C-804D-DFE0C1539708}"/>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28" name="Group 172">
              <a:extLst>
                <a:ext uri="{FF2B5EF4-FFF2-40B4-BE49-F238E27FC236}">
                  <a16:creationId xmlns:a16="http://schemas.microsoft.com/office/drawing/2014/main" id="{543D769A-7CD2-8048-8FE3-27348F62D8C6}"/>
                </a:ext>
              </a:extLst>
            </p:cNvPr>
            <p:cNvGrpSpPr>
              <a:grpSpLocks/>
            </p:cNvGrpSpPr>
            <p:nvPr/>
          </p:nvGrpSpPr>
          <p:grpSpPr bwMode="auto">
            <a:xfrm>
              <a:off x="-427" y="1737"/>
              <a:ext cx="1217" cy="769"/>
              <a:chOff x="-427" y="1737"/>
              <a:chExt cx="1217" cy="769"/>
            </a:xfrm>
          </p:grpSpPr>
          <p:sp>
            <p:nvSpPr>
              <p:cNvPr id="729" name="Rectangle 173">
                <a:extLst>
                  <a:ext uri="{FF2B5EF4-FFF2-40B4-BE49-F238E27FC236}">
                    <a16:creationId xmlns:a16="http://schemas.microsoft.com/office/drawing/2014/main" id="{F2369E5A-97BD-6448-9C48-4B6DBA063821}"/>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0" name="Line 7">
                <a:extLst>
                  <a:ext uri="{FF2B5EF4-FFF2-40B4-BE49-F238E27FC236}">
                    <a16:creationId xmlns:a16="http://schemas.microsoft.com/office/drawing/2014/main" id="{2AC0A61E-F926-0D4B-B5E9-DF0BC1F34016}"/>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31" name="Group 175">
                <a:extLst>
                  <a:ext uri="{FF2B5EF4-FFF2-40B4-BE49-F238E27FC236}">
                    <a16:creationId xmlns:a16="http://schemas.microsoft.com/office/drawing/2014/main" id="{28882AE2-523F-3A48-A31B-7F5125D45364}"/>
                  </a:ext>
                </a:extLst>
              </p:cNvPr>
              <p:cNvGrpSpPr>
                <a:grpSpLocks/>
              </p:cNvGrpSpPr>
              <p:nvPr/>
            </p:nvGrpSpPr>
            <p:grpSpPr bwMode="auto">
              <a:xfrm>
                <a:off x="68" y="2192"/>
                <a:ext cx="387" cy="139"/>
                <a:chOff x="322" y="890"/>
                <a:chExt cx="872" cy="339"/>
              </a:xfrm>
            </p:grpSpPr>
            <p:sp>
              <p:nvSpPr>
                <p:cNvPr id="737" name="Rectangle 176">
                  <a:extLst>
                    <a:ext uri="{FF2B5EF4-FFF2-40B4-BE49-F238E27FC236}">
                      <a16:creationId xmlns:a16="http://schemas.microsoft.com/office/drawing/2014/main" id="{54F16B2F-608C-0A4C-B57B-5C7376E1CD7D}"/>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8" name="Rectangle 177">
                  <a:extLst>
                    <a:ext uri="{FF2B5EF4-FFF2-40B4-BE49-F238E27FC236}">
                      <a16:creationId xmlns:a16="http://schemas.microsoft.com/office/drawing/2014/main" id="{16358853-C1FC-1B4A-90B8-0526F7FF392F}"/>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9" name="Rectangle 178">
                  <a:extLst>
                    <a:ext uri="{FF2B5EF4-FFF2-40B4-BE49-F238E27FC236}">
                      <a16:creationId xmlns:a16="http://schemas.microsoft.com/office/drawing/2014/main" id="{95865896-45F0-9E45-88A7-DDEAF0816961}"/>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0" name="Rectangle 179">
                  <a:extLst>
                    <a:ext uri="{FF2B5EF4-FFF2-40B4-BE49-F238E27FC236}">
                      <a16:creationId xmlns:a16="http://schemas.microsoft.com/office/drawing/2014/main" id="{1C2FE1AC-5BF7-3F4E-A430-7CA6A6969083}"/>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1" name="Rectangle 180">
                  <a:extLst>
                    <a:ext uri="{FF2B5EF4-FFF2-40B4-BE49-F238E27FC236}">
                      <a16:creationId xmlns:a16="http://schemas.microsoft.com/office/drawing/2014/main" id="{218C2436-F090-5B40-9775-6467F646F5A5}"/>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2" name="AutoShape 181">
                  <a:extLst>
                    <a:ext uri="{FF2B5EF4-FFF2-40B4-BE49-F238E27FC236}">
                      <a16:creationId xmlns:a16="http://schemas.microsoft.com/office/drawing/2014/main" id="{2346CC88-82BF-DA46-B70A-55B4ED444CE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732" name="Picture 182" descr="desktop_computer_stylized_small">
                <a:extLst>
                  <a:ext uri="{FF2B5EF4-FFF2-40B4-BE49-F238E27FC236}">
                    <a16:creationId xmlns:a16="http://schemas.microsoft.com/office/drawing/2014/main" id="{9C9448D8-C41E-1B4C-8F18-B3F661D7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3" name="Rectangle 183">
                <a:extLst>
                  <a:ext uri="{FF2B5EF4-FFF2-40B4-BE49-F238E27FC236}">
                    <a16:creationId xmlns:a16="http://schemas.microsoft.com/office/drawing/2014/main" id="{EC20C728-8848-8748-8001-99D9BBF00006}"/>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4" name="Freeform 184">
                <a:extLst>
                  <a:ext uri="{FF2B5EF4-FFF2-40B4-BE49-F238E27FC236}">
                    <a16:creationId xmlns:a16="http://schemas.microsoft.com/office/drawing/2014/main" id="{A3C302FC-0DCE-7B44-87E9-318491675B3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 name="Line 185">
                <a:extLst>
                  <a:ext uri="{FF2B5EF4-FFF2-40B4-BE49-F238E27FC236}">
                    <a16:creationId xmlns:a16="http://schemas.microsoft.com/office/drawing/2014/main" id="{28070A37-5593-0448-896E-478F25FA108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36" name="Picture 186" descr="tv">
                <a:extLst>
                  <a:ext uri="{FF2B5EF4-FFF2-40B4-BE49-F238E27FC236}">
                    <a16:creationId xmlns:a16="http://schemas.microsoft.com/office/drawing/2014/main" id="{23BD1939-D865-6047-93F0-ED52890AAF0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43" name="Text Box 204">
            <a:extLst>
              <a:ext uri="{FF2B5EF4-FFF2-40B4-BE49-F238E27FC236}">
                <a16:creationId xmlns:a16="http://schemas.microsoft.com/office/drawing/2014/main" id="{114B5E74-3593-4647-A004-4F78DEEBD9A4}"/>
              </a:ext>
            </a:extLst>
          </p:cNvPr>
          <p:cNvSpPr txBox="1">
            <a:spLocks noChangeArrowheads="1"/>
          </p:cNvSpPr>
          <p:nvPr/>
        </p:nvSpPr>
        <p:spPr bwMode="auto">
          <a:xfrm>
            <a:off x="5770617" y="1576961"/>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sp>
        <p:nvSpPr>
          <p:cNvPr id="744" name="Line 205">
            <a:extLst>
              <a:ext uri="{FF2B5EF4-FFF2-40B4-BE49-F238E27FC236}">
                <a16:creationId xmlns:a16="http://schemas.microsoft.com/office/drawing/2014/main" id="{DC1BDAA3-86EF-E54B-AD19-30AE2ECA9311}"/>
              </a:ext>
            </a:extLst>
          </p:cNvPr>
          <p:cNvSpPr>
            <a:spLocks noChangeShapeType="1"/>
          </p:cNvSpPr>
          <p:nvPr/>
        </p:nvSpPr>
        <p:spPr bwMode="auto">
          <a:xfrm flipH="1">
            <a:off x="4751442"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 name="Line 206">
            <a:extLst>
              <a:ext uri="{FF2B5EF4-FFF2-40B4-BE49-F238E27FC236}">
                <a16:creationId xmlns:a16="http://schemas.microsoft.com/office/drawing/2014/main" id="{148D29E6-C94A-DC42-8250-908976A5D102}"/>
              </a:ext>
            </a:extLst>
          </p:cNvPr>
          <p:cNvSpPr>
            <a:spLocks noChangeShapeType="1"/>
          </p:cNvSpPr>
          <p:nvPr/>
        </p:nvSpPr>
        <p:spPr bwMode="auto">
          <a:xfrm flipH="1">
            <a:off x="565631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 name="Line 207">
            <a:extLst>
              <a:ext uri="{FF2B5EF4-FFF2-40B4-BE49-F238E27FC236}">
                <a16:creationId xmlns:a16="http://schemas.microsoft.com/office/drawing/2014/main" id="{01C6EDDD-38D0-6B49-B717-D2D0A8815C12}"/>
              </a:ext>
            </a:extLst>
          </p:cNvPr>
          <p:cNvSpPr>
            <a:spLocks noChangeShapeType="1"/>
          </p:cNvSpPr>
          <p:nvPr/>
        </p:nvSpPr>
        <p:spPr bwMode="auto">
          <a:xfrm flipH="1">
            <a:off x="679296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7" name="Freeform 208">
            <a:extLst>
              <a:ext uri="{FF2B5EF4-FFF2-40B4-BE49-F238E27FC236}">
                <a16:creationId xmlns:a16="http://schemas.microsoft.com/office/drawing/2014/main" id="{13411482-5915-9549-9E0F-94906C9234B0}"/>
              </a:ext>
            </a:extLst>
          </p:cNvPr>
          <p:cNvSpPr>
            <a:spLocks/>
          </p:cNvSpPr>
          <p:nvPr/>
        </p:nvSpPr>
        <p:spPr bwMode="auto">
          <a:xfrm>
            <a:off x="5742042" y="225482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 name="Freeform 209">
            <a:extLst>
              <a:ext uri="{FF2B5EF4-FFF2-40B4-BE49-F238E27FC236}">
                <a16:creationId xmlns:a16="http://schemas.microsoft.com/office/drawing/2014/main" id="{1F9C292F-8EBB-3541-9B89-E1F31CD174E4}"/>
              </a:ext>
            </a:extLst>
          </p:cNvPr>
          <p:cNvSpPr>
            <a:spLocks/>
          </p:cNvSpPr>
          <p:nvPr/>
        </p:nvSpPr>
        <p:spPr bwMode="auto">
          <a:xfrm>
            <a:off x="4875267" y="224847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 name="Rectangle 44">
            <a:extLst>
              <a:ext uri="{FF2B5EF4-FFF2-40B4-BE49-F238E27FC236}">
                <a16:creationId xmlns:a16="http://schemas.microsoft.com/office/drawing/2014/main" id="{7320EA55-A59E-E248-A70B-FDBD113905C5}"/>
              </a:ext>
            </a:extLst>
          </p:cNvPr>
          <p:cNvSpPr>
            <a:spLocks noChangeArrowheads="1"/>
          </p:cNvSpPr>
          <p:nvPr/>
        </p:nvSpPr>
        <p:spPr bwMode="auto">
          <a:xfrm>
            <a:off x="7086655" y="1823023"/>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50" name="Text Box 45">
            <a:extLst>
              <a:ext uri="{FF2B5EF4-FFF2-40B4-BE49-F238E27FC236}">
                <a16:creationId xmlns:a16="http://schemas.microsoft.com/office/drawing/2014/main" id="{DB61BF90-6CFB-6842-9230-52758DB964BD}"/>
              </a:ext>
            </a:extLst>
          </p:cNvPr>
          <p:cNvSpPr txBox="1">
            <a:spLocks noChangeArrowheads="1"/>
          </p:cNvSpPr>
          <p:nvPr/>
        </p:nvSpPr>
        <p:spPr bwMode="auto">
          <a:xfrm>
            <a:off x="6597705" y="1286448"/>
            <a:ext cx="1925637"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cable headend</a:t>
            </a:r>
          </a:p>
        </p:txBody>
      </p:sp>
      <p:sp>
        <p:nvSpPr>
          <p:cNvPr id="751" name="Freeform 216">
            <a:extLst>
              <a:ext uri="{FF2B5EF4-FFF2-40B4-BE49-F238E27FC236}">
                <a16:creationId xmlns:a16="http://schemas.microsoft.com/office/drawing/2014/main" id="{5282A8AA-73E0-1047-98E9-0E8A22EB1094}"/>
              </a:ext>
            </a:extLst>
          </p:cNvPr>
          <p:cNvSpPr>
            <a:spLocks/>
          </p:cNvSpPr>
          <p:nvPr/>
        </p:nvSpPr>
        <p:spPr bwMode="auto">
          <a:xfrm>
            <a:off x="7343830" y="2005586"/>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100000">
                <a:schemeClr val="accent1">
                  <a:lumMod val="60000"/>
                  <a:lumOff val="40000"/>
                </a:schemeClr>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2" name="Freeform 217">
            <a:extLst>
              <a:ext uri="{FF2B5EF4-FFF2-40B4-BE49-F238E27FC236}">
                <a16:creationId xmlns:a16="http://schemas.microsoft.com/office/drawing/2014/main" id="{7C99B789-7258-6A4A-9F8D-57979E1CEE4E}"/>
              </a:ext>
            </a:extLst>
          </p:cNvPr>
          <p:cNvSpPr>
            <a:spLocks/>
          </p:cNvSpPr>
          <p:nvPr/>
        </p:nvSpPr>
        <p:spPr bwMode="auto">
          <a:xfrm>
            <a:off x="7345417" y="1940498"/>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chemeClr val="accent1">
              <a:lumMod val="75000"/>
            </a:schemeClr>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3" name="Line 218">
            <a:extLst>
              <a:ext uri="{FF2B5EF4-FFF2-40B4-BE49-F238E27FC236}">
                <a16:creationId xmlns:a16="http://schemas.microsoft.com/office/drawing/2014/main" id="{B1D16F00-E881-6A47-A6A1-0BBDC19BC901}"/>
              </a:ext>
            </a:extLst>
          </p:cNvPr>
          <p:cNvSpPr>
            <a:spLocks noChangeShapeType="1"/>
          </p:cNvSpPr>
          <p:nvPr/>
        </p:nvSpPr>
        <p:spPr bwMode="auto">
          <a:xfrm flipH="1">
            <a:off x="7670855" y="2064323"/>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 name="Line 219">
            <a:extLst>
              <a:ext uri="{FF2B5EF4-FFF2-40B4-BE49-F238E27FC236}">
                <a16:creationId xmlns:a16="http://schemas.microsoft.com/office/drawing/2014/main" id="{838FA314-27D9-7A43-996B-E5F93E02DF5E}"/>
              </a:ext>
            </a:extLst>
          </p:cNvPr>
          <p:cNvSpPr>
            <a:spLocks noChangeShapeType="1"/>
          </p:cNvSpPr>
          <p:nvPr/>
        </p:nvSpPr>
        <p:spPr bwMode="auto">
          <a:xfrm>
            <a:off x="7372405" y="2235773"/>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 name="Freeform 220">
            <a:extLst>
              <a:ext uri="{FF2B5EF4-FFF2-40B4-BE49-F238E27FC236}">
                <a16:creationId xmlns:a16="http://schemas.microsoft.com/office/drawing/2014/main" id="{45C72033-F8DA-3B45-8390-923125718D2A}"/>
              </a:ext>
            </a:extLst>
          </p:cNvPr>
          <p:cNvSpPr>
            <a:spLocks/>
          </p:cNvSpPr>
          <p:nvPr/>
        </p:nvSpPr>
        <p:spPr bwMode="auto">
          <a:xfrm>
            <a:off x="7366055" y="2059561"/>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6" name="Freeform 221">
            <a:extLst>
              <a:ext uri="{FF2B5EF4-FFF2-40B4-BE49-F238E27FC236}">
                <a16:creationId xmlns:a16="http://schemas.microsoft.com/office/drawing/2014/main" id="{19393445-5216-7C45-9B45-58EB5CD3E448}"/>
              </a:ext>
            </a:extLst>
          </p:cNvPr>
          <p:cNvSpPr>
            <a:spLocks/>
          </p:cNvSpPr>
          <p:nvPr/>
        </p:nvSpPr>
        <p:spPr bwMode="auto">
          <a:xfrm flipV="1">
            <a:off x="7366055" y="2296098"/>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 name="AutoShape 225">
            <a:extLst>
              <a:ext uri="{FF2B5EF4-FFF2-40B4-BE49-F238E27FC236}">
                <a16:creationId xmlns:a16="http://schemas.microsoft.com/office/drawing/2014/main" id="{D5C846CD-8651-7846-BF61-84EC54D4AEB7}"/>
              </a:ext>
            </a:extLst>
          </p:cNvPr>
          <p:cNvSpPr>
            <a:spLocks noChangeArrowheads="1"/>
          </p:cNvSpPr>
          <p:nvPr/>
        </p:nvSpPr>
        <p:spPr bwMode="auto">
          <a:xfrm>
            <a:off x="6946955" y="1559498"/>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02" name="Group 326">
            <a:extLst>
              <a:ext uri="{FF2B5EF4-FFF2-40B4-BE49-F238E27FC236}">
                <a16:creationId xmlns:a16="http://schemas.microsoft.com/office/drawing/2014/main" id="{69F003EB-6D99-1141-ABFE-67460D1B76E9}"/>
              </a:ext>
            </a:extLst>
          </p:cNvPr>
          <p:cNvGrpSpPr>
            <a:grpSpLocks/>
          </p:cNvGrpSpPr>
          <p:nvPr/>
        </p:nvGrpSpPr>
        <p:grpSpPr bwMode="auto">
          <a:xfrm>
            <a:off x="2000305" y="1964311"/>
            <a:ext cx="609600" cy="609600"/>
            <a:chOff x="-44" y="1473"/>
            <a:chExt cx="981" cy="1105"/>
          </a:xfrm>
        </p:grpSpPr>
        <p:pic>
          <p:nvPicPr>
            <p:cNvPr id="803" name="Picture 327" descr="desktop_computer_stylized_medium">
              <a:extLst>
                <a:ext uri="{FF2B5EF4-FFF2-40B4-BE49-F238E27FC236}">
                  <a16:creationId xmlns:a16="http://schemas.microsoft.com/office/drawing/2014/main" id="{BCAB1A26-F538-9E43-9300-98DBF76645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4" name="Freeform 328">
              <a:extLst>
                <a:ext uri="{FF2B5EF4-FFF2-40B4-BE49-F238E27FC236}">
                  <a16:creationId xmlns:a16="http://schemas.microsoft.com/office/drawing/2014/main" id="{DF498DD9-C2F7-E142-A48F-929956C96E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9" name="Group 5">
            <a:extLst>
              <a:ext uri="{FF2B5EF4-FFF2-40B4-BE49-F238E27FC236}">
                <a16:creationId xmlns:a16="http://schemas.microsoft.com/office/drawing/2014/main" id="{2F6C783C-0026-4943-BF4A-677BBABDEDED}"/>
              </a:ext>
            </a:extLst>
          </p:cNvPr>
          <p:cNvGrpSpPr>
            <a:grpSpLocks/>
          </p:cNvGrpSpPr>
          <p:nvPr/>
        </p:nvGrpSpPr>
        <p:grpSpPr bwMode="auto">
          <a:xfrm>
            <a:off x="1815284" y="2250058"/>
            <a:ext cx="3092450" cy="1417637"/>
            <a:chOff x="256" y="1443"/>
            <a:chExt cx="1948" cy="893"/>
          </a:xfrm>
        </p:grpSpPr>
        <p:sp>
          <p:nvSpPr>
            <p:cNvPr id="260" name="Text Box 6">
              <a:extLst>
                <a:ext uri="{FF2B5EF4-FFF2-40B4-BE49-F238E27FC236}">
                  <a16:creationId xmlns:a16="http://schemas.microsoft.com/office/drawing/2014/main" id="{3A960207-651B-E74F-9A13-2415AC01B5D5}"/>
                </a:ext>
              </a:extLst>
            </p:cNvPr>
            <p:cNvSpPr txBox="1">
              <a:spLocks noChangeArrowheads="1"/>
            </p:cNvSpPr>
            <p:nvPr/>
          </p:nvSpPr>
          <p:spPr bwMode="auto">
            <a:xfrm>
              <a:off x="256" y="1885"/>
              <a:ext cx="1948"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TV transmitted at different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frequencies over </a:t>
              </a: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shared </a:t>
              </a: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distribution network</a:t>
              </a:r>
            </a:p>
          </p:txBody>
        </p:sp>
        <p:sp>
          <p:nvSpPr>
            <p:cNvPr id="261" name="Line 7">
              <a:extLst>
                <a:ext uri="{FF2B5EF4-FFF2-40B4-BE49-F238E27FC236}">
                  <a16:creationId xmlns:a16="http://schemas.microsoft.com/office/drawing/2014/main" id="{FBA0C571-DE6E-AB4E-B457-4EE79045B619}"/>
                </a:ext>
              </a:extLst>
            </p:cNvPr>
            <p:cNvSpPr>
              <a:spLocks noChangeShapeType="1"/>
            </p:cNvSpPr>
            <p:nvPr/>
          </p:nvSpPr>
          <p:spPr bwMode="auto">
            <a:xfrm flipV="1">
              <a:off x="1452" y="1443"/>
              <a:ext cx="282" cy="47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3" name="Rectangle 3">
            <a:extLst>
              <a:ext uri="{FF2B5EF4-FFF2-40B4-BE49-F238E27FC236}">
                <a16:creationId xmlns:a16="http://schemas.microsoft.com/office/drawing/2014/main" id="{65731DA2-5F5C-CE45-8C28-78D072DBA74A}"/>
              </a:ext>
            </a:extLst>
          </p:cNvPr>
          <p:cNvSpPr>
            <a:spLocks noChangeArrowheads="1"/>
          </p:cNvSpPr>
          <p:nvPr/>
        </p:nvSpPr>
        <p:spPr bwMode="auto">
          <a:xfrm>
            <a:off x="952500" y="4196551"/>
            <a:ext cx="11503627" cy="238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87338" marR="0" lvl="0" indent="-287338" algn="l" defTabSz="914400" rtl="0" eaLnBrk="1" fontAlgn="auto" latinLnBrk="0" hangingPunct="1">
              <a:lnSpc>
                <a:spcPct val="9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HFC: hybrid fiber coax</a:t>
            </a:r>
          </a:p>
          <a:p>
            <a:pPr marL="682625" marR="0" lvl="1" indent="-225425" algn="l" defTabSz="914400" rtl="0" eaLnBrk="1" fontAlgn="auto" latinLnBrk="0" hangingPunct="1">
              <a:lnSpc>
                <a:spcPct val="9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asymmetric: up to 40 Mbps – 1.2 </a:t>
            </a:r>
            <a:r>
              <a:rPr kumimoji="0" lang="en-US" sz="24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ＭＳ Ｐゴシック" charset="0"/>
              </a:rPr>
              <a:t>Gbs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downstream transmission rate, 30-100 Mbps upstream transmission rate</a:t>
            </a:r>
          </a:p>
          <a:p>
            <a:pPr marL="342900" marR="0" lvl="0" indent="-342900" algn="l" defTabSz="914400" rtl="0" eaLnBrk="1" fontAlgn="auto" latinLnBrk="0" hangingPunct="1">
              <a:lnSpc>
                <a:spcPct val="9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network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of cable, fiber attaches homes to ISP router</a:t>
            </a:r>
          </a:p>
          <a:p>
            <a:pPr marL="682625" marR="0" lvl="1" indent="-225425" algn="l" defTabSz="914400" rtl="0" eaLnBrk="1" fontAlgn="auto" latinLnBrk="0" hangingPunct="1">
              <a:lnSpc>
                <a:spcPct val="9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homes </a:t>
            </a:r>
            <a:r>
              <a:rPr kumimoji="0" lang="en-US" sz="24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share access network</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ＭＳ Ｐゴシック" charset="0"/>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to cable headend</a:t>
            </a:r>
          </a:p>
          <a:p>
            <a:pPr marL="682625" marR="0" lvl="1" indent="-225425" algn="l" defTabSz="914400" rtl="0" eaLnBrk="1" fontAlgn="auto" latinLnBrk="0" hangingPunct="1">
              <a:lnSpc>
                <a:spcPct val="95000"/>
              </a:lnSpc>
              <a:spcBef>
                <a:spcPct val="20000"/>
              </a:spcBef>
              <a:spcAft>
                <a:spcPts val="0"/>
              </a:spcAft>
              <a:buClr>
                <a:srgbClr val="000099"/>
              </a:buClr>
              <a:buSzTx/>
              <a:buFont typeface="Arial"/>
              <a:buChar char="•"/>
              <a:tabLst/>
              <a:defRPr/>
            </a:pPr>
            <a:r>
              <a:rPr lang="en-US" sz="2400" dirty="0">
                <a:solidFill>
                  <a:prstClr val="black"/>
                </a:solidFill>
                <a:latin typeface="Calibri" panose="020F0502020204030204"/>
                <a:ea typeface="ＭＳ Ｐゴシック" charset="0"/>
                <a:cs typeface="ＭＳ Ｐゴシック" charset="0"/>
              </a:rPr>
              <a:t>u</a:t>
            </a:r>
            <a:r>
              <a:rPr kumimoji="0" lang="en-US" sz="24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ＭＳ Ｐゴシック" charset="0"/>
              </a:rPr>
              <a:t>nlike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DSL, which has dedicated access to central office</a:t>
            </a:r>
          </a:p>
          <a:p>
            <a:pPr marL="742950" marR="0" lvl="1" indent="-285750" algn="l" defTabSz="914400" rtl="0" eaLnBrk="1" fontAlgn="auto" latinLnBrk="0" hangingPunct="1">
              <a:lnSpc>
                <a:spcPct val="85000"/>
              </a:lnSpc>
              <a:spcBef>
                <a:spcPct val="20000"/>
              </a:spcBef>
              <a:spcAft>
                <a:spcPts val="0"/>
              </a:spcAft>
              <a:buClr>
                <a:srgbClr val="000099"/>
              </a:buClr>
              <a:buSzTx/>
              <a:buFont typeface="Wingdings" charset="0"/>
              <a:buNone/>
              <a:tabLst/>
              <a:defRPr/>
            </a:pPr>
            <a:endParaRPr kumimoji="0" lang="en-US" sz="20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endParaRPr>
          </a:p>
        </p:txBody>
      </p:sp>
      <p:grpSp>
        <p:nvGrpSpPr>
          <p:cNvPr id="5" name="Group 4">
            <a:extLst>
              <a:ext uri="{FF2B5EF4-FFF2-40B4-BE49-F238E27FC236}">
                <a16:creationId xmlns:a16="http://schemas.microsoft.com/office/drawing/2014/main" id="{425B97A1-27C5-EC40-B34A-476FC38D829B}"/>
              </a:ext>
            </a:extLst>
          </p:cNvPr>
          <p:cNvGrpSpPr/>
          <p:nvPr/>
        </p:nvGrpSpPr>
        <p:grpSpPr>
          <a:xfrm>
            <a:off x="6634372" y="2229423"/>
            <a:ext cx="3584575" cy="1858963"/>
            <a:chOff x="6634372" y="2229423"/>
            <a:chExt cx="3584575" cy="1858963"/>
          </a:xfrm>
        </p:grpSpPr>
        <p:grpSp>
          <p:nvGrpSpPr>
            <p:cNvPr id="256" name="Group 175">
              <a:extLst>
                <a:ext uri="{FF2B5EF4-FFF2-40B4-BE49-F238E27FC236}">
                  <a16:creationId xmlns:a16="http://schemas.microsoft.com/office/drawing/2014/main" id="{C8649510-55E2-8E4D-980F-F2253D56B67B}"/>
                </a:ext>
              </a:extLst>
            </p:cNvPr>
            <p:cNvGrpSpPr>
              <a:grpSpLocks/>
            </p:cNvGrpSpPr>
            <p:nvPr/>
          </p:nvGrpSpPr>
          <p:grpSpPr bwMode="auto">
            <a:xfrm>
              <a:off x="7701172" y="2391348"/>
              <a:ext cx="2517775" cy="508000"/>
              <a:chOff x="3912" y="1484"/>
              <a:chExt cx="1586" cy="320"/>
            </a:xfrm>
          </p:grpSpPr>
          <p:sp>
            <p:nvSpPr>
              <p:cNvPr id="257" name="Line 176">
                <a:extLst>
                  <a:ext uri="{FF2B5EF4-FFF2-40B4-BE49-F238E27FC236}">
                    <a16:creationId xmlns:a16="http://schemas.microsoft.com/office/drawing/2014/main" id="{6C84205A-1EF0-9A40-9DC2-11FBC845B45C}"/>
                  </a:ext>
                </a:extLst>
              </p:cNvPr>
              <p:cNvSpPr>
                <a:spLocks noChangeShapeType="1"/>
              </p:cNvSpPr>
              <p:nvPr/>
            </p:nvSpPr>
            <p:spPr bwMode="auto">
              <a:xfrm flipH="1" flipV="1">
                <a:off x="3912" y="1497"/>
                <a:ext cx="711" cy="9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Text Box 177">
                <a:extLst>
                  <a:ext uri="{FF2B5EF4-FFF2-40B4-BE49-F238E27FC236}">
                    <a16:creationId xmlns:a16="http://schemas.microsoft.com/office/drawing/2014/main" id="{1FDC6261-0139-DC43-8EE8-F1CB71429659}"/>
                  </a:ext>
                </a:extLst>
              </p:cNvPr>
              <p:cNvSpPr txBox="1">
                <a:spLocks noChangeArrowheads="1"/>
              </p:cNvSpPr>
              <p:nvPr/>
            </p:nvSpPr>
            <p:spPr bwMode="auto">
              <a:xfrm>
                <a:off x="4307" y="1484"/>
                <a:ext cx="1191"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 modem</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termination system</a:t>
                </a:r>
              </a:p>
            </p:txBody>
          </p:sp>
        </p:grpSp>
        <p:sp>
          <p:nvSpPr>
            <p:cNvPr id="262" name="Text Box 126">
              <a:extLst>
                <a:ext uri="{FF2B5EF4-FFF2-40B4-BE49-F238E27FC236}">
                  <a16:creationId xmlns:a16="http://schemas.microsoft.com/office/drawing/2014/main" id="{87E3F100-F024-1944-A35D-301D8C8A7040}"/>
                </a:ext>
              </a:extLst>
            </p:cNvPr>
            <p:cNvSpPr txBox="1">
              <a:spLocks noChangeArrowheads="1"/>
            </p:cNvSpPr>
            <p:nvPr/>
          </p:nvSpPr>
          <p:spPr bwMode="auto">
            <a:xfrm>
              <a:off x="7086655" y="2478661"/>
              <a:ext cx="950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CMTS</a:t>
              </a:r>
            </a:p>
          </p:txBody>
        </p:sp>
        <p:sp>
          <p:nvSpPr>
            <p:cNvPr id="255" name="Freeform 174">
              <a:extLst>
                <a:ext uri="{FF2B5EF4-FFF2-40B4-BE49-F238E27FC236}">
                  <a16:creationId xmlns:a16="http://schemas.microsoft.com/office/drawing/2014/main" id="{77071BA4-7575-3044-9EDE-3484F273E281}"/>
                </a:ext>
              </a:extLst>
            </p:cNvPr>
            <p:cNvSpPr>
              <a:spLocks/>
            </p:cNvSpPr>
            <p:nvPr/>
          </p:nvSpPr>
          <p:spPr bwMode="auto">
            <a:xfrm>
              <a:off x="7742447" y="2229423"/>
              <a:ext cx="206375" cy="927100"/>
            </a:xfrm>
            <a:custGeom>
              <a:avLst/>
              <a:gdLst>
                <a:gd name="T0" fmla="*/ 0 w 130"/>
                <a:gd name="T1" fmla="*/ 0 h 584"/>
                <a:gd name="T2" fmla="*/ 2147483647 w 130"/>
                <a:gd name="T3" fmla="*/ 0 h 584"/>
                <a:gd name="T4" fmla="*/ 2147483647 w 130"/>
                <a:gd name="T5" fmla="*/ 2147483647 h 584"/>
                <a:gd name="T6" fmla="*/ 0 60000 65536"/>
                <a:gd name="T7" fmla="*/ 0 60000 65536"/>
                <a:gd name="T8" fmla="*/ 0 60000 65536"/>
                <a:gd name="T9" fmla="*/ 0 w 130"/>
                <a:gd name="T10" fmla="*/ 0 h 584"/>
                <a:gd name="T11" fmla="*/ 130 w 130"/>
                <a:gd name="T12" fmla="*/ 584 h 584"/>
              </a:gdLst>
              <a:ahLst/>
              <a:cxnLst>
                <a:cxn ang="T6">
                  <a:pos x="T0" y="T1"/>
                </a:cxn>
                <a:cxn ang="T7">
                  <a:pos x="T2" y="T3"/>
                </a:cxn>
                <a:cxn ang="T8">
                  <a:pos x="T4" y="T5"/>
                </a:cxn>
              </a:cxnLst>
              <a:rect l="T9" t="T10" r="T11" b="T12"/>
              <a:pathLst>
                <a:path w="130" h="584">
                  <a:moveTo>
                    <a:pt x="0" y="0"/>
                  </a:moveTo>
                  <a:lnTo>
                    <a:pt x="130" y="0"/>
                  </a:lnTo>
                  <a:lnTo>
                    <a:pt x="130" y="584"/>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501E124-3E58-B143-B400-8C1CA0410903}"/>
                </a:ext>
              </a:extLst>
            </p:cNvPr>
            <p:cNvGrpSpPr/>
            <p:nvPr/>
          </p:nvGrpSpPr>
          <p:grpSpPr>
            <a:xfrm>
              <a:off x="6634372" y="2940623"/>
              <a:ext cx="2178050" cy="1147763"/>
              <a:chOff x="6634372" y="2940623"/>
              <a:chExt cx="2178050" cy="1147763"/>
            </a:xfrm>
          </p:grpSpPr>
          <p:sp>
            <p:nvSpPr>
              <p:cNvPr id="210" name="Freeform 129">
                <a:extLst>
                  <a:ext uri="{FF2B5EF4-FFF2-40B4-BE49-F238E27FC236}">
                    <a16:creationId xmlns:a16="http://schemas.microsoft.com/office/drawing/2014/main" id="{2714FDDC-4D17-7B45-B269-20EEE62DAB72}"/>
                  </a:ext>
                </a:extLst>
              </p:cNvPr>
              <p:cNvSpPr>
                <a:spLocks/>
              </p:cNvSpPr>
              <p:nvPr/>
            </p:nvSpPr>
            <p:spPr bwMode="auto">
              <a:xfrm>
                <a:off x="6634372" y="2940623"/>
                <a:ext cx="2178050" cy="1147763"/>
              </a:xfrm>
              <a:custGeom>
                <a:avLst/>
                <a:gdLst>
                  <a:gd name="T0" fmla="*/ 1509012 w 765"/>
                  <a:gd name="T1" fmla="*/ 5729 h 459"/>
                  <a:gd name="T2" fmla="*/ 1027025 w 765"/>
                  <a:gd name="T3" fmla="*/ 40395 h 459"/>
                  <a:gd name="T4" fmla="*/ 340902 w 765"/>
                  <a:gd name="T5" fmla="*/ 58024 h 459"/>
                  <a:gd name="T6" fmla="*/ 49874 w 765"/>
                  <a:gd name="T7" fmla="*/ 194383 h 459"/>
                  <a:gd name="T8" fmla="*/ 640932 w 765"/>
                  <a:gd name="T9" fmla="*/ 256788 h 459"/>
                  <a:gd name="T10" fmla="*/ 1233656 w 765"/>
                  <a:gd name="T11" fmla="*/ 246677 h 459"/>
                  <a:gd name="T12" fmla="*/ 2079640 w 765"/>
                  <a:gd name="T13" fmla="*/ 256788 h 459"/>
                  <a:gd name="T14" fmla="*/ 2485867 w 765"/>
                  <a:gd name="T15" fmla="*/ 251149 h 459"/>
                  <a:gd name="T16" fmla="*/ 2678580 w 765"/>
                  <a:gd name="T17" fmla="*/ 215337 h 459"/>
                  <a:gd name="T18" fmla="*/ 2671282 w 765"/>
                  <a:gd name="T19" fmla="*/ 91397 h 459"/>
                  <a:gd name="T20" fmla="*/ 2357408 w 765"/>
                  <a:gd name="T21" fmla="*/ 19830 h 459"/>
                  <a:gd name="T22" fmla="*/ 1509012 w 765"/>
                  <a:gd name="T23" fmla="*/ 5729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5"/>
                  <a:gd name="T37" fmla="*/ 0 h 459"/>
                  <a:gd name="T38" fmla="*/ 765 w 765"/>
                  <a:gd name="T39" fmla="*/ 459 h 4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00CCFF"/>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Line 130">
                <a:extLst>
                  <a:ext uri="{FF2B5EF4-FFF2-40B4-BE49-F238E27FC236}">
                    <a16:creationId xmlns:a16="http://schemas.microsoft.com/office/drawing/2014/main" id="{97A8AF07-C5B4-6640-B645-1A49ED64702F}"/>
                  </a:ext>
                </a:extLst>
              </p:cNvPr>
              <p:cNvSpPr>
                <a:spLocks noChangeShapeType="1"/>
              </p:cNvSpPr>
              <p:nvPr/>
            </p:nvSpPr>
            <p:spPr bwMode="auto">
              <a:xfrm flipV="1">
                <a:off x="7464635" y="3294636"/>
                <a:ext cx="168275" cy="120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 name="Line 131">
                <a:extLst>
                  <a:ext uri="{FF2B5EF4-FFF2-40B4-BE49-F238E27FC236}">
                    <a16:creationId xmlns:a16="http://schemas.microsoft.com/office/drawing/2014/main" id="{A1E962AC-8FDB-1E4E-BD0F-904307702696}"/>
                  </a:ext>
                </a:extLst>
              </p:cNvPr>
              <p:cNvSpPr>
                <a:spLocks noChangeShapeType="1"/>
              </p:cNvSpPr>
              <p:nvPr/>
            </p:nvSpPr>
            <p:spPr bwMode="auto">
              <a:xfrm>
                <a:off x="7231272" y="3534348"/>
                <a:ext cx="0" cy="1143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 name="Line 132">
                <a:extLst>
                  <a:ext uri="{FF2B5EF4-FFF2-40B4-BE49-F238E27FC236}">
                    <a16:creationId xmlns:a16="http://schemas.microsoft.com/office/drawing/2014/main" id="{4122262E-A7B6-7449-AB95-3FC64C5C2DF3}"/>
                  </a:ext>
                </a:extLst>
              </p:cNvPr>
              <p:cNvSpPr>
                <a:spLocks noChangeShapeType="1"/>
              </p:cNvSpPr>
              <p:nvPr/>
            </p:nvSpPr>
            <p:spPr bwMode="auto">
              <a:xfrm flipV="1">
                <a:off x="7464635" y="3391473"/>
                <a:ext cx="358775" cy="400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Line 133">
                <a:extLst>
                  <a:ext uri="{FF2B5EF4-FFF2-40B4-BE49-F238E27FC236}">
                    <a16:creationId xmlns:a16="http://schemas.microsoft.com/office/drawing/2014/main" id="{7B0F03F2-5671-944D-B9F4-87F926A07AEE}"/>
                  </a:ext>
                </a:extLst>
              </p:cNvPr>
              <p:cNvSpPr>
                <a:spLocks noChangeShapeType="1"/>
              </p:cNvSpPr>
              <p:nvPr/>
            </p:nvSpPr>
            <p:spPr bwMode="auto">
              <a:xfrm>
                <a:off x="7961522" y="3389886"/>
                <a:ext cx="0" cy="271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Line 134">
                <a:extLst>
                  <a:ext uri="{FF2B5EF4-FFF2-40B4-BE49-F238E27FC236}">
                    <a16:creationId xmlns:a16="http://schemas.microsoft.com/office/drawing/2014/main" id="{F0BA2E1D-EA0D-D24C-9CC5-8122F354D0CC}"/>
                  </a:ext>
                </a:extLst>
              </p:cNvPr>
              <p:cNvSpPr>
                <a:spLocks noChangeShapeType="1"/>
              </p:cNvSpPr>
              <p:nvPr/>
            </p:nvSpPr>
            <p:spPr bwMode="auto">
              <a:xfrm>
                <a:off x="7490035" y="3813748"/>
                <a:ext cx="25717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Line 135">
                <a:extLst>
                  <a:ext uri="{FF2B5EF4-FFF2-40B4-BE49-F238E27FC236}">
                    <a16:creationId xmlns:a16="http://schemas.microsoft.com/office/drawing/2014/main" id="{41C88D92-E893-3547-A895-EE2536756658}"/>
                  </a:ext>
                </a:extLst>
              </p:cNvPr>
              <p:cNvSpPr>
                <a:spLocks noChangeShapeType="1"/>
              </p:cNvSpPr>
              <p:nvPr/>
            </p:nvSpPr>
            <p:spPr bwMode="auto">
              <a:xfrm>
                <a:off x="8245685" y="3801048"/>
                <a:ext cx="241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Line 172">
                <a:extLst>
                  <a:ext uri="{FF2B5EF4-FFF2-40B4-BE49-F238E27FC236}">
                    <a16:creationId xmlns:a16="http://schemas.microsoft.com/office/drawing/2014/main" id="{1921FCA0-8355-3148-9A13-062F091A4073}"/>
                  </a:ext>
                </a:extLst>
              </p:cNvPr>
              <p:cNvSpPr>
                <a:spLocks noChangeShapeType="1"/>
              </p:cNvSpPr>
              <p:nvPr/>
            </p:nvSpPr>
            <p:spPr bwMode="auto">
              <a:xfrm>
                <a:off x="8510797" y="3797873"/>
                <a:ext cx="242888" cy="0"/>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Text Box 580">
                <a:extLst>
                  <a:ext uri="{FF2B5EF4-FFF2-40B4-BE49-F238E27FC236}">
                    <a16:creationId xmlns:a16="http://schemas.microsoft.com/office/drawing/2014/main" id="{4A3D00CF-E661-5640-9D56-DEC692C4B7F1}"/>
                  </a:ext>
                </a:extLst>
              </p:cNvPr>
              <p:cNvSpPr txBox="1">
                <a:spLocks noChangeArrowheads="1"/>
              </p:cNvSpPr>
              <p:nvPr/>
            </p:nvSpPr>
            <p:spPr bwMode="auto">
              <a:xfrm>
                <a:off x="8207585" y="3191448"/>
                <a:ext cx="55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ISP</a:t>
                </a:r>
              </a:p>
            </p:txBody>
          </p:sp>
          <p:grpSp>
            <p:nvGrpSpPr>
              <p:cNvPr id="302" name="Group 301">
                <a:extLst>
                  <a:ext uri="{FF2B5EF4-FFF2-40B4-BE49-F238E27FC236}">
                    <a16:creationId xmlns:a16="http://schemas.microsoft.com/office/drawing/2014/main" id="{E50386C4-B069-4C43-8CFF-1CE6BF8E6F35}"/>
                  </a:ext>
                </a:extLst>
              </p:cNvPr>
              <p:cNvGrpSpPr/>
              <p:nvPr/>
            </p:nvGrpSpPr>
            <p:grpSpPr>
              <a:xfrm>
                <a:off x="6972551" y="3193191"/>
                <a:ext cx="576221" cy="330754"/>
                <a:chOff x="7493876" y="2774731"/>
                <a:chExt cx="1481958" cy="894622"/>
              </a:xfrm>
            </p:grpSpPr>
            <p:sp>
              <p:nvSpPr>
                <p:cNvPr id="303" name="Freeform 302">
                  <a:extLst>
                    <a:ext uri="{FF2B5EF4-FFF2-40B4-BE49-F238E27FC236}">
                      <a16:creationId xmlns:a16="http://schemas.microsoft.com/office/drawing/2014/main" id="{F6B400F7-8176-5D4D-B79C-399B665727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4" name="Oval 303">
                  <a:extLst>
                    <a:ext uri="{FF2B5EF4-FFF2-40B4-BE49-F238E27FC236}">
                      <a16:creationId xmlns:a16="http://schemas.microsoft.com/office/drawing/2014/main" id="{D5DD275D-1BBB-DC48-ABA5-EBF01DD85CC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5" name="Group 304">
                  <a:extLst>
                    <a:ext uri="{FF2B5EF4-FFF2-40B4-BE49-F238E27FC236}">
                      <a16:creationId xmlns:a16="http://schemas.microsoft.com/office/drawing/2014/main" id="{2C35B1C2-ED05-8144-83A6-62211C766560}"/>
                    </a:ext>
                  </a:extLst>
                </p:cNvPr>
                <p:cNvGrpSpPr/>
                <p:nvPr/>
              </p:nvGrpSpPr>
              <p:grpSpPr>
                <a:xfrm>
                  <a:off x="7713663" y="2848339"/>
                  <a:ext cx="1042107" cy="425543"/>
                  <a:chOff x="7786941" y="2884917"/>
                  <a:chExt cx="897649" cy="353919"/>
                </a:xfrm>
              </p:grpSpPr>
              <p:sp>
                <p:nvSpPr>
                  <p:cNvPr id="306" name="Freeform 305">
                    <a:extLst>
                      <a:ext uri="{FF2B5EF4-FFF2-40B4-BE49-F238E27FC236}">
                        <a16:creationId xmlns:a16="http://schemas.microsoft.com/office/drawing/2014/main" id="{1AC0CB26-40B8-B844-97B1-817204D299A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7" name="Freeform 306">
                    <a:extLst>
                      <a:ext uri="{FF2B5EF4-FFF2-40B4-BE49-F238E27FC236}">
                        <a16:creationId xmlns:a16="http://schemas.microsoft.com/office/drawing/2014/main" id="{3E664694-5EEC-A641-9FCB-53282AB2F2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EDC3EEFD-A60B-B649-AC31-2A974A7A0A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A78726D5-64F7-814F-A0A5-F2F99379191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0" name="Group 309">
                <a:extLst>
                  <a:ext uri="{FF2B5EF4-FFF2-40B4-BE49-F238E27FC236}">
                    <a16:creationId xmlns:a16="http://schemas.microsoft.com/office/drawing/2014/main" id="{963510FF-BFE8-0848-A3AB-5E8FB082C76A}"/>
                  </a:ext>
                </a:extLst>
              </p:cNvPr>
              <p:cNvGrpSpPr/>
              <p:nvPr/>
            </p:nvGrpSpPr>
            <p:grpSpPr>
              <a:xfrm>
                <a:off x="6955883" y="3598924"/>
                <a:ext cx="576221" cy="330754"/>
                <a:chOff x="7493876" y="2774731"/>
                <a:chExt cx="1481958" cy="894622"/>
              </a:xfrm>
            </p:grpSpPr>
            <p:sp>
              <p:nvSpPr>
                <p:cNvPr id="311" name="Freeform 310">
                  <a:extLst>
                    <a:ext uri="{FF2B5EF4-FFF2-40B4-BE49-F238E27FC236}">
                      <a16:creationId xmlns:a16="http://schemas.microsoft.com/office/drawing/2014/main" id="{C4A019C5-7F53-6647-B1F8-36A9E7850A4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2" name="Oval 311">
                  <a:extLst>
                    <a:ext uri="{FF2B5EF4-FFF2-40B4-BE49-F238E27FC236}">
                      <a16:creationId xmlns:a16="http://schemas.microsoft.com/office/drawing/2014/main" id="{7A90237A-6248-3A4D-8783-2E7C66E68FD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3" name="Group 312">
                  <a:extLst>
                    <a:ext uri="{FF2B5EF4-FFF2-40B4-BE49-F238E27FC236}">
                      <a16:creationId xmlns:a16="http://schemas.microsoft.com/office/drawing/2014/main" id="{0DD0128B-ECE6-4643-A683-4B4324D7E55E}"/>
                    </a:ext>
                  </a:extLst>
                </p:cNvPr>
                <p:cNvGrpSpPr/>
                <p:nvPr/>
              </p:nvGrpSpPr>
              <p:grpSpPr>
                <a:xfrm>
                  <a:off x="7713663" y="2848339"/>
                  <a:ext cx="1042107" cy="425543"/>
                  <a:chOff x="7786941" y="2884917"/>
                  <a:chExt cx="897649" cy="353919"/>
                </a:xfrm>
              </p:grpSpPr>
              <p:sp>
                <p:nvSpPr>
                  <p:cNvPr id="314" name="Freeform 313">
                    <a:extLst>
                      <a:ext uri="{FF2B5EF4-FFF2-40B4-BE49-F238E27FC236}">
                        <a16:creationId xmlns:a16="http://schemas.microsoft.com/office/drawing/2014/main" id="{B5ACBA40-6C98-4D43-AC27-C08351AB55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5" name="Freeform 314">
                    <a:extLst>
                      <a:ext uri="{FF2B5EF4-FFF2-40B4-BE49-F238E27FC236}">
                        <a16:creationId xmlns:a16="http://schemas.microsoft.com/office/drawing/2014/main" id="{96A02CCB-7BC0-0145-AD57-FC0B4CCE657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48E39E91-1D0A-B04A-93B2-0FAE0974568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F00BA411-4D8F-BF47-92F5-D890F7041A7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8" name="Group 317">
                <a:extLst>
                  <a:ext uri="{FF2B5EF4-FFF2-40B4-BE49-F238E27FC236}">
                    <a16:creationId xmlns:a16="http://schemas.microsoft.com/office/drawing/2014/main" id="{51F28CFC-CA6F-D84F-8E80-C98627F34B62}"/>
                  </a:ext>
                </a:extLst>
              </p:cNvPr>
              <p:cNvGrpSpPr/>
              <p:nvPr/>
            </p:nvGrpSpPr>
            <p:grpSpPr>
              <a:xfrm>
                <a:off x="7720114" y="3593282"/>
                <a:ext cx="576221" cy="330754"/>
                <a:chOff x="7493876" y="2774731"/>
                <a:chExt cx="1481958" cy="894622"/>
              </a:xfrm>
            </p:grpSpPr>
            <p:sp>
              <p:nvSpPr>
                <p:cNvPr id="319" name="Freeform 318">
                  <a:extLst>
                    <a:ext uri="{FF2B5EF4-FFF2-40B4-BE49-F238E27FC236}">
                      <a16:creationId xmlns:a16="http://schemas.microsoft.com/office/drawing/2014/main" id="{6F4A5F65-E4F1-0C40-AC07-38C042A8D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0" name="Oval 319">
                  <a:extLst>
                    <a:ext uri="{FF2B5EF4-FFF2-40B4-BE49-F238E27FC236}">
                      <a16:creationId xmlns:a16="http://schemas.microsoft.com/office/drawing/2014/main" id="{7960C155-64DA-4F42-8B5E-08FF5CB27C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1" name="Group 320">
                  <a:extLst>
                    <a:ext uri="{FF2B5EF4-FFF2-40B4-BE49-F238E27FC236}">
                      <a16:creationId xmlns:a16="http://schemas.microsoft.com/office/drawing/2014/main" id="{E00DB61B-002E-9047-BCB1-D94BB8FBCC8E}"/>
                    </a:ext>
                  </a:extLst>
                </p:cNvPr>
                <p:cNvGrpSpPr/>
                <p:nvPr/>
              </p:nvGrpSpPr>
              <p:grpSpPr>
                <a:xfrm>
                  <a:off x="7713663" y="2848339"/>
                  <a:ext cx="1042107" cy="425543"/>
                  <a:chOff x="7786941" y="2884917"/>
                  <a:chExt cx="897649" cy="353919"/>
                </a:xfrm>
              </p:grpSpPr>
              <p:sp>
                <p:nvSpPr>
                  <p:cNvPr id="322" name="Freeform 321">
                    <a:extLst>
                      <a:ext uri="{FF2B5EF4-FFF2-40B4-BE49-F238E27FC236}">
                        <a16:creationId xmlns:a16="http://schemas.microsoft.com/office/drawing/2014/main" id="{0A8FAC80-D4F8-604B-8B67-49E82742418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7285BE00-18E3-A048-B7ED-22DCE0CFD13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78129E4B-CB99-694A-A77B-2E22814F235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B0BDF800-7AEE-A94F-BECE-219E0320E3B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7" name="Group 266">
                <a:extLst>
                  <a:ext uri="{FF2B5EF4-FFF2-40B4-BE49-F238E27FC236}">
                    <a16:creationId xmlns:a16="http://schemas.microsoft.com/office/drawing/2014/main" id="{736946C1-1E2F-DF4A-9F00-C263EE5AE234}"/>
                  </a:ext>
                </a:extLst>
              </p:cNvPr>
              <p:cNvGrpSpPr/>
              <p:nvPr/>
            </p:nvGrpSpPr>
            <p:grpSpPr>
              <a:xfrm>
                <a:off x="7618622" y="3082478"/>
                <a:ext cx="576221" cy="330754"/>
                <a:chOff x="7493876" y="2774731"/>
                <a:chExt cx="1481958" cy="894622"/>
              </a:xfrm>
            </p:grpSpPr>
            <p:sp>
              <p:nvSpPr>
                <p:cNvPr id="276" name="Freeform 275">
                  <a:extLst>
                    <a:ext uri="{FF2B5EF4-FFF2-40B4-BE49-F238E27FC236}">
                      <a16:creationId xmlns:a16="http://schemas.microsoft.com/office/drawing/2014/main" id="{148A40A3-9A45-F842-B673-319FA17C4C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7" name="Oval 276">
                  <a:extLst>
                    <a:ext uri="{FF2B5EF4-FFF2-40B4-BE49-F238E27FC236}">
                      <a16:creationId xmlns:a16="http://schemas.microsoft.com/office/drawing/2014/main" id="{FA99FC29-A9F6-1D4A-BFA4-3ACEB5227B5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8" name="Group 277">
                  <a:extLst>
                    <a:ext uri="{FF2B5EF4-FFF2-40B4-BE49-F238E27FC236}">
                      <a16:creationId xmlns:a16="http://schemas.microsoft.com/office/drawing/2014/main" id="{3184AD4E-CBF9-304F-B87E-D3672E024874}"/>
                    </a:ext>
                  </a:extLst>
                </p:cNvPr>
                <p:cNvGrpSpPr/>
                <p:nvPr/>
              </p:nvGrpSpPr>
              <p:grpSpPr>
                <a:xfrm>
                  <a:off x="7713663" y="2848339"/>
                  <a:ext cx="1042107" cy="425543"/>
                  <a:chOff x="7786941" y="2884917"/>
                  <a:chExt cx="897649" cy="353919"/>
                </a:xfrm>
              </p:grpSpPr>
              <p:sp>
                <p:nvSpPr>
                  <p:cNvPr id="279" name="Freeform 278">
                    <a:extLst>
                      <a:ext uri="{FF2B5EF4-FFF2-40B4-BE49-F238E27FC236}">
                        <a16:creationId xmlns:a16="http://schemas.microsoft.com/office/drawing/2014/main" id="{1E7C4115-9DB9-B742-ADA0-538B15DFC1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CE335472-B8B5-6B49-A72F-A564CB566AC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15F1BD6F-0F3C-FC44-8552-C4E10F60DAC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BD5BA84-60F4-B943-9657-3E980A6686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spTree>
    <p:extLst>
      <p:ext uri="{BB962C8B-B14F-4D97-AF65-F5344CB8AC3E}">
        <p14:creationId xmlns:p14="http://schemas.microsoft.com/office/powerpoint/2010/main" val="206777787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Access networks: cable-based access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Rectangle 60">
            <a:extLst>
              <a:ext uri="{FF2B5EF4-FFF2-40B4-BE49-F238E27FC236}">
                <a16:creationId xmlns:a16="http://schemas.microsoft.com/office/drawing/2014/main" id="{55C1251C-79AE-8E45-A29D-D20BC725A961}"/>
              </a:ext>
            </a:extLst>
          </p:cNvPr>
          <p:cNvSpPr>
            <a:spLocks noChangeArrowheads="1"/>
          </p:cNvSpPr>
          <p:nvPr/>
        </p:nvSpPr>
        <p:spPr bwMode="auto">
          <a:xfrm>
            <a:off x="2097142" y="1686498"/>
            <a:ext cx="1793875" cy="92551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2" name="Line 7">
            <a:extLst>
              <a:ext uri="{FF2B5EF4-FFF2-40B4-BE49-F238E27FC236}">
                <a16:creationId xmlns:a16="http://schemas.microsoft.com/office/drawing/2014/main" id="{29D57EF7-9FD7-8E4C-8851-986BAF26F81A}"/>
              </a:ext>
            </a:extLst>
          </p:cNvPr>
          <p:cNvSpPr>
            <a:spLocks noChangeShapeType="1"/>
          </p:cNvSpPr>
          <p:nvPr/>
        </p:nvSpPr>
        <p:spPr bwMode="auto">
          <a:xfrm flipV="1">
            <a:off x="2398767" y="2237361"/>
            <a:ext cx="3651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Text Box 39">
            <a:extLst>
              <a:ext uri="{FF2B5EF4-FFF2-40B4-BE49-F238E27FC236}">
                <a16:creationId xmlns:a16="http://schemas.microsoft.com/office/drawing/2014/main" id="{E2260115-6B62-6442-BFA6-A406A51902CD}"/>
              </a:ext>
            </a:extLst>
          </p:cNvPr>
          <p:cNvSpPr txBox="1">
            <a:spLocks noChangeArrowheads="1"/>
          </p:cNvSpPr>
          <p:nvPr/>
        </p:nvSpPr>
        <p:spPr bwMode="auto">
          <a:xfrm>
            <a:off x="2560692" y="2388173"/>
            <a:ext cx="774700"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cable</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modem</a:t>
            </a:r>
          </a:p>
        </p:txBody>
      </p:sp>
      <p:sp>
        <p:nvSpPr>
          <p:cNvPr id="631" name="Text Box 41">
            <a:extLst>
              <a:ext uri="{FF2B5EF4-FFF2-40B4-BE49-F238E27FC236}">
                <a16:creationId xmlns:a16="http://schemas.microsoft.com/office/drawing/2014/main" id="{B16AC43B-CDE4-3943-992B-D7039B5F9CA3}"/>
              </a:ext>
            </a:extLst>
          </p:cNvPr>
          <p:cNvSpPr txBox="1">
            <a:spLocks noChangeArrowheads="1"/>
          </p:cNvSpPr>
          <p:nvPr/>
        </p:nvSpPr>
        <p:spPr bwMode="auto">
          <a:xfrm>
            <a:off x="3227442" y="2389761"/>
            <a:ext cx="706438"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splitter</a:t>
            </a:r>
          </a:p>
        </p:txBody>
      </p:sp>
      <p:grpSp>
        <p:nvGrpSpPr>
          <p:cNvPr id="632" name="Group 64">
            <a:extLst>
              <a:ext uri="{FF2B5EF4-FFF2-40B4-BE49-F238E27FC236}">
                <a16:creationId xmlns:a16="http://schemas.microsoft.com/office/drawing/2014/main" id="{59FF6125-68C3-404F-958E-E497C5054413}"/>
              </a:ext>
            </a:extLst>
          </p:cNvPr>
          <p:cNvGrpSpPr>
            <a:grpSpLocks/>
          </p:cNvGrpSpPr>
          <p:nvPr/>
        </p:nvGrpSpPr>
        <p:grpSpPr bwMode="auto">
          <a:xfrm>
            <a:off x="2744842" y="2113536"/>
            <a:ext cx="614363" cy="220662"/>
            <a:chOff x="322" y="890"/>
            <a:chExt cx="872" cy="339"/>
          </a:xfrm>
        </p:grpSpPr>
        <p:sp>
          <p:nvSpPr>
            <p:cNvPr id="634" name="Rectangle 65">
              <a:extLst>
                <a:ext uri="{FF2B5EF4-FFF2-40B4-BE49-F238E27FC236}">
                  <a16:creationId xmlns:a16="http://schemas.microsoft.com/office/drawing/2014/main" id="{A04303C8-C01F-8E4D-8DD9-97A6F17FB683}"/>
                </a:ext>
              </a:extLst>
            </p:cNvPr>
            <p:cNvSpPr>
              <a:spLocks noChangeArrowheads="1"/>
            </p:cNvSpPr>
            <p:nvPr/>
          </p:nvSpPr>
          <p:spPr bwMode="auto">
            <a:xfrm>
              <a:off x="322" y="1005"/>
              <a:ext cx="872" cy="224"/>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3" name="Rectangle 66">
              <a:extLst>
                <a:ext uri="{FF2B5EF4-FFF2-40B4-BE49-F238E27FC236}">
                  <a16:creationId xmlns:a16="http://schemas.microsoft.com/office/drawing/2014/main" id="{F4E92BE5-6E50-3A42-86C7-AE2B0766F22A}"/>
                </a:ext>
              </a:extLst>
            </p:cNvPr>
            <p:cNvSpPr>
              <a:spLocks noChangeArrowheads="1"/>
            </p:cNvSpPr>
            <p:nvPr/>
          </p:nvSpPr>
          <p:spPr bwMode="auto">
            <a:xfrm>
              <a:off x="394" y="1073"/>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67">
              <a:extLst>
                <a:ext uri="{FF2B5EF4-FFF2-40B4-BE49-F238E27FC236}">
                  <a16:creationId xmlns:a16="http://schemas.microsoft.com/office/drawing/2014/main" id="{48B16CFE-F93D-134C-AA5B-0DEC4F393771}"/>
                </a:ext>
              </a:extLst>
            </p:cNvPr>
            <p:cNvSpPr>
              <a:spLocks noChangeArrowheads="1"/>
            </p:cNvSpPr>
            <p:nvPr/>
          </p:nvSpPr>
          <p:spPr bwMode="auto">
            <a:xfrm>
              <a:off x="466" y="1073"/>
              <a:ext cx="56"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68">
              <a:extLst>
                <a:ext uri="{FF2B5EF4-FFF2-40B4-BE49-F238E27FC236}">
                  <a16:creationId xmlns:a16="http://schemas.microsoft.com/office/drawing/2014/main" id="{26BB4A5D-5EA1-3D45-BD71-6DC59C9203DF}"/>
                </a:ext>
              </a:extLst>
            </p:cNvPr>
            <p:cNvSpPr>
              <a:spLocks noChangeArrowheads="1"/>
            </p:cNvSpPr>
            <p:nvPr/>
          </p:nvSpPr>
          <p:spPr bwMode="auto">
            <a:xfrm>
              <a:off x="541"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Rectangle 69">
              <a:extLst>
                <a:ext uri="{FF2B5EF4-FFF2-40B4-BE49-F238E27FC236}">
                  <a16:creationId xmlns:a16="http://schemas.microsoft.com/office/drawing/2014/main" id="{85A45FB4-6297-2C4A-9FCA-EC5650EC0E45}"/>
                </a:ext>
              </a:extLst>
            </p:cNvPr>
            <p:cNvSpPr>
              <a:spLocks noChangeArrowheads="1"/>
            </p:cNvSpPr>
            <p:nvPr/>
          </p:nvSpPr>
          <p:spPr bwMode="auto">
            <a:xfrm>
              <a:off x="615"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AutoShape 70">
              <a:extLst>
                <a:ext uri="{FF2B5EF4-FFF2-40B4-BE49-F238E27FC236}">
                  <a16:creationId xmlns:a16="http://schemas.microsoft.com/office/drawing/2014/main" id="{28F48A32-80A3-EA4F-9C35-F6F37E1D52D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8" name="AutoShape 72">
            <a:extLst>
              <a:ext uri="{FF2B5EF4-FFF2-40B4-BE49-F238E27FC236}">
                <a16:creationId xmlns:a16="http://schemas.microsoft.com/office/drawing/2014/main" id="{00521831-0ED5-1349-A47C-654339E42A5E}"/>
              </a:ext>
            </a:extLst>
          </p:cNvPr>
          <p:cNvSpPr>
            <a:spLocks noChangeArrowheads="1"/>
          </p:cNvSpPr>
          <p:nvPr/>
        </p:nvSpPr>
        <p:spPr bwMode="auto">
          <a:xfrm>
            <a:off x="1859017" y="1275336"/>
            <a:ext cx="2268538" cy="468312"/>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9" name="Rectangle 73">
            <a:extLst>
              <a:ext uri="{FF2B5EF4-FFF2-40B4-BE49-F238E27FC236}">
                <a16:creationId xmlns:a16="http://schemas.microsoft.com/office/drawing/2014/main" id="{FD3FC836-7E87-9B4B-B95B-3BA0FE84BF70}"/>
              </a:ext>
            </a:extLst>
          </p:cNvPr>
          <p:cNvSpPr>
            <a:spLocks noChangeArrowheads="1"/>
          </p:cNvSpPr>
          <p:nvPr/>
        </p:nvSpPr>
        <p:spPr bwMode="auto">
          <a:xfrm>
            <a:off x="3475092" y="2175448"/>
            <a:ext cx="166688" cy="144463"/>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0" name="Freeform 74">
            <a:extLst>
              <a:ext uri="{FF2B5EF4-FFF2-40B4-BE49-F238E27FC236}">
                <a16:creationId xmlns:a16="http://schemas.microsoft.com/office/drawing/2014/main" id="{02BC4B2D-D64A-8743-BADC-E5942116F402}"/>
              </a:ext>
            </a:extLst>
          </p:cNvPr>
          <p:cNvSpPr>
            <a:spLocks/>
          </p:cNvSpPr>
          <p:nvPr/>
        </p:nvSpPr>
        <p:spPr bwMode="auto">
          <a:xfrm>
            <a:off x="3084567" y="1730948"/>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 name="Line 95">
            <a:extLst>
              <a:ext uri="{FF2B5EF4-FFF2-40B4-BE49-F238E27FC236}">
                <a16:creationId xmlns:a16="http://schemas.microsoft.com/office/drawing/2014/main" id="{92E8BA01-B757-A445-BCC4-2A21C55AFB06}"/>
              </a:ext>
            </a:extLst>
          </p:cNvPr>
          <p:cNvSpPr>
            <a:spLocks noChangeShapeType="1"/>
          </p:cNvSpPr>
          <p:nvPr/>
        </p:nvSpPr>
        <p:spPr bwMode="auto">
          <a:xfrm flipH="1">
            <a:off x="3383017" y="2237361"/>
            <a:ext cx="2397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52" name="Picture 96" descr="tv">
            <a:extLst>
              <a:ext uri="{FF2B5EF4-FFF2-40B4-BE49-F238E27FC236}">
                <a16:creationId xmlns:a16="http://schemas.microsoft.com/office/drawing/2014/main" id="{06B7565B-0476-B44C-9A6B-CF79DB7BFD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67" y="1391223"/>
            <a:ext cx="755650"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54" name="Group 117">
            <a:extLst>
              <a:ext uri="{FF2B5EF4-FFF2-40B4-BE49-F238E27FC236}">
                <a16:creationId xmlns:a16="http://schemas.microsoft.com/office/drawing/2014/main" id="{5F9A759B-4E1F-9A42-88D3-95E2D1ADE5D5}"/>
              </a:ext>
            </a:extLst>
          </p:cNvPr>
          <p:cNvGrpSpPr>
            <a:grpSpLocks/>
          </p:cNvGrpSpPr>
          <p:nvPr/>
        </p:nvGrpSpPr>
        <p:grpSpPr bwMode="auto">
          <a:xfrm>
            <a:off x="4116442" y="1505523"/>
            <a:ext cx="850900" cy="527050"/>
            <a:chOff x="-490" y="1664"/>
            <a:chExt cx="1429" cy="842"/>
          </a:xfrm>
        </p:grpSpPr>
        <p:sp>
          <p:nvSpPr>
            <p:cNvPr id="656" name="AutoShape 111">
              <a:extLst>
                <a:ext uri="{FF2B5EF4-FFF2-40B4-BE49-F238E27FC236}">
                  <a16:creationId xmlns:a16="http://schemas.microsoft.com/office/drawing/2014/main" id="{A37F5E29-F1C8-BD4E-B673-F4A5E1378B0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59" name="Group 116">
              <a:extLst>
                <a:ext uri="{FF2B5EF4-FFF2-40B4-BE49-F238E27FC236}">
                  <a16:creationId xmlns:a16="http://schemas.microsoft.com/office/drawing/2014/main" id="{2DA152DF-FEA3-294D-B52C-2222A7727E66}"/>
                </a:ext>
              </a:extLst>
            </p:cNvPr>
            <p:cNvGrpSpPr>
              <a:grpSpLocks/>
            </p:cNvGrpSpPr>
            <p:nvPr/>
          </p:nvGrpSpPr>
          <p:grpSpPr bwMode="auto">
            <a:xfrm>
              <a:off x="-427" y="1737"/>
              <a:ext cx="1217" cy="769"/>
              <a:chOff x="-427" y="1737"/>
              <a:chExt cx="1217" cy="769"/>
            </a:xfrm>
          </p:grpSpPr>
          <p:sp>
            <p:nvSpPr>
              <p:cNvPr id="660" name="Rectangle 99">
                <a:extLst>
                  <a:ext uri="{FF2B5EF4-FFF2-40B4-BE49-F238E27FC236}">
                    <a16:creationId xmlns:a16="http://schemas.microsoft.com/office/drawing/2014/main" id="{FEF82E20-9540-FA47-B132-B655B1AF0A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1" name="Line 7">
                <a:extLst>
                  <a:ext uri="{FF2B5EF4-FFF2-40B4-BE49-F238E27FC236}">
                    <a16:creationId xmlns:a16="http://schemas.microsoft.com/office/drawing/2014/main" id="{B4ECB5F0-AD7E-C54C-BBB3-5E4CD32BA91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2" name="Group 103">
                <a:extLst>
                  <a:ext uri="{FF2B5EF4-FFF2-40B4-BE49-F238E27FC236}">
                    <a16:creationId xmlns:a16="http://schemas.microsoft.com/office/drawing/2014/main" id="{BB9980BD-7F9B-A245-B8F6-E05A608C9B84}"/>
                  </a:ext>
                </a:extLst>
              </p:cNvPr>
              <p:cNvGrpSpPr>
                <a:grpSpLocks/>
              </p:cNvGrpSpPr>
              <p:nvPr/>
            </p:nvGrpSpPr>
            <p:grpSpPr bwMode="auto">
              <a:xfrm>
                <a:off x="68" y="2192"/>
                <a:ext cx="387" cy="139"/>
                <a:chOff x="322" y="890"/>
                <a:chExt cx="872" cy="339"/>
              </a:xfrm>
            </p:grpSpPr>
            <p:sp>
              <p:nvSpPr>
                <p:cNvPr id="668" name="Rectangle 104">
                  <a:extLst>
                    <a:ext uri="{FF2B5EF4-FFF2-40B4-BE49-F238E27FC236}">
                      <a16:creationId xmlns:a16="http://schemas.microsoft.com/office/drawing/2014/main" id="{CB801CDD-878F-264A-B04B-22F90AFEA560}"/>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9" name="Rectangle 105">
                  <a:extLst>
                    <a:ext uri="{FF2B5EF4-FFF2-40B4-BE49-F238E27FC236}">
                      <a16:creationId xmlns:a16="http://schemas.microsoft.com/office/drawing/2014/main" id="{40EF4DE4-AB89-BF47-BE95-0FE3143D693A}"/>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0" name="Rectangle 106">
                  <a:extLst>
                    <a:ext uri="{FF2B5EF4-FFF2-40B4-BE49-F238E27FC236}">
                      <a16:creationId xmlns:a16="http://schemas.microsoft.com/office/drawing/2014/main" id="{8A2E685A-F21F-A044-A292-443868825A0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1" name="Rectangle 107">
                  <a:extLst>
                    <a:ext uri="{FF2B5EF4-FFF2-40B4-BE49-F238E27FC236}">
                      <a16:creationId xmlns:a16="http://schemas.microsoft.com/office/drawing/2014/main" id="{9CEDA3B1-67D8-8140-8400-1801AD93A458}"/>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2" name="Rectangle 108">
                  <a:extLst>
                    <a:ext uri="{FF2B5EF4-FFF2-40B4-BE49-F238E27FC236}">
                      <a16:creationId xmlns:a16="http://schemas.microsoft.com/office/drawing/2014/main" id="{3E0A215B-99C5-3A45-923B-3E1FCFA96F7E}"/>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3" name="AutoShape 109">
                  <a:extLst>
                    <a:ext uri="{FF2B5EF4-FFF2-40B4-BE49-F238E27FC236}">
                      <a16:creationId xmlns:a16="http://schemas.microsoft.com/office/drawing/2014/main" id="{03427BB6-F823-1943-A491-FE684FCEF995}"/>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663" name="Picture 110" descr="desktop_computer_stylized_small">
                <a:extLst>
                  <a:ext uri="{FF2B5EF4-FFF2-40B4-BE49-F238E27FC236}">
                    <a16:creationId xmlns:a16="http://schemas.microsoft.com/office/drawing/2014/main" id="{81C3AA03-0C7A-FE4D-8FD6-D0582D645E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4" name="Rectangle 112">
                <a:extLst>
                  <a:ext uri="{FF2B5EF4-FFF2-40B4-BE49-F238E27FC236}">
                    <a16:creationId xmlns:a16="http://schemas.microsoft.com/office/drawing/2014/main" id="{156C1929-05F3-934C-84C9-0ACB6362725E}"/>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5" name="Freeform 113">
                <a:extLst>
                  <a:ext uri="{FF2B5EF4-FFF2-40B4-BE49-F238E27FC236}">
                    <a16:creationId xmlns:a16="http://schemas.microsoft.com/office/drawing/2014/main" id="{5320422D-A8AF-E64D-9F26-C8B5750D9B1E}"/>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 name="Line 114">
                <a:extLst>
                  <a:ext uri="{FF2B5EF4-FFF2-40B4-BE49-F238E27FC236}">
                    <a16:creationId xmlns:a16="http://schemas.microsoft.com/office/drawing/2014/main" id="{3EDC9FDD-617A-8546-9A8D-6862867D76B1}"/>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67" name="Picture 115" descr="tv">
                <a:extLst>
                  <a:ext uri="{FF2B5EF4-FFF2-40B4-BE49-F238E27FC236}">
                    <a16:creationId xmlns:a16="http://schemas.microsoft.com/office/drawing/2014/main" id="{252176B8-F3FD-5844-B5A3-7BF9CDF001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74" name="Group 118">
            <a:extLst>
              <a:ext uri="{FF2B5EF4-FFF2-40B4-BE49-F238E27FC236}">
                <a16:creationId xmlns:a16="http://schemas.microsoft.com/office/drawing/2014/main" id="{087367B6-4D70-604B-8798-517094B2852A}"/>
              </a:ext>
            </a:extLst>
          </p:cNvPr>
          <p:cNvGrpSpPr>
            <a:grpSpLocks/>
          </p:cNvGrpSpPr>
          <p:nvPr/>
        </p:nvGrpSpPr>
        <p:grpSpPr bwMode="auto">
          <a:xfrm>
            <a:off x="5018142" y="1499173"/>
            <a:ext cx="850900" cy="527050"/>
            <a:chOff x="-490" y="1664"/>
            <a:chExt cx="1429" cy="842"/>
          </a:xfrm>
        </p:grpSpPr>
        <p:sp>
          <p:nvSpPr>
            <p:cNvPr id="675" name="AutoShape 119">
              <a:extLst>
                <a:ext uri="{FF2B5EF4-FFF2-40B4-BE49-F238E27FC236}">
                  <a16:creationId xmlns:a16="http://schemas.microsoft.com/office/drawing/2014/main" id="{D0705D65-1E98-FB46-A6B4-9487DA18C7BF}"/>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76" name="Group 120">
              <a:extLst>
                <a:ext uri="{FF2B5EF4-FFF2-40B4-BE49-F238E27FC236}">
                  <a16:creationId xmlns:a16="http://schemas.microsoft.com/office/drawing/2014/main" id="{BACFDD7A-CE89-BF4A-A529-778489B85D0D}"/>
                </a:ext>
              </a:extLst>
            </p:cNvPr>
            <p:cNvGrpSpPr>
              <a:grpSpLocks/>
            </p:cNvGrpSpPr>
            <p:nvPr/>
          </p:nvGrpSpPr>
          <p:grpSpPr bwMode="auto">
            <a:xfrm>
              <a:off x="-427" y="1737"/>
              <a:ext cx="1217" cy="769"/>
              <a:chOff x="-427" y="1737"/>
              <a:chExt cx="1217" cy="769"/>
            </a:xfrm>
          </p:grpSpPr>
          <p:sp>
            <p:nvSpPr>
              <p:cNvPr id="677" name="Rectangle 121">
                <a:extLst>
                  <a:ext uri="{FF2B5EF4-FFF2-40B4-BE49-F238E27FC236}">
                    <a16:creationId xmlns:a16="http://schemas.microsoft.com/office/drawing/2014/main" id="{2E58DC0C-E3FF-9A4A-BCAA-688B1D8659A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8" name="Line 7">
                <a:extLst>
                  <a:ext uri="{FF2B5EF4-FFF2-40B4-BE49-F238E27FC236}">
                    <a16:creationId xmlns:a16="http://schemas.microsoft.com/office/drawing/2014/main" id="{22D21B4A-F92E-B047-83E1-B9AD411C62A9}"/>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79" name="Group 123">
                <a:extLst>
                  <a:ext uri="{FF2B5EF4-FFF2-40B4-BE49-F238E27FC236}">
                    <a16:creationId xmlns:a16="http://schemas.microsoft.com/office/drawing/2014/main" id="{B7C38FD8-AEF7-474B-A4FD-027D3DB985AA}"/>
                  </a:ext>
                </a:extLst>
              </p:cNvPr>
              <p:cNvGrpSpPr>
                <a:grpSpLocks/>
              </p:cNvGrpSpPr>
              <p:nvPr/>
            </p:nvGrpSpPr>
            <p:grpSpPr bwMode="auto">
              <a:xfrm>
                <a:off x="68" y="2192"/>
                <a:ext cx="387" cy="139"/>
                <a:chOff x="322" y="890"/>
                <a:chExt cx="872" cy="339"/>
              </a:xfrm>
            </p:grpSpPr>
            <p:sp>
              <p:nvSpPr>
                <p:cNvPr id="685" name="Rectangle 124">
                  <a:extLst>
                    <a:ext uri="{FF2B5EF4-FFF2-40B4-BE49-F238E27FC236}">
                      <a16:creationId xmlns:a16="http://schemas.microsoft.com/office/drawing/2014/main" id="{89BC40B5-F324-084A-AAD2-E95D6012736F}"/>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6" name="Rectangle 125">
                  <a:extLst>
                    <a:ext uri="{FF2B5EF4-FFF2-40B4-BE49-F238E27FC236}">
                      <a16:creationId xmlns:a16="http://schemas.microsoft.com/office/drawing/2014/main" id="{F88ABF72-A8F0-4143-907E-B17400F7508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7" name="Rectangle 126">
                  <a:extLst>
                    <a:ext uri="{FF2B5EF4-FFF2-40B4-BE49-F238E27FC236}">
                      <a16:creationId xmlns:a16="http://schemas.microsoft.com/office/drawing/2014/main" id="{7CB754ED-8EDA-2843-9D7A-93B067C9EA6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8" name="Rectangle 127">
                  <a:extLst>
                    <a:ext uri="{FF2B5EF4-FFF2-40B4-BE49-F238E27FC236}">
                      <a16:creationId xmlns:a16="http://schemas.microsoft.com/office/drawing/2014/main" id="{A34B79E6-F1DF-E74B-9FB2-88F5D6DC7E5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9" name="Rectangle 128">
                  <a:extLst>
                    <a:ext uri="{FF2B5EF4-FFF2-40B4-BE49-F238E27FC236}">
                      <a16:creationId xmlns:a16="http://schemas.microsoft.com/office/drawing/2014/main" id="{AD595A8F-88AF-A445-A105-4A989940941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0" name="AutoShape 129">
                  <a:extLst>
                    <a:ext uri="{FF2B5EF4-FFF2-40B4-BE49-F238E27FC236}">
                      <a16:creationId xmlns:a16="http://schemas.microsoft.com/office/drawing/2014/main" id="{050E52BF-49DA-324C-9803-B502A47D8F9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680" name="Picture 130" descr="desktop_computer_stylized_small">
                <a:extLst>
                  <a:ext uri="{FF2B5EF4-FFF2-40B4-BE49-F238E27FC236}">
                    <a16:creationId xmlns:a16="http://schemas.microsoft.com/office/drawing/2014/main" id="{4C1535D7-F881-874A-B719-63A277CDC40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1" name="Rectangle 131">
                <a:extLst>
                  <a:ext uri="{FF2B5EF4-FFF2-40B4-BE49-F238E27FC236}">
                    <a16:creationId xmlns:a16="http://schemas.microsoft.com/office/drawing/2014/main" id="{24165D37-4D41-4C46-9B07-0868F9F5A8B1}"/>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2" name="Freeform 132">
                <a:extLst>
                  <a:ext uri="{FF2B5EF4-FFF2-40B4-BE49-F238E27FC236}">
                    <a16:creationId xmlns:a16="http://schemas.microsoft.com/office/drawing/2014/main" id="{C44CEEE1-83E3-A14C-A7E9-A9F0E5741B6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 name="Line 133">
                <a:extLst>
                  <a:ext uri="{FF2B5EF4-FFF2-40B4-BE49-F238E27FC236}">
                    <a16:creationId xmlns:a16="http://schemas.microsoft.com/office/drawing/2014/main" id="{62F2C93F-511D-3147-B8BE-81E8838762E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84" name="Picture 134" descr="tv">
                <a:extLst>
                  <a:ext uri="{FF2B5EF4-FFF2-40B4-BE49-F238E27FC236}">
                    <a16:creationId xmlns:a16="http://schemas.microsoft.com/office/drawing/2014/main" id="{BCC7F36B-9984-5F40-8042-AAFF0875E4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91" name="Group 135">
            <a:extLst>
              <a:ext uri="{FF2B5EF4-FFF2-40B4-BE49-F238E27FC236}">
                <a16:creationId xmlns:a16="http://schemas.microsoft.com/office/drawing/2014/main" id="{B35A80F1-D0E0-F049-AF3B-A40C61B0C1DC}"/>
              </a:ext>
            </a:extLst>
          </p:cNvPr>
          <p:cNvGrpSpPr>
            <a:grpSpLocks/>
          </p:cNvGrpSpPr>
          <p:nvPr/>
        </p:nvGrpSpPr>
        <p:grpSpPr bwMode="auto">
          <a:xfrm>
            <a:off x="4203755" y="2345311"/>
            <a:ext cx="850900" cy="527050"/>
            <a:chOff x="-490" y="1664"/>
            <a:chExt cx="1429" cy="842"/>
          </a:xfrm>
        </p:grpSpPr>
        <p:sp>
          <p:nvSpPr>
            <p:cNvPr id="692" name="AutoShape 136">
              <a:extLst>
                <a:ext uri="{FF2B5EF4-FFF2-40B4-BE49-F238E27FC236}">
                  <a16:creationId xmlns:a16="http://schemas.microsoft.com/office/drawing/2014/main" id="{F38822C2-4C99-5C4E-8386-17BBD6B7D24B}"/>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93" name="Group 137">
              <a:extLst>
                <a:ext uri="{FF2B5EF4-FFF2-40B4-BE49-F238E27FC236}">
                  <a16:creationId xmlns:a16="http://schemas.microsoft.com/office/drawing/2014/main" id="{280A7536-2297-7545-8BD8-ACCAE36D2084}"/>
                </a:ext>
              </a:extLst>
            </p:cNvPr>
            <p:cNvGrpSpPr>
              <a:grpSpLocks/>
            </p:cNvGrpSpPr>
            <p:nvPr/>
          </p:nvGrpSpPr>
          <p:grpSpPr bwMode="auto">
            <a:xfrm>
              <a:off x="-427" y="1737"/>
              <a:ext cx="1217" cy="769"/>
              <a:chOff x="-427" y="1737"/>
              <a:chExt cx="1217" cy="769"/>
            </a:xfrm>
          </p:grpSpPr>
          <p:sp>
            <p:nvSpPr>
              <p:cNvPr id="694" name="Rectangle 138">
                <a:extLst>
                  <a:ext uri="{FF2B5EF4-FFF2-40B4-BE49-F238E27FC236}">
                    <a16:creationId xmlns:a16="http://schemas.microsoft.com/office/drawing/2014/main" id="{FD4AA4EA-1734-E548-8AAE-E12D871545A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5" name="Line 7">
                <a:extLst>
                  <a:ext uri="{FF2B5EF4-FFF2-40B4-BE49-F238E27FC236}">
                    <a16:creationId xmlns:a16="http://schemas.microsoft.com/office/drawing/2014/main" id="{770E1C91-B880-D946-BC70-EE5844E3C4C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96" name="Group 140">
                <a:extLst>
                  <a:ext uri="{FF2B5EF4-FFF2-40B4-BE49-F238E27FC236}">
                    <a16:creationId xmlns:a16="http://schemas.microsoft.com/office/drawing/2014/main" id="{B7E245A3-5E8E-A74D-AF55-7D6A9DF0318A}"/>
                  </a:ext>
                </a:extLst>
              </p:cNvPr>
              <p:cNvGrpSpPr>
                <a:grpSpLocks/>
              </p:cNvGrpSpPr>
              <p:nvPr/>
            </p:nvGrpSpPr>
            <p:grpSpPr bwMode="auto">
              <a:xfrm>
                <a:off x="68" y="2192"/>
                <a:ext cx="387" cy="139"/>
                <a:chOff x="322" y="890"/>
                <a:chExt cx="872" cy="339"/>
              </a:xfrm>
            </p:grpSpPr>
            <p:sp>
              <p:nvSpPr>
                <p:cNvPr id="702" name="Rectangle 141">
                  <a:extLst>
                    <a:ext uri="{FF2B5EF4-FFF2-40B4-BE49-F238E27FC236}">
                      <a16:creationId xmlns:a16="http://schemas.microsoft.com/office/drawing/2014/main" id="{E8CA17C2-65F4-C847-A921-177D38C81B88}"/>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3" name="Rectangle 142">
                  <a:extLst>
                    <a:ext uri="{FF2B5EF4-FFF2-40B4-BE49-F238E27FC236}">
                      <a16:creationId xmlns:a16="http://schemas.microsoft.com/office/drawing/2014/main" id="{0248A613-8BF9-744E-A64D-D564AF82529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4" name="Rectangle 143">
                  <a:extLst>
                    <a:ext uri="{FF2B5EF4-FFF2-40B4-BE49-F238E27FC236}">
                      <a16:creationId xmlns:a16="http://schemas.microsoft.com/office/drawing/2014/main" id="{406CCBDD-EEEE-1D45-AA33-2EBE6279F4C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5" name="Rectangle 144">
                  <a:extLst>
                    <a:ext uri="{FF2B5EF4-FFF2-40B4-BE49-F238E27FC236}">
                      <a16:creationId xmlns:a16="http://schemas.microsoft.com/office/drawing/2014/main" id="{977402B9-0CBB-0D4B-B4B0-9589408E2B8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6" name="Rectangle 145">
                  <a:extLst>
                    <a:ext uri="{FF2B5EF4-FFF2-40B4-BE49-F238E27FC236}">
                      <a16:creationId xmlns:a16="http://schemas.microsoft.com/office/drawing/2014/main" id="{3D3165A8-FF26-134E-9F1C-A7A20F77AF0B}"/>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7" name="AutoShape 146">
                  <a:extLst>
                    <a:ext uri="{FF2B5EF4-FFF2-40B4-BE49-F238E27FC236}">
                      <a16:creationId xmlns:a16="http://schemas.microsoft.com/office/drawing/2014/main" id="{EC84391B-1851-544C-B2BC-7C592248BE2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697" name="Picture 147" descr="desktop_computer_stylized_small">
                <a:extLst>
                  <a:ext uri="{FF2B5EF4-FFF2-40B4-BE49-F238E27FC236}">
                    <a16:creationId xmlns:a16="http://schemas.microsoft.com/office/drawing/2014/main" id="{E527FB23-79FC-7A4B-A986-12E7037C92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8" name="Rectangle 148">
                <a:extLst>
                  <a:ext uri="{FF2B5EF4-FFF2-40B4-BE49-F238E27FC236}">
                    <a16:creationId xmlns:a16="http://schemas.microsoft.com/office/drawing/2014/main" id="{61BFA118-3935-F540-A954-BA2E87833344}"/>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9" name="Freeform 149">
                <a:extLst>
                  <a:ext uri="{FF2B5EF4-FFF2-40B4-BE49-F238E27FC236}">
                    <a16:creationId xmlns:a16="http://schemas.microsoft.com/office/drawing/2014/main" id="{043DF8A9-6DC7-F349-B0A7-2CC27CE1489F}"/>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 name="Line 150">
                <a:extLst>
                  <a:ext uri="{FF2B5EF4-FFF2-40B4-BE49-F238E27FC236}">
                    <a16:creationId xmlns:a16="http://schemas.microsoft.com/office/drawing/2014/main" id="{74759C54-5940-F74A-BC60-5BE43CD21C00}"/>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01" name="Picture 151" descr="tv">
                <a:extLst>
                  <a:ext uri="{FF2B5EF4-FFF2-40B4-BE49-F238E27FC236}">
                    <a16:creationId xmlns:a16="http://schemas.microsoft.com/office/drawing/2014/main" id="{4E572681-7AA1-214C-A61D-E41CBA2888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08" name="Group 152">
            <a:extLst>
              <a:ext uri="{FF2B5EF4-FFF2-40B4-BE49-F238E27FC236}">
                <a16:creationId xmlns:a16="http://schemas.microsoft.com/office/drawing/2014/main" id="{B99E0137-E9E9-2449-A341-E95B1A39B473}"/>
              </a:ext>
            </a:extLst>
          </p:cNvPr>
          <p:cNvGrpSpPr>
            <a:grpSpLocks/>
          </p:cNvGrpSpPr>
          <p:nvPr/>
        </p:nvGrpSpPr>
        <p:grpSpPr bwMode="auto">
          <a:xfrm>
            <a:off x="5070530" y="2354836"/>
            <a:ext cx="850900" cy="527050"/>
            <a:chOff x="-490" y="1664"/>
            <a:chExt cx="1429" cy="842"/>
          </a:xfrm>
        </p:grpSpPr>
        <p:sp>
          <p:nvSpPr>
            <p:cNvPr id="709" name="AutoShape 153">
              <a:extLst>
                <a:ext uri="{FF2B5EF4-FFF2-40B4-BE49-F238E27FC236}">
                  <a16:creationId xmlns:a16="http://schemas.microsoft.com/office/drawing/2014/main" id="{6638BF32-7CF1-1B4E-AAED-A6CBD4BB69A0}"/>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10" name="Group 154">
              <a:extLst>
                <a:ext uri="{FF2B5EF4-FFF2-40B4-BE49-F238E27FC236}">
                  <a16:creationId xmlns:a16="http://schemas.microsoft.com/office/drawing/2014/main" id="{BE2429F4-383A-544D-BD63-8AF872349ED4}"/>
                </a:ext>
              </a:extLst>
            </p:cNvPr>
            <p:cNvGrpSpPr>
              <a:grpSpLocks/>
            </p:cNvGrpSpPr>
            <p:nvPr/>
          </p:nvGrpSpPr>
          <p:grpSpPr bwMode="auto">
            <a:xfrm>
              <a:off x="-427" y="1737"/>
              <a:ext cx="1217" cy="769"/>
              <a:chOff x="-427" y="1737"/>
              <a:chExt cx="1217" cy="769"/>
            </a:xfrm>
          </p:grpSpPr>
          <p:sp>
            <p:nvSpPr>
              <p:cNvPr id="711" name="Rectangle 155">
                <a:extLst>
                  <a:ext uri="{FF2B5EF4-FFF2-40B4-BE49-F238E27FC236}">
                    <a16:creationId xmlns:a16="http://schemas.microsoft.com/office/drawing/2014/main" id="{EBB425AA-0585-2749-BC85-AFA5C7AAAA5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2" name="Line 7">
                <a:extLst>
                  <a:ext uri="{FF2B5EF4-FFF2-40B4-BE49-F238E27FC236}">
                    <a16:creationId xmlns:a16="http://schemas.microsoft.com/office/drawing/2014/main" id="{A482784A-1FA4-1E45-85F9-5DE284EE814F}"/>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13" name="Group 157">
                <a:extLst>
                  <a:ext uri="{FF2B5EF4-FFF2-40B4-BE49-F238E27FC236}">
                    <a16:creationId xmlns:a16="http://schemas.microsoft.com/office/drawing/2014/main" id="{F0EAA516-BD5F-774A-9B68-AEA2591140A2}"/>
                  </a:ext>
                </a:extLst>
              </p:cNvPr>
              <p:cNvGrpSpPr>
                <a:grpSpLocks/>
              </p:cNvGrpSpPr>
              <p:nvPr/>
            </p:nvGrpSpPr>
            <p:grpSpPr bwMode="auto">
              <a:xfrm>
                <a:off x="68" y="2192"/>
                <a:ext cx="387" cy="139"/>
                <a:chOff x="322" y="890"/>
                <a:chExt cx="872" cy="339"/>
              </a:xfrm>
            </p:grpSpPr>
            <p:sp>
              <p:nvSpPr>
                <p:cNvPr id="719" name="Rectangle 158">
                  <a:extLst>
                    <a:ext uri="{FF2B5EF4-FFF2-40B4-BE49-F238E27FC236}">
                      <a16:creationId xmlns:a16="http://schemas.microsoft.com/office/drawing/2014/main" id="{D26B702C-4102-F746-8A1A-44FA54012212}"/>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0" name="Rectangle 159">
                  <a:extLst>
                    <a:ext uri="{FF2B5EF4-FFF2-40B4-BE49-F238E27FC236}">
                      <a16:creationId xmlns:a16="http://schemas.microsoft.com/office/drawing/2014/main" id="{836CD9F3-93C8-EE4D-A1F1-161D2391D82D}"/>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1" name="Rectangle 160">
                  <a:extLst>
                    <a:ext uri="{FF2B5EF4-FFF2-40B4-BE49-F238E27FC236}">
                      <a16:creationId xmlns:a16="http://schemas.microsoft.com/office/drawing/2014/main" id="{A3BCDA4F-140D-7E44-A8FC-8D7C2D705EBC}"/>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2" name="Rectangle 161">
                  <a:extLst>
                    <a:ext uri="{FF2B5EF4-FFF2-40B4-BE49-F238E27FC236}">
                      <a16:creationId xmlns:a16="http://schemas.microsoft.com/office/drawing/2014/main" id="{56A4DF97-4C28-D947-BF5A-829F0697D1B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3" name="Rectangle 162">
                  <a:extLst>
                    <a:ext uri="{FF2B5EF4-FFF2-40B4-BE49-F238E27FC236}">
                      <a16:creationId xmlns:a16="http://schemas.microsoft.com/office/drawing/2014/main" id="{D68B0B55-2628-AF44-9B8B-2405E00A0C4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4" name="AutoShape 163">
                  <a:extLst>
                    <a:ext uri="{FF2B5EF4-FFF2-40B4-BE49-F238E27FC236}">
                      <a16:creationId xmlns:a16="http://schemas.microsoft.com/office/drawing/2014/main" id="{8629FA7E-1037-8C4F-8810-408283380C7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714" name="Picture 164" descr="desktop_computer_stylized_small">
                <a:extLst>
                  <a:ext uri="{FF2B5EF4-FFF2-40B4-BE49-F238E27FC236}">
                    <a16:creationId xmlns:a16="http://schemas.microsoft.com/office/drawing/2014/main" id="{2C8AE386-EE13-6D42-9CE2-3226B5E36C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5" name="Rectangle 165">
                <a:extLst>
                  <a:ext uri="{FF2B5EF4-FFF2-40B4-BE49-F238E27FC236}">
                    <a16:creationId xmlns:a16="http://schemas.microsoft.com/office/drawing/2014/main" id="{9AC9091D-06AA-5245-BF88-B75BC27623E8}"/>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6" name="Freeform 166">
                <a:extLst>
                  <a:ext uri="{FF2B5EF4-FFF2-40B4-BE49-F238E27FC236}">
                    <a16:creationId xmlns:a16="http://schemas.microsoft.com/office/drawing/2014/main" id="{0327A2D8-A266-3E44-8EA9-71273B379721}"/>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 name="Line 167">
                <a:extLst>
                  <a:ext uri="{FF2B5EF4-FFF2-40B4-BE49-F238E27FC236}">
                    <a16:creationId xmlns:a16="http://schemas.microsoft.com/office/drawing/2014/main" id="{F2687AEF-F7A2-2143-8718-7CD837CBF922}"/>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18" name="Picture 168" descr="tv">
                <a:extLst>
                  <a:ext uri="{FF2B5EF4-FFF2-40B4-BE49-F238E27FC236}">
                    <a16:creationId xmlns:a16="http://schemas.microsoft.com/office/drawing/2014/main" id="{AAFC4C6D-F52A-6046-9403-425D9D673F4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25" name="Line 169">
            <a:extLst>
              <a:ext uri="{FF2B5EF4-FFF2-40B4-BE49-F238E27FC236}">
                <a16:creationId xmlns:a16="http://schemas.microsoft.com/office/drawing/2014/main" id="{ADE52973-3C0D-654A-B045-1EDAD64D65D6}"/>
              </a:ext>
            </a:extLst>
          </p:cNvPr>
          <p:cNvSpPr>
            <a:spLocks noChangeShapeType="1"/>
          </p:cNvSpPr>
          <p:nvPr/>
        </p:nvSpPr>
        <p:spPr bwMode="auto">
          <a:xfrm>
            <a:off x="3657655" y="2248473"/>
            <a:ext cx="369093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26" name="Group 170">
            <a:extLst>
              <a:ext uri="{FF2B5EF4-FFF2-40B4-BE49-F238E27FC236}">
                <a16:creationId xmlns:a16="http://schemas.microsoft.com/office/drawing/2014/main" id="{3D447709-B395-E140-A6E8-A4B0C8933F41}"/>
              </a:ext>
            </a:extLst>
          </p:cNvPr>
          <p:cNvGrpSpPr>
            <a:grpSpLocks/>
          </p:cNvGrpSpPr>
          <p:nvPr/>
        </p:nvGrpSpPr>
        <p:grpSpPr bwMode="auto">
          <a:xfrm>
            <a:off x="6159555" y="1507111"/>
            <a:ext cx="850900" cy="527050"/>
            <a:chOff x="-490" y="1664"/>
            <a:chExt cx="1429" cy="842"/>
          </a:xfrm>
        </p:grpSpPr>
        <p:sp>
          <p:nvSpPr>
            <p:cNvPr id="727" name="AutoShape 171">
              <a:extLst>
                <a:ext uri="{FF2B5EF4-FFF2-40B4-BE49-F238E27FC236}">
                  <a16:creationId xmlns:a16="http://schemas.microsoft.com/office/drawing/2014/main" id="{F84AA9D6-A486-E04C-804D-DFE0C1539708}"/>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28" name="Group 172">
              <a:extLst>
                <a:ext uri="{FF2B5EF4-FFF2-40B4-BE49-F238E27FC236}">
                  <a16:creationId xmlns:a16="http://schemas.microsoft.com/office/drawing/2014/main" id="{543D769A-7CD2-8048-8FE3-27348F62D8C6}"/>
                </a:ext>
              </a:extLst>
            </p:cNvPr>
            <p:cNvGrpSpPr>
              <a:grpSpLocks/>
            </p:cNvGrpSpPr>
            <p:nvPr/>
          </p:nvGrpSpPr>
          <p:grpSpPr bwMode="auto">
            <a:xfrm>
              <a:off x="-427" y="1737"/>
              <a:ext cx="1217" cy="769"/>
              <a:chOff x="-427" y="1737"/>
              <a:chExt cx="1217" cy="769"/>
            </a:xfrm>
          </p:grpSpPr>
          <p:sp>
            <p:nvSpPr>
              <p:cNvPr id="729" name="Rectangle 173">
                <a:extLst>
                  <a:ext uri="{FF2B5EF4-FFF2-40B4-BE49-F238E27FC236}">
                    <a16:creationId xmlns:a16="http://schemas.microsoft.com/office/drawing/2014/main" id="{F2369E5A-97BD-6448-9C48-4B6DBA063821}"/>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0" name="Line 7">
                <a:extLst>
                  <a:ext uri="{FF2B5EF4-FFF2-40B4-BE49-F238E27FC236}">
                    <a16:creationId xmlns:a16="http://schemas.microsoft.com/office/drawing/2014/main" id="{2AC0A61E-F926-0D4B-B5E9-DF0BC1F34016}"/>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31" name="Group 175">
                <a:extLst>
                  <a:ext uri="{FF2B5EF4-FFF2-40B4-BE49-F238E27FC236}">
                    <a16:creationId xmlns:a16="http://schemas.microsoft.com/office/drawing/2014/main" id="{28882AE2-523F-3A48-A31B-7F5125D45364}"/>
                  </a:ext>
                </a:extLst>
              </p:cNvPr>
              <p:cNvGrpSpPr>
                <a:grpSpLocks/>
              </p:cNvGrpSpPr>
              <p:nvPr/>
            </p:nvGrpSpPr>
            <p:grpSpPr bwMode="auto">
              <a:xfrm>
                <a:off x="68" y="2192"/>
                <a:ext cx="387" cy="139"/>
                <a:chOff x="322" y="890"/>
                <a:chExt cx="872" cy="339"/>
              </a:xfrm>
            </p:grpSpPr>
            <p:sp>
              <p:nvSpPr>
                <p:cNvPr id="737" name="Rectangle 176">
                  <a:extLst>
                    <a:ext uri="{FF2B5EF4-FFF2-40B4-BE49-F238E27FC236}">
                      <a16:creationId xmlns:a16="http://schemas.microsoft.com/office/drawing/2014/main" id="{54F16B2F-608C-0A4C-B57B-5C7376E1CD7D}"/>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8" name="Rectangle 177">
                  <a:extLst>
                    <a:ext uri="{FF2B5EF4-FFF2-40B4-BE49-F238E27FC236}">
                      <a16:creationId xmlns:a16="http://schemas.microsoft.com/office/drawing/2014/main" id="{16358853-C1FC-1B4A-90B8-0526F7FF392F}"/>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9" name="Rectangle 178">
                  <a:extLst>
                    <a:ext uri="{FF2B5EF4-FFF2-40B4-BE49-F238E27FC236}">
                      <a16:creationId xmlns:a16="http://schemas.microsoft.com/office/drawing/2014/main" id="{95865896-45F0-9E45-88A7-DDEAF0816961}"/>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0" name="Rectangle 179">
                  <a:extLst>
                    <a:ext uri="{FF2B5EF4-FFF2-40B4-BE49-F238E27FC236}">
                      <a16:creationId xmlns:a16="http://schemas.microsoft.com/office/drawing/2014/main" id="{1C2FE1AC-5BF7-3F4E-A430-7CA6A6969083}"/>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1" name="Rectangle 180">
                  <a:extLst>
                    <a:ext uri="{FF2B5EF4-FFF2-40B4-BE49-F238E27FC236}">
                      <a16:creationId xmlns:a16="http://schemas.microsoft.com/office/drawing/2014/main" id="{218C2436-F090-5B40-9775-6467F646F5A5}"/>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2" name="AutoShape 181">
                  <a:extLst>
                    <a:ext uri="{FF2B5EF4-FFF2-40B4-BE49-F238E27FC236}">
                      <a16:creationId xmlns:a16="http://schemas.microsoft.com/office/drawing/2014/main" id="{2346CC88-82BF-DA46-B70A-55B4ED444CE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732" name="Picture 182" descr="desktop_computer_stylized_small">
                <a:extLst>
                  <a:ext uri="{FF2B5EF4-FFF2-40B4-BE49-F238E27FC236}">
                    <a16:creationId xmlns:a16="http://schemas.microsoft.com/office/drawing/2014/main" id="{9C9448D8-C41E-1B4C-8F18-B3F661D7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3" name="Rectangle 183">
                <a:extLst>
                  <a:ext uri="{FF2B5EF4-FFF2-40B4-BE49-F238E27FC236}">
                    <a16:creationId xmlns:a16="http://schemas.microsoft.com/office/drawing/2014/main" id="{EC20C728-8848-8748-8001-99D9BBF00006}"/>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4" name="Freeform 184">
                <a:extLst>
                  <a:ext uri="{FF2B5EF4-FFF2-40B4-BE49-F238E27FC236}">
                    <a16:creationId xmlns:a16="http://schemas.microsoft.com/office/drawing/2014/main" id="{A3C302FC-0DCE-7B44-87E9-318491675B3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 name="Line 185">
                <a:extLst>
                  <a:ext uri="{FF2B5EF4-FFF2-40B4-BE49-F238E27FC236}">
                    <a16:creationId xmlns:a16="http://schemas.microsoft.com/office/drawing/2014/main" id="{28070A37-5593-0448-896E-478F25FA108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36" name="Picture 186" descr="tv">
                <a:extLst>
                  <a:ext uri="{FF2B5EF4-FFF2-40B4-BE49-F238E27FC236}">
                    <a16:creationId xmlns:a16="http://schemas.microsoft.com/office/drawing/2014/main" id="{23BD1939-D865-6047-93F0-ED52890AAF0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43" name="Text Box 204">
            <a:extLst>
              <a:ext uri="{FF2B5EF4-FFF2-40B4-BE49-F238E27FC236}">
                <a16:creationId xmlns:a16="http://schemas.microsoft.com/office/drawing/2014/main" id="{114B5E74-3593-4647-A004-4F78DEEBD9A4}"/>
              </a:ext>
            </a:extLst>
          </p:cNvPr>
          <p:cNvSpPr txBox="1">
            <a:spLocks noChangeArrowheads="1"/>
          </p:cNvSpPr>
          <p:nvPr/>
        </p:nvSpPr>
        <p:spPr bwMode="auto">
          <a:xfrm>
            <a:off x="5770617" y="1576961"/>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sp>
        <p:nvSpPr>
          <p:cNvPr id="744" name="Line 205">
            <a:extLst>
              <a:ext uri="{FF2B5EF4-FFF2-40B4-BE49-F238E27FC236}">
                <a16:creationId xmlns:a16="http://schemas.microsoft.com/office/drawing/2014/main" id="{DC1BDAA3-86EF-E54B-AD19-30AE2ECA9311}"/>
              </a:ext>
            </a:extLst>
          </p:cNvPr>
          <p:cNvSpPr>
            <a:spLocks noChangeShapeType="1"/>
          </p:cNvSpPr>
          <p:nvPr/>
        </p:nvSpPr>
        <p:spPr bwMode="auto">
          <a:xfrm flipH="1">
            <a:off x="4751442"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 name="Line 206">
            <a:extLst>
              <a:ext uri="{FF2B5EF4-FFF2-40B4-BE49-F238E27FC236}">
                <a16:creationId xmlns:a16="http://schemas.microsoft.com/office/drawing/2014/main" id="{148D29E6-C94A-DC42-8250-908976A5D102}"/>
              </a:ext>
            </a:extLst>
          </p:cNvPr>
          <p:cNvSpPr>
            <a:spLocks noChangeShapeType="1"/>
          </p:cNvSpPr>
          <p:nvPr/>
        </p:nvSpPr>
        <p:spPr bwMode="auto">
          <a:xfrm flipH="1">
            <a:off x="565631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 name="Line 207">
            <a:extLst>
              <a:ext uri="{FF2B5EF4-FFF2-40B4-BE49-F238E27FC236}">
                <a16:creationId xmlns:a16="http://schemas.microsoft.com/office/drawing/2014/main" id="{01C6EDDD-38D0-6B49-B717-D2D0A8815C12}"/>
              </a:ext>
            </a:extLst>
          </p:cNvPr>
          <p:cNvSpPr>
            <a:spLocks noChangeShapeType="1"/>
          </p:cNvSpPr>
          <p:nvPr/>
        </p:nvSpPr>
        <p:spPr bwMode="auto">
          <a:xfrm flipH="1">
            <a:off x="679296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7" name="Freeform 208">
            <a:extLst>
              <a:ext uri="{FF2B5EF4-FFF2-40B4-BE49-F238E27FC236}">
                <a16:creationId xmlns:a16="http://schemas.microsoft.com/office/drawing/2014/main" id="{13411482-5915-9549-9E0F-94906C9234B0}"/>
              </a:ext>
            </a:extLst>
          </p:cNvPr>
          <p:cNvSpPr>
            <a:spLocks/>
          </p:cNvSpPr>
          <p:nvPr/>
        </p:nvSpPr>
        <p:spPr bwMode="auto">
          <a:xfrm>
            <a:off x="5742042" y="225482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 name="Freeform 209">
            <a:extLst>
              <a:ext uri="{FF2B5EF4-FFF2-40B4-BE49-F238E27FC236}">
                <a16:creationId xmlns:a16="http://schemas.microsoft.com/office/drawing/2014/main" id="{1F9C292F-8EBB-3541-9B89-E1F31CD174E4}"/>
              </a:ext>
            </a:extLst>
          </p:cNvPr>
          <p:cNvSpPr>
            <a:spLocks/>
          </p:cNvSpPr>
          <p:nvPr/>
        </p:nvSpPr>
        <p:spPr bwMode="auto">
          <a:xfrm>
            <a:off x="4875267" y="224847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 name="Rectangle 44">
            <a:extLst>
              <a:ext uri="{FF2B5EF4-FFF2-40B4-BE49-F238E27FC236}">
                <a16:creationId xmlns:a16="http://schemas.microsoft.com/office/drawing/2014/main" id="{7320EA55-A59E-E248-A70B-FDBD113905C5}"/>
              </a:ext>
            </a:extLst>
          </p:cNvPr>
          <p:cNvSpPr>
            <a:spLocks noChangeArrowheads="1"/>
          </p:cNvSpPr>
          <p:nvPr/>
        </p:nvSpPr>
        <p:spPr bwMode="auto">
          <a:xfrm>
            <a:off x="7086655" y="1823023"/>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50" name="Text Box 45">
            <a:extLst>
              <a:ext uri="{FF2B5EF4-FFF2-40B4-BE49-F238E27FC236}">
                <a16:creationId xmlns:a16="http://schemas.microsoft.com/office/drawing/2014/main" id="{DB61BF90-6CFB-6842-9230-52758DB964BD}"/>
              </a:ext>
            </a:extLst>
          </p:cNvPr>
          <p:cNvSpPr txBox="1">
            <a:spLocks noChangeArrowheads="1"/>
          </p:cNvSpPr>
          <p:nvPr/>
        </p:nvSpPr>
        <p:spPr bwMode="auto">
          <a:xfrm>
            <a:off x="6597705" y="1286448"/>
            <a:ext cx="1925637"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cable headend</a:t>
            </a:r>
          </a:p>
        </p:txBody>
      </p:sp>
      <p:sp>
        <p:nvSpPr>
          <p:cNvPr id="751" name="Freeform 216">
            <a:extLst>
              <a:ext uri="{FF2B5EF4-FFF2-40B4-BE49-F238E27FC236}">
                <a16:creationId xmlns:a16="http://schemas.microsoft.com/office/drawing/2014/main" id="{5282A8AA-73E0-1047-98E9-0E8A22EB1094}"/>
              </a:ext>
            </a:extLst>
          </p:cNvPr>
          <p:cNvSpPr>
            <a:spLocks/>
          </p:cNvSpPr>
          <p:nvPr/>
        </p:nvSpPr>
        <p:spPr bwMode="auto">
          <a:xfrm>
            <a:off x="7343830" y="2005586"/>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100000">
                <a:schemeClr val="accent1">
                  <a:lumMod val="60000"/>
                  <a:lumOff val="40000"/>
                </a:schemeClr>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2" name="Freeform 217">
            <a:extLst>
              <a:ext uri="{FF2B5EF4-FFF2-40B4-BE49-F238E27FC236}">
                <a16:creationId xmlns:a16="http://schemas.microsoft.com/office/drawing/2014/main" id="{7C99B789-7258-6A4A-9F8D-57979E1CEE4E}"/>
              </a:ext>
            </a:extLst>
          </p:cNvPr>
          <p:cNvSpPr>
            <a:spLocks/>
          </p:cNvSpPr>
          <p:nvPr/>
        </p:nvSpPr>
        <p:spPr bwMode="auto">
          <a:xfrm>
            <a:off x="7345417" y="1940498"/>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chemeClr val="accent1">
              <a:lumMod val="75000"/>
            </a:schemeClr>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3" name="Line 218">
            <a:extLst>
              <a:ext uri="{FF2B5EF4-FFF2-40B4-BE49-F238E27FC236}">
                <a16:creationId xmlns:a16="http://schemas.microsoft.com/office/drawing/2014/main" id="{B1D16F00-E881-6A47-A6A1-0BBDC19BC901}"/>
              </a:ext>
            </a:extLst>
          </p:cNvPr>
          <p:cNvSpPr>
            <a:spLocks noChangeShapeType="1"/>
          </p:cNvSpPr>
          <p:nvPr/>
        </p:nvSpPr>
        <p:spPr bwMode="auto">
          <a:xfrm flipH="1">
            <a:off x="7670855" y="2064323"/>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 name="Line 219">
            <a:extLst>
              <a:ext uri="{FF2B5EF4-FFF2-40B4-BE49-F238E27FC236}">
                <a16:creationId xmlns:a16="http://schemas.microsoft.com/office/drawing/2014/main" id="{838FA314-27D9-7A43-996B-E5F93E02DF5E}"/>
              </a:ext>
            </a:extLst>
          </p:cNvPr>
          <p:cNvSpPr>
            <a:spLocks noChangeShapeType="1"/>
          </p:cNvSpPr>
          <p:nvPr/>
        </p:nvSpPr>
        <p:spPr bwMode="auto">
          <a:xfrm>
            <a:off x="7372405" y="2235773"/>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 name="Freeform 220">
            <a:extLst>
              <a:ext uri="{FF2B5EF4-FFF2-40B4-BE49-F238E27FC236}">
                <a16:creationId xmlns:a16="http://schemas.microsoft.com/office/drawing/2014/main" id="{45C72033-F8DA-3B45-8390-923125718D2A}"/>
              </a:ext>
            </a:extLst>
          </p:cNvPr>
          <p:cNvSpPr>
            <a:spLocks/>
          </p:cNvSpPr>
          <p:nvPr/>
        </p:nvSpPr>
        <p:spPr bwMode="auto">
          <a:xfrm>
            <a:off x="7366055" y="2059561"/>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6" name="Freeform 221">
            <a:extLst>
              <a:ext uri="{FF2B5EF4-FFF2-40B4-BE49-F238E27FC236}">
                <a16:creationId xmlns:a16="http://schemas.microsoft.com/office/drawing/2014/main" id="{19393445-5216-7C45-9B45-58EB5CD3E448}"/>
              </a:ext>
            </a:extLst>
          </p:cNvPr>
          <p:cNvSpPr>
            <a:spLocks/>
          </p:cNvSpPr>
          <p:nvPr/>
        </p:nvSpPr>
        <p:spPr bwMode="auto">
          <a:xfrm flipV="1">
            <a:off x="7366055" y="2296098"/>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 name="AutoShape 225">
            <a:extLst>
              <a:ext uri="{FF2B5EF4-FFF2-40B4-BE49-F238E27FC236}">
                <a16:creationId xmlns:a16="http://schemas.microsoft.com/office/drawing/2014/main" id="{D5C846CD-8651-7846-BF61-84EC54D4AEB7}"/>
              </a:ext>
            </a:extLst>
          </p:cNvPr>
          <p:cNvSpPr>
            <a:spLocks noChangeArrowheads="1"/>
          </p:cNvSpPr>
          <p:nvPr/>
        </p:nvSpPr>
        <p:spPr bwMode="auto">
          <a:xfrm>
            <a:off x="6946955" y="1559498"/>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58" name="Group 37">
            <a:extLst>
              <a:ext uri="{FF2B5EF4-FFF2-40B4-BE49-F238E27FC236}">
                <a16:creationId xmlns:a16="http://schemas.microsoft.com/office/drawing/2014/main" id="{2E8824F7-4522-D447-9DC0-38FAFCEAC5FD}"/>
              </a:ext>
            </a:extLst>
          </p:cNvPr>
          <p:cNvGrpSpPr>
            <a:grpSpLocks/>
          </p:cNvGrpSpPr>
          <p:nvPr/>
        </p:nvGrpSpPr>
        <p:grpSpPr bwMode="auto">
          <a:xfrm>
            <a:off x="4857805" y="3221611"/>
            <a:ext cx="2043112" cy="958850"/>
            <a:chOff x="2505" y="826"/>
            <a:chExt cx="1287" cy="604"/>
          </a:xfrm>
        </p:grpSpPr>
        <p:sp>
          <p:nvSpPr>
            <p:cNvPr id="759" name="Line 38">
              <a:extLst>
                <a:ext uri="{FF2B5EF4-FFF2-40B4-BE49-F238E27FC236}">
                  <a16:creationId xmlns:a16="http://schemas.microsoft.com/office/drawing/2014/main" id="{836381BA-38E7-1643-BF9A-B180406656CB}"/>
                </a:ext>
              </a:extLst>
            </p:cNvPr>
            <p:cNvSpPr>
              <a:spLocks noChangeShapeType="1"/>
            </p:cNvSpPr>
            <p:nvPr/>
          </p:nvSpPr>
          <p:spPr bwMode="auto">
            <a:xfrm flipH="1">
              <a:off x="2505" y="1115"/>
              <a:ext cx="128" cy="29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 name="Freeform 39">
              <a:extLst>
                <a:ext uri="{FF2B5EF4-FFF2-40B4-BE49-F238E27FC236}">
                  <a16:creationId xmlns:a16="http://schemas.microsoft.com/office/drawing/2014/main" id="{A91A763D-8E94-C349-8834-D48E9C7C4109}"/>
                </a:ext>
              </a:extLst>
            </p:cNvPr>
            <p:cNvSpPr>
              <a:spLocks/>
            </p:cNvSpPr>
            <p:nvPr/>
          </p:nvSpPr>
          <p:spPr bwMode="auto">
            <a:xfrm>
              <a:off x="2548" y="826"/>
              <a:ext cx="562" cy="266"/>
            </a:xfrm>
            <a:custGeom>
              <a:avLst/>
              <a:gdLst>
                <a:gd name="T0" fmla="*/ 4 w 562"/>
                <a:gd name="T1" fmla="*/ 264 h 266"/>
                <a:gd name="T2" fmla="*/ 52 w 562"/>
                <a:gd name="T3" fmla="*/ 6 h 266"/>
                <a:gd name="T4" fmla="*/ 108 w 562"/>
                <a:gd name="T5" fmla="*/ 266 h 266"/>
                <a:gd name="T6" fmla="*/ 174 w 562"/>
                <a:gd name="T7" fmla="*/ 0 h 266"/>
                <a:gd name="T8" fmla="*/ 228 w 562"/>
                <a:gd name="T9" fmla="*/ 264 h 266"/>
                <a:gd name="T10" fmla="*/ 288 w 562"/>
                <a:gd name="T11" fmla="*/ 8 h 266"/>
                <a:gd name="T12" fmla="*/ 354 w 562"/>
                <a:gd name="T13" fmla="*/ 266 h 266"/>
                <a:gd name="T14" fmla="*/ 402 w 562"/>
                <a:gd name="T15" fmla="*/ 8 h 266"/>
                <a:gd name="T16" fmla="*/ 464 w 562"/>
                <a:gd name="T17" fmla="*/ 264 h 266"/>
                <a:gd name="T18" fmla="*/ 506 w 562"/>
                <a:gd name="T19" fmla="*/ 6 h 266"/>
                <a:gd name="T20" fmla="*/ 556 w 562"/>
                <a:gd name="T21" fmla="*/ 266 h 2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62"/>
                <a:gd name="T34" fmla="*/ 0 h 266"/>
                <a:gd name="T35" fmla="*/ 562 w 562"/>
                <a:gd name="T36" fmla="*/ 266 h 2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62" h="266">
                  <a:moveTo>
                    <a:pt x="4" y="264"/>
                  </a:moveTo>
                  <a:cubicBezTo>
                    <a:pt x="4" y="212"/>
                    <a:pt x="0" y="4"/>
                    <a:pt x="52" y="6"/>
                  </a:cubicBezTo>
                  <a:cubicBezTo>
                    <a:pt x="106" y="4"/>
                    <a:pt x="58" y="266"/>
                    <a:pt x="108" y="266"/>
                  </a:cubicBezTo>
                  <a:cubicBezTo>
                    <a:pt x="158" y="266"/>
                    <a:pt x="126" y="0"/>
                    <a:pt x="174" y="0"/>
                  </a:cubicBezTo>
                  <a:cubicBezTo>
                    <a:pt x="222" y="0"/>
                    <a:pt x="184" y="266"/>
                    <a:pt x="228" y="264"/>
                  </a:cubicBezTo>
                  <a:cubicBezTo>
                    <a:pt x="272" y="262"/>
                    <a:pt x="244" y="8"/>
                    <a:pt x="288" y="8"/>
                  </a:cubicBezTo>
                  <a:cubicBezTo>
                    <a:pt x="332" y="8"/>
                    <a:pt x="304" y="266"/>
                    <a:pt x="354" y="266"/>
                  </a:cubicBezTo>
                  <a:cubicBezTo>
                    <a:pt x="404" y="266"/>
                    <a:pt x="336" y="8"/>
                    <a:pt x="402" y="8"/>
                  </a:cubicBezTo>
                  <a:cubicBezTo>
                    <a:pt x="468" y="8"/>
                    <a:pt x="416" y="266"/>
                    <a:pt x="464" y="264"/>
                  </a:cubicBezTo>
                  <a:cubicBezTo>
                    <a:pt x="512" y="262"/>
                    <a:pt x="450" y="4"/>
                    <a:pt x="506" y="6"/>
                  </a:cubicBezTo>
                  <a:cubicBezTo>
                    <a:pt x="562" y="8"/>
                    <a:pt x="546" y="192"/>
                    <a:pt x="556" y="26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1" name="Freeform 40">
              <a:extLst>
                <a:ext uri="{FF2B5EF4-FFF2-40B4-BE49-F238E27FC236}">
                  <a16:creationId xmlns:a16="http://schemas.microsoft.com/office/drawing/2014/main" id="{DE43773C-7E50-304C-B96C-1B9B432AB750}"/>
                </a:ext>
              </a:extLst>
            </p:cNvPr>
            <p:cNvSpPr>
              <a:spLocks/>
            </p:cNvSpPr>
            <p:nvPr/>
          </p:nvSpPr>
          <p:spPr bwMode="auto">
            <a:xfrm>
              <a:off x="3523" y="830"/>
              <a:ext cx="269" cy="266"/>
            </a:xfrm>
            <a:custGeom>
              <a:avLst/>
              <a:gdLst>
                <a:gd name="T0" fmla="*/ 0 w 562"/>
                <a:gd name="T1" fmla="*/ 264 h 266"/>
                <a:gd name="T2" fmla="*/ 0 w 562"/>
                <a:gd name="T3" fmla="*/ 6 h 266"/>
                <a:gd name="T4" fmla="*/ 0 w 562"/>
                <a:gd name="T5" fmla="*/ 266 h 266"/>
                <a:gd name="T6" fmla="*/ 0 w 562"/>
                <a:gd name="T7" fmla="*/ 0 h 266"/>
                <a:gd name="T8" fmla="*/ 0 w 562"/>
                <a:gd name="T9" fmla="*/ 264 h 266"/>
                <a:gd name="T10" fmla="*/ 0 w 562"/>
                <a:gd name="T11" fmla="*/ 8 h 266"/>
                <a:gd name="T12" fmla="*/ 0 w 562"/>
                <a:gd name="T13" fmla="*/ 266 h 266"/>
                <a:gd name="T14" fmla="*/ 0 w 562"/>
                <a:gd name="T15" fmla="*/ 8 h 266"/>
                <a:gd name="T16" fmla="*/ 0 w 562"/>
                <a:gd name="T17" fmla="*/ 264 h 266"/>
                <a:gd name="T18" fmla="*/ 0 w 562"/>
                <a:gd name="T19" fmla="*/ 6 h 266"/>
                <a:gd name="T20" fmla="*/ 0 w 562"/>
                <a:gd name="T21" fmla="*/ 266 h 2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62"/>
                <a:gd name="T34" fmla="*/ 0 h 266"/>
                <a:gd name="T35" fmla="*/ 562 w 562"/>
                <a:gd name="T36" fmla="*/ 266 h 2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62" h="266">
                  <a:moveTo>
                    <a:pt x="4" y="264"/>
                  </a:moveTo>
                  <a:cubicBezTo>
                    <a:pt x="4" y="212"/>
                    <a:pt x="0" y="4"/>
                    <a:pt x="52" y="6"/>
                  </a:cubicBezTo>
                  <a:cubicBezTo>
                    <a:pt x="106" y="4"/>
                    <a:pt x="58" y="266"/>
                    <a:pt x="108" y="266"/>
                  </a:cubicBezTo>
                  <a:cubicBezTo>
                    <a:pt x="158" y="266"/>
                    <a:pt x="126" y="0"/>
                    <a:pt x="174" y="0"/>
                  </a:cubicBezTo>
                  <a:cubicBezTo>
                    <a:pt x="222" y="0"/>
                    <a:pt x="184" y="266"/>
                    <a:pt x="228" y="264"/>
                  </a:cubicBezTo>
                  <a:cubicBezTo>
                    <a:pt x="272" y="262"/>
                    <a:pt x="244" y="8"/>
                    <a:pt x="288" y="8"/>
                  </a:cubicBezTo>
                  <a:cubicBezTo>
                    <a:pt x="332" y="8"/>
                    <a:pt x="304" y="266"/>
                    <a:pt x="354" y="266"/>
                  </a:cubicBezTo>
                  <a:cubicBezTo>
                    <a:pt x="404" y="266"/>
                    <a:pt x="336" y="8"/>
                    <a:pt x="402" y="8"/>
                  </a:cubicBezTo>
                  <a:cubicBezTo>
                    <a:pt x="468" y="8"/>
                    <a:pt x="416" y="266"/>
                    <a:pt x="464" y="264"/>
                  </a:cubicBezTo>
                  <a:cubicBezTo>
                    <a:pt x="512" y="262"/>
                    <a:pt x="450" y="4"/>
                    <a:pt x="506" y="6"/>
                  </a:cubicBezTo>
                  <a:cubicBezTo>
                    <a:pt x="562" y="8"/>
                    <a:pt x="546" y="192"/>
                    <a:pt x="556" y="26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 name="Line 41">
              <a:extLst>
                <a:ext uri="{FF2B5EF4-FFF2-40B4-BE49-F238E27FC236}">
                  <a16:creationId xmlns:a16="http://schemas.microsoft.com/office/drawing/2014/main" id="{F3C41C4C-476A-2B45-A87C-AC86EB4B906A}"/>
                </a:ext>
              </a:extLst>
            </p:cNvPr>
            <p:cNvSpPr>
              <a:spLocks noChangeShapeType="1"/>
            </p:cNvSpPr>
            <p:nvPr/>
          </p:nvSpPr>
          <p:spPr bwMode="auto">
            <a:xfrm flipH="1">
              <a:off x="3433" y="1137"/>
              <a:ext cx="128" cy="29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3" name="Group 42">
            <a:extLst>
              <a:ext uri="{FF2B5EF4-FFF2-40B4-BE49-F238E27FC236}">
                <a16:creationId xmlns:a16="http://schemas.microsoft.com/office/drawing/2014/main" id="{1414EDE7-3EB5-FA4B-9DD4-E6353E20A214}"/>
              </a:ext>
            </a:extLst>
          </p:cNvPr>
          <p:cNvGrpSpPr>
            <a:grpSpLocks/>
          </p:cNvGrpSpPr>
          <p:nvPr/>
        </p:nvGrpSpPr>
        <p:grpSpPr bwMode="auto">
          <a:xfrm>
            <a:off x="4148192" y="3378773"/>
            <a:ext cx="3021013" cy="2114550"/>
            <a:chOff x="2606" y="951"/>
            <a:chExt cx="1903" cy="1332"/>
          </a:xfrm>
        </p:grpSpPr>
        <p:sp>
          <p:nvSpPr>
            <p:cNvPr id="764" name="Text Box 43">
              <a:extLst>
                <a:ext uri="{FF2B5EF4-FFF2-40B4-BE49-F238E27FC236}">
                  <a16:creationId xmlns:a16="http://schemas.microsoft.com/office/drawing/2014/main" id="{DABDD206-5A3A-D340-BB90-8F77E10D875A}"/>
                </a:ext>
              </a:extLst>
            </p:cNvPr>
            <p:cNvSpPr txBox="1">
              <a:spLocks noChangeArrowheads="1"/>
            </p:cNvSpPr>
            <p:nvPr/>
          </p:nvSpPr>
          <p:spPr bwMode="auto">
            <a:xfrm>
              <a:off x="3378" y="2071"/>
              <a:ext cx="65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Channels</a:t>
              </a:r>
            </a:p>
          </p:txBody>
        </p:sp>
        <p:sp>
          <p:nvSpPr>
            <p:cNvPr id="765" name="Line 44">
              <a:extLst>
                <a:ext uri="{FF2B5EF4-FFF2-40B4-BE49-F238E27FC236}">
                  <a16:creationId xmlns:a16="http://schemas.microsoft.com/office/drawing/2014/main" id="{96A99A85-0F58-904A-AB9B-E4531C44DB12}"/>
                </a:ext>
              </a:extLst>
            </p:cNvPr>
            <p:cNvSpPr>
              <a:spLocks noChangeShapeType="1"/>
            </p:cNvSpPr>
            <p:nvPr/>
          </p:nvSpPr>
          <p:spPr bwMode="auto">
            <a:xfrm>
              <a:off x="2994" y="951"/>
              <a:ext cx="0" cy="97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6" name="Line 45">
              <a:extLst>
                <a:ext uri="{FF2B5EF4-FFF2-40B4-BE49-F238E27FC236}">
                  <a16:creationId xmlns:a16="http://schemas.microsoft.com/office/drawing/2014/main" id="{A885BDAD-38DA-9945-9914-5285D7B28868}"/>
                </a:ext>
              </a:extLst>
            </p:cNvPr>
            <p:cNvSpPr>
              <a:spLocks noChangeShapeType="1"/>
            </p:cNvSpPr>
            <p:nvPr/>
          </p:nvSpPr>
          <p:spPr bwMode="auto">
            <a:xfrm flipV="1">
              <a:off x="2988" y="1935"/>
              <a:ext cx="146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 name="Text Box 46">
              <a:extLst>
                <a:ext uri="{FF2B5EF4-FFF2-40B4-BE49-F238E27FC236}">
                  <a16:creationId xmlns:a16="http://schemas.microsoft.com/office/drawing/2014/main" id="{8BF7E924-5AB7-6A4B-A536-D9B3F0CB3266}"/>
                </a:ext>
              </a:extLst>
            </p:cNvPr>
            <p:cNvSpPr txBox="1">
              <a:spLocks noChangeArrowheads="1"/>
            </p:cNvSpPr>
            <p:nvPr/>
          </p:nvSpPr>
          <p:spPr bwMode="auto">
            <a:xfrm>
              <a:off x="2978"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68" name="Line 47">
              <a:extLst>
                <a:ext uri="{FF2B5EF4-FFF2-40B4-BE49-F238E27FC236}">
                  <a16:creationId xmlns:a16="http://schemas.microsoft.com/office/drawing/2014/main" id="{C5F7EC21-9A57-044C-B03E-D70253629E40}"/>
                </a:ext>
              </a:extLst>
            </p:cNvPr>
            <p:cNvSpPr>
              <a:spLocks noChangeShapeType="1"/>
            </p:cNvSpPr>
            <p:nvPr/>
          </p:nvSpPr>
          <p:spPr bwMode="auto">
            <a:xfrm>
              <a:off x="3150"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 name="Text Box 48">
              <a:extLst>
                <a:ext uri="{FF2B5EF4-FFF2-40B4-BE49-F238E27FC236}">
                  <a16:creationId xmlns:a16="http://schemas.microsoft.com/office/drawing/2014/main" id="{6475D001-0073-DB4C-A0B0-434A434B76BE}"/>
                </a:ext>
              </a:extLst>
            </p:cNvPr>
            <p:cNvSpPr txBox="1">
              <a:spLocks noChangeArrowheads="1"/>
            </p:cNvSpPr>
            <p:nvPr/>
          </p:nvSpPr>
          <p:spPr bwMode="auto">
            <a:xfrm>
              <a:off x="3152"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0" name="Text Box 49">
              <a:extLst>
                <a:ext uri="{FF2B5EF4-FFF2-40B4-BE49-F238E27FC236}">
                  <a16:creationId xmlns:a16="http://schemas.microsoft.com/office/drawing/2014/main" id="{1B807D23-BCCC-3D4C-B708-860B33956FC7}"/>
                </a:ext>
              </a:extLst>
            </p:cNvPr>
            <p:cNvSpPr txBox="1">
              <a:spLocks noChangeArrowheads="1"/>
            </p:cNvSpPr>
            <p:nvPr/>
          </p:nvSpPr>
          <p:spPr bwMode="auto">
            <a:xfrm>
              <a:off x="3338"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1" name="Text Box 50">
              <a:extLst>
                <a:ext uri="{FF2B5EF4-FFF2-40B4-BE49-F238E27FC236}">
                  <a16:creationId xmlns:a16="http://schemas.microsoft.com/office/drawing/2014/main" id="{2C33566C-1F05-5942-A816-F796C365DA74}"/>
                </a:ext>
              </a:extLst>
            </p:cNvPr>
            <p:cNvSpPr txBox="1">
              <a:spLocks noChangeArrowheads="1"/>
            </p:cNvSpPr>
            <p:nvPr/>
          </p:nvSpPr>
          <p:spPr bwMode="auto">
            <a:xfrm>
              <a:off x="3524"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2" name="Text Box 51">
              <a:extLst>
                <a:ext uri="{FF2B5EF4-FFF2-40B4-BE49-F238E27FC236}">
                  <a16:creationId xmlns:a16="http://schemas.microsoft.com/office/drawing/2014/main" id="{DB987581-9E28-AC45-BEFB-196B623D0090}"/>
                </a:ext>
              </a:extLst>
            </p:cNvPr>
            <p:cNvSpPr txBox="1">
              <a:spLocks noChangeArrowheads="1"/>
            </p:cNvSpPr>
            <p:nvPr/>
          </p:nvSpPr>
          <p:spPr bwMode="auto">
            <a:xfrm>
              <a:off x="3710"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3" name="Text Box 52">
              <a:extLst>
                <a:ext uri="{FF2B5EF4-FFF2-40B4-BE49-F238E27FC236}">
                  <a16:creationId xmlns:a16="http://schemas.microsoft.com/office/drawing/2014/main" id="{33A1BB55-0F18-824B-8857-AF323BE0F781}"/>
                </a:ext>
              </a:extLst>
            </p:cNvPr>
            <p:cNvSpPr txBox="1">
              <a:spLocks noChangeArrowheads="1"/>
            </p:cNvSpPr>
            <p:nvPr/>
          </p:nvSpPr>
          <p:spPr bwMode="auto">
            <a:xfrm>
              <a:off x="3896"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4" name="Text Box 53">
              <a:extLst>
                <a:ext uri="{FF2B5EF4-FFF2-40B4-BE49-F238E27FC236}">
                  <a16:creationId xmlns:a16="http://schemas.microsoft.com/office/drawing/2014/main" id="{7B84E930-AB40-A748-8E0A-E98ABEEF0B85}"/>
                </a:ext>
              </a:extLst>
            </p:cNvPr>
            <p:cNvSpPr txBox="1">
              <a:spLocks noChangeArrowheads="1"/>
            </p:cNvSpPr>
            <p:nvPr/>
          </p:nvSpPr>
          <p:spPr bwMode="auto">
            <a:xfrm>
              <a:off x="4058" y="1402"/>
              <a:ext cx="174"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775" name="Text Box 54">
              <a:extLst>
                <a:ext uri="{FF2B5EF4-FFF2-40B4-BE49-F238E27FC236}">
                  <a16:creationId xmlns:a16="http://schemas.microsoft.com/office/drawing/2014/main" id="{7D32602C-6A0F-7C40-A551-B7104647A3E2}"/>
                </a:ext>
              </a:extLst>
            </p:cNvPr>
            <p:cNvSpPr txBox="1">
              <a:spLocks noChangeArrowheads="1"/>
            </p:cNvSpPr>
            <p:nvPr/>
          </p:nvSpPr>
          <p:spPr bwMode="auto">
            <a:xfrm>
              <a:off x="4202" y="1402"/>
              <a:ext cx="174"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776" name="Text Box 55">
              <a:extLst>
                <a:ext uri="{FF2B5EF4-FFF2-40B4-BE49-F238E27FC236}">
                  <a16:creationId xmlns:a16="http://schemas.microsoft.com/office/drawing/2014/main" id="{581BF3CE-EA1F-7F45-A6B9-7961CB9412D4}"/>
                </a:ext>
              </a:extLst>
            </p:cNvPr>
            <p:cNvSpPr txBox="1">
              <a:spLocks noChangeArrowheads="1"/>
            </p:cNvSpPr>
            <p:nvPr/>
          </p:nvSpPr>
          <p:spPr bwMode="auto">
            <a:xfrm>
              <a:off x="4330" y="1114"/>
              <a:ext cx="178"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a:t>
              </a:r>
            </a:p>
          </p:txBody>
        </p:sp>
        <p:sp>
          <p:nvSpPr>
            <p:cNvPr id="777" name="Line 56">
              <a:extLst>
                <a:ext uri="{FF2B5EF4-FFF2-40B4-BE49-F238E27FC236}">
                  <a16:creationId xmlns:a16="http://schemas.microsoft.com/office/drawing/2014/main" id="{0A951E6D-91FD-BC40-BE35-736F691CF64D}"/>
                </a:ext>
              </a:extLst>
            </p:cNvPr>
            <p:cNvSpPr>
              <a:spLocks noChangeShapeType="1"/>
            </p:cNvSpPr>
            <p:nvPr/>
          </p:nvSpPr>
          <p:spPr bwMode="auto">
            <a:xfrm>
              <a:off x="3334"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 name="Line 57">
              <a:extLst>
                <a:ext uri="{FF2B5EF4-FFF2-40B4-BE49-F238E27FC236}">
                  <a16:creationId xmlns:a16="http://schemas.microsoft.com/office/drawing/2014/main" id="{5E999E18-DC3D-B24A-84D5-3F3C023E3DBB}"/>
                </a:ext>
              </a:extLst>
            </p:cNvPr>
            <p:cNvSpPr>
              <a:spLocks noChangeShapeType="1"/>
            </p:cNvSpPr>
            <p:nvPr/>
          </p:nvSpPr>
          <p:spPr bwMode="auto">
            <a:xfrm>
              <a:off x="3514"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 name="Line 58">
              <a:extLst>
                <a:ext uri="{FF2B5EF4-FFF2-40B4-BE49-F238E27FC236}">
                  <a16:creationId xmlns:a16="http://schemas.microsoft.com/office/drawing/2014/main" id="{B443EB33-B0B3-404F-9B62-D37E25919C08}"/>
                </a:ext>
              </a:extLst>
            </p:cNvPr>
            <p:cNvSpPr>
              <a:spLocks noChangeShapeType="1"/>
            </p:cNvSpPr>
            <p:nvPr/>
          </p:nvSpPr>
          <p:spPr bwMode="auto">
            <a:xfrm>
              <a:off x="3698"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0" name="Line 59">
              <a:extLst>
                <a:ext uri="{FF2B5EF4-FFF2-40B4-BE49-F238E27FC236}">
                  <a16:creationId xmlns:a16="http://schemas.microsoft.com/office/drawing/2014/main" id="{A793C62D-57C3-2D4F-B19B-F421124A1C6A}"/>
                </a:ext>
              </a:extLst>
            </p:cNvPr>
            <p:cNvSpPr>
              <a:spLocks noChangeShapeType="1"/>
            </p:cNvSpPr>
            <p:nvPr/>
          </p:nvSpPr>
          <p:spPr bwMode="auto">
            <a:xfrm>
              <a:off x="3886"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 name="Line 60">
              <a:extLst>
                <a:ext uri="{FF2B5EF4-FFF2-40B4-BE49-F238E27FC236}">
                  <a16:creationId xmlns:a16="http://schemas.microsoft.com/office/drawing/2014/main" id="{95DF33C1-5139-264C-9193-58D2C4E3D2B7}"/>
                </a:ext>
              </a:extLst>
            </p:cNvPr>
            <p:cNvSpPr>
              <a:spLocks noChangeShapeType="1"/>
            </p:cNvSpPr>
            <p:nvPr/>
          </p:nvSpPr>
          <p:spPr bwMode="auto">
            <a:xfrm>
              <a:off x="4062" y="1871"/>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 name="Line 61">
              <a:extLst>
                <a:ext uri="{FF2B5EF4-FFF2-40B4-BE49-F238E27FC236}">
                  <a16:creationId xmlns:a16="http://schemas.microsoft.com/office/drawing/2014/main" id="{238C031D-4A29-2A49-A018-22AFDE60817F}"/>
                </a:ext>
              </a:extLst>
            </p:cNvPr>
            <p:cNvSpPr>
              <a:spLocks noChangeShapeType="1"/>
            </p:cNvSpPr>
            <p:nvPr/>
          </p:nvSpPr>
          <p:spPr bwMode="auto">
            <a:xfrm>
              <a:off x="4218" y="1867"/>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 name="Line 62">
              <a:extLst>
                <a:ext uri="{FF2B5EF4-FFF2-40B4-BE49-F238E27FC236}">
                  <a16:creationId xmlns:a16="http://schemas.microsoft.com/office/drawing/2014/main" id="{62551AD8-B04E-164B-B96F-D9A6D99C52E1}"/>
                </a:ext>
              </a:extLst>
            </p:cNvPr>
            <p:cNvSpPr>
              <a:spLocks noChangeShapeType="1"/>
            </p:cNvSpPr>
            <p:nvPr/>
          </p:nvSpPr>
          <p:spPr bwMode="auto">
            <a:xfrm>
              <a:off x="4362" y="1859"/>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 name="Text Box 63">
              <a:extLst>
                <a:ext uri="{FF2B5EF4-FFF2-40B4-BE49-F238E27FC236}">
                  <a16:creationId xmlns:a16="http://schemas.microsoft.com/office/drawing/2014/main" id="{BCEF8A3A-5771-C646-B965-99C3210D43EE}"/>
                </a:ext>
              </a:extLst>
            </p:cNvPr>
            <p:cNvSpPr txBox="1">
              <a:spLocks noChangeArrowheads="1"/>
            </p:cNvSpPr>
            <p:nvPr/>
          </p:nvSpPr>
          <p:spPr bwMode="auto">
            <a:xfrm>
              <a:off x="2985"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p:txBody>
        </p:sp>
        <p:sp>
          <p:nvSpPr>
            <p:cNvPr id="785" name="Text Box 64">
              <a:extLst>
                <a:ext uri="{FF2B5EF4-FFF2-40B4-BE49-F238E27FC236}">
                  <a16:creationId xmlns:a16="http://schemas.microsoft.com/office/drawing/2014/main" id="{D6D160AE-E751-A445-AFBC-4A5A297DFE78}"/>
                </a:ext>
              </a:extLst>
            </p:cNvPr>
            <p:cNvSpPr txBox="1">
              <a:spLocks noChangeArrowheads="1"/>
            </p:cNvSpPr>
            <p:nvPr/>
          </p:nvSpPr>
          <p:spPr bwMode="auto">
            <a:xfrm>
              <a:off x="3153"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p:txBody>
        </p:sp>
        <p:sp>
          <p:nvSpPr>
            <p:cNvPr id="786" name="Text Box 65">
              <a:extLst>
                <a:ext uri="{FF2B5EF4-FFF2-40B4-BE49-F238E27FC236}">
                  <a16:creationId xmlns:a16="http://schemas.microsoft.com/office/drawing/2014/main" id="{C78FDC46-A5E0-8E4B-A27F-2AE7E8E5806D}"/>
                </a:ext>
              </a:extLst>
            </p:cNvPr>
            <p:cNvSpPr txBox="1">
              <a:spLocks noChangeArrowheads="1"/>
            </p:cNvSpPr>
            <p:nvPr/>
          </p:nvSpPr>
          <p:spPr bwMode="auto">
            <a:xfrm>
              <a:off x="3345"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787" name="Text Box 66">
              <a:extLst>
                <a:ext uri="{FF2B5EF4-FFF2-40B4-BE49-F238E27FC236}">
                  <a16:creationId xmlns:a16="http://schemas.microsoft.com/office/drawing/2014/main" id="{43B98151-958B-2048-A7D4-503448CF7050}"/>
                </a:ext>
              </a:extLst>
            </p:cNvPr>
            <p:cNvSpPr txBox="1">
              <a:spLocks noChangeArrowheads="1"/>
            </p:cNvSpPr>
            <p:nvPr/>
          </p:nvSpPr>
          <p:spPr bwMode="auto">
            <a:xfrm>
              <a:off x="3517"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4</a:t>
              </a:r>
            </a:p>
          </p:txBody>
        </p:sp>
        <p:sp>
          <p:nvSpPr>
            <p:cNvPr id="788" name="Text Box 67">
              <a:extLst>
                <a:ext uri="{FF2B5EF4-FFF2-40B4-BE49-F238E27FC236}">
                  <a16:creationId xmlns:a16="http://schemas.microsoft.com/office/drawing/2014/main" id="{600CEE94-BC49-B348-950C-BA97B4D4A36B}"/>
                </a:ext>
              </a:extLst>
            </p:cNvPr>
            <p:cNvSpPr txBox="1">
              <a:spLocks noChangeArrowheads="1"/>
            </p:cNvSpPr>
            <p:nvPr/>
          </p:nvSpPr>
          <p:spPr bwMode="auto">
            <a:xfrm>
              <a:off x="3705"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5</a:t>
              </a:r>
            </a:p>
          </p:txBody>
        </p:sp>
        <p:sp>
          <p:nvSpPr>
            <p:cNvPr id="789" name="Text Box 68">
              <a:extLst>
                <a:ext uri="{FF2B5EF4-FFF2-40B4-BE49-F238E27FC236}">
                  <a16:creationId xmlns:a16="http://schemas.microsoft.com/office/drawing/2014/main" id="{05095793-31D3-914F-9F27-39504524FEB7}"/>
                </a:ext>
              </a:extLst>
            </p:cNvPr>
            <p:cNvSpPr txBox="1">
              <a:spLocks noChangeArrowheads="1"/>
            </p:cNvSpPr>
            <p:nvPr/>
          </p:nvSpPr>
          <p:spPr bwMode="auto">
            <a:xfrm>
              <a:off x="3893"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6</a:t>
              </a:r>
            </a:p>
          </p:txBody>
        </p:sp>
        <p:sp>
          <p:nvSpPr>
            <p:cNvPr id="790" name="Text Box 69">
              <a:extLst>
                <a:ext uri="{FF2B5EF4-FFF2-40B4-BE49-F238E27FC236}">
                  <a16:creationId xmlns:a16="http://schemas.microsoft.com/office/drawing/2014/main" id="{85BECD34-15AC-AE4C-AD97-183EE41CDD91}"/>
                </a:ext>
              </a:extLst>
            </p:cNvPr>
            <p:cNvSpPr txBox="1">
              <a:spLocks noChangeArrowheads="1"/>
            </p:cNvSpPr>
            <p:nvPr/>
          </p:nvSpPr>
          <p:spPr bwMode="auto">
            <a:xfrm>
              <a:off x="4057"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7</a:t>
              </a:r>
            </a:p>
          </p:txBody>
        </p:sp>
        <p:sp>
          <p:nvSpPr>
            <p:cNvPr id="791" name="Text Box 70">
              <a:extLst>
                <a:ext uri="{FF2B5EF4-FFF2-40B4-BE49-F238E27FC236}">
                  <a16:creationId xmlns:a16="http://schemas.microsoft.com/office/drawing/2014/main" id="{BF7A1046-C5C6-4A46-AA39-D48887B74952}"/>
                </a:ext>
              </a:extLst>
            </p:cNvPr>
            <p:cNvSpPr txBox="1">
              <a:spLocks noChangeArrowheads="1"/>
            </p:cNvSpPr>
            <p:nvPr/>
          </p:nvSpPr>
          <p:spPr bwMode="auto">
            <a:xfrm>
              <a:off x="4205"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8</a:t>
              </a:r>
            </a:p>
          </p:txBody>
        </p:sp>
        <p:sp>
          <p:nvSpPr>
            <p:cNvPr id="792" name="Text Box 71">
              <a:extLst>
                <a:ext uri="{FF2B5EF4-FFF2-40B4-BE49-F238E27FC236}">
                  <a16:creationId xmlns:a16="http://schemas.microsoft.com/office/drawing/2014/main" id="{66F573F0-E355-984D-BB14-098438C95190}"/>
                </a:ext>
              </a:extLst>
            </p:cNvPr>
            <p:cNvSpPr txBox="1">
              <a:spLocks noChangeArrowheads="1"/>
            </p:cNvSpPr>
            <p:nvPr/>
          </p:nvSpPr>
          <p:spPr bwMode="auto">
            <a:xfrm>
              <a:off x="4349"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9</a:t>
              </a:r>
            </a:p>
          </p:txBody>
        </p:sp>
        <p:sp>
          <p:nvSpPr>
            <p:cNvPr id="793" name="Freeform 72">
              <a:extLst>
                <a:ext uri="{FF2B5EF4-FFF2-40B4-BE49-F238E27FC236}">
                  <a16:creationId xmlns:a16="http://schemas.microsoft.com/office/drawing/2014/main" id="{D4F248F8-0F2C-E74E-B550-F9A925A231DE}"/>
                </a:ext>
              </a:extLst>
            </p:cNvPr>
            <p:cNvSpPr>
              <a:spLocks/>
            </p:cNvSpPr>
            <p:nvPr/>
          </p:nvSpPr>
          <p:spPr bwMode="auto">
            <a:xfrm>
              <a:off x="2606" y="969"/>
              <a:ext cx="375" cy="969"/>
            </a:xfrm>
            <a:custGeom>
              <a:avLst/>
              <a:gdLst>
                <a:gd name="T0" fmla="*/ 375 w 375"/>
                <a:gd name="T1" fmla="*/ 0 h 969"/>
                <a:gd name="T2" fmla="*/ 0 w 375"/>
                <a:gd name="T3" fmla="*/ 485 h 969"/>
                <a:gd name="T4" fmla="*/ 375 w 375"/>
                <a:gd name="T5" fmla="*/ 969 h 969"/>
                <a:gd name="T6" fmla="*/ 375 w 375"/>
                <a:gd name="T7" fmla="*/ 0 h 969"/>
                <a:gd name="T8" fmla="*/ 0 60000 65536"/>
                <a:gd name="T9" fmla="*/ 0 60000 65536"/>
                <a:gd name="T10" fmla="*/ 0 60000 65536"/>
                <a:gd name="T11" fmla="*/ 0 60000 65536"/>
                <a:gd name="T12" fmla="*/ 0 w 375"/>
                <a:gd name="T13" fmla="*/ 0 h 969"/>
                <a:gd name="T14" fmla="*/ 375 w 375"/>
                <a:gd name="T15" fmla="*/ 969 h 969"/>
              </a:gdLst>
              <a:ahLst/>
              <a:cxnLst>
                <a:cxn ang="T8">
                  <a:pos x="T0" y="T1"/>
                </a:cxn>
                <a:cxn ang="T9">
                  <a:pos x="T2" y="T3"/>
                </a:cxn>
                <a:cxn ang="T10">
                  <a:pos x="T4" y="T5"/>
                </a:cxn>
                <a:cxn ang="T11">
                  <a:pos x="T6" y="T7"/>
                </a:cxn>
              </a:cxnLst>
              <a:rect l="T12" t="T13" r="T14" b="T15"/>
              <a:pathLst>
                <a:path w="375" h="969">
                  <a:moveTo>
                    <a:pt x="375" y="0"/>
                  </a:moveTo>
                  <a:lnTo>
                    <a:pt x="0" y="485"/>
                  </a:lnTo>
                  <a:lnTo>
                    <a:pt x="375" y="969"/>
                  </a:lnTo>
                  <a:lnTo>
                    <a:pt x="375" y="0"/>
                  </a:lnTo>
                  <a:close/>
                </a:path>
              </a:pathLst>
            </a:custGeom>
            <a:gradFill rotWithShape="1">
              <a:gsLst>
                <a:gs pos="0">
                  <a:srgbClr val="0000A8"/>
                </a:gs>
                <a:gs pos="100000">
                  <a:schemeClr val="bg1"/>
                </a:gs>
              </a:gsLst>
              <a:lin ang="0" scaled="1"/>
            </a:gra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4" name="Group 73">
            <a:extLst>
              <a:ext uri="{FF2B5EF4-FFF2-40B4-BE49-F238E27FC236}">
                <a16:creationId xmlns:a16="http://schemas.microsoft.com/office/drawing/2014/main" id="{03B9EEF1-DE3C-7048-980C-B0ACEAA55DF2}"/>
              </a:ext>
            </a:extLst>
          </p:cNvPr>
          <p:cNvGrpSpPr>
            <a:grpSpLocks/>
          </p:cNvGrpSpPr>
          <p:nvPr/>
        </p:nvGrpSpPr>
        <p:grpSpPr bwMode="auto">
          <a:xfrm flipV="1">
            <a:off x="2479730" y="2273873"/>
            <a:ext cx="1666875" cy="2062163"/>
            <a:chOff x="1511" y="1371"/>
            <a:chExt cx="1050" cy="1299"/>
          </a:xfrm>
        </p:grpSpPr>
        <p:grpSp>
          <p:nvGrpSpPr>
            <p:cNvPr id="795" name="Group 74">
              <a:extLst>
                <a:ext uri="{FF2B5EF4-FFF2-40B4-BE49-F238E27FC236}">
                  <a16:creationId xmlns:a16="http://schemas.microsoft.com/office/drawing/2014/main" id="{DBCD71CC-0E63-0D4A-BD4C-E0B99F805618}"/>
                </a:ext>
              </a:extLst>
            </p:cNvPr>
            <p:cNvGrpSpPr>
              <a:grpSpLocks/>
            </p:cNvGrpSpPr>
            <p:nvPr/>
          </p:nvGrpSpPr>
          <p:grpSpPr bwMode="auto">
            <a:xfrm>
              <a:off x="1511" y="1371"/>
              <a:ext cx="1050" cy="198"/>
              <a:chOff x="1614" y="1494"/>
              <a:chExt cx="1050" cy="198"/>
            </a:xfrm>
          </p:grpSpPr>
          <p:sp>
            <p:nvSpPr>
              <p:cNvPr id="797" name="Rectangle 75">
                <a:extLst>
                  <a:ext uri="{FF2B5EF4-FFF2-40B4-BE49-F238E27FC236}">
                    <a16:creationId xmlns:a16="http://schemas.microsoft.com/office/drawing/2014/main" id="{B0909C13-5FD7-C24B-8A89-CD6B72081D29}"/>
                  </a:ext>
                </a:extLst>
              </p:cNvPr>
              <p:cNvSpPr>
                <a:spLocks noChangeArrowheads="1"/>
              </p:cNvSpPr>
              <p:nvPr/>
            </p:nvSpPr>
            <p:spPr bwMode="auto">
              <a:xfrm>
                <a:off x="2358" y="1500"/>
                <a:ext cx="168" cy="174"/>
              </a:xfrm>
              <a:prstGeom prst="rect">
                <a:avLst/>
              </a:prstGeom>
              <a:solidFill>
                <a:schemeClr val="bg1"/>
              </a:solidFill>
              <a:ln w="9525">
                <a:solidFill>
                  <a:schemeClr val="tx1"/>
                </a:solidFill>
                <a:miter lim="800000"/>
                <a:headEnd/>
                <a:tailEnd/>
              </a:ln>
            </p:spPr>
            <p:txBody>
              <a:bodyPr rot="10800000"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98" name="Freeform 76">
                <a:extLst>
                  <a:ext uri="{FF2B5EF4-FFF2-40B4-BE49-F238E27FC236}">
                    <a16:creationId xmlns:a16="http://schemas.microsoft.com/office/drawing/2014/main" id="{523176FF-760E-914C-B9AE-F376F40F42D2}"/>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 name="T21" fmla="*/ 0 w 896"/>
                  <a:gd name="T22" fmla="*/ 0 h 198"/>
                  <a:gd name="T23" fmla="*/ 896 w 896"/>
                  <a:gd name="T24" fmla="*/ 198 h 1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chemeClr val="tx1"/>
                  </a:gs>
                  <a:gs pos="50000">
                    <a:schemeClr val="bg1"/>
                  </a:gs>
                  <a:gs pos="100000">
                    <a:schemeClr val="tx1"/>
                  </a:gs>
                </a:gsLst>
                <a:lin ang="5400000" scaled="1"/>
              </a:gradFill>
              <a:ln w="9525">
                <a:solidFill>
                  <a:schemeClr val="tx1"/>
                </a:solidFill>
                <a:round/>
                <a:headEnd/>
                <a:tailEnd/>
              </a:ln>
            </p:spPr>
            <p:txBody>
              <a:bodyPr rot="1080000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imes New Roman" pitchFamily="18" charset="0"/>
                  <a:ea typeface="+mn-ea"/>
                  <a:cs typeface="+mn-cs"/>
                </a:endParaRPr>
              </a:p>
            </p:txBody>
          </p:sp>
          <p:sp>
            <p:nvSpPr>
              <p:cNvPr id="799" name="Oval 77">
                <a:extLst>
                  <a:ext uri="{FF2B5EF4-FFF2-40B4-BE49-F238E27FC236}">
                    <a16:creationId xmlns:a16="http://schemas.microsoft.com/office/drawing/2014/main" id="{EB6F8498-309C-5147-B645-AC0F357513B1}"/>
                  </a:ext>
                </a:extLst>
              </p:cNvPr>
              <p:cNvSpPr>
                <a:spLocks noChangeArrowheads="1"/>
              </p:cNvSpPr>
              <p:nvPr/>
            </p:nvSpPr>
            <p:spPr bwMode="auto">
              <a:xfrm>
                <a:off x="2502" y="1506"/>
                <a:ext cx="62" cy="168"/>
              </a:xfrm>
              <a:prstGeom prst="ellipse">
                <a:avLst/>
              </a:prstGeom>
              <a:solidFill>
                <a:schemeClr val="bg1"/>
              </a:solidFill>
              <a:ln w="9525">
                <a:solidFill>
                  <a:schemeClr val="tx1"/>
                </a:solidFill>
                <a:round/>
                <a:headEnd/>
                <a:tailEnd/>
              </a:ln>
            </p:spPr>
            <p:txBody>
              <a:bodyPr rot="10800000"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0" name="Line 78">
                <a:extLst>
                  <a:ext uri="{FF2B5EF4-FFF2-40B4-BE49-F238E27FC236}">
                    <a16:creationId xmlns:a16="http://schemas.microsoft.com/office/drawing/2014/main" id="{13D6B6A0-C35F-1A40-A986-AA473118809F}"/>
                  </a:ext>
                </a:extLst>
              </p:cNvPr>
              <p:cNvSpPr>
                <a:spLocks noChangeShapeType="1"/>
              </p:cNvSpPr>
              <p:nvPr/>
            </p:nvSpPr>
            <p:spPr bwMode="auto">
              <a:xfrm>
                <a:off x="2526" y="1584"/>
                <a:ext cx="13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6" name="Freeform 79">
              <a:extLst>
                <a:ext uri="{FF2B5EF4-FFF2-40B4-BE49-F238E27FC236}">
                  <a16:creationId xmlns:a16="http://schemas.microsoft.com/office/drawing/2014/main" id="{AB540E37-D74B-6A49-8313-1A8880AF39CA}"/>
                </a:ext>
              </a:extLst>
            </p:cNvPr>
            <p:cNvSpPr>
              <a:spLocks/>
            </p:cNvSpPr>
            <p:nvPr/>
          </p:nvSpPr>
          <p:spPr bwMode="auto">
            <a:xfrm>
              <a:off x="1536" y="1563"/>
              <a:ext cx="1015" cy="1107"/>
            </a:xfrm>
            <a:custGeom>
              <a:avLst/>
              <a:gdLst>
                <a:gd name="T0" fmla="*/ 1015 w 1015"/>
                <a:gd name="T1" fmla="*/ 1107 h 1107"/>
                <a:gd name="T2" fmla="*/ 0 w 1015"/>
                <a:gd name="T3" fmla="*/ 0 h 1107"/>
                <a:gd name="T4" fmla="*/ 905 w 1015"/>
                <a:gd name="T5" fmla="*/ 0 h 1107"/>
                <a:gd name="T6" fmla="*/ 1015 w 1015"/>
                <a:gd name="T7" fmla="*/ 1107 h 1107"/>
                <a:gd name="T8" fmla="*/ 0 60000 65536"/>
                <a:gd name="T9" fmla="*/ 0 60000 65536"/>
                <a:gd name="T10" fmla="*/ 0 60000 65536"/>
                <a:gd name="T11" fmla="*/ 0 60000 65536"/>
                <a:gd name="T12" fmla="*/ 0 w 1015"/>
                <a:gd name="T13" fmla="*/ 0 h 1107"/>
                <a:gd name="T14" fmla="*/ 1015 w 1015"/>
                <a:gd name="T15" fmla="*/ 1107 h 1107"/>
              </a:gdLst>
              <a:ahLst/>
              <a:cxnLst>
                <a:cxn ang="T8">
                  <a:pos x="T0" y="T1"/>
                </a:cxn>
                <a:cxn ang="T9">
                  <a:pos x="T2" y="T3"/>
                </a:cxn>
                <a:cxn ang="T10">
                  <a:pos x="T4" y="T5"/>
                </a:cxn>
                <a:cxn ang="T11">
                  <a:pos x="T6" y="T7"/>
                </a:cxn>
              </a:cxnLst>
              <a:rect l="T12" t="T13" r="T14" b="T15"/>
              <a:pathLst>
                <a:path w="1015" h="1107">
                  <a:moveTo>
                    <a:pt x="1015" y="1107"/>
                  </a:moveTo>
                  <a:lnTo>
                    <a:pt x="0" y="0"/>
                  </a:lnTo>
                  <a:lnTo>
                    <a:pt x="905" y="0"/>
                  </a:lnTo>
                  <a:lnTo>
                    <a:pt x="1015" y="1107"/>
                  </a:lnTo>
                  <a:close/>
                </a:path>
              </a:pathLst>
            </a:custGeom>
            <a:gradFill rotWithShape="1">
              <a:gsLst>
                <a:gs pos="0">
                  <a:schemeClr val="bg1"/>
                </a:gs>
                <a:gs pos="100000">
                  <a:srgbClr val="0000A8"/>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1" name="Text Box 324">
            <a:extLst>
              <a:ext uri="{FF2B5EF4-FFF2-40B4-BE49-F238E27FC236}">
                <a16:creationId xmlns:a16="http://schemas.microsoft.com/office/drawing/2014/main" id="{50494245-6BC0-4744-8241-DE379EAB70EA}"/>
              </a:ext>
            </a:extLst>
          </p:cNvPr>
          <p:cNvSpPr txBox="1">
            <a:spLocks noChangeArrowheads="1"/>
          </p:cNvSpPr>
          <p:nvPr/>
        </p:nvSpPr>
        <p:spPr bwMode="auto">
          <a:xfrm>
            <a:off x="1551869" y="5790510"/>
            <a:ext cx="9964671"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frequency division multiplexing (FDM):</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different channels transmitted in different frequency bands</a:t>
            </a:r>
          </a:p>
        </p:txBody>
      </p:sp>
      <p:grpSp>
        <p:nvGrpSpPr>
          <p:cNvPr id="802" name="Group 326">
            <a:extLst>
              <a:ext uri="{FF2B5EF4-FFF2-40B4-BE49-F238E27FC236}">
                <a16:creationId xmlns:a16="http://schemas.microsoft.com/office/drawing/2014/main" id="{69F003EB-6D99-1141-ABFE-67460D1B76E9}"/>
              </a:ext>
            </a:extLst>
          </p:cNvPr>
          <p:cNvGrpSpPr>
            <a:grpSpLocks/>
          </p:cNvGrpSpPr>
          <p:nvPr/>
        </p:nvGrpSpPr>
        <p:grpSpPr bwMode="auto">
          <a:xfrm>
            <a:off x="2000305" y="1964311"/>
            <a:ext cx="609600" cy="609600"/>
            <a:chOff x="-44" y="1473"/>
            <a:chExt cx="981" cy="1105"/>
          </a:xfrm>
        </p:grpSpPr>
        <p:pic>
          <p:nvPicPr>
            <p:cNvPr id="803" name="Picture 327" descr="desktop_computer_stylized_medium">
              <a:extLst>
                <a:ext uri="{FF2B5EF4-FFF2-40B4-BE49-F238E27FC236}">
                  <a16:creationId xmlns:a16="http://schemas.microsoft.com/office/drawing/2014/main" id="{BCAB1A26-F538-9E43-9300-98DBF76645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4" name="Freeform 328">
              <a:extLst>
                <a:ext uri="{FF2B5EF4-FFF2-40B4-BE49-F238E27FC236}">
                  <a16:creationId xmlns:a16="http://schemas.microsoft.com/office/drawing/2014/main" id="{DF498DD9-C2F7-E142-A48F-929956C96E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346501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794"/>
                                        </p:tgtEl>
                                        <p:attrNameLst>
                                          <p:attrName>style.visibility</p:attrName>
                                        </p:attrNameLst>
                                      </p:cBhvr>
                                      <p:to>
                                        <p:strVal val="visible"/>
                                      </p:to>
                                    </p:set>
                                    <p:animEffect transition="in" filter="dissolve">
                                      <p:cBhvr>
                                        <p:cTn id="7" dur="500"/>
                                        <p:tgtEl>
                                          <p:spTgt spid="79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63"/>
                                        </p:tgtEl>
                                        <p:attrNameLst>
                                          <p:attrName>style.visibility</p:attrName>
                                        </p:attrNameLst>
                                      </p:cBhvr>
                                      <p:to>
                                        <p:strVal val="visible"/>
                                      </p:to>
                                    </p:set>
                                    <p:animEffect transition="in" filter="dissolve">
                                      <p:cBhvr>
                                        <p:cTn id="12" dur="500"/>
                                        <p:tgtEl>
                                          <p:spTgt spid="763"/>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758"/>
                                        </p:tgtEl>
                                        <p:attrNameLst>
                                          <p:attrName>style.visibility</p:attrName>
                                        </p:attrNameLst>
                                      </p:cBhvr>
                                      <p:to>
                                        <p:strVal val="visible"/>
                                      </p:to>
                                    </p:set>
                                    <p:animEffect transition="in" filter="dissolve">
                                      <p:cBhvr>
                                        <p:cTn id="16" dur="500"/>
                                        <p:tgtEl>
                                          <p:spTgt spid="758"/>
                                        </p:tgtEl>
                                      </p:cBhvr>
                                    </p:animEffect>
                                  </p:childTnLst>
                                </p:cTn>
                              </p:par>
                            </p:childTnLst>
                          </p:cTn>
                        </p:par>
                        <p:par>
                          <p:cTn id="17" fill="hold">
                            <p:stCondLst>
                              <p:cond delay="1000"/>
                            </p:stCondLst>
                            <p:childTnLst>
                              <p:par>
                                <p:cTn id="18" presetID="9" presetClass="entr" presetSubtype="0" fill="hold" grpId="0" nodeType="afterEffect">
                                  <p:stCondLst>
                                    <p:cond delay="0"/>
                                  </p:stCondLst>
                                  <p:childTnLst>
                                    <p:set>
                                      <p:cBhvr>
                                        <p:cTn id="19" dur="1" fill="hold">
                                          <p:stCondLst>
                                            <p:cond delay="0"/>
                                          </p:stCondLst>
                                        </p:cTn>
                                        <p:tgtEl>
                                          <p:spTgt spid="801"/>
                                        </p:tgtEl>
                                        <p:attrNameLst>
                                          <p:attrName>style.visibility</p:attrName>
                                        </p:attrNameLst>
                                      </p:cBhvr>
                                      <p:to>
                                        <p:strVal val="visible"/>
                                      </p:to>
                                    </p:set>
                                    <p:animEffect transition="in" filter="dissolve">
                                      <p:cBhvr>
                                        <p:cTn id="20" dur="500"/>
                                        <p:tgtEl>
                                          <p:spTgt spid="8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50179"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A7348C0F-99A0-49B3-BC52-D0D0FD385F6F}" type="slidenum">
              <a:rPr lang="en-US" altLang="en-US" sz="1200">
                <a:latin typeface="Tahoma" panose="020B0604030504040204" pitchFamily="34" charset="0"/>
              </a:rPr>
              <a:pPr>
                <a:lnSpc>
                  <a:spcPct val="100000"/>
                </a:lnSpc>
                <a:spcBef>
                  <a:spcPct val="0"/>
                </a:spcBef>
                <a:buClrTx/>
                <a:buSzTx/>
                <a:buFontTx/>
                <a:buNone/>
              </a:pPr>
              <a:t>24</a:t>
            </a:fld>
            <a:endParaRPr lang="en-US" altLang="en-US" sz="1200">
              <a:latin typeface="Tahoma" panose="020B0604030504040204" pitchFamily="34" charset="0"/>
            </a:endParaRPr>
          </a:p>
        </p:txBody>
      </p:sp>
      <p:pic>
        <p:nvPicPr>
          <p:cNvPr id="5018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75050" y="765176"/>
            <a:ext cx="5716588" cy="278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181" name="Group 4"/>
          <p:cNvGrpSpPr>
            <a:grpSpLocks/>
          </p:cNvGrpSpPr>
          <p:nvPr/>
        </p:nvGrpSpPr>
        <p:grpSpPr bwMode="auto">
          <a:xfrm>
            <a:off x="2728914" y="1636713"/>
            <a:ext cx="4689475" cy="3219450"/>
            <a:chOff x="2518309" y="3534246"/>
            <a:chExt cx="4689475" cy="3219450"/>
          </a:xfrm>
        </p:grpSpPr>
        <p:grpSp>
          <p:nvGrpSpPr>
            <p:cNvPr id="50183" name="Group 42"/>
            <p:cNvGrpSpPr>
              <a:grpSpLocks/>
            </p:cNvGrpSpPr>
            <p:nvPr/>
          </p:nvGrpSpPr>
          <p:grpSpPr bwMode="auto">
            <a:xfrm>
              <a:off x="4186771" y="4639146"/>
              <a:ext cx="3021013" cy="2114550"/>
              <a:chOff x="2606" y="951"/>
              <a:chExt cx="1903" cy="1332"/>
            </a:xfrm>
          </p:grpSpPr>
          <p:sp>
            <p:nvSpPr>
              <p:cNvPr id="50191" name="Text Box 43"/>
              <p:cNvSpPr txBox="1">
                <a:spLocks noChangeArrowheads="1"/>
              </p:cNvSpPr>
              <p:nvPr/>
            </p:nvSpPr>
            <p:spPr bwMode="auto">
              <a:xfrm>
                <a:off x="3378" y="2071"/>
                <a:ext cx="65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600">
                    <a:latin typeface="Arial" panose="020B0604020202020204" pitchFamily="34" charset="0"/>
                  </a:rPr>
                  <a:t>Channels</a:t>
                </a:r>
              </a:p>
            </p:txBody>
          </p:sp>
          <p:sp>
            <p:nvSpPr>
              <p:cNvPr id="50192" name="Line 44"/>
              <p:cNvSpPr>
                <a:spLocks noChangeShapeType="1"/>
              </p:cNvSpPr>
              <p:nvPr/>
            </p:nvSpPr>
            <p:spPr bwMode="auto">
              <a:xfrm>
                <a:off x="2994" y="951"/>
                <a:ext cx="0" cy="97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93" name="Line 45"/>
              <p:cNvSpPr>
                <a:spLocks noChangeShapeType="1"/>
              </p:cNvSpPr>
              <p:nvPr/>
            </p:nvSpPr>
            <p:spPr bwMode="auto">
              <a:xfrm flipV="1">
                <a:off x="2988" y="1935"/>
                <a:ext cx="146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94" name="Text Box 46"/>
              <p:cNvSpPr txBox="1">
                <a:spLocks noChangeArrowheads="1"/>
              </p:cNvSpPr>
              <p:nvPr/>
            </p:nvSpPr>
            <p:spPr bwMode="auto">
              <a:xfrm>
                <a:off x="2978"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V</a:t>
                </a:r>
              </a:p>
              <a:p>
                <a:pPr algn="ctr" eaLnBrk="1" hangingPunct="1">
                  <a:lnSpc>
                    <a:spcPct val="100000"/>
                  </a:lnSpc>
                  <a:spcBef>
                    <a:spcPct val="0"/>
                  </a:spcBef>
                  <a:buClrTx/>
                  <a:buSzTx/>
                  <a:buFontTx/>
                  <a:buNone/>
                </a:pPr>
                <a:r>
                  <a:rPr lang="en-US" altLang="en-US" sz="1000">
                    <a:latin typeface="Arial" panose="020B0604020202020204" pitchFamily="34" charset="0"/>
                  </a:rPr>
                  <a:t>I</a:t>
                </a: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E</a:t>
                </a:r>
              </a:p>
              <a:p>
                <a:pPr algn="ctr" eaLnBrk="1" hangingPunct="1">
                  <a:lnSpc>
                    <a:spcPct val="100000"/>
                  </a:lnSpc>
                  <a:spcBef>
                    <a:spcPct val="0"/>
                  </a:spcBef>
                  <a:buClrTx/>
                  <a:buSzTx/>
                  <a:buFontTx/>
                  <a:buNone/>
                </a:pPr>
                <a:r>
                  <a:rPr lang="en-US" altLang="en-US" sz="1000">
                    <a:latin typeface="Arial" panose="020B0604020202020204" pitchFamily="34" charset="0"/>
                  </a:rPr>
                  <a:t>O</a:t>
                </a:r>
              </a:p>
            </p:txBody>
          </p:sp>
          <p:sp>
            <p:nvSpPr>
              <p:cNvPr id="50195" name="Line 47"/>
              <p:cNvSpPr>
                <a:spLocks noChangeShapeType="1"/>
              </p:cNvSpPr>
              <p:nvPr/>
            </p:nvSpPr>
            <p:spPr bwMode="auto">
              <a:xfrm>
                <a:off x="3150"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96" name="Text Box 48"/>
              <p:cNvSpPr txBox="1">
                <a:spLocks noChangeArrowheads="1"/>
              </p:cNvSpPr>
              <p:nvPr/>
            </p:nvSpPr>
            <p:spPr bwMode="auto">
              <a:xfrm>
                <a:off x="3152"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V</a:t>
                </a:r>
              </a:p>
              <a:p>
                <a:pPr algn="ctr" eaLnBrk="1" hangingPunct="1">
                  <a:lnSpc>
                    <a:spcPct val="100000"/>
                  </a:lnSpc>
                  <a:spcBef>
                    <a:spcPct val="0"/>
                  </a:spcBef>
                  <a:buClrTx/>
                  <a:buSzTx/>
                  <a:buFontTx/>
                  <a:buNone/>
                </a:pPr>
                <a:r>
                  <a:rPr lang="en-US" altLang="en-US" sz="1000">
                    <a:latin typeface="Arial" panose="020B0604020202020204" pitchFamily="34" charset="0"/>
                  </a:rPr>
                  <a:t>I</a:t>
                </a: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E</a:t>
                </a:r>
              </a:p>
              <a:p>
                <a:pPr algn="ctr" eaLnBrk="1" hangingPunct="1">
                  <a:lnSpc>
                    <a:spcPct val="100000"/>
                  </a:lnSpc>
                  <a:spcBef>
                    <a:spcPct val="0"/>
                  </a:spcBef>
                  <a:buClrTx/>
                  <a:buSzTx/>
                  <a:buFontTx/>
                  <a:buNone/>
                </a:pPr>
                <a:r>
                  <a:rPr lang="en-US" altLang="en-US" sz="1000">
                    <a:latin typeface="Arial" panose="020B0604020202020204" pitchFamily="34" charset="0"/>
                  </a:rPr>
                  <a:t>O</a:t>
                </a:r>
              </a:p>
            </p:txBody>
          </p:sp>
          <p:sp>
            <p:nvSpPr>
              <p:cNvPr id="50197" name="Text Box 49"/>
              <p:cNvSpPr txBox="1">
                <a:spLocks noChangeArrowheads="1"/>
              </p:cNvSpPr>
              <p:nvPr/>
            </p:nvSpPr>
            <p:spPr bwMode="auto">
              <a:xfrm>
                <a:off x="3338"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V</a:t>
                </a:r>
              </a:p>
              <a:p>
                <a:pPr algn="ctr" eaLnBrk="1" hangingPunct="1">
                  <a:lnSpc>
                    <a:spcPct val="100000"/>
                  </a:lnSpc>
                  <a:spcBef>
                    <a:spcPct val="0"/>
                  </a:spcBef>
                  <a:buClrTx/>
                  <a:buSzTx/>
                  <a:buFontTx/>
                  <a:buNone/>
                </a:pPr>
                <a:r>
                  <a:rPr lang="en-US" altLang="en-US" sz="1000">
                    <a:latin typeface="Arial" panose="020B0604020202020204" pitchFamily="34" charset="0"/>
                  </a:rPr>
                  <a:t>I</a:t>
                </a: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E</a:t>
                </a:r>
              </a:p>
              <a:p>
                <a:pPr algn="ctr" eaLnBrk="1" hangingPunct="1">
                  <a:lnSpc>
                    <a:spcPct val="100000"/>
                  </a:lnSpc>
                  <a:spcBef>
                    <a:spcPct val="0"/>
                  </a:spcBef>
                  <a:buClrTx/>
                  <a:buSzTx/>
                  <a:buFontTx/>
                  <a:buNone/>
                </a:pPr>
                <a:r>
                  <a:rPr lang="en-US" altLang="en-US" sz="1000">
                    <a:latin typeface="Arial" panose="020B0604020202020204" pitchFamily="34" charset="0"/>
                  </a:rPr>
                  <a:t>O</a:t>
                </a:r>
              </a:p>
            </p:txBody>
          </p:sp>
          <p:sp>
            <p:nvSpPr>
              <p:cNvPr id="50198" name="Text Box 50"/>
              <p:cNvSpPr txBox="1">
                <a:spLocks noChangeArrowheads="1"/>
              </p:cNvSpPr>
              <p:nvPr/>
            </p:nvSpPr>
            <p:spPr bwMode="auto">
              <a:xfrm>
                <a:off x="3524"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V</a:t>
                </a:r>
              </a:p>
              <a:p>
                <a:pPr algn="ctr" eaLnBrk="1" hangingPunct="1">
                  <a:lnSpc>
                    <a:spcPct val="100000"/>
                  </a:lnSpc>
                  <a:spcBef>
                    <a:spcPct val="0"/>
                  </a:spcBef>
                  <a:buClrTx/>
                  <a:buSzTx/>
                  <a:buFontTx/>
                  <a:buNone/>
                </a:pPr>
                <a:r>
                  <a:rPr lang="en-US" altLang="en-US" sz="1000">
                    <a:latin typeface="Arial" panose="020B0604020202020204" pitchFamily="34" charset="0"/>
                  </a:rPr>
                  <a:t>I</a:t>
                </a: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E</a:t>
                </a:r>
              </a:p>
              <a:p>
                <a:pPr algn="ctr" eaLnBrk="1" hangingPunct="1">
                  <a:lnSpc>
                    <a:spcPct val="100000"/>
                  </a:lnSpc>
                  <a:spcBef>
                    <a:spcPct val="0"/>
                  </a:spcBef>
                  <a:buClrTx/>
                  <a:buSzTx/>
                  <a:buFontTx/>
                  <a:buNone/>
                </a:pPr>
                <a:r>
                  <a:rPr lang="en-US" altLang="en-US" sz="1000">
                    <a:latin typeface="Arial" panose="020B0604020202020204" pitchFamily="34" charset="0"/>
                  </a:rPr>
                  <a:t>O</a:t>
                </a:r>
              </a:p>
            </p:txBody>
          </p:sp>
          <p:sp>
            <p:nvSpPr>
              <p:cNvPr id="50199" name="Text Box 51"/>
              <p:cNvSpPr txBox="1">
                <a:spLocks noChangeArrowheads="1"/>
              </p:cNvSpPr>
              <p:nvPr/>
            </p:nvSpPr>
            <p:spPr bwMode="auto">
              <a:xfrm>
                <a:off x="3710"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V</a:t>
                </a:r>
              </a:p>
              <a:p>
                <a:pPr algn="ctr" eaLnBrk="1" hangingPunct="1">
                  <a:lnSpc>
                    <a:spcPct val="100000"/>
                  </a:lnSpc>
                  <a:spcBef>
                    <a:spcPct val="0"/>
                  </a:spcBef>
                  <a:buClrTx/>
                  <a:buSzTx/>
                  <a:buFontTx/>
                  <a:buNone/>
                </a:pPr>
                <a:r>
                  <a:rPr lang="en-US" altLang="en-US" sz="1000">
                    <a:latin typeface="Arial" panose="020B0604020202020204" pitchFamily="34" charset="0"/>
                  </a:rPr>
                  <a:t>I</a:t>
                </a: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E</a:t>
                </a:r>
              </a:p>
              <a:p>
                <a:pPr algn="ctr" eaLnBrk="1" hangingPunct="1">
                  <a:lnSpc>
                    <a:spcPct val="100000"/>
                  </a:lnSpc>
                  <a:spcBef>
                    <a:spcPct val="0"/>
                  </a:spcBef>
                  <a:buClrTx/>
                  <a:buSzTx/>
                  <a:buFontTx/>
                  <a:buNone/>
                </a:pPr>
                <a:r>
                  <a:rPr lang="en-US" altLang="en-US" sz="1000">
                    <a:latin typeface="Arial" panose="020B0604020202020204" pitchFamily="34" charset="0"/>
                  </a:rPr>
                  <a:t>O</a:t>
                </a:r>
              </a:p>
            </p:txBody>
          </p:sp>
          <p:sp>
            <p:nvSpPr>
              <p:cNvPr id="50200" name="Text Box 52"/>
              <p:cNvSpPr txBox="1">
                <a:spLocks noChangeArrowheads="1"/>
              </p:cNvSpPr>
              <p:nvPr/>
            </p:nvSpPr>
            <p:spPr bwMode="auto">
              <a:xfrm>
                <a:off x="3896"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V</a:t>
                </a:r>
              </a:p>
              <a:p>
                <a:pPr algn="ctr" eaLnBrk="1" hangingPunct="1">
                  <a:lnSpc>
                    <a:spcPct val="100000"/>
                  </a:lnSpc>
                  <a:spcBef>
                    <a:spcPct val="0"/>
                  </a:spcBef>
                  <a:buClrTx/>
                  <a:buSzTx/>
                  <a:buFontTx/>
                  <a:buNone/>
                </a:pPr>
                <a:r>
                  <a:rPr lang="en-US" altLang="en-US" sz="1000">
                    <a:latin typeface="Arial" panose="020B0604020202020204" pitchFamily="34" charset="0"/>
                  </a:rPr>
                  <a:t>I</a:t>
                </a: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E</a:t>
                </a:r>
              </a:p>
              <a:p>
                <a:pPr algn="ctr" eaLnBrk="1" hangingPunct="1">
                  <a:lnSpc>
                    <a:spcPct val="100000"/>
                  </a:lnSpc>
                  <a:spcBef>
                    <a:spcPct val="0"/>
                  </a:spcBef>
                  <a:buClrTx/>
                  <a:buSzTx/>
                  <a:buFontTx/>
                  <a:buNone/>
                </a:pPr>
                <a:r>
                  <a:rPr lang="en-US" altLang="en-US" sz="1000">
                    <a:latin typeface="Arial" panose="020B0604020202020204" pitchFamily="34" charset="0"/>
                  </a:rPr>
                  <a:t>O</a:t>
                </a:r>
              </a:p>
            </p:txBody>
          </p:sp>
          <p:sp>
            <p:nvSpPr>
              <p:cNvPr id="50201" name="Text Box 53"/>
              <p:cNvSpPr txBox="1">
                <a:spLocks noChangeArrowheads="1"/>
              </p:cNvSpPr>
              <p:nvPr/>
            </p:nvSpPr>
            <p:spPr bwMode="auto">
              <a:xfrm>
                <a:off x="4058" y="1402"/>
                <a:ext cx="174"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000">
                  <a:latin typeface="Arial" panose="020B0604020202020204" pitchFamily="34" charset="0"/>
                </a:endParaRP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A</a:t>
                </a:r>
              </a:p>
              <a:p>
                <a:pPr algn="ctr" eaLnBrk="1" hangingPunct="1">
                  <a:lnSpc>
                    <a:spcPct val="100000"/>
                  </a:lnSpc>
                  <a:spcBef>
                    <a:spcPct val="0"/>
                  </a:spcBef>
                  <a:buClrTx/>
                  <a:buSzTx/>
                  <a:buFontTx/>
                  <a:buNone/>
                </a:pPr>
                <a:r>
                  <a:rPr lang="en-US" altLang="en-US" sz="1000">
                    <a:latin typeface="Arial" panose="020B0604020202020204" pitchFamily="34" charset="0"/>
                  </a:rPr>
                  <a:t>T</a:t>
                </a:r>
              </a:p>
              <a:p>
                <a:pPr algn="ctr" eaLnBrk="1" hangingPunct="1">
                  <a:lnSpc>
                    <a:spcPct val="100000"/>
                  </a:lnSpc>
                  <a:spcBef>
                    <a:spcPct val="0"/>
                  </a:spcBef>
                  <a:buClrTx/>
                  <a:buSzTx/>
                  <a:buFontTx/>
                  <a:buNone/>
                </a:pPr>
                <a:r>
                  <a:rPr lang="en-US" altLang="en-US" sz="1000">
                    <a:latin typeface="Arial" panose="020B0604020202020204" pitchFamily="34" charset="0"/>
                  </a:rPr>
                  <a:t>A</a:t>
                </a:r>
              </a:p>
            </p:txBody>
          </p:sp>
          <p:sp>
            <p:nvSpPr>
              <p:cNvPr id="50202" name="Text Box 54"/>
              <p:cNvSpPr txBox="1">
                <a:spLocks noChangeArrowheads="1"/>
              </p:cNvSpPr>
              <p:nvPr/>
            </p:nvSpPr>
            <p:spPr bwMode="auto">
              <a:xfrm>
                <a:off x="4202" y="1402"/>
                <a:ext cx="174"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000">
                  <a:latin typeface="Arial" panose="020B0604020202020204" pitchFamily="34" charset="0"/>
                </a:endParaRPr>
              </a:p>
              <a:p>
                <a:pPr algn="ctr" eaLnBrk="1" hangingPunct="1">
                  <a:lnSpc>
                    <a:spcPct val="100000"/>
                  </a:lnSpc>
                  <a:spcBef>
                    <a:spcPct val="0"/>
                  </a:spcBef>
                  <a:buClrTx/>
                  <a:buSzTx/>
                  <a:buFontTx/>
                  <a:buNone/>
                </a:pPr>
                <a:r>
                  <a:rPr lang="en-US" altLang="en-US" sz="1000">
                    <a:latin typeface="Arial" panose="020B0604020202020204" pitchFamily="34" charset="0"/>
                  </a:rPr>
                  <a:t>D</a:t>
                </a:r>
              </a:p>
              <a:p>
                <a:pPr algn="ctr" eaLnBrk="1" hangingPunct="1">
                  <a:lnSpc>
                    <a:spcPct val="100000"/>
                  </a:lnSpc>
                  <a:spcBef>
                    <a:spcPct val="0"/>
                  </a:spcBef>
                  <a:buClrTx/>
                  <a:buSzTx/>
                  <a:buFontTx/>
                  <a:buNone/>
                </a:pPr>
                <a:r>
                  <a:rPr lang="en-US" altLang="en-US" sz="1000">
                    <a:latin typeface="Arial" panose="020B0604020202020204" pitchFamily="34" charset="0"/>
                  </a:rPr>
                  <a:t>A</a:t>
                </a:r>
              </a:p>
              <a:p>
                <a:pPr algn="ctr" eaLnBrk="1" hangingPunct="1">
                  <a:lnSpc>
                    <a:spcPct val="100000"/>
                  </a:lnSpc>
                  <a:spcBef>
                    <a:spcPct val="0"/>
                  </a:spcBef>
                  <a:buClrTx/>
                  <a:buSzTx/>
                  <a:buFontTx/>
                  <a:buNone/>
                </a:pPr>
                <a:r>
                  <a:rPr lang="en-US" altLang="en-US" sz="1000">
                    <a:latin typeface="Arial" panose="020B0604020202020204" pitchFamily="34" charset="0"/>
                  </a:rPr>
                  <a:t>T</a:t>
                </a:r>
              </a:p>
              <a:p>
                <a:pPr algn="ctr" eaLnBrk="1" hangingPunct="1">
                  <a:lnSpc>
                    <a:spcPct val="100000"/>
                  </a:lnSpc>
                  <a:spcBef>
                    <a:spcPct val="0"/>
                  </a:spcBef>
                  <a:buClrTx/>
                  <a:buSzTx/>
                  <a:buFontTx/>
                  <a:buNone/>
                </a:pPr>
                <a:r>
                  <a:rPr lang="en-US" altLang="en-US" sz="1000">
                    <a:latin typeface="Arial" panose="020B0604020202020204" pitchFamily="34" charset="0"/>
                  </a:rPr>
                  <a:t>A</a:t>
                </a:r>
              </a:p>
            </p:txBody>
          </p:sp>
          <p:sp>
            <p:nvSpPr>
              <p:cNvPr id="50203" name="Text Box 55"/>
              <p:cNvSpPr txBox="1">
                <a:spLocks noChangeArrowheads="1"/>
              </p:cNvSpPr>
              <p:nvPr/>
            </p:nvSpPr>
            <p:spPr bwMode="auto">
              <a:xfrm>
                <a:off x="4330" y="1114"/>
                <a:ext cx="178"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000">
                  <a:latin typeface="Arial" panose="020B0604020202020204" pitchFamily="34" charset="0"/>
                </a:endParaRPr>
              </a:p>
              <a:p>
                <a:pPr algn="ctr" eaLnBrk="1" hangingPunct="1">
                  <a:lnSpc>
                    <a:spcPct val="100000"/>
                  </a:lnSpc>
                  <a:spcBef>
                    <a:spcPct val="0"/>
                  </a:spcBef>
                  <a:buClrTx/>
                  <a:buSzTx/>
                  <a:buFontTx/>
                  <a:buNone/>
                </a:pPr>
                <a:r>
                  <a:rPr lang="en-US" altLang="en-US" sz="1000">
                    <a:latin typeface="Arial" panose="020B0604020202020204" pitchFamily="34" charset="0"/>
                  </a:rPr>
                  <a:t>C</a:t>
                </a:r>
              </a:p>
              <a:p>
                <a:pPr algn="ctr" eaLnBrk="1" hangingPunct="1">
                  <a:lnSpc>
                    <a:spcPct val="100000"/>
                  </a:lnSpc>
                  <a:spcBef>
                    <a:spcPct val="0"/>
                  </a:spcBef>
                  <a:buClrTx/>
                  <a:buSzTx/>
                  <a:buFontTx/>
                  <a:buNone/>
                </a:pPr>
                <a:r>
                  <a:rPr lang="en-US" altLang="en-US" sz="1000">
                    <a:latin typeface="Arial" panose="020B0604020202020204" pitchFamily="34" charset="0"/>
                  </a:rPr>
                  <a:t>O</a:t>
                </a:r>
              </a:p>
              <a:p>
                <a:pPr algn="ctr" eaLnBrk="1" hangingPunct="1">
                  <a:lnSpc>
                    <a:spcPct val="100000"/>
                  </a:lnSpc>
                  <a:spcBef>
                    <a:spcPct val="0"/>
                  </a:spcBef>
                  <a:buClrTx/>
                  <a:buSzTx/>
                  <a:buFontTx/>
                  <a:buNone/>
                </a:pPr>
                <a:r>
                  <a:rPr lang="en-US" altLang="en-US" sz="1000">
                    <a:latin typeface="Arial" panose="020B0604020202020204" pitchFamily="34" charset="0"/>
                  </a:rPr>
                  <a:t>N</a:t>
                </a:r>
              </a:p>
              <a:p>
                <a:pPr algn="ctr" eaLnBrk="1" hangingPunct="1">
                  <a:lnSpc>
                    <a:spcPct val="100000"/>
                  </a:lnSpc>
                  <a:spcBef>
                    <a:spcPct val="0"/>
                  </a:spcBef>
                  <a:buClrTx/>
                  <a:buSzTx/>
                  <a:buFontTx/>
                  <a:buNone/>
                </a:pPr>
                <a:r>
                  <a:rPr lang="en-US" altLang="en-US" sz="1000">
                    <a:latin typeface="Arial" panose="020B0604020202020204" pitchFamily="34" charset="0"/>
                  </a:rPr>
                  <a:t>T</a:t>
                </a:r>
              </a:p>
              <a:p>
                <a:pPr algn="ctr" eaLnBrk="1" hangingPunct="1">
                  <a:lnSpc>
                    <a:spcPct val="100000"/>
                  </a:lnSpc>
                  <a:spcBef>
                    <a:spcPct val="0"/>
                  </a:spcBef>
                  <a:buClrTx/>
                  <a:buSzTx/>
                  <a:buFontTx/>
                  <a:buNone/>
                </a:pPr>
                <a:r>
                  <a:rPr lang="en-US" altLang="en-US" sz="1000">
                    <a:latin typeface="Arial" panose="020B0604020202020204" pitchFamily="34" charset="0"/>
                  </a:rPr>
                  <a:t>R</a:t>
                </a:r>
              </a:p>
              <a:p>
                <a:pPr algn="ctr" eaLnBrk="1" hangingPunct="1">
                  <a:lnSpc>
                    <a:spcPct val="100000"/>
                  </a:lnSpc>
                  <a:spcBef>
                    <a:spcPct val="0"/>
                  </a:spcBef>
                  <a:buClrTx/>
                  <a:buSzTx/>
                  <a:buFontTx/>
                  <a:buNone/>
                </a:pPr>
                <a:r>
                  <a:rPr lang="en-US" altLang="en-US" sz="1000">
                    <a:latin typeface="Arial" panose="020B0604020202020204" pitchFamily="34" charset="0"/>
                  </a:rPr>
                  <a:t>O</a:t>
                </a:r>
              </a:p>
              <a:p>
                <a:pPr algn="ctr" eaLnBrk="1" hangingPunct="1">
                  <a:lnSpc>
                    <a:spcPct val="100000"/>
                  </a:lnSpc>
                  <a:spcBef>
                    <a:spcPct val="0"/>
                  </a:spcBef>
                  <a:buClrTx/>
                  <a:buSzTx/>
                  <a:buFontTx/>
                  <a:buNone/>
                </a:pPr>
                <a:r>
                  <a:rPr lang="en-US" altLang="en-US" sz="1000">
                    <a:latin typeface="Arial" panose="020B0604020202020204" pitchFamily="34" charset="0"/>
                  </a:rPr>
                  <a:t>L</a:t>
                </a:r>
              </a:p>
            </p:txBody>
          </p:sp>
          <p:sp>
            <p:nvSpPr>
              <p:cNvPr id="50204" name="Line 56"/>
              <p:cNvSpPr>
                <a:spLocks noChangeShapeType="1"/>
              </p:cNvSpPr>
              <p:nvPr/>
            </p:nvSpPr>
            <p:spPr bwMode="auto">
              <a:xfrm>
                <a:off x="3334"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05" name="Line 57"/>
              <p:cNvSpPr>
                <a:spLocks noChangeShapeType="1"/>
              </p:cNvSpPr>
              <p:nvPr/>
            </p:nvSpPr>
            <p:spPr bwMode="auto">
              <a:xfrm>
                <a:off x="3514"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06" name="Line 58"/>
              <p:cNvSpPr>
                <a:spLocks noChangeShapeType="1"/>
              </p:cNvSpPr>
              <p:nvPr/>
            </p:nvSpPr>
            <p:spPr bwMode="auto">
              <a:xfrm>
                <a:off x="3698"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07" name="Line 59"/>
              <p:cNvSpPr>
                <a:spLocks noChangeShapeType="1"/>
              </p:cNvSpPr>
              <p:nvPr/>
            </p:nvSpPr>
            <p:spPr bwMode="auto">
              <a:xfrm>
                <a:off x="3886"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08" name="Line 60"/>
              <p:cNvSpPr>
                <a:spLocks noChangeShapeType="1"/>
              </p:cNvSpPr>
              <p:nvPr/>
            </p:nvSpPr>
            <p:spPr bwMode="auto">
              <a:xfrm>
                <a:off x="4062" y="1871"/>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09" name="Line 61"/>
              <p:cNvSpPr>
                <a:spLocks noChangeShapeType="1"/>
              </p:cNvSpPr>
              <p:nvPr/>
            </p:nvSpPr>
            <p:spPr bwMode="auto">
              <a:xfrm>
                <a:off x="4218" y="1867"/>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10" name="Line 62"/>
              <p:cNvSpPr>
                <a:spLocks noChangeShapeType="1"/>
              </p:cNvSpPr>
              <p:nvPr/>
            </p:nvSpPr>
            <p:spPr bwMode="auto">
              <a:xfrm>
                <a:off x="4362" y="1859"/>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11" name="Text Box 63"/>
              <p:cNvSpPr txBox="1">
                <a:spLocks noChangeArrowheads="1"/>
              </p:cNvSpPr>
              <p:nvPr/>
            </p:nvSpPr>
            <p:spPr bwMode="auto">
              <a:xfrm>
                <a:off x="2985"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1</a:t>
                </a:r>
              </a:p>
            </p:txBody>
          </p:sp>
          <p:sp>
            <p:nvSpPr>
              <p:cNvPr id="50212" name="Text Box 64"/>
              <p:cNvSpPr txBox="1">
                <a:spLocks noChangeArrowheads="1"/>
              </p:cNvSpPr>
              <p:nvPr/>
            </p:nvSpPr>
            <p:spPr bwMode="auto">
              <a:xfrm>
                <a:off x="3153"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2</a:t>
                </a:r>
              </a:p>
            </p:txBody>
          </p:sp>
          <p:sp>
            <p:nvSpPr>
              <p:cNvPr id="50213" name="Text Box 65"/>
              <p:cNvSpPr txBox="1">
                <a:spLocks noChangeArrowheads="1"/>
              </p:cNvSpPr>
              <p:nvPr/>
            </p:nvSpPr>
            <p:spPr bwMode="auto">
              <a:xfrm>
                <a:off x="3345"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3</a:t>
                </a:r>
              </a:p>
            </p:txBody>
          </p:sp>
          <p:sp>
            <p:nvSpPr>
              <p:cNvPr id="50214" name="Text Box 66"/>
              <p:cNvSpPr txBox="1">
                <a:spLocks noChangeArrowheads="1"/>
              </p:cNvSpPr>
              <p:nvPr/>
            </p:nvSpPr>
            <p:spPr bwMode="auto">
              <a:xfrm>
                <a:off x="3517"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4</a:t>
                </a:r>
              </a:p>
            </p:txBody>
          </p:sp>
          <p:sp>
            <p:nvSpPr>
              <p:cNvPr id="50215" name="Text Box 67"/>
              <p:cNvSpPr txBox="1">
                <a:spLocks noChangeArrowheads="1"/>
              </p:cNvSpPr>
              <p:nvPr/>
            </p:nvSpPr>
            <p:spPr bwMode="auto">
              <a:xfrm>
                <a:off x="3705"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dirty="0">
                    <a:latin typeface="Arial" panose="020B0604020202020204" pitchFamily="34" charset="0"/>
                  </a:rPr>
                  <a:t>5</a:t>
                </a:r>
              </a:p>
            </p:txBody>
          </p:sp>
          <p:sp>
            <p:nvSpPr>
              <p:cNvPr id="50216" name="Text Box 68"/>
              <p:cNvSpPr txBox="1">
                <a:spLocks noChangeArrowheads="1"/>
              </p:cNvSpPr>
              <p:nvPr/>
            </p:nvSpPr>
            <p:spPr bwMode="auto">
              <a:xfrm>
                <a:off x="3893"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6</a:t>
                </a:r>
              </a:p>
            </p:txBody>
          </p:sp>
          <p:sp>
            <p:nvSpPr>
              <p:cNvPr id="50217" name="Text Box 69"/>
              <p:cNvSpPr txBox="1">
                <a:spLocks noChangeArrowheads="1"/>
              </p:cNvSpPr>
              <p:nvPr/>
            </p:nvSpPr>
            <p:spPr bwMode="auto">
              <a:xfrm>
                <a:off x="4057"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7</a:t>
                </a:r>
              </a:p>
            </p:txBody>
          </p:sp>
          <p:sp>
            <p:nvSpPr>
              <p:cNvPr id="50218" name="Text Box 70"/>
              <p:cNvSpPr txBox="1">
                <a:spLocks noChangeArrowheads="1"/>
              </p:cNvSpPr>
              <p:nvPr/>
            </p:nvSpPr>
            <p:spPr bwMode="auto">
              <a:xfrm>
                <a:off x="4205"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8</a:t>
                </a:r>
              </a:p>
            </p:txBody>
          </p:sp>
          <p:sp>
            <p:nvSpPr>
              <p:cNvPr id="50219" name="Text Box 71"/>
              <p:cNvSpPr txBox="1">
                <a:spLocks noChangeArrowheads="1"/>
              </p:cNvSpPr>
              <p:nvPr/>
            </p:nvSpPr>
            <p:spPr bwMode="auto">
              <a:xfrm>
                <a:off x="4349"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000">
                    <a:latin typeface="Arial" panose="020B0604020202020204" pitchFamily="34" charset="0"/>
                  </a:rPr>
                  <a:t>9</a:t>
                </a:r>
              </a:p>
            </p:txBody>
          </p:sp>
          <p:sp>
            <p:nvSpPr>
              <p:cNvPr id="50220" name="Freeform 72"/>
              <p:cNvSpPr>
                <a:spLocks/>
              </p:cNvSpPr>
              <p:nvPr/>
            </p:nvSpPr>
            <p:spPr bwMode="auto">
              <a:xfrm>
                <a:off x="2606" y="969"/>
                <a:ext cx="375" cy="969"/>
              </a:xfrm>
              <a:custGeom>
                <a:avLst/>
                <a:gdLst>
                  <a:gd name="T0" fmla="*/ 375 w 375"/>
                  <a:gd name="T1" fmla="*/ 0 h 969"/>
                  <a:gd name="T2" fmla="*/ 0 w 375"/>
                  <a:gd name="T3" fmla="*/ 485 h 969"/>
                  <a:gd name="T4" fmla="*/ 375 w 375"/>
                  <a:gd name="T5" fmla="*/ 969 h 969"/>
                  <a:gd name="T6" fmla="*/ 375 w 375"/>
                  <a:gd name="T7" fmla="*/ 0 h 969"/>
                  <a:gd name="T8" fmla="*/ 0 60000 65536"/>
                  <a:gd name="T9" fmla="*/ 0 60000 65536"/>
                  <a:gd name="T10" fmla="*/ 0 60000 65536"/>
                  <a:gd name="T11" fmla="*/ 0 60000 65536"/>
                  <a:gd name="T12" fmla="*/ 0 w 375"/>
                  <a:gd name="T13" fmla="*/ 0 h 969"/>
                  <a:gd name="T14" fmla="*/ 375 w 375"/>
                  <a:gd name="T15" fmla="*/ 969 h 969"/>
                </a:gdLst>
                <a:ahLst/>
                <a:cxnLst>
                  <a:cxn ang="T8">
                    <a:pos x="T0" y="T1"/>
                  </a:cxn>
                  <a:cxn ang="T9">
                    <a:pos x="T2" y="T3"/>
                  </a:cxn>
                  <a:cxn ang="T10">
                    <a:pos x="T4" y="T5"/>
                  </a:cxn>
                  <a:cxn ang="T11">
                    <a:pos x="T6" y="T7"/>
                  </a:cxn>
                </a:cxnLst>
                <a:rect l="T12" t="T13" r="T14" b="T15"/>
                <a:pathLst>
                  <a:path w="375" h="969">
                    <a:moveTo>
                      <a:pt x="375" y="0"/>
                    </a:moveTo>
                    <a:lnTo>
                      <a:pt x="0" y="485"/>
                    </a:lnTo>
                    <a:lnTo>
                      <a:pt x="375" y="969"/>
                    </a:lnTo>
                    <a:lnTo>
                      <a:pt x="375" y="0"/>
                    </a:lnTo>
                    <a:close/>
                  </a:path>
                </a:pathLst>
              </a:custGeom>
              <a:gradFill rotWithShape="1">
                <a:gsLst>
                  <a:gs pos="0">
                    <a:schemeClr val="tx1"/>
                  </a:gs>
                  <a:gs pos="100000">
                    <a:schemeClr val="bg1"/>
                  </a:gs>
                </a:gsLst>
                <a:lin ang="0" scaled="1"/>
              </a:gradFill>
              <a:ln>
                <a:noFill/>
              </a:ln>
              <a:extLst>
                <a:ext uri="{91240B29-F687-4F45-9708-019B960494DF}">
                  <a14:hiddenLine xmlns:a14="http://schemas.microsoft.com/office/drawing/2010/main" w="3175">
                    <a:solidFill>
                      <a:srgbClr val="000000"/>
                    </a:solidFill>
                    <a:round/>
                    <a:headEnd/>
                    <a:tailEnd/>
                  </a14:hiddenLine>
                </a:ext>
              </a:extLst>
            </p:spPr>
            <p:txBody>
              <a:bodyPr/>
              <a:lstStyle/>
              <a:p>
                <a:endParaRPr lang="en-US"/>
              </a:p>
            </p:txBody>
          </p:sp>
        </p:grpSp>
        <p:grpSp>
          <p:nvGrpSpPr>
            <p:cNvPr id="50184" name="Group 73"/>
            <p:cNvGrpSpPr>
              <a:grpSpLocks/>
            </p:cNvGrpSpPr>
            <p:nvPr/>
          </p:nvGrpSpPr>
          <p:grpSpPr bwMode="auto">
            <a:xfrm flipV="1">
              <a:off x="2518309" y="3534246"/>
              <a:ext cx="1666875" cy="2062163"/>
              <a:chOff x="1511" y="1371"/>
              <a:chExt cx="1050" cy="1299"/>
            </a:xfrm>
          </p:grpSpPr>
          <p:grpSp>
            <p:nvGrpSpPr>
              <p:cNvPr id="50185" name="Group 74"/>
              <p:cNvGrpSpPr>
                <a:grpSpLocks/>
              </p:cNvGrpSpPr>
              <p:nvPr/>
            </p:nvGrpSpPr>
            <p:grpSpPr bwMode="auto">
              <a:xfrm>
                <a:off x="1511" y="1371"/>
                <a:ext cx="1050" cy="198"/>
                <a:chOff x="1614" y="1494"/>
                <a:chExt cx="1050" cy="198"/>
              </a:xfrm>
            </p:grpSpPr>
            <p:sp>
              <p:nvSpPr>
                <p:cNvPr id="50187" name="Rectangle 75"/>
                <p:cNvSpPr>
                  <a:spLocks noChangeArrowheads="1"/>
                </p:cNvSpPr>
                <p:nvPr/>
              </p:nvSpPr>
              <p:spPr bwMode="auto">
                <a:xfrm>
                  <a:off x="2358" y="1500"/>
                  <a:ext cx="168" cy="174"/>
                </a:xfrm>
                <a:prstGeom prst="rect">
                  <a:avLst/>
                </a:prstGeom>
                <a:solidFill>
                  <a:schemeClr val="bg1"/>
                </a:solidFill>
                <a:ln w="9525">
                  <a:solidFill>
                    <a:schemeClr val="tx1"/>
                  </a:solidFill>
                  <a:miter lim="800000"/>
                  <a:headEnd/>
                  <a:tailEnd/>
                </a:ln>
              </p:spPr>
              <p:txBody>
                <a:bodyPr rot="10800000" wrap="none" anchor="ct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1" name="Freeform 76"/>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 name="T21" fmla="*/ 0 w 896"/>
                    <a:gd name="T22" fmla="*/ 0 h 198"/>
                    <a:gd name="T23" fmla="*/ 896 w 896"/>
                    <a:gd name="T24" fmla="*/ 198 h 1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chemeClr val="tx1"/>
                    </a:gs>
                    <a:gs pos="50000">
                      <a:schemeClr val="bg1"/>
                    </a:gs>
                    <a:gs pos="100000">
                      <a:schemeClr val="tx1"/>
                    </a:gs>
                  </a:gsLst>
                  <a:lin ang="5400000" scaled="1"/>
                </a:gradFill>
                <a:ln w="9525">
                  <a:solidFill>
                    <a:schemeClr val="tx1"/>
                  </a:solidFill>
                  <a:round/>
                  <a:headEnd/>
                  <a:tailEnd/>
                </a:ln>
              </p:spPr>
              <p:txBody>
                <a:bodyPr rot="10800000"/>
                <a:lstStyle/>
                <a:p>
                  <a:pPr>
                    <a:defRPr/>
                  </a:pPr>
                  <a:endParaRPr lang="en-US" dirty="0">
                    <a:latin typeface="Times New Roman" pitchFamily="18" charset="0"/>
                  </a:endParaRPr>
                </a:p>
              </p:txBody>
            </p:sp>
            <p:sp>
              <p:nvSpPr>
                <p:cNvPr id="50189" name="Oval 77"/>
                <p:cNvSpPr>
                  <a:spLocks noChangeArrowheads="1"/>
                </p:cNvSpPr>
                <p:nvPr/>
              </p:nvSpPr>
              <p:spPr bwMode="auto">
                <a:xfrm>
                  <a:off x="2502" y="1506"/>
                  <a:ext cx="62" cy="168"/>
                </a:xfrm>
                <a:prstGeom prst="ellipse">
                  <a:avLst/>
                </a:prstGeom>
                <a:solidFill>
                  <a:schemeClr val="bg1"/>
                </a:solidFill>
                <a:ln w="9525">
                  <a:solidFill>
                    <a:schemeClr val="tx1"/>
                  </a:solidFill>
                  <a:round/>
                  <a:headEnd/>
                  <a:tailEnd/>
                </a:ln>
              </p:spPr>
              <p:txBody>
                <a:bodyPr rot="10800000" wrap="none" anchor="ct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50190" name="Line 78"/>
                <p:cNvSpPr>
                  <a:spLocks noChangeShapeType="1"/>
                </p:cNvSpPr>
                <p:nvPr/>
              </p:nvSpPr>
              <p:spPr bwMode="auto">
                <a:xfrm>
                  <a:off x="2526" y="1584"/>
                  <a:ext cx="13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0186" name="Freeform 79"/>
              <p:cNvSpPr>
                <a:spLocks/>
              </p:cNvSpPr>
              <p:nvPr/>
            </p:nvSpPr>
            <p:spPr bwMode="auto">
              <a:xfrm>
                <a:off x="1536" y="1563"/>
                <a:ext cx="1015" cy="1107"/>
              </a:xfrm>
              <a:custGeom>
                <a:avLst/>
                <a:gdLst>
                  <a:gd name="T0" fmla="*/ 1015 w 1015"/>
                  <a:gd name="T1" fmla="*/ 1107 h 1107"/>
                  <a:gd name="T2" fmla="*/ 0 w 1015"/>
                  <a:gd name="T3" fmla="*/ 0 h 1107"/>
                  <a:gd name="T4" fmla="*/ 905 w 1015"/>
                  <a:gd name="T5" fmla="*/ 0 h 1107"/>
                  <a:gd name="T6" fmla="*/ 1015 w 1015"/>
                  <a:gd name="T7" fmla="*/ 1107 h 1107"/>
                  <a:gd name="T8" fmla="*/ 0 60000 65536"/>
                  <a:gd name="T9" fmla="*/ 0 60000 65536"/>
                  <a:gd name="T10" fmla="*/ 0 60000 65536"/>
                  <a:gd name="T11" fmla="*/ 0 60000 65536"/>
                  <a:gd name="T12" fmla="*/ 0 w 1015"/>
                  <a:gd name="T13" fmla="*/ 0 h 1107"/>
                  <a:gd name="T14" fmla="*/ 1015 w 1015"/>
                  <a:gd name="T15" fmla="*/ 1107 h 1107"/>
                </a:gdLst>
                <a:ahLst/>
                <a:cxnLst>
                  <a:cxn ang="T8">
                    <a:pos x="T0" y="T1"/>
                  </a:cxn>
                  <a:cxn ang="T9">
                    <a:pos x="T2" y="T3"/>
                  </a:cxn>
                  <a:cxn ang="T10">
                    <a:pos x="T4" y="T5"/>
                  </a:cxn>
                  <a:cxn ang="T11">
                    <a:pos x="T6" y="T7"/>
                  </a:cxn>
                </a:cxnLst>
                <a:rect l="T12" t="T13" r="T14" b="T15"/>
                <a:pathLst>
                  <a:path w="1015" h="1107">
                    <a:moveTo>
                      <a:pt x="1015" y="1107"/>
                    </a:moveTo>
                    <a:lnTo>
                      <a:pt x="0" y="0"/>
                    </a:lnTo>
                    <a:lnTo>
                      <a:pt x="905" y="0"/>
                    </a:lnTo>
                    <a:lnTo>
                      <a:pt x="1015" y="1107"/>
                    </a:lnTo>
                    <a:close/>
                  </a:path>
                </a:pathLst>
              </a:custGeom>
              <a:gradFill rotWithShape="1">
                <a:gsLst>
                  <a:gs pos="0">
                    <a:schemeClr val="bg1"/>
                  </a:gs>
                  <a:gs pos="100000">
                    <a:schemeClr val="tx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p>
                <a:endParaRPr lang="en-US"/>
              </a:p>
            </p:txBody>
          </p:sp>
        </p:grpSp>
      </p:grpSp>
      <p:pic>
        <p:nvPicPr>
          <p:cNvPr id="50182" name="Graphic 43"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Access networks: home networks</a:t>
            </a:r>
            <a:endParaRPr lang="en-US" dirty="0"/>
          </a:p>
        </p:txBody>
      </p:sp>
      <p:sp>
        <p:nvSpPr>
          <p:cNvPr id="146" name="AutoShape 99">
            <a:extLst>
              <a:ext uri="{FF2B5EF4-FFF2-40B4-BE49-F238E27FC236}">
                <a16:creationId xmlns:a16="http://schemas.microsoft.com/office/drawing/2014/main" id="{4A160FD5-4C4D-7544-A021-EFE195A31483}"/>
              </a:ext>
            </a:extLst>
          </p:cNvPr>
          <p:cNvSpPr>
            <a:spLocks noChangeArrowheads="1"/>
          </p:cNvSpPr>
          <p:nvPr/>
        </p:nvSpPr>
        <p:spPr bwMode="auto">
          <a:xfrm>
            <a:off x="2624905" y="1540065"/>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47" name="Text Box 26">
            <a:extLst>
              <a:ext uri="{FF2B5EF4-FFF2-40B4-BE49-F238E27FC236}">
                <a16:creationId xmlns:a16="http://schemas.microsoft.com/office/drawing/2014/main" id="{D0274863-BB77-C24E-B396-56EED77DE923}"/>
              </a:ext>
            </a:extLst>
          </p:cNvPr>
          <p:cNvSpPr txBox="1">
            <a:spLocks noChangeArrowheads="1"/>
          </p:cNvSpPr>
          <p:nvPr/>
        </p:nvSpPr>
        <p:spPr bwMode="auto">
          <a:xfrm>
            <a:off x="8558440" y="3462573"/>
            <a:ext cx="2897188"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dirty="0">
                <a:latin typeface="+mn-lt"/>
              </a:rPr>
              <a:t>to/from headend or central office</a:t>
            </a:r>
          </a:p>
        </p:txBody>
      </p:sp>
      <p:sp>
        <p:nvSpPr>
          <p:cNvPr id="148" name="Rectangle 87">
            <a:extLst>
              <a:ext uri="{FF2B5EF4-FFF2-40B4-BE49-F238E27FC236}">
                <a16:creationId xmlns:a16="http://schemas.microsoft.com/office/drawing/2014/main" id="{7D6B5C84-08A7-C741-8874-5BEAB1BC71B2}"/>
              </a:ext>
            </a:extLst>
          </p:cNvPr>
          <p:cNvSpPr>
            <a:spLocks noChangeArrowheads="1"/>
          </p:cNvSpPr>
          <p:nvPr/>
        </p:nvSpPr>
        <p:spPr bwMode="auto">
          <a:xfrm>
            <a:off x="3059880" y="2294128"/>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nvGrpSpPr>
          <p:cNvPr id="149" name="Group 105">
            <a:extLst>
              <a:ext uri="{FF2B5EF4-FFF2-40B4-BE49-F238E27FC236}">
                <a16:creationId xmlns:a16="http://schemas.microsoft.com/office/drawing/2014/main" id="{B63ECFC0-CE11-5245-ADFB-E70CAF22F69D}"/>
              </a:ext>
            </a:extLst>
          </p:cNvPr>
          <p:cNvGrpSpPr>
            <a:grpSpLocks/>
          </p:cNvGrpSpPr>
          <p:nvPr/>
        </p:nvGrpSpPr>
        <p:grpSpPr bwMode="auto">
          <a:xfrm>
            <a:off x="6158680" y="3633978"/>
            <a:ext cx="3000375" cy="361950"/>
            <a:chOff x="2434" y="2109"/>
            <a:chExt cx="1890" cy="228"/>
          </a:xfrm>
        </p:grpSpPr>
        <p:grpSp>
          <p:nvGrpSpPr>
            <p:cNvPr id="150" name="Group 91">
              <a:extLst>
                <a:ext uri="{FF2B5EF4-FFF2-40B4-BE49-F238E27FC236}">
                  <a16:creationId xmlns:a16="http://schemas.microsoft.com/office/drawing/2014/main" id="{F907AE85-CF02-154A-8A53-7BFE20B3828A}"/>
                </a:ext>
              </a:extLst>
            </p:cNvPr>
            <p:cNvGrpSpPr>
              <a:grpSpLocks/>
            </p:cNvGrpSpPr>
            <p:nvPr/>
          </p:nvGrpSpPr>
          <p:grpSpPr bwMode="auto">
            <a:xfrm>
              <a:off x="2722" y="2109"/>
              <a:ext cx="642" cy="228"/>
              <a:chOff x="322" y="890"/>
              <a:chExt cx="872" cy="339"/>
            </a:xfrm>
          </p:grpSpPr>
          <p:sp>
            <p:nvSpPr>
              <p:cNvPr id="153" name="Rectangle 92">
                <a:extLst>
                  <a:ext uri="{FF2B5EF4-FFF2-40B4-BE49-F238E27FC236}">
                    <a16:creationId xmlns:a16="http://schemas.microsoft.com/office/drawing/2014/main" id="{DC808D90-CA5B-CC4E-9F59-8446FCBD4619}"/>
                  </a:ext>
                </a:extLst>
              </p:cNvPr>
              <p:cNvSpPr>
                <a:spLocks noChangeArrowheads="1"/>
              </p:cNvSpPr>
              <p:nvPr/>
            </p:nvSpPr>
            <p:spPr bwMode="auto">
              <a:xfrm>
                <a:off x="323" y="1004"/>
                <a:ext cx="871" cy="225"/>
              </a:xfrm>
              <a:prstGeom prst="rect">
                <a:avLst/>
              </a:prstGeom>
              <a:solidFill>
                <a:schemeClr val="bg1">
                  <a:lumMod val="7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54" name="Rectangle 93">
                <a:extLst>
                  <a:ext uri="{FF2B5EF4-FFF2-40B4-BE49-F238E27FC236}">
                    <a16:creationId xmlns:a16="http://schemas.microsoft.com/office/drawing/2014/main" id="{1B2C7640-D539-9344-A812-A544BBE81F3D}"/>
                  </a:ext>
                </a:extLst>
              </p:cNvPr>
              <p:cNvSpPr>
                <a:spLocks noChangeArrowheads="1"/>
              </p:cNvSpPr>
              <p:nvPr/>
            </p:nvSpPr>
            <p:spPr bwMode="auto">
              <a:xfrm>
                <a:off x="393" y="1073"/>
                <a:ext cx="57" cy="57"/>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55" name="Rectangle 94">
                <a:extLst>
                  <a:ext uri="{FF2B5EF4-FFF2-40B4-BE49-F238E27FC236}">
                    <a16:creationId xmlns:a16="http://schemas.microsoft.com/office/drawing/2014/main" id="{575359A2-2620-6041-9836-24D2493EA9B6}"/>
                  </a:ext>
                </a:extLst>
              </p:cNvPr>
              <p:cNvSpPr>
                <a:spLocks noChangeArrowheads="1"/>
              </p:cNvSpPr>
              <p:nvPr/>
            </p:nvSpPr>
            <p:spPr bwMode="auto">
              <a:xfrm>
                <a:off x="467" y="1073"/>
                <a:ext cx="56" cy="57"/>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56" name="Rectangle 95">
                <a:extLst>
                  <a:ext uri="{FF2B5EF4-FFF2-40B4-BE49-F238E27FC236}">
                    <a16:creationId xmlns:a16="http://schemas.microsoft.com/office/drawing/2014/main" id="{E5B3B553-893B-584E-8E61-7820A60B1217}"/>
                  </a:ext>
                </a:extLst>
              </p:cNvPr>
              <p:cNvSpPr>
                <a:spLocks noChangeArrowheads="1"/>
              </p:cNvSpPr>
              <p:nvPr/>
            </p:nvSpPr>
            <p:spPr bwMode="auto">
              <a:xfrm>
                <a:off x="541" y="1071"/>
                <a:ext cx="56" cy="5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99" name="Rectangle 96">
                <a:extLst>
                  <a:ext uri="{FF2B5EF4-FFF2-40B4-BE49-F238E27FC236}">
                    <a16:creationId xmlns:a16="http://schemas.microsoft.com/office/drawing/2014/main" id="{828B514D-B09C-D14D-AF7B-ABABEE49BBB4}"/>
                  </a:ext>
                </a:extLst>
              </p:cNvPr>
              <p:cNvSpPr>
                <a:spLocks noChangeArrowheads="1"/>
              </p:cNvSpPr>
              <p:nvPr/>
            </p:nvSpPr>
            <p:spPr bwMode="auto">
              <a:xfrm>
                <a:off x="615" y="1071"/>
                <a:ext cx="56" cy="5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200" name="AutoShape 97">
                <a:extLst>
                  <a:ext uri="{FF2B5EF4-FFF2-40B4-BE49-F238E27FC236}">
                    <a16:creationId xmlns:a16="http://schemas.microsoft.com/office/drawing/2014/main" id="{421771C9-7AD4-CC4C-B3BA-4D57863F16F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85000"/>
                </a:schemeClr>
              </a:solidFill>
              <a:ln w="9525">
                <a:solidFill>
                  <a:schemeClr val="tx1"/>
                </a:solidFill>
                <a:miter lim="800000"/>
                <a:headEnd/>
                <a:tailEnd/>
              </a:ln>
            </p:spPr>
            <p:txBody>
              <a:bodyPr wrap="none" anchor="ctr"/>
              <a:lstStyle/>
              <a:p>
                <a:endParaRPr lang="en-US" sz="2000"/>
              </a:p>
            </p:txBody>
          </p:sp>
        </p:grpSp>
        <p:sp>
          <p:nvSpPr>
            <p:cNvPr id="151" name="Line 102">
              <a:extLst>
                <a:ext uri="{FF2B5EF4-FFF2-40B4-BE49-F238E27FC236}">
                  <a16:creationId xmlns:a16="http://schemas.microsoft.com/office/drawing/2014/main" id="{9BAD5509-6D09-DB44-87DD-29C938B0C840}"/>
                </a:ext>
              </a:extLst>
            </p:cNvPr>
            <p:cNvSpPr>
              <a:spLocks noChangeShapeType="1"/>
            </p:cNvSpPr>
            <p:nvPr/>
          </p:nvSpPr>
          <p:spPr bwMode="auto">
            <a:xfrm flipH="1">
              <a:off x="3361" y="2258"/>
              <a:ext cx="96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2" name="Line 104">
              <a:extLst>
                <a:ext uri="{FF2B5EF4-FFF2-40B4-BE49-F238E27FC236}">
                  <a16:creationId xmlns:a16="http://schemas.microsoft.com/office/drawing/2014/main" id="{44F38783-51E9-1F46-8255-A525AF657711}"/>
                </a:ext>
              </a:extLst>
            </p:cNvPr>
            <p:cNvSpPr>
              <a:spLocks noChangeShapeType="1"/>
            </p:cNvSpPr>
            <p:nvPr/>
          </p:nvSpPr>
          <p:spPr bwMode="auto">
            <a:xfrm flipH="1">
              <a:off x="2434" y="2261"/>
              <a:ext cx="28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grpSp>
      <p:sp>
        <p:nvSpPr>
          <p:cNvPr id="210" name="Line 116">
            <a:extLst>
              <a:ext uri="{FF2B5EF4-FFF2-40B4-BE49-F238E27FC236}">
                <a16:creationId xmlns:a16="http://schemas.microsoft.com/office/drawing/2014/main" id="{7856E2F5-6F18-C846-8F52-6729FBB66F0E}"/>
              </a:ext>
            </a:extLst>
          </p:cNvPr>
          <p:cNvSpPr>
            <a:spLocks noChangeShapeType="1"/>
          </p:cNvSpPr>
          <p:nvPr/>
        </p:nvSpPr>
        <p:spPr bwMode="auto">
          <a:xfrm flipH="1">
            <a:off x="4306067" y="3845115"/>
            <a:ext cx="82232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grpSp>
        <p:nvGrpSpPr>
          <p:cNvPr id="211" name="Group 119">
            <a:extLst>
              <a:ext uri="{FF2B5EF4-FFF2-40B4-BE49-F238E27FC236}">
                <a16:creationId xmlns:a16="http://schemas.microsoft.com/office/drawing/2014/main" id="{EC5DA6E3-3363-1B48-B254-2EBFB5498103}"/>
              </a:ext>
            </a:extLst>
          </p:cNvPr>
          <p:cNvGrpSpPr>
            <a:grpSpLocks/>
          </p:cNvGrpSpPr>
          <p:nvPr/>
        </p:nvGrpSpPr>
        <p:grpSpPr bwMode="auto">
          <a:xfrm>
            <a:off x="3685355" y="3265678"/>
            <a:ext cx="1068387" cy="820737"/>
            <a:chOff x="2967" y="478"/>
            <a:chExt cx="788" cy="625"/>
          </a:xfrm>
        </p:grpSpPr>
        <p:pic>
          <p:nvPicPr>
            <p:cNvPr id="212" name="Picture 120" descr="access_point_stylized_small">
              <a:extLst>
                <a:ext uri="{FF2B5EF4-FFF2-40B4-BE49-F238E27FC236}">
                  <a16:creationId xmlns:a16="http://schemas.microsoft.com/office/drawing/2014/main" id="{C61FCE92-D1E3-EE4A-B69C-DF13FA394A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121" descr="antenna_radiation_stylized">
              <a:extLst>
                <a:ext uri="{FF2B5EF4-FFF2-40B4-BE49-F238E27FC236}">
                  <a16:creationId xmlns:a16="http://schemas.microsoft.com/office/drawing/2014/main" id="{5D07953C-19D0-2E42-9860-0BDAE4B7FA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4" name="Line 122">
            <a:extLst>
              <a:ext uri="{FF2B5EF4-FFF2-40B4-BE49-F238E27FC236}">
                <a16:creationId xmlns:a16="http://schemas.microsoft.com/office/drawing/2014/main" id="{BE64F84C-B27F-B442-9E28-B4C0179086AE}"/>
              </a:ext>
            </a:extLst>
          </p:cNvPr>
          <p:cNvSpPr>
            <a:spLocks noChangeShapeType="1"/>
          </p:cNvSpPr>
          <p:nvPr/>
        </p:nvSpPr>
        <p:spPr bwMode="auto">
          <a:xfrm flipH="1" flipV="1">
            <a:off x="5632155" y="3109101"/>
            <a:ext cx="0" cy="46831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grpSp>
        <p:nvGrpSpPr>
          <p:cNvPr id="215" name="Group 138">
            <a:extLst>
              <a:ext uri="{FF2B5EF4-FFF2-40B4-BE49-F238E27FC236}">
                <a16:creationId xmlns:a16="http://schemas.microsoft.com/office/drawing/2014/main" id="{D742C348-83AB-E741-83A9-DF2ED1BEF85B}"/>
              </a:ext>
            </a:extLst>
          </p:cNvPr>
          <p:cNvGrpSpPr>
            <a:grpSpLocks/>
          </p:cNvGrpSpPr>
          <p:nvPr/>
        </p:nvGrpSpPr>
        <p:grpSpPr bwMode="auto">
          <a:xfrm>
            <a:off x="7196905" y="4084827"/>
            <a:ext cx="2527300" cy="1298574"/>
            <a:chOff x="3355" y="2333"/>
            <a:chExt cx="1592" cy="818"/>
          </a:xfrm>
        </p:grpSpPr>
        <p:sp>
          <p:nvSpPr>
            <p:cNvPr id="216" name="Text Box 39">
              <a:extLst>
                <a:ext uri="{FF2B5EF4-FFF2-40B4-BE49-F238E27FC236}">
                  <a16:creationId xmlns:a16="http://schemas.microsoft.com/office/drawing/2014/main" id="{646A742F-504F-3B40-89FE-C4D20BCCDC37}"/>
                </a:ext>
              </a:extLst>
            </p:cNvPr>
            <p:cNvSpPr txBox="1">
              <a:spLocks noChangeArrowheads="1"/>
            </p:cNvSpPr>
            <p:nvPr/>
          </p:nvSpPr>
          <p:spPr bwMode="auto">
            <a:xfrm>
              <a:off x="3355" y="2934"/>
              <a:ext cx="1592"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000">
                  <a:latin typeface="+mn-lt"/>
                </a:rPr>
                <a:t>cable or DSL modem</a:t>
              </a:r>
            </a:p>
          </p:txBody>
        </p:sp>
        <p:sp>
          <p:nvSpPr>
            <p:cNvPr id="217" name="Line 129">
              <a:extLst>
                <a:ext uri="{FF2B5EF4-FFF2-40B4-BE49-F238E27FC236}">
                  <a16:creationId xmlns:a16="http://schemas.microsoft.com/office/drawing/2014/main" id="{7503FB48-7A18-9847-91A0-679C80B8D223}"/>
                </a:ext>
              </a:extLst>
            </p:cNvPr>
            <p:cNvSpPr>
              <a:spLocks noChangeShapeType="1"/>
            </p:cNvSpPr>
            <p:nvPr/>
          </p:nvSpPr>
          <p:spPr bwMode="auto">
            <a:xfrm>
              <a:off x="3449" y="2333"/>
              <a:ext cx="0" cy="59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a:p>
          </p:txBody>
        </p:sp>
      </p:grpSp>
      <p:grpSp>
        <p:nvGrpSpPr>
          <p:cNvPr id="218" name="Group 139">
            <a:extLst>
              <a:ext uri="{FF2B5EF4-FFF2-40B4-BE49-F238E27FC236}">
                <a16:creationId xmlns:a16="http://schemas.microsoft.com/office/drawing/2014/main" id="{D1281F21-D2B1-9B46-8003-6AB257C40294}"/>
              </a:ext>
            </a:extLst>
          </p:cNvPr>
          <p:cNvGrpSpPr>
            <a:grpSpLocks/>
          </p:cNvGrpSpPr>
          <p:nvPr/>
        </p:nvGrpSpPr>
        <p:grpSpPr bwMode="auto">
          <a:xfrm>
            <a:off x="5931667" y="4076891"/>
            <a:ext cx="2593975" cy="1811338"/>
            <a:chOff x="2558" y="2328"/>
            <a:chExt cx="1634" cy="1141"/>
          </a:xfrm>
        </p:grpSpPr>
        <p:sp>
          <p:nvSpPr>
            <p:cNvPr id="219" name="Text Box 39">
              <a:extLst>
                <a:ext uri="{FF2B5EF4-FFF2-40B4-BE49-F238E27FC236}">
                  <a16:creationId xmlns:a16="http://schemas.microsoft.com/office/drawing/2014/main" id="{F6831A30-ACB5-104B-98AE-925BD43DD76C}"/>
                </a:ext>
              </a:extLst>
            </p:cNvPr>
            <p:cNvSpPr txBox="1">
              <a:spLocks noChangeArrowheads="1"/>
            </p:cNvSpPr>
            <p:nvPr/>
          </p:nvSpPr>
          <p:spPr bwMode="auto">
            <a:xfrm>
              <a:off x="2558" y="3252"/>
              <a:ext cx="1634"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000">
                  <a:latin typeface="+mn-lt"/>
                </a:rPr>
                <a:t>router, firewall, NAT</a:t>
              </a:r>
            </a:p>
          </p:txBody>
        </p:sp>
        <p:sp>
          <p:nvSpPr>
            <p:cNvPr id="220" name="Line 133">
              <a:extLst>
                <a:ext uri="{FF2B5EF4-FFF2-40B4-BE49-F238E27FC236}">
                  <a16:creationId xmlns:a16="http://schemas.microsoft.com/office/drawing/2014/main" id="{DABF8E2E-008F-544C-BCD6-751130DFA4C1}"/>
                </a:ext>
              </a:extLst>
            </p:cNvPr>
            <p:cNvSpPr>
              <a:spLocks noChangeShapeType="1"/>
            </p:cNvSpPr>
            <p:nvPr/>
          </p:nvSpPr>
          <p:spPr bwMode="auto">
            <a:xfrm>
              <a:off x="2645" y="2328"/>
              <a:ext cx="0" cy="9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a:p>
          </p:txBody>
        </p:sp>
      </p:grpSp>
      <p:grpSp>
        <p:nvGrpSpPr>
          <p:cNvPr id="221" name="Group 141">
            <a:extLst>
              <a:ext uri="{FF2B5EF4-FFF2-40B4-BE49-F238E27FC236}">
                <a16:creationId xmlns:a16="http://schemas.microsoft.com/office/drawing/2014/main" id="{49F7E4B1-9167-8448-9366-611119FFC227}"/>
              </a:ext>
            </a:extLst>
          </p:cNvPr>
          <p:cNvGrpSpPr>
            <a:grpSpLocks/>
          </p:cNvGrpSpPr>
          <p:nvPr/>
        </p:nvGrpSpPr>
        <p:grpSpPr bwMode="auto">
          <a:xfrm>
            <a:off x="5476055" y="4957952"/>
            <a:ext cx="2927350" cy="1425205"/>
            <a:chOff x="2062" y="2532"/>
            <a:chExt cx="1844" cy="1239"/>
          </a:xfrm>
        </p:grpSpPr>
        <p:sp>
          <p:nvSpPr>
            <p:cNvPr id="222" name="Line 134">
              <a:extLst>
                <a:ext uri="{FF2B5EF4-FFF2-40B4-BE49-F238E27FC236}">
                  <a16:creationId xmlns:a16="http://schemas.microsoft.com/office/drawing/2014/main" id="{30BA4B16-BA39-F546-81EE-7C093F7618F7}"/>
                </a:ext>
              </a:extLst>
            </p:cNvPr>
            <p:cNvSpPr>
              <a:spLocks noChangeShapeType="1"/>
            </p:cNvSpPr>
            <p:nvPr/>
          </p:nvSpPr>
          <p:spPr bwMode="auto">
            <a:xfrm>
              <a:off x="2064" y="2532"/>
              <a:ext cx="0" cy="9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223" name="Text Box 39">
              <a:extLst>
                <a:ext uri="{FF2B5EF4-FFF2-40B4-BE49-F238E27FC236}">
                  <a16:creationId xmlns:a16="http://schemas.microsoft.com/office/drawing/2014/main" id="{A8AAE27C-6F91-8745-B8A0-54C5B6F4E41E}"/>
                </a:ext>
              </a:extLst>
            </p:cNvPr>
            <p:cNvSpPr txBox="1">
              <a:spLocks noChangeArrowheads="1"/>
            </p:cNvSpPr>
            <p:nvPr/>
          </p:nvSpPr>
          <p:spPr bwMode="auto">
            <a:xfrm>
              <a:off x="2062" y="3471"/>
              <a:ext cx="1844"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000">
                  <a:latin typeface="+mn-lt"/>
                </a:rPr>
                <a:t>wired Ethernet (1 Gbps)</a:t>
              </a:r>
            </a:p>
          </p:txBody>
        </p:sp>
      </p:grpSp>
      <p:grpSp>
        <p:nvGrpSpPr>
          <p:cNvPr id="224" name="Group 140">
            <a:extLst>
              <a:ext uri="{FF2B5EF4-FFF2-40B4-BE49-F238E27FC236}">
                <a16:creationId xmlns:a16="http://schemas.microsoft.com/office/drawing/2014/main" id="{712546AE-4EB8-8246-8F62-5C8ACD7A1157}"/>
              </a:ext>
            </a:extLst>
          </p:cNvPr>
          <p:cNvGrpSpPr>
            <a:grpSpLocks/>
          </p:cNvGrpSpPr>
          <p:nvPr/>
        </p:nvGrpSpPr>
        <p:grpSpPr bwMode="auto">
          <a:xfrm>
            <a:off x="1907355" y="4107051"/>
            <a:ext cx="2354262" cy="2103436"/>
            <a:chOff x="23" y="2347"/>
            <a:chExt cx="1483" cy="1325"/>
          </a:xfrm>
        </p:grpSpPr>
        <p:sp>
          <p:nvSpPr>
            <p:cNvPr id="225" name="Line 136">
              <a:extLst>
                <a:ext uri="{FF2B5EF4-FFF2-40B4-BE49-F238E27FC236}">
                  <a16:creationId xmlns:a16="http://schemas.microsoft.com/office/drawing/2014/main" id="{826E64FA-8748-A443-9DDC-23B3930BBDD2}"/>
                </a:ext>
              </a:extLst>
            </p:cNvPr>
            <p:cNvSpPr>
              <a:spLocks noChangeShapeType="1"/>
            </p:cNvSpPr>
            <p:nvPr/>
          </p:nvSpPr>
          <p:spPr bwMode="auto">
            <a:xfrm>
              <a:off x="1360" y="2347"/>
              <a:ext cx="0" cy="9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226" name="Text Box 39">
              <a:extLst>
                <a:ext uri="{FF2B5EF4-FFF2-40B4-BE49-F238E27FC236}">
                  <a16:creationId xmlns:a16="http://schemas.microsoft.com/office/drawing/2014/main" id="{27BB7BBE-95DA-E14B-98DC-638CE33FCD11}"/>
                </a:ext>
              </a:extLst>
            </p:cNvPr>
            <p:cNvSpPr txBox="1">
              <a:spLocks noChangeArrowheads="1"/>
            </p:cNvSpPr>
            <p:nvPr/>
          </p:nvSpPr>
          <p:spPr bwMode="auto">
            <a:xfrm>
              <a:off x="23" y="3300"/>
              <a:ext cx="1483"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sz="2000" dirty="0" err="1">
                  <a:latin typeface="+mn-lt"/>
                </a:rPr>
                <a:t>WiFi</a:t>
              </a:r>
              <a:r>
                <a:rPr lang="en-US" altLang="en-US" sz="2000" dirty="0">
                  <a:latin typeface="+mn-lt"/>
                </a:rPr>
                <a:t> wireless access </a:t>
              </a:r>
            </a:p>
            <a:p>
              <a:pPr algn="r">
                <a:lnSpc>
                  <a:spcPct val="80000"/>
                </a:lnSpc>
              </a:pPr>
              <a:r>
                <a:rPr lang="en-US" altLang="en-US" sz="2000" dirty="0">
                  <a:latin typeface="+mn-lt"/>
                </a:rPr>
                <a:t>point (54, 450 Mbps)</a:t>
              </a:r>
            </a:p>
          </p:txBody>
        </p:sp>
      </p:grpSp>
      <p:sp>
        <p:nvSpPr>
          <p:cNvPr id="227" name="Text Box 142">
            <a:extLst>
              <a:ext uri="{FF2B5EF4-FFF2-40B4-BE49-F238E27FC236}">
                <a16:creationId xmlns:a16="http://schemas.microsoft.com/office/drawing/2014/main" id="{E0D602B7-3D10-644F-A082-4AD00685B939}"/>
              </a:ext>
            </a:extLst>
          </p:cNvPr>
          <p:cNvSpPr txBox="1">
            <a:spLocks noChangeArrowheads="1"/>
          </p:cNvSpPr>
          <p:nvPr/>
        </p:nvSpPr>
        <p:spPr bwMode="auto">
          <a:xfrm>
            <a:off x="3011202" y="1523624"/>
            <a:ext cx="119693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90000"/>
              </a:lnSpc>
            </a:pPr>
            <a:r>
              <a:rPr lang="en-US" altLang="en-US" dirty="0">
                <a:latin typeface="+mn-lt"/>
              </a:rPr>
              <a:t>wireless</a:t>
            </a:r>
          </a:p>
          <a:p>
            <a:pPr algn="r">
              <a:lnSpc>
                <a:spcPct val="90000"/>
              </a:lnSpc>
            </a:pPr>
            <a:r>
              <a:rPr lang="en-US" altLang="en-US" dirty="0">
                <a:latin typeface="+mn-lt"/>
              </a:rPr>
              <a:t>devices</a:t>
            </a:r>
          </a:p>
        </p:txBody>
      </p:sp>
      <p:grpSp>
        <p:nvGrpSpPr>
          <p:cNvPr id="228" name="Group 143">
            <a:extLst>
              <a:ext uri="{FF2B5EF4-FFF2-40B4-BE49-F238E27FC236}">
                <a16:creationId xmlns:a16="http://schemas.microsoft.com/office/drawing/2014/main" id="{9AA4B710-3339-A346-9EC7-A09E554F6751}"/>
              </a:ext>
            </a:extLst>
          </p:cNvPr>
          <p:cNvGrpSpPr>
            <a:grpSpLocks/>
          </p:cNvGrpSpPr>
          <p:nvPr/>
        </p:nvGrpSpPr>
        <p:grpSpPr bwMode="auto">
          <a:xfrm>
            <a:off x="3255142" y="2335403"/>
            <a:ext cx="733425" cy="758825"/>
            <a:chOff x="2751" y="1851"/>
            <a:chExt cx="462" cy="478"/>
          </a:xfrm>
        </p:grpSpPr>
        <p:pic>
          <p:nvPicPr>
            <p:cNvPr id="229" name="Picture 144" descr="iphone_stylized_small">
              <a:extLst>
                <a:ext uri="{FF2B5EF4-FFF2-40B4-BE49-F238E27FC236}">
                  <a16:creationId xmlns:a16="http://schemas.microsoft.com/office/drawing/2014/main" id="{41513B1D-08CB-D742-8152-CA81640B606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45" descr="antenna_radiation_stylized">
              <a:extLst>
                <a:ext uri="{FF2B5EF4-FFF2-40B4-BE49-F238E27FC236}">
                  <a16:creationId xmlns:a16="http://schemas.microsoft.com/office/drawing/2014/main" id="{F159AFE2-B4D2-464C-84AA-CF64E1E833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1" name="Line 146">
            <a:extLst>
              <a:ext uri="{FF2B5EF4-FFF2-40B4-BE49-F238E27FC236}">
                <a16:creationId xmlns:a16="http://schemas.microsoft.com/office/drawing/2014/main" id="{6BA2DD01-EC8E-9945-A63F-E69A2B22C129}"/>
              </a:ext>
            </a:extLst>
          </p:cNvPr>
          <p:cNvSpPr>
            <a:spLocks noChangeShapeType="1"/>
          </p:cNvSpPr>
          <p:nvPr/>
        </p:nvSpPr>
        <p:spPr bwMode="auto">
          <a:xfrm>
            <a:off x="5632155" y="4054099"/>
            <a:ext cx="2" cy="2251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232" name="Oval 147">
            <a:extLst>
              <a:ext uri="{FF2B5EF4-FFF2-40B4-BE49-F238E27FC236}">
                <a16:creationId xmlns:a16="http://schemas.microsoft.com/office/drawing/2014/main" id="{F04BCE9C-46F3-6345-9348-15575C0EFC92}"/>
              </a:ext>
            </a:extLst>
          </p:cNvPr>
          <p:cNvSpPr>
            <a:spLocks noChangeArrowheads="1"/>
          </p:cNvSpPr>
          <p:nvPr/>
        </p:nvSpPr>
        <p:spPr bwMode="auto">
          <a:xfrm>
            <a:off x="3151955" y="3382613"/>
            <a:ext cx="4895850" cy="810170"/>
          </a:xfrm>
          <a:prstGeom prst="ellipse">
            <a:avLst/>
          </a:prstGeom>
          <a:noFill/>
          <a:ln w="19050">
            <a:solidFill>
              <a:srgbClr val="CC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nvGrpSpPr>
          <p:cNvPr id="233" name="Group 150">
            <a:extLst>
              <a:ext uri="{FF2B5EF4-FFF2-40B4-BE49-F238E27FC236}">
                <a16:creationId xmlns:a16="http://schemas.microsoft.com/office/drawing/2014/main" id="{1BFB59FB-B949-4343-8746-FA556294EC0E}"/>
              </a:ext>
            </a:extLst>
          </p:cNvPr>
          <p:cNvGrpSpPr>
            <a:grpSpLocks/>
          </p:cNvGrpSpPr>
          <p:nvPr/>
        </p:nvGrpSpPr>
        <p:grpSpPr bwMode="auto">
          <a:xfrm>
            <a:off x="1907354" y="3913382"/>
            <a:ext cx="1730376" cy="774701"/>
            <a:chOff x="23" y="2225"/>
            <a:chExt cx="1090" cy="488"/>
          </a:xfrm>
        </p:grpSpPr>
        <p:sp>
          <p:nvSpPr>
            <p:cNvPr id="234" name="Text Box 148">
              <a:extLst>
                <a:ext uri="{FF2B5EF4-FFF2-40B4-BE49-F238E27FC236}">
                  <a16:creationId xmlns:a16="http://schemas.microsoft.com/office/drawing/2014/main" id="{2847F148-6A2D-A24E-9C3A-CB4657150AC4}"/>
                </a:ext>
              </a:extLst>
            </p:cNvPr>
            <p:cNvSpPr txBox="1">
              <a:spLocks noChangeArrowheads="1"/>
            </p:cNvSpPr>
            <p:nvPr/>
          </p:nvSpPr>
          <p:spPr bwMode="auto">
            <a:xfrm>
              <a:off x="23" y="2357"/>
              <a:ext cx="1090"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85000"/>
                </a:lnSpc>
              </a:pPr>
              <a:r>
                <a:rPr lang="en-US" altLang="en-US" sz="1800" dirty="0">
                  <a:latin typeface="+mn-lt"/>
                </a:rPr>
                <a:t>often combined </a:t>
              </a:r>
            </a:p>
            <a:p>
              <a:pPr algn="r">
                <a:lnSpc>
                  <a:spcPct val="85000"/>
                </a:lnSpc>
              </a:pPr>
              <a:r>
                <a:rPr lang="en-US" altLang="en-US" sz="1800" dirty="0">
                  <a:latin typeface="+mn-lt"/>
                </a:rPr>
                <a:t>in single box</a:t>
              </a:r>
            </a:p>
          </p:txBody>
        </p:sp>
        <p:sp>
          <p:nvSpPr>
            <p:cNvPr id="235" name="Line 149">
              <a:extLst>
                <a:ext uri="{FF2B5EF4-FFF2-40B4-BE49-F238E27FC236}">
                  <a16:creationId xmlns:a16="http://schemas.microsoft.com/office/drawing/2014/main" id="{791A7321-82EF-304E-8F5B-C7B5BF553FDE}"/>
                </a:ext>
              </a:extLst>
            </p:cNvPr>
            <p:cNvSpPr>
              <a:spLocks noChangeShapeType="1"/>
            </p:cNvSpPr>
            <p:nvPr/>
          </p:nvSpPr>
          <p:spPr bwMode="auto">
            <a:xfrm flipV="1">
              <a:off x="590" y="2225"/>
              <a:ext cx="238" cy="1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grpSp>
      <p:grpSp>
        <p:nvGrpSpPr>
          <p:cNvPr id="236" name="Group 151">
            <a:extLst>
              <a:ext uri="{FF2B5EF4-FFF2-40B4-BE49-F238E27FC236}">
                <a16:creationId xmlns:a16="http://schemas.microsoft.com/office/drawing/2014/main" id="{CAC24AE8-8B01-2646-892D-B47CEA005DE7}"/>
              </a:ext>
            </a:extLst>
          </p:cNvPr>
          <p:cNvGrpSpPr>
            <a:grpSpLocks/>
          </p:cNvGrpSpPr>
          <p:nvPr/>
        </p:nvGrpSpPr>
        <p:grpSpPr bwMode="auto">
          <a:xfrm>
            <a:off x="4250505" y="1948053"/>
            <a:ext cx="954087" cy="1027112"/>
            <a:chOff x="877" y="1008"/>
            <a:chExt cx="2747" cy="2591"/>
          </a:xfrm>
        </p:grpSpPr>
        <p:pic>
          <p:nvPicPr>
            <p:cNvPr id="237" name="Picture 152" descr="antenna_stylized">
              <a:extLst>
                <a:ext uri="{FF2B5EF4-FFF2-40B4-BE49-F238E27FC236}">
                  <a16:creationId xmlns:a16="http://schemas.microsoft.com/office/drawing/2014/main" id="{1BE3B9ED-47B2-614A-9C09-F039CFE3A1A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153" descr="laptop_keyboard">
              <a:extLst>
                <a:ext uri="{FF2B5EF4-FFF2-40B4-BE49-F238E27FC236}">
                  <a16:creationId xmlns:a16="http://schemas.microsoft.com/office/drawing/2014/main" id="{195E45EA-7733-D744-B06F-ACC6D6D56D7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154">
              <a:extLst>
                <a:ext uri="{FF2B5EF4-FFF2-40B4-BE49-F238E27FC236}">
                  <a16:creationId xmlns:a16="http://schemas.microsoft.com/office/drawing/2014/main" id="{F01194AD-C0B6-BD40-8B0C-95F73DDCEB5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sz="2000"/>
            </a:p>
          </p:txBody>
        </p:sp>
        <p:pic>
          <p:nvPicPr>
            <p:cNvPr id="240" name="Picture 155" descr="screen">
              <a:extLst>
                <a:ext uri="{FF2B5EF4-FFF2-40B4-BE49-F238E27FC236}">
                  <a16:creationId xmlns:a16="http://schemas.microsoft.com/office/drawing/2014/main" id="{5AA702A9-39D0-0F44-9DAA-746AF6B659A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56">
              <a:extLst>
                <a:ext uri="{FF2B5EF4-FFF2-40B4-BE49-F238E27FC236}">
                  <a16:creationId xmlns:a16="http://schemas.microsoft.com/office/drawing/2014/main" id="{68A5CCA6-333E-7140-BA3D-1173FFD240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42" name="Freeform 157">
              <a:extLst>
                <a:ext uri="{FF2B5EF4-FFF2-40B4-BE49-F238E27FC236}">
                  <a16:creationId xmlns:a16="http://schemas.microsoft.com/office/drawing/2014/main" id="{C4A8539F-1084-394E-A596-C0B374A3C39C}"/>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43" name="Freeform 158">
              <a:extLst>
                <a:ext uri="{FF2B5EF4-FFF2-40B4-BE49-F238E27FC236}">
                  <a16:creationId xmlns:a16="http://schemas.microsoft.com/office/drawing/2014/main" id="{C76F3FE2-141C-1D47-A04F-56C430C21F5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44" name="Freeform 159">
              <a:extLst>
                <a:ext uri="{FF2B5EF4-FFF2-40B4-BE49-F238E27FC236}">
                  <a16:creationId xmlns:a16="http://schemas.microsoft.com/office/drawing/2014/main" id="{7AC362EC-1B99-534E-95D8-5A24FAF24D0D}"/>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45" name="Freeform 160">
              <a:extLst>
                <a:ext uri="{FF2B5EF4-FFF2-40B4-BE49-F238E27FC236}">
                  <a16:creationId xmlns:a16="http://schemas.microsoft.com/office/drawing/2014/main" id="{84D8536F-497F-2D44-8E01-C75CAE459AA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46" name="Freeform 161">
              <a:extLst>
                <a:ext uri="{FF2B5EF4-FFF2-40B4-BE49-F238E27FC236}">
                  <a16:creationId xmlns:a16="http://schemas.microsoft.com/office/drawing/2014/main" id="{01A5853F-2286-F74E-9472-2D882E49159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grpSp>
          <p:nvGrpSpPr>
            <p:cNvPr id="247" name="Group 162">
              <a:extLst>
                <a:ext uri="{FF2B5EF4-FFF2-40B4-BE49-F238E27FC236}">
                  <a16:creationId xmlns:a16="http://schemas.microsoft.com/office/drawing/2014/main" id="{FC372C7C-5EC9-9544-AA74-D69BBB0D1A5F}"/>
                </a:ext>
              </a:extLst>
            </p:cNvPr>
            <p:cNvGrpSpPr>
              <a:grpSpLocks/>
            </p:cNvGrpSpPr>
            <p:nvPr/>
          </p:nvGrpSpPr>
          <p:grpSpPr bwMode="auto">
            <a:xfrm>
              <a:off x="1709" y="3008"/>
              <a:ext cx="507" cy="234"/>
              <a:chOff x="1740" y="2642"/>
              <a:chExt cx="752" cy="327"/>
            </a:xfrm>
          </p:grpSpPr>
          <p:sp>
            <p:nvSpPr>
              <p:cNvPr id="254" name="Freeform 163">
                <a:extLst>
                  <a:ext uri="{FF2B5EF4-FFF2-40B4-BE49-F238E27FC236}">
                    <a16:creationId xmlns:a16="http://schemas.microsoft.com/office/drawing/2014/main" id="{856C9B59-FB1D-C848-9140-35A178B5022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5" name="Freeform 164">
                <a:extLst>
                  <a:ext uri="{FF2B5EF4-FFF2-40B4-BE49-F238E27FC236}">
                    <a16:creationId xmlns:a16="http://schemas.microsoft.com/office/drawing/2014/main" id="{7094626E-365E-9A43-BD33-797126F012D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6" name="Freeform 165">
                <a:extLst>
                  <a:ext uri="{FF2B5EF4-FFF2-40B4-BE49-F238E27FC236}">
                    <a16:creationId xmlns:a16="http://schemas.microsoft.com/office/drawing/2014/main" id="{B40F99D7-58E8-E040-B1F5-A267B2B3D15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7" name="Freeform 166">
                <a:extLst>
                  <a:ext uri="{FF2B5EF4-FFF2-40B4-BE49-F238E27FC236}">
                    <a16:creationId xmlns:a16="http://schemas.microsoft.com/office/drawing/2014/main" id="{54B36EFA-A40E-3349-9364-BEF869A6C27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8" name="Freeform 167">
                <a:extLst>
                  <a:ext uri="{FF2B5EF4-FFF2-40B4-BE49-F238E27FC236}">
                    <a16:creationId xmlns:a16="http://schemas.microsoft.com/office/drawing/2014/main" id="{72B5FEE0-627E-2A44-A802-F468CAA77A4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9" name="Freeform 168">
                <a:extLst>
                  <a:ext uri="{FF2B5EF4-FFF2-40B4-BE49-F238E27FC236}">
                    <a16:creationId xmlns:a16="http://schemas.microsoft.com/office/drawing/2014/main" id="{64E86AD2-B652-474E-8F8E-4BEE5805551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grpSp>
        <p:sp>
          <p:nvSpPr>
            <p:cNvPr id="248" name="Freeform 169">
              <a:extLst>
                <a:ext uri="{FF2B5EF4-FFF2-40B4-BE49-F238E27FC236}">
                  <a16:creationId xmlns:a16="http://schemas.microsoft.com/office/drawing/2014/main" id="{14152147-A3DF-4443-82CD-24E6A7B886B9}"/>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49" name="Freeform 170">
              <a:extLst>
                <a:ext uri="{FF2B5EF4-FFF2-40B4-BE49-F238E27FC236}">
                  <a16:creationId xmlns:a16="http://schemas.microsoft.com/office/drawing/2014/main" id="{77E7A1C9-A3D9-AA47-AF22-8859F248BB01}"/>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0" name="Freeform 171">
              <a:extLst>
                <a:ext uri="{FF2B5EF4-FFF2-40B4-BE49-F238E27FC236}">
                  <a16:creationId xmlns:a16="http://schemas.microsoft.com/office/drawing/2014/main" id="{9364745C-5427-5047-A89F-23E558404326}"/>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1" name="Freeform 172">
              <a:extLst>
                <a:ext uri="{FF2B5EF4-FFF2-40B4-BE49-F238E27FC236}">
                  <a16:creationId xmlns:a16="http://schemas.microsoft.com/office/drawing/2014/main" id="{32386009-1275-DE49-9140-E7500A951C37}"/>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2" name="Freeform 173">
              <a:extLst>
                <a:ext uri="{FF2B5EF4-FFF2-40B4-BE49-F238E27FC236}">
                  <a16:creationId xmlns:a16="http://schemas.microsoft.com/office/drawing/2014/main" id="{87F49C34-B4C6-FA43-AA66-542D1E995D3A}"/>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253" name="Freeform 174">
              <a:extLst>
                <a:ext uri="{FF2B5EF4-FFF2-40B4-BE49-F238E27FC236}">
                  <a16:creationId xmlns:a16="http://schemas.microsoft.com/office/drawing/2014/main" id="{FEA4386D-E8CF-1A45-8AFD-BA52E4034AEE}"/>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grpSp>
      <p:grpSp>
        <p:nvGrpSpPr>
          <p:cNvPr id="260" name="Group 175">
            <a:extLst>
              <a:ext uri="{FF2B5EF4-FFF2-40B4-BE49-F238E27FC236}">
                <a16:creationId xmlns:a16="http://schemas.microsoft.com/office/drawing/2014/main" id="{B6936DC6-44F7-CB40-83FE-8A8E8F6B6953}"/>
              </a:ext>
            </a:extLst>
          </p:cNvPr>
          <p:cNvGrpSpPr>
            <a:grpSpLocks/>
          </p:cNvGrpSpPr>
          <p:nvPr/>
        </p:nvGrpSpPr>
        <p:grpSpPr bwMode="auto">
          <a:xfrm>
            <a:off x="5020442" y="2413190"/>
            <a:ext cx="1123950" cy="862013"/>
            <a:chOff x="-44" y="1473"/>
            <a:chExt cx="981" cy="1105"/>
          </a:xfrm>
        </p:grpSpPr>
        <p:pic>
          <p:nvPicPr>
            <p:cNvPr id="261" name="Picture 176" descr="desktop_computer_stylized_medium">
              <a:extLst>
                <a:ext uri="{FF2B5EF4-FFF2-40B4-BE49-F238E27FC236}">
                  <a16:creationId xmlns:a16="http://schemas.microsoft.com/office/drawing/2014/main" id="{DD8A088B-92B7-C94B-A78B-C7EEF5CC928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177">
              <a:extLst>
                <a:ext uri="{FF2B5EF4-FFF2-40B4-BE49-F238E27FC236}">
                  <a16:creationId xmlns:a16="http://schemas.microsoft.com/office/drawing/2014/main" id="{6BA9B84C-C884-674B-BC10-7591CA428A4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263" name="Group 178">
            <a:extLst>
              <a:ext uri="{FF2B5EF4-FFF2-40B4-BE49-F238E27FC236}">
                <a16:creationId xmlns:a16="http://schemas.microsoft.com/office/drawing/2014/main" id="{CA75072E-ACB4-2742-82C6-C3324A921E2D}"/>
              </a:ext>
            </a:extLst>
          </p:cNvPr>
          <p:cNvGrpSpPr>
            <a:grpSpLocks/>
          </p:cNvGrpSpPr>
          <p:nvPr/>
        </p:nvGrpSpPr>
        <p:grpSpPr bwMode="auto">
          <a:xfrm>
            <a:off x="4961705" y="4219765"/>
            <a:ext cx="849312" cy="712788"/>
            <a:chOff x="-44" y="1473"/>
            <a:chExt cx="981" cy="1105"/>
          </a:xfrm>
        </p:grpSpPr>
        <p:pic>
          <p:nvPicPr>
            <p:cNvPr id="264" name="Picture 179" descr="desktop_computer_stylized_medium">
              <a:extLst>
                <a:ext uri="{FF2B5EF4-FFF2-40B4-BE49-F238E27FC236}">
                  <a16:creationId xmlns:a16="http://schemas.microsoft.com/office/drawing/2014/main" id="{00E678F0-099F-6844-9F36-4E5530807C4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180">
              <a:extLst>
                <a:ext uri="{FF2B5EF4-FFF2-40B4-BE49-F238E27FC236}">
                  <a16:creationId xmlns:a16="http://schemas.microsoft.com/office/drawing/2014/main" id="{3F89BBB2-AF47-CE4F-8BCA-113B5761032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266" name="Group 98">
            <a:extLst>
              <a:ext uri="{FF2B5EF4-FFF2-40B4-BE49-F238E27FC236}">
                <a16:creationId xmlns:a16="http://schemas.microsoft.com/office/drawing/2014/main" id="{A3DA2B28-D9C2-BC43-A42F-30A066AEF6C2}"/>
              </a:ext>
            </a:extLst>
          </p:cNvPr>
          <p:cNvGrpSpPr>
            <a:grpSpLocks/>
          </p:cNvGrpSpPr>
          <p:nvPr/>
        </p:nvGrpSpPr>
        <p:grpSpPr bwMode="auto">
          <a:xfrm>
            <a:off x="6357117" y="2089340"/>
            <a:ext cx="958850" cy="1276350"/>
            <a:chOff x="5806938" y="3011924"/>
            <a:chExt cx="347997" cy="396620"/>
          </a:xfrm>
        </p:grpSpPr>
        <p:pic>
          <p:nvPicPr>
            <p:cNvPr id="267" name="Picture 101" descr="fridge2.png">
              <a:extLst>
                <a:ext uri="{FF2B5EF4-FFF2-40B4-BE49-F238E27FC236}">
                  <a16:creationId xmlns:a16="http://schemas.microsoft.com/office/drawing/2014/main" id="{59D46EB5-E84A-B84C-A47E-A7F91543AE71}"/>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5906702" y="30715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 name="Picture 1115" descr="antenna_stylized">
              <a:extLst>
                <a:ext uri="{FF2B5EF4-FFF2-40B4-BE49-F238E27FC236}">
                  <a16:creationId xmlns:a16="http://schemas.microsoft.com/office/drawing/2014/main" id="{8EEB311B-0E27-4240-8EBE-6A91CB84D837}"/>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06938" y="30119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1" name="Group 280">
            <a:extLst>
              <a:ext uri="{FF2B5EF4-FFF2-40B4-BE49-F238E27FC236}">
                <a16:creationId xmlns:a16="http://schemas.microsoft.com/office/drawing/2014/main" id="{37A8C1F2-8D7B-3045-B15A-5DB56AB82DFE}"/>
              </a:ext>
            </a:extLst>
          </p:cNvPr>
          <p:cNvGrpSpPr/>
          <p:nvPr/>
        </p:nvGrpSpPr>
        <p:grpSpPr>
          <a:xfrm>
            <a:off x="5059243" y="3529374"/>
            <a:ext cx="1192203" cy="583857"/>
            <a:chOff x="7493876" y="2774731"/>
            <a:chExt cx="1481958" cy="894622"/>
          </a:xfrm>
        </p:grpSpPr>
        <p:sp>
          <p:nvSpPr>
            <p:cNvPr id="282" name="Freeform 281">
              <a:extLst>
                <a:ext uri="{FF2B5EF4-FFF2-40B4-BE49-F238E27FC236}">
                  <a16:creationId xmlns:a16="http://schemas.microsoft.com/office/drawing/2014/main" id="{B49BEC54-DEA5-CA4E-B957-C65E2CEC65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83" name="Oval 282">
              <a:extLst>
                <a:ext uri="{FF2B5EF4-FFF2-40B4-BE49-F238E27FC236}">
                  <a16:creationId xmlns:a16="http://schemas.microsoft.com/office/drawing/2014/main" id="{0B80E2CA-F9B2-6349-BC4E-75B4DCD9E3A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84" name="Group 283">
              <a:extLst>
                <a:ext uri="{FF2B5EF4-FFF2-40B4-BE49-F238E27FC236}">
                  <a16:creationId xmlns:a16="http://schemas.microsoft.com/office/drawing/2014/main" id="{C588090F-19FF-6E4C-84BC-12D7596DA014}"/>
                </a:ext>
              </a:extLst>
            </p:cNvPr>
            <p:cNvGrpSpPr/>
            <p:nvPr/>
          </p:nvGrpSpPr>
          <p:grpSpPr>
            <a:xfrm>
              <a:off x="7713663" y="2848339"/>
              <a:ext cx="1042107" cy="425543"/>
              <a:chOff x="7786941" y="2884917"/>
              <a:chExt cx="897649" cy="353919"/>
            </a:xfrm>
          </p:grpSpPr>
          <p:sp>
            <p:nvSpPr>
              <p:cNvPr id="285" name="Freeform 284">
                <a:extLst>
                  <a:ext uri="{FF2B5EF4-FFF2-40B4-BE49-F238E27FC236}">
                    <a16:creationId xmlns:a16="http://schemas.microsoft.com/office/drawing/2014/main" id="{BABB54BB-EBB6-9142-9753-E527BC1E910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285">
                <a:extLst>
                  <a:ext uri="{FF2B5EF4-FFF2-40B4-BE49-F238E27FC236}">
                    <a16:creationId xmlns:a16="http://schemas.microsoft.com/office/drawing/2014/main" id="{3E0E4E3B-AF65-094E-8217-883961A8DB2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286">
                <a:extLst>
                  <a:ext uri="{FF2B5EF4-FFF2-40B4-BE49-F238E27FC236}">
                    <a16:creationId xmlns:a16="http://schemas.microsoft.com/office/drawing/2014/main" id="{9546C5AA-74FA-3A42-86B2-47124A8C6E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287">
                <a:extLst>
                  <a:ext uri="{FF2B5EF4-FFF2-40B4-BE49-F238E27FC236}">
                    <a16:creationId xmlns:a16="http://schemas.microsoft.com/office/drawing/2014/main" id="{AF09D7B5-E321-AD40-818B-AD357E78BC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1389753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dissolve">
                                      <p:cBhvr>
                                        <p:cTn id="7" dur="5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gtEl>
                                        <p:attrNameLst>
                                          <p:attrName>style.visibility</p:attrName>
                                        </p:attrNameLst>
                                      </p:cBhvr>
                                      <p:to>
                                        <p:strVal val="visible"/>
                                      </p:to>
                                    </p:set>
                                    <p:animEffect transition="in" filter="dissolve">
                                      <p:cBhvr>
                                        <p:cTn id="12" dur="500"/>
                                        <p:tgtEl>
                                          <p:spTgt spid="21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18"/>
                                        </p:tgtEl>
                                        <p:attrNameLst>
                                          <p:attrName>style.visibility</p:attrName>
                                        </p:attrNameLst>
                                      </p:cBhvr>
                                      <p:to>
                                        <p:strVal val="visible"/>
                                      </p:to>
                                    </p:set>
                                    <p:animEffect transition="in" filter="dissolve">
                                      <p:cBhvr>
                                        <p:cTn id="17" dur="500"/>
                                        <p:tgtEl>
                                          <p:spTgt spid="2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1"/>
                                        </p:tgtEl>
                                        <p:attrNameLst>
                                          <p:attrName>style.visibility</p:attrName>
                                        </p:attrNameLst>
                                      </p:cBhvr>
                                      <p:to>
                                        <p:strVal val="visible"/>
                                      </p:to>
                                    </p:set>
                                    <p:animEffect transition="in" filter="dissolve">
                                      <p:cBhvr>
                                        <p:cTn id="22" dur="500"/>
                                        <p:tgtEl>
                                          <p:spTgt spid="2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4"/>
                                        </p:tgtEl>
                                        <p:attrNameLst>
                                          <p:attrName>style.visibility</p:attrName>
                                        </p:attrNameLst>
                                      </p:cBhvr>
                                      <p:to>
                                        <p:strVal val="visible"/>
                                      </p:to>
                                    </p:set>
                                    <p:animEffect transition="in" filter="dissolve">
                                      <p:cBhvr>
                                        <p:cTn id="27" dur="500"/>
                                        <p:tgtEl>
                                          <p:spTgt spid="224"/>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7"/>
                                        </p:tgtEl>
                                        <p:attrNameLst>
                                          <p:attrName>style.visibility</p:attrName>
                                        </p:attrNameLst>
                                      </p:cBhvr>
                                      <p:to>
                                        <p:strVal val="visible"/>
                                      </p:to>
                                    </p:set>
                                    <p:animEffect transition="in" filter="dissolve">
                                      <p:cBhvr>
                                        <p:cTn id="32" dur="500"/>
                                        <p:tgtEl>
                                          <p:spTgt spid="22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32"/>
                                        </p:tgtEl>
                                        <p:attrNameLst>
                                          <p:attrName>style.visibility</p:attrName>
                                        </p:attrNameLst>
                                      </p:cBhvr>
                                      <p:to>
                                        <p:strVal val="visible"/>
                                      </p:to>
                                    </p:set>
                                    <p:animEffect transition="in" filter="dissolve">
                                      <p:cBhvr>
                                        <p:cTn id="37" dur="500"/>
                                        <p:tgtEl>
                                          <p:spTgt spid="232"/>
                                        </p:tgtEl>
                                      </p:cBhvr>
                                    </p:animEffect>
                                  </p:childTnLst>
                                </p:cTn>
                              </p:par>
                              <p:par>
                                <p:cTn id="38" presetID="9" presetClass="entr" presetSubtype="0" fill="hold" nodeType="withEffect">
                                  <p:stCondLst>
                                    <p:cond delay="0"/>
                                  </p:stCondLst>
                                  <p:childTnLst>
                                    <p:set>
                                      <p:cBhvr>
                                        <p:cTn id="39" dur="1" fill="hold">
                                          <p:stCondLst>
                                            <p:cond delay="0"/>
                                          </p:stCondLst>
                                        </p:cTn>
                                        <p:tgtEl>
                                          <p:spTgt spid="233"/>
                                        </p:tgtEl>
                                        <p:attrNameLst>
                                          <p:attrName>style.visibility</p:attrName>
                                        </p:attrNameLst>
                                      </p:cBhvr>
                                      <p:to>
                                        <p:strVal val="visible"/>
                                      </p:to>
                                    </p:set>
                                    <p:animEffect transition="in" filter="dissolve">
                                      <p:cBhvr>
                                        <p:cTn id="40" dur="500"/>
                                        <p:tgtEl>
                                          <p:spTgt spid="2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 grpId="0"/>
      <p:bldP spid="227" grpId="0"/>
      <p:bldP spid="232"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Access networks: enterprise networks</a:t>
            </a:r>
            <a:endParaRPr lang="en-US" dirty="0"/>
          </a:p>
        </p:txBody>
      </p:sp>
      <p:sp>
        <p:nvSpPr>
          <p:cNvPr id="145" name="Content Placeholder 52">
            <a:extLst>
              <a:ext uri="{FF2B5EF4-FFF2-40B4-BE49-F238E27FC236}">
                <a16:creationId xmlns:a16="http://schemas.microsoft.com/office/drawing/2014/main" id="{48955155-F4D7-1E4F-B411-D5E3FDA9D978}"/>
              </a:ext>
            </a:extLst>
          </p:cNvPr>
          <p:cNvSpPr txBox="1">
            <a:spLocks/>
          </p:cNvSpPr>
          <p:nvPr/>
        </p:nvSpPr>
        <p:spPr>
          <a:xfrm>
            <a:off x="1016188" y="3974373"/>
            <a:ext cx="10847590" cy="24010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buFont typeface="Wingdings" charset="2"/>
              <a:buChar char="§"/>
              <a:defRPr/>
            </a:pPr>
            <a:r>
              <a:rPr lang="en-US" dirty="0"/>
              <a:t>companies, universities, etc.</a:t>
            </a:r>
          </a:p>
          <a:p>
            <a:pPr marL="287338" lvl="1" indent="-287338">
              <a:buSzPct val="100000"/>
              <a:buFont typeface="Wingdings" charset="2"/>
              <a:buChar char="§"/>
              <a:defRPr/>
            </a:pPr>
            <a:r>
              <a:rPr lang="en-US" sz="2800" dirty="0"/>
              <a:t>mix of wired, wireless link technologies, connecting a mix of switches and routers </a:t>
            </a:r>
            <a:r>
              <a:rPr lang="en-US" dirty="0"/>
              <a:t>(we’ll cover differences shortly)</a:t>
            </a:r>
            <a:endParaRPr lang="en-US" sz="2800" dirty="0"/>
          </a:p>
          <a:p>
            <a:pPr marL="735013" lvl="2" indent="-287338">
              <a:buClr>
                <a:srgbClr val="0000A8"/>
              </a:buClr>
              <a:buSzPct val="100000"/>
              <a:buFont typeface="Wingdings" charset="2"/>
              <a:buChar char="§"/>
              <a:defRPr/>
            </a:pPr>
            <a:r>
              <a:rPr lang="en-US" sz="2800" dirty="0"/>
              <a:t>Ethernet: wired access at 100Mbps, 1Gbps, 10Gbps </a:t>
            </a:r>
          </a:p>
          <a:p>
            <a:pPr marL="735013" lvl="2" indent="-287338">
              <a:buClr>
                <a:srgbClr val="0000A8"/>
              </a:buClr>
              <a:buSzPct val="100000"/>
              <a:buFont typeface="Wingdings" charset="2"/>
              <a:buChar char="§"/>
              <a:defRPr/>
            </a:pPr>
            <a:r>
              <a:rPr lang="en-US" sz="2800" dirty="0" err="1"/>
              <a:t>WiFi</a:t>
            </a:r>
            <a:r>
              <a:rPr lang="en-US" sz="2800" dirty="0"/>
              <a:t>: wireless access points at </a:t>
            </a:r>
            <a:r>
              <a:rPr lang="en-US" altLang="en-US" sz="2800" dirty="0"/>
              <a:t>11, 54, 450 Mbps </a:t>
            </a:r>
            <a:endParaRPr lang="en-US" sz="2800" dirty="0"/>
          </a:p>
        </p:txBody>
      </p:sp>
      <p:sp>
        <p:nvSpPr>
          <p:cNvPr id="146" name="Line 2">
            <a:extLst>
              <a:ext uri="{FF2B5EF4-FFF2-40B4-BE49-F238E27FC236}">
                <a16:creationId xmlns:a16="http://schemas.microsoft.com/office/drawing/2014/main" id="{78EC8EF9-E918-4047-8CA6-5136F4F71753}"/>
              </a:ext>
            </a:extLst>
          </p:cNvPr>
          <p:cNvSpPr>
            <a:spLocks noChangeShapeType="1"/>
          </p:cNvSpPr>
          <p:nvPr/>
        </p:nvSpPr>
        <p:spPr bwMode="auto">
          <a:xfrm>
            <a:off x="4170166" y="2675819"/>
            <a:ext cx="0" cy="3065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147" name="Line 3">
            <a:extLst>
              <a:ext uri="{FF2B5EF4-FFF2-40B4-BE49-F238E27FC236}">
                <a16:creationId xmlns:a16="http://schemas.microsoft.com/office/drawing/2014/main" id="{3430E7C9-5F72-3E41-BACC-F43489C6FEF2}"/>
              </a:ext>
            </a:extLst>
          </p:cNvPr>
          <p:cNvSpPr>
            <a:spLocks noChangeShapeType="1"/>
          </p:cNvSpPr>
          <p:nvPr/>
        </p:nvSpPr>
        <p:spPr bwMode="auto">
          <a:xfrm>
            <a:off x="4478096" y="2681014"/>
            <a:ext cx="0" cy="3658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148" name="Line 4">
            <a:extLst>
              <a:ext uri="{FF2B5EF4-FFF2-40B4-BE49-F238E27FC236}">
                <a16:creationId xmlns:a16="http://schemas.microsoft.com/office/drawing/2014/main" id="{C70C76A9-2C86-B54E-BB1F-E5D1C0DC8924}"/>
              </a:ext>
            </a:extLst>
          </p:cNvPr>
          <p:cNvSpPr>
            <a:spLocks noChangeShapeType="1"/>
          </p:cNvSpPr>
          <p:nvPr/>
        </p:nvSpPr>
        <p:spPr bwMode="auto">
          <a:xfrm flipH="1">
            <a:off x="3726933" y="2663348"/>
            <a:ext cx="51205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155" name="Line 59">
            <a:extLst>
              <a:ext uri="{FF2B5EF4-FFF2-40B4-BE49-F238E27FC236}">
                <a16:creationId xmlns:a16="http://schemas.microsoft.com/office/drawing/2014/main" id="{37134444-A8BA-214B-A06A-AE9236E3F933}"/>
              </a:ext>
            </a:extLst>
          </p:cNvPr>
          <p:cNvSpPr>
            <a:spLocks noChangeShapeType="1"/>
          </p:cNvSpPr>
          <p:nvPr/>
        </p:nvSpPr>
        <p:spPr bwMode="auto">
          <a:xfrm flipH="1">
            <a:off x="3354851" y="2518893"/>
            <a:ext cx="78032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156" name="Line 61">
            <a:extLst>
              <a:ext uri="{FF2B5EF4-FFF2-40B4-BE49-F238E27FC236}">
                <a16:creationId xmlns:a16="http://schemas.microsoft.com/office/drawing/2014/main" id="{DB749FEF-C2E4-CD41-AD2C-5F18AEA1BA8C}"/>
              </a:ext>
            </a:extLst>
          </p:cNvPr>
          <p:cNvSpPr>
            <a:spLocks noChangeShapeType="1"/>
          </p:cNvSpPr>
          <p:nvPr/>
        </p:nvSpPr>
        <p:spPr bwMode="auto">
          <a:xfrm flipV="1">
            <a:off x="4296137" y="2114630"/>
            <a:ext cx="0" cy="3512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grpSp>
        <p:nvGrpSpPr>
          <p:cNvPr id="199" name="Group 62">
            <a:extLst>
              <a:ext uri="{FF2B5EF4-FFF2-40B4-BE49-F238E27FC236}">
                <a16:creationId xmlns:a16="http://schemas.microsoft.com/office/drawing/2014/main" id="{7B79186C-6091-C54B-A71E-6C432BE2DE9C}"/>
              </a:ext>
            </a:extLst>
          </p:cNvPr>
          <p:cNvGrpSpPr>
            <a:grpSpLocks/>
          </p:cNvGrpSpPr>
          <p:nvPr/>
        </p:nvGrpSpPr>
        <p:grpSpPr bwMode="auto">
          <a:xfrm>
            <a:off x="4075687" y="1818447"/>
            <a:ext cx="641521" cy="410499"/>
            <a:chOff x="2967" y="478"/>
            <a:chExt cx="788" cy="625"/>
          </a:xfrm>
        </p:grpSpPr>
        <p:pic>
          <p:nvPicPr>
            <p:cNvPr id="200" name="Picture 63" descr="access_point_stylized_small">
              <a:extLst>
                <a:ext uri="{FF2B5EF4-FFF2-40B4-BE49-F238E27FC236}">
                  <a16:creationId xmlns:a16="http://schemas.microsoft.com/office/drawing/2014/main" id="{855B47FA-ECFF-7442-9320-1E8F8E5BE7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64" descr="antenna_radiation_stylized">
              <a:extLst>
                <a:ext uri="{FF2B5EF4-FFF2-40B4-BE49-F238E27FC236}">
                  <a16:creationId xmlns:a16="http://schemas.microsoft.com/office/drawing/2014/main" id="{6A2B1A1C-7A73-4841-A562-EB2D93E464E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2" name="Group 65">
            <a:extLst>
              <a:ext uri="{FF2B5EF4-FFF2-40B4-BE49-F238E27FC236}">
                <a16:creationId xmlns:a16="http://schemas.microsoft.com/office/drawing/2014/main" id="{D053B7EE-BFEC-524C-AD4A-6CD534CEEE30}"/>
              </a:ext>
            </a:extLst>
          </p:cNvPr>
          <p:cNvGrpSpPr>
            <a:grpSpLocks/>
          </p:cNvGrpSpPr>
          <p:nvPr/>
        </p:nvGrpSpPr>
        <p:grpSpPr bwMode="auto">
          <a:xfrm>
            <a:off x="4558577" y="1396516"/>
            <a:ext cx="457229" cy="462461"/>
            <a:chOff x="877" y="1008"/>
            <a:chExt cx="2747" cy="2591"/>
          </a:xfrm>
        </p:grpSpPr>
        <p:pic>
          <p:nvPicPr>
            <p:cNvPr id="203" name="Picture 66" descr="antenna_stylized">
              <a:extLst>
                <a:ext uri="{FF2B5EF4-FFF2-40B4-BE49-F238E27FC236}">
                  <a16:creationId xmlns:a16="http://schemas.microsoft.com/office/drawing/2014/main" id="{33BEB7BB-6731-7F49-B6B7-31F8FEC63D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67" descr="laptop_keyboard">
              <a:extLst>
                <a:ext uri="{FF2B5EF4-FFF2-40B4-BE49-F238E27FC236}">
                  <a16:creationId xmlns:a16="http://schemas.microsoft.com/office/drawing/2014/main" id="{BF1602EA-545E-B640-8592-119A84BEE40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Freeform 68">
              <a:extLst>
                <a:ext uri="{FF2B5EF4-FFF2-40B4-BE49-F238E27FC236}">
                  <a16:creationId xmlns:a16="http://schemas.microsoft.com/office/drawing/2014/main" id="{11ECA48A-06A7-8447-BA87-0E8B723ED607}"/>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sz="1600"/>
            </a:p>
          </p:txBody>
        </p:sp>
        <p:pic>
          <p:nvPicPr>
            <p:cNvPr id="206" name="Picture 69" descr="screen">
              <a:extLst>
                <a:ext uri="{FF2B5EF4-FFF2-40B4-BE49-F238E27FC236}">
                  <a16:creationId xmlns:a16="http://schemas.microsoft.com/office/drawing/2014/main" id="{1C881AE4-B476-7A44-95A5-82A954B033B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70">
              <a:extLst>
                <a:ext uri="{FF2B5EF4-FFF2-40B4-BE49-F238E27FC236}">
                  <a16:creationId xmlns:a16="http://schemas.microsoft.com/office/drawing/2014/main" id="{1B337601-D9B4-7448-83DD-77341DD6AF2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08" name="Freeform 71">
              <a:extLst>
                <a:ext uri="{FF2B5EF4-FFF2-40B4-BE49-F238E27FC236}">
                  <a16:creationId xmlns:a16="http://schemas.microsoft.com/office/drawing/2014/main" id="{161F090B-9EE2-B94E-A8DF-4A56633618F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09" name="Freeform 72">
              <a:extLst>
                <a:ext uri="{FF2B5EF4-FFF2-40B4-BE49-F238E27FC236}">
                  <a16:creationId xmlns:a16="http://schemas.microsoft.com/office/drawing/2014/main" id="{EA85E2AB-125F-2C49-83F9-C42D1D6EC1F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0" name="Freeform 73">
              <a:extLst>
                <a:ext uri="{FF2B5EF4-FFF2-40B4-BE49-F238E27FC236}">
                  <a16:creationId xmlns:a16="http://schemas.microsoft.com/office/drawing/2014/main" id="{30C6296D-F737-B44E-BE30-85489809AF15}"/>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1" name="Freeform 74">
              <a:extLst>
                <a:ext uri="{FF2B5EF4-FFF2-40B4-BE49-F238E27FC236}">
                  <a16:creationId xmlns:a16="http://schemas.microsoft.com/office/drawing/2014/main" id="{243088FD-E61E-7648-AE02-DDA323B20708}"/>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2" name="Freeform 75">
              <a:extLst>
                <a:ext uri="{FF2B5EF4-FFF2-40B4-BE49-F238E27FC236}">
                  <a16:creationId xmlns:a16="http://schemas.microsoft.com/office/drawing/2014/main" id="{9198CF6D-764B-224A-9A95-622FA22F86EC}"/>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nvGrpSpPr>
            <p:cNvPr id="213" name="Group 76">
              <a:extLst>
                <a:ext uri="{FF2B5EF4-FFF2-40B4-BE49-F238E27FC236}">
                  <a16:creationId xmlns:a16="http://schemas.microsoft.com/office/drawing/2014/main" id="{9868D947-6DC7-3643-B7B5-D99B19673E4F}"/>
                </a:ext>
              </a:extLst>
            </p:cNvPr>
            <p:cNvGrpSpPr>
              <a:grpSpLocks/>
            </p:cNvGrpSpPr>
            <p:nvPr/>
          </p:nvGrpSpPr>
          <p:grpSpPr bwMode="auto">
            <a:xfrm>
              <a:off x="1709" y="3008"/>
              <a:ext cx="507" cy="234"/>
              <a:chOff x="1740" y="2642"/>
              <a:chExt cx="752" cy="327"/>
            </a:xfrm>
          </p:grpSpPr>
          <p:sp>
            <p:nvSpPr>
              <p:cNvPr id="220" name="Freeform 77">
                <a:extLst>
                  <a:ext uri="{FF2B5EF4-FFF2-40B4-BE49-F238E27FC236}">
                    <a16:creationId xmlns:a16="http://schemas.microsoft.com/office/drawing/2014/main" id="{50788173-0E26-0B42-B2E8-0EC7A938EC4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21" name="Freeform 78">
                <a:extLst>
                  <a:ext uri="{FF2B5EF4-FFF2-40B4-BE49-F238E27FC236}">
                    <a16:creationId xmlns:a16="http://schemas.microsoft.com/office/drawing/2014/main" id="{180BD8C5-F87F-7E49-B3C8-67A4CDB0C58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22" name="Freeform 79">
                <a:extLst>
                  <a:ext uri="{FF2B5EF4-FFF2-40B4-BE49-F238E27FC236}">
                    <a16:creationId xmlns:a16="http://schemas.microsoft.com/office/drawing/2014/main" id="{C149722A-E2E9-0E45-95F3-42B9BE3806EC}"/>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23" name="Freeform 80">
                <a:extLst>
                  <a:ext uri="{FF2B5EF4-FFF2-40B4-BE49-F238E27FC236}">
                    <a16:creationId xmlns:a16="http://schemas.microsoft.com/office/drawing/2014/main" id="{CFD7B918-016B-C94E-AB8C-4F58772CBA2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24" name="Freeform 81">
                <a:extLst>
                  <a:ext uri="{FF2B5EF4-FFF2-40B4-BE49-F238E27FC236}">
                    <a16:creationId xmlns:a16="http://schemas.microsoft.com/office/drawing/2014/main" id="{64AD1518-EC35-5F4C-8F5B-8E223416E03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25" name="Freeform 82">
                <a:extLst>
                  <a:ext uri="{FF2B5EF4-FFF2-40B4-BE49-F238E27FC236}">
                    <a16:creationId xmlns:a16="http://schemas.microsoft.com/office/drawing/2014/main" id="{EB6197E5-CEFD-934E-8641-906A57EB86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sp>
          <p:nvSpPr>
            <p:cNvPr id="214" name="Freeform 83">
              <a:extLst>
                <a:ext uri="{FF2B5EF4-FFF2-40B4-BE49-F238E27FC236}">
                  <a16:creationId xmlns:a16="http://schemas.microsoft.com/office/drawing/2014/main" id="{33A1E63F-43CD-A044-BB06-91CEE273EDAC}"/>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5" name="Freeform 84">
              <a:extLst>
                <a:ext uri="{FF2B5EF4-FFF2-40B4-BE49-F238E27FC236}">
                  <a16:creationId xmlns:a16="http://schemas.microsoft.com/office/drawing/2014/main" id="{57A25C33-4D80-2B4B-A928-426B33FAC5B5}"/>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6" name="Freeform 85">
              <a:extLst>
                <a:ext uri="{FF2B5EF4-FFF2-40B4-BE49-F238E27FC236}">
                  <a16:creationId xmlns:a16="http://schemas.microsoft.com/office/drawing/2014/main" id="{E408CBEA-A44D-A342-B595-30BC7F4AC40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7" name="Freeform 86">
              <a:extLst>
                <a:ext uri="{FF2B5EF4-FFF2-40B4-BE49-F238E27FC236}">
                  <a16:creationId xmlns:a16="http://schemas.microsoft.com/office/drawing/2014/main" id="{AD2A6909-FEE2-0C4D-B8B1-7F94F9D6FEC6}"/>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8" name="Freeform 87">
              <a:extLst>
                <a:ext uri="{FF2B5EF4-FFF2-40B4-BE49-F238E27FC236}">
                  <a16:creationId xmlns:a16="http://schemas.microsoft.com/office/drawing/2014/main" id="{7865A40B-07FE-C945-A916-21A77EA65480}"/>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19" name="Freeform 88">
              <a:extLst>
                <a:ext uri="{FF2B5EF4-FFF2-40B4-BE49-F238E27FC236}">
                  <a16:creationId xmlns:a16="http://schemas.microsoft.com/office/drawing/2014/main" id="{4ECECCC6-85BE-3249-87B3-7075350D2FE7}"/>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grpSp>
        <p:nvGrpSpPr>
          <p:cNvPr id="226" name="Group 89">
            <a:extLst>
              <a:ext uri="{FF2B5EF4-FFF2-40B4-BE49-F238E27FC236}">
                <a16:creationId xmlns:a16="http://schemas.microsoft.com/office/drawing/2014/main" id="{195FBDA6-1C42-ED46-BB36-3E5B4ADF9317}"/>
              </a:ext>
            </a:extLst>
          </p:cNvPr>
          <p:cNvGrpSpPr>
            <a:grpSpLocks/>
          </p:cNvGrpSpPr>
          <p:nvPr/>
        </p:nvGrpSpPr>
        <p:grpSpPr bwMode="auto">
          <a:xfrm>
            <a:off x="3434166" y="1579422"/>
            <a:ext cx="416406" cy="409460"/>
            <a:chOff x="877" y="1008"/>
            <a:chExt cx="2747" cy="2591"/>
          </a:xfrm>
        </p:grpSpPr>
        <p:pic>
          <p:nvPicPr>
            <p:cNvPr id="227" name="Picture 90" descr="antenna_stylized">
              <a:extLst>
                <a:ext uri="{FF2B5EF4-FFF2-40B4-BE49-F238E27FC236}">
                  <a16:creationId xmlns:a16="http://schemas.microsoft.com/office/drawing/2014/main" id="{FB6A7722-2BBA-1F4A-812C-C7E75F5060F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91" descr="laptop_keyboard">
              <a:extLst>
                <a:ext uri="{FF2B5EF4-FFF2-40B4-BE49-F238E27FC236}">
                  <a16:creationId xmlns:a16="http://schemas.microsoft.com/office/drawing/2014/main" id="{D8F9E3AD-6362-6042-823B-BF763AA9B68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92">
              <a:extLst>
                <a:ext uri="{FF2B5EF4-FFF2-40B4-BE49-F238E27FC236}">
                  <a16:creationId xmlns:a16="http://schemas.microsoft.com/office/drawing/2014/main" id="{9D313A38-75E6-C14B-8BA9-04C45E90F587}"/>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sz="1600"/>
            </a:p>
          </p:txBody>
        </p:sp>
        <p:pic>
          <p:nvPicPr>
            <p:cNvPr id="230" name="Picture 93" descr="screen">
              <a:extLst>
                <a:ext uri="{FF2B5EF4-FFF2-40B4-BE49-F238E27FC236}">
                  <a16:creationId xmlns:a16="http://schemas.microsoft.com/office/drawing/2014/main" id="{138BC760-A933-DC4F-8D13-AE4B30B8A52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94">
              <a:extLst>
                <a:ext uri="{FF2B5EF4-FFF2-40B4-BE49-F238E27FC236}">
                  <a16:creationId xmlns:a16="http://schemas.microsoft.com/office/drawing/2014/main" id="{46B9C550-136D-8344-8F64-015D0509009D}"/>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32" name="Freeform 95">
              <a:extLst>
                <a:ext uri="{FF2B5EF4-FFF2-40B4-BE49-F238E27FC236}">
                  <a16:creationId xmlns:a16="http://schemas.microsoft.com/office/drawing/2014/main" id="{1AEF38EA-E3E6-684E-A05D-6FCE72C0F4A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33" name="Freeform 96">
              <a:extLst>
                <a:ext uri="{FF2B5EF4-FFF2-40B4-BE49-F238E27FC236}">
                  <a16:creationId xmlns:a16="http://schemas.microsoft.com/office/drawing/2014/main" id="{0CCAEDD5-29B9-EC48-9D02-3C7BCF21660B}"/>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34" name="Freeform 97">
              <a:extLst>
                <a:ext uri="{FF2B5EF4-FFF2-40B4-BE49-F238E27FC236}">
                  <a16:creationId xmlns:a16="http://schemas.microsoft.com/office/drawing/2014/main" id="{BCE03132-8C69-D847-8712-9E6015C5FC1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35" name="Freeform 98">
              <a:extLst>
                <a:ext uri="{FF2B5EF4-FFF2-40B4-BE49-F238E27FC236}">
                  <a16:creationId xmlns:a16="http://schemas.microsoft.com/office/drawing/2014/main" id="{62262D6F-816A-3E4E-BD07-1409ECBA7D8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36" name="Freeform 99">
              <a:extLst>
                <a:ext uri="{FF2B5EF4-FFF2-40B4-BE49-F238E27FC236}">
                  <a16:creationId xmlns:a16="http://schemas.microsoft.com/office/drawing/2014/main" id="{7E84ADC3-5174-F747-991F-E70D98EE9714}"/>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nvGrpSpPr>
            <p:cNvPr id="237" name="Group 100">
              <a:extLst>
                <a:ext uri="{FF2B5EF4-FFF2-40B4-BE49-F238E27FC236}">
                  <a16:creationId xmlns:a16="http://schemas.microsoft.com/office/drawing/2014/main" id="{33BB6422-44CD-D34D-BDF2-6A2EB041A8A3}"/>
                </a:ext>
              </a:extLst>
            </p:cNvPr>
            <p:cNvGrpSpPr>
              <a:grpSpLocks/>
            </p:cNvGrpSpPr>
            <p:nvPr/>
          </p:nvGrpSpPr>
          <p:grpSpPr bwMode="auto">
            <a:xfrm>
              <a:off x="1709" y="3008"/>
              <a:ext cx="507" cy="234"/>
              <a:chOff x="1740" y="2642"/>
              <a:chExt cx="752" cy="327"/>
            </a:xfrm>
          </p:grpSpPr>
          <p:sp>
            <p:nvSpPr>
              <p:cNvPr id="244" name="Freeform 101">
                <a:extLst>
                  <a:ext uri="{FF2B5EF4-FFF2-40B4-BE49-F238E27FC236}">
                    <a16:creationId xmlns:a16="http://schemas.microsoft.com/office/drawing/2014/main" id="{57104B12-227C-CB45-BE1C-4D6CBA1A5D0A}"/>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5" name="Freeform 102">
                <a:extLst>
                  <a:ext uri="{FF2B5EF4-FFF2-40B4-BE49-F238E27FC236}">
                    <a16:creationId xmlns:a16="http://schemas.microsoft.com/office/drawing/2014/main" id="{FDFB2D05-4F98-F149-B42D-DDCE84459D27}"/>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6" name="Freeform 103">
                <a:extLst>
                  <a:ext uri="{FF2B5EF4-FFF2-40B4-BE49-F238E27FC236}">
                    <a16:creationId xmlns:a16="http://schemas.microsoft.com/office/drawing/2014/main" id="{A23B522D-B23A-674C-8D71-BA8102DB7B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7" name="Freeform 104">
                <a:extLst>
                  <a:ext uri="{FF2B5EF4-FFF2-40B4-BE49-F238E27FC236}">
                    <a16:creationId xmlns:a16="http://schemas.microsoft.com/office/drawing/2014/main" id="{170123EF-410A-0448-A9E9-5D00ED0884B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8" name="Freeform 105">
                <a:extLst>
                  <a:ext uri="{FF2B5EF4-FFF2-40B4-BE49-F238E27FC236}">
                    <a16:creationId xmlns:a16="http://schemas.microsoft.com/office/drawing/2014/main" id="{1CA72CE1-7F70-A848-8469-9D90AD7E4C2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9" name="Freeform 106">
                <a:extLst>
                  <a:ext uri="{FF2B5EF4-FFF2-40B4-BE49-F238E27FC236}">
                    <a16:creationId xmlns:a16="http://schemas.microsoft.com/office/drawing/2014/main" id="{FB74D4D3-7208-E742-9718-C72FDCF9DA9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sp>
          <p:nvSpPr>
            <p:cNvPr id="238" name="Freeform 107">
              <a:extLst>
                <a:ext uri="{FF2B5EF4-FFF2-40B4-BE49-F238E27FC236}">
                  <a16:creationId xmlns:a16="http://schemas.microsoft.com/office/drawing/2014/main" id="{9E7FF2C1-E20A-9A40-9EF9-5761BCDF741E}"/>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39" name="Freeform 108">
              <a:extLst>
                <a:ext uri="{FF2B5EF4-FFF2-40B4-BE49-F238E27FC236}">
                  <a16:creationId xmlns:a16="http://schemas.microsoft.com/office/drawing/2014/main" id="{7333190A-52B4-A447-8967-781E255161A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0" name="Freeform 109">
              <a:extLst>
                <a:ext uri="{FF2B5EF4-FFF2-40B4-BE49-F238E27FC236}">
                  <a16:creationId xmlns:a16="http://schemas.microsoft.com/office/drawing/2014/main" id="{616DE346-7268-F247-B3F1-2DA05CF316A4}"/>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1" name="Freeform 110">
              <a:extLst>
                <a:ext uri="{FF2B5EF4-FFF2-40B4-BE49-F238E27FC236}">
                  <a16:creationId xmlns:a16="http://schemas.microsoft.com/office/drawing/2014/main" id="{7DDDFB91-973A-9643-9FA2-506DBEE4FB6E}"/>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2" name="Freeform 111">
              <a:extLst>
                <a:ext uri="{FF2B5EF4-FFF2-40B4-BE49-F238E27FC236}">
                  <a16:creationId xmlns:a16="http://schemas.microsoft.com/office/drawing/2014/main" id="{84803906-43B0-3742-9B38-4F066FF4ABA5}"/>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43" name="Freeform 112">
              <a:extLst>
                <a:ext uri="{FF2B5EF4-FFF2-40B4-BE49-F238E27FC236}">
                  <a16:creationId xmlns:a16="http://schemas.microsoft.com/office/drawing/2014/main" id="{2E0643D3-4621-104F-B703-5116732F7C0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grpSp>
        <p:nvGrpSpPr>
          <p:cNvPr id="250" name="Group 113">
            <a:extLst>
              <a:ext uri="{FF2B5EF4-FFF2-40B4-BE49-F238E27FC236}">
                <a16:creationId xmlns:a16="http://schemas.microsoft.com/office/drawing/2014/main" id="{0E752C90-C514-3241-8B89-D3D2CCB8A1E8}"/>
              </a:ext>
            </a:extLst>
          </p:cNvPr>
          <p:cNvGrpSpPr>
            <a:grpSpLocks/>
          </p:cNvGrpSpPr>
          <p:nvPr/>
        </p:nvGrpSpPr>
        <p:grpSpPr bwMode="auto">
          <a:xfrm>
            <a:off x="3983542" y="1377810"/>
            <a:ext cx="466561" cy="403224"/>
            <a:chOff x="877" y="1008"/>
            <a:chExt cx="2747" cy="2591"/>
          </a:xfrm>
        </p:grpSpPr>
        <p:pic>
          <p:nvPicPr>
            <p:cNvPr id="251" name="Picture 114" descr="antenna_stylized">
              <a:extLst>
                <a:ext uri="{FF2B5EF4-FFF2-40B4-BE49-F238E27FC236}">
                  <a16:creationId xmlns:a16="http://schemas.microsoft.com/office/drawing/2014/main" id="{2841DB94-38B2-6046-B941-F658081795D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115" descr="laptop_keyboard">
              <a:extLst>
                <a:ext uri="{FF2B5EF4-FFF2-40B4-BE49-F238E27FC236}">
                  <a16:creationId xmlns:a16="http://schemas.microsoft.com/office/drawing/2014/main" id="{0B971AB4-F783-2944-AA4E-FD359F6C40B6}"/>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3" name="Freeform 116">
              <a:extLst>
                <a:ext uri="{FF2B5EF4-FFF2-40B4-BE49-F238E27FC236}">
                  <a16:creationId xmlns:a16="http://schemas.microsoft.com/office/drawing/2014/main" id="{44EC4260-9F60-EF4E-9337-91625F01B49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sz="1600"/>
            </a:p>
          </p:txBody>
        </p:sp>
        <p:pic>
          <p:nvPicPr>
            <p:cNvPr id="254" name="Picture 117" descr="screen">
              <a:extLst>
                <a:ext uri="{FF2B5EF4-FFF2-40B4-BE49-F238E27FC236}">
                  <a16:creationId xmlns:a16="http://schemas.microsoft.com/office/drawing/2014/main" id="{286BB844-0A27-2940-A39C-FDBAA3AA5686}"/>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118">
              <a:extLst>
                <a:ext uri="{FF2B5EF4-FFF2-40B4-BE49-F238E27FC236}">
                  <a16:creationId xmlns:a16="http://schemas.microsoft.com/office/drawing/2014/main" id="{1E9B5613-FBBA-4F41-8A83-AA56F652247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56" name="Freeform 119">
              <a:extLst>
                <a:ext uri="{FF2B5EF4-FFF2-40B4-BE49-F238E27FC236}">
                  <a16:creationId xmlns:a16="http://schemas.microsoft.com/office/drawing/2014/main" id="{42455E03-081D-6F4D-8BEB-084B9B67A46C}"/>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57" name="Freeform 120">
              <a:extLst>
                <a:ext uri="{FF2B5EF4-FFF2-40B4-BE49-F238E27FC236}">
                  <a16:creationId xmlns:a16="http://schemas.microsoft.com/office/drawing/2014/main" id="{E92542AF-6D62-DD48-9013-1BC66BEDEA0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58" name="Freeform 121">
              <a:extLst>
                <a:ext uri="{FF2B5EF4-FFF2-40B4-BE49-F238E27FC236}">
                  <a16:creationId xmlns:a16="http://schemas.microsoft.com/office/drawing/2014/main" id="{792BE613-81AF-B14C-A3B2-EE8DF1E911E7}"/>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59" name="Freeform 122">
              <a:extLst>
                <a:ext uri="{FF2B5EF4-FFF2-40B4-BE49-F238E27FC236}">
                  <a16:creationId xmlns:a16="http://schemas.microsoft.com/office/drawing/2014/main" id="{6F215839-7DAB-604E-87F6-6047DF19D7C2}"/>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60" name="Freeform 123">
              <a:extLst>
                <a:ext uri="{FF2B5EF4-FFF2-40B4-BE49-F238E27FC236}">
                  <a16:creationId xmlns:a16="http://schemas.microsoft.com/office/drawing/2014/main" id="{3E5F9781-A4BD-DB4D-82C3-2D92A853824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nvGrpSpPr>
            <p:cNvPr id="261" name="Group 124">
              <a:extLst>
                <a:ext uri="{FF2B5EF4-FFF2-40B4-BE49-F238E27FC236}">
                  <a16:creationId xmlns:a16="http://schemas.microsoft.com/office/drawing/2014/main" id="{393E160F-AFD1-5D45-B819-DE879061F4D3}"/>
                </a:ext>
              </a:extLst>
            </p:cNvPr>
            <p:cNvGrpSpPr>
              <a:grpSpLocks/>
            </p:cNvGrpSpPr>
            <p:nvPr/>
          </p:nvGrpSpPr>
          <p:grpSpPr bwMode="auto">
            <a:xfrm>
              <a:off x="1709" y="3008"/>
              <a:ext cx="507" cy="234"/>
              <a:chOff x="1740" y="2642"/>
              <a:chExt cx="752" cy="327"/>
            </a:xfrm>
          </p:grpSpPr>
          <p:sp>
            <p:nvSpPr>
              <p:cNvPr id="268" name="Freeform 125">
                <a:extLst>
                  <a:ext uri="{FF2B5EF4-FFF2-40B4-BE49-F238E27FC236}">
                    <a16:creationId xmlns:a16="http://schemas.microsoft.com/office/drawing/2014/main" id="{4904CC6D-453E-934A-818A-3CF1D255C60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69" name="Freeform 126">
                <a:extLst>
                  <a:ext uri="{FF2B5EF4-FFF2-40B4-BE49-F238E27FC236}">
                    <a16:creationId xmlns:a16="http://schemas.microsoft.com/office/drawing/2014/main" id="{1D0387D3-CCB1-4F49-A44A-C641ACCCF0D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70" name="Freeform 127">
                <a:extLst>
                  <a:ext uri="{FF2B5EF4-FFF2-40B4-BE49-F238E27FC236}">
                    <a16:creationId xmlns:a16="http://schemas.microsoft.com/office/drawing/2014/main" id="{270FA557-F288-8844-90C9-73F2E2AFCF4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71" name="Freeform 128">
                <a:extLst>
                  <a:ext uri="{FF2B5EF4-FFF2-40B4-BE49-F238E27FC236}">
                    <a16:creationId xmlns:a16="http://schemas.microsoft.com/office/drawing/2014/main" id="{B75AB632-12F1-C145-9D0E-E3D452E4821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72" name="Freeform 129">
                <a:extLst>
                  <a:ext uri="{FF2B5EF4-FFF2-40B4-BE49-F238E27FC236}">
                    <a16:creationId xmlns:a16="http://schemas.microsoft.com/office/drawing/2014/main" id="{D2A4E0BA-8C8D-B548-97AF-4D8ED66D723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73" name="Freeform 130">
                <a:extLst>
                  <a:ext uri="{FF2B5EF4-FFF2-40B4-BE49-F238E27FC236}">
                    <a16:creationId xmlns:a16="http://schemas.microsoft.com/office/drawing/2014/main" id="{C17C1EF5-66D1-E14D-A9E8-AF60C754F61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sp>
          <p:nvSpPr>
            <p:cNvPr id="262" name="Freeform 131">
              <a:extLst>
                <a:ext uri="{FF2B5EF4-FFF2-40B4-BE49-F238E27FC236}">
                  <a16:creationId xmlns:a16="http://schemas.microsoft.com/office/drawing/2014/main" id="{1C23D2CA-C579-3D4F-9D1E-D5347D2817C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63" name="Freeform 132">
              <a:extLst>
                <a:ext uri="{FF2B5EF4-FFF2-40B4-BE49-F238E27FC236}">
                  <a16:creationId xmlns:a16="http://schemas.microsoft.com/office/drawing/2014/main" id="{A33C9E47-14D3-ED46-9A0A-92F7CCFDD319}"/>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64" name="Freeform 133">
              <a:extLst>
                <a:ext uri="{FF2B5EF4-FFF2-40B4-BE49-F238E27FC236}">
                  <a16:creationId xmlns:a16="http://schemas.microsoft.com/office/drawing/2014/main" id="{1D805834-F99F-8348-B5AE-489B56E35D4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65" name="Freeform 134">
              <a:extLst>
                <a:ext uri="{FF2B5EF4-FFF2-40B4-BE49-F238E27FC236}">
                  <a16:creationId xmlns:a16="http://schemas.microsoft.com/office/drawing/2014/main" id="{216AC738-4685-0B48-97A3-46CAAFF2334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66" name="Freeform 135">
              <a:extLst>
                <a:ext uri="{FF2B5EF4-FFF2-40B4-BE49-F238E27FC236}">
                  <a16:creationId xmlns:a16="http://schemas.microsoft.com/office/drawing/2014/main" id="{7A3FD7AC-5BB4-9F4F-86B5-3C7016BF6201}"/>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67" name="Freeform 136">
              <a:extLst>
                <a:ext uri="{FF2B5EF4-FFF2-40B4-BE49-F238E27FC236}">
                  <a16:creationId xmlns:a16="http://schemas.microsoft.com/office/drawing/2014/main" id="{7E600B2B-CDB3-BE48-AD4C-A5540AA76B3F}"/>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sp>
        <p:nvSpPr>
          <p:cNvPr id="283" name="Line 305">
            <a:extLst>
              <a:ext uri="{FF2B5EF4-FFF2-40B4-BE49-F238E27FC236}">
                <a16:creationId xmlns:a16="http://schemas.microsoft.com/office/drawing/2014/main" id="{044937FD-83F2-5849-B39F-4C2E6F70CFDD}"/>
              </a:ext>
            </a:extLst>
          </p:cNvPr>
          <p:cNvSpPr>
            <a:spLocks noChangeShapeType="1"/>
          </p:cNvSpPr>
          <p:nvPr/>
        </p:nvSpPr>
        <p:spPr bwMode="auto">
          <a:xfrm flipV="1">
            <a:off x="4581905" y="1972254"/>
            <a:ext cx="1225888" cy="5019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284" name="Line 306">
            <a:extLst>
              <a:ext uri="{FF2B5EF4-FFF2-40B4-BE49-F238E27FC236}">
                <a16:creationId xmlns:a16="http://schemas.microsoft.com/office/drawing/2014/main" id="{116BD36F-2C9B-894A-99DC-AD32A65DAE75}"/>
              </a:ext>
            </a:extLst>
          </p:cNvPr>
          <p:cNvSpPr>
            <a:spLocks noChangeShapeType="1"/>
          </p:cNvSpPr>
          <p:nvPr/>
        </p:nvSpPr>
        <p:spPr bwMode="auto">
          <a:xfrm>
            <a:off x="5916269" y="2557345"/>
            <a:ext cx="0" cy="42712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285" name="Line 340">
            <a:extLst>
              <a:ext uri="{FF2B5EF4-FFF2-40B4-BE49-F238E27FC236}">
                <a16:creationId xmlns:a16="http://schemas.microsoft.com/office/drawing/2014/main" id="{AA687FF7-49CE-D841-9AB8-00A78E58652E}"/>
              </a:ext>
            </a:extLst>
          </p:cNvPr>
          <p:cNvSpPr>
            <a:spLocks noChangeShapeType="1"/>
          </p:cNvSpPr>
          <p:nvPr/>
        </p:nvSpPr>
        <p:spPr bwMode="auto">
          <a:xfrm>
            <a:off x="6196205" y="2552149"/>
            <a:ext cx="0" cy="42712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grpSp>
        <p:nvGrpSpPr>
          <p:cNvPr id="286" name="Group 230">
            <a:extLst>
              <a:ext uri="{FF2B5EF4-FFF2-40B4-BE49-F238E27FC236}">
                <a16:creationId xmlns:a16="http://schemas.microsoft.com/office/drawing/2014/main" id="{15AD3327-20C2-F44F-8051-39D4007F22C1}"/>
              </a:ext>
            </a:extLst>
          </p:cNvPr>
          <p:cNvGrpSpPr>
            <a:grpSpLocks/>
          </p:cNvGrpSpPr>
          <p:nvPr/>
        </p:nvGrpSpPr>
        <p:grpSpPr bwMode="auto">
          <a:xfrm>
            <a:off x="5797296" y="2957452"/>
            <a:ext cx="268272" cy="501952"/>
            <a:chOff x="4140" y="429"/>
            <a:chExt cx="1425" cy="2396"/>
          </a:xfrm>
        </p:grpSpPr>
        <p:sp>
          <p:nvSpPr>
            <p:cNvPr id="287" name="Freeform 231">
              <a:extLst>
                <a:ext uri="{FF2B5EF4-FFF2-40B4-BE49-F238E27FC236}">
                  <a16:creationId xmlns:a16="http://schemas.microsoft.com/office/drawing/2014/main" id="{F0ABE57A-D637-5C47-8DF4-FA99B089DD0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88" name="Rectangle 232">
              <a:extLst>
                <a:ext uri="{FF2B5EF4-FFF2-40B4-BE49-F238E27FC236}">
                  <a16:creationId xmlns:a16="http://schemas.microsoft.com/office/drawing/2014/main" id="{7C25617C-1459-D649-AA8B-63DF31DE62E7}"/>
                </a:ext>
              </a:extLst>
            </p:cNvPr>
            <p:cNvSpPr>
              <a:spLocks noChangeArrowheads="1"/>
            </p:cNvSpPr>
            <p:nvPr/>
          </p:nvSpPr>
          <p:spPr bwMode="auto">
            <a:xfrm>
              <a:off x="4208" y="429"/>
              <a:ext cx="1047"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289" name="Freeform 233">
              <a:extLst>
                <a:ext uri="{FF2B5EF4-FFF2-40B4-BE49-F238E27FC236}">
                  <a16:creationId xmlns:a16="http://schemas.microsoft.com/office/drawing/2014/main" id="{6B116F4F-6EEE-524D-916E-A2B8DC284D1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90" name="Freeform 234">
              <a:extLst>
                <a:ext uri="{FF2B5EF4-FFF2-40B4-BE49-F238E27FC236}">
                  <a16:creationId xmlns:a16="http://schemas.microsoft.com/office/drawing/2014/main" id="{D8A80062-832D-2148-A6AE-0E50F45DE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291" name="Rectangle 235">
              <a:extLst>
                <a:ext uri="{FF2B5EF4-FFF2-40B4-BE49-F238E27FC236}">
                  <a16:creationId xmlns:a16="http://schemas.microsoft.com/office/drawing/2014/main" id="{1E6CD5FD-2185-F049-8BB1-7722AD1233F4}"/>
                </a:ext>
              </a:extLst>
            </p:cNvPr>
            <p:cNvSpPr>
              <a:spLocks noChangeArrowheads="1"/>
            </p:cNvSpPr>
            <p:nvPr/>
          </p:nvSpPr>
          <p:spPr bwMode="auto">
            <a:xfrm>
              <a:off x="4214" y="692"/>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nvGrpSpPr>
            <p:cNvPr id="292" name="Group 236">
              <a:extLst>
                <a:ext uri="{FF2B5EF4-FFF2-40B4-BE49-F238E27FC236}">
                  <a16:creationId xmlns:a16="http://schemas.microsoft.com/office/drawing/2014/main" id="{EC16BD93-C6E9-E44C-8265-25A74EDF5099}"/>
                </a:ext>
              </a:extLst>
            </p:cNvPr>
            <p:cNvGrpSpPr>
              <a:grpSpLocks/>
            </p:cNvGrpSpPr>
            <p:nvPr/>
          </p:nvGrpSpPr>
          <p:grpSpPr bwMode="auto">
            <a:xfrm>
              <a:off x="4749" y="668"/>
              <a:ext cx="581" cy="145"/>
              <a:chOff x="614" y="2568"/>
              <a:chExt cx="725" cy="139"/>
            </a:xfrm>
          </p:grpSpPr>
          <p:sp>
            <p:nvSpPr>
              <p:cNvPr id="317" name="AutoShape 237">
                <a:extLst>
                  <a:ext uri="{FF2B5EF4-FFF2-40B4-BE49-F238E27FC236}">
                    <a16:creationId xmlns:a16="http://schemas.microsoft.com/office/drawing/2014/main" id="{A48A0EE5-D373-7D42-80AF-6624D2B22707}"/>
                  </a:ext>
                </a:extLst>
              </p:cNvPr>
              <p:cNvSpPr>
                <a:spLocks noChangeArrowheads="1"/>
              </p:cNvSpPr>
              <p:nvPr/>
            </p:nvSpPr>
            <p:spPr bwMode="auto">
              <a:xfrm>
                <a:off x="612" y="2567"/>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18" name="AutoShape 238">
                <a:extLst>
                  <a:ext uri="{FF2B5EF4-FFF2-40B4-BE49-F238E27FC236}">
                    <a16:creationId xmlns:a16="http://schemas.microsoft.com/office/drawing/2014/main" id="{62B3372D-24FD-224D-87B2-608BB33AFBA0}"/>
                  </a:ext>
                </a:extLst>
              </p:cNvPr>
              <p:cNvSpPr>
                <a:spLocks noChangeArrowheads="1"/>
              </p:cNvSpPr>
              <p:nvPr/>
            </p:nvSpPr>
            <p:spPr bwMode="auto">
              <a:xfrm>
                <a:off x="627" y="2581"/>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293" name="Rectangle 239">
              <a:extLst>
                <a:ext uri="{FF2B5EF4-FFF2-40B4-BE49-F238E27FC236}">
                  <a16:creationId xmlns:a16="http://schemas.microsoft.com/office/drawing/2014/main" id="{34C89A3B-D23A-BC4F-98D0-9C3E37D15B84}"/>
                </a:ext>
              </a:extLst>
            </p:cNvPr>
            <p:cNvSpPr>
              <a:spLocks noChangeArrowheads="1"/>
            </p:cNvSpPr>
            <p:nvPr/>
          </p:nvSpPr>
          <p:spPr bwMode="auto">
            <a:xfrm>
              <a:off x="4227" y="1019"/>
              <a:ext cx="595"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nvGrpSpPr>
            <p:cNvPr id="294" name="Group 240">
              <a:extLst>
                <a:ext uri="{FF2B5EF4-FFF2-40B4-BE49-F238E27FC236}">
                  <a16:creationId xmlns:a16="http://schemas.microsoft.com/office/drawing/2014/main" id="{EF0991A6-3D9E-E240-9F78-C22FA850ECDF}"/>
                </a:ext>
              </a:extLst>
            </p:cNvPr>
            <p:cNvGrpSpPr>
              <a:grpSpLocks/>
            </p:cNvGrpSpPr>
            <p:nvPr/>
          </p:nvGrpSpPr>
          <p:grpSpPr bwMode="auto">
            <a:xfrm>
              <a:off x="4747" y="994"/>
              <a:ext cx="581" cy="134"/>
              <a:chOff x="614" y="2568"/>
              <a:chExt cx="725" cy="139"/>
            </a:xfrm>
          </p:grpSpPr>
          <p:sp>
            <p:nvSpPr>
              <p:cNvPr id="315" name="AutoShape 241">
                <a:extLst>
                  <a:ext uri="{FF2B5EF4-FFF2-40B4-BE49-F238E27FC236}">
                    <a16:creationId xmlns:a16="http://schemas.microsoft.com/office/drawing/2014/main" id="{37B22D79-C533-9C45-ACA8-4C435BD41438}"/>
                  </a:ext>
                </a:extLst>
              </p:cNvPr>
              <p:cNvSpPr>
                <a:spLocks noChangeArrowheads="1"/>
              </p:cNvSpPr>
              <p:nvPr/>
            </p:nvSpPr>
            <p:spPr bwMode="auto">
              <a:xfrm>
                <a:off x="614" y="2569"/>
                <a:ext cx="727"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16" name="AutoShape 242">
                <a:extLst>
                  <a:ext uri="{FF2B5EF4-FFF2-40B4-BE49-F238E27FC236}">
                    <a16:creationId xmlns:a16="http://schemas.microsoft.com/office/drawing/2014/main" id="{A7FBB337-3C80-1D4F-9C16-CDA73008EA0F}"/>
                  </a:ext>
                </a:extLst>
              </p:cNvPr>
              <p:cNvSpPr>
                <a:spLocks noChangeArrowheads="1"/>
              </p:cNvSpPr>
              <p:nvPr/>
            </p:nvSpPr>
            <p:spPr bwMode="auto">
              <a:xfrm>
                <a:off x="630" y="2584"/>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295" name="Rectangle 243">
              <a:extLst>
                <a:ext uri="{FF2B5EF4-FFF2-40B4-BE49-F238E27FC236}">
                  <a16:creationId xmlns:a16="http://schemas.microsoft.com/office/drawing/2014/main" id="{98CEF5B7-D2DC-4A45-B21D-4D45002D7792}"/>
                </a:ext>
              </a:extLst>
            </p:cNvPr>
            <p:cNvSpPr>
              <a:spLocks noChangeArrowheads="1"/>
            </p:cNvSpPr>
            <p:nvPr/>
          </p:nvSpPr>
          <p:spPr bwMode="auto">
            <a:xfrm>
              <a:off x="4214" y="1357"/>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296" name="Rectangle 244">
              <a:extLst>
                <a:ext uri="{FF2B5EF4-FFF2-40B4-BE49-F238E27FC236}">
                  <a16:creationId xmlns:a16="http://schemas.microsoft.com/office/drawing/2014/main" id="{97835B20-A1ED-E544-9C89-CC3420492617}"/>
                </a:ext>
              </a:extLst>
            </p:cNvPr>
            <p:cNvSpPr>
              <a:spLocks noChangeArrowheads="1"/>
            </p:cNvSpPr>
            <p:nvPr/>
          </p:nvSpPr>
          <p:spPr bwMode="auto">
            <a:xfrm>
              <a:off x="4227" y="1654"/>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nvGrpSpPr>
            <p:cNvPr id="297" name="Group 245">
              <a:extLst>
                <a:ext uri="{FF2B5EF4-FFF2-40B4-BE49-F238E27FC236}">
                  <a16:creationId xmlns:a16="http://schemas.microsoft.com/office/drawing/2014/main" id="{7A5529E5-2659-4647-9DFF-9F954D4AB7D6}"/>
                </a:ext>
              </a:extLst>
            </p:cNvPr>
            <p:cNvGrpSpPr>
              <a:grpSpLocks/>
            </p:cNvGrpSpPr>
            <p:nvPr/>
          </p:nvGrpSpPr>
          <p:grpSpPr bwMode="auto">
            <a:xfrm>
              <a:off x="4735" y="1627"/>
              <a:ext cx="582" cy="151"/>
              <a:chOff x="614" y="2568"/>
              <a:chExt cx="725" cy="139"/>
            </a:xfrm>
          </p:grpSpPr>
          <p:sp>
            <p:nvSpPr>
              <p:cNvPr id="313" name="AutoShape 246">
                <a:extLst>
                  <a:ext uri="{FF2B5EF4-FFF2-40B4-BE49-F238E27FC236}">
                    <a16:creationId xmlns:a16="http://schemas.microsoft.com/office/drawing/2014/main" id="{DEADFAE0-EB4F-294C-A3F2-6B3F23A30231}"/>
                  </a:ext>
                </a:extLst>
              </p:cNvPr>
              <p:cNvSpPr>
                <a:spLocks noChangeArrowheads="1"/>
              </p:cNvSpPr>
              <p:nvPr/>
            </p:nvSpPr>
            <p:spPr bwMode="auto">
              <a:xfrm>
                <a:off x="614" y="2570"/>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14" name="AutoShape 247">
                <a:extLst>
                  <a:ext uri="{FF2B5EF4-FFF2-40B4-BE49-F238E27FC236}">
                    <a16:creationId xmlns:a16="http://schemas.microsoft.com/office/drawing/2014/main" id="{FC511F02-E8D4-4A44-9F9F-740F8FD05BD6}"/>
                  </a:ext>
                </a:extLst>
              </p:cNvPr>
              <p:cNvSpPr>
                <a:spLocks noChangeArrowheads="1"/>
              </p:cNvSpPr>
              <p:nvPr/>
            </p:nvSpPr>
            <p:spPr bwMode="auto">
              <a:xfrm>
                <a:off x="629" y="2584"/>
                <a:ext cx="695"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298" name="Freeform 248">
              <a:extLst>
                <a:ext uri="{FF2B5EF4-FFF2-40B4-BE49-F238E27FC236}">
                  <a16:creationId xmlns:a16="http://schemas.microsoft.com/office/drawing/2014/main" id="{4BDE68C7-631F-AC42-854B-493CB1A2095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nvGrpSpPr>
            <p:cNvPr id="299" name="Group 249">
              <a:extLst>
                <a:ext uri="{FF2B5EF4-FFF2-40B4-BE49-F238E27FC236}">
                  <a16:creationId xmlns:a16="http://schemas.microsoft.com/office/drawing/2014/main" id="{FEA57B3C-78A9-8F42-A963-C7851FF77414}"/>
                </a:ext>
              </a:extLst>
            </p:cNvPr>
            <p:cNvGrpSpPr>
              <a:grpSpLocks/>
            </p:cNvGrpSpPr>
            <p:nvPr/>
          </p:nvGrpSpPr>
          <p:grpSpPr bwMode="auto">
            <a:xfrm>
              <a:off x="4739" y="1327"/>
              <a:ext cx="582" cy="139"/>
              <a:chOff x="614" y="2568"/>
              <a:chExt cx="725" cy="139"/>
            </a:xfrm>
          </p:grpSpPr>
          <p:sp>
            <p:nvSpPr>
              <p:cNvPr id="311" name="AutoShape 250">
                <a:extLst>
                  <a:ext uri="{FF2B5EF4-FFF2-40B4-BE49-F238E27FC236}">
                    <a16:creationId xmlns:a16="http://schemas.microsoft.com/office/drawing/2014/main" id="{D6E24A6F-DD80-9140-8755-00540132A83F}"/>
                  </a:ext>
                </a:extLst>
              </p:cNvPr>
              <p:cNvSpPr>
                <a:spLocks noChangeArrowheads="1"/>
              </p:cNvSpPr>
              <p:nvPr/>
            </p:nvSpPr>
            <p:spPr bwMode="auto">
              <a:xfrm>
                <a:off x="616" y="2568"/>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12" name="AutoShape 251">
                <a:extLst>
                  <a:ext uri="{FF2B5EF4-FFF2-40B4-BE49-F238E27FC236}">
                    <a16:creationId xmlns:a16="http://schemas.microsoft.com/office/drawing/2014/main" id="{A252A03B-0C9A-AF43-8F54-8E31C2536ACD}"/>
                  </a:ext>
                </a:extLst>
              </p:cNvPr>
              <p:cNvSpPr>
                <a:spLocks noChangeArrowheads="1"/>
              </p:cNvSpPr>
              <p:nvPr/>
            </p:nvSpPr>
            <p:spPr bwMode="auto">
              <a:xfrm>
                <a:off x="632" y="2583"/>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300" name="Rectangle 252">
              <a:extLst>
                <a:ext uri="{FF2B5EF4-FFF2-40B4-BE49-F238E27FC236}">
                  <a16:creationId xmlns:a16="http://schemas.microsoft.com/office/drawing/2014/main" id="{AD65A7A3-C3B2-2D48-823C-4716AFAF8150}"/>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01" name="Freeform 253">
              <a:extLst>
                <a:ext uri="{FF2B5EF4-FFF2-40B4-BE49-F238E27FC236}">
                  <a16:creationId xmlns:a16="http://schemas.microsoft.com/office/drawing/2014/main" id="{55060728-909E-DA45-ABF9-474FEB8DA74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02" name="Freeform 254">
              <a:extLst>
                <a:ext uri="{FF2B5EF4-FFF2-40B4-BE49-F238E27FC236}">
                  <a16:creationId xmlns:a16="http://schemas.microsoft.com/office/drawing/2014/main" id="{E827490C-3738-AD4C-88A6-A9C4923B61D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03" name="Oval 255">
              <a:extLst>
                <a:ext uri="{FF2B5EF4-FFF2-40B4-BE49-F238E27FC236}">
                  <a16:creationId xmlns:a16="http://schemas.microsoft.com/office/drawing/2014/main" id="{CCC3A224-18A2-AE4B-AD66-FCC527F30642}"/>
                </a:ext>
              </a:extLst>
            </p:cNvPr>
            <p:cNvSpPr>
              <a:spLocks noChangeArrowheads="1"/>
            </p:cNvSpPr>
            <p:nvPr/>
          </p:nvSpPr>
          <p:spPr bwMode="auto">
            <a:xfrm>
              <a:off x="5515" y="2612"/>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04" name="Freeform 256">
              <a:extLst>
                <a:ext uri="{FF2B5EF4-FFF2-40B4-BE49-F238E27FC236}">
                  <a16:creationId xmlns:a16="http://schemas.microsoft.com/office/drawing/2014/main" id="{7C6501F6-6A0F-6641-AF44-CE0295D31BA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05" name="AutoShape 257">
              <a:extLst>
                <a:ext uri="{FF2B5EF4-FFF2-40B4-BE49-F238E27FC236}">
                  <a16:creationId xmlns:a16="http://schemas.microsoft.com/office/drawing/2014/main" id="{52FA1B61-3DC9-5C40-AAF2-19B14D2DBF7A}"/>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06" name="AutoShape 258">
              <a:extLst>
                <a:ext uri="{FF2B5EF4-FFF2-40B4-BE49-F238E27FC236}">
                  <a16:creationId xmlns:a16="http://schemas.microsoft.com/office/drawing/2014/main" id="{F9626126-AB4D-7746-9101-53DFEB4F80AC}"/>
                </a:ext>
              </a:extLst>
            </p:cNvPr>
            <p:cNvSpPr>
              <a:spLocks noChangeArrowheads="1"/>
            </p:cNvSpPr>
            <p:nvPr/>
          </p:nvSpPr>
          <p:spPr bwMode="auto">
            <a:xfrm>
              <a:off x="4208" y="2711"/>
              <a:ext cx="1066" cy="84"/>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07" name="Oval 259">
              <a:extLst>
                <a:ext uri="{FF2B5EF4-FFF2-40B4-BE49-F238E27FC236}">
                  <a16:creationId xmlns:a16="http://schemas.microsoft.com/office/drawing/2014/main" id="{021860D6-74E1-8441-9209-A901F763E44F}"/>
                </a:ext>
              </a:extLst>
            </p:cNvPr>
            <p:cNvSpPr>
              <a:spLocks noChangeArrowheads="1"/>
            </p:cNvSpPr>
            <p:nvPr/>
          </p:nvSpPr>
          <p:spPr bwMode="auto">
            <a:xfrm>
              <a:off x="4307" y="2383"/>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08" name="Oval 260">
              <a:extLst>
                <a:ext uri="{FF2B5EF4-FFF2-40B4-BE49-F238E27FC236}">
                  <a16:creationId xmlns:a16="http://schemas.microsoft.com/office/drawing/2014/main" id="{04E2F25B-A1A7-CD41-8A2E-06E719172997}"/>
                </a:ext>
              </a:extLst>
            </p:cNvPr>
            <p:cNvSpPr>
              <a:spLocks noChangeArrowheads="1"/>
            </p:cNvSpPr>
            <p:nvPr/>
          </p:nvSpPr>
          <p:spPr bwMode="auto">
            <a:xfrm>
              <a:off x="4487" y="2383"/>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600">
                <a:solidFill>
                  <a:srgbClr val="FF0000"/>
                </a:solidFill>
              </a:endParaRPr>
            </a:p>
          </p:txBody>
        </p:sp>
        <p:sp>
          <p:nvSpPr>
            <p:cNvPr id="309" name="Oval 261">
              <a:extLst>
                <a:ext uri="{FF2B5EF4-FFF2-40B4-BE49-F238E27FC236}">
                  <a16:creationId xmlns:a16="http://schemas.microsoft.com/office/drawing/2014/main" id="{1C097505-D93B-EA4F-935B-69F2E390C170}"/>
                </a:ext>
              </a:extLst>
            </p:cNvPr>
            <p:cNvSpPr>
              <a:spLocks noChangeArrowheads="1"/>
            </p:cNvSpPr>
            <p:nvPr/>
          </p:nvSpPr>
          <p:spPr bwMode="auto">
            <a:xfrm>
              <a:off x="4660" y="2379"/>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10" name="Rectangle 262">
              <a:extLst>
                <a:ext uri="{FF2B5EF4-FFF2-40B4-BE49-F238E27FC236}">
                  <a16:creationId xmlns:a16="http://schemas.microsoft.com/office/drawing/2014/main" id="{80EF05EA-B207-E645-85AD-50DEBA997BCD}"/>
                </a:ext>
              </a:extLst>
            </p:cNvPr>
            <p:cNvSpPr>
              <a:spLocks noChangeArrowheads="1"/>
            </p:cNvSpPr>
            <p:nvPr/>
          </p:nvSpPr>
          <p:spPr bwMode="auto">
            <a:xfrm>
              <a:off x="5063" y="1833"/>
              <a:ext cx="87" cy="764"/>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320" name="Text Box 343">
            <a:extLst>
              <a:ext uri="{FF2B5EF4-FFF2-40B4-BE49-F238E27FC236}">
                <a16:creationId xmlns:a16="http://schemas.microsoft.com/office/drawing/2014/main" id="{DAA1BF42-CEB1-D44D-BFCC-227544D66919}"/>
              </a:ext>
            </a:extLst>
          </p:cNvPr>
          <p:cNvSpPr txBox="1">
            <a:spLocks noChangeArrowheads="1"/>
          </p:cNvSpPr>
          <p:nvPr/>
        </p:nvSpPr>
        <p:spPr bwMode="auto">
          <a:xfrm>
            <a:off x="4764388" y="2906529"/>
            <a:ext cx="927409" cy="462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mn-lt"/>
              </a:rPr>
              <a:t>Ethernet </a:t>
            </a:r>
          </a:p>
          <a:p>
            <a:pPr algn="ctr">
              <a:lnSpc>
                <a:spcPct val="85000"/>
              </a:lnSpc>
            </a:pPr>
            <a:r>
              <a:rPr lang="en-US" altLang="en-US" sz="1800" dirty="0">
                <a:latin typeface="+mn-lt"/>
              </a:rPr>
              <a:t>switch</a:t>
            </a:r>
          </a:p>
        </p:txBody>
      </p:sp>
      <p:sp>
        <p:nvSpPr>
          <p:cNvPr id="321" name="Line 344">
            <a:extLst>
              <a:ext uri="{FF2B5EF4-FFF2-40B4-BE49-F238E27FC236}">
                <a16:creationId xmlns:a16="http://schemas.microsoft.com/office/drawing/2014/main" id="{641EC1AA-258E-9B4B-9C37-D25282975350}"/>
              </a:ext>
            </a:extLst>
          </p:cNvPr>
          <p:cNvSpPr>
            <a:spLocks noChangeShapeType="1"/>
          </p:cNvSpPr>
          <p:nvPr/>
        </p:nvSpPr>
        <p:spPr bwMode="auto">
          <a:xfrm>
            <a:off x="6439983" y="3178810"/>
            <a:ext cx="386079"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322" name="Text Box 345">
            <a:extLst>
              <a:ext uri="{FF2B5EF4-FFF2-40B4-BE49-F238E27FC236}">
                <a16:creationId xmlns:a16="http://schemas.microsoft.com/office/drawing/2014/main" id="{2B23CE10-4B02-6E4C-ADE8-8FB8E2016A09}"/>
              </a:ext>
            </a:extLst>
          </p:cNvPr>
          <p:cNvSpPr txBox="1">
            <a:spLocks noChangeArrowheads="1"/>
          </p:cNvSpPr>
          <p:nvPr/>
        </p:nvSpPr>
        <p:spPr bwMode="auto">
          <a:xfrm>
            <a:off x="6660355" y="2915882"/>
            <a:ext cx="1603958" cy="462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mn-lt"/>
              </a:rPr>
              <a:t>institutional mail,</a:t>
            </a:r>
          </a:p>
          <a:p>
            <a:pPr algn="ctr">
              <a:lnSpc>
                <a:spcPct val="85000"/>
              </a:lnSpc>
            </a:pPr>
            <a:r>
              <a:rPr lang="en-US" altLang="en-US" sz="1800" dirty="0">
                <a:latin typeface="+mn-lt"/>
              </a:rPr>
              <a:t>web servers</a:t>
            </a:r>
          </a:p>
        </p:txBody>
      </p:sp>
      <p:sp>
        <p:nvSpPr>
          <p:cNvPr id="323" name="Text Box 346">
            <a:extLst>
              <a:ext uri="{FF2B5EF4-FFF2-40B4-BE49-F238E27FC236}">
                <a16:creationId xmlns:a16="http://schemas.microsoft.com/office/drawing/2014/main" id="{C37B11C0-0373-D241-B3F6-6248BB3B2310}"/>
              </a:ext>
            </a:extLst>
          </p:cNvPr>
          <p:cNvSpPr txBox="1">
            <a:spLocks noChangeArrowheads="1"/>
          </p:cNvSpPr>
          <p:nvPr/>
        </p:nvSpPr>
        <p:spPr bwMode="auto">
          <a:xfrm>
            <a:off x="7268479" y="2511682"/>
            <a:ext cx="1719743" cy="269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mn-lt"/>
              </a:rPr>
              <a:t>institutional router</a:t>
            </a:r>
          </a:p>
        </p:txBody>
      </p:sp>
      <p:sp>
        <p:nvSpPr>
          <p:cNvPr id="324" name="Line 347">
            <a:extLst>
              <a:ext uri="{FF2B5EF4-FFF2-40B4-BE49-F238E27FC236}">
                <a16:creationId xmlns:a16="http://schemas.microsoft.com/office/drawing/2014/main" id="{BC9F99E4-CA5B-FD49-A02D-5F85B2296304}"/>
              </a:ext>
            </a:extLst>
          </p:cNvPr>
          <p:cNvSpPr>
            <a:spLocks noChangeShapeType="1"/>
          </p:cNvSpPr>
          <p:nvPr/>
        </p:nvSpPr>
        <p:spPr bwMode="auto">
          <a:xfrm>
            <a:off x="6585783" y="2140611"/>
            <a:ext cx="739499" cy="43440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325" name="Line 348">
            <a:extLst>
              <a:ext uri="{FF2B5EF4-FFF2-40B4-BE49-F238E27FC236}">
                <a16:creationId xmlns:a16="http://schemas.microsoft.com/office/drawing/2014/main" id="{3C10B23E-2DA3-234F-BB19-4B7F3FD0C883}"/>
              </a:ext>
            </a:extLst>
          </p:cNvPr>
          <p:cNvSpPr>
            <a:spLocks noChangeShapeType="1"/>
          </p:cNvSpPr>
          <p:nvPr/>
        </p:nvSpPr>
        <p:spPr bwMode="auto">
          <a:xfrm>
            <a:off x="6639438" y="1920292"/>
            <a:ext cx="71383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326" name="Line 349">
            <a:extLst>
              <a:ext uri="{FF2B5EF4-FFF2-40B4-BE49-F238E27FC236}">
                <a16:creationId xmlns:a16="http://schemas.microsoft.com/office/drawing/2014/main" id="{0A81B4C1-C1C8-A345-A32D-A82E7EBACC3E}"/>
              </a:ext>
            </a:extLst>
          </p:cNvPr>
          <p:cNvSpPr>
            <a:spLocks noChangeShapeType="1"/>
          </p:cNvSpPr>
          <p:nvPr/>
        </p:nvSpPr>
        <p:spPr bwMode="auto">
          <a:xfrm>
            <a:off x="7396433" y="1918214"/>
            <a:ext cx="713838"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327" name="Line 350">
            <a:extLst>
              <a:ext uri="{FF2B5EF4-FFF2-40B4-BE49-F238E27FC236}">
                <a16:creationId xmlns:a16="http://schemas.microsoft.com/office/drawing/2014/main" id="{516F0A60-D8E9-6140-AD11-129F7CA811AA}"/>
              </a:ext>
            </a:extLst>
          </p:cNvPr>
          <p:cNvSpPr>
            <a:spLocks noChangeShapeType="1"/>
          </p:cNvSpPr>
          <p:nvPr/>
        </p:nvSpPr>
        <p:spPr bwMode="auto">
          <a:xfrm>
            <a:off x="6948534" y="1976411"/>
            <a:ext cx="369749" cy="21720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328" name="Text Box 351">
            <a:extLst>
              <a:ext uri="{FF2B5EF4-FFF2-40B4-BE49-F238E27FC236}">
                <a16:creationId xmlns:a16="http://schemas.microsoft.com/office/drawing/2014/main" id="{94641050-9D51-CA4C-90D5-813728713DF3}"/>
              </a:ext>
            </a:extLst>
          </p:cNvPr>
          <p:cNvSpPr txBox="1">
            <a:spLocks noChangeArrowheads="1"/>
          </p:cNvSpPr>
          <p:nvPr/>
        </p:nvSpPr>
        <p:spPr bwMode="auto">
          <a:xfrm>
            <a:off x="7321915" y="2109434"/>
            <a:ext cx="1612869" cy="655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mn-lt"/>
              </a:rPr>
              <a:t>Enterprise link to </a:t>
            </a:r>
          </a:p>
          <a:p>
            <a:pPr algn="ctr">
              <a:lnSpc>
                <a:spcPct val="85000"/>
              </a:lnSpc>
            </a:pPr>
            <a:r>
              <a:rPr lang="en-US" altLang="en-US" sz="1800" dirty="0">
                <a:latin typeface="+mn-lt"/>
              </a:rPr>
              <a:t>ISP (Internet)</a:t>
            </a:r>
          </a:p>
          <a:p>
            <a:pPr algn="ctr">
              <a:lnSpc>
                <a:spcPct val="85000"/>
              </a:lnSpc>
            </a:pPr>
            <a:endParaRPr lang="en-US" altLang="en-US" sz="1800" dirty="0">
              <a:latin typeface="+mn-lt"/>
            </a:endParaRPr>
          </a:p>
        </p:txBody>
      </p:sp>
      <p:sp>
        <p:nvSpPr>
          <p:cNvPr id="335" name="Line 359">
            <a:extLst>
              <a:ext uri="{FF2B5EF4-FFF2-40B4-BE49-F238E27FC236}">
                <a16:creationId xmlns:a16="http://schemas.microsoft.com/office/drawing/2014/main" id="{97A12484-2FF1-6149-8ABD-D6D41AA5A962}"/>
              </a:ext>
            </a:extLst>
          </p:cNvPr>
          <p:cNvSpPr>
            <a:spLocks noChangeShapeType="1"/>
          </p:cNvSpPr>
          <p:nvPr/>
        </p:nvSpPr>
        <p:spPr bwMode="auto">
          <a:xfrm>
            <a:off x="6202037" y="2116709"/>
            <a:ext cx="0" cy="1943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600"/>
          </a:p>
        </p:txBody>
      </p:sp>
      <p:grpSp>
        <p:nvGrpSpPr>
          <p:cNvPr id="336" name="Group 360">
            <a:extLst>
              <a:ext uri="{FF2B5EF4-FFF2-40B4-BE49-F238E27FC236}">
                <a16:creationId xmlns:a16="http://schemas.microsoft.com/office/drawing/2014/main" id="{747942F1-CA1E-1B40-A6D9-EFC1C4EF177F}"/>
              </a:ext>
            </a:extLst>
          </p:cNvPr>
          <p:cNvGrpSpPr>
            <a:grpSpLocks/>
          </p:cNvGrpSpPr>
          <p:nvPr/>
        </p:nvGrpSpPr>
        <p:grpSpPr bwMode="auto">
          <a:xfrm>
            <a:off x="6120389" y="2953295"/>
            <a:ext cx="268272" cy="501952"/>
            <a:chOff x="4140" y="429"/>
            <a:chExt cx="1425" cy="2396"/>
          </a:xfrm>
        </p:grpSpPr>
        <p:sp>
          <p:nvSpPr>
            <p:cNvPr id="337" name="Freeform 361">
              <a:extLst>
                <a:ext uri="{FF2B5EF4-FFF2-40B4-BE49-F238E27FC236}">
                  <a16:creationId xmlns:a16="http://schemas.microsoft.com/office/drawing/2014/main" id="{A95DC624-B285-D246-93FF-BCD2C29F9F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38" name="Rectangle 362">
              <a:extLst>
                <a:ext uri="{FF2B5EF4-FFF2-40B4-BE49-F238E27FC236}">
                  <a16:creationId xmlns:a16="http://schemas.microsoft.com/office/drawing/2014/main" id="{9A79B284-8916-FD46-8350-4C85531A9AFD}"/>
                </a:ext>
              </a:extLst>
            </p:cNvPr>
            <p:cNvSpPr>
              <a:spLocks noChangeArrowheads="1"/>
            </p:cNvSpPr>
            <p:nvPr/>
          </p:nvSpPr>
          <p:spPr bwMode="auto">
            <a:xfrm>
              <a:off x="4208" y="429"/>
              <a:ext cx="1047"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39" name="Freeform 363">
              <a:extLst>
                <a:ext uri="{FF2B5EF4-FFF2-40B4-BE49-F238E27FC236}">
                  <a16:creationId xmlns:a16="http://schemas.microsoft.com/office/drawing/2014/main" id="{E442C2E6-5E48-F744-BC37-32D55EE9350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40" name="Freeform 364">
              <a:extLst>
                <a:ext uri="{FF2B5EF4-FFF2-40B4-BE49-F238E27FC236}">
                  <a16:creationId xmlns:a16="http://schemas.microsoft.com/office/drawing/2014/main" id="{0A95ECE1-B6C3-5E4F-968C-F1815309370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41" name="Rectangle 365">
              <a:extLst>
                <a:ext uri="{FF2B5EF4-FFF2-40B4-BE49-F238E27FC236}">
                  <a16:creationId xmlns:a16="http://schemas.microsoft.com/office/drawing/2014/main" id="{7E2F74EE-7534-BF42-B4B0-776EB1698A3D}"/>
                </a:ext>
              </a:extLst>
            </p:cNvPr>
            <p:cNvSpPr>
              <a:spLocks noChangeArrowheads="1"/>
            </p:cNvSpPr>
            <p:nvPr/>
          </p:nvSpPr>
          <p:spPr bwMode="auto">
            <a:xfrm>
              <a:off x="4214" y="692"/>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nvGrpSpPr>
            <p:cNvPr id="342" name="Group 366">
              <a:extLst>
                <a:ext uri="{FF2B5EF4-FFF2-40B4-BE49-F238E27FC236}">
                  <a16:creationId xmlns:a16="http://schemas.microsoft.com/office/drawing/2014/main" id="{5440758F-8C7D-534F-8781-BA459D2D4997}"/>
                </a:ext>
              </a:extLst>
            </p:cNvPr>
            <p:cNvGrpSpPr>
              <a:grpSpLocks/>
            </p:cNvGrpSpPr>
            <p:nvPr/>
          </p:nvGrpSpPr>
          <p:grpSpPr bwMode="auto">
            <a:xfrm>
              <a:off x="4749" y="668"/>
              <a:ext cx="581" cy="145"/>
              <a:chOff x="614" y="2568"/>
              <a:chExt cx="725" cy="139"/>
            </a:xfrm>
          </p:grpSpPr>
          <p:sp>
            <p:nvSpPr>
              <p:cNvPr id="367" name="AutoShape 367">
                <a:extLst>
                  <a:ext uri="{FF2B5EF4-FFF2-40B4-BE49-F238E27FC236}">
                    <a16:creationId xmlns:a16="http://schemas.microsoft.com/office/drawing/2014/main" id="{FA1BC11F-08E0-6741-A19A-91A95371CA93}"/>
                  </a:ext>
                </a:extLst>
              </p:cNvPr>
              <p:cNvSpPr>
                <a:spLocks noChangeArrowheads="1"/>
              </p:cNvSpPr>
              <p:nvPr/>
            </p:nvSpPr>
            <p:spPr bwMode="auto">
              <a:xfrm>
                <a:off x="612" y="2567"/>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68" name="AutoShape 368">
                <a:extLst>
                  <a:ext uri="{FF2B5EF4-FFF2-40B4-BE49-F238E27FC236}">
                    <a16:creationId xmlns:a16="http://schemas.microsoft.com/office/drawing/2014/main" id="{9CD110CA-53B7-F941-B8E8-DCF253E80B7A}"/>
                  </a:ext>
                </a:extLst>
              </p:cNvPr>
              <p:cNvSpPr>
                <a:spLocks noChangeArrowheads="1"/>
              </p:cNvSpPr>
              <p:nvPr/>
            </p:nvSpPr>
            <p:spPr bwMode="auto">
              <a:xfrm>
                <a:off x="627" y="2581"/>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343" name="Rectangle 369">
              <a:extLst>
                <a:ext uri="{FF2B5EF4-FFF2-40B4-BE49-F238E27FC236}">
                  <a16:creationId xmlns:a16="http://schemas.microsoft.com/office/drawing/2014/main" id="{1EC69C20-EBCC-F94C-8E85-3BFDEA3EE94F}"/>
                </a:ext>
              </a:extLst>
            </p:cNvPr>
            <p:cNvSpPr>
              <a:spLocks noChangeArrowheads="1"/>
            </p:cNvSpPr>
            <p:nvPr/>
          </p:nvSpPr>
          <p:spPr bwMode="auto">
            <a:xfrm>
              <a:off x="4227" y="1019"/>
              <a:ext cx="595"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nvGrpSpPr>
            <p:cNvPr id="344" name="Group 370">
              <a:extLst>
                <a:ext uri="{FF2B5EF4-FFF2-40B4-BE49-F238E27FC236}">
                  <a16:creationId xmlns:a16="http://schemas.microsoft.com/office/drawing/2014/main" id="{07519735-A399-0245-A06D-45262AB76044}"/>
                </a:ext>
              </a:extLst>
            </p:cNvPr>
            <p:cNvGrpSpPr>
              <a:grpSpLocks/>
            </p:cNvGrpSpPr>
            <p:nvPr/>
          </p:nvGrpSpPr>
          <p:grpSpPr bwMode="auto">
            <a:xfrm>
              <a:off x="4747" y="994"/>
              <a:ext cx="581" cy="134"/>
              <a:chOff x="614" y="2568"/>
              <a:chExt cx="725" cy="139"/>
            </a:xfrm>
          </p:grpSpPr>
          <p:sp>
            <p:nvSpPr>
              <p:cNvPr id="365" name="AutoShape 371">
                <a:extLst>
                  <a:ext uri="{FF2B5EF4-FFF2-40B4-BE49-F238E27FC236}">
                    <a16:creationId xmlns:a16="http://schemas.microsoft.com/office/drawing/2014/main" id="{E8257B33-A34F-9542-B057-AAFF66A5CE03}"/>
                  </a:ext>
                </a:extLst>
              </p:cNvPr>
              <p:cNvSpPr>
                <a:spLocks noChangeArrowheads="1"/>
              </p:cNvSpPr>
              <p:nvPr/>
            </p:nvSpPr>
            <p:spPr bwMode="auto">
              <a:xfrm>
                <a:off x="614" y="2569"/>
                <a:ext cx="727"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66" name="AutoShape 372">
                <a:extLst>
                  <a:ext uri="{FF2B5EF4-FFF2-40B4-BE49-F238E27FC236}">
                    <a16:creationId xmlns:a16="http://schemas.microsoft.com/office/drawing/2014/main" id="{6206D05B-C4DF-2F4E-99A4-33B3EB7BEAF1}"/>
                  </a:ext>
                </a:extLst>
              </p:cNvPr>
              <p:cNvSpPr>
                <a:spLocks noChangeArrowheads="1"/>
              </p:cNvSpPr>
              <p:nvPr/>
            </p:nvSpPr>
            <p:spPr bwMode="auto">
              <a:xfrm>
                <a:off x="630" y="2584"/>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345" name="Rectangle 373">
              <a:extLst>
                <a:ext uri="{FF2B5EF4-FFF2-40B4-BE49-F238E27FC236}">
                  <a16:creationId xmlns:a16="http://schemas.microsoft.com/office/drawing/2014/main" id="{34B7A55F-FAF6-8849-A14E-C0885CC268F7}"/>
                </a:ext>
              </a:extLst>
            </p:cNvPr>
            <p:cNvSpPr>
              <a:spLocks noChangeArrowheads="1"/>
            </p:cNvSpPr>
            <p:nvPr/>
          </p:nvSpPr>
          <p:spPr bwMode="auto">
            <a:xfrm>
              <a:off x="4214" y="1357"/>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46" name="Rectangle 374">
              <a:extLst>
                <a:ext uri="{FF2B5EF4-FFF2-40B4-BE49-F238E27FC236}">
                  <a16:creationId xmlns:a16="http://schemas.microsoft.com/office/drawing/2014/main" id="{C26AEB9F-96DA-1B4D-97DF-0A9854549971}"/>
                </a:ext>
              </a:extLst>
            </p:cNvPr>
            <p:cNvSpPr>
              <a:spLocks noChangeArrowheads="1"/>
            </p:cNvSpPr>
            <p:nvPr/>
          </p:nvSpPr>
          <p:spPr bwMode="auto">
            <a:xfrm>
              <a:off x="4227" y="1654"/>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nvGrpSpPr>
            <p:cNvPr id="347" name="Group 375">
              <a:extLst>
                <a:ext uri="{FF2B5EF4-FFF2-40B4-BE49-F238E27FC236}">
                  <a16:creationId xmlns:a16="http://schemas.microsoft.com/office/drawing/2014/main" id="{0329E24E-6F06-BF4E-955D-9D0A65224E5A}"/>
                </a:ext>
              </a:extLst>
            </p:cNvPr>
            <p:cNvGrpSpPr>
              <a:grpSpLocks/>
            </p:cNvGrpSpPr>
            <p:nvPr/>
          </p:nvGrpSpPr>
          <p:grpSpPr bwMode="auto">
            <a:xfrm>
              <a:off x="4735" y="1627"/>
              <a:ext cx="582" cy="151"/>
              <a:chOff x="614" y="2568"/>
              <a:chExt cx="725" cy="139"/>
            </a:xfrm>
          </p:grpSpPr>
          <p:sp>
            <p:nvSpPr>
              <p:cNvPr id="363" name="AutoShape 376">
                <a:extLst>
                  <a:ext uri="{FF2B5EF4-FFF2-40B4-BE49-F238E27FC236}">
                    <a16:creationId xmlns:a16="http://schemas.microsoft.com/office/drawing/2014/main" id="{FD17C6A2-EAC5-EF40-ABBB-CB758AF39FFA}"/>
                  </a:ext>
                </a:extLst>
              </p:cNvPr>
              <p:cNvSpPr>
                <a:spLocks noChangeArrowheads="1"/>
              </p:cNvSpPr>
              <p:nvPr/>
            </p:nvSpPr>
            <p:spPr bwMode="auto">
              <a:xfrm>
                <a:off x="614" y="2570"/>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64" name="AutoShape 377">
                <a:extLst>
                  <a:ext uri="{FF2B5EF4-FFF2-40B4-BE49-F238E27FC236}">
                    <a16:creationId xmlns:a16="http://schemas.microsoft.com/office/drawing/2014/main" id="{D8BB3738-918B-854D-9E55-88D255A72138}"/>
                  </a:ext>
                </a:extLst>
              </p:cNvPr>
              <p:cNvSpPr>
                <a:spLocks noChangeArrowheads="1"/>
              </p:cNvSpPr>
              <p:nvPr/>
            </p:nvSpPr>
            <p:spPr bwMode="auto">
              <a:xfrm>
                <a:off x="629" y="2584"/>
                <a:ext cx="695"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348" name="Freeform 378">
              <a:extLst>
                <a:ext uri="{FF2B5EF4-FFF2-40B4-BE49-F238E27FC236}">
                  <a16:creationId xmlns:a16="http://schemas.microsoft.com/office/drawing/2014/main" id="{F7337DC2-5413-BF46-B779-6F96A77DEB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grpSp>
          <p:nvGrpSpPr>
            <p:cNvPr id="349" name="Group 379">
              <a:extLst>
                <a:ext uri="{FF2B5EF4-FFF2-40B4-BE49-F238E27FC236}">
                  <a16:creationId xmlns:a16="http://schemas.microsoft.com/office/drawing/2014/main" id="{F6601C7A-DE13-3B44-AE58-1B3092D2C5DD}"/>
                </a:ext>
              </a:extLst>
            </p:cNvPr>
            <p:cNvGrpSpPr>
              <a:grpSpLocks/>
            </p:cNvGrpSpPr>
            <p:nvPr/>
          </p:nvGrpSpPr>
          <p:grpSpPr bwMode="auto">
            <a:xfrm>
              <a:off x="4739" y="1327"/>
              <a:ext cx="582" cy="139"/>
              <a:chOff x="614" y="2568"/>
              <a:chExt cx="725" cy="139"/>
            </a:xfrm>
          </p:grpSpPr>
          <p:sp>
            <p:nvSpPr>
              <p:cNvPr id="361" name="AutoShape 380">
                <a:extLst>
                  <a:ext uri="{FF2B5EF4-FFF2-40B4-BE49-F238E27FC236}">
                    <a16:creationId xmlns:a16="http://schemas.microsoft.com/office/drawing/2014/main" id="{721AAB25-2061-A947-86F3-4BE381FC305D}"/>
                  </a:ext>
                </a:extLst>
              </p:cNvPr>
              <p:cNvSpPr>
                <a:spLocks noChangeArrowheads="1"/>
              </p:cNvSpPr>
              <p:nvPr/>
            </p:nvSpPr>
            <p:spPr bwMode="auto">
              <a:xfrm>
                <a:off x="616" y="2568"/>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62" name="AutoShape 381">
                <a:extLst>
                  <a:ext uri="{FF2B5EF4-FFF2-40B4-BE49-F238E27FC236}">
                    <a16:creationId xmlns:a16="http://schemas.microsoft.com/office/drawing/2014/main" id="{429809BB-5207-CA46-808A-B1E3BDA81CAC}"/>
                  </a:ext>
                </a:extLst>
              </p:cNvPr>
              <p:cNvSpPr>
                <a:spLocks noChangeArrowheads="1"/>
              </p:cNvSpPr>
              <p:nvPr/>
            </p:nvSpPr>
            <p:spPr bwMode="auto">
              <a:xfrm>
                <a:off x="632" y="2583"/>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sp>
          <p:nvSpPr>
            <p:cNvPr id="350" name="Rectangle 382">
              <a:extLst>
                <a:ext uri="{FF2B5EF4-FFF2-40B4-BE49-F238E27FC236}">
                  <a16:creationId xmlns:a16="http://schemas.microsoft.com/office/drawing/2014/main" id="{E47E9CEA-B6EE-DE48-A618-79372629DD89}"/>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51" name="Freeform 383">
              <a:extLst>
                <a:ext uri="{FF2B5EF4-FFF2-40B4-BE49-F238E27FC236}">
                  <a16:creationId xmlns:a16="http://schemas.microsoft.com/office/drawing/2014/main" id="{9D844685-50C6-9F49-B75D-D38EF4841C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52" name="Freeform 384">
              <a:extLst>
                <a:ext uri="{FF2B5EF4-FFF2-40B4-BE49-F238E27FC236}">
                  <a16:creationId xmlns:a16="http://schemas.microsoft.com/office/drawing/2014/main" id="{C856727D-A741-4248-AA97-E181A2BC52A6}"/>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53" name="Oval 385">
              <a:extLst>
                <a:ext uri="{FF2B5EF4-FFF2-40B4-BE49-F238E27FC236}">
                  <a16:creationId xmlns:a16="http://schemas.microsoft.com/office/drawing/2014/main" id="{2C4B4AB6-1D17-1F4D-8BA0-D5E9F83E81EF}"/>
                </a:ext>
              </a:extLst>
            </p:cNvPr>
            <p:cNvSpPr>
              <a:spLocks noChangeArrowheads="1"/>
            </p:cNvSpPr>
            <p:nvPr/>
          </p:nvSpPr>
          <p:spPr bwMode="auto">
            <a:xfrm>
              <a:off x="5515" y="2612"/>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54" name="Freeform 386">
              <a:extLst>
                <a:ext uri="{FF2B5EF4-FFF2-40B4-BE49-F238E27FC236}">
                  <a16:creationId xmlns:a16="http://schemas.microsoft.com/office/drawing/2014/main" id="{6C506339-85FF-E148-B5F8-049C6E141E4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p>
          </p:txBody>
        </p:sp>
        <p:sp>
          <p:nvSpPr>
            <p:cNvPr id="355" name="AutoShape 387">
              <a:extLst>
                <a:ext uri="{FF2B5EF4-FFF2-40B4-BE49-F238E27FC236}">
                  <a16:creationId xmlns:a16="http://schemas.microsoft.com/office/drawing/2014/main" id="{ED12CE05-81E4-8946-99AA-9D0A1A7C4781}"/>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56" name="AutoShape 388">
              <a:extLst>
                <a:ext uri="{FF2B5EF4-FFF2-40B4-BE49-F238E27FC236}">
                  <a16:creationId xmlns:a16="http://schemas.microsoft.com/office/drawing/2014/main" id="{F7252737-5820-0244-AA4C-5506D7C76BA8}"/>
                </a:ext>
              </a:extLst>
            </p:cNvPr>
            <p:cNvSpPr>
              <a:spLocks noChangeArrowheads="1"/>
            </p:cNvSpPr>
            <p:nvPr/>
          </p:nvSpPr>
          <p:spPr bwMode="auto">
            <a:xfrm>
              <a:off x="4208" y="2711"/>
              <a:ext cx="1066" cy="84"/>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57" name="Oval 389">
              <a:extLst>
                <a:ext uri="{FF2B5EF4-FFF2-40B4-BE49-F238E27FC236}">
                  <a16:creationId xmlns:a16="http://schemas.microsoft.com/office/drawing/2014/main" id="{159E8A40-2489-CD49-B9A0-9A2A2840B7AD}"/>
                </a:ext>
              </a:extLst>
            </p:cNvPr>
            <p:cNvSpPr>
              <a:spLocks noChangeArrowheads="1"/>
            </p:cNvSpPr>
            <p:nvPr/>
          </p:nvSpPr>
          <p:spPr bwMode="auto">
            <a:xfrm>
              <a:off x="4307" y="2383"/>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58" name="Oval 390">
              <a:extLst>
                <a:ext uri="{FF2B5EF4-FFF2-40B4-BE49-F238E27FC236}">
                  <a16:creationId xmlns:a16="http://schemas.microsoft.com/office/drawing/2014/main" id="{DCC47899-EDAF-8243-B83E-B128262A993F}"/>
                </a:ext>
              </a:extLst>
            </p:cNvPr>
            <p:cNvSpPr>
              <a:spLocks noChangeArrowheads="1"/>
            </p:cNvSpPr>
            <p:nvPr/>
          </p:nvSpPr>
          <p:spPr bwMode="auto">
            <a:xfrm>
              <a:off x="4487" y="2383"/>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600">
                <a:solidFill>
                  <a:srgbClr val="FF0000"/>
                </a:solidFill>
              </a:endParaRPr>
            </a:p>
          </p:txBody>
        </p:sp>
        <p:sp>
          <p:nvSpPr>
            <p:cNvPr id="359" name="Oval 391">
              <a:extLst>
                <a:ext uri="{FF2B5EF4-FFF2-40B4-BE49-F238E27FC236}">
                  <a16:creationId xmlns:a16="http://schemas.microsoft.com/office/drawing/2014/main" id="{46D30038-FDE6-B64A-85D1-5B400F22980F}"/>
                </a:ext>
              </a:extLst>
            </p:cNvPr>
            <p:cNvSpPr>
              <a:spLocks noChangeArrowheads="1"/>
            </p:cNvSpPr>
            <p:nvPr/>
          </p:nvSpPr>
          <p:spPr bwMode="auto">
            <a:xfrm>
              <a:off x="4660" y="2379"/>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sp>
          <p:nvSpPr>
            <p:cNvPr id="360" name="Rectangle 392">
              <a:extLst>
                <a:ext uri="{FF2B5EF4-FFF2-40B4-BE49-F238E27FC236}">
                  <a16:creationId xmlns:a16="http://schemas.microsoft.com/office/drawing/2014/main" id="{F74E671F-6892-684D-A076-94F9230D2204}"/>
                </a:ext>
              </a:extLst>
            </p:cNvPr>
            <p:cNvSpPr>
              <a:spLocks noChangeArrowheads="1"/>
            </p:cNvSpPr>
            <p:nvPr/>
          </p:nvSpPr>
          <p:spPr bwMode="auto">
            <a:xfrm>
              <a:off x="5063" y="1833"/>
              <a:ext cx="87" cy="764"/>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000"/>
            </a:p>
          </p:txBody>
        </p:sp>
      </p:grpSp>
      <p:grpSp>
        <p:nvGrpSpPr>
          <p:cNvPr id="370" name="Group 395">
            <a:extLst>
              <a:ext uri="{FF2B5EF4-FFF2-40B4-BE49-F238E27FC236}">
                <a16:creationId xmlns:a16="http://schemas.microsoft.com/office/drawing/2014/main" id="{F42AAE7E-5AFB-0249-BDBC-81D5F7DED0C2}"/>
              </a:ext>
            </a:extLst>
          </p:cNvPr>
          <p:cNvGrpSpPr>
            <a:grpSpLocks/>
          </p:cNvGrpSpPr>
          <p:nvPr/>
        </p:nvGrpSpPr>
        <p:grpSpPr bwMode="auto">
          <a:xfrm>
            <a:off x="2986268" y="2270516"/>
            <a:ext cx="531879" cy="435440"/>
            <a:chOff x="-44" y="1473"/>
            <a:chExt cx="981" cy="1105"/>
          </a:xfrm>
        </p:grpSpPr>
        <p:pic>
          <p:nvPicPr>
            <p:cNvPr id="371" name="Picture 396" descr="desktop_computer_stylized_medium">
              <a:extLst>
                <a:ext uri="{FF2B5EF4-FFF2-40B4-BE49-F238E27FC236}">
                  <a16:creationId xmlns:a16="http://schemas.microsoft.com/office/drawing/2014/main" id="{4AE8F020-6115-B04F-81B6-7656CAE9AA82}"/>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97">
              <a:extLst>
                <a:ext uri="{FF2B5EF4-FFF2-40B4-BE49-F238E27FC236}">
                  <a16:creationId xmlns:a16="http://schemas.microsoft.com/office/drawing/2014/main" id="{C4FDE2C9-11FF-FA4F-A204-2288DCC33FE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1600"/>
            </a:p>
          </p:txBody>
        </p:sp>
      </p:grpSp>
      <p:grpSp>
        <p:nvGrpSpPr>
          <p:cNvPr id="373" name="Group 398">
            <a:extLst>
              <a:ext uri="{FF2B5EF4-FFF2-40B4-BE49-F238E27FC236}">
                <a16:creationId xmlns:a16="http://schemas.microsoft.com/office/drawing/2014/main" id="{2FACFB54-A469-5245-B7FD-22A98FFC4DE7}"/>
              </a:ext>
            </a:extLst>
          </p:cNvPr>
          <p:cNvGrpSpPr>
            <a:grpSpLocks/>
          </p:cNvGrpSpPr>
          <p:nvPr/>
        </p:nvGrpSpPr>
        <p:grpSpPr bwMode="auto">
          <a:xfrm>
            <a:off x="3275536" y="2564620"/>
            <a:ext cx="531879" cy="435441"/>
            <a:chOff x="-44" y="1473"/>
            <a:chExt cx="981" cy="1105"/>
          </a:xfrm>
        </p:grpSpPr>
        <p:pic>
          <p:nvPicPr>
            <p:cNvPr id="374" name="Picture 399" descr="desktop_computer_stylized_medium">
              <a:extLst>
                <a:ext uri="{FF2B5EF4-FFF2-40B4-BE49-F238E27FC236}">
                  <a16:creationId xmlns:a16="http://schemas.microsoft.com/office/drawing/2014/main" id="{7119A347-68E9-F446-93E5-6AC58CB5D658}"/>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5" name="Freeform 400">
              <a:extLst>
                <a:ext uri="{FF2B5EF4-FFF2-40B4-BE49-F238E27FC236}">
                  <a16:creationId xmlns:a16="http://schemas.microsoft.com/office/drawing/2014/main" id="{B4F57E63-5822-F542-94A1-456B247E5C5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1600"/>
            </a:p>
          </p:txBody>
        </p:sp>
      </p:grpSp>
      <p:grpSp>
        <p:nvGrpSpPr>
          <p:cNvPr id="376" name="Group 401">
            <a:extLst>
              <a:ext uri="{FF2B5EF4-FFF2-40B4-BE49-F238E27FC236}">
                <a16:creationId xmlns:a16="http://schemas.microsoft.com/office/drawing/2014/main" id="{216D9C2E-0D64-5E47-B3FD-92B1FA453364}"/>
              </a:ext>
            </a:extLst>
          </p:cNvPr>
          <p:cNvGrpSpPr>
            <a:grpSpLocks/>
          </p:cNvGrpSpPr>
          <p:nvPr/>
        </p:nvGrpSpPr>
        <p:grpSpPr bwMode="auto">
          <a:xfrm>
            <a:off x="3724601" y="2941863"/>
            <a:ext cx="531879" cy="435440"/>
            <a:chOff x="-44" y="1473"/>
            <a:chExt cx="981" cy="1105"/>
          </a:xfrm>
        </p:grpSpPr>
        <p:pic>
          <p:nvPicPr>
            <p:cNvPr id="377" name="Picture 402" descr="desktop_computer_stylized_medium">
              <a:extLst>
                <a:ext uri="{FF2B5EF4-FFF2-40B4-BE49-F238E27FC236}">
                  <a16:creationId xmlns:a16="http://schemas.microsoft.com/office/drawing/2014/main" id="{7B843EDE-21F6-3447-B5AB-5FA8D30015F4}"/>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8" name="Freeform 403">
              <a:extLst>
                <a:ext uri="{FF2B5EF4-FFF2-40B4-BE49-F238E27FC236}">
                  <a16:creationId xmlns:a16="http://schemas.microsoft.com/office/drawing/2014/main" id="{CA3AAF42-95E2-F94C-AEA5-D68A152C1DEA}"/>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1600"/>
            </a:p>
          </p:txBody>
        </p:sp>
      </p:grpSp>
      <p:grpSp>
        <p:nvGrpSpPr>
          <p:cNvPr id="379" name="Group 404">
            <a:extLst>
              <a:ext uri="{FF2B5EF4-FFF2-40B4-BE49-F238E27FC236}">
                <a16:creationId xmlns:a16="http://schemas.microsoft.com/office/drawing/2014/main" id="{71F2F2F9-9859-2F4A-B7C5-8CBDD6A3A3EF}"/>
              </a:ext>
            </a:extLst>
          </p:cNvPr>
          <p:cNvGrpSpPr>
            <a:grpSpLocks/>
          </p:cNvGrpSpPr>
          <p:nvPr/>
        </p:nvGrpSpPr>
        <p:grpSpPr bwMode="auto">
          <a:xfrm>
            <a:off x="4145671" y="2951216"/>
            <a:ext cx="531879" cy="435441"/>
            <a:chOff x="-44" y="1473"/>
            <a:chExt cx="981" cy="1105"/>
          </a:xfrm>
        </p:grpSpPr>
        <p:pic>
          <p:nvPicPr>
            <p:cNvPr id="380" name="Picture 405" descr="desktop_computer_stylized_medium">
              <a:extLst>
                <a:ext uri="{FF2B5EF4-FFF2-40B4-BE49-F238E27FC236}">
                  <a16:creationId xmlns:a16="http://schemas.microsoft.com/office/drawing/2014/main" id="{2D98BDF3-7E55-BD4F-A14E-C9CFF9C71B2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406">
              <a:extLst>
                <a:ext uri="{FF2B5EF4-FFF2-40B4-BE49-F238E27FC236}">
                  <a16:creationId xmlns:a16="http://schemas.microsoft.com/office/drawing/2014/main" id="{ACDA8376-3C3F-9041-98EB-1F7B7F4EFF7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1600"/>
            </a:p>
          </p:txBody>
        </p:sp>
      </p:grpSp>
      <p:grpSp>
        <p:nvGrpSpPr>
          <p:cNvPr id="395" name="Group 394">
            <a:extLst>
              <a:ext uri="{FF2B5EF4-FFF2-40B4-BE49-F238E27FC236}">
                <a16:creationId xmlns:a16="http://schemas.microsoft.com/office/drawing/2014/main" id="{F717C28A-9467-D947-A38C-692D5D85A6B7}"/>
              </a:ext>
            </a:extLst>
          </p:cNvPr>
          <p:cNvGrpSpPr/>
          <p:nvPr/>
        </p:nvGrpSpPr>
        <p:grpSpPr>
          <a:xfrm>
            <a:off x="5763477" y="1758396"/>
            <a:ext cx="875961" cy="382215"/>
            <a:chOff x="7493876" y="2774731"/>
            <a:chExt cx="1481958" cy="894622"/>
          </a:xfrm>
        </p:grpSpPr>
        <p:sp>
          <p:nvSpPr>
            <p:cNvPr id="404" name="Freeform 403">
              <a:extLst>
                <a:ext uri="{FF2B5EF4-FFF2-40B4-BE49-F238E27FC236}">
                  <a16:creationId xmlns:a16="http://schemas.microsoft.com/office/drawing/2014/main" id="{A1CB3C7B-EE14-8A40-8F81-643CED72C6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                   </a:t>
              </a:r>
            </a:p>
          </p:txBody>
        </p:sp>
        <p:sp>
          <p:nvSpPr>
            <p:cNvPr id="405" name="Oval 404">
              <a:extLst>
                <a:ext uri="{FF2B5EF4-FFF2-40B4-BE49-F238E27FC236}">
                  <a16:creationId xmlns:a16="http://schemas.microsoft.com/office/drawing/2014/main" id="{35D3F5D2-9919-304A-B981-CF776FEF77C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              </a:t>
              </a:r>
            </a:p>
          </p:txBody>
        </p:sp>
        <p:grpSp>
          <p:nvGrpSpPr>
            <p:cNvPr id="406" name="Group 405">
              <a:extLst>
                <a:ext uri="{FF2B5EF4-FFF2-40B4-BE49-F238E27FC236}">
                  <a16:creationId xmlns:a16="http://schemas.microsoft.com/office/drawing/2014/main" id="{515934EB-C679-D746-B27A-91B74192C8D0}"/>
                </a:ext>
              </a:extLst>
            </p:cNvPr>
            <p:cNvGrpSpPr/>
            <p:nvPr/>
          </p:nvGrpSpPr>
          <p:grpSpPr>
            <a:xfrm>
              <a:off x="7713663" y="2848339"/>
              <a:ext cx="1042107" cy="425543"/>
              <a:chOff x="7786941" y="2884917"/>
              <a:chExt cx="897649" cy="353919"/>
            </a:xfrm>
          </p:grpSpPr>
          <p:sp>
            <p:nvSpPr>
              <p:cNvPr id="407" name="Freeform 406">
                <a:extLst>
                  <a:ext uri="{FF2B5EF4-FFF2-40B4-BE49-F238E27FC236}">
                    <a16:creationId xmlns:a16="http://schemas.microsoft.com/office/drawing/2014/main" id="{CC966F1C-A1E3-5C45-96A2-6B1B09E683C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08" name="Freeform 407">
                <a:extLst>
                  <a:ext uri="{FF2B5EF4-FFF2-40B4-BE49-F238E27FC236}">
                    <a16:creationId xmlns:a16="http://schemas.microsoft.com/office/drawing/2014/main" id="{97ECA770-694E-E24F-9999-797A6C07ED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09" name="Freeform 408">
                <a:extLst>
                  <a:ext uri="{FF2B5EF4-FFF2-40B4-BE49-F238E27FC236}">
                    <a16:creationId xmlns:a16="http://schemas.microsoft.com/office/drawing/2014/main" id="{E5D3E3BF-0513-2E4E-931E-7CA1937C20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10" name="Freeform 409">
                <a:extLst>
                  <a:ext uri="{FF2B5EF4-FFF2-40B4-BE49-F238E27FC236}">
                    <a16:creationId xmlns:a16="http://schemas.microsoft.com/office/drawing/2014/main" id="{412C650F-C0FA-0248-97F7-9D9A70090B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pSp>
      </p:grpSp>
      <p:grpSp>
        <p:nvGrpSpPr>
          <p:cNvPr id="396" name="Group 395">
            <a:extLst>
              <a:ext uri="{FF2B5EF4-FFF2-40B4-BE49-F238E27FC236}">
                <a16:creationId xmlns:a16="http://schemas.microsoft.com/office/drawing/2014/main" id="{A4FCD720-9796-A341-878E-FA6795923656}"/>
              </a:ext>
            </a:extLst>
          </p:cNvPr>
          <p:cNvGrpSpPr/>
          <p:nvPr/>
        </p:nvGrpSpPr>
        <p:grpSpPr>
          <a:xfrm>
            <a:off x="5810083" y="2299755"/>
            <a:ext cx="881870" cy="312528"/>
            <a:chOff x="3668110" y="2448910"/>
            <a:chExt cx="3794234" cy="2165130"/>
          </a:xfrm>
        </p:grpSpPr>
        <p:sp>
          <p:nvSpPr>
            <p:cNvPr id="397" name="Rectangle 396">
              <a:extLst>
                <a:ext uri="{FF2B5EF4-FFF2-40B4-BE49-F238E27FC236}">
                  <a16:creationId xmlns:a16="http://schemas.microsoft.com/office/drawing/2014/main" id="{7A60DFA1-F48E-1D4C-B020-75699DFB0A2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98" name="Freeform 397">
              <a:extLst>
                <a:ext uri="{FF2B5EF4-FFF2-40B4-BE49-F238E27FC236}">
                  <a16:creationId xmlns:a16="http://schemas.microsoft.com/office/drawing/2014/main" id="{682A9A56-08F9-894A-9036-9420C61FD9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pSp>
          <p:nvGrpSpPr>
            <p:cNvPr id="399" name="Group 398">
              <a:extLst>
                <a:ext uri="{FF2B5EF4-FFF2-40B4-BE49-F238E27FC236}">
                  <a16:creationId xmlns:a16="http://schemas.microsoft.com/office/drawing/2014/main" id="{7F9B9834-8459-A643-B4AB-42560D2CD9ED}"/>
                </a:ext>
              </a:extLst>
            </p:cNvPr>
            <p:cNvGrpSpPr/>
            <p:nvPr/>
          </p:nvGrpSpPr>
          <p:grpSpPr>
            <a:xfrm>
              <a:off x="3941378" y="2603243"/>
              <a:ext cx="3202061" cy="1066110"/>
              <a:chOff x="7939341" y="3037317"/>
              <a:chExt cx="897649" cy="353919"/>
            </a:xfrm>
          </p:grpSpPr>
          <p:sp>
            <p:nvSpPr>
              <p:cNvPr id="400" name="Freeform 399">
                <a:extLst>
                  <a:ext uri="{FF2B5EF4-FFF2-40B4-BE49-F238E27FC236}">
                    <a16:creationId xmlns:a16="http://schemas.microsoft.com/office/drawing/2014/main" id="{14D64483-06E3-A049-8E3D-0DAB33C318E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01" name="Freeform 400">
                <a:extLst>
                  <a:ext uri="{FF2B5EF4-FFF2-40B4-BE49-F238E27FC236}">
                    <a16:creationId xmlns:a16="http://schemas.microsoft.com/office/drawing/2014/main" id="{F8D997CC-88FB-274A-93F1-94C03E43788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02" name="Freeform 401">
                <a:extLst>
                  <a:ext uri="{FF2B5EF4-FFF2-40B4-BE49-F238E27FC236}">
                    <a16:creationId xmlns:a16="http://schemas.microsoft.com/office/drawing/2014/main" id="{7C3A9D2D-28D6-5D45-85B4-8A8761DA346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03" name="Freeform 402">
                <a:extLst>
                  <a:ext uri="{FF2B5EF4-FFF2-40B4-BE49-F238E27FC236}">
                    <a16:creationId xmlns:a16="http://schemas.microsoft.com/office/drawing/2014/main" id="{A5D8BF35-9324-D34D-A712-0563EFB0298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pSp>
      </p:grpSp>
      <p:sp>
        <p:nvSpPr>
          <p:cNvPr id="319" name="Line 342">
            <a:extLst>
              <a:ext uri="{FF2B5EF4-FFF2-40B4-BE49-F238E27FC236}">
                <a16:creationId xmlns:a16="http://schemas.microsoft.com/office/drawing/2014/main" id="{34E502BA-8B29-C043-B1AD-12ABDB9B56D0}"/>
              </a:ext>
            </a:extLst>
          </p:cNvPr>
          <p:cNvSpPr>
            <a:spLocks noChangeShapeType="1"/>
          </p:cNvSpPr>
          <p:nvPr/>
        </p:nvSpPr>
        <p:spPr bwMode="auto">
          <a:xfrm>
            <a:off x="4758032" y="2690368"/>
            <a:ext cx="369749" cy="21720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1600"/>
          </a:p>
        </p:txBody>
      </p:sp>
      <p:sp>
        <p:nvSpPr>
          <p:cNvPr id="369" name="Line 393">
            <a:extLst>
              <a:ext uri="{FF2B5EF4-FFF2-40B4-BE49-F238E27FC236}">
                <a16:creationId xmlns:a16="http://schemas.microsoft.com/office/drawing/2014/main" id="{EBCDBB71-5533-E348-ABDC-6A7616B095DF}"/>
              </a:ext>
            </a:extLst>
          </p:cNvPr>
          <p:cNvSpPr>
            <a:spLocks noChangeShapeType="1"/>
          </p:cNvSpPr>
          <p:nvPr/>
        </p:nvSpPr>
        <p:spPr bwMode="auto">
          <a:xfrm flipH="1">
            <a:off x="5214095" y="2587483"/>
            <a:ext cx="579702" cy="32943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1600"/>
          </a:p>
        </p:txBody>
      </p:sp>
      <p:grpSp>
        <p:nvGrpSpPr>
          <p:cNvPr id="419" name="Group 418">
            <a:extLst>
              <a:ext uri="{FF2B5EF4-FFF2-40B4-BE49-F238E27FC236}">
                <a16:creationId xmlns:a16="http://schemas.microsoft.com/office/drawing/2014/main" id="{46FE21B0-2A14-E543-8E0F-33BD68214A67}"/>
              </a:ext>
            </a:extLst>
          </p:cNvPr>
          <p:cNvGrpSpPr/>
          <p:nvPr/>
        </p:nvGrpSpPr>
        <p:grpSpPr>
          <a:xfrm>
            <a:off x="4009167" y="2420866"/>
            <a:ext cx="881870" cy="312528"/>
            <a:chOff x="3668110" y="2448910"/>
            <a:chExt cx="3794234" cy="2165130"/>
          </a:xfrm>
        </p:grpSpPr>
        <p:sp>
          <p:nvSpPr>
            <p:cNvPr id="420" name="Rectangle 419">
              <a:extLst>
                <a:ext uri="{FF2B5EF4-FFF2-40B4-BE49-F238E27FC236}">
                  <a16:creationId xmlns:a16="http://schemas.microsoft.com/office/drawing/2014/main" id="{F274DFC4-75C5-A14F-A595-4447E11F651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21" name="Freeform 420">
              <a:extLst>
                <a:ext uri="{FF2B5EF4-FFF2-40B4-BE49-F238E27FC236}">
                  <a16:creationId xmlns:a16="http://schemas.microsoft.com/office/drawing/2014/main" id="{B6C04F47-B628-C640-B4BD-852D0B9CA9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pSp>
          <p:nvGrpSpPr>
            <p:cNvPr id="422" name="Group 421">
              <a:extLst>
                <a:ext uri="{FF2B5EF4-FFF2-40B4-BE49-F238E27FC236}">
                  <a16:creationId xmlns:a16="http://schemas.microsoft.com/office/drawing/2014/main" id="{8FD10A4C-5BC1-4440-9E47-289CC78F147D}"/>
                </a:ext>
              </a:extLst>
            </p:cNvPr>
            <p:cNvGrpSpPr/>
            <p:nvPr/>
          </p:nvGrpSpPr>
          <p:grpSpPr>
            <a:xfrm>
              <a:off x="3941378" y="2603243"/>
              <a:ext cx="3202061" cy="1066110"/>
              <a:chOff x="7939341" y="3037317"/>
              <a:chExt cx="897649" cy="353919"/>
            </a:xfrm>
          </p:grpSpPr>
          <p:sp>
            <p:nvSpPr>
              <p:cNvPr id="423" name="Freeform 422">
                <a:extLst>
                  <a:ext uri="{FF2B5EF4-FFF2-40B4-BE49-F238E27FC236}">
                    <a16:creationId xmlns:a16="http://schemas.microsoft.com/office/drawing/2014/main" id="{5F5ABFA5-A0FA-A948-9FB8-59F9335417B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24" name="Freeform 423">
                <a:extLst>
                  <a:ext uri="{FF2B5EF4-FFF2-40B4-BE49-F238E27FC236}">
                    <a16:creationId xmlns:a16="http://schemas.microsoft.com/office/drawing/2014/main" id="{548E1035-CD49-5744-ADCA-210B41B34D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25" name="Freeform 424">
                <a:extLst>
                  <a:ext uri="{FF2B5EF4-FFF2-40B4-BE49-F238E27FC236}">
                    <a16:creationId xmlns:a16="http://schemas.microsoft.com/office/drawing/2014/main" id="{AA015B4B-F15A-C24D-A122-28F325D8135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26" name="Freeform 425">
                <a:extLst>
                  <a:ext uri="{FF2B5EF4-FFF2-40B4-BE49-F238E27FC236}">
                    <a16:creationId xmlns:a16="http://schemas.microsoft.com/office/drawing/2014/main" id="{B7A4BCD1-2CF2-7640-82EE-BA8AB602F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pSp>
      </p:grpSp>
    </p:spTree>
    <p:extLst>
      <p:ext uri="{BB962C8B-B14F-4D97-AF65-F5344CB8AC3E}">
        <p14:creationId xmlns:p14="http://schemas.microsoft.com/office/powerpoint/2010/main" val="268697156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55299"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02207C13-4191-4E2B-9E1A-2191127E148A}" type="slidenum">
              <a:rPr lang="en-US" altLang="en-US" sz="1200">
                <a:latin typeface="Tahoma" panose="020B0604030504040204" pitchFamily="34" charset="0"/>
              </a:rPr>
              <a:pPr>
                <a:lnSpc>
                  <a:spcPct val="100000"/>
                </a:lnSpc>
                <a:spcBef>
                  <a:spcPct val="0"/>
                </a:spcBef>
                <a:buClrTx/>
                <a:buSzTx/>
                <a:buFontTx/>
                <a:buNone/>
              </a:pPr>
              <a:t>27</a:t>
            </a:fld>
            <a:endParaRPr lang="en-US" altLang="en-US" sz="1200">
              <a:latin typeface="Tahoma" panose="020B0604030504040204" pitchFamily="34" charset="0"/>
            </a:endParaRPr>
          </a:p>
        </p:txBody>
      </p:sp>
      <p:pic>
        <p:nvPicPr>
          <p:cNvPr id="5530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6293" y="1218687"/>
            <a:ext cx="9199040" cy="4664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301" name="Graphic 4"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Wireless access networks</a:t>
            </a:r>
            <a:endParaRPr lang="en-US" dirty="0"/>
          </a:p>
        </p:txBody>
      </p:sp>
      <p:sp>
        <p:nvSpPr>
          <p:cNvPr id="274" name="Rectangle 3">
            <a:extLst>
              <a:ext uri="{FF2B5EF4-FFF2-40B4-BE49-F238E27FC236}">
                <a16:creationId xmlns:a16="http://schemas.microsoft.com/office/drawing/2014/main" id="{C852E311-2B98-3D4D-B5CD-7B58FBE2D507}"/>
              </a:ext>
            </a:extLst>
          </p:cNvPr>
          <p:cNvSpPr txBox="1">
            <a:spLocks noChangeArrowheads="1"/>
          </p:cNvSpPr>
          <p:nvPr/>
        </p:nvSpPr>
        <p:spPr>
          <a:xfrm>
            <a:off x="889001" y="1174398"/>
            <a:ext cx="9379606" cy="11186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en-US" dirty="0">
                <a:ea typeface="ＭＳ Ｐゴシック" panose="020B0600070205080204" pitchFamily="34" charset="-128"/>
              </a:rPr>
              <a:t>Shared </a:t>
            </a:r>
            <a:r>
              <a:rPr lang="en-US" altLang="en-US" i="1" dirty="0">
                <a:ea typeface="ＭＳ Ｐゴシック" panose="020B0600070205080204" pitchFamily="34" charset="-128"/>
              </a:rPr>
              <a:t>wireless</a:t>
            </a:r>
            <a:r>
              <a:rPr lang="en-US" altLang="en-US" dirty="0">
                <a:ea typeface="ＭＳ Ｐゴシック" panose="020B0600070205080204" pitchFamily="34" charset="-128"/>
              </a:rPr>
              <a:t> access network connects end system to router</a:t>
            </a:r>
          </a:p>
          <a:p>
            <a:pPr marL="339725" indent="-225425"/>
            <a:r>
              <a:rPr lang="en-US" altLang="en-US" sz="2400" dirty="0">
                <a:ea typeface="Arial" panose="020B0604020202020204" pitchFamily="34" charset="0"/>
              </a:rPr>
              <a:t>via base station aka </a:t>
            </a:r>
            <a:r>
              <a:rPr lang="en-US" altLang="en-US" sz="2400" dirty="0">
                <a:ea typeface="ＭＳ Ｐゴシック" panose="020B0600070205080204" pitchFamily="34" charset="-128"/>
              </a:rPr>
              <a:t>“</a:t>
            </a:r>
            <a:r>
              <a:rPr lang="en-US" altLang="ja-JP" sz="2400" dirty="0">
                <a:ea typeface="ＭＳ Ｐゴシック" panose="020B0600070205080204" pitchFamily="34" charset="-128"/>
              </a:rPr>
              <a:t>access point”</a:t>
            </a:r>
            <a:endParaRPr lang="en-US" altLang="en-US" sz="2400" dirty="0">
              <a:ea typeface="Arial" panose="020B0604020202020204" pitchFamily="34" charset="0"/>
            </a:endParaRPr>
          </a:p>
        </p:txBody>
      </p:sp>
      <p:sp>
        <p:nvSpPr>
          <p:cNvPr id="275" name="Rectangle 3">
            <a:extLst>
              <a:ext uri="{FF2B5EF4-FFF2-40B4-BE49-F238E27FC236}">
                <a16:creationId xmlns:a16="http://schemas.microsoft.com/office/drawing/2014/main" id="{507B7289-7AEE-9442-86FC-7846C9A20E5B}"/>
              </a:ext>
            </a:extLst>
          </p:cNvPr>
          <p:cNvSpPr>
            <a:spLocks noChangeArrowheads="1"/>
          </p:cNvSpPr>
          <p:nvPr/>
        </p:nvSpPr>
        <p:spPr bwMode="auto">
          <a:xfrm>
            <a:off x="848711" y="2383154"/>
            <a:ext cx="4720964" cy="3118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682625" indent="-225425">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20000"/>
              </a:spcBef>
              <a:buClr>
                <a:srgbClr val="000099"/>
              </a:buClr>
              <a:buSzPct val="65000"/>
              <a:buFont typeface="Wingdings" pitchFamily="2" charset="2"/>
              <a:buNone/>
            </a:pPr>
            <a:r>
              <a:rPr lang="en-US" altLang="en-US" sz="2800" dirty="0">
                <a:solidFill>
                  <a:srgbClr val="CC0000"/>
                </a:solidFill>
                <a:latin typeface="+mn-lt"/>
              </a:rPr>
              <a:t>Wireless local area networks </a:t>
            </a:r>
            <a:r>
              <a:rPr lang="en-US" altLang="en-US" sz="2000" dirty="0">
                <a:solidFill>
                  <a:srgbClr val="CC0000"/>
                </a:solidFill>
                <a:latin typeface="+mn-lt"/>
              </a:rPr>
              <a:t>(WLANs)</a:t>
            </a:r>
          </a:p>
          <a:p>
            <a:pPr marL="342900" lvl="1" indent="-260350" eaLnBrk="1" hangingPunct="1">
              <a:lnSpc>
                <a:spcPct val="90000"/>
              </a:lnSpc>
              <a:spcBef>
                <a:spcPct val="20000"/>
              </a:spcBef>
              <a:buClr>
                <a:srgbClr val="000099"/>
              </a:buClr>
              <a:buFont typeface="Wingdings" pitchFamily="2" charset="2"/>
              <a:buChar char="§"/>
            </a:pPr>
            <a:r>
              <a:rPr lang="en-US" altLang="en-US" dirty="0">
                <a:latin typeface="+mn-lt"/>
              </a:rPr>
              <a:t>typically within or around building (~100 ft)</a:t>
            </a:r>
          </a:p>
          <a:p>
            <a:pPr marL="342900" lvl="1" indent="-260350" eaLnBrk="1" hangingPunct="1">
              <a:lnSpc>
                <a:spcPct val="90000"/>
              </a:lnSpc>
              <a:spcBef>
                <a:spcPct val="20000"/>
              </a:spcBef>
              <a:buClr>
                <a:srgbClr val="000099"/>
              </a:buClr>
              <a:buFont typeface="Wingdings" pitchFamily="2" charset="2"/>
              <a:buChar char="§"/>
            </a:pPr>
            <a:r>
              <a:rPr lang="en-US" altLang="en-US" dirty="0">
                <a:latin typeface="+mn-lt"/>
              </a:rPr>
              <a:t>802.11b/g/n (</a:t>
            </a:r>
            <a:r>
              <a:rPr lang="en-US" altLang="en-US" dirty="0" err="1">
                <a:latin typeface="+mn-lt"/>
              </a:rPr>
              <a:t>WiFi</a:t>
            </a:r>
            <a:r>
              <a:rPr lang="en-US" altLang="en-US" dirty="0">
                <a:latin typeface="+mn-lt"/>
              </a:rPr>
              <a:t>): 11, 54, 450 Mbps transmission rate</a:t>
            </a:r>
          </a:p>
        </p:txBody>
      </p:sp>
      <p:grpSp>
        <p:nvGrpSpPr>
          <p:cNvPr id="276" name="Group 85">
            <a:extLst>
              <a:ext uri="{FF2B5EF4-FFF2-40B4-BE49-F238E27FC236}">
                <a16:creationId xmlns:a16="http://schemas.microsoft.com/office/drawing/2014/main" id="{1E5C1FB4-96B5-1549-9EA9-C4C877601D41}"/>
              </a:ext>
            </a:extLst>
          </p:cNvPr>
          <p:cNvGrpSpPr>
            <a:grpSpLocks/>
          </p:cNvGrpSpPr>
          <p:nvPr/>
        </p:nvGrpSpPr>
        <p:grpSpPr bwMode="auto">
          <a:xfrm>
            <a:off x="1457197" y="4740844"/>
            <a:ext cx="2487613" cy="1562100"/>
            <a:chOff x="2889" y="1631"/>
            <a:chExt cx="980" cy="743"/>
          </a:xfrm>
        </p:grpSpPr>
        <p:sp>
          <p:nvSpPr>
            <p:cNvPr id="277" name="Rectangle 86">
              <a:extLst>
                <a:ext uri="{FF2B5EF4-FFF2-40B4-BE49-F238E27FC236}">
                  <a16:creationId xmlns:a16="http://schemas.microsoft.com/office/drawing/2014/main" id="{0DEDFA50-4D81-5044-AECD-5FA9C81530F9}"/>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78" name="AutoShape 87">
              <a:extLst>
                <a:ext uri="{FF2B5EF4-FFF2-40B4-BE49-F238E27FC236}">
                  <a16:creationId xmlns:a16="http://schemas.microsoft.com/office/drawing/2014/main" id="{F3166EDD-1642-CE42-8A80-905D2B2FC163}"/>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a:solidFill>
                  <a:srgbClr val="00CCFF"/>
                </a:solidFill>
              </a:endParaRPr>
            </a:p>
          </p:txBody>
        </p:sp>
      </p:grpSp>
      <p:sp>
        <p:nvSpPr>
          <p:cNvPr id="279" name="Line 110">
            <a:extLst>
              <a:ext uri="{FF2B5EF4-FFF2-40B4-BE49-F238E27FC236}">
                <a16:creationId xmlns:a16="http://schemas.microsoft.com/office/drawing/2014/main" id="{D363724C-D4D5-AE42-B0EB-49CDF8565AE2}"/>
              </a:ext>
            </a:extLst>
          </p:cNvPr>
          <p:cNvSpPr>
            <a:spLocks noChangeShapeType="1"/>
          </p:cNvSpPr>
          <p:nvPr/>
        </p:nvSpPr>
        <p:spPr bwMode="auto">
          <a:xfrm>
            <a:off x="3123661" y="6082085"/>
            <a:ext cx="934073" cy="39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 name="Line 116">
            <a:extLst>
              <a:ext uri="{FF2B5EF4-FFF2-40B4-BE49-F238E27FC236}">
                <a16:creationId xmlns:a16="http://schemas.microsoft.com/office/drawing/2014/main" id="{C737A2C2-F349-534E-8E7F-DEE682F91C6C}"/>
              </a:ext>
            </a:extLst>
          </p:cNvPr>
          <p:cNvSpPr>
            <a:spLocks noChangeShapeType="1"/>
          </p:cNvSpPr>
          <p:nvPr/>
        </p:nvSpPr>
        <p:spPr bwMode="auto">
          <a:xfrm flipV="1">
            <a:off x="2501772" y="6010844"/>
            <a:ext cx="287338" cy="4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383" name="Group 246">
            <a:extLst>
              <a:ext uri="{FF2B5EF4-FFF2-40B4-BE49-F238E27FC236}">
                <a16:creationId xmlns:a16="http://schemas.microsoft.com/office/drawing/2014/main" id="{30E16050-D356-0644-BE98-F9013447D0E9}"/>
              </a:ext>
            </a:extLst>
          </p:cNvPr>
          <p:cNvGrpSpPr>
            <a:grpSpLocks/>
          </p:cNvGrpSpPr>
          <p:nvPr/>
        </p:nvGrpSpPr>
        <p:grpSpPr bwMode="auto">
          <a:xfrm>
            <a:off x="2025522" y="5620319"/>
            <a:ext cx="863600" cy="588962"/>
            <a:chOff x="2967" y="478"/>
            <a:chExt cx="788" cy="625"/>
          </a:xfrm>
        </p:grpSpPr>
        <p:pic>
          <p:nvPicPr>
            <p:cNvPr id="384" name="Picture 247" descr="access_point_stylized_small">
              <a:extLst>
                <a:ext uri="{FF2B5EF4-FFF2-40B4-BE49-F238E27FC236}">
                  <a16:creationId xmlns:a16="http://schemas.microsoft.com/office/drawing/2014/main" id="{38317097-25CA-3444-BCBF-133874013A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5" name="Picture 248" descr="antenna_radiation_stylized">
              <a:extLst>
                <a:ext uri="{FF2B5EF4-FFF2-40B4-BE49-F238E27FC236}">
                  <a16:creationId xmlns:a16="http://schemas.microsoft.com/office/drawing/2014/main" id="{9B8610E4-100E-B349-B08F-C4E646F538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86" name="Group 390">
            <a:extLst>
              <a:ext uri="{FF2B5EF4-FFF2-40B4-BE49-F238E27FC236}">
                <a16:creationId xmlns:a16="http://schemas.microsoft.com/office/drawing/2014/main" id="{FAAA55DA-ADE3-E443-841D-CDBF9B4C27F7}"/>
              </a:ext>
            </a:extLst>
          </p:cNvPr>
          <p:cNvGrpSpPr>
            <a:grpSpLocks/>
          </p:cNvGrpSpPr>
          <p:nvPr/>
        </p:nvGrpSpPr>
        <p:grpSpPr bwMode="auto">
          <a:xfrm>
            <a:off x="1939797" y="4851969"/>
            <a:ext cx="757238" cy="682625"/>
            <a:chOff x="877" y="1008"/>
            <a:chExt cx="2747" cy="2591"/>
          </a:xfrm>
        </p:grpSpPr>
        <p:pic>
          <p:nvPicPr>
            <p:cNvPr id="387" name="Picture 391" descr="antenna_stylized">
              <a:extLst>
                <a:ext uri="{FF2B5EF4-FFF2-40B4-BE49-F238E27FC236}">
                  <a16:creationId xmlns:a16="http://schemas.microsoft.com/office/drawing/2014/main" id="{1DEF40AC-79A6-904A-A606-A1BAF512D02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8" name="Picture 392" descr="laptop_keyboard">
              <a:extLst>
                <a:ext uri="{FF2B5EF4-FFF2-40B4-BE49-F238E27FC236}">
                  <a16:creationId xmlns:a16="http://schemas.microsoft.com/office/drawing/2014/main" id="{54169649-35A6-144B-A18B-136B61B7219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 name="Freeform 393">
              <a:extLst>
                <a:ext uri="{FF2B5EF4-FFF2-40B4-BE49-F238E27FC236}">
                  <a16:creationId xmlns:a16="http://schemas.microsoft.com/office/drawing/2014/main" id="{1334E773-93FF-1842-83E0-85D95285109E}"/>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390" name="Picture 394" descr="screen">
              <a:extLst>
                <a:ext uri="{FF2B5EF4-FFF2-40B4-BE49-F238E27FC236}">
                  <a16:creationId xmlns:a16="http://schemas.microsoft.com/office/drawing/2014/main" id="{2EE963A1-67D0-6C4D-B557-6D983D06492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1" name="Freeform 395">
              <a:extLst>
                <a:ext uri="{FF2B5EF4-FFF2-40B4-BE49-F238E27FC236}">
                  <a16:creationId xmlns:a16="http://schemas.microsoft.com/office/drawing/2014/main" id="{4490769E-9EE9-744B-8B95-4D0EA5E2CB9F}"/>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 name="Freeform 396">
              <a:extLst>
                <a:ext uri="{FF2B5EF4-FFF2-40B4-BE49-F238E27FC236}">
                  <a16:creationId xmlns:a16="http://schemas.microsoft.com/office/drawing/2014/main" id="{86B549E5-F6AB-0243-8BA4-02E6A5C61FA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 name="Freeform 397">
              <a:extLst>
                <a:ext uri="{FF2B5EF4-FFF2-40B4-BE49-F238E27FC236}">
                  <a16:creationId xmlns:a16="http://schemas.microsoft.com/office/drawing/2014/main" id="{2158DB92-5A91-F54B-89BD-22C15347A39C}"/>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 name="Freeform 398">
              <a:extLst>
                <a:ext uri="{FF2B5EF4-FFF2-40B4-BE49-F238E27FC236}">
                  <a16:creationId xmlns:a16="http://schemas.microsoft.com/office/drawing/2014/main" id="{064AA7AE-552D-FC4B-AB18-43DD23E76E1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 name="Freeform 399">
              <a:extLst>
                <a:ext uri="{FF2B5EF4-FFF2-40B4-BE49-F238E27FC236}">
                  <a16:creationId xmlns:a16="http://schemas.microsoft.com/office/drawing/2014/main" id="{B109158B-A820-0C43-A7F4-AD2D27EBF217}"/>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2" name="Freeform 400">
              <a:extLst>
                <a:ext uri="{FF2B5EF4-FFF2-40B4-BE49-F238E27FC236}">
                  <a16:creationId xmlns:a16="http://schemas.microsoft.com/office/drawing/2014/main" id="{2B4B0633-4E89-864D-99B5-B369ABA21EF0}"/>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13" name="Group 401">
              <a:extLst>
                <a:ext uri="{FF2B5EF4-FFF2-40B4-BE49-F238E27FC236}">
                  <a16:creationId xmlns:a16="http://schemas.microsoft.com/office/drawing/2014/main" id="{D30B7833-DC10-DB4C-891B-956E992BBA0A}"/>
                </a:ext>
              </a:extLst>
            </p:cNvPr>
            <p:cNvGrpSpPr>
              <a:grpSpLocks/>
            </p:cNvGrpSpPr>
            <p:nvPr/>
          </p:nvGrpSpPr>
          <p:grpSpPr bwMode="auto">
            <a:xfrm>
              <a:off x="1709" y="3008"/>
              <a:ext cx="507" cy="234"/>
              <a:chOff x="1740" y="2642"/>
              <a:chExt cx="752" cy="327"/>
            </a:xfrm>
          </p:grpSpPr>
          <p:sp>
            <p:nvSpPr>
              <p:cNvPr id="428" name="Freeform 402">
                <a:extLst>
                  <a:ext uri="{FF2B5EF4-FFF2-40B4-BE49-F238E27FC236}">
                    <a16:creationId xmlns:a16="http://schemas.microsoft.com/office/drawing/2014/main" id="{2A2DF47F-482A-4C4B-8F26-E682B9C84C1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9" name="Freeform 403">
                <a:extLst>
                  <a:ext uri="{FF2B5EF4-FFF2-40B4-BE49-F238E27FC236}">
                    <a16:creationId xmlns:a16="http://schemas.microsoft.com/office/drawing/2014/main" id="{D89B427F-55D6-7F48-A040-E93E341821F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 name="Freeform 404">
                <a:extLst>
                  <a:ext uri="{FF2B5EF4-FFF2-40B4-BE49-F238E27FC236}">
                    <a16:creationId xmlns:a16="http://schemas.microsoft.com/office/drawing/2014/main" id="{B8497482-C311-8A49-8EA0-97A9755C84E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1" name="Freeform 405">
                <a:extLst>
                  <a:ext uri="{FF2B5EF4-FFF2-40B4-BE49-F238E27FC236}">
                    <a16:creationId xmlns:a16="http://schemas.microsoft.com/office/drawing/2014/main" id="{79ECED84-E4CB-694E-A50E-9D06939B3FC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2" name="Freeform 406">
                <a:extLst>
                  <a:ext uri="{FF2B5EF4-FFF2-40B4-BE49-F238E27FC236}">
                    <a16:creationId xmlns:a16="http://schemas.microsoft.com/office/drawing/2014/main" id="{80C19383-6CF7-544E-AD91-DC62824CFF4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3" name="Freeform 407">
                <a:extLst>
                  <a:ext uri="{FF2B5EF4-FFF2-40B4-BE49-F238E27FC236}">
                    <a16:creationId xmlns:a16="http://schemas.microsoft.com/office/drawing/2014/main" id="{694FEF7D-90AA-B64C-B271-895E860B0F7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14" name="Freeform 408">
              <a:extLst>
                <a:ext uri="{FF2B5EF4-FFF2-40B4-BE49-F238E27FC236}">
                  <a16:creationId xmlns:a16="http://schemas.microsoft.com/office/drawing/2014/main" id="{FCA32457-04CE-CC41-86F1-43D4958F94DA}"/>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5" name="Freeform 409">
              <a:extLst>
                <a:ext uri="{FF2B5EF4-FFF2-40B4-BE49-F238E27FC236}">
                  <a16:creationId xmlns:a16="http://schemas.microsoft.com/office/drawing/2014/main" id="{A9D5B70C-2017-CC4E-8B0F-6BF50D56D48B}"/>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6" name="Freeform 410">
              <a:extLst>
                <a:ext uri="{FF2B5EF4-FFF2-40B4-BE49-F238E27FC236}">
                  <a16:creationId xmlns:a16="http://schemas.microsoft.com/office/drawing/2014/main" id="{8E9EA5E7-2B72-5945-B81D-B56209A4BD9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7" name="Freeform 411">
              <a:extLst>
                <a:ext uri="{FF2B5EF4-FFF2-40B4-BE49-F238E27FC236}">
                  <a16:creationId xmlns:a16="http://schemas.microsoft.com/office/drawing/2014/main" id="{3086408F-FB97-0342-9DF4-2F6CEF480A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8" name="Freeform 412">
              <a:extLst>
                <a:ext uri="{FF2B5EF4-FFF2-40B4-BE49-F238E27FC236}">
                  <a16:creationId xmlns:a16="http://schemas.microsoft.com/office/drawing/2014/main" id="{A65312A3-A823-6847-AFEB-6B5C6CF2DAA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7" name="Freeform 413">
              <a:extLst>
                <a:ext uri="{FF2B5EF4-FFF2-40B4-BE49-F238E27FC236}">
                  <a16:creationId xmlns:a16="http://schemas.microsoft.com/office/drawing/2014/main" id="{01CB1475-1200-8E4F-A96B-22BBF439F5B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94" name="Text Box 446">
            <a:extLst>
              <a:ext uri="{FF2B5EF4-FFF2-40B4-BE49-F238E27FC236}">
                <a16:creationId xmlns:a16="http://schemas.microsoft.com/office/drawing/2014/main" id="{77B0C617-629A-E847-826F-89D4A80DBAF0}"/>
              </a:ext>
            </a:extLst>
          </p:cNvPr>
          <p:cNvSpPr txBox="1">
            <a:spLocks noChangeArrowheads="1"/>
          </p:cNvSpPr>
          <p:nvPr/>
        </p:nvSpPr>
        <p:spPr bwMode="auto">
          <a:xfrm>
            <a:off x="3690431" y="6037217"/>
            <a:ext cx="1212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i="1" dirty="0">
                <a:latin typeface="+mn-lt"/>
              </a:rPr>
              <a:t>to Internet</a:t>
            </a:r>
          </a:p>
        </p:txBody>
      </p:sp>
      <p:grpSp>
        <p:nvGrpSpPr>
          <p:cNvPr id="496" name="Group 114">
            <a:extLst>
              <a:ext uri="{FF2B5EF4-FFF2-40B4-BE49-F238E27FC236}">
                <a16:creationId xmlns:a16="http://schemas.microsoft.com/office/drawing/2014/main" id="{B6E0C4FE-F286-644F-BAC2-A1DC8618FFCA}"/>
              </a:ext>
            </a:extLst>
          </p:cNvPr>
          <p:cNvGrpSpPr>
            <a:grpSpLocks/>
          </p:cNvGrpSpPr>
          <p:nvPr/>
        </p:nvGrpSpPr>
        <p:grpSpPr bwMode="auto">
          <a:xfrm>
            <a:off x="2828797" y="4912294"/>
            <a:ext cx="636588" cy="879475"/>
            <a:chOff x="5806938" y="3011924"/>
            <a:chExt cx="347997" cy="396620"/>
          </a:xfrm>
        </p:grpSpPr>
        <p:pic>
          <p:nvPicPr>
            <p:cNvPr id="497" name="Picture 117" descr="fridge2.png">
              <a:extLst>
                <a:ext uri="{FF2B5EF4-FFF2-40B4-BE49-F238E27FC236}">
                  <a16:creationId xmlns:a16="http://schemas.microsoft.com/office/drawing/2014/main" id="{092DD1DD-274C-5543-92C3-6F5EA0CEC254}"/>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5906702" y="30715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115" descr="antenna_stylized">
              <a:extLst>
                <a:ext uri="{FF2B5EF4-FFF2-40B4-BE49-F238E27FC236}">
                  <a16:creationId xmlns:a16="http://schemas.microsoft.com/office/drawing/2014/main" id="{77E3B796-99C6-C544-AF7A-E6CF22C59D3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6938" y="30119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20" name="Group 519">
            <a:extLst>
              <a:ext uri="{FF2B5EF4-FFF2-40B4-BE49-F238E27FC236}">
                <a16:creationId xmlns:a16="http://schemas.microsoft.com/office/drawing/2014/main" id="{A8AFD06E-51F7-BC46-9B65-24254676E3FB}"/>
              </a:ext>
            </a:extLst>
          </p:cNvPr>
          <p:cNvGrpSpPr/>
          <p:nvPr/>
        </p:nvGrpSpPr>
        <p:grpSpPr>
          <a:xfrm>
            <a:off x="2789999" y="5883655"/>
            <a:ext cx="686068" cy="362749"/>
            <a:chOff x="7493876" y="2774731"/>
            <a:chExt cx="1481958" cy="894622"/>
          </a:xfrm>
        </p:grpSpPr>
        <p:sp>
          <p:nvSpPr>
            <p:cNvPr id="521" name="Freeform 520">
              <a:extLst>
                <a:ext uri="{FF2B5EF4-FFF2-40B4-BE49-F238E27FC236}">
                  <a16:creationId xmlns:a16="http://schemas.microsoft.com/office/drawing/2014/main" id="{9B3AF3CF-631D-C049-AEC8-6B1A6454821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22" name="Oval 521">
              <a:extLst>
                <a:ext uri="{FF2B5EF4-FFF2-40B4-BE49-F238E27FC236}">
                  <a16:creationId xmlns:a16="http://schemas.microsoft.com/office/drawing/2014/main" id="{52CF3104-11F0-AB47-A540-B9EEE075A8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23" name="Group 522">
              <a:extLst>
                <a:ext uri="{FF2B5EF4-FFF2-40B4-BE49-F238E27FC236}">
                  <a16:creationId xmlns:a16="http://schemas.microsoft.com/office/drawing/2014/main" id="{D6B1DC5D-1FB3-ED43-B200-16DCD1485E7D}"/>
                </a:ext>
              </a:extLst>
            </p:cNvPr>
            <p:cNvGrpSpPr/>
            <p:nvPr/>
          </p:nvGrpSpPr>
          <p:grpSpPr>
            <a:xfrm>
              <a:off x="7713663" y="2848339"/>
              <a:ext cx="1042107" cy="425543"/>
              <a:chOff x="7786941" y="2884917"/>
              <a:chExt cx="897649" cy="353919"/>
            </a:xfrm>
          </p:grpSpPr>
          <p:sp>
            <p:nvSpPr>
              <p:cNvPr id="524" name="Freeform 523">
                <a:extLst>
                  <a:ext uri="{FF2B5EF4-FFF2-40B4-BE49-F238E27FC236}">
                    <a16:creationId xmlns:a16="http://schemas.microsoft.com/office/drawing/2014/main" id="{6E2041D5-1650-8247-B5F1-4231E7A552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6C9729AF-3D56-0B4F-99AF-A7E8368674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58CA7E-67F5-574F-92F8-05C1E26C15B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6460EEC5-0ECA-EF4B-8CD6-D1A9A438051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 name="Group 1">
            <a:extLst>
              <a:ext uri="{FF2B5EF4-FFF2-40B4-BE49-F238E27FC236}">
                <a16:creationId xmlns:a16="http://schemas.microsoft.com/office/drawing/2014/main" id="{0A10AE25-0B57-C546-B85A-8CA4E50124F9}"/>
              </a:ext>
            </a:extLst>
          </p:cNvPr>
          <p:cNvGrpSpPr/>
          <p:nvPr/>
        </p:nvGrpSpPr>
        <p:grpSpPr>
          <a:xfrm>
            <a:off x="6622327" y="1977830"/>
            <a:ext cx="5443549" cy="4198133"/>
            <a:chOff x="6622327" y="1977830"/>
            <a:chExt cx="5443549" cy="4198133"/>
          </a:xfrm>
        </p:grpSpPr>
        <p:sp>
          <p:nvSpPr>
            <p:cNvPr id="435" name="Freeform 84">
              <a:extLst>
                <a:ext uri="{FF2B5EF4-FFF2-40B4-BE49-F238E27FC236}">
                  <a16:creationId xmlns:a16="http://schemas.microsoft.com/office/drawing/2014/main" id="{9CDCB2CD-4EE3-8A41-9279-3F5B5ED7EA24}"/>
                </a:ext>
              </a:extLst>
            </p:cNvPr>
            <p:cNvSpPr>
              <a:spLocks/>
            </p:cNvSpPr>
            <p:nvPr/>
          </p:nvSpPr>
          <p:spPr bwMode="auto">
            <a:xfrm>
              <a:off x="6874928" y="4765952"/>
              <a:ext cx="2365994" cy="1410011"/>
            </a:xfrm>
            <a:custGeom>
              <a:avLst/>
              <a:gdLst>
                <a:gd name="T0" fmla="*/ 1388 w 1036"/>
                <a:gd name="T1" fmla="*/ 11 h 675"/>
                <a:gd name="T2" fmla="*/ 837 w 1036"/>
                <a:gd name="T3" fmla="*/ 53 h 675"/>
                <a:gd name="T4" fmla="*/ 442 w 1036"/>
                <a:gd name="T5" fmla="*/ 129 h 675"/>
                <a:gd name="T6" fmla="*/ 329 w 1036"/>
                <a:gd name="T7" fmla="*/ 229 h 675"/>
                <a:gd name="T8" fmla="*/ 45 w 1036"/>
                <a:gd name="T9" fmla="*/ 297 h 675"/>
                <a:gd name="T10" fmla="*/ 37 w 1036"/>
                <a:gd name="T11" fmla="*/ 459 h 675"/>
                <a:gd name="T12" fmla="*/ 282 w 1036"/>
                <a:gd name="T13" fmla="*/ 489 h 675"/>
                <a:gd name="T14" fmla="*/ 984 w 1036"/>
                <a:gd name="T15" fmla="*/ 489 h 675"/>
                <a:gd name="T16" fmla="*/ 1281 w 1036"/>
                <a:gd name="T17" fmla="*/ 555 h 675"/>
                <a:gd name="T18" fmla="*/ 1612 w 1036"/>
                <a:gd name="T19" fmla="*/ 657 h 675"/>
                <a:gd name="T20" fmla="*/ 1865 w 1036"/>
                <a:gd name="T21" fmla="*/ 661 h 675"/>
                <a:gd name="T22" fmla="*/ 2039 w 1036"/>
                <a:gd name="T23" fmla="*/ 603 h 675"/>
                <a:gd name="T24" fmla="*/ 2128 w 1036"/>
                <a:gd name="T25" fmla="*/ 445 h 675"/>
                <a:gd name="T26" fmla="*/ 2183 w 1036"/>
                <a:gd name="T27" fmla="*/ 291 h 675"/>
                <a:gd name="T28" fmla="*/ 2189 w 1036"/>
                <a:gd name="T29" fmla="*/ 107 h 675"/>
                <a:gd name="T30" fmla="*/ 2001 w 1036"/>
                <a:gd name="T31" fmla="*/ 17 h 675"/>
                <a:gd name="T32" fmla="*/ 1662 w 1036"/>
                <a:gd name="T33" fmla="*/ 3 h 675"/>
                <a:gd name="T34" fmla="*/ 1388 w 1036"/>
                <a:gd name="T35" fmla="*/ 11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436" name="Line 93">
              <a:extLst>
                <a:ext uri="{FF2B5EF4-FFF2-40B4-BE49-F238E27FC236}">
                  <a16:creationId xmlns:a16="http://schemas.microsoft.com/office/drawing/2014/main" id="{6FDAE611-2E57-5A47-872E-E5E3B5F0E4ED}"/>
                </a:ext>
              </a:extLst>
            </p:cNvPr>
            <p:cNvSpPr>
              <a:spLocks noChangeShapeType="1"/>
            </p:cNvSpPr>
            <p:nvPr/>
          </p:nvSpPr>
          <p:spPr bwMode="auto">
            <a:xfrm>
              <a:off x="8360702" y="5771600"/>
              <a:ext cx="203294" cy="32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437" name="Picture 133" descr="car_icon_small">
              <a:extLst>
                <a:ext uri="{FF2B5EF4-FFF2-40B4-BE49-F238E27FC236}">
                  <a16:creationId xmlns:a16="http://schemas.microsoft.com/office/drawing/2014/main" id="{637721B2-956D-D641-840D-1562F36440B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747" y="4780575"/>
              <a:ext cx="1157044" cy="221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8" name="Group 134">
              <a:extLst>
                <a:ext uri="{FF2B5EF4-FFF2-40B4-BE49-F238E27FC236}">
                  <a16:creationId xmlns:a16="http://schemas.microsoft.com/office/drawing/2014/main" id="{0F7E2BCC-C8D7-BB4F-9192-511E99286097}"/>
                </a:ext>
              </a:extLst>
            </p:cNvPr>
            <p:cNvGrpSpPr>
              <a:grpSpLocks/>
            </p:cNvGrpSpPr>
            <p:nvPr/>
          </p:nvGrpSpPr>
          <p:grpSpPr bwMode="auto">
            <a:xfrm>
              <a:off x="7435067" y="4550795"/>
              <a:ext cx="566627" cy="507604"/>
              <a:chOff x="2751" y="1851"/>
              <a:chExt cx="462" cy="478"/>
            </a:xfrm>
          </p:grpSpPr>
          <p:pic>
            <p:nvPicPr>
              <p:cNvPr id="492" name="Picture 135" descr="iphone_stylized_small">
                <a:extLst>
                  <a:ext uri="{FF2B5EF4-FFF2-40B4-BE49-F238E27FC236}">
                    <a16:creationId xmlns:a16="http://schemas.microsoft.com/office/drawing/2014/main" id="{D235C6D0-2907-324E-B167-1D284A7162D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136" descr="antenna_radiation_stylized">
                <a:extLst>
                  <a:ext uri="{FF2B5EF4-FFF2-40B4-BE49-F238E27FC236}">
                    <a16:creationId xmlns:a16="http://schemas.microsoft.com/office/drawing/2014/main" id="{28B99AF5-1D2E-3E41-B4BF-B68E85E0F0B4}"/>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9" name="Group 252">
              <a:extLst>
                <a:ext uri="{FF2B5EF4-FFF2-40B4-BE49-F238E27FC236}">
                  <a16:creationId xmlns:a16="http://schemas.microsoft.com/office/drawing/2014/main" id="{50E2A8EC-FB31-5641-8D7F-E159AC664424}"/>
                </a:ext>
              </a:extLst>
            </p:cNvPr>
            <p:cNvGrpSpPr>
              <a:grpSpLocks/>
            </p:cNvGrpSpPr>
            <p:nvPr/>
          </p:nvGrpSpPr>
          <p:grpSpPr bwMode="auto">
            <a:xfrm>
              <a:off x="8044949" y="4943509"/>
              <a:ext cx="622858" cy="831384"/>
              <a:chOff x="742" y="2409"/>
              <a:chExt cx="576" cy="881"/>
            </a:xfrm>
          </p:grpSpPr>
          <p:grpSp>
            <p:nvGrpSpPr>
              <p:cNvPr id="474" name="Group 253">
                <a:extLst>
                  <a:ext uri="{FF2B5EF4-FFF2-40B4-BE49-F238E27FC236}">
                    <a16:creationId xmlns:a16="http://schemas.microsoft.com/office/drawing/2014/main" id="{C32350E9-2A70-3C4B-AF84-F993852C3FDF}"/>
                  </a:ext>
                </a:extLst>
              </p:cNvPr>
              <p:cNvGrpSpPr>
                <a:grpSpLocks/>
              </p:cNvGrpSpPr>
              <p:nvPr/>
            </p:nvGrpSpPr>
            <p:grpSpPr bwMode="auto">
              <a:xfrm>
                <a:off x="832" y="2643"/>
                <a:ext cx="376" cy="647"/>
                <a:chOff x="3130" y="3288"/>
                <a:chExt cx="410" cy="742"/>
              </a:xfrm>
            </p:grpSpPr>
            <p:sp>
              <p:nvSpPr>
                <p:cNvPr id="477" name="Line 270">
                  <a:extLst>
                    <a:ext uri="{FF2B5EF4-FFF2-40B4-BE49-F238E27FC236}">
                      <a16:creationId xmlns:a16="http://schemas.microsoft.com/office/drawing/2014/main" id="{8583BEF8-BEDA-F244-88A4-7F9104FF6399}"/>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78" name="Line 271">
                  <a:extLst>
                    <a:ext uri="{FF2B5EF4-FFF2-40B4-BE49-F238E27FC236}">
                      <a16:creationId xmlns:a16="http://schemas.microsoft.com/office/drawing/2014/main" id="{851DA692-9982-CD45-B908-27C6FE3171FA}"/>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79" name="Line 272">
                  <a:extLst>
                    <a:ext uri="{FF2B5EF4-FFF2-40B4-BE49-F238E27FC236}">
                      <a16:creationId xmlns:a16="http://schemas.microsoft.com/office/drawing/2014/main" id="{0EDF8D44-8A7A-9A44-890A-50EFE9EAB98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0" name="Line 273">
                  <a:extLst>
                    <a:ext uri="{FF2B5EF4-FFF2-40B4-BE49-F238E27FC236}">
                      <a16:creationId xmlns:a16="http://schemas.microsoft.com/office/drawing/2014/main" id="{7DA30A0E-02A3-004E-95E6-34261D127CEF}"/>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1" name="Line 274">
                  <a:extLst>
                    <a:ext uri="{FF2B5EF4-FFF2-40B4-BE49-F238E27FC236}">
                      <a16:creationId xmlns:a16="http://schemas.microsoft.com/office/drawing/2014/main" id="{F656242D-4E39-AF46-854A-36BE29E10431}"/>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2" name="Line 275">
                  <a:extLst>
                    <a:ext uri="{FF2B5EF4-FFF2-40B4-BE49-F238E27FC236}">
                      <a16:creationId xmlns:a16="http://schemas.microsoft.com/office/drawing/2014/main" id="{10AB3D00-F920-FF4C-8064-0CC634E57B1A}"/>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3" name="Line 276">
                  <a:extLst>
                    <a:ext uri="{FF2B5EF4-FFF2-40B4-BE49-F238E27FC236}">
                      <a16:creationId xmlns:a16="http://schemas.microsoft.com/office/drawing/2014/main" id="{183C87D5-A0A3-D349-9E9E-90CFF4AA1E3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4" name="Line 277">
                  <a:extLst>
                    <a:ext uri="{FF2B5EF4-FFF2-40B4-BE49-F238E27FC236}">
                      <a16:creationId xmlns:a16="http://schemas.microsoft.com/office/drawing/2014/main" id="{DE4F5680-31BA-7D4A-9D85-201D7A1790DC}"/>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5" name="Line 278">
                  <a:extLst>
                    <a:ext uri="{FF2B5EF4-FFF2-40B4-BE49-F238E27FC236}">
                      <a16:creationId xmlns:a16="http://schemas.microsoft.com/office/drawing/2014/main" id="{CA71A0A2-238B-6D4B-AC81-BCE2F78CD6B6}"/>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6" name="Line 279">
                  <a:extLst>
                    <a:ext uri="{FF2B5EF4-FFF2-40B4-BE49-F238E27FC236}">
                      <a16:creationId xmlns:a16="http://schemas.microsoft.com/office/drawing/2014/main" id="{6FCF58F0-3A90-0543-85ED-923CE620E00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7" name="Line 280">
                  <a:extLst>
                    <a:ext uri="{FF2B5EF4-FFF2-40B4-BE49-F238E27FC236}">
                      <a16:creationId xmlns:a16="http://schemas.microsoft.com/office/drawing/2014/main" id="{FB6B6298-E1B6-CD4D-909E-E331723D8BE1}"/>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8" name="Line 281">
                  <a:extLst>
                    <a:ext uri="{FF2B5EF4-FFF2-40B4-BE49-F238E27FC236}">
                      <a16:creationId xmlns:a16="http://schemas.microsoft.com/office/drawing/2014/main" id="{67EB7EA1-CA9C-3F43-BF34-9263C9C642E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89" name="Line 282">
                  <a:extLst>
                    <a:ext uri="{FF2B5EF4-FFF2-40B4-BE49-F238E27FC236}">
                      <a16:creationId xmlns:a16="http://schemas.microsoft.com/office/drawing/2014/main" id="{EDF8C0D4-1D23-FC49-888E-6E37A464090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90" name="Line 283">
                  <a:extLst>
                    <a:ext uri="{FF2B5EF4-FFF2-40B4-BE49-F238E27FC236}">
                      <a16:creationId xmlns:a16="http://schemas.microsoft.com/office/drawing/2014/main" id="{67F7C046-7A3F-F342-BB54-DCA37FD3E87F}"/>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491" name="Line 284">
                  <a:extLst>
                    <a:ext uri="{FF2B5EF4-FFF2-40B4-BE49-F238E27FC236}">
                      <a16:creationId xmlns:a16="http://schemas.microsoft.com/office/drawing/2014/main" id="{B5CE6A48-9C71-BA49-B354-FB1B882DA40E}"/>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475" name="Picture 269" descr="cell_tower_radiation copy">
                <a:extLst>
                  <a:ext uri="{FF2B5EF4-FFF2-40B4-BE49-F238E27FC236}">
                    <a16:creationId xmlns:a16="http://schemas.microsoft.com/office/drawing/2014/main" id="{07541E4F-69A0-9B40-B347-340BAEF7704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2" y="2409"/>
                <a:ext cx="5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6" name="Oval 270">
                <a:extLst>
                  <a:ext uri="{FF2B5EF4-FFF2-40B4-BE49-F238E27FC236}">
                    <a16:creationId xmlns:a16="http://schemas.microsoft.com/office/drawing/2014/main" id="{E70C0C6B-13F2-DD4E-A1F5-A46EEABDE586}"/>
                  </a:ext>
                </a:extLst>
              </p:cNvPr>
              <p:cNvSpPr>
                <a:spLocks noChangeArrowheads="1"/>
              </p:cNvSpPr>
              <p:nvPr/>
            </p:nvSpPr>
            <p:spPr bwMode="auto">
              <a:xfrm>
                <a:off x="986" y="2597"/>
                <a:ext cx="65" cy="67"/>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grpSp>
          <p:nvGrpSpPr>
            <p:cNvPr id="440" name="Group 342">
              <a:extLst>
                <a:ext uri="{FF2B5EF4-FFF2-40B4-BE49-F238E27FC236}">
                  <a16:creationId xmlns:a16="http://schemas.microsoft.com/office/drawing/2014/main" id="{E3D3FCB3-71E6-DE44-8A87-D991FFC36EEE}"/>
                </a:ext>
              </a:extLst>
            </p:cNvPr>
            <p:cNvGrpSpPr>
              <a:grpSpLocks/>
            </p:cNvGrpSpPr>
            <p:nvPr/>
          </p:nvGrpSpPr>
          <p:grpSpPr bwMode="auto">
            <a:xfrm>
              <a:off x="7011178" y="5204622"/>
              <a:ext cx="728830" cy="536849"/>
              <a:chOff x="877" y="1008"/>
              <a:chExt cx="2747" cy="2591"/>
            </a:xfrm>
          </p:grpSpPr>
          <p:pic>
            <p:nvPicPr>
              <p:cNvPr id="451" name="Picture 343" descr="antenna_stylized">
                <a:extLst>
                  <a:ext uri="{FF2B5EF4-FFF2-40B4-BE49-F238E27FC236}">
                    <a16:creationId xmlns:a16="http://schemas.microsoft.com/office/drawing/2014/main" id="{A6B9A133-8E91-AE41-9A82-C38BA1D1E0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2" name="Picture 344" descr="laptop_keyboard">
                <a:extLst>
                  <a:ext uri="{FF2B5EF4-FFF2-40B4-BE49-F238E27FC236}">
                    <a16:creationId xmlns:a16="http://schemas.microsoft.com/office/drawing/2014/main" id="{4935A9F8-287E-E64E-9A9A-DDFACF42A837}"/>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345">
                <a:extLst>
                  <a:ext uri="{FF2B5EF4-FFF2-40B4-BE49-F238E27FC236}">
                    <a16:creationId xmlns:a16="http://schemas.microsoft.com/office/drawing/2014/main" id="{0F1D7158-01AF-CC4D-B0F9-AD2B12BE710F}"/>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454" name="Picture 346" descr="screen">
                <a:extLst>
                  <a:ext uri="{FF2B5EF4-FFF2-40B4-BE49-F238E27FC236}">
                    <a16:creationId xmlns:a16="http://schemas.microsoft.com/office/drawing/2014/main" id="{4369ED44-99D4-8B4C-9091-3892F20AB47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47">
                <a:extLst>
                  <a:ext uri="{FF2B5EF4-FFF2-40B4-BE49-F238E27FC236}">
                    <a16:creationId xmlns:a16="http://schemas.microsoft.com/office/drawing/2014/main" id="{67E4F183-1729-1D46-B293-5D756953589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6" name="Freeform 348">
                <a:extLst>
                  <a:ext uri="{FF2B5EF4-FFF2-40B4-BE49-F238E27FC236}">
                    <a16:creationId xmlns:a16="http://schemas.microsoft.com/office/drawing/2014/main" id="{DDF32966-5894-0D4B-9173-E3125F5B266F}"/>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7" name="Freeform 349">
                <a:extLst>
                  <a:ext uri="{FF2B5EF4-FFF2-40B4-BE49-F238E27FC236}">
                    <a16:creationId xmlns:a16="http://schemas.microsoft.com/office/drawing/2014/main" id="{EDCA5A12-6CCA-B24C-8A6D-494F3C007D8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8" name="Freeform 350">
                <a:extLst>
                  <a:ext uri="{FF2B5EF4-FFF2-40B4-BE49-F238E27FC236}">
                    <a16:creationId xmlns:a16="http://schemas.microsoft.com/office/drawing/2014/main" id="{2FDB6017-5761-3845-880C-92229B5C02B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9" name="Freeform 351">
                <a:extLst>
                  <a:ext uri="{FF2B5EF4-FFF2-40B4-BE49-F238E27FC236}">
                    <a16:creationId xmlns:a16="http://schemas.microsoft.com/office/drawing/2014/main" id="{D59CB996-4740-0C4D-A75E-DE481063867D}"/>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0" name="Freeform 352">
                <a:extLst>
                  <a:ext uri="{FF2B5EF4-FFF2-40B4-BE49-F238E27FC236}">
                    <a16:creationId xmlns:a16="http://schemas.microsoft.com/office/drawing/2014/main" id="{5312999F-D54F-1A4D-9720-CF319636168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61" name="Group 353">
                <a:extLst>
                  <a:ext uri="{FF2B5EF4-FFF2-40B4-BE49-F238E27FC236}">
                    <a16:creationId xmlns:a16="http://schemas.microsoft.com/office/drawing/2014/main" id="{3582A132-591C-CA4B-9465-7F64474005F0}"/>
                  </a:ext>
                </a:extLst>
              </p:cNvPr>
              <p:cNvGrpSpPr>
                <a:grpSpLocks/>
              </p:cNvGrpSpPr>
              <p:nvPr/>
            </p:nvGrpSpPr>
            <p:grpSpPr bwMode="auto">
              <a:xfrm>
                <a:off x="1709" y="3008"/>
                <a:ext cx="507" cy="234"/>
                <a:chOff x="1740" y="2642"/>
                <a:chExt cx="752" cy="327"/>
              </a:xfrm>
            </p:grpSpPr>
            <p:sp>
              <p:nvSpPr>
                <p:cNvPr id="468" name="Freeform 354">
                  <a:extLst>
                    <a:ext uri="{FF2B5EF4-FFF2-40B4-BE49-F238E27FC236}">
                      <a16:creationId xmlns:a16="http://schemas.microsoft.com/office/drawing/2014/main" id="{A7F9DE10-10D5-FF46-8F98-AFC1696E3C0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9" name="Freeform 355">
                  <a:extLst>
                    <a:ext uri="{FF2B5EF4-FFF2-40B4-BE49-F238E27FC236}">
                      <a16:creationId xmlns:a16="http://schemas.microsoft.com/office/drawing/2014/main" id="{61166FBA-E660-3D40-AC29-29461BA3F63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0" name="Freeform 356">
                  <a:extLst>
                    <a:ext uri="{FF2B5EF4-FFF2-40B4-BE49-F238E27FC236}">
                      <a16:creationId xmlns:a16="http://schemas.microsoft.com/office/drawing/2014/main" id="{0301AC7E-4E70-6D44-8036-F42387066FE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 name="Freeform 357">
                  <a:extLst>
                    <a:ext uri="{FF2B5EF4-FFF2-40B4-BE49-F238E27FC236}">
                      <a16:creationId xmlns:a16="http://schemas.microsoft.com/office/drawing/2014/main" id="{4EDBF937-AECE-F044-BBD1-C4949284137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 name="Freeform 358">
                  <a:extLst>
                    <a:ext uri="{FF2B5EF4-FFF2-40B4-BE49-F238E27FC236}">
                      <a16:creationId xmlns:a16="http://schemas.microsoft.com/office/drawing/2014/main" id="{A336DEE2-1DAE-0D4B-B46D-00609E2C678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 name="Freeform 359">
                  <a:extLst>
                    <a:ext uri="{FF2B5EF4-FFF2-40B4-BE49-F238E27FC236}">
                      <a16:creationId xmlns:a16="http://schemas.microsoft.com/office/drawing/2014/main" id="{02CB1998-32DE-7B48-9CBD-361C1D3A2E7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62" name="Freeform 360">
                <a:extLst>
                  <a:ext uri="{FF2B5EF4-FFF2-40B4-BE49-F238E27FC236}">
                    <a16:creationId xmlns:a16="http://schemas.microsoft.com/office/drawing/2014/main" id="{26757C20-D719-6A4A-8984-52BB641C59A2}"/>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3" name="Freeform 361">
                <a:extLst>
                  <a:ext uri="{FF2B5EF4-FFF2-40B4-BE49-F238E27FC236}">
                    <a16:creationId xmlns:a16="http://schemas.microsoft.com/office/drawing/2014/main" id="{BD62CA5C-D26B-A846-B7B4-2307AEBE37EE}"/>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4" name="Freeform 362">
                <a:extLst>
                  <a:ext uri="{FF2B5EF4-FFF2-40B4-BE49-F238E27FC236}">
                    <a16:creationId xmlns:a16="http://schemas.microsoft.com/office/drawing/2014/main" id="{9126BD70-551D-4A4A-B361-FF7350AA29F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5" name="Freeform 363">
                <a:extLst>
                  <a:ext uri="{FF2B5EF4-FFF2-40B4-BE49-F238E27FC236}">
                    <a16:creationId xmlns:a16="http://schemas.microsoft.com/office/drawing/2014/main" id="{93E901F0-D4A8-514B-9F20-C9620A9580BA}"/>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6" name="Freeform 364">
                <a:extLst>
                  <a:ext uri="{FF2B5EF4-FFF2-40B4-BE49-F238E27FC236}">
                    <a16:creationId xmlns:a16="http://schemas.microsoft.com/office/drawing/2014/main" id="{A9CEC9B5-2324-8B4E-BF53-89EA24EEE52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7" name="Freeform 365">
                <a:extLst>
                  <a:ext uri="{FF2B5EF4-FFF2-40B4-BE49-F238E27FC236}">
                    <a16:creationId xmlns:a16="http://schemas.microsoft.com/office/drawing/2014/main" id="{272F2166-F980-0844-AB5C-698B428C5216}"/>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42" name="Line 444">
              <a:extLst>
                <a:ext uri="{FF2B5EF4-FFF2-40B4-BE49-F238E27FC236}">
                  <a16:creationId xmlns:a16="http://schemas.microsoft.com/office/drawing/2014/main" id="{481CD60C-7E80-3046-BA38-7757FA0D79CF}"/>
                </a:ext>
              </a:extLst>
            </p:cNvPr>
            <p:cNvSpPr>
              <a:spLocks noChangeShapeType="1"/>
            </p:cNvSpPr>
            <p:nvPr/>
          </p:nvSpPr>
          <p:spPr bwMode="auto">
            <a:xfrm>
              <a:off x="8933050" y="5885917"/>
              <a:ext cx="62934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 name="Text Box 447">
              <a:extLst>
                <a:ext uri="{FF2B5EF4-FFF2-40B4-BE49-F238E27FC236}">
                  <a16:creationId xmlns:a16="http://schemas.microsoft.com/office/drawing/2014/main" id="{8B59250E-199D-2D4A-939F-41CE680CA428}"/>
                </a:ext>
              </a:extLst>
            </p:cNvPr>
            <p:cNvSpPr txBox="1">
              <a:spLocks noChangeArrowheads="1"/>
            </p:cNvSpPr>
            <p:nvPr/>
          </p:nvSpPr>
          <p:spPr bwMode="auto">
            <a:xfrm>
              <a:off x="9277842" y="5809251"/>
              <a:ext cx="1212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i="1" dirty="0">
                  <a:latin typeface="+mn-lt"/>
                </a:rPr>
                <a:t>to Internet</a:t>
              </a:r>
            </a:p>
          </p:txBody>
        </p:sp>
        <p:sp>
          <p:nvSpPr>
            <p:cNvPr id="519" name="Rectangle 3">
              <a:extLst>
                <a:ext uri="{FF2B5EF4-FFF2-40B4-BE49-F238E27FC236}">
                  <a16:creationId xmlns:a16="http://schemas.microsoft.com/office/drawing/2014/main" id="{5ACB1E0A-FDEE-D248-9701-84D389859CB1}"/>
                </a:ext>
              </a:extLst>
            </p:cNvPr>
            <p:cNvSpPr>
              <a:spLocks noChangeArrowheads="1"/>
            </p:cNvSpPr>
            <p:nvPr/>
          </p:nvSpPr>
          <p:spPr bwMode="auto">
            <a:xfrm>
              <a:off x="6622327" y="1977830"/>
              <a:ext cx="5443549" cy="262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682625" indent="-225425">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20000"/>
                </a:spcBef>
                <a:buClr>
                  <a:srgbClr val="000099"/>
                </a:buClr>
                <a:buSzPct val="65000"/>
                <a:buFont typeface="Wingdings" pitchFamily="2" charset="2"/>
                <a:buChar char="v"/>
              </a:pPr>
              <a:endParaRPr lang="en-US" altLang="en-US" dirty="0">
                <a:latin typeface="Gill Sans MT" panose="020B0502020104020203" pitchFamily="34" charset="77"/>
              </a:endParaRPr>
            </a:p>
            <a:p>
              <a:pPr eaLnBrk="1" hangingPunct="1">
                <a:lnSpc>
                  <a:spcPct val="85000"/>
                </a:lnSpc>
                <a:spcBef>
                  <a:spcPct val="20000"/>
                </a:spcBef>
                <a:buClr>
                  <a:srgbClr val="000099"/>
                </a:buClr>
                <a:buSzPct val="65000"/>
                <a:buFont typeface="Wingdings" pitchFamily="2" charset="2"/>
                <a:buNone/>
              </a:pPr>
              <a:r>
                <a:rPr lang="en-US" altLang="en-US" sz="2800" dirty="0">
                  <a:solidFill>
                    <a:srgbClr val="CC0000"/>
                  </a:solidFill>
                  <a:latin typeface="Calibri" panose="020F0502020204030204" pitchFamily="34" charset="0"/>
                  <a:cs typeface="Calibri" panose="020F0502020204030204" pitchFamily="34" charset="0"/>
                </a:rPr>
                <a:t>Wide-area cellular access networks</a:t>
              </a:r>
            </a:p>
            <a:p>
              <a:pPr marL="457200" lvl="1" indent="-249238" eaLnBrk="1" hangingPunct="1">
                <a:lnSpc>
                  <a:spcPct val="85000"/>
                </a:lnSpc>
                <a:spcBef>
                  <a:spcPct val="20000"/>
                </a:spcBef>
                <a:buClr>
                  <a:srgbClr val="000099"/>
                </a:buClr>
                <a:buFont typeface="Wingdings" pitchFamily="2" charset="2"/>
                <a:buChar char="§"/>
              </a:pPr>
              <a:r>
                <a:rPr lang="en-US" altLang="en-US" dirty="0">
                  <a:latin typeface="Calibri" panose="020F0502020204030204" pitchFamily="34" charset="0"/>
                  <a:cs typeface="Calibri" panose="020F0502020204030204" pitchFamily="34" charset="0"/>
                </a:rPr>
                <a:t>provided by mobile, cellular network operator (10’</a:t>
              </a:r>
              <a:r>
                <a:rPr lang="en-US" altLang="ja-JP" dirty="0">
                  <a:latin typeface="Calibri" panose="020F0502020204030204" pitchFamily="34" charset="0"/>
                  <a:cs typeface="Calibri" panose="020F0502020204030204" pitchFamily="34" charset="0"/>
                </a:rPr>
                <a:t>s km)</a:t>
              </a:r>
            </a:p>
            <a:p>
              <a:pPr marL="457200" lvl="1" indent="-249238" eaLnBrk="1" hangingPunct="1">
                <a:lnSpc>
                  <a:spcPct val="85000"/>
                </a:lnSpc>
                <a:spcBef>
                  <a:spcPct val="20000"/>
                </a:spcBef>
                <a:buClr>
                  <a:srgbClr val="000099"/>
                </a:buClr>
                <a:buFont typeface="Wingdings" pitchFamily="2" charset="2"/>
                <a:buChar char="§"/>
              </a:pPr>
              <a:r>
                <a:rPr lang="en-US" altLang="en-US" dirty="0">
                  <a:latin typeface="Calibri" panose="020F0502020204030204" pitchFamily="34" charset="0"/>
                  <a:cs typeface="Calibri" panose="020F0502020204030204" pitchFamily="34" charset="0"/>
                </a:rPr>
                <a:t>10’s Mbps </a:t>
              </a:r>
            </a:p>
            <a:p>
              <a:pPr marL="457200" lvl="1" indent="-249238" eaLnBrk="1" hangingPunct="1">
                <a:lnSpc>
                  <a:spcPct val="85000"/>
                </a:lnSpc>
                <a:spcBef>
                  <a:spcPct val="20000"/>
                </a:spcBef>
                <a:buClr>
                  <a:srgbClr val="000099"/>
                </a:buClr>
                <a:buFont typeface="Wingdings" pitchFamily="2" charset="2"/>
                <a:buChar char="§"/>
              </a:pPr>
              <a:r>
                <a:rPr lang="en-US" altLang="en-US" dirty="0">
                  <a:latin typeface="Calibri" panose="020F0502020204030204" pitchFamily="34" charset="0"/>
                  <a:cs typeface="Calibri" panose="020F0502020204030204" pitchFamily="34" charset="0"/>
                </a:rPr>
                <a:t>4G cellular networks (5G coming)</a:t>
              </a:r>
            </a:p>
          </p:txBody>
        </p:sp>
        <p:grpSp>
          <p:nvGrpSpPr>
            <p:cNvPr id="528" name="Group 527">
              <a:extLst>
                <a:ext uri="{FF2B5EF4-FFF2-40B4-BE49-F238E27FC236}">
                  <a16:creationId xmlns:a16="http://schemas.microsoft.com/office/drawing/2014/main" id="{28C4EE31-C504-7445-8D95-6A3C3DC5C5B1}"/>
                </a:ext>
              </a:extLst>
            </p:cNvPr>
            <p:cNvGrpSpPr/>
            <p:nvPr/>
          </p:nvGrpSpPr>
          <p:grpSpPr>
            <a:xfrm>
              <a:off x="8517156" y="5755545"/>
              <a:ext cx="499292" cy="246225"/>
              <a:chOff x="7493876" y="2774731"/>
              <a:chExt cx="1481958" cy="894622"/>
            </a:xfrm>
          </p:grpSpPr>
          <p:sp>
            <p:nvSpPr>
              <p:cNvPr id="529" name="Freeform 528">
                <a:extLst>
                  <a:ext uri="{FF2B5EF4-FFF2-40B4-BE49-F238E27FC236}">
                    <a16:creationId xmlns:a16="http://schemas.microsoft.com/office/drawing/2014/main" id="{2F9AC5A6-86B3-264E-9C95-738A625F1E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30" name="Oval 529">
                <a:extLst>
                  <a:ext uri="{FF2B5EF4-FFF2-40B4-BE49-F238E27FC236}">
                    <a16:creationId xmlns:a16="http://schemas.microsoft.com/office/drawing/2014/main" id="{E1D96795-4FCB-344B-8998-DD0683321A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31" name="Group 530">
                <a:extLst>
                  <a:ext uri="{FF2B5EF4-FFF2-40B4-BE49-F238E27FC236}">
                    <a16:creationId xmlns:a16="http://schemas.microsoft.com/office/drawing/2014/main" id="{35B010DA-EA36-324B-918D-6AC6F9C74C52}"/>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67E44A8D-A0DC-6B4F-B985-D75E7A9F23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Freeform 532">
                  <a:extLst>
                    <a:ext uri="{FF2B5EF4-FFF2-40B4-BE49-F238E27FC236}">
                      <a16:creationId xmlns:a16="http://schemas.microsoft.com/office/drawing/2014/main" id="{9E1FF050-72AC-1741-8117-A9A4CDF1D41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23CC4FEB-E25B-6E4C-A347-C7C5CC68E14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9969B14E-BFE8-A344-87C5-0FCB6040CA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Tree>
    <p:extLst>
      <p:ext uri="{BB962C8B-B14F-4D97-AF65-F5344CB8AC3E}">
        <p14:creationId xmlns:p14="http://schemas.microsoft.com/office/powerpoint/2010/main" val="2576902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p:cNvSpPr>
            <a:spLocks noGrp="1"/>
          </p:cNvSpPr>
          <p:nvPr>
            <p:ph type="title" idx="4294967295"/>
          </p:nvPr>
        </p:nvSpPr>
        <p:spPr>
          <a:xfrm>
            <a:off x="1703389" y="182563"/>
            <a:ext cx="8150225" cy="671512"/>
          </a:xfrm>
        </p:spPr>
        <p:txBody>
          <a:bodyPr>
            <a:normAutofit fontScale="90000"/>
          </a:bodyPr>
          <a:lstStyle/>
          <a:p>
            <a:pPr>
              <a:defRPr/>
            </a:pPr>
            <a:r>
              <a:rPr lang="en-US" altLang="en-US" sz="4050" dirty="0">
                <a:ea typeface="ＭＳ Ｐゴシック" panose="020B0600070205080204" pitchFamily="34" charset="-128"/>
              </a:rPr>
              <a:t>Access networks: data center networks</a:t>
            </a:r>
            <a:endParaRPr lang="en-US" sz="4050" dirty="0"/>
          </a:p>
        </p:txBody>
      </p:sp>
      <p:sp>
        <p:nvSpPr>
          <p:cNvPr id="56323" name="Content Placeholder 52"/>
          <p:cNvSpPr txBox="1">
            <a:spLocks noChangeArrowheads="1"/>
          </p:cNvSpPr>
          <p:nvPr/>
        </p:nvSpPr>
        <p:spPr bwMode="auto">
          <a:xfrm>
            <a:off x="1997076" y="1268414"/>
            <a:ext cx="4837113" cy="973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lvl1pPr marL="214313" indent="-214313"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695325" indent="-231775"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90000"/>
              </a:lnSpc>
              <a:spcBef>
                <a:spcPts val="750"/>
              </a:spcBef>
              <a:buClr>
                <a:srgbClr val="0000A3"/>
              </a:buClr>
              <a:buSzTx/>
            </a:pPr>
            <a:r>
              <a:rPr lang="en-US" altLang="en-US" sz="2400">
                <a:solidFill>
                  <a:srgbClr val="000000"/>
                </a:solidFill>
              </a:rPr>
              <a:t>high-bandwidth links (10s to 100s Gbps) connect hundreds to thousands of servers together, and to Internet</a:t>
            </a:r>
          </a:p>
        </p:txBody>
      </p:sp>
      <p:sp>
        <p:nvSpPr>
          <p:cNvPr id="56324" name="Rectangle 419"/>
          <p:cNvSpPr>
            <a:spLocks noChangeArrowheads="1"/>
          </p:cNvSpPr>
          <p:nvPr/>
        </p:nvSpPr>
        <p:spPr bwMode="auto">
          <a:xfrm>
            <a:off x="7104064" y="3522663"/>
            <a:ext cx="739775" cy="501650"/>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275" name="Freeform 274"/>
          <p:cNvSpPr/>
          <p:nvPr/>
        </p:nvSpPr>
        <p:spPr>
          <a:xfrm>
            <a:off x="8262938" y="3155950"/>
            <a:ext cx="842962" cy="100330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lIns="68580" tIns="34290" rIns="68580" bIns="34290" anchor="ctr"/>
          <a:lstStyle/>
          <a:p>
            <a:pPr algn="ctr" defTabSz="685800">
              <a:defRPr/>
            </a:pPr>
            <a:endParaRPr lang="en-US" sz="1350" dirty="0">
              <a:solidFill>
                <a:prstClr val="white"/>
              </a:solidFill>
              <a:latin typeface="Calibri" panose="020F0502020204030204"/>
            </a:endParaRPr>
          </a:p>
        </p:txBody>
      </p:sp>
      <p:sp>
        <p:nvSpPr>
          <p:cNvPr id="276" name="Freeform 417"/>
          <p:cNvSpPr>
            <a:spLocks/>
          </p:cNvSpPr>
          <p:nvPr/>
        </p:nvSpPr>
        <p:spPr bwMode="auto">
          <a:xfrm>
            <a:off x="6980238" y="2227264"/>
            <a:ext cx="1301750" cy="987425"/>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defTabSz="685800">
              <a:defRPr/>
            </a:pPr>
            <a:endParaRPr lang="en-US" sz="1350" dirty="0">
              <a:solidFill>
                <a:prstClr val="black"/>
              </a:solidFill>
              <a:latin typeface="Calibri" panose="020F0502020204030204"/>
            </a:endParaRPr>
          </a:p>
        </p:txBody>
      </p:sp>
      <p:sp>
        <p:nvSpPr>
          <p:cNvPr id="56327" name="AutoShape 420"/>
          <p:cNvSpPr>
            <a:spLocks noChangeArrowheads="1"/>
          </p:cNvSpPr>
          <p:nvPr/>
        </p:nvSpPr>
        <p:spPr bwMode="auto">
          <a:xfrm>
            <a:off x="6927850" y="3324226"/>
            <a:ext cx="1093788" cy="238125"/>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a:lnSpc>
                <a:spcPct val="100000"/>
              </a:lnSpc>
              <a:spcBef>
                <a:spcPct val="0"/>
              </a:spcBef>
              <a:buClrTx/>
              <a:buSzTx/>
              <a:buFont typeface="Wingdings" panose="05000000000000000000" pitchFamily="2" charset="2"/>
              <a:buNone/>
            </a:pPr>
            <a:endParaRPr lang="en-US" altLang="en-US" sz="1800">
              <a:solidFill>
                <a:srgbClr val="00CCFF"/>
              </a:solidFill>
              <a:latin typeface="Arial" panose="020B0604020202020204" pitchFamily="34" charset="0"/>
            </a:endParaRPr>
          </a:p>
        </p:txBody>
      </p:sp>
      <p:sp>
        <p:nvSpPr>
          <p:cNvPr id="278" name="Freeform 427"/>
          <p:cNvSpPr>
            <a:spLocks/>
          </p:cNvSpPr>
          <p:nvPr/>
        </p:nvSpPr>
        <p:spPr bwMode="auto">
          <a:xfrm>
            <a:off x="7308851" y="4370389"/>
            <a:ext cx="2309813" cy="1247775"/>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defTabSz="685800">
              <a:defRPr/>
            </a:pPr>
            <a:endParaRPr lang="en-US" sz="1350" dirty="0">
              <a:solidFill>
                <a:prstClr val="black"/>
              </a:solidFill>
              <a:latin typeface="Calibri" panose="020F0502020204030204"/>
            </a:endParaRPr>
          </a:p>
        </p:txBody>
      </p:sp>
      <p:sp>
        <p:nvSpPr>
          <p:cNvPr id="279" name="Text Box 580"/>
          <p:cNvSpPr txBox="1">
            <a:spLocks noChangeArrowheads="1"/>
          </p:cNvSpPr>
          <p:nvPr/>
        </p:nvSpPr>
        <p:spPr bwMode="auto">
          <a:xfrm>
            <a:off x="7283450" y="1973263"/>
            <a:ext cx="1049338" cy="254000"/>
          </a:xfrm>
          <a:prstGeom prst="rect">
            <a:avLst/>
          </a:prstGeom>
          <a:noFill/>
          <a:ln>
            <a:noFill/>
          </a:ln>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defTabSz="685800">
              <a:lnSpc>
                <a:spcPct val="100000"/>
              </a:lnSpc>
              <a:spcBef>
                <a:spcPct val="0"/>
              </a:spcBef>
              <a:buClrTx/>
              <a:buSzTx/>
              <a:buNone/>
              <a:defRPr/>
            </a:pPr>
            <a:r>
              <a:rPr lang="en-US" altLang="en-US" sz="1050" dirty="0">
                <a:solidFill>
                  <a:prstClr val="black"/>
                </a:solidFill>
                <a:latin typeface="Calibri" panose="020F0502020204030204"/>
              </a:rPr>
              <a:t>mobile network</a:t>
            </a:r>
          </a:p>
        </p:txBody>
      </p:sp>
      <p:sp>
        <p:nvSpPr>
          <p:cNvPr id="280" name="Text Box 580"/>
          <p:cNvSpPr txBox="1">
            <a:spLocks noChangeArrowheads="1"/>
          </p:cNvSpPr>
          <p:nvPr/>
        </p:nvSpPr>
        <p:spPr bwMode="auto">
          <a:xfrm>
            <a:off x="7021513" y="4000501"/>
            <a:ext cx="1466850" cy="224805"/>
          </a:xfrm>
          <a:prstGeom prst="rect">
            <a:avLst/>
          </a:prstGeom>
          <a:noFill/>
          <a:ln>
            <a:noFill/>
          </a:ln>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defTabSz="685800">
              <a:lnSpc>
                <a:spcPct val="80000"/>
              </a:lnSpc>
              <a:spcBef>
                <a:spcPct val="0"/>
              </a:spcBef>
              <a:buClrTx/>
              <a:buSzTx/>
              <a:buNone/>
              <a:defRPr/>
            </a:pPr>
            <a:r>
              <a:rPr lang="en-US" altLang="en-US" sz="1050" dirty="0">
                <a:solidFill>
                  <a:prstClr val="black"/>
                </a:solidFill>
                <a:latin typeface="Calibri" panose="020F0502020204030204"/>
              </a:rPr>
              <a:t>home network</a:t>
            </a:r>
          </a:p>
        </p:txBody>
      </p:sp>
      <p:sp>
        <p:nvSpPr>
          <p:cNvPr id="281" name="Text Box 580"/>
          <p:cNvSpPr txBox="1">
            <a:spLocks noChangeArrowheads="1"/>
          </p:cNvSpPr>
          <p:nvPr/>
        </p:nvSpPr>
        <p:spPr bwMode="auto">
          <a:xfrm>
            <a:off x="7004050" y="5192714"/>
            <a:ext cx="946150" cy="350837"/>
          </a:xfrm>
          <a:prstGeom prst="rect">
            <a:avLst/>
          </a:prstGeom>
          <a:noFill/>
          <a:ln>
            <a:noFill/>
          </a:ln>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defTabSz="685800">
              <a:lnSpc>
                <a:spcPct val="80000"/>
              </a:lnSpc>
              <a:spcBef>
                <a:spcPct val="0"/>
              </a:spcBef>
              <a:buClrTx/>
              <a:buSzTx/>
              <a:buNone/>
              <a:defRPr/>
            </a:pPr>
            <a:r>
              <a:rPr lang="en-US" altLang="en-US" sz="1050" dirty="0">
                <a:solidFill>
                  <a:prstClr val="black"/>
                </a:solidFill>
                <a:latin typeface="Calibri" panose="020F0502020204030204"/>
              </a:rPr>
              <a:t>enterprise</a:t>
            </a:r>
          </a:p>
          <a:p>
            <a:pPr defTabSz="685800">
              <a:lnSpc>
                <a:spcPct val="80000"/>
              </a:lnSpc>
              <a:spcBef>
                <a:spcPct val="0"/>
              </a:spcBef>
              <a:buClrTx/>
              <a:buSzTx/>
              <a:buNone/>
              <a:defRPr/>
            </a:pPr>
            <a:r>
              <a:rPr lang="en-US" altLang="en-US" sz="1050" dirty="0">
                <a:solidFill>
                  <a:prstClr val="black"/>
                </a:solidFill>
                <a:latin typeface="Calibri" panose="020F0502020204030204"/>
              </a:rPr>
              <a:t>          network</a:t>
            </a:r>
          </a:p>
        </p:txBody>
      </p:sp>
      <p:sp>
        <p:nvSpPr>
          <p:cNvPr id="282" name="Freeform 281"/>
          <p:cNvSpPr/>
          <p:nvPr/>
        </p:nvSpPr>
        <p:spPr>
          <a:xfrm>
            <a:off x="9190039" y="3241676"/>
            <a:ext cx="955675" cy="1452563"/>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lIns="68580" tIns="34290" rIns="68580" bIns="34290" anchor="ctr"/>
          <a:lstStyle/>
          <a:p>
            <a:pPr algn="ctr" defTabSz="685800">
              <a:defRPr/>
            </a:pPr>
            <a:endParaRPr lang="en-US" sz="1350" dirty="0">
              <a:solidFill>
                <a:prstClr val="white"/>
              </a:solidFill>
              <a:latin typeface="Calibri" panose="020F0502020204030204"/>
            </a:endParaRPr>
          </a:p>
        </p:txBody>
      </p:sp>
      <p:grpSp>
        <p:nvGrpSpPr>
          <p:cNvPr id="56333" name="Group 328"/>
          <p:cNvGrpSpPr>
            <a:grpSpLocks/>
          </p:cNvGrpSpPr>
          <p:nvPr/>
        </p:nvGrpSpPr>
        <p:grpSpPr bwMode="auto">
          <a:xfrm>
            <a:off x="9652000" y="3803650"/>
            <a:ext cx="515938" cy="541338"/>
            <a:chOff x="5203089" y="1751190"/>
            <a:chExt cx="858331" cy="662414"/>
          </a:xfrm>
        </p:grpSpPr>
        <p:sp>
          <p:nvSpPr>
            <p:cNvPr id="330" name="Freeform 329"/>
            <p:cNvSpPr/>
            <p:nvPr/>
          </p:nvSpPr>
          <p:spPr>
            <a:xfrm>
              <a:off x="5535857" y="1751190"/>
              <a:ext cx="525563" cy="66241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lIns="68580" tIns="34290" rIns="68580" bIns="34290" anchor="ctr"/>
            <a:lstStyle/>
            <a:p>
              <a:pPr algn="ctr" defTabSz="685800">
                <a:defRPr/>
              </a:pPr>
              <a:endParaRPr lang="en-US" sz="1350" dirty="0">
                <a:solidFill>
                  <a:prstClr val="white"/>
                </a:solidFill>
                <a:latin typeface="Calibri" panose="020F0502020204030204"/>
              </a:endParaRPr>
            </a:p>
          </p:txBody>
        </p:sp>
        <p:sp>
          <p:nvSpPr>
            <p:cNvPr id="331" name="Freeform 330"/>
            <p:cNvSpPr/>
            <p:nvPr/>
          </p:nvSpPr>
          <p:spPr>
            <a:xfrm>
              <a:off x="5203089" y="1922135"/>
              <a:ext cx="652332" cy="491469"/>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lIns="68580" tIns="34290" rIns="68580" bIns="34290" anchor="ctr"/>
            <a:lstStyle/>
            <a:p>
              <a:pPr algn="ctr" defTabSz="685800">
                <a:defRPr/>
              </a:pPr>
              <a:endParaRPr lang="en-US" sz="1350" dirty="0">
                <a:solidFill>
                  <a:prstClr val="white"/>
                </a:solidFill>
                <a:latin typeface="Calibri" panose="020F0502020204030204"/>
              </a:endParaRPr>
            </a:p>
          </p:txBody>
        </p:sp>
        <p:cxnSp>
          <p:nvCxnSpPr>
            <p:cNvPr id="332" name="Straight Connector 331"/>
            <p:cNvCxnSpPr/>
            <p:nvPr/>
          </p:nvCxnSpPr>
          <p:spPr>
            <a:xfrm flipV="1">
              <a:off x="5271755" y="2028977"/>
              <a:ext cx="293154" cy="7381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3" name="Straight Connector 332"/>
            <p:cNvCxnSpPr/>
            <p:nvPr/>
          </p:nvCxnSpPr>
          <p:spPr>
            <a:xfrm flipV="1">
              <a:off x="5274397" y="2262084"/>
              <a:ext cx="290512" cy="1554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4" name="Straight Connector 333"/>
            <p:cNvCxnSpPr/>
            <p:nvPr/>
          </p:nvCxnSpPr>
          <p:spPr>
            <a:xfrm flipV="1">
              <a:off x="5274397" y="2151358"/>
              <a:ext cx="290512" cy="48565"/>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a:xfrm>
              <a:off x="5269115" y="2353384"/>
              <a:ext cx="295794"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p:nvPr/>
          </p:nvCxnSpPr>
          <p:spPr>
            <a:xfrm flipV="1">
              <a:off x="5950497" y="1867744"/>
              <a:ext cx="0" cy="464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p:cNvCxnSpPr/>
            <p:nvPr/>
          </p:nvCxnSpPr>
          <p:spPr>
            <a:xfrm>
              <a:off x="5628293" y="1937676"/>
              <a:ext cx="0" cy="475928"/>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6334" name="Group 384"/>
          <p:cNvGrpSpPr>
            <a:grpSpLocks/>
          </p:cNvGrpSpPr>
          <p:nvPr/>
        </p:nvGrpSpPr>
        <p:grpSpPr bwMode="auto">
          <a:xfrm>
            <a:off x="9602789" y="3252789"/>
            <a:ext cx="446087" cy="485775"/>
            <a:chOff x="5203089" y="1751190"/>
            <a:chExt cx="858331" cy="662414"/>
          </a:xfrm>
        </p:grpSpPr>
        <p:sp>
          <p:nvSpPr>
            <p:cNvPr id="386" name="Freeform 385"/>
            <p:cNvSpPr/>
            <p:nvPr/>
          </p:nvSpPr>
          <p:spPr>
            <a:xfrm>
              <a:off x="5536035" y="1751190"/>
              <a:ext cx="525385" cy="66241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lIns="68580" tIns="34290" rIns="68580" bIns="34290" anchor="ctr"/>
            <a:lstStyle/>
            <a:p>
              <a:pPr algn="ctr" defTabSz="685800">
                <a:defRPr/>
              </a:pPr>
              <a:endParaRPr lang="en-US" sz="1350" dirty="0">
                <a:solidFill>
                  <a:prstClr val="white"/>
                </a:solidFill>
                <a:latin typeface="Calibri" panose="020F0502020204030204"/>
              </a:endParaRPr>
            </a:p>
          </p:txBody>
        </p:sp>
        <p:sp>
          <p:nvSpPr>
            <p:cNvPr id="387" name="Freeform 386"/>
            <p:cNvSpPr/>
            <p:nvPr/>
          </p:nvSpPr>
          <p:spPr>
            <a:xfrm>
              <a:off x="5203089" y="1922205"/>
              <a:ext cx="650621" cy="491399"/>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lIns="68580" tIns="34290" rIns="68580" bIns="34290" anchor="ctr"/>
            <a:lstStyle/>
            <a:p>
              <a:pPr algn="ctr" defTabSz="685800">
                <a:defRPr/>
              </a:pPr>
              <a:endParaRPr lang="en-US" sz="1350" dirty="0">
                <a:solidFill>
                  <a:prstClr val="white"/>
                </a:solidFill>
                <a:latin typeface="Calibri" panose="020F0502020204030204"/>
              </a:endParaRPr>
            </a:p>
          </p:txBody>
        </p:sp>
        <p:cxnSp>
          <p:nvCxnSpPr>
            <p:cNvPr id="388" name="Straight Connector 387"/>
            <p:cNvCxnSpPr/>
            <p:nvPr/>
          </p:nvCxnSpPr>
          <p:spPr>
            <a:xfrm flipV="1">
              <a:off x="5270289" y="2030442"/>
              <a:ext cx="296292" cy="736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p:cNvCxnSpPr/>
            <p:nvPr/>
          </p:nvCxnSpPr>
          <p:spPr>
            <a:xfrm flipV="1">
              <a:off x="5276398" y="2262071"/>
              <a:ext cx="290182" cy="1731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p:nvPr/>
          </p:nvCxnSpPr>
          <p:spPr>
            <a:xfrm flipV="1">
              <a:off x="5276398" y="2151668"/>
              <a:ext cx="290182" cy="47625"/>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p:nvPr/>
          </p:nvCxnSpPr>
          <p:spPr>
            <a:xfrm>
              <a:off x="5270289" y="2355155"/>
              <a:ext cx="296292"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92" name="Straight Connector 391"/>
            <p:cNvCxnSpPr/>
            <p:nvPr/>
          </p:nvCxnSpPr>
          <p:spPr>
            <a:xfrm flipV="1">
              <a:off x="5951456" y="1865921"/>
              <a:ext cx="0" cy="465422"/>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93" name="Straight Connector 392"/>
            <p:cNvCxnSpPr/>
            <p:nvPr/>
          </p:nvCxnSpPr>
          <p:spPr>
            <a:xfrm>
              <a:off x="5627672" y="1937359"/>
              <a:ext cx="0" cy="476245"/>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4" name="Freeform 393"/>
          <p:cNvSpPr/>
          <p:nvPr/>
        </p:nvSpPr>
        <p:spPr>
          <a:xfrm>
            <a:off x="8678863" y="2193926"/>
            <a:ext cx="1123950" cy="1039813"/>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lIns="68580" tIns="34290" rIns="68580" bIns="34290" anchor="ctr"/>
          <a:lstStyle/>
          <a:p>
            <a:pPr algn="ctr" defTabSz="685800">
              <a:defRPr/>
            </a:pPr>
            <a:endParaRPr lang="en-US" sz="1350" dirty="0">
              <a:solidFill>
                <a:prstClr val="white"/>
              </a:solidFill>
              <a:latin typeface="Calibri" panose="020F0502020204030204"/>
            </a:endParaRPr>
          </a:p>
        </p:txBody>
      </p:sp>
      <p:sp>
        <p:nvSpPr>
          <p:cNvPr id="411" name="TextBox 410"/>
          <p:cNvSpPr txBox="1"/>
          <p:nvPr/>
        </p:nvSpPr>
        <p:spPr>
          <a:xfrm>
            <a:off x="8594725" y="2246314"/>
            <a:ext cx="1333500" cy="236537"/>
          </a:xfrm>
          <a:prstGeom prst="rect">
            <a:avLst/>
          </a:prstGeom>
          <a:noFill/>
        </p:spPr>
        <p:txBody>
          <a:bodyPr wrap="none">
            <a:spAutoFit/>
          </a:bodyPr>
          <a:lstStyle/>
          <a:p>
            <a:pPr defTabSz="685800">
              <a:lnSpc>
                <a:spcPct val="90000"/>
              </a:lnSpc>
              <a:defRPr/>
            </a:pPr>
            <a:r>
              <a:rPr lang="en-US" sz="1050" dirty="0">
                <a:solidFill>
                  <a:prstClr val="black"/>
                </a:solidFill>
                <a:latin typeface="Calibri" panose="020F0502020204030204"/>
              </a:rPr>
              <a:t>national or global ISP</a:t>
            </a:r>
          </a:p>
        </p:txBody>
      </p:sp>
      <p:sp>
        <p:nvSpPr>
          <p:cNvPr id="412" name="Rectangle 411"/>
          <p:cNvSpPr/>
          <p:nvPr/>
        </p:nvSpPr>
        <p:spPr>
          <a:xfrm>
            <a:off x="8483600" y="3616325"/>
            <a:ext cx="228600" cy="147638"/>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13" name="TextBox 412"/>
          <p:cNvSpPr txBox="1"/>
          <p:nvPr/>
        </p:nvSpPr>
        <p:spPr>
          <a:xfrm>
            <a:off x="8097838" y="3443289"/>
            <a:ext cx="781050" cy="528637"/>
          </a:xfrm>
          <a:prstGeom prst="rect">
            <a:avLst/>
          </a:prstGeom>
          <a:noFill/>
        </p:spPr>
        <p:txBody>
          <a:bodyPr>
            <a:spAutoFit/>
          </a:bodyPr>
          <a:lstStyle/>
          <a:p>
            <a:pPr defTabSz="685800">
              <a:lnSpc>
                <a:spcPct val="90000"/>
              </a:lnSpc>
              <a:defRPr/>
            </a:pPr>
            <a:r>
              <a:rPr lang="en-US" sz="1050" dirty="0">
                <a:solidFill>
                  <a:prstClr val="black"/>
                </a:solidFill>
                <a:latin typeface="Calibri" panose="020F0502020204030204"/>
              </a:rPr>
              <a:t>local or regional ISP</a:t>
            </a:r>
          </a:p>
        </p:txBody>
      </p:sp>
      <p:sp>
        <p:nvSpPr>
          <p:cNvPr id="414" name="TextBox 413"/>
          <p:cNvSpPr txBox="1"/>
          <p:nvPr/>
        </p:nvSpPr>
        <p:spPr>
          <a:xfrm>
            <a:off x="9712325" y="4365625"/>
            <a:ext cx="654050" cy="311150"/>
          </a:xfrm>
          <a:prstGeom prst="rect">
            <a:avLst/>
          </a:prstGeom>
          <a:noFill/>
        </p:spPr>
        <p:txBody>
          <a:bodyPr wrap="none">
            <a:spAutoFit/>
          </a:bodyPr>
          <a:lstStyle/>
          <a:p>
            <a:pPr defTabSz="685800">
              <a:lnSpc>
                <a:spcPct val="90000"/>
              </a:lnSpc>
              <a:defRPr/>
            </a:pPr>
            <a:r>
              <a:rPr lang="en-US" sz="788" dirty="0">
                <a:solidFill>
                  <a:prstClr val="black"/>
                </a:solidFill>
                <a:latin typeface="Calibri" panose="020F0502020204030204"/>
              </a:rPr>
              <a:t>datacenter </a:t>
            </a:r>
          </a:p>
          <a:p>
            <a:pPr defTabSz="685800">
              <a:lnSpc>
                <a:spcPct val="90000"/>
              </a:lnSpc>
              <a:defRPr/>
            </a:pPr>
            <a:r>
              <a:rPr lang="en-US" sz="788" dirty="0">
                <a:solidFill>
                  <a:prstClr val="black"/>
                </a:solidFill>
                <a:latin typeface="Calibri" panose="020F0502020204030204"/>
              </a:rPr>
              <a:t>network</a:t>
            </a:r>
          </a:p>
        </p:txBody>
      </p:sp>
      <p:sp>
        <p:nvSpPr>
          <p:cNvPr id="415" name="TextBox 414"/>
          <p:cNvSpPr txBox="1"/>
          <p:nvPr/>
        </p:nvSpPr>
        <p:spPr>
          <a:xfrm>
            <a:off x="9070975" y="4029075"/>
            <a:ext cx="679450" cy="528638"/>
          </a:xfrm>
          <a:prstGeom prst="rect">
            <a:avLst/>
          </a:prstGeom>
          <a:noFill/>
        </p:spPr>
        <p:txBody>
          <a:bodyPr wrap="none">
            <a:spAutoFit/>
          </a:bodyPr>
          <a:lstStyle/>
          <a:p>
            <a:pPr defTabSz="685800">
              <a:lnSpc>
                <a:spcPct val="90000"/>
              </a:lnSpc>
              <a:defRPr/>
            </a:pPr>
            <a:r>
              <a:rPr lang="en-US" sz="1050" dirty="0">
                <a:solidFill>
                  <a:prstClr val="black"/>
                </a:solidFill>
                <a:latin typeface="Calibri" panose="020F0502020204030204"/>
              </a:rPr>
              <a:t>content </a:t>
            </a:r>
          </a:p>
          <a:p>
            <a:pPr defTabSz="685800">
              <a:lnSpc>
                <a:spcPct val="90000"/>
              </a:lnSpc>
              <a:defRPr/>
            </a:pPr>
            <a:r>
              <a:rPr lang="en-US" sz="1050" dirty="0">
                <a:solidFill>
                  <a:prstClr val="black"/>
                </a:solidFill>
                <a:latin typeface="Calibri" panose="020F0502020204030204"/>
              </a:rPr>
              <a:t>provider </a:t>
            </a:r>
          </a:p>
          <a:p>
            <a:pPr defTabSz="685800">
              <a:lnSpc>
                <a:spcPct val="90000"/>
              </a:lnSpc>
              <a:defRPr/>
            </a:pPr>
            <a:r>
              <a:rPr lang="en-US" sz="1050" dirty="0">
                <a:solidFill>
                  <a:prstClr val="black"/>
                </a:solidFill>
                <a:latin typeface="Calibri" panose="020F0502020204030204"/>
              </a:rPr>
              <a:t>network</a:t>
            </a:r>
            <a:endParaRPr lang="en-US" sz="750" dirty="0">
              <a:solidFill>
                <a:prstClr val="black"/>
              </a:solidFill>
              <a:latin typeface="Calibri" panose="020F0502020204030204"/>
            </a:endParaRPr>
          </a:p>
        </p:txBody>
      </p:sp>
      <p:cxnSp>
        <p:nvCxnSpPr>
          <p:cNvPr id="416" name="Straight Connector 415"/>
          <p:cNvCxnSpPr>
            <a:cxnSpLocks/>
          </p:cNvCxnSpPr>
          <p:nvPr/>
        </p:nvCxnSpPr>
        <p:spPr>
          <a:xfrm flipH="1" flipV="1">
            <a:off x="9444038" y="3541714"/>
            <a:ext cx="309562" cy="476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p:cNvCxnSpPr>
            <a:cxnSpLocks/>
          </p:cNvCxnSpPr>
          <p:nvPr/>
        </p:nvCxnSpPr>
        <p:spPr>
          <a:xfrm flipH="1" flipV="1">
            <a:off x="9520238" y="3587750"/>
            <a:ext cx="258762" cy="5540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8" name="Straight Connector 417"/>
          <p:cNvCxnSpPr>
            <a:cxnSpLocks/>
          </p:cNvCxnSpPr>
          <p:nvPr/>
        </p:nvCxnSpPr>
        <p:spPr>
          <a:xfrm flipV="1">
            <a:off x="9501188" y="3582989"/>
            <a:ext cx="252412" cy="2952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7" name="Straight Connector 426"/>
          <p:cNvCxnSpPr>
            <a:cxnSpLocks/>
          </p:cNvCxnSpPr>
          <p:nvPr/>
        </p:nvCxnSpPr>
        <p:spPr>
          <a:xfrm flipH="1" flipV="1">
            <a:off x="9451975" y="3552826"/>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8" name="Straight Connector 427"/>
          <p:cNvCxnSpPr>
            <a:cxnSpLocks/>
          </p:cNvCxnSpPr>
          <p:nvPr/>
        </p:nvCxnSpPr>
        <p:spPr>
          <a:xfrm flipH="1" flipV="1">
            <a:off x="9437688" y="3911600"/>
            <a:ext cx="381000" cy="2603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9" name="Straight Connector 428"/>
          <p:cNvCxnSpPr>
            <a:cxnSpLocks/>
          </p:cNvCxnSpPr>
          <p:nvPr/>
        </p:nvCxnSpPr>
        <p:spPr>
          <a:xfrm flipH="1">
            <a:off x="8945564" y="3922713"/>
            <a:ext cx="4921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0" name="Straight Connector 429"/>
          <p:cNvCxnSpPr>
            <a:cxnSpLocks/>
          </p:cNvCxnSpPr>
          <p:nvPr/>
        </p:nvCxnSpPr>
        <p:spPr>
          <a:xfrm flipH="1">
            <a:off x="8439150" y="3922713"/>
            <a:ext cx="4905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p:cNvCxnSpPr>
            <a:cxnSpLocks/>
          </p:cNvCxnSpPr>
          <p:nvPr/>
        </p:nvCxnSpPr>
        <p:spPr>
          <a:xfrm flipH="1">
            <a:off x="8482013" y="3487738"/>
            <a:ext cx="285750" cy="3873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p:cNvCxnSpPr>
            <a:cxnSpLocks/>
          </p:cNvCxnSpPr>
          <p:nvPr/>
        </p:nvCxnSpPr>
        <p:spPr>
          <a:xfrm>
            <a:off x="8823325" y="3487738"/>
            <a:ext cx="0" cy="404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a:xfrm>
            <a:off x="9126538" y="2922589"/>
            <a:ext cx="366712" cy="6302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4" name="Straight Connector 433"/>
          <p:cNvCxnSpPr>
            <a:cxnSpLocks/>
          </p:cNvCxnSpPr>
          <p:nvPr/>
        </p:nvCxnSpPr>
        <p:spPr>
          <a:xfrm flipH="1">
            <a:off x="8872538" y="2878138"/>
            <a:ext cx="285750" cy="52070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5" name="Straight Connector 434"/>
          <p:cNvCxnSpPr/>
          <p:nvPr/>
        </p:nvCxnSpPr>
        <p:spPr>
          <a:xfrm flipH="1">
            <a:off x="9099550" y="2484439"/>
            <a:ext cx="571500" cy="43338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6" name="Straight Connector 435"/>
          <p:cNvCxnSpPr/>
          <p:nvPr/>
        </p:nvCxnSpPr>
        <p:spPr>
          <a:xfrm flipH="1">
            <a:off x="9099551" y="2559050"/>
            <a:ext cx="3175" cy="3889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7" name="Straight Connector 436"/>
          <p:cNvCxnSpPr/>
          <p:nvPr/>
        </p:nvCxnSpPr>
        <p:spPr>
          <a:xfrm flipH="1">
            <a:off x="9528176" y="2508250"/>
            <a:ext cx="112713" cy="3889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8" name="Straight Connector 437"/>
          <p:cNvCxnSpPr/>
          <p:nvPr/>
        </p:nvCxnSpPr>
        <p:spPr>
          <a:xfrm flipH="1">
            <a:off x="9131301" y="2897189"/>
            <a:ext cx="430213" cy="20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9" name="Straight Connector 438"/>
          <p:cNvCxnSpPr/>
          <p:nvPr/>
        </p:nvCxnSpPr>
        <p:spPr>
          <a:xfrm flipH="1">
            <a:off x="9075739" y="2484438"/>
            <a:ext cx="592137" cy="7461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a:xfrm flipH="1">
            <a:off x="9671050" y="2452688"/>
            <a:ext cx="209550" cy="317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1" name="Straight Connector 440"/>
          <p:cNvCxnSpPr/>
          <p:nvPr/>
        </p:nvCxnSpPr>
        <p:spPr>
          <a:xfrm flipH="1" flipV="1">
            <a:off x="9536113" y="2897188"/>
            <a:ext cx="265112" cy="5080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2" name="Straight Connector 441"/>
          <p:cNvCxnSpPr/>
          <p:nvPr/>
        </p:nvCxnSpPr>
        <p:spPr>
          <a:xfrm flipH="1">
            <a:off x="8101014" y="2559051"/>
            <a:ext cx="974725" cy="4540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43" name="Line 541"/>
          <p:cNvSpPr>
            <a:spLocks noChangeShapeType="1"/>
          </p:cNvSpPr>
          <p:nvPr/>
        </p:nvSpPr>
        <p:spPr bwMode="auto">
          <a:xfrm flipV="1">
            <a:off x="8558213" y="3941764"/>
            <a:ext cx="322262" cy="530225"/>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444" name="Line 424"/>
          <p:cNvSpPr>
            <a:spLocks noChangeShapeType="1"/>
          </p:cNvSpPr>
          <p:nvPr/>
        </p:nvSpPr>
        <p:spPr bwMode="auto">
          <a:xfrm flipV="1">
            <a:off x="7707314" y="3892551"/>
            <a:ext cx="727075" cy="3175"/>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56362" name="Oval 800"/>
          <p:cNvSpPr>
            <a:spLocks noChangeArrowheads="1"/>
          </p:cNvSpPr>
          <p:nvPr/>
        </p:nvSpPr>
        <p:spPr bwMode="auto">
          <a:xfrm>
            <a:off x="7654925" y="2576513"/>
            <a:ext cx="39688" cy="38100"/>
          </a:xfrm>
          <a:prstGeom prst="ellipse">
            <a:avLst/>
          </a:prstGeom>
          <a:solidFill>
            <a:schemeClr val="tx2"/>
          </a:solidFill>
          <a:ln w="9525">
            <a:solidFill>
              <a:schemeClr val="tx1"/>
            </a:solidFill>
            <a:round/>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nvGrpSpPr>
          <p:cNvPr id="56363" name="Group 445"/>
          <p:cNvGrpSpPr>
            <a:grpSpLocks/>
          </p:cNvGrpSpPr>
          <p:nvPr/>
        </p:nvGrpSpPr>
        <p:grpSpPr bwMode="auto">
          <a:xfrm>
            <a:off x="9331326" y="3479800"/>
            <a:ext cx="265113" cy="147638"/>
            <a:chOff x="7493876" y="2774731"/>
            <a:chExt cx="1481958" cy="894622"/>
          </a:xfrm>
        </p:grpSpPr>
        <p:sp>
          <p:nvSpPr>
            <p:cNvPr id="447" name="Freeform 446"/>
            <p:cNvSpPr/>
            <p:nvPr/>
          </p:nvSpPr>
          <p:spPr>
            <a:xfrm>
              <a:off x="7493876" y="3082557"/>
              <a:ext cx="1481958" cy="586796"/>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448" name="Oval 447"/>
            <p:cNvSpPr/>
            <p:nvPr/>
          </p:nvSpPr>
          <p:spPr>
            <a:xfrm>
              <a:off x="7493876" y="2774731"/>
              <a:ext cx="1481958" cy="577174"/>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744" name="Group 448"/>
            <p:cNvGrpSpPr>
              <a:grpSpLocks/>
            </p:cNvGrpSpPr>
            <p:nvPr/>
          </p:nvGrpSpPr>
          <p:grpSpPr bwMode="auto">
            <a:xfrm>
              <a:off x="7713663" y="2848339"/>
              <a:ext cx="1042107" cy="425543"/>
              <a:chOff x="7786941" y="2884917"/>
              <a:chExt cx="897649" cy="353919"/>
            </a:xfrm>
          </p:grpSpPr>
          <p:sp>
            <p:nvSpPr>
              <p:cNvPr id="450" name="Freeform 449"/>
              <p:cNvSpPr/>
              <p:nvPr/>
            </p:nvSpPr>
            <p:spPr>
              <a:xfrm>
                <a:off x="7811647" y="2887704"/>
                <a:ext cx="848473" cy="200013"/>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51" name="Freeform 450"/>
              <p:cNvSpPr/>
              <p:nvPr/>
            </p:nvSpPr>
            <p:spPr>
              <a:xfrm>
                <a:off x="8369653" y="3055716"/>
                <a:ext cx="313397" cy="168007"/>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52" name="Freeform 451"/>
              <p:cNvSpPr/>
              <p:nvPr/>
            </p:nvSpPr>
            <p:spPr>
              <a:xfrm>
                <a:off x="7788718" y="3055716"/>
                <a:ext cx="313397" cy="168007"/>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53" name="Freeform 452"/>
              <p:cNvSpPr/>
              <p:nvPr/>
            </p:nvSpPr>
            <p:spPr>
              <a:xfrm>
                <a:off x="7895732" y="2975711"/>
                <a:ext cx="672661" cy="264012"/>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64" name="Group 453"/>
          <p:cNvGrpSpPr>
            <a:grpSpLocks/>
          </p:cNvGrpSpPr>
          <p:nvPr/>
        </p:nvGrpSpPr>
        <p:grpSpPr bwMode="auto">
          <a:xfrm>
            <a:off x="8985251" y="2508251"/>
            <a:ext cx="265113" cy="149225"/>
            <a:chOff x="7493876" y="2774731"/>
            <a:chExt cx="1481958" cy="894622"/>
          </a:xfrm>
        </p:grpSpPr>
        <p:sp>
          <p:nvSpPr>
            <p:cNvPr id="455" name="Freeform 454"/>
            <p:cNvSpPr/>
            <p:nvPr/>
          </p:nvSpPr>
          <p:spPr>
            <a:xfrm>
              <a:off x="7493876" y="3088803"/>
              <a:ext cx="1481958" cy="580550"/>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456" name="Oval 455"/>
            <p:cNvSpPr/>
            <p:nvPr/>
          </p:nvSpPr>
          <p:spPr>
            <a:xfrm>
              <a:off x="7493876" y="2774731"/>
              <a:ext cx="1481958" cy="580556"/>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737" name="Group 456"/>
            <p:cNvGrpSpPr>
              <a:grpSpLocks/>
            </p:cNvGrpSpPr>
            <p:nvPr/>
          </p:nvGrpSpPr>
          <p:grpSpPr bwMode="auto">
            <a:xfrm>
              <a:off x="7713663" y="2848339"/>
              <a:ext cx="1042107" cy="425543"/>
              <a:chOff x="7786941" y="2884917"/>
              <a:chExt cx="897649" cy="353919"/>
            </a:xfrm>
          </p:grpSpPr>
          <p:sp>
            <p:nvSpPr>
              <p:cNvPr id="458" name="Freeform 457"/>
              <p:cNvSpPr/>
              <p:nvPr/>
            </p:nvSpPr>
            <p:spPr>
              <a:xfrm>
                <a:off x="7811647" y="2887021"/>
                <a:ext cx="848473" cy="197886"/>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59" name="Freeform 458"/>
              <p:cNvSpPr/>
              <p:nvPr/>
            </p:nvSpPr>
            <p:spPr>
              <a:xfrm>
                <a:off x="8369653" y="3053246"/>
                <a:ext cx="313397" cy="166220"/>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60" name="Freeform 459"/>
              <p:cNvSpPr/>
              <p:nvPr/>
            </p:nvSpPr>
            <p:spPr>
              <a:xfrm>
                <a:off x="7788718" y="3053246"/>
                <a:ext cx="313397" cy="166220"/>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61" name="Freeform 460"/>
              <p:cNvSpPr/>
              <p:nvPr/>
            </p:nvSpPr>
            <p:spPr>
              <a:xfrm>
                <a:off x="7895732" y="2974092"/>
                <a:ext cx="672661" cy="261204"/>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65" name="Group 461"/>
          <p:cNvGrpSpPr>
            <a:grpSpLocks/>
          </p:cNvGrpSpPr>
          <p:nvPr/>
        </p:nvGrpSpPr>
        <p:grpSpPr bwMode="auto">
          <a:xfrm>
            <a:off x="9418638" y="2817814"/>
            <a:ext cx="266700" cy="147637"/>
            <a:chOff x="7493876" y="2774731"/>
            <a:chExt cx="1481958" cy="894622"/>
          </a:xfrm>
        </p:grpSpPr>
        <p:sp>
          <p:nvSpPr>
            <p:cNvPr id="463" name="Freeform 462"/>
            <p:cNvSpPr/>
            <p:nvPr/>
          </p:nvSpPr>
          <p:spPr>
            <a:xfrm>
              <a:off x="7493876" y="3082559"/>
              <a:ext cx="1481958" cy="58679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464" name="Oval 463"/>
            <p:cNvSpPr/>
            <p:nvPr/>
          </p:nvSpPr>
          <p:spPr>
            <a:xfrm>
              <a:off x="7493876" y="2774731"/>
              <a:ext cx="1481958" cy="5771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730" name="Group 464"/>
            <p:cNvGrpSpPr>
              <a:grpSpLocks/>
            </p:cNvGrpSpPr>
            <p:nvPr/>
          </p:nvGrpSpPr>
          <p:grpSpPr bwMode="auto">
            <a:xfrm>
              <a:off x="7713663" y="2848339"/>
              <a:ext cx="1042107" cy="425543"/>
              <a:chOff x="7786941" y="2884917"/>
              <a:chExt cx="897649" cy="353919"/>
            </a:xfrm>
          </p:grpSpPr>
          <p:sp>
            <p:nvSpPr>
              <p:cNvPr id="466" name="Freeform 465"/>
              <p:cNvSpPr/>
              <p:nvPr/>
            </p:nvSpPr>
            <p:spPr>
              <a:xfrm>
                <a:off x="7810375" y="2887704"/>
                <a:ext cx="851020" cy="200011"/>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67" name="Freeform 466"/>
              <p:cNvSpPr/>
              <p:nvPr/>
            </p:nvSpPr>
            <p:spPr>
              <a:xfrm>
                <a:off x="8365055" y="3055713"/>
                <a:ext cx="319132" cy="168014"/>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68" name="Freeform 467"/>
              <p:cNvSpPr/>
              <p:nvPr/>
            </p:nvSpPr>
            <p:spPr>
              <a:xfrm>
                <a:off x="7787578" y="3055713"/>
                <a:ext cx="311536" cy="168014"/>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69" name="Freeform 468"/>
              <p:cNvSpPr/>
              <p:nvPr/>
            </p:nvSpPr>
            <p:spPr>
              <a:xfrm>
                <a:off x="7893955" y="2975707"/>
                <a:ext cx="676259" cy="264021"/>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66" name="Group 469"/>
          <p:cNvGrpSpPr>
            <a:grpSpLocks/>
          </p:cNvGrpSpPr>
          <p:nvPr/>
        </p:nvGrpSpPr>
        <p:grpSpPr bwMode="auto">
          <a:xfrm>
            <a:off x="9507538" y="2438401"/>
            <a:ext cx="265112" cy="149225"/>
            <a:chOff x="7493876" y="2774731"/>
            <a:chExt cx="1481958" cy="894622"/>
          </a:xfrm>
        </p:grpSpPr>
        <p:sp>
          <p:nvSpPr>
            <p:cNvPr id="471" name="Freeform 470"/>
            <p:cNvSpPr/>
            <p:nvPr/>
          </p:nvSpPr>
          <p:spPr>
            <a:xfrm>
              <a:off x="7493876" y="3088803"/>
              <a:ext cx="1481958" cy="580550"/>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472" name="Oval 471"/>
            <p:cNvSpPr/>
            <p:nvPr/>
          </p:nvSpPr>
          <p:spPr>
            <a:xfrm>
              <a:off x="7493876" y="2774731"/>
              <a:ext cx="1481958" cy="580556"/>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723" name="Group 472"/>
            <p:cNvGrpSpPr>
              <a:grpSpLocks/>
            </p:cNvGrpSpPr>
            <p:nvPr/>
          </p:nvGrpSpPr>
          <p:grpSpPr bwMode="auto">
            <a:xfrm>
              <a:off x="7713663" y="2848339"/>
              <a:ext cx="1042107" cy="425543"/>
              <a:chOff x="7786941" y="2884917"/>
              <a:chExt cx="897649" cy="353919"/>
            </a:xfrm>
          </p:grpSpPr>
          <p:sp>
            <p:nvSpPr>
              <p:cNvPr id="474" name="Freeform 473"/>
              <p:cNvSpPr/>
              <p:nvPr/>
            </p:nvSpPr>
            <p:spPr>
              <a:xfrm>
                <a:off x="7811652" y="2887021"/>
                <a:ext cx="848468" cy="197886"/>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75" name="Freeform 474"/>
              <p:cNvSpPr/>
              <p:nvPr/>
            </p:nvSpPr>
            <p:spPr>
              <a:xfrm>
                <a:off x="8369653" y="3053246"/>
                <a:ext cx="313401" cy="166220"/>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76" name="Freeform 475"/>
              <p:cNvSpPr/>
              <p:nvPr/>
            </p:nvSpPr>
            <p:spPr>
              <a:xfrm>
                <a:off x="7788718" y="3053246"/>
                <a:ext cx="313401" cy="166220"/>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77" name="Freeform 476"/>
              <p:cNvSpPr/>
              <p:nvPr/>
            </p:nvSpPr>
            <p:spPr>
              <a:xfrm>
                <a:off x="7895732" y="2974092"/>
                <a:ext cx="672661" cy="261204"/>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67" name="Group 477"/>
          <p:cNvGrpSpPr>
            <a:grpSpLocks/>
          </p:cNvGrpSpPr>
          <p:nvPr/>
        </p:nvGrpSpPr>
        <p:grpSpPr bwMode="auto">
          <a:xfrm>
            <a:off x="8348664" y="3824289"/>
            <a:ext cx="274637" cy="180975"/>
            <a:chOff x="7493876" y="2774731"/>
            <a:chExt cx="1481958" cy="894622"/>
          </a:xfrm>
        </p:grpSpPr>
        <p:sp>
          <p:nvSpPr>
            <p:cNvPr id="479" name="Freeform 478"/>
            <p:cNvSpPr/>
            <p:nvPr/>
          </p:nvSpPr>
          <p:spPr>
            <a:xfrm>
              <a:off x="7493876" y="3080783"/>
              <a:ext cx="1481958" cy="588570"/>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480" name="Oval 479"/>
            <p:cNvSpPr/>
            <p:nvPr/>
          </p:nvSpPr>
          <p:spPr>
            <a:xfrm>
              <a:off x="7493876" y="2774731"/>
              <a:ext cx="1481958" cy="58072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716" name="Group 480"/>
            <p:cNvGrpSpPr>
              <a:grpSpLocks/>
            </p:cNvGrpSpPr>
            <p:nvPr/>
          </p:nvGrpSpPr>
          <p:grpSpPr bwMode="auto">
            <a:xfrm>
              <a:off x="7713663" y="2848339"/>
              <a:ext cx="1042107" cy="425543"/>
              <a:chOff x="7786941" y="2884917"/>
              <a:chExt cx="897649" cy="353919"/>
            </a:xfrm>
          </p:grpSpPr>
          <p:sp>
            <p:nvSpPr>
              <p:cNvPr id="482" name="Freeform 481"/>
              <p:cNvSpPr/>
              <p:nvPr/>
            </p:nvSpPr>
            <p:spPr>
              <a:xfrm>
                <a:off x="7811604" y="2882438"/>
                <a:ext cx="848561" cy="202330"/>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83" name="Freeform 482"/>
              <p:cNvSpPr/>
              <p:nvPr/>
            </p:nvSpPr>
            <p:spPr>
              <a:xfrm>
                <a:off x="8365014" y="3052133"/>
                <a:ext cx="317285" cy="176224"/>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84" name="Freeform 483"/>
              <p:cNvSpPr/>
              <p:nvPr/>
            </p:nvSpPr>
            <p:spPr>
              <a:xfrm>
                <a:off x="7789470" y="3052133"/>
                <a:ext cx="309908" cy="176224"/>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85" name="Freeform 484"/>
              <p:cNvSpPr/>
              <p:nvPr/>
            </p:nvSpPr>
            <p:spPr>
              <a:xfrm>
                <a:off x="7900149" y="2967287"/>
                <a:ext cx="671470" cy="274122"/>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68" name="Group 485"/>
          <p:cNvGrpSpPr>
            <a:grpSpLocks/>
          </p:cNvGrpSpPr>
          <p:nvPr/>
        </p:nvGrpSpPr>
        <p:grpSpPr bwMode="auto">
          <a:xfrm>
            <a:off x="9009063" y="2852739"/>
            <a:ext cx="265112" cy="149225"/>
            <a:chOff x="7493876" y="2774731"/>
            <a:chExt cx="1481958" cy="894622"/>
          </a:xfrm>
        </p:grpSpPr>
        <p:sp>
          <p:nvSpPr>
            <p:cNvPr id="487" name="Freeform 486"/>
            <p:cNvSpPr/>
            <p:nvPr/>
          </p:nvSpPr>
          <p:spPr>
            <a:xfrm>
              <a:off x="7493876" y="3088797"/>
              <a:ext cx="1481958" cy="580556"/>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488" name="Oval 487"/>
            <p:cNvSpPr/>
            <p:nvPr/>
          </p:nvSpPr>
          <p:spPr>
            <a:xfrm>
              <a:off x="7493876" y="2774731"/>
              <a:ext cx="1481958" cy="58055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709" name="Group 488"/>
            <p:cNvGrpSpPr>
              <a:grpSpLocks/>
            </p:cNvGrpSpPr>
            <p:nvPr/>
          </p:nvGrpSpPr>
          <p:grpSpPr bwMode="auto">
            <a:xfrm>
              <a:off x="7713663" y="2848339"/>
              <a:ext cx="1042107" cy="425543"/>
              <a:chOff x="7786941" y="2884917"/>
              <a:chExt cx="897649" cy="353919"/>
            </a:xfrm>
          </p:grpSpPr>
          <p:sp>
            <p:nvSpPr>
              <p:cNvPr id="490" name="Freeform 489"/>
              <p:cNvSpPr/>
              <p:nvPr/>
            </p:nvSpPr>
            <p:spPr>
              <a:xfrm>
                <a:off x="7811652" y="2887021"/>
                <a:ext cx="848468" cy="197881"/>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91" name="Freeform 490"/>
              <p:cNvSpPr/>
              <p:nvPr/>
            </p:nvSpPr>
            <p:spPr>
              <a:xfrm>
                <a:off x="8369653" y="3053241"/>
                <a:ext cx="313401" cy="166225"/>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92" name="Freeform 491"/>
              <p:cNvSpPr/>
              <p:nvPr/>
            </p:nvSpPr>
            <p:spPr>
              <a:xfrm>
                <a:off x="7788718" y="3053241"/>
                <a:ext cx="313401" cy="16622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93" name="Freeform 492"/>
              <p:cNvSpPr/>
              <p:nvPr/>
            </p:nvSpPr>
            <p:spPr>
              <a:xfrm>
                <a:off x="7895732" y="2974087"/>
                <a:ext cx="672661" cy="261209"/>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69" name="Group 493"/>
          <p:cNvGrpSpPr>
            <a:grpSpLocks/>
          </p:cNvGrpSpPr>
          <p:nvPr/>
        </p:nvGrpSpPr>
        <p:grpSpPr bwMode="auto">
          <a:xfrm>
            <a:off x="8647114" y="3402014"/>
            <a:ext cx="274637" cy="180975"/>
            <a:chOff x="7493876" y="2774731"/>
            <a:chExt cx="1481958" cy="894622"/>
          </a:xfrm>
        </p:grpSpPr>
        <p:sp>
          <p:nvSpPr>
            <p:cNvPr id="495" name="Freeform 494"/>
            <p:cNvSpPr/>
            <p:nvPr/>
          </p:nvSpPr>
          <p:spPr>
            <a:xfrm>
              <a:off x="7493876" y="3080783"/>
              <a:ext cx="1481958" cy="588570"/>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496" name="Oval 495"/>
            <p:cNvSpPr/>
            <p:nvPr/>
          </p:nvSpPr>
          <p:spPr>
            <a:xfrm>
              <a:off x="7493876" y="2774731"/>
              <a:ext cx="1481958" cy="58072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702" name="Group 496"/>
            <p:cNvGrpSpPr>
              <a:grpSpLocks/>
            </p:cNvGrpSpPr>
            <p:nvPr/>
          </p:nvGrpSpPr>
          <p:grpSpPr bwMode="auto">
            <a:xfrm>
              <a:off x="7713663" y="2848339"/>
              <a:ext cx="1042107" cy="425543"/>
              <a:chOff x="7786941" y="2884917"/>
              <a:chExt cx="897649" cy="353919"/>
            </a:xfrm>
          </p:grpSpPr>
          <p:sp>
            <p:nvSpPr>
              <p:cNvPr id="498" name="Freeform 497"/>
              <p:cNvSpPr/>
              <p:nvPr/>
            </p:nvSpPr>
            <p:spPr>
              <a:xfrm>
                <a:off x="7811604" y="2882438"/>
                <a:ext cx="848561" cy="202330"/>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499" name="Freeform 498"/>
              <p:cNvSpPr/>
              <p:nvPr/>
            </p:nvSpPr>
            <p:spPr>
              <a:xfrm>
                <a:off x="8365014" y="3052133"/>
                <a:ext cx="317285" cy="176224"/>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00" name="Freeform 499"/>
              <p:cNvSpPr/>
              <p:nvPr/>
            </p:nvSpPr>
            <p:spPr>
              <a:xfrm>
                <a:off x="7789470" y="3052133"/>
                <a:ext cx="309908" cy="176224"/>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01" name="Freeform 500"/>
              <p:cNvSpPr/>
              <p:nvPr/>
            </p:nvSpPr>
            <p:spPr>
              <a:xfrm>
                <a:off x="7900149" y="2967287"/>
                <a:ext cx="671470" cy="274122"/>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70" name="Group 501"/>
          <p:cNvGrpSpPr>
            <a:grpSpLocks/>
          </p:cNvGrpSpPr>
          <p:nvPr/>
        </p:nvGrpSpPr>
        <p:grpSpPr bwMode="auto">
          <a:xfrm>
            <a:off x="8724901" y="3857625"/>
            <a:ext cx="276225" cy="179388"/>
            <a:chOff x="7493876" y="2774731"/>
            <a:chExt cx="1481958" cy="894622"/>
          </a:xfrm>
        </p:grpSpPr>
        <p:sp>
          <p:nvSpPr>
            <p:cNvPr id="503" name="Freeform 502"/>
            <p:cNvSpPr/>
            <p:nvPr/>
          </p:nvSpPr>
          <p:spPr>
            <a:xfrm>
              <a:off x="7493876" y="3083496"/>
              <a:ext cx="1481958" cy="5858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504" name="Oval 503"/>
            <p:cNvSpPr/>
            <p:nvPr/>
          </p:nvSpPr>
          <p:spPr>
            <a:xfrm>
              <a:off x="7493876" y="2774731"/>
              <a:ext cx="1481958" cy="577943"/>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695" name="Group 504"/>
            <p:cNvGrpSpPr>
              <a:grpSpLocks/>
            </p:cNvGrpSpPr>
            <p:nvPr/>
          </p:nvGrpSpPr>
          <p:grpSpPr bwMode="auto">
            <a:xfrm>
              <a:off x="7713663" y="2848339"/>
              <a:ext cx="1042107" cy="425543"/>
              <a:chOff x="7786941" y="2884917"/>
              <a:chExt cx="897649" cy="353919"/>
            </a:xfrm>
          </p:grpSpPr>
          <p:sp>
            <p:nvSpPr>
              <p:cNvPr id="506" name="Freeform 505"/>
              <p:cNvSpPr/>
              <p:nvPr/>
            </p:nvSpPr>
            <p:spPr>
              <a:xfrm>
                <a:off x="7810376" y="2882959"/>
                <a:ext cx="851020" cy="197534"/>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07" name="Freeform 506"/>
              <p:cNvSpPr/>
              <p:nvPr/>
            </p:nvSpPr>
            <p:spPr>
              <a:xfrm>
                <a:off x="8367940" y="3054156"/>
                <a:ext cx="315462" cy="171196"/>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08" name="Freeform 507"/>
              <p:cNvSpPr/>
              <p:nvPr/>
            </p:nvSpPr>
            <p:spPr>
              <a:xfrm>
                <a:off x="7788364" y="3054156"/>
                <a:ext cx="308128" cy="171196"/>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09" name="Freeform 508"/>
              <p:cNvSpPr/>
              <p:nvPr/>
            </p:nvSpPr>
            <p:spPr>
              <a:xfrm>
                <a:off x="7898412" y="2968555"/>
                <a:ext cx="674947" cy="269965"/>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371" name="Group 509"/>
          <p:cNvGrpSpPr>
            <a:grpSpLocks/>
          </p:cNvGrpSpPr>
          <p:nvPr/>
        </p:nvGrpSpPr>
        <p:grpSpPr bwMode="auto">
          <a:xfrm>
            <a:off x="9305926" y="3851276"/>
            <a:ext cx="265113" cy="149225"/>
            <a:chOff x="7493876" y="2774731"/>
            <a:chExt cx="1481958" cy="894622"/>
          </a:xfrm>
        </p:grpSpPr>
        <p:sp>
          <p:nvSpPr>
            <p:cNvPr id="511" name="Freeform 510"/>
            <p:cNvSpPr/>
            <p:nvPr/>
          </p:nvSpPr>
          <p:spPr>
            <a:xfrm>
              <a:off x="7493876" y="3088803"/>
              <a:ext cx="1481958" cy="580550"/>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512" name="Oval 511"/>
            <p:cNvSpPr/>
            <p:nvPr/>
          </p:nvSpPr>
          <p:spPr>
            <a:xfrm>
              <a:off x="7493876" y="2774731"/>
              <a:ext cx="1481958" cy="580556"/>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688" name="Group 512"/>
            <p:cNvGrpSpPr>
              <a:grpSpLocks/>
            </p:cNvGrpSpPr>
            <p:nvPr/>
          </p:nvGrpSpPr>
          <p:grpSpPr bwMode="auto">
            <a:xfrm>
              <a:off x="7713663" y="2848339"/>
              <a:ext cx="1042107" cy="425543"/>
              <a:chOff x="7786941" y="2884917"/>
              <a:chExt cx="897649" cy="353919"/>
            </a:xfrm>
          </p:grpSpPr>
          <p:sp>
            <p:nvSpPr>
              <p:cNvPr id="514" name="Freeform 513"/>
              <p:cNvSpPr/>
              <p:nvPr/>
            </p:nvSpPr>
            <p:spPr>
              <a:xfrm>
                <a:off x="7811647" y="2887021"/>
                <a:ext cx="848473" cy="197886"/>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15" name="Freeform 514"/>
              <p:cNvSpPr/>
              <p:nvPr/>
            </p:nvSpPr>
            <p:spPr>
              <a:xfrm>
                <a:off x="8369653" y="3053246"/>
                <a:ext cx="313397" cy="166220"/>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16" name="Freeform 515"/>
              <p:cNvSpPr/>
              <p:nvPr/>
            </p:nvSpPr>
            <p:spPr>
              <a:xfrm>
                <a:off x="7788718" y="3053246"/>
                <a:ext cx="313397" cy="166220"/>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517" name="Freeform 516"/>
              <p:cNvSpPr/>
              <p:nvPr/>
            </p:nvSpPr>
            <p:spPr>
              <a:xfrm>
                <a:off x="7895732" y="2974092"/>
                <a:ext cx="672661" cy="261204"/>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pic>
        <p:nvPicPr>
          <p:cNvPr id="56372" name="Picture 653" descr="iphone_stylized_smal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6488" y="2295526"/>
            <a:ext cx="1016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73" name="Picture 1018" descr="laptop_keyboard"/>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09064" flipH="1">
            <a:off x="7123114" y="2811463"/>
            <a:ext cx="327025" cy="11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0" name="Freeform 1019"/>
          <p:cNvSpPr>
            <a:spLocks/>
          </p:cNvSpPr>
          <p:nvPr/>
        </p:nvSpPr>
        <p:spPr bwMode="auto">
          <a:xfrm>
            <a:off x="7231064" y="2695576"/>
            <a:ext cx="263525" cy="155575"/>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pic>
        <p:nvPicPr>
          <p:cNvPr id="56375" name="Picture 1020" descr="scree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43763" y="2698751"/>
            <a:ext cx="239712" cy="14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21"/>
          <p:cNvSpPr>
            <a:spLocks/>
          </p:cNvSpPr>
          <p:nvPr/>
        </p:nvSpPr>
        <p:spPr bwMode="auto">
          <a:xfrm>
            <a:off x="7278689" y="2690814"/>
            <a:ext cx="223837" cy="28575"/>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23" name="Freeform 1022"/>
          <p:cNvSpPr>
            <a:spLocks/>
          </p:cNvSpPr>
          <p:nvPr/>
        </p:nvSpPr>
        <p:spPr bwMode="auto">
          <a:xfrm>
            <a:off x="7229476" y="2690813"/>
            <a:ext cx="61913" cy="120650"/>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24" name="Freeform 1023"/>
          <p:cNvSpPr>
            <a:spLocks/>
          </p:cNvSpPr>
          <p:nvPr/>
        </p:nvSpPr>
        <p:spPr bwMode="auto">
          <a:xfrm>
            <a:off x="7434264" y="2711450"/>
            <a:ext cx="66675" cy="139700"/>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525" name="Freeform 1024"/>
          <p:cNvSpPr>
            <a:spLocks/>
          </p:cNvSpPr>
          <p:nvPr/>
        </p:nvSpPr>
        <p:spPr bwMode="auto">
          <a:xfrm>
            <a:off x="7227888" y="2805114"/>
            <a:ext cx="246062" cy="47625"/>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26" name="Freeform 1025"/>
          <p:cNvSpPr>
            <a:spLocks/>
          </p:cNvSpPr>
          <p:nvPr/>
        </p:nvSpPr>
        <p:spPr bwMode="auto">
          <a:xfrm>
            <a:off x="7442201" y="2713038"/>
            <a:ext cx="61913" cy="139700"/>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p:spPr>
        <p:txBody>
          <a:bodyPr/>
          <a:lstStyle/>
          <a:p>
            <a:pPr defTabSz="685800">
              <a:defRPr/>
            </a:pPr>
            <a:endParaRPr lang="en-US" sz="1350" dirty="0">
              <a:solidFill>
                <a:prstClr val="black"/>
              </a:solidFill>
              <a:latin typeface="Calibri" panose="020F0502020204030204"/>
            </a:endParaRPr>
          </a:p>
        </p:txBody>
      </p:sp>
      <p:sp>
        <p:nvSpPr>
          <p:cNvPr id="527" name="Freeform 1026"/>
          <p:cNvSpPr>
            <a:spLocks/>
          </p:cNvSpPr>
          <p:nvPr/>
        </p:nvSpPr>
        <p:spPr bwMode="auto">
          <a:xfrm>
            <a:off x="7227889" y="2811464"/>
            <a:ext cx="219075" cy="46037"/>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grpSp>
        <p:nvGrpSpPr>
          <p:cNvPr id="56382" name="Group 1027"/>
          <p:cNvGrpSpPr>
            <a:grpSpLocks/>
          </p:cNvGrpSpPr>
          <p:nvPr/>
        </p:nvGrpSpPr>
        <p:grpSpPr bwMode="auto">
          <a:xfrm>
            <a:off x="7224713" y="2860676"/>
            <a:ext cx="74612" cy="28575"/>
            <a:chOff x="1740" y="2642"/>
            <a:chExt cx="752" cy="327"/>
          </a:xfrm>
        </p:grpSpPr>
        <p:sp>
          <p:nvSpPr>
            <p:cNvPr id="529" name="Freeform 1028"/>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30" name="Freeform 1029"/>
            <p:cNvSpPr>
              <a:spLocks/>
            </p:cNvSpPr>
            <p:nvPr/>
          </p:nvSpPr>
          <p:spPr bwMode="auto">
            <a:xfrm>
              <a:off x="1756" y="2642"/>
              <a:ext cx="720" cy="327"/>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531" name="Freeform 1030"/>
            <p:cNvSpPr>
              <a:spLocks/>
            </p:cNvSpPr>
            <p:nvPr/>
          </p:nvSpPr>
          <p:spPr bwMode="auto">
            <a:xfrm>
              <a:off x="1804" y="2769"/>
              <a:ext cx="256" cy="109"/>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532" name="Freeform 1031"/>
            <p:cNvSpPr>
              <a:spLocks/>
            </p:cNvSpPr>
            <p:nvPr/>
          </p:nvSpPr>
          <p:spPr bwMode="auto">
            <a:xfrm>
              <a:off x="1804" y="2824"/>
              <a:ext cx="192" cy="55"/>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33" name="Freeform 1032"/>
            <p:cNvSpPr>
              <a:spLocks/>
            </p:cNvSpPr>
            <p:nvPr/>
          </p:nvSpPr>
          <p:spPr bwMode="auto">
            <a:xfrm>
              <a:off x="2028" y="2842"/>
              <a:ext cx="256" cy="91"/>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534" name="Freeform 1033"/>
            <p:cNvSpPr>
              <a:spLocks/>
            </p:cNvSpPr>
            <p:nvPr/>
          </p:nvSpPr>
          <p:spPr bwMode="auto">
            <a:xfrm>
              <a:off x="2012" y="2878"/>
              <a:ext cx="192" cy="7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grpSp>
      <p:sp>
        <p:nvSpPr>
          <p:cNvPr id="535" name="Freeform 1034"/>
          <p:cNvSpPr>
            <a:spLocks/>
          </p:cNvSpPr>
          <p:nvPr/>
        </p:nvSpPr>
        <p:spPr bwMode="auto">
          <a:xfrm>
            <a:off x="7351713" y="2865439"/>
            <a:ext cx="88900" cy="60325"/>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36" name="Freeform 1035"/>
          <p:cNvSpPr>
            <a:spLocks/>
          </p:cNvSpPr>
          <p:nvPr/>
        </p:nvSpPr>
        <p:spPr bwMode="auto">
          <a:xfrm>
            <a:off x="7123113" y="2870201"/>
            <a:ext cx="228600" cy="55563"/>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37" name="Freeform 1036"/>
          <p:cNvSpPr>
            <a:spLocks/>
          </p:cNvSpPr>
          <p:nvPr/>
        </p:nvSpPr>
        <p:spPr bwMode="auto">
          <a:xfrm>
            <a:off x="7123114" y="2859088"/>
            <a:ext cx="1587" cy="11112"/>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38" name="Freeform 1037"/>
          <p:cNvSpPr>
            <a:spLocks/>
          </p:cNvSpPr>
          <p:nvPr/>
        </p:nvSpPr>
        <p:spPr bwMode="auto">
          <a:xfrm>
            <a:off x="7123113" y="2814639"/>
            <a:ext cx="106362" cy="46037"/>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39" name="Freeform 1038"/>
          <p:cNvSpPr>
            <a:spLocks/>
          </p:cNvSpPr>
          <p:nvPr/>
        </p:nvSpPr>
        <p:spPr bwMode="auto">
          <a:xfrm>
            <a:off x="7129464" y="2862264"/>
            <a:ext cx="219075" cy="52387"/>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40" name="Freeform 1039"/>
          <p:cNvSpPr>
            <a:spLocks/>
          </p:cNvSpPr>
          <p:nvPr/>
        </p:nvSpPr>
        <p:spPr bwMode="auto">
          <a:xfrm flipV="1">
            <a:off x="7346950" y="2859089"/>
            <a:ext cx="88900" cy="5397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pic>
        <p:nvPicPr>
          <p:cNvPr id="56389" name="Picture 568" descr="light2.pn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8147050" y="2651125"/>
            <a:ext cx="69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90" name="Picture 603" descr="car_icon_small"/>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899400" y="2444750"/>
            <a:ext cx="636588"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91" name="Picture 1116" descr="laptop_keyboard"/>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156450" y="3560764"/>
            <a:ext cx="215900" cy="9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4" name="Freeform 1117"/>
          <p:cNvSpPr>
            <a:spLocks/>
          </p:cNvSpPr>
          <p:nvPr/>
        </p:nvSpPr>
        <p:spPr bwMode="auto">
          <a:xfrm>
            <a:off x="7227889" y="3473451"/>
            <a:ext cx="173037" cy="117475"/>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pic>
        <p:nvPicPr>
          <p:cNvPr id="56393" name="Picture 1118" descr="screen"/>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35825" y="3476626"/>
            <a:ext cx="158750" cy="106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1119"/>
          <p:cNvSpPr>
            <a:spLocks/>
          </p:cNvSpPr>
          <p:nvPr/>
        </p:nvSpPr>
        <p:spPr bwMode="auto">
          <a:xfrm>
            <a:off x="7259638" y="3470276"/>
            <a:ext cx="146050" cy="22225"/>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47" name="Freeform 1120"/>
          <p:cNvSpPr>
            <a:spLocks/>
          </p:cNvSpPr>
          <p:nvPr/>
        </p:nvSpPr>
        <p:spPr bwMode="auto">
          <a:xfrm>
            <a:off x="7226301" y="3470275"/>
            <a:ext cx="41275" cy="90488"/>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48" name="Freeform 1121"/>
          <p:cNvSpPr>
            <a:spLocks/>
          </p:cNvSpPr>
          <p:nvPr/>
        </p:nvSpPr>
        <p:spPr bwMode="auto">
          <a:xfrm>
            <a:off x="7361238" y="3486151"/>
            <a:ext cx="44450" cy="1047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549" name="Freeform 1122"/>
          <p:cNvSpPr>
            <a:spLocks/>
          </p:cNvSpPr>
          <p:nvPr/>
        </p:nvSpPr>
        <p:spPr bwMode="auto">
          <a:xfrm>
            <a:off x="7226300" y="3556001"/>
            <a:ext cx="160338" cy="36513"/>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50" name="Freeform 1123"/>
          <p:cNvSpPr>
            <a:spLocks/>
          </p:cNvSpPr>
          <p:nvPr/>
        </p:nvSpPr>
        <p:spPr bwMode="auto">
          <a:xfrm>
            <a:off x="7366001" y="3487739"/>
            <a:ext cx="41275" cy="10477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p:spPr>
        <p:txBody>
          <a:bodyPr/>
          <a:lstStyle/>
          <a:p>
            <a:pPr defTabSz="685800">
              <a:defRPr/>
            </a:pPr>
            <a:endParaRPr lang="en-US" sz="1350" dirty="0">
              <a:solidFill>
                <a:prstClr val="black"/>
              </a:solidFill>
              <a:latin typeface="Calibri" panose="020F0502020204030204"/>
            </a:endParaRPr>
          </a:p>
        </p:txBody>
      </p:sp>
      <p:sp>
        <p:nvSpPr>
          <p:cNvPr id="551" name="Freeform 1124"/>
          <p:cNvSpPr>
            <a:spLocks/>
          </p:cNvSpPr>
          <p:nvPr/>
        </p:nvSpPr>
        <p:spPr bwMode="auto">
          <a:xfrm>
            <a:off x="7226301" y="3560764"/>
            <a:ext cx="142875" cy="34925"/>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grpSp>
        <p:nvGrpSpPr>
          <p:cNvPr id="56400" name="Group 1125"/>
          <p:cNvGrpSpPr>
            <a:grpSpLocks/>
          </p:cNvGrpSpPr>
          <p:nvPr/>
        </p:nvGrpSpPr>
        <p:grpSpPr bwMode="auto">
          <a:xfrm>
            <a:off x="7223126" y="3598864"/>
            <a:ext cx="49213" cy="20637"/>
            <a:chOff x="1740" y="2642"/>
            <a:chExt cx="752" cy="327"/>
          </a:xfrm>
        </p:grpSpPr>
        <p:sp>
          <p:nvSpPr>
            <p:cNvPr id="553" name="Freeform 1126"/>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54" name="Freeform 1127"/>
            <p:cNvSpPr>
              <a:spLocks/>
            </p:cNvSpPr>
            <p:nvPr/>
          </p:nvSpPr>
          <p:spPr bwMode="auto">
            <a:xfrm>
              <a:off x="1764" y="2642"/>
              <a:ext cx="728" cy="327"/>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555" name="Freeform 1128"/>
            <p:cNvSpPr>
              <a:spLocks/>
            </p:cNvSpPr>
            <p:nvPr/>
          </p:nvSpPr>
          <p:spPr bwMode="auto">
            <a:xfrm>
              <a:off x="1813" y="2768"/>
              <a:ext cx="243" cy="101"/>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556" name="Freeform 1129"/>
            <p:cNvSpPr>
              <a:spLocks/>
            </p:cNvSpPr>
            <p:nvPr/>
          </p:nvSpPr>
          <p:spPr bwMode="auto">
            <a:xfrm>
              <a:off x="1789" y="2818"/>
              <a:ext cx="194" cy="50"/>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57" name="Freeform 1130"/>
            <p:cNvSpPr>
              <a:spLocks/>
            </p:cNvSpPr>
            <p:nvPr/>
          </p:nvSpPr>
          <p:spPr bwMode="auto">
            <a:xfrm>
              <a:off x="2031" y="2843"/>
              <a:ext cx="243" cy="101"/>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558" name="Freeform 1131"/>
            <p:cNvSpPr>
              <a:spLocks/>
            </p:cNvSpPr>
            <p:nvPr/>
          </p:nvSpPr>
          <p:spPr bwMode="auto">
            <a:xfrm>
              <a:off x="2007" y="2894"/>
              <a:ext cx="194" cy="50"/>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grpSp>
      <p:sp>
        <p:nvSpPr>
          <p:cNvPr id="559" name="Freeform 1132"/>
          <p:cNvSpPr>
            <a:spLocks/>
          </p:cNvSpPr>
          <p:nvPr/>
        </p:nvSpPr>
        <p:spPr bwMode="auto">
          <a:xfrm>
            <a:off x="7307264" y="3602038"/>
            <a:ext cx="58737" cy="44450"/>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60" name="Freeform 1133"/>
          <p:cNvSpPr>
            <a:spLocks/>
          </p:cNvSpPr>
          <p:nvPr/>
        </p:nvSpPr>
        <p:spPr bwMode="auto">
          <a:xfrm>
            <a:off x="7156451" y="3605214"/>
            <a:ext cx="150813" cy="41275"/>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61" name="Freeform 1134"/>
          <p:cNvSpPr>
            <a:spLocks/>
          </p:cNvSpPr>
          <p:nvPr/>
        </p:nvSpPr>
        <p:spPr bwMode="auto">
          <a:xfrm>
            <a:off x="7156450" y="3597275"/>
            <a:ext cx="1588" cy="7938"/>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62" name="Freeform 1135"/>
          <p:cNvSpPr>
            <a:spLocks/>
          </p:cNvSpPr>
          <p:nvPr/>
        </p:nvSpPr>
        <p:spPr bwMode="auto">
          <a:xfrm>
            <a:off x="7156450" y="3563939"/>
            <a:ext cx="69850" cy="34925"/>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63" name="Freeform 1136"/>
          <p:cNvSpPr>
            <a:spLocks/>
          </p:cNvSpPr>
          <p:nvPr/>
        </p:nvSpPr>
        <p:spPr bwMode="auto">
          <a:xfrm>
            <a:off x="7161214" y="3598864"/>
            <a:ext cx="142875" cy="39687"/>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564" name="Freeform 1137"/>
          <p:cNvSpPr>
            <a:spLocks/>
          </p:cNvSpPr>
          <p:nvPr/>
        </p:nvSpPr>
        <p:spPr bwMode="auto">
          <a:xfrm flipV="1">
            <a:off x="7304089" y="3597276"/>
            <a:ext cx="58737" cy="41275"/>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pic>
        <p:nvPicPr>
          <p:cNvPr id="56407" name="Picture 1140" descr="desktop_computer_stylized_medium"/>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518400" y="3532189"/>
            <a:ext cx="268288"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6" name="Freeform 1141"/>
          <p:cNvSpPr>
            <a:spLocks/>
          </p:cNvSpPr>
          <p:nvPr/>
        </p:nvSpPr>
        <p:spPr bwMode="auto">
          <a:xfrm flipH="1">
            <a:off x="7632700" y="3557589"/>
            <a:ext cx="127000" cy="117475"/>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pPr defTabSz="685800">
              <a:defRPr/>
            </a:pPr>
            <a:endParaRPr lang="en-US" sz="1350" dirty="0">
              <a:solidFill>
                <a:prstClr val="black"/>
              </a:solidFill>
              <a:latin typeface="Calibri" panose="020F0502020204030204"/>
            </a:endParaRPr>
          </a:p>
        </p:txBody>
      </p:sp>
      <p:pic>
        <p:nvPicPr>
          <p:cNvPr id="56409" name="Picture 571" descr="fridge2.png"/>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451725" y="3395663"/>
            <a:ext cx="141288"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410" name="Group 950"/>
          <p:cNvGrpSpPr>
            <a:grpSpLocks/>
          </p:cNvGrpSpPr>
          <p:nvPr/>
        </p:nvGrpSpPr>
        <p:grpSpPr bwMode="auto">
          <a:xfrm>
            <a:off x="9240838" y="4813300"/>
            <a:ext cx="133350" cy="247650"/>
            <a:chOff x="4140" y="429"/>
            <a:chExt cx="1425" cy="2396"/>
          </a:xfrm>
        </p:grpSpPr>
        <p:sp>
          <p:nvSpPr>
            <p:cNvPr id="569" name="Freeform 951"/>
            <p:cNvSpPr>
              <a:spLocks/>
            </p:cNvSpPr>
            <p:nvPr/>
          </p:nvSpPr>
          <p:spPr bwMode="auto">
            <a:xfrm>
              <a:off x="5260" y="429"/>
              <a:ext cx="288" cy="2288"/>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664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71" name="Freeform 953"/>
            <p:cNvSpPr>
              <a:spLocks/>
            </p:cNvSpPr>
            <p:nvPr/>
          </p:nvSpPr>
          <p:spPr bwMode="auto">
            <a:xfrm>
              <a:off x="5327" y="567"/>
              <a:ext cx="170" cy="21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72" name="Freeform 954"/>
            <p:cNvSpPr>
              <a:spLocks/>
            </p:cNvSpPr>
            <p:nvPr/>
          </p:nvSpPr>
          <p:spPr bwMode="auto">
            <a:xfrm>
              <a:off x="5277" y="1642"/>
              <a:ext cx="271" cy="184"/>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664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nvGrpSpPr>
            <p:cNvPr id="56647" name="Group 956"/>
            <p:cNvGrpSpPr>
              <a:grpSpLocks/>
            </p:cNvGrpSpPr>
            <p:nvPr/>
          </p:nvGrpSpPr>
          <p:grpSpPr bwMode="auto">
            <a:xfrm>
              <a:off x="4749" y="668"/>
              <a:ext cx="581" cy="145"/>
              <a:chOff x="614" y="2568"/>
              <a:chExt cx="725" cy="139"/>
            </a:xfrm>
          </p:grpSpPr>
          <p:sp>
            <p:nvSpPr>
              <p:cNvPr id="5667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7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5664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nvGrpSpPr>
            <p:cNvPr id="56649" name="Group 960"/>
            <p:cNvGrpSpPr>
              <a:grpSpLocks/>
            </p:cNvGrpSpPr>
            <p:nvPr/>
          </p:nvGrpSpPr>
          <p:grpSpPr bwMode="auto">
            <a:xfrm>
              <a:off x="4747" y="994"/>
              <a:ext cx="581" cy="134"/>
              <a:chOff x="614" y="2568"/>
              <a:chExt cx="725" cy="139"/>
            </a:xfrm>
          </p:grpSpPr>
          <p:sp>
            <p:nvSpPr>
              <p:cNvPr id="5667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7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5665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5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nvGrpSpPr>
            <p:cNvPr id="56652" name="Group 965"/>
            <p:cNvGrpSpPr>
              <a:grpSpLocks/>
            </p:cNvGrpSpPr>
            <p:nvPr/>
          </p:nvGrpSpPr>
          <p:grpSpPr bwMode="auto">
            <a:xfrm>
              <a:off x="4735" y="1627"/>
              <a:ext cx="582" cy="151"/>
              <a:chOff x="614" y="2568"/>
              <a:chExt cx="725" cy="139"/>
            </a:xfrm>
          </p:grpSpPr>
          <p:sp>
            <p:nvSpPr>
              <p:cNvPr id="5666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6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580" name="Freeform 968"/>
            <p:cNvSpPr>
              <a:spLocks/>
            </p:cNvSpPr>
            <p:nvPr/>
          </p:nvSpPr>
          <p:spPr bwMode="auto">
            <a:xfrm>
              <a:off x="5294" y="1351"/>
              <a:ext cx="254" cy="184"/>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grpSp>
          <p:nvGrpSpPr>
            <p:cNvPr id="56654" name="Group 969"/>
            <p:cNvGrpSpPr>
              <a:grpSpLocks/>
            </p:cNvGrpSpPr>
            <p:nvPr/>
          </p:nvGrpSpPr>
          <p:grpSpPr bwMode="auto">
            <a:xfrm>
              <a:off x="4739" y="1327"/>
              <a:ext cx="582" cy="139"/>
              <a:chOff x="614" y="2568"/>
              <a:chExt cx="725" cy="139"/>
            </a:xfrm>
          </p:grpSpPr>
          <p:sp>
            <p:nvSpPr>
              <p:cNvPr id="5666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6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5665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83" name="Freeform 973"/>
            <p:cNvSpPr>
              <a:spLocks/>
            </p:cNvSpPr>
            <p:nvPr/>
          </p:nvSpPr>
          <p:spPr bwMode="auto">
            <a:xfrm>
              <a:off x="5311" y="1013"/>
              <a:ext cx="238" cy="215"/>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84" name="Freeform 974"/>
            <p:cNvSpPr>
              <a:spLocks/>
            </p:cNvSpPr>
            <p:nvPr/>
          </p:nvSpPr>
          <p:spPr bwMode="auto">
            <a:xfrm>
              <a:off x="5311" y="675"/>
              <a:ext cx="254" cy="246"/>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665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86" name="Freeform 976"/>
            <p:cNvSpPr>
              <a:spLocks/>
            </p:cNvSpPr>
            <p:nvPr/>
          </p:nvSpPr>
          <p:spPr bwMode="auto">
            <a:xfrm>
              <a:off x="5294" y="2610"/>
              <a:ext cx="254"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pPr defTabSz="685800">
                <a:defRPr/>
              </a:pPr>
              <a:endParaRPr lang="en-US" sz="1350" dirty="0">
                <a:solidFill>
                  <a:prstClr val="black"/>
                </a:solidFill>
                <a:latin typeface="Calibri" panose="020F0502020204030204"/>
              </a:endParaRPr>
            </a:p>
          </p:txBody>
        </p:sp>
        <p:sp>
          <p:nvSpPr>
            <p:cNvPr id="5666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6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6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90" name="Oval 980"/>
            <p:cNvSpPr>
              <a:spLocks noChangeArrowheads="1"/>
            </p:cNvSpPr>
            <p:nvPr/>
          </p:nvSpPr>
          <p:spPr bwMode="auto">
            <a:xfrm>
              <a:off x="4496" y="2380"/>
              <a:ext cx="153" cy="138"/>
            </a:xfrm>
            <a:prstGeom prst="ellipse">
              <a:avLst/>
            </a:prstGeom>
            <a:solidFill>
              <a:srgbClr val="FF0000"/>
            </a:solidFill>
            <a:ln>
              <a:noFill/>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defTabSz="685800">
                <a:lnSpc>
                  <a:spcPct val="100000"/>
                </a:lnSpc>
                <a:spcBef>
                  <a:spcPct val="0"/>
                </a:spcBef>
                <a:buClrTx/>
                <a:buSzTx/>
                <a:buNone/>
                <a:defRPr/>
              </a:pPr>
              <a:endParaRPr lang="en-US" altLang="en-US" sz="1350" dirty="0">
                <a:solidFill>
                  <a:srgbClr val="FF0000"/>
                </a:solidFill>
                <a:latin typeface="Arial" panose="020B0604020202020204" pitchFamily="34" charset="0"/>
              </a:endParaRPr>
            </a:p>
          </p:txBody>
        </p:sp>
        <p:sp>
          <p:nvSpPr>
            <p:cNvPr id="5666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6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grpSp>
        <p:nvGrpSpPr>
          <p:cNvPr id="56411" name="Group 590"/>
          <p:cNvGrpSpPr>
            <a:grpSpLocks/>
          </p:cNvGrpSpPr>
          <p:nvPr/>
        </p:nvGrpSpPr>
        <p:grpSpPr bwMode="auto">
          <a:xfrm flipH="1">
            <a:off x="7508875" y="4532313"/>
            <a:ext cx="260350" cy="239712"/>
            <a:chOff x="2839" y="3501"/>
            <a:chExt cx="755" cy="803"/>
          </a:xfrm>
        </p:grpSpPr>
        <p:pic>
          <p:nvPicPr>
            <p:cNvPr id="56640" name="Picture 591" descr="desktop_computer_stylized_mediu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3" name="Freeform 592"/>
            <p:cNvSpPr>
              <a:spLocks/>
            </p:cNvSpPr>
            <p:nvPr/>
          </p:nvSpPr>
          <p:spPr bwMode="auto">
            <a:xfrm>
              <a:off x="2917" y="3575"/>
              <a:ext cx="354" cy="372"/>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pPr defTabSz="685800">
                <a:defRPr/>
              </a:pPr>
              <a:endParaRPr lang="en-US" sz="1350" dirty="0">
                <a:solidFill>
                  <a:prstClr val="black"/>
                </a:solidFill>
                <a:latin typeface="Calibri" panose="020F0502020204030204"/>
              </a:endParaRPr>
            </a:p>
          </p:txBody>
        </p:sp>
      </p:grpSp>
      <p:pic>
        <p:nvPicPr>
          <p:cNvPr id="56412" name="Picture 1066" descr="laptop_keyboard"/>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8435975" y="5387975"/>
            <a:ext cx="190500" cy="90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5" name="Freeform 1067"/>
          <p:cNvSpPr>
            <a:spLocks/>
          </p:cNvSpPr>
          <p:nvPr/>
        </p:nvSpPr>
        <p:spPr bwMode="auto">
          <a:xfrm>
            <a:off x="8499475" y="5300664"/>
            <a:ext cx="152400" cy="117475"/>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pic>
        <p:nvPicPr>
          <p:cNvPr id="56414" name="Picture 1068" descr="screen"/>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07413" y="5302250"/>
            <a:ext cx="138112"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7" name="Freeform 1069"/>
          <p:cNvSpPr>
            <a:spLocks/>
          </p:cNvSpPr>
          <p:nvPr/>
        </p:nvSpPr>
        <p:spPr bwMode="auto">
          <a:xfrm>
            <a:off x="8528050" y="5295901"/>
            <a:ext cx="128588" cy="22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608" name="Freeform 1070"/>
          <p:cNvSpPr>
            <a:spLocks/>
          </p:cNvSpPr>
          <p:nvPr/>
        </p:nvSpPr>
        <p:spPr bwMode="auto">
          <a:xfrm>
            <a:off x="8497888" y="5295901"/>
            <a:ext cx="36512" cy="92075"/>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09" name="Freeform 1071"/>
          <p:cNvSpPr>
            <a:spLocks/>
          </p:cNvSpPr>
          <p:nvPr/>
        </p:nvSpPr>
        <p:spPr bwMode="auto">
          <a:xfrm>
            <a:off x="8616950" y="5311776"/>
            <a:ext cx="39688" cy="106363"/>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610" name="Freeform 1072"/>
          <p:cNvSpPr>
            <a:spLocks/>
          </p:cNvSpPr>
          <p:nvPr/>
        </p:nvSpPr>
        <p:spPr bwMode="auto">
          <a:xfrm>
            <a:off x="8497889" y="5383214"/>
            <a:ext cx="141287" cy="34925"/>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612" name="Freeform 1073"/>
          <p:cNvSpPr>
            <a:spLocks/>
          </p:cNvSpPr>
          <p:nvPr/>
        </p:nvSpPr>
        <p:spPr bwMode="auto">
          <a:xfrm>
            <a:off x="8621713" y="5313363"/>
            <a:ext cx="36512" cy="106362"/>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p:spPr>
        <p:txBody>
          <a:bodyPr/>
          <a:lstStyle/>
          <a:p>
            <a:pPr defTabSz="685800">
              <a:defRPr/>
            </a:pPr>
            <a:endParaRPr lang="en-US" sz="1350" dirty="0">
              <a:solidFill>
                <a:prstClr val="black"/>
              </a:solidFill>
              <a:latin typeface="Calibri" panose="020F0502020204030204"/>
            </a:endParaRPr>
          </a:p>
        </p:txBody>
      </p:sp>
      <p:sp>
        <p:nvSpPr>
          <p:cNvPr id="613" name="Freeform 1074"/>
          <p:cNvSpPr>
            <a:spLocks/>
          </p:cNvSpPr>
          <p:nvPr/>
        </p:nvSpPr>
        <p:spPr bwMode="auto">
          <a:xfrm>
            <a:off x="8497888" y="5387976"/>
            <a:ext cx="127000" cy="34925"/>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grpSp>
        <p:nvGrpSpPr>
          <p:cNvPr id="56421" name="Group 1075"/>
          <p:cNvGrpSpPr>
            <a:grpSpLocks/>
          </p:cNvGrpSpPr>
          <p:nvPr/>
        </p:nvGrpSpPr>
        <p:grpSpPr bwMode="auto">
          <a:xfrm>
            <a:off x="8496301" y="5424489"/>
            <a:ext cx="42863" cy="20637"/>
            <a:chOff x="1740" y="2642"/>
            <a:chExt cx="752" cy="327"/>
          </a:xfrm>
        </p:grpSpPr>
        <p:sp>
          <p:nvSpPr>
            <p:cNvPr id="615" name="Freeform 1076"/>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16" name="Freeform 1077"/>
            <p:cNvSpPr>
              <a:spLocks/>
            </p:cNvSpPr>
            <p:nvPr/>
          </p:nvSpPr>
          <p:spPr bwMode="auto">
            <a:xfrm>
              <a:off x="1768" y="2642"/>
              <a:ext cx="724" cy="327"/>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617" name="Freeform 1078"/>
            <p:cNvSpPr>
              <a:spLocks/>
            </p:cNvSpPr>
            <p:nvPr/>
          </p:nvSpPr>
          <p:spPr bwMode="auto">
            <a:xfrm>
              <a:off x="1796" y="2768"/>
              <a:ext cx="279" cy="101"/>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618" name="Freeform 1079"/>
            <p:cNvSpPr>
              <a:spLocks/>
            </p:cNvSpPr>
            <p:nvPr/>
          </p:nvSpPr>
          <p:spPr bwMode="auto">
            <a:xfrm>
              <a:off x="1796" y="2818"/>
              <a:ext cx="195" cy="50"/>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19" name="Freeform 1080"/>
            <p:cNvSpPr>
              <a:spLocks/>
            </p:cNvSpPr>
            <p:nvPr/>
          </p:nvSpPr>
          <p:spPr bwMode="auto">
            <a:xfrm>
              <a:off x="2019" y="2843"/>
              <a:ext cx="251" cy="101"/>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620" name="Freeform 1081"/>
            <p:cNvSpPr>
              <a:spLocks/>
            </p:cNvSpPr>
            <p:nvPr/>
          </p:nvSpPr>
          <p:spPr bwMode="auto">
            <a:xfrm>
              <a:off x="2019" y="2894"/>
              <a:ext cx="195" cy="50"/>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grpSp>
      <p:sp>
        <p:nvSpPr>
          <p:cNvPr id="621" name="Freeform 1082"/>
          <p:cNvSpPr>
            <a:spLocks/>
          </p:cNvSpPr>
          <p:nvPr/>
        </p:nvSpPr>
        <p:spPr bwMode="auto">
          <a:xfrm>
            <a:off x="8569325" y="5427664"/>
            <a:ext cx="52388" cy="46037"/>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22" name="Freeform 1083"/>
          <p:cNvSpPr>
            <a:spLocks/>
          </p:cNvSpPr>
          <p:nvPr/>
        </p:nvSpPr>
        <p:spPr bwMode="auto">
          <a:xfrm>
            <a:off x="8435975" y="5432426"/>
            <a:ext cx="133350" cy="41275"/>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23" name="Freeform 1084"/>
          <p:cNvSpPr>
            <a:spLocks/>
          </p:cNvSpPr>
          <p:nvPr/>
        </p:nvSpPr>
        <p:spPr bwMode="auto">
          <a:xfrm>
            <a:off x="8435975" y="5424489"/>
            <a:ext cx="1588" cy="7937"/>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24" name="Freeform 1085"/>
          <p:cNvSpPr>
            <a:spLocks/>
          </p:cNvSpPr>
          <p:nvPr/>
        </p:nvSpPr>
        <p:spPr bwMode="auto">
          <a:xfrm>
            <a:off x="8435976" y="5389564"/>
            <a:ext cx="61913" cy="34925"/>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25" name="Freeform 1086"/>
          <p:cNvSpPr>
            <a:spLocks/>
          </p:cNvSpPr>
          <p:nvPr/>
        </p:nvSpPr>
        <p:spPr bwMode="auto">
          <a:xfrm>
            <a:off x="8440738" y="5426075"/>
            <a:ext cx="127000" cy="3968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26" name="Freeform 1087"/>
          <p:cNvSpPr>
            <a:spLocks/>
          </p:cNvSpPr>
          <p:nvPr/>
        </p:nvSpPr>
        <p:spPr bwMode="auto">
          <a:xfrm flipV="1">
            <a:off x="8566150" y="5422901"/>
            <a:ext cx="52388" cy="41275"/>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grpSp>
        <p:nvGrpSpPr>
          <p:cNvPr id="56428" name="Group 590"/>
          <p:cNvGrpSpPr>
            <a:grpSpLocks/>
          </p:cNvGrpSpPr>
          <p:nvPr/>
        </p:nvGrpSpPr>
        <p:grpSpPr bwMode="auto">
          <a:xfrm flipH="1">
            <a:off x="7639050" y="4986338"/>
            <a:ext cx="260350" cy="239712"/>
            <a:chOff x="2839" y="3501"/>
            <a:chExt cx="755" cy="803"/>
          </a:xfrm>
        </p:grpSpPr>
        <p:pic>
          <p:nvPicPr>
            <p:cNvPr id="56632" name="Picture 591" descr="desktop_computer_stylized_mediu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9" name="Freeform 592"/>
            <p:cNvSpPr>
              <a:spLocks/>
            </p:cNvSpPr>
            <p:nvPr/>
          </p:nvSpPr>
          <p:spPr bwMode="auto">
            <a:xfrm>
              <a:off x="2917" y="3575"/>
              <a:ext cx="354" cy="372"/>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pPr defTabSz="685800">
                <a:defRPr/>
              </a:pPr>
              <a:endParaRPr lang="en-US" sz="1350" dirty="0">
                <a:solidFill>
                  <a:prstClr val="black"/>
                </a:solidFill>
                <a:latin typeface="Calibri" panose="020F0502020204030204"/>
              </a:endParaRPr>
            </a:p>
          </p:txBody>
        </p:sp>
      </p:grpSp>
      <p:grpSp>
        <p:nvGrpSpPr>
          <p:cNvPr id="56429" name="Group 590"/>
          <p:cNvGrpSpPr>
            <a:grpSpLocks/>
          </p:cNvGrpSpPr>
          <p:nvPr/>
        </p:nvGrpSpPr>
        <p:grpSpPr bwMode="auto">
          <a:xfrm flipH="1">
            <a:off x="7937500" y="5002213"/>
            <a:ext cx="260350" cy="239712"/>
            <a:chOff x="2839" y="3501"/>
            <a:chExt cx="755" cy="803"/>
          </a:xfrm>
        </p:grpSpPr>
        <p:pic>
          <p:nvPicPr>
            <p:cNvPr id="56630" name="Picture 591" descr="desktop_computer_stylized_mediu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2" name="Freeform 592"/>
            <p:cNvSpPr>
              <a:spLocks/>
            </p:cNvSpPr>
            <p:nvPr/>
          </p:nvSpPr>
          <p:spPr bwMode="auto">
            <a:xfrm>
              <a:off x="2917" y="3575"/>
              <a:ext cx="354" cy="372"/>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pPr defTabSz="685800">
                <a:defRPr/>
              </a:pPr>
              <a:endParaRPr lang="en-US" sz="1350" dirty="0">
                <a:solidFill>
                  <a:prstClr val="black"/>
                </a:solidFill>
                <a:latin typeface="Calibri" panose="020F0502020204030204"/>
              </a:endParaRPr>
            </a:p>
          </p:txBody>
        </p:sp>
      </p:grpSp>
      <p:pic>
        <p:nvPicPr>
          <p:cNvPr id="56430" name="Picture 1066" descr="laptop_keyboard"/>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rot="109064" flipH="1">
            <a:off x="8686801" y="5319713"/>
            <a:ext cx="195263" cy="7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4" name="Freeform 1067"/>
          <p:cNvSpPr>
            <a:spLocks/>
          </p:cNvSpPr>
          <p:nvPr/>
        </p:nvSpPr>
        <p:spPr bwMode="auto">
          <a:xfrm>
            <a:off x="8751888" y="5246689"/>
            <a:ext cx="157162" cy="96837"/>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pic>
        <p:nvPicPr>
          <p:cNvPr id="56432" name="Picture 1068" descr="screen"/>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59826" y="5249863"/>
            <a:ext cx="142875" cy="88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6" name="Freeform 1069"/>
          <p:cNvSpPr>
            <a:spLocks/>
          </p:cNvSpPr>
          <p:nvPr/>
        </p:nvSpPr>
        <p:spPr bwMode="auto">
          <a:xfrm>
            <a:off x="8780463" y="5245101"/>
            <a:ext cx="133350" cy="17463"/>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637" name="Freeform 1070"/>
          <p:cNvSpPr>
            <a:spLocks/>
          </p:cNvSpPr>
          <p:nvPr/>
        </p:nvSpPr>
        <p:spPr bwMode="auto">
          <a:xfrm>
            <a:off x="8750301" y="5243513"/>
            <a:ext cx="36513" cy="7620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38" name="Freeform 1071"/>
          <p:cNvSpPr>
            <a:spLocks/>
          </p:cNvSpPr>
          <p:nvPr/>
        </p:nvSpPr>
        <p:spPr bwMode="auto">
          <a:xfrm>
            <a:off x="8872539" y="5257801"/>
            <a:ext cx="39687" cy="87313"/>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639" name="Freeform 1072"/>
          <p:cNvSpPr>
            <a:spLocks/>
          </p:cNvSpPr>
          <p:nvPr/>
        </p:nvSpPr>
        <p:spPr bwMode="auto">
          <a:xfrm>
            <a:off x="8750300" y="5314951"/>
            <a:ext cx="146050" cy="30163"/>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640" name="Freeform 1073"/>
          <p:cNvSpPr>
            <a:spLocks/>
          </p:cNvSpPr>
          <p:nvPr/>
        </p:nvSpPr>
        <p:spPr bwMode="auto">
          <a:xfrm>
            <a:off x="8877301" y="5257801"/>
            <a:ext cx="36513" cy="87313"/>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p:spPr>
        <p:txBody>
          <a:bodyPr/>
          <a:lstStyle/>
          <a:p>
            <a:pPr defTabSz="685800">
              <a:defRPr/>
            </a:pPr>
            <a:endParaRPr lang="en-US" sz="1350" dirty="0">
              <a:solidFill>
                <a:prstClr val="black"/>
              </a:solidFill>
              <a:latin typeface="Calibri" panose="020F0502020204030204"/>
            </a:endParaRPr>
          </a:p>
        </p:txBody>
      </p:sp>
      <p:sp>
        <p:nvSpPr>
          <p:cNvPr id="641" name="Freeform 1074"/>
          <p:cNvSpPr>
            <a:spLocks/>
          </p:cNvSpPr>
          <p:nvPr/>
        </p:nvSpPr>
        <p:spPr bwMode="auto">
          <a:xfrm>
            <a:off x="8750301" y="5319714"/>
            <a:ext cx="130175" cy="28575"/>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grpSp>
        <p:nvGrpSpPr>
          <p:cNvPr id="56439" name="Group 1075"/>
          <p:cNvGrpSpPr>
            <a:grpSpLocks/>
          </p:cNvGrpSpPr>
          <p:nvPr/>
        </p:nvGrpSpPr>
        <p:grpSpPr bwMode="auto">
          <a:xfrm>
            <a:off x="8747125" y="5349876"/>
            <a:ext cx="44450" cy="17463"/>
            <a:chOff x="1740" y="2642"/>
            <a:chExt cx="752" cy="327"/>
          </a:xfrm>
        </p:grpSpPr>
        <p:sp>
          <p:nvSpPr>
            <p:cNvPr id="643" name="Freeform 1076"/>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44" name="Freeform 1077"/>
            <p:cNvSpPr>
              <a:spLocks/>
            </p:cNvSpPr>
            <p:nvPr/>
          </p:nvSpPr>
          <p:spPr bwMode="auto">
            <a:xfrm>
              <a:off x="1767" y="2642"/>
              <a:ext cx="725" cy="327"/>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p:spPr>
          <p:txBody>
            <a:bodyPr/>
            <a:lstStyle/>
            <a:p>
              <a:pPr defTabSz="685800">
                <a:defRPr/>
              </a:pPr>
              <a:endParaRPr lang="en-US" sz="1350" dirty="0">
                <a:solidFill>
                  <a:prstClr val="black"/>
                </a:solidFill>
                <a:latin typeface="Calibri" panose="020F0502020204030204"/>
              </a:endParaRPr>
            </a:p>
          </p:txBody>
        </p:sp>
        <p:sp>
          <p:nvSpPr>
            <p:cNvPr id="645" name="Freeform 1078"/>
            <p:cNvSpPr>
              <a:spLocks/>
            </p:cNvSpPr>
            <p:nvPr/>
          </p:nvSpPr>
          <p:spPr bwMode="auto">
            <a:xfrm>
              <a:off x="1821" y="2761"/>
              <a:ext cx="242" cy="119"/>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646" name="Freeform 1079"/>
            <p:cNvSpPr>
              <a:spLocks/>
            </p:cNvSpPr>
            <p:nvPr/>
          </p:nvSpPr>
          <p:spPr bwMode="auto">
            <a:xfrm>
              <a:off x="1794" y="2820"/>
              <a:ext cx="188" cy="59"/>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47" name="Freeform 1080"/>
            <p:cNvSpPr>
              <a:spLocks/>
            </p:cNvSpPr>
            <p:nvPr/>
          </p:nvSpPr>
          <p:spPr bwMode="auto">
            <a:xfrm>
              <a:off x="2009" y="2820"/>
              <a:ext cx="269" cy="119"/>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p:spPr>
          <p:txBody>
            <a:bodyPr/>
            <a:lstStyle/>
            <a:p>
              <a:pPr defTabSz="685800">
                <a:defRPr/>
              </a:pPr>
              <a:endParaRPr lang="en-US" sz="1350" dirty="0">
                <a:solidFill>
                  <a:prstClr val="black"/>
                </a:solidFill>
                <a:latin typeface="Calibri" panose="020F0502020204030204"/>
              </a:endParaRPr>
            </a:p>
          </p:txBody>
        </p:sp>
        <p:sp>
          <p:nvSpPr>
            <p:cNvPr id="648" name="Freeform 1081"/>
            <p:cNvSpPr>
              <a:spLocks/>
            </p:cNvSpPr>
            <p:nvPr/>
          </p:nvSpPr>
          <p:spPr bwMode="auto">
            <a:xfrm>
              <a:off x="2009" y="2880"/>
              <a:ext cx="188" cy="59"/>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grpSp>
      <p:sp>
        <p:nvSpPr>
          <p:cNvPr id="649" name="Freeform 1082"/>
          <p:cNvSpPr>
            <a:spLocks/>
          </p:cNvSpPr>
          <p:nvPr/>
        </p:nvSpPr>
        <p:spPr bwMode="auto">
          <a:xfrm>
            <a:off x="8823326" y="5353050"/>
            <a:ext cx="53975" cy="38100"/>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50" name="Freeform 1083"/>
          <p:cNvSpPr>
            <a:spLocks/>
          </p:cNvSpPr>
          <p:nvPr/>
        </p:nvSpPr>
        <p:spPr bwMode="auto">
          <a:xfrm>
            <a:off x="8686801" y="5356225"/>
            <a:ext cx="136525" cy="33338"/>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51" name="Freeform 1084"/>
          <p:cNvSpPr>
            <a:spLocks/>
          </p:cNvSpPr>
          <p:nvPr/>
        </p:nvSpPr>
        <p:spPr bwMode="auto">
          <a:xfrm>
            <a:off x="8686800" y="5349875"/>
            <a:ext cx="1588" cy="635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52" name="Freeform 1085"/>
          <p:cNvSpPr>
            <a:spLocks/>
          </p:cNvSpPr>
          <p:nvPr/>
        </p:nvSpPr>
        <p:spPr bwMode="auto">
          <a:xfrm>
            <a:off x="8686800" y="5321301"/>
            <a:ext cx="63500" cy="28575"/>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53" name="Freeform 1086"/>
          <p:cNvSpPr>
            <a:spLocks/>
          </p:cNvSpPr>
          <p:nvPr/>
        </p:nvSpPr>
        <p:spPr bwMode="auto">
          <a:xfrm>
            <a:off x="8691564" y="5351464"/>
            <a:ext cx="130175" cy="33337"/>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sp>
        <p:nvSpPr>
          <p:cNvPr id="654" name="Freeform 1087"/>
          <p:cNvSpPr>
            <a:spLocks/>
          </p:cNvSpPr>
          <p:nvPr/>
        </p:nvSpPr>
        <p:spPr bwMode="auto">
          <a:xfrm flipV="1">
            <a:off x="8820151" y="5348289"/>
            <a:ext cx="53975" cy="34925"/>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p:spPr>
        <p:txBody>
          <a:bodyPr/>
          <a:lstStyle/>
          <a:p>
            <a:pPr defTabSz="685800">
              <a:defRPr/>
            </a:pPr>
            <a:endParaRPr lang="en-US" sz="1350" dirty="0">
              <a:solidFill>
                <a:prstClr val="black"/>
              </a:solidFill>
              <a:latin typeface="Calibri" panose="020F0502020204030204"/>
            </a:endParaRPr>
          </a:p>
        </p:txBody>
      </p:sp>
      <p:grpSp>
        <p:nvGrpSpPr>
          <p:cNvPr id="56446" name="Group 983"/>
          <p:cNvGrpSpPr>
            <a:grpSpLocks/>
          </p:cNvGrpSpPr>
          <p:nvPr/>
        </p:nvGrpSpPr>
        <p:grpSpPr bwMode="auto">
          <a:xfrm>
            <a:off x="9037639" y="5084764"/>
            <a:ext cx="128587" cy="261937"/>
            <a:chOff x="4140" y="429"/>
            <a:chExt cx="1425" cy="2396"/>
          </a:xfrm>
        </p:grpSpPr>
        <p:sp>
          <p:nvSpPr>
            <p:cNvPr id="656" name="Freeform 984"/>
            <p:cNvSpPr>
              <a:spLocks/>
            </p:cNvSpPr>
            <p:nvPr/>
          </p:nvSpPr>
          <p:spPr bwMode="auto">
            <a:xfrm>
              <a:off x="5266" y="429"/>
              <a:ext cx="281" cy="229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6593" name="Rectangle 985"/>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658" name="Freeform 986"/>
            <p:cNvSpPr>
              <a:spLocks/>
            </p:cNvSpPr>
            <p:nvPr/>
          </p:nvSpPr>
          <p:spPr bwMode="auto">
            <a:xfrm>
              <a:off x="5319" y="574"/>
              <a:ext cx="176" cy="2106"/>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659" name="Freeform 987"/>
            <p:cNvSpPr>
              <a:spLocks/>
            </p:cNvSpPr>
            <p:nvPr/>
          </p:nvSpPr>
          <p:spPr bwMode="auto">
            <a:xfrm>
              <a:off x="5284" y="1634"/>
              <a:ext cx="264"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6596" name="Rectangle 988"/>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nvGrpSpPr>
            <p:cNvPr id="56597" name="Group 989"/>
            <p:cNvGrpSpPr>
              <a:grpSpLocks/>
            </p:cNvGrpSpPr>
            <p:nvPr/>
          </p:nvGrpSpPr>
          <p:grpSpPr bwMode="auto">
            <a:xfrm>
              <a:off x="4749" y="668"/>
              <a:ext cx="581" cy="145"/>
              <a:chOff x="614" y="2568"/>
              <a:chExt cx="725" cy="139"/>
            </a:xfrm>
          </p:grpSpPr>
          <p:sp>
            <p:nvSpPr>
              <p:cNvPr id="56622" name="AutoShape 990"/>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23" name="AutoShape 991"/>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56598" name="Rectangle 992"/>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nvGrpSpPr>
            <p:cNvPr id="56599" name="Group 993"/>
            <p:cNvGrpSpPr>
              <a:grpSpLocks/>
            </p:cNvGrpSpPr>
            <p:nvPr/>
          </p:nvGrpSpPr>
          <p:grpSpPr bwMode="auto">
            <a:xfrm>
              <a:off x="4747" y="994"/>
              <a:ext cx="581" cy="134"/>
              <a:chOff x="614" y="2568"/>
              <a:chExt cx="725" cy="139"/>
            </a:xfrm>
          </p:grpSpPr>
          <p:sp>
            <p:nvSpPr>
              <p:cNvPr id="56620" name="AutoShape 994"/>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21" name="AutoShape 995"/>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56600" name="Rectangle 996"/>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01" name="Rectangle 997"/>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nvGrpSpPr>
            <p:cNvPr id="56602" name="Group 998"/>
            <p:cNvGrpSpPr>
              <a:grpSpLocks/>
            </p:cNvGrpSpPr>
            <p:nvPr/>
          </p:nvGrpSpPr>
          <p:grpSpPr bwMode="auto">
            <a:xfrm>
              <a:off x="4735" y="1627"/>
              <a:ext cx="582" cy="151"/>
              <a:chOff x="614" y="2568"/>
              <a:chExt cx="725" cy="139"/>
            </a:xfrm>
          </p:grpSpPr>
          <p:sp>
            <p:nvSpPr>
              <p:cNvPr id="56618" name="AutoShape 999"/>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19" name="AutoShape 1000"/>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667" name="Freeform 1001"/>
            <p:cNvSpPr>
              <a:spLocks/>
            </p:cNvSpPr>
            <p:nvPr/>
          </p:nvSpPr>
          <p:spPr bwMode="auto">
            <a:xfrm>
              <a:off x="5284" y="1358"/>
              <a:ext cx="264" cy="189"/>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grpSp>
          <p:nvGrpSpPr>
            <p:cNvPr id="56604" name="Group 1002"/>
            <p:cNvGrpSpPr>
              <a:grpSpLocks/>
            </p:cNvGrpSpPr>
            <p:nvPr/>
          </p:nvGrpSpPr>
          <p:grpSpPr bwMode="auto">
            <a:xfrm>
              <a:off x="4739" y="1327"/>
              <a:ext cx="582" cy="139"/>
              <a:chOff x="614" y="2568"/>
              <a:chExt cx="725" cy="139"/>
            </a:xfrm>
          </p:grpSpPr>
          <p:sp>
            <p:nvSpPr>
              <p:cNvPr id="56616" name="AutoShape 1003"/>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17" name="AutoShape 1004"/>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sp>
          <p:nvSpPr>
            <p:cNvPr id="56605" name="Rectangle 1005"/>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670" name="Freeform 1006"/>
            <p:cNvSpPr>
              <a:spLocks/>
            </p:cNvSpPr>
            <p:nvPr/>
          </p:nvSpPr>
          <p:spPr bwMode="auto">
            <a:xfrm>
              <a:off x="5319" y="1010"/>
              <a:ext cx="229" cy="20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671" name="Freeform 1007"/>
            <p:cNvSpPr>
              <a:spLocks/>
            </p:cNvSpPr>
            <p:nvPr/>
          </p:nvSpPr>
          <p:spPr bwMode="auto">
            <a:xfrm>
              <a:off x="5319" y="676"/>
              <a:ext cx="246" cy="247"/>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pPr defTabSz="685800">
                <a:defRPr/>
              </a:pPr>
              <a:endParaRPr lang="en-US" sz="1350" dirty="0">
                <a:solidFill>
                  <a:prstClr val="black"/>
                </a:solidFill>
                <a:latin typeface="Calibri" panose="020F0502020204030204"/>
              </a:endParaRPr>
            </a:p>
          </p:txBody>
        </p:sp>
        <p:sp>
          <p:nvSpPr>
            <p:cNvPr id="56608" name="Oval 1008"/>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673" name="Freeform 1009"/>
            <p:cNvSpPr>
              <a:spLocks/>
            </p:cNvSpPr>
            <p:nvPr/>
          </p:nvSpPr>
          <p:spPr bwMode="auto">
            <a:xfrm>
              <a:off x="5301" y="2607"/>
              <a:ext cx="246" cy="203"/>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pPr defTabSz="685800">
                <a:defRPr/>
              </a:pPr>
              <a:endParaRPr lang="en-US" sz="1350" dirty="0">
                <a:solidFill>
                  <a:prstClr val="black"/>
                </a:solidFill>
                <a:latin typeface="Calibri" panose="020F0502020204030204"/>
              </a:endParaRPr>
            </a:p>
          </p:txBody>
        </p:sp>
        <p:sp>
          <p:nvSpPr>
            <p:cNvPr id="56610" name="AutoShape 1010"/>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11" name="AutoShape 1011"/>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12" name="Oval 1012"/>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677" name="Oval 1013"/>
            <p:cNvSpPr>
              <a:spLocks noChangeArrowheads="1"/>
            </p:cNvSpPr>
            <p:nvPr/>
          </p:nvSpPr>
          <p:spPr bwMode="auto">
            <a:xfrm>
              <a:off x="4492" y="2375"/>
              <a:ext cx="158" cy="145"/>
            </a:xfrm>
            <a:prstGeom prst="ellipse">
              <a:avLst/>
            </a:prstGeom>
            <a:solidFill>
              <a:srgbClr val="FF0000"/>
            </a:solidFill>
            <a:ln>
              <a:noFill/>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defTabSz="685800">
                <a:lnSpc>
                  <a:spcPct val="100000"/>
                </a:lnSpc>
                <a:spcBef>
                  <a:spcPct val="0"/>
                </a:spcBef>
                <a:buClrTx/>
                <a:buSzTx/>
                <a:buNone/>
                <a:defRPr/>
              </a:pPr>
              <a:endParaRPr lang="en-US" altLang="en-US" sz="1350" dirty="0">
                <a:solidFill>
                  <a:srgbClr val="FF0000"/>
                </a:solidFill>
                <a:latin typeface="Arial" panose="020B0604020202020204" pitchFamily="34" charset="0"/>
              </a:endParaRPr>
            </a:p>
          </p:txBody>
        </p:sp>
        <p:sp>
          <p:nvSpPr>
            <p:cNvPr id="56614" name="Oval 1014"/>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sp>
          <p:nvSpPr>
            <p:cNvPr id="56615" name="Rectangle 1015"/>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defTabSz="68580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defTabSz="68580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defTabSz="6858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defTabSz="6858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defTabSz="6858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 typeface="Wingdings" panose="05000000000000000000" pitchFamily="2" charset="2"/>
                <a:buNone/>
              </a:pPr>
              <a:endParaRPr lang="en-US" altLang="en-US" sz="1800">
                <a:solidFill>
                  <a:srgbClr val="000000"/>
                </a:solidFill>
                <a:latin typeface="Arial" panose="020B0604020202020204" pitchFamily="34" charset="0"/>
              </a:endParaRPr>
            </a:p>
          </p:txBody>
        </p:sp>
      </p:grpSp>
      <p:grpSp>
        <p:nvGrpSpPr>
          <p:cNvPr id="56447" name="Group 590"/>
          <p:cNvGrpSpPr>
            <a:grpSpLocks/>
          </p:cNvGrpSpPr>
          <p:nvPr/>
        </p:nvGrpSpPr>
        <p:grpSpPr bwMode="auto">
          <a:xfrm flipH="1">
            <a:off x="7354888" y="4818063"/>
            <a:ext cx="258762" cy="239712"/>
            <a:chOff x="2839" y="3501"/>
            <a:chExt cx="755" cy="803"/>
          </a:xfrm>
        </p:grpSpPr>
        <p:pic>
          <p:nvPicPr>
            <p:cNvPr id="56590" name="Picture 591" descr="desktop_computer_stylized_mediu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0" name="Freeform 592"/>
            <p:cNvSpPr>
              <a:spLocks/>
            </p:cNvSpPr>
            <p:nvPr/>
          </p:nvSpPr>
          <p:spPr bwMode="auto">
            <a:xfrm>
              <a:off x="2918" y="3575"/>
              <a:ext cx="352" cy="372"/>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pPr defTabSz="685800">
                <a:defRPr/>
              </a:pPr>
              <a:endParaRPr lang="en-US" sz="1350" dirty="0">
                <a:solidFill>
                  <a:prstClr val="black"/>
                </a:solidFill>
                <a:latin typeface="Calibri" panose="020F0502020204030204"/>
              </a:endParaRPr>
            </a:p>
          </p:txBody>
        </p:sp>
      </p:grpSp>
      <p:grpSp>
        <p:nvGrpSpPr>
          <p:cNvPr id="56448" name="Group 692"/>
          <p:cNvGrpSpPr>
            <a:grpSpLocks/>
          </p:cNvGrpSpPr>
          <p:nvPr/>
        </p:nvGrpSpPr>
        <p:grpSpPr bwMode="auto">
          <a:xfrm>
            <a:off x="7104063" y="2252664"/>
            <a:ext cx="1350962" cy="839787"/>
            <a:chOff x="7439074" y="1859725"/>
            <a:chExt cx="1802647" cy="1120859"/>
          </a:xfrm>
        </p:grpSpPr>
        <p:pic>
          <p:nvPicPr>
            <p:cNvPr id="56560" name="Picture 799" descr="cell_tower_radiation copy"/>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 name="Line 426"/>
            <p:cNvSpPr>
              <a:spLocks noChangeShapeType="1"/>
            </p:cNvSpPr>
            <p:nvPr/>
          </p:nvSpPr>
          <p:spPr bwMode="auto">
            <a:xfrm>
              <a:off x="8208005" y="2700899"/>
              <a:ext cx="228773" cy="173744"/>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grpSp>
          <p:nvGrpSpPr>
            <p:cNvPr id="56562" name="Group 783"/>
            <p:cNvGrpSpPr>
              <a:grpSpLocks/>
            </p:cNvGrpSpPr>
            <p:nvPr/>
          </p:nvGrpSpPr>
          <p:grpSpPr bwMode="auto">
            <a:xfrm>
              <a:off x="8050698" y="2309376"/>
              <a:ext cx="298450" cy="464008"/>
              <a:chOff x="3130" y="3288"/>
              <a:chExt cx="410" cy="742"/>
            </a:xfrm>
          </p:grpSpPr>
          <p:sp>
            <p:nvSpPr>
              <p:cNvPr id="813" name="Line 270"/>
              <p:cNvSpPr>
                <a:spLocks noChangeShapeType="1"/>
              </p:cNvSpPr>
              <p:nvPr/>
            </p:nvSpPr>
            <p:spPr bwMode="auto">
              <a:xfrm flipH="1">
                <a:off x="3131" y="3287"/>
                <a:ext cx="212" cy="671"/>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14" name="Line 271"/>
              <p:cNvSpPr>
                <a:spLocks noChangeShapeType="1"/>
              </p:cNvSpPr>
              <p:nvPr/>
            </p:nvSpPr>
            <p:spPr bwMode="auto">
              <a:xfrm>
                <a:off x="3337" y="3287"/>
                <a:ext cx="204" cy="667"/>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15" name="Line 272"/>
              <p:cNvSpPr>
                <a:spLocks noChangeShapeType="1"/>
              </p:cNvSpPr>
              <p:nvPr/>
            </p:nvSpPr>
            <p:spPr bwMode="auto">
              <a:xfrm>
                <a:off x="3131" y="3955"/>
                <a:ext cx="212" cy="75"/>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16" name="Line 273"/>
              <p:cNvSpPr>
                <a:spLocks noChangeShapeType="1"/>
              </p:cNvSpPr>
              <p:nvPr/>
            </p:nvSpPr>
            <p:spPr bwMode="auto">
              <a:xfrm flipH="1">
                <a:off x="3337" y="3955"/>
                <a:ext cx="204" cy="75"/>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17" name="Line 274"/>
              <p:cNvSpPr>
                <a:spLocks noChangeShapeType="1"/>
              </p:cNvSpPr>
              <p:nvPr/>
            </p:nvSpPr>
            <p:spPr bwMode="auto">
              <a:xfrm>
                <a:off x="3337" y="3301"/>
                <a:ext cx="0" cy="728"/>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18" name="Line 275"/>
              <p:cNvSpPr>
                <a:spLocks noChangeShapeType="1"/>
              </p:cNvSpPr>
              <p:nvPr/>
            </p:nvSpPr>
            <p:spPr bwMode="auto">
              <a:xfrm flipV="1">
                <a:off x="3131" y="3887"/>
                <a:ext cx="212" cy="71"/>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19" name="Line 276"/>
              <p:cNvSpPr>
                <a:spLocks noChangeShapeType="1"/>
              </p:cNvSpPr>
              <p:nvPr/>
            </p:nvSpPr>
            <p:spPr bwMode="auto">
              <a:xfrm flipH="1" flipV="1">
                <a:off x="3337" y="3887"/>
                <a:ext cx="204" cy="68"/>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0" name="Line 277"/>
              <p:cNvSpPr>
                <a:spLocks noChangeShapeType="1"/>
              </p:cNvSpPr>
              <p:nvPr/>
            </p:nvSpPr>
            <p:spPr bwMode="auto">
              <a:xfrm>
                <a:off x="3218" y="3667"/>
                <a:ext cx="119" cy="54"/>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1" name="Line 278"/>
              <p:cNvSpPr>
                <a:spLocks noChangeShapeType="1"/>
              </p:cNvSpPr>
              <p:nvPr/>
            </p:nvSpPr>
            <p:spPr bwMode="auto">
              <a:xfrm flipV="1">
                <a:off x="3337" y="3667"/>
                <a:ext cx="122" cy="54"/>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2" name="Line 279"/>
              <p:cNvSpPr>
                <a:spLocks noChangeShapeType="1"/>
              </p:cNvSpPr>
              <p:nvPr/>
            </p:nvSpPr>
            <p:spPr bwMode="auto">
              <a:xfrm>
                <a:off x="3180" y="3765"/>
                <a:ext cx="151" cy="75"/>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3" name="Line 280"/>
              <p:cNvSpPr>
                <a:spLocks noChangeShapeType="1"/>
              </p:cNvSpPr>
              <p:nvPr/>
            </p:nvSpPr>
            <p:spPr bwMode="auto">
              <a:xfrm flipV="1">
                <a:off x="3337" y="3782"/>
                <a:ext cx="151" cy="64"/>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4" name="Line 281"/>
              <p:cNvSpPr>
                <a:spLocks noChangeShapeType="1"/>
              </p:cNvSpPr>
              <p:nvPr/>
            </p:nvSpPr>
            <p:spPr bwMode="auto">
              <a:xfrm flipV="1">
                <a:off x="3337" y="3565"/>
                <a:ext cx="76" cy="27"/>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5" name="Line 282"/>
              <p:cNvSpPr>
                <a:spLocks noChangeShapeType="1"/>
              </p:cNvSpPr>
              <p:nvPr/>
            </p:nvSpPr>
            <p:spPr bwMode="auto">
              <a:xfrm flipV="1">
                <a:off x="3337" y="3426"/>
                <a:ext cx="47" cy="24"/>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6" name="Line 283"/>
              <p:cNvSpPr>
                <a:spLocks noChangeShapeType="1"/>
              </p:cNvSpPr>
              <p:nvPr/>
            </p:nvSpPr>
            <p:spPr bwMode="auto">
              <a:xfrm>
                <a:off x="3247" y="3558"/>
                <a:ext cx="96" cy="34"/>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sp>
            <p:nvSpPr>
              <p:cNvPr id="827" name="Line 284"/>
              <p:cNvSpPr>
                <a:spLocks noChangeShapeType="1"/>
              </p:cNvSpPr>
              <p:nvPr/>
            </p:nvSpPr>
            <p:spPr bwMode="auto">
              <a:xfrm>
                <a:off x="3291" y="3423"/>
                <a:ext cx="55" cy="34"/>
              </a:xfrm>
              <a:prstGeom prst="line">
                <a:avLst/>
              </a:prstGeom>
              <a:noFill/>
              <a:ln w="19050">
                <a:solidFill>
                  <a:schemeClr val="tx1"/>
                </a:solidFill>
                <a:round/>
                <a:headEnd/>
                <a:tailEnd/>
              </a:ln>
            </p:spPr>
            <p:txBody>
              <a:bodyPr wrap="none"/>
              <a:lstStyle/>
              <a:p>
                <a:pPr defTabSz="685800">
                  <a:defRPr/>
                </a:pPr>
                <a:endParaRPr lang="en-US" sz="1350" dirty="0">
                  <a:solidFill>
                    <a:prstClr val="black"/>
                  </a:solidFill>
                  <a:latin typeface="Calibri" panose="020F0502020204030204"/>
                </a:endParaRPr>
              </a:p>
            </p:txBody>
          </p:sp>
        </p:grpSp>
        <p:grpSp>
          <p:nvGrpSpPr>
            <p:cNvPr id="56563" name="Group 800"/>
            <p:cNvGrpSpPr>
              <a:grpSpLocks/>
            </p:cNvGrpSpPr>
            <p:nvPr/>
          </p:nvGrpSpPr>
          <p:grpSpPr bwMode="auto">
            <a:xfrm>
              <a:off x="8439827" y="2812309"/>
              <a:ext cx="353678" cy="168275"/>
              <a:chOff x="7493876" y="2774731"/>
              <a:chExt cx="1481958" cy="894622"/>
            </a:xfrm>
          </p:grpSpPr>
          <p:sp>
            <p:nvSpPr>
              <p:cNvPr id="806" name="Freeform 805"/>
              <p:cNvSpPr/>
              <p:nvPr/>
            </p:nvSpPr>
            <p:spPr>
              <a:xfrm>
                <a:off x="7489979" y="3083596"/>
                <a:ext cx="1482260" cy="5857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807" name="Oval 806"/>
              <p:cNvSpPr/>
              <p:nvPr/>
            </p:nvSpPr>
            <p:spPr>
              <a:xfrm>
                <a:off x="7489979" y="2779457"/>
                <a:ext cx="1482260" cy="574489"/>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570" name="Group 807"/>
              <p:cNvGrpSpPr>
                <a:grpSpLocks/>
              </p:cNvGrpSpPr>
              <p:nvPr/>
            </p:nvGrpSpPr>
            <p:grpSpPr bwMode="auto">
              <a:xfrm>
                <a:off x="7713663" y="2848339"/>
                <a:ext cx="1042107" cy="425543"/>
                <a:chOff x="7786941" y="2884917"/>
                <a:chExt cx="897649" cy="353919"/>
              </a:xfrm>
            </p:grpSpPr>
            <p:sp>
              <p:nvSpPr>
                <p:cNvPr id="809" name="Freeform 808"/>
                <p:cNvSpPr/>
                <p:nvPr/>
              </p:nvSpPr>
              <p:spPr>
                <a:xfrm>
                  <a:off x="7808339" y="2883843"/>
                  <a:ext cx="818059" cy="196738"/>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810" name="Freeform 809"/>
                <p:cNvSpPr/>
                <p:nvPr/>
              </p:nvSpPr>
              <p:spPr>
                <a:xfrm>
                  <a:off x="8366453" y="3052478"/>
                  <a:ext cx="282884" cy="178001"/>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811" name="Freeform 810"/>
                <p:cNvSpPr/>
                <p:nvPr/>
              </p:nvSpPr>
              <p:spPr>
                <a:xfrm>
                  <a:off x="7785400" y="3052478"/>
                  <a:ext cx="313465" cy="16863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812" name="Freeform 811"/>
                <p:cNvSpPr/>
                <p:nvPr/>
              </p:nvSpPr>
              <p:spPr>
                <a:xfrm>
                  <a:off x="7892436" y="2968158"/>
                  <a:ext cx="642217" cy="27169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pic>
          <p:nvPicPr>
            <p:cNvPr id="56564" name="Picture 654" descr="antenna_radiation_stylize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65" name="Picture 1017" descr="antenna_stylized"/>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66" name="Picture 1017" descr="antenna_stylized"/>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67" name="Picture 1017" descr="antenna_stylized"/>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6449" name="Group 693"/>
          <p:cNvGrpSpPr>
            <a:grpSpLocks/>
          </p:cNvGrpSpPr>
          <p:nvPr/>
        </p:nvGrpSpPr>
        <p:grpSpPr bwMode="auto">
          <a:xfrm>
            <a:off x="7143751" y="3351214"/>
            <a:ext cx="684213" cy="631825"/>
            <a:chOff x="7493518" y="3325424"/>
            <a:chExt cx="911538" cy="843226"/>
          </a:xfrm>
        </p:grpSpPr>
        <p:pic>
          <p:nvPicPr>
            <p:cNvPr id="56545" name="Picture 777" descr="access_point_stylized_small"/>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546" name="Group 783"/>
            <p:cNvGrpSpPr>
              <a:grpSpLocks/>
            </p:cNvGrpSpPr>
            <p:nvPr/>
          </p:nvGrpSpPr>
          <p:grpSpPr bwMode="auto">
            <a:xfrm>
              <a:off x="7493518" y="3325424"/>
              <a:ext cx="911538" cy="816238"/>
              <a:chOff x="7493518" y="3325424"/>
              <a:chExt cx="911538" cy="816238"/>
            </a:xfrm>
          </p:grpSpPr>
          <p:sp>
            <p:nvSpPr>
              <p:cNvPr id="785" name="Line 443"/>
              <p:cNvSpPr>
                <a:spLocks noChangeShapeType="1"/>
              </p:cNvSpPr>
              <p:nvPr/>
            </p:nvSpPr>
            <p:spPr bwMode="auto">
              <a:xfrm>
                <a:off x="8248551" y="3829665"/>
                <a:ext cx="0" cy="131357"/>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86" name="Line 449"/>
              <p:cNvSpPr>
                <a:spLocks noChangeShapeType="1"/>
              </p:cNvSpPr>
              <p:nvPr/>
            </p:nvSpPr>
            <p:spPr bwMode="auto">
              <a:xfrm flipV="1">
                <a:off x="7857287" y="4041531"/>
                <a:ext cx="169195" cy="2118"/>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pic>
            <p:nvPicPr>
              <p:cNvPr id="56549" name="Picture 778" descr="antenna_radiation_stylized"/>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550" name="Group 787"/>
              <p:cNvGrpSpPr>
                <a:grpSpLocks/>
              </p:cNvGrpSpPr>
              <p:nvPr/>
            </p:nvGrpSpPr>
            <p:grpSpPr bwMode="auto">
              <a:xfrm>
                <a:off x="8050070" y="3965994"/>
                <a:ext cx="354986" cy="175668"/>
                <a:chOff x="7493876" y="2774731"/>
                <a:chExt cx="1481958" cy="894622"/>
              </a:xfrm>
            </p:grpSpPr>
            <p:sp>
              <p:nvSpPr>
                <p:cNvPr id="791" name="Freeform 790"/>
                <p:cNvSpPr/>
                <p:nvPr/>
              </p:nvSpPr>
              <p:spPr>
                <a:xfrm>
                  <a:off x="7492525" y="3083883"/>
                  <a:ext cx="1483309" cy="582642"/>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792" name="Oval 791"/>
                <p:cNvSpPr/>
                <p:nvPr/>
              </p:nvSpPr>
              <p:spPr>
                <a:xfrm>
                  <a:off x="7492525" y="2770986"/>
                  <a:ext cx="1483309" cy="582642"/>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555" name="Group 792"/>
                <p:cNvGrpSpPr>
                  <a:grpSpLocks/>
                </p:cNvGrpSpPr>
                <p:nvPr/>
              </p:nvGrpSpPr>
              <p:grpSpPr bwMode="auto">
                <a:xfrm>
                  <a:off x="7713663" y="2848339"/>
                  <a:ext cx="1042107" cy="425543"/>
                  <a:chOff x="7786941" y="2884917"/>
                  <a:chExt cx="897649" cy="353919"/>
                </a:xfrm>
              </p:grpSpPr>
              <p:sp>
                <p:nvSpPr>
                  <p:cNvPr id="794" name="Freeform 793"/>
                  <p:cNvSpPr/>
                  <p:nvPr/>
                </p:nvSpPr>
                <p:spPr>
                  <a:xfrm>
                    <a:off x="7809405" y="2883396"/>
                    <a:ext cx="851792" cy="197419"/>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95" name="Freeform 794"/>
                  <p:cNvSpPr/>
                  <p:nvPr/>
                </p:nvSpPr>
                <p:spPr>
                  <a:xfrm>
                    <a:off x="8364588" y="3053898"/>
                    <a:ext cx="319422" cy="125630"/>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96" name="Freeform 795"/>
                  <p:cNvSpPr/>
                  <p:nvPr/>
                </p:nvSpPr>
                <p:spPr>
                  <a:xfrm>
                    <a:off x="7786586" y="3053898"/>
                    <a:ext cx="311819" cy="125630"/>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97" name="Freeform 796"/>
                  <p:cNvSpPr/>
                  <p:nvPr/>
                </p:nvSpPr>
                <p:spPr>
                  <a:xfrm>
                    <a:off x="7893061" y="2964162"/>
                    <a:ext cx="676873" cy="233314"/>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pic>
            <p:nvPicPr>
              <p:cNvPr id="56551" name="Picture 1115" descr="antenna_stylized"/>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52" name="Picture 1115" descr="antenna_stylized"/>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56450" name="Group 695"/>
          <p:cNvGrpSpPr>
            <a:grpSpLocks/>
          </p:cNvGrpSpPr>
          <p:nvPr/>
        </p:nvGrpSpPr>
        <p:grpSpPr bwMode="auto">
          <a:xfrm>
            <a:off x="7505700" y="4413250"/>
            <a:ext cx="1739900" cy="935038"/>
            <a:chOff x="7948367" y="4775686"/>
            <a:chExt cx="2318709" cy="1245936"/>
          </a:xfrm>
        </p:grpSpPr>
        <p:sp>
          <p:nvSpPr>
            <p:cNvPr id="712" name="Line 428"/>
            <p:cNvSpPr>
              <a:spLocks noChangeShapeType="1"/>
            </p:cNvSpPr>
            <p:nvPr/>
          </p:nvSpPr>
          <p:spPr bwMode="auto">
            <a:xfrm rot="16200000" flipV="1">
              <a:off x="9788973" y="5251638"/>
              <a:ext cx="389223" cy="8462"/>
            </a:xfrm>
            <a:prstGeom prst="line">
              <a:avLst/>
            </a:prstGeom>
            <a:noFill/>
            <a:ln w="12700">
              <a:solidFill>
                <a:schemeClr val="tx1"/>
              </a:solidFill>
              <a:round/>
              <a:headEnd/>
              <a:tailEnd/>
            </a:ln>
          </p:spPr>
          <p:txBody>
            <a:bodyPr wrap="none" anchor="ctr"/>
            <a:lstStyle/>
            <a:p>
              <a:pPr defTabSz="685800">
                <a:defRPr/>
              </a:pPr>
              <a:endParaRPr lang="en-US" sz="1350" dirty="0">
                <a:solidFill>
                  <a:prstClr val="black"/>
                </a:solidFill>
                <a:latin typeface="Calibri" panose="020F0502020204030204"/>
              </a:endParaRPr>
            </a:p>
          </p:txBody>
        </p:sp>
        <p:sp>
          <p:nvSpPr>
            <p:cNvPr id="713" name="Line 435"/>
            <p:cNvSpPr>
              <a:spLocks noChangeShapeType="1"/>
            </p:cNvSpPr>
            <p:nvPr/>
          </p:nvSpPr>
          <p:spPr bwMode="auto">
            <a:xfrm>
              <a:off x="8210703" y="5118371"/>
              <a:ext cx="226371" cy="126920"/>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14" name="Line 440"/>
            <p:cNvSpPr>
              <a:spLocks noChangeShapeType="1"/>
            </p:cNvSpPr>
            <p:nvPr/>
          </p:nvSpPr>
          <p:spPr bwMode="auto">
            <a:xfrm flipV="1">
              <a:off x="8460345" y="5035874"/>
              <a:ext cx="404082" cy="209418"/>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grpSp>
          <p:nvGrpSpPr>
            <p:cNvPr id="56491" name="Group 714"/>
            <p:cNvGrpSpPr>
              <a:grpSpLocks/>
            </p:cNvGrpSpPr>
            <p:nvPr/>
          </p:nvGrpSpPr>
          <p:grpSpPr bwMode="auto">
            <a:xfrm>
              <a:off x="7948367" y="4775686"/>
              <a:ext cx="2318709" cy="1245936"/>
              <a:chOff x="7948367" y="4775686"/>
              <a:chExt cx="2318709" cy="1245936"/>
            </a:xfrm>
          </p:grpSpPr>
          <p:sp>
            <p:nvSpPr>
              <p:cNvPr id="716" name="Line 430"/>
              <p:cNvSpPr>
                <a:spLocks noChangeShapeType="1"/>
              </p:cNvSpPr>
              <p:nvPr/>
            </p:nvSpPr>
            <p:spPr bwMode="auto">
              <a:xfrm rot="16200000">
                <a:off x="10209955" y="5406050"/>
                <a:ext cx="0" cy="114243"/>
              </a:xfrm>
              <a:prstGeom prst="line">
                <a:avLst/>
              </a:prstGeom>
              <a:noFill/>
              <a:ln w="12700">
                <a:solidFill>
                  <a:schemeClr val="tx1"/>
                </a:solidFill>
                <a:round/>
                <a:headEnd/>
                <a:tailEnd/>
              </a:ln>
            </p:spPr>
            <p:txBody>
              <a:bodyPr wrap="none" anchor="ctr"/>
              <a:lstStyle/>
              <a:p>
                <a:pPr defTabSz="685800">
                  <a:defRPr/>
                </a:pPr>
                <a:endParaRPr lang="en-US" sz="1350" dirty="0">
                  <a:solidFill>
                    <a:prstClr val="black"/>
                  </a:solidFill>
                  <a:latin typeface="Calibri" panose="020F0502020204030204"/>
                </a:endParaRPr>
              </a:p>
            </p:txBody>
          </p:sp>
          <p:sp>
            <p:nvSpPr>
              <p:cNvPr id="717" name="Line 431"/>
              <p:cNvSpPr>
                <a:spLocks noChangeShapeType="1"/>
              </p:cNvSpPr>
              <p:nvPr/>
            </p:nvSpPr>
            <p:spPr bwMode="auto">
              <a:xfrm>
                <a:off x="9433526" y="4839146"/>
                <a:ext cx="524671" cy="260188"/>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18" name="Line 432"/>
              <p:cNvSpPr>
                <a:spLocks noChangeShapeType="1"/>
              </p:cNvSpPr>
              <p:nvPr/>
            </p:nvSpPr>
            <p:spPr bwMode="auto">
              <a:xfrm flipV="1">
                <a:off x="8849617" y="4839146"/>
                <a:ext cx="569100" cy="245379"/>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19" name="Line 433"/>
              <p:cNvSpPr>
                <a:spLocks noChangeShapeType="1"/>
              </p:cNvSpPr>
              <p:nvPr/>
            </p:nvSpPr>
            <p:spPr bwMode="auto">
              <a:xfrm flipV="1">
                <a:off x="8822115" y="5109910"/>
                <a:ext cx="1030302" cy="0"/>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20" name="Line 436"/>
              <p:cNvSpPr>
                <a:spLocks noChangeShapeType="1"/>
              </p:cNvSpPr>
              <p:nvPr/>
            </p:nvSpPr>
            <p:spPr bwMode="auto">
              <a:xfrm flipV="1">
                <a:off x="7948367" y="5289714"/>
                <a:ext cx="412545" cy="126920"/>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21" name="Line 439"/>
              <p:cNvSpPr>
                <a:spLocks noChangeShapeType="1"/>
              </p:cNvSpPr>
              <p:nvPr/>
            </p:nvSpPr>
            <p:spPr bwMode="auto">
              <a:xfrm flipH="1">
                <a:off x="8373605" y="5281253"/>
                <a:ext cx="67700" cy="294032"/>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22" name="Line 440"/>
              <p:cNvSpPr>
                <a:spLocks noChangeShapeType="1"/>
              </p:cNvSpPr>
              <p:nvPr/>
            </p:nvSpPr>
            <p:spPr bwMode="auto">
              <a:xfrm flipH="1" flipV="1">
                <a:off x="8487848" y="5308752"/>
                <a:ext cx="281376" cy="268649"/>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23" name="Line 441"/>
              <p:cNvSpPr>
                <a:spLocks noChangeShapeType="1"/>
              </p:cNvSpPr>
              <p:nvPr/>
            </p:nvSpPr>
            <p:spPr bwMode="auto">
              <a:xfrm>
                <a:off x="8487848" y="5257984"/>
                <a:ext cx="916059" cy="469606"/>
              </a:xfrm>
              <a:prstGeom prst="line">
                <a:avLst/>
              </a:prstGeom>
              <a:noFill/>
              <a:ln w="9525">
                <a:solidFill>
                  <a:schemeClr val="tx1"/>
                </a:solidFill>
                <a:round/>
                <a:headEnd/>
                <a:tailEnd/>
              </a:ln>
            </p:spPr>
            <p:txBody>
              <a:bodyPr/>
              <a:lstStyle/>
              <a:p>
                <a:pPr defTabSz="685800">
                  <a:defRPr/>
                </a:pPr>
                <a:endParaRPr lang="en-US" sz="1350" dirty="0">
                  <a:solidFill>
                    <a:prstClr val="black"/>
                  </a:solidFill>
                  <a:latin typeface="Calibri" panose="020F0502020204030204"/>
                </a:endParaRPr>
              </a:p>
            </p:txBody>
          </p:sp>
          <p:sp>
            <p:nvSpPr>
              <p:cNvPr id="724" name="Line 428"/>
              <p:cNvSpPr>
                <a:spLocks noChangeShapeType="1"/>
              </p:cNvSpPr>
              <p:nvPr/>
            </p:nvSpPr>
            <p:spPr bwMode="auto">
              <a:xfrm rot="16200000" flipV="1">
                <a:off x="9886290" y="5583746"/>
                <a:ext cx="365955" cy="2116"/>
              </a:xfrm>
              <a:prstGeom prst="line">
                <a:avLst/>
              </a:prstGeom>
              <a:noFill/>
              <a:ln w="12700">
                <a:solidFill>
                  <a:schemeClr val="tx1"/>
                </a:solidFill>
                <a:round/>
                <a:headEnd/>
                <a:tailEnd/>
              </a:ln>
            </p:spPr>
            <p:txBody>
              <a:bodyPr wrap="none" anchor="ctr"/>
              <a:lstStyle/>
              <a:p>
                <a:pPr defTabSz="685800">
                  <a:defRPr/>
                </a:pPr>
                <a:endParaRPr lang="en-US" sz="1350" dirty="0">
                  <a:solidFill>
                    <a:prstClr val="black"/>
                  </a:solidFill>
                  <a:latin typeface="Calibri" panose="020F0502020204030204"/>
                </a:endParaRPr>
              </a:p>
            </p:txBody>
          </p:sp>
          <p:pic>
            <p:nvPicPr>
              <p:cNvPr id="56501" name="Picture 781" descr="antenna_radiation_stylized"/>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02" name="Picture 780" descr="access_point_stylized_small"/>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503" name="Group 726"/>
              <p:cNvGrpSpPr>
                <a:grpSpLocks/>
              </p:cNvGrpSpPr>
              <p:nvPr/>
            </p:nvGrpSpPr>
            <p:grpSpPr bwMode="auto">
              <a:xfrm>
                <a:off x="9783558" y="4989983"/>
                <a:ext cx="393760" cy="218578"/>
                <a:chOff x="7493876" y="2774731"/>
                <a:chExt cx="1481958" cy="894622"/>
              </a:xfrm>
            </p:grpSpPr>
            <p:sp>
              <p:nvSpPr>
                <p:cNvPr id="762" name="Freeform 761"/>
                <p:cNvSpPr/>
                <p:nvPr/>
              </p:nvSpPr>
              <p:spPr>
                <a:xfrm>
                  <a:off x="7490280" y="3083766"/>
                  <a:ext cx="1488955" cy="588739"/>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763" name="Oval 762"/>
                <p:cNvSpPr/>
                <p:nvPr/>
              </p:nvSpPr>
              <p:spPr>
                <a:xfrm>
                  <a:off x="7490280" y="2772080"/>
                  <a:ext cx="1488955" cy="580079"/>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540" name="Group 763"/>
                <p:cNvGrpSpPr>
                  <a:grpSpLocks/>
                </p:cNvGrpSpPr>
                <p:nvPr/>
              </p:nvGrpSpPr>
              <p:grpSpPr bwMode="auto">
                <a:xfrm>
                  <a:off x="7713663" y="2848339"/>
                  <a:ext cx="1042107" cy="425543"/>
                  <a:chOff x="7786941" y="2884917"/>
                  <a:chExt cx="897649" cy="353919"/>
                </a:xfrm>
              </p:grpSpPr>
              <p:sp>
                <p:nvSpPr>
                  <p:cNvPr id="765" name="Freeform 764"/>
                  <p:cNvSpPr/>
                  <p:nvPr/>
                </p:nvSpPr>
                <p:spPr>
                  <a:xfrm>
                    <a:off x="7814000" y="2886296"/>
                    <a:ext cx="850466" cy="194420"/>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66" name="Freeform 765"/>
                  <p:cNvSpPr/>
                  <p:nvPr/>
                </p:nvSpPr>
                <p:spPr>
                  <a:xfrm>
                    <a:off x="8369544" y="3051913"/>
                    <a:ext cx="315496" cy="172816"/>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67" name="Freeform 766"/>
                  <p:cNvSpPr/>
                  <p:nvPr/>
                </p:nvSpPr>
                <p:spPr>
                  <a:xfrm>
                    <a:off x="7786565" y="3051913"/>
                    <a:ext cx="308635" cy="172816"/>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68" name="Freeform 767"/>
                  <p:cNvSpPr/>
                  <p:nvPr/>
                </p:nvSpPr>
                <p:spPr>
                  <a:xfrm>
                    <a:off x="7896303" y="2972704"/>
                    <a:ext cx="678999" cy="266427"/>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504" name="Group 727"/>
              <p:cNvGrpSpPr>
                <a:grpSpLocks/>
              </p:cNvGrpSpPr>
              <p:nvPr/>
            </p:nvGrpSpPr>
            <p:grpSpPr bwMode="auto">
              <a:xfrm>
                <a:off x="9849365" y="5339037"/>
                <a:ext cx="309740" cy="190838"/>
                <a:chOff x="3668110" y="2448910"/>
                <a:chExt cx="3794234" cy="2165130"/>
              </a:xfrm>
            </p:grpSpPr>
            <p:sp>
              <p:nvSpPr>
                <p:cNvPr id="755" name="Rectangle 754"/>
                <p:cNvSpPr/>
                <p:nvPr/>
              </p:nvSpPr>
              <p:spPr>
                <a:xfrm>
                  <a:off x="3679586" y="3737273"/>
                  <a:ext cx="3757764" cy="887985"/>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56" name="Freeform 755"/>
                <p:cNvSpPr/>
                <p:nvPr/>
              </p:nvSpPr>
              <p:spPr>
                <a:xfrm>
                  <a:off x="3679586" y="2441306"/>
                  <a:ext cx="3783688" cy="1343966"/>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nvGrpSpPr>
                <p:cNvPr id="56533" name="Group 756"/>
                <p:cNvGrpSpPr>
                  <a:grpSpLocks/>
                </p:cNvGrpSpPr>
                <p:nvPr/>
              </p:nvGrpSpPr>
              <p:grpSpPr bwMode="auto">
                <a:xfrm>
                  <a:off x="3941378" y="2603243"/>
                  <a:ext cx="3202061" cy="1066110"/>
                  <a:chOff x="7939341" y="3037317"/>
                  <a:chExt cx="897649" cy="353919"/>
                </a:xfrm>
              </p:grpSpPr>
              <p:sp>
                <p:nvSpPr>
                  <p:cNvPr id="758" name="Freeform 757"/>
                  <p:cNvSpPr/>
                  <p:nvPr/>
                </p:nvSpPr>
                <p:spPr>
                  <a:xfrm>
                    <a:off x="7996725" y="2999492"/>
                    <a:ext cx="820948" cy="231048"/>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59" name="Freeform 758"/>
                  <p:cNvSpPr/>
                  <p:nvPr/>
                </p:nvSpPr>
                <p:spPr>
                  <a:xfrm>
                    <a:off x="8556131" y="3206636"/>
                    <a:ext cx="283339" cy="167311"/>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60" name="Freeform 759"/>
                  <p:cNvSpPr/>
                  <p:nvPr/>
                </p:nvSpPr>
                <p:spPr>
                  <a:xfrm>
                    <a:off x="7974927" y="3206636"/>
                    <a:ext cx="312399" cy="167311"/>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61" name="Freeform 760"/>
                  <p:cNvSpPr/>
                  <p:nvPr/>
                </p:nvSpPr>
                <p:spPr>
                  <a:xfrm>
                    <a:off x="8083905" y="3087132"/>
                    <a:ext cx="646587" cy="302749"/>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505" name="Group 728"/>
              <p:cNvGrpSpPr>
                <a:grpSpLocks/>
              </p:cNvGrpSpPr>
              <p:nvPr/>
            </p:nvGrpSpPr>
            <p:grpSpPr bwMode="auto">
              <a:xfrm>
                <a:off x="8676619" y="4967420"/>
                <a:ext cx="393760" cy="218578"/>
                <a:chOff x="7493876" y="2774731"/>
                <a:chExt cx="1481958" cy="894622"/>
              </a:xfrm>
            </p:grpSpPr>
            <p:sp>
              <p:nvSpPr>
                <p:cNvPr id="748" name="Freeform 747"/>
                <p:cNvSpPr/>
                <p:nvPr/>
              </p:nvSpPr>
              <p:spPr>
                <a:xfrm>
                  <a:off x="7492060" y="3089536"/>
                  <a:ext cx="1480995" cy="580079"/>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749" name="Oval 748"/>
                <p:cNvSpPr/>
                <p:nvPr/>
              </p:nvSpPr>
              <p:spPr>
                <a:xfrm>
                  <a:off x="7492060" y="2777851"/>
                  <a:ext cx="1480995" cy="580079"/>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526" name="Group 749"/>
                <p:cNvGrpSpPr>
                  <a:grpSpLocks/>
                </p:cNvGrpSpPr>
                <p:nvPr/>
              </p:nvGrpSpPr>
              <p:grpSpPr bwMode="auto">
                <a:xfrm>
                  <a:off x="7713663" y="2848339"/>
                  <a:ext cx="1042107" cy="425543"/>
                  <a:chOff x="7786941" y="2884917"/>
                  <a:chExt cx="897649" cy="353919"/>
                </a:xfrm>
              </p:grpSpPr>
              <p:sp>
                <p:nvSpPr>
                  <p:cNvPr id="751" name="Freeform 750"/>
                  <p:cNvSpPr/>
                  <p:nvPr/>
                </p:nvSpPr>
                <p:spPr>
                  <a:xfrm>
                    <a:off x="7815533" y="2883896"/>
                    <a:ext cx="816175" cy="194416"/>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52" name="Freeform 751"/>
                  <p:cNvSpPr/>
                  <p:nvPr/>
                </p:nvSpPr>
                <p:spPr>
                  <a:xfrm>
                    <a:off x="8364221" y="3049509"/>
                    <a:ext cx="288061" cy="172816"/>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53" name="Freeform 752"/>
                  <p:cNvSpPr/>
                  <p:nvPr/>
                </p:nvSpPr>
                <p:spPr>
                  <a:xfrm>
                    <a:off x="7788099" y="3049509"/>
                    <a:ext cx="308639" cy="172816"/>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54" name="Freeform 753"/>
                  <p:cNvSpPr/>
                  <p:nvPr/>
                </p:nvSpPr>
                <p:spPr>
                  <a:xfrm>
                    <a:off x="7897836" y="2970304"/>
                    <a:ext cx="644708" cy="266422"/>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506" name="Group 729"/>
              <p:cNvGrpSpPr>
                <a:grpSpLocks/>
              </p:cNvGrpSpPr>
              <p:nvPr/>
            </p:nvGrpSpPr>
            <p:grpSpPr bwMode="auto">
              <a:xfrm>
                <a:off x="8311520" y="5194433"/>
                <a:ext cx="309740" cy="190838"/>
                <a:chOff x="3668110" y="2448910"/>
                <a:chExt cx="3794234" cy="2165130"/>
              </a:xfrm>
            </p:grpSpPr>
            <p:sp>
              <p:nvSpPr>
                <p:cNvPr id="741" name="Rectangle 740"/>
                <p:cNvSpPr/>
                <p:nvPr/>
              </p:nvSpPr>
              <p:spPr>
                <a:xfrm>
                  <a:off x="3677072" y="3745905"/>
                  <a:ext cx="3757781" cy="863978"/>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42" name="Freeform 741"/>
                <p:cNvSpPr/>
                <p:nvPr/>
              </p:nvSpPr>
              <p:spPr>
                <a:xfrm>
                  <a:off x="3677072" y="2449938"/>
                  <a:ext cx="3783688" cy="1319974"/>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nvGrpSpPr>
                <p:cNvPr id="56519" name="Group 742"/>
                <p:cNvGrpSpPr>
                  <a:grpSpLocks/>
                </p:cNvGrpSpPr>
                <p:nvPr/>
              </p:nvGrpSpPr>
              <p:grpSpPr bwMode="auto">
                <a:xfrm>
                  <a:off x="3941378" y="2603243"/>
                  <a:ext cx="3202061" cy="1066110"/>
                  <a:chOff x="7939341" y="3037317"/>
                  <a:chExt cx="897649" cy="353919"/>
                </a:xfrm>
              </p:grpSpPr>
              <p:sp>
                <p:nvSpPr>
                  <p:cNvPr id="744" name="Freeform 743"/>
                  <p:cNvSpPr/>
                  <p:nvPr/>
                </p:nvSpPr>
                <p:spPr>
                  <a:xfrm>
                    <a:off x="7996020" y="3034226"/>
                    <a:ext cx="820953" cy="199179"/>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45" name="Freeform 744"/>
                  <p:cNvSpPr/>
                  <p:nvPr/>
                </p:nvSpPr>
                <p:spPr>
                  <a:xfrm>
                    <a:off x="8526371" y="3209501"/>
                    <a:ext cx="312395" cy="167311"/>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46" name="Freeform 745"/>
                  <p:cNvSpPr/>
                  <p:nvPr/>
                </p:nvSpPr>
                <p:spPr>
                  <a:xfrm>
                    <a:off x="7974227" y="3209501"/>
                    <a:ext cx="312395" cy="167311"/>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47" name="Freeform 746"/>
                  <p:cNvSpPr/>
                  <p:nvPr/>
                </p:nvSpPr>
                <p:spPr>
                  <a:xfrm>
                    <a:off x="8083200" y="3121866"/>
                    <a:ext cx="646592" cy="270881"/>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507" name="Group 730"/>
              <p:cNvGrpSpPr>
                <a:grpSpLocks/>
              </p:cNvGrpSpPr>
              <p:nvPr/>
            </p:nvGrpSpPr>
            <p:grpSpPr bwMode="auto">
              <a:xfrm>
                <a:off x="9247893" y="4775686"/>
                <a:ext cx="393760" cy="218578"/>
                <a:chOff x="7493876" y="2774731"/>
                <a:chExt cx="1481958" cy="894622"/>
              </a:xfrm>
            </p:grpSpPr>
            <p:sp>
              <p:nvSpPr>
                <p:cNvPr id="734" name="Freeform 733"/>
                <p:cNvSpPr/>
                <p:nvPr/>
              </p:nvSpPr>
              <p:spPr>
                <a:xfrm>
                  <a:off x="7491840" y="3086417"/>
                  <a:ext cx="1480995" cy="58008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735" name="Oval 734"/>
                <p:cNvSpPr/>
                <p:nvPr/>
              </p:nvSpPr>
              <p:spPr>
                <a:xfrm>
                  <a:off x="7491840" y="2774731"/>
                  <a:ext cx="1480995" cy="580084"/>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512" name="Group 735"/>
                <p:cNvGrpSpPr>
                  <a:grpSpLocks/>
                </p:cNvGrpSpPr>
                <p:nvPr/>
              </p:nvGrpSpPr>
              <p:grpSpPr bwMode="auto">
                <a:xfrm>
                  <a:off x="7713663" y="2848339"/>
                  <a:ext cx="1042107" cy="425543"/>
                  <a:chOff x="7786941" y="2884917"/>
                  <a:chExt cx="897649" cy="353919"/>
                </a:xfrm>
              </p:grpSpPr>
              <p:sp>
                <p:nvSpPr>
                  <p:cNvPr id="737" name="Freeform 736"/>
                  <p:cNvSpPr/>
                  <p:nvPr/>
                </p:nvSpPr>
                <p:spPr>
                  <a:xfrm>
                    <a:off x="7815343" y="2874104"/>
                    <a:ext cx="816175" cy="172816"/>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38" name="Freeform 737"/>
                  <p:cNvSpPr/>
                  <p:nvPr/>
                </p:nvSpPr>
                <p:spPr>
                  <a:xfrm>
                    <a:off x="8364031" y="3018117"/>
                    <a:ext cx="288061" cy="172816"/>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39" name="Freeform 738"/>
                  <p:cNvSpPr/>
                  <p:nvPr/>
                </p:nvSpPr>
                <p:spPr>
                  <a:xfrm>
                    <a:off x="7787909" y="3018117"/>
                    <a:ext cx="308639" cy="172816"/>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40" name="Freeform 739"/>
                  <p:cNvSpPr/>
                  <p:nvPr/>
                </p:nvSpPr>
                <p:spPr>
                  <a:xfrm>
                    <a:off x="7897646" y="2938907"/>
                    <a:ext cx="644708" cy="266427"/>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pic>
            <p:nvPicPr>
              <p:cNvPr id="56508" name="Picture 1065" descr="antenna_stylized"/>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09" name="Picture 1065" descr="antenna_stylized"/>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691" name="Rectangle 690"/>
          <p:cNvSpPr/>
          <p:nvPr/>
        </p:nvSpPr>
        <p:spPr>
          <a:xfrm>
            <a:off x="6897688" y="1951039"/>
            <a:ext cx="3579812" cy="3716337"/>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nvGrpSpPr>
          <p:cNvPr id="56452" name="Group 2"/>
          <p:cNvGrpSpPr>
            <a:grpSpLocks/>
          </p:cNvGrpSpPr>
          <p:nvPr/>
        </p:nvGrpSpPr>
        <p:grpSpPr bwMode="auto">
          <a:xfrm>
            <a:off x="9632950" y="3382964"/>
            <a:ext cx="668338" cy="968375"/>
            <a:chOff x="10812889" y="3368642"/>
            <a:chExt cx="890572" cy="1290085"/>
          </a:xfrm>
        </p:grpSpPr>
        <p:sp>
          <p:nvSpPr>
            <p:cNvPr id="842" name="Oval 841"/>
            <p:cNvSpPr/>
            <p:nvPr/>
          </p:nvSpPr>
          <p:spPr>
            <a:xfrm>
              <a:off x="10812889" y="3368642"/>
              <a:ext cx="812303" cy="50968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843" name="Oval 842"/>
            <p:cNvSpPr/>
            <p:nvPr/>
          </p:nvSpPr>
          <p:spPr>
            <a:xfrm>
              <a:off x="10891158" y="4149037"/>
              <a:ext cx="812303" cy="50969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nvGrpSpPr>
          <p:cNvPr id="56453" name="Group 696"/>
          <p:cNvGrpSpPr>
            <a:grpSpLocks/>
          </p:cNvGrpSpPr>
          <p:nvPr/>
        </p:nvGrpSpPr>
        <p:grpSpPr bwMode="auto">
          <a:xfrm>
            <a:off x="9718676" y="3998914"/>
            <a:ext cx="492125" cy="338137"/>
            <a:chOff x="10925982" y="4188911"/>
            <a:chExt cx="657413" cy="451816"/>
          </a:xfrm>
        </p:grpSpPr>
        <p:grpSp>
          <p:nvGrpSpPr>
            <p:cNvPr id="56472" name="Group 697"/>
            <p:cNvGrpSpPr>
              <a:grpSpLocks/>
            </p:cNvGrpSpPr>
            <p:nvPr/>
          </p:nvGrpSpPr>
          <p:grpSpPr bwMode="auto">
            <a:xfrm>
              <a:off x="11093556" y="4188911"/>
              <a:ext cx="489839" cy="451816"/>
              <a:chOff x="5103720" y="2693365"/>
              <a:chExt cx="611650" cy="414788"/>
            </a:xfrm>
          </p:grpSpPr>
          <p:cxnSp>
            <p:nvCxnSpPr>
              <p:cNvPr id="707" name="Straight Connector 706"/>
              <p:cNvCxnSpPr/>
              <p:nvPr/>
            </p:nvCxnSpPr>
            <p:spPr>
              <a:xfrm>
                <a:off x="5103672" y="2913417"/>
                <a:ext cx="233028"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482" name="Group 707"/>
              <p:cNvGrpSpPr>
                <a:grpSpLocks/>
              </p:cNvGrpSpPr>
              <p:nvPr/>
            </p:nvGrpSpPr>
            <p:grpSpPr bwMode="auto">
              <a:xfrm>
                <a:off x="5275406" y="2693365"/>
                <a:ext cx="439964" cy="414788"/>
                <a:chOff x="5275406" y="2711455"/>
                <a:chExt cx="452949" cy="405518"/>
              </a:xfrm>
            </p:grpSpPr>
            <p:pic>
              <p:nvPicPr>
                <p:cNvPr id="56483" name="Picture 708" descr="server_rack.png"/>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537367" y="2770786"/>
                  <a:ext cx="190988" cy="313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484" name="Picture 709" descr="server_rack.png"/>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275406" y="2764002"/>
                  <a:ext cx="190988" cy="313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485" name="Picture 710" descr="server_rack.png"/>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5385676" y="2711455"/>
                  <a:ext cx="247152" cy="405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56473" name="Group 698"/>
            <p:cNvGrpSpPr>
              <a:grpSpLocks/>
            </p:cNvGrpSpPr>
            <p:nvPr/>
          </p:nvGrpSpPr>
          <p:grpSpPr bwMode="auto">
            <a:xfrm>
              <a:off x="10925982" y="4369125"/>
              <a:ext cx="228295" cy="120400"/>
              <a:chOff x="7493876" y="2774731"/>
              <a:chExt cx="1481958" cy="894622"/>
            </a:xfrm>
          </p:grpSpPr>
          <p:sp>
            <p:nvSpPr>
              <p:cNvPr id="700" name="Freeform 699"/>
              <p:cNvSpPr/>
              <p:nvPr/>
            </p:nvSpPr>
            <p:spPr>
              <a:xfrm>
                <a:off x="7493876" y="3090614"/>
                <a:ext cx="1486753" cy="58317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701" name="Oval 700"/>
              <p:cNvSpPr/>
              <p:nvPr/>
            </p:nvSpPr>
            <p:spPr>
              <a:xfrm>
                <a:off x="7493876" y="2775386"/>
                <a:ext cx="1486753" cy="583177"/>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476" name="Group 701"/>
              <p:cNvGrpSpPr>
                <a:grpSpLocks/>
              </p:cNvGrpSpPr>
              <p:nvPr/>
            </p:nvGrpSpPr>
            <p:grpSpPr bwMode="auto">
              <a:xfrm>
                <a:off x="7713663" y="2848339"/>
                <a:ext cx="1042107" cy="425543"/>
                <a:chOff x="7786941" y="2884917"/>
                <a:chExt cx="897649" cy="353919"/>
              </a:xfrm>
            </p:grpSpPr>
            <p:sp>
              <p:nvSpPr>
                <p:cNvPr id="703" name="Freeform 702"/>
                <p:cNvSpPr/>
                <p:nvPr/>
              </p:nvSpPr>
              <p:spPr>
                <a:xfrm>
                  <a:off x="7811068" y="2889789"/>
                  <a:ext cx="853773" cy="196624"/>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04" name="Freeform 703"/>
                <p:cNvSpPr/>
                <p:nvPr/>
              </p:nvSpPr>
              <p:spPr>
                <a:xfrm>
                  <a:off x="8368395" y="3060196"/>
                  <a:ext cx="320161" cy="170416"/>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05" name="Freeform 704"/>
                <p:cNvSpPr/>
                <p:nvPr/>
              </p:nvSpPr>
              <p:spPr>
                <a:xfrm>
                  <a:off x="7787352" y="3060196"/>
                  <a:ext cx="308307" cy="170416"/>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06" name="Freeform 705"/>
                <p:cNvSpPr/>
                <p:nvPr/>
              </p:nvSpPr>
              <p:spPr>
                <a:xfrm>
                  <a:off x="7894077" y="2981545"/>
                  <a:ext cx="675900" cy="262171"/>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grpSp>
        <p:nvGrpSpPr>
          <p:cNvPr id="56454" name="Group 694"/>
          <p:cNvGrpSpPr>
            <a:grpSpLocks/>
          </p:cNvGrpSpPr>
          <p:nvPr/>
        </p:nvGrpSpPr>
        <p:grpSpPr bwMode="auto">
          <a:xfrm>
            <a:off x="9686926" y="3429000"/>
            <a:ext cx="454025" cy="304800"/>
            <a:chOff x="10884085" y="3428485"/>
            <a:chExt cx="604586" cy="405973"/>
          </a:xfrm>
        </p:grpSpPr>
        <p:grpSp>
          <p:nvGrpSpPr>
            <p:cNvPr id="56458" name="Group 768"/>
            <p:cNvGrpSpPr>
              <a:grpSpLocks/>
            </p:cNvGrpSpPr>
            <p:nvPr/>
          </p:nvGrpSpPr>
          <p:grpSpPr bwMode="auto">
            <a:xfrm>
              <a:off x="10884085" y="3601365"/>
              <a:ext cx="170989" cy="97052"/>
              <a:chOff x="7493876" y="2774731"/>
              <a:chExt cx="1481958" cy="894622"/>
            </a:xfrm>
          </p:grpSpPr>
          <p:sp>
            <p:nvSpPr>
              <p:cNvPr id="776" name="Freeform 775"/>
              <p:cNvSpPr/>
              <p:nvPr/>
            </p:nvSpPr>
            <p:spPr>
              <a:xfrm>
                <a:off x="7493876" y="3091236"/>
                <a:ext cx="1484047" cy="584722"/>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sp>
            <p:nvSpPr>
              <p:cNvPr id="777" name="Oval 776"/>
              <p:cNvSpPr/>
              <p:nvPr/>
            </p:nvSpPr>
            <p:spPr>
              <a:xfrm>
                <a:off x="7493876" y="2779384"/>
                <a:ext cx="1484047" cy="584722"/>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US" sz="1350" dirty="0">
                    <a:solidFill>
                      <a:prstClr val="white"/>
                    </a:solidFill>
                    <a:latin typeface="Calibri" panose="020F0502020204030204"/>
                  </a:rPr>
                  <a:t>              </a:t>
                </a:r>
              </a:p>
            </p:txBody>
          </p:sp>
          <p:grpSp>
            <p:nvGrpSpPr>
              <p:cNvPr id="56467" name="Group 777"/>
              <p:cNvGrpSpPr>
                <a:grpSpLocks/>
              </p:cNvGrpSpPr>
              <p:nvPr/>
            </p:nvGrpSpPr>
            <p:grpSpPr bwMode="auto">
              <a:xfrm>
                <a:off x="7713663" y="2848339"/>
                <a:ext cx="1042107" cy="425543"/>
                <a:chOff x="7786941" y="2884917"/>
                <a:chExt cx="897649" cy="353919"/>
              </a:xfrm>
            </p:grpSpPr>
            <p:sp>
              <p:nvSpPr>
                <p:cNvPr id="779" name="Freeform 778"/>
                <p:cNvSpPr/>
                <p:nvPr/>
              </p:nvSpPr>
              <p:spPr>
                <a:xfrm>
                  <a:off x="7818564" y="2892412"/>
                  <a:ext cx="836440" cy="259364"/>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80" name="Freeform 779"/>
                <p:cNvSpPr/>
                <p:nvPr/>
              </p:nvSpPr>
              <p:spPr>
                <a:xfrm>
                  <a:off x="8370932" y="3135570"/>
                  <a:ext cx="315636" cy="162102"/>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81" name="Freeform 780"/>
                <p:cNvSpPr/>
                <p:nvPr/>
              </p:nvSpPr>
              <p:spPr>
                <a:xfrm>
                  <a:off x="7787001" y="3135570"/>
                  <a:ext cx="315636" cy="162102"/>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sp>
              <p:nvSpPr>
                <p:cNvPr id="782" name="Freeform 781"/>
                <p:cNvSpPr/>
                <p:nvPr/>
              </p:nvSpPr>
              <p:spPr>
                <a:xfrm>
                  <a:off x="7897478" y="3038309"/>
                  <a:ext cx="678613" cy="275569"/>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1350" dirty="0">
                    <a:solidFill>
                      <a:prstClr val="white"/>
                    </a:solidFill>
                    <a:latin typeface="Calibri" panose="020F0502020204030204"/>
                  </a:endParaRPr>
                </a:p>
              </p:txBody>
            </p:sp>
          </p:grpSp>
        </p:grpSp>
        <p:grpSp>
          <p:nvGrpSpPr>
            <p:cNvPr id="56459" name="Group 769"/>
            <p:cNvGrpSpPr>
              <a:grpSpLocks/>
            </p:cNvGrpSpPr>
            <p:nvPr/>
          </p:nvGrpSpPr>
          <p:grpSpPr bwMode="auto">
            <a:xfrm>
              <a:off x="11064947" y="3428485"/>
              <a:ext cx="423724" cy="405973"/>
              <a:chOff x="5103720" y="2693365"/>
              <a:chExt cx="611650" cy="414788"/>
            </a:xfrm>
          </p:grpSpPr>
          <p:cxnSp>
            <p:nvCxnSpPr>
              <p:cNvPr id="771" name="Straight Connector 770"/>
              <p:cNvCxnSpPr/>
              <p:nvPr/>
            </p:nvCxnSpPr>
            <p:spPr>
              <a:xfrm>
                <a:off x="5105071" y="2913721"/>
                <a:ext cx="23191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461" name="Group 771"/>
              <p:cNvGrpSpPr>
                <a:grpSpLocks/>
              </p:cNvGrpSpPr>
              <p:nvPr/>
            </p:nvGrpSpPr>
            <p:grpSpPr bwMode="auto">
              <a:xfrm>
                <a:off x="5275406" y="2693365"/>
                <a:ext cx="439964" cy="414788"/>
                <a:chOff x="5275406" y="2711455"/>
                <a:chExt cx="452949" cy="405518"/>
              </a:xfrm>
            </p:grpSpPr>
            <p:pic>
              <p:nvPicPr>
                <p:cNvPr id="56462" name="Picture 772" descr="server_rack.png"/>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537367" y="2770786"/>
                  <a:ext cx="190988" cy="313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463" name="Picture 773" descr="server_rack.png"/>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275406" y="2764002"/>
                  <a:ext cx="190988" cy="313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464" name="Picture 774" descr="server_rack.png"/>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385676" y="2711455"/>
                  <a:ext cx="247152" cy="405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pic>
        <p:nvPicPr>
          <p:cNvPr id="56455" name="Picture 2" descr="Big Data. Monster Storage: The Northeast Storage Exchange | MGHPCC"/>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219325" y="3305175"/>
            <a:ext cx="3581400" cy="177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flipH="1">
            <a:off x="2170114" y="5122864"/>
            <a:ext cx="3832225" cy="415925"/>
          </a:xfrm>
          <a:prstGeom prst="rect">
            <a:avLst/>
          </a:prstGeom>
          <a:noFill/>
        </p:spPr>
        <p:txBody>
          <a:bodyPr>
            <a:spAutoFit/>
          </a:bodyPr>
          <a:lstStyle/>
          <a:p>
            <a:pPr defTabSz="685800">
              <a:defRPr/>
            </a:pPr>
            <a:r>
              <a:rPr lang="en-US" sz="1050" i="1" dirty="0">
                <a:solidFill>
                  <a:prstClr val="black"/>
                </a:solidFill>
                <a:latin typeface="Calibri" panose="020F0502020204030204"/>
              </a:rPr>
              <a:t>Courtesy: </a:t>
            </a:r>
            <a:r>
              <a:rPr lang="en-US" sz="1050" dirty="0">
                <a:solidFill>
                  <a:prstClr val="black"/>
                </a:solidFill>
                <a:latin typeface="Calibri" panose="020F0502020204030204"/>
              </a:rPr>
              <a:t>Massachusetts Green High Performance Computing Center (mghpcc.org)</a:t>
            </a:r>
          </a:p>
        </p:txBody>
      </p:sp>
      <p:pic>
        <p:nvPicPr>
          <p:cNvPr id="56457" name="Graphic 691" descr="Puzzle"/>
          <p:cNvPicPr>
            <a:picLocks noChangeAspect="1"/>
          </p:cNvPicPr>
          <p:nvPr/>
        </p:nvPicPr>
        <p:blipFill>
          <a:blip r:embed="rId32">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79C90EAF-2BA1-552D-5673-41CD82BAF072}"/>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29</a:t>
            </a:fld>
            <a:endParaRPr lang="en-US" dirty="0"/>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Host: sends </a:t>
            </a:r>
            <a:r>
              <a:rPr lang="en-US" altLang="en-US" i="1" dirty="0">
                <a:ea typeface="ＭＳ Ｐゴシック" panose="020B0600070205080204" pitchFamily="34" charset="-128"/>
              </a:rPr>
              <a:t>packets</a:t>
            </a:r>
            <a:r>
              <a:rPr lang="en-US" altLang="en-US" dirty="0">
                <a:ea typeface="ＭＳ Ｐゴシック" panose="020B0600070205080204" pitchFamily="34" charset="-128"/>
              </a:rPr>
              <a:t> of data</a:t>
            </a:r>
            <a:endParaRPr lang="en-US" dirty="0"/>
          </a:p>
        </p:txBody>
      </p:sp>
      <p:sp>
        <p:nvSpPr>
          <p:cNvPr id="110" name="Content Placeholder 52">
            <a:extLst>
              <a:ext uri="{FF2B5EF4-FFF2-40B4-BE49-F238E27FC236}">
                <a16:creationId xmlns:a16="http://schemas.microsoft.com/office/drawing/2014/main" id="{A98B0054-C347-AD46-AD0F-D56091B68BA0}"/>
              </a:ext>
            </a:extLst>
          </p:cNvPr>
          <p:cNvSpPr txBox="1">
            <a:spLocks/>
          </p:cNvSpPr>
          <p:nvPr/>
        </p:nvSpPr>
        <p:spPr>
          <a:xfrm>
            <a:off x="848710" y="1286477"/>
            <a:ext cx="5501619" cy="4672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defRPr/>
            </a:pPr>
            <a:r>
              <a:rPr lang="en-US" dirty="0"/>
              <a:t>host sending function:</a:t>
            </a:r>
          </a:p>
          <a:p>
            <a:pPr>
              <a:buFont typeface="Wingdings" charset="2"/>
              <a:buChar char="§"/>
              <a:defRPr/>
            </a:pPr>
            <a:r>
              <a:rPr lang="en-US" dirty="0"/>
              <a:t>takes application message</a:t>
            </a:r>
          </a:p>
          <a:p>
            <a:pPr>
              <a:buFont typeface="Wingdings" charset="2"/>
              <a:buChar char="§"/>
              <a:defRPr/>
            </a:pPr>
            <a:r>
              <a:rPr lang="en-US" dirty="0"/>
              <a:t>breaks into smaller chunks, known as </a:t>
            </a:r>
            <a:r>
              <a:rPr lang="en-US" i="1" dirty="0">
                <a:solidFill>
                  <a:srgbClr val="C00000"/>
                </a:solidFill>
              </a:rPr>
              <a:t>packets</a:t>
            </a:r>
            <a:r>
              <a:rPr lang="en-US" dirty="0"/>
              <a:t>, of length </a:t>
            </a:r>
            <a:r>
              <a:rPr lang="en-US" i="1" dirty="0">
                <a:solidFill>
                  <a:srgbClr val="C00000"/>
                </a:solidFill>
              </a:rPr>
              <a:t>L</a:t>
            </a:r>
            <a:r>
              <a:rPr lang="en-US" dirty="0"/>
              <a:t> bits</a:t>
            </a:r>
          </a:p>
          <a:p>
            <a:pPr>
              <a:buFont typeface="Wingdings" charset="2"/>
              <a:buChar char="§"/>
              <a:defRPr/>
            </a:pPr>
            <a:r>
              <a:rPr lang="en-US" dirty="0"/>
              <a:t>transmits packet into access network at </a:t>
            </a:r>
            <a:r>
              <a:rPr lang="en-US" i="1" dirty="0">
                <a:solidFill>
                  <a:srgbClr val="C00000"/>
                </a:solidFill>
              </a:rPr>
              <a:t>transmission rate R</a:t>
            </a:r>
          </a:p>
          <a:p>
            <a:pPr marL="682625" lvl="1" indent="-225425">
              <a:buFont typeface="Arial"/>
              <a:buChar char="•"/>
              <a:defRPr/>
            </a:pPr>
            <a:r>
              <a:rPr lang="en-US" sz="2800" dirty="0"/>
              <a:t>link transmission rate, aka link </a:t>
            </a:r>
            <a:r>
              <a:rPr lang="en-US" sz="2800" i="1" dirty="0">
                <a:solidFill>
                  <a:srgbClr val="C00000"/>
                </a:solidFill>
              </a:rPr>
              <a:t>capacity, aka link bandwidth</a:t>
            </a:r>
          </a:p>
        </p:txBody>
      </p:sp>
      <p:grpSp>
        <p:nvGrpSpPr>
          <p:cNvPr id="111" name="Group 219">
            <a:extLst>
              <a:ext uri="{FF2B5EF4-FFF2-40B4-BE49-F238E27FC236}">
                <a16:creationId xmlns:a16="http://schemas.microsoft.com/office/drawing/2014/main" id="{1783C255-624C-5A4A-B201-4875BCB2AD61}"/>
              </a:ext>
            </a:extLst>
          </p:cNvPr>
          <p:cNvGrpSpPr>
            <a:grpSpLocks/>
          </p:cNvGrpSpPr>
          <p:nvPr/>
        </p:nvGrpSpPr>
        <p:grpSpPr bwMode="auto">
          <a:xfrm>
            <a:off x="7825117" y="3017234"/>
            <a:ext cx="409575" cy="565150"/>
            <a:chOff x="375561" y="297711"/>
            <a:chExt cx="1252683" cy="2142487"/>
          </a:xfrm>
        </p:grpSpPr>
        <p:sp>
          <p:nvSpPr>
            <p:cNvPr id="112" name="Freeform 111">
              <a:extLst>
                <a:ext uri="{FF2B5EF4-FFF2-40B4-BE49-F238E27FC236}">
                  <a16:creationId xmlns:a16="http://schemas.microsoft.com/office/drawing/2014/main" id="{89269C3F-0BE6-9D44-A53A-CF1E0B5B0B1E}"/>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3" name="Freeform 112">
              <a:extLst>
                <a:ext uri="{FF2B5EF4-FFF2-40B4-BE49-F238E27FC236}">
                  <a16:creationId xmlns:a16="http://schemas.microsoft.com/office/drawing/2014/main" id="{7F003663-2144-534A-8D8A-23C83C360D46}"/>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4" name="Rectangle 113">
              <a:extLst>
                <a:ext uri="{FF2B5EF4-FFF2-40B4-BE49-F238E27FC236}">
                  <a16:creationId xmlns:a16="http://schemas.microsoft.com/office/drawing/2014/main" id="{007710C4-EE82-5149-B4B9-B5C3DF34C6A0}"/>
                </a:ext>
              </a:extLst>
            </p:cNvPr>
            <p:cNvSpPr/>
            <p:nvPr/>
          </p:nvSpPr>
          <p:spPr>
            <a:xfrm>
              <a:off x="1332065" y="1080080"/>
              <a:ext cx="296179" cy="1360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sp>
        <p:nvSpPr>
          <p:cNvPr id="115" name="Line 305">
            <a:extLst>
              <a:ext uri="{FF2B5EF4-FFF2-40B4-BE49-F238E27FC236}">
                <a16:creationId xmlns:a16="http://schemas.microsoft.com/office/drawing/2014/main" id="{BBE875D3-B5E1-D542-8736-8F7BF5F61AB9}"/>
              </a:ext>
            </a:extLst>
          </p:cNvPr>
          <p:cNvSpPr>
            <a:spLocks noChangeShapeType="1"/>
          </p:cNvSpPr>
          <p:nvPr/>
        </p:nvSpPr>
        <p:spPr bwMode="auto">
          <a:xfrm>
            <a:off x="8248979" y="3941159"/>
            <a:ext cx="24542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2" name="TextBox 1">
            <a:extLst>
              <a:ext uri="{FF2B5EF4-FFF2-40B4-BE49-F238E27FC236}">
                <a16:creationId xmlns:a16="http://schemas.microsoft.com/office/drawing/2014/main" id="{57CFAEA6-E43A-CC4A-9A23-AAEB7EC54619}"/>
              </a:ext>
            </a:extLst>
          </p:cNvPr>
          <p:cNvSpPr txBox="1">
            <a:spLocks noChangeArrowheads="1"/>
          </p:cNvSpPr>
          <p:nvPr/>
        </p:nvSpPr>
        <p:spPr bwMode="auto">
          <a:xfrm>
            <a:off x="8536979" y="4435965"/>
            <a:ext cx="31650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i="1" dirty="0">
                <a:solidFill>
                  <a:srgbClr val="C00000"/>
                </a:solidFill>
                <a:latin typeface="+mn-lt"/>
              </a:rPr>
              <a:t>R: </a:t>
            </a:r>
            <a:r>
              <a:rPr lang="en-US" altLang="en-US" dirty="0">
                <a:latin typeface="+mn-lt"/>
              </a:rPr>
              <a:t>link transmission rate</a:t>
            </a:r>
          </a:p>
        </p:txBody>
      </p:sp>
      <p:grpSp>
        <p:nvGrpSpPr>
          <p:cNvPr id="123" name="Group 201">
            <a:extLst>
              <a:ext uri="{FF2B5EF4-FFF2-40B4-BE49-F238E27FC236}">
                <a16:creationId xmlns:a16="http://schemas.microsoft.com/office/drawing/2014/main" id="{F38845F8-A22A-0840-B6B2-BA9B57A2E12B}"/>
              </a:ext>
            </a:extLst>
          </p:cNvPr>
          <p:cNvGrpSpPr>
            <a:grpSpLocks/>
          </p:cNvGrpSpPr>
          <p:nvPr/>
        </p:nvGrpSpPr>
        <p:grpSpPr bwMode="auto">
          <a:xfrm>
            <a:off x="7577467" y="3023584"/>
            <a:ext cx="409575" cy="565150"/>
            <a:chOff x="375561" y="297711"/>
            <a:chExt cx="1252683" cy="2138362"/>
          </a:xfrm>
        </p:grpSpPr>
        <p:sp>
          <p:nvSpPr>
            <p:cNvPr id="124" name="Freeform 123">
              <a:extLst>
                <a:ext uri="{FF2B5EF4-FFF2-40B4-BE49-F238E27FC236}">
                  <a16:creationId xmlns:a16="http://schemas.microsoft.com/office/drawing/2014/main" id="{F0213471-FC5E-3740-8228-F482430433EE}"/>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5" name="Freeform 124">
              <a:extLst>
                <a:ext uri="{FF2B5EF4-FFF2-40B4-BE49-F238E27FC236}">
                  <a16:creationId xmlns:a16="http://schemas.microsoft.com/office/drawing/2014/main" id="{1D32F859-6ED6-3846-AD75-0B8D3DD8921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6" name="Rectangle 125">
              <a:extLst>
                <a:ext uri="{FF2B5EF4-FFF2-40B4-BE49-F238E27FC236}">
                  <a16:creationId xmlns:a16="http://schemas.microsoft.com/office/drawing/2014/main" id="{97C54F76-C247-2040-BB89-13AEDD66B619}"/>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sp>
        <p:nvSpPr>
          <p:cNvPr id="127" name="TextBox 205">
            <a:extLst>
              <a:ext uri="{FF2B5EF4-FFF2-40B4-BE49-F238E27FC236}">
                <a16:creationId xmlns:a16="http://schemas.microsoft.com/office/drawing/2014/main" id="{56C0E3F4-BAC0-054D-864D-73B840482806}"/>
              </a:ext>
            </a:extLst>
          </p:cNvPr>
          <p:cNvSpPr txBox="1">
            <a:spLocks noChangeArrowheads="1"/>
          </p:cNvSpPr>
          <p:nvPr/>
        </p:nvSpPr>
        <p:spPr bwMode="auto">
          <a:xfrm>
            <a:off x="7334579" y="4199922"/>
            <a:ext cx="638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latin typeface="+mn-lt"/>
              </a:rPr>
              <a:t>host</a:t>
            </a:r>
          </a:p>
        </p:txBody>
      </p:sp>
      <p:grpSp>
        <p:nvGrpSpPr>
          <p:cNvPr id="128" name="Group 206">
            <a:extLst>
              <a:ext uri="{FF2B5EF4-FFF2-40B4-BE49-F238E27FC236}">
                <a16:creationId xmlns:a16="http://schemas.microsoft.com/office/drawing/2014/main" id="{2AB05662-A87F-5F48-9BEE-842E0153F175}"/>
              </a:ext>
            </a:extLst>
          </p:cNvPr>
          <p:cNvGrpSpPr>
            <a:grpSpLocks/>
          </p:cNvGrpSpPr>
          <p:nvPr/>
        </p:nvGrpSpPr>
        <p:grpSpPr bwMode="auto">
          <a:xfrm>
            <a:off x="7102804" y="3749072"/>
            <a:ext cx="1295400" cy="506412"/>
            <a:chOff x="1816230" y="6118900"/>
            <a:chExt cx="1843339" cy="739100"/>
          </a:xfrm>
        </p:grpSpPr>
        <p:pic>
          <p:nvPicPr>
            <p:cNvPr id="129" name="Picture 8">
              <a:extLst>
                <a:ext uri="{FF2B5EF4-FFF2-40B4-BE49-F238E27FC236}">
                  <a16:creationId xmlns:a16="http://schemas.microsoft.com/office/drawing/2014/main" id="{E6CEDF5D-D08B-B14B-A83A-85FD119A7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6230" y="6142069"/>
              <a:ext cx="1843339" cy="715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Rectangle 129">
              <a:extLst>
                <a:ext uri="{FF2B5EF4-FFF2-40B4-BE49-F238E27FC236}">
                  <a16:creationId xmlns:a16="http://schemas.microsoft.com/office/drawing/2014/main" id="{29048EF3-5E61-E84E-A403-E94CBDDEE0A1}"/>
                </a:ext>
              </a:extLst>
            </p:cNvPr>
            <p:cNvSpPr/>
            <p:nvPr/>
          </p:nvSpPr>
          <p:spPr>
            <a:xfrm rot="1049095">
              <a:off x="1947252" y="6118900"/>
              <a:ext cx="1651325" cy="463386"/>
            </a:xfrm>
            <a:prstGeom prst="rect">
              <a:avLst/>
            </a:prstGeom>
            <a:gradFill>
              <a:gsLst>
                <a:gs pos="0">
                  <a:schemeClr val="bg1"/>
                </a:gs>
                <a:gs pos="50000">
                  <a:schemeClr val="bg1">
                    <a:alpha val="48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nvGrpSpPr>
          <p:cNvPr id="131" name="Group 209">
            <a:extLst>
              <a:ext uri="{FF2B5EF4-FFF2-40B4-BE49-F238E27FC236}">
                <a16:creationId xmlns:a16="http://schemas.microsoft.com/office/drawing/2014/main" id="{167721A3-FDBE-8C46-B6F4-8B59460C385E}"/>
              </a:ext>
            </a:extLst>
          </p:cNvPr>
          <p:cNvGrpSpPr>
            <a:grpSpLocks/>
          </p:cNvGrpSpPr>
          <p:nvPr/>
        </p:nvGrpSpPr>
        <p:grpSpPr bwMode="auto">
          <a:xfrm>
            <a:off x="7242504" y="2132997"/>
            <a:ext cx="1409700" cy="877887"/>
            <a:chOff x="2387973" y="4309243"/>
            <a:chExt cx="1771787" cy="1282262"/>
          </a:xfrm>
        </p:grpSpPr>
        <p:pic>
          <p:nvPicPr>
            <p:cNvPr id="132" name="Picture 9">
              <a:extLst>
                <a:ext uri="{FF2B5EF4-FFF2-40B4-BE49-F238E27FC236}">
                  <a16:creationId xmlns:a16="http://schemas.microsoft.com/office/drawing/2014/main" id="{51FAC978-0CFD-394B-81C0-80683828F7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3508" y="4309243"/>
              <a:ext cx="1284945" cy="128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32">
              <a:extLst>
                <a:ext uri="{FF2B5EF4-FFF2-40B4-BE49-F238E27FC236}">
                  <a16:creationId xmlns:a16="http://schemas.microsoft.com/office/drawing/2014/main" id="{8340CE55-B950-0B43-BD77-490D7F00C056}"/>
                </a:ext>
              </a:extLst>
            </p:cNvPr>
            <p:cNvSpPr/>
            <p:nvPr/>
          </p:nvSpPr>
          <p:spPr>
            <a:xfrm rot="11601822">
              <a:off x="2387973" y="5127757"/>
              <a:ext cx="1771787" cy="424330"/>
            </a:xfrm>
            <a:prstGeom prst="rect">
              <a:avLst/>
            </a:prstGeom>
            <a:gradFill>
              <a:gsLst>
                <a:gs pos="0">
                  <a:schemeClr val="bg1"/>
                </a:gs>
                <a:gs pos="50000">
                  <a:schemeClr val="bg1">
                    <a:alpha val="48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sp>
        <p:nvSpPr>
          <p:cNvPr id="134" name="TextBox 215">
            <a:extLst>
              <a:ext uri="{FF2B5EF4-FFF2-40B4-BE49-F238E27FC236}">
                <a16:creationId xmlns:a16="http://schemas.microsoft.com/office/drawing/2014/main" id="{08652FA1-7974-3443-8815-45FAE75FEE09}"/>
              </a:ext>
            </a:extLst>
          </p:cNvPr>
          <p:cNvSpPr txBox="1">
            <a:spLocks noChangeArrowheads="1"/>
          </p:cNvSpPr>
          <p:nvPr/>
        </p:nvSpPr>
        <p:spPr bwMode="auto">
          <a:xfrm>
            <a:off x="7991804" y="3555397"/>
            <a:ext cx="2889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a:latin typeface="+mn-lt"/>
              </a:rPr>
              <a:t>1</a:t>
            </a:r>
          </a:p>
        </p:txBody>
      </p:sp>
      <p:sp>
        <p:nvSpPr>
          <p:cNvPr id="135" name="TextBox 216">
            <a:extLst>
              <a:ext uri="{FF2B5EF4-FFF2-40B4-BE49-F238E27FC236}">
                <a16:creationId xmlns:a16="http://schemas.microsoft.com/office/drawing/2014/main" id="{B2DFB57D-4700-E945-86BB-18293CCD901A}"/>
              </a:ext>
            </a:extLst>
          </p:cNvPr>
          <p:cNvSpPr txBox="1">
            <a:spLocks noChangeArrowheads="1"/>
          </p:cNvSpPr>
          <p:nvPr/>
        </p:nvSpPr>
        <p:spPr bwMode="auto">
          <a:xfrm>
            <a:off x="7750504" y="3563334"/>
            <a:ext cx="2889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a:latin typeface="+mn-lt"/>
              </a:rPr>
              <a:t>2</a:t>
            </a:r>
          </a:p>
        </p:txBody>
      </p:sp>
      <p:cxnSp>
        <p:nvCxnSpPr>
          <p:cNvPr id="136" name="Straight Connector 3">
            <a:extLst>
              <a:ext uri="{FF2B5EF4-FFF2-40B4-BE49-F238E27FC236}">
                <a16:creationId xmlns:a16="http://schemas.microsoft.com/office/drawing/2014/main" id="{FBBE3444-7CBE-F14B-B7E8-0383406AC1F6}"/>
              </a:ext>
            </a:extLst>
          </p:cNvPr>
          <p:cNvCxnSpPr>
            <a:cxnSpLocks noChangeShapeType="1"/>
          </p:cNvCxnSpPr>
          <p:nvPr/>
        </p:nvCxnSpPr>
        <p:spPr bwMode="auto">
          <a:xfrm flipV="1">
            <a:off x="8241042" y="2577497"/>
            <a:ext cx="1225550" cy="5651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37" name="TextBox 234">
            <a:extLst>
              <a:ext uri="{FF2B5EF4-FFF2-40B4-BE49-F238E27FC236}">
                <a16:creationId xmlns:a16="http://schemas.microsoft.com/office/drawing/2014/main" id="{E4BF320B-881D-FC4C-AA1D-E8017D839D9A}"/>
              </a:ext>
            </a:extLst>
          </p:cNvPr>
          <p:cNvSpPr txBox="1">
            <a:spLocks noChangeArrowheads="1"/>
          </p:cNvSpPr>
          <p:nvPr/>
        </p:nvSpPr>
        <p:spPr bwMode="auto">
          <a:xfrm>
            <a:off x="9404679" y="2228247"/>
            <a:ext cx="18244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mn-lt"/>
              </a:rPr>
              <a:t>two packets, </a:t>
            </a:r>
          </a:p>
          <a:p>
            <a:r>
              <a:rPr lang="en-US" altLang="en-US" i="1" dirty="0">
                <a:solidFill>
                  <a:srgbClr val="C00000"/>
                </a:solidFill>
                <a:latin typeface="+mn-lt"/>
              </a:rPr>
              <a:t>L</a:t>
            </a:r>
            <a:r>
              <a:rPr lang="en-US" altLang="en-US" dirty="0">
                <a:latin typeface="+mn-lt"/>
              </a:rPr>
              <a:t> bits each</a:t>
            </a:r>
          </a:p>
        </p:txBody>
      </p:sp>
      <p:grpSp>
        <p:nvGrpSpPr>
          <p:cNvPr id="138" name="Group 137">
            <a:extLst>
              <a:ext uri="{FF2B5EF4-FFF2-40B4-BE49-F238E27FC236}">
                <a16:creationId xmlns:a16="http://schemas.microsoft.com/office/drawing/2014/main" id="{B19D0037-5A33-094A-B56A-A6725F0071E1}"/>
              </a:ext>
            </a:extLst>
          </p:cNvPr>
          <p:cNvGrpSpPr/>
          <p:nvPr/>
        </p:nvGrpSpPr>
        <p:grpSpPr>
          <a:xfrm>
            <a:off x="10506147" y="3669119"/>
            <a:ext cx="1200246" cy="477406"/>
            <a:chOff x="3668110" y="2448910"/>
            <a:chExt cx="3794234" cy="2165130"/>
          </a:xfrm>
        </p:grpSpPr>
        <p:sp>
          <p:nvSpPr>
            <p:cNvPr id="139" name="Rectangle 138">
              <a:extLst>
                <a:ext uri="{FF2B5EF4-FFF2-40B4-BE49-F238E27FC236}">
                  <a16:creationId xmlns:a16="http://schemas.microsoft.com/office/drawing/2014/main" id="{BA9898D4-BC65-E748-94F3-2D54D26D96F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139">
              <a:extLst>
                <a:ext uri="{FF2B5EF4-FFF2-40B4-BE49-F238E27FC236}">
                  <a16:creationId xmlns:a16="http://schemas.microsoft.com/office/drawing/2014/main" id="{D5CAA6B7-B19A-704A-A583-2A25A6A2BD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1" name="Group 140">
              <a:extLst>
                <a:ext uri="{FF2B5EF4-FFF2-40B4-BE49-F238E27FC236}">
                  <a16:creationId xmlns:a16="http://schemas.microsoft.com/office/drawing/2014/main" id="{1807DB28-C49C-1F47-993A-E4A5D8E3AD34}"/>
                </a:ext>
              </a:extLst>
            </p:cNvPr>
            <p:cNvGrpSpPr/>
            <p:nvPr/>
          </p:nvGrpSpPr>
          <p:grpSpPr>
            <a:xfrm>
              <a:off x="3941378" y="2603243"/>
              <a:ext cx="3202061" cy="1066110"/>
              <a:chOff x="7939341" y="3037317"/>
              <a:chExt cx="897649" cy="353919"/>
            </a:xfrm>
          </p:grpSpPr>
          <p:sp>
            <p:nvSpPr>
              <p:cNvPr id="142" name="Freeform 141">
                <a:extLst>
                  <a:ext uri="{FF2B5EF4-FFF2-40B4-BE49-F238E27FC236}">
                    <a16:creationId xmlns:a16="http://schemas.microsoft.com/office/drawing/2014/main" id="{12EFFE72-BC3C-CC49-AB49-16A0474F506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142">
                <a:extLst>
                  <a:ext uri="{FF2B5EF4-FFF2-40B4-BE49-F238E27FC236}">
                    <a16:creationId xmlns:a16="http://schemas.microsoft.com/office/drawing/2014/main" id="{C69BFDC0-0B31-D049-BA7F-3FCD7CA2CF3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143">
                <a:extLst>
                  <a:ext uri="{FF2B5EF4-FFF2-40B4-BE49-F238E27FC236}">
                    <a16:creationId xmlns:a16="http://schemas.microsoft.com/office/drawing/2014/main" id="{F93BED00-199F-094A-BBBD-21F3A38D650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144">
                <a:extLst>
                  <a:ext uri="{FF2B5EF4-FFF2-40B4-BE49-F238E27FC236}">
                    <a16:creationId xmlns:a16="http://schemas.microsoft.com/office/drawing/2014/main" id="{0764D4E8-C385-5D47-B4A0-DC425C12DA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cxnSp>
        <p:nvCxnSpPr>
          <p:cNvPr id="146" name="Straight Connector 3">
            <a:extLst>
              <a:ext uri="{FF2B5EF4-FFF2-40B4-BE49-F238E27FC236}">
                <a16:creationId xmlns:a16="http://schemas.microsoft.com/office/drawing/2014/main" id="{5571A294-549C-9140-89B0-D3E6B5C20F85}"/>
              </a:ext>
            </a:extLst>
          </p:cNvPr>
          <p:cNvCxnSpPr>
            <a:cxnSpLocks noChangeShapeType="1"/>
          </p:cNvCxnSpPr>
          <p:nvPr/>
        </p:nvCxnSpPr>
        <p:spPr bwMode="auto">
          <a:xfrm flipV="1">
            <a:off x="9264979" y="4020904"/>
            <a:ext cx="0" cy="4583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 name="Right Arrow 2">
            <a:extLst>
              <a:ext uri="{FF2B5EF4-FFF2-40B4-BE49-F238E27FC236}">
                <a16:creationId xmlns:a16="http://schemas.microsoft.com/office/drawing/2014/main" id="{23DA3897-58AF-E74F-8974-5062251B6401}"/>
              </a:ext>
            </a:extLst>
          </p:cNvPr>
          <p:cNvSpPr/>
          <p:nvPr/>
        </p:nvSpPr>
        <p:spPr>
          <a:xfrm>
            <a:off x="8311695" y="3223689"/>
            <a:ext cx="978408" cy="260093"/>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a:extLst>
              <a:ext uri="{FF2B5EF4-FFF2-40B4-BE49-F238E27FC236}">
                <a16:creationId xmlns:a16="http://schemas.microsoft.com/office/drawing/2014/main" id="{C3E2A643-E19F-834C-A4A9-DFD2845E5A32}"/>
              </a:ext>
            </a:extLst>
          </p:cNvPr>
          <p:cNvGrpSpPr/>
          <p:nvPr/>
        </p:nvGrpSpPr>
        <p:grpSpPr>
          <a:xfrm>
            <a:off x="2541108" y="5251754"/>
            <a:ext cx="6446724" cy="1077218"/>
            <a:chOff x="2541108" y="5251754"/>
            <a:chExt cx="6446724" cy="1077218"/>
          </a:xfrm>
        </p:grpSpPr>
        <p:sp>
          <p:nvSpPr>
            <p:cNvPr id="150" name="TextBox 235">
              <a:extLst>
                <a:ext uri="{FF2B5EF4-FFF2-40B4-BE49-F238E27FC236}">
                  <a16:creationId xmlns:a16="http://schemas.microsoft.com/office/drawing/2014/main" id="{554D03F1-261B-274D-BE6B-68B0F085B72E}"/>
                </a:ext>
              </a:extLst>
            </p:cNvPr>
            <p:cNvSpPr txBox="1">
              <a:spLocks noChangeArrowheads="1"/>
            </p:cNvSpPr>
            <p:nvPr/>
          </p:nvSpPr>
          <p:spPr bwMode="auto">
            <a:xfrm>
              <a:off x="2541108" y="5259812"/>
              <a:ext cx="17685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85000"/>
                </a:lnSpc>
              </a:pPr>
              <a:r>
                <a:rPr lang="en-US" altLang="en-US" dirty="0">
                  <a:latin typeface="+mn-lt"/>
                </a:rPr>
                <a:t>packet</a:t>
              </a:r>
            </a:p>
            <a:p>
              <a:pPr algn="r">
                <a:lnSpc>
                  <a:spcPct val="85000"/>
                </a:lnSpc>
              </a:pPr>
              <a:r>
                <a:rPr lang="en-US" altLang="en-US" dirty="0">
                  <a:latin typeface="+mn-lt"/>
                </a:rPr>
                <a:t>transmission</a:t>
              </a:r>
            </a:p>
            <a:p>
              <a:pPr algn="r">
                <a:lnSpc>
                  <a:spcPct val="85000"/>
                </a:lnSpc>
              </a:pPr>
              <a:r>
                <a:rPr lang="en-US" altLang="en-US" dirty="0">
                  <a:latin typeface="+mn-lt"/>
                </a:rPr>
                <a:t>delay</a:t>
              </a:r>
            </a:p>
          </p:txBody>
        </p:sp>
        <p:sp>
          <p:nvSpPr>
            <p:cNvPr id="151" name="TextBox 237">
              <a:extLst>
                <a:ext uri="{FF2B5EF4-FFF2-40B4-BE49-F238E27FC236}">
                  <a16:creationId xmlns:a16="http://schemas.microsoft.com/office/drawing/2014/main" id="{9CD3A186-E3CE-C042-8649-3B739F26DF9E}"/>
                </a:ext>
              </a:extLst>
            </p:cNvPr>
            <p:cNvSpPr txBox="1">
              <a:spLocks noChangeArrowheads="1"/>
            </p:cNvSpPr>
            <p:nvPr/>
          </p:nvSpPr>
          <p:spPr bwMode="auto">
            <a:xfrm>
              <a:off x="4778467" y="5291362"/>
              <a:ext cx="2103653"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dirty="0">
                  <a:latin typeface="+mn-lt"/>
                </a:rPr>
                <a:t>time needed to</a:t>
              </a:r>
            </a:p>
            <a:p>
              <a:pPr algn="ctr">
                <a:lnSpc>
                  <a:spcPct val="85000"/>
                </a:lnSpc>
              </a:pPr>
              <a:r>
                <a:rPr lang="en-US" altLang="en-US" dirty="0">
                  <a:latin typeface="+mn-lt"/>
                </a:rPr>
                <a:t>transmit </a:t>
              </a:r>
              <a:r>
                <a:rPr lang="en-US" altLang="en-US" i="1" dirty="0">
                  <a:latin typeface="+mn-lt"/>
                </a:rPr>
                <a:t>L</a:t>
              </a:r>
              <a:r>
                <a:rPr lang="en-US" altLang="en-US" dirty="0">
                  <a:latin typeface="+mn-lt"/>
                </a:rPr>
                <a:t>-bit</a:t>
              </a:r>
            </a:p>
            <a:p>
              <a:pPr algn="ctr">
                <a:lnSpc>
                  <a:spcPct val="85000"/>
                </a:lnSpc>
              </a:pPr>
              <a:r>
                <a:rPr lang="en-US" altLang="en-US" dirty="0">
                  <a:latin typeface="+mn-lt"/>
                </a:rPr>
                <a:t>packet into link</a:t>
              </a:r>
            </a:p>
          </p:txBody>
        </p:sp>
        <p:sp>
          <p:nvSpPr>
            <p:cNvPr id="152" name="TextBox 4">
              <a:extLst>
                <a:ext uri="{FF2B5EF4-FFF2-40B4-BE49-F238E27FC236}">
                  <a16:creationId xmlns:a16="http://schemas.microsoft.com/office/drawing/2014/main" id="{B952BAFD-58AC-214C-BE5D-ADF785D9B190}"/>
                </a:ext>
              </a:extLst>
            </p:cNvPr>
            <p:cNvSpPr txBox="1">
              <a:spLocks noChangeArrowheads="1"/>
            </p:cNvSpPr>
            <p:nvPr/>
          </p:nvSpPr>
          <p:spPr bwMode="auto">
            <a:xfrm>
              <a:off x="7516019" y="5251754"/>
              <a:ext cx="147181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L</a:t>
              </a:r>
              <a:r>
                <a:rPr lang="en-US" altLang="en-US" sz="3200" dirty="0">
                  <a:latin typeface="+mn-lt"/>
                </a:rPr>
                <a:t> </a:t>
              </a:r>
              <a:r>
                <a:rPr lang="en-US" altLang="en-US" sz="2000" dirty="0">
                  <a:latin typeface="+mn-lt"/>
                </a:rPr>
                <a:t>(bits)</a:t>
              </a:r>
            </a:p>
            <a:p>
              <a:r>
                <a:rPr lang="en-US" altLang="en-US" sz="3200" i="1" dirty="0">
                  <a:latin typeface="+mn-lt"/>
                </a:rPr>
                <a:t>R</a:t>
              </a:r>
              <a:r>
                <a:rPr lang="en-US" altLang="en-US" sz="3200" dirty="0">
                  <a:latin typeface="+mn-lt"/>
                </a:rPr>
                <a:t> </a:t>
              </a:r>
              <a:r>
                <a:rPr lang="en-US" altLang="en-US" sz="2000" dirty="0">
                  <a:latin typeface="+mn-lt"/>
                </a:rPr>
                <a:t>(bits/sec)</a:t>
              </a:r>
              <a:endParaRPr lang="en-US" altLang="en-US" sz="3200" dirty="0">
                <a:latin typeface="+mn-lt"/>
              </a:endParaRPr>
            </a:p>
          </p:txBody>
        </p:sp>
        <p:cxnSp>
          <p:nvCxnSpPr>
            <p:cNvPr id="153" name="Straight Connector 9">
              <a:extLst>
                <a:ext uri="{FF2B5EF4-FFF2-40B4-BE49-F238E27FC236}">
                  <a16:creationId xmlns:a16="http://schemas.microsoft.com/office/drawing/2014/main" id="{67DC36C0-FB7F-C743-A67E-B459F261B223}"/>
                </a:ext>
              </a:extLst>
            </p:cNvPr>
            <p:cNvCxnSpPr>
              <a:cxnSpLocks noChangeShapeType="1"/>
            </p:cNvCxnSpPr>
            <p:nvPr/>
          </p:nvCxnSpPr>
          <p:spPr bwMode="auto">
            <a:xfrm>
              <a:off x="7603331" y="5796974"/>
              <a:ext cx="28687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sp>
          <p:nvSpPr>
            <p:cNvPr id="154" name="TextBox 10">
              <a:extLst>
                <a:ext uri="{FF2B5EF4-FFF2-40B4-BE49-F238E27FC236}">
                  <a16:creationId xmlns:a16="http://schemas.microsoft.com/office/drawing/2014/main" id="{E6FBAEB0-9208-834B-AE45-DB91BAA9DB81}"/>
                </a:ext>
              </a:extLst>
            </p:cNvPr>
            <p:cNvSpPr txBox="1">
              <a:spLocks noChangeArrowheads="1"/>
            </p:cNvSpPr>
            <p:nvPr/>
          </p:nvSpPr>
          <p:spPr bwMode="auto">
            <a:xfrm>
              <a:off x="4336507" y="5477615"/>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3200" dirty="0">
                  <a:latin typeface="+mn-lt"/>
                </a:rPr>
                <a:t>=</a:t>
              </a:r>
            </a:p>
          </p:txBody>
        </p:sp>
        <p:sp>
          <p:nvSpPr>
            <p:cNvPr id="155" name="TextBox 245">
              <a:extLst>
                <a:ext uri="{FF2B5EF4-FFF2-40B4-BE49-F238E27FC236}">
                  <a16:creationId xmlns:a16="http://schemas.microsoft.com/office/drawing/2014/main" id="{46450F73-8344-8247-AF42-74BDC01EF657}"/>
                </a:ext>
              </a:extLst>
            </p:cNvPr>
            <p:cNvSpPr txBox="1">
              <a:spLocks noChangeArrowheads="1"/>
            </p:cNvSpPr>
            <p:nvPr/>
          </p:nvSpPr>
          <p:spPr bwMode="auto">
            <a:xfrm>
              <a:off x="6919119" y="548489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3200" dirty="0">
                  <a:latin typeface="+mn-lt"/>
                </a:rPr>
                <a:t>=</a:t>
              </a:r>
            </a:p>
          </p:txBody>
        </p:sp>
      </p:grpSp>
    </p:spTree>
    <p:extLst>
      <p:ext uri="{BB962C8B-B14F-4D97-AF65-F5344CB8AC3E}">
        <p14:creationId xmlns:p14="http://schemas.microsoft.com/office/powerpoint/2010/main" val="386875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Title 50"/>
          <p:cNvSpPr>
            <a:spLocks noGrp="1" noChangeArrowheads="1"/>
          </p:cNvSpPr>
          <p:nvPr>
            <p:ph type="title" idx="4294967295"/>
          </p:nvPr>
        </p:nvSpPr>
        <p:spPr>
          <a:xfrm>
            <a:off x="1814514" y="198439"/>
            <a:ext cx="8321675" cy="765175"/>
          </a:xfrm>
        </p:spPr>
        <p:txBody>
          <a:bodyPr/>
          <a:lstStyle/>
          <a:p>
            <a:pPr eaLnBrk="1" hangingPunct="1"/>
            <a:r>
              <a:rPr lang="en-US" altLang="en-US">
                <a:ea typeface="ＭＳ Ｐゴシック" panose="020B0600070205080204" pitchFamily="34" charset="-128"/>
              </a:rPr>
              <a:t>Host: sends </a:t>
            </a:r>
            <a:r>
              <a:rPr lang="en-US" altLang="en-US" i="1">
                <a:ea typeface="ＭＳ Ｐゴシック" panose="020B0600070205080204" pitchFamily="34" charset="-128"/>
              </a:rPr>
              <a:t>packets</a:t>
            </a:r>
            <a:r>
              <a:rPr lang="en-US" altLang="en-US">
                <a:ea typeface="ＭＳ Ｐゴシック" panose="020B0600070205080204" pitchFamily="34" charset="-128"/>
              </a:rPr>
              <a:t> of data</a:t>
            </a:r>
          </a:p>
        </p:txBody>
      </p:sp>
      <p:pic>
        <p:nvPicPr>
          <p:cNvPr id="61443" name="Picture 39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51026" y="822325"/>
            <a:ext cx="7769225"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444" name="Group 4"/>
          <p:cNvGrpSpPr>
            <a:grpSpLocks/>
          </p:cNvGrpSpPr>
          <p:nvPr/>
        </p:nvGrpSpPr>
        <p:grpSpPr bwMode="auto">
          <a:xfrm>
            <a:off x="6510338" y="1387476"/>
            <a:ext cx="3949700" cy="1954959"/>
            <a:chOff x="4559300" y="1387016"/>
            <a:chExt cx="4376738" cy="2495559"/>
          </a:xfrm>
        </p:grpSpPr>
        <p:grpSp>
          <p:nvGrpSpPr>
            <p:cNvPr id="61456" name="Group 206"/>
            <p:cNvGrpSpPr>
              <a:grpSpLocks/>
            </p:cNvGrpSpPr>
            <p:nvPr/>
          </p:nvGrpSpPr>
          <p:grpSpPr bwMode="auto">
            <a:xfrm>
              <a:off x="4559300" y="3003091"/>
              <a:ext cx="1295400" cy="506412"/>
              <a:chOff x="1816230" y="6118900"/>
              <a:chExt cx="1843339" cy="739100"/>
            </a:xfrm>
          </p:grpSpPr>
          <p:pic>
            <p:nvPicPr>
              <p:cNvPr id="61482"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6230" y="6142069"/>
                <a:ext cx="1843339" cy="715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208"/>
              <p:cNvSpPr/>
              <p:nvPr/>
            </p:nvSpPr>
            <p:spPr>
              <a:xfrm rot="1049095">
                <a:off x="1946398" y="6117493"/>
                <a:ext cx="1652134" cy="464346"/>
              </a:xfrm>
              <a:prstGeom prst="rect">
                <a:avLst/>
              </a:prstGeom>
              <a:gradFill>
                <a:gsLst>
                  <a:gs pos="0">
                    <a:schemeClr val="bg1"/>
                  </a:gs>
                  <a:gs pos="50000">
                    <a:schemeClr val="bg1">
                      <a:alpha val="48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ＭＳ Ｐゴシック" charset="0"/>
                </a:endParaRPr>
              </a:p>
            </p:txBody>
          </p:sp>
        </p:grpSp>
        <p:grpSp>
          <p:nvGrpSpPr>
            <p:cNvPr id="61457" name="Group 3"/>
            <p:cNvGrpSpPr>
              <a:grpSpLocks/>
            </p:cNvGrpSpPr>
            <p:nvPr/>
          </p:nvGrpSpPr>
          <p:grpSpPr bwMode="auto">
            <a:xfrm>
              <a:off x="4559300" y="1387016"/>
              <a:ext cx="4376738" cy="2495559"/>
              <a:chOff x="4699000" y="1387016"/>
              <a:chExt cx="4237038" cy="2598807"/>
            </a:xfrm>
          </p:grpSpPr>
          <p:grpSp>
            <p:nvGrpSpPr>
              <p:cNvPr id="61458" name="Group 219"/>
              <p:cNvGrpSpPr>
                <a:grpSpLocks/>
              </p:cNvGrpSpPr>
              <p:nvPr/>
            </p:nvGrpSpPr>
            <p:grpSpPr bwMode="auto">
              <a:xfrm>
                <a:off x="5281613" y="2271253"/>
                <a:ext cx="409575" cy="565150"/>
                <a:chOff x="375561" y="297711"/>
                <a:chExt cx="1252683" cy="2142487"/>
              </a:xfrm>
            </p:grpSpPr>
            <p:sp>
              <p:nvSpPr>
                <p:cNvPr id="221" name="Freeform 220"/>
                <p:cNvSpPr/>
                <p:nvPr/>
              </p:nvSpPr>
              <p:spPr>
                <a:xfrm>
                  <a:off x="374977" y="297681"/>
                  <a:ext cx="974005" cy="213607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 name="Freeform 221"/>
                <p:cNvSpPr/>
                <p:nvPr/>
              </p:nvSpPr>
              <p:spPr>
                <a:xfrm>
                  <a:off x="374977" y="313681"/>
                  <a:ext cx="1250061" cy="768027"/>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Rectangle 222"/>
                <p:cNvSpPr/>
                <p:nvPr/>
              </p:nvSpPr>
              <p:spPr>
                <a:xfrm>
                  <a:off x="1333357" y="1081708"/>
                  <a:ext cx="296888" cy="1360047"/>
                </a:xfrm>
                <a:prstGeom prst="rect">
                  <a:avLst/>
                </a:prstGeom>
                <a:solidFill>
                  <a:srgbClr val="33CC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ＭＳ Ｐゴシック" charset="0"/>
                  </a:endParaRPr>
                </a:p>
              </p:txBody>
            </p:sp>
          </p:grpSp>
          <p:sp>
            <p:nvSpPr>
              <p:cNvPr id="61459" name="Line 305"/>
              <p:cNvSpPr>
                <a:spLocks noChangeShapeType="1"/>
              </p:cNvSpPr>
              <p:nvPr/>
            </p:nvSpPr>
            <p:spPr bwMode="auto">
              <a:xfrm>
                <a:off x="5705475" y="3195178"/>
                <a:ext cx="24542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1460" name="Group 51"/>
              <p:cNvGrpSpPr>
                <a:grpSpLocks/>
              </p:cNvGrpSpPr>
              <p:nvPr/>
            </p:nvGrpSpPr>
            <p:grpSpPr bwMode="auto">
              <a:xfrm>
                <a:off x="7883525" y="2895141"/>
                <a:ext cx="1052513" cy="355600"/>
                <a:chOff x="4410" y="1365"/>
                <a:chExt cx="663" cy="224"/>
              </a:xfrm>
            </p:grpSpPr>
            <p:sp>
              <p:nvSpPr>
                <p:cNvPr id="61474" name="Rectangle 52"/>
                <p:cNvSpPr>
                  <a:spLocks noChangeArrowheads="1"/>
                </p:cNvSpPr>
                <p:nvPr/>
              </p:nvSpPr>
              <p:spPr bwMode="auto">
                <a:xfrm>
                  <a:off x="4410" y="1500"/>
                  <a:ext cx="495" cy="87"/>
                </a:xfrm>
                <a:prstGeom prst="rect">
                  <a:avLst/>
                </a:prstGeom>
                <a:gradFill rotWithShape="1">
                  <a:gsLst>
                    <a:gs pos="0">
                      <a:srgbClr val="009999"/>
                    </a:gs>
                    <a:gs pos="100000">
                      <a:srgbClr val="FFFFFF"/>
                    </a:gs>
                  </a:gsLst>
                  <a:lin ang="0" scaled="1"/>
                </a:gradFill>
                <a:ln w="9525">
                  <a:solidFill>
                    <a:srgbClr val="000000"/>
                  </a:solidFill>
                  <a:miter lim="800000"/>
                  <a:headEnd/>
                  <a:tailEnd/>
                </a:ln>
              </p:spPr>
              <p:txBody>
                <a:bodyPr wrap="none" anchor="ct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en-US" altLang="en-US" sz="2400">
                    <a:solidFill>
                      <a:srgbClr val="000000"/>
                    </a:solidFill>
                    <a:latin typeface="Arial" panose="020B0604020202020204" pitchFamily="34" charset="0"/>
                  </a:endParaRPr>
                </a:p>
              </p:txBody>
            </p:sp>
            <p:sp>
              <p:nvSpPr>
                <p:cNvPr id="61475" name="AutoShape 53"/>
                <p:cNvSpPr>
                  <a:spLocks noChangeArrowheads="1"/>
                </p:cNvSpPr>
                <p:nvPr/>
              </p:nvSpPr>
              <p:spPr bwMode="auto">
                <a:xfrm>
                  <a:off x="4410" y="1368"/>
                  <a:ext cx="663" cy="135"/>
                </a:xfrm>
                <a:prstGeom prst="parallelogram">
                  <a:avLst>
                    <a:gd name="adj" fmla="val 122778"/>
                  </a:avLst>
                </a:prstGeom>
                <a:gradFill rotWithShape="1">
                  <a:gsLst>
                    <a:gs pos="0">
                      <a:srgbClr val="009999"/>
                    </a:gs>
                    <a:gs pos="100000">
                      <a:srgbClr val="FFFFFF"/>
                    </a:gs>
                  </a:gsLst>
                  <a:lin ang="0" scaled="1"/>
                </a:gradFill>
                <a:ln w="9525">
                  <a:solidFill>
                    <a:srgbClr val="000000"/>
                  </a:solidFill>
                  <a:miter lim="800000"/>
                  <a:headEnd/>
                  <a:tailEnd/>
                </a:ln>
              </p:spPr>
              <p:txBody>
                <a:bodyPr wrap="none" anchor="ct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en-US" altLang="en-US" sz="2400">
                    <a:solidFill>
                      <a:srgbClr val="000000"/>
                    </a:solidFill>
                    <a:latin typeface="Arial" panose="020B0604020202020204" pitchFamily="34" charset="0"/>
                  </a:endParaRPr>
                </a:p>
              </p:txBody>
            </p:sp>
            <p:sp>
              <p:nvSpPr>
                <p:cNvPr id="61476" name="Freeform 54"/>
                <p:cNvSpPr>
                  <a:spLocks/>
                </p:cNvSpPr>
                <p:nvPr/>
              </p:nvSpPr>
              <p:spPr bwMode="auto">
                <a:xfrm>
                  <a:off x="4904" y="1365"/>
                  <a:ext cx="169" cy="224"/>
                </a:xfrm>
                <a:custGeom>
                  <a:avLst/>
                  <a:gdLst>
                    <a:gd name="T0" fmla="*/ 0 w 169"/>
                    <a:gd name="T1" fmla="*/ 138 h 224"/>
                    <a:gd name="T2" fmla="*/ 0 w 169"/>
                    <a:gd name="T3" fmla="*/ 224 h 224"/>
                    <a:gd name="T4" fmla="*/ 169 w 169"/>
                    <a:gd name="T5" fmla="*/ 77 h 224"/>
                    <a:gd name="T6" fmla="*/ 169 w 169"/>
                    <a:gd name="T7" fmla="*/ 0 h 224"/>
                    <a:gd name="T8" fmla="*/ 0 w 169"/>
                    <a:gd name="T9" fmla="*/ 138 h 224"/>
                    <a:gd name="T10" fmla="*/ 0 60000 65536"/>
                    <a:gd name="T11" fmla="*/ 0 60000 65536"/>
                    <a:gd name="T12" fmla="*/ 0 60000 65536"/>
                    <a:gd name="T13" fmla="*/ 0 60000 65536"/>
                    <a:gd name="T14" fmla="*/ 0 60000 65536"/>
                    <a:gd name="T15" fmla="*/ 0 w 169"/>
                    <a:gd name="T16" fmla="*/ 0 h 224"/>
                    <a:gd name="T17" fmla="*/ 169 w 169"/>
                    <a:gd name="T18" fmla="*/ 224 h 224"/>
                  </a:gdLst>
                  <a:ahLst/>
                  <a:cxnLst>
                    <a:cxn ang="T10">
                      <a:pos x="T0" y="T1"/>
                    </a:cxn>
                    <a:cxn ang="T11">
                      <a:pos x="T2" y="T3"/>
                    </a:cxn>
                    <a:cxn ang="T12">
                      <a:pos x="T4" y="T5"/>
                    </a:cxn>
                    <a:cxn ang="T13">
                      <a:pos x="T6" y="T7"/>
                    </a:cxn>
                    <a:cxn ang="T14">
                      <a:pos x="T8" y="T9"/>
                    </a:cxn>
                  </a:cxnLst>
                  <a:rect l="T15" t="T16" r="T17" b="T18"/>
                  <a:pathLst>
                    <a:path w="169" h="224">
                      <a:moveTo>
                        <a:pt x="0" y="138"/>
                      </a:moveTo>
                      <a:lnTo>
                        <a:pt x="0" y="224"/>
                      </a:lnTo>
                      <a:lnTo>
                        <a:pt x="169" y="77"/>
                      </a:lnTo>
                      <a:lnTo>
                        <a:pt x="169" y="0"/>
                      </a:lnTo>
                      <a:lnTo>
                        <a:pt x="0" y="138"/>
                      </a:lnTo>
                      <a:close/>
                    </a:path>
                  </a:pathLst>
                </a:custGeom>
                <a:solidFill>
                  <a:srgbClr val="BBE0E3"/>
                </a:solidFill>
                <a:ln w="6350" cmpd="sng">
                  <a:solidFill>
                    <a:srgbClr val="000000"/>
                  </a:solidFill>
                  <a:round/>
                  <a:headEnd/>
                  <a:tailEnd/>
                </a:ln>
              </p:spPr>
              <p:txBody>
                <a:bodyPr/>
                <a:lstStyle/>
                <a:p>
                  <a:endParaRPr lang="en-US"/>
                </a:p>
              </p:txBody>
            </p:sp>
            <p:sp>
              <p:nvSpPr>
                <p:cNvPr id="61477" name="Freeform 55"/>
                <p:cNvSpPr>
                  <a:spLocks/>
                </p:cNvSpPr>
                <p:nvPr/>
              </p:nvSpPr>
              <p:spPr bwMode="auto">
                <a:xfrm>
                  <a:off x="4475" y="1395"/>
                  <a:ext cx="506" cy="80"/>
                </a:xfrm>
                <a:custGeom>
                  <a:avLst/>
                  <a:gdLst>
                    <a:gd name="T0" fmla="*/ 0 w 280"/>
                    <a:gd name="T1" fmla="*/ 2287 h 63"/>
                    <a:gd name="T2" fmla="*/ 265937 w 280"/>
                    <a:gd name="T3" fmla="*/ 2225 h 63"/>
                    <a:gd name="T4" fmla="*/ 1569482 w 280"/>
                    <a:gd name="T5" fmla="*/ 0 h 63"/>
                    <a:gd name="T6" fmla="*/ 2003782 w 280"/>
                    <a:gd name="T7" fmla="*/ 0 h 63"/>
                    <a:gd name="T8" fmla="*/ 0 60000 65536"/>
                    <a:gd name="T9" fmla="*/ 0 60000 65536"/>
                    <a:gd name="T10" fmla="*/ 0 60000 65536"/>
                    <a:gd name="T11" fmla="*/ 0 60000 65536"/>
                    <a:gd name="T12" fmla="*/ 0 w 280"/>
                    <a:gd name="T13" fmla="*/ 0 h 63"/>
                    <a:gd name="T14" fmla="*/ 280 w 280"/>
                    <a:gd name="T15" fmla="*/ 63 h 63"/>
                  </a:gdLst>
                  <a:ahLst/>
                  <a:cxnLst>
                    <a:cxn ang="T8">
                      <a:pos x="T0" y="T1"/>
                    </a:cxn>
                    <a:cxn ang="T9">
                      <a:pos x="T2" y="T3"/>
                    </a:cxn>
                    <a:cxn ang="T10">
                      <a:pos x="T4" y="T5"/>
                    </a:cxn>
                    <a:cxn ang="T11">
                      <a:pos x="T6" y="T7"/>
                    </a:cxn>
                  </a:cxnLst>
                  <a:rect l="T12" t="T13" r="T14" b="T15"/>
                  <a:pathLst>
                    <a:path w="280" h="63">
                      <a:moveTo>
                        <a:pt x="0" y="63"/>
                      </a:moveTo>
                      <a:lnTo>
                        <a:pt x="37" y="62"/>
                      </a:lnTo>
                      <a:lnTo>
                        <a:pt x="219" y="0"/>
                      </a:lnTo>
                      <a:lnTo>
                        <a:pt x="280" y="0"/>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endParaRPr lang="en-US"/>
                </a:p>
              </p:txBody>
            </p:sp>
            <p:sp>
              <p:nvSpPr>
                <p:cNvPr id="61478" name="Freeform 56"/>
                <p:cNvSpPr>
                  <a:spLocks/>
                </p:cNvSpPr>
                <p:nvPr/>
              </p:nvSpPr>
              <p:spPr bwMode="auto">
                <a:xfrm>
                  <a:off x="4593" y="1391"/>
                  <a:ext cx="293" cy="93"/>
                </a:xfrm>
                <a:custGeom>
                  <a:avLst/>
                  <a:gdLst>
                    <a:gd name="T0" fmla="*/ 0 w 293"/>
                    <a:gd name="T1" fmla="*/ 0 h 93"/>
                    <a:gd name="T2" fmla="*/ 67 w 293"/>
                    <a:gd name="T3" fmla="*/ 1 h 93"/>
                    <a:gd name="T4" fmla="*/ 195 w 293"/>
                    <a:gd name="T5" fmla="*/ 93 h 93"/>
                    <a:gd name="T6" fmla="*/ 293 w 293"/>
                    <a:gd name="T7" fmla="*/ 93 h 93"/>
                    <a:gd name="T8" fmla="*/ 0 60000 65536"/>
                    <a:gd name="T9" fmla="*/ 0 60000 65536"/>
                    <a:gd name="T10" fmla="*/ 0 60000 65536"/>
                    <a:gd name="T11" fmla="*/ 0 60000 65536"/>
                    <a:gd name="T12" fmla="*/ 0 w 293"/>
                    <a:gd name="T13" fmla="*/ 0 h 93"/>
                    <a:gd name="T14" fmla="*/ 293 w 293"/>
                    <a:gd name="T15" fmla="*/ 93 h 93"/>
                  </a:gdLst>
                  <a:ahLst/>
                  <a:cxnLst>
                    <a:cxn ang="T8">
                      <a:pos x="T0" y="T1"/>
                    </a:cxn>
                    <a:cxn ang="T9">
                      <a:pos x="T2" y="T3"/>
                    </a:cxn>
                    <a:cxn ang="T10">
                      <a:pos x="T4" y="T5"/>
                    </a:cxn>
                    <a:cxn ang="T11">
                      <a:pos x="T6" y="T7"/>
                    </a:cxn>
                  </a:cxnLst>
                  <a:rect l="T12" t="T13" r="T14" b="T15"/>
                  <a:pathLst>
                    <a:path w="293" h="93">
                      <a:moveTo>
                        <a:pt x="0" y="0"/>
                      </a:moveTo>
                      <a:lnTo>
                        <a:pt x="67" y="1"/>
                      </a:lnTo>
                      <a:lnTo>
                        <a:pt x="195" y="93"/>
                      </a:lnTo>
                      <a:lnTo>
                        <a:pt x="293" y="93"/>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endParaRPr lang="en-US"/>
                </a:p>
              </p:txBody>
            </p:sp>
          </p:grpSp>
          <p:sp>
            <p:nvSpPr>
              <p:cNvPr id="61461" name="TextBox 1"/>
              <p:cNvSpPr txBox="1">
                <a:spLocks noChangeArrowheads="1"/>
              </p:cNvSpPr>
              <p:nvPr/>
            </p:nvSpPr>
            <p:spPr bwMode="auto">
              <a:xfrm>
                <a:off x="5756275" y="3226928"/>
                <a:ext cx="2839437" cy="490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i="1">
                    <a:latin typeface="Arial" panose="020B0604020202020204" pitchFamily="34" charset="0"/>
                  </a:rPr>
                  <a:t>R: </a:t>
                </a:r>
                <a:r>
                  <a:rPr lang="en-US" altLang="en-US" sz="1800">
                    <a:latin typeface="Arial" panose="020B0604020202020204" pitchFamily="34" charset="0"/>
                  </a:rPr>
                  <a:t>link transmission rate</a:t>
                </a:r>
              </a:p>
            </p:txBody>
          </p:sp>
          <p:grpSp>
            <p:nvGrpSpPr>
              <p:cNvPr id="61462" name="Group 201"/>
              <p:cNvGrpSpPr>
                <a:grpSpLocks/>
              </p:cNvGrpSpPr>
              <p:nvPr/>
            </p:nvGrpSpPr>
            <p:grpSpPr bwMode="auto">
              <a:xfrm>
                <a:off x="5033963" y="2277603"/>
                <a:ext cx="409575" cy="565150"/>
                <a:chOff x="375561" y="297711"/>
                <a:chExt cx="1252683" cy="2138362"/>
              </a:xfrm>
            </p:grpSpPr>
            <p:sp>
              <p:nvSpPr>
                <p:cNvPr id="203" name="Freeform 202"/>
                <p:cNvSpPr/>
                <p:nvPr/>
              </p:nvSpPr>
              <p:spPr>
                <a:xfrm>
                  <a:off x="377169" y="297605"/>
                  <a:ext cx="968798" cy="213994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 name="Freeform 203"/>
                <p:cNvSpPr/>
                <p:nvPr/>
              </p:nvSpPr>
              <p:spPr>
                <a:xfrm>
                  <a:off x="377169" y="313575"/>
                  <a:ext cx="1244855" cy="766548"/>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 name="Rectangle 204"/>
                <p:cNvSpPr/>
                <p:nvPr/>
              </p:nvSpPr>
              <p:spPr>
                <a:xfrm>
                  <a:off x="1330342" y="1064153"/>
                  <a:ext cx="296888" cy="1365416"/>
                </a:xfrm>
                <a:prstGeom prst="rect">
                  <a:avLst/>
                </a:prstGeom>
                <a:solidFill>
                  <a:srgbClr val="33CC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ＭＳ Ｐゴシック" charset="0"/>
                  </a:endParaRPr>
                </a:p>
              </p:txBody>
            </p:sp>
          </p:grpSp>
          <p:sp>
            <p:nvSpPr>
              <p:cNvPr id="61463" name="TextBox 205"/>
              <p:cNvSpPr txBox="1">
                <a:spLocks noChangeArrowheads="1"/>
              </p:cNvSpPr>
              <p:nvPr/>
            </p:nvSpPr>
            <p:spPr bwMode="auto">
              <a:xfrm>
                <a:off x="4791075" y="3453940"/>
                <a:ext cx="717426" cy="531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host</a:t>
                </a:r>
              </a:p>
            </p:txBody>
          </p:sp>
          <p:grpSp>
            <p:nvGrpSpPr>
              <p:cNvPr id="61464" name="Group 209"/>
              <p:cNvGrpSpPr>
                <a:grpSpLocks/>
              </p:cNvGrpSpPr>
              <p:nvPr/>
            </p:nvGrpSpPr>
            <p:grpSpPr bwMode="auto">
              <a:xfrm>
                <a:off x="4699000" y="1387016"/>
                <a:ext cx="1409700" cy="877887"/>
                <a:chOff x="2387973" y="4309243"/>
                <a:chExt cx="1771787" cy="1282262"/>
              </a:xfrm>
            </p:grpSpPr>
            <p:pic>
              <p:nvPicPr>
                <p:cNvPr id="61469"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83508" y="4309243"/>
                  <a:ext cx="1284945" cy="128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211"/>
                <p:cNvSpPr/>
                <p:nvPr/>
              </p:nvSpPr>
              <p:spPr>
                <a:xfrm rot="11601822">
                  <a:off x="2387973" y="5129160"/>
                  <a:ext cx="1772259" cy="422289"/>
                </a:xfrm>
                <a:prstGeom prst="rect">
                  <a:avLst/>
                </a:prstGeom>
                <a:gradFill>
                  <a:gsLst>
                    <a:gs pos="0">
                      <a:schemeClr val="bg1"/>
                    </a:gs>
                    <a:gs pos="50000">
                      <a:schemeClr val="bg1">
                        <a:alpha val="48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ＭＳ Ｐゴシック" charset="0"/>
                  </a:endParaRPr>
                </a:p>
              </p:txBody>
            </p:sp>
          </p:grpSp>
          <p:sp>
            <p:nvSpPr>
              <p:cNvPr id="61465" name="TextBox 215"/>
              <p:cNvSpPr txBox="1">
                <a:spLocks noChangeArrowheads="1"/>
              </p:cNvSpPr>
              <p:nvPr/>
            </p:nvSpPr>
            <p:spPr bwMode="auto">
              <a:xfrm>
                <a:off x="5448300" y="2809416"/>
                <a:ext cx="320194" cy="45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a:latin typeface="Arial" panose="020B0604020202020204" pitchFamily="34" charset="0"/>
                  </a:rPr>
                  <a:t>1</a:t>
                </a:r>
              </a:p>
            </p:txBody>
          </p:sp>
          <p:sp>
            <p:nvSpPr>
              <p:cNvPr id="61466" name="TextBox 216"/>
              <p:cNvSpPr txBox="1">
                <a:spLocks noChangeArrowheads="1"/>
              </p:cNvSpPr>
              <p:nvPr/>
            </p:nvSpPr>
            <p:spPr bwMode="auto">
              <a:xfrm>
                <a:off x="5207000" y="2817354"/>
                <a:ext cx="320194" cy="45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a:latin typeface="Arial" panose="020B0604020202020204" pitchFamily="34" charset="0"/>
                  </a:rPr>
                  <a:t>2</a:t>
                </a:r>
              </a:p>
            </p:txBody>
          </p:sp>
          <p:cxnSp>
            <p:nvCxnSpPr>
              <p:cNvPr id="61467" name="Straight Connector 3"/>
              <p:cNvCxnSpPr>
                <a:cxnSpLocks noChangeShapeType="1"/>
              </p:cNvCxnSpPr>
              <p:nvPr/>
            </p:nvCxnSpPr>
            <p:spPr bwMode="auto">
              <a:xfrm flipV="1">
                <a:off x="5697538" y="1831516"/>
                <a:ext cx="1225550" cy="5651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61468" name="TextBox 234"/>
              <p:cNvSpPr txBox="1">
                <a:spLocks noChangeArrowheads="1"/>
              </p:cNvSpPr>
              <p:nvPr/>
            </p:nvSpPr>
            <p:spPr bwMode="auto">
              <a:xfrm>
                <a:off x="6861175" y="1482266"/>
                <a:ext cx="1642581" cy="859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a:latin typeface="Arial" panose="020B0604020202020204" pitchFamily="34" charset="0"/>
                  </a:rPr>
                  <a:t>two packets, </a:t>
                </a:r>
              </a:p>
              <a:p>
                <a:pPr>
                  <a:lnSpc>
                    <a:spcPct val="100000"/>
                  </a:lnSpc>
                  <a:spcBef>
                    <a:spcPct val="0"/>
                  </a:spcBef>
                  <a:buClrTx/>
                  <a:buSzTx/>
                  <a:buFontTx/>
                  <a:buNone/>
                </a:pPr>
                <a:r>
                  <a:rPr lang="en-US" altLang="en-US" sz="1800" i="1">
                    <a:latin typeface="Arial" panose="020B0604020202020204" pitchFamily="34" charset="0"/>
                  </a:rPr>
                  <a:t>L</a:t>
                </a:r>
                <a:r>
                  <a:rPr lang="en-US" altLang="en-US" sz="1800">
                    <a:latin typeface="Arial" panose="020B0604020202020204" pitchFamily="34" charset="0"/>
                  </a:rPr>
                  <a:t> bits each</a:t>
                </a:r>
              </a:p>
            </p:txBody>
          </p:sp>
        </p:grpSp>
      </p:grpSp>
      <p:grpSp>
        <p:nvGrpSpPr>
          <p:cNvPr id="61445" name="Group 6"/>
          <p:cNvGrpSpPr>
            <a:grpSpLocks/>
          </p:cNvGrpSpPr>
          <p:nvPr/>
        </p:nvGrpSpPr>
        <p:grpSpPr bwMode="auto">
          <a:xfrm>
            <a:off x="2060576" y="1587500"/>
            <a:ext cx="3821113" cy="788988"/>
            <a:chOff x="1486934" y="3707834"/>
            <a:chExt cx="3821112" cy="788987"/>
          </a:xfrm>
        </p:grpSpPr>
        <p:sp>
          <p:nvSpPr>
            <p:cNvPr id="61453" name="TextBox 235"/>
            <p:cNvSpPr txBox="1">
              <a:spLocks noChangeArrowheads="1"/>
            </p:cNvSpPr>
            <p:nvPr/>
          </p:nvSpPr>
          <p:spPr bwMode="auto">
            <a:xfrm>
              <a:off x="1486934" y="3711009"/>
              <a:ext cx="1479550" cy="785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r">
                <a:lnSpc>
                  <a:spcPts val="1800"/>
                </a:lnSpc>
                <a:spcBef>
                  <a:spcPct val="0"/>
                </a:spcBef>
                <a:buClrTx/>
                <a:buSzTx/>
                <a:buNone/>
              </a:pPr>
              <a:r>
                <a:rPr lang="en-US" altLang="en-US" sz="1800">
                  <a:latin typeface="Arial" panose="020B0604020202020204" pitchFamily="34" charset="0"/>
                </a:rPr>
                <a:t>packet</a:t>
              </a:r>
            </a:p>
            <a:p>
              <a:pPr algn="r">
                <a:lnSpc>
                  <a:spcPts val="1800"/>
                </a:lnSpc>
                <a:spcBef>
                  <a:spcPct val="0"/>
                </a:spcBef>
                <a:buClrTx/>
                <a:buSzTx/>
                <a:buNone/>
              </a:pPr>
              <a:r>
                <a:rPr lang="en-US" altLang="en-US" sz="1800">
                  <a:latin typeface="Arial" panose="020B0604020202020204" pitchFamily="34" charset="0"/>
                </a:rPr>
                <a:t>transmission</a:t>
              </a:r>
            </a:p>
            <a:p>
              <a:pPr algn="r">
                <a:lnSpc>
                  <a:spcPts val="1800"/>
                </a:lnSpc>
                <a:spcBef>
                  <a:spcPct val="0"/>
                </a:spcBef>
                <a:buClrTx/>
                <a:buSzTx/>
                <a:buNone/>
              </a:pPr>
              <a:r>
                <a:rPr lang="en-US" altLang="en-US" sz="1800">
                  <a:latin typeface="Arial" panose="020B0604020202020204" pitchFamily="34" charset="0"/>
                </a:rPr>
                <a:t>delay</a:t>
              </a:r>
            </a:p>
          </p:txBody>
        </p:sp>
        <p:sp>
          <p:nvSpPr>
            <p:cNvPr id="61454" name="TextBox 237"/>
            <p:cNvSpPr txBox="1">
              <a:spLocks noChangeArrowheads="1"/>
            </p:cNvSpPr>
            <p:nvPr/>
          </p:nvSpPr>
          <p:spPr bwMode="auto">
            <a:xfrm>
              <a:off x="3596721" y="3707834"/>
              <a:ext cx="1711325" cy="785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a:lnSpc>
                  <a:spcPts val="1800"/>
                </a:lnSpc>
                <a:spcBef>
                  <a:spcPct val="0"/>
                </a:spcBef>
                <a:buClrTx/>
                <a:buSzTx/>
                <a:buNone/>
              </a:pPr>
              <a:r>
                <a:rPr lang="en-US" altLang="en-US" sz="1800">
                  <a:latin typeface="Arial" panose="020B0604020202020204" pitchFamily="34" charset="0"/>
                </a:rPr>
                <a:t>time needed to</a:t>
              </a:r>
            </a:p>
            <a:p>
              <a:pPr algn="ctr">
                <a:lnSpc>
                  <a:spcPts val="1800"/>
                </a:lnSpc>
                <a:spcBef>
                  <a:spcPct val="0"/>
                </a:spcBef>
                <a:buClrTx/>
                <a:buSzTx/>
                <a:buNone/>
              </a:pPr>
              <a:r>
                <a:rPr lang="en-US" altLang="en-US" sz="1800">
                  <a:latin typeface="Arial" panose="020B0604020202020204" pitchFamily="34" charset="0"/>
                </a:rPr>
                <a:t>transmit </a:t>
              </a:r>
              <a:r>
                <a:rPr lang="en-US" altLang="en-US" sz="1800" i="1">
                  <a:latin typeface="Arial" panose="020B0604020202020204" pitchFamily="34" charset="0"/>
                </a:rPr>
                <a:t>L</a:t>
              </a:r>
              <a:r>
                <a:rPr lang="en-US" altLang="en-US" sz="1800">
                  <a:latin typeface="Arial" panose="020B0604020202020204" pitchFamily="34" charset="0"/>
                </a:rPr>
                <a:t>-bit</a:t>
              </a:r>
            </a:p>
            <a:p>
              <a:pPr algn="ctr">
                <a:lnSpc>
                  <a:spcPts val="1800"/>
                </a:lnSpc>
                <a:spcBef>
                  <a:spcPct val="0"/>
                </a:spcBef>
                <a:buClrTx/>
                <a:buSzTx/>
                <a:buNone/>
              </a:pPr>
              <a:r>
                <a:rPr lang="en-US" altLang="en-US" sz="1800">
                  <a:latin typeface="Arial" panose="020B0604020202020204" pitchFamily="34" charset="0"/>
                </a:rPr>
                <a:t>packet into link</a:t>
              </a:r>
            </a:p>
          </p:txBody>
        </p:sp>
        <p:sp>
          <p:nvSpPr>
            <p:cNvPr id="61455" name="TextBox 10"/>
            <p:cNvSpPr txBox="1">
              <a:spLocks noChangeArrowheads="1"/>
            </p:cNvSpPr>
            <p:nvPr/>
          </p:nvSpPr>
          <p:spPr bwMode="auto">
            <a:xfrm>
              <a:off x="3164921" y="3841184"/>
              <a:ext cx="365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latin typeface="Arial" panose="020B0604020202020204" pitchFamily="34" charset="0"/>
                </a:rPr>
                <a:t>=</a:t>
              </a:r>
            </a:p>
          </p:txBody>
        </p:sp>
      </p:grpSp>
      <p:grpSp>
        <p:nvGrpSpPr>
          <p:cNvPr id="61446" name="Group 7"/>
          <p:cNvGrpSpPr>
            <a:grpSpLocks/>
          </p:cNvGrpSpPr>
          <p:nvPr/>
        </p:nvGrpSpPr>
        <p:grpSpPr bwMode="auto">
          <a:xfrm>
            <a:off x="3822700" y="2533650"/>
            <a:ext cx="2338388" cy="831850"/>
            <a:chOff x="5506484" y="3655446"/>
            <a:chExt cx="2338387" cy="831850"/>
          </a:xfrm>
        </p:grpSpPr>
        <p:sp>
          <p:nvSpPr>
            <p:cNvPr id="61450" name="TextBox 4"/>
            <p:cNvSpPr txBox="1">
              <a:spLocks noChangeArrowheads="1"/>
            </p:cNvSpPr>
            <p:nvPr/>
          </p:nvSpPr>
          <p:spPr bwMode="auto">
            <a:xfrm>
              <a:off x="6103384" y="3655446"/>
              <a:ext cx="174148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i="1">
                  <a:latin typeface="Arial" panose="020B0604020202020204" pitchFamily="34" charset="0"/>
                </a:rPr>
                <a:t>L</a:t>
              </a:r>
              <a:r>
                <a:rPr lang="en-US" altLang="en-US" sz="2400">
                  <a:latin typeface="Arial" panose="020B0604020202020204" pitchFamily="34" charset="0"/>
                </a:rPr>
                <a:t> (bits)</a:t>
              </a:r>
            </a:p>
            <a:p>
              <a:pPr>
                <a:lnSpc>
                  <a:spcPct val="100000"/>
                </a:lnSpc>
                <a:spcBef>
                  <a:spcPct val="0"/>
                </a:spcBef>
                <a:buClrTx/>
                <a:buSzTx/>
                <a:buFontTx/>
                <a:buNone/>
              </a:pPr>
              <a:r>
                <a:rPr lang="en-US" altLang="en-US" sz="2400" i="1">
                  <a:latin typeface="Arial" panose="020B0604020202020204" pitchFamily="34" charset="0"/>
                </a:rPr>
                <a:t>R</a:t>
              </a:r>
              <a:r>
                <a:rPr lang="en-US" altLang="en-US" sz="2400">
                  <a:latin typeface="Arial" panose="020B0604020202020204" pitchFamily="34" charset="0"/>
                </a:rPr>
                <a:t> (bits/sec)</a:t>
              </a:r>
            </a:p>
          </p:txBody>
        </p:sp>
        <p:cxnSp>
          <p:nvCxnSpPr>
            <p:cNvPr id="61451" name="Straight Connector 9"/>
            <p:cNvCxnSpPr>
              <a:cxnSpLocks noChangeShapeType="1"/>
            </p:cNvCxnSpPr>
            <p:nvPr/>
          </p:nvCxnSpPr>
          <p:spPr bwMode="auto">
            <a:xfrm>
              <a:off x="6190696" y="4074546"/>
              <a:ext cx="128428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sp>
          <p:nvSpPr>
            <p:cNvPr id="61452" name="TextBox 245"/>
            <p:cNvSpPr txBox="1">
              <a:spLocks noChangeArrowheads="1"/>
            </p:cNvSpPr>
            <p:nvPr/>
          </p:nvSpPr>
          <p:spPr bwMode="auto">
            <a:xfrm>
              <a:off x="5506484" y="3857059"/>
              <a:ext cx="365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latin typeface="Arial" panose="020B0604020202020204" pitchFamily="34" charset="0"/>
                </a:rPr>
                <a:t>=</a:t>
              </a:r>
            </a:p>
          </p:txBody>
        </p:sp>
      </p:grpSp>
      <p:sp>
        <p:nvSpPr>
          <p:cNvPr id="61447" name="Slide Number Placeholder 3"/>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3344899B-900C-4CAB-901D-5CB16B7D1B4A}" type="slidenum">
              <a:rPr lang="en-US" altLang="en-US" sz="1200">
                <a:latin typeface="Tahoma" panose="020B0604030504040204" pitchFamily="34" charset="0"/>
              </a:rPr>
              <a:pPr>
                <a:lnSpc>
                  <a:spcPct val="100000"/>
                </a:lnSpc>
                <a:spcBef>
                  <a:spcPct val="0"/>
                </a:spcBef>
                <a:buClrTx/>
                <a:buSzTx/>
                <a:buFontTx/>
                <a:buNone/>
              </a:pPr>
              <a:t>31</a:t>
            </a:fld>
            <a:endParaRPr lang="en-US" altLang="en-US" sz="1200">
              <a:latin typeface="Tahoma" panose="020B0604030504040204" pitchFamily="34" charset="0"/>
            </a:endParaRPr>
          </a:p>
        </p:txBody>
      </p:sp>
      <p:sp>
        <p:nvSpPr>
          <p:cNvPr id="2" name="Rectangle 1"/>
          <p:cNvSpPr/>
          <p:nvPr/>
        </p:nvSpPr>
        <p:spPr>
          <a:xfrm>
            <a:off x="2386014" y="4000500"/>
            <a:ext cx="5526087" cy="1754188"/>
          </a:xfrm>
          <a:prstGeom prst="rect">
            <a:avLst/>
          </a:prstGeom>
          <a:solidFill>
            <a:schemeClr val="accent1">
              <a:lumMod val="20000"/>
              <a:lumOff val="80000"/>
            </a:schemeClr>
          </a:solidFill>
        </p:spPr>
        <p:txBody>
          <a:bodyPr>
            <a:spAutoFit/>
          </a:bodyPr>
          <a:lstStyle/>
          <a:p>
            <a:pPr>
              <a:defRPr/>
            </a:pPr>
            <a:r>
              <a:rPr lang="en-US" dirty="0"/>
              <a:t>Example:  L=30Mbit, R=10Mbps</a:t>
            </a:r>
          </a:p>
          <a:p>
            <a:pPr>
              <a:defRPr/>
            </a:pPr>
            <a:r>
              <a:rPr lang="en-US" dirty="0"/>
              <a:t> </a:t>
            </a:r>
          </a:p>
          <a:p>
            <a:pPr>
              <a:defRPr/>
            </a:pPr>
            <a:r>
              <a:rPr lang="en-US" dirty="0"/>
              <a:t>packet transmission delay </a:t>
            </a:r>
          </a:p>
          <a:p>
            <a:pPr>
              <a:defRPr/>
            </a:pPr>
            <a:r>
              <a:rPr lang="en-US" dirty="0"/>
              <a:t>= L/R </a:t>
            </a:r>
          </a:p>
          <a:p>
            <a:pPr>
              <a:defRPr/>
            </a:pPr>
            <a:r>
              <a:rPr lang="en-US" dirty="0"/>
              <a:t>= 30Mbit/10Mbps </a:t>
            </a:r>
          </a:p>
          <a:p>
            <a:pPr>
              <a:defRPr/>
            </a:pPr>
            <a:r>
              <a:rPr lang="en-US" dirty="0"/>
              <a:t>= 3s</a:t>
            </a:r>
            <a:endParaRPr lang="ms-MY" dirty="0"/>
          </a:p>
        </p:txBody>
      </p:sp>
      <p:sp>
        <p:nvSpPr>
          <p:cNvPr id="3" name="Footer Placeholder 2"/>
          <p:cNvSpPr>
            <a:spLocks noGrp="1"/>
          </p:cNvSpPr>
          <p:nvPr>
            <p:ph type="ftr" sz="quarter" idx="11"/>
          </p:nvPr>
        </p:nvSpPr>
        <p:spPr/>
        <p:txBody>
          <a:bodyPr/>
          <a:lstStyle/>
          <a:p>
            <a:pPr>
              <a:defRPr/>
            </a:pPr>
            <a:endParaRPr lang="en-US"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Links: physical media</a:t>
            </a:r>
            <a:endParaRPr lang="en-US" dirty="0"/>
          </a:p>
        </p:txBody>
      </p:sp>
      <p:sp>
        <p:nvSpPr>
          <p:cNvPr id="42" name="Rectangle 3">
            <a:extLst>
              <a:ext uri="{FF2B5EF4-FFF2-40B4-BE49-F238E27FC236}">
                <a16:creationId xmlns:a16="http://schemas.microsoft.com/office/drawing/2014/main" id="{B41BDD21-3AA2-5A47-848F-E5981CBA9334}"/>
              </a:ext>
            </a:extLst>
          </p:cNvPr>
          <p:cNvSpPr txBox="1">
            <a:spLocks noChangeArrowheads="1"/>
          </p:cNvSpPr>
          <p:nvPr/>
        </p:nvSpPr>
        <p:spPr>
          <a:xfrm>
            <a:off x="952500" y="1671911"/>
            <a:ext cx="4639003"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solidFill>
                  <a:srgbClr val="CC0000"/>
                </a:solidFill>
                <a:ea typeface="ＭＳ Ｐゴシック" panose="020B0600070205080204" pitchFamily="34" charset="-128"/>
              </a:rPr>
              <a:t>bit:</a:t>
            </a:r>
            <a:r>
              <a:rPr lang="en-US" altLang="en-US" dirty="0">
                <a:solidFill>
                  <a:srgbClr val="FF0000"/>
                </a:solidFill>
                <a:ea typeface="ＭＳ Ｐゴシック" panose="020B0600070205080204" pitchFamily="34" charset="-128"/>
              </a:rPr>
              <a:t> </a:t>
            </a:r>
            <a:r>
              <a:rPr lang="en-US" altLang="en-US" dirty="0">
                <a:ea typeface="ＭＳ Ｐゴシック" panose="020B0600070205080204" pitchFamily="34" charset="-128"/>
              </a:rPr>
              <a:t>propagates between</a:t>
            </a:r>
            <a:br>
              <a:rPr lang="en-US" altLang="en-US" dirty="0">
                <a:ea typeface="ＭＳ Ｐゴシック" panose="020B0600070205080204" pitchFamily="34" charset="-128"/>
              </a:rPr>
            </a:br>
            <a:r>
              <a:rPr lang="en-US" altLang="en-US" dirty="0">
                <a:ea typeface="ＭＳ Ｐゴシック" panose="020B0600070205080204" pitchFamily="34" charset="-128"/>
              </a:rPr>
              <a:t>transmitter/receiver pairs</a:t>
            </a:r>
            <a:endParaRPr lang="en-US" altLang="en-US" dirty="0">
              <a:solidFill>
                <a:srgbClr val="FF0000"/>
              </a:solidFill>
              <a:ea typeface="ＭＳ Ｐゴシック" panose="020B0600070205080204" pitchFamily="34" charset="-128"/>
            </a:endParaRPr>
          </a:p>
          <a:p>
            <a:pPr marL="287338" indent="-287338"/>
            <a:r>
              <a:rPr lang="en-US" altLang="en-US" dirty="0">
                <a:solidFill>
                  <a:srgbClr val="CC0000"/>
                </a:solidFill>
                <a:ea typeface="ＭＳ Ｐゴシック" panose="020B0600070205080204" pitchFamily="34" charset="-128"/>
              </a:rPr>
              <a:t>physical link:</a:t>
            </a:r>
            <a:r>
              <a:rPr lang="en-US" altLang="en-US" dirty="0">
                <a:ea typeface="ＭＳ Ｐゴシック" panose="020B0600070205080204" pitchFamily="34" charset="-128"/>
              </a:rPr>
              <a:t> what lies between transmitter &amp; receiver</a:t>
            </a:r>
          </a:p>
          <a:p>
            <a:pPr marL="287338" indent="-287338"/>
            <a:r>
              <a:rPr lang="en-US" altLang="en-US" dirty="0">
                <a:solidFill>
                  <a:srgbClr val="CC0000"/>
                </a:solidFill>
                <a:ea typeface="ＭＳ Ｐゴシック" panose="020B0600070205080204" pitchFamily="34" charset="-128"/>
              </a:rPr>
              <a:t>guided media: </a:t>
            </a:r>
          </a:p>
          <a:p>
            <a:pPr marL="682625" lvl="1" indent="-225425"/>
            <a:r>
              <a:rPr lang="en-US" altLang="en-US" sz="2800" dirty="0">
                <a:ea typeface="Arial" panose="020B0604020202020204" pitchFamily="34" charset="0"/>
              </a:rPr>
              <a:t>signals propagate in solid media: copper, fiber, coax</a:t>
            </a:r>
          </a:p>
          <a:p>
            <a:pPr marL="287338" indent="-287338"/>
            <a:r>
              <a:rPr lang="en-US" altLang="en-US" dirty="0">
                <a:solidFill>
                  <a:srgbClr val="CC0000"/>
                </a:solidFill>
                <a:ea typeface="ＭＳ Ｐゴシック" panose="020B0600070205080204" pitchFamily="34" charset="-128"/>
              </a:rPr>
              <a:t>unguided media:</a:t>
            </a:r>
            <a:r>
              <a:rPr lang="en-US" altLang="en-US" dirty="0">
                <a:ea typeface="ＭＳ Ｐゴシック" panose="020B0600070205080204" pitchFamily="34" charset="-128"/>
              </a:rPr>
              <a:t> </a:t>
            </a:r>
          </a:p>
          <a:p>
            <a:pPr marL="682625" lvl="1" indent="-225425"/>
            <a:r>
              <a:rPr lang="en-US" altLang="en-US" sz="2800" dirty="0">
                <a:ea typeface="Arial" panose="020B0604020202020204" pitchFamily="34" charset="0"/>
              </a:rPr>
              <a:t>signals propagate freely, e.g., radio</a:t>
            </a:r>
          </a:p>
        </p:txBody>
      </p:sp>
      <p:grpSp>
        <p:nvGrpSpPr>
          <p:cNvPr id="2" name="Group 1">
            <a:extLst>
              <a:ext uri="{FF2B5EF4-FFF2-40B4-BE49-F238E27FC236}">
                <a16:creationId xmlns:a16="http://schemas.microsoft.com/office/drawing/2014/main" id="{D9986260-6BBE-5549-A319-09906DD70AAA}"/>
              </a:ext>
            </a:extLst>
          </p:cNvPr>
          <p:cNvGrpSpPr/>
          <p:nvPr/>
        </p:nvGrpSpPr>
        <p:grpSpPr>
          <a:xfrm>
            <a:off x="6333223" y="1671911"/>
            <a:ext cx="5123052" cy="3611287"/>
            <a:chOff x="6333223" y="1671911"/>
            <a:chExt cx="5123052" cy="3611287"/>
          </a:xfrm>
        </p:grpSpPr>
        <p:sp>
          <p:nvSpPr>
            <p:cNvPr id="43" name="Rectangle 4">
              <a:extLst>
                <a:ext uri="{FF2B5EF4-FFF2-40B4-BE49-F238E27FC236}">
                  <a16:creationId xmlns:a16="http://schemas.microsoft.com/office/drawing/2014/main" id="{9573907E-68CA-1046-A0DB-1869CFA38414}"/>
                </a:ext>
              </a:extLst>
            </p:cNvPr>
            <p:cNvSpPr txBox="1">
              <a:spLocks noChangeArrowheads="1"/>
            </p:cNvSpPr>
            <p:nvPr/>
          </p:nvSpPr>
          <p:spPr>
            <a:xfrm>
              <a:off x="6411036" y="1671911"/>
              <a:ext cx="5045239" cy="33464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42900">
                <a:buFont typeface="Wingdings" charset="0"/>
                <a:buNone/>
                <a:defRPr/>
              </a:pPr>
              <a:r>
                <a:rPr lang="en-US" sz="3200" dirty="0">
                  <a:solidFill>
                    <a:srgbClr val="CC0000"/>
                  </a:solidFill>
                </a:rPr>
                <a:t>Twisted pair (TP</a:t>
              </a:r>
              <a:r>
                <a:rPr lang="en-US" sz="3200" dirty="0">
                  <a:solidFill>
                    <a:srgbClr val="FF0000"/>
                  </a:solidFill>
                </a:rPr>
                <a:t>)</a:t>
              </a:r>
              <a:endParaRPr lang="en-US" sz="3200" dirty="0"/>
            </a:p>
            <a:p>
              <a:pPr marL="228600" indent="-228600">
                <a:buFont typeface="Wingdings" charset="2"/>
                <a:buChar char="§"/>
                <a:defRPr/>
              </a:pPr>
              <a:r>
                <a:rPr lang="en-US" sz="2400" dirty="0"/>
                <a:t>two insulated copper wires</a:t>
              </a:r>
            </a:p>
            <a:p>
              <a:pPr marL="682625" lvl="1">
                <a:buSzPct val="100000"/>
                <a:buFont typeface="Arial"/>
                <a:buChar char="•"/>
                <a:defRPr/>
              </a:pPr>
              <a:r>
                <a:rPr lang="en-US" sz="2000" dirty="0"/>
                <a:t>Category 5: 100 Mbps, 1 Gbps Ethernet</a:t>
              </a:r>
            </a:p>
            <a:p>
              <a:pPr marL="682625" lvl="1">
                <a:buSzPct val="100000"/>
                <a:buFont typeface="Arial"/>
                <a:buChar char="•"/>
                <a:defRPr/>
              </a:pPr>
              <a:r>
                <a:rPr lang="en-US" sz="2000" dirty="0"/>
                <a:t>Category 6: 10Gbps Ethernet</a:t>
              </a:r>
            </a:p>
          </p:txBody>
        </p:sp>
        <p:pic>
          <p:nvPicPr>
            <p:cNvPr id="11266" name="Picture 2" descr="Twisted_Pair_Cables">
              <a:extLst>
                <a:ext uri="{FF2B5EF4-FFF2-40B4-BE49-F238E27FC236}">
                  <a16:creationId xmlns:a16="http://schemas.microsoft.com/office/drawing/2014/main" id="{D6B65C46-A39A-504A-B7AF-C7226316E1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3223" y="3476662"/>
              <a:ext cx="2220035" cy="1709427"/>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Image result for twisted pair">
              <a:extLst>
                <a:ext uri="{FF2B5EF4-FFF2-40B4-BE49-F238E27FC236}">
                  <a16:creationId xmlns:a16="http://schemas.microsoft.com/office/drawing/2014/main" id="{BD4509EA-366C-1C41-A7BB-9925F11437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05176" y="3594371"/>
              <a:ext cx="2359134" cy="1688827"/>
            </a:xfrm>
            <a:prstGeom prst="rect">
              <a:avLst/>
            </a:prstGeom>
            <a:noFill/>
            <a:extLst>
              <a:ext uri="{909E8E84-426E-40DD-AFC4-6F175D3DCCD1}">
                <a14:hiddenFill xmlns:a14="http://schemas.microsoft.com/office/drawing/2010/main">
                  <a:solidFill>
                    <a:srgbClr val="FFFFFF"/>
                  </a:solidFill>
                </a14:hiddenFill>
              </a:ext>
            </a:extLst>
          </p:spPr>
        </p:pic>
      </p:grpSp>
      <p:pic>
        <p:nvPicPr>
          <p:cNvPr id="3" name="Picture 8" descr="https://computrnetworking.files.wordpress.com/2012/02/cat5.jpg">
            <a:extLst>
              <a:ext uri="{FF2B5EF4-FFF2-40B4-BE49-F238E27FC236}">
                <a16:creationId xmlns:a16="http://schemas.microsoft.com/office/drawing/2014/main" id="{0B029A92-12CD-0CEB-40DB-450B0C4F52C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664013" y="273146"/>
            <a:ext cx="1870075" cy="179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08086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Links: physical media</a:t>
            </a:r>
            <a:endParaRPr lang="en-US" dirty="0"/>
          </a:p>
        </p:txBody>
      </p:sp>
      <p:sp>
        <p:nvSpPr>
          <p:cNvPr id="9" name="Rectangle 3">
            <a:extLst>
              <a:ext uri="{FF2B5EF4-FFF2-40B4-BE49-F238E27FC236}">
                <a16:creationId xmlns:a16="http://schemas.microsoft.com/office/drawing/2014/main" id="{BECEA851-800B-1A42-B1E6-3BCEBBFF06DD}"/>
              </a:ext>
            </a:extLst>
          </p:cNvPr>
          <p:cNvSpPr txBox="1">
            <a:spLocks noChangeArrowheads="1"/>
          </p:cNvSpPr>
          <p:nvPr/>
        </p:nvSpPr>
        <p:spPr>
          <a:xfrm>
            <a:off x="982262" y="1320920"/>
            <a:ext cx="4878973" cy="43275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indent="-219075">
              <a:buFont typeface="Wingdings" charset="0"/>
              <a:buNone/>
              <a:defRPr/>
            </a:pPr>
            <a:r>
              <a:rPr lang="en-US" sz="3200" dirty="0">
                <a:solidFill>
                  <a:srgbClr val="CC0000"/>
                </a:solidFill>
              </a:rPr>
              <a:t>Coaxial cable:</a:t>
            </a:r>
          </a:p>
          <a:p>
            <a:pPr marL="228600" indent="-228600">
              <a:buFont typeface="Wingdings" charset="2"/>
              <a:buChar char="§"/>
              <a:defRPr/>
            </a:pPr>
            <a:r>
              <a:rPr lang="en-US" sz="2400" dirty="0"/>
              <a:t>two concentric copper conductors</a:t>
            </a:r>
          </a:p>
          <a:p>
            <a:pPr marL="228600" indent="-228600">
              <a:buFont typeface="Wingdings" charset="2"/>
              <a:buChar char="§"/>
              <a:defRPr/>
            </a:pPr>
            <a:r>
              <a:rPr lang="en-US" sz="2400" dirty="0"/>
              <a:t>bidirectional</a:t>
            </a:r>
          </a:p>
          <a:p>
            <a:pPr marL="228600" indent="-228600">
              <a:buFont typeface="Wingdings" charset="2"/>
              <a:buChar char="§"/>
              <a:defRPr/>
            </a:pPr>
            <a:r>
              <a:rPr lang="en-US" sz="2400" dirty="0"/>
              <a:t>broadband:</a:t>
            </a:r>
          </a:p>
          <a:p>
            <a:pPr marL="682625" lvl="1" indent="-225425">
              <a:buFont typeface="Arial"/>
              <a:buChar char="•"/>
              <a:defRPr/>
            </a:pPr>
            <a:r>
              <a:rPr lang="en-US" sz="2000" dirty="0"/>
              <a:t>multiple frequency channels on cable</a:t>
            </a:r>
          </a:p>
          <a:p>
            <a:pPr marL="682625" lvl="1" indent="-225425">
              <a:buFont typeface="Arial"/>
              <a:buChar char="•"/>
              <a:defRPr/>
            </a:pPr>
            <a:r>
              <a:rPr lang="en-US" sz="2000" dirty="0"/>
              <a:t>100’s Mbps per channel</a:t>
            </a:r>
          </a:p>
        </p:txBody>
      </p:sp>
      <p:pic>
        <p:nvPicPr>
          <p:cNvPr id="3" name="Picture 2">
            <a:extLst>
              <a:ext uri="{FF2B5EF4-FFF2-40B4-BE49-F238E27FC236}">
                <a16:creationId xmlns:a16="http://schemas.microsoft.com/office/drawing/2014/main" id="{8D4259C2-0AA0-BE4D-A5F7-362CC0D6A7D0}"/>
              </a:ext>
            </a:extLst>
          </p:cNvPr>
          <p:cNvPicPr>
            <a:picLocks noChangeAspect="1"/>
          </p:cNvPicPr>
          <p:nvPr/>
        </p:nvPicPr>
        <p:blipFill>
          <a:blip r:embed="rId3"/>
          <a:stretch>
            <a:fillRect/>
          </a:stretch>
        </p:blipFill>
        <p:spPr>
          <a:xfrm rot="2692153">
            <a:off x="1823182" y="3379895"/>
            <a:ext cx="1854420" cy="1854420"/>
          </a:xfrm>
          <a:prstGeom prst="rect">
            <a:avLst/>
          </a:prstGeom>
        </p:spPr>
      </p:pic>
      <p:grpSp>
        <p:nvGrpSpPr>
          <p:cNvPr id="2" name="Group 1">
            <a:extLst>
              <a:ext uri="{FF2B5EF4-FFF2-40B4-BE49-F238E27FC236}">
                <a16:creationId xmlns:a16="http://schemas.microsoft.com/office/drawing/2014/main" id="{BF6FF9DA-97F1-3A4B-8FA4-5FF000565416}"/>
              </a:ext>
            </a:extLst>
          </p:cNvPr>
          <p:cNvGrpSpPr/>
          <p:nvPr/>
        </p:nvGrpSpPr>
        <p:grpSpPr>
          <a:xfrm>
            <a:off x="6360527" y="1276574"/>
            <a:ext cx="5602289" cy="5319638"/>
            <a:chOff x="6360527" y="1276574"/>
            <a:chExt cx="5602289" cy="5319638"/>
          </a:xfrm>
        </p:grpSpPr>
        <p:sp>
          <p:nvSpPr>
            <p:cNvPr id="11" name="Rectangle 5">
              <a:extLst>
                <a:ext uri="{FF2B5EF4-FFF2-40B4-BE49-F238E27FC236}">
                  <a16:creationId xmlns:a16="http://schemas.microsoft.com/office/drawing/2014/main" id="{0636A257-4BF5-0D40-8994-53C8EDAFC437}"/>
                </a:ext>
              </a:extLst>
            </p:cNvPr>
            <p:cNvSpPr>
              <a:spLocks noChangeArrowheads="1"/>
            </p:cNvSpPr>
            <p:nvPr/>
          </p:nvSpPr>
          <p:spPr bwMode="auto">
            <a:xfrm>
              <a:off x="6360527" y="1276574"/>
              <a:ext cx="5602289" cy="3438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682625" indent="-225425">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chemeClr val="accent2"/>
                </a:buClr>
                <a:buSzPct val="85000"/>
                <a:buFont typeface="Wingdings" pitchFamily="2" charset="2"/>
                <a:buNone/>
              </a:pPr>
              <a:r>
                <a:rPr lang="en-US" altLang="en-US" sz="3200" dirty="0">
                  <a:solidFill>
                    <a:srgbClr val="CC0000"/>
                  </a:solidFill>
                  <a:latin typeface="+mn-lt"/>
                </a:rPr>
                <a:t>Fiber optic cable:</a:t>
              </a:r>
            </a:p>
            <a:p>
              <a:pPr>
                <a:lnSpc>
                  <a:spcPct val="85000"/>
                </a:lnSpc>
                <a:spcBef>
                  <a:spcPct val="20000"/>
                </a:spcBef>
                <a:buClr>
                  <a:srgbClr val="000099"/>
                </a:buClr>
                <a:buSzPct val="100000"/>
                <a:buFont typeface="Wingdings" pitchFamily="2" charset="2"/>
                <a:buChar char="§"/>
              </a:pPr>
              <a:r>
                <a:rPr lang="en-US" altLang="en-US" dirty="0">
                  <a:latin typeface="+mn-lt"/>
                </a:rPr>
                <a:t>glass fiber carrying light pulses, each pulse a bit</a:t>
              </a:r>
            </a:p>
            <a:p>
              <a:pPr>
                <a:lnSpc>
                  <a:spcPct val="85000"/>
                </a:lnSpc>
                <a:spcBef>
                  <a:spcPct val="20000"/>
                </a:spcBef>
                <a:buClr>
                  <a:srgbClr val="000099"/>
                </a:buClr>
                <a:buSzPct val="100000"/>
                <a:buFont typeface="Wingdings" pitchFamily="2" charset="2"/>
                <a:buChar char="§"/>
              </a:pPr>
              <a:r>
                <a:rPr lang="en-US" altLang="en-US" dirty="0">
                  <a:latin typeface="+mn-lt"/>
                </a:rPr>
                <a:t>high-speed operation:</a:t>
              </a:r>
            </a:p>
            <a:p>
              <a:pPr lvl="1">
                <a:lnSpc>
                  <a:spcPct val="85000"/>
                </a:lnSpc>
                <a:spcBef>
                  <a:spcPct val="20000"/>
                </a:spcBef>
                <a:buClr>
                  <a:srgbClr val="000099"/>
                </a:buClr>
                <a:buFont typeface="Arial" panose="020B0604020202020204" pitchFamily="34" charset="0"/>
                <a:buChar char="•"/>
              </a:pPr>
              <a:r>
                <a:rPr lang="en-US" altLang="en-US" dirty="0">
                  <a:latin typeface="+mn-lt"/>
                </a:rPr>
                <a:t>high-speed point-to-point transmission (10’</a:t>
              </a:r>
              <a:r>
                <a:rPr lang="en-US" altLang="ja-JP" dirty="0">
                  <a:latin typeface="+mn-lt"/>
                </a:rPr>
                <a:t>s-100’s Gbps)</a:t>
              </a:r>
            </a:p>
            <a:p>
              <a:pPr>
                <a:lnSpc>
                  <a:spcPct val="85000"/>
                </a:lnSpc>
                <a:spcBef>
                  <a:spcPct val="20000"/>
                </a:spcBef>
                <a:buClr>
                  <a:srgbClr val="000099"/>
                </a:buClr>
                <a:buSzPct val="100000"/>
                <a:buFont typeface="Wingdings" pitchFamily="2" charset="2"/>
                <a:buChar char="§"/>
              </a:pPr>
              <a:r>
                <a:rPr lang="en-US" altLang="en-US" dirty="0">
                  <a:latin typeface="+mn-lt"/>
                </a:rPr>
                <a:t>low error rate: </a:t>
              </a:r>
            </a:p>
            <a:p>
              <a:pPr lvl="1">
                <a:lnSpc>
                  <a:spcPct val="85000"/>
                </a:lnSpc>
                <a:spcBef>
                  <a:spcPct val="20000"/>
                </a:spcBef>
                <a:buClr>
                  <a:srgbClr val="000099"/>
                </a:buClr>
                <a:buFont typeface="Arial" panose="020B0604020202020204" pitchFamily="34" charset="0"/>
                <a:buChar char="•"/>
              </a:pPr>
              <a:r>
                <a:rPr lang="en-US" altLang="en-US" dirty="0">
                  <a:latin typeface="+mn-lt"/>
                </a:rPr>
                <a:t>repeaters spaced far apart </a:t>
              </a:r>
            </a:p>
            <a:p>
              <a:pPr lvl="1">
                <a:lnSpc>
                  <a:spcPct val="85000"/>
                </a:lnSpc>
                <a:spcBef>
                  <a:spcPct val="20000"/>
                </a:spcBef>
                <a:buClr>
                  <a:srgbClr val="000099"/>
                </a:buClr>
                <a:buFont typeface="Arial" panose="020B0604020202020204" pitchFamily="34" charset="0"/>
                <a:buChar char="•"/>
              </a:pPr>
              <a:r>
                <a:rPr lang="en-US" altLang="en-US" dirty="0">
                  <a:latin typeface="+mn-lt"/>
                </a:rPr>
                <a:t>immune to electromagnetic noise</a:t>
              </a:r>
            </a:p>
          </p:txBody>
        </p:sp>
        <p:pic>
          <p:nvPicPr>
            <p:cNvPr id="12290" name="Picture 2" descr="Image result for optical fiber">
              <a:extLst>
                <a:ext uri="{FF2B5EF4-FFF2-40B4-BE49-F238E27FC236}">
                  <a16:creationId xmlns:a16="http://schemas.microsoft.com/office/drawing/2014/main" id="{DE83E3CC-89A7-4743-A47D-FE0D94F681C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5119" y="4700678"/>
              <a:ext cx="2872373" cy="1895534"/>
            </a:xfrm>
            <a:prstGeom prst="rect">
              <a:avLst/>
            </a:prstGeom>
            <a:noFill/>
            <a:extLst>
              <a:ext uri="{909E8E84-426E-40DD-AFC4-6F175D3DCCD1}">
                <a14:hiddenFill xmlns:a14="http://schemas.microsoft.com/office/drawing/2010/main">
                  <a:solidFill>
                    <a:srgbClr val="FFFFFF"/>
                  </a:solidFill>
                </a14:hiddenFill>
              </a:ext>
            </a:extLst>
          </p:spPr>
        </p:pic>
      </p:grpSp>
      <p:pic>
        <p:nvPicPr>
          <p:cNvPr id="4" name="Picture 13">
            <a:extLst>
              <a:ext uri="{FF2B5EF4-FFF2-40B4-BE49-F238E27FC236}">
                <a16:creationId xmlns:a16="http://schemas.microsoft.com/office/drawing/2014/main" id="{2FBF8AF8-9489-2715-F17B-70D8C1057E3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239056" y="261788"/>
            <a:ext cx="23749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6" descr="f-pict">
            <a:extLst>
              <a:ext uri="{FF2B5EF4-FFF2-40B4-BE49-F238E27FC236}">
                <a16:creationId xmlns:a16="http://schemas.microsoft.com/office/drawing/2014/main" id="{A34C7EEE-8380-0C32-B57F-21D1F936A5B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91091" y="4792502"/>
            <a:ext cx="2371725" cy="146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2">
            <a:extLst>
              <a:ext uri="{FF2B5EF4-FFF2-40B4-BE49-F238E27FC236}">
                <a16:creationId xmlns:a16="http://schemas.microsoft.com/office/drawing/2014/main" id="{2F0BF5A2-5B53-03EE-6BA0-14FC7BEF015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08200" y="4719638"/>
            <a:ext cx="2371725"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27531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Introduction: 1-</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dirty="0">
                <a:ea typeface="ＭＳ Ｐゴシック" panose="020B0600070205080204" pitchFamily="34" charset="-128"/>
              </a:rPr>
              <a:t>Links: physical media</a:t>
            </a:r>
            <a:endParaRPr lang="en-US" dirty="0"/>
          </a:p>
        </p:txBody>
      </p:sp>
      <p:sp>
        <p:nvSpPr>
          <p:cNvPr id="12" name="Rectangle 3">
            <a:extLst>
              <a:ext uri="{FF2B5EF4-FFF2-40B4-BE49-F238E27FC236}">
                <a16:creationId xmlns:a16="http://schemas.microsoft.com/office/drawing/2014/main" id="{0FE4FCF6-C044-7F40-BE10-AF4FF95479A4}"/>
              </a:ext>
            </a:extLst>
          </p:cNvPr>
          <p:cNvSpPr txBox="1">
            <a:spLocks noChangeArrowheads="1"/>
          </p:cNvSpPr>
          <p:nvPr/>
        </p:nvSpPr>
        <p:spPr>
          <a:xfrm>
            <a:off x="952500" y="1354420"/>
            <a:ext cx="4702066" cy="48768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en-US" sz="3200" dirty="0">
                <a:solidFill>
                  <a:srgbClr val="C00000"/>
                </a:solidFill>
                <a:ea typeface="ＭＳ Ｐゴシック" panose="020B0600070205080204" pitchFamily="34" charset="-128"/>
              </a:rPr>
              <a:t>Wireless radio</a:t>
            </a:r>
          </a:p>
          <a:p>
            <a:pPr marL="290513" indent="-228600"/>
            <a:r>
              <a:rPr lang="en-US" altLang="en-US" dirty="0">
                <a:ea typeface="ＭＳ Ｐゴシック" panose="020B0600070205080204" pitchFamily="34" charset="-128"/>
              </a:rPr>
              <a:t>signal carried in electromagnetic spectrum</a:t>
            </a:r>
          </a:p>
          <a:p>
            <a:pPr marL="290513" indent="-228600"/>
            <a:r>
              <a:rPr lang="en-US" altLang="en-US" dirty="0">
                <a:ea typeface="ＭＳ Ｐゴシック" panose="020B0600070205080204" pitchFamily="34" charset="-128"/>
              </a:rPr>
              <a:t>no physical “</a:t>
            </a:r>
            <a:r>
              <a:rPr lang="en-US" altLang="ja-JP" dirty="0">
                <a:ea typeface="ＭＳ Ｐゴシック" panose="020B0600070205080204" pitchFamily="34" charset="-128"/>
              </a:rPr>
              <a:t>wire”</a:t>
            </a:r>
          </a:p>
          <a:p>
            <a:pPr marL="290513" indent="-228600"/>
            <a:r>
              <a:rPr lang="en-US" altLang="en-US" dirty="0">
                <a:ea typeface="ＭＳ Ｐゴシック" panose="020B0600070205080204" pitchFamily="34" charset="-128"/>
              </a:rPr>
              <a:t>broadcast and “half-duplex” </a:t>
            </a:r>
            <a:r>
              <a:rPr lang="en-US" altLang="en-US" sz="2400" dirty="0">
                <a:ea typeface="ＭＳ Ｐゴシック" panose="020B0600070205080204" pitchFamily="34" charset="-128"/>
              </a:rPr>
              <a:t>(sender to receiver)</a:t>
            </a:r>
          </a:p>
          <a:p>
            <a:pPr marL="290513" indent="-228600">
              <a:spcBef>
                <a:spcPts val="600"/>
              </a:spcBef>
            </a:pPr>
            <a:r>
              <a:rPr lang="en-US" altLang="en-US" dirty="0">
                <a:ea typeface="ＭＳ Ｐゴシック" panose="020B0600070205080204" pitchFamily="34" charset="-128"/>
              </a:rPr>
              <a:t>propagation environment effects:</a:t>
            </a:r>
          </a:p>
          <a:p>
            <a:pPr marL="635000" lvl="1" indent="-230188">
              <a:spcBef>
                <a:spcPts val="300"/>
              </a:spcBef>
            </a:pPr>
            <a:r>
              <a:rPr lang="en-US" altLang="en-US" sz="2800" dirty="0">
                <a:ea typeface="Arial" panose="020B0604020202020204" pitchFamily="34" charset="0"/>
              </a:rPr>
              <a:t>reflection </a:t>
            </a:r>
          </a:p>
          <a:p>
            <a:pPr marL="635000" lvl="1" indent="-230188">
              <a:spcBef>
                <a:spcPts val="300"/>
              </a:spcBef>
            </a:pPr>
            <a:r>
              <a:rPr lang="en-US" altLang="en-US" sz="2800" dirty="0">
                <a:ea typeface="Arial" panose="020B0604020202020204" pitchFamily="34" charset="0"/>
              </a:rPr>
              <a:t>obstruction by objects</a:t>
            </a:r>
          </a:p>
          <a:p>
            <a:pPr marL="635000" lvl="1" indent="-230188">
              <a:spcBef>
                <a:spcPts val="300"/>
              </a:spcBef>
            </a:pPr>
            <a:r>
              <a:rPr lang="en-US" altLang="en-US" sz="2800" dirty="0">
                <a:ea typeface="Arial" panose="020B0604020202020204" pitchFamily="34" charset="0"/>
              </a:rPr>
              <a:t>interference</a:t>
            </a:r>
          </a:p>
        </p:txBody>
      </p:sp>
      <p:sp>
        <p:nvSpPr>
          <p:cNvPr id="14" name="Rectangle 3">
            <a:extLst>
              <a:ext uri="{FF2B5EF4-FFF2-40B4-BE49-F238E27FC236}">
                <a16:creationId xmlns:a16="http://schemas.microsoft.com/office/drawing/2014/main" id="{111B3EB7-227E-F543-AA3C-890766F25AA8}"/>
              </a:ext>
            </a:extLst>
          </p:cNvPr>
          <p:cNvSpPr txBox="1">
            <a:spLocks noChangeArrowheads="1"/>
          </p:cNvSpPr>
          <p:nvPr/>
        </p:nvSpPr>
        <p:spPr>
          <a:xfrm>
            <a:off x="6349562" y="1354420"/>
            <a:ext cx="4702066" cy="511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spcBef>
                <a:spcPct val="20000"/>
              </a:spcBef>
              <a:buClr>
                <a:schemeClr val="accent2"/>
              </a:buClr>
              <a:buSzPct val="85000"/>
              <a:buFont typeface="Wingdings" charset="0"/>
              <a:buNone/>
              <a:defRPr/>
            </a:pPr>
            <a:r>
              <a:rPr lang="en-US" sz="3200" dirty="0">
                <a:solidFill>
                  <a:srgbClr val="CC0000"/>
                </a:solidFill>
                <a:ea typeface="ＭＳ Ｐゴシック" charset="0"/>
                <a:cs typeface="ＭＳ Ｐゴシック" charset="0"/>
              </a:rPr>
              <a:t>Radio link types:</a:t>
            </a:r>
          </a:p>
          <a:p>
            <a:pPr marL="342900" indent="-280988">
              <a:lnSpc>
                <a:spcPct val="85000"/>
              </a:lnSpc>
              <a:spcBef>
                <a:spcPct val="20000"/>
              </a:spcBef>
              <a:buClr>
                <a:srgbClr val="000099"/>
              </a:buClr>
              <a:buSzPct val="100000"/>
              <a:buFont typeface="Wingdings" charset="2"/>
              <a:buChar char="§"/>
              <a:defRPr/>
            </a:pPr>
            <a:r>
              <a:rPr lang="en-US" dirty="0">
                <a:solidFill>
                  <a:srgbClr val="000099"/>
                </a:solidFill>
                <a:latin typeface="Calibri" panose="020F0502020204030204" pitchFamily="34" charset="0"/>
                <a:ea typeface="ＭＳ Ｐゴシック" charset="0"/>
                <a:cs typeface="Calibri" panose="020F0502020204030204" pitchFamily="34" charset="0"/>
              </a:rPr>
              <a:t>terrestrial  microwave</a:t>
            </a:r>
          </a:p>
          <a:p>
            <a:pPr marL="635000" lvl="1" indent="-230188">
              <a:lnSpc>
                <a:spcPct val="85000"/>
              </a:lnSpc>
              <a:spcBef>
                <a:spcPct val="20000"/>
              </a:spcBef>
              <a:buClr>
                <a:srgbClr val="000099"/>
              </a:buClr>
              <a:buSzPct val="100000"/>
              <a:defRPr/>
            </a:pPr>
            <a:r>
              <a:rPr lang="en-US" sz="2000" dirty="0">
                <a:latin typeface="Calibri" panose="020F0502020204030204" pitchFamily="34" charset="0"/>
                <a:ea typeface="ＭＳ Ｐゴシック" charset="0"/>
                <a:cs typeface="Calibri" panose="020F0502020204030204" pitchFamily="34" charset="0"/>
              </a:rPr>
              <a:t>up to 45 </a:t>
            </a:r>
            <a:r>
              <a:rPr lang="en-US" dirty="0">
                <a:latin typeface="Calibri" panose="020F0502020204030204" pitchFamily="34" charset="0"/>
                <a:ea typeface="ＭＳ Ｐゴシック" charset="0"/>
                <a:cs typeface="Calibri" panose="020F0502020204030204" pitchFamily="34" charset="0"/>
              </a:rPr>
              <a:t>Mbps</a:t>
            </a:r>
            <a:r>
              <a:rPr lang="en-US" sz="2000" dirty="0">
                <a:latin typeface="Calibri" panose="020F0502020204030204" pitchFamily="34" charset="0"/>
                <a:ea typeface="ＭＳ Ｐゴシック" charset="0"/>
                <a:cs typeface="Calibri" panose="020F0502020204030204" pitchFamily="34" charset="0"/>
              </a:rPr>
              <a:t> channels</a:t>
            </a:r>
          </a:p>
          <a:p>
            <a:pPr marL="342900" indent="-280988">
              <a:lnSpc>
                <a:spcPct val="85000"/>
              </a:lnSpc>
              <a:spcBef>
                <a:spcPct val="20000"/>
              </a:spcBef>
              <a:buClr>
                <a:srgbClr val="000099"/>
              </a:buClr>
              <a:buSzPct val="100000"/>
              <a:buFont typeface="Wingdings" charset="2"/>
              <a:buChar char="§"/>
              <a:defRPr/>
            </a:pPr>
            <a:r>
              <a:rPr lang="en-US" dirty="0">
                <a:solidFill>
                  <a:srgbClr val="000099"/>
                </a:solidFill>
                <a:latin typeface="Calibri" panose="020F0502020204030204" pitchFamily="34" charset="0"/>
                <a:ea typeface="ＭＳ Ｐゴシック" charset="0"/>
                <a:cs typeface="Calibri" panose="020F0502020204030204" pitchFamily="34" charset="0"/>
              </a:rPr>
              <a:t>Wireless LAN</a:t>
            </a:r>
            <a:r>
              <a:rPr lang="en-US" dirty="0">
                <a:latin typeface="Calibri" panose="020F0502020204030204" pitchFamily="34" charset="0"/>
                <a:ea typeface="ＭＳ Ｐゴシック" charset="0"/>
                <a:cs typeface="Calibri" panose="020F0502020204030204" pitchFamily="34" charset="0"/>
              </a:rPr>
              <a:t> (</a:t>
            </a:r>
            <a:r>
              <a:rPr lang="en-US" dirty="0" err="1">
                <a:latin typeface="Calibri" panose="020F0502020204030204" pitchFamily="34" charset="0"/>
                <a:ea typeface="ＭＳ Ｐゴシック" charset="0"/>
                <a:cs typeface="Calibri" panose="020F0502020204030204" pitchFamily="34" charset="0"/>
              </a:rPr>
              <a:t>WiFi</a:t>
            </a:r>
            <a:r>
              <a:rPr lang="en-US" dirty="0">
                <a:latin typeface="Calibri" panose="020F0502020204030204" pitchFamily="34" charset="0"/>
                <a:ea typeface="ＭＳ Ｐゴシック" charset="0"/>
                <a:cs typeface="Calibri" panose="020F0502020204030204" pitchFamily="34" charset="0"/>
              </a:rPr>
              <a:t>)</a:t>
            </a:r>
          </a:p>
          <a:p>
            <a:pPr marL="635000" lvl="1" indent="-230188">
              <a:lnSpc>
                <a:spcPct val="85000"/>
              </a:lnSpc>
              <a:spcBef>
                <a:spcPct val="20000"/>
              </a:spcBef>
              <a:buClr>
                <a:srgbClr val="000099"/>
              </a:buClr>
              <a:buFont typeface="Arial"/>
              <a:buChar char="•"/>
              <a:defRPr/>
            </a:pPr>
            <a:r>
              <a:rPr lang="en-US" dirty="0">
                <a:latin typeface="Calibri" panose="020F0502020204030204" pitchFamily="34" charset="0"/>
                <a:ea typeface="ＭＳ Ｐゴシック" charset="0"/>
                <a:cs typeface="Calibri" panose="020F0502020204030204" pitchFamily="34" charset="0"/>
              </a:rPr>
              <a:t>Up to 100’s Mbps</a:t>
            </a:r>
          </a:p>
          <a:p>
            <a:pPr marL="342900" indent="-280988">
              <a:lnSpc>
                <a:spcPct val="85000"/>
              </a:lnSpc>
              <a:spcBef>
                <a:spcPct val="20000"/>
              </a:spcBef>
              <a:buClr>
                <a:srgbClr val="000099"/>
              </a:buClr>
              <a:buSzPct val="100000"/>
              <a:buFont typeface="Wingdings" charset="2"/>
              <a:buChar char="§"/>
              <a:defRPr/>
            </a:pPr>
            <a:r>
              <a:rPr lang="en-US" dirty="0">
                <a:solidFill>
                  <a:srgbClr val="000099"/>
                </a:solidFill>
                <a:latin typeface="Calibri" panose="020F0502020204030204" pitchFamily="34" charset="0"/>
                <a:ea typeface="ＭＳ Ｐゴシック" charset="0"/>
                <a:cs typeface="Calibri" panose="020F0502020204030204" pitchFamily="34" charset="0"/>
              </a:rPr>
              <a:t>wide-area</a:t>
            </a:r>
            <a:r>
              <a:rPr lang="en-US" dirty="0">
                <a:latin typeface="Calibri" panose="020F0502020204030204" pitchFamily="34" charset="0"/>
                <a:ea typeface="ＭＳ Ｐゴシック" charset="0"/>
                <a:cs typeface="Calibri" panose="020F0502020204030204" pitchFamily="34" charset="0"/>
              </a:rPr>
              <a:t> (e.g., cellular)</a:t>
            </a:r>
          </a:p>
          <a:p>
            <a:pPr marL="635000" lvl="1" indent="-230188">
              <a:lnSpc>
                <a:spcPct val="85000"/>
              </a:lnSpc>
              <a:spcBef>
                <a:spcPct val="20000"/>
              </a:spcBef>
              <a:buClr>
                <a:srgbClr val="000099"/>
              </a:buClr>
              <a:buFont typeface="Arial"/>
              <a:buChar char="•"/>
              <a:defRPr/>
            </a:pPr>
            <a:r>
              <a:rPr lang="en-US" dirty="0">
                <a:latin typeface="Calibri" panose="020F0502020204030204" pitchFamily="34" charset="0"/>
                <a:ea typeface="ＭＳ Ｐゴシック" charset="0"/>
                <a:cs typeface="Calibri" panose="020F0502020204030204" pitchFamily="34" charset="0"/>
              </a:rPr>
              <a:t>4G cellular: ~ 10’s Mbps</a:t>
            </a:r>
          </a:p>
          <a:p>
            <a:pPr marL="342900" indent="-280988">
              <a:lnSpc>
                <a:spcPct val="85000"/>
              </a:lnSpc>
              <a:spcBef>
                <a:spcPct val="20000"/>
              </a:spcBef>
              <a:buClr>
                <a:srgbClr val="000099"/>
              </a:buClr>
              <a:buSzPct val="100000"/>
              <a:buFont typeface="Wingdings" charset="2"/>
              <a:buChar char="§"/>
              <a:defRPr/>
            </a:pPr>
            <a:r>
              <a:rPr lang="en-US" dirty="0">
                <a:solidFill>
                  <a:srgbClr val="000099"/>
                </a:solidFill>
                <a:latin typeface="Calibri" panose="020F0502020204030204" pitchFamily="34" charset="0"/>
                <a:ea typeface="ＭＳ Ｐゴシック" charset="0"/>
                <a:cs typeface="Calibri" panose="020F0502020204030204" pitchFamily="34" charset="0"/>
              </a:rPr>
              <a:t>satellite</a:t>
            </a:r>
          </a:p>
          <a:p>
            <a:pPr marL="685800" lvl="1" indent="-228600">
              <a:lnSpc>
                <a:spcPct val="85000"/>
              </a:lnSpc>
              <a:spcBef>
                <a:spcPct val="20000"/>
              </a:spcBef>
              <a:buClr>
                <a:srgbClr val="000099"/>
              </a:buClr>
              <a:buFont typeface="Arial"/>
              <a:buChar char="•"/>
              <a:defRPr/>
            </a:pPr>
            <a:r>
              <a:rPr lang="en-US" dirty="0">
                <a:latin typeface="Calibri" panose="020F0502020204030204" pitchFamily="34" charset="0"/>
                <a:ea typeface="ＭＳ Ｐゴシック" charset="0"/>
                <a:cs typeface="Calibri" panose="020F0502020204030204" pitchFamily="34" charset="0"/>
              </a:rPr>
              <a:t>up to 45 Mbps per channel</a:t>
            </a:r>
          </a:p>
          <a:p>
            <a:pPr marL="685800" lvl="1" indent="-228600">
              <a:lnSpc>
                <a:spcPct val="85000"/>
              </a:lnSpc>
              <a:spcBef>
                <a:spcPct val="20000"/>
              </a:spcBef>
              <a:buClr>
                <a:srgbClr val="000099"/>
              </a:buClr>
              <a:buFont typeface="Arial"/>
              <a:buChar char="•"/>
              <a:defRPr/>
            </a:pPr>
            <a:r>
              <a:rPr lang="en-US" dirty="0">
                <a:latin typeface="Calibri" panose="020F0502020204030204" pitchFamily="34" charset="0"/>
                <a:ea typeface="ＭＳ Ｐゴシック" charset="0"/>
                <a:cs typeface="Calibri" panose="020F0502020204030204" pitchFamily="34" charset="0"/>
              </a:rPr>
              <a:t>270 </a:t>
            </a:r>
            <a:r>
              <a:rPr lang="en-US" dirty="0" err="1">
                <a:latin typeface="Calibri" panose="020F0502020204030204" pitchFamily="34" charset="0"/>
                <a:ea typeface="ＭＳ Ｐゴシック" charset="0"/>
                <a:cs typeface="Calibri" panose="020F0502020204030204" pitchFamily="34" charset="0"/>
              </a:rPr>
              <a:t>msec</a:t>
            </a:r>
            <a:r>
              <a:rPr lang="en-US" dirty="0">
                <a:latin typeface="Calibri" panose="020F0502020204030204" pitchFamily="34" charset="0"/>
                <a:ea typeface="ＭＳ Ｐゴシック" charset="0"/>
                <a:cs typeface="Calibri" panose="020F0502020204030204" pitchFamily="34" charset="0"/>
              </a:rPr>
              <a:t> end-end delay</a:t>
            </a:r>
          </a:p>
          <a:p>
            <a:pPr marL="685800" lvl="1" indent="-228600">
              <a:lnSpc>
                <a:spcPct val="85000"/>
              </a:lnSpc>
              <a:spcBef>
                <a:spcPct val="20000"/>
              </a:spcBef>
              <a:buClr>
                <a:srgbClr val="000099"/>
              </a:buClr>
              <a:buFont typeface="Arial"/>
              <a:buChar char="•"/>
              <a:defRPr/>
            </a:pPr>
            <a:r>
              <a:rPr lang="en-US" dirty="0">
                <a:latin typeface="Calibri" panose="020F0502020204030204" pitchFamily="34" charset="0"/>
                <a:ea typeface="ＭＳ Ｐゴシック" charset="0"/>
                <a:cs typeface="Calibri" panose="020F0502020204030204" pitchFamily="34" charset="0"/>
              </a:rPr>
              <a:t>geosynchronous versus low-earth-orbit </a:t>
            </a:r>
            <a:endParaRPr lang="en-US" sz="2000" dirty="0">
              <a:latin typeface="Calibri" panose="020F0502020204030204" pitchFamily="34" charset="0"/>
              <a:ea typeface="ＭＳ Ｐゴシック" charset="0"/>
              <a:cs typeface="Calibri" panose="020F0502020204030204" pitchFamily="34" charset="0"/>
            </a:endParaRPr>
          </a:p>
        </p:txBody>
      </p:sp>
    </p:spTree>
    <p:extLst>
      <p:ext uri="{BB962C8B-B14F-4D97-AF65-F5344CB8AC3E}">
        <p14:creationId xmlns:p14="http://schemas.microsoft.com/office/powerpoint/2010/main" val="426115465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35</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rgbClr val="0000A8"/>
              </a:buClr>
            </a:pPr>
            <a:r>
              <a:rPr lang="en-US" altLang="en-US" sz="3200" dirty="0">
                <a:solidFill>
                  <a:srgbClr val="0000A8"/>
                </a:solidFill>
                <a:latin typeface="Calibri" panose="020F0502020204030204" pitchFamily="34" charset="0"/>
                <a:cs typeface="Calibri" panose="020F0502020204030204" pitchFamily="34" charset="0"/>
              </a:rPr>
              <a:t>Network core: </a:t>
            </a:r>
            <a:r>
              <a:rPr lang="en-US" altLang="en-US" sz="3200" dirty="0">
                <a:latin typeface="Calibri" panose="020F0502020204030204" pitchFamily="34" charset="0"/>
                <a:cs typeface="Calibri" panose="020F0502020204030204" pitchFamily="34" charset="0"/>
              </a:rPr>
              <a:t>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50466D51-7C04-8648-9FCA-079A4213185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25122709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The network core</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815577" y="1547144"/>
            <a:ext cx="5692665" cy="4617464"/>
          </a:xfrm>
        </p:spPr>
        <p:txBody>
          <a:bodyPr>
            <a:normAutofit/>
          </a:bodyPr>
          <a:lstStyle/>
          <a:p>
            <a:r>
              <a:rPr lang="en-US" altLang="en-US" sz="3200" dirty="0">
                <a:ea typeface="ＭＳ Ｐゴシック" panose="020B0600070205080204" pitchFamily="34" charset="-128"/>
              </a:rPr>
              <a:t>mesh of interconnected routers</a:t>
            </a:r>
          </a:p>
          <a:p>
            <a:r>
              <a:rPr lang="en-US" altLang="en-US" sz="3200" dirty="0">
                <a:solidFill>
                  <a:srgbClr val="CC0000"/>
                </a:solidFill>
                <a:ea typeface="ＭＳ Ｐゴシック" panose="020B0600070205080204" pitchFamily="34" charset="-128"/>
              </a:rPr>
              <a:t>packet-switching: </a:t>
            </a:r>
            <a:r>
              <a:rPr lang="en-US" altLang="en-US" sz="3200" dirty="0">
                <a:ea typeface="ＭＳ Ｐゴシック" panose="020B0600070205080204" pitchFamily="34" charset="-128"/>
              </a:rPr>
              <a:t>hosts break application-layer messages into </a:t>
            </a:r>
            <a:r>
              <a:rPr lang="en-US" altLang="en-US" sz="3200" i="1" dirty="0">
                <a:solidFill>
                  <a:srgbClr val="CC0000"/>
                </a:solidFill>
                <a:ea typeface="ＭＳ Ｐゴシック" panose="020B0600070205080204" pitchFamily="34" charset="-128"/>
              </a:rPr>
              <a:t>packets</a:t>
            </a:r>
          </a:p>
          <a:p>
            <a:pPr lvl="1"/>
            <a:r>
              <a:rPr lang="en-US" altLang="en-US" sz="2800" dirty="0">
                <a:ea typeface="Arial" panose="020B0604020202020204" pitchFamily="34" charset="0"/>
              </a:rPr>
              <a:t>forward packets</a:t>
            </a:r>
            <a:r>
              <a:rPr lang="en-US" altLang="en-US" sz="2800" i="1" dirty="0">
                <a:ea typeface="Arial" panose="020B0604020202020204" pitchFamily="34" charset="0"/>
              </a:rPr>
              <a:t> </a:t>
            </a:r>
            <a:r>
              <a:rPr lang="en-US" altLang="en-US" sz="2800" dirty="0">
                <a:ea typeface="Arial" panose="020B0604020202020204" pitchFamily="34" charset="0"/>
              </a:rPr>
              <a:t>from one router to the next, across links on path from source to destination</a:t>
            </a:r>
          </a:p>
          <a:p>
            <a:pPr lvl="1"/>
            <a:r>
              <a:rPr lang="en-US" altLang="en-US" sz="2800" dirty="0">
                <a:ea typeface="Arial" panose="020B0604020202020204" pitchFamily="34" charset="0"/>
              </a:rPr>
              <a:t>each packet transmitted at full link capacity</a:t>
            </a:r>
          </a:p>
          <a:p>
            <a:pPr marL="174625" indent="0">
              <a:buSzPct val="75000"/>
              <a:buNone/>
            </a:pPr>
            <a:endParaRPr lang="en-US" altLang="en-US" dirty="0"/>
          </a:p>
          <a:p>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36</a:t>
            </a:fld>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8694912" y="1702617"/>
            <a:ext cx="2658888" cy="2831440"/>
            <a:chOff x="17449127" y="2067553"/>
            <a:chExt cx="2658888" cy="2831440"/>
          </a:xfrm>
        </p:grpSpPr>
        <p:sp>
          <p:nvSpPr>
            <p:cNvPr id="640" name="Oval 639">
              <a:extLst>
                <a:ext uri="{FF2B5EF4-FFF2-40B4-BE49-F238E27FC236}">
                  <a16:creationId xmlns:a16="http://schemas.microsoft.com/office/drawing/2014/main" id="{67287325-A3CF-3F47-9A8A-8C7EE2AD7C46}"/>
                </a:ext>
              </a:extLst>
            </p:cNvPr>
            <p:cNvSpPr/>
            <p:nvPr/>
          </p:nvSpPr>
          <p:spPr>
            <a:xfrm>
              <a:off x="18054808" y="2067553"/>
              <a:ext cx="2053207" cy="139951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1" name="Oval 610">
              <a:extLst>
                <a:ext uri="{FF2B5EF4-FFF2-40B4-BE49-F238E27FC236}">
                  <a16:creationId xmlns:a16="http://schemas.microsoft.com/office/drawing/2014/main" id="{D09BD5F5-1EE1-7744-94DF-5BEAED02584D}"/>
                </a:ext>
              </a:extLst>
            </p:cNvPr>
            <p:cNvSpPr/>
            <p:nvPr/>
          </p:nvSpPr>
          <p:spPr>
            <a:xfrm>
              <a:off x="17449127" y="3391110"/>
              <a:ext cx="2173774" cy="1507883"/>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Freeform 4">
            <a:extLst>
              <a:ext uri="{FF2B5EF4-FFF2-40B4-BE49-F238E27FC236}">
                <a16:creationId xmlns:a16="http://schemas.microsoft.com/office/drawing/2014/main" id="{22D8BA93-CE35-C54A-BCA8-174D5BBE10D2}"/>
              </a:ext>
            </a:extLst>
          </p:cNvPr>
          <p:cNvSpPr/>
          <p:nvPr/>
        </p:nvSpPr>
        <p:spPr>
          <a:xfrm>
            <a:off x="7157545" y="1523999"/>
            <a:ext cx="4550979" cy="4897821"/>
          </a:xfrm>
          <a:custGeom>
            <a:avLst/>
            <a:gdLst>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713187 w 4656083"/>
              <a:gd name="connsiteY6" fmla="*/ 3100551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126410 w 4656369"/>
              <a:gd name="connsiteY0" fmla="*/ 234571 h 4953715"/>
              <a:gd name="connsiteX1" fmla="*/ 286 w 4656369"/>
              <a:gd name="connsiteY1" fmla="*/ 13853 h 4953715"/>
              <a:gd name="connsiteX2" fmla="*/ 94879 w 4656369"/>
              <a:gd name="connsiteY2" fmla="*/ 24363 h 4953715"/>
              <a:gd name="connsiteX3" fmla="*/ 2375624 w 4656369"/>
              <a:gd name="connsiteY3" fmla="*/ 55894 h 4953715"/>
              <a:gd name="connsiteX4" fmla="*/ 2438686 w 4656369"/>
              <a:gd name="connsiteY4" fmla="*/ 1485300 h 4953715"/>
              <a:gd name="connsiteX5" fmla="*/ 1692452 w 4656369"/>
              <a:gd name="connsiteY5" fmla="*/ 1937246 h 4953715"/>
              <a:gd name="connsiteX6" fmla="*/ 1555817 w 4656369"/>
              <a:gd name="connsiteY6" fmla="*/ 2483783 h 4953715"/>
              <a:gd name="connsiteX7" fmla="*/ 3132369 w 4656369"/>
              <a:gd name="connsiteY7" fmla="*/ 3103894 h 4953715"/>
              <a:gd name="connsiteX8" fmla="*/ 3605335 w 4656369"/>
              <a:gd name="connsiteY8" fmla="*/ 2883177 h 4953715"/>
              <a:gd name="connsiteX9" fmla="*/ 3805031 w 4656369"/>
              <a:gd name="connsiteY9" fmla="*/ 2609907 h 4953715"/>
              <a:gd name="connsiteX10" fmla="*/ 3826052 w 4656369"/>
              <a:gd name="connsiteY10" fmla="*/ 2273577 h 4953715"/>
              <a:gd name="connsiteX11" fmla="*/ 3784011 w 4656369"/>
              <a:gd name="connsiteY11" fmla="*/ 2073880 h 4953715"/>
              <a:gd name="connsiteX12" fmla="*/ 3689417 w 4656369"/>
              <a:gd name="connsiteY12" fmla="*/ 1895204 h 4953715"/>
              <a:gd name="connsiteX13" fmla="*/ 3447679 w 4656369"/>
              <a:gd name="connsiteY13" fmla="*/ 1737549 h 4953715"/>
              <a:gd name="connsiteX14" fmla="*/ 4498714 w 4656369"/>
              <a:gd name="connsiteY14" fmla="*/ 1600915 h 4953715"/>
              <a:gd name="connsiteX15" fmla="*/ 4656369 w 4656369"/>
              <a:gd name="connsiteY15" fmla="*/ 2935728 h 4953715"/>
              <a:gd name="connsiteX16" fmla="*/ 4509224 w 4656369"/>
              <a:gd name="connsiteY16" fmla="*/ 4575342 h 4953715"/>
              <a:gd name="connsiteX17" fmla="*/ 3500231 w 4656369"/>
              <a:gd name="connsiteY17" fmla="*/ 4953715 h 4953715"/>
              <a:gd name="connsiteX18" fmla="*/ 105390 w 4656369"/>
              <a:gd name="connsiteY18" fmla="*/ 4911673 h 4953715"/>
              <a:gd name="connsiteX19" fmla="*/ 126410 w 4656369"/>
              <a:gd name="connsiteY19" fmla="*/ 234571 h 4953715"/>
              <a:gd name="connsiteX0" fmla="*/ 190699 w 4720658"/>
              <a:gd name="connsiteY0" fmla="*/ 417353 h 5136497"/>
              <a:gd name="connsiteX1" fmla="*/ 159168 w 4720658"/>
              <a:gd name="connsiteY1" fmla="*/ 207145 h 5136497"/>
              <a:gd name="connsiteX2" fmla="*/ 2439913 w 4720658"/>
              <a:gd name="connsiteY2" fmla="*/ 238676 h 5136497"/>
              <a:gd name="connsiteX3" fmla="*/ 2502975 w 4720658"/>
              <a:gd name="connsiteY3" fmla="*/ 1668082 h 5136497"/>
              <a:gd name="connsiteX4" fmla="*/ 1756741 w 4720658"/>
              <a:gd name="connsiteY4" fmla="*/ 2120028 h 5136497"/>
              <a:gd name="connsiteX5" fmla="*/ 1620106 w 4720658"/>
              <a:gd name="connsiteY5" fmla="*/ 2666565 h 5136497"/>
              <a:gd name="connsiteX6" fmla="*/ 3196658 w 4720658"/>
              <a:gd name="connsiteY6" fmla="*/ 3286676 h 5136497"/>
              <a:gd name="connsiteX7" fmla="*/ 3669624 w 4720658"/>
              <a:gd name="connsiteY7" fmla="*/ 3065959 h 5136497"/>
              <a:gd name="connsiteX8" fmla="*/ 3869320 w 4720658"/>
              <a:gd name="connsiteY8" fmla="*/ 2792689 h 5136497"/>
              <a:gd name="connsiteX9" fmla="*/ 3890341 w 4720658"/>
              <a:gd name="connsiteY9" fmla="*/ 2456359 h 5136497"/>
              <a:gd name="connsiteX10" fmla="*/ 3848300 w 4720658"/>
              <a:gd name="connsiteY10" fmla="*/ 2256662 h 5136497"/>
              <a:gd name="connsiteX11" fmla="*/ 3753706 w 4720658"/>
              <a:gd name="connsiteY11" fmla="*/ 2077986 h 5136497"/>
              <a:gd name="connsiteX12" fmla="*/ 3511968 w 4720658"/>
              <a:gd name="connsiteY12" fmla="*/ 1920331 h 5136497"/>
              <a:gd name="connsiteX13" fmla="*/ 4563003 w 4720658"/>
              <a:gd name="connsiteY13" fmla="*/ 1783697 h 5136497"/>
              <a:gd name="connsiteX14" fmla="*/ 4720658 w 4720658"/>
              <a:gd name="connsiteY14" fmla="*/ 3118510 h 5136497"/>
              <a:gd name="connsiteX15" fmla="*/ 4573513 w 4720658"/>
              <a:gd name="connsiteY15" fmla="*/ 4758124 h 5136497"/>
              <a:gd name="connsiteX16" fmla="*/ 3564520 w 4720658"/>
              <a:gd name="connsiteY16" fmla="*/ 5136497 h 5136497"/>
              <a:gd name="connsiteX17" fmla="*/ 169679 w 4720658"/>
              <a:gd name="connsiteY17" fmla="*/ 5094455 h 5136497"/>
              <a:gd name="connsiteX18" fmla="*/ 190699 w 4720658"/>
              <a:gd name="connsiteY18" fmla="*/ 417353 h 5136497"/>
              <a:gd name="connsiteX0" fmla="*/ 21020 w 4550979"/>
              <a:gd name="connsiteY0" fmla="*/ 476180 h 5195324"/>
              <a:gd name="connsiteX1" fmla="*/ 2270234 w 4550979"/>
              <a:gd name="connsiteY1" fmla="*/ 297503 h 5195324"/>
              <a:gd name="connsiteX2" fmla="*/ 2333296 w 4550979"/>
              <a:gd name="connsiteY2" fmla="*/ 1726909 h 5195324"/>
              <a:gd name="connsiteX3" fmla="*/ 1587062 w 4550979"/>
              <a:gd name="connsiteY3" fmla="*/ 2178855 h 5195324"/>
              <a:gd name="connsiteX4" fmla="*/ 1450427 w 4550979"/>
              <a:gd name="connsiteY4" fmla="*/ 2725392 h 5195324"/>
              <a:gd name="connsiteX5" fmla="*/ 3026979 w 4550979"/>
              <a:gd name="connsiteY5" fmla="*/ 3345503 h 5195324"/>
              <a:gd name="connsiteX6" fmla="*/ 3499945 w 4550979"/>
              <a:gd name="connsiteY6" fmla="*/ 3124786 h 5195324"/>
              <a:gd name="connsiteX7" fmla="*/ 3699641 w 4550979"/>
              <a:gd name="connsiteY7" fmla="*/ 2851516 h 5195324"/>
              <a:gd name="connsiteX8" fmla="*/ 3720662 w 4550979"/>
              <a:gd name="connsiteY8" fmla="*/ 2515186 h 5195324"/>
              <a:gd name="connsiteX9" fmla="*/ 3678621 w 4550979"/>
              <a:gd name="connsiteY9" fmla="*/ 2315489 h 5195324"/>
              <a:gd name="connsiteX10" fmla="*/ 3584027 w 4550979"/>
              <a:gd name="connsiteY10" fmla="*/ 2136813 h 5195324"/>
              <a:gd name="connsiteX11" fmla="*/ 3342289 w 4550979"/>
              <a:gd name="connsiteY11" fmla="*/ 1979158 h 5195324"/>
              <a:gd name="connsiteX12" fmla="*/ 4393324 w 4550979"/>
              <a:gd name="connsiteY12" fmla="*/ 1842524 h 5195324"/>
              <a:gd name="connsiteX13" fmla="*/ 4550979 w 4550979"/>
              <a:gd name="connsiteY13" fmla="*/ 3177337 h 5195324"/>
              <a:gd name="connsiteX14" fmla="*/ 4403834 w 4550979"/>
              <a:gd name="connsiteY14" fmla="*/ 4816951 h 5195324"/>
              <a:gd name="connsiteX15" fmla="*/ 3394841 w 4550979"/>
              <a:gd name="connsiteY15" fmla="*/ 5195324 h 5195324"/>
              <a:gd name="connsiteX16" fmla="*/ 0 w 4550979"/>
              <a:gd name="connsiteY16" fmla="*/ 5153282 h 5195324"/>
              <a:gd name="connsiteX17" fmla="*/ 21020 w 4550979"/>
              <a:gd name="connsiteY17" fmla="*/ 476180 h 5195324"/>
              <a:gd name="connsiteX0" fmla="*/ 21020 w 4550979"/>
              <a:gd name="connsiteY0" fmla="*/ 258442 h 4977586"/>
              <a:gd name="connsiteX1" fmla="*/ 2270234 w 4550979"/>
              <a:gd name="connsiteY1" fmla="*/ 79765 h 4977586"/>
              <a:gd name="connsiteX2" fmla="*/ 2333296 w 4550979"/>
              <a:gd name="connsiteY2" fmla="*/ 1509171 h 4977586"/>
              <a:gd name="connsiteX3" fmla="*/ 1587062 w 4550979"/>
              <a:gd name="connsiteY3" fmla="*/ 1961117 h 4977586"/>
              <a:gd name="connsiteX4" fmla="*/ 1450427 w 4550979"/>
              <a:gd name="connsiteY4" fmla="*/ 2507654 h 4977586"/>
              <a:gd name="connsiteX5" fmla="*/ 3026979 w 4550979"/>
              <a:gd name="connsiteY5" fmla="*/ 3127765 h 4977586"/>
              <a:gd name="connsiteX6" fmla="*/ 3499945 w 4550979"/>
              <a:gd name="connsiteY6" fmla="*/ 2907048 h 4977586"/>
              <a:gd name="connsiteX7" fmla="*/ 3699641 w 4550979"/>
              <a:gd name="connsiteY7" fmla="*/ 2633778 h 4977586"/>
              <a:gd name="connsiteX8" fmla="*/ 3720662 w 4550979"/>
              <a:gd name="connsiteY8" fmla="*/ 2297448 h 4977586"/>
              <a:gd name="connsiteX9" fmla="*/ 3678621 w 4550979"/>
              <a:gd name="connsiteY9" fmla="*/ 2097751 h 4977586"/>
              <a:gd name="connsiteX10" fmla="*/ 3584027 w 4550979"/>
              <a:gd name="connsiteY10" fmla="*/ 1919075 h 4977586"/>
              <a:gd name="connsiteX11" fmla="*/ 3342289 w 4550979"/>
              <a:gd name="connsiteY11" fmla="*/ 1761420 h 4977586"/>
              <a:gd name="connsiteX12" fmla="*/ 4393324 w 4550979"/>
              <a:gd name="connsiteY12" fmla="*/ 1624786 h 4977586"/>
              <a:gd name="connsiteX13" fmla="*/ 4550979 w 4550979"/>
              <a:gd name="connsiteY13" fmla="*/ 2959599 h 4977586"/>
              <a:gd name="connsiteX14" fmla="*/ 4403834 w 4550979"/>
              <a:gd name="connsiteY14" fmla="*/ 4599213 h 4977586"/>
              <a:gd name="connsiteX15" fmla="*/ 3394841 w 4550979"/>
              <a:gd name="connsiteY15" fmla="*/ 4977586 h 4977586"/>
              <a:gd name="connsiteX16" fmla="*/ 0 w 4550979"/>
              <a:gd name="connsiteY16" fmla="*/ 4935544 h 4977586"/>
              <a:gd name="connsiteX17" fmla="*/ 21020 w 4550979"/>
              <a:gd name="connsiteY17" fmla="*/ 258442 h 4977586"/>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026979 w 4550979"/>
              <a:gd name="connsiteY5" fmla="*/ 3048000 h 4897821"/>
              <a:gd name="connsiteX6" fmla="*/ 3499945 w 4550979"/>
              <a:gd name="connsiteY6" fmla="*/ 2827283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50979" h="4897821">
                <a:moveTo>
                  <a:pt x="21020" y="178677"/>
                </a:moveTo>
                <a:cubicBezTo>
                  <a:pt x="1030013" y="42043"/>
                  <a:pt x="1453930" y="54304"/>
                  <a:pt x="2270234" y="0"/>
                </a:cubicBezTo>
                <a:cubicBezTo>
                  <a:pt x="2291255" y="476469"/>
                  <a:pt x="1902372" y="963447"/>
                  <a:pt x="2333296" y="1429406"/>
                </a:cubicBezTo>
                <a:lnTo>
                  <a:pt x="1587062" y="1881352"/>
                </a:lnTo>
                <a:lnTo>
                  <a:pt x="1450427" y="2427889"/>
                </a:lnTo>
                <a:cubicBezTo>
                  <a:pt x="1681655" y="2998951"/>
                  <a:pt x="2312276" y="3139089"/>
                  <a:pt x="3026979" y="3048000"/>
                </a:cubicBezTo>
                <a:lnTo>
                  <a:pt x="3499945" y="2827283"/>
                </a:lnTo>
                <a:lnTo>
                  <a:pt x="3699641" y="2554013"/>
                </a:lnTo>
                <a:lnTo>
                  <a:pt x="3720662" y="2217683"/>
                </a:lnTo>
                <a:lnTo>
                  <a:pt x="3678621" y="2017986"/>
                </a:lnTo>
                <a:lnTo>
                  <a:pt x="3584027" y="1839310"/>
                </a:lnTo>
                <a:lnTo>
                  <a:pt x="3342289" y="1681655"/>
                </a:lnTo>
                <a:lnTo>
                  <a:pt x="4393324" y="1545021"/>
                </a:lnTo>
                <a:lnTo>
                  <a:pt x="4550979" y="2879834"/>
                </a:lnTo>
                <a:lnTo>
                  <a:pt x="4403834" y="4519448"/>
                </a:lnTo>
                <a:lnTo>
                  <a:pt x="3394841" y="4897821"/>
                </a:lnTo>
                <a:lnTo>
                  <a:pt x="0" y="4855779"/>
                </a:lnTo>
                <a:cubicBezTo>
                  <a:pt x="7007" y="3296745"/>
                  <a:pt x="14013" y="1737711"/>
                  <a:pt x="21020" y="178677"/>
                </a:cubicBezTo>
                <a:close/>
              </a:path>
            </a:pathLst>
          </a:custGeom>
          <a:solidFill>
            <a:schemeClr val="bg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8835637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Packet-switching: store-and-forward</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623738" y="3557127"/>
            <a:ext cx="6984416" cy="3419406"/>
          </a:xfrm>
        </p:spPr>
        <p:txBody>
          <a:bodyPr>
            <a:noAutofit/>
          </a:bodyPr>
          <a:lstStyle/>
          <a:p>
            <a:pPr marL="287338" indent="-287338"/>
            <a:r>
              <a:rPr lang="en-US" altLang="en-US" sz="2600" dirty="0">
                <a:solidFill>
                  <a:srgbClr val="C00000"/>
                </a:solidFill>
                <a:ea typeface="ＭＳ Ｐゴシック" panose="020B0600070205080204" pitchFamily="34" charset="-128"/>
              </a:rPr>
              <a:t>Transmission delay: </a:t>
            </a:r>
            <a:r>
              <a:rPr lang="en-US" altLang="en-US" sz="2600" dirty="0">
                <a:ea typeface="ＭＳ Ｐゴシック" panose="020B0600070205080204" pitchFamily="34" charset="-128"/>
              </a:rPr>
              <a:t>takes </a:t>
            </a:r>
            <a:r>
              <a:rPr lang="en-US" altLang="en-US" sz="2600" i="1" dirty="0">
                <a:ea typeface="ＭＳ Ｐゴシック" panose="020B0600070205080204" pitchFamily="34" charset="-128"/>
              </a:rPr>
              <a:t>L</a:t>
            </a:r>
            <a:r>
              <a:rPr lang="en-US" altLang="en-US" sz="2600" dirty="0">
                <a:ea typeface="ＭＳ Ｐゴシック" panose="020B0600070205080204" pitchFamily="34" charset="-128"/>
              </a:rPr>
              <a:t>/</a:t>
            </a:r>
            <a:r>
              <a:rPr lang="en-US" altLang="en-US" sz="2600" i="1" dirty="0">
                <a:ea typeface="ＭＳ Ｐゴシック" panose="020B0600070205080204" pitchFamily="34" charset="-128"/>
              </a:rPr>
              <a:t>R</a:t>
            </a:r>
            <a:r>
              <a:rPr lang="en-US" altLang="en-US" sz="2600" dirty="0">
                <a:ea typeface="ＭＳ Ｐゴシック" panose="020B0600070205080204" pitchFamily="34" charset="-128"/>
              </a:rPr>
              <a:t> seconds to transmit (push out) </a:t>
            </a:r>
            <a:r>
              <a:rPr lang="en-US" altLang="en-US" sz="2600" i="1" dirty="0">
                <a:ea typeface="ＭＳ Ｐゴシック" panose="020B0600070205080204" pitchFamily="34" charset="-128"/>
              </a:rPr>
              <a:t>L</a:t>
            </a:r>
            <a:r>
              <a:rPr lang="en-US" altLang="en-US" sz="2600" dirty="0">
                <a:ea typeface="ＭＳ Ｐゴシック" panose="020B0600070205080204" pitchFamily="34" charset="-128"/>
              </a:rPr>
              <a:t>-bit packet into link at </a:t>
            </a:r>
            <a:r>
              <a:rPr lang="en-US" altLang="en-US" sz="2600" i="1" dirty="0">
                <a:ea typeface="ＭＳ Ｐゴシック" panose="020B0600070205080204" pitchFamily="34" charset="-128"/>
              </a:rPr>
              <a:t>R</a:t>
            </a:r>
            <a:r>
              <a:rPr lang="en-US" altLang="en-US" sz="2600" dirty="0">
                <a:ea typeface="ＭＳ Ｐゴシック" panose="020B0600070205080204" pitchFamily="34" charset="-128"/>
              </a:rPr>
              <a:t> bps</a:t>
            </a:r>
          </a:p>
          <a:p>
            <a:pPr marL="287338" indent="-287338"/>
            <a:r>
              <a:rPr lang="en-US" altLang="en-US" sz="2600" i="1" dirty="0">
                <a:solidFill>
                  <a:srgbClr val="CC0000"/>
                </a:solidFill>
                <a:ea typeface="ＭＳ Ｐゴシック" panose="020B0600070205080204" pitchFamily="34" charset="-128"/>
              </a:rPr>
              <a:t>Store and forward:</a:t>
            </a:r>
            <a:r>
              <a:rPr lang="en-US" altLang="en-US" sz="2600" i="1" dirty="0">
                <a:solidFill>
                  <a:srgbClr val="FF0000"/>
                </a:solidFill>
                <a:ea typeface="ＭＳ Ｐゴシック" panose="020B0600070205080204" pitchFamily="34" charset="-128"/>
              </a:rPr>
              <a:t> </a:t>
            </a:r>
            <a:r>
              <a:rPr lang="en-US" altLang="en-US" sz="2600" i="1" dirty="0">
                <a:ea typeface="ＭＳ Ｐゴシック" panose="020B0600070205080204" pitchFamily="34" charset="-128"/>
              </a:rPr>
              <a:t>entire</a:t>
            </a:r>
            <a:r>
              <a:rPr lang="en-US" altLang="en-US" sz="2600" dirty="0">
                <a:ea typeface="ＭＳ Ｐゴシック" panose="020B0600070205080204" pitchFamily="34" charset="-128"/>
              </a:rPr>
              <a:t> packet must  arrive at router before it can be transmitted on next link</a:t>
            </a:r>
          </a:p>
          <a:p>
            <a:pPr marL="287338" indent="-287338"/>
            <a:r>
              <a:rPr lang="en-US" altLang="en-US" sz="2600" i="1" dirty="0">
                <a:solidFill>
                  <a:srgbClr val="C00000"/>
                </a:solidFill>
                <a:ea typeface="ＭＳ Ｐゴシック" panose="020B0600070205080204" pitchFamily="34" charset="-128"/>
              </a:rPr>
              <a:t>End-end delay: </a:t>
            </a:r>
            <a:r>
              <a:rPr lang="en-US" altLang="en-US" sz="2600" dirty="0">
                <a:ea typeface="ＭＳ Ｐゴシック" panose="020B0600070205080204" pitchFamily="34" charset="-128"/>
              </a:rPr>
              <a:t>2</a:t>
            </a:r>
            <a:r>
              <a:rPr lang="en-US" altLang="en-US" sz="2600" i="1" dirty="0">
                <a:ea typeface="ＭＳ Ｐゴシック" panose="020B0600070205080204" pitchFamily="34" charset="-128"/>
              </a:rPr>
              <a:t>L/R </a:t>
            </a:r>
            <a:r>
              <a:rPr lang="en-US" altLang="en-US" sz="2600" dirty="0">
                <a:ea typeface="ＭＳ Ｐゴシック" panose="020B0600070205080204" pitchFamily="34" charset="-128"/>
              </a:rPr>
              <a:t>(above), assuming zero propagation delay (more on delay shortly)</a:t>
            </a:r>
          </a:p>
          <a:p>
            <a:pPr marL="287338" indent="-287338">
              <a:spcBef>
                <a:spcPts val="400"/>
              </a:spcBef>
            </a:pPr>
            <a:endParaRPr lang="en-US" altLang="en-US" dirty="0">
              <a:ea typeface="ＭＳ Ｐゴシック" panose="020B0600070205080204" pitchFamily="34" charset="-128"/>
            </a:endParaRPr>
          </a:p>
          <a:p>
            <a:pPr marL="287338" indent="-287338">
              <a:spcBef>
                <a:spcPts val="400"/>
              </a:spcBef>
            </a:pPr>
            <a:endParaRPr lang="en-US" altLang="en-US" dirty="0">
              <a:ea typeface="ＭＳ Ｐゴシック" panose="020B0600070205080204" pitchFamily="34" charset="-128"/>
            </a:endParaRPr>
          </a:p>
          <a:p>
            <a:pPr marL="174625" indent="0">
              <a:spcBef>
                <a:spcPts val="400"/>
              </a:spcBef>
              <a:buSzPct val="75000"/>
              <a:buNone/>
            </a:pPr>
            <a:endParaRPr lang="en-US" altLang="en-US" dirty="0"/>
          </a:p>
          <a:p>
            <a:pPr>
              <a:spcBef>
                <a:spcPts val="400"/>
              </a:spcBef>
            </a:pP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37</a:t>
            </a:fld>
            <a:endParaRPr lang="en-US" dirty="0"/>
          </a:p>
        </p:txBody>
      </p:sp>
      <p:sp>
        <p:nvSpPr>
          <p:cNvPr id="444" name="TextBox 443">
            <a:extLst>
              <a:ext uri="{FF2B5EF4-FFF2-40B4-BE49-F238E27FC236}">
                <a16:creationId xmlns:a16="http://schemas.microsoft.com/office/drawing/2014/main" id="{1B79CF7E-9448-5544-BA0A-8BCEB44B02B9}"/>
              </a:ext>
            </a:extLst>
          </p:cNvPr>
          <p:cNvSpPr txBox="1"/>
          <p:nvPr/>
        </p:nvSpPr>
        <p:spPr>
          <a:xfrm>
            <a:off x="2329483" y="2650664"/>
            <a:ext cx="881973" cy="400110"/>
          </a:xfrm>
          <a:prstGeom prst="rect">
            <a:avLst/>
          </a:prstGeom>
          <a:noFill/>
        </p:spPr>
        <p:txBody>
          <a:bodyPr wrap="none">
            <a:spAutoFit/>
          </a:bodyPr>
          <a:lstStyle/>
          <a:p>
            <a:pPr eaLnBrk="1" fontAlgn="auto" hangingPunct="1">
              <a:spcBef>
                <a:spcPts val="0"/>
              </a:spcBef>
              <a:spcAft>
                <a:spcPts val="0"/>
              </a:spcAft>
              <a:defRPr/>
            </a:pPr>
            <a:r>
              <a:rPr lang="en-US" sz="2000" kern="0" dirty="0">
                <a:solidFill>
                  <a:prstClr val="black"/>
                </a:solidFill>
                <a:latin typeface="Calibri"/>
                <a:ea typeface="+mn-ea"/>
              </a:rPr>
              <a:t>source</a:t>
            </a:r>
          </a:p>
        </p:txBody>
      </p:sp>
      <p:grpSp>
        <p:nvGrpSpPr>
          <p:cNvPr id="445" name="Group 41">
            <a:extLst>
              <a:ext uri="{FF2B5EF4-FFF2-40B4-BE49-F238E27FC236}">
                <a16:creationId xmlns:a16="http://schemas.microsoft.com/office/drawing/2014/main" id="{D75B9901-C554-3A40-8E3F-BFD972AB9094}"/>
              </a:ext>
            </a:extLst>
          </p:cNvPr>
          <p:cNvGrpSpPr>
            <a:grpSpLocks/>
          </p:cNvGrpSpPr>
          <p:nvPr/>
        </p:nvGrpSpPr>
        <p:grpSpPr bwMode="auto">
          <a:xfrm>
            <a:off x="3152334" y="2709744"/>
            <a:ext cx="1074738" cy="450508"/>
            <a:chOff x="1816230" y="6118900"/>
            <a:chExt cx="1843339" cy="739100"/>
          </a:xfrm>
        </p:grpSpPr>
        <p:pic>
          <p:nvPicPr>
            <p:cNvPr id="446" name="Picture 8">
              <a:extLst>
                <a:ext uri="{FF2B5EF4-FFF2-40B4-BE49-F238E27FC236}">
                  <a16:creationId xmlns:a16="http://schemas.microsoft.com/office/drawing/2014/main" id="{075B6782-DAD3-5940-9C66-4FAAECFA13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6230" y="6144002"/>
              <a:ext cx="1843339" cy="71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6" name="Rectangle 495">
              <a:extLst>
                <a:ext uri="{FF2B5EF4-FFF2-40B4-BE49-F238E27FC236}">
                  <a16:creationId xmlns:a16="http://schemas.microsoft.com/office/drawing/2014/main" id="{02711796-4BEC-494E-B327-181C4E9262BA}"/>
                </a:ext>
              </a:extLst>
            </p:cNvPr>
            <p:cNvSpPr/>
            <p:nvPr/>
          </p:nvSpPr>
          <p:spPr>
            <a:xfrm rot="1049095">
              <a:off x="1947488" y="6118900"/>
              <a:ext cx="1650399" cy="462656"/>
            </a:xfrm>
            <a:prstGeom prst="rect">
              <a:avLst/>
            </a:prstGeom>
            <a:gradFill>
              <a:gsLst>
                <a:gs pos="0">
                  <a:sysClr val="window" lastClr="FFFFFF"/>
                </a:gs>
                <a:gs pos="50000">
                  <a:sysClr val="window" lastClr="FFFFFF">
                    <a:alpha val="48000"/>
                  </a:sysClr>
                </a:gs>
                <a:gs pos="100000">
                  <a:sysClr val="window" lastClr="FFFFFF">
                    <a:alpha val="0"/>
                  </a:sysClr>
                </a:gs>
              </a:gsLst>
              <a:lin ang="5400000" scaled="0"/>
            </a:gradFill>
            <a:ln w="25400" cap="flat" cmpd="sng" algn="ctr">
              <a:noFill/>
              <a:prstDash val="solid"/>
            </a:ln>
            <a:effec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defRPr/>
              </a:pPr>
              <a:endParaRPr lang="en-US" sz="1800" dirty="0">
                <a:solidFill>
                  <a:srgbClr val="FFFFFF"/>
                </a:solidFill>
                <a:latin typeface="Calibri" charset="0"/>
              </a:endParaRPr>
            </a:p>
          </p:txBody>
        </p:sp>
      </p:grpSp>
      <p:cxnSp>
        <p:nvCxnSpPr>
          <p:cNvPr id="571" name="Straight Connector 42">
            <a:extLst>
              <a:ext uri="{FF2B5EF4-FFF2-40B4-BE49-F238E27FC236}">
                <a16:creationId xmlns:a16="http://schemas.microsoft.com/office/drawing/2014/main" id="{6D359C0C-C85E-774D-B144-5FE093278833}"/>
              </a:ext>
            </a:extLst>
          </p:cNvPr>
          <p:cNvCxnSpPr>
            <a:cxnSpLocks noChangeShapeType="1"/>
          </p:cNvCxnSpPr>
          <p:nvPr/>
        </p:nvCxnSpPr>
        <p:spPr bwMode="auto">
          <a:xfrm flipV="1">
            <a:off x="4115946" y="2845927"/>
            <a:ext cx="17383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cxnSp>
      <p:grpSp>
        <p:nvGrpSpPr>
          <p:cNvPr id="572" name="Group 43">
            <a:extLst>
              <a:ext uri="{FF2B5EF4-FFF2-40B4-BE49-F238E27FC236}">
                <a16:creationId xmlns:a16="http://schemas.microsoft.com/office/drawing/2014/main" id="{4A6CEE30-BDD0-7946-9B0F-803AE1C976BE}"/>
              </a:ext>
            </a:extLst>
          </p:cNvPr>
          <p:cNvGrpSpPr>
            <a:grpSpLocks/>
          </p:cNvGrpSpPr>
          <p:nvPr/>
        </p:nvGrpSpPr>
        <p:grpSpPr bwMode="auto">
          <a:xfrm>
            <a:off x="5462146" y="2658602"/>
            <a:ext cx="1058862" cy="384175"/>
            <a:chOff x="5142253" y="5649029"/>
            <a:chExt cx="1304545" cy="695633"/>
          </a:xfrm>
        </p:grpSpPr>
        <p:grpSp>
          <p:nvGrpSpPr>
            <p:cNvPr id="575" name="Group 92">
              <a:extLst>
                <a:ext uri="{FF2B5EF4-FFF2-40B4-BE49-F238E27FC236}">
                  <a16:creationId xmlns:a16="http://schemas.microsoft.com/office/drawing/2014/main" id="{56AFEAE4-C1CE-3F40-AC66-240FF7FDB7F7}"/>
                </a:ext>
              </a:extLst>
            </p:cNvPr>
            <p:cNvGrpSpPr>
              <a:grpSpLocks/>
            </p:cNvGrpSpPr>
            <p:nvPr/>
          </p:nvGrpSpPr>
          <p:grpSpPr bwMode="auto">
            <a:xfrm>
              <a:off x="5147271" y="5649029"/>
              <a:ext cx="1276350" cy="695633"/>
              <a:chOff x="4981575" y="5851547"/>
              <a:chExt cx="1276350" cy="695633"/>
            </a:xfrm>
          </p:grpSpPr>
          <p:pic>
            <p:nvPicPr>
              <p:cNvPr id="610" name="Picture 95">
                <a:extLst>
                  <a:ext uri="{FF2B5EF4-FFF2-40B4-BE49-F238E27FC236}">
                    <a16:creationId xmlns:a16="http://schemas.microsoft.com/office/drawing/2014/main" id="{CEDF4319-A88D-A940-804B-AC346DEE112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981575" y="5944151"/>
                <a:ext cx="1276350" cy="603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2" name="Rectangle 96">
                <a:extLst>
                  <a:ext uri="{FF2B5EF4-FFF2-40B4-BE49-F238E27FC236}">
                    <a16:creationId xmlns:a16="http://schemas.microsoft.com/office/drawing/2014/main" id="{17D711C1-F78A-184C-A078-3172E5CB6498}"/>
                  </a:ext>
                </a:extLst>
              </p:cNvPr>
              <p:cNvSpPr>
                <a:spLocks noChangeArrowheads="1"/>
              </p:cNvSpPr>
              <p:nvPr/>
            </p:nvSpPr>
            <p:spPr bwMode="auto">
              <a:xfrm>
                <a:off x="6065959" y="6205112"/>
                <a:ext cx="44985" cy="224212"/>
              </a:xfrm>
              <a:prstGeom prst="rect">
                <a:avLst/>
              </a:prstGeom>
              <a:solidFill>
                <a:srgbClr val="BFBFB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sp>
            <p:nvSpPr>
              <p:cNvPr id="613" name="Rectangle 97">
                <a:extLst>
                  <a:ext uri="{FF2B5EF4-FFF2-40B4-BE49-F238E27FC236}">
                    <a16:creationId xmlns:a16="http://schemas.microsoft.com/office/drawing/2014/main" id="{1402FE3D-A97D-524F-8333-BD24578CB1DD}"/>
                  </a:ext>
                </a:extLst>
              </p:cNvPr>
              <p:cNvSpPr>
                <a:spLocks noChangeArrowheads="1"/>
              </p:cNvSpPr>
              <p:nvPr/>
            </p:nvSpPr>
            <p:spPr bwMode="auto">
              <a:xfrm>
                <a:off x="5178008" y="6228108"/>
                <a:ext cx="62587" cy="224212"/>
              </a:xfrm>
              <a:prstGeom prst="rect">
                <a:avLst/>
              </a:prstGeom>
              <a:solidFill>
                <a:srgbClr val="BFBFB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sp>
            <p:nvSpPr>
              <p:cNvPr id="614" name="Oval 98">
                <a:extLst>
                  <a:ext uri="{FF2B5EF4-FFF2-40B4-BE49-F238E27FC236}">
                    <a16:creationId xmlns:a16="http://schemas.microsoft.com/office/drawing/2014/main" id="{2F4C992E-03ED-7948-B43B-45D80D717A31}"/>
                  </a:ext>
                </a:extLst>
              </p:cNvPr>
              <p:cNvSpPr>
                <a:spLocks noChangeArrowheads="1"/>
              </p:cNvSpPr>
              <p:nvPr/>
            </p:nvSpPr>
            <p:spPr bwMode="auto">
              <a:xfrm>
                <a:off x="5023497" y="5851547"/>
                <a:ext cx="1196974" cy="494417"/>
              </a:xfrm>
              <a:prstGeom prst="ellipse">
                <a:avLst/>
              </a:prstGeom>
              <a:solidFill>
                <a:srgbClr val="EAEAEA"/>
              </a:solidFill>
              <a:ln>
                <a:noFill/>
              </a:ln>
              <a:extLst>
                <a:ext uri="{91240B29-F687-4F45-9708-019B960494DF}">
                  <a14:hiddenLine xmlns:a14="http://schemas.microsoft.com/office/drawing/2010/main" w="25400">
                    <a:solidFill>
                      <a:srgbClr val="000000"/>
                    </a:solidFill>
                    <a:round/>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grpSp>
        <p:sp>
          <p:nvSpPr>
            <p:cNvPr id="576" name="Rectangle 93">
              <a:extLst>
                <a:ext uri="{FF2B5EF4-FFF2-40B4-BE49-F238E27FC236}">
                  <a16:creationId xmlns:a16="http://schemas.microsoft.com/office/drawing/2014/main" id="{3B805206-0A18-7443-AE9C-D5984F31A3AD}"/>
                </a:ext>
              </a:extLst>
            </p:cNvPr>
            <p:cNvSpPr>
              <a:spLocks noChangeArrowheads="1"/>
            </p:cNvSpPr>
            <p:nvPr/>
          </p:nvSpPr>
          <p:spPr bwMode="auto">
            <a:xfrm>
              <a:off x="6360741" y="5695021"/>
              <a:ext cx="86057" cy="126479"/>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sp>
          <p:nvSpPr>
            <p:cNvPr id="609" name="Rectangle 94">
              <a:extLst>
                <a:ext uri="{FF2B5EF4-FFF2-40B4-BE49-F238E27FC236}">
                  <a16:creationId xmlns:a16="http://schemas.microsoft.com/office/drawing/2014/main" id="{6EF03B21-1655-B64C-A29C-130E0C70CB50}"/>
                </a:ext>
              </a:extLst>
            </p:cNvPr>
            <p:cNvSpPr>
              <a:spLocks noChangeArrowheads="1"/>
            </p:cNvSpPr>
            <p:nvPr/>
          </p:nvSpPr>
          <p:spPr bwMode="auto">
            <a:xfrm>
              <a:off x="5142253" y="5700770"/>
              <a:ext cx="86057" cy="126479"/>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grpSp>
      <p:grpSp>
        <p:nvGrpSpPr>
          <p:cNvPr id="631" name="Group 44">
            <a:extLst>
              <a:ext uri="{FF2B5EF4-FFF2-40B4-BE49-F238E27FC236}">
                <a16:creationId xmlns:a16="http://schemas.microsoft.com/office/drawing/2014/main" id="{7C2ADEA2-72C5-7D49-88A5-BE85AF82D508}"/>
              </a:ext>
            </a:extLst>
          </p:cNvPr>
          <p:cNvGrpSpPr>
            <a:grpSpLocks/>
          </p:cNvGrpSpPr>
          <p:nvPr/>
        </p:nvGrpSpPr>
        <p:grpSpPr bwMode="auto">
          <a:xfrm>
            <a:off x="5416108" y="1579102"/>
            <a:ext cx="1092200" cy="303212"/>
            <a:chOff x="5128542" y="4838701"/>
            <a:chExt cx="1300833" cy="530211"/>
          </a:xfrm>
        </p:grpSpPr>
        <p:pic>
          <p:nvPicPr>
            <p:cNvPr id="632" name="Picture 2">
              <a:extLst>
                <a:ext uri="{FF2B5EF4-FFF2-40B4-BE49-F238E27FC236}">
                  <a16:creationId xmlns:a16="http://schemas.microsoft.com/office/drawing/2014/main" id="{E72DF6A2-4516-224F-8D11-E4AF1D626A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28542" y="4838701"/>
              <a:ext cx="1300833" cy="49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3" name="Rectangle 90">
              <a:extLst>
                <a:ext uri="{FF2B5EF4-FFF2-40B4-BE49-F238E27FC236}">
                  <a16:creationId xmlns:a16="http://schemas.microsoft.com/office/drawing/2014/main" id="{3E0650D2-915C-4141-86AF-D3B267B41C24}"/>
                </a:ext>
              </a:extLst>
            </p:cNvPr>
            <p:cNvSpPr>
              <a:spLocks noChangeArrowheads="1"/>
            </p:cNvSpPr>
            <p:nvPr/>
          </p:nvSpPr>
          <p:spPr bwMode="auto">
            <a:xfrm>
              <a:off x="6327275" y="5219009"/>
              <a:ext cx="86974" cy="127695"/>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sp>
          <p:nvSpPr>
            <p:cNvPr id="634" name="Rectangle 91">
              <a:extLst>
                <a:ext uri="{FF2B5EF4-FFF2-40B4-BE49-F238E27FC236}">
                  <a16:creationId xmlns:a16="http://schemas.microsoft.com/office/drawing/2014/main" id="{B3CD2B87-5709-5A4D-BBAA-A7822A6AAB4C}"/>
                </a:ext>
              </a:extLst>
            </p:cNvPr>
            <p:cNvSpPr>
              <a:spLocks noChangeArrowheads="1"/>
            </p:cNvSpPr>
            <p:nvPr/>
          </p:nvSpPr>
          <p:spPr bwMode="auto">
            <a:xfrm>
              <a:off x="5158794" y="5241217"/>
              <a:ext cx="86974" cy="127695"/>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grpSp>
      <p:grpSp>
        <p:nvGrpSpPr>
          <p:cNvPr id="635" name="Group 45">
            <a:extLst>
              <a:ext uri="{FF2B5EF4-FFF2-40B4-BE49-F238E27FC236}">
                <a16:creationId xmlns:a16="http://schemas.microsoft.com/office/drawing/2014/main" id="{B0C3E47A-9752-C14E-96E9-78DBC0436237}"/>
              </a:ext>
            </a:extLst>
          </p:cNvPr>
          <p:cNvGrpSpPr>
            <a:grpSpLocks/>
          </p:cNvGrpSpPr>
          <p:nvPr/>
        </p:nvGrpSpPr>
        <p:grpSpPr bwMode="auto">
          <a:xfrm>
            <a:off x="3333308" y="1241761"/>
            <a:ext cx="1092200" cy="656427"/>
            <a:chOff x="2387973" y="4309243"/>
            <a:chExt cx="1771787" cy="1282262"/>
          </a:xfrm>
        </p:grpSpPr>
        <p:pic>
          <p:nvPicPr>
            <p:cNvPr id="636" name="Picture 9">
              <a:extLst>
                <a:ext uri="{FF2B5EF4-FFF2-40B4-BE49-F238E27FC236}">
                  <a16:creationId xmlns:a16="http://schemas.microsoft.com/office/drawing/2014/main" id="{302CBE9C-7997-784F-91BA-C204727BA4D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83481" y="4309243"/>
              <a:ext cx="1285463" cy="128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7" name="Rectangle 636">
              <a:extLst>
                <a:ext uri="{FF2B5EF4-FFF2-40B4-BE49-F238E27FC236}">
                  <a16:creationId xmlns:a16="http://schemas.microsoft.com/office/drawing/2014/main" id="{4002DC24-F0AD-4E40-A082-62B143F95C31}"/>
                </a:ext>
              </a:extLst>
            </p:cNvPr>
            <p:cNvSpPr/>
            <p:nvPr/>
          </p:nvSpPr>
          <p:spPr>
            <a:xfrm rot="11601822">
              <a:off x="2387973" y="5128665"/>
              <a:ext cx="1771787" cy="422704"/>
            </a:xfrm>
            <a:prstGeom prst="rect">
              <a:avLst/>
            </a:prstGeom>
            <a:gradFill>
              <a:gsLst>
                <a:gs pos="0">
                  <a:sysClr val="window" lastClr="FFFFFF"/>
                </a:gs>
                <a:gs pos="50000">
                  <a:sysClr val="window" lastClr="FFFFFF">
                    <a:alpha val="48000"/>
                  </a:sysClr>
                </a:gs>
                <a:gs pos="100000">
                  <a:sysClr val="window" lastClr="FFFFFF">
                    <a:alpha val="0"/>
                  </a:sysClr>
                </a:gs>
              </a:gsLst>
              <a:lin ang="5400000" scaled="0"/>
            </a:gradFill>
            <a:ln w="25400" cap="flat" cmpd="sng" algn="ctr">
              <a:noFill/>
              <a:prstDash val="solid"/>
            </a:ln>
            <a:effec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defRPr/>
              </a:pPr>
              <a:endParaRPr lang="en-US" sz="1800" dirty="0">
                <a:solidFill>
                  <a:srgbClr val="FFFFFF"/>
                </a:solidFill>
                <a:latin typeface="Calibri" charset="0"/>
              </a:endParaRPr>
            </a:p>
          </p:txBody>
        </p:sp>
      </p:grpSp>
      <p:sp>
        <p:nvSpPr>
          <p:cNvPr id="638" name="TextBox 637">
            <a:extLst>
              <a:ext uri="{FF2B5EF4-FFF2-40B4-BE49-F238E27FC236}">
                <a16:creationId xmlns:a16="http://schemas.microsoft.com/office/drawing/2014/main" id="{AF85F6AD-7423-A74F-BD1A-46B55A2B1C21}"/>
              </a:ext>
            </a:extLst>
          </p:cNvPr>
          <p:cNvSpPr txBox="1"/>
          <p:nvPr/>
        </p:nvSpPr>
        <p:spPr>
          <a:xfrm>
            <a:off x="4474721" y="2879264"/>
            <a:ext cx="752129" cy="400110"/>
          </a:xfrm>
          <a:prstGeom prst="rect">
            <a:avLst/>
          </a:prstGeom>
          <a:noFill/>
        </p:spPr>
        <p:txBody>
          <a:bodyPr wrap="none">
            <a:spAutoFit/>
          </a:bodyPr>
          <a:lstStyle/>
          <a:p>
            <a:pPr eaLnBrk="1" fontAlgn="auto" hangingPunct="1">
              <a:spcBef>
                <a:spcPts val="0"/>
              </a:spcBef>
              <a:spcAft>
                <a:spcPts val="0"/>
              </a:spcAft>
              <a:defRPr/>
            </a:pPr>
            <a:r>
              <a:rPr lang="en-US" sz="2000" i="1" kern="0" dirty="0">
                <a:solidFill>
                  <a:prstClr val="black"/>
                </a:solidFill>
                <a:latin typeface="Calibri"/>
                <a:ea typeface="+mn-ea"/>
              </a:rPr>
              <a:t>R</a:t>
            </a:r>
            <a:r>
              <a:rPr lang="en-US" sz="2000" kern="0" dirty="0">
                <a:solidFill>
                  <a:prstClr val="black"/>
                </a:solidFill>
                <a:latin typeface="Calibri"/>
                <a:ea typeface="+mn-ea"/>
              </a:rPr>
              <a:t> bps</a:t>
            </a:r>
          </a:p>
        </p:txBody>
      </p:sp>
      <p:cxnSp>
        <p:nvCxnSpPr>
          <p:cNvPr id="639" name="Straight Connector 47">
            <a:extLst>
              <a:ext uri="{FF2B5EF4-FFF2-40B4-BE49-F238E27FC236}">
                <a16:creationId xmlns:a16="http://schemas.microsoft.com/office/drawing/2014/main" id="{28502E62-6C0C-4746-A594-30C5C1D86450}"/>
              </a:ext>
            </a:extLst>
          </p:cNvPr>
          <p:cNvCxnSpPr>
            <a:cxnSpLocks noChangeShapeType="1"/>
          </p:cNvCxnSpPr>
          <p:nvPr/>
        </p:nvCxnSpPr>
        <p:spPr bwMode="auto">
          <a:xfrm flipV="1">
            <a:off x="6506721" y="2850689"/>
            <a:ext cx="17383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cxnSp>
      <p:grpSp>
        <p:nvGrpSpPr>
          <p:cNvPr id="641" name="Group 100">
            <a:extLst>
              <a:ext uri="{FF2B5EF4-FFF2-40B4-BE49-F238E27FC236}">
                <a16:creationId xmlns:a16="http://schemas.microsoft.com/office/drawing/2014/main" id="{3292F663-26EC-ED4F-BCEF-CD558D1BAFCB}"/>
              </a:ext>
            </a:extLst>
          </p:cNvPr>
          <p:cNvGrpSpPr>
            <a:grpSpLocks/>
          </p:cNvGrpSpPr>
          <p:nvPr/>
        </p:nvGrpSpPr>
        <p:grpSpPr bwMode="auto">
          <a:xfrm>
            <a:off x="7484621" y="2042652"/>
            <a:ext cx="1477962" cy="1284287"/>
            <a:chOff x="-44" y="1473"/>
            <a:chExt cx="981" cy="1105"/>
          </a:xfrm>
        </p:grpSpPr>
        <p:pic>
          <p:nvPicPr>
            <p:cNvPr id="642" name="Picture 101" descr="desktop_computer_stylized_medium">
              <a:extLst>
                <a:ext uri="{FF2B5EF4-FFF2-40B4-BE49-F238E27FC236}">
                  <a16:creationId xmlns:a16="http://schemas.microsoft.com/office/drawing/2014/main" id="{87AF4848-891E-F04B-B187-AD33D9D8FB1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3" name="Freeform 102">
              <a:extLst>
                <a:ext uri="{FF2B5EF4-FFF2-40B4-BE49-F238E27FC236}">
                  <a16:creationId xmlns:a16="http://schemas.microsoft.com/office/drawing/2014/main" id="{F0C5CEDF-AF9D-8E40-AB03-374EC6EBEDF6}"/>
                </a:ext>
              </a:extLst>
            </p:cNvPr>
            <p:cNvSpPr>
              <a:spLocks/>
            </p:cNvSpPr>
            <p:nvPr/>
          </p:nvSpPr>
          <p:spPr bwMode="auto">
            <a:xfrm flipH="1">
              <a:off x="374" y="1580"/>
              <a:ext cx="474" cy="505"/>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ysClr val="window" lastClr="FFFFFF"/>
                </a:gs>
              </a:gsLst>
              <a:lin ang="2700000" scaled="1"/>
            </a:gradFill>
            <a:ln w="9525" cap="flat" cmpd="sng">
              <a:noFill/>
              <a:prstDash val="solid"/>
              <a:round/>
              <a:headEnd/>
              <a:tailEnd/>
            </a:ln>
          </p:spPr>
          <p:txBody>
            <a:bodyPr wrap="none"/>
            <a:lstStyle/>
            <a:p>
              <a:pPr eaLnBrk="1" fontAlgn="auto" hangingPunct="1">
                <a:spcBef>
                  <a:spcPts val="0"/>
                </a:spcBef>
                <a:spcAft>
                  <a:spcPts val="0"/>
                </a:spcAft>
                <a:defRPr/>
              </a:pPr>
              <a:endParaRPr lang="en-US" sz="1800" kern="0" dirty="0">
                <a:solidFill>
                  <a:prstClr val="black"/>
                </a:solidFill>
                <a:latin typeface="Calibri"/>
                <a:ea typeface="+mn-ea"/>
              </a:endParaRPr>
            </a:p>
          </p:txBody>
        </p:sp>
      </p:grpSp>
      <p:sp>
        <p:nvSpPr>
          <p:cNvPr id="644" name="TextBox 643">
            <a:extLst>
              <a:ext uri="{FF2B5EF4-FFF2-40B4-BE49-F238E27FC236}">
                <a16:creationId xmlns:a16="http://schemas.microsoft.com/office/drawing/2014/main" id="{EA272014-13A0-D54C-9A64-D4DFADFF846A}"/>
              </a:ext>
            </a:extLst>
          </p:cNvPr>
          <p:cNvSpPr txBox="1"/>
          <p:nvPr/>
        </p:nvSpPr>
        <p:spPr>
          <a:xfrm>
            <a:off x="8967346" y="2656489"/>
            <a:ext cx="1367682" cy="400110"/>
          </a:xfrm>
          <a:prstGeom prst="rect">
            <a:avLst/>
          </a:prstGeom>
          <a:noFill/>
        </p:spPr>
        <p:txBody>
          <a:bodyPr wrap="none">
            <a:spAutoFit/>
          </a:bodyPr>
          <a:lstStyle/>
          <a:p>
            <a:pPr eaLnBrk="1" fontAlgn="auto" hangingPunct="1">
              <a:spcBef>
                <a:spcPts val="0"/>
              </a:spcBef>
              <a:spcAft>
                <a:spcPts val="0"/>
              </a:spcAft>
              <a:defRPr/>
            </a:pPr>
            <a:r>
              <a:rPr lang="en-US" sz="2000" kern="0" dirty="0">
                <a:solidFill>
                  <a:prstClr val="black"/>
                </a:solidFill>
                <a:latin typeface="Calibri"/>
                <a:ea typeface="+mn-ea"/>
              </a:rPr>
              <a:t>destination</a:t>
            </a:r>
            <a:endParaRPr lang="en-US" sz="1800" kern="0" dirty="0">
              <a:solidFill>
                <a:prstClr val="black"/>
              </a:solidFill>
              <a:latin typeface="Calibri"/>
              <a:ea typeface="+mn-ea"/>
            </a:endParaRPr>
          </a:p>
        </p:txBody>
      </p:sp>
      <p:sp>
        <p:nvSpPr>
          <p:cNvPr id="645" name="TextBox 52">
            <a:extLst>
              <a:ext uri="{FF2B5EF4-FFF2-40B4-BE49-F238E27FC236}">
                <a16:creationId xmlns:a16="http://schemas.microsoft.com/office/drawing/2014/main" id="{E422D171-4947-C94A-BE0E-147703EE27BA}"/>
              </a:ext>
            </a:extLst>
          </p:cNvPr>
          <p:cNvSpPr txBox="1">
            <a:spLocks noChangeArrowheads="1"/>
          </p:cNvSpPr>
          <p:nvPr/>
        </p:nvSpPr>
        <p:spPr bwMode="auto">
          <a:xfrm>
            <a:off x="3934971" y="2545889"/>
            <a:ext cx="234950" cy="280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1600">
                <a:solidFill>
                  <a:srgbClr val="000000"/>
                </a:solidFill>
                <a:latin typeface="Calibri" panose="020F0502020204030204" pitchFamily="34" charset="0"/>
              </a:rPr>
              <a:t>1</a:t>
            </a:r>
          </a:p>
        </p:txBody>
      </p:sp>
      <p:sp>
        <p:nvSpPr>
          <p:cNvPr id="646" name="TextBox 53">
            <a:extLst>
              <a:ext uri="{FF2B5EF4-FFF2-40B4-BE49-F238E27FC236}">
                <a16:creationId xmlns:a16="http://schemas.microsoft.com/office/drawing/2014/main" id="{D37BB4E5-D54C-B346-AEBA-6A176B85DF44}"/>
              </a:ext>
            </a:extLst>
          </p:cNvPr>
          <p:cNvSpPr txBox="1">
            <a:spLocks noChangeArrowheads="1"/>
          </p:cNvSpPr>
          <p:nvPr/>
        </p:nvSpPr>
        <p:spPr bwMode="auto">
          <a:xfrm>
            <a:off x="3738121" y="2552239"/>
            <a:ext cx="234950" cy="280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1600">
                <a:solidFill>
                  <a:srgbClr val="000000"/>
                </a:solidFill>
                <a:latin typeface="Calibri" panose="020F0502020204030204" pitchFamily="34" charset="0"/>
              </a:rPr>
              <a:t>2</a:t>
            </a:r>
          </a:p>
        </p:txBody>
      </p:sp>
      <p:sp>
        <p:nvSpPr>
          <p:cNvPr id="647" name="TextBox 54">
            <a:extLst>
              <a:ext uri="{FF2B5EF4-FFF2-40B4-BE49-F238E27FC236}">
                <a16:creationId xmlns:a16="http://schemas.microsoft.com/office/drawing/2014/main" id="{E3E1F346-ABA7-6940-997A-8CCE658AC343}"/>
              </a:ext>
            </a:extLst>
          </p:cNvPr>
          <p:cNvSpPr txBox="1">
            <a:spLocks noChangeArrowheads="1"/>
          </p:cNvSpPr>
          <p:nvPr/>
        </p:nvSpPr>
        <p:spPr bwMode="auto">
          <a:xfrm>
            <a:off x="3550796" y="2549064"/>
            <a:ext cx="234950" cy="280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1600">
                <a:solidFill>
                  <a:srgbClr val="000000"/>
                </a:solidFill>
                <a:latin typeface="Calibri" panose="020F0502020204030204" pitchFamily="34" charset="0"/>
              </a:rPr>
              <a:t>3</a:t>
            </a:r>
          </a:p>
        </p:txBody>
      </p:sp>
      <p:grpSp>
        <p:nvGrpSpPr>
          <p:cNvPr id="648" name="Group 55">
            <a:extLst>
              <a:ext uri="{FF2B5EF4-FFF2-40B4-BE49-F238E27FC236}">
                <a16:creationId xmlns:a16="http://schemas.microsoft.com/office/drawing/2014/main" id="{2E7741F3-2FE7-BA49-B72C-20AD1F1DE51B}"/>
              </a:ext>
            </a:extLst>
          </p:cNvPr>
          <p:cNvGrpSpPr>
            <a:grpSpLocks/>
          </p:cNvGrpSpPr>
          <p:nvPr/>
        </p:nvGrpSpPr>
        <p:grpSpPr bwMode="auto">
          <a:xfrm>
            <a:off x="3284096" y="1844214"/>
            <a:ext cx="2935287" cy="841375"/>
            <a:chOff x="593766" y="5264055"/>
            <a:chExt cx="3597129" cy="1011695"/>
          </a:xfrm>
        </p:grpSpPr>
        <p:grpSp>
          <p:nvGrpSpPr>
            <p:cNvPr id="649" name="Group 56">
              <a:extLst>
                <a:ext uri="{FF2B5EF4-FFF2-40B4-BE49-F238E27FC236}">
                  <a16:creationId xmlns:a16="http://schemas.microsoft.com/office/drawing/2014/main" id="{44B633EE-7AA3-B744-A7A9-478E5F6A61A6}"/>
                </a:ext>
              </a:extLst>
            </p:cNvPr>
            <p:cNvGrpSpPr>
              <a:grpSpLocks/>
            </p:cNvGrpSpPr>
            <p:nvPr/>
          </p:nvGrpSpPr>
          <p:grpSpPr bwMode="auto">
            <a:xfrm>
              <a:off x="3527077" y="5264055"/>
              <a:ext cx="617671" cy="927313"/>
              <a:chOff x="2105936" y="5387204"/>
              <a:chExt cx="617671" cy="927313"/>
            </a:xfrm>
          </p:grpSpPr>
          <p:sp>
            <p:nvSpPr>
              <p:cNvPr id="674" name="Rectangle 77">
                <a:extLst>
                  <a:ext uri="{FF2B5EF4-FFF2-40B4-BE49-F238E27FC236}">
                    <a16:creationId xmlns:a16="http://schemas.microsoft.com/office/drawing/2014/main" id="{4422B562-DF60-A945-828A-2082F790F6FF}"/>
                  </a:ext>
                </a:extLst>
              </p:cNvPr>
              <p:cNvSpPr>
                <a:spLocks noChangeArrowheads="1"/>
              </p:cNvSpPr>
              <p:nvPr/>
            </p:nvSpPr>
            <p:spPr bwMode="auto">
              <a:xfrm>
                <a:off x="2577155" y="6049578"/>
                <a:ext cx="140072" cy="265331"/>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sp>
            <p:nvSpPr>
              <p:cNvPr id="675" name="Freeform 674">
                <a:extLst>
                  <a:ext uri="{FF2B5EF4-FFF2-40B4-BE49-F238E27FC236}">
                    <a16:creationId xmlns:a16="http://schemas.microsoft.com/office/drawing/2014/main" id="{F6D00EDF-29D0-5A40-BF0F-575802DDF3F2}"/>
                  </a:ext>
                </a:extLst>
              </p:cNvPr>
              <p:cNvSpPr/>
              <p:nvPr/>
            </p:nvSpPr>
            <p:spPr>
              <a:xfrm>
                <a:off x="2110248" y="5705984"/>
                <a:ext cx="466907" cy="608925"/>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0 w 967997"/>
                  <a:gd name="connsiteY0" fmla="*/ 0 h 2138362"/>
                  <a:gd name="connsiteX1" fmla="*/ 0 w 967997"/>
                  <a:gd name="connsiteY1" fmla="*/ 1190625 h 2138362"/>
                  <a:gd name="connsiteX2" fmla="*/ 966787 w 967997"/>
                  <a:gd name="connsiteY2" fmla="*/ 2138362 h 2138362"/>
                  <a:gd name="connsiteX3" fmla="*/ 967618 w 967997"/>
                  <a:gd name="connsiteY3" fmla="*/ 1495143 h 2138362"/>
                  <a:gd name="connsiteX4" fmla="*/ 0 w 967997"/>
                  <a:gd name="connsiteY4" fmla="*/ 0 h 2138362"/>
                  <a:gd name="connsiteX0" fmla="*/ 0 w 967997"/>
                  <a:gd name="connsiteY0" fmla="*/ 0 h 1424095"/>
                  <a:gd name="connsiteX1" fmla="*/ 0 w 967997"/>
                  <a:gd name="connsiteY1" fmla="*/ 476358 h 1424095"/>
                  <a:gd name="connsiteX2" fmla="*/ 966787 w 967997"/>
                  <a:gd name="connsiteY2" fmla="*/ 1424095 h 1424095"/>
                  <a:gd name="connsiteX3" fmla="*/ 967618 w 967997"/>
                  <a:gd name="connsiteY3" fmla="*/ 780876 h 1424095"/>
                  <a:gd name="connsiteX4" fmla="*/ 0 w 967997"/>
                  <a:gd name="connsiteY4" fmla="*/ 0 h 142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997" h="1424095">
                    <a:moveTo>
                      <a:pt x="0" y="0"/>
                    </a:moveTo>
                    <a:lnTo>
                      <a:pt x="0" y="476358"/>
                    </a:lnTo>
                    <a:lnTo>
                      <a:pt x="966787" y="1424095"/>
                    </a:lnTo>
                    <a:cubicBezTo>
                      <a:pt x="965200" y="958958"/>
                      <a:pt x="969205" y="1246013"/>
                      <a:pt x="967618" y="780876"/>
                    </a:cubicBezTo>
                    <a:lnTo>
                      <a:pt x="0" y="0"/>
                    </a:lnTo>
                    <a:close/>
                  </a:path>
                </a:pathLst>
              </a:cu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76" name="Freeform 675">
                <a:extLst>
                  <a:ext uri="{FF2B5EF4-FFF2-40B4-BE49-F238E27FC236}">
                    <a16:creationId xmlns:a16="http://schemas.microsoft.com/office/drawing/2014/main" id="{9C8ACF1B-C011-104F-BA26-14933C6E952A}"/>
                  </a:ext>
                </a:extLst>
              </p:cNvPr>
              <p:cNvSpPr/>
              <p:nvPr/>
            </p:nvSpPr>
            <p:spPr>
              <a:xfrm>
                <a:off x="2106358" y="5688804"/>
                <a:ext cx="616705" cy="355048"/>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77416"/>
                  <a:gd name="connsiteY0" fmla="*/ 0 h 813350"/>
                  <a:gd name="connsiteX1" fmla="*/ 0 w 1277416"/>
                  <a:gd name="connsiteY1" fmla="*/ 9439 h 813350"/>
                  <a:gd name="connsiteX2" fmla="*/ 952500 w 1277416"/>
                  <a:gd name="connsiteY2" fmla="*/ 752735 h 813350"/>
                  <a:gd name="connsiteX3" fmla="*/ 1277416 w 1277416"/>
                  <a:gd name="connsiteY3" fmla="*/ 813350 h 813350"/>
                  <a:gd name="connsiteX4" fmla="*/ 233363 w 1277416"/>
                  <a:gd name="connsiteY4" fmla="*/ 0 h 813350"/>
                  <a:gd name="connsiteX0" fmla="*/ 233363 w 1277416"/>
                  <a:gd name="connsiteY0" fmla="*/ 0 h 814795"/>
                  <a:gd name="connsiteX1" fmla="*/ 0 w 1277416"/>
                  <a:gd name="connsiteY1" fmla="*/ 9439 h 814795"/>
                  <a:gd name="connsiteX2" fmla="*/ 980474 w 1277416"/>
                  <a:gd name="connsiteY2" fmla="*/ 814795 h 814795"/>
                  <a:gd name="connsiteX3" fmla="*/ 1277416 w 1277416"/>
                  <a:gd name="connsiteY3" fmla="*/ 813350 h 814795"/>
                  <a:gd name="connsiteX4" fmla="*/ 233363 w 1277416"/>
                  <a:gd name="connsiteY4" fmla="*/ 0 h 81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416" h="814795">
                    <a:moveTo>
                      <a:pt x="233363" y="0"/>
                    </a:moveTo>
                    <a:lnTo>
                      <a:pt x="0" y="9439"/>
                    </a:lnTo>
                    <a:lnTo>
                      <a:pt x="980474" y="814795"/>
                    </a:lnTo>
                    <a:cubicBezTo>
                      <a:pt x="1088424" y="806858"/>
                      <a:pt x="1074215" y="806999"/>
                      <a:pt x="1277416" y="813350"/>
                    </a:cubicBezTo>
                    <a:lnTo>
                      <a:pt x="233363" y="0"/>
                    </a:lnTo>
                    <a:close/>
                  </a:path>
                </a:pathLst>
              </a:custGeom>
              <a:solidFill>
                <a:srgbClr val="0099CC"/>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77" name="Freeform 676">
                <a:extLst>
                  <a:ext uri="{FF2B5EF4-FFF2-40B4-BE49-F238E27FC236}">
                    <a16:creationId xmlns:a16="http://schemas.microsoft.com/office/drawing/2014/main" id="{8EDE706E-408F-E541-8404-8860138BC4FC}"/>
                  </a:ext>
                </a:extLst>
              </p:cNvPr>
              <p:cNvSpPr/>
              <p:nvPr/>
            </p:nvSpPr>
            <p:spPr>
              <a:xfrm>
                <a:off x="2114139" y="5396749"/>
                <a:ext cx="595306" cy="647102"/>
              </a:xfrm>
              <a:custGeom>
                <a:avLst/>
                <a:gdLst>
                  <a:gd name="connsiteX0" fmla="*/ 5411 w 597877"/>
                  <a:gd name="connsiteY0" fmla="*/ 13527 h 646573"/>
                  <a:gd name="connsiteX1" fmla="*/ 0 w 597877"/>
                  <a:gd name="connsiteY1" fmla="*/ 305702 h 646573"/>
                  <a:gd name="connsiteX2" fmla="*/ 457200 w 597877"/>
                  <a:gd name="connsiteY2" fmla="*/ 646573 h 646573"/>
                  <a:gd name="connsiteX3" fmla="*/ 597877 w 597877"/>
                  <a:gd name="connsiteY3" fmla="*/ 646573 h 646573"/>
                  <a:gd name="connsiteX4" fmla="*/ 595172 w 597877"/>
                  <a:gd name="connsiteY4" fmla="*/ 321934 h 646573"/>
                  <a:gd name="connsiteX5" fmla="*/ 110919 w 597877"/>
                  <a:gd name="connsiteY5" fmla="*/ 0 h 646573"/>
                  <a:gd name="connsiteX6" fmla="*/ 5411 w 597877"/>
                  <a:gd name="connsiteY6" fmla="*/ 13527 h 646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877" h="646573">
                    <a:moveTo>
                      <a:pt x="5411" y="13527"/>
                    </a:moveTo>
                    <a:lnTo>
                      <a:pt x="0" y="305702"/>
                    </a:lnTo>
                    <a:lnTo>
                      <a:pt x="457200" y="646573"/>
                    </a:lnTo>
                    <a:lnTo>
                      <a:pt x="597877" y="646573"/>
                    </a:lnTo>
                    <a:cubicBezTo>
                      <a:pt x="596975" y="538360"/>
                      <a:pt x="596074" y="430147"/>
                      <a:pt x="595172" y="321934"/>
                    </a:cubicBezTo>
                    <a:lnTo>
                      <a:pt x="110919" y="0"/>
                    </a:lnTo>
                    <a:lnTo>
                      <a:pt x="5411" y="13527"/>
                    </a:lnTo>
                    <a:close/>
                  </a:path>
                </a:pathLst>
              </a:custGeom>
              <a:noFill/>
              <a:ln w="12700" cap="flat" cmpd="sng" algn="ctr">
                <a:solidFill>
                  <a:sysClr val="windowText" lastClr="000000"/>
                </a:solidFill>
                <a:prstDash val="sysDash"/>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cxnSp>
            <p:nvCxnSpPr>
              <p:cNvPr id="678" name="Straight Connector 81">
                <a:extLst>
                  <a:ext uri="{FF2B5EF4-FFF2-40B4-BE49-F238E27FC236}">
                    <a16:creationId xmlns:a16="http://schemas.microsoft.com/office/drawing/2014/main" id="{89FBE44D-B292-AB4C-A5AA-BA7902F75FC7}"/>
                  </a:ext>
                </a:extLst>
              </p:cNvPr>
              <p:cNvCxnSpPr>
                <a:cxnSpLocks noChangeShapeType="1"/>
                <a:stCxn id="677" idx="0"/>
              </p:cNvCxnSpPr>
              <p:nvPr/>
            </p:nvCxnSpPr>
            <p:spPr bwMode="auto">
              <a:xfrm>
                <a:off x="2118270" y="5410651"/>
                <a:ext cx="446379" cy="311112"/>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9" name="Straight Connector 82">
                <a:extLst>
                  <a:ext uri="{FF2B5EF4-FFF2-40B4-BE49-F238E27FC236}">
                    <a16:creationId xmlns:a16="http://schemas.microsoft.com/office/drawing/2014/main" id="{8AA99D0F-0CA4-A248-95F8-F4BD9A31B155}"/>
                  </a:ext>
                </a:extLst>
              </p:cNvPr>
              <p:cNvCxnSpPr>
                <a:cxnSpLocks noChangeShapeType="1"/>
                <a:endCxn id="677" idx="4"/>
              </p:cNvCxnSpPr>
              <p:nvPr/>
            </p:nvCxnSpPr>
            <p:spPr bwMode="auto">
              <a:xfrm flipV="1">
                <a:off x="2567354" y="5719058"/>
                <a:ext cx="140677" cy="2705"/>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80" name="Straight Connector 83">
                <a:extLst>
                  <a:ext uri="{FF2B5EF4-FFF2-40B4-BE49-F238E27FC236}">
                    <a16:creationId xmlns:a16="http://schemas.microsoft.com/office/drawing/2014/main" id="{2218DF9C-65AB-484F-8B42-75408C04D711}"/>
                  </a:ext>
                </a:extLst>
              </p:cNvPr>
              <p:cNvCxnSpPr>
                <a:cxnSpLocks noChangeShapeType="1"/>
                <a:endCxn id="677" idx="2"/>
              </p:cNvCxnSpPr>
              <p:nvPr/>
            </p:nvCxnSpPr>
            <p:spPr bwMode="auto">
              <a:xfrm flipH="1">
                <a:off x="2570059" y="5721763"/>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81" name="Straight Connector 84">
                <a:extLst>
                  <a:ext uri="{FF2B5EF4-FFF2-40B4-BE49-F238E27FC236}">
                    <a16:creationId xmlns:a16="http://schemas.microsoft.com/office/drawing/2014/main" id="{3F8AAD6A-D940-0F45-855C-045DA5CAEC2A}"/>
                  </a:ext>
                </a:extLst>
              </p:cNvPr>
              <p:cNvCxnSpPr>
                <a:cxnSpLocks noChangeShapeType="1"/>
              </p:cNvCxnSpPr>
              <p:nvPr/>
            </p:nvCxnSpPr>
            <p:spPr bwMode="auto">
              <a:xfrm flipH="1">
                <a:off x="2221974" y="5387204"/>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grpSp>
        <p:grpSp>
          <p:nvGrpSpPr>
            <p:cNvPr id="650" name="Group 57">
              <a:extLst>
                <a:ext uri="{FF2B5EF4-FFF2-40B4-BE49-F238E27FC236}">
                  <a16:creationId xmlns:a16="http://schemas.microsoft.com/office/drawing/2014/main" id="{29D54BB0-A3C9-4B4A-B19D-3E60D4DC8638}"/>
                </a:ext>
              </a:extLst>
            </p:cNvPr>
            <p:cNvGrpSpPr>
              <a:grpSpLocks/>
            </p:cNvGrpSpPr>
            <p:nvPr/>
          </p:nvGrpSpPr>
          <p:grpSpPr bwMode="auto">
            <a:xfrm>
              <a:off x="1326802" y="5273580"/>
              <a:ext cx="617671" cy="927313"/>
              <a:chOff x="2105936" y="5387204"/>
              <a:chExt cx="617671" cy="927313"/>
            </a:xfrm>
          </p:grpSpPr>
          <p:sp>
            <p:nvSpPr>
              <p:cNvPr id="666" name="Freeform 665">
                <a:extLst>
                  <a:ext uri="{FF2B5EF4-FFF2-40B4-BE49-F238E27FC236}">
                    <a16:creationId xmlns:a16="http://schemas.microsoft.com/office/drawing/2014/main" id="{B344A0D7-D463-F54E-BB9B-140C2EB9553B}"/>
                  </a:ext>
                </a:extLst>
              </p:cNvPr>
              <p:cNvSpPr/>
              <p:nvPr/>
            </p:nvSpPr>
            <p:spPr>
              <a:xfrm>
                <a:off x="2110224" y="5706003"/>
                <a:ext cx="466907" cy="60892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0 w 967997"/>
                  <a:gd name="connsiteY0" fmla="*/ 0 h 2138362"/>
                  <a:gd name="connsiteX1" fmla="*/ 0 w 967997"/>
                  <a:gd name="connsiteY1" fmla="*/ 1190625 h 2138362"/>
                  <a:gd name="connsiteX2" fmla="*/ 966787 w 967997"/>
                  <a:gd name="connsiteY2" fmla="*/ 2138362 h 2138362"/>
                  <a:gd name="connsiteX3" fmla="*/ 967618 w 967997"/>
                  <a:gd name="connsiteY3" fmla="*/ 1495143 h 2138362"/>
                  <a:gd name="connsiteX4" fmla="*/ 0 w 967997"/>
                  <a:gd name="connsiteY4" fmla="*/ 0 h 2138362"/>
                  <a:gd name="connsiteX0" fmla="*/ 0 w 967997"/>
                  <a:gd name="connsiteY0" fmla="*/ 0 h 1424095"/>
                  <a:gd name="connsiteX1" fmla="*/ 0 w 967997"/>
                  <a:gd name="connsiteY1" fmla="*/ 476358 h 1424095"/>
                  <a:gd name="connsiteX2" fmla="*/ 966787 w 967997"/>
                  <a:gd name="connsiteY2" fmla="*/ 1424095 h 1424095"/>
                  <a:gd name="connsiteX3" fmla="*/ 967618 w 967997"/>
                  <a:gd name="connsiteY3" fmla="*/ 780876 h 1424095"/>
                  <a:gd name="connsiteX4" fmla="*/ 0 w 967997"/>
                  <a:gd name="connsiteY4" fmla="*/ 0 h 142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997" h="1424095">
                    <a:moveTo>
                      <a:pt x="0" y="0"/>
                    </a:moveTo>
                    <a:lnTo>
                      <a:pt x="0" y="476358"/>
                    </a:lnTo>
                    <a:lnTo>
                      <a:pt x="966787" y="1424095"/>
                    </a:lnTo>
                    <a:cubicBezTo>
                      <a:pt x="965200" y="958958"/>
                      <a:pt x="969205" y="1246013"/>
                      <a:pt x="967618" y="780876"/>
                    </a:cubicBezTo>
                    <a:lnTo>
                      <a:pt x="0" y="0"/>
                    </a:lnTo>
                    <a:close/>
                  </a:path>
                </a:pathLst>
              </a:cu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67" name="Freeform 666">
                <a:extLst>
                  <a:ext uri="{FF2B5EF4-FFF2-40B4-BE49-F238E27FC236}">
                    <a16:creationId xmlns:a16="http://schemas.microsoft.com/office/drawing/2014/main" id="{831DF4B3-37F5-B845-8B81-10FE47EDD5D3}"/>
                  </a:ext>
                </a:extLst>
              </p:cNvPr>
              <p:cNvSpPr/>
              <p:nvPr/>
            </p:nvSpPr>
            <p:spPr>
              <a:xfrm>
                <a:off x="2106333" y="5688824"/>
                <a:ext cx="616707" cy="355048"/>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77416"/>
                  <a:gd name="connsiteY0" fmla="*/ 0 h 813350"/>
                  <a:gd name="connsiteX1" fmla="*/ 0 w 1277416"/>
                  <a:gd name="connsiteY1" fmla="*/ 9439 h 813350"/>
                  <a:gd name="connsiteX2" fmla="*/ 952500 w 1277416"/>
                  <a:gd name="connsiteY2" fmla="*/ 752735 h 813350"/>
                  <a:gd name="connsiteX3" fmla="*/ 1277416 w 1277416"/>
                  <a:gd name="connsiteY3" fmla="*/ 813350 h 813350"/>
                  <a:gd name="connsiteX4" fmla="*/ 233363 w 1277416"/>
                  <a:gd name="connsiteY4" fmla="*/ 0 h 813350"/>
                  <a:gd name="connsiteX0" fmla="*/ 233363 w 1277416"/>
                  <a:gd name="connsiteY0" fmla="*/ 0 h 814795"/>
                  <a:gd name="connsiteX1" fmla="*/ 0 w 1277416"/>
                  <a:gd name="connsiteY1" fmla="*/ 9439 h 814795"/>
                  <a:gd name="connsiteX2" fmla="*/ 980474 w 1277416"/>
                  <a:gd name="connsiteY2" fmla="*/ 814795 h 814795"/>
                  <a:gd name="connsiteX3" fmla="*/ 1277416 w 1277416"/>
                  <a:gd name="connsiteY3" fmla="*/ 813350 h 814795"/>
                  <a:gd name="connsiteX4" fmla="*/ 233363 w 1277416"/>
                  <a:gd name="connsiteY4" fmla="*/ 0 h 81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416" h="814795">
                    <a:moveTo>
                      <a:pt x="233363" y="0"/>
                    </a:moveTo>
                    <a:lnTo>
                      <a:pt x="0" y="9439"/>
                    </a:lnTo>
                    <a:lnTo>
                      <a:pt x="980474" y="814795"/>
                    </a:lnTo>
                    <a:cubicBezTo>
                      <a:pt x="1088424" y="806858"/>
                      <a:pt x="1074215" y="806999"/>
                      <a:pt x="1277416" y="813350"/>
                    </a:cubicBezTo>
                    <a:lnTo>
                      <a:pt x="233363" y="0"/>
                    </a:lnTo>
                    <a:close/>
                  </a:path>
                </a:pathLst>
              </a:custGeom>
              <a:solidFill>
                <a:srgbClr val="0099CC"/>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68" name="Rectangle 71">
                <a:extLst>
                  <a:ext uri="{FF2B5EF4-FFF2-40B4-BE49-F238E27FC236}">
                    <a16:creationId xmlns:a16="http://schemas.microsoft.com/office/drawing/2014/main" id="{3D6B9985-58A7-084E-A3C9-C3A092800915}"/>
                  </a:ext>
                </a:extLst>
              </p:cNvPr>
              <p:cNvSpPr>
                <a:spLocks noChangeArrowheads="1"/>
              </p:cNvSpPr>
              <p:nvPr/>
            </p:nvSpPr>
            <p:spPr bwMode="auto">
              <a:xfrm>
                <a:off x="2577131" y="6049598"/>
                <a:ext cx="140072" cy="265332"/>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sp>
            <p:nvSpPr>
              <p:cNvPr id="669" name="Freeform 668">
                <a:extLst>
                  <a:ext uri="{FF2B5EF4-FFF2-40B4-BE49-F238E27FC236}">
                    <a16:creationId xmlns:a16="http://schemas.microsoft.com/office/drawing/2014/main" id="{8503FBC4-0C65-9E42-B2E4-D4EDDF503058}"/>
                  </a:ext>
                </a:extLst>
              </p:cNvPr>
              <p:cNvSpPr/>
              <p:nvPr/>
            </p:nvSpPr>
            <p:spPr>
              <a:xfrm>
                <a:off x="2114115" y="5396768"/>
                <a:ext cx="595306" cy="647103"/>
              </a:xfrm>
              <a:custGeom>
                <a:avLst/>
                <a:gdLst>
                  <a:gd name="connsiteX0" fmla="*/ 5411 w 597877"/>
                  <a:gd name="connsiteY0" fmla="*/ 13527 h 646573"/>
                  <a:gd name="connsiteX1" fmla="*/ 0 w 597877"/>
                  <a:gd name="connsiteY1" fmla="*/ 305702 h 646573"/>
                  <a:gd name="connsiteX2" fmla="*/ 457200 w 597877"/>
                  <a:gd name="connsiteY2" fmla="*/ 646573 h 646573"/>
                  <a:gd name="connsiteX3" fmla="*/ 597877 w 597877"/>
                  <a:gd name="connsiteY3" fmla="*/ 646573 h 646573"/>
                  <a:gd name="connsiteX4" fmla="*/ 595172 w 597877"/>
                  <a:gd name="connsiteY4" fmla="*/ 321934 h 646573"/>
                  <a:gd name="connsiteX5" fmla="*/ 110919 w 597877"/>
                  <a:gd name="connsiteY5" fmla="*/ 0 h 646573"/>
                  <a:gd name="connsiteX6" fmla="*/ 5411 w 597877"/>
                  <a:gd name="connsiteY6" fmla="*/ 13527 h 646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877" h="646573">
                    <a:moveTo>
                      <a:pt x="5411" y="13527"/>
                    </a:moveTo>
                    <a:lnTo>
                      <a:pt x="0" y="305702"/>
                    </a:lnTo>
                    <a:lnTo>
                      <a:pt x="457200" y="646573"/>
                    </a:lnTo>
                    <a:lnTo>
                      <a:pt x="597877" y="646573"/>
                    </a:lnTo>
                    <a:cubicBezTo>
                      <a:pt x="596975" y="538360"/>
                      <a:pt x="596074" y="430147"/>
                      <a:pt x="595172" y="321934"/>
                    </a:cubicBezTo>
                    <a:lnTo>
                      <a:pt x="110919" y="0"/>
                    </a:lnTo>
                    <a:lnTo>
                      <a:pt x="5411" y="13527"/>
                    </a:lnTo>
                    <a:close/>
                  </a:path>
                </a:pathLst>
              </a:custGeom>
              <a:noFill/>
              <a:ln w="12700" cap="flat" cmpd="sng" algn="ctr">
                <a:solidFill>
                  <a:sysClr val="windowText" lastClr="000000"/>
                </a:solidFill>
                <a:prstDash val="sysDash"/>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cxnSp>
            <p:nvCxnSpPr>
              <p:cNvPr id="670" name="Straight Connector 73">
                <a:extLst>
                  <a:ext uri="{FF2B5EF4-FFF2-40B4-BE49-F238E27FC236}">
                    <a16:creationId xmlns:a16="http://schemas.microsoft.com/office/drawing/2014/main" id="{A95C64C2-C9AA-594B-9B23-F0210A0746BF}"/>
                  </a:ext>
                </a:extLst>
              </p:cNvPr>
              <p:cNvCxnSpPr>
                <a:cxnSpLocks noChangeShapeType="1"/>
                <a:stCxn id="669" idx="0"/>
              </p:cNvCxnSpPr>
              <p:nvPr/>
            </p:nvCxnSpPr>
            <p:spPr bwMode="auto">
              <a:xfrm>
                <a:off x="2118270" y="5410651"/>
                <a:ext cx="446379" cy="311112"/>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1" name="Straight Connector 74">
                <a:extLst>
                  <a:ext uri="{FF2B5EF4-FFF2-40B4-BE49-F238E27FC236}">
                    <a16:creationId xmlns:a16="http://schemas.microsoft.com/office/drawing/2014/main" id="{C16C1385-948D-FC4F-8743-4D24D5EC9901}"/>
                  </a:ext>
                </a:extLst>
              </p:cNvPr>
              <p:cNvCxnSpPr>
                <a:cxnSpLocks noChangeShapeType="1"/>
                <a:endCxn id="669" idx="4"/>
              </p:cNvCxnSpPr>
              <p:nvPr/>
            </p:nvCxnSpPr>
            <p:spPr bwMode="auto">
              <a:xfrm flipV="1">
                <a:off x="2567354" y="5719058"/>
                <a:ext cx="140677" cy="2705"/>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2" name="Straight Connector 75">
                <a:extLst>
                  <a:ext uri="{FF2B5EF4-FFF2-40B4-BE49-F238E27FC236}">
                    <a16:creationId xmlns:a16="http://schemas.microsoft.com/office/drawing/2014/main" id="{005797F3-09C9-704D-BF8B-ED3224D83120}"/>
                  </a:ext>
                </a:extLst>
              </p:cNvPr>
              <p:cNvCxnSpPr>
                <a:cxnSpLocks noChangeShapeType="1"/>
                <a:endCxn id="669" idx="2"/>
              </p:cNvCxnSpPr>
              <p:nvPr/>
            </p:nvCxnSpPr>
            <p:spPr bwMode="auto">
              <a:xfrm flipH="1">
                <a:off x="2570059" y="5721763"/>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3" name="Straight Connector 76">
                <a:extLst>
                  <a:ext uri="{FF2B5EF4-FFF2-40B4-BE49-F238E27FC236}">
                    <a16:creationId xmlns:a16="http://schemas.microsoft.com/office/drawing/2014/main" id="{5CCCDFF4-0612-8A41-9E29-00C0051D8434}"/>
                  </a:ext>
                </a:extLst>
              </p:cNvPr>
              <p:cNvCxnSpPr>
                <a:cxnSpLocks noChangeShapeType="1"/>
              </p:cNvCxnSpPr>
              <p:nvPr/>
            </p:nvCxnSpPr>
            <p:spPr bwMode="auto">
              <a:xfrm flipH="1">
                <a:off x="2221974" y="5387204"/>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grpSp>
        <p:grpSp>
          <p:nvGrpSpPr>
            <p:cNvPr id="651" name="Group 58">
              <a:extLst>
                <a:ext uri="{FF2B5EF4-FFF2-40B4-BE49-F238E27FC236}">
                  <a16:creationId xmlns:a16="http://schemas.microsoft.com/office/drawing/2014/main" id="{2BC7E688-1666-9E48-9D35-8A3B7F6B608E}"/>
                </a:ext>
              </a:extLst>
            </p:cNvPr>
            <p:cNvGrpSpPr>
              <a:grpSpLocks/>
            </p:cNvGrpSpPr>
            <p:nvPr/>
          </p:nvGrpSpPr>
          <p:grpSpPr bwMode="auto">
            <a:xfrm>
              <a:off x="971797" y="5294415"/>
              <a:ext cx="605641" cy="915203"/>
              <a:chOff x="335231" y="4405745"/>
              <a:chExt cx="1252537" cy="2138362"/>
            </a:xfrm>
          </p:grpSpPr>
          <p:sp>
            <p:nvSpPr>
              <p:cNvPr id="663" name="Freeform 662">
                <a:extLst>
                  <a:ext uri="{FF2B5EF4-FFF2-40B4-BE49-F238E27FC236}">
                    <a16:creationId xmlns:a16="http://schemas.microsoft.com/office/drawing/2014/main" id="{87A34BD8-BCFA-7346-8219-00975B8E1A4E}"/>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64" name="Freeform 663">
                <a:extLst>
                  <a:ext uri="{FF2B5EF4-FFF2-40B4-BE49-F238E27FC236}">
                    <a16:creationId xmlns:a16="http://schemas.microsoft.com/office/drawing/2014/main" id="{5B686D4B-605F-204E-AF3D-DA46E1A20C49}"/>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0099CC"/>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65" name="Rectangle 68">
                <a:extLst>
                  <a:ext uri="{FF2B5EF4-FFF2-40B4-BE49-F238E27FC236}">
                    <a16:creationId xmlns:a16="http://schemas.microsoft.com/office/drawing/2014/main" id="{D50147F5-2DBD-594D-B7F5-9539ABC12F43}"/>
                  </a:ext>
                </a:extLst>
              </p:cNvPr>
              <p:cNvSpPr>
                <a:spLocks noChangeArrowheads="1"/>
              </p:cNvSpPr>
              <p:nvPr/>
            </p:nvSpPr>
            <p:spPr bwMode="auto">
              <a:xfrm>
                <a:off x="1299580" y="5177755"/>
                <a:ext cx="289686" cy="1351386"/>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grpSp>
        <p:sp>
          <p:nvSpPr>
            <p:cNvPr id="652" name="Rectangle 59">
              <a:extLst>
                <a:ext uri="{FF2B5EF4-FFF2-40B4-BE49-F238E27FC236}">
                  <a16:creationId xmlns:a16="http://schemas.microsoft.com/office/drawing/2014/main" id="{18CC1E0B-4825-0B49-8E20-1A4B35EAB8D2}"/>
                </a:ext>
              </a:extLst>
            </p:cNvPr>
            <p:cNvSpPr>
              <a:spLocks noChangeArrowheads="1"/>
            </p:cNvSpPr>
            <p:nvPr/>
          </p:nvSpPr>
          <p:spPr bwMode="auto">
            <a:xfrm>
              <a:off x="1838851" y="6126859"/>
              <a:ext cx="2180844" cy="64901"/>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sp>
          <p:nvSpPr>
            <p:cNvPr id="654" name="Right Arrow 60">
              <a:extLst>
                <a:ext uri="{FF2B5EF4-FFF2-40B4-BE49-F238E27FC236}">
                  <a16:creationId xmlns:a16="http://schemas.microsoft.com/office/drawing/2014/main" id="{C9ADCAE3-D54A-7944-A5C3-75177D484937}"/>
                </a:ext>
              </a:extLst>
            </p:cNvPr>
            <p:cNvSpPr>
              <a:spLocks noChangeArrowheads="1"/>
            </p:cNvSpPr>
            <p:nvPr/>
          </p:nvSpPr>
          <p:spPr bwMode="auto">
            <a:xfrm>
              <a:off x="2556720" y="6056232"/>
              <a:ext cx="266527" cy="219518"/>
            </a:xfrm>
            <a:prstGeom prst="rightArrow">
              <a:avLst>
                <a:gd name="adj1" fmla="val 13889"/>
                <a:gd name="adj2" fmla="val 53703"/>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grpSp>
          <p:nvGrpSpPr>
            <p:cNvPr id="656" name="Group 61">
              <a:extLst>
                <a:ext uri="{FF2B5EF4-FFF2-40B4-BE49-F238E27FC236}">
                  <a16:creationId xmlns:a16="http://schemas.microsoft.com/office/drawing/2014/main" id="{3B5D61CE-4118-DA4C-82DD-0044DDF65BB8}"/>
                </a:ext>
              </a:extLst>
            </p:cNvPr>
            <p:cNvGrpSpPr>
              <a:grpSpLocks/>
            </p:cNvGrpSpPr>
            <p:nvPr/>
          </p:nvGrpSpPr>
          <p:grpSpPr bwMode="auto">
            <a:xfrm>
              <a:off x="593766" y="5284519"/>
              <a:ext cx="605641" cy="915203"/>
              <a:chOff x="335231" y="4405745"/>
              <a:chExt cx="1252537" cy="2138362"/>
            </a:xfrm>
          </p:grpSpPr>
          <p:sp>
            <p:nvSpPr>
              <p:cNvPr id="660" name="Freeform 659">
                <a:extLst>
                  <a:ext uri="{FF2B5EF4-FFF2-40B4-BE49-F238E27FC236}">
                    <a16:creationId xmlns:a16="http://schemas.microsoft.com/office/drawing/2014/main" id="{AF33AD4E-6341-CD45-92D6-302AE475AE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61" name="Freeform 660">
                <a:extLst>
                  <a:ext uri="{FF2B5EF4-FFF2-40B4-BE49-F238E27FC236}">
                    <a16:creationId xmlns:a16="http://schemas.microsoft.com/office/drawing/2014/main" id="{F59CEEAB-304C-0A4F-A6A1-3B9DA87D8743}"/>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0099CC"/>
              </a:solidFill>
              <a:ln w="25400" cap="flat" cmpd="sng" algn="ctr">
                <a:noFill/>
                <a:prstDash val="solid"/>
              </a:ln>
              <a:effectLst/>
            </p:spPr>
            <p:txBody>
              <a:bodyPr anchor="ctr"/>
              <a:lstStyle/>
              <a:p>
                <a:pPr algn="ctr" eaLnBrk="1" fontAlgn="auto" hangingPunct="1">
                  <a:spcBef>
                    <a:spcPts val="0"/>
                  </a:spcBef>
                  <a:spcAft>
                    <a:spcPts val="0"/>
                  </a:spcAft>
                  <a:defRPr/>
                </a:pPr>
                <a:endParaRPr lang="en-US" sz="1800" kern="0" dirty="0">
                  <a:solidFill>
                    <a:sysClr val="window" lastClr="FFFFFF"/>
                  </a:solidFill>
                  <a:latin typeface="Calibri"/>
                  <a:ea typeface="+mn-ea"/>
                </a:endParaRPr>
              </a:p>
            </p:txBody>
          </p:sp>
          <p:sp>
            <p:nvSpPr>
              <p:cNvPr id="662" name="Rectangle 65">
                <a:extLst>
                  <a:ext uri="{FF2B5EF4-FFF2-40B4-BE49-F238E27FC236}">
                    <a16:creationId xmlns:a16="http://schemas.microsoft.com/office/drawing/2014/main" id="{6C69B056-F95C-664B-8B83-B7E5D4344663}"/>
                  </a:ext>
                </a:extLst>
              </p:cNvPr>
              <p:cNvSpPr>
                <a:spLocks noChangeArrowheads="1"/>
              </p:cNvSpPr>
              <p:nvPr/>
            </p:nvSpPr>
            <p:spPr bwMode="auto">
              <a:xfrm>
                <a:off x="1296825" y="5178575"/>
                <a:ext cx="289686" cy="1351389"/>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grpSp>
        <p:sp>
          <p:nvSpPr>
            <p:cNvPr id="659" name="Right Arrow 62">
              <a:extLst>
                <a:ext uri="{FF2B5EF4-FFF2-40B4-BE49-F238E27FC236}">
                  <a16:creationId xmlns:a16="http://schemas.microsoft.com/office/drawing/2014/main" id="{D83CCDED-CE88-C34F-B2B8-73878CCD3B39}"/>
                </a:ext>
              </a:extLst>
            </p:cNvPr>
            <p:cNvSpPr>
              <a:spLocks noChangeArrowheads="1"/>
            </p:cNvSpPr>
            <p:nvPr/>
          </p:nvSpPr>
          <p:spPr bwMode="auto">
            <a:xfrm rot="-5245926">
              <a:off x="3947358" y="5684800"/>
              <a:ext cx="267240" cy="219835"/>
            </a:xfrm>
            <a:prstGeom prst="rightArrow">
              <a:avLst>
                <a:gd name="adj1" fmla="val 13889"/>
                <a:gd name="adj2" fmla="val 53702"/>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FFFF"/>
                </a:solidFill>
                <a:latin typeface="Calibri" panose="020F0502020204030204" pitchFamily="34" charset="0"/>
              </a:endParaRPr>
            </a:p>
          </p:txBody>
        </p:sp>
      </p:grpSp>
      <p:sp>
        <p:nvSpPr>
          <p:cNvPr id="682" name="TextBox 681">
            <a:extLst>
              <a:ext uri="{FF2B5EF4-FFF2-40B4-BE49-F238E27FC236}">
                <a16:creationId xmlns:a16="http://schemas.microsoft.com/office/drawing/2014/main" id="{D97E2904-AD6B-3943-9660-32B38BA8B0D1}"/>
              </a:ext>
            </a:extLst>
          </p:cNvPr>
          <p:cNvSpPr txBox="1"/>
          <p:nvPr/>
        </p:nvSpPr>
        <p:spPr>
          <a:xfrm>
            <a:off x="1931315" y="1919106"/>
            <a:ext cx="1293944" cy="541559"/>
          </a:xfrm>
          <a:prstGeom prst="rect">
            <a:avLst/>
          </a:prstGeom>
          <a:noFill/>
        </p:spPr>
        <p:txBody>
          <a:bodyPr wrap="none">
            <a:spAutoFit/>
          </a:bodyPr>
          <a:lstStyle/>
          <a:p>
            <a:pPr eaLnBrk="1" fontAlgn="auto" hangingPunct="1">
              <a:lnSpc>
                <a:spcPts val="1700"/>
              </a:lnSpc>
              <a:spcBef>
                <a:spcPts val="0"/>
              </a:spcBef>
              <a:spcAft>
                <a:spcPts val="0"/>
              </a:spcAft>
              <a:defRPr/>
            </a:pPr>
            <a:r>
              <a:rPr lang="en-US" sz="2000" i="1" kern="0" dirty="0">
                <a:solidFill>
                  <a:prstClr val="black"/>
                </a:solidFill>
                <a:latin typeface="Calibri"/>
                <a:ea typeface="+mn-ea"/>
              </a:rPr>
              <a:t>L</a:t>
            </a:r>
            <a:r>
              <a:rPr lang="en-US" sz="2000" kern="0" dirty="0">
                <a:solidFill>
                  <a:prstClr val="black"/>
                </a:solidFill>
                <a:latin typeface="Calibri"/>
                <a:ea typeface="+mn-ea"/>
              </a:rPr>
              <a:t> bits</a:t>
            </a:r>
          </a:p>
          <a:p>
            <a:pPr eaLnBrk="1" fontAlgn="auto" hangingPunct="1">
              <a:lnSpc>
                <a:spcPts val="1700"/>
              </a:lnSpc>
              <a:spcBef>
                <a:spcPts val="0"/>
              </a:spcBef>
              <a:spcAft>
                <a:spcPts val="0"/>
              </a:spcAft>
              <a:defRPr/>
            </a:pPr>
            <a:r>
              <a:rPr lang="en-US" sz="2000" kern="0" dirty="0">
                <a:solidFill>
                  <a:prstClr val="black"/>
                </a:solidFill>
                <a:latin typeface="Calibri"/>
                <a:ea typeface="+mn-ea"/>
              </a:rPr>
              <a:t>per packet</a:t>
            </a:r>
          </a:p>
        </p:txBody>
      </p:sp>
      <p:sp>
        <p:nvSpPr>
          <p:cNvPr id="683" name="TextBox 682">
            <a:extLst>
              <a:ext uri="{FF2B5EF4-FFF2-40B4-BE49-F238E27FC236}">
                <a16:creationId xmlns:a16="http://schemas.microsoft.com/office/drawing/2014/main" id="{26793204-F087-2E4B-B5FE-0B276FE5FCEC}"/>
              </a:ext>
            </a:extLst>
          </p:cNvPr>
          <p:cNvSpPr txBox="1"/>
          <p:nvPr/>
        </p:nvSpPr>
        <p:spPr>
          <a:xfrm>
            <a:off x="6873433" y="2869739"/>
            <a:ext cx="752129" cy="400110"/>
          </a:xfrm>
          <a:prstGeom prst="rect">
            <a:avLst/>
          </a:prstGeom>
          <a:noFill/>
        </p:spPr>
        <p:txBody>
          <a:bodyPr wrap="none">
            <a:spAutoFit/>
          </a:bodyPr>
          <a:lstStyle/>
          <a:p>
            <a:pPr eaLnBrk="1" fontAlgn="auto" hangingPunct="1">
              <a:spcBef>
                <a:spcPts val="0"/>
              </a:spcBef>
              <a:spcAft>
                <a:spcPts val="0"/>
              </a:spcAft>
              <a:defRPr/>
            </a:pPr>
            <a:r>
              <a:rPr lang="en-US" sz="2000" i="1" kern="0" dirty="0">
                <a:solidFill>
                  <a:prstClr val="black"/>
                </a:solidFill>
                <a:latin typeface="Calibri"/>
                <a:ea typeface="+mn-ea"/>
              </a:rPr>
              <a:t>R</a:t>
            </a:r>
            <a:r>
              <a:rPr lang="en-US" sz="2000" kern="0" dirty="0">
                <a:solidFill>
                  <a:prstClr val="black"/>
                </a:solidFill>
                <a:latin typeface="Calibri"/>
                <a:ea typeface="+mn-ea"/>
              </a:rPr>
              <a:t> bps</a:t>
            </a:r>
          </a:p>
        </p:txBody>
      </p:sp>
      <p:grpSp>
        <p:nvGrpSpPr>
          <p:cNvPr id="9" name="Group 8">
            <a:extLst>
              <a:ext uri="{FF2B5EF4-FFF2-40B4-BE49-F238E27FC236}">
                <a16:creationId xmlns:a16="http://schemas.microsoft.com/office/drawing/2014/main" id="{1B89A616-088C-F944-A5D8-5B43B9716886}"/>
              </a:ext>
            </a:extLst>
          </p:cNvPr>
          <p:cNvGrpSpPr/>
          <p:nvPr/>
        </p:nvGrpSpPr>
        <p:grpSpPr>
          <a:xfrm>
            <a:off x="7801336" y="3980381"/>
            <a:ext cx="3855279" cy="2295280"/>
            <a:chOff x="7836061" y="3795186"/>
            <a:chExt cx="3855279" cy="2295280"/>
          </a:xfrm>
        </p:grpSpPr>
        <p:sp>
          <p:nvSpPr>
            <p:cNvPr id="8" name="Rectangle 7">
              <a:extLst>
                <a:ext uri="{FF2B5EF4-FFF2-40B4-BE49-F238E27FC236}">
                  <a16:creationId xmlns:a16="http://schemas.microsoft.com/office/drawing/2014/main" id="{49460DE1-A912-9A4F-A2FA-4D3A70344BA6}"/>
                </a:ext>
              </a:extLst>
            </p:cNvPr>
            <p:cNvSpPr/>
            <p:nvPr/>
          </p:nvSpPr>
          <p:spPr>
            <a:xfrm>
              <a:off x="7836061" y="3795186"/>
              <a:ext cx="3831220" cy="1969006"/>
            </a:xfrm>
            <a:prstGeom prst="rect">
              <a:avLst/>
            </a:prstGeom>
            <a:solidFill>
              <a:schemeClr val="accent1">
                <a:lumMod val="20000"/>
                <a:lumOff val="80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5" name="Rectangle 4">
              <a:extLst>
                <a:ext uri="{FF2B5EF4-FFF2-40B4-BE49-F238E27FC236}">
                  <a16:creationId xmlns:a16="http://schemas.microsoft.com/office/drawing/2014/main" id="{32BCE5D7-9636-A94A-AC39-ECE5D72B6BC8}"/>
                </a:ext>
              </a:extLst>
            </p:cNvPr>
            <p:cNvSpPr txBox="1">
              <a:spLocks noChangeArrowheads="1"/>
            </p:cNvSpPr>
            <p:nvPr/>
          </p:nvSpPr>
          <p:spPr>
            <a:xfrm>
              <a:off x="7836061" y="3858441"/>
              <a:ext cx="3855279" cy="2232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41313">
                <a:buFont typeface="Wingdings" charset="0"/>
                <a:buNone/>
                <a:defRPr/>
              </a:pPr>
              <a:r>
                <a:rPr lang="en-US" sz="2400" i="1" dirty="0">
                  <a:solidFill>
                    <a:srgbClr val="000099"/>
                  </a:solidFill>
                </a:rPr>
                <a:t>One-hop numerical example:</a:t>
              </a:r>
            </a:p>
            <a:p>
              <a:pPr marL="231775" indent="-231775">
                <a:spcBef>
                  <a:spcPts val="400"/>
                </a:spcBef>
                <a:buFont typeface="Wingdings" charset="0"/>
                <a:buChar char="§"/>
                <a:defRPr/>
              </a:pPr>
              <a:r>
                <a:rPr lang="en-US" sz="2400" i="1" dirty="0"/>
                <a:t>L</a:t>
              </a:r>
              <a:r>
                <a:rPr lang="en-US" sz="2400" dirty="0"/>
                <a:t> = 10 Kbits</a:t>
              </a:r>
            </a:p>
            <a:p>
              <a:pPr marL="231775" indent="-231775">
                <a:spcBef>
                  <a:spcPts val="400"/>
                </a:spcBef>
                <a:buFont typeface="Wingdings" charset="0"/>
                <a:buChar char="§"/>
                <a:defRPr/>
              </a:pPr>
              <a:r>
                <a:rPr lang="en-US" sz="2400" i="1" dirty="0"/>
                <a:t>R</a:t>
              </a:r>
              <a:r>
                <a:rPr lang="en-US" sz="2400" dirty="0"/>
                <a:t> = 100 Mbps</a:t>
              </a:r>
            </a:p>
            <a:p>
              <a:pPr marL="231775" indent="-231775">
                <a:spcBef>
                  <a:spcPts val="400"/>
                </a:spcBef>
                <a:buFont typeface="Wingdings" charset="0"/>
                <a:buChar char="§"/>
                <a:defRPr/>
              </a:pPr>
              <a:r>
                <a:rPr lang="en-US" sz="2400" dirty="0"/>
                <a:t>one-hop transmission delay = 0.1 </a:t>
              </a:r>
              <a:r>
                <a:rPr lang="en-US" sz="2400" dirty="0" err="1"/>
                <a:t>msec</a:t>
              </a:r>
              <a:endParaRPr lang="en-US" sz="2400" dirty="0"/>
            </a:p>
          </p:txBody>
        </p:sp>
      </p:grpSp>
    </p:spTree>
    <p:extLst>
      <p:ext uri="{BB962C8B-B14F-4D97-AF65-F5344CB8AC3E}">
        <p14:creationId xmlns:p14="http://schemas.microsoft.com/office/powerpoint/2010/main" val="259838814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6096000" y="857251"/>
            <a:ext cx="3830638" cy="2735263"/>
          </a:xfrm>
          <a:prstGeom prst="rect">
            <a:avLst/>
          </a:prstGeom>
          <a:solidFill>
            <a:srgbClr val="FFFF00">
              <a:alpha val="4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latin typeface="Calibri" panose="020F0502020204030204"/>
            </a:endParaRPr>
          </a:p>
        </p:txBody>
      </p:sp>
      <p:sp>
        <p:nvSpPr>
          <p:cNvPr id="7" name="Rectangle 4"/>
          <p:cNvSpPr txBox="1">
            <a:spLocks noChangeArrowheads="1"/>
          </p:cNvSpPr>
          <p:nvPr/>
        </p:nvSpPr>
        <p:spPr>
          <a:xfrm>
            <a:off x="6297614" y="857251"/>
            <a:ext cx="3856037" cy="25003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41313">
              <a:buNone/>
              <a:defRPr/>
            </a:pPr>
            <a:r>
              <a:rPr lang="en-US" sz="2400" i="1" dirty="0">
                <a:solidFill>
                  <a:srgbClr val="000099"/>
                </a:solidFill>
              </a:rPr>
              <a:t>One-hop numerical example:</a:t>
            </a:r>
          </a:p>
          <a:p>
            <a:pPr marL="231775" indent="-231775">
              <a:spcBef>
                <a:spcPts val="400"/>
              </a:spcBef>
              <a:buFont typeface="Wingdings" charset="0"/>
              <a:buChar char="§"/>
              <a:defRPr/>
            </a:pPr>
            <a:r>
              <a:rPr lang="en-US" sz="2400" i="1" dirty="0">
                <a:solidFill>
                  <a:prstClr val="black"/>
                </a:solidFill>
              </a:rPr>
              <a:t>L</a:t>
            </a:r>
            <a:r>
              <a:rPr lang="en-US" sz="2400" dirty="0">
                <a:solidFill>
                  <a:prstClr val="black"/>
                </a:solidFill>
              </a:rPr>
              <a:t> = 10 Kbits</a:t>
            </a:r>
          </a:p>
          <a:p>
            <a:pPr marL="231775" indent="-231775">
              <a:spcBef>
                <a:spcPts val="400"/>
              </a:spcBef>
              <a:buFont typeface="Wingdings" charset="0"/>
              <a:buChar char="§"/>
              <a:defRPr/>
            </a:pPr>
            <a:r>
              <a:rPr lang="en-US" sz="2400" i="1" dirty="0">
                <a:solidFill>
                  <a:prstClr val="black"/>
                </a:solidFill>
              </a:rPr>
              <a:t>R</a:t>
            </a:r>
            <a:r>
              <a:rPr lang="en-US" sz="2400" dirty="0">
                <a:solidFill>
                  <a:prstClr val="black"/>
                </a:solidFill>
              </a:rPr>
              <a:t> = 100 Mbps</a:t>
            </a:r>
          </a:p>
          <a:p>
            <a:pPr marL="231775" indent="-231775">
              <a:spcBef>
                <a:spcPts val="400"/>
              </a:spcBef>
              <a:buFont typeface="Wingdings" charset="0"/>
              <a:buChar char="§"/>
              <a:defRPr/>
            </a:pPr>
            <a:r>
              <a:rPr lang="en-US" sz="2400" dirty="0">
                <a:solidFill>
                  <a:prstClr val="black"/>
                </a:solidFill>
              </a:rPr>
              <a:t>one-hop transmission delay = 0.1 msec</a:t>
            </a:r>
          </a:p>
        </p:txBody>
      </p:sp>
      <p:sp>
        <p:nvSpPr>
          <p:cNvPr id="8" name="Rectangle 4"/>
          <p:cNvSpPr txBox="1">
            <a:spLocks noChangeArrowheads="1"/>
          </p:cNvSpPr>
          <p:nvPr/>
        </p:nvSpPr>
        <p:spPr>
          <a:xfrm>
            <a:off x="2351089" y="857251"/>
            <a:ext cx="3514725" cy="2716213"/>
          </a:xfrm>
          <a:prstGeom prst="rect">
            <a:avLst/>
          </a:prstGeom>
          <a:solidFill>
            <a:srgbClr val="FFFF00"/>
          </a:solidFill>
        </p:spPr>
        <p:txBody>
          <a:bodyPr/>
          <a:lstStyle/>
          <a:p>
            <a:pPr marL="274320" indent="-274320">
              <a:lnSpc>
                <a:spcPct val="90000"/>
              </a:lnSpc>
              <a:spcBef>
                <a:spcPct val="20000"/>
              </a:spcBef>
              <a:buClr>
                <a:srgbClr val="C00000"/>
              </a:buClr>
              <a:buSzPct val="85000"/>
              <a:defRPr/>
            </a:pPr>
            <a:r>
              <a:rPr lang="en-US" i="1" dirty="0">
                <a:solidFill>
                  <a:srgbClr val="000099"/>
                </a:solidFill>
              </a:rPr>
              <a:t>one-hop numerical example:</a:t>
            </a:r>
          </a:p>
          <a:p>
            <a:pPr marL="274320" indent="-274320">
              <a:lnSpc>
                <a:spcPct val="90000"/>
              </a:lnSpc>
              <a:spcBef>
                <a:spcPct val="20000"/>
              </a:spcBef>
              <a:buClr>
                <a:srgbClr val="C00000"/>
              </a:buClr>
              <a:buFont typeface="Wingdings" pitchFamily="2" charset="2"/>
              <a:buChar char="§"/>
              <a:defRPr/>
            </a:pPr>
            <a:r>
              <a:rPr lang="en-US" i="1" dirty="0"/>
              <a:t>L</a:t>
            </a:r>
            <a:r>
              <a:rPr lang="en-US" dirty="0"/>
              <a:t> = 7.5 </a:t>
            </a:r>
            <a:r>
              <a:rPr lang="en-US" dirty="0" err="1"/>
              <a:t>Mbits</a:t>
            </a:r>
            <a:endParaRPr lang="en-US" dirty="0"/>
          </a:p>
          <a:p>
            <a:pPr marL="274320" indent="-274320">
              <a:lnSpc>
                <a:spcPct val="90000"/>
              </a:lnSpc>
              <a:spcBef>
                <a:spcPct val="20000"/>
              </a:spcBef>
              <a:buClr>
                <a:srgbClr val="C00000"/>
              </a:buClr>
              <a:buFont typeface="Wingdings" pitchFamily="2" charset="2"/>
              <a:buChar char="§"/>
              <a:defRPr/>
            </a:pPr>
            <a:r>
              <a:rPr lang="en-US" i="1" dirty="0"/>
              <a:t>R</a:t>
            </a:r>
            <a:r>
              <a:rPr lang="en-US" dirty="0"/>
              <a:t> = 1.5 Mbps</a:t>
            </a:r>
          </a:p>
          <a:p>
            <a:pPr marL="274320" indent="-274320">
              <a:lnSpc>
                <a:spcPct val="90000"/>
              </a:lnSpc>
              <a:spcBef>
                <a:spcPct val="20000"/>
              </a:spcBef>
              <a:buClr>
                <a:srgbClr val="C00000"/>
              </a:buClr>
              <a:buFont typeface="Wingdings" pitchFamily="2" charset="2"/>
              <a:buChar char="§"/>
              <a:defRPr/>
            </a:pPr>
            <a:r>
              <a:rPr lang="en-US" dirty="0"/>
              <a:t>one-hop transmission delay =  L/R = 5 sec</a:t>
            </a:r>
          </a:p>
        </p:txBody>
      </p:sp>
      <p:pic>
        <p:nvPicPr>
          <p:cNvPr id="75781" name="Graphic 8" descr="Puzzle"/>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AC71A754-C3DD-992A-41C4-B70542DB147A}"/>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38</a:t>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16276" y="2565401"/>
            <a:ext cx="5724525"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3" name="Rectangle 4"/>
          <p:cNvSpPr>
            <a:spLocks noChangeArrowheads="1"/>
          </p:cNvSpPr>
          <p:nvPr/>
        </p:nvSpPr>
        <p:spPr bwMode="auto">
          <a:xfrm>
            <a:off x="1847851" y="1196976"/>
            <a:ext cx="2936875" cy="1323975"/>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the source has three packets, each consisting of </a:t>
            </a:r>
            <a:r>
              <a:rPr lang="en-US" altLang="en-US" sz="2000" i="1">
                <a:latin typeface="Arial" panose="020B0604020202020204" pitchFamily="34" charset="0"/>
              </a:rPr>
              <a:t>L bits, to send to the destination.</a:t>
            </a:r>
            <a:endParaRPr lang="ms-MY" altLang="en-US" sz="2000">
              <a:latin typeface="Arial" panose="020B0604020202020204" pitchFamily="34" charset="0"/>
            </a:endParaRPr>
          </a:p>
        </p:txBody>
      </p:sp>
      <p:sp>
        <p:nvSpPr>
          <p:cNvPr id="6" name="Rectangle 5"/>
          <p:cNvSpPr>
            <a:spLocks noChangeArrowheads="1"/>
          </p:cNvSpPr>
          <p:nvPr/>
        </p:nvSpPr>
        <p:spPr bwMode="auto">
          <a:xfrm>
            <a:off x="4800600" y="476251"/>
            <a:ext cx="2260600" cy="708025"/>
          </a:xfrm>
          <a:prstGeom prst="rect">
            <a:avLst/>
          </a:prstGeom>
          <a:solidFill>
            <a:srgbClr val="00B0F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transmitting some of packet 1</a:t>
            </a:r>
            <a:endParaRPr lang="ms-MY" altLang="en-US" sz="2000">
              <a:latin typeface="Arial" panose="020B0604020202020204" pitchFamily="34" charset="0"/>
            </a:endParaRPr>
          </a:p>
        </p:txBody>
      </p:sp>
      <p:sp>
        <p:nvSpPr>
          <p:cNvPr id="7" name="Rectangle 6"/>
          <p:cNvSpPr>
            <a:spLocks noChangeArrowheads="1"/>
          </p:cNvSpPr>
          <p:nvPr/>
        </p:nvSpPr>
        <p:spPr bwMode="auto">
          <a:xfrm>
            <a:off x="3935413" y="4797425"/>
            <a:ext cx="4019550" cy="101600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The router employs store-and-forwarding </a:t>
            </a:r>
            <a:r>
              <a:rPr lang="en-US" altLang="en-US" sz="2000">
                <a:latin typeface="Arial" panose="020B0604020202020204" pitchFamily="34" charset="0"/>
                <a:sym typeface="Wingdings" panose="05000000000000000000" pitchFamily="2" charset="2"/>
              </a:rPr>
              <a:t> so </a:t>
            </a:r>
            <a:r>
              <a:rPr lang="en-US" altLang="en-US" sz="2000">
                <a:latin typeface="Arial" panose="020B0604020202020204" pitchFamily="34" charset="0"/>
              </a:rPr>
              <a:t>must first buffer (“store”) the packet’s bits</a:t>
            </a:r>
            <a:endParaRPr lang="ms-MY" altLang="en-US" sz="2000">
              <a:latin typeface="Arial" panose="020B0604020202020204" pitchFamily="34" charset="0"/>
            </a:endParaRPr>
          </a:p>
        </p:txBody>
      </p:sp>
      <p:sp>
        <p:nvSpPr>
          <p:cNvPr id="8" name="Rectangle 7"/>
          <p:cNvSpPr>
            <a:spLocks noChangeArrowheads="1"/>
          </p:cNvSpPr>
          <p:nvPr/>
        </p:nvSpPr>
        <p:spPr bwMode="auto">
          <a:xfrm>
            <a:off x="6383338" y="1412876"/>
            <a:ext cx="3897312" cy="1323975"/>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ms-MY" altLang="en-US" sz="2000">
                <a:solidFill>
                  <a:schemeClr val="bg1"/>
                </a:solidFill>
                <a:latin typeface="Arial" panose="020B0604020202020204" pitchFamily="34" charset="0"/>
              </a:rPr>
              <a:t>When the router has received</a:t>
            </a:r>
          </a:p>
          <a:p>
            <a:pPr>
              <a:lnSpc>
                <a:spcPct val="100000"/>
              </a:lnSpc>
              <a:spcBef>
                <a:spcPct val="0"/>
              </a:spcBef>
              <a:buClrTx/>
              <a:buSzTx/>
              <a:buFontTx/>
              <a:buNone/>
            </a:pPr>
            <a:r>
              <a:rPr lang="en-US" altLang="en-US" sz="2000" b="1" i="1" u="sng">
                <a:solidFill>
                  <a:schemeClr val="bg1"/>
                </a:solidFill>
                <a:latin typeface="Arial" panose="020B0604020202020204" pitchFamily="34" charset="0"/>
              </a:rPr>
              <a:t>all</a:t>
            </a:r>
            <a:r>
              <a:rPr lang="en-US" altLang="en-US" sz="2000" i="1">
                <a:solidFill>
                  <a:schemeClr val="bg1"/>
                </a:solidFill>
                <a:latin typeface="Arial" panose="020B0604020202020204" pitchFamily="34" charset="0"/>
              </a:rPr>
              <a:t> of the packet’s bits can it begin to transmit the packet onto the </a:t>
            </a:r>
            <a:r>
              <a:rPr lang="ms-MY" altLang="en-US" sz="2000">
                <a:solidFill>
                  <a:schemeClr val="bg1"/>
                </a:solidFill>
                <a:latin typeface="Arial" panose="020B0604020202020204" pitchFamily="34" charset="0"/>
              </a:rPr>
              <a:t>outbound link.</a:t>
            </a:r>
          </a:p>
        </p:txBody>
      </p:sp>
      <p:pic>
        <p:nvPicPr>
          <p:cNvPr id="76807" name="Graphic 8" descr="Puzzle"/>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854E0124-B178-D401-7C7F-F9D4210DD1F8}"/>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39</a:t>
            </a:fld>
            <a:endParaRPr lang="en-US"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xit" presetSubtype="0" fill="hold" grpId="1" nodeType="withEffect">
                                  <p:stCondLst>
                                    <p:cond delay="0"/>
                                  </p:stCondLst>
                                  <p:childTnLst>
                                    <p:set>
                                      <p:cBhvr>
                                        <p:cTn id="16" dur="1" fill="hold">
                                          <p:stCondLst>
                                            <p:cond delay="0"/>
                                          </p:stCondLst>
                                        </p:cTn>
                                        <p:tgtEl>
                                          <p:spTgt spid="6"/>
                                        </p:tgtEl>
                                        <p:attrNameLst>
                                          <p:attrName>style.visibility</p:attrName>
                                        </p:attrNameLst>
                                      </p:cBhvr>
                                      <p:to>
                                        <p:strVal val="hidden"/>
                                      </p:to>
                                    </p:set>
                                  </p:childTnLst>
                                </p:cTn>
                              </p:par>
                              <p:par>
                                <p:cTn id="17" presetID="1" presetClass="exit" presetSubtype="0" fill="hold" grpId="1" nodeType="withEffect">
                                  <p:stCondLst>
                                    <p:cond delay="0"/>
                                  </p:stCondLst>
                                  <p:childTnLst>
                                    <p:set>
                                      <p:cBhvr>
                                        <p:cTn id="18" dur="1" fill="hold">
                                          <p:stCondLst>
                                            <p:cond delay="0"/>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Lst>
  </p:timing>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78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43076" y="214314"/>
            <a:ext cx="4067175"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51" name="TextBox 4"/>
          <p:cNvSpPr txBox="1">
            <a:spLocks noChangeArrowheads="1"/>
          </p:cNvSpPr>
          <p:nvPr/>
        </p:nvSpPr>
        <p:spPr bwMode="auto">
          <a:xfrm>
            <a:off x="3230564" y="968376"/>
            <a:ext cx="1119187" cy="339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a:latin typeface="Adobe Caslon Pro Bold"/>
              </a:rPr>
              <a:t>Router</a:t>
            </a:r>
            <a:endParaRPr lang="ms-MY" altLang="en-US" sz="1600">
              <a:latin typeface="Adobe Caslon Pro Bold"/>
            </a:endParaRPr>
          </a:p>
        </p:txBody>
      </p:sp>
      <p:pic>
        <p:nvPicPr>
          <p:cNvPr id="7885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41525" y="1528764"/>
            <a:ext cx="8339138" cy="3335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53" name="TextBox 6"/>
          <p:cNvSpPr txBox="1">
            <a:spLocks noChangeArrowheads="1"/>
          </p:cNvSpPr>
          <p:nvPr/>
        </p:nvSpPr>
        <p:spPr bwMode="auto">
          <a:xfrm>
            <a:off x="1851025" y="1365251"/>
            <a:ext cx="655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Arial" panose="020B0604020202020204" pitchFamily="34" charset="0"/>
              </a:rPr>
              <a:t>Time</a:t>
            </a:r>
            <a:endParaRPr lang="ms-MY" altLang="en-US" sz="1200">
              <a:latin typeface="Arial" panose="020B0604020202020204" pitchFamily="34" charset="0"/>
            </a:endParaRPr>
          </a:p>
        </p:txBody>
      </p:sp>
      <p:sp>
        <p:nvSpPr>
          <p:cNvPr id="8" name="Rectangle 7"/>
          <p:cNvSpPr>
            <a:spLocks noChangeArrowheads="1"/>
          </p:cNvSpPr>
          <p:nvPr/>
        </p:nvSpPr>
        <p:spPr bwMode="auto">
          <a:xfrm>
            <a:off x="5748338" y="2236788"/>
            <a:ext cx="3581400" cy="56356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buClr>
                <a:srgbClr val="000099"/>
              </a:buClr>
              <a:buSzPct val="75000"/>
              <a:buFontTx/>
              <a:buNone/>
            </a:pPr>
            <a:r>
              <a:rPr lang="en-US" altLang="en-US" sz="1800"/>
              <a:t>end-end delay = 2</a:t>
            </a:r>
            <a:r>
              <a:rPr lang="en-US" altLang="en-US" sz="1800" i="1"/>
              <a:t>L</a:t>
            </a:r>
            <a:r>
              <a:rPr lang="en-US" altLang="en-US" sz="1800"/>
              <a:t>/</a:t>
            </a:r>
            <a:r>
              <a:rPr lang="en-US" altLang="en-US" sz="1800" i="1"/>
              <a:t>R</a:t>
            </a:r>
            <a:r>
              <a:rPr lang="en-US" altLang="en-US" sz="1800"/>
              <a:t> (assuming no propagation delay)</a:t>
            </a:r>
          </a:p>
        </p:txBody>
      </p:sp>
      <p:sp>
        <p:nvSpPr>
          <p:cNvPr id="9" name="Rectangle 8"/>
          <p:cNvSpPr>
            <a:spLocks noChangeArrowheads="1"/>
          </p:cNvSpPr>
          <p:nvPr/>
        </p:nvSpPr>
        <p:spPr bwMode="auto">
          <a:xfrm>
            <a:off x="6254750" y="504826"/>
            <a:ext cx="3321050" cy="854075"/>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buClr>
                <a:srgbClr val="000099"/>
              </a:buClr>
              <a:buSzPct val="75000"/>
              <a:buFontTx/>
              <a:buNone/>
            </a:pPr>
            <a:r>
              <a:rPr lang="en-US" altLang="en-US" sz="1800"/>
              <a:t>If not store-n-forward:</a:t>
            </a:r>
          </a:p>
          <a:p>
            <a:pPr>
              <a:buClr>
                <a:srgbClr val="000099"/>
              </a:buClr>
              <a:buSzPct val="75000"/>
              <a:buFontTx/>
              <a:buNone/>
            </a:pPr>
            <a:r>
              <a:rPr lang="en-US" altLang="en-US" sz="1800"/>
              <a:t>end-end delay = </a:t>
            </a:r>
            <a:r>
              <a:rPr lang="en-US" altLang="en-US" sz="1800" i="1"/>
              <a:t>L</a:t>
            </a:r>
            <a:r>
              <a:rPr lang="en-US" altLang="en-US" sz="1800"/>
              <a:t>/</a:t>
            </a:r>
            <a:r>
              <a:rPr lang="en-US" altLang="en-US" sz="1800" i="1"/>
              <a:t>R</a:t>
            </a:r>
            <a:r>
              <a:rPr lang="en-US" altLang="en-US" sz="1800"/>
              <a:t> (assuming no propagation delay)</a:t>
            </a:r>
          </a:p>
        </p:txBody>
      </p:sp>
      <p:sp>
        <p:nvSpPr>
          <p:cNvPr id="10" name="Rectangle 9"/>
          <p:cNvSpPr>
            <a:spLocks noChangeArrowheads="1"/>
          </p:cNvSpPr>
          <p:nvPr/>
        </p:nvSpPr>
        <p:spPr bwMode="auto">
          <a:xfrm>
            <a:off x="4295775" y="4941888"/>
            <a:ext cx="5308600" cy="120015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buClr>
                <a:srgbClr val="000099"/>
              </a:buClr>
              <a:buSzPct val="75000"/>
              <a:buFontTx/>
              <a:buNone/>
            </a:pPr>
            <a:r>
              <a:rPr lang="en-US" altLang="en-US" sz="1800"/>
              <a:t>end-end delay  = N(</a:t>
            </a:r>
            <a:r>
              <a:rPr lang="en-US" altLang="en-US" sz="1800" i="1"/>
              <a:t>L</a:t>
            </a:r>
            <a:r>
              <a:rPr lang="en-US" altLang="en-US" sz="1800"/>
              <a:t>/</a:t>
            </a:r>
            <a:r>
              <a:rPr lang="en-US" altLang="en-US" sz="1800" i="1"/>
              <a:t>R)</a:t>
            </a:r>
          </a:p>
          <a:p>
            <a:pPr>
              <a:buClr>
                <a:srgbClr val="000099"/>
              </a:buClr>
              <a:buSzPct val="75000"/>
              <a:buFontTx/>
              <a:buNone/>
            </a:pPr>
            <a:r>
              <a:rPr lang="en-US" altLang="en-US" sz="1800" i="1"/>
              <a:t>    where </a:t>
            </a:r>
          </a:p>
          <a:p>
            <a:pPr>
              <a:buClr>
                <a:srgbClr val="000099"/>
              </a:buClr>
              <a:buSzPct val="75000"/>
              <a:buFontTx/>
              <a:buNone/>
            </a:pPr>
            <a:r>
              <a:rPr lang="en-US" altLang="en-US" sz="1800" i="1"/>
              <a:t>N = the number of links between source and destination</a:t>
            </a:r>
          </a:p>
          <a:p>
            <a:pPr>
              <a:buClr>
                <a:srgbClr val="000099"/>
              </a:buClr>
              <a:buSzPct val="75000"/>
              <a:buFontTx/>
              <a:buNone/>
            </a:pPr>
            <a:endParaRPr lang="en-US" altLang="en-US" sz="1800"/>
          </a:p>
        </p:txBody>
      </p:sp>
      <p:pic>
        <p:nvPicPr>
          <p:cNvPr id="78857" name="Graphic 10" descr="Puzzle"/>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44ABCA62-CDF6-0286-FB57-145935338B2F}"/>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40</a:t>
            </a:fld>
            <a:endParaRPr lang="en-US"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Packet-switching: queueing delay, loss</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1353612" y="3965256"/>
            <a:ext cx="9669287" cy="2771700"/>
          </a:xfrm>
        </p:spPr>
        <p:txBody>
          <a:bodyPr>
            <a:noAutofit/>
          </a:bodyPr>
          <a:lstStyle/>
          <a:p>
            <a:pPr marL="0" indent="0">
              <a:buNone/>
            </a:pPr>
            <a:r>
              <a:rPr lang="en-US" altLang="en-US" sz="3200" i="1" dirty="0">
                <a:solidFill>
                  <a:srgbClr val="C00000"/>
                </a:solidFill>
                <a:ea typeface="ＭＳ Ｐゴシック" panose="020B0600070205080204" pitchFamily="34" charset="-128"/>
              </a:rPr>
              <a:t>Packet queuing and loss: </a:t>
            </a:r>
            <a:r>
              <a:rPr lang="en-US" altLang="en-US" sz="3200" dirty="0">
                <a:ea typeface="ＭＳ Ｐゴシック" panose="020B0600070205080204" pitchFamily="34" charset="-128"/>
              </a:rPr>
              <a:t>i</a:t>
            </a:r>
            <a:r>
              <a:rPr lang="en-US" altLang="en-US" dirty="0">
                <a:ea typeface="ＭＳ Ｐゴシック" panose="020B0600070205080204" pitchFamily="34" charset="-128"/>
              </a:rPr>
              <a:t>f arrival rate (in bps) to link exceeds transmission rate (bps) of link for a period of time:</a:t>
            </a:r>
          </a:p>
          <a:p>
            <a:pPr marL="287338" indent="-230188"/>
            <a:r>
              <a:rPr lang="en-US" altLang="en-US" dirty="0">
                <a:ea typeface="ＭＳ Ｐゴシック" panose="020B0600070205080204" pitchFamily="34" charset="-128"/>
              </a:rPr>
              <a:t>packets will queue, waiting to be transmitted on output link </a:t>
            </a:r>
          </a:p>
          <a:p>
            <a:pPr marL="287338" indent="-230188"/>
            <a:r>
              <a:rPr lang="en-US" altLang="en-US" dirty="0">
                <a:ea typeface="ＭＳ Ｐゴシック" panose="020B0600070205080204" pitchFamily="34" charset="-128"/>
              </a:rPr>
              <a:t>packets can be dropped (lost) if memory (buffer) in router fills up</a:t>
            </a:r>
            <a:endParaRPr lang="en-US" altLang="en-US" sz="3200" dirty="0">
              <a:ea typeface="ＭＳ Ｐゴシック" panose="020B0600070205080204" pitchFamily="34" charset="-128"/>
            </a:endParaRPr>
          </a:p>
          <a:p>
            <a:pPr marL="287338" indent="-287338"/>
            <a:endParaRPr lang="en-US" altLang="en-US" dirty="0">
              <a:ea typeface="ＭＳ Ｐゴシック" panose="020B0600070205080204" pitchFamily="34" charset="-128"/>
            </a:endParaRPr>
          </a:p>
          <a:p>
            <a:pPr marL="174625" indent="0">
              <a:buSzPct val="75000"/>
              <a:buNone/>
            </a:pPr>
            <a:endParaRPr lang="en-US" altLang="en-US" dirty="0"/>
          </a:p>
          <a:p>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41</a:t>
            </a:fld>
            <a:endParaRPr lang="en-US" dirty="0"/>
          </a:p>
        </p:txBody>
      </p:sp>
      <p:grpSp>
        <p:nvGrpSpPr>
          <p:cNvPr id="275" name="Group 105">
            <a:extLst>
              <a:ext uri="{FF2B5EF4-FFF2-40B4-BE49-F238E27FC236}">
                <a16:creationId xmlns:a16="http://schemas.microsoft.com/office/drawing/2014/main" id="{F34E87DA-3B8D-6640-B193-5B62D7B3EF48}"/>
              </a:ext>
            </a:extLst>
          </p:cNvPr>
          <p:cNvGrpSpPr>
            <a:grpSpLocks/>
          </p:cNvGrpSpPr>
          <p:nvPr/>
        </p:nvGrpSpPr>
        <p:grpSpPr bwMode="auto">
          <a:xfrm>
            <a:off x="8836206" y="2325216"/>
            <a:ext cx="779462" cy="679450"/>
            <a:chOff x="-44" y="1473"/>
            <a:chExt cx="981" cy="1105"/>
          </a:xfrm>
        </p:grpSpPr>
        <p:pic>
          <p:nvPicPr>
            <p:cNvPr id="276" name="Picture 106" descr="desktop_computer_stylized_medium">
              <a:extLst>
                <a:ext uri="{FF2B5EF4-FFF2-40B4-BE49-F238E27FC236}">
                  <a16:creationId xmlns:a16="http://schemas.microsoft.com/office/drawing/2014/main" id="{E88711D7-A9FD-F746-A832-BB5DB88FF5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107">
              <a:extLst>
                <a:ext uri="{FF2B5EF4-FFF2-40B4-BE49-F238E27FC236}">
                  <a16:creationId xmlns:a16="http://schemas.microsoft.com/office/drawing/2014/main" id="{EFDDE8B0-B296-DF47-AC1D-13986353D870}"/>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sp>
        <p:nvSpPr>
          <p:cNvPr id="279" name="Line 276">
            <a:extLst>
              <a:ext uri="{FF2B5EF4-FFF2-40B4-BE49-F238E27FC236}">
                <a16:creationId xmlns:a16="http://schemas.microsoft.com/office/drawing/2014/main" id="{9DC8420F-6FED-9E4A-9003-4D53AC5D01A2}"/>
              </a:ext>
            </a:extLst>
          </p:cNvPr>
          <p:cNvSpPr>
            <a:spLocks noChangeShapeType="1"/>
          </p:cNvSpPr>
          <p:nvPr/>
        </p:nvSpPr>
        <p:spPr bwMode="auto">
          <a:xfrm>
            <a:off x="3422622" y="1937016"/>
            <a:ext cx="984459" cy="4310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280" name="Line 277">
            <a:extLst>
              <a:ext uri="{FF2B5EF4-FFF2-40B4-BE49-F238E27FC236}">
                <a16:creationId xmlns:a16="http://schemas.microsoft.com/office/drawing/2014/main" id="{825EEE7A-C48E-7E45-9D02-0472E543201C}"/>
              </a:ext>
            </a:extLst>
          </p:cNvPr>
          <p:cNvSpPr>
            <a:spLocks noChangeShapeType="1"/>
          </p:cNvSpPr>
          <p:nvPr/>
        </p:nvSpPr>
        <p:spPr bwMode="auto">
          <a:xfrm flipV="1">
            <a:off x="3807005" y="2495917"/>
            <a:ext cx="722173" cy="4769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281" name="Line 278">
            <a:extLst>
              <a:ext uri="{FF2B5EF4-FFF2-40B4-BE49-F238E27FC236}">
                <a16:creationId xmlns:a16="http://schemas.microsoft.com/office/drawing/2014/main" id="{7472BE77-3691-A64A-9D97-5E6D5271B944}"/>
              </a:ext>
            </a:extLst>
          </p:cNvPr>
          <p:cNvSpPr>
            <a:spLocks noChangeShapeType="1"/>
          </p:cNvSpPr>
          <p:nvPr/>
        </p:nvSpPr>
        <p:spPr bwMode="auto">
          <a:xfrm>
            <a:off x="5504043" y="2409354"/>
            <a:ext cx="2287168"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282" name="Line 279">
            <a:extLst>
              <a:ext uri="{FF2B5EF4-FFF2-40B4-BE49-F238E27FC236}">
                <a16:creationId xmlns:a16="http://schemas.microsoft.com/office/drawing/2014/main" id="{FEAD7E75-DCE4-5348-BE6B-AF5B7F022A37}"/>
              </a:ext>
            </a:extLst>
          </p:cNvPr>
          <p:cNvSpPr>
            <a:spLocks noChangeShapeType="1"/>
          </p:cNvSpPr>
          <p:nvPr/>
        </p:nvSpPr>
        <p:spPr bwMode="auto">
          <a:xfrm flipH="1" flipV="1">
            <a:off x="8165418" y="2591916"/>
            <a:ext cx="9525" cy="3635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283" name="Line 280">
            <a:extLst>
              <a:ext uri="{FF2B5EF4-FFF2-40B4-BE49-F238E27FC236}">
                <a16:creationId xmlns:a16="http://schemas.microsoft.com/office/drawing/2014/main" id="{2831F7A9-2F0F-8643-AA95-303E1AF9ADAC}"/>
              </a:ext>
            </a:extLst>
          </p:cNvPr>
          <p:cNvSpPr>
            <a:spLocks noChangeShapeType="1"/>
          </p:cNvSpPr>
          <p:nvPr/>
        </p:nvSpPr>
        <p:spPr bwMode="auto">
          <a:xfrm flipV="1">
            <a:off x="8684793" y="2041054"/>
            <a:ext cx="604838" cy="3079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284" name="Rectangle 287">
            <a:extLst>
              <a:ext uri="{FF2B5EF4-FFF2-40B4-BE49-F238E27FC236}">
                <a16:creationId xmlns:a16="http://schemas.microsoft.com/office/drawing/2014/main" id="{8B0A5911-8670-7545-8347-3C226F681CDD}"/>
              </a:ext>
            </a:extLst>
          </p:cNvPr>
          <p:cNvSpPr>
            <a:spLocks noChangeArrowheads="1"/>
          </p:cNvSpPr>
          <p:nvPr/>
        </p:nvSpPr>
        <p:spPr bwMode="auto">
          <a:xfrm>
            <a:off x="5702481" y="2196629"/>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85" name="Rectangle 288">
            <a:extLst>
              <a:ext uri="{FF2B5EF4-FFF2-40B4-BE49-F238E27FC236}">
                <a16:creationId xmlns:a16="http://schemas.microsoft.com/office/drawing/2014/main" id="{D262208C-E5D3-224C-B1CE-C8701D3CCDF2}"/>
              </a:ext>
            </a:extLst>
          </p:cNvPr>
          <p:cNvSpPr>
            <a:spLocks noChangeArrowheads="1"/>
          </p:cNvSpPr>
          <p:nvPr/>
        </p:nvSpPr>
        <p:spPr bwMode="auto">
          <a:xfrm>
            <a:off x="5864406" y="2196629"/>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86" name="Rectangle 289">
            <a:extLst>
              <a:ext uri="{FF2B5EF4-FFF2-40B4-BE49-F238E27FC236}">
                <a16:creationId xmlns:a16="http://schemas.microsoft.com/office/drawing/2014/main" id="{39F5499D-2B7E-A343-AE94-288D88B721D8}"/>
              </a:ext>
            </a:extLst>
          </p:cNvPr>
          <p:cNvSpPr>
            <a:spLocks noChangeArrowheads="1"/>
          </p:cNvSpPr>
          <p:nvPr/>
        </p:nvSpPr>
        <p:spPr bwMode="auto">
          <a:xfrm>
            <a:off x="6026331" y="2196629"/>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87" name="Rectangle 290">
            <a:extLst>
              <a:ext uri="{FF2B5EF4-FFF2-40B4-BE49-F238E27FC236}">
                <a16:creationId xmlns:a16="http://schemas.microsoft.com/office/drawing/2014/main" id="{2B5D01EF-066C-1A48-8E4C-1E80A58E186A}"/>
              </a:ext>
            </a:extLst>
          </p:cNvPr>
          <p:cNvSpPr>
            <a:spLocks noChangeArrowheads="1"/>
          </p:cNvSpPr>
          <p:nvPr/>
        </p:nvSpPr>
        <p:spPr bwMode="auto">
          <a:xfrm>
            <a:off x="6188256" y="2196629"/>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88" name="Rectangle 291">
            <a:extLst>
              <a:ext uri="{FF2B5EF4-FFF2-40B4-BE49-F238E27FC236}">
                <a16:creationId xmlns:a16="http://schemas.microsoft.com/office/drawing/2014/main" id="{019B14E7-A111-8B45-B672-89473571D4C8}"/>
              </a:ext>
            </a:extLst>
          </p:cNvPr>
          <p:cNvSpPr>
            <a:spLocks noChangeArrowheads="1"/>
          </p:cNvSpPr>
          <p:nvPr/>
        </p:nvSpPr>
        <p:spPr bwMode="auto">
          <a:xfrm>
            <a:off x="6350181" y="2196629"/>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89" name="Rectangle 292">
            <a:extLst>
              <a:ext uri="{FF2B5EF4-FFF2-40B4-BE49-F238E27FC236}">
                <a16:creationId xmlns:a16="http://schemas.microsoft.com/office/drawing/2014/main" id="{D4848F26-5AA5-CB46-A9C1-6020BE7C2B87}"/>
              </a:ext>
            </a:extLst>
          </p:cNvPr>
          <p:cNvSpPr>
            <a:spLocks noChangeArrowheads="1"/>
          </p:cNvSpPr>
          <p:nvPr/>
        </p:nvSpPr>
        <p:spPr bwMode="auto">
          <a:xfrm>
            <a:off x="6721656" y="2196629"/>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90" name="Rectangle 293">
            <a:extLst>
              <a:ext uri="{FF2B5EF4-FFF2-40B4-BE49-F238E27FC236}">
                <a16:creationId xmlns:a16="http://schemas.microsoft.com/office/drawing/2014/main" id="{58A10118-20F6-D346-ACBE-1C600CE906A6}"/>
              </a:ext>
            </a:extLst>
          </p:cNvPr>
          <p:cNvSpPr>
            <a:spLocks noChangeArrowheads="1"/>
          </p:cNvSpPr>
          <p:nvPr/>
        </p:nvSpPr>
        <p:spPr bwMode="auto">
          <a:xfrm>
            <a:off x="7263981" y="2191866"/>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97" name="Rectangle 299">
            <a:extLst>
              <a:ext uri="{FF2B5EF4-FFF2-40B4-BE49-F238E27FC236}">
                <a16:creationId xmlns:a16="http://schemas.microsoft.com/office/drawing/2014/main" id="{D17E1878-497E-2A43-A481-55CB4F917609}"/>
              </a:ext>
            </a:extLst>
          </p:cNvPr>
          <p:cNvSpPr>
            <a:spLocks noChangeArrowheads="1"/>
          </p:cNvSpPr>
          <p:nvPr/>
        </p:nvSpPr>
        <p:spPr bwMode="auto">
          <a:xfrm>
            <a:off x="4062595" y="2653802"/>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300" name="Line 302">
            <a:extLst>
              <a:ext uri="{FF2B5EF4-FFF2-40B4-BE49-F238E27FC236}">
                <a16:creationId xmlns:a16="http://schemas.microsoft.com/office/drawing/2014/main" id="{939ADA0D-1455-884D-9357-27B446CF8E8C}"/>
              </a:ext>
            </a:extLst>
          </p:cNvPr>
          <p:cNvSpPr>
            <a:spLocks noChangeShapeType="1"/>
          </p:cNvSpPr>
          <p:nvPr/>
        </p:nvSpPr>
        <p:spPr bwMode="auto">
          <a:xfrm>
            <a:off x="6083481" y="2087091"/>
            <a:ext cx="1062037"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301" name="Text Box 303">
            <a:extLst>
              <a:ext uri="{FF2B5EF4-FFF2-40B4-BE49-F238E27FC236}">
                <a16:creationId xmlns:a16="http://schemas.microsoft.com/office/drawing/2014/main" id="{D05EF651-36F2-F84C-8F83-221121AD981D}"/>
              </a:ext>
            </a:extLst>
          </p:cNvPr>
          <p:cNvSpPr txBox="1">
            <a:spLocks noChangeArrowheads="1"/>
          </p:cNvSpPr>
          <p:nvPr/>
        </p:nvSpPr>
        <p:spPr bwMode="auto">
          <a:xfrm>
            <a:off x="2827410" y="1669526"/>
            <a:ext cx="3337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2000" dirty="0">
                <a:solidFill>
                  <a:srgbClr val="00B050"/>
                </a:solidFill>
                <a:latin typeface="+mn-lt"/>
                <a:cs typeface="Arial"/>
              </a:rPr>
              <a:t>A</a:t>
            </a:r>
            <a:endParaRPr lang="en-US" altLang="en-US" dirty="0">
              <a:solidFill>
                <a:srgbClr val="00B050"/>
              </a:solidFill>
              <a:latin typeface="+mn-lt"/>
              <a:cs typeface="Arial"/>
            </a:endParaRPr>
          </a:p>
        </p:txBody>
      </p:sp>
      <p:sp>
        <p:nvSpPr>
          <p:cNvPr id="302" name="Text Box 304">
            <a:extLst>
              <a:ext uri="{FF2B5EF4-FFF2-40B4-BE49-F238E27FC236}">
                <a16:creationId xmlns:a16="http://schemas.microsoft.com/office/drawing/2014/main" id="{6A48403E-84A6-DD47-B81F-166DA1F574B3}"/>
              </a:ext>
            </a:extLst>
          </p:cNvPr>
          <p:cNvSpPr txBox="1">
            <a:spLocks noChangeArrowheads="1"/>
          </p:cNvSpPr>
          <p:nvPr/>
        </p:nvSpPr>
        <p:spPr bwMode="auto">
          <a:xfrm>
            <a:off x="3133638" y="2618748"/>
            <a:ext cx="3241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2000" dirty="0">
                <a:solidFill>
                  <a:srgbClr val="000099"/>
                </a:solidFill>
                <a:latin typeface="+mn-lt"/>
                <a:cs typeface="Arial"/>
              </a:rPr>
              <a:t>B</a:t>
            </a:r>
            <a:endParaRPr lang="en-US" altLang="en-US" dirty="0">
              <a:solidFill>
                <a:srgbClr val="000099"/>
              </a:solidFill>
              <a:latin typeface="+mn-lt"/>
              <a:cs typeface="Arial"/>
            </a:endParaRPr>
          </a:p>
        </p:txBody>
      </p:sp>
      <p:sp>
        <p:nvSpPr>
          <p:cNvPr id="303" name="Text Box 305">
            <a:extLst>
              <a:ext uri="{FF2B5EF4-FFF2-40B4-BE49-F238E27FC236}">
                <a16:creationId xmlns:a16="http://schemas.microsoft.com/office/drawing/2014/main" id="{1E849109-85A5-E14E-B580-0CB3D572232A}"/>
              </a:ext>
            </a:extLst>
          </p:cNvPr>
          <p:cNvSpPr txBox="1">
            <a:spLocks noChangeArrowheads="1"/>
          </p:cNvSpPr>
          <p:nvPr/>
        </p:nvSpPr>
        <p:spPr bwMode="auto">
          <a:xfrm>
            <a:off x="9575296" y="1603138"/>
            <a:ext cx="3209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2000" dirty="0">
                <a:solidFill>
                  <a:srgbClr val="00B050"/>
                </a:solidFill>
                <a:latin typeface="+mn-lt"/>
                <a:cs typeface="Arial"/>
              </a:rPr>
              <a:t>C</a:t>
            </a:r>
            <a:endParaRPr lang="en-US" altLang="en-US" dirty="0">
              <a:solidFill>
                <a:srgbClr val="00B050"/>
              </a:solidFill>
              <a:latin typeface="+mn-lt"/>
              <a:cs typeface="Arial"/>
            </a:endParaRPr>
          </a:p>
        </p:txBody>
      </p:sp>
      <p:sp>
        <p:nvSpPr>
          <p:cNvPr id="304" name="Text Box 308">
            <a:extLst>
              <a:ext uri="{FF2B5EF4-FFF2-40B4-BE49-F238E27FC236}">
                <a16:creationId xmlns:a16="http://schemas.microsoft.com/office/drawing/2014/main" id="{7F01473B-D3BF-EB40-A40F-58D06873F71E}"/>
              </a:ext>
            </a:extLst>
          </p:cNvPr>
          <p:cNvSpPr txBox="1">
            <a:spLocks noChangeArrowheads="1"/>
          </p:cNvSpPr>
          <p:nvPr/>
        </p:nvSpPr>
        <p:spPr bwMode="auto">
          <a:xfrm>
            <a:off x="3622531" y="1469708"/>
            <a:ext cx="15647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2000" i="1" dirty="0">
                <a:solidFill>
                  <a:srgbClr val="000000"/>
                </a:solidFill>
                <a:latin typeface="+mn-lt"/>
                <a:cs typeface="Arial"/>
              </a:rPr>
              <a:t>R</a:t>
            </a:r>
            <a:r>
              <a:rPr lang="en-US" altLang="en-US" sz="2000" dirty="0">
                <a:solidFill>
                  <a:srgbClr val="000000"/>
                </a:solidFill>
                <a:latin typeface="+mn-lt"/>
                <a:cs typeface="Arial"/>
              </a:rPr>
              <a:t> = 100 Mb/s</a:t>
            </a:r>
          </a:p>
        </p:txBody>
      </p:sp>
      <p:sp>
        <p:nvSpPr>
          <p:cNvPr id="305" name="Text Box 309">
            <a:extLst>
              <a:ext uri="{FF2B5EF4-FFF2-40B4-BE49-F238E27FC236}">
                <a16:creationId xmlns:a16="http://schemas.microsoft.com/office/drawing/2014/main" id="{15B8B92D-43FD-C448-829C-72D56B8EC46E}"/>
              </a:ext>
            </a:extLst>
          </p:cNvPr>
          <p:cNvSpPr txBox="1">
            <a:spLocks noChangeArrowheads="1"/>
          </p:cNvSpPr>
          <p:nvPr/>
        </p:nvSpPr>
        <p:spPr bwMode="auto">
          <a:xfrm>
            <a:off x="5697718" y="2506916"/>
            <a:ext cx="1499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2000" i="1" dirty="0">
                <a:solidFill>
                  <a:srgbClr val="000000"/>
                </a:solidFill>
                <a:latin typeface="+mn-lt"/>
                <a:cs typeface="Arial"/>
              </a:rPr>
              <a:t>R</a:t>
            </a:r>
            <a:r>
              <a:rPr lang="en-US" altLang="en-US" sz="2000" dirty="0">
                <a:solidFill>
                  <a:srgbClr val="000000"/>
                </a:solidFill>
                <a:latin typeface="+mn-lt"/>
                <a:cs typeface="Arial"/>
              </a:rPr>
              <a:t> = 1.5 Mb/s</a:t>
            </a:r>
            <a:endParaRPr lang="en-US" altLang="en-US" dirty="0">
              <a:solidFill>
                <a:srgbClr val="00CC99"/>
              </a:solidFill>
              <a:latin typeface="+mn-lt"/>
              <a:cs typeface="Arial"/>
            </a:endParaRPr>
          </a:p>
        </p:txBody>
      </p:sp>
      <p:sp>
        <p:nvSpPr>
          <p:cNvPr id="306" name="Text Box 310">
            <a:extLst>
              <a:ext uri="{FF2B5EF4-FFF2-40B4-BE49-F238E27FC236}">
                <a16:creationId xmlns:a16="http://schemas.microsoft.com/office/drawing/2014/main" id="{1705A15E-2327-1946-A5A8-72CDB5567E15}"/>
              </a:ext>
            </a:extLst>
          </p:cNvPr>
          <p:cNvSpPr txBox="1">
            <a:spLocks noChangeArrowheads="1"/>
          </p:cNvSpPr>
          <p:nvPr/>
        </p:nvSpPr>
        <p:spPr bwMode="auto">
          <a:xfrm>
            <a:off x="8199018" y="3004666"/>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endParaRPr lang="en-US" altLang="en-US">
              <a:solidFill>
                <a:srgbClr val="00CC99"/>
              </a:solidFill>
              <a:latin typeface="+mn-lt"/>
              <a:cs typeface="Arial"/>
            </a:endParaRPr>
          </a:p>
        </p:txBody>
      </p:sp>
      <p:sp>
        <p:nvSpPr>
          <p:cNvPr id="307" name="Line 281">
            <a:extLst>
              <a:ext uri="{FF2B5EF4-FFF2-40B4-BE49-F238E27FC236}">
                <a16:creationId xmlns:a16="http://schemas.microsoft.com/office/drawing/2014/main" id="{C1196941-D337-794E-85EA-09EE18FB91FD}"/>
              </a:ext>
            </a:extLst>
          </p:cNvPr>
          <p:cNvSpPr>
            <a:spLocks noChangeShapeType="1"/>
          </p:cNvSpPr>
          <p:nvPr/>
        </p:nvSpPr>
        <p:spPr bwMode="auto">
          <a:xfrm flipV="1">
            <a:off x="8734606" y="3157066"/>
            <a:ext cx="984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308" name="Line 283">
            <a:extLst>
              <a:ext uri="{FF2B5EF4-FFF2-40B4-BE49-F238E27FC236}">
                <a16:creationId xmlns:a16="http://schemas.microsoft.com/office/drawing/2014/main" id="{9D4A7DBD-56CD-A443-A44E-AA1C429AE9CB}"/>
              </a:ext>
            </a:extLst>
          </p:cNvPr>
          <p:cNvSpPr>
            <a:spLocks noChangeShapeType="1"/>
          </p:cNvSpPr>
          <p:nvPr/>
        </p:nvSpPr>
        <p:spPr bwMode="auto">
          <a:xfrm flipH="1">
            <a:off x="8244205" y="2860205"/>
            <a:ext cx="950175" cy="1683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309" name="Text Box 306">
            <a:extLst>
              <a:ext uri="{FF2B5EF4-FFF2-40B4-BE49-F238E27FC236}">
                <a16:creationId xmlns:a16="http://schemas.microsoft.com/office/drawing/2014/main" id="{2C51061A-E4E4-454A-BDD2-1E2F2AB72C8D}"/>
              </a:ext>
            </a:extLst>
          </p:cNvPr>
          <p:cNvSpPr txBox="1">
            <a:spLocks noChangeArrowheads="1"/>
          </p:cNvSpPr>
          <p:nvPr/>
        </p:nvSpPr>
        <p:spPr bwMode="auto">
          <a:xfrm>
            <a:off x="9499682" y="2374178"/>
            <a:ext cx="40481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2000" dirty="0">
                <a:solidFill>
                  <a:srgbClr val="000000"/>
                </a:solidFill>
                <a:latin typeface="+mn-lt"/>
                <a:cs typeface="Arial"/>
              </a:rPr>
              <a:t>D</a:t>
            </a:r>
            <a:endParaRPr lang="en-US" altLang="en-US" sz="2000" dirty="0">
              <a:solidFill>
                <a:srgbClr val="00CC99"/>
              </a:solidFill>
              <a:latin typeface="+mn-lt"/>
              <a:cs typeface="Arial"/>
            </a:endParaRPr>
          </a:p>
        </p:txBody>
      </p:sp>
      <p:sp>
        <p:nvSpPr>
          <p:cNvPr id="310" name="Text Box 307">
            <a:extLst>
              <a:ext uri="{FF2B5EF4-FFF2-40B4-BE49-F238E27FC236}">
                <a16:creationId xmlns:a16="http://schemas.microsoft.com/office/drawing/2014/main" id="{63A27B73-528E-984E-8E80-1DB712E57E77}"/>
              </a:ext>
            </a:extLst>
          </p:cNvPr>
          <p:cNvSpPr txBox="1">
            <a:spLocks noChangeArrowheads="1"/>
          </p:cNvSpPr>
          <p:nvPr/>
        </p:nvSpPr>
        <p:spPr bwMode="auto">
          <a:xfrm>
            <a:off x="10325847" y="2756956"/>
            <a:ext cx="3097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2000" dirty="0">
                <a:solidFill>
                  <a:srgbClr val="0000A8"/>
                </a:solidFill>
                <a:latin typeface="+mn-lt"/>
                <a:cs typeface="Arial"/>
              </a:rPr>
              <a:t>E</a:t>
            </a:r>
            <a:endParaRPr lang="en-US" altLang="en-US" dirty="0">
              <a:solidFill>
                <a:srgbClr val="0000A8"/>
              </a:solidFill>
              <a:latin typeface="+mn-lt"/>
              <a:cs typeface="Arial"/>
            </a:endParaRPr>
          </a:p>
        </p:txBody>
      </p:sp>
      <p:sp>
        <p:nvSpPr>
          <p:cNvPr id="311" name="Text Box 330">
            <a:extLst>
              <a:ext uri="{FF2B5EF4-FFF2-40B4-BE49-F238E27FC236}">
                <a16:creationId xmlns:a16="http://schemas.microsoft.com/office/drawing/2014/main" id="{556DA9AA-BD66-E340-BB5A-0B5515A57706}"/>
              </a:ext>
            </a:extLst>
          </p:cNvPr>
          <p:cNvSpPr txBox="1">
            <a:spLocks noChangeArrowheads="1"/>
          </p:cNvSpPr>
          <p:nvPr/>
        </p:nvSpPr>
        <p:spPr bwMode="auto">
          <a:xfrm>
            <a:off x="4132668" y="3123202"/>
            <a:ext cx="2354263"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ct val="85000"/>
              </a:lnSpc>
              <a:spcBef>
                <a:spcPct val="0"/>
              </a:spcBef>
              <a:spcAft>
                <a:spcPct val="0"/>
              </a:spcAft>
            </a:pPr>
            <a:r>
              <a:rPr lang="en-US" altLang="en-US" sz="1800" dirty="0">
                <a:solidFill>
                  <a:srgbClr val="C00000"/>
                </a:solidFill>
                <a:latin typeface="+mn-lt"/>
                <a:cs typeface="Arial"/>
              </a:rPr>
              <a:t>queue</a:t>
            </a:r>
            <a:r>
              <a:rPr lang="en-US" altLang="en-US" sz="1800" dirty="0">
                <a:solidFill>
                  <a:srgbClr val="000000"/>
                </a:solidFill>
                <a:latin typeface="+mn-lt"/>
                <a:cs typeface="Arial"/>
              </a:rPr>
              <a:t> of packets</a:t>
            </a:r>
          </a:p>
          <a:p>
            <a:pPr algn="ctr" eaLnBrk="0" fontAlgn="base" hangingPunct="0">
              <a:lnSpc>
                <a:spcPct val="85000"/>
              </a:lnSpc>
              <a:spcBef>
                <a:spcPct val="0"/>
              </a:spcBef>
              <a:spcAft>
                <a:spcPct val="0"/>
              </a:spcAft>
            </a:pPr>
            <a:r>
              <a:rPr lang="en-US" altLang="en-US" sz="1800" dirty="0">
                <a:solidFill>
                  <a:srgbClr val="000000"/>
                </a:solidFill>
                <a:latin typeface="+mn-lt"/>
                <a:cs typeface="Arial"/>
              </a:rPr>
              <a:t>waiting for output link</a:t>
            </a:r>
            <a:endParaRPr lang="en-US" altLang="en-US" sz="1800" dirty="0">
              <a:solidFill>
                <a:srgbClr val="00CC99"/>
              </a:solidFill>
              <a:latin typeface="+mn-lt"/>
              <a:cs typeface="Arial"/>
            </a:endParaRPr>
          </a:p>
        </p:txBody>
      </p:sp>
      <p:pic>
        <p:nvPicPr>
          <p:cNvPr id="314" name="Picture 97" descr="desktop_computer_stylized_medium">
            <a:extLst>
              <a:ext uri="{FF2B5EF4-FFF2-40B4-BE49-F238E27FC236}">
                <a16:creationId xmlns:a16="http://schemas.microsoft.com/office/drawing/2014/main" id="{573AA0F8-1799-5C42-906E-2606A92ABC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866218" y="1661641"/>
            <a:ext cx="779463"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98">
            <a:extLst>
              <a:ext uri="{FF2B5EF4-FFF2-40B4-BE49-F238E27FC236}">
                <a16:creationId xmlns:a16="http://schemas.microsoft.com/office/drawing/2014/main" id="{7CBCC3B7-DD4B-854D-83B4-6C036898D2DC}"/>
              </a:ext>
            </a:extLst>
          </p:cNvPr>
          <p:cNvSpPr>
            <a:spLocks/>
          </p:cNvSpPr>
          <p:nvPr/>
        </p:nvSpPr>
        <p:spPr bwMode="auto">
          <a:xfrm flipH="1">
            <a:off x="3198344" y="1726819"/>
            <a:ext cx="379005" cy="311133"/>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316" name="Group 99">
            <a:extLst>
              <a:ext uri="{FF2B5EF4-FFF2-40B4-BE49-F238E27FC236}">
                <a16:creationId xmlns:a16="http://schemas.microsoft.com/office/drawing/2014/main" id="{4E03F72D-983A-8649-8AB9-3BB8E480797F}"/>
              </a:ext>
            </a:extLst>
          </p:cNvPr>
          <p:cNvGrpSpPr>
            <a:grpSpLocks/>
          </p:cNvGrpSpPr>
          <p:nvPr/>
        </p:nvGrpSpPr>
        <p:grpSpPr bwMode="auto">
          <a:xfrm>
            <a:off x="3157718" y="2636366"/>
            <a:ext cx="779463" cy="679450"/>
            <a:chOff x="-44" y="1473"/>
            <a:chExt cx="981" cy="1105"/>
          </a:xfrm>
        </p:grpSpPr>
        <p:pic>
          <p:nvPicPr>
            <p:cNvPr id="317" name="Picture 100" descr="desktop_computer_stylized_medium">
              <a:extLst>
                <a:ext uri="{FF2B5EF4-FFF2-40B4-BE49-F238E27FC236}">
                  <a16:creationId xmlns:a16="http://schemas.microsoft.com/office/drawing/2014/main" id="{2EB37FAA-6E06-BE4D-94EC-382407D76A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Freeform 101">
              <a:extLst>
                <a:ext uri="{FF2B5EF4-FFF2-40B4-BE49-F238E27FC236}">
                  <a16:creationId xmlns:a16="http://schemas.microsoft.com/office/drawing/2014/main" id="{6052CE21-5D5E-E843-9F98-90FE298E99C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nvGrpSpPr>
          <p:cNvPr id="319" name="Group 102">
            <a:extLst>
              <a:ext uri="{FF2B5EF4-FFF2-40B4-BE49-F238E27FC236}">
                <a16:creationId xmlns:a16="http://schemas.microsoft.com/office/drawing/2014/main" id="{91946ED8-FFCF-5942-80E3-8AA8455B4015}"/>
              </a:ext>
            </a:extLst>
          </p:cNvPr>
          <p:cNvGrpSpPr>
            <a:grpSpLocks/>
          </p:cNvGrpSpPr>
          <p:nvPr/>
        </p:nvGrpSpPr>
        <p:grpSpPr bwMode="auto">
          <a:xfrm>
            <a:off x="9553756" y="2696691"/>
            <a:ext cx="779462" cy="679450"/>
            <a:chOff x="-44" y="1473"/>
            <a:chExt cx="981" cy="1105"/>
          </a:xfrm>
        </p:grpSpPr>
        <p:pic>
          <p:nvPicPr>
            <p:cNvPr id="320" name="Picture 103" descr="desktop_computer_stylized_medium">
              <a:extLst>
                <a:ext uri="{FF2B5EF4-FFF2-40B4-BE49-F238E27FC236}">
                  <a16:creationId xmlns:a16="http://schemas.microsoft.com/office/drawing/2014/main" id="{3CF40F07-212C-C840-8691-1733E56132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 name="Freeform 104">
              <a:extLst>
                <a:ext uri="{FF2B5EF4-FFF2-40B4-BE49-F238E27FC236}">
                  <a16:creationId xmlns:a16="http://schemas.microsoft.com/office/drawing/2014/main" id="{E68BC373-85F3-BA4A-8434-3111094EB6D8}"/>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nvGrpSpPr>
          <p:cNvPr id="322" name="Group 108">
            <a:extLst>
              <a:ext uri="{FF2B5EF4-FFF2-40B4-BE49-F238E27FC236}">
                <a16:creationId xmlns:a16="http://schemas.microsoft.com/office/drawing/2014/main" id="{01317188-C1E0-694E-B45B-7319D79BCFE9}"/>
              </a:ext>
            </a:extLst>
          </p:cNvPr>
          <p:cNvGrpSpPr>
            <a:grpSpLocks/>
          </p:cNvGrpSpPr>
          <p:nvPr/>
        </p:nvGrpSpPr>
        <p:grpSpPr bwMode="auto">
          <a:xfrm>
            <a:off x="8918756" y="1504479"/>
            <a:ext cx="779462" cy="679450"/>
            <a:chOff x="-44" y="1473"/>
            <a:chExt cx="981" cy="1105"/>
          </a:xfrm>
        </p:grpSpPr>
        <p:pic>
          <p:nvPicPr>
            <p:cNvPr id="323" name="Picture 109" descr="desktop_computer_stylized_medium">
              <a:extLst>
                <a:ext uri="{FF2B5EF4-FFF2-40B4-BE49-F238E27FC236}">
                  <a16:creationId xmlns:a16="http://schemas.microsoft.com/office/drawing/2014/main" id="{92B110BF-10E7-BC42-AB4B-3F1A6E6A2E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 name="Freeform 110">
              <a:extLst>
                <a:ext uri="{FF2B5EF4-FFF2-40B4-BE49-F238E27FC236}">
                  <a16:creationId xmlns:a16="http://schemas.microsoft.com/office/drawing/2014/main" id="{D02F4F44-52FE-0E4D-BB82-E10F3BD04F51}"/>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nvGrpSpPr>
          <p:cNvPr id="363" name="Group 362">
            <a:extLst>
              <a:ext uri="{FF2B5EF4-FFF2-40B4-BE49-F238E27FC236}">
                <a16:creationId xmlns:a16="http://schemas.microsoft.com/office/drawing/2014/main" id="{173AE6D5-68CD-C54F-A308-AF4429F3910C}"/>
              </a:ext>
            </a:extLst>
          </p:cNvPr>
          <p:cNvGrpSpPr/>
          <p:nvPr/>
        </p:nvGrpSpPr>
        <p:grpSpPr>
          <a:xfrm>
            <a:off x="7595249" y="2169176"/>
            <a:ext cx="1146494" cy="498545"/>
            <a:chOff x="7493876" y="2774731"/>
            <a:chExt cx="1481958" cy="894622"/>
          </a:xfrm>
        </p:grpSpPr>
        <p:sp>
          <p:nvSpPr>
            <p:cNvPr id="364" name="Freeform 363">
              <a:extLst>
                <a:ext uri="{FF2B5EF4-FFF2-40B4-BE49-F238E27FC236}">
                  <a16:creationId xmlns:a16="http://schemas.microsoft.com/office/drawing/2014/main" id="{380275CA-D809-AA4B-A952-7CDB1B7728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65" name="Oval 364">
              <a:extLst>
                <a:ext uri="{FF2B5EF4-FFF2-40B4-BE49-F238E27FC236}">
                  <a16:creationId xmlns:a16="http://schemas.microsoft.com/office/drawing/2014/main" id="{A3E1C485-6E19-F047-AE7B-D9818E2BF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66" name="Group 365">
              <a:extLst>
                <a:ext uri="{FF2B5EF4-FFF2-40B4-BE49-F238E27FC236}">
                  <a16:creationId xmlns:a16="http://schemas.microsoft.com/office/drawing/2014/main" id="{F5E9CBAD-D03E-9341-8E23-F1280791A28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BE6F6BF5-D1B7-EA4E-8FDF-D0B255FC04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Freeform 367">
                <a:extLst>
                  <a:ext uri="{FF2B5EF4-FFF2-40B4-BE49-F238E27FC236}">
                    <a16:creationId xmlns:a16="http://schemas.microsoft.com/office/drawing/2014/main" id="{FB7D27E2-CCF6-BC41-86BA-9A4294537E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Freeform 368">
                <a:extLst>
                  <a:ext uri="{FF2B5EF4-FFF2-40B4-BE49-F238E27FC236}">
                    <a16:creationId xmlns:a16="http://schemas.microsoft.com/office/drawing/2014/main" id="{AEB1EF04-B0B9-0C45-8B5E-5032278125F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369">
                <a:extLst>
                  <a:ext uri="{FF2B5EF4-FFF2-40B4-BE49-F238E27FC236}">
                    <a16:creationId xmlns:a16="http://schemas.microsoft.com/office/drawing/2014/main" id="{88FC3F1B-A4AF-2F41-9B06-1DE4ECEFB7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71" name="Group 370">
            <a:extLst>
              <a:ext uri="{FF2B5EF4-FFF2-40B4-BE49-F238E27FC236}">
                <a16:creationId xmlns:a16="http://schemas.microsoft.com/office/drawing/2014/main" id="{F1603ECD-AC1A-A544-88F1-56B46AC17A2C}"/>
              </a:ext>
            </a:extLst>
          </p:cNvPr>
          <p:cNvGrpSpPr/>
          <p:nvPr/>
        </p:nvGrpSpPr>
        <p:grpSpPr>
          <a:xfrm>
            <a:off x="7621178" y="2857110"/>
            <a:ext cx="1146494" cy="498545"/>
            <a:chOff x="7493876" y="2774731"/>
            <a:chExt cx="1481958" cy="894622"/>
          </a:xfrm>
        </p:grpSpPr>
        <p:sp>
          <p:nvSpPr>
            <p:cNvPr id="372" name="Freeform 371">
              <a:extLst>
                <a:ext uri="{FF2B5EF4-FFF2-40B4-BE49-F238E27FC236}">
                  <a16:creationId xmlns:a16="http://schemas.microsoft.com/office/drawing/2014/main" id="{482C6B14-449F-4546-9144-55F5B7C715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73" name="Oval 372">
              <a:extLst>
                <a:ext uri="{FF2B5EF4-FFF2-40B4-BE49-F238E27FC236}">
                  <a16:creationId xmlns:a16="http://schemas.microsoft.com/office/drawing/2014/main" id="{8C779DA2-3A8F-B145-A969-B85A812AD0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74" name="Group 373">
              <a:extLst>
                <a:ext uri="{FF2B5EF4-FFF2-40B4-BE49-F238E27FC236}">
                  <a16:creationId xmlns:a16="http://schemas.microsoft.com/office/drawing/2014/main" id="{448306A3-BD95-0542-A39D-6D17237F1EB9}"/>
                </a:ext>
              </a:extLst>
            </p:cNvPr>
            <p:cNvGrpSpPr/>
            <p:nvPr/>
          </p:nvGrpSpPr>
          <p:grpSpPr>
            <a:xfrm>
              <a:off x="7713663" y="2848339"/>
              <a:ext cx="1042107" cy="425543"/>
              <a:chOff x="7786941" y="2884917"/>
              <a:chExt cx="897649" cy="353919"/>
            </a:xfrm>
          </p:grpSpPr>
          <p:sp>
            <p:nvSpPr>
              <p:cNvPr id="375" name="Freeform 374">
                <a:extLst>
                  <a:ext uri="{FF2B5EF4-FFF2-40B4-BE49-F238E27FC236}">
                    <a16:creationId xmlns:a16="http://schemas.microsoft.com/office/drawing/2014/main" id="{9C8D15C0-548B-354D-8013-4AB1C8BBC9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Freeform 375">
                <a:extLst>
                  <a:ext uri="{FF2B5EF4-FFF2-40B4-BE49-F238E27FC236}">
                    <a16:creationId xmlns:a16="http://schemas.microsoft.com/office/drawing/2014/main" id="{81AE569F-4D96-D040-A279-42190FDCEE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Freeform 376">
                <a:extLst>
                  <a:ext uri="{FF2B5EF4-FFF2-40B4-BE49-F238E27FC236}">
                    <a16:creationId xmlns:a16="http://schemas.microsoft.com/office/drawing/2014/main" id="{1B1BB6FC-6713-774B-B108-5D51531F4C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Freeform 377">
                <a:extLst>
                  <a:ext uri="{FF2B5EF4-FFF2-40B4-BE49-F238E27FC236}">
                    <a16:creationId xmlns:a16="http://schemas.microsoft.com/office/drawing/2014/main" id="{04C666BA-4AE5-754E-9C1D-BACEEB8A65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79" name="Group 378">
            <a:extLst>
              <a:ext uri="{FF2B5EF4-FFF2-40B4-BE49-F238E27FC236}">
                <a16:creationId xmlns:a16="http://schemas.microsoft.com/office/drawing/2014/main" id="{E13CF270-E1A9-ED4F-B25A-EC17F535D816}"/>
              </a:ext>
            </a:extLst>
          </p:cNvPr>
          <p:cNvGrpSpPr/>
          <p:nvPr/>
        </p:nvGrpSpPr>
        <p:grpSpPr>
          <a:xfrm>
            <a:off x="4403089" y="2147599"/>
            <a:ext cx="1146494" cy="498545"/>
            <a:chOff x="7493876" y="2774731"/>
            <a:chExt cx="1481958" cy="894622"/>
          </a:xfrm>
        </p:grpSpPr>
        <p:sp>
          <p:nvSpPr>
            <p:cNvPr id="380" name="Freeform 379">
              <a:extLst>
                <a:ext uri="{FF2B5EF4-FFF2-40B4-BE49-F238E27FC236}">
                  <a16:creationId xmlns:a16="http://schemas.microsoft.com/office/drawing/2014/main" id="{2023D9E0-8919-9D4B-BC48-DA036377D2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81" name="Oval 380">
              <a:extLst>
                <a:ext uri="{FF2B5EF4-FFF2-40B4-BE49-F238E27FC236}">
                  <a16:creationId xmlns:a16="http://schemas.microsoft.com/office/drawing/2014/main" id="{417CADA6-FA0C-E84F-BD88-1D16598563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82" name="Group 381">
              <a:extLst>
                <a:ext uri="{FF2B5EF4-FFF2-40B4-BE49-F238E27FC236}">
                  <a16:creationId xmlns:a16="http://schemas.microsoft.com/office/drawing/2014/main" id="{F3AA78D0-F9B2-9B49-AA7F-C6A3571E9FEE}"/>
                </a:ext>
              </a:extLst>
            </p:cNvPr>
            <p:cNvGrpSpPr/>
            <p:nvPr/>
          </p:nvGrpSpPr>
          <p:grpSpPr>
            <a:xfrm>
              <a:off x="7713663" y="2848339"/>
              <a:ext cx="1042107" cy="425543"/>
              <a:chOff x="7786941" y="2884917"/>
              <a:chExt cx="897649" cy="353919"/>
            </a:xfrm>
          </p:grpSpPr>
          <p:sp>
            <p:nvSpPr>
              <p:cNvPr id="383" name="Freeform 382">
                <a:extLst>
                  <a:ext uri="{FF2B5EF4-FFF2-40B4-BE49-F238E27FC236}">
                    <a16:creationId xmlns:a16="http://schemas.microsoft.com/office/drawing/2014/main" id="{9798E1A6-8D5A-F24F-86B5-1ABF5E8BE7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Freeform 383">
                <a:extLst>
                  <a:ext uri="{FF2B5EF4-FFF2-40B4-BE49-F238E27FC236}">
                    <a16:creationId xmlns:a16="http://schemas.microsoft.com/office/drawing/2014/main" id="{3DE951C7-D515-2E44-A79A-46E790AD0E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Freeform 384">
                <a:extLst>
                  <a:ext uri="{FF2B5EF4-FFF2-40B4-BE49-F238E27FC236}">
                    <a16:creationId xmlns:a16="http://schemas.microsoft.com/office/drawing/2014/main" id="{8349890D-9571-1549-B9B7-691508C0B6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Freeform 385">
                <a:extLst>
                  <a:ext uri="{FF2B5EF4-FFF2-40B4-BE49-F238E27FC236}">
                    <a16:creationId xmlns:a16="http://schemas.microsoft.com/office/drawing/2014/main" id="{D2E3F4C2-6014-744D-BEF5-FDB1AA1491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78" name="Line 230">
            <a:extLst>
              <a:ext uri="{FF2B5EF4-FFF2-40B4-BE49-F238E27FC236}">
                <a16:creationId xmlns:a16="http://schemas.microsoft.com/office/drawing/2014/main" id="{C1EC7F8A-99F7-DE4B-A308-44C9696C6D7A}"/>
              </a:ext>
            </a:extLst>
          </p:cNvPr>
          <p:cNvSpPr>
            <a:spLocks noChangeShapeType="1"/>
          </p:cNvSpPr>
          <p:nvPr/>
        </p:nvSpPr>
        <p:spPr bwMode="auto">
          <a:xfrm>
            <a:off x="5538968" y="2314104"/>
            <a:ext cx="0" cy="2286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pPr eaLnBrk="0" fontAlgn="base" hangingPunct="0">
              <a:spcBef>
                <a:spcPct val="0"/>
              </a:spcBef>
              <a:spcAft>
                <a:spcPct val="0"/>
              </a:spcAft>
            </a:pPr>
            <a:endParaRPr lang="en-US" sz="2400">
              <a:solidFill>
                <a:srgbClr val="000000"/>
              </a:solidFill>
              <a:ea typeface="ＭＳ Ｐゴシック" panose="020B0600070205080204" pitchFamily="34" charset="-128"/>
              <a:cs typeface="Arial"/>
            </a:endParaRPr>
          </a:p>
        </p:txBody>
      </p:sp>
      <p:grpSp>
        <p:nvGrpSpPr>
          <p:cNvPr id="291" name="Group 311">
            <a:extLst>
              <a:ext uri="{FF2B5EF4-FFF2-40B4-BE49-F238E27FC236}">
                <a16:creationId xmlns:a16="http://schemas.microsoft.com/office/drawing/2014/main" id="{A06ACF3F-B97A-A64E-BD1F-CFA2CE8DE324}"/>
              </a:ext>
            </a:extLst>
          </p:cNvPr>
          <p:cNvGrpSpPr>
            <a:grpSpLocks/>
          </p:cNvGrpSpPr>
          <p:nvPr/>
        </p:nvGrpSpPr>
        <p:grpSpPr bwMode="auto">
          <a:xfrm>
            <a:off x="4857931" y="2272829"/>
            <a:ext cx="633412" cy="200025"/>
            <a:chOff x="1800" y="1425"/>
            <a:chExt cx="399" cy="126"/>
          </a:xfrm>
        </p:grpSpPr>
        <p:sp>
          <p:nvSpPr>
            <p:cNvPr id="292" name="Rectangle 294">
              <a:extLst>
                <a:ext uri="{FF2B5EF4-FFF2-40B4-BE49-F238E27FC236}">
                  <a16:creationId xmlns:a16="http://schemas.microsoft.com/office/drawing/2014/main" id="{5A57EA0A-4734-BD4C-B974-4D2EAE09F9C7}"/>
                </a:ext>
              </a:extLst>
            </p:cNvPr>
            <p:cNvSpPr>
              <a:spLocks noChangeArrowheads="1"/>
            </p:cNvSpPr>
            <p:nvPr/>
          </p:nvSpPr>
          <p:spPr bwMode="auto">
            <a:xfrm>
              <a:off x="1800"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93" name="Rectangle 295">
              <a:extLst>
                <a:ext uri="{FF2B5EF4-FFF2-40B4-BE49-F238E27FC236}">
                  <a16:creationId xmlns:a16="http://schemas.microsoft.com/office/drawing/2014/main" id="{515879DB-C7F1-BA40-BC8C-71A4134528CE}"/>
                </a:ext>
              </a:extLst>
            </p:cNvPr>
            <p:cNvSpPr>
              <a:spLocks noChangeArrowheads="1"/>
            </p:cNvSpPr>
            <p:nvPr/>
          </p:nvSpPr>
          <p:spPr bwMode="auto">
            <a:xfrm>
              <a:off x="1902" y="1425"/>
              <a:ext cx="93" cy="126"/>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94" name="Rectangle 296">
              <a:extLst>
                <a:ext uri="{FF2B5EF4-FFF2-40B4-BE49-F238E27FC236}">
                  <a16:creationId xmlns:a16="http://schemas.microsoft.com/office/drawing/2014/main" id="{6883F467-08DC-D149-9E36-9C80354D81A5}"/>
                </a:ext>
              </a:extLst>
            </p:cNvPr>
            <p:cNvSpPr>
              <a:spLocks noChangeArrowheads="1"/>
            </p:cNvSpPr>
            <p:nvPr/>
          </p:nvSpPr>
          <p:spPr bwMode="auto">
            <a:xfrm>
              <a:off x="2004"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95" name="Rectangle 297">
              <a:extLst>
                <a:ext uri="{FF2B5EF4-FFF2-40B4-BE49-F238E27FC236}">
                  <a16:creationId xmlns:a16="http://schemas.microsoft.com/office/drawing/2014/main" id="{14CFBD96-CE00-4747-B1A0-49F377A9CB3B}"/>
                </a:ext>
              </a:extLst>
            </p:cNvPr>
            <p:cNvSpPr>
              <a:spLocks noChangeArrowheads="1"/>
            </p:cNvSpPr>
            <p:nvPr/>
          </p:nvSpPr>
          <p:spPr bwMode="auto">
            <a:xfrm>
              <a:off x="2106"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296" name="Rectangle 298">
            <a:extLst>
              <a:ext uri="{FF2B5EF4-FFF2-40B4-BE49-F238E27FC236}">
                <a16:creationId xmlns:a16="http://schemas.microsoft.com/office/drawing/2014/main" id="{DD538D2F-2895-0543-9865-E7D3D0EB0760}"/>
              </a:ext>
            </a:extLst>
          </p:cNvPr>
          <p:cNvSpPr>
            <a:spLocks noChangeArrowheads="1"/>
          </p:cNvSpPr>
          <p:nvPr/>
        </p:nvSpPr>
        <p:spPr bwMode="auto">
          <a:xfrm>
            <a:off x="3841032" y="2095142"/>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298" name="Line 300">
            <a:extLst>
              <a:ext uri="{FF2B5EF4-FFF2-40B4-BE49-F238E27FC236}">
                <a16:creationId xmlns:a16="http://schemas.microsoft.com/office/drawing/2014/main" id="{85E4595A-74BC-814F-A0D6-7500F4FF6766}"/>
              </a:ext>
            </a:extLst>
          </p:cNvPr>
          <p:cNvSpPr>
            <a:spLocks noChangeShapeType="1"/>
          </p:cNvSpPr>
          <p:nvPr/>
        </p:nvSpPr>
        <p:spPr bwMode="auto">
          <a:xfrm>
            <a:off x="4022858" y="2257010"/>
            <a:ext cx="227109" cy="1141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299" name="Line 301">
            <a:extLst>
              <a:ext uri="{FF2B5EF4-FFF2-40B4-BE49-F238E27FC236}">
                <a16:creationId xmlns:a16="http://schemas.microsoft.com/office/drawing/2014/main" id="{B85E52F2-C999-9648-8987-F5FB1740237D}"/>
              </a:ext>
            </a:extLst>
          </p:cNvPr>
          <p:cNvSpPr>
            <a:spLocks noChangeShapeType="1"/>
          </p:cNvSpPr>
          <p:nvPr/>
        </p:nvSpPr>
        <p:spPr bwMode="auto">
          <a:xfrm flipV="1">
            <a:off x="4236079" y="2610536"/>
            <a:ext cx="248236" cy="15573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312" name="Line 332">
            <a:extLst>
              <a:ext uri="{FF2B5EF4-FFF2-40B4-BE49-F238E27FC236}">
                <a16:creationId xmlns:a16="http://schemas.microsoft.com/office/drawing/2014/main" id="{6FDFA112-5209-FD44-A897-DE1B6C0B424B}"/>
              </a:ext>
            </a:extLst>
          </p:cNvPr>
          <p:cNvSpPr>
            <a:spLocks noChangeShapeType="1"/>
          </p:cNvSpPr>
          <p:nvPr/>
        </p:nvSpPr>
        <p:spPr bwMode="auto">
          <a:xfrm flipV="1">
            <a:off x="5112260" y="2525239"/>
            <a:ext cx="17133" cy="64195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388" name="Line 332">
            <a:extLst>
              <a:ext uri="{FF2B5EF4-FFF2-40B4-BE49-F238E27FC236}">
                <a16:creationId xmlns:a16="http://schemas.microsoft.com/office/drawing/2014/main" id="{6706A516-7979-2441-9F83-47F30A5B244C}"/>
              </a:ext>
            </a:extLst>
          </p:cNvPr>
          <p:cNvSpPr>
            <a:spLocks noChangeShapeType="1"/>
          </p:cNvSpPr>
          <p:nvPr/>
        </p:nvSpPr>
        <p:spPr bwMode="auto">
          <a:xfrm flipV="1">
            <a:off x="3757081" y="1789177"/>
            <a:ext cx="0" cy="2210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389" name="Line 332">
            <a:extLst>
              <a:ext uri="{FF2B5EF4-FFF2-40B4-BE49-F238E27FC236}">
                <a16:creationId xmlns:a16="http://schemas.microsoft.com/office/drawing/2014/main" id="{6AC0CDC5-E2A6-D048-8A7B-D6287D7ECB9A}"/>
              </a:ext>
            </a:extLst>
          </p:cNvPr>
          <p:cNvSpPr>
            <a:spLocks noChangeShapeType="1"/>
          </p:cNvSpPr>
          <p:nvPr/>
        </p:nvSpPr>
        <p:spPr bwMode="auto">
          <a:xfrm flipH="1" flipV="1">
            <a:off x="5850118" y="2470336"/>
            <a:ext cx="0" cy="120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Tree>
    <p:extLst>
      <p:ext uri="{BB962C8B-B14F-4D97-AF65-F5344CB8AC3E}">
        <p14:creationId xmlns:p14="http://schemas.microsoft.com/office/powerpoint/2010/main" val="140309589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03500" y="1222376"/>
            <a:ext cx="6985000" cy="436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23" name="TextBox 4"/>
          <p:cNvSpPr txBox="1">
            <a:spLocks noChangeArrowheads="1"/>
          </p:cNvSpPr>
          <p:nvPr/>
        </p:nvSpPr>
        <p:spPr bwMode="auto">
          <a:xfrm>
            <a:off x="1892301" y="839788"/>
            <a:ext cx="2416175" cy="646112"/>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a:latin typeface="Arial" panose="020B0604020202020204" pitchFamily="34" charset="0"/>
              </a:rPr>
              <a:t>A and B sends packets to the router</a:t>
            </a:r>
            <a:endParaRPr lang="ms-MY" altLang="en-US" sz="1800">
              <a:latin typeface="Arial" panose="020B0604020202020204" pitchFamily="34" charset="0"/>
            </a:endParaRPr>
          </a:p>
        </p:txBody>
      </p:sp>
      <p:sp>
        <p:nvSpPr>
          <p:cNvPr id="81924" name="TextBox 5"/>
          <p:cNvSpPr txBox="1">
            <a:spLocks noChangeArrowheads="1"/>
          </p:cNvSpPr>
          <p:nvPr/>
        </p:nvSpPr>
        <p:spPr bwMode="auto">
          <a:xfrm>
            <a:off x="6240463" y="1485900"/>
            <a:ext cx="2303462" cy="64770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a:latin typeface="Arial" panose="020B0604020202020204" pitchFamily="34" charset="0"/>
              </a:rPr>
              <a:t>The router forwards packet to destination</a:t>
            </a:r>
            <a:endParaRPr lang="ms-MY" altLang="en-US" sz="1800">
              <a:latin typeface="Arial" panose="020B0604020202020204" pitchFamily="34" charset="0"/>
            </a:endParaRPr>
          </a:p>
        </p:txBody>
      </p:sp>
      <p:sp>
        <p:nvSpPr>
          <p:cNvPr id="7" name="Rectangle 6"/>
          <p:cNvSpPr>
            <a:spLocks noChangeArrowheads="1"/>
          </p:cNvSpPr>
          <p:nvPr/>
        </p:nvSpPr>
        <p:spPr bwMode="auto">
          <a:xfrm>
            <a:off x="4029075" y="2978151"/>
            <a:ext cx="3773488" cy="830263"/>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a:solidFill>
                  <a:schemeClr val="bg1"/>
                </a:solidFill>
                <a:latin typeface="Arial" panose="020B0604020202020204" pitchFamily="34" charset="0"/>
              </a:rPr>
              <a:t>When packets arrival at the router </a:t>
            </a:r>
            <a:r>
              <a:rPr lang="en-US" altLang="en-US" sz="1600" b="1">
                <a:solidFill>
                  <a:srgbClr val="FFFF00"/>
                </a:solidFill>
                <a:latin typeface="Arial" panose="020B0604020202020204" pitchFamily="34" charset="0"/>
              </a:rPr>
              <a:t>exceeds</a:t>
            </a:r>
            <a:r>
              <a:rPr lang="en-US" altLang="en-US" sz="1600">
                <a:solidFill>
                  <a:schemeClr val="bg1"/>
                </a:solidFill>
                <a:latin typeface="Arial" panose="020B0604020202020204" pitchFamily="34" charset="0"/>
              </a:rPr>
              <a:t> 1.5 Mbps, congestion will occur at the router as packets </a:t>
            </a:r>
            <a:r>
              <a:rPr lang="en-US" altLang="en-US" sz="1600" b="1">
                <a:solidFill>
                  <a:srgbClr val="FFFF00"/>
                </a:solidFill>
                <a:latin typeface="Arial" panose="020B0604020202020204" pitchFamily="34" charset="0"/>
              </a:rPr>
              <a:t>queue</a:t>
            </a:r>
            <a:endParaRPr lang="ms-MY" altLang="en-US" sz="1600" b="1">
              <a:solidFill>
                <a:srgbClr val="FFFF00"/>
              </a:solidFill>
              <a:latin typeface="Arial" panose="020B0604020202020204" pitchFamily="34" charset="0"/>
            </a:endParaRPr>
          </a:p>
        </p:txBody>
      </p:sp>
      <p:sp>
        <p:nvSpPr>
          <p:cNvPr id="8" name="Rectangle 7"/>
          <p:cNvSpPr>
            <a:spLocks noChangeArrowheads="1"/>
          </p:cNvSpPr>
          <p:nvPr/>
        </p:nvSpPr>
        <p:spPr bwMode="auto">
          <a:xfrm>
            <a:off x="4003675" y="4003675"/>
            <a:ext cx="3773488" cy="831850"/>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a:solidFill>
                  <a:schemeClr val="bg1"/>
                </a:solidFill>
                <a:latin typeface="Arial" panose="020B0604020202020204" pitchFamily="34" charset="0"/>
              </a:rPr>
              <a:t>When packets arrives and </a:t>
            </a:r>
            <a:r>
              <a:rPr lang="en-US" altLang="en-US" sz="1600" b="1">
                <a:solidFill>
                  <a:srgbClr val="FFFF00"/>
                </a:solidFill>
                <a:latin typeface="Arial" panose="020B0604020202020204" pitchFamily="34" charset="0"/>
              </a:rPr>
              <a:t>queue is full</a:t>
            </a:r>
            <a:r>
              <a:rPr lang="en-US" altLang="en-US" sz="1600">
                <a:solidFill>
                  <a:schemeClr val="bg1"/>
                </a:solidFill>
                <a:latin typeface="Arial" panose="020B0604020202020204" pitchFamily="34" charset="0"/>
              </a:rPr>
              <a:t>, packet will be </a:t>
            </a:r>
            <a:r>
              <a:rPr lang="en-US" altLang="en-US" sz="1600" b="1">
                <a:solidFill>
                  <a:srgbClr val="FFFF00"/>
                </a:solidFill>
                <a:latin typeface="Arial" panose="020B0604020202020204" pitchFamily="34" charset="0"/>
              </a:rPr>
              <a:t>dropped</a:t>
            </a:r>
            <a:r>
              <a:rPr lang="en-US" altLang="en-US" sz="1600">
                <a:solidFill>
                  <a:schemeClr val="bg1"/>
                </a:solidFill>
                <a:latin typeface="Arial" panose="020B0604020202020204" pitchFamily="34" charset="0"/>
              </a:rPr>
              <a:t> </a:t>
            </a:r>
            <a:r>
              <a:rPr lang="en-US" altLang="en-US" sz="1600">
                <a:solidFill>
                  <a:schemeClr val="bg1"/>
                </a:solidFill>
                <a:latin typeface="Arial" panose="020B0604020202020204" pitchFamily="34" charset="0"/>
                <a:sym typeface="Wingdings" panose="05000000000000000000" pitchFamily="2" charset="2"/>
              </a:rPr>
              <a:t> resulting in </a:t>
            </a:r>
            <a:r>
              <a:rPr lang="en-US" altLang="en-US" sz="1600" b="1">
                <a:solidFill>
                  <a:srgbClr val="FFFF00"/>
                </a:solidFill>
                <a:latin typeface="Arial" panose="020B0604020202020204" pitchFamily="34" charset="0"/>
                <a:sym typeface="Wingdings" panose="05000000000000000000" pitchFamily="2" charset="2"/>
              </a:rPr>
              <a:t>packet loss</a:t>
            </a:r>
            <a:r>
              <a:rPr lang="en-US" altLang="en-US" sz="1600">
                <a:solidFill>
                  <a:schemeClr val="bg1"/>
                </a:solidFill>
                <a:latin typeface="Arial" panose="020B0604020202020204" pitchFamily="34" charset="0"/>
                <a:sym typeface="Wingdings" panose="05000000000000000000" pitchFamily="2" charset="2"/>
              </a:rPr>
              <a:t>.</a:t>
            </a:r>
            <a:endParaRPr lang="ms-MY" altLang="en-US" sz="1600" b="1">
              <a:solidFill>
                <a:srgbClr val="FFFF00"/>
              </a:solidFill>
              <a:latin typeface="Arial" panose="020B0604020202020204" pitchFamily="34" charset="0"/>
            </a:endParaRPr>
          </a:p>
        </p:txBody>
      </p:sp>
      <p:sp>
        <p:nvSpPr>
          <p:cNvPr id="81927" name="Rectangle 8"/>
          <p:cNvSpPr>
            <a:spLocks noChangeArrowheads="1"/>
          </p:cNvSpPr>
          <p:nvPr/>
        </p:nvSpPr>
        <p:spPr bwMode="auto">
          <a:xfrm>
            <a:off x="1992314" y="260351"/>
            <a:ext cx="83518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solidFill>
                  <a:srgbClr val="C00000"/>
                </a:solidFill>
                <a:latin typeface="Arial" panose="020B0604020202020204" pitchFamily="34" charset="0"/>
              </a:rPr>
              <a:t>Packet Switching: </a:t>
            </a:r>
            <a:r>
              <a:rPr lang="en-MY" altLang="en-US" sz="2400" b="1">
                <a:solidFill>
                  <a:srgbClr val="C00000"/>
                </a:solidFill>
                <a:latin typeface="Arial" panose="020B0604020202020204" pitchFamily="34" charset="0"/>
              </a:rPr>
              <a:t>Queuing Delays and Packet Loss</a:t>
            </a:r>
          </a:p>
        </p:txBody>
      </p:sp>
      <p:sp>
        <p:nvSpPr>
          <p:cNvPr id="11" name="Rounded Rectangular Callout 10"/>
          <p:cNvSpPr/>
          <p:nvPr/>
        </p:nvSpPr>
        <p:spPr>
          <a:xfrm>
            <a:off x="4872039" y="692150"/>
            <a:ext cx="2016125" cy="649288"/>
          </a:xfrm>
          <a:prstGeom prst="wedgeRoundRectCallout">
            <a:avLst>
              <a:gd name="adj1" fmla="val -3382"/>
              <a:gd name="adj2" fmla="val 195296"/>
              <a:gd name="adj3" fmla="val 16667"/>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MY" dirty="0"/>
              <a:t>output buffer /output queue</a:t>
            </a:r>
          </a:p>
        </p:txBody>
      </p:sp>
      <p:pic>
        <p:nvPicPr>
          <p:cNvPr id="81929" name="Graphic 9"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D408C797-02D1-D7DC-6B91-350421E53E87}"/>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42</a:t>
            </a:fld>
            <a:endParaRPr lang="en-US"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en-US" dirty="0">
                <a:ea typeface="ＭＳ Ｐゴシック" panose="020B0600070205080204" pitchFamily="34" charset="-128"/>
              </a:rPr>
              <a:t>Two key network-core functions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43</a:t>
            </a:fld>
            <a:endParaRPr lang="en-US" dirty="0"/>
          </a:p>
        </p:txBody>
      </p:sp>
      <p:sp>
        <p:nvSpPr>
          <p:cNvPr id="5" name="Content Placeholder 4">
            <a:extLst>
              <a:ext uri="{FF2B5EF4-FFF2-40B4-BE49-F238E27FC236}">
                <a16:creationId xmlns:a16="http://schemas.microsoft.com/office/drawing/2014/main" id="{952F2407-C642-7348-A8D7-43AB1BBE8A6A}"/>
              </a:ext>
            </a:extLst>
          </p:cNvPr>
          <p:cNvSpPr>
            <a:spLocks noGrp="1"/>
          </p:cNvSpPr>
          <p:nvPr>
            <p:ph sz="half" idx="1"/>
          </p:nvPr>
        </p:nvSpPr>
        <p:spPr>
          <a:xfrm>
            <a:off x="332534" y="2514905"/>
            <a:ext cx="2930611" cy="3063265"/>
          </a:xfrm>
        </p:spPr>
        <p:txBody>
          <a:bodyPr>
            <a:normAutofit fontScale="92500"/>
          </a:bodyPr>
          <a:lstStyle/>
          <a:p>
            <a:pPr marL="130175" indent="0">
              <a:buNone/>
            </a:pPr>
            <a:r>
              <a:rPr lang="en-US" altLang="en-US" sz="3000" i="1" dirty="0">
                <a:solidFill>
                  <a:srgbClr val="C00000"/>
                </a:solidFill>
                <a:ea typeface="ＭＳ Ｐゴシック" panose="020B0600070205080204" pitchFamily="34" charset="-128"/>
              </a:rPr>
              <a:t>Forwarding</a:t>
            </a:r>
            <a:r>
              <a:rPr lang="en-US" altLang="en-US" i="1" dirty="0">
                <a:solidFill>
                  <a:srgbClr val="C00000"/>
                </a:solidFill>
                <a:ea typeface="ＭＳ Ｐゴシック" panose="020B0600070205080204" pitchFamily="34" charset="-128"/>
              </a:rPr>
              <a:t>:</a:t>
            </a:r>
            <a:r>
              <a:rPr lang="en-US" altLang="en-US" dirty="0">
                <a:solidFill>
                  <a:srgbClr val="C00000"/>
                </a:solidFill>
                <a:ea typeface="ＭＳ Ｐゴシック" panose="020B0600070205080204" pitchFamily="34" charset="-128"/>
              </a:rPr>
              <a:t> </a:t>
            </a:r>
          </a:p>
          <a:p>
            <a:r>
              <a:rPr lang="en-US" altLang="en-US" i="1" dirty="0">
                <a:solidFill>
                  <a:srgbClr val="C00000"/>
                </a:solidFill>
                <a:ea typeface="ＭＳ Ｐゴシック" panose="020B0600070205080204" pitchFamily="34" charset="-128"/>
              </a:rPr>
              <a:t>local</a:t>
            </a:r>
            <a:r>
              <a:rPr lang="en-US" altLang="en-US" i="1" dirty="0">
                <a:ea typeface="ＭＳ Ｐゴシック" panose="020B0600070205080204" pitchFamily="34" charset="-128"/>
              </a:rPr>
              <a:t> </a:t>
            </a:r>
            <a:r>
              <a:rPr lang="en-US" altLang="en-US" dirty="0">
                <a:ea typeface="ＭＳ Ｐゴシック" panose="020B0600070205080204" pitchFamily="34" charset="-128"/>
              </a:rPr>
              <a:t>action: move arriving packets from router’</a:t>
            </a:r>
            <a:r>
              <a:rPr lang="en-US" altLang="ja-JP" dirty="0">
                <a:ea typeface="ＭＳ Ｐゴシック" panose="020B0600070205080204" pitchFamily="34" charset="-128"/>
              </a:rPr>
              <a:t>s input link to appropriate router output link</a:t>
            </a:r>
          </a:p>
          <a:p>
            <a:endParaRPr lang="en-US" dirty="0"/>
          </a:p>
        </p:txBody>
      </p:sp>
      <p:sp>
        <p:nvSpPr>
          <p:cNvPr id="555" name="Freeform 2">
            <a:extLst>
              <a:ext uri="{FF2B5EF4-FFF2-40B4-BE49-F238E27FC236}">
                <a16:creationId xmlns:a16="http://schemas.microsoft.com/office/drawing/2014/main" id="{FF2E779B-19C4-C84C-AF23-86A160C7809A}"/>
              </a:ext>
            </a:extLst>
          </p:cNvPr>
          <p:cNvSpPr>
            <a:spLocks/>
          </p:cNvSpPr>
          <p:nvPr/>
        </p:nvSpPr>
        <p:spPr bwMode="auto">
          <a:xfrm>
            <a:off x="5006052" y="4251228"/>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56" name="Freeform 6">
            <a:extLst>
              <a:ext uri="{FF2B5EF4-FFF2-40B4-BE49-F238E27FC236}">
                <a16:creationId xmlns:a16="http://schemas.microsoft.com/office/drawing/2014/main" id="{EADD15B8-1F38-C144-B4FC-77401AC13A48}"/>
              </a:ext>
            </a:extLst>
          </p:cNvPr>
          <p:cNvSpPr>
            <a:spLocks/>
          </p:cNvSpPr>
          <p:nvPr/>
        </p:nvSpPr>
        <p:spPr bwMode="auto">
          <a:xfrm>
            <a:off x="5644427" y="4554393"/>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3" name="Freeform 91">
            <a:extLst>
              <a:ext uri="{FF2B5EF4-FFF2-40B4-BE49-F238E27FC236}">
                <a16:creationId xmlns:a16="http://schemas.microsoft.com/office/drawing/2014/main" id="{B3932AB8-93E3-2F43-A748-0726EC875A6F}"/>
              </a:ext>
            </a:extLst>
          </p:cNvPr>
          <p:cNvSpPr>
            <a:spLocks/>
          </p:cNvSpPr>
          <p:nvPr/>
        </p:nvSpPr>
        <p:spPr bwMode="auto">
          <a:xfrm>
            <a:off x="6686155" y="4548044"/>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4" name="Freeform 92">
            <a:extLst>
              <a:ext uri="{FF2B5EF4-FFF2-40B4-BE49-F238E27FC236}">
                <a16:creationId xmlns:a16="http://schemas.microsoft.com/office/drawing/2014/main" id="{86645581-8A95-834A-BD17-26E6EFA5E421}"/>
              </a:ext>
            </a:extLst>
          </p:cNvPr>
          <p:cNvSpPr>
            <a:spLocks/>
          </p:cNvSpPr>
          <p:nvPr/>
        </p:nvSpPr>
        <p:spPr bwMode="auto">
          <a:xfrm>
            <a:off x="5620607" y="4940095"/>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5" name="Freeform 93">
            <a:extLst>
              <a:ext uri="{FF2B5EF4-FFF2-40B4-BE49-F238E27FC236}">
                <a16:creationId xmlns:a16="http://schemas.microsoft.com/office/drawing/2014/main" id="{D6C52C6F-55EC-4B4B-8EE6-502A2CA3B84C}"/>
              </a:ext>
            </a:extLst>
          </p:cNvPr>
          <p:cNvSpPr>
            <a:spLocks/>
          </p:cNvSpPr>
          <p:nvPr/>
        </p:nvSpPr>
        <p:spPr bwMode="auto">
          <a:xfrm>
            <a:off x="6568643" y="4916286"/>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6" name="Freeform 94">
            <a:extLst>
              <a:ext uri="{FF2B5EF4-FFF2-40B4-BE49-F238E27FC236}">
                <a16:creationId xmlns:a16="http://schemas.microsoft.com/office/drawing/2014/main" id="{EF2A04CC-2036-2147-BE92-5D723E966AB5}"/>
              </a:ext>
            </a:extLst>
          </p:cNvPr>
          <p:cNvSpPr>
            <a:spLocks/>
          </p:cNvSpPr>
          <p:nvPr/>
        </p:nvSpPr>
        <p:spPr bwMode="auto">
          <a:xfrm>
            <a:off x="7235603" y="4970253"/>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7" name="Freeform 95">
            <a:extLst>
              <a:ext uri="{FF2B5EF4-FFF2-40B4-BE49-F238E27FC236}">
                <a16:creationId xmlns:a16="http://schemas.microsoft.com/office/drawing/2014/main" id="{1357444A-5412-B441-B7F1-0ABDD8FDCB19}"/>
              </a:ext>
            </a:extLst>
          </p:cNvPr>
          <p:cNvSpPr>
            <a:spLocks/>
          </p:cNvSpPr>
          <p:nvPr/>
        </p:nvSpPr>
        <p:spPr bwMode="auto">
          <a:xfrm>
            <a:off x="6000139" y="5503569"/>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8" name="Freeform 96">
            <a:extLst>
              <a:ext uri="{FF2B5EF4-FFF2-40B4-BE49-F238E27FC236}">
                <a16:creationId xmlns:a16="http://schemas.microsoft.com/office/drawing/2014/main" id="{59D740AB-C1B4-2849-8B9D-6AEF697D0749}"/>
              </a:ext>
            </a:extLst>
          </p:cNvPr>
          <p:cNvSpPr>
            <a:spLocks/>
          </p:cNvSpPr>
          <p:nvPr/>
        </p:nvSpPr>
        <p:spPr bwMode="auto">
          <a:xfrm>
            <a:off x="5463395" y="4963904"/>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9" name="Text Box 100">
            <a:extLst>
              <a:ext uri="{FF2B5EF4-FFF2-40B4-BE49-F238E27FC236}">
                <a16:creationId xmlns:a16="http://schemas.microsoft.com/office/drawing/2014/main" id="{D9EBBE7F-1AC1-DD49-9B12-0321B6BF147D}"/>
              </a:ext>
            </a:extLst>
          </p:cNvPr>
          <p:cNvSpPr txBox="1">
            <a:spLocks noChangeArrowheads="1"/>
          </p:cNvSpPr>
          <p:nvPr/>
        </p:nvSpPr>
        <p:spPr bwMode="auto">
          <a:xfrm>
            <a:off x="5552962" y="4473413"/>
            <a:ext cx="311165" cy="366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sp>
        <p:nvSpPr>
          <p:cNvPr id="570" name="Text Box 101">
            <a:extLst>
              <a:ext uri="{FF2B5EF4-FFF2-40B4-BE49-F238E27FC236}">
                <a16:creationId xmlns:a16="http://schemas.microsoft.com/office/drawing/2014/main" id="{559FA9C3-4C06-B748-9497-463EDB81D67C}"/>
              </a:ext>
            </a:extLst>
          </p:cNvPr>
          <p:cNvSpPr txBox="1">
            <a:spLocks noChangeArrowheads="1"/>
          </p:cNvSpPr>
          <p:nvPr/>
        </p:nvSpPr>
        <p:spPr bwMode="auto">
          <a:xfrm>
            <a:off x="5491046" y="4887671"/>
            <a:ext cx="296876" cy="336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sp>
        <p:nvSpPr>
          <p:cNvPr id="571" name="Text Box 102">
            <a:extLst>
              <a:ext uri="{FF2B5EF4-FFF2-40B4-BE49-F238E27FC236}">
                <a16:creationId xmlns:a16="http://schemas.microsoft.com/office/drawing/2014/main" id="{3BBE9A1F-C0AA-2543-AF24-2DA796ADE915}"/>
              </a:ext>
            </a:extLst>
          </p:cNvPr>
          <p:cNvSpPr txBox="1">
            <a:spLocks noChangeArrowheads="1"/>
          </p:cNvSpPr>
          <p:nvPr/>
        </p:nvSpPr>
        <p:spPr bwMode="auto">
          <a:xfrm>
            <a:off x="5240209" y="4960682"/>
            <a:ext cx="296876" cy="336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nvGrpSpPr>
          <p:cNvPr id="572" name="Group 1">
            <a:extLst>
              <a:ext uri="{FF2B5EF4-FFF2-40B4-BE49-F238E27FC236}">
                <a16:creationId xmlns:a16="http://schemas.microsoft.com/office/drawing/2014/main" id="{1DD5DCC4-02E2-1649-B2A3-9D4E0A262108}"/>
              </a:ext>
            </a:extLst>
          </p:cNvPr>
          <p:cNvGrpSpPr>
            <a:grpSpLocks/>
          </p:cNvGrpSpPr>
          <p:nvPr/>
        </p:nvGrpSpPr>
        <p:grpSpPr bwMode="auto">
          <a:xfrm rot="19587632">
            <a:off x="3755686" y="5384964"/>
            <a:ext cx="1447107" cy="274584"/>
            <a:chOff x="2437928" y="4584228"/>
            <a:chExt cx="1446652" cy="274627"/>
          </a:xfrm>
        </p:grpSpPr>
        <p:sp>
          <p:nvSpPr>
            <p:cNvPr id="623" name="Rectangle 98">
              <a:extLst>
                <a:ext uri="{FF2B5EF4-FFF2-40B4-BE49-F238E27FC236}">
                  <a16:creationId xmlns:a16="http://schemas.microsoft.com/office/drawing/2014/main" id="{DAED8E30-7EFF-5D47-A9D9-1395C15ACF9C}"/>
                </a:ext>
              </a:extLst>
            </p:cNvPr>
            <p:cNvSpPr>
              <a:spLocks noChangeArrowheads="1"/>
            </p:cNvSpPr>
            <p:nvPr/>
          </p:nvSpPr>
          <p:spPr bwMode="auto">
            <a:xfrm>
              <a:off x="2437928" y="4606491"/>
              <a:ext cx="1147455" cy="238116"/>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4" name="Line 99">
              <a:extLst>
                <a:ext uri="{FF2B5EF4-FFF2-40B4-BE49-F238E27FC236}">
                  <a16:creationId xmlns:a16="http://schemas.microsoft.com/office/drawing/2014/main" id="{3B4DCCB4-358C-2945-BD39-D90CF9D09C7A}"/>
                </a:ext>
              </a:extLst>
            </p:cNvPr>
            <p:cNvSpPr>
              <a:spLocks noChangeShapeType="1"/>
            </p:cNvSpPr>
            <p:nvPr/>
          </p:nvSpPr>
          <p:spPr bwMode="auto">
            <a:xfrm>
              <a:off x="3462418" y="4739659"/>
              <a:ext cx="422162"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5" name="Rectangle 104">
              <a:extLst>
                <a:ext uri="{FF2B5EF4-FFF2-40B4-BE49-F238E27FC236}">
                  <a16:creationId xmlns:a16="http://schemas.microsoft.com/office/drawing/2014/main" id="{509F2DE1-CFB9-584F-9A9E-EBE631DD6D03}"/>
                </a:ext>
              </a:extLst>
            </p:cNvPr>
            <p:cNvSpPr>
              <a:spLocks noChangeArrowheads="1"/>
            </p:cNvSpPr>
            <p:nvPr/>
          </p:nvSpPr>
          <p:spPr bwMode="auto">
            <a:xfrm>
              <a:off x="3067594" y="4610052"/>
              <a:ext cx="426923" cy="239704"/>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6" name="Text Box 105">
              <a:extLst>
                <a:ext uri="{FF2B5EF4-FFF2-40B4-BE49-F238E27FC236}">
                  <a16:creationId xmlns:a16="http://schemas.microsoft.com/office/drawing/2014/main" id="{32BE95A8-E240-0C46-886C-FB19052E1A59}"/>
                </a:ext>
              </a:extLst>
            </p:cNvPr>
            <p:cNvSpPr txBox="1">
              <a:spLocks noChangeArrowheads="1"/>
            </p:cNvSpPr>
            <p:nvPr/>
          </p:nvSpPr>
          <p:spPr bwMode="auto">
            <a:xfrm rot="289934">
              <a:off x="3019653" y="4584228"/>
              <a:ext cx="520561" cy="274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0111</a:t>
              </a:r>
            </a:p>
          </p:txBody>
        </p:sp>
      </p:grpSp>
      <p:sp>
        <p:nvSpPr>
          <p:cNvPr id="573" name="Text Box 106">
            <a:extLst>
              <a:ext uri="{FF2B5EF4-FFF2-40B4-BE49-F238E27FC236}">
                <a16:creationId xmlns:a16="http://schemas.microsoft.com/office/drawing/2014/main" id="{6C2D30C9-C124-A14F-8E31-BC5CBF38EFD2}"/>
              </a:ext>
            </a:extLst>
          </p:cNvPr>
          <p:cNvSpPr txBox="1">
            <a:spLocks noChangeArrowheads="1"/>
          </p:cNvSpPr>
          <p:nvPr/>
        </p:nvSpPr>
        <p:spPr bwMode="auto">
          <a:xfrm>
            <a:off x="2749550" y="6036800"/>
            <a:ext cx="269977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destination address in arriving</a:t>
            </a:r>
          </a:p>
          <a:p>
            <a:pPr marL="0" marR="0" lvl="0" indent="0" defTabSz="914400" eaLnBrk="1" fontAlgn="base" latinLnBrk="0" hangingPunct="1">
              <a:lnSpc>
                <a:spcPct val="100000"/>
              </a:lnSpc>
              <a:spcBef>
                <a:spcPct val="0"/>
              </a:spcBef>
              <a:spcAft>
                <a:spcPct val="0"/>
              </a:spcAft>
              <a:buClrTx/>
              <a:buSzTx/>
              <a:buFontTx/>
              <a:buNone/>
              <a:tabLst/>
              <a:defRPr/>
            </a:pPr>
            <a:r>
              <a:rPr lang="en-US" altLang="en-US" sz="1600" kern="0" dirty="0">
                <a:solidFill>
                  <a:srgbClr val="000000"/>
                </a:solidFill>
                <a:latin typeface="+mn-lt"/>
                <a:cs typeface="Arial"/>
              </a:rPr>
              <a:t>p</a:t>
            </a:r>
            <a:r>
              <a:rPr kumimoji="0" lang="en-US" altLang="en-US" sz="1600" b="0" i="0" u="none" strike="noStrike" kern="0" cap="none" spc="0" normalizeH="0" baseline="0" noProof="0" dirty="0" err="1">
                <a:ln>
                  <a:noFill/>
                </a:ln>
                <a:solidFill>
                  <a:srgbClr val="000000"/>
                </a:solidFill>
                <a:effectLst/>
                <a:uLnTx/>
                <a:uFillTx/>
                <a:latin typeface="+mn-lt"/>
                <a:ea typeface="ＭＳ Ｐゴシック" panose="020B0600070205080204" pitchFamily="34" charset="-128"/>
                <a:cs typeface="Arial"/>
              </a:rPr>
              <a:t>acket</a:t>
            </a:r>
            <a:r>
              <a:rPr lang="en-US" altLang="en-US" sz="1600" kern="0" dirty="0">
                <a:solidFill>
                  <a:srgbClr val="000000"/>
                </a:solidFill>
                <a:latin typeface="+mn-lt"/>
                <a:cs typeface="Arial"/>
              </a:rPr>
              <a:t>’</a:t>
            </a:r>
            <a:r>
              <a:rPr kumimoji="0" lang="en-US" altLang="ja-JP" sz="16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s header</a:t>
            </a:r>
            <a:endParaRPr kumimoji="0" lang="en-US" altLang="en-US" sz="16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endParaRPr>
          </a:p>
        </p:txBody>
      </p:sp>
      <p:sp>
        <p:nvSpPr>
          <p:cNvPr id="574" name="Line 107">
            <a:extLst>
              <a:ext uri="{FF2B5EF4-FFF2-40B4-BE49-F238E27FC236}">
                <a16:creationId xmlns:a16="http://schemas.microsoft.com/office/drawing/2014/main" id="{072205A6-9619-2641-B84D-F2DB72368DFC}"/>
              </a:ext>
            </a:extLst>
          </p:cNvPr>
          <p:cNvSpPr>
            <a:spLocks noChangeShapeType="1"/>
          </p:cNvSpPr>
          <p:nvPr/>
        </p:nvSpPr>
        <p:spPr bwMode="auto">
          <a:xfrm flipH="1">
            <a:off x="3738363" y="4863862"/>
            <a:ext cx="1408179" cy="9142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75" name="Line 119">
            <a:extLst>
              <a:ext uri="{FF2B5EF4-FFF2-40B4-BE49-F238E27FC236}">
                <a16:creationId xmlns:a16="http://schemas.microsoft.com/office/drawing/2014/main" id="{0B740026-EAE0-0240-86EC-A55B416CB515}"/>
              </a:ext>
            </a:extLst>
          </p:cNvPr>
          <p:cNvSpPr>
            <a:spLocks noChangeShapeType="1"/>
          </p:cNvSpPr>
          <p:nvPr/>
        </p:nvSpPr>
        <p:spPr bwMode="auto">
          <a:xfrm flipV="1">
            <a:off x="4633924" y="5622613"/>
            <a:ext cx="0" cy="50157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76" name="Freeform 121">
            <a:extLst>
              <a:ext uri="{FF2B5EF4-FFF2-40B4-BE49-F238E27FC236}">
                <a16:creationId xmlns:a16="http://schemas.microsoft.com/office/drawing/2014/main" id="{BA4C9CA2-C4D0-984B-AFE8-C9974B8B23F5}"/>
              </a:ext>
            </a:extLst>
          </p:cNvPr>
          <p:cNvSpPr>
            <a:spLocks/>
          </p:cNvSpPr>
          <p:nvPr/>
        </p:nvSpPr>
        <p:spPr bwMode="auto">
          <a:xfrm flipH="1">
            <a:off x="7355160" y="4409734"/>
            <a:ext cx="578032"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77" name="Freeform 122">
            <a:extLst>
              <a:ext uri="{FF2B5EF4-FFF2-40B4-BE49-F238E27FC236}">
                <a16:creationId xmlns:a16="http://schemas.microsoft.com/office/drawing/2014/main" id="{F1A7D39F-695E-5640-85EA-21CF852D3A68}"/>
              </a:ext>
            </a:extLst>
          </p:cNvPr>
          <p:cNvSpPr>
            <a:spLocks/>
          </p:cNvSpPr>
          <p:nvPr/>
        </p:nvSpPr>
        <p:spPr bwMode="auto">
          <a:xfrm flipH="1">
            <a:off x="6355851" y="4076630"/>
            <a:ext cx="578032"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78" name="Freeform 123">
            <a:extLst>
              <a:ext uri="{FF2B5EF4-FFF2-40B4-BE49-F238E27FC236}">
                <a16:creationId xmlns:a16="http://schemas.microsoft.com/office/drawing/2014/main" id="{E2E294CE-A2DB-714E-A0AC-422D97395F54}"/>
              </a:ext>
            </a:extLst>
          </p:cNvPr>
          <p:cNvSpPr>
            <a:spLocks/>
          </p:cNvSpPr>
          <p:nvPr/>
        </p:nvSpPr>
        <p:spPr bwMode="auto">
          <a:xfrm flipH="1" flipV="1">
            <a:off x="7024398" y="5622613"/>
            <a:ext cx="543096"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79" name="Freeform 124">
            <a:extLst>
              <a:ext uri="{FF2B5EF4-FFF2-40B4-BE49-F238E27FC236}">
                <a16:creationId xmlns:a16="http://schemas.microsoft.com/office/drawing/2014/main" id="{01D680E8-9A4D-5040-ACCF-79EE0764823F}"/>
              </a:ext>
            </a:extLst>
          </p:cNvPr>
          <p:cNvSpPr>
            <a:spLocks/>
          </p:cNvSpPr>
          <p:nvPr/>
        </p:nvSpPr>
        <p:spPr bwMode="auto">
          <a:xfrm flipH="1" flipV="1">
            <a:off x="5674599" y="5606741"/>
            <a:ext cx="543096"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80" name="Freeform 125">
            <a:extLst>
              <a:ext uri="{FF2B5EF4-FFF2-40B4-BE49-F238E27FC236}">
                <a16:creationId xmlns:a16="http://schemas.microsoft.com/office/drawing/2014/main" id="{EF252024-15E7-DD46-8C92-5B81D9757F49}"/>
              </a:ext>
            </a:extLst>
          </p:cNvPr>
          <p:cNvSpPr>
            <a:spLocks/>
          </p:cNvSpPr>
          <p:nvPr/>
        </p:nvSpPr>
        <p:spPr bwMode="auto">
          <a:xfrm flipH="1" flipV="1">
            <a:off x="6312396" y="5299841"/>
            <a:ext cx="552600" cy="477654"/>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 name="connsiteX0" fmla="*/ 0 w 10117"/>
              <a:gd name="connsiteY0" fmla="*/ 0 h 10550"/>
              <a:gd name="connsiteX1" fmla="*/ 7574 w 10117"/>
              <a:gd name="connsiteY1" fmla="*/ 10355 h 10550"/>
              <a:gd name="connsiteX2" fmla="*/ 9265 w 10117"/>
              <a:gd name="connsiteY2" fmla="*/ 10429 h 10550"/>
              <a:gd name="connsiteX3" fmla="*/ 10117 w 10117"/>
              <a:gd name="connsiteY3" fmla="*/ 833 h 10550"/>
              <a:gd name="connsiteX4" fmla="*/ 0 w 10117"/>
              <a:gd name="connsiteY4" fmla="*/ 0 h 10550"/>
              <a:gd name="connsiteX0" fmla="*/ 0 w 10175"/>
              <a:gd name="connsiteY0" fmla="*/ 9 h 10559"/>
              <a:gd name="connsiteX1" fmla="*/ 7574 w 10175"/>
              <a:gd name="connsiteY1" fmla="*/ 10364 h 10559"/>
              <a:gd name="connsiteX2" fmla="*/ 9265 w 10175"/>
              <a:gd name="connsiteY2" fmla="*/ 10438 h 10559"/>
              <a:gd name="connsiteX3" fmla="*/ 10175 w 10175"/>
              <a:gd name="connsiteY3" fmla="*/ 0 h 10559"/>
              <a:gd name="connsiteX4" fmla="*/ 0 w 10175"/>
              <a:gd name="connsiteY4" fmla="*/ 9 h 10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5" h="10559">
                <a:moveTo>
                  <a:pt x="0" y="9"/>
                </a:moveTo>
                <a:cubicBezTo>
                  <a:pt x="3957" y="3502"/>
                  <a:pt x="6049" y="5781"/>
                  <a:pt x="7574" y="10364"/>
                </a:cubicBezTo>
                <a:cubicBezTo>
                  <a:pt x="8329" y="10279"/>
                  <a:pt x="8572" y="10781"/>
                  <a:pt x="9265" y="10438"/>
                </a:cubicBezTo>
                <a:cubicBezTo>
                  <a:pt x="8877" y="5033"/>
                  <a:pt x="9018" y="4253"/>
                  <a:pt x="10175" y="0"/>
                </a:cubicBezTo>
                <a:lnTo>
                  <a:pt x="0" y="9"/>
                </a:ln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581" name="Group 126">
            <a:extLst>
              <a:ext uri="{FF2B5EF4-FFF2-40B4-BE49-F238E27FC236}">
                <a16:creationId xmlns:a16="http://schemas.microsoft.com/office/drawing/2014/main" id="{A0DBCF2A-68BC-0E49-9BC5-C97C8363D864}"/>
              </a:ext>
            </a:extLst>
          </p:cNvPr>
          <p:cNvGrpSpPr>
            <a:grpSpLocks/>
          </p:cNvGrpSpPr>
          <p:nvPr/>
        </p:nvGrpSpPr>
        <p:grpSpPr bwMode="auto">
          <a:xfrm>
            <a:off x="6363791" y="3632200"/>
            <a:ext cx="551036" cy="452367"/>
            <a:chOff x="2886" y="1668"/>
            <a:chExt cx="347" cy="285"/>
          </a:xfrm>
        </p:grpSpPr>
        <p:sp>
          <p:nvSpPr>
            <p:cNvPr id="615" name="Rectangle 127">
              <a:extLst>
                <a:ext uri="{FF2B5EF4-FFF2-40B4-BE49-F238E27FC236}">
                  <a16:creationId xmlns:a16="http://schemas.microsoft.com/office/drawing/2014/main" id="{71169ED3-AFC0-4148-B3AF-F5CDA7528294}"/>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6" name="Oval 128">
              <a:extLst>
                <a:ext uri="{FF2B5EF4-FFF2-40B4-BE49-F238E27FC236}">
                  <a16:creationId xmlns:a16="http://schemas.microsoft.com/office/drawing/2014/main" id="{AC629926-7E0E-2847-8D33-F5422334802F}"/>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7" name="Rectangle 129">
              <a:extLst>
                <a:ext uri="{FF2B5EF4-FFF2-40B4-BE49-F238E27FC236}">
                  <a16:creationId xmlns:a16="http://schemas.microsoft.com/office/drawing/2014/main" id="{FC623931-6ACB-D741-B606-3ADCC24ECE5A}"/>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8" name="Line 130">
              <a:extLst>
                <a:ext uri="{FF2B5EF4-FFF2-40B4-BE49-F238E27FC236}">
                  <a16:creationId xmlns:a16="http://schemas.microsoft.com/office/drawing/2014/main" id="{089D0DF0-9BD9-F942-ABBC-2C2B3307EB78}"/>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9" name="Line 131">
              <a:extLst>
                <a:ext uri="{FF2B5EF4-FFF2-40B4-BE49-F238E27FC236}">
                  <a16:creationId xmlns:a16="http://schemas.microsoft.com/office/drawing/2014/main" id="{0E53DB83-F101-5545-A34E-97BFB2854FE6}"/>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0" name="Line 132">
              <a:extLst>
                <a:ext uri="{FF2B5EF4-FFF2-40B4-BE49-F238E27FC236}">
                  <a16:creationId xmlns:a16="http://schemas.microsoft.com/office/drawing/2014/main" id="{EABDFEE7-706B-B849-BCF8-C4C3EBFA80AB}"/>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1" name="AutoShape 133">
              <a:extLst>
                <a:ext uri="{FF2B5EF4-FFF2-40B4-BE49-F238E27FC236}">
                  <a16:creationId xmlns:a16="http://schemas.microsoft.com/office/drawing/2014/main" id="{891A9424-3FE8-FF4E-9F56-53905C4379DE}"/>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582" name="Group 134">
            <a:extLst>
              <a:ext uri="{FF2B5EF4-FFF2-40B4-BE49-F238E27FC236}">
                <a16:creationId xmlns:a16="http://schemas.microsoft.com/office/drawing/2014/main" id="{19AA9F68-22E1-614E-ABF6-392E3AC11A2A}"/>
              </a:ext>
            </a:extLst>
          </p:cNvPr>
          <p:cNvGrpSpPr>
            <a:grpSpLocks/>
          </p:cNvGrpSpPr>
          <p:nvPr/>
        </p:nvGrpSpPr>
        <p:grpSpPr bwMode="auto">
          <a:xfrm>
            <a:off x="7360606" y="3958273"/>
            <a:ext cx="551036" cy="452367"/>
            <a:chOff x="2886" y="1668"/>
            <a:chExt cx="347" cy="285"/>
          </a:xfrm>
        </p:grpSpPr>
        <p:sp>
          <p:nvSpPr>
            <p:cNvPr id="608" name="Rectangle 135">
              <a:extLst>
                <a:ext uri="{FF2B5EF4-FFF2-40B4-BE49-F238E27FC236}">
                  <a16:creationId xmlns:a16="http://schemas.microsoft.com/office/drawing/2014/main" id="{EAD44720-65AD-9041-929E-69D9187295AE}"/>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9" name="Oval 136">
              <a:extLst>
                <a:ext uri="{FF2B5EF4-FFF2-40B4-BE49-F238E27FC236}">
                  <a16:creationId xmlns:a16="http://schemas.microsoft.com/office/drawing/2014/main" id="{5A2842E3-83E1-6F46-A170-FBD2EAFAAC46}"/>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0" name="Rectangle 137">
              <a:extLst>
                <a:ext uri="{FF2B5EF4-FFF2-40B4-BE49-F238E27FC236}">
                  <a16:creationId xmlns:a16="http://schemas.microsoft.com/office/drawing/2014/main" id="{5D953EEF-DB10-AB46-89E0-2D0204A95FF6}"/>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1" name="Line 138">
              <a:extLst>
                <a:ext uri="{FF2B5EF4-FFF2-40B4-BE49-F238E27FC236}">
                  <a16:creationId xmlns:a16="http://schemas.microsoft.com/office/drawing/2014/main" id="{F94B58EF-BCEB-9C4C-8317-B25CD84B1749}"/>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2" name="Line 139">
              <a:extLst>
                <a:ext uri="{FF2B5EF4-FFF2-40B4-BE49-F238E27FC236}">
                  <a16:creationId xmlns:a16="http://schemas.microsoft.com/office/drawing/2014/main" id="{BBB093F8-922C-0344-B963-C8ECD30B6578}"/>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3" name="Line 140">
              <a:extLst>
                <a:ext uri="{FF2B5EF4-FFF2-40B4-BE49-F238E27FC236}">
                  <a16:creationId xmlns:a16="http://schemas.microsoft.com/office/drawing/2014/main" id="{D21DC1F8-C38D-B14D-A544-B1D9CF1CD781}"/>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4" name="AutoShape 141">
              <a:extLst>
                <a:ext uri="{FF2B5EF4-FFF2-40B4-BE49-F238E27FC236}">
                  <a16:creationId xmlns:a16="http://schemas.microsoft.com/office/drawing/2014/main" id="{43F8D630-2301-B744-AE1A-D9F4AA9D1F46}"/>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601" name="Rectangle 143">
            <a:extLst>
              <a:ext uri="{FF2B5EF4-FFF2-40B4-BE49-F238E27FC236}">
                <a16:creationId xmlns:a16="http://schemas.microsoft.com/office/drawing/2014/main" id="{E300D31A-9F41-1046-8BDC-FA062AA6A535}"/>
              </a:ext>
            </a:extLst>
          </p:cNvPr>
          <p:cNvSpPr>
            <a:spLocks noChangeArrowheads="1"/>
          </p:cNvSpPr>
          <p:nvPr/>
        </p:nvSpPr>
        <p:spPr bwMode="auto">
          <a:xfrm>
            <a:off x="7006931" y="5981332"/>
            <a:ext cx="551036" cy="452367"/>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2" name="Oval 144">
            <a:extLst>
              <a:ext uri="{FF2B5EF4-FFF2-40B4-BE49-F238E27FC236}">
                <a16:creationId xmlns:a16="http://schemas.microsoft.com/office/drawing/2014/main" id="{3CBE6854-ED5B-BB4C-96CF-87D28DDCEB99}"/>
              </a:ext>
            </a:extLst>
          </p:cNvPr>
          <p:cNvSpPr>
            <a:spLocks noChangeArrowheads="1"/>
          </p:cNvSpPr>
          <p:nvPr/>
        </p:nvSpPr>
        <p:spPr bwMode="auto">
          <a:xfrm>
            <a:off x="7037103" y="5990856"/>
            <a:ext cx="498632" cy="117457"/>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3" name="Rectangle 145">
            <a:extLst>
              <a:ext uri="{FF2B5EF4-FFF2-40B4-BE49-F238E27FC236}">
                <a16:creationId xmlns:a16="http://schemas.microsoft.com/office/drawing/2014/main" id="{8AE3F3D6-CBEF-C24A-800F-FB45135980B9}"/>
              </a:ext>
            </a:extLst>
          </p:cNvPr>
          <p:cNvSpPr>
            <a:spLocks noChangeArrowheads="1"/>
          </p:cNvSpPr>
          <p:nvPr/>
        </p:nvSpPr>
        <p:spPr bwMode="auto">
          <a:xfrm>
            <a:off x="7049807" y="6167041"/>
            <a:ext cx="476400" cy="247611"/>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4" name="Line 146">
            <a:extLst>
              <a:ext uri="{FF2B5EF4-FFF2-40B4-BE49-F238E27FC236}">
                <a16:creationId xmlns:a16="http://schemas.microsoft.com/office/drawing/2014/main" id="{C64871C2-76E7-8247-8F42-BCCB69335479}"/>
              </a:ext>
            </a:extLst>
          </p:cNvPr>
          <p:cNvSpPr>
            <a:spLocks noChangeShapeType="1"/>
          </p:cNvSpPr>
          <p:nvPr/>
        </p:nvSpPr>
        <p:spPr bwMode="auto">
          <a:xfrm>
            <a:off x="7318179" y="6208309"/>
            <a:ext cx="1588" cy="2063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5" name="Line 147">
            <a:extLst>
              <a:ext uri="{FF2B5EF4-FFF2-40B4-BE49-F238E27FC236}">
                <a16:creationId xmlns:a16="http://schemas.microsoft.com/office/drawing/2014/main" id="{14013ACF-BB40-FF4E-A4EF-9848CA9C191A}"/>
              </a:ext>
            </a:extLst>
          </p:cNvPr>
          <p:cNvSpPr>
            <a:spLocks noChangeShapeType="1"/>
          </p:cNvSpPr>
          <p:nvPr/>
        </p:nvSpPr>
        <p:spPr bwMode="auto">
          <a:xfrm>
            <a:off x="7049807" y="6257514"/>
            <a:ext cx="4764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6" name="Line 148">
            <a:extLst>
              <a:ext uri="{FF2B5EF4-FFF2-40B4-BE49-F238E27FC236}">
                <a16:creationId xmlns:a16="http://schemas.microsoft.com/office/drawing/2014/main" id="{E0DF6D46-E77F-4D44-90E6-2EFA295837EB}"/>
              </a:ext>
            </a:extLst>
          </p:cNvPr>
          <p:cNvSpPr>
            <a:spLocks noChangeShapeType="1"/>
          </p:cNvSpPr>
          <p:nvPr/>
        </p:nvSpPr>
        <p:spPr bwMode="auto">
          <a:xfrm>
            <a:off x="7048219" y="6209896"/>
            <a:ext cx="4764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7" name="AutoShape 149">
            <a:extLst>
              <a:ext uri="{FF2B5EF4-FFF2-40B4-BE49-F238E27FC236}">
                <a16:creationId xmlns:a16="http://schemas.microsoft.com/office/drawing/2014/main" id="{B9FB9FE5-8C8F-134F-8BF9-5B707F4F2827}"/>
              </a:ext>
            </a:extLst>
          </p:cNvPr>
          <p:cNvSpPr>
            <a:spLocks noChangeArrowheads="1"/>
          </p:cNvSpPr>
          <p:nvPr/>
        </p:nvSpPr>
        <p:spPr bwMode="auto">
          <a:xfrm rot="5400000">
            <a:off x="7268962" y="6103535"/>
            <a:ext cx="46030" cy="65108"/>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584" name="Group 150">
            <a:extLst>
              <a:ext uri="{FF2B5EF4-FFF2-40B4-BE49-F238E27FC236}">
                <a16:creationId xmlns:a16="http://schemas.microsoft.com/office/drawing/2014/main" id="{794D8C65-863B-7440-89F4-69D1561AD1FD}"/>
              </a:ext>
            </a:extLst>
          </p:cNvPr>
          <p:cNvGrpSpPr>
            <a:grpSpLocks/>
          </p:cNvGrpSpPr>
          <p:nvPr/>
        </p:nvGrpSpPr>
        <p:grpSpPr bwMode="auto">
          <a:xfrm>
            <a:off x="6311387" y="5779075"/>
            <a:ext cx="551036" cy="452367"/>
            <a:chOff x="2886" y="1668"/>
            <a:chExt cx="347" cy="285"/>
          </a:xfrm>
        </p:grpSpPr>
        <p:sp>
          <p:nvSpPr>
            <p:cNvPr id="594" name="Rectangle 151">
              <a:extLst>
                <a:ext uri="{FF2B5EF4-FFF2-40B4-BE49-F238E27FC236}">
                  <a16:creationId xmlns:a16="http://schemas.microsoft.com/office/drawing/2014/main" id="{2825FAC5-6CFD-2E46-931F-D681BD62558B}"/>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5" name="Oval 152">
              <a:extLst>
                <a:ext uri="{FF2B5EF4-FFF2-40B4-BE49-F238E27FC236}">
                  <a16:creationId xmlns:a16="http://schemas.microsoft.com/office/drawing/2014/main" id="{D6F4F3D5-1AF2-B242-902D-0665A266BF4E}"/>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6" name="Rectangle 153">
              <a:extLst>
                <a:ext uri="{FF2B5EF4-FFF2-40B4-BE49-F238E27FC236}">
                  <a16:creationId xmlns:a16="http://schemas.microsoft.com/office/drawing/2014/main" id="{BE2CF67F-599D-6C42-A399-894E9CA81E52}"/>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7" name="Line 154">
              <a:extLst>
                <a:ext uri="{FF2B5EF4-FFF2-40B4-BE49-F238E27FC236}">
                  <a16:creationId xmlns:a16="http://schemas.microsoft.com/office/drawing/2014/main" id="{371F415A-A0F7-D045-ABCD-50703CBF5A0D}"/>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8" name="Line 155">
              <a:extLst>
                <a:ext uri="{FF2B5EF4-FFF2-40B4-BE49-F238E27FC236}">
                  <a16:creationId xmlns:a16="http://schemas.microsoft.com/office/drawing/2014/main" id="{DD302482-684F-2343-93A8-2F996284F7B0}"/>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9" name="Line 156">
              <a:extLst>
                <a:ext uri="{FF2B5EF4-FFF2-40B4-BE49-F238E27FC236}">
                  <a16:creationId xmlns:a16="http://schemas.microsoft.com/office/drawing/2014/main" id="{8D3FA778-9973-5E45-BBD7-6E5B0FA17F02}"/>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0" name="AutoShape 157">
              <a:extLst>
                <a:ext uri="{FF2B5EF4-FFF2-40B4-BE49-F238E27FC236}">
                  <a16:creationId xmlns:a16="http://schemas.microsoft.com/office/drawing/2014/main" id="{9BF1C706-69A5-F64D-8549-5FB64FFC0B7C}"/>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585" name="Group 158">
            <a:extLst>
              <a:ext uri="{FF2B5EF4-FFF2-40B4-BE49-F238E27FC236}">
                <a16:creationId xmlns:a16="http://schemas.microsoft.com/office/drawing/2014/main" id="{10DF1FFB-5BD4-B34D-869E-FF2A21B927AA}"/>
              </a:ext>
            </a:extLst>
          </p:cNvPr>
          <p:cNvGrpSpPr>
            <a:grpSpLocks/>
          </p:cNvGrpSpPr>
          <p:nvPr/>
        </p:nvGrpSpPr>
        <p:grpSpPr bwMode="auto">
          <a:xfrm>
            <a:off x="5655543" y="5954348"/>
            <a:ext cx="551036" cy="452367"/>
            <a:chOff x="2886" y="1668"/>
            <a:chExt cx="347" cy="285"/>
          </a:xfrm>
        </p:grpSpPr>
        <p:sp>
          <p:nvSpPr>
            <p:cNvPr id="587" name="Rectangle 159">
              <a:extLst>
                <a:ext uri="{FF2B5EF4-FFF2-40B4-BE49-F238E27FC236}">
                  <a16:creationId xmlns:a16="http://schemas.microsoft.com/office/drawing/2014/main" id="{A91C4B44-0DD4-A341-8AA2-C361F078D800}"/>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88" name="Oval 160">
              <a:extLst>
                <a:ext uri="{FF2B5EF4-FFF2-40B4-BE49-F238E27FC236}">
                  <a16:creationId xmlns:a16="http://schemas.microsoft.com/office/drawing/2014/main" id="{8E1DE29A-03CB-C545-98EA-12E2D05F3249}"/>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89" name="Rectangle 161">
              <a:extLst>
                <a:ext uri="{FF2B5EF4-FFF2-40B4-BE49-F238E27FC236}">
                  <a16:creationId xmlns:a16="http://schemas.microsoft.com/office/drawing/2014/main" id="{81AA95AB-263F-834C-92D5-FD7617AE1C48}"/>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0" name="Line 162">
              <a:extLst>
                <a:ext uri="{FF2B5EF4-FFF2-40B4-BE49-F238E27FC236}">
                  <a16:creationId xmlns:a16="http://schemas.microsoft.com/office/drawing/2014/main" id="{51CF65F6-671F-AD4D-B5B3-DF84B6F538BD}"/>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1" name="Line 163">
              <a:extLst>
                <a:ext uri="{FF2B5EF4-FFF2-40B4-BE49-F238E27FC236}">
                  <a16:creationId xmlns:a16="http://schemas.microsoft.com/office/drawing/2014/main" id="{3BE02048-718D-7149-8610-55725AF95AE3}"/>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2" name="Line 164">
              <a:extLst>
                <a:ext uri="{FF2B5EF4-FFF2-40B4-BE49-F238E27FC236}">
                  <a16:creationId xmlns:a16="http://schemas.microsoft.com/office/drawing/2014/main" id="{DDC9E059-0152-C446-8DB2-52D116DAAF9D}"/>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3" name="AutoShape 165">
              <a:extLst>
                <a:ext uri="{FF2B5EF4-FFF2-40B4-BE49-F238E27FC236}">
                  <a16:creationId xmlns:a16="http://schemas.microsoft.com/office/drawing/2014/main" id="{EC851BD2-FB97-7743-85E6-12DE087E47E0}"/>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539" name="Freeform 3">
            <a:extLst>
              <a:ext uri="{FF2B5EF4-FFF2-40B4-BE49-F238E27FC236}">
                <a16:creationId xmlns:a16="http://schemas.microsoft.com/office/drawing/2014/main" id="{DEA17EE7-6646-5049-8B03-582779382B33}"/>
              </a:ext>
            </a:extLst>
          </p:cNvPr>
          <p:cNvSpPr>
            <a:spLocks/>
          </p:cNvSpPr>
          <p:nvPr/>
        </p:nvSpPr>
        <p:spPr bwMode="auto">
          <a:xfrm rot="16200000">
            <a:off x="4355018" y="3236963"/>
            <a:ext cx="721461" cy="2294761"/>
          </a:xfrm>
          <a:custGeom>
            <a:avLst/>
            <a:gdLst>
              <a:gd name="T0" fmla="*/ 0 w 1443"/>
              <a:gd name="T1" fmla="*/ 0 h 816"/>
              <a:gd name="T2" fmla="*/ 1076 w 1443"/>
              <a:gd name="T3" fmla="*/ 782 h 816"/>
              <a:gd name="T4" fmla="*/ 1320 w 1443"/>
              <a:gd name="T5" fmla="*/ 788 h 816"/>
              <a:gd name="T6" fmla="*/ 1443 w 1443"/>
              <a:gd name="T7" fmla="*/ 5 h 816"/>
              <a:gd name="T8" fmla="*/ 0 w 1443"/>
              <a:gd name="T9" fmla="*/ 0 h 816"/>
              <a:gd name="connsiteX0" fmla="*/ 0 w 10000"/>
              <a:gd name="connsiteY0" fmla="*/ 0 h 9714"/>
              <a:gd name="connsiteX1" fmla="*/ 3718 w 10000"/>
              <a:gd name="connsiteY1" fmla="*/ 8779 h 9714"/>
              <a:gd name="connsiteX2" fmla="*/ 9148 w 10000"/>
              <a:gd name="connsiteY2" fmla="*/ 9657 h 9714"/>
              <a:gd name="connsiteX3" fmla="*/ 10000 w 10000"/>
              <a:gd name="connsiteY3" fmla="*/ 61 h 9714"/>
              <a:gd name="connsiteX4" fmla="*/ 0 w 10000"/>
              <a:gd name="connsiteY4" fmla="*/ 0 h 9714"/>
              <a:gd name="connsiteX0" fmla="*/ 0 w 10000"/>
              <a:gd name="connsiteY0" fmla="*/ 0 h 9095"/>
              <a:gd name="connsiteX1" fmla="*/ 3718 w 10000"/>
              <a:gd name="connsiteY1" fmla="*/ 9037 h 9095"/>
              <a:gd name="connsiteX2" fmla="*/ 5712 w 10000"/>
              <a:gd name="connsiteY2" fmla="*/ 8929 h 9095"/>
              <a:gd name="connsiteX3" fmla="*/ 10000 w 10000"/>
              <a:gd name="connsiteY3" fmla="*/ 63 h 9095"/>
              <a:gd name="connsiteX4" fmla="*/ 0 w 10000"/>
              <a:gd name="connsiteY4" fmla="*/ 0 h 9095"/>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8989"/>
              <a:gd name="connsiteY0" fmla="*/ 0 h 11618"/>
              <a:gd name="connsiteX1" fmla="*/ 2707 w 8989"/>
              <a:gd name="connsiteY1" fmla="*/ 11554 h 11618"/>
              <a:gd name="connsiteX2" fmla="*/ 4701 w 8989"/>
              <a:gd name="connsiteY2" fmla="*/ 11435 h 11618"/>
              <a:gd name="connsiteX3" fmla="*/ 8989 w 8989"/>
              <a:gd name="connsiteY3" fmla="*/ 1687 h 11618"/>
              <a:gd name="connsiteX4" fmla="*/ 0 w 8989"/>
              <a:gd name="connsiteY4" fmla="*/ 0 h 11618"/>
              <a:gd name="connsiteX0" fmla="*/ 0 w 9888"/>
              <a:gd name="connsiteY0" fmla="*/ 115 h 10115"/>
              <a:gd name="connsiteX1" fmla="*/ 3011 w 9888"/>
              <a:gd name="connsiteY1" fmla="*/ 10060 h 10115"/>
              <a:gd name="connsiteX2" fmla="*/ 5230 w 9888"/>
              <a:gd name="connsiteY2" fmla="*/ 9957 h 10115"/>
              <a:gd name="connsiteX3" fmla="*/ 9888 w 9888"/>
              <a:gd name="connsiteY3" fmla="*/ 0 h 10115"/>
              <a:gd name="connsiteX4" fmla="*/ 0 w 9888"/>
              <a:gd name="connsiteY4" fmla="*/ 115 h 10115"/>
              <a:gd name="connsiteX0" fmla="*/ 0 w 9829"/>
              <a:gd name="connsiteY0" fmla="*/ 0 h 10833"/>
              <a:gd name="connsiteX1" fmla="*/ 2874 w 9829"/>
              <a:gd name="connsiteY1" fmla="*/ 10779 h 10833"/>
              <a:gd name="connsiteX2" fmla="*/ 5118 w 9829"/>
              <a:gd name="connsiteY2" fmla="*/ 10677 h 10833"/>
              <a:gd name="connsiteX3" fmla="*/ 9829 w 9829"/>
              <a:gd name="connsiteY3" fmla="*/ 833 h 10833"/>
              <a:gd name="connsiteX4" fmla="*/ 0 w 9829"/>
              <a:gd name="connsiteY4" fmla="*/ 0 h 10833"/>
              <a:gd name="connsiteX0" fmla="*/ 0 w 10289"/>
              <a:gd name="connsiteY0" fmla="*/ 0 h 10000"/>
              <a:gd name="connsiteX1" fmla="*/ 2924 w 10289"/>
              <a:gd name="connsiteY1" fmla="*/ 9950 h 10000"/>
              <a:gd name="connsiteX2" fmla="*/ 5207 w 10289"/>
              <a:gd name="connsiteY2" fmla="*/ 9856 h 10000"/>
              <a:gd name="connsiteX3" fmla="*/ 10289 w 10289"/>
              <a:gd name="connsiteY3" fmla="*/ 54 h 10000"/>
              <a:gd name="connsiteX4" fmla="*/ 0 w 10289"/>
              <a:gd name="connsiteY4" fmla="*/ 0 h 10000"/>
              <a:gd name="connsiteX0" fmla="*/ 0 w 10289"/>
              <a:gd name="connsiteY0" fmla="*/ 0 h 10953"/>
              <a:gd name="connsiteX1" fmla="*/ 2924 w 10289"/>
              <a:gd name="connsiteY1" fmla="*/ 9950 h 10953"/>
              <a:gd name="connsiteX2" fmla="*/ 3723 w 10289"/>
              <a:gd name="connsiteY2" fmla="*/ 10695 h 10953"/>
              <a:gd name="connsiteX3" fmla="*/ 5207 w 10289"/>
              <a:gd name="connsiteY3" fmla="*/ 9856 h 10953"/>
              <a:gd name="connsiteX4" fmla="*/ 10289 w 10289"/>
              <a:gd name="connsiteY4" fmla="*/ 54 h 10953"/>
              <a:gd name="connsiteX5" fmla="*/ 0 w 10289"/>
              <a:gd name="connsiteY5" fmla="*/ 0 h 10953"/>
              <a:gd name="connsiteX0" fmla="*/ 0 w 10289"/>
              <a:gd name="connsiteY0" fmla="*/ 0 h 11138"/>
              <a:gd name="connsiteX1" fmla="*/ 2924 w 10289"/>
              <a:gd name="connsiteY1" fmla="*/ 9950 h 11138"/>
              <a:gd name="connsiteX2" fmla="*/ 5207 w 10289"/>
              <a:gd name="connsiteY2" fmla="*/ 9856 h 11138"/>
              <a:gd name="connsiteX3" fmla="*/ 10289 w 10289"/>
              <a:gd name="connsiteY3" fmla="*/ 54 h 11138"/>
              <a:gd name="connsiteX4" fmla="*/ 0 w 10289"/>
              <a:gd name="connsiteY4" fmla="*/ 0 h 11138"/>
              <a:gd name="connsiteX0" fmla="*/ 0 w 10289"/>
              <a:gd name="connsiteY0" fmla="*/ 0 h 10669"/>
              <a:gd name="connsiteX1" fmla="*/ 2924 w 10289"/>
              <a:gd name="connsiteY1" fmla="*/ 9950 h 10669"/>
              <a:gd name="connsiteX2" fmla="*/ 5207 w 10289"/>
              <a:gd name="connsiteY2" fmla="*/ 9856 h 10669"/>
              <a:gd name="connsiteX3" fmla="*/ 10289 w 10289"/>
              <a:gd name="connsiteY3" fmla="*/ 54 h 10669"/>
              <a:gd name="connsiteX4" fmla="*/ 0 w 10289"/>
              <a:gd name="connsiteY4" fmla="*/ 0 h 10669"/>
              <a:gd name="connsiteX0" fmla="*/ 0 w 10289"/>
              <a:gd name="connsiteY0" fmla="*/ 0 h 10734"/>
              <a:gd name="connsiteX1" fmla="*/ 2924 w 10289"/>
              <a:gd name="connsiteY1" fmla="*/ 9950 h 10734"/>
              <a:gd name="connsiteX2" fmla="*/ 4455 w 10289"/>
              <a:gd name="connsiteY2" fmla="*/ 10094 h 10734"/>
              <a:gd name="connsiteX3" fmla="*/ 10289 w 10289"/>
              <a:gd name="connsiteY3" fmla="*/ 54 h 10734"/>
              <a:gd name="connsiteX4" fmla="*/ 0 w 10289"/>
              <a:gd name="connsiteY4" fmla="*/ 0 h 10734"/>
              <a:gd name="connsiteX0" fmla="*/ 0 w 10289"/>
              <a:gd name="connsiteY0" fmla="*/ 0 h 10107"/>
              <a:gd name="connsiteX1" fmla="*/ 2924 w 10289"/>
              <a:gd name="connsiteY1" fmla="*/ 9950 h 10107"/>
              <a:gd name="connsiteX2" fmla="*/ 4455 w 10289"/>
              <a:gd name="connsiteY2" fmla="*/ 10094 h 10107"/>
              <a:gd name="connsiteX3" fmla="*/ 10289 w 10289"/>
              <a:gd name="connsiteY3" fmla="*/ 54 h 10107"/>
              <a:gd name="connsiteX4" fmla="*/ 0 w 10289"/>
              <a:gd name="connsiteY4" fmla="*/ 0 h 10107"/>
              <a:gd name="connsiteX0" fmla="*/ 0 w 10289"/>
              <a:gd name="connsiteY0" fmla="*/ 0 h 10107"/>
              <a:gd name="connsiteX1" fmla="*/ 2924 w 10289"/>
              <a:gd name="connsiteY1" fmla="*/ 9950 h 10107"/>
              <a:gd name="connsiteX2" fmla="*/ 4455 w 10289"/>
              <a:gd name="connsiteY2" fmla="*/ 10094 h 10107"/>
              <a:gd name="connsiteX3" fmla="*/ 10289 w 10289"/>
              <a:gd name="connsiteY3" fmla="*/ 54 h 10107"/>
              <a:gd name="connsiteX4" fmla="*/ 0 w 10289"/>
              <a:gd name="connsiteY4" fmla="*/ 0 h 10107"/>
              <a:gd name="connsiteX0" fmla="*/ 0 w 10289"/>
              <a:gd name="connsiteY0" fmla="*/ 0 h 10107"/>
              <a:gd name="connsiteX1" fmla="*/ 2924 w 10289"/>
              <a:gd name="connsiteY1" fmla="*/ 9950 h 10107"/>
              <a:gd name="connsiteX2" fmla="*/ 4455 w 10289"/>
              <a:gd name="connsiteY2" fmla="*/ 10094 h 10107"/>
              <a:gd name="connsiteX3" fmla="*/ 10289 w 10289"/>
              <a:gd name="connsiteY3" fmla="*/ 54 h 10107"/>
              <a:gd name="connsiteX4" fmla="*/ 0 w 10289"/>
              <a:gd name="connsiteY4" fmla="*/ 0 h 10107"/>
              <a:gd name="connsiteX0" fmla="*/ 0 w 10289"/>
              <a:gd name="connsiteY0" fmla="*/ 0 h 9960"/>
              <a:gd name="connsiteX1" fmla="*/ 2924 w 10289"/>
              <a:gd name="connsiteY1" fmla="*/ 9950 h 9960"/>
              <a:gd name="connsiteX2" fmla="*/ 4166 w 10289"/>
              <a:gd name="connsiteY2" fmla="*/ 9776 h 9960"/>
              <a:gd name="connsiteX3" fmla="*/ 10289 w 10289"/>
              <a:gd name="connsiteY3" fmla="*/ 54 h 9960"/>
              <a:gd name="connsiteX4" fmla="*/ 0 w 10289"/>
              <a:gd name="connsiteY4" fmla="*/ 0 h 9960"/>
              <a:gd name="connsiteX0" fmla="*/ 0 w 10000"/>
              <a:gd name="connsiteY0" fmla="*/ 0 h 10000"/>
              <a:gd name="connsiteX1" fmla="*/ 2842 w 10000"/>
              <a:gd name="connsiteY1" fmla="*/ 9990 h 10000"/>
              <a:gd name="connsiteX2" fmla="*/ 4049 w 10000"/>
              <a:gd name="connsiteY2" fmla="*/ 9815 h 10000"/>
              <a:gd name="connsiteX3" fmla="*/ 10000 w 10000"/>
              <a:gd name="connsiteY3" fmla="*/ 54 h 10000"/>
              <a:gd name="connsiteX4" fmla="*/ 0 w 10000"/>
              <a:gd name="connsiteY4" fmla="*/ 0 h 10000"/>
              <a:gd name="connsiteX0" fmla="*/ 0 w 10000"/>
              <a:gd name="connsiteY0" fmla="*/ 0 h 10400"/>
              <a:gd name="connsiteX1" fmla="*/ 2740 w 10000"/>
              <a:gd name="connsiteY1" fmla="*/ 10397 h 10400"/>
              <a:gd name="connsiteX2" fmla="*/ 4049 w 10000"/>
              <a:gd name="connsiteY2" fmla="*/ 9815 h 10400"/>
              <a:gd name="connsiteX3" fmla="*/ 10000 w 10000"/>
              <a:gd name="connsiteY3" fmla="*/ 54 h 10400"/>
              <a:gd name="connsiteX4" fmla="*/ 0 w 10000"/>
              <a:gd name="connsiteY4" fmla="*/ 0 h 10400"/>
              <a:gd name="connsiteX0" fmla="*/ 0 w 10000"/>
              <a:gd name="connsiteY0" fmla="*/ 0 h 10419"/>
              <a:gd name="connsiteX1" fmla="*/ 2740 w 10000"/>
              <a:gd name="connsiteY1" fmla="*/ 10397 h 10419"/>
              <a:gd name="connsiteX2" fmla="*/ 3599 w 10000"/>
              <a:gd name="connsiteY2" fmla="*/ 10338 h 10419"/>
              <a:gd name="connsiteX3" fmla="*/ 10000 w 10000"/>
              <a:gd name="connsiteY3" fmla="*/ 54 h 10419"/>
              <a:gd name="connsiteX4" fmla="*/ 0 w 10000"/>
              <a:gd name="connsiteY4" fmla="*/ 0 h 10419"/>
              <a:gd name="connsiteX0" fmla="*/ 0 w 10000"/>
              <a:gd name="connsiteY0" fmla="*/ 0 h 10397"/>
              <a:gd name="connsiteX1" fmla="*/ 2740 w 10000"/>
              <a:gd name="connsiteY1" fmla="*/ 10397 h 10397"/>
              <a:gd name="connsiteX2" fmla="*/ 3599 w 10000"/>
              <a:gd name="connsiteY2" fmla="*/ 10338 h 10397"/>
              <a:gd name="connsiteX3" fmla="*/ 10000 w 10000"/>
              <a:gd name="connsiteY3" fmla="*/ 54 h 10397"/>
              <a:gd name="connsiteX4" fmla="*/ 0 w 10000"/>
              <a:gd name="connsiteY4" fmla="*/ 0 h 10397"/>
              <a:gd name="connsiteX0" fmla="*/ 0 w 10614"/>
              <a:gd name="connsiteY0" fmla="*/ 0 h 10397"/>
              <a:gd name="connsiteX1" fmla="*/ 2740 w 10614"/>
              <a:gd name="connsiteY1" fmla="*/ 10397 h 10397"/>
              <a:gd name="connsiteX2" fmla="*/ 3599 w 10614"/>
              <a:gd name="connsiteY2" fmla="*/ 10338 h 10397"/>
              <a:gd name="connsiteX3" fmla="*/ 10614 w 10614"/>
              <a:gd name="connsiteY3" fmla="*/ 112 h 10397"/>
              <a:gd name="connsiteX4" fmla="*/ 0 w 10614"/>
              <a:gd name="connsiteY4" fmla="*/ 0 h 10397"/>
              <a:gd name="connsiteX0" fmla="*/ 0 w 10614"/>
              <a:gd name="connsiteY0" fmla="*/ 0 h 10397"/>
              <a:gd name="connsiteX1" fmla="*/ 2740 w 10614"/>
              <a:gd name="connsiteY1" fmla="*/ 10397 h 10397"/>
              <a:gd name="connsiteX2" fmla="*/ 3599 w 10614"/>
              <a:gd name="connsiteY2" fmla="*/ 10338 h 10397"/>
              <a:gd name="connsiteX3" fmla="*/ 10614 w 10614"/>
              <a:gd name="connsiteY3" fmla="*/ 112 h 10397"/>
              <a:gd name="connsiteX4" fmla="*/ 0 w 10614"/>
              <a:gd name="connsiteY4" fmla="*/ 0 h 10397"/>
              <a:gd name="connsiteX0" fmla="*/ 0 w 10675"/>
              <a:gd name="connsiteY0" fmla="*/ 0 h 10310"/>
              <a:gd name="connsiteX1" fmla="*/ 2801 w 10675"/>
              <a:gd name="connsiteY1" fmla="*/ 10310 h 10310"/>
              <a:gd name="connsiteX2" fmla="*/ 3660 w 10675"/>
              <a:gd name="connsiteY2" fmla="*/ 10251 h 10310"/>
              <a:gd name="connsiteX3" fmla="*/ 10675 w 10675"/>
              <a:gd name="connsiteY3" fmla="*/ 25 h 10310"/>
              <a:gd name="connsiteX4" fmla="*/ 0 w 10675"/>
              <a:gd name="connsiteY4" fmla="*/ 0 h 10310"/>
              <a:gd name="connsiteX0" fmla="*/ 0 w 6741"/>
              <a:gd name="connsiteY0" fmla="*/ 0 h 15505"/>
              <a:gd name="connsiteX1" fmla="*/ 2801 w 6741"/>
              <a:gd name="connsiteY1" fmla="*/ 10310 h 15505"/>
              <a:gd name="connsiteX2" fmla="*/ 3660 w 6741"/>
              <a:gd name="connsiteY2" fmla="*/ 10251 h 15505"/>
              <a:gd name="connsiteX3" fmla="*/ 6741 w 6741"/>
              <a:gd name="connsiteY3" fmla="*/ 14932 h 15505"/>
              <a:gd name="connsiteX4" fmla="*/ 0 w 6741"/>
              <a:gd name="connsiteY4" fmla="*/ 0 h 15505"/>
              <a:gd name="connsiteX0" fmla="*/ 5612 w 7164"/>
              <a:gd name="connsiteY0" fmla="*/ 0 h 10410"/>
              <a:gd name="connsiteX1" fmla="*/ 13 w 7164"/>
              <a:gd name="connsiteY1" fmla="*/ 7060 h 10410"/>
              <a:gd name="connsiteX2" fmla="*/ 1287 w 7164"/>
              <a:gd name="connsiteY2" fmla="*/ 7022 h 10410"/>
              <a:gd name="connsiteX3" fmla="*/ 5858 w 7164"/>
              <a:gd name="connsiteY3" fmla="*/ 10041 h 10410"/>
              <a:gd name="connsiteX4" fmla="*/ 5612 w 7164"/>
              <a:gd name="connsiteY4" fmla="*/ 0 h 10410"/>
              <a:gd name="connsiteX0" fmla="*/ 7932 w 10098"/>
              <a:gd name="connsiteY0" fmla="*/ 0 h 10001"/>
              <a:gd name="connsiteX1" fmla="*/ 116 w 10098"/>
              <a:gd name="connsiteY1" fmla="*/ 6782 h 10001"/>
              <a:gd name="connsiteX2" fmla="*/ 1894 w 10098"/>
              <a:gd name="connsiteY2" fmla="*/ 6745 h 10001"/>
              <a:gd name="connsiteX3" fmla="*/ 8275 w 10098"/>
              <a:gd name="connsiteY3" fmla="*/ 9646 h 10001"/>
              <a:gd name="connsiteX4" fmla="*/ 7932 w 10098"/>
              <a:gd name="connsiteY4" fmla="*/ 0 h 10001"/>
              <a:gd name="connsiteX0" fmla="*/ 7932 w 11399"/>
              <a:gd name="connsiteY0" fmla="*/ 0 h 10001"/>
              <a:gd name="connsiteX1" fmla="*/ 116 w 11399"/>
              <a:gd name="connsiteY1" fmla="*/ 6782 h 10001"/>
              <a:gd name="connsiteX2" fmla="*/ 1894 w 11399"/>
              <a:gd name="connsiteY2" fmla="*/ 6745 h 10001"/>
              <a:gd name="connsiteX3" fmla="*/ 8275 w 11399"/>
              <a:gd name="connsiteY3" fmla="*/ 9646 h 10001"/>
              <a:gd name="connsiteX4" fmla="*/ 7932 w 11399"/>
              <a:gd name="connsiteY4" fmla="*/ 0 h 10001"/>
              <a:gd name="connsiteX0" fmla="*/ 7932 w 8463"/>
              <a:gd name="connsiteY0" fmla="*/ 0 h 10001"/>
              <a:gd name="connsiteX1" fmla="*/ 116 w 8463"/>
              <a:gd name="connsiteY1" fmla="*/ 6782 h 10001"/>
              <a:gd name="connsiteX2" fmla="*/ 1894 w 8463"/>
              <a:gd name="connsiteY2" fmla="*/ 6745 h 10001"/>
              <a:gd name="connsiteX3" fmla="*/ 8275 w 8463"/>
              <a:gd name="connsiteY3" fmla="*/ 9646 h 10001"/>
              <a:gd name="connsiteX4" fmla="*/ 7932 w 8463"/>
              <a:gd name="connsiteY4" fmla="*/ 0 h 10001"/>
              <a:gd name="connsiteX0" fmla="*/ 10170 w 10376"/>
              <a:gd name="connsiteY0" fmla="*/ 0 h 9753"/>
              <a:gd name="connsiteX1" fmla="*/ 109 w 10376"/>
              <a:gd name="connsiteY1" fmla="*/ 6534 h 9753"/>
              <a:gd name="connsiteX2" fmla="*/ 2210 w 10376"/>
              <a:gd name="connsiteY2" fmla="*/ 6497 h 9753"/>
              <a:gd name="connsiteX3" fmla="*/ 9750 w 10376"/>
              <a:gd name="connsiteY3" fmla="*/ 9398 h 9753"/>
              <a:gd name="connsiteX4" fmla="*/ 10170 w 10376"/>
              <a:gd name="connsiteY4" fmla="*/ 0 h 9753"/>
              <a:gd name="connsiteX0" fmla="*/ 9801 w 9999"/>
              <a:gd name="connsiteY0" fmla="*/ 0 h 9636"/>
              <a:gd name="connsiteX1" fmla="*/ 105 w 9999"/>
              <a:gd name="connsiteY1" fmla="*/ 6699 h 9636"/>
              <a:gd name="connsiteX2" fmla="*/ 2130 w 9999"/>
              <a:gd name="connsiteY2" fmla="*/ 6662 h 9636"/>
              <a:gd name="connsiteX3" fmla="*/ 9397 w 9999"/>
              <a:gd name="connsiteY3" fmla="*/ 9636 h 9636"/>
              <a:gd name="connsiteX4" fmla="*/ 9801 w 9999"/>
              <a:gd name="connsiteY4" fmla="*/ 0 h 9636"/>
              <a:gd name="connsiteX0" fmla="*/ 9802 w 10000"/>
              <a:gd name="connsiteY0" fmla="*/ 0 h 10000"/>
              <a:gd name="connsiteX1" fmla="*/ 105 w 10000"/>
              <a:gd name="connsiteY1" fmla="*/ 6952 h 10000"/>
              <a:gd name="connsiteX2" fmla="*/ 2130 w 10000"/>
              <a:gd name="connsiteY2" fmla="*/ 6914 h 10000"/>
              <a:gd name="connsiteX3" fmla="*/ 9398 w 10000"/>
              <a:gd name="connsiteY3" fmla="*/ 10000 h 10000"/>
              <a:gd name="connsiteX4" fmla="*/ 9802 w 10000"/>
              <a:gd name="connsiteY4" fmla="*/ 0 h 10000"/>
              <a:gd name="connsiteX0" fmla="*/ 9697 w 9895"/>
              <a:gd name="connsiteY0" fmla="*/ 0 h 10000"/>
              <a:gd name="connsiteX1" fmla="*/ 0 w 9895"/>
              <a:gd name="connsiteY1" fmla="*/ 6952 h 10000"/>
              <a:gd name="connsiteX2" fmla="*/ 2025 w 9895"/>
              <a:gd name="connsiteY2" fmla="*/ 6914 h 10000"/>
              <a:gd name="connsiteX3" fmla="*/ 9293 w 9895"/>
              <a:gd name="connsiteY3" fmla="*/ 10000 h 10000"/>
              <a:gd name="connsiteX4" fmla="*/ 9697 w 9895"/>
              <a:gd name="connsiteY4" fmla="*/ 0 h 10000"/>
              <a:gd name="connsiteX0" fmla="*/ 9800 w 10001"/>
              <a:gd name="connsiteY0" fmla="*/ 0 h 10000"/>
              <a:gd name="connsiteX1" fmla="*/ 0 w 10001"/>
              <a:gd name="connsiteY1" fmla="*/ 6952 h 10000"/>
              <a:gd name="connsiteX2" fmla="*/ 2314 w 10001"/>
              <a:gd name="connsiteY2" fmla="*/ 7860 h 10000"/>
              <a:gd name="connsiteX3" fmla="*/ 9392 w 10001"/>
              <a:gd name="connsiteY3" fmla="*/ 10000 h 10000"/>
              <a:gd name="connsiteX4" fmla="*/ 9800 w 10001"/>
              <a:gd name="connsiteY4" fmla="*/ 0 h 10000"/>
              <a:gd name="connsiteX0" fmla="*/ 9800 w 10001"/>
              <a:gd name="connsiteY0" fmla="*/ 0 h 10000"/>
              <a:gd name="connsiteX1" fmla="*/ 0 w 10001"/>
              <a:gd name="connsiteY1" fmla="*/ 6952 h 10000"/>
              <a:gd name="connsiteX2" fmla="*/ 2314 w 10001"/>
              <a:gd name="connsiteY2" fmla="*/ 7860 h 10000"/>
              <a:gd name="connsiteX3" fmla="*/ 9392 w 10001"/>
              <a:gd name="connsiteY3" fmla="*/ 10000 h 10000"/>
              <a:gd name="connsiteX4" fmla="*/ 9800 w 10001"/>
              <a:gd name="connsiteY4" fmla="*/ 0 h 10000"/>
              <a:gd name="connsiteX0" fmla="*/ 9800 w 10001"/>
              <a:gd name="connsiteY0" fmla="*/ 0 h 10000"/>
              <a:gd name="connsiteX1" fmla="*/ 0 w 10001"/>
              <a:gd name="connsiteY1" fmla="*/ 6952 h 10000"/>
              <a:gd name="connsiteX2" fmla="*/ 2314 w 10001"/>
              <a:gd name="connsiteY2" fmla="*/ 7860 h 10000"/>
              <a:gd name="connsiteX3" fmla="*/ 9392 w 10001"/>
              <a:gd name="connsiteY3" fmla="*/ 10000 h 10000"/>
              <a:gd name="connsiteX4" fmla="*/ 9800 w 10001"/>
              <a:gd name="connsiteY4" fmla="*/ 0 h 10000"/>
              <a:gd name="connsiteX0" fmla="*/ 9800 w 10148"/>
              <a:gd name="connsiteY0" fmla="*/ 0 h 10158"/>
              <a:gd name="connsiteX1" fmla="*/ 0 w 10148"/>
              <a:gd name="connsiteY1" fmla="*/ 6952 h 10158"/>
              <a:gd name="connsiteX2" fmla="*/ 2314 w 10148"/>
              <a:gd name="connsiteY2" fmla="*/ 7860 h 10158"/>
              <a:gd name="connsiteX3" fmla="*/ 9794 w 10148"/>
              <a:gd name="connsiteY3" fmla="*/ 10158 h 10158"/>
              <a:gd name="connsiteX4" fmla="*/ 9800 w 10148"/>
              <a:gd name="connsiteY4" fmla="*/ 0 h 10158"/>
              <a:gd name="connsiteX0" fmla="*/ 9800 w 10148"/>
              <a:gd name="connsiteY0" fmla="*/ 0 h 10158"/>
              <a:gd name="connsiteX1" fmla="*/ 0 w 10148"/>
              <a:gd name="connsiteY1" fmla="*/ 6952 h 10158"/>
              <a:gd name="connsiteX2" fmla="*/ 1653 w 10148"/>
              <a:gd name="connsiteY2" fmla="*/ 8453 h 10158"/>
              <a:gd name="connsiteX3" fmla="*/ 9794 w 10148"/>
              <a:gd name="connsiteY3" fmla="*/ 10158 h 10158"/>
              <a:gd name="connsiteX4" fmla="*/ 9800 w 10148"/>
              <a:gd name="connsiteY4" fmla="*/ 0 h 10158"/>
              <a:gd name="connsiteX0" fmla="*/ 9800 w 10148"/>
              <a:gd name="connsiteY0" fmla="*/ 0 h 10158"/>
              <a:gd name="connsiteX1" fmla="*/ 0 w 10148"/>
              <a:gd name="connsiteY1" fmla="*/ 6952 h 10158"/>
              <a:gd name="connsiteX2" fmla="*/ 1653 w 10148"/>
              <a:gd name="connsiteY2" fmla="*/ 8453 h 10158"/>
              <a:gd name="connsiteX3" fmla="*/ 9794 w 10148"/>
              <a:gd name="connsiteY3" fmla="*/ 10158 h 10158"/>
              <a:gd name="connsiteX4" fmla="*/ 9800 w 10148"/>
              <a:gd name="connsiteY4" fmla="*/ 0 h 10158"/>
              <a:gd name="connsiteX0" fmla="*/ 8194 w 8542"/>
              <a:gd name="connsiteY0" fmla="*/ 0 h 10158"/>
              <a:gd name="connsiteX1" fmla="*/ 0 w 8542"/>
              <a:gd name="connsiteY1" fmla="*/ 7601 h 10158"/>
              <a:gd name="connsiteX2" fmla="*/ 47 w 8542"/>
              <a:gd name="connsiteY2" fmla="*/ 8453 h 10158"/>
              <a:gd name="connsiteX3" fmla="*/ 8188 w 8542"/>
              <a:gd name="connsiteY3" fmla="*/ 10158 h 10158"/>
              <a:gd name="connsiteX4" fmla="*/ 8194 w 8542"/>
              <a:gd name="connsiteY4" fmla="*/ 0 h 10158"/>
              <a:gd name="connsiteX0" fmla="*/ 9538 w 9975"/>
              <a:gd name="connsiteY0" fmla="*/ 0 h 10128"/>
              <a:gd name="connsiteX1" fmla="*/ 0 w 9975"/>
              <a:gd name="connsiteY1" fmla="*/ 7611 h 10128"/>
              <a:gd name="connsiteX2" fmla="*/ 55 w 9975"/>
              <a:gd name="connsiteY2" fmla="*/ 8450 h 10128"/>
              <a:gd name="connsiteX3" fmla="*/ 9586 w 9975"/>
              <a:gd name="connsiteY3" fmla="*/ 10128 h 10128"/>
              <a:gd name="connsiteX4" fmla="*/ 9538 w 9975"/>
              <a:gd name="connsiteY4" fmla="*/ 0 h 10128"/>
              <a:gd name="connsiteX0" fmla="*/ 9562 w 9999"/>
              <a:gd name="connsiteY0" fmla="*/ 0 h 10000"/>
              <a:gd name="connsiteX1" fmla="*/ 0 w 9999"/>
              <a:gd name="connsiteY1" fmla="*/ 7515 h 10000"/>
              <a:gd name="connsiteX2" fmla="*/ 55 w 9999"/>
              <a:gd name="connsiteY2" fmla="*/ 8343 h 10000"/>
              <a:gd name="connsiteX3" fmla="*/ 9610 w 9999"/>
              <a:gd name="connsiteY3" fmla="*/ 10000 h 10000"/>
              <a:gd name="connsiteX4" fmla="*/ 9562 w 9999"/>
              <a:gd name="connsiteY4" fmla="*/ 0 h 10000"/>
              <a:gd name="connsiteX0" fmla="*/ 9563 w 10000"/>
              <a:gd name="connsiteY0" fmla="*/ 0 h 10126"/>
              <a:gd name="connsiteX1" fmla="*/ 0 w 10000"/>
              <a:gd name="connsiteY1" fmla="*/ 7515 h 10126"/>
              <a:gd name="connsiteX2" fmla="*/ 55 w 10000"/>
              <a:gd name="connsiteY2" fmla="*/ 8343 h 10126"/>
              <a:gd name="connsiteX3" fmla="*/ 9611 w 10000"/>
              <a:gd name="connsiteY3" fmla="*/ 10126 h 10126"/>
              <a:gd name="connsiteX4" fmla="*/ 9563 w 10000"/>
              <a:gd name="connsiteY4" fmla="*/ 0 h 10126"/>
              <a:gd name="connsiteX0" fmla="*/ 9563 w 10000"/>
              <a:gd name="connsiteY0" fmla="*/ 0 h 10126"/>
              <a:gd name="connsiteX1" fmla="*/ 0 w 10000"/>
              <a:gd name="connsiteY1" fmla="*/ 7515 h 10126"/>
              <a:gd name="connsiteX2" fmla="*/ 55 w 10000"/>
              <a:gd name="connsiteY2" fmla="*/ 8343 h 10126"/>
              <a:gd name="connsiteX3" fmla="*/ 9611 w 10000"/>
              <a:gd name="connsiteY3" fmla="*/ 10126 h 10126"/>
              <a:gd name="connsiteX4" fmla="*/ 9563 w 10000"/>
              <a:gd name="connsiteY4" fmla="*/ 0 h 10126"/>
              <a:gd name="connsiteX0" fmla="*/ 9563 w 9799"/>
              <a:gd name="connsiteY0" fmla="*/ 0 h 10126"/>
              <a:gd name="connsiteX1" fmla="*/ 0 w 9799"/>
              <a:gd name="connsiteY1" fmla="*/ 7515 h 10126"/>
              <a:gd name="connsiteX2" fmla="*/ 55 w 9799"/>
              <a:gd name="connsiteY2" fmla="*/ 8343 h 10126"/>
              <a:gd name="connsiteX3" fmla="*/ 9611 w 9799"/>
              <a:gd name="connsiteY3" fmla="*/ 10126 h 10126"/>
              <a:gd name="connsiteX4" fmla="*/ 9563 w 9799"/>
              <a:gd name="connsiteY4" fmla="*/ 0 h 10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9" h="10126">
                <a:moveTo>
                  <a:pt x="9563" y="0"/>
                </a:moveTo>
                <a:cubicBezTo>
                  <a:pt x="6380" y="3447"/>
                  <a:pt x="4378" y="4742"/>
                  <a:pt x="0" y="7515"/>
                </a:cubicBezTo>
                <a:cubicBezTo>
                  <a:pt x="19" y="7790"/>
                  <a:pt x="36" y="8067"/>
                  <a:pt x="55" y="8343"/>
                </a:cubicBezTo>
                <a:cubicBezTo>
                  <a:pt x="3592" y="8754"/>
                  <a:pt x="6787" y="8518"/>
                  <a:pt x="9611" y="10126"/>
                </a:cubicBezTo>
                <a:cubicBezTo>
                  <a:pt x="9580" y="4725"/>
                  <a:pt x="10082" y="3581"/>
                  <a:pt x="9563" y="0"/>
                </a:cubicBezTo>
                <a:close/>
              </a:path>
            </a:pathLst>
          </a:custGeom>
          <a:gradFill rotWithShape="1">
            <a:gsLst>
              <a:gs pos="75000">
                <a:schemeClr val="bg1">
                  <a:lumMod val="85000"/>
                </a:schemeClr>
              </a:gs>
              <a:gs pos="0">
                <a:schemeClr val="bg1">
                  <a:lumMod val="75000"/>
                </a:schemeClr>
              </a:gs>
              <a:gs pos="100000">
                <a:srgbClr val="FFFFFF"/>
              </a:gs>
            </a:gsLst>
            <a:lin ang="10800000" scaled="0"/>
          </a:gradFill>
          <a:ln>
            <a:noFill/>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panose="020B0600070205080204" pitchFamily="34" charset="-128"/>
              <a:cs typeface="Arial"/>
            </a:endParaRPr>
          </a:p>
        </p:txBody>
      </p:sp>
      <p:sp>
        <p:nvSpPr>
          <p:cNvPr id="541" name="Rectangle 4">
            <a:extLst>
              <a:ext uri="{FF2B5EF4-FFF2-40B4-BE49-F238E27FC236}">
                <a16:creationId xmlns:a16="http://schemas.microsoft.com/office/drawing/2014/main" id="{164DBCFC-5616-9547-B9D4-E3DCFE3BEA76}"/>
              </a:ext>
            </a:extLst>
          </p:cNvPr>
          <p:cNvSpPr>
            <a:spLocks noChangeArrowheads="1"/>
          </p:cNvSpPr>
          <p:nvPr/>
        </p:nvSpPr>
        <p:spPr bwMode="auto">
          <a:xfrm>
            <a:off x="3563785" y="1706808"/>
            <a:ext cx="2317750" cy="2333625"/>
          </a:xfrm>
          <a:prstGeom prst="rect">
            <a:avLst/>
          </a:prstGeom>
          <a:solidFill>
            <a:schemeClr val="bg1">
              <a:lumMod val="85000"/>
            </a:schemeClr>
          </a:solidFill>
          <a:ln w="19050">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2" name="Oval 5">
            <a:extLst>
              <a:ext uri="{FF2B5EF4-FFF2-40B4-BE49-F238E27FC236}">
                <a16:creationId xmlns:a16="http://schemas.microsoft.com/office/drawing/2014/main" id="{022CCE76-7473-384C-B8AD-4B26D3605B47}"/>
              </a:ext>
            </a:extLst>
          </p:cNvPr>
          <p:cNvSpPr>
            <a:spLocks noChangeArrowheads="1"/>
          </p:cNvSpPr>
          <p:nvPr/>
        </p:nvSpPr>
        <p:spPr bwMode="auto">
          <a:xfrm>
            <a:off x="3689197" y="1759196"/>
            <a:ext cx="2095500" cy="604837"/>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3" name="Text Box 108">
            <a:extLst>
              <a:ext uri="{FF2B5EF4-FFF2-40B4-BE49-F238E27FC236}">
                <a16:creationId xmlns:a16="http://schemas.microsoft.com/office/drawing/2014/main" id="{5C8E906F-87BB-6246-A8F8-5B849D560963}"/>
              </a:ext>
            </a:extLst>
          </p:cNvPr>
          <p:cNvSpPr txBox="1">
            <a:spLocks noChangeArrowheads="1"/>
          </p:cNvSpPr>
          <p:nvPr/>
        </p:nvSpPr>
        <p:spPr bwMode="auto">
          <a:xfrm>
            <a:off x="3812415" y="1866181"/>
            <a:ext cx="1863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routing algorithm</a:t>
            </a:r>
          </a:p>
        </p:txBody>
      </p:sp>
      <p:sp>
        <p:nvSpPr>
          <p:cNvPr id="544" name="Rectangle 109">
            <a:extLst>
              <a:ext uri="{FF2B5EF4-FFF2-40B4-BE49-F238E27FC236}">
                <a16:creationId xmlns:a16="http://schemas.microsoft.com/office/drawing/2014/main" id="{5814F0BC-A4E2-414A-8230-B48770800C20}"/>
              </a:ext>
            </a:extLst>
          </p:cNvPr>
          <p:cNvSpPr>
            <a:spLocks noChangeArrowheads="1"/>
          </p:cNvSpPr>
          <p:nvPr/>
        </p:nvSpPr>
        <p:spPr bwMode="auto">
          <a:xfrm>
            <a:off x="3743172" y="2586219"/>
            <a:ext cx="2005013" cy="135737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6" name="Text Box 111">
            <a:extLst>
              <a:ext uri="{FF2B5EF4-FFF2-40B4-BE49-F238E27FC236}">
                <a16:creationId xmlns:a16="http://schemas.microsoft.com/office/drawing/2014/main" id="{C638B8A1-75B3-8749-A235-1EE1778B601F}"/>
              </a:ext>
            </a:extLst>
          </p:cNvPr>
          <p:cNvSpPr txBox="1">
            <a:spLocks noChangeArrowheads="1"/>
          </p:cNvSpPr>
          <p:nvPr/>
        </p:nvSpPr>
        <p:spPr bwMode="auto">
          <a:xfrm>
            <a:off x="3706660" y="2864096"/>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header value</a:t>
            </a:r>
          </a:p>
        </p:txBody>
      </p:sp>
      <p:sp>
        <p:nvSpPr>
          <p:cNvPr id="547" name="Text Box 112">
            <a:extLst>
              <a:ext uri="{FF2B5EF4-FFF2-40B4-BE49-F238E27FC236}">
                <a16:creationId xmlns:a16="http://schemas.microsoft.com/office/drawing/2014/main" id="{CAC7F94E-387B-054D-AC5B-A6ACAFEBC95A}"/>
              </a:ext>
            </a:extLst>
          </p:cNvPr>
          <p:cNvSpPr txBox="1">
            <a:spLocks noChangeArrowheads="1"/>
          </p:cNvSpPr>
          <p:nvPr/>
        </p:nvSpPr>
        <p:spPr bwMode="auto">
          <a:xfrm>
            <a:off x="4773460" y="2865683"/>
            <a:ext cx="1041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output link</a:t>
            </a:r>
          </a:p>
        </p:txBody>
      </p:sp>
      <p:sp>
        <p:nvSpPr>
          <p:cNvPr id="548" name="Line 113">
            <a:extLst>
              <a:ext uri="{FF2B5EF4-FFF2-40B4-BE49-F238E27FC236}">
                <a16:creationId xmlns:a16="http://schemas.microsoft.com/office/drawing/2014/main" id="{F1E4DBAB-F3DB-A040-865E-B04E5313616C}"/>
              </a:ext>
            </a:extLst>
          </p:cNvPr>
          <p:cNvSpPr>
            <a:spLocks noChangeShapeType="1"/>
          </p:cNvSpPr>
          <p:nvPr/>
        </p:nvSpPr>
        <p:spPr bwMode="auto">
          <a:xfrm>
            <a:off x="4871885" y="2876796"/>
            <a:ext cx="7937" cy="10668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9" name="Text Box 114">
            <a:extLst>
              <a:ext uri="{FF2B5EF4-FFF2-40B4-BE49-F238E27FC236}">
                <a16:creationId xmlns:a16="http://schemas.microsoft.com/office/drawing/2014/main" id="{632019DF-E579-4B45-A8CE-2312F51B8EFE}"/>
              </a:ext>
            </a:extLst>
          </p:cNvPr>
          <p:cNvSpPr txBox="1">
            <a:spLocks noChangeArrowheads="1"/>
          </p:cNvSpPr>
          <p:nvPr/>
        </p:nvSpPr>
        <p:spPr bwMode="auto">
          <a:xfrm>
            <a:off x="4362297" y="3148258"/>
            <a:ext cx="5207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0100</a:t>
            </a:r>
          </a:p>
          <a:p>
            <a:pPr marL="0" marR="0" lvl="0" indent="0" algn="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0101</a:t>
            </a:r>
          </a:p>
          <a:p>
            <a:pPr marL="0" marR="0" lvl="0" indent="0" algn="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0111</a:t>
            </a:r>
          </a:p>
          <a:p>
            <a:pPr marL="0" marR="0" lvl="0" indent="0" algn="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1001</a:t>
            </a:r>
          </a:p>
        </p:txBody>
      </p:sp>
      <p:sp>
        <p:nvSpPr>
          <p:cNvPr id="550" name="Text Box 115">
            <a:extLst>
              <a:ext uri="{FF2B5EF4-FFF2-40B4-BE49-F238E27FC236}">
                <a16:creationId xmlns:a16="http://schemas.microsoft.com/office/drawing/2014/main" id="{54502672-4BE9-284A-B3B3-FA8A482CE2D0}"/>
              </a:ext>
            </a:extLst>
          </p:cNvPr>
          <p:cNvSpPr txBox="1">
            <a:spLocks noChangeArrowheads="1"/>
          </p:cNvSpPr>
          <p:nvPr/>
        </p:nvSpPr>
        <p:spPr bwMode="auto">
          <a:xfrm>
            <a:off x="4887760" y="3148258"/>
            <a:ext cx="26828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3</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2</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2</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sp>
        <p:nvSpPr>
          <p:cNvPr id="551" name="Line 116">
            <a:extLst>
              <a:ext uri="{FF2B5EF4-FFF2-40B4-BE49-F238E27FC236}">
                <a16:creationId xmlns:a16="http://schemas.microsoft.com/office/drawing/2014/main" id="{7AC235F1-D847-EB45-9746-2E1D0ED697AB}"/>
              </a:ext>
            </a:extLst>
          </p:cNvPr>
          <p:cNvSpPr>
            <a:spLocks noChangeShapeType="1"/>
          </p:cNvSpPr>
          <p:nvPr/>
        </p:nvSpPr>
        <p:spPr bwMode="auto">
          <a:xfrm>
            <a:off x="3743172" y="3133971"/>
            <a:ext cx="2006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52" name="Line 117">
            <a:extLst>
              <a:ext uri="{FF2B5EF4-FFF2-40B4-BE49-F238E27FC236}">
                <a16:creationId xmlns:a16="http://schemas.microsoft.com/office/drawing/2014/main" id="{E3F3F0A3-B7B7-C84F-8E76-3C4C5F55CDAF}"/>
              </a:ext>
            </a:extLst>
          </p:cNvPr>
          <p:cNvSpPr>
            <a:spLocks noChangeShapeType="1"/>
          </p:cNvSpPr>
          <p:nvPr/>
        </p:nvSpPr>
        <p:spPr bwMode="auto">
          <a:xfrm>
            <a:off x="3735235" y="2886321"/>
            <a:ext cx="2006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767" name="Content Placeholder 4">
            <a:extLst>
              <a:ext uri="{FF2B5EF4-FFF2-40B4-BE49-F238E27FC236}">
                <a16:creationId xmlns:a16="http://schemas.microsoft.com/office/drawing/2014/main" id="{5ABADEC3-C709-CF41-9AAD-AD496B9E1BC9}"/>
              </a:ext>
            </a:extLst>
          </p:cNvPr>
          <p:cNvSpPr txBox="1">
            <a:spLocks/>
          </p:cNvSpPr>
          <p:nvPr/>
        </p:nvSpPr>
        <p:spPr>
          <a:xfrm>
            <a:off x="8430283" y="1824271"/>
            <a:ext cx="3555414" cy="300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3" indent="0">
              <a:buNone/>
            </a:pPr>
            <a:r>
              <a:rPr lang="en-US" altLang="en-US" sz="3000" i="1" dirty="0">
                <a:solidFill>
                  <a:srgbClr val="C00000"/>
                </a:solidFill>
                <a:ea typeface="ＭＳ Ｐゴシック" panose="020B0600070205080204" pitchFamily="34" charset="-128"/>
              </a:rPr>
              <a:t>Routing: </a:t>
            </a:r>
          </a:p>
          <a:p>
            <a:pPr marL="400050" indent="-285750"/>
            <a:r>
              <a:rPr lang="en-US" altLang="en-US" i="1" dirty="0">
                <a:solidFill>
                  <a:srgbClr val="C00000"/>
                </a:solidFill>
                <a:ea typeface="ＭＳ Ｐゴシック" panose="020B0600070205080204" pitchFamily="34" charset="-128"/>
              </a:rPr>
              <a:t>global</a:t>
            </a:r>
            <a:r>
              <a:rPr lang="en-US" altLang="en-US" dirty="0">
                <a:ea typeface="ＭＳ Ｐゴシック" panose="020B0600070205080204" pitchFamily="34" charset="-128"/>
              </a:rPr>
              <a:t> action: determine source-destination paths taken by packets</a:t>
            </a:r>
          </a:p>
          <a:p>
            <a:pPr marL="400050" indent="-285750"/>
            <a:r>
              <a:rPr lang="en-US" altLang="en-US" dirty="0">
                <a:ea typeface="ＭＳ Ｐゴシック" panose="020B0600070205080204" pitchFamily="34" charset="-128"/>
              </a:rPr>
              <a:t>routing algorithms</a:t>
            </a:r>
          </a:p>
          <a:p>
            <a:endParaRPr lang="en-US" dirty="0"/>
          </a:p>
        </p:txBody>
      </p:sp>
      <p:grpSp>
        <p:nvGrpSpPr>
          <p:cNvPr id="768" name="Group 767">
            <a:extLst>
              <a:ext uri="{FF2B5EF4-FFF2-40B4-BE49-F238E27FC236}">
                <a16:creationId xmlns:a16="http://schemas.microsoft.com/office/drawing/2014/main" id="{C0413C26-2428-294D-A985-438064AB22F8}"/>
              </a:ext>
            </a:extLst>
          </p:cNvPr>
          <p:cNvGrpSpPr/>
          <p:nvPr/>
        </p:nvGrpSpPr>
        <p:grpSpPr>
          <a:xfrm>
            <a:off x="7049868" y="4738514"/>
            <a:ext cx="578032" cy="285706"/>
            <a:chOff x="7493876" y="2774731"/>
            <a:chExt cx="1481958" cy="894622"/>
          </a:xfrm>
        </p:grpSpPr>
        <p:sp>
          <p:nvSpPr>
            <p:cNvPr id="769" name="Freeform 768">
              <a:extLst>
                <a:ext uri="{FF2B5EF4-FFF2-40B4-BE49-F238E27FC236}">
                  <a16:creationId xmlns:a16="http://schemas.microsoft.com/office/drawing/2014/main" id="{965C4A7A-7A5E-0148-8C9E-B16A4266DC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70" name="Oval 769">
              <a:extLst>
                <a:ext uri="{FF2B5EF4-FFF2-40B4-BE49-F238E27FC236}">
                  <a16:creationId xmlns:a16="http://schemas.microsoft.com/office/drawing/2014/main" id="{92E38B70-5FD9-2340-ACBB-8F93875300F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71" name="Group 770">
              <a:extLst>
                <a:ext uri="{FF2B5EF4-FFF2-40B4-BE49-F238E27FC236}">
                  <a16:creationId xmlns:a16="http://schemas.microsoft.com/office/drawing/2014/main" id="{E3B73C34-FD2E-1B48-A77A-22E11F715B02}"/>
                </a:ext>
              </a:extLst>
            </p:cNvPr>
            <p:cNvGrpSpPr/>
            <p:nvPr/>
          </p:nvGrpSpPr>
          <p:grpSpPr>
            <a:xfrm>
              <a:off x="7713663" y="2848339"/>
              <a:ext cx="1042107" cy="425543"/>
              <a:chOff x="7786941" y="2884917"/>
              <a:chExt cx="897649" cy="353919"/>
            </a:xfrm>
          </p:grpSpPr>
          <p:sp>
            <p:nvSpPr>
              <p:cNvPr id="772" name="Freeform 771">
                <a:extLst>
                  <a:ext uri="{FF2B5EF4-FFF2-40B4-BE49-F238E27FC236}">
                    <a16:creationId xmlns:a16="http://schemas.microsoft.com/office/drawing/2014/main" id="{E4276C6A-8274-8344-BE16-4ABFAA9AC4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Freeform 772">
                <a:extLst>
                  <a:ext uri="{FF2B5EF4-FFF2-40B4-BE49-F238E27FC236}">
                    <a16:creationId xmlns:a16="http://schemas.microsoft.com/office/drawing/2014/main" id="{20A2FF59-A2E8-7D4A-AF91-33EC3C561D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Freeform 773">
                <a:extLst>
                  <a:ext uri="{FF2B5EF4-FFF2-40B4-BE49-F238E27FC236}">
                    <a16:creationId xmlns:a16="http://schemas.microsoft.com/office/drawing/2014/main" id="{903498AC-CE0A-4149-A230-F651FF8C1DF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Freeform 774">
                <a:extLst>
                  <a:ext uri="{FF2B5EF4-FFF2-40B4-BE49-F238E27FC236}">
                    <a16:creationId xmlns:a16="http://schemas.microsoft.com/office/drawing/2014/main" id="{B872917B-C402-9545-A450-6FA93A7AFF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76" name="Group 775">
            <a:extLst>
              <a:ext uri="{FF2B5EF4-FFF2-40B4-BE49-F238E27FC236}">
                <a16:creationId xmlns:a16="http://schemas.microsoft.com/office/drawing/2014/main" id="{E243B6F1-DF5E-834B-A8AE-E9590849B60B}"/>
              </a:ext>
            </a:extLst>
          </p:cNvPr>
          <p:cNvGrpSpPr/>
          <p:nvPr/>
        </p:nvGrpSpPr>
        <p:grpSpPr>
          <a:xfrm>
            <a:off x="6681740" y="5392274"/>
            <a:ext cx="578032" cy="285706"/>
            <a:chOff x="7493876" y="2774731"/>
            <a:chExt cx="1481958" cy="894622"/>
          </a:xfrm>
        </p:grpSpPr>
        <p:sp>
          <p:nvSpPr>
            <p:cNvPr id="777" name="Freeform 776">
              <a:extLst>
                <a:ext uri="{FF2B5EF4-FFF2-40B4-BE49-F238E27FC236}">
                  <a16:creationId xmlns:a16="http://schemas.microsoft.com/office/drawing/2014/main" id="{84A4F67C-5B7E-A346-A9B5-707127538DB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78" name="Oval 777">
              <a:extLst>
                <a:ext uri="{FF2B5EF4-FFF2-40B4-BE49-F238E27FC236}">
                  <a16:creationId xmlns:a16="http://schemas.microsoft.com/office/drawing/2014/main" id="{710EA80C-53BE-C640-847F-EF8C6F0C5E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79" name="Group 778">
              <a:extLst>
                <a:ext uri="{FF2B5EF4-FFF2-40B4-BE49-F238E27FC236}">
                  <a16:creationId xmlns:a16="http://schemas.microsoft.com/office/drawing/2014/main" id="{6F05C597-EF04-8E46-ADDE-B5386A7B3E03}"/>
                </a:ext>
              </a:extLst>
            </p:cNvPr>
            <p:cNvGrpSpPr/>
            <p:nvPr/>
          </p:nvGrpSpPr>
          <p:grpSpPr>
            <a:xfrm>
              <a:off x="7713663" y="2848339"/>
              <a:ext cx="1042107" cy="425543"/>
              <a:chOff x="7786941" y="2884917"/>
              <a:chExt cx="897649" cy="353919"/>
            </a:xfrm>
          </p:grpSpPr>
          <p:sp>
            <p:nvSpPr>
              <p:cNvPr id="780" name="Freeform 779">
                <a:extLst>
                  <a:ext uri="{FF2B5EF4-FFF2-40B4-BE49-F238E27FC236}">
                    <a16:creationId xmlns:a16="http://schemas.microsoft.com/office/drawing/2014/main" id="{7C40FDF7-A328-1B4D-8506-754F6CBE08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Freeform 780">
                <a:extLst>
                  <a:ext uri="{FF2B5EF4-FFF2-40B4-BE49-F238E27FC236}">
                    <a16:creationId xmlns:a16="http://schemas.microsoft.com/office/drawing/2014/main" id="{5F61F868-DE1D-8F4B-B310-992E9BA5370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Freeform 781">
                <a:extLst>
                  <a:ext uri="{FF2B5EF4-FFF2-40B4-BE49-F238E27FC236}">
                    <a16:creationId xmlns:a16="http://schemas.microsoft.com/office/drawing/2014/main" id="{ECFAAB82-F382-5C46-A481-4E0EE52A62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Freeform 782">
                <a:extLst>
                  <a:ext uri="{FF2B5EF4-FFF2-40B4-BE49-F238E27FC236}">
                    <a16:creationId xmlns:a16="http://schemas.microsoft.com/office/drawing/2014/main" id="{81EF1C74-F122-EB4E-87D0-836B4BC6B1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84" name="Group 783">
            <a:extLst>
              <a:ext uri="{FF2B5EF4-FFF2-40B4-BE49-F238E27FC236}">
                <a16:creationId xmlns:a16="http://schemas.microsoft.com/office/drawing/2014/main" id="{32B9D5FB-6F2D-FC49-BA71-4E56467A288E}"/>
              </a:ext>
            </a:extLst>
          </p:cNvPr>
          <p:cNvGrpSpPr/>
          <p:nvPr/>
        </p:nvGrpSpPr>
        <p:grpSpPr>
          <a:xfrm>
            <a:off x="5525266" y="5343605"/>
            <a:ext cx="578032" cy="285706"/>
            <a:chOff x="7493876" y="2774731"/>
            <a:chExt cx="1481958" cy="894622"/>
          </a:xfrm>
        </p:grpSpPr>
        <p:sp>
          <p:nvSpPr>
            <p:cNvPr id="785" name="Freeform 784">
              <a:extLst>
                <a:ext uri="{FF2B5EF4-FFF2-40B4-BE49-F238E27FC236}">
                  <a16:creationId xmlns:a16="http://schemas.microsoft.com/office/drawing/2014/main" id="{6D9C8DA7-EC26-F440-A5E7-0414FEEDC3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86" name="Oval 785">
              <a:extLst>
                <a:ext uri="{FF2B5EF4-FFF2-40B4-BE49-F238E27FC236}">
                  <a16:creationId xmlns:a16="http://schemas.microsoft.com/office/drawing/2014/main" id="{75F55489-01E2-DC4E-8420-B6BA4282835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87" name="Group 786">
              <a:extLst>
                <a:ext uri="{FF2B5EF4-FFF2-40B4-BE49-F238E27FC236}">
                  <a16:creationId xmlns:a16="http://schemas.microsoft.com/office/drawing/2014/main" id="{76171C91-B5DD-BD40-9E3B-82B64D920D4A}"/>
                </a:ext>
              </a:extLst>
            </p:cNvPr>
            <p:cNvGrpSpPr/>
            <p:nvPr/>
          </p:nvGrpSpPr>
          <p:grpSpPr>
            <a:xfrm>
              <a:off x="7713663" y="2848339"/>
              <a:ext cx="1042107" cy="425543"/>
              <a:chOff x="7786941" y="2884917"/>
              <a:chExt cx="897649" cy="353919"/>
            </a:xfrm>
          </p:grpSpPr>
          <p:sp>
            <p:nvSpPr>
              <p:cNvPr id="788" name="Freeform 787">
                <a:extLst>
                  <a:ext uri="{FF2B5EF4-FFF2-40B4-BE49-F238E27FC236}">
                    <a16:creationId xmlns:a16="http://schemas.microsoft.com/office/drawing/2014/main" id="{92824FB2-3109-A24A-84EE-0875C22A17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Freeform 788">
                <a:extLst>
                  <a:ext uri="{FF2B5EF4-FFF2-40B4-BE49-F238E27FC236}">
                    <a16:creationId xmlns:a16="http://schemas.microsoft.com/office/drawing/2014/main" id="{B4992F98-C293-F14F-897F-0428DAF248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Freeform 789">
                <a:extLst>
                  <a:ext uri="{FF2B5EF4-FFF2-40B4-BE49-F238E27FC236}">
                    <a16:creationId xmlns:a16="http://schemas.microsoft.com/office/drawing/2014/main" id="{9D3E92E4-B967-074F-BDDA-6C78578D5D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Freeform 790">
                <a:extLst>
                  <a:ext uri="{FF2B5EF4-FFF2-40B4-BE49-F238E27FC236}">
                    <a16:creationId xmlns:a16="http://schemas.microsoft.com/office/drawing/2014/main" id="{AC70E22F-7F6D-9D45-9031-FB98F8A400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92" name="Group 791">
            <a:extLst>
              <a:ext uri="{FF2B5EF4-FFF2-40B4-BE49-F238E27FC236}">
                <a16:creationId xmlns:a16="http://schemas.microsoft.com/office/drawing/2014/main" id="{0AAA6329-4E08-D94E-93EE-AC2FA25D6326}"/>
              </a:ext>
            </a:extLst>
          </p:cNvPr>
          <p:cNvGrpSpPr/>
          <p:nvPr/>
        </p:nvGrpSpPr>
        <p:grpSpPr>
          <a:xfrm>
            <a:off x="6130766" y="4428206"/>
            <a:ext cx="578032" cy="285706"/>
            <a:chOff x="7493876" y="2774731"/>
            <a:chExt cx="1481958" cy="894622"/>
          </a:xfrm>
        </p:grpSpPr>
        <p:sp>
          <p:nvSpPr>
            <p:cNvPr id="793" name="Freeform 792">
              <a:extLst>
                <a:ext uri="{FF2B5EF4-FFF2-40B4-BE49-F238E27FC236}">
                  <a16:creationId xmlns:a16="http://schemas.microsoft.com/office/drawing/2014/main" id="{BB444168-FD71-7E47-B4D6-391D9675421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94" name="Oval 793">
              <a:extLst>
                <a:ext uri="{FF2B5EF4-FFF2-40B4-BE49-F238E27FC236}">
                  <a16:creationId xmlns:a16="http://schemas.microsoft.com/office/drawing/2014/main" id="{FAC70931-18C0-3E4B-9F7C-07190D628EE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95" name="Group 794">
              <a:extLst>
                <a:ext uri="{FF2B5EF4-FFF2-40B4-BE49-F238E27FC236}">
                  <a16:creationId xmlns:a16="http://schemas.microsoft.com/office/drawing/2014/main" id="{CDA4CB47-2278-C94D-A8EA-8D5E2A74A82A}"/>
                </a:ext>
              </a:extLst>
            </p:cNvPr>
            <p:cNvGrpSpPr/>
            <p:nvPr/>
          </p:nvGrpSpPr>
          <p:grpSpPr>
            <a:xfrm>
              <a:off x="7713663" y="2848339"/>
              <a:ext cx="1042107" cy="425543"/>
              <a:chOff x="7786941" y="2884917"/>
              <a:chExt cx="897649" cy="353919"/>
            </a:xfrm>
          </p:grpSpPr>
          <p:sp>
            <p:nvSpPr>
              <p:cNvPr id="796" name="Freeform 795">
                <a:extLst>
                  <a:ext uri="{FF2B5EF4-FFF2-40B4-BE49-F238E27FC236}">
                    <a16:creationId xmlns:a16="http://schemas.microsoft.com/office/drawing/2014/main" id="{DCDB30E9-C763-0E48-9E3E-72EAECA07B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7" name="Freeform 796">
                <a:extLst>
                  <a:ext uri="{FF2B5EF4-FFF2-40B4-BE49-F238E27FC236}">
                    <a16:creationId xmlns:a16="http://schemas.microsoft.com/office/drawing/2014/main" id="{77961B40-DE0E-B64A-AC4E-268EAB832F4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8" name="Freeform 797">
                <a:extLst>
                  <a:ext uri="{FF2B5EF4-FFF2-40B4-BE49-F238E27FC236}">
                    <a16:creationId xmlns:a16="http://schemas.microsoft.com/office/drawing/2014/main" id="{C29BE61B-DD17-1E48-955B-B459D24C9D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9" name="Freeform 798">
                <a:extLst>
                  <a:ext uri="{FF2B5EF4-FFF2-40B4-BE49-F238E27FC236}">
                    <a16:creationId xmlns:a16="http://schemas.microsoft.com/office/drawing/2014/main" id="{9D0B46F6-CDBE-9C4C-98C4-18ACE1C1CF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00" name="Group 799">
            <a:extLst>
              <a:ext uri="{FF2B5EF4-FFF2-40B4-BE49-F238E27FC236}">
                <a16:creationId xmlns:a16="http://schemas.microsoft.com/office/drawing/2014/main" id="{439AE64C-370D-E343-8E49-6C6768CBAF77}"/>
              </a:ext>
            </a:extLst>
          </p:cNvPr>
          <p:cNvGrpSpPr/>
          <p:nvPr/>
        </p:nvGrpSpPr>
        <p:grpSpPr>
          <a:xfrm>
            <a:off x="6041427" y="5026045"/>
            <a:ext cx="578032" cy="285706"/>
            <a:chOff x="7493876" y="2774731"/>
            <a:chExt cx="1481958" cy="894622"/>
          </a:xfrm>
        </p:grpSpPr>
        <p:sp>
          <p:nvSpPr>
            <p:cNvPr id="801" name="Freeform 800">
              <a:extLst>
                <a:ext uri="{FF2B5EF4-FFF2-40B4-BE49-F238E27FC236}">
                  <a16:creationId xmlns:a16="http://schemas.microsoft.com/office/drawing/2014/main" id="{E0A1DB2C-92C8-364E-BC47-FA5BAF521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02" name="Oval 801">
              <a:extLst>
                <a:ext uri="{FF2B5EF4-FFF2-40B4-BE49-F238E27FC236}">
                  <a16:creationId xmlns:a16="http://schemas.microsoft.com/office/drawing/2014/main" id="{84346A6B-FED3-C944-B74B-F5A1DE30FD5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03" name="Group 802">
              <a:extLst>
                <a:ext uri="{FF2B5EF4-FFF2-40B4-BE49-F238E27FC236}">
                  <a16:creationId xmlns:a16="http://schemas.microsoft.com/office/drawing/2014/main" id="{543182CA-CB89-DA41-B460-2032628AECF5}"/>
                </a:ext>
              </a:extLst>
            </p:cNvPr>
            <p:cNvGrpSpPr/>
            <p:nvPr/>
          </p:nvGrpSpPr>
          <p:grpSpPr>
            <a:xfrm>
              <a:off x="7713663" y="2848339"/>
              <a:ext cx="1042107" cy="425543"/>
              <a:chOff x="7786941" y="2884917"/>
              <a:chExt cx="897649" cy="353919"/>
            </a:xfrm>
          </p:grpSpPr>
          <p:sp>
            <p:nvSpPr>
              <p:cNvPr id="804" name="Freeform 803">
                <a:extLst>
                  <a:ext uri="{FF2B5EF4-FFF2-40B4-BE49-F238E27FC236}">
                    <a16:creationId xmlns:a16="http://schemas.microsoft.com/office/drawing/2014/main" id="{7C35BEA7-39EA-AF44-9B1A-9069DDBA13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5" name="Freeform 804">
                <a:extLst>
                  <a:ext uri="{FF2B5EF4-FFF2-40B4-BE49-F238E27FC236}">
                    <a16:creationId xmlns:a16="http://schemas.microsoft.com/office/drawing/2014/main" id="{CA289C9F-3DB7-7A4B-A338-B0CD67353F4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6" name="Freeform 805">
                <a:extLst>
                  <a:ext uri="{FF2B5EF4-FFF2-40B4-BE49-F238E27FC236}">
                    <a16:creationId xmlns:a16="http://schemas.microsoft.com/office/drawing/2014/main" id="{F5FC6510-D993-524E-B9F2-EB0A421DFE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7" name="Freeform 806">
                <a:extLst>
                  <a:ext uri="{FF2B5EF4-FFF2-40B4-BE49-F238E27FC236}">
                    <a16:creationId xmlns:a16="http://schemas.microsoft.com/office/drawing/2014/main" id="{C58489D3-AD98-5849-ADA3-B1C7B9B4B9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08" name="Group 807">
            <a:extLst>
              <a:ext uri="{FF2B5EF4-FFF2-40B4-BE49-F238E27FC236}">
                <a16:creationId xmlns:a16="http://schemas.microsoft.com/office/drawing/2014/main" id="{CBD30329-EF8A-434C-B6EE-CEE2CDB2D499}"/>
              </a:ext>
            </a:extLst>
          </p:cNvPr>
          <p:cNvGrpSpPr/>
          <p:nvPr/>
        </p:nvGrpSpPr>
        <p:grpSpPr>
          <a:xfrm>
            <a:off x="5094748" y="4736342"/>
            <a:ext cx="578032" cy="285706"/>
            <a:chOff x="7493876" y="2774731"/>
            <a:chExt cx="1481958" cy="894622"/>
          </a:xfrm>
        </p:grpSpPr>
        <p:sp>
          <p:nvSpPr>
            <p:cNvPr id="809" name="Freeform 808">
              <a:extLst>
                <a:ext uri="{FF2B5EF4-FFF2-40B4-BE49-F238E27FC236}">
                  <a16:creationId xmlns:a16="http://schemas.microsoft.com/office/drawing/2014/main" id="{C16A6827-70C6-5247-943E-DBCA19804B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10" name="Oval 809">
              <a:extLst>
                <a:ext uri="{FF2B5EF4-FFF2-40B4-BE49-F238E27FC236}">
                  <a16:creationId xmlns:a16="http://schemas.microsoft.com/office/drawing/2014/main" id="{701C0281-7FB7-B040-84C8-661D68EF69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11" name="Group 810">
              <a:extLst>
                <a:ext uri="{FF2B5EF4-FFF2-40B4-BE49-F238E27FC236}">
                  <a16:creationId xmlns:a16="http://schemas.microsoft.com/office/drawing/2014/main" id="{019453D2-E67C-7F4E-82EB-B7EE9BD09D32}"/>
                </a:ext>
              </a:extLst>
            </p:cNvPr>
            <p:cNvGrpSpPr/>
            <p:nvPr/>
          </p:nvGrpSpPr>
          <p:grpSpPr>
            <a:xfrm>
              <a:off x="7713663" y="2848339"/>
              <a:ext cx="1042107" cy="425543"/>
              <a:chOff x="7786941" y="2884917"/>
              <a:chExt cx="897649" cy="353919"/>
            </a:xfrm>
          </p:grpSpPr>
          <p:sp>
            <p:nvSpPr>
              <p:cNvPr id="812" name="Freeform 811">
                <a:extLst>
                  <a:ext uri="{FF2B5EF4-FFF2-40B4-BE49-F238E27FC236}">
                    <a16:creationId xmlns:a16="http://schemas.microsoft.com/office/drawing/2014/main" id="{43556055-0862-FA41-B220-5E3C09F46FA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3" name="Freeform 812">
                <a:extLst>
                  <a:ext uri="{FF2B5EF4-FFF2-40B4-BE49-F238E27FC236}">
                    <a16:creationId xmlns:a16="http://schemas.microsoft.com/office/drawing/2014/main" id="{7D44D9ED-1D38-B64F-B869-982F3B76A3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4" name="Freeform 813">
                <a:extLst>
                  <a:ext uri="{FF2B5EF4-FFF2-40B4-BE49-F238E27FC236}">
                    <a16:creationId xmlns:a16="http://schemas.microsoft.com/office/drawing/2014/main" id="{64929109-8482-0C43-AE9D-6EFDD2BC94E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5" name="Freeform 814">
                <a:extLst>
                  <a:ext uri="{FF2B5EF4-FFF2-40B4-BE49-F238E27FC236}">
                    <a16:creationId xmlns:a16="http://schemas.microsoft.com/office/drawing/2014/main" id="{61BC8A89-F1ED-CE46-9494-60CF882866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86" name="Freeform 120">
            <a:extLst>
              <a:ext uri="{FF2B5EF4-FFF2-40B4-BE49-F238E27FC236}">
                <a16:creationId xmlns:a16="http://schemas.microsoft.com/office/drawing/2014/main" id="{9AB9F05A-A548-AC4E-83E2-A877F3B9A57F}"/>
              </a:ext>
            </a:extLst>
          </p:cNvPr>
          <p:cNvSpPr>
            <a:spLocks/>
          </p:cNvSpPr>
          <p:nvPr/>
        </p:nvSpPr>
        <p:spPr bwMode="auto">
          <a:xfrm>
            <a:off x="4869344" y="4824326"/>
            <a:ext cx="1041867" cy="336451"/>
          </a:xfrm>
          <a:custGeom>
            <a:avLst/>
            <a:gdLst>
              <a:gd name="T0" fmla="*/ 0 w 10844"/>
              <a:gd name="T1" fmla="*/ 2147483647 h 14797"/>
              <a:gd name="T2" fmla="*/ 2147483647 w 10844"/>
              <a:gd name="T3" fmla="*/ 2147483647 h 14797"/>
              <a:gd name="T4" fmla="*/ 2147483647 w 10844"/>
              <a:gd name="T5" fmla="*/ 2147483647 h 14797"/>
              <a:gd name="T6" fmla="*/ 0 60000 65536"/>
              <a:gd name="T7" fmla="*/ 0 60000 65536"/>
              <a:gd name="T8" fmla="*/ 0 60000 65536"/>
              <a:gd name="T9" fmla="*/ 0 w 10844"/>
              <a:gd name="T10" fmla="*/ 0 h 14797"/>
              <a:gd name="T11" fmla="*/ 10844 w 10844"/>
              <a:gd name="T12" fmla="*/ 14797 h 14797"/>
            </a:gdLst>
            <a:ahLst/>
            <a:cxnLst>
              <a:cxn ang="T6">
                <a:pos x="T0" y="T1"/>
              </a:cxn>
              <a:cxn ang="T7">
                <a:pos x="T2" y="T3"/>
              </a:cxn>
              <a:cxn ang="T8">
                <a:pos x="T4" y="T5"/>
              </a:cxn>
            </a:cxnLst>
            <a:rect l="T9" t="T10" r="T11" b="T12"/>
            <a:pathLst>
              <a:path w="10844" h="14797">
                <a:moveTo>
                  <a:pt x="0" y="14797"/>
                </a:moveTo>
                <a:cubicBezTo>
                  <a:pt x="2168" y="9517"/>
                  <a:pt x="5654" y="-1331"/>
                  <a:pt x="7042" y="135"/>
                </a:cubicBezTo>
                <a:cubicBezTo>
                  <a:pt x="8563" y="1950"/>
                  <a:pt x="9984" y="6698"/>
                  <a:pt x="10844" y="9978"/>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18" name="Text Box 108">
            <a:extLst>
              <a:ext uri="{FF2B5EF4-FFF2-40B4-BE49-F238E27FC236}">
                <a16:creationId xmlns:a16="http://schemas.microsoft.com/office/drawing/2014/main" id="{E7C9C96C-2BC6-C44A-AE8A-01BCFB474108}"/>
              </a:ext>
            </a:extLst>
          </p:cNvPr>
          <p:cNvSpPr txBox="1">
            <a:spLocks noChangeArrowheads="1"/>
          </p:cNvSpPr>
          <p:nvPr/>
        </p:nvSpPr>
        <p:spPr bwMode="auto">
          <a:xfrm>
            <a:off x="3671421" y="2588130"/>
            <a:ext cx="21818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lang="en-US" altLang="en-US" sz="1600" kern="0" dirty="0">
                <a:solidFill>
                  <a:srgbClr val="000000"/>
                </a:solidFill>
                <a:latin typeface="+mn-lt"/>
                <a:cs typeface="Arial"/>
              </a:rPr>
              <a:t>l</a:t>
            </a:r>
            <a:r>
              <a:rPr kumimoji="0" lang="en-US" altLang="en-US" sz="1600" b="0" i="0" u="none" strike="noStrike" kern="0" cap="none" spc="0" normalizeH="0" baseline="0" noProof="0" dirty="0" err="1">
                <a:ln>
                  <a:noFill/>
                </a:ln>
                <a:solidFill>
                  <a:srgbClr val="000000"/>
                </a:solidFill>
                <a:effectLst/>
                <a:uLnTx/>
                <a:uFillTx/>
                <a:latin typeface="+mn-lt"/>
                <a:ea typeface="ＭＳ Ｐゴシック" panose="020B0600070205080204" pitchFamily="34" charset="-128"/>
                <a:cs typeface="Arial"/>
              </a:rPr>
              <a:t>ocal</a:t>
            </a:r>
            <a:r>
              <a:rPr kumimoji="0" lang="en-US" altLang="en-US" sz="16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 forwarding table</a:t>
            </a:r>
          </a:p>
        </p:txBody>
      </p:sp>
      <p:cxnSp>
        <p:nvCxnSpPr>
          <p:cNvPr id="705" name="Straight Connector 421888">
            <a:extLst>
              <a:ext uri="{FF2B5EF4-FFF2-40B4-BE49-F238E27FC236}">
                <a16:creationId xmlns:a16="http://schemas.microsoft.com/office/drawing/2014/main" id="{A28CC61D-39D0-FF4B-80F5-852155288568}"/>
              </a:ext>
            </a:extLst>
          </p:cNvPr>
          <p:cNvCxnSpPr>
            <a:cxnSpLocks noChangeShapeType="1"/>
          </p:cNvCxnSpPr>
          <p:nvPr/>
        </p:nvCxnSpPr>
        <p:spPr bwMode="auto">
          <a:xfrm>
            <a:off x="2389758" y="2757407"/>
            <a:ext cx="1281663"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grpSp>
        <p:nvGrpSpPr>
          <p:cNvPr id="20" name="Group 19">
            <a:extLst>
              <a:ext uri="{FF2B5EF4-FFF2-40B4-BE49-F238E27FC236}">
                <a16:creationId xmlns:a16="http://schemas.microsoft.com/office/drawing/2014/main" id="{99439175-92D1-B54E-89FE-24E600DB9083}"/>
              </a:ext>
            </a:extLst>
          </p:cNvPr>
          <p:cNvGrpSpPr/>
          <p:nvPr/>
        </p:nvGrpSpPr>
        <p:grpSpPr>
          <a:xfrm>
            <a:off x="3744796" y="2580320"/>
            <a:ext cx="2017520" cy="338554"/>
            <a:chOff x="6181202" y="4326532"/>
            <a:chExt cx="2017520" cy="338554"/>
          </a:xfrm>
        </p:grpSpPr>
        <p:sp>
          <p:nvSpPr>
            <p:cNvPr id="19" name="Rectangle 18">
              <a:extLst>
                <a:ext uri="{FF2B5EF4-FFF2-40B4-BE49-F238E27FC236}">
                  <a16:creationId xmlns:a16="http://schemas.microsoft.com/office/drawing/2014/main" id="{00D30A0E-A386-1047-BF2B-4573AB91DD1D}"/>
                </a:ext>
              </a:extLst>
            </p:cNvPr>
            <p:cNvSpPr/>
            <p:nvPr/>
          </p:nvSpPr>
          <p:spPr>
            <a:xfrm>
              <a:off x="6192122" y="4338108"/>
              <a:ext cx="2006600" cy="29597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Text Box 110">
              <a:extLst>
                <a:ext uri="{FF2B5EF4-FFF2-40B4-BE49-F238E27FC236}">
                  <a16:creationId xmlns:a16="http://schemas.microsoft.com/office/drawing/2014/main" id="{176C7190-B831-844B-9F8F-BED0B509EC5A}"/>
                </a:ext>
              </a:extLst>
            </p:cNvPr>
            <p:cNvSpPr txBox="1">
              <a:spLocks noChangeArrowheads="1"/>
            </p:cNvSpPr>
            <p:nvPr/>
          </p:nvSpPr>
          <p:spPr bwMode="auto">
            <a:xfrm>
              <a:off x="6181202" y="4326532"/>
              <a:ext cx="2005677" cy="338554"/>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local forwarding table</a:t>
              </a:r>
            </a:p>
          </p:txBody>
        </p:sp>
      </p:grpSp>
      <p:grpSp>
        <p:nvGrpSpPr>
          <p:cNvPr id="32" name="Group 31">
            <a:extLst>
              <a:ext uri="{FF2B5EF4-FFF2-40B4-BE49-F238E27FC236}">
                <a16:creationId xmlns:a16="http://schemas.microsoft.com/office/drawing/2014/main" id="{57EBE358-5C23-474E-A2B6-80BB3E04FC0E}"/>
              </a:ext>
            </a:extLst>
          </p:cNvPr>
          <p:cNvGrpSpPr/>
          <p:nvPr/>
        </p:nvGrpSpPr>
        <p:grpSpPr>
          <a:xfrm>
            <a:off x="3689197" y="1759195"/>
            <a:ext cx="2095500" cy="604837"/>
            <a:chOff x="3839579" y="1912090"/>
            <a:chExt cx="2095500" cy="604837"/>
          </a:xfrm>
        </p:grpSpPr>
        <p:sp>
          <p:nvSpPr>
            <p:cNvPr id="822" name="Oval 5">
              <a:extLst>
                <a:ext uri="{FF2B5EF4-FFF2-40B4-BE49-F238E27FC236}">
                  <a16:creationId xmlns:a16="http://schemas.microsoft.com/office/drawing/2014/main" id="{31E7DBF2-2BFB-094F-BD34-EE8B47DDE2BF}"/>
                </a:ext>
              </a:extLst>
            </p:cNvPr>
            <p:cNvSpPr>
              <a:spLocks noChangeArrowheads="1"/>
            </p:cNvSpPr>
            <p:nvPr/>
          </p:nvSpPr>
          <p:spPr bwMode="auto">
            <a:xfrm>
              <a:off x="3839579" y="1912090"/>
              <a:ext cx="2095500" cy="60483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chemeClr val="bg1"/>
                </a:solidFill>
                <a:effectLst/>
                <a:uLnTx/>
                <a:uFillTx/>
                <a:latin typeface="Arial" panose="020B0604020202020204" pitchFamily="34" charset="0"/>
                <a:ea typeface="ＭＳ Ｐゴシック" panose="020B0600070205080204" pitchFamily="34" charset="-128"/>
                <a:cs typeface="Arial"/>
              </a:endParaRPr>
            </a:p>
          </p:txBody>
        </p:sp>
        <p:sp>
          <p:nvSpPr>
            <p:cNvPr id="821" name="Text Box 108">
              <a:extLst>
                <a:ext uri="{FF2B5EF4-FFF2-40B4-BE49-F238E27FC236}">
                  <a16:creationId xmlns:a16="http://schemas.microsoft.com/office/drawing/2014/main" id="{5942793B-FC1B-AD41-9170-51DAF5E3768A}"/>
                </a:ext>
              </a:extLst>
            </p:cNvPr>
            <p:cNvSpPr txBox="1">
              <a:spLocks noChangeArrowheads="1"/>
            </p:cNvSpPr>
            <p:nvPr/>
          </p:nvSpPr>
          <p:spPr bwMode="auto">
            <a:xfrm>
              <a:off x="3964815" y="2018581"/>
              <a:ext cx="1863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routing algorithm</a:t>
              </a:r>
            </a:p>
          </p:txBody>
        </p:sp>
      </p:grpSp>
      <p:sp>
        <p:nvSpPr>
          <p:cNvPr id="553" name="AutoShape 118">
            <a:extLst>
              <a:ext uri="{FF2B5EF4-FFF2-40B4-BE49-F238E27FC236}">
                <a16:creationId xmlns:a16="http://schemas.microsoft.com/office/drawing/2014/main" id="{CE405A55-DEFA-E34D-A391-3BAFA1DB2942}"/>
              </a:ext>
            </a:extLst>
          </p:cNvPr>
          <p:cNvSpPr>
            <a:spLocks noChangeArrowheads="1"/>
          </p:cNvSpPr>
          <p:nvPr/>
        </p:nvSpPr>
        <p:spPr bwMode="auto">
          <a:xfrm rot="5400000">
            <a:off x="4641697" y="2356096"/>
            <a:ext cx="241300" cy="273050"/>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7" name="Group 36">
            <a:extLst>
              <a:ext uri="{FF2B5EF4-FFF2-40B4-BE49-F238E27FC236}">
                <a16:creationId xmlns:a16="http://schemas.microsoft.com/office/drawing/2014/main" id="{DBED7CDA-AEE6-2541-9AFD-7236C61CB0E6}"/>
              </a:ext>
            </a:extLst>
          </p:cNvPr>
          <p:cNvGrpSpPr/>
          <p:nvPr/>
        </p:nvGrpSpPr>
        <p:grpSpPr>
          <a:xfrm>
            <a:off x="5679271" y="3642935"/>
            <a:ext cx="2210121" cy="2467075"/>
            <a:chOff x="5679271" y="3642935"/>
            <a:chExt cx="2210121" cy="2467075"/>
          </a:xfrm>
        </p:grpSpPr>
        <p:sp>
          <p:nvSpPr>
            <p:cNvPr id="823" name="Oval 144">
              <a:extLst>
                <a:ext uri="{FF2B5EF4-FFF2-40B4-BE49-F238E27FC236}">
                  <a16:creationId xmlns:a16="http://schemas.microsoft.com/office/drawing/2014/main" id="{4E37D2F6-DDCB-8546-96C0-5E09A9883C47}"/>
                </a:ext>
              </a:extLst>
            </p:cNvPr>
            <p:cNvSpPr>
              <a:spLocks noChangeArrowheads="1"/>
            </p:cNvSpPr>
            <p:nvPr/>
          </p:nvSpPr>
          <p:spPr bwMode="auto">
            <a:xfrm>
              <a:off x="7044350" y="5992553"/>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24" name="Oval 144">
              <a:extLst>
                <a:ext uri="{FF2B5EF4-FFF2-40B4-BE49-F238E27FC236}">
                  <a16:creationId xmlns:a16="http://schemas.microsoft.com/office/drawing/2014/main" id="{80C8C5ED-9FE0-294D-B088-D775F7E3D34C}"/>
                </a:ext>
              </a:extLst>
            </p:cNvPr>
            <p:cNvSpPr>
              <a:spLocks noChangeArrowheads="1"/>
            </p:cNvSpPr>
            <p:nvPr/>
          </p:nvSpPr>
          <p:spPr bwMode="auto">
            <a:xfrm>
              <a:off x="6344311" y="5792457"/>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25" name="Oval 144">
              <a:extLst>
                <a:ext uri="{FF2B5EF4-FFF2-40B4-BE49-F238E27FC236}">
                  <a16:creationId xmlns:a16="http://schemas.microsoft.com/office/drawing/2014/main" id="{BD311204-2FD1-6E43-AED6-BB85A0E5874A}"/>
                </a:ext>
              </a:extLst>
            </p:cNvPr>
            <p:cNvSpPr>
              <a:spLocks noChangeArrowheads="1"/>
            </p:cNvSpPr>
            <p:nvPr/>
          </p:nvSpPr>
          <p:spPr bwMode="auto">
            <a:xfrm>
              <a:off x="5679271" y="5968768"/>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26" name="Oval 144">
              <a:extLst>
                <a:ext uri="{FF2B5EF4-FFF2-40B4-BE49-F238E27FC236}">
                  <a16:creationId xmlns:a16="http://schemas.microsoft.com/office/drawing/2014/main" id="{27DD786D-C69E-CB4C-B6E8-FAA46B06EC89}"/>
                </a:ext>
              </a:extLst>
            </p:cNvPr>
            <p:cNvSpPr>
              <a:spLocks noChangeArrowheads="1"/>
            </p:cNvSpPr>
            <p:nvPr/>
          </p:nvSpPr>
          <p:spPr bwMode="auto">
            <a:xfrm>
              <a:off x="7390760" y="3969843"/>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27" name="Oval 144">
              <a:extLst>
                <a:ext uri="{FF2B5EF4-FFF2-40B4-BE49-F238E27FC236}">
                  <a16:creationId xmlns:a16="http://schemas.microsoft.com/office/drawing/2014/main" id="{D8D94D2F-82FD-AF4E-8B2B-09682F7EC0C1}"/>
                </a:ext>
              </a:extLst>
            </p:cNvPr>
            <p:cNvSpPr>
              <a:spLocks noChangeArrowheads="1"/>
            </p:cNvSpPr>
            <p:nvPr/>
          </p:nvSpPr>
          <p:spPr bwMode="auto">
            <a:xfrm>
              <a:off x="6395551" y="3642935"/>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38" name="Freeform 37">
            <a:extLst>
              <a:ext uri="{FF2B5EF4-FFF2-40B4-BE49-F238E27FC236}">
                <a16:creationId xmlns:a16="http://schemas.microsoft.com/office/drawing/2014/main" id="{EBF8C7CF-1CD2-E44B-AAD1-0E0FFDFB33AC}"/>
              </a:ext>
            </a:extLst>
          </p:cNvPr>
          <p:cNvSpPr/>
          <p:nvPr/>
        </p:nvSpPr>
        <p:spPr>
          <a:xfrm>
            <a:off x="5748185" y="4775202"/>
            <a:ext cx="2423480" cy="399173"/>
          </a:xfrm>
          <a:custGeom>
            <a:avLst/>
            <a:gdLst>
              <a:gd name="connsiteX0" fmla="*/ 0 w 2417086"/>
              <a:gd name="connsiteY0" fmla="*/ 136686 h 393747"/>
              <a:gd name="connsiteX1" fmla="*/ 613863 w 2417086"/>
              <a:gd name="connsiteY1" fmla="*/ 392462 h 393747"/>
              <a:gd name="connsiteX2" fmla="*/ 1579419 w 2417086"/>
              <a:gd name="connsiteY2" fmla="*/ 40770 h 393747"/>
              <a:gd name="connsiteX3" fmla="*/ 2417086 w 2417086"/>
              <a:gd name="connsiteY3" fmla="*/ 21586 h 393747"/>
              <a:gd name="connsiteX0" fmla="*/ 0 w 2423480"/>
              <a:gd name="connsiteY0" fmla="*/ 153322 h 410383"/>
              <a:gd name="connsiteX1" fmla="*/ 613863 w 2423480"/>
              <a:gd name="connsiteY1" fmla="*/ 409098 h 410383"/>
              <a:gd name="connsiteX2" fmla="*/ 1579419 w 2423480"/>
              <a:gd name="connsiteY2" fmla="*/ 57406 h 410383"/>
              <a:gd name="connsiteX3" fmla="*/ 2423480 w 2423480"/>
              <a:gd name="connsiteY3" fmla="*/ 12644 h 410383"/>
              <a:gd name="connsiteX0" fmla="*/ 0 w 2423480"/>
              <a:gd name="connsiteY0" fmla="*/ 142112 h 399173"/>
              <a:gd name="connsiteX1" fmla="*/ 613863 w 2423480"/>
              <a:gd name="connsiteY1" fmla="*/ 397888 h 399173"/>
              <a:gd name="connsiteX2" fmla="*/ 1579419 w 2423480"/>
              <a:gd name="connsiteY2" fmla="*/ 46196 h 399173"/>
              <a:gd name="connsiteX3" fmla="*/ 2423480 w 2423480"/>
              <a:gd name="connsiteY3" fmla="*/ 1434 h 399173"/>
            </a:gdLst>
            <a:ahLst/>
            <a:cxnLst>
              <a:cxn ang="0">
                <a:pos x="connsiteX0" y="connsiteY0"/>
              </a:cxn>
              <a:cxn ang="0">
                <a:pos x="connsiteX1" y="connsiteY1"/>
              </a:cxn>
              <a:cxn ang="0">
                <a:pos x="connsiteX2" y="connsiteY2"/>
              </a:cxn>
              <a:cxn ang="0">
                <a:pos x="connsiteX3" y="connsiteY3"/>
              </a:cxn>
            </a:cxnLst>
            <a:rect l="l" t="t" r="r" b="b"/>
            <a:pathLst>
              <a:path w="2423480" h="399173">
                <a:moveTo>
                  <a:pt x="0" y="142112"/>
                </a:moveTo>
                <a:cubicBezTo>
                  <a:pt x="175313" y="277993"/>
                  <a:pt x="350627" y="413874"/>
                  <a:pt x="613863" y="397888"/>
                </a:cubicBezTo>
                <a:cubicBezTo>
                  <a:pt x="877099" y="381902"/>
                  <a:pt x="1277816" y="112272"/>
                  <a:pt x="1579419" y="46196"/>
                </a:cubicBezTo>
                <a:cubicBezTo>
                  <a:pt x="1881022" y="-19880"/>
                  <a:pt x="2065394" y="5697"/>
                  <a:pt x="2423480" y="1434"/>
                </a:cubicBezTo>
              </a:path>
            </a:pathLst>
          </a:custGeom>
          <a:noFill/>
          <a:ln w="44450">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32">
            <a:extLst>
              <a:ext uri="{FF2B5EF4-FFF2-40B4-BE49-F238E27FC236}">
                <a16:creationId xmlns:a16="http://schemas.microsoft.com/office/drawing/2014/main" id="{47688A7E-0980-EA46-BAFE-C85E8249B3CB}"/>
              </a:ext>
            </a:extLst>
          </p:cNvPr>
          <p:cNvGrpSpPr/>
          <p:nvPr/>
        </p:nvGrpSpPr>
        <p:grpSpPr>
          <a:xfrm>
            <a:off x="5600948" y="2059246"/>
            <a:ext cx="2852523" cy="3990339"/>
            <a:chOff x="5600948" y="2059246"/>
            <a:chExt cx="2852523" cy="3990339"/>
          </a:xfrm>
        </p:grpSpPr>
        <p:cxnSp>
          <p:nvCxnSpPr>
            <p:cNvPr id="706" name="Straight Connector 421894">
              <a:extLst>
                <a:ext uri="{FF2B5EF4-FFF2-40B4-BE49-F238E27FC236}">
                  <a16:creationId xmlns:a16="http://schemas.microsoft.com/office/drawing/2014/main" id="{FF953141-ECB6-0247-95B2-E79D8F07DACC}"/>
                </a:ext>
              </a:extLst>
            </p:cNvPr>
            <p:cNvCxnSpPr>
              <a:cxnSpLocks noChangeShapeType="1"/>
            </p:cNvCxnSpPr>
            <p:nvPr/>
          </p:nvCxnSpPr>
          <p:spPr bwMode="auto">
            <a:xfrm flipH="1">
              <a:off x="5600948" y="2062812"/>
              <a:ext cx="2852523"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cxnSp>
          <p:nvCxnSpPr>
            <p:cNvPr id="816" name="Straight Connector 421894">
              <a:extLst>
                <a:ext uri="{FF2B5EF4-FFF2-40B4-BE49-F238E27FC236}">
                  <a16:creationId xmlns:a16="http://schemas.microsoft.com/office/drawing/2014/main" id="{C8B3443F-EA2C-1145-82B2-7AD7F1615359}"/>
                </a:ext>
              </a:extLst>
            </p:cNvPr>
            <p:cNvCxnSpPr>
              <a:cxnSpLocks noChangeShapeType="1"/>
              <a:endCxn id="616" idx="0"/>
            </p:cNvCxnSpPr>
            <p:nvPr/>
          </p:nvCxnSpPr>
          <p:spPr bwMode="auto">
            <a:xfrm flipH="1">
              <a:off x="6643279" y="2072337"/>
              <a:ext cx="1781930" cy="156938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cxnSp>
          <p:nvCxnSpPr>
            <p:cNvPr id="817" name="Straight Connector 421894">
              <a:extLst>
                <a:ext uri="{FF2B5EF4-FFF2-40B4-BE49-F238E27FC236}">
                  <a16:creationId xmlns:a16="http://schemas.microsoft.com/office/drawing/2014/main" id="{692AE3BC-3521-0A45-9F70-892BA8394ED3}"/>
                </a:ext>
              </a:extLst>
            </p:cNvPr>
            <p:cNvCxnSpPr>
              <a:cxnSpLocks noChangeShapeType="1"/>
              <a:endCxn id="609" idx="0"/>
            </p:cNvCxnSpPr>
            <p:nvPr/>
          </p:nvCxnSpPr>
          <p:spPr bwMode="auto">
            <a:xfrm flipH="1">
              <a:off x="7640094" y="2059246"/>
              <a:ext cx="802722" cy="1908551"/>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grpSp>
          <p:nvGrpSpPr>
            <p:cNvPr id="31" name="Group 30">
              <a:extLst>
                <a:ext uri="{FF2B5EF4-FFF2-40B4-BE49-F238E27FC236}">
                  <a16:creationId xmlns:a16="http://schemas.microsoft.com/office/drawing/2014/main" id="{69F33713-9D72-CC4E-8B4F-6BC921BBDAB5}"/>
                </a:ext>
              </a:extLst>
            </p:cNvPr>
            <p:cNvGrpSpPr/>
            <p:nvPr/>
          </p:nvGrpSpPr>
          <p:grpSpPr>
            <a:xfrm>
              <a:off x="6178773" y="2060294"/>
              <a:ext cx="2270746" cy="3989291"/>
              <a:chOff x="6178773" y="2060294"/>
              <a:chExt cx="2270746" cy="3989291"/>
            </a:xfrm>
          </p:grpSpPr>
          <p:sp>
            <p:nvSpPr>
              <p:cNvPr id="27" name="Freeform 26">
                <a:extLst>
                  <a:ext uri="{FF2B5EF4-FFF2-40B4-BE49-F238E27FC236}">
                    <a16:creationId xmlns:a16="http://schemas.microsoft.com/office/drawing/2014/main" id="{42768938-F0DD-D54A-A242-C6BAC2ED4AF0}"/>
                  </a:ext>
                </a:extLst>
              </p:cNvPr>
              <p:cNvSpPr/>
              <p:nvPr/>
            </p:nvSpPr>
            <p:spPr>
              <a:xfrm>
                <a:off x="6852213" y="2060294"/>
                <a:ext cx="1597306" cy="3796496"/>
              </a:xfrm>
              <a:custGeom>
                <a:avLst/>
                <a:gdLst>
                  <a:gd name="connsiteX0" fmla="*/ 1597306 w 1597306"/>
                  <a:gd name="connsiteY0" fmla="*/ 0 h 3796496"/>
                  <a:gd name="connsiteX1" fmla="*/ 925974 w 1597306"/>
                  <a:gd name="connsiteY1" fmla="*/ 3784921 h 3796496"/>
                  <a:gd name="connsiteX2" fmla="*/ 0 w 1597306"/>
                  <a:gd name="connsiteY2" fmla="*/ 3796496 h 3796496"/>
                  <a:gd name="connsiteX3" fmla="*/ 0 w 1597306"/>
                  <a:gd name="connsiteY3" fmla="*/ 3796496 h 3796496"/>
                </a:gdLst>
                <a:ahLst/>
                <a:cxnLst>
                  <a:cxn ang="0">
                    <a:pos x="connsiteX0" y="connsiteY0"/>
                  </a:cxn>
                  <a:cxn ang="0">
                    <a:pos x="connsiteX1" y="connsiteY1"/>
                  </a:cxn>
                  <a:cxn ang="0">
                    <a:pos x="connsiteX2" y="connsiteY2"/>
                  </a:cxn>
                  <a:cxn ang="0">
                    <a:pos x="connsiteX3" y="connsiteY3"/>
                  </a:cxn>
                </a:cxnLst>
                <a:rect l="l" t="t" r="r" b="b"/>
                <a:pathLst>
                  <a:path w="1597306" h="3796496">
                    <a:moveTo>
                      <a:pt x="1597306" y="0"/>
                    </a:moveTo>
                    <a:lnTo>
                      <a:pt x="925974" y="3784921"/>
                    </a:lnTo>
                    <a:lnTo>
                      <a:pt x="0" y="3796496"/>
                    </a:lnTo>
                    <a:lnTo>
                      <a:pt x="0" y="3796496"/>
                    </a:lnTo>
                  </a:path>
                </a:pathLst>
              </a:custGeom>
              <a:noFill/>
              <a:ln w="19050">
                <a:solidFill>
                  <a:srgbClr val="C0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19" name="Straight Connector 421894">
                <a:extLst>
                  <a:ext uri="{FF2B5EF4-FFF2-40B4-BE49-F238E27FC236}">
                    <a16:creationId xmlns:a16="http://schemas.microsoft.com/office/drawing/2014/main" id="{A48794C0-F4E0-1E4B-B13D-1B972E5F534C}"/>
                  </a:ext>
                </a:extLst>
              </p:cNvPr>
              <p:cNvCxnSpPr>
                <a:cxnSpLocks noChangeShapeType="1"/>
                <a:stCxn id="27" idx="1"/>
                <a:endCxn id="602" idx="6"/>
              </p:cNvCxnSpPr>
              <p:nvPr/>
            </p:nvCxnSpPr>
            <p:spPr bwMode="auto">
              <a:xfrm flipH="1">
                <a:off x="7535735" y="5845215"/>
                <a:ext cx="242452" cy="20437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cxnSp>
            <p:nvCxnSpPr>
              <p:cNvPr id="820" name="Straight Connector 421894">
                <a:extLst>
                  <a:ext uri="{FF2B5EF4-FFF2-40B4-BE49-F238E27FC236}">
                    <a16:creationId xmlns:a16="http://schemas.microsoft.com/office/drawing/2014/main" id="{5F9A93E4-4655-D04A-94BC-0F9166184777}"/>
                  </a:ext>
                </a:extLst>
              </p:cNvPr>
              <p:cNvCxnSpPr>
                <a:cxnSpLocks noChangeShapeType="1"/>
                <a:stCxn id="27" idx="1"/>
              </p:cNvCxnSpPr>
              <p:nvPr/>
            </p:nvCxnSpPr>
            <p:spPr bwMode="auto">
              <a:xfrm flipH="1">
                <a:off x="6178773" y="5845215"/>
                <a:ext cx="1599414" cy="182258"/>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grpSp>
      </p:grpSp>
      <p:grpSp>
        <p:nvGrpSpPr>
          <p:cNvPr id="40" name="Group 39">
            <a:extLst>
              <a:ext uri="{FF2B5EF4-FFF2-40B4-BE49-F238E27FC236}">
                <a16:creationId xmlns:a16="http://schemas.microsoft.com/office/drawing/2014/main" id="{1AF9CD47-1028-BA40-AB36-C612218B6100}"/>
              </a:ext>
            </a:extLst>
          </p:cNvPr>
          <p:cNvGrpSpPr/>
          <p:nvPr/>
        </p:nvGrpSpPr>
        <p:grpSpPr>
          <a:xfrm>
            <a:off x="5698975" y="3819688"/>
            <a:ext cx="2183401" cy="2394971"/>
            <a:chOff x="5698975" y="3819688"/>
            <a:chExt cx="2183401" cy="2394971"/>
          </a:xfrm>
        </p:grpSpPr>
        <p:sp>
          <p:nvSpPr>
            <p:cNvPr id="39" name="Rectangle 38">
              <a:extLst>
                <a:ext uri="{FF2B5EF4-FFF2-40B4-BE49-F238E27FC236}">
                  <a16:creationId xmlns:a16="http://schemas.microsoft.com/office/drawing/2014/main" id="{3084319E-FBD0-F442-9880-9B2E7A611A86}"/>
                </a:ext>
              </a:extLst>
            </p:cNvPr>
            <p:cNvSpPr/>
            <p:nvPr/>
          </p:nvSpPr>
          <p:spPr>
            <a:xfrm>
              <a:off x="7050700" y="6168940"/>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8" name="Rectangle 827">
              <a:extLst>
                <a:ext uri="{FF2B5EF4-FFF2-40B4-BE49-F238E27FC236}">
                  <a16:creationId xmlns:a16="http://schemas.microsoft.com/office/drawing/2014/main" id="{578192C6-D0EF-3143-B733-A6CBF7835DF2}"/>
                </a:ext>
              </a:extLst>
            </p:cNvPr>
            <p:cNvSpPr/>
            <p:nvPr/>
          </p:nvSpPr>
          <p:spPr>
            <a:xfrm>
              <a:off x="6359921" y="5968768"/>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9" name="Rectangle 828">
              <a:extLst>
                <a:ext uri="{FF2B5EF4-FFF2-40B4-BE49-F238E27FC236}">
                  <a16:creationId xmlns:a16="http://schemas.microsoft.com/office/drawing/2014/main" id="{BCC19A4B-1456-CC4C-AE44-0802EA11CD66}"/>
                </a:ext>
              </a:extLst>
            </p:cNvPr>
            <p:cNvSpPr/>
            <p:nvPr/>
          </p:nvSpPr>
          <p:spPr>
            <a:xfrm>
              <a:off x="5698975" y="6141541"/>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0" name="Rectangle 829">
              <a:extLst>
                <a:ext uri="{FF2B5EF4-FFF2-40B4-BE49-F238E27FC236}">
                  <a16:creationId xmlns:a16="http://schemas.microsoft.com/office/drawing/2014/main" id="{EDB88050-095A-6E41-A598-B97517764148}"/>
                </a:ext>
              </a:extLst>
            </p:cNvPr>
            <p:cNvSpPr/>
            <p:nvPr/>
          </p:nvSpPr>
          <p:spPr>
            <a:xfrm>
              <a:off x="7405975" y="4146032"/>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1" name="Rectangle 830">
              <a:extLst>
                <a:ext uri="{FF2B5EF4-FFF2-40B4-BE49-F238E27FC236}">
                  <a16:creationId xmlns:a16="http://schemas.microsoft.com/office/drawing/2014/main" id="{D639BFA3-339E-5B4A-96BE-D31AEAC99BFB}"/>
                </a:ext>
              </a:extLst>
            </p:cNvPr>
            <p:cNvSpPr/>
            <p:nvPr/>
          </p:nvSpPr>
          <p:spPr>
            <a:xfrm>
              <a:off x="6407517" y="3819688"/>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192521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par>
                                <p:cTn id="8" presetID="9" presetClass="entr" presetSubtype="0" fill="hold" nodeType="withEffect">
                                  <p:stCondLst>
                                    <p:cond delay="0"/>
                                  </p:stCondLst>
                                  <p:childTnLst>
                                    <p:set>
                                      <p:cBhvr>
                                        <p:cTn id="9" dur="1" fill="hold">
                                          <p:stCondLst>
                                            <p:cond delay="0"/>
                                          </p:stCondLst>
                                        </p:cTn>
                                        <p:tgtEl>
                                          <p:spTgt spid="705"/>
                                        </p:tgtEl>
                                        <p:attrNameLst>
                                          <p:attrName>style.visibility</p:attrName>
                                        </p:attrNameLst>
                                      </p:cBhvr>
                                      <p:to>
                                        <p:strVal val="visible"/>
                                      </p:to>
                                    </p:set>
                                    <p:animEffect transition="in" filter="dissolve">
                                      <p:cBhvr>
                                        <p:cTn id="10" dur="500"/>
                                        <p:tgtEl>
                                          <p:spTgt spid="70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Effect transition="in" filter="dissolve">
                                      <p:cBhvr>
                                        <p:cTn id="13" dur="500"/>
                                        <p:tgtEl>
                                          <p:spTgt spid="5">
                                            <p:txEl>
                                              <p:pRg st="0" end="0"/>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
                                            <p:txEl>
                                              <p:pRg st="1" end="1"/>
                                            </p:txEl>
                                          </p:spTgt>
                                        </p:tgtEl>
                                        <p:attrNameLst>
                                          <p:attrName>style.visibility</p:attrName>
                                        </p:attrNameLst>
                                      </p:cBhvr>
                                      <p:to>
                                        <p:strVal val="visible"/>
                                      </p:to>
                                    </p:set>
                                    <p:animEffect transition="in" filter="dissolve">
                                      <p:cBhvr>
                                        <p:cTn id="16" dur="500"/>
                                        <p:tgtEl>
                                          <p:spTgt spid="5">
                                            <p:txEl>
                                              <p:pRg st="1" end="1"/>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86"/>
                                        </p:tgtEl>
                                        <p:attrNameLst>
                                          <p:attrName>style.visibility</p:attrName>
                                        </p:attrNameLst>
                                      </p:cBhvr>
                                      <p:to>
                                        <p:strVal val="visible"/>
                                      </p:to>
                                    </p:set>
                                    <p:animEffect transition="in" filter="dissolve">
                                      <p:cBhvr>
                                        <p:cTn id="19" dur="500"/>
                                        <p:tgtEl>
                                          <p:spTgt spid="586"/>
                                        </p:tgtEl>
                                      </p:cBhvr>
                                    </p:animEffect>
                                  </p:childTnLst>
                                </p:cTn>
                              </p:par>
                              <p:par>
                                <p:cTn id="20" presetID="9" presetClass="entr" presetSubtype="0" fill="hold"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dissolve">
                                      <p:cBhvr>
                                        <p:cTn id="22" dur="500"/>
                                        <p:tgtEl>
                                          <p:spTgt spid="4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20"/>
                                        </p:tgtEl>
                                      </p:cBhvr>
                                    </p:animEffect>
                                    <p:set>
                                      <p:cBhvr>
                                        <p:cTn id="27" dur="1" fill="hold">
                                          <p:stCondLst>
                                            <p:cond delay="499"/>
                                          </p:stCondLst>
                                        </p:cTn>
                                        <p:tgtEl>
                                          <p:spTgt spid="20"/>
                                        </p:tgtEl>
                                        <p:attrNameLst>
                                          <p:attrName>style.visibility</p:attrName>
                                        </p:attrNameLst>
                                      </p:cBhvr>
                                      <p:to>
                                        <p:strVal val="hidden"/>
                                      </p:to>
                                    </p:set>
                                  </p:childTnLst>
                                </p:cTn>
                              </p:par>
                              <p:par>
                                <p:cTn id="28" presetID="9" presetClass="exit" presetSubtype="0" fill="hold" nodeType="withEffect">
                                  <p:stCondLst>
                                    <p:cond delay="0"/>
                                  </p:stCondLst>
                                  <p:childTnLst>
                                    <p:animEffect transition="out" filter="dissolve">
                                      <p:cBhvr>
                                        <p:cTn id="29" dur="500"/>
                                        <p:tgtEl>
                                          <p:spTgt spid="40"/>
                                        </p:tgtEl>
                                      </p:cBhvr>
                                    </p:animEffect>
                                    <p:set>
                                      <p:cBhvr>
                                        <p:cTn id="30" dur="1" fill="hold">
                                          <p:stCondLst>
                                            <p:cond delay="499"/>
                                          </p:stCondLst>
                                        </p:cTn>
                                        <p:tgtEl>
                                          <p:spTgt spid="40"/>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32"/>
                                        </p:tgtEl>
                                        <p:attrNameLst>
                                          <p:attrName>style.visibility</p:attrName>
                                        </p:attrNameLst>
                                      </p:cBhvr>
                                      <p:to>
                                        <p:strVal val="visible"/>
                                      </p:to>
                                    </p:set>
                                    <p:animEffect transition="in" filter="dissolve">
                                      <p:cBhvr>
                                        <p:cTn id="33" dur="500"/>
                                        <p:tgtEl>
                                          <p:spTgt spid="32"/>
                                        </p:tgtEl>
                                      </p:cBhvr>
                                    </p:animEffect>
                                  </p:childTnLst>
                                </p:cTn>
                              </p:par>
                              <p:par>
                                <p:cTn id="34" presetID="9" presetClass="entr" presetSubtype="0" fill="hold" nodeType="withEffect">
                                  <p:stCondLst>
                                    <p:cond delay="0"/>
                                  </p:stCondLst>
                                  <p:childTnLst>
                                    <p:set>
                                      <p:cBhvr>
                                        <p:cTn id="35" dur="1" fill="hold">
                                          <p:stCondLst>
                                            <p:cond delay="0"/>
                                          </p:stCondLst>
                                        </p:cTn>
                                        <p:tgtEl>
                                          <p:spTgt spid="33"/>
                                        </p:tgtEl>
                                        <p:attrNameLst>
                                          <p:attrName>style.visibility</p:attrName>
                                        </p:attrNameLst>
                                      </p:cBhvr>
                                      <p:to>
                                        <p:strVal val="visible"/>
                                      </p:to>
                                    </p:set>
                                    <p:animEffect transition="in" filter="dissolve">
                                      <p:cBhvr>
                                        <p:cTn id="36" dur="500"/>
                                        <p:tgtEl>
                                          <p:spTgt spid="33"/>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767"/>
                                        </p:tgtEl>
                                        <p:attrNameLst>
                                          <p:attrName>style.visibility</p:attrName>
                                        </p:attrNameLst>
                                      </p:cBhvr>
                                      <p:to>
                                        <p:strVal val="visible"/>
                                      </p:to>
                                    </p:set>
                                    <p:animEffect transition="in" filter="dissolve">
                                      <p:cBhvr>
                                        <p:cTn id="39" dur="500"/>
                                        <p:tgtEl>
                                          <p:spTgt spid="767"/>
                                        </p:tgtEl>
                                      </p:cBhvr>
                                    </p:animEffect>
                                  </p:childTnLst>
                                </p:cTn>
                              </p:par>
                              <p:par>
                                <p:cTn id="40" presetID="9" presetClass="entr" presetSubtype="0" fill="hold" nodeType="withEffect">
                                  <p:stCondLst>
                                    <p:cond delay="0"/>
                                  </p:stCondLst>
                                  <p:childTnLst>
                                    <p:set>
                                      <p:cBhvr>
                                        <p:cTn id="41" dur="1" fill="hold">
                                          <p:stCondLst>
                                            <p:cond delay="0"/>
                                          </p:stCondLst>
                                        </p:cTn>
                                        <p:tgtEl>
                                          <p:spTgt spid="37"/>
                                        </p:tgtEl>
                                        <p:attrNameLst>
                                          <p:attrName>style.visibility</p:attrName>
                                        </p:attrNameLst>
                                      </p:cBhvr>
                                      <p:to>
                                        <p:strVal val="visible"/>
                                      </p:to>
                                    </p:set>
                                    <p:animEffect transition="in" filter="dissolve">
                                      <p:cBhvr>
                                        <p:cTn id="42" dur="500"/>
                                        <p:tgtEl>
                                          <p:spTgt spid="37"/>
                                        </p:tgtEl>
                                      </p:cBhvr>
                                    </p:animEffect>
                                  </p:childTnLst>
                                </p:cTn>
                              </p:par>
                              <p:par>
                                <p:cTn id="43" presetID="9" presetClass="entr" presetSubtype="0" fill="hold" grpId="0" nodeType="with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dissolve">
                                      <p:cBhvr>
                                        <p:cTn id="4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767" grpId="0"/>
      <p:bldP spid="586" grpId="0" animBg="1"/>
      <p:bldP spid="38"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Text Placeholder 3"/>
          <p:cNvSpPr>
            <a:spLocks noGrp="1" noChangeArrowheads="1"/>
          </p:cNvSpPr>
          <p:nvPr>
            <p:ph type="body" idx="1"/>
          </p:nvPr>
        </p:nvSpPr>
        <p:spPr/>
        <p:txBody>
          <a:bodyPr/>
          <a:lstStyle/>
          <a:p>
            <a:pPr algn="ctr"/>
            <a:r>
              <a:rPr lang="en-US" altLang="en-US" sz="2800">
                <a:ea typeface="ＭＳ Ｐゴシック" panose="020B0600070205080204" pitchFamily="34" charset="-128"/>
              </a:rPr>
              <a:t>ROUTING</a:t>
            </a:r>
            <a:endParaRPr lang="en-MY" altLang="en-US" sz="2800">
              <a:ea typeface="ＭＳ Ｐゴシック" panose="020B0600070205080204" pitchFamily="34" charset="-128"/>
            </a:endParaRPr>
          </a:p>
        </p:txBody>
      </p:sp>
      <p:sp>
        <p:nvSpPr>
          <p:cNvPr id="83971" name="Text Placeholder 5"/>
          <p:cNvSpPr>
            <a:spLocks noGrp="1" noChangeArrowheads="1"/>
          </p:cNvSpPr>
          <p:nvPr>
            <p:ph type="body" sz="half" idx="3"/>
          </p:nvPr>
        </p:nvSpPr>
        <p:spPr/>
        <p:txBody>
          <a:bodyPr/>
          <a:lstStyle/>
          <a:p>
            <a:pPr algn="ctr"/>
            <a:r>
              <a:rPr lang="en-US" altLang="en-US" sz="2800">
                <a:ea typeface="ＭＳ Ｐゴシック" panose="020B0600070205080204" pitchFamily="34" charset="-128"/>
              </a:rPr>
              <a:t>FORWARDING</a:t>
            </a:r>
            <a:endParaRPr lang="en-MY" altLang="en-US" sz="2800">
              <a:ea typeface="ＭＳ Ｐゴシック" panose="020B0600070205080204" pitchFamily="34" charset="-128"/>
            </a:endParaRPr>
          </a:p>
        </p:txBody>
      </p:sp>
      <p:sp>
        <p:nvSpPr>
          <p:cNvPr id="83972" name="Content Placeholder 4"/>
          <p:cNvSpPr>
            <a:spLocks noGrp="1" noChangeArrowheads="1"/>
          </p:cNvSpPr>
          <p:nvPr>
            <p:ph sz="quarter" idx="2"/>
          </p:nvPr>
        </p:nvSpPr>
        <p:spPr/>
        <p:txBody>
          <a:bodyPr/>
          <a:lstStyle/>
          <a:p>
            <a:r>
              <a:rPr lang="en-MY" altLang="en-US" sz="2800">
                <a:solidFill>
                  <a:srgbClr val="C00000"/>
                </a:solidFill>
                <a:ea typeface="ＭＳ Ｐゴシック" panose="020B0600070205080204" pitchFamily="34" charset="-128"/>
              </a:rPr>
              <a:t>determines</a:t>
            </a:r>
            <a:r>
              <a:rPr lang="en-MY" altLang="en-US" sz="2800">
                <a:ea typeface="ＭＳ Ｐゴシック" panose="020B0600070205080204" pitchFamily="34" charset="-128"/>
              </a:rPr>
              <a:t> source</a:t>
            </a:r>
            <a:r>
              <a:rPr lang="en-MY" altLang="en-US" sz="2800">
                <a:ea typeface="ＭＳ Ｐゴシック" panose="020B0600070205080204" pitchFamily="34" charset="-128"/>
                <a:sym typeface="Wingdings" panose="05000000000000000000" pitchFamily="2" charset="2"/>
              </a:rPr>
              <a:t> to </a:t>
            </a:r>
            <a:r>
              <a:rPr lang="en-MY" altLang="en-US" sz="2800">
                <a:ea typeface="ＭＳ Ｐゴシック" panose="020B0600070205080204" pitchFamily="34" charset="-128"/>
              </a:rPr>
              <a:t>destination </a:t>
            </a:r>
            <a:r>
              <a:rPr lang="en-MY" altLang="en-US" sz="2800">
                <a:solidFill>
                  <a:srgbClr val="C00000"/>
                </a:solidFill>
                <a:ea typeface="ＭＳ Ｐゴシック" panose="020B0600070205080204" pitchFamily="34" charset="-128"/>
              </a:rPr>
              <a:t>route</a:t>
            </a:r>
            <a:r>
              <a:rPr lang="en-MY" altLang="en-US" sz="2800">
                <a:ea typeface="ＭＳ Ｐゴシック" panose="020B0600070205080204" pitchFamily="34" charset="-128"/>
              </a:rPr>
              <a:t> taken by packets</a:t>
            </a:r>
          </a:p>
          <a:p>
            <a:pPr lvl="1"/>
            <a:r>
              <a:rPr lang="en-MY" altLang="en-US" sz="2400">
                <a:solidFill>
                  <a:srgbClr val="002060"/>
                </a:solidFill>
                <a:ea typeface="Arial" panose="020B0604020202020204" pitchFamily="34" charset="0"/>
              </a:rPr>
              <a:t>routing algorithms</a:t>
            </a:r>
          </a:p>
          <a:p>
            <a:r>
              <a:rPr lang="en-US" altLang="en-US" sz="2900">
                <a:solidFill>
                  <a:srgbClr val="002060"/>
                </a:solidFill>
                <a:ea typeface="ＭＳ Ｐゴシック" panose="020B0600070205080204" pitchFamily="34" charset="-128"/>
              </a:rPr>
              <a:t>Global action</a:t>
            </a:r>
            <a:endParaRPr lang="en-MY" altLang="en-US" sz="2900">
              <a:solidFill>
                <a:srgbClr val="002060"/>
              </a:solidFill>
              <a:ea typeface="ＭＳ Ｐゴシック" panose="020B0600070205080204" pitchFamily="34" charset="-128"/>
            </a:endParaRPr>
          </a:p>
          <a:p>
            <a:endParaRPr lang="en-MY" altLang="en-US">
              <a:ea typeface="ＭＳ Ｐゴシック" panose="020B0600070205080204" pitchFamily="34" charset="-128"/>
            </a:endParaRPr>
          </a:p>
        </p:txBody>
      </p:sp>
      <p:sp>
        <p:nvSpPr>
          <p:cNvPr id="83973" name="Content Placeholder 6"/>
          <p:cNvSpPr>
            <a:spLocks noGrp="1" noChangeArrowheads="1"/>
          </p:cNvSpPr>
          <p:nvPr>
            <p:ph sz="quarter" idx="4"/>
          </p:nvPr>
        </p:nvSpPr>
        <p:spPr/>
        <p:txBody>
          <a:bodyPr/>
          <a:lstStyle/>
          <a:p>
            <a:r>
              <a:rPr lang="en-US" altLang="en-US" sz="2800">
                <a:solidFill>
                  <a:srgbClr val="C00000"/>
                </a:solidFill>
                <a:ea typeface="ＭＳ Ｐゴシック" panose="020B0600070205080204" pitchFamily="34" charset="-128"/>
              </a:rPr>
              <a:t>move packets </a:t>
            </a:r>
            <a:r>
              <a:rPr lang="en-US" altLang="en-US" sz="2800">
                <a:ea typeface="ＭＳ Ｐゴシック" panose="020B0600070205080204" pitchFamily="34" charset="-128"/>
              </a:rPr>
              <a:t>from router</a:t>
            </a:r>
            <a:r>
              <a:rPr lang="en-US" altLang="ja-JP" sz="2800">
                <a:ea typeface="ＭＳ Ｐゴシック" panose="020B0600070205080204" pitchFamily="34" charset="-128"/>
              </a:rPr>
              <a:t> </a:t>
            </a:r>
            <a:r>
              <a:rPr lang="en-US" altLang="ja-JP" sz="2800">
                <a:solidFill>
                  <a:srgbClr val="C00000"/>
                </a:solidFill>
                <a:ea typeface="ＭＳ Ｐゴシック" panose="020B0600070205080204" pitchFamily="34" charset="-128"/>
              </a:rPr>
              <a:t>input interface </a:t>
            </a:r>
            <a:r>
              <a:rPr lang="en-US" altLang="ja-JP" sz="2800">
                <a:ea typeface="ＭＳ Ｐゴシック" panose="020B0600070205080204" pitchFamily="34" charset="-128"/>
              </a:rPr>
              <a:t>to appropriate </a:t>
            </a:r>
            <a:r>
              <a:rPr lang="en-US" altLang="ja-JP" sz="2800">
                <a:solidFill>
                  <a:srgbClr val="C00000"/>
                </a:solidFill>
                <a:ea typeface="ＭＳ Ｐゴシック" panose="020B0600070205080204" pitchFamily="34" charset="-128"/>
              </a:rPr>
              <a:t>router output interface</a:t>
            </a:r>
          </a:p>
          <a:p>
            <a:r>
              <a:rPr lang="en-US" altLang="en-US" sz="2800">
                <a:solidFill>
                  <a:srgbClr val="002060"/>
                </a:solidFill>
                <a:ea typeface="ＭＳ Ｐゴシック" panose="020B0600070205080204" pitchFamily="34" charset="-128"/>
              </a:rPr>
              <a:t>Local Action</a:t>
            </a:r>
            <a:endParaRPr lang="en-MY" altLang="en-US">
              <a:solidFill>
                <a:srgbClr val="002060"/>
              </a:solidFill>
              <a:ea typeface="ＭＳ Ｐゴシック" panose="020B0600070205080204" pitchFamily="34" charset="-128"/>
            </a:endParaRPr>
          </a:p>
        </p:txBody>
      </p:sp>
      <p:sp>
        <p:nvSpPr>
          <p:cNvPr id="83974" name="Title 1"/>
          <p:cNvSpPr>
            <a:spLocks noGrp="1" noChangeArrowheads="1"/>
          </p:cNvSpPr>
          <p:nvPr>
            <p:ph type="title"/>
          </p:nvPr>
        </p:nvSpPr>
        <p:spPr/>
        <p:txBody>
          <a:bodyPr/>
          <a:lstStyle/>
          <a:p>
            <a:r>
              <a:rPr lang="en-US" altLang="en-US" sz="3600">
                <a:ea typeface="ＭＳ Ｐゴシック" panose="020B0600070205080204" pitchFamily="34" charset="-128"/>
              </a:rPr>
              <a:t>Two key network-core functions</a:t>
            </a:r>
            <a:endParaRPr lang="en-MY" altLang="en-US">
              <a:ea typeface="ＭＳ Ｐゴシック" panose="020B0600070205080204" pitchFamily="34" charset="-128"/>
            </a:endParaRPr>
          </a:p>
        </p:txBody>
      </p:sp>
      <p:sp>
        <p:nvSpPr>
          <p:cNvPr id="8" name="Footer Placeholder 7"/>
          <p:cNvSpPr>
            <a:spLocks noGrp="1"/>
          </p:cNvSpPr>
          <p:nvPr>
            <p:ph type="ftr" sz="quarter" idx="11"/>
          </p:nvPr>
        </p:nvSpPr>
        <p:spPr/>
        <p:txBody>
          <a:bodyPr/>
          <a:lstStyle/>
          <a:p>
            <a:pPr>
              <a:defRPr/>
            </a:pPr>
            <a:endParaRPr lang="en-MY" dirty="0"/>
          </a:p>
        </p:txBody>
      </p:sp>
      <p:pic>
        <p:nvPicPr>
          <p:cNvPr id="83976" name="Graphic 8"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D174BE76-BE9D-D136-ACF1-F3E49241D1BB}"/>
              </a:ext>
            </a:extLst>
          </p:cNvPr>
          <p:cNvSpPr txBox="1">
            <a:spLocks/>
          </p:cNvSpPr>
          <p:nvPr/>
        </p:nvSpPr>
        <p:spPr>
          <a:xfrm>
            <a:off x="9219616" y="6443089"/>
            <a:ext cx="2743200" cy="365125"/>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4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0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9pPr>
          </a:lstStyle>
          <a:p>
            <a:r>
              <a:rPr lang="en-US"/>
              <a:t>Introduction: 1-</a:t>
            </a:r>
            <a:fld id="{C4204591-24BD-A542-B9D5-F8D8A88D2FEE}" type="slidenum">
              <a:rPr lang="en-US" smtClean="0"/>
              <a:pPr/>
              <a:t>44</a:t>
            </a:fld>
            <a:endParaRPr lang="en-US" dirty="0"/>
          </a:p>
        </p:txBody>
      </p:sp>
    </p:spTree>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7" descr="rtbl3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87525" y="1908176"/>
            <a:ext cx="8534400" cy="1744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19" name="TextBox 6"/>
          <p:cNvSpPr txBox="1">
            <a:spLocks noChangeArrowheads="1"/>
          </p:cNvSpPr>
          <p:nvPr/>
        </p:nvSpPr>
        <p:spPr bwMode="auto">
          <a:xfrm>
            <a:off x="1960563" y="355600"/>
            <a:ext cx="3111500" cy="36830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a:latin typeface="Arial" panose="020B0604020202020204" pitchFamily="34" charset="0"/>
              </a:rPr>
              <a:t>Router R1 receives a packet</a:t>
            </a:r>
            <a:endParaRPr lang="ms-MY" altLang="en-US" sz="1800">
              <a:latin typeface="Arial" panose="020B0604020202020204" pitchFamily="34" charset="0"/>
            </a:endParaRPr>
          </a:p>
        </p:txBody>
      </p:sp>
      <p:sp>
        <p:nvSpPr>
          <p:cNvPr id="86020" name="TextBox 7"/>
          <p:cNvSpPr txBox="1">
            <a:spLocks noChangeArrowheads="1"/>
          </p:cNvSpPr>
          <p:nvPr/>
        </p:nvSpPr>
        <p:spPr bwMode="auto">
          <a:xfrm>
            <a:off x="1935163" y="793750"/>
            <a:ext cx="3833812" cy="369888"/>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a:latin typeface="Arial" panose="020B0604020202020204" pitchFamily="34" charset="0"/>
              </a:rPr>
              <a:t>R1 checks the destination address </a:t>
            </a:r>
            <a:endParaRPr lang="ms-MY" altLang="en-US" sz="1800">
              <a:latin typeface="Arial" panose="020B0604020202020204" pitchFamily="34" charset="0"/>
            </a:endParaRPr>
          </a:p>
        </p:txBody>
      </p:sp>
      <p:sp>
        <p:nvSpPr>
          <p:cNvPr id="86021" name="TextBox 8"/>
          <p:cNvSpPr txBox="1">
            <a:spLocks noChangeArrowheads="1"/>
          </p:cNvSpPr>
          <p:nvPr/>
        </p:nvSpPr>
        <p:spPr bwMode="auto">
          <a:xfrm>
            <a:off x="5945189" y="315914"/>
            <a:ext cx="3876675" cy="369887"/>
          </a:xfrm>
          <a:prstGeom prst="rect">
            <a:avLst/>
          </a:prstGeom>
          <a:solidFill>
            <a:srgbClr val="33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a:latin typeface="Arial" panose="020B0604020202020204" pitchFamily="34" charset="0"/>
              </a:rPr>
              <a:t>R1 finds the best path to destination</a:t>
            </a:r>
            <a:endParaRPr lang="ms-MY" altLang="en-US" sz="1800">
              <a:latin typeface="Arial" panose="020B0604020202020204" pitchFamily="34" charset="0"/>
            </a:endParaRPr>
          </a:p>
        </p:txBody>
      </p:sp>
      <p:sp>
        <p:nvSpPr>
          <p:cNvPr id="86022" name="TextBox 9"/>
          <p:cNvSpPr txBox="1">
            <a:spLocks noChangeArrowheads="1"/>
          </p:cNvSpPr>
          <p:nvPr/>
        </p:nvSpPr>
        <p:spPr bwMode="auto">
          <a:xfrm>
            <a:off x="5937250" y="782639"/>
            <a:ext cx="3843338" cy="369887"/>
          </a:xfrm>
          <a:prstGeom prst="rect">
            <a:avLst/>
          </a:prstGeom>
          <a:solidFill>
            <a:srgbClr val="33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800">
                <a:latin typeface="Arial" panose="020B0604020202020204" pitchFamily="34" charset="0"/>
              </a:rPr>
              <a:t>R1 forwards the packet (or drops it)</a:t>
            </a:r>
            <a:endParaRPr lang="ms-MY" altLang="en-US" sz="1800">
              <a:latin typeface="Arial" panose="020B0604020202020204" pitchFamily="34" charset="0"/>
            </a:endParaRPr>
          </a:p>
        </p:txBody>
      </p:sp>
      <p:sp>
        <p:nvSpPr>
          <p:cNvPr id="86023" name="TextBox 12"/>
          <p:cNvSpPr txBox="1">
            <a:spLocks noChangeArrowheads="1"/>
          </p:cNvSpPr>
          <p:nvPr/>
        </p:nvSpPr>
        <p:spPr bwMode="auto">
          <a:xfrm>
            <a:off x="1701800" y="231776"/>
            <a:ext cx="3952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latin typeface="Arial" panose="020B0604020202020204" pitchFamily="34" charset="0"/>
              </a:rPr>
              <a:t>1</a:t>
            </a:r>
            <a:endParaRPr lang="ms-MY" altLang="en-US" sz="2400">
              <a:latin typeface="Arial" panose="020B0604020202020204" pitchFamily="34" charset="0"/>
            </a:endParaRPr>
          </a:p>
        </p:txBody>
      </p:sp>
      <p:sp>
        <p:nvSpPr>
          <p:cNvPr id="86024" name="TextBox 13"/>
          <p:cNvSpPr txBox="1">
            <a:spLocks noChangeArrowheads="1"/>
          </p:cNvSpPr>
          <p:nvPr/>
        </p:nvSpPr>
        <p:spPr bwMode="auto">
          <a:xfrm>
            <a:off x="1717675" y="930276"/>
            <a:ext cx="3952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latin typeface="Arial" panose="020B0604020202020204" pitchFamily="34" charset="0"/>
              </a:rPr>
              <a:t>2</a:t>
            </a:r>
            <a:endParaRPr lang="ms-MY" altLang="en-US" sz="2400">
              <a:latin typeface="Arial" panose="020B0604020202020204" pitchFamily="34" charset="0"/>
            </a:endParaRPr>
          </a:p>
        </p:txBody>
      </p:sp>
      <p:sp>
        <p:nvSpPr>
          <p:cNvPr id="86025" name="TextBox 14"/>
          <p:cNvSpPr txBox="1">
            <a:spLocks noChangeArrowheads="1"/>
          </p:cNvSpPr>
          <p:nvPr/>
        </p:nvSpPr>
        <p:spPr bwMode="auto">
          <a:xfrm>
            <a:off x="5743575" y="193676"/>
            <a:ext cx="3952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latin typeface="Arial" panose="020B0604020202020204" pitchFamily="34" charset="0"/>
              </a:rPr>
              <a:t>3</a:t>
            </a:r>
            <a:endParaRPr lang="ms-MY" altLang="en-US" sz="2400">
              <a:latin typeface="Arial" panose="020B0604020202020204" pitchFamily="34" charset="0"/>
            </a:endParaRPr>
          </a:p>
        </p:txBody>
      </p:sp>
      <p:sp>
        <p:nvSpPr>
          <p:cNvPr id="86026" name="TextBox 15"/>
          <p:cNvSpPr txBox="1">
            <a:spLocks noChangeArrowheads="1"/>
          </p:cNvSpPr>
          <p:nvPr/>
        </p:nvSpPr>
        <p:spPr bwMode="auto">
          <a:xfrm>
            <a:off x="5743575" y="944564"/>
            <a:ext cx="39528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latin typeface="Arial" panose="020B0604020202020204" pitchFamily="34" charset="0"/>
              </a:rPr>
              <a:t>4</a:t>
            </a:r>
            <a:endParaRPr lang="ms-MY" altLang="en-US" sz="2400">
              <a:latin typeface="Arial" panose="020B0604020202020204" pitchFamily="34" charset="0"/>
            </a:endParaRPr>
          </a:p>
        </p:txBody>
      </p:sp>
      <p:sp>
        <p:nvSpPr>
          <p:cNvPr id="17" name="TextBox 16"/>
          <p:cNvSpPr txBox="1">
            <a:spLocks noChangeArrowheads="1"/>
          </p:cNvSpPr>
          <p:nvPr/>
        </p:nvSpPr>
        <p:spPr bwMode="auto">
          <a:xfrm>
            <a:off x="3667125" y="1528763"/>
            <a:ext cx="4876800" cy="461962"/>
          </a:xfrm>
          <a:prstGeom prst="rect">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solidFill>
                  <a:srgbClr val="FFFF00"/>
                </a:solidFill>
                <a:latin typeface="Arial" panose="020B0604020202020204" pitchFamily="34" charset="0"/>
              </a:rPr>
              <a:t>Packet destination: 192.168.1.1</a:t>
            </a:r>
            <a:endParaRPr lang="ms-MY" altLang="en-US" sz="2400">
              <a:solidFill>
                <a:srgbClr val="FFFF00"/>
              </a:solidFill>
              <a:latin typeface="Arial" panose="020B0604020202020204" pitchFamily="34" charset="0"/>
            </a:endParaRPr>
          </a:p>
        </p:txBody>
      </p:sp>
      <p:pic>
        <p:nvPicPr>
          <p:cNvPr id="86028" name="Graphic 18"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894888" y="250825"/>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BEE7A817-ABB3-BADD-9EB9-07C38E039BEE}"/>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45</a:t>
            </a:fld>
            <a:endParaRPr lang="en-US"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fontScale="90000"/>
          </a:bodyPr>
          <a:lstStyle/>
          <a:p>
            <a:r>
              <a:rPr lang="en-US" altLang="ja-JP" dirty="0"/>
              <a:t>Alternative to packet switching: circuit switching</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815577" y="1547144"/>
            <a:ext cx="5692665" cy="5310856"/>
          </a:xfrm>
        </p:spPr>
        <p:txBody>
          <a:bodyPr>
            <a:normAutofit/>
          </a:bodyPr>
          <a:lstStyle/>
          <a:p>
            <a:pPr marL="11113" indent="-11113">
              <a:buNone/>
            </a:pPr>
            <a:r>
              <a:rPr lang="en-US" altLang="en-US" dirty="0">
                <a:solidFill>
                  <a:srgbClr val="CC0000"/>
                </a:solidFill>
                <a:ea typeface="ＭＳ Ｐゴシック" panose="020B0600070205080204" pitchFamily="34" charset="-128"/>
              </a:rPr>
              <a:t>end-end resources allocated to, reserved for “</a:t>
            </a:r>
            <a:r>
              <a:rPr lang="en-US" altLang="ja-JP" dirty="0">
                <a:solidFill>
                  <a:srgbClr val="CC0000"/>
                </a:solidFill>
                <a:ea typeface="ＭＳ Ｐゴシック" panose="020B0600070205080204" pitchFamily="34" charset="-128"/>
              </a:rPr>
              <a:t>call” between source and destination</a:t>
            </a:r>
          </a:p>
          <a:p>
            <a:r>
              <a:rPr lang="en-US" altLang="en-US" sz="2400" dirty="0">
                <a:ea typeface="ＭＳ Ｐゴシック" panose="020B0600070205080204" pitchFamily="34" charset="-128"/>
              </a:rPr>
              <a:t>in diagram, each link has four circuits. </a:t>
            </a:r>
          </a:p>
          <a:p>
            <a:pPr marL="682625" lvl="1" indent="-225425"/>
            <a:r>
              <a:rPr lang="en-US" altLang="en-US" dirty="0">
                <a:ea typeface="ＭＳ Ｐゴシック" panose="020B0600070205080204" pitchFamily="34" charset="-128"/>
              </a:rPr>
              <a:t>call gets 2</a:t>
            </a:r>
            <a:r>
              <a:rPr lang="en-US" altLang="en-US" baseline="30000" dirty="0">
                <a:ea typeface="ＭＳ Ｐゴシック" panose="020B0600070205080204" pitchFamily="34" charset="-128"/>
              </a:rPr>
              <a:t>nd</a:t>
            </a:r>
            <a:r>
              <a:rPr lang="en-US" altLang="en-US" dirty="0">
                <a:ea typeface="ＭＳ Ｐゴシック" panose="020B0600070205080204" pitchFamily="34" charset="-128"/>
              </a:rPr>
              <a:t> circuit in top link and 1</a:t>
            </a:r>
            <a:r>
              <a:rPr lang="en-US" altLang="en-US" baseline="30000" dirty="0">
                <a:ea typeface="ＭＳ Ｐゴシック" panose="020B0600070205080204" pitchFamily="34" charset="-128"/>
              </a:rPr>
              <a:t>st</a:t>
            </a:r>
            <a:r>
              <a:rPr lang="en-US" altLang="en-US" dirty="0">
                <a:ea typeface="ＭＳ Ｐゴシック" panose="020B0600070205080204" pitchFamily="34" charset="-128"/>
              </a:rPr>
              <a:t> circuit in right link.</a:t>
            </a:r>
          </a:p>
          <a:p>
            <a:r>
              <a:rPr lang="en-US" altLang="en-US" sz="2400" dirty="0">
                <a:ea typeface="ＭＳ Ｐゴシック" panose="020B0600070205080204" pitchFamily="34" charset="-128"/>
              </a:rPr>
              <a:t>dedicated resources: no sharing</a:t>
            </a:r>
          </a:p>
          <a:p>
            <a:pPr marL="682625" lvl="1" indent="-225425"/>
            <a:r>
              <a:rPr lang="en-US" altLang="en-US" dirty="0">
                <a:ea typeface="Arial" panose="020B0604020202020204" pitchFamily="34" charset="0"/>
              </a:rPr>
              <a:t>circuit-like (guaranteed) performance</a:t>
            </a:r>
          </a:p>
          <a:p>
            <a:r>
              <a:rPr lang="en-US" altLang="en-US" sz="2400" dirty="0">
                <a:ea typeface="ＭＳ Ｐゴシック" panose="020B0600070205080204" pitchFamily="34" charset="-128"/>
              </a:rPr>
              <a:t>circuit segment idle if not used by call </a:t>
            </a:r>
            <a:r>
              <a:rPr lang="en-US" altLang="en-US" sz="2400" dirty="0">
                <a:solidFill>
                  <a:srgbClr val="000099"/>
                </a:solidFill>
                <a:ea typeface="ＭＳ Ｐゴシック" panose="020B0600070205080204" pitchFamily="34" charset="-128"/>
              </a:rPr>
              <a:t>(no sharing)</a:t>
            </a:r>
          </a:p>
          <a:p>
            <a:r>
              <a:rPr lang="en-US" altLang="en-US" sz="2400" dirty="0">
                <a:ea typeface="ＭＳ Ｐゴシック" panose="020B0600070205080204" pitchFamily="34" charset="-128"/>
              </a:rPr>
              <a:t>commonly used in traditional telephone networks</a:t>
            </a:r>
          </a:p>
          <a:p>
            <a:pPr marL="174625" indent="0">
              <a:buSzPct val="75000"/>
              <a:buNone/>
            </a:pPr>
            <a:endParaRPr lang="en-US" altLang="en-US" dirty="0"/>
          </a:p>
          <a:p>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46</a:t>
            </a:fld>
            <a:endParaRPr lang="en-US" dirty="0"/>
          </a:p>
        </p:txBody>
      </p:sp>
      <p:sp>
        <p:nvSpPr>
          <p:cNvPr id="614" name="Rectangle 613">
            <a:extLst>
              <a:ext uri="{FF2B5EF4-FFF2-40B4-BE49-F238E27FC236}">
                <a16:creationId xmlns:a16="http://schemas.microsoft.com/office/drawing/2014/main" id="{C85B1EBD-FEC9-7D47-95F3-A01E91DC9894}"/>
              </a:ext>
            </a:extLst>
          </p:cNvPr>
          <p:cNvSpPr/>
          <p:nvPr/>
        </p:nvSpPr>
        <p:spPr bwMode="auto">
          <a:xfrm>
            <a:off x="8424977" y="2768303"/>
            <a:ext cx="1498678" cy="6275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31" name="Rectangle 630">
            <a:extLst>
              <a:ext uri="{FF2B5EF4-FFF2-40B4-BE49-F238E27FC236}">
                <a16:creationId xmlns:a16="http://schemas.microsoft.com/office/drawing/2014/main" id="{C07D9778-DC6E-7345-9465-FB3BB6CE8E90}"/>
              </a:ext>
            </a:extLst>
          </p:cNvPr>
          <p:cNvSpPr/>
          <p:nvPr/>
        </p:nvSpPr>
        <p:spPr bwMode="auto">
          <a:xfrm>
            <a:off x="8424977" y="2831058"/>
            <a:ext cx="1498678" cy="62756"/>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32" name="Rectangle 631">
            <a:extLst>
              <a:ext uri="{FF2B5EF4-FFF2-40B4-BE49-F238E27FC236}">
                <a16:creationId xmlns:a16="http://schemas.microsoft.com/office/drawing/2014/main" id="{61FD4856-E9C8-2A41-A5F2-E30BD123301C}"/>
              </a:ext>
            </a:extLst>
          </p:cNvPr>
          <p:cNvSpPr/>
          <p:nvPr/>
        </p:nvSpPr>
        <p:spPr bwMode="auto">
          <a:xfrm>
            <a:off x="8424977" y="2893815"/>
            <a:ext cx="1498678" cy="6275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33" name="Rectangle 632">
            <a:extLst>
              <a:ext uri="{FF2B5EF4-FFF2-40B4-BE49-F238E27FC236}">
                <a16:creationId xmlns:a16="http://schemas.microsoft.com/office/drawing/2014/main" id="{7AC453DB-05D4-EC4C-921B-39BF8237099E}"/>
              </a:ext>
            </a:extLst>
          </p:cNvPr>
          <p:cNvSpPr/>
          <p:nvPr/>
        </p:nvSpPr>
        <p:spPr bwMode="auto">
          <a:xfrm>
            <a:off x="8424977" y="2956570"/>
            <a:ext cx="1498678" cy="6275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nvGrpSpPr>
          <p:cNvPr id="635" name="Group 75">
            <a:extLst>
              <a:ext uri="{FF2B5EF4-FFF2-40B4-BE49-F238E27FC236}">
                <a16:creationId xmlns:a16="http://schemas.microsoft.com/office/drawing/2014/main" id="{5F6DF9A5-3FFC-8C4A-BBDB-ED9D3E810747}"/>
              </a:ext>
            </a:extLst>
          </p:cNvPr>
          <p:cNvGrpSpPr>
            <a:grpSpLocks/>
          </p:cNvGrpSpPr>
          <p:nvPr/>
        </p:nvGrpSpPr>
        <p:grpSpPr bwMode="auto">
          <a:xfrm rot="5400000">
            <a:off x="7309151" y="3674784"/>
            <a:ext cx="1446966" cy="261562"/>
            <a:chOff x="4876800" y="1143000"/>
            <a:chExt cx="1752600" cy="304800"/>
          </a:xfrm>
        </p:grpSpPr>
        <p:sp>
          <p:nvSpPr>
            <p:cNvPr id="675" name="Rectangle 674">
              <a:extLst>
                <a:ext uri="{FF2B5EF4-FFF2-40B4-BE49-F238E27FC236}">
                  <a16:creationId xmlns:a16="http://schemas.microsoft.com/office/drawing/2014/main" id="{977C84FC-032A-8445-8061-6975ED8A7912}"/>
                </a:ext>
              </a:extLst>
            </p:cNvPr>
            <p:cNvSpPr/>
            <p:nvPr/>
          </p:nvSpPr>
          <p:spPr>
            <a:xfrm>
              <a:off x="4865941" y="1169772"/>
              <a:ext cx="1752599"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76" name="Rectangle 675">
              <a:extLst>
                <a:ext uri="{FF2B5EF4-FFF2-40B4-BE49-F238E27FC236}">
                  <a16:creationId xmlns:a16="http://schemas.microsoft.com/office/drawing/2014/main" id="{B419306E-4AE4-9E46-8222-E9A57C016985}"/>
                </a:ext>
              </a:extLst>
            </p:cNvPr>
            <p:cNvSpPr/>
            <p:nvPr/>
          </p:nvSpPr>
          <p:spPr>
            <a:xfrm>
              <a:off x="4865941" y="1245972"/>
              <a:ext cx="1752599"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77" name="Rectangle 676">
              <a:extLst>
                <a:ext uri="{FF2B5EF4-FFF2-40B4-BE49-F238E27FC236}">
                  <a16:creationId xmlns:a16="http://schemas.microsoft.com/office/drawing/2014/main" id="{3197829C-6518-5743-A13E-C28A17ADE787}"/>
                </a:ext>
              </a:extLst>
            </p:cNvPr>
            <p:cNvSpPr/>
            <p:nvPr/>
          </p:nvSpPr>
          <p:spPr>
            <a:xfrm>
              <a:off x="4865941" y="1322172"/>
              <a:ext cx="1752599"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78" name="Rectangle 677">
              <a:extLst>
                <a:ext uri="{FF2B5EF4-FFF2-40B4-BE49-F238E27FC236}">
                  <a16:creationId xmlns:a16="http://schemas.microsoft.com/office/drawing/2014/main" id="{D024E2F3-1A4C-0644-95D3-3003554E779D}"/>
                </a:ext>
              </a:extLst>
            </p:cNvPr>
            <p:cNvSpPr/>
            <p:nvPr/>
          </p:nvSpPr>
          <p:spPr>
            <a:xfrm>
              <a:off x="4865941" y="1398372"/>
              <a:ext cx="1752599"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nvGrpSpPr>
          <p:cNvPr id="636" name="Group 80">
            <a:extLst>
              <a:ext uri="{FF2B5EF4-FFF2-40B4-BE49-F238E27FC236}">
                <a16:creationId xmlns:a16="http://schemas.microsoft.com/office/drawing/2014/main" id="{56F3148B-4ACA-6443-B079-C0ACA7BAE006}"/>
              </a:ext>
            </a:extLst>
          </p:cNvPr>
          <p:cNvGrpSpPr>
            <a:grpSpLocks/>
          </p:cNvGrpSpPr>
          <p:nvPr/>
        </p:nvGrpSpPr>
        <p:grpSpPr bwMode="auto">
          <a:xfrm>
            <a:off x="8509808" y="4656351"/>
            <a:ext cx="1479238" cy="251023"/>
            <a:chOff x="4876800" y="1143000"/>
            <a:chExt cx="1752600" cy="304800"/>
          </a:xfrm>
        </p:grpSpPr>
        <p:sp>
          <p:nvSpPr>
            <p:cNvPr id="671" name="Rectangle 670">
              <a:extLst>
                <a:ext uri="{FF2B5EF4-FFF2-40B4-BE49-F238E27FC236}">
                  <a16:creationId xmlns:a16="http://schemas.microsoft.com/office/drawing/2014/main" id="{80FE6752-34E1-E34F-A1F3-D2A6FE32F28D}"/>
                </a:ext>
              </a:extLst>
            </p:cNvPr>
            <p:cNvSpPr/>
            <p:nvPr/>
          </p:nvSpPr>
          <p:spPr>
            <a:xfrm>
              <a:off x="4876800" y="1143000"/>
              <a:ext cx="1752600"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72" name="Rectangle 671">
              <a:extLst>
                <a:ext uri="{FF2B5EF4-FFF2-40B4-BE49-F238E27FC236}">
                  <a16:creationId xmlns:a16="http://schemas.microsoft.com/office/drawing/2014/main" id="{555D353A-0B50-B343-A01E-DE477259DB94}"/>
                </a:ext>
              </a:extLst>
            </p:cNvPr>
            <p:cNvSpPr/>
            <p:nvPr/>
          </p:nvSpPr>
          <p:spPr>
            <a:xfrm>
              <a:off x="4876800" y="1219201"/>
              <a:ext cx="1752600"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73" name="Rectangle 672">
              <a:extLst>
                <a:ext uri="{FF2B5EF4-FFF2-40B4-BE49-F238E27FC236}">
                  <a16:creationId xmlns:a16="http://schemas.microsoft.com/office/drawing/2014/main" id="{8D8482C7-D95D-1A40-B1A5-03B3803003D0}"/>
                </a:ext>
              </a:extLst>
            </p:cNvPr>
            <p:cNvSpPr/>
            <p:nvPr/>
          </p:nvSpPr>
          <p:spPr>
            <a:xfrm>
              <a:off x="4876800" y="1295400"/>
              <a:ext cx="1752600"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74" name="Rectangle 673">
              <a:extLst>
                <a:ext uri="{FF2B5EF4-FFF2-40B4-BE49-F238E27FC236}">
                  <a16:creationId xmlns:a16="http://schemas.microsoft.com/office/drawing/2014/main" id="{5E9D9B00-DD2C-5C45-B41D-E4131382D4BD}"/>
                </a:ext>
              </a:extLst>
            </p:cNvPr>
            <p:cNvSpPr/>
            <p:nvPr/>
          </p:nvSpPr>
          <p:spPr>
            <a:xfrm>
              <a:off x="4876800" y="1371601"/>
              <a:ext cx="1752600"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sp>
        <p:nvSpPr>
          <p:cNvPr id="637" name="Rectangle 636">
            <a:extLst>
              <a:ext uri="{FF2B5EF4-FFF2-40B4-BE49-F238E27FC236}">
                <a16:creationId xmlns:a16="http://schemas.microsoft.com/office/drawing/2014/main" id="{61AA9CF9-360C-1644-8229-070AF13E138A}"/>
              </a:ext>
            </a:extLst>
          </p:cNvPr>
          <p:cNvSpPr/>
          <p:nvPr/>
        </p:nvSpPr>
        <p:spPr bwMode="auto">
          <a:xfrm rot="5400000">
            <a:off x="9755990" y="3772869"/>
            <a:ext cx="1446966" cy="6539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38" name="Rectangle 637">
            <a:extLst>
              <a:ext uri="{FF2B5EF4-FFF2-40B4-BE49-F238E27FC236}">
                <a16:creationId xmlns:a16="http://schemas.microsoft.com/office/drawing/2014/main" id="{E9836985-853D-FD43-8624-3F7C8EFF868E}"/>
              </a:ext>
            </a:extLst>
          </p:cNvPr>
          <p:cNvSpPr/>
          <p:nvPr/>
        </p:nvSpPr>
        <p:spPr bwMode="auto">
          <a:xfrm rot="5400000">
            <a:off x="9690600" y="3772869"/>
            <a:ext cx="1446966" cy="6539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39" name="Rectangle 638">
            <a:extLst>
              <a:ext uri="{FF2B5EF4-FFF2-40B4-BE49-F238E27FC236}">
                <a16:creationId xmlns:a16="http://schemas.microsoft.com/office/drawing/2014/main" id="{2C3B99FD-EBC3-CC42-B85E-90D4E22B5F96}"/>
              </a:ext>
            </a:extLst>
          </p:cNvPr>
          <p:cNvSpPr/>
          <p:nvPr/>
        </p:nvSpPr>
        <p:spPr bwMode="auto">
          <a:xfrm rot="5400000">
            <a:off x="9625209" y="3772869"/>
            <a:ext cx="1446966" cy="6539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641" name="Rectangle 640">
            <a:extLst>
              <a:ext uri="{FF2B5EF4-FFF2-40B4-BE49-F238E27FC236}">
                <a16:creationId xmlns:a16="http://schemas.microsoft.com/office/drawing/2014/main" id="{1D7794B1-F2B2-5747-B891-005F045539B2}"/>
              </a:ext>
            </a:extLst>
          </p:cNvPr>
          <p:cNvSpPr/>
          <p:nvPr/>
        </p:nvSpPr>
        <p:spPr bwMode="auto">
          <a:xfrm rot="5400000">
            <a:off x="9559819" y="3772869"/>
            <a:ext cx="1446966" cy="65390"/>
          </a:xfrm>
          <a:prstGeom prst="rect">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nvGrpSpPr>
          <p:cNvPr id="650" name="Group 100">
            <a:extLst>
              <a:ext uri="{FF2B5EF4-FFF2-40B4-BE49-F238E27FC236}">
                <a16:creationId xmlns:a16="http://schemas.microsoft.com/office/drawing/2014/main" id="{0639FADE-DF07-BC40-93A4-C1CAB6AE0566}"/>
              </a:ext>
            </a:extLst>
          </p:cNvPr>
          <p:cNvGrpSpPr>
            <a:grpSpLocks/>
          </p:cNvGrpSpPr>
          <p:nvPr/>
        </p:nvGrpSpPr>
        <p:grpSpPr bwMode="auto">
          <a:xfrm>
            <a:off x="10013910" y="1711520"/>
            <a:ext cx="701622" cy="568387"/>
            <a:chOff x="-44" y="1473"/>
            <a:chExt cx="981" cy="1105"/>
          </a:xfrm>
        </p:grpSpPr>
        <p:pic>
          <p:nvPicPr>
            <p:cNvPr id="669" name="Picture 101" descr="desktop_computer_stylized_medium">
              <a:extLst>
                <a:ext uri="{FF2B5EF4-FFF2-40B4-BE49-F238E27FC236}">
                  <a16:creationId xmlns:a16="http://schemas.microsoft.com/office/drawing/2014/main" id="{BA6FF0DF-0F0E-DD48-A690-E164D934CA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0" name="Freeform 102">
              <a:extLst>
                <a:ext uri="{FF2B5EF4-FFF2-40B4-BE49-F238E27FC236}">
                  <a16:creationId xmlns:a16="http://schemas.microsoft.com/office/drawing/2014/main" id="{C32A6522-BD56-1741-9275-687F917D71BF}"/>
                </a:ext>
              </a:extLst>
            </p:cNvPr>
            <p:cNvSpPr>
              <a:spLocks/>
            </p:cNvSpPr>
            <p:nvPr/>
          </p:nvSpPr>
          <p:spPr bwMode="auto">
            <a:xfrm flipH="1">
              <a:off x="374" y="1579"/>
              <a:ext cx="477" cy="506"/>
            </a:xfrm>
            <a:custGeom>
              <a:avLst/>
              <a:gdLst>
                <a:gd name="T0" fmla="*/ 0 w 356"/>
                <a:gd name="T1" fmla="*/ 0 h 368"/>
                <a:gd name="T2" fmla="*/ 3117 w 356"/>
                <a:gd name="T3" fmla="*/ 180 h 368"/>
                <a:gd name="T4" fmla="*/ 3697 w 356"/>
                <a:gd name="T5" fmla="*/ 3750 h 368"/>
                <a:gd name="T6" fmla="*/ 815 w 356"/>
                <a:gd name="T7" fmla="*/ 470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654" name="Rectangle 653">
            <a:extLst>
              <a:ext uri="{FF2B5EF4-FFF2-40B4-BE49-F238E27FC236}">
                <a16:creationId xmlns:a16="http://schemas.microsoft.com/office/drawing/2014/main" id="{9D887EB2-57DD-3145-BFC4-C5FAB2A34C2C}"/>
              </a:ext>
            </a:extLst>
          </p:cNvPr>
          <p:cNvSpPr/>
          <p:nvPr/>
        </p:nvSpPr>
        <p:spPr bwMode="auto">
          <a:xfrm rot="2465437" flipV="1">
            <a:off x="10213493" y="4720899"/>
            <a:ext cx="581445" cy="64549"/>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18" name="Rectangle 717">
            <a:extLst>
              <a:ext uri="{FF2B5EF4-FFF2-40B4-BE49-F238E27FC236}">
                <a16:creationId xmlns:a16="http://schemas.microsoft.com/office/drawing/2014/main" id="{A3B2F961-4F5F-024A-9053-8BCA979B88C9}"/>
              </a:ext>
            </a:extLst>
          </p:cNvPr>
          <p:cNvSpPr/>
          <p:nvPr/>
        </p:nvSpPr>
        <p:spPr bwMode="auto">
          <a:xfrm>
            <a:off x="7105364" y="4795380"/>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19" name="Rectangle 718">
            <a:extLst>
              <a:ext uri="{FF2B5EF4-FFF2-40B4-BE49-F238E27FC236}">
                <a16:creationId xmlns:a16="http://schemas.microsoft.com/office/drawing/2014/main" id="{AD473EEA-73C2-5D46-8AAF-564095CFE88B}"/>
              </a:ext>
            </a:extLst>
          </p:cNvPr>
          <p:cNvSpPr/>
          <p:nvPr/>
        </p:nvSpPr>
        <p:spPr bwMode="auto">
          <a:xfrm rot="5400000">
            <a:off x="7722581" y="2362276"/>
            <a:ext cx="513165" cy="69789"/>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20" name="Rectangle 719">
            <a:extLst>
              <a:ext uri="{FF2B5EF4-FFF2-40B4-BE49-F238E27FC236}">
                <a16:creationId xmlns:a16="http://schemas.microsoft.com/office/drawing/2014/main" id="{C0FDD0FD-5960-3748-B19E-88536C7DDE78}"/>
              </a:ext>
            </a:extLst>
          </p:cNvPr>
          <p:cNvSpPr/>
          <p:nvPr/>
        </p:nvSpPr>
        <p:spPr bwMode="auto">
          <a:xfrm rot="5400000">
            <a:off x="7825925" y="5242087"/>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21" name="Rectangle 720">
            <a:extLst>
              <a:ext uri="{FF2B5EF4-FFF2-40B4-BE49-F238E27FC236}">
                <a16:creationId xmlns:a16="http://schemas.microsoft.com/office/drawing/2014/main" id="{7E2AD029-98F7-B040-85B4-C43FAD1EB81B}"/>
              </a:ext>
            </a:extLst>
          </p:cNvPr>
          <p:cNvSpPr/>
          <p:nvPr/>
        </p:nvSpPr>
        <p:spPr bwMode="auto">
          <a:xfrm rot="5400000">
            <a:off x="10201295" y="5217275"/>
            <a:ext cx="493905" cy="68330"/>
          </a:xfrm>
          <a:prstGeom prst="rect">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22" name="Rectangle 721">
            <a:extLst>
              <a:ext uri="{FF2B5EF4-FFF2-40B4-BE49-F238E27FC236}">
                <a16:creationId xmlns:a16="http://schemas.microsoft.com/office/drawing/2014/main" id="{52375AB8-0401-BC40-BE25-F5671327B1FC}"/>
              </a:ext>
            </a:extLst>
          </p:cNvPr>
          <p:cNvSpPr/>
          <p:nvPr/>
        </p:nvSpPr>
        <p:spPr bwMode="auto">
          <a:xfrm rot="10800000">
            <a:off x="10882518" y="4775822"/>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23" name="Rectangle 722">
            <a:extLst>
              <a:ext uri="{FF2B5EF4-FFF2-40B4-BE49-F238E27FC236}">
                <a16:creationId xmlns:a16="http://schemas.microsoft.com/office/drawing/2014/main" id="{B1C6849C-11AE-A842-BDEB-776A39D89F36}"/>
              </a:ext>
            </a:extLst>
          </p:cNvPr>
          <p:cNvSpPr/>
          <p:nvPr/>
        </p:nvSpPr>
        <p:spPr bwMode="auto">
          <a:xfrm>
            <a:off x="7002625" y="2887816"/>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24" name="Rectangle 723">
            <a:extLst>
              <a:ext uri="{FF2B5EF4-FFF2-40B4-BE49-F238E27FC236}">
                <a16:creationId xmlns:a16="http://schemas.microsoft.com/office/drawing/2014/main" id="{8024D8C7-10CA-5A41-B97C-725ABAF0833D}"/>
              </a:ext>
            </a:extLst>
          </p:cNvPr>
          <p:cNvSpPr/>
          <p:nvPr/>
        </p:nvSpPr>
        <p:spPr bwMode="auto">
          <a:xfrm>
            <a:off x="10811014" y="2867389"/>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25" name="Rectangle 724">
            <a:extLst>
              <a:ext uri="{FF2B5EF4-FFF2-40B4-BE49-F238E27FC236}">
                <a16:creationId xmlns:a16="http://schemas.microsoft.com/office/drawing/2014/main" id="{14264F35-7A0D-DF4B-83B3-4CAF1770C5DA}"/>
              </a:ext>
            </a:extLst>
          </p:cNvPr>
          <p:cNvSpPr/>
          <p:nvPr/>
        </p:nvSpPr>
        <p:spPr bwMode="auto">
          <a:xfrm rot="5400000">
            <a:off x="10115327" y="2348120"/>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nvGrpSpPr>
          <p:cNvPr id="613" name="Group 100">
            <a:extLst>
              <a:ext uri="{FF2B5EF4-FFF2-40B4-BE49-F238E27FC236}">
                <a16:creationId xmlns:a16="http://schemas.microsoft.com/office/drawing/2014/main" id="{DBC0414B-31F1-1C4C-8261-EE67F4607DC0}"/>
              </a:ext>
            </a:extLst>
          </p:cNvPr>
          <p:cNvGrpSpPr>
            <a:grpSpLocks/>
          </p:cNvGrpSpPr>
          <p:nvPr/>
        </p:nvGrpSpPr>
        <p:grpSpPr bwMode="auto">
          <a:xfrm>
            <a:off x="9946631" y="5393995"/>
            <a:ext cx="703389" cy="568387"/>
            <a:chOff x="-44" y="1473"/>
            <a:chExt cx="981" cy="1105"/>
          </a:xfrm>
        </p:grpSpPr>
        <p:pic>
          <p:nvPicPr>
            <p:cNvPr id="687" name="Picture 101" descr="desktop_computer_stylized_medium">
              <a:extLst>
                <a:ext uri="{FF2B5EF4-FFF2-40B4-BE49-F238E27FC236}">
                  <a16:creationId xmlns:a16="http://schemas.microsoft.com/office/drawing/2014/main" id="{90934AB2-F45B-D54D-B91B-92C3572EB4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8" name="Freeform 102">
              <a:extLst>
                <a:ext uri="{FF2B5EF4-FFF2-40B4-BE49-F238E27FC236}">
                  <a16:creationId xmlns:a16="http://schemas.microsoft.com/office/drawing/2014/main" id="{DDB06B17-0C65-DF43-A056-8E67D11A00CB}"/>
                </a:ext>
              </a:extLst>
            </p:cNvPr>
            <p:cNvSpPr>
              <a:spLocks/>
            </p:cNvSpPr>
            <p:nvPr/>
          </p:nvSpPr>
          <p:spPr bwMode="auto">
            <a:xfrm flipH="1">
              <a:off x="374" y="1579"/>
              <a:ext cx="477" cy="506"/>
            </a:xfrm>
            <a:custGeom>
              <a:avLst/>
              <a:gdLst>
                <a:gd name="T0" fmla="*/ 0 w 356"/>
                <a:gd name="T1" fmla="*/ 0 h 368"/>
                <a:gd name="T2" fmla="*/ 3117 w 356"/>
                <a:gd name="T3" fmla="*/ 180 h 368"/>
                <a:gd name="T4" fmla="*/ 3697 w 356"/>
                <a:gd name="T5" fmla="*/ 3750 h 368"/>
                <a:gd name="T6" fmla="*/ 815 w 356"/>
                <a:gd name="T7" fmla="*/ 470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12" name="Group 100">
            <a:extLst>
              <a:ext uri="{FF2B5EF4-FFF2-40B4-BE49-F238E27FC236}">
                <a16:creationId xmlns:a16="http://schemas.microsoft.com/office/drawing/2014/main" id="{604FD66B-8A15-8341-9AA9-BC9C0069CF6C}"/>
              </a:ext>
            </a:extLst>
          </p:cNvPr>
          <p:cNvGrpSpPr>
            <a:grpSpLocks/>
          </p:cNvGrpSpPr>
          <p:nvPr/>
        </p:nvGrpSpPr>
        <p:grpSpPr bwMode="auto">
          <a:xfrm>
            <a:off x="7560992" y="1744853"/>
            <a:ext cx="703389" cy="568387"/>
            <a:chOff x="-44" y="1473"/>
            <a:chExt cx="981" cy="1105"/>
          </a:xfrm>
        </p:grpSpPr>
        <p:pic>
          <p:nvPicPr>
            <p:cNvPr id="689" name="Picture 101" descr="desktop_computer_stylized_medium">
              <a:extLst>
                <a:ext uri="{FF2B5EF4-FFF2-40B4-BE49-F238E27FC236}">
                  <a16:creationId xmlns:a16="http://schemas.microsoft.com/office/drawing/2014/main" id="{8EC12789-4A74-CD4E-A96A-BA0B134A47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0" name="Freeform 102">
              <a:extLst>
                <a:ext uri="{FF2B5EF4-FFF2-40B4-BE49-F238E27FC236}">
                  <a16:creationId xmlns:a16="http://schemas.microsoft.com/office/drawing/2014/main" id="{1C9CAF4D-3912-2C4B-94EA-BFD60B5F828B}"/>
                </a:ext>
              </a:extLst>
            </p:cNvPr>
            <p:cNvSpPr>
              <a:spLocks/>
            </p:cNvSpPr>
            <p:nvPr/>
          </p:nvSpPr>
          <p:spPr bwMode="auto">
            <a:xfrm flipH="1">
              <a:off x="374" y="1579"/>
              <a:ext cx="477" cy="506"/>
            </a:xfrm>
            <a:custGeom>
              <a:avLst/>
              <a:gdLst>
                <a:gd name="T0" fmla="*/ 0 w 356"/>
                <a:gd name="T1" fmla="*/ 0 h 368"/>
                <a:gd name="T2" fmla="*/ 3117 w 356"/>
                <a:gd name="T3" fmla="*/ 180 h 368"/>
                <a:gd name="T4" fmla="*/ 3697 w 356"/>
                <a:gd name="T5" fmla="*/ 3750 h 368"/>
                <a:gd name="T6" fmla="*/ 815 w 356"/>
                <a:gd name="T7" fmla="*/ 470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27" name="Group 726">
            <a:extLst>
              <a:ext uri="{FF2B5EF4-FFF2-40B4-BE49-F238E27FC236}">
                <a16:creationId xmlns:a16="http://schemas.microsoft.com/office/drawing/2014/main" id="{2A8EF875-64B6-FB4D-BBD1-BB83115D41F6}"/>
              </a:ext>
            </a:extLst>
          </p:cNvPr>
          <p:cNvGrpSpPr/>
          <p:nvPr/>
        </p:nvGrpSpPr>
        <p:grpSpPr>
          <a:xfrm>
            <a:off x="7484685" y="2654601"/>
            <a:ext cx="946204" cy="493906"/>
            <a:chOff x="7493876" y="2774731"/>
            <a:chExt cx="1481958" cy="894622"/>
          </a:xfrm>
        </p:grpSpPr>
        <p:sp>
          <p:nvSpPr>
            <p:cNvPr id="728" name="Freeform 727">
              <a:extLst>
                <a:ext uri="{FF2B5EF4-FFF2-40B4-BE49-F238E27FC236}">
                  <a16:creationId xmlns:a16="http://schemas.microsoft.com/office/drawing/2014/main" id="{2C68BD66-9CBB-6D44-8BC8-E664FE101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29" name="Oval 728">
              <a:extLst>
                <a:ext uri="{FF2B5EF4-FFF2-40B4-BE49-F238E27FC236}">
                  <a16:creationId xmlns:a16="http://schemas.microsoft.com/office/drawing/2014/main" id="{AAD7E178-EB97-9D49-BA85-B61E5871BF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30" name="Group 729">
              <a:extLst>
                <a:ext uri="{FF2B5EF4-FFF2-40B4-BE49-F238E27FC236}">
                  <a16:creationId xmlns:a16="http://schemas.microsoft.com/office/drawing/2014/main" id="{4C398AB5-D40E-9D45-9D9F-3195710DFE88}"/>
                </a:ext>
              </a:extLst>
            </p:cNvPr>
            <p:cNvGrpSpPr/>
            <p:nvPr/>
          </p:nvGrpSpPr>
          <p:grpSpPr>
            <a:xfrm>
              <a:off x="7713663" y="2848339"/>
              <a:ext cx="1042107" cy="425543"/>
              <a:chOff x="7786941" y="2884917"/>
              <a:chExt cx="897649" cy="353919"/>
            </a:xfrm>
          </p:grpSpPr>
          <p:sp>
            <p:nvSpPr>
              <p:cNvPr id="731" name="Freeform 730">
                <a:extLst>
                  <a:ext uri="{FF2B5EF4-FFF2-40B4-BE49-F238E27FC236}">
                    <a16:creationId xmlns:a16="http://schemas.microsoft.com/office/drawing/2014/main" id="{5E9BAF8A-BA27-434D-91A2-E0D5DB090EF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Freeform 731">
                <a:extLst>
                  <a:ext uri="{FF2B5EF4-FFF2-40B4-BE49-F238E27FC236}">
                    <a16:creationId xmlns:a16="http://schemas.microsoft.com/office/drawing/2014/main" id="{7239671D-647B-C046-933C-48E52C3A13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Freeform 732">
                <a:extLst>
                  <a:ext uri="{FF2B5EF4-FFF2-40B4-BE49-F238E27FC236}">
                    <a16:creationId xmlns:a16="http://schemas.microsoft.com/office/drawing/2014/main" id="{72FEAD2C-B342-D84B-83AF-B34BD5B7B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Freeform 733">
                <a:extLst>
                  <a:ext uri="{FF2B5EF4-FFF2-40B4-BE49-F238E27FC236}">
                    <a16:creationId xmlns:a16="http://schemas.microsoft.com/office/drawing/2014/main" id="{BA83E8B5-18C5-D947-9CC6-154512253C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35" name="Group 734">
            <a:extLst>
              <a:ext uri="{FF2B5EF4-FFF2-40B4-BE49-F238E27FC236}">
                <a16:creationId xmlns:a16="http://schemas.microsoft.com/office/drawing/2014/main" id="{EBC6C3DB-3DD5-5143-813B-D24B718ED06D}"/>
              </a:ext>
            </a:extLst>
          </p:cNvPr>
          <p:cNvGrpSpPr/>
          <p:nvPr/>
        </p:nvGrpSpPr>
        <p:grpSpPr>
          <a:xfrm>
            <a:off x="7567435" y="4520082"/>
            <a:ext cx="946204" cy="493906"/>
            <a:chOff x="7493876" y="2774731"/>
            <a:chExt cx="1481958" cy="894622"/>
          </a:xfrm>
        </p:grpSpPr>
        <p:sp>
          <p:nvSpPr>
            <p:cNvPr id="736" name="Freeform 735">
              <a:extLst>
                <a:ext uri="{FF2B5EF4-FFF2-40B4-BE49-F238E27FC236}">
                  <a16:creationId xmlns:a16="http://schemas.microsoft.com/office/drawing/2014/main" id="{5E0EBE43-DDB6-B548-BB2C-D6B6C1DAB7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37" name="Oval 736">
              <a:extLst>
                <a:ext uri="{FF2B5EF4-FFF2-40B4-BE49-F238E27FC236}">
                  <a16:creationId xmlns:a16="http://schemas.microsoft.com/office/drawing/2014/main" id="{BA79F427-8F60-1544-A84F-64AC028744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38" name="Group 737">
              <a:extLst>
                <a:ext uri="{FF2B5EF4-FFF2-40B4-BE49-F238E27FC236}">
                  <a16:creationId xmlns:a16="http://schemas.microsoft.com/office/drawing/2014/main" id="{A6D233C7-8EB7-9B41-86B6-FC01A8976B2D}"/>
                </a:ext>
              </a:extLst>
            </p:cNvPr>
            <p:cNvGrpSpPr/>
            <p:nvPr/>
          </p:nvGrpSpPr>
          <p:grpSpPr>
            <a:xfrm>
              <a:off x="7713663" y="2848339"/>
              <a:ext cx="1042107" cy="425543"/>
              <a:chOff x="7786941" y="2884917"/>
              <a:chExt cx="897649" cy="353919"/>
            </a:xfrm>
          </p:grpSpPr>
          <p:sp>
            <p:nvSpPr>
              <p:cNvPr id="739" name="Freeform 738">
                <a:extLst>
                  <a:ext uri="{FF2B5EF4-FFF2-40B4-BE49-F238E27FC236}">
                    <a16:creationId xmlns:a16="http://schemas.microsoft.com/office/drawing/2014/main" id="{2DA248B7-610E-C34C-9FF3-57CCF829D46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Freeform 739">
                <a:extLst>
                  <a:ext uri="{FF2B5EF4-FFF2-40B4-BE49-F238E27FC236}">
                    <a16:creationId xmlns:a16="http://schemas.microsoft.com/office/drawing/2014/main" id="{9FD796FE-DDA7-CD43-8C1A-AD4F25774F8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Freeform 740">
                <a:extLst>
                  <a:ext uri="{FF2B5EF4-FFF2-40B4-BE49-F238E27FC236}">
                    <a16:creationId xmlns:a16="http://schemas.microsoft.com/office/drawing/2014/main" id="{6009BDFD-2C6D-324C-B98C-379BF8D444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Freeform 741">
                <a:extLst>
                  <a:ext uri="{FF2B5EF4-FFF2-40B4-BE49-F238E27FC236}">
                    <a16:creationId xmlns:a16="http://schemas.microsoft.com/office/drawing/2014/main" id="{04C2B104-2DF7-EC43-A8ED-F9900D3FC6F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43" name="Group 742">
            <a:extLst>
              <a:ext uri="{FF2B5EF4-FFF2-40B4-BE49-F238E27FC236}">
                <a16:creationId xmlns:a16="http://schemas.microsoft.com/office/drawing/2014/main" id="{8910879B-032A-764B-B8A5-A88D63D74D64}"/>
              </a:ext>
            </a:extLst>
          </p:cNvPr>
          <p:cNvGrpSpPr/>
          <p:nvPr/>
        </p:nvGrpSpPr>
        <p:grpSpPr>
          <a:xfrm>
            <a:off x="9940980" y="4520082"/>
            <a:ext cx="946204" cy="493906"/>
            <a:chOff x="7493876" y="2774731"/>
            <a:chExt cx="1481958" cy="894622"/>
          </a:xfrm>
        </p:grpSpPr>
        <p:sp>
          <p:nvSpPr>
            <p:cNvPr id="744" name="Freeform 743">
              <a:extLst>
                <a:ext uri="{FF2B5EF4-FFF2-40B4-BE49-F238E27FC236}">
                  <a16:creationId xmlns:a16="http://schemas.microsoft.com/office/drawing/2014/main" id="{D1149133-C350-2D42-8C9E-58585EBAF37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45" name="Oval 744">
              <a:extLst>
                <a:ext uri="{FF2B5EF4-FFF2-40B4-BE49-F238E27FC236}">
                  <a16:creationId xmlns:a16="http://schemas.microsoft.com/office/drawing/2014/main" id="{12C3EB20-8219-694C-85F2-6998D9337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46" name="Group 745">
              <a:extLst>
                <a:ext uri="{FF2B5EF4-FFF2-40B4-BE49-F238E27FC236}">
                  <a16:creationId xmlns:a16="http://schemas.microsoft.com/office/drawing/2014/main" id="{162CB454-0231-9744-8F9B-C6B6BD5914CB}"/>
                </a:ext>
              </a:extLst>
            </p:cNvPr>
            <p:cNvGrpSpPr/>
            <p:nvPr/>
          </p:nvGrpSpPr>
          <p:grpSpPr>
            <a:xfrm>
              <a:off x="7713663" y="2848339"/>
              <a:ext cx="1042107" cy="425543"/>
              <a:chOff x="7786941" y="2884917"/>
              <a:chExt cx="897649" cy="353919"/>
            </a:xfrm>
          </p:grpSpPr>
          <p:sp>
            <p:nvSpPr>
              <p:cNvPr id="747" name="Freeform 746">
                <a:extLst>
                  <a:ext uri="{FF2B5EF4-FFF2-40B4-BE49-F238E27FC236}">
                    <a16:creationId xmlns:a16="http://schemas.microsoft.com/office/drawing/2014/main" id="{8D7DE494-08F1-5B41-8C0A-D66274850B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Freeform 747">
                <a:extLst>
                  <a:ext uri="{FF2B5EF4-FFF2-40B4-BE49-F238E27FC236}">
                    <a16:creationId xmlns:a16="http://schemas.microsoft.com/office/drawing/2014/main" id="{2A784FA2-85FF-7148-B9DC-8DE272915A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Freeform 748">
                <a:extLst>
                  <a:ext uri="{FF2B5EF4-FFF2-40B4-BE49-F238E27FC236}">
                    <a16:creationId xmlns:a16="http://schemas.microsoft.com/office/drawing/2014/main" id="{8B03338E-B45A-FA4B-BFE9-2D0AB4D34AC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Freeform 749">
                <a:extLst>
                  <a:ext uri="{FF2B5EF4-FFF2-40B4-BE49-F238E27FC236}">
                    <a16:creationId xmlns:a16="http://schemas.microsoft.com/office/drawing/2014/main" id="{7D974B2C-FE1D-6349-A955-0E444D9110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51" name="Group 750">
            <a:extLst>
              <a:ext uri="{FF2B5EF4-FFF2-40B4-BE49-F238E27FC236}">
                <a16:creationId xmlns:a16="http://schemas.microsoft.com/office/drawing/2014/main" id="{08A7BD84-7E3B-0547-8C3C-4A918614BC02}"/>
              </a:ext>
            </a:extLst>
          </p:cNvPr>
          <p:cNvGrpSpPr/>
          <p:nvPr/>
        </p:nvGrpSpPr>
        <p:grpSpPr>
          <a:xfrm>
            <a:off x="9889177" y="2634520"/>
            <a:ext cx="946204" cy="493906"/>
            <a:chOff x="7493876" y="2774731"/>
            <a:chExt cx="1481958" cy="894622"/>
          </a:xfrm>
        </p:grpSpPr>
        <p:sp>
          <p:nvSpPr>
            <p:cNvPr id="752" name="Freeform 751">
              <a:extLst>
                <a:ext uri="{FF2B5EF4-FFF2-40B4-BE49-F238E27FC236}">
                  <a16:creationId xmlns:a16="http://schemas.microsoft.com/office/drawing/2014/main" id="{55DE6B73-3A96-5C48-9E14-F3E52551624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53" name="Oval 752">
              <a:extLst>
                <a:ext uri="{FF2B5EF4-FFF2-40B4-BE49-F238E27FC236}">
                  <a16:creationId xmlns:a16="http://schemas.microsoft.com/office/drawing/2014/main" id="{0C2E4634-ECD7-1A42-BFF3-1C3C12DFDC4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54" name="Group 753">
              <a:extLst>
                <a:ext uri="{FF2B5EF4-FFF2-40B4-BE49-F238E27FC236}">
                  <a16:creationId xmlns:a16="http://schemas.microsoft.com/office/drawing/2014/main" id="{F0FBBA43-0B28-DB47-93A2-4CF98D644EF4}"/>
                </a:ext>
              </a:extLst>
            </p:cNvPr>
            <p:cNvGrpSpPr/>
            <p:nvPr/>
          </p:nvGrpSpPr>
          <p:grpSpPr>
            <a:xfrm>
              <a:off x="7713663" y="2848339"/>
              <a:ext cx="1042107" cy="425543"/>
              <a:chOff x="7786941" y="2884917"/>
              <a:chExt cx="897649" cy="353919"/>
            </a:xfrm>
          </p:grpSpPr>
          <p:sp>
            <p:nvSpPr>
              <p:cNvPr id="755" name="Freeform 754">
                <a:extLst>
                  <a:ext uri="{FF2B5EF4-FFF2-40B4-BE49-F238E27FC236}">
                    <a16:creationId xmlns:a16="http://schemas.microsoft.com/office/drawing/2014/main" id="{D329D7EE-AD76-AB4B-953F-A01C8B47B8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Freeform 755">
                <a:extLst>
                  <a:ext uri="{FF2B5EF4-FFF2-40B4-BE49-F238E27FC236}">
                    <a16:creationId xmlns:a16="http://schemas.microsoft.com/office/drawing/2014/main" id="{589A456E-CB6E-0749-A626-282D17A7162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Freeform 756">
                <a:extLst>
                  <a:ext uri="{FF2B5EF4-FFF2-40B4-BE49-F238E27FC236}">
                    <a16:creationId xmlns:a16="http://schemas.microsoft.com/office/drawing/2014/main" id="{6618F299-10D3-6B46-9FD8-919E6C98C6F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Freeform 757">
                <a:extLst>
                  <a:ext uri="{FF2B5EF4-FFF2-40B4-BE49-F238E27FC236}">
                    <a16:creationId xmlns:a16="http://schemas.microsoft.com/office/drawing/2014/main" id="{514AE89A-3BDD-0546-829A-1EBCB7AB9A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652" name="Rectangle 651">
            <a:extLst>
              <a:ext uri="{FF2B5EF4-FFF2-40B4-BE49-F238E27FC236}">
                <a16:creationId xmlns:a16="http://schemas.microsoft.com/office/drawing/2014/main" id="{5035FBDB-8E25-7842-8C98-159D52E79B52}"/>
              </a:ext>
            </a:extLst>
          </p:cNvPr>
          <p:cNvSpPr/>
          <p:nvPr/>
        </p:nvSpPr>
        <p:spPr bwMode="auto">
          <a:xfrm rot="1634516">
            <a:off x="7940837" y="2709093"/>
            <a:ext cx="535922" cy="7318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59" name="Rectangle 758">
            <a:extLst>
              <a:ext uri="{FF2B5EF4-FFF2-40B4-BE49-F238E27FC236}">
                <a16:creationId xmlns:a16="http://schemas.microsoft.com/office/drawing/2014/main" id="{CB9C91AF-8BEA-E84C-A2CC-A7D82A5CAB1D}"/>
              </a:ext>
            </a:extLst>
          </p:cNvPr>
          <p:cNvSpPr/>
          <p:nvPr/>
        </p:nvSpPr>
        <p:spPr bwMode="auto">
          <a:xfrm rot="2101064">
            <a:off x="9817292" y="2970721"/>
            <a:ext cx="535922" cy="7318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
        <p:nvSpPr>
          <p:cNvPr id="760" name="Rectangle 759">
            <a:extLst>
              <a:ext uri="{FF2B5EF4-FFF2-40B4-BE49-F238E27FC236}">
                <a16:creationId xmlns:a16="http://schemas.microsoft.com/office/drawing/2014/main" id="{9DA88FB0-7AC5-3744-B89B-48F2B2492C28}"/>
              </a:ext>
            </a:extLst>
          </p:cNvPr>
          <p:cNvSpPr/>
          <p:nvPr/>
        </p:nvSpPr>
        <p:spPr bwMode="auto">
          <a:xfrm rot="4253584">
            <a:off x="10096993" y="4729744"/>
            <a:ext cx="547683" cy="75781"/>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399757661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7551" y="995363"/>
            <a:ext cx="6423025" cy="391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091" name="Rectangle 4"/>
          <p:cNvSpPr>
            <a:spLocks noChangeArrowheads="1"/>
          </p:cNvSpPr>
          <p:nvPr/>
        </p:nvSpPr>
        <p:spPr bwMode="auto">
          <a:xfrm>
            <a:off x="2293938" y="617539"/>
            <a:ext cx="3154362" cy="708025"/>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ms-MY" altLang="en-US" sz="2000">
                <a:latin typeface="Arial" panose="020B0604020202020204" pitchFamily="34" charset="0"/>
              </a:rPr>
              <a:t>The 4 circuit </a:t>
            </a:r>
            <a:r>
              <a:rPr lang="en-US" altLang="en-US" sz="2000">
                <a:latin typeface="Arial" panose="020B0604020202020204" pitchFamily="34" charset="0"/>
              </a:rPr>
              <a:t>switches are interconnected by 4 links.</a:t>
            </a:r>
            <a:endParaRPr lang="ms-MY" altLang="en-US" sz="2000">
              <a:latin typeface="Arial" panose="020B0604020202020204" pitchFamily="34" charset="0"/>
            </a:endParaRPr>
          </a:p>
        </p:txBody>
      </p:sp>
      <p:sp>
        <p:nvSpPr>
          <p:cNvPr id="6" name="Rectangle 5"/>
          <p:cNvSpPr>
            <a:spLocks noChangeArrowheads="1"/>
          </p:cNvSpPr>
          <p:nvPr/>
        </p:nvSpPr>
        <p:spPr bwMode="auto">
          <a:xfrm>
            <a:off x="6657976" y="1116013"/>
            <a:ext cx="3362325" cy="101600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Each of these links has four circuits </a:t>
            </a:r>
            <a:r>
              <a:rPr lang="en-US" altLang="en-US" sz="2000">
                <a:latin typeface="Arial" panose="020B0604020202020204" pitchFamily="34" charset="0"/>
                <a:sym typeface="Wingdings" panose="05000000000000000000" pitchFamily="2" charset="2"/>
              </a:rPr>
              <a:t> </a:t>
            </a:r>
            <a:r>
              <a:rPr lang="en-US" altLang="en-US" sz="2000">
                <a:latin typeface="Arial" panose="020B0604020202020204" pitchFamily="34" charset="0"/>
              </a:rPr>
              <a:t>can support 4 simultaneous connections.</a:t>
            </a:r>
            <a:endParaRPr lang="ms-MY" altLang="en-US" sz="2000">
              <a:latin typeface="Arial" panose="020B0604020202020204" pitchFamily="34" charset="0"/>
            </a:endParaRPr>
          </a:p>
        </p:txBody>
      </p:sp>
      <p:sp>
        <p:nvSpPr>
          <p:cNvPr id="8" name="Rectangle 7"/>
          <p:cNvSpPr>
            <a:spLocks noChangeArrowheads="1"/>
          </p:cNvSpPr>
          <p:nvPr/>
        </p:nvSpPr>
        <p:spPr bwMode="auto">
          <a:xfrm>
            <a:off x="2640013" y="5294313"/>
            <a:ext cx="7777162" cy="1014412"/>
          </a:xfrm>
          <a:prstGeom prst="rect">
            <a:avLst/>
          </a:prstGeom>
          <a:solidFill>
            <a:srgbClr val="33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ms-MY" altLang="en-US" sz="2000">
                <a:latin typeface="Arial" panose="020B0604020202020204" pitchFamily="34" charset="0"/>
              </a:rPr>
              <a:t>Example:</a:t>
            </a:r>
          </a:p>
          <a:p>
            <a:pPr>
              <a:lnSpc>
                <a:spcPct val="100000"/>
              </a:lnSpc>
              <a:spcBef>
                <a:spcPct val="0"/>
              </a:spcBef>
              <a:buClrTx/>
              <a:buSzTx/>
              <a:buFontTx/>
              <a:buNone/>
            </a:pPr>
            <a:r>
              <a:rPr lang="ms-MY" altLang="en-US" sz="2000">
                <a:latin typeface="Arial" panose="020B0604020202020204" pitchFamily="34" charset="0"/>
              </a:rPr>
              <a:t>If a link has a trans</a:t>
            </a:r>
            <a:r>
              <a:rPr lang="en-US" altLang="en-US" sz="2000">
                <a:latin typeface="Arial" panose="020B0604020202020204" pitchFamily="34" charset="0"/>
              </a:rPr>
              <a:t>mission rate of </a:t>
            </a:r>
            <a:r>
              <a:rPr lang="en-US" altLang="en-US" sz="2000" b="1">
                <a:latin typeface="Arial" panose="020B0604020202020204" pitchFamily="34" charset="0"/>
              </a:rPr>
              <a:t>1 Mbps</a:t>
            </a:r>
            <a:r>
              <a:rPr lang="en-US" altLang="en-US" sz="2000">
                <a:latin typeface="Arial" panose="020B0604020202020204" pitchFamily="34" charset="0"/>
              </a:rPr>
              <a:t> </a:t>
            </a:r>
          </a:p>
          <a:p>
            <a:pPr>
              <a:lnSpc>
                <a:spcPct val="100000"/>
              </a:lnSpc>
              <a:spcBef>
                <a:spcPct val="0"/>
              </a:spcBef>
              <a:buClrTx/>
              <a:buSzTx/>
              <a:buFontTx/>
              <a:buNone/>
            </a:pPr>
            <a:r>
              <a:rPr lang="en-US" altLang="en-US" sz="2000">
                <a:latin typeface="Arial" panose="020B0604020202020204" pitchFamily="34" charset="0"/>
                <a:sym typeface="Wingdings" panose="05000000000000000000" pitchFamily="2" charset="2"/>
              </a:rPr>
              <a:t> Each </a:t>
            </a:r>
            <a:r>
              <a:rPr lang="en-US" altLang="en-US" sz="2000">
                <a:latin typeface="Arial" panose="020B0604020202020204" pitchFamily="34" charset="0"/>
              </a:rPr>
              <a:t>connection gets </a:t>
            </a:r>
            <a:r>
              <a:rPr lang="en-US" altLang="en-US" sz="2000" b="1">
                <a:latin typeface="Arial" panose="020B0604020202020204" pitchFamily="34" charset="0"/>
              </a:rPr>
              <a:t>250 kbps </a:t>
            </a:r>
            <a:r>
              <a:rPr lang="en-US" altLang="en-US" sz="2000">
                <a:latin typeface="Arial" panose="020B0604020202020204" pitchFamily="34" charset="0"/>
              </a:rPr>
              <a:t>of dedicated transmission rate.</a:t>
            </a:r>
            <a:endParaRPr lang="ms-MY" altLang="en-US" sz="2000">
              <a:latin typeface="Arial" panose="020B0604020202020204" pitchFamily="34" charset="0"/>
            </a:endParaRPr>
          </a:p>
        </p:txBody>
      </p:sp>
      <p:sp>
        <p:nvSpPr>
          <p:cNvPr id="89094" name="Rectangle 8"/>
          <p:cNvSpPr>
            <a:spLocks noChangeArrowheads="1"/>
          </p:cNvSpPr>
          <p:nvPr/>
        </p:nvSpPr>
        <p:spPr bwMode="auto">
          <a:xfrm>
            <a:off x="6743700" y="2492376"/>
            <a:ext cx="3619500" cy="1015663"/>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Each circuit ¼ of the link’s total transmission capacity for the duration of the connection.</a:t>
            </a:r>
            <a:endParaRPr lang="en-MY" altLang="en-US" sz="2000">
              <a:latin typeface="Arial" panose="020B0604020202020204" pitchFamily="34" charset="0"/>
            </a:endParaRPr>
          </a:p>
        </p:txBody>
      </p:sp>
      <p:pic>
        <p:nvPicPr>
          <p:cNvPr id="89095" name="Graphic 6"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B99D37B0-A3D0-119E-82FE-A4389EE7EEEA}"/>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47</a:t>
            </a:fld>
            <a:endParaRPr lang="en-US"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Circuit switching: FDM and TDM</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48</a:t>
            </a:fld>
            <a:endParaRPr lang="en-US" dirty="0"/>
          </a:p>
        </p:txBody>
      </p:sp>
      <p:grpSp>
        <p:nvGrpSpPr>
          <p:cNvPr id="80" name="Group 5">
            <a:extLst>
              <a:ext uri="{FF2B5EF4-FFF2-40B4-BE49-F238E27FC236}">
                <a16:creationId xmlns:a16="http://schemas.microsoft.com/office/drawing/2014/main" id="{9E8B7F63-E037-EA42-8DA6-CB6014E4199C}"/>
              </a:ext>
            </a:extLst>
          </p:cNvPr>
          <p:cNvGrpSpPr>
            <a:grpSpLocks/>
          </p:cNvGrpSpPr>
          <p:nvPr/>
        </p:nvGrpSpPr>
        <p:grpSpPr bwMode="auto">
          <a:xfrm>
            <a:off x="6232444" y="2059359"/>
            <a:ext cx="5508625" cy="1955801"/>
            <a:chOff x="1378" y="1353"/>
            <a:chExt cx="3470" cy="1232"/>
          </a:xfrm>
        </p:grpSpPr>
        <p:sp>
          <p:nvSpPr>
            <p:cNvPr id="81" name="Line 6">
              <a:extLst>
                <a:ext uri="{FF2B5EF4-FFF2-40B4-BE49-F238E27FC236}">
                  <a16:creationId xmlns:a16="http://schemas.microsoft.com/office/drawing/2014/main" id="{FC247104-E8D3-B645-85FB-5A0C2FA08538}"/>
                </a:ext>
              </a:extLst>
            </p:cNvPr>
            <p:cNvSpPr>
              <a:spLocks noChangeShapeType="1"/>
            </p:cNvSpPr>
            <p:nvPr/>
          </p:nvSpPr>
          <p:spPr bwMode="auto">
            <a:xfrm flipV="1">
              <a:off x="1728" y="1392"/>
              <a:ext cx="0" cy="816"/>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2" name="Text Box 7">
              <a:extLst>
                <a:ext uri="{FF2B5EF4-FFF2-40B4-BE49-F238E27FC236}">
                  <a16:creationId xmlns:a16="http://schemas.microsoft.com/office/drawing/2014/main" id="{C8BB3F46-3B16-B844-8872-13FF6EAD7B6A}"/>
                </a:ext>
              </a:extLst>
            </p:cNvPr>
            <p:cNvSpPr txBox="1">
              <a:spLocks noChangeArrowheads="1"/>
            </p:cNvSpPr>
            <p:nvPr/>
          </p:nvSpPr>
          <p:spPr bwMode="auto">
            <a:xfrm rot="16200000">
              <a:off x="1069" y="1662"/>
              <a:ext cx="9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dirty="0">
                  <a:latin typeface="+mn-lt"/>
                </a:rPr>
                <a:t>frequency</a:t>
              </a:r>
              <a:endParaRPr lang="fr-FR" altLang="en-US" dirty="0">
                <a:latin typeface="+mn-lt"/>
              </a:endParaRPr>
            </a:p>
          </p:txBody>
        </p:sp>
        <p:sp>
          <p:nvSpPr>
            <p:cNvPr id="83" name="Line 8">
              <a:extLst>
                <a:ext uri="{FF2B5EF4-FFF2-40B4-BE49-F238E27FC236}">
                  <a16:creationId xmlns:a16="http://schemas.microsoft.com/office/drawing/2014/main" id="{EF7F65AA-9FC2-CC44-BAE9-97B49EC3BFFA}"/>
                </a:ext>
              </a:extLst>
            </p:cNvPr>
            <p:cNvSpPr>
              <a:spLocks noChangeShapeType="1"/>
            </p:cNvSpPr>
            <p:nvPr/>
          </p:nvSpPr>
          <p:spPr bwMode="auto">
            <a:xfrm>
              <a:off x="1728" y="2208"/>
              <a:ext cx="312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4" name="Text Box 9">
              <a:extLst>
                <a:ext uri="{FF2B5EF4-FFF2-40B4-BE49-F238E27FC236}">
                  <a16:creationId xmlns:a16="http://schemas.microsoft.com/office/drawing/2014/main" id="{04240E2C-D2B8-6D49-8F3E-93A9982E6459}"/>
                </a:ext>
              </a:extLst>
            </p:cNvPr>
            <p:cNvSpPr txBox="1">
              <a:spLocks noChangeArrowheads="1"/>
            </p:cNvSpPr>
            <p:nvPr/>
          </p:nvSpPr>
          <p:spPr bwMode="auto">
            <a:xfrm>
              <a:off x="3048" y="2255"/>
              <a:ext cx="53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2800">
                  <a:latin typeface="+mn-lt"/>
                </a:rPr>
                <a:t>time</a:t>
              </a:r>
              <a:endParaRPr lang="fr-FR" altLang="en-US" sz="2800">
                <a:latin typeface="+mn-lt"/>
              </a:endParaRPr>
            </a:p>
          </p:txBody>
        </p:sp>
        <p:sp>
          <p:nvSpPr>
            <p:cNvPr id="85" name="Rectangle 10">
              <a:extLst>
                <a:ext uri="{FF2B5EF4-FFF2-40B4-BE49-F238E27FC236}">
                  <a16:creationId xmlns:a16="http://schemas.microsoft.com/office/drawing/2014/main" id="{8CB58BFF-BD62-164C-98AC-EA3BD21AC112}"/>
                </a:ext>
              </a:extLst>
            </p:cNvPr>
            <p:cNvSpPr>
              <a:spLocks noChangeArrowheads="1"/>
            </p:cNvSpPr>
            <p:nvPr/>
          </p:nvSpPr>
          <p:spPr bwMode="auto">
            <a:xfrm>
              <a:off x="1776" y="1584"/>
              <a:ext cx="2880" cy="57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sp>
        <p:nvSpPr>
          <p:cNvPr id="86" name="Rectangle 11">
            <a:extLst>
              <a:ext uri="{FF2B5EF4-FFF2-40B4-BE49-F238E27FC236}">
                <a16:creationId xmlns:a16="http://schemas.microsoft.com/office/drawing/2014/main" id="{17B8879F-2FD8-DB4B-A2A0-04D42672C807}"/>
              </a:ext>
            </a:extLst>
          </p:cNvPr>
          <p:cNvSpPr>
            <a:spLocks noChangeArrowheads="1"/>
          </p:cNvSpPr>
          <p:nvPr/>
        </p:nvSpPr>
        <p:spPr bwMode="auto">
          <a:xfrm>
            <a:off x="6851569" y="2438770"/>
            <a:ext cx="4572000" cy="228600"/>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87" name="Rectangle 12">
            <a:extLst>
              <a:ext uri="{FF2B5EF4-FFF2-40B4-BE49-F238E27FC236}">
                <a16:creationId xmlns:a16="http://schemas.microsoft.com/office/drawing/2014/main" id="{BEC6B013-FF3F-EC4A-A3C5-E86E0F873041}"/>
              </a:ext>
            </a:extLst>
          </p:cNvPr>
          <p:cNvSpPr>
            <a:spLocks noChangeArrowheads="1"/>
          </p:cNvSpPr>
          <p:nvPr/>
        </p:nvSpPr>
        <p:spPr bwMode="auto">
          <a:xfrm>
            <a:off x="6851569" y="2667370"/>
            <a:ext cx="4572000" cy="228600"/>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88" name="Rectangle 13">
            <a:extLst>
              <a:ext uri="{FF2B5EF4-FFF2-40B4-BE49-F238E27FC236}">
                <a16:creationId xmlns:a16="http://schemas.microsoft.com/office/drawing/2014/main" id="{906F828E-B621-AC41-9719-C035AB75F809}"/>
              </a:ext>
            </a:extLst>
          </p:cNvPr>
          <p:cNvSpPr>
            <a:spLocks noChangeArrowheads="1"/>
          </p:cNvSpPr>
          <p:nvPr/>
        </p:nvSpPr>
        <p:spPr bwMode="auto">
          <a:xfrm>
            <a:off x="6851569" y="2895970"/>
            <a:ext cx="4572000" cy="228600"/>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89" name="Rectangle 14">
            <a:extLst>
              <a:ext uri="{FF2B5EF4-FFF2-40B4-BE49-F238E27FC236}">
                <a16:creationId xmlns:a16="http://schemas.microsoft.com/office/drawing/2014/main" id="{F56D1B6D-1C4F-8C45-B7A6-ABBFFE805E4F}"/>
              </a:ext>
            </a:extLst>
          </p:cNvPr>
          <p:cNvSpPr>
            <a:spLocks noChangeArrowheads="1"/>
          </p:cNvSpPr>
          <p:nvPr/>
        </p:nvSpPr>
        <p:spPr bwMode="auto">
          <a:xfrm>
            <a:off x="6851569" y="3124570"/>
            <a:ext cx="4572000" cy="228600"/>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nvGrpSpPr>
          <p:cNvPr id="90" name="Group 15">
            <a:extLst>
              <a:ext uri="{FF2B5EF4-FFF2-40B4-BE49-F238E27FC236}">
                <a16:creationId xmlns:a16="http://schemas.microsoft.com/office/drawing/2014/main" id="{9A7618F9-9329-2B44-B13F-C685759AA9B8}"/>
              </a:ext>
            </a:extLst>
          </p:cNvPr>
          <p:cNvGrpSpPr>
            <a:grpSpLocks/>
          </p:cNvGrpSpPr>
          <p:nvPr/>
        </p:nvGrpSpPr>
        <p:grpSpPr bwMode="auto">
          <a:xfrm>
            <a:off x="6248319" y="4361233"/>
            <a:ext cx="5480050" cy="1893887"/>
            <a:chOff x="1396" y="2977"/>
            <a:chExt cx="3452" cy="1193"/>
          </a:xfrm>
        </p:grpSpPr>
        <p:sp>
          <p:nvSpPr>
            <p:cNvPr id="92" name="Line 17">
              <a:extLst>
                <a:ext uri="{FF2B5EF4-FFF2-40B4-BE49-F238E27FC236}">
                  <a16:creationId xmlns:a16="http://schemas.microsoft.com/office/drawing/2014/main" id="{6C5900A1-D57D-5143-8A66-C174D32DF386}"/>
                </a:ext>
              </a:extLst>
            </p:cNvPr>
            <p:cNvSpPr>
              <a:spLocks noChangeShapeType="1"/>
            </p:cNvSpPr>
            <p:nvPr/>
          </p:nvSpPr>
          <p:spPr bwMode="auto">
            <a:xfrm flipV="1">
              <a:off x="1728" y="2977"/>
              <a:ext cx="0" cy="816"/>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3" name="Text Box 18">
              <a:extLst>
                <a:ext uri="{FF2B5EF4-FFF2-40B4-BE49-F238E27FC236}">
                  <a16:creationId xmlns:a16="http://schemas.microsoft.com/office/drawing/2014/main" id="{B957BD8B-F509-1A4C-BDB2-A2653F2A5C16}"/>
                </a:ext>
              </a:extLst>
            </p:cNvPr>
            <p:cNvSpPr txBox="1">
              <a:spLocks noChangeArrowheads="1"/>
            </p:cNvSpPr>
            <p:nvPr/>
          </p:nvSpPr>
          <p:spPr bwMode="auto">
            <a:xfrm rot="16200000">
              <a:off x="1087" y="3286"/>
              <a:ext cx="9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dirty="0">
                  <a:latin typeface="+mn-lt"/>
                </a:rPr>
                <a:t>frequency</a:t>
              </a:r>
              <a:endParaRPr lang="fr-FR" altLang="en-US" dirty="0">
                <a:latin typeface="+mn-lt"/>
              </a:endParaRPr>
            </a:p>
          </p:txBody>
        </p:sp>
        <p:sp>
          <p:nvSpPr>
            <p:cNvPr id="94" name="Line 19">
              <a:extLst>
                <a:ext uri="{FF2B5EF4-FFF2-40B4-BE49-F238E27FC236}">
                  <a16:creationId xmlns:a16="http://schemas.microsoft.com/office/drawing/2014/main" id="{3265E2D3-79D1-AC4D-9664-82C43C0C1EFA}"/>
                </a:ext>
              </a:extLst>
            </p:cNvPr>
            <p:cNvSpPr>
              <a:spLocks noChangeShapeType="1"/>
            </p:cNvSpPr>
            <p:nvPr/>
          </p:nvSpPr>
          <p:spPr bwMode="auto">
            <a:xfrm>
              <a:off x="1728" y="3793"/>
              <a:ext cx="312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5" name="Text Box 20">
              <a:extLst>
                <a:ext uri="{FF2B5EF4-FFF2-40B4-BE49-F238E27FC236}">
                  <a16:creationId xmlns:a16="http://schemas.microsoft.com/office/drawing/2014/main" id="{45415617-655E-AE41-ACC7-41804AE636E2}"/>
                </a:ext>
              </a:extLst>
            </p:cNvPr>
            <p:cNvSpPr txBox="1">
              <a:spLocks noChangeArrowheads="1"/>
            </p:cNvSpPr>
            <p:nvPr/>
          </p:nvSpPr>
          <p:spPr bwMode="auto">
            <a:xfrm>
              <a:off x="3048" y="3840"/>
              <a:ext cx="53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2800">
                  <a:latin typeface="+mn-lt"/>
                </a:rPr>
                <a:t>time</a:t>
              </a:r>
              <a:endParaRPr lang="fr-FR" altLang="en-US" sz="2800">
                <a:latin typeface="+mn-lt"/>
              </a:endParaRPr>
            </a:p>
          </p:txBody>
        </p:sp>
        <p:sp>
          <p:nvSpPr>
            <p:cNvPr id="96" name="Rectangle 21">
              <a:extLst>
                <a:ext uri="{FF2B5EF4-FFF2-40B4-BE49-F238E27FC236}">
                  <a16:creationId xmlns:a16="http://schemas.microsoft.com/office/drawing/2014/main" id="{18EBBCEE-B412-1D43-9B2E-49383E459D22}"/>
                </a:ext>
              </a:extLst>
            </p:cNvPr>
            <p:cNvSpPr>
              <a:spLocks noChangeArrowheads="1"/>
            </p:cNvSpPr>
            <p:nvPr/>
          </p:nvSpPr>
          <p:spPr bwMode="auto">
            <a:xfrm>
              <a:off x="1776" y="3168"/>
              <a:ext cx="2880" cy="57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grpSp>
        <p:nvGrpSpPr>
          <p:cNvPr id="97" name="Group 22">
            <a:extLst>
              <a:ext uri="{FF2B5EF4-FFF2-40B4-BE49-F238E27FC236}">
                <a16:creationId xmlns:a16="http://schemas.microsoft.com/office/drawing/2014/main" id="{241CB304-A294-0445-AAE8-40A24F22C065}"/>
              </a:ext>
            </a:extLst>
          </p:cNvPr>
          <p:cNvGrpSpPr>
            <a:grpSpLocks/>
          </p:cNvGrpSpPr>
          <p:nvPr/>
        </p:nvGrpSpPr>
        <p:grpSpPr bwMode="auto">
          <a:xfrm>
            <a:off x="6851569" y="4664445"/>
            <a:ext cx="3886200" cy="914400"/>
            <a:chOff x="1776" y="3168"/>
            <a:chExt cx="2448" cy="576"/>
          </a:xfrm>
        </p:grpSpPr>
        <p:sp>
          <p:nvSpPr>
            <p:cNvPr id="98" name="Rectangle 23">
              <a:extLst>
                <a:ext uri="{FF2B5EF4-FFF2-40B4-BE49-F238E27FC236}">
                  <a16:creationId xmlns:a16="http://schemas.microsoft.com/office/drawing/2014/main" id="{BBBAEBF8-E545-B74D-9E4E-8CA10626EB09}"/>
                </a:ext>
              </a:extLst>
            </p:cNvPr>
            <p:cNvSpPr>
              <a:spLocks noChangeArrowheads="1"/>
            </p:cNvSpPr>
            <p:nvPr/>
          </p:nvSpPr>
          <p:spPr bwMode="auto">
            <a:xfrm>
              <a:off x="1776"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99" name="Rectangle 24">
              <a:extLst>
                <a:ext uri="{FF2B5EF4-FFF2-40B4-BE49-F238E27FC236}">
                  <a16:creationId xmlns:a16="http://schemas.microsoft.com/office/drawing/2014/main" id="{59EE33AA-C8A3-2F49-95FB-4AC5CCD3F268}"/>
                </a:ext>
              </a:extLst>
            </p:cNvPr>
            <p:cNvSpPr>
              <a:spLocks noChangeArrowheads="1"/>
            </p:cNvSpPr>
            <p:nvPr/>
          </p:nvSpPr>
          <p:spPr bwMode="auto">
            <a:xfrm>
              <a:off x="2352"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00" name="Rectangle 25">
              <a:extLst>
                <a:ext uri="{FF2B5EF4-FFF2-40B4-BE49-F238E27FC236}">
                  <a16:creationId xmlns:a16="http://schemas.microsoft.com/office/drawing/2014/main" id="{B7E36698-7100-CA42-AE32-4065DD48C6AD}"/>
                </a:ext>
              </a:extLst>
            </p:cNvPr>
            <p:cNvSpPr>
              <a:spLocks noChangeArrowheads="1"/>
            </p:cNvSpPr>
            <p:nvPr/>
          </p:nvSpPr>
          <p:spPr bwMode="auto">
            <a:xfrm>
              <a:off x="2928"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01" name="Rectangle 26">
              <a:extLst>
                <a:ext uri="{FF2B5EF4-FFF2-40B4-BE49-F238E27FC236}">
                  <a16:creationId xmlns:a16="http://schemas.microsoft.com/office/drawing/2014/main" id="{C7CBE92F-CD13-2F4F-AE98-DD839DC0988B}"/>
                </a:ext>
              </a:extLst>
            </p:cNvPr>
            <p:cNvSpPr>
              <a:spLocks noChangeArrowheads="1"/>
            </p:cNvSpPr>
            <p:nvPr/>
          </p:nvSpPr>
          <p:spPr bwMode="auto">
            <a:xfrm>
              <a:off x="3504"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02" name="Rectangle 27">
              <a:extLst>
                <a:ext uri="{FF2B5EF4-FFF2-40B4-BE49-F238E27FC236}">
                  <a16:creationId xmlns:a16="http://schemas.microsoft.com/office/drawing/2014/main" id="{DD52ACA4-56FF-F049-8FA6-73C99953679D}"/>
                </a:ext>
              </a:extLst>
            </p:cNvPr>
            <p:cNvSpPr>
              <a:spLocks noChangeArrowheads="1"/>
            </p:cNvSpPr>
            <p:nvPr/>
          </p:nvSpPr>
          <p:spPr bwMode="auto">
            <a:xfrm>
              <a:off x="4080"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grpSp>
        <p:nvGrpSpPr>
          <p:cNvPr id="103" name="Group 28">
            <a:extLst>
              <a:ext uri="{FF2B5EF4-FFF2-40B4-BE49-F238E27FC236}">
                <a16:creationId xmlns:a16="http://schemas.microsoft.com/office/drawing/2014/main" id="{6B5BCBCE-893F-6042-A314-778723B61565}"/>
              </a:ext>
            </a:extLst>
          </p:cNvPr>
          <p:cNvGrpSpPr>
            <a:grpSpLocks/>
          </p:cNvGrpSpPr>
          <p:nvPr/>
        </p:nvGrpSpPr>
        <p:grpSpPr bwMode="auto">
          <a:xfrm>
            <a:off x="7080169" y="4664445"/>
            <a:ext cx="3886200" cy="914400"/>
            <a:chOff x="1920" y="3168"/>
            <a:chExt cx="2448" cy="576"/>
          </a:xfrm>
        </p:grpSpPr>
        <p:sp>
          <p:nvSpPr>
            <p:cNvPr id="104" name="Rectangle 29">
              <a:extLst>
                <a:ext uri="{FF2B5EF4-FFF2-40B4-BE49-F238E27FC236}">
                  <a16:creationId xmlns:a16="http://schemas.microsoft.com/office/drawing/2014/main" id="{F89F88EB-D217-3740-AB7F-84D975F9EA36}"/>
                </a:ext>
              </a:extLst>
            </p:cNvPr>
            <p:cNvSpPr>
              <a:spLocks noChangeArrowheads="1"/>
            </p:cNvSpPr>
            <p:nvPr/>
          </p:nvSpPr>
          <p:spPr bwMode="auto">
            <a:xfrm>
              <a:off x="1920"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05" name="Rectangle 30">
              <a:extLst>
                <a:ext uri="{FF2B5EF4-FFF2-40B4-BE49-F238E27FC236}">
                  <a16:creationId xmlns:a16="http://schemas.microsoft.com/office/drawing/2014/main" id="{E42D2B75-2175-FB4F-A9C6-9BA6E2F118EE}"/>
                </a:ext>
              </a:extLst>
            </p:cNvPr>
            <p:cNvSpPr>
              <a:spLocks noChangeArrowheads="1"/>
            </p:cNvSpPr>
            <p:nvPr/>
          </p:nvSpPr>
          <p:spPr bwMode="auto">
            <a:xfrm>
              <a:off x="2496"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06" name="Rectangle 31">
              <a:extLst>
                <a:ext uri="{FF2B5EF4-FFF2-40B4-BE49-F238E27FC236}">
                  <a16:creationId xmlns:a16="http://schemas.microsoft.com/office/drawing/2014/main" id="{A416A53A-2D17-C44C-B2F8-89A84E2C9747}"/>
                </a:ext>
              </a:extLst>
            </p:cNvPr>
            <p:cNvSpPr>
              <a:spLocks noChangeArrowheads="1"/>
            </p:cNvSpPr>
            <p:nvPr/>
          </p:nvSpPr>
          <p:spPr bwMode="auto">
            <a:xfrm>
              <a:off x="3072"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07" name="Rectangle 32">
              <a:extLst>
                <a:ext uri="{FF2B5EF4-FFF2-40B4-BE49-F238E27FC236}">
                  <a16:creationId xmlns:a16="http://schemas.microsoft.com/office/drawing/2014/main" id="{67CA95C0-B871-CF4F-8ED3-AFB8884C260F}"/>
                </a:ext>
              </a:extLst>
            </p:cNvPr>
            <p:cNvSpPr>
              <a:spLocks noChangeArrowheads="1"/>
            </p:cNvSpPr>
            <p:nvPr/>
          </p:nvSpPr>
          <p:spPr bwMode="auto">
            <a:xfrm>
              <a:off x="3648"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08" name="Rectangle 33">
              <a:extLst>
                <a:ext uri="{FF2B5EF4-FFF2-40B4-BE49-F238E27FC236}">
                  <a16:creationId xmlns:a16="http://schemas.microsoft.com/office/drawing/2014/main" id="{45837EA2-CC92-FF43-A3B1-E57DFC95DD5E}"/>
                </a:ext>
              </a:extLst>
            </p:cNvPr>
            <p:cNvSpPr>
              <a:spLocks noChangeArrowheads="1"/>
            </p:cNvSpPr>
            <p:nvPr/>
          </p:nvSpPr>
          <p:spPr bwMode="auto">
            <a:xfrm>
              <a:off x="4224"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grpSp>
        <p:nvGrpSpPr>
          <p:cNvPr id="109" name="Group 34">
            <a:extLst>
              <a:ext uri="{FF2B5EF4-FFF2-40B4-BE49-F238E27FC236}">
                <a16:creationId xmlns:a16="http://schemas.microsoft.com/office/drawing/2014/main" id="{09E73B34-5A97-9243-8722-C1FF0067894A}"/>
              </a:ext>
            </a:extLst>
          </p:cNvPr>
          <p:cNvGrpSpPr>
            <a:grpSpLocks/>
          </p:cNvGrpSpPr>
          <p:nvPr/>
        </p:nvGrpSpPr>
        <p:grpSpPr bwMode="auto">
          <a:xfrm>
            <a:off x="7308769" y="4664445"/>
            <a:ext cx="3886200" cy="914400"/>
            <a:chOff x="2064" y="3168"/>
            <a:chExt cx="2448" cy="576"/>
          </a:xfrm>
        </p:grpSpPr>
        <p:sp>
          <p:nvSpPr>
            <p:cNvPr id="110" name="Rectangle 35">
              <a:extLst>
                <a:ext uri="{FF2B5EF4-FFF2-40B4-BE49-F238E27FC236}">
                  <a16:creationId xmlns:a16="http://schemas.microsoft.com/office/drawing/2014/main" id="{2542FF38-5DB4-3F4A-ACA4-5714416862B9}"/>
                </a:ext>
              </a:extLst>
            </p:cNvPr>
            <p:cNvSpPr>
              <a:spLocks noChangeArrowheads="1"/>
            </p:cNvSpPr>
            <p:nvPr/>
          </p:nvSpPr>
          <p:spPr bwMode="auto">
            <a:xfrm>
              <a:off x="2064"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11" name="Rectangle 36">
              <a:extLst>
                <a:ext uri="{FF2B5EF4-FFF2-40B4-BE49-F238E27FC236}">
                  <a16:creationId xmlns:a16="http://schemas.microsoft.com/office/drawing/2014/main" id="{11F55AF2-B4EF-DE4D-9828-6C62B6891E4D}"/>
                </a:ext>
              </a:extLst>
            </p:cNvPr>
            <p:cNvSpPr>
              <a:spLocks noChangeArrowheads="1"/>
            </p:cNvSpPr>
            <p:nvPr/>
          </p:nvSpPr>
          <p:spPr bwMode="auto">
            <a:xfrm>
              <a:off x="2640"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12" name="Rectangle 37">
              <a:extLst>
                <a:ext uri="{FF2B5EF4-FFF2-40B4-BE49-F238E27FC236}">
                  <a16:creationId xmlns:a16="http://schemas.microsoft.com/office/drawing/2014/main" id="{F6DBD211-C591-4F40-9D18-FBBD93787218}"/>
                </a:ext>
              </a:extLst>
            </p:cNvPr>
            <p:cNvSpPr>
              <a:spLocks noChangeArrowheads="1"/>
            </p:cNvSpPr>
            <p:nvPr/>
          </p:nvSpPr>
          <p:spPr bwMode="auto">
            <a:xfrm>
              <a:off x="3216"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13" name="Rectangle 38">
              <a:extLst>
                <a:ext uri="{FF2B5EF4-FFF2-40B4-BE49-F238E27FC236}">
                  <a16:creationId xmlns:a16="http://schemas.microsoft.com/office/drawing/2014/main" id="{112356C3-3BBE-504C-B270-A9E8C882CE75}"/>
                </a:ext>
              </a:extLst>
            </p:cNvPr>
            <p:cNvSpPr>
              <a:spLocks noChangeArrowheads="1"/>
            </p:cNvSpPr>
            <p:nvPr/>
          </p:nvSpPr>
          <p:spPr bwMode="auto">
            <a:xfrm>
              <a:off x="3792"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14" name="Rectangle 39">
              <a:extLst>
                <a:ext uri="{FF2B5EF4-FFF2-40B4-BE49-F238E27FC236}">
                  <a16:creationId xmlns:a16="http://schemas.microsoft.com/office/drawing/2014/main" id="{67D5E6EF-1805-AF4F-A945-1E53D6A09AA4}"/>
                </a:ext>
              </a:extLst>
            </p:cNvPr>
            <p:cNvSpPr>
              <a:spLocks noChangeArrowheads="1"/>
            </p:cNvSpPr>
            <p:nvPr/>
          </p:nvSpPr>
          <p:spPr bwMode="auto">
            <a:xfrm>
              <a:off x="4368"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grpSp>
        <p:nvGrpSpPr>
          <p:cNvPr id="115" name="Group 40">
            <a:extLst>
              <a:ext uri="{FF2B5EF4-FFF2-40B4-BE49-F238E27FC236}">
                <a16:creationId xmlns:a16="http://schemas.microsoft.com/office/drawing/2014/main" id="{F22CF311-F4BD-A94C-8199-EA46277CD3BD}"/>
              </a:ext>
            </a:extLst>
          </p:cNvPr>
          <p:cNvGrpSpPr>
            <a:grpSpLocks/>
          </p:cNvGrpSpPr>
          <p:nvPr/>
        </p:nvGrpSpPr>
        <p:grpSpPr bwMode="auto">
          <a:xfrm>
            <a:off x="7537369" y="4664445"/>
            <a:ext cx="3886200" cy="914400"/>
            <a:chOff x="2208" y="3168"/>
            <a:chExt cx="2448" cy="576"/>
          </a:xfrm>
        </p:grpSpPr>
        <p:sp>
          <p:nvSpPr>
            <p:cNvPr id="116" name="Rectangle 41">
              <a:extLst>
                <a:ext uri="{FF2B5EF4-FFF2-40B4-BE49-F238E27FC236}">
                  <a16:creationId xmlns:a16="http://schemas.microsoft.com/office/drawing/2014/main" id="{9CA27E85-835D-3C49-BA35-113312016E85}"/>
                </a:ext>
              </a:extLst>
            </p:cNvPr>
            <p:cNvSpPr>
              <a:spLocks noChangeArrowheads="1"/>
            </p:cNvSpPr>
            <p:nvPr/>
          </p:nvSpPr>
          <p:spPr bwMode="auto">
            <a:xfrm>
              <a:off x="2208"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17" name="Rectangle 42">
              <a:extLst>
                <a:ext uri="{FF2B5EF4-FFF2-40B4-BE49-F238E27FC236}">
                  <a16:creationId xmlns:a16="http://schemas.microsoft.com/office/drawing/2014/main" id="{16F4D2FA-3645-4546-8BD7-73B7C728BB6B}"/>
                </a:ext>
              </a:extLst>
            </p:cNvPr>
            <p:cNvSpPr>
              <a:spLocks noChangeArrowheads="1"/>
            </p:cNvSpPr>
            <p:nvPr/>
          </p:nvSpPr>
          <p:spPr bwMode="auto">
            <a:xfrm>
              <a:off x="2784"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18" name="Rectangle 43">
              <a:extLst>
                <a:ext uri="{FF2B5EF4-FFF2-40B4-BE49-F238E27FC236}">
                  <a16:creationId xmlns:a16="http://schemas.microsoft.com/office/drawing/2014/main" id="{DFE6A11C-37DF-D847-B587-29A412FF7F86}"/>
                </a:ext>
              </a:extLst>
            </p:cNvPr>
            <p:cNvSpPr>
              <a:spLocks noChangeArrowheads="1"/>
            </p:cNvSpPr>
            <p:nvPr/>
          </p:nvSpPr>
          <p:spPr bwMode="auto">
            <a:xfrm>
              <a:off x="3360"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19" name="Rectangle 44">
              <a:extLst>
                <a:ext uri="{FF2B5EF4-FFF2-40B4-BE49-F238E27FC236}">
                  <a16:creationId xmlns:a16="http://schemas.microsoft.com/office/drawing/2014/main" id="{3A806C1E-DAB0-304C-9DA3-A3E26591D015}"/>
                </a:ext>
              </a:extLst>
            </p:cNvPr>
            <p:cNvSpPr>
              <a:spLocks noChangeArrowheads="1"/>
            </p:cNvSpPr>
            <p:nvPr/>
          </p:nvSpPr>
          <p:spPr bwMode="auto">
            <a:xfrm>
              <a:off x="3936"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20" name="Rectangle 45">
              <a:extLst>
                <a:ext uri="{FF2B5EF4-FFF2-40B4-BE49-F238E27FC236}">
                  <a16:creationId xmlns:a16="http://schemas.microsoft.com/office/drawing/2014/main" id="{8DB6DFAA-D4E8-9F49-8C65-FFB57B6EA947}"/>
                </a:ext>
              </a:extLst>
            </p:cNvPr>
            <p:cNvSpPr>
              <a:spLocks noChangeArrowheads="1"/>
            </p:cNvSpPr>
            <p:nvPr/>
          </p:nvSpPr>
          <p:spPr bwMode="auto">
            <a:xfrm>
              <a:off x="4512"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grpSp>
        <p:nvGrpSpPr>
          <p:cNvPr id="121" name="Group 46">
            <a:extLst>
              <a:ext uri="{FF2B5EF4-FFF2-40B4-BE49-F238E27FC236}">
                <a16:creationId xmlns:a16="http://schemas.microsoft.com/office/drawing/2014/main" id="{E2514980-7513-C04A-B9E9-8CAF43AA2E98}"/>
              </a:ext>
            </a:extLst>
          </p:cNvPr>
          <p:cNvGrpSpPr>
            <a:grpSpLocks/>
          </p:cNvGrpSpPr>
          <p:nvPr/>
        </p:nvGrpSpPr>
        <p:grpSpPr bwMode="auto">
          <a:xfrm>
            <a:off x="6851569" y="2667370"/>
            <a:ext cx="4572000" cy="457200"/>
            <a:chOff x="1776" y="1728"/>
            <a:chExt cx="2880" cy="288"/>
          </a:xfrm>
        </p:grpSpPr>
        <p:sp>
          <p:nvSpPr>
            <p:cNvPr id="122" name="Line 47">
              <a:extLst>
                <a:ext uri="{FF2B5EF4-FFF2-40B4-BE49-F238E27FC236}">
                  <a16:creationId xmlns:a16="http://schemas.microsoft.com/office/drawing/2014/main" id="{A784622D-6C6C-6A4B-86EF-6E226EE57A84}"/>
                </a:ext>
              </a:extLst>
            </p:cNvPr>
            <p:cNvSpPr>
              <a:spLocks noChangeShapeType="1"/>
            </p:cNvSpPr>
            <p:nvPr/>
          </p:nvSpPr>
          <p:spPr bwMode="auto">
            <a:xfrm flipV="1">
              <a:off x="1776" y="1728"/>
              <a:ext cx="28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23" name="Line 48">
              <a:extLst>
                <a:ext uri="{FF2B5EF4-FFF2-40B4-BE49-F238E27FC236}">
                  <a16:creationId xmlns:a16="http://schemas.microsoft.com/office/drawing/2014/main" id="{E44DC6CB-5B3D-AF40-B675-B9A9AE36771B}"/>
                </a:ext>
              </a:extLst>
            </p:cNvPr>
            <p:cNvSpPr>
              <a:spLocks noChangeShapeType="1"/>
            </p:cNvSpPr>
            <p:nvPr/>
          </p:nvSpPr>
          <p:spPr bwMode="auto">
            <a:xfrm flipV="1">
              <a:off x="1776" y="1872"/>
              <a:ext cx="28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24" name="Line 49">
              <a:extLst>
                <a:ext uri="{FF2B5EF4-FFF2-40B4-BE49-F238E27FC236}">
                  <a16:creationId xmlns:a16="http://schemas.microsoft.com/office/drawing/2014/main" id="{4151DE66-5E96-0C4C-9749-3B0424C165BD}"/>
                </a:ext>
              </a:extLst>
            </p:cNvPr>
            <p:cNvSpPr>
              <a:spLocks noChangeShapeType="1"/>
            </p:cNvSpPr>
            <p:nvPr/>
          </p:nvSpPr>
          <p:spPr bwMode="auto">
            <a:xfrm flipV="1">
              <a:off x="1776" y="2016"/>
              <a:ext cx="28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grpSp>
      <p:grpSp>
        <p:nvGrpSpPr>
          <p:cNvPr id="125" name="Group 50">
            <a:extLst>
              <a:ext uri="{FF2B5EF4-FFF2-40B4-BE49-F238E27FC236}">
                <a16:creationId xmlns:a16="http://schemas.microsoft.com/office/drawing/2014/main" id="{2F7FB34F-2B8D-FD4E-A40A-520FC72B6836}"/>
              </a:ext>
            </a:extLst>
          </p:cNvPr>
          <p:cNvGrpSpPr>
            <a:grpSpLocks/>
          </p:cNvGrpSpPr>
          <p:nvPr/>
        </p:nvGrpSpPr>
        <p:grpSpPr bwMode="auto">
          <a:xfrm>
            <a:off x="7080169" y="4664445"/>
            <a:ext cx="4114800" cy="914400"/>
            <a:chOff x="1920" y="3168"/>
            <a:chExt cx="2592" cy="576"/>
          </a:xfrm>
        </p:grpSpPr>
        <p:sp>
          <p:nvSpPr>
            <p:cNvPr id="126" name="Line 51">
              <a:extLst>
                <a:ext uri="{FF2B5EF4-FFF2-40B4-BE49-F238E27FC236}">
                  <a16:creationId xmlns:a16="http://schemas.microsoft.com/office/drawing/2014/main" id="{1A7B9A9A-8D34-5949-AB73-2752D4ADA49D}"/>
                </a:ext>
              </a:extLst>
            </p:cNvPr>
            <p:cNvSpPr>
              <a:spLocks noChangeShapeType="1"/>
            </p:cNvSpPr>
            <p:nvPr/>
          </p:nvSpPr>
          <p:spPr bwMode="auto">
            <a:xfrm>
              <a:off x="192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27" name="Line 52">
              <a:extLst>
                <a:ext uri="{FF2B5EF4-FFF2-40B4-BE49-F238E27FC236}">
                  <a16:creationId xmlns:a16="http://schemas.microsoft.com/office/drawing/2014/main" id="{7825394C-BA9E-F14A-A06B-B4D1F2AB7356}"/>
                </a:ext>
              </a:extLst>
            </p:cNvPr>
            <p:cNvSpPr>
              <a:spLocks noChangeShapeType="1"/>
            </p:cNvSpPr>
            <p:nvPr/>
          </p:nvSpPr>
          <p:spPr bwMode="auto">
            <a:xfrm>
              <a:off x="206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28" name="Line 53">
              <a:extLst>
                <a:ext uri="{FF2B5EF4-FFF2-40B4-BE49-F238E27FC236}">
                  <a16:creationId xmlns:a16="http://schemas.microsoft.com/office/drawing/2014/main" id="{04DEEC0C-6538-134B-857D-2D0EDB5AEE12}"/>
                </a:ext>
              </a:extLst>
            </p:cNvPr>
            <p:cNvSpPr>
              <a:spLocks noChangeShapeType="1"/>
            </p:cNvSpPr>
            <p:nvPr/>
          </p:nvSpPr>
          <p:spPr bwMode="auto">
            <a:xfrm>
              <a:off x="220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29" name="Line 54">
              <a:extLst>
                <a:ext uri="{FF2B5EF4-FFF2-40B4-BE49-F238E27FC236}">
                  <a16:creationId xmlns:a16="http://schemas.microsoft.com/office/drawing/2014/main" id="{A3FD5517-6B59-D84A-A3A5-B4E25A0D742B}"/>
                </a:ext>
              </a:extLst>
            </p:cNvPr>
            <p:cNvSpPr>
              <a:spLocks noChangeShapeType="1"/>
            </p:cNvSpPr>
            <p:nvPr/>
          </p:nvSpPr>
          <p:spPr bwMode="auto">
            <a:xfrm>
              <a:off x="235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0" name="Line 55">
              <a:extLst>
                <a:ext uri="{FF2B5EF4-FFF2-40B4-BE49-F238E27FC236}">
                  <a16:creationId xmlns:a16="http://schemas.microsoft.com/office/drawing/2014/main" id="{8BFF1C13-9DA1-9B4D-9F10-1F66A8810946}"/>
                </a:ext>
              </a:extLst>
            </p:cNvPr>
            <p:cNvSpPr>
              <a:spLocks noChangeShapeType="1"/>
            </p:cNvSpPr>
            <p:nvPr/>
          </p:nvSpPr>
          <p:spPr bwMode="auto">
            <a:xfrm>
              <a:off x="2496"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1" name="Line 56">
              <a:extLst>
                <a:ext uri="{FF2B5EF4-FFF2-40B4-BE49-F238E27FC236}">
                  <a16:creationId xmlns:a16="http://schemas.microsoft.com/office/drawing/2014/main" id="{B0486BD1-B653-EC4B-BC49-7487964A649C}"/>
                </a:ext>
              </a:extLst>
            </p:cNvPr>
            <p:cNvSpPr>
              <a:spLocks noChangeShapeType="1"/>
            </p:cNvSpPr>
            <p:nvPr/>
          </p:nvSpPr>
          <p:spPr bwMode="auto">
            <a:xfrm>
              <a:off x="264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2" name="Line 57">
              <a:extLst>
                <a:ext uri="{FF2B5EF4-FFF2-40B4-BE49-F238E27FC236}">
                  <a16:creationId xmlns:a16="http://schemas.microsoft.com/office/drawing/2014/main" id="{A5505908-88D5-4A4D-BD8D-DC8F998AEBBA}"/>
                </a:ext>
              </a:extLst>
            </p:cNvPr>
            <p:cNvSpPr>
              <a:spLocks noChangeShapeType="1"/>
            </p:cNvSpPr>
            <p:nvPr/>
          </p:nvSpPr>
          <p:spPr bwMode="auto">
            <a:xfrm>
              <a:off x="278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3" name="Line 58">
              <a:extLst>
                <a:ext uri="{FF2B5EF4-FFF2-40B4-BE49-F238E27FC236}">
                  <a16:creationId xmlns:a16="http://schemas.microsoft.com/office/drawing/2014/main" id="{CFE3069F-00E3-F94B-9EF4-7F602081FFC3}"/>
                </a:ext>
              </a:extLst>
            </p:cNvPr>
            <p:cNvSpPr>
              <a:spLocks noChangeShapeType="1"/>
            </p:cNvSpPr>
            <p:nvPr/>
          </p:nvSpPr>
          <p:spPr bwMode="auto">
            <a:xfrm>
              <a:off x="292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4" name="Line 59">
              <a:extLst>
                <a:ext uri="{FF2B5EF4-FFF2-40B4-BE49-F238E27FC236}">
                  <a16:creationId xmlns:a16="http://schemas.microsoft.com/office/drawing/2014/main" id="{3E3FF99A-7088-874C-86FF-E8E923BC8856}"/>
                </a:ext>
              </a:extLst>
            </p:cNvPr>
            <p:cNvSpPr>
              <a:spLocks noChangeShapeType="1"/>
            </p:cNvSpPr>
            <p:nvPr/>
          </p:nvSpPr>
          <p:spPr bwMode="auto">
            <a:xfrm>
              <a:off x="307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5" name="Line 60">
              <a:extLst>
                <a:ext uri="{FF2B5EF4-FFF2-40B4-BE49-F238E27FC236}">
                  <a16:creationId xmlns:a16="http://schemas.microsoft.com/office/drawing/2014/main" id="{9A1084A3-A397-4443-B4A1-8A048966E85B}"/>
                </a:ext>
              </a:extLst>
            </p:cNvPr>
            <p:cNvSpPr>
              <a:spLocks noChangeShapeType="1"/>
            </p:cNvSpPr>
            <p:nvPr/>
          </p:nvSpPr>
          <p:spPr bwMode="auto">
            <a:xfrm>
              <a:off x="3216"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6" name="Line 61">
              <a:extLst>
                <a:ext uri="{FF2B5EF4-FFF2-40B4-BE49-F238E27FC236}">
                  <a16:creationId xmlns:a16="http://schemas.microsoft.com/office/drawing/2014/main" id="{9ADDC058-5058-BE44-A0F5-D0DDA33CE284}"/>
                </a:ext>
              </a:extLst>
            </p:cNvPr>
            <p:cNvSpPr>
              <a:spLocks noChangeShapeType="1"/>
            </p:cNvSpPr>
            <p:nvPr/>
          </p:nvSpPr>
          <p:spPr bwMode="auto">
            <a:xfrm>
              <a:off x="336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7" name="Line 62">
              <a:extLst>
                <a:ext uri="{FF2B5EF4-FFF2-40B4-BE49-F238E27FC236}">
                  <a16:creationId xmlns:a16="http://schemas.microsoft.com/office/drawing/2014/main" id="{BD24B7F5-455A-0C43-B9F0-FB3B946FE303}"/>
                </a:ext>
              </a:extLst>
            </p:cNvPr>
            <p:cNvSpPr>
              <a:spLocks noChangeShapeType="1"/>
            </p:cNvSpPr>
            <p:nvPr/>
          </p:nvSpPr>
          <p:spPr bwMode="auto">
            <a:xfrm>
              <a:off x="350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8" name="Line 63">
              <a:extLst>
                <a:ext uri="{FF2B5EF4-FFF2-40B4-BE49-F238E27FC236}">
                  <a16:creationId xmlns:a16="http://schemas.microsoft.com/office/drawing/2014/main" id="{988F36F5-7D31-804E-962A-423F649F92CC}"/>
                </a:ext>
              </a:extLst>
            </p:cNvPr>
            <p:cNvSpPr>
              <a:spLocks noChangeShapeType="1"/>
            </p:cNvSpPr>
            <p:nvPr/>
          </p:nvSpPr>
          <p:spPr bwMode="auto">
            <a:xfrm>
              <a:off x="364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39" name="Line 64">
              <a:extLst>
                <a:ext uri="{FF2B5EF4-FFF2-40B4-BE49-F238E27FC236}">
                  <a16:creationId xmlns:a16="http://schemas.microsoft.com/office/drawing/2014/main" id="{D7B989E8-2587-7643-9382-D33D3F44B421}"/>
                </a:ext>
              </a:extLst>
            </p:cNvPr>
            <p:cNvSpPr>
              <a:spLocks noChangeShapeType="1"/>
            </p:cNvSpPr>
            <p:nvPr/>
          </p:nvSpPr>
          <p:spPr bwMode="auto">
            <a:xfrm>
              <a:off x="379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0" name="Line 65">
              <a:extLst>
                <a:ext uri="{FF2B5EF4-FFF2-40B4-BE49-F238E27FC236}">
                  <a16:creationId xmlns:a16="http://schemas.microsoft.com/office/drawing/2014/main" id="{E0D29195-E5A5-7342-B97D-15428877E0E5}"/>
                </a:ext>
              </a:extLst>
            </p:cNvPr>
            <p:cNvSpPr>
              <a:spLocks noChangeShapeType="1"/>
            </p:cNvSpPr>
            <p:nvPr/>
          </p:nvSpPr>
          <p:spPr bwMode="auto">
            <a:xfrm>
              <a:off x="3936"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1" name="Line 66">
              <a:extLst>
                <a:ext uri="{FF2B5EF4-FFF2-40B4-BE49-F238E27FC236}">
                  <a16:creationId xmlns:a16="http://schemas.microsoft.com/office/drawing/2014/main" id="{DB60A569-3391-0245-957A-8BD0C4704AC6}"/>
                </a:ext>
              </a:extLst>
            </p:cNvPr>
            <p:cNvSpPr>
              <a:spLocks noChangeShapeType="1"/>
            </p:cNvSpPr>
            <p:nvPr/>
          </p:nvSpPr>
          <p:spPr bwMode="auto">
            <a:xfrm>
              <a:off x="408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2" name="Line 67">
              <a:extLst>
                <a:ext uri="{FF2B5EF4-FFF2-40B4-BE49-F238E27FC236}">
                  <a16:creationId xmlns:a16="http://schemas.microsoft.com/office/drawing/2014/main" id="{2B1AB277-061D-9241-9AB6-1B95D3D21F0E}"/>
                </a:ext>
              </a:extLst>
            </p:cNvPr>
            <p:cNvSpPr>
              <a:spLocks noChangeShapeType="1"/>
            </p:cNvSpPr>
            <p:nvPr/>
          </p:nvSpPr>
          <p:spPr bwMode="auto">
            <a:xfrm>
              <a:off x="422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3" name="Line 68">
              <a:extLst>
                <a:ext uri="{FF2B5EF4-FFF2-40B4-BE49-F238E27FC236}">
                  <a16:creationId xmlns:a16="http://schemas.microsoft.com/office/drawing/2014/main" id="{40920297-470B-0146-A370-C189FFDE7A5C}"/>
                </a:ext>
              </a:extLst>
            </p:cNvPr>
            <p:cNvSpPr>
              <a:spLocks noChangeShapeType="1"/>
            </p:cNvSpPr>
            <p:nvPr/>
          </p:nvSpPr>
          <p:spPr bwMode="auto">
            <a:xfrm>
              <a:off x="436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4" name="Line 69">
              <a:extLst>
                <a:ext uri="{FF2B5EF4-FFF2-40B4-BE49-F238E27FC236}">
                  <a16:creationId xmlns:a16="http://schemas.microsoft.com/office/drawing/2014/main" id="{2E53AA1C-6679-674A-95BC-86F53DDA0E31}"/>
                </a:ext>
              </a:extLst>
            </p:cNvPr>
            <p:cNvSpPr>
              <a:spLocks noChangeShapeType="1"/>
            </p:cNvSpPr>
            <p:nvPr/>
          </p:nvSpPr>
          <p:spPr bwMode="auto">
            <a:xfrm>
              <a:off x="451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grpSp>
      <p:grpSp>
        <p:nvGrpSpPr>
          <p:cNvPr id="145" name="Group 70">
            <a:extLst>
              <a:ext uri="{FF2B5EF4-FFF2-40B4-BE49-F238E27FC236}">
                <a16:creationId xmlns:a16="http://schemas.microsoft.com/office/drawing/2014/main" id="{D19EB7AC-F070-3541-A86A-2FC1DD8534B1}"/>
              </a:ext>
            </a:extLst>
          </p:cNvPr>
          <p:cNvGrpSpPr>
            <a:grpSpLocks/>
          </p:cNvGrpSpPr>
          <p:nvPr/>
        </p:nvGrpSpPr>
        <p:grpSpPr bwMode="auto">
          <a:xfrm>
            <a:off x="6851569" y="2553070"/>
            <a:ext cx="4572000" cy="685800"/>
            <a:chOff x="1776" y="1656"/>
            <a:chExt cx="2880" cy="432"/>
          </a:xfrm>
        </p:grpSpPr>
        <p:sp>
          <p:nvSpPr>
            <p:cNvPr id="146" name="Line 71">
              <a:extLst>
                <a:ext uri="{FF2B5EF4-FFF2-40B4-BE49-F238E27FC236}">
                  <a16:creationId xmlns:a16="http://schemas.microsoft.com/office/drawing/2014/main" id="{6E37DADC-C96A-3646-99F6-13289A67B34A}"/>
                </a:ext>
              </a:extLst>
            </p:cNvPr>
            <p:cNvSpPr>
              <a:spLocks noChangeShapeType="1"/>
            </p:cNvSpPr>
            <p:nvPr/>
          </p:nvSpPr>
          <p:spPr bwMode="auto">
            <a:xfrm>
              <a:off x="1776" y="1656"/>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7" name="Line 72">
              <a:extLst>
                <a:ext uri="{FF2B5EF4-FFF2-40B4-BE49-F238E27FC236}">
                  <a16:creationId xmlns:a16="http://schemas.microsoft.com/office/drawing/2014/main" id="{9AEF30A0-08E3-0C49-BDD0-62773AC6873D}"/>
                </a:ext>
              </a:extLst>
            </p:cNvPr>
            <p:cNvSpPr>
              <a:spLocks noChangeShapeType="1"/>
            </p:cNvSpPr>
            <p:nvPr/>
          </p:nvSpPr>
          <p:spPr bwMode="auto">
            <a:xfrm>
              <a:off x="1776" y="1800"/>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8" name="Line 73">
              <a:extLst>
                <a:ext uri="{FF2B5EF4-FFF2-40B4-BE49-F238E27FC236}">
                  <a16:creationId xmlns:a16="http://schemas.microsoft.com/office/drawing/2014/main" id="{65F2C750-C340-7D41-86F3-6C02B72E37A2}"/>
                </a:ext>
              </a:extLst>
            </p:cNvPr>
            <p:cNvSpPr>
              <a:spLocks noChangeShapeType="1"/>
            </p:cNvSpPr>
            <p:nvPr/>
          </p:nvSpPr>
          <p:spPr bwMode="auto">
            <a:xfrm>
              <a:off x="1776" y="1944"/>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9" name="Line 74">
              <a:extLst>
                <a:ext uri="{FF2B5EF4-FFF2-40B4-BE49-F238E27FC236}">
                  <a16:creationId xmlns:a16="http://schemas.microsoft.com/office/drawing/2014/main" id="{6F3372A0-CEED-B147-B45A-1120494E9CED}"/>
                </a:ext>
              </a:extLst>
            </p:cNvPr>
            <p:cNvSpPr>
              <a:spLocks noChangeShapeType="1"/>
            </p:cNvSpPr>
            <p:nvPr/>
          </p:nvSpPr>
          <p:spPr bwMode="auto">
            <a:xfrm>
              <a:off x="1776" y="2088"/>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grpSp>
      <p:grpSp>
        <p:nvGrpSpPr>
          <p:cNvPr id="150" name="Group 75">
            <a:extLst>
              <a:ext uri="{FF2B5EF4-FFF2-40B4-BE49-F238E27FC236}">
                <a16:creationId xmlns:a16="http://schemas.microsoft.com/office/drawing/2014/main" id="{EF82690A-0023-7E4C-AF5F-2DE149F5C0AB}"/>
              </a:ext>
            </a:extLst>
          </p:cNvPr>
          <p:cNvGrpSpPr>
            <a:grpSpLocks/>
          </p:cNvGrpSpPr>
          <p:nvPr/>
        </p:nvGrpSpPr>
        <p:grpSpPr bwMode="auto">
          <a:xfrm>
            <a:off x="6965869" y="4664445"/>
            <a:ext cx="4343400" cy="914400"/>
            <a:chOff x="1848" y="3168"/>
            <a:chExt cx="2736" cy="576"/>
          </a:xfrm>
        </p:grpSpPr>
        <p:sp>
          <p:nvSpPr>
            <p:cNvPr id="151" name="Line 76">
              <a:extLst>
                <a:ext uri="{FF2B5EF4-FFF2-40B4-BE49-F238E27FC236}">
                  <a16:creationId xmlns:a16="http://schemas.microsoft.com/office/drawing/2014/main" id="{FA56D6B6-D7AC-2446-9EB2-EB6FACCEDD60}"/>
                </a:ext>
              </a:extLst>
            </p:cNvPr>
            <p:cNvSpPr>
              <a:spLocks noChangeShapeType="1"/>
            </p:cNvSpPr>
            <p:nvPr/>
          </p:nvSpPr>
          <p:spPr bwMode="auto">
            <a:xfrm>
              <a:off x="184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2" name="Line 77">
              <a:extLst>
                <a:ext uri="{FF2B5EF4-FFF2-40B4-BE49-F238E27FC236}">
                  <a16:creationId xmlns:a16="http://schemas.microsoft.com/office/drawing/2014/main" id="{36AF57AE-AC33-5743-977A-0D788D552EE8}"/>
                </a:ext>
              </a:extLst>
            </p:cNvPr>
            <p:cNvSpPr>
              <a:spLocks noChangeShapeType="1"/>
            </p:cNvSpPr>
            <p:nvPr/>
          </p:nvSpPr>
          <p:spPr bwMode="auto">
            <a:xfrm>
              <a:off x="199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3" name="Line 78">
              <a:extLst>
                <a:ext uri="{FF2B5EF4-FFF2-40B4-BE49-F238E27FC236}">
                  <a16:creationId xmlns:a16="http://schemas.microsoft.com/office/drawing/2014/main" id="{536A2FE1-8849-7541-AF15-E745915BB3B6}"/>
                </a:ext>
              </a:extLst>
            </p:cNvPr>
            <p:cNvSpPr>
              <a:spLocks noChangeShapeType="1"/>
            </p:cNvSpPr>
            <p:nvPr/>
          </p:nvSpPr>
          <p:spPr bwMode="auto">
            <a:xfrm>
              <a:off x="213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4" name="Line 79">
              <a:extLst>
                <a:ext uri="{FF2B5EF4-FFF2-40B4-BE49-F238E27FC236}">
                  <a16:creationId xmlns:a16="http://schemas.microsoft.com/office/drawing/2014/main" id="{BF60E069-76E5-034E-ABF6-9DB38E5F4136}"/>
                </a:ext>
              </a:extLst>
            </p:cNvPr>
            <p:cNvSpPr>
              <a:spLocks noChangeShapeType="1"/>
            </p:cNvSpPr>
            <p:nvPr/>
          </p:nvSpPr>
          <p:spPr bwMode="auto">
            <a:xfrm>
              <a:off x="228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5" name="Line 80">
              <a:extLst>
                <a:ext uri="{FF2B5EF4-FFF2-40B4-BE49-F238E27FC236}">
                  <a16:creationId xmlns:a16="http://schemas.microsoft.com/office/drawing/2014/main" id="{E0357BEA-8C5A-0243-B035-D32F921C0349}"/>
                </a:ext>
              </a:extLst>
            </p:cNvPr>
            <p:cNvSpPr>
              <a:spLocks noChangeShapeType="1"/>
            </p:cNvSpPr>
            <p:nvPr/>
          </p:nvSpPr>
          <p:spPr bwMode="auto">
            <a:xfrm>
              <a:off x="242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6" name="Line 81">
              <a:extLst>
                <a:ext uri="{FF2B5EF4-FFF2-40B4-BE49-F238E27FC236}">
                  <a16:creationId xmlns:a16="http://schemas.microsoft.com/office/drawing/2014/main" id="{2F1CCECE-F3ED-3042-9569-AD742E3CC9CB}"/>
                </a:ext>
              </a:extLst>
            </p:cNvPr>
            <p:cNvSpPr>
              <a:spLocks noChangeShapeType="1"/>
            </p:cNvSpPr>
            <p:nvPr/>
          </p:nvSpPr>
          <p:spPr bwMode="auto">
            <a:xfrm>
              <a:off x="256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7" name="Line 82">
              <a:extLst>
                <a:ext uri="{FF2B5EF4-FFF2-40B4-BE49-F238E27FC236}">
                  <a16:creationId xmlns:a16="http://schemas.microsoft.com/office/drawing/2014/main" id="{6537DA24-A159-1745-BB09-C376284BC170}"/>
                </a:ext>
              </a:extLst>
            </p:cNvPr>
            <p:cNvSpPr>
              <a:spLocks noChangeShapeType="1"/>
            </p:cNvSpPr>
            <p:nvPr/>
          </p:nvSpPr>
          <p:spPr bwMode="auto">
            <a:xfrm>
              <a:off x="271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8" name="Line 83">
              <a:extLst>
                <a:ext uri="{FF2B5EF4-FFF2-40B4-BE49-F238E27FC236}">
                  <a16:creationId xmlns:a16="http://schemas.microsoft.com/office/drawing/2014/main" id="{303471D4-2AB8-EB47-A820-9F719A96238D}"/>
                </a:ext>
              </a:extLst>
            </p:cNvPr>
            <p:cNvSpPr>
              <a:spLocks noChangeShapeType="1"/>
            </p:cNvSpPr>
            <p:nvPr/>
          </p:nvSpPr>
          <p:spPr bwMode="auto">
            <a:xfrm>
              <a:off x="285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9" name="Line 84">
              <a:extLst>
                <a:ext uri="{FF2B5EF4-FFF2-40B4-BE49-F238E27FC236}">
                  <a16:creationId xmlns:a16="http://schemas.microsoft.com/office/drawing/2014/main" id="{AB7E2F6A-D6E8-6F44-A130-F6AAF3FAD12C}"/>
                </a:ext>
              </a:extLst>
            </p:cNvPr>
            <p:cNvSpPr>
              <a:spLocks noChangeShapeType="1"/>
            </p:cNvSpPr>
            <p:nvPr/>
          </p:nvSpPr>
          <p:spPr bwMode="auto">
            <a:xfrm>
              <a:off x="300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0" name="Line 85">
              <a:extLst>
                <a:ext uri="{FF2B5EF4-FFF2-40B4-BE49-F238E27FC236}">
                  <a16:creationId xmlns:a16="http://schemas.microsoft.com/office/drawing/2014/main" id="{0B0C4A91-41A5-FA42-BE40-E539FE5A8783}"/>
                </a:ext>
              </a:extLst>
            </p:cNvPr>
            <p:cNvSpPr>
              <a:spLocks noChangeShapeType="1"/>
            </p:cNvSpPr>
            <p:nvPr/>
          </p:nvSpPr>
          <p:spPr bwMode="auto">
            <a:xfrm>
              <a:off x="314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1" name="Line 86">
              <a:extLst>
                <a:ext uri="{FF2B5EF4-FFF2-40B4-BE49-F238E27FC236}">
                  <a16:creationId xmlns:a16="http://schemas.microsoft.com/office/drawing/2014/main" id="{DD647FB7-E777-BB4A-836C-1230EB25B394}"/>
                </a:ext>
              </a:extLst>
            </p:cNvPr>
            <p:cNvSpPr>
              <a:spLocks noChangeShapeType="1"/>
            </p:cNvSpPr>
            <p:nvPr/>
          </p:nvSpPr>
          <p:spPr bwMode="auto">
            <a:xfrm>
              <a:off x="328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2" name="Line 87">
              <a:extLst>
                <a:ext uri="{FF2B5EF4-FFF2-40B4-BE49-F238E27FC236}">
                  <a16:creationId xmlns:a16="http://schemas.microsoft.com/office/drawing/2014/main" id="{B46CA734-72CB-EB46-9BCA-BE4B2E9923D5}"/>
                </a:ext>
              </a:extLst>
            </p:cNvPr>
            <p:cNvSpPr>
              <a:spLocks noChangeShapeType="1"/>
            </p:cNvSpPr>
            <p:nvPr/>
          </p:nvSpPr>
          <p:spPr bwMode="auto">
            <a:xfrm>
              <a:off x="343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3" name="Line 88">
              <a:extLst>
                <a:ext uri="{FF2B5EF4-FFF2-40B4-BE49-F238E27FC236}">
                  <a16:creationId xmlns:a16="http://schemas.microsoft.com/office/drawing/2014/main" id="{F17A8327-BB1C-CC47-BBF6-C0A0C792F95A}"/>
                </a:ext>
              </a:extLst>
            </p:cNvPr>
            <p:cNvSpPr>
              <a:spLocks noChangeShapeType="1"/>
            </p:cNvSpPr>
            <p:nvPr/>
          </p:nvSpPr>
          <p:spPr bwMode="auto">
            <a:xfrm>
              <a:off x="357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4" name="Line 89">
              <a:extLst>
                <a:ext uri="{FF2B5EF4-FFF2-40B4-BE49-F238E27FC236}">
                  <a16:creationId xmlns:a16="http://schemas.microsoft.com/office/drawing/2014/main" id="{1BC1688D-7618-5D4F-BD03-7A37B9CFF804}"/>
                </a:ext>
              </a:extLst>
            </p:cNvPr>
            <p:cNvSpPr>
              <a:spLocks noChangeShapeType="1"/>
            </p:cNvSpPr>
            <p:nvPr/>
          </p:nvSpPr>
          <p:spPr bwMode="auto">
            <a:xfrm>
              <a:off x="372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5" name="Line 90">
              <a:extLst>
                <a:ext uri="{FF2B5EF4-FFF2-40B4-BE49-F238E27FC236}">
                  <a16:creationId xmlns:a16="http://schemas.microsoft.com/office/drawing/2014/main" id="{BD97D86A-A445-8440-8450-03DEF32A60FC}"/>
                </a:ext>
              </a:extLst>
            </p:cNvPr>
            <p:cNvSpPr>
              <a:spLocks noChangeShapeType="1"/>
            </p:cNvSpPr>
            <p:nvPr/>
          </p:nvSpPr>
          <p:spPr bwMode="auto">
            <a:xfrm>
              <a:off x="386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6" name="Line 91">
              <a:extLst>
                <a:ext uri="{FF2B5EF4-FFF2-40B4-BE49-F238E27FC236}">
                  <a16:creationId xmlns:a16="http://schemas.microsoft.com/office/drawing/2014/main" id="{61EAFA7A-D8BF-3B4F-A70F-B795CC3B2540}"/>
                </a:ext>
              </a:extLst>
            </p:cNvPr>
            <p:cNvSpPr>
              <a:spLocks noChangeShapeType="1"/>
            </p:cNvSpPr>
            <p:nvPr/>
          </p:nvSpPr>
          <p:spPr bwMode="auto">
            <a:xfrm>
              <a:off x="400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7" name="Line 92">
              <a:extLst>
                <a:ext uri="{FF2B5EF4-FFF2-40B4-BE49-F238E27FC236}">
                  <a16:creationId xmlns:a16="http://schemas.microsoft.com/office/drawing/2014/main" id="{AC990DC1-801B-2140-9598-DC3E006E7B2F}"/>
                </a:ext>
              </a:extLst>
            </p:cNvPr>
            <p:cNvSpPr>
              <a:spLocks noChangeShapeType="1"/>
            </p:cNvSpPr>
            <p:nvPr/>
          </p:nvSpPr>
          <p:spPr bwMode="auto">
            <a:xfrm>
              <a:off x="415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8" name="Line 93">
              <a:extLst>
                <a:ext uri="{FF2B5EF4-FFF2-40B4-BE49-F238E27FC236}">
                  <a16:creationId xmlns:a16="http://schemas.microsoft.com/office/drawing/2014/main" id="{83E7C0B2-4786-B44B-AF2A-50A1881CB0BC}"/>
                </a:ext>
              </a:extLst>
            </p:cNvPr>
            <p:cNvSpPr>
              <a:spLocks noChangeShapeType="1"/>
            </p:cNvSpPr>
            <p:nvPr/>
          </p:nvSpPr>
          <p:spPr bwMode="auto">
            <a:xfrm>
              <a:off x="429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69" name="Line 94">
              <a:extLst>
                <a:ext uri="{FF2B5EF4-FFF2-40B4-BE49-F238E27FC236}">
                  <a16:creationId xmlns:a16="http://schemas.microsoft.com/office/drawing/2014/main" id="{23C2D596-103D-414A-8E89-61FE69710DEF}"/>
                </a:ext>
              </a:extLst>
            </p:cNvPr>
            <p:cNvSpPr>
              <a:spLocks noChangeShapeType="1"/>
            </p:cNvSpPr>
            <p:nvPr/>
          </p:nvSpPr>
          <p:spPr bwMode="auto">
            <a:xfrm>
              <a:off x="444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70" name="Line 95">
              <a:extLst>
                <a:ext uri="{FF2B5EF4-FFF2-40B4-BE49-F238E27FC236}">
                  <a16:creationId xmlns:a16="http://schemas.microsoft.com/office/drawing/2014/main" id="{47491975-1D5E-9B4B-B9CC-2AB3645673FE}"/>
                </a:ext>
              </a:extLst>
            </p:cNvPr>
            <p:cNvSpPr>
              <a:spLocks noChangeShapeType="1"/>
            </p:cNvSpPr>
            <p:nvPr/>
          </p:nvSpPr>
          <p:spPr bwMode="auto">
            <a:xfrm>
              <a:off x="458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sz="2000"/>
            </a:p>
          </p:txBody>
        </p:sp>
      </p:grpSp>
      <p:grpSp>
        <p:nvGrpSpPr>
          <p:cNvPr id="172" name="Group 100">
            <a:extLst>
              <a:ext uri="{FF2B5EF4-FFF2-40B4-BE49-F238E27FC236}">
                <a16:creationId xmlns:a16="http://schemas.microsoft.com/office/drawing/2014/main" id="{8132E27A-22ED-AF49-8219-5166A48DECF1}"/>
              </a:ext>
            </a:extLst>
          </p:cNvPr>
          <p:cNvGrpSpPr>
            <a:grpSpLocks/>
          </p:cNvGrpSpPr>
          <p:nvPr/>
        </p:nvGrpSpPr>
        <p:grpSpPr bwMode="auto">
          <a:xfrm>
            <a:off x="8985169" y="1632322"/>
            <a:ext cx="2438400" cy="523876"/>
            <a:chOff x="3648" y="266"/>
            <a:chExt cx="1536" cy="330"/>
          </a:xfrm>
        </p:grpSpPr>
        <p:sp>
          <p:nvSpPr>
            <p:cNvPr id="174" name="Text Box 101">
              <a:extLst>
                <a:ext uri="{FF2B5EF4-FFF2-40B4-BE49-F238E27FC236}">
                  <a16:creationId xmlns:a16="http://schemas.microsoft.com/office/drawing/2014/main" id="{517C0A89-506E-FC47-9AA2-AF070B040EDE}"/>
                </a:ext>
              </a:extLst>
            </p:cNvPr>
            <p:cNvSpPr txBox="1">
              <a:spLocks noChangeArrowheads="1"/>
            </p:cNvSpPr>
            <p:nvPr/>
          </p:nvSpPr>
          <p:spPr bwMode="auto">
            <a:xfrm>
              <a:off x="3648" y="266"/>
              <a:ext cx="76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2800" dirty="0">
                  <a:latin typeface="+mn-lt"/>
                </a:rPr>
                <a:t>4 users</a:t>
              </a:r>
              <a:endParaRPr lang="fr-FR" altLang="en-US" sz="2800" dirty="0">
                <a:latin typeface="+mn-lt"/>
              </a:endParaRPr>
            </a:p>
          </p:txBody>
        </p:sp>
        <p:sp>
          <p:nvSpPr>
            <p:cNvPr id="175" name="Rectangle 102">
              <a:extLst>
                <a:ext uri="{FF2B5EF4-FFF2-40B4-BE49-F238E27FC236}">
                  <a16:creationId xmlns:a16="http://schemas.microsoft.com/office/drawing/2014/main" id="{09CA082A-E892-4F49-956A-49EC8B74845D}"/>
                </a:ext>
              </a:extLst>
            </p:cNvPr>
            <p:cNvSpPr>
              <a:spLocks noChangeArrowheads="1"/>
            </p:cNvSpPr>
            <p:nvPr/>
          </p:nvSpPr>
          <p:spPr bwMode="auto">
            <a:xfrm>
              <a:off x="4464" y="352"/>
              <a:ext cx="144" cy="144"/>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76" name="Rectangle 103">
              <a:extLst>
                <a:ext uri="{FF2B5EF4-FFF2-40B4-BE49-F238E27FC236}">
                  <a16:creationId xmlns:a16="http://schemas.microsoft.com/office/drawing/2014/main" id="{F4529FF5-30ED-B043-89BC-B0A0838D8494}"/>
                </a:ext>
              </a:extLst>
            </p:cNvPr>
            <p:cNvSpPr>
              <a:spLocks noChangeArrowheads="1"/>
            </p:cNvSpPr>
            <p:nvPr/>
          </p:nvSpPr>
          <p:spPr bwMode="auto">
            <a:xfrm>
              <a:off x="4656" y="352"/>
              <a:ext cx="144" cy="144"/>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77" name="Rectangle 104">
              <a:extLst>
                <a:ext uri="{FF2B5EF4-FFF2-40B4-BE49-F238E27FC236}">
                  <a16:creationId xmlns:a16="http://schemas.microsoft.com/office/drawing/2014/main" id="{BF870C5A-CA37-9A42-A1BA-472445C2A5CB}"/>
                </a:ext>
              </a:extLst>
            </p:cNvPr>
            <p:cNvSpPr>
              <a:spLocks noChangeArrowheads="1"/>
            </p:cNvSpPr>
            <p:nvPr/>
          </p:nvSpPr>
          <p:spPr bwMode="auto">
            <a:xfrm>
              <a:off x="4848" y="352"/>
              <a:ext cx="144" cy="144"/>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78" name="Rectangle 105">
              <a:extLst>
                <a:ext uri="{FF2B5EF4-FFF2-40B4-BE49-F238E27FC236}">
                  <a16:creationId xmlns:a16="http://schemas.microsoft.com/office/drawing/2014/main" id="{E80A1670-A44E-6449-B13F-782DADDCFE2E}"/>
                </a:ext>
              </a:extLst>
            </p:cNvPr>
            <p:cNvSpPr>
              <a:spLocks noChangeArrowheads="1"/>
            </p:cNvSpPr>
            <p:nvPr/>
          </p:nvSpPr>
          <p:spPr bwMode="auto">
            <a:xfrm>
              <a:off x="5040" y="352"/>
              <a:ext cx="144" cy="144"/>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grpSp>
      <p:sp>
        <p:nvSpPr>
          <p:cNvPr id="181" name="Content Placeholder 2">
            <a:extLst>
              <a:ext uri="{FF2B5EF4-FFF2-40B4-BE49-F238E27FC236}">
                <a16:creationId xmlns:a16="http://schemas.microsoft.com/office/drawing/2014/main" id="{22797A37-2981-B84F-A949-A6F05BC23F76}"/>
              </a:ext>
            </a:extLst>
          </p:cNvPr>
          <p:cNvSpPr>
            <a:spLocks noGrp="1"/>
          </p:cNvSpPr>
          <p:nvPr>
            <p:ph sz="half" idx="1"/>
          </p:nvPr>
        </p:nvSpPr>
        <p:spPr>
          <a:xfrm>
            <a:off x="768431" y="1448157"/>
            <a:ext cx="5265052" cy="2870229"/>
          </a:xfrm>
        </p:spPr>
        <p:txBody>
          <a:bodyPr>
            <a:normAutofit lnSpcReduction="10000"/>
          </a:bodyPr>
          <a:lstStyle/>
          <a:p>
            <a:pPr marL="11113" indent="-11113">
              <a:spcBef>
                <a:spcPts val="400"/>
              </a:spcBef>
              <a:buNone/>
            </a:pPr>
            <a:r>
              <a:rPr lang="en-US" altLang="en-US" sz="2400" dirty="0">
                <a:solidFill>
                  <a:srgbClr val="CC0000"/>
                </a:solidFill>
                <a:ea typeface="ＭＳ Ｐゴシック" panose="020B0600070205080204" pitchFamily="34" charset="-128"/>
              </a:rPr>
              <a:t>F</a:t>
            </a:r>
            <a:r>
              <a:rPr lang="en-US" altLang="en-US" dirty="0">
                <a:solidFill>
                  <a:srgbClr val="CC0000"/>
                </a:solidFill>
                <a:ea typeface="ＭＳ Ｐゴシック" panose="020B0600070205080204" pitchFamily="34" charset="-128"/>
              </a:rPr>
              <a:t>requency Division Multiplexing </a:t>
            </a:r>
            <a:r>
              <a:rPr lang="en-US" altLang="en-US" sz="2400" dirty="0">
                <a:solidFill>
                  <a:srgbClr val="CC0000"/>
                </a:solidFill>
                <a:ea typeface="ＭＳ Ｐゴシック" panose="020B0600070205080204" pitchFamily="34" charset="-128"/>
              </a:rPr>
              <a:t>(FDM)</a:t>
            </a:r>
            <a:endParaRPr lang="en-US" altLang="ja-JP" sz="2400" dirty="0">
              <a:solidFill>
                <a:srgbClr val="CC0000"/>
              </a:solidFill>
              <a:ea typeface="ＭＳ Ｐゴシック" panose="020B0600070205080204" pitchFamily="34" charset="-128"/>
            </a:endParaRPr>
          </a:p>
          <a:p>
            <a:pPr>
              <a:spcBef>
                <a:spcPts val="400"/>
              </a:spcBef>
            </a:pPr>
            <a:r>
              <a:rPr lang="en-US" altLang="en-US" sz="2400" dirty="0">
                <a:ea typeface="ＭＳ Ｐゴシック" panose="020B0600070205080204" pitchFamily="34" charset="-128"/>
              </a:rPr>
              <a:t>optical, electromagnetic frequencies divided into (narrow) frequency bands</a:t>
            </a:r>
          </a:p>
          <a:p>
            <a:pPr>
              <a:spcBef>
                <a:spcPts val="400"/>
              </a:spcBef>
            </a:pPr>
            <a:r>
              <a:rPr lang="en-US" altLang="en-US" sz="2400" dirty="0">
                <a:ea typeface="ＭＳ Ｐゴシック" panose="020B0600070205080204" pitchFamily="34" charset="-128"/>
              </a:rPr>
              <a:t>each call allocated its own band, can transmit at max rate of that narrow band </a:t>
            </a:r>
            <a:endParaRPr lang="en-US" altLang="en-US" dirty="0"/>
          </a:p>
          <a:p>
            <a:endParaRPr lang="en-US" dirty="0"/>
          </a:p>
        </p:txBody>
      </p:sp>
      <p:sp>
        <p:nvSpPr>
          <p:cNvPr id="182" name="Content Placeholder 2">
            <a:extLst>
              <a:ext uri="{FF2B5EF4-FFF2-40B4-BE49-F238E27FC236}">
                <a16:creationId xmlns:a16="http://schemas.microsoft.com/office/drawing/2014/main" id="{158F9267-8C55-AD46-A424-9C6B11E6A845}"/>
              </a:ext>
            </a:extLst>
          </p:cNvPr>
          <p:cNvSpPr txBox="1">
            <a:spLocks/>
          </p:cNvSpPr>
          <p:nvPr/>
        </p:nvSpPr>
        <p:spPr>
          <a:xfrm>
            <a:off x="825267" y="4157290"/>
            <a:ext cx="5276102" cy="246836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3" indent="-11113">
              <a:spcBef>
                <a:spcPts val="600"/>
              </a:spcBef>
              <a:buFont typeface="Wingdings" pitchFamily="2" charset="2"/>
              <a:buNone/>
            </a:pPr>
            <a:r>
              <a:rPr lang="en-US" altLang="en-US" dirty="0">
                <a:solidFill>
                  <a:srgbClr val="CC0000"/>
                </a:solidFill>
                <a:ea typeface="ＭＳ Ｐゴシック" panose="020B0600070205080204" pitchFamily="34" charset="-128"/>
              </a:rPr>
              <a:t>Time</a:t>
            </a:r>
            <a:r>
              <a:rPr lang="en-US" altLang="en-US" sz="2400" dirty="0">
                <a:solidFill>
                  <a:srgbClr val="CC0000"/>
                </a:solidFill>
                <a:ea typeface="ＭＳ Ｐゴシック" panose="020B0600070205080204" pitchFamily="34" charset="-128"/>
              </a:rPr>
              <a:t> </a:t>
            </a:r>
            <a:r>
              <a:rPr lang="en-US" altLang="en-US" dirty="0">
                <a:solidFill>
                  <a:srgbClr val="CC0000"/>
                </a:solidFill>
                <a:ea typeface="ＭＳ Ｐゴシック" panose="020B0600070205080204" pitchFamily="34" charset="-128"/>
              </a:rPr>
              <a:t>Division Multiplexing </a:t>
            </a:r>
            <a:r>
              <a:rPr lang="en-US" altLang="en-US" sz="2400" dirty="0">
                <a:solidFill>
                  <a:srgbClr val="CC0000"/>
                </a:solidFill>
                <a:ea typeface="ＭＳ Ｐゴシック" panose="020B0600070205080204" pitchFamily="34" charset="-128"/>
              </a:rPr>
              <a:t>(TDM)</a:t>
            </a:r>
            <a:endParaRPr lang="en-US" altLang="ja-JP" sz="2400" dirty="0">
              <a:solidFill>
                <a:srgbClr val="CC0000"/>
              </a:solidFill>
              <a:ea typeface="ＭＳ Ｐゴシック" panose="020B0600070205080204" pitchFamily="34" charset="-128"/>
            </a:endParaRPr>
          </a:p>
          <a:p>
            <a:pPr>
              <a:spcBef>
                <a:spcPts val="600"/>
              </a:spcBef>
            </a:pPr>
            <a:r>
              <a:rPr lang="en-US" altLang="en-US" sz="2400" dirty="0">
                <a:ea typeface="ＭＳ Ｐゴシック" panose="020B0600070205080204" pitchFamily="34" charset="-128"/>
              </a:rPr>
              <a:t>time divided into slots</a:t>
            </a:r>
          </a:p>
          <a:p>
            <a:pPr>
              <a:spcBef>
                <a:spcPts val="600"/>
              </a:spcBef>
            </a:pPr>
            <a:r>
              <a:rPr lang="en-US" altLang="en-US" sz="2400" dirty="0">
                <a:ea typeface="ＭＳ Ｐゴシック" panose="020B0600070205080204" pitchFamily="34" charset="-128"/>
              </a:rPr>
              <a:t>each call allocated periodic slot(s), can transmit at maximum rate of (wider) frequency band, but only  during its time slot(s)</a:t>
            </a:r>
            <a:endParaRPr lang="en-US" dirty="0"/>
          </a:p>
        </p:txBody>
      </p:sp>
      <p:sp>
        <p:nvSpPr>
          <p:cNvPr id="3" name="TextBox 2">
            <a:extLst>
              <a:ext uri="{FF2B5EF4-FFF2-40B4-BE49-F238E27FC236}">
                <a16:creationId xmlns:a16="http://schemas.microsoft.com/office/drawing/2014/main" id="{580FCF92-2B18-F2B4-DB44-33D4BC5DC7DD}"/>
              </a:ext>
            </a:extLst>
          </p:cNvPr>
          <p:cNvSpPr txBox="1"/>
          <p:nvPr/>
        </p:nvSpPr>
        <p:spPr>
          <a:xfrm>
            <a:off x="6711076" y="1213439"/>
            <a:ext cx="4070349" cy="584775"/>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defRPr/>
            </a:pPr>
            <a:r>
              <a:rPr lang="en-US" sz="1600" dirty="0"/>
              <a:t>Users will access media (e.g. cable) based on DIFFERENT frequency (Hz) allocation</a:t>
            </a:r>
            <a:endParaRPr lang="ms-MY" sz="1600" dirty="0"/>
          </a:p>
        </p:txBody>
      </p:sp>
      <p:sp>
        <p:nvSpPr>
          <p:cNvPr id="4" name="TextBox 3">
            <a:extLst>
              <a:ext uri="{FF2B5EF4-FFF2-40B4-BE49-F238E27FC236}">
                <a16:creationId xmlns:a16="http://schemas.microsoft.com/office/drawing/2014/main" id="{D774FE94-C49A-99D4-BFA0-D60371C593D2}"/>
              </a:ext>
            </a:extLst>
          </p:cNvPr>
          <p:cNvSpPr txBox="1"/>
          <p:nvPr/>
        </p:nvSpPr>
        <p:spPr>
          <a:xfrm>
            <a:off x="6619795" y="6190407"/>
            <a:ext cx="4232274" cy="584775"/>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defRPr/>
            </a:pPr>
            <a:r>
              <a:rPr lang="en-US" sz="1600" dirty="0"/>
              <a:t>Users will access media (e.g. cable) based on DIFFERENT time slot (second) allocation</a:t>
            </a:r>
            <a:endParaRPr lang="ms-MY" sz="1600" dirty="0"/>
          </a:p>
        </p:txBody>
      </p:sp>
    </p:spTree>
    <p:extLst>
      <p:ext uri="{BB962C8B-B14F-4D97-AF65-F5344CB8AC3E}">
        <p14:creationId xmlns:p14="http://schemas.microsoft.com/office/powerpoint/2010/main" val="2188746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6"/>
                                        </p:tgtEl>
                                        <p:attrNameLst>
                                          <p:attrName>style.visibility</p:attrName>
                                        </p:attrNameLst>
                                      </p:cBhvr>
                                      <p:to>
                                        <p:strVal val="visible"/>
                                      </p:to>
                                    </p:set>
                                    <p:animEffect transition="in" filter="wipe(left)">
                                      <p:cBhvr>
                                        <p:cTn id="12" dur="500"/>
                                        <p:tgtEl>
                                          <p:spTgt spid="86"/>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87"/>
                                        </p:tgtEl>
                                        <p:attrNameLst>
                                          <p:attrName>style.visibility</p:attrName>
                                        </p:attrNameLst>
                                      </p:cBhvr>
                                      <p:to>
                                        <p:strVal val="visible"/>
                                      </p:to>
                                    </p:set>
                                    <p:animEffect transition="in" filter="wipe(left)">
                                      <p:cBhvr>
                                        <p:cTn id="16" dur="500"/>
                                        <p:tgtEl>
                                          <p:spTgt spid="8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88"/>
                                        </p:tgtEl>
                                        <p:attrNameLst>
                                          <p:attrName>style.visibility</p:attrName>
                                        </p:attrNameLst>
                                      </p:cBhvr>
                                      <p:to>
                                        <p:strVal val="visible"/>
                                      </p:to>
                                    </p:set>
                                    <p:animEffect transition="in" filter="wipe(left)">
                                      <p:cBhvr>
                                        <p:cTn id="20" dur="500"/>
                                        <p:tgtEl>
                                          <p:spTgt spid="88"/>
                                        </p:tgtEl>
                                      </p:cBhvr>
                                    </p:animEffect>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89"/>
                                        </p:tgtEl>
                                        <p:attrNameLst>
                                          <p:attrName>style.visibility</p:attrName>
                                        </p:attrNameLst>
                                      </p:cBhvr>
                                      <p:to>
                                        <p:strVal val="visible"/>
                                      </p:to>
                                    </p:set>
                                    <p:animEffect transition="in" filter="wipe(left)">
                                      <p:cBhvr>
                                        <p:cTn id="24" dur="500"/>
                                        <p:tgtEl>
                                          <p:spTgt spid="89"/>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499"/>
                                          </p:stCondLst>
                                        </p:cTn>
                                        <p:tgtEl>
                                          <p:spTgt spid="90"/>
                                        </p:tgtEl>
                                        <p:attrNameLst>
                                          <p:attrName>style.visibility</p:attrName>
                                        </p:attrNameLst>
                                      </p:cBhvr>
                                      <p:to>
                                        <p:strVal val="visible"/>
                                      </p:to>
                                    </p:set>
                                  </p:childTnLst>
                                </p:cTn>
                              </p:par>
                              <p:par>
                                <p:cTn id="29" presetID="9" presetClass="entr" presetSubtype="0" fill="hold" grpId="0" nodeType="withEffect">
                                  <p:stCondLst>
                                    <p:cond delay="0"/>
                                  </p:stCondLst>
                                  <p:childTnLst>
                                    <p:set>
                                      <p:cBhvr>
                                        <p:cTn id="30" dur="1" fill="hold">
                                          <p:stCondLst>
                                            <p:cond delay="0"/>
                                          </p:stCondLst>
                                        </p:cTn>
                                        <p:tgtEl>
                                          <p:spTgt spid="182"/>
                                        </p:tgtEl>
                                        <p:attrNameLst>
                                          <p:attrName>style.visibility</p:attrName>
                                        </p:attrNameLst>
                                      </p:cBhvr>
                                      <p:to>
                                        <p:strVal val="visible"/>
                                      </p:to>
                                    </p:set>
                                    <p:animEffect transition="in" filter="dissolve">
                                      <p:cBhvr>
                                        <p:cTn id="31" dur="500"/>
                                        <p:tgtEl>
                                          <p:spTgt spid="182"/>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nodeType="clickEffect">
                                  <p:stCondLst>
                                    <p:cond delay="0"/>
                                  </p:stCondLst>
                                  <p:childTnLst>
                                    <p:set>
                                      <p:cBhvr>
                                        <p:cTn id="35" dur="1" fill="hold">
                                          <p:stCondLst>
                                            <p:cond delay="0"/>
                                          </p:stCondLst>
                                        </p:cTn>
                                        <p:tgtEl>
                                          <p:spTgt spid="125"/>
                                        </p:tgtEl>
                                        <p:attrNameLst>
                                          <p:attrName>style.visibility</p:attrName>
                                        </p:attrNameLst>
                                      </p:cBhvr>
                                      <p:to>
                                        <p:strVal val="visible"/>
                                      </p:to>
                                    </p:set>
                                    <p:animEffect transition="in" filter="wipe(up)">
                                      <p:cBhvr>
                                        <p:cTn id="36" dur="500"/>
                                        <p:tgtEl>
                                          <p:spTgt spid="1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97"/>
                                        </p:tgtEl>
                                        <p:attrNameLst>
                                          <p:attrName>style.visibility</p:attrName>
                                        </p:attrNameLst>
                                      </p:cBhvr>
                                      <p:to>
                                        <p:strVal val="visible"/>
                                      </p:to>
                                    </p:set>
                                    <p:animEffect transition="in" filter="wipe(up)">
                                      <p:cBhvr>
                                        <p:cTn id="41" dur="500"/>
                                        <p:tgtEl>
                                          <p:spTgt spid="97"/>
                                        </p:tgtEl>
                                      </p:cBhvr>
                                    </p:animEffect>
                                  </p:childTnLst>
                                </p:cTn>
                              </p:par>
                            </p:childTnLst>
                          </p:cTn>
                        </p:par>
                        <p:par>
                          <p:cTn id="42" fill="hold">
                            <p:stCondLst>
                              <p:cond delay="500"/>
                            </p:stCondLst>
                            <p:childTnLst>
                              <p:par>
                                <p:cTn id="43" presetID="22" presetClass="entr" presetSubtype="1" fill="hold" nodeType="afterEffect">
                                  <p:stCondLst>
                                    <p:cond delay="0"/>
                                  </p:stCondLst>
                                  <p:childTnLst>
                                    <p:set>
                                      <p:cBhvr>
                                        <p:cTn id="44" dur="1" fill="hold">
                                          <p:stCondLst>
                                            <p:cond delay="0"/>
                                          </p:stCondLst>
                                        </p:cTn>
                                        <p:tgtEl>
                                          <p:spTgt spid="103"/>
                                        </p:tgtEl>
                                        <p:attrNameLst>
                                          <p:attrName>style.visibility</p:attrName>
                                        </p:attrNameLst>
                                      </p:cBhvr>
                                      <p:to>
                                        <p:strVal val="visible"/>
                                      </p:to>
                                    </p:set>
                                    <p:animEffect transition="in" filter="wipe(up)">
                                      <p:cBhvr>
                                        <p:cTn id="45" dur="500"/>
                                        <p:tgtEl>
                                          <p:spTgt spid="103"/>
                                        </p:tgtEl>
                                      </p:cBhvr>
                                    </p:animEffect>
                                  </p:childTnLst>
                                </p:cTn>
                              </p:par>
                            </p:childTnLst>
                          </p:cTn>
                        </p:par>
                        <p:par>
                          <p:cTn id="46" fill="hold">
                            <p:stCondLst>
                              <p:cond delay="1000"/>
                            </p:stCondLst>
                            <p:childTnLst>
                              <p:par>
                                <p:cTn id="47" presetID="22" presetClass="entr" presetSubtype="1" fill="hold" nodeType="afterEffect">
                                  <p:stCondLst>
                                    <p:cond delay="0"/>
                                  </p:stCondLst>
                                  <p:childTnLst>
                                    <p:set>
                                      <p:cBhvr>
                                        <p:cTn id="48" dur="1" fill="hold">
                                          <p:stCondLst>
                                            <p:cond delay="0"/>
                                          </p:stCondLst>
                                        </p:cTn>
                                        <p:tgtEl>
                                          <p:spTgt spid="109"/>
                                        </p:tgtEl>
                                        <p:attrNameLst>
                                          <p:attrName>style.visibility</p:attrName>
                                        </p:attrNameLst>
                                      </p:cBhvr>
                                      <p:to>
                                        <p:strVal val="visible"/>
                                      </p:to>
                                    </p:set>
                                    <p:animEffect transition="in" filter="wipe(up)">
                                      <p:cBhvr>
                                        <p:cTn id="49" dur="500"/>
                                        <p:tgtEl>
                                          <p:spTgt spid="109"/>
                                        </p:tgtEl>
                                      </p:cBhvr>
                                    </p:animEffect>
                                  </p:childTnLst>
                                </p:cTn>
                              </p:par>
                            </p:childTnLst>
                          </p:cTn>
                        </p:par>
                        <p:par>
                          <p:cTn id="50" fill="hold">
                            <p:stCondLst>
                              <p:cond delay="1500"/>
                            </p:stCondLst>
                            <p:childTnLst>
                              <p:par>
                                <p:cTn id="51" presetID="22" presetClass="entr" presetSubtype="1" fill="hold" nodeType="afterEffect">
                                  <p:stCondLst>
                                    <p:cond delay="0"/>
                                  </p:stCondLst>
                                  <p:childTnLst>
                                    <p:set>
                                      <p:cBhvr>
                                        <p:cTn id="52" dur="1" fill="hold">
                                          <p:stCondLst>
                                            <p:cond delay="0"/>
                                          </p:stCondLst>
                                        </p:cTn>
                                        <p:tgtEl>
                                          <p:spTgt spid="115"/>
                                        </p:tgtEl>
                                        <p:attrNameLst>
                                          <p:attrName>style.visibility</p:attrName>
                                        </p:attrNameLst>
                                      </p:cBhvr>
                                      <p:to>
                                        <p:strVal val="visible"/>
                                      </p:to>
                                    </p:set>
                                    <p:animEffect transition="in" filter="wipe(up)">
                                      <p:cBhvr>
                                        <p:cTn id="53" dur="500"/>
                                        <p:tgtEl>
                                          <p:spTgt spid="11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145"/>
                                        </p:tgtEl>
                                        <p:attrNameLst>
                                          <p:attrName>style.visibility</p:attrName>
                                        </p:attrNameLst>
                                      </p:cBhvr>
                                      <p:to>
                                        <p:strVal val="visible"/>
                                      </p:to>
                                    </p:set>
                                    <p:animEffect transition="in" filter="wipe(left)">
                                      <p:cBhvr>
                                        <p:cTn id="58" dur="500"/>
                                        <p:tgtEl>
                                          <p:spTgt spid="145"/>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150"/>
                                        </p:tgtEl>
                                        <p:attrNameLst>
                                          <p:attrName>style.visibility</p:attrName>
                                        </p:attrNameLst>
                                      </p:cBhvr>
                                      <p:to>
                                        <p:strVal val="visible"/>
                                      </p:to>
                                    </p:set>
                                    <p:animEffect transition="in" filter="wipe(up)">
                                      <p:cBhvr>
                                        <p:cTn id="63" dur="500"/>
                                        <p:tgtEl>
                                          <p:spTgt spid="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animBg="1"/>
      <p:bldP spid="87" grpId="0" animBg="1"/>
      <p:bldP spid="88" grpId="0" animBg="1"/>
      <p:bldP spid="89" grpId="0" animBg="1"/>
      <p:bldP spid="18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19289" y="981075"/>
            <a:ext cx="5915025" cy="434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163" name="Rectangle 2"/>
          <p:cNvSpPr>
            <a:spLocks noChangeArrowheads="1"/>
          </p:cNvSpPr>
          <p:nvPr/>
        </p:nvSpPr>
        <p:spPr bwMode="auto">
          <a:xfrm>
            <a:off x="7464426" y="1506538"/>
            <a:ext cx="3203575"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a:latin typeface="Arial" panose="020B0604020202020204" pitchFamily="34" charset="0"/>
              </a:rPr>
              <a:t>With FDM, each circuit continuously gets a fraction of the bandwidth. </a:t>
            </a:r>
          </a:p>
          <a:p>
            <a:pPr>
              <a:lnSpc>
                <a:spcPct val="100000"/>
              </a:lnSpc>
              <a:spcBef>
                <a:spcPct val="0"/>
              </a:spcBef>
              <a:buClrTx/>
              <a:buSzTx/>
              <a:buFontTx/>
              <a:buNone/>
            </a:pPr>
            <a:endParaRPr lang="en-US" altLang="en-US" sz="2400">
              <a:latin typeface="Arial" panose="020B0604020202020204" pitchFamily="34" charset="0"/>
            </a:endParaRPr>
          </a:p>
          <a:p>
            <a:pPr>
              <a:lnSpc>
                <a:spcPct val="100000"/>
              </a:lnSpc>
              <a:spcBef>
                <a:spcPct val="0"/>
              </a:spcBef>
              <a:buClrTx/>
              <a:buSzTx/>
              <a:buFontTx/>
              <a:buNone/>
            </a:pPr>
            <a:r>
              <a:rPr lang="en-US" altLang="en-US" sz="2400">
                <a:latin typeface="Arial" panose="020B0604020202020204" pitchFamily="34" charset="0"/>
              </a:rPr>
              <a:t>With TDM, each circuit gets all of the bandwidth</a:t>
            </a:r>
          </a:p>
          <a:p>
            <a:pPr>
              <a:lnSpc>
                <a:spcPct val="100000"/>
              </a:lnSpc>
              <a:spcBef>
                <a:spcPct val="0"/>
              </a:spcBef>
              <a:buClrTx/>
              <a:buSzTx/>
              <a:buFontTx/>
              <a:buNone/>
            </a:pPr>
            <a:r>
              <a:rPr lang="en-US" altLang="en-US" sz="2400">
                <a:latin typeface="Arial" panose="020B0604020202020204" pitchFamily="34" charset="0"/>
              </a:rPr>
              <a:t>periodically during brief intervals of time (that is, during slots)</a:t>
            </a:r>
            <a:endParaRPr lang="ms-MY" altLang="en-US" sz="2400">
              <a:latin typeface="Arial" panose="020B0604020202020204" pitchFamily="34" charset="0"/>
            </a:endParaRPr>
          </a:p>
        </p:txBody>
      </p:sp>
      <p:pic>
        <p:nvPicPr>
          <p:cNvPr id="92164" name="Graphic 3"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4D79E1F3-8300-BCDE-D8F5-7BE8BDCCE29A}"/>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49</a:t>
            </a:fld>
            <a:endParaRPr lang="en-US" dirty="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44222"/>
            <a:ext cx="10515600" cy="894622"/>
          </a:xfrm>
        </p:spPr>
        <p:txBody>
          <a:bodyPr/>
          <a:lstStyle/>
          <a:p>
            <a:r>
              <a:rPr lang="en-US" altLang="ja-JP" dirty="0"/>
              <a:t>Packet switching versus circuit switching</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50</a:t>
            </a:fld>
            <a:endParaRPr lang="en-US" dirty="0"/>
          </a:p>
        </p:txBody>
      </p:sp>
      <p:sp>
        <p:nvSpPr>
          <p:cNvPr id="189" name="Rectangle 3">
            <a:extLst>
              <a:ext uri="{FF2B5EF4-FFF2-40B4-BE49-F238E27FC236}">
                <a16:creationId xmlns:a16="http://schemas.microsoft.com/office/drawing/2014/main" id="{17C01842-A8D9-3947-BFAD-E29BD4964F34}"/>
              </a:ext>
            </a:extLst>
          </p:cNvPr>
          <p:cNvSpPr txBox="1">
            <a:spLocks noChangeArrowheads="1"/>
          </p:cNvSpPr>
          <p:nvPr/>
        </p:nvSpPr>
        <p:spPr>
          <a:xfrm>
            <a:off x="890335" y="1977451"/>
            <a:ext cx="4938590" cy="19381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spcBef>
                <a:spcPts val="600"/>
              </a:spcBef>
              <a:buSzPct val="75000"/>
              <a:buFont typeface="Wingdings" pitchFamily="2" charset="2"/>
              <a:buNone/>
              <a:tabLst>
                <a:tab pos="566738" algn="l"/>
              </a:tabLst>
            </a:pPr>
            <a:r>
              <a:rPr lang="en-US" altLang="en-US" dirty="0">
                <a:ea typeface="ＭＳ Ｐゴシック" panose="020B0600070205080204" pitchFamily="34" charset="-128"/>
              </a:rPr>
              <a:t>Example:</a:t>
            </a:r>
          </a:p>
          <a:p>
            <a:pPr marL="228600" indent="-228600">
              <a:spcBef>
                <a:spcPts val="600"/>
              </a:spcBef>
              <a:tabLst>
                <a:tab pos="566738" algn="l"/>
              </a:tabLst>
            </a:pPr>
            <a:r>
              <a:rPr lang="en-US" altLang="en-US" sz="2400" dirty="0">
                <a:ea typeface="ＭＳ Ｐゴシック" panose="020B0600070205080204" pitchFamily="34" charset="-128"/>
              </a:rPr>
              <a:t>1 Gb/s link</a:t>
            </a:r>
          </a:p>
          <a:p>
            <a:pPr marL="228600" indent="-228600">
              <a:spcBef>
                <a:spcPts val="600"/>
              </a:spcBef>
              <a:tabLst>
                <a:tab pos="566738" algn="l"/>
              </a:tabLst>
            </a:pPr>
            <a:r>
              <a:rPr lang="en-US" altLang="en-US" sz="2400" dirty="0">
                <a:ea typeface="ＭＳ Ｐゴシック" panose="020B0600070205080204" pitchFamily="34" charset="-128"/>
              </a:rPr>
              <a:t>each user: </a:t>
            </a:r>
          </a:p>
          <a:p>
            <a:pPr marL="514350" lvl="1" indent="-217488">
              <a:spcBef>
                <a:spcPts val="600"/>
              </a:spcBef>
              <a:buFontTx/>
              <a:buChar char="•"/>
              <a:tabLst>
                <a:tab pos="566738" algn="l"/>
              </a:tabLst>
            </a:pPr>
            <a:r>
              <a:rPr lang="en-US" altLang="en-US" sz="2000" dirty="0">
                <a:ea typeface="Arial" panose="020B0604020202020204" pitchFamily="34" charset="0"/>
              </a:rPr>
              <a:t>100 Mb/s when </a:t>
            </a:r>
            <a:r>
              <a:rPr lang="ja-JP" altLang="en-US" sz="2000">
                <a:ea typeface="ＭＳ Ｐゴシック" panose="020B0600070205080204" pitchFamily="34" charset="-128"/>
              </a:rPr>
              <a:t>“</a:t>
            </a:r>
            <a:r>
              <a:rPr lang="en-US" altLang="ja-JP" sz="2000" dirty="0">
                <a:ea typeface="ＭＳ Ｐゴシック" panose="020B0600070205080204" pitchFamily="34" charset="-128"/>
              </a:rPr>
              <a:t>active</a:t>
            </a:r>
            <a:r>
              <a:rPr lang="ja-JP" altLang="en-US" sz="2000">
                <a:ea typeface="ＭＳ Ｐゴシック" panose="020B0600070205080204" pitchFamily="34" charset="-128"/>
              </a:rPr>
              <a:t>”</a:t>
            </a:r>
            <a:endParaRPr lang="en-US" altLang="ja-JP" sz="2000" dirty="0">
              <a:ea typeface="ＭＳ Ｐゴシック" panose="020B0600070205080204" pitchFamily="34" charset="-128"/>
            </a:endParaRPr>
          </a:p>
          <a:p>
            <a:pPr marL="514350" lvl="1" indent="-217488">
              <a:spcBef>
                <a:spcPts val="600"/>
              </a:spcBef>
              <a:buFontTx/>
              <a:buChar char="•"/>
              <a:tabLst>
                <a:tab pos="566738" algn="l"/>
              </a:tabLst>
            </a:pPr>
            <a:r>
              <a:rPr lang="en-US" altLang="en-US" sz="2000" dirty="0">
                <a:ea typeface="Arial" panose="020B0604020202020204" pitchFamily="34" charset="0"/>
              </a:rPr>
              <a:t>active 10% of time</a:t>
            </a:r>
          </a:p>
          <a:p>
            <a:pPr marL="566738" lvl="1" indent="-219075">
              <a:tabLst>
                <a:tab pos="566738" algn="l"/>
              </a:tabLst>
            </a:pPr>
            <a:endParaRPr lang="en-US" altLang="en-US" sz="2000" dirty="0">
              <a:ea typeface="Arial" panose="020B0604020202020204" pitchFamily="34" charset="0"/>
            </a:endParaRPr>
          </a:p>
          <a:p>
            <a:pPr marL="231775" indent="-231775">
              <a:tabLst>
                <a:tab pos="566738" algn="l"/>
              </a:tabLst>
            </a:pPr>
            <a:endParaRPr lang="en-US" altLang="en-US" sz="2400" dirty="0">
              <a:ea typeface="ＭＳ Ｐゴシック" panose="020B0600070205080204" pitchFamily="34" charset="-128"/>
            </a:endParaRPr>
          </a:p>
        </p:txBody>
      </p:sp>
      <p:sp>
        <p:nvSpPr>
          <p:cNvPr id="190" name="Rectangle 4">
            <a:extLst>
              <a:ext uri="{FF2B5EF4-FFF2-40B4-BE49-F238E27FC236}">
                <a16:creationId xmlns:a16="http://schemas.microsoft.com/office/drawing/2014/main" id="{7C386600-7D5F-2A48-8322-A74286FEE874}"/>
              </a:ext>
            </a:extLst>
          </p:cNvPr>
          <p:cNvSpPr txBox="1">
            <a:spLocks noChangeArrowheads="1"/>
          </p:cNvSpPr>
          <p:nvPr/>
        </p:nvSpPr>
        <p:spPr>
          <a:xfrm>
            <a:off x="1970087" y="1249212"/>
            <a:ext cx="8715375" cy="6096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i="1" dirty="0">
                <a:solidFill>
                  <a:srgbClr val="CC0000"/>
                </a:solidFill>
                <a:ea typeface="ＭＳ Ｐゴシック" panose="020B0600070205080204" pitchFamily="34" charset="-128"/>
              </a:rPr>
              <a:t>packet switching allows more users to use network!</a:t>
            </a:r>
          </a:p>
        </p:txBody>
      </p:sp>
      <p:sp>
        <p:nvSpPr>
          <p:cNvPr id="191" name="Line 15">
            <a:extLst>
              <a:ext uri="{FF2B5EF4-FFF2-40B4-BE49-F238E27FC236}">
                <a16:creationId xmlns:a16="http://schemas.microsoft.com/office/drawing/2014/main" id="{8D3CAF60-F994-A546-AAAD-47571FD48260}"/>
              </a:ext>
            </a:extLst>
          </p:cNvPr>
          <p:cNvSpPr>
            <a:spLocks noChangeShapeType="1"/>
          </p:cNvSpPr>
          <p:nvPr/>
        </p:nvSpPr>
        <p:spPr bwMode="auto">
          <a:xfrm>
            <a:off x="7197264" y="2696436"/>
            <a:ext cx="838200" cy="45720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2" name="Line 16">
            <a:extLst>
              <a:ext uri="{FF2B5EF4-FFF2-40B4-BE49-F238E27FC236}">
                <a16:creationId xmlns:a16="http://schemas.microsoft.com/office/drawing/2014/main" id="{DAFDB301-9C22-7E40-AB5C-B1019D11D067}"/>
              </a:ext>
            </a:extLst>
          </p:cNvPr>
          <p:cNvSpPr>
            <a:spLocks noChangeShapeType="1"/>
          </p:cNvSpPr>
          <p:nvPr/>
        </p:nvSpPr>
        <p:spPr bwMode="auto">
          <a:xfrm>
            <a:off x="8035464" y="3153636"/>
            <a:ext cx="2038350" cy="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 name="Line 17">
            <a:extLst>
              <a:ext uri="{FF2B5EF4-FFF2-40B4-BE49-F238E27FC236}">
                <a16:creationId xmlns:a16="http://schemas.microsoft.com/office/drawing/2014/main" id="{08D96691-67D0-164A-8B20-0A8F49D82B52}"/>
              </a:ext>
            </a:extLst>
          </p:cNvPr>
          <p:cNvSpPr>
            <a:spLocks noChangeShapeType="1"/>
          </p:cNvSpPr>
          <p:nvPr/>
        </p:nvSpPr>
        <p:spPr bwMode="auto">
          <a:xfrm>
            <a:off x="8035464" y="3306036"/>
            <a:ext cx="2038350" cy="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4" name="Line 18">
            <a:extLst>
              <a:ext uri="{FF2B5EF4-FFF2-40B4-BE49-F238E27FC236}">
                <a16:creationId xmlns:a16="http://schemas.microsoft.com/office/drawing/2014/main" id="{5E60CA0C-29AD-554D-BDE3-8F41053E47D4}"/>
              </a:ext>
            </a:extLst>
          </p:cNvPr>
          <p:cNvSpPr>
            <a:spLocks noChangeShapeType="1"/>
          </p:cNvSpPr>
          <p:nvPr/>
        </p:nvSpPr>
        <p:spPr bwMode="auto">
          <a:xfrm flipV="1">
            <a:off x="7273464" y="3306036"/>
            <a:ext cx="762000" cy="60960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 name="Text Box 19">
            <a:extLst>
              <a:ext uri="{FF2B5EF4-FFF2-40B4-BE49-F238E27FC236}">
                <a16:creationId xmlns:a16="http://schemas.microsoft.com/office/drawing/2014/main" id="{4727766D-8865-024A-9422-01733ADE9C9C}"/>
              </a:ext>
            </a:extLst>
          </p:cNvPr>
          <p:cNvSpPr txBox="1">
            <a:spLocks noChangeArrowheads="1"/>
          </p:cNvSpPr>
          <p:nvPr/>
        </p:nvSpPr>
        <p:spPr bwMode="auto">
          <a:xfrm>
            <a:off x="6996452" y="2909443"/>
            <a:ext cx="843051"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0000"/>
              </a:lnSpc>
            </a:pPr>
            <a:r>
              <a:rPr lang="en-US" altLang="en-US" i="1" dirty="0">
                <a:solidFill>
                  <a:srgbClr val="000099"/>
                </a:solidFill>
                <a:latin typeface="+mn-lt"/>
              </a:rPr>
              <a:t>N</a:t>
            </a:r>
            <a:r>
              <a:rPr lang="en-US" altLang="en-US" dirty="0">
                <a:solidFill>
                  <a:srgbClr val="000099"/>
                </a:solidFill>
                <a:latin typeface="+mn-lt"/>
              </a:rPr>
              <a:t> </a:t>
            </a:r>
          </a:p>
          <a:p>
            <a:pPr algn="ctr">
              <a:lnSpc>
                <a:spcPct val="80000"/>
              </a:lnSpc>
            </a:pPr>
            <a:r>
              <a:rPr lang="en-US" altLang="en-US" dirty="0">
                <a:solidFill>
                  <a:srgbClr val="000099"/>
                </a:solidFill>
                <a:latin typeface="+mn-lt"/>
              </a:rPr>
              <a:t>users</a:t>
            </a:r>
          </a:p>
        </p:txBody>
      </p:sp>
      <p:sp>
        <p:nvSpPr>
          <p:cNvPr id="196" name="Text Box 20">
            <a:extLst>
              <a:ext uri="{FF2B5EF4-FFF2-40B4-BE49-F238E27FC236}">
                <a16:creationId xmlns:a16="http://schemas.microsoft.com/office/drawing/2014/main" id="{02F193D8-1895-D243-9C9D-86059DDF4050}"/>
              </a:ext>
            </a:extLst>
          </p:cNvPr>
          <p:cNvSpPr txBox="1">
            <a:spLocks noChangeArrowheads="1"/>
          </p:cNvSpPr>
          <p:nvPr/>
        </p:nvSpPr>
        <p:spPr bwMode="auto">
          <a:xfrm>
            <a:off x="10245005" y="3251831"/>
            <a:ext cx="13311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latin typeface="+mn-lt"/>
              </a:rPr>
              <a:t>1 Gbps link</a:t>
            </a:r>
          </a:p>
        </p:txBody>
      </p:sp>
      <p:sp>
        <p:nvSpPr>
          <p:cNvPr id="197" name="Line 47">
            <a:extLst>
              <a:ext uri="{FF2B5EF4-FFF2-40B4-BE49-F238E27FC236}">
                <a16:creationId xmlns:a16="http://schemas.microsoft.com/office/drawing/2014/main" id="{562BF16C-2907-8C4D-B28F-D8B95C2C2340}"/>
              </a:ext>
            </a:extLst>
          </p:cNvPr>
          <p:cNvSpPr>
            <a:spLocks noChangeShapeType="1"/>
          </p:cNvSpPr>
          <p:nvPr/>
        </p:nvSpPr>
        <p:spPr bwMode="auto">
          <a:xfrm>
            <a:off x="9308639" y="3234599"/>
            <a:ext cx="1409700" cy="0"/>
          </a:xfrm>
          <a:prstGeom prst="line">
            <a:avLst/>
          </a:prstGeom>
          <a:noFill/>
          <a:ln w="444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1" name="Text Box 34">
            <a:extLst>
              <a:ext uri="{FF2B5EF4-FFF2-40B4-BE49-F238E27FC236}">
                <a16:creationId xmlns:a16="http://schemas.microsoft.com/office/drawing/2014/main" id="{C6727030-4F85-B845-B014-77B365B7FD45}"/>
              </a:ext>
            </a:extLst>
          </p:cNvPr>
          <p:cNvSpPr txBox="1">
            <a:spLocks noChangeArrowheads="1"/>
          </p:cNvSpPr>
          <p:nvPr/>
        </p:nvSpPr>
        <p:spPr bwMode="auto">
          <a:xfrm rot="5273514">
            <a:off x="6621034" y="2903648"/>
            <a:ext cx="7366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b="1" dirty="0"/>
              <a:t>…..</a:t>
            </a:r>
          </a:p>
        </p:txBody>
      </p:sp>
      <p:grpSp>
        <p:nvGrpSpPr>
          <p:cNvPr id="202" name="Group 37">
            <a:extLst>
              <a:ext uri="{FF2B5EF4-FFF2-40B4-BE49-F238E27FC236}">
                <a16:creationId xmlns:a16="http://schemas.microsoft.com/office/drawing/2014/main" id="{FC6117E2-B5D0-3248-96A0-171CEAC333D8}"/>
              </a:ext>
            </a:extLst>
          </p:cNvPr>
          <p:cNvGrpSpPr>
            <a:grpSpLocks/>
          </p:cNvGrpSpPr>
          <p:nvPr/>
        </p:nvGrpSpPr>
        <p:grpSpPr bwMode="auto">
          <a:xfrm>
            <a:off x="6463839" y="2201136"/>
            <a:ext cx="779462" cy="679450"/>
            <a:chOff x="-44" y="1473"/>
            <a:chExt cx="981" cy="1105"/>
          </a:xfrm>
        </p:grpSpPr>
        <p:pic>
          <p:nvPicPr>
            <p:cNvPr id="203" name="Picture 38" descr="desktop_computer_stylized_medium">
              <a:extLst>
                <a:ext uri="{FF2B5EF4-FFF2-40B4-BE49-F238E27FC236}">
                  <a16:creationId xmlns:a16="http://schemas.microsoft.com/office/drawing/2014/main" id="{02935161-CCBE-2A48-BC18-CA296B2587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39">
              <a:extLst>
                <a:ext uri="{FF2B5EF4-FFF2-40B4-BE49-F238E27FC236}">
                  <a16:creationId xmlns:a16="http://schemas.microsoft.com/office/drawing/2014/main" id="{5B7E3C12-D98B-2E49-A821-F85CB5D7880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205" name="Group 40">
            <a:extLst>
              <a:ext uri="{FF2B5EF4-FFF2-40B4-BE49-F238E27FC236}">
                <a16:creationId xmlns:a16="http://schemas.microsoft.com/office/drawing/2014/main" id="{0E3BE850-C184-E14C-9842-3CBC3C7E1737}"/>
              </a:ext>
            </a:extLst>
          </p:cNvPr>
          <p:cNvGrpSpPr>
            <a:grpSpLocks/>
          </p:cNvGrpSpPr>
          <p:nvPr/>
        </p:nvGrpSpPr>
        <p:grpSpPr bwMode="auto">
          <a:xfrm>
            <a:off x="6468601" y="3526699"/>
            <a:ext cx="779463" cy="679450"/>
            <a:chOff x="-44" y="1473"/>
            <a:chExt cx="981" cy="1105"/>
          </a:xfrm>
        </p:grpSpPr>
        <p:pic>
          <p:nvPicPr>
            <p:cNvPr id="206" name="Picture 41" descr="desktop_computer_stylized_medium">
              <a:extLst>
                <a:ext uri="{FF2B5EF4-FFF2-40B4-BE49-F238E27FC236}">
                  <a16:creationId xmlns:a16="http://schemas.microsoft.com/office/drawing/2014/main" id="{34A00C7E-9612-B241-9898-B49B514E66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2">
              <a:extLst>
                <a:ext uri="{FF2B5EF4-FFF2-40B4-BE49-F238E27FC236}">
                  <a16:creationId xmlns:a16="http://schemas.microsoft.com/office/drawing/2014/main" id="{02AA78CC-14BC-8743-BD3C-4017C62F7EA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208" name="TextBox 1">
            <a:extLst>
              <a:ext uri="{FF2B5EF4-FFF2-40B4-BE49-F238E27FC236}">
                <a16:creationId xmlns:a16="http://schemas.microsoft.com/office/drawing/2014/main" id="{7FA05B00-8070-F844-B8CC-0195B065BA34}"/>
              </a:ext>
            </a:extLst>
          </p:cNvPr>
          <p:cNvSpPr txBox="1">
            <a:spLocks noChangeArrowheads="1"/>
          </p:cNvSpPr>
          <p:nvPr/>
        </p:nvSpPr>
        <p:spPr bwMode="auto">
          <a:xfrm>
            <a:off x="1139381" y="6279154"/>
            <a:ext cx="91471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400" dirty="0"/>
              <a:t>* Check out the online interactive exercises for more examples: h</a:t>
            </a:r>
            <a:r>
              <a:rPr lang="en-US" altLang="en-US" sz="1200" dirty="0"/>
              <a:t>ttp://</a:t>
            </a:r>
            <a:r>
              <a:rPr lang="en-US" altLang="en-US" sz="1200" dirty="0" err="1"/>
              <a:t>gaia.cs.umass.edu</a:t>
            </a:r>
            <a:r>
              <a:rPr lang="en-US" altLang="en-US" sz="1200" dirty="0"/>
              <a:t>/</a:t>
            </a:r>
            <a:r>
              <a:rPr lang="en-US" altLang="en-US" sz="1200" dirty="0" err="1"/>
              <a:t>kurose_ross</a:t>
            </a:r>
            <a:r>
              <a:rPr lang="en-US" altLang="en-US" sz="1200" dirty="0"/>
              <a:t>/interactive</a:t>
            </a:r>
          </a:p>
        </p:txBody>
      </p:sp>
      <p:grpSp>
        <p:nvGrpSpPr>
          <p:cNvPr id="209" name="Group 208">
            <a:extLst>
              <a:ext uri="{FF2B5EF4-FFF2-40B4-BE49-F238E27FC236}">
                <a16:creationId xmlns:a16="http://schemas.microsoft.com/office/drawing/2014/main" id="{4B3A0818-19B8-9E49-8541-BB1E767B23AC}"/>
              </a:ext>
            </a:extLst>
          </p:cNvPr>
          <p:cNvGrpSpPr/>
          <p:nvPr/>
        </p:nvGrpSpPr>
        <p:grpSpPr>
          <a:xfrm>
            <a:off x="8273141" y="2958864"/>
            <a:ext cx="1158784" cy="572412"/>
            <a:chOff x="7493876" y="2774731"/>
            <a:chExt cx="1481958" cy="894622"/>
          </a:xfrm>
        </p:grpSpPr>
        <p:sp>
          <p:nvSpPr>
            <p:cNvPr id="210" name="Freeform 209">
              <a:extLst>
                <a:ext uri="{FF2B5EF4-FFF2-40B4-BE49-F238E27FC236}">
                  <a16:creationId xmlns:a16="http://schemas.microsoft.com/office/drawing/2014/main" id="{CF8F931D-76DE-FE49-9C97-0EB9F8B3CE9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11" name="Oval 210">
              <a:extLst>
                <a:ext uri="{FF2B5EF4-FFF2-40B4-BE49-F238E27FC236}">
                  <a16:creationId xmlns:a16="http://schemas.microsoft.com/office/drawing/2014/main" id="{9BACE013-EB36-8F4C-858D-8A49A2D9AB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12" name="Group 211">
              <a:extLst>
                <a:ext uri="{FF2B5EF4-FFF2-40B4-BE49-F238E27FC236}">
                  <a16:creationId xmlns:a16="http://schemas.microsoft.com/office/drawing/2014/main" id="{CAA52B1D-D65D-CA48-9107-33F16F5843B3}"/>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AA4C5BCE-82B8-0048-8448-58CACF31A5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Freeform 213">
                <a:extLst>
                  <a:ext uri="{FF2B5EF4-FFF2-40B4-BE49-F238E27FC236}">
                    <a16:creationId xmlns:a16="http://schemas.microsoft.com/office/drawing/2014/main" id="{58CE4538-1F7C-F447-B65D-F903F168741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Freeform 214">
                <a:extLst>
                  <a:ext uri="{FF2B5EF4-FFF2-40B4-BE49-F238E27FC236}">
                    <a16:creationId xmlns:a16="http://schemas.microsoft.com/office/drawing/2014/main" id="{BD10D606-81D5-2A4F-98EC-DD366D0D48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Freeform 215">
                <a:extLst>
                  <a:ext uri="{FF2B5EF4-FFF2-40B4-BE49-F238E27FC236}">
                    <a16:creationId xmlns:a16="http://schemas.microsoft.com/office/drawing/2014/main" id="{91356B23-1026-5749-BCDE-A884E53177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2" name="Rectangle 3">
            <a:extLst>
              <a:ext uri="{FF2B5EF4-FFF2-40B4-BE49-F238E27FC236}">
                <a16:creationId xmlns:a16="http://schemas.microsoft.com/office/drawing/2014/main" id="{8C03B010-69E6-1B42-A828-F93C63189906}"/>
              </a:ext>
            </a:extLst>
          </p:cNvPr>
          <p:cNvSpPr txBox="1">
            <a:spLocks noChangeArrowheads="1"/>
          </p:cNvSpPr>
          <p:nvPr/>
        </p:nvSpPr>
        <p:spPr>
          <a:xfrm>
            <a:off x="876136" y="3844293"/>
            <a:ext cx="4938590" cy="9642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66738" lvl="1" indent="-219075">
              <a:tabLst>
                <a:tab pos="566738" algn="l"/>
              </a:tabLst>
            </a:pPr>
            <a:endParaRPr lang="en-US" altLang="en-US" sz="2000" dirty="0">
              <a:ea typeface="Arial" panose="020B0604020202020204" pitchFamily="34" charset="0"/>
            </a:endParaRPr>
          </a:p>
          <a:p>
            <a:pPr marL="231775" indent="-231775">
              <a:tabLst>
                <a:tab pos="566738" algn="l"/>
              </a:tabLst>
            </a:pPr>
            <a:r>
              <a:rPr lang="en-US" altLang="en-US" i="1" dirty="0">
                <a:solidFill>
                  <a:srgbClr val="CC0000"/>
                </a:solidFill>
                <a:ea typeface="ＭＳ Ｐゴシック" panose="020B0600070205080204" pitchFamily="34" charset="-128"/>
              </a:rPr>
              <a:t>circuit-switching:</a:t>
            </a:r>
            <a:r>
              <a:rPr lang="en-US" altLang="en-US" dirty="0">
                <a:ea typeface="ＭＳ Ｐゴシック" panose="020B0600070205080204" pitchFamily="34" charset="-128"/>
              </a:rPr>
              <a:t> </a:t>
            </a:r>
            <a:r>
              <a:rPr lang="en-US" altLang="en-US" sz="2400" dirty="0">
                <a:ea typeface="Arial" panose="020B0604020202020204" pitchFamily="34" charset="0"/>
              </a:rPr>
              <a:t>10 users</a:t>
            </a:r>
          </a:p>
          <a:p>
            <a:pPr marL="231775" indent="-231775">
              <a:tabLst>
                <a:tab pos="566738" algn="l"/>
              </a:tabLst>
            </a:pPr>
            <a:endParaRPr lang="en-US" altLang="en-US" sz="2400" dirty="0">
              <a:ea typeface="ＭＳ Ｐゴシック" panose="020B0600070205080204" pitchFamily="34" charset="-128"/>
            </a:endParaRPr>
          </a:p>
        </p:txBody>
      </p:sp>
      <p:grpSp>
        <p:nvGrpSpPr>
          <p:cNvPr id="3" name="Group 2">
            <a:extLst>
              <a:ext uri="{FF2B5EF4-FFF2-40B4-BE49-F238E27FC236}">
                <a16:creationId xmlns:a16="http://schemas.microsoft.com/office/drawing/2014/main" id="{4B5DB36C-372C-7849-A383-A0D110333457}"/>
              </a:ext>
            </a:extLst>
          </p:cNvPr>
          <p:cNvGrpSpPr/>
          <p:nvPr/>
        </p:nvGrpSpPr>
        <p:grpSpPr>
          <a:xfrm>
            <a:off x="885863" y="4351193"/>
            <a:ext cx="10451674" cy="2164114"/>
            <a:chOff x="873391" y="4754243"/>
            <a:chExt cx="10451674" cy="2164114"/>
          </a:xfrm>
        </p:grpSpPr>
        <p:grpSp>
          <p:nvGrpSpPr>
            <p:cNvPr id="198" name="Group 35">
              <a:extLst>
                <a:ext uri="{FF2B5EF4-FFF2-40B4-BE49-F238E27FC236}">
                  <a16:creationId xmlns:a16="http://schemas.microsoft.com/office/drawing/2014/main" id="{A49C0A36-CC03-E845-B104-1E5E28C28B9B}"/>
                </a:ext>
              </a:extLst>
            </p:cNvPr>
            <p:cNvGrpSpPr>
              <a:grpSpLocks/>
            </p:cNvGrpSpPr>
            <p:nvPr/>
          </p:nvGrpSpPr>
          <p:grpSpPr bwMode="auto">
            <a:xfrm>
              <a:off x="6380002" y="4823405"/>
              <a:ext cx="4945063" cy="1052511"/>
              <a:chOff x="3016" y="3097"/>
              <a:chExt cx="3115" cy="663"/>
            </a:xfrm>
          </p:grpSpPr>
          <p:sp>
            <p:nvSpPr>
              <p:cNvPr id="199" name="Text Box 48">
                <a:extLst>
                  <a:ext uri="{FF2B5EF4-FFF2-40B4-BE49-F238E27FC236}">
                    <a16:creationId xmlns:a16="http://schemas.microsoft.com/office/drawing/2014/main" id="{9E10FA5A-2003-7947-A8C2-B7FD6785FCA5}"/>
                  </a:ext>
                </a:extLst>
              </p:cNvPr>
              <p:cNvSpPr txBox="1">
                <a:spLocks noChangeArrowheads="1"/>
              </p:cNvSpPr>
              <p:nvPr/>
            </p:nvSpPr>
            <p:spPr bwMode="auto">
              <a:xfrm>
                <a:off x="3016" y="3097"/>
                <a:ext cx="311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i="1" dirty="0">
                    <a:solidFill>
                      <a:srgbClr val="CC0000"/>
                    </a:solidFill>
                    <a:latin typeface="+mn-lt"/>
                  </a:rPr>
                  <a:t>Q:</a:t>
                </a:r>
                <a:r>
                  <a:rPr lang="en-US" altLang="en-US" sz="2800" dirty="0">
                    <a:latin typeface="+mn-lt"/>
                  </a:rPr>
                  <a:t> how did we get value 0.0004?</a:t>
                </a:r>
              </a:p>
            </p:txBody>
          </p:sp>
          <p:sp>
            <p:nvSpPr>
              <p:cNvPr id="200" name="Text Box 48">
                <a:extLst>
                  <a:ext uri="{FF2B5EF4-FFF2-40B4-BE49-F238E27FC236}">
                    <a16:creationId xmlns:a16="http://schemas.microsoft.com/office/drawing/2014/main" id="{8EB381AD-3137-AD48-AB59-379F21535568}"/>
                  </a:ext>
                </a:extLst>
              </p:cNvPr>
              <p:cNvSpPr txBox="1">
                <a:spLocks noChangeArrowheads="1"/>
              </p:cNvSpPr>
              <p:nvPr/>
            </p:nvSpPr>
            <p:spPr bwMode="auto">
              <a:xfrm>
                <a:off x="3031" y="3430"/>
                <a:ext cx="298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i="1">
                    <a:solidFill>
                      <a:srgbClr val="CC0000"/>
                    </a:solidFill>
                    <a:latin typeface="+mn-lt"/>
                  </a:rPr>
                  <a:t>Q:</a:t>
                </a:r>
                <a:r>
                  <a:rPr lang="en-US" altLang="en-US" sz="2800">
                    <a:latin typeface="+mn-lt"/>
                  </a:rPr>
                  <a:t> what happens if &gt; 35 users ?</a:t>
                </a:r>
              </a:p>
            </p:txBody>
          </p:sp>
        </p:grpSp>
        <p:sp>
          <p:nvSpPr>
            <p:cNvPr id="33" name="Rectangle 3">
              <a:extLst>
                <a:ext uri="{FF2B5EF4-FFF2-40B4-BE49-F238E27FC236}">
                  <a16:creationId xmlns:a16="http://schemas.microsoft.com/office/drawing/2014/main" id="{0E79ECB0-50CE-C240-AF72-D00F85143460}"/>
                </a:ext>
              </a:extLst>
            </p:cNvPr>
            <p:cNvSpPr txBox="1">
              <a:spLocks noChangeArrowheads="1"/>
            </p:cNvSpPr>
            <p:nvPr/>
          </p:nvSpPr>
          <p:spPr>
            <a:xfrm>
              <a:off x="873391" y="4754243"/>
              <a:ext cx="4938590" cy="21641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66738" lvl="1" indent="-219075">
                <a:tabLst>
                  <a:tab pos="566738" algn="l"/>
                </a:tabLst>
              </a:pPr>
              <a:endParaRPr lang="en-US" altLang="en-US" sz="2000" dirty="0">
                <a:ea typeface="Arial" panose="020B0604020202020204" pitchFamily="34" charset="0"/>
              </a:endParaRPr>
            </a:p>
            <a:p>
              <a:pPr marL="231775" indent="-231775">
                <a:tabLst>
                  <a:tab pos="566738" algn="l"/>
                </a:tabLst>
              </a:pPr>
              <a:r>
                <a:rPr lang="en-US" altLang="en-US" i="1" dirty="0">
                  <a:solidFill>
                    <a:srgbClr val="CC0000"/>
                  </a:solidFill>
                  <a:ea typeface="ＭＳ Ｐゴシック" panose="020B0600070205080204" pitchFamily="34" charset="-128"/>
                </a:rPr>
                <a:t>packet switching:</a:t>
              </a:r>
              <a:r>
                <a:rPr lang="en-US" altLang="en-US" dirty="0">
                  <a:ea typeface="ＭＳ Ｐゴシック" panose="020B0600070205080204" pitchFamily="34" charset="-128"/>
                </a:rPr>
                <a:t>  </a:t>
              </a:r>
              <a:r>
                <a:rPr lang="en-US" altLang="en-US" sz="2400" dirty="0">
                  <a:ea typeface="Arial" panose="020B0604020202020204" pitchFamily="34" charset="0"/>
                </a:rPr>
                <a:t>with 35 users, probability &gt; 10 active at same time is less than .0004 *</a:t>
              </a:r>
            </a:p>
            <a:p>
              <a:pPr marL="231775" indent="-231775">
                <a:tabLst>
                  <a:tab pos="566738" algn="l"/>
                </a:tabLst>
              </a:pPr>
              <a:endParaRPr lang="en-US" altLang="en-US" sz="2400" dirty="0">
                <a:ea typeface="ＭＳ Ｐゴシック" panose="020B0600070205080204" pitchFamily="34" charset="-128"/>
              </a:endParaRPr>
            </a:p>
          </p:txBody>
        </p:sp>
      </p:grpSp>
    </p:spTree>
    <p:extLst>
      <p:ext uri="{BB962C8B-B14F-4D97-AF65-F5344CB8AC3E}">
        <p14:creationId xmlns:p14="http://schemas.microsoft.com/office/powerpoint/2010/main" val="2747047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08"/>
                                        </p:tgtEl>
                                        <p:attrNameLst>
                                          <p:attrName>style.visibility</p:attrName>
                                        </p:attrNameLst>
                                      </p:cBhvr>
                                      <p:to>
                                        <p:strVal val="visible"/>
                                      </p:to>
                                    </p:set>
                                    <p:animEffect transition="in" filter="dissolve">
                                      <p:cBhvr>
                                        <p:cTn id="1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P spid="32"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2" descr="C:\Users\0wner\Downloads\compsec\WhatsApp Image 2019-09-08 at 1.02.53 PM.jpe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8" y="260350"/>
            <a:ext cx="8208961" cy="6096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5" name="TextBox 2"/>
          <p:cNvSpPr txBox="1">
            <a:spLocks noChangeArrowheads="1"/>
          </p:cNvSpPr>
          <p:nvPr/>
        </p:nvSpPr>
        <p:spPr bwMode="auto">
          <a:xfrm>
            <a:off x="1847851" y="260350"/>
            <a:ext cx="633571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i="1">
                <a:solidFill>
                  <a:srgbClr val="C00000"/>
                </a:solidFill>
                <a:latin typeface="Arial" panose="020B0604020202020204" pitchFamily="34" charset="0"/>
              </a:rPr>
              <a:t>Not part of your syllabus – just extra knowledge</a:t>
            </a:r>
            <a:endParaRPr lang="ms-MY" altLang="en-US" sz="1600" i="1">
              <a:solidFill>
                <a:srgbClr val="C00000"/>
              </a:solidFill>
              <a:latin typeface="Arial" panose="020B0604020202020204" pitchFamily="34" charset="0"/>
            </a:endParaRPr>
          </a:p>
        </p:txBody>
      </p:sp>
      <p:pic>
        <p:nvPicPr>
          <p:cNvPr id="95236" name="Graphic 3"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C8841020-D83B-FB65-C474-88948F6A206E}"/>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51</a:t>
            </a:fld>
            <a:endParaRPr lang="en-US" dirty="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44222"/>
            <a:ext cx="10515600" cy="894622"/>
          </a:xfrm>
        </p:spPr>
        <p:txBody>
          <a:bodyPr/>
          <a:lstStyle/>
          <a:p>
            <a:r>
              <a:rPr lang="en-US" altLang="ja-JP" dirty="0"/>
              <a:t>Packet switching versus circuit switching</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52</a:t>
            </a:fld>
            <a:endParaRPr lang="en-US" dirty="0"/>
          </a:p>
        </p:txBody>
      </p:sp>
      <p:sp>
        <p:nvSpPr>
          <p:cNvPr id="32" name="Rectangle 3">
            <a:extLst>
              <a:ext uri="{FF2B5EF4-FFF2-40B4-BE49-F238E27FC236}">
                <a16:creationId xmlns:a16="http://schemas.microsoft.com/office/drawing/2014/main" id="{1E1E91E4-C791-1C4D-B1E2-869BEEE107FE}"/>
              </a:ext>
            </a:extLst>
          </p:cNvPr>
          <p:cNvSpPr txBox="1">
            <a:spLocks noChangeArrowheads="1"/>
          </p:cNvSpPr>
          <p:nvPr/>
        </p:nvSpPr>
        <p:spPr>
          <a:xfrm>
            <a:off x="883212" y="1729966"/>
            <a:ext cx="1047058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sz="2400" dirty="0">
                <a:ea typeface="ＭＳ Ｐゴシック" panose="020B0600070205080204" pitchFamily="34" charset="-128"/>
              </a:rPr>
              <a:t>great for “</a:t>
            </a:r>
            <a:r>
              <a:rPr lang="en-US" altLang="en-US" sz="2400" dirty="0" err="1">
                <a:ea typeface="ＭＳ Ｐゴシック" panose="020B0600070205080204" pitchFamily="34" charset="-128"/>
              </a:rPr>
              <a:t>bursty</a:t>
            </a:r>
            <a:r>
              <a:rPr lang="en-US" altLang="en-US" sz="2400" dirty="0">
                <a:ea typeface="ＭＳ Ｐゴシック" panose="020B0600070205080204" pitchFamily="34" charset="-128"/>
              </a:rPr>
              <a:t>” data – sometimes has data to send, but at other times not</a:t>
            </a:r>
          </a:p>
          <a:p>
            <a:pPr marL="682625" lvl="1" indent="-225425"/>
            <a:r>
              <a:rPr lang="en-US" altLang="en-US" dirty="0">
                <a:ea typeface="Arial" panose="020B0604020202020204" pitchFamily="34" charset="0"/>
              </a:rPr>
              <a:t>resource sharing</a:t>
            </a:r>
          </a:p>
          <a:p>
            <a:pPr marL="682625" lvl="1" indent="-225425"/>
            <a:r>
              <a:rPr lang="en-US" altLang="en-US" dirty="0">
                <a:ea typeface="Arial" panose="020B0604020202020204" pitchFamily="34" charset="0"/>
              </a:rPr>
              <a:t>simpler, no call setup</a:t>
            </a:r>
            <a:endParaRPr lang="en-US" altLang="en-US" sz="2000" dirty="0">
              <a:ea typeface="Arial" panose="020B0604020202020204" pitchFamily="34" charset="0"/>
            </a:endParaRPr>
          </a:p>
          <a:p>
            <a:pPr marL="287338" indent="-287338"/>
            <a:r>
              <a:rPr lang="en-US" altLang="en-US" sz="2400" dirty="0">
                <a:solidFill>
                  <a:srgbClr val="CC0000"/>
                </a:solidFill>
                <a:ea typeface="ＭＳ Ｐゴシック" panose="020B0600070205080204" pitchFamily="34" charset="-128"/>
              </a:rPr>
              <a:t>excessive congestion possible:</a:t>
            </a:r>
            <a:r>
              <a:rPr lang="en-US" altLang="en-US" sz="2400" dirty="0">
                <a:ea typeface="ＭＳ Ｐゴシック" panose="020B0600070205080204" pitchFamily="34" charset="-128"/>
              </a:rPr>
              <a:t> packet delay and loss due to buffer overflow</a:t>
            </a:r>
          </a:p>
          <a:p>
            <a:pPr marL="682625" lvl="1" indent="-225425"/>
            <a:r>
              <a:rPr lang="en-US" altLang="en-US" dirty="0">
                <a:ea typeface="Arial" panose="020B0604020202020204" pitchFamily="34" charset="0"/>
              </a:rPr>
              <a:t>protocols needed for reliable data transfer, congestion control</a:t>
            </a:r>
            <a:endParaRPr lang="en-US" altLang="en-US" sz="2000" dirty="0">
              <a:ea typeface="Arial" panose="020B0604020202020204" pitchFamily="34" charset="0"/>
            </a:endParaRPr>
          </a:p>
          <a:p>
            <a:pPr marL="287338" indent="-287338"/>
            <a:r>
              <a:rPr lang="en-US" altLang="en-US" sz="2400" i="1" dirty="0">
                <a:solidFill>
                  <a:srgbClr val="CC0000"/>
                </a:solidFill>
                <a:ea typeface="ＭＳ Ｐゴシック" panose="020B0600070205080204" pitchFamily="34" charset="-128"/>
              </a:rPr>
              <a:t>Q:</a:t>
            </a:r>
            <a:r>
              <a:rPr lang="en-US" altLang="en-US" sz="2400" dirty="0">
                <a:solidFill>
                  <a:srgbClr val="CC0000"/>
                </a:solidFill>
                <a:ea typeface="ＭＳ Ｐゴシック" panose="020B0600070205080204" pitchFamily="34" charset="-128"/>
              </a:rPr>
              <a:t> How to provide circuit-like behavior?</a:t>
            </a:r>
          </a:p>
          <a:p>
            <a:pPr marL="682625" lvl="1" indent="-225425"/>
            <a:r>
              <a:rPr lang="en-US" altLang="en-US" dirty="0">
                <a:ea typeface="Arial" panose="020B0604020202020204" pitchFamily="34" charset="0"/>
              </a:rPr>
              <a:t>bandwidth guarantees traditionally used for audio/video applications</a:t>
            </a:r>
          </a:p>
        </p:txBody>
      </p:sp>
      <p:sp>
        <p:nvSpPr>
          <p:cNvPr id="33" name="Rectangle 4">
            <a:extLst>
              <a:ext uri="{FF2B5EF4-FFF2-40B4-BE49-F238E27FC236}">
                <a16:creationId xmlns:a16="http://schemas.microsoft.com/office/drawing/2014/main" id="{9C2D0C7C-93C1-5F4F-9441-5CB1AFCF31E3}"/>
              </a:ext>
            </a:extLst>
          </p:cNvPr>
          <p:cNvSpPr txBox="1">
            <a:spLocks noChangeArrowheads="1"/>
          </p:cNvSpPr>
          <p:nvPr/>
        </p:nvSpPr>
        <p:spPr>
          <a:xfrm>
            <a:off x="726050" y="1206091"/>
            <a:ext cx="7620000" cy="6096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dirty="0">
                <a:solidFill>
                  <a:srgbClr val="CC0000"/>
                </a:solidFill>
                <a:ea typeface="ＭＳ Ｐゴシック" panose="020B0600070205080204" pitchFamily="34" charset="-128"/>
              </a:rPr>
              <a:t>Is packet switching a “</a:t>
            </a:r>
            <a:r>
              <a:rPr lang="en-US" altLang="ja-JP" dirty="0">
                <a:solidFill>
                  <a:srgbClr val="CC0000"/>
                </a:solidFill>
                <a:ea typeface="ＭＳ Ｐゴシック" panose="020B0600070205080204" pitchFamily="34" charset="-128"/>
              </a:rPr>
              <a:t>slam dunk winner”?</a:t>
            </a:r>
            <a:endParaRPr lang="en-US" altLang="en-US" dirty="0">
              <a:solidFill>
                <a:srgbClr val="CC0000"/>
              </a:solidFill>
              <a:ea typeface="ＭＳ Ｐゴシック" panose="020B0600070205080204" pitchFamily="34" charset="-128"/>
            </a:endParaRPr>
          </a:p>
        </p:txBody>
      </p:sp>
      <p:sp>
        <p:nvSpPr>
          <p:cNvPr id="34" name="Text Box 20">
            <a:extLst>
              <a:ext uri="{FF2B5EF4-FFF2-40B4-BE49-F238E27FC236}">
                <a16:creationId xmlns:a16="http://schemas.microsoft.com/office/drawing/2014/main" id="{64D1D8C4-8925-DF49-90D8-9254DA1FD98A}"/>
              </a:ext>
            </a:extLst>
          </p:cNvPr>
          <p:cNvSpPr txBox="1">
            <a:spLocks noChangeArrowheads="1"/>
          </p:cNvSpPr>
          <p:nvPr/>
        </p:nvSpPr>
        <p:spPr bwMode="auto">
          <a:xfrm>
            <a:off x="977457" y="5307609"/>
            <a:ext cx="984487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i="1" dirty="0">
                <a:solidFill>
                  <a:srgbClr val="CC0000"/>
                </a:solidFill>
                <a:latin typeface="Calibri" panose="020F0502020204030204" pitchFamily="34" charset="0"/>
                <a:cs typeface="Calibri" panose="020F0502020204030204" pitchFamily="34" charset="0"/>
              </a:rPr>
              <a:t>Q:</a:t>
            </a:r>
            <a:r>
              <a:rPr lang="en-US" altLang="en-US" sz="2800" dirty="0">
                <a:latin typeface="Calibri" panose="020F0502020204030204" pitchFamily="34" charset="0"/>
                <a:cs typeface="Calibri" panose="020F0502020204030204" pitchFamily="34" charset="0"/>
              </a:rPr>
              <a:t>  human analogies of reserved resources (circuit switching) versus on-demand allocation (packet switching)?</a:t>
            </a:r>
          </a:p>
        </p:txBody>
      </p:sp>
    </p:spTree>
    <p:extLst>
      <p:ext uri="{BB962C8B-B14F-4D97-AF65-F5344CB8AC3E}">
        <p14:creationId xmlns:p14="http://schemas.microsoft.com/office/powerpoint/2010/main" val="3346647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3" name="Rectangle 3"/>
          <p:cNvSpPr>
            <a:spLocks noGrp="1" noChangeArrowheads="1"/>
          </p:cNvSpPr>
          <p:nvPr>
            <p:ph type="body" idx="4294967295"/>
          </p:nvPr>
        </p:nvSpPr>
        <p:spPr>
          <a:xfrm>
            <a:off x="1919288" y="333375"/>
            <a:ext cx="8443912" cy="457200"/>
          </a:xfrm>
        </p:spPr>
        <p:txBody>
          <a:bodyPr>
            <a:normAutofit lnSpcReduction="10000"/>
          </a:bodyPr>
          <a:lstStyle/>
          <a:p>
            <a:pPr algn="ctr" eaLnBrk="1" hangingPunct="1">
              <a:buFont typeface="Tahoma" charset="0"/>
              <a:buNone/>
              <a:defRPr/>
            </a:pPr>
            <a:r>
              <a:rPr lang="en-US" b="1" dirty="0">
                <a:solidFill>
                  <a:srgbClr val="C00000"/>
                </a:solidFill>
              </a:rPr>
              <a:t>Circuit Switched – Connection-Oriented Networks</a:t>
            </a:r>
          </a:p>
        </p:txBody>
      </p:sp>
      <p:pic>
        <p:nvPicPr>
          <p:cNvPr id="98307" name="Picture 4" descr="Netarc0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19288" y="886724"/>
            <a:ext cx="9330021" cy="5353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08" name="Graphic 3"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988550" y="31750"/>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9D2175A7-3E46-8539-C209-EBFD74A869AF}"/>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53</a:t>
            </a:fld>
            <a:endParaRPr lang="en-US" dirty="0"/>
          </a:p>
        </p:txBody>
      </p:sp>
    </p:spTree>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3"/>
          <p:cNvSpPr>
            <a:spLocks noGrp="1" noChangeArrowheads="1"/>
          </p:cNvSpPr>
          <p:nvPr>
            <p:ph type="body" idx="4294967295"/>
          </p:nvPr>
        </p:nvSpPr>
        <p:spPr>
          <a:xfrm>
            <a:off x="1992314" y="260350"/>
            <a:ext cx="8370887" cy="457200"/>
          </a:xfrm>
        </p:spPr>
        <p:txBody>
          <a:bodyPr>
            <a:normAutofit lnSpcReduction="10000"/>
          </a:bodyPr>
          <a:lstStyle/>
          <a:p>
            <a:pPr algn="ctr" eaLnBrk="1" hangingPunct="1">
              <a:buFont typeface="Tahoma" panose="020B0604030504040204" pitchFamily="34" charset="0"/>
              <a:buNone/>
            </a:pPr>
            <a:r>
              <a:rPr lang="en-US" altLang="en-US" b="1">
                <a:solidFill>
                  <a:srgbClr val="C00000"/>
                </a:solidFill>
                <a:ea typeface="ＭＳ Ｐゴシック" panose="020B0600070205080204" pitchFamily="34" charset="-128"/>
              </a:rPr>
              <a:t>Packet Switched – Connectionless Networks</a:t>
            </a:r>
          </a:p>
        </p:txBody>
      </p:sp>
      <p:pic>
        <p:nvPicPr>
          <p:cNvPr id="99331" name="Picture 5" descr="Netarc0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86063" y="981075"/>
            <a:ext cx="9577137" cy="5399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2" name="Graphic 3"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939338" y="125413"/>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73E467F6-1BEB-0600-F29C-54EFAA22FFF8}"/>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54</a:t>
            </a:fld>
            <a:endParaRPr lang="en-US" dirty="0"/>
          </a:p>
        </p:txBody>
      </p:sp>
    </p:spTree>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667" name="Group 123"/>
          <p:cNvGraphicFramePr>
            <a:graphicFrameLocks noGrp="1"/>
          </p:cNvGraphicFramePr>
          <p:nvPr>
            <p:ph idx="4294967295"/>
          </p:nvPr>
        </p:nvGraphicFramePr>
        <p:xfrm>
          <a:off x="1919288" y="549276"/>
          <a:ext cx="8334376" cy="5359399"/>
        </p:xfrm>
        <a:graphic>
          <a:graphicData uri="http://schemas.openxmlformats.org/drawingml/2006/table">
            <a:tbl>
              <a:tblPr/>
              <a:tblGrid>
                <a:gridCol w="4167188">
                  <a:extLst>
                    <a:ext uri="{9D8B030D-6E8A-4147-A177-3AD203B41FA5}">
                      <a16:colId xmlns:a16="http://schemas.microsoft.com/office/drawing/2014/main" val="20000"/>
                    </a:ext>
                  </a:extLst>
                </a:gridCol>
                <a:gridCol w="4167188">
                  <a:extLst>
                    <a:ext uri="{9D8B030D-6E8A-4147-A177-3AD203B41FA5}">
                      <a16:colId xmlns:a16="http://schemas.microsoft.com/office/drawing/2014/main" val="20001"/>
                    </a:ext>
                  </a:extLst>
                </a:gridCol>
              </a:tblGrid>
              <a:tr h="1123309">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400" b="1" i="0" u="none" strike="noStrike" cap="none" normalizeH="0" baseline="0" dirty="0">
                          <a:ln>
                            <a:noFill/>
                          </a:ln>
                          <a:solidFill>
                            <a:schemeClr val="bg1"/>
                          </a:solidFill>
                          <a:effectLst/>
                          <a:latin typeface="Arial" charset="0"/>
                        </a:rPr>
                        <a:t>Circuit Switched</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400" b="1" i="0" u="none" strike="noStrike" cap="none" normalizeH="0" baseline="0" dirty="0">
                          <a:ln>
                            <a:noFill/>
                          </a:ln>
                          <a:solidFill>
                            <a:schemeClr val="bg1"/>
                          </a:solidFill>
                          <a:effectLst/>
                          <a:latin typeface="Arial" charset="0"/>
                        </a:rPr>
                        <a:t>Packet Switched</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extLst>
                  <a:ext uri="{0D108BD9-81ED-4DB2-BD59-A6C34878D82A}">
                    <a16:rowId xmlns:a16="http://schemas.microsoft.com/office/drawing/2014/main" val="10000"/>
                  </a:ext>
                </a:extLst>
              </a:tr>
              <a:tr h="847218">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Connection-oriented</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Connectionless</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extLst>
                  <a:ext uri="{0D108BD9-81ED-4DB2-BD59-A6C34878D82A}">
                    <a16:rowId xmlns:a16="http://schemas.microsoft.com/office/drawing/2014/main" val="10001"/>
                  </a:ext>
                </a:extLst>
              </a:tr>
              <a:tr h="847218">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Dedicated Circuit</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Shared Circuit</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extLst>
                  <a:ext uri="{0D108BD9-81ED-4DB2-BD59-A6C34878D82A}">
                    <a16:rowId xmlns:a16="http://schemas.microsoft.com/office/drawing/2014/main" val="10002"/>
                  </a:ext>
                </a:extLst>
              </a:tr>
              <a:tr h="847218">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Guaranteed level of service</a:t>
                      </a:r>
                    </a:p>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(Bandwidth, QoS)</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Messages divided into packets</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extLst>
                  <a:ext uri="{0D108BD9-81ED-4DB2-BD59-A6C34878D82A}">
                    <a16:rowId xmlns:a16="http://schemas.microsoft.com/office/drawing/2014/main" val="10003"/>
                  </a:ext>
                </a:extLst>
              </a:tr>
              <a:tr h="847218">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Inefficient use of Medium</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Efficient use of Medium</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extLst>
                  <a:ext uri="{0D108BD9-81ED-4DB2-BD59-A6C34878D82A}">
                    <a16:rowId xmlns:a16="http://schemas.microsoft.com/office/drawing/2014/main" val="10004"/>
                  </a:ext>
                </a:extLst>
              </a:tr>
              <a:tr h="847218">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0" i="0" u="none" strike="noStrike" cap="none" normalizeH="0" baseline="0" dirty="0">
                          <a:ln>
                            <a:noFill/>
                          </a:ln>
                          <a:solidFill>
                            <a:schemeClr val="tx1"/>
                          </a:solidFill>
                          <a:effectLst/>
                          <a:latin typeface="Arial" charset="0"/>
                        </a:rPr>
                        <a:t>Single path, no redundancy</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tc>
                  <a:txBody>
                    <a:bodyPr/>
                    <a:lstStyle/>
                    <a:p>
                      <a:pPr marL="0" marR="0" lvl="0" indent="0" algn="l" defTabSz="914400" rtl="0" eaLnBrk="1" fontAlgn="base" latinLnBrk="0" hangingPunct="1">
                        <a:lnSpc>
                          <a:spcPct val="100000"/>
                        </a:lnSpc>
                        <a:spcBef>
                          <a:spcPct val="20000"/>
                        </a:spcBef>
                        <a:spcAft>
                          <a:spcPct val="0"/>
                        </a:spcAft>
                        <a:buClr>
                          <a:srgbClr val="FFFF00"/>
                        </a:buClr>
                        <a:buSzTx/>
                        <a:buFont typeface="Tahoma" charset="0"/>
                        <a:buNone/>
                        <a:tabLst/>
                      </a:pPr>
                      <a:r>
                        <a:rPr kumimoji="0" lang="en-US" sz="2000" b="1" i="0" u="none" strike="noStrike" cap="none" normalizeH="0" baseline="0" dirty="0">
                          <a:ln>
                            <a:noFill/>
                          </a:ln>
                          <a:solidFill>
                            <a:srgbClr val="FFC000"/>
                          </a:solidFill>
                          <a:effectLst/>
                          <a:latin typeface="Arial" charset="0"/>
                        </a:rPr>
                        <a:t>Fault Tolerant</a:t>
                      </a:r>
                      <a:r>
                        <a:rPr kumimoji="0" lang="en-US" sz="2000" b="0" i="0" u="none" strike="noStrike" cap="none" normalizeH="0" baseline="0" dirty="0">
                          <a:ln>
                            <a:noFill/>
                          </a:ln>
                          <a:solidFill>
                            <a:schemeClr val="tx1"/>
                          </a:solidFill>
                          <a:effectLst/>
                          <a:latin typeface="Arial" charset="0"/>
                        </a:rPr>
                        <a:t>, multiple possible paths</a:t>
                      </a:r>
                    </a:p>
                  </a:txBody>
                  <a:tcPr marL="45718" marR="45718" anchor="ctr" anchorCtr="1" horzOverflow="overflow">
                    <a:lnL w="38100" cap="flat" cmpd="sng" algn="ctr">
                      <a:solidFill>
                        <a:srgbClr val="FFFF99"/>
                      </a:solidFill>
                      <a:prstDash val="solid"/>
                      <a:round/>
                      <a:headEnd type="none" w="med" len="med"/>
                      <a:tailEnd type="none" w="med" len="med"/>
                    </a:lnL>
                    <a:lnR w="38100" cap="flat" cmpd="sng" algn="ctr">
                      <a:solidFill>
                        <a:srgbClr val="FFFF99"/>
                      </a:solidFill>
                      <a:prstDash val="solid"/>
                      <a:round/>
                      <a:headEnd type="none" w="med" len="med"/>
                      <a:tailEnd type="none" w="med" len="med"/>
                    </a:lnR>
                    <a:lnT w="38100" cap="flat" cmpd="sng" algn="ctr">
                      <a:solidFill>
                        <a:srgbClr val="FFFF99"/>
                      </a:solidFill>
                      <a:prstDash val="solid"/>
                      <a:round/>
                      <a:headEnd type="none" w="med" len="med"/>
                      <a:tailEnd type="none" w="med" len="med"/>
                    </a:lnT>
                    <a:lnB w="38100" cap="flat" cmpd="sng" algn="ctr">
                      <a:solidFill>
                        <a:srgbClr val="FFFF99"/>
                      </a:solidFill>
                      <a:prstDash val="solid"/>
                      <a:round/>
                      <a:headEnd type="none" w="med" len="med"/>
                      <a:tailEnd type="none" w="med" len="med"/>
                    </a:lnB>
                    <a:lnTlToBr>
                      <a:noFill/>
                    </a:lnTlToBr>
                    <a:lnBlToTr>
                      <a:noFill/>
                    </a:lnBlToTr>
                    <a:solidFill>
                      <a:srgbClr val="00B0F0"/>
                    </a:solidFill>
                  </a:tcPr>
                </a:tc>
                <a:extLst>
                  <a:ext uri="{0D108BD9-81ED-4DB2-BD59-A6C34878D82A}">
                    <a16:rowId xmlns:a16="http://schemas.microsoft.com/office/drawing/2014/main" val="10005"/>
                  </a:ext>
                </a:extLst>
              </a:tr>
            </a:tbl>
          </a:graphicData>
        </a:graphic>
      </p:graphicFrame>
      <p:pic>
        <p:nvPicPr>
          <p:cNvPr id="100377" name="Graphic 2" descr="Puzzle"/>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rot="2653558">
            <a:off x="9939338" y="6350"/>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884DBE88-A584-A129-EB1D-95B346D24EAF}"/>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55</a:t>
            </a:fld>
            <a:endParaRPr lang="en-US" dirty="0"/>
          </a:p>
        </p:txBody>
      </p:sp>
    </p:spTree>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815577" y="1547144"/>
            <a:ext cx="10087775" cy="4617464"/>
          </a:xfrm>
        </p:spPr>
        <p:txBody>
          <a:bodyPr>
            <a:normAutofit/>
          </a:bodyPr>
          <a:lstStyle/>
          <a:p>
            <a:pPr marL="466725" indent="-336550">
              <a:lnSpc>
                <a:spcPct val="85000"/>
              </a:lnSpc>
              <a:spcBef>
                <a:spcPct val="20000"/>
              </a:spcBef>
              <a:buClr>
                <a:srgbClr val="000099"/>
              </a:buClr>
              <a:buSzPct val="100000"/>
            </a:pPr>
            <a:r>
              <a:rPr lang="en-US" altLang="en-US" sz="3200" dirty="0"/>
              <a:t>Hosts connect to Internet via </a:t>
            </a:r>
            <a:r>
              <a:rPr lang="en-US" altLang="en-US" sz="3200" dirty="0">
                <a:solidFill>
                  <a:srgbClr val="C00000"/>
                </a:solidFill>
              </a:rPr>
              <a:t>access </a:t>
            </a:r>
            <a:r>
              <a:rPr lang="en-US" altLang="en-US" sz="3200" dirty="0"/>
              <a:t>Internet Service Providers (ISPs)</a:t>
            </a:r>
          </a:p>
          <a:p>
            <a:pPr marL="847725" lvl="2" indent="-269875">
              <a:lnSpc>
                <a:spcPct val="85000"/>
              </a:lnSpc>
              <a:spcBef>
                <a:spcPct val="20000"/>
              </a:spcBef>
              <a:buClr>
                <a:srgbClr val="000099"/>
              </a:buClr>
              <a:buSzPct val="100000"/>
            </a:pPr>
            <a:r>
              <a:rPr lang="en-US" altLang="en-US" sz="2800" dirty="0"/>
              <a:t>residential, enterprise (company, university, commercial) ISPs</a:t>
            </a:r>
          </a:p>
          <a:p>
            <a:pPr marL="466725" indent="-336550">
              <a:lnSpc>
                <a:spcPct val="85000"/>
              </a:lnSpc>
              <a:spcBef>
                <a:spcPct val="20000"/>
              </a:spcBef>
              <a:buClr>
                <a:srgbClr val="000099"/>
              </a:buClr>
              <a:buSzPct val="100000"/>
            </a:pPr>
            <a:r>
              <a:rPr lang="en-US" altLang="en-US" sz="3200" dirty="0"/>
              <a:t>Access ISPs in turn must be interconnected</a:t>
            </a:r>
          </a:p>
          <a:p>
            <a:pPr marL="847725" lvl="2" indent="-269875">
              <a:lnSpc>
                <a:spcPct val="85000"/>
              </a:lnSpc>
              <a:spcBef>
                <a:spcPct val="20000"/>
              </a:spcBef>
              <a:buClr>
                <a:srgbClr val="000099"/>
              </a:buClr>
              <a:buSzPct val="100000"/>
            </a:pPr>
            <a:r>
              <a:rPr lang="en-US" altLang="en-US" sz="2800" dirty="0"/>
              <a:t>so that any two hosts can send packets to each other</a:t>
            </a:r>
          </a:p>
          <a:p>
            <a:pPr marL="466725" indent="-336550">
              <a:lnSpc>
                <a:spcPct val="85000"/>
              </a:lnSpc>
              <a:spcBef>
                <a:spcPct val="20000"/>
              </a:spcBef>
              <a:buClr>
                <a:srgbClr val="000099"/>
              </a:buClr>
              <a:buSzPct val="100000"/>
            </a:pPr>
            <a:r>
              <a:rPr lang="en-US" altLang="en-US" sz="3200" dirty="0"/>
              <a:t>Resulting network of networks is very complex</a:t>
            </a:r>
          </a:p>
          <a:p>
            <a:pPr marL="847725" lvl="2" indent="-269875">
              <a:lnSpc>
                <a:spcPct val="85000"/>
              </a:lnSpc>
              <a:spcBef>
                <a:spcPct val="20000"/>
              </a:spcBef>
              <a:buClr>
                <a:srgbClr val="000099"/>
              </a:buClr>
              <a:buSzPct val="100000"/>
            </a:pPr>
            <a:r>
              <a:rPr lang="en-US" altLang="en-US" sz="2800" dirty="0"/>
              <a:t>evolution was driven by </a:t>
            </a:r>
            <a:r>
              <a:rPr lang="en-US" altLang="en-US" sz="2800" dirty="0">
                <a:solidFill>
                  <a:srgbClr val="C00000"/>
                </a:solidFill>
              </a:rPr>
              <a:t>economics</a:t>
            </a:r>
            <a:r>
              <a:rPr lang="en-US" altLang="en-US" sz="2800" dirty="0"/>
              <a:t> and </a:t>
            </a:r>
            <a:r>
              <a:rPr lang="en-US" altLang="en-US" sz="2800" dirty="0">
                <a:solidFill>
                  <a:srgbClr val="C00000"/>
                </a:solidFill>
              </a:rPr>
              <a:t>national policies</a:t>
            </a:r>
          </a:p>
          <a:p>
            <a:pPr marL="466725" indent="-336550">
              <a:lnSpc>
                <a:spcPct val="85000"/>
              </a:lnSpc>
              <a:spcBef>
                <a:spcPct val="20000"/>
              </a:spcBef>
              <a:buClr>
                <a:srgbClr val="000099"/>
              </a:buClr>
              <a:buSzPct val="100000"/>
            </a:pPr>
            <a:r>
              <a:rPr lang="en-US" altLang="en-US" sz="3200" dirty="0"/>
              <a:t>Let’</a:t>
            </a:r>
            <a:r>
              <a:rPr lang="en-US" altLang="ja-JP" sz="3200" dirty="0"/>
              <a:t>s take a stepwise approach to describe current Internet structure</a:t>
            </a:r>
            <a:endParaRPr lang="en-US" altLang="en-US" sz="3200" dirty="0"/>
          </a:p>
          <a:p>
            <a:pPr marL="174625" indent="0">
              <a:buSzPct val="75000"/>
              <a:buNone/>
            </a:pPr>
            <a:endParaRPr lang="en-US" altLang="en-US" dirty="0"/>
          </a:p>
          <a:p>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56</a:t>
            </a:fld>
            <a:endParaRPr lang="en-US" dirty="0"/>
          </a:p>
        </p:txBody>
      </p:sp>
    </p:spTree>
    <p:extLst>
      <p:ext uri="{BB962C8B-B14F-4D97-AF65-F5344CB8AC3E}">
        <p14:creationId xmlns:p14="http://schemas.microsoft.com/office/powerpoint/2010/main" val="125018179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57</a:t>
            </a:fld>
            <a:endParaRPr lang="en-US" dirty="0"/>
          </a:p>
        </p:txBody>
      </p:sp>
      <p:sp>
        <p:nvSpPr>
          <p:cNvPr id="7" name="Rectangle 3">
            <a:extLst>
              <a:ext uri="{FF2B5EF4-FFF2-40B4-BE49-F238E27FC236}">
                <a16:creationId xmlns:a16="http://schemas.microsoft.com/office/drawing/2014/main" id="{7532C006-CBD6-AB4E-B92E-9235A7892E77}"/>
              </a:ext>
            </a:extLst>
          </p:cNvPr>
          <p:cNvSpPr txBox="1">
            <a:spLocks noChangeArrowheads="1"/>
          </p:cNvSpPr>
          <p:nvPr/>
        </p:nvSpPr>
        <p:spPr>
          <a:xfrm>
            <a:off x="968218" y="1257581"/>
            <a:ext cx="10326105" cy="514434"/>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SzPct val="75000"/>
              <a:buFont typeface="Wingdings" pitchFamily="2" charset="2"/>
              <a:buNone/>
            </a:pPr>
            <a:r>
              <a:rPr lang="en-US" altLang="en-US" i="1" dirty="0">
                <a:solidFill>
                  <a:srgbClr val="CC0000"/>
                </a:solidFill>
                <a:ea typeface="ＭＳ Ｐゴシック" panose="020B0600070205080204" pitchFamily="34" charset="-128"/>
              </a:rPr>
              <a:t>Question: </a:t>
            </a:r>
            <a:r>
              <a:rPr lang="en-US" altLang="en-US" dirty="0">
                <a:ea typeface="ＭＳ Ｐゴシック" panose="020B0600070205080204" pitchFamily="34" charset="-128"/>
              </a:rPr>
              <a:t>given </a:t>
            </a:r>
            <a:r>
              <a:rPr lang="en-US" altLang="en-US" i="1" dirty="0">
                <a:ea typeface="ＭＳ Ｐゴシック" panose="020B0600070205080204" pitchFamily="34" charset="-128"/>
              </a:rPr>
              <a:t>millions</a:t>
            </a:r>
            <a:r>
              <a:rPr lang="en-US" altLang="en-US" dirty="0">
                <a:ea typeface="ＭＳ Ｐゴシック" panose="020B0600070205080204" pitchFamily="34" charset="-128"/>
              </a:rPr>
              <a:t> of access ISPs, how to connect them together?</a:t>
            </a:r>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grpSp>
    </p:spTree>
    <p:extLst>
      <p:ext uri="{BB962C8B-B14F-4D97-AF65-F5344CB8AC3E}">
        <p14:creationId xmlns:p14="http://schemas.microsoft.com/office/powerpoint/2010/main" val="330503789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Group 25">
            <a:extLst>
              <a:ext uri="{FF2B5EF4-FFF2-40B4-BE49-F238E27FC236}">
                <a16:creationId xmlns:a16="http://schemas.microsoft.com/office/drawing/2014/main" id="{2855AE7B-0E8C-A246-875F-1E8B1C71FEE0}"/>
              </a:ext>
            </a:extLst>
          </p:cNvPr>
          <p:cNvGrpSpPr>
            <a:grpSpLocks/>
          </p:cNvGrpSpPr>
          <p:nvPr/>
        </p:nvGrpSpPr>
        <p:grpSpPr bwMode="auto">
          <a:xfrm>
            <a:off x="2182850" y="2360613"/>
            <a:ext cx="7361238" cy="3768725"/>
            <a:chOff x="888125" y="2295063"/>
            <a:chExt cx="7361771" cy="3769689"/>
          </a:xfrm>
        </p:grpSpPr>
        <p:cxnSp>
          <p:nvCxnSpPr>
            <p:cNvPr id="96" name="Straight Connector 7">
              <a:extLst>
                <a:ext uri="{FF2B5EF4-FFF2-40B4-BE49-F238E27FC236}">
                  <a16:creationId xmlns:a16="http://schemas.microsoft.com/office/drawing/2014/main" id="{653D63CC-AACD-4343-B543-C3F3E19D2E89}"/>
                </a:ext>
              </a:extLst>
            </p:cNvPr>
            <p:cNvCxnSpPr>
              <a:cxnSpLocks noChangeShapeType="1"/>
            </p:cNvCxnSpPr>
            <p:nvPr/>
          </p:nvCxnSpPr>
          <p:spPr bwMode="auto">
            <a:xfrm flipV="1">
              <a:off x="1661409" y="2570969"/>
              <a:ext cx="577293" cy="28026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7" name="Straight Connector 188">
              <a:extLst>
                <a:ext uri="{FF2B5EF4-FFF2-40B4-BE49-F238E27FC236}">
                  <a16:creationId xmlns:a16="http://schemas.microsoft.com/office/drawing/2014/main" id="{B3506920-4C7F-A64F-B057-5B549EC24575}"/>
                </a:ext>
              </a:extLst>
            </p:cNvPr>
            <p:cNvCxnSpPr>
              <a:cxnSpLocks noChangeShapeType="1"/>
            </p:cNvCxnSpPr>
            <p:nvPr/>
          </p:nvCxnSpPr>
          <p:spPr bwMode="auto">
            <a:xfrm flipH="1" flipV="1">
              <a:off x="1509155" y="3032403"/>
              <a:ext cx="171469" cy="232712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8" name="Straight Connector 190">
              <a:extLst>
                <a:ext uri="{FF2B5EF4-FFF2-40B4-BE49-F238E27FC236}">
                  <a16:creationId xmlns:a16="http://schemas.microsoft.com/office/drawing/2014/main" id="{6002264B-B6B6-C643-B7C2-C03D0F068097}"/>
                </a:ext>
              </a:extLst>
            </p:cNvPr>
            <p:cNvCxnSpPr>
              <a:cxnSpLocks noChangeShapeType="1"/>
            </p:cNvCxnSpPr>
            <p:nvPr/>
          </p:nvCxnSpPr>
          <p:spPr bwMode="auto">
            <a:xfrm flipH="1" flipV="1">
              <a:off x="1185287" y="3451504"/>
              <a:ext cx="495337" cy="19080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9" name="Straight Connector 192">
              <a:extLst>
                <a:ext uri="{FF2B5EF4-FFF2-40B4-BE49-F238E27FC236}">
                  <a16:creationId xmlns:a16="http://schemas.microsoft.com/office/drawing/2014/main" id="{05D6B89E-46AD-0447-A5AB-88A2E218331F}"/>
                </a:ext>
              </a:extLst>
            </p:cNvPr>
            <p:cNvCxnSpPr>
              <a:cxnSpLocks noChangeShapeType="1"/>
            </p:cNvCxnSpPr>
            <p:nvPr/>
          </p:nvCxnSpPr>
          <p:spPr bwMode="auto">
            <a:xfrm flipH="1" flipV="1">
              <a:off x="1181567" y="4298698"/>
              <a:ext cx="499057" cy="10608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0" name="Straight Connector 195">
              <a:extLst>
                <a:ext uri="{FF2B5EF4-FFF2-40B4-BE49-F238E27FC236}">
                  <a16:creationId xmlns:a16="http://schemas.microsoft.com/office/drawing/2014/main" id="{FD9BA8A5-08DC-B94C-B233-92658DFEA7D2}"/>
                </a:ext>
              </a:extLst>
            </p:cNvPr>
            <p:cNvCxnSpPr>
              <a:cxnSpLocks noChangeShapeType="1"/>
            </p:cNvCxnSpPr>
            <p:nvPr/>
          </p:nvCxnSpPr>
          <p:spPr bwMode="auto">
            <a:xfrm flipH="1" flipV="1">
              <a:off x="1386886" y="4980292"/>
              <a:ext cx="293738" cy="37923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1" name="Straight Connector 197">
              <a:extLst>
                <a:ext uri="{FF2B5EF4-FFF2-40B4-BE49-F238E27FC236}">
                  <a16:creationId xmlns:a16="http://schemas.microsoft.com/office/drawing/2014/main" id="{462B970E-F1C1-BA45-A384-3A083B87243C}"/>
                </a:ext>
              </a:extLst>
            </p:cNvPr>
            <p:cNvCxnSpPr>
              <a:cxnSpLocks noChangeShapeType="1"/>
            </p:cNvCxnSpPr>
            <p:nvPr/>
          </p:nvCxnSpPr>
          <p:spPr bwMode="auto">
            <a:xfrm flipH="1" flipV="1">
              <a:off x="1661409" y="5373637"/>
              <a:ext cx="1526432" cy="5930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2" name="Straight Connector 199">
              <a:extLst>
                <a:ext uri="{FF2B5EF4-FFF2-40B4-BE49-F238E27FC236}">
                  <a16:creationId xmlns:a16="http://schemas.microsoft.com/office/drawing/2014/main" id="{962BEB4A-1CD6-D74C-91D0-F0DD0624E044}"/>
                </a:ext>
              </a:extLst>
            </p:cNvPr>
            <p:cNvCxnSpPr>
              <a:cxnSpLocks noChangeShapeType="1"/>
            </p:cNvCxnSpPr>
            <p:nvPr/>
          </p:nvCxnSpPr>
          <p:spPr bwMode="auto">
            <a:xfrm flipH="1" flipV="1">
              <a:off x="1680624" y="5359527"/>
              <a:ext cx="2723702" cy="7030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3" name="Straight Connector 201">
              <a:extLst>
                <a:ext uri="{FF2B5EF4-FFF2-40B4-BE49-F238E27FC236}">
                  <a16:creationId xmlns:a16="http://schemas.microsoft.com/office/drawing/2014/main" id="{BC671380-5938-2E42-8967-F109E9E7FFB3}"/>
                </a:ext>
              </a:extLst>
            </p:cNvPr>
            <p:cNvCxnSpPr>
              <a:cxnSpLocks noChangeShapeType="1"/>
            </p:cNvCxnSpPr>
            <p:nvPr/>
          </p:nvCxnSpPr>
          <p:spPr bwMode="auto">
            <a:xfrm flipH="1" flipV="1">
              <a:off x="1680624" y="5359527"/>
              <a:ext cx="3605885" cy="6190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4" name="Straight Connector 203">
              <a:extLst>
                <a:ext uri="{FF2B5EF4-FFF2-40B4-BE49-F238E27FC236}">
                  <a16:creationId xmlns:a16="http://schemas.microsoft.com/office/drawing/2014/main" id="{C52200FA-90E5-A240-96B1-B50FD5169C3B}"/>
                </a:ext>
              </a:extLst>
            </p:cNvPr>
            <p:cNvCxnSpPr>
              <a:cxnSpLocks noChangeShapeType="1"/>
            </p:cNvCxnSpPr>
            <p:nvPr/>
          </p:nvCxnSpPr>
          <p:spPr bwMode="auto">
            <a:xfrm flipH="1">
              <a:off x="1680624" y="5184745"/>
              <a:ext cx="6569272" cy="1747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5" name="Straight Connector 204">
              <a:extLst>
                <a:ext uri="{FF2B5EF4-FFF2-40B4-BE49-F238E27FC236}">
                  <a16:creationId xmlns:a16="http://schemas.microsoft.com/office/drawing/2014/main" id="{53D111CE-AD32-444C-B066-97A86CA24A9D}"/>
                </a:ext>
              </a:extLst>
            </p:cNvPr>
            <p:cNvCxnSpPr>
              <a:cxnSpLocks noChangeShapeType="1"/>
            </p:cNvCxnSpPr>
            <p:nvPr/>
          </p:nvCxnSpPr>
          <p:spPr bwMode="auto">
            <a:xfrm flipH="1" flipV="1">
              <a:off x="1680624" y="5359527"/>
              <a:ext cx="5742435" cy="48670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6" name="Straight Connector 207">
              <a:extLst>
                <a:ext uri="{FF2B5EF4-FFF2-40B4-BE49-F238E27FC236}">
                  <a16:creationId xmlns:a16="http://schemas.microsoft.com/office/drawing/2014/main" id="{500BF630-9137-1045-949A-B0B2D2A69012}"/>
                </a:ext>
              </a:extLst>
            </p:cNvPr>
            <p:cNvCxnSpPr>
              <a:cxnSpLocks noChangeShapeType="1"/>
            </p:cNvCxnSpPr>
            <p:nvPr/>
          </p:nvCxnSpPr>
          <p:spPr bwMode="auto">
            <a:xfrm flipH="1">
              <a:off x="1680624" y="4311835"/>
              <a:ext cx="6338019" cy="10476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7" name="Straight Connector 209">
              <a:extLst>
                <a:ext uri="{FF2B5EF4-FFF2-40B4-BE49-F238E27FC236}">
                  <a16:creationId xmlns:a16="http://schemas.microsoft.com/office/drawing/2014/main" id="{21B5B2A9-53D8-E747-91BA-3D00363CDAF1}"/>
                </a:ext>
              </a:extLst>
            </p:cNvPr>
            <p:cNvCxnSpPr>
              <a:cxnSpLocks noChangeShapeType="1"/>
            </p:cNvCxnSpPr>
            <p:nvPr/>
          </p:nvCxnSpPr>
          <p:spPr bwMode="auto">
            <a:xfrm flipH="1">
              <a:off x="1680624" y="3273553"/>
              <a:ext cx="5749312" cy="20859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8" name="Straight Connector 211">
              <a:extLst>
                <a:ext uri="{FF2B5EF4-FFF2-40B4-BE49-F238E27FC236}">
                  <a16:creationId xmlns:a16="http://schemas.microsoft.com/office/drawing/2014/main" id="{EC19387C-AC75-DF48-B465-3EA66DBDD344}"/>
                </a:ext>
              </a:extLst>
            </p:cNvPr>
            <p:cNvCxnSpPr>
              <a:cxnSpLocks noChangeShapeType="1"/>
            </p:cNvCxnSpPr>
            <p:nvPr/>
          </p:nvCxnSpPr>
          <p:spPr bwMode="auto">
            <a:xfrm flipH="1">
              <a:off x="1680624" y="2784308"/>
              <a:ext cx="4942318" cy="25752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9" name="Straight Connector 213">
              <a:extLst>
                <a:ext uri="{FF2B5EF4-FFF2-40B4-BE49-F238E27FC236}">
                  <a16:creationId xmlns:a16="http://schemas.microsoft.com/office/drawing/2014/main" id="{58A4B33A-CADE-9945-9C1A-5FAD8C5A8B3F}"/>
                </a:ext>
              </a:extLst>
            </p:cNvPr>
            <p:cNvCxnSpPr>
              <a:cxnSpLocks noChangeShapeType="1"/>
            </p:cNvCxnSpPr>
            <p:nvPr/>
          </p:nvCxnSpPr>
          <p:spPr bwMode="auto">
            <a:xfrm flipH="1">
              <a:off x="1680624" y="2295063"/>
              <a:ext cx="2971398" cy="30644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0" name="Straight Connector 215">
              <a:extLst>
                <a:ext uri="{FF2B5EF4-FFF2-40B4-BE49-F238E27FC236}">
                  <a16:creationId xmlns:a16="http://schemas.microsoft.com/office/drawing/2014/main" id="{DD919E7C-901C-8248-B5AD-8C5EFD0D621C}"/>
                </a:ext>
              </a:extLst>
            </p:cNvPr>
            <p:cNvCxnSpPr>
              <a:cxnSpLocks noChangeShapeType="1"/>
            </p:cNvCxnSpPr>
            <p:nvPr/>
          </p:nvCxnSpPr>
          <p:spPr bwMode="auto">
            <a:xfrm flipH="1">
              <a:off x="1680624" y="2295321"/>
              <a:ext cx="2025496" cy="30642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11" name="TextBox 24">
              <a:extLst>
                <a:ext uri="{FF2B5EF4-FFF2-40B4-BE49-F238E27FC236}">
                  <a16:creationId xmlns:a16="http://schemas.microsoft.com/office/drawing/2014/main" id="{50FBE992-0261-D24C-89CA-C21BABB65207}"/>
                </a:ext>
              </a:extLst>
            </p:cNvPr>
            <p:cNvSpPr txBox="1">
              <a:spLocks noChangeArrowheads="1"/>
            </p:cNvSpPr>
            <p:nvPr/>
          </p:nvSpPr>
          <p:spPr bwMode="auto">
            <a:xfrm rot="5710989">
              <a:off x="859913" y="4114468"/>
              <a:ext cx="3642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400"/>
                <a:t>…</a:t>
              </a:r>
            </a:p>
          </p:txBody>
        </p:sp>
        <p:sp>
          <p:nvSpPr>
            <p:cNvPr id="112" name="TextBox 218">
              <a:extLst>
                <a:ext uri="{FF2B5EF4-FFF2-40B4-BE49-F238E27FC236}">
                  <a16:creationId xmlns:a16="http://schemas.microsoft.com/office/drawing/2014/main" id="{9C61B721-0F8A-B442-A321-E83CBCC6C943}"/>
                </a:ext>
              </a:extLst>
            </p:cNvPr>
            <p:cNvSpPr txBox="1">
              <a:spLocks noChangeArrowheads="1"/>
            </p:cNvSpPr>
            <p:nvPr/>
          </p:nvSpPr>
          <p:spPr bwMode="auto">
            <a:xfrm rot="7515077">
              <a:off x="4511491" y="5728762"/>
              <a:ext cx="3642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400"/>
                <a:t>…</a:t>
              </a:r>
            </a:p>
          </p:txBody>
        </p:sp>
        <p:sp>
          <p:nvSpPr>
            <p:cNvPr id="113" name="TextBox 219">
              <a:extLst>
                <a:ext uri="{FF2B5EF4-FFF2-40B4-BE49-F238E27FC236}">
                  <a16:creationId xmlns:a16="http://schemas.microsoft.com/office/drawing/2014/main" id="{25FAB6B1-9D77-AE40-88F4-05EBAEB1C6A7}"/>
                </a:ext>
              </a:extLst>
            </p:cNvPr>
            <p:cNvSpPr txBox="1">
              <a:spLocks noChangeArrowheads="1"/>
            </p:cNvSpPr>
            <p:nvPr/>
          </p:nvSpPr>
          <p:spPr bwMode="auto">
            <a:xfrm rot="3940343">
              <a:off x="6392354" y="3846211"/>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a:t>…</a:t>
              </a:r>
            </a:p>
          </p:txBody>
        </p:sp>
        <p:sp>
          <p:nvSpPr>
            <p:cNvPr id="114" name="TextBox 220">
              <a:extLst>
                <a:ext uri="{FF2B5EF4-FFF2-40B4-BE49-F238E27FC236}">
                  <a16:creationId xmlns:a16="http://schemas.microsoft.com/office/drawing/2014/main" id="{F2BD82DE-F704-D345-A732-31992A8F6F67}"/>
                </a:ext>
              </a:extLst>
            </p:cNvPr>
            <p:cNvSpPr txBox="1">
              <a:spLocks noChangeArrowheads="1"/>
            </p:cNvSpPr>
            <p:nvPr/>
          </p:nvSpPr>
          <p:spPr bwMode="auto">
            <a:xfrm rot="2048420">
              <a:off x="4482993" y="268468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a:t>…</a:t>
              </a:r>
            </a:p>
          </p:txBody>
        </p:sp>
        <p:sp>
          <p:nvSpPr>
            <p:cNvPr id="115" name="TextBox 221">
              <a:extLst>
                <a:ext uri="{FF2B5EF4-FFF2-40B4-BE49-F238E27FC236}">
                  <a16:creationId xmlns:a16="http://schemas.microsoft.com/office/drawing/2014/main" id="{43A18984-5F81-3248-9F3E-E0F858030224}"/>
                </a:ext>
              </a:extLst>
            </p:cNvPr>
            <p:cNvSpPr txBox="1">
              <a:spLocks noChangeArrowheads="1"/>
            </p:cNvSpPr>
            <p:nvPr/>
          </p:nvSpPr>
          <p:spPr bwMode="auto">
            <a:xfrm rot="-316136">
              <a:off x="2189980" y="2687381"/>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a:t>…</a:t>
              </a:r>
            </a:p>
          </p:txBody>
        </p:sp>
      </p:grpSp>
      <p:grpSp>
        <p:nvGrpSpPr>
          <p:cNvPr id="79" name="Group 223">
            <a:extLst>
              <a:ext uri="{FF2B5EF4-FFF2-40B4-BE49-F238E27FC236}">
                <a16:creationId xmlns:a16="http://schemas.microsoft.com/office/drawing/2014/main" id="{9C261853-EDB6-EF42-B177-F21531E243AA}"/>
              </a:ext>
            </a:extLst>
          </p:cNvPr>
          <p:cNvGrpSpPr>
            <a:grpSpLocks/>
          </p:cNvGrpSpPr>
          <p:nvPr/>
        </p:nvGrpSpPr>
        <p:grpSpPr bwMode="auto">
          <a:xfrm>
            <a:off x="2375578" y="2337843"/>
            <a:ext cx="7094538" cy="3695700"/>
            <a:chOff x="862570" y="2361120"/>
            <a:chExt cx="7094553" cy="3695520"/>
          </a:xfrm>
        </p:grpSpPr>
        <p:cxnSp>
          <p:nvCxnSpPr>
            <p:cNvPr id="80" name="Straight Connector 224">
              <a:extLst>
                <a:ext uri="{FF2B5EF4-FFF2-40B4-BE49-F238E27FC236}">
                  <a16:creationId xmlns:a16="http://schemas.microsoft.com/office/drawing/2014/main" id="{1C54A5A2-7426-884D-AE73-7FBD26078324}"/>
                </a:ext>
              </a:extLst>
            </p:cNvPr>
            <p:cNvCxnSpPr>
              <a:cxnSpLocks noChangeShapeType="1"/>
            </p:cNvCxnSpPr>
            <p:nvPr/>
          </p:nvCxnSpPr>
          <p:spPr bwMode="auto">
            <a:xfrm flipH="1">
              <a:off x="1446332" y="2897188"/>
              <a:ext cx="4736982" cy="25351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1" name="Straight Connector 225">
              <a:extLst>
                <a:ext uri="{FF2B5EF4-FFF2-40B4-BE49-F238E27FC236}">
                  <a16:creationId xmlns:a16="http://schemas.microsoft.com/office/drawing/2014/main" id="{728AD1FA-6864-E44F-9B9E-CFA36193F14B}"/>
                </a:ext>
              </a:extLst>
            </p:cNvPr>
            <p:cNvCxnSpPr>
              <a:cxnSpLocks noChangeShapeType="1"/>
            </p:cNvCxnSpPr>
            <p:nvPr/>
          </p:nvCxnSpPr>
          <p:spPr bwMode="auto">
            <a:xfrm flipH="1">
              <a:off x="2972043" y="2885760"/>
              <a:ext cx="3213953" cy="30412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2" name="Straight Connector 226">
              <a:extLst>
                <a:ext uri="{FF2B5EF4-FFF2-40B4-BE49-F238E27FC236}">
                  <a16:creationId xmlns:a16="http://schemas.microsoft.com/office/drawing/2014/main" id="{997A6343-AB29-1249-BFBC-C0480474DD20}"/>
                </a:ext>
              </a:extLst>
            </p:cNvPr>
            <p:cNvCxnSpPr>
              <a:cxnSpLocks noChangeShapeType="1"/>
            </p:cNvCxnSpPr>
            <p:nvPr/>
          </p:nvCxnSpPr>
          <p:spPr bwMode="auto">
            <a:xfrm flipH="1">
              <a:off x="4328465" y="2877120"/>
              <a:ext cx="1866171" cy="317952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3" name="Straight Connector 227">
              <a:extLst>
                <a:ext uri="{FF2B5EF4-FFF2-40B4-BE49-F238E27FC236}">
                  <a16:creationId xmlns:a16="http://schemas.microsoft.com/office/drawing/2014/main" id="{33566ED1-C96E-6E4E-A360-BB2A7FA72F63}"/>
                </a:ext>
              </a:extLst>
            </p:cNvPr>
            <p:cNvCxnSpPr>
              <a:cxnSpLocks noChangeShapeType="1"/>
            </p:cNvCxnSpPr>
            <p:nvPr/>
          </p:nvCxnSpPr>
          <p:spPr bwMode="auto">
            <a:xfrm flipH="1">
              <a:off x="5270184" y="2877120"/>
              <a:ext cx="915812" cy="30585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4" name="Straight Connector 228">
              <a:extLst>
                <a:ext uri="{FF2B5EF4-FFF2-40B4-BE49-F238E27FC236}">
                  <a16:creationId xmlns:a16="http://schemas.microsoft.com/office/drawing/2014/main" id="{18585745-C71F-DC4C-B961-4F991AC786CE}"/>
                </a:ext>
              </a:extLst>
            </p:cNvPr>
            <p:cNvCxnSpPr>
              <a:cxnSpLocks noChangeShapeType="1"/>
            </p:cNvCxnSpPr>
            <p:nvPr/>
          </p:nvCxnSpPr>
          <p:spPr bwMode="auto">
            <a:xfrm>
              <a:off x="6167438" y="2901156"/>
              <a:ext cx="1141702" cy="28012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5" name="Straight Connector 229">
              <a:extLst>
                <a:ext uri="{FF2B5EF4-FFF2-40B4-BE49-F238E27FC236}">
                  <a16:creationId xmlns:a16="http://schemas.microsoft.com/office/drawing/2014/main" id="{E1C90CB4-5542-8741-A858-24D6D8DD05F9}"/>
                </a:ext>
              </a:extLst>
            </p:cNvPr>
            <p:cNvCxnSpPr>
              <a:cxnSpLocks noChangeShapeType="1"/>
            </p:cNvCxnSpPr>
            <p:nvPr/>
          </p:nvCxnSpPr>
          <p:spPr bwMode="auto">
            <a:xfrm>
              <a:off x="6171406" y="2889250"/>
              <a:ext cx="1785717" cy="23552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6" name="Straight Connector 230">
              <a:extLst>
                <a:ext uri="{FF2B5EF4-FFF2-40B4-BE49-F238E27FC236}">
                  <a16:creationId xmlns:a16="http://schemas.microsoft.com/office/drawing/2014/main" id="{450C7DE1-7EF6-B445-98B6-B1219BD28239}"/>
                </a:ext>
              </a:extLst>
            </p:cNvPr>
            <p:cNvCxnSpPr>
              <a:cxnSpLocks noChangeShapeType="1"/>
            </p:cNvCxnSpPr>
            <p:nvPr/>
          </p:nvCxnSpPr>
          <p:spPr bwMode="auto">
            <a:xfrm>
              <a:off x="6179344" y="2881313"/>
              <a:ext cx="1587707" cy="13868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7" name="Straight Connector 231">
              <a:extLst>
                <a:ext uri="{FF2B5EF4-FFF2-40B4-BE49-F238E27FC236}">
                  <a16:creationId xmlns:a16="http://schemas.microsoft.com/office/drawing/2014/main" id="{DE977FE3-D7B7-1741-BFB6-043D829040FE}"/>
                </a:ext>
              </a:extLst>
            </p:cNvPr>
            <p:cNvCxnSpPr>
              <a:cxnSpLocks noChangeShapeType="1"/>
            </p:cNvCxnSpPr>
            <p:nvPr/>
          </p:nvCxnSpPr>
          <p:spPr bwMode="auto">
            <a:xfrm>
              <a:off x="6179344" y="2897188"/>
              <a:ext cx="602786" cy="2909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8" name="Straight Connector 232">
              <a:extLst>
                <a:ext uri="{FF2B5EF4-FFF2-40B4-BE49-F238E27FC236}">
                  <a16:creationId xmlns:a16="http://schemas.microsoft.com/office/drawing/2014/main" id="{4B58FEB3-D3BD-5849-A8F4-437A3602EE98}"/>
                </a:ext>
              </a:extLst>
            </p:cNvPr>
            <p:cNvCxnSpPr>
              <a:cxnSpLocks noChangeShapeType="1"/>
            </p:cNvCxnSpPr>
            <p:nvPr/>
          </p:nvCxnSpPr>
          <p:spPr bwMode="auto">
            <a:xfrm>
              <a:off x="4584546" y="2364240"/>
              <a:ext cx="1558252" cy="5128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9" name="Straight Connector 233">
              <a:extLst>
                <a:ext uri="{FF2B5EF4-FFF2-40B4-BE49-F238E27FC236}">
                  <a16:creationId xmlns:a16="http://schemas.microsoft.com/office/drawing/2014/main" id="{550D2902-009B-274F-A3B6-F539B45F5158}"/>
                </a:ext>
              </a:extLst>
            </p:cNvPr>
            <p:cNvCxnSpPr>
              <a:cxnSpLocks noChangeShapeType="1"/>
            </p:cNvCxnSpPr>
            <p:nvPr/>
          </p:nvCxnSpPr>
          <p:spPr bwMode="auto">
            <a:xfrm>
              <a:off x="3691549" y="2361120"/>
              <a:ext cx="2485808" cy="5332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0" name="Straight Connector 234">
              <a:extLst>
                <a:ext uri="{FF2B5EF4-FFF2-40B4-BE49-F238E27FC236}">
                  <a16:creationId xmlns:a16="http://schemas.microsoft.com/office/drawing/2014/main" id="{FD7C2B42-FD55-4042-B06E-A299136D28B7}"/>
                </a:ext>
              </a:extLst>
            </p:cNvPr>
            <p:cNvCxnSpPr>
              <a:cxnSpLocks noChangeShapeType="1"/>
            </p:cNvCxnSpPr>
            <p:nvPr/>
          </p:nvCxnSpPr>
          <p:spPr bwMode="auto">
            <a:xfrm>
              <a:off x="2081460" y="2548080"/>
              <a:ext cx="4078617" cy="3376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1" name="Straight Connector 235">
              <a:extLst>
                <a:ext uri="{FF2B5EF4-FFF2-40B4-BE49-F238E27FC236}">
                  <a16:creationId xmlns:a16="http://schemas.microsoft.com/office/drawing/2014/main" id="{DED54489-A2E8-AD4A-AF75-C4C8C3E888A4}"/>
                </a:ext>
              </a:extLst>
            </p:cNvPr>
            <p:cNvCxnSpPr>
              <a:cxnSpLocks noChangeShapeType="1"/>
            </p:cNvCxnSpPr>
            <p:nvPr/>
          </p:nvCxnSpPr>
          <p:spPr bwMode="auto">
            <a:xfrm flipV="1">
              <a:off x="1309418" y="2903040"/>
              <a:ext cx="4842020" cy="3072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2" name="Straight Connector 236">
              <a:extLst>
                <a:ext uri="{FF2B5EF4-FFF2-40B4-BE49-F238E27FC236}">
                  <a16:creationId xmlns:a16="http://schemas.microsoft.com/office/drawing/2014/main" id="{EF0B5639-D872-6A46-A6D6-2CDC7F23892C}"/>
                </a:ext>
              </a:extLst>
            </p:cNvPr>
            <p:cNvCxnSpPr>
              <a:cxnSpLocks noChangeShapeType="1"/>
            </p:cNvCxnSpPr>
            <p:nvPr/>
          </p:nvCxnSpPr>
          <p:spPr bwMode="auto">
            <a:xfrm flipV="1">
              <a:off x="934801" y="2894400"/>
              <a:ext cx="5242556" cy="3770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3" name="Straight Connector 237">
              <a:extLst>
                <a:ext uri="{FF2B5EF4-FFF2-40B4-BE49-F238E27FC236}">
                  <a16:creationId xmlns:a16="http://schemas.microsoft.com/office/drawing/2014/main" id="{6140258E-E8E2-9147-9DA3-46E071DE62D7}"/>
                </a:ext>
              </a:extLst>
            </p:cNvPr>
            <p:cNvCxnSpPr>
              <a:cxnSpLocks noChangeShapeType="1"/>
            </p:cNvCxnSpPr>
            <p:nvPr/>
          </p:nvCxnSpPr>
          <p:spPr bwMode="auto">
            <a:xfrm flipV="1">
              <a:off x="862570" y="2901156"/>
              <a:ext cx="5296930" cy="13866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4" name="Straight Connector 238">
              <a:extLst>
                <a:ext uri="{FF2B5EF4-FFF2-40B4-BE49-F238E27FC236}">
                  <a16:creationId xmlns:a16="http://schemas.microsoft.com/office/drawing/2014/main" id="{EE74154C-072B-2E4F-9A27-85B3659B00B3}"/>
                </a:ext>
              </a:extLst>
            </p:cNvPr>
            <p:cNvCxnSpPr>
              <a:cxnSpLocks noChangeShapeType="1"/>
            </p:cNvCxnSpPr>
            <p:nvPr/>
          </p:nvCxnSpPr>
          <p:spPr bwMode="auto">
            <a:xfrm flipV="1">
              <a:off x="1101367" y="2901156"/>
              <a:ext cx="5077977" cy="20260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nvGrpSpPr>
          <p:cNvPr id="63" name="Group 239">
            <a:extLst>
              <a:ext uri="{FF2B5EF4-FFF2-40B4-BE49-F238E27FC236}">
                <a16:creationId xmlns:a16="http://schemas.microsoft.com/office/drawing/2014/main" id="{A4D6E270-9638-AA43-B6F6-487AF8BD5F0C}"/>
              </a:ext>
            </a:extLst>
          </p:cNvPr>
          <p:cNvGrpSpPr>
            <a:grpSpLocks/>
          </p:cNvGrpSpPr>
          <p:nvPr/>
        </p:nvGrpSpPr>
        <p:grpSpPr bwMode="auto">
          <a:xfrm>
            <a:off x="2308603" y="2230021"/>
            <a:ext cx="7158038" cy="3798887"/>
            <a:chOff x="799176" y="2251902"/>
            <a:chExt cx="7158126" cy="3799069"/>
          </a:xfrm>
        </p:grpSpPr>
        <p:cxnSp>
          <p:nvCxnSpPr>
            <p:cNvPr id="64" name="Straight Connector 240">
              <a:extLst>
                <a:ext uri="{FF2B5EF4-FFF2-40B4-BE49-F238E27FC236}">
                  <a16:creationId xmlns:a16="http://schemas.microsoft.com/office/drawing/2014/main" id="{998A6BCE-B64F-3C42-83F4-881B78350156}"/>
                </a:ext>
              </a:extLst>
            </p:cNvPr>
            <p:cNvCxnSpPr>
              <a:cxnSpLocks noChangeShapeType="1"/>
            </p:cNvCxnSpPr>
            <p:nvPr/>
          </p:nvCxnSpPr>
          <p:spPr bwMode="auto">
            <a:xfrm>
              <a:off x="2012365" y="2732956"/>
              <a:ext cx="3121627" cy="32043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5" name="Straight Connector 241">
              <a:extLst>
                <a:ext uri="{FF2B5EF4-FFF2-40B4-BE49-F238E27FC236}">
                  <a16:creationId xmlns:a16="http://schemas.microsoft.com/office/drawing/2014/main" id="{0A0AA082-60F8-134F-A5E8-BFF451D5F543}"/>
                </a:ext>
              </a:extLst>
            </p:cNvPr>
            <p:cNvCxnSpPr>
              <a:cxnSpLocks noChangeShapeType="1"/>
            </p:cNvCxnSpPr>
            <p:nvPr/>
          </p:nvCxnSpPr>
          <p:spPr bwMode="auto">
            <a:xfrm>
              <a:off x="2009682" y="2721528"/>
              <a:ext cx="2384511" cy="332944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6" name="Straight Connector 242">
              <a:extLst>
                <a:ext uri="{FF2B5EF4-FFF2-40B4-BE49-F238E27FC236}">
                  <a16:creationId xmlns:a16="http://schemas.microsoft.com/office/drawing/2014/main" id="{05D0B576-B935-E148-A896-08D8C7CB18DE}"/>
                </a:ext>
              </a:extLst>
            </p:cNvPr>
            <p:cNvCxnSpPr>
              <a:cxnSpLocks noChangeShapeType="1"/>
            </p:cNvCxnSpPr>
            <p:nvPr/>
          </p:nvCxnSpPr>
          <p:spPr bwMode="auto">
            <a:xfrm>
              <a:off x="2001042" y="2712888"/>
              <a:ext cx="1091382" cy="319787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7" name="Straight Connector 243">
              <a:extLst>
                <a:ext uri="{FF2B5EF4-FFF2-40B4-BE49-F238E27FC236}">
                  <a16:creationId xmlns:a16="http://schemas.microsoft.com/office/drawing/2014/main" id="{CF828317-C579-0C4F-AA8B-6922E4573131}"/>
                </a:ext>
              </a:extLst>
            </p:cNvPr>
            <p:cNvCxnSpPr>
              <a:cxnSpLocks noChangeShapeType="1"/>
            </p:cNvCxnSpPr>
            <p:nvPr/>
          </p:nvCxnSpPr>
          <p:spPr bwMode="auto">
            <a:xfrm flipH="1">
              <a:off x="1471306" y="2712888"/>
              <a:ext cx="538376" cy="269812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8" name="Straight Connector 244">
              <a:extLst>
                <a:ext uri="{FF2B5EF4-FFF2-40B4-BE49-F238E27FC236}">
                  <a16:creationId xmlns:a16="http://schemas.microsoft.com/office/drawing/2014/main" id="{831FCD1E-92F8-444E-80C8-6AA05EACD4FE}"/>
                </a:ext>
              </a:extLst>
            </p:cNvPr>
            <p:cNvCxnSpPr>
              <a:cxnSpLocks noChangeShapeType="1"/>
            </p:cNvCxnSpPr>
            <p:nvPr/>
          </p:nvCxnSpPr>
          <p:spPr bwMode="auto">
            <a:xfrm flipH="1">
              <a:off x="1007181" y="2736924"/>
              <a:ext cx="1021059" cy="20695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9" name="Straight Connector 245">
              <a:extLst>
                <a:ext uri="{FF2B5EF4-FFF2-40B4-BE49-F238E27FC236}">
                  <a16:creationId xmlns:a16="http://schemas.microsoft.com/office/drawing/2014/main" id="{4E90A842-1CCA-B54C-A757-86ECDAEC0EA7}"/>
                </a:ext>
              </a:extLst>
            </p:cNvPr>
            <p:cNvCxnSpPr>
              <a:cxnSpLocks noChangeShapeType="1"/>
            </p:cNvCxnSpPr>
            <p:nvPr/>
          </p:nvCxnSpPr>
          <p:spPr bwMode="auto">
            <a:xfrm flipH="1">
              <a:off x="799176" y="2725018"/>
              <a:ext cx="1225097" cy="141359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0" name="Straight Connector 246">
              <a:extLst>
                <a:ext uri="{FF2B5EF4-FFF2-40B4-BE49-F238E27FC236}">
                  <a16:creationId xmlns:a16="http://schemas.microsoft.com/office/drawing/2014/main" id="{6155B15E-DBFF-D241-BB68-58B8E6198A7F}"/>
                </a:ext>
              </a:extLst>
            </p:cNvPr>
            <p:cNvCxnSpPr>
              <a:cxnSpLocks noChangeShapeType="1"/>
            </p:cNvCxnSpPr>
            <p:nvPr/>
          </p:nvCxnSpPr>
          <p:spPr bwMode="auto">
            <a:xfrm flipH="1">
              <a:off x="932218" y="2704755"/>
              <a:ext cx="1107153" cy="588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1" name="Straight Connector 247">
              <a:extLst>
                <a:ext uri="{FF2B5EF4-FFF2-40B4-BE49-F238E27FC236}">
                  <a16:creationId xmlns:a16="http://schemas.microsoft.com/office/drawing/2014/main" id="{6A0EA3B0-E0F3-CE46-9A69-845242CAF370}"/>
                </a:ext>
              </a:extLst>
            </p:cNvPr>
            <p:cNvCxnSpPr>
              <a:cxnSpLocks noChangeShapeType="1"/>
            </p:cNvCxnSpPr>
            <p:nvPr/>
          </p:nvCxnSpPr>
          <p:spPr bwMode="auto">
            <a:xfrm flipH="1">
              <a:off x="1293642" y="2704755"/>
              <a:ext cx="745729" cy="2167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2" name="Straight Connector 248">
              <a:extLst>
                <a:ext uri="{FF2B5EF4-FFF2-40B4-BE49-F238E27FC236}">
                  <a16:creationId xmlns:a16="http://schemas.microsoft.com/office/drawing/2014/main" id="{653656A0-0B3E-FD44-B12B-CF20B6D6B86D}"/>
                </a:ext>
              </a:extLst>
            </p:cNvPr>
            <p:cNvCxnSpPr>
              <a:cxnSpLocks noChangeShapeType="1"/>
            </p:cNvCxnSpPr>
            <p:nvPr/>
          </p:nvCxnSpPr>
          <p:spPr bwMode="auto">
            <a:xfrm flipH="1">
              <a:off x="2052880" y="2251902"/>
              <a:ext cx="1141349" cy="4609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3" name="Straight Connector 249">
              <a:extLst>
                <a:ext uri="{FF2B5EF4-FFF2-40B4-BE49-F238E27FC236}">
                  <a16:creationId xmlns:a16="http://schemas.microsoft.com/office/drawing/2014/main" id="{5E7C7752-5A2D-E64A-B5F1-FDA0F54372FE}"/>
                </a:ext>
              </a:extLst>
            </p:cNvPr>
            <p:cNvCxnSpPr>
              <a:cxnSpLocks noChangeShapeType="1"/>
            </p:cNvCxnSpPr>
            <p:nvPr/>
          </p:nvCxnSpPr>
          <p:spPr bwMode="auto">
            <a:xfrm flipH="1">
              <a:off x="2018321" y="2332076"/>
              <a:ext cx="2284094" cy="3980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4" name="Straight Connector 250">
              <a:extLst>
                <a:ext uri="{FF2B5EF4-FFF2-40B4-BE49-F238E27FC236}">
                  <a16:creationId xmlns:a16="http://schemas.microsoft.com/office/drawing/2014/main" id="{09632402-2B07-7A4F-A261-2AAB34FEC865}"/>
                </a:ext>
              </a:extLst>
            </p:cNvPr>
            <p:cNvCxnSpPr>
              <a:cxnSpLocks noChangeShapeType="1"/>
            </p:cNvCxnSpPr>
            <p:nvPr/>
          </p:nvCxnSpPr>
          <p:spPr bwMode="auto">
            <a:xfrm flipH="1" flipV="1">
              <a:off x="2035602" y="2721528"/>
              <a:ext cx="4016700" cy="1415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5" name="Straight Connector 251">
              <a:extLst>
                <a:ext uri="{FF2B5EF4-FFF2-40B4-BE49-F238E27FC236}">
                  <a16:creationId xmlns:a16="http://schemas.microsoft.com/office/drawing/2014/main" id="{3E03473E-6C1E-1847-8E69-C1F128580D7A}"/>
                </a:ext>
              </a:extLst>
            </p:cNvPr>
            <p:cNvCxnSpPr>
              <a:cxnSpLocks noChangeShapeType="1"/>
            </p:cNvCxnSpPr>
            <p:nvPr/>
          </p:nvCxnSpPr>
          <p:spPr bwMode="auto">
            <a:xfrm flipH="1" flipV="1">
              <a:off x="2044240" y="2738808"/>
              <a:ext cx="4755057" cy="52905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6" name="Straight Connector 252">
              <a:extLst>
                <a:ext uri="{FF2B5EF4-FFF2-40B4-BE49-F238E27FC236}">
                  <a16:creationId xmlns:a16="http://schemas.microsoft.com/office/drawing/2014/main" id="{D9610D1E-EEE6-BB41-A65B-36AB17A24D13}"/>
                </a:ext>
              </a:extLst>
            </p:cNvPr>
            <p:cNvCxnSpPr>
              <a:cxnSpLocks noChangeShapeType="1"/>
            </p:cNvCxnSpPr>
            <p:nvPr/>
          </p:nvCxnSpPr>
          <p:spPr bwMode="auto">
            <a:xfrm flipH="1" flipV="1">
              <a:off x="2018321" y="2730168"/>
              <a:ext cx="5710381" cy="155491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7" name="Straight Connector 253">
              <a:extLst>
                <a:ext uri="{FF2B5EF4-FFF2-40B4-BE49-F238E27FC236}">
                  <a16:creationId xmlns:a16="http://schemas.microsoft.com/office/drawing/2014/main" id="{9151E501-C735-124A-8E24-107AFE38490C}"/>
                </a:ext>
              </a:extLst>
            </p:cNvPr>
            <p:cNvCxnSpPr>
              <a:cxnSpLocks noChangeShapeType="1"/>
            </p:cNvCxnSpPr>
            <p:nvPr/>
          </p:nvCxnSpPr>
          <p:spPr bwMode="auto">
            <a:xfrm flipH="1" flipV="1">
              <a:off x="2036178" y="2736924"/>
              <a:ext cx="5921124" cy="24625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8" name="Straight Connector 254">
              <a:extLst>
                <a:ext uri="{FF2B5EF4-FFF2-40B4-BE49-F238E27FC236}">
                  <a16:creationId xmlns:a16="http://schemas.microsoft.com/office/drawing/2014/main" id="{AEF177DA-49E4-4548-A47E-8EC94800F4AE}"/>
                </a:ext>
              </a:extLst>
            </p:cNvPr>
            <p:cNvCxnSpPr>
              <a:cxnSpLocks noChangeShapeType="1"/>
            </p:cNvCxnSpPr>
            <p:nvPr/>
          </p:nvCxnSpPr>
          <p:spPr bwMode="auto">
            <a:xfrm flipH="1" flipV="1">
              <a:off x="2016335" y="2736924"/>
              <a:ext cx="5165304" cy="30002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58</a:t>
            </a:fld>
            <a:endParaRPr lang="en-US" dirty="0"/>
          </a:p>
        </p:txBody>
      </p:sp>
      <p:sp>
        <p:nvSpPr>
          <p:cNvPr id="7" name="Rectangle 3">
            <a:extLst>
              <a:ext uri="{FF2B5EF4-FFF2-40B4-BE49-F238E27FC236}">
                <a16:creationId xmlns:a16="http://schemas.microsoft.com/office/drawing/2014/main" id="{7532C006-CBD6-AB4E-B92E-9235A7892E77}"/>
              </a:ext>
            </a:extLst>
          </p:cNvPr>
          <p:cNvSpPr txBox="1">
            <a:spLocks noChangeArrowheads="1"/>
          </p:cNvSpPr>
          <p:nvPr/>
        </p:nvSpPr>
        <p:spPr>
          <a:xfrm>
            <a:off x="968218" y="1257581"/>
            <a:ext cx="10326105" cy="514434"/>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SzPct val="75000"/>
              <a:buFont typeface="Wingdings" pitchFamily="2" charset="2"/>
              <a:buNone/>
            </a:pPr>
            <a:r>
              <a:rPr lang="en-US" altLang="en-US" i="1" dirty="0">
                <a:solidFill>
                  <a:srgbClr val="CC0000"/>
                </a:solidFill>
                <a:ea typeface="ＭＳ Ｐゴシック" panose="020B0600070205080204" pitchFamily="34" charset="-128"/>
              </a:rPr>
              <a:t>Question: </a:t>
            </a:r>
            <a:r>
              <a:rPr lang="en-US" altLang="en-US" dirty="0">
                <a:ea typeface="ＭＳ Ｐゴシック" panose="020B0600070205080204" pitchFamily="34" charset="-128"/>
              </a:rPr>
              <a:t>given </a:t>
            </a:r>
            <a:r>
              <a:rPr lang="en-US" altLang="en-US" i="1" dirty="0">
                <a:ea typeface="ＭＳ Ｐゴシック" panose="020B0600070205080204" pitchFamily="34" charset="-128"/>
              </a:rPr>
              <a:t>millions</a:t>
            </a:r>
            <a:r>
              <a:rPr lang="en-US" altLang="en-US" dirty="0">
                <a:ea typeface="ＭＳ Ｐゴシック" panose="020B0600070205080204" pitchFamily="34" charset="-128"/>
              </a:rPr>
              <a:t> of access ISPs, how to connect them together?</a:t>
            </a:r>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grpSp>
      <p:sp>
        <p:nvSpPr>
          <p:cNvPr id="116" name="TextBox 115">
            <a:extLst>
              <a:ext uri="{FF2B5EF4-FFF2-40B4-BE49-F238E27FC236}">
                <a16:creationId xmlns:a16="http://schemas.microsoft.com/office/drawing/2014/main" id="{7E1F117F-B525-AE48-9510-C564A7C43377}"/>
              </a:ext>
            </a:extLst>
          </p:cNvPr>
          <p:cNvSpPr txBox="1">
            <a:spLocks noChangeArrowheads="1"/>
          </p:cNvSpPr>
          <p:nvPr/>
        </p:nvSpPr>
        <p:spPr bwMode="auto">
          <a:xfrm>
            <a:off x="3524875" y="3367370"/>
            <a:ext cx="4268787" cy="12001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dirty="0">
                <a:latin typeface="+mn-lt"/>
              </a:rPr>
              <a:t>connecting each access ISP to each other directly </a:t>
            </a:r>
            <a:r>
              <a:rPr lang="en-US" altLang="en-US" i="1" dirty="0">
                <a:solidFill>
                  <a:srgbClr val="CC0000"/>
                </a:solidFill>
                <a:latin typeface="+mn-lt"/>
              </a:rPr>
              <a:t>doesn’t scale: </a:t>
            </a:r>
            <a:r>
              <a:rPr lang="en-US" altLang="en-US" dirty="0">
                <a:latin typeface="+mn-lt"/>
              </a:rPr>
              <a:t>O(</a:t>
            </a:r>
            <a:r>
              <a:rPr lang="en-US" altLang="en-US" i="1" dirty="0">
                <a:latin typeface="+mn-lt"/>
              </a:rPr>
              <a:t>N</a:t>
            </a:r>
            <a:r>
              <a:rPr lang="en-US" altLang="en-US" baseline="30000" dirty="0">
                <a:latin typeface="+mn-lt"/>
              </a:rPr>
              <a:t>2</a:t>
            </a:r>
            <a:r>
              <a:rPr lang="en-US" altLang="en-US" dirty="0">
                <a:latin typeface="+mn-lt"/>
              </a:rPr>
              <a:t>) connections.</a:t>
            </a:r>
          </a:p>
        </p:txBody>
      </p:sp>
    </p:spTree>
    <p:extLst>
      <p:ext uri="{BB962C8B-B14F-4D97-AF65-F5344CB8AC3E}">
        <p14:creationId xmlns:p14="http://schemas.microsoft.com/office/powerpoint/2010/main" val="1097668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wipe(up)">
                                      <p:cBhvr>
                                        <p:cTn id="7" dur="1000"/>
                                        <p:tgtEl>
                                          <p:spTgt spid="79"/>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95"/>
                                        </p:tgtEl>
                                        <p:attrNameLst>
                                          <p:attrName>style.visibility</p:attrName>
                                        </p:attrNameLst>
                                      </p:cBhvr>
                                      <p:to>
                                        <p:strVal val="visible"/>
                                      </p:to>
                                    </p:set>
                                    <p:animEffect transition="in" filter="dissolve">
                                      <p:cBhvr>
                                        <p:cTn id="11" dur="500"/>
                                        <p:tgtEl>
                                          <p:spTgt spid="9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16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59</a:t>
            </a:fld>
            <a:endParaRPr lang="en-US" dirty="0"/>
          </a:p>
        </p:txBody>
      </p:sp>
      <p:sp>
        <p:nvSpPr>
          <p:cNvPr id="169" name="Rectangle 3">
            <a:extLst>
              <a:ext uri="{FF2B5EF4-FFF2-40B4-BE49-F238E27FC236}">
                <a16:creationId xmlns:a16="http://schemas.microsoft.com/office/drawing/2014/main" id="{9C9F34D5-8AF9-8B41-9367-16CA032E5533}"/>
              </a:ext>
            </a:extLst>
          </p:cNvPr>
          <p:cNvSpPr txBox="1">
            <a:spLocks noChangeArrowheads="1"/>
          </p:cNvSpPr>
          <p:nvPr/>
        </p:nvSpPr>
        <p:spPr bwMode="auto">
          <a:xfrm>
            <a:off x="2256991" y="1131358"/>
            <a:ext cx="8204200" cy="673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lnSpc>
                <a:spcPct val="85000"/>
              </a:lnSpc>
              <a:spcBef>
                <a:spcPct val="20000"/>
              </a:spcBef>
              <a:buClr>
                <a:srgbClr val="000099"/>
              </a:buClr>
              <a:buSzPct val="75000"/>
              <a:buFont typeface="Wingdings" charset="0"/>
              <a:buNone/>
              <a:defRPr/>
            </a:pPr>
            <a:r>
              <a:rPr lang="en-US" i="1" dirty="0">
                <a:solidFill>
                  <a:srgbClr val="CC0000"/>
                </a:solidFill>
                <a:latin typeface="+mn-lt"/>
              </a:rPr>
              <a:t>Option: </a:t>
            </a:r>
            <a:r>
              <a:rPr lang="en-US" i="1" dirty="0">
                <a:latin typeface="+mn-lt"/>
              </a:rPr>
              <a:t>connect each access ISP to one global transit ISP? </a:t>
            </a:r>
          </a:p>
          <a:p>
            <a:pPr eaLnBrk="1" hangingPunct="1">
              <a:lnSpc>
                <a:spcPct val="85000"/>
              </a:lnSpc>
              <a:spcBef>
                <a:spcPct val="20000"/>
              </a:spcBef>
              <a:buClr>
                <a:srgbClr val="000099"/>
              </a:buClr>
              <a:buSzPct val="75000"/>
              <a:buFont typeface="Wingdings" charset="0"/>
              <a:buNone/>
              <a:defRPr/>
            </a:pPr>
            <a:r>
              <a:rPr lang="en-US" i="1" dirty="0">
                <a:solidFill>
                  <a:srgbClr val="C00000"/>
                </a:solidFill>
                <a:latin typeface="+mn-lt"/>
              </a:rPr>
              <a:t>Customer</a:t>
            </a:r>
            <a:r>
              <a:rPr lang="en-US" i="1" dirty="0">
                <a:latin typeface="+mn-lt"/>
              </a:rPr>
              <a:t> and </a:t>
            </a:r>
            <a:r>
              <a:rPr lang="en-US" i="1" dirty="0">
                <a:solidFill>
                  <a:srgbClr val="C00000"/>
                </a:solidFill>
                <a:latin typeface="+mn-lt"/>
              </a:rPr>
              <a:t>provider </a:t>
            </a:r>
            <a:r>
              <a:rPr lang="en-US" i="1" dirty="0">
                <a:latin typeface="+mn-lt"/>
              </a:rPr>
              <a:t>ISPs have economic agreement.</a:t>
            </a:r>
            <a:endParaRPr lang="en-US" dirty="0">
              <a:latin typeface="+mn-lt"/>
            </a:endParaRPr>
          </a:p>
        </p:txBody>
      </p:sp>
      <p:grpSp>
        <p:nvGrpSpPr>
          <p:cNvPr id="4" name="Group 3">
            <a:extLst>
              <a:ext uri="{FF2B5EF4-FFF2-40B4-BE49-F238E27FC236}">
                <a16:creationId xmlns:a16="http://schemas.microsoft.com/office/drawing/2014/main" id="{A73887F0-56F3-D640-A3CB-FB256BE2C2FE}"/>
              </a:ext>
            </a:extLst>
          </p:cNvPr>
          <p:cNvGrpSpPr/>
          <p:nvPr/>
        </p:nvGrpSpPr>
        <p:grpSpPr>
          <a:xfrm>
            <a:off x="2298266" y="2316723"/>
            <a:ext cx="7177087" cy="3750366"/>
            <a:chOff x="2298266" y="2316723"/>
            <a:chExt cx="7177087" cy="3750366"/>
          </a:xfrm>
        </p:grpSpPr>
        <p:sp>
          <p:nvSpPr>
            <p:cNvPr id="63" name="Oval 3">
              <a:extLst>
                <a:ext uri="{FF2B5EF4-FFF2-40B4-BE49-F238E27FC236}">
                  <a16:creationId xmlns:a16="http://schemas.microsoft.com/office/drawing/2014/main" id="{39DAF08E-E9D8-7B42-B68A-590215C06EA0}"/>
                </a:ext>
              </a:extLst>
            </p:cNvPr>
            <p:cNvSpPr>
              <a:spLocks noChangeArrowheads="1"/>
            </p:cNvSpPr>
            <p:nvPr/>
          </p:nvSpPr>
          <p:spPr bwMode="auto">
            <a:xfrm>
              <a:off x="3774557" y="3143854"/>
              <a:ext cx="3864121" cy="1970736"/>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cxnSp>
          <p:nvCxnSpPr>
            <p:cNvPr id="64" name="Straight Connector 10">
              <a:extLst>
                <a:ext uri="{FF2B5EF4-FFF2-40B4-BE49-F238E27FC236}">
                  <a16:creationId xmlns:a16="http://schemas.microsoft.com/office/drawing/2014/main" id="{E0B7CD5B-98CD-EA45-8220-E277CD74B8A1}"/>
                </a:ext>
              </a:extLst>
            </p:cNvPr>
            <p:cNvCxnSpPr>
              <a:cxnSpLocks noChangeShapeType="1"/>
              <a:stCxn id="162" idx="7"/>
            </p:cNvCxnSpPr>
            <p:nvPr/>
          </p:nvCxnSpPr>
          <p:spPr bwMode="auto">
            <a:xfrm>
              <a:off x="5154178" y="3581064"/>
              <a:ext cx="1223963" cy="96838"/>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5" name="Straight Connector 297">
              <a:extLst>
                <a:ext uri="{FF2B5EF4-FFF2-40B4-BE49-F238E27FC236}">
                  <a16:creationId xmlns:a16="http://schemas.microsoft.com/office/drawing/2014/main" id="{BEF0278E-3E84-894C-90E1-9AFC471E8BD9}"/>
                </a:ext>
              </a:extLst>
            </p:cNvPr>
            <p:cNvCxnSpPr>
              <a:cxnSpLocks noChangeShapeType="1"/>
            </p:cNvCxnSpPr>
            <p:nvPr/>
          </p:nvCxnSpPr>
          <p:spPr bwMode="auto">
            <a:xfrm>
              <a:off x="5787591" y="3984289"/>
              <a:ext cx="139700" cy="112713"/>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6" name="Straight Connector 298">
              <a:extLst>
                <a:ext uri="{FF2B5EF4-FFF2-40B4-BE49-F238E27FC236}">
                  <a16:creationId xmlns:a16="http://schemas.microsoft.com/office/drawing/2014/main" id="{783B9443-CE0D-8946-A78A-1A9CEC43F08D}"/>
                </a:ext>
              </a:extLst>
            </p:cNvPr>
            <p:cNvCxnSpPr>
              <a:cxnSpLocks noChangeShapeType="1"/>
            </p:cNvCxnSpPr>
            <p:nvPr/>
          </p:nvCxnSpPr>
          <p:spPr bwMode="auto">
            <a:xfrm flipV="1">
              <a:off x="5557403" y="4260514"/>
              <a:ext cx="280988" cy="61913"/>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7" name="Straight Connector 299">
              <a:extLst>
                <a:ext uri="{FF2B5EF4-FFF2-40B4-BE49-F238E27FC236}">
                  <a16:creationId xmlns:a16="http://schemas.microsoft.com/office/drawing/2014/main" id="{77D49FD0-8E68-6441-B4E2-BC869949BFFB}"/>
                </a:ext>
              </a:extLst>
            </p:cNvPr>
            <p:cNvCxnSpPr>
              <a:cxnSpLocks noChangeShapeType="1"/>
            </p:cNvCxnSpPr>
            <p:nvPr/>
          </p:nvCxnSpPr>
          <p:spPr bwMode="auto">
            <a:xfrm flipV="1">
              <a:off x="5214503" y="4022389"/>
              <a:ext cx="223838" cy="149225"/>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8" name="Straight Connector 300">
              <a:extLst>
                <a:ext uri="{FF2B5EF4-FFF2-40B4-BE49-F238E27FC236}">
                  <a16:creationId xmlns:a16="http://schemas.microsoft.com/office/drawing/2014/main" id="{FA0C044C-E1D6-7348-B915-AB0ACF94D9DE}"/>
                </a:ext>
              </a:extLst>
            </p:cNvPr>
            <p:cNvCxnSpPr>
              <a:cxnSpLocks noChangeShapeType="1"/>
              <a:stCxn id="110" idx="6"/>
            </p:cNvCxnSpPr>
            <p:nvPr/>
          </p:nvCxnSpPr>
          <p:spPr bwMode="auto">
            <a:xfrm flipV="1">
              <a:off x="4854141" y="4427202"/>
              <a:ext cx="238125" cy="133350"/>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9" name="Straight Connector 301">
              <a:extLst>
                <a:ext uri="{FF2B5EF4-FFF2-40B4-BE49-F238E27FC236}">
                  <a16:creationId xmlns:a16="http://schemas.microsoft.com/office/drawing/2014/main" id="{1EF584B1-8D5C-A94E-B040-7E9635AEDDFA}"/>
                </a:ext>
              </a:extLst>
            </p:cNvPr>
            <p:cNvCxnSpPr>
              <a:cxnSpLocks noChangeShapeType="1"/>
            </p:cNvCxnSpPr>
            <p:nvPr/>
          </p:nvCxnSpPr>
          <p:spPr bwMode="auto">
            <a:xfrm flipV="1">
              <a:off x="5806641" y="4327189"/>
              <a:ext cx="292100" cy="342900"/>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70" name="Straight Connector 302">
              <a:extLst>
                <a:ext uri="{FF2B5EF4-FFF2-40B4-BE49-F238E27FC236}">
                  <a16:creationId xmlns:a16="http://schemas.microsoft.com/office/drawing/2014/main" id="{75721A12-6308-4047-9837-AB7C60E96999}"/>
                </a:ext>
              </a:extLst>
            </p:cNvPr>
            <p:cNvCxnSpPr>
              <a:cxnSpLocks noChangeShapeType="1"/>
            </p:cNvCxnSpPr>
            <p:nvPr/>
          </p:nvCxnSpPr>
          <p:spPr bwMode="auto">
            <a:xfrm flipH="1" flipV="1">
              <a:off x="6374966" y="4308139"/>
              <a:ext cx="412750" cy="168275"/>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71" name="Straight Connector 303">
              <a:extLst>
                <a:ext uri="{FF2B5EF4-FFF2-40B4-BE49-F238E27FC236}">
                  <a16:creationId xmlns:a16="http://schemas.microsoft.com/office/drawing/2014/main" id="{9BDCEBC2-564F-C54F-B3E8-A18588A42FD2}"/>
                </a:ext>
              </a:extLst>
            </p:cNvPr>
            <p:cNvCxnSpPr>
              <a:cxnSpLocks noChangeShapeType="1"/>
            </p:cNvCxnSpPr>
            <p:nvPr/>
          </p:nvCxnSpPr>
          <p:spPr bwMode="auto">
            <a:xfrm flipV="1">
              <a:off x="6359091" y="3836652"/>
              <a:ext cx="328612" cy="266700"/>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72" name="Straight Connector 304">
              <a:extLst>
                <a:ext uri="{FF2B5EF4-FFF2-40B4-BE49-F238E27FC236}">
                  <a16:creationId xmlns:a16="http://schemas.microsoft.com/office/drawing/2014/main" id="{FC07CC37-5E3D-0944-AE86-D2435B67BD6A}"/>
                </a:ext>
              </a:extLst>
            </p:cNvPr>
            <p:cNvCxnSpPr>
              <a:cxnSpLocks noChangeShapeType="1"/>
              <a:endCxn id="160" idx="7"/>
            </p:cNvCxnSpPr>
            <p:nvPr/>
          </p:nvCxnSpPr>
          <p:spPr bwMode="auto">
            <a:xfrm flipH="1" flipV="1">
              <a:off x="5155766" y="3660439"/>
              <a:ext cx="261937" cy="119063"/>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sp>
          <p:nvSpPr>
            <p:cNvPr id="73" name="TextBox 39958">
              <a:extLst>
                <a:ext uri="{FF2B5EF4-FFF2-40B4-BE49-F238E27FC236}">
                  <a16:creationId xmlns:a16="http://schemas.microsoft.com/office/drawing/2014/main" id="{08951995-D6BD-774B-9044-606D684C7AB8}"/>
                </a:ext>
              </a:extLst>
            </p:cNvPr>
            <p:cNvSpPr txBox="1">
              <a:spLocks noChangeArrowheads="1"/>
            </p:cNvSpPr>
            <p:nvPr/>
          </p:nvSpPr>
          <p:spPr bwMode="auto">
            <a:xfrm>
              <a:off x="4019116" y="3644564"/>
              <a:ext cx="9605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i="1" dirty="0">
                  <a:solidFill>
                    <a:schemeClr val="bg1"/>
                  </a:solidFill>
                  <a:latin typeface="+mn-lt"/>
                </a:rPr>
                <a:t>global</a:t>
              </a:r>
              <a:br>
                <a:rPr lang="en-US" altLang="en-US" i="1" dirty="0">
                  <a:solidFill>
                    <a:schemeClr val="bg1"/>
                  </a:solidFill>
                  <a:latin typeface="+mn-lt"/>
                </a:rPr>
              </a:br>
              <a:r>
                <a:rPr lang="en-US" altLang="en-US" i="1" dirty="0">
                  <a:solidFill>
                    <a:schemeClr val="bg1"/>
                  </a:solidFill>
                  <a:latin typeface="+mn-lt"/>
                </a:rPr>
                <a:t>ISP</a:t>
              </a:r>
            </a:p>
          </p:txBody>
        </p:sp>
        <p:cxnSp>
          <p:nvCxnSpPr>
            <p:cNvPr id="104" name="Straight Connector 307">
              <a:extLst>
                <a:ext uri="{FF2B5EF4-FFF2-40B4-BE49-F238E27FC236}">
                  <a16:creationId xmlns:a16="http://schemas.microsoft.com/office/drawing/2014/main" id="{A44FB0A6-3870-1341-B86E-341F2D262CF9}"/>
                </a:ext>
              </a:extLst>
            </p:cNvPr>
            <p:cNvCxnSpPr>
              <a:cxnSpLocks noChangeShapeType="1"/>
            </p:cNvCxnSpPr>
            <p:nvPr/>
          </p:nvCxnSpPr>
          <p:spPr bwMode="auto">
            <a:xfrm>
              <a:off x="2298266" y="4320839"/>
              <a:ext cx="1971675" cy="2111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5" name="Straight Connector 308">
              <a:extLst>
                <a:ext uri="{FF2B5EF4-FFF2-40B4-BE49-F238E27FC236}">
                  <a16:creationId xmlns:a16="http://schemas.microsoft.com/office/drawing/2014/main" id="{73D26D64-D8CE-B94B-844B-77A0B18300C5}"/>
                </a:ext>
              </a:extLst>
            </p:cNvPr>
            <p:cNvCxnSpPr>
              <a:cxnSpLocks noChangeShapeType="1"/>
            </p:cNvCxnSpPr>
            <p:nvPr/>
          </p:nvCxnSpPr>
          <p:spPr bwMode="auto">
            <a:xfrm flipV="1">
              <a:off x="2525278" y="4633577"/>
              <a:ext cx="1744663" cy="411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6" name="Straight Connector 309">
              <a:extLst>
                <a:ext uri="{FF2B5EF4-FFF2-40B4-BE49-F238E27FC236}">
                  <a16:creationId xmlns:a16="http://schemas.microsoft.com/office/drawing/2014/main" id="{147CF42E-C79D-4A43-A07C-6F624D99F9DC}"/>
                </a:ext>
              </a:extLst>
            </p:cNvPr>
            <p:cNvCxnSpPr>
              <a:cxnSpLocks noChangeShapeType="1"/>
            </p:cNvCxnSpPr>
            <p:nvPr/>
          </p:nvCxnSpPr>
          <p:spPr bwMode="auto">
            <a:xfrm flipV="1">
              <a:off x="2928503" y="4682789"/>
              <a:ext cx="1431925" cy="755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7" name="Straight Connector 310">
              <a:extLst>
                <a:ext uri="{FF2B5EF4-FFF2-40B4-BE49-F238E27FC236}">
                  <a16:creationId xmlns:a16="http://schemas.microsoft.com/office/drawing/2014/main" id="{1CD624F6-E490-5B49-8694-B3CF2ED457D0}"/>
                </a:ext>
              </a:extLst>
            </p:cNvPr>
            <p:cNvCxnSpPr>
              <a:cxnSpLocks noChangeShapeType="1"/>
            </p:cNvCxnSpPr>
            <p:nvPr/>
          </p:nvCxnSpPr>
          <p:spPr bwMode="auto">
            <a:xfrm flipV="1">
              <a:off x="4520766" y="4703427"/>
              <a:ext cx="57150" cy="12112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8" name="Straight Connector 311">
              <a:extLst>
                <a:ext uri="{FF2B5EF4-FFF2-40B4-BE49-F238E27FC236}">
                  <a16:creationId xmlns:a16="http://schemas.microsoft.com/office/drawing/2014/main" id="{AA608358-EE22-BD40-8B67-8D4C8DB9A83E}"/>
                </a:ext>
              </a:extLst>
            </p:cNvPr>
            <p:cNvCxnSpPr>
              <a:cxnSpLocks noChangeShapeType="1"/>
            </p:cNvCxnSpPr>
            <p:nvPr/>
          </p:nvCxnSpPr>
          <p:spPr bwMode="auto">
            <a:xfrm flipV="1">
              <a:off x="5747903" y="4932027"/>
              <a:ext cx="6350" cy="11350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9" name="Straight Connector 312">
              <a:extLst>
                <a:ext uri="{FF2B5EF4-FFF2-40B4-BE49-F238E27FC236}">
                  <a16:creationId xmlns:a16="http://schemas.microsoft.com/office/drawing/2014/main" id="{37B9C794-C333-D147-8D43-5EF46E002A77}"/>
                </a:ext>
              </a:extLst>
            </p:cNvPr>
            <p:cNvCxnSpPr>
              <a:cxnSpLocks noChangeShapeType="1"/>
            </p:cNvCxnSpPr>
            <p:nvPr/>
          </p:nvCxnSpPr>
          <p:spPr bwMode="auto">
            <a:xfrm flipH="1" flipV="1">
              <a:off x="6055878" y="4881227"/>
              <a:ext cx="506413" cy="10588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30" name="Straight Connector 313">
              <a:extLst>
                <a:ext uri="{FF2B5EF4-FFF2-40B4-BE49-F238E27FC236}">
                  <a16:creationId xmlns:a16="http://schemas.microsoft.com/office/drawing/2014/main" id="{1C0EFD6D-4F46-864D-9BBD-8B254CE6BFF4}"/>
                </a:ext>
              </a:extLst>
            </p:cNvPr>
            <p:cNvCxnSpPr>
              <a:cxnSpLocks noChangeShapeType="1"/>
              <a:endCxn id="134" idx="7"/>
            </p:cNvCxnSpPr>
            <p:nvPr/>
          </p:nvCxnSpPr>
          <p:spPr bwMode="auto">
            <a:xfrm flipH="1" flipV="1">
              <a:off x="7173478" y="4646277"/>
              <a:ext cx="1512888" cy="10826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31" name="Straight Connector 314">
              <a:extLst>
                <a:ext uri="{FF2B5EF4-FFF2-40B4-BE49-F238E27FC236}">
                  <a16:creationId xmlns:a16="http://schemas.microsoft.com/office/drawing/2014/main" id="{3A5CF2BF-F999-BC43-97A2-CC9BCD73F87C}"/>
                </a:ext>
              </a:extLst>
            </p:cNvPr>
            <p:cNvCxnSpPr>
              <a:cxnSpLocks noChangeShapeType="1"/>
            </p:cNvCxnSpPr>
            <p:nvPr/>
          </p:nvCxnSpPr>
          <p:spPr bwMode="auto">
            <a:xfrm flipH="1" flipV="1">
              <a:off x="7230628" y="4524039"/>
              <a:ext cx="2244725" cy="609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32" name="Straight Connector 315">
              <a:extLst>
                <a:ext uri="{FF2B5EF4-FFF2-40B4-BE49-F238E27FC236}">
                  <a16:creationId xmlns:a16="http://schemas.microsoft.com/office/drawing/2014/main" id="{4064FAD7-FFE1-5841-B958-CC3E3023B905}"/>
                </a:ext>
              </a:extLst>
            </p:cNvPr>
            <p:cNvCxnSpPr>
              <a:cxnSpLocks noChangeShapeType="1"/>
              <a:endCxn id="136" idx="5"/>
            </p:cNvCxnSpPr>
            <p:nvPr/>
          </p:nvCxnSpPr>
          <p:spPr bwMode="auto">
            <a:xfrm flipH="1">
              <a:off x="7171891" y="4219239"/>
              <a:ext cx="2076450" cy="1936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43" name="Straight Connector 316">
              <a:extLst>
                <a:ext uri="{FF2B5EF4-FFF2-40B4-BE49-F238E27FC236}">
                  <a16:creationId xmlns:a16="http://schemas.microsoft.com/office/drawing/2014/main" id="{24711AAA-BB0E-7A4B-974E-4325D88EC7E0}"/>
                </a:ext>
              </a:extLst>
            </p:cNvPr>
            <p:cNvCxnSpPr>
              <a:cxnSpLocks noChangeShapeType="1"/>
            </p:cNvCxnSpPr>
            <p:nvPr/>
          </p:nvCxnSpPr>
          <p:spPr bwMode="auto">
            <a:xfrm flipH="1">
              <a:off x="6992503" y="3287377"/>
              <a:ext cx="1422400" cy="4540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44" name="Straight Connector 317">
              <a:extLst>
                <a:ext uri="{FF2B5EF4-FFF2-40B4-BE49-F238E27FC236}">
                  <a16:creationId xmlns:a16="http://schemas.microsoft.com/office/drawing/2014/main" id="{69BCF3BD-863D-334E-9F97-BB51AFA3293D}"/>
                </a:ext>
              </a:extLst>
            </p:cNvPr>
            <p:cNvCxnSpPr>
              <a:cxnSpLocks noChangeShapeType="1"/>
            </p:cNvCxnSpPr>
            <p:nvPr/>
          </p:nvCxnSpPr>
          <p:spPr bwMode="auto">
            <a:xfrm flipH="1">
              <a:off x="6816291" y="2863514"/>
              <a:ext cx="898525" cy="728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45" name="Straight Connector 318">
              <a:extLst>
                <a:ext uri="{FF2B5EF4-FFF2-40B4-BE49-F238E27FC236}">
                  <a16:creationId xmlns:a16="http://schemas.microsoft.com/office/drawing/2014/main" id="{B8B2DF70-94C2-634D-ABC9-F20160CA802F}"/>
                </a:ext>
              </a:extLst>
            </p:cNvPr>
            <p:cNvCxnSpPr>
              <a:cxnSpLocks noChangeShapeType="1"/>
            </p:cNvCxnSpPr>
            <p:nvPr/>
          </p:nvCxnSpPr>
          <p:spPr bwMode="auto">
            <a:xfrm>
              <a:off x="5981266" y="2441239"/>
              <a:ext cx="555625" cy="11255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56" name="Straight Connector 22">
              <a:extLst>
                <a:ext uri="{FF2B5EF4-FFF2-40B4-BE49-F238E27FC236}">
                  <a16:creationId xmlns:a16="http://schemas.microsoft.com/office/drawing/2014/main" id="{16D1153B-5425-1647-A931-B4A2C9D853B8}"/>
                </a:ext>
              </a:extLst>
            </p:cNvPr>
            <p:cNvCxnSpPr>
              <a:cxnSpLocks noChangeShapeType="1"/>
            </p:cNvCxnSpPr>
            <p:nvPr/>
          </p:nvCxnSpPr>
          <p:spPr bwMode="auto">
            <a:xfrm>
              <a:off x="3493653" y="2638089"/>
              <a:ext cx="1230313" cy="7969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57" name="Straight Connector 305">
              <a:extLst>
                <a:ext uri="{FF2B5EF4-FFF2-40B4-BE49-F238E27FC236}">
                  <a16:creationId xmlns:a16="http://schemas.microsoft.com/office/drawing/2014/main" id="{43830B39-2404-A04C-9CC7-B4124D5F56AE}"/>
                </a:ext>
              </a:extLst>
            </p:cNvPr>
            <p:cNvCxnSpPr>
              <a:cxnSpLocks noChangeShapeType="1"/>
            </p:cNvCxnSpPr>
            <p:nvPr/>
          </p:nvCxnSpPr>
          <p:spPr bwMode="auto">
            <a:xfrm>
              <a:off x="2749116" y="2969877"/>
              <a:ext cx="1885950" cy="5191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58" name="Straight Connector 306">
              <a:extLst>
                <a:ext uri="{FF2B5EF4-FFF2-40B4-BE49-F238E27FC236}">
                  <a16:creationId xmlns:a16="http://schemas.microsoft.com/office/drawing/2014/main" id="{5E30D4FB-2873-9E4D-8D7A-D021BF348C2C}"/>
                </a:ext>
              </a:extLst>
            </p:cNvPr>
            <p:cNvCxnSpPr>
              <a:cxnSpLocks noChangeShapeType="1"/>
            </p:cNvCxnSpPr>
            <p:nvPr/>
          </p:nvCxnSpPr>
          <p:spPr bwMode="auto">
            <a:xfrm>
              <a:off x="2361766" y="3338177"/>
              <a:ext cx="2273300" cy="260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0" name="Group 169">
              <a:extLst>
                <a:ext uri="{FF2B5EF4-FFF2-40B4-BE49-F238E27FC236}">
                  <a16:creationId xmlns:a16="http://schemas.microsoft.com/office/drawing/2014/main" id="{8D3ED10C-3292-6842-BD51-5123D926C106}"/>
                </a:ext>
              </a:extLst>
            </p:cNvPr>
            <p:cNvGrpSpPr/>
            <p:nvPr/>
          </p:nvGrpSpPr>
          <p:grpSpPr>
            <a:xfrm>
              <a:off x="4279891" y="4448623"/>
              <a:ext cx="626338" cy="344849"/>
              <a:chOff x="7493876" y="2774731"/>
              <a:chExt cx="1481958" cy="894622"/>
            </a:xfrm>
          </p:grpSpPr>
          <p:sp>
            <p:nvSpPr>
              <p:cNvPr id="171" name="Freeform 170">
                <a:extLst>
                  <a:ext uri="{FF2B5EF4-FFF2-40B4-BE49-F238E27FC236}">
                    <a16:creationId xmlns:a16="http://schemas.microsoft.com/office/drawing/2014/main" id="{AF5B3F2E-DC62-A445-9CEA-1B4CC2C6F2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72" name="Oval 171">
                <a:extLst>
                  <a:ext uri="{FF2B5EF4-FFF2-40B4-BE49-F238E27FC236}">
                    <a16:creationId xmlns:a16="http://schemas.microsoft.com/office/drawing/2014/main" id="{A18BFFCD-8F5C-634F-9DA2-26E93BA06B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73" name="Group 172">
                <a:extLst>
                  <a:ext uri="{FF2B5EF4-FFF2-40B4-BE49-F238E27FC236}">
                    <a16:creationId xmlns:a16="http://schemas.microsoft.com/office/drawing/2014/main" id="{5A77A58E-6CAF-BE4E-BE2C-AA3FF2980388}"/>
                  </a:ext>
                </a:extLst>
              </p:cNvPr>
              <p:cNvGrpSpPr/>
              <p:nvPr/>
            </p:nvGrpSpPr>
            <p:grpSpPr>
              <a:xfrm>
                <a:off x="7713663" y="2848339"/>
                <a:ext cx="1042107" cy="425543"/>
                <a:chOff x="7786941" y="2884917"/>
                <a:chExt cx="897649" cy="353919"/>
              </a:xfrm>
            </p:grpSpPr>
            <p:sp>
              <p:nvSpPr>
                <p:cNvPr id="174" name="Freeform 173">
                  <a:extLst>
                    <a:ext uri="{FF2B5EF4-FFF2-40B4-BE49-F238E27FC236}">
                      <a16:creationId xmlns:a16="http://schemas.microsoft.com/office/drawing/2014/main" id="{26ADAFF5-7151-464F-A1D2-5B908BDFDE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174">
                  <a:extLst>
                    <a:ext uri="{FF2B5EF4-FFF2-40B4-BE49-F238E27FC236}">
                      <a16:creationId xmlns:a16="http://schemas.microsoft.com/office/drawing/2014/main" id="{3DF4D1D4-450D-1342-8445-0B3867D5EB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Freeform 175">
                  <a:extLst>
                    <a:ext uri="{FF2B5EF4-FFF2-40B4-BE49-F238E27FC236}">
                      <a16:creationId xmlns:a16="http://schemas.microsoft.com/office/drawing/2014/main" id="{36EBE75F-36C0-304E-AD2E-BF739CBDB6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176">
                  <a:extLst>
                    <a:ext uri="{FF2B5EF4-FFF2-40B4-BE49-F238E27FC236}">
                      <a16:creationId xmlns:a16="http://schemas.microsoft.com/office/drawing/2014/main" id="{0849EB5F-BD97-524E-A510-D4AEF9E68C9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86" name="Group 185">
              <a:extLst>
                <a:ext uri="{FF2B5EF4-FFF2-40B4-BE49-F238E27FC236}">
                  <a16:creationId xmlns:a16="http://schemas.microsoft.com/office/drawing/2014/main" id="{9249E51B-3709-8544-8EBC-8AB3241C5628}"/>
                </a:ext>
              </a:extLst>
            </p:cNvPr>
            <p:cNvGrpSpPr/>
            <p:nvPr/>
          </p:nvGrpSpPr>
          <p:grpSpPr>
            <a:xfrm>
              <a:off x="6344372" y="3546134"/>
              <a:ext cx="626338" cy="344849"/>
              <a:chOff x="7493876" y="2774731"/>
              <a:chExt cx="1481958" cy="894622"/>
            </a:xfrm>
          </p:grpSpPr>
          <p:sp>
            <p:nvSpPr>
              <p:cNvPr id="187" name="Freeform 186">
                <a:extLst>
                  <a:ext uri="{FF2B5EF4-FFF2-40B4-BE49-F238E27FC236}">
                    <a16:creationId xmlns:a16="http://schemas.microsoft.com/office/drawing/2014/main" id="{8B2B749E-82DC-A647-A925-082B5F12E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88" name="Oval 187">
                <a:extLst>
                  <a:ext uri="{FF2B5EF4-FFF2-40B4-BE49-F238E27FC236}">
                    <a16:creationId xmlns:a16="http://schemas.microsoft.com/office/drawing/2014/main" id="{8235F754-60E1-8D44-BEB1-2F76405A70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89" name="Group 188">
                <a:extLst>
                  <a:ext uri="{FF2B5EF4-FFF2-40B4-BE49-F238E27FC236}">
                    <a16:creationId xmlns:a16="http://schemas.microsoft.com/office/drawing/2014/main" id="{7060DE65-3570-5D48-8CD1-728004D88F8B}"/>
                  </a:ext>
                </a:extLst>
              </p:cNvPr>
              <p:cNvGrpSpPr/>
              <p:nvPr/>
            </p:nvGrpSpPr>
            <p:grpSpPr>
              <a:xfrm>
                <a:off x="7713663" y="2848339"/>
                <a:ext cx="1042107" cy="425543"/>
                <a:chOff x="7786941" y="2884917"/>
                <a:chExt cx="897649" cy="353919"/>
              </a:xfrm>
            </p:grpSpPr>
            <p:sp>
              <p:nvSpPr>
                <p:cNvPr id="190" name="Freeform 189">
                  <a:extLst>
                    <a:ext uri="{FF2B5EF4-FFF2-40B4-BE49-F238E27FC236}">
                      <a16:creationId xmlns:a16="http://schemas.microsoft.com/office/drawing/2014/main" id="{87375788-4382-AB45-B7D1-0E0571D5D7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190">
                  <a:extLst>
                    <a:ext uri="{FF2B5EF4-FFF2-40B4-BE49-F238E27FC236}">
                      <a16:creationId xmlns:a16="http://schemas.microsoft.com/office/drawing/2014/main" id="{EA797771-2310-F648-8131-96EB5DDDEA7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Freeform 191">
                  <a:extLst>
                    <a:ext uri="{FF2B5EF4-FFF2-40B4-BE49-F238E27FC236}">
                      <a16:creationId xmlns:a16="http://schemas.microsoft.com/office/drawing/2014/main" id="{34351CF5-722D-6E45-B9B4-B74CF8267C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Freeform 192">
                  <a:extLst>
                    <a:ext uri="{FF2B5EF4-FFF2-40B4-BE49-F238E27FC236}">
                      <a16:creationId xmlns:a16="http://schemas.microsoft.com/office/drawing/2014/main" id="{D7F27777-9A21-6E43-8C43-068B6DA068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94" name="Group 193">
              <a:extLst>
                <a:ext uri="{FF2B5EF4-FFF2-40B4-BE49-F238E27FC236}">
                  <a16:creationId xmlns:a16="http://schemas.microsoft.com/office/drawing/2014/main" id="{BC5668ED-718E-7149-A428-C5FDE1A8F2C2}"/>
                </a:ext>
              </a:extLst>
            </p:cNvPr>
            <p:cNvGrpSpPr/>
            <p:nvPr/>
          </p:nvGrpSpPr>
          <p:grpSpPr>
            <a:xfrm>
              <a:off x="6727154" y="4298718"/>
              <a:ext cx="626338" cy="344849"/>
              <a:chOff x="7493876" y="2774731"/>
              <a:chExt cx="1481958" cy="894622"/>
            </a:xfrm>
          </p:grpSpPr>
          <p:sp>
            <p:nvSpPr>
              <p:cNvPr id="195" name="Freeform 194">
                <a:extLst>
                  <a:ext uri="{FF2B5EF4-FFF2-40B4-BE49-F238E27FC236}">
                    <a16:creationId xmlns:a16="http://schemas.microsoft.com/office/drawing/2014/main" id="{FCAB3AFD-6DB9-C442-A62C-8A8B732A62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96" name="Oval 195">
                <a:extLst>
                  <a:ext uri="{FF2B5EF4-FFF2-40B4-BE49-F238E27FC236}">
                    <a16:creationId xmlns:a16="http://schemas.microsoft.com/office/drawing/2014/main" id="{0EAF15E0-132D-554B-9001-06C01643B87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97" name="Group 196">
                <a:extLst>
                  <a:ext uri="{FF2B5EF4-FFF2-40B4-BE49-F238E27FC236}">
                    <a16:creationId xmlns:a16="http://schemas.microsoft.com/office/drawing/2014/main" id="{C58E5E7D-3560-7342-83C6-FD4806F3BF67}"/>
                  </a:ext>
                </a:extLst>
              </p:cNvPr>
              <p:cNvGrpSpPr/>
              <p:nvPr/>
            </p:nvGrpSpPr>
            <p:grpSpPr>
              <a:xfrm>
                <a:off x="7713663" y="2848339"/>
                <a:ext cx="1042107" cy="425543"/>
                <a:chOff x="7786941" y="2884917"/>
                <a:chExt cx="897649" cy="353919"/>
              </a:xfrm>
            </p:grpSpPr>
            <p:sp>
              <p:nvSpPr>
                <p:cNvPr id="198" name="Freeform 197">
                  <a:extLst>
                    <a:ext uri="{FF2B5EF4-FFF2-40B4-BE49-F238E27FC236}">
                      <a16:creationId xmlns:a16="http://schemas.microsoft.com/office/drawing/2014/main" id="{96474702-4E83-B140-9353-7232FED2DAD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Freeform 198">
                  <a:extLst>
                    <a:ext uri="{FF2B5EF4-FFF2-40B4-BE49-F238E27FC236}">
                      <a16:creationId xmlns:a16="http://schemas.microsoft.com/office/drawing/2014/main" id="{704FE3B4-8535-A049-8BE0-D714266137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Freeform 199">
                  <a:extLst>
                    <a:ext uri="{FF2B5EF4-FFF2-40B4-BE49-F238E27FC236}">
                      <a16:creationId xmlns:a16="http://schemas.microsoft.com/office/drawing/2014/main" id="{AD9D8A02-2060-EB4E-837D-D4075DAD5B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200">
                  <a:extLst>
                    <a:ext uri="{FF2B5EF4-FFF2-40B4-BE49-F238E27FC236}">
                      <a16:creationId xmlns:a16="http://schemas.microsoft.com/office/drawing/2014/main" id="{AB1E681A-CFFC-4449-8876-69516FD66E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02" name="Group 201">
              <a:extLst>
                <a:ext uri="{FF2B5EF4-FFF2-40B4-BE49-F238E27FC236}">
                  <a16:creationId xmlns:a16="http://schemas.microsoft.com/office/drawing/2014/main" id="{2A3E53DB-9306-AE4A-8DC3-72F1126238AB}"/>
                </a:ext>
              </a:extLst>
            </p:cNvPr>
            <p:cNvGrpSpPr/>
            <p:nvPr/>
          </p:nvGrpSpPr>
          <p:grpSpPr>
            <a:xfrm>
              <a:off x="5837682" y="4055837"/>
              <a:ext cx="626338" cy="344849"/>
              <a:chOff x="7493876" y="2774731"/>
              <a:chExt cx="1481958" cy="894622"/>
            </a:xfrm>
          </p:grpSpPr>
          <p:sp>
            <p:nvSpPr>
              <p:cNvPr id="203" name="Freeform 202">
                <a:extLst>
                  <a:ext uri="{FF2B5EF4-FFF2-40B4-BE49-F238E27FC236}">
                    <a16:creationId xmlns:a16="http://schemas.microsoft.com/office/drawing/2014/main" id="{23A50BEC-6839-6249-8340-553653C9F3E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04" name="Oval 203">
                <a:extLst>
                  <a:ext uri="{FF2B5EF4-FFF2-40B4-BE49-F238E27FC236}">
                    <a16:creationId xmlns:a16="http://schemas.microsoft.com/office/drawing/2014/main" id="{139D06A7-73C5-BD45-A9F0-F14D86056FB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05" name="Group 204">
                <a:extLst>
                  <a:ext uri="{FF2B5EF4-FFF2-40B4-BE49-F238E27FC236}">
                    <a16:creationId xmlns:a16="http://schemas.microsoft.com/office/drawing/2014/main" id="{8E8DBC47-79AC-FA4D-BF05-3127B22237B1}"/>
                  </a:ext>
                </a:extLst>
              </p:cNvPr>
              <p:cNvGrpSpPr/>
              <p:nvPr/>
            </p:nvGrpSpPr>
            <p:grpSpPr>
              <a:xfrm>
                <a:off x="7713663" y="2848339"/>
                <a:ext cx="1042107" cy="425543"/>
                <a:chOff x="7786941" y="2884917"/>
                <a:chExt cx="897649" cy="353919"/>
              </a:xfrm>
            </p:grpSpPr>
            <p:sp>
              <p:nvSpPr>
                <p:cNvPr id="206" name="Freeform 205">
                  <a:extLst>
                    <a:ext uri="{FF2B5EF4-FFF2-40B4-BE49-F238E27FC236}">
                      <a16:creationId xmlns:a16="http://schemas.microsoft.com/office/drawing/2014/main" id="{55A875E1-1C0C-BE48-9F7D-06A55781C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Freeform 206">
                  <a:extLst>
                    <a:ext uri="{FF2B5EF4-FFF2-40B4-BE49-F238E27FC236}">
                      <a16:creationId xmlns:a16="http://schemas.microsoft.com/office/drawing/2014/main" id="{67498647-B4D8-9746-BC44-7D18EF8D4A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Freeform 207">
                  <a:extLst>
                    <a:ext uri="{FF2B5EF4-FFF2-40B4-BE49-F238E27FC236}">
                      <a16:creationId xmlns:a16="http://schemas.microsoft.com/office/drawing/2014/main" id="{02B1A2C2-6A3B-8343-9ACC-9BCACF74E55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Freeform 208">
                  <a:extLst>
                    <a:ext uri="{FF2B5EF4-FFF2-40B4-BE49-F238E27FC236}">
                      <a16:creationId xmlns:a16="http://schemas.microsoft.com/office/drawing/2014/main" id="{89238A76-5F43-5145-9757-5BA264DB5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10" name="Group 209">
              <a:extLst>
                <a:ext uri="{FF2B5EF4-FFF2-40B4-BE49-F238E27FC236}">
                  <a16:creationId xmlns:a16="http://schemas.microsoft.com/office/drawing/2014/main" id="{BC98A5EA-E7C9-6D48-B559-20AE118CA200}"/>
                </a:ext>
              </a:extLst>
            </p:cNvPr>
            <p:cNvGrpSpPr/>
            <p:nvPr/>
          </p:nvGrpSpPr>
          <p:grpSpPr>
            <a:xfrm>
              <a:off x="5550814" y="4588885"/>
              <a:ext cx="626338" cy="344849"/>
              <a:chOff x="7493876" y="2774731"/>
              <a:chExt cx="1481958" cy="894622"/>
            </a:xfrm>
          </p:grpSpPr>
          <p:sp>
            <p:nvSpPr>
              <p:cNvPr id="211" name="Freeform 210">
                <a:extLst>
                  <a:ext uri="{FF2B5EF4-FFF2-40B4-BE49-F238E27FC236}">
                    <a16:creationId xmlns:a16="http://schemas.microsoft.com/office/drawing/2014/main" id="{ED928890-6207-9F46-8A7A-01958D0F39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12" name="Oval 211">
                <a:extLst>
                  <a:ext uri="{FF2B5EF4-FFF2-40B4-BE49-F238E27FC236}">
                    <a16:creationId xmlns:a16="http://schemas.microsoft.com/office/drawing/2014/main" id="{378B2235-D6AB-324C-8E9B-876E878982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13" name="Group 212">
                <a:extLst>
                  <a:ext uri="{FF2B5EF4-FFF2-40B4-BE49-F238E27FC236}">
                    <a16:creationId xmlns:a16="http://schemas.microsoft.com/office/drawing/2014/main" id="{DE505999-AA84-A544-B8FD-7BB84F2E7EF9}"/>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25C3A460-D965-B840-891C-9DF90ECA3F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Freeform 214">
                  <a:extLst>
                    <a:ext uri="{FF2B5EF4-FFF2-40B4-BE49-F238E27FC236}">
                      <a16:creationId xmlns:a16="http://schemas.microsoft.com/office/drawing/2014/main" id="{DD91DEED-0EBA-CE48-87EB-A1835EB8C8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Freeform 215">
                  <a:extLst>
                    <a:ext uri="{FF2B5EF4-FFF2-40B4-BE49-F238E27FC236}">
                      <a16:creationId xmlns:a16="http://schemas.microsoft.com/office/drawing/2014/main" id="{BC6939A6-8BA6-DC44-A174-DEE1D61224A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Freeform 216">
                  <a:extLst>
                    <a:ext uri="{FF2B5EF4-FFF2-40B4-BE49-F238E27FC236}">
                      <a16:creationId xmlns:a16="http://schemas.microsoft.com/office/drawing/2014/main" id="{5F1FEBF6-2BE1-D040-8F48-BCFF7C3342E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18" name="Group 217">
              <a:extLst>
                <a:ext uri="{FF2B5EF4-FFF2-40B4-BE49-F238E27FC236}">
                  <a16:creationId xmlns:a16="http://schemas.microsoft.com/office/drawing/2014/main" id="{680EAB27-8941-0E46-9318-9C5485721F6A}"/>
                </a:ext>
              </a:extLst>
            </p:cNvPr>
            <p:cNvGrpSpPr/>
            <p:nvPr/>
          </p:nvGrpSpPr>
          <p:grpSpPr>
            <a:xfrm>
              <a:off x="4962853" y="4139117"/>
              <a:ext cx="626338" cy="344849"/>
              <a:chOff x="7493876" y="2774731"/>
              <a:chExt cx="1481958" cy="894622"/>
            </a:xfrm>
          </p:grpSpPr>
          <p:sp>
            <p:nvSpPr>
              <p:cNvPr id="219" name="Freeform 218">
                <a:extLst>
                  <a:ext uri="{FF2B5EF4-FFF2-40B4-BE49-F238E27FC236}">
                    <a16:creationId xmlns:a16="http://schemas.microsoft.com/office/drawing/2014/main" id="{D3130ED8-B307-CD47-9B74-80319EF67F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20" name="Oval 219">
                <a:extLst>
                  <a:ext uri="{FF2B5EF4-FFF2-40B4-BE49-F238E27FC236}">
                    <a16:creationId xmlns:a16="http://schemas.microsoft.com/office/drawing/2014/main" id="{9291ADAC-9C4E-9F4D-96E9-D13555EB14B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21" name="Group 220">
                <a:extLst>
                  <a:ext uri="{FF2B5EF4-FFF2-40B4-BE49-F238E27FC236}">
                    <a16:creationId xmlns:a16="http://schemas.microsoft.com/office/drawing/2014/main" id="{74E4CB4F-B5D0-7C47-9A28-6987D652A4C4}"/>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F870E08A-018D-1F44-8ACC-FA1F573C65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Freeform 222">
                  <a:extLst>
                    <a:ext uri="{FF2B5EF4-FFF2-40B4-BE49-F238E27FC236}">
                      <a16:creationId xmlns:a16="http://schemas.microsoft.com/office/drawing/2014/main" id="{EBE1B8CE-F23E-1A49-A516-714D15BC8A8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Freeform 223">
                  <a:extLst>
                    <a:ext uri="{FF2B5EF4-FFF2-40B4-BE49-F238E27FC236}">
                      <a16:creationId xmlns:a16="http://schemas.microsoft.com/office/drawing/2014/main" id="{D943ED8F-A614-BD4E-81BC-61373A7DDB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Freeform 224">
                  <a:extLst>
                    <a:ext uri="{FF2B5EF4-FFF2-40B4-BE49-F238E27FC236}">
                      <a16:creationId xmlns:a16="http://schemas.microsoft.com/office/drawing/2014/main" id="{81DAC616-5065-C743-888A-4F351E853AC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26" name="Group 225">
              <a:extLst>
                <a:ext uri="{FF2B5EF4-FFF2-40B4-BE49-F238E27FC236}">
                  <a16:creationId xmlns:a16="http://schemas.microsoft.com/office/drawing/2014/main" id="{CDCBB0B3-22DC-2B43-8452-B329C27907E4}"/>
                </a:ext>
              </a:extLst>
            </p:cNvPr>
            <p:cNvGrpSpPr/>
            <p:nvPr/>
          </p:nvGrpSpPr>
          <p:grpSpPr>
            <a:xfrm>
              <a:off x="5243803" y="3734721"/>
              <a:ext cx="626338" cy="344849"/>
              <a:chOff x="7493876" y="2774731"/>
              <a:chExt cx="1481958" cy="894622"/>
            </a:xfrm>
          </p:grpSpPr>
          <p:sp>
            <p:nvSpPr>
              <p:cNvPr id="227" name="Freeform 226">
                <a:extLst>
                  <a:ext uri="{FF2B5EF4-FFF2-40B4-BE49-F238E27FC236}">
                    <a16:creationId xmlns:a16="http://schemas.microsoft.com/office/drawing/2014/main" id="{DB510E5F-CEA5-514D-A3A5-9AF094148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28" name="Oval 227">
                <a:extLst>
                  <a:ext uri="{FF2B5EF4-FFF2-40B4-BE49-F238E27FC236}">
                    <a16:creationId xmlns:a16="http://schemas.microsoft.com/office/drawing/2014/main" id="{58E5BBB0-7153-5D4A-824A-DC05BB73CFA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29" name="Group 228">
                <a:extLst>
                  <a:ext uri="{FF2B5EF4-FFF2-40B4-BE49-F238E27FC236}">
                    <a16:creationId xmlns:a16="http://schemas.microsoft.com/office/drawing/2014/main" id="{CE212987-63DF-8244-A29C-CFEB2D3458B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173793BB-A7E5-5142-A69A-3F3E7F4F0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230">
                  <a:extLst>
                    <a:ext uri="{FF2B5EF4-FFF2-40B4-BE49-F238E27FC236}">
                      <a16:creationId xmlns:a16="http://schemas.microsoft.com/office/drawing/2014/main" id="{0CA09D46-EB5A-4B43-BA2C-00403BFFEA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Freeform 231">
                  <a:extLst>
                    <a:ext uri="{FF2B5EF4-FFF2-40B4-BE49-F238E27FC236}">
                      <a16:creationId xmlns:a16="http://schemas.microsoft.com/office/drawing/2014/main" id="{8B0C3147-4509-3045-9528-A46FD3A6FE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Freeform 232">
                  <a:extLst>
                    <a:ext uri="{FF2B5EF4-FFF2-40B4-BE49-F238E27FC236}">
                      <a16:creationId xmlns:a16="http://schemas.microsoft.com/office/drawing/2014/main" id="{BF5B6EA0-DDA9-EE41-9EAB-6346C6B64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cxnSp>
          <p:nvCxnSpPr>
            <p:cNvPr id="234" name="Straight Connector 318">
              <a:extLst>
                <a:ext uri="{FF2B5EF4-FFF2-40B4-BE49-F238E27FC236}">
                  <a16:creationId xmlns:a16="http://schemas.microsoft.com/office/drawing/2014/main" id="{6392C9F2-F064-7B43-8D38-9751282AB69D}"/>
                </a:ext>
              </a:extLst>
            </p:cNvPr>
            <p:cNvCxnSpPr>
              <a:cxnSpLocks noChangeShapeType="1"/>
              <a:endCxn id="182" idx="9"/>
            </p:cNvCxnSpPr>
            <p:nvPr/>
          </p:nvCxnSpPr>
          <p:spPr bwMode="auto">
            <a:xfrm flipH="1">
              <a:off x="4883204" y="2316723"/>
              <a:ext cx="105898" cy="11266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8" name="Group 177">
              <a:extLst>
                <a:ext uri="{FF2B5EF4-FFF2-40B4-BE49-F238E27FC236}">
                  <a16:creationId xmlns:a16="http://schemas.microsoft.com/office/drawing/2014/main" id="{A8B77585-106B-B840-A3D7-EF8EF8A926E1}"/>
                </a:ext>
              </a:extLst>
            </p:cNvPr>
            <p:cNvGrpSpPr/>
            <p:nvPr/>
          </p:nvGrpSpPr>
          <p:grpSpPr>
            <a:xfrm>
              <a:off x="4570926" y="3361080"/>
              <a:ext cx="626338" cy="344849"/>
              <a:chOff x="7493876" y="2774731"/>
              <a:chExt cx="1481958" cy="894622"/>
            </a:xfrm>
          </p:grpSpPr>
          <p:sp>
            <p:nvSpPr>
              <p:cNvPr id="179" name="Freeform 178">
                <a:extLst>
                  <a:ext uri="{FF2B5EF4-FFF2-40B4-BE49-F238E27FC236}">
                    <a16:creationId xmlns:a16="http://schemas.microsoft.com/office/drawing/2014/main" id="{886D6656-BD5A-3C4A-BD70-9C3406F00B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80" name="Oval 179">
                <a:extLst>
                  <a:ext uri="{FF2B5EF4-FFF2-40B4-BE49-F238E27FC236}">
                    <a16:creationId xmlns:a16="http://schemas.microsoft.com/office/drawing/2014/main" id="{32BE4FB4-6FD4-2245-BF1D-B6537CA2C9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81" name="Group 180">
                <a:extLst>
                  <a:ext uri="{FF2B5EF4-FFF2-40B4-BE49-F238E27FC236}">
                    <a16:creationId xmlns:a16="http://schemas.microsoft.com/office/drawing/2014/main" id="{9B236B01-C685-F04B-8BFD-171244EDF32E}"/>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7B762431-F9D6-2F40-9BC3-7E439F0E51D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182">
                  <a:extLst>
                    <a:ext uri="{FF2B5EF4-FFF2-40B4-BE49-F238E27FC236}">
                      <a16:creationId xmlns:a16="http://schemas.microsoft.com/office/drawing/2014/main" id="{6CE4F783-C3B9-5C4C-BE5B-3CC65A008A4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183">
                  <a:extLst>
                    <a:ext uri="{FF2B5EF4-FFF2-40B4-BE49-F238E27FC236}">
                      <a16:creationId xmlns:a16="http://schemas.microsoft.com/office/drawing/2014/main" id="{7412CE03-F350-D146-87E5-5077C7F550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184">
                  <a:extLst>
                    <a:ext uri="{FF2B5EF4-FFF2-40B4-BE49-F238E27FC236}">
                      <a16:creationId xmlns:a16="http://schemas.microsoft.com/office/drawing/2014/main" id="{E9EC2D30-9A26-A84B-BEB8-EA1DBEF0922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grpSp>
    </p:spTree>
    <p:extLst>
      <p:ext uri="{BB962C8B-B14F-4D97-AF65-F5344CB8AC3E}">
        <p14:creationId xmlns:p14="http://schemas.microsoft.com/office/powerpoint/2010/main" val="825928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4" name="Straight Connector 500">
            <a:extLst>
              <a:ext uri="{FF2B5EF4-FFF2-40B4-BE49-F238E27FC236}">
                <a16:creationId xmlns:a16="http://schemas.microsoft.com/office/drawing/2014/main" id="{1B992F92-593B-A846-BD86-3EA9B3B7BADD}"/>
              </a:ext>
            </a:extLst>
          </p:cNvPr>
          <p:cNvCxnSpPr>
            <a:cxnSpLocks noChangeShapeType="1"/>
          </p:cNvCxnSpPr>
          <p:nvPr/>
        </p:nvCxnSpPr>
        <p:spPr bwMode="auto">
          <a:xfrm>
            <a:off x="2789150" y="2906616"/>
            <a:ext cx="83185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5" name="Straight Connector 501">
            <a:extLst>
              <a:ext uri="{FF2B5EF4-FFF2-40B4-BE49-F238E27FC236}">
                <a16:creationId xmlns:a16="http://schemas.microsoft.com/office/drawing/2014/main" id="{56296F92-1F9C-784A-A6FD-76A4CAC7D08E}"/>
              </a:ext>
            </a:extLst>
          </p:cNvPr>
          <p:cNvCxnSpPr>
            <a:cxnSpLocks noChangeShapeType="1"/>
          </p:cNvCxnSpPr>
          <p:nvPr/>
        </p:nvCxnSpPr>
        <p:spPr bwMode="auto">
          <a:xfrm flipV="1">
            <a:off x="2385925" y="3030441"/>
            <a:ext cx="1303338" cy="2778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1" name="Straight Connector 509">
            <a:extLst>
              <a:ext uri="{FF2B5EF4-FFF2-40B4-BE49-F238E27FC236}">
                <a16:creationId xmlns:a16="http://schemas.microsoft.com/office/drawing/2014/main" id="{711A581A-76D7-8A4E-B14E-08BFC2886934}"/>
              </a:ext>
            </a:extLst>
          </p:cNvPr>
          <p:cNvCxnSpPr>
            <a:cxnSpLocks noChangeShapeType="1"/>
          </p:cNvCxnSpPr>
          <p:nvPr/>
        </p:nvCxnSpPr>
        <p:spPr bwMode="auto">
          <a:xfrm flipH="1" flipV="1">
            <a:off x="6470563" y="4751291"/>
            <a:ext cx="285750" cy="11604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2" name="Straight Connector 510">
            <a:extLst>
              <a:ext uri="{FF2B5EF4-FFF2-40B4-BE49-F238E27FC236}">
                <a16:creationId xmlns:a16="http://schemas.microsoft.com/office/drawing/2014/main" id="{9625A981-0B96-9844-866B-6519CD7ED418}"/>
              </a:ext>
            </a:extLst>
          </p:cNvPr>
          <p:cNvCxnSpPr>
            <a:cxnSpLocks noChangeShapeType="1"/>
          </p:cNvCxnSpPr>
          <p:nvPr/>
        </p:nvCxnSpPr>
        <p:spPr bwMode="auto">
          <a:xfrm flipH="1" flipV="1">
            <a:off x="5219613" y="5102128"/>
            <a:ext cx="371475" cy="973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3" name="Straight Connector 511">
            <a:extLst>
              <a:ext uri="{FF2B5EF4-FFF2-40B4-BE49-F238E27FC236}">
                <a16:creationId xmlns:a16="http://schemas.microsoft.com/office/drawing/2014/main" id="{6746459F-2A00-6149-8E52-E5B91018DC08}"/>
              </a:ext>
            </a:extLst>
          </p:cNvPr>
          <p:cNvCxnSpPr>
            <a:cxnSpLocks noChangeShapeType="1"/>
          </p:cNvCxnSpPr>
          <p:nvPr/>
        </p:nvCxnSpPr>
        <p:spPr bwMode="auto">
          <a:xfrm flipH="1" flipV="1">
            <a:off x="4295688" y="5249766"/>
            <a:ext cx="244475" cy="6619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6" name="Straight Connector 514">
            <a:extLst>
              <a:ext uri="{FF2B5EF4-FFF2-40B4-BE49-F238E27FC236}">
                <a16:creationId xmlns:a16="http://schemas.microsoft.com/office/drawing/2014/main" id="{B47AA23F-334E-EE4A-AD28-304C351DF1A9}"/>
              </a:ext>
            </a:extLst>
          </p:cNvPr>
          <p:cNvCxnSpPr>
            <a:cxnSpLocks noChangeShapeType="1"/>
          </p:cNvCxnSpPr>
          <p:nvPr/>
        </p:nvCxnSpPr>
        <p:spPr bwMode="auto">
          <a:xfrm>
            <a:off x="2306550" y="4433791"/>
            <a:ext cx="996950" cy="4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60</a:t>
            </a:fld>
            <a:endParaRPr lang="en-US" dirty="0"/>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gr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1499042" y="1163204"/>
            <a:ext cx="9720792" cy="67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20000"/>
              </a:spcBef>
              <a:buClr>
                <a:srgbClr val="000099"/>
              </a:buClr>
              <a:buSzPct val="75000"/>
              <a:buFont typeface="Wingdings" pitchFamily="2" charset="2"/>
              <a:buNone/>
            </a:pPr>
            <a:r>
              <a:rPr lang="en-US" altLang="en-US" dirty="0">
                <a:latin typeface="Calibri" panose="020F0502020204030204" pitchFamily="34" charset="0"/>
                <a:cs typeface="Calibri" panose="020F0502020204030204" pitchFamily="34" charset="0"/>
              </a:rPr>
              <a:t>But if one global ISP is viable business, there will be competitors ….</a:t>
            </a:r>
          </a:p>
        </p:txBody>
      </p:sp>
      <p:grpSp>
        <p:nvGrpSpPr>
          <p:cNvPr id="1045" name="Group 1044">
            <a:extLst>
              <a:ext uri="{FF2B5EF4-FFF2-40B4-BE49-F238E27FC236}">
                <a16:creationId xmlns:a16="http://schemas.microsoft.com/office/drawing/2014/main" id="{13AACC9B-D105-3043-AF8C-2081E48072E8}"/>
              </a:ext>
            </a:extLst>
          </p:cNvPr>
          <p:cNvGrpSpPr/>
          <p:nvPr/>
        </p:nvGrpSpPr>
        <p:grpSpPr>
          <a:xfrm>
            <a:off x="6429198" y="3852093"/>
            <a:ext cx="541338" cy="223023"/>
            <a:chOff x="7493876" y="2774731"/>
            <a:chExt cx="1481958" cy="894622"/>
          </a:xfrm>
        </p:grpSpPr>
        <p:sp>
          <p:nvSpPr>
            <p:cNvPr id="1046" name="Freeform 1045">
              <a:extLst>
                <a:ext uri="{FF2B5EF4-FFF2-40B4-BE49-F238E27FC236}">
                  <a16:creationId xmlns:a16="http://schemas.microsoft.com/office/drawing/2014/main" id="{B7B0BC27-BE66-1B42-90F2-4AFF26604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47" name="Oval 1046">
              <a:extLst>
                <a:ext uri="{FF2B5EF4-FFF2-40B4-BE49-F238E27FC236}">
                  <a16:creationId xmlns:a16="http://schemas.microsoft.com/office/drawing/2014/main" id="{30116168-B8A9-FD48-B8B5-E681701C3D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48" name="Group 1047">
              <a:extLst>
                <a:ext uri="{FF2B5EF4-FFF2-40B4-BE49-F238E27FC236}">
                  <a16:creationId xmlns:a16="http://schemas.microsoft.com/office/drawing/2014/main" id="{CA313D00-0D33-FC49-8950-EDEC9F452EAF}"/>
                </a:ext>
              </a:extLst>
            </p:cNvPr>
            <p:cNvGrpSpPr/>
            <p:nvPr/>
          </p:nvGrpSpPr>
          <p:grpSpPr>
            <a:xfrm>
              <a:off x="7713663" y="2848339"/>
              <a:ext cx="1042107" cy="425543"/>
              <a:chOff x="7786941" y="2884917"/>
              <a:chExt cx="897649" cy="353919"/>
            </a:xfrm>
          </p:grpSpPr>
          <p:sp>
            <p:nvSpPr>
              <p:cNvPr id="1049" name="Freeform 1048">
                <a:extLst>
                  <a:ext uri="{FF2B5EF4-FFF2-40B4-BE49-F238E27FC236}">
                    <a16:creationId xmlns:a16="http://schemas.microsoft.com/office/drawing/2014/main" id="{2AE2726E-398A-114F-BD06-5D40F44C29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0" name="Freeform 1049">
                <a:extLst>
                  <a:ext uri="{FF2B5EF4-FFF2-40B4-BE49-F238E27FC236}">
                    <a16:creationId xmlns:a16="http://schemas.microsoft.com/office/drawing/2014/main" id="{ECEA4EC6-C1A5-0046-8E99-A2A3F0DE5D9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1" name="Freeform 1050">
                <a:extLst>
                  <a:ext uri="{FF2B5EF4-FFF2-40B4-BE49-F238E27FC236}">
                    <a16:creationId xmlns:a16="http://schemas.microsoft.com/office/drawing/2014/main" id="{1BDD0618-3607-1348-95E5-E5949ECA37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2" name="Freeform 1051">
                <a:extLst>
                  <a:ext uri="{FF2B5EF4-FFF2-40B4-BE49-F238E27FC236}">
                    <a16:creationId xmlns:a16="http://schemas.microsoft.com/office/drawing/2014/main" id="{FE13DCB8-AE9D-2F44-86DA-BA0A822B453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98832039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4" name="Straight Connector 500">
            <a:extLst>
              <a:ext uri="{FF2B5EF4-FFF2-40B4-BE49-F238E27FC236}">
                <a16:creationId xmlns:a16="http://schemas.microsoft.com/office/drawing/2014/main" id="{1B992F92-593B-A846-BD86-3EA9B3B7BADD}"/>
              </a:ext>
            </a:extLst>
          </p:cNvPr>
          <p:cNvCxnSpPr>
            <a:cxnSpLocks noChangeShapeType="1"/>
          </p:cNvCxnSpPr>
          <p:nvPr/>
        </p:nvCxnSpPr>
        <p:spPr bwMode="auto">
          <a:xfrm>
            <a:off x="2789150" y="2906616"/>
            <a:ext cx="83185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5" name="Straight Connector 501">
            <a:extLst>
              <a:ext uri="{FF2B5EF4-FFF2-40B4-BE49-F238E27FC236}">
                <a16:creationId xmlns:a16="http://schemas.microsoft.com/office/drawing/2014/main" id="{56296F92-1F9C-784A-A6FD-76A4CAC7D08E}"/>
              </a:ext>
            </a:extLst>
          </p:cNvPr>
          <p:cNvCxnSpPr>
            <a:cxnSpLocks noChangeShapeType="1"/>
          </p:cNvCxnSpPr>
          <p:nvPr/>
        </p:nvCxnSpPr>
        <p:spPr bwMode="auto">
          <a:xfrm flipV="1">
            <a:off x="2385925" y="3030441"/>
            <a:ext cx="1303338" cy="2778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1" name="Straight Connector 509">
            <a:extLst>
              <a:ext uri="{FF2B5EF4-FFF2-40B4-BE49-F238E27FC236}">
                <a16:creationId xmlns:a16="http://schemas.microsoft.com/office/drawing/2014/main" id="{711A581A-76D7-8A4E-B14E-08BFC2886934}"/>
              </a:ext>
            </a:extLst>
          </p:cNvPr>
          <p:cNvCxnSpPr>
            <a:cxnSpLocks noChangeShapeType="1"/>
          </p:cNvCxnSpPr>
          <p:nvPr/>
        </p:nvCxnSpPr>
        <p:spPr bwMode="auto">
          <a:xfrm flipH="1" flipV="1">
            <a:off x="6470563" y="4751291"/>
            <a:ext cx="285750" cy="11604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2" name="Straight Connector 510">
            <a:extLst>
              <a:ext uri="{FF2B5EF4-FFF2-40B4-BE49-F238E27FC236}">
                <a16:creationId xmlns:a16="http://schemas.microsoft.com/office/drawing/2014/main" id="{9625A981-0B96-9844-866B-6519CD7ED418}"/>
              </a:ext>
            </a:extLst>
          </p:cNvPr>
          <p:cNvCxnSpPr>
            <a:cxnSpLocks noChangeShapeType="1"/>
          </p:cNvCxnSpPr>
          <p:nvPr/>
        </p:nvCxnSpPr>
        <p:spPr bwMode="auto">
          <a:xfrm flipH="1" flipV="1">
            <a:off x="5219613" y="5102128"/>
            <a:ext cx="371475" cy="973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3" name="Straight Connector 511">
            <a:extLst>
              <a:ext uri="{FF2B5EF4-FFF2-40B4-BE49-F238E27FC236}">
                <a16:creationId xmlns:a16="http://schemas.microsoft.com/office/drawing/2014/main" id="{6746459F-2A00-6149-8E52-E5B91018DC08}"/>
              </a:ext>
            </a:extLst>
          </p:cNvPr>
          <p:cNvCxnSpPr>
            <a:cxnSpLocks noChangeShapeType="1"/>
          </p:cNvCxnSpPr>
          <p:nvPr/>
        </p:nvCxnSpPr>
        <p:spPr bwMode="auto">
          <a:xfrm flipH="1" flipV="1">
            <a:off x="4295688" y="5249766"/>
            <a:ext cx="244475" cy="6619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6" name="Straight Connector 514">
            <a:extLst>
              <a:ext uri="{FF2B5EF4-FFF2-40B4-BE49-F238E27FC236}">
                <a16:creationId xmlns:a16="http://schemas.microsoft.com/office/drawing/2014/main" id="{B47AA23F-334E-EE4A-AD28-304C351DF1A9}"/>
              </a:ext>
            </a:extLst>
          </p:cNvPr>
          <p:cNvCxnSpPr>
            <a:cxnSpLocks noChangeShapeType="1"/>
          </p:cNvCxnSpPr>
          <p:nvPr/>
        </p:nvCxnSpPr>
        <p:spPr bwMode="auto">
          <a:xfrm>
            <a:off x="2306550" y="4433791"/>
            <a:ext cx="996950" cy="4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61</a:t>
            </a:fld>
            <a:endParaRPr lang="en-US" dirty="0"/>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gr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1499042" y="1163204"/>
            <a:ext cx="9720792" cy="67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20000"/>
              </a:spcBef>
              <a:buClr>
                <a:srgbClr val="000099"/>
              </a:buClr>
              <a:buSzPct val="75000"/>
              <a:buFont typeface="Wingdings" pitchFamily="2" charset="2"/>
              <a:buNone/>
            </a:pPr>
            <a:r>
              <a:rPr lang="en-US" altLang="en-US" dirty="0">
                <a:latin typeface="Calibri" panose="020F0502020204030204" pitchFamily="34" charset="0"/>
                <a:cs typeface="Calibri" panose="020F0502020204030204" pitchFamily="34" charset="0"/>
              </a:rPr>
              <a:t>But if one global ISP is viable business, there will be competitors …. who will want to be connected</a:t>
            </a:r>
          </a:p>
        </p:txBody>
      </p:sp>
      <p:grpSp>
        <p:nvGrpSpPr>
          <p:cNvPr id="302" name="Group 20">
            <a:extLst>
              <a:ext uri="{FF2B5EF4-FFF2-40B4-BE49-F238E27FC236}">
                <a16:creationId xmlns:a16="http://schemas.microsoft.com/office/drawing/2014/main" id="{2E65E034-15F8-4544-9A88-3C6F87D79608}"/>
              </a:ext>
            </a:extLst>
          </p:cNvPr>
          <p:cNvGrpSpPr>
            <a:grpSpLocks/>
          </p:cNvGrpSpPr>
          <p:nvPr/>
        </p:nvGrpSpPr>
        <p:grpSpPr bwMode="auto">
          <a:xfrm>
            <a:off x="5736579" y="2899825"/>
            <a:ext cx="2272389" cy="1061009"/>
            <a:chOff x="4696844" y="2871032"/>
            <a:chExt cx="2272671" cy="1061113"/>
          </a:xfrm>
        </p:grpSpPr>
        <p:grpSp>
          <p:nvGrpSpPr>
            <p:cNvPr id="303" name="Group 16">
              <a:extLst>
                <a:ext uri="{FF2B5EF4-FFF2-40B4-BE49-F238E27FC236}">
                  <a16:creationId xmlns:a16="http://schemas.microsoft.com/office/drawing/2014/main" id="{AE7FAC14-602F-5840-95C2-10B4B1F3F93B}"/>
                </a:ext>
              </a:extLst>
            </p:cNvPr>
            <p:cNvGrpSpPr>
              <a:grpSpLocks/>
            </p:cNvGrpSpPr>
            <p:nvPr/>
          </p:nvGrpSpPr>
          <p:grpSpPr bwMode="auto">
            <a:xfrm>
              <a:off x="5677190" y="2871032"/>
              <a:ext cx="530938" cy="338554"/>
              <a:chOff x="5573768" y="2726239"/>
              <a:chExt cx="530938" cy="338554"/>
            </a:xfrm>
          </p:grpSpPr>
          <p:sp>
            <p:nvSpPr>
              <p:cNvPr id="306" name="Oval 14">
                <a:extLst>
                  <a:ext uri="{FF2B5EF4-FFF2-40B4-BE49-F238E27FC236}">
                    <a16:creationId xmlns:a16="http://schemas.microsoft.com/office/drawing/2014/main" id="{0540692A-C81C-724C-B821-D711DAE7176F}"/>
                  </a:ext>
                </a:extLst>
              </p:cNvPr>
              <p:cNvSpPr>
                <a:spLocks noChangeArrowheads="1"/>
              </p:cNvSpPr>
              <p:nvPr/>
            </p:nvSpPr>
            <p:spPr bwMode="auto">
              <a:xfrm>
                <a:off x="5573768" y="2751297"/>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07" name="TextBox 15">
                <a:extLst>
                  <a:ext uri="{FF2B5EF4-FFF2-40B4-BE49-F238E27FC236}">
                    <a16:creationId xmlns:a16="http://schemas.microsoft.com/office/drawing/2014/main" id="{B7EC47D0-A46E-E246-960E-89C0F218ED7B}"/>
                  </a:ext>
                </a:extLst>
              </p:cNvPr>
              <p:cNvSpPr txBox="1">
                <a:spLocks noChangeArrowheads="1"/>
              </p:cNvSpPr>
              <p:nvPr/>
            </p:nvSpPr>
            <p:spPr bwMode="auto">
              <a:xfrm>
                <a:off x="5593027" y="2726239"/>
                <a:ext cx="5116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dirty="0">
                    <a:solidFill>
                      <a:schemeClr val="bg1"/>
                    </a:solidFill>
                  </a:rPr>
                  <a:t>IXP</a:t>
                </a:r>
              </a:p>
            </p:txBody>
          </p:sp>
        </p:grpSp>
        <p:cxnSp>
          <p:nvCxnSpPr>
            <p:cNvPr id="304" name="Straight Connector 18">
              <a:extLst>
                <a:ext uri="{FF2B5EF4-FFF2-40B4-BE49-F238E27FC236}">
                  <a16:creationId xmlns:a16="http://schemas.microsoft.com/office/drawing/2014/main" id="{6DC2A61E-B493-9841-A8B3-1C17E6A8ED01}"/>
                </a:ext>
              </a:extLst>
            </p:cNvPr>
            <p:cNvCxnSpPr>
              <a:cxnSpLocks noChangeShapeType="1"/>
            </p:cNvCxnSpPr>
            <p:nvPr/>
          </p:nvCxnSpPr>
          <p:spPr bwMode="auto">
            <a:xfrm>
              <a:off x="4696844" y="3073933"/>
              <a:ext cx="980347" cy="351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05" name="Straight Connector 516">
              <a:extLst>
                <a:ext uri="{FF2B5EF4-FFF2-40B4-BE49-F238E27FC236}">
                  <a16:creationId xmlns:a16="http://schemas.microsoft.com/office/drawing/2014/main" id="{ED5D0B03-04A8-4A40-9C0F-4EA56D9810E8}"/>
                </a:ext>
              </a:extLst>
            </p:cNvPr>
            <p:cNvCxnSpPr>
              <a:cxnSpLocks noChangeShapeType="1"/>
              <a:endCxn id="976" idx="1"/>
            </p:cNvCxnSpPr>
            <p:nvPr/>
          </p:nvCxnSpPr>
          <p:spPr bwMode="auto">
            <a:xfrm>
              <a:off x="6137159" y="3146857"/>
              <a:ext cx="832356" cy="78528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08" name="Group 39939">
            <a:extLst>
              <a:ext uri="{FF2B5EF4-FFF2-40B4-BE49-F238E27FC236}">
                <a16:creationId xmlns:a16="http://schemas.microsoft.com/office/drawing/2014/main" id="{17CCBDCA-CC15-454D-A26D-AA4BB11DE0FB}"/>
              </a:ext>
            </a:extLst>
          </p:cNvPr>
          <p:cNvGrpSpPr>
            <a:grpSpLocks/>
          </p:cNvGrpSpPr>
          <p:nvPr/>
        </p:nvGrpSpPr>
        <p:grpSpPr bwMode="auto">
          <a:xfrm>
            <a:off x="3570155" y="3762887"/>
            <a:ext cx="2938536" cy="1357499"/>
            <a:chOff x="2746064" y="3733002"/>
            <a:chExt cx="2937093" cy="1359582"/>
          </a:xfrm>
        </p:grpSpPr>
        <p:cxnSp>
          <p:nvCxnSpPr>
            <p:cNvPr id="309" name="Straight Connector 7">
              <a:extLst>
                <a:ext uri="{FF2B5EF4-FFF2-40B4-BE49-F238E27FC236}">
                  <a16:creationId xmlns:a16="http://schemas.microsoft.com/office/drawing/2014/main" id="{415ABF4C-9DC7-3E48-8D47-77091F596BBC}"/>
                </a:ext>
              </a:extLst>
            </p:cNvPr>
            <p:cNvCxnSpPr>
              <a:cxnSpLocks noChangeShapeType="1"/>
              <a:stCxn id="1032" idx="5"/>
              <a:endCxn id="983" idx="3"/>
            </p:cNvCxnSpPr>
            <p:nvPr/>
          </p:nvCxnSpPr>
          <p:spPr bwMode="auto">
            <a:xfrm>
              <a:off x="5094305" y="3733002"/>
              <a:ext cx="588852" cy="21276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0" name="Straight Connector 415">
              <a:extLst>
                <a:ext uri="{FF2B5EF4-FFF2-40B4-BE49-F238E27FC236}">
                  <a16:creationId xmlns:a16="http://schemas.microsoft.com/office/drawing/2014/main" id="{5C73DBFB-D008-3643-BC55-DC0EB59EE06A}"/>
                </a:ext>
              </a:extLst>
            </p:cNvPr>
            <p:cNvCxnSpPr>
              <a:cxnSpLocks noChangeShapeType="1"/>
              <a:stCxn id="1010" idx="5"/>
            </p:cNvCxnSpPr>
            <p:nvPr/>
          </p:nvCxnSpPr>
          <p:spPr bwMode="auto">
            <a:xfrm flipH="1">
              <a:off x="2746064" y="3789080"/>
              <a:ext cx="54551" cy="60192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1" name="Straight Connector 523">
              <a:extLst>
                <a:ext uri="{FF2B5EF4-FFF2-40B4-BE49-F238E27FC236}">
                  <a16:creationId xmlns:a16="http://schemas.microsoft.com/office/drawing/2014/main" id="{FABFBABF-764F-F24E-92BB-9E89BDA24ADC}"/>
                </a:ext>
              </a:extLst>
            </p:cNvPr>
            <p:cNvCxnSpPr>
              <a:cxnSpLocks noChangeShapeType="1"/>
              <a:endCxn id="941" idx="3"/>
            </p:cNvCxnSpPr>
            <p:nvPr/>
          </p:nvCxnSpPr>
          <p:spPr bwMode="auto">
            <a:xfrm flipV="1">
              <a:off x="4424422" y="4701847"/>
              <a:ext cx="1074473" cy="390737"/>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12" name="Group 39945">
            <a:extLst>
              <a:ext uri="{FF2B5EF4-FFF2-40B4-BE49-F238E27FC236}">
                <a16:creationId xmlns:a16="http://schemas.microsoft.com/office/drawing/2014/main" id="{4F08D3C4-6595-F647-9CFE-E885FE9A560B}"/>
              </a:ext>
            </a:extLst>
          </p:cNvPr>
          <p:cNvGrpSpPr>
            <a:grpSpLocks/>
          </p:cNvGrpSpPr>
          <p:nvPr/>
        </p:nvGrpSpPr>
        <p:grpSpPr bwMode="auto">
          <a:xfrm>
            <a:off x="5775500" y="5015078"/>
            <a:ext cx="1792625" cy="741248"/>
            <a:chOff x="4686300" y="4864100"/>
            <a:chExt cx="1792244" cy="740764"/>
          </a:xfrm>
        </p:grpSpPr>
        <p:sp>
          <p:nvSpPr>
            <p:cNvPr id="313" name="TextBox 39940">
              <a:extLst>
                <a:ext uri="{FF2B5EF4-FFF2-40B4-BE49-F238E27FC236}">
                  <a16:creationId xmlns:a16="http://schemas.microsoft.com/office/drawing/2014/main" id="{FD61504F-D5F3-AD41-A564-0F2130ECCC8D}"/>
                </a:ext>
              </a:extLst>
            </p:cNvPr>
            <p:cNvSpPr txBox="1">
              <a:spLocks noChangeArrowheads="1"/>
            </p:cNvSpPr>
            <p:nvPr/>
          </p:nvSpPr>
          <p:spPr bwMode="auto">
            <a:xfrm>
              <a:off x="4838700" y="5143500"/>
              <a:ext cx="1639844" cy="46136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i="1" dirty="0">
                  <a:solidFill>
                    <a:srgbClr val="CC0000"/>
                  </a:solidFill>
                  <a:latin typeface="+mn-lt"/>
                </a:rPr>
                <a:t>peering link</a:t>
              </a:r>
            </a:p>
          </p:txBody>
        </p:sp>
        <p:cxnSp>
          <p:nvCxnSpPr>
            <p:cNvPr id="314" name="Straight Connector 39943">
              <a:extLst>
                <a:ext uri="{FF2B5EF4-FFF2-40B4-BE49-F238E27FC236}">
                  <a16:creationId xmlns:a16="http://schemas.microsoft.com/office/drawing/2014/main" id="{662FE684-E2A5-2840-A5C2-6BFF91F3187F}"/>
                </a:ext>
              </a:extLst>
            </p:cNvPr>
            <p:cNvCxnSpPr>
              <a:cxnSpLocks noChangeShapeType="1"/>
            </p:cNvCxnSpPr>
            <p:nvPr/>
          </p:nvCxnSpPr>
          <p:spPr bwMode="auto">
            <a:xfrm>
              <a:off x="4686300" y="4864100"/>
              <a:ext cx="266700" cy="41910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cxnSp>
      </p:grpSp>
      <p:grpSp>
        <p:nvGrpSpPr>
          <p:cNvPr id="315" name="Group 39950">
            <a:extLst>
              <a:ext uri="{FF2B5EF4-FFF2-40B4-BE49-F238E27FC236}">
                <a16:creationId xmlns:a16="http://schemas.microsoft.com/office/drawing/2014/main" id="{8A4AC5CF-4E2B-1A42-BCF8-69BC9F1FCC3D}"/>
              </a:ext>
            </a:extLst>
          </p:cNvPr>
          <p:cNvGrpSpPr>
            <a:grpSpLocks/>
          </p:cNvGrpSpPr>
          <p:nvPr/>
        </p:nvGrpSpPr>
        <p:grpSpPr bwMode="auto">
          <a:xfrm>
            <a:off x="6287088" y="1707261"/>
            <a:ext cx="3207609" cy="1166368"/>
            <a:chOff x="5270500" y="1701800"/>
            <a:chExt cx="3206604" cy="1165614"/>
          </a:xfrm>
        </p:grpSpPr>
        <p:sp>
          <p:nvSpPr>
            <p:cNvPr id="316" name="TextBox 39946">
              <a:extLst>
                <a:ext uri="{FF2B5EF4-FFF2-40B4-BE49-F238E27FC236}">
                  <a16:creationId xmlns:a16="http://schemas.microsoft.com/office/drawing/2014/main" id="{6D9EB3B8-2735-CD4C-87A2-ADB28AA9175E}"/>
                </a:ext>
              </a:extLst>
            </p:cNvPr>
            <p:cNvSpPr txBox="1">
              <a:spLocks noChangeArrowheads="1"/>
            </p:cNvSpPr>
            <p:nvPr/>
          </p:nvSpPr>
          <p:spPr bwMode="auto">
            <a:xfrm>
              <a:off x="5270500" y="1701800"/>
              <a:ext cx="3206604" cy="461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i="1" dirty="0">
                  <a:solidFill>
                    <a:srgbClr val="CC0000"/>
                  </a:solidFill>
                  <a:latin typeface="+mn-lt"/>
                </a:rPr>
                <a:t>Internet exchange point </a:t>
              </a:r>
            </a:p>
          </p:txBody>
        </p:sp>
        <p:cxnSp>
          <p:nvCxnSpPr>
            <p:cNvPr id="317" name="Straight Connector 39948">
              <a:extLst>
                <a:ext uri="{FF2B5EF4-FFF2-40B4-BE49-F238E27FC236}">
                  <a16:creationId xmlns:a16="http://schemas.microsoft.com/office/drawing/2014/main" id="{3960A6E5-1A89-A049-8806-7339A84D6F2F}"/>
                </a:ext>
              </a:extLst>
            </p:cNvPr>
            <p:cNvCxnSpPr>
              <a:cxnSpLocks noChangeShapeType="1"/>
            </p:cNvCxnSpPr>
            <p:nvPr/>
          </p:nvCxnSpPr>
          <p:spPr bwMode="auto">
            <a:xfrm flipH="1">
              <a:off x="6141884" y="2155382"/>
              <a:ext cx="219911" cy="71203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cxnSp>
      </p:grp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1" name="Group 860">
            <a:extLst>
              <a:ext uri="{FF2B5EF4-FFF2-40B4-BE49-F238E27FC236}">
                <a16:creationId xmlns:a16="http://schemas.microsoft.com/office/drawing/2014/main" id="{D449FF35-FAF6-E449-9A22-F811CE472966}"/>
              </a:ext>
            </a:extLst>
          </p:cNvPr>
          <p:cNvGrpSpPr/>
          <p:nvPr/>
        </p:nvGrpSpPr>
        <p:grpSpPr>
          <a:xfrm>
            <a:off x="6429198" y="3852093"/>
            <a:ext cx="541338" cy="223023"/>
            <a:chOff x="7493876" y="2774731"/>
            <a:chExt cx="1481958" cy="894622"/>
          </a:xfrm>
        </p:grpSpPr>
        <p:sp>
          <p:nvSpPr>
            <p:cNvPr id="982" name="Freeform 981">
              <a:extLst>
                <a:ext uri="{FF2B5EF4-FFF2-40B4-BE49-F238E27FC236}">
                  <a16:creationId xmlns:a16="http://schemas.microsoft.com/office/drawing/2014/main" id="{C7B6FB0D-082A-3945-9A3E-A5F7186297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83" name="Oval 982">
              <a:extLst>
                <a:ext uri="{FF2B5EF4-FFF2-40B4-BE49-F238E27FC236}">
                  <a16:creationId xmlns:a16="http://schemas.microsoft.com/office/drawing/2014/main" id="{4EF624E0-71DE-964A-8571-4D8C199640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84" name="Group 983">
              <a:extLst>
                <a:ext uri="{FF2B5EF4-FFF2-40B4-BE49-F238E27FC236}">
                  <a16:creationId xmlns:a16="http://schemas.microsoft.com/office/drawing/2014/main" id="{30E6BF43-A210-1E4C-BAD2-D624181508AC}"/>
                </a:ext>
              </a:extLst>
            </p:cNvPr>
            <p:cNvGrpSpPr/>
            <p:nvPr/>
          </p:nvGrpSpPr>
          <p:grpSpPr>
            <a:xfrm>
              <a:off x="7713663" y="2848339"/>
              <a:ext cx="1042107" cy="425543"/>
              <a:chOff x="7786941" y="2884917"/>
              <a:chExt cx="897649" cy="353919"/>
            </a:xfrm>
          </p:grpSpPr>
          <p:sp>
            <p:nvSpPr>
              <p:cNvPr id="985" name="Freeform 984">
                <a:extLst>
                  <a:ext uri="{FF2B5EF4-FFF2-40B4-BE49-F238E27FC236}">
                    <a16:creationId xmlns:a16="http://schemas.microsoft.com/office/drawing/2014/main" id="{F4D1AD34-F02F-9941-970C-35B2968329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6" name="Freeform 985">
                <a:extLst>
                  <a:ext uri="{FF2B5EF4-FFF2-40B4-BE49-F238E27FC236}">
                    <a16:creationId xmlns:a16="http://schemas.microsoft.com/office/drawing/2014/main" id="{0F5A4911-FBD2-E540-9A2F-3E431D553D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7" name="Freeform 986">
                <a:extLst>
                  <a:ext uri="{FF2B5EF4-FFF2-40B4-BE49-F238E27FC236}">
                    <a16:creationId xmlns:a16="http://schemas.microsoft.com/office/drawing/2014/main" id="{DCAAD9B9-53E3-A344-9344-FD09758AEB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8" name="Freeform 987">
                <a:extLst>
                  <a:ext uri="{FF2B5EF4-FFF2-40B4-BE49-F238E27FC236}">
                    <a16:creationId xmlns:a16="http://schemas.microsoft.com/office/drawing/2014/main" id="{7E121ADB-28BD-A34D-864D-CAE2965181F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051" name="Group 1050">
            <a:extLst>
              <a:ext uri="{FF2B5EF4-FFF2-40B4-BE49-F238E27FC236}">
                <a16:creationId xmlns:a16="http://schemas.microsoft.com/office/drawing/2014/main" id="{D733AA75-B994-7047-AE70-E6C857337635}"/>
              </a:ext>
            </a:extLst>
          </p:cNvPr>
          <p:cNvGrpSpPr/>
          <p:nvPr/>
        </p:nvGrpSpPr>
        <p:grpSpPr>
          <a:xfrm>
            <a:off x="4815073" y="3924252"/>
            <a:ext cx="1634942" cy="693432"/>
            <a:chOff x="4815073" y="3924252"/>
            <a:chExt cx="1634942" cy="693432"/>
          </a:xfrm>
        </p:grpSpPr>
        <p:cxnSp>
          <p:nvCxnSpPr>
            <p:cNvPr id="319" name="Straight Connector 515">
              <a:extLst>
                <a:ext uri="{FF2B5EF4-FFF2-40B4-BE49-F238E27FC236}">
                  <a16:creationId xmlns:a16="http://schemas.microsoft.com/office/drawing/2014/main" id="{E64B2F34-F5A2-0748-B519-596A0F2D52A9}"/>
                </a:ext>
              </a:extLst>
            </p:cNvPr>
            <p:cNvCxnSpPr>
              <a:cxnSpLocks noChangeShapeType="1"/>
              <a:stCxn id="930" idx="2"/>
            </p:cNvCxnSpPr>
            <p:nvPr/>
          </p:nvCxnSpPr>
          <p:spPr bwMode="auto">
            <a:xfrm flipV="1">
              <a:off x="4982880" y="4309966"/>
              <a:ext cx="309146" cy="30771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1" name="Straight Connector 519">
              <a:extLst>
                <a:ext uri="{FF2B5EF4-FFF2-40B4-BE49-F238E27FC236}">
                  <a16:creationId xmlns:a16="http://schemas.microsoft.com/office/drawing/2014/main" id="{A78B3472-4495-804D-9DE2-F7A93E5EED62}"/>
                </a:ext>
              </a:extLst>
            </p:cNvPr>
            <p:cNvCxnSpPr>
              <a:cxnSpLocks noChangeShapeType="1"/>
            </p:cNvCxnSpPr>
            <p:nvPr/>
          </p:nvCxnSpPr>
          <p:spPr bwMode="auto">
            <a:xfrm flipV="1">
              <a:off x="5520180" y="3924252"/>
              <a:ext cx="929835" cy="367084"/>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2" name="Straight Connector 520">
              <a:extLst>
                <a:ext uri="{FF2B5EF4-FFF2-40B4-BE49-F238E27FC236}">
                  <a16:creationId xmlns:a16="http://schemas.microsoft.com/office/drawing/2014/main" id="{B39E2778-53AB-7A47-8C24-A5C1BE87DA91}"/>
                </a:ext>
              </a:extLst>
            </p:cNvPr>
            <p:cNvCxnSpPr>
              <a:cxnSpLocks noChangeShapeType="1"/>
              <a:stCxn id="1007" idx="2"/>
            </p:cNvCxnSpPr>
            <p:nvPr/>
          </p:nvCxnSpPr>
          <p:spPr bwMode="auto">
            <a:xfrm>
              <a:off x="4815073" y="3947043"/>
              <a:ext cx="476953" cy="27750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nvGrpSpPr>
            <p:cNvPr id="320" name="Group 518">
              <a:extLst>
                <a:ext uri="{FF2B5EF4-FFF2-40B4-BE49-F238E27FC236}">
                  <a16:creationId xmlns:a16="http://schemas.microsoft.com/office/drawing/2014/main" id="{5B45D9C6-3CE7-2041-98FA-CDA4548CA9EC}"/>
                </a:ext>
              </a:extLst>
            </p:cNvPr>
            <p:cNvGrpSpPr>
              <a:grpSpLocks/>
            </p:cNvGrpSpPr>
            <p:nvPr/>
          </p:nvGrpSpPr>
          <p:grpSpPr bwMode="auto">
            <a:xfrm>
              <a:off x="5119678" y="4119105"/>
              <a:ext cx="528442" cy="338554"/>
              <a:chOff x="5634518" y="2652249"/>
              <a:chExt cx="528092" cy="338174"/>
            </a:xfrm>
          </p:grpSpPr>
          <p:sp>
            <p:nvSpPr>
              <p:cNvPr id="323" name="Oval 521">
                <a:extLst>
                  <a:ext uri="{FF2B5EF4-FFF2-40B4-BE49-F238E27FC236}">
                    <a16:creationId xmlns:a16="http://schemas.microsoft.com/office/drawing/2014/main" id="{8C2B1233-55C2-9047-95E3-7365B78CC21B}"/>
                  </a:ext>
                </a:extLst>
              </p:cNvPr>
              <p:cNvSpPr>
                <a:spLocks noChangeArrowheads="1"/>
              </p:cNvSpPr>
              <p:nvPr/>
            </p:nvSpPr>
            <p:spPr bwMode="auto">
              <a:xfrm>
                <a:off x="5634518" y="2672371"/>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24" name="TextBox 522">
                <a:extLst>
                  <a:ext uri="{FF2B5EF4-FFF2-40B4-BE49-F238E27FC236}">
                    <a16:creationId xmlns:a16="http://schemas.microsoft.com/office/drawing/2014/main" id="{A334D512-2736-F84E-A319-19B29AF83D0F}"/>
                  </a:ext>
                </a:extLst>
              </p:cNvPr>
              <p:cNvSpPr txBox="1">
                <a:spLocks noChangeArrowheads="1"/>
              </p:cNvSpPr>
              <p:nvPr/>
            </p:nvSpPr>
            <p:spPr bwMode="auto">
              <a:xfrm>
                <a:off x="5685246" y="2652249"/>
                <a:ext cx="447262" cy="338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dirty="0">
                    <a:solidFill>
                      <a:schemeClr val="bg1"/>
                    </a:solidFill>
                    <a:latin typeface="+mn-lt"/>
                  </a:rPr>
                  <a:t>IXP</a:t>
                </a:r>
              </a:p>
            </p:txBody>
          </p:sp>
        </p:gr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3683189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51"/>
                                        </p:tgtEl>
                                        <p:attrNameLst>
                                          <p:attrName>style.visibility</p:attrName>
                                        </p:attrNameLst>
                                      </p:cBhvr>
                                      <p:to>
                                        <p:strVal val="visible"/>
                                      </p:to>
                                    </p:set>
                                    <p:animEffect transition="in" filter="dissolve">
                                      <p:cBhvr>
                                        <p:cTn id="7" dur="500"/>
                                        <p:tgtEl>
                                          <p:spTgt spid="1051"/>
                                        </p:tgtEl>
                                      </p:cBhvr>
                                    </p:animEffect>
                                  </p:childTnLst>
                                </p:cTn>
                              </p:par>
                              <p:par>
                                <p:cTn id="8" presetID="9" presetClass="entr" presetSubtype="0" fill="hold" nodeType="withEffect">
                                  <p:stCondLst>
                                    <p:cond delay="0"/>
                                  </p:stCondLst>
                                  <p:childTnLst>
                                    <p:set>
                                      <p:cBhvr>
                                        <p:cTn id="9" dur="1" fill="hold">
                                          <p:stCondLst>
                                            <p:cond delay="0"/>
                                          </p:stCondLst>
                                        </p:cTn>
                                        <p:tgtEl>
                                          <p:spTgt spid="302"/>
                                        </p:tgtEl>
                                        <p:attrNameLst>
                                          <p:attrName>style.visibility</p:attrName>
                                        </p:attrNameLst>
                                      </p:cBhvr>
                                      <p:to>
                                        <p:strVal val="visible"/>
                                      </p:to>
                                    </p:set>
                                    <p:animEffect transition="in" filter="dissolve">
                                      <p:cBhvr>
                                        <p:cTn id="10" dur="500"/>
                                        <p:tgtEl>
                                          <p:spTgt spid="302"/>
                                        </p:tgtEl>
                                      </p:cBhvr>
                                    </p:animEffect>
                                  </p:childTnLst>
                                </p:cTn>
                              </p:par>
                              <p:par>
                                <p:cTn id="11" presetID="9" presetClass="entr" presetSubtype="0" fill="hold" nodeType="withEffect">
                                  <p:stCondLst>
                                    <p:cond delay="0"/>
                                  </p:stCondLst>
                                  <p:childTnLst>
                                    <p:set>
                                      <p:cBhvr>
                                        <p:cTn id="12" dur="1" fill="hold">
                                          <p:stCondLst>
                                            <p:cond delay="0"/>
                                          </p:stCondLst>
                                        </p:cTn>
                                        <p:tgtEl>
                                          <p:spTgt spid="315"/>
                                        </p:tgtEl>
                                        <p:attrNameLst>
                                          <p:attrName>style.visibility</p:attrName>
                                        </p:attrNameLst>
                                      </p:cBhvr>
                                      <p:to>
                                        <p:strVal val="visible"/>
                                      </p:to>
                                    </p:set>
                                    <p:animEffect transition="in" filter="dissolve">
                                      <p:cBhvr>
                                        <p:cTn id="13" dur="500"/>
                                        <p:tgtEl>
                                          <p:spTgt spid="31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08"/>
                                        </p:tgtEl>
                                        <p:attrNameLst>
                                          <p:attrName>style.visibility</p:attrName>
                                        </p:attrNameLst>
                                      </p:cBhvr>
                                      <p:to>
                                        <p:strVal val="visible"/>
                                      </p:to>
                                    </p:set>
                                    <p:animEffect transition="in" filter="dissolve">
                                      <p:cBhvr>
                                        <p:cTn id="18" dur="500"/>
                                        <p:tgtEl>
                                          <p:spTgt spid="308"/>
                                        </p:tgtEl>
                                      </p:cBhvr>
                                    </p:animEffect>
                                  </p:childTnLst>
                                </p:cTn>
                              </p:par>
                              <p:par>
                                <p:cTn id="19" presetID="9" presetClass="entr" presetSubtype="0" fill="hold" nodeType="withEffect">
                                  <p:stCondLst>
                                    <p:cond delay="0"/>
                                  </p:stCondLst>
                                  <p:childTnLst>
                                    <p:set>
                                      <p:cBhvr>
                                        <p:cTn id="20" dur="1" fill="hold">
                                          <p:stCondLst>
                                            <p:cond delay="0"/>
                                          </p:stCondLst>
                                        </p:cTn>
                                        <p:tgtEl>
                                          <p:spTgt spid="312"/>
                                        </p:tgtEl>
                                        <p:attrNameLst>
                                          <p:attrName>style.visibility</p:attrName>
                                        </p:attrNameLst>
                                      </p:cBhvr>
                                      <p:to>
                                        <p:strVal val="visible"/>
                                      </p:to>
                                    </p:set>
                                    <p:animEffect transition="in" filter="dissolve">
                                      <p:cBhvr>
                                        <p:cTn id="21" dur="500"/>
                                        <p:tgtEl>
                                          <p:spTgt spid="3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62</a:t>
            </a:fld>
            <a:endParaRPr lang="en-US" dirty="0"/>
          </a:p>
        </p:txBody>
      </p:sp>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2994584" y="2310458"/>
            <a:ext cx="648509" cy="418221"/>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7503691" y="2564438"/>
            <a:ext cx="648509" cy="418221"/>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2410305" y="5421718"/>
            <a:ext cx="648509" cy="418221"/>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1991149" y="4799466"/>
            <a:ext cx="648509" cy="418221"/>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1762518" y="4139117"/>
            <a:ext cx="648509" cy="418221"/>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8253092" y="2996205"/>
            <a:ext cx="648509" cy="418221"/>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4595000" y="2069176"/>
            <a:ext cx="648509" cy="418221"/>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5509523" y="2043778"/>
            <a:ext cx="648509" cy="418221"/>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8570635" y="5675699"/>
            <a:ext cx="648509" cy="418221"/>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9408948" y="5028049"/>
            <a:ext cx="648509" cy="418221"/>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9180317" y="4113719"/>
            <a:ext cx="648509" cy="418221"/>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6609175" y="196862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8895540" y="3441660"/>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7564044" y="595463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11651262">
            <a:off x="3196001" y="585799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16607303">
            <a:off x="1609690" y="3551677"/>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20582737">
            <a:off x="3795672" y="191851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1499042" y="1197749"/>
            <a:ext cx="9720792" cy="67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spcBef>
                <a:spcPct val="20000"/>
              </a:spcBef>
              <a:buClr>
                <a:srgbClr val="000099"/>
              </a:buClr>
              <a:buSzPct val="75000"/>
            </a:pPr>
            <a:r>
              <a:rPr lang="en-US" altLang="en-US" sz="2800" dirty="0">
                <a:latin typeface="Calibri" panose="020F0502020204030204" pitchFamily="34" charset="0"/>
                <a:cs typeface="Calibri" panose="020F0502020204030204" pitchFamily="34" charset="0"/>
              </a:rPr>
              <a:t>… and regional networks may arise to connect access nets to ISPs </a:t>
            </a:r>
          </a:p>
        </p:txBody>
      </p:sp>
      <p:grpSp>
        <p:nvGrpSpPr>
          <p:cNvPr id="302" name="Group 20">
            <a:extLst>
              <a:ext uri="{FF2B5EF4-FFF2-40B4-BE49-F238E27FC236}">
                <a16:creationId xmlns:a16="http://schemas.microsoft.com/office/drawing/2014/main" id="{2E65E034-15F8-4544-9A88-3C6F87D79608}"/>
              </a:ext>
            </a:extLst>
          </p:cNvPr>
          <p:cNvGrpSpPr>
            <a:grpSpLocks/>
          </p:cNvGrpSpPr>
          <p:nvPr/>
        </p:nvGrpSpPr>
        <p:grpSpPr bwMode="auto">
          <a:xfrm>
            <a:off x="5736579" y="2899825"/>
            <a:ext cx="2272389" cy="1061009"/>
            <a:chOff x="4696844" y="2871032"/>
            <a:chExt cx="2272671" cy="1061113"/>
          </a:xfrm>
        </p:grpSpPr>
        <p:grpSp>
          <p:nvGrpSpPr>
            <p:cNvPr id="303" name="Group 16">
              <a:extLst>
                <a:ext uri="{FF2B5EF4-FFF2-40B4-BE49-F238E27FC236}">
                  <a16:creationId xmlns:a16="http://schemas.microsoft.com/office/drawing/2014/main" id="{AE7FAC14-602F-5840-95C2-10B4B1F3F93B}"/>
                </a:ext>
              </a:extLst>
            </p:cNvPr>
            <p:cNvGrpSpPr>
              <a:grpSpLocks/>
            </p:cNvGrpSpPr>
            <p:nvPr/>
          </p:nvGrpSpPr>
          <p:grpSpPr bwMode="auto">
            <a:xfrm>
              <a:off x="5677190" y="2871032"/>
              <a:ext cx="530938" cy="338554"/>
              <a:chOff x="5573768" y="2726239"/>
              <a:chExt cx="530938" cy="338554"/>
            </a:xfrm>
          </p:grpSpPr>
          <p:sp>
            <p:nvSpPr>
              <p:cNvPr id="306" name="Oval 14">
                <a:extLst>
                  <a:ext uri="{FF2B5EF4-FFF2-40B4-BE49-F238E27FC236}">
                    <a16:creationId xmlns:a16="http://schemas.microsoft.com/office/drawing/2014/main" id="{0540692A-C81C-724C-B821-D711DAE7176F}"/>
                  </a:ext>
                </a:extLst>
              </p:cNvPr>
              <p:cNvSpPr>
                <a:spLocks noChangeArrowheads="1"/>
              </p:cNvSpPr>
              <p:nvPr/>
            </p:nvSpPr>
            <p:spPr bwMode="auto">
              <a:xfrm>
                <a:off x="5573768" y="2751297"/>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07" name="TextBox 15">
                <a:extLst>
                  <a:ext uri="{FF2B5EF4-FFF2-40B4-BE49-F238E27FC236}">
                    <a16:creationId xmlns:a16="http://schemas.microsoft.com/office/drawing/2014/main" id="{B7EC47D0-A46E-E246-960E-89C0F218ED7B}"/>
                  </a:ext>
                </a:extLst>
              </p:cNvPr>
              <p:cNvSpPr txBox="1">
                <a:spLocks noChangeArrowheads="1"/>
              </p:cNvSpPr>
              <p:nvPr/>
            </p:nvSpPr>
            <p:spPr bwMode="auto">
              <a:xfrm>
                <a:off x="5593027" y="2726239"/>
                <a:ext cx="5116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dirty="0">
                    <a:solidFill>
                      <a:schemeClr val="bg1"/>
                    </a:solidFill>
                  </a:rPr>
                  <a:t>IXP</a:t>
                </a:r>
              </a:p>
            </p:txBody>
          </p:sp>
        </p:grpSp>
        <p:cxnSp>
          <p:nvCxnSpPr>
            <p:cNvPr id="304" name="Straight Connector 18">
              <a:extLst>
                <a:ext uri="{FF2B5EF4-FFF2-40B4-BE49-F238E27FC236}">
                  <a16:creationId xmlns:a16="http://schemas.microsoft.com/office/drawing/2014/main" id="{6DC2A61E-B493-9841-A8B3-1C17E6A8ED01}"/>
                </a:ext>
              </a:extLst>
            </p:cNvPr>
            <p:cNvCxnSpPr>
              <a:cxnSpLocks noChangeShapeType="1"/>
            </p:cNvCxnSpPr>
            <p:nvPr/>
          </p:nvCxnSpPr>
          <p:spPr bwMode="auto">
            <a:xfrm>
              <a:off x="4696844" y="3073933"/>
              <a:ext cx="980347" cy="351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05" name="Straight Connector 516">
              <a:extLst>
                <a:ext uri="{FF2B5EF4-FFF2-40B4-BE49-F238E27FC236}">
                  <a16:creationId xmlns:a16="http://schemas.microsoft.com/office/drawing/2014/main" id="{ED5D0B03-04A8-4A40-9C0F-4EA56D9810E8}"/>
                </a:ext>
              </a:extLst>
            </p:cNvPr>
            <p:cNvCxnSpPr>
              <a:cxnSpLocks noChangeShapeType="1"/>
              <a:endCxn id="976" idx="1"/>
            </p:cNvCxnSpPr>
            <p:nvPr/>
          </p:nvCxnSpPr>
          <p:spPr bwMode="auto">
            <a:xfrm>
              <a:off x="6137159" y="3146857"/>
              <a:ext cx="832356" cy="78528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08" name="Group 39939">
            <a:extLst>
              <a:ext uri="{FF2B5EF4-FFF2-40B4-BE49-F238E27FC236}">
                <a16:creationId xmlns:a16="http://schemas.microsoft.com/office/drawing/2014/main" id="{17CCBDCA-CC15-454D-A26D-AA4BB11DE0FB}"/>
              </a:ext>
            </a:extLst>
          </p:cNvPr>
          <p:cNvGrpSpPr>
            <a:grpSpLocks/>
          </p:cNvGrpSpPr>
          <p:nvPr/>
        </p:nvGrpSpPr>
        <p:grpSpPr bwMode="auto">
          <a:xfrm>
            <a:off x="3570155" y="3762887"/>
            <a:ext cx="2938536" cy="1357499"/>
            <a:chOff x="2746064" y="3733002"/>
            <a:chExt cx="2937093" cy="1359582"/>
          </a:xfrm>
        </p:grpSpPr>
        <p:cxnSp>
          <p:nvCxnSpPr>
            <p:cNvPr id="309" name="Straight Connector 7">
              <a:extLst>
                <a:ext uri="{FF2B5EF4-FFF2-40B4-BE49-F238E27FC236}">
                  <a16:creationId xmlns:a16="http://schemas.microsoft.com/office/drawing/2014/main" id="{415ABF4C-9DC7-3E48-8D47-77091F596BBC}"/>
                </a:ext>
              </a:extLst>
            </p:cNvPr>
            <p:cNvCxnSpPr>
              <a:cxnSpLocks noChangeShapeType="1"/>
              <a:stCxn id="1032" idx="5"/>
              <a:endCxn id="983" idx="3"/>
            </p:cNvCxnSpPr>
            <p:nvPr/>
          </p:nvCxnSpPr>
          <p:spPr bwMode="auto">
            <a:xfrm>
              <a:off x="5094305" y="3733002"/>
              <a:ext cx="588852" cy="21276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0" name="Straight Connector 415">
              <a:extLst>
                <a:ext uri="{FF2B5EF4-FFF2-40B4-BE49-F238E27FC236}">
                  <a16:creationId xmlns:a16="http://schemas.microsoft.com/office/drawing/2014/main" id="{5C73DBFB-D008-3643-BC55-DC0EB59EE06A}"/>
                </a:ext>
              </a:extLst>
            </p:cNvPr>
            <p:cNvCxnSpPr>
              <a:cxnSpLocks noChangeShapeType="1"/>
              <a:stCxn id="1010" idx="5"/>
            </p:cNvCxnSpPr>
            <p:nvPr/>
          </p:nvCxnSpPr>
          <p:spPr bwMode="auto">
            <a:xfrm flipH="1">
              <a:off x="2746064" y="3789080"/>
              <a:ext cx="54551" cy="60192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1" name="Straight Connector 523">
              <a:extLst>
                <a:ext uri="{FF2B5EF4-FFF2-40B4-BE49-F238E27FC236}">
                  <a16:creationId xmlns:a16="http://schemas.microsoft.com/office/drawing/2014/main" id="{FABFBABF-764F-F24E-92BB-9E89BDA24ADC}"/>
                </a:ext>
              </a:extLst>
            </p:cNvPr>
            <p:cNvCxnSpPr>
              <a:cxnSpLocks noChangeShapeType="1"/>
              <a:endCxn id="941" idx="3"/>
            </p:cNvCxnSpPr>
            <p:nvPr/>
          </p:nvCxnSpPr>
          <p:spPr bwMode="auto">
            <a:xfrm flipV="1">
              <a:off x="4424422" y="4701847"/>
              <a:ext cx="1074473" cy="390737"/>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cxnSp>
        <p:nvCxnSpPr>
          <p:cNvPr id="319" name="Straight Connector 515">
            <a:extLst>
              <a:ext uri="{FF2B5EF4-FFF2-40B4-BE49-F238E27FC236}">
                <a16:creationId xmlns:a16="http://schemas.microsoft.com/office/drawing/2014/main" id="{E64B2F34-F5A2-0748-B519-596A0F2D52A9}"/>
              </a:ext>
            </a:extLst>
          </p:cNvPr>
          <p:cNvCxnSpPr>
            <a:cxnSpLocks noChangeShapeType="1"/>
            <a:stCxn id="930" idx="2"/>
          </p:cNvCxnSpPr>
          <p:nvPr/>
        </p:nvCxnSpPr>
        <p:spPr bwMode="auto">
          <a:xfrm flipV="1">
            <a:off x="4982880" y="4309966"/>
            <a:ext cx="309146" cy="30771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1" name="Straight Connector 519">
            <a:extLst>
              <a:ext uri="{FF2B5EF4-FFF2-40B4-BE49-F238E27FC236}">
                <a16:creationId xmlns:a16="http://schemas.microsoft.com/office/drawing/2014/main" id="{A78B3472-4495-804D-9DE2-F7A93E5EED62}"/>
              </a:ext>
            </a:extLst>
          </p:cNvPr>
          <p:cNvCxnSpPr>
            <a:cxnSpLocks noChangeShapeType="1"/>
          </p:cNvCxnSpPr>
          <p:nvPr/>
        </p:nvCxnSpPr>
        <p:spPr bwMode="auto">
          <a:xfrm flipV="1">
            <a:off x="5520180" y="3924252"/>
            <a:ext cx="929835" cy="367084"/>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2" name="Straight Connector 520">
            <a:extLst>
              <a:ext uri="{FF2B5EF4-FFF2-40B4-BE49-F238E27FC236}">
                <a16:creationId xmlns:a16="http://schemas.microsoft.com/office/drawing/2014/main" id="{B39E2778-53AB-7A47-8C24-A5C1BE87DA91}"/>
              </a:ext>
            </a:extLst>
          </p:cNvPr>
          <p:cNvCxnSpPr>
            <a:cxnSpLocks noChangeShapeType="1"/>
            <a:stCxn id="1007" idx="2"/>
          </p:cNvCxnSpPr>
          <p:nvPr/>
        </p:nvCxnSpPr>
        <p:spPr bwMode="auto">
          <a:xfrm>
            <a:off x="4815073" y="3947043"/>
            <a:ext cx="476953" cy="27750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1" name="Group 860">
            <a:extLst>
              <a:ext uri="{FF2B5EF4-FFF2-40B4-BE49-F238E27FC236}">
                <a16:creationId xmlns:a16="http://schemas.microsoft.com/office/drawing/2014/main" id="{D449FF35-FAF6-E449-9A22-F811CE472966}"/>
              </a:ext>
            </a:extLst>
          </p:cNvPr>
          <p:cNvGrpSpPr/>
          <p:nvPr/>
        </p:nvGrpSpPr>
        <p:grpSpPr>
          <a:xfrm>
            <a:off x="6429198" y="3852093"/>
            <a:ext cx="541338" cy="223023"/>
            <a:chOff x="7493876" y="2774731"/>
            <a:chExt cx="1481958" cy="894622"/>
          </a:xfrm>
        </p:grpSpPr>
        <p:sp>
          <p:nvSpPr>
            <p:cNvPr id="982" name="Freeform 981">
              <a:extLst>
                <a:ext uri="{FF2B5EF4-FFF2-40B4-BE49-F238E27FC236}">
                  <a16:creationId xmlns:a16="http://schemas.microsoft.com/office/drawing/2014/main" id="{C7B6FB0D-082A-3945-9A3E-A5F7186297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83" name="Oval 982">
              <a:extLst>
                <a:ext uri="{FF2B5EF4-FFF2-40B4-BE49-F238E27FC236}">
                  <a16:creationId xmlns:a16="http://schemas.microsoft.com/office/drawing/2014/main" id="{4EF624E0-71DE-964A-8571-4D8C199640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84" name="Group 983">
              <a:extLst>
                <a:ext uri="{FF2B5EF4-FFF2-40B4-BE49-F238E27FC236}">
                  <a16:creationId xmlns:a16="http://schemas.microsoft.com/office/drawing/2014/main" id="{30E6BF43-A210-1E4C-BAD2-D624181508AC}"/>
                </a:ext>
              </a:extLst>
            </p:cNvPr>
            <p:cNvGrpSpPr/>
            <p:nvPr/>
          </p:nvGrpSpPr>
          <p:grpSpPr>
            <a:xfrm>
              <a:off x="7713663" y="2848339"/>
              <a:ext cx="1042107" cy="425543"/>
              <a:chOff x="7786941" y="2884917"/>
              <a:chExt cx="897649" cy="353919"/>
            </a:xfrm>
          </p:grpSpPr>
          <p:sp>
            <p:nvSpPr>
              <p:cNvPr id="985" name="Freeform 984">
                <a:extLst>
                  <a:ext uri="{FF2B5EF4-FFF2-40B4-BE49-F238E27FC236}">
                    <a16:creationId xmlns:a16="http://schemas.microsoft.com/office/drawing/2014/main" id="{F4D1AD34-F02F-9941-970C-35B2968329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6" name="Freeform 985">
                <a:extLst>
                  <a:ext uri="{FF2B5EF4-FFF2-40B4-BE49-F238E27FC236}">
                    <a16:creationId xmlns:a16="http://schemas.microsoft.com/office/drawing/2014/main" id="{0F5A4911-FBD2-E540-9A2F-3E431D553D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7" name="Freeform 986">
                <a:extLst>
                  <a:ext uri="{FF2B5EF4-FFF2-40B4-BE49-F238E27FC236}">
                    <a16:creationId xmlns:a16="http://schemas.microsoft.com/office/drawing/2014/main" id="{DCAAD9B9-53E3-A344-9344-FD09758AEB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8" name="Freeform 987">
                <a:extLst>
                  <a:ext uri="{FF2B5EF4-FFF2-40B4-BE49-F238E27FC236}">
                    <a16:creationId xmlns:a16="http://schemas.microsoft.com/office/drawing/2014/main" id="{7E121ADB-28BD-A34D-864D-CAE2965181F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20" name="Group 518">
            <a:extLst>
              <a:ext uri="{FF2B5EF4-FFF2-40B4-BE49-F238E27FC236}">
                <a16:creationId xmlns:a16="http://schemas.microsoft.com/office/drawing/2014/main" id="{5B45D9C6-3CE7-2041-98FA-CDA4548CA9EC}"/>
              </a:ext>
            </a:extLst>
          </p:cNvPr>
          <p:cNvGrpSpPr>
            <a:grpSpLocks/>
          </p:cNvGrpSpPr>
          <p:nvPr/>
        </p:nvGrpSpPr>
        <p:grpSpPr bwMode="auto">
          <a:xfrm>
            <a:off x="5119678" y="4119105"/>
            <a:ext cx="528442" cy="338554"/>
            <a:chOff x="5634518" y="2652249"/>
            <a:chExt cx="528092" cy="338174"/>
          </a:xfrm>
        </p:grpSpPr>
        <p:sp>
          <p:nvSpPr>
            <p:cNvPr id="323" name="Oval 521">
              <a:extLst>
                <a:ext uri="{FF2B5EF4-FFF2-40B4-BE49-F238E27FC236}">
                  <a16:creationId xmlns:a16="http://schemas.microsoft.com/office/drawing/2014/main" id="{8C2B1233-55C2-9047-95E3-7365B78CC21B}"/>
                </a:ext>
              </a:extLst>
            </p:cNvPr>
            <p:cNvSpPr>
              <a:spLocks noChangeArrowheads="1"/>
            </p:cNvSpPr>
            <p:nvPr/>
          </p:nvSpPr>
          <p:spPr bwMode="auto">
            <a:xfrm>
              <a:off x="5634518" y="2672371"/>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24" name="TextBox 522">
              <a:extLst>
                <a:ext uri="{FF2B5EF4-FFF2-40B4-BE49-F238E27FC236}">
                  <a16:creationId xmlns:a16="http://schemas.microsoft.com/office/drawing/2014/main" id="{A334D512-2736-F84E-A319-19B29AF83D0F}"/>
                </a:ext>
              </a:extLst>
            </p:cNvPr>
            <p:cNvSpPr txBox="1">
              <a:spLocks noChangeArrowheads="1"/>
            </p:cNvSpPr>
            <p:nvPr/>
          </p:nvSpPr>
          <p:spPr bwMode="auto">
            <a:xfrm>
              <a:off x="5685246" y="2652249"/>
              <a:ext cx="447262" cy="338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dirty="0">
                  <a:solidFill>
                    <a:schemeClr val="bg1"/>
                  </a:solidFill>
                  <a:latin typeface="+mn-lt"/>
                </a:rPr>
                <a:t>IXP</a:t>
              </a:r>
            </a:p>
          </p:txBody>
        </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cxnSp>
        <p:nvCxnSpPr>
          <p:cNvPr id="325" name="Straight Connector 500">
            <a:extLst>
              <a:ext uri="{FF2B5EF4-FFF2-40B4-BE49-F238E27FC236}">
                <a16:creationId xmlns:a16="http://schemas.microsoft.com/office/drawing/2014/main" id="{EF8338AF-209E-814B-90EA-03D0FD1B42CD}"/>
              </a:ext>
            </a:extLst>
          </p:cNvPr>
          <p:cNvCxnSpPr>
            <a:cxnSpLocks noChangeShapeType="1"/>
          </p:cNvCxnSpPr>
          <p:nvPr/>
        </p:nvCxnSpPr>
        <p:spPr bwMode="auto">
          <a:xfrm>
            <a:off x="2622407" y="3016153"/>
            <a:ext cx="38100" cy="3095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6" name="Straight Connector 501">
            <a:extLst>
              <a:ext uri="{FF2B5EF4-FFF2-40B4-BE49-F238E27FC236}">
                <a16:creationId xmlns:a16="http://schemas.microsoft.com/office/drawing/2014/main" id="{A4EF59C7-39D5-A64B-9E1B-7D8DD234CDB9}"/>
              </a:ext>
            </a:extLst>
          </p:cNvPr>
          <p:cNvCxnSpPr>
            <a:cxnSpLocks noChangeShapeType="1"/>
          </p:cNvCxnSpPr>
          <p:nvPr/>
        </p:nvCxnSpPr>
        <p:spPr bwMode="auto">
          <a:xfrm>
            <a:off x="2401745" y="3297141"/>
            <a:ext cx="123825" cy="2127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7" name="Straight Connector 514">
            <a:extLst>
              <a:ext uri="{FF2B5EF4-FFF2-40B4-BE49-F238E27FC236}">
                <a16:creationId xmlns:a16="http://schemas.microsoft.com/office/drawing/2014/main" id="{9AB43EDB-FC7A-3149-8AC7-F57E5F976FFB}"/>
              </a:ext>
            </a:extLst>
          </p:cNvPr>
          <p:cNvCxnSpPr>
            <a:cxnSpLocks noChangeShapeType="1"/>
          </p:cNvCxnSpPr>
          <p:nvPr/>
        </p:nvCxnSpPr>
        <p:spPr bwMode="auto">
          <a:xfrm flipV="1">
            <a:off x="2322370" y="4394103"/>
            <a:ext cx="203200" cy="79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9" name="Straight Connector 39941">
            <a:extLst>
              <a:ext uri="{FF2B5EF4-FFF2-40B4-BE49-F238E27FC236}">
                <a16:creationId xmlns:a16="http://schemas.microsoft.com/office/drawing/2014/main" id="{CB780043-4D09-4C44-814E-EA66A3A23545}"/>
              </a:ext>
            </a:extLst>
          </p:cNvPr>
          <p:cNvCxnSpPr>
            <a:cxnSpLocks noChangeShapeType="1"/>
          </p:cNvCxnSpPr>
          <p:nvPr/>
        </p:nvCxnSpPr>
        <p:spPr bwMode="auto">
          <a:xfrm flipV="1">
            <a:off x="2851007" y="3849591"/>
            <a:ext cx="430213" cy="101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2219780" y="2716827"/>
            <a:ext cx="648509" cy="418221"/>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1838728" y="3110496"/>
            <a:ext cx="648509" cy="418221"/>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cxnSp>
        <p:nvCxnSpPr>
          <p:cNvPr id="330" name="Straight Connector 524">
            <a:extLst>
              <a:ext uri="{FF2B5EF4-FFF2-40B4-BE49-F238E27FC236}">
                <a16:creationId xmlns:a16="http://schemas.microsoft.com/office/drawing/2014/main" id="{25B43DB6-52F3-DE4C-9BA6-B2A747C4C9A5}"/>
              </a:ext>
            </a:extLst>
          </p:cNvPr>
          <p:cNvCxnSpPr>
            <a:cxnSpLocks noChangeShapeType="1"/>
          </p:cNvCxnSpPr>
          <p:nvPr/>
        </p:nvCxnSpPr>
        <p:spPr bwMode="auto">
          <a:xfrm>
            <a:off x="2801850" y="4156772"/>
            <a:ext cx="560912" cy="2987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cxnSp>
        <p:nvCxnSpPr>
          <p:cNvPr id="349" name="Straight Connector 510">
            <a:extLst>
              <a:ext uri="{FF2B5EF4-FFF2-40B4-BE49-F238E27FC236}">
                <a16:creationId xmlns:a16="http://schemas.microsoft.com/office/drawing/2014/main" id="{B29E275D-8845-6E40-A08F-12FF3311E17D}"/>
              </a:ext>
            </a:extLst>
          </p:cNvPr>
          <p:cNvCxnSpPr>
            <a:cxnSpLocks noChangeShapeType="1"/>
          </p:cNvCxnSpPr>
          <p:nvPr/>
        </p:nvCxnSpPr>
        <p:spPr bwMode="auto">
          <a:xfrm flipH="1" flipV="1">
            <a:off x="5179131" y="5171184"/>
            <a:ext cx="371475" cy="9731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5" name="Group 4">
            <a:extLst>
              <a:ext uri="{FF2B5EF4-FFF2-40B4-BE49-F238E27FC236}">
                <a16:creationId xmlns:a16="http://schemas.microsoft.com/office/drawing/2014/main" id="{FC0DD398-57C2-EB4A-A85E-E41AD8F8225D}"/>
              </a:ext>
            </a:extLst>
          </p:cNvPr>
          <p:cNvGrpSpPr/>
          <p:nvPr/>
        </p:nvGrpSpPr>
        <p:grpSpPr>
          <a:xfrm>
            <a:off x="4461581" y="5447247"/>
            <a:ext cx="2216150" cy="533562"/>
            <a:chOff x="4461581" y="5447247"/>
            <a:chExt cx="2216150" cy="533562"/>
          </a:xfrm>
        </p:grpSpPr>
        <p:cxnSp>
          <p:nvCxnSpPr>
            <p:cNvPr id="350" name="Straight Connector 509">
              <a:extLst>
                <a:ext uri="{FF2B5EF4-FFF2-40B4-BE49-F238E27FC236}">
                  <a16:creationId xmlns:a16="http://schemas.microsoft.com/office/drawing/2014/main" id="{15E7E8CE-D231-0443-8237-9CDCCE543251}"/>
                </a:ext>
              </a:extLst>
            </p:cNvPr>
            <p:cNvCxnSpPr>
              <a:cxnSpLocks noChangeShapeType="1"/>
            </p:cNvCxnSpPr>
            <p:nvPr/>
          </p:nvCxnSpPr>
          <p:spPr bwMode="auto">
            <a:xfrm flipH="1" flipV="1">
              <a:off x="6157031" y="5810947"/>
              <a:ext cx="520700" cy="1698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55" name="Oval 33">
              <a:extLst>
                <a:ext uri="{FF2B5EF4-FFF2-40B4-BE49-F238E27FC236}">
                  <a16:creationId xmlns:a16="http://schemas.microsoft.com/office/drawing/2014/main" id="{1711CC92-9E02-C94A-94D1-57C565B262DE}"/>
                </a:ext>
              </a:extLst>
            </p:cNvPr>
            <p:cNvSpPr>
              <a:spLocks noChangeArrowheads="1"/>
            </p:cNvSpPr>
            <p:nvPr/>
          </p:nvSpPr>
          <p:spPr bwMode="auto">
            <a:xfrm rot="10800000">
              <a:off x="4545099" y="5447247"/>
              <a:ext cx="1807203" cy="495366"/>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chemeClr val="tx1">
                    <a:lumMod val="65000"/>
                    <a:lumOff val="35000"/>
                  </a:schemeClr>
                </a:solidFill>
                <a:effectLst/>
                <a:uLnTx/>
                <a:uFillTx/>
                <a:latin typeface="Arial" panose="020B0604020202020204" pitchFamily="34" charset="0"/>
                <a:ea typeface="ＭＳ Ｐゴシック" panose="020B0600070205080204" pitchFamily="34" charset="-128"/>
                <a:cs typeface="Arial"/>
              </a:endParaRPr>
            </a:p>
          </p:txBody>
        </p:sp>
        <p:cxnSp>
          <p:nvCxnSpPr>
            <p:cNvPr id="351" name="Straight Connector 511">
              <a:extLst>
                <a:ext uri="{FF2B5EF4-FFF2-40B4-BE49-F238E27FC236}">
                  <a16:creationId xmlns:a16="http://schemas.microsoft.com/office/drawing/2014/main" id="{DDF17605-AB1A-CD4B-919C-6D6D051BCF04}"/>
                </a:ext>
              </a:extLst>
            </p:cNvPr>
            <p:cNvCxnSpPr>
              <a:cxnSpLocks noChangeShapeType="1"/>
            </p:cNvCxnSpPr>
            <p:nvPr/>
          </p:nvCxnSpPr>
          <p:spPr bwMode="auto">
            <a:xfrm flipV="1">
              <a:off x="4461581" y="5815709"/>
              <a:ext cx="306387" cy="1651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53" name="TextBox 9">
              <a:extLst>
                <a:ext uri="{FF2B5EF4-FFF2-40B4-BE49-F238E27FC236}">
                  <a16:creationId xmlns:a16="http://schemas.microsoft.com/office/drawing/2014/main" id="{419FEDC2-503D-FD43-B58C-4D0CA969F6AA}"/>
                </a:ext>
              </a:extLst>
            </p:cNvPr>
            <p:cNvSpPr txBox="1">
              <a:spLocks noChangeArrowheads="1"/>
            </p:cNvSpPr>
            <p:nvPr/>
          </p:nvSpPr>
          <p:spPr bwMode="auto">
            <a:xfrm>
              <a:off x="4662400" y="5488195"/>
              <a:ext cx="15824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i="1" dirty="0"/>
                <a:t>regional ISP</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4201247" y="5904281"/>
            <a:ext cx="648509" cy="418221"/>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5420611" y="6056669"/>
            <a:ext cx="648509" cy="418221"/>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6335134" y="5916980"/>
            <a:ext cx="648509" cy="418221"/>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54" name="Oval 33">
            <a:extLst>
              <a:ext uri="{FF2B5EF4-FFF2-40B4-BE49-F238E27FC236}">
                <a16:creationId xmlns:a16="http://schemas.microsoft.com/office/drawing/2014/main" id="{4311CB3E-A4EB-DB44-B228-0B362E348AFC}"/>
              </a:ext>
            </a:extLst>
          </p:cNvPr>
          <p:cNvSpPr>
            <a:spLocks noChangeArrowheads="1"/>
          </p:cNvSpPr>
          <p:nvPr/>
        </p:nvSpPr>
        <p:spPr bwMode="auto">
          <a:xfrm rot="5400000">
            <a:off x="2030588" y="3754605"/>
            <a:ext cx="1252537" cy="381000"/>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chemeClr val="tx1">
                  <a:lumMod val="65000"/>
                  <a:lumOff val="35000"/>
                </a:schemeClr>
              </a:solidFill>
              <a:effectLst/>
              <a:uLnTx/>
              <a:uFillTx/>
              <a:latin typeface="Arial" panose="020B0604020202020204" pitchFamily="34" charset="0"/>
              <a:ea typeface="ＭＳ Ｐゴシック" panose="020B0600070205080204" pitchFamily="34" charset="-128"/>
              <a:cs typeface="Arial"/>
            </a:endParaRPr>
          </a:p>
        </p:txBody>
      </p:sp>
    </p:spTree>
    <p:extLst>
      <p:ext uri="{BB962C8B-B14F-4D97-AF65-F5344CB8AC3E}">
        <p14:creationId xmlns:p14="http://schemas.microsoft.com/office/powerpoint/2010/main" val="67098553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8" name="Oval 33">
            <a:extLst>
              <a:ext uri="{FF2B5EF4-FFF2-40B4-BE49-F238E27FC236}">
                <a16:creationId xmlns:a16="http://schemas.microsoft.com/office/drawing/2014/main" id="{91E82855-0703-4C4C-9B6A-21FE71AA74CC}"/>
              </a:ext>
            </a:extLst>
          </p:cNvPr>
          <p:cNvSpPr>
            <a:spLocks noChangeArrowheads="1"/>
          </p:cNvSpPr>
          <p:nvPr/>
        </p:nvSpPr>
        <p:spPr bwMode="auto">
          <a:xfrm rot="5400000">
            <a:off x="2030588" y="3754605"/>
            <a:ext cx="1252537" cy="381000"/>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chemeClr val="tx1">
                  <a:lumMod val="65000"/>
                  <a:lumOff val="35000"/>
                </a:schemeClr>
              </a:solidFill>
              <a:effectLst/>
              <a:uLnTx/>
              <a:uFillTx/>
              <a:latin typeface="Arial" panose="020B0604020202020204" pitchFamily="34" charset="0"/>
              <a:ea typeface="ＭＳ Ｐゴシック" panose="020B0600070205080204" pitchFamily="34" charset="-128"/>
              <a:cs typeface="Arial"/>
            </a:endParaRPr>
          </a:p>
        </p:txBody>
      </p:sp>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chemeClr val="bg1"/>
                </a:solidFill>
                <a:effectLst/>
                <a:uLnTx/>
                <a:uFillTx/>
                <a:latin typeface="+mn-lt"/>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63</a:t>
            </a:fld>
            <a:endParaRPr lang="en-US" dirty="0"/>
          </a:p>
        </p:txBody>
      </p:sp>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2994584" y="2310458"/>
            <a:ext cx="648509" cy="418221"/>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7503691" y="2564438"/>
            <a:ext cx="648509" cy="418221"/>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2410305" y="5421718"/>
            <a:ext cx="648509" cy="418221"/>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1991149" y="4799466"/>
            <a:ext cx="648509" cy="418221"/>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1762518" y="4139117"/>
            <a:ext cx="648509" cy="418221"/>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8253092" y="2996205"/>
            <a:ext cx="648509" cy="418221"/>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4595000" y="2069176"/>
            <a:ext cx="648509" cy="418221"/>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5509523" y="2043778"/>
            <a:ext cx="648509" cy="418221"/>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8570635" y="5675699"/>
            <a:ext cx="648509" cy="418221"/>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9408948" y="5028049"/>
            <a:ext cx="648509" cy="418221"/>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9180317" y="4113719"/>
            <a:ext cx="648509" cy="418221"/>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6609175" y="196862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8895540" y="3441660"/>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7564044" y="595463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11651262">
            <a:off x="3196001" y="585799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16607303">
            <a:off x="1609690" y="3551677"/>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20582737">
            <a:off x="3795672" y="191851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FF"/>
                </a:solidFill>
              </a:rPr>
              <a:t>…</a:t>
            </a:r>
          </a:p>
        </p:txBody>
      </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851133" y="1142095"/>
            <a:ext cx="10824866" cy="834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spcBef>
                <a:spcPct val="20000"/>
              </a:spcBef>
              <a:buClr>
                <a:srgbClr val="000099"/>
              </a:buClr>
              <a:buSzPct val="75000"/>
            </a:pPr>
            <a:r>
              <a:rPr lang="en-US" altLang="en-US" sz="2800" dirty="0">
                <a:latin typeface="+mn-lt"/>
              </a:rPr>
              <a:t>… and content provider networks  (e.g., Google, Microsoft,  Akamai) may run their own network, to bring services, content close to end users</a:t>
            </a:r>
          </a:p>
        </p:txBody>
      </p:sp>
      <p:grpSp>
        <p:nvGrpSpPr>
          <p:cNvPr id="302" name="Group 20">
            <a:extLst>
              <a:ext uri="{FF2B5EF4-FFF2-40B4-BE49-F238E27FC236}">
                <a16:creationId xmlns:a16="http://schemas.microsoft.com/office/drawing/2014/main" id="{2E65E034-15F8-4544-9A88-3C6F87D79608}"/>
              </a:ext>
            </a:extLst>
          </p:cNvPr>
          <p:cNvGrpSpPr>
            <a:grpSpLocks/>
          </p:cNvGrpSpPr>
          <p:nvPr/>
        </p:nvGrpSpPr>
        <p:grpSpPr bwMode="auto">
          <a:xfrm>
            <a:off x="5736579" y="2899825"/>
            <a:ext cx="2272389" cy="1061009"/>
            <a:chOff x="4696844" y="2871032"/>
            <a:chExt cx="2272671" cy="1061113"/>
          </a:xfrm>
        </p:grpSpPr>
        <p:grpSp>
          <p:nvGrpSpPr>
            <p:cNvPr id="303" name="Group 16">
              <a:extLst>
                <a:ext uri="{FF2B5EF4-FFF2-40B4-BE49-F238E27FC236}">
                  <a16:creationId xmlns:a16="http://schemas.microsoft.com/office/drawing/2014/main" id="{AE7FAC14-602F-5840-95C2-10B4B1F3F93B}"/>
                </a:ext>
              </a:extLst>
            </p:cNvPr>
            <p:cNvGrpSpPr>
              <a:grpSpLocks/>
            </p:cNvGrpSpPr>
            <p:nvPr/>
          </p:nvGrpSpPr>
          <p:grpSpPr bwMode="auto">
            <a:xfrm>
              <a:off x="5677190" y="2871032"/>
              <a:ext cx="530938" cy="338554"/>
              <a:chOff x="5573768" y="2726239"/>
              <a:chExt cx="530938" cy="338554"/>
            </a:xfrm>
          </p:grpSpPr>
          <p:sp>
            <p:nvSpPr>
              <p:cNvPr id="306" name="Oval 14">
                <a:extLst>
                  <a:ext uri="{FF2B5EF4-FFF2-40B4-BE49-F238E27FC236}">
                    <a16:creationId xmlns:a16="http://schemas.microsoft.com/office/drawing/2014/main" id="{0540692A-C81C-724C-B821-D711DAE7176F}"/>
                  </a:ext>
                </a:extLst>
              </p:cNvPr>
              <p:cNvSpPr>
                <a:spLocks noChangeArrowheads="1"/>
              </p:cNvSpPr>
              <p:nvPr/>
            </p:nvSpPr>
            <p:spPr bwMode="auto">
              <a:xfrm>
                <a:off x="5573768" y="2751297"/>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07" name="TextBox 15">
                <a:extLst>
                  <a:ext uri="{FF2B5EF4-FFF2-40B4-BE49-F238E27FC236}">
                    <a16:creationId xmlns:a16="http://schemas.microsoft.com/office/drawing/2014/main" id="{B7EC47D0-A46E-E246-960E-89C0F218ED7B}"/>
                  </a:ext>
                </a:extLst>
              </p:cNvPr>
              <p:cNvSpPr txBox="1">
                <a:spLocks noChangeArrowheads="1"/>
              </p:cNvSpPr>
              <p:nvPr/>
            </p:nvSpPr>
            <p:spPr bwMode="auto">
              <a:xfrm>
                <a:off x="5593027" y="2726239"/>
                <a:ext cx="5116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dirty="0">
                    <a:solidFill>
                      <a:schemeClr val="bg1"/>
                    </a:solidFill>
                  </a:rPr>
                  <a:t>IXP</a:t>
                </a:r>
              </a:p>
            </p:txBody>
          </p:sp>
        </p:grpSp>
        <p:cxnSp>
          <p:nvCxnSpPr>
            <p:cNvPr id="304" name="Straight Connector 18">
              <a:extLst>
                <a:ext uri="{FF2B5EF4-FFF2-40B4-BE49-F238E27FC236}">
                  <a16:creationId xmlns:a16="http://schemas.microsoft.com/office/drawing/2014/main" id="{6DC2A61E-B493-9841-A8B3-1C17E6A8ED01}"/>
                </a:ext>
              </a:extLst>
            </p:cNvPr>
            <p:cNvCxnSpPr>
              <a:cxnSpLocks noChangeShapeType="1"/>
            </p:cNvCxnSpPr>
            <p:nvPr/>
          </p:nvCxnSpPr>
          <p:spPr bwMode="auto">
            <a:xfrm>
              <a:off x="4696844" y="3073933"/>
              <a:ext cx="980347" cy="351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05" name="Straight Connector 516">
              <a:extLst>
                <a:ext uri="{FF2B5EF4-FFF2-40B4-BE49-F238E27FC236}">
                  <a16:creationId xmlns:a16="http://schemas.microsoft.com/office/drawing/2014/main" id="{ED5D0B03-04A8-4A40-9C0F-4EA56D9810E8}"/>
                </a:ext>
              </a:extLst>
            </p:cNvPr>
            <p:cNvCxnSpPr>
              <a:cxnSpLocks noChangeShapeType="1"/>
              <a:endCxn id="976" idx="1"/>
            </p:cNvCxnSpPr>
            <p:nvPr/>
          </p:nvCxnSpPr>
          <p:spPr bwMode="auto">
            <a:xfrm>
              <a:off x="6137159" y="3146857"/>
              <a:ext cx="832356" cy="78528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08" name="Group 39939">
            <a:extLst>
              <a:ext uri="{FF2B5EF4-FFF2-40B4-BE49-F238E27FC236}">
                <a16:creationId xmlns:a16="http://schemas.microsoft.com/office/drawing/2014/main" id="{17CCBDCA-CC15-454D-A26D-AA4BB11DE0FB}"/>
              </a:ext>
            </a:extLst>
          </p:cNvPr>
          <p:cNvGrpSpPr>
            <a:grpSpLocks/>
          </p:cNvGrpSpPr>
          <p:nvPr/>
        </p:nvGrpSpPr>
        <p:grpSpPr bwMode="auto">
          <a:xfrm>
            <a:off x="3570155" y="3762887"/>
            <a:ext cx="2938536" cy="1357499"/>
            <a:chOff x="2746064" y="3733002"/>
            <a:chExt cx="2937093" cy="1359582"/>
          </a:xfrm>
        </p:grpSpPr>
        <p:cxnSp>
          <p:nvCxnSpPr>
            <p:cNvPr id="309" name="Straight Connector 7">
              <a:extLst>
                <a:ext uri="{FF2B5EF4-FFF2-40B4-BE49-F238E27FC236}">
                  <a16:creationId xmlns:a16="http://schemas.microsoft.com/office/drawing/2014/main" id="{415ABF4C-9DC7-3E48-8D47-77091F596BBC}"/>
                </a:ext>
              </a:extLst>
            </p:cNvPr>
            <p:cNvCxnSpPr>
              <a:cxnSpLocks noChangeShapeType="1"/>
              <a:stCxn id="1032" idx="5"/>
              <a:endCxn id="983" idx="3"/>
            </p:cNvCxnSpPr>
            <p:nvPr/>
          </p:nvCxnSpPr>
          <p:spPr bwMode="auto">
            <a:xfrm>
              <a:off x="5094305" y="3733002"/>
              <a:ext cx="588852" cy="21276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0" name="Straight Connector 415">
              <a:extLst>
                <a:ext uri="{FF2B5EF4-FFF2-40B4-BE49-F238E27FC236}">
                  <a16:creationId xmlns:a16="http://schemas.microsoft.com/office/drawing/2014/main" id="{5C73DBFB-D008-3643-BC55-DC0EB59EE06A}"/>
                </a:ext>
              </a:extLst>
            </p:cNvPr>
            <p:cNvCxnSpPr>
              <a:cxnSpLocks noChangeShapeType="1"/>
              <a:stCxn id="1010" idx="5"/>
            </p:cNvCxnSpPr>
            <p:nvPr/>
          </p:nvCxnSpPr>
          <p:spPr bwMode="auto">
            <a:xfrm flipH="1">
              <a:off x="2746064" y="3789080"/>
              <a:ext cx="54551" cy="60192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1" name="Straight Connector 523">
              <a:extLst>
                <a:ext uri="{FF2B5EF4-FFF2-40B4-BE49-F238E27FC236}">
                  <a16:creationId xmlns:a16="http://schemas.microsoft.com/office/drawing/2014/main" id="{FABFBABF-764F-F24E-92BB-9E89BDA24ADC}"/>
                </a:ext>
              </a:extLst>
            </p:cNvPr>
            <p:cNvCxnSpPr>
              <a:cxnSpLocks noChangeShapeType="1"/>
              <a:endCxn id="941" idx="3"/>
            </p:cNvCxnSpPr>
            <p:nvPr/>
          </p:nvCxnSpPr>
          <p:spPr bwMode="auto">
            <a:xfrm flipV="1">
              <a:off x="4424422" y="4701847"/>
              <a:ext cx="1074473" cy="390737"/>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cxnSp>
        <p:nvCxnSpPr>
          <p:cNvPr id="319" name="Straight Connector 515">
            <a:extLst>
              <a:ext uri="{FF2B5EF4-FFF2-40B4-BE49-F238E27FC236}">
                <a16:creationId xmlns:a16="http://schemas.microsoft.com/office/drawing/2014/main" id="{E64B2F34-F5A2-0748-B519-596A0F2D52A9}"/>
              </a:ext>
            </a:extLst>
          </p:cNvPr>
          <p:cNvCxnSpPr>
            <a:cxnSpLocks noChangeShapeType="1"/>
            <a:stCxn id="930" idx="2"/>
          </p:cNvCxnSpPr>
          <p:nvPr/>
        </p:nvCxnSpPr>
        <p:spPr bwMode="auto">
          <a:xfrm flipV="1">
            <a:off x="4982880" y="4309966"/>
            <a:ext cx="309146" cy="30771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1" name="Straight Connector 519">
            <a:extLst>
              <a:ext uri="{FF2B5EF4-FFF2-40B4-BE49-F238E27FC236}">
                <a16:creationId xmlns:a16="http://schemas.microsoft.com/office/drawing/2014/main" id="{A78B3472-4495-804D-9DE2-F7A93E5EED62}"/>
              </a:ext>
            </a:extLst>
          </p:cNvPr>
          <p:cNvCxnSpPr>
            <a:cxnSpLocks noChangeShapeType="1"/>
          </p:cNvCxnSpPr>
          <p:nvPr/>
        </p:nvCxnSpPr>
        <p:spPr bwMode="auto">
          <a:xfrm flipV="1">
            <a:off x="5520180" y="3924252"/>
            <a:ext cx="929835" cy="367084"/>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2" name="Straight Connector 520">
            <a:extLst>
              <a:ext uri="{FF2B5EF4-FFF2-40B4-BE49-F238E27FC236}">
                <a16:creationId xmlns:a16="http://schemas.microsoft.com/office/drawing/2014/main" id="{B39E2778-53AB-7A47-8C24-A5C1BE87DA91}"/>
              </a:ext>
            </a:extLst>
          </p:cNvPr>
          <p:cNvCxnSpPr>
            <a:cxnSpLocks noChangeShapeType="1"/>
            <a:stCxn id="1007" idx="2"/>
          </p:cNvCxnSpPr>
          <p:nvPr/>
        </p:nvCxnSpPr>
        <p:spPr bwMode="auto">
          <a:xfrm>
            <a:off x="4815073" y="3947043"/>
            <a:ext cx="476953" cy="27750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1" name="Group 860">
            <a:extLst>
              <a:ext uri="{FF2B5EF4-FFF2-40B4-BE49-F238E27FC236}">
                <a16:creationId xmlns:a16="http://schemas.microsoft.com/office/drawing/2014/main" id="{D449FF35-FAF6-E449-9A22-F811CE472966}"/>
              </a:ext>
            </a:extLst>
          </p:cNvPr>
          <p:cNvGrpSpPr/>
          <p:nvPr/>
        </p:nvGrpSpPr>
        <p:grpSpPr>
          <a:xfrm>
            <a:off x="6429198" y="3852093"/>
            <a:ext cx="541338" cy="223023"/>
            <a:chOff x="7493876" y="2774731"/>
            <a:chExt cx="1481958" cy="894622"/>
          </a:xfrm>
        </p:grpSpPr>
        <p:sp>
          <p:nvSpPr>
            <p:cNvPr id="982" name="Freeform 981">
              <a:extLst>
                <a:ext uri="{FF2B5EF4-FFF2-40B4-BE49-F238E27FC236}">
                  <a16:creationId xmlns:a16="http://schemas.microsoft.com/office/drawing/2014/main" id="{C7B6FB0D-082A-3945-9A3E-A5F7186297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83" name="Oval 982">
              <a:extLst>
                <a:ext uri="{FF2B5EF4-FFF2-40B4-BE49-F238E27FC236}">
                  <a16:creationId xmlns:a16="http://schemas.microsoft.com/office/drawing/2014/main" id="{4EF624E0-71DE-964A-8571-4D8C199640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84" name="Group 983">
              <a:extLst>
                <a:ext uri="{FF2B5EF4-FFF2-40B4-BE49-F238E27FC236}">
                  <a16:creationId xmlns:a16="http://schemas.microsoft.com/office/drawing/2014/main" id="{30E6BF43-A210-1E4C-BAD2-D624181508AC}"/>
                </a:ext>
              </a:extLst>
            </p:cNvPr>
            <p:cNvGrpSpPr/>
            <p:nvPr/>
          </p:nvGrpSpPr>
          <p:grpSpPr>
            <a:xfrm>
              <a:off x="7713663" y="2848339"/>
              <a:ext cx="1042107" cy="425543"/>
              <a:chOff x="7786941" y="2884917"/>
              <a:chExt cx="897649" cy="353919"/>
            </a:xfrm>
          </p:grpSpPr>
          <p:sp>
            <p:nvSpPr>
              <p:cNvPr id="985" name="Freeform 984">
                <a:extLst>
                  <a:ext uri="{FF2B5EF4-FFF2-40B4-BE49-F238E27FC236}">
                    <a16:creationId xmlns:a16="http://schemas.microsoft.com/office/drawing/2014/main" id="{F4D1AD34-F02F-9941-970C-35B2968329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6" name="Freeform 985">
                <a:extLst>
                  <a:ext uri="{FF2B5EF4-FFF2-40B4-BE49-F238E27FC236}">
                    <a16:creationId xmlns:a16="http://schemas.microsoft.com/office/drawing/2014/main" id="{0F5A4911-FBD2-E540-9A2F-3E431D553D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7" name="Freeform 986">
                <a:extLst>
                  <a:ext uri="{FF2B5EF4-FFF2-40B4-BE49-F238E27FC236}">
                    <a16:creationId xmlns:a16="http://schemas.microsoft.com/office/drawing/2014/main" id="{DCAAD9B9-53E3-A344-9344-FD09758AEB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8" name="Freeform 987">
                <a:extLst>
                  <a:ext uri="{FF2B5EF4-FFF2-40B4-BE49-F238E27FC236}">
                    <a16:creationId xmlns:a16="http://schemas.microsoft.com/office/drawing/2014/main" id="{7E121ADB-28BD-A34D-864D-CAE2965181F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20" name="Group 518">
            <a:extLst>
              <a:ext uri="{FF2B5EF4-FFF2-40B4-BE49-F238E27FC236}">
                <a16:creationId xmlns:a16="http://schemas.microsoft.com/office/drawing/2014/main" id="{5B45D9C6-3CE7-2041-98FA-CDA4548CA9EC}"/>
              </a:ext>
            </a:extLst>
          </p:cNvPr>
          <p:cNvGrpSpPr>
            <a:grpSpLocks/>
          </p:cNvGrpSpPr>
          <p:nvPr/>
        </p:nvGrpSpPr>
        <p:grpSpPr bwMode="auto">
          <a:xfrm>
            <a:off x="5119678" y="4119105"/>
            <a:ext cx="528442" cy="338554"/>
            <a:chOff x="5634518" y="2652249"/>
            <a:chExt cx="528092" cy="338174"/>
          </a:xfrm>
        </p:grpSpPr>
        <p:sp>
          <p:nvSpPr>
            <p:cNvPr id="323" name="Oval 521">
              <a:extLst>
                <a:ext uri="{FF2B5EF4-FFF2-40B4-BE49-F238E27FC236}">
                  <a16:creationId xmlns:a16="http://schemas.microsoft.com/office/drawing/2014/main" id="{8C2B1233-55C2-9047-95E3-7365B78CC21B}"/>
                </a:ext>
              </a:extLst>
            </p:cNvPr>
            <p:cNvSpPr>
              <a:spLocks noChangeArrowheads="1"/>
            </p:cNvSpPr>
            <p:nvPr/>
          </p:nvSpPr>
          <p:spPr bwMode="auto">
            <a:xfrm>
              <a:off x="5634518" y="2672371"/>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24" name="TextBox 522">
              <a:extLst>
                <a:ext uri="{FF2B5EF4-FFF2-40B4-BE49-F238E27FC236}">
                  <a16:creationId xmlns:a16="http://schemas.microsoft.com/office/drawing/2014/main" id="{A334D512-2736-F84E-A319-19B29AF83D0F}"/>
                </a:ext>
              </a:extLst>
            </p:cNvPr>
            <p:cNvSpPr txBox="1">
              <a:spLocks noChangeArrowheads="1"/>
            </p:cNvSpPr>
            <p:nvPr/>
          </p:nvSpPr>
          <p:spPr bwMode="auto">
            <a:xfrm>
              <a:off x="5685246" y="2652249"/>
              <a:ext cx="447262" cy="338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600" dirty="0">
                  <a:solidFill>
                    <a:schemeClr val="bg1"/>
                  </a:solidFill>
                  <a:latin typeface="+mn-lt"/>
                </a:rPr>
                <a:t>IXP</a:t>
              </a:r>
            </a:p>
          </p:txBody>
        </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cxnSp>
        <p:nvCxnSpPr>
          <p:cNvPr id="325" name="Straight Connector 500">
            <a:extLst>
              <a:ext uri="{FF2B5EF4-FFF2-40B4-BE49-F238E27FC236}">
                <a16:creationId xmlns:a16="http://schemas.microsoft.com/office/drawing/2014/main" id="{EF8338AF-209E-814B-90EA-03D0FD1B42CD}"/>
              </a:ext>
            </a:extLst>
          </p:cNvPr>
          <p:cNvCxnSpPr>
            <a:cxnSpLocks noChangeShapeType="1"/>
          </p:cNvCxnSpPr>
          <p:nvPr/>
        </p:nvCxnSpPr>
        <p:spPr bwMode="auto">
          <a:xfrm>
            <a:off x="2622407" y="3016153"/>
            <a:ext cx="38100" cy="3095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6" name="Straight Connector 501">
            <a:extLst>
              <a:ext uri="{FF2B5EF4-FFF2-40B4-BE49-F238E27FC236}">
                <a16:creationId xmlns:a16="http://schemas.microsoft.com/office/drawing/2014/main" id="{A4EF59C7-39D5-A64B-9E1B-7D8DD234CDB9}"/>
              </a:ext>
            </a:extLst>
          </p:cNvPr>
          <p:cNvCxnSpPr>
            <a:cxnSpLocks noChangeShapeType="1"/>
          </p:cNvCxnSpPr>
          <p:nvPr/>
        </p:nvCxnSpPr>
        <p:spPr bwMode="auto">
          <a:xfrm>
            <a:off x="2401745" y="3297141"/>
            <a:ext cx="123825" cy="2127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7" name="Straight Connector 514">
            <a:extLst>
              <a:ext uri="{FF2B5EF4-FFF2-40B4-BE49-F238E27FC236}">
                <a16:creationId xmlns:a16="http://schemas.microsoft.com/office/drawing/2014/main" id="{9AB43EDB-FC7A-3149-8AC7-F57E5F976FFB}"/>
              </a:ext>
            </a:extLst>
          </p:cNvPr>
          <p:cNvCxnSpPr>
            <a:cxnSpLocks noChangeShapeType="1"/>
          </p:cNvCxnSpPr>
          <p:nvPr/>
        </p:nvCxnSpPr>
        <p:spPr bwMode="auto">
          <a:xfrm flipV="1">
            <a:off x="2322370" y="4394103"/>
            <a:ext cx="203200" cy="79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9" name="Straight Connector 39941">
            <a:extLst>
              <a:ext uri="{FF2B5EF4-FFF2-40B4-BE49-F238E27FC236}">
                <a16:creationId xmlns:a16="http://schemas.microsoft.com/office/drawing/2014/main" id="{CB780043-4D09-4C44-814E-EA66A3A23545}"/>
              </a:ext>
            </a:extLst>
          </p:cNvPr>
          <p:cNvCxnSpPr>
            <a:cxnSpLocks noChangeShapeType="1"/>
          </p:cNvCxnSpPr>
          <p:nvPr/>
        </p:nvCxnSpPr>
        <p:spPr bwMode="auto">
          <a:xfrm flipV="1">
            <a:off x="2851007" y="3849591"/>
            <a:ext cx="430213" cy="101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2219780" y="2716827"/>
            <a:ext cx="648509" cy="418221"/>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dirty="0"/>
                <a:t>access</a:t>
              </a:r>
            </a:p>
            <a:p>
              <a:pPr algn="ctr">
                <a:lnSpc>
                  <a:spcPts val="1000"/>
                </a:lnSpc>
              </a:pPr>
              <a:r>
                <a:rPr lang="en-US" altLang="en-US" sz="1000" dirty="0"/>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1838728" y="3110496"/>
            <a:ext cx="648509" cy="418221"/>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cxnSp>
        <p:nvCxnSpPr>
          <p:cNvPr id="330" name="Straight Connector 524">
            <a:extLst>
              <a:ext uri="{FF2B5EF4-FFF2-40B4-BE49-F238E27FC236}">
                <a16:creationId xmlns:a16="http://schemas.microsoft.com/office/drawing/2014/main" id="{25B43DB6-52F3-DE4C-9BA6-B2A747C4C9A5}"/>
              </a:ext>
            </a:extLst>
          </p:cNvPr>
          <p:cNvCxnSpPr>
            <a:cxnSpLocks noChangeShapeType="1"/>
          </p:cNvCxnSpPr>
          <p:nvPr/>
        </p:nvCxnSpPr>
        <p:spPr bwMode="auto">
          <a:xfrm>
            <a:off x="2828782" y="4163916"/>
            <a:ext cx="533980" cy="29158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cxnSp>
        <p:nvCxnSpPr>
          <p:cNvPr id="349" name="Straight Connector 510">
            <a:extLst>
              <a:ext uri="{FF2B5EF4-FFF2-40B4-BE49-F238E27FC236}">
                <a16:creationId xmlns:a16="http://schemas.microsoft.com/office/drawing/2014/main" id="{B29E275D-8845-6E40-A08F-12FF3311E17D}"/>
              </a:ext>
            </a:extLst>
          </p:cNvPr>
          <p:cNvCxnSpPr>
            <a:cxnSpLocks noChangeShapeType="1"/>
          </p:cNvCxnSpPr>
          <p:nvPr/>
        </p:nvCxnSpPr>
        <p:spPr bwMode="auto">
          <a:xfrm flipH="1" flipV="1">
            <a:off x="5179131" y="5171184"/>
            <a:ext cx="371475" cy="9731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50" name="Straight Connector 509">
            <a:extLst>
              <a:ext uri="{FF2B5EF4-FFF2-40B4-BE49-F238E27FC236}">
                <a16:creationId xmlns:a16="http://schemas.microsoft.com/office/drawing/2014/main" id="{15E7E8CE-D231-0443-8237-9CDCCE543251}"/>
              </a:ext>
            </a:extLst>
          </p:cNvPr>
          <p:cNvCxnSpPr>
            <a:cxnSpLocks noChangeShapeType="1"/>
          </p:cNvCxnSpPr>
          <p:nvPr/>
        </p:nvCxnSpPr>
        <p:spPr bwMode="auto">
          <a:xfrm flipH="1" flipV="1">
            <a:off x="6157031" y="5810947"/>
            <a:ext cx="520700" cy="1698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51" name="Straight Connector 511">
            <a:extLst>
              <a:ext uri="{FF2B5EF4-FFF2-40B4-BE49-F238E27FC236}">
                <a16:creationId xmlns:a16="http://schemas.microsoft.com/office/drawing/2014/main" id="{DDF17605-AB1A-CD4B-919C-6D6D051BCF04}"/>
              </a:ext>
            </a:extLst>
          </p:cNvPr>
          <p:cNvCxnSpPr>
            <a:cxnSpLocks noChangeShapeType="1"/>
          </p:cNvCxnSpPr>
          <p:nvPr/>
        </p:nvCxnSpPr>
        <p:spPr bwMode="auto">
          <a:xfrm flipV="1">
            <a:off x="4461581" y="5815709"/>
            <a:ext cx="306387" cy="1651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4201247" y="5904281"/>
            <a:ext cx="648509" cy="418221"/>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5420611" y="6056669"/>
            <a:ext cx="648509" cy="418221"/>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6335134" y="5916980"/>
            <a:ext cx="648509" cy="418221"/>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1000"/>
                </a:lnSpc>
              </a:pPr>
              <a:r>
                <a:rPr lang="en-US" altLang="en-US" sz="1000"/>
                <a:t>access</a:t>
              </a:r>
            </a:p>
            <a:p>
              <a:pPr algn="ctr">
                <a:lnSpc>
                  <a:spcPts val="1000"/>
                </a:lnSpc>
              </a:pPr>
              <a:r>
                <a:rPr lang="en-US" altLang="en-US" sz="1000"/>
                <a:t>net</a:t>
              </a:r>
            </a:p>
          </p:txBody>
        </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65" name="Group 264">
            <a:extLst>
              <a:ext uri="{FF2B5EF4-FFF2-40B4-BE49-F238E27FC236}">
                <a16:creationId xmlns:a16="http://schemas.microsoft.com/office/drawing/2014/main" id="{A34C3F37-2EC8-8C40-A875-EED0086B4874}"/>
              </a:ext>
            </a:extLst>
          </p:cNvPr>
          <p:cNvGrpSpPr/>
          <p:nvPr/>
        </p:nvGrpSpPr>
        <p:grpSpPr>
          <a:xfrm>
            <a:off x="2344724" y="2457440"/>
            <a:ext cx="6847389" cy="3478542"/>
            <a:chOff x="2344724" y="2457440"/>
            <a:chExt cx="6847389" cy="3478542"/>
          </a:xfrm>
        </p:grpSpPr>
        <p:grpSp>
          <p:nvGrpSpPr>
            <p:cNvPr id="5" name="Group 4">
              <a:extLst>
                <a:ext uri="{FF2B5EF4-FFF2-40B4-BE49-F238E27FC236}">
                  <a16:creationId xmlns:a16="http://schemas.microsoft.com/office/drawing/2014/main" id="{E69BF921-3AC7-1044-A538-669A3FC8CEA7}"/>
                </a:ext>
              </a:extLst>
            </p:cNvPr>
            <p:cNvGrpSpPr/>
            <p:nvPr/>
          </p:nvGrpSpPr>
          <p:grpSpPr>
            <a:xfrm>
              <a:off x="2557552" y="3624662"/>
              <a:ext cx="6096000" cy="799432"/>
              <a:chOff x="1031788" y="6401642"/>
              <a:chExt cx="6096000" cy="799432"/>
            </a:xfrm>
          </p:grpSpPr>
          <p:sp>
            <p:nvSpPr>
              <p:cNvPr id="331" name="Oval 11">
                <a:extLst>
                  <a:ext uri="{FF2B5EF4-FFF2-40B4-BE49-F238E27FC236}">
                    <a16:creationId xmlns:a16="http://schemas.microsoft.com/office/drawing/2014/main" id="{E061FF7A-2BDA-1049-851F-9E7040663A3D}"/>
                  </a:ext>
                </a:extLst>
              </p:cNvPr>
              <p:cNvSpPr>
                <a:spLocks noChangeArrowheads="1"/>
              </p:cNvSpPr>
              <p:nvPr/>
            </p:nvSpPr>
            <p:spPr bwMode="auto">
              <a:xfrm>
                <a:off x="1031788" y="6471664"/>
                <a:ext cx="6096000" cy="729410"/>
              </a:xfrm>
              <a:prstGeom prst="ellipse">
                <a:avLst/>
              </a:prstGeom>
              <a:solidFill>
                <a:srgbClr val="FF6600">
                  <a:alpha val="70195"/>
                </a:srgbClr>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t>     </a:t>
                </a:r>
              </a:p>
            </p:txBody>
          </p:sp>
          <p:sp>
            <p:nvSpPr>
              <p:cNvPr id="332" name="TextBox 13">
                <a:extLst>
                  <a:ext uri="{FF2B5EF4-FFF2-40B4-BE49-F238E27FC236}">
                    <a16:creationId xmlns:a16="http://schemas.microsoft.com/office/drawing/2014/main" id="{67D6F307-0D89-0E48-8E5A-486474147B35}"/>
                  </a:ext>
                </a:extLst>
              </p:cNvPr>
              <p:cNvSpPr txBox="1">
                <a:spLocks noChangeArrowheads="1"/>
              </p:cNvSpPr>
              <p:nvPr/>
            </p:nvSpPr>
            <p:spPr bwMode="auto">
              <a:xfrm>
                <a:off x="2317167" y="6584898"/>
                <a:ext cx="34440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i="1" dirty="0">
                    <a:solidFill>
                      <a:schemeClr val="bg1"/>
                    </a:solidFill>
                    <a:latin typeface="+mn-lt"/>
                  </a:rPr>
                  <a:t>Content provider network</a:t>
                </a:r>
              </a:p>
            </p:txBody>
          </p:sp>
          <p:grpSp>
            <p:nvGrpSpPr>
              <p:cNvPr id="3" name="Group 2">
                <a:extLst>
                  <a:ext uri="{FF2B5EF4-FFF2-40B4-BE49-F238E27FC236}">
                    <a16:creationId xmlns:a16="http://schemas.microsoft.com/office/drawing/2014/main" id="{3E4BB923-EBFA-A347-B72C-B0E3A24930E5}"/>
                  </a:ext>
                </a:extLst>
              </p:cNvPr>
              <p:cNvGrpSpPr/>
              <p:nvPr/>
            </p:nvGrpSpPr>
            <p:grpSpPr>
              <a:xfrm>
                <a:off x="1602338" y="6401642"/>
                <a:ext cx="666346" cy="673100"/>
                <a:chOff x="940359" y="5691959"/>
                <a:chExt cx="692498" cy="672474"/>
              </a:xfrm>
            </p:grpSpPr>
            <p:grpSp>
              <p:nvGrpSpPr>
                <p:cNvPr id="851" name="Group 850">
                  <a:extLst>
                    <a:ext uri="{FF2B5EF4-FFF2-40B4-BE49-F238E27FC236}">
                      <a16:creationId xmlns:a16="http://schemas.microsoft.com/office/drawing/2014/main" id="{6E1EA9A4-B18A-EC46-ACB4-D4E9BD73A9BF}"/>
                    </a:ext>
                  </a:extLst>
                </p:cNvPr>
                <p:cNvGrpSpPr/>
                <p:nvPr/>
              </p:nvGrpSpPr>
              <p:grpSpPr>
                <a:xfrm>
                  <a:off x="940359" y="5691959"/>
                  <a:ext cx="594613" cy="648336"/>
                  <a:chOff x="5203089" y="1751190"/>
                  <a:chExt cx="858331" cy="662414"/>
                </a:xfrm>
              </p:grpSpPr>
              <p:sp>
                <p:nvSpPr>
                  <p:cNvPr id="852" name="Freeform 851">
                    <a:extLst>
                      <a:ext uri="{FF2B5EF4-FFF2-40B4-BE49-F238E27FC236}">
                        <a16:creationId xmlns:a16="http://schemas.microsoft.com/office/drawing/2014/main" id="{54D758E7-C24C-0946-82F2-A3E32F9840BD}"/>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53" name="Freeform 852">
                    <a:extLst>
                      <a:ext uri="{FF2B5EF4-FFF2-40B4-BE49-F238E27FC236}">
                        <a16:creationId xmlns:a16="http://schemas.microsoft.com/office/drawing/2014/main" id="{A2C8E2EA-C03E-3D40-9309-9A26DB88F7B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856" name="Straight Connector 855">
                    <a:extLst>
                      <a:ext uri="{FF2B5EF4-FFF2-40B4-BE49-F238E27FC236}">
                        <a16:creationId xmlns:a16="http://schemas.microsoft.com/office/drawing/2014/main" id="{7E114527-2240-094A-BD11-84E940566E63}"/>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5" name="Straight Connector 1044">
                    <a:extLst>
                      <a:ext uri="{FF2B5EF4-FFF2-40B4-BE49-F238E27FC236}">
                        <a16:creationId xmlns:a16="http://schemas.microsoft.com/office/drawing/2014/main" id="{1F999166-DE8A-994F-B120-EA761CA93CBF}"/>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6" name="Straight Connector 1045">
                    <a:extLst>
                      <a:ext uri="{FF2B5EF4-FFF2-40B4-BE49-F238E27FC236}">
                        <a16:creationId xmlns:a16="http://schemas.microsoft.com/office/drawing/2014/main" id="{6E30271F-9D0F-F741-8A9B-0C408294FF10}"/>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7" name="Straight Connector 1046">
                    <a:extLst>
                      <a:ext uri="{FF2B5EF4-FFF2-40B4-BE49-F238E27FC236}">
                        <a16:creationId xmlns:a16="http://schemas.microsoft.com/office/drawing/2014/main" id="{F330B512-4E42-1647-820B-211C35AA815C}"/>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8" name="Straight Connector 1047">
                    <a:extLst>
                      <a:ext uri="{FF2B5EF4-FFF2-40B4-BE49-F238E27FC236}">
                        <a16:creationId xmlns:a16="http://schemas.microsoft.com/office/drawing/2014/main" id="{BC0EC845-A3BA-0B4F-8261-1D784734BDA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49" name="Straight Connector 1048">
                    <a:extLst>
                      <a:ext uri="{FF2B5EF4-FFF2-40B4-BE49-F238E27FC236}">
                        <a16:creationId xmlns:a16="http://schemas.microsoft.com/office/drawing/2014/main" id="{1F88AE9A-DB5C-9244-B7C5-18B4779C4D80}"/>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845" name="Group 844">
                  <a:extLst>
                    <a:ext uri="{FF2B5EF4-FFF2-40B4-BE49-F238E27FC236}">
                      <a16:creationId xmlns:a16="http://schemas.microsoft.com/office/drawing/2014/main" id="{26D04249-9C1C-9C4E-819B-F0D40F827162}"/>
                    </a:ext>
                  </a:extLst>
                </p:cNvPr>
                <p:cNvGrpSpPr/>
                <p:nvPr/>
              </p:nvGrpSpPr>
              <p:grpSpPr>
                <a:xfrm>
                  <a:off x="940359" y="5691959"/>
                  <a:ext cx="692498" cy="672474"/>
                  <a:chOff x="10771171" y="3194171"/>
                  <a:chExt cx="692498" cy="672474"/>
                </a:xfrm>
              </p:grpSpPr>
              <p:grpSp>
                <p:nvGrpSpPr>
                  <p:cNvPr id="1050" name="Group 1049">
                    <a:extLst>
                      <a:ext uri="{FF2B5EF4-FFF2-40B4-BE49-F238E27FC236}">
                        <a16:creationId xmlns:a16="http://schemas.microsoft.com/office/drawing/2014/main" id="{C8E31B1B-A8BD-C348-9DBB-5A47113CE7A0}"/>
                      </a:ext>
                    </a:extLst>
                  </p:cNvPr>
                  <p:cNvGrpSpPr/>
                  <p:nvPr/>
                </p:nvGrpSpPr>
                <p:grpSpPr>
                  <a:xfrm>
                    <a:off x="10771171" y="3194171"/>
                    <a:ext cx="594613" cy="648336"/>
                    <a:chOff x="5203089" y="1751190"/>
                    <a:chExt cx="858331" cy="662414"/>
                  </a:xfrm>
                </p:grpSpPr>
                <p:sp>
                  <p:nvSpPr>
                    <p:cNvPr id="1055" name="Freeform 1054">
                      <a:extLst>
                        <a:ext uri="{FF2B5EF4-FFF2-40B4-BE49-F238E27FC236}">
                          <a16:creationId xmlns:a16="http://schemas.microsoft.com/office/drawing/2014/main" id="{0539E2C3-83D8-7842-9BA9-84128A56DB45}"/>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56" name="Freeform 1055">
                      <a:extLst>
                        <a:ext uri="{FF2B5EF4-FFF2-40B4-BE49-F238E27FC236}">
                          <a16:creationId xmlns:a16="http://schemas.microsoft.com/office/drawing/2014/main" id="{7F957A9C-F106-0C41-9CB4-AA3B37083F82}"/>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057" name="Straight Connector 1056">
                      <a:extLst>
                        <a:ext uri="{FF2B5EF4-FFF2-40B4-BE49-F238E27FC236}">
                          <a16:creationId xmlns:a16="http://schemas.microsoft.com/office/drawing/2014/main" id="{4D8AB269-9C7C-9F4F-BE37-8E69BF1C9ACD}"/>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58" name="Straight Connector 1057">
                      <a:extLst>
                        <a:ext uri="{FF2B5EF4-FFF2-40B4-BE49-F238E27FC236}">
                          <a16:creationId xmlns:a16="http://schemas.microsoft.com/office/drawing/2014/main" id="{8C9917B3-A4FD-A648-8288-AC661D55506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59" name="Straight Connector 1058">
                      <a:extLst>
                        <a:ext uri="{FF2B5EF4-FFF2-40B4-BE49-F238E27FC236}">
                          <a16:creationId xmlns:a16="http://schemas.microsoft.com/office/drawing/2014/main" id="{DA41B1EE-D206-C94C-A493-AE9411518D60}"/>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60" name="Straight Connector 1059">
                      <a:extLst>
                        <a:ext uri="{FF2B5EF4-FFF2-40B4-BE49-F238E27FC236}">
                          <a16:creationId xmlns:a16="http://schemas.microsoft.com/office/drawing/2014/main" id="{6CFB218F-3F64-4A40-B5C3-F9B089356395}"/>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61" name="Straight Connector 1060">
                      <a:extLst>
                        <a:ext uri="{FF2B5EF4-FFF2-40B4-BE49-F238E27FC236}">
                          <a16:creationId xmlns:a16="http://schemas.microsoft.com/office/drawing/2014/main" id="{B5889328-72DC-AC45-8A8D-611A9C172BF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62" name="Straight Connector 1061">
                      <a:extLst>
                        <a:ext uri="{FF2B5EF4-FFF2-40B4-BE49-F238E27FC236}">
                          <a16:creationId xmlns:a16="http://schemas.microsoft.com/office/drawing/2014/main" id="{1DA0436A-6056-AC48-A373-770869324F67}"/>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1051" name="Group 1050">
                    <a:extLst>
                      <a:ext uri="{FF2B5EF4-FFF2-40B4-BE49-F238E27FC236}">
                        <a16:creationId xmlns:a16="http://schemas.microsoft.com/office/drawing/2014/main" id="{22A5A7B3-4B87-0A4B-AF9B-A2CEEF9C6A1E}"/>
                      </a:ext>
                    </a:extLst>
                  </p:cNvPr>
                  <p:cNvGrpSpPr/>
                  <p:nvPr/>
                </p:nvGrpSpPr>
                <p:grpSpPr>
                  <a:xfrm>
                    <a:off x="11158881" y="3460672"/>
                    <a:ext cx="304788" cy="405973"/>
                    <a:chOff x="5275406" y="2711455"/>
                    <a:chExt cx="452949" cy="405518"/>
                  </a:xfrm>
                </p:grpSpPr>
                <p:pic>
                  <p:nvPicPr>
                    <p:cNvPr id="1052" name="Picture 1051" descr="server_rack.png">
                      <a:extLst>
                        <a:ext uri="{FF2B5EF4-FFF2-40B4-BE49-F238E27FC236}">
                          <a16:creationId xmlns:a16="http://schemas.microsoft.com/office/drawing/2014/main" id="{16762D31-A312-9242-9140-75D9B2D49ED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1053" name="Picture 1052" descr="server_rack.png">
                      <a:extLst>
                        <a:ext uri="{FF2B5EF4-FFF2-40B4-BE49-F238E27FC236}">
                          <a16:creationId xmlns:a16="http://schemas.microsoft.com/office/drawing/2014/main" id="{67C075EF-ABED-BE4F-80C8-E2E6902028A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1054" name="Picture 1053" descr="server_rack.png">
                      <a:extLst>
                        <a:ext uri="{FF2B5EF4-FFF2-40B4-BE49-F238E27FC236}">
                          <a16:creationId xmlns:a16="http://schemas.microsoft.com/office/drawing/2014/main" id="{D6E8731F-56EE-6E43-979F-B938DC83382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63" name="Group 1062">
                <a:extLst>
                  <a:ext uri="{FF2B5EF4-FFF2-40B4-BE49-F238E27FC236}">
                    <a16:creationId xmlns:a16="http://schemas.microsoft.com/office/drawing/2014/main" id="{8DCC768B-82D0-1C4C-BB9C-D294741D09F8}"/>
                  </a:ext>
                </a:extLst>
              </p:cNvPr>
              <p:cNvGrpSpPr/>
              <p:nvPr/>
            </p:nvGrpSpPr>
            <p:grpSpPr>
              <a:xfrm>
                <a:off x="5694561" y="6441153"/>
                <a:ext cx="666346" cy="673100"/>
                <a:chOff x="940359" y="5691959"/>
                <a:chExt cx="692498" cy="672474"/>
              </a:xfrm>
            </p:grpSpPr>
            <p:grpSp>
              <p:nvGrpSpPr>
                <p:cNvPr id="1064" name="Group 1063">
                  <a:extLst>
                    <a:ext uri="{FF2B5EF4-FFF2-40B4-BE49-F238E27FC236}">
                      <a16:creationId xmlns:a16="http://schemas.microsoft.com/office/drawing/2014/main" id="{A646105A-003F-554A-88D4-5069F5E93FFC}"/>
                    </a:ext>
                  </a:extLst>
                </p:cNvPr>
                <p:cNvGrpSpPr/>
                <p:nvPr/>
              </p:nvGrpSpPr>
              <p:grpSpPr>
                <a:xfrm>
                  <a:off x="940359" y="5691959"/>
                  <a:ext cx="594613" cy="648336"/>
                  <a:chOff x="5203089" y="1751190"/>
                  <a:chExt cx="858331" cy="662414"/>
                </a:xfrm>
              </p:grpSpPr>
              <p:sp>
                <p:nvSpPr>
                  <p:cNvPr id="1079" name="Freeform 1078">
                    <a:extLst>
                      <a:ext uri="{FF2B5EF4-FFF2-40B4-BE49-F238E27FC236}">
                        <a16:creationId xmlns:a16="http://schemas.microsoft.com/office/drawing/2014/main" id="{783869E3-485B-9047-AFC5-CF97F1DDB50A}"/>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80" name="Freeform 1079">
                    <a:extLst>
                      <a:ext uri="{FF2B5EF4-FFF2-40B4-BE49-F238E27FC236}">
                        <a16:creationId xmlns:a16="http://schemas.microsoft.com/office/drawing/2014/main" id="{8E65AB09-DDF1-6A4D-ABA3-56FB2D4CED46}"/>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081" name="Straight Connector 1080">
                    <a:extLst>
                      <a:ext uri="{FF2B5EF4-FFF2-40B4-BE49-F238E27FC236}">
                        <a16:creationId xmlns:a16="http://schemas.microsoft.com/office/drawing/2014/main" id="{618AEF39-9C64-824D-9165-FA33924AE8F3}"/>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2" name="Straight Connector 1081">
                    <a:extLst>
                      <a:ext uri="{FF2B5EF4-FFF2-40B4-BE49-F238E27FC236}">
                        <a16:creationId xmlns:a16="http://schemas.microsoft.com/office/drawing/2014/main" id="{486CF28E-1757-1E4F-B50E-13175345D4DD}"/>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3" name="Straight Connector 1082">
                    <a:extLst>
                      <a:ext uri="{FF2B5EF4-FFF2-40B4-BE49-F238E27FC236}">
                        <a16:creationId xmlns:a16="http://schemas.microsoft.com/office/drawing/2014/main" id="{47473366-77DC-214A-8A2B-F7D96315F60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4" name="Straight Connector 1083">
                    <a:extLst>
                      <a:ext uri="{FF2B5EF4-FFF2-40B4-BE49-F238E27FC236}">
                        <a16:creationId xmlns:a16="http://schemas.microsoft.com/office/drawing/2014/main" id="{2EF16BEC-FBF7-DF43-AC97-4B8743F8D68F}"/>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5" name="Straight Connector 1084">
                    <a:extLst>
                      <a:ext uri="{FF2B5EF4-FFF2-40B4-BE49-F238E27FC236}">
                        <a16:creationId xmlns:a16="http://schemas.microsoft.com/office/drawing/2014/main" id="{7BEB9537-B234-2A40-878F-D5DCB8935948}"/>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86" name="Straight Connector 1085">
                    <a:extLst>
                      <a:ext uri="{FF2B5EF4-FFF2-40B4-BE49-F238E27FC236}">
                        <a16:creationId xmlns:a16="http://schemas.microsoft.com/office/drawing/2014/main" id="{36D4353D-F1D8-A749-B8D7-DF1A75AAB163}"/>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1065" name="Group 1064">
                  <a:extLst>
                    <a:ext uri="{FF2B5EF4-FFF2-40B4-BE49-F238E27FC236}">
                      <a16:creationId xmlns:a16="http://schemas.microsoft.com/office/drawing/2014/main" id="{32BC0B46-E7F4-FB4D-8976-24D2F44EA1E4}"/>
                    </a:ext>
                  </a:extLst>
                </p:cNvPr>
                <p:cNvGrpSpPr/>
                <p:nvPr/>
              </p:nvGrpSpPr>
              <p:grpSpPr>
                <a:xfrm>
                  <a:off x="940359" y="5691959"/>
                  <a:ext cx="692498" cy="672474"/>
                  <a:chOff x="10771171" y="3194171"/>
                  <a:chExt cx="692498" cy="672474"/>
                </a:xfrm>
              </p:grpSpPr>
              <p:grpSp>
                <p:nvGrpSpPr>
                  <p:cNvPr id="1066" name="Group 1065">
                    <a:extLst>
                      <a:ext uri="{FF2B5EF4-FFF2-40B4-BE49-F238E27FC236}">
                        <a16:creationId xmlns:a16="http://schemas.microsoft.com/office/drawing/2014/main" id="{657EBA9E-3D02-3647-AD62-4C3FA03B1F87}"/>
                      </a:ext>
                    </a:extLst>
                  </p:cNvPr>
                  <p:cNvGrpSpPr/>
                  <p:nvPr/>
                </p:nvGrpSpPr>
                <p:grpSpPr>
                  <a:xfrm>
                    <a:off x="10771171" y="3194171"/>
                    <a:ext cx="594613" cy="648336"/>
                    <a:chOff x="5203089" y="1751190"/>
                    <a:chExt cx="858331" cy="662414"/>
                  </a:xfrm>
                </p:grpSpPr>
                <p:sp>
                  <p:nvSpPr>
                    <p:cNvPr id="1071" name="Freeform 1070">
                      <a:extLst>
                        <a:ext uri="{FF2B5EF4-FFF2-40B4-BE49-F238E27FC236}">
                          <a16:creationId xmlns:a16="http://schemas.microsoft.com/office/drawing/2014/main" id="{FE372475-847B-5A48-BA42-FC4EB2AFDB9D}"/>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72" name="Freeform 1071">
                      <a:extLst>
                        <a:ext uri="{FF2B5EF4-FFF2-40B4-BE49-F238E27FC236}">
                          <a16:creationId xmlns:a16="http://schemas.microsoft.com/office/drawing/2014/main" id="{09130EB1-7474-B94D-BED7-85B261C5AF03}"/>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073" name="Straight Connector 1072">
                      <a:extLst>
                        <a:ext uri="{FF2B5EF4-FFF2-40B4-BE49-F238E27FC236}">
                          <a16:creationId xmlns:a16="http://schemas.microsoft.com/office/drawing/2014/main" id="{3616C51B-DFE6-5940-A968-19B2E26EC74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4" name="Straight Connector 1073">
                      <a:extLst>
                        <a:ext uri="{FF2B5EF4-FFF2-40B4-BE49-F238E27FC236}">
                          <a16:creationId xmlns:a16="http://schemas.microsoft.com/office/drawing/2014/main" id="{D2D1D346-55DA-2341-B60B-600E6324F60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5" name="Straight Connector 1074">
                      <a:extLst>
                        <a:ext uri="{FF2B5EF4-FFF2-40B4-BE49-F238E27FC236}">
                          <a16:creationId xmlns:a16="http://schemas.microsoft.com/office/drawing/2014/main" id="{DE2B7475-7D9C-4E4B-9858-9B23378387DE}"/>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6" name="Straight Connector 1075">
                      <a:extLst>
                        <a:ext uri="{FF2B5EF4-FFF2-40B4-BE49-F238E27FC236}">
                          <a16:creationId xmlns:a16="http://schemas.microsoft.com/office/drawing/2014/main" id="{CF9C23E3-09BC-464F-9403-FB1898939AF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7" name="Straight Connector 1076">
                      <a:extLst>
                        <a:ext uri="{FF2B5EF4-FFF2-40B4-BE49-F238E27FC236}">
                          <a16:creationId xmlns:a16="http://schemas.microsoft.com/office/drawing/2014/main" id="{243DD04E-CE53-C94D-A298-1FAAB17C3AA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78" name="Straight Connector 1077">
                      <a:extLst>
                        <a:ext uri="{FF2B5EF4-FFF2-40B4-BE49-F238E27FC236}">
                          <a16:creationId xmlns:a16="http://schemas.microsoft.com/office/drawing/2014/main" id="{F586A1A3-9061-B543-B946-AA09FEA1A153}"/>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1067" name="Group 1066">
                    <a:extLst>
                      <a:ext uri="{FF2B5EF4-FFF2-40B4-BE49-F238E27FC236}">
                        <a16:creationId xmlns:a16="http://schemas.microsoft.com/office/drawing/2014/main" id="{9D527F42-9829-EC42-BF85-93A8B940898B}"/>
                      </a:ext>
                    </a:extLst>
                  </p:cNvPr>
                  <p:cNvGrpSpPr/>
                  <p:nvPr/>
                </p:nvGrpSpPr>
                <p:grpSpPr>
                  <a:xfrm>
                    <a:off x="11158881" y="3460672"/>
                    <a:ext cx="304788" cy="405973"/>
                    <a:chOff x="5275406" y="2711455"/>
                    <a:chExt cx="452949" cy="405518"/>
                  </a:xfrm>
                </p:grpSpPr>
                <p:pic>
                  <p:nvPicPr>
                    <p:cNvPr id="1068" name="Picture 1067" descr="server_rack.png">
                      <a:extLst>
                        <a:ext uri="{FF2B5EF4-FFF2-40B4-BE49-F238E27FC236}">
                          <a16:creationId xmlns:a16="http://schemas.microsoft.com/office/drawing/2014/main" id="{3C057932-EAE6-6D42-9FEA-F2846B05C62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1069" name="Picture 1068" descr="server_rack.png">
                      <a:extLst>
                        <a:ext uri="{FF2B5EF4-FFF2-40B4-BE49-F238E27FC236}">
                          <a16:creationId xmlns:a16="http://schemas.microsoft.com/office/drawing/2014/main" id="{475029CE-1610-AE4E-880C-27AA1EAC9C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1070" name="Picture 1069" descr="server_rack.png">
                      <a:extLst>
                        <a:ext uri="{FF2B5EF4-FFF2-40B4-BE49-F238E27FC236}">
                          <a16:creationId xmlns:a16="http://schemas.microsoft.com/office/drawing/2014/main" id="{E9A6926E-A499-3B42-BC44-3E767FAE6D8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cxnSp>
          <p:nvCxnSpPr>
            <p:cNvPr id="8" name="Straight Connector 7">
              <a:extLst>
                <a:ext uri="{FF2B5EF4-FFF2-40B4-BE49-F238E27FC236}">
                  <a16:creationId xmlns:a16="http://schemas.microsoft.com/office/drawing/2014/main" id="{6FB78244-2878-4E4C-80D6-A3A83BFDA97F}"/>
                </a:ext>
              </a:extLst>
            </p:cNvPr>
            <p:cNvCxnSpPr>
              <a:cxnSpLocks/>
            </p:cNvCxnSpPr>
            <p:nvPr/>
          </p:nvCxnSpPr>
          <p:spPr>
            <a:xfrm flipV="1">
              <a:off x="8373177" y="3325716"/>
              <a:ext cx="210562" cy="606179"/>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7" name="Straight Connector 1086">
              <a:extLst>
                <a:ext uri="{FF2B5EF4-FFF2-40B4-BE49-F238E27FC236}">
                  <a16:creationId xmlns:a16="http://schemas.microsoft.com/office/drawing/2014/main" id="{7794E541-D16E-B744-9F4E-F16CE4FFCEFA}"/>
                </a:ext>
              </a:extLst>
            </p:cNvPr>
            <p:cNvCxnSpPr>
              <a:cxnSpLocks/>
              <a:stCxn id="331" idx="6"/>
            </p:cNvCxnSpPr>
            <p:nvPr/>
          </p:nvCxnSpPr>
          <p:spPr>
            <a:xfrm>
              <a:off x="8653552" y="4059389"/>
              <a:ext cx="538561" cy="236967"/>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8" name="Straight Connector 1087">
              <a:extLst>
                <a:ext uri="{FF2B5EF4-FFF2-40B4-BE49-F238E27FC236}">
                  <a16:creationId xmlns:a16="http://schemas.microsoft.com/office/drawing/2014/main" id="{9E6CEDD3-5237-7F47-A50C-C928A310E25B}"/>
                </a:ext>
              </a:extLst>
            </p:cNvPr>
            <p:cNvCxnSpPr>
              <a:cxnSpLocks/>
            </p:cNvCxnSpPr>
            <p:nvPr/>
          </p:nvCxnSpPr>
          <p:spPr>
            <a:xfrm flipH="1" flipV="1">
              <a:off x="7981407" y="2971505"/>
              <a:ext cx="180081" cy="928886"/>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9" name="Straight Connector 1088">
              <a:extLst>
                <a:ext uri="{FF2B5EF4-FFF2-40B4-BE49-F238E27FC236}">
                  <a16:creationId xmlns:a16="http://schemas.microsoft.com/office/drawing/2014/main" id="{352AE841-C732-7B4B-BAB0-28479A2CEC7E}"/>
                </a:ext>
              </a:extLst>
            </p:cNvPr>
            <p:cNvCxnSpPr>
              <a:cxnSpLocks/>
            </p:cNvCxnSpPr>
            <p:nvPr/>
          </p:nvCxnSpPr>
          <p:spPr>
            <a:xfrm flipV="1">
              <a:off x="6000693" y="2457440"/>
              <a:ext cx="3285" cy="1256298"/>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0" name="Straight Connector 1089">
              <a:extLst>
                <a:ext uri="{FF2B5EF4-FFF2-40B4-BE49-F238E27FC236}">
                  <a16:creationId xmlns:a16="http://schemas.microsoft.com/office/drawing/2014/main" id="{A37BFDB9-13B5-0B44-9BCC-DA10C6BC25B8}"/>
                </a:ext>
              </a:extLst>
            </p:cNvPr>
            <p:cNvCxnSpPr>
              <a:cxnSpLocks/>
            </p:cNvCxnSpPr>
            <p:nvPr/>
          </p:nvCxnSpPr>
          <p:spPr>
            <a:xfrm flipH="1" flipV="1">
              <a:off x="3490770" y="2709766"/>
              <a:ext cx="350837" cy="1056148"/>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1" name="Straight Connector 1090">
              <a:extLst>
                <a:ext uri="{FF2B5EF4-FFF2-40B4-BE49-F238E27FC236}">
                  <a16:creationId xmlns:a16="http://schemas.microsoft.com/office/drawing/2014/main" id="{00D40D05-9869-B142-A822-0D241B01659A}"/>
                </a:ext>
              </a:extLst>
            </p:cNvPr>
            <p:cNvCxnSpPr>
              <a:cxnSpLocks/>
            </p:cNvCxnSpPr>
            <p:nvPr/>
          </p:nvCxnSpPr>
          <p:spPr>
            <a:xfrm flipH="1" flipV="1">
              <a:off x="2733590" y="3084939"/>
              <a:ext cx="184530" cy="786742"/>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2" name="Straight Connector 1091">
              <a:extLst>
                <a:ext uri="{FF2B5EF4-FFF2-40B4-BE49-F238E27FC236}">
                  <a16:creationId xmlns:a16="http://schemas.microsoft.com/office/drawing/2014/main" id="{478A4948-A08A-7E44-819A-24BDBBE1B5BB}"/>
                </a:ext>
              </a:extLst>
            </p:cNvPr>
            <p:cNvCxnSpPr>
              <a:cxnSpLocks/>
            </p:cNvCxnSpPr>
            <p:nvPr/>
          </p:nvCxnSpPr>
          <p:spPr>
            <a:xfrm flipV="1">
              <a:off x="2537108" y="4260753"/>
              <a:ext cx="477027" cy="550561"/>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9" name="Straight Connector 1098">
              <a:extLst>
                <a:ext uri="{FF2B5EF4-FFF2-40B4-BE49-F238E27FC236}">
                  <a16:creationId xmlns:a16="http://schemas.microsoft.com/office/drawing/2014/main" id="{6333C169-83AE-C947-B0FE-FC14D7706C99}"/>
                </a:ext>
              </a:extLst>
            </p:cNvPr>
            <p:cNvCxnSpPr>
              <a:cxnSpLocks/>
            </p:cNvCxnSpPr>
            <p:nvPr/>
          </p:nvCxnSpPr>
          <p:spPr>
            <a:xfrm flipV="1">
              <a:off x="5720123" y="4417447"/>
              <a:ext cx="5022" cy="1030757"/>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0" name="Straight Connector 1099">
              <a:extLst>
                <a:ext uri="{FF2B5EF4-FFF2-40B4-BE49-F238E27FC236}">
                  <a16:creationId xmlns:a16="http://schemas.microsoft.com/office/drawing/2014/main" id="{034E5082-AB2B-B640-B1D2-257AACBDA3C1}"/>
                </a:ext>
              </a:extLst>
            </p:cNvPr>
            <p:cNvCxnSpPr>
              <a:cxnSpLocks/>
              <a:stCxn id="36" idx="0"/>
            </p:cNvCxnSpPr>
            <p:nvPr/>
          </p:nvCxnSpPr>
          <p:spPr>
            <a:xfrm flipH="1" flipV="1">
              <a:off x="5827900" y="4390762"/>
              <a:ext cx="863810" cy="1545220"/>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1" name="Straight Connector 1100">
              <a:extLst>
                <a:ext uri="{FF2B5EF4-FFF2-40B4-BE49-F238E27FC236}">
                  <a16:creationId xmlns:a16="http://schemas.microsoft.com/office/drawing/2014/main" id="{135A9D83-D5C3-FA4C-A774-C4D577D8C1FA}"/>
                </a:ext>
              </a:extLst>
            </p:cNvPr>
            <p:cNvCxnSpPr>
              <a:cxnSpLocks/>
            </p:cNvCxnSpPr>
            <p:nvPr/>
          </p:nvCxnSpPr>
          <p:spPr>
            <a:xfrm flipH="1" flipV="1">
              <a:off x="8042725" y="4273180"/>
              <a:ext cx="719289" cy="1457599"/>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2" name="Straight Connector 1101">
              <a:extLst>
                <a:ext uri="{FF2B5EF4-FFF2-40B4-BE49-F238E27FC236}">
                  <a16:creationId xmlns:a16="http://schemas.microsoft.com/office/drawing/2014/main" id="{1286ED93-2B6B-404C-A404-B480CF350AFC}"/>
                </a:ext>
              </a:extLst>
            </p:cNvPr>
            <p:cNvCxnSpPr>
              <a:cxnSpLocks/>
            </p:cNvCxnSpPr>
            <p:nvPr/>
          </p:nvCxnSpPr>
          <p:spPr>
            <a:xfrm flipH="1" flipV="1">
              <a:off x="2386276" y="3473353"/>
              <a:ext cx="261637" cy="504826"/>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3" name="Straight Connector 1102">
              <a:extLst>
                <a:ext uri="{FF2B5EF4-FFF2-40B4-BE49-F238E27FC236}">
                  <a16:creationId xmlns:a16="http://schemas.microsoft.com/office/drawing/2014/main" id="{CCEE2E34-D559-CA45-9E5A-F783F810EFCF}"/>
                </a:ext>
              </a:extLst>
            </p:cNvPr>
            <p:cNvCxnSpPr>
              <a:cxnSpLocks/>
            </p:cNvCxnSpPr>
            <p:nvPr/>
          </p:nvCxnSpPr>
          <p:spPr>
            <a:xfrm flipV="1">
              <a:off x="2344724" y="4114193"/>
              <a:ext cx="251695" cy="109254"/>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4" name="Straight Connector 1103">
              <a:extLst>
                <a:ext uri="{FF2B5EF4-FFF2-40B4-BE49-F238E27FC236}">
                  <a16:creationId xmlns:a16="http://schemas.microsoft.com/office/drawing/2014/main" id="{D65FCF95-878C-A14C-A6D6-6D22C404145C}"/>
                </a:ext>
              </a:extLst>
            </p:cNvPr>
            <p:cNvCxnSpPr>
              <a:cxnSpLocks/>
              <a:stCxn id="1032" idx="2"/>
              <a:endCxn id="996" idx="2"/>
            </p:cNvCxnSpPr>
            <p:nvPr/>
          </p:nvCxnSpPr>
          <p:spPr>
            <a:xfrm flipV="1">
              <a:off x="5458049" y="3230852"/>
              <a:ext cx="7426" cy="480990"/>
            </a:xfrm>
            <a:prstGeom prst="line">
              <a:avLst/>
            </a:prstGeom>
            <a:ln w="4445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5" name="Straight Connector 1104">
              <a:extLst>
                <a:ext uri="{FF2B5EF4-FFF2-40B4-BE49-F238E27FC236}">
                  <a16:creationId xmlns:a16="http://schemas.microsoft.com/office/drawing/2014/main" id="{15EB59D3-4040-5749-B499-E27490D524DA}"/>
                </a:ext>
              </a:extLst>
            </p:cNvPr>
            <p:cNvCxnSpPr>
              <a:cxnSpLocks/>
            </p:cNvCxnSpPr>
            <p:nvPr/>
          </p:nvCxnSpPr>
          <p:spPr>
            <a:xfrm flipV="1">
              <a:off x="4457330" y="4394908"/>
              <a:ext cx="7426" cy="480990"/>
            </a:xfrm>
            <a:prstGeom prst="line">
              <a:avLst/>
            </a:prstGeom>
            <a:ln w="4445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72" name="Straight Connector 1171">
              <a:extLst>
                <a:ext uri="{FF2B5EF4-FFF2-40B4-BE49-F238E27FC236}">
                  <a16:creationId xmlns:a16="http://schemas.microsoft.com/office/drawing/2014/main" id="{585E66CE-5974-5A48-86F4-642D85A8C2B9}"/>
                </a:ext>
              </a:extLst>
            </p:cNvPr>
            <p:cNvCxnSpPr>
              <a:cxnSpLocks/>
            </p:cNvCxnSpPr>
            <p:nvPr/>
          </p:nvCxnSpPr>
          <p:spPr>
            <a:xfrm flipV="1">
              <a:off x="7407243" y="4368703"/>
              <a:ext cx="7426" cy="480990"/>
            </a:xfrm>
            <a:prstGeom prst="line">
              <a:avLst/>
            </a:prstGeom>
            <a:ln w="4445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093" name="Group 1092">
            <a:extLst>
              <a:ext uri="{FF2B5EF4-FFF2-40B4-BE49-F238E27FC236}">
                <a16:creationId xmlns:a16="http://schemas.microsoft.com/office/drawing/2014/main" id="{D11900C4-AD2E-9546-89B5-1A95630DD9E8}"/>
              </a:ext>
            </a:extLst>
          </p:cNvPr>
          <p:cNvGrpSpPr/>
          <p:nvPr/>
        </p:nvGrpSpPr>
        <p:grpSpPr>
          <a:xfrm>
            <a:off x="4545099" y="5447247"/>
            <a:ext cx="1807203" cy="495366"/>
            <a:chOff x="4545099" y="5447247"/>
            <a:chExt cx="1807203" cy="495366"/>
          </a:xfrm>
        </p:grpSpPr>
        <p:sp>
          <p:nvSpPr>
            <p:cNvPr id="1095" name="Oval 33">
              <a:extLst>
                <a:ext uri="{FF2B5EF4-FFF2-40B4-BE49-F238E27FC236}">
                  <a16:creationId xmlns:a16="http://schemas.microsoft.com/office/drawing/2014/main" id="{512F7670-AB23-F240-9D5A-6EAA52208AD0}"/>
                </a:ext>
              </a:extLst>
            </p:cNvPr>
            <p:cNvSpPr>
              <a:spLocks noChangeArrowheads="1"/>
            </p:cNvSpPr>
            <p:nvPr/>
          </p:nvSpPr>
          <p:spPr bwMode="auto">
            <a:xfrm rot="10800000">
              <a:off x="4545099" y="5447247"/>
              <a:ext cx="1807203" cy="495366"/>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chemeClr val="tx1">
                    <a:lumMod val="65000"/>
                    <a:lumOff val="35000"/>
                  </a:schemeClr>
                </a:solidFill>
                <a:effectLst/>
                <a:uLnTx/>
                <a:uFillTx/>
                <a:latin typeface="Arial" panose="020B0604020202020204" pitchFamily="34" charset="0"/>
                <a:ea typeface="ＭＳ Ｐゴシック" panose="020B0600070205080204" pitchFamily="34" charset="-128"/>
                <a:cs typeface="Arial"/>
              </a:endParaRPr>
            </a:p>
          </p:txBody>
        </p:sp>
        <p:sp>
          <p:nvSpPr>
            <p:cNvPr id="1097" name="TextBox 9">
              <a:extLst>
                <a:ext uri="{FF2B5EF4-FFF2-40B4-BE49-F238E27FC236}">
                  <a16:creationId xmlns:a16="http://schemas.microsoft.com/office/drawing/2014/main" id="{373ADF7C-1486-8546-95DA-BA176D7729D0}"/>
                </a:ext>
              </a:extLst>
            </p:cNvPr>
            <p:cNvSpPr txBox="1">
              <a:spLocks noChangeArrowheads="1"/>
            </p:cNvSpPr>
            <p:nvPr/>
          </p:nvSpPr>
          <p:spPr bwMode="auto">
            <a:xfrm>
              <a:off x="4662400" y="5488195"/>
              <a:ext cx="15824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i="1" dirty="0"/>
                <a:t>regional ISP</a:t>
              </a:r>
            </a:p>
          </p:txBody>
        </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52003254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64</a:t>
            </a:fld>
            <a:endParaRPr lang="en-US" dirty="0"/>
          </a:p>
        </p:txBody>
      </p:sp>
      <p:cxnSp>
        <p:nvCxnSpPr>
          <p:cNvPr id="427" name="Straight Connector 426">
            <a:extLst>
              <a:ext uri="{FF2B5EF4-FFF2-40B4-BE49-F238E27FC236}">
                <a16:creationId xmlns:a16="http://schemas.microsoft.com/office/drawing/2014/main" id="{38E270F7-B953-6746-81D7-5185D1395A5B}"/>
              </a:ext>
            </a:extLst>
          </p:cNvPr>
          <p:cNvCxnSpPr>
            <a:endCxn id="462" idx="0"/>
          </p:cNvCxnSpPr>
          <p:nvPr/>
        </p:nvCxnSpPr>
        <p:spPr bwMode="auto">
          <a:xfrm rot="5400000">
            <a:off x="1732708" y="2949387"/>
            <a:ext cx="2221011" cy="307975"/>
          </a:xfrm>
          <a:prstGeom prst="line">
            <a:avLst/>
          </a:prstGeom>
          <a:noFill/>
          <a:ln w="952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DA98FC37-97EC-C247-AD5F-914F2DE010C6}"/>
              </a:ext>
            </a:extLst>
          </p:cNvPr>
          <p:cNvCxnSpPr>
            <a:stCxn id="459" idx="4"/>
          </p:cNvCxnSpPr>
          <p:nvPr/>
        </p:nvCxnSpPr>
        <p:spPr bwMode="auto">
          <a:xfrm rot="5400000">
            <a:off x="4431512" y="4096677"/>
            <a:ext cx="474651" cy="98425"/>
          </a:xfrm>
          <a:prstGeom prst="line">
            <a:avLst/>
          </a:prstGeom>
          <a:noFill/>
          <a:ln w="952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97671C5E-1113-CA43-A33D-92ECFE2129C2}"/>
              </a:ext>
            </a:extLst>
          </p:cNvPr>
          <p:cNvCxnSpPr>
            <a:stCxn id="459" idx="3"/>
          </p:cNvCxnSpPr>
          <p:nvPr/>
        </p:nvCxnSpPr>
        <p:spPr bwMode="auto">
          <a:xfrm rot="5400000">
            <a:off x="3580901" y="3946152"/>
            <a:ext cx="583612" cy="290513"/>
          </a:xfrm>
          <a:prstGeom prst="line">
            <a:avLst/>
          </a:prstGeom>
          <a:noFill/>
          <a:ln w="9525" cap="flat" cmpd="sng" algn="ctr">
            <a:solidFill>
              <a:srgbClr val="000000"/>
            </a:solidFill>
            <a:prstDash val="solid"/>
          </a:ln>
          <a:effectLst/>
        </p:spPr>
      </p:cxnSp>
      <p:cxnSp>
        <p:nvCxnSpPr>
          <p:cNvPr id="430" name="Straight Connector 429">
            <a:extLst>
              <a:ext uri="{FF2B5EF4-FFF2-40B4-BE49-F238E27FC236}">
                <a16:creationId xmlns:a16="http://schemas.microsoft.com/office/drawing/2014/main" id="{69E2FA91-0962-294C-A41F-3DD90DF20DA5}"/>
              </a:ext>
            </a:extLst>
          </p:cNvPr>
          <p:cNvCxnSpPr/>
          <p:nvPr/>
        </p:nvCxnSpPr>
        <p:spPr bwMode="auto">
          <a:xfrm rot="16200000" flipH="1">
            <a:off x="2142972" y="3178358"/>
            <a:ext cx="2292656" cy="260350"/>
          </a:xfrm>
          <a:prstGeom prst="line">
            <a:avLst/>
          </a:prstGeom>
          <a:noFill/>
          <a:ln w="9525" cap="flat" cmpd="sng" algn="ctr">
            <a:solidFill>
              <a:srgbClr val="000000"/>
            </a:solidFill>
            <a:prstDash val="solid"/>
          </a:ln>
          <a:effectLst/>
        </p:spPr>
      </p:cxnSp>
      <p:cxnSp>
        <p:nvCxnSpPr>
          <p:cNvPr id="431" name="Straight Connector 430">
            <a:extLst>
              <a:ext uri="{FF2B5EF4-FFF2-40B4-BE49-F238E27FC236}">
                <a16:creationId xmlns:a16="http://schemas.microsoft.com/office/drawing/2014/main" id="{B69A575B-8E28-3C43-851B-7A48C4D768DA}"/>
              </a:ext>
            </a:extLst>
          </p:cNvPr>
          <p:cNvCxnSpPr>
            <a:cxnSpLocks/>
          </p:cNvCxnSpPr>
          <p:nvPr/>
        </p:nvCxnSpPr>
        <p:spPr bwMode="auto">
          <a:xfrm flipH="1">
            <a:off x="2955927" y="3021951"/>
            <a:ext cx="771524" cy="1432912"/>
          </a:xfrm>
          <a:prstGeom prst="line">
            <a:avLst/>
          </a:prstGeom>
          <a:noFill/>
          <a:ln w="952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E475B5A7-C114-7E48-AB1E-92C7CF4A4EF6}"/>
              </a:ext>
            </a:extLst>
          </p:cNvPr>
          <p:cNvCxnSpPr>
            <a:endCxn id="465" idx="0"/>
          </p:cNvCxnSpPr>
          <p:nvPr/>
        </p:nvCxnSpPr>
        <p:spPr bwMode="auto">
          <a:xfrm>
            <a:off x="5186363" y="3712362"/>
            <a:ext cx="422275" cy="501519"/>
          </a:xfrm>
          <a:prstGeom prst="line">
            <a:avLst/>
          </a:prstGeom>
          <a:noFill/>
          <a:ln w="9525" cap="flat" cmpd="sng" algn="ctr">
            <a:solidFill>
              <a:srgbClr val="000000"/>
            </a:solidFill>
            <a:prstDash val="solid"/>
          </a:ln>
          <a:effectLst/>
        </p:spPr>
      </p:cxnSp>
      <p:cxnSp>
        <p:nvCxnSpPr>
          <p:cNvPr id="434" name="Straight Connector 433">
            <a:extLst>
              <a:ext uri="{FF2B5EF4-FFF2-40B4-BE49-F238E27FC236}">
                <a16:creationId xmlns:a16="http://schemas.microsoft.com/office/drawing/2014/main" id="{0484462A-BBBF-CC4F-8955-E6317779C224}"/>
              </a:ext>
            </a:extLst>
          </p:cNvPr>
          <p:cNvCxnSpPr>
            <a:stCxn id="460" idx="2"/>
            <a:endCxn id="459" idx="6"/>
          </p:cNvCxnSpPr>
          <p:nvPr/>
        </p:nvCxnSpPr>
        <p:spPr bwMode="auto">
          <a:xfrm rot="10800000">
            <a:off x="5710238" y="3536903"/>
            <a:ext cx="531812" cy="0"/>
          </a:xfrm>
          <a:prstGeom prst="line">
            <a:avLst/>
          </a:prstGeom>
          <a:noFill/>
          <a:ln w="9525" cap="flat" cmpd="sng" algn="ctr">
            <a:noFill/>
            <a:prstDash val="solid"/>
          </a:ln>
          <a:effectLst/>
        </p:spPr>
      </p:cxnSp>
      <p:cxnSp>
        <p:nvCxnSpPr>
          <p:cNvPr id="435" name="Straight Connector 434">
            <a:extLst>
              <a:ext uri="{FF2B5EF4-FFF2-40B4-BE49-F238E27FC236}">
                <a16:creationId xmlns:a16="http://schemas.microsoft.com/office/drawing/2014/main" id="{A96A5E6E-187B-3A49-A295-FA1F67D8E9B9}"/>
              </a:ext>
            </a:extLst>
          </p:cNvPr>
          <p:cNvCxnSpPr/>
          <p:nvPr/>
        </p:nvCxnSpPr>
        <p:spPr bwMode="auto">
          <a:xfrm rot="5400000">
            <a:off x="6419350" y="3956601"/>
            <a:ext cx="583613" cy="290513"/>
          </a:xfrm>
          <a:prstGeom prst="line">
            <a:avLst/>
          </a:prstGeom>
          <a:noFill/>
          <a:ln w="952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EE62177A-B5F4-4A41-91F0-A95D2315BDCB}"/>
              </a:ext>
            </a:extLst>
          </p:cNvPr>
          <p:cNvCxnSpPr/>
          <p:nvPr/>
        </p:nvCxnSpPr>
        <p:spPr bwMode="auto">
          <a:xfrm rot="16200000" flipH="1">
            <a:off x="7161610" y="4097200"/>
            <a:ext cx="511967" cy="80962"/>
          </a:xfrm>
          <a:prstGeom prst="line">
            <a:avLst/>
          </a:prstGeom>
          <a:noFill/>
          <a:ln w="952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505D1BC1-6C7E-3946-BEB6-4065EC357AD4}"/>
              </a:ext>
            </a:extLst>
          </p:cNvPr>
          <p:cNvCxnSpPr>
            <a:stCxn id="460" idx="5"/>
          </p:cNvCxnSpPr>
          <p:nvPr/>
        </p:nvCxnSpPr>
        <p:spPr bwMode="auto">
          <a:xfrm>
            <a:off x="7934325" y="3799603"/>
            <a:ext cx="412750" cy="671677"/>
          </a:xfrm>
          <a:prstGeom prst="line">
            <a:avLst/>
          </a:prstGeom>
          <a:noFill/>
          <a:ln w="9525" cap="flat" cmpd="sng" algn="ctr">
            <a:solidFill>
              <a:srgbClr val="000000"/>
            </a:solidFill>
            <a:prstDash val="solid"/>
          </a:ln>
          <a:effectLst/>
        </p:spPr>
      </p:cxnSp>
      <p:cxnSp>
        <p:nvCxnSpPr>
          <p:cNvPr id="438" name="Straight Connector 437">
            <a:extLst>
              <a:ext uri="{FF2B5EF4-FFF2-40B4-BE49-F238E27FC236}">
                <a16:creationId xmlns:a16="http://schemas.microsoft.com/office/drawing/2014/main" id="{D4DDDD88-B509-DD45-9D00-CC8520A75C94}"/>
              </a:ext>
            </a:extLst>
          </p:cNvPr>
          <p:cNvCxnSpPr>
            <a:cxnSpLocks/>
            <a:endCxn id="467" idx="7"/>
          </p:cNvCxnSpPr>
          <p:nvPr/>
        </p:nvCxnSpPr>
        <p:spPr bwMode="auto">
          <a:xfrm>
            <a:off x="8200201" y="2245046"/>
            <a:ext cx="628031" cy="2055832"/>
          </a:xfrm>
          <a:prstGeom prst="line">
            <a:avLst/>
          </a:prstGeom>
          <a:noFill/>
          <a:ln w="9525" cap="flat" cmpd="sng" algn="ctr">
            <a:solidFill>
              <a:srgbClr val="000000"/>
            </a:solidFill>
            <a:prstDash val="solid"/>
          </a:ln>
          <a:effectLst/>
        </p:spPr>
      </p:cxnSp>
      <p:cxnSp>
        <p:nvCxnSpPr>
          <p:cNvPr id="439" name="Straight Connector 438">
            <a:extLst>
              <a:ext uri="{FF2B5EF4-FFF2-40B4-BE49-F238E27FC236}">
                <a16:creationId xmlns:a16="http://schemas.microsoft.com/office/drawing/2014/main" id="{9D811EE1-454D-B44D-B3C7-5257C43AF9EF}"/>
              </a:ext>
            </a:extLst>
          </p:cNvPr>
          <p:cNvCxnSpPr/>
          <p:nvPr/>
        </p:nvCxnSpPr>
        <p:spPr bwMode="auto">
          <a:xfrm rot="10800000">
            <a:off x="4294188" y="1860422"/>
            <a:ext cx="531812" cy="0"/>
          </a:xfrm>
          <a:prstGeom prst="line">
            <a:avLst/>
          </a:prstGeom>
          <a:noFill/>
          <a:ln w="952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3DB7E325-0415-EB46-A933-1A825FB1EF27}"/>
              </a:ext>
            </a:extLst>
          </p:cNvPr>
          <p:cNvCxnSpPr/>
          <p:nvPr/>
        </p:nvCxnSpPr>
        <p:spPr bwMode="auto">
          <a:xfrm rot="10800000">
            <a:off x="6646863" y="1860422"/>
            <a:ext cx="530225" cy="0"/>
          </a:xfrm>
          <a:prstGeom prst="line">
            <a:avLst/>
          </a:prstGeom>
          <a:noFill/>
          <a:ln w="9525" cap="flat" cmpd="sng" algn="ctr">
            <a:solidFill>
              <a:srgbClr val="000000"/>
            </a:solidFill>
            <a:prstDash val="solid"/>
          </a:ln>
          <a:effectLst/>
        </p:spPr>
      </p:cxnSp>
      <p:sp>
        <p:nvSpPr>
          <p:cNvPr id="441" name="Arc 440">
            <a:extLst>
              <a:ext uri="{FF2B5EF4-FFF2-40B4-BE49-F238E27FC236}">
                <a16:creationId xmlns:a16="http://schemas.microsoft.com/office/drawing/2014/main" id="{F3682F77-470D-6D4D-BC43-D73F8E4E433F}"/>
              </a:ext>
            </a:extLst>
          </p:cNvPr>
          <p:cNvSpPr/>
          <p:nvPr/>
        </p:nvSpPr>
        <p:spPr bwMode="auto">
          <a:xfrm>
            <a:off x="3402013" y="1287258"/>
            <a:ext cx="4460875" cy="429873"/>
          </a:xfrm>
          <a:prstGeom prst="arc">
            <a:avLst>
              <a:gd name="adj1" fmla="val 10681875"/>
              <a:gd name="adj2" fmla="val 0"/>
            </a:avLst>
          </a:prstGeom>
          <a:noFill/>
          <a:ln w="9525"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Gill Sans MT"/>
              <a:ea typeface="+mn-ea"/>
              <a:cs typeface="Arial"/>
            </a:endParaRPr>
          </a:p>
        </p:txBody>
      </p:sp>
      <p:cxnSp>
        <p:nvCxnSpPr>
          <p:cNvPr id="442" name="Straight Connector 441">
            <a:extLst>
              <a:ext uri="{FF2B5EF4-FFF2-40B4-BE49-F238E27FC236}">
                <a16:creationId xmlns:a16="http://schemas.microsoft.com/office/drawing/2014/main" id="{E797CE32-D445-834C-859C-100D3C4F78C7}"/>
              </a:ext>
            </a:extLst>
          </p:cNvPr>
          <p:cNvCxnSpPr/>
          <p:nvPr/>
        </p:nvCxnSpPr>
        <p:spPr bwMode="auto">
          <a:xfrm rot="16200000" flipH="1">
            <a:off x="8586060" y="2178599"/>
            <a:ext cx="501519" cy="325438"/>
          </a:xfrm>
          <a:prstGeom prst="line">
            <a:avLst/>
          </a:prstGeom>
          <a:noFill/>
          <a:ln w="9525" cap="flat" cmpd="sng" algn="ctr">
            <a:solidFill>
              <a:srgbClr val="000000"/>
            </a:solidFill>
            <a:prstDash val="solid"/>
          </a:ln>
          <a:effectLst/>
        </p:spPr>
      </p:cxnSp>
      <p:cxnSp>
        <p:nvCxnSpPr>
          <p:cNvPr id="443" name="Straight Connector 442">
            <a:extLst>
              <a:ext uri="{FF2B5EF4-FFF2-40B4-BE49-F238E27FC236}">
                <a16:creationId xmlns:a16="http://schemas.microsoft.com/office/drawing/2014/main" id="{B727CE1B-773D-7F4D-9C71-0B340FA2D0A8}"/>
              </a:ext>
            </a:extLst>
          </p:cNvPr>
          <p:cNvCxnSpPr>
            <a:cxnSpLocks/>
          </p:cNvCxnSpPr>
          <p:nvPr/>
        </p:nvCxnSpPr>
        <p:spPr bwMode="auto">
          <a:xfrm rot="16200000" flipH="1">
            <a:off x="3390276" y="2254903"/>
            <a:ext cx="429873" cy="244475"/>
          </a:xfrm>
          <a:prstGeom prst="line">
            <a:avLst/>
          </a:prstGeom>
          <a:noFill/>
          <a:ln w="9525" cap="flat" cmpd="sng" algn="ctr">
            <a:solidFill>
              <a:srgbClr val="000000"/>
            </a:solidFill>
            <a:prstDash val="solid"/>
          </a:ln>
          <a:effectLst/>
        </p:spPr>
      </p:cxnSp>
      <p:cxnSp>
        <p:nvCxnSpPr>
          <p:cNvPr id="444" name="Straight Connector 443">
            <a:extLst>
              <a:ext uri="{FF2B5EF4-FFF2-40B4-BE49-F238E27FC236}">
                <a16:creationId xmlns:a16="http://schemas.microsoft.com/office/drawing/2014/main" id="{3D999D2F-3D6C-EE46-ACFF-9A94460799DD}"/>
              </a:ext>
            </a:extLst>
          </p:cNvPr>
          <p:cNvCxnSpPr/>
          <p:nvPr/>
        </p:nvCxnSpPr>
        <p:spPr bwMode="auto">
          <a:xfrm rot="16200000" flipH="1">
            <a:off x="3957807" y="2972152"/>
            <a:ext cx="429873" cy="242888"/>
          </a:xfrm>
          <a:prstGeom prst="line">
            <a:avLst/>
          </a:prstGeom>
          <a:noFill/>
          <a:ln w="9525" cap="flat" cmpd="sng" algn="ctr">
            <a:solidFill>
              <a:srgbClr val="000000"/>
            </a:solidFill>
            <a:prstDash val="solid"/>
          </a:ln>
          <a:effectLst/>
        </p:spPr>
      </p:cxnSp>
      <p:cxnSp>
        <p:nvCxnSpPr>
          <p:cNvPr id="445" name="Straight Connector 444">
            <a:extLst>
              <a:ext uri="{FF2B5EF4-FFF2-40B4-BE49-F238E27FC236}">
                <a16:creationId xmlns:a16="http://schemas.microsoft.com/office/drawing/2014/main" id="{77B3FFCD-6B4E-B04D-B26D-CDEAE7B3C9BE}"/>
              </a:ext>
            </a:extLst>
          </p:cNvPr>
          <p:cNvCxnSpPr/>
          <p:nvPr/>
        </p:nvCxnSpPr>
        <p:spPr bwMode="auto">
          <a:xfrm rot="10800000" flipV="1">
            <a:off x="4051300" y="2018914"/>
            <a:ext cx="3163888" cy="726904"/>
          </a:xfrm>
          <a:prstGeom prst="line">
            <a:avLst/>
          </a:prstGeom>
          <a:noFill/>
          <a:ln w="9525" cap="flat" cmpd="sng" algn="ctr">
            <a:solidFill>
              <a:srgbClr val="000000"/>
            </a:solidFill>
            <a:prstDash val="solid"/>
          </a:ln>
          <a:effectLst/>
        </p:spPr>
      </p:cxnSp>
      <p:cxnSp>
        <p:nvCxnSpPr>
          <p:cNvPr id="446" name="Straight Connector 445">
            <a:extLst>
              <a:ext uri="{FF2B5EF4-FFF2-40B4-BE49-F238E27FC236}">
                <a16:creationId xmlns:a16="http://schemas.microsoft.com/office/drawing/2014/main" id="{5A6922CA-5A15-4F48-88FD-5174505CA917}"/>
              </a:ext>
            </a:extLst>
          </p:cNvPr>
          <p:cNvCxnSpPr/>
          <p:nvPr/>
        </p:nvCxnSpPr>
        <p:spPr bwMode="auto">
          <a:xfrm rot="16200000" flipH="1">
            <a:off x="6125374" y="2196331"/>
            <a:ext cx="474651" cy="406400"/>
          </a:xfrm>
          <a:prstGeom prst="line">
            <a:avLst/>
          </a:prstGeom>
          <a:noFill/>
          <a:ln w="9525" cap="flat" cmpd="sng" algn="ctr">
            <a:solidFill>
              <a:srgbClr val="000000"/>
            </a:solidFill>
            <a:prstDash val="solid"/>
          </a:ln>
          <a:effectLst/>
        </p:spPr>
      </p:cxnSp>
      <p:cxnSp>
        <p:nvCxnSpPr>
          <p:cNvPr id="447" name="Straight Connector 446">
            <a:extLst>
              <a:ext uri="{FF2B5EF4-FFF2-40B4-BE49-F238E27FC236}">
                <a16:creationId xmlns:a16="http://schemas.microsoft.com/office/drawing/2014/main" id="{4E43A483-DD26-0944-984C-9FFBA432C53A}"/>
              </a:ext>
            </a:extLst>
          </p:cNvPr>
          <p:cNvCxnSpPr/>
          <p:nvPr/>
        </p:nvCxnSpPr>
        <p:spPr bwMode="auto">
          <a:xfrm rot="5400000">
            <a:off x="4730778" y="2617790"/>
            <a:ext cx="1074683" cy="163512"/>
          </a:xfrm>
          <a:prstGeom prst="line">
            <a:avLst/>
          </a:prstGeom>
          <a:noFill/>
          <a:ln w="9525" cap="flat" cmpd="sng" algn="ctr">
            <a:solidFill>
              <a:srgbClr val="000000"/>
            </a:solidFill>
            <a:prstDash val="solid"/>
          </a:ln>
          <a:effectLst/>
        </p:spPr>
      </p:cxnSp>
      <p:cxnSp>
        <p:nvCxnSpPr>
          <p:cNvPr id="448" name="Straight Connector 447">
            <a:extLst>
              <a:ext uri="{FF2B5EF4-FFF2-40B4-BE49-F238E27FC236}">
                <a16:creationId xmlns:a16="http://schemas.microsoft.com/office/drawing/2014/main" id="{A6413169-1F86-9049-BAB4-CB7FC662559B}"/>
              </a:ext>
            </a:extLst>
          </p:cNvPr>
          <p:cNvCxnSpPr/>
          <p:nvPr/>
        </p:nvCxnSpPr>
        <p:spPr bwMode="auto">
          <a:xfrm rot="16200000" flipH="1">
            <a:off x="6584535" y="3012633"/>
            <a:ext cx="286582" cy="161925"/>
          </a:xfrm>
          <a:prstGeom prst="line">
            <a:avLst/>
          </a:prstGeom>
          <a:noFill/>
          <a:ln w="9525" cap="flat" cmpd="sng" algn="ctr">
            <a:noFill/>
            <a:prstDash val="solid"/>
          </a:ln>
          <a:effectLst/>
        </p:spPr>
      </p:cxnSp>
      <p:cxnSp>
        <p:nvCxnSpPr>
          <p:cNvPr id="449" name="Straight Connector 448">
            <a:extLst>
              <a:ext uri="{FF2B5EF4-FFF2-40B4-BE49-F238E27FC236}">
                <a16:creationId xmlns:a16="http://schemas.microsoft.com/office/drawing/2014/main" id="{19A50683-7013-9449-840A-903577766A0A}"/>
              </a:ext>
            </a:extLst>
          </p:cNvPr>
          <p:cNvCxnSpPr/>
          <p:nvPr/>
        </p:nvCxnSpPr>
        <p:spPr bwMode="auto">
          <a:xfrm rot="10800000" flipV="1">
            <a:off x="5430838" y="2878660"/>
            <a:ext cx="811212" cy="511967"/>
          </a:xfrm>
          <a:prstGeom prst="line">
            <a:avLst/>
          </a:prstGeom>
          <a:noFill/>
          <a:ln w="9525" cap="flat" cmpd="sng" algn="ctr">
            <a:solidFill>
              <a:srgbClr val="000000"/>
            </a:solidFill>
            <a:prstDash val="solid"/>
          </a:ln>
          <a:effectLst/>
        </p:spPr>
      </p:cxnSp>
      <p:cxnSp>
        <p:nvCxnSpPr>
          <p:cNvPr id="450" name="Straight Connector 449">
            <a:extLst>
              <a:ext uri="{FF2B5EF4-FFF2-40B4-BE49-F238E27FC236}">
                <a16:creationId xmlns:a16="http://schemas.microsoft.com/office/drawing/2014/main" id="{F41BF13C-E29D-B649-B6A6-97965B9958D9}"/>
              </a:ext>
            </a:extLst>
          </p:cNvPr>
          <p:cNvCxnSpPr>
            <a:stCxn id="456" idx="5"/>
          </p:cNvCxnSpPr>
          <p:nvPr/>
        </p:nvCxnSpPr>
        <p:spPr bwMode="auto">
          <a:xfrm rot="16200000" flipH="1">
            <a:off x="4491313" y="1687018"/>
            <a:ext cx="1382161" cy="2281238"/>
          </a:xfrm>
          <a:prstGeom prst="line">
            <a:avLst/>
          </a:prstGeom>
          <a:noFill/>
          <a:ln w="9525" cap="flat" cmpd="sng" algn="ctr">
            <a:solidFill>
              <a:srgbClr val="000000"/>
            </a:solidFill>
            <a:prstDash val="solid"/>
          </a:ln>
          <a:effectLst/>
        </p:spPr>
      </p:cxnSp>
      <p:cxnSp>
        <p:nvCxnSpPr>
          <p:cNvPr id="451" name="Straight Connector 450">
            <a:extLst>
              <a:ext uri="{FF2B5EF4-FFF2-40B4-BE49-F238E27FC236}">
                <a16:creationId xmlns:a16="http://schemas.microsoft.com/office/drawing/2014/main" id="{27962ADA-D295-E344-A911-5EFFAC81A093}"/>
              </a:ext>
            </a:extLst>
          </p:cNvPr>
          <p:cNvCxnSpPr>
            <a:cxnSpLocks/>
          </p:cNvCxnSpPr>
          <p:nvPr/>
        </p:nvCxnSpPr>
        <p:spPr bwMode="auto">
          <a:xfrm rot="16200000" flipH="1">
            <a:off x="8678012" y="3586364"/>
            <a:ext cx="1371713" cy="242888"/>
          </a:xfrm>
          <a:prstGeom prst="line">
            <a:avLst/>
          </a:prstGeom>
          <a:noFill/>
          <a:ln w="9525" cap="flat" cmpd="sng" algn="ctr">
            <a:solidFill>
              <a:srgbClr val="000000"/>
            </a:solidFill>
            <a:prstDash val="solid"/>
          </a:ln>
          <a:effectLst/>
        </p:spPr>
      </p:cxnSp>
      <p:cxnSp>
        <p:nvCxnSpPr>
          <p:cNvPr id="452" name="Straight Connector 451">
            <a:extLst>
              <a:ext uri="{FF2B5EF4-FFF2-40B4-BE49-F238E27FC236}">
                <a16:creationId xmlns:a16="http://schemas.microsoft.com/office/drawing/2014/main" id="{F1825348-2292-1941-85BD-4D5ABB9502AF}"/>
              </a:ext>
            </a:extLst>
          </p:cNvPr>
          <p:cNvCxnSpPr/>
          <p:nvPr/>
        </p:nvCxnSpPr>
        <p:spPr bwMode="auto">
          <a:xfrm rot="5400000">
            <a:off x="7669052" y="3134824"/>
            <a:ext cx="1443359" cy="1217613"/>
          </a:xfrm>
          <a:prstGeom prst="line">
            <a:avLst/>
          </a:prstGeom>
          <a:noFill/>
          <a:ln w="9525" cap="flat" cmpd="sng" algn="ctr">
            <a:solidFill>
              <a:srgbClr val="000000"/>
            </a:solidFill>
            <a:prstDash val="solid"/>
          </a:ln>
          <a:effectLst/>
        </p:spPr>
      </p:cxnSp>
      <p:cxnSp>
        <p:nvCxnSpPr>
          <p:cNvPr id="453" name="Straight Connector 452">
            <a:extLst>
              <a:ext uri="{FF2B5EF4-FFF2-40B4-BE49-F238E27FC236}">
                <a16:creationId xmlns:a16="http://schemas.microsoft.com/office/drawing/2014/main" id="{70E05AEB-33C1-F146-A41B-426553EF3738}"/>
              </a:ext>
            </a:extLst>
          </p:cNvPr>
          <p:cNvCxnSpPr>
            <a:cxnSpLocks/>
          </p:cNvCxnSpPr>
          <p:nvPr/>
        </p:nvCxnSpPr>
        <p:spPr bwMode="auto">
          <a:xfrm rot="10800000" flipV="1">
            <a:off x="7620000" y="2807014"/>
            <a:ext cx="1298575" cy="440322"/>
          </a:xfrm>
          <a:prstGeom prst="line">
            <a:avLst/>
          </a:prstGeom>
          <a:noFill/>
          <a:ln w="9525" cap="flat" cmpd="sng" algn="ctr">
            <a:solidFill>
              <a:srgbClr val="000000"/>
            </a:solidFill>
            <a:prstDash val="solid"/>
          </a:ln>
          <a:effectLst/>
        </p:spPr>
      </p:cxnSp>
      <p:cxnSp>
        <p:nvCxnSpPr>
          <p:cNvPr id="454" name="Straight Connector 453">
            <a:extLst>
              <a:ext uri="{FF2B5EF4-FFF2-40B4-BE49-F238E27FC236}">
                <a16:creationId xmlns:a16="http://schemas.microsoft.com/office/drawing/2014/main" id="{D8015E4B-28EF-5944-BD89-CFE5203E8D04}"/>
              </a:ext>
            </a:extLst>
          </p:cNvPr>
          <p:cNvCxnSpPr>
            <a:cxnSpLocks/>
          </p:cNvCxnSpPr>
          <p:nvPr/>
        </p:nvCxnSpPr>
        <p:spPr bwMode="auto">
          <a:xfrm rot="10800000" flipV="1">
            <a:off x="6889750" y="2162205"/>
            <a:ext cx="830263" cy="573164"/>
          </a:xfrm>
          <a:prstGeom prst="line">
            <a:avLst/>
          </a:prstGeom>
          <a:noFill/>
          <a:ln w="9525" cap="flat" cmpd="sng" algn="ctr">
            <a:solidFill>
              <a:srgbClr val="000000"/>
            </a:solidFill>
            <a:prstDash val="solid"/>
          </a:ln>
          <a:effectLst/>
        </p:spPr>
      </p:cxnSp>
      <p:cxnSp>
        <p:nvCxnSpPr>
          <p:cNvPr id="455" name="Straight Connector 454">
            <a:extLst>
              <a:ext uri="{FF2B5EF4-FFF2-40B4-BE49-F238E27FC236}">
                <a16:creationId xmlns:a16="http://schemas.microsoft.com/office/drawing/2014/main" id="{AFF03100-2980-DA4E-A72E-FE2723506844}"/>
              </a:ext>
            </a:extLst>
          </p:cNvPr>
          <p:cNvCxnSpPr/>
          <p:nvPr/>
        </p:nvCxnSpPr>
        <p:spPr bwMode="auto">
          <a:xfrm>
            <a:off x="6510338" y="2026377"/>
            <a:ext cx="2433637" cy="644810"/>
          </a:xfrm>
          <a:prstGeom prst="line">
            <a:avLst/>
          </a:prstGeom>
          <a:noFill/>
          <a:ln w="9525" cap="flat" cmpd="sng" algn="ctr">
            <a:solidFill>
              <a:srgbClr val="000000"/>
            </a:solidFill>
            <a:prstDash val="solid"/>
          </a:ln>
          <a:effectLst/>
        </p:spPr>
      </p:cxnSp>
      <p:sp>
        <p:nvSpPr>
          <p:cNvPr id="456" name="Oval 34">
            <a:extLst>
              <a:ext uri="{FF2B5EF4-FFF2-40B4-BE49-F238E27FC236}">
                <a16:creationId xmlns:a16="http://schemas.microsoft.com/office/drawing/2014/main" id="{7403379F-8BEC-BC46-847F-B0D2D30F0E6E}"/>
              </a:ext>
            </a:extLst>
          </p:cNvPr>
          <p:cNvSpPr>
            <a:spLocks noChangeArrowheads="1"/>
          </p:cNvSpPr>
          <p:nvPr/>
        </p:nvSpPr>
        <p:spPr bwMode="auto">
          <a:xfrm>
            <a:off x="2347913" y="1502195"/>
            <a:ext cx="1984375" cy="743322"/>
          </a:xfrm>
          <a:prstGeom prst="ellipse">
            <a:avLst/>
          </a:prstGeom>
          <a:solidFill>
            <a:srgbClr val="0000A8"/>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Arial"/>
              </a:rPr>
              <a:t>Tier 1 ISP</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57" name="Oval 34">
            <a:extLst>
              <a:ext uri="{FF2B5EF4-FFF2-40B4-BE49-F238E27FC236}">
                <a16:creationId xmlns:a16="http://schemas.microsoft.com/office/drawing/2014/main" id="{919B70EA-11EB-9443-AD39-281E578EDE0A}"/>
              </a:ext>
            </a:extLst>
          </p:cNvPr>
          <p:cNvSpPr>
            <a:spLocks noChangeArrowheads="1"/>
          </p:cNvSpPr>
          <p:nvPr/>
        </p:nvSpPr>
        <p:spPr bwMode="auto">
          <a:xfrm>
            <a:off x="4700588" y="1502195"/>
            <a:ext cx="1982787" cy="743322"/>
          </a:xfrm>
          <a:prstGeom prst="ellipse">
            <a:avLst/>
          </a:prstGeom>
          <a:solidFill>
            <a:srgbClr val="0000A8"/>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Tier 1 ISP</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59" name="Oval 33">
            <a:extLst>
              <a:ext uri="{FF2B5EF4-FFF2-40B4-BE49-F238E27FC236}">
                <a16:creationId xmlns:a16="http://schemas.microsoft.com/office/drawing/2014/main" id="{F16DC38B-A491-5046-83FC-63C66E2CFF83}"/>
              </a:ext>
            </a:extLst>
          </p:cNvPr>
          <p:cNvSpPr>
            <a:spLocks noChangeArrowheads="1"/>
          </p:cNvSpPr>
          <p:nvPr/>
        </p:nvSpPr>
        <p:spPr bwMode="auto">
          <a:xfrm>
            <a:off x="3727450" y="3165242"/>
            <a:ext cx="1982788" cy="743322"/>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chemeClr val="tx1">
                    <a:lumMod val="65000"/>
                    <a:lumOff val="35000"/>
                  </a:schemeClr>
                </a:solidFill>
                <a:effectLst/>
                <a:uLnTx/>
                <a:uFillTx/>
                <a:latin typeface="Arial" panose="020B0604020202020204" pitchFamily="34" charset="0"/>
                <a:ea typeface="ＭＳ Ｐゴシック" panose="020B0600070205080204" pitchFamily="34" charset="-128"/>
                <a:cs typeface="Arial"/>
              </a:rPr>
              <a:t>Regional ISP</a:t>
            </a:r>
          </a:p>
        </p:txBody>
      </p:sp>
      <p:sp>
        <p:nvSpPr>
          <p:cNvPr id="460" name="Oval 33">
            <a:extLst>
              <a:ext uri="{FF2B5EF4-FFF2-40B4-BE49-F238E27FC236}">
                <a16:creationId xmlns:a16="http://schemas.microsoft.com/office/drawing/2014/main" id="{C9724305-E472-CB48-B1A6-BABAE389FED6}"/>
              </a:ext>
            </a:extLst>
          </p:cNvPr>
          <p:cNvSpPr>
            <a:spLocks noChangeArrowheads="1"/>
          </p:cNvSpPr>
          <p:nvPr/>
        </p:nvSpPr>
        <p:spPr bwMode="auto">
          <a:xfrm>
            <a:off x="6242050" y="3165242"/>
            <a:ext cx="1982788" cy="743322"/>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chemeClr val="tx1">
                    <a:lumMod val="65000"/>
                    <a:lumOff val="35000"/>
                  </a:schemeClr>
                </a:solidFill>
                <a:effectLst/>
                <a:uLnTx/>
                <a:uFillTx/>
                <a:latin typeface="Arial" panose="020B0604020202020204" pitchFamily="34" charset="0"/>
                <a:ea typeface="ＭＳ Ｐゴシック" panose="020B0600070205080204" pitchFamily="34" charset="-128"/>
                <a:cs typeface="Arial"/>
              </a:rPr>
              <a:t>Regional ISP</a:t>
            </a:r>
          </a:p>
        </p:txBody>
      </p:sp>
      <p:sp>
        <p:nvSpPr>
          <p:cNvPr id="461" name="Oval 76">
            <a:extLst>
              <a:ext uri="{FF2B5EF4-FFF2-40B4-BE49-F238E27FC236}">
                <a16:creationId xmlns:a16="http://schemas.microsoft.com/office/drawing/2014/main" id="{391AA46F-6A98-C942-87ED-081AD5B706CC}"/>
              </a:ext>
            </a:extLst>
          </p:cNvPr>
          <p:cNvSpPr>
            <a:spLocks noChangeArrowheads="1"/>
          </p:cNvSpPr>
          <p:nvPr/>
        </p:nvSpPr>
        <p:spPr bwMode="auto">
          <a:xfrm>
            <a:off x="3240088"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sp>
        <p:nvSpPr>
          <p:cNvPr id="462" name="Oval 76">
            <a:extLst>
              <a:ext uri="{FF2B5EF4-FFF2-40B4-BE49-F238E27FC236}">
                <a16:creationId xmlns:a16="http://schemas.microsoft.com/office/drawing/2014/main" id="{FCCCE50F-BBF8-C548-85FF-BD6B37225017}"/>
              </a:ext>
            </a:extLst>
          </p:cNvPr>
          <p:cNvSpPr>
            <a:spLocks noChangeArrowheads="1"/>
          </p:cNvSpPr>
          <p:nvPr/>
        </p:nvSpPr>
        <p:spPr bwMode="auto">
          <a:xfrm>
            <a:off x="2266950"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sp>
        <p:nvSpPr>
          <p:cNvPr id="463" name="Oval 76">
            <a:extLst>
              <a:ext uri="{FF2B5EF4-FFF2-40B4-BE49-F238E27FC236}">
                <a16:creationId xmlns:a16="http://schemas.microsoft.com/office/drawing/2014/main" id="{F63F91B6-CBFC-0C42-9EED-5D94825403E7}"/>
              </a:ext>
            </a:extLst>
          </p:cNvPr>
          <p:cNvSpPr>
            <a:spLocks noChangeArrowheads="1"/>
          </p:cNvSpPr>
          <p:nvPr/>
        </p:nvSpPr>
        <p:spPr bwMode="auto">
          <a:xfrm>
            <a:off x="7134225"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sp>
        <p:nvSpPr>
          <p:cNvPr id="464" name="Oval 76">
            <a:extLst>
              <a:ext uri="{FF2B5EF4-FFF2-40B4-BE49-F238E27FC236}">
                <a16:creationId xmlns:a16="http://schemas.microsoft.com/office/drawing/2014/main" id="{0CC0ED7A-0698-274E-845B-180581338599}"/>
              </a:ext>
            </a:extLst>
          </p:cNvPr>
          <p:cNvSpPr>
            <a:spLocks noChangeArrowheads="1"/>
          </p:cNvSpPr>
          <p:nvPr/>
        </p:nvSpPr>
        <p:spPr bwMode="auto">
          <a:xfrm>
            <a:off x="6159500" y="4213880"/>
            <a:ext cx="846138"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sp>
        <p:nvSpPr>
          <p:cNvPr id="465" name="Oval 76">
            <a:extLst>
              <a:ext uri="{FF2B5EF4-FFF2-40B4-BE49-F238E27FC236}">
                <a16:creationId xmlns:a16="http://schemas.microsoft.com/office/drawing/2014/main" id="{5043E7F4-FB4D-9A41-8107-85F65D012D65}"/>
              </a:ext>
            </a:extLst>
          </p:cNvPr>
          <p:cNvSpPr>
            <a:spLocks noChangeArrowheads="1"/>
          </p:cNvSpPr>
          <p:nvPr/>
        </p:nvSpPr>
        <p:spPr bwMode="auto">
          <a:xfrm>
            <a:off x="5186363" y="4213880"/>
            <a:ext cx="846137"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sp>
        <p:nvSpPr>
          <p:cNvPr id="466" name="Oval 76">
            <a:extLst>
              <a:ext uri="{FF2B5EF4-FFF2-40B4-BE49-F238E27FC236}">
                <a16:creationId xmlns:a16="http://schemas.microsoft.com/office/drawing/2014/main" id="{019B9582-8292-2B43-876B-11E7E334FAAF}"/>
              </a:ext>
            </a:extLst>
          </p:cNvPr>
          <p:cNvSpPr>
            <a:spLocks noChangeArrowheads="1"/>
          </p:cNvSpPr>
          <p:nvPr/>
        </p:nvSpPr>
        <p:spPr bwMode="auto">
          <a:xfrm>
            <a:off x="4213225"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sp>
        <p:nvSpPr>
          <p:cNvPr id="467" name="Oval 76">
            <a:extLst>
              <a:ext uri="{FF2B5EF4-FFF2-40B4-BE49-F238E27FC236}">
                <a16:creationId xmlns:a16="http://schemas.microsoft.com/office/drawing/2014/main" id="{71C26863-28CD-0841-A043-C33419B4C3F8}"/>
              </a:ext>
            </a:extLst>
          </p:cNvPr>
          <p:cNvSpPr>
            <a:spLocks noChangeArrowheads="1"/>
          </p:cNvSpPr>
          <p:nvPr/>
        </p:nvSpPr>
        <p:spPr bwMode="auto">
          <a:xfrm>
            <a:off x="8107363"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sp>
        <p:nvSpPr>
          <p:cNvPr id="468" name="Oval 76">
            <a:extLst>
              <a:ext uri="{FF2B5EF4-FFF2-40B4-BE49-F238E27FC236}">
                <a16:creationId xmlns:a16="http://schemas.microsoft.com/office/drawing/2014/main" id="{E09B65C0-7813-1B48-A77E-DBAB11081582}"/>
              </a:ext>
            </a:extLst>
          </p:cNvPr>
          <p:cNvSpPr>
            <a:spLocks noChangeArrowheads="1"/>
          </p:cNvSpPr>
          <p:nvPr/>
        </p:nvSpPr>
        <p:spPr bwMode="auto">
          <a:xfrm>
            <a:off x="9080500"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access</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ISP</a:t>
            </a:r>
          </a:p>
        </p:txBody>
      </p:sp>
      <p:grpSp>
        <p:nvGrpSpPr>
          <p:cNvPr id="7" name="Group 6">
            <a:extLst>
              <a:ext uri="{FF2B5EF4-FFF2-40B4-BE49-F238E27FC236}">
                <a16:creationId xmlns:a16="http://schemas.microsoft.com/office/drawing/2014/main" id="{2F7EA502-E5E7-2148-84FF-7709E5DCC565}"/>
              </a:ext>
            </a:extLst>
          </p:cNvPr>
          <p:cNvGrpSpPr/>
          <p:nvPr/>
        </p:nvGrpSpPr>
        <p:grpSpPr>
          <a:xfrm>
            <a:off x="3480201" y="2531935"/>
            <a:ext cx="869150" cy="502396"/>
            <a:chOff x="553316" y="2997818"/>
            <a:chExt cx="869150" cy="534333"/>
          </a:xfrm>
        </p:grpSpPr>
        <p:sp>
          <p:nvSpPr>
            <p:cNvPr id="474" name="Oval 14">
              <a:extLst>
                <a:ext uri="{FF2B5EF4-FFF2-40B4-BE49-F238E27FC236}">
                  <a16:creationId xmlns:a16="http://schemas.microsoft.com/office/drawing/2014/main" id="{C524E6F7-4D23-5B41-81CB-2E8F6A351BF1}"/>
                </a:ext>
              </a:extLst>
            </p:cNvPr>
            <p:cNvSpPr>
              <a:spLocks noChangeArrowheads="1"/>
            </p:cNvSpPr>
            <p:nvPr/>
          </p:nvSpPr>
          <p:spPr bwMode="auto">
            <a:xfrm>
              <a:off x="553316" y="2997818"/>
              <a:ext cx="869150" cy="523220"/>
            </a:xfrm>
            <a:prstGeom prst="ellipse">
              <a:avLst/>
            </a:prstGeom>
            <a:solidFill>
              <a:srgbClr val="0000F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475" name="TextBox 15">
              <a:extLst>
                <a:ext uri="{FF2B5EF4-FFF2-40B4-BE49-F238E27FC236}">
                  <a16:creationId xmlns:a16="http://schemas.microsoft.com/office/drawing/2014/main" id="{53F84AD2-D7E5-C147-8E47-5AD01774FFBE}"/>
                </a:ext>
              </a:extLst>
            </p:cNvPr>
            <p:cNvSpPr txBox="1">
              <a:spLocks noChangeArrowheads="1"/>
            </p:cNvSpPr>
            <p:nvPr/>
          </p:nvSpPr>
          <p:spPr bwMode="auto">
            <a:xfrm>
              <a:off x="684127" y="3008931"/>
              <a:ext cx="6463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chemeClr val="bg1"/>
                  </a:solidFill>
                  <a:latin typeface="+mn-lt"/>
                </a:rPr>
                <a:t>IXP</a:t>
              </a:r>
              <a:endParaRPr lang="en-US" altLang="en-US" sz="1600" dirty="0">
                <a:solidFill>
                  <a:schemeClr val="bg1"/>
                </a:solidFill>
                <a:latin typeface="+mn-lt"/>
              </a:endParaRPr>
            </a:p>
          </p:txBody>
        </p:sp>
      </p:grpSp>
      <p:grpSp>
        <p:nvGrpSpPr>
          <p:cNvPr id="477" name="Group 476">
            <a:extLst>
              <a:ext uri="{FF2B5EF4-FFF2-40B4-BE49-F238E27FC236}">
                <a16:creationId xmlns:a16="http://schemas.microsoft.com/office/drawing/2014/main" id="{EA985D80-092A-944F-9CC9-1AC8F8CA8DAE}"/>
              </a:ext>
            </a:extLst>
          </p:cNvPr>
          <p:cNvGrpSpPr/>
          <p:nvPr/>
        </p:nvGrpSpPr>
        <p:grpSpPr>
          <a:xfrm>
            <a:off x="6173793" y="2537627"/>
            <a:ext cx="869150" cy="502396"/>
            <a:chOff x="553316" y="2997818"/>
            <a:chExt cx="869150" cy="534333"/>
          </a:xfrm>
        </p:grpSpPr>
        <p:sp>
          <p:nvSpPr>
            <p:cNvPr id="478" name="Oval 14">
              <a:extLst>
                <a:ext uri="{FF2B5EF4-FFF2-40B4-BE49-F238E27FC236}">
                  <a16:creationId xmlns:a16="http://schemas.microsoft.com/office/drawing/2014/main" id="{3075AFD6-086D-9B47-BCFB-D0B3D834CEAB}"/>
                </a:ext>
              </a:extLst>
            </p:cNvPr>
            <p:cNvSpPr>
              <a:spLocks noChangeArrowheads="1"/>
            </p:cNvSpPr>
            <p:nvPr/>
          </p:nvSpPr>
          <p:spPr bwMode="auto">
            <a:xfrm>
              <a:off x="553316" y="2997818"/>
              <a:ext cx="869150" cy="523220"/>
            </a:xfrm>
            <a:prstGeom prst="ellipse">
              <a:avLst/>
            </a:prstGeom>
            <a:solidFill>
              <a:srgbClr val="0000F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479" name="TextBox 15">
              <a:extLst>
                <a:ext uri="{FF2B5EF4-FFF2-40B4-BE49-F238E27FC236}">
                  <a16:creationId xmlns:a16="http://schemas.microsoft.com/office/drawing/2014/main" id="{73956B90-EF11-724A-BB25-B8F47353BEC1}"/>
                </a:ext>
              </a:extLst>
            </p:cNvPr>
            <p:cNvSpPr txBox="1">
              <a:spLocks noChangeArrowheads="1"/>
            </p:cNvSpPr>
            <p:nvPr/>
          </p:nvSpPr>
          <p:spPr bwMode="auto">
            <a:xfrm>
              <a:off x="684127" y="3008931"/>
              <a:ext cx="6463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chemeClr val="bg1"/>
                  </a:solidFill>
                  <a:latin typeface="+mn-lt"/>
                </a:rPr>
                <a:t>IXP</a:t>
              </a:r>
              <a:endParaRPr lang="en-US" altLang="en-US" sz="1600" dirty="0">
                <a:solidFill>
                  <a:schemeClr val="bg1"/>
                </a:solidFill>
                <a:latin typeface="+mn-lt"/>
              </a:endParaRPr>
            </a:p>
          </p:txBody>
        </p:sp>
      </p:grpSp>
      <p:grpSp>
        <p:nvGrpSpPr>
          <p:cNvPr id="480" name="Group 479">
            <a:extLst>
              <a:ext uri="{FF2B5EF4-FFF2-40B4-BE49-F238E27FC236}">
                <a16:creationId xmlns:a16="http://schemas.microsoft.com/office/drawing/2014/main" id="{0429A9DE-1B7C-1047-9DD9-C9752FE5E0AA}"/>
              </a:ext>
            </a:extLst>
          </p:cNvPr>
          <p:cNvGrpSpPr/>
          <p:nvPr/>
        </p:nvGrpSpPr>
        <p:grpSpPr>
          <a:xfrm>
            <a:off x="8807849" y="2554323"/>
            <a:ext cx="869150" cy="502396"/>
            <a:chOff x="553316" y="2997818"/>
            <a:chExt cx="869150" cy="534333"/>
          </a:xfrm>
        </p:grpSpPr>
        <p:sp>
          <p:nvSpPr>
            <p:cNvPr id="481" name="Oval 14">
              <a:extLst>
                <a:ext uri="{FF2B5EF4-FFF2-40B4-BE49-F238E27FC236}">
                  <a16:creationId xmlns:a16="http://schemas.microsoft.com/office/drawing/2014/main" id="{128739BB-76B0-4A48-9704-CAFF7205AEB4}"/>
                </a:ext>
              </a:extLst>
            </p:cNvPr>
            <p:cNvSpPr>
              <a:spLocks noChangeArrowheads="1"/>
            </p:cNvSpPr>
            <p:nvPr/>
          </p:nvSpPr>
          <p:spPr bwMode="auto">
            <a:xfrm>
              <a:off x="553316" y="2997818"/>
              <a:ext cx="869150" cy="523220"/>
            </a:xfrm>
            <a:prstGeom prst="ellipse">
              <a:avLst/>
            </a:prstGeom>
            <a:solidFill>
              <a:srgbClr val="0000F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482" name="TextBox 15">
              <a:extLst>
                <a:ext uri="{FF2B5EF4-FFF2-40B4-BE49-F238E27FC236}">
                  <a16:creationId xmlns:a16="http://schemas.microsoft.com/office/drawing/2014/main" id="{5AC63B6D-51CB-924B-A12A-9A9BD196B4C5}"/>
                </a:ext>
              </a:extLst>
            </p:cNvPr>
            <p:cNvSpPr txBox="1">
              <a:spLocks noChangeArrowheads="1"/>
            </p:cNvSpPr>
            <p:nvPr/>
          </p:nvSpPr>
          <p:spPr bwMode="auto">
            <a:xfrm>
              <a:off x="684127" y="3008931"/>
              <a:ext cx="6463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chemeClr val="bg1"/>
                  </a:solidFill>
                  <a:latin typeface="+mn-lt"/>
                </a:rPr>
                <a:t>IXP</a:t>
              </a:r>
              <a:endParaRPr lang="en-US" altLang="en-US" sz="1600" dirty="0">
                <a:solidFill>
                  <a:schemeClr val="bg1"/>
                </a:solidFill>
                <a:latin typeface="+mn-lt"/>
              </a:endParaRPr>
            </a:p>
          </p:txBody>
        </p:sp>
      </p:grpSp>
      <p:sp>
        <p:nvSpPr>
          <p:cNvPr id="483" name="Rectangle 3">
            <a:extLst>
              <a:ext uri="{FF2B5EF4-FFF2-40B4-BE49-F238E27FC236}">
                <a16:creationId xmlns:a16="http://schemas.microsoft.com/office/drawing/2014/main" id="{026D98E3-E55A-AA42-BDF8-9795F6D3C3D1}"/>
              </a:ext>
            </a:extLst>
          </p:cNvPr>
          <p:cNvSpPr txBox="1">
            <a:spLocks noChangeArrowheads="1"/>
          </p:cNvSpPr>
          <p:nvPr/>
        </p:nvSpPr>
        <p:spPr>
          <a:xfrm>
            <a:off x="532110" y="5020506"/>
            <a:ext cx="11283366" cy="182721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3500" indent="0">
              <a:buNone/>
            </a:pPr>
            <a:r>
              <a:rPr lang="en-US" altLang="en-US" sz="2400" dirty="0">
                <a:ea typeface="ＭＳ Ｐゴシック" panose="020B0600070205080204" pitchFamily="34" charset="-128"/>
              </a:rPr>
              <a:t>At “center”: small # of well-connected large networks</a:t>
            </a:r>
          </a:p>
          <a:p>
            <a:pPr marL="460375" lvl="1" indent="-280988">
              <a:buFont typeface="Wingdings" pitchFamily="2" charset="2"/>
              <a:buChar char="§"/>
              <a:tabLst>
                <a:tab pos="336550" algn="l"/>
              </a:tabLst>
            </a:pPr>
            <a:r>
              <a:rPr lang="en-US" altLang="ja-JP" dirty="0">
                <a:solidFill>
                  <a:srgbClr val="CC0000"/>
                </a:solidFill>
                <a:ea typeface="ＭＳ Ｐゴシック" panose="020B0600070205080204" pitchFamily="34" charset="-128"/>
              </a:rPr>
              <a:t>“tier-1” commercial ISPs</a:t>
            </a:r>
            <a:r>
              <a:rPr lang="en-US" altLang="ja-JP" dirty="0">
                <a:solidFill>
                  <a:srgbClr val="FF0000"/>
                </a:solidFill>
                <a:ea typeface="ＭＳ Ｐゴシック" panose="020B0600070205080204" pitchFamily="34" charset="-128"/>
              </a:rPr>
              <a:t> </a:t>
            </a:r>
            <a:r>
              <a:rPr lang="en-US" altLang="ja-JP" sz="2000" dirty="0">
                <a:ea typeface="ＭＳ Ｐゴシック" panose="020B0600070205080204" pitchFamily="34" charset="-128"/>
              </a:rPr>
              <a:t>(e.g., Level 3, Sprint, AT&amp;T, NTT), </a:t>
            </a:r>
            <a:r>
              <a:rPr lang="en-US" altLang="ja-JP" dirty="0">
                <a:ea typeface="ＭＳ Ｐゴシック" panose="020B0600070205080204" pitchFamily="34" charset="-128"/>
              </a:rPr>
              <a:t>national &amp; international coverage</a:t>
            </a:r>
          </a:p>
          <a:p>
            <a:pPr marL="460375" lvl="1" indent="-280988">
              <a:buFont typeface="Wingdings" pitchFamily="2" charset="2"/>
              <a:buChar char="§"/>
              <a:tabLst>
                <a:tab pos="336550" algn="l"/>
              </a:tabLst>
            </a:pPr>
            <a:r>
              <a:rPr lang="en-US" altLang="en-US" dirty="0">
                <a:solidFill>
                  <a:srgbClr val="CC0000"/>
                </a:solidFill>
                <a:ea typeface="Arial" panose="020B0604020202020204" pitchFamily="34" charset="0"/>
              </a:rPr>
              <a:t>content provider networks </a:t>
            </a:r>
            <a:r>
              <a:rPr lang="en-US" altLang="en-US" sz="2000" dirty="0">
                <a:ea typeface="Arial" panose="020B0604020202020204" pitchFamily="34" charset="0"/>
              </a:rPr>
              <a:t>(e.g., Google, Facebook): </a:t>
            </a:r>
            <a:r>
              <a:rPr lang="en-US" altLang="en-US" dirty="0">
                <a:ea typeface="Arial" panose="020B0604020202020204" pitchFamily="34" charset="0"/>
              </a:rPr>
              <a:t>private network that connects its data centers to Internet, often bypassing tier-1, regional ISPs</a:t>
            </a:r>
          </a:p>
          <a:p>
            <a:pPr marL="460375" lvl="1" indent="-280988">
              <a:buFont typeface="Wingdings" pitchFamily="2" charset="2"/>
              <a:buChar char="§"/>
              <a:tabLst>
                <a:tab pos="336550" algn="l"/>
              </a:tabLst>
            </a:pPr>
            <a:r>
              <a:rPr lang="en-US" altLang="en-US" sz="2400" dirty="0">
                <a:ea typeface="Arial" panose="020B0604020202020204" pitchFamily="34" charset="0"/>
              </a:rPr>
              <a:t>Example ISP list in Malaysia: </a:t>
            </a:r>
            <a:r>
              <a:rPr lang="en-US" altLang="en-US" sz="2400" dirty="0">
                <a:ea typeface="Arial" panose="020B0604020202020204" pitchFamily="34" charset="0"/>
                <a:hlinkClick r:id="rId3"/>
              </a:rPr>
              <a:t>List</a:t>
            </a:r>
            <a:r>
              <a:rPr lang="en-US" altLang="en-US" sz="2400" dirty="0">
                <a:ea typeface="Arial" panose="020B0604020202020204" pitchFamily="34" charset="0"/>
              </a:rPr>
              <a:t> , </a:t>
            </a:r>
            <a:r>
              <a:rPr lang="en-US" altLang="en-US" sz="2400" dirty="0">
                <a:ea typeface="Arial" panose="020B0604020202020204" pitchFamily="34" charset="0"/>
                <a:hlinkClick r:id="rId4"/>
              </a:rPr>
              <a:t>Service Offer</a:t>
            </a:r>
            <a:r>
              <a:rPr lang="en-US" altLang="en-US" sz="2400" dirty="0">
                <a:ea typeface="Arial" panose="020B0604020202020204" pitchFamily="34" charset="0"/>
              </a:rPr>
              <a:t> , </a:t>
            </a:r>
            <a:r>
              <a:rPr lang="en-US" altLang="en-US" sz="2400" dirty="0">
                <a:ea typeface="Arial" panose="020B0604020202020204" pitchFamily="34" charset="0"/>
                <a:hlinkClick r:id="rId5"/>
              </a:rPr>
              <a:t>Service Cost</a:t>
            </a:r>
            <a:endParaRPr lang="en-US" altLang="en-US" sz="2400" dirty="0">
              <a:ea typeface="Arial" panose="020B0604020202020204" pitchFamily="34" charset="0"/>
            </a:endParaRPr>
          </a:p>
          <a:p>
            <a:pPr marL="460375" lvl="1" indent="-280988">
              <a:buFont typeface="Wingdings" pitchFamily="2" charset="2"/>
              <a:buChar char="§"/>
              <a:tabLst>
                <a:tab pos="336550" algn="l"/>
              </a:tabLst>
            </a:pPr>
            <a:endParaRPr lang="en-US" altLang="en-US" dirty="0">
              <a:ea typeface="Arial" panose="020B0604020202020204" pitchFamily="34" charset="0"/>
            </a:endParaRPr>
          </a:p>
          <a:p>
            <a:pPr marL="682625" lvl="1" indent="-225425">
              <a:buFont typeface="Wingdings" pitchFamily="2" charset="2"/>
              <a:buNone/>
            </a:pPr>
            <a:endParaRPr lang="en-US" altLang="en-US" sz="2000" dirty="0">
              <a:ea typeface="Arial" panose="020B0604020202020204" pitchFamily="34" charset="0"/>
            </a:endParaRPr>
          </a:p>
        </p:txBody>
      </p:sp>
      <p:sp>
        <p:nvSpPr>
          <p:cNvPr id="55" name="Oval 11">
            <a:extLst>
              <a:ext uri="{FF2B5EF4-FFF2-40B4-BE49-F238E27FC236}">
                <a16:creationId xmlns:a16="http://schemas.microsoft.com/office/drawing/2014/main" id="{9EEAA5DE-DEDF-6F41-AB04-0BB5371BAF6D}"/>
              </a:ext>
            </a:extLst>
          </p:cNvPr>
          <p:cNvSpPr>
            <a:spLocks noChangeArrowheads="1"/>
          </p:cNvSpPr>
          <p:nvPr/>
        </p:nvSpPr>
        <p:spPr bwMode="auto">
          <a:xfrm>
            <a:off x="7108430" y="1469631"/>
            <a:ext cx="2014757" cy="729410"/>
          </a:xfrm>
          <a:prstGeom prst="ellipse">
            <a:avLst/>
          </a:prstGeom>
          <a:solidFill>
            <a:srgbClr val="FF6600">
              <a:alpha val="70195"/>
            </a:srgbClr>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t>     </a:t>
            </a:r>
          </a:p>
        </p:txBody>
      </p:sp>
      <p:sp>
        <p:nvSpPr>
          <p:cNvPr id="5" name="TextBox 4">
            <a:extLst>
              <a:ext uri="{FF2B5EF4-FFF2-40B4-BE49-F238E27FC236}">
                <a16:creationId xmlns:a16="http://schemas.microsoft.com/office/drawing/2014/main" id="{805919C5-B50A-CB4F-BA20-BB2AFFB0EE09}"/>
              </a:ext>
            </a:extLst>
          </p:cNvPr>
          <p:cNvSpPr txBox="1"/>
          <p:nvPr/>
        </p:nvSpPr>
        <p:spPr>
          <a:xfrm>
            <a:off x="7418830" y="1497684"/>
            <a:ext cx="1516762" cy="646331"/>
          </a:xfrm>
          <a:prstGeom prst="rect">
            <a:avLst/>
          </a:prstGeom>
          <a:noFill/>
        </p:spPr>
        <p:txBody>
          <a:bodyPr wrap="none" rtlCol="0">
            <a:spAutoFit/>
          </a:bodyPr>
          <a:lstStyle/>
          <a:p>
            <a:r>
              <a:rPr lang="en-US" sz="3600" dirty="0">
                <a:solidFill>
                  <a:schemeClr val="bg1"/>
                </a:solidFill>
              </a:rPr>
              <a:t>Google</a:t>
            </a:r>
            <a:endParaRPr lang="en-US" dirty="0">
              <a:solidFill>
                <a:schemeClr val="bg1"/>
              </a:solidFill>
            </a:endParaRPr>
          </a:p>
        </p:txBody>
      </p:sp>
    </p:spTree>
    <p:extLst>
      <p:ext uri="{BB962C8B-B14F-4D97-AF65-F5344CB8AC3E}">
        <p14:creationId xmlns:p14="http://schemas.microsoft.com/office/powerpoint/2010/main" val="158563313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Tier-1 ISP Network map: Sprint </a:t>
            </a:r>
            <a:r>
              <a:rPr lang="en-US" altLang="en-US" sz="2800" b="0" dirty="0">
                <a:ea typeface="ＭＳ Ｐゴシック" panose="020B0600070205080204" pitchFamily="34" charset="-128"/>
              </a:rPr>
              <a:t>(2019)</a:t>
            </a:r>
            <a:endParaRPr lang="en-US" b="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a:xfrm>
            <a:off x="9219616" y="6447119"/>
            <a:ext cx="2743200" cy="365125"/>
          </a:xfrm>
        </p:spPr>
        <p:txBody>
          <a:bodyPr/>
          <a:lstStyle/>
          <a:p>
            <a:r>
              <a:rPr lang="en-US" dirty="0"/>
              <a:t>Introduction: 1-</a:t>
            </a:r>
            <a:fld id="{C4204591-24BD-A542-B9D5-F8D8A88D2FEE}" type="slidenum">
              <a:rPr lang="en-US" smtClean="0"/>
              <a:pPr/>
              <a:t>65</a:t>
            </a:fld>
            <a:endParaRPr lang="en-US" dirty="0"/>
          </a:p>
        </p:txBody>
      </p:sp>
      <p:pic>
        <p:nvPicPr>
          <p:cNvPr id="3" name="Picture 2">
            <a:extLst>
              <a:ext uri="{FF2B5EF4-FFF2-40B4-BE49-F238E27FC236}">
                <a16:creationId xmlns:a16="http://schemas.microsoft.com/office/drawing/2014/main" id="{44C257FC-D68A-8348-83F1-9E9A9AA967F9}"/>
              </a:ext>
            </a:extLst>
          </p:cNvPr>
          <p:cNvPicPr>
            <a:picLocks noChangeAspect="1"/>
          </p:cNvPicPr>
          <p:nvPr/>
        </p:nvPicPr>
        <p:blipFill>
          <a:blip r:embed="rId3"/>
          <a:stretch>
            <a:fillRect/>
          </a:stretch>
        </p:blipFill>
        <p:spPr>
          <a:xfrm>
            <a:off x="2665746" y="1256885"/>
            <a:ext cx="8675121" cy="5160132"/>
          </a:xfrm>
          <a:prstGeom prst="rect">
            <a:avLst/>
          </a:prstGeom>
        </p:spPr>
      </p:pic>
      <p:pic>
        <p:nvPicPr>
          <p:cNvPr id="4" name="Picture 3">
            <a:extLst>
              <a:ext uri="{FF2B5EF4-FFF2-40B4-BE49-F238E27FC236}">
                <a16:creationId xmlns:a16="http://schemas.microsoft.com/office/drawing/2014/main" id="{AEEBBA5D-D43B-2C42-9622-3289B7BD731A}"/>
              </a:ext>
            </a:extLst>
          </p:cNvPr>
          <p:cNvPicPr>
            <a:picLocks noChangeAspect="1"/>
          </p:cNvPicPr>
          <p:nvPr/>
        </p:nvPicPr>
        <p:blipFill>
          <a:blip r:embed="rId4"/>
          <a:stretch>
            <a:fillRect/>
          </a:stretch>
        </p:blipFill>
        <p:spPr>
          <a:xfrm>
            <a:off x="468832" y="4518121"/>
            <a:ext cx="2499237" cy="1695700"/>
          </a:xfrm>
          <a:prstGeom prst="rect">
            <a:avLst/>
          </a:prstGeom>
        </p:spPr>
      </p:pic>
      <p:grpSp>
        <p:nvGrpSpPr>
          <p:cNvPr id="19" name="Group 18">
            <a:extLst>
              <a:ext uri="{FF2B5EF4-FFF2-40B4-BE49-F238E27FC236}">
                <a16:creationId xmlns:a16="http://schemas.microsoft.com/office/drawing/2014/main" id="{11409699-F6CF-BF47-B557-5B0B4DD13AD7}"/>
              </a:ext>
            </a:extLst>
          </p:cNvPr>
          <p:cNvGrpSpPr/>
          <p:nvPr/>
        </p:nvGrpSpPr>
        <p:grpSpPr>
          <a:xfrm>
            <a:off x="8015720" y="1256885"/>
            <a:ext cx="4141289" cy="2890954"/>
            <a:chOff x="5135487" y="2377854"/>
            <a:chExt cx="4141289" cy="2890954"/>
          </a:xfrm>
        </p:grpSpPr>
        <p:sp>
          <p:nvSpPr>
            <p:cNvPr id="136" name="Freeform 186">
              <a:extLst>
                <a:ext uri="{FF2B5EF4-FFF2-40B4-BE49-F238E27FC236}">
                  <a16:creationId xmlns:a16="http://schemas.microsoft.com/office/drawing/2014/main" id="{0810608F-CCF3-CA4B-9D04-BD5EBBD51CDD}"/>
                </a:ext>
              </a:extLst>
            </p:cNvPr>
            <p:cNvSpPr>
              <a:spLocks/>
            </p:cNvSpPr>
            <p:nvPr/>
          </p:nvSpPr>
          <p:spPr bwMode="auto">
            <a:xfrm>
              <a:off x="5135487" y="2637821"/>
              <a:ext cx="633069" cy="2382822"/>
            </a:xfrm>
            <a:custGeom>
              <a:avLst/>
              <a:gdLst>
                <a:gd name="T0" fmla="*/ 0 w 475"/>
                <a:gd name="T1" fmla="*/ 1224 h 1879"/>
                <a:gd name="T2" fmla="*/ 475 w 475"/>
                <a:gd name="T3" fmla="*/ 0 h 1879"/>
                <a:gd name="T4" fmla="*/ 468 w 475"/>
                <a:gd name="T5" fmla="*/ 1879 h 1879"/>
                <a:gd name="T6" fmla="*/ 0 w 475"/>
                <a:gd name="T7" fmla="*/ 1224 h 1879"/>
                <a:gd name="T8" fmla="*/ 0 60000 65536"/>
                <a:gd name="T9" fmla="*/ 0 60000 65536"/>
                <a:gd name="T10" fmla="*/ 0 60000 65536"/>
                <a:gd name="T11" fmla="*/ 0 60000 65536"/>
                <a:gd name="T12" fmla="*/ 0 w 475"/>
                <a:gd name="T13" fmla="*/ 0 h 1879"/>
                <a:gd name="T14" fmla="*/ 475 w 475"/>
                <a:gd name="T15" fmla="*/ 1879 h 1879"/>
                <a:gd name="connsiteX0" fmla="*/ 0 w 10962"/>
                <a:gd name="connsiteY0" fmla="*/ 6222 h 9708"/>
                <a:gd name="connsiteX1" fmla="*/ 10962 w 10962"/>
                <a:gd name="connsiteY1" fmla="*/ 0 h 9708"/>
                <a:gd name="connsiteX2" fmla="*/ 9853 w 10962"/>
                <a:gd name="connsiteY2" fmla="*/ 9708 h 9708"/>
                <a:gd name="connsiteX3" fmla="*/ 0 w 10962"/>
                <a:gd name="connsiteY3" fmla="*/ 6222 h 9708"/>
                <a:gd name="connsiteX0" fmla="*/ 0 w 8988"/>
                <a:gd name="connsiteY0" fmla="*/ 5640 h 9231"/>
                <a:gd name="connsiteX1" fmla="*/ 7659 w 8988"/>
                <a:gd name="connsiteY1" fmla="*/ 0 h 9231"/>
                <a:gd name="connsiteX2" fmla="*/ 8988 w 8988"/>
                <a:gd name="connsiteY2" fmla="*/ 9231 h 9231"/>
                <a:gd name="connsiteX3" fmla="*/ 0 w 8988"/>
                <a:gd name="connsiteY3" fmla="*/ 5640 h 9231"/>
                <a:gd name="connsiteX0" fmla="*/ 0 w 8521"/>
                <a:gd name="connsiteY0" fmla="*/ 6110 h 8914"/>
                <a:gd name="connsiteX1" fmla="*/ 8521 w 8521"/>
                <a:gd name="connsiteY1" fmla="*/ 0 h 8914"/>
                <a:gd name="connsiteX2" fmla="*/ 8372 w 8521"/>
                <a:gd name="connsiteY2" fmla="*/ 8914 h 8914"/>
                <a:gd name="connsiteX3" fmla="*/ 0 w 8521"/>
                <a:gd name="connsiteY3" fmla="*/ 6110 h 8914"/>
              </a:gdLst>
              <a:ahLst/>
              <a:cxnLst>
                <a:cxn ang="0">
                  <a:pos x="connsiteX0" y="connsiteY0"/>
                </a:cxn>
                <a:cxn ang="0">
                  <a:pos x="connsiteX1" y="connsiteY1"/>
                </a:cxn>
                <a:cxn ang="0">
                  <a:pos x="connsiteX2" y="connsiteY2"/>
                </a:cxn>
                <a:cxn ang="0">
                  <a:pos x="connsiteX3" y="connsiteY3"/>
                </a:cxn>
              </a:cxnLst>
              <a:rect l="l" t="t" r="r" b="b"/>
              <a:pathLst>
                <a:path w="8521" h="8914">
                  <a:moveTo>
                    <a:pt x="0" y="6110"/>
                  </a:moveTo>
                  <a:lnTo>
                    <a:pt x="8521" y="0"/>
                  </a:lnTo>
                  <a:cubicBezTo>
                    <a:pt x="8471" y="2971"/>
                    <a:pt x="8422" y="5943"/>
                    <a:pt x="8372" y="8914"/>
                  </a:cubicBezTo>
                  <a:lnTo>
                    <a:pt x="0" y="6110"/>
                  </a:lnTo>
                  <a:close/>
                </a:path>
              </a:pathLst>
            </a:custGeom>
            <a:gradFill rotWithShape="1">
              <a:gsLst>
                <a:gs pos="0">
                  <a:srgbClr val="0000A8"/>
                </a:gs>
                <a:gs pos="100000">
                  <a:schemeClr val="bg1"/>
                </a:gs>
              </a:gsLst>
              <a:lin ang="0" scaled="1"/>
            </a:gradFill>
            <a:ln>
              <a:noFill/>
            </a:ln>
          </p:spPr>
          <p:txBody>
            <a:bodyPr/>
            <a:lstStyle/>
            <a:p>
              <a:endParaRPr lang="en-US"/>
            </a:p>
          </p:txBody>
        </p:sp>
        <p:sp>
          <p:nvSpPr>
            <p:cNvPr id="16" name="Rounded Rectangle 15">
              <a:extLst>
                <a:ext uri="{FF2B5EF4-FFF2-40B4-BE49-F238E27FC236}">
                  <a16:creationId xmlns:a16="http://schemas.microsoft.com/office/drawing/2014/main" id="{176C898C-C05D-7B46-A994-9EA29F86D319}"/>
                </a:ext>
              </a:extLst>
            </p:cNvPr>
            <p:cNvSpPr/>
            <p:nvPr/>
          </p:nvSpPr>
          <p:spPr>
            <a:xfrm>
              <a:off x="5738953" y="2377854"/>
              <a:ext cx="2721681" cy="289095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C089EE9F-EFC6-A24F-A31D-687079A57653}"/>
                </a:ext>
              </a:extLst>
            </p:cNvPr>
            <p:cNvGrpSpPr/>
            <p:nvPr/>
          </p:nvGrpSpPr>
          <p:grpSpPr>
            <a:xfrm>
              <a:off x="5819548" y="2802028"/>
              <a:ext cx="3457228" cy="2337889"/>
              <a:chOff x="5819548" y="2802028"/>
              <a:chExt cx="3457228" cy="2337889"/>
            </a:xfrm>
          </p:grpSpPr>
          <p:grpSp>
            <p:nvGrpSpPr>
              <p:cNvPr id="114" name="Group 208">
                <a:extLst>
                  <a:ext uri="{FF2B5EF4-FFF2-40B4-BE49-F238E27FC236}">
                    <a16:creationId xmlns:a16="http://schemas.microsoft.com/office/drawing/2014/main" id="{34622269-F398-CC47-A606-48E46BFA30ED}"/>
                  </a:ext>
                </a:extLst>
              </p:cNvPr>
              <p:cNvGrpSpPr>
                <a:grpSpLocks/>
              </p:cNvGrpSpPr>
              <p:nvPr/>
            </p:nvGrpSpPr>
            <p:grpSpPr bwMode="auto">
              <a:xfrm flipH="1">
                <a:off x="6448859" y="3873358"/>
                <a:ext cx="1230313" cy="454924"/>
                <a:chOff x="2927" y="2497"/>
                <a:chExt cx="949" cy="335"/>
              </a:xfrm>
            </p:grpSpPr>
            <p:sp>
              <p:nvSpPr>
                <p:cNvPr id="143" name="Line 209">
                  <a:extLst>
                    <a:ext uri="{FF2B5EF4-FFF2-40B4-BE49-F238E27FC236}">
                      <a16:creationId xmlns:a16="http://schemas.microsoft.com/office/drawing/2014/main" id="{F15CC6F8-829E-1141-9B23-4496A5B2AFE8}"/>
                    </a:ext>
                  </a:extLst>
                </p:cNvPr>
                <p:cNvSpPr>
                  <a:spLocks noChangeShapeType="1"/>
                </p:cNvSpPr>
                <p:nvPr/>
              </p:nvSpPr>
              <p:spPr bwMode="auto">
                <a:xfrm flipH="1">
                  <a:off x="2927" y="2515"/>
                  <a:ext cx="236" cy="31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4" name="Line 210">
                  <a:extLst>
                    <a:ext uri="{FF2B5EF4-FFF2-40B4-BE49-F238E27FC236}">
                      <a16:creationId xmlns:a16="http://schemas.microsoft.com/office/drawing/2014/main" id="{290487BA-3D66-7B4A-9D74-789641701EA6}"/>
                    </a:ext>
                  </a:extLst>
                </p:cNvPr>
                <p:cNvSpPr>
                  <a:spLocks noChangeShapeType="1"/>
                </p:cNvSpPr>
                <p:nvPr/>
              </p:nvSpPr>
              <p:spPr bwMode="auto">
                <a:xfrm>
                  <a:off x="3209" y="2500"/>
                  <a:ext cx="201" cy="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5" name="Line 211">
                  <a:extLst>
                    <a:ext uri="{FF2B5EF4-FFF2-40B4-BE49-F238E27FC236}">
                      <a16:creationId xmlns:a16="http://schemas.microsoft.com/office/drawing/2014/main" id="{FD1B5229-BE14-A34E-BB33-6B68D452D120}"/>
                    </a:ext>
                  </a:extLst>
                </p:cNvPr>
                <p:cNvSpPr>
                  <a:spLocks noChangeShapeType="1"/>
                </p:cNvSpPr>
                <p:nvPr/>
              </p:nvSpPr>
              <p:spPr bwMode="auto">
                <a:xfrm>
                  <a:off x="3306" y="2497"/>
                  <a:ext cx="570" cy="3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15" name="Line 212">
                <a:extLst>
                  <a:ext uri="{FF2B5EF4-FFF2-40B4-BE49-F238E27FC236}">
                    <a16:creationId xmlns:a16="http://schemas.microsoft.com/office/drawing/2014/main" id="{AD7B903D-A9F0-1947-BEF4-677025C4D5AC}"/>
                  </a:ext>
                </a:extLst>
              </p:cNvPr>
              <p:cNvSpPr>
                <a:spLocks noChangeShapeType="1"/>
              </p:cNvSpPr>
              <p:nvPr/>
            </p:nvSpPr>
            <p:spPr bwMode="auto">
              <a:xfrm flipH="1" flipV="1">
                <a:off x="6796885" y="3050344"/>
                <a:ext cx="0" cy="56515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 name="Line 213">
                <a:extLst>
                  <a:ext uri="{FF2B5EF4-FFF2-40B4-BE49-F238E27FC236}">
                    <a16:creationId xmlns:a16="http://schemas.microsoft.com/office/drawing/2014/main" id="{09DC3E28-E3DA-3C48-A453-09FD46DB8EBE}"/>
                  </a:ext>
                </a:extLst>
              </p:cNvPr>
              <p:cNvSpPr>
                <a:spLocks noChangeShapeType="1"/>
              </p:cNvSpPr>
              <p:nvPr/>
            </p:nvSpPr>
            <p:spPr bwMode="auto">
              <a:xfrm flipH="1">
                <a:off x="6401234" y="3888297"/>
                <a:ext cx="295286" cy="43998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 name="Line 214">
                <a:extLst>
                  <a:ext uri="{FF2B5EF4-FFF2-40B4-BE49-F238E27FC236}">
                    <a16:creationId xmlns:a16="http://schemas.microsoft.com/office/drawing/2014/main" id="{506C0AF6-034E-0945-B057-5AD36EA2E335}"/>
                  </a:ext>
                </a:extLst>
              </p:cNvPr>
              <p:cNvSpPr>
                <a:spLocks noChangeShapeType="1"/>
              </p:cNvSpPr>
              <p:nvPr/>
            </p:nvSpPr>
            <p:spPr bwMode="auto">
              <a:xfrm>
                <a:off x="6767946" y="3885369"/>
                <a:ext cx="260350" cy="450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8" name="Line 215">
                <a:extLst>
                  <a:ext uri="{FF2B5EF4-FFF2-40B4-BE49-F238E27FC236}">
                    <a16:creationId xmlns:a16="http://schemas.microsoft.com/office/drawing/2014/main" id="{62F2F6A5-4E23-D54B-937E-0BAA6DE7E25F}"/>
                  </a:ext>
                </a:extLst>
              </p:cNvPr>
              <p:cNvSpPr>
                <a:spLocks noChangeShapeType="1"/>
              </p:cNvSpPr>
              <p:nvPr/>
            </p:nvSpPr>
            <p:spPr bwMode="auto">
              <a:xfrm>
                <a:off x="6904471" y="3885369"/>
                <a:ext cx="728663" cy="4397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9" name="Text Box 272">
                <a:extLst>
                  <a:ext uri="{FF2B5EF4-FFF2-40B4-BE49-F238E27FC236}">
                    <a16:creationId xmlns:a16="http://schemas.microsoft.com/office/drawing/2014/main" id="{5CD37532-1DA7-4647-82AD-A36EC4C21B54}"/>
                  </a:ext>
                </a:extLst>
              </p:cNvPr>
              <p:cNvSpPr txBox="1">
                <a:spLocks noChangeArrowheads="1"/>
              </p:cNvSpPr>
              <p:nvPr/>
            </p:nvSpPr>
            <p:spPr bwMode="auto">
              <a:xfrm>
                <a:off x="5819548" y="4801363"/>
                <a:ext cx="34572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1600" dirty="0">
                    <a:latin typeface="+mn-lt"/>
                  </a:rPr>
                  <a:t>links to/from Sprint customer networks</a:t>
                </a:r>
              </a:p>
            </p:txBody>
          </p:sp>
          <p:sp>
            <p:nvSpPr>
              <p:cNvPr id="120" name="Text Box 273">
                <a:extLst>
                  <a:ext uri="{FF2B5EF4-FFF2-40B4-BE49-F238E27FC236}">
                    <a16:creationId xmlns:a16="http://schemas.microsoft.com/office/drawing/2014/main" id="{0C6ED735-C468-964B-B66F-7D72715F606C}"/>
                  </a:ext>
                </a:extLst>
              </p:cNvPr>
              <p:cNvSpPr txBox="1">
                <a:spLocks noChangeArrowheads="1"/>
              </p:cNvSpPr>
              <p:nvPr/>
            </p:nvSpPr>
            <p:spPr bwMode="auto">
              <a:xfrm>
                <a:off x="7521549" y="3166317"/>
                <a:ext cx="1603407" cy="491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0000"/>
                  </a:lnSpc>
                </a:pPr>
                <a:r>
                  <a:rPr lang="en-US" altLang="en-US" sz="1600" dirty="0">
                    <a:latin typeface="+mn-lt"/>
                  </a:rPr>
                  <a:t>links to peering networks</a:t>
                </a:r>
              </a:p>
            </p:txBody>
          </p:sp>
          <p:sp>
            <p:nvSpPr>
              <p:cNvPr id="121" name="Text Box 274">
                <a:extLst>
                  <a:ext uri="{FF2B5EF4-FFF2-40B4-BE49-F238E27FC236}">
                    <a16:creationId xmlns:a16="http://schemas.microsoft.com/office/drawing/2014/main" id="{EADEBA81-BE80-E843-BEEE-BB1AF6D405FB}"/>
                  </a:ext>
                </a:extLst>
              </p:cNvPr>
              <p:cNvSpPr txBox="1">
                <a:spLocks noChangeArrowheads="1"/>
              </p:cNvSpPr>
              <p:nvPr/>
            </p:nvSpPr>
            <p:spPr bwMode="auto">
              <a:xfrm>
                <a:off x="5889091" y="2802028"/>
                <a:ext cx="23950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1600" dirty="0">
                    <a:latin typeface="+mn-lt"/>
                  </a:rPr>
                  <a:t> to/from other Sprint </a:t>
                </a:r>
                <a:r>
                  <a:rPr lang="en-US" altLang="en-US" sz="1600" dirty="0" err="1">
                    <a:latin typeface="+mn-lt"/>
                  </a:rPr>
                  <a:t>PoPS</a:t>
                </a:r>
                <a:endParaRPr lang="en-US" altLang="en-US" sz="1600" dirty="0">
                  <a:latin typeface="+mn-lt"/>
                </a:endParaRPr>
              </a:p>
            </p:txBody>
          </p:sp>
          <p:sp>
            <p:nvSpPr>
              <p:cNvPr id="123" name="Line 290">
                <a:extLst>
                  <a:ext uri="{FF2B5EF4-FFF2-40B4-BE49-F238E27FC236}">
                    <a16:creationId xmlns:a16="http://schemas.microsoft.com/office/drawing/2014/main" id="{427B76CA-EEA9-AA42-ACA8-293B0FB06725}"/>
                  </a:ext>
                </a:extLst>
              </p:cNvPr>
              <p:cNvSpPr>
                <a:spLocks noChangeShapeType="1"/>
              </p:cNvSpPr>
              <p:nvPr/>
            </p:nvSpPr>
            <p:spPr bwMode="auto">
              <a:xfrm flipH="1" flipV="1">
                <a:off x="7376566" y="3077332"/>
                <a:ext cx="0" cy="563562"/>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 name="Text Box 294">
                <a:extLst>
                  <a:ext uri="{FF2B5EF4-FFF2-40B4-BE49-F238E27FC236}">
                    <a16:creationId xmlns:a16="http://schemas.microsoft.com/office/drawing/2014/main" id="{83F9DC38-AD1F-5141-9EBF-703CB7E3E8EE}"/>
                  </a:ext>
                </a:extLst>
              </p:cNvPr>
              <p:cNvSpPr txBox="1">
                <a:spLocks noChangeArrowheads="1"/>
              </p:cNvSpPr>
              <p:nvPr/>
            </p:nvSpPr>
            <p:spPr bwMode="auto">
              <a:xfrm rot="5400000">
                <a:off x="7786958" y="3573701"/>
                <a:ext cx="460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mn-lt"/>
                  </a:rPr>
                  <a:t>…</a:t>
                </a:r>
              </a:p>
            </p:txBody>
          </p:sp>
          <p:grpSp>
            <p:nvGrpSpPr>
              <p:cNvPr id="12" name="Group 11">
                <a:extLst>
                  <a:ext uri="{FF2B5EF4-FFF2-40B4-BE49-F238E27FC236}">
                    <a16:creationId xmlns:a16="http://schemas.microsoft.com/office/drawing/2014/main" id="{51F77B2B-3AD2-474B-A9E1-589285590670}"/>
                  </a:ext>
                </a:extLst>
              </p:cNvPr>
              <p:cNvGrpSpPr/>
              <p:nvPr/>
            </p:nvGrpSpPr>
            <p:grpSpPr>
              <a:xfrm>
                <a:off x="6197301" y="4364183"/>
                <a:ext cx="407988" cy="460374"/>
                <a:chOff x="6112721" y="4375907"/>
                <a:chExt cx="407988" cy="460374"/>
              </a:xfrm>
            </p:grpSpPr>
            <p:sp>
              <p:nvSpPr>
                <p:cNvPr id="130" name="Text Box 304">
                  <a:extLst>
                    <a:ext uri="{FF2B5EF4-FFF2-40B4-BE49-F238E27FC236}">
                      <a16:creationId xmlns:a16="http://schemas.microsoft.com/office/drawing/2014/main" id="{6264A5A8-90F5-8B4C-9EF0-478DAF58508F}"/>
                    </a:ext>
                  </a:extLst>
                </p:cNvPr>
                <p:cNvSpPr txBox="1">
                  <a:spLocks noChangeArrowheads="1"/>
                </p:cNvSpPr>
                <p:nvPr/>
              </p:nvSpPr>
              <p:spPr bwMode="auto">
                <a:xfrm flipH="1">
                  <a:off x="6112721" y="4375907"/>
                  <a:ext cx="379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mn-lt"/>
                    </a:rPr>
                    <a:t>…</a:t>
                  </a:r>
                </a:p>
              </p:txBody>
            </p:sp>
            <p:grpSp>
              <p:nvGrpSpPr>
                <p:cNvPr id="131" name="Group 306">
                  <a:extLst>
                    <a:ext uri="{FF2B5EF4-FFF2-40B4-BE49-F238E27FC236}">
                      <a16:creationId xmlns:a16="http://schemas.microsoft.com/office/drawing/2014/main" id="{6655B0F2-7DA9-944B-A7DA-0DBA58297CB0}"/>
                    </a:ext>
                  </a:extLst>
                </p:cNvPr>
                <p:cNvGrpSpPr>
                  <a:grpSpLocks/>
                </p:cNvGrpSpPr>
                <p:nvPr/>
              </p:nvGrpSpPr>
              <p:grpSpPr bwMode="auto">
                <a:xfrm>
                  <a:off x="6173046" y="4571169"/>
                  <a:ext cx="347663" cy="265112"/>
                  <a:chOff x="4370" y="2695"/>
                  <a:chExt cx="226" cy="346"/>
                </a:xfrm>
              </p:grpSpPr>
              <p:sp>
                <p:nvSpPr>
                  <p:cNvPr id="137" name="Line 307">
                    <a:extLst>
                      <a:ext uri="{FF2B5EF4-FFF2-40B4-BE49-F238E27FC236}">
                        <a16:creationId xmlns:a16="http://schemas.microsoft.com/office/drawing/2014/main" id="{9CE11D48-D612-F044-A80D-29F4D96B2BAF}"/>
                      </a:ext>
                    </a:extLst>
                  </p:cNvPr>
                  <p:cNvSpPr>
                    <a:spLocks noChangeShapeType="1"/>
                  </p:cNvSpPr>
                  <p:nvPr/>
                </p:nvSpPr>
                <p:spPr bwMode="auto">
                  <a:xfrm rot="16200000" flipH="1">
                    <a:off x="4197" y="2868"/>
                    <a:ext cx="34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8" name="Line 308">
                    <a:extLst>
                      <a:ext uri="{FF2B5EF4-FFF2-40B4-BE49-F238E27FC236}">
                        <a16:creationId xmlns:a16="http://schemas.microsoft.com/office/drawing/2014/main" id="{86E975B1-BC75-5C44-8DAD-09B424BB8B13}"/>
                      </a:ext>
                    </a:extLst>
                  </p:cNvPr>
                  <p:cNvSpPr>
                    <a:spLocks noChangeShapeType="1"/>
                  </p:cNvSpPr>
                  <p:nvPr/>
                </p:nvSpPr>
                <p:spPr bwMode="auto">
                  <a:xfrm rot="16200000" flipH="1">
                    <a:off x="4423" y="2869"/>
                    <a:ext cx="34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46" name="Group 145">
                <a:extLst>
                  <a:ext uri="{FF2B5EF4-FFF2-40B4-BE49-F238E27FC236}">
                    <a16:creationId xmlns:a16="http://schemas.microsoft.com/office/drawing/2014/main" id="{6162EC44-D023-AF4B-A206-E7509BB988C4}"/>
                  </a:ext>
                </a:extLst>
              </p:cNvPr>
              <p:cNvGrpSpPr/>
              <p:nvPr/>
            </p:nvGrpSpPr>
            <p:grpSpPr>
              <a:xfrm>
                <a:off x="6533014" y="3617220"/>
                <a:ext cx="523857" cy="280582"/>
                <a:chOff x="7493876" y="2774731"/>
                <a:chExt cx="1481958" cy="894622"/>
              </a:xfrm>
            </p:grpSpPr>
            <p:sp>
              <p:nvSpPr>
                <p:cNvPr id="147" name="Freeform 146">
                  <a:extLst>
                    <a:ext uri="{FF2B5EF4-FFF2-40B4-BE49-F238E27FC236}">
                      <a16:creationId xmlns:a16="http://schemas.microsoft.com/office/drawing/2014/main" id="{800BEEA3-5588-8D4B-A21A-EB7CBDFF4A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48" name="Oval 147">
                  <a:extLst>
                    <a:ext uri="{FF2B5EF4-FFF2-40B4-BE49-F238E27FC236}">
                      <a16:creationId xmlns:a16="http://schemas.microsoft.com/office/drawing/2014/main" id="{C9E0C0FB-BF84-BE46-A172-090C2F95FD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49" name="Group 148">
                  <a:extLst>
                    <a:ext uri="{FF2B5EF4-FFF2-40B4-BE49-F238E27FC236}">
                      <a16:creationId xmlns:a16="http://schemas.microsoft.com/office/drawing/2014/main" id="{2E0A3360-081D-F94B-8D16-276E235AB5F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013FA78E-130C-7D44-974C-982926B0959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150">
                    <a:extLst>
                      <a:ext uri="{FF2B5EF4-FFF2-40B4-BE49-F238E27FC236}">
                        <a16:creationId xmlns:a16="http://schemas.microsoft.com/office/drawing/2014/main" id="{898C6D1E-B612-AC4B-95CD-825AE5C1B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51">
                    <a:extLst>
                      <a:ext uri="{FF2B5EF4-FFF2-40B4-BE49-F238E27FC236}">
                        <a16:creationId xmlns:a16="http://schemas.microsoft.com/office/drawing/2014/main" id="{7AA628DA-49E7-4B42-84F4-387C5DB200D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52">
                    <a:extLst>
                      <a:ext uri="{FF2B5EF4-FFF2-40B4-BE49-F238E27FC236}">
                        <a16:creationId xmlns:a16="http://schemas.microsoft.com/office/drawing/2014/main" id="{E55205E2-9D35-CB44-A168-2A2FA092C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54" name="Group 153">
                <a:extLst>
                  <a:ext uri="{FF2B5EF4-FFF2-40B4-BE49-F238E27FC236}">
                    <a16:creationId xmlns:a16="http://schemas.microsoft.com/office/drawing/2014/main" id="{ADC48D98-624A-4D4C-9532-8DAFAD700A2E}"/>
                  </a:ext>
                </a:extLst>
              </p:cNvPr>
              <p:cNvGrpSpPr/>
              <p:nvPr/>
            </p:nvGrpSpPr>
            <p:grpSpPr>
              <a:xfrm>
                <a:off x="7099794" y="3618079"/>
                <a:ext cx="523857" cy="280582"/>
                <a:chOff x="7493876" y="2774731"/>
                <a:chExt cx="1481958" cy="894622"/>
              </a:xfrm>
            </p:grpSpPr>
            <p:sp>
              <p:nvSpPr>
                <p:cNvPr id="155" name="Freeform 154">
                  <a:extLst>
                    <a:ext uri="{FF2B5EF4-FFF2-40B4-BE49-F238E27FC236}">
                      <a16:creationId xmlns:a16="http://schemas.microsoft.com/office/drawing/2014/main" id="{6BBA6BA0-48D4-AD4A-8EAC-B5995E84833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56" name="Oval 155">
                  <a:extLst>
                    <a:ext uri="{FF2B5EF4-FFF2-40B4-BE49-F238E27FC236}">
                      <a16:creationId xmlns:a16="http://schemas.microsoft.com/office/drawing/2014/main" id="{43571E09-12E3-1148-B8A8-7BA7D9B9387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57" name="Group 156">
                  <a:extLst>
                    <a:ext uri="{FF2B5EF4-FFF2-40B4-BE49-F238E27FC236}">
                      <a16:creationId xmlns:a16="http://schemas.microsoft.com/office/drawing/2014/main" id="{8A37B13D-C1FA-5B4D-A4EB-6D82312C54CB}"/>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80C2EBF-0BA9-6648-BC7B-AF2C6568CF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58">
                    <a:extLst>
                      <a:ext uri="{FF2B5EF4-FFF2-40B4-BE49-F238E27FC236}">
                        <a16:creationId xmlns:a16="http://schemas.microsoft.com/office/drawing/2014/main" id="{8B8FCBE6-55BA-E14A-98F7-3A5F96C6F9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59">
                    <a:extLst>
                      <a:ext uri="{FF2B5EF4-FFF2-40B4-BE49-F238E27FC236}">
                        <a16:creationId xmlns:a16="http://schemas.microsoft.com/office/drawing/2014/main" id="{C0DC4D6F-7C44-1847-A4E4-ADD787E6E70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160">
                    <a:extLst>
                      <a:ext uri="{FF2B5EF4-FFF2-40B4-BE49-F238E27FC236}">
                        <a16:creationId xmlns:a16="http://schemas.microsoft.com/office/drawing/2014/main" id="{86ACF70A-1984-8F4E-B689-0F4C56BA07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62" name="Group 161">
                <a:extLst>
                  <a:ext uri="{FF2B5EF4-FFF2-40B4-BE49-F238E27FC236}">
                    <a16:creationId xmlns:a16="http://schemas.microsoft.com/office/drawing/2014/main" id="{87E6EC53-7E1A-684E-A31C-338D0D1337FE}"/>
                  </a:ext>
                </a:extLst>
              </p:cNvPr>
              <p:cNvGrpSpPr/>
              <p:nvPr/>
            </p:nvGrpSpPr>
            <p:grpSpPr>
              <a:xfrm>
                <a:off x="7456250" y="4311236"/>
                <a:ext cx="523857" cy="280582"/>
                <a:chOff x="7493876" y="2774731"/>
                <a:chExt cx="1481958" cy="894622"/>
              </a:xfrm>
            </p:grpSpPr>
            <p:sp>
              <p:nvSpPr>
                <p:cNvPr id="163" name="Freeform 162">
                  <a:extLst>
                    <a:ext uri="{FF2B5EF4-FFF2-40B4-BE49-F238E27FC236}">
                      <a16:creationId xmlns:a16="http://schemas.microsoft.com/office/drawing/2014/main" id="{A3121881-D3EA-DD4C-A38A-92D0B7F5E8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64" name="Oval 163">
                  <a:extLst>
                    <a:ext uri="{FF2B5EF4-FFF2-40B4-BE49-F238E27FC236}">
                      <a16:creationId xmlns:a16="http://schemas.microsoft.com/office/drawing/2014/main" id="{4BFCAF2D-BE98-7D44-9EAC-66548471439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65" name="Group 164">
                  <a:extLst>
                    <a:ext uri="{FF2B5EF4-FFF2-40B4-BE49-F238E27FC236}">
                      <a16:creationId xmlns:a16="http://schemas.microsoft.com/office/drawing/2014/main" id="{47BB9030-D335-FD4A-A388-60048FEDBDA1}"/>
                    </a:ext>
                  </a:extLst>
                </p:cNvPr>
                <p:cNvGrpSpPr/>
                <p:nvPr/>
              </p:nvGrpSpPr>
              <p:grpSpPr>
                <a:xfrm>
                  <a:off x="7713663" y="2848339"/>
                  <a:ext cx="1042107" cy="425543"/>
                  <a:chOff x="7786941" y="2884917"/>
                  <a:chExt cx="897649" cy="353919"/>
                </a:xfrm>
              </p:grpSpPr>
              <p:sp>
                <p:nvSpPr>
                  <p:cNvPr id="166" name="Freeform 165">
                    <a:extLst>
                      <a:ext uri="{FF2B5EF4-FFF2-40B4-BE49-F238E27FC236}">
                        <a16:creationId xmlns:a16="http://schemas.microsoft.com/office/drawing/2014/main" id="{61D2352F-963E-CE41-A25B-1CF639A23A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Freeform 166">
                    <a:extLst>
                      <a:ext uri="{FF2B5EF4-FFF2-40B4-BE49-F238E27FC236}">
                        <a16:creationId xmlns:a16="http://schemas.microsoft.com/office/drawing/2014/main" id="{7E25B5EA-1406-6544-A9F7-C1D169725E8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Freeform 167">
                    <a:extLst>
                      <a:ext uri="{FF2B5EF4-FFF2-40B4-BE49-F238E27FC236}">
                        <a16:creationId xmlns:a16="http://schemas.microsoft.com/office/drawing/2014/main" id="{05712714-F565-014A-90F9-EA15545821C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Freeform 168">
                    <a:extLst>
                      <a:ext uri="{FF2B5EF4-FFF2-40B4-BE49-F238E27FC236}">
                        <a16:creationId xmlns:a16="http://schemas.microsoft.com/office/drawing/2014/main" id="{39C9127C-F417-5B4C-965C-E1B42536C12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8" name="Group 177">
                <a:extLst>
                  <a:ext uri="{FF2B5EF4-FFF2-40B4-BE49-F238E27FC236}">
                    <a16:creationId xmlns:a16="http://schemas.microsoft.com/office/drawing/2014/main" id="{CA1E52A0-0A3D-C943-AF8C-E2DF7B82B2AB}"/>
                  </a:ext>
                </a:extLst>
              </p:cNvPr>
              <p:cNvGrpSpPr/>
              <p:nvPr/>
            </p:nvGrpSpPr>
            <p:grpSpPr>
              <a:xfrm>
                <a:off x="6179000" y="4306988"/>
                <a:ext cx="523857" cy="280582"/>
                <a:chOff x="7493876" y="2774731"/>
                <a:chExt cx="1481958" cy="894622"/>
              </a:xfrm>
            </p:grpSpPr>
            <p:sp>
              <p:nvSpPr>
                <p:cNvPr id="179" name="Freeform 178">
                  <a:extLst>
                    <a:ext uri="{FF2B5EF4-FFF2-40B4-BE49-F238E27FC236}">
                      <a16:creationId xmlns:a16="http://schemas.microsoft.com/office/drawing/2014/main" id="{F7B4C4EB-4039-1D49-A333-A3ECD5005D7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80" name="Oval 179">
                  <a:extLst>
                    <a:ext uri="{FF2B5EF4-FFF2-40B4-BE49-F238E27FC236}">
                      <a16:creationId xmlns:a16="http://schemas.microsoft.com/office/drawing/2014/main" id="{E3E70234-E4E5-7641-AF91-266F272EB5D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81" name="Group 180">
                  <a:extLst>
                    <a:ext uri="{FF2B5EF4-FFF2-40B4-BE49-F238E27FC236}">
                      <a16:creationId xmlns:a16="http://schemas.microsoft.com/office/drawing/2014/main" id="{D4733258-E740-E947-A21C-0A6A2D58B07B}"/>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396419B0-D2E9-FD49-BDC1-F66F284F533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182">
                    <a:extLst>
                      <a:ext uri="{FF2B5EF4-FFF2-40B4-BE49-F238E27FC236}">
                        <a16:creationId xmlns:a16="http://schemas.microsoft.com/office/drawing/2014/main" id="{256632C1-132C-5D4A-B4A9-A39E72C9699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183">
                    <a:extLst>
                      <a:ext uri="{FF2B5EF4-FFF2-40B4-BE49-F238E27FC236}">
                        <a16:creationId xmlns:a16="http://schemas.microsoft.com/office/drawing/2014/main" id="{EFF89079-854B-954B-98C7-EFF5029E0D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184">
                    <a:extLst>
                      <a:ext uri="{FF2B5EF4-FFF2-40B4-BE49-F238E27FC236}">
                        <a16:creationId xmlns:a16="http://schemas.microsoft.com/office/drawing/2014/main" id="{3917454C-3C53-0B4B-BE3A-313214027C7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91" name="Group 190">
                <a:extLst>
                  <a:ext uri="{FF2B5EF4-FFF2-40B4-BE49-F238E27FC236}">
                    <a16:creationId xmlns:a16="http://schemas.microsoft.com/office/drawing/2014/main" id="{4525D4C0-C00D-C54D-941C-AE8B3F8E97E0}"/>
                  </a:ext>
                </a:extLst>
              </p:cNvPr>
              <p:cNvGrpSpPr/>
              <p:nvPr/>
            </p:nvGrpSpPr>
            <p:grpSpPr>
              <a:xfrm>
                <a:off x="6837992" y="4368165"/>
                <a:ext cx="407988" cy="460374"/>
                <a:chOff x="6112721" y="4375907"/>
                <a:chExt cx="407988" cy="460374"/>
              </a:xfrm>
            </p:grpSpPr>
            <p:sp>
              <p:nvSpPr>
                <p:cNvPr id="192" name="Text Box 304">
                  <a:extLst>
                    <a:ext uri="{FF2B5EF4-FFF2-40B4-BE49-F238E27FC236}">
                      <a16:creationId xmlns:a16="http://schemas.microsoft.com/office/drawing/2014/main" id="{ACE6FA5B-BE9F-DC43-87EA-9D846E359708}"/>
                    </a:ext>
                  </a:extLst>
                </p:cNvPr>
                <p:cNvSpPr txBox="1">
                  <a:spLocks noChangeArrowheads="1"/>
                </p:cNvSpPr>
                <p:nvPr/>
              </p:nvSpPr>
              <p:spPr bwMode="auto">
                <a:xfrm flipH="1">
                  <a:off x="6112721" y="4375907"/>
                  <a:ext cx="379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mn-lt"/>
                    </a:rPr>
                    <a:t>…</a:t>
                  </a:r>
                </a:p>
              </p:txBody>
            </p:sp>
            <p:grpSp>
              <p:nvGrpSpPr>
                <p:cNvPr id="193" name="Group 306">
                  <a:extLst>
                    <a:ext uri="{FF2B5EF4-FFF2-40B4-BE49-F238E27FC236}">
                      <a16:creationId xmlns:a16="http://schemas.microsoft.com/office/drawing/2014/main" id="{40A93D68-4077-1540-A741-57A4E8F7B61A}"/>
                    </a:ext>
                  </a:extLst>
                </p:cNvPr>
                <p:cNvGrpSpPr>
                  <a:grpSpLocks/>
                </p:cNvGrpSpPr>
                <p:nvPr/>
              </p:nvGrpSpPr>
              <p:grpSpPr bwMode="auto">
                <a:xfrm>
                  <a:off x="6173046" y="4571169"/>
                  <a:ext cx="347663" cy="265112"/>
                  <a:chOff x="4370" y="2695"/>
                  <a:chExt cx="226" cy="346"/>
                </a:xfrm>
              </p:grpSpPr>
              <p:sp>
                <p:nvSpPr>
                  <p:cNvPr id="195" name="Line 307">
                    <a:extLst>
                      <a:ext uri="{FF2B5EF4-FFF2-40B4-BE49-F238E27FC236}">
                        <a16:creationId xmlns:a16="http://schemas.microsoft.com/office/drawing/2014/main" id="{1A762051-FFC8-FC45-9C5C-C2E57D4C95B5}"/>
                      </a:ext>
                    </a:extLst>
                  </p:cNvPr>
                  <p:cNvSpPr>
                    <a:spLocks noChangeShapeType="1"/>
                  </p:cNvSpPr>
                  <p:nvPr/>
                </p:nvSpPr>
                <p:spPr bwMode="auto">
                  <a:xfrm rot="16200000" flipH="1">
                    <a:off x="4197" y="2868"/>
                    <a:ext cx="34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 name="Line 308">
                    <a:extLst>
                      <a:ext uri="{FF2B5EF4-FFF2-40B4-BE49-F238E27FC236}">
                        <a16:creationId xmlns:a16="http://schemas.microsoft.com/office/drawing/2014/main" id="{88210C29-B214-8D49-8818-8798B9C27203}"/>
                      </a:ext>
                    </a:extLst>
                  </p:cNvPr>
                  <p:cNvSpPr>
                    <a:spLocks noChangeShapeType="1"/>
                  </p:cNvSpPr>
                  <p:nvPr/>
                </p:nvSpPr>
                <p:spPr bwMode="auto">
                  <a:xfrm rot="16200000" flipH="1">
                    <a:off x="4423" y="2869"/>
                    <a:ext cx="34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97" name="Group 196">
                <a:extLst>
                  <a:ext uri="{FF2B5EF4-FFF2-40B4-BE49-F238E27FC236}">
                    <a16:creationId xmlns:a16="http://schemas.microsoft.com/office/drawing/2014/main" id="{F6BFA787-99AE-DE45-A233-027F7CA7D22D}"/>
                  </a:ext>
                </a:extLst>
              </p:cNvPr>
              <p:cNvGrpSpPr/>
              <p:nvPr/>
            </p:nvGrpSpPr>
            <p:grpSpPr>
              <a:xfrm>
                <a:off x="7485902" y="4368310"/>
                <a:ext cx="407988" cy="460374"/>
                <a:chOff x="6112721" y="4375907"/>
                <a:chExt cx="407988" cy="460374"/>
              </a:xfrm>
            </p:grpSpPr>
            <p:sp>
              <p:nvSpPr>
                <p:cNvPr id="198" name="Text Box 304">
                  <a:extLst>
                    <a:ext uri="{FF2B5EF4-FFF2-40B4-BE49-F238E27FC236}">
                      <a16:creationId xmlns:a16="http://schemas.microsoft.com/office/drawing/2014/main" id="{6D946CCE-A936-4844-AD61-7E4B7BB77BF1}"/>
                    </a:ext>
                  </a:extLst>
                </p:cNvPr>
                <p:cNvSpPr txBox="1">
                  <a:spLocks noChangeArrowheads="1"/>
                </p:cNvSpPr>
                <p:nvPr/>
              </p:nvSpPr>
              <p:spPr bwMode="auto">
                <a:xfrm flipH="1">
                  <a:off x="6112721" y="4375907"/>
                  <a:ext cx="379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mn-lt"/>
                    </a:rPr>
                    <a:t>…</a:t>
                  </a:r>
                </a:p>
              </p:txBody>
            </p:sp>
            <p:grpSp>
              <p:nvGrpSpPr>
                <p:cNvPr id="199" name="Group 306">
                  <a:extLst>
                    <a:ext uri="{FF2B5EF4-FFF2-40B4-BE49-F238E27FC236}">
                      <a16:creationId xmlns:a16="http://schemas.microsoft.com/office/drawing/2014/main" id="{6CB6BBB8-CDB9-DF46-BC17-601ED0253B90}"/>
                    </a:ext>
                  </a:extLst>
                </p:cNvPr>
                <p:cNvGrpSpPr>
                  <a:grpSpLocks/>
                </p:cNvGrpSpPr>
                <p:nvPr/>
              </p:nvGrpSpPr>
              <p:grpSpPr bwMode="auto">
                <a:xfrm>
                  <a:off x="6173046" y="4571169"/>
                  <a:ext cx="347663" cy="265112"/>
                  <a:chOff x="4370" y="2695"/>
                  <a:chExt cx="226" cy="346"/>
                </a:xfrm>
              </p:grpSpPr>
              <p:sp>
                <p:nvSpPr>
                  <p:cNvPr id="200" name="Line 307">
                    <a:extLst>
                      <a:ext uri="{FF2B5EF4-FFF2-40B4-BE49-F238E27FC236}">
                        <a16:creationId xmlns:a16="http://schemas.microsoft.com/office/drawing/2014/main" id="{17D8F4BA-4447-A046-99B7-87A3933FD6FF}"/>
                      </a:ext>
                    </a:extLst>
                  </p:cNvPr>
                  <p:cNvSpPr>
                    <a:spLocks noChangeShapeType="1"/>
                  </p:cNvSpPr>
                  <p:nvPr/>
                </p:nvSpPr>
                <p:spPr bwMode="auto">
                  <a:xfrm rot="16200000" flipH="1">
                    <a:off x="4197" y="2868"/>
                    <a:ext cx="34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1" name="Line 308">
                    <a:extLst>
                      <a:ext uri="{FF2B5EF4-FFF2-40B4-BE49-F238E27FC236}">
                        <a16:creationId xmlns:a16="http://schemas.microsoft.com/office/drawing/2014/main" id="{EA218E8B-48B3-554A-B371-978269CD2C18}"/>
                      </a:ext>
                    </a:extLst>
                  </p:cNvPr>
                  <p:cNvSpPr>
                    <a:spLocks noChangeShapeType="1"/>
                  </p:cNvSpPr>
                  <p:nvPr/>
                </p:nvSpPr>
                <p:spPr bwMode="auto">
                  <a:xfrm rot="16200000" flipH="1">
                    <a:off x="4423" y="2869"/>
                    <a:ext cx="34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70" name="Group 169">
                <a:extLst>
                  <a:ext uri="{FF2B5EF4-FFF2-40B4-BE49-F238E27FC236}">
                    <a16:creationId xmlns:a16="http://schemas.microsoft.com/office/drawing/2014/main" id="{5C6E93A7-E125-2845-8067-00A236EC62E2}"/>
                  </a:ext>
                </a:extLst>
              </p:cNvPr>
              <p:cNvGrpSpPr/>
              <p:nvPr/>
            </p:nvGrpSpPr>
            <p:grpSpPr>
              <a:xfrm>
                <a:off x="6823004" y="4319870"/>
                <a:ext cx="523857" cy="280582"/>
                <a:chOff x="7493876" y="2774731"/>
                <a:chExt cx="1481958" cy="894622"/>
              </a:xfrm>
            </p:grpSpPr>
            <p:sp>
              <p:nvSpPr>
                <p:cNvPr id="171" name="Freeform 170">
                  <a:extLst>
                    <a:ext uri="{FF2B5EF4-FFF2-40B4-BE49-F238E27FC236}">
                      <a16:creationId xmlns:a16="http://schemas.microsoft.com/office/drawing/2014/main" id="{5EA5C73B-0D45-6244-835B-7B03A4B8F2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72" name="Oval 171">
                  <a:extLst>
                    <a:ext uri="{FF2B5EF4-FFF2-40B4-BE49-F238E27FC236}">
                      <a16:creationId xmlns:a16="http://schemas.microsoft.com/office/drawing/2014/main" id="{D266A702-0FA1-AE45-A1D7-7513B4ED01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73" name="Group 172">
                  <a:extLst>
                    <a:ext uri="{FF2B5EF4-FFF2-40B4-BE49-F238E27FC236}">
                      <a16:creationId xmlns:a16="http://schemas.microsoft.com/office/drawing/2014/main" id="{220FFEE9-F00D-FC44-A6B7-33C2BFCF131E}"/>
                    </a:ext>
                  </a:extLst>
                </p:cNvPr>
                <p:cNvGrpSpPr/>
                <p:nvPr/>
              </p:nvGrpSpPr>
              <p:grpSpPr>
                <a:xfrm>
                  <a:off x="7713663" y="2848339"/>
                  <a:ext cx="1042107" cy="425543"/>
                  <a:chOff x="7786941" y="2884917"/>
                  <a:chExt cx="897649" cy="353919"/>
                </a:xfrm>
              </p:grpSpPr>
              <p:sp>
                <p:nvSpPr>
                  <p:cNvPr id="174" name="Freeform 173">
                    <a:extLst>
                      <a:ext uri="{FF2B5EF4-FFF2-40B4-BE49-F238E27FC236}">
                        <a16:creationId xmlns:a16="http://schemas.microsoft.com/office/drawing/2014/main" id="{4D500CEC-83BB-0844-9117-4DBC9950251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174">
                    <a:extLst>
                      <a:ext uri="{FF2B5EF4-FFF2-40B4-BE49-F238E27FC236}">
                        <a16:creationId xmlns:a16="http://schemas.microsoft.com/office/drawing/2014/main" id="{7DCD151A-CAE8-7F48-8529-FCF335C16B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Freeform 175">
                    <a:extLst>
                      <a:ext uri="{FF2B5EF4-FFF2-40B4-BE49-F238E27FC236}">
                        <a16:creationId xmlns:a16="http://schemas.microsoft.com/office/drawing/2014/main" id="{E7F07B5A-67B4-8C43-AA15-E637E5482F9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176">
                    <a:extLst>
                      <a:ext uri="{FF2B5EF4-FFF2-40B4-BE49-F238E27FC236}">
                        <a16:creationId xmlns:a16="http://schemas.microsoft.com/office/drawing/2014/main" id="{C9708D37-DA35-3F4E-9966-D1CB54DC5B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3" name="Freeform 12">
                <a:extLst>
                  <a:ext uri="{FF2B5EF4-FFF2-40B4-BE49-F238E27FC236}">
                    <a16:creationId xmlns:a16="http://schemas.microsoft.com/office/drawing/2014/main" id="{EC1BA623-0BF4-DB44-A163-2F24A4C39EC3}"/>
                  </a:ext>
                </a:extLst>
              </p:cNvPr>
              <p:cNvSpPr/>
              <p:nvPr/>
            </p:nvSpPr>
            <p:spPr>
              <a:xfrm>
                <a:off x="7623251" y="3590438"/>
                <a:ext cx="550985" cy="125046"/>
              </a:xfrm>
              <a:custGeom>
                <a:avLst/>
                <a:gdLst>
                  <a:gd name="connsiteX0" fmla="*/ 0 w 550985"/>
                  <a:gd name="connsiteY0" fmla="*/ 125046 h 125046"/>
                  <a:gd name="connsiteX1" fmla="*/ 93785 w 550985"/>
                  <a:gd name="connsiteY1" fmla="*/ 0 h 125046"/>
                  <a:gd name="connsiteX2" fmla="*/ 550985 w 550985"/>
                  <a:gd name="connsiteY2" fmla="*/ 3907 h 125046"/>
                  <a:gd name="connsiteX3" fmla="*/ 550985 w 550985"/>
                  <a:gd name="connsiteY3" fmla="*/ 3907 h 125046"/>
                  <a:gd name="connsiteX0" fmla="*/ 0 w 584851"/>
                  <a:gd name="connsiteY0" fmla="*/ 130664 h 130664"/>
                  <a:gd name="connsiteX1" fmla="*/ 93785 w 584851"/>
                  <a:gd name="connsiteY1" fmla="*/ 5618 h 130664"/>
                  <a:gd name="connsiteX2" fmla="*/ 550985 w 584851"/>
                  <a:gd name="connsiteY2" fmla="*/ 9525 h 130664"/>
                  <a:gd name="connsiteX3" fmla="*/ 550985 w 584851"/>
                  <a:gd name="connsiteY3" fmla="*/ 0 h 130664"/>
                  <a:gd name="connsiteX0" fmla="*/ 0 w 589420"/>
                  <a:gd name="connsiteY0" fmla="*/ 127489 h 127489"/>
                  <a:gd name="connsiteX1" fmla="*/ 93785 w 589420"/>
                  <a:gd name="connsiteY1" fmla="*/ 2443 h 127489"/>
                  <a:gd name="connsiteX2" fmla="*/ 550985 w 589420"/>
                  <a:gd name="connsiteY2" fmla="*/ 6350 h 127489"/>
                  <a:gd name="connsiteX3" fmla="*/ 563685 w 589420"/>
                  <a:gd name="connsiteY3" fmla="*/ 0 h 127489"/>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7489 h 127489"/>
                  <a:gd name="connsiteX1" fmla="*/ 93785 w 550985"/>
                  <a:gd name="connsiteY1" fmla="*/ 2443 h 127489"/>
                  <a:gd name="connsiteX2" fmla="*/ 550985 w 550985"/>
                  <a:gd name="connsiteY2" fmla="*/ 0 h 127489"/>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3907 h 125046"/>
                  <a:gd name="connsiteX0" fmla="*/ 0 w 554160"/>
                  <a:gd name="connsiteY0" fmla="*/ 125046 h 125046"/>
                  <a:gd name="connsiteX1" fmla="*/ 93785 w 554160"/>
                  <a:gd name="connsiteY1" fmla="*/ 0 h 125046"/>
                  <a:gd name="connsiteX2" fmla="*/ 554160 w 554160"/>
                  <a:gd name="connsiteY2" fmla="*/ 3907 h 125046"/>
                  <a:gd name="connsiteX0" fmla="*/ 0 w 550985"/>
                  <a:gd name="connsiteY0" fmla="*/ 125046 h 125046"/>
                  <a:gd name="connsiteX1" fmla="*/ 93785 w 550985"/>
                  <a:gd name="connsiteY1" fmla="*/ 0 h 125046"/>
                  <a:gd name="connsiteX2" fmla="*/ 550985 w 550985"/>
                  <a:gd name="connsiteY2" fmla="*/ 732 h 125046"/>
                </a:gdLst>
                <a:ahLst/>
                <a:cxnLst>
                  <a:cxn ang="0">
                    <a:pos x="connsiteX0" y="connsiteY0"/>
                  </a:cxn>
                  <a:cxn ang="0">
                    <a:pos x="connsiteX1" y="connsiteY1"/>
                  </a:cxn>
                  <a:cxn ang="0">
                    <a:pos x="connsiteX2" y="connsiteY2"/>
                  </a:cxn>
                </a:cxnLst>
                <a:rect l="l" t="t" r="r" b="b"/>
                <a:pathLst>
                  <a:path w="550985" h="125046">
                    <a:moveTo>
                      <a:pt x="0" y="125046"/>
                    </a:moveTo>
                    <a:lnTo>
                      <a:pt x="93785" y="0"/>
                    </a:lnTo>
                    <a:lnTo>
                      <a:pt x="550985" y="732"/>
                    </a:ln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Freeform 202">
                <a:extLst>
                  <a:ext uri="{FF2B5EF4-FFF2-40B4-BE49-F238E27FC236}">
                    <a16:creationId xmlns:a16="http://schemas.microsoft.com/office/drawing/2014/main" id="{6891AA3E-FCA9-304D-A2D8-63D50D9C5318}"/>
                  </a:ext>
                </a:extLst>
              </p:cNvPr>
              <p:cNvSpPr/>
              <p:nvPr/>
            </p:nvSpPr>
            <p:spPr>
              <a:xfrm flipV="1">
                <a:off x="7610087" y="3823331"/>
                <a:ext cx="554160" cy="125046"/>
              </a:xfrm>
              <a:custGeom>
                <a:avLst/>
                <a:gdLst>
                  <a:gd name="connsiteX0" fmla="*/ 0 w 550985"/>
                  <a:gd name="connsiteY0" fmla="*/ 125046 h 125046"/>
                  <a:gd name="connsiteX1" fmla="*/ 93785 w 550985"/>
                  <a:gd name="connsiteY1" fmla="*/ 0 h 125046"/>
                  <a:gd name="connsiteX2" fmla="*/ 550985 w 550985"/>
                  <a:gd name="connsiteY2" fmla="*/ 3907 h 125046"/>
                  <a:gd name="connsiteX3" fmla="*/ 550985 w 550985"/>
                  <a:gd name="connsiteY3" fmla="*/ 3907 h 125046"/>
                  <a:gd name="connsiteX0" fmla="*/ 0 w 584851"/>
                  <a:gd name="connsiteY0" fmla="*/ 130664 h 130664"/>
                  <a:gd name="connsiteX1" fmla="*/ 93785 w 584851"/>
                  <a:gd name="connsiteY1" fmla="*/ 5618 h 130664"/>
                  <a:gd name="connsiteX2" fmla="*/ 550985 w 584851"/>
                  <a:gd name="connsiteY2" fmla="*/ 9525 h 130664"/>
                  <a:gd name="connsiteX3" fmla="*/ 550985 w 584851"/>
                  <a:gd name="connsiteY3" fmla="*/ 0 h 130664"/>
                  <a:gd name="connsiteX0" fmla="*/ 0 w 589420"/>
                  <a:gd name="connsiteY0" fmla="*/ 127489 h 127489"/>
                  <a:gd name="connsiteX1" fmla="*/ 93785 w 589420"/>
                  <a:gd name="connsiteY1" fmla="*/ 2443 h 127489"/>
                  <a:gd name="connsiteX2" fmla="*/ 550985 w 589420"/>
                  <a:gd name="connsiteY2" fmla="*/ 6350 h 127489"/>
                  <a:gd name="connsiteX3" fmla="*/ 563685 w 589420"/>
                  <a:gd name="connsiteY3" fmla="*/ 0 h 127489"/>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7489 h 127489"/>
                  <a:gd name="connsiteX1" fmla="*/ 93785 w 550985"/>
                  <a:gd name="connsiteY1" fmla="*/ 2443 h 127489"/>
                  <a:gd name="connsiteX2" fmla="*/ 550985 w 550985"/>
                  <a:gd name="connsiteY2" fmla="*/ 0 h 127489"/>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3907 h 125046"/>
                  <a:gd name="connsiteX0" fmla="*/ 0 w 554160"/>
                  <a:gd name="connsiteY0" fmla="*/ 125046 h 125046"/>
                  <a:gd name="connsiteX1" fmla="*/ 93785 w 554160"/>
                  <a:gd name="connsiteY1" fmla="*/ 0 h 125046"/>
                  <a:gd name="connsiteX2" fmla="*/ 554160 w 554160"/>
                  <a:gd name="connsiteY2" fmla="*/ 3907 h 125046"/>
                  <a:gd name="connsiteX0" fmla="*/ 0 w 554160"/>
                  <a:gd name="connsiteY0" fmla="*/ 130804 h 130804"/>
                  <a:gd name="connsiteX1" fmla="*/ 93785 w 554160"/>
                  <a:gd name="connsiteY1" fmla="*/ 5758 h 130804"/>
                  <a:gd name="connsiteX2" fmla="*/ 554160 w 554160"/>
                  <a:gd name="connsiteY2" fmla="*/ 140 h 130804"/>
                  <a:gd name="connsiteX0" fmla="*/ 0 w 554160"/>
                  <a:gd name="connsiteY0" fmla="*/ 125046 h 125046"/>
                  <a:gd name="connsiteX1" fmla="*/ 93785 w 554160"/>
                  <a:gd name="connsiteY1" fmla="*/ 0 h 125046"/>
                  <a:gd name="connsiteX2" fmla="*/ 554160 w 554160"/>
                  <a:gd name="connsiteY2" fmla="*/ 732 h 125046"/>
                </a:gdLst>
                <a:ahLst/>
                <a:cxnLst>
                  <a:cxn ang="0">
                    <a:pos x="connsiteX0" y="connsiteY0"/>
                  </a:cxn>
                  <a:cxn ang="0">
                    <a:pos x="connsiteX1" y="connsiteY1"/>
                  </a:cxn>
                  <a:cxn ang="0">
                    <a:pos x="connsiteX2" y="connsiteY2"/>
                  </a:cxn>
                </a:cxnLst>
                <a:rect l="l" t="t" r="r" b="b"/>
                <a:pathLst>
                  <a:path w="554160" h="125046">
                    <a:moveTo>
                      <a:pt x="0" y="125046"/>
                    </a:moveTo>
                    <a:lnTo>
                      <a:pt x="93785" y="0"/>
                    </a:lnTo>
                    <a:lnTo>
                      <a:pt x="554160" y="732"/>
                    </a:ln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0" name="Freeform 209">
                <a:extLst>
                  <a:ext uri="{FF2B5EF4-FFF2-40B4-BE49-F238E27FC236}">
                    <a16:creationId xmlns:a16="http://schemas.microsoft.com/office/drawing/2014/main" id="{1AA8A23C-3B79-E048-8525-ABDE960BB291}"/>
                  </a:ext>
                </a:extLst>
              </p:cNvPr>
              <p:cNvSpPr/>
              <p:nvPr/>
            </p:nvSpPr>
            <p:spPr>
              <a:xfrm flipH="1">
                <a:off x="5980729" y="3577003"/>
                <a:ext cx="550985" cy="125046"/>
              </a:xfrm>
              <a:custGeom>
                <a:avLst/>
                <a:gdLst>
                  <a:gd name="connsiteX0" fmla="*/ 0 w 550985"/>
                  <a:gd name="connsiteY0" fmla="*/ 125046 h 125046"/>
                  <a:gd name="connsiteX1" fmla="*/ 93785 w 550985"/>
                  <a:gd name="connsiteY1" fmla="*/ 0 h 125046"/>
                  <a:gd name="connsiteX2" fmla="*/ 550985 w 550985"/>
                  <a:gd name="connsiteY2" fmla="*/ 3907 h 125046"/>
                  <a:gd name="connsiteX3" fmla="*/ 550985 w 550985"/>
                  <a:gd name="connsiteY3" fmla="*/ 3907 h 125046"/>
                  <a:gd name="connsiteX0" fmla="*/ 0 w 584851"/>
                  <a:gd name="connsiteY0" fmla="*/ 130664 h 130664"/>
                  <a:gd name="connsiteX1" fmla="*/ 93785 w 584851"/>
                  <a:gd name="connsiteY1" fmla="*/ 5618 h 130664"/>
                  <a:gd name="connsiteX2" fmla="*/ 550985 w 584851"/>
                  <a:gd name="connsiteY2" fmla="*/ 9525 h 130664"/>
                  <a:gd name="connsiteX3" fmla="*/ 550985 w 584851"/>
                  <a:gd name="connsiteY3" fmla="*/ 0 h 130664"/>
                  <a:gd name="connsiteX0" fmla="*/ 0 w 589420"/>
                  <a:gd name="connsiteY0" fmla="*/ 127489 h 127489"/>
                  <a:gd name="connsiteX1" fmla="*/ 93785 w 589420"/>
                  <a:gd name="connsiteY1" fmla="*/ 2443 h 127489"/>
                  <a:gd name="connsiteX2" fmla="*/ 550985 w 589420"/>
                  <a:gd name="connsiteY2" fmla="*/ 6350 h 127489"/>
                  <a:gd name="connsiteX3" fmla="*/ 563685 w 589420"/>
                  <a:gd name="connsiteY3" fmla="*/ 0 h 127489"/>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7489 h 127489"/>
                  <a:gd name="connsiteX1" fmla="*/ 93785 w 550985"/>
                  <a:gd name="connsiteY1" fmla="*/ 2443 h 127489"/>
                  <a:gd name="connsiteX2" fmla="*/ 550985 w 550985"/>
                  <a:gd name="connsiteY2" fmla="*/ 0 h 127489"/>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3907 h 125046"/>
                  <a:gd name="connsiteX0" fmla="*/ 0 w 554160"/>
                  <a:gd name="connsiteY0" fmla="*/ 125046 h 125046"/>
                  <a:gd name="connsiteX1" fmla="*/ 93785 w 554160"/>
                  <a:gd name="connsiteY1" fmla="*/ 0 h 125046"/>
                  <a:gd name="connsiteX2" fmla="*/ 554160 w 554160"/>
                  <a:gd name="connsiteY2" fmla="*/ 3907 h 125046"/>
                  <a:gd name="connsiteX0" fmla="*/ 0 w 550985"/>
                  <a:gd name="connsiteY0" fmla="*/ 125046 h 125046"/>
                  <a:gd name="connsiteX1" fmla="*/ 93785 w 550985"/>
                  <a:gd name="connsiteY1" fmla="*/ 0 h 125046"/>
                  <a:gd name="connsiteX2" fmla="*/ 550985 w 550985"/>
                  <a:gd name="connsiteY2" fmla="*/ 732 h 125046"/>
                </a:gdLst>
                <a:ahLst/>
                <a:cxnLst>
                  <a:cxn ang="0">
                    <a:pos x="connsiteX0" y="connsiteY0"/>
                  </a:cxn>
                  <a:cxn ang="0">
                    <a:pos x="connsiteX1" y="connsiteY1"/>
                  </a:cxn>
                  <a:cxn ang="0">
                    <a:pos x="connsiteX2" y="connsiteY2"/>
                  </a:cxn>
                </a:cxnLst>
                <a:rect l="l" t="t" r="r" b="b"/>
                <a:pathLst>
                  <a:path w="550985" h="125046">
                    <a:moveTo>
                      <a:pt x="0" y="125046"/>
                    </a:moveTo>
                    <a:lnTo>
                      <a:pt x="93785" y="0"/>
                    </a:lnTo>
                    <a:lnTo>
                      <a:pt x="550985" y="732"/>
                    </a:ln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Text Box 294">
                <a:extLst>
                  <a:ext uri="{FF2B5EF4-FFF2-40B4-BE49-F238E27FC236}">
                    <a16:creationId xmlns:a16="http://schemas.microsoft.com/office/drawing/2014/main" id="{433DF450-F6EA-234E-81A8-81932570EE57}"/>
                  </a:ext>
                </a:extLst>
              </p:cNvPr>
              <p:cNvSpPr txBox="1">
                <a:spLocks noChangeArrowheads="1"/>
              </p:cNvSpPr>
              <p:nvPr/>
            </p:nvSpPr>
            <p:spPr bwMode="auto">
              <a:xfrm rot="5400000">
                <a:off x="6039607" y="3553246"/>
                <a:ext cx="460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mn-lt"/>
                  </a:rPr>
                  <a:t>…</a:t>
                </a:r>
              </a:p>
            </p:txBody>
          </p:sp>
          <p:sp>
            <p:nvSpPr>
              <p:cNvPr id="212" name="Freeform 211">
                <a:extLst>
                  <a:ext uri="{FF2B5EF4-FFF2-40B4-BE49-F238E27FC236}">
                    <a16:creationId xmlns:a16="http://schemas.microsoft.com/office/drawing/2014/main" id="{419DBF04-23E6-7744-81CA-694D68FEF008}"/>
                  </a:ext>
                </a:extLst>
              </p:cNvPr>
              <p:cNvSpPr/>
              <p:nvPr/>
            </p:nvSpPr>
            <p:spPr>
              <a:xfrm flipH="1" flipV="1">
                <a:off x="5978685" y="3814887"/>
                <a:ext cx="554160" cy="125046"/>
              </a:xfrm>
              <a:custGeom>
                <a:avLst/>
                <a:gdLst>
                  <a:gd name="connsiteX0" fmla="*/ 0 w 550985"/>
                  <a:gd name="connsiteY0" fmla="*/ 125046 h 125046"/>
                  <a:gd name="connsiteX1" fmla="*/ 93785 w 550985"/>
                  <a:gd name="connsiteY1" fmla="*/ 0 h 125046"/>
                  <a:gd name="connsiteX2" fmla="*/ 550985 w 550985"/>
                  <a:gd name="connsiteY2" fmla="*/ 3907 h 125046"/>
                  <a:gd name="connsiteX3" fmla="*/ 550985 w 550985"/>
                  <a:gd name="connsiteY3" fmla="*/ 3907 h 125046"/>
                  <a:gd name="connsiteX0" fmla="*/ 0 w 584851"/>
                  <a:gd name="connsiteY0" fmla="*/ 130664 h 130664"/>
                  <a:gd name="connsiteX1" fmla="*/ 93785 w 584851"/>
                  <a:gd name="connsiteY1" fmla="*/ 5618 h 130664"/>
                  <a:gd name="connsiteX2" fmla="*/ 550985 w 584851"/>
                  <a:gd name="connsiteY2" fmla="*/ 9525 h 130664"/>
                  <a:gd name="connsiteX3" fmla="*/ 550985 w 584851"/>
                  <a:gd name="connsiteY3" fmla="*/ 0 h 130664"/>
                  <a:gd name="connsiteX0" fmla="*/ 0 w 589420"/>
                  <a:gd name="connsiteY0" fmla="*/ 127489 h 127489"/>
                  <a:gd name="connsiteX1" fmla="*/ 93785 w 589420"/>
                  <a:gd name="connsiteY1" fmla="*/ 2443 h 127489"/>
                  <a:gd name="connsiteX2" fmla="*/ 550985 w 589420"/>
                  <a:gd name="connsiteY2" fmla="*/ 6350 h 127489"/>
                  <a:gd name="connsiteX3" fmla="*/ 563685 w 589420"/>
                  <a:gd name="connsiteY3" fmla="*/ 0 h 127489"/>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5046 h 125046"/>
                  <a:gd name="connsiteX1" fmla="*/ 93785 w 550985"/>
                  <a:gd name="connsiteY1" fmla="*/ 0 h 125046"/>
                  <a:gd name="connsiteX2" fmla="*/ 550985 w 550985"/>
                  <a:gd name="connsiteY2" fmla="*/ 3907 h 125046"/>
                  <a:gd name="connsiteX0" fmla="*/ 0 w 550985"/>
                  <a:gd name="connsiteY0" fmla="*/ 127489 h 127489"/>
                  <a:gd name="connsiteX1" fmla="*/ 93785 w 550985"/>
                  <a:gd name="connsiteY1" fmla="*/ 2443 h 127489"/>
                  <a:gd name="connsiteX2" fmla="*/ 550985 w 550985"/>
                  <a:gd name="connsiteY2" fmla="*/ 0 h 127489"/>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7082 h 125046"/>
                  <a:gd name="connsiteX0" fmla="*/ 0 w 554160"/>
                  <a:gd name="connsiteY0" fmla="*/ 125046 h 125046"/>
                  <a:gd name="connsiteX1" fmla="*/ 93785 w 554160"/>
                  <a:gd name="connsiteY1" fmla="*/ 0 h 125046"/>
                  <a:gd name="connsiteX2" fmla="*/ 554160 w 554160"/>
                  <a:gd name="connsiteY2" fmla="*/ 3907 h 125046"/>
                  <a:gd name="connsiteX0" fmla="*/ 0 w 554160"/>
                  <a:gd name="connsiteY0" fmla="*/ 125046 h 125046"/>
                  <a:gd name="connsiteX1" fmla="*/ 93785 w 554160"/>
                  <a:gd name="connsiteY1" fmla="*/ 0 h 125046"/>
                  <a:gd name="connsiteX2" fmla="*/ 554160 w 554160"/>
                  <a:gd name="connsiteY2" fmla="*/ 3907 h 125046"/>
                  <a:gd name="connsiteX0" fmla="*/ 0 w 554160"/>
                  <a:gd name="connsiteY0" fmla="*/ 130804 h 130804"/>
                  <a:gd name="connsiteX1" fmla="*/ 93785 w 554160"/>
                  <a:gd name="connsiteY1" fmla="*/ 5758 h 130804"/>
                  <a:gd name="connsiteX2" fmla="*/ 554160 w 554160"/>
                  <a:gd name="connsiteY2" fmla="*/ 140 h 130804"/>
                  <a:gd name="connsiteX0" fmla="*/ 0 w 554160"/>
                  <a:gd name="connsiteY0" fmla="*/ 125046 h 125046"/>
                  <a:gd name="connsiteX1" fmla="*/ 93785 w 554160"/>
                  <a:gd name="connsiteY1" fmla="*/ 0 h 125046"/>
                  <a:gd name="connsiteX2" fmla="*/ 554160 w 554160"/>
                  <a:gd name="connsiteY2" fmla="*/ 732 h 125046"/>
                </a:gdLst>
                <a:ahLst/>
                <a:cxnLst>
                  <a:cxn ang="0">
                    <a:pos x="connsiteX0" y="connsiteY0"/>
                  </a:cxn>
                  <a:cxn ang="0">
                    <a:pos x="connsiteX1" y="connsiteY1"/>
                  </a:cxn>
                  <a:cxn ang="0">
                    <a:pos x="connsiteX2" y="connsiteY2"/>
                  </a:cxn>
                </a:cxnLst>
                <a:rect l="l" t="t" r="r" b="b"/>
                <a:pathLst>
                  <a:path w="554160" h="125046">
                    <a:moveTo>
                      <a:pt x="0" y="125046"/>
                    </a:moveTo>
                    <a:lnTo>
                      <a:pt x="93785" y="0"/>
                    </a:lnTo>
                    <a:lnTo>
                      <a:pt x="554160" y="732"/>
                    </a:ln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3" name="Text Box 310">
              <a:extLst>
                <a:ext uri="{FF2B5EF4-FFF2-40B4-BE49-F238E27FC236}">
                  <a16:creationId xmlns:a16="http://schemas.microsoft.com/office/drawing/2014/main" id="{8371212E-6DA8-124D-A0FE-51CC9CF12F7A}"/>
                </a:ext>
              </a:extLst>
            </p:cNvPr>
            <p:cNvSpPr txBox="1">
              <a:spLocks noChangeArrowheads="1"/>
            </p:cNvSpPr>
            <p:nvPr/>
          </p:nvSpPr>
          <p:spPr bwMode="auto">
            <a:xfrm>
              <a:off x="6000978" y="2431314"/>
              <a:ext cx="2357505" cy="369332"/>
            </a:xfrm>
            <a:prstGeom prst="rect">
              <a:avLst/>
            </a:prstGeom>
            <a:noFill/>
            <a:ln>
              <a:noFill/>
            </a:ln>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en-US" sz="1800" dirty="0">
                  <a:latin typeface="+mn-lt"/>
                  <a:cs typeface="Calibri" panose="020F0502020204030204" pitchFamily="34" charset="0"/>
                </a:rPr>
                <a:t>POP: point-of-presence</a:t>
              </a:r>
            </a:p>
          </p:txBody>
        </p:sp>
      </p:grpSp>
    </p:spTree>
    <p:extLst>
      <p:ext uri="{BB962C8B-B14F-4D97-AF65-F5344CB8AC3E}">
        <p14:creationId xmlns:p14="http://schemas.microsoft.com/office/powerpoint/2010/main" val="4185691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66</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8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rgbClr val="0000A8"/>
              </a:buClr>
            </a:pPr>
            <a:r>
              <a:rPr lang="en-US" altLang="en-US" sz="3200" dirty="0">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449A3FFD-17A5-3548-87D2-0D98917E9FFF}"/>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47078634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Line 26">
            <a:extLst>
              <a:ext uri="{FF2B5EF4-FFF2-40B4-BE49-F238E27FC236}">
                <a16:creationId xmlns:a16="http://schemas.microsoft.com/office/drawing/2014/main" id="{792C422C-E0B3-284D-90D1-78EE41CE1BFE}"/>
              </a:ext>
            </a:extLst>
          </p:cNvPr>
          <p:cNvSpPr>
            <a:spLocks noChangeShapeType="1"/>
          </p:cNvSpPr>
          <p:nvPr/>
        </p:nvSpPr>
        <p:spPr bwMode="auto">
          <a:xfrm>
            <a:off x="5779371" y="4596717"/>
            <a:ext cx="1933575" cy="9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grpSp>
        <p:nvGrpSpPr>
          <p:cNvPr id="67" name="Group 66">
            <a:extLst>
              <a:ext uri="{FF2B5EF4-FFF2-40B4-BE49-F238E27FC236}">
                <a16:creationId xmlns:a16="http://schemas.microsoft.com/office/drawing/2014/main" id="{AFCCB386-E080-BE4D-86AE-B67CDC4394C0}"/>
              </a:ext>
            </a:extLst>
          </p:cNvPr>
          <p:cNvGrpSpPr/>
          <p:nvPr/>
        </p:nvGrpSpPr>
        <p:grpSpPr>
          <a:xfrm>
            <a:off x="4584883" y="4186185"/>
            <a:ext cx="1511352" cy="863670"/>
            <a:chOff x="7493876" y="2774731"/>
            <a:chExt cx="1481958" cy="894622"/>
          </a:xfrm>
        </p:grpSpPr>
        <p:sp>
          <p:nvSpPr>
            <p:cNvPr id="68" name="Freeform 67">
              <a:extLst>
                <a:ext uri="{FF2B5EF4-FFF2-40B4-BE49-F238E27FC236}">
                  <a16:creationId xmlns:a16="http://schemas.microsoft.com/office/drawing/2014/main" id="{59DD18B2-282C-6549-A49E-60E3E19F2A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9" name="Oval 68">
              <a:extLst>
                <a:ext uri="{FF2B5EF4-FFF2-40B4-BE49-F238E27FC236}">
                  <a16:creationId xmlns:a16="http://schemas.microsoft.com/office/drawing/2014/main" id="{51031821-CCEB-7F4A-B58F-080033E04E6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0" name="Group 69">
              <a:extLst>
                <a:ext uri="{FF2B5EF4-FFF2-40B4-BE49-F238E27FC236}">
                  <a16:creationId xmlns:a16="http://schemas.microsoft.com/office/drawing/2014/main" id="{86105421-33A8-6C4D-8961-627026B91B4D}"/>
                </a:ext>
              </a:extLst>
            </p:cNvPr>
            <p:cNvGrpSpPr/>
            <p:nvPr/>
          </p:nvGrpSpPr>
          <p:grpSpPr>
            <a:xfrm>
              <a:off x="7713663" y="2848339"/>
              <a:ext cx="1042107" cy="425543"/>
              <a:chOff x="7786941" y="2884917"/>
              <a:chExt cx="897649" cy="353919"/>
            </a:xfrm>
          </p:grpSpPr>
          <p:sp>
            <p:nvSpPr>
              <p:cNvPr id="71" name="Freeform 70">
                <a:extLst>
                  <a:ext uri="{FF2B5EF4-FFF2-40B4-BE49-F238E27FC236}">
                    <a16:creationId xmlns:a16="http://schemas.microsoft.com/office/drawing/2014/main" id="{8952442E-1885-3E49-AB68-416A3E2001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71">
                <a:extLst>
                  <a:ext uri="{FF2B5EF4-FFF2-40B4-BE49-F238E27FC236}">
                    <a16:creationId xmlns:a16="http://schemas.microsoft.com/office/drawing/2014/main" id="{E05D2B3E-D3BE-6540-9837-84ECB6B5E3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72">
                <a:extLst>
                  <a:ext uri="{FF2B5EF4-FFF2-40B4-BE49-F238E27FC236}">
                    <a16:creationId xmlns:a16="http://schemas.microsoft.com/office/drawing/2014/main" id="{C4191C4F-5CEE-5B4B-881D-8241D7AE9EA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73">
                <a:extLst>
                  <a:ext uri="{FF2B5EF4-FFF2-40B4-BE49-F238E27FC236}">
                    <a16:creationId xmlns:a16="http://schemas.microsoft.com/office/drawing/2014/main" id="{0AD58D69-0B48-324F-A1A4-01181A17EF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How do packet loss and delay occur?</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67</a:t>
            </a:fld>
            <a:endParaRPr lang="en-US" dirty="0"/>
          </a:p>
        </p:txBody>
      </p:sp>
      <p:sp>
        <p:nvSpPr>
          <p:cNvPr id="7" name="Rectangle 3">
            <a:extLst>
              <a:ext uri="{FF2B5EF4-FFF2-40B4-BE49-F238E27FC236}">
                <a16:creationId xmlns:a16="http://schemas.microsoft.com/office/drawing/2014/main" id="{84527315-9237-DF4C-A233-1FDCF6AF614A}"/>
              </a:ext>
            </a:extLst>
          </p:cNvPr>
          <p:cNvSpPr>
            <a:spLocks noGrp="1" noChangeArrowheads="1"/>
          </p:cNvSpPr>
          <p:nvPr>
            <p:ph sz="half" idx="1"/>
          </p:nvPr>
        </p:nvSpPr>
        <p:spPr>
          <a:xfrm>
            <a:off x="825266" y="1253331"/>
            <a:ext cx="11137549" cy="4351338"/>
          </a:xfrm>
        </p:spPr>
        <p:txBody>
          <a:bodyPr/>
          <a:lstStyle/>
          <a:p>
            <a:pPr indent="-295275" eaLnBrk="1" hangingPunct="1">
              <a:buFont typeface="Wingdings" charset="0"/>
              <a:buNone/>
              <a:defRPr/>
            </a:pPr>
            <a:r>
              <a:rPr lang="en-US" sz="3200" dirty="0"/>
              <a:t>packets </a:t>
            </a:r>
            <a:r>
              <a:rPr lang="en-US" sz="3200" i="1" dirty="0"/>
              <a:t>queue</a:t>
            </a:r>
            <a:r>
              <a:rPr lang="en-US" sz="3200" dirty="0"/>
              <a:t> in router buffers</a:t>
            </a:r>
            <a:r>
              <a:rPr lang="en-US" dirty="0"/>
              <a:t> </a:t>
            </a:r>
          </a:p>
          <a:p>
            <a:pPr marL="407988" indent="-277813">
              <a:buFont typeface="Wingdings" charset="2"/>
              <a:buChar char="§"/>
              <a:defRPr/>
            </a:pPr>
            <a:r>
              <a:rPr lang="en-US" dirty="0"/>
              <a:t>packets queue, wait for turn</a:t>
            </a:r>
          </a:p>
          <a:p>
            <a:pPr marL="407988" indent="-277813" eaLnBrk="1" hangingPunct="1">
              <a:buFont typeface="Wingdings" charset="2"/>
              <a:buChar char="§"/>
              <a:defRPr/>
            </a:pPr>
            <a:r>
              <a:rPr lang="en-US" dirty="0">
                <a:solidFill>
                  <a:srgbClr val="CC0000"/>
                </a:solidFill>
              </a:rPr>
              <a:t>arrival rate to link (temporarily) exceeds output link capacity: packet loss</a:t>
            </a:r>
          </a:p>
        </p:txBody>
      </p:sp>
      <p:sp>
        <p:nvSpPr>
          <p:cNvPr id="8" name="Line 24">
            <a:extLst>
              <a:ext uri="{FF2B5EF4-FFF2-40B4-BE49-F238E27FC236}">
                <a16:creationId xmlns:a16="http://schemas.microsoft.com/office/drawing/2014/main" id="{98D5C74F-DBE1-C34C-8A85-F480C540B7D8}"/>
              </a:ext>
            </a:extLst>
          </p:cNvPr>
          <p:cNvSpPr>
            <a:spLocks noChangeShapeType="1"/>
          </p:cNvSpPr>
          <p:nvPr/>
        </p:nvSpPr>
        <p:spPr bwMode="auto">
          <a:xfrm>
            <a:off x="3855321" y="4177617"/>
            <a:ext cx="741362" cy="355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20" name="Rectangle 30">
            <a:extLst>
              <a:ext uri="{FF2B5EF4-FFF2-40B4-BE49-F238E27FC236}">
                <a16:creationId xmlns:a16="http://schemas.microsoft.com/office/drawing/2014/main" id="{D9614611-AD9E-6646-B638-622773F004FA}"/>
              </a:ext>
            </a:extLst>
          </p:cNvPr>
          <p:cNvSpPr>
            <a:spLocks noChangeArrowheads="1"/>
          </p:cNvSpPr>
          <p:nvPr/>
        </p:nvSpPr>
        <p:spPr bwMode="auto">
          <a:xfrm>
            <a:off x="5445996" y="4468129"/>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21" name="Rectangle 31">
            <a:extLst>
              <a:ext uri="{FF2B5EF4-FFF2-40B4-BE49-F238E27FC236}">
                <a16:creationId xmlns:a16="http://schemas.microsoft.com/office/drawing/2014/main" id="{A39734E3-ED9A-EC49-B73C-34CBE5CBF7F3}"/>
              </a:ext>
            </a:extLst>
          </p:cNvPr>
          <p:cNvSpPr>
            <a:spLocks noChangeArrowheads="1"/>
          </p:cNvSpPr>
          <p:nvPr/>
        </p:nvSpPr>
        <p:spPr bwMode="auto">
          <a:xfrm>
            <a:off x="5601571" y="4468129"/>
            <a:ext cx="147637" cy="200025"/>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22" name="Rectangle 38">
            <a:extLst>
              <a:ext uri="{FF2B5EF4-FFF2-40B4-BE49-F238E27FC236}">
                <a16:creationId xmlns:a16="http://schemas.microsoft.com/office/drawing/2014/main" id="{3AF0224D-49F6-7745-96F9-78A841403227}"/>
              </a:ext>
            </a:extLst>
          </p:cNvPr>
          <p:cNvSpPr>
            <a:spLocks noChangeArrowheads="1"/>
          </p:cNvSpPr>
          <p:nvPr/>
        </p:nvSpPr>
        <p:spPr bwMode="auto">
          <a:xfrm>
            <a:off x="5736508" y="4406217"/>
            <a:ext cx="147638"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23" name="Line 25">
            <a:extLst>
              <a:ext uri="{FF2B5EF4-FFF2-40B4-BE49-F238E27FC236}">
                <a16:creationId xmlns:a16="http://schemas.microsoft.com/office/drawing/2014/main" id="{58B9B601-E851-654F-AA2B-143A70BEF35C}"/>
              </a:ext>
            </a:extLst>
          </p:cNvPr>
          <p:cNvSpPr>
            <a:spLocks noChangeShapeType="1"/>
          </p:cNvSpPr>
          <p:nvPr/>
        </p:nvSpPr>
        <p:spPr bwMode="auto">
          <a:xfrm flipV="1">
            <a:off x="3853733" y="4717367"/>
            <a:ext cx="735013" cy="5508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24" name="Rectangle 32">
            <a:extLst>
              <a:ext uri="{FF2B5EF4-FFF2-40B4-BE49-F238E27FC236}">
                <a16:creationId xmlns:a16="http://schemas.microsoft.com/office/drawing/2014/main" id="{647088DD-46B7-8A40-B3C8-FF97968F51C9}"/>
              </a:ext>
            </a:extLst>
          </p:cNvPr>
          <p:cNvSpPr>
            <a:spLocks noChangeArrowheads="1"/>
          </p:cNvSpPr>
          <p:nvPr/>
        </p:nvSpPr>
        <p:spPr bwMode="auto">
          <a:xfrm>
            <a:off x="4393483" y="4368117"/>
            <a:ext cx="147638"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25" name="Line 33">
            <a:extLst>
              <a:ext uri="{FF2B5EF4-FFF2-40B4-BE49-F238E27FC236}">
                <a16:creationId xmlns:a16="http://schemas.microsoft.com/office/drawing/2014/main" id="{77696821-8A04-3945-AF9E-0065C2861C04}"/>
              </a:ext>
            </a:extLst>
          </p:cNvPr>
          <p:cNvSpPr>
            <a:spLocks noChangeShapeType="1"/>
          </p:cNvSpPr>
          <p:nvPr/>
        </p:nvSpPr>
        <p:spPr bwMode="auto">
          <a:xfrm>
            <a:off x="4344271" y="4304617"/>
            <a:ext cx="2111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26" name="Text Box 36">
            <a:extLst>
              <a:ext uri="{FF2B5EF4-FFF2-40B4-BE49-F238E27FC236}">
                <a16:creationId xmlns:a16="http://schemas.microsoft.com/office/drawing/2014/main" id="{B6154A2C-EC19-F34F-ACCE-9E5D937822D3}"/>
              </a:ext>
            </a:extLst>
          </p:cNvPr>
          <p:cNvSpPr txBox="1">
            <a:spLocks noChangeArrowheads="1"/>
          </p:cNvSpPr>
          <p:nvPr/>
        </p:nvSpPr>
        <p:spPr bwMode="auto">
          <a:xfrm>
            <a:off x="3021677" y="3861704"/>
            <a:ext cx="393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solidFill>
                  <a:srgbClr val="000000"/>
                </a:solidFill>
                <a:latin typeface="+mn-lt"/>
              </a:rPr>
              <a:t>A</a:t>
            </a:r>
          </a:p>
        </p:txBody>
      </p:sp>
      <p:sp>
        <p:nvSpPr>
          <p:cNvPr id="27" name="Text Box 37">
            <a:extLst>
              <a:ext uri="{FF2B5EF4-FFF2-40B4-BE49-F238E27FC236}">
                <a16:creationId xmlns:a16="http://schemas.microsoft.com/office/drawing/2014/main" id="{995F56C7-414D-8A48-884F-85A203498F59}"/>
              </a:ext>
            </a:extLst>
          </p:cNvPr>
          <p:cNvSpPr txBox="1">
            <a:spLocks noChangeArrowheads="1"/>
          </p:cNvSpPr>
          <p:nvPr/>
        </p:nvSpPr>
        <p:spPr bwMode="auto">
          <a:xfrm>
            <a:off x="3094654" y="4814204"/>
            <a:ext cx="3802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latin typeface="+mn-lt"/>
              </a:rPr>
              <a:t>B</a:t>
            </a:r>
          </a:p>
        </p:txBody>
      </p:sp>
      <p:grpSp>
        <p:nvGrpSpPr>
          <p:cNvPr id="28" name="Group 66">
            <a:extLst>
              <a:ext uri="{FF2B5EF4-FFF2-40B4-BE49-F238E27FC236}">
                <a16:creationId xmlns:a16="http://schemas.microsoft.com/office/drawing/2014/main" id="{F052C581-6C44-5947-B232-97223D315667}"/>
              </a:ext>
            </a:extLst>
          </p:cNvPr>
          <p:cNvGrpSpPr>
            <a:grpSpLocks/>
          </p:cNvGrpSpPr>
          <p:nvPr/>
        </p:nvGrpSpPr>
        <p:grpSpPr bwMode="auto">
          <a:xfrm>
            <a:off x="3128246" y="3861704"/>
            <a:ext cx="779462" cy="679450"/>
            <a:chOff x="-44" y="1473"/>
            <a:chExt cx="981" cy="1105"/>
          </a:xfrm>
        </p:grpSpPr>
        <p:pic>
          <p:nvPicPr>
            <p:cNvPr id="29" name="Picture 67" descr="desktop_computer_stylized_medium">
              <a:extLst>
                <a:ext uri="{FF2B5EF4-FFF2-40B4-BE49-F238E27FC236}">
                  <a16:creationId xmlns:a16="http://schemas.microsoft.com/office/drawing/2014/main" id="{BB04112D-992F-1B48-BF73-2AE172AB41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8">
              <a:extLst>
                <a:ext uri="{FF2B5EF4-FFF2-40B4-BE49-F238E27FC236}">
                  <a16:creationId xmlns:a16="http://schemas.microsoft.com/office/drawing/2014/main" id="{B442F163-2B26-9C41-A4DA-56CB0408A27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pic>
        <p:nvPicPr>
          <p:cNvPr id="32" name="Picture 70" descr="desktop_computer_stylized_medium">
            <a:extLst>
              <a:ext uri="{FF2B5EF4-FFF2-40B4-BE49-F238E27FC236}">
                <a16:creationId xmlns:a16="http://schemas.microsoft.com/office/drawing/2014/main" id="{281B4469-5924-7847-99B5-6CF657E9E5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3223290" y="4868179"/>
            <a:ext cx="779462"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71">
            <a:extLst>
              <a:ext uri="{FF2B5EF4-FFF2-40B4-BE49-F238E27FC236}">
                <a16:creationId xmlns:a16="http://schemas.microsoft.com/office/drawing/2014/main" id="{B1E6742A-3259-B348-BD9F-24C231CD73DB}"/>
              </a:ext>
            </a:extLst>
          </p:cNvPr>
          <p:cNvSpPr>
            <a:spLocks/>
          </p:cNvSpPr>
          <p:nvPr/>
        </p:nvSpPr>
        <p:spPr bwMode="auto">
          <a:xfrm flipH="1">
            <a:off x="3555416" y="4933357"/>
            <a:ext cx="379004" cy="311133"/>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sp>
        <p:nvSpPr>
          <p:cNvPr id="44" name="Rectangle 31">
            <a:extLst>
              <a:ext uri="{FF2B5EF4-FFF2-40B4-BE49-F238E27FC236}">
                <a16:creationId xmlns:a16="http://schemas.microsoft.com/office/drawing/2014/main" id="{E17EDB94-A18A-5345-B878-1F5CDE4C6EA2}"/>
              </a:ext>
            </a:extLst>
          </p:cNvPr>
          <p:cNvSpPr>
            <a:spLocks noChangeArrowheads="1"/>
          </p:cNvSpPr>
          <p:nvPr/>
        </p:nvSpPr>
        <p:spPr bwMode="auto">
          <a:xfrm>
            <a:off x="3956921" y="5023754"/>
            <a:ext cx="139700" cy="185738"/>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45" name="Line 33">
            <a:extLst>
              <a:ext uri="{FF2B5EF4-FFF2-40B4-BE49-F238E27FC236}">
                <a16:creationId xmlns:a16="http://schemas.microsoft.com/office/drawing/2014/main" id="{72EE0D2E-3A6D-224A-A965-4A3CAB0E05C3}"/>
              </a:ext>
            </a:extLst>
          </p:cNvPr>
          <p:cNvSpPr>
            <a:spLocks noChangeShapeType="1"/>
          </p:cNvSpPr>
          <p:nvPr/>
        </p:nvSpPr>
        <p:spPr bwMode="auto">
          <a:xfrm flipV="1">
            <a:off x="4131546" y="4993592"/>
            <a:ext cx="220662" cy="161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46" name="Rectangle 89">
            <a:extLst>
              <a:ext uri="{FF2B5EF4-FFF2-40B4-BE49-F238E27FC236}">
                <a16:creationId xmlns:a16="http://schemas.microsoft.com/office/drawing/2014/main" id="{B8BAB5F9-E33D-6D40-AF1F-A688FE37C639}"/>
              </a:ext>
            </a:extLst>
          </p:cNvPr>
          <p:cNvSpPr>
            <a:spLocks noChangeArrowheads="1"/>
          </p:cNvSpPr>
          <p:nvPr/>
        </p:nvSpPr>
        <p:spPr bwMode="auto">
          <a:xfrm>
            <a:off x="5293596" y="4469717"/>
            <a:ext cx="147637" cy="200025"/>
          </a:xfrm>
          <a:prstGeom prst="rect">
            <a:avLst/>
          </a:prstGeom>
          <a:solidFill>
            <a:schemeClr val="bg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sz="2800">
              <a:solidFill>
                <a:srgbClr val="000000"/>
              </a:solidFill>
              <a:latin typeface="+mn-lt"/>
            </a:endParaRPr>
          </a:p>
        </p:txBody>
      </p:sp>
      <p:sp>
        <p:nvSpPr>
          <p:cNvPr id="47" name="Rectangle 89">
            <a:extLst>
              <a:ext uri="{FF2B5EF4-FFF2-40B4-BE49-F238E27FC236}">
                <a16:creationId xmlns:a16="http://schemas.microsoft.com/office/drawing/2014/main" id="{3A81C53A-7389-0940-8B19-188881DD0EB8}"/>
              </a:ext>
            </a:extLst>
          </p:cNvPr>
          <p:cNvSpPr>
            <a:spLocks noChangeArrowheads="1"/>
          </p:cNvSpPr>
          <p:nvPr/>
        </p:nvSpPr>
        <p:spPr bwMode="auto">
          <a:xfrm>
            <a:off x="5144371" y="4468129"/>
            <a:ext cx="147637" cy="200025"/>
          </a:xfrm>
          <a:prstGeom prst="rect">
            <a:avLst/>
          </a:prstGeom>
          <a:solidFill>
            <a:schemeClr val="bg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sz="2800">
              <a:solidFill>
                <a:srgbClr val="000000"/>
              </a:solidFill>
              <a:latin typeface="+mn-lt"/>
            </a:endParaRPr>
          </a:p>
        </p:txBody>
      </p:sp>
      <p:sp>
        <p:nvSpPr>
          <p:cNvPr id="48" name="Rectangle 89">
            <a:extLst>
              <a:ext uri="{FF2B5EF4-FFF2-40B4-BE49-F238E27FC236}">
                <a16:creationId xmlns:a16="http://schemas.microsoft.com/office/drawing/2014/main" id="{55739AFA-3D6C-274F-AF45-B98657A19046}"/>
              </a:ext>
            </a:extLst>
          </p:cNvPr>
          <p:cNvSpPr>
            <a:spLocks noChangeArrowheads="1"/>
          </p:cNvSpPr>
          <p:nvPr/>
        </p:nvSpPr>
        <p:spPr bwMode="auto">
          <a:xfrm>
            <a:off x="4991971" y="4471304"/>
            <a:ext cx="147637" cy="200025"/>
          </a:xfrm>
          <a:prstGeom prst="rect">
            <a:avLst/>
          </a:prstGeom>
          <a:solidFill>
            <a:schemeClr val="bg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endParaRPr lang="en-US" altLang="en-US" sz="2800">
              <a:solidFill>
                <a:srgbClr val="000000"/>
              </a:solidFill>
              <a:latin typeface="+mn-lt"/>
            </a:endParaRPr>
          </a:p>
        </p:txBody>
      </p:sp>
      <p:grpSp>
        <p:nvGrpSpPr>
          <p:cNvPr id="49" name="Group 93">
            <a:extLst>
              <a:ext uri="{FF2B5EF4-FFF2-40B4-BE49-F238E27FC236}">
                <a16:creationId xmlns:a16="http://schemas.microsoft.com/office/drawing/2014/main" id="{99FB082D-48A3-DB4E-B785-79F493984667}"/>
              </a:ext>
            </a:extLst>
          </p:cNvPr>
          <p:cNvGrpSpPr>
            <a:grpSpLocks/>
          </p:cNvGrpSpPr>
          <p:nvPr/>
        </p:nvGrpSpPr>
        <p:grpSpPr bwMode="auto">
          <a:xfrm>
            <a:off x="5833346" y="3172731"/>
            <a:ext cx="6299202" cy="1204913"/>
            <a:chOff x="2259" y="2247"/>
            <a:chExt cx="3968" cy="759"/>
          </a:xfrm>
        </p:grpSpPr>
        <p:sp>
          <p:nvSpPr>
            <p:cNvPr id="50" name="Text Box 66">
              <a:extLst>
                <a:ext uri="{FF2B5EF4-FFF2-40B4-BE49-F238E27FC236}">
                  <a16:creationId xmlns:a16="http://schemas.microsoft.com/office/drawing/2014/main" id="{15E16EFE-9699-4F4E-BFC6-790480667E12}"/>
                </a:ext>
              </a:extLst>
            </p:cNvPr>
            <p:cNvSpPr txBox="1">
              <a:spLocks noChangeArrowheads="1"/>
            </p:cNvSpPr>
            <p:nvPr/>
          </p:nvSpPr>
          <p:spPr bwMode="auto">
            <a:xfrm>
              <a:off x="2525" y="2247"/>
              <a:ext cx="370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000000"/>
                  </a:solidFill>
                  <a:latin typeface="+mn-lt"/>
                </a:rPr>
                <a:t>packet being transmitted </a:t>
              </a:r>
              <a:r>
                <a:rPr lang="en-US" altLang="en-US" dirty="0">
                  <a:solidFill>
                    <a:srgbClr val="CC0000"/>
                  </a:solidFill>
                  <a:latin typeface="+mn-lt"/>
                </a:rPr>
                <a:t>(transmission delay)</a:t>
              </a:r>
            </a:p>
          </p:txBody>
        </p:sp>
        <p:sp>
          <p:nvSpPr>
            <p:cNvPr id="51" name="Line 67">
              <a:extLst>
                <a:ext uri="{FF2B5EF4-FFF2-40B4-BE49-F238E27FC236}">
                  <a16:creationId xmlns:a16="http://schemas.microsoft.com/office/drawing/2014/main" id="{13FF81C3-546D-F344-9FE2-4D72EFA0CD2C}"/>
                </a:ext>
              </a:extLst>
            </p:cNvPr>
            <p:cNvSpPr>
              <a:spLocks noChangeShapeType="1"/>
            </p:cNvSpPr>
            <p:nvPr/>
          </p:nvSpPr>
          <p:spPr bwMode="auto">
            <a:xfrm rot="10800000" flipV="1">
              <a:off x="2259" y="2462"/>
              <a:ext cx="836" cy="5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grpSp>
      <p:grpSp>
        <p:nvGrpSpPr>
          <p:cNvPr id="52" name="Group 94">
            <a:extLst>
              <a:ext uri="{FF2B5EF4-FFF2-40B4-BE49-F238E27FC236}">
                <a16:creationId xmlns:a16="http://schemas.microsoft.com/office/drawing/2014/main" id="{26EEA1DE-D9F0-2D47-AABB-733C528B384F}"/>
              </a:ext>
            </a:extLst>
          </p:cNvPr>
          <p:cNvGrpSpPr>
            <a:grpSpLocks/>
          </p:cNvGrpSpPr>
          <p:nvPr/>
        </p:nvGrpSpPr>
        <p:grpSpPr bwMode="auto">
          <a:xfrm>
            <a:off x="5550773" y="4742762"/>
            <a:ext cx="5216531" cy="900111"/>
            <a:chOff x="2103" y="3214"/>
            <a:chExt cx="3286" cy="567"/>
          </a:xfrm>
        </p:grpSpPr>
        <p:sp>
          <p:nvSpPr>
            <p:cNvPr id="53" name="Text Box 72">
              <a:extLst>
                <a:ext uri="{FF2B5EF4-FFF2-40B4-BE49-F238E27FC236}">
                  <a16:creationId xmlns:a16="http://schemas.microsoft.com/office/drawing/2014/main" id="{674A1D43-19A1-AA41-9CBF-545C92FF13AA}"/>
                </a:ext>
              </a:extLst>
            </p:cNvPr>
            <p:cNvSpPr txBox="1">
              <a:spLocks noChangeArrowheads="1"/>
            </p:cNvSpPr>
            <p:nvPr/>
          </p:nvSpPr>
          <p:spPr bwMode="auto">
            <a:xfrm>
              <a:off x="2530" y="3490"/>
              <a:ext cx="285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000000"/>
                  </a:solidFill>
                  <a:latin typeface="+mn-lt"/>
                </a:rPr>
                <a:t>packets in buffers</a:t>
              </a:r>
              <a:r>
                <a:rPr lang="en-US" altLang="en-US" dirty="0">
                  <a:solidFill>
                    <a:srgbClr val="FF0000"/>
                  </a:solidFill>
                  <a:latin typeface="+mn-lt"/>
                </a:rPr>
                <a:t> </a:t>
              </a:r>
              <a:r>
                <a:rPr lang="en-US" altLang="en-US" dirty="0">
                  <a:solidFill>
                    <a:srgbClr val="CC0000"/>
                  </a:solidFill>
                  <a:latin typeface="+mn-lt"/>
                </a:rPr>
                <a:t>(queueing delay)</a:t>
              </a:r>
            </a:p>
          </p:txBody>
        </p:sp>
        <p:sp>
          <p:nvSpPr>
            <p:cNvPr id="54" name="Line 73">
              <a:extLst>
                <a:ext uri="{FF2B5EF4-FFF2-40B4-BE49-F238E27FC236}">
                  <a16:creationId xmlns:a16="http://schemas.microsoft.com/office/drawing/2014/main" id="{CDBE935F-08EE-9646-85EA-B0063869E76E}"/>
                </a:ext>
              </a:extLst>
            </p:cNvPr>
            <p:cNvSpPr>
              <a:spLocks noChangeShapeType="1"/>
            </p:cNvSpPr>
            <p:nvPr/>
          </p:nvSpPr>
          <p:spPr bwMode="auto">
            <a:xfrm rot="10800000">
              <a:off x="2103" y="3214"/>
              <a:ext cx="471" cy="40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grpSp>
      <p:grpSp>
        <p:nvGrpSpPr>
          <p:cNvPr id="55" name="Group 95">
            <a:extLst>
              <a:ext uri="{FF2B5EF4-FFF2-40B4-BE49-F238E27FC236}">
                <a16:creationId xmlns:a16="http://schemas.microsoft.com/office/drawing/2014/main" id="{BB37FD35-03D6-7647-8A50-07C919E6BBD2}"/>
              </a:ext>
            </a:extLst>
          </p:cNvPr>
          <p:cNvGrpSpPr>
            <a:grpSpLocks/>
          </p:cNvGrpSpPr>
          <p:nvPr/>
        </p:nvGrpSpPr>
        <p:grpSpPr bwMode="auto">
          <a:xfrm>
            <a:off x="4468095" y="4704672"/>
            <a:ext cx="5173663" cy="1757364"/>
            <a:chOff x="1421" y="3190"/>
            <a:chExt cx="3259" cy="1107"/>
          </a:xfrm>
        </p:grpSpPr>
        <p:sp>
          <p:nvSpPr>
            <p:cNvPr id="56" name="Line 91">
              <a:extLst>
                <a:ext uri="{FF2B5EF4-FFF2-40B4-BE49-F238E27FC236}">
                  <a16:creationId xmlns:a16="http://schemas.microsoft.com/office/drawing/2014/main" id="{A5A2CA5C-95AA-1E49-AE10-3C2A0148D791}"/>
                </a:ext>
              </a:extLst>
            </p:cNvPr>
            <p:cNvSpPr>
              <a:spLocks noChangeShapeType="1"/>
            </p:cNvSpPr>
            <p:nvPr/>
          </p:nvSpPr>
          <p:spPr bwMode="auto">
            <a:xfrm rot="10800000" flipH="1">
              <a:off x="1793" y="3190"/>
              <a:ext cx="110" cy="6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57" name="Text Box 92">
              <a:extLst>
                <a:ext uri="{FF2B5EF4-FFF2-40B4-BE49-F238E27FC236}">
                  <a16:creationId xmlns:a16="http://schemas.microsoft.com/office/drawing/2014/main" id="{90578129-76D6-DA4C-AF38-D254E1E2AA25}"/>
                </a:ext>
              </a:extLst>
            </p:cNvPr>
            <p:cNvSpPr txBox="1">
              <a:spLocks noChangeArrowheads="1"/>
            </p:cNvSpPr>
            <p:nvPr/>
          </p:nvSpPr>
          <p:spPr bwMode="auto">
            <a:xfrm>
              <a:off x="1421" y="3774"/>
              <a:ext cx="3259"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000000"/>
                  </a:solidFill>
                  <a:latin typeface="+mn-lt"/>
                </a:rPr>
                <a:t>free (available) buffers: arriving packets </a:t>
              </a:r>
            </a:p>
            <a:p>
              <a:r>
                <a:rPr lang="en-US" altLang="en-US" dirty="0">
                  <a:solidFill>
                    <a:srgbClr val="000000"/>
                  </a:solidFill>
                  <a:latin typeface="+mn-lt"/>
                </a:rPr>
                <a:t>dropped (</a:t>
              </a:r>
              <a:r>
                <a:rPr lang="en-US" altLang="en-US" dirty="0">
                  <a:solidFill>
                    <a:srgbClr val="CC0000"/>
                  </a:solidFill>
                  <a:latin typeface="+mn-lt"/>
                </a:rPr>
                <a:t>loss</a:t>
              </a:r>
              <a:r>
                <a:rPr lang="en-US" altLang="en-US" dirty="0">
                  <a:solidFill>
                    <a:srgbClr val="000000"/>
                  </a:solidFill>
                  <a:latin typeface="+mn-lt"/>
                </a:rPr>
                <a:t>) if no free buffers</a:t>
              </a:r>
            </a:p>
          </p:txBody>
        </p:sp>
      </p:grpSp>
      <p:grpSp>
        <p:nvGrpSpPr>
          <p:cNvPr id="59" name="Group 58">
            <a:extLst>
              <a:ext uri="{FF2B5EF4-FFF2-40B4-BE49-F238E27FC236}">
                <a16:creationId xmlns:a16="http://schemas.microsoft.com/office/drawing/2014/main" id="{750A30BE-4517-024C-8E13-70C75C60C9A9}"/>
              </a:ext>
            </a:extLst>
          </p:cNvPr>
          <p:cNvGrpSpPr/>
          <p:nvPr/>
        </p:nvGrpSpPr>
        <p:grpSpPr>
          <a:xfrm>
            <a:off x="7723012" y="4224627"/>
            <a:ext cx="1511352" cy="863670"/>
            <a:chOff x="7493876" y="2774731"/>
            <a:chExt cx="1481958" cy="894622"/>
          </a:xfrm>
        </p:grpSpPr>
        <p:sp>
          <p:nvSpPr>
            <p:cNvPr id="60" name="Freeform 59">
              <a:extLst>
                <a:ext uri="{FF2B5EF4-FFF2-40B4-BE49-F238E27FC236}">
                  <a16:creationId xmlns:a16="http://schemas.microsoft.com/office/drawing/2014/main" id="{D7769EBE-F27C-654D-9E70-D2F8F0CA4B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 name="Oval 60">
              <a:extLst>
                <a:ext uri="{FF2B5EF4-FFF2-40B4-BE49-F238E27FC236}">
                  <a16:creationId xmlns:a16="http://schemas.microsoft.com/office/drawing/2014/main" id="{5534D58D-15F7-4148-BD77-0628177745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 name="Group 61">
              <a:extLst>
                <a:ext uri="{FF2B5EF4-FFF2-40B4-BE49-F238E27FC236}">
                  <a16:creationId xmlns:a16="http://schemas.microsoft.com/office/drawing/2014/main" id="{3FDB434E-DC0A-064F-BFB7-51AD3253C155}"/>
                </a:ext>
              </a:extLst>
            </p:cNvPr>
            <p:cNvGrpSpPr/>
            <p:nvPr/>
          </p:nvGrpSpPr>
          <p:grpSpPr>
            <a:xfrm>
              <a:off x="7713663" y="2848339"/>
              <a:ext cx="1042107" cy="425543"/>
              <a:chOff x="7786941" y="2884917"/>
              <a:chExt cx="897649" cy="353919"/>
            </a:xfrm>
          </p:grpSpPr>
          <p:sp>
            <p:nvSpPr>
              <p:cNvPr id="63" name="Freeform 62">
                <a:extLst>
                  <a:ext uri="{FF2B5EF4-FFF2-40B4-BE49-F238E27FC236}">
                    <a16:creationId xmlns:a16="http://schemas.microsoft.com/office/drawing/2014/main" id="{1906A403-4D02-E745-9F12-A4DD0B4A4D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Freeform 63">
                <a:extLst>
                  <a:ext uri="{FF2B5EF4-FFF2-40B4-BE49-F238E27FC236}">
                    <a16:creationId xmlns:a16="http://schemas.microsoft.com/office/drawing/2014/main" id="{CEA9A27B-E199-2342-BF59-3743FE24283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64">
                <a:extLst>
                  <a:ext uri="{FF2B5EF4-FFF2-40B4-BE49-F238E27FC236}">
                    <a16:creationId xmlns:a16="http://schemas.microsoft.com/office/drawing/2014/main" id="{3E302C75-BA44-2547-9BE3-5EE9C07B302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65">
                <a:extLst>
                  <a:ext uri="{FF2B5EF4-FFF2-40B4-BE49-F238E27FC236}">
                    <a16:creationId xmlns:a16="http://schemas.microsoft.com/office/drawing/2014/main" id="{60B5EF7E-8EDB-5946-B230-2EAE3B474B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1159502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itle 1"/>
          <p:cNvSpPr>
            <a:spLocks noGrp="1" noChangeArrowheads="1"/>
          </p:cNvSpPr>
          <p:nvPr>
            <p:ph type="title"/>
          </p:nvPr>
        </p:nvSpPr>
        <p:spPr>
          <a:xfrm>
            <a:off x="838200" y="230916"/>
            <a:ext cx="10515600" cy="894622"/>
          </a:xfrm>
        </p:spPr>
        <p:txBody>
          <a:bodyPr/>
          <a:lstStyle/>
          <a:p>
            <a:r>
              <a:rPr lang="en-US" altLang="en-US">
                <a:ea typeface="ＭＳ Ｐゴシック" panose="020B0600070205080204" pitchFamily="34" charset="-128"/>
              </a:rPr>
              <a:t>How do loss and delay occur?</a:t>
            </a:r>
            <a:endParaRPr lang="en-MY" altLang="en-US">
              <a:ea typeface="ＭＳ Ｐゴシック" panose="020B0600070205080204" pitchFamily="34" charset="-128"/>
            </a:endParaRPr>
          </a:p>
        </p:txBody>
      </p:sp>
      <p:pic>
        <p:nvPicPr>
          <p:cNvPr id="12595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55914" y="1916114"/>
            <a:ext cx="6084887" cy="3805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ular Callout 5"/>
          <p:cNvSpPr/>
          <p:nvPr/>
        </p:nvSpPr>
        <p:spPr>
          <a:xfrm>
            <a:off x="4511675" y="1125538"/>
            <a:ext cx="1296988" cy="1295400"/>
          </a:xfrm>
          <a:prstGeom prst="wedgeRoundRectCallout">
            <a:avLst>
              <a:gd name="adj1" fmla="val 37265"/>
              <a:gd name="adj2" fmla="val 88783"/>
              <a:gd name="adj3" fmla="val 16667"/>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sz="2000" dirty="0">
                <a:solidFill>
                  <a:schemeClr val="bg1"/>
                </a:solidFill>
              </a:rPr>
              <a:t>packets queuing (delay)</a:t>
            </a:r>
          </a:p>
        </p:txBody>
      </p:sp>
      <p:sp>
        <p:nvSpPr>
          <p:cNvPr id="7" name="Rounded Rectangular Callout 6"/>
          <p:cNvSpPr/>
          <p:nvPr/>
        </p:nvSpPr>
        <p:spPr>
          <a:xfrm>
            <a:off x="6167439" y="1196975"/>
            <a:ext cx="1728787" cy="1295400"/>
          </a:xfrm>
          <a:prstGeom prst="wedgeRoundRectCallout">
            <a:avLst>
              <a:gd name="adj1" fmla="val -45732"/>
              <a:gd name="adj2" fmla="val 80483"/>
              <a:gd name="adj3" fmla="val 16667"/>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sz="2000" dirty="0">
                <a:solidFill>
                  <a:schemeClr val="bg1"/>
                </a:solidFill>
              </a:rPr>
              <a:t>packet being transmitted (delay)</a:t>
            </a:r>
          </a:p>
        </p:txBody>
      </p:sp>
      <p:sp>
        <p:nvSpPr>
          <p:cNvPr id="8" name="Rounded Rectangular Callout 7"/>
          <p:cNvSpPr/>
          <p:nvPr/>
        </p:nvSpPr>
        <p:spPr>
          <a:xfrm>
            <a:off x="3863975" y="3644901"/>
            <a:ext cx="1944688" cy="1152525"/>
          </a:xfrm>
          <a:prstGeom prst="wedgeRoundRectCallout">
            <a:avLst>
              <a:gd name="adj1" fmla="val 48331"/>
              <a:gd name="adj2" fmla="val -70295"/>
              <a:gd name="adj3" fmla="val 16667"/>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sz="2000" dirty="0">
                <a:solidFill>
                  <a:schemeClr val="bg1"/>
                </a:solidFill>
              </a:rPr>
              <a:t>Queue is full, packet dropped (loss)</a:t>
            </a:r>
          </a:p>
        </p:txBody>
      </p:sp>
      <p:pic>
        <p:nvPicPr>
          <p:cNvPr id="125960" name="Graphic 8"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8E3D5DEC-633E-5696-1E71-BF00CFDC4181}"/>
              </a:ext>
            </a:extLst>
          </p:cNvPr>
          <p:cNvSpPr>
            <a:spLocks noGrp="1"/>
          </p:cNvSpPr>
          <p:nvPr>
            <p:ph type="sldNum" sz="quarter" idx="4"/>
          </p:nvPr>
        </p:nvSpPr>
        <p:spPr>
          <a:xfrm>
            <a:off x="8786479" y="6242211"/>
            <a:ext cx="2743200" cy="365125"/>
          </a:xfrm>
        </p:spPr>
        <p:txBody>
          <a:bodyPr/>
          <a:lstStyle/>
          <a:p>
            <a:r>
              <a:rPr lang="en-US"/>
              <a:t>Introduction: 1-</a:t>
            </a:r>
            <a:fld id="{C4204591-24BD-A542-B9D5-F8D8A88D2FEE}" type="slidenum">
              <a:rPr lang="en-US" smtClean="0"/>
              <a:pPr/>
              <a:t>68</a:t>
            </a:fld>
            <a:endParaRPr lang="en-US" dirty="0"/>
          </a:p>
        </p:txBody>
      </p:sp>
    </p:spTree>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a:xfrm>
            <a:off x="1524000" y="6410326"/>
            <a:ext cx="3581400" cy="366713"/>
          </a:xfrm>
        </p:spPr>
        <p:txBody>
          <a:bodyPr/>
          <a:lstStyle/>
          <a:p>
            <a:pPr>
              <a:defRPr/>
            </a:pPr>
            <a:endParaRPr lang="en-MY" dirty="0"/>
          </a:p>
        </p:txBody>
      </p:sp>
      <p:pic>
        <p:nvPicPr>
          <p:cNvPr id="12697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1341438"/>
            <a:ext cx="7623175" cy="323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0" name="Rectangle 5"/>
          <p:cNvSpPr>
            <a:spLocks noChangeArrowheads="1"/>
          </p:cNvSpPr>
          <p:nvPr/>
        </p:nvSpPr>
        <p:spPr bwMode="auto">
          <a:xfrm>
            <a:off x="4583113" y="476250"/>
            <a:ext cx="34789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000" b="1">
                <a:solidFill>
                  <a:srgbClr val="C00000"/>
                </a:solidFill>
                <a:latin typeface="Arial" panose="020B0604020202020204" pitchFamily="34" charset="0"/>
              </a:rPr>
              <a:t>The nodal delay at router A</a:t>
            </a:r>
          </a:p>
        </p:txBody>
      </p:sp>
      <p:sp>
        <p:nvSpPr>
          <p:cNvPr id="126981" name="TextBox 6"/>
          <p:cNvSpPr txBox="1">
            <a:spLocks noChangeArrowheads="1"/>
          </p:cNvSpPr>
          <p:nvPr/>
        </p:nvSpPr>
        <p:spPr bwMode="auto">
          <a:xfrm>
            <a:off x="6672264" y="981075"/>
            <a:ext cx="3609975" cy="1016000"/>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A packet goes through a series of delays at </a:t>
            </a:r>
            <a:r>
              <a:rPr lang="en-US" altLang="en-US" sz="2000" b="1" u="sng">
                <a:latin typeface="Arial" panose="020B0604020202020204" pitchFamily="34" charset="0"/>
              </a:rPr>
              <a:t>each node</a:t>
            </a:r>
            <a:r>
              <a:rPr lang="en-US" altLang="en-US" sz="2000" u="sng">
                <a:latin typeface="Arial" panose="020B0604020202020204" pitchFamily="34" charset="0"/>
              </a:rPr>
              <a:t> </a:t>
            </a:r>
            <a:r>
              <a:rPr lang="en-US" altLang="en-US" sz="2000">
                <a:latin typeface="Arial" panose="020B0604020202020204" pitchFamily="34" charset="0"/>
              </a:rPr>
              <a:t>along the path</a:t>
            </a:r>
            <a:endParaRPr lang="ms-MY" altLang="en-US" sz="2000">
              <a:latin typeface="Arial" panose="020B0604020202020204" pitchFamily="34" charset="0"/>
            </a:endParaRPr>
          </a:p>
        </p:txBody>
      </p:sp>
      <p:sp>
        <p:nvSpPr>
          <p:cNvPr id="126982" name="Rectangle 7"/>
          <p:cNvSpPr>
            <a:spLocks noChangeArrowheads="1"/>
          </p:cNvSpPr>
          <p:nvPr/>
        </p:nvSpPr>
        <p:spPr bwMode="auto">
          <a:xfrm>
            <a:off x="4295776" y="4221164"/>
            <a:ext cx="796925" cy="458787"/>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eaLnBrk="1" hangingPunct="1">
              <a:buClr>
                <a:srgbClr val="000099"/>
              </a:buClr>
              <a:buSzPct val="75000"/>
              <a:buFont typeface="Wingdings" panose="05000000000000000000" pitchFamily="2" charset="2"/>
              <a:buNone/>
            </a:pPr>
            <a:r>
              <a:rPr lang="en-US" altLang="en-US" i="1">
                <a:solidFill>
                  <a:srgbClr val="000000"/>
                </a:solidFill>
              </a:rPr>
              <a:t>d</a:t>
            </a:r>
            <a:r>
              <a:rPr lang="en-US" altLang="en-US" baseline="-25000">
                <a:solidFill>
                  <a:srgbClr val="000000"/>
                </a:solidFill>
              </a:rPr>
              <a:t>proc</a:t>
            </a:r>
            <a:endParaRPr lang="en-US" altLang="en-US">
              <a:solidFill>
                <a:srgbClr val="000000"/>
              </a:solidFill>
            </a:endParaRPr>
          </a:p>
        </p:txBody>
      </p:sp>
      <p:sp>
        <p:nvSpPr>
          <p:cNvPr id="126983" name="Rectangle 8"/>
          <p:cNvSpPr>
            <a:spLocks noChangeArrowheads="1"/>
          </p:cNvSpPr>
          <p:nvPr/>
        </p:nvSpPr>
        <p:spPr bwMode="auto">
          <a:xfrm>
            <a:off x="7032626" y="3933825"/>
            <a:ext cx="841375" cy="45720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eaLnBrk="1" hangingPunct="1">
              <a:buClr>
                <a:srgbClr val="000099"/>
              </a:buClr>
              <a:buSzPct val="75000"/>
              <a:buFont typeface="Wingdings" panose="05000000000000000000" pitchFamily="2" charset="2"/>
              <a:buNone/>
            </a:pPr>
            <a:r>
              <a:rPr lang="en-US" altLang="en-US" i="1">
                <a:solidFill>
                  <a:srgbClr val="000000"/>
                </a:solidFill>
              </a:rPr>
              <a:t>d</a:t>
            </a:r>
            <a:r>
              <a:rPr lang="en-US" altLang="en-US" baseline="-25000">
                <a:solidFill>
                  <a:srgbClr val="000000"/>
                </a:solidFill>
              </a:rPr>
              <a:t>trans</a:t>
            </a:r>
            <a:endParaRPr lang="en-US" altLang="en-US">
              <a:solidFill>
                <a:srgbClr val="000000"/>
              </a:solidFill>
            </a:endParaRPr>
          </a:p>
        </p:txBody>
      </p:sp>
      <p:sp>
        <p:nvSpPr>
          <p:cNvPr id="126984" name="Rectangle 9"/>
          <p:cNvSpPr>
            <a:spLocks noChangeArrowheads="1"/>
          </p:cNvSpPr>
          <p:nvPr/>
        </p:nvSpPr>
        <p:spPr bwMode="auto">
          <a:xfrm>
            <a:off x="5591176" y="4508500"/>
            <a:ext cx="944563" cy="4587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eaLnBrk="1" hangingPunct="1">
              <a:buClr>
                <a:srgbClr val="000099"/>
              </a:buClr>
              <a:buSzPct val="75000"/>
              <a:buFont typeface="Wingdings" panose="05000000000000000000" pitchFamily="2" charset="2"/>
              <a:buNone/>
            </a:pPr>
            <a:r>
              <a:rPr lang="en-US" altLang="en-US" i="1">
                <a:solidFill>
                  <a:srgbClr val="000000"/>
                </a:solidFill>
              </a:rPr>
              <a:t>d</a:t>
            </a:r>
            <a:r>
              <a:rPr lang="en-US" altLang="en-US" baseline="-25000">
                <a:solidFill>
                  <a:srgbClr val="000000"/>
                </a:solidFill>
              </a:rPr>
              <a:t>queue</a:t>
            </a:r>
            <a:endParaRPr lang="en-US" altLang="en-US">
              <a:solidFill>
                <a:srgbClr val="000000"/>
              </a:solidFill>
            </a:endParaRPr>
          </a:p>
        </p:txBody>
      </p:sp>
      <p:sp>
        <p:nvSpPr>
          <p:cNvPr id="126985" name="Rectangle 10"/>
          <p:cNvSpPr>
            <a:spLocks noChangeArrowheads="1"/>
          </p:cNvSpPr>
          <p:nvPr/>
        </p:nvSpPr>
        <p:spPr bwMode="auto">
          <a:xfrm>
            <a:off x="8399464" y="3357564"/>
            <a:ext cx="814387" cy="458787"/>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eaLnBrk="1" hangingPunct="1">
              <a:buClr>
                <a:srgbClr val="000099"/>
              </a:buClr>
              <a:buSzPct val="75000"/>
              <a:buFont typeface="Wingdings" panose="05000000000000000000" pitchFamily="2" charset="2"/>
              <a:buNone/>
            </a:pPr>
            <a:r>
              <a:rPr lang="en-US" altLang="en-US" i="1">
                <a:solidFill>
                  <a:srgbClr val="000000"/>
                </a:solidFill>
              </a:rPr>
              <a:t>d</a:t>
            </a:r>
            <a:r>
              <a:rPr lang="en-US" altLang="en-US" baseline="-25000">
                <a:solidFill>
                  <a:srgbClr val="000000"/>
                </a:solidFill>
              </a:rPr>
              <a:t>prop</a:t>
            </a:r>
            <a:endParaRPr lang="en-US" altLang="en-US">
              <a:solidFill>
                <a:srgbClr val="000000"/>
              </a:solidFill>
            </a:endParaRPr>
          </a:p>
        </p:txBody>
      </p:sp>
      <p:sp>
        <p:nvSpPr>
          <p:cNvPr id="126986" name="Rectangle 12"/>
          <p:cNvSpPr>
            <a:spLocks noChangeArrowheads="1"/>
          </p:cNvSpPr>
          <p:nvPr/>
        </p:nvSpPr>
        <p:spPr bwMode="auto">
          <a:xfrm>
            <a:off x="2063751" y="5229225"/>
            <a:ext cx="7954963" cy="4587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buClr>
                <a:srgbClr val="000099"/>
              </a:buClr>
              <a:buSzPct val="75000"/>
              <a:buFontTx/>
              <a:buNone/>
            </a:pPr>
            <a:r>
              <a:rPr lang="en-US" altLang="en-US" i="1">
                <a:solidFill>
                  <a:srgbClr val="000000"/>
                </a:solidFill>
              </a:rPr>
              <a:t>Total nodal delay = d</a:t>
            </a:r>
            <a:r>
              <a:rPr lang="en-US" altLang="en-US" baseline="-25000">
                <a:solidFill>
                  <a:srgbClr val="000000"/>
                </a:solidFill>
              </a:rPr>
              <a:t>nodal</a:t>
            </a:r>
            <a:r>
              <a:rPr lang="en-US" altLang="en-US">
                <a:solidFill>
                  <a:srgbClr val="000000"/>
                </a:solidFill>
              </a:rPr>
              <a:t> = </a:t>
            </a:r>
            <a:r>
              <a:rPr lang="en-US" altLang="en-US" i="1">
                <a:solidFill>
                  <a:srgbClr val="000000"/>
                </a:solidFill>
              </a:rPr>
              <a:t>d</a:t>
            </a:r>
            <a:r>
              <a:rPr lang="en-US" altLang="en-US" baseline="-25000">
                <a:solidFill>
                  <a:srgbClr val="000000"/>
                </a:solidFill>
              </a:rPr>
              <a:t>proc</a:t>
            </a:r>
            <a:r>
              <a:rPr lang="en-US" altLang="en-US">
                <a:solidFill>
                  <a:srgbClr val="000000"/>
                </a:solidFill>
              </a:rPr>
              <a:t> + </a:t>
            </a:r>
            <a:r>
              <a:rPr lang="en-US" altLang="en-US" i="1">
                <a:solidFill>
                  <a:srgbClr val="000000"/>
                </a:solidFill>
              </a:rPr>
              <a:t>d</a:t>
            </a:r>
            <a:r>
              <a:rPr lang="en-US" altLang="en-US" baseline="-25000">
                <a:solidFill>
                  <a:srgbClr val="000000"/>
                </a:solidFill>
              </a:rPr>
              <a:t>queue</a:t>
            </a:r>
            <a:r>
              <a:rPr lang="en-US" altLang="en-US">
                <a:solidFill>
                  <a:srgbClr val="000000"/>
                </a:solidFill>
              </a:rPr>
              <a:t> + </a:t>
            </a:r>
            <a:r>
              <a:rPr lang="en-US" altLang="en-US" i="1">
                <a:solidFill>
                  <a:srgbClr val="000000"/>
                </a:solidFill>
              </a:rPr>
              <a:t>d</a:t>
            </a:r>
            <a:r>
              <a:rPr lang="en-US" altLang="en-US" baseline="-25000">
                <a:solidFill>
                  <a:srgbClr val="000000"/>
                </a:solidFill>
              </a:rPr>
              <a:t>trans</a:t>
            </a:r>
            <a:r>
              <a:rPr lang="en-US" altLang="en-US">
                <a:solidFill>
                  <a:srgbClr val="000000"/>
                </a:solidFill>
              </a:rPr>
              <a:t> +  </a:t>
            </a:r>
            <a:r>
              <a:rPr lang="en-US" altLang="en-US" i="1">
                <a:solidFill>
                  <a:srgbClr val="000000"/>
                </a:solidFill>
              </a:rPr>
              <a:t>d</a:t>
            </a:r>
            <a:r>
              <a:rPr lang="en-US" altLang="en-US" baseline="-25000">
                <a:solidFill>
                  <a:srgbClr val="000000"/>
                </a:solidFill>
              </a:rPr>
              <a:t>prop</a:t>
            </a:r>
            <a:endParaRPr lang="en-US" altLang="en-US">
              <a:solidFill>
                <a:srgbClr val="000000"/>
              </a:solidFill>
            </a:endParaRPr>
          </a:p>
        </p:txBody>
      </p:sp>
      <p:pic>
        <p:nvPicPr>
          <p:cNvPr id="126987" name="Graphic 11" descr="Puzzle"/>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C5E83F9E-3AA3-E20A-6591-E253BE1856D4}"/>
              </a:ext>
            </a:extLst>
          </p:cNvPr>
          <p:cNvSpPr txBox="1">
            <a:spLocks/>
          </p:cNvSpPr>
          <p:nvPr/>
        </p:nvSpPr>
        <p:spPr>
          <a:xfrm>
            <a:off x="9219616" y="6512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69</a:t>
            </a:fld>
            <a:endParaRPr lang="en-US" dirty="0"/>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Group 134">
            <a:extLst>
              <a:ext uri="{FF2B5EF4-FFF2-40B4-BE49-F238E27FC236}">
                <a16:creationId xmlns:a16="http://schemas.microsoft.com/office/drawing/2014/main" id="{3AD72523-4228-9C47-B195-4AAF96A160BD}"/>
              </a:ext>
            </a:extLst>
          </p:cNvPr>
          <p:cNvGrpSpPr/>
          <p:nvPr/>
        </p:nvGrpSpPr>
        <p:grpSpPr>
          <a:xfrm>
            <a:off x="3364430" y="1767623"/>
            <a:ext cx="1511352" cy="863670"/>
            <a:chOff x="7493876" y="2774731"/>
            <a:chExt cx="1481958" cy="894622"/>
          </a:xfrm>
        </p:grpSpPr>
        <p:sp>
          <p:nvSpPr>
            <p:cNvPr id="136" name="Freeform 135">
              <a:extLst>
                <a:ext uri="{FF2B5EF4-FFF2-40B4-BE49-F238E27FC236}">
                  <a16:creationId xmlns:a16="http://schemas.microsoft.com/office/drawing/2014/main" id="{9FB9E0EF-9063-B545-BC2B-062A0488CC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37" name="Oval 136">
              <a:extLst>
                <a:ext uri="{FF2B5EF4-FFF2-40B4-BE49-F238E27FC236}">
                  <a16:creationId xmlns:a16="http://schemas.microsoft.com/office/drawing/2014/main" id="{B0BF60BF-9AF2-D948-8319-1FF102BC7D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38" name="Group 137">
              <a:extLst>
                <a:ext uri="{FF2B5EF4-FFF2-40B4-BE49-F238E27FC236}">
                  <a16:creationId xmlns:a16="http://schemas.microsoft.com/office/drawing/2014/main" id="{B32B55C6-F759-234F-8CF0-5FB387F35BC4}"/>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B1153D6F-A3DF-7246-9629-9228753ADE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139">
                <a:extLst>
                  <a:ext uri="{FF2B5EF4-FFF2-40B4-BE49-F238E27FC236}">
                    <a16:creationId xmlns:a16="http://schemas.microsoft.com/office/drawing/2014/main" id="{1C55D52C-AF37-4949-9428-203518D525C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140">
                <a:extLst>
                  <a:ext uri="{FF2B5EF4-FFF2-40B4-BE49-F238E27FC236}">
                    <a16:creationId xmlns:a16="http://schemas.microsoft.com/office/drawing/2014/main" id="{58904F43-F0C7-374E-ADE8-8A024A6627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141">
                <a:extLst>
                  <a:ext uri="{FF2B5EF4-FFF2-40B4-BE49-F238E27FC236}">
                    <a16:creationId xmlns:a16="http://schemas.microsoft.com/office/drawing/2014/main" id="{874597C3-FAA4-A147-A86C-C510882704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Packet delay: four sources</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a:xfrm>
            <a:off x="9219616" y="6512089"/>
            <a:ext cx="2743200" cy="365125"/>
          </a:xfrm>
        </p:spPr>
        <p:txBody>
          <a:bodyPr/>
          <a:lstStyle/>
          <a:p>
            <a:r>
              <a:rPr lang="en-US"/>
              <a:t>Introduction: 1-</a:t>
            </a:r>
            <a:fld id="{C4204591-24BD-A542-B9D5-F8D8A88D2FEE}" type="slidenum">
              <a:rPr lang="en-US" smtClean="0"/>
              <a:pPr/>
              <a:t>70</a:t>
            </a:fld>
            <a:endParaRPr lang="en-US" dirty="0"/>
          </a:p>
        </p:txBody>
      </p:sp>
      <p:sp>
        <p:nvSpPr>
          <p:cNvPr id="58" name="Rectangle 4">
            <a:extLst>
              <a:ext uri="{FF2B5EF4-FFF2-40B4-BE49-F238E27FC236}">
                <a16:creationId xmlns:a16="http://schemas.microsoft.com/office/drawing/2014/main" id="{AC2D03E9-7C61-0A43-A247-276B596B9942}"/>
              </a:ext>
            </a:extLst>
          </p:cNvPr>
          <p:cNvSpPr txBox="1">
            <a:spLocks noChangeArrowheads="1"/>
          </p:cNvSpPr>
          <p:nvPr/>
        </p:nvSpPr>
        <p:spPr>
          <a:xfrm>
            <a:off x="1164734" y="4523810"/>
            <a:ext cx="3810000" cy="183959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95275">
              <a:spcBef>
                <a:spcPts val="600"/>
              </a:spcBef>
              <a:buFont typeface="Wingdings" charset="0"/>
              <a:buNone/>
              <a:defRPr/>
            </a:pPr>
            <a:r>
              <a:rPr lang="en-US" i="1" dirty="0" err="1">
                <a:solidFill>
                  <a:srgbClr val="CC0000"/>
                </a:solidFill>
              </a:rPr>
              <a:t>d</a:t>
            </a:r>
            <a:r>
              <a:rPr lang="en-US" baseline="-25000" dirty="0" err="1">
                <a:solidFill>
                  <a:srgbClr val="CC0000"/>
                </a:solidFill>
              </a:rPr>
              <a:t>proc</a:t>
            </a:r>
            <a:r>
              <a:rPr lang="en-US" dirty="0">
                <a:solidFill>
                  <a:srgbClr val="CC0000"/>
                </a:solidFill>
              </a:rPr>
              <a:t>: nodal processing</a:t>
            </a:r>
            <a:r>
              <a:rPr lang="en-US" dirty="0"/>
              <a:t> </a:t>
            </a:r>
          </a:p>
          <a:p>
            <a:pPr marL="349250" indent="-233363">
              <a:spcBef>
                <a:spcPts val="600"/>
              </a:spcBef>
              <a:buFont typeface="Wingdings" charset="0"/>
              <a:buChar char="§"/>
              <a:defRPr/>
            </a:pPr>
            <a:r>
              <a:rPr lang="en-US" sz="2400" dirty="0"/>
              <a:t>check bit errors</a:t>
            </a:r>
          </a:p>
          <a:p>
            <a:pPr marL="349250" indent="-233363">
              <a:spcBef>
                <a:spcPts val="600"/>
              </a:spcBef>
              <a:buFont typeface="Wingdings" charset="0"/>
              <a:buChar char="§"/>
              <a:defRPr/>
            </a:pPr>
            <a:r>
              <a:rPr lang="en-US" sz="2400" dirty="0"/>
              <a:t>determine output link</a:t>
            </a:r>
          </a:p>
          <a:p>
            <a:pPr marL="349250" indent="-233363">
              <a:spcBef>
                <a:spcPts val="600"/>
              </a:spcBef>
              <a:buFont typeface="Wingdings" charset="0"/>
              <a:buChar char="§"/>
              <a:defRPr/>
            </a:pPr>
            <a:r>
              <a:rPr lang="en-US" sz="2400" dirty="0"/>
              <a:t>typically &lt; </a:t>
            </a:r>
            <a:r>
              <a:rPr lang="en-US" sz="2400" dirty="0" err="1"/>
              <a:t>msec</a:t>
            </a:r>
            <a:endParaRPr lang="en-US" sz="2400" dirty="0"/>
          </a:p>
        </p:txBody>
      </p:sp>
      <p:sp>
        <p:nvSpPr>
          <p:cNvPr id="75" name="Rectangle 58">
            <a:extLst>
              <a:ext uri="{FF2B5EF4-FFF2-40B4-BE49-F238E27FC236}">
                <a16:creationId xmlns:a16="http://schemas.microsoft.com/office/drawing/2014/main" id="{9033E5DB-6EA3-CE4C-B1A8-C9C804BDCB3F}"/>
              </a:ext>
            </a:extLst>
          </p:cNvPr>
          <p:cNvSpPr>
            <a:spLocks noChangeArrowheads="1"/>
          </p:cNvSpPr>
          <p:nvPr/>
        </p:nvSpPr>
        <p:spPr bwMode="auto">
          <a:xfrm>
            <a:off x="5233355" y="4536106"/>
            <a:ext cx="5953228" cy="1394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4488" indent="-344488">
              <a:lnSpc>
                <a:spcPct val="90000"/>
              </a:lnSpc>
              <a:spcBef>
                <a:spcPts val="600"/>
              </a:spcBef>
              <a:buClr>
                <a:srgbClr val="3333CC"/>
              </a:buClr>
              <a:buSzPct val="85000"/>
              <a:buFont typeface="Wingdings" charset="0"/>
              <a:buNone/>
              <a:defRPr/>
            </a:pPr>
            <a:r>
              <a:rPr lang="en-US" sz="2000" dirty="0">
                <a:solidFill>
                  <a:srgbClr val="FF0000"/>
                </a:solidFill>
                <a:ea typeface="ＭＳ Ｐゴシック" charset="0"/>
                <a:cs typeface="ＭＳ Ｐゴシック" charset="0"/>
              </a:rPr>
              <a:t> </a:t>
            </a:r>
            <a:r>
              <a:rPr lang="en-US" sz="2800" i="1" dirty="0">
                <a:solidFill>
                  <a:srgbClr val="CC0000"/>
                </a:solidFill>
                <a:ea typeface="ＭＳ Ｐゴシック" charset="0"/>
                <a:cs typeface="ＭＳ Ｐゴシック" charset="0"/>
              </a:rPr>
              <a:t>d</a:t>
            </a:r>
            <a:r>
              <a:rPr lang="en-US" sz="2800" baseline="-25000" dirty="0">
                <a:solidFill>
                  <a:srgbClr val="CC0000"/>
                </a:solidFill>
                <a:ea typeface="ＭＳ Ｐゴシック" charset="0"/>
                <a:cs typeface="ＭＳ Ｐゴシック" charset="0"/>
              </a:rPr>
              <a:t>queue</a:t>
            </a:r>
            <a:r>
              <a:rPr lang="en-US" sz="2800" dirty="0">
                <a:solidFill>
                  <a:srgbClr val="CC0000"/>
                </a:solidFill>
                <a:ea typeface="ＭＳ Ｐゴシック" charset="0"/>
                <a:cs typeface="ＭＳ Ｐゴシック" charset="0"/>
              </a:rPr>
              <a:t>: queueing delay</a:t>
            </a:r>
          </a:p>
          <a:p>
            <a:pPr marL="231775" indent="-231775">
              <a:lnSpc>
                <a:spcPct val="90000"/>
              </a:lnSpc>
              <a:spcBef>
                <a:spcPts val="600"/>
              </a:spcBef>
              <a:buClr>
                <a:srgbClr val="000099"/>
              </a:buClr>
              <a:buFont typeface="Wingdings" charset="0"/>
              <a:buChar char="§"/>
              <a:defRPr/>
            </a:pPr>
            <a:r>
              <a:rPr lang="en-US" sz="2400" dirty="0">
                <a:solidFill>
                  <a:srgbClr val="000000"/>
                </a:solidFill>
                <a:ea typeface="ＭＳ Ｐゴシック" charset="0"/>
                <a:cs typeface="ＭＳ Ｐゴシック" charset="0"/>
              </a:rPr>
              <a:t>time waiting at output link for transmission </a:t>
            </a:r>
          </a:p>
          <a:p>
            <a:pPr marL="231775" indent="-231775">
              <a:lnSpc>
                <a:spcPct val="90000"/>
              </a:lnSpc>
              <a:spcBef>
                <a:spcPts val="600"/>
              </a:spcBef>
              <a:buClr>
                <a:srgbClr val="000099"/>
              </a:buClr>
              <a:buFont typeface="Wingdings" charset="0"/>
              <a:buChar char="§"/>
              <a:defRPr/>
            </a:pPr>
            <a:r>
              <a:rPr lang="en-US" sz="2400" dirty="0">
                <a:solidFill>
                  <a:srgbClr val="000000"/>
                </a:solidFill>
                <a:ea typeface="ＭＳ Ｐゴシック" charset="0"/>
                <a:cs typeface="ＭＳ Ｐゴシック" charset="0"/>
              </a:rPr>
              <a:t>depends on congestion level of router</a:t>
            </a:r>
          </a:p>
        </p:txBody>
      </p:sp>
      <p:sp>
        <p:nvSpPr>
          <p:cNvPr id="77" name="Line 24">
            <a:extLst>
              <a:ext uri="{FF2B5EF4-FFF2-40B4-BE49-F238E27FC236}">
                <a16:creationId xmlns:a16="http://schemas.microsoft.com/office/drawing/2014/main" id="{79DB8C95-768E-854F-9CEA-5533DCECBE17}"/>
              </a:ext>
            </a:extLst>
          </p:cNvPr>
          <p:cNvSpPr>
            <a:spLocks noChangeShapeType="1"/>
          </p:cNvSpPr>
          <p:nvPr/>
        </p:nvSpPr>
        <p:spPr bwMode="auto">
          <a:xfrm>
            <a:off x="2621011" y="1783635"/>
            <a:ext cx="741403" cy="355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80" name="Rectangle 29">
            <a:extLst>
              <a:ext uri="{FF2B5EF4-FFF2-40B4-BE49-F238E27FC236}">
                <a16:creationId xmlns:a16="http://schemas.microsoft.com/office/drawing/2014/main" id="{9803C6B5-AE4A-F54B-86CB-D404B2A716C1}"/>
              </a:ext>
            </a:extLst>
          </p:cNvPr>
          <p:cNvSpPr>
            <a:spLocks noChangeArrowheads="1"/>
          </p:cNvSpPr>
          <p:nvPr/>
        </p:nvSpPr>
        <p:spPr bwMode="auto">
          <a:xfrm>
            <a:off x="5464378" y="2002710"/>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1" name="Rectangle 30">
            <a:extLst>
              <a:ext uri="{FF2B5EF4-FFF2-40B4-BE49-F238E27FC236}">
                <a16:creationId xmlns:a16="http://schemas.microsoft.com/office/drawing/2014/main" id="{2BFFBBBA-8F3E-7640-8D9F-E3A7047BB5BB}"/>
              </a:ext>
            </a:extLst>
          </p:cNvPr>
          <p:cNvSpPr>
            <a:spLocks noChangeArrowheads="1"/>
          </p:cNvSpPr>
          <p:nvPr/>
        </p:nvSpPr>
        <p:spPr bwMode="auto">
          <a:xfrm>
            <a:off x="4211773" y="2074148"/>
            <a:ext cx="147645"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2" name="Rectangle 31">
            <a:extLst>
              <a:ext uri="{FF2B5EF4-FFF2-40B4-BE49-F238E27FC236}">
                <a16:creationId xmlns:a16="http://schemas.microsoft.com/office/drawing/2014/main" id="{212ACD5F-D6C3-824B-9E9F-FCD292654FC1}"/>
              </a:ext>
            </a:extLst>
          </p:cNvPr>
          <p:cNvSpPr>
            <a:spLocks noChangeArrowheads="1"/>
          </p:cNvSpPr>
          <p:nvPr/>
        </p:nvSpPr>
        <p:spPr bwMode="auto">
          <a:xfrm>
            <a:off x="4373707" y="2074148"/>
            <a:ext cx="147645" cy="200025"/>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3" name="Line 35">
            <a:extLst>
              <a:ext uri="{FF2B5EF4-FFF2-40B4-BE49-F238E27FC236}">
                <a16:creationId xmlns:a16="http://schemas.microsoft.com/office/drawing/2014/main" id="{988CA620-4CC5-3D4B-81DA-0F82F93E3D34}"/>
              </a:ext>
            </a:extLst>
          </p:cNvPr>
          <p:cNvSpPr>
            <a:spLocks noChangeShapeType="1"/>
          </p:cNvSpPr>
          <p:nvPr/>
        </p:nvSpPr>
        <p:spPr bwMode="auto">
          <a:xfrm flipV="1">
            <a:off x="7042061" y="1833751"/>
            <a:ext cx="36673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84" name="Rectangle 38">
            <a:extLst>
              <a:ext uri="{FF2B5EF4-FFF2-40B4-BE49-F238E27FC236}">
                <a16:creationId xmlns:a16="http://schemas.microsoft.com/office/drawing/2014/main" id="{5F99C41D-D784-474B-94F5-AC46161751AD}"/>
              </a:ext>
            </a:extLst>
          </p:cNvPr>
          <p:cNvSpPr>
            <a:spLocks noChangeArrowheads="1"/>
          </p:cNvSpPr>
          <p:nvPr/>
        </p:nvSpPr>
        <p:spPr bwMode="auto">
          <a:xfrm>
            <a:off x="4502301" y="20122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5" name="Text Box 39">
            <a:extLst>
              <a:ext uri="{FF2B5EF4-FFF2-40B4-BE49-F238E27FC236}">
                <a16:creationId xmlns:a16="http://schemas.microsoft.com/office/drawing/2014/main" id="{4FBD0AA4-42C3-2B49-BDB1-0979DED2C5D6}"/>
              </a:ext>
            </a:extLst>
          </p:cNvPr>
          <p:cNvSpPr txBox="1">
            <a:spLocks noChangeArrowheads="1"/>
          </p:cNvSpPr>
          <p:nvPr/>
        </p:nvSpPr>
        <p:spPr bwMode="auto">
          <a:xfrm>
            <a:off x="5370720" y="1587878"/>
            <a:ext cx="17004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CC0000"/>
                </a:solidFill>
                <a:latin typeface="+mn-lt"/>
              </a:rPr>
              <a:t>propagation</a:t>
            </a:r>
            <a:endParaRPr lang="en-US" altLang="en-US" sz="2000" dirty="0">
              <a:solidFill>
                <a:srgbClr val="CC0000"/>
              </a:solidFill>
              <a:latin typeface="+mn-lt"/>
            </a:endParaRPr>
          </a:p>
        </p:txBody>
      </p:sp>
      <p:sp>
        <p:nvSpPr>
          <p:cNvPr id="86" name="Line 40">
            <a:extLst>
              <a:ext uri="{FF2B5EF4-FFF2-40B4-BE49-F238E27FC236}">
                <a16:creationId xmlns:a16="http://schemas.microsoft.com/office/drawing/2014/main" id="{7B62D1A5-A310-5848-8995-E8F4780C47C7}"/>
              </a:ext>
            </a:extLst>
          </p:cNvPr>
          <p:cNvSpPr>
            <a:spLocks noChangeShapeType="1"/>
          </p:cNvSpPr>
          <p:nvPr/>
        </p:nvSpPr>
        <p:spPr bwMode="auto">
          <a:xfrm rot="10800000">
            <a:off x="5073803" y="1831109"/>
            <a:ext cx="31910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87" name="Text Box 43">
            <a:extLst>
              <a:ext uri="{FF2B5EF4-FFF2-40B4-BE49-F238E27FC236}">
                <a16:creationId xmlns:a16="http://schemas.microsoft.com/office/drawing/2014/main" id="{867387BA-39EC-9E4E-8BB0-480BC4423626}"/>
              </a:ext>
            </a:extLst>
          </p:cNvPr>
          <p:cNvSpPr txBox="1">
            <a:spLocks noChangeArrowheads="1"/>
          </p:cNvSpPr>
          <p:nvPr/>
        </p:nvSpPr>
        <p:spPr bwMode="auto">
          <a:xfrm>
            <a:off x="3016098" y="2729785"/>
            <a:ext cx="151182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0000"/>
              </a:lnSpc>
            </a:pPr>
            <a:r>
              <a:rPr lang="en-US" altLang="en-US" dirty="0">
                <a:solidFill>
                  <a:srgbClr val="CC0000"/>
                </a:solidFill>
                <a:latin typeface="+mn-lt"/>
              </a:rPr>
              <a:t>nodal</a:t>
            </a:r>
          </a:p>
          <a:p>
            <a:pPr algn="ctr">
              <a:lnSpc>
                <a:spcPct val="80000"/>
              </a:lnSpc>
            </a:pPr>
            <a:r>
              <a:rPr lang="en-US" altLang="en-US" dirty="0">
                <a:solidFill>
                  <a:srgbClr val="CC0000"/>
                </a:solidFill>
                <a:latin typeface="+mn-lt"/>
              </a:rPr>
              <a:t>processing</a:t>
            </a:r>
          </a:p>
        </p:txBody>
      </p:sp>
      <p:sp>
        <p:nvSpPr>
          <p:cNvPr id="88" name="Line 44">
            <a:extLst>
              <a:ext uri="{FF2B5EF4-FFF2-40B4-BE49-F238E27FC236}">
                <a16:creationId xmlns:a16="http://schemas.microsoft.com/office/drawing/2014/main" id="{CDB7B374-4A7A-E246-8D88-69216785D71E}"/>
              </a:ext>
            </a:extLst>
          </p:cNvPr>
          <p:cNvSpPr>
            <a:spLocks noChangeShapeType="1"/>
          </p:cNvSpPr>
          <p:nvPr/>
        </p:nvSpPr>
        <p:spPr bwMode="auto">
          <a:xfrm rot="10800000">
            <a:off x="3363541" y="2729991"/>
            <a:ext cx="8334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89" name="Line 45">
            <a:extLst>
              <a:ext uri="{FF2B5EF4-FFF2-40B4-BE49-F238E27FC236}">
                <a16:creationId xmlns:a16="http://schemas.microsoft.com/office/drawing/2014/main" id="{EDEDB796-E60B-E245-AAE8-8E7D4AD0954B}"/>
              </a:ext>
            </a:extLst>
          </p:cNvPr>
          <p:cNvSpPr>
            <a:spLocks noChangeShapeType="1"/>
          </p:cNvSpPr>
          <p:nvPr/>
        </p:nvSpPr>
        <p:spPr bwMode="auto">
          <a:xfrm rot="10800000" flipV="1">
            <a:off x="4187959" y="2536110"/>
            <a:ext cx="3857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90" name="Text Box 46">
            <a:extLst>
              <a:ext uri="{FF2B5EF4-FFF2-40B4-BE49-F238E27FC236}">
                <a16:creationId xmlns:a16="http://schemas.microsoft.com/office/drawing/2014/main" id="{EED5545D-BA61-2046-A423-41F4F0BCD65B}"/>
              </a:ext>
            </a:extLst>
          </p:cNvPr>
          <p:cNvSpPr txBox="1">
            <a:spLocks noChangeArrowheads="1"/>
          </p:cNvSpPr>
          <p:nvPr/>
        </p:nvSpPr>
        <p:spPr bwMode="auto">
          <a:xfrm>
            <a:off x="4595969" y="2957464"/>
            <a:ext cx="1354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CC0000"/>
                </a:solidFill>
                <a:latin typeface="+mn-lt"/>
              </a:rPr>
              <a:t>queueing</a:t>
            </a:r>
            <a:endParaRPr lang="en-US" altLang="en-US" sz="2000" dirty="0">
              <a:solidFill>
                <a:srgbClr val="CC0000"/>
              </a:solidFill>
              <a:latin typeface="+mn-lt"/>
            </a:endParaRPr>
          </a:p>
        </p:txBody>
      </p:sp>
      <p:sp>
        <p:nvSpPr>
          <p:cNvPr id="91" name="Line 47">
            <a:extLst>
              <a:ext uri="{FF2B5EF4-FFF2-40B4-BE49-F238E27FC236}">
                <a16:creationId xmlns:a16="http://schemas.microsoft.com/office/drawing/2014/main" id="{ACC9FCD3-B95B-4D4B-87FC-A93C4585FCF2}"/>
              </a:ext>
            </a:extLst>
          </p:cNvPr>
          <p:cNvSpPr>
            <a:spLocks noChangeShapeType="1"/>
          </p:cNvSpPr>
          <p:nvPr/>
        </p:nvSpPr>
        <p:spPr bwMode="auto">
          <a:xfrm rot="10800000">
            <a:off x="4349892" y="2536110"/>
            <a:ext cx="595346" cy="552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92" name="Rectangle 3">
            <a:extLst>
              <a:ext uri="{FF2B5EF4-FFF2-40B4-BE49-F238E27FC236}">
                <a16:creationId xmlns:a16="http://schemas.microsoft.com/office/drawing/2014/main" id="{2521317A-C1CF-B84E-8D60-CC1E8C06357E}"/>
              </a:ext>
            </a:extLst>
          </p:cNvPr>
          <p:cNvSpPr>
            <a:spLocks noChangeArrowheads="1"/>
          </p:cNvSpPr>
          <p:nvPr/>
        </p:nvSpPr>
        <p:spPr bwMode="auto">
          <a:xfrm>
            <a:off x="1743075" y="3585728"/>
            <a:ext cx="6175328" cy="554037"/>
          </a:xfrm>
          <a:prstGeom prst="rect">
            <a:avLst/>
          </a:prstGeom>
          <a:noFill/>
          <a:ln w="19050">
            <a:noFill/>
            <a:miter lim="800000"/>
            <a:headEnd/>
            <a:tailEnd/>
          </a:ln>
          <a:extLst>
            <a:ext uri="{909E8E84-426E-40DD-AFC4-6F175D3DCCD1}">
              <a14:hiddenFill xmlns:a14="http://schemas.microsoft.com/office/drawing/2010/main">
                <a:solidFill>
                  <a:srgbClr val="FFFFFF"/>
                </a:solidFill>
              </a14:hiddenFill>
            </a:ext>
          </a:extLst>
        </p:spPr>
        <p:txBody>
          <a:bodyPr/>
          <a:lstStyle>
            <a:lvl1pPr marL="285750" indent="-28575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20000"/>
              </a:spcBef>
              <a:buClr>
                <a:srgbClr val="000099"/>
              </a:buClr>
              <a:buSzPct val="75000"/>
              <a:buFont typeface="Wingdings" pitchFamily="2" charset="2"/>
              <a:buNone/>
            </a:pPr>
            <a:r>
              <a:rPr lang="en-US" altLang="en-US" sz="3200" i="1" dirty="0" err="1">
                <a:solidFill>
                  <a:srgbClr val="000000"/>
                </a:solidFill>
                <a:latin typeface="+mn-lt"/>
              </a:rPr>
              <a:t>d</a:t>
            </a:r>
            <a:r>
              <a:rPr lang="en-US" altLang="en-US" sz="3200" baseline="-25000" dirty="0" err="1">
                <a:solidFill>
                  <a:srgbClr val="000000"/>
                </a:solidFill>
                <a:latin typeface="+mn-lt"/>
              </a:rPr>
              <a:t>nodal</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proc</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queue</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trans</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prop</a:t>
            </a:r>
            <a:endParaRPr lang="en-US" altLang="en-US" sz="3200" dirty="0">
              <a:solidFill>
                <a:srgbClr val="000000"/>
              </a:solidFill>
              <a:latin typeface="+mn-lt"/>
            </a:endParaRPr>
          </a:p>
        </p:txBody>
      </p:sp>
      <p:sp>
        <p:nvSpPr>
          <p:cNvPr id="93" name="Line 25">
            <a:extLst>
              <a:ext uri="{FF2B5EF4-FFF2-40B4-BE49-F238E27FC236}">
                <a16:creationId xmlns:a16="http://schemas.microsoft.com/office/drawing/2014/main" id="{F5D3A1C5-3798-AA4A-9717-BC9CD2814C06}"/>
              </a:ext>
            </a:extLst>
          </p:cNvPr>
          <p:cNvSpPr>
            <a:spLocks noChangeShapeType="1"/>
          </p:cNvSpPr>
          <p:nvPr/>
        </p:nvSpPr>
        <p:spPr bwMode="auto">
          <a:xfrm flipV="1">
            <a:off x="2619131" y="2323384"/>
            <a:ext cx="735346" cy="54993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94" name="Rectangle 32">
            <a:extLst>
              <a:ext uri="{FF2B5EF4-FFF2-40B4-BE49-F238E27FC236}">
                <a16:creationId xmlns:a16="http://schemas.microsoft.com/office/drawing/2014/main" id="{499B4666-F248-7346-9FEA-7936F1E56AE7}"/>
              </a:ext>
            </a:extLst>
          </p:cNvPr>
          <p:cNvSpPr>
            <a:spLocks noChangeArrowheads="1"/>
          </p:cNvSpPr>
          <p:nvPr/>
        </p:nvSpPr>
        <p:spPr bwMode="auto">
          <a:xfrm>
            <a:off x="3159202" y="19741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95" name="Line 33">
            <a:extLst>
              <a:ext uri="{FF2B5EF4-FFF2-40B4-BE49-F238E27FC236}">
                <a16:creationId xmlns:a16="http://schemas.microsoft.com/office/drawing/2014/main" id="{468D7A2B-9164-6E4A-96CE-D29F3704091E}"/>
              </a:ext>
            </a:extLst>
          </p:cNvPr>
          <p:cNvSpPr>
            <a:spLocks noChangeShapeType="1"/>
          </p:cNvSpPr>
          <p:nvPr/>
        </p:nvSpPr>
        <p:spPr bwMode="auto">
          <a:xfrm>
            <a:off x="3109988" y="1910635"/>
            <a:ext cx="211149"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96" name="Text Box 36">
            <a:extLst>
              <a:ext uri="{FF2B5EF4-FFF2-40B4-BE49-F238E27FC236}">
                <a16:creationId xmlns:a16="http://schemas.microsoft.com/office/drawing/2014/main" id="{3AB8F241-2337-4244-89DF-4C80D59B3367}"/>
              </a:ext>
            </a:extLst>
          </p:cNvPr>
          <p:cNvSpPr txBox="1">
            <a:spLocks noChangeArrowheads="1"/>
          </p:cNvSpPr>
          <p:nvPr/>
        </p:nvSpPr>
        <p:spPr bwMode="auto">
          <a:xfrm>
            <a:off x="1816815" y="1467723"/>
            <a:ext cx="393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00"/>
                </a:solidFill>
                <a:latin typeface="+mn-lt"/>
              </a:rPr>
              <a:t>A</a:t>
            </a:r>
          </a:p>
        </p:txBody>
      </p:sp>
      <p:sp>
        <p:nvSpPr>
          <p:cNvPr id="97" name="Text Box 37">
            <a:extLst>
              <a:ext uri="{FF2B5EF4-FFF2-40B4-BE49-F238E27FC236}">
                <a16:creationId xmlns:a16="http://schemas.microsoft.com/office/drawing/2014/main" id="{68CF5C6F-336B-3C4A-90BF-D34A028745C5}"/>
              </a:ext>
            </a:extLst>
          </p:cNvPr>
          <p:cNvSpPr txBox="1">
            <a:spLocks noChangeArrowheads="1"/>
          </p:cNvSpPr>
          <p:nvPr/>
        </p:nvSpPr>
        <p:spPr bwMode="auto">
          <a:xfrm>
            <a:off x="1845558" y="2420223"/>
            <a:ext cx="3802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latin typeface="+mn-lt"/>
              </a:rPr>
              <a:t>B</a:t>
            </a:r>
          </a:p>
        </p:txBody>
      </p:sp>
      <p:grpSp>
        <p:nvGrpSpPr>
          <p:cNvPr id="98" name="Group 66">
            <a:extLst>
              <a:ext uri="{FF2B5EF4-FFF2-40B4-BE49-F238E27FC236}">
                <a16:creationId xmlns:a16="http://schemas.microsoft.com/office/drawing/2014/main" id="{7A33E76B-0B7D-BD4C-95A3-F5F9B6632736}"/>
              </a:ext>
            </a:extLst>
          </p:cNvPr>
          <p:cNvGrpSpPr>
            <a:grpSpLocks/>
          </p:cNvGrpSpPr>
          <p:nvPr/>
        </p:nvGrpSpPr>
        <p:grpSpPr bwMode="auto">
          <a:xfrm>
            <a:off x="1923392" y="1467723"/>
            <a:ext cx="779505" cy="679450"/>
            <a:chOff x="-44" y="1473"/>
            <a:chExt cx="981" cy="1105"/>
          </a:xfrm>
        </p:grpSpPr>
        <p:pic>
          <p:nvPicPr>
            <p:cNvPr id="116" name="Picture 67" descr="desktop_computer_stylized_medium">
              <a:extLst>
                <a:ext uri="{FF2B5EF4-FFF2-40B4-BE49-F238E27FC236}">
                  <a16:creationId xmlns:a16="http://schemas.microsoft.com/office/drawing/2014/main" id="{388E3E99-7752-0140-B682-2CFDCCFDA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Freeform 68">
              <a:extLst>
                <a:ext uri="{FF2B5EF4-FFF2-40B4-BE49-F238E27FC236}">
                  <a16:creationId xmlns:a16="http://schemas.microsoft.com/office/drawing/2014/main" id="{C233087D-1E28-874B-99E3-90A56E5DA77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99" name="Group 69">
            <a:extLst>
              <a:ext uri="{FF2B5EF4-FFF2-40B4-BE49-F238E27FC236}">
                <a16:creationId xmlns:a16="http://schemas.microsoft.com/office/drawing/2014/main" id="{53B22ADC-2C36-5141-AAAC-31B53FC8C1F4}"/>
              </a:ext>
            </a:extLst>
          </p:cNvPr>
          <p:cNvGrpSpPr>
            <a:grpSpLocks/>
          </p:cNvGrpSpPr>
          <p:nvPr/>
        </p:nvGrpSpPr>
        <p:grpSpPr bwMode="auto">
          <a:xfrm>
            <a:off x="1914200" y="2474691"/>
            <a:ext cx="779506" cy="679450"/>
            <a:chOff x="-44" y="1473"/>
            <a:chExt cx="981" cy="1105"/>
          </a:xfrm>
        </p:grpSpPr>
        <p:pic>
          <p:nvPicPr>
            <p:cNvPr id="114" name="Picture 70" descr="desktop_computer_stylized_medium">
              <a:extLst>
                <a:ext uri="{FF2B5EF4-FFF2-40B4-BE49-F238E27FC236}">
                  <a16:creationId xmlns:a16="http://schemas.microsoft.com/office/drawing/2014/main" id="{DA4C023E-F595-544A-9929-08480475A5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Freeform 71">
              <a:extLst>
                <a:ext uri="{FF2B5EF4-FFF2-40B4-BE49-F238E27FC236}">
                  <a16:creationId xmlns:a16="http://schemas.microsoft.com/office/drawing/2014/main" id="{BD3780DD-1306-2540-89B8-0A42DEECFC61}"/>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sp>
        <p:nvSpPr>
          <p:cNvPr id="100" name="Text Box 41">
            <a:extLst>
              <a:ext uri="{FF2B5EF4-FFF2-40B4-BE49-F238E27FC236}">
                <a16:creationId xmlns:a16="http://schemas.microsoft.com/office/drawing/2014/main" id="{488CD73E-ECC7-E842-9578-1478C5F11784}"/>
              </a:ext>
            </a:extLst>
          </p:cNvPr>
          <p:cNvSpPr txBox="1">
            <a:spLocks noChangeArrowheads="1"/>
          </p:cNvSpPr>
          <p:nvPr/>
        </p:nvSpPr>
        <p:spPr bwMode="auto">
          <a:xfrm>
            <a:off x="2833286" y="1145961"/>
            <a:ext cx="17685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CC0000"/>
                </a:solidFill>
                <a:latin typeface="+mn-lt"/>
              </a:rPr>
              <a:t>transmission</a:t>
            </a:r>
          </a:p>
        </p:txBody>
      </p:sp>
      <p:sp>
        <p:nvSpPr>
          <p:cNvPr id="101" name="Line 42">
            <a:extLst>
              <a:ext uri="{FF2B5EF4-FFF2-40B4-BE49-F238E27FC236}">
                <a16:creationId xmlns:a16="http://schemas.microsoft.com/office/drawing/2014/main" id="{B22F26F3-A41E-8848-BDA7-FE528ACF22F9}"/>
              </a:ext>
            </a:extLst>
          </p:cNvPr>
          <p:cNvSpPr>
            <a:spLocks noChangeShapeType="1"/>
          </p:cNvSpPr>
          <p:nvPr/>
        </p:nvSpPr>
        <p:spPr bwMode="auto">
          <a:xfrm rot="10800000" flipH="1" flipV="1">
            <a:off x="4038725" y="1443910"/>
            <a:ext cx="528667" cy="533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103" name="Rectangle 31">
            <a:extLst>
              <a:ext uri="{FF2B5EF4-FFF2-40B4-BE49-F238E27FC236}">
                <a16:creationId xmlns:a16="http://schemas.microsoft.com/office/drawing/2014/main" id="{9C43DB7F-CC6C-3D47-AEBE-0F3B6F7415AB}"/>
              </a:ext>
            </a:extLst>
          </p:cNvPr>
          <p:cNvSpPr>
            <a:spLocks noChangeArrowheads="1"/>
          </p:cNvSpPr>
          <p:nvPr/>
        </p:nvSpPr>
        <p:spPr bwMode="auto">
          <a:xfrm>
            <a:off x="2722441" y="2630267"/>
            <a:ext cx="139773" cy="185197"/>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104" name="Line 33">
            <a:extLst>
              <a:ext uri="{FF2B5EF4-FFF2-40B4-BE49-F238E27FC236}">
                <a16:creationId xmlns:a16="http://schemas.microsoft.com/office/drawing/2014/main" id="{1420A34E-BA5D-D248-8FAC-DCC28151FB9C}"/>
              </a:ext>
            </a:extLst>
          </p:cNvPr>
          <p:cNvSpPr>
            <a:spLocks noChangeShapeType="1"/>
          </p:cNvSpPr>
          <p:nvPr/>
        </p:nvSpPr>
        <p:spPr bwMode="auto">
          <a:xfrm flipV="1">
            <a:off x="2897771" y="2599885"/>
            <a:ext cx="219680" cy="16193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cxnSp>
        <p:nvCxnSpPr>
          <p:cNvPr id="5" name="Straight Connector 4">
            <a:extLst>
              <a:ext uri="{FF2B5EF4-FFF2-40B4-BE49-F238E27FC236}">
                <a16:creationId xmlns:a16="http://schemas.microsoft.com/office/drawing/2014/main" id="{E0E58503-FA9B-1542-A0D6-E85B92D1E5BA}"/>
              </a:ext>
            </a:extLst>
          </p:cNvPr>
          <p:cNvCxnSpPr/>
          <p:nvPr/>
        </p:nvCxnSpPr>
        <p:spPr>
          <a:xfrm>
            <a:off x="4880582" y="2238559"/>
            <a:ext cx="338899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E49D3C3B-F6BB-8747-AE74-C4B438FB99F4}"/>
              </a:ext>
            </a:extLst>
          </p:cNvPr>
          <p:cNvGrpSpPr/>
          <p:nvPr/>
        </p:nvGrpSpPr>
        <p:grpSpPr>
          <a:xfrm>
            <a:off x="7991017" y="1778258"/>
            <a:ext cx="1511352" cy="863670"/>
            <a:chOff x="7493876" y="2774731"/>
            <a:chExt cx="1481958" cy="894622"/>
          </a:xfrm>
        </p:grpSpPr>
        <p:sp>
          <p:nvSpPr>
            <p:cNvPr id="128" name="Freeform 127">
              <a:extLst>
                <a:ext uri="{FF2B5EF4-FFF2-40B4-BE49-F238E27FC236}">
                  <a16:creationId xmlns:a16="http://schemas.microsoft.com/office/drawing/2014/main" id="{5D7E8999-C7DA-4C41-AF40-118E015147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29" name="Oval 128">
              <a:extLst>
                <a:ext uri="{FF2B5EF4-FFF2-40B4-BE49-F238E27FC236}">
                  <a16:creationId xmlns:a16="http://schemas.microsoft.com/office/drawing/2014/main" id="{21FE0DA3-6E20-DC4B-8111-DD2816780A5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30" name="Group 129">
              <a:extLst>
                <a:ext uri="{FF2B5EF4-FFF2-40B4-BE49-F238E27FC236}">
                  <a16:creationId xmlns:a16="http://schemas.microsoft.com/office/drawing/2014/main" id="{227FD192-76B7-BB4E-8D74-8B6F33DBA7D5}"/>
                </a:ext>
              </a:extLst>
            </p:cNvPr>
            <p:cNvGrpSpPr/>
            <p:nvPr/>
          </p:nvGrpSpPr>
          <p:grpSpPr>
            <a:xfrm>
              <a:off x="7713663" y="2848339"/>
              <a:ext cx="1042107" cy="425543"/>
              <a:chOff x="7786941" y="2884917"/>
              <a:chExt cx="897649" cy="353919"/>
            </a:xfrm>
          </p:grpSpPr>
          <p:sp>
            <p:nvSpPr>
              <p:cNvPr id="131" name="Freeform 130">
                <a:extLst>
                  <a:ext uri="{FF2B5EF4-FFF2-40B4-BE49-F238E27FC236}">
                    <a16:creationId xmlns:a16="http://schemas.microsoft.com/office/drawing/2014/main" id="{130CC598-6AE0-744A-9CEF-611CD26990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131">
                <a:extLst>
                  <a:ext uri="{FF2B5EF4-FFF2-40B4-BE49-F238E27FC236}">
                    <a16:creationId xmlns:a16="http://schemas.microsoft.com/office/drawing/2014/main" id="{F0B09B4D-82A4-6D4A-B104-F100560C44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132">
                <a:extLst>
                  <a:ext uri="{FF2B5EF4-FFF2-40B4-BE49-F238E27FC236}">
                    <a16:creationId xmlns:a16="http://schemas.microsoft.com/office/drawing/2014/main" id="{7CB1C4B0-5780-D24E-8D85-35BA5CE4255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133">
                <a:extLst>
                  <a:ext uri="{FF2B5EF4-FFF2-40B4-BE49-F238E27FC236}">
                    <a16:creationId xmlns:a16="http://schemas.microsoft.com/office/drawing/2014/main" id="{A78B6DE2-15CA-DC49-A0BD-10E78562E1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358148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dissolve">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5"/>
                                        </p:tgtEl>
                                        <p:attrNameLst>
                                          <p:attrName>style.visibility</p:attrName>
                                        </p:attrNameLst>
                                      </p:cBhvr>
                                      <p:to>
                                        <p:strVal val="visible"/>
                                      </p:to>
                                    </p:set>
                                    <p:animEffect transition="in" filter="dissolve">
                                      <p:cBhvr>
                                        <p:cTn id="12"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75"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Group 134">
            <a:extLst>
              <a:ext uri="{FF2B5EF4-FFF2-40B4-BE49-F238E27FC236}">
                <a16:creationId xmlns:a16="http://schemas.microsoft.com/office/drawing/2014/main" id="{3AD72523-4228-9C47-B195-4AAF96A160BD}"/>
              </a:ext>
            </a:extLst>
          </p:cNvPr>
          <p:cNvGrpSpPr/>
          <p:nvPr/>
        </p:nvGrpSpPr>
        <p:grpSpPr>
          <a:xfrm>
            <a:off x="3364430" y="1767623"/>
            <a:ext cx="1511352" cy="863670"/>
            <a:chOff x="7493876" y="2774731"/>
            <a:chExt cx="1481958" cy="894622"/>
          </a:xfrm>
        </p:grpSpPr>
        <p:sp>
          <p:nvSpPr>
            <p:cNvPr id="136" name="Freeform 135">
              <a:extLst>
                <a:ext uri="{FF2B5EF4-FFF2-40B4-BE49-F238E27FC236}">
                  <a16:creationId xmlns:a16="http://schemas.microsoft.com/office/drawing/2014/main" id="{9FB9E0EF-9063-B545-BC2B-062A0488CC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37" name="Oval 136">
              <a:extLst>
                <a:ext uri="{FF2B5EF4-FFF2-40B4-BE49-F238E27FC236}">
                  <a16:creationId xmlns:a16="http://schemas.microsoft.com/office/drawing/2014/main" id="{B0BF60BF-9AF2-D948-8319-1FF102BC7D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38" name="Group 137">
              <a:extLst>
                <a:ext uri="{FF2B5EF4-FFF2-40B4-BE49-F238E27FC236}">
                  <a16:creationId xmlns:a16="http://schemas.microsoft.com/office/drawing/2014/main" id="{B32B55C6-F759-234F-8CF0-5FB387F35BC4}"/>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B1153D6F-A3DF-7246-9629-9228753ADE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139">
                <a:extLst>
                  <a:ext uri="{FF2B5EF4-FFF2-40B4-BE49-F238E27FC236}">
                    <a16:creationId xmlns:a16="http://schemas.microsoft.com/office/drawing/2014/main" id="{1C55D52C-AF37-4949-9428-203518D525C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140">
                <a:extLst>
                  <a:ext uri="{FF2B5EF4-FFF2-40B4-BE49-F238E27FC236}">
                    <a16:creationId xmlns:a16="http://schemas.microsoft.com/office/drawing/2014/main" id="{58904F43-F0C7-374E-ADE8-8A024A6627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141">
                <a:extLst>
                  <a:ext uri="{FF2B5EF4-FFF2-40B4-BE49-F238E27FC236}">
                    <a16:creationId xmlns:a16="http://schemas.microsoft.com/office/drawing/2014/main" id="{874597C3-FAA4-A147-A86C-C510882704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Packet delay: four sources</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71</a:t>
            </a:fld>
            <a:endParaRPr lang="en-US" dirty="0"/>
          </a:p>
        </p:txBody>
      </p:sp>
      <p:sp>
        <p:nvSpPr>
          <p:cNvPr id="77" name="Line 24">
            <a:extLst>
              <a:ext uri="{FF2B5EF4-FFF2-40B4-BE49-F238E27FC236}">
                <a16:creationId xmlns:a16="http://schemas.microsoft.com/office/drawing/2014/main" id="{79DB8C95-768E-854F-9CEA-5533DCECBE17}"/>
              </a:ext>
            </a:extLst>
          </p:cNvPr>
          <p:cNvSpPr>
            <a:spLocks noChangeShapeType="1"/>
          </p:cNvSpPr>
          <p:nvPr/>
        </p:nvSpPr>
        <p:spPr bwMode="auto">
          <a:xfrm>
            <a:off x="2621011" y="1783635"/>
            <a:ext cx="741403" cy="355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80" name="Rectangle 29">
            <a:extLst>
              <a:ext uri="{FF2B5EF4-FFF2-40B4-BE49-F238E27FC236}">
                <a16:creationId xmlns:a16="http://schemas.microsoft.com/office/drawing/2014/main" id="{9803C6B5-AE4A-F54B-86CB-D404B2A716C1}"/>
              </a:ext>
            </a:extLst>
          </p:cNvPr>
          <p:cNvSpPr>
            <a:spLocks noChangeArrowheads="1"/>
          </p:cNvSpPr>
          <p:nvPr/>
        </p:nvSpPr>
        <p:spPr bwMode="auto">
          <a:xfrm>
            <a:off x="5464378" y="2002710"/>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1" name="Rectangle 30">
            <a:extLst>
              <a:ext uri="{FF2B5EF4-FFF2-40B4-BE49-F238E27FC236}">
                <a16:creationId xmlns:a16="http://schemas.microsoft.com/office/drawing/2014/main" id="{2BFFBBBA-8F3E-7640-8D9F-E3A7047BB5BB}"/>
              </a:ext>
            </a:extLst>
          </p:cNvPr>
          <p:cNvSpPr>
            <a:spLocks noChangeArrowheads="1"/>
          </p:cNvSpPr>
          <p:nvPr/>
        </p:nvSpPr>
        <p:spPr bwMode="auto">
          <a:xfrm>
            <a:off x="4211773" y="2074148"/>
            <a:ext cx="147645"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2" name="Rectangle 31">
            <a:extLst>
              <a:ext uri="{FF2B5EF4-FFF2-40B4-BE49-F238E27FC236}">
                <a16:creationId xmlns:a16="http://schemas.microsoft.com/office/drawing/2014/main" id="{212ACD5F-D6C3-824B-9E9F-FCD292654FC1}"/>
              </a:ext>
            </a:extLst>
          </p:cNvPr>
          <p:cNvSpPr>
            <a:spLocks noChangeArrowheads="1"/>
          </p:cNvSpPr>
          <p:nvPr/>
        </p:nvSpPr>
        <p:spPr bwMode="auto">
          <a:xfrm>
            <a:off x="4373707" y="2074148"/>
            <a:ext cx="147645" cy="200025"/>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3" name="Line 35">
            <a:extLst>
              <a:ext uri="{FF2B5EF4-FFF2-40B4-BE49-F238E27FC236}">
                <a16:creationId xmlns:a16="http://schemas.microsoft.com/office/drawing/2014/main" id="{988CA620-4CC5-3D4B-81DA-0F82F93E3D34}"/>
              </a:ext>
            </a:extLst>
          </p:cNvPr>
          <p:cNvSpPr>
            <a:spLocks noChangeShapeType="1"/>
          </p:cNvSpPr>
          <p:nvPr/>
        </p:nvSpPr>
        <p:spPr bwMode="auto">
          <a:xfrm flipV="1">
            <a:off x="7042061" y="1833751"/>
            <a:ext cx="36673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84" name="Rectangle 38">
            <a:extLst>
              <a:ext uri="{FF2B5EF4-FFF2-40B4-BE49-F238E27FC236}">
                <a16:creationId xmlns:a16="http://schemas.microsoft.com/office/drawing/2014/main" id="{5F99C41D-D784-474B-94F5-AC46161751AD}"/>
              </a:ext>
            </a:extLst>
          </p:cNvPr>
          <p:cNvSpPr>
            <a:spLocks noChangeArrowheads="1"/>
          </p:cNvSpPr>
          <p:nvPr/>
        </p:nvSpPr>
        <p:spPr bwMode="auto">
          <a:xfrm>
            <a:off x="4502301" y="20122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85" name="Text Box 39">
            <a:extLst>
              <a:ext uri="{FF2B5EF4-FFF2-40B4-BE49-F238E27FC236}">
                <a16:creationId xmlns:a16="http://schemas.microsoft.com/office/drawing/2014/main" id="{4FBD0AA4-42C3-2B49-BDB1-0979DED2C5D6}"/>
              </a:ext>
            </a:extLst>
          </p:cNvPr>
          <p:cNvSpPr txBox="1">
            <a:spLocks noChangeArrowheads="1"/>
          </p:cNvSpPr>
          <p:nvPr/>
        </p:nvSpPr>
        <p:spPr bwMode="auto">
          <a:xfrm>
            <a:off x="5370720" y="1587878"/>
            <a:ext cx="17004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CC0000"/>
                </a:solidFill>
                <a:latin typeface="+mn-lt"/>
              </a:rPr>
              <a:t>propagation</a:t>
            </a:r>
            <a:endParaRPr lang="en-US" altLang="en-US" sz="2000" dirty="0">
              <a:solidFill>
                <a:srgbClr val="CC0000"/>
              </a:solidFill>
              <a:latin typeface="+mn-lt"/>
            </a:endParaRPr>
          </a:p>
        </p:txBody>
      </p:sp>
      <p:sp>
        <p:nvSpPr>
          <p:cNvPr id="86" name="Line 40">
            <a:extLst>
              <a:ext uri="{FF2B5EF4-FFF2-40B4-BE49-F238E27FC236}">
                <a16:creationId xmlns:a16="http://schemas.microsoft.com/office/drawing/2014/main" id="{7B62D1A5-A310-5848-8995-E8F4780C47C7}"/>
              </a:ext>
            </a:extLst>
          </p:cNvPr>
          <p:cNvSpPr>
            <a:spLocks noChangeShapeType="1"/>
          </p:cNvSpPr>
          <p:nvPr/>
        </p:nvSpPr>
        <p:spPr bwMode="auto">
          <a:xfrm rot="10800000">
            <a:off x="5073803" y="1831109"/>
            <a:ext cx="31910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87" name="Text Box 43">
            <a:extLst>
              <a:ext uri="{FF2B5EF4-FFF2-40B4-BE49-F238E27FC236}">
                <a16:creationId xmlns:a16="http://schemas.microsoft.com/office/drawing/2014/main" id="{867387BA-39EC-9E4E-8BB0-480BC4423626}"/>
              </a:ext>
            </a:extLst>
          </p:cNvPr>
          <p:cNvSpPr txBox="1">
            <a:spLocks noChangeArrowheads="1"/>
          </p:cNvSpPr>
          <p:nvPr/>
        </p:nvSpPr>
        <p:spPr bwMode="auto">
          <a:xfrm>
            <a:off x="3016098" y="2729785"/>
            <a:ext cx="151182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0000"/>
              </a:lnSpc>
            </a:pPr>
            <a:r>
              <a:rPr lang="en-US" altLang="en-US" dirty="0">
                <a:solidFill>
                  <a:srgbClr val="CC0000"/>
                </a:solidFill>
                <a:latin typeface="+mn-lt"/>
              </a:rPr>
              <a:t>nodal</a:t>
            </a:r>
          </a:p>
          <a:p>
            <a:pPr algn="ctr">
              <a:lnSpc>
                <a:spcPct val="80000"/>
              </a:lnSpc>
            </a:pPr>
            <a:r>
              <a:rPr lang="en-US" altLang="en-US" dirty="0">
                <a:solidFill>
                  <a:srgbClr val="CC0000"/>
                </a:solidFill>
                <a:latin typeface="+mn-lt"/>
              </a:rPr>
              <a:t>processing</a:t>
            </a:r>
          </a:p>
        </p:txBody>
      </p:sp>
      <p:sp>
        <p:nvSpPr>
          <p:cNvPr id="88" name="Line 44">
            <a:extLst>
              <a:ext uri="{FF2B5EF4-FFF2-40B4-BE49-F238E27FC236}">
                <a16:creationId xmlns:a16="http://schemas.microsoft.com/office/drawing/2014/main" id="{CDB7B374-4A7A-E246-8D88-69216785D71E}"/>
              </a:ext>
            </a:extLst>
          </p:cNvPr>
          <p:cNvSpPr>
            <a:spLocks noChangeShapeType="1"/>
          </p:cNvSpPr>
          <p:nvPr/>
        </p:nvSpPr>
        <p:spPr bwMode="auto">
          <a:xfrm rot="10800000">
            <a:off x="3363541" y="2729991"/>
            <a:ext cx="8334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89" name="Line 45">
            <a:extLst>
              <a:ext uri="{FF2B5EF4-FFF2-40B4-BE49-F238E27FC236}">
                <a16:creationId xmlns:a16="http://schemas.microsoft.com/office/drawing/2014/main" id="{EDEDB796-E60B-E245-AAE8-8E7D4AD0954B}"/>
              </a:ext>
            </a:extLst>
          </p:cNvPr>
          <p:cNvSpPr>
            <a:spLocks noChangeShapeType="1"/>
          </p:cNvSpPr>
          <p:nvPr/>
        </p:nvSpPr>
        <p:spPr bwMode="auto">
          <a:xfrm rot="10800000" flipV="1">
            <a:off x="4187959" y="2536110"/>
            <a:ext cx="3857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90" name="Text Box 46">
            <a:extLst>
              <a:ext uri="{FF2B5EF4-FFF2-40B4-BE49-F238E27FC236}">
                <a16:creationId xmlns:a16="http://schemas.microsoft.com/office/drawing/2014/main" id="{EED5545D-BA61-2046-A423-41F4F0BCD65B}"/>
              </a:ext>
            </a:extLst>
          </p:cNvPr>
          <p:cNvSpPr txBox="1">
            <a:spLocks noChangeArrowheads="1"/>
          </p:cNvSpPr>
          <p:nvPr/>
        </p:nvSpPr>
        <p:spPr bwMode="auto">
          <a:xfrm>
            <a:off x="4595969" y="2957464"/>
            <a:ext cx="1354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CC0000"/>
                </a:solidFill>
                <a:latin typeface="+mn-lt"/>
              </a:rPr>
              <a:t>queueing</a:t>
            </a:r>
            <a:endParaRPr lang="en-US" altLang="en-US" sz="2000" dirty="0">
              <a:solidFill>
                <a:srgbClr val="CC0000"/>
              </a:solidFill>
              <a:latin typeface="+mn-lt"/>
            </a:endParaRPr>
          </a:p>
        </p:txBody>
      </p:sp>
      <p:sp>
        <p:nvSpPr>
          <p:cNvPr id="91" name="Line 47">
            <a:extLst>
              <a:ext uri="{FF2B5EF4-FFF2-40B4-BE49-F238E27FC236}">
                <a16:creationId xmlns:a16="http://schemas.microsoft.com/office/drawing/2014/main" id="{ACC9FCD3-B95B-4D4B-87FC-A93C4585FCF2}"/>
              </a:ext>
            </a:extLst>
          </p:cNvPr>
          <p:cNvSpPr>
            <a:spLocks noChangeShapeType="1"/>
          </p:cNvSpPr>
          <p:nvPr/>
        </p:nvSpPr>
        <p:spPr bwMode="auto">
          <a:xfrm rot="10800000">
            <a:off x="4349892" y="2536110"/>
            <a:ext cx="595346" cy="552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92" name="Rectangle 3">
            <a:extLst>
              <a:ext uri="{FF2B5EF4-FFF2-40B4-BE49-F238E27FC236}">
                <a16:creationId xmlns:a16="http://schemas.microsoft.com/office/drawing/2014/main" id="{2521317A-C1CF-B84E-8D60-CC1E8C06357E}"/>
              </a:ext>
            </a:extLst>
          </p:cNvPr>
          <p:cNvSpPr>
            <a:spLocks noChangeArrowheads="1"/>
          </p:cNvSpPr>
          <p:nvPr/>
        </p:nvSpPr>
        <p:spPr bwMode="auto">
          <a:xfrm>
            <a:off x="1743075" y="3585728"/>
            <a:ext cx="6175328" cy="554037"/>
          </a:xfrm>
          <a:prstGeom prst="rect">
            <a:avLst/>
          </a:prstGeom>
          <a:noFill/>
          <a:ln w="19050">
            <a:noFill/>
            <a:miter lim="800000"/>
            <a:headEnd/>
            <a:tailEnd/>
          </a:ln>
          <a:extLst>
            <a:ext uri="{909E8E84-426E-40DD-AFC4-6F175D3DCCD1}">
              <a14:hiddenFill xmlns:a14="http://schemas.microsoft.com/office/drawing/2010/main">
                <a:solidFill>
                  <a:srgbClr val="FFFFFF"/>
                </a:solidFill>
              </a14:hiddenFill>
            </a:ext>
          </a:extLst>
        </p:spPr>
        <p:txBody>
          <a:bodyPr/>
          <a:lstStyle>
            <a:lvl1pPr marL="285750" indent="-28575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20000"/>
              </a:spcBef>
              <a:buClr>
                <a:srgbClr val="000099"/>
              </a:buClr>
              <a:buSzPct val="75000"/>
              <a:buFont typeface="Wingdings" pitchFamily="2" charset="2"/>
              <a:buNone/>
            </a:pPr>
            <a:r>
              <a:rPr lang="en-US" altLang="en-US" sz="3200" i="1" dirty="0" err="1">
                <a:solidFill>
                  <a:srgbClr val="000000"/>
                </a:solidFill>
                <a:latin typeface="+mn-lt"/>
              </a:rPr>
              <a:t>d</a:t>
            </a:r>
            <a:r>
              <a:rPr lang="en-US" altLang="en-US" sz="3200" baseline="-25000" dirty="0" err="1">
                <a:solidFill>
                  <a:srgbClr val="000000"/>
                </a:solidFill>
                <a:latin typeface="+mn-lt"/>
              </a:rPr>
              <a:t>nodal</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proc</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queue</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trans</a:t>
            </a:r>
            <a:r>
              <a:rPr lang="en-US" altLang="en-US" sz="3200" dirty="0">
                <a:solidFill>
                  <a:srgbClr val="000000"/>
                </a:solidFill>
                <a:latin typeface="+mn-lt"/>
              </a:rPr>
              <a:t> +  </a:t>
            </a:r>
            <a:r>
              <a:rPr lang="en-US" altLang="en-US" sz="3200" i="1" dirty="0" err="1">
                <a:solidFill>
                  <a:srgbClr val="000000"/>
                </a:solidFill>
                <a:latin typeface="+mn-lt"/>
              </a:rPr>
              <a:t>d</a:t>
            </a:r>
            <a:r>
              <a:rPr lang="en-US" altLang="en-US" sz="3200" baseline="-25000" dirty="0" err="1">
                <a:solidFill>
                  <a:srgbClr val="000000"/>
                </a:solidFill>
                <a:latin typeface="+mn-lt"/>
              </a:rPr>
              <a:t>prop</a:t>
            </a:r>
            <a:endParaRPr lang="en-US" altLang="en-US" sz="3200" dirty="0">
              <a:solidFill>
                <a:srgbClr val="000000"/>
              </a:solidFill>
              <a:latin typeface="+mn-lt"/>
            </a:endParaRPr>
          </a:p>
        </p:txBody>
      </p:sp>
      <p:sp>
        <p:nvSpPr>
          <p:cNvPr id="93" name="Line 25">
            <a:extLst>
              <a:ext uri="{FF2B5EF4-FFF2-40B4-BE49-F238E27FC236}">
                <a16:creationId xmlns:a16="http://schemas.microsoft.com/office/drawing/2014/main" id="{F5D3A1C5-3798-AA4A-9717-BC9CD2814C06}"/>
              </a:ext>
            </a:extLst>
          </p:cNvPr>
          <p:cNvSpPr>
            <a:spLocks noChangeShapeType="1"/>
          </p:cNvSpPr>
          <p:nvPr/>
        </p:nvSpPr>
        <p:spPr bwMode="auto">
          <a:xfrm flipV="1">
            <a:off x="2619131" y="2323384"/>
            <a:ext cx="735346" cy="54993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94" name="Rectangle 32">
            <a:extLst>
              <a:ext uri="{FF2B5EF4-FFF2-40B4-BE49-F238E27FC236}">
                <a16:creationId xmlns:a16="http://schemas.microsoft.com/office/drawing/2014/main" id="{499B4666-F248-7346-9FEA-7936F1E56AE7}"/>
              </a:ext>
            </a:extLst>
          </p:cNvPr>
          <p:cNvSpPr>
            <a:spLocks noChangeArrowheads="1"/>
          </p:cNvSpPr>
          <p:nvPr/>
        </p:nvSpPr>
        <p:spPr bwMode="auto">
          <a:xfrm>
            <a:off x="3159202" y="19741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95" name="Line 33">
            <a:extLst>
              <a:ext uri="{FF2B5EF4-FFF2-40B4-BE49-F238E27FC236}">
                <a16:creationId xmlns:a16="http://schemas.microsoft.com/office/drawing/2014/main" id="{468D7A2B-9164-6E4A-96CE-D29F3704091E}"/>
              </a:ext>
            </a:extLst>
          </p:cNvPr>
          <p:cNvSpPr>
            <a:spLocks noChangeShapeType="1"/>
          </p:cNvSpPr>
          <p:nvPr/>
        </p:nvSpPr>
        <p:spPr bwMode="auto">
          <a:xfrm>
            <a:off x="3109988" y="1910635"/>
            <a:ext cx="211149"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96" name="Text Box 36">
            <a:extLst>
              <a:ext uri="{FF2B5EF4-FFF2-40B4-BE49-F238E27FC236}">
                <a16:creationId xmlns:a16="http://schemas.microsoft.com/office/drawing/2014/main" id="{3AB8F241-2337-4244-89DF-4C80D59B3367}"/>
              </a:ext>
            </a:extLst>
          </p:cNvPr>
          <p:cNvSpPr txBox="1">
            <a:spLocks noChangeArrowheads="1"/>
          </p:cNvSpPr>
          <p:nvPr/>
        </p:nvSpPr>
        <p:spPr bwMode="auto">
          <a:xfrm>
            <a:off x="1816815" y="1467723"/>
            <a:ext cx="393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00"/>
                </a:solidFill>
                <a:latin typeface="+mn-lt"/>
              </a:rPr>
              <a:t>A</a:t>
            </a:r>
          </a:p>
        </p:txBody>
      </p:sp>
      <p:sp>
        <p:nvSpPr>
          <p:cNvPr id="97" name="Text Box 37">
            <a:extLst>
              <a:ext uri="{FF2B5EF4-FFF2-40B4-BE49-F238E27FC236}">
                <a16:creationId xmlns:a16="http://schemas.microsoft.com/office/drawing/2014/main" id="{68CF5C6F-336B-3C4A-90BF-D34A028745C5}"/>
              </a:ext>
            </a:extLst>
          </p:cNvPr>
          <p:cNvSpPr txBox="1">
            <a:spLocks noChangeArrowheads="1"/>
          </p:cNvSpPr>
          <p:nvPr/>
        </p:nvSpPr>
        <p:spPr bwMode="auto">
          <a:xfrm>
            <a:off x="1845558" y="2420223"/>
            <a:ext cx="3802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a:latin typeface="+mn-lt"/>
              </a:rPr>
              <a:t>B</a:t>
            </a:r>
          </a:p>
        </p:txBody>
      </p:sp>
      <p:grpSp>
        <p:nvGrpSpPr>
          <p:cNvPr id="98" name="Group 66">
            <a:extLst>
              <a:ext uri="{FF2B5EF4-FFF2-40B4-BE49-F238E27FC236}">
                <a16:creationId xmlns:a16="http://schemas.microsoft.com/office/drawing/2014/main" id="{7A33E76B-0B7D-BD4C-95A3-F5F9B6632736}"/>
              </a:ext>
            </a:extLst>
          </p:cNvPr>
          <p:cNvGrpSpPr>
            <a:grpSpLocks/>
          </p:cNvGrpSpPr>
          <p:nvPr/>
        </p:nvGrpSpPr>
        <p:grpSpPr bwMode="auto">
          <a:xfrm>
            <a:off x="1923392" y="1467723"/>
            <a:ext cx="779505" cy="679450"/>
            <a:chOff x="-44" y="1473"/>
            <a:chExt cx="981" cy="1105"/>
          </a:xfrm>
        </p:grpSpPr>
        <p:pic>
          <p:nvPicPr>
            <p:cNvPr id="116" name="Picture 67" descr="desktop_computer_stylized_medium">
              <a:extLst>
                <a:ext uri="{FF2B5EF4-FFF2-40B4-BE49-F238E27FC236}">
                  <a16:creationId xmlns:a16="http://schemas.microsoft.com/office/drawing/2014/main" id="{388E3E99-7752-0140-B682-2CFDCCFDA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Freeform 68">
              <a:extLst>
                <a:ext uri="{FF2B5EF4-FFF2-40B4-BE49-F238E27FC236}">
                  <a16:creationId xmlns:a16="http://schemas.microsoft.com/office/drawing/2014/main" id="{C233087D-1E28-874B-99E3-90A56E5DA77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99" name="Group 69">
            <a:extLst>
              <a:ext uri="{FF2B5EF4-FFF2-40B4-BE49-F238E27FC236}">
                <a16:creationId xmlns:a16="http://schemas.microsoft.com/office/drawing/2014/main" id="{53B22ADC-2C36-5141-AAAC-31B53FC8C1F4}"/>
              </a:ext>
            </a:extLst>
          </p:cNvPr>
          <p:cNvGrpSpPr>
            <a:grpSpLocks/>
          </p:cNvGrpSpPr>
          <p:nvPr/>
        </p:nvGrpSpPr>
        <p:grpSpPr bwMode="auto">
          <a:xfrm>
            <a:off x="1914200" y="2474691"/>
            <a:ext cx="779506" cy="679450"/>
            <a:chOff x="-44" y="1473"/>
            <a:chExt cx="981" cy="1105"/>
          </a:xfrm>
        </p:grpSpPr>
        <p:pic>
          <p:nvPicPr>
            <p:cNvPr id="114" name="Picture 70" descr="desktop_computer_stylized_medium">
              <a:extLst>
                <a:ext uri="{FF2B5EF4-FFF2-40B4-BE49-F238E27FC236}">
                  <a16:creationId xmlns:a16="http://schemas.microsoft.com/office/drawing/2014/main" id="{DA4C023E-F595-544A-9929-08480475A5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Freeform 71">
              <a:extLst>
                <a:ext uri="{FF2B5EF4-FFF2-40B4-BE49-F238E27FC236}">
                  <a16:creationId xmlns:a16="http://schemas.microsoft.com/office/drawing/2014/main" id="{BD3780DD-1306-2540-89B8-0A42DEECFC61}"/>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sp>
        <p:nvSpPr>
          <p:cNvPr id="100" name="Text Box 41">
            <a:extLst>
              <a:ext uri="{FF2B5EF4-FFF2-40B4-BE49-F238E27FC236}">
                <a16:creationId xmlns:a16="http://schemas.microsoft.com/office/drawing/2014/main" id="{488CD73E-ECC7-E842-9578-1478C5F11784}"/>
              </a:ext>
            </a:extLst>
          </p:cNvPr>
          <p:cNvSpPr txBox="1">
            <a:spLocks noChangeArrowheads="1"/>
          </p:cNvSpPr>
          <p:nvPr/>
        </p:nvSpPr>
        <p:spPr bwMode="auto">
          <a:xfrm>
            <a:off x="2833286" y="1145961"/>
            <a:ext cx="17685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solidFill>
                  <a:srgbClr val="CC0000"/>
                </a:solidFill>
                <a:latin typeface="+mn-lt"/>
              </a:rPr>
              <a:t>transmission</a:t>
            </a:r>
          </a:p>
        </p:txBody>
      </p:sp>
      <p:sp>
        <p:nvSpPr>
          <p:cNvPr id="101" name="Line 42">
            <a:extLst>
              <a:ext uri="{FF2B5EF4-FFF2-40B4-BE49-F238E27FC236}">
                <a16:creationId xmlns:a16="http://schemas.microsoft.com/office/drawing/2014/main" id="{B22F26F3-A41E-8848-BDA7-FE528ACF22F9}"/>
              </a:ext>
            </a:extLst>
          </p:cNvPr>
          <p:cNvSpPr>
            <a:spLocks noChangeShapeType="1"/>
          </p:cNvSpPr>
          <p:nvPr/>
        </p:nvSpPr>
        <p:spPr bwMode="auto">
          <a:xfrm rot="10800000" flipH="1" flipV="1">
            <a:off x="4038725" y="1443910"/>
            <a:ext cx="528667" cy="533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000"/>
          </a:p>
        </p:txBody>
      </p:sp>
      <p:sp>
        <p:nvSpPr>
          <p:cNvPr id="103" name="Rectangle 31">
            <a:extLst>
              <a:ext uri="{FF2B5EF4-FFF2-40B4-BE49-F238E27FC236}">
                <a16:creationId xmlns:a16="http://schemas.microsoft.com/office/drawing/2014/main" id="{9C43DB7F-CC6C-3D47-AEBE-0F3B6F7415AB}"/>
              </a:ext>
            </a:extLst>
          </p:cNvPr>
          <p:cNvSpPr>
            <a:spLocks noChangeArrowheads="1"/>
          </p:cNvSpPr>
          <p:nvPr/>
        </p:nvSpPr>
        <p:spPr bwMode="auto">
          <a:xfrm>
            <a:off x="2722441" y="2630267"/>
            <a:ext cx="139773" cy="185197"/>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sz="2800">
              <a:solidFill>
                <a:srgbClr val="000000"/>
              </a:solidFill>
              <a:latin typeface="+mn-lt"/>
            </a:endParaRPr>
          </a:p>
        </p:txBody>
      </p:sp>
      <p:sp>
        <p:nvSpPr>
          <p:cNvPr id="104" name="Line 33">
            <a:extLst>
              <a:ext uri="{FF2B5EF4-FFF2-40B4-BE49-F238E27FC236}">
                <a16:creationId xmlns:a16="http://schemas.microsoft.com/office/drawing/2014/main" id="{1420A34E-BA5D-D248-8FAC-DCC28151FB9C}"/>
              </a:ext>
            </a:extLst>
          </p:cNvPr>
          <p:cNvSpPr>
            <a:spLocks noChangeShapeType="1"/>
          </p:cNvSpPr>
          <p:nvPr/>
        </p:nvSpPr>
        <p:spPr bwMode="auto">
          <a:xfrm flipV="1">
            <a:off x="2897771" y="2599885"/>
            <a:ext cx="219680" cy="16193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cxnSp>
        <p:nvCxnSpPr>
          <p:cNvPr id="5" name="Straight Connector 4">
            <a:extLst>
              <a:ext uri="{FF2B5EF4-FFF2-40B4-BE49-F238E27FC236}">
                <a16:creationId xmlns:a16="http://schemas.microsoft.com/office/drawing/2014/main" id="{E0E58503-FA9B-1542-A0D6-E85B92D1E5BA}"/>
              </a:ext>
            </a:extLst>
          </p:cNvPr>
          <p:cNvCxnSpPr/>
          <p:nvPr/>
        </p:nvCxnSpPr>
        <p:spPr>
          <a:xfrm>
            <a:off x="4880582" y="2238559"/>
            <a:ext cx="338899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E49D3C3B-F6BB-8747-AE74-C4B438FB99F4}"/>
              </a:ext>
            </a:extLst>
          </p:cNvPr>
          <p:cNvGrpSpPr/>
          <p:nvPr/>
        </p:nvGrpSpPr>
        <p:grpSpPr>
          <a:xfrm>
            <a:off x="7991017" y="1778258"/>
            <a:ext cx="1511352" cy="863670"/>
            <a:chOff x="7493876" y="2774731"/>
            <a:chExt cx="1481958" cy="894622"/>
          </a:xfrm>
        </p:grpSpPr>
        <p:sp>
          <p:nvSpPr>
            <p:cNvPr id="128" name="Freeform 127">
              <a:extLst>
                <a:ext uri="{FF2B5EF4-FFF2-40B4-BE49-F238E27FC236}">
                  <a16:creationId xmlns:a16="http://schemas.microsoft.com/office/drawing/2014/main" id="{5D7E8999-C7DA-4C41-AF40-118E015147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29" name="Oval 128">
              <a:extLst>
                <a:ext uri="{FF2B5EF4-FFF2-40B4-BE49-F238E27FC236}">
                  <a16:creationId xmlns:a16="http://schemas.microsoft.com/office/drawing/2014/main" id="{21FE0DA3-6E20-DC4B-8111-DD2816780A5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30" name="Group 129">
              <a:extLst>
                <a:ext uri="{FF2B5EF4-FFF2-40B4-BE49-F238E27FC236}">
                  <a16:creationId xmlns:a16="http://schemas.microsoft.com/office/drawing/2014/main" id="{227FD192-76B7-BB4E-8D74-8B6F33DBA7D5}"/>
                </a:ext>
              </a:extLst>
            </p:cNvPr>
            <p:cNvGrpSpPr/>
            <p:nvPr/>
          </p:nvGrpSpPr>
          <p:grpSpPr>
            <a:xfrm>
              <a:off x="7713663" y="2848339"/>
              <a:ext cx="1042107" cy="425543"/>
              <a:chOff x="7786941" y="2884917"/>
              <a:chExt cx="897649" cy="353919"/>
            </a:xfrm>
          </p:grpSpPr>
          <p:sp>
            <p:nvSpPr>
              <p:cNvPr id="131" name="Freeform 130">
                <a:extLst>
                  <a:ext uri="{FF2B5EF4-FFF2-40B4-BE49-F238E27FC236}">
                    <a16:creationId xmlns:a16="http://schemas.microsoft.com/office/drawing/2014/main" id="{130CC598-6AE0-744A-9CEF-611CD26990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131">
                <a:extLst>
                  <a:ext uri="{FF2B5EF4-FFF2-40B4-BE49-F238E27FC236}">
                    <a16:creationId xmlns:a16="http://schemas.microsoft.com/office/drawing/2014/main" id="{F0B09B4D-82A4-6D4A-B104-F100560C44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132">
                <a:extLst>
                  <a:ext uri="{FF2B5EF4-FFF2-40B4-BE49-F238E27FC236}">
                    <a16:creationId xmlns:a16="http://schemas.microsoft.com/office/drawing/2014/main" id="{7CB1C4B0-5780-D24E-8D85-35BA5CE4255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133">
                <a:extLst>
                  <a:ext uri="{FF2B5EF4-FFF2-40B4-BE49-F238E27FC236}">
                    <a16:creationId xmlns:a16="http://schemas.microsoft.com/office/drawing/2014/main" id="{A78B6DE2-15CA-DC49-A0BD-10E78562E1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2" name="Rectangle 3">
            <a:extLst>
              <a:ext uri="{FF2B5EF4-FFF2-40B4-BE49-F238E27FC236}">
                <a16:creationId xmlns:a16="http://schemas.microsoft.com/office/drawing/2014/main" id="{A295C9C7-DA39-ED42-847F-83EE93D04F56}"/>
              </a:ext>
            </a:extLst>
          </p:cNvPr>
          <p:cNvSpPr>
            <a:spLocks noChangeArrowheads="1"/>
          </p:cNvSpPr>
          <p:nvPr/>
        </p:nvSpPr>
        <p:spPr bwMode="auto">
          <a:xfrm>
            <a:off x="1231746" y="4297060"/>
            <a:ext cx="4380277" cy="2078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eaLnBrk="1" hangingPunct="1">
              <a:lnSpc>
                <a:spcPct val="90000"/>
              </a:lnSpc>
              <a:spcBef>
                <a:spcPts val="600"/>
              </a:spcBef>
              <a:buClr>
                <a:srgbClr val="000099"/>
              </a:buClr>
              <a:buSzPct val="65000"/>
              <a:buFont typeface="Wingdings" charset="0"/>
              <a:buNone/>
              <a:defRPr/>
            </a:pPr>
            <a:r>
              <a:rPr lang="en-US" sz="2800" i="1" dirty="0">
                <a:solidFill>
                  <a:srgbClr val="CC0000"/>
                </a:solidFill>
                <a:ea typeface="ＭＳ Ｐゴシック" charset="0"/>
                <a:cs typeface="ＭＳ Ｐゴシック" charset="0"/>
              </a:rPr>
              <a:t>d</a:t>
            </a:r>
            <a:r>
              <a:rPr lang="en-US" sz="2800" baseline="-25000" dirty="0">
                <a:solidFill>
                  <a:srgbClr val="CC0000"/>
                </a:solidFill>
                <a:ea typeface="ＭＳ Ｐゴシック" charset="0"/>
                <a:cs typeface="ＭＳ Ｐゴシック" charset="0"/>
              </a:rPr>
              <a:t>trans</a:t>
            </a:r>
            <a:r>
              <a:rPr lang="en-US" sz="2800" dirty="0">
                <a:solidFill>
                  <a:srgbClr val="CC0000"/>
                </a:solidFill>
                <a:ea typeface="ＭＳ Ｐゴシック" charset="0"/>
                <a:cs typeface="ＭＳ Ｐゴシック" charset="0"/>
              </a:rPr>
              <a:t>: transmission delay:</a:t>
            </a:r>
          </a:p>
          <a:p>
            <a:pPr marL="231775" indent="-231775" eaLnBrk="1" hangingPunct="1">
              <a:lnSpc>
                <a:spcPct val="90000"/>
              </a:lnSpc>
              <a:spcBef>
                <a:spcPts val="600"/>
              </a:spcBef>
              <a:buClr>
                <a:srgbClr val="000099"/>
              </a:buClr>
              <a:buFont typeface="Wingdings" charset="0"/>
              <a:buChar char="§"/>
              <a:defRPr/>
            </a:pPr>
            <a:r>
              <a:rPr lang="en-US" sz="2400" i="1" dirty="0">
                <a:solidFill>
                  <a:srgbClr val="000000"/>
                </a:solidFill>
                <a:ea typeface="ＭＳ Ｐゴシック" charset="0"/>
                <a:cs typeface="ＭＳ Ｐゴシック" charset="0"/>
              </a:rPr>
              <a:t>L</a:t>
            </a:r>
            <a:r>
              <a:rPr lang="en-US" sz="2400" dirty="0">
                <a:solidFill>
                  <a:srgbClr val="000000"/>
                </a:solidFill>
                <a:ea typeface="ＭＳ Ｐゴシック" charset="0"/>
                <a:cs typeface="ＭＳ Ｐゴシック" charset="0"/>
              </a:rPr>
              <a:t>: packet length (bits) </a:t>
            </a:r>
          </a:p>
          <a:p>
            <a:pPr marL="231775" indent="-231775" eaLnBrk="1" hangingPunct="1">
              <a:lnSpc>
                <a:spcPct val="90000"/>
              </a:lnSpc>
              <a:spcBef>
                <a:spcPts val="600"/>
              </a:spcBef>
              <a:buClr>
                <a:srgbClr val="000099"/>
              </a:buClr>
              <a:buFont typeface="Wingdings" charset="0"/>
              <a:buChar char="§"/>
              <a:defRPr/>
            </a:pPr>
            <a:r>
              <a:rPr lang="en-US" sz="2400" i="1" dirty="0">
                <a:solidFill>
                  <a:srgbClr val="000000"/>
                </a:solidFill>
                <a:ea typeface="ＭＳ Ｐゴシック" charset="0"/>
                <a:cs typeface="ＭＳ Ｐゴシック" charset="0"/>
              </a:rPr>
              <a:t>R</a:t>
            </a:r>
            <a:r>
              <a:rPr lang="en-US" sz="2400" dirty="0">
                <a:solidFill>
                  <a:srgbClr val="000000"/>
                </a:solidFill>
                <a:ea typeface="ＭＳ Ｐゴシック" charset="0"/>
                <a:cs typeface="ＭＳ Ｐゴシック" charset="0"/>
              </a:rPr>
              <a:t>: link </a:t>
            </a:r>
            <a:r>
              <a:rPr lang="en-US" sz="2400" i="1" dirty="0">
                <a:solidFill>
                  <a:srgbClr val="000000"/>
                </a:solidFill>
                <a:ea typeface="ＭＳ Ｐゴシック" charset="0"/>
                <a:cs typeface="ＭＳ Ｐゴシック" charset="0"/>
              </a:rPr>
              <a:t>transmission rate (bps)</a:t>
            </a:r>
          </a:p>
          <a:p>
            <a:pPr marL="231775" indent="-231775" eaLnBrk="1" hangingPunct="1">
              <a:lnSpc>
                <a:spcPct val="90000"/>
              </a:lnSpc>
              <a:spcBef>
                <a:spcPts val="600"/>
              </a:spcBef>
              <a:buClr>
                <a:srgbClr val="000099"/>
              </a:buClr>
              <a:buFont typeface="Wingdings" charset="0"/>
              <a:buChar char="§"/>
              <a:defRPr/>
            </a:pPr>
            <a:r>
              <a:rPr lang="en-US" sz="2400" i="1" dirty="0">
                <a:solidFill>
                  <a:srgbClr val="CC0000"/>
                </a:solidFill>
                <a:ea typeface="ＭＳ Ｐゴシック" charset="0"/>
                <a:cs typeface="ＭＳ Ｐゴシック" charset="0"/>
              </a:rPr>
              <a:t>d</a:t>
            </a:r>
            <a:r>
              <a:rPr lang="en-US" sz="2400" i="1" baseline="-25000" dirty="0">
                <a:solidFill>
                  <a:srgbClr val="CC0000"/>
                </a:solidFill>
                <a:ea typeface="ＭＳ Ｐゴシック" charset="0"/>
                <a:cs typeface="ＭＳ Ｐゴシック" charset="0"/>
              </a:rPr>
              <a:t>trans</a:t>
            </a:r>
            <a:r>
              <a:rPr lang="en-US" sz="2400" i="1" dirty="0">
                <a:solidFill>
                  <a:srgbClr val="CC0000"/>
                </a:solidFill>
                <a:ea typeface="ＭＳ Ｐゴシック" charset="0"/>
                <a:cs typeface="ＭＳ Ｐゴシック" charset="0"/>
              </a:rPr>
              <a:t> </a:t>
            </a:r>
            <a:r>
              <a:rPr lang="en-US" sz="2400" i="1" dirty="0">
                <a:solidFill>
                  <a:srgbClr val="000000"/>
                </a:solidFill>
                <a:ea typeface="ＭＳ Ｐゴシック" charset="0"/>
                <a:cs typeface="ＭＳ Ｐゴシック" charset="0"/>
              </a:rPr>
              <a:t>= L/R</a:t>
            </a:r>
          </a:p>
        </p:txBody>
      </p:sp>
      <p:sp>
        <p:nvSpPr>
          <p:cNvPr id="53" name="Rectangle 4">
            <a:extLst>
              <a:ext uri="{FF2B5EF4-FFF2-40B4-BE49-F238E27FC236}">
                <a16:creationId xmlns:a16="http://schemas.microsoft.com/office/drawing/2014/main" id="{4367B5FB-6961-314F-9C99-C943E30E405F}"/>
              </a:ext>
            </a:extLst>
          </p:cNvPr>
          <p:cNvSpPr>
            <a:spLocks noChangeArrowheads="1"/>
          </p:cNvSpPr>
          <p:nvPr/>
        </p:nvSpPr>
        <p:spPr bwMode="auto">
          <a:xfrm>
            <a:off x="6527008" y="4304008"/>
            <a:ext cx="5147743" cy="219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eaLnBrk="1" hangingPunct="1">
              <a:lnSpc>
                <a:spcPct val="85000"/>
              </a:lnSpc>
              <a:spcBef>
                <a:spcPct val="20000"/>
              </a:spcBef>
              <a:buClr>
                <a:srgbClr val="000099"/>
              </a:buClr>
              <a:buSzPct val="65000"/>
              <a:buFont typeface="Wingdings" charset="0"/>
              <a:buNone/>
              <a:defRPr/>
            </a:pPr>
            <a:r>
              <a:rPr lang="en-US" sz="2800" i="1" dirty="0">
                <a:solidFill>
                  <a:srgbClr val="CC0000"/>
                </a:solidFill>
                <a:ea typeface="ＭＳ Ｐゴシック" charset="0"/>
                <a:cs typeface="ＭＳ Ｐゴシック" charset="0"/>
              </a:rPr>
              <a:t>d</a:t>
            </a:r>
            <a:r>
              <a:rPr lang="en-US" sz="2800" baseline="-25000" dirty="0">
                <a:solidFill>
                  <a:srgbClr val="CC0000"/>
                </a:solidFill>
                <a:ea typeface="ＭＳ Ｐゴシック" charset="0"/>
                <a:cs typeface="ＭＳ Ｐゴシック" charset="0"/>
              </a:rPr>
              <a:t>prop</a:t>
            </a:r>
            <a:r>
              <a:rPr lang="en-US" sz="2800" dirty="0">
                <a:solidFill>
                  <a:srgbClr val="CC0000"/>
                </a:solidFill>
                <a:ea typeface="ＭＳ Ｐゴシック" charset="0"/>
                <a:cs typeface="ＭＳ Ｐゴシック" charset="0"/>
              </a:rPr>
              <a:t>: propagation delay:</a:t>
            </a:r>
            <a:endParaRPr lang="en-US" dirty="0">
              <a:solidFill>
                <a:srgbClr val="CC0000"/>
              </a:solidFill>
              <a:ea typeface="ＭＳ Ｐゴシック" charset="0"/>
              <a:cs typeface="ＭＳ Ｐゴシック" charset="0"/>
            </a:endParaRPr>
          </a:p>
          <a:p>
            <a:pPr marL="231775" indent="-231775" eaLnBrk="1" hangingPunct="1">
              <a:lnSpc>
                <a:spcPct val="90000"/>
              </a:lnSpc>
              <a:spcBef>
                <a:spcPts val="600"/>
              </a:spcBef>
              <a:buClr>
                <a:srgbClr val="000099"/>
              </a:buClr>
              <a:buFont typeface="Wingdings" charset="0"/>
              <a:buChar char="§"/>
              <a:defRPr/>
            </a:pPr>
            <a:r>
              <a:rPr lang="en-US" sz="2400" i="1" dirty="0">
                <a:solidFill>
                  <a:srgbClr val="000000"/>
                </a:solidFill>
                <a:ea typeface="ＭＳ Ｐゴシック" charset="0"/>
                <a:cs typeface="ＭＳ Ｐゴシック" charset="0"/>
              </a:rPr>
              <a:t>d</a:t>
            </a:r>
            <a:r>
              <a:rPr lang="en-US" sz="2400" dirty="0">
                <a:solidFill>
                  <a:srgbClr val="000000"/>
                </a:solidFill>
                <a:ea typeface="ＭＳ Ｐゴシック" charset="0"/>
                <a:cs typeface="ＭＳ Ｐゴシック" charset="0"/>
              </a:rPr>
              <a:t>: length of physical link</a:t>
            </a:r>
          </a:p>
          <a:p>
            <a:pPr marL="231775" indent="-231775" eaLnBrk="1" hangingPunct="1">
              <a:lnSpc>
                <a:spcPct val="90000"/>
              </a:lnSpc>
              <a:spcBef>
                <a:spcPts val="600"/>
              </a:spcBef>
              <a:buClr>
                <a:srgbClr val="000099"/>
              </a:buClr>
              <a:buFont typeface="Wingdings" charset="0"/>
              <a:buChar char="§"/>
              <a:defRPr/>
            </a:pPr>
            <a:r>
              <a:rPr lang="en-US" sz="2400" i="1" dirty="0">
                <a:solidFill>
                  <a:srgbClr val="000000"/>
                </a:solidFill>
                <a:ea typeface="ＭＳ Ｐゴシック" charset="0"/>
                <a:cs typeface="ＭＳ Ｐゴシック" charset="0"/>
              </a:rPr>
              <a:t>s</a:t>
            </a:r>
            <a:r>
              <a:rPr lang="en-US" sz="2400" dirty="0">
                <a:solidFill>
                  <a:srgbClr val="000000"/>
                </a:solidFill>
                <a:ea typeface="ＭＳ Ｐゴシック" charset="0"/>
                <a:cs typeface="ＭＳ Ｐゴシック" charset="0"/>
              </a:rPr>
              <a:t>: propagation speed (~2x10</a:t>
            </a:r>
            <a:r>
              <a:rPr lang="en-US" sz="2400" baseline="30000" dirty="0">
                <a:solidFill>
                  <a:srgbClr val="000000"/>
                </a:solidFill>
                <a:ea typeface="ＭＳ Ｐゴシック" charset="0"/>
                <a:cs typeface="ＭＳ Ｐゴシック" charset="0"/>
              </a:rPr>
              <a:t>8</a:t>
            </a:r>
            <a:r>
              <a:rPr lang="en-US" sz="2400" dirty="0">
                <a:solidFill>
                  <a:srgbClr val="000000"/>
                </a:solidFill>
                <a:ea typeface="ＭＳ Ｐゴシック" charset="0"/>
                <a:cs typeface="ＭＳ Ｐゴシック" charset="0"/>
              </a:rPr>
              <a:t> m/sec)</a:t>
            </a:r>
          </a:p>
          <a:p>
            <a:pPr marL="231775" indent="-231775" eaLnBrk="1" hangingPunct="1">
              <a:lnSpc>
                <a:spcPct val="90000"/>
              </a:lnSpc>
              <a:spcBef>
                <a:spcPts val="600"/>
              </a:spcBef>
              <a:buClr>
                <a:srgbClr val="000099"/>
              </a:buClr>
              <a:buFont typeface="Wingdings" charset="0"/>
              <a:buChar char="§"/>
              <a:defRPr/>
            </a:pPr>
            <a:r>
              <a:rPr lang="en-US" sz="2400" i="1" dirty="0">
                <a:solidFill>
                  <a:srgbClr val="CC0000"/>
                </a:solidFill>
                <a:ea typeface="ＭＳ Ｐゴシック" charset="0"/>
                <a:cs typeface="ＭＳ Ｐゴシック" charset="0"/>
              </a:rPr>
              <a:t>d</a:t>
            </a:r>
            <a:r>
              <a:rPr lang="en-US" sz="2400" baseline="-25000" dirty="0">
                <a:solidFill>
                  <a:srgbClr val="CC0000"/>
                </a:solidFill>
                <a:ea typeface="ＭＳ Ｐゴシック" charset="0"/>
                <a:cs typeface="ＭＳ Ｐゴシック" charset="0"/>
              </a:rPr>
              <a:t>prop</a:t>
            </a:r>
            <a:r>
              <a:rPr lang="en-US" sz="2400" dirty="0">
                <a:solidFill>
                  <a:srgbClr val="000000"/>
                </a:solidFill>
                <a:ea typeface="ＭＳ Ｐゴシック" charset="0"/>
                <a:cs typeface="ＭＳ Ｐゴシック" charset="0"/>
              </a:rPr>
              <a:t> = </a:t>
            </a:r>
            <a:r>
              <a:rPr lang="en-US" sz="2400" i="1" dirty="0">
                <a:solidFill>
                  <a:srgbClr val="000000"/>
                </a:solidFill>
                <a:ea typeface="ＭＳ Ｐゴシック" charset="0"/>
                <a:cs typeface="ＭＳ Ｐゴシック" charset="0"/>
              </a:rPr>
              <a:t>d</a:t>
            </a:r>
            <a:r>
              <a:rPr lang="en-US" sz="2400" dirty="0">
                <a:solidFill>
                  <a:srgbClr val="000000"/>
                </a:solidFill>
                <a:ea typeface="ＭＳ Ｐゴシック" charset="0"/>
                <a:cs typeface="ＭＳ Ｐゴシック" charset="0"/>
              </a:rPr>
              <a:t>/</a:t>
            </a:r>
            <a:r>
              <a:rPr lang="en-US" sz="2400" i="1" dirty="0">
                <a:solidFill>
                  <a:srgbClr val="000000"/>
                </a:solidFill>
                <a:ea typeface="ＭＳ Ｐゴシック" charset="0"/>
                <a:cs typeface="ＭＳ Ｐゴシック" charset="0"/>
              </a:rPr>
              <a:t>s</a:t>
            </a:r>
          </a:p>
        </p:txBody>
      </p:sp>
      <p:grpSp>
        <p:nvGrpSpPr>
          <p:cNvPr id="9" name="Group 8">
            <a:extLst>
              <a:ext uri="{FF2B5EF4-FFF2-40B4-BE49-F238E27FC236}">
                <a16:creationId xmlns:a16="http://schemas.microsoft.com/office/drawing/2014/main" id="{E7DB7FA8-F9A7-FB4D-B8FF-0FBB7086AF05}"/>
              </a:ext>
            </a:extLst>
          </p:cNvPr>
          <p:cNvGrpSpPr/>
          <p:nvPr/>
        </p:nvGrpSpPr>
        <p:grpSpPr>
          <a:xfrm>
            <a:off x="1211117" y="5494308"/>
            <a:ext cx="7076415" cy="1127327"/>
            <a:chOff x="1211117" y="5568048"/>
            <a:chExt cx="7076415" cy="1127327"/>
          </a:xfrm>
        </p:grpSpPr>
        <p:sp>
          <p:nvSpPr>
            <p:cNvPr id="55" name="Text Box 62">
              <a:extLst>
                <a:ext uri="{FF2B5EF4-FFF2-40B4-BE49-F238E27FC236}">
                  <a16:creationId xmlns:a16="http://schemas.microsoft.com/office/drawing/2014/main" id="{D2984E3F-88C6-FF46-A32F-B96D5A684CE9}"/>
                </a:ext>
              </a:extLst>
            </p:cNvPr>
            <p:cNvSpPr txBox="1">
              <a:spLocks noChangeArrowheads="1"/>
            </p:cNvSpPr>
            <p:nvPr/>
          </p:nvSpPr>
          <p:spPr bwMode="auto">
            <a:xfrm>
              <a:off x="3836662" y="5864378"/>
              <a:ext cx="210522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i="1" dirty="0" err="1">
                  <a:solidFill>
                    <a:srgbClr val="C00000"/>
                  </a:solidFill>
                  <a:latin typeface="+mn-lt"/>
                </a:rPr>
                <a:t>d</a:t>
              </a:r>
              <a:r>
                <a:rPr lang="en-US" altLang="en-US" baseline="-25000" dirty="0" err="1">
                  <a:solidFill>
                    <a:srgbClr val="C00000"/>
                  </a:solidFill>
                  <a:latin typeface="+mn-lt"/>
                </a:rPr>
                <a:t>trans</a:t>
              </a:r>
              <a:r>
                <a:rPr lang="en-US" altLang="en-US" sz="2000" baseline="-25000" dirty="0">
                  <a:solidFill>
                    <a:srgbClr val="C00000"/>
                  </a:solidFill>
                  <a:latin typeface="+mn-lt"/>
                </a:rPr>
                <a:t> </a:t>
              </a:r>
              <a:r>
                <a:rPr lang="en-US" altLang="en-US" sz="2000" dirty="0">
                  <a:latin typeface="+mn-lt"/>
                </a:rPr>
                <a:t>and </a:t>
              </a:r>
              <a:r>
                <a:rPr lang="en-US" altLang="en-US" i="1" dirty="0" err="1">
                  <a:solidFill>
                    <a:srgbClr val="C00000"/>
                  </a:solidFill>
                  <a:latin typeface="+mn-lt"/>
                </a:rPr>
                <a:t>d</a:t>
              </a:r>
              <a:r>
                <a:rPr lang="en-US" altLang="en-US" baseline="-25000" dirty="0" err="1">
                  <a:solidFill>
                    <a:srgbClr val="C00000"/>
                  </a:solidFill>
                  <a:latin typeface="+mn-lt"/>
                </a:rPr>
                <a:t>prop</a:t>
              </a:r>
              <a:endParaRPr lang="en-US" altLang="en-US" baseline="-25000" dirty="0">
                <a:solidFill>
                  <a:srgbClr val="C00000"/>
                </a:solidFill>
                <a:latin typeface="+mn-lt"/>
              </a:endParaRPr>
            </a:p>
            <a:p>
              <a:pPr algn="ctr"/>
              <a:r>
                <a:rPr lang="en-US" altLang="en-US" i="1" dirty="0">
                  <a:latin typeface="+mn-lt"/>
                </a:rPr>
                <a:t>very </a:t>
              </a:r>
              <a:r>
                <a:rPr lang="en-US" altLang="en-US" dirty="0">
                  <a:latin typeface="+mn-lt"/>
                </a:rPr>
                <a:t>different</a:t>
              </a:r>
            </a:p>
          </p:txBody>
        </p:sp>
        <p:sp>
          <p:nvSpPr>
            <p:cNvPr id="3" name="Oval 2">
              <a:extLst>
                <a:ext uri="{FF2B5EF4-FFF2-40B4-BE49-F238E27FC236}">
                  <a16:creationId xmlns:a16="http://schemas.microsoft.com/office/drawing/2014/main" id="{59F10034-6D54-554A-832D-40D2FC72B086}"/>
                </a:ext>
              </a:extLst>
            </p:cNvPr>
            <p:cNvSpPr/>
            <p:nvPr/>
          </p:nvSpPr>
          <p:spPr>
            <a:xfrm>
              <a:off x="1211117" y="5568048"/>
              <a:ext cx="1869375" cy="500634"/>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10899A13-D659-FD40-BB86-F6944FFF8700}"/>
                </a:ext>
              </a:extLst>
            </p:cNvPr>
            <p:cNvSpPr/>
            <p:nvPr/>
          </p:nvSpPr>
          <p:spPr>
            <a:xfrm>
              <a:off x="6418157" y="5570209"/>
              <a:ext cx="1869375" cy="500634"/>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B4BA02AB-689E-8049-956E-12333C1B2FBE}"/>
                </a:ext>
              </a:extLst>
            </p:cNvPr>
            <p:cNvCxnSpPr>
              <a:stCxn id="63" idx="2"/>
            </p:cNvCxnSpPr>
            <p:nvPr/>
          </p:nvCxnSpPr>
          <p:spPr>
            <a:xfrm flipH="1">
              <a:off x="5392908" y="5820526"/>
              <a:ext cx="1025249" cy="248156"/>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7590E35C-F605-954E-9F43-19D0575FECCD}"/>
                </a:ext>
              </a:extLst>
            </p:cNvPr>
            <p:cNvCxnSpPr>
              <a:cxnSpLocks/>
            </p:cNvCxnSpPr>
            <p:nvPr/>
          </p:nvCxnSpPr>
          <p:spPr>
            <a:xfrm>
              <a:off x="3097924" y="5820526"/>
              <a:ext cx="940801" cy="248156"/>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9" name="TextBox 1">
            <a:extLst>
              <a:ext uri="{FF2B5EF4-FFF2-40B4-BE49-F238E27FC236}">
                <a16:creationId xmlns:a16="http://schemas.microsoft.com/office/drawing/2014/main" id="{998D4A0D-64F1-0C49-9BBF-FB735A3F9606}"/>
              </a:ext>
            </a:extLst>
          </p:cNvPr>
          <p:cNvSpPr txBox="1">
            <a:spLocks noChangeArrowheads="1"/>
          </p:cNvSpPr>
          <p:nvPr/>
        </p:nvSpPr>
        <p:spPr bwMode="auto">
          <a:xfrm>
            <a:off x="8902576" y="5958989"/>
            <a:ext cx="31279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200" dirty="0">
                <a:latin typeface="Calibri" panose="020F0502020204030204" pitchFamily="34" charset="0"/>
                <a:cs typeface="Calibri" panose="020F0502020204030204" pitchFamily="34" charset="0"/>
              </a:rPr>
              <a:t>* Check out the online interactive exercises:   h</a:t>
            </a:r>
            <a:r>
              <a:rPr lang="en-US" altLang="en-US" sz="1100" dirty="0">
                <a:latin typeface="Calibri" panose="020F0502020204030204" pitchFamily="34" charset="0"/>
                <a:cs typeface="Calibri" panose="020F0502020204030204" pitchFamily="34" charset="0"/>
              </a:rPr>
              <a:t>ttp://gaia.cs.umass.edu/</a:t>
            </a:r>
            <a:r>
              <a:rPr lang="en-US" altLang="en-US" sz="1100" dirty="0" err="1">
                <a:latin typeface="Calibri" panose="020F0502020204030204" pitchFamily="34" charset="0"/>
                <a:cs typeface="Calibri" panose="020F0502020204030204" pitchFamily="34" charset="0"/>
              </a:rPr>
              <a:t>kurose_ross</a:t>
            </a:r>
            <a:endParaRPr lang="en-US" altLang="en-US" sz="11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530155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dissolve">
                                      <p:cBhvr>
                                        <p:cTn id="7" dur="5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dissolv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9"/>
                                        </p:tgtEl>
                                        <p:attrNameLst>
                                          <p:attrName>style.visibility</p:attrName>
                                        </p:attrNameLst>
                                      </p:cBhvr>
                                      <p:to>
                                        <p:strVal val="visible"/>
                                      </p:to>
                                    </p:set>
                                    <p:animEffect transition="in" filter="dissolve">
                                      <p:cBhvr>
                                        <p:cTn id="20"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69"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Caravan analogy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72</a:t>
            </a:fld>
            <a:endParaRPr lang="en-US" dirty="0"/>
          </a:p>
        </p:txBody>
      </p:sp>
      <p:sp>
        <p:nvSpPr>
          <p:cNvPr id="59" name="Rectangle 3">
            <a:extLst>
              <a:ext uri="{FF2B5EF4-FFF2-40B4-BE49-F238E27FC236}">
                <a16:creationId xmlns:a16="http://schemas.microsoft.com/office/drawing/2014/main" id="{41B12F5C-6331-1347-85AF-E2E9F4F4F811}"/>
              </a:ext>
            </a:extLst>
          </p:cNvPr>
          <p:cNvSpPr txBox="1">
            <a:spLocks noChangeArrowheads="1"/>
          </p:cNvSpPr>
          <p:nvPr/>
        </p:nvSpPr>
        <p:spPr>
          <a:xfrm>
            <a:off x="929148" y="2992271"/>
            <a:ext cx="5377170" cy="33178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ea typeface="ＭＳ Ｐゴシック" panose="020B0600070205080204" pitchFamily="34" charset="-128"/>
              </a:rPr>
              <a:t>cars “</a:t>
            </a:r>
            <a:r>
              <a:rPr lang="en-US" altLang="ja-JP" dirty="0">
                <a:ea typeface="ＭＳ Ｐゴシック" panose="020B0600070205080204" pitchFamily="34" charset="-128"/>
              </a:rPr>
              <a:t>propagate” at  100 km/</a:t>
            </a:r>
            <a:r>
              <a:rPr lang="en-US" altLang="ja-JP" dirty="0" err="1">
                <a:ea typeface="ＭＳ Ｐゴシック" panose="020B0600070205080204" pitchFamily="34" charset="-128"/>
              </a:rPr>
              <a:t>hr</a:t>
            </a:r>
            <a:endParaRPr lang="en-US" altLang="ja-JP" dirty="0">
              <a:ea typeface="ＭＳ Ｐゴシック" panose="020B0600070205080204" pitchFamily="34" charset="-128"/>
            </a:endParaRPr>
          </a:p>
          <a:p>
            <a:pPr marL="287338" indent="-287338"/>
            <a:r>
              <a:rPr lang="en-US" altLang="en-US" dirty="0">
                <a:ea typeface="ＭＳ Ｐゴシック" panose="020B0600070205080204" pitchFamily="34" charset="-128"/>
              </a:rPr>
              <a:t>toll booth takes 12 sec to service car (bit transmission time)</a:t>
            </a:r>
          </a:p>
          <a:p>
            <a:pPr marL="287338" indent="-287338"/>
            <a:r>
              <a:rPr lang="en-US" altLang="en-US" dirty="0">
                <a:ea typeface="ＭＳ Ｐゴシック" panose="020B0600070205080204" pitchFamily="34" charset="-128"/>
              </a:rPr>
              <a:t>car ~ bit; caravan ~ packet</a:t>
            </a:r>
          </a:p>
          <a:p>
            <a:pPr marL="287338" indent="-287338"/>
            <a:r>
              <a:rPr lang="en-US" altLang="en-US" i="1" dirty="0">
                <a:solidFill>
                  <a:srgbClr val="CC0000"/>
                </a:solidFill>
                <a:ea typeface="ＭＳ Ｐゴシック" panose="020B0600070205080204" pitchFamily="34" charset="-128"/>
              </a:rPr>
              <a:t>Q:</a:t>
            </a:r>
            <a:r>
              <a:rPr lang="en-US" altLang="en-US" dirty="0">
                <a:solidFill>
                  <a:srgbClr val="CC0000"/>
                </a:solidFill>
                <a:ea typeface="ＭＳ Ｐゴシック" panose="020B0600070205080204" pitchFamily="34" charset="-128"/>
              </a:rPr>
              <a:t> How long until caravan is lined up before 2nd toll booth?</a:t>
            </a:r>
          </a:p>
          <a:p>
            <a:pPr marL="287338" indent="-287338">
              <a:buFont typeface="Wingdings" pitchFamily="2" charset="2"/>
              <a:buNone/>
            </a:pPr>
            <a:endParaRPr lang="en-US" altLang="en-US" sz="2400" dirty="0">
              <a:solidFill>
                <a:srgbClr val="CC0000"/>
              </a:solidFill>
              <a:ea typeface="ＭＳ Ｐゴシック" panose="020B0600070205080204" pitchFamily="34" charset="-128"/>
            </a:endParaRPr>
          </a:p>
        </p:txBody>
      </p:sp>
      <p:sp>
        <p:nvSpPr>
          <p:cNvPr id="60" name="Rectangle 4">
            <a:extLst>
              <a:ext uri="{FF2B5EF4-FFF2-40B4-BE49-F238E27FC236}">
                <a16:creationId xmlns:a16="http://schemas.microsoft.com/office/drawing/2014/main" id="{761B03B4-E470-8748-91D1-0F853F7B927D}"/>
              </a:ext>
            </a:extLst>
          </p:cNvPr>
          <p:cNvSpPr txBox="1">
            <a:spLocks noChangeArrowheads="1"/>
          </p:cNvSpPr>
          <p:nvPr/>
        </p:nvSpPr>
        <p:spPr>
          <a:xfrm>
            <a:off x="6776218" y="3006559"/>
            <a:ext cx="4875008" cy="33655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ea typeface="ＭＳ Ｐゴシック" panose="020B0600070205080204" pitchFamily="34" charset="-128"/>
              </a:rPr>
              <a:t>time to “</a:t>
            </a:r>
            <a:r>
              <a:rPr lang="en-US" altLang="ja-JP" dirty="0">
                <a:ea typeface="ＭＳ Ｐゴシック" panose="020B0600070205080204" pitchFamily="34" charset="-128"/>
              </a:rPr>
              <a:t>push” entire caravan through toll booth onto highway = 12*10 = 120 sec</a:t>
            </a:r>
          </a:p>
          <a:p>
            <a:pPr marL="287338" indent="-287338"/>
            <a:r>
              <a:rPr lang="en-US" altLang="en-US" dirty="0">
                <a:ea typeface="ＭＳ Ｐゴシック" panose="020B0600070205080204" pitchFamily="34" charset="-128"/>
              </a:rPr>
              <a:t>time for last car to propagate from 1st to 2nd toll both: 100km/(100km/</a:t>
            </a:r>
            <a:r>
              <a:rPr lang="en-US" altLang="en-US" dirty="0" err="1">
                <a:ea typeface="ＭＳ Ｐゴシック" panose="020B0600070205080204" pitchFamily="34" charset="-128"/>
              </a:rPr>
              <a:t>hr</a:t>
            </a:r>
            <a:r>
              <a:rPr lang="en-US" altLang="en-US" dirty="0">
                <a:ea typeface="ＭＳ Ｐゴシック" panose="020B0600070205080204" pitchFamily="34" charset="-128"/>
              </a:rPr>
              <a:t>) = 1 </a:t>
            </a:r>
            <a:r>
              <a:rPr lang="en-US" altLang="en-US" dirty="0" err="1">
                <a:ea typeface="ＭＳ Ｐゴシック" panose="020B0600070205080204" pitchFamily="34" charset="-128"/>
              </a:rPr>
              <a:t>hr</a:t>
            </a:r>
            <a:endParaRPr lang="en-US" altLang="en-US" dirty="0">
              <a:ea typeface="ＭＳ Ｐゴシック" panose="020B0600070205080204" pitchFamily="34" charset="-128"/>
            </a:endParaRPr>
          </a:p>
          <a:p>
            <a:pPr marL="287338" indent="-287338"/>
            <a:r>
              <a:rPr lang="en-US" altLang="en-US" i="1" dirty="0">
                <a:solidFill>
                  <a:srgbClr val="CC0000"/>
                </a:solidFill>
                <a:ea typeface="ＭＳ Ｐゴシック" panose="020B0600070205080204" pitchFamily="34" charset="-128"/>
              </a:rPr>
              <a:t>A:</a:t>
            </a:r>
            <a:r>
              <a:rPr lang="en-US" altLang="en-US" dirty="0">
                <a:solidFill>
                  <a:srgbClr val="CC0000"/>
                </a:solidFill>
                <a:ea typeface="ＭＳ Ｐゴシック" panose="020B0600070205080204" pitchFamily="34" charset="-128"/>
              </a:rPr>
              <a:t> 62 minutes</a:t>
            </a:r>
          </a:p>
        </p:txBody>
      </p:sp>
      <p:grpSp>
        <p:nvGrpSpPr>
          <p:cNvPr id="62" name="Group 43">
            <a:extLst>
              <a:ext uri="{FF2B5EF4-FFF2-40B4-BE49-F238E27FC236}">
                <a16:creationId xmlns:a16="http://schemas.microsoft.com/office/drawing/2014/main" id="{A680721C-C41B-034D-A8A4-9579FCA6E54B}"/>
              </a:ext>
            </a:extLst>
          </p:cNvPr>
          <p:cNvGrpSpPr>
            <a:grpSpLocks/>
          </p:cNvGrpSpPr>
          <p:nvPr/>
        </p:nvGrpSpPr>
        <p:grpSpPr bwMode="auto">
          <a:xfrm>
            <a:off x="7158831" y="1420239"/>
            <a:ext cx="2127250" cy="1031875"/>
            <a:chOff x="1190" y="938"/>
            <a:chExt cx="1340" cy="650"/>
          </a:xfrm>
        </p:grpSpPr>
        <p:sp>
          <p:nvSpPr>
            <p:cNvPr id="118" name="Rectangle 44">
              <a:extLst>
                <a:ext uri="{FF2B5EF4-FFF2-40B4-BE49-F238E27FC236}">
                  <a16:creationId xmlns:a16="http://schemas.microsoft.com/office/drawing/2014/main" id="{0075AD55-9B7E-3845-84B9-5FC47820ECC2}"/>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119" name="Text Box 45">
              <a:extLst>
                <a:ext uri="{FF2B5EF4-FFF2-40B4-BE49-F238E27FC236}">
                  <a16:creationId xmlns:a16="http://schemas.microsoft.com/office/drawing/2014/main" id="{A5BF8F48-588A-9542-B2DC-B2F53BE28C54}"/>
                </a:ext>
              </a:extLst>
            </p:cNvPr>
            <p:cNvSpPr txBox="1">
              <a:spLocks noChangeArrowheads="1"/>
            </p:cNvSpPr>
            <p:nvPr/>
          </p:nvSpPr>
          <p:spPr bwMode="auto">
            <a:xfrm>
              <a:off x="1190" y="1355"/>
              <a:ext cx="134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800" dirty="0">
                  <a:latin typeface="+mn-lt"/>
                </a:rPr>
                <a:t>toll booth</a:t>
              </a:r>
            </a:p>
          </p:txBody>
        </p:sp>
      </p:grpSp>
      <p:grpSp>
        <p:nvGrpSpPr>
          <p:cNvPr id="64" name="Group 46">
            <a:extLst>
              <a:ext uri="{FF2B5EF4-FFF2-40B4-BE49-F238E27FC236}">
                <a16:creationId xmlns:a16="http://schemas.microsoft.com/office/drawing/2014/main" id="{1E0845E3-4965-264F-85B3-251A72857D5C}"/>
              </a:ext>
            </a:extLst>
          </p:cNvPr>
          <p:cNvGrpSpPr>
            <a:grpSpLocks/>
          </p:cNvGrpSpPr>
          <p:nvPr/>
        </p:nvGrpSpPr>
        <p:grpSpPr bwMode="auto">
          <a:xfrm>
            <a:off x="4167981" y="1420240"/>
            <a:ext cx="2343150" cy="1370014"/>
            <a:chOff x="1103" y="938"/>
            <a:chExt cx="1476" cy="863"/>
          </a:xfrm>
        </p:grpSpPr>
        <p:sp>
          <p:nvSpPr>
            <p:cNvPr id="112" name="Rectangle 47">
              <a:extLst>
                <a:ext uri="{FF2B5EF4-FFF2-40B4-BE49-F238E27FC236}">
                  <a16:creationId xmlns:a16="http://schemas.microsoft.com/office/drawing/2014/main" id="{26085591-8185-6B44-97FE-F1C550916937}"/>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113" name="Text Box 48">
              <a:extLst>
                <a:ext uri="{FF2B5EF4-FFF2-40B4-BE49-F238E27FC236}">
                  <a16:creationId xmlns:a16="http://schemas.microsoft.com/office/drawing/2014/main" id="{538D52FE-8983-DE48-A549-A9D77BEDF1ED}"/>
                </a:ext>
              </a:extLst>
            </p:cNvPr>
            <p:cNvSpPr txBox="1">
              <a:spLocks noChangeArrowheads="1"/>
            </p:cNvSpPr>
            <p:nvPr/>
          </p:nvSpPr>
          <p:spPr bwMode="auto">
            <a:xfrm>
              <a:off x="1103" y="1355"/>
              <a:ext cx="1476"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latin typeface="+mn-lt"/>
                </a:rPr>
                <a:t>toll  booth</a:t>
              </a:r>
            </a:p>
            <a:p>
              <a:pPr algn="ctr"/>
              <a:r>
                <a:rPr lang="en-US" altLang="en-US" sz="2000" dirty="0">
                  <a:latin typeface="+mn-lt"/>
                </a:rPr>
                <a:t>(aka router)</a:t>
              </a:r>
              <a:endParaRPr lang="en-US" altLang="en-US" sz="1800" dirty="0">
                <a:latin typeface="+mn-lt"/>
              </a:endParaRPr>
            </a:p>
          </p:txBody>
        </p:sp>
      </p:grpSp>
      <p:sp>
        <p:nvSpPr>
          <p:cNvPr id="67" name="Text Box 50">
            <a:extLst>
              <a:ext uri="{FF2B5EF4-FFF2-40B4-BE49-F238E27FC236}">
                <a16:creationId xmlns:a16="http://schemas.microsoft.com/office/drawing/2014/main" id="{6DCA78D0-71A5-3D48-8C60-11F6F75145ED}"/>
              </a:ext>
            </a:extLst>
          </p:cNvPr>
          <p:cNvSpPr txBox="1">
            <a:spLocks noChangeArrowheads="1"/>
          </p:cNvSpPr>
          <p:nvPr/>
        </p:nvSpPr>
        <p:spPr bwMode="auto">
          <a:xfrm>
            <a:off x="2409031" y="2079052"/>
            <a:ext cx="2116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latin typeface="+mn-lt"/>
              </a:rPr>
              <a:t>ten-car caravan</a:t>
            </a:r>
          </a:p>
          <a:p>
            <a:r>
              <a:rPr lang="en-US" altLang="en-US" sz="2000" dirty="0">
                <a:latin typeface="+mn-lt"/>
              </a:rPr>
              <a:t>(aka 10-bit packet)</a:t>
            </a:r>
          </a:p>
        </p:txBody>
      </p:sp>
      <p:sp>
        <p:nvSpPr>
          <p:cNvPr id="68" name="Line 51">
            <a:extLst>
              <a:ext uri="{FF2B5EF4-FFF2-40B4-BE49-F238E27FC236}">
                <a16:creationId xmlns:a16="http://schemas.microsoft.com/office/drawing/2014/main" id="{031381B0-A607-BB42-A9DA-33BCE08F5231}"/>
              </a:ext>
            </a:extLst>
          </p:cNvPr>
          <p:cNvSpPr>
            <a:spLocks noChangeShapeType="1"/>
          </p:cNvSpPr>
          <p:nvPr/>
        </p:nvSpPr>
        <p:spPr bwMode="auto">
          <a:xfrm flipH="1">
            <a:off x="5145881" y="1729802"/>
            <a:ext cx="6588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52">
            <a:extLst>
              <a:ext uri="{FF2B5EF4-FFF2-40B4-BE49-F238E27FC236}">
                <a16:creationId xmlns:a16="http://schemas.microsoft.com/office/drawing/2014/main" id="{1547177C-C201-3046-8515-06AE257E418E}"/>
              </a:ext>
            </a:extLst>
          </p:cNvPr>
          <p:cNvSpPr txBox="1">
            <a:spLocks noChangeArrowheads="1"/>
          </p:cNvSpPr>
          <p:nvPr/>
        </p:nvSpPr>
        <p:spPr bwMode="auto">
          <a:xfrm>
            <a:off x="5804693" y="15297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a:latin typeface="+mn-lt"/>
              </a:rPr>
              <a:t>100 km</a:t>
            </a:r>
          </a:p>
        </p:txBody>
      </p:sp>
      <p:sp>
        <p:nvSpPr>
          <p:cNvPr id="71" name="Line 53">
            <a:extLst>
              <a:ext uri="{FF2B5EF4-FFF2-40B4-BE49-F238E27FC236}">
                <a16:creationId xmlns:a16="http://schemas.microsoft.com/office/drawing/2014/main" id="{E0D9E0AD-E82D-CF4F-8D2E-4728AAE39443}"/>
              </a:ext>
            </a:extLst>
          </p:cNvPr>
          <p:cNvSpPr>
            <a:spLocks noChangeShapeType="1"/>
          </p:cNvSpPr>
          <p:nvPr/>
        </p:nvSpPr>
        <p:spPr bwMode="auto">
          <a:xfrm flipH="1" flipV="1">
            <a:off x="8138318" y="1728214"/>
            <a:ext cx="6223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2" name="Text Box 54">
            <a:extLst>
              <a:ext uri="{FF2B5EF4-FFF2-40B4-BE49-F238E27FC236}">
                <a16:creationId xmlns:a16="http://schemas.microsoft.com/office/drawing/2014/main" id="{9CD8914C-2542-8F4E-AF73-59E7EC661E83}"/>
              </a:ext>
            </a:extLst>
          </p:cNvPr>
          <p:cNvSpPr txBox="1">
            <a:spLocks noChangeArrowheads="1"/>
          </p:cNvSpPr>
          <p:nvPr/>
        </p:nvSpPr>
        <p:spPr bwMode="auto">
          <a:xfrm>
            <a:off x="8760618" y="15297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a:latin typeface="+mn-lt"/>
              </a:rPr>
              <a:t>100 km</a:t>
            </a:r>
          </a:p>
        </p:txBody>
      </p:sp>
      <p:sp>
        <p:nvSpPr>
          <p:cNvPr id="73" name="Line 55">
            <a:extLst>
              <a:ext uri="{FF2B5EF4-FFF2-40B4-BE49-F238E27FC236}">
                <a16:creationId xmlns:a16="http://schemas.microsoft.com/office/drawing/2014/main" id="{169E470E-C0E6-F24E-B1E7-18A05B97673C}"/>
              </a:ext>
            </a:extLst>
          </p:cNvPr>
          <p:cNvSpPr>
            <a:spLocks noChangeShapeType="1"/>
          </p:cNvSpPr>
          <p:nvPr/>
        </p:nvSpPr>
        <p:spPr bwMode="auto">
          <a:xfrm flipV="1">
            <a:off x="9670045" y="1728214"/>
            <a:ext cx="46955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 name="Oval 56">
            <a:extLst>
              <a:ext uri="{FF2B5EF4-FFF2-40B4-BE49-F238E27FC236}">
                <a16:creationId xmlns:a16="http://schemas.microsoft.com/office/drawing/2014/main" id="{F868A4D3-B48D-C848-B37D-F3B07B765ABC}"/>
              </a:ext>
            </a:extLst>
          </p:cNvPr>
          <p:cNvSpPr>
            <a:spLocks noChangeArrowheads="1"/>
          </p:cNvSpPr>
          <p:nvPr/>
        </p:nvSpPr>
        <p:spPr bwMode="auto">
          <a:xfrm>
            <a:off x="2890043"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75" name="Oval 57">
            <a:extLst>
              <a:ext uri="{FF2B5EF4-FFF2-40B4-BE49-F238E27FC236}">
                <a16:creationId xmlns:a16="http://schemas.microsoft.com/office/drawing/2014/main" id="{56EAFA29-975D-474A-97BF-AFC41E8AC4E5}"/>
              </a:ext>
            </a:extLst>
          </p:cNvPr>
          <p:cNvSpPr>
            <a:spLocks noChangeArrowheads="1"/>
          </p:cNvSpPr>
          <p:nvPr/>
        </p:nvSpPr>
        <p:spPr bwMode="auto">
          <a:xfrm>
            <a:off x="3042443"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76" name="Oval 58">
            <a:extLst>
              <a:ext uri="{FF2B5EF4-FFF2-40B4-BE49-F238E27FC236}">
                <a16:creationId xmlns:a16="http://schemas.microsoft.com/office/drawing/2014/main" id="{0E771CCE-C6A6-1E4D-A15A-E66651C3A108}"/>
              </a:ext>
            </a:extLst>
          </p:cNvPr>
          <p:cNvSpPr>
            <a:spLocks noChangeArrowheads="1"/>
          </p:cNvSpPr>
          <p:nvPr/>
        </p:nvSpPr>
        <p:spPr bwMode="auto">
          <a:xfrm>
            <a:off x="3266281"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pic>
        <p:nvPicPr>
          <p:cNvPr id="78" name="Picture 59" descr="MCj03985170000[1]">
            <a:extLst>
              <a:ext uri="{FF2B5EF4-FFF2-40B4-BE49-F238E27FC236}">
                <a16:creationId xmlns:a16="http://schemas.microsoft.com/office/drawing/2014/main" id="{9CEB139B-515D-B54C-9C5C-AEB0E8CB6E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3374231" y="1640902"/>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60" descr="MCj03985170000[1]">
            <a:extLst>
              <a:ext uri="{FF2B5EF4-FFF2-40B4-BE49-F238E27FC236}">
                <a16:creationId xmlns:a16="http://schemas.microsoft.com/office/drawing/2014/main" id="{6ACBF8D8-9A26-364E-A17B-BFCD2AA9A1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07406" y="1636139"/>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 name="Group 61">
            <a:extLst>
              <a:ext uri="{FF2B5EF4-FFF2-40B4-BE49-F238E27FC236}">
                <a16:creationId xmlns:a16="http://schemas.microsoft.com/office/drawing/2014/main" id="{A95B855D-1C6D-414B-9F22-7729104A5F20}"/>
              </a:ext>
            </a:extLst>
          </p:cNvPr>
          <p:cNvGrpSpPr>
            <a:grpSpLocks/>
          </p:cNvGrpSpPr>
          <p:nvPr/>
        </p:nvGrpSpPr>
        <p:grpSpPr bwMode="auto">
          <a:xfrm>
            <a:off x="4693443" y="1331339"/>
            <a:ext cx="458788" cy="777875"/>
            <a:chOff x="2365" y="1352"/>
            <a:chExt cx="1022" cy="1616"/>
          </a:xfrm>
        </p:grpSpPr>
        <p:pic>
          <p:nvPicPr>
            <p:cNvPr id="110" name="Picture 62">
              <a:extLst>
                <a:ext uri="{FF2B5EF4-FFF2-40B4-BE49-F238E27FC236}">
                  <a16:creationId xmlns:a16="http://schemas.microsoft.com/office/drawing/2014/main" id="{EB674B22-7E46-2C44-AF9F-1E555966BB4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63">
              <a:extLst>
                <a:ext uri="{FF2B5EF4-FFF2-40B4-BE49-F238E27FC236}">
                  <a16:creationId xmlns:a16="http://schemas.microsoft.com/office/drawing/2014/main" id="{F01353DF-CFF9-1647-A044-1F49D6785635}"/>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pic>
        <p:nvPicPr>
          <p:cNvPr id="105" name="Picture 64" descr="MCj03985170000[1]">
            <a:extLst>
              <a:ext uri="{FF2B5EF4-FFF2-40B4-BE49-F238E27FC236}">
                <a16:creationId xmlns:a16="http://schemas.microsoft.com/office/drawing/2014/main" id="{2A0D7193-16A0-CF44-BE21-F6AC69F7BC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137818" y="1661539"/>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6" name="Group 65">
            <a:extLst>
              <a:ext uri="{FF2B5EF4-FFF2-40B4-BE49-F238E27FC236}">
                <a16:creationId xmlns:a16="http://schemas.microsoft.com/office/drawing/2014/main" id="{164B693F-1E0D-484C-BAAB-59C095BE0057}"/>
              </a:ext>
            </a:extLst>
          </p:cNvPr>
          <p:cNvGrpSpPr>
            <a:grpSpLocks/>
          </p:cNvGrpSpPr>
          <p:nvPr/>
        </p:nvGrpSpPr>
        <p:grpSpPr bwMode="auto">
          <a:xfrm>
            <a:off x="7616031" y="1359914"/>
            <a:ext cx="458788" cy="777875"/>
            <a:chOff x="2365" y="1352"/>
            <a:chExt cx="1022" cy="1616"/>
          </a:xfrm>
        </p:grpSpPr>
        <p:pic>
          <p:nvPicPr>
            <p:cNvPr id="108" name="Picture 66">
              <a:extLst>
                <a:ext uri="{FF2B5EF4-FFF2-40B4-BE49-F238E27FC236}">
                  <a16:creationId xmlns:a16="http://schemas.microsoft.com/office/drawing/2014/main" id="{3F538F10-B988-2C46-8412-F651183076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Rectangle 67">
              <a:extLst>
                <a:ext uri="{FF2B5EF4-FFF2-40B4-BE49-F238E27FC236}">
                  <a16:creationId xmlns:a16="http://schemas.microsoft.com/office/drawing/2014/main" id="{DDC87F5E-7874-804E-8DFC-06A9845A630B}"/>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sp>
        <p:nvSpPr>
          <p:cNvPr id="107" name="Line 68">
            <a:extLst>
              <a:ext uri="{FF2B5EF4-FFF2-40B4-BE49-F238E27FC236}">
                <a16:creationId xmlns:a16="http://schemas.microsoft.com/office/drawing/2014/main" id="{0CAD04D0-792F-5E49-A514-B73659DD91FE}"/>
              </a:ext>
            </a:extLst>
          </p:cNvPr>
          <p:cNvSpPr>
            <a:spLocks noChangeShapeType="1"/>
          </p:cNvSpPr>
          <p:nvPr/>
        </p:nvSpPr>
        <p:spPr bwMode="auto">
          <a:xfrm>
            <a:off x="6884193" y="1728214"/>
            <a:ext cx="8667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 name="Right Brace 9">
            <a:extLst>
              <a:ext uri="{FF2B5EF4-FFF2-40B4-BE49-F238E27FC236}">
                <a16:creationId xmlns:a16="http://schemas.microsoft.com/office/drawing/2014/main" id="{7551CFE6-10AE-1342-89E5-DB20C72CDEB2}"/>
              </a:ext>
            </a:extLst>
          </p:cNvPr>
          <p:cNvSpPr/>
          <p:nvPr/>
        </p:nvSpPr>
        <p:spPr>
          <a:xfrm rot="5400000">
            <a:off x="3376644" y="814577"/>
            <a:ext cx="107886" cy="252571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3489555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
                                            <p:txEl>
                                              <p:pRg st="0" end="0"/>
                                            </p:txEl>
                                          </p:spTgt>
                                        </p:tgtEl>
                                        <p:attrNameLst>
                                          <p:attrName>style.visibility</p:attrName>
                                        </p:attrNameLst>
                                      </p:cBhvr>
                                      <p:to>
                                        <p:strVal val="visible"/>
                                      </p:to>
                                    </p:set>
                                    <p:animEffect transition="in" filter="dissolve">
                                      <p:cBhvr>
                                        <p:cTn id="7" dur="500"/>
                                        <p:tgtEl>
                                          <p:spTgt spid="6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0">
                                            <p:txEl>
                                              <p:pRg st="1" end="1"/>
                                            </p:txEl>
                                          </p:spTgt>
                                        </p:tgtEl>
                                        <p:attrNameLst>
                                          <p:attrName>style.visibility</p:attrName>
                                        </p:attrNameLst>
                                      </p:cBhvr>
                                      <p:to>
                                        <p:strVal val="visible"/>
                                      </p:to>
                                    </p:set>
                                    <p:animEffect transition="in" filter="dissolve">
                                      <p:cBhvr>
                                        <p:cTn id="12" dur="500"/>
                                        <p:tgtEl>
                                          <p:spTgt spid="6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
                                            <p:txEl>
                                              <p:pRg st="2" end="2"/>
                                            </p:txEl>
                                          </p:spTgt>
                                        </p:tgtEl>
                                        <p:attrNameLst>
                                          <p:attrName>style.visibility</p:attrName>
                                        </p:attrNameLst>
                                      </p:cBhvr>
                                      <p:to>
                                        <p:strVal val="visible"/>
                                      </p:to>
                                    </p:set>
                                    <p:animEffect transition="in" filter="dissolve">
                                      <p:cBhvr>
                                        <p:cTn id="17" dur="500"/>
                                        <p:tgtEl>
                                          <p:spTgt spid="6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build="p"/>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Caravan analogy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73</a:t>
            </a:fld>
            <a:endParaRPr lang="en-US" dirty="0"/>
          </a:p>
        </p:txBody>
      </p:sp>
      <p:grpSp>
        <p:nvGrpSpPr>
          <p:cNvPr id="62" name="Group 43">
            <a:extLst>
              <a:ext uri="{FF2B5EF4-FFF2-40B4-BE49-F238E27FC236}">
                <a16:creationId xmlns:a16="http://schemas.microsoft.com/office/drawing/2014/main" id="{A680721C-C41B-034D-A8A4-9579FCA6E54B}"/>
              </a:ext>
            </a:extLst>
          </p:cNvPr>
          <p:cNvGrpSpPr>
            <a:grpSpLocks/>
          </p:cNvGrpSpPr>
          <p:nvPr/>
        </p:nvGrpSpPr>
        <p:grpSpPr bwMode="auto">
          <a:xfrm>
            <a:off x="7158831" y="1420239"/>
            <a:ext cx="2127250" cy="1031875"/>
            <a:chOff x="1190" y="938"/>
            <a:chExt cx="1340" cy="650"/>
          </a:xfrm>
        </p:grpSpPr>
        <p:sp>
          <p:nvSpPr>
            <p:cNvPr id="118" name="Rectangle 44">
              <a:extLst>
                <a:ext uri="{FF2B5EF4-FFF2-40B4-BE49-F238E27FC236}">
                  <a16:creationId xmlns:a16="http://schemas.microsoft.com/office/drawing/2014/main" id="{0075AD55-9B7E-3845-84B9-5FC47820ECC2}"/>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119" name="Text Box 45">
              <a:extLst>
                <a:ext uri="{FF2B5EF4-FFF2-40B4-BE49-F238E27FC236}">
                  <a16:creationId xmlns:a16="http://schemas.microsoft.com/office/drawing/2014/main" id="{A5BF8F48-588A-9542-B2DC-B2F53BE28C54}"/>
                </a:ext>
              </a:extLst>
            </p:cNvPr>
            <p:cNvSpPr txBox="1">
              <a:spLocks noChangeArrowheads="1"/>
            </p:cNvSpPr>
            <p:nvPr/>
          </p:nvSpPr>
          <p:spPr bwMode="auto">
            <a:xfrm>
              <a:off x="1190" y="1355"/>
              <a:ext cx="134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800" dirty="0">
                  <a:latin typeface="+mn-lt"/>
                </a:rPr>
                <a:t>toll booth</a:t>
              </a:r>
            </a:p>
          </p:txBody>
        </p:sp>
      </p:grpSp>
      <p:grpSp>
        <p:nvGrpSpPr>
          <p:cNvPr id="64" name="Group 46">
            <a:extLst>
              <a:ext uri="{FF2B5EF4-FFF2-40B4-BE49-F238E27FC236}">
                <a16:creationId xmlns:a16="http://schemas.microsoft.com/office/drawing/2014/main" id="{1E0845E3-4965-264F-85B3-251A72857D5C}"/>
              </a:ext>
            </a:extLst>
          </p:cNvPr>
          <p:cNvGrpSpPr>
            <a:grpSpLocks/>
          </p:cNvGrpSpPr>
          <p:nvPr/>
        </p:nvGrpSpPr>
        <p:grpSpPr bwMode="auto">
          <a:xfrm>
            <a:off x="4167981" y="1420240"/>
            <a:ext cx="2343150" cy="1370014"/>
            <a:chOff x="1103" y="938"/>
            <a:chExt cx="1476" cy="863"/>
          </a:xfrm>
        </p:grpSpPr>
        <p:sp>
          <p:nvSpPr>
            <p:cNvPr id="112" name="Rectangle 47">
              <a:extLst>
                <a:ext uri="{FF2B5EF4-FFF2-40B4-BE49-F238E27FC236}">
                  <a16:creationId xmlns:a16="http://schemas.microsoft.com/office/drawing/2014/main" id="{26085591-8185-6B44-97FE-F1C550916937}"/>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113" name="Text Box 48">
              <a:extLst>
                <a:ext uri="{FF2B5EF4-FFF2-40B4-BE49-F238E27FC236}">
                  <a16:creationId xmlns:a16="http://schemas.microsoft.com/office/drawing/2014/main" id="{538D52FE-8983-DE48-A549-A9D77BEDF1ED}"/>
                </a:ext>
              </a:extLst>
            </p:cNvPr>
            <p:cNvSpPr txBox="1">
              <a:spLocks noChangeArrowheads="1"/>
            </p:cNvSpPr>
            <p:nvPr/>
          </p:nvSpPr>
          <p:spPr bwMode="auto">
            <a:xfrm>
              <a:off x="1103" y="1355"/>
              <a:ext cx="1476"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latin typeface="+mn-lt"/>
                </a:rPr>
                <a:t>toll  booth</a:t>
              </a:r>
            </a:p>
            <a:p>
              <a:pPr algn="ctr"/>
              <a:r>
                <a:rPr lang="en-US" altLang="en-US" sz="2000" dirty="0">
                  <a:latin typeface="+mn-lt"/>
                </a:rPr>
                <a:t>(aka router)</a:t>
              </a:r>
              <a:endParaRPr lang="en-US" altLang="en-US" sz="1800" dirty="0">
                <a:latin typeface="+mn-lt"/>
              </a:endParaRPr>
            </a:p>
          </p:txBody>
        </p:sp>
      </p:grpSp>
      <p:sp>
        <p:nvSpPr>
          <p:cNvPr id="67" name="Text Box 50">
            <a:extLst>
              <a:ext uri="{FF2B5EF4-FFF2-40B4-BE49-F238E27FC236}">
                <a16:creationId xmlns:a16="http://schemas.microsoft.com/office/drawing/2014/main" id="{6DCA78D0-71A5-3D48-8C60-11F6F75145ED}"/>
              </a:ext>
            </a:extLst>
          </p:cNvPr>
          <p:cNvSpPr txBox="1">
            <a:spLocks noChangeArrowheads="1"/>
          </p:cNvSpPr>
          <p:nvPr/>
        </p:nvSpPr>
        <p:spPr bwMode="auto">
          <a:xfrm>
            <a:off x="2409031" y="2079052"/>
            <a:ext cx="2116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latin typeface="+mn-lt"/>
              </a:rPr>
              <a:t>ten-car caravan</a:t>
            </a:r>
          </a:p>
          <a:p>
            <a:r>
              <a:rPr lang="en-US" altLang="en-US" sz="2000" dirty="0">
                <a:latin typeface="+mn-lt"/>
              </a:rPr>
              <a:t>(aka 10-bit packet)</a:t>
            </a:r>
          </a:p>
        </p:txBody>
      </p:sp>
      <p:sp>
        <p:nvSpPr>
          <p:cNvPr id="68" name="Line 51">
            <a:extLst>
              <a:ext uri="{FF2B5EF4-FFF2-40B4-BE49-F238E27FC236}">
                <a16:creationId xmlns:a16="http://schemas.microsoft.com/office/drawing/2014/main" id="{031381B0-A607-BB42-A9DA-33BCE08F5231}"/>
              </a:ext>
            </a:extLst>
          </p:cNvPr>
          <p:cNvSpPr>
            <a:spLocks noChangeShapeType="1"/>
          </p:cNvSpPr>
          <p:nvPr/>
        </p:nvSpPr>
        <p:spPr bwMode="auto">
          <a:xfrm flipH="1">
            <a:off x="5145881" y="1729802"/>
            <a:ext cx="6588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0" name="Text Box 52">
            <a:extLst>
              <a:ext uri="{FF2B5EF4-FFF2-40B4-BE49-F238E27FC236}">
                <a16:creationId xmlns:a16="http://schemas.microsoft.com/office/drawing/2014/main" id="{1547177C-C201-3046-8515-06AE257E418E}"/>
              </a:ext>
            </a:extLst>
          </p:cNvPr>
          <p:cNvSpPr txBox="1">
            <a:spLocks noChangeArrowheads="1"/>
          </p:cNvSpPr>
          <p:nvPr/>
        </p:nvSpPr>
        <p:spPr bwMode="auto">
          <a:xfrm>
            <a:off x="5804693" y="15297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a:latin typeface="+mn-lt"/>
              </a:rPr>
              <a:t>100 km</a:t>
            </a:r>
          </a:p>
        </p:txBody>
      </p:sp>
      <p:sp>
        <p:nvSpPr>
          <p:cNvPr id="71" name="Line 53">
            <a:extLst>
              <a:ext uri="{FF2B5EF4-FFF2-40B4-BE49-F238E27FC236}">
                <a16:creationId xmlns:a16="http://schemas.microsoft.com/office/drawing/2014/main" id="{E0D9E0AD-E82D-CF4F-8D2E-4728AAE39443}"/>
              </a:ext>
            </a:extLst>
          </p:cNvPr>
          <p:cNvSpPr>
            <a:spLocks noChangeShapeType="1"/>
          </p:cNvSpPr>
          <p:nvPr/>
        </p:nvSpPr>
        <p:spPr bwMode="auto">
          <a:xfrm flipH="1" flipV="1">
            <a:off x="8138318" y="1728214"/>
            <a:ext cx="6223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2" name="Text Box 54">
            <a:extLst>
              <a:ext uri="{FF2B5EF4-FFF2-40B4-BE49-F238E27FC236}">
                <a16:creationId xmlns:a16="http://schemas.microsoft.com/office/drawing/2014/main" id="{9CD8914C-2542-8F4E-AF73-59E7EC661E83}"/>
              </a:ext>
            </a:extLst>
          </p:cNvPr>
          <p:cNvSpPr txBox="1">
            <a:spLocks noChangeArrowheads="1"/>
          </p:cNvSpPr>
          <p:nvPr/>
        </p:nvSpPr>
        <p:spPr bwMode="auto">
          <a:xfrm>
            <a:off x="8760618" y="15297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a:latin typeface="+mn-lt"/>
              </a:rPr>
              <a:t>100 km</a:t>
            </a:r>
          </a:p>
        </p:txBody>
      </p:sp>
      <p:sp>
        <p:nvSpPr>
          <p:cNvPr id="73" name="Line 55">
            <a:extLst>
              <a:ext uri="{FF2B5EF4-FFF2-40B4-BE49-F238E27FC236}">
                <a16:creationId xmlns:a16="http://schemas.microsoft.com/office/drawing/2014/main" id="{169E470E-C0E6-F24E-B1E7-18A05B97673C}"/>
              </a:ext>
            </a:extLst>
          </p:cNvPr>
          <p:cNvSpPr>
            <a:spLocks noChangeShapeType="1"/>
          </p:cNvSpPr>
          <p:nvPr/>
        </p:nvSpPr>
        <p:spPr bwMode="auto">
          <a:xfrm flipV="1">
            <a:off x="9670045" y="1728214"/>
            <a:ext cx="46955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 name="Oval 56">
            <a:extLst>
              <a:ext uri="{FF2B5EF4-FFF2-40B4-BE49-F238E27FC236}">
                <a16:creationId xmlns:a16="http://schemas.microsoft.com/office/drawing/2014/main" id="{F868A4D3-B48D-C848-B37D-F3B07B765ABC}"/>
              </a:ext>
            </a:extLst>
          </p:cNvPr>
          <p:cNvSpPr>
            <a:spLocks noChangeArrowheads="1"/>
          </p:cNvSpPr>
          <p:nvPr/>
        </p:nvSpPr>
        <p:spPr bwMode="auto">
          <a:xfrm>
            <a:off x="2890043"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75" name="Oval 57">
            <a:extLst>
              <a:ext uri="{FF2B5EF4-FFF2-40B4-BE49-F238E27FC236}">
                <a16:creationId xmlns:a16="http://schemas.microsoft.com/office/drawing/2014/main" id="{56EAFA29-975D-474A-97BF-AFC41E8AC4E5}"/>
              </a:ext>
            </a:extLst>
          </p:cNvPr>
          <p:cNvSpPr>
            <a:spLocks noChangeArrowheads="1"/>
          </p:cNvSpPr>
          <p:nvPr/>
        </p:nvSpPr>
        <p:spPr bwMode="auto">
          <a:xfrm>
            <a:off x="3042443"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76" name="Oval 58">
            <a:extLst>
              <a:ext uri="{FF2B5EF4-FFF2-40B4-BE49-F238E27FC236}">
                <a16:creationId xmlns:a16="http://schemas.microsoft.com/office/drawing/2014/main" id="{0E771CCE-C6A6-1E4D-A15A-E66651C3A108}"/>
              </a:ext>
            </a:extLst>
          </p:cNvPr>
          <p:cNvSpPr>
            <a:spLocks noChangeArrowheads="1"/>
          </p:cNvSpPr>
          <p:nvPr/>
        </p:nvSpPr>
        <p:spPr bwMode="auto">
          <a:xfrm>
            <a:off x="3266281"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pic>
        <p:nvPicPr>
          <p:cNvPr id="78" name="Picture 59" descr="MCj03985170000[1]">
            <a:extLst>
              <a:ext uri="{FF2B5EF4-FFF2-40B4-BE49-F238E27FC236}">
                <a16:creationId xmlns:a16="http://schemas.microsoft.com/office/drawing/2014/main" id="{9CEB139B-515D-B54C-9C5C-AEB0E8CB6E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3374231" y="1640902"/>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60" descr="MCj03985170000[1]">
            <a:extLst>
              <a:ext uri="{FF2B5EF4-FFF2-40B4-BE49-F238E27FC236}">
                <a16:creationId xmlns:a16="http://schemas.microsoft.com/office/drawing/2014/main" id="{6ACBF8D8-9A26-364E-A17B-BFCD2AA9A1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07406" y="1636139"/>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 name="Group 61">
            <a:extLst>
              <a:ext uri="{FF2B5EF4-FFF2-40B4-BE49-F238E27FC236}">
                <a16:creationId xmlns:a16="http://schemas.microsoft.com/office/drawing/2014/main" id="{A95B855D-1C6D-414B-9F22-7729104A5F20}"/>
              </a:ext>
            </a:extLst>
          </p:cNvPr>
          <p:cNvGrpSpPr>
            <a:grpSpLocks/>
          </p:cNvGrpSpPr>
          <p:nvPr/>
        </p:nvGrpSpPr>
        <p:grpSpPr bwMode="auto">
          <a:xfrm>
            <a:off x="4693443" y="1331339"/>
            <a:ext cx="458788" cy="777875"/>
            <a:chOff x="2365" y="1352"/>
            <a:chExt cx="1022" cy="1616"/>
          </a:xfrm>
        </p:grpSpPr>
        <p:pic>
          <p:nvPicPr>
            <p:cNvPr id="110" name="Picture 62">
              <a:extLst>
                <a:ext uri="{FF2B5EF4-FFF2-40B4-BE49-F238E27FC236}">
                  <a16:creationId xmlns:a16="http://schemas.microsoft.com/office/drawing/2014/main" id="{EB674B22-7E46-2C44-AF9F-1E555966BB4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63">
              <a:extLst>
                <a:ext uri="{FF2B5EF4-FFF2-40B4-BE49-F238E27FC236}">
                  <a16:creationId xmlns:a16="http://schemas.microsoft.com/office/drawing/2014/main" id="{F01353DF-CFF9-1647-A044-1F49D6785635}"/>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pic>
        <p:nvPicPr>
          <p:cNvPr id="105" name="Picture 64" descr="MCj03985170000[1]">
            <a:extLst>
              <a:ext uri="{FF2B5EF4-FFF2-40B4-BE49-F238E27FC236}">
                <a16:creationId xmlns:a16="http://schemas.microsoft.com/office/drawing/2014/main" id="{2A0D7193-16A0-CF44-BE21-F6AC69F7BC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137818" y="1661539"/>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6" name="Group 65">
            <a:extLst>
              <a:ext uri="{FF2B5EF4-FFF2-40B4-BE49-F238E27FC236}">
                <a16:creationId xmlns:a16="http://schemas.microsoft.com/office/drawing/2014/main" id="{164B693F-1E0D-484C-BAAB-59C095BE0057}"/>
              </a:ext>
            </a:extLst>
          </p:cNvPr>
          <p:cNvGrpSpPr>
            <a:grpSpLocks/>
          </p:cNvGrpSpPr>
          <p:nvPr/>
        </p:nvGrpSpPr>
        <p:grpSpPr bwMode="auto">
          <a:xfrm>
            <a:off x="7616031" y="1359914"/>
            <a:ext cx="458788" cy="777875"/>
            <a:chOff x="2365" y="1352"/>
            <a:chExt cx="1022" cy="1616"/>
          </a:xfrm>
        </p:grpSpPr>
        <p:pic>
          <p:nvPicPr>
            <p:cNvPr id="108" name="Picture 66">
              <a:extLst>
                <a:ext uri="{FF2B5EF4-FFF2-40B4-BE49-F238E27FC236}">
                  <a16:creationId xmlns:a16="http://schemas.microsoft.com/office/drawing/2014/main" id="{3F538F10-B988-2C46-8412-F651183076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Rectangle 67">
              <a:extLst>
                <a:ext uri="{FF2B5EF4-FFF2-40B4-BE49-F238E27FC236}">
                  <a16:creationId xmlns:a16="http://schemas.microsoft.com/office/drawing/2014/main" id="{DDC87F5E-7874-804E-8DFC-06A9845A630B}"/>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sp>
        <p:nvSpPr>
          <p:cNvPr id="107" name="Line 68">
            <a:extLst>
              <a:ext uri="{FF2B5EF4-FFF2-40B4-BE49-F238E27FC236}">
                <a16:creationId xmlns:a16="http://schemas.microsoft.com/office/drawing/2014/main" id="{0CAD04D0-792F-5E49-A514-B73659DD91FE}"/>
              </a:ext>
            </a:extLst>
          </p:cNvPr>
          <p:cNvSpPr>
            <a:spLocks noChangeShapeType="1"/>
          </p:cNvSpPr>
          <p:nvPr/>
        </p:nvSpPr>
        <p:spPr bwMode="auto">
          <a:xfrm>
            <a:off x="6884193" y="1728214"/>
            <a:ext cx="8667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 name="Right Brace 9">
            <a:extLst>
              <a:ext uri="{FF2B5EF4-FFF2-40B4-BE49-F238E27FC236}">
                <a16:creationId xmlns:a16="http://schemas.microsoft.com/office/drawing/2014/main" id="{7551CFE6-10AE-1342-89E5-DB20C72CDEB2}"/>
              </a:ext>
            </a:extLst>
          </p:cNvPr>
          <p:cNvSpPr/>
          <p:nvPr/>
        </p:nvSpPr>
        <p:spPr>
          <a:xfrm rot="5400000">
            <a:off x="3376644" y="814577"/>
            <a:ext cx="107886" cy="252571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 name="Rectangle 3">
            <a:extLst>
              <a:ext uri="{FF2B5EF4-FFF2-40B4-BE49-F238E27FC236}">
                <a16:creationId xmlns:a16="http://schemas.microsoft.com/office/drawing/2014/main" id="{E0A20531-724F-544A-A148-70EAC3D3CAB0}"/>
              </a:ext>
            </a:extLst>
          </p:cNvPr>
          <p:cNvSpPr txBox="1">
            <a:spLocks noChangeArrowheads="1"/>
          </p:cNvSpPr>
          <p:nvPr/>
        </p:nvSpPr>
        <p:spPr>
          <a:xfrm>
            <a:off x="825267" y="3347774"/>
            <a:ext cx="10515600" cy="1655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ea typeface="ＭＳ Ｐゴシック" panose="020B0600070205080204" pitchFamily="34" charset="-128"/>
              </a:rPr>
              <a:t>suppose cars now “</a:t>
            </a:r>
            <a:r>
              <a:rPr lang="en-US" altLang="ja-JP" dirty="0">
                <a:ea typeface="ＭＳ Ｐゴシック" panose="020B0600070205080204" pitchFamily="34" charset="-128"/>
              </a:rPr>
              <a:t>propagate” at 1000 km/</a:t>
            </a:r>
            <a:r>
              <a:rPr lang="en-US" altLang="ja-JP" dirty="0" err="1">
                <a:ea typeface="ＭＳ Ｐゴシック" panose="020B0600070205080204" pitchFamily="34" charset="-128"/>
              </a:rPr>
              <a:t>hr</a:t>
            </a:r>
            <a:endParaRPr lang="en-US" altLang="ja-JP" dirty="0">
              <a:ea typeface="ＭＳ Ｐゴシック" panose="020B0600070205080204" pitchFamily="34" charset="-128"/>
            </a:endParaRPr>
          </a:p>
          <a:p>
            <a:pPr marL="287338" indent="-287338"/>
            <a:r>
              <a:rPr lang="en-US" altLang="en-US" dirty="0">
                <a:ea typeface="ＭＳ Ｐゴシック" panose="020B0600070205080204" pitchFamily="34" charset="-128"/>
              </a:rPr>
              <a:t>and suppose toll booth now takes one min to service a car</a:t>
            </a:r>
            <a:endParaRPr lang="en-US" altLang="en-US" dirty="0">
              <a:solidFill>
                <a:schemeClr val="accent2"/>
              </a:solidFill>
              <a:ea typeface="ＭＳ Ｐゴシック" panose="020B0600070205080204" pitchFamily="34" charset="-128"/>
            </a:endParaRPr>
          </a:p>
          <a:p>
            <a:pPr marL="287338" indent="-287338"/>
            <a:r>
              <a:rPr lang="en-US" altLang="en-US" i="1" dirty="0">
                <a:solidFill>
                  <a:srgbClr val="CC0000"/>
                </a:solidFill>
                <a:ea typeface="ＭＳ Ｐゴシック" panose="020B0600070205080204" pitchFamily="34" charset="-128"/>
              </a:rPr>
              <a:t>Q:</a:t>
            </a:r>
            <a:r>
              <a:rPr lang="en-US" altLang="en-US" dirty="0">
                <a:solidFill>
                  <a:srgbClr val="CC0000"/>
                </a:solidFill>
                <a:ea typeface="ＭＳ Ｐゴシック" panose="020B0600070205080204" pitchFamily="34" charset="-128"/>
              </a:rPr>
              <a:t> Will cars arrive to 2nd booth before all cars serviced at first booth?</a:t>
            </a:r>
          </a:p>
          <a:p>
            <a:pPr marL="287338" indent="-287338">
              <a:buFont typeface="Wingdings" pitchFamily="2" charset="2"/>
              <a:buNone/>
            </a:pPr>
            <a:endParaRPr lang="en-US" altLang="en-US" sz="3200" dirty="0">
              <a:solidFill>
                <a:srgbClr val="CC0000"/>
              </a:solidFill>
              <a:ea typeface="ＭＳ Ｐゴシック" panose="020B0600070205080204" pitchFamily="34" charset="-128"/>
            </a:endParaRPr>
          </a:p>
        </p:txBody>
      </p:sp>
      <p:sp>
        <p:nvSpPr>
          <p:cNvPr id="33" name="Rectangle 4">
            <a:extLst>
              <a:ext uri="{FF2B5EF4-FFF2-40B4-BE49-F238E27FC236}">
                <a16:creationId xmlns:a16="http://schemas.microsoft.com/office/drawing/2014/main" id="{17691AC2-D326-384F-9424-A457AB12E339}"/>
              </a:ext>
            </a:extLst>
          </p:cNvPr>
          <p:cNvSpPr txBox="1">
            <a:spLocks noChangeArrowheads="1"/>
          </p:cNvSpPr>
          <p:nvPr/>
        </p:nvSpPr>
        <p:spPr>
          <a:xfrm>
            <a:off x="1127510" y="4881442"/>
            <a:ext cx="10649258" cy="14674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en-US" i="1" u="sng" dirty="0">
                <a:solidFill>
                  <a:srgbClr val="CC0000"/>
                </a:solidFill>
                <a:ea typeface="ＭＳ Ｐゴシック" panose="020B0600070205080204" pitchFamily="34" charset="-128"/>
              </a:rPr>
              <a:t>A: Yes!</a:t>
            </a:r>
            <a:r>
              <a:rPr lang="en-US" altLang="en-US" dirty="0">
                <a:ea typeface="ＭＳ Ｐゴシック" panose="020B0600070205080204" pitchFamily="34" charset="-128"/>
              </a:rPr>
              <a:t>  after 7 min, first car arrives at second booth; three cars still at first booth</a:t>
            </a:r>
          </a:p>
        </p:txBody>
      </p:sp>
    </p:spTree>
    <p:extLst>
      <p:ext uri="{BB962C8B-B14F-4D97-AF65-F5344CB8AC3E}">
        <p14:creationId xmlns:p14="http://schemas.microsoft.com/office/powerpoint/2010/main" val="104790634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dirty="0">
                <a:ea typeface="ＭＳ Ｐゴシック" panose="020B0600070205080204" pitchFamily="34" charset="-128"/>
              </a:rPr>
              <a:t>Packet q</a:t>
            </a:r>
            <a:r>
              <a:rPr lang="en-US" sz="4400" dirty="0">
                <a:ea typeface="ＭＳ Ｐゴシック" panose="020B0600070205080204" pitchFamily="34" charset="-128"/>
              </a:rPr>
              <a:t>ueueing delay (revisited)</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74</a:t>
            </a:fld>
            <a:endParaRPr lang="en-US" dirty="0"/>
          </a:p>
        </p:txBody>
      </p:sp>
      <p:sp>
        <p:nvSpPr>
          <p:cNvPr id="34" name="Rectangle 3">
            <a:extLst>
              <a:ext uri="{FF2B5EF4-FFF2-40B4-BE49-F238E27FC236}">
                <a16:creationId xmlns:a16="http://schemas.microsoft.com/office/drawing/2014/main" id="{98FB6AB4-1235-1542-AA41-4826D9F4BEA2}"/>
              </a:ext>
            </a:extLst>
          </p:cNvPr>
          <p:cNvSpPr txBox="1">
            <a:spLocks noChangeArrowheads="1"/>
          </p:cNvSpPr>
          <p:nvPr/>
        </p:nvSpPr>
        <p:spPr>
          <a:xfrm>
            <a:off x="876300" y="1806575"/>
            <a:ext cx="6114434" cy="1781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r>
              <a:rPr lang="en-US" altLang="en-US" i="1" dirty="0">
                <a:ea typeface="ＭＳ Ｐゴシック" panose="020B0600070205080204" pitchFamily="34" charset="-128"/>
              </a:rPr>
              <a:t>R:</a:t>
            </a:r>
            <a:r>
              <a:rPr lang="en-US" altLang="en-US" dirty="0">
                <a:ea typeface="ＭＳ Ｐゴシック" panose="020B0600070205080204" pitchFamily="34" charset="-128"/>
              </a:rPr>
              <a:t> link bandwidth (bps)</a:t>
            </a:r>
          </a:p>
          <a:p>
            <a:pPr marL="231775" indent="-231775"/>
            <a:r>
              <a:rPr lang="en-US" altLang="en-US" i="1" dirty="0">
                <a:ea typeface="ＭＳ Ｐゴシック" panose="020B0600070205080204" pitchFamily="34" charset="-128"/>
              </a:rPr>
              <a:t>L:</a:t>
            </a:r>
            <a:r>
              <a:rPr lang="en-US" altLang="en-US" dirty="0">
                <a:ea typeface="ＭＳ Ｐゴシック" panose="020B0600070205080204" pitchFamily="34" charset="-128"/>
              </a:rPr>
              <a:t> packet length (bits)</a:t>
            </a:r>
          </a:p>
          <a:p>
            <a:pPr marL="231775" indent="-231775"/>
            <a:r>
              <a:rPr lang="en-US" altLang="en-US" i="1" dirty="0">
                <a:ea typeface="ＭＳ Ｐゴシック" panose="020B0600070205080204" pitchFamily="34" charset="-128"/>
              </a:rPr>
              <a:t>a: </a:t>
            </a:r>
            <a:r>
              <a:rPr lang="en-US" altLang="en-US" dirty="0">
                <a:ea typeface="ＭＳ Ｐゴシック" panose="020B0600070205080204" pitchFamily="34" charset="-128"/>
              </a:rPr>
              <a:t>average packet arrival rate</a:t>
            </a:r>
          </a:p>
        </p:txBody>
      </p:sp>
      <p:sp>
        <p:nvSpPr>
          <p:cNvPr id="36" name="Rectangle 62">
            <a:extLst>
              <a:ext uri="{FF2B5EF4-FFF2-40B4-BE49-F238E27FC236}">
                <a16:creationId xmlns:a16="http://schemas.microsoft.com/office/drawing/2014/main" id="{A8C042B3-2BC8-9D42-8821-9A5ACDA9F178}"/>
              </a:ext>
            </a:extLst>
          </p:cNvPr>
          <p:cNvSpPr>
            <a:spLocks noChangeArrowheads="1"/>
          </p:cNvSpPr>
          <p:nvPr/>
        </p:nvSpPr>
        <p:spPr bwMode="auto">
          <a:xfrm>
            <a:off x="889000" y="3769938"/>
            <a:ext cx="5975117" cy="1933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31775" indent="-231775">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rgbClr val="000099"/>
              </a:buClr>
              <a:buSzPct val="100000"/>
              <a:buFont typeface="Wingdings" pitchFamily="2" charset="2"/>
              <a:buChar char="§"/>
            </a:pPr>
            <a:r>
              <a:rPr lang="en-US" altLang="en-US" sz="2800" i="1" dirty="0">
                <a:latin typeface="+mn-lt"/>
              </a:rPr>
              <a:t>La/R</a:t>
            </a:r>
            <a:r>
              <a:rPr lang="en-US" altLang="en-US" sz="2800" dirty="0">
                <a:latin typeface="+mn-lt"/>
              </a:rPr>
              <a:t> ~ 0: avg. queueing delay small</a:t>
            </a:r>
          </a:p>
          <a:p>
            <a:pPr>
              <a:spcBef>
                <a:spcPct val="20000"/>
              </a:spcBef>
              <a:buClr>
                <a:srgbClr val="000099"/>
              </a:buClr>
              <a:buSzPct val="100000"/>
              <a:buFont typeface="Wingdings" pitchFamily="2" charset="2"/>
              <a:buChar char="§"/>
            </a:pPr>
            <a:r>
              <a:rPr lang="en-US" altLang="en-US" sz="2800" i="1" dirty="0">
                <a:latin typeface="+mn-lt"/>
              </a:rPr>
              <a:t>La/R </a:t>
            </a:r>
            <a:r>
              <a:rPr lang="en-US" altLang="en-US" sz="2800" dirty="0">
                <a:latin typeface="+mn-lt"/>
              </a:rPr>
              <a:t>-&gt; 1: avg. queueing delay large</a:t>
            </a:r>
          </a:p>
          <a:p>
            <a:pPr>
              <a:lnSpc>
                <a:spcPct val="85000"/>
              </a:lnSpc>
              <a:spcBef>
                <a:spcPct val="20000"/>
              </a:spcBef>
              <a:buClr>
                <a:srgbClr val="000099"/>
              </a:buClr>
              <a:buSzPct val="100000"/>
              <a:buFont typeface="Wingdings" pitchFamily="2" charset="2"/>
              <a:buChar char="§"/>
            </a:pPr>
            <a:r>
              <a:rPr lang="en-US" altLang="en-US" sz="2800" i="1" dirty="0">
                <a:latin typeface="+mn-lt"/>
              </a:rPr>
              <a:t>La/R </a:t>
            </a:r>
            <a:r>
              <a:rPr lang="en-US" altLang="en-US" sz="2800" dirty="0">
                <a:latin typeface="+mn-lt"/>
              </a:rPr>
              <a:t>&gt; 1: more “</a:t>
            </a:r>
            <a:r>
              <a:rPr lang="en-US" altLang="ja-JP" sz="2800" dirty="0">
                <a:latin typeface="+mn-lt"/>
              </a:rPr>
              <a:t>work” arriving  is more </a:t>
            </a:r>
            <a:r>
              <a:rPr lang="en-US" altLang="en-US" sz="2800" dirty="0">
                <a:latin typeface="+mn-lt"/>
              </a:rPr>
              <a:t>than can be serviced -  average delay infinite!</a:t>
            </a:r>
          </a:p>
        </p:txBody>
      </p:sp>
      <p:grpSp>
        <p:nvGrpSpPr>
          <p:cNvPr id="3" name="Group 2">
            <a:extLst>
              <a:ext uri="{FF2B5EF4-FFF2-40B4-BE49-F238E27FC236}">
                <a16:creationId xmlns:a16="http://schemas.microsoft.com/office/drawing/2014/main" id="{A4960A8A-B0F3-FD4C-B50A-E891A58C0AC4}"/>
              </a:ext>
            </a:extLst>
          </p:cNvPr>
          <p:cNvGrpSpPr/>
          <p:nvPr/>
        </p:nvGrpSpPr>
        <p:grpSpPr>
          <a:xfrm>
            <a:off x="8407167" y="4367394"/>
            <a:ext cx="2782888" cy="2261260"/>
            <a:chOff x="8407167" y="4367394"/>
            <a:chExt cx="2782888" cy="2261260"/>
          </a:xfrm>
        </p:grpSpPr>
        <p:pic>
          <p:nvPicPr>
            <p:cNvPr id="38" name="Picture 13">
              <a:extLst>
                <a:ext uri="{FF2B5EF4-FFF2-40B4-BE49-F238E27FC236}">
                  <a16:creationId xmlns:a16="http://schemas.microsoft.com/office/drawing/2014/main" id="{B1A5FAD0-089C-3344-A046-DF1A7F274F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43830" y="5047839"/>
              <a:ext cx="1546225" cy="1239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14">
              <a:extLst>
                <a:ext uri="{FF2B5EF4-FFF2-40B4-BE49-F238E27FC236}">
                  <a16:creationId xmlns:a16="http://schemas.microsoft.com/office/drawing/2014/main" id="{15A78139-2E6F-1241-B632-699E1D3917B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7167" y="4471879"/>
              <a:ext cx="1481138"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 Box 15">
              <a:extLst>
                <a:ext uri="{FF2B5EF4-FFF2-40B4-BE49-F238E27FC236}">
                  <a16:creationId xmlns:a16="http://schemas.microsoft.com/office/drawing/2014/main" id="{2773BEED-18F1-E045-9842-B0961DCCE75A}"/>
                </a:ext>
              </a:extLst>
            </p:cNvPr>
            <p:cNvSpPr txBox="1">
              <a:spLocks noChangeArrowheads="1"/>
            </p:cNvSpPr>
            <p:nvPr/>
          </p:nvSpPr>
          <p:spPr bwMode="auto">
            <a:xfrm>
              <a:off x="9849087" y="4367394"/>
              <a:ext cx="9541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i="1" dirty="0">
                  <a:latin typeface="+mn-lt"/>
                </a:rPr>
                <a:t>La/R </a:t>
              </a:r>
              <a:r>
                <a:rPr lang="en-US" altLang="en-US" sz="1800" dirty="0">
                  <a:latin typeface="+mn-lt"/>
                </a:rPr>
                <a:t>~ 0</a:t>
              </a:r>
            </a:p>
          </p:txBody>
        </p:sp>
        <p:sp>
          <p:nvSpPr>
            <p:cNvPr id="41" name="Text Box 16">
              <a:extLst>
                <a:ext uri="{FF2B5EF4-FFF2-40B4-BE49-F238E27FC236}">
                  <a16:creationId xmlns:a16="http://schemas.microsoft.com/office/drawing/2014/main" id="{1431E193-344C-D942-A74A-5CEEDF81F37D}"/>
                </a:ext>
              </a:extLst>
            </p:cNvPr>
            <p:cNvSpPr txBox="1">
              <a:spLocks noChangeArrowheads="1"/>
            </p:cNvSpPr>
            <p:nvPr/>
          </p:nvSpPr>
          <p:spPr bwMode="auto">
            <a:xfrm>
              <a:off x="9643830" y="6259322"/>
              <a:ext cx="10246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i="1" dirty="0">
                  <a:latin typeface="+mn-lt"/>
                </a:rPr>
                <a:t>La/R -&gt; 1</a:t>
              </a:r>
            </a:p>
          </p:txBody>
        </p:sp>
      </p:grpSp>
      <p:sp>
        <p:nvSpPr>
          <p:cNvPr id="43" name="Rectangle 61">
            <a:extLst>
              <a:ext uri="{FF2B5EF4-FFF2-40B4-BE49-F238E27FC236}">
                <a16:creationId xmlns:a16="http://schemas.microsoft.com/office/drawing/2014/main" id="{73B85C70-6AD3-A74E-B899-2CAB2E6D8DEB}"/>
              </a:ext>
            </a:extLst>
          </p:cNvPr>
          <p:cNvSpPr>
            <a:spLocks noChangeArrowheads="1"/>
          </p:cNvSpPr>
          <p:nvPr/>
        </p:nvSpPr>
        <p:spPr bwMode="auto">
          <a:xfrm>
            <a:off x="7381311" y="3605438"/>
            <a:ext cx="2911022"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buClr>
                <a:schemeClr val="accent2"/>
              </a:buClr>
              <a:buSzPct val="85000"/>
              <a:buFont typeface="Wingdings" pitchFamily="2" charset="2"/>
              <a:buNone/>
            </a:pPr>
            <a:r>
              <a:rPr lang="en-US" altLang="en-US" sz="2000" dirty="0">
                <a:solidFill>
                  <a:srgbClr val="000099"/>
                </a:solidFill>
                <a:latin typeface="+mn-lt"/>
              </a:rPr>
              <a:t>traffic intensity = </a:t>
            </a:r>
            <a:r>
              <a:rPr lang="en-US" altLang="en-US" sz="2000" i="1" dirty="0">
                <a:solidFill>
                  <a:srgbClr val="000099"/>
                </a:solidFill>
                <a:latin typeface="+mn-lt"/>
              </a:rPr>
              <a:t>La/R</a:t>
            </a:r>
          </a:p>
        </p:txBody>
      </p:sp>
      <p:sp>
        <p:nvSpPr>
          <p:cNvPr id="44" name="Rectangle 61">
            <a:extLst>
              <a:ext uri="{FF2B5EF4-FFF2-40B4-BE49-F238E27FC236}">
                <a16:creationId xmlns:a16="http://schemas.microsoft.com/office/drawing/2014/main" id="{D565FA6F-EE7F-1947-B171-B184CC646846}"/>
              </a:ext>
            </a:extLst>
          </p:cNvPr>
          <p:cNvSpPr>
            <a:spLocks noChangeArrowheads="1"/>
          </p:cNvSpPr>
          <p:nvPr/>
        </p:nvSpPr>
        <p:spPr bwMode="auto">
          <a:xfrm rot="-5400000">
            <a:off x="6114777" y="2075824"/>
            <a:ext cx="274002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buClr>
                <a:schemeClr val="accent2"/>
              </a:buClr>
              <a:buSzPct val="85000"/>
              <a:buFont typeface="Wingdings" pitchFamily="2" charset="2"/>
              <a:buNone/>
            </a:pPr>
            <a:r>
              <a:rPr lang="en-US" altLang="en-US" sz="2000" dirty="0">
                <a:solidFill>
                  <a:srgbClr val="000099"/>
                </a:solidFill>
                <a:latin typeface="+mn-lt"/>
              </a:rPr>
              <a:t>average  queueing delay</a:t>
            </a:r>
          </a:p>
        </p:txBody>
      </p:sp>
      <p:cxnSp>
        <p:nvCxnSpPr>
          <p:cNvPr id="4" name="Straight Connector 3">
            <a:extLst>
              <a:ext uri="{FF2B5EF4-FFF2-40B4-BE49-F238E27FC236}">
                <a16:creationId xmlns:a16="http://schemas.microsoft.com/office/drawing/2014/main" id="{A0ADD9BD-AAA5-0A4C-A989-80C8555AF5C9}"/>
              </a:ext>
            </a:extLst>
          </p:cNvPr>
          <p:cNvCxnSpPr/>
          <p:nvPr/>
        </p:nvCxnSpPr>
        <p:spPr>
          <a:xfrm>
            <a:off x="7616120" y="3540100"/>
            <a:ext cx="338617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92D706D-5B93-BF40-B02A-097828633F63}"/>
              </a:ext>
            </a:extLst>
          </p:cNvPr>
          <p:cNvCxnSpPr>
            <a:cxnSpLocks/>
          </p:cNvCxnSpPr>
          <p:nvPr/>
        </p:nvCxnSpPr>
        <p:spPr>
          <a:xfrm flipV="1">
            <a:off x="7601372" y="1041103"/>
            <a:ext cx="0" cy="25059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Freeform 6">
            <a:extLst>
              <a:ext uri="{FF2B5EF4-FFF2-40B4-BE49-F238E27FC236}">
                <a16:creationId xmlns:a16="http://schemas.microsoft.com/office/drawing/2014/main" id="{60D82080-1EB0-1D48-9322-5FD97E7CB228}"/>
              </a:ext>
            </a:extLst>
          </p:cNvPr>
          <p:cNvSpPr/>
          <p:nvPr/>
        </p:nvSpPr>
        <p:spPr>
          <a:xfrm>
            <a:off x="7616120" y="708301"/>
            <a:ext cx="2743200" cy="2816942"/>
          </a:xfrm>
          <a:custGeom>
            <a:avLst/>
            <a:gdLst>
              <a:gd name="connsiteX0" fmla="*/ 0 w 2743200"/>
              <a:gd name="connsiteY0" fmla="*/ 2816942 h 2824866"/>
              <a:gd name="connsiteX1" fmla="*/ 663677 w 2743200"/>
              <a:gd name="connsiteY1" fmla="*/ 2802193 h 2824866"/>
              <a:gd name="connsiteX2" fmla="*/ 1976284 w 2743200"/>
              <a:gd name="connsiteY2" fmla="*/ 2625212 h 2824866"/>
              <a:gd name="connsiteX3" fmla="*/ 2551471 w 2743200"/>
              <a:gd name="connsiteY3" fmla="*/ 1946787 h 2824866"/>
              <a:gd name="connsiteX4" fmla="*/ 2743200 w 2743200"/>
              <a:gd name="connsiteY4" fmla="*/ 0 h 2824866"/>
              <a:gd name="connsiteX0" fmla="*/ 0 w 2743200"/>
              <a:gd name="connsiteY0" fmla="*/ 2816942 h 2821238"/>
              <a:gd name="connsiteX1" fmla="*/ 663677 w 2743200"/>
              <a:gd name="connsiteY1" fmla="*/ 2802193 h 2821238"/>
              <a:gd name="connsiteX2" fmla="*/ 1976284 w 2743200"/>
              <a:gd name="connsiteY2" fmla="*/ 2625212 h 2821238"/>
              <a:gd name="connsiteX3" fmla="*/ 2551471 w 2743200"/>
              <a:gd name="connsiteY3" fmla="*/ 1946787 h 2821238"/>
              <a:gd name="connsiteX4" fmla="*/ 2743200 w 2743200"/>
              <a:gd name="connsiteY4" fmla="*/ 0 h 2821238"/>
              <a:gd name="connsiteX0" fmla="*/ 0 w 2743200"/>
              <a:gd name="connsiteY0" fmla="*/ 2816942 h 2816942"/>
              <a:gd name="connsiteX1" fmla="*/ 663677 w 2743200"/>
              <a:gd name="connsiteY1" fmla="*/ 2802193 h 2816942"/>
              <a:gd name="connsiteX2" fmla="*/ 1976284 w 2743200"/>
              <a:gd name="connsiteY2" fmla="*/ 2625212 h 2816942"/>
              <a:gd name="connsiteX3" fmla="*/ 2551471 w 2743200"/>
              <a:gd name="connsiteY3" fmla="*/ 1946787 h 2816942"/>
              <a:gd name="connsiteX4" fmla="*/ 2743200 w 2743200"/>
              <a:gd name="connsiteY4" fmla="*/ 0 h 2816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816942">
                <a:moveTo>
                  <a:pt x="0" y="2816942"/>
                </a:moveTo>
                <a:cubicBezTo>
                  <a:pt x="363998" y="2816020"/>
                  <a:pt x="477171" y="2811923"/>
                  <a:pt x="663677" y="2802193"/>
                </a:cubicBezTo>
                <a:cubicBezTo>
                  <a:pt x="850183" y="2792463"/>
                  <a:pt x="1661652" y="2767780"/>
                  <a:pt x="1976284" y="2625212"/>
                </a:cubicBezTo>
                <a:cubicBezTo>
                  <a:pt x="2290916" y="2482644"/>
                  <a:pt x="2423652" y="2384322"/>
                  <a:pt x="2551471" y="1946787"/>
                </a:cubicBezTo>
                <a:cubicBezTo>
                  <a:pt x="2679290" y="1509252"/>
                  <a:pt x="2711245" y="754626"/>
                  <a:pt x="2743200" y="0"/>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9" name="Straight Connector 48">
            <a:extLst>
              <a:ext uri="{FF2B5EF4-FFF2-40B4-BE49-F238E27FC236}">
                <a16:creationId xmlns:a16="http://schemas.microsoft.com/office/drawing/2014/main" id="{AD56710D-BCD1-D24F-A4F9-77096E20A72E}"/>
              </a:ext>
            </a:extLst>
          </p:cNvPr>
          <p:cNvCxnSpPr>
            <a:cxnSpLocks/>
          </p:cNvCxnSpPr>
          <p:nvPr/>
        </p:nvCxnSpPr>
        <p:spPr>
          <a:xfrm flipV="1">
            <a:off x="10442559" y="1034169"/>
            <a:ext cx="0" cy="250593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0" name="Rectangle 61">
            <a:extLst>
              <a:ext uri="{FF2B5EF4-FFF2-40B4-BE49-F238E27FC236}">
                <a16:creationId xmlns:a16="http://schemas.microsoft.com/office/drawing/2014/main" id="{0FBDF69D-B808-184B-8874-313F4C390D12}"/>
              </a:ext>
            </a:extLst>
          </p:cNvPr>
          <p:cNvSpPr>
            <a:spLocks noChangeArrowheads="1"/>
          </p:cNvSpPr>
          <p:nvPr/>
        </p:nvSpPr>
        <p:spPr bwMode="auto">
          <a:xfrm>
            <a:off x="10214306" y="3605644"/>
            <a:ext cx="50958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buClr>
                <a:schemeClr val="accent2"/>
              </a:buClr>
              <a:buSzPct val="85000"/>
              <a:buFont typeface="Wingdings" pitchFamily="2" charset="2"/>
              <a:buNone/>
            </a:pPr>
            <a:r>
              <a:rPr lang="en-US" altLang="en-US" sz="2000" dirty="0">
                <a:latin typeface="+mn-lt"/>
              </a:rPr>
              <a:t>1</a:t>
            </a:r>
            <a:endParaRPr lang="en-US" altLang="en-US" sz="2000" i="1" dirty="0">
              <a:latin typeface="+mn-lt"/>
            </a:endParaRPr>
          </a:p>
        </p:txBody>
      </p:sp>
    </p:spTree>
    <p:extLst>
      <p:ext uri="{BB962C8B-B14F-4D97-AF65-F5344CB8AC3E}">
        <p14:creationId xmlns:p14="http://schemas.microsoft.com/office/powerpoint/2010/main" val="3680135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dissolve">
                                      <p:cBhvr>
                                        <p:cTn id="7" dur="500"/>
                                        <p:tgtEl>
                                          <p:spTgt spid="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Line 38">
            <a:extLst>
              <a:ext uri="{FF2B5EF4-FFF2-40B4-BE49-F238E27FC236}">
                <a16:creationId xmlns:a16="http://schemas.microsoft.com/office/drawing/2014/main" id="{54E266FC-2C53-E845-810D-72800D812F60}"/>
              </a:ext>
            </a:extLst>
          </p:cNvPr>
          <p:cNvSpPr>
            <a:spLocks noChangeShapeType="1"/>
          </p:cNvSpPr>
          <p:nvPr/>
        </p:nvSpPr>
        <p:spPr bwMode="auto">
          <a:xfrm>
            <a:off x="2831406" y="5366286"/>
            <a:ext cx="469144" cy="3154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 name="Line 105">
            <a:extLst>
              <a:ext uri="{FF2B5EF4-FFF2-40B4-BE49-F238E27FC236}">
                <a16:creationId xmlns:a16="http://schemas.microsoft.com/office/drawing/2014/main" id="{BF1773B1-5019-2B4A-BE6A-B8195D8981B9}"/>
              </a:ext>
            </a:extLst>
          </p:cNvPr>
          <p:cNvSpPr>
            <a:spLocks noChangeShapeType="1"/>
          </p:cNvSpPr>
          <p:nvPr/>
        </p:nvSpPr>
        <p:spPr bwMode="auto">
          <a:xfrm flipV="1">
            <a:off x="3691311" y="5467468"/>
            <a:ext cx="639909"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81" name="Group 180">
            <a:extLst>
              <a:ext uri="{FF2B5EF4-FFF2-40B4-BE49-F238E27FC236}">
                <a16:creationId xmlns:a16="http://schemas.microsoft.com/office/drawing/2014/main" id="{349EA779-C782-D646-A376-27962D2DE8E5}"/>
              </a:ext>
            </a:extLst>
          </p:cNvPr>
          <p:cNvGrpSpPr/>
          <p:nvPr/>
        </p:nvGrpSpPr>
        <p:grpSpPr>
          <a:xfrm>
            <a:off x="3109054" y="5514269"/>
            <a:ext cx="860625" cy="398511"/>
            <a:chOff x="7493876" y="2774731"/>
            <a:chExt cx="1481958" cy="894622"/>
          </a:xfrm>
        </p:grpSpPr>
        <p:sp>
          <p:nvSpPr>
            <p:cNvPr id="182" name="Freeform 181">
              <a:extLst>
                <a:ext uri="{FF2B5EF4-FFF2-40B4-BE49-F238E27FC236}">
                  <a16:creationId xmlns:a16="http://schemas.microsoft.com/office/drawing/2014/main" id="{051DA911-6679-5545-AC55-97B68D0A590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83" name="Oval 182">
              <a:extLst>
                <a:ext uri="{FF2B5EF4-FFF2-40B4-BE49-F238E27FC236}">
                  <a16:creationId xmlns:a16="http://schemas.microsoft.com/office/drawing/2014/main" id="{1B387723-AD5A-6B40-86DC-4E06378B6C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84" name="Group 183">
              <a:extLst>
                <a:ext uri="{FF2B5EF4-FFF2-40B4-BE49-F238E27FC236}">
                  <a16:creationId xmlns:a16="http://schemas.microsoft.com/office/drawing/2014/main" id="{EAEAA504-561F-934C-865A-D764D9D4B585}"/>
                </a:ext>
              </a:extLst>
            </p:cNvPr>
            <p:cNvGrpSpPr/>
            <p:nvPr/>
          </p:nvGrpSpPr>
          <p:grpSpPr>
            <a:xfrm>
              <a:off x="7713663" y="2848339"/>
              <a:ext cx="1042107" cy="425543"/>
              <a:chOff x="7786941" y="2884917"/>
              <a:chExt cx="897649" cy="353919"/>
            </a:xfrm>
          </p:grpSpPr>
          <p:sp>
            <p:nvSpPr>
              <p:cNvPr id="185" name="Freeform 184">
                <a:extLst>
                  <a:ext uri="{FF2B5EF4-FFF2-40B4-BE49-F238E27FC236}">
                    <a16:creationId xmlns:a16="http://schemas.microsoft.com/office/drawing/2014/main" id="{B39429AE-64BE-C648-B108-3B471FFD1A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Freeform 185">
                <a:extLst>
                  <a:ext uri="{FF2B5EF4-FFF2-40B4-BE49-F238E27FC236}">
                    <a16:creationId xmlns:a16="http://schemas.microsoft.com/office/drawing/2014/main" id="{109B151A-13E2-DE44-ACE5-AC68DBD136E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Freeform 186">
                <a:extLst>
                  <a:ext uri="{FF2B5EF4-FFF2-40B4-BE49-F238E27FC236}">
                    <a16:creationId xmlns:a16="http://schemas.microsoft.com/office/drawing/2014/main" id="{EF70FD4D-FD10-ED44-BB61-DD85162EEA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Freeform 187">
                <a:extLst>
                  <a:ext uri="{FF2B5EF4-FFF2-40B4-BE49-F238E27FC236}">
                    <a16:creationId xmlns:a16="http://schemas.microsoft.com/office/drawing/2014/main" id="{F03C20EC-4A97-134D-9A10-FFE3DDFF03F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0" name="Line 106">
            <a:extLst>
              <a:ext uri="{FF2B5EF4-FFF2-40B4-BE49-F238E27FC236}">
                <a16:creationId xmlns:a16="http://schemas.microsoft.com/office/drawing/2014/main" id="{254FEBFF-881B-E94A-B5B4-5A077C547A5D}"/>
              </a:ext>
            </a:extLst>
          </p:cNvPr>
          <p:cNvSpPr>
            <a:spLocks noChangeShapeType="1"/>
          </p:cNvSpPr>
          <p:nvPr/>
        </p:nvSpPr>
        <p:spPr bwMode="auto">
          <a:xfrm>
            <a:off x="4626350" y="5451593"/>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 name="Line 108">
            <a:extLst>
              <a:ext uri="{FF2B5EF4-FFF2-40B4-BE49-F238E27FC236}">
                <a16:creationId xmlns:a16="http://schemas.microsoft.com/office/drawing/2014/main" id="{524659AB-C458-864A-B318-E8190017E7B8}"/>
              </a:ext>
            </a:extLst>
          </p:cNvPr>
          <p:cNvSpPr>
            <a:spLocks noChangeShapeType="1"/>
          </p:cNvSpPr>
          <p:nvPr/>
        </p:nvSpPr>
        <p:spPr bwMode="auto">
          <a:xfrm flipH="1">
            <a:off x="4388223" y="5062655"/>
            <a:ext cx="661222" cy="2730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291">
            <a:extLst>
              <a:ext uri="{FF2B5EF4-FFF2-40B4-BE49-F238E27FC236}">
                <a16:creationId xmlns:a16="http://schemas.microsoft.com/office/drawing/2014/main" id="{EB8F889A-4D2D-1B4E-8BFD-EC217EFF65EB}"/>
              </a:ext>
            </a:extLst>
          </p:cNvPr>
          <p:cNvSpPr>
            <a:spLocks noChangeShapeType="1"/>
          </p:cNvSpPr>
          <p:nvPr/>
        </p:nvSpPr>
        <p:spPr bwMode="auto">
          <a:xfrm>
            <a:off x="4356474" y="5583355"/>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72" name="Group 171">
            <a:extLst>
              <a:ext uri="{FF2B5EF4-FFF2-40B4-BE49-F238E27FC236}">
                <a16:creationId xmlns:a16="http://schemas.microsoft.com/office/drawing/2014/main" id="{DA77B42D-EF91-9343-B8AA-7F791CA6173D}"/>
              </a:ext>
            </a:extLst>
          </p:cNvPr>
          <p:cNvGrpSpPr/>
          <p:nvPr/>
        </p:nvGrpSpPr>
        <p:grpSpPr>
          <a:xfrm>
            <a:off x="3957067" y="5203592"/>
            <a:ext cx="860625" cy="398511"/>
            <a:chOff x="7493876" y="2774731"/>
            <a:chExt cx="1481958" cy="894622"/>
          </a:xfrm>
        </p:grpSpPr>
        <p:sp>
          <p:nvSpPr>
            <p:cNvPr id="173" name="Freeform 172">
              <a:extLst>
                <a:ext uri="{FF2B5EF4-FFF2-40B4-BE49-F238E27FC236}">
                  <a16:creationId xmlns:a16="http://schemas.microsoft.com/office/drawing/2014/main" id="{717B3640-CBA8-9D4D-B10E-118D837582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74" name="Oval 173">
              <a:extLst>
                <a:ext uri="{FF2B5EF4-FFF2-40B4-BE49-F238E27FC236}">
                  <a16:creationId xmlns:a16="http://schemas.microsoft.com/office/drawing/2014/main" id="{3DF87D0C-16B9-0242-9434-F058BACF6A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75" name="Group 174">
              <a:extLst>
                <a:ext uri="{FF2B5EF4-FFF2-40B4-BE49-F238E27FC236}">
                  <a16:creationId xmlns:a16="http://schemas.microsoft.com/office/drawing/2014/main" id="{875F2C4B-EC99-0546-B8BC-E6ABDA1C57CF}"/>
                </a:ext>
              </a:extLst>
            </p:cNvPr>
            <p:cNvGrpSpPr/>
            <p:nvPr/>
          </p:nvGrpSpPr>
          <p:grpSpPr>
            <a:xfrm>
              <a:off x="7713663" y="2848339"/>
              <a:ext cx="1042107" cy="425543"/>
              <a:chOff x="7786941" y="2884917"/>
              <a:chExt cx="897649" cy="353919"/>
            </a:xfrm>
          </p:grpSpPr>
          <p:sp>
            <p:nvSpPr>
              <p:cNvPr id="176" name="Freeform 175">
                <a:extLst>
                  <a:ext uri="{FF2B5EF4-FFF2-40B4-BE49-F238E27FC236}">
                    <a16:creationId xmlns:a16="http://schemas.microsoft.com/office/drawing/2014/main" id="{7AB43264-5575-584F-8FE6-D1C2C13E1C3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176">
                <a:extLst>
                  <a:ext uri="{FF2B5EF4-FFF2-40B4-BE49-F238E27FC236}">
                    <a16:creationId xmlns:a16="http://schemas.microsoft.com/office/drawing/2014/main" id="{99D8A414-A25C-5C43-9BC9-95C40A420E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177">
                <a:extLst>
                  <a:ext uri="{FF2B5EF4-FFF2-40B4-BE49-F238E27FC236}">
                    <a16:creationId xmlns:a16="http://schemas.microsoft.com/office/drawing/2014/main" id="{B398E537-2A8D-B343-AFFC-0C206FB72B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178">
                <a:extLst>
                  <a:ext uri="{FF2B5EF4-FFF2-40B4-BE49-F238E27FC236}">
                    <a16:creationId xmlns:a16="http://schemas.microsoft.com/office/drawing/2014/main" id="{8F5B5F4D-A081-8041-8446-B98FF77714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2" name="Line 113">
            <a:extLst>
              <a:ext uri="{FF2B5EF4-FFF2-40B4-BE49-F238E27FC236}">
                <a16:creationId xmlns:a16="http://schemas.microsoft.com/office/drawing/2014/main" id="{EEC03E85-460E-344B-B658-EA55A9271333}"/>
              </a:ext>
            </a:extLst>
          </p:cNvPr>
          <p:cNvSpPr>
            <a:spLocks noChangeShapeType="1"/>
          </p:cNvSpPr>
          <p:nvPr/>
        </p:nvSpPr>
        <p:spPr bwMode="auto">
          <a:xfrm flipH="1">
            <a:off x="5602660" y="5511918"/>
            <a:ext cx="865759" cy="1444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 name="Line 294">
            <a:extLst>
              <a:ext uri="{FF2B5EF4-FFF2-40B4-BE49-F238E27FC236}">
                <a16:creationId xmlns:a16="http://schemas.microsoft.com/office/drawing/2014/main" id="{6AFF4B42-51C0-8447-92BB-FCA57D50B68A}"/>
              </a:ext>
            </a:extLst>
          </p:cNvPr>
          <p:cNvSpPr>
            <a:spLocks noChangeShapeType="1"/>
          </p:cNvSpPr>
          <p:nvPr/>
        </p:nvSpPr>
        <p:spPr bwMode="auto">
          <a:xfrm flipH="1">
            <a:off x="4997823" y="5773855"/>
            <a:ext cx="487128"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64" name="Group 163">
            <a:extLst>
              <a:ext uri="{FF2B5EF4-FFF2-40B4-BE49-F238E27FC236}">
                <a16:creationId xmlns:a16="http://schemas.microsoft.com/office/drawing/2014/main" id="{CEAC493A-EEEF-7C4F-AA98-1801621812D4}"/>
              </a:ext>
            </a:extLst>
          </p:cNvPr>
          <p:cNvGrpSpPr/>
          <p:nvPr/>
        </p:nvGrpSpPr>
        <p:grpSpPr>
          <a:xfrm>
            <a:off x="4985387" y="5543879"/>
            <a:ext cx="860625" cy="398511"/>
            <a:chOff x="7493876" y="2774731"/>
            <a:chExt cx="1481958" cy="894622"/>
          </a:xfrm>
        </p:grpSpPr>
        <p:sp>
          <p:nvSpPr>
            <p:cNvPr id="165" name="Freeform 164">
              <a:extLst>
                <a:ext uri="{FF2B5EF4-FFF2-40B4-BE49-F238E27FC236}">
                  <a16:creationId xmlns:a16="http://schemas.microsoft.com/office/drawing/2014/main" id="{7C772A01-ED51-DF4C-9654-6B6278386C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66" name="Oval 165">
              <a:extLst>
                <a:ext uri="{FF2B5EF4-FFF2-40B4-BE49-F238E27FC236}">
                  <a16:creationId xmlns:a16="http://schemas.microsoft.com/office/drawing/2014/main" id="{B003DFE7-C366-8140-9629-CD63DF215ED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67" name="Group 166">
              <a:extLst>
                <a:ext uri="{FF2B5EF4-FFF2-40B4-BE49-F238E27FC236}">
                  <a16:creationId xmlns:a16="http://schemas.microsoft.com/office/drawing/2014/main" id="{5F84292C-45D7-D245-AF05-1049328026B3}"/>
                </a:ext>
              </a:extLst>
            </p:cNvPr>
            <p:cNvGrpSpPr/>
            <p:nvPr/>
          </p:nvGrpSpPr>
          <p:grpSpPr>
            <a:xfrm>
              <a:off x="7713663" y="2848339"/>
              <a:ext cx="1042107" cy="425543"/>
              <a:chOff x="7786941" y="2884917"/>
              <a:chExt cx="897649" cy="353919"/>
            </a:xfrm>
          </p:grpSpPr>
          <p:sp>
            <p:nvSpPr>
              <p:cNvPr id="168" name="Freeform 167">
                <a:extLst>
                  <a:ext uri="{FF2B5EF4-FFF2-40B4-BE49-F238E27FC236}">
                    <a16:creationId xmlns:a16="http://schemas.microsoft.com/office/drawing/2014/main" id="{672ECA71-4ED1-A742-8D27-C7DD78E812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Freeform 168">
                <a:extLst>
                  <a:ext uri="{FF2B5EF4-FFF2-40B4-BE49-F238E27FC236}">
                    <a16:creationId xmlns:a16="http://schemas.microsoft.com/office/drawing/2014/main" id="{AB422B19-1B67-F744-AB96-3C00EBB25F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169">
                <a:extLst>
                  <a:ext uri="{FF2B5EF4-FFF2-40B4-BE49-F238E27FC236}">
                    <a16:creationId xmlns:a16="http://schemas.microsoft.com/office/drawing/2014/main" id="{64DBC56A-851B-1045-8E18-0E1AE5828A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Freeform 170">
                <a:extLst>
                  <a:ext uri="{FF2B5EF4-FFF2-40B4-BE49-F238E27FC236}">
                    <a16:creationId xmlns:a16="http://schemas.microsoft.com/office/drawing/2014/main" id="{687D1E8F-A9D2-414E-B37C-C2A41CFCDB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“Real” Internet delays and routes</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75</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80180" y="1324511"/>
            <a:ext cx="10342830" cy="18853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sz="3200" dirty="0">
                <a:ea typeface="ＭＳ Ｐゴシック" panose="020B0600070205080204" pitchFamily="34" charset="-128"/>
              </a:rPr>
              <a:t>what do “</a:t>
            </a:r>
            <a:r>
              <a:rPr lang="en-US" altLang="ja-JP" sz="3200" dirty="0">
                <a:ea typeface="ＭＳ Ｐゴシック" panose="020B0600070205080204" pitchFamily="34" charset="-128"/>
              </a:rPr>
              <a:t>real” Internet delay &amp; loss look like? </a:t>
            </a:r>
          </a:p>
          <a:p>
            <a:pPr marL="287338" indent="-287338"/>
            <a:r>
              <a:rPr lang="en-US" altLang="en-US" b="1" dirty="0">
                <a:solidFill>
                  <a:srgbClr val="C00000"/>
                </a:solidFill>
                <a:ea typeface="ＭＳ Ｐゴシック" panose="020B0600070205080204" pitchFamily="34" charset="-128"/>
              </a:rPr>
              <a:t>traceroute/</a:t>
            </a:r>
            <a:r>
              <a:rPr lang="en-US" altLang="en-US" b="1" dirty="0" err="1">
                <a:solidFill>
                  <a:srgbClr val="C00000"/>
                </a:solidFill>
                <a:ea typeface="ＭＳ Ｐゴシック" panose="020B0600070205080204" pitchFamily="34" charset="-128"/>
              </a:rPr>
              <a:t>tracert</a:t>
            </a:r>
            <a:r>
              <a:rPr lang="en-US" altLang="en-US" sz="3200" dirty="0">
                <a:solidFill>
                  <a:srgbClr val="FF0000"/>
                </a:solidFill>
                <a:ea typeface="ＭＳ Ｐゴシック" panose="020B0600070205080204" pitchFamily="34" charset="-128"/>
              </a:rPr>
              <a:t> </a:t>
            </a:r>
            <a:r>
              <a:rPr lang="en-US" altLang="en-US" sz="3200" dirty="0">
                <a:ea typeface="ＭＳ Ｐゴシック" panose="020B0600070205080204" pitchFamily="34" charset="-128"/>
              </a:rPr>
              <a:t>program: provides delay measurement from source to router along end-end Internet path towards destination.  For all </a:t>
            </a:r>
            <a:r>
              <a:rPr lang="en-US" altLang="en-US" sz="3200" i="1" dirty="0" err="1">
                <a:ea typeface="ＭＳ Ｐゴシック" panose="020B0600070205080204" pitchFamily="34" charset="-128"/>
              </a:rPr>
              <a:t>i</a:t>
            </a:r>
            <a:r>
              <a:rPr lang="en-US" altLang="en-US" sz="3200" i="1" dirty="0">
                <a:ea typeface="ＭＳ Ｐゴシック" panose="020B0600070205080204" pitchFamily="34" charset="-128"/>
              </a:rPr>
              <a:t>:</a:t>
            </a:r>
          </a:p>
        </p:txBody>
      </p:sp>
      <p:sp>
        <p:nvSpPr>
          <p:cNvPr id="23" name="Line 260">
            <a:extLst>
              <a:ext uri="{FF2B5EF4-FFF2-40B4-BE49-F238E27FC236}">
                <a16:creationId xmlns:a16="http://schemas.microsoft.com/office/drawing/2014/main" id="{146ED7EC-5957-5A4D-8C10-71CB9EFF9CF6}"/>
              </a:ext>
            </a:extLst>
          </p:cNvPr>
          <p:cNvSpPr>
            <a:spLocks noChangeShapeType="1"/>
          </p:cNvSpPr>
          <p:nvPr/>
        </p:nvSpPr>
        <p:spPr bwMode="auto">
          <a:xfrm>
            <a:off x="6721850" y="5476993"/>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261">
            <a:extLst>
              <a:ext uri="{FF2B5EF4-FFF2-40B4-BE49-F238E27FC236}">
                <a16:creationId xmlns:a16="http://schemas.microsoft.com/office/drawing/2014/main" id="{7F082344-D846-A442-8098-3870FBC04E2E}"/>
              </a:ext>
            </a:extLst>
          </p:cNvPr>
          <p:cNvSpPr>
            <a:spLocks noChangeShapeType="1"/>
          </p:cNvSpPr>
          <p:nvPr/>
        </p:nvSpPr>
        <p:spPr bwMode="auto">
          <a:xfrm flipH="1">
            <a:off x="7660060" y="5423018"/>
            <a:ext cx="777191" cy="2778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 name="Line 292">
            <a:extLst>
              <a:ext uri="{FF2B5EF4-FFF2-40B4-BE49-F238E27FC236}">
                <a16:creationId xmlns:a16="http://schemas.microsoft.com/office/drawing/2014/main" id="{F2A2632A-A659-1B45-9C0A-17E3A7312946}"/>
              </a:ext>
            </a:extLst>
          </p:cNvPr>
          <p:cNvSpPr>
            <a:spLocks noChangeShapeType="1"/>
          </p:cNvSpPr>
          <p:nvPr/>
        </p:nvSpPr>
        <p:spPr bwMode="auto">
          <a:xfrm>
            <a:off x="6280524" y="5170605"/>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 name="Line 295">
            <a:extLst>
              <a:ext uri="{FF2B5EF4-FFF2-40B4-BE49-F238E27FC236}">
                <a16:creationId xmlns:a16="http://schemas.microsoft.com/office/drawing/2014/main" id="{69CE8977-5EAF-2D48-AB87-ABB232029696}"/>
              </a:ext>
            </a:extLst>
          </p:cNvPr>
          <p:cNvSpPr>
            <a:spLocks noChangeShapeType="1"/>
          </p:cNvSpPr>
          <p:nvPr/>
        </p:nvSpPr>
        <p:spPr bwMode="auto">
          <a:xfrm>
            <a:off x="5394926" y="5277473"/>
            <a:ext cx="8857" cy="2603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9" name="Text Box 300">
            <a:extLst>
              <a:ext uri="{FF2B5EF4-FFF2-40B4-BE49-F238E27FC236}">
                <a16:creationId xmlns:a16="http://schemas.microsoft.com/office/drawing/2014/main" id="{A650D718-81E6-C34A-AA06-669C83840015}"/>
              </a:ext>
            </a:extLst>
          </p:cNvPr>
          <p:cNvSpPr txBox="1">
            <a:spLocks noChangeArrowheads="1"/>
          </p:cNvSpPr>
          <p:nvPr/>
        </p:nvSpPr>
        <p:spPr bwMode="auto">
          <a:xfrm>
            <a:off x="2999161" y="5135680"/>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a:solidFill>
                  <a:srgbClr val="FF0000"/>
                </a:solidFill>
                <a:latin typeface="+mn-lt"/>
              </a:rPr>
              <a:t>3 probes</a:t>
            </a:r>
          </a:p>
        </p:txBody>
      </p:sp>
      <p:sp>
        <p:nvSpPr>
          <p:cNvPr id="30" name="Text Box 302">
            <a:extLst>
              <a:ext uri="{FF2B5EF4-FFF2-40B4-BE49-F238E27FC236}">
                <a16:creationId xmlns:a16="http://schemas.microsoft.com/office/drawing/2014/main" id="{8C2F6269-CD63-DC47-AA5A-D6F6AD85E9F6}"/>
              </a:ext>
            </a:extLst>
          </p:cNvPr>
          <p:cNvSpPr txBox="1">
            <a:spLocks noChangeArrowheads="1"/>
          </p:cNvSpPr>
          <p:nvPr/>
        </p:nvSpPr>
        <p:spPr bwMode="auto">
          <a:xfrm>
            <a:off x="3613524" y="5696068"/>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a:solidFill>
                  <a:srgbClr val="FF0000"/>
                </a:solidFill>
                <a:latin typeface="+mn-lt"/>
              </a:rPr>
              <a:t>3 probes</a:t>
            </a:r>
          </a:p>
        </p:txBody>
      </p:sp>
      <p:sp>
        <p:nvSpPr>
          <p:cNvPr id="31" name="Text Box 304">
            <a:extLst>
              <a:ext uri="{FF2B5EF4-FFF2-40B4-BE49-F238E27FC236}">
                <a16:creationId xmlns:a16="http://schemas.microsoft.com/office/drawing/2014/main" id="{43A2AD3C-9D79-9140-BB67-1BE3BD4261D1}"/>
              </a:ext>
            </a:extLst>
          </p:cNvPr>
          <p:cNvSpPr txBox="1">
            <a:spLocks noChangeArrowheads="1"/>
          </p:cNvSpPr>
          <p:nvPr/>
        </p:nvSpPr>
        <p:spPr bwMode="auto">
          <a:xfrm>
            <a:off x="4842700" y="5044156"/>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solidFill>
                  <a:srgbClr val="FF0000"/>
                </a:solidFill>
                <a:latin typeface="+mn-lt"/>
              </a:rPr>
              <a:t>3 probes</a:t>
            </a:r>
          </a:p>
        </p:txBody>
      </p:sp>
      <p:grpSp>
        <p:nvGrpSpPr>
          <p:cNvPr id="32" name="Group 100">
            <a:extLst>
              <a:ext uri="{FF2B5EF4-FFF2-40B4-BE49-F238E27FC236}">
                <a16:creationId xmlns:a16="http://schemas.microsoft.com/office/drawing/2014/main" id="{1BEC51D1-0886-F14D-B99F-4CA3879860C9}"/>
              </a:ext>
            </a:extLst>
          </p:cNvPr>
          <p:cNvGrpSpPr>
            <a:grpSpLocks/>
          </p:cNvGrpSpPr>
          <p:nvPr/>
        </p:nvGrpSpPr>
        <p:grpSpPr bwMode="auto">
          <a:xfrm>
            <a:off x="1934728" y="5072180"/>
            <a:ext cx="1027081" cy="688975"/>
            <a:chOff x="-44" y="1473"/>
            <a:chExt cx="981" cy="1105"/>
          </a:xfrm>
        </p:grpSpPr>
        <p:pic>
          <p:nvPicPr>
            <p:cNvPr id="33" name="Picture 101" descr="desktop_computer_stylized_medium">
              <a:extLst>
                <a:ext uri="{FF2B5EF4-FFF2-40B4-BE49-F238E27FC236}">
                  <a16:creationId xmlns:a16="http://schemas.microsoft.com/office/drawing/2014/main" id="{C4436358-53EB-1341-B2F7-BBA9BFD86F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102">
              <a:extLst>
                <a:ext uri="{FF2B5EF4-FFF2-40B4-BE49-F238E27FC236}">
                  <a16:creationId xmlns:a16="http://schemas.microsoft.com/office/drawing/2014/main" id="{4813CA23-213B-0C4B-B526-D05F84EB9650}"/>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7" name="Group 103">
            <a:extLst>
              <a:ext uri="{FF2B5EF4-FFF2-40B4-BE49-F238E27FC236}">
                <a16:creationId xmlns:a16="http://schemas.microsoft.com/office/drawing/2014/main" id="{838A2555-9382-2A43-A8D2-3F77BF649C4C}"/>
              </a:ext>
            </a:extLst>
          </p:cNvPr>
          <p:cNvGrpSpPr>
            <a:grpSpLocks/>
          </p:cNvGrpSpPr>
          <p:nvPr/>
        </p:nvGrpSpPr>
        <p:grpSpPr bwMode="auto">
          <a:xfrm flipH="1">
            <a:off x="8177586" y="5110280"/>
            <a:ext cx="1051754" cy="669925"/>
            <a:chOff x="-44" y="1473"/>
            <a:chExt cx="981" cy="1105"/>
          </a:xfrm>
        </p:grpSpPr>
        <p:pic>
          <p:nvPicPr>
            <p:cNvPr id="42" name="Picture 104" descr="desktop_computer_stylized_medium">
              <a:extLst>
                <a:ext uri="{FF2B5EF4-FFF2-40B4-BE49-F238E27FC236}">
                  <a16:creationId xmlns:a16="http://schemas.microsoft.com/office/drawing/2014/main" id="{99E32CCD-2CED-C441-BCF6-83FBBB7A20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105">
              <a:extLst>
                <a:ext uri="{FF2B5EF4-FFF2-40B4-BE49-F238E27FC236}">
                  <a16:creationId xmlns:a16="http://schemas.microsoft.com/office/drawing/2014/main" id="{1DE64A0C-778E-0542-AF02-9D5203B331A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144" name="Freeform 303">
            <a:extLst>
              <a:ext uri="{FF2B5EF4-FFF2-40B4-BE49-F238E27FC236}">
                <a16:creationId xmlns:a16="http://schemas.microsoft.com/office/drawing/2014/main" id="{D57CFF59-F6AE-0444-8D13-D8E49817EC92}"/>
              </a:ext>
            </a:extLst>
          </p:cNvPr>
          <p:cNvSpPr>
            <a:spLocks/>
          </p:cNvSpPr>
          <p:nvPr/>
        </p:nvSpPr>
        <p:spPr bwMode="auto">
          <a:xfrm>
            <a:off x="2868986" y="5356343"/>
            <a:ext cx="3135331"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5" name="Freeform 299">
            <a:extLst>
              <a:ext uri="{FF2B5EF4-FFF2-40B4-BE49-F238E27FC236}">
                <a16:creationId xmlns:a16="http://schemas.microsoft.com/office/drawing/2014/main" id="{106F45C5-44D3-EB44-A1DD-18F6304B9226}"/>
              </a:ext>
            </a:extLst>
          </p:cNvPr>
          <p:cNvSpPr>
            <a:spLocks/>
          </p:cNvSpPr>
          <p:nvPr/>
        </p:nvSpPr>
        <p:spPr bwMode="auto">
          <a:xfrm>
            <a:off x="2900736" y="5392855"/>
            <a:ext cx="584553"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 name="Freeform 301">
            <a:extLst>
              <a:ext uri="{FF2B5EF4-FFF2-40B4-BE49-F238E27FC236}">
                <a16:creationId xmlns:a16="http://schemas.microsoft.com/office/drawing/2014/main" id="{B0DADD8E-881D-B14F-BA59-384DC3B918B6}"/>
              </a:ext>
            </a:extLst>
          </p:cNvPr>
          <p:cNvSpPr>
            <a:spLocks/>
          </p:cNvSpPr>
          <p:nvPr/>
        </p:nvSpPr>
        <p:spPr bwMode="auto">
          <a:xfrm>
            <a:off x="2894387" y="5307130"/>
            <a:ext cx="1877656" cy="474663"/>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6" name="Group 155">
            <a:extLst>
              <a:ext uri="{FF2B5EF4-FFF2-40B4-BE49-F238E27FC236}">
                <a16:creationId xmlns:a16="http://schemas.microsoft.com/office/drawing/2014/main" id="{91E1CD52-668E-2940-80F2-B10C4C902272}"/>
              </a:ext>
            </a:extLst>
          </p:cNvPr>
          <p:cNvGrpSpPr/>
          <p:nvPr/>
        </p:nvGrpSpPr>
        <p:grpSpPr>
          <a:xfrm>
            <a:off x="6096000" y="5229664"/>
            <a:ext cx="860625" cy="398511"/>
            <a:chOff x="7493876" y="2774731"/>
            <a:chExt cx="1481958" cy="894622"/>
          </a:xfrm>
        </p:grpSpPr>
        <p:sp>
          <p:nvSpPr>
            <p:cNvPr id="157" name="Freeform 156">
              <a:extLst>
                <a:ext uri="{FF2B5EF4-FFF2-40B4-BE49-F238E27FC236}">
                  <a16:creationId xmlns:a16="http://schemas.microsoft.com/office/drawing/2014/main" id="{524447EB-AF2A-A041-9AAF-22AE80BEBBC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58" name="Oval 157">
              <a:extLst>
                <a:ext uri="{FF2B5EF4-FFF2-40B4-BE49-F238E27FC236}">
                  <a16:creationId xmlns:a16="http://schemas.microsoft.com/office/drawing/2014/main" id="{02DFC5C8-0F07-0646-B191-3F36D49C23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59" name="Group 158">
              <a:extLst>
                <a:ext uri="{FF2B5EF4-FFF2-40B4-BE49-F238E27FC236}">
                  <a16:creationId xmlns:a16="http://schemas.microsoft.com/office/drawing/2014/main" id="{39560971-B62C-2E4C-935A-836B55269213}"/>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E2E046A7-F455-5A48-9F2B-58FE95A5E2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160">
                <a:extLst>
                  <a:ext uri="{FF2B5EF4-FFF2-40B4-BE49-F238E27FC236}">
                    <a16:creationId xmlns:a16="http://schemas.microsoft.com/office/drawing/2014/main" id="{B411AFE3-7C43-B447-9404-B41B6AD175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Freeform 161">
                <a:extLst>
                  <a:ext uri="{FF2B5EF4-FFF2-40B4-BE49-F238E27FC236}">
                    <a16:creationId xmlns:a16="http://schemas.microsoft.com/office/drawing/2014/main" id="{149A557C-1B39-D44A-ABCE-44F29E0A3D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162">
                <a:extLst>
                  <a:ext uri="{FF2B5EF4-FFF2-40B4-BE49-F238E27FC236}">
                    <a16:creationId xmlns:a16="http://schemas.microsoft.com/office/drawing/2014/main" id="{C47C4949-2773-9643-AB8D-C5F0FC9CD57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60" name="Rectangle 5">
            <a:extLst>
              <a:ext uri="{FF2B5EF4-FFF2-40B4-BE49-F238E27FC236}">
                <a16:creationId xmlns:a16="http://schemas.microsoft.com/office/drawing/2014/main" id="{C45704CB-2C2D-E04A-BF4B-17BB274AE2EB}"/>
              </a:ext>
            </a:extLst>
          </p:cNvPr>
          <p:cNvSpPr txBox="1">
            <a:spLocks noChangeArrowheads="1"/>
          </p:cNvSpPr>
          <p:nvPr/>
        </p:nvSpPr>
        <p:spPr>
          <a:xfrm>
            <a:off x="909932" y="3067365"/>
            <a:ext cx="10342830" cy="172365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2625" lvl="1" indent="-225425"/>
            <a:r>
              <a:rPr lang="en-US" altLang="en-US" sz="2800" dirty="0">
                <a:ea typeface="Arial" panose="020B0604020202020204" pitchFamily="34" charset="0"/>
              </a:rPr>
              <a:t>sends three packets that will reach router </a:t>
            </a:r>
            <a:r>
              <a:rPr lang="en-US" altLang="en-US" sz="2800" i="1" dirty="0" err="1">
                <a:ea typeface="Arial" panose="020B0604020202020204" pitchFamily="34" charset="0"/>
              </a:rPr>
              <a:t>i</a:t>
            </a:r>
            <a:r>
              <a:rPr lang="en-US" altLang="en-US" sz="2800" dirty="0">
                <a:ea typeface="Arial" panose="020B0604020202020204" pitchFamily="34" charset="0"/>
              </a:rPr>
              <a:t> on path towards destination (with time-to-live field value of </a:t>
            </a:r>
            <a:r>
              <a:rPr lang="en-US" altLang="en-US" sz="2800" i="1" dirty="0" err="1">
                <a:ea typeface="Arial" panose="020B0604020202020204" pitchFamily="34" charset="0"/>
              </a:rPr>
              <a:t>i</a:t>
            </a:r>
            <a:r>
              <a:rPr lang="en-US" altLang="en-US" sz="2800" dirty="0">
                <a:ea typeface="Arial" panose="020B0604020202020204" pitchFamily="34" charset="0"/>
              </a:rPr>
              <a:t>)</a:t>
            </a:r>
          </a:p>
          <a:p>
            <a:pPr marL="682625" lvl="1" indent="-225425"/>
            <a:r>
              <a:rPr lang="en-US" altLang="en-US" sz="2800" dirty="0">
                <a:ea typeface="Arial" panose="020B0604020202020204" pitchFamily="34" charset="0"/>
              </a:rPr>
              <a:t>router </a:t>
            </a:r>
            <a:r>
              <a:rPr lang="en-US" altLang="en-US" sz="2800" i="1" dirty="0" err="1">
                <a:ea typeface="Arial" panose="020B0604020202020204" pitchFamily="34" charset="0"/>
              </a:rPr>
              <a:t>i</a:t>
            </a:r>
            <a:r>
              <a:rPr lang="en-US" altLang="en-US" sz="2800" dirty="0">
                <a:ea typeface="Arial" panose="020B0604020202020204" pitchFamily="34" charset="0"/>
              </a:rPr>
              <a:t> will return packets to sender</a:t>
            </a:r>
          </a:p>
          <a:p>
            <a:pPr marL="682625" lvl="1" indent="-225425"/>
            <a:r>
              <a:rPr lang="en-US" altLang="en-US" sz="2800" dirty="0">
                <a:ea typeface="Arial" panose="020B0604020202020204" pitchFamily="34" charset="0"/>
              </a:rPr>
              <a:t>sender measures time interval between transmission and reply</a:t>
            </a:r>
            <a:endParaRPr lang="en-US" altLang="en-US" sz="3200" dirty="0">
              <a:ea typeface="Arial" panose="020B0604020202020204" pitchFamily="34" charset="0"/>
            </a:endParaRPr>
          </a:p>
        </p:txBody>
      </p:sp>
    </p:spTree>
    <p:extLst>
      <p:ext uri="{BB962C8B-B14F-4D97-AF65-F5344CB8AC3E}">
        <p14:creationId xmlns:p14="http://schemas.microsoft.com/office/powerpoint/2010/main" val="2153436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dissolve">
                                      <p:cBhvr>
                                        <p:cTn id="7" dur="500"/>
                                        <p:tgtEl>
                                          <p:spTgt spid="60"/>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par>
                                <p:cTn id="11" presetID="1" presetClass="entr" presetSubtype="0"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childTnLst>
                                  <p:subTnLst>
                                    <p:set>
                                      <p:cBhvr override="childStyle">
                                        <p:cTn dur="1" fill="hold" display="0" masterRel="nextClick" afterEffect="1"/>
                                        <p:tgtEl>
                                          <p:spTgt spid="29"/>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46"/>
                                        </p:tgtEl>
                                        <p:attrNameLst>
                                          <p:attrName>style.visibility</p:attrName>
                                        </p:attrNameLst>
                                      </p:cBhvr>
                                      <p:to>
                                        <p:strVal val="visible"/>
                                      </p:to>
                                    </p:set>
                                  </p:childTnLst>
                                  <p:subTnLst>
                                    <p:set>
                                      <p:cBhvr override="childStyle">
                                        <p:cTn dur="1" fill="hold" display="0" masterRel="nextClick" afterEffect="1"/>
                                        <p:tgtEl>
                                          <p:spTgt spid="146"/>
                                        </p:tgtEl>
                                        <p:attrNameLst>
                                          <p:attrName>style.visibility</p:attrName>
                                        </p:attrNameLst>
                                      </p:cBhvr>
                                      <p:to>
                                        <p:strVal val="hidden"/>
                                      </p:to>
                                    </p:set>
                                  </p:subTnLst>
                                </p:cTn>
                              </p:par>
                              <p:par>
                                <p:cTn id="17" presetID="1" presetClass="entr" presetSubtype="0" fill="hold" grpId="0" nodeType="withEffect">
                                  <p:stCondLst>
                                    <p:cond delay="0"/>
                                  </p:stCondLst>
                                  <p:childTnLst>
                                    <p:set>
                                      <p:cBhvr>
                                        <p:cTn id="18" dur="1" fill="hold">
                                          <p:stCondLst>
                                            <p:cond delay="0"/>
                                          </p:stCondLst>
                                        </p:cTn>
                                        <p:tgtEl>
                                          <p:spTgt spid="30"/>
                                        </p:tgtEl>
                                        <p:attrNameLst>
                                          <p:attrName>style.visibility</p:attrName>
                                        </p:attrNameLst>
                                      </p:cBhvr>
                                      <p:to>
                                        <p:strVal val="visible"/>
                                      </p:to>
                                    </p:set>
                                  </p:childTnLst>
                                  <p:subTnLst>
                                    <p:set>
                                      <p:cBhvr override="childStyle">
                                        <p:cTn dur="1" fill="hold" display="0" masterRel="nextClick" afterEffect="1"/>
                                        <p:tgtEl>
                                          <p:spTgt spid="30"/>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4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60"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81350" y="1387475"/>
            <a:ext cx="6089650" cy="2509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15" name="Rectangular Callout 4"/>
          <p:cNvSpPr>
            <a:spLocks noChangeArrowheads="1"/>
          </p:cNvSpPr>
          <p:nvPr/>
        </p:nvSpPr>
        <p:spPr bwMode="auto">
          <a:xfrm>
            <a:off x="4151314" y="404813"/>
            <a:ext cx="3024187" cy="431800"/>
          </a:xfrm>
          <a:prstGeom prst="wedgeRectCallout">
            <a:avLst>
              <a:gd name="adj1" fmla="val -27880"/>
              <a:gd name="adj2" fmla="val 167597"/>
            </a:avLst>
          </a:prstGeom>
          <a:solidFill>
            <a:srgbClr val="0070C0"/>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ms-MY" altLang="en-US" sz="2200">
                <a:solidFill>
                  <a:schemeClr val="bg1"/>
                </a:solidFill>
                <a:latin typeface="Arial" panose="020B0604020202020204" pitchFamily="34" charset="0"/>
              </a:rPr>
              <a:t>the destination system</a:t>
            </a:r>
          </a:p>
        </p:txBody>
      </p:sp>
      <p:sp>
        <p:nvSpPr>
          <p:cNvPr id="141316" name="Rounded Rectangle 9"/>
          <p:cNvSpPr>
            <a:spLocks noChangeArrowheads="1"/>
          </p:cNvSpPr>
          <p:nvPr/>
        </p:nvSpPr>
        <p:spPr bwMode="auto">
          <a:xfrm>
            <a:off x="3762376" y="2254251"/>
            <a:ext cx="2790825" cy="709613"/>
          </a:xfrm>
          <a:prstGeom prst="roundRect">
            <a:avLst>
              <a:gd name="adj" fmla="val 16667"/>
            </a:avLst>
          </a:prstGeom>
          <a:noFill/>
          <a:ln w="38100" algn="ctr">
            <a:solidFill>
              <a:srgbClr val="FFC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ms-MY" altLang="en-US" sz="2400">
              <a:latin typeface="Arial" panose="020B0604020202020204" pitchFamily="34" charset="0"/>
            </a:endParaRPr>
          </a:p>
        </p:txBody>
      </p:sp>
      <p:sp>
        <p:nvSpPr>
          <p:cNvPr id="141317" name="Rectangular Callout 10"/>
          <p:cNvSpPr>
            <a:spLocks noChangeArrowheads="1"/>
          </p:cNvSpPr>
          <p:nvPr/>
        </p:nvSpPr>
        <p:spPr bwMode="auto">
          <a:xfrm>
            <a:off x="7319964" y="620713"/>
            <a:ext cx="2160587" cy="792162"/>
          </a:xfrm>
          <a:prstGeom prst="wedgeRectCallout">
            <a:avLst>
              <a:gd name="adj1" fmla="val -40356"/>
              <a:gd name="adj2" fmla="val 165625"/>
            </a:avLst>
          </a:prstGeom>
          <a:solidFill>
            <a:srgbClr val="0070C0"/>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ms-MY" altLang="en-US" sz="2200">
                <a:solidFill>
                  <a:schemeClr val="bg1"/>
                </a:solidFill>
                <a:latin typeface="Arial" panose="020B0604020202020204" pitchFamily="34" charset="0"/>
              </a:rPr>
              <a:t>The IP address of the hop</a:t>
            </a:r>
          </a:p>
        </p:txBody>
      </p:sp>
      <p:sp>
        <p:nvSpPr>
          <p:cNvPr id="141318" name="Rectangle 11"/>
          <p:cNvSpPr>
            <a:spLocks noChangeArrowheads="1"/>
          </p:cNvSpPr>
          <p:nvPr/>
        </p:nvSpPr>
        <p:spPr bwMode="auto">
          <a:xfrm>
            <a:off x="5591175" y="3573463"/>
            <a:ext cx="4826000" cy="2462212"/>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200" b="1">
                <a:solidFill>
                  <a:schemeClr val="bg1"/>
                </a:solidFill>
                <a:latin typeface="Arial" panose="020B0604020202020204" pitchFamily="34" charset="0"/>
              </a:rPr>
              <a:t>Round Trip Time (RTT):</a:t>
            </a:r>
            <a:r>
              <a:rPr lang="en-US" altLang="en-US" sz="2200">
                <a:solidFill>
                  <a:schemeClr val="bg1"/>
                </a:solidFill>
                <a:latin typeface="Arial" panose="020B0604020202020204" pitchFamily="34" charset="0"/>
              </a:rPr>
              <a:t> </a:t>
            </a:r>
          </a:p>
          <a:p>
            <a:pPr>
              <a:lnSpc>
                <a:spcPct val="100000"/>
              </a:lnSpc>
              <a:spcBef>
                <a:spcPct val="0"/>
              </a:spcBef>
              <a:buClrTx/>
              <a:buSzTx/>
              <a:buFontTx/>
              <a:buNone/>
            </a:pPr>
            <a:r>
              <a:rPr lang="en-US" altLang="en-US" sz="2200">
                <a:solidFill>
                  <a:schemeClr val="bg1"/>
                </a:solidFill>
                <a:latin typeface="Arial" panose="020B0604020202020204" pitchFamily="34" charset="0"/>
              </a:rPr>
              <a:t>The time it takes for a packet to get to a hop and back, displayed in milliseconds (ms). </a:t>
            </a:r>
          </a:p>
          <a:p>
            <a:pPr>
              <a:lnSpc>
                <a:spcPct val="100000"/>
              </a:lnSpc>
              <a:spcBef>
                <a:spcPct val="0"/>
              </a:spcBef>
              <a:buClrTx/>
              <a:buSzTx/>
              <a:buFontTx/>
              <a:buNone/>
            </a:pPr>
            <a:r>
              <a:rPr lang="en-US" altLang="en-US" sz="2200">
                <a:solidFill>
                  <a:schemeClr val="bg1"/>
                </a:solidFill>
                <a:latin typeface="Arial" panose="020B0604020202020204" pitchFamily="34" charset="0"/>
                <a:sym typeface="Wingdings" panose="05000000000000000000" pitchFamily="2" charset="2"/>
              </a:rPr>
              <a:t> </a:t>
            </a:r>
            <a:r>
              <a:rPr lang="en-US" altLang="en-US" sz="2200">
                <a:solidFill>
                  <a:schemeClr val="bg1"/>
                </a:solidFill>
                <a:latin typeface="Arial" panose="020B0604020202020204" pitchFamily="34" charset="0"/>
              </a:rPr>
              <a:t>By default, </a:t>
            </a:r>
            <a:r>
              <a:rPr lang="en-US" altLang="en-US" sz="2200" b="1">
                <a:solidFill>
                  <a:schemeClr val="bg1"/>
                </a:solidFill>
                <a:latin typeface="Arial" panose="020B0604020202020204" pitchFamily="34" charset="0"/>
              </a:rPr>
              <a:t>tracert</a:t>
            </a:r>
            <a:r>
              <a:rPr lang="en-US" altLang="en-US" sz="2200">
                <a:solidFill>
                  <a:schemeClr val="bg1"/>
                </a:solidFill>
                <a:latin typeface="Arial" panose="020B0604020202020204" pitchFamily="34" charset="0"/>
              </a:rPr>
              <a:t> sends 3 packets to each hop, so the output lists three roundtrip times per hop. </a:t>
            </a:r>
            <a:endParaRPr lang="ms-MY" altLang="en-US" sz="2200">
              <a:solidFill>
                <a:schemeClr val="bg1"/>
              </a:solidFill>
              <a:latin typeface="Arial" panose="020B0604020202020204" pitchFamily="34" charset="0"/>
            </a:endParaRPr>
          </a:p>
        </p:txBody>
      </p:sp>
      <p:cxnSp>
        <p:nvCxnSpPr>
          <p:cNvPr id="14" name="Straight Arrow Connector 13"/>
          <p:cNvCxnSpPr/>
          <p:nvPr/>
        </p:nvCxnSpPr>
        <p:spPr>
          <a:xfrm flipH="1" flipV="1">
            <a:off x="6527801" y="2997200"/>
            <a:ext cx="504825" cy="503238"/>
          </a:xfrm>
          <a:prstGeom prst="straightConnector1">
            <a:avLst/>
          </a:prstGeom>
          <a:ln w="38100">
            <a:solidFill>
              <a:srgbClr val="FFFF00"/>
            </a:solidFill>
            <a:tailEnd type="arrow"/>
          </a:ln>
        </p:spPr>
        <p:style>
          <a:lnRef idx="1">
            <a:schemeClr val="accent1"/>
          </a:lnRef>
          <a:fillRef idx="0">
            <a:schemeClr val="accent1"/>
          </a:fillRef>
          <a:effectRef idx="0">
            <a:schemeClr val="accent1"/>
          </a:effectRef>
          <a:fontRef idx="minor">
            <a:schemeClr val="tx1"/>
          </a:fontRef>
        </p:style>
      </p:cxnSp>
      <p:sp>
        <p:nvSpPr>
          <p:cNvPr id="141320" name="Rectangle 14"/>
          <p:cNvSpPr>
            <a:spLocks noChangeArrowheads="1"/>
          </p:cNvSpPr>
          <p:nvPr/>
        </p:nvSpPr>
        <p:spPr bwMode="auto">
          <a:xfrm>
            <a:off x="1668464" y="3644901"/>
            <a:ext cx="3779837" cy="1446213"/>
          </a:xfrm>
          <a:prstGeom prst="rect">
            <a:avLst/>
          </a:prstGeom>
          <a:solidFill>
            <a:srgbClr val="0070C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200" b="1">
                <a:solidFill>
                  <a:schemeClr val="bg1"/>
                </a:solidFill>
                <a:latin typeface="Arial" panose="020B0604020202020204" pitchFamily="34" charset="0"/>
              </a:rPr>
              <a:t>Hop number</a:t>
            </a:r>
            <a:r>
              <a:rPr lang="en-US" altLang="en-US" sz="2200">
                <a:solidFill>
                  <a:schemeClr val="bg1"/>
                </a:solidFill>
                <a:latin typeface="Arial" panose="020B0604020202020204" pitchFamily="34" charset="0"/>
              </a:rPr>
              <a:t>: The specific hop number in the path from the sender to the destination.</a:t>
            </a:r>
            <a:endParaRPr lang="ms-MY" altLang="en-US" sz="2200">
              <a:solidFill>
                <a:schemeClr val="bg1"/>
              </a:solidFill>
              <a:latin typeface="Arial" panose="020B0604020202020204" pitchFamily="34" charset="0"/>
            </a:endParaRPr>
          </a:p>
        </p:txBody>
      </p:sp>
      <p:cxnSp>
        <p:nvCxnSpPr>
          <p:cNvPr id="17" name="Straight Arrow Connector 16"/>
          <p:cNvCxnSpPr>
            <a:stCxn id="141320" idx="0"/>
          </p:cNvCxnSpPr>
          <p:nvPr/>
        </p:nvCxnSpPr>
        <p:spPr>
          <a:xfrm flipH="1" flipV="1">
            <a:off x="3503614" y="2924176"/>
            <a:ext cx="53975" cy="720725"/>
          </a:xfrm>
          <a:prstGeom prst="straightConnector1">
            <a:avLst/>
          </a:prstGeom>
          <a:ln w="38100">
            <a:solidFill>
              <a:srgbClr val="00B0F0"/>
            </a:solidFill>
            <a:tailEnd type="arrow"/>
          </a:ln>
        </p:spPr>
        <p:style>
          <a:lnRef idx="1">
            <a:schemeClr val="accent1"/>
          </a:lnRef>
          <a:fillRef idx="0">
            <a:schemeClr val="accent1"/>
          </a:fillRef>
          <a:effectRef idx="0">
            <a:schemeClr val="accent1"/>
          </a:effectRef>
          <a:fontRef idx="minor">
            <a:schemeClr val="tx1"/>
          </a:fontRef>
        </p:style>
      </p:cxnSp>
      <p:pic>
        <p:nvPicPr>
          <p:cNvPr id="141322" name="Graphic 12"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9F4AB552-90E0-5E6E-A3AC-D27B88614D89}"/>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76</a:t>
            </a:fld>
            <a:endParaRPr lang="en-US" dirty="0"/>
          </a:p>
        </p:txBody>
      </p:sp>
    </p:spTree>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Real Internet delays and routes</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77</a:t>
            </a:fld>
            <a:endParaRPr lang="en-US" dirty="0"/>
          </a:p>
        </p:txBody>
      </p:sp>
      <p:sp>
        <p:nvSpPr>
          <p:cNvPr id="68" name="Text Box 4">
            <a:extLst>
              <a:ext uri="{FF2B5EF4-FFF2-40B4-BE49-F238E27FC236}">
                <a16:creationId xmlns:a16="http://schemas.microsoft.com/office/drawing/2014/main" id="{7892B7DA-887D-4048-94A0-6C1A0FF213DA}"/>
              </a:ext>
            </a:extLst>
          </p:cNvPr>
          <p:cNvSpPr txBox="1">
            <a:spLocks noChangeArrowheads="1"/>
          </p:cNvSpPr>
          <p:nvPr/>
        </p:nvSpPr>
        <p:spPr bwMode="auto">
          <a:xfrm>
            <a:off x="1663495" y="2282978"/>
            <a:ext cx="8229600" cy="394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1600" dirty="0"/>
              <a:t>1  cs-</a:t>
            </a:r>
            <a:r>
              <a:rPr lang="en-US" altLang="en-US" sz="1600" dirty="0" err="1"/>
              <a:t>gw</a:t>
            </a:r>
            <a:r>
              <a:rPr lang="en-US" altLang="en-US" sz="1600" dirty="0"/>
              <a:t> (128.119.240.254)  1 </a:t>
            </a:r>
            <a:r>
              <a:rPr lang="en-US" altLang="en-US" sz="1600" dirty="0" err="1"/>
              <a:t>ms</a:t>
            </a:r>
            <a:r>
              <a:rPr lang="en-US" altLang="en-US" sz="1600" dirty="0"/>
              <a:t>  1 </a:t>
            </a:r>
            <a:r>
              <a:rPr lang="en-US" altLang="en-US" sz="1600" dirty="0" err="1"/>
              <a:t>ms</a:t>
            </a:r>
            <a:r>
              <a:rPr lang="en-US" altLang="en-US" sz="1600" dirty="0"/>
              <a:t>  2 </a:t>
            </a:r>
            <a:r>
              <a:rPr lang="en-US" altLang="en-US" sz="1600" dirty="0" err="1"/>
              <a:t>ms</a:t>
            </a:r>
            <a:endParaRPr lang="en-US" altLang="en-US" sz="1600" dirty="0"/>
          </a:p>
          <a:p>
            <a:pPr>
              <a:lnSpc>
                <a:spcPct val="80000"/>
              </a:lnSpc>
            </a:pPr>
            <a:r>
              <a:rPr lang="en-US" altLang="en-US" sz="1600" dirty="0"/>
              <a:t>2  border1-rt-fa5-1-0.gw.umass.edu (128.119.3.145)  1 </a:t>
            </a:r>
            <a:r>
              <a:rPr lang="en-US" altLang="en-US" sz="1600" dirty="0" err="1"/>
              <a:t>ms</a:t>
            </a:r>
            <a:r>
              <a:rPr lang="en-US" altLang="en-US" sz="1600" dirty="0"/>
              <a:t>  1 </a:t>
            </a:r>
            <a:r>
              <a:rPr lang="en-US" altLang="en-US" sz="1600" dirty="0" err="1"/>
              <a:t>ms</a:t>
            </a:r>
            <a:r>
              <a:rPr lang="en-US" altLang="en-US" sz="1600" dirty="0"/>
              <a:t>  2 </a:t>
            </a:r>
            <a:r>
              <a:rPr lang="en-US" altLang="en-US" sz="1600" dirty="0" err="1"/>
              <a:t>ms</a:t>
            </a:r>
            <a:endParaRPr lang="en-US" altLang="en-US" sz="1600" dirty="0"/>
          </a:p>
          <a:p>
            <a:pPr>
              <a:lnSpc>
                <a:spcPct val="80000"/>
              </a:lnSpc>
            </a:pPr>
            <a:r>
              <a:rPr lang="en-US" altLang="en-US" sz="1600" dirty="0"/>
              <a:t>3  </a:t>
            </a:r>
            <a:r>
              <a:rPr lang="en-US" altLang="en-US" sz="1600" dirty="0" err="1"/>
              <a:t>cht-vbns.gw.umass.edu</a:t>
            </a:r>
            <a:r>
              <a:rPr lang="en-US" altLang="en-US" sz="1600" dirty="0"/>
              <a:t> (128.119.3.130)  6 </a:t>
            </a:r>
            <a:r>
              <a:rPr lang="en-US" altLang="en-US" sz="1600" dirty="0" err="1"/>
              <a:t>ms</a:t>
            </a:r>
            <a:r>
              <a:rPr lang="en-US" altLang="en-US" sz="1600" dirty="0"/>
              <a:t> 5 </a:t>
            </a:r>
            <a:r>
              <a:rPr lang="en-US" altLang="en-US" sz="1600" dirty="0" err="1"/>
              <a:t>ms</a:t>
            </a:r>
            <a:r>
              <a:rPr lang="en-US" altLang="en-US" sz="1600" dirty="0"/>
              <a:t> 5 </a:t>
            </a:r>
            <a:r>
              <a:rPr lang="en-US" altLang="en-US" sz="1600" dirty="0" err="1"/>
              <a:t>ms</a:t>
            </a:r>
            <a:endParaRPr lang="en-US" altLang="en-US" sz="1600" dirty="0"/>
          </a:p>
          <a:p>
            <a:pPr>
              <a:lnSpc>
                <a:spcPct val="80000"/>
              </a:lnSpc>
            </a:pPr>
            <a:r>
              <a:rPr lang="en-US" altLang="en-US" sz="1600" dirty="0"/>
              <a:t>4  jn1-at1-0-0-19.wor.vbns.net (204.147.132.129)  16 </a:t>
            </a:r>
            <a:r>
              <a:rPr lang="en-US" altLang="en-US" sz="1600" dirty="0" err="1"/>
              <a:t>ms</a:t>
            </a:r>
            <a:r>
              <a:rPr lang="en-US" altLang="en-US" sz="1600" dirty="0"/>
              <a:t> 11 </a:t>
            </a:r>
            <a:r>
              <a:rPr lang="en-US" altLang="en-US" sz="1600" dirty="0" err="1"/>
              <a:t>ms</a:t>
            </a:r>
            <a:r>
              <a:rPr lang="en-US" altLang="en-US" sz="1600" dirty="0"/>
              <a:t> 13 </a:t>
            </a:r>
            <a:r>
              <a:rPr lang="en-US" altLang="en-US" sz="1600" dirty="0" err="1"/>
              <a:t>ms</a:t>
            </a:r>
            <a:r>
              <a:rPr lang="en-US" altLang="en-US" sz="1600" dirty="0"/>
              <a:t> </a:t>
            </a:r>
          </a:p>
          <a:p>
            <a:pPr>
              <a:lnSpc>
                <a:spcPct val="80000"/>
              </a:lnSpc>
            </a:pPr>
            <a:r>
              <a:rPr lang="en-US" altLang="en-US" sz="1600" dirty="0"/>
              <a:t>5  jn1-so7-0-0-0.wae.vbns.net (204.147.136.136)  21 </a:t>
            </a:r>
            <a:r>
              <a:rPr lang="en-US" altLang="en-US" sz="1600" dirty="0" err="1"/>
              <a:t>ms</a:t>
            </a:r>
            <a:r>
              <a:rPr lang="en-US" altLang="en-US" sz="1600" dirty="0"/>
              <a:t> 18 </a:t>
            </a:r>
            <a:r>
              <a:rPr lang="en-US" altLang="en-US" sz="1600" dirty="0" err="1"/>
              <a:t>ms</a:t>
            </a:r>
            <a:r>
              <a:rPr lang="en-US" altLang="en-US" sz="1600" dirty="0"/>
              <a:t> 18 </a:t>
            </a:r>
            <a:r>
              <a:rPr lang="en-US" altLang="en-US" sz="1600" dirty="0" err="1"/>
              <a:t>ms</a:t>
            </a:r>
            <a:r>
              <a:rPr lang="en-US" altLang="en-US" sz="1600" dirty="0"/>
              <a:t> </a:t>
            </a:r>
          </a:p>
          <a:p>
            <a:pPr>
              <a:lnSpc>
                <a:spcPct val="80000"/>
              </a:lnSpc>
            </a:pPr>
            <a:r>
              <a:rPr lang="en-US" altLang="en-US" sz="1600" dirty="0"/>
              <a:t>6  </a:t>
            </a:r>
            <a:r>
              <a:rPr lang="en-US" altLang="en-US" sz="1600" dirty="0" err="1"/>
              <a:t>abilene-vbns.abilene.ucaid.edu</a:t>
            </a:r>
            <a:r>
              <a:rPr lang="en-US" altLang="en-US" sz="1600" dirty="0"/>
              <a:t> (198.32.11.9)  22 </a:t>
            </a:r>
            <a:r>
              <a:rPr lang="en-US" altLang="en-US" sz="1600" dirty="0" err="1"/>
              <a:t>ms</a:t>
            </a:r>
            <a:r>
              <a:rPr lang="en-US" altLang="en-US" sz="1600" dirty="0"/>
              <a:t>  18 </a:t>
            </a:r>
            <a:r>
              <a:rPr lang="en-US" altLang="en-US" sz="1600" dirty="0" err="1"/>
              <a:t>ms</a:t>
            </a:r>
            <a:r>
              <a:rPr lang="en-US" altLang="en-US" sz="1600" dirty="0"/>
              <a:t>  22 </a:t>
            </a:r>
            <a:r>
              <a:rPr lang="en-US" altLang="en-US" sz="1600" dirty="0" err="1"/>
              <a:t>ms</a:t>
            </a:r>
            <a:endParaRPr lang="en-US" altLang="en-US" sz="1600" dirty="0"/>
          </a:p>
          <a:p>
            <a:pPr>
              <a:lnSpc>
                <a:spcPct val="80000"/>
              </a:lnSpc>
            </a:pPr>
            <a:r>
              <a:rPr lang="en-US" altLang="en-US" sz="1600" dirty="0"/>
              <a:t>7  </a:t>
            </a:r>
            <a:r>
              <a:rPr lang="en-US" altLang="en-US" sz="1600" dirty="0" err="1"/>
              <a:t>nycm-wash.abilene.ucaid.edu</a:t>
            </a:r>
            <a:r>
              <a:rPr lang="en-US" altLang="en-US" sz="1600" dirty="0"/>
              <a:t> (198.32.8.46)  22 </a:t>
            </a:r>
            <a:r>
              <a:rPr lang="en-US" altLang="en-US" sz="1600" dirty="0" err="1"/>
              <a:t>ms</a:t>
            </a:r>
            <a:r>
              <a:rPr lang="en-US" altLang="en-US" sz="1600" dirty="0"/>
              <a:t>  22 </a:t>
            </a:r>
            <a:r>
              <a:rPr lang="en-US" altLang="en-US" sz="1600" dirty="0" err="1"/>
              <a:t>ms</a:t>
            </a:r>
            <a:r>
              <a:rPr lang="en-US" altLang="en-US" sz="1600" dirty="0"/>
              <a:t>  22 </a:t>
            </a:r>
            <a:r>
              <a:rPr lang="en-US" altLang="en-US" sz="1600" dirty="0" err="1"/>
              <a:t>ms</a:t>
            </a:r>
            <a:endParaRPr lang="en-US" altLang="en-US" sz="1600" dirty="0"/>
          </a:p>
          <a:p>
            <a:pPr>
              <a:lnSpc>
                <a:spcPct val="80000"/>
              </a:lnSpc>
            </a:pPr>
            <a:r>
              <a:rPr lang="en-US" altLang="en-US" sz="1600" dirty="0"/>
              <a:t>8  62.40.103.253 (62.40.103.253)  104 </a:t>
            </a:r>
            <a:r>
              <a:rPr lang="en-US" altLang="en-US" sz="1600" dirty="0" err="1"/>
              <a:t>ms</a:t>
            </a:r>
            <a:r>
              <a:rPr lang="en-US" altLang="en-US" sz="1600" dirty="0"/>
              <a:t> 109 </a:t>
            </a:r>
            <a:r>
              <a:rPr lang="en-US" altLang="en-US" sz="1600" dirty="0" err="1"/>
              <a:t>ms</a:t>
            </a:r>
            <a:r>
              <a:rPr lang="en-US" altLang="en-US" sz="1600" dirty="0"/>
              <a:t> 106 </a:t>
            </a:r>
            <a:r>
              <a:rPr lang="en-US" altLang="en-US" sz="1600" dirty="0" err="1"/>
              <a:t>ms</a:t>
            </a:r>
            <a:endParaRPr lang="en-US" altLang="en-US" sz="1600" dirty="0"/>
          </a:p>
          <a:p>
            <a:pPr>
              <a:lnSpc>
                <a:spcPct val="80000"/>
              </a:lnSpc>
            </a:pPr>
            <a:r>
              <a:rPr lang="en-US" altLang="en-US" sz="1600" dirty="0"/>
              <a:t>9  de2-1.de1.de.geant.net (62.40.96.129)  109 </a:t>
            </a:r>
            <a:r>
              <a:rPr lang="en-US" altLang="en-US" sz="1600" dirty="0" err="1"/>
              <a:t>ms</a:t>
            </a:r>
            <a:r>
              <a:rPr lang="en-US" altLang="en-US" sz="1600" dirty="0"/>
              <a:t> 102 </a:t>
            </a:r>
            <a:r>
              <a:rPr lang="en-US" altLang="en-US" sz="1600" dirty="0" err="1"/>
              <a:t>ms</a:t>
            </a:r>
            <a:r>
              <a:rPr lang="en-US" altLang="en-US" sz="1600" dirty="0"/>
              <a:t> 104 </a:t>
            </a:r>
            <a:r>
              <a:rPr lang="en-US" altLang="en-US" sz="1600" dirty="0" err="1"/>
              <a:t>ms</a:t>
            </a:r>
            <a:endParaRPr lang="en-US" altLang="en-US" sz="1600" dirty="0"/>
          </a:p>
          <a:p>
            <a:pPr>
              <a:lnSpc>
                <a:spcPct val="80000"/>
              </a:lnSpc>
            </a:pPr>
            <a:r>
              <a:rPr lang="en-US" altLang="en-US" sz="1600" dirty="0"/>
              <a:t>10  de.fr1.fr.geant.net (62.40.96.50)  113 </a:t>
            </a:r>
            <a:r>
              <a:rPr lang="en-US" altLang="en-US" sz="1600" dirty="0" err="1"/>
              <a:t>ms</a:t>
            </a:r>
            <a:r>
              <a:rPr lang="en-US" altLang="en-US" sz="1600" dirty="0"/>
              <a:t> 121 </a:t>
            </a:r>
            <a:r>
              <a:rPr lang="en-US" altLang="en-US" sz="1600" dirty="0" err="1"/>
              <a:t>ms</a:t>
            </a:r>
            <a:r>
              <a:rPr lang="en-US" altLang="en-US" sz="1600" dirty="0"/>
              <a:t> 114 </a:t>
            </a:r>
            <a:r>
              <a:rPr lang="en-US" altLang="en-US" sz="1600" dirty="0" err="1"/>
              <a:t>ms</a:t>
            </a:r>
            <a:endParaRPr lang="en-US" altLang="en-US" sz="1600" dirty="0"/>
          </a:p>
          <a:p>
            <a:pPr>
              <a:lnSpc>
                <a:spcPct val="80000"/>
              </a:lnSpc>
            </a:pPr>
            <a:r>
              <a:rPr lang="en-US" altLang="en-US" sz="1600" dirty="0"/>
              <a:t>11  renater-gw.fr1.fr.geant.net (62.40.103.54)  112 </a:t>
            </a:r>
            <a:r>
              <a:rPr lang="en-US" altLang="en-US" sz="1600" dirty="0" err="1"/>
              <a:t>ms</a:t>
            </a:r>
            <a:r>
              <a:rPr lang="en-US" altLang="en-US" sz="1600" dirty="0"/>
              <a:t>  114 </a:t>
            </a:r>
            <a:r>
              <a:rPr lang="en-US" altLang="en-US" sz="1600" dirty="0" err="1"/>
              <a:t>ms</a:t>
            </a:r>
            <a:r>
              <a:rPr lang="en-US" altLang="en-US" sz="1600" dirty="0"/>
              <a:t>  112 </a:t>
            </a:r>
            <a:r>
              <a:rPr lang="en-US" altLang="en-US" sz="1600" dirty="0" err="1"/>
              <a:t>ms</a:t>
            </a:r>
            <a:endParaRPr lang="en-US" altLang="en-US" sz="1600" dirty="0"/>
          </a:p>
          <a:p>
            <a:pPr>
              <a:lnSpc>
                <a:spcPct val="80000"/>
              </a:lnSpc>
            </a:pPr>
            <a:r>
              <a:rPr lang="en-US" altLang="en-US" sz="1600" dirty="0"/>
              <a:t>12  nio-n2.cssi.renater.fr (193.51.206.13)  111 </a:t>
            </a:r>
            <a:r>
              <a:rPr lang="en-US" altLang="en-US" sz="1600" dirty="0" err="1"/>
              <a:t>ms</a:t>
            </a:r>
            <a:r>
              <a:rPr lang="en-US" altLang="en-US" sz="1600" dirty="0"/>
              <a:t>  114 </a:t>
            </a:r>
            <a:r>
              <a:rPr lang="en-US" altLang="en-US" sz="1600" dirty="0" err="1"/>
              <a:t>ms</a:t>
            </a:r>
            <a:r>
              <a:rPr lang="en-US" altLang="en-US" sz="1600" dirty="0"/>
              <a:t>  116 </a:t>
            </a:r>
            <a:r>
              <a:rPr lang="en-US" altLang="en-US" sz="1600" dirty="0" err="1"/>
              <a:t>ms</a:t>
            </a:r>
            <a:endParaRPr lang="en-US" altLang="en-US" sz="1600" dirty="0"/>
          </a:p>
          <a:p>
            <a:pPr>
              <a:lnSpc>
                <a:spcPct val="80000"/>
              </a:lnSpc>
            </a:pPr>
            <a:r>
              <a:rPr lang="en-US" altLang="en-US" sz="1600" dirty="0"/>
              <a:t>13  </a:t>
            </a:r>
            <a:r>
              <a:rPr lang="en-US" altLang="en-US" sz="1600" dirty="0" err="1"/>
              <a:t>nice.cssi.renater.fr</a:t>
            </a:r>
            <a:r>
              <a:rPr lang="en-US" altLang="en-US" sz="1600" dirty="0"/>
              <a:t> (195.220.98.102)  123 </a:t>
            </a:r>
            <a:r>
              <a:rPr lang="en-US" altLang="en-US" sz="1600" dirty="0" err="1"/>
              <a:t>ms</a:t>
            </a:r>
            <a:r>
              <a:rPr lang="en-US" altLang="en-US" sz="1600" dirty="0"/>
              <a:t>  125 </a:t>
            </a:r>
            <a:r>
              <a:rPr lang="en-US" altLang="en-US" sz="1600" dirty="0" err="1"/>
              <a:t>ms</a:t>
            </a:r>
            <a:r>
              <a:rPr lang="en-US" altLang="en-US" sz="1600" dirty="0"/>
              <a:t>  124 </a:t>
            </a:r>
            <a:r>
              <a:rPr lang="en-US" altLang="en-US" sz="1600" dirty="0" err="1"/>
              <a:t>ms</a:t>
            </a:r>
            <a:endParaRPr lang="en-US" altLang="en-US" sz="1600" dirty="0"/>
          </a:p>
          <a:p>
            <a:pPr>
              <a:lnSpc>
                <a:spcPct val="80000"/>
              </a:lnSpc>
            </a:pPr>
            <a:r>
              <a:rPr lang="en-US" altLang="en-US" sz="1600" dirty="0"/>
              <a:t>14  r3t2-nice.cssi.renater.fr (195.220.98.110)  126 </a:t>
            </a:r>
            <a:r>
              <a:rPr lang="en-US" altLang="en-US" sz="1600" dirty="0" err="1"/>
              <a:t>ms</a:t>
            </a:r>
            <a:r>
              <a:rPr lang="en-US" altLang="en-US" sz="1600" dirty="0"/>
              <a:t>  126 </a:t>
            </a:r>
            <a:r>
              <a:rPr lang="en-US" altLang="en-US" sz="1600" dirty="0" err="1"/>
              <a:t>ms</a:t>
            </a:r>
            <a:r>
              <a:rPr lang="en-US" altLang="en-US" sz="1600" dirty="0"/>
              <a:t>  124 </a:t>
            </a:r>
            <a:r>
              <a:rPr lang="en-US" altLang="en-US" sz="1600" dirty="0" err="1"/>
              <a:t>ms</a:t>
            </a:r>
            <a:endParaRPr lang="en-US" altLang="en-US" sz="1600" dirty="0"/>
          </a:p>
          <a:p>
            <a:pPr>
              <a:lnSpc>
                <a:spcPct val="80000"/>
              </a:lnSpc>
            </a:pPr>
            <a:r>
              <a:rPr lang="en-US" altLang="en-US" sz="1600" dirty="0"/>
              <a:t>15  eurecom-valbonne.r3t2.ft.net (193.48.50.54)  135 </a:t>
            </a:r>
            <a:r>
              <a:rPr lang="en-US" altLang="en-US" sz="1600" dirty="0" err="1"/>
              <a:t>ms</a:t>
            </a:r>
            <a:r>
              <a:rPr lang="en-US" altLang="en-US" sz="1600" dirty="0"/>
              <a:t>  128 </a:t>
            </a:r>
            <a:r>
              <a:rPr lang="en-US" altLang="en-US" sz="1600" dirty="0" err="1"/>
              <a:t>ms</a:t>
            </a:r>
            <a:r>
              <a:rPr lang="en-US" altLang="en-US" sz="1600" dirty="0"/>
              <a:t>  133 </a:t>
            </a:r>
            <a:r>
              <a:rPr lang="en-US" altLang="en-US" sz="1600" dirty="0" err="1"/>
              <a:t>ms</a:t>
            </a:r>
            <a:endParaRPr lang="en-US" altLang="en-US" sz="1600" dirty="0"/>
          </a:p>
          <a:p>
            <a:pPr>
              <a:lnSpc>
                <a:spcPct val="80000"/>
              </a:lnSpc>
            </a:pPr>
            <a:r>
              <a:rPr lang="en-US" altLang="en-US" sz="1600" dirty="0"/>
              <a:t>16  194.214.211.25 (194.214.211.25)  126 </a:t>
            </a:r>
            <a:r>
              <a:rPr lang="en-US" altLang="en-US" sz="1600" dirty="0" err="1"/>
              <a:t>ms</a:t>
            </a:r>
            <a:r>
              <a:rPr lang="en-US" altLang="en-US" sz="1600" dirty="0"/>
              <a:t>  128 </a:t>
            </a:r>
            <a:r>
              <a:rPr lang="en-US" altLang="en-US" sz="1600" dirty="0" err="1"/>
              <a:t>ms</a:t>
            </a:r>
            <a:r>
              <a:rPr lang="en-US" altLang="en-US" sz="1600" dirty="0"/>
              <a:t>  126 </a:t>
            </a:r>
            <a:r>
              <a:rPr lang="en-US" altLang="en-US" sz="1600" dirty="0" err="1"/>
              <a:t>ms</a:t>
            </a:r>
            <a:endParaRPr lang="en-US" altLang="en-US" sz="1600" dirty="0"/>
          </a:p>
          <a:p>
            <a:pPr>
              <a:lnSpc>
                <a:spcPct val="80000"/>
              </a:lnSpc>
            </a:pPr>
            <a:r>
              <a:rPr lang="en-US" altLang="en-US" sz="1600" dirty="0"/>
              <a:t>17  * * *</a:t>
            </a:r>
          </a:p>
          <a:p>
            <a:pPr>
              <a:lnSpc>
                <a:spcPct val="80000"/>
              </a:lnSpc>
            </a:pPr>
            <a:r>
              <a:rPr lang="en-US" altLang="en-US" sz="1600" dirty="0"/>
              <a:t>18  * * *</a:t>
            </a:r>
          </a:p>
          <a:p>
            <a:pPr>
              <a:lnSpc>
                <a:spcPct val="80000"/>
              </a:lnSpc>
            </a:pPr>
            <a:r>
              <a:rPr lang="en-US" altLang="en-US" sz="1600" dirty="0"/>
              <a:t>19  </a:t>
            </a:r>
            <a:r>
              <a:rPr lang="en-US" altLang="en-US" sz="1600" dirty="0" err="1"/>
              <a:t>fantasia.eurecom.fr</a:t>
            </a:r>
            <a:r>
              <a:rPr lang="en-US" altLang="en-US" sz="1600" dirty="0"/>
              <a:t> (193.55.113.142)  132 </a:t>
            </a:r>
            <a:r>
              <a:rPr lang="en-US" altLang="en-US" sz="1600" dirty="0" err="1"/>
              <a:t>ms</a:t>
            </a:r>
            <a:r>
              <a:rPr lang="en-US" altLang="en-US" sz="1600" dirty="0"/>
              <a:t>  128 </a:t>
            </a:r>
            <a:r>
              <a:rPr lang="en-US" altLang="en-US" sz="1600" dirty="0" err="1"/>
              <a:t>ms</a:t>
            </a:r>
            <a:r>
              <a:rPr lang="en-US" altLang="en-US" sz="1600" dirty="0"/>
              <a:t>  136</a:t>
            </a:r>
            <a:r>
              <a:rPr lang="en-US" altLang="en-US" dirty="0">
                <a:latin typeface="Times New Roman" panose="02020603050405020304" pitchFamily="18" charset="0"/>
              </a:rPr>
              <a:t> </a:t>
            </a:r>
            <a:r>
              <a:rPr lang="en-US" altLang="en-US" sz="1600" dirty="0" err="1">
                <a:latin typeface="Times New Roman" panose="02020603050405020304" pitchFamily="18" charset="0"/>
              </a:rPr>
              <a:t>ms</a:t>
            </a:r>
            <a:endParaRPr lang="en-US" altLang="en-US" sz="1600" dirty="0">
              <a:latin typeface="Times New Roman" panose="02020603050405020304" pitchFamily="18" charset="0"/>
            </a:endParaRPr>
          </a:p>
        </p:txBody>
      </p:sp>
      <p:sp>
        <p:nvSpPr>
          <p:cNvPr id="69" name="Text Box 5">
            <a:extLst>
              <a:ext uri="{FF2B5EF4-FFF2-40B4-BE49-F238E27FC236}">
                <a16:creationId xmlns:a16="http://schemas.microsoft.com/office/drawing/2014/main" id="{6BA8008D-6458-AA4E-BF53-C2EE121DAE21}"/>
              </a:ext>
            </a:extLst>
          </p:cNvPr>
          <p:cNvSpPr txBox="1">
            <a:spLocks noChangeArrowheads="1"/>
          </p:cNvSpPr>
          <p:nvPr/>
        </p:nvSpPr>
        <p:spPr bwMode="auto">
          <a:xfrm>
            <a:off x="1684133" y="1091177"/>
            <a:ext cx="81930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CC0000"/>
                </a:solidFill>
                <a:latin typeface="+mn-lt"/>
              </a:rPr>
              <a:t>traceroute:</a:t>
            </a:r>
            <a:r>
              <a:rPr lang="en-US" altLang="en-US" sz="2800" dirty="0">
                <a:latin typeface="+mn-lt"/>
              </a:rPr>
              <a:t> </a:t>
            </a:r>
            <a:r>
              <a:rPr lang="en-US" altLang="en-US" sz="2800" dirty="0" err="1">
                <a:latin typeface="+mn-lt"/>
              </a:rPr>
              <a:t>gaia.cs.umass.edu</a:t>
            </a:r>
            <a:r>
              <a:rPr lang="en-US" altLang="en-US" sz="2800" dirty="0">
                <a:latin typeface="+mn-lt"/>
              </a:rPr>
              <a:t> to </a:t>
            </a:r>
            <a:r>
              <a:rPr lang="en-US" altLang="en-US" sz="2800" dirty="0" err="1">
                <a:latin typeface="+mn-lt"/>
              </a:rPr>
              <a:t>www.eurecom.fr</a:t>
            </a:r>
            <a:endParaRPr lang="en-US" altLang="en-US" sz="2800" dirty="0">
              <a:latin typeface="+mn-lt"/>
            </a:endParaRPr>
          </a:p>
        </p:txBody>
      </p:sp>
      <p:sp>
        <p:nvSpPr>
          <p:cNvPr id="71" name="Text Box 7">
            <a:extLst>
              <a:ext uri="{FF2B5EF4-FFF2-40B4-BE49-F238E27FC236}">
                <a16:creationId xmlns:a16="http://schemas.microsoft.com/office/drawing/2014/main" id="{7FD28BA9-B712-134B-86AC-CFCC39EB2664}"/>
              </a:ext>
            </a:extLst>
          </p:cNvPr>
          <p:cNvSpPr txBox="1">
            <a:spLocks noChangeArrowheads="1"/>
          </p:cNvSpPr>
          <p:nvPr/>
        </p:nvSpPr>
        <p:spPr bwMode="auto">
          <a:xfrm>
            <a:off x="5433162" y="1596610"/>
            <a:ext cx="5937250"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000" dirty="0">
                <a:solidFill>
                  <a:srgbClr val="CC0000"/>
                </a:solidFill>
                <a:latin typeface="+mn-lt"/>
              </a:rPr>
              <a:t>3 delay measurements from </a:t>
            </a:r>
          </a:p>
          <a:p>
            <a:pPr>
              <a:lnSpc>
                <a:spcPct val="85000"/>
              </a:lnSpc>
            </a:pPr>
            <a:r>
              <a:rPr lang="en-US" altLang="en-US" sz="1800" dirty="0" err="1">
                <a:solidFill>
                  <a:srgbClr val="CC0000"/>
                </a:solidFill>
                <a:latin typeface="+mn-lt"/>
              </a:rPr>
              <a:t>gaia.cs.umass.edu</a:t>
            </a:r>
            <a:r>
              <a:rPr lang="en-US" altLang="en-US" sz="1800" dirty="0">
                <a:solidFill>
                  <a:srgbClr val="CC0000"/>
                </a:solidFill>
                <a:latin typeface="+mn-lt"/>
              </a:rPr>
              <a:t> </a:t>
            </a:r>
            <a:r>
              <a:rPr lang="en-US" altLang="en-US" sz="2000" dirty="0">
                <a:solidFill>
                  <a:srgbClr val="CC0000"/>
                </a:solidFill>
                <a:latin typeface="+mn-lt"/>
              </a:rPr>
              <a:t>to </a:t>
            </a:r>
            <a:r>
              <a:rPr lang="en-US" altLang="en-US" sz="1800" dirty="0">
                <a:solidFill>
                  <a:srgbClr val="CC0000"/>
                </a:solidFill>
                <a:latin typeface="+mn-lt"/>
              </a:rPr>
              <a:t>cs-</a:t>
            </a:r>
            <a:r>
              <a:rPr lang="en-US" altLang="en-US" sz="1800" dirty="0" err="1">
                <a:solidFill>
                  <a:srgbClr val="CC0000"/>
                </a:solidFill>
                <a:latin typeface="+mn-lt"/>
              </a:rPr>
              <a:t>gw.cs.umass.edu</a:t>
            </a:r>
            <a:r>
              <a:rPr lang="en-US" altLang="en-US" sz="1800" dirty="0">
                <a:solidFill>
                  <a:srgbClr val="CC0000"/>
                </a:solidFill>
                <a:latin typeface="+mn-lt"/>
              </a:rPr>
              <a:t> </a:t>
            </a:r>
            <a:endParaRPr lang="en-US" altLang="en-US" sz="2000" dirty="0">
              <a:solidFill>
                <a:srgbClr val="CC0000"/>
              </a:solidFill>
              <a:latin typeface="+mn-lt"/>
            </a:endParaRPr>
          </a:p>
        </p:txBody>
      </p:sp>
      <p:sp>
        <p:nvSpPr>
          <p:cNvPr id="72" name="Line 8">
            <a:extLst>
              <a:ext uri="{FF2B5EF4-FFF2-40B4-BE49-F238E27FC236}">
                <a16:creationId xmlns:a16="http://schemas.microsoft.com/office/drawing/2014/main" id="{F1026D73-2E6E-CF45-8EF3-ADEA186C5F6B}"/>
              </a:ext>
            </a:extLst>
          </p:cNvPr>
          <p:cNvSpPr>
            <a:spLocks noChangeShapeType="1"/>
          </p:cNvSpPr>
          <p:nvPr/>
        </p:nvSpPr>
        <p:spPr bwMode="auto">
          <a:xfrm flipV="1">
            <a:off x="4430508" y="1909915"/>
            <a:ext cx="671512" cy="412750"/>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73" name="Line 9">
            <a:extLst>
              <a:ext uri="{FF2B5EF4-FFF2-40B4-BE49-F238E27FC236}">
                <a16:creationId xmlns:a16="http://schemas.microsoft.com/office/drawing/2014/main" id="{2DB0FD1B-3421-FB44-A67B-6CAF879C898E}"/>
              </a:ext>
            </a:extLst>
          </p:cNvPr>
          <p:cNvSpPr>
            <a:spLocks noChangeShapeType="1"/>
          </p:cNvSpPr>
          <p:nvPr/>
        </p:nvSpPr>
        <p:spPr bwMode="auto">
          <a:xfrm flipV="1">
            <a:off x="4970258" y="1898803"/>
            <a:ext cx="139700" cy="404812"/>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74" name="Line 10">
            <a:extLst>
              <a:ext uri="{FF2B5EF4-FFF2-40B4-BE49-F238E27FC236}">
                <a16:creationId xmlns:a16="http://schemas.microsoft.com/office/drawing/2014/main" id="{B675A34D-78B1-1642-8329-2219BE434685}"/>
              </a:ext>
            </a:extLst>
          </p:cNvPr>
          <p:cNvSpPr>
            <a:spLocks noChangeShapeType="1"/>
          </p:cNvSpPr>
          <p:nvPr/>
        </p:nvSpPr>
        <p:spPr bwMode="auto">
          <a:xfrm flipH="1" flipV="1">
            <a:off x="5105195" y="1908328"/>
            <a:ext cx="366713" cy="390525"/>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76" name="Text Box 12">
            <a:extLst>
              <a:ext uri="{FF2B5EF4-FFF2-40B4-BE49-F238E27FC236}">
                <a16:creationId xmlns:a16="http://schemas.microsoft.com/office/drawing/2014/main" id="{417C0065-CF59-F04B-A2B4-24B98D2D9162}"/>
              </a:ext>
            </a:extLst>
          </p:cNvPr>
          <p:cNvSpPr txBox="1">
            <a:spLocks noChangeArrowheads="1"/>
          </p:cNvSpPr>
          <p:nvPr/>
        </p:nvSpPr>
        <p:spPr bwMode="auto">
          <a:xfrm>
            <a:off x="3471403" y="5464534"/>
            <a:ext cx="6286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solidFill>
                  <a:srgbClr val="CC0000"/>
                </a:solidFill>
                <a:latin typeface="+mn-lt"/>
              </a:rPr>
              <a:t>* means no response (probe lost, router not replying)</a:t>
            </a:r>
          </a:p>
        </p:txBody>
      </p:sp>
      <p:sp>
        <p:nvSpPr>
          <p:cNvPr id="77" name="Freeform 14">
            <a:extLst>
              <a:ext uri="{FF2B5EF4-FFF2-40B4-BE49-F238E27FC236}">
                <a16:creationId xmlns:a16="http://schemas.microsoft.com/office/drawing/2014/main" id="{D3347813-BBD3-9B4D-B4C4-CAF563726A82}"/>
              </a:ext>
            </a:extLst>
          </p:cNvPr>
          <p:cNvSpPr>
            <a:spLocks/>
          </p:cNvSpPr>
          <p:nvPr/>
        </p:nvSpPr>
        <p:spPr bwMode="auto">
          <a:xfrm>
            <a:off x="7051470" y="3595840"/>
            <a:ext cx="1012825" cy="246063"/>
          </a:xfrm>
          <a:custGeom>
            <a:avLst/>
            <a:gdLst>
              <a:gd name="T0" fmla="*/ 2147483647 w 638"/>
              <a:gd name="T1" fmla="*/ 0 h 155"/>
              <a:gd name="T2" fmla="*/ 2147483647 w 638"/>
              <a:gd name="T3" fmla="*/ 2147483647 h 155"/>
              <a:gd name="T4" fmla="*/ 2147483647 w 638"/>
              <a:gd name="T5" fmla="*/ 2147483647 h 155"/>
              <a:gd name="T6" fmla="*/ 2147483647 w 638"/>
              <a:gd name="T7" fmla="*/ 2147483647 h 155"/>
              <a:gd name="T8" fmla="*/ 0 w 638"/>
              <a:gd name="T9" fmla="*/ 2147483647 h 155"/>
              <a:gd name="T10" fmla="*/ 0 60000 65536"/>
              <a:gd name="T11" fmla="*/ 0 60000 65536"/>
              <a:gd name="T12" fmla="*/ 0 60000 65536"/>
              <a:gd name="T13" fmla="*/ 0 60000 65536"/>
              <a:gd name="T14" fmla="*/ 0 60000 65536"/>
              <a:gd name="T15" fmla="*/ 0 w 638"/>
              <a:gd name="T16" fmla="*/ 0 h 155"/>
              <a:gd name="T17" fmla="*/ 638 w 638"/>
              <a:gd name="T18" fmla="*/ 155 h 155"/>
            </a:gdLst>
            <a:ahLst/>
            <a:cxnLst>
              <a:cxn ang="T10">
                <a:pos x="T0" y="T1"/>
              </a:cxn>
              <a:cxn ang="T11">
                <a:pos x="T2" y="T3"/>
              </a:cxn>
              <a:cxn ang="T12">
                <a:pos x="T4" y="T5"/>
              </a:cxn>
              <a:cxn ang="T13">
                <a:pos x="T6" y="T7"/>
              </a:cxn>
              <a:cxn ang="T14">
                <a:pos x="T8" y="T9"/>
              </a:cxn>
            </a:cxnLst>
            <a:rect l="T15" t="T16" r="T17" b="T18"/>
            <a:pathLst>
              <a:path w="638" h="155">
                <a:moveTo>
                  <a:pt x="593" y="0"/>
                </a:moveTo>
                <a:cubicBezTo>
                  <a:pt x="607" y="9"/>
                  <a:pt x="621" y="18"/>
                  <a:pt x="623" y="38"/>
                </a:cubicBezTo>
                <a:cubicBezTo>
                  <a:pt x="625" y="58"/>
                  <a:pt x="638" y="104"/>
                  <a:pt x="608" y="123"/>
                </a:cubicBezTo>
                <a:cubicBezTo>
                  <a:pt x="578" y="142"/>
                  <a:pt x="547" y="153"/>
                  <a:pt x="446" y="154"/>
                </a:cubicBezTo>
                <a:cubicBezTo>
                  <a:pt x="345" y="155"/>
                  <a:pt x="72" y="133"/>
                  <a:pt x="0" y="130"/>
                </a:cubicBezTo>
              </a:path>
            </a:pathLst>
          </a:custGeom>
          <a:noFill/>
          <a:ln w="19050">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8" name="Text Box 15">
            <a:extLst>
              <a:ext uri="{FF2B5EF4-FFF2-40B4-BE49-F238E27FC236}">
                <a16:creationId xmlns:a16="http://schemas.microsoft.com/office/drawing/2014/main" id="{36225CEE-E8B5-D342-87EF-CF5AADE63F11}"/>
              </a:ext>
            </a:extLst>
          </p:cNvPr>
          <p:cNvSpPr txBox="1">
            <a:spLocks noChangeArrowheads="1"/>
          </p:cNvSpPr>
          <p:nvPr/>
        </p:nvSpPr>
        <p:spPr bwMode="auto">
          <a:xfrm>
            <a:off x="8096045" y="3381528"/>
            <a:ext cx="2743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solidFill>
                  <a:srgbClr val="CC0000"/>
                </a:solidFill>
                <a:latin typeface="+mn-lt"/>
              </a:rPr>
              <a:t>trans-oceanic link</a:t>
            </a:r>
          </a:p>
        </p:txBody>
      </p:sp>
      <p:sp>
        <p:nvSpPr>
          <p:cNvPr id="79" name="TextBox 1">
            <a:extLst>
              <a:ext uri="{FF2B5EF4-FFF2-40B4-BE49-F238E27FC236}">
                <a16:creationId xmlns:a16="http://schemas.microsoft.com/office/drawing/2014/main" id="{5B7BE9BA-BD29-2540-9F9F-541887F3192F}"/>
              </a:ext>
            </a:extLst>
          </p:cNvPr>
          <p:cNvSpPr txBox="1">
            <a:spLocks noChangeArrowheads="1"/>
          </p:cNvSpPr>
          <p:nvPr/>
        </p:nvSpPr>
        <p:spPr bwMode="auto">
          <a:xfrm>
            <a:off x="1704770" y="6259665"/>
            <a:ext cx="65293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 Do some traceroutes from exotic countries at </a:t>
            </a:r>
            <a:r>
              <a:rPr lang="en-US" altLang="en-US" sz="1800" dirty="0" err="1">
                <a:latin typeface="+mn-lt"/>
              </a:rPr>
              <a:t>www.traceroute.org</a:t>
            </a:r>
            <a:endParaRPr lang="en-US" altLang="en-US" sz="1800" dirty="0">
              <a:latin typeface="+mn-lt"/>
            </a:endParaRPr>
          </a:p>
        </p:txBody>
      </p:sp>
      <p:sp>
        <p:nvSpPr>
          <p:cNvPr id="16" name="Text Box 7">
            <a:extLst>
              <a:ext uri="{FF2B5EF4-FFF2-40B4-BE49-F238E27FC236}">
                <a16:creationId xmlns:a16="http://schemas.microsoft.com/office/drawing/2014/main" id="{461E9B9B-D89F-E045-903F-E4B91E6BDA2E}"/>
              </a:ext>
            </a:extLst>
          </p:cNvPr>
          <p:cNvSpPr txBox="1">
            <a:spLocks noChangeArrowheads="1"/>
          </p:cNvSpPr>
          <p:nvPr/>
        </p:nvSpPr>
        <p:spPr bwMode="auto">
          <a:xfrm>
            <a:off x="8731045" y="4088438"/>
            <a:ext cx="2743200"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000" dirty="0">
                <a:solidFill>
                  <a:srgbClr val="CC0000"/>
                </a:solidFill>
                <a:latin typeface="+mn-lt"/>
              </a:rPr>
              <a:t>looks like delays </a:t>
            </a:r>
            <a:r>
              <a:rPr lang="en-US" altLang="en-US" sz="2000" i="1" dirty="0">
                <a:solidFill>
                  <a:srgbClr val="CC0000"/>
                </a:solidFill>
                <a:latin typeface="+mn-lt"/>
              </a:rPr>
              <a:t>decrease</a:t>
            </a:r>
            <a:r>
              <a:rPr lang="en-US" altLang="en-US" sz="2000" dirty="0">
                <a:solidFill>
                  <a:srgbClr val="CC0000"/>
                </a:solidFill>
                <a:latin typeface="+mn-lt"/>
              </a:rPr>
              <a:t>! Why?</a:t>
            </a:r>
          </a:p>
        </p:txBody>
      </p:sp>
      <p:sp>
        <p:nvSpPr>
          <p:cNvPr id="19" name="Text Box 7">
            <a:extLst>
              <a:ext uri="{FF2B5EF4-FFF2-40B4-BE49-F238E27FC236}">
                <a16:creationId xmlns:a16="http://schemas.microsoft.com/office/drawing/2014/main" id="{3C3101AA-04AC-604D-B1DD-586ADCDA2471}"/>
              </a:ext>
            </a:extLst>
          </p:cNvPr>
          <p:cNvSpPr txBox="1">
            <a:spLocks noChangeArrowheads="1"/>
          </p:cNvSpPr>
          <p:nvPr/>
        </p:nvSpPr>
        <p:spPr bwMode="auto">
          <a:xfrm>
            <a:off x="8179566" y="2305498"/>
            <a:ext cx="4086092"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000" dirty="0">
                <a:solidFill>
                  <a:srgbClr val="CC0000"/>
                </a:solidFill>
                <a:latin typeface="+mn-lt"/>
              </a:rPr>
              <a:t>3 delay measurements</a:t>
            </a:r>
          </a:p>
          <a:p>
            <a:pPr>
              <a:lnSpc>
                <a:spcPct val="85000"/>
              </a:lnSpc>
            </a:pPr>
            <a:r>
              <a:rPr lang="en-US" altLang="en-US" sz="2000" dirty="0">
                <a:solidFill>
                  <a:srgbClr val="CC0000"/>
                </a:solidFill>
                <a:latin typeface="+mn-lt"/>
              </a:rPr>
              <a:t>to </a:t>
            </a:r>
            <a:r>
              <a:rPr lang="en-US" altLang="en-US" sz="1800" dirty="0">
                <a:solidFill>
                  <a:srgbClr val="CC0000"/>
                </a:solidFill>
                <a:latin typeface="+mn-lt"/>
              </a:rPr>
              <a:t>border1-rt-fa5-1-0.gw.umass.edu </a:t>
            </a:r>
            <a:endParaRPr lang="en-US" altLang="en-US" sz="2000" dirty="0">
              <a:solidFill>
                <a:srgbClr val="CC0000"/>
              </a:solidFill>
              <a:latin typeface="+mn-lt"/>
            </a:endParaRPr>
          </a:p>
        </p:txBody>
      </p:sp>
      <p:cxnSp>
        <p:nvCxnSpPr>
          <p:cNvPr id="4" name="Straight Arrow Connector 3">
            <a:extLst>
              <a:ext uri="{FF2B5EF4-FFF2-40B4-BE49-F238E27FC236}">
                <a16:creationId xmlns:a16="http://schemas.microsoft.com/office/drawing/2014/main" id="{30144341-821E-C445-8967-E53F584FFF2F}"/>
              </a:ext>
            </a:extLst>
          </p:cNvPr>
          <p:cNvCxnSpPr/>
          <p:nvPr/>
        </p:nvCxnSpPr>
        <p:spPr>
          <a:xfrm flipH="1">
            <a:off x="8136140" y="2591761"/>
            <a:ext cx="73896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7B545969-F2B6-3640-A5C7-754982F63617}"/>
              </a:ext>
            </a:extLst>
          </p:cNvPr>
          <p:cNvCxnSpPr/>
          <p:nvPr/>
        </p:nvCxnSpPr>
        <p:spPr>
          <a:xfrm flipH="1">
            <a:off x="8136140" y="4381712"/>
            <a:ext cx="73896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A2945742-6EAA-EB4A-8286-39E218644BBB}"/>
              </a:ext>
            </a:extLst>
          </p:cNvPr>
          <p:cNvCxnSpPr>
            <a:cxnSpLocks/>
          </p:cNvCxnSpPr>
          <p:nvPr/>
        </p:nvCxnSpPr>
        <p:spPr>
          <a:xfrm flipH="1">
            <a:off x="2464209" y="5590849"/>
            <a:ext cx="1007194"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156CE76B-0913-694C-A88F-94E62A67C5D4}"/>
              </a:ext>
            </a:extLst>
          </p:cNvPr>
          <p:cNvCxnSpPr>
            <a:cxnSpLocks/>
          </p:cNvCxnSpPr>
          <p:nvPr/>
        </p:nvCxnSpPr>
        <p:spPr>
          <a:xfrm flipH="1">
            <a:off x="5102020" y="1908328"/>
            <a:ext cx="512012"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705537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 name="Group 108">
            <a:extLst>
              <a:ext uri="{FF2B5EF4-FFF2-40B4-BE49-F238E27FC236}">
                <a16:creationId xmlns:a16="http://schemas.microsoft.com/office/drawing/2014/main" id="{9DE51A5F-3BFD-AA45-9015-FA67A9068CEF}"/>
              </a:ext>
            </a:extLst>
          </p:cNvPr>
          <p:cNvGrpSpPr/>
          <p:nvPr/>
        </p:nvGrpSpPr>
        <p:grpSpPr>
          <a:xfrm>
            <a:off x="4551470" y="4236503"/>
            <a:ext cx="1463604" cy="737240"/>
            <a:chOff x="7493876" y="2774731"/>
            <a:chExt cx="1481958" cy="894622"/>
          </a:xfrm>
        </p:grpSpPr>
        <p:sp>
          <p:nvSpPr>
            <p:cNvPr id="110" name="Freeform 109">
              <a:extLst>
                <a:ext uri="{FF2B5EF4-FFF2-40B4-BE49-F238E27FC236}">
                  <a16:creationId xmlns:a16="http://schemas.microsoft.com/office/drawing/2014/main" id="{15FA248B-2934-6745-9856-5AF3D55755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11" name="Oval 110">
              <a:extLst>
                <a:ext uri="{FF2B5EF4-FFF2-40B4-BE49-F238E27FC236}">
                  <a16:creationId xmlns:a16="http://schemas.microsoft.com/office/drawing/2014/main" id="{D4C2270C-F816-EB48-8C45-11D133A7515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112" name="Group 111">
              <a:extLst>
                <a:ext uri="{FF2B5EF4-FFF2-40B4-BE49-F238E27FC236}">
                  <a16:creationId xmlns:a16="http://schemas.microsoft.com/office/drawing/2014/main" id="{92D75490-DBD7-CD4E-9507-13309C8F3DFD}"/>
                </a:ext>
              </a:extLst>
            </p:cNvPr>
            <p:cNvGrpSpPr/>
            <p:nvPr/>
          </p:nvGrpSpPr>
          <p:grpSpPr>
            <a:xfrm>
              <a:off x="7713663" y="2848339"/>
              <a:ext cx="1042107" cy="425543"/>
              <a:chOff x="7786941" y="2884917"/>
              <a:chExt cx="897649" cy="353919"/>
            </a:xfrm>
          </p:grpSpPr>
          <p:sp>
            <p:nvSpPr>
              <p:cNvPr id="113" name="Freeform 112">
                <a:extLst>
                  <a:ext uri="{FF2B5EF4-FFF2-40B4-BE49-F238E27FC236}">
                    <a16:creationId xmlns:a16="http://schemas.microsoft.com/office/drawing/2014/main" id="{908415A0-8A5C-1A4E-8070-093DC0E97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113">
                <a:extLst>
                  <a:ext uri="{FF2B5EF4-FFF2-40B4-BE49-F238E27FC236}">
                    <a16:creationId xmlns:a16="http://schemas.microsoft.com/office/drawing/2014/main" id="{53DC1CB9-E35D-8A47-96B9-69E6D0AB98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114">
                <a:extLst>
                  <a:ext uri="{FF2B5EF4-FFF2-40B4-BE49-F238E27FC236}">
                    <a16:creationId xmlns:a16="http://schemas.microsoft.com/office/drawing/2014/main" id="{FB05914E-C150-9A4F-87FB-EFF6CABA3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115">
                <a:extLst>
                  <a:ext uri="{FF2B5EF4-FFF2-40B4-BE49-F238E27FC236}">
                    <a16:creationId xmlns:a16="http://schemas.microsoft.com/office/drawing/2014/main" id="{3C399649-B712-6449-9877-189E4033C1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Packet loss</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78</a:t>
            </a:fld>
            <a:endParaRPr lang="en-US" dirty="0"/>
          </a:p>
        </p:txBody>
      </p:sp>
      <p:sp>
        <p:nvSpPr>
          <p:cNvPr id="17" name="Rectangle 3">
            <a:extLst>
              <a:ext uri="{FF2B5EF4-FFF2-40B4-BE49-F238E27FC236}">
                <a16:creationId xmlns:a16="http://schemas.microsoft.com/office/drawing/2014/main" id="{266CA32C-7D96-1F42-88EE-0CD26A415F37}"/>
              </a:ext>
            </a:extLst>
          </p:cNvPr>
          <p:cNvSpPr txBox="1">
            <a:spLocks noChangeArrowheads="1"/>
          </p:cNvSpPr>
          <p:nvPr/>
        </p:nvSpPr>
        <p:spPr>
          <a:xfrm>
            <a:off x="975618" y="1391460"/>
            <a:ext cx="10214897" cy="7193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ea typeface="ＭＳ Ｐゴシック" panose="020B0600070205080204" pitchFamily="34" charset="-128"/>
              </a:rPr>
              <a:t>queue (aka buffer) preceding link in buffer has finite capacity</a:t>
            </a:r>
          </a:p>
        </p:txBody>
      </p:sp>
      <p:sp>
        <p:nvSpPr>
          <p:cNvPr id="79" name="Rectangle 7">
            <a:extLst>
              <a:ext uri="{FF2B5EF4-FFF2-40B4-BE49-F238E27FC236}">
                <a16:creationId xmlns:a16="http://schemas.microsoft.com/office/drawing/2014/main" id="{56569F92-5AAD-9F40-A054-24753CD827F9}"/>
              </a:ext>
            </a:extLst>
          </p:cNvPr>
          <p:cNvSpPr>
            <a:spLocks noChangeArrowheads="1"/>
          </p:cNvSpPr>
          <p:nvPr/>
        </p:nvSpPr>
        <p:spPr bwMode="auto">
          <a:xfrm>
            <a:off x="4638675" y="4485753"/>
            <a:ext cx="1198563" cy="263525"/>
          </a:xfrm>
          <a:prstGeom prst="rect">
            <a:avLst/>
          </a:prstGeom>
          <a:solidFill>
            <a:srgbClr val="CCCCFF"/>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0" name="Line 23">
            <a:extLst>
              <a:ext uri="{FF2B5EF4-FFF2-40B4-BE49-F238E27FC236}">
                <a16:creationId xmlns:a16="http://schemas.microsoft.com/office/drawing/2014/main" id="{18F6CFB2-B4C3-FF4C-8EBD-C6BA5187D1C7}"/>
              </a:ext>
            </a:extLst>
          </p:cNvPr>
          <p:cNvSpPr>
            <a:spLocks noChangeShapeType="1"/>
          </p:cNvSpPr>
          <p:nvPr/>
        </p:nvSpPr>
        <p:spPr bwMode="auto">
          <a:xfrm>
            <a:off x="3946525" y="4252390"/>
            <a:ext cx="698500" cy="333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1" name="Line 24">
            <a:extLst>
              <a:ext uri="{FF2B5EF4-FFF2-40B4-BE49-F238E27FC236}">
                <a16:creationId xmlns:a16="http://schemas.microsoft.com/office/drawing/2014/main" id="{F58C5444-79DC-A048-A0CF-7240C0E242C2}"/>
              </a:ext>
            </a:extLst>
          </p:cNvPr>
          <p:cNvSpPr>
            <a:spLocks noChangeShapeType="1"/>
          </p:cNvSpPr>
          <p:nvPr/>
        </p:nvSpPr>
        <p:spPr bwMode="auto">
          <a:xfrm flipV="1">
            <a:off x="4235450" y="4646090"/>
            <a:ext cx="411163" cy="5254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2" name="Line 25">
            <a:extLst>
              <a:ext uri="{FF2B5EF4-FFF2-40B4-BE49-F238E27FC236}">
                <a16:creationId xmlns:a16="http://schemas.microsoft.com/office/drawing/2014/main" id="{EFEEAE34-B698-3F47-9A0D-006ECF3EC594}"/>
              </a:ext>
            </a:extLst>
          </p:cNvPr>
          <p:cNvSpPr>
            <a:spLocks noChangeShapeType="1"/>
          </p:cNvSpPr>
          <p:nvPr/>
        </p:nvSpPr>
        <p:spPr bwMode="auto">
          <a:xfrm>
            <a:off x="5832475" y="4649265"/>
            <a:ext cx="1933575" cy="952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3" name="Rectangle 28">
            <a:extLst>
              <a:ext uri="{FF2B5EF4-FFF2-40B4-BE49-F238E27FC236}">
                <a16:creationId xmlns:a16="http://schemas.microsoft.com/office/drawing/2014/main" id="{AE188F1E-1184-A64B-B5F3-5F151D6598C7}"/>
              </a:ext>
            </a:extLst>
          </p:cNvPr>
          <p:cNvSpPr>
            <a:spLocks noChangeArrowheads="1"/>
          </p:cNvSpPr>
          <p:nvPr/>
        </p:nvSpPr>
        <p:spPr bwMode="auto">
          <a:xfrm>
            <a:off x="6751638" y="4449240"/>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4" name="Rectangle 29">
            <a:extLst>
              <a:ext uri="{FF2B5EF4-FFF2-40B4-BE49-F238E27FC236}">
                <a16:creationId xmlns:a16="http://schemas.microsoft.com/office/drawing/2014/main" id="{F30C236D-7EC4-B04F-8EB6-339D16864BB3}"/>
              </a:ext>
            </a:extLst>
          </p:cNvPr>
          <p:cNvSpPr>
            <a:spLocks noChangeArrowheads="1"/>
          </p:cNvSpPr>
          <p:nvPr/>
        </p:nvSpPr>
        <p:spPr bwMode="auto">
          <a:xfrm>
            <a:off x="5499100" y="4520678"/>
            <a:ext cx="147638"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5" name="Rectangle 30">
            <a:extLst>
              <a:ext uri="{FF2B5EF4-FFF2-40B4-BE49-F238E27FC236}">
                <a16:creationId xmlns:a16="http://schemas.microsoft.com/office/drawing/2014/main" id="{B7406385-23A2-9C4F-8A53-96A85929A598}"/>
              </a:ext>
            </a:extLst>
          </p:cNvPr>
          <p:cNvSpPr>
            <a:spLocks noChangeArrowheads="1"/>
          </p:cNvSpPr>
          <p:nvPr/>
        </p:nvSpPr>
        <p:spPr bwMode="auto">
          <a:xfrm>
            <a:off x="5661025" y="4520678"/>
            <a:ext cx="147638"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8" name="Text Box 35">
            <a:extLst>
              <a:ext uri="{FF2B5EF4-FFF2-40B4-BE49-F238E27FC236}">
                <a16:creationId xmlns:a16="http://schemas.microsoft.com/office/drawing/2014/main" id="{C833E180-F225-A549-A822-0F0480D8866D}"/>
              </a:ext>
            </a:extLst>
          </p:cNvPr>
          <p:cNvSpPr txBox="1">
            <a:spLocks noChangeArrowheads="1"/>
          </p:cNvSpPr>
          <p:nvPr/>
        </p:nvSpPr>
        <p:spPr bwMode="auto">
          <a:xfrm>
            <a:off x="2963863" y="3780903"/>
            <a:ext cx="36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dirty="0">
                <a:solidFill>
                  <a:srgbClr val="006600"/>
                </a:solidFill>
                <a:latin typeface="+mn-lt"/>
                <a:cs typeface="Arial"/>
              </a:rPr>
              <a:t>A</a:t>
            </a:r>
          </a:p>
        </p:txBody>
      </p:sp>
      <p:sp>
        <p:nvSpPr>
          <p:cNvPr id="89" name="Text Box 36">
            <a:extLst>
              <a:ext uri="{FF2B5EF4-FFF2-40B4-BE49-F238E27FC236}">
                <a16:creationId xmlns:a16="http://schemas.microsoft.com/office/drawing/2014/main" id="{C9D7A519-A3AA-6647-941B-B03611148969}"/>
              </a:ext>
            </a:extLst>
          </p:cNvPr>
          <p:cNvSpPr txBox="1">
            <a:spLocks noChangeArrowheads="1"/>
          </p:cNvSpPr>
          <p:nvPr/>
        </p:nvSpPr>
        <p:spPr bwMode="auto">
          <a:xfrm>
            <a:off x="3284538" y="4766740"/>
            <a:ext cx="3513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dirty="0">
                <a:solidFill>
                  <a:srgbClr val="000099"/>
                </a:solidFill>
                <a:latin typeface="+mn-lt"/>
                <a:cs typeface="Arial"/>
              </a:rPr>
              <a:t>B</a:t>
            </a:r>
          </a:p>
        </p:txBody>
      </p:sp>
      <p:sp>
        <p:nvSpPr>
          <p:cNvPr id="90" name="Text Box 40">
            <a:extLst>
              <a:ext uri="{FF2B5EF4-FFF2-40B4-BE49-F238E27FC236}">
                <a16:creationId xmlns:a16="http://schemas.microsoft.com/office/drawing/2014/main" id="{57B3723E-06BE-9E4B-B5FD-DB428178AC75}"/>
              </a:ext>
            </a:extLst>
          </p:cNvPr>
          <p:cNvSpPr txBox="1">
            <a:spLocks noChangeArrowheads="1"/>
          </p:cNvSpPr>
          <p:nvPr/>
        </p:nvSpPr>
        <p:spPr bwMode="auto">
          <a:xfrm>
            <a:off x="6311900" y="3690415"/>
            <a:ext cx="2790700" cy="344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0000"/>
              </a:lnSpc>
              <a:spcBef>
                <a:spcPct val="0"/>
              </a:spcBef>
              <a:spcAft>
                <a:spcPct val="0"/>
              </a:spcAft>
            </a:pPr>
            <a:r>
              <a:rPr lang="en-US" altLang="en-US" sz="2000" dirty="0">
                <a:solidFill>
                  <a:srgbClr val="CC0000"/>
                </a:solidFill>
                <a:latin typeface="Calibri" panose="020F0502020204030204" pitchFamily="34" charset="0"/>
                <a:cs typeface="Calibri" panose="020F0502020204030204" pitchFamily="34" charset="0"/>
              </a:rPr>
              <a:t>packet being transmitted</a:t>
            </a:r>
          </a:p>
        </p:txBody>
      </p:sp>
      <p:sp>
        <p:nvSpPr>
          <p:cNvPr id="91" name="Line 41">
            <a:extLst>
              <a:ext uri="{FF2B5EF4-FFF2-40B4-BE49-F238E27FC236}">
                <a16:creationId xmlns:a16="http://schemas.microsoft.com/office/drawing/2014/main" id="{B860767E-6CC8-4645-AC66-7ECC72234871}"/>
              </a:ext>
            </a:extLst>
          </p:cNvPr>
          <p:cNvSpPr>
            <a:spLocks noChangeShapeType="1"/>
          </p:cNvSpPr>
          <p:nvPr/>
        </p:nvSpPr>
        <p:spPr bwMode="auto">
          <a:xfrm rot="10800000" flipV="1">
            <a:off x="5875338" y="3982515"/>
            <a:ext cx="681037" cy="56515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pPr>
            <a:endParaRPr lang="en-US" sz="2400">
              <a:solidFill>
                <a:srgbClr val="000000"/>
              </a:solidFill>
              <a:latin typeface="Arial" panose="020B0604020202020204" pitchFamily="34" charset="0"/>
              <a:ea typeface="ＭＳ Ｐゴシック" panose="020B0600070205080204" pitchFamily="34" charset="-128"/>
              <a:cs typeface="Arial"/>
            </a:endParaRPr>
          </a:p>
        </p:txBody>
      </p:sp>
      <p:sp>
        <p:nvSpPr>
          <p:cNvPr id="92" name="Rectangle 56">
            <a:extLst>
              <a:ext uri="{FF2B5EF4-FFF2-40B4-BE49-F238E27FC236}">
                <a16:creationId xmlns:a16="http://schemas.microsoft.com/office/drawing/2014/main" id="{E3AED2F6-EFE4-C14B-9BB5-4F182D4B0824}"/>
              </a:ext>
            </a:extLst>
          </p:cNvPr>
          <p:cNvSpPr>
            <a:spLocks noChangeArrowheads="1"/>
          </p:cNvSpPr>
          <p:nvPr/>
        </p:nvSpPr>
        <p:spPr bwMode="auto">
          <a:xfrm>
            <a:off x="5335588" y="4519090"/>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3" name="Rectangle 57">
            <a:extLst>
              <a:ext uri="{FF2B5EF4-FFF2-40B4-BE49-F238E27FC236}">
                <a16:creationId xmlns:a16="http://schemas.microsoft.com/office/drawing/2014/main" id="{29DF6AAC-1EDB-6E49-9208-EAB393D336F5}"/>
              </a:ext>
            </a:extLst>
          </p:cNvPr>
          <p:cNvSpPr>
            <a:spLocks noChangeArrowheads="1"/>
          </p:cNvSpPr>
          <p:nvPr/>
        </p:nvSpPr>
        <p:spPr bwMode="auto">
          <a:xfrm>
            <a:off x="5173663" y="452226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4" name="Rectangle 58">
            <a:extLst>
              <a:ext uri="{FF2B5EF4-FFF2-40B4-BE49-F238E27FC236}">
                <a16:creationId xmlns:a16="http://schemas.microsoft.com/office/drawing/2014/main" id="{07A9771F-08E4-EC45-A210-A58888CED4ED}"/>
              </a:ext>
            </a:extLst>
          </p:cNvPr>
          <p:cNvSpPr>
            <a:spLocks noChangeArrowheads="1"/>
          </p:cNvSpPr>
          <p:nvPr/>
        </p:nvSpPr>
        <p:spPr bwMode="auto">
          <a:xfrm>
            <a:off x="5008563" y="4519090"/>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5" name="Rectangle 59">
            <a:extLst>
              <a:ext uri="{FF2B5EF4-FFF2-40B4-BE49-F238E27FC236}">
                <a16:creationId xmlns:a16="http://schemas.microsoft.com/office/drawing/2014/main" id="{086BD240-8D3B-8946-8C05-8A6C5C278ABF}"/>
              </a:ext>
            </a:extLst>
          </p:cNvPr>
          <p:cNvSpPr>
            <a:spLocks noChangeArrowheads="1"/>
          </p:cNvSpPr>
          <p:nvPr/>
        </p:nvSpPr>
        <p:spPr bwMode="auto">
          <a:xfrm>
            <a:off x="4845050" y="4519090"/>
            <a:ext cx="147638"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6" name="Rectangle 61">
            <a:extLst>
              <a:ext uri="{FF2B5EF4-FFF2-40B4-BE49-F238E27FC236}">
                <a16:creationId xmlns:a16="http://schemas.microsoft.com/office/drawing/2014/main" id="{84D69E10-50C6-F34A-B4EE-565277C45E7E}"/>
              </a:ext>
            </a:extLst>
          </p:cNvPr>
          <p:cNvSpPr>
            <a:spLocks noChangeArrowheads="1"/>
          </p:cNvSpPr>
          <p:nvPr/>
        </p:nvSpPr>
        <p:spPr bwMode="auto">
          <a:xfrm>
            <a:off x="4679950" y="4520678"/>
            <a:ext cx="147638"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7" name="Rectangle 62">
            <a:extLst>
              <a:ext uri="{FF2B5EF4-FFF2-40B4-BE49-F238E27FC236}">
                <a16:creationId xmlns:a16="http://schemas.microsoft.com/office/drawing/2014/main" id="{75F2BC7C-9881-3742-BAF2-C9ADF04CDFBA}"/>
              </a:ext>
            </a:extLst>
          </p:cNvPr>
          <p:cNvSpPr>
            <a:spLocks noChangeArrowheads="1"/>
          </p:cNvSpPr>
          <p:nvPr/>
        </p:nvSpPr>
        <p:spPr bwMode="auto">
          <a:xfrm>
            <a:off x="4651375" y="4496865"/>
            <a:ext cx="1171575" cy="24288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100" name="Text Box 65">
            <a:extLst>
              <a:ext uri="{FF2B5EF4-FFF2-40B4-BE49-F238E27FC236}">
                <a16:creationId xmlns:a16="http://schemas.microsoft.com/office/drawing/2014/main" id="{2FE5E5BD-F2D9-044C-AF8E-8A3AB1A666A5}"/>
              </a:ext>
            </a:extLst>
          </p:cNvPr>
          <p:cNvSpPr txBox="1">
            <a:spLocks noChangeArrowheads="1"/>
          </p:cNvSpPr>
          <p:nvPr/>
        </p:nvSpPr>
        <p:spPr bwMode="auto">
          <a:xfrm>
            <a:off x="4499629" y="3509440"/>
            <a:ext cx="1624291"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ct val="80000"/>
              </a:lnSpc>
              <a:spcBef>
                <a:spcPct val="0"/>
              </a:spcBef>
              <a:spcAft>
                <a:spcPct val="0"/>
              </a:spcAft>
            </a:pPr>
            <a:r>
              <a:rPr lang="en-US" altLang="en-US" sz="2000" dirty="0">
                <a:solidFill>
                  <a:srgbClr val="CC0000"/>
                </a:solidFill>
                <a:latin typeface="Calibri" panose="020F0502020204030204" pitchFamily="34" charset="0"/>
                <a:cs typeface="Calibri" panose="020F0502020204030204" pitchFamily="34" charset="0"/>
              </a:rPr>
              <a:t>buffer </a:t>
            </a:r>
          </a:p>
          <a:p>
            <a:pPr algn="ctr" eaLnBrk="0" fontAlgn="base" hangingPunct="0">
              <a:lnSpc>
                <a:spcPct val="80000"/>
              </a:lnSpc>
              <a:spcBef>
                <a:spcPct val="0"/>
              </a:spcBef>
              <a:spcAft>
                <a:spcPct val="0"/>
              </a:spcAft>
            </a:pPr>
            <a:r>
              <a:rPr lang="en-US" altLang="en-US" sz="2000" dirty="0">
                <a:solidFill>
                  <a:srgbClr val="CC0000"/>
                </a:solidFill>
                <a:latin typeface="Calibri" panose="020F0502020204030204" pitchFamily="34" charset="0"/>
                <a:cs typeface="Calibri" panose="020F0502020204030204" pitchFamily="34" charset="0"/>
              </a:rPr>
              <a:t>(waiting area)</a:t>
            </a:r>
          </a:p>
        </p:txBody>
      </p:sp>
      <p:sp>
        <p:nvSpPr>
          <p:cNvPr id="101" name="Line 66">
            <a:extLst>
              <a:ext uri="{FF2B5EF4-FFF2-40B4-BE49-F238E27FC236}">
                <a16:creationId xmlns:a16="http://schemas.microsoft.com/office/drawing/2014/main" id="{F4810747-BBCA-F145-AF10-7157860AA8E6}"/>
              </a:ext>
            </a:extLst>
          </p:cNvPr>
          <p:cNvSpPr>
            <a:spLocks noChangeShapeType="1"/>
          </p:cNvSpPr>
          <p:nvPr/>
        </p:nvSpPr>
        <p:spPr bwMode="auto">
          <a:xfrm>
            <a:off x="4784725" y="4117453"/>
            <a:ext cx="0" cy="33337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400">
              <a:solidFill>
                <a:srgbClr val="000000"/>
              </a:solidFill>
              <a:latin typeface="Arial" panose="020B0604020202020204" pitchFamily="34" charset="0"/>
              <a:ea typeface="ＭＳ Ｐゴシック" panose="020B0600070205080204" pitchFamily="34" charset="-128"/>
              <a:cs typeface="Arial"/>
            </a:endParaRPr>
          </a:p>
        </p:txBody>
      </p:sp>
      <p:grpSp>
        <p:nvGrpSpPr>
          <p:cNvPr id="102" name="Group 48">
            <a:extLst>
              <a:ext uri="{FF2B5EF4-FFF2-40B4-BE49-F238E27FC236}">
                <a16:creationId xmlns:a16="http://schemas.microsoft.com/office/drawing/2014/main" id="{ABFCEC87-7465-524D-A5DC-C75187D44BB1}"/>
              </a:ext>
            </a:extLst>
          </p:cNvPr>
          <p:cNvGrpSpPr>
            <a:grpSpLocks/>
          </p:cNvGrpSpPr>
          <p:nvPr/>
        </p:nvGrpSpPr>
        <p:grpSpPr bwMode="auto">
          <a:xfrm>
            <a:off x="3140075" y="3801540"/>
            <a:ext cx="820738" cy="688975"/>
            <a:chOff x="-44" y="1473"/>
            <a:chExt cx="981" cy="1105"/>
          </a:xfrm>
        </p:grpSpPr>
        <p:pic>
          <p:nvPicPr>
            <p:cNvPr id="103" name="Picture 49" descr="desktop_computer_stylized_medium">
              <a:extLst>
                <a:ext uri="{FF2B5EF4-FFF2-40B4-BE49-F238E27FC236}">
                  <a16:creationId xmlns:a16="http://schemas.microsoft.com/office/drawing/2014/main" id="{8250C605-2170-E94B-8DB9-90219930DE8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Freeform 50">
              <a:extLst>
                <a:ext uri="{FF2B5EF4-FFF2-40B4-BE49-F238E27FC236}">
                  <a16:creationId xmlns:a16="http://schemas.microsoft.com/office/drawing/2014/main" id="{B861D779-BA88-6649-AECC-FC09FC3CADB8}"/>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105" name="Group 51">
            <a:extLst>
              <a:ext uri="{FF2B5EF4-FFF2-40B4-BE49-F238E27FC236}">
                <a16:creationId xmlns:a16="http://schemas.microsoft.com/office/drawing/2014/main" id="{C2F7650A-DE11-CA4D-8362-974E3036A08A}"/>
              </a:ext>
            </a:extLst>
          </p:cNvPr>
          <p:cNvGrpSpPr>
            <a:grpSpLocks/>
          </p:cNvGrpSpPr>
          <p:nvPr/>
        </p:nvGrpSpPr>
        <p:grpSpPr bwMode="auto">
          <a:xfrm>
            <a:off x="3468688" y="4792140"/>
            <a:ext cx="820737" cy="688975"/>
            <a:chOff x="-44" y="1473"/>
            <a:chExt cx="981" cy="1105"/>
          </a:xfrm>
        </p:grpSpPr>
        <p:pic>
          <p:nvPicPr>
            <p:cNvPr id="106" name="Picture 52" descr="desktop_computer_stylized_medium">
              <a:extLst>
                <a:ext uri="{FF2B5EF4-FFF2-40B4-BE49-F238E27FC236}">
                  <a16:creationId xmlns:a16="http://schemas.microsoft.com/office/drawing/2014/main" id="{31AB66C4-A2A2-4F4D-B6A5-CBADCEEE67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53">
              <a:extLst>
                <a:ext uri="{FF2B5EF4-FFF2-40B4-BE49-F238E27FC236}">
                  <a16:creationId xmlns:a16="http://schemas.microsoft.com/office/drawing/2014/main" id="{8CFBA43E-78F2-5846-9CDF-6F8E882EA5BA}"/>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108" name="TextBox 1">
            <a:extLst>
              <a:ext uri="{FF2B5EF4-FFF2-40B4-BE49-F238E27FC236}">
                <a16:creationId xmlns:a16="http://schemas.microsoft.com/office/drawing/2014/main" id="{23257655-BFAB-7E4B-9721-E40633712A2D}"/>
              </a:ext>
            </a:extLst>
          </p:cNvPr>
          <p:cNvSpPr txBox="1">
            <a:spLocks noChangeArrowheads="1"/>
          </p:cNvSpPr>
          <p:nvPr/>
        </p:nvSpPr>
        <p:spPr bwMode="auto">
          <a:xfrm>
            <a:off x="1250140" y="6114279"/>
            <a:ext cx="73374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1800" dirty="0">
                <a:solidFill>
                  <a:srgbClr val="000000"/>
                </a:solidFill>
                <a:latin typeface="+mn-lt"/>
                <a:cs typeface="Arial"/>
              </a:rPr>
              <a:t>* Check out the Java applet for an interactive animation on queuing and loss</a:t>
            </a:r>
          </a:p>
        </p:txBody>
      </p:sp>
      <p:grpSp>
        <p:nvGrpSpPr>
          <p:cNvPr id="4" name="Group 3">
            <a:extLst>
              <a:ext uri="{FF2B5EF4-FFF2-40B4-BE49-F238E27FC236}">
                <a16:creationId xmlns:a16="http://schemas.microsoft.com/office/drawing/2014/main" id="{C493C1C6-6FFC-4542-8569-381842BD5BB2}"/>
              </a:ext>
            </a:extLst>
          </p:cNvPr>
          <p:cNvGrpSpPr/>
          <p:nvPr/>
        </p:nvGrpSpPr>
        <p:grpSpPr>
          <a:xfrm>
            <a:off x="971989" y="1867073"/>
            <a:ext cx="10214897" cy="3871598"/>
            <a:chOff x="971989" y="1867073"/>
            <a:chExt cx="10214897" cy="3871598"/>
          </a:xfrm>
        </p:grpSpPr>
        <p:grpSp>
          <p:nvGrpSpPr>
            <p:cNvPr id="3" name="Group 2">
              <a:extLst>
                <a:ext uri="{FF2B5EF4-FFF2-40B4-BE49-F238E27FC236}">
                  <a16:creationId xmlns:a16="http://schemas.microsoft.com/office/drawing/2014/main" id="{37FB3ADB-070D-EA41-8E10-638DD4679B17}"/>
                </a:ext>
              </a:extLst>
            </p:cNvPr>
            <p:cNvGrpSpPr/>
            <p:nvPr/>
          </p:nvGrpSpPr>
          <p:grpSpPr>
            <a:xfrm>
              <a:off x="4381500" y="4714353"/>
              <a:ext cx="2873096" cy="1024318"/>
              <a:chOff x="4381500" y="4714353"/>
              <a:chExt cx="2873096" cy="1024318"/>
            </a:xfrm>
          </p:grpSpPr>
          <p:sp>
            <p:nvSpPr>
              <p:cNvPr id="86" name="Rectangle 31">
                <a:extLst>
                  <a:ext uri="{FF2B5EF4-FFF2-40B4-BE49-F238E27FC236}">
                    <a16:creationId xmlns:a16="http://schemas.microsoft.com/office/drawing/2014/main" id="{E5168849-CF99-FD4F-B6DF-2D06EA648971}"/>
                  </a:ext>
                </a:extLst>
              </p:cNvPr>
              <p:cNvSpPr>
                <a:spLocks noChangeArrowheads="1"/>
              </p:cNvSpPr>
              <p:nvPr/>
            </p:nvSpPr>
            <p:spPr bwMode="auto">
              <a:xfrm>
                <a:off x="4411663" y="4868340"/>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7" name="Line 33">
                <a:extLst>
                  <a:ext uri="{FF2B5EF4-FFF2-40B4-BE49-F238E27FC236}">
                    <a16:creationId xmlns:a16="http://schemas.microsoft.com/office/drawing/2014/main" id="{6D0E3F69-DD55-B34E-B881-C7D2F1D6A5DA}"/>
                  </a:ext>
                </a:extLst>
              </p:cNvPr>
              <p:cNvSpPr>
                <a:spLocks noChangeShapeType="1"/>
              </p:cNvSpPr>
              <p:nvPr/>
            </p:nvSpPr>
            <p:spPr bwMode="auto">
              <a:xfrm flipV="1">
                <a:off x="4381500" y="4714353"/>
                <a:ext cx="106363" cy="1460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 name="Line 63">
                <a:extLst>
                  <a:ext uri="{FF2B5EF4-FFF2-40B4-BE49-F238E27FC236}">
                    <a16:creationId xmlns:a16="http://schemas.microsoft.com/office/drawing/2014/main" id="{FD41187D-B5D0-F44B-B4AF-7556A07DC14A}"/>
                  </a:ext>
                </a:extLst>
              </p:cNvPr>
              <p:cNvSpPr>
                <a:spLocks noChangeShapeType="1"/>
              </p:cNvSpPr>
              <p:nvPr/>
            </p:nvSpPr>
            <p:spPr bwMode="auto">
              <a:xfrm rot="10800000">
                <a:off x="4638675" y="4988990"/>
                <a:ext cx="687388" cy="3317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pPr>
                <a:endParaRPr lang="en-US" sz="2400">
                  <a:solidFill>
                    <a:srgbClr val="000000"/>
                  </a:solidFill>
                  <a:latin typeface="Arial" panose="020B0604020202020204" pitchFamily="34" charset="0"/>
                  <a:ea typeface="ＭＳ Ｐゴシック" panose="020B0600070205080204" pitchFamily="34" charset="-128"/>
                  <a:cs typeface="Arial"/>
                </a:endParaRPr>
              </a:p>
            </p:txBody>
          </p:sp>
          <p:sp>
            <p:nvSpPr>
              <p:cNvPr id="99" name="Text Box 64">
                <a:extLst>
                  <a:ext uri="{FF2B5EF4-FFF2-40B4-BE49-F238E27FC236}">
                    <a16:creationId xmlns:a16="http://schemas.microsoft.com/office/drawing/2014/main" id="{F2BB1DAE-AB56-8246-A3D6-8E5A69B8FF8C}"/>
                  </a:ext>
                </a:extLst>
              </p:cNvPr>
              <p:cNvSpPr txBox="1">
                <a:spLocks noChangeArrowheads="1"/>
              </p:cNvSpPr>
              <p:nvPr/>
            </p:nvSpPr>
            <p:spPr bwMode="auto">
              <a:xfrm>
                <a:off x="5254625" y="5147740"/>
                <a:ext cx="1999971"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0000"/>
                  </a:lnSpc>
                  <a:spcBef>
                    <a:spcPct val="0"/>
                  </a:spcBef>
                  <a:spcAft>
                    <a:spcPct val="0"/>
                  </a:spcAft>
                </a:pPr>
                <a:r>
                  <a:rPr lang="en-US" altLang="en-US" sz="2000" dirty="0">
                    <a:solidFill>
                      <a:srgbClr val="CC0000"/>
                    </a:solidFill>
                    <a:latin typeface="Calibri" panose="020F0502020204030204" pitchFamily="34" charset="0"/>
                    <a:cs typeface="Calibri" panose="020F0502020204030204" pitchFamily="34" charset="0"/>
                  </a:rPr>
                  <a:t>packet arriving to</a:t>
                </a:r>
              </a:p>
              <a:p>
                <a:pPr eaLnBrk="0" fontAlgn="base" hangingPunct="0">
                  <a:lnSpc>
                    <a:spcPct val="80000"/>
                  </a:lnSpc>
                  <a:spcBef>
                    <a:spcPct val="0"/>
                  </a:spcBef>
                  <a:spcAft>
                    <a:spcPct val="0"/>
                  </a:spcAft>
                </a:pPr>
                <a:r>
                  <a:rPr lang="en-US" altLang="en-US" sz="2000" dirty="0">
                    <a:solidFill>
                      <a:srgbClr val="CC0000"/>
                    </a:solidFill>
                    <a:latin typeface="Calibri" panose="020F0502020204030204" pitchFamily="34" charset="0"/>
                    <a:cs typeface="Calibri" panose="020F0502020204030204" pitchFamily="34" charset="0"/>
                  </a:rPr>
                  <a:t>full buffer is </a:t>
                </a:r>
                <a:r>
                  <a:rPr lang="en-US" altLang="en-US" sz="2000" i="1" dirty="0">
                    <a:solidFill>
                      <a:srgbClr val="CC0000"/>
                    </a:solidFill>
                    <a:latin typeface="Calibri" panose="020F0502020204030204" pitchFamily="34" charset="0"/>
                    <a:cs typeface="Calibri" panose="020F0502020204030204" pitchFamily="34" charset="0"/>
                  </a:rPr>
                  <a:t>lost</a:t>
                </a:r>
              </a:p>
            </p:txBody>
          </p:sp>
        </p:grpSp>
        <p:sp>
          <p:nvSpPr>
            <p:cNvPr id="43" name="Rectangle 3">
              <a:extLst>
                <a:ext uri="{FF2B5EF4-FFF2-40B4-BE49-F238E27FC236}">
                  <a16:creationId xmlns:a16="http://schemas.microsoft.com/office/drawing/2014/main" id="{54211E9D-8A8E-BF41-BDEC-889453887B75}"/>
                </a:ext>
              </a:extLst>
            </p:cNvPr>
            <p:cNvSpPr txBox="1">
              <a:spLocks noChangeArrowheads="1"/>
            </p:cNvSpPr>
            <p:nvPr/>
          </p:nvSpPr>
          <p:spPr>
            <a:xfrm>
              <a:off x="971989" y="1867073"/>
              <a:ext cx="10214897" cy="21179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ea typeface="ＭＳ Ｐゴシック" panose="020B0600070205080204" pitchFamily="34" charset="-128"/>
                </a:rPr>
                <a:t>packet arriving to full queue dropped (aka lost)</a:t>
              </a:r>
            </a:p>
            <a:p>
              <a:pPr marL="287338" indent="-287338"/>
              <a:r>
                <a:rPr lang="en-US" altLang="en-US" dirty="0">
                  <a:ea typeface="ＭＳ Ｐゴシック" panose="020B0600070205080204" pitchFamily="34" charset="-128"/>
                </a:rPr>
                <a:t>lost packet may be retransmitted by previous node, by source end system, or not at all</a:t>
              </a:r>
            </a:p>
          </p:txBody>
        </p:sp>
      </p:grpSp>
    </p:spTree>
    <p:extLst>
      <p:ext uri="{BB962C8B-B14F-4D97-AF65-F5344CB8AC3E}">
        <p14:creationId xmlns:p14="http://schemas.microsoft.com/office/powerpoint/2010/main" val="3591812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 name="Line 321">
            <a:extLst>
              <a:ext uri="{FF2B5EF4-FFF2-40B4-BE49-F238E27FC236}">
                <a16:creationId xmlns:a16="http://schemas.microsoft.com/office/drawing/2014/main" id="{3126CBA0-B637-EA43-AF7F-E011318DF501}"/>
              </a:ext>
            </a:extLst>
          </p:cNvPr>
          <p:cNvSpPr>
            <a:spLocks noChangeShapeType="1"/>
          </p:cNvSpPr>
          <p:nvPr/>
        </p:nvSpPr>
        <p:spPr bwMode="auto">
          <a:xfrm>
            <a:off x="3004779" y="4480629"/>
            <a:ext cx="63166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07" name="Group 306">
            <a:extLst>
              <a:ext uri="{FF2B5EF4-FFF2-40B4-BE49-F238E27FC236}">
                <a16:creationId xmlns:a16="http://schemas.microsoft.com/office/drawing/2014/main" id="{9E117FAC-DD71-2841-B7A4-CC7377DD9672}"/>
              </a:ext>
            </a:extLst>
          </p:cNvPr>
          <p:cNvGrpSpPr/>
          <p:nvPr/>
        </p:nvGrpSpPr>
        <p:grpSpPr>
          <a:xfrm>
            <a:off x="4551470" y="4103771"/>
            <a:ext cx="1463604" cy="737240"/>
            <a:chOff x="7493876" y="2774731"/>
            <a:chExt cx="1481958" cy="894622"/>
          </a:xfrm>
        </p:grpSpPr>
        <p:sp>
          <p:nvSpPr>
            <p:cNvPr id="308" name="Freeform 307">
              <a:extLst>
                <a:ext uri="{FF2B5EF4-FFF2-40B4-BE49-F238E27FC236}">
                  <a16:creationId xmlns:a16="http://schemas.microsoft.com/office/drawing/2014/main" id="{8BB48DB0-8C5D-004F-B9CE-3206F91F8A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09" name="Oval 308">
              <a:extLst>
                <a:ext uri="{FF2B5EF4-FFF2-40B4-BE49-F238E27FC236}">
                  <a16:creationId xmlns:a16="http://schemas.microsoft.com/office/drawing/2014/main" id="{ED05AE36-8F36-F942-94A6-2BA819CD30A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10" name="Group 309">
              <a:extLst>
                <a:ext uri="{FF2B5EF4-FFF2-40B4-BE49-F238E27FC236}">
                  <a16:creationId xmlns:a16="http://schemas.microsoft.com/office/drawing/2014/main" id="{7A4729A4-A1F6-DF49-A60A-44BF1ECD7351}"/>
                </a:ext>
              </a:extLst>
            </p:cNvPr>
            <p:cNvGrpSpPr/>
            <p:nvPr/>
          </p:nvGrpSpPr>
          <p:grpSpPr>
            <a:xfrm>
              <a:off x="7713663" y="2848339"/>
              <a:ext cx="1042107" cy="425543"/>
              <a:chOff x="7786941" y="2884917"/>
              <a:chExt cx="897649" cy="353919"/>
            </a:xfrm>
          </p:grpSpPr>
          <p:sp>
            <p:nvSpPr>
              <p:cNvPr id="311" name="Freeform 310">
                <a:extLst>
                  <a:ext uri="{FF2B5EF4-FFF2-40B4-BE49-F238E27FC236}">
                    <a16:creationId xmlns:a16="http://schemas.microsoft.com/office/drawing/2014/main" id="{40897A26-02AE-B342-8B9D-CC1606C29E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Freeform 311">
                <a:extLst>
                  <a:ext uri="{FF2B5EF4-FFF2-40B4-BE49-F238E27FC236}">
                    <a16:creationId xmlns:a16="http://schemas.microsoft.com/office/drawing/2014/main" id="{5AD51D90-0DBF-5941-A195-23707A53FCE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Freeform 312">
                <a:extLst>
                  <a:ext uri="{FF2B5EF4-FFF2-40B4-BE49-F238E27FC236}">
                    <a16:creationId xmlns:a16="http://schemas.microsoft.com/office/drawing/2014/main" id="{C2FFDCAB-1FB6-B14D-887A-093D9A7A5E7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Freeform 313">
                <a:extLst>
                  <a:ext uri="{FF2B5EF4-FFF2-40B4-BE49-F238E27FC236}">
                    <a16:creationId xmlns:a16="http://schemas.microsoft.com/office/drawing/2014/main" id="{7D1F7198-65E3-1B44-8C17-E6AF9ECF4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Throughput</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79</a:t>
            </a:fld>
            <a:endParaRPr lang="en-US" dirty="0"/>
          </a:p>
        </p:txBody>
      </p:sp>
      <p:sp>
        <p:nvSpPr>
          <p:cNvPr id="43" name="Rectangle 3">
            <a:extLst>
              <a:ext uri="{FF2B5EF4-FFF2-40B4-BE49-F238E27FC236}">
                <a16:creationId xmlns:a16="http://schemas.microsoft.com/office/drawing/2014/main" id="{494751C5-3228-E445-BD01-72428A7EAB59}"/>
              </a:ext>
            </a:extLst>
          </p:cNvPr>
          <p:cNvSpPr txBox="1">
            <a:spLocks noChangeArrowheads="1"/>
          </p:cNvSpPr>
          <p:nvPr/>
        </p:nvSpPr>
        <p:spPr>
          <a:xfrm>
            <a:off x="989013" y="1359295"/>
            <a:ext cx="10973804" cy="1779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i="1" dirty="0">
                <a:solidFill>
                  <a:srgbClr val="CC0000"/>
                </a:solidFill>
                <a:ea typeface="ＭＳ Ｐゴシック" panose="020B0600070205080204" pitchFamily="34" charset="-128"/>
              </a:rPr>
              <a:t>throughput:</a:t>
            </a:r>
            <a:r>
              <a:rPr lang="en-US" altLang="en-US" dirty="0">
                <a:ea typeface="ＭＳ Ｐゴシック" panose="020B0600070205080204" pitchFamily="34" charset="-128"/>
              </a:rPr>
              <a:t> rate (bits/time unit) at which bits are being sent from sender to receiver</a:t>
            </a:r>
          </a:p>
          <a:p>
            <a:pPr marL="682625" lvl="1" indent="-225425"/>
            <a:r>
              <a:rPr lang="en-US" altLang="en-US" sz="2800" i="1" dirty="0">
                <a:solidFill>
                  <a:srgbClr val="CC0000"/>
                </a:solidFill>
                <a:ea typeface="Arial" panose="020B0604020202020204" pitchFamily="34" charset="0"/>
              </a:rPr>
              <a:t>instantaneous:</a:t>
            </a:r>
            <a:r>
              <a:rPr lang="en-US" altLang="en-US" sz="2800" dirty="0">
                <a:ea typeface="Arial" panose="020B0604020202020204" pitchFamily="34" charset="0"/>
              </a:rPr>
              <a:t> rate at given point in time</a:t>
            </a:r>
          </a:p>
          <a:p>
            <a:pPr marL="682625" lvl="1" indent="-225425"/>
            <a:r>
              <a:rPr lang="en-US" altLang="en-US" sz="2800" i="1" dirty="0">
                <a:solidFill>
                  <a:srgbClr val="CC0000"/>
                </a:solidFill>
                <a:ea typeface="Arial" panose="020B0604020202020204" pitchFamily="34" charset="0"/>
              </a:rPr>
              <a:t>average:</a:t>
            </a:r>
            <a:r>
              <a:rPr lang="en-US" altLang="en-US" sz="2800" dirty="0">
                <a:ea typeface="Arial" panose="020B0604020202020204" pitchFamily="34" charset="0"/>
              </a:rPr>
              <a:t> rate over longer period of time</a:t>
            </a:r>
          </a:p>
        </p:txBody>
      </p:sp>
      <p:sp>
        <p:nvSpPr>
          <p:cNvPr id="232" name="AutoShape 327">
            <a:extLst>
              <a:ext uri="{FF2B5EF4-FFF2-40B4-BE49-F238E27FC236}">
                <a16:creationId xmlns:a16="http://schemas.microsoft.com/office/drawing/2014/main" id="{5F173245-5658-9842-84FB-CB60E39B479B}"/>
              </a:ext>
            </a:extLst>
          </p:cNvPr>
          <p:cNvSpPr>
            <a:spLocks noChangeArrowheads="1"/>
          </p:cNvSpPr>
          <p:nvPr/>
        </p:nvSpPr>
        <p:spPr bwMode="auto">
          <a:xfrm>
            <a:off x="1980004" y="3615115"/>
            <a:ext cx="500062" cy="581025"/>
          </a:xfrm>
          <a:prstGeom prst="can">
            <a:avLst>
              <a:gd name="adj" fmla="val 23491"/>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33" name="Group 64">
            <a:extLst>
              <a:ext uri="{FF2B5EF4-FFF2-40B4-BE49-F238E27FC236}">
                <a16:creationId xmlns:a16="http://schemas.microsoft.com/office/drawing/2014/main" id="{67159F46-3967-E744-8DC9-4BF77234442F}"/>
              </a:ext>
            </a:extLst>
          </p:cNvPr>
          <p:cNvGrpSpPr>
            <a:grpSpLocks/>
          </p:cNvGrpSpPr>
          <p:nvPr/>
        </p:nvGrpSpPr>
        <p:grpSpPr bwMode="auto">
          <a:xfrm>
            <a:off x="2538054" y="4021842"/>
            <a:ext cx="352425" cy="876300"/>
            <a:chOff x="4140" y="429"/>
            <a:chExt cx="1425" cy="2396"/>
          </a:xfrm>
        </p:grpSpPr>
        <p:sp>
          <p:nvSpPr>
            <p:cNvPr id="234" name="Freeform 65">
              <a:extLst>
                <a:ext uri="{FF2B5EF4-FFF2-40B4-BE49-F238E27FC236}">
                  <a16:creationId xmlns:a16="http://schemas.microsoft.com/office/drawing/2014/main" id="{18E23374-8E41-5441-B267-3B9BBC53C6B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5" name="Rectangle 66">
              <a:extLst>
                <a:ext uri="{FF2B5EF4-FFF2-40B4-BE49-F238E27FC236}">
                  <a16:creationId xmlns:a16="http://schemas.microsoft.com/office/drawing/2014/main" id="{27E4969F-608F-ED4F-8638-18FB214A40AD}"/>
                </a:ext>
              </a:extLst>
            </p:cNvPr>
            <p:cNvSpPr>
              <a:spLocks noChangeArrowheads="1"/>
            </p:cNvSpPr>
            <p:nvPr/>
          </p:nvSpPr>
          <p:spPr bwMode="auto">
            <a:xfrm>
              <a:off x="4204" y="429"/>
              <a:ext cx="1046"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6" name="Freeform 67">
              <a:extLst>
                <a:ext uri="{FF2B5EF4-FFF2-40B4-BE49-F238E27FC236}">
                  <a16:creationId xmlns:a16="http://schemas.microsoft.com/office/drawing/2014/main" id="{846F4A49-2AF9-7341-80F3-DC7E3F14171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7" name="Freeform 68">
              <a:extLst>
                <a:ext uri="{FF2B5EF4-FFF2-40B4-BE49-F238E27FC236}">
                  <a16:creationId xmlns:a16="http://schemas.microsoft.com/office/drawing/2014/main" id="{EC71E4BE-7627-F340-B915-B497102456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8" name="Rectangle 69">
              <a:extLst>
                <a:ext uri="{FF2B5EF4-FFF2-40B4-BE49-F238E27FC236}">
                  <a16:creationId xmlns:a16="http://schemas.microsoft.com/office/drawing/2014/main" id="{39BFB098-B374-994B-AE99-4F9D17A4D828}"/>
                </a:ext>
              </a:extLst>
            </p:cNvPr>
            <p:cNvSpPr>
              <a:spLocks noChangeArrowheads="1"/>
            </p:cNvSpPr>
            <p:nvPr/>
          </p:nvSpPr>
          <p:spPr bwMode="auto">
            <a:xfrm>
              <a:off x="4211" y="694"/>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39" name="Group 70">
              <a:extLst>
                <a:ext uri="{FF2B5EF4-FFF2-40B4-BE49-F238E27FC236}">
                  <a16:creationId xmlns:a16="http://schemas.microsoft.com/office/drawing/2014/main" id="{71537DBF-21A3-7C4A-9E72-AADF2D0ED1A6}"/>
                </a:ext>
              </a:extLst>
            </p:cNvPr>
            <p:cNvGrpSpPr>
              <a:grpSpLocks/>
            </p:cNvGrpSpPr>
            <p:nvPr/>
          </p:nvGrpSpPr>
          <p:grpSpPr bwMode="auto">
            <a:xfrm>
              <a:off x="4749" y="668"/>
              <a:ext cx="581" cy="145"/>
              <a:chOff x="614" y="2568"/>
              <a:chExt cx="725" cy="139"/>
            </a:xfrm>
          </p:grpSpPr>
          <p:sp>
            <p:nvSpPr>
              <p:cNvPr id="264" name="AutoShape 71">
                <a:extLst>
                  <a:ext uri="{FF2B5EF4-FFF2-40B4-BE49-F238E27FC236}">
                    <a16:creationId xmlns:a16="http://schemas.microsoft.com/office/drawing/2014/main" id="{66BF3AD7-2A1F-894F-AB3E-2B0CE27C8AD7}"/>
                  </a:ext>
                </a:extLst>
              </p:cNvPr>
              <p:cNvSpPr>
                <a:spLocks noChangeArrowheads="1"/>
              </p:cNvSpPr>
              <p:nvPr/>
            </p:nvSpPr>
            <p:spPr bwMode="auto">
              <a:xfrm>
                <a:off x="615" y="2568"/>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5" name="AutoShape 72">
                <a:extLst>
                  <a:ext uri="{FF2B5EF4-FFF2-40B4-BE49-F238E27FC236}">
                    <a16:creationId xmlns:a16="http://schemas.microsoft.com/office/drawing/2014/main" id="{B978B677-CCD4-A441-ACE5-4B37776C7AB3}"/>
                  </a:ext>
                </a:extLst>
              </p:cNvPr>
              <p:cNvSpPr>
                <a:spLocks noChangeArrowheads="1"/>
              </p:cNvSpPr>
              <p:nvPr/>
            </p:nvSpPr>
            <p:spPr bwMode="auto">
              <a:xfrm>
                <a:off x="631" y="2584"/>
                <a:ext cx="689"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0" name="Rectangle 73">
              <a:extLst>
                <a:ext uri="{FF2B5EF4-FFF2-40B4-BE49-F238E27FC236}">
                  <a16:creationId xmlns:a16="http://schemas.microsoft.com/office/drawing/2014/main" id="{87FAAAA1-868A-A144-AF79-9ADFFCEF3D67}"/>
                </a:ext>
              </a:extLst>
            </p:cNvPr>
            <p:cNvSpPr>
              <a:spLocks noChangeArrowheads="1"/>
            </p:cNvSpPr>
            <p:nvPr/>
          </p:nvSpPr>
          <p:spPr bwMode="auto">
            <a:xfrm>
              <a:off x="4223" y="1019"/>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41" name="Group 74">
              <a:extLst>
                <a:ext uri="{FF2B5EF4-FFF2-40B4-BE49-F238E27FC236}">
                  <a16:creationId xmlns:a16="http://schemas.microsoft.com/office/drawing/2014/main" id="{CDE6DCC7-0A8B-2541-8C76-B2190F25D240}"/>
                </a:ext>
              </a:extLst>
            </p:cNvPr>
            <p:cNvGrpSpPr>
              <a:grpSpLocks/>
            </p:cNvGrpSpPr>
            <p:nvPr/>
          </p:nvGrpSpPr>
          <p:grpSpPr bwMode="auto">
            <a:xfrm>
              <a:off x="4747" y="994"/>
              <a:ext cx="581" cy="134"/>
              <a:chOff x="614" y="2568"/>
              <a:chExt cx="725" cy="139"/>
            </a:xfrm>
          </p:grpSpPr>
          <p:sp>
            <p:nvSpPr>
              <p:cNvPr id="262" name="AutoShape 75">
                <a:extLst>
                  <a:ext uri="{FF2B5EF4-FFF2-40B4-BE49-F238E27FC236}">
                    <a16:creationId xmlns:a16="http://schemas.microsoft.com/office/drawing/2014/main" id="{6D9E7A58-B5A8-C440-B788-66B9572452B0}"/>
                  </a:ext>
                </a:extLst>
              </p:cNvPr>
              <p:cNvSpPr>
                <a:spLocks noChangeArrowheads="1"/>
              </p:cNvSpPr>
              <p:nvPr/>
            </p:nvSpPr>
            <p:spPr bwMode="auto">
              <a:xfrm>
                <a:off x="617" y="2567"/>
                <a:ext cx="721"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3" name="AutoShape 76">
                <a:extLst>
                  <a:ext uri="{FF2B5EF4-FFF2-40B4-BE49-F238E27FC236}">
                    <a16:creationId xmlns:a16="http://schemas.microsoft.com/office/drawing/2014/main" id="{81AE3D1A-686F-644D-9B4E-3E1E85407298}"/>
                  </a:ext>
                </a:extLst>
              </p:cNvPr>
              <p:cNvSpPr>
                <a:spLocks noChangeArrowheads="1"/>
              </p:cNvSpPr>
              <p:nvPr/>
            </p:nvSpPr>
            <p:spPr bwMode="auto">
              <a:xfrm>
                <a:off x="634" y="2585"/>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2" name="Rectangle 77">
              <a:extLst>
                <a:ext uri="{FF2B5EF4-FFF2-40B4-BE49-F238E27FC236}">
                  <a16:creationId xmlns:a16="http://schemas.microsoft.com/office/drawing/2014/main" id="{C9C2D902-8035-BE42-B27B-AB7485B0C4E0}"/>
                </a:ext>
              </a:extLst>
            </p:cNvPr>
            <p:cNvSpPr>
              <a:spLocks noChangeArrowheads="1"/>
            </p:cNvSpPr>
            <p:nvPr/>
          </p:nvSpPr>
          <p:spPr bwMode="auto">
            <a:xfrm>
              <a:off x="4217" y="1358"/>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43" name="Rectangle 78">
              <a:extLst>
                <a:ext uri="{FF2B5EF4-FFF2-40B4-BE49-F238E27FC236}">
                  <a16:creationId xmlns:a16="http://schemas.microsoft.com/office/drawing/2014/main" id="{5A1C3FEB-4927-F742-8C1F-5CF5556DE786}"/>
                </a:ext>
              </a:extLst>
            </p:cNvPr>
            <p:cNvSpPr>
              <a:spLocks noChangeArrowheads="1"/>
            </p:cNvSpPr>
            <p:nvPr/>
          </p:nvSpPr>
          <p:spPr bwMode="auto">
            <a:xfrm>
              <a:off x="4230" y="1653"/>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44" name="Group 79">
              <a:extLst>
                <a:ext uri="{FF2B5EF4-FFF2-40B4-BE49-F238E27FC236}">
                  <a16:creationId xmlns:a16="http://schemas.microsoft.com/office/drawing/2014/main" id="{D2A72B02-ADAB-FE44-9468-3B43E6DB3E47}"/>
                </a:ext>
              </a:extLst>
            </p:cNvPr>
            <p:cNvGrpSpPr>
              <a:grpSpLocks/>
            </p:cNvGrpSpPr>
            <p:nvPr/>
          </p:nvGrpSpPr>
          <p:grpSpPr bwMode="auto">
            <a:xfrm>
              <a:off x="4735" y="1627"/>
              <a:ext cx="582" cy="151"/>
              <a:chOff x="614" y="2568"/>
              <a:chExt cx="725" cy="139"/>
            </a:xfrm>
          </p:grpSpPr>
          <p:sp>
            <p:nvSpPr>
              <p:cNvPr id="260" name="AutoShape 80">
                <a:extLst>
                  <a:ext uri="{FF2B5EF4-FFF2-40B4-BE49-F238E27FC236}">
                    <a16:creationId xmlns:a16="http://schemas.microsoft.com/office/drawing/2014/main" id="{A1A29232-9E86-634B-8831-8B3719318AEE}"/>
                  </a:ext>
                </a:extLst>
              </p:cNvPr>
              <p:cNvSpPr>
                <a:spLocks noChangeArrowheads="1"/>
              </p:cNvSpPr>
              <p:nvPr/>
            </p:nvSpPr>
            <p:spPr bwMode="auto">
              <a:xfrm>
                <a:off x="616" y="2568"/>
                <a:ext cx="720"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1" name="AutoShape 81">
                <a:extLst>
                  <a:ext uri="{FF2B5EF4-FFF2-40B4-BE49-F238E27FC236}">
                    <a16:creationId xmlns:a16="http://schemas.microsoft.com/office/drawing/2014/main" id="{138F9F1B-5A09-C54A-8F38-4FBA6FFE45E5}"/>
                  </a:ext>
                </a:extLst>
              </p:cNvPr>
              <p:cNvSpPr>
                <a:spLocks noChangeArrowheads="1"/>
              </p:cNvSpPr>
              <p:nvPr/>
            </p:nvSpPr>
            <p:spPr bwMode="auto">
              <a:xfrm>
                <a:off x="632" y="2584"/>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5" name="Freeform 82">
              <a:extLst>
                <a:ext uri="{FF2B5EF4-FFF2-40B4-BE49-F238E27FC236}">
                  <a16:creationId xmlns:a16="http://schemas.microsoft.com/office/drawing/2014/main" id="{EDD21BCA-4123-324D-B71B-475B7D03C58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46" name="Group 83">
              <a:extLst>
                <a:ext uri="{FF2B5EF4-FFF2-40B4-BE49-F238E27FC236}">
                  <a16:creationId xmlns:a16="http://schemas.microsoft.com/office/drawing/2014/main" id="{791D1F13-E15D-3C4F-AB67-56D2965D4138}"/>
                </a:ext>
              </a:extLst>
            </p:cNvPr>
            <p:cNvGrpSpPr>
              <a:grpSpLocks/>
            </p:cNvGrpSpPr>
            <p:nvPr/>
          </p:nvGrpSpPr>
          <p:grpSpPr bwMode="auto">
            <a:xfrm>
              <a:off x="4739" y="1327"/>
              <a:ext cx="582" cy="139"/>
              <a:chOff x="614" y="2568"/>
              <a:chExt cx="725" cy="139"/>
            </a:xfrm>
          </p:grpSpPr>
          <p:sp>
            <p:nvSpPr>
              <p:cNvPr id="258" name="AutoShape 84">
                <a:extLst>
                  <a:ext uri="{FF2B5EF4-FFF2-40B4-BE49-F238E27FC236}">
                    <a16:creationId xmlns:a16="http://schemas.microsoft.com/office/drawing/2014/main" id="{13423582-B530-6D49-927C-1307226E75F4}"/>
                  </a:ext>
                </a:extLst>
              </p:cNvPr>
              <p:cNvSpPr>
                <a:spLocks noChangeArrowheads="1"/>
              </p:cNvSpPr>
              <p:nvPr/>
            </p:nvSpPr>
            <p:spPr bwMode="auto">
              <a:xfrm>
                <a:off x="611" y="2568"/>
                <a:ext cx="728"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9" name="AutoShape 85">
                <a:extLst>
                  <a:ext uri="{FF2B5EF4-FFF2-40B4-BE49-F238E27FC236}">
                    <a16:creationId xmlns:a16="http://schemas.microsoft.com/office/drawing/2014/main" id="{CC15074F-1F06-4B4F-9C77-C1CA17ACAA0E}"/>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7" name="Rectangle 86">
              <a:extLst>
                <a:ext uri="{FF2B5EF4-FFF2-40B4-BE49-F238E27FC236}">
                  <a16:creationId xmlns:a16="http://schemas.microsoft.com/office/drawing/2014/main" id="{81BB7800-4ED5-D84D-B257-C94B51DF5A14}"/>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48" name="Freeform 87">
              <a:extLst>
                <a:ext uri="{FF2B5EF4-FFF2-40B4-BE49-F238E27FC236}">
                  <a16:creationId xmlns:a16="http://schemas.microsoft.com/office/drawing/2014/main" id="{AF9C8EDC-F5CE-1A46-A494-23925A5A730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49" name="Freeform 88">
              <a:extLst>
                <a:ext uri="{FF2B5EF4-FFF2-40B4-BE49-F238E27FC236}">
                  <a16:creationId xmlns:a16="http://schemas.microsoft.com/office/drawing/2014/main" id="{0663E233-F771-A246-84D6-36A0AA5C75D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0" name="Oval 89">
              <a:extLst>
                <a:ext uri="{FF2B5EF4-FFF2-40B4-BE49-F238E27FC236}">
                  <a16:creationId xmlns:a16="http://schemas.microsoft.com/office/drawing/2014/main" id="{3F5ABDC5-D954-4D4D-A3B4-7A133CD7155B}"/>
                </a:ext>
              </a:extLst>
            </p:cNvPr>
            <p:cNvSpPr>
              <a:spLocks noChangeArrowheads="1"/>
            </p:cNvSpPr>
            <p:nvPr/>
          </p:nvSpPr>
          <p:spPr bwMode="auto">
            <a:xfrm>
              <a:off x="5520" y="2612"/>
              <a:ext cx="45"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1" name="Freeform 90">
              <a:extLst>
                <a:ext uri="{FF2B5EF4-FFF2-40B4-BE49-F238E27FC236}">
                  <a16:creationId xmlns:a16="http://schemas.microsoft.com/office/drawing/2014/main" id="{B976B037-AAAD-864E-94BA-6AFFD4E96488}"/>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2" name="AutoShape 91">
              <a:extLst>
                <a:ext uri="{FF2B5EF4-FFF2-40B4-BE49-F238E27FC236}">
                  <a16:creationId xmlns:a16="http://schemas.microsoft.com/office/drawing/2014/main" id="{F4F4A156-282A-314C-8FCF-EB151E922FCC}"/>
                </a:ext>
              </a:extLst>
            </p:cNvPr>
            <p:cNvSpPr>
              <a:spLocks noChangeArrowheads="1"/>
            </p:cNvSpPr>
            <p:nvPr/>
          </p:nvSpPr>
          <p:spPr bwMode="auto">
            <a:xfrm>
              <a:off x="4140" y="2677"/>
              <a:ext cx="1200" cy="148"/>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3" name="AutoShape 92">
              <a:extLst>
                <a:ext uri="{FF2B5EF4-FFF2-40B4-BE49-F238E27FC236}">
                  <a16:creationId xmlns:a16="http://schemas.microsoft.com/office/drawing/2014/main" id="{80AE788A-CE80-7741-B4E5-F6C880916718}"/>
                </a:ext>
              </a:extLst>
            </p:cNvPr>
            <p:cNvSpPr>
              <a:spLocks noChangeArrowheads="1"/>
            </p:cNvSpPr>
            <p:nvPr/>
          </p:nvSpPr>
          <p:spPr bwMode="auto">
            <a:xfrm>
              <a:off x="4204" y="2712"/>
              <a:ext cx="1072"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Oval 93">
              <a:extLst>
                <a:ext uri="{FF2B5EF4-FFF2-40B4-BE49-F238E27FC236}">
                  <a16:creationId xmlns:a16="http://schemas.microsoft.com/office/drawing/2014/main" id="{BB81643B-3A3A-0C41-86BE-809F30A178CC}"/>
                </a:ext>
              </a:extLst>
            </p:cNvPr>
            <p:cNvSpPr>
              <a:spLocks noChangeArrowheads="1"/>
            </p:cNvSpPr>
            <p:nvPr/>
          </p:nvSpPr>
          <p:spPr bwMode="auto">
            <a:xfrm>
              <a:off x="4307" y="2382"/>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5" name="Oval 94">
              <a:extLst>
                <a:ext uri="{FF2B5EF4-FFF2-40B4-BE49-F238E27FC236}">
                  <a16:creationId xmlns:a16="http://schemas.microsoft.com/office/drawing/2014/main" id="{0A2F6572-0039-324D-A51E-D01D404A5555}"/>
                </a:ext>
              </a:extLst>
            </p:cNvPr>
            <p:cNvSpPr>
              <a:spLocks noChangeArrowheads="1"/>
            </p:cNvSpPr>
            <p:nvPr/>
          </p:nvSpPr>
          <p:spPr bwMode="auto">
            <a:xfrm>
              <a:off x="4487" y="2382"/>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56" name="Oval 95">
              <a:extLst>
                <a:ext uri="{FF2B5EF4-FFF2-40B4-BE49-F238E27FC236}">
                  <a16:creationId xmlns:a16="http://schemas.microsoft.com/office/drawing/2014/main" id="{43600795-A6CA-4C4B-9800-07AB28F89B1F}"/>
                </a:ext>
              </a:extLst>
            </p:cNvPr>
            <p:cNvSpPr>
              <a:spLocks noChangeArrowheads="1"/>
            </p:cNvSpPr>
            <p:nvPr/>
          </p:nvSpPr>
          <p:spPr bwMode="auto">
            <a:xfrm>
              <a:off x="4660" y="2382"/>
              <a:ext cx="160"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96">
              <a:extLst>
                <a:ext uri="{FF2B5EF4-FFF2-40B4-BE49-F238E27FC236}">
                  <a16:creationId xmlns:a16="http://schemas.microsoft.com/office/drawing/2014/main" id="{32CFBA4E-295B-BF40-8717-00CE15115957}"/>
                </a:ext>
              </a:extLst>
            </p:cNvPr>
            <p:cNvSpPr>
              <a:spLocks noChangeArrowheads="1"/>
            </p:cNvSpPr>
            <p:nvPr/>
          </p:nvSpPr>
          <p:spPr bwMode="auto">
            <a:xfrm>
              <a:off x="5064" y="1835"/>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66" name="Group 61">
            <a:extLst>
              <a:ext uri="{FF2B5EF4-FFF2-40B4-BE49-F238E27FC236}">
                <a16:creationId xmlns:a16="http://schemas.microsoft.com/office/drawing/2014/main" id="{2E0D8697-E30E-C84C-9F0E-29142F2D4E67}"/>
              </a:ext>
            </a:extLst>
          </p:cNvPr>
          <p:cNvGrpSpPr>
            <a:grpSpLocks/>
          </p:cNvGrpSpPr>
          <p:nvPr/>
        </p:nvGrpSpPr>
        <p:grpSpPr bwMode="auto">
          <a:xfrm flipH="1">
            <a:off x="9843242" y="4083754"/>
            <a:ext cx="1192212" cy="1171575"/>
            <a:chOff x="-44" y="1473"/>
            <a:chExt cx="981" cy="1105"/>
          </a:xfrm>
        </p:grpSpPr>
        <p:pic>
          <p:nvPicPr>
            <p:cNvPr id="267" name="Picture 62" descr="desktop_computer_stylized_medium">
              <a:extLst>
                <a:ext uri="{FF2B5EF4-FFF2-40B4-BE49-F238E27FC236}">
                  <a16:creationId xmlns:a16="http://schemas.microsoft.com/office/drawing/2014/main" id="{85154182-D3D3-494A-8DEB-F001E6EB4B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 name="Freeform 63">
              <a:extLst>
                <a:ext uri="{FF2B5EF4-FFF2-40B4-BE49-F238E27FC236}">
                  <a16:creationId xmlns:a16="http://schemas.microsoft.com/office/drawing/2014/main" id="{E36B34F6-C549-9143-AA71-C07DF7E0B17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69" name="Text Box 325">
            <a:extLst>
              <a:ext uri="{FF2B5EF4-FFF2-40B4-BE49-F238E27FC236}">
                <a16:creationId xmlns:a16="http://schemas.microsoft.com/office/drawing/2014/main" id="{2685AEBC-A012-9B46-B78A-88C2A3D512DD}"/>
              </a:ext>
            </a:extLst>
          </p:cNvPr>
          <p:cNvSpPr txBox="1">
            <a:spLocks noChangeArrowheads="1"/>
          </p:cNvSpPr>
          <p:nvPr/>
        </p:nvSpPr>
        <p:spPr bwMode="auto">
          <a:xfrm>
            <a:off x="792820" y="5516537"/>
            <a:ext cx="2198742"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eaLnBrk="0" fontAlgn="base" hangingPunct="0">
              <a:lnSpc>
                <a:spcPct val="85000"/>
              </a:lnSpc>
              <a:spcBef>
                <a:spcPct val="0"/>
              </a:spcBef>
              <a:spcAft>
                <a:spcPct val="0"/>
              </a:spcAft>
            </a:pPr>
            <a:r>
              <a:rPr lang="en-US" altLang="en-US" dirty="0">
                <a:solidFill>
                  <a:srgbClr val="000000"/>
                </a:solidFill>
                <a:latin typeface="+mn-lt"/>
                <a:cs typeface="Arial"/>
              </a:rPr>
              <a:t>server, with</a:t>
            </a:r>
          </a:p>
          <a:p>
            <a:pPr algn="r" eaLnBrk="0" fontAlgn="base" hangingPunct="0">
              <a:lnSpc>
                <a:spcPct val="85000"/>
              </a:lnSpc>
              <a:spcBef>
                <a:spcPct val="0"/>
              </a:spcBef>
              <a:spcAft>
                <a:spcPct val="0"/>
              </a:spcAft>
            </a:pPr>
            <a:r>
              <a:rPr lang="en-US" altLang="en-US" dirty="0">
                <a:solidFill>
                  <a:srgbClr val="000000"/>
                </a:solidFill>
                <a:latin typeface="+mn-lt"/>
                <a:cs typeface="Arial"/>
              </a:rPr>
              <a:t>file of F bits </a:t>
            </a:r>
          </a:p>
          <a:p>
            <a:pPr algn="r" eaLnBrk="0" fontAlgn="base" hangingPunct="0">
              <a:lnSpc>
                <a:spcPct val="85000"/>
              </a:lnSpc>
              <a:spcBef>
                <a:spcPct val="0"/>
              </a:spcBef>
              <a:spcAft>
                <a:spcPct val="0"/>
              </a:spcAft>
            </a:pPr>
            <a:r>
              <a:rPr lang="en-US" altLang="en-US" dirty="0">
                <a:solidFill>
                  <a:srgbClr val="000000"/>
                </a:solidFill>
                <a:latin typeface="+mn-lt"/>
                <a:cs typeface="Arial"/>
              </a:rPr>
              <a:t>to send to client</a:t>
            </a:r>
          </a:p>
        </p:txBody>
      </p:sp>
      <p:sp>
        <p:nvSpPr>
          <p:cNvPr id="270" name="Text Box 328">
            <a:extLst>
              <a:ext uri="{FF2B5EF4-FFF2-40B4-BE49-F238E27FC236}">
                <a16:creationId xmlns:a16="http://schemas.microsoft.com/office/drawing/2014/main" id="{99E6BFD3-F62C-B043-9B11-0DBFC35AC6AD}"/>
              </a:ext>
            </a:extLst>
          </p:cNvPr>
          <p:cNvSpPr txBox="1">
            <a:spLocks noChangeArrowheads="1"/>
          </p:cNvSpPr>
          <p:nvPr/>
        </p:nvSpPr>
        <p:spPr bwMode="auto">
          <a:xfrm>
            <a:off x="3097926" y="4936011"/>
            <a:ext cx="1722587"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ct val="85000"/>
              </a:lnSpc>
              <a:spcBef>
                <a:spcPct val="0"/>
              </a:spcBef>
              <a:spcAft>
                <a:spcPct val="0"/>
              </a:spcAft>
            </a:pPr>
            <a:r>
              <a:rPr lang="en-US" altLang="en-US" dirty="0">
                <a:solidFill>
                  <a:srgbClr val="000000"/>
                </a:solidFill>
                <a:latin typeface="+mn-lt"/>
                <a:cs typeface="Arial"/>
              </a:rPr>
              <a:t>link capacity</a:t>
            </a:r>
          </a:p>
          <a:p>
            <a:pPr algn="ctr" eaLnBrk="0" fontAlgn="base" hangingPunct="0">
              <a:lnSpc>
                <a:spcPct val="85000"/>
              </a:lnSpc>
              <a:spcBef>
                <a:spcPct val="0"/>
              </a:spcBef>
              <a:spcAft>
                <a:spcPct val="0"/>
              </a:spcAft>
            </a:pPr>
            <a:r>
              <a:rPr lang="en-US" altLang="en-US" dirty="0">
                <a:solidFill>
                  <a:srgbClr val="000000"/>
                </a:solidFill>
                <a:latin typeface="+mn-lt"/>
                <a:cs typeface="Arial"/>
              </a:rPr>
              <a:t> R</a:t>
            </a:r>
            <a:r>
              <a:rPr lang="en-US" altLang="en-US" sz="3200" baseline="-25000" dirty="0">
                <a:solidFill>
                  <a:srgbClr val="000000"/>
                </a:solidFill>
                <a:latin typeface="+mn-lt"/>
                <a:cs typeface="Arial"/>
              </a:rPr>
              <a:t>s</a:t>
            </a:r>
            <a:r>
              <a:rPr lang="en-US" altLang="en-US" baseline="-25000" dirty="0">
                <a:solidFill>
                  <a:srgbClr val="000000"/>
                </a:solidFill>
                <a:latin typeface="+mn-lt"/>
                <a:cs typeface="Arial"/>
              </a:rPr>
              <a:t> </a:t>
            </a:r>
            <a:r>
              <a:rPr lang="en-US" altLang="en-US" dirty="0">
                <a:solidFill>
                  <a:srgbClr val="000000"/>
                </a:solidFill>
                <a:latin typeface="+mn-lt"/>
                <a:cs typeface="Arial"/>
              </a:rPr>
              <a:t>bits/sec</a:t>
            </a:r>
          </a:p>
        </p:txBody>
      </p:sp>
      <p:sp>
        <p:nvSpPr>
          <p:cNvPr id="271" name="Text Box 329">
            <a:extLst>
              <a:ext uri="{FF2B5EF4-FFF2-40B4-BE49-F238E27FC236}">
                <a16:creationId xmlns:a16="http://schemas.microsoft.com/office/drawing/2014/main" id="{A5259771-F5CC-2A4E-B736-3B818B7FD93C}"/>
              </a:ext>
            </a:extLst>
          </p:cNvPr>
          <p:cNvSpPr txBox="1">
            <a:spLocks noChangeArrowheads="1"/>
          </p:cNvSpPr>
          <p:nvPr/>
        </p:nvSpPr>
        <p:spPr bwMode="auto">
          <a:xfrm>
            <a:off x="7217773" y="4939162"/>
            <a:ext cx="1722587"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ct val="85000"/>
              </a:lnSpc>
              <a:spcBef>
                <a:spcPct val="0"/>
              </a:spcBef>
              <a:spcAft>
                <a:spcPct val="0"/>
              </a:spcAft>
            </a:pPr>
            <a:r>
              <a:rPr lang="en-US" altLang="en-US" dirty="0">
                <a:solidFill>
                  <a:srgbClr val="000000"/>
                </a:solidFill>
                <a:latin typeface="+mn-lt"/>
                <a:cs typeface="Arial"/>
              </a:rPr>
              <a:t>link capacity</a:t>
            </a:r>
          </a:p>
          <a:p>
            <a:pPr algn="ctr" eaLnBrk="0" fontAlgn="base" hangingPunct="0">
              <a:lnSpc>
                <a:spcPct val="85000"/>
              </a:lnSpc>
              <a:spcBef>
                <a:spcPct val="0"/>
              </a:spcBef>
              <a:spcAft>
                <a:spcPct val="0"/>
              </a:spcAft>
            </a:pPr>
            <a:r>
              <a:rPr lang="en-US" altLang="en-US" dirty="0">
                <a:solidFill>
                  <a:srgbClr val="000000"/>
                </a:solidFill>
                <a:latin typeface="+mn-lt"/>
                <a:cs typeface="Arial"/>
              </a:rPr>
              <a:t> </a:t>
            </a:r>
            <a:r>
              <a:rPr lang="en-US" altLang="en-US" dirty="0" err="1">
                <a:solidFill>
                  <a:srgbClr val="000000"/>
                </a:solidFill>
                <a:latin typeface="+mn-lt"/>
                <a:cs typeface="Arial"/>
              </a:rPr>
              <a:t>R</a:t>
            </a:r>
            <a:r>
              <a:rPr lang="en-US" altLang="en-US" sz="3200" baseline="-25000" dirty="0" err="1">
                <a:solidFill>
                  <a:srgbClr val="000000"/>
                </a:solidFill>
                <a:latin typeface="+mn-lt"/>
                <a:cs typeface="Arial"/>
              </a:rPr>
              <a:t>c</a:t>
            </a:r>
            <a:r>
              <a:rPr lang="en-US" altLang="en-US" baseline="-25000" dirty="0">
                <a:solidFill>
                  <a:srgbClr val="000000"/>
                </a:solidFill>
                <a:latin typeface="+mn-lt"/>
                <a:cs typeface="Arial"/>
              </a:rPr>
              <a:t> </a:t>
            </a:r>
            <a:r>
              <a:rPr lang="en-US" altLang="en-US" dirty="0">
                <a:solidFill>
                  <a:srgbClr val="000000"/>
                </a:solidFill>
                <a:latin typeface="+mn-lt"/>
                <a:cs typeface="Arial"/>
              </a:rPr>
              <a:t>bits/sec</a:t>
            </a:r>
          </a:p>
        </p:txBody>
      </p:sp>
      <p:grpSp>
        <p:nvGrpSpPr>
          <p:cNvPr id="301" name="Group 99">
            <a:extLst>
              <a:ext uri="{FF2B5EF4-FFF2-40B4-BE49-F238E27FC236}">
                <a16:creationId xmlns:a16="http://schemas.microsoft.com/office/drawing/2014/main" id="{4B6F3DA1-2A9C-2E4C-B823-1CEA5B30C4A7}"/>
              </a:ext>
            </a:extLst>
          </p:cNvPr>
          <p:cNvGrpSpPr>
            <a:grpSpLocks/>
          </p:cNvGrpSpPr>
          <p:nvPr/>
        </p:nvGrpSpPr>
        <p:grpSpPr bwMode="auto">
          <a:xfrm>
            <a:off x="644751" y="4976621"/>
            <a:ext cx="9050338" cy="1484313"/>
            <a:chOff x="-335" y="3658"/>
            <a:chExt cx="5701" cy="935"/>
          </a:xfrm>
        </p:grpSpPr>
        <p:sp>
          <p:nvSpPr>
            <p:cNvPr id="302" name="Text Box 353">
              <a:extLst>
                <a:ext uri="{FF2B5EF4-FFF2-40B4-BE49-F238E27FC236}">
                  <a16:creationId xmlns:a16="http://schemas.microsoft.com/office/drawing/2014/main" id="{07E7AB23-0BD9-F14F-9990-6EF08491E442}"/>
                </a:ext>
              </a:extLst>
            </p:cNvPr>
            <p:cNvSpPr txBox="1">
              <a:spLocks noChangeArrowheads="1"/>
            </p:cNvSpPr>
            <p:nvPr/>
          </p:nvSpPr>
          <p:spPr bwMode="auto">
            <a:xfrm>
              <a:off x="-335" y="3942"/>
              <a:ext cx="1461" cy="6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server sends bits </a:t>
              </a:r>
            </a:p>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(fluid) into pipe</a:t>
              </a:r>
            </a:p>
            <a:p>
              <a:pPr marL="0" marR="0" lvl="0" indent="0" algn="ctr" defTabSz="914400" eaLnBrk="0" fontAlgn="base" latinLnBrk="0" hangingPunct="0">
                <a:lnSpc>
                  <a:spcPct val="85000"/>
                </a:lnSpc>
                <a:spcBef>
                  <a:spcPct val="0"/>
                </a:spcBef>
                <a:spcAft>
                  <a:spcPct val="0"/>
                </a:spcAft>
                <a:buClrTx/>
                <a:buSzTx/>
                <a:buFontTx/>
                <a:buNone/>
                <a:tabLst/>
                <a:defRPr/>
              </a:pPr>
              <a:endParaRPr kumimoji="0" lang="en-US" altLang="en-US" b="0" i="0" u="none" strike="noStrike" kern="0" cap="none" spc="0" normalizeH="0" baseline="0" noProof="0" dirty="0">
                <a:ln>
                  <a:noFill/>
                </a:ln>
                <a:solidFill>
                  <a:srgbClr val="000000"/>
                </a:solidFill>
                <a:effectLst/>
                <a:uLnTx/>
                <a:uFillTx/>
                <a:latin typeface="Gill Sans MT" panose="020B0502020104020203" pitchFamily="34" charset="77"/>
                <a:ea typeface="ＭＳ Ｐゴシック" panose="020B0600070205080204" pitchFamily="34" charset="-128"/>
                <a:cs typeface="Arial"/>
              </a:endParaRPr>
            </a:p>
          </p:txBody>
        </p:sp>
        <p:sp>
          <p:nvSpPr>
            <p:cNvPr id="303" name="Text Box 336">
              <a:extLst>
                <a:ext uri="{FF2B5EF4-FFF2-40B4-BE49-F238E27FC236}">
                  <a16:creationId xmlns:a16="http://schemas.microsoft.com/office/drawing/2014/main" id="{22B4F102-0AE6-894B-9FDB-169832FE1D37}"/>
                </a:ext>
              </a:extLst>
            </p:cNvPr>
            <p:cNvSpPr txBox="1">
              <a:spLocks noChangeArrowheads="1"/>
            </p:cNvSpPr>
            <p:nvPr/>
          </p:nvSpPr>
          <p:spPr bwMode="auto">
            <a:xfrm>
              <a:off x="1089" y="3661"/>
              <a:ext cx="1769" cy="6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Gill Sans MT" panose="020B0502020104020203" pitchFamily="34" charset="77"/>
                  <a:ea typeface="ＭＳ Ｐゴシック" panose="020B0600070205080204" pitchFamily="34" charset="-128"/>
                  <a:cs typeface="Arial"/>
                </a:rPr>
                <a:t> </a:t>
              </a: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pipe that can carry</a:t>
              </a:r>
            </a:p>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fluid at rate</a:t>
              </a:r>
            </a:p>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 (</a:t>
              </a:r>
              <a:r>
                <a:rPr kumimoji="0" lang="en-US" altLang="en-US" b="0" i="1"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R</a:t>
              </a:r>
              <a:r>
                <a:rPr kumimoji="0" lang="en-US" altLang="en-US" sz="3200" b="0" i="1" u="none" strike="noStrike" kern="0" cap="none" spc="0" normalizeH="0" baseline="-25000" noProof="0" dirty="0">
                  <a:ln>
                    <a:noFill/>
                  </a:ln>
                  <a:solidFill>
                    <a:srgbClr val="000000"/>
                  </a:solidFill>
                  <a:effectLst/>
                  <a:uLnTx/>
                  <a:uFillTx/>
                  <a:latin typeface="+mn-lt"/>
                  <a:ea typeface="ＭＳ Ｐゴシック" panose="020B0600070205080204" pitchFamily="34" charset="-128"/>
                  <a:cs typeface="Arial"/>
                </a:rPr>
                <a:t>s</a:t>
              </a:r>
              <a:r>
                <a:rPr kumimoji="0" lang="en-US" altLang="en-US" b="0" i="1" u="none" strike="noStrike" kern="0" cap="none" spc="0" normalizeH="0" baseline="-25000" noProof="0" dirty="0">
                  <a:ln>
                    <a:noFill/>
                  </a:ln>
                  <a:solidFill>
                    <a:srgbClr val="000000"/>
                  </a:solidFill>
                  <a:effectLst/>
                  <a:uLnTx/>
                  <a:uFillTx/>
                  <a:latin typeface="+mn-lt"/>
                  <a:ea typeface="ＭＳ Ｐゴシック" panose="020B0600070205080204" pitchFamily="34" charset="-128"/>
                  <a:cs typeface="Arial"/>
                </a:rPr>
                <a:t> </a:t>
              </a: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bits/sec)</a:t>
              </a:r>
            </a:p>
          </p:txBody>
        </p:sp>
        <p:sp>
          <p:nvSpPr>
            <p:cNvPr id="304" name="Text Box 346">
              <a:extLst>
                <a:ext uri="{FF2B5EF4-FFF2-40B4-BE49-F238E27FC236}">
                  <a16:creationId xmlns:a16="http://schemas.microsoft.com/office/drawing/2014/main" id="{99C94E9C-7B58-B945-A1E2-8510D3FF88DA}"/>
                </a:ext>
              </a:extLst>
            </p:cNvPr>
            <p:cNvSpPr txBox="1">
              <a:spLocks noChangeArrowheads="1"/>
            </p:cNvSpPr>
            <p:nvPr/>
          </p:nvSpPr>
          <p:spPr bwMode="auto">
            <a:xfrm>
              <a:off x="3506" y="3658"/>
              <a:ext cx="1860" cy="6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 pipe that can carry</a:t>
              </a:r>
            </a:p>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fluid at rate</a:t>
              </a:r>
            </a:p>
            <a:p>
              <a:pPr marL="0" marR="0" lvl="0" indent="0" algn="ctr" defTabSz="914400" eaLnBrk="0" fontAlgn="base" latinLnBrk="0" hangingPunct="0">
                <a:lnSpc>
                  <a:spcPct val="85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 (</a:t>
              </a:r>
              <a:r>
                <a:rPr kumimoji="0" lang="en-US" altLang="en-US" b="0" i="1" u="none" strike="noStrike" kern="0" cap="none" spc="0" normalizeH="0" baseline="0" noProof="0" dirty="0" err="1">
                  <a:ln>
                    <a:noFill/>
                  </a:ln>
                  <a:solidFill>
                    <a:srgbClr val="000000"/>
                  </a:solidFill>
                  <a:effectLst/>
                  <a:uLnTx/>
                  <a:uFillTx/>
                  <a:latin typeface="+mn-lt"/>
                  <a:ea typeface="ＭＳ Ｐゴシック" panose="020B0600070205080204" pitchFamily="34" charset="-128"/>
                  <a:cs typeface="Arial"/>
                </a:rPr>
                <a:t>R</a:t>
              </a:r>
              <a:r>
                <a:rPr kumimoji="0" lang="en-US" altLang="en-US" sz="3200" b="0" i="1" u="none" strike="noStrike" kern="0" cap="none" spc="0" normalizeH="0" baseline="-25000" noProof="0" dirty="0" err="1">
                  <a:ln>
                    <a:noFill/>
                  </a:ln>
                  <a:solidFill>
                    <a:srgbClr val="000000"/>
                  </a:solidFill>
                  <a:effectLst/>
                  <a:uLnTx/>
                  <a:uFillTx/>
                  <a:latin typeface="+mn-lt"/>
                  <a:ea typeface="ＭＳ Ｐゴシック" panose="020B0600070205080204" pitchFamily="34" charset="-128"/>
                  <a:cs typeface="Arial"/>
                </a:rPr>
                <a:t>c</a:t>
              </a:r>
              <a:r>
                <a:rPr kumimoji="0" lang="en-US" altLang="en-US" b="0" i="1" u="none" strike="noStrike" kern="0" cap="none" spc="0" normalizeH="0" baseline="-25000" noProof="0" dirty="0">
                  <a:ln>
                    <a:noFill/>
                  </a:ln>
                  <a:solidFill>
                    <a:srgbClr val="000000"/>
                  </a:solidFill>
                  <a:effectLst/>
                  <a:uLnTx/>
                  <a:uFillTx/>
                  <a:latin typeface="+mn-lt"/>
                  <a:ea typeface="ＭＳ Ｐゴシック" panose="020B0600070205080204" pitchFamily="34" charset="-128"/>
                  <a:cs typeface="Arial"/>
                </a:rPr>
                <a:t> </a:t>
              </a:r>
              <a:r>
                <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bits/sec)</a:t>
              </a:r>
            </a:p>
          </p:txBody>
        </p:sp>
      </p:grpSp>
      <p:grpSp>
        <p:nvGrpSpPr>
          <p:cNvPr id="8" name="Group 7">
            <a:extLst>
              <a:ext uri="{FF2B5EF4-FFF2-40B4-BE49-F238E27FC236}">
                <a16:creationId xmlns:a16="http://schemas.microsoft.com/office/drawing/2014/main" id="{2A92D340-73A9-4F49-8534-B5C904B778B4}"/>
              </a:ext>
            </a:extLst>
          </p:cNvPr>
          <p:cNvGrpSpPr/>
          <p:nvPr/>
        </p:nvGrpSpPr>
        <p:grpSpPr>
          <a:xfrm>
            <a:off x="2071329" y="4013904"/>
            <a:ext cx="7826649" cy="763664"/>
            <a:chOff x="2071329" y="4013904"/>
            <a:chExt cx="7826649" cy="763664"/>
          </a:xfrm>
        </p:grpSpPr>
        <p:sp>
          <p:nvSpPr>
            <p:cNvPr id="290" name="AutoShape 350">
              <a:extLst>
                <a:ext uri="{FF2B5EF4-FFF2-40B4-BE49-F238E27FC236}">
                  <a16:creationId xmlns:a16="http://schemas.microsoft.com/office/drawing/2014/main" id="{3D33AE23-1C65-834A-A5D5-8D03E4720BAD}"/>
                </a:ext>
              </a:extLst>
            </p:cNvPr>
            <p:cNvSpPr>
              <a:spLocks noChangeArrowheads="1"/>
            </p:cNvSpPr>
            <p:nvPr/>
          </p:nvSpPr>
          <p:spPr bwMode="auto">
            <a:xfrm>
              <a:off x="9008978" y="4275842"/>
              <a:ext cx="889000" cy="485775"/>
            </a:xfrm>
            <a:prstGeom prst="rightArrow">
              <a:avLst>
                <a:gd name="adj1" fmla="val 50000"/>
                <a:gd name="adj2" fmla="val 45752"/>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endParaRPr lang="en-US" altLang="en-US">
                <a:solidFill>
                  <a:srgbClr val="000000"/>
                </a:solidFill>
                <a:latin typeface="Times New Roman" panose="02020603050405020304" pitchFamily="18" charset="0"/>
                <a:cs typeface="Arial"/>
              </a:endParaRPr>
            </a:p>
          </p:txBody>
        </p:sp>
        <p:grpSp>
          <p:nvGrpSpPr>
            <p:cNvPr id="291" name="Group 335">
              <a:extLst>
                <a:ext uri="{FF2B5EF4-FFF2-40B4-BE49-F238E27FC236}">
                  <a16:creationId xmlns:a16="http://schemas.microsoft.com/office/drawing/2014/main" id="{1AB0D837-8757-A24A-AA3E-5914390BD015}"/>
                </a:ext>
              </a:extLst>
            </p:cNvPr>
            <p:cNvGrpSpPr>
              <a:grpSpLocks/>
            </p:cNvGrpSpPr>
            <p:nvPr/>
          </p:nvGrpSpPr>
          <p:grpSpPr bwMode="auto">
            <a:xfrm>
              <a:off x="3016469" y="4319954"/>
              <a:ext cx="2322512" cy="392112"/>
              <a:chOff x="2249" y="3430"/>
              <a:chExt cx="1389" cy="256"/>
            </a:xfrm>
          </p:grpSpPr>
          <p:sp>
            <p:nvSpPr>
              <p:cNvPr id="292" name="Oval 333">
                <a:extLst>
                  <a:ext uri="{FF2B5EF4-FFF2-40B4-BE49-F238E27FC236}">
                    <a16:creationId xmlns:a16="http://schemas.microsoft.com/office/drawing/2014/main" id="{6E6EF4F3-E324-EE41-857E-2F00CC4C3ACC}"/>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3" name="Rectangle 332">
                <a:extLst>
                  <a:ext uri="{FF2B5EF4-FFF2-40B4-BE49-F238E27FC236}">
                    <a16:creationId xmlns:a16="http://schemas.microsoft.com/office/drawing/2014/main" id="{B2682ADB-A65B-D047-86A5-56687D6DFCC8}"/>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4" name="Oval 331">
                <a:extLst>
                  <a:ext uri="{FF2B5EF4-FFF2-40B4-BE49-F238E27FC236}">
                    <a16:creationId xmlns:a16="http://schemas.microsoft.com/office/drawing/2014/main" id="{C101BC4D-17C9-324C-82E8-C4AAA13D8A1D}"/>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95" name="Rectangle 334">
                <a:extLst>
                  <a:ext uri="{FF2B5EF4-FFF2-40B4-BE49-F238E27FC236}">
                    <a16:creationId xmlns:a16="http://schemas.microsoft.com/office/drawing/2014/main" id="{4A8174FB-A99D-5C4E-ADC6-1958FC2B1BFF}"/>
                  </a:ext>
                </a:extLst>
              </p:cNvPr>
              <p:cNvSpPr>
                <a:spLocks noChangeArrowheads="1"/>
              </p:cNvSpPr>
              <p:nvPr/>
            </p:nvSpPr>
            <p:spPr bwMode="auto">
              <a:xfrm>
                <a:off x="3562" y="3438"/>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grpSp>
        <p:grpSp>
          <p:nvGrpSpPr>
            <p:cNvPr id="296" name="Group 341">
              <a:extLst>
                <a:ext uri="{FF2B5EF4-FFF2-40B4-BE49-F238E27FC236}">
                  <a16:creationId xmlns:a16="http://schemas.microsoft.com/office/drawing/2014/main" id="{0EB2E33F-C4E3-1644-9D50-3FCE1862D72B}"/>
                </a:ext>
              </a:extLst>
            </p:cNvPr>
            <p:cNvGrpSpPr>
              <a:grpSpLocks/>
            </p:cNvGrpSpPr>
            <p:nvPr/>
          </p:nvGrpSpPr>
          <p:grpSpPr bwMode="auto">
            <a:xfrm>
              <a:off x="6475852" y="4196543"/>
              <a:ext cx="2801937" cy="581025"/>
              <a:chOff x="2249" y="3430"/>
              <a:chExt cx="1389" cy="256"/>
            </a:xfrm>
          </p:grpSpPr>
          <p:sp>
            <p:nvSpPr>
              <p:cNvPr id="297" name="Oval 342">
                <a:extLst>
                  <a:ext uri="{FF2B5EF4-FFF2-40B4-BE49-F238E27FC236}">
                    <a16:creationId xmlns:a16="http://schemas.microsoft.com/office/drawing/2014/main" id="{8B0433EF-9C73-5648-874B-82F2F6B3FE8A}"/>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8" name="Rectangle 343">
                <a:extLst>
                  <a:ext uri="{FF2B5EF4-FFF2-40B4-BE49-F238E27FC236}">
                    <a16:creationId xmlns:a16="http://schemas.microsoft.com/office/drawing/2014/main" id="{4E0FBD5F-0BE8-F549-8413-D4068F104413}"/>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9" name="Oval 344">
                <a:extLst>
                  <a:ext uri="{FF2B5EF4-FFF2-40B4-BE49-F238E27FC236}">
                    <a16:creationId xmlns:a16="http://schemas.microsoft.com/office/drawing/2014/main" id="{48CAF989-114C-CC4C-8DBF-A27BA3216107}"/>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300" name="Rectangle 345">
                <a:extLst>
                  <a:ext uri="{FF2B5EF4-FFF2-40B4-BE49-F238E27FC236}">
                    <a16:creationId xmlns:a16="http://schemas.microsoft.com/office/drawing/2014/main" id="{C659DCD3-540C-0146-BAAD-7DBA3AC0F7BE}"/>
                  </a:ext>
                </a:extLst>
              </p:cNvPr>
              <p:cNvSpPr>
                <a:spLocks noChangeArrowheads="1"/>
              </p:cNvSpPr>
              <p:nvPr/>
            </p:nvSpPr>
            <p:spPr bwMode="auto">
              <a:xfrm>
                <a:off x="3562" y="3438"/>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grpSp>
        <p:sp>
          <p:nvSpPr>
            <p:cNvPr id="305" name="AutoShape 351">
              <a:extLst>
                <a:ext uri="{FF2B5EF4-FFF2-40B4-BE49-F238E27FC236}">
                  <a16:creationId xmlns:a16="http://schemas.microsoft.com/office/drawing/2014/main" id="{371DACA7-8356-6549-B395-6F1207E7F7B9}"/>
                </a:ext>
              </a:extLst>
            </p:cNvPr>
            <p:cNvSpPr>
              <a:spLocks noChangeArrowheads="1"/>
            </p:cNvSpPr>
            <p:nvPr/>
          </p:nvSpPr>
          <p:spPr bwMode="auto">
            <a:xfrm>
              <a:off x="5295542" y="4258379"/>
              <a:ext cx="1279525" cy="485775"/>
            </a:xfrm>
            <a:prstGeom prst="rightArrow">
              <a:avLst>
                <a:gd name="adj1" fmla="val 50000"/>
                <a:gd name="adj2" fmla="val 65850"/>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endParaRPr lang="en-US" altLang="en-US">
                <a:solidFill>
                  <a:srgbClr val="000000"/>
                </a:solidFill>
                <a:latin typeface="Times New Roman" panose="02020603050405020304" pitchFamily="18" charset="0"/>
                <a:cs typeface="Arial"/>
              </a:endParaRPr>
            </a:p>
          </p:txBody>
        </p:sp>
        <p:sp>
          <p:nvSpPr>
            <p:cNvPr id="306" name="AutoShape 349">
              <a:extLst>
                <a:ext uri="{FF2B5EF4-FFF2-40B4-BE49-F238E27FC236}">
                  <a16:creationId xmlns:a16="http://schemas.microsoft.com/office/drawing/2014/main" id="{DAF93F8F-35E4-524B-97A1-6252C154B956}"/>
                </a:ext>
              </a:extLst>
            </p:cNvPr>
            <p:cNvSpPr>
              <a:spLocks noChangeArrowheads="1"/>
            </p:cNvSpPr>
            <p:nvPr/>
          </p:nvSpPr>
          <p:spPr bwMode="auto">
            <a:xfrm flipV="1">
              <a:off x="2071329" y="4013904"/>
              <a:ext cx="974725" cy="7207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gradFill rotWithShape="1">
              <a:gsLst>
                <a:gs pos="0">
                  <a:srgbClr val="FFFFFF"/>
                </a:gs>
                <a:gs pos="100000">
                  <a:srgbClr val="CC0000"/>
                </a:gs>
              </a:gsLst>
              <a:lin ang="0" scaled="1"/>
            </a:gradFill>
            <a:ln w="9525">
              <a:solidFill>
                <a:srgbClr val="CC0000"/>
              </a:solidFill>
              <a:miter lim="800000"/>
              <a:headEnd/>
              <a:tailEnd/>
            </a:ln>
          </p:spPr>
          <p:txBody>
            <a:bodyPr rot="10800000" wrap="none" anchor="ctr"/>
            <a:lstStyle/>
            <a:p>
              <a:pPr eaLnBrk="0" fontAlgn="base" hangingPunct="0">
                <a:spcBef>
                  <a:spcPct val="0"/>
                </a:spcBef>
                <a:spcAft>
                  <a:spcPct val="0"/>
                </a:spcAft>
              </a:pPr>
              <a:endParaRPr lang="en-US" sz="2400">
                <a:solidFill>
                  <a:srgbClr val="000000"/>
                </a:solidFill>
                <a:latin typeface="Arial" panose="020B0604020202020204" pitchFamily="34" charset="0"/>
                <a:ea typeface="ＭＳ Ｐゴシック" panose="020B0600070205080204" pitchFamily="34" charset="-128"/>
                <a:cs typeface="Arial"/>
              </a:endParaRPr>
            </a:p>
          </p:txBody>
        </p:sp>
      </p:grpSp>
      <p:cxnSp>
        <p:nvCxnSpPr>
          <p:cNvPr id="4" name="Straight Connector 3">
            <a:extLst>
              <a:ext uri="{FF2B5EF4-FFF2-40B4-BE49-F238E27FC236}">
                <a16:creationId xmlns:a16="http://schemas.microsoft.com/office/drawing/2014/main" id="{491116CC-72E2-1E41-B441-B2A46728B7B8}"/>
              </a:ext>
            </a:extLst>
          </p:cNvPr>
          <p:cNvCxnSpPr/>
          <p:nvPr/>
        </p:nvCxnSpPr>
        <p:spPr>
          <a:xfrm>
            <a:off x="2663444" y="4956164"/>
            <a:ext cx="0" cy="4992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0240B1B8-8762-A749-A5D9-196239F727C6}"/>
              </a:ext>
            </a:extLst>
          </p:cNvPr>
          <p:cNvCxnSpPr/>
          <p:nvPr/>
        </p:nvCxnSpPr>
        <p:spPr>
          <a:xfrm>
            <a:off x="3671250" y="4571341"/>
            <a:ext cx="0" cy="4992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FDF4627-F3A2-F640-9920-1210DF3A14EE}"/>
              </a:ext>
            </a:extLst>
          </p:cNvPr>
          <p:cNvCxnSpPr/>
          <p:nvPr/>
        </p:nvCxnSpPr>
        <p:spPr>
          <a:xfrm>
            <a:off x="7773171" y="4574886"/>
            <a:ext cx="0" cy="4992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490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1"/>
                                        </p:tgtEl>
                                        <p:attrNameLst>
                                          <p:attrName>style.visibility</p:attrName>
                                        </p:attrNameLst>
                                      </p:cBhvr>
                                      <p:to>
                                        <p:strVal val="visible"/>
                                      </p:to>
                                    </p:set>
                                    <p:animEffect transition="in" filter="dissolve">
                                      <p:cBhvr>
                                        <p:cTn id="7" dur="500"/>
                                        <p:tgtEl>
                                          <p:spTgt spid="301"/>
                                        </p:tgtEl>
                                      </p:cBhvr>
                                    </p:animEffect>
                                  </p:childTnLst>
                                </p:cTn>
                              </p:par>
                              <p:par>
                                <p:cTn id="8" presetID="9"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Throughput</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80</a:t>
            </a:fld>
            <a:endParaRPr lang="en-US" dirty="0"/>
          </a:p>
        </p:txBody>
      </p:sp>
      <p:grpSp>
        <p:nvGrpSpPr>
          <p:cNvPr id="429" name="Group 347">
            <a:extLst>
              <a:ext uri="{FF2B5EF4-FFF2-40B4-BE49-F238E27FC236}">
                <a16:creationId xmlns:a16="http://schemas.microsoft.com/office/drawing/2014/main" id="{29540C2D-9FA0-BB45-BE5F-03C752C3783C}"/>
              </a:ext>
            </a:extLst>
          </p:cNvPr>
          <p:cNvGrpSpPr>
            <a:grpSpLocks/>
          </p:cNvGrpSpPr>
          <p:nvPr/>
        </p:nvGrpSpPr>
        <p:grpSpPr bwMode="auto">
          <a:xfrm>
            <a:off x="4983726" y="4245735"/>
            <a:ext cx="912813" cy="415925"/>
            <a:chOff x="1871277" y="1576300"/>
            <a:chExt cx="1128371" cy="437861"/>
          </a:xfrm>
        </p:grpSpPr>
        <p:sp>
          <p:nvSpPr>
            <p:cNvPr id="430" name="Oval 429">
              <a:extLst>
                <a:ext uri="{FF2B5EF4-FFF2-40B4-BE49-F238E27FC236}">
                  <a16:creationId xmlns:a16="http://schemas.microsoft.com/office/drawing/2014/main" id="{D91E1173-2CC1-804A-8A29-AD5A2B05C5E9}"/>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ea typeface="ＭＳ Ｐゴシック" panose="020B0600070205080204" pitchFamily="34" charset="-128"/>
                <a:cs typeface="Arial"/>
              </a:endParaRPr>
            </a:p>
          </p:txBody>
        </p:sp>
        <p:sp>
          <p:nvSpPr>
            <p:cNvPr id="431" name="Rectangle 430">
              <a:extLst>
                <a:ext uri="{FF2B5EF4-FFF2-40B4-BE49-F238E27FC236}">
                  <a16:creationId xmlns:a16="http://schemas.microsoft.com/office/drawing/2014/main" id="{D26B5CB1-EFDC-AA4A-94A5-91F1F7893EBE}"/>
                </a:ext>
              </a:extLst>
            </p:cNvPr>
            <p:cNvSpPr/>
            <p:nvPr/>
          </p:nvSpPr>
          <p:spPr bwMode="auto">
            <a:xfrm>
              <a:off x="1871277" y="1740080"/>
              <a:ext cx="1128371" cy="11531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ea typeface="+mn-ea"/>
                <a:cs typeface="Arial"/>
              </a:endParaRPr>
            </a:p>
          </p:txBody>
        </p:sp>
        <p:sp>
          <p:nvSpPr>
            <p:cNvPr id="432" name="Oval 431">
              <a:extLst>
                <a:ext uri="{FF2B5EF4-FFF2-40B4-BE49-F238E27FC236}">
                  <a16:creationId xmlns:a16="http://schemas.microsoft.com/office/drawing/2014/main" id="{852CB226-E8E6-CA45-95E4-3E2F740D0CCB}"/>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ea typeface="ＭＳ Ｐゴシック" panose="020B0600070205080204" pitchFamily="34" charset="-128"/>
                <a:cs typeface="Arial"/>
              </a:endParaRPr>
            </a:p>
          </p:txBody>
        </p:sp>
        <p:sp>
          <p:nvSpPr>
            <p:cNvPr id="433" name="Freeform 432">
              <a:extLst>
                <a:ext uri="{FF2B5EF4-FFF2-40B4-BE49-F238E27FC236}">
                  <a16:creationId xmlns:a16="http://schemas.microsoft.com/office/drawing/2014/main" id="{2F42ECA3-62AC-C34A-9330-F31499A994CD}"/>
                </a:ext>
              </a:extLst>
            </p:cNvPr>
            <p:cNvSpPr/>
            <p:nvPr/>
          </p:nvSpPr>
          <p:spPr bwMode="auto">
            <a:xfrm>
              <a:off x="2159748" y="1673231"/>
              <a:ext cx="547504" cy="160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ea typeface="+mn-ea"/>
                <a:cs typeface="Arial"/>
              </a:endParaRPr>
            </a:p>
          </p:txBody>
        </p:sp>
        <p:sp>
          <p:nvSpPr>
            <p:cNvPr id="434" name="Freeform 433">
              <a:extLst>
                <a:ext uri="{FF2B5EF4-FFF2-40B4-BE49-F238E27FC236}">
                  <a16:creationId xmlns:a16="http://schemas.microsoft.com/office/drawing/2014/main" id="{7DAD661B-B797-0E4F-A7A2-EECB211B39F1}"/>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35" name="Freeform 434">
              <a:extLst>
                <a:ext uri="{FF2B5EF4-FFF2-40B4-BE49-F238E27FC236}">
                  <a16:creationId xmlns:a16="http://schemas.microsoft.com/office/drawing/2014/main" id="{6D956B9B-0BF1-184A-8A16-0E56F0D92920}"/>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36" name="Freeform 435">
              <a:extLst>
                <a:ext uri="{FF2B5EF4-FFF2-40B4-BE49-F238E27FC236}">
                  <a16:creationId xmlns:a16="http://schemas.microsoft.com/office/drawing/2014/main" id="{0CBF6073-15EC-8540-96C4-D4D3FCB6DED3}"/>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cxnSp>
          <p:nvCxnSpPr>
            <p:cNvPr id="437" name="Straight Connector 436">
              <a:extLst>
                <a:ext uri="{FF2B5EF4-FFF2-40B4-BE49-F238E27FC236}">
                  <a16:creationId xmlns:a16="http://schemas.microsoft.com/office/drawing/2014/main" id="{F655FBD6-0B65-C943-BD0C-04C522A429F3}"/>
                </a:ext>
              </a:extLst>
            </p:cNvPr>
            <p:cNvCxnSpPr>
              <a:cxnSpLocks noChangeShapeType="1"/>
              <a:endCxn id="432"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38" name="Straight Connector 437">
              <a:extLst>
                <a:ext uri="{FF2B5EF4-FFF2-40B4-BE49-F238E27FC236}">
                  <a16:creationId xmlns:a16="http://schemas.microsoft.com/office/drawing/2014/main" id="{8319B3C6-5722-1C44-A611-D2468A7B37EE}"/>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439" name="Group 347">
            <a:extLst>
              <a:ext uri="{FF2B5EF4-FFF2-40B4-BE49-F238E27FC236}">
                <a16:creationId xmlns:a16="http://schemas.microsoft.com/office/drawing/2014/main" id="{C4D1F210-8217-DF40-A30E-B4D781BD1617}"/>
              </a:ext>
            </a:extLst>
          </p:cNvPr>
          <p:cNvGrpSpPr>
            <a:grpSpLocks/>
          </p:cNvGrpSpPr>
          <p:nvPr/>
        </p:nvGrpSpPr>
        <p:grpSpPr bwMode="auto">
          <a:xfrm>
            <a:off x="4937689" y="2318255"/>
            <a:ext cx="911225" cy="415925"/>
            <a:chOff x="1871277" y="1576300"/>
            <a:chExt cx="1128371" cy="437861"/>
          </a:xfrm>
        </p:grpSpPr>
        <p:sp>
          <p:nvSpPr>
            <p:cNvPr id="440" name="Oval 439">
              <a:extLst>
                <a:ext uri="{FF2B5EF4-FFF2-40B4-BE49-F238E27FC236}">
                  <a16:creationId xmlns:a16="http://schemas.microsoft.com/office/drawing/2014/main" id="{6C6425EA-486B-F643-943D-D7089FD8840F}"/>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ea typeface="ＭＳ Ｐゴシック" panose="020B0600070205080204" pitchFamily="34" charset="-128"/>
                <a:cs typeface="Arial"/>
              </a:endParaRPr>
            </a:p>
          </p:txBody>
        </p:sp>
        <p:sp>
          <p:nvSpPr>
            <p:cNvPr id="441" name="Rectangle 440">
              <a:extLst>
                <a:ext uri="{FF2B5EF4-FFF2-40B4-BE49-F238E27FC236}">
                  <a16:creationId xmlns:a16="http://schemas.microsoft.com/office/drawing/2014/main" id="{72094855-C429-6140-9FC0-17D4134E8759}"/>
                </a:ext>
              </a:extLst>
            </p:cNvPr>
            <p:cNvSpPr/>
            <p:nvPr/>
          </p:nvSpPr>
          <p:spPr bwMode="auto">
            <a:xfrm>
              <a:off x="1871277" y="1740080"/>
              <a:ext cx="1128371" cy="11531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ea typeface="+mn-ea"/>
                <a:cs typeface="Arial"/>
              </a:endParaRPr>
            </a:p>
          </p:txBody>
        </p:sp>
        <p:sp>
          <p:nvSpPr>
            <p:cNvPr id="442" name="Oval 441">
              <a:extLst>
                <a:ext uri="{FF2B5EF4-FFF2-40B4-BE49-F238E27FC236}">
                  <a16:creationId xmlns:a16="http://schemas.microsoft.com/office/drawing/2014/main" id="{940E8085-E288-C843-8449-2EE8442917F0}"/>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ea typeface="ＭＳ Ｐゴシック" panose="020B0600070205080204" pitchFamily="34" charset="-128"/>
                <a:cs typeface="Arial"/>
              </a:endParaRPr>
            </a:p>
          </p:txBody>
        </p:sp>
        <p:sp>
          <p:nvSpPr>
            <p:cNvPr id="443" name="Freeform 442">
              <a:extLst>
                <a:ext uri="{FF2B5EF4-FFF2-40B4-BE49-F238E27FC236}">
                  <a16:creationId xmlns:a16="http://schemas.microsoft.com/office/drawing/2014/main" id="{E37F0E56-213E-8545-B9F2-BC5003B587C6}"/>
                </a:ext>
              </a:extLst>
            </p:cNvPr>
            <p:cNvSpPr/>
            <p:nvPr/>
          </p:nvSpPr>
          <p:spPr bwMode="auto">
            <a:xfrm>
              <a:off x="2160249" y="1673231"/>
              <a:ext cx="548460" cy="160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ea typeface="+mn-ea"/>
                <a:cs typeface="Arial"/>
              </a:endParaRPr>
            </a:p>
          </p:txBody>
        </p:sp>
        <p:sp>
          <p:nvSpPr>
            <p:cNvPr id="444" name="Freeform 443">
              <a:extLst>
                <a:ext uri="{FF2B5EF4-FFF2-40B4-BE49-F238E27FC236}">
                  <a16:creationId xmlns:a16="http://schemas.microsoft.com/office/drawing/2014/main" id="{57514748-4829-0749-95C6-8FF0B1CB4D7E}"/>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45" name="Freeform 444">
              <a:extLst>
                <a:ext uri="{FF2B5EF4-FFF2-40B4-BE49-F238E27FC236}">
                  <a16:creationId xmlns:a16="http://schemas.microsoft.com/office/drawing/2014/main" id="{81C91DDC-B728-614D-83D3-517272E011D1}"/>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46" name="Freeform 445">
              <a:extLst>
                <a:ext uri="{FF2B5EF4-FFF2-40B4-BE49-F238E27FC236}">
                  <a16:creationId xmlns:a16="http://schemas.microsoft.com/office/drawing/2014/main" id="{94DD4D4E-9421-A140-AFBD-C2D8D5F7FD98}"/>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cxnSp>
          <p:nvCxnSpPr>
            <p:cNvPr id="447" name="Straight Connector 446">
              <a:extLst>
                <a:ext uri="{FF2B5EF4-FFF2-40B4-BE49-F238E27FC236}">
                  <a16:creationId xmlns:a16="http://schemas.microsoft.com/office/drawing/2014/main" id="{44BB3CF6-D387-034B-A66F-B0DB1B8D3A4B}"/>
                </a:ext>
              </a:extLst>
            </p:cNvPr>
            <p:cNvCxnSpPr>
              <a:cxnSpLocks noChangeShapeType="1"/>
              <a:endCxn id="442"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48" name="Straight Connector 447">
              <a:extLst>
                <a:ext uri="{FF2B5EF4-FFF2-40B4-BE49-F238E27FC236}">
                  <a16:creationId xmlns:a16="http://schemas.microsoft.com/office/drawing/2014/main" id="{7248A1BD-6434-A24C-A1C8-CB863A313AA0}"/>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449" name="Group 140">
            <a:extLst>
              <a:ext uri="{FF2B5EF4-FFF2-40B4-BE49-F238E27FC236}">
                <a16:creationId xmlns:a16="http://schemas.microsoft.com/office/drawing/2014/main" id="{76E7BFD5-92F6-BB41-9E7A-389CECC7F12A}"/>
              </a:ext>
            </a:extLst>
          </p:cNvPr>
          <p:cNvGrpSpPr>
            <a:grpSpLocks/>
          </p:cNvGrpSpPr>
          <p:nvPr/>
        </p:nvGrpSpPr>
        <p:grpSpPr bwMode="auto">
          <a:xfrm>
            <a:off x="2292914" y="1991230"/>
            <a:ext cx="352425" cy="876300"/>
            <a:chOff x="4140" y="429"/>
            <a:chExt cx="1425" cy="2396"/>
          </a:xfrm>
        </p:grpSpPr>
        <p:sp>
          <p:nvSpPr>
            <p:cNvPr id="450" name="Freeform 141">
              <a:extLst>
                <a:ext uri="{FF2B5EF4-FFF2-40B4-BE49-F238E27FC236}">
                  <a16:creationId xmlns:a16="http://schemas.microsoft.com/office/drawing/2014/main" id="{76A5EB39-9919-2444-BBB8-371FCDAF989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51" name="Rectangle 142">
              <a:extLst>
                <a:ext uri="{FF2B5EF4-FFF2-40B4-BE49-F238E27FC236}">
                  <a16:creationId xmlns:a16="http://schemas.microsoft.com/office/drawing/2014/main" id="{60EBDD34-6142-6945-9C14-B79C55F439DE}"/>
                </a:ext>
              </a:extLst>
            </p:cNvPr>
            <p:cNvSpPr>
              <a:spLocks noChangeArrowheads="1"/>
            </p:cNvSpPr>
            <p:nvPr/>
          </p:nvSpPr>
          <p:spPr bwMode="auto">
            <a:xfrm>
              <a:off x="4204" y="429"/>
              <a:ext cx="1046"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52" name="Freeform 143">
              <a:extLst>
                <a:ext uri="{FF2B5EF4-FFF2-40B4-BE49-F238E27FC236}">
                  <a16:creationId xmlns:a16="http://schemas.microsoft.com/office/drawing/2014/main" id="{B8A9862D-8A64-8A4B-AD3D-3D060A37FE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53" name="Freeform 144">
              <a:extLst>
                <a:ext uri="{FF2B5EF4-FFF2-40B4-BE49-F238E27FC236}">
                  <a16:creationId xmlns:a16="http://schemas.microsoft.com/office/drawing/2014/main" id="{F1CBBF09-E39A-294C-817A-9DCD90223F1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54" name="Rectangle 145">
              <a:extLst>
                <a:ext uri="{FF2B5EF4-FFF2-40B4-BE49-F238E27FC236}">
                  <a16:creationId xmlns:a16="http://schemas.microsoft.com/office/drawing/2014/main" id="{0B890F94-5FF7-B74D-888E-B02AA2F69861}"/>
                </a:ext>
              </a:extLst>
            </p:cNvPr>
            <p:cNvSpPr>
              <a:spLocks noChangeArrowheads="1"/>
            </p:cNvSpPr>
            <p:nvPr/>
          </p:nvSpPr>
          <p:spPr bwMode="auto">
            <a:xfrm>
              <a:off x="4211" y="694"/>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455" name="Group 146">
              <a:extLst>
                <a:ext uri="{FF2B5EF4-FFF2-40B4-BE49-F238E27FC236}">
                  <a16:creationId xmlns:a16="http://schemas.microsoft.com/office/drawing/2014/main" id="{84C8FF9A-1DFE-5443-B94F-09F2CF1376A8}"/>
                </a:ext>
              </a:extLst>
            </p:cNvPr>
            <p:cNvGrpSpPr>
              <a:grpSpLocks/>
            </p:cNvGrpSpPr>
            <p:nvPr/>
          </p:nvGrpSpPr>
          <p:grpSpPr bwMode="auto">
            <a:xfrm>
              <a:off x="4749" y="668"/>
              <a:ext cx="581" cy="145"/>
              <a:chOff x="614" y="2568"/>
              <a:chExt cx="725" cy="139"/>
            </a:xfrm>
          </p:grpSpPr>
          <p:sp>
            <p:nvSpPr>
              <p:cNvPr id="480" name="AutoShape 147">
                <a:extLst>
                  <a:ext uri="{FF2B5EF4-FFF2-40B4-BE49-F238E27FC236}">
                    <a16:creationId xmlns:a16="http://schemas.microsoft.com/office/drawing/2014/main" id="{82A932A3-A2B5-9E4C-A00D-8314C870E898}"/>
                  </a:ext>
                </a:extLst>
              </p:cNvPr>
              <p:cNvSpPr>
                <a:spLocks noChangeArrowheads="1"/>
              </p:cNvSpPr>
              <p:nvPr/>
            </p:nvSpPr>
            <p:spPr bwMode="auto">
              <a:xfrm>
                <a:off x="615" y="2568"/>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81" name="AutoShape 148">
                <a:extLst>
                  <a:ext uri="{FF2B5EF4-FFF2-40B4-BE49-F238E27FC236}">
                    <a16:creationId xmlns:a16="http://schemas.microsoft.com/office/drawing/2014/main" id="{7341616C-DDDB-6D4B-8BC1-1DE0014BB393}"/>
                  </a:ext>
                </a:extLst>
              </p:cNvPr>
              <p:cNvSpPr>
                <a:spLocks noChangeArrowheads="1"/>
              </p:cNvSpPr>
              <p:nvPr/>
            </p:nvSpPr>
            <p:spPr bwMode="auto">
              <a:xfrm>
                <a:off x="631" y="2584"/>
                <a:ext cx="689"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456" name="Rectangle 149">
              <a:extLst>
                <a:ext uri="{FF2B5EF4-FFF2-40B4-BE49-F238E27FC236}">
                  <a16:creationId xmlns:a16="http://schemas.microsoft.com/office/drawing/2014/main" id="{3016CB06-5ED2-8E44-8314-CF9B8D929399}"/>
                </a:ext>
              </a:extLst>
            </p:cNvPr>
            <p:cNvSpPr>
              <a:spLocks noChangeArrowheads="1"/>
            </p:cNvSpPr>
            <p:nvPr/>
          </p:nvSpPr>
          <p:spPr bwMode="auto">
            <a:xfrm>
              <a:off x="4223" y="1019"/>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457" name="Group 150">
              <a:extLst>
                <a:ext uri="{FF2B5EF4-FFF2-40B4-BE49-F238E27FC236}">
                  <a16:creationId xmlns:a16="http://schemas.microsoft.com/office/drawing/2014/main" id="{50CD732F-502F-EC4B-9B23-19C3F75FAF70}"/>
                </a:ext>
              </a:extLst>
            </p:cNvPr>
            <p:cNvGrpSpPr>
              <a:grpSpLocks/>
            </p:cNvGrpSpPr>
            <p:nvPr/>
          </p:nvGrpSpPr>
          <p:grpSpPr bwMode="auto">
            <a:xfrm>
              <a:off x="4747" y="994"/>
              <a:ext cx="581" cy="134"/>
              <a:chOff x="614" y="2568"/>
              <a:chExt cx="725" cy="139"/>
            </a:xfrm>
          </p:grpSpPr>
          <p:sp>
            <p:nvSpPr>
              <p:cNvPr id="478" name="AutoShape 151">
                <a:extLst>
                  <a:ext uri="{FF2B5EF4-FFF2-40B4-BE49-F238E27FC236}">
                    <a16:creationId xmlns:a16="http://schemas.microsoft.com/office/drawing/2014/main" id="{A5BF82DD-4D73-B841-9282-B6B444B47C82}"/>
                  </a:ext>
                </a:extLst>
              </p:cNvPr>
              <p:cNvSpPr>
                <a:spLocks noChangeArrowheads="1"/>
              </p:cNvSpPr>
              <p:nvPr/>
            </p:nvSpPr>
            <p:spPr bwMode="auto">
              <a:xfrm>
                <a:off x="617" y="2567"/>
                <a:ext cx="721"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79" name="AutoShape 152">
                <a:extLst>
                  <a:ext uri="{FF2B5EF4-FFF2-40B4-BE49-F238E27FC236}">
                    <a16:creationId xmlns:a16="http://schemas.microsoft.com/office/drawing/2014/main" id="{507A60A5-AB7C-DA4B-BE79-74DC6F926B64}"/>
                  </a:ext>
                </a:extLst>
              </p:cNvPr>
              <p:cNvSpPr>
                <a:spLocks noChangeArrowheads="1"/>
              </p:cNvSpPr>
              <p:nvPr/>
            </p:nvSpPr>
            <p:spPr bwMode="auto">
              <a:xfrm>
                <a:off x="634" y="2585"/>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458" name="Rectangle 153">
              <a:extLst>
                <a:ext uri="{FF2B5EF4-FFF2-40B4-BE49-F238E27FC236}">
                  <a16:creationId xmlns:a16="http://schemas.microsoft.com/office/drawing/2014/main" id="{5585EA19-FC9A-834A-B1AA-AF0C3E6E438E}"/>
                </a:ext>
              </a:extLst>
            </p:cNvPr>
            <p:cNvSpPr>
              <a:spLocks noChangeArrowheads="1"/>
            </p:cNvSpPr>
            <p:nvPr/>
          </p:nvSpPr>
          <p:spPr bwMode="auto">
            <a:xfrm>
              <a:off x="4217" y="1358"/>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59" name="Rectangle 154">
              <a:extLst>
                <a:ext uri="{FF2B5EF4-FFF2-40B4-BE49-F238E27FC236}">
                  <a16:creationId xmlns:a16="http://schemas.microsoft.com/office/drawing/2014/main" id="{770A4D2E-58C2-9F43-84EA-96616AE781B6}"/>
                </a:ext>
              </a:extLst>
            </p:cNvPr>
            <p:cNvSpPr>
              <a:spLocks noChangeArrowheads="1"/>
            </p:cNvSpPr>
            <p:nvPr/>
          </p:nvSpPr>
          <p:spPr bwMode="auto">
            <a:xfrm>
              <a:off x="4230" y="1653"/>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460" name="Group 155">
              <a:extLst>
                <a:ext uri="{FF2B5EF4-FFF2-40B4-BE49-F238E27FC236}">
                  <a16:creationId xmlns:a16="http://schemas.microsoft.com/office/drawing/2014/main" id="{602A4FA5-6127-4C42-9200-FC441714E020}"/>
                </a:ext>
              </a:extLst>
            </p:cNvPr>
            <p:cNvGrpSpPr>
              <a:grpSpLocks/>
            </p:cNvGrpSpPr>
            <p:nvPr/>
          </p:nvGrpSpPr>
          <p:grpSpPr bwMode="auto">
            <a:xfrm>
              <a:off x="4735" y="1627"/>
              <a:ext cx="582" cy="151"/>
              <a:chOff x="614" y="2568"/>
              <a:chExt cx="725" cy="139"/>
            </a:xfrm>
          </p:grpSpPr>
          <p:sp>
            <p:nvSpPr>
              <p:cNvPr id="476" name="AutoShape 156">
                <a:extLst>
                  <a:ext uri="{FF2B5EF4-FFF2-40B4-BE49-F238E27FC236}">
                    <a16:creationId xmlns:a16="http://schemas.microsoft.com/office/drawing/2014/main" id="{73B43881-7B88-5847-AA15-A459E12B9BB4}"/>
                  </a:ext>
                </a:extLst>
              </p:cNvPr>
              <p:cNvSpPr>
                <a:spLocks noChangeArrowheads="1"/>
              </p:cNvSpPr>
              <p:nvPr/>
            </p:nvSpPr>
            <p:spPr bwMode="auto">
              <a:xfrm>
                <a:off x="616" y="2568"/>
                <a:ext cx="720"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77" name="AutoShape 157">
                <a:extLst>
                  <a:ext uri="{FF2B5EF4-FFF2-40B4-BE49-F238E27FC236}">
                    <a16:creationId xmlns:a16="http://schemas.microsoft.com/office/drawing/2014/main" id="{37DBC077-A3AE-D44B-9982-D763ECC92AA5}"/>
                  </a:ext>
                </a:extLst>
              </p:cNvPr>
              <p:cNvSpPr>
                <a:spLocks noChangeArrowheads="1"/>
              </p:cNvSpPr>
              <p:nvPr/>
            </p:nvSpPr>
            <p:spPr bwMode="auto">
              <a:xfrm>
                <a:off x="632" y="2584"/>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461" name="Freeform 158">
              <a:extLst>
                <a:ext uri="{FF2B5EF4-FFF2-40B4-BE49-F238E27FC236}">
                  <a16:creationId xmlns:a16="http://schemas.microsoft.com/office/drawing/2014/main" id="{0AEC409A-A2D1-D245-802C-A7B4A101659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462" name="Group 159">
              <a:extLst>
                <a:ext uri="{FF2B5EF4-FFF2-40B4-BE49-F238E27FC236}">
                  <a16:creationId xmlns:a16="http://schemas.microsoft.com/office/drawing/2014/main" id="{E58988BF-BC15-CF49-B8AB-9F97656C224E}"/>
                </a:ext>
              </a:extLst>
            </p:cNvPr>
            <p:cNvGrpSpPr>
              <a:grpSpLocks/>
            </p:cNvGrpSpPr>
            <p:nvPr/>
          </p:nvGrpSpPr>
          <p:grpSpPr bwMode="auto">
            <a:xfrm>
              <a:off x="4739" y="1327"/>
              <a:ext cx="582" cy="139"/>
              <a:chOff x="614" y="2568"/>
              <a:chExt cx="725" cy="139"/>
            </a:xfrm>
          </p:grpSpPr>
          <p:sp>
            <p:nvSpPr>
              <p:cNvPr id="474" name="AutoShape 160">
                <a:extLst>
                  <a:ext uri="{FF2B5EF4-FFF2-40B4-BE49-F238E27FC236}">
                    <a16:creationId xmlns:a16="http://schemas.microsoft.com/office/drawing/2014/main" id="{553DFEC9-BE4E-F94F-936E-C02FFF6CAC8D}"/>
                  </a:ext>
                </a:extLst>
              </p:cNvPr>
              <p:cNvSpPr>
                <a:spLocks noChangeArrowheads="1"/>
              </p:cNvSpPr>
              <p:nvPr/>
            </p:nvSpPr>
            <p:spPr bwMode="auto">
              <a:xfrm>
                <a:off x="611" y="2569"/>
                <a:ext cx="728"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75" name="AutoShape 161">
                <a:extLst>
                  <a:ext uri="{FF2B5EF4-FFF2-40B4-BE49-F238E27FC236}">
                    <a16:creationId xmlns:a16="http://schemas.microsoft.com/office/drawing/2014/main" id="{43F743B0-ACF4-3044-851A-E1B9884FB697}"/>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463" name="Rectangle 162">
              <a:extLst>
                <a:ext uri="{FF2B5EF4-FFF2-40B4-BE49-F238E27FC236}">
                  <a16:creationId xmlns:a16="http://schemas.microsoft.com/office/drawing/2014/main" id="{D8E8B7E8-6654-B141-80DA-2835D0B6DC61}"/>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64" name="Freeform 163">
              <a:extLst>
                <a:ext uri="{FF2B5EF4-FFF2-40B4-BE49-F238E27FC236}">
                  <a16:creationId xmlns:a16="http://schemas.microsoft.com/office/drawing/2014/main" id="{D47EC0CE-C9B0-544A-9F08-C5F74F5F8ED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65" name="Freeform 164">
              <a:extLst>
                <a:ext uri="{FF2B5EF4-FFF2-40B4-BE49-F238E27FC236}">
                  <a16:creationId xmlns:a16="http://schemas.microsoft.com/office/drawing/2014/main" id="{B6D47BE6-5EDC-5F46-927F-15C18BEEF39A}"/>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66" name="Oval 165">
              <a:extLst>
                <a:ext uri="{FF2B5EF4-FFF2-40B4-BE49-F238E27FC236}">
                  <a16:creationId xmlns:a16="http://schemas.microsoft.com/office/drawing/2014/main" id="{8699D5C3-5E2F-5247-88B1-8F7A5068C0E5}"/>
                </a:ext>
              </a:extLst>
            </p:cNvPr>
            <p:cNvSpPr>
              <a:spLocks noChangeArrowheads="1"/>
            </p:cNvSpPr>
            <p:nvPr/>
          </p:nvSpPr>
          <p:spPr bwMode="auto">
            <a:xfrm>
              <a:off x="5520" y="2612"/>
              <a:ext cx="45"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67" name="Freeform 166">
              <a:extLst>
                <a:ext uri="{FF2B5EF4-FFF2-40B4-BE49-F238E27FC236}">
                  <a16:creationId xmlns:a16="http://schemas.microsoft.com/office/drawing/2014/main" id="{BFDFB342-1B41-3C40-90B5-38F87DB8D9E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468" name="AutoShape 167">
              <a:extLst>
                <a:ext uri="{FF2B5EF4-FFF2-40B4-BE49-F238E27FC236}">
                  <a16:creationId xmlns:a16="http://schemas.microsoft.com/office/drawing/2014/main" id="{31EB1D99-2A1B-554C-9D92-24AAEE3876BF}"/>
                </a:ext>
              </a:extLst>
            </p:cNvPr>
            <p:cNvSpPr>
              <a:spLocks noChangeArrowheads="1"/>
            </p:cNvSpPr>
            <p:nvPr/>
          </p:nvSpPr>
          <p:spPr bwMode="auto">
            <a:xfrm>
              <a:off x="4140" y="2677"/>
              <a:ext cx="1200" cy="148"/>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69" name="AutoShape 168">
              <a:extLst>
                <a:ext uri="{FF2B5EF4-FFF2-40B4-BE49-F238E27FC236}">
                  <a16:creationId xmlns:a16="http://schemas.microsoft.com/office/drawing/2014/main" id="{8C5166EA-4FF3-CA4A-89EF-1C89946C1F95}"/>
                </a:ext>
              </a:extLst>
            </p:cNvPr>
            <p:cNvSpPr>
              <a:spLocks noChangeArrowheads="1"/>
            </p:cNvSpPr>
            <p:nvPr/>
          </p:nvSpPr>
          <p:spPr bwMode="auto">
            <a:xfrm>
              <a:off x="4204" y="2712"/>
              <a:ext cx="1072"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70" name="Oval 169">
              <a:extLst>
                <a:ext uri="{FF2B5EF4-FFF2-40B4-BE49-F238E27FC236}">
                  <a16:creationId xmlns:a16="http://schemas.microsoft.com/office/drawing/2014/main" id="{45C4253F-C6AA-8F41-9A95-B861474468B4}"/>
                </a:ext>
              </a:extLst>
            </p:cNvPr>
            <p:cNvSpPr>
              <a:spLocks noChangeArrowheads="1"/>
            </p:cNvSpPr>
            <p:nvPr/>
          </p:nvSpPr>
          <p:spPr bwMode="auto">
            <a:xfrm>
              <a:off x="4307" y="2382"/>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71" name="Oval 170">
              <a:extLst>
                <a:ext uri="{FF2B5EF4-FFF2-40B4-BE49-F238E27FC236}">
                  <a16:creationId xmlns:a16="http://schemas.microsoft.com/office/drawing/2014/main" id="{99937982-831E-014F-8011-31A38BC3FAA4}"/>
                </a:ext>
              </a:extLst>
            </p:cNvPr>
            <p:cNvSpPr>
              <a:spLocks noChangeArrowheads="1"/>
            </p:cNvSpPr>
            <p:nvPr/>
          </p:nvSpPr>
          <p:spPr bwMode="auto">
            <a:xfrm>
              <a:off x="4487" y="2382"/>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mn-lt"/>
                <a:ea typeface="ＭＳ Ｐゴシック" panose="020B0600070205080204" pitchFamily="34" charset="-128"/>
                <a:cs typeface="Arial"/>
              </a:endParaRPr>
            </a:p>
          </p:txBody>
        </p:sp>
        <p:sp>
          <p:nvSpPr>
            <p:cNvPr id="472" name="Oval 171">
              <a:extLst>
                <a:ext uri="{FF2B5EF4-FFF2-40B4-BE49-F238E27FC236}">
                  <a16:creationId xmlns:a16="http://schemas.microsoft.com/office/drawing/2014/main" id="{CB852665-8191-CD47-9BBA-1BC8D1E83948}"/>
                </a:ext>
              </a:extLst>
            </p:cNvPr>
            <p:cNvSpPr>
              <a:spLocks noChangeArrowheads="1"/>
            </p:cNvSpPr>
            <p:nvPr/>
          </p:nvSpPr>
          <p:spPr bwMode="auto">
            <a:xfrm>
              <a:off x="4660" y="2382"/>
              <a:ext cx="160"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73" name="Rectangle 172">
              <a:extLst>
                <a:ext uri="{FF2B5EF4-FFF2-40B4-BE49-F238E27FC236}">
                  <a16:creationId xmlns:a16="http://schemas.microsoft.com/office/drawing/2014/main" id="{A5B541A2-F634-3F4C-920F-8FEB757F72F0}"/>
                </a:ext>
              </a:extLst>
            </p:cNvPr>
            <p:cNvSpPr>
              <a:spLocks noChangeArrowheads="1"/>
            </p:cNvSpPr>
            <p:nvPr/>
          </p:nvSpPr>
          <p:spPr bwMode="auto">
            <a:xfrm>
              <a:off x="5064" y="1835"/>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482" name="Rectangle 4">
            <a:extLst>
              <a:ext uri="{FF2B5EF4-FFF2-40B4-BE49-F238E27FC236}">
                <a16:creationId xmlns:a16="http://schemas.microsoft.com/office/drawing/2014/main" id="{885A2C98-F0C5-4F48-973F-FB58C4816800}"/>
              </a:ext>
            </a:extLst>
          </p:cNvPr>
          <p:cNvSpPr txBox="1">
            <a:spLocks noChangeArrowheads="1"/>
          </p:cNvSpPr>
          <p:nvPr/>
        </p:nvSpPr>
        <p:spPr bwMode="auto">
          <a:xfrm>
            <a:off x="1197539" y="1361756"/>
            <a:ext cx="8150225"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0"/>
              </a:buClr>
              <a:buSzPct val="100000"/>
              <a:buFont typeface="Wingdings" pitchFamily="2" charset="2"/>
              <a:buChar char="§"/>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0"/>
              </a:buClr>
              <a:buFont typeface="Arial" panose="020B0604020202020204" pitchFamily="34"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eaLnBrk="1" hangingPunct="1">
              <a:buNone/>
            </a:pPr>
            <a:r>
              <a:rPr lang="en-US" altLang="en-US" i="1" kern="0" dirty="0">
                <a:solidFill>
                  <a:srgbClr val="CC0000"/>
                </a:solidFill>
                <a:ea typeface="ＭＳ Ｐゴシック" panose="020B0600070205080204" pitchFamily="34" charset="-128"/>
              </a:rPr>
              <a:t>R</a:t>
            </a:r>
            <a:r>
              <a:rPr lang="en-US" altLang="en-US" i="1" kern="0" baseline="-25000" dirty="0">
                <a:solidFill>
                  <a:srgbClr val="CC0000"/>
                </a:solidFill>
                <a:ea typeface="ＭＳ Ｐゴシック" panose="020B0600070205080204" pitchFamily="34" charset="-128"/>
              </a:rPr>
              <a:t>s</a:t>
            </a:r>
            <a:r>
              <a:rPr lang="en-US" altLang="en-US" i="1" kern="0" dirty="0">
                <a:solidFill>
                  <a:srgbClr val="CC0000"/>
                </a:solidFill>
                <a:ea typeface="ＭＳ Ｐゴシック" panose="020B0600070205080204" pitchFamily="34" charset="-128"/>
              </a:rPr>
              <a:t> &lt; </a:t>
            </a:r>
            <a:r>
              <a:rPr lang="en-US" altLang="en-US" i="1" kern="0" dirty="0" err="1">
                <a:solidFill>
                  <a:srgbClr val="CC0000"/>
                </a:solidFill>
                <a:ea typeface="ＭＳ Ｐゴシック" panose="020B0600070205080204" pitchFamily="34" charset="-128"/>
              </a:rPr>
              <a:t>R</a:t>
            </a:r>
            <a:r>
              <a:rPr lang="en-US" altLang="en-US" i="1" kern="0" baseline="-25000" dirty="0" err="1">
                <a:solidFill>
                  <a:srgbClr val="CC0000"/>
                </a:solidFill>
                <a:ea typeface="ＭＳ Ｐゴシック" panose="020B0600070205080204" pitchFamily="34" charset="-128"/>
              </a:rPr>
              <a:t>c</a:t>
            </a:r>
            <a:r>
              <a:rPr lang="en-US" altLang="en-US" i="1" kern="0" dirty="0">
                <a:solidFill>
                  <a:srgbClr val="FF3300"/>
                </a:solidFill>
                <a:ea typeface="ＭＳ Ｐゴシック" panose="020B0600070205080204" pitchFamily="34" charset="-128"/>
              </a:rPr>
              <a:t>  </a:t>
            </a:r>
            <a:r>
              <a:rPr lang="en-US" altLang="en-US" kern="0" dirty="0">
                <a:ea typeface="ＭＳ Ｐゴシック" panose="020B0600070205080204" pitchFamily="34" charset="-128"/>
              </a:rPr>
              <a:t>What is average end-end throughput?</a:t>
            </a:r>
          </a:p>
        </p:txBody>
      </p:sp>
      <p:grpSp>
        <p:nvGrpSpPr>
          <p:cNvPr id="483" name="Group 34">
            <a:extLst>
              <a:ext uri="{FF2B5EF4-FFF2-40B4-BE49-F238E27FC236}">
                <a16:creationId xmlns:a16="http://schemas.microsoft.com/office/drawing/2014/main" id="{1D7513B2-BA27-CA43-AABC-A66648BC2AFF}"/>
              </a:ext>
            </a:extLst>
          </p:cNvPr>
          <p:cNvGrpSpPr>
            <a:grpSpLocks/>
          </p:cNvGrpSpPr>
          <p:nvPr/>
        </p:nvGrpSpPr>
        <p:grpSpPr bwMode="auto">
          <a:xfrm>
            <a:off x="2745351" y="2343655"/>
            <a:ext cx="2136775" cy="307975"/>
            <a:chOff x="2249" y="3430"/>
            <a:chExt cx="1389" cy="256"/>
          </a:xfrm>
        </p:grpSpPr>
        <p:sp>
          <p:nvSpPr>
            <p:cNvPr id="484" name="Oval 35">
              <a:extLst>
                <a:ext uri="{FF2B5EF4-FFF2-40B4-BE49-F238E27FC236}">
                  <a16:creationId xmlns:a16="http://schemas.microsoft.com/office/drawing/2014/main" id="{5340CEA1-5B2B-9B46-9AAF-4147EFCAE2AD}"/>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485" name="Rectangle 36">
              <a:extLst>
                <a:ext uri="{FF2B5EF4-FFF2-40B4-BE49-F238E27FC236}">
                  <a16:creationId xmlns:a16="http://schemas.microsoft.com/office/drawing/2014/main" id="{18778160-DBBA-3B4C-9F3C-5804D0719AA9}"/>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486" name="Oval 37">
              <a:extLst>
                <a:ext uri="{FF2B5EF4-FFF2-40B4-BE49-F238E27FC236}">
                  <a16:creationId xmlns:a16="http://schemas.microsoft.com/office/drawing/2014/main" id="{8BF0591E-F2E4-8A4C-A92C-C81344F40A5F}"/>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87" name="Rectangle 38">
              <a:extLst>
                <a:ext uri="{FF2B5EF4-FFF2-40B4-BE49-F238E27FC236}">
                  <a16:creationId xmlns:a16="http://schemas.microsoft.com/office/drawing/2014/main" id="{E207FABE-8267-D846-9F45-80EB05CCD511}"/>
                </a:ext>
              </a:extLst>
            </p:cNvPr>
            <p:cNvSpPr>
              <a:spLocks noChangeArrowheads="1"/>
            </p:cNvSpPr>
            <p:nvPr/>
          </p:nvSpPr>
          <p:spPr bwMode="auto">
            <a:xfrm>
              <a:off x="3562" y="3438"/>
              <a:ext cx="44" cy="245"/>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grpSp>
      <p:sp>
        <p:nvSpPr>
          <p:cNvPr id="488" name="Text Box 39">
            <a:extLst>
              <a:ext uri="{FF2B5EF4-FFF2-40B4-BE49-F238E27FC236}">
                <a16:creationId xmlns:a16="http://schemas.microsoft.com/office/drawing/2014/main" id="{957E7C76-675E-574B-8ACD-614388DAE938}"/>
              </a:ext>
            </a:extLst>
          </p:cNvPr>
          <p:cNvSpPr txBox="1">
            <a:spLocks noChangeArrowheads="1"/>
          </p:cNvSpPr>
          <p:nvPr/>
        </p:nvSpPr>
        <p:spPr bwMode="auto">
          <a:xfrm>
            <a:off x="2534214" y="2270741"/>
            <a:ext cx="25860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sz="2000" dirty="0">
                <a:solidFill>
                  <a:srgbClr val="000000"/>
                </a:solidFill>
                <a:latin typeface="+mn-lt"/>
                <a:cs typeface="Arial"/>
              </a:rPr>
              <a:t>  R</a:t>
            </a:r>
            <a:r>
              <a:rPr lang="en-US" altLang="en-US" sz="2800" baseline="-25000" dirty="0">
                <a:solidFill>
                  <a:srgbClr val="000000"/>
                </a:solidFill>
                <a:latin typeface="+mn-lt"/>
                <a:cs typeface="Arial"/>
              </a:rPr>
              <a:t>s</a:t>
            </a:r>
            <a:r>
              <a:rPr lang="en-US" altLang="en-US" sz="2000" baseline="-25000" dirty="0">
                <a:solidFill>
                  <a:srgbClr val="000000"/>
                </a:solidFill>
                <a:latin typeface="+mn-lt"/>
                <a:cs typeface="Arial"/>
              </a:rPr>
              <a:t> </a:t>
            </a:r>
            <a:r>
              <a:rPr lang="en-US" altLang="en-US" sz="2000" dirty="0">
                <a:solidFill>
                  <a:srgbClr val="000000"/>
                </a:solidFill>
                <a:latin typeface="+mn-lt"/>
                <a:cs typeface="Arial"/>
              </a:rPr>
              <a:t>bits/sec</a:t>
            </a:r>
          </a:p>
        </p:txBody>
      </p:sp>
      <p:sp>
        <p:nvSpPr>
          <p:cNvPr id="489" name="AutoShape 42">
            <a:extLst>
              <a:ext uri="{FF2B5EF4-FFF2-40B4-BE49-F238E27FC236}">
                <a16:creationId xmlns:a16="http://schemas.microsoft.com/office/drawing/2014/main" id="{8A9CF8E3-1601-CD45-8200-B1516EA3BB30}"/>
              </a:ext>
            </a:extLst>
          </p:cNvPr>
          <p:cNvSpPr>
            <a:spLocks noChangeArrowheads="1"/>
          </p:cNvSpPr>
          <p:nvPr/>
        </p:nvSpPr>
        <p:spPr bwMode="auto">
          <a:xfrm flipV="1">
            <a:off x="1934139" y="2111880"/>
            <a:ext cx="895350" cy="56515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gradFill rotWithShape="1">
            <a:gsLst>
              <a:gs pos="0">
                <a:srgbClr val="FFFFFF"/>
              </a:gs>
              <a:gs pos="100000">
                <a:srgbClr val="CC0000"/>
              </a:gs>
            </a:gsLst>
            <a:lin ang="0" scaled="1"/>
          </a:gradFill>
          <a:ln w="9525">
            <a:solidFill>
              <a:srgbClr val="CC0000"/>
            </a:solidFill>
            <a:miter lim="800000"/>
            <a:headEnd/>
            <a:tailEnd/>
          </a:ln>
        </p:spPr>
        <p:txBody>
          <a:bodyPr rot="10800000" wrap="none" anchor="ctr"/>
          <a:lstStyle/>
          <a:p>
            <a:pPr eaLnBrk="0" fontAlgn="base" hangingPunct="0">
              <a:spcBef>
                <a:spcPct val="0"/>
              </a:spcBef>
              <a:spcAft>
                <a:spcPct val="0"/>
              </a:spcAft>
            </a:pPr>
            <a:endParaRPr lang="en-US" sz="2400">
              <a:solidFill>
                <a:srgbClr val="000000"/>
              </a:solidFill>
              <a:ea typeface="ＭＳ Ｐゴシック" panose="020B0600070205080204" pitchFamily="34" charset="-128"/>
              <a:cs typeface="Arial"/>
            </a:endParaRPr>
          </a:p>
        </p:txBody>
      </p:sp>
      <p:sp>
        <p:nvSpPr>
          <p:cNvPr id="490" name="AutoShape 43">
            <a:extLst>
              <a:ext uri="{FF2B5EF4-FFF2-40B4-BE49-F238E27FC236}">
                <a16:creationId xmlns:a16="http://schemas.microsoft.com/office/drawing/2014/main" id="{ED879A95-B645-8B4D-89AF-6D1789AFE728}"/>
              </a:ext>
            </a:extLst>
          </p:cNvPr>
          <p:cNvSpPr>
            <a:spLocks noChangeArrowheads="1"/>
          </p:cNvSpPr>
          <p:nvPr/>
        </p:nvSpPr>
        <p:spPr bwMode="auto">
          <a:xfrm>
            <a:off x="8168251" y="2318255"/>
            <a:ext cx="941624" cy="379413"/>
          </a:xfrm>
          <a:prstGeom prst="rightArrow">
            <a:avLst>
              <a:gd name="adj1" fmla="val 50000"/>
              <a:gd name="adj2" fmla="val 53870"/>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endParaRPr lang="en-US" altLang="en-US">
              <a:solidFill>
                <a:srgbClr val="000000"/>
              </a:solidFill>
              <a:latin typeface="+mn-lt"/>
              <a:cs typeface="Arial"/>
            </a:endParaRPr>
          </a:p>
        </p:txBody>
      </p:sp>
      <p:grpSp>
        <p:nvGrpSpPr>
          <p:cNvPr id="491" name="Group 54">
            <a:extLst>
              <a:ext uri="{FF2B5EF4-FFF2-40B4-BE49-F238E27FC236}">
                <a16:creationId xmlns:a16="http://schemas.microsoft.com/office/drawing/2014/main" id="{5C873AA0-FFD9-7542-BED1-8B7A71AB1C1E}"/>
              </a:ext>
            </a:extLst>
          </p:cNvPr>
          <p:cNvGrpSpPr>
            <a:grpSpLocks/>
          </p:cNvGrpSpPr>
          <p:nvPr/>
        </p:nvGrpSpPr>
        <p:grpSpPr bwMode="auto">
          <a:xfrm>
            <a:off x="6118790" y="2210305"/>
            <a:ext cx="2577607" cy="569913"/>
            <a:chOff x="3130" y="3069"/>
            <a:chExt cx="1765" cy="366"/>
          </a:xfrm>
        </p:grpSpPr>
        <p:grpSp>
          <p:nvGrpSpPr>
            <p:cNvPr id="492" name="Group 45">
              <a:extLst>
                <a:ext uri="{FF2B5EF4-FFF2-40B4-BE49-F238E27FC236}">
                  <a16:creationId xmlns:a16="http://schemas.microsoft.com/office/drawing/2014/main" id="{97D274BB-C29B-ED4E-859A-927860A3F5D9}"/>
                </a:ext>
              </a:extLst>
            </p:cNvPr>
            <p:cNvGrpSpPr>
              <a:grpSpLocks/>
            </p:cNvGrpSpPr>
            <p:nvPr/>
          </p:nvGrpSpPr>
          <p:grpSpPr bwMode="auto">
            <a:xfrm>
              <a:off x="3130" y="3069"/>
              <a:ext cx="1765" cy="366"/>
              <a:chOff x="2249" y="3430"/>
              <a:chExt cx="1389" cy="256"/>
            </a:xfrm>
          </p:grpSpPr>
          <p:sp>
            <p:nvSpPr>
              <p:cNvPr id="494" name="Oval 46">
                <a:extLst>
                  <a:ext uri="{FF2B5EF4-FFF2-40B4-BE49-F238E27FC236}">
                    <a16:creationId xmlns:a16="http://schemas.microsoft.com/office/drawing/2014/main" id="{2EC17BEE-E58A-6140-B989-B0CDD1C1AF95}"/>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495" name="Rectangle 47">
                <a:extLst>
                  <a:ext uri="{FF2B5EF4-FFF2-40B4-BE49-F238E27FC236}">
                    <a16:creationId xmlns:a16="http://schemas.microsoft.com/office/drawing/2014/main" id="{AD336F13-B720-7341-B116-DA4D9171BA64}"/>
                  </a:ext>
                </a:extLst>
              </p:cNvPr>
              <p:cNvSpPr>
                <a:spLocks noChangeArrowheads="1"/>
              </p:cNvSpPr>
              <p:nvPr/>
            </p:nvSpPr>
            <p:spPr bwMode="auto">
              <a:xfrm>
                <a:off x="2275" y="3433"/>
                <a:ext cx="1329"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496" name="Oval 48">
                <a:extLst>
                  <a:ext uri="{FF2B5EF4-FFF2-40B4-BE49-F238E27FC236}">
                    <a16:creationId xmlns:a16="http://schemas.microsoft.com/office/drawing/2014/main" id="{4B7EF7CF-26D6-F04C-A388-9C2DE746E571}"/>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497" name="Rectangle 49">
                <a:extLst>
                  <a:ext uri="{FF2B5EF4-FFF2-40B4-BE49-F238E27FC236}">
                    <a16:creationId xmlns:a16="http://schemas.microsoft.com/office/drawing/2014/main" id="{604E850F-FAD3-D34F-8D0B-B1F5F12A4982}"/>
                  </a:ext>
                </a:extLst>
              </p:cNvPr>
              <p:cNvSpPr>
                <a:spLocks noChangeArrowheads="1"/>
              </p:cNvSpPr>
              <p:nvPr/>
            </p:nvSpPr>
            <p:spPr bwMode="auto">
              <a:xfrm>
                <a:off x="3562" y="3438"/>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grpSp>
        <p:sp>
          <p:nvSpPr>
            <p:cNvPr id="493" name="Text Box 50">
              <a:extLst>
                <a:ext uri="{FF2B5EF4-FFF2-40B4-BE49-F238E27FC236}">
                  <a16:creationId xmlns:a16="http://schemas.microsoft.com/office/drawing/2014/main" id="{48FDD660-FDC1-BC4D-AF14-61D75C0EB803}"/>
                </a:ext>
              </a:extLst>
            </p:cNvPr>
            <p:cNvSpPr txBox="1">
              <a:spLocks noChangeArrowheads="1"/>
            </p:cNvSpPr>
            <p:nvPr/>
          </p:nvSpPr>
          <p:spPr bwMode="auto">
            <a:xfrm>
              <a:off x="3181" y="3135"/>
              <a:ext cx="170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R</a:t>
              </a:r>
              <a:r>
                <a:rPr kumimoji="0" lang="en-US" altLang="en-US" sz="2800" b="0" i="0" u="none" strike="noStrike" kern="0" cap="none" spc="0" normalizeH="0" baseline="-25000" noProof="0">
                  <a:ln>
                    <a:noFill/>
                  </a:ln>
                  <a:solidFill>
                    <a:srgbClr val="000000"/>
                  </a:solidFill>
                  <a:effectLst/>
                  <a:uLnTx/>
                  <a:uFillTx/>
                  <a:latin typeface="+mn-lt"/>
                  <a:ea typeface="ＭＳ Ｐゴシック" panose="020B0600070205080204" pitchFamily="34" charset="-128"/>
                  <a:cs typeface="Arial"/>
                </a:rPr>
                <a:t>c</a:t>
              </a:r>
              <a:r>
                <a:rPr kumimoji="0" lang="en-US" altLang="en-US" sz="2000" b="0" i="0" u="none" strike="noStrike" kern="0" cap="none" spc="0" normalizeH="0" baseline="-25000" noProof="0">
                  <a:ln>
                    <a:noFill/>
                  </a:ln>
                  <a:solidFill>
                    <a:srgbClr val="000000"/>
                  </a:solidFill>
                  <a:effectLst/>
                  <a:uLnTx/>
                  <a:uFillTx/>
                  <a:latin typeface="+mn-lt"/>
                  <a:ea typeface="ＭＳ Ｐゴシック" panose="020B0600070205080204" pitchFamily="34" charset="-128"/>
                  <a:cs typeface="Arial"/>
                </a:rPr>
                <a:t> </a:t>
              </a:r>
              <a:r>
                <a:rPr kumimoji="0" lang="en-US" altLang="en-US" sz="20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rPr>
                <a:t>bits/sec</a:t>
              </a:r>
            </a:p>
          </p:txBody>
        </p:sp>
      </p:grpSp>
      <p:sp>
        <p:nvSpPr>
          <p:cNvPr id="498" name="Rectangle 56">
            <a:extLst>
              <a:ext uri="{FF2B5EF4-FFF2-40B4-BE49-F238E27FC236}">
                <a16:creationId xmlns:a16="http://schemas.microsoft.com/office/drawing/2014/main" id="{A7FBBFF4-7CCE-3745-9DBF-448559E76BA0}"/>
              </a:ext>
            </a:extLst>
          </p:cNvPr>
          <p:cNvSpPr>
            <a:spLocks noChangeArrowheads="1"/>
          </p:cNvSpPr>
          <p:nvPr/>
        </p:nvSpPr>
        <p:spPr bwMode="auto">
          <a:xfrm>
            <a:off x="1234051" y="3170791"/>
            <a:ext cx="8062913"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1313" indent="-34131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indent="0" eaLnBrk="0" fontAlgn="base" hangingPunct="0">
              <a:spcBef>
                <a:spcPct val="20000"/>
              </a:spcBef>
              <a:spcAft>
                <a:spcPct val="0"/>
              </a:spcAft>
              <a:buClr>
                <a:srgbClr val="000099"/>
              </a:buClr>
              <a:buSzPct val="100000"/>
            </a:pPr>
            <a:r>
              <a:rPr lang="en-US" altLang="en-US" sz="2800" i="1" dirty="0">
                <a:solidFill>
                  <a:srgbClr val="CC0000"/>
                </a:solidFill>
                <a:latin typeface="+mn-lt"/>
                <a:cs typeface="Arial"/>
              </a:rPr>
              <a:t>R</a:t>
            </a:r>
            <a:r>
              <a:rPr lang="en-US" altLang="en-US" sz="2800" i="1" baseline="-25000" dirty="0">
                <a:solidFill>
                  <a:srgbClr val="CC0000"/>
                </a:solidFill>
                <a:latin typeface="+mn-lt"/>
                <a:cs typeface="Arial"/>
              </a:rPr>
              <a:t>s</a:t>
            </a:r>
            <a:r>
              <a:rPr lang="en-US" altLang="en-US" sz="2800" i="1" dirty="0">
                <a:solidFill>
                  <a:srgbClr val="CC0000"/>
                </a:solidFill>
                <a:latin typeface="+mn-lt"/>
                <a:cs typeface="Arial"/>
              </a:rPr>
              <a:t> &gt; </a:t>
            </a:r>
            <a:r>
              <a:rPr lang="en-US" altLang="en-US" sz="2800" i="1" dirty="0" err="1">
                <a:solidFill>
                  <a:srgbClr val="CC0000"/>
                </a:solidFill>
                <a:latin typeface="+mn-lt"/>
                <a:cs typeface="Arial"/>
              </a:rPr>
              <a:t>R</a:t>
            </a:r>
            <a:r>
              <a:rPr lang="en-US" altLang="en-US" sz="2800" i="1" baseline="-25000" dirty="0" err="1">
                <a:solidFill>
                  <a:srgbClr val="CC0000"/>
                </a:solidFill>
                <a:latin typeface="+mn-lt"/>
                <a:cs typeface="Arial"/>
              </a:rPr>
              <a:t>c</a:t>
            </a:r>
            <a:r>
              <a:rPr lang="en-US" altLang="en-US" sz="2800" i="1" dirty="0">
                <a:solidFill>
                  <a:srgbClr val="FF3300"/>
                </a:solidFill>
                <a:latin typeface="+mn-lt"/>
                <a:cs typeface="Arial"/>
              </a:rPr>
              <a:t>  </a:t>
            </a:r>
            <a:r>
              <a:rPr lang="en-US" altLang="en-US" sz="2800" dirty="0">
                <a:solidFill>
                  <a:srgbClr val="000000"/>
                </a:solidFill>
                <a:latin typeface="+mn-lt"/>
                <a:cs typeface="Arial"/>
              </a:rPr>
              <a:t>What is average end-end throughput?</a:t>
            </a:r>
          </a:p>
        </p:txBody>
      </p:sp>
      <p:grpSp>
        <p:nvGrpSpPr>
          <p:cNvPr id="499" name="Group 209">
            <a:extLst>
              <a:ext uri="{FF2B5EF4-FFF2-40B4-BE49-F238E27FC236}">
                <a16:creationId xmlns:a16="http://schemas.microsoft.com/office/drawing/2014/main" id="{79A28CBF-CC98-364E-9CA1-5406DF2D3C3F}"/>
              </a:ext>
            </a:extLst>
          </p:cNvPr>
          <p:cNvGrpSpPr>
            <a:grpSpLocks/>
          </p:cNvGrpSpPr>
          <p:nvPr/>
        </p:nvGrpSpPr>
        <p:grpSpPr bwMode="auto">
          <a:xfrm>
            <a:off x="1327659" y="5111236"/>
            <a:ext cx="8847138" cy="1282702"/>
            <a:chOff x="186" y="3246"/>
            <a:chExt cx="5573" cy="808"/>
          </a:xfrm>
        </p:grpSpPr>
        <p:sp>
          <p:nvSpPr>
            <p:cNvPr id="500" name="Rectangle 102">
              <a:extLst>
                <a:ext uri="{FF2B5EF4-FFF2-40B4-BE49-F238E27FC236}">
                  <a16:creationId xmlns:a16="http://schemas.microsoft.com/office/drawing/2014/main" id="{A6EA76B5-34A9-BA4F-919C-79EC2F39DFBB}"/>
                </a:ext>
              </a:extLst>
            </p:cNvPr>
            <p:cNvSpPr>
              <a:spLocks noChangeArrowheads="1"/>
            </p:cNvSpPr>
            <p:nvPr/>
          </p:nvSpPr>
          <p:spPr bwMode="auto">
            <a:xfrm>
              <a:off x="186" y="3414"/>
              <a:ext cx="5521" cy="640"/>
            </a:xfrm>
            <a:prstGeom prst="rect">
              <a:avLst/>
            </a:prstGeom>
            <a:solidFill>
              <a:srgbClr val="FFFFFF"/>
            </a:solidFill>
            <a:ln w="2857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01" name="Text Box 101">
              <a:extLst>
                <a:ext uri="{FF2B5EF4-FFF2-40B4-BE49-F238E27FC236}">
                  <a16:creationId xmlns:a16="http://schemas.microsoft.com/office/drawing/2014/main" id="{EC6D6C58-6370-D841-9FF4-E86B32210237}"/>
                </a:ext>
              </a:extLst>
            </p:cNvPr>
            <p:cNvSpPr txBox="1">
              <a:spLocks noChangeArrowheads="1"/>
            </p:cNvSpPr>
            <p:nvPr/>
          </p:nvSpPr>
          <p:spPr bwMode="auto">
            <a:xfrm>
              <a:off x="238" y="3585"/>
              <a:ext cx="552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link on end-end path that constrains  end-end throughput</a:t>
              </a:r>
            </a:p>
          </p:txBody>
        </p:sp>
        <p:sp>
          <p:nvSpPr>
            <p:cNvPr id="502" name="Text Box 104">
              <a:extLst>
                <a:ext uri="{FF2B5EF4-FFF2-40B4-BE49-F238E27FC236}">
                  <a16:creationId xmlns:a16="http://schemas.microsoft.com/office/drawing/2014/main" id="{999DDB29-B5E4-4144-8D94-861082F6DF98}"/>
                </a:ext>
              </a:extLst>
            </p:cNvPr>
            <p:cNvSpPr txBox="1">
              <a:spLocks noChangeArrowheads="1"/>
            </p:cNvSpPr>
            <p:nvPr/>
          </p:nvSpPr>
          <p:spPr bwMode="auto">
            <a:xfrm>
              <a:off x="375" y="3246"/>
              <a:ext cx="1629"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800" b="0" i="1" u="none" strike="noStrike" kern="0" cap="none" spc="0" normalizeH="0" baseline="0" noProof="0" dirty="0">
                  <a:ln>
                    <a:noFill/>
                  </a:ln>
                  <a:solidFill>
                    <a:srgbClr val="CC0000"/>
                  </a:solidFill>
                  <a:effectLst/>
                  <a:uLnTx/>
                  <a:uFillTx/>
                  <a:latin typeface="+mn-lt"/>
                  <a:ea typeface="ＭＳ Ｐゴシック" panose="020B0600070205080204" pitchFamily="34" charset="-128"/>
                  <a:cs typeface="Arial"/>
                </a:rPr>
                <a:t>bottleneck link</a:t>
              </a:r>
            </a:p>
          </p:txBody>
        </p:sp>
      </p:grpSp>
      <p:sp>
        <p:nvSpPr>
          <p:cNvPr id="503" name="AutoShape 51">
            <a:extLst>
              <a:ext uri="{FF2B5EF4-FFF2-40B4-BE49-F238E27FC236}">
                <a16:creationId xmlns:a16="http://schemas.microsoft.com/office/drawing/2014/main" id="{ADA15BF7-93C3-524C-B9B7-716C2BEB040F}"/>
              </a:ext>
            </a:extLst>
          </p:cNvPr>
          <p:cNvSpPr>
            <a:spLocks noChangeArrowheads="1"/>
          </p:cNvSpPr>
          <p:nvPr/>
        </p:nvSpPr>
        <p:spPr bwMode="auto">
          <a:xfrm>
            <a:off x="4883714" y="2311905"/>
            <a:ext cx="1365250" cy="381000"/>
          </a:xfrm>
          <a:prstGeom prst="rightArrow">
            <a:avLst>
              <a:gd name="adj1" fmla="val 50000"/>
              <a:gd name="adj2" fmla="val 89583"/>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endParaRPr lang="en-US" altLang="en-US">
              <a:solidFill>
                <a:srgbClr val="000000"/>
              </a:solidFill>
              <a:latin typeface="+mn-lt"/>
              <a:cs typeface="Arial"/>
            </a:endParaRPr>
          </a:p>
        </p:txBody>
      </p:sp>
      <p:grpSp>
        <p:nvGrpSpPr>
          <p:cNvPr id="504" name="Group 132">
            <a:extLst>
              <a:ext uri="{FF2B5EF4-FFF2-40B4-BE49-F238E27FC236}">
                <a16:creationId xmlns:a16="http://schemas.microsoft.com/office/drawing/2014/main" id="{B3F5B0C7-9CEB-E049-B0C3-0F00703C4087}"/>
              </a:ext>
            </a:extLst>
          </p:cNvPr>
          <p:cNvGrpSpPr>
            <a:grpSpLocks/>
          </p:cNvGrpSpPr>
          <p:nvPr/>
        </p:nvGrpSpPr>
        <p:grpSpPr bwMode="auto">
          <a:xfrm flipH="1">
            <a:off x="9058681" y="2157918"/>
            <a:ext cx="871538" cy="885825"/>
            <a:chOff x="-44" y="1473"/>
            <a:chExt cx="981" cy="1105"/>
          </a:xfrm>
        </p:grpSpPr>
        <p:pic>
          <p:nvPicPr>
            <p:cNvPr id="505" name="Picture 133" descr="desktop_computer_stylized_medium">
              <a:extLst>
                <a:ext uri="{FF2B5EF4-FFF2-40B4-BE49-F238E27FC236}">
                  <a16:creationId xmlns:a16="http://schemas.microsoft.com/office/drawing/2014/main" id="{9D7414AB-58AD-7D46-95D7-2D5B553092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6" name="Freeform 134">
              <a:extLst>
                <a:ext uri="{FF2B5EF4-FFF2-40B4-BE49-F238E27FC236}">
                  <a16:creationId xmlns:a16="http://schemas.microsoft.com/office/drawing/2014/main" id="{D5C4B243-FAF4-7842-9BC1-63CB23F7312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sp>
        <p:nvSpPr>
          <p:cNvPr id="507" name="AutoShape 327">
            <a:extLst>
              <a:ext uri="{FF2B5EF4-FFF2-40B4-BE49-F238E27FC236}">
                <a16:creationId xmlns:a16="http://schemas.microsoft.com/office/drawing/2014/main" id="{2F56CE5E-CD88-F243-A5D6-997F5D7E1139}"/>
              </a:ext>
            </a:extLst>
          </p:cNvPr>
          <p:cNvSpPr>
            <a:spLocks noChangeArrowheads="1"/>
          </p:cNvSpPr>
          <p:nvPr/>
        </p:nvSpPr>
        <p:spPr bwMode="auto">
          <a:xfrm>
            <a:off x="1846826" y="1854705"/>
            <a:ext cx="407988" cy="431800"/>
          </a:xfrm>
          <a:prstGeom prst="can">
            <a:avLst>
              <a:gd name="adj" fmla="val 2139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508" name="Group 206">
            <a:extLst>
              <a:ext uri="{FF2B5EF4-FFF2-40B4-BE49-F238E27FC236}">
                <a16:creationId xmlns:a16="http://schemas.microsoft.com/office/drawing/2014/main" id="{DC9267E1-3EDB-E748-8467-2A9B485898A2}"/>
              </a:ext>
            </a:extLst>
          </p:cNvPr>
          <p:cNvGrpSpPr>
            <a:grpSpLocks/>
          </p:cNvGrpSpPr>
          <p:nvPr/>
        </p:nvGrpSpPr>
        <p:grpSpPr bwMode="auto">
          <a:xfrm>
            <a:off x="1908739" y="3723447"/>
            <a:ext cx="8126412" cy="1166813"/>
            <a:chOff x="775" y="2474"/>
            <a:chExt cx="5119" cy="735"/>
          </a:xfrm>
        </p:grpSpPr>
        <p:grpSp>
          <p:nvGrpSpPr>
            <p:cNvPr id="509" name="Group 173">
              <a:extLst>
                <a:ext uri="{FF2B5EF4-FFF2-40B4-BE49-F238E27FC236}">
                  <a16:creationId xmlns:a16="http://schemas.microsoft.com/office/drawing/2014/main" id="{017DEB16-2C42-DB4F-AC8D-2F24A202D8CA}"/>
                </a:ext>
              </a:extLst>
            </p:cNvPr>
            <p:cNvGrpSpPr>
              <a:grpSpLocks/>
            </p:cNvGrpSpPr>
            <p:nvPr/>
          </p:nvGrpSpPr>
          <p:grpSpPr bwMode="auto">
            <a:xfrm>
              <a:off x="1056" y="2589"/>
              <a:ext cx="222" cy="552"/>
              <a:chOff x="4140" y="429"/>
              <a:chExt cx="1425" cy="2396"/>
            </a:xfrm>
          </p:grpSpPr>
          <p:sp>
            <p:nvSpPr>
              <p:cNvPr id="540" name="Freeform 174">
                <a:extLst>
                  <a:ext uri="{FF2B5EF4-FFF2-40B4-BE49-F238E27FC236}">
                    <a16:creationId xmlns:a16="http://schemas.microsoft.com/office/drawing/2014/main" id="{7071AEAE-A73F-D243-B123-B7B1D9BDFB07}"/>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41" name="Rectangle 175">
                <a:extLst>
                  <a:ext uri="{FF2B5EF4-FFF2-40B4-BE49-F238E27FC236}">
                    <a16:creationId xmlns:a16="http://schemas.microsoft.com/office/drawing/2014/main" id="{70DE3468-CF53-0346-8D80-E9385C7F7D96}"/>
                  </a:ext>
                </a:extLst>
              </p:cNvPr>
              <p:cNvSpPr>
                <a:spLocks noChangeArrowheads="1"/>
              </p:cNvSpPr>
              <p:nvPr/>
            </p:nvSpPr>
            <p:spPr bwMode="auto">
              <a:xfrm>
                <a:off x="4204" y="429"/>
                <a:ext cx="1046"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42" name="Freeform 176">
                <a:extLst>
                  <a:ext uri="{FF2B5EF4-FFF2-40B4-BE49-F238E27FC236}">
                    <a16:creationId xmlns:a16="http://schemas.microsoft.com/office/drawing/2014/main" id="{ED311748-A5CC-494E-90AD-11746C8ACE0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43" name="Freeform 177">
                <a:extLst>
                  <a:ext uri="{FF2B5EF4-FFF2-40B4-BE49-F238E27FC236}">
                    <a16:creationId xmlns:a16="http://schemas.microsoft.com/office/drawing/2014/main" id="{8C78D907-80B8-AF4A-AB8A-5919F960DD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44" name="Rectangle 178">
                <a:extLst>
                  <a:ext uri="{FF2B5EF4-FFF2-40B4-BE49-F238E27FC236}">
                    <a16:creationId xmlns:a16="http://schemas.microsoft.com/office/drawing/2014/main" id="{894B83D8-FCC8-084F-9660-A8CED18F9114}"/>
                  </a:ext>
                </a:extLst>
              </p:cNvPr>
              <p:cNvSpPr>
                <a:spLocks noChangeArrowheads="1"/>
              </p:cNvSpPr>
              <p:nvPr/>
            </p:nvSpPr>
            <p:spPr bwMode="auto">
              <a:xfrm>
                <a:off x="4211" y="694"/>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545" name="Group 179">
                <a:extLst>
                  <a:ext uri="{FF2B5EF4-FFF2-40B4-BE49-F238E27FC236}">
                    <a16:creationId xmlns:a16="http://schemas.microsoft.com/office/drawing/2014/main" id="{FA4C49FB-332B-1C42-B0C2-F3D370F08127}"/>
                  </a:ext>
                </a:extLst>
              </p:cNvPr>
              <p:cNvGrpSpPr>
                <a:grpSpLocks/>
              </p:cNvGrpSpPr>
              <p:nvPr/>
            </p:nvGrpSpPr>
            <p:grpSpPr bwMode="auto">
              <a:xfrm>
                <a:off x="4749" y="668"/>
                <a:ext cx="581" cy="145"/>
                <a:chOff x="614" y="2568"/>
                <a:chExt cx="725" cy="139"/>
              </a:xfrm>
            </p:grpSpPr>
            <p:sp>
              <p:nvSpPr>
                <p:cNvPr id="570" name="AutoShape 180">
                  <a:extLst>
                    <a:ext uri="{FF2B5EF4-FFF2-40B4-BE49-F238E27FC236}">
                      <a16:creationId xmlns:a16="http://schemas.microsoft.com/office/drawing/2014/main" id="{6BD6D33C-E791-F149-8310-5B3D390F6C23}"/>
                    </a:ext>
                  </a:extLst>
                </p:cNvPr>
                <p:cNvSpPr>
                  <a:spLocks noChangeArrowheads="1"/>
                </p:cNvSpPr>
                <p:nvPr/>
              </p:nvSpPr>
              <p:spPr bwMode="auto">
                <a:xfrm>
                  <a:off x="615" y="2568"/>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71" name="AutoShape 181">
                  <a:extLst>
                    <a:ext uri="{FF2B5EF4-FFF2-40B4-BE49-F238E27FC236}">
                      <a16:creationId xmlns:a16="http://schemas.microsoft.com/office/drawing/2014/main" id="{5E71277F-C04C-3142-838B-6EE506CB21AF}"/>
                    </a:ext>
                  </a:extLst>
                </p:cNvPr>
                <p:cNvSpPr>
                  <a:spLocks noChangeArrowheads="1"/>
                </p:cNvSpPr>
                <p:nvPr/>
              </p:nvSpPr>
              <p:spPr bwMode="auto">
                <a:xfrm>
                  <a:off x="631" y="2584"/>
                  <a:ext cx="689"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546" name="Rectangle 182">
                <a:extLst>
                  <a:ext uri="{FF2B5EF4-FFF2-40B4-BE49-F238E27FC236}">
                    <a16:creationId xmlns:a16="http://schemas.microsoft.com/office/drawing/2014/main" id="{24A16DC6-2460-DC4F-994B-EF8DC5F2AC82}"/>
                  </a:ext>
                </a:extLst>
              </p:cNvPr>
              <p:cNvSpPr>
                <a:spLocks noChangeArrowheads="1"/>
              </p:cNvSpPr>
              <p:nvPr/>
            </p:nvSpPr>
            <p:spPr bwMode="auto">
              <a:xfrm>
                <a:off x="4223" y="1019"/>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547" name="Group 183">
                <a:extLst>
                  <a:ext uri="{FF2B5EF4-FFF2-40B4-BE49-F238E27FC236}">
                    <a16:creationId xmlns:a16="http://schemas.microsoft.com/office/drawing/2014/main" id="{98E7E366-D731-D346-83EB-43C23A31E5E1}"/>
                  </a:ext>
                </a:extLst>
              </p:cNvPr>
              <p:cNvGrpSpPr>
                <a:grpSpLocks/>
              </p:cNvGrpSpPr>
              <p:nvPr/>
            </p:nvGrpSpPr>
            <p:grpSpPr bwMode="auto">
              <a:xfrm>
                <a:off x="4747" y="994"/>
                <a:ext cx="581" cy="134"/>
                <a:chOff x="614" y="2568"/>
                <a:chExt cx="725" cy="139"/>
              </a:xfrm>
            </p:grpSpPr>
            <p:sp>
              <p:nvSpPr>
                <p:cNvPr id="568" name="AutoShape 184">
                  <a:extLst>
                    <a:ext uri="{FF2B5EF4-FFF2-40B4-BE49-F238E27FC236}">
                      <a16:creationId xmlns:a16="http://schemas.microsoft.com/office/drawing/2014/main" id="{12E76A99-F292-4942-B7EA-16F260F71E30}"/>
                    </a:ext>
                  </a:extLst>
                </p:cNvPr>
                <p:cNvSpPr>
                  <a:spLocks noChangeArrowheads="1"/>
                </p:cNvSpPr>
                <p:nvPr/>
              </p:nvSpPr>
              <p:spPr bwMode="auto">
                <a:xfrm>
                  <a:off x="617" y="2567"/>
                  <a:ext cx="721"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69" name="AutoShape 185">
                  <a:extLst>
                    <a:ext uri="{FF2B5EF4-FFF2-40B4-BE49-F238E27FC236}">
                      <a16:creationId xmlns:a16="http://schemas.microsoft.com/office/drawing/2014/main" id="{981E5C21-5C45-464D-B45B-155529C9BC24}"/>
                    </a:ext>
                  </a:extLst>
                </p:cNvPr>
                <p:cNvSpPr>
                  <a:spLocks noChangeArrowheads="1"/>
                </p:cNvSpPr>
                <p:nvPr/>
              </p:nvSpPr>
              <p:spPr bwMode="auto">
                <a:xfrm>
                  <a:off x="634" y="2585"/>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548" name="Rectangle 186">
                <a:extLst>
                  <a:ext uri="{FF2B5EF4-FFF2-40B4-BE49-F238E27FC236}">
                    <a16:creationId xmlns:a16="http://schemas.microsoft.com/office/drawing/2014/main" id="{464DC274-CDF8-6E47-9806-008A0A6CCACD}"/>
                  </a:ext>
                </a:extLst>
              </p:cNvPr>
              <p:cNvSpPr>
                <a:spLocks noChangeArrowheads="1"/>
              </p:cNvSpPr>
              <p:nvPr/>
            </p:nvSpPr>
            <p:spPr bwMode="auto">
              <a:xfrm>
                <a:off x="4217" y="1358"/>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49" name="Rectangle 187">
                <a:extLst>
                  <a:ext uri="{FF2B5EF4-FFF2-40B4-BE49-F238E27FC236}">
                    <a16:creationId xmlns:a16="http://schemas.microsoft.com/office/drawing/2014/main" id="{98AC22BF-B25F-6142-87DB-E850C47D1673}"/>
                  </a:ext>
                </a:extLst>
              </p:cNvPr>
              <p:cNvSpPr>
                <a:spLocks noChangeArrowheads="1"/>
              </p:cNvSpPr>
              <p:nvPr/>
            </p:nvSpPr>
            <p:spPr bwMode="auto">
              <a:xfrm>
                <a:off x="4230" y="1653"/>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550" name="Group 188">
                <a:extLst>
                  <a:ext uri="{FF2B5EF4-FFF2-40B4-BE49-F238E27FC236}">
                    <a16:creationId xmlns:a16="http://schemas.microsoft.com/office/drawing/2014/main" id="{7D330731-B2DD-FA40-90B0-9AF6F55A2DDE}"/>
                  </a:ext>
                </a:extLst>
              </p:cNvPr>
              <p:cNvGrpSpPr>
                <a:grpSpLocks/>
              </p:cNvGrpSpPr>
              <p:nvPr/>
            </p:nvGrpSpPr>
            <p:grpSpPr bwMode="auto">
              <a:xfrm>
                <a:off x="4735" y="1627"/>
                <a:ext cx="582" cy="151"/>
                <a:chOff x="614" y="2568"/>
                <a:chExt cx="725" cy="139"/>
              </a:xfrm>
            </p:grpSpPr>
            <p:sp>
              <p:nvSpPr>
                <p:cNvPr id="566" name="AutoShape 189">
                  <a:extLst>
                    <a:ext uri="{FF2B5EF4-FFF2-40B4-BE49-F238E27FC236}">
                      <a16:creationId xmlns:a16="http://schemas.microsoft.com/office/drawing/2014/main" id="{9DE72B9D-63C0-864A-8FD9-1B399D8E8160}"/>
                    </a:ext>
                  </a:extLst>
                </p:cNvPr>
                <p:cNvSpPr>
                  <a:spLocks noChangeArrowheads="1"/>
                </p:cNvSpPr>
                <p:nvPr/>
              </p:nvSpPr>
              <p:spPr bwMode="auto">
                <a:xfrm>
                  <a:off x="616" y="2568"/>
                  <a:ext cx="720"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67" name="AutoShape 190">
                  <a:extLst>
                    <a:ext uri="{FF2B5EF4-FFF2-40B4-BE49-F238E27FC236}">
                      <a16:creationId xmlns:a16="http://schemas.microsoft.com/office/drawing/2014/main" id="{E1DF0355-58D1-FF48-A296-D36811A78BFC}"/>
                    </a:ext>
                  </a:extLst>
                </p:cNvPr>
                <p:cNvSpPr>
                  <a:spLocks noChangeArrowheads="1"/>
                </p:cNvSpPr>
                <p:nvPr/>
              </p:nvSpPr>
              <p:spPr bwMode="auto">
                <a:xfrm>
                  <a:off x="632" y="2584"/>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551" name="Freeform 191">
                <a:extLst>
                  <a:ext uri="{FF2B5EF4-FFF2-40B4-BE49-F238E27FC236}">
                    <a16:creationId xmlns:a16="http://schemas.microsoft.com/office/drawing/2014/main" id="{0F425FAD-60C7-8D46-AC04-D61CF1C12F8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552" name="Group 192">
                <a:extLst>
                  <a:ext uri="{FF2B5EF4-FFF2-40B4-BE49-F238E27FC236}">
                    <a16:creationId xmlns:a16="http://schemas.microsoft.com/office/drawing/2014/main" id="{DD061A78-E747-F742-AAA6-0EBB1F0472B8}"/>
                  </a:ext>
                </a:extLst>
              </p:cNvPr>
              <p:cNvGrpSpPr>
                <a:grpSpLocks/>
              </p:cNvGrpSpPr>
              <p:nvPr/>
            </p:nvGrpSpPr>
            <p:grpSpPr bwMode="auto">
              <a:xfrm>
                <a:off x="4739" y="1327"/>
                <a:ext cx="582" cy="139"/>
                <a:chOff x="614" y="2568"/>
                <a:chExt cx="725" cy="139"/>
              </a:xfrm>
            </p:grpSpPr>
            <p:sp>
              <p:nvSpPr>
                <p:cNvPr id="564" name="AutoShape 193">
                  <a:extLst>
                    <a:ext uri="{FF2B5EF4-FFF2-40B4-BE49-F238E27FC236}">
                      <a16:creationId xmlns:a16="http://schemas.microsoft.com/office/drawing/2014/main" id="{D1A721C9-09F8-CA49-8768-A4D604577519}"/>
                    </a:ext>
                  </a:extLst>
                </p:cNvPr>
                <p:cNvSpPr>
                  <a:spLocks noChangeArrowheads="1"/>
                </p:cNvSpPr>
                <p:nvPr/>
              </p:nvSpPr>
              <p:spPr bwMode="auto">
                <a:xfrm>
                  <a:off x="611" y="2568"/>
                  <a:ext cx="728"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65" name="AutoShape 194">
                  <a:extLst>
                    <a:ext uri="{FF2B5EF4-FFF2-40B4-BE49-F238E27FC236}">
                      <a16:creationId xmlns:a16="http://schemas.microsoft.com/office/drawing/2014/main" id="{62ACD839-F2C5-9845-AB4E-C5BA19C2E2C2}"/>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553" name="Rectangle 195">
                <a:extLst>
                  <a:ext uri="{FF2B5EF4-FFF2-40B4-BE49-F238E27FC236}">
                    <a16:creationId xmlns:a16="http://schemas.microsoft.com/office/drawing/2014/main" id="{372A6132-E5E3-D940-8B20-1C9F499C36B3}"/>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54" name="Freeform 196">
                <a:extLst>
                  <a:ext uri="{FF2B5EF4-FFF2-40B4-BE49-F238E27FC236}">
                    <a16:creationId xmlns:a16="http://schemas.microsoft.com/office/drawing/2014/main" id="{7FB8C692-1BF5-7148-BD0F-82D24606618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55" name="Freeform 197">
                <a:extLst>
                  <a:ext uri="{FF2B5EF4-FFF2-40B4-BE49-F238E27FC236}">
                    <a16:creationId xmlns:a16="http://schemas.microsoft.com/office/drawing/2014/main" id="{B0320B70-5119-4C4A-9DDB-B708D3E777C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56" name="Oval 198">
                <a:extLst>
                  <a:ext uri="{FF2B5EF4-FFF2-40B4-BE49-F238E27FC236}">
                    <a16:creationId xmlns:a16="http://schemas.microsoft.com/office/drawing/2014/main" id="{29E3337B-80AF-FE42-A33A-1B58F9866F7A}"/>
                  </a:ext>
                </a:extLst>
              </p:cNvPr>
              <p:cNvSpPr>
                <a:spLocks noChangeArrowheads="1"/>
              </p:cNvSpPr>
              <p:nvPr/>
            </p:nvSpPr>
            <p:spPr bwMode="auto">
              <a:xfrm>
                <a:off x="5520" y="2612"/>
                <a:ext cx="45"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57" name="Freeform 199">
                <a:extLst>
                  <a:ext uri="{FF2B5EF4-FFF2-40B4-BE49-F238E27FC236}">
                    <a16:creationId xmlns:a16="http://schemas.microsoft.com/office/drawing/2014/main" id="{09D40D09-BC4A-744B-BB47-8545C1DE0A3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58" name="AutoShape 200">
                <a:extLst>
                  <a:ext uri="{FF2B5EF4-FFF2-40B4-BE49-F238E27FC236}">
                    <a16:creationId xmlns:a16="http://schemas.microsoft.com/office/drawing/2014/main" id="{BF852A65-EDBF-594C-9A10-757D04960006}"/>
                  </a:ext>
                </a:extLst>
              </p:cNvPr>
              <p:cNvSpPr>
                <a:spLocks noChangeArrowheads="1"/>
              </p:cNvSpPr>
              <p:nvPr/>
            </p:nvSpPr>
            <p:spPr bwMode="auto">
              <a:xfrm>
                <a:off x="4140" y="2677"/>
                <a:ext cx="1200" cy="148"/>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59" name="AutoShape 201">
                <a:extLst>
                  <a:ext uri="{FF2B5EF4-FFF2-40B4-BE49-F238E27FC236}">
                    <a16:creationId xmlns:a16="http://schemas.microsoft.com/office/drawing/2014/main" id="{02863060-88F5-664A-BDBC-D1E1E1A55602}"/>
                  </a:ext>
                </a:extLst>
              </p:cNvPr>
              <p:cNvSpPr>
                <a:spLocks noChangeArrowheads="1"/>
              </p:cNvSpPr>
              <p:nvPr/>
            </p:nvSpPr>
            <p:spPr bwMode="auto">
              <a:xfrm>
                <a:off x="4204" y="2712"/>
                <a:ext cx="1072"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60" name="Oval 202">
                <a:extLst>
                  <a:ext uri="{FF2B5EF4-FFF2-40B4-BE49-F238E27FC236}">
                    <a16:creationId xmlns:a16="http://schemas.microsoft.com/office/drawing/2014/main" id="{5E04EF61-FED3-3541-ACA1-9693CBB7F428}"/>
                  </a:ext>
                </a:extLst>
              </p:cNvPr>
              <p:cNvSpPr>
                <a:spLocks noChangeArrowheads="1"/>
              </p:cNvSpPr>
              <p:nvPr/>
            </p:nvSpPr>
            <p:spPr bwMode="auto">
              <a:xfrm>
                <a:off x="4307" y="2382"/>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61" name="Oval 203">
                <a:extLst>
                  <a:ext uri="{FF2B5EF4-FFF2-40B4-BE49-F238E27FC236}">
                    <a16:creationId xmlns:a16="http://schemas.microsoft.com/office/drawing/2014/main" id="{44A7BC25-D6E5-A44C-855D-AA7C5150ACF3}"/>
                  </a:ext>
                </a:extLst>
              </p:cNvPr>
              <p:cNvSpPr>
                <a:spLocks noChangeArrowheads="1"/>
              </p:cNvSpPr>
              <p:nvPr/>
            </p:nvSpPr>
            <p:spPr bwMode="auto">
              <a:xfrm>
                <a:off x="4487" y="2382"/>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mn-lt"/>
                  <a:ea typeface="ＭＳ Ｐゴシック" panose="020B0600070205080204" pitchFamily="34" charset="-128"/>
                  <a:cs typeface="Arial"/>
                </a:endParaRPr>
              </a:p>
            </p:txBody>
          </p:sp>
          <p:sp>
            <p:nvSpPr>
              <p:cNvPr id="562" name="Oval 204">
                <a:extLst>
                  <a:ext uri="{FF2B5EF4-FFF2-40B4-BE49-F238E27FC236}">
                    <a16:creationId xmlns:a16="http://schemas.microsoft.com/office/drawing/2014/main" id="{14F564A5-40D1-4A43-8039-CF1042677D34}"/>
                  </a:ext>
                </a:extLst>
              </p:cNvPr>
              <p:cNvSpPr>
                <a:spLocks noChangeArrowheads="1"/>
              </p:cNvSpPr>
              <p:nvPr/>
            </p:nvSpPr>
            <p:spPr bwMode="auto">
              <a:xfrm>
                <a:off x="4660" y="2382"/>
                <a:ext cx="160"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63" name="Rectangle 205">
                <a:extLst>
                  <a:ext uri="{FF2B5EF4-FFF2-40B4-BE49-F238E27FC236}">
                    <a16:creationId xmlns:a16="http://schemas.microsoft.com/office/drawing/2014/main" id="{1AE270E5-AC06-504B-BF97-435964C8BCFA}"/>
                  </a:ext>
                </a:extLst>
              </p:cNvPr>
              <p:cNvSpPr>
                <a:spLocks noChangeArrowheads="1"/>
              </p:cNvSpPr>
              <p:nvPr/>
            </p:nvSpPr>
            <p:spPr bwMode="auto">
              <a:xfrm>
                <a:off x="5064" y="1835"/>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510" name="Line 57">
              <a:extLst>
                <a:ext uri="{FF2B5EF4-FFF2-40B4-BE49-F238E27FC236}">
                  <a16:creationId xmlns:a16="http://schemas.microsoft.com/office/drawing/2014/main" id="{E30AFCCA-07F4-A740-BD4B-5B28F2D980F1}"/>
                </a:ext>
              </a:extLst>
            </p:cNvPr>
            <p:cNvSpPr>
              <a:spLocks noChangeShapeType="1"/>
            </p:cNvSpPr>
            <p:nvPr/>
          </p:nvSpPr>
          <p:spPr bwMode="auto">
            <a:xfrm>
              <a:off x="1354" y="2913"/>
              <a:ext cx="366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511" name="Group 58">
              <a:extLst>
                <a:ext uri="{FF2B5EF4-FFF2-40B4-BE49-F238E27FC236}">
                  <a16:creationId xmlns:a16="http://schemas.microsoft.com/office/drawing/2014/main" id="{C24A23EE-8313-D64E-BD4F-3BFCD778F53E}"/>
                </a:ext>
              </a:extLst>
            </p:cNvPr>
            <p:cNvGrpSpPr>
              <a:grpSpLocks/>
            </p:cNvGrpSpPr>
            <p:nvPr/>
          </p:nvGrpSpPr>
          <p:grpSpPr bwMode="auto">
            <a:xfrm>
              <a:off x="2731" y="2870"/>
              <a:ext cx="607" cy="108"/>
              <a:chOff x="3603" y="243"/>
              <a:chExt cx="357" cy="106"/>
            </a:xfrm>
          </p:grpSpPr>
          <p:sp>
            <p:nvSpPr>
              <p:cNvPr id="531" name="Line 60">
                <a:extLst>
                  <a:ext uri="{FF2B5EF4-FFF2-40B4-BE49-F238E27FC236}">
                    <a16:creationId xmlns:a16="http://schemas.microsoft.com/office/drawing/2014/main" id="{1E8C1397-8F48-5E4D-BC95-2AEEFF4329B2}"/>
                  </a:ext>
                </a:extLst>
              </p:cNvPr>
              <p:cNvSpPr>
                <a:spLocks noChangeShapeType="1"/>
              </p:cNvSpPr>
              <p:nvPr/>
            </p:nvSpPr>
            <p:spPr bwMode="auto">
              <a:xfrm>
                <a:off x="3603" y="289"/>
                <a:ext cx="0" cy="6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32" name="Line 61">
                <a:extLst>
                  <a:ext uri="{FF2B5EF4-FFF2-40B4-BE49-F238E27FC236}">
                    <a16:creationId xmlns:a16="http://schemas.microsoft.com/office/drawing/2014/main" id="{A9B3CF61-A592-AA42-AE21-C6F6DDBF0ED0}"/>
                  </a:ext>
                </a:extLst>
              </p:cNvPr>
              <p:cNvSpPr>
                <a:spLocks noChangeShapeType="1"/>
              </p:cNvSpPr>
              <p:nvPr/>
            </p:nvSpPr>
            <p:spPr bwMode="auto">
              <a:xfrm>
                <a:off x="3960" y="289"/>
                <a:ext cx="0" cy="6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33" name="Rectangle 62">
                <a:extLst>
                  <a:ext uri="{FF2B5EF4-FFF2-40B4-BE49-F238E27FC236}">
                    <a16:creationId xmlns:a16="http://schemas.microsoft.com/office/drawing/2014/main" id="{BD11C863-452F-AE46-9242-58534859C246}"/>
                  </a:ext>
                </a:extLst>
              </p:cNvPr>
              <p:cNvSpPr>
                <a:spLocks noChangeArrowheads="1"/>
              </p:cNvSpPr>
              <p:nvPr/>
            </p:nvSpPr>
            <p:spPr bwMode="auto">
              <a:xfrm>
                <a:off x="3603" y="289"/>
                <a:ext cx="354" cy="59"/>
              </a:xfrm>
              <a:prstGeom prst="rect">
                <a:avLst/>
              </a:prstGeom>
              <a:solidFill>
                <a:srgbClr val="CCCCFF"/>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534" name="Group 64">
                <a:extLst>
                  <a:ext uri="{FF2B5EF4-FFF2-40B4-BE49-F238E27FC236}">
                    <a16:creationId xmlns:a16="http://schemas.microsoft.com/office/drawing/2014/main" id="{A74AB26D-917E-1C43-8497-203578F54CA4}"/>
                  </a:ext>
                </a:extLst>
              </p:cNvPr>
              <p:cNvGrpSpPr>
                <a:grpSpLocks/>
              </p:cNvGrpSpPr>
              <p:nvPr/>
            </p:nvGrpSpPr>
            <p:grpSpPr bwMode="auto">
              <a:xfrm>
                <a:off x="3749" y="248"/>
                <a:ext cx="119" cy="65"/>
                <a:chOff x="2894" y="850"/>
                <a:chExt cx="94" cy="96"/>
              </a:xfrm>
            </p:grpSpPr>
            <p:sp>
              <p:nvSpPr>
                <p:cNvPr id="538" name="Line 66">
                  <a:extLst>
                    <a:ext uri="{FF2B5EF4-FFF2-40B4-BE49-F238E27FC236}">
                      <a16:creationId xmlns:a16="http://schemas.microsoft.com/office/drawing/2014/main" id="{B0ECEE3F-0D27-9E45-AD59-E3E44736B14A}"/>
                    </a:ext>
                  </a:extLst>
                </p:cNvPr>
                <p:cNvSpPr>
                  <a:spLocks noChangeShapeType="1"/>
                </p:cNvSpPr>
                <p:nvPr/>
              </p:nvSpPr>
              <p:spPr bwMode="auto">
                <a:xfrm>
                  <a:off x="2944" y="946"/>
                  <a:ext cx="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39" name="Line 67">
                  <a:extLst>
                    <a:ext uri="{FF2B5EF4-FFF2-40B4-BE49-F238E27FC236}">
                      <a16:creationId xmlns:a16="http://schemas.microsoft.com/office/drawing/2014/main" id="{EB55E3DC-430D-5347-B8CC-57099591978B}"/>
                    </a:ext>
                  </a:extLst>
                </p:cNvPr>
                <p:cNvSpPr>
                  <a:spLocks noChangeShapeType="1"/>
                </p:cNvSpPr>
                <p:nvPr/>
              </p:nvSpPr>
              <p:spPr bwMode="auto">
                <a:xfrm>
                  <a:off x="2894" y="850"/>
                  <a:ext cx="52" cy="9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nvGrpSpPr>
              <p:cNvPr id="535" name="Group 68">
                <a:extLst>
                  <a:ext uri="{FF2B5EF4-FFF2-40B4-BE49-F238E27FC236}">
                    <a16:creationId xmlns:a16="http://schemas.microsoft.com/office/drawing/2014/main" id="{EE23C2BF-5FE2-B644-AFE9-10E650F8E6FE}"/>
                  </a:ext>
                </a:extLst>
              </p:cNvPr>
              <p:cNvGrpSpPr>
                <a:grpSpLocks/>
              </p:cNvGrpSpPr>
              <p:nvPr/>
            </p:nvGrpSpPr>
            <p:grpSpPr bwMode="auto">
              <a:xfrm flipV="1">
                <a:off x="3689" y="243"/>
                <a:ext cx="124" cy="66"/>
                <a:chOff x="2848" y="848"/>
                <a:chExt cx="98" cy="98"/>
              </a:xfrm>
            </p:grpSpPr>
            <p:sp>
              <p:nvSpPr>
                <p:cNvPr id="536" name="Line 69">
                  <a:extLst>
                    <a:ext uri="{FF2B5EF4-FFF2-40B4-BE49-F238E27FC236}">
                      <a16:creationId xmlns:a16="http://schemas.microsoft.com/office/drawing/2014/main" id="{9CEA633F-1910-4F48-AE5F-C3F267226C9D}"/>
                    </a:ext>
                  </a:extLst>
                </p:cNvPr>
                <p:cNvSpPr>
                  <a:spLocks noChangeShapeType="1"/>
                </p:cNvSpPr>
                <p:nvPr/>
              </p:nvSpPr>
              <p:spPr bwMode="auto">
                <a:xfrm flipV="1">
                  <a:off x="2848" y="848"/>
                  <a:ext cx="50" cy="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537" name="Line 71">
                  <a:extLst>
                    <a:ext uri="{FF2B5EF4-FFF2-40B4-BE49-F238E27FC236}">
                      <a16:creationId xmlns:a16="http://schemas.microsoft.com/office/drawing/2014/main" id="{0EEE95F5-28BD-5244-AB61-1D0DDB38D982}"/>
                    </a:ext>
                  </a:extLst>
                </p:cNvPr>
                <p:cNvSpPr>
                  <a:spLocks noChangeShapeType="1"/>
                </p:cNvSpPr>
                <p:nvPr/>
              </p:nvSpPr>
              <p:spPr bwMode="auto">
                <a:xfrm>
                  <a:off x="2894" y="850"/>
                  <a:ext cx="52" cy="9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sp>
          <p:nvSpPr>
            <p:cNvPr id="512" name="AutoShape 90">
              <a:extLst>
                <a:ext uri="{FF2B5EF4-FFF2-40B4-BE49-F238E27FC236}">
                  <a16:creationId xmlns:a16="http://schemas.microsoft.com/office/drawing/2014/main" id="{FBD38E77-2123-B941-9E3E-28175B8F1087}"/>
                </a:ext>
              </a:extLst>
            </p:cNvPr>
            <p:cNvSpPr>
              <a:spLocks noChangeArrowheads="1"/>
            </p:cNvSpPr>
            <p:nvPr/>
          </p:nvSpPr>
          <p:spPr bwMode="auto">
            <a:xfrm>
              <a:off x="4741" y="2812"/>
              <a:ext cx="609" cy="239"/>
            </a:xfrm>
            <a:prstGeom prst="rightArrow">
              <a:avLst>
                <a:gd name="adj1" fmla="val 50000"/>
                <a:gd name="adj2" fmla="val 53870"/>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513" name="Group 92">
              <a:extLst>
                <a:ext uri="{FF2B5EF4-FFF2-40B4-BE49-F238E27FC236}">
                  <a16:creationId xmlns:a16="http://schemas.microsoft.com/office/drawing/2014/main" id="{DDC22D0D-F03A-C14E-9613-D042E5ACF062}"/>
                </a:ext>
              </a:extLst>
            </p:cNvPr>
            <p:cNvGrpSpPr>
              <a:grpSpLocks/>
            </p:cNvGrpSpPr>
            <p:nvPr/>
          </p:nvGrpSpPr>
          <p:grpSpPr bwMode="auto">
            <a:xfrm>
              <a:off x="1328" y="2739"/>
              <a:ext cx="1347" cy="360"/>
              <a:chOff x="2249" y="3459"/>
              <a:chExt cx="1389" cy="257"/>
            </a:xfrm>
          </p:grpSpPr>
          <p:sp>
            <p:nvSpPr>
              <p:cNvPr id="527" name="Oval 93">
                <a:extLst>
                  <a:ext uri="{FF2B5EF4-FFF2-40B4-BE49-F238E27FC236}">
                    <a16:creationId xmlns:a16="http://schemas.microsoft.com/office/drawing/2014/main" id="{BD69A588-896C-CD4F-AF1D-5590117CB9F7}"/>
                  </a:ext>
                </a:extLst>
              </p:cNvPr>
              <p:cNvSpPr>
                <a:spLocks noChangeArrowheads="1"/>
              </p:cNvSpPr>
              <p:nvPr/>
            </p:nvSpPr>
            <p:spPr bwMode="auto">
              <a:xfrm>
                <a:off x="3569" y="346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528" name="Rectangle 94">
                <a:extLst>
                  <a:ext uri="{FF2B5EF4-FFF2-40B4-BE49-F238E27FC236}">
                    <a16:creationId xmlns:a16="http://schemas.microsoft.com/office/drawing/2014/main" id="{690BA38E-8C04-7D49-8A4D-F3EBD36EC7E5}"/>
                  </a:ext>
                </a:extLst>
              </p:cNvPr>
              <p:cNvSpPr>
                <a:spLocks noChangeArrowheads="1"/>
              </p:cNvSpPr>
              <p:nvPr/>
            </p:nvSpPr>
            <p:spPr bwMode="auto">
              <a:xfrm>
                <a:off x="2275" y="3459"/>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529" name="Oval 95">
                <a:extLst>
                  <a:ext uri="{FF2B5EF4-FFF2-40B4-BE49-F238E27FC236}">
                    <a16:creationId xmlns:a16="http://schemas.microsoft.com/office/drawing/2014/main" id="{F8BE880C-8629-DB4F-A98D-187B9D0ED266}"/>
                  </a:ext>
                </a:extLst>
              </p:cNvPr>
              <p:cNvSpPr>
                <a:spLocks noChangeArrowheads="1"/>
              </p:cNvSpPr>
              <p:nvPr/>
            </p:nvSpPr>
            <p:spPr bwMode="auto">
              <a:xfrm>
                <a:off x="2249" y="346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30" name="Rectangle 96">
                <a:extLst>
                  <a:ext uri="{FF2B5EF4-FFF2-40B4-BE49-F238E27FC236}">
                    <a16:creationId xmlns:a16="http://schemas.microsoft.com/office/drawing/2014/main" id="{CEA80494-8D88-874A-A154-9DE5B72CA753}"/>
                  </a:ext>
                </a:extLst>
              </p:cNvPr>
              <p:cNvSpPr>
                <a:spLocks noChangeArrowheads="1"/>
              </p:cNvSpPr>
              <p:nvPr/>
            </p:nvSpPr>
            <p:spPr bwMode="auto">
              <a:xfrm>
                <a:off x="3562" y="3462"/>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grpSp>
        <p:sp>
          <p:nvSpPr>
            <p:cNvPr id="514" name="Text Box 97">
              <a:extLst>
                <a:ext uri="{FF2B5EF4-FFF2-40B4-BE49-F238E27FC236}">
                  <a16:creationId xmlns:a16="http://schemas.microsoft.com/office/drawing/2014/main" id="{1BBEC08D-B4E9-1244-8AFE-C137F04A0DFB}"/>
                </a:ext>
              </a:extLst>
            </p:cNvPr>
            <p:cNvSpPr txBox="1">
              <a:spLocks noChangeArrowheads="1"/>
            </p:cNvSpPr>
            <p:nvPr/>
          </p:nvSpPr>
          <p:spPr bwMode="auto">
            <a:xfrm>
              <a:off x="1313" y="2811"/>
              <a:ext cx="141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R</a:t>
              </a:r>
              <a:r>
                <a:rPr kumimoji="0" lang="en-US" altLang="en-US" sz="2800" b="0" i="0" u="none" strike="noStrike" kern="0" cap="none" spc="0" normalizeH="0" baseline="-25000" noProof="0" dirty="0">
                  <a:ln>
                    <a:noFill/>
                  </a:ln>
                  <a:solidFill>
                    <a:srgbClr val="000000"/>
                  </a:solidFill>
                  <a:effectLst/>
                  <a:uLnTx/>
                  <a:uFillTx/>
                  <a:latin typeface="+mn-lt"/>
                  <a:ea typeface="ＭＳ Ｐゴシック" panose="020B0600070205080204" pitchFamily="34" charset="-128"/>
                  <a:cs typeface="Arial"/>
                </a:rPr>
                <a:t>s</a:t>
              </a:r>
              <a:r>
                <a:rPr kumimoji="0" lang="en-US" altLang="en-US" sz="2000" b="0" i="0" u="none" strike="noStrike" kern="0" cap="none" spc="0" normalizeH="0" baseline="-25000" noProof="0" dirty="0">
                  <a:ln>
                    <a:noFill/>
                  </a:ln>
                  <a:solidFill>
                    <a:srgbClr val="000000"/>
                  </a:solidFill>
                  <a:effectLst/>
                  <a:uLnTx/>
                  <a:uFillTx/>
                  <a:latin typeface="+mn-lt"/>
                  <a:ea typeface="ＭＳ Ｐゴシック" panose="020B0600070205080204" pitchFamily="34" charset="-128"/>
                  <a:cs typeface="Arial"/>
                </a:rPr>
                <a:t> </a:t>
              </a:r>
              <a:r>
                <a:rPr kumimoji="0" lang="en-US" altLang="en-US" sz="20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bits/sec</a:t>
              </a:r>
            </a:p>
          </p:txBody>
        </p:sp>
        <p:grpSp>
          <p:nvGrpSpPr>
            <p:cNvPr id="515" name="Group 83">
              <a:extLst>
                <a:ext uri="{FF2B5EF4-FFF2-40B4-BE49-F238E27FC236}">
                  <a16:creationId xmlns:a16="http://schemas.microsoft.com/office/drawing/2014/main" id="{453C8714-A6D0-E346-8A5B-615EFB01A0E4}"/>
                </a:ext>
              </a:extLst>
            </p:cNvPr>
            <p:cNvGrpSpPr>
              <a:grpSpLocks/>
            </p:cNvGrpSpPr>
            <p:nvPr/>
          </p:nvGrpSpPr>
          <p:grpSpPr bwMode="auto">
            <a:xfrm>
              <a:off x="3419" y="2828"/>
              <a:ext cx="1621" cy="194"/>
              <a:chOff x="2249" y="3430"/>
              <a:chExt cx="1389" cy="256"/>
            </a:xfrm>
          </p:grpSpPr>
          <p:sp>
            <p:nvSpPr>
              <p:cNvPr id="523" name="Oval 84">
                <a:extLst>
                  <a:ext uri="{FF2B5EF4-FFF2-40B4-BE49-F238E27FC236}">
                    <a16:creationId xmlns:a16="http://schemas.microsoft.com/office/drawing/2014/main" id="{15F82EFE-0228-FC41-A2F8-7597E35038F8}"/>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524" name="Rectangle 85">
                <a:extLst>
                  <a:ext uri="{FF2B5EF4-FFF2-40B4-BE49-F238E27FC236}">
                    <a16:creationId xmlns:a16="http://schemas.microsoft.com/office/drawing/2014/main" id="{771827D6-CDB4-624D-966F-486A8E5AB186}"/>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525" name="Oval 86">
                <a:extLst>
                  <a:ext uri="{FF2B5EF4-FFF2-40B4-BE49-F238E27FC236}">
                    <a16:creationId xmlns:a16="http://schemas.microsoft.com/office/drawing/2014/main" id="{2C2907FC-8499-0B4E-AA1A-72F4C0958F2D}"/>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26" name="Rectangle 87">
                <a:extLst>
                  <a:ext uri="{FF2B5EF4-FFF2-40B4-BE49-F238E27FC236}">
                    <a16:creationId xmlns:a16="http://schemas.microsoft.com/office/drawing/2014/main" id="{0460CA79-401A-4C43-9BF8-05BF988CC6B4}"/>
                  </a:ext>
                </a:extLst>
              </p:cNvPr>
              <p:cNvSpPr>
                <a:spLocks noChangeArrowheads="1"/>
              </p:cNvSpPr>
              <p:nvPr/>
            </p:nvSpPr>
            <p:spPr bwMode="auto">
              <a:xfrm>
                <a:off x="3562" y="3438"/>
                <a:ext cx="45" cy="245"/>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grpSp>
        <p:sp>
          <p:nvSpPr>
            <p:cNvPr id="516" name="Text Box 88">
              <a:extLst>
                <a:ext uri="{FF2B5EF4-FFF2-40B4-BE49-F238E27FC236}">
                  <a16:creationId xmlns:a16="http://schemas.microsoft.com/office/drawing/2014/main" id="{2215F4CA-83FF-2F43-A883-32EAB81F1207}"/>
                </a:ext>
              </a:extLst>
            </p:cNvPr>
            <p:cNvSpPr txBox="1">
              <a:spLocks noChangeArrowheads="1"/>
            </p:cNvSpPr>
            <p:nvPr/>
          </p:nvSpPr>
          <p:spPr bwMode="auto">
            <a:xfrm>
              <a:off x="3475" y="2780"/>
              <a:ext cx="162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  </a:t>
              </a:r>
              <a:r>
                <a:rPr kumimoji="0" lang="en-US" altLang="en-US" sz="2000" b="0" i="0" u="none" strike="noStrike" kern="0" cap="none" spc="0" normalizeH="0" baseline="0" noProof="0" dirty="0" err="1">
                  <a:ln>
                    <a:noFill/>
                  </a:ln>
                  <a:solidFill>
                    <a:srgbClr val="000000"/>
                  </a:solidFill>
                  <a:effectLst/>
                  <a:uLnTx/>
                  <a:uFillTx/>
                  <a:latin typeface="+mn-lt"/>
                  <a:ea typeface="ＭＳ Ｐゴシック" panose="020B0600070205080204" pitchFamily="34" charset="-128"/>
                  <a:cs typeface="Arial"/>
                </a:rPr>
                <a:t>R</a:t>
              </a:r>
              <a:r>
                <a:rPr kumimoji="0" lang="en-US" altLang="en-US" sz="2800" b="0" i="0" u="none" strike="noStrike" kern="0" cap="none" spc="0" normalizeH="0" baseline="-25000" noProof="0" dirty="0" err="1">
                  <a:ln>
                    <a:noFill/>
                  </a:ln>
                  <a:solidFill>
                    <a:srgbClr val="000000"/>
                  </a:solidFill>
                  <a:effectLst/>
                  <a:uLnTx/>
                  <a:uFillTx/>
                  <a:latin typeface="+mn-lt"/>
                  <a:ea typeface="ＭＳ Ｐゴシック" panose="020B0600070205080204" pitchFamily="34" charset="-128"/>
                  <a:cs typeface="Arial"/>
                </a:rPr>
                <a:t>c</a:t>
              </a:r>
              <a:r>
                <a:rPr kumimoji="0" lang="en-US" altLang="en-US" sz="2000" b="0" i="0" u="none" strike="noStrike" kern="0" cap="none" spc="0" normalizeH="0" baseline="-25000" noProof="0" dirty="0">
                  <a:ln>
                    <a:noFill/>
                  </a:ln>
                  <a:solidFill>
                    <a:srgbClr val="000000"/>
                  </a:solidFill>
                  <a:effectLst/>
                  <a:uLnTx/>
                  <a:uFillTx/>
                  <a:latin typeface="+mn-lt"/>
                  <a:ea typeface="ＭＳ Ｐゴシック" panose="020B0600070205080204" pitchFamily="34" charset="-128"/>
                  <a:cs typeface="Arial"/>
                </a:rPr>
                <a:t> </a:t>
              </a:r>
              <a:r>
                <a:rPr kumimoji="0" lang="en-US" altLang="en-US" sz="2000" b="0" i="0" u="none" strike="noStrike" kern="0" cap="none" spc="0" normalizeH="0" baseline="0" noProof="0" dirty="0">
                  <a:ln>
                    <a:noFill/>
                  </a:ln>
                  <a:solidFill>
                    <a:srgbClr val="000000"/>
                  </a:solidFill>
                  <a:effectLst/>
                  <a:uLnTx/>
                  <a:uFillTx/>
                  <a:latin typeface="+mn-lt"/>
                  <a:ea typeface="ＭＳ Ｐゴシック" panose="020B0600070205080204" pitchFamily="34" charset="-128"/>
                  <a:cs typeface="Arial"/>
                </a:rPr>
                <a:t>bits/sec</a:t>
              </a:r>
            </a:p>
          </p:txBody>
        </p:sp>
        <p:sp>
          <p:nvSpPr>
            <p:cNvPr id="517" name="AutoShape 98">
              <a:extLst>
                <a:ext uri="{FF2B5EF4-FFF2-40B4-BE49-F238E27FC236}">
                  <a16:creationId xmlns:a16="http://schemas.microsoft.com/office/drawing/2014/main" id="{7823CDE2-367E-FB44-BE34-956568F7C47B}"/>
                </a:ext>
              </a:extLst>
            </p:cNvPr>
            <p:cNvSpPr>
              <a:spLocks noChangeArrowheads="1"/>
            </p:cNvSpPr>
            <p:nvPr/>
          </p:nvSpPr>
          <p:spPr bwMode="auto">
            <a:xfrm>
              <a:off x="2668" y="2808"/>
              <a:ext cx="860" cy="240"/>
            </a:xfrm>
            <a:prstGeom prst="rightArrow">
              <a:avLst>
                <a:gd name="adj1" fmla="val 50000"/>
                <a:gd name="adj2" fmla="val 89583"/>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518" name="AutoShape 89">
              <a:extLst>
                <a:ext uri="{FF2B5EF4-FFF2-40B4-BE49-F238E27FC236}">
                  <a16:creationId xmlns:a16="http://schemas.microsoft.com/office/drawing/2014/main" id="{D3D3E169-3E07-3B4A-A3F9-E35D17B6871F}"/>
                </a:ext>
              </a:extLst>
            </p:cNvPr>
            <p:cNvSpPr>
              <a:spLocks noChangeArrowheads="1"/>
            </p:cNvSpPr>
            <p:nvPr/>
          </p:nvSpPr>
          <p:spPr bwMode="auto">
            <a:xfrm flipV="1">
              <a:off x="814" y="2682"/>
              <a:ext cx="564" cy="356"/>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09 w 21600"/>
                <a:gd name="T13" fmla="*/ 2912 h 21600"/>
                <a:gd name="T14" fmla="*/ 18230 w 21600"/>
                <a:gd name="T15" fmla="*/ 922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gradFill rotWithShape="1">
              <a:gsLst>
                <a:gs pos="0">
                  <a:srgbClr val="FFFFFF"/>
                </a:gs>
                <a:gs pos="100000">
                  <a:srgbClr val="CC0000"/>
                </a:gs>
              </a:gsLst>
              <a:lin ang="0" scaled="1"/>
            </a:gradFill>
            <a:ln w="9525">
              <a:solidFill>
                <a:srgbClr val="CC0000"/>
              </a:solidFill>
              <a:miter lim="800000"/>
              <a:headEnd/>
              <a:tailEnd/>
            </a:ln>
          </p:spPr>
          <p:txBody>
            <a:bodyPr rot="10800000"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519" name="Group 135">
              <a:extLst>
                <a:ext uri="{FF2B5EF4-FFF2-40B4-BE49-F238E27FC236}">
                  <a16:creationId xmlns:a16="http://schemas.microsoft.com/office/drawing/2014/main" id="{5A825877-D688-F24C-8395-71DDEA807E21}"/>
                </a:ext>
              </a:extLst>
            </p:cNvPr>
            <p:cNvGrpSpPr>
              <a:grpSpLocks/>
            </p:cNvGrpSpPr>
            <p:nvPr/>
          </p:nvGrpSpPr>
          <p:grpSpPr bwMode="auto">
            <a:xfrm flipH="1">
              <a:off x="5345" y="2651"/>
              <a:ext cx="549" cy="558"/>
              <a:chOff x="-248" y="1473"/>
              <a:chExt cx="981" cy="1105"/>
            </a:xfrm>
          </p:grpSpPr>
          <p:pic>
            <p:nvPicPr>
              <p:cNvPr id="521" name="Picture 136" descr="desktop_computer_stylized_medium">
                <a:extLst>
                  <a:ext uri="{FF2B5EF4-FFF2-40B4-BE49-F238E27FC236}">
                    <a16:creationId xmlns:a16="http://schemas.microsoft.com/office/drawing/2014/main" id="{77517F6B-1BE4-F94A-BBF9-E9549AC02F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4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37">
                <a:extLst>
                  <a:ext uri="{FF2B5EF4-FFF2-40B4-BE49-F238E27FC236}">
                    <a16:creationId xmlns:a16="http://schemas.microsoft.com/office/drawing/2014/main" id="{85644D17-8C0F-0840-B111-635B1B4F1085}"/>
                  </a:ext>
                </a:extLst>
              </p:cNvPr>
              <p:cNvSpPr>
                <a:spLocks/>
              </p:cNvSpPr>
              <p:nvPr/>
            </p:nvSpPr>
            <p:spPr bwMode="auto">
              <a:xfrm flipH="1">
                <a:off x="20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sp>
          <p:nvSpPr>
            <p:cNvPr id="520" name="AutoShape 327">
              <a:extLst>
                <a:ext uri="{FF2B5EF4-FFF2-40B4-BE49-F238E27FC236}">
                  <a16:creationId xmlns:a16="http://schemas.microsoft.com/office/drawing/2014/main" id="{26E8FD56-0A05-7348-855A-94527638EA41}"/>
                </a:ext>
              </a:extLst>
            </p:cNvPr>
            <p:cNvSpPr>
              <a:spLocks noChangeArrowheads="1"/>
            </p:cNvSpPr>
            <p:nvPr/>
          </p:nvSpPr>
          <p:spPr bwMode="auto">
            <a:xfrm>
              <a:off x="775" y="2474"/>
              <a:ext cx="257" cy="272"/>
            </a:xfrm>
            <a:prstGeom prst="can">
              <a:avLst>
                <a:gd name="adj" fmla="val 2139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Tree>
    <p:extLst>
      <p:ext uri="{BB962C8B-B14F-4D97-AF65-F5344CB8AC3E}">
        <p14:creationId xmlns:p14="http://schemas.microsoft.com/office/powerpoint/2010/main" val="2364278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9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2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848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9" y="549276"/>
            <a:ext cx="6276975"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p:nvPr/>
        </p:nvSpPr>
        <p:spPr>
          <a:xfrm>
            <a:off x="1919288" y="2276476"/>
            <a:ext cx="4032250" cy="1200329"/>
          </a:xfrm>
          <a:prstGeom prst="rect">
            <a:avLst/>
          </a:prstGeom>
          <a:solidFill>
            <a:schemeClr val="bg1">
              <a:lumMod val="85000"/>
            </a:schemeClr>
          </a:solidFill>
        </p:spPr>
        <p:txBody>
          <a:bodyPr>
            <a:spAutoFit/>
          </a:bodyPr>
          <a:lstStyle/>
          <a:p>
            <a:pPr>
              <a:buFont typeface="Arial" pitchFamily="34" charset="0"/>
              <a:buChar char="•"/>
              <a:defRPr/>
            </a:pPr>
            <a:r>
              <a:rPr lang="en-US" dirty="0"/>
              <a:t> If  </a:t>
            </a:r>
            <a:r>
              <a:rPr lang="en-US" dirty="0">
                <a:solidFill>
                  <a:srgbClr val="C00000"/>
                </a:solidFill>
              </a:rPr>
              <a:t>R</a:t>
            </a:r>
            <a:r>
              <a:rPr lang="en-US" baseline="-25000" dirty="0">
                <a:solidFill>
                  <a:srgbClr val="C00000"/>
                </a:solidFill>
              </a:rPr>
              <a:t>s</a:t>
            </a:r>
            <a:r>
              <a:rPr lang="en-US" dirty="0">
                <a:solidFill>
                  <a:srgbClr val="C00000"/>
                </a:solidFill>
              </a:rPr>
              <a:t> &lt; </a:t>
            </a:r>
            <a:r>
              <a:rPr lang="en-US" dirty="0" err="1">
                <a:solidFill>
                  <a:srgbClr val="C00000"/>
                </a:solidFill>
              </a:rPr>
              <a:t>R</a:t>
            </a:r>
            <a:r>
              <a:rPr lang="en-US" baseline="-25000" dirty="0" err="1">
                <a:solidFill>
                  <a:srgbClr val="C00000"/>
                </a:solidFill>
              </a:rPr>
              <a:t>c</a:t>
            </a:r>
            <a:endParaRPr lang="en-US" baseline="-25000" dirty="0">
              <a:solidFill>
                <a:srgbClr val="C00000"/>
              </a:solidFill>
            </a:endParaRPr>
          </a:p>
          <a:p>
            <a:pPr lvl="1">
              <a:buFont typeface="Arial" pitchFamily="34" charset="0"/>
              <a:buChar char="•"/>
              <a:defRPr/>
            </a:pPr>
            <a:r>
              <a:rPr lang="en-US" dirty="0"/>
              <a:t> Flow from Server to Client not interrupted</a:t>
            </a:r>
          </a:p>
          <a:p>
            <a:pPr lvl="1">
              <a:buFont typeface="Arial" pitchFamily="34" charset="0"/>
              <a:buChar char="•"/>
              <a:defRPr/>
            </a:pPr>
            <a:r>
              <a:rPr lang="en-US" dirty="0"/>
              <a:t> </a:t>
            </a:r>
            <a:r>
              <a:rPr lang="en-US" dirty="0">
                <a:solidFill>
                  <a:srgbClr val="C00000"/>
                </a:solidFill>
              </a:rPr>
              <a:t>Throughput = R</a:t>
            </a:r>
            <a:r>
              <a:rPr lang="en-US" baseline="-25000" dirty="0">
                <a:solidFill>
                  <a:srgbClr val="C00000"/>
                </a:solidFill>
              </a:rPr>
              <a:t>s</a:t>
            </a:r>
            <a:endParaRPr lang="en-MY" baseline="-25000" dirty="0">
              <a:solidFill>
                <a:srgbClr val="C00000"/>
              </a:solidFill>
            </a:endParaRPr>
          </a:p>
        </p:txBody>
      </p:sp>
      <p:sp>
        <p:nvSpPr>
          <p:cNvPr id="7" name="TextBox 6"/>
          <p:cNvSpPr txBox="1"/>
          <p:nvPr/>
        </p:nvSpPr>
        <p:spPr>
          <a:xfrm>
            <a:off x="6096000" y="2276476"/>
            <a:ext cx="4032250" cy="1200329"/>
          </a:xfrm>
          <a:prstGeom prst="rect">
            <a:avLst/>
          </a:prstGeom>
          <a:solidFill>
            <a:schemeClr val="bg1">
              <a:lumMod val="85000"/>
            </a:schemeClr>
          </a:solidFill>
        </p:spPr>
        <p:txBody>
          <a:bodyPr>
            <a:spAutoFit/>
          </a:bodyPr>
          <a:lstStyle/>
          <a:p>
            <a:pPr>
              <a:buFont typeface="Arial" pitchFamily="34" charset="0"/>
              <a:buChar char="•"/>
              <a:defRPr/>
            </a:pPr>
            <a:r>
              <a:rPr lang="en-US" dirty="0"/>
              <a:t> If  </a:t>
            </a:r>
            <a:r>
              <a:rPr lang="en-US" dirty="0">
                <a:solidFill>
                  <a:srgbClr val="C00000"/>
                </a:solidFill>
              </a:rPr>
              <a:t>R</a:t>
            </a:r>
            <a:r>
              <a:rPr lang="en-US" baseline="-25000" dirty="0">
                <a:solidFill>
                  <a:srgbClr val="C00000"/>
                </a:solidFill>
              </a:rPr>
              <a:t>s</a:t>
            </a:r>
            <a:r>
              <a:rPr lang="en-US" dirty="0">
                <a:solidFill>
                  <a:srgbClr val="C00000"/>
                </a:solidFill>
              </a:rPr>
              <a:t> &gt; </a:t>
            </a:r>
            <a:r>
              <a:rPr lang="en-US" dirty="0" err="1">
                <a:solidFill>
                  <a:srgbClr val="C00000"/>
                </a:solidFill>
              </a:rPr>
              <a:t>R</a:t>
            </a:r>
            <a:r>
              <a:rPr lang="en-US" baseline="-25000" dirty="0" err="1">
                <a:solidFill>
                  <a:srgbClr val="C00000"/>
                </a:solidFill>
              </a:rPr>
              <a:t>c</a:t>
            </a:r>
            <a:endParaRPr lang="en-US" baseline="-25000" dirty="0">
              <a:solidFill>
                <a:srgbClr val="C00000"/>
              </a:solidFill>
            </a:endParaRPr>
          </a:p>
          <a:p>
            <a:pPr lvl="1">
              <a:buFont typeface="Arial" pitchFamily="34" charset="0"/>
              <a:buChar char="•"/>
              <a:defRPr/>
            </a:pPr>
            <a:r>
              <a:rPr lang="en-US" dirty="0"/>
              <a:t> Flow from Server to Client is interrupted, queue may form</a:t>
            </a:r>
          </a:p>
          <a:p>
            <a:pPr lvl="1">
              <a:buFont typeface="Arial" pitchFamily="34" charset="0"/>
              <a:buChar char="•"/>
              <a:defRPr/>
            </a:pPr>
            <a:r>
              <a:rPr lang="en-US" dirty="0"/>
              <a:t> </a:t>
            </a:r>
            <a:r>
              <a:rPr lang="en-US" dirty="0">
                <a:solidFill>
                  <a:srgbClr val="C00000"/>
                </a:solidFill>
              </a:rPr>
              <a:t>Throughput = </a:t>
            </a:r>
            <a:r>
              <a:rPr lang="en-US" dirty="0" err="1">
                <a:solidFill>
                  <a:srgbClr val="C00000"/>
                </a:solidFill>
              </a:rPr>
              <a:t>R</a:t>
            </a:r>
            <a:r>
              <a:rPr lang="en-US" baseline="-25000" dirty="0" err="1">
                <a:solidFill>
                  <a:srgbClr val="C00000"/>
                </a:solidFill>
              </a:rPr>
              <a:t>c</a:t>
            </a:r>
            <a:endParaRPr lang="en-MY" baseline="-25000" dirty="0">
              <a:solidFill>
                <a:srgbClr val="C00000"/>
              </a:solidFill>
            </a:endParaRPr>
          </a:p>
        </p:txBody>
      </p:sp>
      <p:sp>
        <p:nvSpPr>
          <p:cNvPr id="148485" name="Rectangle 8"/>
          <p:cNvSpPr>
            <a:spLocks noChangeArrowheads="1"/>
          </p:cNvSpPr>
          <p:nvPr/>
        </p:nvSpPr>
        <p:spPr bwMode="auto">
          <a:xfrm>
            <a:off x="3847307" y="4362451"/>
            <a:ext cx="4087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dirty="0">
                <a:solidFill>
                  <a:srgbClr val="C00000"/>
                </a:solidFill>
                <a:latin typeface="Arial" panose="020B0604020202020204" pitchFamily="34" charset="0"/>
              </a:rPr>
              <a:t>Throughput = min{</a:t>
            </a:r>
            <a:r>
              <a:rPr lang="en-MY" altLang="en-US" sz="2400" b="1" i="1" dirty="0" err="1">
                <a:solidFill>
                  <a:srgbClr val="C00000"/>
                </a:solidFill>
                <a:latin typeface="Arial" panose="020B0604020202020204" pitchFamily="34" charset="0"/>
              </a:rPr>
              <a:t>Rc</a:t>
            </a:r>
            <a:r>
              <a:rPr lang="en-MY" altLang="en-US" sz="2400" b="1" i="1" dirty="0">
                <a:solidFill>
                  <a:srgbClr val="C00000"/>
                </a:solidFill>
                <a:latin typeface="Arial" panose="020B0604020202020204" pitchFamily="34" charset="0"/>
              </a:rPr>
              <a:t>, </a:t>
            </a:r>
            <a:r>
              <a:rPr lang="en-MY" altLang="en-US" sz="2400" b="1" i="1" dirty="0" err="1">
                <a:solidFill>
                  <a:srgbClr val="C00000"/>
                </a:solidFill>
                <a:latin typeface="Arial" panose="020B0604020202020204" pitchFamily="34" charset="0"/>
              </a:rPr>
              <a:t>Rs</a:t>
            </a:r>
            <a:r>
              <a:rPr lang="en-MY" altLang="en-US" sz="2400" b="1" i="1" dirty="0">
                <a:solidFill>
                  <a:srgbClr val="C00000"/>
                </a:solidFill>
                <a:latin typeface="Arial" panose="020B0604020202020204" pitchFamily="34" charset="0"/>
              </a:rPr>
              <a:t>},</a:t>
            </a:r>
            <a:endParaRPr lang="en-MY" altLang="en-US" sz="2400" b="1" dirty="0">
              <a:solidFill>
                <a:srgbClr val="C00000"/>
              </a:solidFill>
              <a:latin typeface="Arial" panose="020B0604020202020204" pitchFamily="34" charset="0"/>
            </a:endParaRPr>
          </a:p>
        </p:txBody>
      </p:sp>
      <p:sp>
        <p:nvSpPr>
          <p:cNvPr id="148486" name="Rectangle 9"/>
          <p:cNvSpPr>
            <a:spLocks noChangeArrowheads="1"/>
          </p:cNvSpPr>
          <p:nvPr/>
        </p:nvSpPr>
        <p:spPr bwMode="auto">
          <a:xfrm>
            <a:off x="3772694" y="4868324"/>
            <a:ext cx="45720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a:lnSpc>
                <a:spcPct val="100000"/>
              </a:lnSpc>
              <a:spcBef>
                <a:spcPct val="0"/>
              </a:spcBef>
              <a:buClrTx/>
              <a:buSzTx/>
              <a:buFontTx/>
              <a:buNone/>
            </a:pPr>
            <a:r>
              <a:rPr lang="en-MY" altLang="en-US" sz="2400" dirty="0">
                <a:latin typeface="Arial" panose="020B0604020202020204" pitchFamily="34" charset="0"/>
                <a:sym typeface="Wingdings" panose="05000000000000000000" pitchFamily="2" charset="2"/>
              </a:rPr>
              <a:t> </a:t>
            </a:r>
            <a:r>
              <a:rPr lang="en-MY" altLang="en-US" sz="2400" dirty="0">
                <a:latin typeface="Arial" panose="020B0604020202020204" pitchFamily="34" charset="0"/>
              </a:rPr>
              <a:t>the transmission rate of the </a:t>
            </a:r>
            <a:r>
              <a:rPr lang="en-MY" altLang="en-US" sz="2400" b="1" dirty="0">
                <a:latin typeface="Arial" panose="020B0604020202020204" pitchFamily="34" charset="0"/>
              </a:rPr>
              <a:t>bottleneck link</a:t>
            </a:r>
            <a:endParaRPr lang="en-MY" altLang="en-US" sz="2400" dirty="0">
              <a:latin typeface="Arial" panose="020B0604020202020204" pitchFamily="34" charset="0"/>
            </a:endParaRPr>
          </a:p>
        </p:txBody>
      </p:sp>
      <p:pic>
        <p:nvPicPr>
          <p:cNvPr id="148487" name="Picture 2" descr="Image result for bottlenec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91955" y="5338763"/>
            <a:ext cx="3041025" cy="1236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488" name="Graphic 10" descr="Puzzle"/>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77C4D646-ADE2-BFAD-02DB-2363E56BEB72}"/>
              </a:ext>
            </a:extLst>
          </p:cNvPr>
          <p:cNvSpPr txBox="1">
            <a:spLocks/>
          </p:cNvSpPr>
          <p:nvPr/>
        </p:nvSpPr>
        <p:spPr>
          <a:xfrm>
            <a:off x="10128250" y="6492875"/>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81</a:t>
            </a:fld>
            <a:endParaRPr lang="en-US" dirty="0"/>
          </a:p>
        </p:txBody>
      </p:sp>
    </p:spTree>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2851" y="1776414"/>
            <a:ext cx="6684963" cy="359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31" name="Rectangle 2"/>
          <p:cNvSpPr>
            <a:spLocks noChangeArrowheads="1"/>
          </p:cNvSpPr>
          <p:nvPr/>
        </p:nvSpPr>
        <p:spPr bwMode="auto">
          <a:xfrm>
            <a:off x="2135189" y="549276"/>
            <a:ext cx="70564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a:solidFill>
                  <a:srgbClr val="C00000"/>
                </a:solidFill>
                <a:latin typeface="Arial" panose="020B0604020202020204" pitchFamily="34" charset="0"/>
              </a:rPr>
              <a:t>Throughput for a file transfer from server to client</a:t>
            </a:r>
          </a:p>
        </p:txBody>
      </p:sp>
      <p:sp>
        <p:nvSpPr>
          <p:cNvPr id="150532" name="Rectangle 25"/>
          <p:cNvSpPr>
            <a:spLocks noChangeArrowheads="1"/>
          </p:cNvSpPr>
          <p:nvPr/>
        </p:nvSpPr>
        <p:spPr bwMode="auto">
          <a:xfrm>
            <a:off x="3143250" y="5229226"/>
            <a:ext cx="50433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a:solidFill>
                  <a:srgbClr val="C00000"/>
                </a:solidFill>
                <a:latin typeface="Arial" panose="020B0604020202020204" pitchFamily="34" charset="0"/>
              </a:rPr>
              <a:t>Throughput = min{</a:t>
            </a:r>
            <a:r>
              <a:rPr lang="en-MY" altLang="en-US" sz="2400" b="1" i="1">
                <a:solidFill>
                  <a:srgbClr val="C00000"/>
                </a:solidFill>
                <a:latin typeface="Arial" panose="020B0604020202020204" pitchFamily="34" charset="0"/>
              </a:rPr>
              <a:t>R1, R2,..., RN},</a:t>
            </a:r>
            <a:endParaRPr lang="en-MY" altLang="en-US" sz="2400" b="1">
              <a:solidFill>
                <a:srgbClr val="C00000"/>
              </a:solidFill>
              <a:latin typeface="Arial" panose="020B0604020202020204" pitchFamily="34" charset="0"/>
            </a:endParaRPr>
          </a:p>
        </p:txBody>
      </p:sp>
      <p:sp>
        <p:nvSpPr>
          <p:cNvPr id="150533" name="Rectangle 26"/>
          <p:cNvSpPr>
            <a:spLocks noChangeArrowheads="1"/>
          </p:cNvSpPr>
          <p:nvPr/>
        </p:nvSpPr>
        <p:spPr bwMode="auto">
          <a:xfrm>
            <a:off x="3432176" y="2924176"/>
            <a:ext cx="4087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a:solidFill>
                  <a:srgbClr val="C00000"/>
                </a:solidFill>
                <a:latin typeface="Arial" panose="020B0604020202020204" pitchFamily="34" charset="0"/>
              </a:rPr>
              <a:t>Throughput = min{</a:t>
            </a:r>
            <a:r>
              <a:rPr lang="en-MY" altLang="en-US" sz="2400" b="1" i="1">
                <a:solidFill>
                  <a:srgbClr val="C00000"/>
                </a:solidFill>
                <a:latin typeface="Arial" panose="020B0604020202020204" pitchFamily="34" charset="0"/>
              </a:rPr>
              <a:t>Rc, Rs},</a:t>
            </a:r>
            <a:endParaRPr lang="en-MY" altLang="en-US" sz="2400" b="1">
              <a:solidFill>
                <a:srgbClr val="C00000"/>
              </a:solidFill>
              <a:latin typeface="Arial" panose="020B0604020202020204" pitchFamily="34" charset="0"/>
            </a:endParaRPr>
          </a:p>
        </p:txBody>
      </p:sp>
      <p:pic>
        <p:nvPicPr>
          <p:cNvPr id="150534" name="Graphic 5"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F48186F8-7171-33DC-46F3-E1DC66599DF8}"/>
              </a:ext>
            </a:extLst>
          </p:cNvPr>
          <p:cNvSpPr txBox="1">
            <a:spLocks/>
          </p:cNvSpPr>
          <p:nvPr/>
        </p:nvSpPr>
        <p:spPr>
          <a:xfrm>
            <a:off x="9219616" y="6443089"/>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Introduction: 1-</a:t>
            </a:r>
            <a:fld id="{C4204591-24BD-A542-B9D5-F8D8A88D2FEE}" type="slidenum">
              <a:rPr lang="en-US" smtClean="0"/>
              <a:pPr/>
              <a:t>82</a:t>
            </a:fld>
            <a:endParaRPr lang="en-US" dirty="0"/>
          </a:p>
        </p:txBody>
      </p:sp>
    </p:spTree>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itle 2"/>
          <p:cNvSpPr>
            <a:spLocks noGrp="1" noChangeArrowheads="1"/>
          </p:cNvSpPr>
          <p:nvPr>
            <p:ph type="title"/>
          </p:nvPr>
        </p:nvSpPr>
        <p:spPr/>
        <p:txBody>
          <a:bodyPr/>
          <a:lstStyle/>
          <a:p>
            <a:r>
              <a:rPr lang="en-US" altLang="en-US">
                <a:ea typeface="ＭＳ Ｐゴシック" panose="020B0600070205080204" pitchFamily="34" charset="-128"/>
              </a:rPr>
              <a:t>Example A</a:t>
            </a:r>
            <a:endParaRPr lang="en-MY" altLang="en-US">
              <a:ea typeface="ＭＳ Ｐゴシック" panose="020B0600070205080204" pitchFamily="34" charset="-128"/>
            </a:endParaRPr>
          </a:p>
        </p:txBody>
      </p:sp>
      <p:sp>
        <p:nvSpPr>
          <p:cNvPr id="151555" name="Content Placeholder 3"/>
          <p:cNvSpPr>
            <a:spLocks noGrp="1" noChangeArrowheads="1"/>
          </p:cNvSpPr>
          <p:nvPr>
            <p:ph sz="quarter" idx="1"/>
          </p:nvPr>
        </p:nvSpPr>
        <p:spPr/>
        <p:txBody>
          <a:bodyPr/>
          <a:lstStyle/>
          <a:p>
            <a:r>
              <a:rPr lang="en-MY" altLang="en-US" sz="2400">
                <a:ea typeface="ＭＳ Ｐゴシック" panose="020B0600070205080204" pitchFamily="34" charset="-128"/>
              </a:rPr>
              <a:t>The time it takes to transfer a large file of </a:t>
            </a:r>
            <a:r>
              <a:rPr lang="en-MY" altLang="en-US" sz="2400" i="1">
                <a:ea typeface="ＭＳ Ｐゴシック" panose="020B0600070205080204" pitchFamily="34" charset="-128"/>
              </a:rPr>
              <a:t>F bits from server to </a:t>
            </a:r>
            <a:r>
              <a:rPr lang="en-MY" altLang="en-US" sz="2400">
                <a:ea typeface="ＭＳ Ｐゴシック" panose="020B0600070205080204" pitchFamily="34" charset="-128"/>
              </a:rPr>
              <a:t>client as </a:t>
            </a:r>
            <a:r>
              <a:rPr lang="en-MY" altLang="en-US" sz="2400" i="1">
                <a:solidFill>
                  <a:srgbClr val="C00000"/>
                </a:solidFill>
                <a:ea typeface="ＭＳ Ｐゴシック" panose="020B0600070205080204" pitchFamily="34" charset="-128"/>
              </a:rPr>
              <a:t>F/min{Rs, Rc}</a:t>
            </a:r>
          </a:p>
          <a:p>
            <a:r>
              <a:rPr lang="en-MY" altLang="en-US" sz="2400" i="1">
                <a:ea typeface="ＭＳ Ｐゴシック" panose="020B0600070205080204" pitchFamily="34" charset="-128"/>
              </a:rPr>
              <a:t>Say, you are downloading a</a:t>
            </a:r>
            <a:r>
              <a:rPr lang="en-MY" altLang="en-US" sz="2400">
                <a:ea typeface="ＭＳ Ｐゴシック" panose="020B0600070205080204" pitchFamily="34" charset="-128"/>
              </a:rPr>
              <a:t> file of </a:t>
            </a:r>
            <a:r>
              <a:rPr lang="en-MY" altLang="en-US" sz="2400" i="1">
                <a:ea typeface="ＭＳ Ｐゴシック" panose="020B0600070205080204" pitchFamily="34" charset="-128"/>
              </a:rPr>
              <a:t>F = 32 million bits, the server has a transmission rate of Rs = 2 Mbps, </a:t>
            </a:r>
            <a:r>
              <a:rPr lang="en-MY" altLang="en-US" sz="2400">
                <a:ea typeface="ＭＳ Ｐゴシック" panose="020B0600070205080204" pitchFamily="34" charset="-128"/>
              </a:rPr>
              <a:t>and you have an access link of </a:t>
            </a:r>
            <a:r>
              <a:rPr lang="en-MY" altLang="en-US" sz="2400" i="1">
                <a:ea typeface="ＭＳ Ｐゴシック" panose="020B0600070205080204" pitchFamily="34" charset="-128"/>
              </a:rPr>
              <a:t>Rc = 1 Mbps. </a:t>
            </a:r>
          </a:p>
          <a:p>
            <a:r>
              <a:rPr lang="en-MY" altLang="en-US" sz="2400" i="1">
                <a:ea typeface="ＭＳ Ｐゴシック" panose="020B0600070205080204" pitchFamily="34" charset="-128"/>
              </a:rPr>
              <a:t>The time needed to transfer the file is </a:t>
            </a:r>
          </a:p>
        </p:txBody>
      </p:sp>
      <p:sp>
        <p:nvSpPr>
          <p:cNvPr id="151556" name="TextBox 4"/>
          <p:cNvSpPr txBox="1">
            <a:spLocks noChangeArrowheads="1"/>
          </p:cNvSpPr>
          <p:nvPr/>
        </p:nvSpPr>
        <p:spPr bwMode="auto">
          <a:xfrm>
            <a:off x="2424114" y="4437063"/>
            <a:ext cx="748823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solidFill>
                  <a:srgbClr val="C00000"/>
                </a:solidFill>
                <a:latin typeface="Arial" panose="020B0604020202020204" pitchFamily="34" charset="0"/>
              </a:rPr>
              <a:t>Transfer time = (32 x 10</a:t>
            </a:r>
            <a:r>
              <a:rPr lang="en-US" altLang="en-US" sz="2400" b="1" baseline="30000">
                <a:solidFill>
                  <a:srgbClr val="C00000"/>
                </a:solidFill>
                <a:latin typeface="Arial" panose="020B0604020202020204" pitchFamily="34" charset="0"/>
              </a:rPr>
              <a:t>6</a:t>
            </a:r>
            <a:r>
              <a:rPr lang="en-US" altLang="en-US" sz="2400" b="1">
                <a:solidFill>
                  <a:srgbClr val="C00000"/>
                </a:solidFill>
                <a:latin typeface="Arial" panose="020B0604020202020204" pitchFamily="34" charset="0"/>
              </a:rPr>
              <a:t>) bits/1Mbps </a:t>
            </a:r>
          </a:p>
          <a:p>
            <a:pPr>
              <a:lnSpc>
                <a:spcPct val="100000"/>
              </a:lnSpc>
              <a:spcBef>
                <a:spcPct val="0"/>
              </a:spcBef>
              <a:buClrTx/>
              <a:buSzTx/>
              <a:buFontTx/>
              <a:buNone/>
            </a:pPr>
            <a:r>
              <a:rPr lang="en-US" altLang="en-US" sz="2400" b="1">
                <a:solidFill>
                  <a:srgbClr val="C00000"/>
                </a:solidFill>
                <a:latin typeface="Arial" panose="020B0604020202020204" pitchFamily="34" charset="0"/>
              </a:rPr>
              <a:t>                             = 32 seconds</a:t>
            </a:r>
            <a:endParaRPr lang="en-MY" altLang="en-US" sz="2400" b="1">
              <a:solidFill>
                <a:srgbClr val="C00000"/>
              </a:solidFill>
              <a:latin typeface="Arial" panose="020B0604020202020204" pitchFamily="34" charset="0"/>
            </a:endParaRPr>
          </a:p>
        </p:txBody>
      </p:sp>
      <p:sp>
        <p:nvSpPr>
          <p:cNvPr id="2" name="Slide Number Placeholder 5">
            <a:extLst>
              <a:ext uri="{FF2B5EF4-FFF2-40B4-BE49-F238E27FC236}">
                <a16:creationId xmlns:a16="http://schemas.microsoft.com/office/drawing/2014/main" id="{195BD9E1-30EF-4CC3-86F2-C4E4FF25948F}"/>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83</a:t>
            </a:fld>
            <a:endParaRPr lang="en-US" dirty="0"/>
          </a:p>
        </p:txBody>
      </p:sp>
    </p:spTree>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Throughput: network scenario</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84</a:t>
            </a:fld>
            <a:endParaRPr lang="en-US" dirty="0"/>
          </a:p>
        </p:txBody>
      </p:sp>
      <p:grpSp>
        <p:nvGrpSpPr>
          <p:cNvPr id="3" name="Group 2">
            <a:extLst>
              <a:ext uri="{FF2B5EF4-FFF2-40B4-BE49-F238E27FC236}">
                <a16:creationId xmlns:a16="http://schemas.microsoft.com/office/drawing/2014/main" id="{30BDC7F4-E0CA-5441-8A92-F3458106F4EB}"/>
              </a:ext>
            </a:extLst>
          </p:cNvPr>
          <p:cNvGrpSpPr/>
          <p:nvPr/>
        </p:nvGrpSpPr>
        <p:grpSpPr>
          <a:xfrm>
            <a:off x="1066778" y="1303830"/>
            <a:ext cx="4754562" cy="5021997"/>
            <a:chOff x="6096000" y="1390614"/>
            <a:chExt cx="4754562" cy="5021997"/>
          </a:xfrm>
        </p:grpSpPr>
        <p:sp>
          <p:nvSpPr>
            <p:cNvPr id="602" name="Text Box 44">
              <a:extLst>
                <a:ext uri="{FF2B5EF4-FFF2-40B4-BE49-F238E27FC236}">
                  <a16:creationId xmlns:a16="http://schemas.microsoft.com/office/drawing/2014/main" id="{42F82D1E-8ED4-4F44-9C3C-BDFDC81291EA}"/>
                </a:ext>
              </a:extLst>
            </p:cNvPr>
            <p:cNvSpPr txBox="1">
              <a:spLocks noChangeArrowheads="1"/>
            </p:cNvSpPr>
            <p:nvPr/>
          </p:nvSpPr>
          <p:spPr bwMode="auto">
            <a:xfrm>
              <a:off x="6096000" y="5581614"/>
              <a:ext cx="47545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dirty="0">
                  <a:solidFill>
                    <a:srgbClr val="000000"/>
                  </a:solidFill>
                  <a:latin typeface="+mn-lt"/>
                  <a:cs typeface="Arial"/>
                </a:rPr>
                <a:t>10 connections (fairly) share backbone bottleneck link </a:t>
              </a:r>
              <a:r>
                <a:rPr lang="en-US" altLang="en-US" i="1" dirty="0">
                  <a:solidFill>
                    <a:srgbClr val="000000"/>
                  </a:solidFill>
                  <a:latin typeface="+mn-lt"/>
                  <a:cs typeface="Arial"/>
                </a:rPr>
                <a:t>R</a:t>
              </a:r>
              <a:r>
                <a:rPr lang="en-US" altLang="en-US" baseline="-25000" dirty="0">
                  <a:solidFill>
                    <a:srgbClr val="000000"/>
                  </a:solidFill>
                  <a:latin typeface="+mn-lt"/>
                  <a:cs typeface="Arial"/>
                </a:rPr>
                <a:t> </a:t>
              </a:r>
              <a:r>
                <a:rPr lang="en-US" altLang="en-US" dirty="0">
                  <a:solidFill>
                    <a:srgbClr val="000000"/>
                  </a:solidFill>
                  <a:latin typeface="+mn-lt"/>
                  <a:cs typeface="Arial"/>
                </a:rPr>
                <a:t>bits/sec</a:t>
              </a:r>
            </a:p>
          </p:txBody>
        </p:sp>
        <p:sp>
          <p:nvSpPr>
            <p:cNvPr id="603" name="Freeform 296">
              <a:extLst>
                <a:ext uri="{FF2B5EF4-FFF2-40B4-BE49-F238E27FC236}">
                  <a16:creationId xmlns:a16="http://schemas.microsoft.com/office/drawing/2014/main" id="{12223E81-DDE4-C440-BABA-D7BC48DB125E}"/>
                </a:ext>
              </a:extLst>
            </p:cNvPr>
            <p:cNvSpPr>
              <a:spLocks/>
            </p:cNvSpPr>
            <p:nvPr/>
          </p:nvSpPr>
          <p:spPr bwMode="auto">
            <a:xfrm>
              <a:off x="6742112" y="2666964"/>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04" name="Text Box 35">
              <a:extLst>
                <a:ext uri="{FF2B5EF4-FFF2-40B4-BE49-F238E27FC236}">
                  <a16:creationId xmlns:a16="http://schemas.microsoft.com/office/drawing/2014/main" id="{8E3A2589-33AD-0948-8AAD-49FBF5318781}"/>
                </a:ext>
              </a:extLst>
            </p:cNvPr>
            <p:cNvSpPr txBox="1">
              <a:spLocks noChangeArrowheads="1"/>
            </p:cNvSpPr>
            <p:nvPr/>
          </p:nvSpPr>
          <p:spPr bwMode="auto">
            <a:xfrm>
              <a:off x="6605587" y="2290727"/>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a:solidFill>
                    <a:srgbClr val="000000"/>
                  </a:solidFill>
                  <a:latin typeface="+mn-lt"/>
                  <a:cs typeface="Arial"/>
                </a:rPr>
                <a:t>R</a:t>
              </a:r>
              <a:r>
                <a:rPr lang="en-US" altLang="en-US" sz="3200" baseline="-25000">
                  <a:solidFill>
                    <a:srgbClr val="000000"/>
                  </a:solidFill>
                  <a:latin typeface="+mn-lt"/>
                  <a:cs typeface="Arial"/>
                </a:rPr>
                <a:t>s</a:t>
              </a:r>
              <a:endParaRPr lang="en-US" altLang="en-US">
                <a:solidFill>
                  <a:srgbClr val="000000"/>
                </a:solidFill>
                <a:latin typeface="+mn-lt"/>
                <a:cs typeface="Arial"/>
              </a:endParaRPr>
            </a:p>
          </p:txBody>
        </p:sp>
        <p:sp>
          <p:nvSpPr>
            <p:cNvPr id="605" name="Oval 40">
              <a:extLst>
                <a:ext uri="{FF2B5EF4-FFF2-40B4-BE49-F238E27FC236}">
                  <a16:creationId xmlns:a16="http://schemas.microsoft.com/office/drawing/2014/main" id="{8D4D9D6D-6FB5-AA4B-B509-A8973E6C8AC9}"/>
                </a:ext>
              </a:extLst>
            </p:cNvPr>
            <p:cNvSpPr>
              <a:spLocks noChangeArrowheads="1"/>
            </p:cNvSpPr>
            <p:nvPr/>
          </p:nvSpPr>
          <p:spPr bwMode="auto">
            <a:xfrm rot="5400000">
              <a:off x="8470106" y="3718683"/>
              <a:ext cx="50800" cy="525462"/>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06" name="Rectangle 41">
              <a:extLst>
                <a:ext uri="{FF2B5EF4-FFF2-40B4-BE49-F238E27FC236}">
                  <a16:creationId xmlns:a16="http://schemas.microsoft.com/office/drawing/2014/main" id="{557406FF-659D-D646-B73D-12838ED2BD49}"/>
                </a:ext>
              </a:extLst>
            </p:cNvPr>
            <p:cNvSpPr>
              <a:spLocks noChangeArrowheads="1"/>
            </p:cNvSpPr>
            <p:nvPr/>
          </p:nvSpPr>
          <p:spPr bwMode="auto">
            <a:xfrm rot="5400000">
              <a:off x="8003381" y="3224971"/>
              <a:ext cx="984250" cy="525462"/>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07" name="Oval 42">
              <a:extLst>
                <a:ext uri="{FF2B5EF4-FFF2-40B4-BE49-F238E27FC236}">
                  <a16:creationId xmlns:a16="http://schemas.microsoft.com/office/drawing/2014/main" id="{0A481A93-ECB7-E246-837A-F6BC6402D6BD}"/>
                </a:ext>
              </a:extLst>
            </p:cNvPr>
            <p:cNvSpPr>
              <a:spLocks noChangeArrowheads="1"/>
            </p:cNvSpPr>
            <p:nvPr/>
          </p:nvSpPr>
          <p:spPr bwMode="auto">
            <a:xfrm rot="5400000">
              <a:off x="8474075" y="2739989"/>
              <a:ext cx="52387" cy="52546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08" name="Rectangle 43">
              <a:extLst>
                <a:ext uri="{FF2B5EF4-FFF2-40B4-BE49-F238E27FC236}">
                  <a16:creationId xmlns:a16="http://schemas.microsoft.com/office/drawing/2014/main" id="{A6B95B4A-EADA-2646-8C69-44AD71FF2F13}"/>
                </a:ext>
              </a:extLst>
            </p:cNvPr>
            <p:cNvSpPr>
              <a:spLocks noChangeArrowheads="1"/>
            </p:cNvSpPr>
            <p:nvPr/>
          </p:nvSpPr>
          <p:spPr bwMode="auto">
            <a:xfrm rot="5400000">
              <a:off x="8474075" y="3711539"/>
              <a:ext cx="31750" cy="511175"/>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09" name="Oval 31">
              <a:extLst>
                <a:ext uri="{FF2B5EF4-FFF2-40B4-BE49-F238E27FC236}">
                  <a16:creationId xmlns:a16="http://schemas.microsoft.com/office/drawing/2014/main" id="{D34D4E69-9BEB-E84C-9C95-F587DC39C7FA}"/>
                </a:ext>
              </a:extLst>
            </p:cNvPr>
            <p:cNvSpPr>
              <a:spLocks noChangeArrowheads="1"/>
            </p:cNvSpPr>
            <p:nvPr/>
          </p:nvSpPr>
          <p:spPr bwMode="auto">
            <a:xfrm rot="1792560">
              <a:off x="7480300" y="2614577"/>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10" name="Rectangle 32">
              <a:extLst>
                <a:ext uri="{FF2B5EF4-FFF2-40B4-BE49-F238E27FC236}">
                  <a16:creationId xmlns:a16="http://schemas.microsoft.com/office/drawing/2014/main" id="{AF4F01BC-E0BA-6145-9A94-C368A9DCD9FA}"/>
                </a:ext>
              </a:extLst>
            </p:cNvPr>
            <p:cNvSpPr>
              <a:spLocks noChangeArrowheads="1"/>
            </p:cNvSpPr>
            <p:nvPr/>
          </p:nvSpPr>
          <p:spPr bwMode="auto">
            <a:xfrm rot="1792560">
              <a:off x="6815137" y="2411377"/>
              <a:ext cx="730250"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11" name="Oval 33">
              <a:extLst>
                <a:ext uri="{FF2B5EF4-FFF2-40B4-BE49-F238E27FC236}">
                  <a16:creationId xmlns:a16="http://schemas.microsoft.com/office/drawing/2014/main" id="{0FB3506E-741A-1449-B57D-DCE4E8B681A0}"/>
                </a:ext>
              </a:extLst>
            </p:cNvPr>
            <p:cNvSpPr>
              <a:spLocks noChangeArrowheads="1"/>
            </p:cNvSpPr>
            <p:nvPr/>
          </p:nvSpPr>
          <p:spPr bwMode="auto">
            <a:xfrm rot="1792560">
              <a:off x="6850062" y="2211352"/>
              <a:ext cx="38100"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12" name="Rectangle 34">
              <a:extLst>
                <a:ext uri="{FF2B5EF4-FFF2-40B4-BE49-F238E27FC236}">
                  <a16:creationId xmlns:a16="http://schemas.microsoft.com/office/drawing/2014/main" id="{323C4318-B148-DC47-ABE2-1E709105E921}"/>
                </a:ext>
              </a:extLst>
            </p:cNvPr>
            <p:cNvSpPr>
              <a:spLocks noChangeArrowheads="1"/>
            </p:cNvSpPr>
            <p:nvPr/>
          </p:nvSpPr>
          <p:spPr bwMode="auto">
            <a:xfrm rot="1792560">
              <a:off x="7477125" y="2611402"/>
              <a:ext cx="23812" cy="153987"/>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13" name="Line 456">
              <a:extLst>
                <a:ext uri="{FF2B5EF4-FFF2-40B4-BE49-F238E27FC236}">
                  <a16:creationId xmlns:a16="http://schemas.microsoft.com/office/drawing/2014/main" id="{8173438F-0B9B-B64F-A181-BAB4D0B2F0C7}"/>
                </a:ext>
              </a:extLst>
            </p:cNvPr>
            <p:cNvSpPr>
              <a:spLocks noChangeShapeType="1"/>
            </p:cNvSpPr>
            <p:nvPr/>
          </p:nvSpPr>
          <p:spPr bwMode="auto">
            <a:xfrm rot="1792560">
              <a:off x="6686550" y="2482814"/>
              <a:ext cx="955675"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14" name="Oval 469">
              <a:extLst>
                <a:ext uri="{FF2B5EF4-FFF2-40B4-BE49-F238E27FC236}">
                  <a16:creationId xmlns:a16="http://schemas.microsoft.com/office/drawing/2014/main" id="{7E85E8A1-86AF-324B-8460-F6A7D5EAC092}"/>
                </a:ext>
              </a:extLst>
            </p:cNvPr>
            <p:cNvSpPr>
              <a:spLocks noChangeArrowheads="1"/>
            </p:cNvSpPr>
            <p:nvPr/>
          </p:nvSpPr>
          <p:spPr bwMode="auto">
            <a:xfrm rot="2768172">
              <a:off x="7989887" y="2617752"/>
              <a:ext cx="47625" cy="142875"/>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15" name="Rectangle 470">
              <a:extLst>
                <a:ext uri="{FF2B5EF4-FFF2-40B4-BE49-F238E27FC236}">
                  <a16:creationId xmlns:a16="http://schemas.microsoft.com/office/drawing/2014/main" id="{55557922-2CFC-1B45-B737-1FBBBEAE269A}"/>
                </a:ext>
              </a:extLst>
            </p:cNvPr>
            <p:cNvSpPr>
              <a:spLocks noChangeArrowheads="1"/>
            </p:cNvSpPr>
            <p:nvPr/>
          </p:nvSpPr>
          <p:spPr bwMode="auto">
            <a:xfrm rot="2768172">
              <a:off x="7268369" y="2285170"/>
              <a:ext cx="915988" cy="142875"/>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16" name="Oval 471">
              <a:extLst>
                <a:ext uri="{FF2B5EF4-FFF2-40B4-BE49-F238E27FC236}">
                  <a16:creationId xmlns:a16="http://schemas.microsoft.com/office/drawing/2014/main" id="{5D3F57BE-8666-1D44-A006-F78419384E95}"/>
                </a:ext>
              </a:extLst>
            </p:cNvPr>
            <p:cNvSpPr>
              <a:spLocks noChangeArrowheads="1"/>
            </p:cNvSpPr>
            <p:nvPr/>
          </p:nvSpPr>
          <p:spPr bwMode="auto">
            <a:xfrm rot="2768172">
              <a:off x="7419975" y="1958939"/>
              <a:ext cx="47625" cy="142875"/>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17" name="Rectangle 472">
              <a:extLst>
                <a:ext uri="{FF2B5EF4-FFF2-40B4-BE49-F238E27FC236}">
                  <a16:creationId xmlns:a16="http://schemas.microsoft.com/office/drawing/2014/main" id="{64C792DE-6968-B34C-9D1B-D2467DCDD720}"/>
                </a:ext>
              </a:extLst>
            </p:cNvPr>
            <p:cNvSpPr>
              <a:spLocks noChangeArrowheads="1"/>
            </p:cNvSpPr>
            <p:nvPr/>
          </p:nvSpPr>
          <p:spPr bwMode="auto">
            <a:xfrm rot="2768172">
              <a:off x="7989887" y="2609814"/>
              <a:ext cx="30163" cy="138113"/>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18" name="Line 473">
              <a:extLst>
                <a:ext uri="{FF2B5EF4-FFF2-40B4-BE49-F238E27FC236}">
                  <a16:creationId xmlns:a16="http://schemas.microsoft.com/office/drawing/2014/main" id="{51F1769C-1A62-EC4E-B22E-FFF40B43E7CF}"/>
                </a:ext>
              </a:extLst>
            </p:cNvPr>
            <p:cNvSpPr>
              <a:spLocks noChangeShapeType="1"/>
            </p:cNvSpPr>
            <p:nvPr/>
          </p:nvSpPr>
          <p:spPr bwMode="auto">
            <a:xfrm rot="2768172">
              <a:off x="7111999" y="2341527"/>
              <a:ext cx="1196975"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19" name="Oval 476">
              <a:extLst>
                <a:ext uri="{FF2B5EF4-FFF2-40B4-BE49-F238E27FC236}">
                  <a16:creationId xmlns:a16="http://schemas.microsoft.com/office/drawing/2014/main" id="{551553F9-6760-6E44-947E-2E2826C45546}"/>
                </a:ext>
              </a:extLst>
            </p:cNvPr>
            <p:cNvSpPr>
              <a:spLocks noChangeArrowheads="1"/>
            </p:cNvSpPr>
            <p:nvPr/>
          </p:nvSpPr>
          <p:spPr bwMode="auto">
            <a:xfrm rot="19807440" flipH="1">
              <a:off x="6943725" y="4467189"/>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20" name="Rectangle 477">
              <a:extLst>
                <a:ext uri="{FF2B5EF4-FFF2-40B4-BE49-F238E27FC236}">
                  <a16:creationId xmlns:a16="http://schemas.microsoft.com/office/drawing/2014/main" id="{424063E3-158A-984A-BFC8-01ECC771823D}"/>
                </a:ext>
              </a:extLst>
            </p:cNvPr>
            <p:cNvSpPr>
              <a:spLocks noChangeArrowheads="1"/>
            </p:cNvSpPr>
            <p:nvPr/>
          </p:nvSpPr>
          <p:spPr bwMode="auto">
            <a:xfrm rot="19807440" flipH="1">
              <a:off x="6916737" y="4263989"/>
              <a:ext cx="730250"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21" name="Oval 478">
              <a:extLst>
                <a:ext uri="{FF2B5EF4-FFF2-40B4-BE49-F238E27FC236}">
                  <a16:creationId xmlns:a16="http://schemas.microsoft.com/office/drawing/2014/main" id="{E5AD8F86-97E2-7648-BE88-A4ABC6A350D0}"/>
                </a:ext>
              </a:extLst>
            </p:cNvPr>
            <p:cNvSpPr>
              <a:spLocks noChangeArrowheads="1"/>
            </p:cNvSpPr>
            <p:nvPr/>
          </p:nvSpPr>
          <p:spPr bwMode="auto">
            <a:xfrm rot="19807440" flipH="1">
              <a:off x="7575550" y="4063964"/>
              <a:ext cx="36512"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22" name="Rectangle 479">
              <a:extLst>
                <a:ext uri="{FF2B5EF4-FFF2-40B4-BE49-F238E27FC236}">
                  <a16:creationId xmlns:a16="http://schemas.microsoft.com/office/drawing/2014/main" id="{598EC6E7-BD77-134B-A756-3D43B04CC7E1}"/>
                </a:ext>
              </a:extLst>
            </p:cNvPr>
            <p:cNvSpPr>
              <a:spLocks noChangeArrowheads="1"/>
            </p:cNvSpPr>
            <p:nvPr/>
          </p:nvSpPr>
          <p:spPr bwMode="auto">
            <a:xfrm rot="19807440" flipH="1">
              <a:off x="6959600" y="4464014"/>
              <a:ext cx="23812" cy="153988"/>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23" name="Line 480">
              <a:extLst>
                <a:ext uri="{FF2B5EF4-FFF2-40B4-BE49-F238E27FC236}">
                  <a16:creationId xmlns:a16="http://schemas.microsoft.com/office/drawing/2014/main" id="{AFDCBA44-8593-C94C-9FA7-FED9DC63A55B}"/>
                </a:ext>
              </a:extLst>
            </p:cNvPr>
            <p:cNvSpPr>
              <a:spLocks noChangeShapeType="1"/>
            </p:cNvSpPr>
            <p:nvPr/>
          </p:nvSpPr>
          <p:spPr bwMode="auto">
            <a:xfrm rot="19807440" flipH="1">
              <a:off x="6821487" y="4335427"/>
              <a:ext cx="955675" cy="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24" name="Oval 483">
              <a:extLst>
                <a:ext uri="{FF2B5EF4-FFF2-40B4-BE49-F238E27FC236}">
                  <a16:creationId xmlns:a16="http://schemas.microsoft.com/office/drawing/2014/main" id="{9B669AE7-0EE8-EC41-9DC1-37D185E64362}"/>
                </a:ext>
              </a:extLst>
            </p:cNvPr>
            <p:cNvSpPr>
              <a:spLocks noChangeArrowheads="1"/>
            </p:cNvSpPr>
            <p:nvPr/>
          </p:nvSpPr>
          <p:spPr bwMode="auto">
            <a:xfrm rot="18831828" flipV="1">
              <a:off x="8197850" y="4240177"/>
              <a:ext cx="47625" cy="142875"/>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25" name="Rectangle 484">
              <a:extLst>
                <a:ext uri="{FF2B5EF4-FFF2-40B4-BE49-F238E27FC236}">
                  <a16:creationId xmlns:a16="http://schemas.microsoft.com/office/drawing/2014/main" id="{C65A0801-59C0-0744-8000-2F197C940E78}"/>
                </a:ext>
              </a:extLst>
            </p:cNvPr>
            <p:cNvSpPr>
              <a:spLocks noChangeArrowheads="1"/>
            </p:cNvSpPr>
            <p:nvPr/>
          </p:nvSpPr>
          <p:spPr bwMode="auto">
            <a:xfrm rot="18831828" flipV="1">
              <a:off x="7475537" y="4571964"/>
              <a:ext cx="917575" cy="142875"/>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26" name="Oval 485">
              <a:extLst>
                <a:ext uri="{FF2B5EF4-FFF2-40B4-BE49-F238E27FC236}">
                  <a16:creationId xmlns:a16="http://schemas.microsoft.com/office/drawing/2014/main" id="{618A0B18-5A9F-C940-A80E-7B06B49B60F9}"/>
                </a:ext>
              </a:extLst>
            </p:cNvPr>
            <p:cNvSpPr>
              <a:spLocks noChangeArrowheads="1"/>
            </p:cNvSpPr>
            <p:nvPr/>
          </p:nvSpPr>
          <p:spPr bwMode="auto">
            <a:xfrm rot="18831828" flipV="1">
              <a:off x="7629525" y="4898989"/>
              <a:ext cx="47625" cy="142875"/>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27" name="Rectangle 486">
              <a:extLst>
                <a:ext uri="{FF2B5EF4-FFF2-40B4-BE49-F238E27FC236}">
                  <a16:creationId xmlns:a16="http://schemas.microsoft.com/office/drawing/2014/main" id="{0EC6AAEC-D5EF-0B44-AE75-B5161067D347}"/>
                </a:ext>
              </a:extLst>
            </p:cNvPr>
            <p:cNvSpPr>
              <a:spLocks noChangeArrowheads="1"/>
            </p:cNvSpPr>
            <p:nvPr/>
          </p:nvSpPr>
          <p:spPr bwMode="auto">
            <a:xfrm rot="18831828" flipV="1">
              <a:off x="8197850" y="4249702"/>
              <a:ext cx="30162" cy="138112"/>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28" name="Line 487">
              <a:extLst>
                <a:ext uri="{FF2B5EF4-FFF2-40B4-BE49-F238E27FC236}">
                  <a16:creationId xmlns:a16="http://schemas.microsoft.com/office/drawing/2014/main" id="{6C5A899D-7A45-874B-9EBC-4587CF6DE09E}"/>
                </a:ext>
              </a:extLst>
            </p:cNvPr>
            <p:cNvSpPr>
              <a:spLocks noChangeShapeType="1"/>
            </p:cNvSpPr>
            <p:nvPr/>
          </p:nvSpPr>
          <p:spPr bwMode="auto">
            <a:xfrm rot="18831828" flipV="1">
              <a:off x="7319962" y="4657690"/>
              <a:ext cx="1196975" cy="0"/>
            </a:xfrm>
            <a:prstGeom prst="line">
              <a:avLst/>
            </a:prstGeom>
            <a:noFill/>
            <a:ln w="38100">
              <a:solidFill>
                <a:srgbClr val="FF3300"/>
              </a:solidFill>
              <a:round/>
              <a:headEnd type="triangle" w="med" len="me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29" name="Oval 500">
              <a:extLst>
                <a:ext uri="{FF2B5EF4-FFF2-40B4-BE49-F238E27FC236}">
                  <a16:creationId xmlns:a16="http://schemas.microsoft.com/office/drawing/2014/main" id="{2C1CCE43-DB7D-AE44-BC92-2EC22940EC4F}"/>
                </a:ext>
              </a:extLst>
            </p:cNvPr>
            <p:cNvSpPr>
              <a:spLocks noChangeArrowheads="1"/>
            </p:cNvSpPr>
            <p:nvPr/>
          </p:nvSpPr>
          <p:spPr bwMode="auto">
            <a:xfrm rot="19807440" flipH="1">
              <a:off x="9150350" y="2586002"/>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30" name="Rectangle 501">
              <a:extLst>
                <a:ext uri="{FF2B5EF4-FFF2-40B4-BE49-F238E27FC236}">
                  <a16:creationId xmlns:a16="http://schemas.microsoft.com/office/drawing/2014/main" id="{40D89921-5710-C74C-85E3-E00C000E60C7}"/>
                </a:ext>
              </a:extLst>
            </p:cNvPr>
            <p:cNvSpPr>
              <a:spLocks noChangeArrowheads="1"/>
            </p:cNvSpPr>
            <p:nvPr/>
          </p:nvSpPr>
          <p:spPr bwMode="auto">
            <a:xfrm rot="19807440" flipH="1">
              <a:off x="9123362" y="2382802"/>
              <a:ext cx="730250"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31" name="Oval 502">
              <a:extLst>
                <a:ext uri="{FF2B5EF4-FFF2-40B4-BE49-F238E27FC236}">
                  <a16:creationId xmlns:a16="http://schemas.microsoft.com/office/drawing/2014/main" id="{04ED2CB6-E629-0044-88FF-DD5D436E58BF}"/>
                </a:ext>
              </a:extLst>
            </p:cNvPr>
            <p:cNvSpPr>
              <a:spLocks noChangeArrowheads="1"/>
            </p:cNvSpPr>
            <p:nvPr/>
          </p:nvSpPr>
          <p:spPr bwMode="auto">
            <a:xfrm rot="19807440" flipH="1">
              <a:off x="9782175" y="2182777"/>
              <a:ext cx="36512"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32" name="Rectangle 503">
              <a:extLst>
                <a:ext uri="{FF2B5EF4-FFF2-40B4-BE49-F238E27FC236}">
                  <a16:creationId xmlns:a16="http://schemas.microsoft.com/office/drawing/2014/main" id="{0D6041B8-7217-4F4F-92D9-8F4D04231EDF}"/>
                </a:ext>
              </a:extLst>
            </p:cNvPr>
            <p:cNvSpPr>
              <a:spLocks noChangeArrowheads="1"/>
            </p:cNvSpPr>
            <p:nvPr/>
          </p:nvSpPr>
          <p:spPr bwMode="auto">
            <a:xfrm rot="19807440" flipH="1">
              <a:off x="9166225" y="2582827"/>
              <a:ext cx="25400" cy="153987"/>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33" name="Line 504">
              <a:extLst>
                <a:ext uri="{FF2B5EF4-FFF2-40B4-BE49-F238E27FC236}">
                  <a16:creationId xmlns:a16="http://schemas.microsoft.com/office/drawing/2014/main" id="{45C56574-1E78-FA49-9616-971A302E931F}"/>
                </a:ext>
              </a:extLst>
            </p:cNvPr>
            <p:cNvSpPr>
              <a:spLocks noChangeShapeType="1"/>
            </p:cNvSpPr>
            <p:nvPr/>
          </p:nvSpPr>
          <p:spPr bwMode="auto">
            <a:xfrm rot="19807440" flipH="1">
              <a:off x="9028112" y="2454239"/>
              <a:ext cx="955675"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34" name="Oval 507">
              <a:extLst>
                <a:ext uri="{FF2B5EF4-FFF2-40B4-BE49-F238E27FC236}">
                  <a16:creationId xmlns:a16="http://schemas.microsoft.com/office/drawing/2014/main" id="{9F9B82D5-4B1D-6043-BBA5-D051EBBBCAD8}"/>
                </a:ext>
              </a:extLst>
            </p:cNvPr>
            <p:cNvSpPr>
              <a:spLocks noChangeArrowheads="1"/>
            </p:cNvSpPr>
            <p:nvPr/>
          </p:nvSpPr>
          <p:spPr bwMode="auto">
            <a:xfrm rot="1792560">
              <a:off x="9907587" y="4546564"/>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35" name="Rectangle 508">
              <a:extLst>
                <a:ext uri="{FF2B5EF4-FFF2-40B4-BE49-F238E27FC236}">
                  <a16:creationId xmlns:a16="http://schemas.microsoft.com/office/drawing/2014/main" id="{0C717AD0-EA8E-2246-B4E3-6A0F4C1E9FA2}"/>
                </a:ext>
              </a:extLst>
            </p:cNvPr>
            <p:cNvSpPr>
              <a:spLocks noChangeArrowheads="1"/>
            </p:cNvSpPr>
            <p:nvPr/>
          </p:nvSpPr>
          <p:spPr bwMode="auto">
            <a:xfrm rot="1792560">
              <a:off x="9240837" y="4341777"/>
              <a:ext cx="731838"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36" name="Oval 509">
              <a:extLst>
                <a:ext uri="{FF2B5EF4-FFF2-40B4-BE49-F238E27FC236}">
                  <a16:creationId xmlns:a16="http://schemas.microsoft.com/office/drawing/2014/main" id="{EE3B1AF8-64A0-EC47-B91B-48B11E36D825}"/>
                </a:ext>
              </a:extLst>
            </p:cNvPr>
            <p:cNvSpPr>
              <a:spLocks noChangeArrowheads="1"/>
            </p:cNvSpPr>
            <p:nvPr/>
          </p:nvSpPr>
          <p:spPr bwMode="auto">
            <a:xfrm rot="1792560">
              <a:off x="9275762" y="4141752"/>
              <a:ext cx="38100"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37" name="Rectangle 510">
              <a:extLst>
                <a:ext uri="{FF2B5EF4-FFF2-40B4-BE49-F238E27FC236}">
                  <a16:creationId xmlns:a16="http://schemas.microsoft.com/office/drawing/2014/main" id="{860AFC74-9568-6A49-803C-0B2D793022B7}"/>
                </a:ext>
              </a:extLst>
            </p:cNvPr>
            <p:cNvSpPr>
              <a:spLocks noChangeArrowheads="1"/>
            </p:cNvSpPr>
            <p:nvPr/>
          </p:nvSpPr>
          <p:spPr bwMode="auto">
            <a:xfrm rot="1792560">
              <a:off x="9902825" y="4543389"/>
              <a:ext cx="25400" cy="152400"/>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ea typeface="ＭＳ Ｐゴシック" charset="0"/>
                <a:cs typeface="ＭＳ Ｐゴシック" charset="0"/>
              </a:endParaRPr>
            </a:p>
          </p:txBody>
        </p:sp>
        <p:sp>
          <p:nvSpPr>
            <p:cNvPr id="638" name="Line 511">
              <a:extLst>
                <a:ext uri="{FF2B5EF4-FFF2-40B4-BE49-F238E27FC236}">
                  <a16:creationId xmlns:a16="http://schemas.microsoft.com/office/drawing/2014/main" id="{2B4EDB9F-73F1-C34D-96D9-5CDCB88B2124}"/>
                </a:ext>
              </a:extLst>
            </p:cNvPr>
            <p:cNvSpPr>
              <a:spLocks noChangeShapeType="1"/>
            </p:cNvSpPr>
            <p:nvPr/>
          </p:nvSpPr>
          <p:spPr bwMode="auto">
            <a:xfrm rot="1792560">
              <a:off x="9102725" y="4441789"/>
              <a:ext cx="1062037" cy="127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39" name="Text Box 513">
              <a:extLst>
                <a:ext uri="{FF2B5EF4-FFF2-40B4-BE49-F238E27FC236}">
                  <a16:creationId xmlns:a16="http://schemas.microsoft.com/office/drawing/2014/main" id="{4778714E-EE95-9947-8879-8B2FE318CB66}"/>
                </a:ext>
              </a:extLst>
            </p:cNvPr>
            <p:cNvSpPr txBox="1">
              <a:spLocks noChangeArrowheads="1"/>
            </p:cNvSpPr>
            <p:nvPr/>
          </p:nvSpPr>
          <p:spPr bwMode="auto">
            <a:xfrm>
              <a:off x="7575550" y="1849402"/>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a:solidFill>
                    <a:srgbClr val="000000"/>
                  </a:solidFill>
                  <a:latin typeface="+mn-lt"/>
                  <a:cs typeface="Arial"/>
                </a:rPr>
                <a:t>R</a:t>
              </a:r>
              <a:r>
                <a:rPr lang="en-US" altLang="en-US" sz="3200" baseline="-25000">
                  <a:solidFill>
                    <a:srgbClr val="000000"/>
                  </a:solidFill>
                  <a:latin typeface="+mn-lt"/>
                  <a:cs typeface="Arial"/>
                </a:rPr>
                <a:t>s</a:t>
              </a:r>
              <a:endParaRPr lang="en-US" altLang="en-US">
                <a:solidFill>
                  <a:srgbClr val="000000"/>
                </a:solidFill>
                <a:latin typeface="+mn-lt"/>
                <a:cs typeface="Arial"/>
              </a:endParaRPr>
            </a:p>
          </p:txBody>
        </p:sp>
        <p:sp>
          <p:nvSpPr>
            <p:cNvPr id="640" name="Text Box 514">
              <a:extLst>
                <a:ext uri="{FF2B5EF4-FFF2-40B4-BE49-F238E27FC236}">
                  <a16:creationId xmlns:a16="http://schemas.microsoft.com/office/drawing/2014/main" id="{60849EC9-A207-4C41-AD9D-A92DEE98BF4C}"/>
                </a:ext>
              </a:extLst>
            </p:cNvPr>
            <p:cNvSpPr txBox="1">
              <a:spLocks noChangeArrowheads="1"/>
            </p:cNvSpPr>
            <p:nvPr/>
          </p:nvSpPr>
          <p:spPr bwMode="auto">
            <a:xfrm>
              <a:off x="9402762" y="2357402"/>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a:solidFill>
                    <a:srgbClr val="000000"/>
                  </a:solidFill>
                  <a:latin typeface="+mn-lt"/>
                  <a:cs typeface="Arial"/>
                </a:rPr>
                <a:t>R</a:t>
              </a:r>
              <a:r>
                <a:rPr lang="en-US" altLang="en-US" sz="3200" baseline="-25000">
                  <a:solidFill>
                    <a:srgbClr val="000000"/>
                  </a:solidFill>
                  <a:latin typeface="+mn-lt"/>
                  <a:cs typeface="Arial"/>
                </a:rPr>
                <a:t>s</a:t>
              </a:r>
              <a:endParaRPr lang="en-US" altLang="en-US">
                <a:solidFill>
                  <a:srgbClr val="000000"/>
                </a:solidFill>
                <a:latin typeface="+mn-lt"/>
                <a:cs typeface="Arial"/>
              </a:endParaRPr>
            </a:p>
          </p:txBody>
        </p:sp>
        <p:sp>
          <p:nvSpPr>
            <p:cNvPr id="641" name="Freeform 515">
              <a:extLst>
                <a:ext uri="{FF2B5EF4-FFF2-40B4-BE49-F238E27FC236}">
                  <a16:creationId xmlns:a16="http://schemas.microsoft.com/office/drawing/2014/main" id="{F6112B49-DFF7-4442-8AE0-8CF8CFAA614D}"/>
                </a:ext>
              </a:extLst>
            </p:cNvPr>
            <p:cNvSpPr>
              <a:spLocks/>
            </p:cNvSpPr>
            <p:nvPr/>
          </p:nvSpPr>
          <p:spPr bwMode="auto">
            <a:xfrm>
              <a:off x="7569200" y="2717764"/>
              <a:ext cx="800100" cy="1381125"/>
            </a:xfrm>
            <a:custGeom>
              <a:avLst/>
              <a:gdLst>
                <a:gd name="T0" fmla="*/ 0 w 504"/>
                <a:gd name="T1" fmla="*/ 0 h 870"/>
                <a:gd name="T2" fmla="*/ 2147483647 w 504"/>
                <a:gd name="T3" fmla="*/ 2147483647 h 870"/>
                <a:gd name="T4" fmla="*/ 2147483647 w 504"/>
                <a:gd name="T5" fmla="*/ 2147483647 h 870"/>
                <a:gd name="T6" fmla="*/ 2147483647 w 504"/>
                <a:gd name="T7" fmla="*/ 2147483647 h 870"/>
                <a:gd name="T8" fmla="*/ 2147483647 w 504"/>
                <a:gd name="T9" fmla="*/ 2147483647 h 870"/>
                <a:gd name="T10" fmla="*/ 2147483647 w 504"/>
                <a:gd name="T11" fmla="*/ 2147483647 h 870"/>
                <a:gd name="T12" fmla="*/ 2147483647 w 504"/>
                <a:gd name="T13" fmla="*/ 2147483647 h 870"/>
                <a:gd name="T14" fmla="*/ 2147483647 w 504"/>
                <a:gd name="T15" fmla="*/ 2147483647 h 870"/>
                <a:gd name="T16" fmla="*/ 2147483647 w 504"/>
                <a:gd name="T17" fmla="*/ 2147483647 h 870"/>
                <a:gd name="T18" fmla="*/ 2147483647 w 504"/>
                <a:gd name="T19" fmla="*/ 2147483647 h 8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4"/>
                <a:gd name="T31" fmla="*/ 0 h 870"/>
                <a:gd name="T32" fmla="*/ 504 w 504"/>
                <a:gd name="T33" fmla="*/ 870 h 8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4" h="870">
                  <a:moveTo>
                    <a:pt x="0" y="0"/>
                  </a:moveTo>
                  <a:cubicBezTo>
                    <a:pt x="21" y="11"/>
                    <a:pt x="79" y="44"/>
                    <a:pt x="129" y="63"/>
                  </a:cubicBezTo>
                  <a:cubicBezTo>
                    <a:pt x="179" y="82"/>
                    <a:pt x="255" y="102"/>
                    <a:pt x="299" y="112"/>
                  </a:cubicBezTo>
                  <a:cubicBezTo>
                    <a:pt x="343" y="122"/>
                    <a:pt x="362" y="116"/>
                    <a:pt x="392" y="121"/>
                  </a:cubicBezTo>
                  <a:cubicBezTo>
                    <a:pt x="417" y="124"/>
                    <a:pt x="469" y="100"/>
                    <a:pt x="479" y="145"/>
                  </a:cubicBezTo>
                  <a:cubicBezTo>
                    <a:pt x="490" y="191"/>
                    <a:pt x="504" y="700"/>
                    <a:pt x="490" y="772"/>
                  </a:cubicBezTo>
                  <a:cubicBezTo>
                    <a:pt x="477" y="845"/>
                    <a:pt x="447" y="842"/>
                    <a:pt x="406" y="839"/>
                  </a:cubicBezTo>
                  <a:cubicBezTo>
                    <a:pt x="365" y="836"/>
                    <a:pt x="323" y="835"/>
                    <a:pt x="286" y="833"/>
                  </a:cubicBezTo>
                  <a:cubicBezTo>
                    <a:pt x="250" y="831"/>
                    <a:pt x="226" y="822"/>
                    <a:pt x="192" y="828"/>
                  </a:cubicBezTo>
                  <a:cubicBezTo>
                    <a:pt x="158" y="834"/>
                    <a:pt x="107" y="861"/>
                    <a:pt x="84" y="870"/>
                  </a:cubicBezTo>
                </a:path>
              </a:pathLst>
            </a:custGeom>
            <a:noFill/>
            <a:ln w="381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42" name="Text Box 516">
              <a:extLst>
                <a:ext uri="{FF2B5EF4-FFF2-40B4-BE49-F238E27FC236}">
                  <a16:creationId xmlns:a16="http://schemas.microsoft.com/office/drawing/2014/main" id="{EFC98C88-858D-E34E-9C48-139358543E42}"/>
                </a:ext>
              </a:extLst>
            </p:cNvPr>
            <p:cNvSpPr txBox="1">
              <a:spLocks noChangeArrowheads="1"/>
            </p:cNvSpPr>
            <p:nvPr/>
          </p:nvSpPr>
          <p:spPr bwMode="auto">
            <a:xfrm>
              <a:off x="6583362" y="3833062"/>
              <a:ext cx="67468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dirty="0" err="1">
                  <a:solidFill>
                    <a:srgbClr val="000000"/>
                  </a:solidFill>
                  <a:latin typeface="+mn-lt"/>
                  <a:cs typeface="Arial"/>
                </a:rPr>
                <a:t>R</a:t>
              </a:r>
              <a:r>
                <a:rPr lang="en-US" altLang="en-US" sz="3200" baseline="-25000" dirty="0" err="1">
                  <a:solidFill>
                    <a:srgbClr val="000000"/>
                  </a:solidFill>
                  <a:latin typeface="+mn-lt"/>
                  <a:cs typeface="Arial"/>
                </a:rPr>
                <a:t>c</a:t>
              </a:r>
              <a:endParaRPr lang="en-US" altLang="en-US" dirty="0">
                <a:solidFill>
                  <a:srgbClr val="000000"/>
                </a:solidFill>
                <a:latin typeface="+mn-lt"/>
                <a:cs typeface="Arial"/>
              </a:endParaRPr>
            </a:p>
          </p:txBody>
        </p:sp>
        <p:sp>
          <p:nvSpPr>
            <p:cNvPr id="643" name="Freeform 517">
              <a:extLst>
                <a:ext uri="{FF2B5EF4-FFF2-40B4-BE49-F238E27FC236}">
                  <a16:creationId xmlns:a16="http://schemas.microsoft.com/office/drawing/2014/main" id="{3FAF4BE0-D787-B34B-BA37-0770AC8BF2E1}"/>
                </a:ext>
              </a:extLst>
            </p:cNvPr>
            <p:cNvSpPr>
              <a:spLocks/>
            </p:cNvSpPr>
            <p:nvPr/>
          </p:nvSpPr>
          <p:spPr bwMode="auto">
            <a:xfrm>
              <a:off x="8032750" y="2695539"/>
              <a:ext cx="431800" cy="1570038"/>
            </a:xfrm>
            <a:custGeom>
              <a:avLst/>
              <a:gdLst>
                <a:gd name="T0" fmla="*/ 0 w 272"/>
                <a:gd name="T1" fmla="*/ 0 h 989"/>
                <a:gd name="T2" fmla="*/ 2147483647 w 272"/>
                <a:gd name="T3" fmla="*/ 2147483647 h 989"/>
                <a:gd name="T4" fmla="*/ 2147483647 w 272"/>
                <a:gd name="T5" fmla="*/ 2147483647 h 989"/>
                <a:gd name="T6" fmla="*/ 2147483647 w 272"/>
                <a:gd name="T7" fmla="*/ 2147483647 h 989"/>
                <a:gd name="T8" fmla="*/ 2147483647 w 272"/>
                <a:gd name="T9" fmla="*/ 2147483647 h 989"/>
                <a:gd name="T10" fmla="*/ 2147483647 w 272"/>
                <a:gd name="T11" fmla="*/ 2147483647 h 989"/>
                <a:gd name="T12" fmla="*/ 2147483647 w 272"/>
                <a:gd name="T13" fmla="*/ 2147483647 h 989"/>
                <a:gd name="T14" fmla="*/ 0 60000 65536"/>
                <a:gd name="T15" fmla="*/ 0 60000 65536"/>
                <a:gd name="T16" fmla="*/ 0 60000 65536"/>
                <a:gd name="T17" fmla="*/ 0 60000 65536"/>
                <a:gd name="T18" fmla="*/ 0 60000 65536"/>
                <a:gd name="T19" fmla="*/ 0 60000 65536"/>
                <a:gd name="T20" fmla="*/ 0 60000 65536"/>
                <a:gd name="T21" fmla="*/ 0 w 272"/>
                <a:gd name="T22" fmla="*/ 0 h 989"/>
                <a:gd name="T23" fmla="*/ 272 w 272"/>
                <a:gd name="T24" fmla="*/ 989 h 9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2" h="989">
                  <a:moveTo>
                    <a:pt x="0" y="0"/>
                  </a:moveTo>
                  <a:cubicBezTo>
                    <a:pt x="15" y="13"/>
                    <a:pt x="49" y="56"/>
                    <a:pt x="92" y="80"/>
                  </a:cubicBezTo>
                  <a:cubicBezTo>
                    <a:pt x="231" y="84"/>
                    <a:pt x="204" y="89"/>
                    <a:pt x="257" y="147"/>
                  </a:cubicBezTo>
                  <a:cubicBezTo>
                    <a:pt x="270" y="295"/>
                    <a:pt x="272" y="652"/>
                    <a:pt x="268" y="774"/>
                  </a:cubicBezTo>
                  <a:cubicBezTo>
                    <a:pt x="268" y="895"/>
                    <a:pt x="261" y="853"/>
                    <a:pt x="257" y="875"/>
                  </a:cubicBezTo>
                  <a:cubicBezTo>
                    <a:pt x="251" y="894"/>
                    <a:pt x="257" y="889"/>
                    <a:pt x="242" y="908"/>
                  </a:cubicBezTo>
                  <a:cubicBezTo>
                    <a:pt x="227" y="927"/>
                    <a:pt x="183" y="972"/>
                    <a:pt x="167" y="989"/>
                  </a:cubicBezTo>
                </a:path>
              </a:pathLst>
            </a:custGeom>
            <a:noFill/>
            <a:ln w="381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44" name="Freeform 518">
              <a:extLst>
                <a:ext uri="{FF2B5EF4-FFF2-40B4-BE49-F238E27FC236}">
                  <a16:creationId xmlns:a16="http://schemas.microsoft.com/office/drawing/2014/main" id="{9EF6A7FC-B534-4346-A5DD-041A4F1C6C62}"/>
                </a:ext>
              </a:extLst>
            </p:cNvPr>
            <p:cNvSpPr>
              <a:spLocks/>
            </p:cNvSpPr>
            <p:nvPr/>
          </p:nvSpPr>
          <p:spPr bwMode="auto">
            <a:xfrm>
              <a:off x="8616950" y="2679664"/>
              <a:ext cx="638175" cy="1538288"/>
            </a:xfrm>
            <a:custGeom>
              <a:avLst/>
              <a:gdLst>
                <a:gd name="T0" fmla="*/ 2147483647 w 402"/>
                <a:gd name="T1" fmla="*/ 0 h 969"/>
                <a:gd name="T2" fmla="*/ 2147483647 w 402"/>
                <a:gd name="T3" fmla="*/ 2147483647 h 969"/>
                <a:gd name="T4" fmla="*/ 2147483647 w 402"/>
                <a:gd name="T5" fmla="*/ 2147483647 h 969"/>
                <a:gd name="T6" fmla="*/ 2147483647 w 402"/>
                <a:gd name="T7" fmla="*/ 2147483647 h 969"/>
                <a:gd name="T8" fmla="*/ 2147483647 w 402"/>
                <a:gd name="T9" fmla="*/ 2147483647 h 969"/>
                <a:gd name="T10" fmla="*/ 2147483647 w 402"/>
                <a:gd name="T11" fmla="*/ 2147483647 h 969"/>
                <a:gd name="T12" fmla="*/ 2147483647 w 402"/>
                <a:gd name="T13" fmla="*/ 2147483647 h 969"/>
                <a:gd name="T14" fmla="*/ 2147483647 w 402"/>
                <a:gd name="T15" fmla="*/ 2147483647 h 969"/>
                <a:gd name="T16" fmla="*/ 2147483647 w 402"/>
                <a:gd name="T17" fmla="*/ 2147483647 h 9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2"/>
                <a:gd name="T28" fmla="*/ 0 h 969"/>
                <a:gd name="T29" fmla="*/ 402 w 402"/>
                <a:gd name="T30" fmla="*/ 969 h 9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2" h="969">
                  <a:moveTo>
                    <a:pt x="306" y="0"/>
                  </a:moveTo>
                  <a:cubicBezTo>
                    <a:pt x="295" y="5"/>
                    <a:pt x="262" y="24"/>
                    <a:pt x="240" y="36"/>
                  </a:cubicBezTo>
                  <a:cubicBezTo>
                    <a:pt x="218" y="48"/>
                    <a:pt x="199" y="58"/>
                    <a:pt x="174" y="72"/>
                  </a:cubicBezTo>
                  <a:cubicBezTo>
                    <a:pt x="149" y="86"/>
                    <a:pt x="115" y="101"/>
                    <a:pt x="90" y="119"/>
                  </a:cubicBezTo>
                  <a:cubicBezTo>
                    <a:pt x="64" y="136"/>
                    <a:pt x="72" y="127"/>
                    <a:pt x="25" y="178"/>
                  </a:cubicBezTo>
                  <a:cubicBezTo>
                    <a:pt x="14" y="223"/>
                    <a:pt x="0" y="732"/>
                    <a:pt x="14" y="804"/>
                  </a:cubicBezTo>
                  <a:cubicBezTo>
                    <a:pt x="27" y="877"/>
                    <a:pt x="53" y="854"/>
                    <a:pt x="98" y="871"/>
                  </a:cubicBezTo>
                  <a:cubicBezTo>
                    <a:pt x="144" y="888"/>
                    <a:pt x="209" y="884"/>
                    <a:pt x="261" y="900"/>
                  </a:cubicBezTo>
                  <a:cubicBezTo>
                    <a:pt x="312" y="916"/>
                    <a:pt x="373" y="955"/>
                    <a:pt x="402" y="969"/>
                  </a:cubicBezTo>
                </a:path>
              </a:pathLst>
            </a:custGeom>
            <a:noFill/>
            <a:ln w="381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sz="2800">
                <a:solidFill>
                  <a:srgbClr val="000000"/>
                </a:solidFill>
                <a:ea typeface="ＭＳ Ｐゴシック" panose="020B0600070205080204" pitchFamily="34" charset="-128"/>
                <a:cs typeface="Arial"/>
              </a:endParaRPr>
            </a:p>
          </p:txBody>
        </p:sp>
        <p:sp>
          <p:nvSpPr>
            <p:cNvPr id="645" name="Text Box 519">
              <a:extLst>
                <a:ext uri="{FF2B5EF4-FFF2-40B4-BE49-F238E27FC236}">
                  <a16:creationId xmlns:a16="http://schemas.microsoft.com/office/drawing/2014/main" id="{1E5107AF-4847-B347-A6D3-3304434E8FD3}"/>
                </a:ext>
              </a:extLst>
            </p:cNvPr>
            <p:cNvSpPr txBox="1">
              <a:spLocks noChangeArrowheads="1"/>
            </p:cNvSpPr>
            <p:nvPr/>
          </p:nvSpPr>
          <p:spPr bwMode="auto">
            <a:xfrm>
              <a:off x="7842250" y="4444964"/>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a:solidFill>
                    <a:srgbClr val="000000"/>
                  </a:solidFill>
                  <a:latin typeface="+mn-lt"/>
                  <a:cs typeface="Arial"/>
                </a:rPr>
                <a:t>R</a:t>
              </a:r>
              <a:r>
                <a:rPr lang="en-US" altLang="en-US" sz="3200" baseline="-25000">
                  <a:solidFill>
                    <a:srgbClr val="000000"/>
                  </a:solidFill>
                  <a:latin typeface="+mn-lt"/>
                  <a:cs typeface="Arial"/>
                </a:rPr>
                <a:t>c</a:t>
              </a:r>
              <a:endParaRPr lang="en-US" altLang="en-US">
                <a:solidFill>
                  <a:srgbClr val="000000"/>
                </a:solidFill>
                <a:latin typeface="+mn-lt"/>
                <a:cs typeface="Arial"/>
              </a:endParaRPr>
            </a:p>
          </p:txBody>
        </p:sp>
        <p:sp>
          <p:nvSpPr>
            <p:cNvPr id="646" name="Text Box 520">
              <a:extLst>
                <a:ext uri="{FF2B5EF4-FFF2-40B4-BE49-F238E27FC236}">
                  <a16:creationId xmlns:a16="http://schemas.microsoft.com/office/drawing/2014/main" id="{7DD67220-8D5A-6E44-9C8F-8DC54227B25F}"/>
                </a:ext>
              </a:extLst>
            </p:cNvPr>
            <p:cNvSpPr txBox="1">
              <a:spLocks noChangeArrowheads="1"/>
            </p:cNvSpPr>
            <p:nvPr/>
          </p:nvSpPr>
          <p:spPr bwMode="auto">
            <a:xfrm>
              <a:off x="9529762" y="3932202"/>
              <a:ext cx="67468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a:solidFill>
                    <a:srgbClr val="000000"/>
                  </a:solidFill>
                  <a:latin typeface="+mn-lt"/>
                  <a:cs typeface="Arial"/>
                </a:rPr>
                <a:t>R</a:t>
              </a:r>
              <a:r>
                <a:rPr lang="en-US" altLang="en-US" sz="3200" baseline="-25000">
                  <a:solidFill>
                    <a:srgbClr val="000000"/>
                  </a:solidFill>
                  <a:latin typeface="+mn-lt"/>
                  <a:cs typeface="Arial"/>
                </a:rPr>
                <a:t>c</a:t>
              </a:r>
              <a:endParaRPr lang="en-US" altLang="en-US">
                <a:solidFill>
                  <a:srgbClr val="000000"/>
                </a:solidFill>
                <a:latin typeface="+mn-lt"/>
                <a:cs typeface="Arial"/>
              </a:endParaRPr>
            </a:p>
          </p:txBody>
        </p:sp>
        <p:sp>
          <p:nvSpPr>
            <p:cNvPr id="647" name="Text Box 521">
              <a:extLst>
                <a:ext uri="{FF2B5EF4-FFF2-40B4-BE49-F238E27FC236}">
                  <a16:creationId xmlns:a16="http://schemas.microsoft.com/office/drawing/2014/main" id="{5252B1FF-D0A1-1D49-8AD4-E08822F2FA9A}"/>
                </a:ext>
              </a:extLst>
            </p:cNvPr>
            <p:cNvSpPr txBox="1">
              <a:spLocks noChangeArrowheads="1"/>
            </p:cNvSpPr>
            <p:nvPr/>
          </p:nvSpPr>
          <p:spPr bwMode="auto">
            <a:xfrm>
              <a:off x="8558212" y="3303552"/>
              <a:ext cx="6762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spcBef>
                  <a:spcPct val="0"/>
                </a:spcBef>
                <a:spcAft>
                  <a:spcPct val="0"/>
                </a:spcAft>
              </a:pPr>
              <a:r>
                <a:rPr lang="en-US" altLang="en-US">
                  <a:solidFill>
                    <a:srgbClr val="000000"/>
                  </a:solidFill>
                  <a:latin typeface="+mn-lt"/>
                  <a:cs typeface="Arial"/>
                </a:rPr>
                <a:t>R</a:t>
              </a:r>
            </a:p>
          </p:txBody>
        </p:sp>
        <p:grpSp>
          <p:nvGrpSpPr>
            <p:cNvPr id="649" name="Group 81">
              <a:extLst>
                <a:ext uri="{FF2B5EF4-FFF2-40B4-BE49-F238E27FC236}">
                  <a16:creationId xmlns:a16="http://schemas.microsoft.com/office/drawing/2014/main" id="{6FDBF652-A395-234F-BA73-32CC54B4720C}"/>
                </a:ext>
              </a:extLst>
            </p:cNvPr>
            <p:cNvGrpSpPr>
              <a:grpSpLocks/>
            </p:cNvGrpSpPr>
            <p:nvPr/>
          </p:nvGrpSpPr>
          <p:grpSpPr bwMode="auto">
            <a:xfrm>
              <a:off x="6435725" y="1730339"/>
              <a:ext cx="352425" cy="660400"/>
              <a:chOff x="4140" y="429"/>
              <a:chExt cx="1425" cy="2396"/>
            </a:xfrm>
          </p:grpSpPr>
          <p:sp>
            <p:nvSpPr>
              <p:cNvPr id="650" name="Freeform 82">
                <a:extLst>
                  <a:ext uri="{FF2B5EF4-FFF2-40B4-BE49-F238E27FC236}">
                    <a16:creationId xmlns:a16="http://schemas.microsoft.com/office/drawing/2014/main" id="{11ED42DE-3E1B-9B40-9A14-016018BA3CF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51" name="Rectangle 83">
                <a:extLst>
                  <a:ext uri="{FF2B5EF4-FFF2-40B4-BE49-F238E27FC236}">
                    <a16:creationId xmlns:a16="http://schemas.microsoft.com/office/drawing/2014/main" id="{69066424-99FF-0247-8B01-B3EC332AA481}"/>
                  </a:ext>
                </a:extLst>
              </p:cNvPr>
              <p:cNvSpPr>
                <a:spLocks noChangeArrowheads="1"/>
              </p:cNvSpPr>
              <p:nvPr/>
            </p:nvSpPr>
            <p:spPr bwMode="auto">
              <a:xfrm>
                <a:off x="4204" y="429"/>
                <a:ext cx="1046" cy="2287"/>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52" name="Freeform 84">
                <a:extLst>
                  <a:ext uri="{FF2B5EF4-FFF2-40B4-BE49-F238E27FC236}">
                    <a16:creationId xmlns:a16="http://schemas.microsoft.com/office/drawing/2014/main" id="{024DB4DC-EB26-FF42-8E20-FFB6C8EFBD9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53" name="Freeform 85">
                <a:extLst>
                  <a:ext uri="{FF2B5EF4-FFF2-40B4-BE49-F238E27FC236}">
                    <a16:creationId xmlns:a16="http://schemas.microsoft.com/office/drawing/2014/main" id="{E2B0F75E-1C81-FF41-A3F5-E7ADC8B671E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54" name="Rectangle 86">
                <a:extLst>
                  <a:ext uri="{FF2B5EF4-FFF2-40B4-BE49-F238E27FC236}">
                    <a16:creationId xmlns:a16="http://schemas.microsoft.com/office/drawing/2014/main" id="{223D30BF-8699-6A44-AEB2-35D0F31FABD6}"/>
                  </a:ext>
                </a:extLst>
              </p:cNvPr>
              <p:cNvSpPr>
                <a:spLocks noChangeArrowheads="1"/>
              </p:cNvSpPr>
              <p:nvPr/>
            </p:nvSpPr>
            <p:spPr bwMode="auto">
              <a:xfrm>
                <a:off x="4211" y="694"/>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655" name="Group 87">
                <a:extLst>
                  <a:ext uri="{FF2B5EF4-FFF2-40B4-BE49-F238E27FC236}">
                    <a16:creationId xmlns:a16="http://schemas.microsoft.com/office/drawing/2014/main" id="{2B7A3D5E-6156-0044-BF32-DFE6857F6F3A}"/>
                  </a:ext>
                </a:extLst>
              </p:cNvPr>
              <p:cNvGrpSpPr>
                <a:grpSpLocks/>
              </p:cNvGrpSpPr>
              <p:nvPr/>
            </p:nvGrpSpPr>
            <p:grpSpPr bwMode="auto">
              <a:xfrm>
                <a:off x="4749" y="668"/>
                <a:ext cx="581" cy="145"/>
                <a:chOff x="614" y="2568"/>
                <a:chExt cx="725" cy="139"/>
              </a:xfrm>
            </p:grpSpPr>
            <p:sp>
              <p:nvSpPr>
                <p:cNvPr id="680" name="AutoShape 88">
                  <a:extLst>
                    <a:ext uri="{FF2B5EF4-FFF2-40B4-BE49-F238E27FC236}">
                      <a16:creationId xmlns:a16="http://schemas.microsoft.com/office/drawing/2014/main" id="{CE04A0BE-092C-E54B-91D3-87501C8CF3DD}"/>
                    </a:ext>
                  </a:extLst>
                </p:cNvPr>
                <p:cNvSpPr>
                  <a:spLocks noChangeArrowheads="1"/>
                </p:cNvSpPr>
                <p:nvPr/>
              </p:nvSpPr>
              <p:spPr bwMode="auto">
                <a:xfrm>
                  <a:off x="615" y="2560"/>
                  <a:ext cx="721" cy="14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81" name="AutoShape 89">
                  <a:extLst>
                    <a:ext uri="{FF2B5EF4-FFF2-40B4-BE49-F238E27FC236}">
                      <a16:creationId xmlns:a16="http://schemas.microsoft.com/office/drawing/2014/main" id="{F5E55A3E-082B-F842-9E07-78A2A9954295}"/>
                    </a:ext>
                  </a:extLst>
                </p:cNvPr>
                <p:cNvSpPr>
                  <a:spLocks noChangeArrowheads="1"/>
                </p:cNvSpPr>
                <p:nvPr/>
              </p:nvSpPr>
              <p:spPr bwMode="auto">
                <a:xfrm>
                  <a:off x="631" y="2582"/>
                  <a:ext cx="689"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56" name="Rectangle 90">
                <a:extLst>
                  <a:ext uri="{FF2B5EF4-FFF2-40B4-BE49-F238E27FC236}">
                    <a16:creationId xmlns:a16="http://schemas.microsoft.com/office/drawing/2014/main" id="{3335A9A0-ABC5-1A45-A4DB-4B8E3B4F0D3E}"/>
                  </a:ext>
                </a:extLst>
              </p:cNvPr>
              <p:cNvSpPr>
                <a:spLocks noChangeArrowheads="1"/>
              </p:cNvSpPr>
              <p:nvPr/>
            </p:nvSpPr>
            <p:spPr bwMode="auto">
              <a:xfrm>
                <a:off x="4223" y="1016"/>
                <a:ext cx="597" cy="52"/>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657" name="Group 91">
                <a:extLst>
                  <a:ext uri="{FF2B5EF4-FFF2-40B4-BE49-F238E27FC236}">
                    <a16:creationId xmlns:a16="http://schemas.microsoft.com/office/drawing/2014/main" id="{6C288698-9C54-614A-9160-55F71D5AEC28}"/>
                  </a:ext>
                </a:extLst>
              </p:cNvPr>
              <p:cNvGrpSpPr>
                <a:grpSpLocks/>
              </p:cNvGrpSpPr>
              <p:nvPr/>
            </p:nvGrpSpPr>
            <p:grpSpPr bwMode="auto">
              <a:xfrm>
                <a:off x="4747" y="994"/>
                <a:ext cx="581" cy="134"/>
                <a:chOff x="614" y="2568"/>
                <a:chExt cx="725" cy="139"/>
              </a:xfrm>
            </p:grpSpPr>
            <p:sp>
              <p:nvSpPr>
                <p:cNvPr id="678" name="AutoShape 92">
                  <a:extLst>
                    <a:ext uri="{FF2B5EF4-FFF2-40B4-BE49-F238E27FC236}">
                      <a16:creationId xmlns:a16="http://schemas.microsoft.com/office/drawing/2014/main" id="{6A0C18A4-1291-7E43-9345-2A91D6A4B36D}"/>
                    </a:ext>
                  </a:extLst>
                </p:cNvPr>
                <p:cNvSpPr>
                  <a:spLocks noChangeArrowheads="1"/>
                </p:cNvSpPr>
                <p:nvPr/>
              </p:nvSpPr>
              <p:spPr bwMode="auto">
                <a:xfrm>
                  <a:off x="617" y="2567"/>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79" name="AutoShape 93">
                  <a:extLst>
                    <a:ext uri="{FF2B5EF4-FFF2-40B4-BE49-F238E27FC236}">
                      <a16:creationId xmlns:a16="http://schemas.microsoft.com/office/drawing/2014/main" id="{AC667623-4334-3148-A595-C268518DA618}"/>
                    </a:ext>
                  </a:extLst>
                </p:cNvPr>
                <p:cNvSpPr>
                  <a:spLocks noChangeArrowheads="1"/>
                </p:cNvSpPr>
                <p:nvPr/>
              </p:nvSpPr>
              <p:spPr bwMode="auto">
                <a:xfrm>
                  <a:off x="634" y="2585"/>
                  <a:ext cx="68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58" name="Rectangle 94">
                <a:extLst>
                  <a:ext uri="{FF2B5EF4-FFF2-40B4-BE49-F238E27FC236}">
                    <a16:creationId xmlns:a16="http://schemas.microsoft.com/office/drawing/2014/main" id="{80DE7B80-C6BB-8A4D-BED5-F51D9888FD6E}"/>
                  </a:ext>
                </a:extLst>
              </p:cNvPr>
              <p:cNvSpPr>
                <a:spLocks noChangeArrowheads="1"/>
              </p:cNvSpPr>
              <p:nvPr/>
            </p:nvSpPr>
            <p:spPr bwMode="auto">
              <a:xfrm>
                <a:off x="4217" y="13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59" name="Rectangle 95">
                <a:extLst>
                  <a:ext uri="{FF2B5EF4-FFF2-40B4-BE49-F238E27FC236}">
                    <a16:creationId xmlns:a16="http://schemas.microsoft.com/office/drawing/2014/main" id="{53B39C8C-A4C0-E44F-A049-598F76D03ED1}"/>
                  </a:ext>
                </a:extLst>
              </p:cNvPr>
              <p:cNvSpPr>
                <a:spLocks noChangeArrowheads="1"/>
              </p:cNvSpPr>
              <p:nvPr/>
            </p:nvSpPr>
            <p:spPr bwMode="auto">
              <a:xfrm>
                <a:off x="4230" y="16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660" name="Group 96">
                <a:extLst>
                  <a:ext uri="{FF2B5EF4-FFF2-40B4-BE49-F238E27FC236}">
                    <a16:creationId xmlns:a16="http://schemas.microsoft.com/office/drawing/2014/main" id="{8FAE680F-D5F2-F141-AF0E-EFEDC93174C5}"/>
                  </a:ext>
                </a:extLst>
              </p:cNvPr>
              <p:cNvGrpSpPr>
                <a:grpSpLocks/>
              </p:cNvGrpSpPr>
              <p:nvPr/>
            </p:nvGrpSpPr>
            <p:grpSpPr bwMode="auto">
              <a:xfrm>
                <a:off x="4735" y="1627"/>
                <a:ext cx="582" cy="151"/>
                <a:chOff x="614" y="2568"/>
                <a:chExt cx="725" cy="139"/>
              </a:xfrm>
            </p:grpSpPr>
            <p:sp>
              <p:nvSpPr>
                <p:cNvPr id="676" name="AutoShape 97">
                  <a:extLst>
                    <a:ext uri="{FF2B5EF4-FFF2-40B4-BE49-F238E27FC236}">
                      <a16:creationId xmlns:a16="http://schemas.microsoft.com/office/drawing/2014/main" id="{F6E6D6FE-5487-4B45-9CD9-034725C3419B}"/>
                    </a:ext>
                  </a:extLst>
                </p:cNvPr>
                <p:cNvSpPr>
                  <a:spLocks noChangeArrowheads="1"/>
                </p:cNvSpPr>
                <p:nvPr/>
              </p:nvSpPr>
              <p:spPr bwMode="auto">
                <a:xfrm>
                  <a:off x="616" y="2568"/>
                  <a:ext cx="720"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77" name="AutoShape 98">
                  <a:extLst>
                    <a:ext uri="{FF2B5EF4-FFF2-40B4-BE49-F238E27FC236}">
                      <a16:creationId xmlns:a16="http://schemas.microsoft.com/office/drawing/2014/main" id="{17E4B9CD-9942-AB49-9DCF-EA4C278CAD0C}"/>
                    </a:ext>
                  </a:extLst>
                </p:cNvPr>
                <p:cNvSpPr>
                  <a:spLocks noChangeArrowheads="1"/>
                </p:cNvSpPr>
                <p:nvPr/>
              </p:nvSpPr>
              <p:spPr bwMode="auto">
                <a:xfrm>
                  <a:off x="632" y="2584"/>
                  <a:ext cx="688"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61" name="Freeform 99">
                <a:extLst>
                  <a:ext uri="{FF2B5EF4-FFF2-40B4-BE49-F238E27FC236}">
                    <a16:creationId xmlns:a16="http://schemas.microsoft.com/office/drawing/2014/main" id="{66DBC1AB-D3D3-D54A-97DB-61ACDA49892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662" name="Group 100">
                <a:extLst>
                  <a:ext uri="{FF2B5EF4-FFF2-40B4-BE49-F238E27FC236}">
                    <a16:creationId xmlns:a16="http://schemas.microsoft.com/office/drawing/2014/main" id="{0ACCF28A-C12F-C84F-B594-FD3A670B69E4}"/>
                  </a:ext>
                </a:extLst>
              </p:cNvPr>
              <p:cNvGrpSpPr>
                <a:grpSpLocks/>
              </p:cNvGrpSpPr>
              <p:nvPr/>
            </p:nvGrpSpPr>
            <p:grpSpPr bwMode="auto">
              <a:xfrm>
                <a:off x="4739" y="1327"/>
                <a:ext cx="582" cy="139"/>
                <a:chOff x="614" y="2568"/>
                <a:chExt cx="725" cy="139"/>
              </a:xfrm>
            </p:grpSpPr>
            <p:sp>
              <p:nvSpPr>
                <p:cNvPr id="674" name="AutoShape 101">
                  <a:extLst>
                    <a:ext uri="{FF2B5EF4-FFF2-40B4-BE49-F238E27FC236}">
                      <a16:creationId xmlns:a16="http://schemas.microsoft.com/office/drawing/2014/main" id="{279BBDF1-57E3-A241-8A44-3F0A3BA124F7}"/>
                    </a:ext>
                  </a:extLst>
                </p:cNvPr>
                <p:cNvSpPr>
                  <a:spLocks noChangeArrowheads="1"/>
                </p:cNvSpPr>
                <p:nvPr/>
              </p:nvSpPr>
              <p:spPr bwMode="auto">
                <a:xfrm>
                  <a:off x="611" y="2569"/>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75" name="AutoShape 102">
                  <a:extLst>
                    <a:ext uri="{FF2B5EF4-FFF2-40B4-BE49-F238E27FC236}">
                      <a16:creationId xmlns:a16="http://schemas.microsoft.com/office/drawing/2014/main" id="{0D4E61D6-1AA1-2940-BBA5-24DFE246E503}"/>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63" name="Rectangle 103">
                <a:extLst>
                  <a:ext uri="{FF2B5EF4-FFF2-40B4-BE49-F238E27FC236}">
                    <a16:creationId xmlns:a16="http://schemas.microsoft.com/office/drawing/2014/main" id="{564FBD96-ADF5-5342-92F4-3395008B5746}"/>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64" name="Freeform 104">
                <a:extLst>
                  <a:ext uri="{FF2B5EF4-FFF2-40B4-BE49-F238E27FC236}">
                    <a16:creationId xmlns:a16="http://schemas.microsoft.com/office/drawing/2014/main" id="{F15B27D1-B45C-7141-AB8B-599571DEF3A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65" name="Freeform 105">
                <a:extLst>
                  <a:ext uri="{FF2B5EF4-FFF2-40B4-BE49-F238E27FC236}">
                    <a16:creationId xmlns:a16="http://schemas.microsoft.com/office/drawing/2014/main" id="{4DC70B30-DD3F-2740-89CC-C75EDB999D4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66" name="Oval 106">
                <a:extLst>
                  <a:ext uri="{FF2B5EF4-FFF2-40B4-BE49-F238E27FC236}">
                    <a16:creationId xmlns:a16="http://schemas.microsoft.com/office/drawing/2014/main" id="{A0C40071-87FF-864A-81D4-E4F739BF5378}"/>
                  </a:ext>
                </a:extLst>
              </p:cNvPr>
              <p:cNvSpPr>
                <a:spLocks noChangeArrowheads="1"/>
              </p:cNvSpPr>
              <p:nvPr/>
            </p:nvSpPr>
            <p:spPr bwMode="auto">
              <a:xfrm>
                <a:off x="5520" y="2612"/>
                <a:ext cx="45" cy="98"/>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67" name="Freeform 107">
                <a:extLst>
                  <a:ext uri="{FF2B5EF4-FFF2-40B4-BE49-F238E27FC236}">
                    <a16:creationId xmlns:a16="http://schemas.microsoft.com/office/drawing/2014/main" id="{2F33C2FE-86C4-B34F-945A-3F9BDF777E58}"/>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68" name="AutoShape 108">
                <a:extLst>
                  <a:ext uri="{FF2B5EF4-FFF2-40B4-BE49-F238E27FC236}">
                    <a16:creationId xmlns:a16="http://schemas.microsoft.com/office/drawing/2014/main" id="{A771515B-1A0A-B646-9681-C95CE2F6663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69" name="AutoShape 109">
                <a:extLst>
                  <a:ext uri="{FF2B5EF4-FFF2-40B4-BE49-F238E27FC236}">
                    <a16:creationId xmlns:a16="http://schemas.microsoft.com/office/drawing/2014/main" id="{8DE21308-0063-2D44-A69A-52DF4BDDDF36}"/>
                  </a:ext>
                </a:extLst>
              </p:cNvPr>
              <p:cNvSpPr>
                <a:spLocks noChangeArrowheads="1"/>
              </p:cNvSpPr>
              <p:nvPr/>
            </p:nvSpPr>
            <p:spPr bwMode="auto">
              <a:xfrm>
                <a:off x="4204" y="2710"/>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70" name="Oval 110">
                <a:extLst>
                  <a:ext uri="{FF2B5EF4-FFF2-40B4-BE49-F238E27FC236}">
                    <a16:creationId xmlns:a16="http://schemas.microsoft.com/office/drawing/2014/main" id="{4B5FBC97-4AE7-1140-B25E-7DBB15568DA9}"/>
                  </a:ext>
                </a:extLst>
              </p:cNvPr>
              <p:cNvSpPr>
                <a:spLocks noChangeArrowheads="1"/>
              </p:cNvSpPr>
              <p:nvPr/>
            </p:nvSpPr>
            <p:spPr bwMode="auto">
              <a:xfrm>
                <a:off x="4307" y="2382"/>
                <a:ext cx="160"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71" name="Oval 111">
                <a:extLst>
                  <a:ext uri="{FF2B5EF4-FFF2-40B4-BE49-F238E27FC236}">
                    <a16:creationId xmlns:a16="http://schemas.microsoft.com/office/drawing/2014/main" id="{E22768CA-2A7E-3243-8775-0A66ECEBDAE1}"/>
                  </a:ext>
                </a:extLst>
              </p:cNvPr>
              <p:cNvSpPr>
                <a:spLocks noChangeArrowheads="1"/>
              </p:cNvSpPr>
              <p:nvPr/>
            </p:nvSpPr>
            <p:spPr bwMode="auto">
              <a:xfrm>
                <a:off x="4487" y="2382"/>
                <a:ext cx="160"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a:ln>
                    <a:noFill/>
                  </a:ln>
                  <a:solidFill>
                    <a:srgbClr val="FF0000"/>
                  </a:solidFill>
                  <a:effectLst/>
                  <a:uLnTx/>
                  <a:uFillTx/>
                  <a:latin typeface="+mn-lt"/>
                  <a:ea typeface="ＭＳ Ｐゴシック" panose="020B0600070205080204" pitchFamily="34" charset="-128"/>
                  <a:cs typeface="Arial"/>
                </a:endParaRPr>
              </a:p>
            </p:txBody>
          </p:sp>
          <p:sp>
            <p:nvSpPr>
              <p:cNvPr id="672" name="Oval 112">
                <a:extLst>
                  <a:ext uri="{FF2B5EF4-FFF2-40B4-BE49-F238E27FC236}">
                    <a16:creationId xmlns:a16="http://schemas.microsoft.com/office/drawing/2014/main" id="{D28018C4-A680-2845-A99A-8AA0A8E021CE}"/>
                  </a:ext>
                </a:extLst>
              </p:cNvPr>
              <p:cNvSpPr>
                <a:spLocks noChangeArrowheads="1"/>
              </p:cNvSpPr>
              <p:nvPr/>
            </p:nvSpPr>
            <p:spPr bwMode="auto">
              <a:xfrm>
                <a:off x="4660" y="2382"/>
                <a:ext cx="160"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73" name="Rectangle 113">
                <a:extLst>
                  <a:ext uri="{FF2B5EF4-FFF2-40B4-BE49-F238E27FC236}">
                    <a16:creationId xmlns:a16="http://schemas.microsoft.com/office/drawing/2014/main" id="{8FC5897C-9D21-3A46-90EF-445C7839A9DA}"/>
                  </a:ext>
                </a:extLst>
              </p:cNvPr>
              <p:cNvSpPr>
                <a:spLocks noChangeArrowheads="1"/>
              </p:cNvSpPr>
              <p:nvPr/>
            </p:nvSpPr>
            <p:spPr bwMode="auto">
              <a:xfrm>
                <a:off x="5064" y="1834"/>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grpSp>
          <p:nvGrpSpPr>
            <p:cNvPr id="682" name="Group 114">
              <a:extLst>
                <a:ext uri="{FF2B5EF4-FFF2-40B4-BE49-F238E27FC236}">
                  <a16:creationId xmlns:a16="http://schemas.microsoft.com/office/drawing/2014/main" id="{B83A96A8-659A-C14A-81F1-36FF3203AFE6}"/>
                </a:ext>
              </a:extLst>
            </p:cNvPr>
            <p:cNvGrpSpPr>
              <a:grpSpLocks/>
            </p:cNvGrpSpPr>
            <p:nvPr/>
          </p:nvGrpSpPr>
          <p:grpSpPr bwMode="auto">
            <a:xfrm>
              <a:off x="7010400" y="1390614"/>
              <a:ext cx="352425" cy="660400"/>
              <a:chOff x="4140" y="429"/>
              <a:chExt cx="1425" cy="2396"/>
            </a:xfrm>
          </p:grpSpPr>
          <p:sp>
            <p:nvSpPr>
              <p:cNvPr id="683" name="Freeform 115">
                <a:extLst>
                  <a:ext uri="{FF2B5EF4-FFF2-40B4-BE49-F238E27FC236}">
                    <a16:creationId xmlns:a16="http://schemas.microsoft.com/office/drawing/2014/main" id="{51E7F745-188F-2049-8F3D-A9F1E48EAE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84" name="Rectangle 116">
                <a:extLst>
                  <a:ext uri="{FF2B5EF4-FFF2-40B4-BE49-F238E27FC236}">
                    <a16:creationId xmlns:a16="http://schemas.microsoft.com/office/drawing/2014/main" id="{3330E9B6-9A70-F341-BB07-3C7E5FBB6536}"/>
                  </a:ext>
                </a:extLst>
              </p:cNvPr>
              <p:cNvSpPr>
                <a:spLocks noChangeArrowheads="1"/>
              </p:cNvSpPr>
              <p:nvPr/>
            </p:nvSpPr>
            <p:spPr bwMode="auto">
              <a:xfrm>
                <a:off x="4204" y="429"/>
                <a:ext cx="1046" cy="2287"/>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85" name="Freeform 117">
                <a:extLst>
                  <a:ext uri="{FF2B5EF4-FFF2-40B4-BE49-F238E27FC236}">
                    <a16:creationId xmlns:a16="http://schemas.microsoft.com/office/drawing/2014/main" id="{10DD9A9D-A76F-3641-9CE7-9F73150FB95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86" name="Freeform 118">
                <a:extLst>
                  <a:ext uri="{FF2B5EF4-FFF2-40B4-BE49-F238E27FC236}">
                    <a16:creationId xmlns:a16="http://schemas.microsoft.com/office/drawing/2014/main" id="{1D744195-71CA-F84A-A0EC-B41BAA550B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87" name="Rectangle 119">
                <a:extLst>
                  <a:ext uri="{FF2B5EF4-FFF2-40B4-BE49-F238E27FC236}">
                    <a16:creationId xmlns:a16="http://schemas.microsoft.com/office/drawing/2014/main" id="{08B258E9-429B-A04E-9B31-61FC9C0C9034}"/>
                  </a:ext>
                </a:extLst>
              </p:cNvPr>
              <p:cNvSpPr>
                <a:spLocks noChangeArrowheads="1"/>
              </p:cNvSpPr>
              <p:nvPr/>
            </p:nvSpPr>
            <p:spPr bwMode="auto">
              <a:xfrm>
                <a:off x="4211" y="694"/>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688" name="Group 120">
                <a:extLst>
                  <a:ext uri="{FF2B5EF4-FFF2-40B4-BE49-F238E27FC236}">
                    <a16:creationId xmlns:a16="http://schemas.microsoft.com/office/drawing/2014/main" id="{052466FA-382D-B34A-B153-D2714C4495BA}"/>
                  </a:ext>
                </a:extLst>
              </p:cNvPr>
              <p:cNvGrpSpPr>
                <a:grpSpLocks/>
              </p:cNvGrpSpPr>
              <p:nvPr/>
            </p:nvGrpSpPr>
            <p:grpSpPr bwMode="auto">
              <a:xfrm>
                <a:off x="4749" y="668"/>
                <a:ext cx="581" cy="145"/>
                <a:chOff x="614" y="2568"/>
                <a:chExt cx="725" cy="139"/>
              </a:xfrm>
            </p:grpSpPr>
            <p:sp>
              <p:nvSpPr>
                <p:cNvPr id="713" name="AutoShape 121">
                  <a:extLst>
                    <a:ext uri="{FF2B5EF4-FFF2-40B4-BE49-F238E27FC236}">
                      <a16:creationId xmlns:a16="http://schemas.microsoft.com/office/drawing/2014/main" id="{A21CDD7A-2555-5B47-9078-A436ACA9B20D}"/>
                    </a:ext>
                  </a:extLst>
                </p:cNvPr>
                <p:cNvSpPr>
                  <a:spLocks noChangeArrowheads="1"/>
                </p:cNvSpPr>
                <p:nvPr/>
              </p:nvSpPr>
              <p:spPr bwMode="auto">
                <a:xfrm>
                  <a:off x="615" y="2560"/>
                  <a:ext cx="721" cy="14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14" name="AutoShape 122">
                  <a:extLst>
                    <a:ext uri="{FF2B5EF4-FFF2-40B4-BE49-F238E27FC236}">
                      <a16:creationId xmlns:a16="http://schemas.microsoft.com/office/drawing/2014/main" id="{CBF9610B-13CA-D841-A288-8379AC7B45D4}"/>
                    </a:ext>
                  </a:extLst>
                </p:cNvPr>
                <p:cNvSpPr>
                  <a:spLocks noChangeArrowheads="1"/>
                </p:cNvSpPr>
                <p:nvPr/>
              </p:nvSpPr>
              <p:spPr bwMode="auto">
                <a:xfrm>
                  <a:off x="631" y="2582"/>
                  <a:ext cx="689"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89" name="Rectangle 123">
                <a:extLst>
                  <a:ext uri="{FF2B5EF4-FFF2-40B4-BE49-F238E27FC236}">
                    <a16:creationId xmlns:a16="http://schemas.microsoft.com/office/drawing/2014/main" id="{CBC048D4-7B3A-6F41-A02E-503359CF5C92}"/>
                  </a:ext>
                </a:extLst>
              </p:cNvPr>
              <p:cNvSpPr>
                <a:spLocks noChangeArrowheads="1"/>
              </p:cNvSpPr>
              <p:nvPr/>
            </p:nvSpPr>
            <p:spPr bwMode="auto">
              <a:xfrm>
                <a:off x="4223" y="1016"/>
                <a:ext cx="597" cy="52"/>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690" name="Group 124">
                <a:extLst>
                  <a:ext uri="{FF2B5EF4-FFF2-40B4-BE49-F238E27FC236}">
                    <a16:creationId xmlns:a16="http://schemas.microsoft.com/office/drawing/2014/main" id="{4D7B123C-FEF1-E041-894F-F31DD588C361}"/>
                  </a:ext>
                </a:extLst>
              </p:cNvPr>
              <p:cNvGrpSpPr>
                <a:grpSpLocks/>
              </p:cNvGrpSpPr>
              <p:nvPr/>
            </p:nvGrpSpPr>
            <p:grpSpPr bwMode="auto">
              <a:xfrm>
                <a:off x="4747" y="994"/>
                <a:ext cx="581" cy="134"/>
                <a:chOff x="614" y="2568"/>
                <a:chExt cx="725" cy="139"/>
              </a:xfrm>
            </p:grpSpPr>
            <p:sp>
              <p:nvSpPr>
                <p:cNvPr id="711" name="AutoShape 125">
                  <a:extLst>
                    <a:ext uri="{FF2B5EF4-FFF2-40B4-BE49-F238E27FC236}">
                      <a16:creationId xmlns:a16="http://schemas.microsoft.com/office/drawing/2014/main" id="{DAEC4BE7-B702-0848-BF3B-82C6FCF0AE7A}"/>
                    </a:ext>
                  </a:extLst>
                </p:cNvPr>
                <p:cNvSpPr>
                  <a:spLocks noChangeArrowheads="1"/>
                </p:cNvSpPr>
                <p:nvPr/>
              </p:nvSpPr>
              <p:spPr bwMode="auto">
                <a:xfrm>
                  <a:off x="617" y="2567"/>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12" name="AutoShape 126">
                  <a:extLst>
                    <a:ext uri="{FF2B5EF4-FFF2-40B4-BE49-F238E27FC236}">
                      <a16:creationId xmlns:a16="http://schemas.microsoft.com/office/drawing/2014/main" id="{FBEAEEDC-D373-2043-9097-A4F8AEA4ED4B}"/>
                    </a:ext>
                  </a:extLst>
                </p:cNvPr>
                <p:cNvSpPr>
                  <a:spLocks noChangeArrowheads="1"/>
                </p:cNvSpPr>
                <p:nvPr/>
              </p:nvSpPr>
              <p:spPr bwMode="auto">
                <a:xfrm>
                  <a:off x="634" y="2585"/>
                  <a:ext cx="68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91" name="Rectangle 127">
                <a:extLst>
                  <a:ext uri="{FF2B5EF4-FFF2-40B4-BE49-F238E27FC236}">
                    <a16:creationId xmlns:a16="http://schemas.microsoft.com/office/drawing/2014/main" id="{4DD8CBA3-5EC3-7B48-9BE0-6003CD8A0AA3}"/>
                  </a:ext>
                </a:extLst>
              </p:cNvPr>
              <p:cNvSpPr>
                <a:spLocks noChangeArrowheads="1"/>
              </p:cNvSpPr>
              <p:nvPr/>
            </p:nvSpPr>
            <p:spPr bwMode="auto">
              <a:xfrm>
                <a:off x="4217" y="13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92" name="Rectangle 128">
                <a:extLst>
                  <a:ext uri="{FF2B5EF4-FFF2-40B4-BE49-F238E27FC236}">
                    <a16:creationId xmlns:a16="http://schemas.microsoft.com/office/drawing/2014/main" id="{BA5E53EA-3ECC-A847-B148-B8ED1636EA9D}"/>
                  </a:ext>
                </a:extLst>
              </p:cNvPr>
              <p:cNvSpPr>
                <a:spLocks noChangeArrowheads="1"/>
              </p:cNvSpPr>
              <p:nvPr/>
            </p:nvSpPr>
            <p:spPr bwMode="auto">
              <a:xfrm>
                <a:off x="4230" y="16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693" name="Group 129">
                <a:extLst>
                  <a:ext uri="{FF2B5EF4-FFF2-40B4-BE49-F238E27FC236}">
                    <a16:creationId xmlns:a16="http://schemas.microsoft.com/office/drawing/2014/main" id="{C816273C-68D1-2045-8CE5-F2A266739EB5}"/>
                  </a:ext>
                </a:extLst>
              </p:cNvPr>
              <p:cNvGrpSpPr>
                <a:grpSpLocks/>
              </p:cNvGrpSpPr>
              <p:nvPr/>
            </p:nvGrpSpPr>
            <p:grpSpPr bwMode="auto">
              <a:xfrm>
                <a:off x="4735" y="1627"/>
                <a:ext cx="582" cy="151"/>
                <a:chOff x="614" y="2568"/>
                <a:chExt cx="725" cy="139"/>
              </a:xfrm>
            </p:grpSpPr>
            <p:sp>
              <p:nvSpPr>
                <p:cNvPr id="709" name="AutoShape 130">
                  <a:extLst>
                    <a:ext uri="{FF2B5EF4-FFF2-40B4-BE49-F238E27FC236}">
                      <a16:creationId xmlns:a16="http://schemas.microsoft.com/office/drawing/2014/main" id="{AE043AC3-A076-4449-9CD3-8DA37B0F0905}"/>
                    </a:ext>
                  </a:extLst>
                </p:cNvPr>
                <p:cNvSpPr>
                  <a:spLocks noChangeArrowheads="1"/>
                </p:cNvSpPr>
                <p:nvPr/>
              </p:nvSpPr>
              <p:spPr bwMode="auto">
                <a:xfrm>
                  <a:off x="616" y="2568"/>
                  <a:ext cx="720"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10" name="AutoShape 131">
                  <a:extLst>
                    <a:ext uri="{FF2B5EF4-FFF2-40B4-BE49-F238E27FC236}">
                      <a16:creationId xmlns:a16="http://schemas.microsoft.com/office/drawing/2014/main" id="{E346A75D-7CBE-8A47-B07E-5D39EAB4BEA6}"/>
                    </a:ext>
                  </a:extLst>
                </p:cNvPr>
                <p:cNvSpPr>
                  <a:spLocks noChangeArrowheads="1"/>
                </p:cNvSpPr>
                <p:nvPr/>
              </p:nvSpPr>
              <p:spPr bwMode="auto">
                <a:xfrm>
                  <a:off x="632" y="2584"/>
                  <a:ext cx="688"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94" name="Freeform 132">
                <a:extLst>
                  <a:ext uri="{FF2B5EF4-FFF2-40B4-BE49-F238E27FC236}">
                    <a16:creationId xmlns:a16="http://schemas.microsoft.com/office/drawing/2014/main" id="{F00AFCE9-BD33-D444-BA2F-95E3560637A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695" name="Group 133">
                <a:extLst>
                  <a:ext uri="{FF2B5EF4-FFF2-40B4-BE49-F238E27FC236}">
                    <a16:creationId xmlns:a16="http://schemas.microsoft.com/office/drawing/2014/main" id="{DF061EE0-DC00-D341-ACD4-2D438E4D7331}"/>
                  </a:ext>
                </a:extLst>
              </p:cNvPr>
              <p:cNvGrpSpPr>
                <a:grpSpLocks/>
              </p:cNvGrpSpPr>
              <p:nvPr/>
            </p:nvGrpSpPr>
            <p:grpSpPr bwMode="auto">
              <a:xfrm>
                <a:off x="4739" y="1327"/>
                <a:ext cx="582" cy="139"/>
                <a:chOff x="614" y="2568"/>
                <a:chExt cx="725" cy="139"/>
              </a:xfrm>
            </p:grpSpPr>
            <p:sp>
              <p:nvSpPr>
                <p:cNvPr id="707" name="AutoShape 134">
                  <a:extLst>
                    <a:ext uri="{FF2B5EF4-FFF2-40B4-BE49-F238E27FC236}">
                      <a16:creationId xmlns:a16="http://schemas.microsoft.com/office/drawing/2014/main" id="{8A5DEFF2-82FF-9C4B-B30F-DD02A99BAB51}"/>
                    </a:ext>
                  </a:extLst>
                </p:cNvPr>
                <p:cNvSpPr>
                  <a:spLocks noChangeArrowheads="1"/>
                </p:cNvSpPr>
                <p:nvPr/>
              </p:nvSpPr>
              <p:spPr bwMode="auto">
                <a:xfrm>
                  <a:off x="611" y="2569"/>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08" name="AutoShape 135">
                  <a:extLst>
                    <a:ext uri="{FF2B5EF4-FFF2-40B4-BE49-F238E27FC236}">
                      <a16:creationId xmlns:a16="http://schemas.microsoft.com/office/drawing/2014/main" id="{9E0A6440-9A0A-834A-BE6A-CB243F8A046A}"/>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696" name="Rectangle 136">
                <a:extLst>
                  <a:ext uri="{FF2B5EF4-FFF2-40B4-BE49-F238E27FC236}">
                    <a16:creationId xmlns:a16="http://schemas.microsoft.com/office/drawing/2014/main" id="{C3E6428A-F3CA-6646-8504-7A4B80873016}"/>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697" name="Freeform 137">
                <a:extLst>
                  <a:ext uri="{FF2B5EF4-FFF2-40B4-BE49-F238E27FC236}">
                    <a16:creationId xmlns:a16="http://schemas.microsoft.com/office/drawing/2014/main" id="{36A1B92D-73B3-1E48-9DF6-56C52B1C0EF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98" name="Freeform 138">
                <a:extLst>
                  <a:ext uri="{FF2B5EF4-FFF2-40B4-BE49-F238E27FC236}">
                    <a16:creationId xmlns:a16="http://schemas.microsoft.com/office/drawing/2014/main" id="{BBCC47D2-9636-8645-A30A-A9FB9FEB704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699" name="Oval 139">
                <a:extLst>
                  <a:ext uri="{FF2B5EF4-FFF2-40B4-BE49-F238E27FC236}">
                    <a16:creationId xmlns:a16="http://schemas.microsoft.com/office/drawing/2014/main" id="{538F95FE-99F4-114C-88F1-20DC65C7D98C}"/>
                  </a:ext>
                </a:extLst>
              </p:cNvPr>
              <p:cNvSpPr>
                <a:spLocks noChangeArrowheads="1"/>
              </p:cNvSpPr>
              <p:nvPr/>
            </p:nvSpPr>
            <p:spPr bwMode="auto">
              <a:xfrm>
                <a:off x="5520" y="2612"/>
                <a:ext cx="45" cy="98"/>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00" name="Freeform 140">
                <a:extLst>
                  <a:ext uri="{FF2B5EF4-FFF2-40B4-BE49-F238E27FC236}">
                    <a16:creationId xmlns:a16="http://schemas.microsoft.com/office/drawing/2014/main" id="{3A2D7A8F-740E-E44C-8A64-6BF5A90E8E2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701" name="AutoShape 141">
                <a:extLst>
                  <a:ext uri="{FF2B5EF4-FFF2-40B4-BE49-F238E27FC236}">
                    <a16:creationId xmlns:a16="http://schemas.microsoft.com/office/drawing/2014/main" id="{E95BA8FE-A8C5-0F4B-802A-0FFE3E9344D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02" name="AutoShape 142">
                <a:extLst>
                  <a:ext uri="{FF2B5EF4-FFF2-40B4-BE49-F238E27FC236}">
                    <a16:creationId xmlns:a16="http://schemas.microsoft.com/office/drawing/2014/main" id="{05E6F7D8-B8C8-534A-8606-ED15889043B6}"/>
                  </a:ext>
                </a:extLst>
              </p:cNvPr>
              <p:cNvSpPr>
                <a:spLocks noChangeArrowheads="1"/>
              </p:cNvSpPr>
              <p:nvPr/>
            </p:nvSpPr>
            <p:spPr bwMode="auto">
              <a:xfrm>
                <a:off x="4204" y="2710"/>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03" name="Oval 143">
                <a:extLst>
                  <a:ext uri="{FF2B5EF4-FFF2-40B4-BE49-F238E27FC236}">
                    <a16:creationId xmlns:a16="http://schemas.microsoft.com/office/drawing/2014/main" id="{D7668313-20A1-7840-BCF9-D2778D9E79AE}"/>
                  </a:ext>
                </a:extLst>
              </p:cNvPr>
              <p:cNvSpPr>
                <a:spLocks noChangeArrowheads="1"/>
              </p:cNvSpPr>
              <p:nvPr/>
            </p:nvSpPr>
            <p:spPr bwMode="auto">
              <a:xfrm>
                <a:off x="4307" y="2382"/>
                <a:ext cx="160"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04" name="Oval 144">
                <a:extLst>
                  <a:ext uri="{FF2B5EF4-FFF2-40B4-BE49-F238E27FC236}">
                    <a16:creationId xmlns:a16="http://schemas.microsoft.com/office/drawing/2014/main" id="{3152B3AD-E2B7-A045-8DF7-86DF2FE62ACB}"/>
                  </a:ext>
                </a:extLst>
              </p:cNvPr>
              <p:cNvSpPr>
                <a:spLocks noChangeArrowheads="1"/>
              </p:cNvSpPr>
              <p:nvPr/>
            </p:nvSpPr>
            <p:spPr bwMode="auto">
              <a:xfrm>
                <a:off x="4487" y="2382"/>
                <a:ext cx="160"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a:ln>
                    <a:noFill/>
                  </a:ln>
                  <a:solidFill>
                    <a:srgbClr val="FF0000"/>
                  </a:solidFill>
                  <a:effectLst/>
                  <a:uLnTx/>
                  <a:uFillTx/>
                  <a:latin typeface="+mn-lt"/>
                  <a:ea typeface="ＭＳ Ｐゴシック" panose="020B0600070205080204" pitchFamily="34" charset="-128"/>
                  <a:cs typeface="Arial"/>
                </a:endParaRPr>
              </a:p>
            </p:txBody>
          </p:sp>
          <p:sp>
            <p:nvSpPr>
              <p:cNvPr id="705" name="Oval 145">
                <a:extLst>
                  <a:ext uri="{FF2B5EF4-FFF2-40B4-BE49-F238E27FC236}">
                    <a16:creationId xmlns:a16="http://schemas.microsoft.com/office/drawing/2014/main" id="{7A3BC98F-1F3C-794E-BD03-4960366B4C92}"/>
                  </a:ext>
                </a:extLst>
              </p:cNvPr>
              <p:cNvSpPr>
                <a:spLocks noChangeArrowheads="1"/>
              </p:cNvSpPr>
              <p:nvPr/>
            </p:nvSpPr>
            <p:spPr bwMode="auto">
              <a:xfrm>
                <a:off x="4660" y="2382"/>
                <a:ext cx="160"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06" name="Rectangle 146">
                <a:extLst>
                  <a:ext uri="{FF2B5EF4-FFF2-40B4-BE49-F238E27FC236}">
                    <a16:creationId xmlns:a16="http://schemas.microsoft.com/office/drawing/2014/main" id="{FD2E8B12-7E5B-534C-992F-CC974F01D2BD}"/>
                  </a:ext>
                </a:extLst>
              </p:cNvPr>
              <p:cNvSpPr>
                <a:spLocks noChangeArrowheads="1"/>
              </p:cNvSpPr>
              <p:nvPr/>
            </p:nvSpPr>
            <p:spPr bwMode="auto">
              <a:xfrm>
                <a:off x="5064" y="1834"/>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grpSp>
          <p:nvGrpSpPr>
            <p:cNvPr id="715" name="Group 147">
              <a:extLst>
                <a:ext uri="{FF2B5EF4-FFF2-40B4-BE49-F238E27FC236}">
                  <a16:creationId xmlns:a16="http://schemas.microsoft.com/office/drawing/2014/main" id="{4942FA46-AAAE-D947-BF1A-4481A3448211}"/>
                </a:ext>
              </a:extLst>
            </p:cNvPr>
            <p:cNvGrpSpPr>
              <a:grpSpLocks/>
            </p:cNvGrpSpPr>
            <p:nvPr/>
          </p:nvGrpSpPr>
          <p:grpSpPr bwMode="auto">
            <a:xfrm>
              <a:off x="9861550" y="1646202"/>
              <a:ext cx="352425" cy="660400"/>
              <a:chOff x="4140" y="429"/>
              <a:chExt cx="1425" cy="2396"/>
            </a:xfrm>
          </p:grpSpPr>
          <p:sp>
            <p:nvSpPr>
              <p:cNvPr id="716" name="Freeform 148">
                <a:extLst>
                  <a:ext uri="{FF2B5EF4-FFF2-40B4-BE49-F238E27FC236}">
                    <a16:creationId xmlns:a16="http://schemas.microsoft.com/office/drawing/2014/main" id="{CC23ABEE-8791-714B-8A1A-4F7AD8EF3BF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717" name="Rectangle 149">
                <a:extLst>
                  <a:ext uri="{FF2B5EF4-FFF2-40B4-BE49-F238E27FC236}">
                    <a16:creationId xmlns:a16="http://schemas.microsoft.com/office/drawing/2014/main" id="{2B86FF99-00DB-934B-8BA7-48C64B644A45}"/>
                  </a:ext>
                </a:extLst>
              </p:cNvPr>
              <p:cNvSpPr>
                <a:spLocks noChangeArrowheads="1"/>
              </p:cNvSpPr>
              <p:nvPr/>
            </p:nvSpPr>
            <p:spPr bwMode="auto">
              <a:xfrm>
                <a:off x="4204" y="429"/>
                <a:ext cx="1046" cy="2287"/>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18" name="Freeform 150">
                <a:extLst>
                  <a:ext uri="{FF2B5EF4-FFF2-40B4-BE49-F238E27FC236}">
                    <a16:creationId xmlns:a16="http://schemas.microsoft.com/office/drawing/2014/main" id="{956FBF0C-5170-794A-B33B-82657D57164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719" name="Freeform 151">
                <a:extLst>
                  <a:ext uri="{FF2B5EF4-FFF2-40B4-BE49-F238E27FC236}">
                    <a16:creationId xmlns:a16="http://schemas.microsoft.com/office/drawing/2014/main" id="{445CE280-0D0A-6B4F-84F6-532AE192658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720" name="Rectangle 152">
                <a:extLst>
                  <a:ext uri="{FF2B5EF4-FFF2-40B4-BE49-F238E27FC236}">
                    <a16:creationId xmlns:a16="http://schemas.microsoft.com/office/drawing/2014/main" id="{0D6EBFB3-4B17-8B4D-84D1-393E2919BF54}"/>
                  </a:ext>
                </a:extLst>
              </p:cNvPr>
              <p:cNvSpPr>
                <a:spLocks noChangeArrowheads="1"/>
              </p:cNvSpPr>
              <p:nvPr/>
            </p:nvSpPr>
            <p:spPr bwMode="auto">
              <a:xfrm>
                <a:off x="4211" y="694"/>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721" name="Group 153">
                <a:extLst>
                  <a:ext uri="{FF2B5EF4-FFF2-40B4-BE49-F238E27FC236}">
                    <a16:creationId xmlns:a16="http://schemas.microsoft.com/office/drawing/2014/main" id="{68337FBF-F76C-C544-8BA6-563723BD11B9}"/>
                  </a:ext>
                </a:extLst>
              </p:cNvPr>
              <p:cNvGrpSpPr>
                <a:grpSpLocks/>
              </p:cNvGrpSpPr>
              <p:nvPr/>
            </p:nvGrpSpPr>
            <p:grpSpPr bwMode="auto">
              <a:xfrm>
                <a:off x="4749" y="668"/>
                <a:ext cx="581" cy="145"/>
                <a:chOff x="614" y="2568"/>
                <a:chExt cx="725" cy="139"/>
              </a:xfrm>
            </p:grpSpPr>
            <p:sp>
              <p:nvSpPr>
                <p:cNvPr id="746" name="AutoShape 154">
                  <a:extLst>
                    <a:ext uri="{FF2B5EF4-FFF2-40B4-BE49-F238E27FC236}">
                      <a16:creationId xmlns:a16="http://schemas.microsoft.com/office/drawing/2014/main" id="{7983AE2B-9F40-7446-964A-C0D1EC25521C}"/>
                    </a:ext>
                  </a:extLst>
                </p:cNvPr>
                <p:cNvSpPr>
                  <a:spLocks noChangeArrowheads="1"/>
                </p:cNvSpPr>
                <p:nvPr/>
              </p:nvSpPr>
              <p:spPr bwMode="auto">
                <a:xfrm>
                  <a:off x="615" y="2560"/>
                  <a:ext cx="721" cy="14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47" name="AutoShape 155">
                  <a:extLst>
                    <a:ext uri="{FF2B5EF4-FFF2-40B4-BE49-F238E27FC236}">
                      <a16:creationId xmlns:a16="http://schemas.microsoft.com/office/drawing/2014/main" id="{ADC46602-CC63-8141-8BF1-5EC8D1824C61}"/>
                    </a:ext>
                  </a:extLst>
                </p:cNvPr>
                <p:cNvSpPr>
                  <a:spLocks noChangeArrowheads="1"/>
                </p:cNvSpPr>
                <p:nvPr/>
              </p:nvSpPr>
              <p:spPr bwMode="auto">
                <a:xfrm>
                  <a:off x="631" y="2582"/>
                  <a:ext cx="689"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722" name="Rectangle 156">
                <a:extLst>
                  <a:ext uri="{FF2B5EF4-FFF2-40B4-BE49-F238E27FC236}">
                    <a16:creationId xmlns:a16="http://schemas.microsoft.com/office/drawing/2014/main" id="{0B0E3BE7-5708-A949-85C0-8553CB933EFE}"/>
                  </a:ext>
                </a:extLst>
              </p:cNvPr>
              <p:cNvSpPr>
                <a:spLocks noChangeArrowheads="1"/>
              </p:cNvSpPr>
              <p:nvPr/>
            </p:nvSpPr>
            <p:spPr bwMode="auto">
              <a:xfrm>
                <a:off x="4223" y="1016"/>
                <a:ext cx="597" cy="52"/>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723" name="Group 157">
                <a:extLst>
                  <a:ext uri="{FF2B5EF4-FFF2-40B4-BE49-F238E27FC236}">
                    <a16:creationId xmlns:a16="http://schemas.microsoft.com/office/drawing/2014/main" id="{59EFAC4A-A3D4-9E4D-84E2-5BD8A5D33E2C}"/>
                  </a:ext>
                </a:extLst>
              </p:cNvPr>
              <p:cNvGrpSpPr>
                <a:grpSpLocks/>
              </p:cNvGrpSpPr>
              <p:nvPr/>
            </p:nvGrpSpPr>
            <p:grpSpPr bwMode="auto">
              <a:xfrm>
                <a:off x="4747" y="994"/>
                <a:ext cx="581" cy="134"/>
                <a:chOff x="614" y="2568"/>
                <a:chExt cx="725" cy="139"/>
              </a:xfrm>
            </p:grpSpPr>
            <p:sp>
              <p:nvSpPr>
                <p:cNvPr id="744" name="AutoShape 158">
                  <a:extLst>
                    <a:ext uri="{FF2B5EF4-FFF2-40B4-BE49-F238E27FC236}">
                      <a16:creationId xmlns:a16="http://schemas.microsoft.com/office/drawing/2014/main" id="{B68D7D2F-A4EC-6343-AAA2-E27A5BE91747}"/>
                    </a:ext>
                  </a:extLst>
                </p:cNvPr>
                <p:cNvSpPr>
                  <a:spLocks noChangeArrowheads="1"/>
                </p:cNvSpPr>
                <p:nvPr/>
              </p:nvSpPr>
              <p:spPr bwMode="auto">
                <a:xfrm>
                  <a:off x="617" y="2567"/>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45" name="AutoShape 159">
                  <a:extLst>
                    <a:ext uri="{FF2B5EF4-FFF2-40B4-BE49-F238E27FC236}">
                      <a16:creationId xmlns:a16="http://schemas.microsoft.com/office/drawing/2014/main" id="{5C8BE6BD-0D6C-BE4F-A7C1-CFA5A3A723F5}"/>
                    </a:ext>
                  </a:extLst>
                </p:cNvPr>
                <p:cNvSpPr>
                  <a:spLocks noChangeArrowheads="1"/>
                </p:cNvSpPr>
                <p:nvPr/>
              </p:nvSpPr>
              <p:spPr bwMode="auto">
                <a:xfrm>
                  <a:off x="634" y="2585"/>
                  <a:ext cx="68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724" name="Rectangle 160">
                <a:extLst>
                  <a:ext uri="{FF2B5EF4-FFF2-40B4-BE49-F238E27FC236}">
                    <a16:creationId xmlns:a16="http://schemas.microsoft.com/office/drawing/2014/main" id="{584E618E-4A1F-8343-97FD-62858B78F5C6}"/>
                  </a:ext>
                </a:extLst>
              </p:cNvPr>
              <p:cNvSpPr>
                <a:spLocks noChangeArrowheads="1"/>
              </p:cNvSpPr>
              <p:nvPr/>
            </p:nvSpPr>
            <p:spPr bwMode="auto">
              <a:xfrm>
                <a:off x="4217" y="13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25" name="Rectangle 161">
                <a:extLst>
                  <a:ext uri="{FF2B5EF4-FFF2-40B4-BE49-F238E27FC236}">
                    <a16:creationId xmlns:a16="http://schemas.microsoft.com/office/drawing/2014/main" id="{12F0293A-C413-F449-BF89-9E1C83526B5A}"/>
                  </a:ext>
                </a:extLst>
              </p:cNvPr>
              <p:cNvSpPr>
                <a:spLocks noChangeArrowheads="1"/>
              </p:cNvSpPr>
              <p:nvPr/>
            </p:nvSpPr>
            <p:spPr bwMode="auto">
              <a:xfrm>
                <a:off x="4230" y="16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nvGrpSpPr>
              <p:cNvPr id="726" name="Group 162">
                <a:extLst>
                  <a:ext uri="{FF2B5EF4-FFF2-40B4-BE49-F238E27FC236}">
                    <a16:creationId xmlns:a16="http://schemas.microsoft.com/office/drawing/2014/main" id="{1A6200EB-5E59-2B47-9B1A-EF30A5EAD25B}"/>
                  </a:ext>
                </a:extLst>
              </p:cNvPr>
              <p:cNvGrpSpPr>
                <a:grpSpLocks/>
              </p:cNvGrpSpPr>
              <p:nvPr/>
            </p:nvGrpSpPr>
            <p:grpSpPr bwMode="auto">
              <a:xfrm>
                <a:off x="4735" y="1627"/>
                <a:ext cx="582" cy="151"/>
                <a:chOff x="614" y="2568"/>
                <a:chExt cx="725" cy="139"/>
              </a:xfrm>
            </p:grpSpPr>
            <p:sp>
              <p:nvSpPr>
                <p:cNvPr id="742" name="AutoShape 163">
                  <a:extLst>
                    <a:ext uri="{FF2B5EF4-FFF2-40B4-BE49-F238E27FC236}">
                      <a16:creationId xmlns:a16="http://schemas.microsoft.com/office/drawing/2014/main" id="{B97E9310-11F5-E248-A0DF-E45AE8F9B84B}"/>
                    </a:ext>
                  </a:extLst>
                </p:cNvPr>
                <p:cNvSpPr>
                  <a:spLocks noChangeArrowheads="1"/>
                </p:cNvSpPr>
                <p:nvPr/>
              </p:nvSpPr>
              <p:spPr bwMode="auto">
                <a:xfrm>
                  <a:off x="616" y="2568"/>
                  <a:ext cx="720"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43" name="AutoShape 164">
                  <a:extLst>
                    <a:ext uri="{FF2B5EF4-FFF2-40B4-BE49-F238E27FC236}">
                      <a16:creationId xmlns:a16="http://schemas.microsoft.com/office/drawing/2014/main" id="{968E1571-41AC-434C-B887-D8EBC7A3B079}"/>
                    </a:ext>
                  </a:extLst>
                </p:cNvPr>
                <p:cNvSpPr>
                  <a:spLocks noChangeArrowheads="1"/>
                </p:cNvSpPr>
                <p:nvPr/>
              </p:nvSpPr>
              <p:spPr bwMode="auto">
                <a:xfrm>
                  <a:off x="632" y="2584"/>
                  <a:ext cx="688"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727" name="Freeform 165">
                <a:extLst>
                  <a:ext uri="{FF2B5EF4-FFF2-40B4-BE49-F238E27FC236}">
                    <a16:creationId xmlns:a16="http://schemas.microsoft.com/office/drawing/2014/main" id="{BE30363C-DD3A-B943-9269-1BAD5BA3698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nvGrpSpPr>
              <p:cNvPr id="728" name="Group 166">
                <a:extLst>
                  <a:ext uri="{FF2B5EF4-FFF2-40B4-BE49-F238E27FC236}">
                    <a16:creationId xmlns:a16="http://schemas.microsoft.com/office/drawing/2014/main" id="{38788B69-339D-7F4E-B301-8175DEA9DEDF}"/>
                  </a:ext>
                </a:extLst>
              </p:cNvPr>
              <p:cNvGrpSpPr>
                <a:grpSpLocks/>
              </p:cNvGrpSpPr>
              <p:nvPr/>
            </p:nvGrpSpPr>
            <p:grpSpPr bwMode="auto">
              <a:xfrm>
                <a:off x="4739" y="1327"/>
                <a:ext cx="582" cy="139"/>
                <a:chOff x="614" y="2568"/>
                <a:chExt cx="725" cy="139"/>
              </a:xfrm>
            </p:grpSpPr>
            <p:sp>
              <p:nvSpPr>
                <p:cNvPr id="740" name="AutoShape 167">
                  <a:extLst>
                    <a:ext uri="{FF2B5EF4-FFF2-40B4-BE49-F238E27FC236}">
                      <a16:creationId xmlns:a16="http://schemas.microsoft.com/office/drawing/2014/main" id="{97B97885-9739-1F45-B789-FBABCFF92AAE}"/>
                    </a:ext>
                  </a:extLst>
                </p:cNvPr>
                <p:cNvSpPr>
                  <a:spLocks noChangeArrowheads="1"/>
                </p:cNvSpPr>
                <p:nvPr/>
              </p:nvSpPr>
              <p:spPr bwMode="auto">
                <a:xfrm>
                  <a:off x="611" y="2569"/>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41" name="AutoShape 168">
                  <a:extLst>
                    <a:ext uri="{FF2B5EF4-FFF2-40B4-BE49-F238E27FC236}">
                      <a16:creationId xmlns:a16="http://schemas.microsoft.com/office/drawing/2014/main" id="{84771018-17F5-D14A-8D8C-59EE601BC2C9}"/>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sp>
            <p:nvSpPr>
              <p:cNvPr id="729" name="Rectangle 169">
                <a:extLst>
                  <a:ext uri="{FF2B5EF4-FFF2-40B4-BE49-F238E27FC236}">
                    <a16:creationId xmlns:a16="http://schemas.microsoft.com/office/drawing/2014/main" id="{7A058DA4-516B-7D41-BD30-6364FF15C960}"/>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30" name="Freeform 170">
                <a:extLst>
                  <a:ext uri="{FF2B5EF4-FFF2-40B4-BE49-F238E27FC236}">
                    <a16:creationId xmlns:a16="http://schemas.microsoft.com/office/drawing/2014/main" id="{856E246C-1591-CA4F-8ADE-8DDDDAA7793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731" name="Freeform 171">
                <a:extLst>
                  <a:ext uri="{FF2B5EF4-FFF2-40B4-BE49-F238E27FC236}">
                    <a16:creationId xmlns:a16="http://schemas.microsoft.com/office/drawing/2014/main" id="{31F0BA80-7560-4D47-A9F7-FD31AEA4344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732" name="Oval 172">
                <a:extLst>
                  <a:ext uri="{FF2B5EF4-FFF2-40B4-BE49-F238E27FC236}">
                    <a16:creationId xmlns:a16="http://schemas.microsoft.com/office/drawing/2014/main" id="{0250F674-2E69-7A49-BD4A-7A0B63C62F3A}"/>
                  </a:ext>
                </a:extLst>
              </p:cNvPr>
              <p:cNvSpPr>
                <a:spLocks noChangeArrowheads="1"/>
              </p:cNvSpPr>
              <p:nvPr/>
            </p:nvSpPr>
            <p:spPr bwMode="auto">
              <a:xfrm>
                <a:off x="5520" y="2612"/>
                <a:ext cx="45" cy="98"/>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33" name="Freeform 173">
                <a:extLst>
                  <a:ext uri="{FF2B5EF4-FFF2-40B4-BE49-F238E27FC236}">
                    <a16:creationId xmlns:a16="http://schemas.microsoft.com/office/drawing/2014/main" id="{D9EA6536-474B-D64B-B205-1D6C9BA825C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sp>
            <p:nvSpPr>
              <p:cNvPr id="734" name="AutoShape 174">
                <a:extLst>
                  <a:ext uri="{FF2B5EF4-FFF2-40B4-BE49-F238E27FC236}">
                    <a16:creationId xmlns:a16="http://schemas.microsoft.com/office/drawing/2014/main" id="{E488D72C-E2D7-A24F-8921-7455381C5E4D}"/>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35" name="AutoShape 175">
                <a:extLst>
                  <a:ext uri="{FF2B5EF4-FFF2-40B4-BE49-F238E27FC236}">
                    <a16:creationId xmlns:a16="http://schemas.microsoft.com/office/drawing/2014/main" id="{912439D6-774F-1547-AA0D-047E22092538}"/>
                  </a:ext>
                </a:extLst>
              </p:cNvPr>
              <p:cNvSpPr>
                <a:spLocks noChangeArrowheads="1"/>
              </p:cNvSpPr>
              <p:nvPr/>
            </p:nvSpPr>
            <p:spPr bwMode="auto">
              <a:xfrm>
                <a:off x="4204" y="2710"/>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36" name="Oval 176">
                <a:extLst>
                  <a:ext uri="{FF2B5EF4-FFF2-40B4-BE49-F238E27FC236}">
                    <a16:creationId xmlns:a16="http://schemas.microsoft.com/office/drawing/2014/main" id="{A2D2898C-A040-C744-8B60-25B92A3EDD4A}"/>
                  </a:ext>
                </a:extLst>
              </p:cNvPr>
              <p:cNvSpPr>
                <a:spLocks noChangeArrowheads="1"/>
              </p:cNvSpPr>
              <p:nvPr/>
            </p:nvSpPr>
            <p:spPr bwMode="auto">
              <a:xfrm>
                <a:off x="4307" y="2382"/>
                <a:ext cx="160"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37" name="Oval 177">
                <a:extLst>
                  <a:ext uri="{FF2B5EF4-FFF2-40B4-BE49-F238E27FC236}">
                    <a16:creationId xmlns:a16="http://schemas.microsoft.com/office/drawing/2014/main" id="{6D69F5EA-B0E7-DA4A-8B00-86E1B289A3A5}"/>
                  </a:ext>
                </a:extLst>
              </p:cNvPr>
              <p:cNvSpPr>
                <a:spLocks noChangeArrowheads="1"/>
              </p:cNvSpPr>
              <p:nvPr/>
            </p:nvSpPr>
            <p:spPr bwMode="auto">
              <a:xfrm>
                <a:off x="4487" y="2382"/>
                <a:ext cx="160"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a:ln>
                    <a:noFill/>
                  </a:ln>
                  <a:solidFill>
                    <a:srgbClr val="FF0000"/>
                  </a:solidFill>
                  <a:effectLst/>
                  <a:uLnTx/>
                  <a:uFillTx/>
                  <a:latin typeface="+mn-lt"/>
                  <a:ea typeface="ＭＳ Ｐゴシック" panose="020B0600070205080204" pitchFamily="34" charset="-128"/>
                  <a:cs typeface="Arial"/>
                </a:endParaRPr>
              </a:p>
            </p:txBody>
          </p:sp>
          <p:sp>
            <p:nvSpPr>
              <p:cNvPr id="738" name="Oval 178">
                <a:extLst>
                  <a:ext uri="{FF2B5EF4-FFF2-40B4-BE49-F238E27FC236}">
                    <a16:creationId xmlns:a16="http://schemas.microsoft.com/office/drawing/2014/main" id="{CB13C9A5-3005-C744-AAF5-43F081367869}"/>
                  </a:ext>
                </a:extLst>
              </p:cNvPr>
              <p:cNvSpPr>
                <a:spLocks noChangeArrowheads="1"/>
              </p:cNvSpPr>
              <p:nvPr/>
            </p:nvSpPr>
            <p:spPr bwMode="auto">
              <a:xfrm>
                <a:off x="4660" y="2382"/>
                <a:ext cx="160"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sp>
            <p:nvSpPr>
              <p:cNvPr id="739" name="Rectangle 179">
                <a:extLst>
                  <a:ext uri="{FF2B5EF4-FFF2-40B4-BE49-F238E27FC236}">
                    <a16:creationId xmlns:a16="http://schemas.microsoft.com/office/drawing/2014/main" id="{5E9EBF99-398D-4346-9CCC-C08D38A90EF0}"/>
                  </a:ext>
                </a:extLst>
              </p:cNvPr>
              <p:cNvSpPr>
                <a:spLocks noChangeArrowheads="1"/>
              </p:cNvSpPr>
              <p:nvPr/>
            </p:nvSpPr>
            <p:spPr bwMode="auto">
              <a:xfrm>
                <a:off x="5064" y="1834"/>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mn-lt"/>
                  <a:ea typeface="ＭＳ Ｐゴシック" panose="020B0600070205080204" pitchFamily="34" charset="-128"/>
                  <a:cs typeface="Arial"/>
                </a:endParaRPr>
              </a:p>
            </p:txBody>
          </p:sp>
        </p:grpSp>
        <p:grpSp>
          <p:nvGrpSpPr>
            <p:cNvPr id="748" name="Group 180">
              <a:extLst>
                <a:ext uri="{FF2B5EF4-FFF2-40B4-BE49-F238E27FC236}">
                  <a16:creationId xmlns:a16="http://schemas.microsoft.com/office/drawing/2014/main" id="{68A8F3DD-C4CD-1A4A-A99E-EE08AE2B9ABE}"/>
                </a:ext>
              </a:extLst>
            </p:cNvPr>
            <p:cNvGrpSpPr>
              <a:grpSpLocks/>
            </p:cNvGrpSpPr>
            <p:nvPr/>
          </p:nvGrpSpPr>
          <p:grpSpPr bwMode="auto">
            <a:xfrm flipH="1">
              <a:off x="10010775" y="4435439"/>
              <a:ext cx="803275" cy="771525"/>
              <a:chOff x="-44" y="1473"/>
              <a:chExt cx="981" cy="1105"/>
            </a:xfrm>
          </p:grpSpPr>
          <p:pic>
            <p:nvPicPr>
              <p:cNvPr id="749" name="Picture 181" descr="desktop_computer_stylized_medium">
                <a:extLst>
                  <a:ext uri="{FF2B5EF4-FFF2-40B4-BE49-F238E27FC236}">
                    <a16:creationId xmlns:a16="http://schemas.microsoft.com/office/drawing/2014/main" id="{FB1222DE-2F29-E94E-BA2E-8430BD1F41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0" name="Freeform 182">
                <a:extLst>
                  <a:ext uri="{FF2B5EF4-FFF2-40B4-BE49-F238E27FC236}">
                    <a16:creationId xmlns:a16="http://schemas.microsoft.com/office/drawing/2014/main" id="{25C576CA-310E-BF45-AEA0-47D91F2AB2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nvGrpSpPr>
            <p:cNvPr id="751" name="Group 183">
              <a:extLst>
                <a:ext uri="{FF2B5EF4-FFF2-40B4-BE49-F238E27FC236}">
                  <a16:creationId xmlns:a16="http://schemas.microsoft.com/office/drawing/2014/main" id="{292C5560-DFC2-574D-8C62-B6F62F2DC84B}"/>
                </a:ext>
              </a:extLst>
            </p:cNvPr>
            <p:cNvGrpSpPr>
              <a:grpSpLocks/>
            </p:cNvGrpSpPr>
            <p:nvPr/>
          </p:nvGrpSpPr>
          <p:grpSpPr bwMode="auto">
            <a:xfrm>
              <a:off x="6096000" y="4416389"/>
              <a:ext cx="803275" cy="771525"/>
              <a:chOff x="-44" y="1473"/>
              <a:chExt cx="981" cy="1105"/>
            </a:xfrm>
          </p:grpSpPr>
          <p:pic>
            <p:nvPicPr>
              <p:cNvPr id="752" name="Picture 184" descr="desktop_computer_stylized_medium">
                <a:extLst>
                  <a:ext uri="{FF2B5EF4-FFF2-40B4-BE49-F238E27FC236}">
                    <a16:creationId xmlns:a16="http://schemas.microsoft.com/office/drawing/2014/main" id="{5ADBABA6-9549-8F45-9CC6-895C1B7130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3" name="Freeform 185">
                <a:extLst>
                  <a:ext uri="{FF2B5EF4-FFF2-40B4-BE49-F238E27FC236}">
                    <a16:creationId xmlns:a16="http://schemas.microsoft.com/office/drawing/2014/main" id="{175C8E0C-2E66-F847-85BF-1DF27F6E9D5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nvGrpSpPr>
            <p:cNvPr id="754" name="Group 186">
              <a:extLst>
                <a:ext uri="{FF2B5EF4-FFF2-40B4-BE49-F238E27FC236}">
                  <a16:creationId xmlns:a16="http://schemas.microsoft.com/office/drawing/2014/main" id="{BFA50ABA-EF43-8248-BFEE-B2185F9FF4CA}"/>
                </a:ext>
              </a:extLst>
            </p:cNvPr>
            <p:cNvGrpSpPr>
              <a:grpSpLocks/>
            </p:cNvGrpSpPr>
            <p:nvPr/>
          </p:nvGrpSpPr>
          <p:grpSpPr bwMode="auto">
            <a:xfrm>
              <a:off x="6718300" y="4865652"/>
              <a:ext cx="803275" cy="771525"/>
              <a:chOff x="-44" y="1473"/>
              <a:chExt cx="981" cy="1105"/>
            </a:xfrm>
          </p:grpSpPr>
          <p:pic>
            <p:nvPicPr>
              <p:cNvPr id="755" name="Picture 187" descr="desktop_computer_stylized_medium">
                <a:extLst>
                  <a:ext uri="{FF2B5EF4-FFF2-40B4-BE49-F238E27FC236}">
                    <a16:creationId xmlns:a16="http://schemas.microsoft.com/office/drawing/2014/main" id="{F7F3CEF1-4AEE-174D-A7EB-35D5923CD4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6" name="Freeform 188">
                <a:extLst>
                  <a:ext uri="{FF2B5EF4-FFF2-40B4-BE49-F238E27FC236}">
                    <a16:creationId xmlns:a16="http://schemas.microsoft.com/office/drawing/2014/main" id="{092BEB98-510F-A54D-8396-7B8E24FE09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000000"/>
                  </a:solidFill>
                  <a:effectLst/>
                  <a:uLnTx/>
                  <a:uFillTx/>
                  <a:ea typeface="ＭＳ Ｐゴシック" panose="020B0600070205080204" pitchFamily="34" charset="-128"/>
                  <a:cs typeface="Arial"/>
                </a:endParaRPr>
              </a:p>
            </p:txBody>
          </p:sp>
        </p:grpSp>
      </p:grpSp>
      <p:grpSp>
        <p:nvGrpSpPr>
          <p:cNvPr id="4" name="Group 3">
            <a:extLst>
              <a:ext uri="{FF2B5EF4-FFF2-40B4-BE49-F238E27FC236}">
                <a16:creationId xmlns:a16="http://schemas.microsoft.com/office/drawing/2014/main" id="{3E66D11C-2FA6-994B-8F41-1BCDD73182B5}"/>
              </a:ext>
            </a:extLst>
          </p:cNvPr>
          <p:cNvGrpSpPr/>
          <p:nvPr/>
        </p:nvGrpSpPr>
        <p:grpSpPr>
          <a:xfrm>
            <a:off x="6423336" y="1491893"/>
            <a:ext cx="4706682" cy="4114800"/>
            <a:chOff x="877941" y="1593850"/>
            <a:chExt cx="4706682" cy="4114800"/>
          </a:xfrm>
        </p:grpSpPr>
        <p:sp>
          <p:nvSpPr>
            <p:cNvPr id="648" name="Rectangle 523">
              <a:extLst>
                <a:ext uri="{FF2B5EF4-FFF2-40B4-BE49-F238E27FC236}">
                  <a16:creationId xmlns:a16="http://schemas.microsoft.com/office/drawing/2014/main" id="{17573379-BEF3-6842-92C8-C7C11E0F12A1}"/>
                </a:ext>
              </a:extLst>
            </p:cNvPr>
            <p:cNvSpPr txBox="1">
              <a:spLocks noChangeArrowheads="1"/>
            </p:cNvSpPr>
            <p:nvPr/>
          </p:nvSpPr>
          <p:spPr bwMode="auto">
            <a:xfrm>
              <a:off x="877941" y="1593850"/>
              <a:ext cx="4522733"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0"/>
                </a:buClr>
                <a:buSzPct val="100000"/>
                <a:buFont typeface="Wingdings" pitchFamily="2" charset="2"/>
                <a:buChar char="§"/>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0"/>
                </a:buClr>
                <a:buFont typeface="Arial" panose="020B0604020202020204" pitchFamily="34"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eaLnBrk="1" hangingPunct="1"/>
              <a:r>
                <a:rPr lang="en-US" altLang="en-US" sz="3200" kern="0" dirty="0">
                  <a:ea typeface="ＭＳ Ｐゴシック" panose="020B0600070205080204" pitchFamily="34" charset="-128"/>
                </a:rPr>
                <a:t>per-connection end-end throughput: </a:t>
              </a:r>
              <a:r>
                <a:rPr lang="en-US" altLang="en-US" sz="3200" i="1" kern="0" dirty="0">
                  <a:ea typeface="ＭＳ Ｐゴシック" panose="020B0600070205080204" pitchFamily="34" charset="-128"/>
                </a:rPr>
                <a:t>min(</a:t>
              </a:r>
              <a:r>
                <a:rPr lang="en-US" altLang="en-US" sz="3200" i="1" kern="0" dirty="0" err="1">
                  <a:ea typeface="ＭＳ Ｐゴシック" panose="020B0600070205080204" pitchFamily="34" charset="-128"/>
                </a:rPr>
                <a:t>R</a:t>
              </a:r>
              <a:r>
                <a:rPr lang="en-US" altLang="en-US" sz="3200" i="1" kern="0" baseline="-25000" dirty="0" err="1">
                  <a:ea typeface="ＭＳ Ｐゴシック" panose="020B0600070205080204" pitchFamily="34" charset="-128"/>
                </a:rPr>
                <a:t>c</a:t>
              </a:r>
              <a:r>
                <a:rPr lang="en-US" altLang="en-US" sz="3200" i="1" kern="0" dirty="0" err="1">
                  <a:ea typeface="ＭＳ Ｐゴシック" panose="020B0600070205080204" pitchFamily="34" charset="-128"/>
                </a:rPr>
                <a:t>,R</a:t>
              </a:r>
              <a:r>
                <a:rPr lang="en-US" altLang="en-US" sz="3200" i="1" kern="0" baseline="-25000" dirty="0" err="1">
                  <a:ea typeface="ＭＳ Ｐゴシック" panose="020B0600070205080204" pitchFamily="34" charset="-128"/>
                </a:rPr>
                <a:t>s</a:t>
              </a:r>
              <a:r>
                <a:rPr lang="en-US" altLang="en-US" sz="3200" i="1" kern="0" dirty="0" err="1">
                  <a:ea typeface="ＭＳ Ｐゴシック" panose="020B0600070205080204" pitchFamily="34" charset="-128"/>
                </a:rPr>
                <a:t>,R</a:t>
              </a:r>
              <a:r>
                <a:rPr lang="en-US" altLang="en-US" sz="3200" i="1" kern="0" dirty="0">
                  <a:ea typeface="ＭＳ Ｐゴシック" panose="020B0600070205080204" pitchFamily="34" charset="-128"/>
                </a:rPr>
                <a:t>/10)</a:t>
              </a:r>
            </a:p>
            <a:p>
              <a:pPr eaLnBrk="1" hangingPunct="1"/>
              <a:r>
                <a:rPr lang="en-US" altLang="en-US" sz="3200" kern="0" dirty="0">
                  <a:ea typeface="ＭＳ Ｐゴシック" panose="020B0600070205080204" pitchFamily="34" charset="-128"/>
                </a:rPr>
                <a:t>in practice: </a:t>
              </a:r>
              <a:r>
                <a:rPr lang="en-US" altLang="en-US" sz="3200" i="1" kern="0" dirty="0" err="1">
                  <a:ea typeface="ＭＳ Ｐゴシック" panose="020B0600070205080204" pitchFamily="34" charset="-128"/>
                </a:rPr>
                <a:t>R</a:t>
              </a:r>
              <a:r>
                <a:rPr lang="en-US" altLang="en-US" sz="3200" i="1" kern="0" baseline="-25000" dirty="0" err="1">
                  <a:ea typeface="ＭＳ Ｐゴシック" panose="020B0600070205080204" pitchFamily="34" charset="-128"/>
                </a:rPr>
                <a:t>c</a:t>
              </a:r>
              <a:r>
                <a:rPr lang="en-US" altLang="en-US" sz="3200" kern="0" dirty="0">
                  <a:ea typeface="ＭＳ Ｐゴシック" panose="020B0600070205080204" pitchFamily="34" charset="-128"/>
                </a:rPr>
                <a:t> or </a:t>
              </a:r>
              <a:r>
                <a:rPr lang="en-US" altLang="en-US" sz="3200" i="1" kern="0" dirty="0">
                  <a:ea typeface="ＭＳ Ｐゴシック" panose="020B0600070205080204" pitchFamily="34" charset="-128"/>
                </a:rPr>
                <a:t>R</a:t>
              </a:r>
              <a:r>
                <a:rPr lang="en-US" altLang="en-US" sz="3200" i="1" kern="0" baseline="-25000" dirty="0">
                  <a:ea typeface="ＭＳ Ｐゴシック" panose="020B0600070205080204" pitchFamily="34" charset="-128"/>
                </a:rPr>
                <a:t>s</a:t>
              </a:r>
              <a:r>
                <a:rPr lang="en-US" altLang="en-US" sz="3200" kern="0" dirty="0">
                  <a:ea typeface="ＭＳ Ｐゴシック" panose="020B0600070205080204" pitchFamily="34" charset="-128"/>
                </a:rPr>
                <a:t> is often bottleneck</a:t>
              </a:r>
            </a:p>
          </p:txBody>
        </p:sp>
        <p:sp>
          <p:nvSpPr>
            <p:cNvPr id="757" name="TextBox 1">
              <a:extLst>
                <a:ext uri="{FF2B5EF4-FFF2-40B4-BE49-F238E27FC236}">
                  <a16:creationId xmlns:a16="http://schemas.microsoft.com/office/drawing/2014/main" id="{DA9B1A1A-980B-A04A-99EA-7721056B3929}"/>
                </a:ext>
              </a:extLst>
            </p:cNvPr>
            <p:cNvSpPr txBox="1">
              <a:spLocks noChangeArrowheads="1"/>
            </p:cNvSpPr>
            <p:nvPr/>
          </p:nvSpPr>
          <p:spPr bwMode="auto">
            <a:xfrm>
              <a:off x="1077710" y="4985599"/>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0"/>
                </a:spcBef>
                <a:spcAft>
                  <a:spcPct val="0"/>
                </a:spcAft>
              </a:pPr>
              <a:r>
                <a:rPr lang="en-US" altLang="en-US" sz="1400" dirty="0">
                  <a:solidFill>
                    <a:srgbClr val="000000"/>
                  </a:solidFill>
                  <a:cs typeface="Arial"/>
                </a:rPr>
                <a:t>* Check out the online interactive exercises for more examples: h</a:t>
              </a:r>
              <a:r>
                <a:rPr lang="en-US" altLang="en-US" sz="1200" dirty="0">
                  <a:solidFill>
                    <a:srgbClr val="000000"/>
                  </a:solidFill>
                  <a:cs typeface="Arial"/>
                </a:rPr>
                <a:t>ttp://</a:t>
              </a:r>
              <a:r>
                <a:rPr lang="en-US" altLang="en-US" sz="1200" dirty="0" err="1">
                  <a:solidFill>
                    <a:srgbClr val="000000"/>
                  </a:solidFill>
                  <a:cs typeface="Arial"/>
                </a:rPr>
                <a:t>gaia.cs.umass.edu</a:t>
              </a:r>
              <a:r>
                <a:rPr lang="en-US" altLang="en-US" sz="1200" dirty="0">
                  <a:solidFill>
                    <a:srgbClr val="000000"/>
                  </a:solidFill>
                  <a:cs typeface="Arial"/>
                </a:rPr>
                <a:t>/</a:t>
              </a:r>
              <a:r>
                <a:rPr lang="en-US" altLang="en-US" sz="1200" dirty="0" err="1">
                  <a:solidFill>
                    <a:srgbClr val="000000"/>
                  </a:solidFill>
                  <a:cs typeface="Arial"/>
                </a:rPr>
                <a:t>kurose_ross</a:t>
              </a:r>
              <a:r>
                <a:rPr lang="en-US" altLang="en-US" sz="1200" dirty="0">
                  <a:solidFill>
                    <a:srgbClr val="000000"/>
                  </a:solidFill>
                  <a:cs typeface="Arial"/>
                </a:rPr>
                <a:t>/</a:t>
              </a:r>
            </a:p>
          </p:txBody>
        </p:sp>
      </p:grpSp>
    </p:spTree>
    <p:extLst>
      <p:ext uri="{BB962C8B-B14F-4D97-AF65-F5344CB8AC3E}">
        <p14:creationId xmlns:p14="http://schemas.microsoft.com/office/powerpoint/2010/main" val="3676252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155651"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E99EFEFD-71D8-448B-BDBE-E8C9FCCE20ED}" type="slidenum">
              <a:rPr lang="en-US" altLang="en-US" sz="1200">
                <a:latin typeface="Tahoma" panose="020B0604030504040204" pitchFamily="34" charset="0"/>
              </a:rPr>
              <a:pPr>
                <a:lnSpc>
                  <a:spcPct val="100000"/>
                </a:lnSpc>
                <a:spcBef>
                  <a:spcPct val="0"/>
                </a:spcBef>
                <a:buClrTx/>
                <a:buSzTx/>
                <a:buFontTx/>
                <a:buNone/>
              </a:pPr>
              <a:t>85</a:t>
            </a:fld>
            <a:endParaRPr lang="en-US" altLang="en-US" sz="1200">
              <a:latin typeface="Tahoma" panose="020B0604030504040204" pitchFamily="34" charset="0"/>
            </a:endParaRPr>
          </a:p>
        </p:txBody>
      </p:sp>
      <p:pic>
        <p:nvPicPr>
          <p:cNvPr id="15565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11889" y="382588"/>
            <a:ext cx="3629025" cy="563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653" name="Rectangle 4"/>
          <p:cNvSpPr>
            <a:spLocks noChangeArrowheads="1"/>
          </p:cNvSpPr>
          <p:nvPr/>
        </p:nvSpPr>
        <p:spPr bwMode="auto">
          <a:xfrm>
            <a:off x="1847851" y="260351"/>
            <a:ext cx="309562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MY" altLang="en-US" sz="2400" b="1">
                <a:solidFill>
                  <a:srgbClr val="C00000"/>
                </a:solidFill>
                <a:latin typeface="Arial" panose="020B0604020202020204" pitchFamily="34" charset="0"/>
              </a:rPr>
              <a:t>End-to-end throughput: Internet scenario</a:t>
            </a:r>
          </a:p>
        </p:txBody>
      </p:sp>
      <p:sp>
        <p:nvSpPr>
          <p:cNvPr id="6" name="TextBox 5"/>
          <p:cNvSpPr txBox="1"/>
          <p:nvPr/>
        </p:nvSpPr>
        <p:spPr>
          <a:xfrm>
            <a:off x="1919289" y="2281238"/>
            <a:ext cx="4937125" cy="923330"/>
          </a:xfrm>
          <a:prstGeom prst="rect">
            <a:avLst/>
          </a:prstGeom>
          <a:solidFill>
            <a:schemeClr val="bg1">
              <a:lumMod val="85000"/>
            </a:schemeClr>
          </a:solidFill>
        </p:spPr>
        <p:txBody>
          <a:bodyPr>
            <a:spAutoFit/>
          </a:bodyPr>
          <a:lstStyle/>
          <a:p>
            <a:pPr>
              <a:defRPr/>
            </a:pPr>
            <a:r>
              <a:rPr lang="en-US" dirty="0">
                <a:solidFill>
                  <a:srgbClr val="0070C0"/>
                </a:solidFill>
              </a:rPr>
              <a:t>Example B:</a:t>
            </a:r>
          </a:p>
          <a:p>
            <a:pPr>
              <a:defRPr/>
            </a:pPr>
            <a:r>
              <a:rPr lang="en-US" dirty="0">
                <a:solidFill>
                  <a:srgbClr val="0070C0"/>
                </a:solidFill>
              </a:rPr>
              <a:t>If R</a:t>
            </a:r>
            <a:r>
              <a:rPr lang="en-US" baseline="-25000" dirty="0">
                <a:solidFill>
                  <a:srgbClr val="0070C0"/>
                </a:solidFill>
              </a:rPr>
              <a:t>s</a:t>
            </a:r>
            <a:r>
              <a:rPr lang="en-US" dirty="0">
                <a:solidFill>
                  <a:srgbClr val="0070C0"/>
                </a:solidFill>
              </a:rPr>
              <a:t> = 2Mbps, </a:t>
            </a:r>
            <a:r>
              <a:rPr lang="en-US" dirty="0" err="1">
                <a:solidFill>
                  <a:srgbClr val="0070C0"/>
                </a:solidFill>
              </a:rPr>
              <a:t>R</a:t>
            </a:r>
            <a:r>
              <a:rPr lang="en-US" baseline="-25000" dirty="0" err="1">
                <a:solidFill>
                  <a:srgbClr val="0070C0"/>
                </a:solidFill>
              </a:rPr>
              <a:t>c</a:t>
            </a:r>
            <a:r>
              <a:rPr lang="en-US" dirty="0">
                <a:solidFill>
                  <a:srgbClr val="0070C0"/>
                </a:solidFill>
              </a:rPr>
              <a:t> = 1Mbps, R = 5Mbps, what is the throughput?</a:t>
            </a:r>
            <a:endParaRPr lang="en-MY" dirty="0">
              <a:solidFill>
                <a:srgbClr val="0070C0"/>
              </a:solidFill>
            </a:endParaRPr>
          </a:p>
        </p:txBody>
      </p:sp>
      <p:sp>
        <p:nvSpPr>
          <p:cNvPr id="7" name="TextBox 6"/>
          <p:cNvSpPr txBox="1"/>
          <p:nvPr/>
        </p:nvSpPr>
        <p:spPr>
          <a:xfrm>
            <a:off x="1847851" y="3632200"/>
            <a:ext cx="5008563" cy="1477328"/>
          </a:xfrm>
          <a:prstGeom prst="rect">
            <a:avLst/>
          </a:prstGeom>
          <a:solidFill>
            <a:schemeClr val="bg1">
              <a:lumMod val="85000"/>
            </a:schemeClr>
          </a:solidFill>
        </p:spPr>
        <p:txBody>
          <a:bodyPr>
            <a:spAutoFit/>
          </a:bodyPr>
          <a:lstStyle/>
          <a:p>
            <a:pPr>
              <a:defRPr/>
            </a:pPr>
            <a:r>
              <a:rPr lang="en-US" dirty="0">
                <a:solidFill>
                  <a:srgbClr val="C00000"/>
                </a:solidFill>
              </a:rPr>
              <a:t>Answer:</a:t>
            </a:r>
          </a:p>
          <a:p>
            <a:pPr>
              <a:defRPr/>
            </a:pPr>
            <a:r>
              <a:rPr lang="en-US" dirty="0">
                <a:solidFill>
                  <a:srgbClr val="C00000"/>
                </a:solidFill>
              </a:rPr>
              <a:t>Because R is shared, what is available for each link is (5Mbps/10) = 500kbps</a:t>
            </a:r>
          </a:p>
          <a:p>
            <a:pPr>
              <a:defRPr/>
            </a:pPr>
            <a:endParaRPr lang="en-US" dirty="0">
              <a:solidFill>
                <a:srgbClr val="C00000"/>
              </a:solidFill>
            </a:endParaRPr>
          </a:p>
          <a:p>
            <a:pPr>
              <a:defRPr/>
            </a:pPr>
            <a:r>
              <a:rPr lang="en-US" dirty="0">
                <a:solidFill>
                  <a:srgbClr val="C00000"/>
                </a:solidFill>
              </a:rPr>
              <a:t>Throughput = 500kbps</a:t>
            </a:r>
            <a:endParaRPr lang="en-MY" dirty="0">
              <a:solidFill>
                <a:srgbClr val="C00000"/>
              </a:solidFill>
            </a:endParaRPr>
          </a:p>
        </p:txBody>
      </p:sp>
      <p:pic>
        <p:nvPicPr>
          <p:cNvPr id="155656" name="Graphic 7"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AA4F7A0B-CA7F-478F-9659-EBFCCBC747D1}" type="slidenum">
              <a:rPr lang="en-US" altLang="en-US" sz="1200">
                <a:latin typeface="Tahoma" panose="020B0604030504040204" pitchFamily="34" charset="0"/>
              </a:rPr>
              <a:pPr>
                <a:lnSpc>
                  <a:spcPct val="100000"/>
                </a:lnSpc>
                <a:spcBef>
                  <a:spcPct val="0"/>
                </a:spcBef>
                <a:buClrTx/>
                <a:buSzTx/>
                <a:buFontTx/>
                <a:buNone/>
              </a:pPr>
              <a:t>86</a:t>
            </a:fld>
            <a:endParaRPr lang="en-US" altLang="en-US" sz="1200">
              <a:latin typeface="Tahoma" panose="020B0604030504040204" pitchFamily="34" charset="0"/>
            </a:endParaRPr>
          </a:p>
        </p:txBody>
      </p:sp>
      <p:sp>
        <p:nvSpPr>
          <p:cNvPr id="156675" name="Rectangle 3"/>
          <p:cNvSpPr>
            <a:spLocks noChangeArrowheads="1"/>
          </p:cNvSpPr>
          <p:nvPr/>
        </p:nvSpPr>
        <p:spPr bwMode="auto">
          <a:xfrm>
            <a:off x="1898985" y="1590676"/>
            <a:ext cx="8785057" cy="409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a:latin typeface="Arial" panose="020B0604020202020204" pitchFamily="34" charset="0"/>
              </a:rPr>
              <a:t>Suppose Host A wants to send a large file to Host B. The path from Host A to Host B has 3-links, of rate R</a:t>
            </a:r>
            <a:r>
              <a:rPr lang="en-US" altLang="en-US" sz="2000" baseline="-25000">
                <a:latin typeface="Arial" panose="020B0604020202020204" pitchFamily="34" charset="0"/>
              </a:rPr>
              <a:t>1</a:t>
            </a:r>
            <a:r>
              <a:rPr lang="en-US" altLang="en-US" sz="2000">
                <a:latin typeface="Arial" panose="020B0604020202020204" pitchFamily="34" charset="0"/>
              </a:rPr>
              <a:t>=150kbps, R</a:t>
            </a:r>
            <a:r>
              <a:rPr lang="en-US" altLang="en-US" sz="2000" baseline="-25000">
                <a:latin typeface="Arial" panose="020B0604020202020204" pitchFamily="34" charset="0"/>
              </a:rPr>
              <a:t>2</a:t>
            </a:r>
            <a:r>
              <a:rPr lang="en-US" altLang="en-US" sz="2000">
                <a:latin typeface="Arial" panose="020B0604020202020204" pitchFamily="34" charset="0"/>
              </a:rPr>
              <a:t>=2Mbps, and R</a:t>
            </a:r>
            <a:r>
              <a:rPr lang="en-US" altLang="en-US" sz="2000" baseline="-25000">
                <a:latin typeface="Arial" panose="020B0604020202020204" pitchFamily="34" charset="0"/>
              </a:rPr>
              <a:t>3</a:t>
            </a:r>
            <a:r>
              <a:rPr lang="en-US" altLang="en-US" sz="2000">
                <a:latin typeface="Arial" panose="020B0604020202020204" pitchFamily="34" charset="0"/>
              </a:rPr>
              <a:t>=1Mbps.</a:t>
            </a:r>
          </a:p>
          <a:p>
            <a:pPr>
              <a:lnSpc>
                <a:spcPct val="100000"/>
              </a:lnSpc>
              <a:spcBef>
                <a:spcPct val="0"/>
              </a:spcBef>
              <a:buClrTx/>
              <a:buSzTx/>
              <a:buFontTx/>
              <a:buNone/>
            </a:pPr>
            <a:endParaRPr lang="en-US" altLang="en-US" sz="2000">
              <a:latin typeface="Arial" panose="020B0604020202020204" pitchFamily="34" charset="0"/>
            </a:endParaRPr>
          </a:p>
          <a:p>
            <a:pPr>
              <a:lnSpc>
                <a:spcPct val="100000"/>
              </a:lnSpc>
              <a:spcBef>
                <a:spcPct val="0"/>
              </a:spcBef>
              <a:buClrTx/>
              <a:buSzTx/>
              <a:buFontTx/>
              <a:buNone/>
            </a:pPr>
            <a:r>
              <a:rPr lang="en-US" altLang="en-US" sz="2000">
                <a:latin typeface="Arial" panose="020B0604020202020204" pitchFamily="34" charset="0"/>
              </a:rPr>
              <a:t>i)  Assuming no other traffic in the network, what is the throughput for the file transfer? Justify your answer. [2 mark]</a:t>
            </a:r>
            <a:endParaRPr lang="ms-MY" altLang="en-US" sz="2000">
              <a:latin typeface="Arial" panose="020B0604020202020204" pitchFamily="34" charset="0"/>
            </a:endParaRPr>
          </a:p>
          <a:p>
            <a:pPr>
              <a:lnSpc>
                <a:spcPct val="100000"/>
              </a:lnSpc>
              <a:spcBef>
                <a:spcPct val="0"/>
              </a:spcBef>
              <a:buClrTx/>
              <a:buSzTx/>
              <a:buFontTx/>
              <a:buNone/>
            </a:pPr>
            <a:r>
              <a:rPr lang="en-US" altLang="en-US" sz="2000">
                <a:latin typeface="Arial" panose="020B0604020202020204" pitchFamily="34" charset="0"/>
              </a:rPr>
              <a:t> </a:t>
            </a:r>
            <a:endParaRPr lang="ms-MY" altLang="en-US" sz="2000">
              <a:latin typeface="Arial" panose="020B0604020202020204" pitchFamily="34" charset="0"/>
            </a:endParaRPr>
          </a:p>
          <a:p>
            <a:pPr>
              <a:lnSpc>
                <a:spcPct val="100000"/>
              </a:lnSpc>
              <a:spcBef>
                <a:spcPct val="0"/>
              </a:spcBef>
              <a:buClrTx/>
              <a:buSzTx/>
              <a:buFontTx/>
              <a:buNone/>
            </a:pPr>
            <a:r>
              <a:rPr lang="en-US" altLang="en-US" sz="2000">
                <a:latin typeface="Arial" panose="020B0604020202020204" pitchFamily="34" charset="0"/>
              </a:rPr>
              <a:t>	Throughput = min(R)=150 kbps</a:t>
            </a:r>
            <a:endParaRPr lang="ms-MY" altLang="en-US" sz="2000">
              <a:latin typeface="Arial" panose="020B0604020202020204" pitchFamily="34" charset="0"/>
            </a:endParaRPr>
          </a:p>
          <a:p>
            <a:pPr>
              <a:lnSpc>
                <a:spcPct val="100000"/>
              </a:lnSpc>
              <a:spcBef>
                <a:spcPct val="0"/>
              </a:spcBef>
              <a:buClrTx/>
              <a:buSzTx/>
              <a:buFontTx/>
              <a:buNone/>
            </a:pPr>
            <a:r>
              <a:rPr lang="en-US" altLang="en-US" sz="2000">
                <a:latin typeface="Arial" panose="020B0604020202020204" pitchFamily="34" charset="0"/>
              </a:rPr>
              <a:t> </a:t>
            </a:r>
            <a:endParaRPr lang="ms-MY" altLang="en-US" sz="2000">
              <a:latin typeface="Arial" panose="020B0604020202020204" pitchFamily="34" charset="0"/>
            </a:endParaRPr>
          </a:p>
          <a:p>
            <a:pPr>
              <a:lnSpc>
                <a:spcPct val="100000"/>
              </a:lnSpc>
              <a:spcBef>
                <a:spcPct val="0"/>
              </a:spcBef>
              <a:buClrTx/>
              <a:buSzTx/>
              <a:buFontTx/>
              <a:buNone/>
            </a:pPr>
            <a:r>
              <a:rPr lang="en-US" altLang="en-US" sz="2000">
                <a:latin typeface="Arial" panose="020B0604020202020204" pitchFamily="34" charset="0"/>
              </a:rPr>
              <a:t> </a:t>
            </a:r>
            <a:r>
              <a:rPr lang="ms-MY" altLang="en-US" sz="2000">
                <a:latin typeface="Arial" panose="020B0604020202020204" pitchFamily="34" charset="0"/>
              </a:rPr>
              <a:t>ii) </a:t>
            </a:r>
            <a:r>
              <a:rPr lang="en-US" altLang="en-US" sz="2000">
                <a:latin typeface="Arial" panose="020B0604020202020204" pitchFamily="34" charset="0"/>
              </a:rPr>
              <a:t>Suppose the file is 4 million bytes. Roughly, how long will it take to transfer the file to Host B? [5 marks]</a:t>
            </a:r>
            <a:endParaRPr lang="ms-MY" altLang="en-US" sz="2000">
              <a:latin typeface="Arial" panose="020B0604020202020204" pitchFamily="34" charset="0"/>
            </a:endParaRPr>
          </a:p>
          <a:p>
            <a:pPr>
              <a:lnSpc>
                <a:spcPct val="100000"/>
              </a:lnSpc>
              <a:spcBef>
                <a:spcPct val="0"/>
              </a:spcBef>
              <a:buClrTx/>
              <a:buSzTx/>
              <a:buFontTx/>
              <a:buNone/>
            </a:pPr>
            <a:r>
              <a:rPr lang="en-US" altLang="en-US" sz="2000">
                <a:latin typeface="Arial" panose="020B0604020202020204" pitchFamily="34" charset="0"/>
              </a:rPr>
              <a:t> </a:t>
            </a:r>
            <a:endParaRPr lang="ms-MY" altLang="en-US" sz="2000">
              <a:latin typeface="Arial" panose="020B0604020202020204" pitchFamily="34" charset="0"/>
            </a:endParaRPr>
          </a:p>
          <a:p>
            <a:pPr>
              <a:lnSpc>
                <a:spcPct val="100000"/>
              </a:lnSpc>
              <a:spcBef>
                <a:spcPct val="0"/>
              </a:spcBef>
              <a:buClrTx/>
              <a:buSzTx/>
              <a:buFontTx/>
              <a:buNone/>
            </a:pPr>
            <a:r>
              <a:rPr lang="en-US" altLang="en-US" sz="2000">
                <a:latin typeface="Arial" panose="020B0604020202020204" pitchFamily="34" charset="0"/>
              </a:rPr>
              <a:t>	Time transfer=4*10</a:t>
            </a:r>
            <a:r>
              <a:rPr lang="en-US" altLang="en-US" sz="2000" baseline="30000">
                <a:latin typeface="Arial" panose="020B0604020202020204" pitchFamily="34" charset="0"/>
              </a:rPr>
              <a:t>6</a:t>
            </a:r>
            <a:r>
              <a:rPr lang="en-US" altLang="en-US" sz="2000">
                <a:latin typeface="Arial" panose="020B0604020202020204" pitchFamily="34" charset="0"/>
              </a:rPr>
              <a:t>*8/(150*10</a:t>
            </a:r>
            <a:r>
              <a:rPr lang="en-US" altLang="en-US" sz="2000" baseline="30000">
                <a:latin typeface="Arial" panose="020B0604020202020204" pitchFamily="34" charset="0"/>
              </a:rPr>
              <a:t>3</a:t>
            </a:r>
            <a:r>
              <a:rPr lang="en-US" altLang="en-US" sz="2000">
                <a:latin typeface="Arial" panose="020B0604020202020204" pitchFamily="34" charset="0"/>
              </a:rPr>
              <a:t>)=213.3 seconds</a:t>
            </a:r>
            <a:endParaRPr lang="ms-MY" altLang="en-US" sz="2000">
              <a:latin typeface="Arial" panose="020B0604020202020204" pitchFamily="34" charset="0"/>
            </a:endParaRPr>
          </a:p>
          <a:p>
            <a:pPr>
              <a:lnSpc>
                <a:spcPct val="100000"/>
              </a:lnSpc>
              <a:spcBef>
                <a:spcPct val="0"/>
              </a:spcBef>
              <a:buClrTx/>
              <a:buSzTx/>
              <a:buFontTx/>
              <a:buNone/>
            </a:pPr>
            <a:r>
              <a:rPr lang="ms-MY" altLang="en-US" sz="2000" b="1">
                <a:latin typeface="Arial" panose="020B0604020202020204" pitchFamily="34" charset="0"/>
              </a:rPr>
              <a:t> </a:t>
            </a:r>
            <a:endParaRPr lang="ms-MY" altLang="en-US" sz="2000">
              <a:latin typeface="Arial" panose="020B0604020202020204" pitchFamily="34" charset="0"/>
            </a:endParaRPr>
          </a:p>
        </p:txBody>
      </p:sp>
      <p:sp>
        <p:nvSpPr>
          <p:cNvPr id="5" name="Rectangle 2"/>
          <p:cNvSpPr txBox="1">
            <a:spLocks noChangeArrowheads="1"/>
          </p:cNvSpPr>
          <p:nvPr/>
        </p:nvSpPr>
        <p:spPr bwMode="auto">
          <a:xfrm>
            <a:off x="2171701" y="374650"/>
            <a:ext cx="7400925" cy="903288"/>
          </a:xfrm>
          <a:prstGeom prst="rect">
            <a:avLst/>
          </a:prstGeom>
          <a:noFill/>
          <a:ln>
            <a:noFill/>
          </a:ln>
        </p:spPr>
        <p:txBody>
          <a:bodyPr anchor="ct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ctr" eaLnBrk="1" hangingPunct="1">
              <a:defRPr/>
            </a:pPr>
            <a:r>
              <a:rPr lang="en-US" sz="4000" kern="0" dirty="0">
                <a:ea typeface="ＭＳ Ｐゴシック" pitchFamily="34" charset="-128"/>
              </a:rPr>
              <a:t>Calculation: Example 1</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D29787D8-E957-4DB3-B5E4-C2D3312C861C}" type="slidenum">
              <a:rPr lang="en-US" altLang="en-US" sz="1200">
                <a:latin typeface="Tahoma" panose="020B0604030504040204" pitchFamily="34" charset="0"/>
              </a:rPr>
              <a:pPr>
                <a:lnSpc>
                  <a:spcPct val="100000"/>
                </a:lnSpc>
                <a:spcBef>
                  <a:spcPct val="0"/>
                </a:spcBef>
                <a:buClrTx/>
                <a:buSzTx/>
                <a:buFontTx/>
                <a:buNone/>
              </a:pPr>
              <a:t>87</a:t>
            </a:fld>
            <a:endParaRPr lang="en-US" altLang="en-US" sz="1200">
              <a:latin typeface="Tahoma" panose="020B0604030504040204" pitchFamily="34" charset="0"/>
            </a:endParaRPr>
          </a:p>
        </p:txBody>
      </p:sp>
      <p:sp>
        <p:nvSpPr>
          <p:cNvPr id="157699" name="Rectangle 3"/>
          <p:cNvSpPr>
            <a:spLocks noChangeArrowheads="1"/>
          </p:cNvSpPr>
          <p:nvPr/>
        </p:nvSpPr>
        <p:spPr bwMode="auto">
          <a:xfrm>
            <a:off x="887413" y="1175903"/>
            <a:ext cx="10775198"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dirty="0">
                <a:latin typeface="Arial" panose="020B0604020202020204" pitchFamily="34" charset="0"/>
              </a:rPr>
              <a:t>Host A wants to send a 30-Mbit MP3 file to host B. All the links in the path between source and destination have a transmission rate of 10Mbps. Assume that the propagation speed is 2*10</a:t>
            </a:r>
            <a:r>
              <a:rPr lang="en-US" altLang="en-US" sz="2000" baseline="30000" dirty="0">
                <a:latin typeface="Arial" panose="020B0604020202020204" pitchFamily="34" charset="0"/>
              </a:rPr>
              <a:t>8</a:t>
            </a:r>
            <a:r>
              <a:rPr lang="en-US" altLang="en-US" sz="2000" dirty="0">
                <a:latin typeface="Arial" panose="020B0604020202020204" pitchFamily="34" charset="0"/>
              </a:rPr>
              <a:t> meters/sec, and the distance between source and destination is 10km. Initially suppose there is only one link between the source and the destination. Also suppose that the entire MP3 file is sent as one packet (Ignore processing delay and queuing delay). Show your workings.</a:t>
            </a:r>
          </a:p>
          <a:p>
            <a:pPr>
              <a:lnSpc>
                <a:spcPct val="100000"/>
              </a:lnSpc>
              <a:spcBef>
                <a:spcPct val="0"/>
              </a:spcBef>
              <a:buClrTx/>
              <a:buSzTx/>
              <a:buFontTx/>
              <a:buNone/>
            </a:pP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err="1">
                <a:latin typeface="Arial" panose="020B0604020202020204" pitchFamily="34" charset="0"/>
              </a:rPr>
              <a:t>i</a:t>
            </a:r>
            <a:r>
              <a:rPr lang="en-US" altLang="en-US" sz="2000" dirty="0">
                <a:latin typeface="Arial" panose="020B0604020202020204" pitchFamily="34" charset="0"/>
              </a:rPr>
              <a:t>) Calculate the transmission delay?  </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transmission delay = L/R = 30M/10Mbps = 3s</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ii) What will be the end-to-end delay?  </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a:t>
            </a:r>
            <a:r>
              <a:rPr lang="en-US" altLang="en-US" sz="2000" dirty="0" err="1">
                <a:latin typeface="Arial" panose="020B0604020202020204" pitchFamily="34" charset="0"/>
              </a:rPr>
              <a:t>D</a:t>
            </a:r>
            <a:r>
              <a:rPr lang="en-US" altLang="en-US" sz="2000" baseline="-25000" dirty="0" err="1">
                <a:latin typeface="Arial" panose="020B0604020202020204" pitchFamily="34" charset="0"/>
              </a:rPr>
              <a:t>prop</a:t>
            </a:r>
            <a:r>
              <a:rPr lang="en-US" altLang="en-US" sz="2000" dirty="0">
                <a:latin typeface="Arial" panose="020B0604020202020204" pitchFamily="34" charset="0"/>
              </a:rPr>
              <a:t> = d/s = 10000/2*10</a:t>
            </a:r>
            <a:r>
              <a:rPr lang="en-US" altLang="en-US" sz="2000" baseline="30000" dirty="0">
                <a:latin typeface="Arial" panose="020B0604020202020204" pitchFamily="34" charset="0"/>
              </a:rPr>
              <a:t>8</a:t>
            </a:r>
            <a:r>
              <a:rPr lang="en-US" altLang="en-US" sz="2000" dirty="0">
                <a:latin typeface="Arial" panose="020B0604020202020204" pitchFamily="34" charset="0"/>
              </a:rPr>
              <a:t> = 0.00005s</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a:t>
            </a:r>
            <a:r>
              <a:rPr lang="en-US" altLang="en-US" sz="2000" dirty="0" err="1">
                <a:latin typeface="Arial" panose="020B0604020202020204" pitchFamily="34" charset="0"/>
              </a:rPr>
              <a:t>D</a:t>
            </a:r>
            <a:r>
              <a:rPr lang="en-US" altLang="en-US" sz="2000" baseline="-25000" dirty="0" err="1">
                <a:latin typeface="Arial" panose="020B0604020202020204" pitchFamily="34" charset="0"/>
              </a:rPr>
              <a:t>total</a:t>
            </a:r>
            <a:r>
              <a:rPr lang="en-US" altLang="en-US" sz="2000" dirty="0">
                <a:latin typeface="Arial" panose="020B0604020202020204" pitchFamily="34" charset="0"/>
              </a:rPr>
              <a:t> = 3+0.00005 = 3. 00005s</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iii) How many bits will the source have transmitted when the first bit of the MP3 file arrives at the destination? </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a:t>
            </a:r>
            <a:endParaRPr lang="ms-MY" altLang="en-US" sz="2000" dirty="0">
              <a:latin typeface="Arial" panose="020B0604020202020204" pitchFamily="34" charset="0"/>
            </a:endParaRPr>
          </a:p>
          <a:p>
            <a:pPr>
              <a:lnSpc>
                <a:spcPct val="100000"/>
              </a:lnSpc>
              <a:spcBef>
                <a:spcPct val="0"/>
              </a:spcBef>
              <a:buClrTx/>
              <a:buSzTx/>
              <a:buFontTx/>
              <a:buNone/>
            </a:pPr>
            <a:r>
              <a:rPr lang="en-US" altLang="en-US" sz="2000" dirty="0">
                <a:latin typeface="Arial" panose="020B0604020202020204" pitchFamily="34" charset="0"/>
              </a:rPr>
              <a:t>	R* </a:t>
            </a:r>
            <a:r>
              <a:rPr lang="en-US" altLang="en-US" sz="2000" dirty="0" err="1">
                <a:latin typeface="Arial" panose="020B0604020202020204" pitchFamily="34" charset="0"/>
              </a:rPr>
              <a:t>D</a:t>
            </a:r>
            <a:r>
              <a:rPr lang="en-US" altLang="en-US" sz="2000" baseline="-25000" dirty="0" err="1">
                <a:latin typeface="Arial" panose="020B0604020202020204" pitchFamily="34" charset="0"/>
              </a:rPr>
              <a:t>prop</a:t>
            </a:r>
            <a:r>
              <a:rPr lang="en-US" altLang="en-US" sz="2000" dirty="0">
                <a:latin typeface="Arial" panose="020B0604020202020204" pitchFamily="34" charset="0"/>
              </a:rPr>
              <a:t> = 10Mbps*0.00005s=500bit</a:t>
            </a:r>
            <a:endParaRPr lang="ms-MY" altLang="en-US" sz="2000" dirty="0">
              <a:latin typeface="Arial" panose="020B0604020202020204" pitchFamily="34" charset="0"/>
            </a:endParaRPr>
          </a:p>
        </p:txBody>
      </p:sp>
      <p:sp>
        <p:nvSpPr>
          <p:cNvPr id="5" name="Rectangle 2"/>
          <p:cNvSpPr txBox="1">
            <a:spLocks noChangeArrowheads="1"/>
          </p:cNvSpPr>
          <p:nvPr/>
        </p:nvSpPr>
        <p:spPr bwMode="auto">
          <a:xfrm>
            <a:off x="1947112" y="320675"/>
            <a:ext cx="7400925" cy="903288"/>
          </a:xfrm>
          <a:prstGeom prst="rect">
            <a:avLst/>
          </a:prstGeom>
          <a:noFill/>
          <a:ln>
            <a:noFill/>
          </a:ln>
        </p:spPr>
        <p:txBody>
          <a:bodyPr anchor="ct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ctr" eaLnBrk="1" hangingPunct="1">
              <a:defRPr/>
            </a:pPr>
            <a:r>
              <a:rPr lang="en-US" sz="4000" kern="0" dirty="0">
                <a:ea typeface="ＭＳ Ｐゴシック" pitchFamily="34" charset="-128"/>
              </a:rPr>
              <a:t>Calculation: Example 2</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88</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Security</a:t>
            </a:r>
          </a:p>
          <a:p>
            <a:pPr marL="403225" indent="-285750">
              <a:spcBef>
                <a:spcPts val="800"/>
              </a:spcBef>
              <a:buClr>
                <a:srgbClr val="0000A8"/>
              </a:buClr>
            </a:pPr>
            <a:r>
              <a:rPr lang="en-US" altLang="en-US" sz="3200" dirty="0">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68817EC6-8DF7-E64F-9CA4-BFB8E60908E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46478113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Protocol </a:t>
            </a:r>
            <a:r>
              <a:rPr lang="en-US" altLang="en-US" dirty="0">
                <a:ea typeface="ＭＳ Ｐゴシック" panose="020B0600070205080204" pitchFamily="34" charset="-128"/>
              </a:rPr>
              <a:t>“l</a:t>
            </a:r>
            <a:r>
              <a:rPr lang="en-US" altLang="ja-JP" sz="4400" dirty="0">
                <a:ea typeface="ＭＳ Ｐゴシック" panose="020B0600070205080204" pitchFamily="34" charset="-128"/>
              </a:rPr>
              <a:t>ayers</a:t>
            </a:r>
            <a:r>
              <a:rPr lang="en-US" altLang="ja-JP" dirty="0">
                <a:ea typeface="ＭＳ Ｐゴシック" panose="020B0600070205080204" pitchFamily="34" charset="-128"/>
              </a:rPr>
              <a:t>”</a:t>
            </a:r>
            <a:r>
              <a:rPr lang="en-US" altLang="ja-JP" sz="4400" dirty="0">
                <a:ea typeface="ＭＳ Ｐゴシック" panose="020B0600070205080204" pitchFamily="34" charset="-128"/>
              </a:rPr>
              <a:t> and reference </a:t>
            </a:r>
            <a:r>
              <a:rPr lang="en-US" altLang="ja-JP" dirty="0">
                <a:ea typeface="ＭＳ Ｐゴシック" panose="020B0600070205080204" pitchFamily="34" charset="-128"/>
              </a:rPr>
              <a:t>m</a:t>
            </a:r>
            <a:r>
              <a:rPr lang="en-US" altLang="ja-JP" sz="4400" dirty="0">
                <a:ea typeface="ＭＳ Ｐゴシック" panose="020B0600070205080204" pitchFamily="34" charset="-128"/>
              </a:rPr>
              <a:t>odels</a:t>
            </a:r>
            <a:endParaRPr lang="en-US" altLang="en-US" sz="4400" dirty="0">
              <a:ea typeface="ＭＳ Ｐゴシック" panose="020B0600070205080204" pitchFamily="34" charset="-128"/>
            </a:endParaRPr>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89</a:t>
            </a:fld>
            <a:endParaRPr lang="en-US" dirty="0"/>
          </a:p>
        </p:txBody>
      </p:sp>
      <p:sp>
        <p:nvSpPr>
          <p:cNvPr id="45" name="Rectangle 3">
            <a:extLst>
              <a:ext uri="{FF2B5EF4-FFF2-40B4-BE49-F238E27FC236}">
                <a16:creationId xmlns:a16="http://schemas.microsoft.com/office/drawing/2014/main" id="{B003BE48-58DC-5A4B-9250-A838A7C7044A}"/>
              </a:ext>
            </a:extLst>
          </p:cNvPr>
          <p:cNvSpPr txBox="1">
            <a:spLocks noChangeArrowheads="1"/>
          </p:cNvSpPr>
          <p:nvPr/>
        </p:nvSpPr>
        <p:spPr>
          <a:xfrm>
            <a:off x="1325222" y="1575775"/>
            <a:ext cx="5115815" cy="50498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75000"/>
              </a:lnSpc>
              <a:buNone/>
            </a:pPr>
            <a:r>
              <a:rPr lang="en-US" altLang="en-US" sz="3200" i="1" dirty="0">
                <a:solidFill>
                  <a:srgbClr val="CC0000"/>
                </a:solidFill>
                <a:ea typeface="ＭＳ Ｐゴシック" panose="020B0600070205080204" pitchFamily="34" charset="-128"/>
              </a:rPr>
              <a:t>Networks are complex,</a:t>
            </a:r>
          </a:p>
          <a:p>
            <a:pPr>
              <a:lnSpc>
                <a:spcPct val="75000"/>
              </a:lnSpc>
              <a:buNone/>
            </a:pPr>
            <a:r>
              <a:rPr lang="en-US" altLang="en-US" sz="3200" i="1" dirty="0">
                <a:solidFill>
                  <a:srgbClr val="CC0000"/>
                </a:solidFill>
                <a:ea typeface="ＭＳ Ｐゴシック" panose="020B0600070205080204" pitchFamily="34" charset="-128"/>
              </a:rPr>
              <a:t>with many “</a:t>
            </a:r>
            <a:r>
              <a:rPr lang="en-US" altLang="ja-JP" sz="3200" i="1" dirty="0">
                <a:solidFill>
                  <a:srgbClr val="CC0000"/>
                </a:solidFill>
                <a:ea typeface="ＭＳ Ｐゴシック" panose="020B0600070205080204" pitchFamily="34" charset="-128"/>
              </a:rPr>
              <a:t>pieces”:</a:t>
            </a:r>
          </a:p>
          <a:p>
            <a:pPr lvl="1">
              <a:buFont typeface="Wingdings" pitchFamily="2" charset="2"/>
              <a:buChar char="§"/>
            </a:pPr>
            <a:r>
              <a:rPr lang="en-US" altLang="en-US" sz="2800" dirty="0">
                <a:ea typeface="Arial" panose="020B0604020202020204" pitchFamily="34" charset="0"/>
              </a:rPr>
              <a:t>hosts</a:t>
            </a:r>
          </a:p>
          <a:p>
            <a:pPr lvl="1">
              <a:buFont typeface="Wingdings" pitchFamily="2" charset="2"/>
              <a:buChar char="§"/>
            </a:pPr>
            <a:r>
              <a:rPr lang="en-US" altLang="en-US" sz="2800" dirty="0">
                <a:ea typeface="Arial" panose="020B0604020202020204" pitchFamily="34" charset="0"/>
              </a:rPr>
              <a:t>routers</a:t>
            </a:r>
          </a:p>
          <a:p>
            <a:pPr lvl="1">
              <a:buFont typeface="Wingdings" pitchFamily="2" charset="2"/>
              <a:buChar char="§"/>
            </a:pPr>
            <a:r>
              <a:rPr lang="en-US" altLang="en-US" sz="2800" dirty="0">
                <a:ea typeface="Arial" panose="020B0604020202020204" pitchFamily="34" charset="0"/>
              </a:rPr>
              <a:t>links of various media</a:t>
            </a:r>
          </a:p>
          <a:p>
            <a:pPr lvl="1">
              <a:buFont typeface="Wingdings" pitchFamily="2" charset="2"/>
              <a:buChar char="§"/>
            </a:pPr>
            <a:r>
              <a:rPr lang="en-US" altLang="en-US" sz="2800" dirty="0">
                <a:ea typeface="Arial" panose="020B0604020202020204" pitchFamily="34" charset="0"/>
              </a:rPr>
              <a:t>applications</a:t>
            </a:r>
          </a:p>
          <a:p>
            <a:pPr lvl="1">
              <a:buFont typeface="Wingdings" pitchFamily="2" charset="2"/>
              <a:buChar char="§"/>
            </a:pPr>
            <a:r>
              <a:rPr lang="en-US" altLang="en-US" sz="2800" dirty="0">
                <a:ea typeface="Arial" panose="020B0604020202020204" pitchFamily="34" charset="0"/>
              </a:rPr>
              <a:t>protocols</a:t>
            </a:r>
          </a:p>
          <a:p>
            <a:pPr lvl="1">
              <a:buFont typeface="Wingdings" pitchFamily="2" charset="2"/>
              <a:buChar char="§"/>
            </a:pPr>
            <a:r>
              <a:rPr lang="en-US" altLang="en-US" sz="2800" dirty="0">
                <a:ea typeface="Arial" panose="020B0604020202020204" pitchFamily="34" charset="0"/>
              </a:rPr>
              <a:t>hardware, software</a:t>
            </a:r>
          </a:p>
          <a:p>
            <a:pPr>
              <a:lnSpc>
                <a:spcPct val="75000"/>
              </a:lnSpc>
              <a:buNone/>
            </a:pPr>
            <a:endParaRPr lang="en-US" altLang="ja-JP" sz="3200" i="1" dirty="0">
              <a:solidFill>
                <a:srgbClr val="CC0000"/>
              </a:solidFill>
              <a:ea typeface="ＭＳ Ｐゴシック" panose="020B0600070205080204" pitchFamily="34" charset="-128"/>
            </a:endParaRPr>
          </a:p>
        </p:txBody>
      </p:sp>
      <p:sp>
        <p:nvSpPr>
          <p:cNvPr id="111" name="Rectangle 4">
            <a:extLst>
              <a:ext uri="{FF2B5EF4-FFF2-40B4-BE49-F238E27FC236}">
                <a16:creationId xmlns:a16="http://schemas.microsoft.com/office/drawing/2014/main" id="{1B4EE37F-42F3-2442-ACAD-B722241FF92E}"/>
              </a:ext>
            </a:extLst>
          </p:cNvPr>
          <p:cNvSpPr txBox="1">
            <a:spLocks noChangeArrowheads="1"/>
          </p:cNvSpPr>
          <p:nvPr/>
        </p:nvSpPr>
        <p:spPr>
          <a:xfrm>
            <a:off x="6809127" y="1929196"/>
            <a:ext cx="4531739" cy="43430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buFont typeface="Wingdings" pitchFamily="2" charset="2"/>
              <a:buNone/>
            </a:pPr>
            <a:r>
              <a:rPr lang="en-US" altLang="en-US" sz="3200" i="1" dirty="0">
                <a:solidFill>
                  <a:srgbClr val="CC0000"/>
                </a:solidFill>
                <a:ea typeface="ＭＳ Ｐゴシック" panose="020B0600070205080204" pitchFamily="34" charset="-128"/>
              </a:rPr>
              <a:t>Question:</a:t>
            </a:r>
            <a:r>
              <a:rPr lang="en-US" altLang="en-US" sz="2400" u="sng" dirty="0">
                <a:solidFill>
                  <a:srgbClr val="FF0000"/>
                </a:solidFill>
                <a:ea typeface="ＭＳ Ｐゴシック" panose="020B0600070205080204" pitchFamily="34" charset="-128"/>
              </a:rPr>
              <a:t> </a:t>
            </a:r>
          </a:p>
          <a:p>
            <a:pPr algn="ctr">
              <a:buFont typeface="Wingdings" pitchFamily="2" charset="2"/>
              <a:buNone/>
            </a:pPr>
            <a:r>
              <a:rPr lang="en-US" altLang="en-US" sz="3200" dirty="0">
                <a:ea typeface="ＭＳ Ｐゴシック" panose="020B0600070205080204" pitchFamily="34" charset="-128"/>
              </a:rPr>
              <a:t>is there any hope of </a:t>
            </a:r>
            <a:r>
              <a:rPr lang="en-US" altLang="en-US" sz="3200" i="1" dirty="0">
                <a:ea typeface="ＭＳ Ｐゴシック" panose="020B0600070205080204" pitchFamily="34" charset="-128"/>
              </a:rPr>
              <a:t>organizing</a:t>
            </a:r>
            <a:r>
              <a:rPr lang="en-US" altLang="en-US" sz="3200" dirty="0">
                <a:ea typeface="ＭＳ Ｐゴシック" panose="020B0600070205080204" pitchFamily="34" charset="-128"/>
              </a:rPr>
              <a:t> structure of network?</a:t>
            </a:r>
          </a:p>
          <a:p>
            <a:pPr algn="ctr">
              <a:buFont typeface="Wingdings" pitchFamily="2" charset="2"/>
              <a:buNone/>
            </a:pPr>
            <a:endParaRPr lang="en-US" altLang="en-US" sz="3200" dirty="0">
              <a:ea typeface="ＭＳ Ｐゴシック" panose="020B0600070205080204" pitchFamily="34" charset="-128"/>
            </a:endParaRPr>
          </a:p>
          <a:p>
            <a:pPr algn="ctr">
              <a:buFont typeface="Wingdings" pitchFamily="2" charset="2"/>
              <a:buNone/>
            </a:pPr>
            <a:r>
              <a:rPr lang="en-US" altLang="en-US" sz="3200" dirty="0">
                <a:ea typeface="ＭＳ Ｐゴシック" panose="020B0600070205080204" pitchFamily="34" charset="-128"/>
              </a:rPr>
              <a:t>…. or at least our </a:t>
            </a:r>
            <a:r>
              <a:rPr lang="en-US" altLang="en-US" sz="3200" i="1" dirty="0">
                <a:ea typeface="ＭＳ Ｐゴシック" panose="020B0600070205080204" pitchFamily="34" charset="-128"/>
              </a:rPr>
              <a:t>discussion</a:t>
            </a:r>
            <a:r>
              <a:rPr lang="en-US" altLang="en-US" sz="3200" dirty="0">
                <a:ea typeface="ＭＳ Ｐゴシック" panose="020B0600070205080204" pitchFamily="34" charset="-128"/>
              </a:rPr>
              <a:t> of networks?</a:t>
            </a:r>
          </a:p>
        </p:txBody>
      </p:sp>
    </p:spTree>
    <p:extLst>
      <p:ext uri="{BB962C8B-B14F-4D97-AF65-F5344CB8AC3E}">
        <p14:creationId xmlns:p14="http://schemas.microsoft.com/office/powerpoint/2010/main" val="174856071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Example: organization of air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ravel</a:t>
            </a:r>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90</a:t>
            </a:fld>
            <a:endParaRPr lang="en-US" dirty="0"/>
          </a:p>
        </p:txBody>
      </p:sp>
      <p:sp>
        <p:nvSpPr>
          <p:cNvPr id="7" name="Rectangle 3">
            <a:extLst>
              <a:ext uri="{FF2B5EF4-FFF2-40B4-BE49-F238E27FC236}">
                <a16:creationId xmlns:a16="http://schemas.microsoft.com/office/drawing/2014/main" id="{CC3583CD-CBDD-864E-8D26-0A29FF1403C0}"/>
              </a:ext>
            </a:extLst>
          </p:cNvPr>
          <p:cNvSpPr txBox="1">
            <a:spLocks noChangeArrowheads="1"/>
          </p:cNvSpPr>
          <p:nvPr/>
        </p:nvSpPr>
        <p:spPr>
          <a:xfrm>
            <a:off x="1670538" y="5706489"/>
            <a:ext cx="9529651" cy="542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en-US" sz="3200" dirty="0">
                <a:ea typeface="ＭＳ Ｐゴシック" panose="020B0600070205080204" pitchFamily="34" charset="-128"/>
              </a:rPr>
              <a:t>airline travel: a series of steps, involving many services</a:t>
            </a:r>
          </a:p>
        </p:txBody>
      </p:sp>
      <p:sp>
        <p:nvSpPr>
          <p:cNvPr id="9" name="Text Box 5">
            <a:extLst>
              <a:ext uri="{FF2B5EF4-FFF2-40B4-BE49-F238E27FC236}">
                <a16:creationId xmlns:a16="http://schemas.microsoft.com/office/drawing/2014/main" id="{36700FC8-9E28-1D45-9971-F07DEE935B73}"/>
              </a:ext>
            </a:extLst>
          </p:cNvPr>
          <p:cNvSpPr txBox="1">
            <a:spLocks noChangeArrowheads="1"/>
          </p:cNvSpPr>
          <p:nvPr/>
        </p:nvSpPr>
        <p:spPr bwMode="auto">
          <a:xfrm>
            <a:off x="1110119" y="1635919"/>
            <a:ext cx="3719769" cy="2847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130000"/>
              </a:lnSpc>
            </a:pPr>
            <a:r>
              <a:rPr lang="en-US" altLang="en-US" sz="2800" dirty="0">
                <a:solidFill>
                  <a:srgbClr val="000099"/>
                </a:solidFill>
                <a:latin typeface="+mn-lt"/>
              </a:rPr>
              <a:t>ticket (purchase)</a:t>
            </a:r>
          </a:p>
          <a:p>
            <a:pPr>
              <a:lnSpc>
                <a:spcPct val="130000"/>
              </a:lnSpc>
            </a:pPr>
            <a:r>
              <a:rPr lang="en-US" altLang="en-US" sz="2800" dirty="0">
                <a:solidFill>
                  <a:srgbClr val="000099"/>
                </a:solidFill>
                <a:latin typeface="+mn-lt"/>
              </a:rPr>
              <a:t>baggage (check)</a:t>
            </a:r>
          </a:p>
          <a:p>
            <a:pPr>
              <a:lnSpc>
                <a:spcPct val="130000"/>
              </a:lnSpc>
            </a:pPr>
            <a:r>
              <a:rPr lang="en-US" altLang="en-US" sz="2800" dirty="0">
                <a:solidFill>
                  <a:srgbClr val="000099"/>
                </a:solidFill>
                <a:latin typeface="+mn-lt"/>
              </a:rPr>
              <a:t>gates (load)</a:t>
            </a:r>
          </a:p>
          <a:p>
            <a:pPr>
              <a:lnSpc>
                <a:spcPct val="130000"/>
              </a:lnSpc>
            </a:pPr>
            <a:r>
              <a:rPr lang="en-US" altLang="en-US" sz="2800" dirty="0">
                <a:solidFill>
                  <a:srgbClr val="000099"/>
                </a:solidFill>
                <a:latin typeface="+mn-lt"/>
              </a:rPr>
              <a:t>runway takeoff</a:t>
            </a:r>
          </a:p>
          <a:p>
            <a:pPr>
              <a:lnSpc>
                <a:spcPct val="130000"/>
              </a:lnSpc>
            </a:pPr>
            <a:r>
              <a:rPr lang="en-US" altLang="en-US" sz="2800" dirty="0">
                <a:solidFill>
                  <a:srgbClr val="000099"/>
                </a:solidFill>
                <a:latin typeface="+mn-lt"/>
              </a:rPr>
              <a:t>airplane routing</a:t>
            </a:r>
            <a:endParaRPr lang="en-US" altLang="en-US" sz="2000" dirty="0">
              <a:solidFill>
                <a:srgbClr val="000099"/>
              </a:solidFill>
              <a:latin typeface="+mn-lt"/>
            </a:endParaRPr>
          </a:p>
        </p:txBody>
      </p:sp>
      <p:sp>
        <p:nvSpPr>
          <p:cNvPr id="10" name="Text Box 6">
            <a:extLst>
              <a:ext uri="{FF2B5EF4-FFF2-40B4-BE49-F238E27FC236}">
                <a16:creationId xmlns:a16="http://schemas.microsoft.com/office/drawing/2014/main" id="{848D3D19-7497-FE45-B7B5-B81AA4212074}"/>
              </a:ext>
            </a:extLst>
          </p:cNvPr>
          <p:cNvSpPr txBox="1">
            <a:spLocks noChangeArrowheads="1"/>
          </p:cNvSpPr>
          <p:nvPr/>
        </p:nvSpPr>
        <p:spPr bwMode="auto">
          <a:xfrm>
            <a:off x="7623765" y="1642218"/>
            <a:ext cx="2625654"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130000"/>
              </a:lnSpc>
            </a:pPr>
            <a:r>
              <a:rPr lang="en-US" altLang="en-US" sz="2800" dirty="0">
                <a:solidFill>
                  <a:srgbClr val="000099"/>
                </a:solidFill>
                <a:latin typeface="+mn-lt"/>
              </a:rPr>
              <a:t>ticket (complain)</a:t>
            </a:r>
          </a:p>
          <a:p>
            <a:pPr algn="r">
              <a:lnSpc>
                <a:spcPct val="130000"/>
              </a:lnSpc>
            </a:pPr>
            <a:r>
              <a:rPr lang="en-US" altLang="en-US" sz="2800" dirty="0">
                <a:solidFill>
                  <a:srgbClr val="000099"/>
                </a:solidFill>
                <a:latin typeface="+mn-lt"/>
              </a:rPr>
              <a:t>baggage (claim)</a:t>
            </a:r>
          </a:p>
          <a:p>
            <a:pPr algn="r">
              <a:lnSpc>
                <a:spcPct val="130000"/>
              </a:lnSpc>
            </a:pPr>
            <a:r>
              <a:rPr lang="en-US" altLang="en-US" sz="2800" dirty="0">
                <a:solidFill>
                  <a:srgbClr val="000099"/>
                </a:solidFill>
                <a:latin typeface="+mn-lt"/>
              </a:rPr>
              <a:t>gates (unload)</a:t>
            </a:r>
          </a:p>
          <a:p>
            <a:pPr algn="r">
              <a:lnSpc>
                <a:spcPct val="130000"/>
              </a:lnSpc>
            </a:pPr>
            <a:r>
              <a:rPr lang="en-US" altLang="en-US" sz="2800" dirty="0">
                <a:solidFill>
                  <a:srgbClr val="000099"/>
                </a:solidFill>
                <a:latin typeface="+mn-lt"/>
              </a:rPr>
              <a:t>runway landing</a:t>
            </a:r>
          </a:p>
          <a:p>
            <a:pPr algn="r">
              <a:lnSpc>
                <a:spcPct val="130000"/>
              </a:lnSpc>
            </a:pPr>
            <a:r>
              <a:rPr lang="en-US" altLang="en-US" sz="2800" dirty="0">
                <a:solidFill>
                  <a:srgbClr val="000099"/>
                </a:solidFill>
                <a:latin typeface="+mn-lt"/>
              </a:rPr>
              <a:t>airplane routing</a:t>
            </a:r>
          </a:p>
        </p:txBody>
      </p:sp>
      <p:sp>
        <p:nvSpPr>
          <p:cNvPr id="11" name="Text Box 7">
            <a:extLst>
              <a:ext uri="{FF2B5EF4-FFF2-40B4-BE49-F238E27FC236}">
                <a16:creationId xmlns:a16="http://schemas.microsoft.com/office/drawing/2014/main" id="{E16D6DCC-156C-2147-81DA-F433EE3A550B}"/>
              </a:ext>
            </a:extLst>
          </p:cNvPr>
          <p:cNvSpPr txBox="1">
            <a:spLocks noChangeArrowheads="1"/>
          </p:cNvSpPr>
          <p:nvPr/>
        </p:nvSpPr>
        <p:spPr bwMode="auto">
          <a:xfrm>
            <a:off x="4389746" y="4531520"/>
            <a:ext cx="357079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99"/>
                </a:solidFill>
                <a:latin typeface="+mn-lt"/>
              </a:rPr>
              <a:t>airplane routing</a:t>
            </a:r>
          </a:p>
        </p:txBody>
      </p:sp>
      <p:sp>
        <p:nvSpPr>
          <p:cNvPr id="12" name="Freeform 8">
            <a:extLst>
              <a:ext uri="{FF2B5EF4-FFF2-40B4-BE49-F238E27FC236}">
                <a16:creationId xmlns:a16="http://schemas.microsoft.com/office/drawing/2014/main" id="{F85E233E-0BC2-2743-AB47-FA853651C08B}"/>
              </a:ext>
            </a:extLst>
          </p:cNvPr>
          <p:cNvSpPr>
            <a:spLocks/>
          </p:cNvSpPr>
          <p:nvPr/>
        </p:nvSpPr>
        <p:spPr bwMode="auto">
          <a:xfrm>
            <a:off x="879891" y="1780382"/>
            <a:ext cx="7827767" cy="3289301"/>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Lst>
            <a:ahLst/>
            <a:cxnLst>
              <a:cxn ang="0">
                <a:pos x="connsiteX0" y="connsiteY0"/>
              </a:cxn>
              <a:cxn ang="0">
                <a:pos x="connsiteX1" y="connsiteY1"/>
              </a:cxn>
              <a:cxn ang="0">
                <a:pos x="connsiteX2" y="connsiteY2"/>
              </a:cxn>
              <a:cxn ang="0">
                <a:pos x="connsiteX3" y="connsiteY3"/>
              </a:cxn>
            </a:cxnLst>
            <a:rect l="l" t="t" r="r" b="b"/>
            <a:pathLst>
              <a:path w="8459" h="10000">
                <a:moveTo>
                  <a:pt x="0" y="0"/>
                </a:moveTo>
                <a:cubicBezTo>
                  <a:pt x="3" y="2793"/>
                  <a:pt x="7" y="5585"/>
                  <a:pt x="10" y="8378"/>
                </a:cubicBezTo>
                <a:lnTo>
                  <a:pt x="1961" y="9961"/>
                </a:lnTo>
                <a:lnTo>
                  <a:pt x="8459" y="10000"/>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 name="Freeform 2">
            <a:extLst>
              <a:ext uri="{FF2B5EF4-FFF2-40B4-BE49-F238E27FC236}">
                <a16:creationId xmlns:a16="http://schemas.microsoft.com/office/drawing/2014/main" id="{D9478D4E-B913-5E48-A41F-691CE28FDFE4}"/>
              </a:ext>
            </a:extLst>
          </p:cNvPr>
          <p:cNvSpPr/>
          <p:nvPr/>
        </p:nvSpPr>
        <p:spPr>
          <a:xfrm flipH="1">
            <a:off x="8627458" y="1806653"/>
            <a:ext cx="1822537" cy="3263030"/>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58B89B52-D8A0-B841-AE4D-367CE4C080B3}"/>
              </a:ext>
            </a:extLst>
          </p:cNvPr>
          <p:cNvGrpSpPr/>
          <p:nvPr/>
        </p:nvGrpSpPr>
        <p:grpSpPr>
          <a:xfrm>
            <a:off x="4732420" y="1276350"/>
            <a:ext cx="1528763" cy="620713"/>
            <a:chOff x="-1042195" y="4302698"/>
            <a:chExt cx="1528763" cy="620713"/>
          </a:xfrm>
        </p:grpSpPr>
        <p:pic>
          <p:nvPicPr>
            <p:cNvPr id="22" name="Picture 11" descr="yylgaifm[1]">
              <a:extLst>
                <a:ext uri="{FF2B5EF4-FFF2-40B4-BE49-F238E27FC236}">
                  <a16:creationId xmlns:a16="http://schemas.microsoft.com/office/drawing/2014/main" id="{07194610-EC25-D04B-8A29-162F15606C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042195" y="4463036"/>
              <a:ext cx="152876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Line 12">
              <a:extLst>
                <a:ext uri="{FF2B5EF4-FFF2-40B4-BE49-F238E27FC236}">
                  <a16:creationId xmlns:a16="http://schemas.microsoft.com/office/drawing/2014/main" id="{F2D1C1C2-445D-BD44-9E5D-B94BC5DF4100}"/>
                </a:ext>
              </a:extLst>
            </p:cNvPr>
            <p:cNvSpPr>
              <a:spLocks noChangeShapeType="1"/>
            </p:cNvSpPr>
            <p:nvPr/>
          </p:nvSpPr>
          <p:spPr bwMode="auto">
            <a:xfrm>
              <a:off x="-561182" y="43026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 name="Line 13">
              <a:extLst>
                <a:ext uri="{FF2B5EF4-FFF2-40B4-BE49-F238E27FC236}">
                  <a16:creationId xmlns:a16="http://schemas.microsoft.com/office/drawing/2014/main" id="{E3D0F8A1-57E5-0348-B7BD-5D6EB952C368}"/>
                </a:ext>
              </a:extLst>
            </p:cNvPr>
            <p:cNvSpPr>
              <a:spLocks noChangeShapeType="1"/>
            </p:cNvSpPr>
            <p:nvPr/>
          </p:nvSpPr>
          <p:spPr bwMode="auto">
            <a:xfrm>
              <a:off x="-408782" y="44550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 name="Line 14">
              <a:extLst>
                <a:ext uri="{FF2B5EF4-FFF2-40B4-BE49-F238E27FC236}">
                  <a16:creationId xmlns:a16="http://schemas.microsoft.com/office/drawing/2014/main" id="{41A01E04-873D-7D43-8A11-021CF72C1963}"/>
                </a:ext>
              </a:extLst>
            </p:cNvPr>
            <p:cNvSpPr>
              <a:spLocks noChangeShapeType="1"/>
            </p:cNvSpPr>
            <p:nvPr/>
          </p:nvSpPr>
          <p:spPr bwMode="auto">
            <a:xfrm>
              <a:off x="-256382" y="46074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Tree>
    <p:extLst>
      <p:ext uri="{BB962C8B-B14F-4D97-AF65-F5344CB8AC3E}">
        <p14:creationId xmlns:p14="http://schemas.microsoft.com/office/powerpoint/2010/main" val="523262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up)">
                                      <p:cBhvr>
                                        <p:cTn id="10" dur="500"/>
                                        <p:tgtEl>
                                          <p:spTgt spid="9"/>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left)">
                                      <p:cBhvr>
                                        <p:cTn id="14" dur="5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down)">
                                      <p:cBhvr>
                                        <p:cTn id="19" dur="500"/>
                                        <p:tgtEl>
                                          <p:spTgt spid="10"/>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down)">
                                      <p:cBhvr>
                                        <p:cTn id="2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animBg="1"/>
      <p:bldP spid="3"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D3D16B69-45D9-7743-ADEA-3DAD4240D5C8}"/>
              </a:ext>
            </a:extLst>
          </p:cNvPr>
          <p:cNvGrpSpPr/>
          <p:nvPr/>
        </p:nvGrpSpPr>
        <p:grpSpPr>
          <a:xfrm>
            <a:off x="464981" y="1753061"/>
            <a:ext cx="10432006" cy="2708042"/>
            <a:chOff x="464981" y="1753061"/>
            <a:chExt cx="10432006" cy="2708042"/>
          </a:xfrm>
        </p:grpSpPr>
        <p:sp>
          <p:nvSpPr>
            <p:cNvPr id="41" name="Rectangle 40">
              <a:extLst>
                <a:ext uri="{FF2B5EF4-FFF2-40B4-BE49-F238E27FC236}">
                  <a16:creationId xmlns:a16="http://schemas.microsoft.com/office/drawing/2014/main" id="{5425220C-9838-8D45-9BAA-2D96FF83A2F1}"/>
                </a:ext>
              </a:extLst>
            </p:cNvPr>
            <p:cNvSpPr/>
            <p:nvPr/>
          </p:nvSpPr>
          <p:spPr>
            <a:xfrm>
              <a:off x="464981" y="4061418"/>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DD8EE791-0739-6F48-8733-238C908C9A99}"/>
                </a:ext>
              </a:extLst>
            </p:cNvPr>
            <p:cNvSpPr/>
            <p:nvPr/>
          </p:nvSpPr>
          <p:spPr>
            <a:xfrm>
              <a:off x="475506" y="3495132"/>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B68A0430-7325-D84E-8C11-99062FE5509D}"/>
                </a:ext>
              </a:extLst>
            </p:cNvPr>
            <p:cNvSpPr/>
            <p:nvPr/>
          </p:nvSpPr>
          <p:spPr>
            <a:xfrm>
              <a:off x="470508" y="2945434"/>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5632A966-C6C7-424C-80FC-0FFB2F0BC371}"/>
                </a:ext>
              </a:extLst>
            </p:cNvPr>
            <p:cNvSpPr/>
            <p:nvPr/>
          </p:nvSpPr>
          <p:spPr>
            <a:xfrm>
              <a:off x="471525" y="2357714"/>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0458753E-88F3-B34F-B3B9-946C3E6C15F1}"/>
                </a:ext>
              </a:extLst>
            </p:cNvPr>
            <p:cNvSpPr/>
            <p:nvPr/>
          </p:nvSpPr>
          <p:spPr>
            <a:xfrm>
              <a:off x="464982" y="1753061"/>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a:extLst>
              <a:ext uri="{FF2B5EF4-FFF2-40B4-BE49-F238E27FC236}">
                <a16:creationId xmlns:a16="http://schemas.microsoft.com/office/drawing/2014/main" id="{3F1839DF-A204-F147-901F-403EDC096FCD}"/>
              </a:ext>
            </a:extLst>
          </p:cNvPr>
          <p:cNvGrpSpPr/>
          <p:nvPr/>
        </p:nvGrpSpPr>
        <p:grpSpPr>
          <a:xfrm>
            <a:off x="7572969" y="1645899"/>
            <a:ext cx="2929467" cy="2895601"/>
            <a:chOff x="1574800" y="1788319"/>
            <a:chExt cx="2929467" cy="2895601"/>
          </a:xfrm>
        </p:grpSpPr>
        <p:sp>
          <p:nvSpPr>
            <p:cNvPr id="28" name="Rectangle 27">
              <a:extLst>
                <a:ext uri="{FF2B5EF4-FFF2-40B4-BE49-F238E27FC236}">
                  <a16:creationId xmlns:a16="http://schemas.microsoft.com/office/drawing/2014/main" id="{E615A186-9ECD-7646-A746-B390E05134BE}"/>
                </a:ext>
              </a:extLst>
            </p:cNvPr>
            <p:cNvSpPr/>
            <p:nvPr/>
          </p:nvSpPr>
          <p:spPr>
            <a:xfrm>
              <a:off x="1591733" y="1788319"/>
              <a:ext cx="2794000" cy="2895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9" name="Straight Connector 28">
              <a:extLst>
                <a:ext uri="{FF2B5EF4-FFF2-40B4-BE49-F238E27FC236}">
                  <a16:creationId xmlns:a16="http://schemas.microsoft.com/office/drawing/2014/main" id="{69ED9F09-CF30-0E4F-B280-1114E1973095}"/>
                </a:ext>
              </a:extLst>
            </p:cNvPr>
            <p:cNvCxnSpPr>
              <a:cxnSpLocks/>
            </p:cNvCxnSpPr>
            <p:nvPr/>
          </p:nvCxnSpPr>
          <p:spPr>
            <a:xfrm>
              <a:off x="1574800" y="2421466"/>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7190042-F4C0-EC46-9AF0-FF1083E60F8B}"/>
                </a:ext>
              </a:extLst>
            </p:cNvPr>
            <p:cNvCxnSpPr>
              <a:cxnSpLocks/>
            </p:cNvCxnSpPr>
            <p:nvPr/>
          </p:nvCxnSpPr>
          <p:spPr>
            <a:xfrm>
              <a:off x="1574800" y="3009694"/>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DEF134E-EA30-E347-8AE4-94F83CF21DB0}"/>
                </a:ext>
              </a:extLst>
            </p:cNvPr>
            <p:cNvCxnSpPr>
              <a:cxnSpLocks/>
            </p:cNvCxnSpPr>
            <p:nvPr/>
          </p:nvCxnSpPr>
          <p:spPr>
            <a:xfrm>
              <a:off x="1574800" y="3581400"/>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C8AEB97-F690-7742-BC15-87C7C38DE30C}"/>
                </a:ext>
              </a:extLst>
            </p:cNvPr>
            <p:cNvCxnSpPr>
              <a:cxnSpLocks/>
            </p:cNvCxnSpPr>
            <p:nvPr/>
          </p:nvCxnSpPr>
          <p:spPr>
            <a:xfrm>
              <a:off x="1574800" y="4115129"/>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4" name="Rectangle 3">
            <a:extLst>
              <a:ext uri="{FF2B5EF4-FFF2-40B4-BE49-F238E27FC236}">
                <a16:creationId xmlns:a16="http://schemas.microsoft.com/office/drawing/2014/main" id="{73438F92-3E54-F248-B85E-6C7214C6DAB3}"/>
              </a:ext>
            </a:extLst>
          </p:cNvPr>
          <p:cNvSpPr/>
          <p:nvPr/>
        </p:nvSpPr>
        <p:spPr>
          <a:xfrm>
            <a:off x="965209" y="1635919"/>
            <a:ext cx="2794000" cy="2895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Example: layering of organization of air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ravel</a:t>
            </a:r>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91</a:t>
            </a:fld>
            <a:endParaRPr lang="en-US" dirty="0"/>
          </a:p>
        </p:txBody>
      </p:sp>
      <p:sp>
        <p:nvSpPr>
          <p:cNvPr id="9" name="Text Box 5">
            <a:extLst>
              <a:ext uri="{FF2B5EF4-FFF2-40B4-BE49-F238E27FC236}">
                <a16:creationId xmlns:a16="http://schemas.microsoft.com/office/drawing/2014/main" id="{36700FC8-9E28-1D45-9971-F07DEE935B73}"/>
              </a:ext>
            </a:extLst>
          </p:cNvPr>
          <p:cNvSpPr txBox="1">
            <a:spLocks noChangeArrowheads="1"/>
          </p:cNvSpPr>
          <p:nvPr/>
        </p:nvSpPr>
        <p:spPr bwMode="auto">
          <a:xfrm>
            <a:off x="1110119" y="1635919"/>
            <a:ext cx="2616935"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130000"/>
              </a:lnSpc>
            </a:pPr>
            <a:r>
              <a:rPr lang="en-US" altLang="en-US" sz="2800" dirty="0">
                <a:solidFill>
                  <a:schemeClr val="bg1"/>
                </a:solidFill>
                <a:latin typeface="+mn-lt"/>
              </a:rPr>
              <a:t>ticket (purchase)</a:t>
            </a:r>
          </a:p>
          <a:p>
            <a:pPr>
              <a:lnSpc>
                <a:spcPct val="130000"/>
              </a:lnSpc>
            </a:pPr>
            <a:r>
              <a:rPr lang="en-US" altLang="en-US" sz="2800" dirty="0">
                <a:solidFill>
                  <a:schemeClr val="bg1"/>
                </a:solidFill>
                <a:latin typeface="+mn-lt"/>
              </a:rPr>
              <a:t>baggage (check)</a:t>
            </a:r>
          </a:p>
          <a:p>
            <a:pPr>
              <a:lnSpc>
                <a:spcPct val="130000"/>
              </a:lnSpc>
            </a:pPr>
            <a:r>
              <a:rPr lang="en-US" altLang="en-US" sz="2800" dirty="0">
                <a:solidFill>
                  <a:schemeClr val="bg1"/>
                </a:solidFill>
                <a:latin typeface="+mn-lt"/>
              </a:rPr>
              <a:t>gates (load)</a:t>
            </a:r>
          </a:p>
          <a:p>
            <a:pPr>
              <a:lnSpc>
                <a:spcPct val="130000"/>
              </a:lnSpc>
            </a:pPr>
            <a:r>
              <a:rPr lang="en-US" altLang="en-US" sz="2800" dirty="0">
                <a:solidFill>
                  <a:schemeClr val="bg1"/>
                </a:solidFill>
                <a:latin typeface="+mn-lt"/>
              </a:rPr>
              <a:t>runway takeoff</a:t>
            </a:r>
          </a:p>
          <a:p>
            <a:pPr>
              <a:lnSpc>
                <a:spcPct val="130000"/>
              </a:lnSpc>
            </a:pPr>
            <a:r>
              <a:rPr lang="en-US" altLang="en-US" sz="2800" dirty="0">
                <a:solidFill>
                  <a:schemeClr val="bg1"/>
                </a:solidFill>
                <a:latin typeface="+mn-lt"/>
              </a:rPr>
              <a:t>airplane routing</a:t>
            </a:r>
            <a:endParaRPr lang="en-US" altLang="en-US" sz="2000" dirty="0">
              <a:solidFill>
                <a:schemeClr val="bg1"/>
              </a:solidFill>
              <a:latin typeface="+mn-lt"/>
            </a:endParaRPr>
          </a:p>
        </p:txBody>
      </p:sp>
      <p:sp>
        <p:nvSpPr>
          <p:cNvPr id="10" name="Text Box 6">
            <a:extLst>
              <a:ext uri="{FF2B5EF4-FFF2-40B4-BE49-F238E27FC236}">
                <a16:creationId xmlns:a16="http://schemas.microsoft.com/office/drawing/2014/main" id="{848D3D19-7497-FE45-B7B5-B81AA4212074}"/>
              </a:ext>
            </a:extLst>
          </p:cNvPr>
          <p:cNvSpPr txBox="1">
            <a:spLocks noChangeArrowheads="1"/>
          </p:cNvSpPr>
          <p:nvPr/>
        </p:nvSpPr>
        <p:spPr bwMode="auto">
          <a:xfrm>
            <a:off x="7623765" y="1642218"/>
            <a:ext cx="2625654"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130000"/>
              </a:lnSpc>
            </a:pPr>
            <a:r>
              <a:rPr lang="en-US" altLang="en-US" sz="2800" dirty="0">
                <a:solidFill>
                  <a:schemeClr val="bg1"/>
                </a:solidFill>
                <a:latin typeface="+mn-lt"/>
              </a:rPr>
              <a:t>ticket (complain)</a:t>
            </a:r>
          </a:p>
          <a:p>
            <a:pPr algn="r">
              <a:lnSpc>
                <a:spcPct val="130000"/>
              </a:lnSpc>
            </a:pPr>
            <a:r>
              <a:rPr lang="en-US" altLang="en-US" sz="2800" dirty="0">
                <a:solidFill>
                  <a:schemeClr val="bg1"/>
                </a:solidFill>
                <a:latin typeface="+mn-lt"/>
              </a:rPr>
              <a:t>baggage (claim)</a:t>
            </a:r>
          </a:p>
          <a:p>
            <a:pPr algn="r">
              <a:lnSpc>
                <a:spcPct val="130000"/>
              </a:lnSpc>
            </a:pPr>
            <a:r>
              <a:rPr lang="en-US" altLang="en-US" sz="2800" dirty="0">
                <a:solidFill>
                  <a:schemeClr val="bg1"/>
                </a:solidFill>
                <a:latin typeface="+mn-lt"/>
              </a:rPr>
              <a:t>gates (unload)</a:t>
            </a:r>
          </a:p>
          <a:p>
            <a:pPr algn="r">
              <a:lnSpc>
                <a:spcPct val="130000"/>
              </a:lnSpc>
            </a:pPr>
            <a:r>
              <a:rPr lang="en-US" altLang="en-US" sz="2800" dirty="0">
                <a:solidFill>
                  <a:schemeClr val="bg1"/>
                </a:solidFill>
                <a:latin typeface="+mn-lt"/>
              </a:rPr>
              <a:t>runway landing</a:t>
            </a:r>
          </a:p>
          <a:p>
            <a:pPr algn="r">
              <a:lnSpc>
                <a:spcPct val="130000"/>
              </a:lnSpc>
            </a:pPr>
            <a:r>
              <a:rPr lang="en-US" altLang="en-US" sz="2800" dirty="0">
                <a:solidFill>
                  <a:schemeClr val="bg1"/>
                </a:solidFill>
                <a:latin typeface="+mn-lt"/>
              </a:rPr>
              <a:t>airplane routing</a:t>
            </a:r>
          </a:p>
        </p:txBody>
      </p:sp>
      <p:cxnSp>
        <p:nvCxnSpPr>
          <p:cNvPr id="8" name="Straight Connector 7">
            <a:extLst>
              <a:ext uri="{FF2B5EF4-FFF2-40B4-BE49-F238E27FC236}">
                <a16:creationId xmlns:a16="http://schemas.microsoft.com/office/drawing/2014/main" id="{228FFC7C-C6FB-584F-8F6E-FFA01C23964A}"/>
              </a:ext>
            </a:extLst>
          </p:cNvPr>
          <p:cNvCxnSpPr>
            <a:cxnSpLocks/>
          </p:cNvCxnSpPr>
          <p:nvPr/>
        </p:nvCxnSpPr>
        <p:spPr>
          <a:xfrm>
            <a:off x="948276" y="2269066"/>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B8B1716-D4D2-3649-99C0-55319689F97F}"/>
              </a:ext>
            </a:extLst>
          </p:cNvPr>
          <p:cNvCxnSpPr>
            <a:cxnSpLocks/>
          </p:cNvCxnSpPr>
          <p:nvPr/>
        </p:nvCxnSpPr>
        <p:spPr>
          <a:xfrm>
            <a:off x="948276" y="2857294"/>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A253EA2-F916-EE42-B3CA-CA7A3F485F2C}"/>
              </a:ext>
            </a:extLst>
          </p:cNvPr>
          <p:cNvCxnSpPr>
            <a:cxnSpLocks/>
          </p:cNvCxnSpPr>
          <p:nvPr/>
        </p:nvCxnSpPr>
        <p:spPr>
          <a:xfrm>
            <a:off x="948276" y="3429000"/>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5EF4F97-2C46-FF44-9C8B-77221BDB15DC}"/>
              </a:ext>
            </a:extLst>
          </p:cNvPr>
          <p:cNvCxnSpPr>
            <a:cxnSpLocks/>
          </p:cNvCxnSpPr>
          <p:nvPr/>
        </p:nvCxnSpPr>
        <p:spPr>
          <a:xfrm>
            <a:off x="948276" y="3962729"/>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E1E38E25-A98C-CC40-BE63-1E70E5A1D89B}"/>
              </a:ext>
            </a:extLst>
          </p:cNvPr>
          <p:cNvSpPr/>
          <p:nvPr/>
        </p:nvSpPr>
        <p:spPr>
          <a:xfrm>
            <a:off x="4260623" y="3972251"/>
            <a:ext cx="2794000" cy="5687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 Box 7">
            <a:extLst>
              <a:ext uri="{FF2B5EF4-FFF2-40B4-BE49-F238E27FC236}">
                <a16:creationId xmlns:a16="http://schemas.microsoft.com/office/drawing/2014/main" id="{E16D6DCC-156C-2147-81DA-F433EE3A550B}"/>
              </a:ext>
            </a:extLst>
          </p:cNvPr>
          <p:cNvSpPr txBox="1">
            <a:spLocks noChangeArrowheads="1"/>
          </p:cNvSpPr>
          <p:nvPr/>
        </p:nvSpPr>
        <p:spPr bwMode="auto">
          <a:xfrm>
            <a:off x="4453486" y="4001058"/>
            <a:ext cx="2511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chemeClr val="bg1"/>
                </a:solidFill>
                <a:latin typeface="+mn-lt"/>
              </a:rPr>
              <a:t>airplane routing</a:t>
            </a:r>
          </a:p>
        </p:txBody>
      </p:sp>
      <p:grpSp>
        <p:nvGrpSpPr>
          <p:cNvPr id="60" name="Group 59">
            <a:extLst>
              <a:ext uri="{FF2B5EF4-FFF2-40B4-BE49-F238E27FC236}">
                <a16:creationId xmlns:a16="http://schemas.microsoft.com/office/drawing/2014/main" id="{8EEAE621-B95A-384F-A62F-7E5903AD8FBF}"/>
              </a:ext>
            </a:extLst>
          </p:cNvPr>
          <p:cNvGrpSpPr/>
          <p:nvPr/>
        </p:nvGrpSpPr>
        <p:grpSpPr>
          <a:xfrm>
            <a:off x="3948545" y="1699760"/>
            <a:ext cx="3522823" cy="2811596"/>
            <a:chOff x="3948545" y="1699760"/>
            <a:chExt cx="3522823" cy="2811596"/>
          </a:xfrm>
        </p:grpSpPr>
        <p:sp>
          <p:nvSpPr>
            <p:cNvPr id="42" name="TextBox 41">
              <a:extLst>
                <a:ext uri="{FF2B5EF4-FFF2-40B4-BE49-F238E27FC236}">
                  <a16:creationId xmlns:a16="http://schemas.microsoft.com/office/drawing/2014/main" id="{EB4A6AAF-FC59-FA44-ACE5-C72FA686C0C2}"/>
                </a:ext>
              </a:extLst>
            </p:cNvPr>
            <p:cNvSpPr txBox="1"/>
            <p:nvPr/>
          </p:nvSpPr>
          <p:spPr>
            <a:xfrm>
              <a:off x="4400060" y="1699760"/>
              <a:ext cx="2507418" cy="523220"/>
            </a:xfrm>
            <a:prstGeom prst="rect">
              <a:avLst/>
            </a:prstGeom>
            <a:noFill/>
          </p:spPr>
          <p:txBody>
            <a:bodyPr wrap="none" rtlCol="0">
              <a:spAutoFit/>
            </a:bodyPr>
            <a:lstStyle/>
            <a:p>
              <a:r>
                <a:rPr lang="en-US" sz="2800" i="1" dirty="0"/>
                <a:t>ticketing service</a:t>
              </a:r>
            </a:p>
          </p:txBody>
        </p:sp>
        <p:sp>
          <p:nvSpPr>
            <p:cNvPr id="43" name="TextBox 42">
              <a:extLst>
                <a:ext uri="{FF2B5EF4-FFF2-40B4-BE49-F238E27FC236}">
                  <a16:creationId xmlns:a16="http://schemas.microsoft.com/office/drawing/2014/main" id="{E3B20036-2BB5-4241-87A9-6D4052E720AA}"/>
                </a:ext>
              </a:extLst>
            </p:cNvPr>
            <p:cNvSpPr txBox="1"/>
            <p:nvPr/>
          </p:nvSpPr>
          <p:spPr>
            <a:xfrm>
              <a:off x="4384331" y="2292643"/>
              <a:ext cx="2542106" cy="523220"/>
            </a:xfrm>
            <a:prstGeom prst="rect">
              <a:avLst/>
            </a:prstGeom>
            <a:noFill/>
          </p:spPr>
          <p:txBody>
            <a:bodyPr wrap="none" rtlCol="0">
              <a:spAutoFit/>
            </a:bodyPr>
            <a:lstStyle/>
            <a:p>
              <a:r>
                <a:rPr lang="en-US" sz="2800" i="1" dirty="0"/>
                <a:t>baggage service</a:t>
              </a:r>
            </a:p>
          </p:txBody>
        </p:sp>
        <p:sp>
          <p:nvSpPr>
            <p:cNvPr id="44" name="TextBox 43">
              <a:extLst>
                <a:ext uri="{FF2B5EF4-FFF2-40B4-BE49-F238E27FC236}">
                  <a16:creationId xmlns:a16="http://schemas.microsoft.com/office/drawing/2014/main" id="{7314652E-AC11-9744-91B6-642D2DAB1815}"/>
                </a:ext>
              </a:extLst>
            </p:cNvPr>
            <p:cNvSpPr txBox="1"/>
            <p:nvPr/>
          </p:nvSpPr>
          <p:spPr>
            <a:xfrm>
              <a:off x="4686266" y="2872078"/>
              <a:ext cx="1921103" cy="523220"/>
            </a:xfrm>
            <a:prstGeom prst="rect">
              <a:avLst/>
            </a:prstGeom>
            <a:noFill/>
          </p:spPr>
          <p:txBody>
            <a:bodyPr wrap="none" rtlCol="0">
              <a:spAutoFit/>
            </a:bodyPr>
            <a:lstStyle/>
            <a:p>
              <a:r>
                <a:rPr lang="en-US" sz="2800" i="1" dirty="0"/>
                <a:t>gate service</a:t>
              </a:r>
            </a:p>
          </p:txBody>
        </p:sp>
        <p:sp>
          <p:nvSpPr>
            <p:cNvPr id="45" name="TextBox 44">
              <a:extLst>
                <a:ext uri="{FF2B5EF4-FFF2-40B4-BE49-F238E27FC236}">
                  <a16:creationId xmlns:a16="http://schemas.microsoft.com/office/drawing/2014/main" id="{64AEF81B-DB1C-5E49-A5CE-1930E0CD97F9}"/>
                </a:ext>
              </a:extLst>
            </p:cNvPr>
            <p:cNvSpPr txBox="1"/>
            <p:nvPr/>
          </p:nvSpPr>
          <p:spPr>
            <a:xfrm>
              <a:off x="4485939" y="3451513"/>
              <a:ext cx="2354234" cy="523220"/>
            </a:xfrm>
            <a:prstGeom prst="rect">
              <a:avLst/>
            </a:prstGeom>
            <a:noFill/>
          </p:spPr>
          <p:txBody>
            <a:bodyPr wrap="none" rtlCol="0">
              <a:spAutoFit/>
            </a:bodyPr>
            <a:lstStyle/>
            <a:p>
              <a:r>
                <a:rPr lang="en-US" sz="2800" i="1" dirty="0"/>
                <a:t>runway service</a:t>
              </a:r>
            </a:p>
          </p:txBody>
        </p:sp>
        <p:grpSp>
          <p:nvGrpSpPr>
            <p:cNvPr id="59" name="Group 58">
              <a:extLst>
                <a:ext uri="{FF2B5EF4-FFF2-40B4-BE49-F238E27FC236}">
                  <a16:creationId xmlns:a16="http://schemas.microsoft.com/office/drawing/2014/main" id="{71D67CFB-C1C3-034A-88B0-DF85F0C59330}"/>
                </a:ext>
              </a:extLst>
            </p:cNvPr>
            <p:cNvGrpSpPr/>
            <p:nvPr/>
          </p:nvGrpSpPr>
          <p:grpSpPr>
            <a:xfrm>
              <a:off x="3948545" y="3988136"/>
              <a:ext cx="3522823" cy="523220"/>
              <a:chOff x="3976681" y="3974068"/>
              <a:chExt cx="3522823" cy="523220"/>
            </a:xfrm>
          </p:grpSpPr>
          <p:sp>
            <p:nvSpPr>
              <p:cNvPr id="51" name="Rectangle 50">
                <a:extLst>
                  <a:ext uri="{FF2B5EF4-FFF2-40B4-BE49-F238E27FC236}">
                    <a16:creationId xmlns:a16="http://schemas.microsoft.com/office/drawing/2014/main" id="{2FCD8885-2FFE-5644-B703-7DA1C8AD8286}"/>
                  </a:ext>
                </a:extLst>
              </p:cNvPr>
              <p:cNvSpPr/>
              <p:nvPr/>
            </p:nvSpPr>
            <p:spPr>
              <a:xfrm>
                <a:off x="3976681" y="4046279"/>
                <a:ext cx="3522823" cy="402622"/>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extBox 57">
                <a:extLst>
                  <a:ext uri="{FF2B5EF4-FFF2-40B4-BE49-F238E27FC236}">
                    <a16:creationId xmlns:a16="http://schemas.microsoft.com/office/drawing/2014/main" id="{56025D16-29A9-4843-944E-D0F547FAEFB7}"/>
                  </a:ext>
                </a:extLst>
              </p:cNvPr>
              <p:cNvSpPr txBox="1"/>
              <p:nvPr/>
            </p:nvSpPr>
            <p:spPr>
              <a:xfrm>
                <a:off x="4506558" y="3974068"/>
                <a:ext cx="2327304" cy="523220"/>
              </a:xfrm>
              <a:prstGeom prst="rect">
                <a:avLst/>
              </a:prstGeom>
              <a:noFill/>
            </p:spPr>
            <p:txBody>
              <a:bodyPr wrap="none" rtlCol="0">
                <a:spAutoFit/>
              </a:bodyPr>
              <a:lstStyle/>
              <a:p>
                <a:r>
                  <a:rPr lang="en-US" sz="2800" i="1" dirty="0"/>
                  <a:t>routing service</a:t>
                </a:r>
              </a:p>
            </p:txBody>
          </p:sp>
        </p:grpSp>
      </p:grpSp>
      <p:sp>
        <p:nvSpPr>
          <p:cNvPr id="61" name="Rectangle 40">
            <a:extLst>
              <a:ext uri="{FF2B5EF4-FFF2-40B4-BE49-F238E27FC236}">
                <a16:creationId xmlns:a16="http://schemas.microsoft.com/office/drawing/2014/main" id="{8CA0C9F3-42E1-954A-929E-FDF9EBC1EB0B}"/>
              </a:ext>
            </a:extLst>
          </p:cNvPr>
          <p:cNvSpPr txBox="1">
            <a:spLocks noChangeArrowheads="1"/>
          </p:cNvSpPr>
          <p:nvPr/>
        </p:nvSpPr>
        <p:spPr>
          <a:xfrm>
            <a:off x="932853" y="5321523"/>
            <a:ext cx="7613650" cy="1763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ea typeface="ＭＳ Ｐゴシック" panose="020B0600070205080204" pitchFamily="34" charset="-128"/>
              </a:rPr>
              <a:t>layers:</a:t>
            </a:r>
            <a:r>
              <a:rPr lang="en-US" altLang="en-US" sz="3200" dirty="0">
                <a:solidFill>
                  <a:srgbClr val="FF0000"/>
                </a:solidFill>
                <a:ea typeface="ＭＳ Ｐゴシック" panose="020B0600070205080204" pitchFamily="34" charset="-128"/>
              </a:rPr>
              <a:t> </a:t>
            </a:r>
            <a:r>
              <a:rPr lang="en-US" altLang="en-US" sz="3200" dirty="0">
                <a:ea typeface="ＭＳ Ｐゴシック" panose="020B0600070205080204" pitchFamily="34" charset="-128"/>
              </a:rPr>
              <a:t>each layer implements a service</a:t>
            </a:r>
          </a:p>
          <a:p>
            <a:pPr lvl="1">
              <a:buFont typeface="Wingdings" pitchFamily="2" charset="2"/>
              <a:buChar char="§"/>
            </a:pPr>
            <a:r>
              <a:rPr lang="en-US" altLang="en-US" sz="2800" dirty="0">
                <a:ea typeface="Arial" panose="020B0604020202020204" pitchFamily="34" charset="0"/>
              </a:rPr>
              <a:t>via its own internal-layer actions</a:t>
            </a:r>
          </a:p>
          <a:p>
            <a:pPr lvl="1">
              <a:buFont typeface="Wingdings" pitchFamily="2" charset="2"/>
              <a:buChar char="§"/>
            </a:pPr>
            <a:r>
              <a:rPr lang="en-US" altLang="en-US" sz="2800" dirty="0">
                <a:ea typeface="Arial" panose="020B0604020202020204" pitchFamily="34" charset="0"/>
              </a:rPr>
              <a:t>relying on services provided by layer below</a:t>
            </a:r>
          </a:p>
          <a:p>
            <a:pPr>
              <a:buFont typeface="Wingdings" pitchFamily="2" charset="2"/>
              <a:buNone/>
            </a:pPr>
            <a:endParaRPr lang="en-US" altLang="en-US" dirty="0">
              <a:ea typeface="ＭＳ Ｐゴシック" panose="020B0600070205080204" pitchFamily="34" charset="-128"/>
            </a:endParaRPr>
          </a:p>
        </p:txBody>
      </p:sp>
      <p:sp>
        <p:nvSpPr>
          <p:cNvPr id="3" name="Text Box 8">
            <a:extLst>
              <a:ext uri="{FF2B5EF4-FFF2-40B4-BE49-F238E27FC236}">
                <a16:creationId xmlns:a16="http://schemas.microsoft.com/office/drawing/2014/main" id="{D2A790C2-8B93-6984-6BA9-C3B5DAABFECC}"/>
              </a:ext>
            </a:extLst>
          </p:cNvPr>
          <p:cNvSpPr txBox="1">
            <a:spLocks noChangeArrowheads="1"/>
          </p:cNvSpPr>
          <p:nvPr/>
        </p:nvSpPr>
        <p:spPr bwMode="auto">
          <a:xfrm>
            <a:off x="1703853" y="4679029"/>
            <a:ext cx="10631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600" dirty="0">
                <a:latin typeface="Arial" panose="020B0604020202020204" pitchFamily="34" charset="0"/>
              </a:rPr>
              <a:t>departure</a:t>
            </a:r>
          </a:p>
          <a:p>
            <a:pPr algn="ctr" eaLnBrk="1" hangingPunct="1">
              <a:lnSpc>
                <a:spcPct val="100000"/>
              </a:lnSpc>
              <a:spcBef>
                <a:spcPct val="0"/>
              </a:spcBef>
              <a:buClrTx/>
              <a:buSzTx/>
              <a:buFontTx/>
              <a:buNone/>
            </a:pPr>
            <a:r>
              <a:rPr lang="en-US" altLang="en-US" sz="1600" dirty="0">
                <a:latin typeface="Arial" panose="020B0604020202020204" pitchFamily="34" charset="0"/>
              </a:rPr>
              <a:t>airport</a:t>
            </a:r>
          </a:p>
        </p:txBody>
      </p:sp>
      <p:sp>
        <p:nvSpPr>
          <p:cNvPr id="5" name="Text Box 10">
            <a:extLst>
              <a:ext uri="{FF2B5EF4-FFF2-40B4-BE49-F238E27FC236}">
                <a16:creationId xmlns:a16="http://schemas.microsoft.com/office/drawing/2014/main" id="{AC7E9767-D002-12F9-6EE0-44086875C34C}"/>
              </a:ext>
            </a:extLst>
          </p:cNvPr>
          <p:cNvSpPr txBox="1">
            <a:spLocks noChangeArrowheads="1"/>
          </p:cNvSpPr>
          <p:nvPr/>
        </p:nvSpPr>
        <p:spPr bwMode="auto">
          <a:xfrm>
            <a:off x="4625584" y="4680580"/>
            <a:ext cx="216706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600" dirty="0">
                <a:latin typeface="Arial" panose="020B0604020202020204" pitchFamily="34" charset="0"/>
              </a:rPr>
              <a:t>intermediate air-traffic</a:t>
            </a:r>
          </a:p>
          <a:p>
            <a:pPr algn="ctr" eaLnBrk="1" hangingPunct="1">
              <a:lnSpc>
                <a:spcPct val="100000"/>
              </a:lnSpc>
              <a:spcBef>
                <a:spcPct val="0"/>
              </a:spcBef>
              <a:buClrTx/>
              <a:buSzTx/>
              <a:buFontTx/>
              <a:buNone/>
            </a:pPr>
            <a:r>
              <a:rPr lang="en-US" altLang="en-US" sz="1600" dirty="0">
                <a:latin typeface="Arial" panose="020B0604020202020204" pitchFamily="34" charset="0"/>
              </a:rPr>
              <a:t>control centers</a:t>
            </a:r>
          </a:p>
        </p:txBody>
      </p:sp>
      <p:sp>
        <p:nvSpPr>
          <p:cNvPr id="7" name="Text Box 9">
            <a:extLst>
              <a:ext uri="{FF2B5EF4-FFF2-40B4-BE49-F238E27FC236}">
                <a16:creationId xmlns:a16="http://schemas.microsoft.com/office/drawing/2014/main" id="{1654B4FF-2181-02B4-7B5D-4E57584D3F1E}"/>
              </a:ext>
            </a:extLst>
          </p:cNvPr>
          <p:cNvSpPr txBox="1">
            <a:spLocks noChangeArrowheads="1"/>
          </p:cNvSpPr>
          <p:nvPr/>
        </p:nvSpPr>
        <p:spPr bwMode="auto">
          <a:xfrm>
            <a:off x="8690010" y="4688060"/>
            <a:ext cx="76655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r>
              <a:rPr lang="en-US" altLang="en-US" sz="1600" dirty="0">
                <a:latin typeface="Arial" panose="020B0604020202020204" pitchFamily="34" charset="0"/>
              </a:rPr>
              <a:t>arrival</a:t>
            </a:r>
          </a:p>
          <a:p>
            <a:pPr algn="ctr" eaLnBrk="1" hangingPunct="1">
              <a:lnSpc>
                <a:spcPct val="100000"/>
              </a:lnSpc>
              <a:spcBef>
                <a:spcPct val="0"/>
              </a:spcBef>
              <a:buClrTx/>
              <a:buSzTx/>
              <a:buFontTx/>
              <a:buNone/>
            </a:pPr>
            <a:r>
              <a:rPr lang="en-US" altLang="en-US" sz="1600" dirty="0">
                <a:latin typeface="Arial" panose="020B0604020202020204" pitchFamily="34" charset="0"/>
              </a:rPr>
              <a:t>airport</a:t>
            </a:r>
          </a:p>
        </p:txBody>
      </p:sp>
      <p:grpSp>
        <p:nvGrpSpPr>
          <p:cNvPr id="13" name="Group 12">
            <a:extLst>
              <a:ext uri="{FF2B5EF4-FFF2-40B4-BE49-F238E27FC236}">
                <a16:creationId xmlns:a16="http://schemas.microsoft.com/office/drawing/2014/main" id="{B20783D6-987F-A0A6-C5A2-4A74395942E7}"/>
              </a:ext>
            </a:extLst>
          </p:cNvPr>
          <p:cNvGrpSpPr/>
          <p:nvPr/>
        </p:nvGrpSpPr>
        <p:grpSpPr>
          <a:xfrm>
            <a:off x="4732420" y="1004040"/>
            <a:ext cx="1528763" cy="620713"/>
            <a:chOff x="-1042195" y="4302698"/>
            <a:chExt cx="1528763" cy="620713"/>
          </a:xfrm>
        </p:grpSpPr>
        <p:pic>
          <p:nvPicPr>
            <p:cNvPr id="14" name="Picture 11" descr="yylgaifm[1]">
              <a:extLst>
                <a:ext uri="{FF2B5EF4-FFF2-40B4-BE49-F238E27FC236}">
                  <a16:creationId xmlns:a16="http://schemas.microsoft.com/office/drawing/2014/main" id="{8735E53B-9D66-A539-C3E5-B2174C1F1B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042195" y="4463036"/>
              <a:ext cx="152876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Line 12">
              <a:extLst>
                <a:ext uri="{FF2B5EF4-FFF2-40B4-BE49-F238E27FC236}">
                  <a16:creationId xmlns:a16="http://schemas.microsoft.com/office/drawing/2014/main" id="{4B884DD4-9ADB-88BB-D7AF-BB30F56CCFAF}"/>
                </a:ext>
              </a:extLst>
            </p:cNvPr>
            <p:cNvSpPr>
              <a:spLocks noChangeShapeType="1"/>
            </p:cNvSpPr>
            <p:nvPr/>
          </p:nvSpPr>
          <p:spPr bwMode="auto">
            <a:xfrm>
              <a:off x="-561182" y="43026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 name="Line 13">
              <a:extLst>
                <a:ext uri="{FF2B5EF4-FFF2-40B4-BE49-F238E27FC236}">
                  <a16:creationId xmlns:a16="http://schemas.microsoft.com/office/drawing/2014/main" id="{5521FC14-BE14-EAB3-1312-13A67BF03B6B}"/>
                </a:ext>
              </a:extLst>
            </p:cNvPr>
            <p:cNvSpPr>
              <a:spLocks noChangeShapeType="1"/>
            </p:cNvSpPr>
            <p:nvPr/>
          </p:nvSpPr>
          <p:spPr bwMode="auto">
            <a:xfrm>
              <a:off x="-408782" y="44550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 name="Line 14">
              <a:extLst>
                <a:ext uri="{FF2B5EF4-FFF2-40B4-BE49-F238E27FC236}">
                  <a16:creationId xmlns:a16="http://schemas.microsoft.com/office/drawing/2014/main" id="{2D6915AE-F866-FAE0-9F14-0CF7FA5287E9}"/>
                </a:ext>
              </a:extLst>
            </p:cNvPr>
            <p:cNvSpPr>
              <a:spLocks noChangeShapeType="1"/>
            </p:cNvSpPr>
            <p:nvPr/>
          </p:nvSpPr>
          <p:spPr bwMode="auto">
            <a:xfrm>
              <a:off x="-256382" y="46074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Tree>
    <p:extLst>
      <p:ext uri="{BB962C8B-B14F-4D97-AF65-F5344CB8AC3E}">
        <p14:creationId xmlns:p14="http://schemas.microsoft.com/office/powerpoint/2010/main" val="1199541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Why layering?</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92</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825267" y="1353477"/>
            <a:ext cx="10738481" cy="492270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600" dirty="0">
                <a:ea typeface="ＭＳ Ｐゴシック" panose="020B0600070205080204" pitchFamily="34" charset="-128"/>
              </a:rPr>
              <a:t>dealing with complex systems:</a:t>
            </a:r>
          </a:p>
          <a:p>
            <a:pPr marL="473075" indent="-355600"/>
            <a:r>
              <a:rPr lang="en-US" altLang="en-US" sz="3200" dirty="0">
                <a:ea typeface="ＭＳ Ｐゴシック" panose="020B0600070205080204" pitchFamily="34" charset="-128"/>
              </a:rPr>
              <a:t>explicit structure allows identification, relationship of complex system’</a:t>
            </a:r>
            <a:r>
              <a:rPr lang="en-US" altLang="ja-JP" sz="3200" dirty="0">
                <a:ea typeface="ＭＳ Ｐゴシック" panose="020B0600070205080204" pitchFamily="34" charset="-128"/>
              </a:rPr>
              <a:t>s pieces</a:t>
            </a:r>
          </a:p>
          <a:p>
            <a:pPr marL="863600" lvl="1" indent="-288925"/>
            <a:r>
              <a:rPr lang="en-US" altLang="en-US" sz="2800" dirty="0">
                <a:ea typeface="Arial" panose="020B0604020202020204" pitchFamily="34" charset="0"/>
              </a:rPr>
              <a:t>layered </a:t>
            </a:r>
            <a:r>
              <a:rPr lang="en-US" altLang="en-US" sz="2800" i="1" dirty="0">
                <a:solidFill>
                  <a:srgbClr val="CC0000"/>
                </a:solidFill>
                <a:ea typeface="Arial" panose="020B0604020202020204" pitchFamily="34" charset="0"/>
              </a:rPr>
              <a:t>reference model</a:t>
            </a:r>
            <a:r>
              <a:rPr lang="en-US" altLang="en-US" sz="2800" dirty="0">
                <a:ea typeface="Arial" panose="020B0604020202020204" pitchFamily="34" charset="0"/>
              </a:rPr>
              <a:t> for discussion</a:t>
            </a:r>
          </a:p>
          <a:p>
            <a:pPr marL="473075" indent="-355600"/>
            <a:r>
              <a:rPr lang="en-US" altLang="en-US" sz="3200" dirty="0">
                <a:ea typeface="ＭＳ Ｐゴシック" panose="020B0600070205080204" pitchFamily="34" charset="-128"/>
              </a:rPr>
              <a:t>modularization eases maintenance, updating of system</a:t>
            </a:r>
          </a:p>
          <a:p>
            <a:pPr marL="863600" lvl="1" indent="-288925"/>
            <a:r>
              <a:rPr lang="en-US" altLang="en-US" sz="2800" dirty="0">
                <a:ea typeface="Arial" panose="020B0604020202020204" pitchFamily="34" charset="0"/>
              </a:rPr>
              <a:t>change in layer</a:t>
            </a:r>
            <a:r>
              <a:rPr lang="en-US" altLang="en-US" sz="2800" dirty="0">
                <a:ea typeface="ＭＳ Ｐゴシック" panose="020B0600070205080204" pitchFamily="34" charset="-128"/>
              </a:rPr>
              <a:t>'</a:t>
            </a:r>
            <a:r>
              <a:rPr lang="en-US" altLang="ja-JP" sz="2800" dirty="0">
                <a:ea typeface="ＭＳ Ｐゴシック" panose="020B0600070205080204" pitchFamily="34" charset="-128"/>
              </a:rPr>
              <a:t>s service </a:t>
            </a:r>
            <a:r>
              <a:rPr lang="en-US" altLang="ja-JP" sz="2800" i="1" dirty="0">
                <a:ea typeface="ＭＳ Ｐゴシック" panose="020B0600070205080204" pitchFamily="34" charset="-128"/>
              </a:rPr>
              <a:t>implementation</a:t>
            </a:r>
            <a:r>
              <a:rPr lang="en-US" altLang="ja-JP" sz="2800" dirty="0">
                <a:ea typeface="ＭＳ Ｐゴシック" panose="020B0600070205080204" pitchFamily="34" charset="-128"/>
              </a:rPr>
              <a:t>: transparent to rest of system</a:t>
            </a:r>
          </a:p>
          <a:p>
            <a:pPr marL="863600" lvl="1" indent="-288925"/>
            <a:r>
              <a:rPr lang="en-US" altLang="en-US" sz="2800" dirty="0">
                <a:ea typeface="Arial" panose="020B0604020202020204" pitchFamily="34" charset="0"/>
              </a:rPr>
              <a:t>e.g., change in gate procedure doesn</a:t>
            </a:r>
            <a:r>
              <a:rPr lang="en-US" altLang="en-US" sz="2800" dirty="0">
                <a:ea typeface="ＭＳ Ｐゴシック" panose="020B0600070205080204" pitchFamily="34" charset="-128"/>
              </a:rPr>
              <a:t>’</a:t>
            </a:r>
            <a:r>
              <a:rPr lang="en-US" altLang="ja-JP" sz="2800" dirty="0">
                <a:ea typeface="ＭＳ Ｐゴシック" panose="020B0600070205080204" pitchFamily="34" charset="-128"/>
              </a:rPr>
              <a:t>t affect rest of system</a:t>
            </a:r>
          </a:p>
          <a:p>
            <a:pPr marL="473075" indent="-355600"/>
            <a:r>
              <a:rPr lang="en-US" altLang="en-US" sz="3200" dirty="0">
                <a:ea typeface="ＭＳ Ｐゴシック" panose="020B0600070205080204" pitchFamily="34" charset="-128"/>
              </a:rPr>
              <a:t>layering considered harmful?</a:t>
            </a:r>
          </a:p>
          <a:p>
            <a:pPr marL="473075" indent="-355600"/>
            <a:r>
              <a:rPr lang="en-US" altLang="en-US" sz="3200" dirty="0">
                <a:ea typeface="ＭＳ Ｐゴシック" panose="020B0600070205080204" pitchFamily="34" charset="-128"/>
              </a:rPr>
              <a:t>layering in other complex systems?</a:t>
            </a:r>
          </a:p>
        </p:txBody>
      </p:sp>
    </p:spTree>
    <p:extLst>
      <p:ext uri="{BB962C8B-B14F-4D97-AF65-F5344CB8AC3E}">
        <p14:creationId xmlns:p14="http://schemas.microsoft.com/office/powerpoint/2010/main" val="305930810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168963"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C63A5781-8FC4-454F-8EE0-ACCE0C8F536C}" type="slidenum">
              <a:rPr lang="en-US" altLang="en-US" sz="1200">
                <a:latin typeface="Tahoma" panose="020B0604030504040204" pitchFamily="34" charset="0"/>
              </a:rPr>
              <a:pPr>
                <a:lnSpc>
                  <a:spcPct val="100000"/>
                </a:lnSpc>
                <a:spcBef>
                  <a:spcPct val="0"/>
                </a:spcBef>
                <a:buClrTx/>
                <a:buSzTx/>
                <a:buFontTx/>
                <a:buNone/>
              </a:pPr>
              <a:t>93</a:t>
            </a:fld>
            <a:endParaRPr lang="en-US" altLang="en-US" sz="1200">
              <a:latin typeface="Tahoma" panose="020B0604030504040204" pitchFamily="34" charset="0"/>
            </a:endParaRPr>
          </a:p>
        </p:txBody>
      </p:sp>
      <p:sp>
        <p:nvSpPr>
          <p:cNvPr id="5" name="Rectangle 3"/>
          <p:cNvSpPr txBox="1">
            <a:spLocks noChangeArrowheads="1"/>
          </p:cNvSpPr>
          <p:nvPr/>
        </p:nvSpPr>
        <p:spPr bwMode="auto">
          <a:xfrm>
            <a:off x="1924050" y="85725"/>
            <a:ext cx="6503988" cy="1143000"/>
          </a:xfrm>
          <a:prstGeom prst="rect">
            <a:avLst/>
          </a:prstGeom>
          <a:noFill/>
          <a:ln>
            <a:noFill/>
          </a:ln>
        </p:spPr>
        <p:txBody>
          <a:bodyPr anchor="ct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eaLnBrk="1" hangingPunct="1">
              <a:defRPr/>
            </a:pPr>
            <a:r>
              <a:rPr lang="en-US" kern="0">
                <a:ea typeface="ＭＳ Ｐゴシック" pitchFamily="34" charset="-128"/>
              </a:rPr>
              <a:t>ISO/OSI reference model</a:t>
            </a:r>
            <a:endParaRPr lang="en-US" kern="0" dirty="0">
              <a:ea typeface="ＭＳ Ｐゴシック" pitchFamily="34" charset="-128"/>
            </a:endParaRPr>
          </a:p>
        </p:txBody>
      </p:sp>
      <p:pic>
        <p:nvPicPr>
          <p:cNvPr id="168965" name="Picture 18"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4538" y="895350"/>
            <a:ext cx="59880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966" name="Rectangle 3"/>
          <p:cNvSpPr>
            <a:spLocks noChangeArrowheads="1"/>
          </p:cNvSpPr>
          <p:nvPr/>
        </p:nvSpPr>
        <p:spPr bwMode="auto">
          <a:xfrm>
            <a:off x="1677988" y="1257301"/>
            <a:ext cx="87757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b="1" i="1">
                <a:latin typeface="Arial" panose="020B0604020202020204" pitchFamily="34" charset="0"/>
              </a:rPr>
              <a:t>O</a:t>
            </a:r>
            <a:r>
              <a:rPr lang="en-US" altLang="en-US" sz="2000" i="1">
                <a:latin typeface="Arial" panose="020B0604020202020204" pitchFamily="34" charset="0"/>
              </a:rPr>
              <a:t>pen </a:t>
            </a:r>
            <a:r>
              <a:rPr lang="en-US" altLang="en-US" sz="2000" b="1" i="1">
                <a:latin typeface="Arial" panose="020B0604020202020204" pitchFamily="34" charset="0"/>
              </a:rPr>
              <a:t>S</a:t>
            </a:r>
            <a:r>
              <a:rPr lang="en-US" altLang="en-US" sz="2000" i="1">
                <a:latin typeface="Arial" panose="020B0604020202020204" pitchFamily="34" charset="0"/>
              </a:rPr>
              <a:t>ystem </a:t>
            </a:r>
            <a:r>
              <a:rPr lang="en-US" altLang="en-US" sz="2000" b="1" i="1">
                <a:latin typeface="Arial" panose="020B0604020202020204" pitchFamily="34" charset="0"/>
              </a:rPr>
              <a:t>I</a:t>
            </a:r>
            <a:r>
              <a:rPr lang="en-US" altLang="en-US" sz="2000" i="1">
                <a:latin typeface="Arial" panose="020B0604020202020204" pitchFamily="34" charset="0"/>
              </a:rPr>
              <a:t>nterconnection (OSI)</a:t>
            </a:r>
            <a:r>
              <a:rPr lang="en-US" altLang="en-US" sz="2000">
                <a:latin typeface="Arial" panose="020B0604020202020204" pitchFamily="34" charset="0"/>
              </a:rPr>
              <a:t> model defines a </a:t>
            </a:r>
            <a:r>
              <a:rPr lang="en-US" altLang="en-US" sz="2000" b="1">
                <a:latin typeface="Arial" panose="020B0604020202020204" pitchFamily="34" charset="0"/>
              </a:rPr>
              <a:t>generic</a:t>
            </a:r>
            <a:r>
              <a:rPr lang="en-US" altLang="en-US" sz="2000">
                <a:latin typeface="Arial" panose="020B0604020202020204" pitchFamily="34" charset="0"/>
              </a:rPr>
              <a:t> networking framework to implement protocols in seven (7) layers</a:t>
            </a:r>
            <a:endParaRPr lang="ms-MY" altLang="en-US" sz="2000">
              <a:latin typeface="Arial" panose="020B0604020202020204" pitchFamily="34" charset="0"/>
            </a:endParaRPr>
          </a:p>
        </p:txBody>
      </p:sp>
      <p:graphicFrame>
        <p:nvGraphicFramePr>
          <p:cNvPr id="9" name="Content Placeholder 3"/>
          <p:cNvGraphicFramePr>
            <a:graphicFrameLocks/>
          </p:cNvGraphicFramePr>
          <p:nvPr/>
        </p:nvGraphicFramePr>
        <p:xfrm>
          <a:off x="1728788" y="2074864"/>
          <a:ext cx="8710612" cy="4200575"/>
        </p:xfrm>
        <a:graphic>
          <a:graphicData uri="http://schemas.openxmlformats.org/drawingml/2006/table">
            <a:tbl>
              <a:tblPr/>
              <a:tblGrid>
                <a:gridCol w="682444">
                  <a:extLst>
                    <a:ext uri="{9D8B030D-6E8A-4147-A177-3AD203B41FA5}">
                      <a16:colId xmlns:a16="http://schemas.microsoft.com/office/drawing/2014/main" val="20000"/>
                    </a:ext>
                  </a:extLst>
                </a:gridCol>
                <a:gridCol w="1526621">
                  <a:extLst>
                    <a:ext uri="{9D8B030D-6E8A-4147-A177-3AD203B41FA5}">
                      <a16:colId xmlns:a16="http://schemas.microsoft.com/office/drawing/2014/main" val="20001"/>
                    </a:ext>
                  </a:extLst>
                </a:gridCol>
                <a:gridCol w="1328272">
                  <a:extLst>
                    <a:ext uri="{9D8B030D-6E8A-4147-A177-3AD203B41FA5}">
                      <a16:colId xmlns:a16="http://schemas.microsoft.com/office/drawing/2014/main" val="20002"/>
                    </a:ext>
                  </a:extLst>
                </a:gridCol>
                <a:gridCol w="5173275">
                  <a:extLst>
                    <a:ext uri="{9D8B030D-6E8A-4147-A177-3AD203B41FA5}">
                      <a16:colId xmlns:a16="http://schemas.microsoft.com/office/drawing/2014/main" val="20003"/>
                    </a:ext>
                  </a:extLst>
                </a:gridCol>
              </a:tblGrid>
              <a:tr h="551489">
                <a:tc gridSpan="4">
                  <a:txBody>
                    <a:bodyPr/>
                    <a:lstStyle/>
                    <a:p>
                      <a:r>
                        <a:rPr lang="ms-MY" sz="1600" dirty="0"/>
                        <a:t>Generic OSI Model</a:t>
                      </a:r>
                    </a:p>
                  </a:txBody>
                  <a:tcPr marL="31433" marR="31433" marT="15710" marB="15710" anchor="ctr">
                    <a:lnL>
                      <a:noFill/>
                    </a:lnL>
                    <a:lnR>
                      <a:noFill/>
                    </a:lnR>
                    <a:lnT>
                      <a:noFill/>
                    </a:lnT>
                    <a:lnB>
                      <a:noFill/>
                    </a:lnB>
                  </a:tcPr>
                </a:tc>
                <a:tc hMerge="1">
                  <a:txBody>
                    <a:bodyPr/>
                    <a:lstStyle/>
                    <a:p>
                      <a:endParaRPr lang="ms-MY"/>
                    </a:p>
                  </a:txBody>
                  <a:tcPr/>
                </a:tc>
                <a:tc hMerge="1">
                  <a:txBody>
                    <a:bodyPr/>
                    <a:lstStyle/>
                    <a:p>
                      <a:endParaRPr lang="ms-MY"/>
                    </a:p>
                  </a:txBody>
                  <a:tcPr/>
                </a:tc>
                <a:tc hMerge="1">
                  <a:txBody>
                    <a:bodyPr/>
                    <a:lstStyle/>
                    <a:p>
                      <a:endParaRPr lang="ms-MY"/>
                    </a:p>
                  </a:txBody>
                  <a:tcPr/>
                </a:tc>
                <a:extLst>
                  <a:ext uri="{0D108BD9-81ED-4DB2-BD59-A6C34878D82A}">
                    <a16:rowId xmlns:a16="http://schemas.microsoft.com/office/drawing/2014/main" val="10000"/>
                  </a:ext>
                </a:extLst>
              </a:tr>
              <a:tr h="275255">
                <a:tc>
                  <a:txBody>
                    <a:bodyPr/>
                    <a:lstStyle/>
                    <a:p>
                      <a:endParaRPr lang="ms-MY" sz="1600" dirty="0"/>
                    </a:p>
                  </a:txBody>
                  <a:tcPr marL="31433" marR="31433" marT="15710" marB="15710" anchor="ctr">
                    <a:lnL>
                      <a:noFill/>
                    </a:lnL>
                    <a:lnR>
                      <a:noFill/>
                    </a:lnR>
                    <a:lnT>
                      <a:noFill/>
                    </a:lnT>
                    <a:lnB>
                      <a:noFill/>
                    </a:lnB>
                  </a:tcPr>
                </a:tc>
                <a:tc>
                  <a:txBody>
                    <a:bodyPr/>
                    <a:lstStyle/>
                    <a:p>
                      <a:r>
                        <a:rPr lang="ms-MY" sz="1600"/>
                        <a:t>Data unit</a:t>
                      </a:r>
                    </a:p>
                  </a:txBody>
                  <a:tcPr marL="31433" marR="31433" marT="15710" marB="15710" anchor="ctr">
                    <a:lnL>
                      <a:noFill/>
                    </a:lnL>
                    <a:lnR>
                      <a:noFill/>
                    </a:lnR>
                    <a:lnT>
                      <a:noFill/>
                    </a:lnT>
                    <a:lnB>
                      <a:noFill/>
                    </a:lnB>
                  </a:tcPr>
                </a:tc>
                <a:tc>
                  <a:txBody>
                    <a:bodyPr/>
                    <a:lstStyle/>
                    <a:p>
                      <a:r>
                        <a:rPr lang="ms-MY" sz="1600"/>
                        <a:t>Layer</a:t>
                      </a:r>
                    </a:p>
                  </a:txBody>
                  <a:tcPr marL="31433" marR="31433" marT="15710" marB="15710" anchor="ctr">
                    <a:lnL>
                      <a:noFill/>
                    </a:lnL>
                    <a:lnR>
                      <a:noFill/>
                    </a:lnR>
                    <a:lnT>
                      <a:noFill/>
                    </a:lnT>
                    <a:lnB w="12700" cap="flat" cmpd="sng" algn="ctr">
                      <a:solidFill>
                        <a:schemeClr val="tx1"/>
                      </a:solidFill>
                      <a:prstDash val="solid"/>
                      <a:round/>
                      <a:headEnd type="none" w="med" len="med"/>
                      <a:tailEnd type="none" w="med" len="med"/>
                    </a:lnB>
                  </a:tcPr>
                </a:tc>
                <a:tc>
                  <a:txBody>
                    <a:bodyPr/>
                    <a:lstStyle/>
                    <a:p>
                      <a:r>
                        <a:rPr lang="ms-MY" sz="1600">
                          <a:effectLst/>
                        </a:rPr>
                        <a:t>Function</a:t>
                      </a:r>
                    </a:p>
                  </a:txBody>
                  <a:tcPr marL="31433" marR="31433" marT="15710" marB="15710" anchor="ctr">
                    <a:lnL>
                      <a:noFill/>
                    </a:lnL>
                    <a:lnR>
                      <a:noFill/>
                    </a:lnR>
                    <a:lnT>
                      <a:noFill/>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78304">
                <a:tc rowSpan="4">
                  <a:txBody>
                    <a:bodyPr/>
                    <a:lstStyle/>
                    <a:p>
                      <a:r>
                        <a:rPr lang="ms-MY" sz="1600" dirty="0"/>
                        <a:t>Host</a:t>
                      </a:r>
                      <a:br>
                        <a:rPr lang="ms-MY" sz="1600" dirty="0"/>
                      </a:br>
                      <a:r>
                        <a:rPr lang="ms-MY" sz="1600" dirty="0"/>
                        <a:t>layers</a:t>
                      </a:r>
                    </a:p>
                  </a:txBody>
                  <a:tcPr marL="31433" marR="31433" marT="15710" marB="15710" anchor="ctr">
                    <a:lnL>
                      <a:noFill/>
                    </a:lnL>
                    <a:lnR>
                      <a:noFill/>
                    </a:lnR>
                    <a:lnT>
                      <a:noFill/>
                    </a:lnT>
                    <a:lnB>
                      <a:noFill/>
                    </a:lnB>
                    <a:solidFill>
                      <a:srgbClr val="0099CC"/>
                    </a:solidFill>
                  </a:tcPr>
                </a:tc>
                <a:tc rowSpan="3">
                  <a:txBody>
                    <a:bodyPr/>
                    <a:lstStyle/>
                    <a:p>
                      <a:r>
                        <a:rPr lang="ms-MY" sz="1600" dirty="0">
                          <a:solidFill>
                            <a:schemeClr val="tx1"/>
                          </a:solidFill>
                          <a:effectLst/>
                        </a:rPr>
                        <a:t>Data</a:t>
                      </a:r>
                    </a:p>
                  </a:txBody>
                  <a:tcPr marL="31433" marR="31433" marT="15710" marB="15710" anchor="ctr">
                    <a:lnL>
                      <a:noFill/>
                    </a:lnL>
                    <a:lnR w="12700" cap="flat" cmpd="sng" algn="ctr">
                      <a:solidFill>
                        <a:schemeClr val="tx1"/>
                      </a:solidFill>
                      <a:prstDash val="solid"/>
                      <a:round/>
                      <a:headEnd type="none" w="med" len="med"/>
                      <a:tailEnd type="none" w="med" len="med"/>
                    </a:lnR>
                    <a:lnT>
                      <a:noFill/>
                    </a:lnT>
                    <a:lnB>
                      <a:noFill/>
                    </a:lnB>
                    <a:solidFill>
                      <a:srgbClr val="D8EC9C"/>
                    </a:solidFill>
                  </a:tcPr>
                </a:tc>
                <a:tc>
                  <a:txBody>
                    <a:bodyPr/>
                    <a:lstStyle/>
                    <a:p>
                      <a:r>
                        <a:rPr lang="ms-MY" sz="1600" dirty="0">
                          <a:effectLst/>
                        </a:rPr>
                        <a:t>7</a:t>
                      </a:r>
                      <a:r>
                        <a:rPr lang="ms-MY" sz="1600" dirty="0">
                          <a:solidFill>
                            <a:schemeClr val="accent6"/>
                          </a:solidFill>
                          <a:effectLst/>
                        </a:rPr>
                        <a:t>. </a:t>
                      </a:r>
                      <a:r>
                        <a:rPr lang="ms-MY" sz="1600" dirty="0">
                          <a:solidFill>
                            <a:schemeClr val="tx1"/>
                          </a:solidFill>
                          <a:effectLst/>
                        </a:rPr>
                        <a:t>Application</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8EC9B"/>
                    </a:solidFill>
                  </a:tcPr>
                </a:tc>
                <a:tc>
                  <a:txBody>
                    <a:bodyPr/>
                    <a:lstStyle/>
                    <a:p>
                      <a:r>
                        <a:rPr lang="ms-MY" sz="1600" dirty="0">
                          <a:effectLst/>
                        </a:rPr>
                        <a:t>Network process to application</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8EC9C"/>
                    </a:solidFill>
                  </a:tcPr>
                </a:tc>
                <a:extLst>
                  <a:ext uri="{0D108BD9-81ED-4DB2-BD59-A6C34878D82A}">
                    <a16:rowId xmlns:a16="http://schemas.microsoft.com/office/drawing/2014/main" val="10002"/>
                  </a:ext>
                </a:extLst>
              </a:tr>
              <a:tr h="762925">
                <a:tc vMerge="1">
                  <a:txBody>
                    <a:bodyPr/>
                    <a:lstStyle/>
                    <a:p>
                      <a:endParaRPr lang="ms-MY"/>
                    </a:p>
                  </a:txBody>
                  <a:tcPr/>
                </a:tc>
                <a:tc vMerge="1">
                  <a:txBody>
                    <a:bodyPr/>
                    <a:lstStyle/>
                    <a:p>
                      <a:endParaRPr lang="ms-MY"/>
                    </a:p>
                  </a:txBody>
                  <a:tcPr/>
                </a:tc>
                <a:tc>
                  <a:txBody>
                    <a:bodyPr/>
                    <a:lstStyle/>
                    <a:p>
                      <a:r>
                        <a:rPr lang="ms-MY" sz="1600" dirty="0">
                          <a:effectLst/>
                        </a:rPr>
                        <a:t>6. Presentation</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8EC9B"/>
                    </a:solidFill>
                  </a:tcPr>
                </a:tc>
                <a:tc>
                  <a:txBody>
                    <a:bodyPr/>
                    <a:lstStyle/>
                    <a:p>
                      <a:r>
                        <a:rPr lang="en-US" sz="1600" dirty="0">
                          <a:ea typeface="ＭＳ Ｐゴシック" pitchFamily="34" charset="-128"/>
                        </a:rPr>
                        <a:t>allow applications to interpret meaning of data, e.g. d</a:t>
                      </a:r>
                      <a:r>
                        <a:rPr lang="en-US" sz="1600" dirty="0">
                          <a:effectLst/>
                        </a:rPr>
                        <a:t>ata representation, encryption and decryption, convert machine dependent data to machine independent data</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8EC9B"/>
                    </a:solidFill>
                  </a:tcPr>
                </a:tc>
                <a:extLst>
                  <a:ext uri="{0D108BD9-81ED-4DB2-BD59-A6C34878D82A}">
                    <a16:rowId xmlns:a16="http://schemas.microsoft.com/office/drawing/2014/main" val="10003"/>
                  </a:ext>
                </a:extLst>
              </a:tr>
              <a:tr h="519090">
                <a:tc vMerge="1">
                  <a:txBody>
                    <a:bodyPr/>
                    <a:lstStyle/>
                    <a:p>
                      <a:endParaRPr lang="ms-MY"/>
                    </a:p>
                  </a:txBody>
                  <a:tcPr/>
                </a:tc>
                <a:tc vMerge="1">
                  <a:txBody>
                    <a:bodyPr/>
                    <a:lstStyle/>
                    <a:p>
                      <a:endParaRPr lang="ms-MY"/>
                    </a:p>
                  </a:txBody>
                  <a:tcPr/>
                </a:tc>
                <a:tc>
                  <a:txBody>
                    <a:bodyPr/>
                    <a:lstStyle/>
                    <a:p>
                      <a:r>
                        <a:rPr lang="ms-MY" sz="1600" dirty="0">
                          <a:effectLst/>
                        </a:rPr>
                        <a:t>5. Session</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8EC9B"/>
                    </a:solidFill>
                  </a:tcPr>
                </a:tc>
                <a:tc>
                  <a:txBody>
                    <a:bodyPr/>
                    <a:lstStyle/>
                    <a:p>
                      <a:r>
                        <a:rPr lang="ms-MY" sz="1600" dirty="0">
                          <a:effectLst/>
                        </a:rPr>
                        <a:t>Interhost communication, managing sessions between applications, </a:t>
                      </a:r>
                      <a:r>
                        <a:rPr lang="en-US" sz="1600" dirty="0">
                          <a:ea typeface="ＭＳ Ｐゴシック" pitchFamily="34" charset="-128"/>
                        </a:rPr>
                        <a:t>synchronization, data recovery</a:t>
                      </a:r>
                      <a:endParaRPr lang="ms-MY" sz="1600" dirty="0">
                        <a:effectLst/>
                      </a:endParaRP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8EC9B"/>
                    </a:solidFill>
                  </a:tcPr>
                </a:tc>
                <a:extLst>
                  <a:ext uri="{0D108BD9-81ED-4DB2-BD59-A6C34878D82A}">
                    <a16:rowId xmlns:a16="http://schemas.microsoft.com/office/drawing/2014/main" val="10004"/>
                  </a:ext>
                </a:extLst>
              </a:tr>
              <a:tr h="367371">
                <a:tc vMerge="1">
                  <a:txBody>
                    <a:bodyPr/>
                    <a:lstStyle/>
                    <a:p>
                      <a:endParaRPr lang="ms-MY"/>
                    </a:p>
                  </a:txBody>
                  <a:tcPr/>
                </a:tc>
                <a:tc>
                  <a:txBody>
                    <a:bodyPr/>
                    <a:lstStyle/>
                    <a:p>
                      <a:r>
                        <a:rPr lang="ms-MY" sz="1600" dirty="0">
                          <a:effectLst/>
                        </a:rPr>
                        <a:t>Segments</a:t>
                      </a:r>
                    </a:p>
                  </a:txBody>
                  <a:tcPr marL="31433" marR="31433" marT="15710" marB="15710" anchor="ctr">
                    <a:lnL>
                      <a:noFill/>
                    </a:lnL>
                    <a:lnR w="12700" cap="flat" cmpd="sng" algn="ctr">
                      <a:solidFill>
                        <a:schemeClr val="tx1"/>
                      </a:solidFill>
                      <a:prstDash val="solid"/>
                      <a:round/>
                      <a:headEnd type="none" w="med" len="med"/>
                      <a:tailEnd type="none" w="med" len="med"/>
                    </a:lnR>
                    <a:lnT>
                      <a:noFill/>
                    </a:lnT>
                    <a:lnB>
                      <a:noFill/>
                    </a:lnB>
                    <a:solidFill>
                      <a:srgbClr val="E7ED9C"/>
                    </a:solidFill>
                  </a:tcPr>
                </a:tc>
                <a:tc>
                  <a:txBody>
                    <a:bodyPr/>
                    <a:lstStyle/>
                    <a:p>
                      <a:r>
                        <a:rPr lang="ms-MY" sz="1600" dirty="0">
                          <a:effectLst/>
                        </a:rPr>
                        <a:t>4. Transport</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ED9C"/>
                    </a:solidFill>
                  </a:tcPr>
                </a:tc>
                <a:tc>
                  <a:txBody>
                    <a:bodyPr/>
                    <a:lstStyle/>
                    <a:p>
                      <a:r>
                        <a:rPr lang="en-US" sz="1600" dirty="0">
                          <a:effectLst/>
                        </a:rPr>
                        <a:t>Reliable delivery of packets between points on a network.</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ED9C"/>
                    </a:solidFill>
                  </a:tcPr>
                </a:tc>
                <a:extLst>
                  <a:ext uri="{0D108BD9-81ED-4DB2-BD59-A6C34878D82A}">
                    <a16:rowId xmlns:a16="http://schemas.microsoft.com/office/drawing/2014/main" val="10005"/>
                  </a:ext>
                </a:extLst>
              </a:tr>
              <a:tr h="519090">
                <a:tc rowSpan="3">
                  <a:txBody>
                    <a:bodyPr/>
                    <a:lstStyle/>
                    <a:p>
                      <a:r>
                        <a:rPr lang="ms-MY" sz="1600" dirty="0"/>
                        <a:t>Media</a:t>
                      </a:r>
                      <a:br>
                        <a:rPr lang="ms-MY" sz="1600" dirty="0"/>
                      </a:br>
                      <a:r>
                        <a:rPr lang="ms-MY" sz="1600" dirty="0"/>
                        <a:t>layers</a:t>
                      </a:r>
                    </a:p>
                  </a:txBody>
                  <a:tcPr marL="31433" marR="31433" marT="15710" marB="15710" anchor="ctr">
                    <a:lnL>
                      <a:noFill/>
                    </a:lnL>
                    <a:lnR>
                      <a:noFill/>
                    </a:lnR>
                    <a:lnT>
                      <a:noFill/>
                    </a:lnT>
                    <a:lnB>
                      <a:noFill/>
                    </a:lnB>
                    <a:solidFill>
                      <a:schemeClr val="accent1"/>
                    </a:solidFill>
                  </a:tcPr>
                </a:tc>
                <a:tc>
                  <a:txBody>
                    <a:bodyPr/>
                    <a:lstStyle/>
                    <a:p>
                      <a:r>
                        <a:rPr lang="ms-MY" sz="1600" dirty="0">
                          <a:effectLst/>
                        </a:rPr>
                        <a:t>Packet/Datagram</a:t>
                      </a:r>
                    </a:p>
                  </a:txBody>
                  <a:tcPr marL="31433" marR="31433" marT="15710" marB="15710" anchor="ctr">
                    <a:lnL>
                      <a:noFill/>
                    </a:lnL>
                    <a:lnR w="12700" cap="flat" cmpd="sng" algn="ctr">
                      <a:solidFill>
                        <a:schemeClr val="tx1"/>
                      </a:solidFill>
                      <a:prstDash val="solid"/>
                      <a:round/>
                      <a:headEnd type="none" w="med" len="med"/>
                      <a:tailEnd type="none" w="med" len="med"/>
                    </a:lnR>
                    <a:lnT>
                      <a:noFill/>
                    </a:lnT>
                    <a:lnB>
                      <a:noFill/>
                    </a:lnB>
                    <a:solidFill>
                      <a:srgbClr val="EDDC9C"/>
                    </a:solidFill>
                  </a:tcPr>
                </a:tc>
                <a:tc>
                  <a:txBody>
                    <a:bodyPr/>
                    <a:lstStyle/>
                    <a:p>
                      <a:r>
                        <a:rPr lang="ms-MY" sz="1600" dirty="0">
                          <a:effectLst/>
                        </a:rPr>
                        <a:t>3. Network</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DDC9C"/>
                    </a:solidFill>
                  </a:tcPr>
                </a:tc>
                <a:tc>
                  <a:txBody>
                    <a:bodyPr/>
                    <a:lstStyle/>
                    <a:p>
                      <a:r>
                        <a:rPr lang="en-US" sz="1600" dirty="0">
                          <a:effectLst/>
                        </a:rPr>
                        <a:t>Addressing, routing and (not necessarily reliable) delivery of datagrams between points on a network.</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DDC9C"/>
                    </a:solidFill>
                  </a:tcPr>
                </a:tc>
                <a:extLst>
                  <a:ext uri="{0D108BD9-81ED-4DB2-BD59-A6C34878D82A}">
                    <a16:rowId xmlns:a16="http://schemas.microsoft.com/office/drawing/2014/main" val="10006"/>
                  </a:ext>
                </a:extLst>
              </a:tr>
              <a:tr h="407911">
                <a:tc vMerge="1">
                  <a:txBody>
                    <a:bodyPr/>
                    <a:lstStyle/>
                    <a:p>
                      <a:endParaRPr lang="ms-MY"/>
                    </a:p>
                  </a:txBody>
                  <a:tcPr/>
                </a:tc>
                <a:tc>
                  <a:txBody>
                    <a:bodyPr/>
                    <a:lstStyle/>
                    <a:p>
                      <a:r>
                        <a:rPr lang="ms-MY" sz="1600" dirty="0">
                          <a:effectLst/>
                        </a:rPr>
                        <a:t>Bit/Frame</a:t>
                      </a:r>
                    </a:p>
                  </a:txBody>
                  <a:tcPr marL="31433" marR="31433" marT="15710" marB="15710" anchor="ctr">
                    <a:lnL>
                      <a:noFill/>
                    </a:lnL>
                    <a:lnR w="12700" cap="flat" cmpd="sng" algn="ctr">
                      <a:solidFill>
                        <a:schemeClr val="tx1"/>
                      </a:solidFill>
                      <a:prstDash val="solid"/>
                      <a:round/>
                      <a:headEnd type="none" w="med" len="med"/>
                      <a:tailEnd type="none" w="med" len="med"/>
                    </a:lnR>
                    <a:lnT>
                      <a:noFill/>
                    </a:lnT>
                    <a:lnB>
                      <a:noFill/>
                    </a:lnB>
                    <a:solidFill>
                      <a:srgbClr val="E9C189"/>
                    </a:solidFill>
                  </a:tcPr>
                </a:tc>
                <a:tc>
                  <a:txBody>
                    <a:bodyPr/>
                    <a:lstStyle/>
                    <a:p>
                      <a:r>
                        <a:rPr lang="ms-MY" sz="1600" dirty="0">
                          <a:effectLst/>
                        </a:rPr>
                        <a:t>2. Data link</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9C189"/>
                    </a:solidFill>
                  </a:tcPr>
                </a:tc>
                <a:tc>
                  <a:txBody>
                    <a:bodyPr/>
                    <a:lstStyle/>
                    <a:p>
                      <a:r>
                        <a:rPr lang="en-US" sz="1600" dirty="0">
                          <a:effectLst/>
                        </a:rPr>
                        <a:t>A reliable direct point-to-point data connection.</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9C189"/>
                    </a:solidFill>
                  </a:tcPr>
                </a:tc>
                <a:extLst>
                  <a:ext uri="{0D108BD9-81ED-4DB2-BD59-A6C34878D82A}">
                    <a16:rowId xmlns:a16="http://schemas.microsoft.com/office/drawing/2014/main" val="10007"/>
                  </a:ext>
                </a:extLst>
              </a:tr>
              <a:tr h="519090">
                <a:tc vMerge="1">
                  <a:txBody>
                    <a:bodyPr/>
                    <a:lstStyle/>
                    <a:p>
                      <a:endParaRPr lang="ms-MY"/>
                    </a:p>
                  </a:txBody>
                  <a:tcPr/>
                </a:tc>
                <a:tc>
                  <a:txBody>
                    <a:bodyPr/>
                    <a:lstStyle/>
                    <a:p>
                      <a:r>
                        <a:rPr lang="ms-MY" sz="1600" dirty="0">
                          <a:effectLst/>
                        </a:rPr>
                        <a:t>Bit</a:t>
                      </a:r>
                    </a:p>
                  </a:txBody>
                  <a:tcPr marL="31433" marR="31433" marT="15710" marB="15710" anchor="ctr">
                    <a:lnL>
                      <a:noFill/>
                    </a:lnL>
                    <a:lnR w="12700" cap="flat" cmpd="sng" algn="ctr">
                      <a:solidFill>
                        <a:schemeClr val="tx1"/>
                      </a:solidFill>
                      <a:prstDash val="solid"/>
                      <a:round/>
                      <a:headEnd type="none" w="med" len="med"/>
                      <a:tailEnd type="none" w="med" len="med"/>
                    </a:lnR>
                    <a:lnT>
                      <a:noFill/>
                    </a:lnT>
                    <a:lnB>
                      <a:noFill/>
                    </a:lnB>
                    <a:solidFill>
                      <a:srgbClr val="E9988A"/>
                    </a:solidFill>
                  </a:tcPr>
                </a:tc>
                <a:tc>
                  <a:txBody>
                    <a:bodyPr/>
                    <a:lstStyle/>
                    <a:p>
                      <a:r>
                        <a:rPr lang="ms-MY" sz="1600" dirty="0">
                          <a:effectLst/>
                        </a:rPr>
                        <a:t>1. Physical</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9988A"/>
                    </a:solidFill>
                  </a:tcPr>
                </a:tc>
                <a:tc>
                  <a:txBody>
                    <a:bodyPr/>
                    <a:lstStyle/>
                    <a:p>
                      <a:r>
                        <a:rPr lang="en-US" sz="1600" dirty="0">
                          <a:effectLst/>
                        </a:rPr>
                        <a:t>A (not necessarily reliable) direct point-to-point data connection.</a:t>
                      </a:r>
                    </a:p>
                  </a:txBody>
                  <a:tcPr marL="31433" marR="31433" marT="15710" marB="1571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9988A"/>
                    </a:solidFill>
                  </a:tcPr>
                </a:tc>
                <a:extLst>
                  <a:ext uri="{0D108BD9-81ED-4DB2-BD59-A6C34878D82A}">
                    <a16:rowId xmlns:a16="http://schemas.microsoft.com/office/drawing/2014/main" val="10008"/>
                  </a:ext>
                </a:extLst>
              </a:tr>
            </a:tbl>
          </a:graphicData>
        </a:graphic>
      </p:graphicFrame>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Grp="1" noChangeArrowheads="1"/>
          </p:cNvSpPr>
          <p:nvPr>
            <p:ph type="title"/>
          </p:nvPr>
        </p:nvSpPr>
        <p:spPr>
          <a:xfrm>
            <a:off x="1573213" y="26988"/>
            <a:ext cx="9048750" cy="1143000"/>
          </a:xfrm>
        </p:spPr>
        <p:txBody>
          <a:bodyPr/>
          <a:lstStyle/>
          <a:p>
            <a:pPr eaLnBrk="1" hangingPunct="1"/>
            <a:r>
              <a:rPr lang="en-US" altLang="en-US" sz="2800">
                <a:ea typeface="ＭＳ Ｐゴシック" panose="020B0600070205080204" pitchFamily="34" charset="-128"/>
              </a:rPr>
              <a:t>OSI Model: AN Analogy:  Application Layer - Source Host</a:t>
            </a:r>
            <a:endParaRPr lang="en-US" altLang="en-US" sz="2800" u="sng">
              <a:ea typeface="ＭＳ Ｐゴシック" panose="020B0600070205080204" pitchFamily="34" charset="-128"/>
            </a:endParaRPr>
          </a:p>
        </p:txBody>
      </p:sp>
      <p:sp>
        <p:nvSpPr>
          <p:cNvPr id="171011"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94</a:t>
            </a:fld>
            <a:endParaRPr lang="en-US" altLang="en-US" sz="1200" b="1" dirty="0">
              <a:solidFill>
                <a:schemeClr val="tx2"/>
              </a:solidFill>
              <a:latin typeface="Arial" panose="020B0604020202020204" pitchFamily="34" charset="0"/>
            </a:endParaRPr>
          </a:p>
        </p:txBody>
      </p:sp>
      <p:sp>
        <p:nvSpPr>
          <p:cNvPr id="171012" name="Text Box 3"/>
          <p:cNvSpPr txBox="1">
            <a:spLocks noChangeArrowheads="1"/>
          </p:cNvSpPr>
          <p:nvPr/>
        </p:nvSpPr>
        <p:spPr bwMode="auto">
          <a:xfrm>
            <a:off x="2147888" y="5038725"/>
            <a:ext cx="7924800" cy="1200150"/>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After riding your new bicycle a few times in Tokyo, you decide that you want to give it to a friend who studies in UTM, JB.</a:t>
            </a:r>
          </a:p>
        </p:txBody>
      </p:sp>
      <p:graphicFrame>
        <p:nvGraphicFramePr>
          <p:cNvPr id="171013" name="Object 4"/>
          <p:cNvGraphicFramePr>
            <a:graphicFrameLocks noChangeAspect="1"/>
          </p:cNvGraphicFramePr>
          <p:nvPr/>
        </p:nvGraphicFramePr>
        <p:xfrm>
          <a:off x="4392613" y="1393826"/>
          <a:ext cx="3429000" cy="3140075"/>
        </p:xfrm>
        <a:graphic>
          <a:graphicData uri="http://schemas.openxmlformats.org/presentationml/2006/ole">
            <mc:AlternateContent xmlns:mc="http://schemas.openxmlformats.org/markup-compatibility/2006">
              <mc:Choice xmlns:v="urn:schemas-microsoft-com:vml" Requires="v">
                <p:oleObj name="Clip" r:id="rId2" imgW="923535" imgH="846802" progId="">
                  <p:embed/>
                </p:oleObj>
              </mc:Choice>
              <mc:Fallback>
                <p:oleObj name="Clip" r:id="rId2" imgW="923535" imgH="846802" progId="">
                  <p:embed/>
                  <p:pic>
                    <p:nvPicPr>
                      <p:cNvPr id="171013"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2613" y="1393826"/>
                        <a:ext cx="3429000" cy="314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1014"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dirty="0"/>
              <a:t>Introduction</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a:xfrm>
            <a:off x="2057400" y="146050"/>
            <a:ext cx="7772400" cy="495300"/>
          </a:xfrm>
        </p:spPr>
        <p:txBody>
          <a:bodyPr>
            <a:normAutofit fontScale="90000"/>
          </a:bodyPr>
          <a:lstStyle/>
          <a:p>
            <a:pPr eaLnBrk="1" hangingPunct="1"/>
            <a:br>
              <a:rPr lang="en-US" altLang="en-US" sz="3200">
                <a:ea typeface="ＭＳ Ｐゴシック" panose="020B0600070205080204" pitchFamily="34" charset="-128"/>
              </a:rPr>
            </a:br>
            <a:r>
              <a:rPr lang="en-US" altLang="en-US" sz="3200">
                <a:ea typeface="ＭＳ Ｐゴシック" panose="020B0600070205080204" pitchFamily="34" charset="-128"/>
              </a:rPr>
              <a:t>Presentation &amp; Session Layer - Source Host</a:t>
            </a:r>
            <a:endParaRPr lang="en-US" altLang="en-US" sz="3200" u="sng">
              <a:ea typeface="ＭＳ Ｐゴシック" panose="020B0600070205080204" pitchFamily="34" charset="-128"/>
            </a:endParaRPr>
          </a:p>
        </p:txBody>
      </p:sp>
      <p:sp>
        <p:nvSpPr>
          <p:cNvPr id="172035"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D5DCA4F7-4BE3-4F2D-8734-1EE75784DB1C}" type="slidenum">
              <a:rPr lang="en-US" altLang="en-US" smtClean="0"/>
              <a:pPr eaLnBrk="1" hangingPunct="1">
                <a:lnSpc>
                  <a:spcPct val="100000"/>
                </a:lnSpc>
                <a:spcBef>
                  <a:spcPct val="0"/>
                </a:spcBef>
                <a:buClrTx/>
                <a:buSzTx/>
                <a:buFontTx/>
                <a:buNone/>
                <a:defRPr/>
              </a:pPr>
              <a:t>95</a:t>
            </a:fld>
            <a:endParaRPr lang="en-US" altLang="en-US" sz="1200" b="1" dirty="0">
              <a:solidFill>
                <a:schemeClr val="tx2"/>
              </a:solidFill>
              <a:latin typeface="Arial" panose="020B0604020202020204" pitchFamily="34" charset="0"/>
            </a:endParaRPr>
          </a:p>
        </p:txBody>
      </p:sp>
      <p:sp>
        <p:nvSpPr>
          <p:cNvPr id="172036" name="Text Box 3"/>
          <p:cNvSpPr txBox="1">
            <a:spLocks noChangeArrowheads="1"/>
          </p:cNvSpPr>
          <p:nvPr/>
        </p:nvSpPr>
        <p:spPr bwMode="auto">
          <a:xfrm>
            <a:off x="2039938" y="4038601"/>
            <a:ext cx="3733800" cy="1692275"/>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PRESENTATION:</a:t>
            </a:r>
          </a:p>
          <a:p>
            <a:pPr>
              <a:lnSpc>
                <a:spcPct val="100000"/>
              </a:lnSpc>
              <a:spcBef>
                <a:spcPct val="0"/>
              </a:spcBef>
              <a:buClrTx/>
              <a:buSzTx/>
              <a:buFontTx/>
              <a:buNone/>
            </a:pPr>
            <a:r>
              <a:rPr lang="en-US" altLang="en-US" sz="2000" b="1">
                <a:latin typeface="Arial" panose="020B0604020202020204" pitchFamily="34" charset="0"/>
              </a:rPr>
              <a:t>Make sure you have the proper directions to disassemble and reassemble the bicycle.</a:t>
            </a:r>
          </a:p>
        </p:txBody>
      </p:sp>
      <p:graphicFrame>
        <p:nvGraphicFramePr>
          <p:cNvPr id="172037" name="Object 4"/>
          <p:cNvGraphicFramePr>
            <a:graphicFrameLocks noChangeAspect="1"/>
          </p:cNvGraphicFramePr>
          <p:nvPr/>
        </p:nvGraphicFramePr>
        <p:xfrm>
          <a:off x="2159001" y="1938338"/>
          <a:ext cx="3071813" cy="1905000"/>
        </p:xfrm>
        <a:graphic>
          <a:graphicData uri="http://schemas.openxmlformats.org/presentationml/2006/ole">
            <mc:AlternateContent xmlns:mc="http://schemas.openxmlformats.org/markup-compatibility/2006">
              <mc:Choice xmlns:v="urn:schemas-microsoft-com:vml" Requires="v">
                <p:oleObj name="Clip" r:id="rId2" imgW="952129" imgH="590476" progId="">
                  <p:embed/>
                </p:oleObj>
              </mc:Choice>
              <mc:Fallback>
                <p:oleObj name="Clip" r:id="rId2" imgW="952129" imgH="590476" progId="">
                  <p:embed/>
                  <p:pic>
                    <p:nvPicPr>
                      <p:cNvPr id="172037"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9001" y="1938338"/>
                        <a:ext cx="3071813"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2038" name="Object 3"/>
          <p:cNvGraphicFramePr>
            <a:graphicFrameLocks noChangeAspect="1"/>
          </p:cNvGraphicFramePr>
          <p:nvPr/>
        </p:nvGraphicFramePr>
        <p:xfrm>
          <a:off x="6711951" y="1687513"/>
          <a:ext cx="2252663" cy="2095500"/>
        </p:xfrm>
        <a:graphic>
          <a:graphicData uri="http://schemas.openxmlformats.org/presentationml/2006/ole">
            <mc:AlternateContent xmlns:mc="http://schemas.openxmlformats.org/markup-compatibility/2006">
              <mc:Choice xmlns:v="urn:schemas-microsoft-com:vml" Requires="v">
                <p:oleObj name="Clip" r:id="rId4" imgW="952129" imgH="885714" progId="">
                  <p:embed/>
                </p:oleObj>
              </mc:Choice>
              <mc:Fallback>
                <p:oleObj name="Clip" r:id="rId4" imgW="952129" imgH="885714" progId="">
                  <p:embed/>
                  <p:pic>
                    <p:nvPicPr>
                      <p:cNvPr id="172038"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11951" y="1687513"/>
                        <a:ext cx="2252663"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72039" name="Text Box 3"/>
          <p:cNvSpPr txBox="1">
            <a:spLocks noChangeArrowheads="1"/>
          </p:cNvSpPr>
          <p:nvPr/>
        </p:nvSpPr>
        <p:spPr bwMode="auto">
          <a:xfrm>
            <a:off x="6089650" y="4038601"/>
            <a:ext cx="3962400" cy="1077913"/>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SESSION:</a:t>
            </a:r>
          </a:p>
          <a:p>
            <a:pPr>
              <a:lnSpc>
                <a:spcPct val="100000"/>
              </a:lnSpc>
              <a:spcBef>
                <a:spcPct val="0"/>
              </a:spcBef>
              <a:buClrTx/>
              <a:buSzTx/>
              <a:buFontTx/>
              <a:buNone/>
            </a:pPr>
            <a:r>
              <a:rPr lang="en-US" altLang="en-US" sz="2000" b="1">
                <a:latin typeface="Arial" panose="020B0604020202020204" pitchFamily="34" charset="0"/>
              </a:rPr>
              <a:t>Call your friend and make sure you have his correct address.  </a:t>
            </a:r>
          </a:p>
        </p:txBody>
      </p:sp>
      <p:pic>
        <p:nvPicPr>
          <p:cNvPr id="172040" name="Picture 9" descr="underline_base"/>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96</a:t>
            </a:fld>
            <a:endParaRPr lang="en-US" altLang="en-US" sz="1200" b="1" dirty="0">
              <a:solidFill>
                <a:schemeClr val="tx2"/>
              </a:solidFill>
              <a:latin typeface="Arial" panose="020B0604020202020204" pitchFamily="34" charset="0"/>
            </a:endParaRPr>
          </a:p>
        </p:txBody>
      </p:sp>
      <p:sp>
        <p:nvSpPr>
          <p:cNvPr id="173059" name="Rectangle 2"/>
          <p:cNvSpPr>
            <a:spLocks noGrp="1" noChangeArrowheads="1"/>
          </p:cNvSpPr>
          <p:nvPr>
            <p:ph type="title"/>
          </p:nvPr>
        </p:nvSpPr>
        <p:spPr>
          <a:xfrm>
            <a:off x="1524001" y="206375"/>
            <a:ext cx="8924925" cy="1066800"/>
          </a:xfrm>
        </p:spPr>
        <p:txBody>
          <a:bodyPr/>
          <a:lstStyle/>
          <a:p>
            <a:pPr eaLnBrk="1" hangingPunct="1"/>
            <a:r>
              <a:rPr lang="en-US" altLang="en-US" sz="3200">
                <a:ea typeface="ＭＳ Ｐゴシック" panose="020B0600070205080204" pitchFamily="34" charset="-128"/>
              </a:rPr>
              <a:t>OSI Model Analogy :Transport Layer - Source Host</a:t>
            </a:r>
            <a:endParaRPr lang="en-US" altLang="en-US" sz="3200" u="sng">
              <a:ea typeface="ＭＳ Ｐゴシック" panose="020B0600070205080204" pitchFamily="34" charset="-128"/>
            </a:endParaRPr>
          </a:p>
        </p:txBody>
      </p:sp>
      <p:sp>
        <p:nvSpPr>
          <p:cNvPr id="173060" name="Text Box 3"/>
          <p:cNvSpPr txBox="1">
            <a:spLocks noChangeArrowheads="1"/>
          </p:cNvSpPr>
          <p:nvPr/>
        </p:nvSpPr>
        <p:spPr bwMode="auto">
          <a:xfrm>
            <a:off x="2339975" y="4708525"/>
            <a:ext cx="7924800" cy="1200150"/>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Disassemble the bicycle and put different pieces in different boxes.  The boxes are labeled</a:t>
            </a:r>
          </a:p>
          <a:p>
            <a:pPr>
              <a:lnSpc>
                <a:spcPct val="100000"/>
              </a:lnSpc>
              <a:spcBef>
                <a:spcPct val="0"/>
              </a:spcBef>
              <a:buClrTx/>
              <a:buSzTx/>
              <a:buFontTx/>
              <a:buNone/>
            </a:pPr>
            <a:r>
              <a:rPr lang="en-US" altLang="en-US" sz="2400" b="1">
                <a:latin typeface="Arial" panose="020B0604020202020204" pitchFamily="34" charset="0"/>
              </a:rPr>
              <a:t> “1 of 3”,  “2 of 3”, and “3 of 3”.</a:t>
            </a:r>
          </a:p>
        </p:txBody>
      </p:sp>
      <p:graphicFrame>
        <p:nvGraphicFramePr>
          <p:cNvPr id="173061" name="Object 4"/>
          <p:cNvGraphicFramePr>
            <a:graphicFrameLocks noChangeAspect="1"/>
          </p:cNvGraphicFramePr>
          <p:nvPr/>
        </p:nvGraphicFramePr>
        <p:xfrm>
          <a:off x="3276600" y="1905000"/>
          <a:ext cx="1455738" cy="1377950"/>
        </p:xfrm>
        <a:graphic>
          <a:graphicData uri="http://schemas.openxmlformats.org/presentationml/2006/ole">
            <mc:AlternateContent xmlns:mc="http://schemas.openxmlformats.org/markup-compatibility/2006">
              <mc:Choice xmlns:v="urn:schemas-microsoft-com:vml" Requires="v">
                <p:oleObj name="Clip" r:id="rId2" imgW="1456639" imgH="1378001" progId="">
                  <p:embed/>
                </p:oleObj>
              </mc:Choice>
              <mc:Fallback>
                <p:oleObj name="Clip" r:id="rId2" imgW="1456639" imgH="1378001" progId="">
                  <p:embed/>
                  <p:pic>
                    <p:nvPicPr>
                      <p:cNvPr id="173061"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76600" y="1905000"/>
                        <a:ext cx="1455738" cy="137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3062" name="Object 5"/>
          <p:cNvGraphicFramePr>
            <a:graphicFrameLocks noChangeAspect="1"/>
          </p:cNvGraphicFramePr>
          <p:nvPr/>
        </p:nvGraphicFramePr>
        <p:xfrm>
          <a:off x="5519739" y="2590800"/>
          <a:ext cx="1455737" cy="1377950"/>
        </p:xfrm>
        <a:graphic>
          <a:graphicData uri="http://schemas.openxmlformats.org/presentationml/2006/ole">
            <mc:AlternateContent xmlns:mc="http://schemas.openxmlformats.org/markup-compatibility/2006">
              <mc:Choice xmlns:v="urn:schemas-microsoft-com:vml" Requires="v">
                <p:oleObj name="Clip" r:id="rId4" imgW="1456639" imgH="1378001" progId="">
                  <p:embed/>
                </p:oleObj>
              </mc:Choice>
              <mc:Fallback>
                <p:oleObj name="Clip" r:id="rId4" imgW="1456639" imgH="1378001" progId="">
                  <p:embed/>
                  <p:pic>
                    <p:nvPicPr>
                      <p:cNvPr id="173062"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19739" y="2590800"/>
                        <a:ext cx="1455737" cy="137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3063" name="Object 6"/>
          <p:cNvGraphicFramePr>
            <a:graphicFrameLocks noChangeAspect="1"/>
          </p:cNvGraphicFramePr>
          <p:nvPr/>
        </p:nvGraphicFramePr>
        <p:xfrm>
          <a:off x="7688264" y="3044825"/>
          <a:ext cx="1455737" cy="1377950"/>
        </p:xfrm>
        <a:graphic>
          <a:graphicData uri="http://schemas.openxmlformats.org/presentationml/2006/ole">
            <mc:AlternateContent xmlns:mc="http://schemas.openxmlformats.org/markup-compatibility/2006">
              <mc:Choice xmlns:v="urn:schemas-microsoft-com:vml" Requires="v">
                <p:oleObj name="Clip" r:id="rId5" imgW="1456639" imgH="1378001" progId="">
                  <p:embed/>
                </p:oleObj>
              </mc:Choice>
              <mc:Fallback>
                <p:oleObj name="Clip" r:id="rId5" imgW="1456639" imgH="1378001" progId="">
                  <p:embed/>
                  <p:pic>
                    <p:nvPicPr>
                      <p:cNvPr id="173063" name="Object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8264" y="3044825"/>
                        <a:ext cx="1455737" cy="137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3064" name="Picture 9" descr="underline_base"/>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97</a:t>
            </a:fld>
            <a:endParaRPr lang="en-US" altLang="en-US" sz="1200" b="1" dirty="0">
              <a:solidFill>
                <a:schemeClr val="tx2"/>
              </a:solidFill>
              <a:latin typeface="Arial" panose="020B0604020202020204" pitchFamily="34" charset="0"/>
            </a:endParaRPr>
          </a:p>
        </p:txBody>
      </p:sp>
      <p:sp>
        <p:nvSpPr>
          <p:cNvPr id="174083" name="Rectangle 2"/>
          <p:cNvSpPr>
            <a:spLocks noGrp="1" noChangeArrowheads="1"/>
          </p:cNvSpPr>
          <p:nvPr>
            <p:ph type="title"/>
          </p:nvPr>
        </p:nvSpPr>
        <p:spPr>
          <a:xfrm>
            <a:off x="1524000" y="152400"/>
            <a:ext cx="9144000" cy="1066800"/>
          </a:xfrm>
        </p:spPr>
        <p:txBody>
          <a:bodyPr/>
          <a:lstStyle/>
          <a:p>
            <a:pPr eaLnBrk="1" hangingPunct="1"/>
            <a:r>
              <a:rPr lang="en-US" altLang="en-US" sz="3200">
                <a:ea typeface="ＭＳ Ｐゴシック" panose="020B0600070205080204" pitchFamily="34" charset="-128"/>
              </a:rPr>
              <a:t>OSI Model Analogy: Network Layer - Source Host</a:t>
            </a:r>
            <a:endParaRPr lang="en-US" altLang="en-US" sz="3200" u="sng">
              <a:ea typeface="ＭＳ Ｐゴシック" panose="020B0600070205080204" pitchFamily="34" charset="-128"/>
            </a:endParaRPr>
          </a:p>
        </p:txBody>
      </p:sp>
      <p:sp>
        <p:nvSpPr>
          <p:cNvPr id="174084" name="Text Box 3"/>
          <p:cNvSpPr txBox="1">
            <a:spLocks noChangeArrowheads="1"/>
          </p:cNvSpPr>
          <p:nvPr/>
        </p:nvSpPr>
        <p:spPr bwMode="auto">
          <a:xfrm>
            <a:off x="2298700" y="4703764"/>
            <a:ext cx="7924800" cy="1323975"/>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000" b="1">
                <a:latin typeface="Arial" panose="020B0604020202020204" pitchFamily="34" charset="0"/>
              </a:rPr>
              <a:t>Put your friend's complete mailing address (and yours) on each box. Since the packages are too big for your mailbox (and since you don’t have enough stamps) you determine that you need to go to the post office.</a:t>
            </a:r>
          </a:p>
        </p:txBody>
      </p:sp>
      <p:graphicFrame>
        <p:nvGraphicFramePr>
          <p:cNvPr id="174085" name="Object 4"/>
          <p:cNvGraphicFramePr>
            <a:graphicFrameLocks noChangeAspect="1"/>
          </p:cNvGraphicFramePr>
          <p:nvPr/>
        </p:nvGraphicFramePr>
        <p:xfrm>
          <a:off x="4495801" y="1600200"/>
          <a:ext cx="3514725" cy="2535238"/>
        </p:xfrm>
        <a:graphic>
          <a:graphicData uri="http://schemas.openxmlformats.org/presentationml/2006/ole">
            <mc:AlternateContent xmlns:mc="http://schemas.openxmlformats.org/markup-compatibility/2006">
              <mc:Choice xmlns:v="urn:schemas-microsoft-com:vml" Requires="v">
                <p:oleObj name="Clip" r:id="rId2" imgW="1543507" imgH="1113739" progId="">
                  <p:embed/>
                </p:oleObj>
              </mc:Choice>
              <mc:Fallback>
                <p:oleObj name="Clip" r:id="rId2" imgW="1543507" imgH="1113739" progId="">
                  <p:embed/>
                  <p:pic>
                    <p:nvPicPr>
                      <p:cNvPr id="174085"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95801" y="1600200"/>
                        <a:ext cx="3514725" cy="253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4086"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98</a:t>
            </a:fld>
            <a:endParaRPr lang="en-US" altLang="en-US" sz="1200" b="1" dirty="0">
              <a:solidFill>
                <a:schemeClr val="tx2"/>
              </a:solidFill>
              <a:latin typeface="Arial" panose="020B0604020202020204" pitchFamily="34" charset="0"/>
            </a:endParaRPr>
          </a:p>
        </p:txBody>
      </p:sp>
      <p:sp>
        <p:nvSpPr>
          <p:cNvPr id="175107" name="Rectangle 2"/>
          <p:cNvSpPr>
            <a:spLocks noGrp="1" noChangeArrowheads="1"/>
          </p:cNvSpPr>
          <p:nvPr>
            <p:ph type="title"/>
          </p:nvPr>
        </p:nvSpPr>
        <p:spPr>
          <a:xfrm>
            <a:off x="1524000" y="152400"/>
            <a:ext cx="9048750" cy="1066800"/>
          </a:xfrm>
        </p:spPr>
        <p:txBody>
          <a:bodyPr/>
          <a:lstStyle/>
          <a:p>
            <a:pPr eaLnBrk="1" hangingPunct="1"/>
            <a:r>
              <a:rPr lang="en-US" altLang="en-US" sz="3200">
                <a:ea typeface="ＭＳ Ｐゴシック" panose="020B0600070205080204" pitchFamily="34" charset="-128"/>
              </a:rPr>
              <a:t>OSI Model Analogy: Data Link Layer – Source Host</a:t>
            </a:r>
            <a:endParaRPr lang="en-US" altLang="en-US" sz="3200" u="sng">
              <a:ea typeface="ＭＳ Ｐゴシック" panose="020B0600070205080204" pitchFamily="34" charset="-128"/>
            </a:endParaRPr>
          </a:p>
        </p:txBody>
      </p:sp>
      <p:sp>
        <p:nvSpPr>
          <p:cNvPr id="175108" name="Text Box 3"/>
          <p:cNvSpPr txBox="1">
            <a:spLocks noChangeArrowheads="1"/>
          </p:cNvSpPr>
          <p:nvPr/>
        </p:nvSpPr>
        <p:spPr bwMode="auto">
          <a:xfrm>
            <a:off x="2257425" y="5340351"/>
            <a:ext cx="7924800" cy="461963"/>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Tokyo post office takes possession of the boxes.</a:t>
            </a:r>
          </a:p>
        </p:txBody>
      </p:sp>
      <p:graphicFrame>
        <p:nvGraphicFramePr>
          <p:cNvPr id="175109" name="Object 5"/>
          <p:cNvGraphicFramePr>
            <a:graphicFrameLocks noChangeAspect="1"/>
          </p:cNvGraphicFramePr>
          <p:nvPr/>
        </p:nvGraphicFramePr>
        <p:xfrm>
          <a:off x="3352801" y="2678114"/>
          <a:ext cx="3744913" cy="2274887"/>
        </p:xfrm>
        <a:graphic>
          <a:graphicData uri="http://schemas.openxmlformats.org/presentationml/2006/ole">
            <mc:AlternateContent xmlns:mc="http://schemas.openxmlformats.org/markup-compatibility/2006">
              <mc:Choice xmlns:v="urn:schemas-microsoft-com:vml" Requires="v">
                <p:oleObj name="Clip" r:id="rId2" imgW="1307592" imgH="794614" progId="">
                  <p:embed/>
                </p:oleObj>
              </mc:Choice>
              <mc:Fallback>
                <p:oleObj name="Clip" r:id="rId2" imgW="1307592" imgH="794614" progId="">
                  <p:embed/>
                  <p:pic>
                    <p:nvPicPr>
                      <p:cNvPr id="175109"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1" y="2678114"/>
                        <a:ext cx="3744913" cy="2274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5110" name="Object 7"/>
          <p:cNvGraphicFramePr>
            <a:graphicFrameLocks noChangeAspect="1"/>
          </p:cNvGraphicFramePr>
          <p:nvPr/>
        </p:nvGraphicFramePr>
        <p:xfrm>
          <a:off x="8831264" y="4278314"/>
          <a:ext cx="693737" cy="657225"/>
        </p:xfrm>
        <a:graphic>
          <a:graphicData uri="http://schemas.openxmlformats.org/presentationml/2006/ole">
            <mc:AlternateContent xmlns:mc="http://schemas.openxmlformats.org/markup-compatibility/2006">
              <mc:Choice xmlns:v="urn:schemas-microsoft-com:vml" Requires="v">
                <p:oleObj name="Clip" r:id="rId4" imgW="1456639" imgH="1378001" progId="">
                  <p:embed/>
                </p:oleObj>
              </mc:Choice>
              <mc:Fallback>
                <p:oleObj name="Clip" r:id="rId4" imgW="1456639" imgH="1378001" progId="">
                  <p:embed/>
                  <p:pic>
                    <p:nvPicPr>
                      <p:cNvPr id="175110"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31264" y="4278314"/>
                        <a:ext cx="693737"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5111" name="Object 8"/>
          <p:cNvGraphicFramePr>
            <a:graphicFrameLocks noChangeAspect="1"/>
          </p:cNvGraphicFramePr>
          <p:nvPr/>
        </p:nvGraphicFramePr>
        <p:xfrm>
          <a:off x="7993064" y="4278314"/>
          <a:ext cx="693737" cy="657225"/>
        </p:xfrm>
        <a:graphic>
          <a:graphicData uri="http://schemas.openxmlformats.org/presentationml/2006/ole">
            <mc:AlternateContent xmlns:mc="http://schemas.openxmlformats.org/markup-compatibility/2006">
              <mc:Choice xmlns:v="urn:schemas-microsoft-com:vml" Requires="v">
                <p:oleObj name="Clip" r:id="rId6" imgW="1456639" imgH="1378001" progId="">
                  <p:embed/>
                </p:oleObj>
              </mc:Choice>
              <mc:Fallback>
                <p:oleObj name="Clip" r:id="rId6" imgW="1456639" imgH="1378001" progId="">
                  <p:embed/>
                  <p:pic>
                    <p:nvPicPr>
                      <p:cNvPr id="175111"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93064" y="4278314"/>
                        <a:ext cx="693737"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5112" name="Object 9"/>
          <p:cNvGraphicFramePr>
            <a:graphicFrameLocks noChangeAspect="1"/>
          </p:cNvGraphicFramePr>
          <p:nvPr/>
        </p:nvGraphicFramePr>
        <p:xfrm>
          <a:off x="7154864" y="4230689"/>
          <a:ext cx="693737" cy="657225"/>
        </p:xfrm>
        <a:graphic>
          <a:graphicData uri="http://schemas.openxmlformats.org/presentationml/2006/ole">
            <mc:AlternateContent xmlns:mc="http://schemas.openxmlformats.org/markup-compatibility/2006">
              <mc:Choice xmlns:v="urn:schemas-microsoft-com:vml" Requires="v">
                <p:oleObj name="Clip" r:id="rId7" imgW="1456639" imgH="1378001" progId="">
                  <p:embed/>
                </p:oleObj>
              </mc:Choice>
              <mc:Fallback>
                <p:oleObj name="Clip" r:id="rId7" imgW="1456639" imgH="1378001" progId="">
                  <p:embed/>
                  <p:pic>
                    <p:nvPicPr>
                      <p:cNvPr id="175112"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54864" y="4230689"/>
                        <a:ext cx="693737"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5113" name="Picture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0600" y="2057400"/>
            <a:ext cx="876300"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14" name="Picture 9" descr="underline_base"/>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dirty="0"/>
              <a:t>Introduction</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99</a:t>
            </a:fld>
            <a:endParaRPr lang="en-US" altLang="en-US" sz="1200" b="1" dirty="0">
              <a:solidFill>
                <a:schemeClr val="tx2"/>
              </a:solidFill>
              <a:latin typeface="Arial" panose="020B0604020202020204" pitchFamily="34" charset="0"/>
            </a:endParaRPr>
          </a:p>
        </p:txBody>
      </p:sp>
      <p:sp>
        <p:nvSpPr>
          <p:cNvPr id="176131" name="Rectangle 2"/>
          <p:cNvSpPr>
            <a:spLocks noGrp="1" noChangeArrowheads="1"/>
          </p:cNvSpPr>
          <p:nvPr>
            <p:ph type="title"/>
          </p:nvPr>
        </p:nvSpPr>
        <p:spPr>
          <a:xfrm>
            <a:off x="1892300" y="193675"/>
            <a:ext cx="8153400" cy="1066800"/>
          </a:xfrm>
        </p:spPr>
        <p:txBody>
          <a:bodyPr/>
          <a:lstStyle/>
          <a:p>
            <a:pPr eaLnBrk="1" hangingPunct="1"/>
            <a:r>
              <a:rPr lang="en-US" altLang="en-US" sz="3600">
                <a:ea typeface="ＭＳ Ｐゴシック" panose="020B0600070205080204" pitchFamily="34" charset="-128"/>
              </a:rPr>
              <a:t>OSI Model Analogy: Physical Layer - Media</a:t>
            </a:r>
            <a:endParaRPr lang="en-US" altLang="en-US" sz="3600" u="sng">
              <a:ea typeface="ＭＳ Ｐゴシック" panose="020B0600070205080204" pitchFamily="34" charset="-128"/>
            </a:endParaRPr>
          </a:p>
        </p:txBody>
      </p:sp>
      <p:sp>
        <p:nvSpPr>
          <p:cNvPr id="176132" name="Text Box 3"/>
          <p:cNvSpPr txBox="1">
            <a:spLocks noChangeArrowheads="1"/>
          </p:cNvSpPr>
          <p:nvPr/>
        </p:nvSpPr>
        <p:spPr bwMode="auto">
          <a:xfrm>
            <a:off x="2162175" y="5480051"/>
            <a:ext cx="7924800" cy="461963"/>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a:lnSpc>
                <a:spcPct val="100000"/>
              </a:lnSpc>
              <a:spcBef>
                <a:spcPct val="0"/>
              </a:spcBef>
              <a:buClrTx/>
              <a:buSzTx/>
              <a:buFontTx/>
              <a:buNone/>
            </a:pPr>
            <a:r>
              <a:rPr lang="en-US" altLang="en-US" sz="2400" b="1">
                <a:latin typeface="Arial" panose="020B0604020202020204" pitchFamily="34" charset="0"/>
              </a:rPr>
              <a:t>The boxes are flown from Tokyo to JB</a:t>
            </a:r>
          </a:p>
        </p:txBody>
      </p:sp>
      <p:graphicFrame>
        <p:nvGraphicFramePr>
          <p:cNvPr id="176133" name="Object 4"/>
          <p:cNvGraphicFramePr>
            <a:graphicFrameLocks noChangeAspect="1"/>
          </p:cNvGraphicFramePr>
          <p:nvPr/>
        </p:nvGraphicFramePr>
        <p:xfrm>
          <a:off x="3481388" y="1566864"/>
          <a:ext cx="4857750" cy="3248025"/>
        </p:xfrm>
        <a:graphic>
          <a:graphicData uri="http://schemas.openxmlformats.org/presentationml/2006/ole">
            <mc:AlternateContent xmlns:mc="http://schemas.openxmlformats.org/markup-compatibility/2006">
              <mc:Choice xmlns:v="urn:schemas-microsoft-com:vml" Requires="v">
                <p:oleObj name="Clip" r:id="rId2" imgW="4857143" imgH="3247619" progId="">
                  <p:embed/>
                </p:oleObj>
              </mc:Choice>
              <mc:Fallback>
                <p:oleObj name="Clip" r:id="rId2" imgW="4857143" imgH="3247619" progId="">
                  <p:embed/>
                  <p:pic>
                    <p:nvPicPr>
                      <p:cNvPr id="176133"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81388" y="1566864"/>
                        <a:ext cx="4857750" cy="324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6134"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100</a:t>
            </a:fld>
            <a:endParaRPr lang="en-US" altLang="en-US" sz="1200" b="1" dirty="0">
              <a:solidFill>
                <a:schemeClr val="tx2"/>
              </a:solidFill>
              <a:latin typeface="Arial" panose="020B0604020202020204" pitchFamily="34" charset="0"/>
            </a:endParaRPr>
          </a:p>
        </p:txBody>
      </p:sp>
      <p:sp>
        <p:nvSpPr>
          <p:cNvPr id="177155" name="Rectangle 2"/>
          <p:cNvSpPr>
            <a:spLocks noGrp="1" noChangeArrowheads="1"/>
          </p:cNvSpPr>
          <p:nvPr>
            <p:ph type="title"/>
          </p:nvPr>
        </p:nvSpPr>
        <p:spPr>
          <a:xfrm>
            <a:off x="1565275" y="84138"/>
            <a:ext cx="8966200" cy="1066800"/>
          </a:xfrm>
        </p:spPr>
        <p:txBody>
          <a:bodyPr/>
          <a:lstStyle/>
          <a:p>
            <a:pPr eaLnBrk="1" hangingPunct="1"/>
            <a:r>
              <a:rPr lang="en-US" altLang="en-US" sz="3200">
                <a:ea typeface="ＭＳ Ｐゴシック" panose="020B0600070205080204" pitchFamily="34" charset="-128"/>
              </a:rPr>
              <a:t>OSI Model Analogy : Data Link Layer - Destination</a:t>
            </a:r>
            <a:endParaRPr lang="en-US" altLang="en-US" sz="3200" u="sng">
              <a:ea typeface="ＭＳ Ｐゴシック" panose="020B0600070205080204" pitchFamily="34" charset="-128"/>
            </a:endParaRPr>
          </a:p>
        </p:txBody>
      </p:sp>
      <p:sp>
        <p:nvSpPr>
          <p:cNvPr id="177156" name="Text Box 3"/>
          <p:cNvSpPr txBox="1">
            <a:spLocks noChangeArrowheads="1"/>
          </p:cNvSpPr>
          <p:nvPr/>
        </p:nvSpPr>
        <p:spPr bwMode="auto">
          <a:xfrm>
            <a:off x="2209800" y="5354638"/>
            <a:ext cx="7924800" cy="461962"/>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a:lnSpc>
                <a:spcPct val="100000"/>
              </a:lnSpc>
              <a:spcBef>
                <a:spcPct val="0"/>
              </a:spcBef>
              <a:buClrTx/>
              <a:buSzTx/>
              <a:buFontTx/>
              <a:buNone/>
            </a:pPr>
            <a:r>
              <a:rPr lang="en-US" altLang="en-US" sz="2400" b="1">
                <a:latin typeface="Arial" panose="020B0604020202020204" pitchFamily="34" charset="0"/>
              </a:rPr>
              <a:t>UTM post office receives your boxes.</a:t>
            </a:r>
          </a:p>
        </p:txBody>
      </p:sp>
      <p:graphicFrame>
        <p:nvGraphicFramePr>
          <p:cNvPr id="177157" name="Object 5"/>
          <p:cNvGraphicFramePr>
            <a:graphicFrameLocks noChangeAspect="1"/>
          </p:cNvGraphicFramePr>
          <p:nvPr/>
        </p:nvGraphicFramePr>
        <p:xfrm>
          <a:off x="3505201" y="2514600"/>
          <a:ext cx="3744913" cy="2274888"/>
        </p:xfrm>
        <a:graphic>
          <a:graphicData uri="http://schemas.openxmlformats.org/presentationml/2006/ole">
            <mc:AlternateContent xmlns:mc="http://schemas.openxmlformats.org/markup-compatibility/2006">
              <mc:Choice xmlns:v="urn:schemas-microsoft-com:vml" Requires="v">
                <p:oleObj name="Clip" r:id="rId2" imgW="1307592" imgH="794614" progId="">
                  <p:embed/>
                </p:oleObj>
              </mc:Choice>
              <mc:Fallback>
                <p:oleObj name="Clip" r:id="rId2" imgW="1307592" imgH="794614" progId="">
                  <p:embed/>
                  <p:pic>
                    <p:nvPicPr>
                      <p:cNvPr id="177157"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05201" y="2514600"/>
                        <a:ext cx="3744913" cy="227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7158" name="Object 7"/>
          <p:cNvGraphicFramePr>
            <a:graphicFrameLocks noChangeAspect="1"/>
          </p:cNvGraphicFramePr>
          <p:nvPr/>
        </p:nvGraphicFramePr>
        <p:xfrm>
          <a:off x="8983664" y="4114801"/>
          <a:ext cx="693737" cy="657225"/>
        </p:xfrm>
        <a:graphic>
          <a:graphicData uri="http://schemas.openxmlformats.org/presentationml/2006/ole">
            <mc:AlternateContent xmlns:mc="http://schemas.openxmlformats.org/markup-compatibility/2006">
              <mc:Choice xmlns:v="urn:schemas-microsoft-com:vml" Requires="v">
                <p:oleObj name="Clip" r:id="rId4" imgW="1456639" imgH="1378001" progId="">
                  <p:embed/>
                </p:oleObj>
              </mc:Choice>
              <mc:Fallback>
                <p:oleObj name="Clip" r:id="rId4" imgW="1456639" imgH="1378001" progId="">
                  <p:embed/>
                  <p:pic>
                    <p:nvPicPr>
                      <p:cNvPr id="177158"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83664" y="4114801"/>
                        <a:ext cx="693737"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7159" name="Object 8"/>
          <p:cNvGraphicFramePr>
            <a:graphicFrameLocks noChangeAspect="1"/>
          </p:cNvGraphicFramePr>
          <p:nvPr/>
        </p:nvGraphicFramePr>
        <p:xfrm>
          <a:off x="8145464" y="4114801"/>
          <a:ext cx="693737" cy="657225"/>
        </p:xfrm>
        <a:graphic>
          <a:graphicData uri="http://schemas.openxmlformats.org/presentationml/2006/ole">
            <mc:AlternateContent xmlns:mc="http://schemas.openxmlformats.org/markup-compatibility/2006">
              <mc:Choice xmlns:v="urn:schemas-microsoft-com:vml" Requires="v">
                <p:oleObj name="Clip" r:id="rId6" imgW="1456639" imgH="1378001" progId="">
                  <p:embed/>
                </p:oleObj>
              </mc:Choice>
              <mc:Fallback>
                <p:oleObj name="Clip" r:id="rId6" imgW="1456639" imgH="1378001" progId="">
                  <p:embed/>
                  <p:pic>
                    <p:nvPicPr>
                      <p:cNvPr id="177159"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45464" y="4114801"/>
                        <a:ext cx="693737"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77160" name="Object 9"/>
          <p:cNvGraphicFramePr>
            <a:graphicFrameLocks noChangeAspect="1"/>
          </p:cNvGraphicFramePr>
          <p:nvPr/>
        </p:nvGraphicFramePr>
        <p:xfrm>
          <a:off x="7307264" y="4067176"/>
          <a:ext cx="693737" cy="657225"/>
        </p:xfrm>
        <a:graphic>
          <a:graphicData uri="http://schemas.openxmlformats.org/presentationml/2006/ole">
            <mc:AlternateContent xmlns:mc="http://schemas.openxmlformats.org/markup-compatibility/2006">
              <mc:Choice xmlns:v="urn:schemas-microsoft-com:vml" Requires="v">
                <p:oleObj name="Clip" r:id="rId7" imgW="1456639" imgH="1378001" progId="">
                  <p:embed/>
                </p:oleObj>
              </mc:Choice>
              <mc:Fallback>
                <p:oleObj name="Clip" r:id="rId7" imgW="1456639" imgH="1378001" progId="">
                  <p:embed/>
                  <p:pic>
                    <p:nvPicPr>
                      <p:cNvPr id="177160"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7264" y="4067176"/>
                        <a:ext cx="693737"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77161" name="Rectangle 11"/>
          <p:cNvSpPr>
            <a:spLocks noChangeArrowheads="1"/>
          </p:cNvSpPr>
          <p:nvPr/>
        </p:nvSpPr>
        <p:spPr bwMode="auto">
          <a:xfrm>
            <a:off x="5638800" y="2320925"/>
            <a:ext cx="1066800" cy="228600"/>
          </a:xfrm>
          <a:prstGeom prst="rect">
            <a:avLst/>
          </a:prstGeom>
          <a:solidFill>
            <a:schemeClr val="bg1"/>
          </a:solidFill>
          <a:ln w="9525">
            <a:solidFill>
              <a:schemeClr val="bg1"/>
            </a:solidFill>
            <a:miter lim="800000"/>
            <a:headEnd/>
            <a:tailEnd/>
          </a:ln>
        </p:spPr>
        <p:txBody>
          <a:bodyPr wrap="none" anchor="ct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2400" b="1">
              <a:latin typeface="Arial" panose="020B0604020202020204" pitchFamily="34" charset="0"/>
            </a:endParaRPr>
          </a:p>
        </p:txBody>
      </p:sp>
      <p:pic>
        <p:nvPicPr>
          <p:cNvPr id="177162" name="Picture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0600" y="1600201"/>
            <a:ext cx="1257300"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3" name="Picture 9" descr="underline_base"/>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101</a:t>
            </a:fld>
            <a:endParaRPr lang="en-US" altLang="en-US" sz="1200" b="1" dirty="0">
              <a:solidFill>
                <a:schemeClr val="tx2"/>
              </a:solidFill>
              <a:latin typeface="Arial" panose="020B0604020202020204" pitchFamily="34" charset="0"/>
            </a:endParaRPr>
          </a:p>
        </p:txBody>
      </p:sp>
      <p:sp>
        <p:nvSpPr>
          <p:cNvPr id="178179" name="Rectangle 2"/>
          <p:cNvSpPr>
            <a:spLocks noGrp="1" noChangeArrowheads="1"/>
          </p:cNvSpPr>
          <p:nvPr>
            <p:ph type="title"/>
          </p:nvPr>
        </p:nvSpPr>
        <p:spPr>
          <a:xfrm>
            <a:off x="1538289" y="42863"/>
            <a:ext cx="8993187" cy="1066800"/>
          </a:xfrm>
        </p:spPr>
        <p:txBody>
          <a:bodyPr/>
          <a:lstStyle/>
          <a:p>
            <a:pPr eaLnBrk="1" hangingPunct="1"/>
            <a:r>
              <a:rPr lang="en-US" altLang="en-US" sz="3200">
                <a:ea typeface="ＭＳ Ｐゴシック" panose="020B0600070205080204" pitchFamily="34" charset="-128"/>
              </a:rPr>
              <a:t>OSI Model Analogy: Network Layer - Destination</a:t>
            </a:r>
            <a:endParaRPr lang="en-US" altLang="en-US" sz="3200" u="sng">
              <a:ea typeface="ＭＳ Ｐゴシック" panose="020B0600070205080204" pitchFamily="34" charset="-128"/>
            </a:endParaRPr>
          </a:p>
        </p:txBody>
      </p:sp>
      <p:sp>
        <p:nvSpPr>
          <p:cNvPr id="178180" name="Text Box 3"/>
          <p:cNvSpPr txBox="1">
            <a:spLocks noChangeArrowheads="1"/>
          </p:cNvSpPr>
          <p:nvPr/>
        </p:nvSpPr>
        <p:spPr bwMode="auto">
          <a:xfrm>
            <a:off x="2366963" y="4419600"/>
            <a:ext cx="7924800" cy="1816100"/>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b="1">
                <a:latin typeface="Arial" panose="020B0604020202020204" pitchFamily="34" charset="0"/>
              </a:rPr>
              <a:t>Upon examining the destination address, UTM post office determines that your boxes should be delivered to the written home address.</a:t>
            </a:r>
          </a:p>
        </p:txBody>
      </p:sp>
      <p:graphicFrame>
        <p:nvGraphicFramePr>
          <p:cNvPr id="178181" name="Object 4"/>
          <p:cNvGraphicFramePr>
            <a:graphicFrameLocks noChangeAspect="1"/>
          </p:cNvGraphicFramePr>
          <p:nvPr/>
        </p:nvGraphicFramePr>
        <p:xfrm>
          <a:off x="4495801" y="1600200"/>
          <a:ext cx="3514725" cy="2535238"/>
        </p:xfrm>
        <a:graphic>
          <a:graphicData uri="http://schemas.openxmlformats.org/presentationml/2006/ole">
            <mc:AlternateContent xmlns:mc="http://schemas.openxmlformats.org/markup-compatibility/2006">
              <mc:Choice xmlns:v="urn:schemas-microsoft-com:vml" Requires="v">
                <p:oleObj name="Clip" r:id="rId2" imgW="1543507" imgH="1113739" progId="">
                  <p:embed/>
                </p:oleObj>
              </mc:Choice>
              <mc:Fallback>
                <p:oleObj name="Clip" r:id="rId2" imgW="1543507" imgH="1113739" progId="">
                  <p:embed/>
                  <p:pic>
                    <p:nvPicPr>
                      <p:cNvPr id="178181"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95801" y="1600200"/>
                        <a:ext cx="3514725" cy="253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8182"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102</a:t>
            </a:fld>
            <a:endParaRPr lang="en-US" altLang="en-US" sz="1200" b="1" dirty="0">
              <a:solidFill>
                <a:schemeClr val="tx2"/>
              </a:solidFill>
              <a:latin typeface="Arial" panose="020B0604020202020204" pitchFamily="34" charset="0"/>
            </a:endParaRPr>
          </a:p>
        </p:txBody>
      </p:sp>
      <p:sp>
        <p:nvSpPr>
          <p:cNvPr id="179203" name="Rectangle 2"/>
          <p:cNvSpPr>
            <a:spLocks noGrp="1" noChangeArrowheads="1"/>
          </p:cNvSpPr>
          <p:nvPr>
            <p:ph type="title"/>
          </p:nvPr>
        </p:nvSpPr>
        <p:spPr>
          <a:xfrm>
            <a:off x="1565276" y="84138"/>
            <a:ext cx="9020175" cy="1066800"/>
          </a:xfrm>
        </p:spPr>
        <p:txBody>
          <a:bodyPr/>
          <a:lstStyle/>
          <a:p>
            <a:pPr eaLnBrk="1" hangingPunct="1"/>
            <a:r>
              <a:rPr lang="en-US" altLang="en-US" sz="3200">
                <a:ea typeface="ＭＳ Ｐゴシック" panose="020B0600070205080204" pitchFamily="34" charset="-128"/>
              </a:rPr>
              <a:t>OSI Model Analogy : Transport Layer - Destination</a:t>
            </a:r>
            <a:endParaRPr lang="en-US" altLang="en-US" sz="3200" u="sng">
              <a:ea typeface="ＭＳ Ｐゴシック" panose="020B0600070205080204" pitchFamily="34" charset="-128"/>
            </a:endParaRPr>
          </a:p>
        </p:txBody>
      </p:sp>
      <p:sp>
        <p:nvSpPr>
          <p:cNvPr id="179204" name="Text Box 3"/>
          <p:cNvSpPr txBox="1">
            <a:spLocks noChangeArrowheads="1"/>
          </p:cNvSpPr>
          <p:nvPr/>
        </p:nvSpPr>
        <p:spPr bwMode="auto">
          <a:xfrm>
            <a:off x="2311400" y="5067300"/>
            <a:ext cx="7924800" cy="1200150"/>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Your friend calls you and tells you he got all 3 boxes and he is having another friend named FARIS reassemble the bicycle.  </a:t>
            </a:r>
          </a:p>
        </p:txBody>
      </p:sp>
      <p:graphicFrame>
        <p:nvGraphicFramePr>
          <p:cNvPr id="179205" name="Object 4"/>
          <p:cNvGraphicFramePr>
            <a:graphicFrameLocks noChangeAspect="1"/>
          </p:cNvGraphicFramePr>
          <p:nvPr/>
        </p:nvGraphicFramePr>
        <p:xfrm>
          <a:off x="4800601" y="1600200"/>
          <a:ext cx="2943225" cy="2973388"/>
        </p:xfrm>
        <a:graphic>
          <a:graphicData uri="http://schemas.openxmlformats.org/presentationml/2006/ole">
            <mc:AlternateContent xmlns:mc="http://schemas.openxmlformats.org/markup-compatibility/2006">
              <mc:Choice xmlns:v="urn:schemas-microsoft-com:vml" Requires="v">
                <p:oleObj name="Clip" r:id="rId2" imgW="1060704" imgH="1072591" progId="">
                  <p:embed/>
                </p:oleObj>
              </mc:Choice>
              <mc:Fallback>
                <p:oleObj name="Clip" r:id="rId2" imgW="1060704" imgH="1072591" progId="">
                  <p:embed/>
                  <p:pic>
                    <p:nvPicPr>
                      <p:cNvPr id="179205"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0601" y="1600200"/>
                        <a:ext cx="2943225" cy="297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9206"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2"/>
          <p:cNvSpPr>
            <a:spLocks noGrp="1" noChangeArrowheads="1"/>
          </p:cNvSpPr>
          <p:nvPr>
            <p:ph type="title"/>
          </p:nvPr>
        </p:nvSpPr>
        <p:spPr>
          <a:xfrm>
            <a:off x="1917701" y="0"/>
            <a:ext cx="8196263" cy="1143000"/>
          </a:xfrm>
        </p:spPr>
        <p:txBody>
          <a:bodyPr/>
          <a:lstStyle/>
          <a:p>
            <a:pPr algn="ctr" eaLnBrk="1" hangingPunct="1"/>
            <a:r>
              <a:rPr lang="en-US" altLang="en-US" sz="3200">
                <a:ea typeface="ＭＳ Ｐゴシック" panose="020B0600070205080204" pitchFamily="34" charset="-128"/>
              </a:rPr>
              <a:t>Session &amp; Presentation Layer - Destination</a:t>
            </a:r>
            <a:endParaRPr lang="en-US" altLang="en-US" sz="3200" u="sng">
              <a:ea typeface="ＭＳ Ｐゴシック" panose="020B0600070205080204" pitchFamily="34" charset="-128"/>
            </a:endParaRPr>
          </a:p>
        </p:txBody>
      </p:sp>
      <p:sp>
        <p:nvSpPr>
          <p:cNvPr id="180227"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D5DCA4F7-4BE3-4F2D-8734-1EE75784DB1C}" type="slidenum">
              <a:rPr lang="en-US" altLang="en-US" smtClean="0"/>
              <a:pPr eaLnBrk="1" hangingPunct="1">
                <a:lnSpc>
                  <a:spcPct val="100000"/>
                </a:lnSpc>
                <a:spcBef>
                  <a:spcPct val="0"/>
                </a:spcBef>
                <a:buClrTx/>
                <a:buSzTx/>
                <a:buFontTx/>
                <a:buNone/>
                <a:defRPr/>
              </a:pPr>
              <a:t>103</a:t>
            </a:fld>
            <a:endParaRPr lang="en-US" altLang="en-US" sz="1200" b="1" dirty="0">
              <a:solidFill>
                <a:schemeClr val="tx2"/>
              </a:solidFill>
              <a:latin typeface="Arial" panose="020B0604020202020204" pitchFamily="34" charset="0"/>
            </a:endParaRPr>
          </a:p>
        </p:txBody>
      </p:sp>
      <p:sp>
        <p:nvSpPr>
          <p:cNvPr id="180228" name="Text Box 3"/>
          <p:cNvSpPr txBox="1">
            <a:spLocks noChangeArrowheads="1"/>
          </p:cNvSpPr>
          <p:nvPr/>
        </p:nvSpPr>
        <p:spPr bwMode="auto">
          <a:xfrm>
            <a:off x="1981200" y="4800600"/>
            <a:ext cx="3581400" cy="1384300"/>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SESSION:</a:t>
            </a:r>
          </a:p>
          <a:p>
            <a:pPr>
              <a:lnSpc>
                <a:spcPct val="100000"/>
              </a:lnSpc>
              <a:spcBef>
                <a:spcPct val="0"/>
              </a:spcBef>
              <a:buClrTx/>
              <a:buSzTx/>
              <a:buFontTx/>
              <a:buNone/>
            </a:pPr>
            <a:r>
              <a:rPr lang="en-US" altLang="en-US" sz="2000" b="1">
                <a:latin typeface="Arial" panose="020B0604020202020204" pitchFamily="34" charset="0"/>
              </a:rPr>
              <a:t>Your friend hangs up because he is done talking to you.  </a:t>
            </a:r>
          </a:p>
        </p:txBody>
      </p:sp>
      <p:graphicFrame>
        <p:nvGraphicFramePr>
          <p:cNvPr id="180229" name="Object 4"/>
          <p:cNvGraphicFramePr>
            <a:graphicFrameLocks noChangeAspect="1"/>
          </p:cNvGraphicFramePr>
          <p:nvPr/>
        </p:nvGraphicFramePr>
        <p:xfrm>
          <a:off x="2743200" y="1752600"/>
          <a:ext cx="1771650" cy="2736850"/>
        </p:xfrm>
        <a:graphic>
          <a:graphicData uri="http://schemas.openxmlformats.org/presentationml/2006/ole">
            <mc:AlternateContent xmlns:mc="http://schemas.openxmlformats.org/markup-compatibility/2006">
              <mc:Choice xmlns:v="urn:schemas-microsoft-com:vml" Requires="v">
                <p:oleObj name="Clip" r:id="rId2" imgW="1275588" imgH="1970532" progId="">
                  <p:embed/>
                </p:oleObj>
              </mc:Choice>
              <mc:Fallback>
                <p:oleObj name="Clip" r:id="rId2" imgW="1275588" imgH="1970532" progId="">
                  <p:embed/>
                  <p:pic>
                    <p:nvPicPr>
                      <p:cNvPr id="180229"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43200" y="1752600"/>
                        <a:ext cx="1771650" cy="273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80230" name="Object 3"/>
          <p:cNvGraphicFramePr>
            <a:graphicFrameLocks noChangeAspect="1"/>
          </p:cNvGraphicFramePr>
          <p:nvPr/>
        </p:nvGraphicFramePr>
        <p:xfrm>
          <a:off x="7081838" y="1524000"/>
          <a:ext cx="1827212" cy="2057400"/>
        </p:xfrm>
        <a:graphic>
          <a:graphicData uri="http://schemas.openxmlformats.org/presentationml/2006/ole">
            <mc:AlternateContent xmlns:mc="http://schemas.openxmlformats.org/markup-compatibility/2006">
              <mc:Choice xmlns:v="urn:schemas-microsoft-com:vml" Requires="v">
                <p:oleObj name="Clip" r:id="rId4" imgW="880567" imgH="991210" progId="">
                  <p:embed/>
                </p:oleObj>
              </mc:Choice>
              <mc:Fallback>
                <p:oleObj name="Clip" r:id="rId4" imgW="880567" imgH="991210" progId="">
                  <p:embed/>
                  <p:pic>
                    <p:nvPicPr>
                      <p:cNvPr id="180230"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81838" y="1524000"/>
                        <a:ext cx="1827212"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80231" name="Text Box 3"/>
          <p:cNvSpPr txBox="1">
            <a:spLocks noChangeArrowheads="1"/>
          </p:cNvSpPr>
          <p:nvPr/>
        </p:nvSpPr>
        <p:spPr bwMode="auto">
          <a:xfrm>
            <a:off x="6015038" y="4165600"/>
            <a:ext cx="3962400" cy="2000250"/>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PRESENTATION:</a:t>
            </a:r>
          </a:p>
          <a:p>
            <a:pPr>
              <a:lnSpc>
                <a:spcPct val="100000"/>
              </a:lnSpc>
              <a:spcBef>
                <a:spcPct val="0"/>
              </a:spcBef>
              <a:buClrTx/>
              <a:buSzTx/>
              <a:buFontTx/>
              <a:buNone/>
            </a:pPr>
            <a:r>
              <a:rPr lang="en-US" altLang="en-US" sz="2000" b="1">
                <a:latin typeface="Arial" panose="020B0604020202020204" pitchFamily="34" charset="0"/>
              </a:rPr>
              <a:t>FARIS is finished and “presents” the bicycle to your friend.  Another way to say it is that your friend is finally getting his “present”.  </a:t>
            </a:r>
          </a:p>
        </p:txBody>
      </p:sp>
      <p:pic>
        <p:nvPicPr>
          <p:cNvPr id="180232" name="Picture 9" descr="underline_base"/>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51025" y="927100"/>
            <a:ext cx="8345488"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Slide Number Placeholder 5"/>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eaLnBrk="1" hangingPunct="1">
              <a:lnSpc>
                <a:spcPct val="100000"/>
              </a:lnSpc>
              <a:spcBef>
                <a:spcPct val="0"/>
              </a:spcBef>
              <a:buClrTx/>
              <a:buSzTx/>
              <a:buFontTx/>
              <a:buNone/>
              <a:defRPr/>
            </a:pPr>
            <a:r>
              <a:rPr lang="en-US" altLang="en-US" dirty="0"/>
              <a:t>1-</a:t>
            </a:r>
            <a:fld id="{5AE42DEE-4EFD-4272-B04D-0980BF676BBF}" type="slidenum">
              <a:rPr lang="en-US" altLang="en-US" smtClean="0"/>
              <a:pPr eaLnBrk="1" hangingPunct="1">
                <a:lnSpc>
                  <a:spcPct val="100000"/>
                </a:lnSpc>
                <a:spcBef>
                  <a:spcPct val="0"/>
                </a:spcBef>
                <a:buClrTx/>
                <a:buSzTx/>
                <a:buFontTx/>
                <a:buNone/>
                <a:defRPr/>
              </a:pPr>
              <a:t>104</a:t>
            </a:fld>
            <a:endParaRPr lang="en-US" altLang="en-US" sz="1200" b="1" dirty="0">
              <a:solidFill>
                <a:schemeClr val="tx2"/>
              </a:solidFill>
              <a:latin typeface="Arial" panose="020B0604020202020204" pitchFamily="34" charset="0"/>
            </a:endParaRPr>
          </a:p>
        </p:txBody>
      </p:sp>
      <p:sp>
        <p:nvSpPr>
          <p:cNvPr id="181251" name="Rectangle 2"/>
          <p:cNvSpPr>
            <a:spLocks noGrp="1" noChangeArrowheads="1"/>
          </p:cNvSpPr>
          <p:nvPr>
            <p:ph type="title"/>
          </p:nvPr>
        </p:nvSpPr>
        <p:spPr>
          <a:xfrm>
            <a:off x="1550988" y="69850"/>
            <a:ext cx="9034462" cy="1066800"/>
          </a:xfrm>
        </p:spPr>
        <p:txBody>
          <a:bodyPr/>
          <a:lstStyle/>
          <a:p>
            <a:pPr eaLnBrk="1" hangingPunct="1"/>
            <a:r>
              <a:rPr lang="en-US" altLang="en-US" sz="3200">
                <a:ea typeface="ＭＳ Ｐゴシック" panose="020B0600070205080204" pitchFamily="34" charset="-128"/>
              </a:rPr>
              <a:t>OSI Model Analogy : Application Layer - Destination</a:t>
            </a:r>
            <a:endParaRPr lang="en-US" altLang="en-US" sz="3200" u="sng">
              <a:ea typeface="ＭＳ Ｐゴシック" panose="020B0600070205080204" pitchFamily="34" charset="-128"/>
            </a:endParaRPr>
          </a:p>
        </p:txBody>
      </p:sp>
      <p:sp>
        <p:nvSpPr>
          <p:cNvPr id="181252" name="Text Box 3"/>
          <p:cNvSpPr txBox="1">
            <a:spLocks noChangeArrowheads="1"/>
          </p:cNvSpPr>
          <p:nvPr/>
        </p:nvSpPr>
        <p:spPr bwMode="auto">
          <a:xfrm>
            <a:off x="2311400" y="5221288"/>
            <a:ext cx="7924800" cy="461962"/>
          </a:xfrm>
          <a:prstGeom prst="rect">
            <a:avLst/>
          </a:prstGeom>
          <a:solidFill>
            <a:srgbClr val="00FFCC"/>
          </a:solidFill>
          <a:ln w="57150">
            <a:solidFill>
              <a:schemeClr val="tx1"/>
            </a:solidFill>
            <a:miter lim="800000"/>
            <a:headEnd/>
            <a:tailEnd/>
          </a:ln>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a:latin typeface="Arial" panose="020B0604020202020204" pitchFamily="34" charset="0"/>
              </a:rPr>
              <a:t>Your friend enjoys riding his new bicycle in UTM.</a:t>
            </a:r>
          </a:p>
        </p:txBody>
      </p:sp>
      <p:graphicFrame>
        <p:nvGraphicFramePr>
          <p:cNvPr id="181253" name="Object 4"/>
          <p:cNvGraphicFramePr>
            <a:graphicFrameLocks noChangeAspect="1"/>
          </p:cNvGraphicFramePr>
          <p:nvPr/>
        </p:nvGraphicFramePr>
        <p:xfrm>
          <a:off x="3810000" y="1600200"/>
          <a:ext cx="4857750" cy="3219450"/>
        </p:xfrm>
        <a:graphic>
          <a:graphicData uri="http://schemas.openxmlformats.org/presentationml/2006/ole">
            <mc:AlternateContent xmlns:mc="http://schemas.openxmlformats.org/markup-compatibility/2006">
              <mc:Choice xmlns:v="urn:schemas-microsoft-com:vml" Requires="v">
                <p:oleObj name="Clip" r:id="rId2" imgW="4857143" imgH="3219048" progId="">
                  <p:embed/>
                </p:oleObj>
              </mc:Choice>
              <mc:Fallback>
                <p:oleObj name="Clip" r:id="rId2" imgW="4857143" imgH="3219048" progId="">
                  <p:embed/>
                  <p:pic>
                    <p:nvPicPr>
                      <p:cNvPr id="181253"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0000" y="1600200"/>
                        <a:ext cx="4857750" cy="321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81254"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788" y="968375"/>
            <a:ext cx="8343900"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bwMode="auto">
          <a:xfrm>
            <a:off x="5576888" y="6467475"/>
            <a:ext cx="28956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r" rtl="0" eaLnBrk="0" fontAlgn="base" hangingPunct="0">
              <a:spcBef>
                <a:spcPct val="0"/>
              </a:spcBef>
              <a:spcAft>
                <a:spcPct val="0"/>
              </a:spcAft>
              <a:defRPr sz="1200" kern="1200">
                <a:solidFill>
                  <a:schemeClr val="tx1"/>
                </a:solidFill>
                <a:latin typeface="Tahoma" pitchFamily="34" charset="0"/>
                <a:ea typeface="+mn-ea"/>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defRPr/>
            </a:pPr>
            <a:r>
              <a:rPr lang="en-US"/>
              <a:t>Introduction</a:t>
            </a:r>
          </a:p>
        </p:txBody>
      </p:sp>
      <p:sp>
        <p:nvSpPr>
          <p:cNvPr id="182275" name="Slide Number Placeholder 4"/>
          <p:cNvSpPr>
            <a:spLocks noGrp="1" noChangeArrowheads="1"/>
          </p:cNvSpPr>
          <p:nvPr>
            <p:ph type="sldNum" sz="quarter" idx="12"/>
          </p:nvPr>
        </p:nvSpPr>
        <p:spPr bwMode="auto">
          <a:xfrm>
            <a:off x="8324850" y="6462713"/>
            <a:ext cx="676275" cy="276225"/>
          </a:xfrm>
          <a:prstGeom prst="rect">
            <a:avLst/>
          </a:prstGeom>
          <a:noFill/>
          <a:ln w="9525">
            <a:noFill/>
            <a:miter lim="800000"/>
            <a:headEnd/>
            <a:tailEnd/>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algn="l" rtl="0" eaLnBrk="0" fontAlgn="base" hangingPunct="0">
              <a:spcBef>
                <a:spcPct val="0"/>
              </a:spcBef>
              <a:spcAft>
                <a:spcPct val="0"/>
              </a:spcAft>
              <a:defRPr sz="1200" kern="1200">
                <a:solidFill>
                  <a:schemeClr val="tx1"/>
                </a:solidFill>
                <a:latin typeface="Tahoma" panose="020B0604030504040204" pitchFamily="34"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Arial" panose="020B0604020202020204" pitchFamily="34" charset="0"/>
                <a:ea typeface="ＭＳ Ｐゴシック" panose="020B0600070205080204" pitchFamily="34" charset="-128"/>
                <a:cs typeface="+mn-cs"/>
              </a:defRPr>
            </a:lvl9pPr>
          </a:lstStyle>
          <a:p>
            <a:pPr>
              <a:lnSpc>
                <a:spcPct val="100000"/>
              </a:lnSpc>
              <a:spcBef>
                <a:spcPct val="0"/>
              </a:spcBef>
              <a:buClrTx/>
              <a:buSzTx/>
              <a:buFontTx/>
              <a:buNone/>
              <a:defRPr/>
            </a:pPr>
            <a:r>
              <a:rPr lang="en-US" altLang="en-US" dirty="0"/>
              <a:t>1-</a:t>
            </a:r>
            <a:fld id="{5AE42DEE-4EFD-4272-B04D-0980BF676BBF}" type="slidenum">
              <a:rPr lang="en-US" altLang="en-US" smtClean="0"/>
              <a:pPr>
                <a:lnSpc>
                  <a:spcPct val="100000"/>
                </a:lnSpc>
                <a:spcBef>
                  <a:spcPct val="0"/>
                </a:spcBef>
                <a:buClrTx/>
                <a:buSzTx/>
                <a:buFontTx/>
                <a:buNone/>
                <a:defRPr/>
              </a:pPr>
              <a:t>105</a:t>
            </a:fld>
            <a:endParaRPr lang="en-US" altLang="en-US" sz="1200" dirty="0">
              <a:latin typeface="Tahoma" panose="020B0604030504040204" pitchFamily="34" charset="0"/>
            </a:endParaRPr>
          </a:p>
        </p:txBody>
      </p:sp>
      <p:pic>
        <p:nvPicPr>
          <p:cNvPr id="182276" name="Picture 2" descr="http://markun.cs.shinshu-u.ac.jp/learn/osi/e_zua-6-1.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85964" y="2565400"/>
            <a:ext cx="5507037" cy="351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277" name="Picture 4" descr="http://electronicdesign.com/site-files/electronicdesign.com/files/uploads/2013/09/0913_WTD_osi_F2.gif"/>
          <p:cNvPicPr>
            <a:picLocks noChangeAspect="1" noChangeArrowheads="1"/>
          </p:cNvPicPr>
          <p:nvPr/>
        </p:nvPicPr>
        <p:blipFill>
          <a:blip r:embed="rId4">
            <a:extLst>
              <a:ext uri="{28A0092B-C50C-407E-A947-70E740481C1C}">
                <a14:useLocalDpi xmlns:a14="http://schemas.microsoft.com/office/drawing/2010/main" val="0"/>
              </a:ext>
            </a:extLst>
          </a:blip>
          <a:srcRect l="48306" r="18462" b="3769"/>
          <a:stretch>
            <a:fillRect/>
          </a:stretch>
        </p:blipFill>
        <p:spPr bwMode="auto">
          <a:xfrm>
            <a:off x="8034339" y="2852738"/>
            <a:ext cx="1882775" cy="281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278" name="Picture 16" descr="underline_base"/>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81213" y="955675"/>
            <a:ext cx="5484812"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279" name="Rectangle 3"/>
          <p:cNvSpPr>
            <a:spLocks noGrp="1" noChangeArrowheads="1"/>
          </p:cNvSpPr>
          <p:nvPr>
            <p:ph type="title" idx="4294967295"/>
          </p:nvPr>
        </p:nvSpPr>
        <p:spPr>
          <a:xfrm>
            <a:off x="1985964" y="128588"/>
            <a:ext cx="8340725" cy="1028700"/>
          </a:xfrm>
        </p:spPr>
        <p:txBody>
          <a:bodyPr/>
          <a:lstStyle/>
          <a:p>
            <a:pPr eaLnBrk="1" hangingPunct="1"/>
            <a:r>
              <a:rPr lang="en-US" altLang="en-US" dirty="0">
                <a:ea typeface="ＭＳ Ｐゴシック" panose="020B0600070205080204" pitchFamily="34" charset="-128"/>
              </a:rPr>
              <a:t>Internet protocol stack (TCP/IP)  </a:t>
            </a:r>
          </a:p>
        </p:txBody>
      </p:sp>
      <p:sp>
        <p:nvSpPr>
          <p:cNvPr id="182280" name="Rectangle 5"/>
          <p:cNvSpPr>
            <a:spLocks noChangeArrowheads="1"/>
          </p:cNvSpPr>
          <p:nvPr/>
        </p:nvSpPr>
        <p:spPr bwMode="auto">
          <a:xfrm>
            <a:off x="2109789" y="1266826"/>
            <a:ext cx="7958137"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600">
                <a:latin typeface="Arial" panose="020B0604020202020204" pitchFamily="34" charset="0"/>
              </a:rPr>
              <a:t>TCP/IP was developed by Advanced Research Projects Agency (ARPA) to build </a:t>
            </a:r>
            <a:r>
              <a:rPr lang="ms-MY" altLang="en-US" sz="1600">
                <a:latin typeface="Arial" panose="020B0604020202020204" pitchFamily="34" charset="0"/>
              </a:rPr>
              <a:t>a nationwide </a:t>
            </a:r>
            <a:r>
              <a:rPr lang="en-US" altLang="en-US" sz="1600">
                <a:latin typeface="Arial" panose="020B0604020202020204" pitchFamily="34" charset="0"/>
              </a:rPr>
              <a:t>packet data network in 1960s. It was first used in UNIX-based computers in universities and government installations. Today, it is the main protocol used in all Internet operations.</a:t>
            </a:r>
            <a:endParaRPr lang="ms-MY" altLang="en-US" sz="1600">
              <a:latin typeface="Arial" panose="020B0604020202020204" pitchFamily="34" charset="0"/>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protocol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tack</a:t>
            </a:r>
            <a:r>
              <a:rPr lang="en-US" altLang="en-US" dirty="0">
                <a:ea typeface="ＭＳ Ｐゴシック" panose="020B0600070205080204" pitchFamily="34" charset="-128"/>
              </a:rPr>
              <a:t> (TCP/IP)</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106</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79383" y="1472008"/>
            <a:ext cx="7368749"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lnSpc>
                <a:spcPct val="80000"/>
              </a:lnSpc>
            </a:pPr>
            <a:r>
              <a:rPr lang="en-US" altLang="en-US" sz="3200" i="1" dirty="0">
                <a:solidFill>
                  <a:srgbClr val="CC0000"/>
                </a:solidFill>
                <a:ea typeface="ＭＳ Ｐゴシック" panose="020B0600070205080204" pitchFamily="34" charset="-128"/>
              </a:rPr>
              <a:t>application:</a:t>
            </a:r>
            <a:r>
              <a:rPr lang="en-US" altLang="en-US" sz="3200" dirty="0">
                <a:ea typeface="ＭＳ Ｐゴシック" panose="020B0600070205080204" pitchFamily="34" charset="-128"/>
              </a:rPr>
              <a:t> </a:t>
            </a:r>
            <a:r>
              <a:rPr lang="en-US" altLang="en-US" dirty="0">
                <a:ea typeface="ＭＳ Ｐゴシック" panose="020B0600070205080204" pitchFamily="34" charset="-128"/>
              </a:rPr>
              <a:t>supporting network applications</a:t>
            </a:r>
          </a:p>
          <a:p>
            <a:pPr marL="682625" lvl="1" indent="-225425">
              <a:lnSpc>
                <a:spcPct val="80000"/>
              </a:lnSpc>
            </a:pPr>
            <a:r>
              <a:rPr lang="en-US" altLang="en-US" dirty="0">
                <a:ea typeface="Arial" panose="020B0604020202020204" pitchFamily="34" charset="0"/>
              </a:rPr>
              <a:t>IMAP, SMTP, HTTP</a:t>
            </a:r>
          </a:p>
          <a:p>
            <a:pPr marL="287338" indent="-287338">
              <a:lnSpc>
                <a:spcPct val="80000"/>
              </a:lnSpc>
            </a:pPr>
            <a:r>
              <a:rPr lang="en-US" altLang="en-US" sz="3200" i="1" dirty="0">
                <a:solidFill>
                  <a:srgbClr val="CC0000"/>
                </a:solidFill>
                <a:ea typeface="ＭＳ Ｐゴシック" panose="020B0600070205080204" pitchFamily="34" charset="-128"/>
              </a:rPr>
              <a:t>transport:</a:t>
            </a:r>
            <a:r>
              <a:rPr lang="en-US" altLang="en-US" sz="3200" dirty="0">
                <a:ea typeface="ＭＳ Ｐゴシック" panose="020B0600070205080204" pitchFamily="34" charset="-128"/>
              </a:rPr>
              <a:t> </a:t>
            </a:r>
            <a:r>
              <a:rPr lang="en-US" altLang="en-US" dirty="0">
                <a:ea typeface="ＭＳ Ｐゴシック" panose="020B0600070205080204" pitchFamily="34" charset="-128"/>
              </a:rPr>
              <a:t>process-process data transfer</a:t>
            </a:r>
          </a:p>
          <a:p>
            <a:pPr marL="682625" lvl="1" indent="-225425">
              <a:lnSpc>
                <a:spcPct val="80000"/>
              </a:lnSpc>
            </a:pPr>
            <a:r>
              <a:rPr lang="en-US" altLang="en-US" dirty="0">
                <a:ea typeface="Arial" panose="020B0604020202020204" pitchFamily="34" charset="0"/>
              </a:rPr>
              <a:t>TCP, UDP</a:t>
            </a:r>
          </a:p>
          <a:p>
            <a:pPr marL="287338" indent="-287338">
              <a:lnSpc>
                <a:spcPct val="80000"/>
              </a:lnSpc>
            </a:pPr>
            <a:r>
              <a:rPr lang="en-US" altLang="en-US" sz="3200" i="1" dirty="0">
                <a:solidFill>
                  <a:srgbClr val="CC0000"/>
                </a:solidFill>
                <a:ea typeface="ＭＳ Ｐゴシック" panose="020B0600070205080204" pitchFamily="34" charset="-128"/>
              </a:rPr>
              <a:t>network:</a:t>
            </a:r>
            <a:r>
              <a:rPr lang="en-US" altLang="en-US" sz="3200" dirty="0">
                <a:ea typeface="ＭＳ Ｐゴシック" panose="020B0600070205080204" pitchFamily="34" charset="-128"/>
              </a:rPr>
              <a:t> </a:t>
            </a:r>
            <a:r>
              <a:rPr lang="en-US" altLang="en-US" dirty="0">
                <a:ea typeface="ＭＳ Ｐゴシック" panose="020B0600070205080204" pitchFamily="34" charset="-128"/>
              </a:rPr>
              <a:t>routing of datagrams from source to destination</a:t>
            </a:r>
          </a:p>
          <a:p>
            <a:pPr marL="682625" lvl="1" indent="-225425">
              <a:lnSpc>
                <a:spcPct val="80000"/>
              </a:lnSpc>
            </a:pPr>
            <a:r>
              <a:rPr lang="en-US" altLang="en-US" dirty="0">
                <a:ea typeface="Arial" panose="020B0604020202020204" pitchFamily="34" charset="0"/>
              </a:rPr>
              <a:t>IP, routing protocols</a:t>
            </a:r>
          </a:p>
          <a:p>
            <a:pPr marL="287338" indent="-287338">
              <a:lnSpc>
                <a:spcPct val="80000"/>
              </a:lnSpc>
            </a:pPr>
            <a:r>
              <a:rPr lang="en-US" altLang="en-US" sz="3200" i="1" dirty="0">
                <a:solidFill>
                  <a:srgbClr val="CC0000"/>
                </a:solidFill>
                <a:ea typeface="ＭＳ Ｐゴシック" panose="020B0600070205080204" pitchFamily="34" charset="-128"/>
              </a:rPr>
              <a:t>link:</a:t>
            </a:r>
            <a:r>
              <a:rPr lang="en-US" altLang="en-US" sz="3200" dirty="0">
                <a:ea typeface="ＭＳ Ｐゴシック" panose="020B0600070205080204" pitchFamily="34" charset="-128"/>
              </a:rPr>
              <a:t> </a:t>
            </a:r>
            <a:r>
              <a:rPr lang="en-US" altLang="en-US" dirty="0">
                <a:ea typeface="ＭＳ Ｐゴシック" panose="020B0600070205080204" pitchFamily="34" charset="-128"/>
              </a:rPr>
              <a:t>data transfer between neighboring  network elements</a:t>
            </a:r>
          </a:p>
          <a:p>
            <a:pPr marL="682625" lvl="1" indent="-225425">
              <a:lnSpc>
                <a:spcPct val="80000"/>
              </a:lnSpc>
            </a:pPr>
            <a:r>
              <a:rPr lang="en-US" altLang="en-US" dirty="0">
                <a:ea typeface="Arial" panose="020B0604020202020204" pitchFamily="34" charset="0"/>
              </a:rPr>
              <a:t>Ethernet, 802.11 (</a:t>
            </a:r>
            <a:r>
              <a:rPr lang="en-US" altLang="en-US" dirty="0" err="1">
                <a:ea typeface="Arial" panose="020B0604020202020204" pitchFamily="34" charset="0"/>
              </a:rPr>
              <a:t>WiFi</a:t>
            </a:r>
            <a:r>
              <a:rPr lang="en-US" altLang="en-US" dirty="0">
                <a:ea typeface="Arial" panose="020B0604020202020204" pitchFamily="34" charset="0"/>
              </a:rPr>
              <a:t>), PPP</a:t>
            </a:r>
          </a:p>
          <a:p>
            <a:pPr marL="287338" indent="-287338">
              <a:lnSpc>
                <a:spcPct val="80000"/>
              </a:lnSpc>
            </a:pPr>
            <a:r>
              <a:rPr lang="en-US" altLang="en-US" sz="3200" i="1" dirty="0">
                <a:solidFill>
                  <a:srgbClr val="CC0000"/>
                </a:solidFill>
                <a:ea typeface="ＭＳ Ｐゴシック" panose="020B0600070205080204" pitchFamily="34" charset="-128"/>
              </a:rPr>
              <a:t>physical:</a:t>
            </a:r>
            <a:r>
              <a:rPr lang="en-US" altLang="en-US" sz="3200" dirty="0">
                <a:ea typeface="ＭＳ Ｐゴシック" panose="020B0600070205080204" pitchFamily="34" charset="-128"/>
              </a:rPr>
              <a:t> </a:t>
            </a:r>
            <a:r>
              <a:rPr lang="en-US" altLang="en-US" dirty="0">
                <a:ea typeface="ＭＳ Ｐゴシック" panose="020B0600070205080204" pitchFamily="34" charset="-128"/>
              </a:rPr>
              <a:t>bits “</a:t>
            </a:r>
            <a:r>
              <a:rPr lang="en-US" altLang="ja-JP" dirty="0">
                <a:ea typeface="ＭＳ Ｐゴシック" panose="020B0600070205080204" pitchFamily="34" charset="-128"/>
              </a:rPr>
              <a:t>on the wire”</a:t>
            </a:r>
          </a:p>
        </p:txBody>
      </p:sp>
      <p:grpSp>
        <p:nvGrpSpPr>
          <p:cNvPr id="5" name="Group 4">
            <a:extLst>
              <a:ext uri="{FF2B5EF4-FFF2-40B4-BE49-F238E27FC236}">
                <a16:creationId xmlns:a16="http://schemas.microsoft.com/office/drawing/2014/main" id="{33EE82EB-3D7B-324B-ADA2-7529491D0F68}"/>
              </a:ext>
            </a:extLst>
          </p:cNvPr>
          <p:cNvGrpSpPr/>
          <p:nvPr/>
        </p:nvGrpSpPr>
        <p:grpSpPr>
          <a:xfrm>
            <a:off x="8906934" y="1848710"/>
            <a:ext cx="2016125" cy="3627438"/>
            <a:chOff x="6451600" y="1727200"/>
            <a:chExt cx="2016125" cy="3627438"/>
          </a:xfrm>
        </p:grpSpPr>
        <p:sp>
          <p:nvSpPr>
            <p:cNvPr id="7" name="Rectangle 2">
              <a:extLst>
                <a:ext uri="{FF2B5EF4-FFF2-40B4-BE49-F238E27FC236}">
                  <a16:creationId xmlns:a16="http://schemas.microsoft.com/office/drawing/2014/main" id="{D52760EE-E3E5-AB4A-B314-FF76E66715C6}"/>
                </a:ext>
              </a:extLst>
            </p:cNvPr>
            <p:cNvSpPr>
              <a:spLocks noChangeArrowheads="1"/>
            </p:cNvSpPr>
            <p:nvPr/>
          </p:nvSpPr>
          <p:spPr bwMode="auto">
            <a:xfrm>
              <a:off x="6575425" y="1727200"/>
              <a:ext cx="1892300" cy="3530600"/>
            </a:xfrm>
            <a:prstGeom prst="rect">
              <a:avLst/>
            </a:prstGeom>
            <a:solidFill>
              <a:srgbClr val="0000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ts val="2060"/>
                </a:lnSpc>
              </a:pPr>
              <a:endParaRPr lang="en-US" altLang="en-US" sz="2800">
                <a:latin typeface="+mn-lt"/>
              </a:endParaRPr>
            </a:p>
          </p:txBody>
        </p:sp>
        <p:sp>
          <p:nvSpPr>
            <p:cNvPr id="8" name="Rectangle 6">
              <a:extLst>
                <a:ext uri="{FF2B5EF4-FFF2-40B4-BE49-F238E27FC236}">
                  <a16:creationId xmlns:a16="http://schemas.microsoft.com/office/drawing/2014/main" id="{7FC87645-22AD-8040-8C83-BC2F64C5D928}"/>
                </a:ext>
              </a:extLst>
            </p:cNvPr>
            <p:cNvSpPr>
              <a:spLocks noChangeArrowheads="1"/>
            </p:cNvSpPr>
            <p:nvPr/>
          </p:nvSpPr>
          <p:spPr bwMode="auto">
            <a:xfrm>
              <a:off x="6457950" y="1824038"/>
              <a:ext cx="1892300" cy="3530600"/>
            </a:xfrm>
            <a:prstGeom prst="rect">
              <a:avLst/>
            </a:prstGeom>
            <a:solidFill>
              <a:schemeClr val="bg1"/>
            </a:solidFill>
            <a:ln w="381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ts val="2060"/>
                </a:lnSpc>
              </a:pPr>
              <a:endParaRPr lang="en-US" altLang="en-US" sz="2800">
                <a:latin typeface="+mn-lt"/>
              </a:endParaRPr>
            </a:p>
          </p:txBody>
        </p:sp>
        <p:sp>
          <p:nvSpPr>
            <p:cNvPr id="9" name="Text Box 7">
              <a:extLst>
                <a:ext uri="{FF2B5EF4-FFF2-40B4-BE49-F238E27FC236}">
                  <a16:creationId xmlns:a16="http://schemas.microsoft.com/office/drawing/2014/main" id="{8C032AE1-21C7-1541-9531-59DC0E0F6A64}"/>
                </a:ext>
              </a:extLst>
            </p:cNvPr>
            <p:cNvSpPr txBox="1">
              <a:spLocks noChangeArrowheads="1"/>
            </p:cNvSpPr>
            <p:nvPr/>
          </p:nvSpPr>
          <p:spPr bwMode="auto">
            <a:xfrm>
              <a:off x="6487143" y="1920875"/>
              <a:ext cx="1795813" cy="3328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2760"/>
                </a:lnSpc>
              </a:pPr>
              <a:r>
                <a:rPr lang="en-US" altLang="en-US" sz="2800" dirty="0">
                  <a:latin typeface="+mn-lt"/>
                </a:rPr>
                <a:t>application</a:t>
              </a:r>
            </a:p>
            <a:p>
              <a:pPr algn="ctr">
                <a:lnSpc>
                  <a:spcPts val="2760"/>
                </a:lnSpc>
              </a:pPr>
              <a:endParaRPr lang="en-US" altLang="en-US" sz="2800" dirty="0">
                <a:latin typeface="+mn-lt"/>
              </a:endParaRPr>
            </a:p>
            <a:p>
              <a:pPr algn="ctr">
                <a:lnSpc>
                  <a:spcPts val="2760"/>
                </a:lnSpc>
              </a:pPr>
              <a:r>
                <a:rPr lang="en-US" altLang="en-US" sz="2800" dirty="0">
                  <a:latin typeface="+mn-lt"/>
                </a:rPr>
                <a:t>transport</a:t>
              </a:r>
            </a:p>
            <a:p>
              <a:pPr algn="ctr">
                <a:lnSpc>
                  <a:spcPts val="2760"/>
                </a:lnSpc>
              </a:pPr>
              <a:endParaRPr lang="en-US" altLang="en-US" sz="2800" dirty="0">
                <a:latin typeface="+mn-lt"/>
              </a:endParaRPr>
            </a:p>
            <a:p>
              <a:pPr algn="ctr">
                <a:lnSpc>
                  <a:spcPts val="2760"/>
                </a:lnSpc>
              </a:pPr>
              <a:r>
                <a:rPr lang="en-US" altLang="en-US" sz="2800" dirty="0">
                  <a:latin typeface="+mn-lt"/>
                </a:rPr>
                <a:t>network</a:t>
              </a:r>
            </a:p>
            <a:p>
              <a:pPr algn="ctr">
                <a:lnSpc>
                  <a:spcPts val="2760"/>
                </a:lnSpc>
              </a:pPr>
              <a:endParaRPr lang="en-US" altLang="en-US" sz="2800" dirty="0">
                <a:latin typeface="+mn-lt"/>
              </a:endParaRPr>
            </a:p>
            <a:p>
              <a:pPr algn="ctr">
                <a:lnSpc>
                  <a:spcPts val="2760"/>
                </a:lnSpc>
              </a:pPr>
              <a:r>
                <a:rPr lang="en-US" altLang="en-US" sz="2800" dirty="0">
                  <a:latin typeface="+mn-lt"/>
                </a:rPr>
                <a:t>link</a:t>
              </a:r>
            </a:p>
            <a:p>
              <a:pPr algn="ctr">
                <a:lnSpc>
                  <a:spcPts val="2760"/>
                </a:lnSpc>
              </a:pPr>
              <a:endParaRPr lang="en-US" altLang="en-US" sz="2800" dirty="0">
                <a:latin typeface="+mn-lt"/>
              </a:endParaRPr>
            </a:p>
            <a:p>
              <a:pPr algn="ctr">
                <a:lnSpc>
                  <a:spcPts val="2760"/>
                </a:lnSpc>
              </a:pPr>
              <a:r>
                <a:rPr lang="en-US" altLang="en-US" sz="2800" dirty="0">
                  <a:latin typeface="+mn-lt"/>
                </a:rPr>
                <a:t>physical</a:t>
              </a:r>
            </a:p>
          </p:txBody>
        </p:sp>
        <p:sp>
          <p:nvSpPr>
            <p:cNvPr id="10" name="Line 8">
              <a:extLst>
                <a:ext uri="{FF2B5EF4-FFF2-40B4-BE49-F238E27FC236}">
                  <a16:creationId xmlns:a16="http://schemas.microsoft.com/office/drawing/2014/main" id="{2FF6CB9E-FC16-794F-9F97-8FE4CC7DA95C}"/>
                </a:ext>
              </a:extLst>
            </p:cNvPr>
            <p:cNvSpPr>
              <a:spLocks noChangeShapeType="1"/>
            </p:cNvSpPr>
            <p:nvPr/>
          </p:nvSpPr>
          <p:spPr bwMode="auto">
            <a:xfrm>
              <a:off x="6451600" y="251618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lnSpc>
                  <a:spcPts val="2060"/>
                </a:lnSpc>
              </a:pPr>
              <a:endParaRPr lang="en-US" sz="2000"/>
            </a:p>
          </p:txBody>
        </p:sp>
        <p:sp>
          <p:nvSpPr>
            <p:cNvPr id="11" name="Line 9">
              <a:extLst>
                <a:ext uri="{FF2B5EF4-FFF2-40B4-BE49-F238E27FC236}">
                  <a16:creationId xmlns:a16="http://schemas.microsoft.com/office/drawing/2014/main" id="{E0C842E9-2804-A24B-90F5-1E76ED56B971}"/>
                </a:ext>
              </a:extLst>
            </p:cNvPr>
            <p:cNvSpPr>
              <a:spLocks noChangeShapeType="1"/>
            </p:cNvSpPr>
            <p:nvPr/>
          </p:nvSpPr>
          <p:spPr bwMode="auto">
            <a:xfrm>
              <a:off x="6451600" y="322103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lnSpc>
                  <a:spcPts val="2060"/>
                </a:lnSpc>
              </a:pPr>
              <a:endParaRPr lang="en-US" sz="2000"/>
            </a:p>
          </p:txBody>
        </p:sp>
        <p:sp>
          <p:nvSpPr>
            <p:cNvPr id="12" name="Line 10">
              <a:extLst>
                <a:ext uri="{FF2B5EF4-FFF2-40B4-BE49-F238E27FC236}">
                  <a16:creationId xmlns:a16="http://schemas.microsoft.com/office/drawing/2014/main" id="{80C10F46-6CD7-F647-A004-85EB56C772DF}"/>
                </a:ext>
              </a:extLst>
            </p:cNvPr>
            <p:cNvSpPr>
              <a:spLocks noChangeShapeType="1"/>
            </p:cNvSpPr>
            <p:nvPr/>
          </p:nvSpPr>
          <p:spPr bwMode="auto">
            <a:xfrm>
              <a:off x="6451600" y="393223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lnSpc>
                  <a:spcPts val="2060"/>
                </a:lnSpc>
              </a:pPr>
              <a:endParaRPr lang="en-US" sz="2000"/>
            </a:p>
          </p:txBody>
        </p:sp>
        <p:sp>
          <p:nvSpPr>
            <p:cNvPr id="13" name="Line 11">
              <a:extLst>
                <a:ext uri="{FF2B5EF4-FFF2-40B4-BE49-F238E27FC236}">
                  <a16:creationId xmlns:a16="http://schemas.microsoft.com/office/drawing/2014/main" id="{264B0C4A-9518-2F45-BBDA-97BCDD99E256}"/>
                </a:ext>
              </a:extLst>
            </p:cNvPr>
            <p:cNvSpPr>
              <a:spLocks noChangeShapeType="1"/>
            </p:cNvSpPr>
            <p:nvPr/>
          </p:nvSpPr>
          <p:spPr bwMode="auto">
            <a:xfrm>
              <a:off x="6451600" y="464343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lnSpc>
                  <a:spcPts val="2060"/>
                </a:lnSpc>
              </a:pPr>
              <a:endParaRPr lang="en-US" sz="2000"/>
            </a:p>
          </p:txBody>
        </p:sp>
      </p:grpSp>
    </p:spTree>
    <p:extLst>
      <p:ext uri="{BB962C8B-B14F-4D97-AF65-F5344CB8AC3E}">
        <p14:creationId xmlns:p14="http://schemas.microsoft.com/office/powerpoint/2010/main" val="423333160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Footer Placeholder 2"/>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en-US" altLang="en-US" sz="1200" dirty="0">
              <a:latin typeface="Tahoma" panose="020B0604030504040204" pitchFamily="34" charset="0"/>
            </a:endParaRPr>
          </a:p>
        </p:txBody>
      </p:sp>
      <p:sp>
        <p:nvSpPr>
          <p:cNvPr id="186371" name="Rectangle 2"/>
          <p:cNvSpPr>
            <a:spLocks noChangeArrowheads="1"/>
          </p:cNvSpPr>
          <p:nvPr/>
        </p:nvSpPr>
        <p:spPr bwMode="auto">
          <a:xfrm>
            <a:off x="8029575" y="1638300"/>
            <a:ext cx="1892300" cy="3530600"/>
          </a:xfrm>
          <a:prstGeom prst="rect">
            <a:avLst/>
          </a:prstGeom>
          <a:solidFill>
            <a:srgbClr val="0000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86372" name="Rectangle 3"/>
          <p:cNvSpPr>
            <a:spLocks noGrp="1" noChangeArrowheads="1"/>
          </p:cNvSpPr>
          <p:nvPr>
            <p:ph type="title" idx="4294967295"/>
          </p:nvPr>
        </p:nvSpPr>
        <p:spPr>
          <a:xfrm>
            <a:off x="1924050" y="85725"/>
            <a:ext cx="6503988" cy="1143000"/>
          </a:xfrm>
        </p:spPr>
        <p:txBody>
          <a:bodyPr/>
          <a:lstStyle/>
          <a:p>
            <a:pPr eaLnBrk="1" hangingPunct="1"/>
            <a:r>
              <a:rPr lang="en-US" altLang="en-US">
                <a:ea typeface="ＭＳ Ｐゴシック" panose="020B0600070205080204" pitchFamily="34" charset="-128"/>
              </a:rPr>
              <a:t>ISO/OSI reference model</a:t>
            </a:r>
          </a:p>
        </p:txBody>
      </p:sp>
      <p:sp>
        <p:nvSpPr>
          <p:cNvPr id="186373" name="Rectangle 4"/>
          <p:cNvSpPr>
            <a:spLocks noGrp="1" noChangeArrowheads="1"/>
          </p:cNvSpPr>
          <p:nvPr>
            <p:ph type="body" sz="half" idx="4294967295"/>
          </p:nvPr>
        </p:nvSpPr>
        <p:spPr>
          <a:xfrm>
            <a:off x="2108201" y="1422400"/>
            <a:ext cx="5154613" cy="4648200"/>
          </a:xfrm>
        </p:spPr>
        <p:txBody>
          <a:bodyPr>
            <a:normAutofit lnSpcReduction="10000"/>
          </a:bodyPr>
          <a:lstStyle/>
          <a:p>
            <a:pPr marL="287338" indent="-287338"/>
            <a:r>
              <a:rPr lang="en-US" altLang="en-US" i="1">
                <a:solidFill>
                  <a:srgbClr val="CC0000"/>
                </a:solidFill>
                <a:ea typeface="ＭＳ Ｐゴシック" panose="020B0600070205080204" pitchFamily="34" charset="-128"/>
              </a:rPr>
              <a:t>presentation:</a:t>
            </a:r>
            <a:r>
              <a:rPr lang="en-US" altLang="en-US">
                <a:ea typeface="ＭＳ Ｐゴシック" panose="020B0600070205080204" pitchFamily="34" charset="-128"/>
              </a:rPr>
              <a:t> allow applications to interpret meaning of data, e.g., encryption, compression, machine-specific conventions</a:t>
            </a:r>
          </a:p>
          <a:p>
            <a:pPr marL="287338" indent="-287338"/>
            <a:r>
              <a:rPr lang="en-US" altLang="en-US" i="1">
                <a:solidFill>
                  <a:srgbClr val="CC0000"/>
                </a:solidFill>
                <a:ea typeface="ＭＳ Ｐゴシック" panose="020B0600070205080204" pitchFamily="34" charset="-128"/>
              </a:rPr>
              <a:t>session:</a:t>
            </a:r>
            <a:r>
              <a:rPr lang="en-US" altLang="en-US">
                <a:ea typeface="ＭＳ Ｐゴシック" panose="020B0600070205080204" pitchFamily="34" charset="-128"/>
              </a:rPr>
              <a:t> synchronization, checkpointing, recovery of data exchange</a:t>
            </a:r>
          </a:p>
          <a:p>
            <a:pPr marL="287338" indent="-287338"/>
            <a:r>
              <a:rPr lang="en-US" altLang="en-US">
                <a:ea typeface="ＭＳ Ｐゴシック" panose="020B0600070205080204" pitchFamily="34" charset="-128"/>
              </a:rPr>
              <a:t>Internet stack </a:t>
            </a:r>
            <a:r>
              <a:rPr lang="ja-JP" altLang="en-US">
                <a:ea typeface="ＭＳ Ｐゴシック" panose="020B0600070205080204" pitchFamily="34" charset="-128"/>
              </a:rPr>
              <a:t>“</a:t>
            </a:r>
            <a:r>
              <a:rPr lang="en-US" altLang="ja-JP">
                <a:ea typeface="ＭＳ Ｐゴシック" panose="020B0600070205080204" pitchFamily="34" charset="-128"/>
              </a:rPr>
              <a:t>missing</a:t>
            </a:r>
            <a:r>
              <a:rPr lang="ja-JP" altLang="en-US">
                <a:ea typeface="ＭＳ Ｐゴシック" panose="020B0600070205080204" pitchFamily="34" charset="-128"/>
              </a:rPr>
              <a:t>”</a:t>
            </a:r>
            <a:r>
              <a:rPr lang="en-US" altLang="ja-JP">
                <a:ea typeface="ＭＳ Ｐゴシック" panose="020B0600070205080204" pitchFamily="34" charset="-128"/>
              </a:rPr>
              <a:t> these layers!</a:t>
            </a:r>
          </a:p>
          <a:p>
            <a:pPr marL="682625" lvl="1" indent="-225425"/>
            <a:r>
              <a:rPr lang="en-US" altLang="en-US">
                <a:ea typeface="Arial" panose="020B0604020202020204" pitchFamily="34" charset="0"/>
              </a:rPr>
              <a:t>these services, </a:t>
            </a:r>
            <a:r>
              <a:rPr lang="en-US" altLang="en-US" i="1">
                <a:ea typeface="Arial" panose="020B0604020202020204" pitchFamily="34" charset="0"/>
              </a:rPr>
              <a:t>if needed,</a:t>
            </a:r>
            <a:r>
              <a:rPr lang="en-US" altLang="en-US">
                <a:ea typeface="Arial" panose="020B0604020202020204" pitchFamily="34" charset="0"/>
              </a:rPr>
              <a:t> must be implemented in application</a:t>
            </a:r>
          </a:p>
          <a:p>
            <a:pPr marL="682625" lvl="1" indent="-225425"/>
            <a:r>
              <a:rPr lang="en-US" altLang="en-US">
                <a:ea typeface="Arial" panose="020B0604020202020204" pitchFamily="34" charset="0"/>
              </a:rPr>
              <a:t>needed?</a:t>
            </a:r>
          </a:p>
        </p:txBody>
      </p:sp>
      <p:sp>
        <p:nvSpPr>
          <p:cNvPr id="186374" name="Rectangle 6"/>
          <p:cNvSpPr>
            <a:spLocks noChangeArrowheads="1"/>
          </p:cNvSpPr>
          <p:nvPr/>
        </p:nvSpPr>
        <p:spPr bwMode="auto">
          <a:xfrm>
            <a:off x="7915275" y="1774826"/>
            <a:ext cx="1892300" cy="3586163"/>
          </a:xfrm>
          <a:prstGeom prst="rect">
            <a:avLst/>
          </a:prstGeom>
          <a:solidFill>
            <a:schemeClr val="bg1"/>
          </a:solidFill>
          <a:ln w="38100">
            <a:solidFill>
              <a:schemeClr val="tx1"/>
            </a:solidFill>
            <a:miter lim="800000"/>
            <a:headEnd/>
            <a:tailEnd/>
          </a:ln>
        </p:spPr>
        <p:txBody>
          <a:bodyPr wrap="none" anchor="ct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endParaRPr lang="en-US" altLang="en-US" sz="2400">
              <a:latin typeface="Times New Roman" panose="02020603050405020304" pitchFamily="18" charset="0"/>
            </a:endParaRPr>
          </a:p>
        </p:txBody>
      </p:sp>
      <p:sp>
        <p:nvSpPr>
          <p:cNvPr id="186375" name="Text Box 7"/>
          <p:cNvSpPr txBox="1">
            <a:spLocks noChangeArrowheads="1"/>
          </p:cNvSpPr>
          <p:nvPr/>
        </p:nvSpPr>
        <p:spPr bwMode="auto">
          <a:xfrm>
            <a:off x="7872414" y="1946276"/>
            <a:ext cx="1982787" cy="3458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a:lnSpc>
                <a:spcPct val="70000"/>
              </a:lnSpc>
              <a:spcBef>
                <a:spcPct val="0"/>
              </a:spcBef>
              <a:buClrTx/>
              <a:buSzTx/>
              <a:buFontTx/>
              <a:buNone/>
            </a:pPr>
            <a:r>
              <a:rPr lang="en-US" altLang="en-US" sz="2400">
                <a:latin typeface="Arial" panose="020B0604020202020204" pitchFamily="34" charset="0"/>
              </a:rPr>
              <a:t>application</a:t>
            </a:r>
          </a:p>
          <a:p>
            <a:pPr algn="ctr">
              <a:lnSpc>
                <a:spcPct val="70000"/>
              </a:lnSpc>
              <a:spcBef>
                <a:spcPct val="0"/>
              </a:spcBef>
              <a:buClrTx/>
              <a:buSzTx/>
              <a:buFontTx/>
              <a:buNone/>
            </a:pPr>
            <a:endParaRPr lang="en-US" altLang="en-US" sz="2400">
              <a:latin typeface="Arial" panose="020B0604020202020204" pitchFamily="34" charset="0"/>
            </a:endParaRPr>
          </a:p>
          <a:p>
            <a:pPr algn="ctr">
              <a:lnSpc>
                <a:spcPct val="70000"/>
              </a:lnSpc>
              <a:spcBef>
                <a:spcPct val="0"/>
              </a:spcBef>
              <a:buClrTx/>
              <a:buSzTx/>
              <a:buFontTx/>
              <a:buNone/>
            </a:pPr>
            <a:r>
              <a:rPr lang="en-US" altLang="en-US" sz="2400">
                <a:latin typeface="Arial" panose="020B0604020202020204" pitchFamily="34" charset="0"/>
              </a:rPr>
              <a:t>presentation</a:t>
            </a:r>
          </a:p>
          <a:p>
            <a:pPr algn="ctr">
              <a:lnSpc>
                <a:spcPct val="70000"/>
              </a:lnSpc>
              <a:spcBef>
                <a:spcPct val="0"/>
              </a:spcBef>
              <a:buClrTx/>
              <a:buSzTx/>
              <a:buFontTx/>
              <a:buNone/>
            </a:pPr>
            <a:endParaRPr lang="en-US" altLang="en-US" sz="2400">
              <a:latin typeface="Arial" panose="020B0604020202020204" pitchFamily="34" charset="0"/>
            </a:endParaRPr>
          </a:p>
          <a:p>
            <a:pPr algn="ctr">
              <a:lnSpc>
                <a:spcPct val="70000"/>
              </a:lnSpc>
              <a:spcBef>
                <a:spcPct val="0"/>
              </a:spcBef>
              <a:buClrTx/>
              <a:buSzTx/>
              <a:buFontTx/>
              <a:buNone/>
            </a:pPr>
            <a:r>
              <a:rPr lang="en-US" altLang="en-US" sz="2400">
                <a:latin typeface="Arial" panose="020B0604020202020204" pitchFamily="34" charset="0"/>
              </a:rPr>
              <a:t>session</a:t>
            </a:r>
          </a:p>
          <a:p>
            <a:pPr algn="ctr">
              <a:lnSpc>
                <a:spcPct val="70000"/>
              </a:lnSpc>
              <a:spcBef>
                <a:spcPct val="0"/>
              </a:spcBef>
              <a:buClrTx/>
              <a:buSzTx/>
              <a:buFontTx/>
              <a:buNone/>
            </a:pPr>
            <a:endParaRPr lang="en-US" altLang="en-US" sz="2400">
              <a:latin typeface="Arial" panose="020B0604020202020204" pitchFamily="34" charset="0"/>
            </a:endParaRPr>
          </a:p>
          <a:p>
            <a:pPr algn="ctr">
              <a:lnSpc>
                <a:spcPct val="70000"/>
              </a:lnSpc>
              <a:spcBef>
                <a:spcPct val="0"/>
              </a:spcBef>
              <a:buClrTx/>
              <a:buSzTx/>
              <a:buFontTx/>
              <a:buNone/>
            </a:pPr>
            <a:r>
              <a:rPr lang="en-US" altLang="en-US" sz="2400">
                <a:latin typeface="Arial" panose="020B0604020202020204" pitchFamily="34" charset="0"/>
              </a:rPr>
              <a:t>transport</a:t>
            </a:r>
          </a:p>
          <a:p>
            <a:pPr algn="ctr">
              <a:lnSpc>
                <a:spcPct val="70000"/>
              </a:lnSpc>
              <a:spcBef>
                <a:spcPct val="0"/>
              </a:spcBef>
              <a:buClrTx/>
              <a:buSzTx/>
              <a:buFontTx/>
              <a:buNone/>
            </a:pPr>
            <a:endParaRPr lang="en-US" altLang="en-US" sz="2400">
              <a:latin typeface="Arial" panose="020B0604020202020204" pitchFamily="34" charset="0"/>
            </a:endParaRPr>
          </a:p>
          <a:p>
            <a:pPr algn="ctr">
              <a:lnSpc>
                <a:spcPct val="70000"/>
              </a:lnSpc>
              <a:spcBef>
                <a:spcPct val="0"/>
              </a:spcBef>
              <a:buClrTx/>
              <a:buSzTx/>
              <a:buFontTx/>
              <a:buNone/>
            </a:pPr>
            <a:r>
              <a:rPr lang="en-US" altLang="en-US" sz="2400">
                <a:latin typeface="Arial" panose="020B0604020202020204" pitchFamily="34" charset="0"/>
              </a:rPr>
              <a:t>network</a:t>
            </a:r>
          </a:p>
          <a:p>
            <a:pPr algn="ctr">
              <a:lnSpc>
                <a:spcPct val="70000"/>
              </a:lnSpc>
              <a:spcBef>
                <a:spcPct val="0"/>
              </a:spcBef>
              <a:buClrTx/>
              <a:buSzTx/>
              <a:buFontTx/>
              <a:buNone/>
            </a:pPr>
            <a:endParaRPr lang="en-US" altLang="en-US" sz="2400">
              <a:latin typeface="Arial" panose="020B0604020202020204" pitchFamily="34" charset="0"/>
            </a:endParaRPr>
          </a:p>
          <a:p>
            <a:pPr algn="ctr">
              <a:lnSpc>
                <a:spcPct val="70000"/>
              </a:lnSpc>
              <a:spcBef>
                <a:spcPct val="0"/>
              </a:spcBef>
              <a:buClrTx/>
              <a:buSzTx/>
              <a:buFontTx/>
              <a:buNone/>
            </a:pPr>
            <a:r>
              <a:rPr lang="en-US" altLang="en-US" sz="2400">
                <a:latin typeface="Arial" panose="020B0604020202020204" pitchFamily="34" charset="0"/>
              </a:rPr>
              <a:t>link</a:t>
            </a:r>
          </a:p>
          <a:p>
            <a:pPr algn="ctr">
              <a:lnSpc>
                <a:spcPct val="70000"/>
              </a:lnSpc>
              <a:spcBef>
                <a:spcPct val="0"/>
              </a:spcBef>
              <a:buClrTx/>
              <a:buSzTx/>
              <a:buFontTx/>
              <a:buNone/>
            </a:pPr>
            <a:endParaRPr lang="en-US" altLang="en-US" sz="2400">
              <a:latin typeface="Arial" panose="020B0604020202020204" pitchFamily="34" charset="0"/>
            </a:endParaRPr>
          </a:p>
          <a:p>
            <a:pPr algn="ctr">
              <a:lnSpc>
                <a:spcPct val="70000"/>
              </a:lnSpc>
              <a:spcBef>
                <a:spcPct val="0"/>
              </a:spcBef>
              <a:buClrTx/>
              <a:buSzTx/>
              <a:buFontTx/>
              <a:buNone/>
            </a:pPr>
            <a:r>
              <a:rPr lang="en-US" altLang="en-US" sz="2400">
                <a:latin typeface="Arial" panose="020B0604020202020204" pitchFamily="34" charset="0"/>
              </a:rPr>
              <a:t>physical</a:t>
            </a:r>
          </a:p>
        </p:txBody>
      </p:sp>
      <p:sp>
        <p:nvSpPr>
          <p:cNvPr id="186376" name="Line 8"/>
          <p:cNvSpPr>
            <a:spLocks noChangeShapeType="1"/>
          </p:cNvSpPr>
          <p:nvPr/>
        </p:nvSpPr>
        <p:spPr bwMode="auto">
          <a:xfrm>
            <a:off x="7894638" y="236696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6377" name="Line 9"/>
          <p:cNvSpPr>
            <a:spLocks noChangeShapeType="1"/>
          </p:cNvSpPr>
          <p:nvPr/>
        </p:nvSpPr>
        <p:spPr bwMode="auto">
          <a:xfrm>
            <a:off x="7908925" y="3343275"/>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6378" name="Line 10"/>
          <p:cNvSpPr>
            <a:spLocks noChangeShapeType="1"/>
          </p:cNvSpPr>
          <p:nvPr/>
        </p:nvSpPr>
        <p:spPr bwMode="auto">
          <a:xfrm>
            <a:off x="7908925" y="3883025"/>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6379" name="Line 11"/>
          <p:cNvSpPr>
            <a:spLocks noChangeShapeType="1"/>
          </p:cNvSpPr>
          <p:nvPr/>
        </p:nvSpPr>
        <p:spPr bwMode="auto">
          <a:xfrm>
            <a:off x="7910513" y="4899025"/>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6380" name="Line 12"/>
          <p:cNvSpPr>
            <a:spLocks noChangeShapeType="1"/>
          </p:cNvSpPr>
          <p:nvPr/>
        </p:nvSpPr>
        <p:spPr bwMode="auto">
          <a:xfrm>
            <a:off x="7894638" y="4416425"/>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6381" name="Line 13"/>
          <p:cNvSpPr>
            <a:spLocks noChangeShapeType="1"/>
          </p:cNvSpPr>
          <p:nvPr/>
        </p:nvSpPr>
        <p:spPr bwMode="auto">
          <a:xfrm>
            <a:off x="7893050" y="2886075"/>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pic>
        <p:nvPicPr>
          <p:cNvPr id="186382" name="Picture 18"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4538" y="895350"/>
            <a:ext cx="59880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383" name="Slide Number Placeholder 3"/>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585A68C7-E97D-420F-877F-0E00A4F7C571}" type="slidenum">
              <a:rPr lang="en-US" altLang="en-US" sz="1200">
                <a:latin typeface="Tahoma" panose="020B0604030504040204" pitchFamily="34" charset="0"/>
              </a:rPr>
              <a:pPr>
                <a:lnSpc>
                  <a:spcPct val="100000"/>
                </a:lnSpc>
                <a:spcBef>
                  <a:spcPct val="0"/>
                </a:spcBef>
                <a:buClrTx/>
                <a:buSzTx/>
                <a:buFontTx/>
                <a:buNone/>
              </a:pPr>
              <a:t>107</a:t>
            </a:fld>
            <a:endParaRPr lang="en-US" altLang="en-US" sz="1200">
              <a:latin typeface="Tahoma" panose="020B0604030504040204" pitchFamily="34" charset="0"/>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FF79401E-326D-8443-A822-64EFF7D91F62}"/>
              </a:ext>
            </a:extLst>
          </p:cNvPr>
          <p:cNvSpPr>
            <a:spLocks/>
          </p:cNvSpPr>
          <p:nvPr/>
        </p:nvSpPr>
        <p:spPr bwMode="auto">
          <a:xfrm>
            <a:off x="8348670" y="2522533"/>
            <a:ext cx="638175" cy="830263"/>
          </a:xfrm>
          <a:custGeom>
            <a:avLst/>
            <a:gdLst>
              <a:gd name="T0" fmla="*/ 2147483646 w 402"/>
              <a:gd name="T1" fmla="*/ 2147483646 h 537"/>
              <a:gd name="T2" fmla="*/ 2147483646 w 402"/>
              <a:gd name="T3" fmla="*/ 0 h 537"/>
              <a:gd name="T4" fmla="*/ 0 w 402"/>
              <a:gd name="T5" fmla="*/ 2147483646 h 537"/>
              <a:gd name="T6" fmla="*/ 2147483646 w 402"/>
              <a:gd name="T7" fmla="*/ 2147483646 h 537"/>
              <a:gd name="T8" fmla="*/ 2147483646 w 402"/>
              <a:gd name="T9" fmla="*/ 2147483646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rgbClr val="3C6CDF"/>
              </a:gs>
              <a:gs pos="100000">
                <a:schemeClr val="bg1"/>
              </a:gs>
            </a:gsLst>
            <a:lin ang="0" scaled="1"/>
          </a:gradFill>
          <a:ln>
            <a:noFill/>
          </a:ln>
        </p:spPr>
        <p:txBody>
          <a:bodyPr/>
          <a:lstStyle/>
          <a:p>
            <a:endParaRPr lang="en-US"/>
          </a:p>
        </p:txBody>
      </p:sp>
      <p:grpSp>
        <p:nvGrpSpPr>
          <p:cNvPr id="305" name="Group 304">
            <a:extLst>
              <a:ext uri="{FF2B5EF4-FFF2-40B4-BE49-F238E27FC236}">
                <a16:creationId xmlns:a16="http://schemas.microsoft.com/office/drawing/2014/main" id="{A4E47CB1-938F-064D-AFFA-550D0F125117}"/>
              </a:ext>
            </a:extLst>
          </p:cNvPr>
          <p:cNvGrpSpPr/>
          <p:nvPr/>
        </p:nvGrpSpPr>
        <p:grpSpPr>
          <a:xfrm>
            <a:off x="8737109" y="2942202"/>
            <a:ext cx="959348" cy="478062"/>
            <a:chOff x="3668110" y="2448910"/>
            <a:chExt cx="3794234" cy="2165130"/>
          </a:xfrm>
        </p:grpSpPr>
        <p:sp>
          <p:nvSpPr>
            <p:cNvPr id="306" name="Rectangle 305">
              <a:extLst>
                <a:ext uri="{FF2B5EF4-FFF2-40B4-BE49-F238E27FC236}">
                  <a16:creationId xmlns:a16="http://schemas.microsoft.com/office/drawing/2014/main" id="{4113AFA1-3E53-2B44-844D-33D4D414E8F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07" name="Freeform 306">
              <a:extLst>
                <a:ext uri="{FF2B5EF4-FFF2-40B4-BE49-F238E27FC236}">
                  <a16:creationId xmlns:a16="http://schemas.microsoft.com/office/drawing/2014/main" id="{6AACD184-A341-A64D-AF0A-E8273A8D120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pSp>
          <p:nvGrpSpPr>
            <p:cNvPr id="308" name="Group 307">
              <a:extLst>
                <a:ext uri="{FF2B5EF4-FFF2-40B4-BE49-F238E27FC236}">
                  <a16:creationId xmlns:a16="http://schemas.microsoft.com/office/drawing/2014/main" id="{397EA54E-AF9C-5E43-ABD4-420C1068CBF3}"/>
                </a:ext>
              </a:extLst>
            </p:cNvPr>
            <p:cNvGrpSpPr/>
            <p:nvPr/>
          </p:nvGrpSpPr>
          <p:grpSpPr>
            <a:xfrm>
              <a:off x="3941378" y="2603243"/>
              <a:ext cx="3202061" cy="1066110"/>
              <a:chOff x="7939341" y="3037317"/>
              <a:chExt cx="897649" cy="353919"/>
            </a:xfrm>
          </p:grpSpPr>
          <p:sp>
            <p:nvSpPr>
              <p:cNvPr id="309" name="Freeform 308">
                <a:extLst>
                  <a:ext uri="{FF2B5EF4-FFF2-40B4-BE49-F238E27FC236}">
                    <a16:creationId xmlns:a16="http://schemas.microsoft.com/office/drawing/2014/main" id="{AAA61B04-18ED-CB4C-AA56-9EE1A97FE5C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10" name="Freeform 309">
                <a:extLst>
                  <a:ext uri="{FF2B5EF4-FFF2-40B4-BE49-F238E27FC236}">
                    <a16:creationId xmlns:a16="http://schemas.microsoft.com/office/drawing/2014/main" id="{F58AB38C-C52F-C046-8B42-AB402232C8F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11" name="Freeform 310">
                <a:extLst>
                  <a:ext uri="{FF2B5EF4-FFF2-40B4-BE49-F238E27FC236}">
                    <a16:creationId xmlns:a16="http://schemas.microsoft.com/office/drawing/2014/main" id="{40B533FA-5B0B-F640-8203-4E6686DF616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12" name="Freeform 311">
                <a:extLst>
                  <a:ext uri="{FF2B5EF4-FFF2-40B4-BE49-F238E27FC236}">
                    <a16:creationId xmlns:a16="http://schemas.microsoft.com/office/drawing/2014/main" id="{113B733F-5182-5C46-833B-B970C649E76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pSp>
      </p:grpSp>
      <p:sp>
        <p:nvSpPr>
          <p:cNvPr id="158" name="Freeform 99">
            <a:extLst>
              <a:ext uri="{FF2B5EF4-FFF2-40B4-BE49-F238E27FC236}">
                <a16:creationId xmlns:a16="http://schemas.microsoft.com/office/drawing/2014/main" id="{3E758716-A071-4141-B9BA-7927A5BFBD94}"/>
              </a:ext>
            </a:extLst>
          </p:cNvPr>
          <p:cNvSpPr>
            <a:spLocks/>
          </p:cNvSpPr>
          <p:nvPr/>
        </p:nvSpPr>
        <p:spPr bwMode="auto">
          <a:xfrm>
            <a:off x="8197856" y="4410071"/>
            <a:ext cx="655638" cy="1135063"/>
          </a:xfrm>
          <a:custGeom>
            <a:avLst/>
            <a:gdLst>
              <a:gd name="T0" fmla="*/ 2147483646 w 413"/>
              <a:gd name="T1" fmla="*/ 2147483646 h 715"/>
              <a:gd name="T2" fmla="*/ 2147483646 w 413"/>
              <a:gd name="T3" fmla="*/ 0 h 715"/>
              <a:gd name="T4" fmla="*/ 0 w 413"/>
              <a:gd name="T5" fmla="*/ 2147483646 h 715"/>
              <a:gd name="T6" fmla="*/ 2147483646 w 413"/>
              <a:gd name="T7" fmla="*/ 2147483646 h 715"/>
              <a:gd name="T8" fmla="*/ 2147483646 w 413"/>
              <a:gd name="T9" fmla="*/ 2147483646 h 715"/>
              <a:gd name="T10" fmla="*/ 0 60000 65536"/>
              <a:gd name="T11" fmla="*/ 0 60000 65536"/>
              <a:gd name="T12" fmla="*/ 0 60000 65536"/>
              <a:gd name="T13" fmla="*/ 0 60000 65536"/>
              <a:gd name="T14" fmla="*/ 0 60000 65536"/>
              <a:gd name="T15" fmla="*/ 0 w 413"/>
              <a:gd name="T16" fmla="*/ 0 h 715"/>
              <a:gd name="T17" fmla="*/ 413 w 413"/>
              <a:gd name="T18" fmla="*/ 715 h 715"/>
            </a:gdLst>
            <a:ahLst/>
            <a:cxnLst>
              <a:cxn ang="T10">
                <a:pos x="T0" y="T1"/>
              </a:cxn>
              <a:cxn ang="T11">
                <a:pos x="T2" y="T3"/>
              </a:cxn>
              <a:cxn ang="T12">
                <a:pos x="T4" y="T5"/>
              </a:cxn>
              <a:cxn ang="T13">
                <a:pos x="T6" y="T7"/>
              </a:cxn>
              <a:cxn ang="T14">
                <a:pos x="T8" y="T9"/>
              </a:cxn>
            </a:cxnLst>
            <a:rect l="T15" t="T16" r="T17" b="T18"/>
            <a:pathLst>
              <a:path w="413" h="715">
                <a:moveTo>
                  <a:pt x="413" y="570"/>
                </a:moveTo>
                <a:lnTo>
                  <a:pt x="9" y="0"/>
                </a:lnTo>
                <a:lnTo>
                  <a:pt x="0" y="604"/>
                </a:lnTo>
                <a:lnTo>
                  <a:pt x="397" y="715"/>
                </a:lnTo>
                <a:lnTo>
                  <a:pt x="413" y="570"/>
                </a:lnTo>
                <a:close/>
              </a:path>
            </a:pathLst>
          </a:custGeom>
          <a:gradFill rotWithShape="1">
            <a:gsLst>
              <a:gs pos="0">
                <a:srgbClr val="3C6CDF"/>
              </a:gs>
              <a:gs pos="100000">
                <a:schemeClr val="bg1"/>
              </a:gs>
            </a:gsLst>
            <a:lin ang="0" scaled="1"/>
          </a:gradFill>
          <a:ln>
            <a:noFill/>
          </a:ln>
        </p:spPr>
        <p:txBody>
          <a:bodyPr/>
          <a:lstStyle/>
          <a:p>
            <a:endParaRPr lang="en-US"/>
          </a:p>
        </p:txBody>
      </p:sp>
      <p:grpSp>
        <p:nvGrpSpPr>
          <p:cNvPr id="297" name="Group 296">
            <a:extLst>
              <a:ext uri="{FF2B5EF4-FFF2-40B4-BE49-F238E27FC236}">
                <a16:creationId xmlns:a16="http://schemas.microsoft.com/office/drawing/2014/main" id="{DBEB0F95-AE9C-DA4D-9F9E-9C6AE4A652EE}"/>
              </a:ext>
            </a:extLst>
          </p:cNvPr>
          <p:cNvGrpSpPr/>
          <p:nvPr/>
        </p:nvGrpSpPr>
        <p:grpSpPr>
          <a:xfrm>
            <a:off x="8696333" y="5120193"/>
            <a:ext cx="958850" cy="476251"/>
            <a:chOff x="7493876" y="2774731"/>
            <a:chExt cx="1481958" cy="894622"/>
          </a:xfrm>
        </p:grpSpPr>
        <p:sp>
          <p:nvSpPr>
            <p:cNvPr id="298" name="Freeform 297">
              <a:extLst>
                <a:ext uri="{FF2B5EF4-FFF2-40B4-BE49-F238E27FC236}">
                  <a16:creationId xmlns:a16="http://schemas.microsoft.com/office/drawing/2014/main" id="{6025F28A-8766-8949-96E6-DD0BD882AB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99" name="Oval 298">
              <a:extLst>
                <a:ext uri="{FF2B5EF4-FFF2-40B4-BE49-F238E27FC236}">
                  <a16:creationId xmlns:a16="http://schemas.microsoft.com/office/drawing/2014/main" id="{DFA4B720-1D85-4E4A-A3DF-4E2D8BCABC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00" name="Group 299">
              <a:extLst>
                <a:ext uri="{FF2B5EF4-FFF2-40B4-BE49-F238E27FC236}">
                  <a16:creationId xmlns:a16="http://schemas.microsoft.com/office/drawing/2014/main" id="{DAD2409F-AAE1-4A47-A41C-4F8FC3073E02}"/>
                </a:ext>
              </a:extLst>
            </p:cNvPr>
            <p:cNvGrpSpPr/>
            <p:nvPr/>
          </p:nvGrpSpPr>
          <p:grpSpPr>
            <a:xfrm>
              <a:off x="7713663" y="2848339"/>
              <a:ext cx="1042107" cy="425543"/>
              <a:chOff x="7786941" y="2884917"/>
              <a:chExt cx="897649" cy="353919"/>
            </a:xfrm>
          </p:grpSpPr>
          <p:sp>
            <p:nvSpPr>
              <p:cNvPr id="301" name="Freeform 300">
                <a:extLst>
                  <a:ext uri="{FF2B5EF4-FFF2-40B4-BE49-F238E27FC236}">
                    <a16:creationId xmlns:a16="http://schemas.microsoft.com/office/drawing/2014/main" id="{C10106D6-70AD-294D-966C-B6530FB2C38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Freeform 301">
                <a:extLst>
                  <a:ext uri="{FF2B5EF4-FFF2-40B4-BE49-F238E27FC236}">
                    <a16:creationId xmlns:a16="http://schemas.microsoft.com/office/drawing/2014/main" id="{03C28B18-54E7-EB4E-A70A-2F3A019FD1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Freeform 302">
                <a:extLst>
                  <a:ext uri="{FF2B5EF4-FFF2-40B4-BE49-F238E27FC236}">
                    <a16:creationId xmlns:a16="http://schemas.microsoft.com/office/drawing/2014/main" id="{5090762B-1155-2347-B6D2-D77A21D74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Freeform 303">
                <a:extLst>
                  <a:ext uri="{FF2B5EF4-FFF2-40B4-BE49-F238E27FC236}">
                    <a16:creationId xmlns:a16="http://schemas.microsoft.com/office/drawing/2014/main" id="{F0881117-1317-CD49-B4BD-8B8A1E6EB2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873882" y="579543"/>
            <a:ext cx="4178067" cy="894622"/>
          </a:xfrm>
        </p:spPr>
        <p:txBody>
          <a:bodyPr>
            <a:normAutofit/>
          </a:bodyPr>
          <a:lstStyle/>
          <a:p>
            <a:r>
              <a:rPr lang="en-US" altLang="en-US" sz="4400" dirty="0">
                <a:ea typeface="ＭＳ Ｐゴシック" panose="020B0600070205080204" pitchFamily="34" charset="-128"/>
              </a:rPr>
              <a:t>Encapsulation</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108</a:t>
            </a:fld>
            <a:endParaRPr lang="en-US" dirty="0"/>
          </a:p>
        </p:txBody>
      </p:sp>
      <p:sp>
        <p:nvSpPr>
          <p:cNvPr id="175" name="Freeform 2">
            <a:extLst>
              <a:ext uri="{FF2B5EF4-FFF2-40B4-BE49-F238E27FC236}">
                <a16:creationId xmlns:a16="http://schemas.microsoft.com/office/drawing/2014/main" id="{230063FB-CBF2-814F-9B6D-159C714DB102}"/>
              </a:ext>
            </a:extLst>
          </p:cNvPr>
          <p:cNvSpPr>
            <a:spLocks/>
          </p:cNvSpPr>
          <p:nvPr/>
        </p:nvSpPr>
        <p:spPr bwMode="auto">
          <a:xfrm>
            <a:off x="5037145" y="1701796"/>
            <a:ext cx="4048125" cy="3833813"/>
          </a:xfrm>
          <a:custGeom>
            <a:avLst/>
            <a:gdLst>
              <a:gd name="T0" fmla="*/ 2147483646 w 2550"/>
              <a:gd name="T1" fmla="*/ 0 h 2415"/>
              <a:gd name="T2" fmla="*/ 2147483646 w 2550"/>
              <a:gd name="T3" fmla="*/ 0 h 2415"/>
              <a:gd name="T4" fmla="*/ 2147483646 w 2550"/>
              <a:gd name="T5" fmla="*/ 2147483646 h 2415"/>
              <a:gd name="T6" fmla="*/ 0 w 2550"/>
              <a:gd name="T7" fmla="*/ 2147483646 h 2415"/>
              <a:gd name="T8" fmla="*/ 0 60000 65536"/>
              <a:gd name="T9" fmla="*/ 0 60000 65536"/>
              <a:gd name="T10" fmla="*/ 0 60000 65536"/>
              <a:gd name="T11" fmla="*/ 0 60000 65536"/>
              <a:gd name="T12" fmla="*/ 0 w 2550"/>
              <a:gd name="T13" fmla="*/ 0 h 2415"/>
              <a:gd name="T14" fmla="*/ 2550 w 2550"/>
              <a:gd name="T15" fmla="*/ 2415 h 2415"/>
            </a:gdLst>
            <a:ahLst/>
            <a:cxnLst>
              <a:cxn ang="T8">
                <a:pos x="T0" y="T1"/>
              </a:cxn>
              <a:cxn ang="T9">
                <a:pos x="T2" y="T3"/>
              </a:cxn>
              <a:cxn ang="T10">
                <a:pos x="T4" y="T5"/>
              </a:cxn>
              <a:cxn ang="T11">
                <a:pos x="T6" y="T7"/>
              </a:cxn>
            </a:cxnLst>
            <a:rect l="T12" t="T13" r="T14" b="T15"/>
            <a:pathLst>
              <a:path w="2550" h="2415">
                <a:moveTo>
                  <a:pt x="592" y="0"/>
                </a:moveTo>
                <a:lnTo>
                  <a:pt x="2544" y="0"/>
                </a:lnTo>
                <a:lnTo>
                  <a:pt x="2550" y="2415"/>
                </a:lnTo>
                <a:lnTo>
                  <a:pt x="0" y="2415"/>
                </a:lnTo>
              </a:path>
            </a:pathLst>
          </a:cu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6" name="Text Box 8">
            <a:extLst>
              <a:ext uri="{FF2B5EF4-FFF2-40B4-BE49-F238E27FC236}">
                <a16:creationId xmlns:a16="http://schemas.microsoft.com/office/drawing/2014/main" id="{D0A7F162-BF56-0D42-AC1A-1EA608D159F4}"/>
              </a:ext>
            </a:extLst>
          </p:cNvPr>
          <p:cNvSpPr txBox="1">
            <a:spLocks noChangeArrowheads="1"/>
          </p:cNvSpPr>
          <p:nvPr/>
        </p:nvSpPr>
        <p:spPr bwMode="auto">
          <a:xfrm>
            <a:off x="3935420" y="477833"/>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2400" i="1">
                <a:solidFill>
                  <a:srgbClr val="000099"/>
                </a:solidFill>
                <a:latin typeface="Arial" panose="020B0604020202020204" pitchFamily="34" charset="0"/>
              </a:rPr>
              <a:t>source</a:t>
            </a:r>
          </a:p>
        </p:txBody>
      </p:sp>
      <p:sp>
        <p:nvSpPr>
          <p:cNvPr id="177" name="Freeform 10">
            <a:extLst>
              <a:ext uri="{FF2B5EF4-FFF2-40B4-BE49-F238E27FC236}">
                <a16:creationId xmlns:a16="http://schemas.microsoft.com/office/drawing/2014/main" id="{375C2B54-0F8A-624C-B0EA-326ECF0BEBFA}"/>
              </a:ext>
            </a:extLst>
          </p:cNvPr>
          <p:cNvSpPr>
            <a:spLocks/>
          </p:cNvSpPr>
          <p:nvPr/>
        </p:nvSpPr>
        <p:spPr bwMode="auto">
          <a:xfrm>
            <a:off x="5087944" y="904871"/>
            <a:ext cx="360362" cy="1577975"/>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C6CDF"/>
              </a:gs>
              <a:gs pos="100000">
                <a:schemeClr val="bg1"/>
              </a:gs>
            </a:gsLst>
            <a:lin ang="0" scaled="1"/>
          </a:gradFill>
          <a:ln>
            <a:noFill/>
          </a:ln>
        </p:spPr>
        <p:txBody>
          <a:bodyPr/>
          <a:lstStyle/>
          <a:p>
            <a:endParaRPr lang="en-US"/>
          </a:p>
        </p:txBody>
      </p:sp>
      <p:sp>
        <p:nvSpPr>
          <p:cNvPr id="178" name="Rectangle 23">
            <a:extLst>
              <a:ext uri="{FF2B5EF4-FFF2-40B4-BE49-F238E27FC236}">
                <a16:creationId xmlns:a16="http://schemas.microsoft.com/office/drawing/2014/main" id="{8AEC6BBC-2646-7D42-ACF1-483474F09027}"/>
              </a:ext>
            </a:extLst>
          </p:cNvPr>
          <p:cNvSpPr>
            <a:spLocks noChangeArrowheads="1"/>
          </p:cNvSpPr>
          <p:nvPr/>
        </p:nvSpPr>
        <p:spPr bwMode="auto">
          <a:xfrm>
            <a:off x="3863981" y="914396"/>
            <a:ext cx="1296988" cy="1546225"/>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79" name="Rectangle 24">
            <a:extLst>
              <a:ext uri="{FF2B5EF4-FFF2-40B4-BE49-F238E27FC236}">
                <a16:creationId xmlns:a16="http://schemas.microsoft.com/office/drawing/2014/main" id="{7EA1E797-77D1-3E4E-BE7E-ACEB5C9FC9FA}"/>
              </a:ext>
            </a:extLst>
          </p:cNvPr>
          <p:cNvSpPr>
            <a:spLocks noChangeArrowheads="1"/>
          </p:cNvSpPr>
          <p:nvPr/>
        </p:nvSpPr>
        <p:spPr bwMode="auto">
          <a:xfrm>
            <a:off x="3816357" y="985833"/>
            <a:ext cx="1273175" cy="1536700"/>
          </a:xfrm>
          <a:prstGeom prst="rect">
            <a:avLst/>
          </a:prstGeom>
          <a:solidFill>
            <a:schemeClr val="bg1"/>
          </a:solidFill>
          <a:ln w="2857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0" name="Line 25">
            <a:extLst>
              <a:ext uri="{FF2B5EF4-FFF2-40B4-BE49-F238E27FC236}">
                <a16:creationId xmlns:a16="http://schemas.microsoft.com/office/drawing/2014/main" id="{06DACFB6-A512-6346-ADF0-044A1E0D8B7E}"/>
              </a:ext>
            </a:extLst>
          </p:cNvPr>
          <p:cNvSpPr>
            <a:spLocks noChangeShapeType="1"/>
          </p:cNvSpPr>
          <p:nvPr/>
        </p:nvSpPr>
        <p:spPr bwMode="auto">
          <a:xfrm>
            <a:off x="3816356" y="130333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 name="Text Box 26">
            <a:extLst>
              <a:ext uri="{FF2B5EF4-FFF2-40B4-BE49-F238E27FC236}">
                <a16:creationId xmlns:a16="http://schemas.microsoft.com/office/drawing/2014/main" id="{955E0381-1B0E-544A-A7DD-37ADCBB63FC5}"/>
              </a:ext>
            </a:extLst>
          </p:cNvPr>
          <p:cNvSpPr txBox="1">
            <a:spLocks noChangeArrowheads="1"/>
          </p:cNvSpPr>
          <p:nvPr/>
        </p:nvSpPr>
        <p:spPr bwMode="auto">
          <a:xfrm>
            <a:off x="3773495" y="952495"/>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10000"/>
              </a:lnSpc>
              <a:spcBef>
                <a:spcPct val="0"/>
              </a:spcBef>
              <a:buClrTx/>
              <a:buSzTx/>
              <a:buFontTx/>
              <a:buNone/>
            </a:pPr>
            <a:r>
              <a:rPr lang="en-US" altLang="en-US" sz="1800">
                <a:latin typeface="Arial" panose="020B0604020202020204" pitchFamily="34" charset="0"/>
              </a:rPr>
              <a:t>application</a:t>
            </a:r>
          </a:p>
          <a:p>
            <a:pPr algn="ctr">
              <a:lnSpc>
                <a:spcPct val="110000"/>
              </a:lnSpc>
              <a:spcBef>
                <a:spcPct val="0"/>
              </a:spcBef>
              <a:buClrTx/>
              <a:buSzTx/>
              <a:buFontTx/>
              <a:buNone/>
            </a:pPr>
            <a:r>
              <a:rPr lang="en-US" altLang="en-US" sz="1800">
                <a:latin typeface="Arial" panose="020B0604020202020204" pitchFamily="34" charset="0"/>
              </a:rPr>
              <a:t>transport</a:t>
            </a:r>
          </a:p>
          <a:p>
            <a:pPr algn="ctr">
              <a:lnSpc>
                <a:spcPct val="110000"/>
              </a:lnSpc>
              <a:spcBef>
                <a:spcPct val="0"/>
              </a:spcBef>
              <a:buClrTx/>
              <a:buSzTx/>
              <a:buFontTx/>
              <a:buNone/>
            </a:pPr>
            <a:r>
              <a:rPr lang="en-US" altLang="en-US" sz="1800">
                <a:latin typeface="Arial" panose="020B0604020202020204" pitchFamily="34" charset="0"/>
              </a:rPr>
              <a:t>network</a:t>
            </a:r>
          </a:p>
          <a:p>
            <a:pPr algn="ctr">
              <a:lnSpc>
                <a:spcPct val="110000"/>
              </a:lnSpc>
              <a:spcBef>
                <a:spcPct val="0"/>
              </a:spcBef>
              <a:buClrTx/>
              <a:buSzTx/>
              <a:buFontTx/>
              <a:buNone/>
            </a:pPr>
            <a:r>
              <a:rPr lang="en-US" altLang="en-US" sz="1800">
                <a:latin typeface="Arial" panose="020B0604020202020204" pitchFamily="34" charset="0"/>
              </a:rPr>
              <a:t>link</a:t>
            </a:r>
          </a:p>
          <a:p>
            <a:pPr algn="ctr">
              <a:lnSpc>
                <a:spcPct val="110000"/>
              </a:lnSpc>
              <a:spcBef>
                <a:spcPct val="0"/>
              </a:spcBef>
              <a:buClrTx/>
              <a:buSzTx/>
              <a:buFontTx/>
              <a:buNone/>
            </a:pPr>
            <a:r>
              <a:rPr lang="en-US" altLang="en-US" sz="1800">
                <a:latin typeface="Arial" panose="020B0604020202020204" pitchFamily="34" charset="0"/>
              </a:rPr>
              <a:t>physical</a:t>
            </a:r>
          </a:p>
        </p:txBody>
      </p:sp>
      <p:sp>
        <p:nvSpPr>
          <p:cNvPr id="182" name="Line 27">
            <a:extLst>
              <a:ext uri="{FF2B5EF4-FFF2-40B4-BE49-F238E27FC236}">
                <a16:creationId xmlns:a16="http://schemas.microsoft.com/office/drawing/2014/main" id="{7F5AA9D2-E3F5-C947-8DEE-283B00AD0518}"/>
              </a:ext>
            </a:extLst>
          </p:cNvPr>
          <p:cNvSpPr>
            <a:spLocks noChangeShapeType="1"/>
          </p:cNvSpPr>
          <p:nvPr/>
        </p:nvSpPr>
        <p:spPr bwMode="auto">
          <a:xfrm>
            <a:off x="3824294" y="162400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3" name="Line 28">
            <a:extLst>
              <a:ext uri="{FF2B5EF4-FFF2-40B4-BE49-F238E27FC236}">
                <a16:creationId xmlns:a16="http://schemas.microsoft.com/office/drawing/2014/main" id="{D2FB6FCA-C219-0347-A799-A07286AA5FDE}"/>
              </a:ext>
            </a:extLst>
          </p:cNvPr>
          <p:cNvSpPr>
            <a:spLocks noChangeShapeType="1"/>
          </p:cNvSpPr>
          <p:nvPr/>
        </p:nvSpPr>
        <p:spPr bwMode="auto">
          <a:xfrm>
            <a:off x="3829056" y="190499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4" name="Line 29">
            <a:extLst>
              <a:ext uri="{FF2B5EF4-FFF2-40B4-BE49-F238E27FC236}">
                <a16:creationId xmlns:a16="http://schemas.microsoft.com/office/drawing/2014/main" id="{5DD86E94-6322-434A-87B3-1B856F1C7FC6}"/>
              </a:ext>
            </a:extLst>
          </p:cNvPr>
          <p:cNvSpPr>
            <a:spLocks noChangeShapeType="1"/>
          </p:cNvSpPr>
          <p:nvPr/>
        </p:nvSpPr>
        <p:spPr bwMode="auto">
          <a:xfrm>
            <a:off x="3829056" y="21812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85" name="Group 39">
            <a:extLst>
              <a:ext uri="{FF2B5EF4-FFF2-40B4-BE49-F238E27FC236}">
                <a16:creationId xmlns:a16="http://schemas.microsoft.com/office/drawing/2014/main" id="{8AA541B8-399A-EF48-9EFE-5AF447CE2F83}"/>
              </a:ext>
            </a:extLst>
          </p:cNvPr>
          <p:cNvGrpSpPr>
            <a:grpSpLocks/>
          </p:cNvGrpSpPr>
          <p:nvPr/>
        </p:nvGrpSpPr>
        <p:grpSpPr bwMode="auto">
          <a:xfrm>
            <a:off x="2438406" y="1622421"/>
            <a:ext cx="1208088" cy="303213"/>
            <a:chOff x="501" y="1990"/>
            <a:chExt cx="761" cy="191"/>
          </a:xfrm>
        </p:grpSpPr>
        <p:sp>
          <p:nvSpPr>
            <p:cNvPr id="186" name="Rectangle 40">
              <a:extLst>
                <a:ext uri="{FF2B5EF4-FFF2-40B4-BE49-F238E27FC236}">
                  <a16:creationId xmlns:a16="http://schemas.microsoft.com/office/drawing/2014/main" id="{0387B9A7-F992-9246-A12A-3BB5DCDBD751}"/>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7" name="Rectangle 41">
              <a:extLst>
                <a:ext uri="{FF2B5EF4-FFF2-40B4-BE49-F238E27FC236}">
                  <a16:creationId xmlns:a16="http://schemas.microsoft.com/office/drawing/2014/main" id="{313D90F6-44E7-5B43-9F40-EAB5A4BC3719}"/>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188" name="Rectangle 42">
              <a:extLst>
                <a:ext uri="{FF2B5EF4-FFF2-40B4-BE49-F238E27FC236}">
                  <a16:creationId xmlns:a16="http://schemas.microsoft.com/office/drawing/2014/main" id="{09FD516E-DDA8-584C-AC12-7F5211BB3875}"/>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sp>
          <p:nvSpPr>
            <p:cNvPr id="189" name="Rectangle 43">
              <a:extLst>
                <a:ext uri="{FF2B5EF4-FFF2-40B4-BE49-F238E27FC236}">
                  <a16:creationId xmlns:a16="http://schemas.microsoft.com/office/drawing/2014/main" id="{6FFC472B-97D7-D347-9A3C-464686CD17B4}"/>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190" name="Line 44">
              <a:extLst>
                <a:ext uri="{FF2B5EF4-FFF2-40B4-BE49-F238E27FC236}">
                  <a16:creationId xmlns:a16="http://schemas.microsoft.com/office/drawing/2014/main" id="{72E3E927-7804-2B4F-BEB5-8E712FD0D8B6}"/>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 name="Line 45">
              <a:extLst>
                <a:ext uri="{FF2B5EF4-FFF2-40B4-BE49-F238E27FC236}">
                  <a16:creationId xmlns:a16="http://schemas.microsoft.com/office/drawing/2014/main" id="{FB19C408-B20F-B545-913F-0B0F21C3B97E}"/>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92" name="Text Box 5">
            <a:extLst>
              <a:ext uri="{FF2B5EF4-FFF2-40B4-BE49-F238E27FC236}">
                <a16:creationId xmlns:a16="http://schemas.microsoft.com/office/drawing/2014/main" id="{0D15D10E-958A-864A-A283-C2AB2D4E8F72}"/>
              </a:ext>
            </a:extLst>
          </p:cNvPr>
          <p:cNvSpPr txBox="1">
            <a:spLocks noChangeArrowheads="1"/>
          </p:cNvSpPr>
          <p:nvPr/>
        </p:nvSpPr>
        <p:spPr bwMode="auto">
          <a:xfrm>
            <a:off x="1614494" y="1250945"/>
            <a:ext cx="9636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a:solidFill>
                  <a:srgbClr val="CC0000"/>
                </a:solidFill>
                <a:latin typeface="Arial" panose="020B0604020202020204" pitchFamily="34" charset="0"/>
              </a:rPr>
              <a:t>segment</a:t>
            </a:r>
          </a:p>
        </p:txBody>
      </p:sp>
      <p:grpSp>
        <p:nvGrpSpPr>
          <p:cNvPr id="193" name="Group 178">
            <a:extLst>
              <a:ext uri="{FF2B5EF4-FFF2-40B4-BE49-F238E27FC236}">
                <a16:creationId xmlns:a16="http://schemas.microsoft.com/office/drawing/2014/main" id="{C602A8C6-FCB3-7248-AB25-E5D9AF0992ED}"/>
              </a:ext>
            </a:extLst>
          </p:cNvPr>
          <p:cNvGrpSpPr>
            <a:grpSpLocks/>
          </p:cNvGrpSpPr>
          <p:nvPr/>
        </p:nvGrpSpPr>
        <p:grpSpPr bwMode="auto">
          <a:xfrm>
            <a:off x="2752732" y="1287458"/>
            <a:ext cx="301625" cy="292100"/>
            <a:chOff x="1962" y="2058"/>
            <a:chExt cx="190" cy="184"/>
          </a:xfrm>
        </p:grpSpPr>
        <p:sp>
          <p:nvSpPr>
            <p:cNvPr id="194" name="Rectangle 47">
              <a:extLst>
                <a:ext uri="{FF2B5EF4-FFF2-40B4-BE49-F238E27FC236}">
                  <a16:creationId xmlns:a16="http://schemas.microsoft.com/office/drawing/2014/main" id="{74D4FADB-78FF-754C-9258-3499AEC56C8B}"/>
                </a:ext>
              </a:extLst>
            </p:cNvPr>
            <p:cNvSpPr>
              <a:spLocks noChangeArrowheads="1"/>
            </p:cNvSpPr>
            <p:nvPr/>
          </p:nvSpPr>
          <p:spPr bwMode="auto">
            <a:xfrm>
              <a:off x="1962"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Rectangle 48">
              <a:extLst>
                <a:ext uri="{FF2B5EF4-FFF2-40B4-BE49-F238E27FC236}">
                  <a16:creationId xmlns:a16="http://schemas.microsoft.com/office/drawing/2014/main" id="{9A86A925-4488-C149-AC92-7E56AC2DB20A}"/>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grpSp>
      <p:sp>
        <p:nvSpPr>
          <p:cNvPr id="196" name="Text Box 4">
            <a:extLst>
              <a:ext uri="{FF2B5EF4-FFF2-40B4-BE49-F238E27FC236}">
                <a16:creationId xmlns:a16="http://schemas.microsoft.com/office/drawing/2014/main" id="{0E8F71B9-D739-9B4D-B3C4-4209B53F4740}"/>
              </a:ext>
            </a:extLst>
          </p:cNvPr>
          <p:cNvSpPr txBox="1">
            <a:spLocks noChangeArrowheads="1"/>
          </p:cNvSpPr>
          <p:nvPr/>
        </p:nvSpPr>
        <p:spPr bwMode="auto">
          <a:xfrm>
            <a:off x="1414470" y="1590670"/>
            <a:ext cx="10429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a:solidFill>
                  <a:srgbClr val="CC0000"/>
                </a:solidFill>
                <a:latin typeface="Arial" panose="020B0604020202020204" pitchFamily="34" charset="0"/>
              </a:rPr>
              <a:t>datagram</a:t>
            </a:r>
          </a:p>
        </p:txBody>
      </p:sp>
      <p:sp>
        <p:nvSpPr>
          <p:cNvPr id="197" name="Text Box 54">
            <a:extLst>
              <a:ext uri="{FF2B5EF4-FFF2-40B4-BE49-F238E27FC236}">
                <a16:creationId xmlns:a16="http://schemas.microsoft.com/office/drawing/2014/main" id="{74C41705-B97B-5F4E-BB03-C374DF4919FA}"/>
              </a:ext>
            </a:extLst>
          </p:cNvPr>
          <p:cNvSpPr txBox="1">
            <a:spLocks noChangeArrowheads="1"/>
          </p:cNvSpPr>
          <p:nvPr/>
        </p:nvSpPr>
        <p:spPr bwMode="auto">
          <a:xfrm>
            <a:off x="2767020" y="4411659"/>
            <a:ext cx="1412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2000" i="1">
                <a:solidFill>
                  <a:srgbClr val="000099"/>
                </a:solidFill>
                <a:latin typeface="Arial" panose="020B0604020202020204" pitchFamily="34" charset="0"/>
              </a:rPr>
              <a:t>destination</a:t>
            </a:r>
          </a:p>
        </p:txBody>
      </p:sp>
      <p:sp>
        <p:nvSpPr>
          <p:cNvPr id="198" name="Freeform 56">
            <a:extLst>
              <a:ext uri="{FF2B5EF4-FFF2-40B4-BE49-F238E27FC236}">
                <a16:creationId xmlns:a16="http://schemas.microsoft.com/office/drawing/2014/main" id="{4EC19D7F-D3E4-204E-BAEB-FCE19F1C39A5}"/>
              </a:ext>
            </a:extLst>
          </p:cNvPr>
          <p:cNvSpPr>
            <a:spLocks/>
          </p:cNvSpPr>
          <p:nvPr/>
        </p:nvSpPr>
        <p:spPr bwMode="auto">
          <a:xfrm>
            <a:off x="4198944" y="4794246"/>
            <a:ext cx="360362" cy="1577975"/>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chemeClr val="accent2"/>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9" name="Rectangle 57">
            <a:extLst>
              <a:ext uri="{FF2B5EF4-FFF2-40B4-BE49-F238E27FC236}">
                <a16:creationId xmlns:a16="http://schemas.microsoft.com/office/drawing/2014/main" id="{8D9C3379-8F35-FD42-A8A5-43627B547D41}"/>
              </a:ext>
            </a:extLst>
          </p:cNvPr>
          <p:cNvSpPr>
            <a:spLocks noChangeArrowheads="1"/>
          </p:cNvSpPr>
          <p:nvPr/>
        </p:nvSpPr>
        <p:spPr bwMode="auto">
          <a:xfrm>
            <a:off x="2974981" y="4800596"/>
            <a:ext cx="1296988" cy="1546225"/>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Rectangle 58">
            <a:extLst>
              <a:ext uri="{FF2B5EF4-FFF2-40B4-BE49-F238E27FC236}">
                <a16:creationId xmlns:a16="http://schemas.microsoft.com/office/drawing/2014/main" id="{50A25BA2-076C-6040-963D-F16F60BC8943}"/>
              </a:ext>
            </a:extLst>
          </p:cNvPr>
          <p:cNvSpPr>
            <a:spLocks noChangeArrowheads="1"/>
          </p:cNvSpPr>
          <p:nvPr/>
        </p:nvSpPr>
        <p:spPr bwMode="auto">
          <a:xfrm>
            <a:off x="2927357" y="4872033"/>
            <a:ext cx="1273175" cy="1536700"/>
          </a:xfrm>
          <a:prstGeom prst="rect">
            <a:avLst/>
          </a:prstGeom>
          <a:solidFill>
            <a:schemeClr val="bg1"/>
          </a:solidFill>
          <a:ln w="2857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1" name="Line 59">
            <a:extLst>
              <a:ext uri="{FF2B5EF4-FFF2-40B4-BE49-F238E27FC236}">
                <a16:creationId xmlns:a16="http://schemas.microsoft.com/office/drawing/2014/main" id="{CD323237-4303-F04C-823F-998D288EE8F1}"/>
              </a:ext>
            </a:extLst>
          </p:cNvPr>
          <p:cNvSpPr>
            <a:spLocks noChangeShapeType="1"/>
          </p:cNvSpPr>
          <p:nvPr/>
        </p:nvSpPr>
        <p:spPr bwMode="auto">
          <a:xfrm>
            <a:off x="2927356" y="518953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2" name="Text Box 60">
            <a:extLst>
              <a:ext uri="{FF2B5EF4-FFF2-40B4-BE49-F238E27FC236}">
                <a16:creationId xmlns:a16="http://schemas.microsoft.com/office/drawing/2014/main" id="{D813B370-7619-514F-949A-FA387F1E579C}"/>
              </a:ext>
            </a:extLst>
          </p:cNvPr>
          <p:cNvSpPr txBox="1">
            <a:spLocks noChangeArrowheads="1"/>
          </p:cNvSpPr>
          <p:nvPr/>
        </p:nvSpPr>
        <p:spPr bwMode="auto">
          <a:xfrm>
            <a:off x="2884495" y="4838695"/>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10000"/>
              </a:lnSpc>
              <a:spcBef>
                <a:spcPct val="0"/>
              </a:spcBef>
              <a:buClrTx/>
              <a:buSzTx/>
              <a:buFontTx/>
              <a:buNone/>
            </a:pPr>
            <a:r>
              <a:rPr lang="en-US" altLang="en-US" sz="1800">
                <a:latin typeface="Arial" panose="020B0604020202020204" pitchFamily="34" charset="0"/>
              </a:rPr>
              <a:t>application</a:t>
            </a:r>
          </a:p>
          <a:p>
            <a:pPr algn="ctr">
              <a:lnSpc>
                <a:spcPct val="110000"/>
              </a:lnSpc>
              <a:spcBef>
                <a:spcPct val="0"/>
              </a:spcBef>
              <a:buClrTx/>
              <a:buSzTx/>
              <a:buFontTx/>
              <a:buNone/>
            </a:pPr>
            <a:r>
              <a:rPr lang="en-US" altLang="en-US" sz="1800">
                <a:latin typeface="Arial" panose="020B0604020202020204" pitchFamily="34" charset="0"/>
              </a:rPr>
              <a:t>transport</a:t>
            </a:r>
          </a:p>
          <a:p>
            <a:pPr algn="ctr">
              <a:lnSpc>
                <a:spcPct val="110000"/>
              </a:lnSpc>
              <a:spcBef>
                <a:spcPct val="0"/>
              </a:spcBef>
              <a:buClrTx/>
              <a:buSzTx/>
              <a:buFontTx/>
              <a:buNone/>
            </a:pPr>
            <a:r>
              <a:rPr lang="en-US" altLang="en-US" sz="1800">
                <a:latin typeface="Arial" panose="020B0604020202020204" pitchFamily="34" charset="0"/>
              </a:rPr>
              <a:t>network</a:t>
            </a:r>
          </a:p>
          <a:p>
            <a:pPr algn="ctr">
              <a:lnSpc>
                <a:spcPct val="110000"/>
              </a:lnSpc>
              <a:spcBef>
                <a:spcPct val="0"/>
              </a:spcBef>
              <a:buClrTx/>
              <a:buSzTx/>
              <a:buFontTx/>
              <a:buNone/>
            </a:pPr>
            <a:r>
              <a:rPr lang="en-US" altLang="en-US" sz="1800">
                <a:latin typeface="Arial" panose="020B0604020202020204" pitchFamily="34" charset="0"/>
              </a:rPr>
              <a:t>link</a:t>
            </a:r>
          </a:p>
          <a:p>
            <a:pPr algn="ctr">
              <a:lnSpc>
                <a:spcPct val="110000"/>
              </a:lnSpc>
              <a:spcBef>
                <a:spcPct val="0"/>
              </a:spcBef>
              <a:buClrTx/>
              <a:buSzTx/>
              <a:buFontTx/>
              <a:buNone/>
            </a:pPr>
            <a:r>
              <a:rPr lang="en-US" altLang="en-US" sz="1800">
                <a:latin typeface="Arial" panose="020B0604020202020204" pitchFamily="34" charset="0"/>
              </a:rPr>
              <a:t>physical</a:t>
            </a:r>
          </a:p>
        </p:txBody>
      </p:sp>
      <p:sp>
        <p:nvSpPr>
          <p:cNvPr id="203" name="Line 61">
            <a:extLst>
              <a:ext uri="{FF2B5EF4-FFF2-40B4-BE49-F238E27FC236}">
                <a16:creationId xmlns:a16="http://schemas.microsoft.com/office/drawing/2014/main" id="{03F19FD5-3F16-414E-8F9C-949E0C20969B}"/>
              </a:ext>
            </a:extLst>
          </p:cNvPr>
          <p:cNvSpPr>
            <a:spLocks noChangeShapeType="1"/>
          </p:cNvSpPr>
          <p:nvPr/>
        </p:nvSpPr>
        <p:spPr bwMode="auto">
          <a:xfrm>
            <a:off x="2935294" y="551020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4" name="Line 62">
            <a:extLst>
              <a:ext uri="{FF2B5EF4-FFF2-40B4-BE49-F238E27FC236}">
                <a16:creationId xmlns:a16="http://schemas.microsoft.com/office/drawing/2014/main" id="{29B41373-0681-C44E-A7DD-458F21C51112}"/>
              </a:ext>
            </a:extLst>
          </p:cNvPr>
          <p:cNvSpPr>
            <a:spLocks noChangeShapeType="1"/>
          </p:cNvSpPr>
          <p:nvPr/>
        </p:nvSpPr>
        <p:spPr bwMode="auto">
          <a:xfrm>
            <a:off x="2940056" y="579119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 name="Line 63">
            <a:extLst>
              <a:ext uri="{FF2B5EF4-FFF2-40B4-BE49-F238E27FC236}">
                <a16:creationId xmlns:a16="http://schemas.microsoft.com/office/drawing/2014/main" id="{534B08A1-9834-7C47-839B-CB026F123D15}"/>
              </a:ext>
            </a:extLst>
          </p:cNvPr>
          <p:cNvSpPr>
            <a:spLocks noChangeShapeType="1"/>
          </p:cNvSpPr>
          <p:nvPr/>
        </p:nvSpPr>
        <p:spPr bwMode="auto">
          <a:xfrm>
            <a:off x="2940056" y="60674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206" name="Group 64">
            <a:extLst>
              <a:ext uri="{FF2B5EF4-FFF2-40B4-BE49-F238E27FC236}">
                <a16:creationId xmlns:a16="http://schemas.microsoft.com/office/drawing/2014/main" id="{C50D7752-68C1-8540-988D-5347ECFD1886}"/>
              </a:ext>
            </a:extLst>
          </p:cNvPr>
          <p:cNvGrpSpPr>
            <a:grpSpLocks/>
          </p:cNvGrpSpPr>
          <p:nvPr/>
        </p:nvGrpSpPr>
        <p:grpSpPr bwMode="auto">
          <a:xfrm>
            <a:off x="1371606" y="5781671"/>
            <a:ext cx="1479550" cy="303213"/>
            <a:chOff x="332" y="2224"/>
            <a:chExt cx="932" cy="191"/>
          </a:xfrm>
        </p:grpSpPr>
        <p:sp>
          <p:nvSpPr>
            <p:cNvPr id="207" name="Rectangle 65">
              <a:extLst>
                <a:ext uri="{FF2B5EF4-FFF2-40B4-BE49-F238E27FC236}">
                  <a16:creationId xmlns:a16="http://schemas.microsoft.com/office/drawing/2014/main" id="{1F3E093B-217C-A04B-B5D1-A6C902542EF2}"/>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8" name="Rectangle 66">
              <a:extLst>
                <a:ext uri="{FF2B5EF4-FFF2-40B4-BE49-F238E27FC236}">
                  <a16:creationId xmlns:a16="http://schemas.microsoft.com/office/drawing/2014/main" id="{12601678-594C-E14C-9193-F38CE9075141}"/>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209" name="Rectangle 67">
              <a:extLst>
                <a:ext uri="{FF2B5EF4-FFF2-40B4-BE49-F238E27FC236}">
                  <a16:creationId xmlns:a16="http://schemas.microsoft.com/office/drawing/2014/main" id="{C60FF2A5-B680-E647-99BC-03E16BB18F4E}"/>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sp>
          <p:nvSpPr>
            <p:cNvPr id="210" name="Rectangle 68">
              <a:extLst>
                <a:ext uri="{FF2B5EF4-FFF2-40B4-BE49-F238E27FC236}">
                  <a16:creationId xmlns:a16="http://schemas.microsoft.com/office/drawing/2014/main" id="{397B1F1F-935A-C84B-968D-E29BC9F4E06A}"/>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l</a:t>
              </a:r>
            </a:p>
          </p:txBody>
        </p:sp>
        <p:sp>
          <p:nvSpPr>
            <p:cNvPr id="211" name="Rectangle 69">
              <a:extLst>
                <a:ext uri="{FF2B5EF4-FFF2-40B4-BE49-F238E27FC236}">
                  <a16:creationId xmlns:a16="http://schemas.microsoft.com/office/drawing/2014/main" id="{F6478DF2-BC33-B343-8620-1D9F679E414D}"/>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212" name="Line 70">
              <a:extLst>
                <a:ext uri="{FF2B5EF4-FFF2-40B4-BE49-F238E27FC236}">
                  <a16:creationId xmlns:a16="http://schemas.microsoft.com/office/drawing/2014/main" id="{B65227E4-D34A-B045-A564-9F588CE81723}"/>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3" name="Line 71">
              <a:extLst>
                <a:ext uri="{FF2B5EF4-FFF2-40B4-BE49-F238E27FC236}">
                  <a16:creationId xmlns:a16="http://schemas.microsoft.com/office/drawing/2014/main" id="{89581348-A579-E648-AF77-CC0CCFD73AE0}"/>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 name="Line 72">
              <a:extLst>
                <a:ext uri="{FF2B5EF4-FFF2-40B4-BE49-F238E27FC236}">
                  <a16:creationId xmlns:a16="http://schemas.microsoft.com/office/drawing/2014/main" id="{5CD35CDE-ACA7-B147-9033-013571F308B2}"/>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15" name="Group 73">
            <a:extLst>
              <a:ext uri="{FF2B5EF4-FFF2-40B4-BE49-F238E27FC236}">
                <a16:creationId xmlns:a16="http://schemas.microsoft.com/office/drawing/2014/main" id="{782EFA19-0788-864E-B946-830DAB797411}"/>
              </a:ext>
            </a:extLst>
          </p:cNvPr>
          <p:cNvGrpSpPr>
            <a:grpSpLocks/>
          </p:cNvGrpSpPr>
          <p:nvPr/>
        </p:nvGrpSpPr>
        <p:grpSpPr bwMode="auto">
          <a:xfrm>
            <a:off x="1639895" y="5483221"/>
            <a:ext cx="1208087" cy="303213"/>
            <a:chOff x="501" y="1990"/>
            <a:chExt cx="761" cy="191"/>
          </a:xfrm>
        </p:grpSpPr>
        <p:sp>
          <p:nvSpPr>
            <p:cNvPr id="216" name="Rectangle 74">
              <a:extLst>
                <a:ext uri="{FF2B5EF4-FFF2-40B4-BE49-F238E27FC236}">
                  <a16:creationId xmlns:a16="http://schemas.microsoft.com/office/drawing/2014/main" id="{D970D459-C7BE-CB4F-B370-10A7B56F6424}"/>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7" name="Rectangle 75">
              <a:extLst>
                <a:ext uri="{FF2B5EF4-FFF2-40B4-BE49-F238E27FC236}">
                  <a16:creationId xmlns:a16="http://schemas.microsoft.com/office/drawing/2014/main" id="{1904B028-B6FD-624E-A3E6-5B05A1065AFC}"/>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218" name="Rectangle 76">
              <a:extLst>
                <a:ext uri="{FF2B5EF4-FFF2-40B4-BE49-F238E27FC236}">
                  <a16:creationId xmlns:a16="http://schemas.microsoft.com/office/drawing/2014/main" id="{7E497BF0-01B9-9645-AADF-EC6ECCD69181}"/>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sp>
          <p:nvSpPr>
            <p:cNvPr id="219" name="Rectangle 77">
              <a:extLst>
                <a:ext uri="{FF2B5EF4-FFF2-40B4-BE49-F238E27FC236}">
                  <a16:creationId xmlns:a16="http://schemas.microsoft.com/office/drawing/2014/main" id="{F655CC88-7712-A040-B05C-B926BA640DC3}"/>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220" name="Line 78">
              <a:extLst>
                <a:ext uri="{FF2B5EF4-FFF2-40B4-BE49-F238E27FC236}">
                  <a16:creationId xmlns:a16="http://schemas.microsoft.com/office/drawing/2014/main" id="{5F8C7ACF-60C6-EA40-ABF5-A21BAB3D73AC}"/>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 name="Line 79">
              <a:extLst>
                <a:ext uri="{FF2B5EF4-FFF2-40B4-BE49-F238E27FC236}">
                  <a16:creationId xmlns:a16="http://schemas.microsoft.com/office/drawing/2014/main" id="{B9D1E0FC-D7EB-B94A-95BC-135127D00E84}"/>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22" name="Group 80">
            <a:extLst>
              <a:ext uri="{FF2B5EF4-FFF2-40B4-BE49-F238E27FC236}">
                <a16:creationId xmlns:a16="http://schemas.microsoft.com/office/drawing/2014/main" id="{ED606BB4-B8BF-EE47-81F0-E3489EBF698D}"/>
              </a:ext>
            </a:extLst>
          </p:cNvPr>
          <p:cNvGrpSpPr>
            <a:grpSpLocks/>
          </p:cNvGrpSpPr>
          <p:nvPr/>
        </p:nvGrpSpPr>
        <p:grpSpPr bwMode="auto">
          <a:xfrm>
            <a:off x="1943106" y="5175246"/>
            <a:ext cx="890588" cy="303213"/>
            <a:chOff x="645" y="1734"/>
            <a:chExt cx="561" cy="191"/>
          </a:xfrm>
        </p:grpSpPr>
        <p:sp>
          <p:nvSpPr>
            <p:cNvPr id="223" name="Rectangle 81">
              <a:extLst>
                <a:ext uri="{FF2B5EF4-FFF2-40B4-BE49-F238E27FC236}">
                  <a16:creationId xmlns:a16="http://schemas.microsoft.com/office/drawing/2014/main" id="{5E750AC6-B9B9-BA47-9749-5BA61D17AB9E}"/>
                </a:ext>
              </a:extLst>
            </p:cNvPr>
            <p:cNvSpPr>
              <a:spLocks noChangeArrowheads="1"/>
            </p:cNvSpPr>
            <p:nvPr/>
          </p:nvSpPr>
          <p:spPr bwMode="auto">
            <a:xfrm>
              <a:off x="645" y="1751"/>
              <a:ext cx="4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Rectangle 82">
              <a:extLst>
                <a:ext uri="{FF2B5EF4-FFF2-40B4-BE49-F238E27FC236}">
                  <a16:creationId xmlns:a16="http://schemas.microsoft.com/office/drawing/2014/main" id="{203BBA7B-2CF5-6949-AEF6-9B5E4804A8E4}"/>
                </a:ext>
              </a:extLst>
            </p:cNvPr>
            <p:cNvSpPr>
              <a:spLocks noChangeArrowheads="1"/>
            </p:cNvSpPr>
            <p:nvPr/>
          </p:nvSpPr>
          <p:spPr bwMode="auto">
            <a:xfrm>
              <a:off x="648" y="173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225" name="Rectangle 83">
              <a:extLst>
                <a:ext uri="{FF2B5EF4-FFF2-40B4-BE49-F238E27FC236}">
                  <a16:creationId xmlns:a16="http://schemas.microsoft.com/office/drawing/2014/main" id="{D9094A29-8FA3-604F-BCB2-C28018927AE8}"/>
                </a:ext>
              </a:extLst>
            </p:cNvPr>
            <p:cNvSpPr>
              <a:spLocks noChangeArrowheads="1"/>
            </p:cNvSpPr>
            <p:nvPr/>
          </p:nvSpPr>
          <p:spPr bwMode="auto">
            <a:xfrm>
              <a:off x="778" y="173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226" name="Line 84">
              <a:extLst>
                <a:ext uri="{FF2B5EF4-FFF2-40B4-BE49-F238E27FC236}">
                  <a16:creationId xmlns:a16="http://schemas.microsoft.com/office/drawing/2014/main" id="{B797ADA3-EF18-7C49-99C2-2F8F051D96BB}"/>
                </a:ext>
              </a:extLst>
            </p:cNvPr>
            <p:cNvSpPr>
              <a:spLocks noChangeShapeType="1"/>
            </p:cNvSpPr>
            <p:nvPr/>
          </p:nvSpPr>
          <p:spPr bwMode="auto">
            <a:xfrm>
              <a:off x="824" y="175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27" name="Group 85">
            <a:extLst>
              <a:ext uri="{FF2B5EF4-FFF2-40B4-BE49-F238E27FC236}">
                <a16:creationId xmlns:a16="http://schemas.microsoft.com/office/drawing/2014/main" id="{11AB6D85-B7C0-8142-8671-E8110C22285E}"/>
              </a:ext>
            </a:extLst>
          </p:cNvPr>
          <p:cNvGrpSpPr>
            <a:grpSpLocks/>
          </p:cNvGrpSpPr>
          <p:nvPr/>
        </p:nvGrpSpPr>
        <p:grpSpPr bwMode="auto">
          <a:xfrm>
            <a:off x="2149481" y="4864096"/>
            <a:ext cx="679450" cy="301625"/>
            <a:chOff x="780" y="1553"/>
            <a:chExt cx="428" cy="190"/>
          </a:xfrm>
        </p:grpSpPr>
        <p:sp>
          <p:nvSpPr>
            <p:cNvPr id="228" name="Rectangle 86">
              <a:extLst>
                <a:ext uri="{FF2B5EF4-FFF2-40B4-BE49-F238E27FC236}">
                  <a16:creationId xmlns:a16="http://schemas.microsoft.com/office/drawing/2014/main" id="{5CCFD8AF-21AA-2143-8C8C-4C988C5ED872}"/>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9" name="Rectangle 87">
              <a:extLst>
                <a:ext uri="{FF2B5EF4-FFF2-40B4-BE49-F238E27FC236}">
                  <a16:creationId xmlns:a16="http://schemas.microsoft.com/office/drawing/2014/main" id="{0247FE4B-63DA-1F45-A8DA-A5A5C63B6AC3}"/>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grpSp>
      <p:grpSp>
        <p:nvGrpSpPr>
          <p:cNvPr id="230" name="Group 88">
            <a:extLst>
              <a:ext uri="{FF2B5EF4-FFF2-40B4-BE49-F238E27FC236}">
                <a16:creationId xmlns:a16="http://schemas.microsoft.com/office/drawing/2014/main" id="{8B3437D5-3380-CA4A-BEF8-EAA97E88786A}"/>
              </a:ext>
            </a:extLst>
          </p:cNvPr>
          <p:cNvGrpSpPr>
            <a:grpSpLocks/>
          </p:cNvGrpSpPr>
          <p:nvPr/>
        </p:nvGrpSpPr>
        <p:grpSpPr bwMode="auto">
          <a:xfrm>
            <a:off x="6873882" y="4418008"/>
            <a:ext cx="1387475" cy="1035050"/>
            <a:chOff x="3601" y="168"/>
            <a:chExt cx="874" cy="652"/>
          </a:xfrm>
        </p:grpSpPr>
        <p:sp>
          <p:nvSpPr>
            <p:cNvPr id="231" name="Rectangle 89">
              <a:extLst>
                <a:ext uri="{FF2B5EF4-FFF2-40B4-BE49-F238E27FC236}">
                  <a16:creationId xmlns:a16="http://schemas.microsoft.com/office/drawing/2014/main" id="{473B91E3-F305-D74D-918B-B42A6CF23BE2}"/>
                </a:ext>
              </a:extLst>
            </p:cNvPr>
            <p:cNvSpPr>
              <a:spLocks noChangeArrowheads="1"/>
            </p:cNvSpPr>
            <p:nvPr/>
          </p:nvSpPr>
          <p:spPr bwMode="auto">
            <a:xfrm>
              <a:off x="3658" y="168"/>
              <a:ext cx="817" cy="596"/>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Rectangle 90">
              <a:extLst>
                <a:ext uri="{FF2B5EF4-FFF2-40B4-BE49-F238E27FC236}">
                  <a16:creationId xmlns:a16="http://schemas.microsoft.com/office/drawing/2014/main" id="{990C22D1-7679-CB44-8984-10C1D99DCC51}"/>
                </a:ext>
              </a:extLst>
            </p:cNvPr>
            <p:cNvSpPr>
              <a:spLocks noChangeArrowheads="1"/>
            </p:cNvSpPr>
            <p:nvPr/>
          </p:nvSpPr>
          <p:spPr bwMode="auto">
            <a:xfrm>
              <a:off x="3628" y="213"/>
              <a:ext cx="802" cy="596"/>
            </a:xfrm>
            <a:prstGeom prst="rect">
              <a:avLst/>
            </a:prstGeom>
            <a:solidFill>
              <a:schemeClr val="bg1"/>
            </a:solidFill>
            <a:ln w="2857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3" name="Line 91">
              <a:extLst>
                <a:ext uri="{FF2B5EF4-FFF2-40B4-BE49-F238E27FC236}">
                  <a16:creationId xmlns:a16="http://schemas.microsoft.com/office/drawing/2014/main" id="{19384907-F1F7-7342-B03B-0F3880C9074B}"/>
                </a:ext>
              </a:extLst>
            </p:cNvPr>
            <p:cNvSpPr>
              <a:spLocks noChangeShapeType="1"/>
            </p:cNvSpPr>
            <p:nvPr/>
          </p:nvSpPr>
          <p:spPr bwMode="auto">
            <a:xfrm>
              <a:off x="3628" y="413"/>
              <a:ext cx="796"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34" name="Text Box 92">
              <a:extLst>
                <a:ext uri="{FF2B5EF4-FFF2-40B4-BE49-F238E27FC236}">
                  <a16:creationId xmlns:a16="http://schemas.microsoft.com/office/drawing/2014/main" id="{1CB4056D-0AB4-094A-9E8C-7C63E13B1C00}"/>
                </a:ext>
              </a:extLst>
            </p:cNvPr>
            <p:cNvSpPr txBox="1">
              <a:spLocks noChangeArrowheads="1"/>
            </p:cNvSpPr>
            <p:nvPr/>
          </p:nvSpPr>
          <p:spPr bwMode="auto">
            <a:xfrm>
              <a:off x="3601" y="192"/>
              <a:ext cx="830" cy="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10000"/>
                </a:lnSpc>
                <a:spcBef>
                  <a:spcPct val="0"/>
                </a:spcBef>
                <a:buClrTx/>
                <a:buSzTx/>
                <a:buFontTx/>
                <a:buNone/>
              </a:pPr>
              <a:r>
                <a:rPr lang="en-US" altLang="en-US" sz="1800">
                  <a:latin typeface="Arial" panose="020B0604020202020204" pitchFamily="34" charset="0"/>
                </a:rPr>
                <a:t>network</a:t>
              </a:r>
            </a:p>
            <a:p>
              <a:pPr algn="ctr">
                <a:lnSpc>
                  <a:spcPct val="110000"/>
                </a:lnSpc>
                <a:spcBef>
                  <a:spcPct val="0"/>
                </a:spcBef>
                <a:buClrTx/>
                <a:buSzTx/>
                <a:buFontTx/>
                <a:buNone/>
              </a:pPr>
              <a:r>
                <a:rPr lang="en-US" altLang="en-US" sz="1800">
                  <a:latin typeface="Arial" panose="020B0604020202020204" pitchFamily="34" charset="0"/>
                </a:rPr>
                <a:t>link</a:t>
              </a:r>
            </a:p>
            <a:p>
              <a:pPr algn="ctr">
                <a:lnSpc>
                  <a:spcPct val="110000"/>
                </a:lnSpc>
                <a:spcBef>
                  <a:spcPct val="0"/>
                </a:spcBef>
                <a:buClrTx/>
                <a:buSzTx/>
                <a:buFontTx/>
                <a:buNone/>
              </a:pPr>
              <a:r>
                <a:rPr lang="en-US" altLang="en-US" sz="1800">
                  <a:latin typeface="Arial" panose="020B0604020202020204" pitchFamily="34" charset="0"/>
                </a:rPr>
                <a:t>physical</a:t>
              </a:r>
            </a:p>
          </p:txBody>
        </p:sp>
        <p:sp>
          <p:nvSpPr>
            <p:cNvPr id="235" name="Line 93">
              <a:extLst>
                <a:ext uri="{FF2B5EF4-FFF2-40B4-BE49-F238E27FC236}">
                  <a16:creationId xmlns:a16="http://schemas.microsoft.com/office/drawing/2014/main" id="{883D6FEA-BFB1-A54A-986E-6B39511738A6}"/>
                </a:ext>
              </a:extLst>
            </p:cNvPr>
            <p:cNvSpPr>
              <a:spLocks noChangeShapeType="1"/>
            </p:cNvSpPr>
            <p:nvPr/>
          </p:nvSpPr>
          <p:spPr bwMode="auto">
            <a:xfrm>
              <a:off x="3633" y="615"/>
              <a:ext cx="796"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36" name="Group 94">
            <a:extLst>
              <a:ext uri="{FF2B5EF4-FFF2-40B4-BE49-F238E27FC236}">
                <a16:creationId xmlns:a16="http://schemas.microsoft.com/office/drawing/2014/main" id="{4E80CCAE-60C1-5A41-8D94-62FDEFBFE529}"/>
              </a:ext>
            </a:extLst>
          </p:cNvPr>
          <p:cNvGrpSpPr>
            <a:grpSpLocks/>
          </p:cNvGrpSpPr>
          <p:nvPr/>
        </p:nvGrpSpPr>
        <p:grpSpPr bwMode="auto">
          <a:xfrm>
            <a:off x="7040570" y="2525709"/>
            <a:ext cx="1387475" cy="733425"/>
            <a:chOff x="4696" y="597"/>
            <a:chExt cx="874" cy="462"/>
          </a:xfrm>
        </p:grpSpPr>
        <p:sp>
          <p:nvSpPr>
            <p:cNvPr id="237" name="Rectangle 95">
              <a:extLst>
                <a:ext uri="{FF2B5EF4-FFF2-40B4-BE49-F238E27FC236}">
                  <a16:creationId xmlns:a16="http://schemas.microsoft.com/office/drawing/2014/main" id="{CF59B32B-C542-B043-8288-0E845A43D572}"/>
                </a:ext>
              </a:extLst>
            </p:cNvPr>
            <p:cNvSpPr>
              <a:spLocks noChangeArrowheads="1"/>
            </p:cNvSpPr>
            <p:nvPr/>
          </p:nvSpPr>
          <p:spPr bwMode="auto">
            <a:xfrm>
              <a:off x="4753" y="597"/>
              <a:ext cx="817" cy="416"/>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Rectangle 96">
              <a:extLst>
                <a:ext uri="{FF2B5EF4-FFF2-40B4-BE49-F238E27FC236}">
                  <a16:creationId xmlns:a16="http://schemas.microsoft.com/office/drawing/2014/main" id="{259A49E6-709B-2347-990D-69F0B212F487}"/>
                </a:ext>
              </a:extLst>
            </p:cNvPr>
            <p:cNvSpPr>
              <a:spLocks noChangeArrowheads="1"/>
            </p:cNvSpPr>
            <p:nvPr/>
          </p:nvSpPr>
          <p:spPr bwMode="auto">
            <a:xfrm>
              <a:off x="4723" y="642"/>
              <a:ext cx="802" cy="413"/>
            </a:xfrm>
            <a:prstGeom prst="rect">
              <a:avLst/>
            </a:prstGeom>
            <a:solidFill>
              <a:schemeClr val="bg1"/>
            </a:solidFill>
            <a:ln w="2857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9" name="Line 97">
              <a:extLst>
                <a:ext uri="{FF2B5EF4-FFF2-40B4-BE49-F238E27FC236}">
                  <a16:creationId xmlns:a16="http://schemas.microsoft.com/office/drawing/2014/main" id="{D82D4EF1-E7DC-B146-B148-5E79F02BCC8B}"/>
                </a:ext>
              </a:extLst>
            </p:cNvPr>
            <p:cNvSpPr>
              <a:spLocks noChangeShapeType="1"/>
            </p:cNvSpPr>
            <p:nvPr/>
          </p:nvSpPr>
          <p:spPr bwMode="auto">
            <a:xfrm>
              <a:off x="4723" y="842"/>
              <a:ext cx="796"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40" name="Text Box 98">
              <a:extLst>
                <a:ext uri="{FF2B5EF4-FFF2-40B4-BE49-F238E27FC236}">
                  <a16:creationId xmlns:a16="http://schemas.microsoft.com/office/drawing/2014/main" id="{9BC58A09-0AC8-5F40-B8A7-C0AF48D1DC0E}"/>
                </a:ext>
              </a:extLst>
            </p:cNvPr>
            <p:cNvSpPr txBox="1">
              <a:spLocks noChangeArrowheads="1"/>
            </p:cNvSpPr>
            <p:nvPr/>
          </p:nvSpPr>
          <p:spPr bwMode="auto">
            <a:xfrm>
              <a:off x="4696" y="621"/>
              <a:ext cx="8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10000"/>
                </a:lnSpc>
                <a:spcBef>
                  <a:spcPct val="0"/>
                </a:spcBef>
                <a:buClrTx/>
                <a:buSzTx/>
                <a:buFontTx/>
                <a:buNone/>
              </a:pPr>
              <a:r>
                <a:rPr lang="en-US" altLang="en-US" sz="1800">
                  <a:latin typeface="Arial" panose="020B0604020202020204" pitchFamily="34" charset="0"/>
                </a:rPr>
                <a:t>link</a:t>
              </a:r>
            </a:p>
            <a:p>
              <a:pPr algn="ctr">
                <a:lnSpc>
                  <a:spcPct val="110000"/>
                </a:lnSpc>
                <a:spcBef>
                  <a:spcPct val="0"/>
                </a:spcBef>
                <a:buClrTx/>
                <a:buSzTx/>
                <a:buFontTx/>
                <a:buNone/>
              </a:pPr>
              <a:r>
                <a:rPr lang="en-US" altLang="en-US" sz="1800">
                  <a:latin typeface="Arial" panose="020B0604020202020204" pitchFamily="34" charset="0"/>
                </a:rPr>
                <a:t>physical</a:t>
              </a:r>
            </a:p>
          </p:txBody>
        </p:sp>
      </p:grpSp>
      <p:sp>
        <p:nvSpPr>
          <p:cNvPr id="241" name="Freeform 114">
            <a:extLst>
              <a:ext uri="{FF2B5EF4-FFF2-40B4-BE49-F238E27FC236}">
                <a16:creationId xmlns:a16="http://schemas.microsoft.com/office/drawing/2014/main" id="{BEDEB3A2-EFA9-6F44-A8E6-C8BD127C9FBD}"/>
              </a:ext>
            </a:extLst>
          </p:cNvPr>
          <p:cNvSpPr>
            <a:spLocks/>
          </p:cNvSpPr>
          <p:nvPr/>
        </p:nvSpPr>
        <p:spPr bwMode="auto">
          <a:xfrm>
            <a:off x="3048006" y="787395"/>
            <a:ext cx="5264150" cy="5494338"/>
          </a:xfrm>
          <a:custGeom>
            <a:avLst/>
            <a:gdLst>
              <a:gd name="T0" fmla="*/ 2147483646 w 3316"/>
              <a:gd name="T1" fmla="*/ 0 h 3461"/>
              <a:gd name="T2" fmla="*/ 2147483646 w 3316"/>
              <a:gd name="T3" fmla="*/ 2147483646 h 3461"/>
              <a:gd name="T4" fmla="*/ 2147483646 w 3316"/>
              <a:gd name="T5" fmla="*/ 2147483646 h 3461"/>
              <a:gd name="T6" fmla="*/ 2147483646 w 3316"/>
              <a:gd name="T7" fmla="*/ 2147483646 h 3461"/>
              <a:gd name="T8" fmla="*/ 2147483646 w 3316"/>
              <a:gd name="T9" fmla="*/ 2147483646 h 3461"/>
              <a:gd name="T10" fmla="*/ 2147483646 w 3316"/>
              <a:gd name="T11" fmla="*/ 2147483646 h 3461"/>
              <a:gd name="T12" fmla="*/ 2147483646 w 3316"/>
              <a:gd name="T13" fmla="*/ 2147483646 h 3461"/>
              <a:gd name="T14" fmla="*/ 2147483646 w 3316"/>
              <a:gd name="T15" fmla="*/ 2147483646 h 3461"/>
              <a:gd name="T16" fmla="*/ 2147483646 w 3316"/>
              <a:gd name="T17" fmla="*/ 2147483646 h 3461"/>
              <a:gd name="T18" fmla="*/ 2147483646 w 3316"/>
              <a:gd name="T19" fmla="*/ 2147483646 h 3461"/>
              <a:gd name="T20" fmla="*/ 2147483646 w 3316"/>
              <a:gd name="T21" fmla="*/ 2147483646 h 3461"/>
              <a:gd name="T22" fmla="*/ 0 w 3316"/>
              <a:gd name="T23" fmla="*/ 2147483646 h 3461"/>
              <a:gd name="T24" fmla="*/ 0 w 3316"/>
              <a:gd name="T25" fmla="*/ 2147483646 h 34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16"/>
              <a:gd name="T40" fmla="*/ 0 h 3461"/>
              <a:gd name="T41" fmla="*/ 3316 w 3316"/>
              <a:gd name="T42" fmla="*/ 3461 h 34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16" h="3461">
                <a:moveTo>
                  <a:pt x="872" y="0"/>
                </a:moveTo>
                <a:lnTo>
                  <a:pt x="878" y="1481"/>
                </a:lnTo>
                <a:lnTo>
                  <a:pt x="2612" y="1481"/>
                </a:lnTo>
                <a:lnTo>
                  <a:pt x="2612" y="1179"/>
                </a:lnTo>
                <a:lnTo>
                  <a:pt x="3294" y="1179"/>
                </a:lnTo>
                <a:lnTo>
                  <a:pt x="3316" y="3131"/>
                </a:lnTo>
                <a:lnTo>
                  <a:pt x="3148" y="2986"/>
                </a:lnTo>
                <a:lnTo>
                  <a:pt x="3143" y="2387"/>
                </a:lnTo>
                <a:lnTo>
                  <a:pt x="2505" y="2387"/>
                </a:lnTo>
                <a:lnTo>
                  <a:pt x="2505" y="3070"/>
                </a:lnTo>
                <a:lnTo>
                  <a:pt x="1057" y="3461"/>
                </a:lnTo>
                <a:lnTo>
                  <a:pt x="0" y="3461"/>
                </a:lnTo>
                <a:lnTo>
                  <a:pt x="0" y="2505"/>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42" name="Group 115">
            <a:extLst>
              <a:ext uri="{FF2B5EF4-FFF2-40B4-BE49-F238E27FC236}">
                <a16:creationId xmlns:a16="http://schemas.microsoft.com/office/drawing/2014/main" id="{85B6340C-1412-DD49-A487-35E5DC0144AC}"/>
              </a:ext>
            </a:extLst>
          </p:cNvPr>
          <p:cNvGrpSpPr>
            <a:grpSpLocks/>
          </p:cNvGrpSpPr>
          <p:nvPr/>
        </p:nvGrpSpPr>
        <p:grpSpPr bwMode="auto">
          <a:xfrm>
            <a:off x="5457831" y="4800596"/>
            <a:ext cx="1479550" cy="303213"/>
            <a:chOff x="332" y="2224"/>
            <a:chExt cx="932" cy="191"/>
          </a:xfrm>
        </p:grpSpPr>
        <p:sp>
          <p:nvSpPr>
            <p:cNvPr id="243" name="Rectangle 116">
              <a:extLst>
                <a:ext uri="{FF2B5EF4-FFF2-40B4-BE49-F238E27FC236}">
                  <a16:creationId xmlns:a16="http://schemas.microsoft.com/office/drawing/2014/main" id="{504C038E-092B-1D4B-AD07-733B523A2C29}"/>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44" name="Rectangle 117">
              <a:extLst>
                <a:ext uri="{FF2B5EF4-FFF2-40B4-BE49-F238E27FC236}">
                  <a16:creationId xmlns:a16="http://schemas.microsoft.com/office/drawing/2014/main" id="{99CDC4A5-2671-2F4C-AF10-D4F0B21A07E4}"/>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245" name="Rectangle 118">
              <a:extLst>
                <a:ext uri="{FF2B5EF4-FFF2-40B4-BE49-F238E27FC236}">
                  <a16:creationId xmlns:a16="http://schemas.microsoft.com/office/drawing/2014/main" id="{41C01446-A97C-0942-9110-AECA50BADDDB}"/>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sp>
          <p:nvSpPr>
            <p:cNvPr id="246" name="Rectangle 119">
              <a:extLst>
                <a:ext uri="{FF2B5EF4-FFF2-40B4-BE49-F238E27FC236}">
                  <a16:creationId xmlns:a16="http://schemas.microsoft.com/office/drawing/2014/main" id="{AA06A8EE-28E9-AF46-9EEA-FBEDDAF18726}"/>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l</a:t>
              </a:r>
            </a:p>
          </p:txBody>
        </p:sp>
        <p:sp>
          <p:nvSpPr>
            <p:cNvPr id="247" name="Rectangle 120">
              <a:extLst>
                <a:ext uri="{FF2B5EF4-FFF2-40B4-BE49-F238E27FC236}">
                  <a16:creationId xmlns:a16="http://schemas.microsoft.com/office/drawing/2014/main" id="{EF7ADA06-A6C3-EC42-9026-08C964BC6509}"/>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248" name="Line 121">
              <a:extLst>
                <a:ext uri="{FF2B5EF4-FFF2-40B4-BE49-F238E27FC236}">
                  <a16:creationId xmlns:a16="http://schemas.microsoft.com/office/drawing/2014/main" id="{F47A00CE-0D92-CA4D-9460-92CBEF8DE836}"/>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 name="Line 122">
              <a:extLst>
                <a:ext uri="{FF2B5EF4-FFF2-40B4-BE49-F238E27FC236}">
                  <a16:creationId xmlns:a16="http://schemas.microsoft.com/office/drawing/2014/main" id="{457AAAB2-E313-B54A-B86A-CBEACA43A89D}"/>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 name="Line 123">
              <a:extLst>
                <a:ext uri="{FF2B5EF4-FFF2-40B4-BE49-F238E27FC236}">
                  <a16:creationId xmlns:a16="http://schemas.microsoft.com/office/drawing/2014/main" id="{777075DA-53C1-4349-BD44-36049E94C4E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1" name="Group 124">
            <a:extLst>
              <a:ext uri="{FF2B5EF4-FFF2-40B4-BE49-F238E27FC236}">
                <a16:creationId xmlns:a16="http://schemas.microsoft.com/office/drawing/2014/main" id="{F09DD616-F735-7046-9C1C-D2103F4D1E5C}"/>
              </a:ext>
            </a:extLst>
          </p:cNvPr>
          <p:cNvGrpSpPr>
            <a:grpSpLocks/>
          </p:cNvGrpSpPr>
          <p:nvPr/>
        </p:nvGrpSpPr>
        <p:grpSpPr bwMode="auto">
          <a:xfrm>
            <a:off x="5716595" y="4494208"/>
            <a:ext cx="1208087" cy="303212"/>
            <a:chOff x="501" y="1990"/>
            <a:chExt cx="761" cy="191"/>
          </a:xfrm>
        </p:grpSpPr>
        <p:sp>
          <p:nvSpPr>
            <p:cNvPr id="252" name="Rectangle 125">
              <a:extLst>
                <a:ext uri="{FF2B5EF4-FFF2-40B4-BE49-F238E27FC236}">
                  <a16:creationId xmlns:a16="http://schemas.microsoft.com/office/drawing/2014/main" id="{DB941F93-1335-5645-94DE-59F001928AC8}"/>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53" name="Rectangle 126">
              <a:extLst>
                <a:ext uri="{FF2B5EF4-FFF2-40B4-BE49-F238E27FC236}">
                  <a16:creationId xmlns:a16="http://schemas.microsoft.com/office/drawing/2014/main" id="{9EA1B2EB-B358-3D4C-841E-567FECFADB18}"/>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254" name="Rectangle 127">
              <a:extLst>
                <a:ext uri="{FF2B5EF4-FFF2-40B4-BE49-F238E27FC236}">
                  <a16:creationId xmlns:a16="http://schemas.microsoft.com/office/drawing/2014/main" id="{13F00E9F-B735-5849-861F-39C839FD83F4}"/>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sp>
          <p:nvSpPr>
            <p:cNvPr id="255" name="Rectangle 128">
              <a:extLst>
                <a:ext uri="{FF2B5EF4-FFF2-40B4-BE49-F238E27FC236}">
                  <a16:creationId xmlns:a16="http://schemas.microsoft.com/office/drawing/2014/main" id="{0CE33A55-3FFF-D247-A00E-5085ABE3BDA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256" name="Line 129">
              <a:extLst>
                <a:ext uri="{FF2B5EF4-FFF2-40B4-BE49-F238E27FC236}">
                  <a16:creationId xmlns:a16="http://schemas.microsoft.com/office/drawing/2014/main" id="{5257F2F7-73B9-0943-A775-4320CC67F911}"/>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 name="Line 130">
              <a:extLst>
                <a:ext uri="{FF2B5EF4-FFF2-40B4-BE49-F238E27FC236}">
                  <a16:creationId xmlns:a16="http://schemas.microsoft.com/office/drawing/2014/main" id="{F79FB15F-B9B5-1C48-A8C6-B6B142E79B47}"/>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8" name="Group 140">
            <a:extLst>
              <a:ext uri="{FF2B5EF4-FFF2-40B4-BE49-F238E27FC236}">
                <a16:creationId xmlns:a16="http://schemas.microsoft.com/office/drawing/2014/main" id="{DC4925E6-41A9-8643-8E76-63BD0FB2392D}"/>
              </a:ext>
            </a:extLst>
          </p:cNvPr>
          <p:cNvGrpSpPr>
            <a:grpSpLocks/>
          </p:cNvGrpSpPr>
          <p:nvPr/>
        </p:nvGrpSpPr>
        <p:grpSpPr bwMode="auto">
          <a:xfrm>
            <a:off x="8488370" y="4860921"/>
            <a:ext cx="1208087" cy="303213"/>
            <a:chOff x="501" y="1990"/>
            <a:chExt cx="761" cy="191"/>
          </a:xfrm>
        </p:grpSpPr>
        <p:sp>
          <p:nvSpPr>
            <p:cNvPr id="259" name="Rectangle 141">
              <a:extLst>
                <a:ext uri="{FF2B5EF4-FFF2-40B4-BE49-F238E27FC236}">
                  <a16:creationId xmlns:a16="http://schemas.microsoft.com/office/drawing/2014/main" id="{24DA0C2F-17DB-7643-B65D-18F2B436D4C0}"/>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60" name="Rectangle 142">
              <a:extLst>
                <a:ext uri="{FF2B5EF4-FFF2-40B4-BE49-F238E27FC236}">
                  <a16:creationId xmlns:a16="http://schemas.microsoft.com/office/drawing/2014/main" id="{296D85F8-DA00-E347-906C-91E4F93935A1}"/>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261" name="Rectangle 143">
              <a:extLst>
                <a:ext uri="{FF2B5EF4-FFF2-40B4-BE49-F238E27FC236}">
                  <a16:creationId xmlns:a16="http://schemas.microsoft.com/office/drawing/2014/main" id="{7E7E3D6E-A342-6648-9506-7A080F8B77FF}"/>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sp>
          <p:nvSpPr>
            <p:cNvPr id="262" name="Rectangle 144">
              <a:extLst>
                <a:ext uri="{FF2B5EF4-FFF2-40B4-BE49-F238E27FC236}">
                  <a16:creationId xmlns:a16="http://schemas.microsoft.com/office/drawing/2014/main" id="{E27AB14D-C29B-DF45-8BD1-D050C50BEA2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263" name="Line 145">
              <a:extLst>
                <a:ext uri="{FF2B5EF4-FFF2-40B4-BE49-F238E27FC236}">
                  <a16:creationId xmlns:a16="http://schemas.microsoft.com/office/drawing/2014/main" id="{331963CB-8B11-1C4E-8253-0FDB3A375A54}"/>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 name="Line 146">
              <a:extLst>
                <a:ext uri="{FF2B5EF4-FFF2-40B4-BE49-F238E27FC236}">
                  <a16:creationId xmlns:a16="http://schemas.microsoft.com/office/drawing/2014/main" id="{432304F0-73BB-2748-8E18-7151D5E33699}"/>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65" name="Group 156">
            <a:extLst>
              <a:ext uri="{FF2B5EF4-FFF2-40B4-BE49-F238E27FC236}">
                <a16:creationId xmlns:a16="http://schemas.microsoft.com/office/drawing/2014/main" id="{2999D032-84BD-264A-ADD9-A5141E317962}"/>
              </a:ext>
            </a:extLst>
          </p:cNvPr>
          <p:cNvGrpSpPr>
            <a:grpSpLocks/>
          </p:cNvGrpSpPr>
          <p:nvPr/>
        </p:nvGrpSpPr>
        <p:grpSpPr bwMode="auto">
          <a:xfrm>
            <a:off x="2157419" y="1919283"/>
            <a:ext cx="1479550" cy="303212"/>
            <a:chOff x="332" y="2224"/>
            <a:chExt cx="932" cy="191"/>
          </a:xfrm>
        </p:grpSpPr>
        <p:sp>
          <p:nvSpPr>
            <p:cNvPr id="266" name="Rectangle 157">
              <a:extLst>
                <a:ext uri="{FF2B5EF4-FFF2-40B4-BE49-F238E27FC236}">
                  <a16:creationId xmlns:a16="http://schemas.microsoft.com/office/drawing/2014/main" id="{0E7166F5-9BCE-6142-A6E7-CDF949808543}"/>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67" name="Rectangle 158">
              <a:extLst>
                <a:ext uri="{FF2B5EF4-FFF2-40B4-BE49-F238E27FC236}">
                  <a16:creationId xmlns:a16="http://schemas.microsoft.com/office/drawing/2014/main" id="{754F1661-A032-B447-9C02-84330F1B16C3}"/>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sp>
          <p:nvSpPr>
            <p:cNvPr id="268" name="Rectangle 159">
              <a:extLst>
                <a:ext uri="{FF2B5EF4-FFF2-40B4-BE49-F238E27FC236}">
                  <a16:creationId xmlns:a16="http://schemas.microsoft.com/office/drawing/2014/main" id="{1C7AD2C3-C553-2A4B-9171-A8E09BA847E8}"/>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sp>
          <p:nvSpPr>
            <p:cNvPr id="269" name="Rectangle 160">
              <a:extLst>
                <a:ext uri="{FF2B5EF4-FFF2-40B4-BE49-F238E27FC236}">
                  <a16:creationId xmlns:a16="http://schemas.microsoft.com/office/drawing/2014/main" id="{CE64079E-3B67-F34D-801D-A92A1F3B07C8}"/>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l</a:t>
              </a:r>
            </a:p>
          </p:txBody>
        </p:sp>
        <p:sp>
          <p:nvSpPr>
            <p:cNvPr id="270" name="Rectangle 161">
              <a:extLst>
                <a:ext uri="{FF2B5EF4-FFF2-40B4-BE49-F238E27FC236}">
                  <a16:creationId xmlns:a16="http://schemas.microsoft.com/office/drawing/2014/main" id="{1E8F4774-501D-1F43-80F6-8E0FBDD2EA01}"/>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sp>
          <p:nvSpPr>
            <p:cNvPr id="271" name="Line 162">
              <a:extLst>
                <a:ext uri="{FF2B5EF4-FFF2-40B4-BE49-F238E27FC236}">
                  <a16:creationId xmlns:a16="http://schemas.microsoft.com/office/drawing/2014/main" id="{AC823B9C-431D-F442-BF16-B2BB2576305B}"/>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2" name="Line 163">
              <a:extLst>
                <a:ext uri="{FF2B5EF4-FFF2-40B4-BE49-F238E27FC236}">
                  <a16:creationId xmlns:a16="http://schemas.microsoft.com/office/drawing/2014/main" id="{027C6256-CE60-DF44-B53C-314BE2376CBC}"/>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 name="Line 164">
              <a:extLst>
                <a:ext uri="{FF2B5EF4-FFF2-40B4-BE49-F238E27FC236}">
                  <a16:creationId xmlns:a16="http://schemas.microsoft.com/office/drawing/2014/main" id="{EB0B6073-A87E-8C45-871D-8531AA06559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74" name="Text Box 166">
            <a:extLst>
              <a:ext uri="{FF2B5EF4-FFF2-40B4-BE49-F238E27FC236}">
                <a16:creationId xmlns:a16="http://schemas.microsoft.com/office/drawing/2014/main" id="{B74B5829-1A8F-AE47-9517-C70C28E5B2D0}"/>
              </a:ext>
            </a:extLst>
          </p:cNvPr>
          <p:cNvSpPr txBox="1">
            <a:spLocks noChangeArrowheads="1"/>
          </p:cNvSpPr>
          <p:nvPr/>
        </p:nvSpPr>
        <p:spPr bwMode="auto">
          <a:xfrm>
            <a:off x="9140831" y="5665783"/>
            <a:ext cx="84144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eaLnBrk="1" hangingPunct="1">
              <a:lnSpc>
                <a:spcPct val="100000"/>
              </a:lnSpc>
              <a:spcBef>
                <a:spcPct val="0"/>
              </a:spcBef>
              <a:buClrTx/>
              <a:buSzTx/>
              <a:buFontTx/>
              <a:buNone/>
            </a:pPr>
            <a:r>
              <a:rPr lang="en-US" altLang="en-US" sz="2000" dirty="0">
                <a:latin typeface="+mn-lt"/>
              </a:rPr>
              <a:t>router</a:t>
            </a:r>
            <a:endParaRPr lang="en-US" altLang="en-US" sz="1800" dirty="0">
              <a:latin typeface="+mn-lt"/>
            </a:endParaRPr>
          </a:p>
        </p:txBody>
      </p:sp>
      <p:sp>
        <p:nvSpPr>
          <p:cNvPr id="275" name="Text Box 167">
            <a:extLst>
              <a:ext uri="{FF2B5EF4-FFF2-40B4-BE49-F238E27FC236}">
                <a16:creationId xmlns:a16="http://schemas.microsoft.com/office/drawing/2014/main" id="{28AC982F-9E27-1847-9770-EC46EAFE4DFF}"/>
              </a:ext>
            </a:extLst>
          </p:cNvPr>
          <p:cNvSpPr txBox="1">
            <a:spLocks noChangeArrowheads="1"/>
          </p:cNvSpPr>
          <p:nvPr/>
        </p:nvSpPr>
        <p:spPr bwMode="auto">
          <a:xfrm>
            <a:off x="9155119" y="3386662"/>
            <a:ext cx="869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eaLnBrk="1" hangingPunct="1">
              <a:lnSpc>
                <a:spcPct val="100000"/>
              </a:lnSpc>
              <a:spcBef>
                <a:spcPct val="0"/>
              </a:spcBef>
              <a:buClrTx/>
              <a:buSzTx/>
              <a:buFontTx/>
              <a:buNone/>
            </a:pPr>
            <a:r>
              <a:rPr lang="en-US" altLang="en-US" sz="2000" dirty="0">
                <a:latin typeface="+mn-lt"/>
              </a:rPr>
              <a:t>switch</a:t>
            </a:r>
            <a:endParaRPr lang="en-US" altLang="en-US" sz="1800" dirty="0">
              <a:latin typeface="+mn-lt"/>
            </a:endParaRPr>
          </a:p>
        </p:txBody>
      </p:sp>
      <p:sp>
        <p:nvSpPr>
          <p:cNvPr id="276" name="Text Box 174">
            <a:extLst>
              <a:ext uri="{FF2B5EF4-FFF2-40B4-BE49-F238E27FC236}">
                <a16:creationId xmlns:a16="http://schemas.microsoft.com/office/drawing/2014/main" id="{2A962AD2-9396-3D42-9E36-5C73F53C9104}"/>
              </a:ext>
            </a:extLst>
          </p:cNvPr>
          <p:cNvSpPr txBox="1">
            <a:spLocks noChangeArrowheads="1"/>
          </p:cNvSpPr>
          <p:nvPr/>
        </p:nvSpPr>
        <p:spPr bwMode="auto">
          <a:xfrm>
            <a:off x="1922469" y="946145"/>
            <a:ext cx="10080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a:solidFill>
                  <a:srgbClr val="CC0000"/>
                </a:solidFill>
                <a:latin typeface="Arial" panose="020B0604020202020204" pitchFamily="34" charset="0"/>
              </a:rPr>
              <a:t>message</a:t>
            </a:r>
          </a:p>
        </p:txBody>
      </p:sp>
      <p:grpSp>
        <p:nvGrpSpPr>
          <p:cNvPr id="277" name="Group 175">
            <a:extLst>
              <a:ext uri="{FF2B5EF4-FFF2-40B4-BE49-F238E27FC236}">
                <a16:creationId xmlns:a16="http://schemas.microsoft.com/office/drawing/2014/main" id="{06D27889-C61F-0242-A608-3A140922A686}"/>
              </a:ext>
            </a:extLst>
          </p:cNvPr>
          <p:cNvGrpSpPr>
            <a:grpSpLocks/>
          </p:cNvGrpSpPr>
          <p:nvPr/>
        </p:nvGrpSpPr>
        <p:grpSpPr bwMode="auto">
          <a:xfrm>
            <a:off x="2982919" y="973134"/>
            <a:ext cx="679450" cy="301625"/>
            <a:chOff x="780" y="1553"/>
            <a:chExt cx="428" cy="190"/>
          </a:xfrm>
        </p:grpSpPr>
        <p:sp>
          <p:nvSpPr>
            <p:cNvPr id="278" name="Rectangle 176">
              <a:extLst>
                <a:ext uri="{FF2B5EF4-FFF2-40B4-BE49-F238E27FC236}">
                  <a16:creationId xmlns:a16="http://schemas.microsoft.com/office/drawing/2014/main" id="{8E4EC409-9300-A24E-856E-0C57A0500EC7}"/>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79" name="Rectangle 177">
              <a:extLst>
                <a:ext uri="{FF2B5EF4-FFF2-40B4-BE49-F238E27FC236}">
                  <a16:creationId xmlns:a16="http://schemas.microsoft.com/office/drawing/2014/main" id="{C7120CFE-84DC-AE4A-96EA-467B21A3F95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grpSp>
      <p:grpSp>
        <p:nvGrpSpPr>
          <p:cNvPr id="280" name="Group 185">
            <a:extLst>
              <a:ext uri="{FF2B5EF4-FFF2-40B4-BE49-F238E27FC236}">
                <a16:creationId xmlns:a16="http://schemas.microsoft.com/office/drawing/2014/main" id="{48F838C9-2064-8846-AE99-7D64C6F0E88A}"/>
              </a:ext>
            </a:extLst>
          </p:cNvPr>
          <p:cNvGrpSpPr>
            <a:grpSpLocks/>
          </p:cNvGrpSpPr>
          <p:nvPr/>
        </p:nvGrpSpPr>
        <p:grpSpPr bwMode="auto">
          <a:xfrm>
            <a:off x="2747970" y="1293809"/>
            <a:ext cx="903287" cy="301625"/>
            <a:chOff x="1851" y="2046"/>
            <a:chExt cx="569" cy="190"/>
          </a:xfrm>
        </p:grpSpPr>
        <p:grpSp>
          <p:nvGrpSpPr>
            <p:cNvPr id="281" name="Group 179">
              <a:extLst>
                <a:ext uri="{FF2B5EF4-FFF2-40B4-BE49-F238E27FC236}">
                  <a16:creationId xmlns:a16="http://schemas.microsoft.com/office/drawing/2014/main" id="{B8E6789C-1509-4C48-885B-AD08332F4B98}"/>
                </a:ext>
              </a:extLst>
            </p:cNvPr>
            <p:cNvGrpSpPr>
              <a:grpSpLocks/>
            </p:cNvGrpSpPr>
            <p:nvPr/>
          </p:nvGrpSpPr>
          <p:grpSpPr bwMode="auto">
            <a:xfrm>
              <a:off x="1851" y="2047"/>
              <a:ext cx="190" cy="184"/>
              <a:chOff x="1962" y="2058"/>
              <a:chExt cx="190" cy="184"/>
            </a:xfrm>
          </p:grpSpPr>
          <p:sp>
            <p:nvSpPr>
              <p:cNvPr id="285" name="Rectangle 180">
                <a:extLst>
                  <a:ext uri="{FF2B5EF4-FFF2-40B4-BE49-F238E27FC236}">
                    <a16:creationId xmlns:a16="http://schemas.microsoft.com/office/drawing/2014/main" id="{06BC3922-CF81-3845-BA10-96DBBA1F47B7}"/>
                  </a:ext>
                </a:extLst>
              </p:cNvPr>
              <p:cNvSpPr>
                <a:spLocks noChangeArrowheads="1"/>
              </p:cNvSpPr>
              <p:nvPr/>
            </p:nvSpPr>
            <p:spPr bwMode="auto">
              <a:xfrm>
                <a:off x="1962"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86" name="Rectangle 181">
                <a:extLst>
                  <a:ext uri="{FF2B5EF4-FFF2-40B4-BE49-F238E27FC236}">
                    <a16:creationId xmlns:a16="http://schemas.microsoft.com/office/drawing/2014/main" id="{C4E3DD7C-9412-E741-BD84-C65290F3969E}"/>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t</a:t>
                </a:r>
              </a:p>
            </p:txBody>
          </p:sp>
        </p:grpSp>
        <p:grpSp>
          <p:nvGrpSpPr>
            <p:cNvPr id="282" name="Group 182">
              <a:extLst>
                <a:ext uri="{FF2B5EF4-FFF2-40B4-BE49-F238E27FC236}">
                  <a16:creationId xmlns:a16="http://schemas.microsoft.com/office/drawing/2014/main" id="{19C49CDA-616B-0942-AEEF-049BB04DF303}"/>
                </a:ext>
              </a:extLst>
            </p:cNvPr>
            <p:cNvGrpSpPr>
              <a:grpSpLocks/>
            </p:cNvGrpSpPr>
            <p:nvPr/>
          </p:nvGrpSpPr>
          <p:grpSpPr bwMode="auto">
            <a:xfrm>
              <a:off x="1992" y="2046"/>
              <a:ext cx="428" cy="190"/>
              <a:chOff x="780" y="1553"/>
              <a:chExt cx="428" cy="190"/>
            </a:xfrm>
          </p:grpSpPr>
          <p:sp>
            <p:nvSpPr>
              <p:cNvPr id="283" name="Rectangle 183">
                <a:extLst>
                  <a:ext uri="{FF2B5EF4-FFF2-40B4-BE49-F238E27FC236}">
                    <a16:creationId xmlns:a16="http://schemas.microsoft.com/office/drawing/2014/main" id="{4F97E7C1-6241-2842-9ACE-7FBCF045B164}"/>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84" name="Rectangle 184">
                <a:extLst>
                  <a:ext uri="{FF2B5EF4-FFF2-40B4-BE49-F238E27FC236}">
                    <a16:creationId xmlns:a16="http://schemas.microsoft.com/office/drawing/2014/main" id="{FBAAFC8C-9356-294D-B8F3-F6E4810790B2}"/>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M</a:t>
                </a:r>
              </a:p>
            </p:txBody>
          </p:sp>
        </p:grpSp>
      </p:grpSp>
      <p:grpSp>
        <p:nvGrpSpPr>
          <p:cNvPr id="287" name="Group 187">
            <a:extLst>
              <a:ext uri="{FF2B5EF4-FFF2-40B4-BE49-F238E27FC236}">
                <a16:creationId xmlns:a16="http://schemas.microsoft.com/office/drawing/2014/main" id="{11860688-7535-2242-95B7-51DB4FCD1617}"/>
              </a:ext>
            </a:extLst>
          </p:cNvPr>
          <p:cNvGrpSpPr>
            <a:grpSpLocks/>
          </p:cNvGrpSpPr>
          <p:nvPr/>
        </p:nvGrpSpPr>
        <p:grpSpPr bwMode="auto">
          <a:xfrm>
            <a:off x="2454282" y="1617658"/>
            <a:ext cx="301625" cy="292100"/>
            <a:chOff x="1962" y="2058"/>
            <a:chExt cx="190" cy="184"/>
          </a:xfrm>
        </p:grpSpPr>
        <p:sp>
          <p:nvSpPr>
            <p:cNvPr id="288" name="Rectangle 188">
              <a:extLst>
                <a:ext uri="{FF2B5EF4-FFF2-40B4-BE49-F238E27FC236}">
                  <a16:creationId xmlns:a16="http://schemas.microsoft.com/office/drawing/2014/main" id="{731A6D81-5EA1-834F-A9B7-29A362ECB239}"/>
                </a:ext>
              </a:extLst>
            </p:cNvPr>
            <p:cNvSpPr>
              <a:spLocks noChangeArrowheads="1"/>
            </p:cNvSpPr>
            <p:nvPr/>
          </p:nvSpPr>
          <p:spPr bwMode="auto">
            <a:xfrm>
              <a:off x="1962"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89" name="Rectangle 189">
              <a:extLst>
                <a:ext uri="{FF2B5EF4-FFF2-40B4-BE49-F238E27FC236}">
                  <a16:creationId xmlns:a16="http://schemas.microsoft.com/office/drawing/2014/main" id="{2EAE3C28-1F19-034E-A583-4C40A2941B78}"/>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400">
                  <a:latin typeface="Arial" panose="020B0604020202020204" pitchFamily="34" charset="0"/>
                </a:rPr>
                <a:t>H</a:t>
              </a:r>
              <a:r>
                <a:rPr lang="en-US" altLang="en-US" sz="1800" baseline="-25000">
                  <a:latin typeface="Arial" panose="020B0604020202020204" pitchFamily="34" charset="0"/>
                </a:rPr>
                <a:t>n</a:t>
              </a:r>
            </a:p>
          </p:txBody>
        </p:sp>
      </p:grpSp>
      <p:sp>
        <p:nvSpPr>
          <p:cNvPr id="290" name="Text Box 7">
            <a:extLst>
              <a:ext uri="{FF2B5EF4-FFF2-40B4-BE49-F238E27FC236}">
                <a16:creationId xmlns:a16="http://schemas.microsoft.com/office/drawing/2014/main" id="{A538246A-59B9-0349-A984-2F7704DBA8CC}"/>
              </a:ext>
            </a:extLst>
          </p:cNvPr>
          <p:cNvSpPr txBox="1">
            <a:spLocks noChangeArrowheads="1"/>
          </p:cNvSpPr>
          <p:nvPr/>
        </p:nvSpPr>
        <p:spPr bwMode="auto">
          <a:xfrm>
            <a:off x="1376369" y="1897058"/>
            <a:ext cx="704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a:solidFill>
                  <a:srgbClr val="CC0000"/>
                </a:solidFill>
                <a:latin typeface="Arial" panose="020B0604020202020204" pitchFamily="34" charset="0"/>
              </a:rPr>
              <a:t>frame</a:t>
            </a:r>
          </a:p>
        </p:txBody>
      </p:sp>
      <p:grpSp>
        <p:nvGrpSpPr>
          <p:cNvPr id="291" name="Group 187">
            <a:extLst>
              <a:ext uri="{FF2B5EF4-FFF2-40B4-BE49-F238E27FC236}">
                <a16:creationId xmlns:a16="http://schemas.microsoft.com/office/drawing/2014/main" id="{4888665C-41EE-644D-80C5-A5B9017648C6}"/>
              </a:ext>
            </a:extLst>
          </p:cNvPr>
          <p:cNvGrpSpPr>
            <a:grpSpLocks/>
          </p:cNvGrpSpPr>
          <p:nvPr/>
        </p:nvGrpSpPr>
        <p:grpSpPr bwMode="auto">
          <a:xfrm flipH="1">
            <a:off x="4397382" y="5224459"/>
            <a:ext cx="803275" cy="771525"/>
            <a:chOff x="-44" y="1473"/>
            <a:chExt cx="981" cy="1105"/>
          </a:xfrm>
        </p:grpSpPr>
        <p:pic>
          <p:nvPicPr>
            <p:cNvPr id="292" name="Picture 188" descr="desktop_computer_stylized_medium">
              <a:extLst>
                <a:ext uri="{FF2B5EF4-FFF2-40B4-BE49-F238E27FC236}">
                  <a16:creationId xmlns:a16="http://schemas.microsoft.com/office/drawing/2014/main" id="{7A9F9E63-740A-7147-A711-8D8238FD97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 name="Freeform 189">
              <a:extLst>
                <a:ext uri="{FF2B5EF4-FFF2-40B4-BE49-F238E27FC236}">
                  <a16:creationId xmlns:a16="http://schemas.microsoft.com/office/drawing/2014/main" id="{B678C5E1-8916-9C47-B1F3-E8A3F8BB6DB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294" name="Group 190">
            <a:extLst>
              <a:ext uri="{FF2B5EF4-FFF2-40B4-BE49-F238E27FC236}">
                <a16:creationId xmlns:a16="http://schemas.microsoft.com/office/drawing/2014/main" id="{3A531A16-240C-9241-94EF-4C9AE4951124}"/>
              </a:ext>
            </a:extLst>
          </p:cNvPr>
          <p:cNvGrpSpPr>
            <a:grpSpLocks/>
          </p:cNvGrpSpPr>
          <p:nvPr/>
        </p:nvGrpSpPr>
        <p:grpSpPr bwMode="auto">
          <a:xfrm flipH="1">
            <a:off x="5359407" y="1341434"/>
            <a:ext cx="803275" cy="771525"/>
            <a:chOff x="-44" y="1473"/>
            <a:chExt cx="981" cy="1105"/>
          </a:xfrm>
        </p:grpSpPr>
        <p:pic>
          <p:nvPicPr>
            <p:cNvPr id="295" name="Picture 191" descr="desktop_computer_stylized_medium">
              <a:extLst>
                <a:ext uri="{FF2B5EF4-FFF2-40B4-BE49-F238E27FC236}">
                  <a16:creationId xmlns:a16="http://schemas.microsoft.com/office/drawing/2014/main" id="{1407FE03-3BF1-1D45-8A83-D39E3D03C3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Freeform 192">
              <a:extLst>
                <a:ext uri="{FF2B5EF4-FFF2-40B4-BE49-F238E27FC236}">
                  <a16:creationId xmlns:a16="http://schemas.microsoft.com/office/drawing/2014/main" id="{24E88B51-BE9B-3C48-9F67-26465B74968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Tree>
    <p:extLst>
      <p:ext uri="{BB962C8B-B14F-4D97-AF65-F5344CB8AC3E}">
        <p14:creationId xmlns:p14="http://schemas.microsoft.com/office/powerpoint/2010/main" val="2160188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3.95833E-6 -0.0037 L 3.95833E-6 0.04583 " pathEditMode="relative" rAng="0" ptsTypes="AA">
                                      <p:cBhvr>
                                        <p:cTn id="6" dur="2000" fill="hold"/>
                                        <p:tgtEl>
                                          <p:spTgt spid="277"/>
                                        </p:tgtEl>
                                        <p:attrNameLst>
                                          <p:attrName>ppt_x</p:attrName>
                                          <p:attrName>ppt_y</p:attrName>
                                        </p:attrNameLst>
                                      </p:cBhvr>
                                      <p:rCtr x="0" y="2477"/>
                                    </p:animMotion>
                                  </p:childTnLst>
                                </p:cTn>
                              </p:par>
                              <p:par>
                                <p:cTn id="7" presetID="10" presetClass="exit" presetSubtype="0" fill="hold" grpId="0" nodeType="withEffect">
                                  <p:stCondLst>
                                    <p:cond delay="0"/>
                                  </p:stCondLst>
                                  <p:childTnLst>
                                    <p:animEffect transition="out" filter="fade">
                                      <p:cBhvr>
                                        <p:cTn id="8" dur="2000"/>
                                        <p:tgtEl>
                                          <p:spTgt spid="276"/>
                                        </p:tgtEl>
                                      </p:cBhvr>
                                    </p:animEffect>
                                    <p:set>
                                      <p:cBhvr>
                                        <p:cTn id="9" dur="1" fill="hold">
                                          <p:stCondLst>
                                            <p:cond delay="1999"/>
                                          </p:stCondLst>
                                        </p:cTn>
                                        <p:tgtEl>
                                          <p:spTgt spid="276"/>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193"/>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9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277"/>
                                        </p:tgtEl>
                                        <p:attrNameLst>
                                          <p:attrName>style.visibility</p:attrName>
                                        </p:attrNameLst>
                                      </p:cBhvr>
                                      <p:to>
                                        <p:strVal val="hidden"/>
                                      </p:to>
                                    </p:set>
                                  </p:childTnLst>
                                </p:cTn>
                              </p:par>
                              <p:par>
                                <p:cTn id="20" presetID="1" presetClass="exit" presetSubtype="0" fill="hold" nodeType="withEffect">
                                  <p:stCondLst>
                                    <p:cond delay="0"/>
                                  </p:stCondLst>
                                  <p:childTnLst>
                                    <p:set>
                                      <p:cBhvr>
                                        <p:cTn id="21" dur="1" fill="hold">
                                          <p:stCondLst>
                                            <p:cond delay="0"/>
                                          </p:stCondLst>
                                        </p:cTn>
                                        <p:tgtEl>
                                          <p:spTgt spid="193"/>
                                        </p:tgtEl>
                                        <p:attrNameLst>
                                          <p:attrName>style.visibility</p:attrName>
                                        </p:attrNameLst>
                                      </p:cBhvr>
                                      <p:to>
                                        <p:strVal val="hidden"/>
                                      </p:to>
                                    </p:set>
                                  </p:childTnLst>
                                </p:cTn>
                              </p:par>
                              <p:par>
                                <p:cTn id="22" presetID="1" presetClass="exit" presetSubtype="0" fill="hold" grpId="1" nodeType="withEffect">
                                  <p:stCondLst>
                                    <p:cond delay="0"/>
                                  </p:stCondLst>
                                  <p:childTnLst>
                                    <p:set>
                                      <p:cBhvr>
                                        <p:cTn id="23" dur="1" fill="hold">
                                          <p:stCondLst>
                                            <p:cond delay="0"/>
                                          </p:stCondLst>
                                        </p:cTn>
                                        <p:tgtEl>
                                          <p:spTgt spid="192"/>
                                        </p:tgtEl>
                                        <p:attrNameLst>
                                          <p:attrName>style.visibility</p:attrName>
                                        </p:attrNameLst>
                                      </p:cBhvr>
                                      <p:to>
                                        <p:strVal val="hidden"/>
                                      </p:to>
                                    </p:set>
                                  </p:childTnLst>
                                </p:cTn>
                              </p:par>
                              <p:par>
                                <p:cTn id="24" presetID="1" presetClass="entr" presetSubtype="0" fill="hold" nodeType="withEffect">
                                  <p:stCondLst>
                                    <p:cond delay="0"/>
                                  </p:stCondLst>
                                  <p:childTnLst>
                                    <p:set>
                                      <p:cBhvr>
                                        <p:cTn id="25" dur="1" fill="hold">
                                          <p:stCondLst>
                                            <p:cond delay="0"/>
                                          </p:stCondLst>
                                        </p:cTn>
                                        <p:tgtEl>
                                          <p:spTgt spid="280"/>
                                        </p:tgtEl>
                                        <p:attrNameLst>
                                          <p:attrName>style.visibility</p:attrName>
                                        </p:attrNameLst>
                                      </p:cBhvr>
                                      <p:to>
                                        <p:strVal val="visible"/>
                                      </p:to>
                                    </p:set>
                                  </p:childTnLst>
                                </p:cTn>
                              </p:par>
                            </p:childTnLst>
                          </p:cTn>
                        </p:par>
                        <p:par>
                          <p:cTn id="26" fill="hold">
                            <p:stCondLst>
                              <p:cond delay="0"/>
                            </p:stCondLst>
                            <p:childTnLst>
                              <p:par>
                                <p:cTn id="27" presetID="42" presetClass="path" presetSubtype="0" accel="50000" decel="50000" fill="hold" nodeType="afterEffect">
                                  <p:stCondLst>
                                    <p:cond delay="0"/>
                                  </p:stCondLst>
                                  <p:childTnLst>
                                    <p:animMotion origin="layout" path="M 2.08333E-7 -0.00926 L 2.08333E-7 0.04791 " pathEditMode="relative" rAng="0" ptsTypes="AA">
                                      <p:cBhvr>
                                        <p:cTn id="28" dur="2000" fill="hold"/>
                                        <p:tgtEl>
                                          <p:spTgt spid="280"/>
                                        </p:tgtEl>
                                        <p:attrNameLst>
                                          <p:attrName>ppt_x</p:attrName>
                                          <p:attrName>ppt_y</p:attrName>
                                        </p:attrNameLst>
                                      </p:cBhvr>
                                      <p:rCtr x="0" y="2847"/>
                                    </p:animMotion>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28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9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nodeType="clickEffect">
                                  <p:stCondLst>
                                    <p:cond delay="0"/>
                                  </p:stCondLst>
                                  <p:childTnLst>
                                    <p:set>
                                      <p:cBhvr>
                                        <p:cTn id="38" dur="1" fill="hold">
                                          <p:stCondLst>
                                            <p:cond delay="0"/>
                                          </p:stCondLst>
                                        </p:cTn>
                                        <p:tgtEl>
                                          <p:spTgt spid="280"/>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287"/>
                                        </p:tgtEl>
                                        <p:attrNameLst>
                                          <p:attrName>style.visibility</p:attrName>
                                        </p:attrNameLst>
                                      </p:cBhvr>
                                      <p:to>
                                        <p:strVal val="hidden"/>
                                      </p:to>
                                    </p:set>
                                  </p:childTnLst>
                                </p:cTn>
                              </p:par>
                              <p:par>
                                <p:cTn id="41" presetID="1" presetClass="exit" presetSubtype="0" fill="hold" grpId="1" nodeType="withEffect">
                                  <p:stCondLst>
                                    <p:cond delay="0"/>
                                  </p:stCondLst>
                                  <p:childTnLst>
                                    <p:set>
                                      <p:cBhvr>
                                        <p:cTn id="42" dur="1" fill="hold">
                                          <p:stCondLst>
                                            <p:cond delay="0"/>
                                          </p:stCondLst>
                                        </p:cTn>
                                        <p:tgtEl>
                                          <p:spTgt spid="196"/>
                                        </p:tgtEl>
                                        <p:attrNameLst>
                                          <p:attrName>style.visibility</p:attrName>
                                        </p:attrNameLst>
                                      </p:cBhvr>
                                      <p:to>
                                        <p:strVal val="hidden"/>
                                      </p:to>
                                    </p:set>
                                  </p:childTnLst>
                                </p:cTn>
                              </p:par>
                              <p:par>
                                <p:cTn id="43" presetID="1" presetClass="entr" presetSubtype="0" fill="hold" nodeType="withEffect">
                                  <p:stCondLst>
                                    <p:cond delay="0"/>
                                  </p:stCondLst>
                                  <p:childTnLst>
                                    <p:set>
                                      <p:cBhvr>
                                        <p:cTn id="44" dur="1" fill="hold">
                                          <p:stCondLst>
                                            <p:cond delay="0"/>
                                          </p:stCondLst>
                                        </p:cTn>
                                        <p:tgtEl>
                                          <p:spTgt spid="185"/>
                                        </p:tgtEl>
                                        <p:attrNameLst>
                                          <p:attrName>style.visibility</p:attrName>
                                        </p:attrNameLst>
                                      </p:cBhvr>
                                      <p:to>
                                        <p:strVal val="visible"/>
                                      </p:to>
                                    </p:set>
                                  </p:childTnLst>
                                </p:cTn>
                              </p:par>
                              <p:par>
                                <p:cTn id="45" presetID="42" presetClass="path" presetSubtype="0" accel="50000" decel="50000" fill="hold" nodeType="withEffect">
                                  <p:stCondLst>
                                    <p:cond delay="0"/>
                                  </p:stCondLst>
                                  <p:childTnLst>
                                    <p:animMotion origin="layout" path="M 8.33333E-7 -4.81481E-6 L 8.33333E-7 0.04213 " pathEditMode="relative" rAng="0" ptsTypes="AA">
                                      <p:cBhvr>
                                        <p:cTn id="46" dur="2000" fill="hold"/>
                                        <p:tgtEl>
                                          <p:spTgt spid="185"/>
                                        </p:tgtEl>
                                        <p:attrNameLst>
                                          <p:attrName>ppt_x</p:attrName>
                                          <p:attrName>ppt_y</p:attrName>
                                        </p:attrNameLst>
                                      </p:cBhvr>
                                      <p:rCtr x="0" y="2106"/>
                                    </p:animMotion>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26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90"/>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185"/>
                                        </p:tgtEl>
                                        <p:attrNameLst>
                                          <p:attrName>style.visibility</p:attrName>
                                        </p:attrNameLst>
                                      </p:cBhvr>
                                      <p:to>
                                        <p:strVal val="hidden"/>
                                      </p:to>
                                    </p:set>
                                  </p:childTnLst>
                                </p:cTn>
                              </p:par>
                              <p:par>
                                <p:cTn id="57" presetID="1" presetClass="exit" presetSubtype="0" fill="hold" grpId="1" nodeType="withEffect">
                                  <p:stCondLst>
                                    <p:cond delay="0"/>
                                  </p:stCondLst>
                                  <p:childTnLst>
                                    <p:set>
                                      <p:cBhvr>
                                        <p:cTn id="58" dur="1" fill="hold">
                                          <p:stCondLst>
                                            <p:cond delay="0"/>
                                          </p:stCondLst>
                                        </p:cTn>
                                        <p:tgtEl>
                                          <p:spTgt spid="290"/>
                                        </p:tgtEl>
                                        <p:attrNameLst>
                                          <p:attrName>style.visibility</p:attrName>
                                        </p:attrNameLst>
                                      </p:cBhvr>
                                      <p:to>
                                        <p:strVal val="hidden"/>
                                      </p:to>
                                    </p:set>
                                  </p:childTnLst>
                                </p:cTn>
                              </p:par>
                            </p:childTnLst>
                          </p:cTn>
                        </p:par>
                        <p:par>
                          <p:cTn id="59" fill="hold">
                            <p:stCondLst>
                              <p:cond delay="0"/>
                            </p:stCondLst>
                            <p:childTnLst>
                              <p:par>
                                <p:cTn id="60" presetID="0" presetClass="path" presetSubtype="0" accel="50000" decel="50000" fill="hold" nodeType="afterEffect">
                                  <p:stCondLst>
                                    <p:cond delay="0"/>
                                  </p:stCondLst>
                                  <p:childTnLst>
                                    <p:animMotion origin="layout" path="M -2.08333E-7 -1.85185E-6 L -2.08333E-7 0.1375 L 0.26732 0.1375 L 0.26732 0.09838 L 0.55482 0.09699 C 0.55534 0.25046 0.56029 0.44746 0.56198 0.60185 C 0.52161 0.57037 0.50326 0.57546 0.46302 0.54398 C 0.46302 0.51713 0.46315 0.47801 0.46315 0.45185 " pathEditMode="relative" rAng="0" ptsTypes="AAAAAAAA">
                                      <p:cBhvr>
                                        <p:cTn id="61" dur="3000" fill="hold"/>
                                        <p:tgtEl>
                                          <p:spTgt spid="265"/>
                                        </p:tgtEl>
                                        <p:attrNameLst>
                                          <p:attrName>ppt_x</p:attrName>
                                          <p:attrName>ppt_y</p:attrName>
                                        </p:attrNameLst>
                                      </p:cBhvr>
                                      <p:rCtr x="28099" y="30093"/>
                                    </p:animMotion>
                                  </p:childTnLst>
                                </p:cTn>
                              </p:par>
                            </p:childTnLst>
                          </p:cTn>
                        </p:par>
                      </p:childTnLst>
                    </p:cTn>
                  </p:par>
                  <p:par>
                    <p:cTn id="62" fill="hold">
                      <p:stCondLst>
                        <p:cond delay="indefinite"/>
                      </p:stCondLst>
                      <p:childTnLst>
                        <p:par>
                          <p:cTn id="63" fill="hold">
                            <p:stCondLst>
                              <p:cond delay="0"/>
                            </p:stCondLst>
                            <p:childTnLst>
                              <p:par>
                                <p:cTn id="64" presetID="1" presetClass="exit" presetSubtype="0" fill="hold" nodeType="clickEffect">
                                  <p:stCondLst>
                                    <p:cond delay="0"/>
                                  </p:stCondLst>
                                  <p:childTnLst>
                                    <p:set>
                                      <p:cBhvr>
                                        <p:cTn id="65" dur="1" fill="hold">
                                          <p:stCondLst>
                                            <p:cond delay="0"/>
                                          </p:stCondLst>
                                        </p:cTn>
                                        <p:tgtEl>
                                          <p:spTgt spid="265"/>
                                        </p:tgtEl>
                                        <p:attrNameLst>
                                          <p:attrName>style.visibility</p:attrName>
                                        </p:attrNameLst>
                                      </p:cBhvr>
                                      <p:to>
                                        <p:strVal val="hidden"/>
                                      </p:to>
                                    </p:set>
                                  </p:childTnLst>
                                </p:cTn>
                              </p:par>
                              <p:par>
                                <p:cTn id="66" presetID="1" presetClass="entr" presetSubtype="0" fill="hold" nodeType="withEffect">
                                  <p:stCondLst>
                                    <p:cond delay="0"/>
                                  </p:stCondLst>
                                  <p:childTnLst>
                                    <p:set>
                                      <p:cBhvr>
                                        <p:cTn id="67" dur="1" fill="hold">
                                          <p:stCondLst>
                                            <p:cond delay="0"/>
                                          </p:stCondLst>
                                        </p:cTn>
                                        <p:tgtEl>
                                          <p:spTgt spid="258"/>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64" presetClass="path" presetSubtype="0" accel="50000" decel="50000" fill="hold" nodeType="clickEffect">
                                  <p:stCondLst>
                                    <p:cond delay="0"/>
                                  </p:stCondLst>
                                  <p:childTnLst>
                                    <p:animMotion origin="layout" path="M 0.00157 -0.00047 L 0.00157 -0.04815 " pathEditMode="relative" rAng="0" ptsTypes="AA">
                                      <p:cBhvr>
                                        <p:cTn id="71" dur="2000" fill="hold"/>
                                        <p:tgtEl>
                                          <p:spTgt spid="258"/>
                                        </p:tgtEl>
                                        <p:attrNameLst>
                                          <p:attrName>ppt_x</p:attrName>
                                          <p:attrName>ppt_y</p:attrName>
                                        </p:attrNameLst>
                                      </p:cBhvr>
                                      <p:rCtr x="0" y="-2384"/>
                                    </p:animMotion>
                                  </p:childTnLst>
                                  <p:subTnLst>
                                    <p:set>
                                      <p:cBhvr override="childStyle">
                                        <p:cTn dur="1" fill="hold" display="0" masterRel="nextClick" afterEffect="1"/>
                                        <p:tgtEl>
                                          <p:spTgt spid="258"/>
                                        </p:tgtEl>
                                        <p:attrNameLst>
                                          <p:attrName>style.visibility</p:attrName>
                                        </p:attrNameLst>
                                      </p:cBhvr>
                                      <p:to>
                                        <p:strVal val="hidden"/>
                                      </p:to>
                                    </p:set>
                                  </p:sub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251"/>
                                        </p:tgtEl>
                                        <p:attrNameLst>
                                          <p:attrName>style.visibility</p:attrName>
                                        </p:attrNameLst>
                                      </p:cBhvr>
                                      <p:to>
                                        <p:strVal val="visible"/>
                                      </p:to>
                                    </p:set>
                                    <p:animEffect transition="in" filter="fade">
                                      <p:cBhvr>
                                        <p:cTn id="76" dur="500"/>
                                        <p:tgtEl>
                                          <p:spTgt spid="251"/>
                                        </p:tgtEl>
                                      </p:cBhvr>
                                    </p:animEffect>
                                  </p:childTnLst>
                                  <p:subTnLst>
                                    <p:set>
                                      <p:cBhvr override="childStyle">
                                        <p:cTn dur="1" fill="hold" display="0" masterRel="nextClick" afterEffect="1"/>
                                        <p:tgtEl>
                                          <p:spTgt spid="251"/>
                                        </p:tgtEl>
                                        <p:attrNameLst>
                                          <p:attrName>style.visibility</p:attrName>
                                        </p:attrNameLst>
                                      </p:cBhvr>
                                      <p:to>
                                        <p:strVal val="hidden"/>
                                      </p:to>
                                    </p:set>
                                  </p:sub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242"/>
                                        </p:tgtEl>
                                        <p:attrNameLst>
                                          <p:attrName>style.visibility</p:attrName>
                                        </p:attrNameLst>
                                      </p:cBhvr>
                                      <p:to>
                                        <p:strVal val="visible"/>
                                      </p:to>
                                    </p:set>
                                    <p:animEffect transition="in" filter="fade">
                                      <p:cBhvr>
                                        <p:cTn id="81" dur="500"/>
                                        <p:tgtEl>
                                          <p:spTgt spid="242"/>
                                        </p:tgtEl>
                                      </p:cBhvr>
                                    </p:animEffect>
                                  </p:childTnLst>
                                  <p:subTnLst>
                                    <p:set>
                                      <p:cBhvr override="childStyle">
                                        <p:cTn dur="1" fill="hold" display="0" masterRel="nextClick" afterEffect="1"/>
                                        <p:tgtEl>
                                          <p:spTgt spid="242"/>
                                        </p:tgtEl>
                                        <p:attrNameLst>
                                          <p:attrName>style.visibility</p:attrName>
                                        </p:attrNameLst>
                                      </p:cBhvr>
                                      <p:to>
                                        <p:strVal val="hidden"/>
                                      </p:to>
                                    </p:set>
                                  </p:subTnLst>
                                </p:cTn>
                              </p:par>
                            </p:childTnLst>
                          </p:cTn>
                        </p:par>
                      </p:childTnLst>
                    </p:cTn>
                  </p:par>
                  <p:par>
                    <p:cTn id="82" fill="hold">
                      <p:stCondLst>
                        <p:cond delay="indefinite"/>
                      </p:stCondLst>
                      <p:childTnLst>
                        <p:par>
                          <p:cTn id="83" fill="hold">
                            <p:stCondLst>
                              <p:cond delay="0"/>
                            </p:stCondLst>
                            <p:childTnLst>
                              <p:par>
                                <p:cTn id="84" presetID="10" presetClass="entr" presetSubtype="0" fill="hold" nodeType="clickEffect">
                                  <p:stCondLst>
                                    <p:cond delay="0"/>
                                  </p:stCondLst>
                                  <p:childTnLst>
                                    <p:set>
                                      <p:cBhvr>
                                        <p:cTn id="85" dur="1" fill="hold">
                                          <p:stCondLst>
                                            <p:cond delay="0"/>
                                          </p:stCondLst>
                                        </p:cTn>
                                        <p:tgtEl>
                                          <p:spTgt spid="206"/>
                                        </p:tgtEl>
                                        <p:attrNameLst>
                                          <p:attrName>style.visibility</p:attrName>
                                        </p:attrNameLst>
                                      </p:cBhvr>
                                      <p:to>
                                        <p:strVal val="visible"/>
                                      </p:to>
                                    </p:set>
                                    <p:animEffect transition="in" filter="fade">
                                      <p:cBhvr>
                                        <p:cTn id="86" dur="500"/>
                                        <p:tgtEl>
                                          <p:spTgt spid="206"/>
                                        </p:tgtEl>
                                      </p:cBhvr>
                                    </p:animEffec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215"/>
                                        </p:tgtEl>
                                        <p:attrNameLst>
                                          <p:attrName>style.visibility</p:attrName>
                                        </p:attrNameLst>
                                      </p:cBhvr>
                                      <p:to>
                                        <p:strVal val="visible"/>
                                      </p:to>
                                    </p:set>
                                    <p:animEffect transition="in" filter="fade">
                                      <p:cBhvr>
                                        <p:cTn id="91" dur="500"/>
                                        <p:tgtEl>
                                          <p:spTgt spid="215"/>
                                        </p:tgtEl>
                                      </p:cBhvr>
                                    </p:animEffect>
                                  </p:childTnLst>
                                  <p:subTnLst>
                                    <p:set>
                                      <p:cBhvr override="childStyle">
                                        <p:cTn dur="1" fill="hold" display="0" masterRel="nextClick" afterEffect="1"/>
                                        <p:tgtEl>
                                          <p:spTgt spid="215"/>
                                        </p:tgtEl>
                                        <p:attrNameLst>
                                          <p:attrName>style.visibility</p:attrName>
                                        </p:attrNameLst>
                                      </p:cBhvr>
                                      <p:to>
                                        <p:strVal val="hidden"/>
                                      </p:to>
                                    </p:set>
                                  </p:sub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222"/>
                                        </p:tgtEl>
                                        <p:attrNameLst>
                                          <p:attrName>style.visibility</p:attrName>
                                        </p:attrNameLst>
                                      </p:cBhvr>
                                      <p:to>
                                        <p:strVal val="visible"/>
                                      </p:to>
                                    </p:set>
                                    <p:animEffect transition="in" filter="fade">
                                      <p:cBhvr>
                                        <p:cTn id="96" dur="500"/>
                                        <p:tgtEl>
                                          <p:spTgt spid="222"/>
                                        </p:tgtEl>
                                      </p:cBhvr>
                                    </p:animEffect>
                                  </p:childTnLst>
                                  <p:subTnLst>
                                    <p:set>
                                      <p:cBhvr override="childStyle">
                                        <p:cTn dur="1" fill="hold" display="0" masterRel="nextClick" afterEffect="1"/>
                                        <p:tgtEl>
                                          <p:spTgt spid="222"/>
                                        </p:tgtEl>
                                        <p:attrNameLst>
                                          <p:attrName>style.visibility</p:attrName>
                                        </p:attrNameLst>
                                      </p:cBhvr>
                                      <p:to>
                                        <p:strVal val="hidden"/>
                                      </p:to>
                                    </p:set>
                                  </p:sub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227"/>
                                        </p:tgtEl>
                                        <p:attrNameLst>
                                          <p:attrName>style.visibility</p:attrName>
                                        </p:attrNameLst>
                                      </p:cBhvr>
                                      <p:to>
                                        <p:strVal val="visible"/>
                                      </p:to>
                                    </p:set>
                                    <p:animEffect transition="in" filter="fade">
                                      <p:cBhvr>
                                        <p:cTn id="101"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 grpId="0"/>
      <p:bldP spid="192" grpId="1"/>
      <p:bldP spid="196" grpId="0"/>
      <p:bldP spid="196" grpId="1"/>
      <p:bldP spid="276" grpId="0"/>
      <p:bldP spid="290" grpId="0"/>
      <p:bldP spid="290" grpId="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190467"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B149ADF5-CC29-4605-B0CA-53F78F55944D}" type="slidenum">
              <a:rPr lang="en-US" altLang="en-US" sz="1200">
                <a:latin typeface="Tahoma" panose="020B0604030504040204" pitchFamily="34" charset="0"/>
              </a:rPr>
              <a:pPr>
                <a:lnSpc>
                  <a:spcPct val="100000"/>
                </a:lnSpc>
                <a:spcBef>
                  <a:spcPct val="0"/>
                </a:spcBef>
                <a:buClrTx/>
                <a:buSzTx/>
                <a:buFontTx/>
                <a:buNone/>
              </a:pPr>
              <a:t>109</a:t>
            </a:fld>
            <a:endParaRPr lang="en-US" altLang="en-US" sz="1200">
              <a:latin typeface="Tahoma" panose="020B0604030504040204" pitchFamily="34" charset="0"/>
            </a:endParaRPr>
          </a:p>
        </p:txBody>
      </p:sp>
      <p:pic>
        <p:nvPicPr>
          <p:cNvPr id="19046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58829" y="1009650"/>
            <a:ext cx="9274342" cy="550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469" name="Graphic 4" descr="Puzzle"/>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68"/>
          <p:cNvSpPr txBox="1">
            <a:spLocks noChangeArrowheads="1"/>
          </p:cNvSpPr>
          <p:nvPr/>
        </p:nvSpPr>
        <p:spPr bwMode="auto">
          <a:xfrm>
            <a:off x="5237747" y="143518"/>
            <a:ext cx="3805238"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eaLnBrk="1" hangingPunct="1">
              <a:defRPr/>
            </a:pPr>
            <a:r>
              <a:rPr lang="en-US" altLang="en-US" kern="0" dirty="0">
                <a:ea typeface="ＭＳ Ｐゴシック" panose="020B0600070205080204" pitchFamily="34" charset="-128"/>
              </a:rPr>
              <a:t>Encapsulation</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110</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8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rgbClr val="0000A8"/>
              </a:buClr>
            </a:pPr>
            <a:r>
              <a:rPr lang="en-US" altLang="en-US" sz="3200" dirty="0">
                <a:latin typeface="Calibri" panose="020F0502020204030204" pitchFamily="34" charset="0"/>
                <a:cs typeface="Calibri" panose="020F0502020204030204" pitchFamily="34" charset="0"/>
              </a:rPr>
              <a:t>Security</a:t>
            </a:r>
          </a:p>
          <a:p>
            <a:pPr marL="403225" indent="-285750">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6FFC501E-6C14-2746-BB7D-C39018112FCE}"/>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43701389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Network security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111</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80180" y="1520385"/>
            <a:ext cx="10342830"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sz="3200" dirty="0">
                <a:solidFill>
                  <a:srgbClr val="CC0000"/>
                </a:solidFill>
                <a:ea typeface="ＭＳ Ｐゴシック" panose="020B0600070205080204" pitchFamily="34" charset="-128"/>
              </a:rPr>
              <a:t>field of network security:</a:t>
            </a:r>
          </a:p>
          <a:p>
            <a:pPr marL="682625" lvl="1" indent="-225425"/>
            <a:r>
              <a:rPr lang="en-US" altLang="en-US" sz="2800" dirty="0">
                <a:ea typeface="Arial" panose="020B0604020202020204" pitchFamily="34" charset="0"/>
              </a:rPr>
              <a:t>how bad guys can attack computer networks</a:t>
            </a:r>
          </a:p>
          <a:p>
            <a:pPr marL="682625" lvl="1" indent="-225425"/>
            <a:r>
              <a:rPr lang="en-US" altLang="en-US" sz="2800" dirty="0">
                <a:ea typeface="Arial" panose="020B0604020202020204" pitchFamily="34" charset="0"/>
              </a:rPr>
              <a:t>how we can defend networks against attacks</a:t>
            </a:r>
          </a:p>
          <a:p>
            <a:pPr marL="682625" lvl="1" indent="-225425"/>
            <a:r>
              <a:rPr lang="en-US" altLang="en-US" sz="2800" dirty="0">
                <a:ea typeface="Arial" panose="020B0604020202020204" pitchFamily="34" charset="0"/>
              </a:rPr>
              <a:t>how to design architectures that are immune to attacks</a:t>
            </a:r>
          </a:p>
          <a:p>
            <a:pPr marL="287338" indent="-287338"/>
            <a:r>
              <a:rPr lang="en-US" altLang="en-US" sz="3200" dirty="0">
                <a:solidFill>
                  <a:srgbClr val="CC0000"/>
                </a:solidFill>
                <a:ea typeface="ＭＳ Ｐゴシック" panose="020B0600070205080204" pitchFamily="34" charset="-128"/>
              </a:rPr>
              <a:t>Internet not originally designed with (much) security in mind</a:t>
            </a:r>
          </a:p>
          <a:p>
            <a:pPr marL="682625" lvl="1" indent="-225425"/>
            <a:r>
              <a:rPr lang="en-US" altLang="en-US" sz="2800" i="1" dirty="0">
                <a:ea typeface="Arial" panose="020B0604020202020204" pitchFamily="34" charset="0"/>
              </a:rPr>
              <a:t>original vision:</a:t>
            </a:r>
            <a:r>
              <a:rPr lang="en-US" altLang="en-US" sz="2800" dirty="0">
                <a:ea typeface="Arial" panose="020B0604020202020204" pitchFamily="34" charset="0"/>
              </a:rPr>
              <a:t> </a:t>
            </a:r>
            <a:r>
              <a:rPr lang="en-US" altLang="en-US" sz="2800" dirty="0">
                <a:ea typeface="ＭＳ Ｐゴシック" panose="020B0600070205080204" pitchFamily="34" charset="-128"/>
              </a:rPr>
              <a:t>“</a:t>
            </a:r>
            <a:r>
              <a:rPr lang="en-US" altLang="ja-JP" sz="2800" dirty="0">
                <a:ea typeface="ＭＳ Ｐゴシック" panose="020B0600070205080204" pitchFamily="34" charset="-128"/>
              </a:rPr>
              <a:t>a group of mutually trusting users attached to a transparent network” </a:t>
            </a:r>
            <a:r>
              <a:rPr lang="en-US" altLang="ja-JP" sz="2800" dirty="0">
                <a:ea typeface="ＭＳ Ｐゴシック" panose="020B0600070205080204" pitchFamily="34" charset="-128"/>
                <a:sym typeface="Wingdings" pitchFamily="2" charset="2"/>
              </a:rPr>
              <a:t></a:t>
            </a:r>
            <a:endParaRPr lang="en-US" altLang="ja-JP" sz="2800" dirty="0">
              <a:ea typeface="ＭＳ Ｐゴシック" panose="020B0600070205080204" pitchFamily="34" charset="-128"/>
            </a:endParaRPr>
          </a:p>
          <a:p>
            <a:pPr marL="682625" lvl="1" indent="-225425"/>
            <a:r>
              <a:rPr lang="en-US" altLang="en-US" sz="2800" dirty="0">
                <a:ea typeface="Arial" panose="020B0604020202020204" pitchFamily="34" charset="0"/>
              </a:rPr>
              <a:t>Internet protocol designers playing </a:t>
            </a:r>
            <a:r>
              <a:rPr lang="en-US" altLang="en-US" sz="2800" dirty="0">
                <a:ea typeface="ＭＳ Ｐゴシック" panose="020B0600070205080204" pitchFamily="34" charset="-128"/>
              </a:rPr>
              <a:t>“</a:t>
            </a:r>
            <a:r>
              <a:rPr lang="en-US" altLang="ja-JP" sz="2800" dirty="0">
                <a:ea typeface="ＭＳ Ｐゴシック" panose="020B0600070205080204" pitchFamily="34" charset="-128"/>
              </a:rPr>
              <a:t>catch-up”</a:t>
            </a:r>
          </a:p>
          <a:p>
            <a:pPr marL="682625" lvl="1" indent="-225425"/>
            <a:r>
              <a:rPr lang="en-US" altLang="en-US" sz="2800" dirty="0">
                <a:ea typeface="Arial" panose="020B0604020202020204" pitchFamily="34" charset="0"/>
              </a:rPr>
              <a:t>security considerations in all layers!</a:t>
            </a:r>
          </a:p>
        </p:txBody>
      </p:sp>
    </p:spTree>
    <p:extLst>
      <p:ext uri="{BB962C8B-B14F-4D97-AF65-F5344CB8AC3E}">
        <p14:creationId xmlns:p14="http://schemas.microsoft.com/office/powerpoint/2010/main" val="43455707"/>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Bad guys: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alware </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112</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11652" y="1520385"/>
            <a:ext cx="10342830"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spcBef>
                <a:spcPct val="50000"/>
              </a:spcBef>
            </a:pPr>
            <a:r>
              <a:rPr lang="en-US" altLang="en-US" dirty="0">
                <a:ea typeface="ＭＳ Ｐゴシック" panose="020B0600070205080204" pitchFamily="34" charset="-128"/>
              </a:rPr>
              <a:t>malware can get in host from:</a:t>
            </a:r>
            <a:endParaRPr lang="en-US" altLang="en-US" dirty="0">
              <a:solidFill>
                <a:srgbClr val="000099"/>
              </a:solidFill>
              <a:ea typeface="ＭＳ Ｐゴシック" panose="020B0600070205080204" pitchFamily="34" charset="-128"/>
            </a:endParaRPr>
          </a:p>
          <a:p>
            <a:pPr marL="682625" lvl="1" indent="-225425">
              <a:spcBef>
                <a:spcPts val="600"/>
              </a:spcBef>
            </a:pPr>
            <a:r>
              <a:rPr lang="en-US" altLang="en-US" sz="2800" i="1" dirty="0">
                <a:solidFill>
                  <a:srgbClr val="000099"/>
                </a:solidFill>
                <a:ea typeface="Arial" panose="020B0604020202020204" pitchFamily="34" charset="0"/>
              </a:rPr>
              <a:t>virus: </a:t>
            </a:r>
            <a:r>
              <a:rPr lang="en-US" altLang="en-US" sz="2800" dirty="0">
                <a:ea typeface="Arial" panose="020B0604020202020204" pitchFamily="34" charset="0"/>
              </a:rPr>
              <a:t>self-replicating infection by receiving/executing  object (e.g., e-mail attachment)</a:t>
            </a:r>
          </a:p>
          <a:p>
            <a:pPr marL="682625" lvl="1" indent="-225425">
              <a:spcBef>
                <a:spcPts val="600"/>
              </a:spcBef>
            </a:pPr>
            <a:r>
              <a:rPr lang="en-US" altLang="en-US" sz="2800" i="1" dirty="0">
                <a:solidFill>
                  <a:srgbClr val="000099"/>
                </a:solidFill>
                <a:ea typeface="Arial" panose="020B0604020202020204" pitchFamily="34" charset="0"/>
              </a:rPr>
              <a:t>worm: </a:t>
            </a:r>
            <a:r>
              <a:rPr lang="en-US" altLang="en-US" sz="2800" dirty="0">
                <a:ea typeface="Arial" panose="020B0604020202020204" pitchFamily="34" charset="0"/>
              </a:rPr>
              <a:t>self-replicating infection by passively receiving object that gets itself executed</a:t>
            </a:r>
          </a:p>
          <a:p>
            <a:pPr marL="287338" indent="-287338">
              <a:spcBef>
                <a:spcPct val="50000"/>
              </a:spcBef>
            </a:pPr>
            <a:r>
              <a:rPr lang="en-US" altLang="en-US" dirty="0">
                <a:solidFill>
                  <a:srgbClr val="000099"/>
                </a:solidFill>
                <a:ea typeface="ＭＳ Ｐゴシック" panose="020B0600070205080204" pitchFamily="34" charset="-128"/>
              </a:rPr>
              <a:t>spyware malware</a:t>
            </a:r>
            <a:r>
              <a:rPr lang="en-US" altLang="en-US" dirty="0">
                <a:ea typeface="ＭＳ Ｐゴシック" panose="020B0600070205080204" pitchFamily="34" charset="-128"/>
              </a:rPr>
              <a:t> can record keystrokes, web sites visited, upload info to collection site</a:t>
            </a:r>
          </a:p>
          <a:p>
            <a:pPr marL="287338" indent="-287338">
              <a:spcBef>
                <a:spcPct val="50000"/>
              </a:spcBef>
            </a:pPr>
            <a:r>
              <a:rPr lang="en-US" altLang="en-US" dirty="0">
                <a:ea typeface="ＭＳ Ｐゴシック" panose="020B0600070205080204" pitchFamily="34" charset="-128"/>
              </a:rPr>
              <a:t>infected host can be enrolled in  </a:t>
            </a:r>
            <a:r>
              <a:rPr lang="en-US" altLang="en-US" dirty="0">
                <a:solidFill>
                  <a:srgbClr val="000099"/>
                </a:solidFill>
                <a:ea typeface="ＭＳ Ｐゴシック" panose="020B0600070205080204" pitchFamily="34" charset="-128"/>
              </a:rPr>
              <a:t>botnet,</a:t>
            </a:r>
            <a:r>
              <a:rPr lang="en-US" altLang="en-US" dirty="0">
                <a:ea typeface="ＭＳ Ｐゴシック" panose="020B0600070205080204" pitchFamily="34" charset="-128"/>
              </a:rPr>
              <a:t> used for spam or distributed denial of service  (DDoS) attacks</a:t>
            </a:r>
          </a:p>
        </p:txBody>
      </p:sp>
    </p:spTree>
    <p:extLst>
      <p:ext uri="{BB962C8B-B14F-4D97-AF65-F5344CB8AC3E}">
        <p14:creationId xmlns:p14="http://schemas.microsoft.com/office/powerpoint/2010/main" val="374299088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Title 1"/>
          <p:cNvSpPr>
            <a:spLocks noGrp="1" noChangeArrowheads="1"/>
          </p:cNvSpPr>
          <p:nvPr>
            <p:ph type="title"/>
          </p:nvPr>
        </p:nvSpPr>
        <p:spPr/>
        <p:txBody>
          <a:bodyPr/>
          <a:lstStyle/>
          <a:p>
            <a:r>
              <a:rPr lang="en-US" altLang="en-US" sz="2800" dirty="0">
                <a:ea typeface="ＭＳ Ｐゴシック" panose="020B0600070205080204" pitchFamily="34" charset="-128"/>
              </a:rPr>
              <a:t>Bad guys: Malware</a:t>
            </a:r>
            <a:endParaRPr lang="en-MY" altLang="en-US" sz="2800" dirty="0">
              <a:ea typeface="ＭＳ Ｐゴシック" panose="020B0600070205080204" pitchFamily="34" charset="-128"/>
            </a:endParaRPr>
          </a:p>
        </p:txBody>
      </p:sp>
      <p:sp>
        <p:nvSpPr>
          <p:cNvPr id="195588" name="Content Placeholder 3"/>
          <p:cNvSpPr>
            <a:spLocks noGrp="1" noChangeArrowheads="1"/>
          </p:cNvSpPr>
          <p:nvPr>
            <p:ph sz="quarter" idx="1"/>
          </p:nvPr>
        </p:nvSpPr>
        <p:spPr/>
        <p:txBody>
          <a:bodyPr/>
          <a:lstStyle/>
          <a:p>
            <a:r>
              <a:rPr lang="en-US" altLang="en-US">
                <a:ea typeface="ＭＳ Ｐゴシック" panose="020B0600070205080204" pitchFamily="34" charset="-128"/>
              </a:rPr>
              <a:t>Malware = malicious software</a:t>
            </a:r>
          </a:p>
          <a:p>
            <a:pPr lvl="1"/>
            <a:r>
              <a:rPr lang="en-US" altLang="en-US">
                <a:ea typeface="Arial" panose="020B0604020202020204" pitchFamily="34" charset="0"/>
              </a:rPr>
              <a:t>Examples: Worm, Virus, Trojans, spyware, botnet, etc.</a:t>
            </a:r>
          </a:p>
          <a:p>
            <a:r>
              <a:rPr lang="en-US" altLang="en-US">
                <a:ea typeface="ＭＳ Ｐゴシック" panose="020B0600070205080204" pitchFamily="34" charset="-128"/>
              </a:rPr>
              <a:t>Malware can be </a:t>
            </a:r>
          </a:p>
          <a:p>
            <a:pPr lvl="1"/>
            <a:r>
              <a:rPr lang="en-US" altLang="en-US">
                <a:ea typeface="Arial" panose="020B0604020202020204" pitchFamily="34" charset="0"/>
              </a:rPr>
              <a:t>Self-replicating </a:t>
            </a:r>
            <a:r>
              <a:rPr lang="en-US" altLang="en-US">
                <a:ea typeface="Arial" panose="020B0604020202020204" pitchFamily="34" charset="0"/>
                <a:sym typeface="Wingdings" panose="05000000000000000000" pitchFamily="2" charset="2"/>
              </a:rPr>
              <a:t> </a:t>
            </a:r>
            <a:r>
              <a:rPr lang="en-MY" altLang="en-US" sz="2300">
                <a:ea typeface="Arial" panose="020B0604020202020204" pitchFamily="34" charset="0"/>
              </a:rPr>
              <a:t>once it infects one host, from that host it seeks entry into other hosts over the Internet, and just keep going</a:t>
            </a:r>
          </a:p>
          <a:p>
            <a:pPr lvl="1"/>
            <a:r>
              <a:rPr lang="en-US" altLang="en-US" sz="2300">
                <a:ea typeface="Arial" panose="020B0604020202020204" pitchFamily="34" charset="0"/>
              </a:rPr>
              <a:t>User activated (click on an email attachment) or  </a:t>
            </a:r>
          </a:p>
          <a:p>
            <a:pPr lvl="1"/>
            <a:r>
              <a:rPr lang="en-US" altLang="en-US" sz="2300">
                <a:ea typeface="Arial" panose="020B0604020202020204" pitchFamily="34" charset="0"/>
              </a:rPr>
              <a:t>Program activated (a vulnerable app that activates malware)</a:t>
            </a:r>
          </a:p>
          <a:p>
            <a:pPr lvl="1"/>
            <a:r>
              <a:rPr lang="en-US" altLang="en-US" sz="2300">
                <a:ea typeface="Arial" panose="020B0604020202020204" pitchFamily="34" charset="0"/>
              </a:rPr>
              <a:t>Recruiting your device to be part of a botnet, to be use for any purpose later </a:t>
            </a:r>
            <a:endParaRPr lang="en-MY" altLang="en-US" sz="2300">
              <a:ea typeface="Arial" panose="020B0604020202020204" pitchFamily="34" charset="0"/>
            </a:endParaRPr>
          </a:p>
          <a:p>
            <a:endParaRPr lang="en-MY" altLang="en-US">
              <a:ea typeface="ＭＳ Ｐゴシック" panose="020B0600070205080204" pitchFamily="34" charset="-128"/>
            </a:endParaRPr>
          </a:p>
        </p:txBody>
      </p:sp>
      <p:pic>
        <p:nvPicPr>
          <p:cNvPr id="195589" name="Graphic 4" descr="Puzzle"/>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rot="2653558">
            <a:off x="9729788" y="204788"/>
            <a:ext cx="60325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5">
            <a:extLst>
              <a:ext uri="{FF2B5EF4-FFF2-40B4-BE49-F238E27FC236}">
                <a16:creationId xmlns:a16="http://schemas.microsoft.com/office/drawing/2014/main" id="{5390DA5E-F205-4807-45E9-0A1504753AC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113</a:t>
            </a:fld>
            <a:endParaRPr lang="en-US" dirty="0"/>
          </a:p>
        </p:txBody>
      </p:sp>
    </p:spTree>
    <p:extLst>
      <p:ext uri="{BB962C8B-B14F-4D97-AF65-F5344CB8AC3E}">
        <p14:creationId xmlns:p14="http://schemas.microsoft.com/office/powerpoint/2010/main" val="269131049"/>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Bad guys: denial of service</a:t>
            </a:r>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114</a:t>
            </a:fld>
            <a:endParaRPr lang="en-US" dirty="0"/>
          </a:p>
        </p:txBody>
      </p:sp>
      <p:grpSp>
        <p:nvGrpSpPr>
          <p:cNvPr id="5" name="Group 131">
            <a:extLst>
              <a:ext uri="{FF2B5EF4-FFF2-40B4-BE49-F238E27FC236}">
                <a16:creationId xmlns:a16="http://schemas.microsoft.com/office/drawing/2014/main" id="{5671BF31-8345-4A47-A6EE-F59651ABF1C1}"/>
              </a:ext>
            </a:extLst>
          </p:cNvPr>
          <p:cNvGrpSpPr>
            <a:grpSpLocks/>
          </p:cNvGrpSpPr>
          <p:nvPr/>
        </p:nvGrpSpPr>
        <p:grpSpPr bwMode="auto">
          <a:xfrm flipH="1">
            <a:off x="7546011" y="3759781"/>
            <a:ext cx="735012" cy="681037"/>
            <a:chOff x="-44" y="1473"/>
            <a:chExt cx="981" cy="1105"/>
          </a:xfrm>
        </p:grpSpPr>
        <p:pic>
          <p:nvPicPr>
            <p:cNvPr id="7" name="Picture 132" descr="desktop_computer_stylized_medium">
              <a:extLst>
                <a:ext uri="{FF2B5EF4-FFF2-40B4-BE49-F238E27FC236}">
                  <a16:creationId xmlns:a16="http://schemas.microsoft.com/office/drawing/2014/main" id="{CF849B20-A34D-E044-9DF7-A03B28E734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133">
              <a:extLst>
                <a:ext uri="{FF2B5EF4-FFF2-40B4-BE49-F238E27FC236}">
                  <a16:creationId xmlns:a16="http://schemas.microsoft.com/office/drawing/2014/main" id="{F87F7675-3615-BE4C-BECA-BC2EB60FEB9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 name="Group 186">
            <a:extLst>
              <a:ext uri="{FF2B5EF4-FFF2-40B4-BE49-F238E27FC236}">
                <a16:creationId xmlns:a16="http://schemas.microsoft.com/office/drawing/2014/main" id="{A485E3ED-561D-B445-816D-36AEBD4DCE66}"/>
              </a:ext>
            </a:extLst>
          </p:cNvPr>
          <p:cNvGrpSpPr>
            <a:grpSpLocks/>
          </p:cNvGrpSpPr>
          <p:nvPr/>
        </p:nvGrpSpPr>
        <p:grpSpPr bwMode="auto">
          <a:xfrm>
            <a:off x="8087348" y="4002668"/>
            <a:ext cx="831850" cy="1260475"/>
            <a:chOff x="5069" y="1396"/>
            <a:chExt cx="524" cy="794"/>
          </a:xfrm>
        </p:grpSpPr>
        <p:sp>
          <p:nvSpPr>
            <p:cNvPr id="10" name="Text Box 21">
              <a:extLst>
                <a:ext uri="{FF2B5EF4-FFF2-40B4-BE49-F238E27FC236}">
                  <a16:creationId xmlns:a16="http://schemas.microsoft.com/office/drawing/2014/main" id="{252895BB-2B09-1C42-9FBA-A9EA9F582D4C}"/>
                </a:ext>
              </a:extLst>
            </p:cNvPr>
            <p:cNvSpPr txBox="1">
              <a:spLocks noChangeArrowheads="1"/>
            </p:cNvSpPr>
            <p:nvPr/>
          </p:nvSpPr>
          <p:spPr bwMode="auto">
            <a:xfrm>
              <a:off x="5069" y="1940"/>
              <a:ext cx="52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a:t>target</a:t>
              </a:r>
            </a:p>
          </p:txBody>
        </p:sp>
        <p:grpSp>
          <p:nvGrpSpPr>
            <p:cNvPr id="11" name="Group 153">
              <a:extLst>
                <a:ext uri="{FF2B5EF4-FFF2-40B4-BE49-F238E27FC236}">
                  <a16:creationId xmlns:a16="http://schemas.microsoft.com/office/drawing/2014/main" id="{2102AA82-D8E7-4149-9FC5-0E55B9687142}"/>
                </a:ext>
              </a:extLst>
            </p:cNvPr>
            <p:cNvGrpSpPr>
              <a:grpSpLocks/>
            </p:cNvGrpSpPr>
            <p:nvPr/>
          </p:nvGrpSpPr>
          <p:grpSpPr bwMode="auto">
            <a:xfrm>
              <a:off x="5200" y="1396"/>
              <a:ext cx="258" cy="574"/>
              <a:chOff x="4140" y="429"/>
              <a:chExt cx="1425" cy="2396"/>
            </a:xfrm>
          </p:grpSpPr>
          <p:sp>
            <p:nvSpPr>
              <p:cNvPr id="12" name="Freeform 154">
                <a:extLst>
                  <a:ext uri="{FF2B5EF4-FFF2-40B4-BE49-F238E27FC236}">
                    <a16:creationId xmlns:a16="http://schemas.microsoft.com/office/drawing/2014/main" id="{4ABA3590-788E-A640-8340-D6788D8A7C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 name="Rectangle 155">
                <a:extLst>
                  <a:ext uri="{FF2B5EF4-FFF2-40B4-BE49-F238E27FC236}">
                    <a16:creationId xmlns:a16="http://schemas.microsoft.com/office/drawing/2014/main" id="{BA5EDD97-668D-144C-8C2C-9618237304F1}"/>
                  </a:ext>
                </a:extLst>
              </p:cNvPr>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14" name="Freeform 156">
                <a:extLst>
                  <a:ext uri="{FF2B5EF4-FFF2-40B4-BE49-F238E27FC236}">
                    <a16:creationId xmlns:a16="http://schemas.microsoft.com/office/drawing/2014/main" id="{2D62D25E-0524-B641-AAD0-241CA458D29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157">
                <a:extLst>
                  <a:ext uri="{FF2B5EF4-FFF2-40B4-BE49-F238E27FC236}">
                    <a16:creationId xmlns:a16="http://schemas.microsoft.com/office/drawing/2014/main" id="{2A48AA36-9069-1545-BFAF-1DE1C7CB822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Rectangle 158">
                <a:extLst>
                  <a:ext uri="{FF2B5EF4-FFF2-40B4-BE49-F238E27FC236}">
                    <a16:creationId xmlns:a16="http://schemas.microsoft.com/office/drawing/2014/main" id="{C46736B1-4F91-F541-8A78-57B6CCE47A3A}"/>
                  </a:ext>
                </a:extLst>
              </p:cNvPr>
              <p:cNvSpPr>
                <a:spLocks noChangeArrowheads="1"/>
              </p:cNvSpPr>
              <p:nvPr/>
            </p:nvSpPr>
            <p:spPr bwMode="auto">
              <a:xfrm>
                <a:off x="4212" y="692"/>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18" name="Group 159">
                <a:extLst>
                  <a:ext uri="{FF2B5EF4-FFF2-40B4-BE49-F238E27FC236}">
                    <a16:creationId xmlns:a16="http://schemas.microsoft.com/office/drawing/2014/main" id="{58A0138B-7FFC-CD44-9B9E-6FB82DDE210D}"/>
                  </a:ext>
                </a:extLst>
              </p:cNvPr>
              <p:cNvGrpSpPr>
                <a:grpSpLocks/>
              </p:cNvGrpSpPr>
              <p:nvPr/>
            </p:nvGrpSpPr>
            <p:grpSpPr bwMode="auto">
              <a:xfrm>
                <a:off x="4749" y="668"/>
                <a:ext cx="581" cy="145"/>
                <a:chOff x="614" y="2568"/>
                <a:chExt cx="725" cy="139"/>
              </a:xfrm>
            </p:grpSpPr>
            <p:sp>
              <p:nvSpPr>
                <p:cNvPr id="43" name="AutoShape 160">
                  <a:extLst>
                    <a:ext uri="{FF2B5EF4-FFF2-40B4-BE49-F238E27FC236}">
                      <a16:creationId xmlns:a16="http://schemas.microsoft.com/office/drawing/2014/main" id="{A5FEEE84-EB21-BF47-A4F6-1E0F680B83EC}"/>
                    </a:ext>
                  </a:extLst>
                </p:cNvPr>
                <p:cNvSpPr>
                  <a:spLocks noChangeArrowheads="1"/>
                </p:cNvSpPr>
                <p:nvPr/>
              </p:nvSpPr>
              <p:spPr bwMode="auto">
                <a:xfrm>
                  <a:off x="612"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4" name="AutoShape 161">
                  <a:extLst>
                    <a:ext uri="{FF2B5EF4-FFF2-40B4-BE49-F238E27FC236}">
                      <a16:creationId xmlns:a16="http://schemas.microsoft.com/office/drawing/2014/main" id="{C8123062-722F-A642-9F03-DDE66E9B51C3}"/>
                    </a:ext>
                  </a:extLst>
                </p:cNvPr>
                <p:cNvSpPr>
                  <a:spLocks noChangeArrowheads="1"/>
                </p:cNvSpPr>
                <p:nvPr/>
              </p:nvSpPr>
              <p:spPr bwMode="auto">
                <a:xfrm>
                  <a:off x="626" y="2583"/>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19" name="Rectangle 162">
                <a:extLst>
                  <a:ext uri="{FF2B5EF4-FFF2-40B4-BE49-F238E27FC236}">
                    <a16:creationId xmlns:a16="http://schemas.microsoft.com/office/drawing/2014/main" id="{C9020AB0-B17D-CB4F-A9B5-99244FB363D6}"/>
                  </a:ext>
                </a:extLst>
              </p:cNvPr>
              <p:cNvSpPr>
                <a:spLocks noChangeArrowheads="1"/>
              </p:cNvSpPr>
              <p:nvPr/>
            </p:nvSpPr>
            <p:spPr bwMode="auto">
              <a:xfrm>
                <a:off x="4223"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0" name="Group 163">
                <a:extLst>
                  <a:ext uri="{FF2B5EF4-FFF2-40B4-BE49-F238E27FC236}">
                    <a16:creationId xmlns:a16="http://schemas.microsoft.com/office/drawing/2014/main" id="{CE1259C3-A2E3-0149-B586-E73AACF0B1E8}"/>
                  </a:ext>
                </a:extLst>
              </p:cNvPr>
              <p:cNvGrpSpPr>
                <a:grpSpLocks/>
              </p:cNvGrpSpPr>
              <p:nvPr/>
            </p:nvGrpSpPr>
            <p:grpSpPr bwMode="auto">
              <a:xfrm>
                <a:off x="4747" y="994"/>
                <a:ext cx="581" cy="134"/>
                <a:chOff x="614" y="2568"/>
                <a:chExt cx="725" cy="139"/>
              </a:xfrm>
            </p:grpSpPr>
            <p:sp>
              <p:nvSpPr>
                <p:cNvPr id="41" name="AutoShape 164">
                  <a:extLst>
                    <a:ext uri="{FF2B5EF4-FFF2-40B4-BE49-F238E27FC236}">
                      <a16:creationId xmlns:a16="http://schemas.microsoft.com/office/drawing/2014/main" id="{D86524F2-6B03-3146-93C7-EA6450B7CC4F}"/>
                    </a:ext>
                  </a:extLst>
                </p:cNvPr>
                <p:cNvSpPr>
                  <a:spLocks noChangeArrowheads="1"/>
                </p:cNvSpPr>
                <p:nvPr/>
              </p:nvSpPr>
              <p:spPr bwMode="auto">
                <a:xfrm>
                  <a:off x="615" y="2566"/>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2" name="AutoShape 165">
                  <a:extLst>
                    <a:ext uri="{FF2B5EF4-FFF2-40B4-BE49-F238E27FC236}">
                      <a16:creationId xmlns:a16="http://schemas.microsoft.com/office/drawing/2014/main" id="{6476B1C6-56E6-5B4A-8EB5-AE9CB1666D6B}"/>
                    </a:ext>
                  </a:extLst>
                </p:cNvPr>
                <p:cNvSpPr>
                  <a:spLocks noChangeArrowheads="1"/>
                </p:cNvSpPr>
                <p:nvPr/>
              </p:nvSpPr>
              <p:spPr bwMode="auto">
                <a:xfrm>
                  <a:off x="628"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1" name="Rectangle 166">
                <a:extLst>
                  <a:ext uri="{FF2B5EF4-FFF2-40B4-BE49-F238E27FC236}">
                    <a16:creationId xmlns:a16="http://schemas.microsoft.com/office/drawing/2014/main" id="{19AC0D5F-2746-3944-A6FE-00A27A7A895B}"/>
                  </a:ext>
                </a:extLst>
              </p:cNvPr>
              <p:cNvSpPr>
                <a:spLocks noChangeArrowheads="1"/>
              </p:cNvSpPr>
              <p:nvPr/>
            </p:nvSpPr>
            <p:spPr bwMode="auto">
              <a:xfrm>
                <a:off x="4217" y="1360"/>
                <a:ext cx="597" cy="46"/>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2" name="Rectangle 167">
                <a:extLst>
                  <a:ext uri="{FF2B5EF4-FFF2-40B4-BE49-F238E27FC236}">
                    <a16:creationId xmlns:a16="http://schemas.microsoft.com/office/drawing/2014/main" id="{51C0D0C0-5DDE-2749-8E54-4F5D8BBCC7D6}"/>
                  </a:ext>
                </a:extLst>
              </p:cNvPr>
              <p:cNvSpPr>
                <a:spLocks noChangeArrowheads="1"/>
              </p:cNvSpPr>
              <p:nvPr/>
            </p:nvSpPr>
            <p:spPr bwMode="auto">
              <a:xfrm>
                <a:off x="4228" y="1656"/>
                <a:ext cx="597" cy="46"/>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23" name="Group 168">
                <a:extLst>
                  <a:ext uri="{FF2B5EF4-FFF2-40B4-BE49-F238E27FC236}">
                    <a16:creationId xmlns:a16="http://schemas.microsoft.com/office/drawing/2014/main" id="{2835C54C-E01E-FF41-8541-1761149C6D60}"/>
                  </a:ext>
                </a:extLst>
              </p:cNvPr>
              <p:cNvGrpSpPr>
                <a:grpSpLocks/>
              </p:cNvGrpSpPr>
              <p:nvPr/>
            </p:nvGrpSpPr>
            <p:grpSpPr bwMode="auto">
              <a:xfrm>
                <a:off x="4735" y="1627"/>
                <a:ext cx="582" cy="151"/>
                <a:chOff x="614" y="2568"/>
                <a:chExt cx="725" cy="139"/>
              </a:xfrm>
            </p:grpSpPr>
            <p:sp>
              <p:nvSpPr>
                <p:cNvPr id="39" name="AutoShape 169">
                  <a:extLst>
                    <a:ext uri="{FF2B5EF4-FFF2-40B4-BE49-F238E27FC236}">
                      <a16:creationId xmlns:a16="http://schemas.microsoft.com/office/drawing/2014/main" id="{C174DDB7-5793-FE4E-9850-1A7EE0976BB0}"/>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0" name="AutoShape 170">
                  <a:extLst>
                    <a:ext uri="{FF2B5EF4-FFF2-40B4-BE49-F238E27FC236}">
                      <a16:creationId xmlns:a16="http://schemas.microsoft.com/office/drawing/2014/main" id="{CD6C8529-D6B3-AB49-AAC4-D6272A0472AC}"/>
                    </a:ext>
                  </a:extLst>
                </p:cNvPr>
                <p:cNvSpPr>
                  <a:spLocks noChangeArrowheads="1"/>
                </p:cNvSpPr>
                <p:nvPr/>
              </p:nvSpPr>
              <p:spPr bwMode="auto">
                <a:xfrm>
                  <a:off x="630" y="2583"/>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4" name="Freeform 171">
                <a:extLst>
                  <a:ext uri="{FF2B5EF4-FFF2-40B4-BE49-F238E27FC236}">
                    <a16:creationId xmlns:a16="http://schemas.microsoft.com/office/drawing/2014/main" id="{2368CE90-8A8A-B34E-A754-54A2CDC4DF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5" name="Group 172">
                <a:extLst>
                  <a:ext uri="{FF2B5EF4-FFF2-40B4-BE49-F238E27FC236}">
                    <a16:creationId xmlns:a16="http://schemas.microsoft.com/office/drawing/2014/main" id="{6BEBC90B-C3CE-7D4B-BA74-8D2E9FB5860C}"/>
                  </a:ext>
                </a:extLst>
              </p:cNvPr>
              <p:cNvGrpSpPr>
                <a:grpSpLocks/>
              </p:cNvGrpSpPr>
              <p:nvPr/>
            </p:nvGrpSpPr>
            <p:grpSpPr bwMode="auto">
              <a:xfrm>
                <a:off x="4739" y="1327"/>
                <a:ext cx="582" cy="139"/>
                <a:chOff x="614" y="2568"/>
                <a:chExt cx="725" cy="139"/>
              </a:xfrm>
            </p:grpSpPr>
            <p:sp>
              <p:nvSpPr>
                <p:cNvPr id="37" name="AutoShape 173">
                  <a:extLst>
                    <a:ext uri="{FF2B5EF4-FFF2-40B4-BE49-F238E27FC236}">
                      <a16:creationId xmlns:a16="http://schemas.microsoft.com/office/drawing/2014/main" id="{AC94CA82-E128-0744-B46F-E756D9305C29}"/>
                    </a:ext>
                  </a:extLst>
                </p:cNvPr>
                <p:cNvSpPr>
                  <a:spLocks noChangeArrowheads="1"/>
                </p:cNvSpPr>
                <p:nvPr/>
              </p:nvSpPr>
              <p:spPr bwMode="auto">
                <a:xfrm>
                  <a:off x="611" y="2567"/>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8" name="AutoShape 174">
                  <a:extLst>
                    <a:ext uri="{FF2B5EF4-FFF2-40B4-BE49-F238E27FC236}">
                      <a16:creationId xmlns:a16="http://schemas.microsoft.com/office/drawing/2014/main" id="{708F3622-CE87-8044-8A8E-FF1DDA451E05}"/>
                    </a:ext>
                  </a:extLst>
                </p:cNvPr>
                <p:cNvSpPr>
                  <a:spLocks noChangeArrowheads="1"/>
                </p:cNvSpPr>
                <p:nvPr/>
              </p:nvSpPr>
              <p:spPr bwMode="auto">
                <a:xfrm>
                  <a:off x="625" y="2584"/>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26" name="Rectangle 175">
                <a:extLst>
                  <a:ext uri="{FF2B5EF4-FFF2-40B4-BE49-F238E27FC236}">
                    <a16:creationId xmlns:a16="http://schemas.microsoft.com/office/drawing/2014/main" id="{3FE17BF0-39BE-F44D-9554-2D4B846E41F0}"/>
                  </a:ext>
                </a:extLst>
              </p:cNvPr>
              <p:cNvSpPr>
                <a:spLocks noChangeArrowheads="1"/>
              </p:cNvSpPr>
              <p:nvPr/>
            </p:nvSpPr>
            <p:spPr bwMode="auto">
              <a:xfrm>
                <a:off x="5250" y="429"/>
                <a:ext cx="66"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7" name="Freeform 176">
                <a:extLst>
                  <a:ext uri="{FF2B5EF4-FFF2-40B4-BE49-F238E27FC236}">
                    <a16:creationId xmlns:a16="http://schemas.microsoft.com/office/drawing/2014/main" id="{633D9845-5E25-474E-8BF7-FC1F0BD4CD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177">
                <a:extLst>
                  <a:ext uri="{FF2B5EF4-FFF2-40B4-BE49-F238E27FC236}">
                    <a16:creationId xmlns:a16="http://schemas.microsoft.com/office/drawing/2014/main" id="{78C34C93-2320-564F-ADFD-350C3AD55F7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Oval 178">
                <a:extLst>
                  <a:ext uri="{FF2B5EF4-FFF2-40B4-BE49-F238E27FC236}">
                    <a16:creationId xmlns:a16="http://schemas.microsoft.com/office/drawing/2014/main" id="{5424D659-B05B-BA43-836D-2FA5040B70B4}"/>
                  </a:ext>
                </a:extLst>
              </p:cNvPr>
              <p:cNvSpPr>
                <a:spLocks noChangeArrowheads="1"/>
              </p:cNvSpPr>
              <p:nvPr/>
            </p:nvSpPr>
            <p:spPr bwMode="auto">
              <a:xfrm>
                <a:off x="5515" y="2612"/>
                <a:ext cx="50"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0" name="Freeform 179">
                <a:extLst>
                  <a:ext uri="{FF2B5EF4-FFF2-40B4-BE49-F238E27FC236}">
                    <a16:creationId xmlns:a16="http://schemas.microsoft.com/office/drawing/2014/main" id="{901B4BB8-C637-AE40-85D1-E590B5A63D3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AutoShape 180">
                <a:extLst>
                  <a:ext uri="{FF2B5EF4-FFF2-40B4-BE49-F238E27FC236}">
                    <a16:creationId xmlns:a16="http://schemas.microsoft.com/office/drawing/2014/main" id="{751300FB-CBCE-FB4E-84C9-1F4169450080}"/>
                  </a:ext>
                </a:extLst>
              </p:cNvPr>
              <p:cNvSpPr>
                <a:spLocks noChangeArrowheads="1"/>
              </p:cNvSpPr>
              <p:nvPr/>
            </p:nvSpPr>
            <p:spPr bwMode="auto">
              <a:xfrm>
                <a:off x="4140" y="2679"/>
                <a:ext cx="1199"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2" name="AutoShape 181">
                <a:extLst>
                  <a:ext uri="{FF2B5EF4-FFF2-40B4-BE49-F238E27FC236}">
                    <a16:creationId xmlns:a16="http://schemas.microsoft.com/office/drawing/2014/main" id="{14F80730-26F5-7849-BE0D-295114CEF5B6}"/>
                  </a:ext>
                </a:extLst>
              </p:cNvPr>
              <p:cNvSpPr>
                <a:spLocks noChangeArrowheads="1"/>
              </p:cNvSpPr>
              <p:nvPr/>
            </p:nvSpPr>
            <p:spPr bwMode="auto">
              <a:xfrm>
                <a:off x="4206" y="2712"/>
                <a:ext cx="1072"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3" name="Oval 182">
                <a:extLst>
                  <a:ext uri="{FF2B5EF4-FFF2-40B4-BE49-F238E27FC236}">
                    <a16:creationId xmlns:a16="http://schemas.microsoft.com/office/drawing/2014/main" id="{754B8C0E-A673-B848-BF9B-96DC9D86102F}"/>
                  </a:ext>
                </a:extLst>
              </p:cNvPr>
              <p:cNvSpPr>
                <a:spLocks noChangeArrowheads="1"/>
              </p:cNvSpPr>
              <p:nvPr/>
            </p:nvSpPr>
            <p:spPr bwMode="auto">
              <a:xfrm>
                <a:off x="4306" y="2383"/>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4" name="Oval 183">
                <a:extLst>
                  <a:ext uri="{FF2B5EF4-FFF2-40B4-BE49-F238E27FC236}">
                    <a16:creationId xmlns:a16="http://schemas.microsoft.com/office/drawing/2014/main" id="{0850A2C2-5BDF-8644-B742-A1CE7E134263}"/>
                  </a:ext>
                </a:extLst>
              </p:cNvPr>
              <p:cNvSpPr>
                <a:spLocks noChangeArrowheads="1"/>
              </p:cNvSpPr>
              <p:nvPr/>
            </p:nvSpPr>
            <p:spPr bwMode="auto">
              <a:xfrm>
                <a:off x="4488" y="2383"/>
                <a:ext cx="160"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0000"/>
                  </a:solidFill>
                </a:endParaRPr>
              </a:p>
            </p:txBody>
          </p:sp>
          <p:sp>
            <p:nvSpPr>
              <p:cNvPr id="35" name="Oval 184">
                <a:extLst>
                  <a:ext uri="{FF2B5EF4-FFF2-40B4-BE49-F238E27FC236}">
                    <a16:creationId xmlns:a16="http://schemas.microsoft.com/office/drawing/2014/main" id="{542B7A1C-5166-F14C-99EB-9D369CD71BC7}"/>
                  </a:ext>
                </a:extLst>
              </p:cNvPr>
              <p:cNvSpPr>
                <a:spLocks noChangeArrowheads="1"/>
              </p:cNvSpPr>
              <p:nvPr/>
            </p:nvSpPr>
            <p:spPr bwMode="auto">
              <a:xfrm>
                <a:off x="4665" y="2383"/>
                <a:ext cx="155"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6" name="Rectangle 185">
                <a:extLst>
                  <a:ext uri="{FF2B5EF4-FFF2-40B4-BE49-F238E27FC236}">
                    <a16:creationId xmlns:a16="http://schemas.microsoft.com/office/drawing/2014/main" id="{96E57170-1D21-3041-80C5-BCD5BCFE036B}"/>
                  </a:ext>
                </a:extLst>
              </p:cNvPr>
              <p:cNvSpPr>
                <a:spLocks noChangeArrowheads="1"/>
              </p:cNvSpPr>
              <p:nvPr/>
            </p:nvSpPr>
            <p:spPr bwMode="auto">
              <a:xfrm>
                <a:off x="5062" y="1836"/>
                <a:ext cx="83"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grpSp>
      <p:sp>
        <p:nvSpPr>
          <p:cNvPr id="45" name="Rectangle 3">
            <a:extLst>
              <a:ext uri="{FF2B5EF4-FFF2-40B4-BE49-F238E27FC236}">
                <a16:creationId xmlns:a16="http://schemas.microsoft.com/office/drawing/2014/main" id="{B003BE48-58DC-5A4B-9250-A838A7C7044A}"/>
              </a:ext>
            </a:extLst>
          </p:cNvPr>
          <p:cNvSpPr txBox="1">
            <a:spLocks noChangeArrowheads="1"/>
          </p:cNvSpPr>
          <p:nvPr/>
        </p:nvSpPr>
        <p:spPr>
          <a:xfrm>
            <a:off x="727345" y="1393213"/>
            <a:ext cx="9863871" cy="15244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ea typeface="ＭＳ Ｐゴシック" panose="020B0600070205080204" pitchFamily="34" charset="-128"/>
              </a:rPr>
              <a:t>Denial of Service (DoS):</a:t>
            </a:r>
            <a:r>
              <a:rPr lang="en-US" altLang="en-US" sz="3200" dirty="0">
                <a:ea typeface="ＭＳ Ｐゴシック" panose="020B0600070205080204" pitchFamily="34" charset="-128"/>
              </a:rPr>
              <a:t> attackers make resources (server, bandwidth) unavailable to legitimate traffic by overwhelming resource with bogus traffic</a:t>
            </a:r>
          </a:p>
        </p:txBody>
      </p:sp>
      <p:sp>
        <p:nvSpPr>
          <p:cNvPr id="46" name="Rectangle 4">
            <a:extLst>
              <a:ext uri="{FF2B5EF4-FFF2-40B4-BE49-F238E27FC236}">
                <a16:creationId xmlns:a16="http://schemas.microsoft.com/office/drawing/2014/main" id="{CEF91AB4-C999-A54F-97F0-0D764C08F9FC}"/>
              </a:ext>
            </a:extLst>
          </p:cNvPr>
          <p:cNvSpPr>
            <a:spLocks noChangeArrowheads="1"/>
          </p:cNvSpPr>
          <p:nvPr/>
        </p:nvSpPr>
        <p:spPr bwMode="auto">
          <a:xfrm>
            <a:off x="1761658" y="3116853"/>
            <a:ext cx="4114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chemeClr val="accent2"/>
              </a:buClr>
              <a:buSzPct val="85000"/>
              <a:buFont typeface="ZapfDingbats" charset="2"/>
              <a:buNone/>
            </a:pPr>
            <a:r>
              <a:rPr lang="en-US" altLang="en-US" sz="2800" dirty="0">
                <a:solidFill>
                  <a:srgbClr val="000099"/>
                </a:solidFill>
                <a:latin typeface="+mn-lt"/>
              </a:rPr>
              <a:t>1.</a:t>
            </a:r>
            <a:r>
              <a:rPr lang="en-US" altLang="en-US" sz="2800" dirty="0">
                <a:latin typeface="+mn-lt"/>
              </a:rPr>
              <a:t> select target</a:t>
            </a:r>
          </a:p>
        </p:txBody>
      </p:sp>
      <p:sp>
        <p:nvSpPr>
          <p:cNvPr id="47" name="Rectangle 5">
            <a:extLst>
              <a:ext uri="{FF2B5EF4-FFF2-40B4-BE49-F238E27FC236}">
                <a16:creationId xmlns:a16="http://schemas.microsoft.com/office/drawing/2014/main" id="{075D78BA-F2C2-D04E-8588-A73192FF0C2E}"/>
              </a:ext>
            </a:extLst>
          </p:cNvPr>
          <p:cNvSpPr>
            <a:spLocks noChangeArrowheads="1"/>
          </p:cNvSpPr>
          <p:nvPr/>
        </p:nvSpPr>
        <p:spPr bwMode="auto">
          <a:xfrm>
            <a:off x="1788645" y="3635965"/>
            <a:ext cx="3795713"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chemeClr val="accent2"/>
              </a:buClr>
              <a:buSzPct val="85000"/>
              <a:buFont typeface="ZapfDingbats" charset="2"/>
              <a:buNone/>
            </a:pPr>
            <a:r>
              <a:rPr lang="en-US" altLang="en-US" sz="2800" dirty="0">
                <a:solidFill>
                  <a:srgbClr val="000099"/>
                </a:solidFill>
                <a:latin typeface="+mn-lt"/>
              </a:rPr>
              <a:t>2.</a:t>
            </a:r>
            <a:r>
              <a:rPr lang="en-US" altLang="en-US" sz="2800" dirty="0">
                <a:latin typeface="+mn-lt"/>
              </a:rPr>
              <a:t> break into hosts around the network (see botnet)</a:t>
            </a:r>
          </a:p>
          <a:p>
            <a:pPr>
              <a:spcBef>
                <a:spcPct val="20000"/>
              </a:spcBef>
              <a:buClr>
                <a:schemeClr val="accent2"/>
              </a:buClr>
              <a:buSzPct val="85000"/>
              <a:buFont typeface="ZapfDingbats" charset="2"/>
              <a:buAutoNum type="arabicPeriod" startAt="2"/>
            </a:pPr>
            <a:endParaRPr lang="en-US" altLang="en-US" sz="2800" dirty="0">
              <a:latin typeface="+mn-lt"/>
            </a:endParaRPr>
          </a:p>
        </p:txBody>
      </p:sp>
      <p:sp>
        <p:nvSpPr>
          <p:cNvPr id="48" name="Rectangle 6">
            <a:extLst>
              <a:ext uri="{FF2B5EF4-FFF2-40B4-BE49-F238E27FC236}">
                <a16:creationId xmlns:a16="http://schemas.microsoft.com/office/drawing/2014/main" id="{9860933B-2B16-1242-A6CB-2A2E5DF5B1E1}"/>
              </a:ext>
            </a:extLst>
          </p:cNvPr>
          <p:cNvSpPr>
            <a:spLocks noChangeArrowheads="1"/>
          </p:cNvSpPr>
          <p:nvPr/>
        </p:nvSpPr>
        <p:spPr bwMode="auto">
          <a:xfrm>
            <a:off x="1728360" y="4894191"/>
            <a:ext cx="41148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chemeClr val="accent2"/>
              </a:buClr>
              <a:buSzPct val="85000"/>
              <a:buFont typeface="ZapfDingbats" charset="2"/>
              <a:buNone/>
            </a:pPr>
            <a:r>
              <a:rPr lang="en-US" altLang="en-US" sz="2800" dirty="0">
                <a:solidFill>
                  <a:srgbClr val="000099"/>
                </a:solidFill>
                <a:latin typeface="+mn-lt"/>
              </a:rPr>
              <a:t>3.</a:t>
            </a:r>
            <a:r>
              <a:rPr lang="en-US" altLang="en-US" sz="2800" dirty="0">
                <a:latin typeface="+mn-lt"/>
              </a:rPr>
              <a:t> send packets to target from compromised hosts</a:t>
            </a:r>
          </a:p>
        </p:txBody>
      </p:sp>
      <p:grpSp>
        <p:nvGrpSpPr>
          <p:cNvPr id="49" name="Group 152">
            <a:extLst>
              <a:ext uri="{FF2B5EF4-FFF2-40B4-BE49-F238E27FC236}">
                <a16:creationId xmlns:a16="http://schemas.microsoft.com/office/drawing/2014/main" id="{34BB1FB3-F797-CE40-A303-F67D5EA0D714}"/>
              </a:ext>
            </a:extLst>
          </p:cNvPr>
          <p:cNvGrpSpPr>
            <a:grpSpLocks/>
          </p:cNvGrpSpPr>
          <p:nvPr/>
        </p:nvGrpSpPr>
        <p:grpSpPr bwMode="auto">
          <a:xfrm>
            <a:off x="6876086" y="3297818"/>
            <a:ext cx="2720975" cy="2674938"/>
            <a:chOff x="-262" y="2555"/>
            <a:chExt cx="1714" cy="1685"/>
          </a:xfrm>
        </p:grpSpPr>
        <p:sp>
          <p:nvSpPr>
            <p:cNvPr id="50" name="Line 63">
              <a:extLst>
                <a:ext uri="{FF2B5EF4-FFF2-40B4-BE49-F238E27FC236}">
                  <a16:creationId xmlns:a16="http://schemas.microsoft.com/office/drawing/2014/main" id="{240D789E-07A8-4A47-8526-9F3894E15754}"/>
                </a:ext>
              </a:extLst>
            </p:cNvPr>
            <p:cNvSpPr>
              <a:spLocks noChangeShapeType="1"/>
            </p:cNvSpPr>
            <p:nvPr/>
          </p:nvSpPr>
          <p:spPr bwMode="auto">
            <a:xfrm flipV="1">
              <a:off x="160" y="3261"/>
              <a:ext cx="436" cy="166"/>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1" name="Line 64">
              <a:extLst>
                <a:ext uri="{FF2B5EF4-FFF2-40B4-BE49-F238E27FC236}">
                  <a16:creationId xmlns:a16="http://schemas.microsoft.com/office/drawing/2014/main" id="{8EA69BDD-6834-BA4E-8A9A-CDD3D334EE55}"/>
                </a:ext>
              </a:extLst>
            </p:cNvPr>
            <p:cNvSpPr>
              <a:spLocks noChangeShapeType="1"/>
            </p:cNvSpPr>
            <p:nvPr/>
          </p:nvSpPr>
          <p:spPr bwMode="auto">
            <a:xfrm flipV="1">
              <a:off x="413" y="3470"/>
              <a:ext cx="226" cy="324"/>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2" name="Line 65">
              <a:extLst>
                <a:ext uri="{FF2B5EF4-FFF2-40B4-BE49-F238E27FC236}">
                  <a16:creationId xmlns:a16="http://schemas.microsoft.com/office/drawing/2014/main" id="{6F7FFC2D-076E-9641-9969-CA6045CBAFDB}"/>
                </a:ext>
              </a:extLst>
            </p:cNvPr>
            <p:cNvSpPr>
              <a:spLocks noChangeShapeType="1"/>
            </p:cNvSpPr>
            <p:nvPr/>
          </p:nvSpPr>
          <p:spPr bwMode="auto">
            <a:xfrm flipH="1" flipV="1">
              <a:off x="857" y="3410"/>
              <a:ext cx="595" cy="456"/>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3" name="Line 66">
              <a:extLst>
                <a:ext uri="{FF2B5EF4-FFF2-40B4-BE49-F238E27FC236}">
                  <a16:creationId xmlns:a16="http://schemas.microsoft.com/office/drawing/2014/main" id="{411EA141-EA1B-9249-AC8C-AEFF840A4BBA}"/>
                </a:ext>
              </a:extLst>
            </p:cNvPr>
            <p:cNvSpPr>
              <a:spLocks noChangeShapeType="1"/>
            </p:cNvSpPr>
            <p:nvPr/>
          </p:nvSpPr>
          <p:spPr bwMode="auto">
            <a:xfrm>
              <a:off x="735" y="2555"/>
              <a:ext cx="16" cy="460"/>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4" name="Line 67">
              <a:extLst>
                <a:ext uri="{FF2B5EF4-FFF2-40B4-BE49-F238E27FC236}">
                  <a16:creationId xmlns:a16="http://schemas.microsoft.com/office/drawing/2014/main" id="{2980C73E-B307-9347-B762-286D7DB5F9C6}"/>
                </a:ext>
              </a:extLst>
            </p:cNvPr>
            <p:cNvSpPr>
              <a:spLocks noChangeShapeType="1"/>
            </p:cNvSpPr>
            <p:nvPr/>
          </p:nvSpPr>
          <p:spPr bwMode="auto">
            <a:xfrm flipH="1">
              <a:off x="829" y="3011"/>
              <a:ext cx="473" cy="181"/>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5" name="Line 68">
              <a:extLst>
                <a:ext uri="{FF2B5EF4-FFF2-40B4-BE49-F238E27FC236}">
                  <a16:creationId xmlns:a16="http://schemas.microsoft.com/office/drawing/2014/main" id="{671BC8F5-6316-CD48-97A2-C38DE07E4202}"/>
                </a:ext>
              </a:extLst>
            </p:cNvPr>
            <p:cNvSpPr>
              <a:spLocks noChangeShapeType="1"/>
            </p:cNvSpPr>
            <p:nvPr/>
          </p:nvSpPr>
          <p:spPr bwMode="auto">
            <a:xfrm>
              <a:off x="-262" y="3083"/>
              <a:ext cx="879" cy="111"/>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6" name="Line 69">
              <a:extLst>
                <a:ext uri="{FF2B5EF4-FFF2-40B4-BE49-F238E27FC236}">
                  <a16:creationId xmlns:a16="http://schemas.microsoft.com/office/drawing/2014/main" id="{8B7BCBEF-584C-F74E-80E0-8BC296AF69FA}"/>
                </a:ext>
              </a:extLst>
            </p:cNvPr>
            <p:cNvSpPr>
              <a:spLocks noChangeShapeType="1"/>
            </p:cNvSpPr>
            <p:nvPr/>
          </p:nvSpPr>
          <p:spPr bwMode="auto">
            <a:xfrm flipV="1">
              <a:off x="-201" y="3362"/>
              <a:ext cx="800" cy="649"/>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7" name="Line 70">
              <a:extLst>
                <a:ext uri="{FF2B5EF4-FFF2-40B4-BE49-F238E27FC236}">
                  <a16:creationId xmlns:a16="http://schemas.microsoft.com/office/drawing/2014/main" id="{673660B3-2563-1141-BC2A-1820CBC9523A}"/>
                </a:ext>
              </a:extLst>
            </p:cNvPr>
            <p:cNvSpPr>
              <a:spLocks noChangeShapeType="1"/>
            </p:cNvSpPr>
            <p:nvPr/>
          </p:nvSpPr>
          <p:spPr bwMode="auto">
            <a:xfrm flipH="1">
              <a:off x="852" y="2623"/>
              <a:ext cx="352" cy="398"/>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8" name="Line 71">
              <a:extLst>
                <a:ext uri="{FF2B5EF4-FFF2-40B4-BE49-F238E27FC236}">
                  <a16:creationId xmlns:a16="http://schemas.microsoft.com/office/drawing/2014/main" id="{2AE70CDA-56D3-054F-9B05-C53E40B7ABB2}"/>
                </a:ext>
              </a:extLst>
            </p:cNvPr>
            <p:cNvSpPr>
              <a:spLocks noChangeShapeType="1"/>
            </p:cNvSpPr>
            <p:nvPr/>
          </p:nvSpPr>
          <p:spPr bwMode="auto">
            <a:xfrm flipV="1">
              <a:off x="494" y="3582"/>
              <a:ext cx="198" cy="658"/>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9" name="Line 72">
              <a:extLst>
                <a:ext uri="{FF2B5EF4-FFF2-40B4-BE49-F238E27FC236}">
                  <a16:creationId xmlns:a16="http://schemas.microsoft.com/office/drawing/2014/main" id="{D3EB0842-476A-254E-83F2-76A01FFE7250}"/>
                </a:ext>
              </a:extLst>
            </p:cNvPr>
            <p:cNvSpPr>
              <a:spLocks noChangeShapeType="1"/>
            </p:cNvSpPr>
            <p:nvPr/>
          </p:nvSpPr>
          <p:spPr bwMode="auto">
            <a:xfrm>
              <a:off x="162" y="2738"/>
              <a:ext cx="416" cy="258"/>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60" name="Group 113">
            <a:extLst>
              <a:ext uri="{FF2B5EF4-FFF2-40B4-BE49-F238E27FC236}">
                <a16:creationId xmlns:a16="http://schemas.microsoft.com/office/drawing/2014/main" id="{10A7333E-A585-D14F-B6DB-52435ACF1824}"/>
              </a:ext>
            </a:extLst>
          </p:cNvPr>
          <p:cNvGrpSpPr>
            <a:grpSpLocks/>
          </p:cNvGrpSpPr>
          <p:nvPr/>
        </p:nvGrpSpPr>
        <p:grpSpPr bwMode="auto">
          <a:xfrm flipH="1">
            <a:off x="9041436" y="2937456"/>
            <a:ext cx="735012" cy="681037"/>
            <a:chOff x="-44" y="1473"/>
            <a:chExt cx="981" cy="1105"/>
          </a:xfrm>
        </p:grpSpPr>
        <p:pic>
          <p:nvPicPr>
            <p:cNvPr id="61" name="Picture 114" descr="desktop_computer_stylized_medium">
              <a:extLst>
                <a:ext uri="{FF2B5EF4-FFF2-40B4-BE49-F238E27FC236}">
                  <a16:creationId xmlns:a16="http://schemas.microsoft.com/office/drawing/2014/main" id="{01147AF7-C025-614C-95B2-DC5DF0AB4C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Freeform 115">
              <a:extLst>
                <a:ext uri="{FF2B5EF4-FFF2-40B4-BE49-F238E27FC236}">
                  <a16:creationId xmlns:a16="http://schemas.microsoft.com/office/drawing/2014/main" id="{EBCFF3AE-DFA4-114F-8873-ED4B72E8B49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3" name="Group 116">
            <a:extLst>
              <a:ext uri="{FF2B5EF4-FFF2-40B4-BE49-F238E27FC236}">
                <a16:creationId xmlns:a16="http://schemas.microsoft.com/office/drawing/2014/main" id="{A679AEDC-8797-7C4C-9512-CC63DE65687B}"/>
              </a:ext>
            </a:extLst>
          </p:cNvPr>
          <p:cNvGrpSpPr>
            <a:grpSpLocks/>
          </p:cNvGrpSpPr>
          <p:nvPr/>
        </p:nvGrpSpPr>
        <p:grpSpPr bwMode="auto">
          <a:xfrm flipH="1">
            <a:off x="9328773" y="3774068"/>
            <a:ext cx="735013" cy="681038"/>
            <a:chOff x="-44" y="1473"/>
            <a:chExt cx="981" cy="1105"/>
          </a:xfrm>
        </p:grpSpPr>
        <p:pic>
          <p:nvPicPr>
            <p:cNvPr id="64" name="Picture 117" descr="desktop_computer_stylized_medium">
              <a:extLst>
                <a:ext uri="{FF2B5EF4-FFF2-40B4-BE49-F238E27FC236}">
                  <a16:creationId xmlns:a16="http://schemas.microsoft.com/office/drawing/2014/main" id="{99C8CCE2-64C9-E548-A809-8ACB9E412A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Freeform 118">
              <a:extLst>
                <a:ext uri="{FF2B5EF4-FFF2-40B4-BE49-F238E27FC236}">
                  <a16:creationId xmlns:a16="http://schemas.microsoft.com/office/drawing/2014/main" id="{FD178B63-073D-904B-AB24-5180E69BD2F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6" name="Group 119">
            <a:extLst>
              <a:ext uri="{FF2B5EF4-FFF2-40B4-BE49-F238E27FC236}">
                <a16:creationId xmlns:a16="http://schemas.microsoft.com/office/drawing/2014/main" id="{A4F38700-463B-DC46-9ECE-001F57B05085}"/>
              </a:ext>
            </a:extLst>
          </p:cNvPr>
          <p:cNvGrpSpPr>
            <a:grpSpLocks/>
          </p:cNvGrpSpPr>
          <p:nvPr/>
        </p:nvGrpSpPr>
        <p:grpSpPr bwMode="auto">
          <a:xfrm flipH="1">
            <a:off x="9387511" y="4475743"/>
            <a:ext cx="735012" cy="681038"/>
            <a:chOff x="-44" y="1473"/>
            <a:chExt cx="981" cy="1105"/>
          </a:xfrm>
        </p:grpSpPr>
        <p:pic>
          <p:nvPicPr>
            <p:cNvPr id="67" name="Picture 120" descr="desktop_computer_stylized_medium">
              <a:extLst>
                <a:ext uri="{FF2B5EF4-FFF2-40B4-BE49-F238E27FC236}">
                  <a16:creationId xmlns:a16="http://schemas.microsoft.com/office/drawing/2014/main" id="{3A3D357D-C23A-4346-93FC-BEE43FD511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Freeform 121">
              <a:extLst>
                <a:ext uri="{FF2B5EF4-FFF2-40B4-BE49-F238E27FC236}">
                  <a16:creationId xmlns:a16="http://schemas.microsoft.com/office/drawing/2014/main" id="{AB59AC13-2896-E340-8D89-AD696502F6B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9" name="Group 122">
            <a:extLst>
              <a:ext uri="{FF2B5EF4-FFF2-40B4-BE49-F238E27FC236}">
                <a16:creationId xmlns:a16="http://schemas.microsoft.com/office/drawing/2014/main" id="{0D817B4B-4AD3-C14B-AE56-7E65C40EB005}"/>
              </a:ext>
            </a:extLst>
          </p:cNvPr>
          <p:cNvGrpSpPr>
            <a:grpSpLocks/>
          </p:cNvGrpSpPr>
          <p:nvPr/>
        </p:nvGrpSpPr>
        <p:grpSpPr bwMode="auto">
          <a:xfrm flipH="1">
            <a:off x="9424023" y="5256793"/>
            <a:ext cx="735013" cy="681038"/>
            <a:chOff x="-44" y="1473"/>
            <a:chExt cx="981" cy="1105"/>
          </a:xfrm>
        </p:grpSpPr>
        <p:pic>
          <p:nvPicPr>
            <p:cNvPr id="70" name="Picture 123" descr="desktop_computer_stylized_medium">
              <a:extLst>
                <a:ext uri="{FF2B5EF4-FFF2-40B4-BE49-F238E27FC236}">
                  <a16:creationId xmlns:a16="http://schemas.microsoft.com/office/drawing/2014/main" id="{D67B6E62-62DF-E440-84A6-40CD76C264A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124">
              <a:extLst>
                <a:ext uri="{FF2B5EF4-FFF2-40B4-BE49-F238E27FC236}">
                  <a16:creationId xmlns:a16="http://schemas.microsoft.com/office/drawing/2014/main" id="{BFE0D576-BA51-9845-8319-80EBFDCB87EA}"/>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2" name="Group 125">
            <a:extLst>
              <a:ext uri="{FF2B5EF4-FFF2-40B4-BE49-F238E27FC236}">
                <a16:creationId xmlns:a16="http://schemas.microsoft.com/office/drawing/2014/main" id="{26C51172-8D8D-7A48-AF47-2DEAA12AA6D8}"/>
              </a:ext>
            </a:extLst>
          </p:cNvPr>
          <p:cNvGrpSpPr>
            <a:grpSpLocks/>
          </p:cNvGrpSpPr>
          <p:nvPr/>
        </p:nvGrpSpPr>
        <p:grpSpPr bwMode="auto">
          <a:xfrm flipH="1">
            <a:off x="8079411" y="3066043"/>
            <a:ext cx="735012" cy="681038"/>
            <a:chOff x="-44" y="1473"/>
            <a:chExt cx="981" cy="1105"/>
          </a:xfrm>
        </p:grpSpPr>
        <p:pic>
          <p:nvPicPr>
            <p:cNvPr id="73" name="Picture 126" descr="desktop_computer_stylized_medium">
              <a:extLst>
                <a:ext uri="{FF2B5EF4-FFF2-40B4-BE49-F238E27FC236}">
                  <a16:creationId xmlns:a16="http://schemas.microsoft.com/office/drawing/2014/main" id="{69C5B0D9-2504-0549-B400-71295C40B5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Freeform 127">
              <a:extLst>
                <a:ext uri="{FF2B5EF4-FFF2-40B4-BE49-F238E27FC236}">
                  <a16:creationId xmlns:a16="http://schemas.microsoft.com/office/drawing/2014/main" id="{9E974D9F-ACEC-1344-B5C8-FF8AAB7F540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5" name="Group 128">
            <a:extLst>
              <a:ext uri="{FF2B5EF4-FFF2-40B4-BE49-F238E27FC236}">
                <a16:creationId xmlns:a16="http://schemas.microsoft.com/office/drawing/2014/main" id="{9C958751-0861-8C42-9DE0-5B95FEB2EAF1}"/>
              </a:ext>
            </a:extLst>
          </p:cNvPr>
          <p:cNvGrpSpPr>
            <a:grpSpLocks/>
          </p:cNvGrpSpPr>
          <p:nvPr/>
        </p:nvGrpSpPr>
        <p:grpSpPr bwMode="auto">
          <a:xfrm flipH="1">
            <a:off x="7074523" y="3127956"/>
            <a:ext cx="735013" cy="681037"/>
            <a:chOff x="-44" y="1473"/>
            <a:chExt cx="981" cy="1105"/>
          </a:xfrm>
        </p:grpSpPr>
        <p:pic>
          <p:nvPicPr>
            <p:cNvPr id="76" name="Picture 129" descr="desktop_computer_stylized_medium">
              <a:extLst>
                <a:ext uri="{FF2B5EF4-FFF2-40B4-BE49-F238E27FC236}">
                  <a16:creationId xmlns:a16="http://schemas.microsoft.com/office/drawing/2014/main" id="{BAB817CE-0790-2B4E-B65F-A6498BE9CB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30">
              <a:extLst>
                <a:ext uri="{FF2B5EF4-FFF2-40B4-BE49-F238E27FC236}">
                  <a16:creationId xmlns:a16="http://schemas.microsoft.com/office/drawing/2014/main" id="{EFC5C2B3-2D8A-6747-B184-076FA411FE9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8" name="Group 134">
            <a:extLst>
              <a:ext uri="{FF2B5EF4-FFF2-40B4-BE49-F238E27FC236}">
                <a16:creationId xmlns:a16="http://schemas.microsoft.com/office/drawing/2014/main" id="{87DE748A-5111-7641-85D8-040FC10E7AFB}"/>
              </a:ext>
            </a:extLst>
          </p:cNvPr>
          <p:cNvGrpSpPr>
            <a:grpSpLocks/>
          </p:cNvGrpSpPr>
          <p:nvPr/>
        </p:nvGrpSpPr>
        <p:grpSpPr bwMode="auto">
          <a:xfrm flipH="1">
            <a:off x="6358561" y="3832806"/>
            <a:ext cx="735012" cy="681037"/>
            <a:chOff x="-44" y="1473"/>
            <a:chExt cx="981" cy="1105"/>
          </a:xfrm>
        </p:grpSpPr>
        <p:pic>
          <p:nvPicPr>
            <p:cNvPr id="79" name="Picture 135" descr="desktop_computer_stylized_medium">
              <a:extLst>
                <a:ext uri="{FF2B5EF4-FFF2-40B4-BE49-F238E27FC236}">
                  <a16:creationId xmlns:a16="http://schemas.microsoft.com/office/drawing/2014/main" id="{636D1BB9-AB82-8944-82FF-E59A7BD5E9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36">
              <a:extLst>
                <a:ext uri="{FF2B5EF4-FFF2-40B4-BE49-F238E27FC236}">
                  <a16:creationId xmlns:a16="http://schemas.microsoft.com/office/drawing/2014/main" id="{1B6337C3-6A6A-3247-B100-E450F3744EF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81" name="Group 137">
            <a:extLst>
              <a:ext uri="{FF2B5EF4-FFF2-40B4-BE49-F238E27FC236}">
                <a16:creationId xmlns:a16="http://schemas.microsoft.com/office/drawing/2014/main" id="{7EE5AE12-F723-1844-BF7D-895F4D162FD6}"/>
              </a:ext>
            </a:extLst>
          </p:cNvPr>
          <p:cNvGrpSpPr>
            <a:grpSpLocks/>
          </p:cNvGrpSpPr>
          <p:nvPr/>
        </p:nvGrpSpPr>
        <p:grpSpPr bwMode="auto">
          <a:xfrm flipH="1">
            <a:off x="6990386" y="4567818"/>
            <a:ext cx="735012" cy="681038"/>
            <a:chOff x="-44" y="1473"/>
            <a:chExt cx="981" cy="1105"/>
          </a:xfrm>
        </p:grpSpPr>
        <p:pic>
          <p:nvPicPr>
            <p:cNvPr id="82" name="Picture 138" descr="desktop_computer_stylized_medium">
              <a:extLst>
                <a:ext uri="{FF2B5EF4-FFF2-40B4-BE49-F238E27FC236}">
                  <a16:creationId xmlns:a16="http://schemas.microsoft.com/office/drawing/2014/main" id="{66F3AA24-FB01-0448-9AF5-44833FAC73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Freeform 139">
              <a:extLst>
                <a:ext uri="{FF2B5EF4-FFF2-40B4-BE49-F238E27FC236}">
                  <a16:creationId xmlns:a16="http://schemas.microsoft.com/office/drawing/2014/main" id="{F76D9B25-D392-6E4A-8438-3E7A671FB6D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84" name="Group 140">
            <a:extLst>
              <a:ext uri="{FF2B5EF4-FFF2-40B4-BE49-F238E27FC236}">
                <a16:creationId xmlns:a16="http://schemas.microsoft.com/office/drawing/2014/main" id="{2D102063-F0AD-F642-9447-16BE27DA9172}"/>
              </a:ext>
            </a:extLst>
          </p:cNvPr>
          <p:cNvGrpSpPr>
            <a:grpSpLocks/>
          </p:cNvGrpSpPr>
          <p:nvPr/>
        </p:nvGrpSpPr>
        <p:grpSpPr bwMode="auto">
          <a:xfrm flipH="1">
            <a:off x="7520611" y="5177418"/>
            <a:ext cx="735012" cy="681038"/>
            <a:chOff x="-44" y="1473"/>
            <a:chExt cx="981" cy="1105"/>
          </a:xfrm>
        </p:grpSpPr>
        <p:pic>
          <p:nvPicPr>
            <p:cNvPr id="85" name="Picture 141" descr="desktop_computer_stylized_medium">
              <a:extLst>
                <a:ext uri="{FF2B5EF4-FFF2-40B4-BE49-F238E27FC236}">
                  <a16:creationId xmlns:a16="http://schemas.microsoft.com/office/drawing/2014/main" id="{D5D011E5-F7A0-DA49-81C5-F47FA6BE69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Freeform 142">
              <a:extLst>
                <a:ext uri="{FF2B5EF4-FFF2-40B4-BE49-F238E27FC236}">
                  <a16:creationId xmlns:a16="http://schemas.microsoft.com/office/drawing/2014/main" id="{071EB120-A48C-5541-A035-75E75050CB6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87" name="Group 143">
            <a:extLst>
              <a:ext uri="{FF2B5EF4-FFF2-40B4-BE49-F238E27FC236}">
                <a16:creationId xmlns:a16="http://schemas.microsoft.com/office/drawing/2014/main" id="{C3CAAC65-E33C-344E-BA73-EDB94437CA1F}"/>
              </a:ext>
            </a:extLst>
          </p:cNvPr>
          <p:cNvGrpSpPr>
            <a:grpSpLocks/>
          </p:cNvGrpSpPr>
          <p:nvPr/>
        </p:nvGrpSpPr>
        <p:grpSpPr bwMode="auto">
          <a:xfrm flipH="1">
            <a:off x="6598273" y="5467931"/>
            <a:ext cx="735013" cy="681037"/>
            <a:chOff x="-44" y="1473"/>
            <a:chExt cx="981" cy="1105"/>
          </a:xfrm>
        </p:grpSpPr>
        <p:pic>
          <p:nvPicPr>
            <p:cNvPr id="88" name="Picture 144" descr="desktop_computer_stylized_medium">
              <a:extLst>
                <a:ext uri="{FF2B5EF4-FFF2-40B4-BE49-F238E27FC236}">
                  <a16:creationId xmlns:a16="http://schemas.microsoft.com/office/drawing/2014/main" id="{FAF13606-284B-D544-8976-8A32823F7C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Freeform 145">
              <a:extLst>
                <a:ext uri="{FF2B5EF4-FFF2-40B4-BE49-F238E27FC236}">
                  <a16:creationId xmlns:a16="http://schemas.microsoft.com/office/drawing/2014/main" id="{591D49EF-BC84-FF48-8AB6-8F0B28E3822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0" name="Group 146">
            <a:extLst>
              <a:ext uri="{FF2B5EF4-FFF2-40B4-BE49-F238E27FC236}">
                <a16:creationId xmlns:a16="http://schemas.microsoft.com/office/drawing/2014/main" id="{476E2AF9-489F-A04E-A23A-81549329EA21}"/>
              </a:ext>
            </a:extLst>
          </p:cNvPr>
          <p:cNvGrpSpPr>
            <a:grpSpLocks/>
          </p:cNvGrpSpPr>
          <p:nvPr/>
        </p:nvGrpSpPr>
        <p:grpSpPr bwMode="auto">
          <a:xfrm flipH="1">
            <a:off x="7790486" y="5974343"/>
            <a:ext cx="735012" cy="681038"/>
            <a:chOff x="-44" y="1473"/>
            <a:chExt cx="981" cy="1105"/>
          </a:xfrm>
        </p:grpSpPr>
        <p:pic>
          <p:nvPicPr>
            <p:cNvPr id="91" name="Picture 147" descr="desktop_computer_stylized_medium">
              <a:extLst>
                <a:ext uri="{FF2B5EF4-FFF2-40B4-BE49-F238E27FC236}">
                  <a16:creationId xmlns:a16="http://schemas.microsoft.com/office/drawing/2014/main" id="{D31CCA85-16F8-CF40-9FD2-361C58F0C1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Freeform 148">
              <a:extLst>
                <a:ext uri="{FF2B5EF4-FFF2-40B4-BE49-F238E27FC236}">
                  <a16:creationId xmlns:a16="http://schemas.microsoft.com/office/drawing/2014/main" id="{4B061CF6-50E2-0C4F-8DA2-97A8C0438F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3" name="Group 149">
            <a:extLst>
              <a:ext uri="{FF2B5EF4-FFF2-40B4-BE49-F238E27FC236}">
                <a16:creationId xmlns:a16="http://schemas.microsoft.com/office/drawing/2014/main" id="{BC019584-C571-0243-9746-D5FAF9049856}"/>
              </a:ext>
            </a:extLst>
          </p:cNvPr>
          <p:cNvGrpSpPr>
            <a:grpSpLocks/>
          </p:cNvGrpSpPr>
          <p:nvPr/>
        </p:nvGrpSpPr>
        <p:grpSpPr bwMode="auto">
          <a:xfrm flipH="1">
            <a:off x="8535023" y="5585406"/>
            <a:ext cx="735013" cy="681037"/>
            <a:chOff x="-44" y="1473"/>
            <a:chExt cx="981" cy="1105"/>
          </a:xfrm>
        </p:grpSpPr>
        <p:pic>
          <p:nvPicPr>
            <p:cNvPr id="94" name="Picture 150" descr="desktop_computer_stylized_medium">
              <a:extLst>
                <a:ext uri="{FF2B5EF4-FFF2-40B4-BE49-F238E27FC236}">
                  <a16:creationId xmlns:a16="http://schemas.microsoft.com/office/drawing/2014/main" id="{008D1F22-90A3-BE4F-BA4C-262C33588E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51">
              <a:extLst>
                <a:ext uri="{FF2B5EF4-FFF2-40B4-BE49-F238E27FC236}">
                  <a16:creationId xmlns:a16="http://schemas.microsoft.com/office/drawing/2014/main" id="{87AB5A67-132D-0D48-9235-45C2FC56AE8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6" name="Group 89">
            <a:extLst>
              <a:ext uri="{FF2B5EF4-FFF2-40B4-BE49-F238E27FC236}">
                <a16:creationId xmlns:a16="http://schemas.microsoft.com/office/drawing/2014/main" id="{A6B06288-15F9-FA41-9711-4E4611B1C7A3}"/>
              </a:ext>
            </a:extLst>
          </p:cNvPr>
          <p:cNvGrpSpPr>
            <a:grpSpLocks/>
          </p:cNvGrpSpPr>
          <p:nvPr/>
        </p:nvGrpSpPr>
        <p:grpSpPr bwMode="auto">
          <a:xfrm>
            <a:off x="6383961" y="3005718"/>
            <a:ext cx="3525837" cy="3408363"/>
            <a:chOff x="2920" y="1824"/>
            <a:chExt cx="2221" cy="2147"/>
          </a:xfrm>
        </p:grpSpPr>
        <p:pic>
          <p:nvPicPr>
            <p:cNvPr id="97" name="Picture 7">
              <a:extLst>
                <a:ext uri="{FF2B5EF4-FFF2-40B4-BE49-F238E27FC236}">
                  <a16:creationId xmlns:a16="http://schemas.microsoft.com/office/drawing/2014/main" id="{D8D05F46-329F-7746-A822-2566BD62481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67" y="1922"/>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98" name="Picture 54">
              <a:extLst>
                <a:ext uri="{FF2B5EF4-FFF2-40B4-BE49-F238E27FC236}">
                  <a16:creationId xmlns:a16="http://schemas.microsoft.com/office/drawing/2014/main" id="{E0C724BB-6735-2F4C-B320-8B57ABD11D7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21" y="1922"/>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99" name="Picture 55">
              <a:extLst>
                <a:ext uri="{FF2B5EF4-FFF2-40B4-BE49-F238E27FC236}">
                  <a16:creationId xmlns:a16="http://schemas.microsoft.com/office/drawing/2014/main" id="{43360ABB-D0D2-114B-8A10-C625284905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0" y="2376"/>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0" name="Picture 56">
              <a:extLst>
                <a:ext uri="{FF2B5EF4-FFF2-40B4-BE49-F238E27FC236}">
                  <a16:creationId xmlns:a16="http://schemas.microsoft.com/office/drawing/2014/main" id="{7FEBFDE8-0666-7A45-8B5B-A74E50C0AD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70" y="2803"/>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1" name="Picture 57">
              <a:extLst>
                <a:ext uri="{FF2B5EF4-FFF2-40B4-BE49-F238E27FC236}">
                  <a16:creationId xmlns:a16="http://schemas.microsoft.com/office/drawing/2014/main" id="{C1327435-8A3A-3549-A5BE-B588A97766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20" y="3230"/>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2" name="Picture 58">
              <a:extLst>
                <a:ext uri="{FF2B5EF4-FFF2-40B4-BE49-F238E27FC236}">
                  <a16:creationId xmlns:a16="http://schemas.microsoft.com/office/drawing/2014/main" id="{9F15F78D-2BDD-5041-95EA-4372AE3201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87" y="3692"/>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3" name="Picture 59">
              <a:extLst>
                <a:ext uri="{FF2B5EF4-FFF2-40B4-BE49-F238E27FC236}">
                  <a16:creationId xmlns:a16="http://schemas.microsoft.com/office/drawing/2014/main" id="{589B9A7E-C72C-3642-8499-4288D926EA5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44" y="3308"/>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4" name="Picture 60">
              <a:extLst>
                <a:ext uri="{FF2B5EF4-FFF2-40B4-BE49-F238E27FC236}">
                  <a16:creationId xmlns:a16="http://schemas.microsoft.com/office/drawing/2014/main" id="{FB16E4F5-EE33-084D-83BA-FA88374C85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8" y="2339"/>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5" name="Picture 61">
              <a:extLst>
                <a:ext uri="{FF2B5EF4-FFF2-40B4-BE49-F238E27FC236}">
                  <a16:creationId xmlns:a16="http://schemas.microsoft.com/office/drawing/2014/main" id="{72D217B6-6EB5-454E-A6D1-F8907DA44BA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4" y="3395"/>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6" name="Picture 62">
              <a:extLst>
                <a:ext uri="{FF2B5EF4-FFF2-40B4-BE49-F238E27FC236}">
                  <a16:creationId xmlns:a16="http://schemas.microsoft.com/office/drawing/2014/main" id="{D388E590-7D12-084D-B4AB-9486F64CAB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52" y="1824"/>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grpSp>
    </p:spTree>
    <p:extLst>
      <p:ext uri="{BB962C8B-B14F-4D97-AF65-F5344CB8AC3E}">
        <p14:creationId xmlns:p14="http://schemas.microsoft.com/office/powerpoint/2010/main" val="1938128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47"/>
                                        </p:tgtEl>
                                        <p:attrNameLst>
                                          <p:attrName>style.visibility</p:attrName>
                                        </p:attrNameLst>
                                      </p:cBhvr>
                                      <p:to>
                                        <p:strVal val="visible"/>
                                      </p:to>
                                    </p:set>
                                  </p:childTnLst>
                                </p:cTn>
                              </p:par>
                              <p:par>
                                <p:cTn id="13" presetID="9" presetClass="entr" presetSubtype="0" fill="hold" nodeType="withEffect">
                                  <p:stCondLst>
                                    <p:cond delay="0"/>
                                  </p:stCondLst>
                                  <p:childTnLst>
                                    <p:set>
                                      <p:cBhvr>
                                        <p:cTn id="14" dur="1" fill="hold">
                                          <p:stCondLst>
                                            <p:cond delay="0"/>
                                          </p:stCondLst>
                                        </p:cTn>
                                        <p:tgtEl>
                                          <p:spTgt spid="96"/>
                                        </p:tgtEl>
                                        <p:attrNameLst>
                                          <p:attrName>style.visibility</p:attrName>
                                        </p:attrNameLst>
                                      </p:cBhvr>
                                      <p:to>
                                        <p:strVal val="visible"/>
                                      </p:to>
                                    </p:set>
                                    <p:animEffect transition="in" filter="dissolve">
                                      <p:cBhvr>
                                        <p:cTn id="15" dur="500"/>
                                        <p:tgtEl>
                                          <p:spTgt spid="96"/>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499"/>
                                          </p:stCondLst>
                                        </p:cTn>
                                        <p:tgtEl>
                                          <p:spTgt spid="48"/>
                                        </p:tgtEl>
                                        <p:attrNameLst>
                                          <p:attrName>style.visibility</p:attrName>
                                        </p:attrNameLst>
                                      </p:cBhvr>
                                      <p:to>
                                        <p:strVal val="visible"/>
                                      </p:to>
                                    </p:set>
                                  </p:childTnLst>
                                </p:cTn>
                              </p:par>
                            </p:childTnLst>
                          </p:cTn>
                        </p:par>
                        <p:par>
                          <p:cTn id="20" fill="hold">
                            <p:stCondLst>
                              <p:cond delay="500"/>
                            </p:stCondLst>
                            <p:childTnLst>
                              <p:par>
                                <p:cTn id="21" presetID="9" presetClass="entr" presetSubtype="0" fill="hold" nodeType="afterEffect">
                                  <p:stCondLst>
                                    <p:cond delay="0"/>
                                  </p:stCondLst>
                                  <p:childTnLst>
                                    <p:set>
                                      <p:cBhvr>
                                        <p:cTn id="22" dur="1" fill="hold">
                                          <p:stCondLst>
                                            <p:cond delay="0"/>
                                          </p:stCondLst>
                                        </p:cTn>
                                        <p:tgtEl>
                                          <p:spTgt spid="49"/>
                                        </p:tgtEl>
                                        <p:attrNameLst>
                                          <p:attrName>style.visibility</p:attrName>
                                        </p:attrNameLst>
                                      </p:cBhvr>
                                      <p:to>
                                        <p:strVal val="visible"/>
                                      </p:to>
                                    </p:set>
                                    <p:animEffect transition="in" filter="dissolve">
                                      <p:cBhvr>
                                        <p:cTn id="23"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build="p" autoUpdateAnimBg="0"/>
      <p:bldP spid="47" grpId="0" autoUpdateAnimBg="0"/>
      <p:bldP spid="48" grpId="0" autoUpdateAnimBg="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197635"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AA929C7A-FE2E-4FB4-A900-68E905C82BD7}" type="slidenum">
              <a:rPr lang="en-US" altLang="en-US" sz="1200">
                <a:latin typeface="Tahoma" panose="020B0604030504040204" pitchFamily="34" charset="0"/>
              </a:rPr>
              <a:pPr>
                <a:lnSpc>
                  <a:spcPct val="100000"/>
                </a:lnSpc>
                <a:spcBef>
                  <a:spcPct val="0"/>
                </a:spcBef>
                <a:buClrTx/>
                <a:buSzTx/>
                <a:buFontTx/>
                <a:buNone/>
              </a:pPr>
              <a:t>115</a:t>
            </a:fld>
            <a:endParaRPr lang="en-US" altLang="en-US" sz="1200">
              <a:latin typeface="Tahoma" panose="020B0604030504040204" pitchFamily="34" charset="0"/>
            </a:endParaRPr>
          </a:p>
        </p:txBody>
      </p:sp>
      <p:pic>
        <p:nvPicPr>
          <p:cNvPr id="19763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95539" y="1147764"/>
            <a:ext cx="7400925" cy="456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637" name="TextBox 5"/>
          <p:cNvSpPr txBox="1">
            <a:spLocks noChangeArrowheads="1"/>
          </p:cNvSpPr>
          <p:nvPr/>
        </p:nvSpPr>
        <p:spPr bwMode="auto">
          <a:xfrm>
            <a:off x="2019300" y="684213"/>
            <a:ext cx="45720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i="1">
                <a:solidFill>
                  <a:srgbClr val="CC0000"/>
                </a:solidFill>
                <a:latin typeface="Arial" panose="020B0604020202020204" pitchFamily="34" charset="0"/>
              </a:rPr>
              <a:t>Denial of Service (DoS):</a:t>
            </a:r>
            <a:r>
              <a:rPr lang="en-US" altLang="en-US" sz="2400" b="1">
                <a:latin typeface="Arial" panose="020B0604020202020204" pitchFamily="34" charset="0"/>
              </a:rPr>
              <a:t> </a:t>
            </a:r>
            <a:endParaRPr lang="en-US" altLang="en-US" sz="2400">
              <a:latin typeface="Arial" panose="020B0604020202020204" pitchFamily="34" charset="0"/>
            </a:endParaRPr>
          </a:p>
        </p:txBody>
      </p:sp>
    </p:spTree>
    <p:extLst>
      <p:ext uri="{BB962C8B-B14F-4D97-AF65-F5344CB8AC3E}">
        <p14:creationId xmlns:p14="http://schemas.microsoft.com/office/powerpoint/2010/main" val="115273608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Bad </a:t>
            </a:r>
            <a:r>
              <a:rPr lang="en-US" altLang="en-US" dirty="0">
                <a:ea typeface="ＭＳ Ｐゴシック" panose="020B0600070205080204" pitchFamily="34" charset="-128"/>
              </a:rPr>
              <a:t>g</a:t>
            </a:r>
            <a:r>
              <a:rPr lang="en-US" altLang="en-US" sz="4400" dirty="0">
                <a:ea typeface="ＭＳ Ｐゴシック" panose="020B0600070205080204" pitchFamily="34" charset="-128"/>
              </a:rPr>
              <a:t>uys: packet </a:t>
            </a:r>
            <a:r>
              <a:rPr lang="en-US" altLang="en-US" dirty="0">
                <a:ea typeface="ＭＳ Ｐゴシック" panose="020B0600070205080204" pitchFamily="34" charset="-128"/>
              </a:rPr>
              <a:t>i</a:t>
            </a:r>
            <a:r>
              <a:rPr lang="en-US" altLang="en-US" sz="4400" dirty="0">
                <a:ea typeface="ＭＳ Ｐゴシック" panose="020B0600070205080204" pitchFamily="34" charset="-128"/>
              </a:rPr>
              <a:t>nterception</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116</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841312" y="1344535"/>
            <a:ext cx="10342830" cy="208446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200" i="1" dirty="0">
                <a:solidFill>
                  <a:srgbClr val="CC0000"/>
                </a:solidFill>
                <a:ea typeface="ＭＳ Ｐゴシック" panose="020B0600070205080204" pitchFamily="34" charset="-128"/>
              </a:rPr>
              <a:t>packet “</a:t>
            </a:r>
            <a:r>
              <a:rPr lang="en-US" altLang="ja-JP" sz="3200" i="1" dirty="0">
                <a:solidFill>
                  <a:srgbClr val="CC0000"/>
                </a:solidFill>
                <a:ea typeface="ＭＳ Ｐゴシック" panose="020B0600070205080204" pitchFamily="34" charset="-128"/>
              </a:rPr>
              <a:t>sniffing”:</a:t>
            </a:r>
            <a:r>
              <a:rPr lang="en-US" altLang="ja-JP" i="1" dirty="0">
                <a:solidFill>
                  <a:srgbClr val="FF0000"/>
                </a:solidFill>
                <a:ea typeface="ＭＳ Ｐゴシック" panose="020B0600070205080204" pitchFamily="34" charset="-128"/>
              </a:rPr>
              <a:t> </a:t>
            </a:r>
          </a:p>
          <a:p>
            <a:pPr lvl="1">
              <a:buFont typeface="Wingdings" pitchFamily="2" charset="2"/>
              <a:buChar char="§"/>
            </a:pPr>
            <a:r>
              <a:rPr lang="en-US" altLang="en-US" sz="2800" dirty="0">
                <a:ea typeface="Arial" panose="020B0604020202020204" pitchFamily="34" charset="0"/>
              </a:rPr>
              <a:t>broadcast media (shared Ethernet, wireless)</a:t>
            </a:r>
          </a:p>
          <a:p>
            <a:pPr lvl="1">
              <a:buFont typeface="Wingdings" pitchFamily="2" charset="2"/>
              <a:buChar char="§"/>
            </a:pPr>
            <a:r>
              <a:rPr lang="en-US" altLang="en-US" sz="2800" dirty="0">
                <a:ea typeface="Arial" panose="020B0604020202020204" pitchFamily="34" charset="0"/>
              </a:rPr>
              <a:t>promiscuous network interface reads/records all packets (e.g., including passwords!) passing by</a:t>
            </a:r>
          </a:p>
        </p:txBody>
      </p:sp>
      <p:grpSp>
        <p:nvGrpSpPr>
          <p:cNvPr id="5" name="Group 90">
            <a:extLst>
              <a:ext uri="{FF2B5EF4-FFF2-40B4-BE49-F238E27FC236}">
                <a16:creationId xmlns:a16="http://schemas.microsoft.com/office/drawing/2014/main" id="{4B8B6454-D739-8246-8FD0-D07116C10D15}"/>
              </a:ext>
            </a:extLst>
          </p:cNvPr>
          <p:cNvGrpSpPr>
            <a:grpSpLocks/>
          </p:cNvGrpSpPr>
          <p:nvPr/>
        </p:nvGrpSpPr>
        <p:grpSpPr bwMode="auto">
          <a:xfrm flipH="1">
            <a:off x="5864103" y="3398264"/>
            <a:ext cx="735012" cy="681037"/>
            <a:chOff x="-44" y="1473"/>
            <a:chExt cx="981" cy="1105"/>
          </a:xfrm>
        </p:grpSpPr>
        <p:pic>
          <p:nvPicPr>
            <p:cNvPr id="7" name="Picture 91" descr="desktop_computer_stylized_medium">
              <a:extLst>
                <a:ext uri="{FF2B5EF4-FFF2-40B4-BE49-F238E27FC236}">
                  <a16:creationId xmlns:a16="http://schemas.microsoft.com/office/drawing/2014/main" id="{9D5E2D1E-EE9F-104B-B66B-CCD25447B8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92">
              <a:extLst>
                <a:ext uri="{FF2B5EF4-FFF2-40B4-BE49-F238E27FC236}">
                  <a16:creationId xmlns:a16="http://schemas.microsoft.com/office/drawing/2014/main" id="{B5AF61F7-8621-F54F-BE21-3743A44AEC3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9" name="Freeform 43">
            <a:extLst>
              <a:ext uri="{FF2B5EF4-FFF2-40B4-BE49-F238E27FC236}">
                <a16:creationId xmlns:a16="http://schemas.microsoft.com/office/drawing/2014/main" id="{4DB7420B-BEB3-FA46-87C6-F4E3D7CFB690}"/>
              </a:ext>
            </a:extLst>
          </p:cNvPr>
          <p:cNvSpPr>
            <a:spLocks/>
          </p:cNvSpPr>
          <p:nvPr/>
        </p:nvSpPr>
        <p:spPr bwMode="auto">
          <a:xfrm>
            <a:off x="3359028" y="4133276"/>
            <a:ext cx="4587875" cy="728663"/>
          </a:xfrm>
          <a:custGeom>
            <a:avLst/>
            <a:gdLst>
              <a:gd name="T0" fmla="*/ 2147483647 w 2620"/>
              <a:gd name="T1" fmla="*/ 0 h 459"/>
              <a:gd name="T2" fmla="*/ 0 w 2620"/>
              <a:gd name="T3" fmla="*/ 2147483647 h 459"/>
              <a:gd name="T4" fmla="*/ 2147483647 w 2620"/>
              <a:gd name="T5" fmla="*/ 2147483647 h 459"/>
              <a:gd name="T6" fmla="*/ 2147483647 w 2620"/>
              <a:gd name="T7" fmla="*/ 2147483647 h 459"/>
              <a:gd name="T8" fmla="*/ 0 60000 65536"/>
              <a:gd name="T9" fmla="*/ 0 60000 65536"/>
              <a:gd name="T10" fmla="*/ 0 60000 65536"/>
              <a:gd name="T11" fmla="*/ 0 60000 65536"/>
              <a:gd name="T12" fmla="*/ 0 w 2620"/>
              <a:gd name="T13" fmla="*/ 0 h 459"/>
              <a:gd name="T14" fmla="*/ 2620 w 2620"/>
              <a:gd name="T15" fmla="*/ 459 h 459"/>
            </a:gdLst>
            <a:ahLst/>
            <a:cxnLst>
              <a:cxn ang="T8">
                <a:pos x="T0" y="T1"/>
              </a:cxn>
              <a:cxn ang="T9">
                <a:pos x="T2" y="T3"/>
              </a:cxn>
              <a:cxn ang="T10">
                <a:pos x="T4" y="T5"/>
              </a:cxn>
              <a:cxn ang="T11">
                <a:pos x="T6" y="T7"/>
              </a:cxn>
            </a:cxnLst>
            <a:rect l="T12" t="T13" r="T14" b="T15"/>
            <a:pathLst>
              <a:path w="2620" h="459">
                <a:moveTo>
                  <a:pt x="2" y="0"/>
                </a:moveTo>
                <a:lnTo>
                  <a:pt x="0" y="253"/>
                </a:lnTo>
                <a:lnTo>
                  <a:pt x="2620" y="253"/>
                </a:lnTo>
                <a:lnTo>
                  <a:pt x="2620" y="459"/>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 name="Freeform 44">
            <a:extLst>
              <a:ext uri="{FF2B5EF4-FFF2-40B4-BE49-F238E27FC236}">
                <a16:creationId xmlns:a16="http://schemas.microsoft.com/office/drawing/2014/main" id="{F85E0A6A-88C0-A24D-8518-8ED500586FDD}"/>
              </a:ext>
            </a:extLst>
          </p:cNvPr>
          <p:cNvSpPr>
            <a:spLocks/>
          </p:cNvSpPr>
          <p:nvPr/>
        </p:nvSpPr>
        <p:spPr bwMode="auto">
          <a:xfrm>
            <a:off x="6191128" y="4003101"/>
            <a:ext cx="4762" cy="522288"/>
          </a:xfrm>
          <a:custGeom>
            <a:avLst/>
            <a:gdLst>
              <a:gd name="T0" fmla="*/ 0 w 3"/>
              <a:gd name="T1" fmla="*/ 2147483647 h 329"/>
              <a:gd name="T2" fmla="*/ 2147483647 w 3"/>
              <a:gd name="T3" fmla="*/ 0 h 329"/>
              <a:gd name="T4" fmla="*/ 0 60000 65536"/>
              <a:gd name="T5" fmla="*/ 0 60000 65536"/>
              <a:gd name="T6" fmla="*/ 0 w 3"/>
              <a:gd name="T7" fmla="*/ 0 h 329"/>
              <a:gd name="T8" fmla="*/ 3 w 3"/>
              <a:gd name="T9" fmla="*/ 329 h 329"/>
            </a:gdLst>
            <a:ahLst/>
            <a:cxnLst>
              <a:cxn ang="T4">
                <a:pos x="T0" y="T1"/>
              </a:cxn>
              <a:cxn ang="T5">
                <a:pos x="T2" y="T3"/>
              </a:cxn>
            </a:cxnLst>
            <a:rect l="T6" t="T7" r="T8" b="T9"/>
            <a:pathLst>
              <a:path w="3" h="329">
                <a:moveTo>
                  <a:pt x="0" y="329"/>
                </a:moveTo>
                <a:lnTo>
                  <a:pt x="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 name="Line 45">
            <a:extLst>
              <a:ext uri="{FF2B5EF4-FFF2-40B4-BE49-F238E27FC236}">
                <a16:creationId xmlns:a16="http://schemas.microsoft.com/office/drawing/2014/main" id="{2ADBE0C5-B956-4149-BAB8-22ED6ADCCDCF}"/>
              </a:ext>
            </a:extLst>
          </p:cNvPr>
          <p:cNvSpPr>
            <a:spLocks noChangeShapeType="1"/>
          </p:cNvSpPr>
          <p:nvPr/>
        </p:nvSpPr>
        <p:spPr bwMode="auto">
          <a:xfrm flipV="1">
            <a:off x="4533778" y="4525389"/>
            <a:ext cx="0" cy="374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 name="Line 46">
            <a:extLst>
              <a:ext uri="{FF2B5EF4-FFF2-40B4-BE49-F238E27FC236}">
                <a16:creationId xmlns:a16="http://schemas.microsoft.com/office/drawing/2014/main" id="{90C68912-5E92-7540-BFA2-DF07C51EFD30}"/>
              </a:ext>
            </a:extLst>
          </p:cNvPr>
          <p:cNvSpPr>
            <a:spLocks noChangeShapeType="1"/>
          </p:cNvSpPr>
          <p:nvPr/>
        </p:nvSpPr>
        <p:spPr bwMode="auto">
          <a:xfrm flipV="1">
            <a:off x="4552828" y="5236589"/>
            <a:ext cx="0" cy="2413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 name="Text Box 47">
            <a:extLst>
              <a:ext uri="{FF2B5EF4-FFF2-40B4-BE49-F238E27FC236}">
                <a16:creationId xmlns:a16="http://schemas.microsoft.com/office/drawing/2014/main" id="{AEB79674-18BD-3B41-8E45-BBD3D9EBF39F}"/>
              </a:ext>
            </a:extLst>
          </p:cNvPr>
          <p:cNvSpPr txBox="1">
            <a:spLocks noChangeArrowheads="1"/>
          </p:cNvSpPr>
          <p:nvPr/>
        </p:nvSpPr>
        <p:spPr bwMode="auto">
          <a:xfrm>
            <a:off x="2816103" y="3422076"/>
            <a:ext cx="387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a:t>A</a:t>
            </a:r>
          </a:p>
        </p:txBody>
      </p:sp>
      <p:sp>
        <p:nvSpPr>
          <p:cNvPr id="14" name="Text Box 48">
            <a:extLst>
              <a:ext uri="{FF2B5EF4-FFF2-40B4-BE49-F238E27FC236}">
                <a16:creationId xmlns:a16="http://schemas.microsoft.com/office/drawing/2014/main" id="{9F0C9BB1-EE53-294F-B9A4-6D29AB021CF3}"/>
              </a:ext>
            </a:extLst>
          </p:cNvPr>
          <p:cNvSpPr txBox="1">
            <a:spLocks noChangeArrowheads="1"/>
          </p:cNvSpPr>
          <p:nvPr/>
        </p:nvSpPr>
        <p:spPr bwMode="auto">
          <a:xfrm>
            <a:off x="8285040" y="4885751"/>
            <a:ext cx="388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a:t>B</a:t>
            </a:r>
          </a:p>
        </p:txBody>
      </p:sp>
      <p:sp>
        <p:nvSpPr>
          <p:cNvPr id="15" name="Text Box 49">
            <a:extLst>
              <a:ext uri="{FF2B5EF4-FFF2-40B4-BE49-F238E27FC236}">
                <a16:creationId xmlns:a16="http://schemas.microsoft.com/office/drawing/2014/main" id="{84BD4A5A-ABEB-8E46-B54B-76C3BE0FDF12}"/>
              </a:ext>
            </a:extLst>
          </p:cNvPr>
          <p:cNvSpPr txBox="1">
            <a:spLocks noChangeArrowheads="1"/>
          </p:cNvSpPr>
          <p:nvPr/>
        </p:nvSpPr>
        <p:spPr bwMode="auto">
          <a:xfrm>
            <a:off x="6383215" y="3399851"/>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a:t>C</a:t>
            </a:r>
          </a:p>
        </p:txBody>
      </p:sp>
      <p:grpSp>
        <p:nvGrpSpPr>
          <p:cNvPr id="4" name="Group 3">
            <a:extLst>
              <a:ext uri="{FF2B5EF4-FFF2-40B4-BE49-F238E27FC236}">
                <a16:creationId xmlns:a16="http://schemas.microsoft.com/office/drawing/2014/main" id="{A66D72FA-76CB-8443-8D46-D1C4AD6D2B36}"/>
              </a:ext>
            </a:extLst>
          </p:cNvPr>
          <p:cNvGrpSpPr/>
          <p:nvPr/>
        </p:nvGrpSpPr>
        <p:grpSpPr>
          <a:xfrm>
            <a:off x="5156078" y="4004689"/>
            <a:ext cx="2635250" cy="984250"/>
            <a:chOff x="5156078" y="4004689"/>
            <a:chExt cx="2635250" cy="984250"/>
          </a:xfrm>
        </p:grpSpPr>
        <p:grpSp>
          <p:nvGrpSpPr>
            <p:cNvPr id="16" name="Group 50">
              <a:extLst>
                <a:ext uri="{FF2B5EF4-FFF2-40B4-BE49-F238E27FC236}">
                  <a16:creationId xmlns:a16="http://schemas.microsoft.com/office/drawing/2014/main" id="{3A21CC14-2FFD-1443-8AD6-ED95C8906A8D}"/>
                </a:ext>
              </a:extLst>
            </p:cNvPr>
            <p:cNvGrpSpPr>
              <a:grpSpLocks/>
            </p:cNvGrpSpPr>
            <p:nvPr/>
          </p:nvGrpSpPr>
          <p:grpSpPr bwMode="auto">
            <a:xfrm>
              <a:off x="5187828" y="4652389"/>
              <a:ext cx="2295525" cy="336550"/>
              <a:chOff x="2418" y="3342"/>
              <a:chExt cx="1446" cy="212"/>
            </a:xfrm>
          </p:grpSpPr>
          <p:sp>
            <p:nvSpPr>
              <p:cNvPr id="18" name="Rectangle 51">
                <a:extLst>
                  <a:ext uri="{FF2B5EF4-FFF2-40B4-BE49-F238E27FC236}">
                    <a16:creationId xmlns:a16="http://schemas.microsoft.com/office/drawing/2014/main" id="{FFA22DC9-8002-804E-BEF5-0AD6BF292378}"/>
                  </a:ext>
                </a:extLst>
              </p:cNvPr>
              <p:cNvSpPr>
                <a:spLocks noChangeArrowheads="1"/>
              </p:cNvSpPr>
              <p:nvPr/>
            </p:nvSpPr>
            <p:spPr bwMode="auto">
              <a:xfrm>
                <a:off x="2463" y="3366"/>
                <a:ext cx="1356" cy="174"/>
              </a:xfrm>
              <a:prstGeom prst="rect">
                <a:avLst/>
              </a:prstGeom>
              <a:solidFill>
                <a:srgbClr val="FFFF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19" name="Line 52">
                <a:extLst>
                  <a:ext uri="{FF2B5EF4-FFF2-40B4-BE49-F238E27FC236}">
                    <a16:creationId xmlns:a16="http://schemas.microsoft.com/office/drawing/2014/main" id="{C5FFC7EF-F96B-754E-966C-1FA050A778E5}"/>
                  </a:ext>
                </a:extLst>
              </p:cNvPr>
              <p:cNvSpPr>
                <a:spLocks noChangeShapeType="1"/>
              </p:cNvSpPr>
              <p:nvPr/>
            </p:nvSpPr>
            <p:spPr bwMode="auto">
              <a:xfrm>
                <a:off x="2784" y="3372"/>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53">
                <a:extLst>
                  <a:ext uri="{FF2B5EF4-FFF2-40B4-BE49-F238E27FC236}">
                    <a16:creationId xmlns:a16="http://schemas.microsoft.com/office/drawing/2014/main" id="{A20E5390-7423-1C4D-BCD6-93295C9263D9}"/>
                  </a:ext>
                </a:extLst>
              </p:cNvPr>
              <p:cNvSpPr>
                <a:spLocks noChangeShapeType="1"/>
              </p:cNvSpPr>
              <p:nvPr/>
            </p:nvSpPr>
            <p:spPr bwMode="auto">
              <a:xfrm>
                <a:off x="3186"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1" name="Line 54">
                <a:extLst>
                  <a:ext uri="{FF2B5EF4-FFF2-40B4-BE49-F238E27FC236}">
                    <a16:creationId xmlns:a16="http://schemas.microsoft.com/office/drawing/2014/main" id="{34698107-E0D4-2D40-8BD4-A07EF85A1EA6}"/>
                  </a:ext>
                </a:extLst>
              </p:cNvPr>
              <p:cNvSpPr>
                <a:spLocks noChangeShapeType="1"/>
              </p:cNvSpPr>
              <p:nvPr/>
            </p:nvSpPr>
            <p:spPr bwMode="auto">
              <a:xfrm>
                <a:off x="3321"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2" name="Text Box 55">
                <a:extLst>
                  <a:ext uri="{FF2B5EF4-FFF2-40B4-BE49-F238E27FC236}">
                    <a16:creationId xmlns:a16="http://schemas.microsoft.com/office/drawing/2014/main" id="{3034D655-D1DA-884B-85A3-B43DDCA03B60}"/>
                  </a:ext>
                </a:extLst>
              </p:cNvPr>
              <p:cNvSpPr txBox="1">
                <a:spLocks noChangeArrowheads="1"/>
              </p:cNvSpPr>
              <p:nvPr/>
            </p:nvSpPr>
            <p:spPr bwMode="auto">
              <a:xfrm>
                <a:off x="2418" y="3342"/>
                <a:ext cx="144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600"/>
                  <a:t>src:B dest:A     payload</a:t>
                </a:r>
                <a:endParaRPr lang="en-US" altLang="en-US" sz="1600">
                  <a:latin typeface="Times New Roman" panose="02020603050405020304" pitchFamily="18" charset="0"/>
                </a:endParaRPr>
              </a:p>
            </p:txBody>
          </p:sp>
        </p:grpSp>
        <p:sp>
          <p:nvSpPr>
            <p:cNvPr id="23" name="Freeform 56">
              <a:extLst>
                <a:ext uri="{FF2B5EF4-FFF2-40B4-BE49-F238E27FC236}">
                  <a16:creationId xmlns:a16="http://schemas.microsoft.com/office/drawing/2014/main" id="{BCF74F8F-5676-9347-82B3-E439D97B31C8}"/>
                </a:ext>
              </a:extLst>
            </p:cNvPr>
            <p:cNvSpPr>
              <a:spLocks/>
            </p:cNvSpPr>
            <p:nvPr/>
          </p:nvSpPr>
          <p:spPr bwMode="auto">
            <a:xfrm>
              <a:off x="5156078" y="4607939"/>
              <a:ext cx="2635250" cy="241300"/>
            </a:xfrm>
            <a:custGeom>
              <a:avLst/>
              <a:gdLst>
                <a:gd name="T0" fmla="*/ 2147483647 w 1660"/>
                <a:gd name="T1" fmla="*/ 2147483647 h 152"/>
                <a:gd name="T2" fmla="*/ 2147483647 w 1660"/>
                <a:gd name="T3" fmla="*/ 0 h 152"/>
                <a:gd name="T4" fmla="*/ 0 w 1660"/>
                <a:gd name="T5" fmla="*/ 2147483647 h 152"/>
                <a:gd name="T6" fmla="*/ 0 60000 65536"/>
                <a:gd name="T7" fmla="*/ 0 60000 65536"/>
                <a:gd name="T8" fmla="*/ 0 60000 65536"/>
                <a:gd name="T9" fmla="*/ 0 w 1660"/>
                <a:gd name="T10" fmla="*/ 0 h 152"/>
                <a:gd name="T11" fmla="*/ 1660 w 1660"/>
                <a:gd name="T12" fmla="*/ 152 h 152"/>
              </a:gdLst>
              <a:ahLst/>
              <a:cxnLst>
                <a:cxn ang="T6">
                  <a:pos x="T0" y="T1"/>
                </a:cxn>
                <a:cxn ang="T7">
                  <a:pos x="T2" y="T3"/>
                </a:cxn>
                <a:cxn ang="T8">
                  <a:pos x="T4" y="T5"/>
                </a:cxn>
              </a:cxnLst>
              <a:rect l="T9" t="T10" r="T11" b="T12"/>
              <a:pathLst>
                <a:path w="1660" h="152">
                  <a:moveTo>
                    <a:pt x="1660" y="152"/>
                  </a:moveTo>
                  <a:lnTo>
                    <a:pt x="1660" y="0"/>
                  </a:lnTo>
                  <a:lnTo>
                    <a:pt x="0" y="4"/>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 name="Line 57">
              <a:extLst>
                <a:ext uri="{FF2B5EF4-FFF2-40B4-BE49-F238E27FC236}">
                  <a16:creationId xmlns:a16="http://schemas.microsoft.com/office/drawing/2014/main" id="{218F3DFE-62E8-1C42-A997-A96153618A69}"/>
                </a:ext>
              </a:extLst>
            </p:cNvPr>
            <p:cNvSpPr>
              <a:spLocks noChangeShapeType="1"/>
            </p:cNvSpPr>
            <p:nvPr/>
          </p:nvSpPr>
          <p:spPr bwMode="auto">
            <a:xfrm flipV="1">
              <a:off x="6299078" y="4004689"/>
              <a:ext cx="0" cy="6032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pic>
        <p:nvPicPr>
          <p:cNvPr id="26" name="Picture 60">
            <a:extLst>
              <a:ext uri="{FF2B5EF4-FFF2-40B4-BE49-F238E27FC236}">
                <a16:creationId xmlns:a16="http://schemas.microsoft.com/office/drawing/2014/main" id="{6C78CF69-C5D1-1042-99DC-4222EA4DC7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1090" y="3466526"/>
            <a:ext cx="471488" cy="44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grpSp>
        <p:nvGrpSpPr>
          <p:cNvPr id="27" name="Group 54">
            <a:extLst>
              <a:ext uri="{FF2B5EF4-FFF2-40B4-BE49-F238E27FC236}">
                <a16:creationId xmlns:a16="http://schemas.microsoft.com/office/drawing/2014/main" id="{E8873988-DB10-FE45-8043-BCFCC564ED65}"/>
              </a:ext>
            </a:extLst>
          </p:cNvPr>
          <p:cNvGrpSpPr>
            <a:grpSpLocks/>
          </p:cNvGrpSpPr>
          <p:nvPr/>
        </p:nvGrpSpPr>
        <p:grpSpPr bwMode="auto">
          <a:xfrm>
            <a:off x="3184403" y="3460176"/>
            <a:ext cx="365125" cy="712788"/>
            <a:chOff x="4140" y="429"/>
            <a:chExt cx="1425" cy="2396"/>
          </a:xfrm>
        </p:grpSpPr>
        <p:sp>
          <p:nvSpPr>
            <p:cNvPr id="28" name="Freeform 55">
              <a:extLst>
                <a:ext uri="{FF2B5EF4-FFF2-40B4-BE49-F238E27FC236}">
                  <a16:creationId xmlns:a16="http://schemas.microsoft.com/office/drawing/2014/main" id="{7E4CC2E0-3222-BE42-A828-FF50B8CF87E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Rectangle 56">
              <a:extLst>
                <a:ext uri="{FF2B5EF4-FFF2-40B4-BE49-F238E27FC236}">
                  <a16:creationId xmlns:a16="http://schemas.microsoft.com/office/drawing/2014/main" id="{A3A95F5A-927B-8844-AEEA-2C83A43D854F}"/>
                </a:ext>
              </a:extLst>
            </p:cNvPr>
            <p:cNvSpPr>
              <a:spLocks noChangeArrowheads="1"/>
            </p:cNvSpPr>
            <p:nvPr/>
          </p:nvSpPr>
          <p:spPr bwMode="auto">
            <a:xfrm>
              <a:off x="4208" y="429"/>
              <a:ext cx="1047"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0" name="Freeform 57">
              <a:extLst>
                <a:ext uri="{FF2B5EF4-FFF2-40B4-BE49-F238E27FC236}">
                  <a16:creationId xmlns:a16="http://schemas.microsoft.com/office/drawing/2014/main" id="{0069D4B1-B450-FA40-8C0C-BF8FC124F2B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58">
              <a:extLst>
                <a:ext uri="{FF2B5EF4-FFF2-40B4-BE49-F238E27FC236}">
                  <a16:creationId xmlns:a16="http://schemas.microsoft.com/office/drawing/2014/main" id="{614429B8-C719-8644-AE6D-47F8C907AA5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Rectangle 59">
              <a:extLst>
                <a:ext uri="{FF2B5EF4-FFF2-40B4-BE49-F238E27FC236}">
                  <a16:creationId xmlns:a16="http://schemas.microsoft.com/office/drawing/2014/main" id="{2DD880A9-2F05-6141-8481-7222FC289B80}"/>
                </a:ext>
              </a:extLst>
            </p:cNvPr>
            <p:cNvSpPr>
              <a:spLocks noChangeArrowheads="1"/>
            </p:cNvSpPr>
            <p:nvPr/>
          </p:nvSpPr>
          <p:spPr bwMode="auto">
            <a:xfrm>
              <a:off x="4214" y="690"/>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33" name="Group 60">
              <a:extLst>
                <a:ext uri="{FF2B5EF4-FFF2-40B4-BE49-F238E27FC236}">
                  <a16:creationId xmlns:a16="http://schemas.microsoft.com/office/drawing/2014/main" id="{719DB695-149D-A94C-90AB-A2D368B8EE68}"/>
                </a:ext>
              </a:extLst>
            </p:cNvPr>
            <p:cNvGrpSpPr>
              <a:grpSpLocks/>
            </p:cNvGrpSpPr>
            <p:nvPr/>
          </p:nvGrpSpPr>
          <p:grpSpPr bwMode="auto">
            <a:xfrm>
              <a:off x="4749" y="668"/>
              <a:ext cx="581" cy="145"/>
              <a:chOff x="614" y="2568"/>
              <a:chExt cx="725" cy="139"/>
            </a:xfrm>
          </p:grpSpPr>
          <p:sp>
            <p:nvSpPr>
              <p:cNvPr id="58" name="AutoShape 61">
                <a:extLst>
                  <a:ext uri="{FF2B5EF4-FFF2-40B4-BE49-F238E27FC236}">
                    <a16:creationId xmlns:a16="http://schemas.microsoft.com/office/drawing/2014/main" id="{7A4E2E24-3B0D-AF4F-A52C-2C357CC7EFC4}"/>
                  </a:ext>
                </a:extLst>
              </p:cNvPr>
              <p:cNvSpPr>
                <a:spLocks noChangeArrowheads="1"/>
              </p:cNvSpPr>
              <p:nvPr/>
            </p:nvSpPr>
            <p:spPr bwMode="auto">
              <a:xfrm>
                <a:off x="612"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9" name="AutoShape 62">
                <a:extLst>
                  <a:ext uri="{FF2B5EF4-FFF2-40B4-BE49-F238E27FC236}">
                    <a16:creationId xmlns:a16="http://schemas.microsoft.com/office/drawing/2014/main" id="{C6BB5F22-0BFB-674E-AB61-C51BC265F868}"/>
                  </a:ext>
                </a:extLst>
              </p:cNvPr>
              <p:cNvSpPr>
                <a:spLocks noChangeArrowheads="1"/>
              </p:cNvSpPr>
              <p:nvPr/>
            </p:nvSpPr>
            <p:spPr bwMode="auto">
              <a:xfrm>
                <a:off x="627" y="2584"/>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34" name="Rectangle 63">
              <a:extLst>
                <a:ext uri="{FF2B5EF4-FFF2-40B4-BE49-F238E27FC236}">
                  <a16:creationId xmlns:a16="http://schemas.microsoft.com/office/drawing/2014/main" id="{9C5A4256-A53F-874E-BFA1-39FC396FF929}"/>
                </a:ext>
              </a:extLst>
            </p:cNvPr>
            <p:cNvSpPr>
              <a:spLocks noChangeArrowheads="1"/>
            </p:cNvSpPr>
            <p:nvPr/>
          </p:nvSpPr>
          <p:spPr bwMode="auto">
            <a:xfrm>
              <a:off x="4227" y="1021"/>
              <a:ext cx="595" cy="43"/>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35" name="Group 64">
              <a:extLst>
                <a:ext uri="{FF2B5EF4-FFF2-40B4-BE49-F238E27FC236}">
                  <a16:creationId xmlns:a16="http://schemas.microsoft.com/office/drawing/2014/main" id="{0E311E6A-3E40-F74F-B8AF-09D1E252AD39}"/>
                </a:ext>
              </a:extLst>
            </p:cNvPr>
            <p:cNvGrpSpPr>
              <a:grpSpLocks/>
            </p:cNvGrpSpPr>
            <p:nvPr/>
          </p:nvGrpSpPr>
          <p:grpSpPr bwMode="auto">
            <a:xfrm>
              <a:off x="4747" y="994"/>
              <a:ext cx="581" cy="134"/>
              <a:chOff x="614" y="2568"/>
              <a:chExt cx="725" cy="139"/>
            </a:xfrm>
          </p:grpSpPr>
          <p:sp>
            <p:nvSpPr>
              <p:cNvPr id="56" name="AutoShape 65">
                <a:extLst>
                  <a:ext uri="{FF2B5EF4-FFF2-40B4-BE49-F238E27FC236}">
                    <a16:creationId xmlns:a16="http://schemas.microsoft.com/office/drawing/2014/main" id="{1D179FF3-E8BF-8947-9AAD-E6B38311CAD5}"/>
                  </a:ext>
                </a:extLst>
              </p:cNvPr>
              <p:cNvSpPr>
                <a:spLocks noChangeArrowheads="1"/>
              </p:cNvSpPr>
              <p:nvPr/>
            </p:nvSpPr>
            <p:spPr bwMode="auto">
              <a:xfrm>
                <a:off x="614"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7" name="AutoShape 66">
                <a:extLst>
                  <a:ext uri="{FF2B5EF4-FFF2-40B4-BE49-F238E27FC236}">
                    <a16:creationId xmlns:a16="http://schemas.microsoft.com/office/drawing/2014/main" id="{C3E96FCC-760E-C448-981B-346F9384B814}"/>
                  </a:ext>
                </a:extLst>
              </p:cNvPr>
              <p:cNvSpPr>
                <a:spLocks noChangeArrowheads="1"/>
              </p:cNvSpPr>
              <p:nvPr/>
            </p:nvSpPr>
            <p:spPr bwMode="auto">
              <a:xfrm>
                <a:off x="630" y="2585"/>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36" name="Rectangle 67">
              <a:extLst>
                <a:ext uri="{FF2B5EF4-FFF2-40B4-BE49-F238E27FC236}">
                  <a16:creationId xmlns:a16="http://schemas.microsoft.com/office/drawing/2014/main" id="{48149864-6DD7-D34A-BFF0-68E14067A88A}"/>
                </a:ext>
              </a:extLst>
            </p:cNvPr>
            <p:cNvSpPr>
              <a:spLocks noChangeArrowheads="1"/>
            </p:cNvSpPr>
            <p:nvPr/>
          </p:nvSpPr>
          <p:spPr bwMode="auto">
            <a:xfrm>
              <a:off x="4214" y="1358"/>
              <a:ext cx="601"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7" name="Rectangle 68">
              <a:extLst>
                <a:ext uri="{FF2B5EF4-FFF2-40B4-BE49-F238E27FC236}">
                  <a16:creationId xmlns:a16="http://schemas.microsoft.com/office/drawing/2014/main" id="{05CA4BF4-1ECD-CA4F-8A7A-7B9330DA5454}"/>
                </a:ext>
              </a:extLst>
            </p:cNvPr>
            <p:cNvSpPr>
              <a:spLocks noChangeArrowheads="1"/>
            </p:cNvSpPr>
            <p:nvPr/>
          </p:nvSpPr>
          <p:spPr bwMode="auto">
            <a:xfrm>
              <a:off x="4227" y="1656"/>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38" name="Group 69">
              <a:extLst>
                <a:ext uri="{FF2B5EF4-FFF2-40B4-BE49-F238E27FC236}">
                  <a16:creationId xmlns:a16="http://schemas.microsoft.com/office/drawing/2014/main" id="{F3E39B02-1298-0743-931E-B785BC775AB9}"/>
                </a:ext>
              </a:extLst>
            </p:cNvPr>
            <p:cNvGrpSpPr>
              <a:grpSpLocks/>
            </p:cNvGrpSpPr>
            <p:nvPr/>
          </p:nvGrpSpPr>
          <p:grpSpPr bwMode="auto">
            <a:xfrm>
              <a:off x="4735" y="1627"/>
              <a:ext cx="582" cy="151"/>
              <a:chOff x="614" y="2568"/>
              <a:chExt cx="725" cy="139"/>
            </a:xfrm>
          </p:grpSpPr>
          <p:sp>
            <p:nvSpPr>
              <p:cNvPr id="54" name="AutoShape 70">
                <a:extLst>
                  <a:ext uri="{FF2B5EF4-FFF2-40B4-BE49-F238E27FC236}">
                    <a16:creationId xmlns:a16="http://schemas.microsoft.com/office/drawing/2014/main" id="{F3EE4642-5A67-5747-9173-A2328DFB0CE3}"/>
                  </a:ext>
                </a:extLst>
              </p:cNvPr>
              <p:cNvSpPr>
                <a:spLocks noChangeArrowheads="1"/>
              </p:cNvSpPr>
              <p:nvPr/>
            </p:nvSpPr>
            <p:spPr bwMode="auto">
              <a:xfrm>
                <a:off x="614" y="2570"/>
                <a:ext cx="725"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5" name="AutoShape 71">
                <a:extLst>
                  <a:ext uri="{FF2B5EF4-FFF2-40B4-BE49-F238E27FC236}">
                    <a16:creationId xmlns:a16="http://schemas.microsoft.com/office/drawing/2014/main" id="{5229E8D7-0E29-214E-AA57-AFE2A59BD2B9}"/>
                  </a:ext>
                </a:extLst>
              </p:cNvPr>
              <p:cNvSpPr>
                <a:spLocks noChangeArrowheads="1"/>
              </p:cNvSpPr>
              <p:nvPr/>
            </p:nvSpPr>
            <p:spPr bwMode="auto">
              <a:xfrm>
                <a:off x="629" y="2585"/>
                <a:ext cx="69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39" name="Freeform 72">
              <a:extLst>
                <a:ext uri="{FF2B5EF4-FFF2-40B4-BE49-F238E27FC236}">
                  <a16:creationId xmlns:a16="http://schemas.microsoft.com/office/drawing/2014/main" id="{D90341F2-014E-B14A-B581-851392F933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0" name="Group 73">
              <a:extLst>
                <a:ext uri="{FF2B5EF4-FFF2-40B4-BE49-F238E27FC236}">
                  <a16:creationId xmlns:a16="http://schemas.microsoft.com/office/drawing/2014/main" id="{280B6B26-F269-5C4C-8C19-DBA764C6CDAC}"/>
                </a:ext>
              </a:extLst>
            </p:cNvPr>
            <p:cNvGrpSpPr>
              <a:grpSpLocks/>
            </p:cNvGrpSpPr>
            <p:nvPr/>
          </p:nvGrpSpPr>
          <p:grpSpPr bwMode="auto">
            <a:xfrm>
              <a:off x="4739" y="1327"/>
              <a:ext cx="582" cy="139"/>
              <a:chOff x="614" y="2568"/>
              <a:chExt cx="725" cy="139"/>
            </a:xfrm>
          </p:grpSpPr>
          <p:sp>
            <p:nvSpPr>
              <p:cNvPr id="52" name="AutoShape 74">
                <a:extLst>
                  <a:ext uri="{FF2B5EF4-FFF2-40B4-BE49-F238E27FC236}">
                    <a16:creationId xmlns:a16="http://schemas.microsoft.com/office/drawing/2014/main" id="{6DB26256-77EF-F140-B0E4-C02F57D54B4F}"/>
                  </a:ext>
                </a:extLst>
              </p:cNvPr>
              <p:cNvSpPr>
                <a:spLocks noChangeArrowheads="1"/>
              </p:cNvSpPr>
              <p:nvPr/>
            </p:nvSpPr>
            <p:spPr bwMode="auto">
              <a:xfrm>
                <a:off x="616" y="256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3" name="AutoShape 75">
                <a:extLst>
                  <a:ext uri="{FF2B5EF4-FFF2-40B4-BE49-F238E27FC236}">
                    <a16:creationId xmlns:a16="http://schemas.microsoft.com/office/drawing/2014/main" id="{EFE076B6-538F-1744-AEFF-42E849FD61D4}"/>
                  </a:ext>
                </a:extLst>
              </p:cNvPr>
              <p:cNvSpPr>
                <a:spLocks noChangeArrowheads="1"/>
              </p:cNvSpPr>
              <p:nvPr/>
            </p:nvSpPr>
            <p:spPr bwMode="auto">
              <a:xfrm>
                <a:off x="632" y="2583"/>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41" name="Rectangle 76">
              <a:extLst>
                <a:ext uri="{FF2B5EF4-FFF2-40B4-BE49-F238E27FC236}">
                  <a16:creationId xmlns:a16="http://schemas.microsoft.com/office/drawing/2014/main" id="{022EA956-CFF7-F444-96E1-83E34982538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2" name="Freeform 77">
              <a:extLst>
                <a:ext uri="{FF2B5EF4-FFF2-40B4-BE49-F238E27FC236}">
                  <a16:creationId xmlns:a16="http://schemas.microsoft.com/office/drawing/2014/main" id="{8B0DE4B6-8814-1E46-82AC-7B6D087A2D0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78">
              <a:extLst>
                <a:ext uri="{FF2B5EF4-FFF2-40B4-BE49-F238E27FC236}">
                  <a16:creationId xmlns:a16="http://schemas.microsoft.com/office/drawing/2014/main" id="{A9CF5A83-FC5F-8D4B-B779-B41007025F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Oval 79">
              <a:extLst>
                <a:ext uri="{FF2B5EF4-FFF2-40B4-BE49-F238E27FC236}">
                  <a16:creationId xmlns:a16="http://schemas.microsoft.com/office/drawing/2014/main" id="{FDB262EF-72BC-F740-9B4D-1FFE5D070B56}"/>
                </a:ext>
              </a:extLst>
            </p:cNvPr>
            <p:cNvSpPr>
              <a:spLocks noChangeArrowheads="1"/>
            </p:cNvSpPr>
            <p:nvPr/>
          </p:nvSpPr>
          <p:spPr bwMode="auto">
            <a:xfrm>
              <a:off x="5515" y="2612"/>
              <a:ext cx="50"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5" name="Freeform 80">
              <a:extLst>
                <a:ext uri="{FF2B5EF4-FFF2-40B4-BE49-F238E27FC236}">
                  <a16:creationId xmlns:a16="http://schemas.microsoft.com/office/drawing/2014/main" id="{20A2BDF1-5362-9947-B37C-44E590138C3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AutoShape 81">
              <a:extLst>
                <a:ext uri="{FF2B5EF4-FFF2-40B4-BE49-F238E27FC236}">
                  <a16:creationId xmlns:a16="http://schemas.microsoft.com/office/drawing/2014/main" id="{BAC73710-D3B8-8C49-97AA-648DC14CD98E}"/>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7" name="AutoShape 82">
              <a:extLst>
                <a:ext uri="{FF2B5EF4-FFF2-40B4-BE49-F238E27FC236}">
                  <a16:creationId xmlns:a16="http://schemas.microsoft.com/office/drawing/2014/main" id="{1AA6B3D5-8E2F-C340-A675-9DC59E4B0F54}"/>
                </a:ext>
              </a:extLst>
            </p:cNvPr>
            <p:cNvSpPr>
              <a:spLocks noChangeArrowheads="1"/>
            </p:cNvSpPr>
            <p:nvPr/>
          </p:nvSpPr>
          <p:spPr bwMode="auto">
            <a:xfrm>
              <a:off x="4208" y="2713"/>
              <a:ext cx="1066"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8" name="Oval 83">
              <a:extLst>
                <a:ext uri="{FF2B5EF4-FFF2-40B4-BE49-F238E27FC236}">
                  <a16:creationId xmlns:a16="http://schemas.microsoft.com/office/drawing/2014/main" id="{A39BEF0A-EE8E-7248-A007-97D328CCA256}"/>
                </a:ext>
              </a:extLst>
            </p:cNvPr>
            <p:cNvSpPr>
              <a:spLocks noChangeArrowheads="1"/>
            </p:cNvSpPr>
            <p:nvPr/>
          </p:nvSpPr>
          <p:spPr bwMode="auto">
            <a:xfrm>
              <a:off x="4307" y="2382"/>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9" name="Oval 84">
              <a:extLst>
                <a:ext uri="{FF2B5EF4-FFF2-40B4-BE49-F238E27FC236}">
                  <a16:creationId xmlns:a16="http://schemas.microsoft.com/office/drawing/2014/main" id="{27EEB08E-8DAC-7647-9E5A-B37F47E930AE}"/>
                </a:ext>
              </a:extLst>
            </p:cNvPr>
            <p:cNvSpPr>
              <a:spLocks noChangeArrowheads="1"/>
            </p:cNvSpPr>
            <p:nvPr/>
          </p:nvSpPr>
          <p:spPr bwMode="auto">
            <a:xfrm>
              <a:off x="4487" y="2382"/>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0000"/>
                </a:solidFill>
              </a:endParaRPr>
            </a:p>
          </p:txBody>
        </p:sp>
        <p:sp>
          <p:nvSpPr>
            <p:cNvPr id="50" name="Oval 85">
              <a:extLst>
                <a:ext uri="{FF2B5EF4-FFF2-40B4-BE49-F238E27FC236}">
                  <a16:creationId xmlns:a16="http://schemas.microsoft.com/office/drawing/2014/main" id="{7165A7B4-85F9-2640-A0EE-2335D6B55D69}"/>
                </a:ext>
              </a:extLst>
            </p:cNvPr>
            <p:cNvSpPr>
              <a:spLocks noChangeArrowheads="1"/>
            </p:cNvSpPr>
            <p:nvPr/>
          </p:nvSpPr>
          <p:spPr bwMode="auto">
            <a:xfrm>
              <a:off x="4660" y="2382"/>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1" name="Rectangle 86">
              <a:extLst>
                <a:ext uri="{FF2B5EF4-FFF2-40B4-BE49-F238E27FC236}">
                  <a16:creationId xmlns:a16="http://schemas.microsoft.com/office/drawing/2014/main" id="{C2E9996D-163B-D745-A6A8-45AB41D5ED6A}"/>
                </a:ext>
              </a:extLst>
            </p:cNvPr>
            <p:cNvSpPr>
              <a:spLocks noChangeArrowheads="1"/>
            </p:cNvSpPr>
            <p:nvPr/>
          </p:nvSpPr>
          <p:spPr bwMode="auto">
            <a:xfrm>
              <a:off x="5063" y="1832"/>
              <a:ext cx="87" cy="763"/>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grpSp>
        <p:nvGrpSpPr>
          <p:cNvPr id="60" name="Group 87">
            <a:extLst>
              <a:ext uri="{FF2B5EF4-FFF2-40B4-BE49-F238E27FC236}">
                <a16:creationId xmlns:a16="http://schemas.microsoft.com/office/drawing/2014/main" id="{F67D1896-6BBC-AB41-B67F-AB3399BB37B0}"/>
              </a:ext>
            </a:extLst>
          </p:cNvPr>
          <p:cNvGrpSpPr>
            <a:grpSpLocks/>
          </p:cNvGrpSpPr>
          <p:nvPr/>
        </p:nvGrpSpPr>
        <p:grpSpPr bwMode="auto">
          <a:xfrm flipH="1">
            <a:off x="7677028" y="4777801"/>
            <a:ext cx="735012" cy="681038"/>
            <a:chOff x="-44" y="1473"/>
            <a:chExt cx="981" cy="1105"/>
          </a:xfrm>
        </p:grpSpPr>
        <p:pic>
          <p:nvPicPr>
            <p:cNvPr id="61" name="Picture 88" descr="desktop_computer_stylized_medium">
              <a:extLst>
                <a:ext uri="{FF2B5EF4-FFF2-40B4-BE49-F238E27FC236}">
                  <a16:creationId xmlns:a16="http://schemas.microsoft.com/office/drawing/2014/main" id="{12544D91-DE12-C440-AF3A-72D9066513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Freeform 89">
              <a:extLst>
                <a:ext uri="{FF2B5EF4-FFF2-40B4-BE49-F238E27FC236}">
                  <a16:creationId xmlns:a16="http://schemas.microsoft.com/office/drawing/2014/main" id="{D8342731-E1B7-FF4F-B63A-2B9EF713C35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3" name="Group 2">
            <a:extLst>
              <a:ext uri="{FF2B5EF4-FFF2-40B4-BE49-F238E27FC236}">
                <a16:creationId xmlns:a16="http://schemas.microsoft.com/office/drawing/2014/main" id="{A8E7B059-0C82-604F-9216-00FE9590AFC8}"/>
              </a:ext>
            </a:extLst>
          </p:cNvPr>
          <p:cNvGrpSpPr/>
          <p:nvPr/>
        </p:nvGrpSpPr>
        <p:grpSpPr>
          <a:xfrm>
            <a:off x="1456133" y="5624388"/>
            <a:ext cx="10506683" cy="1029566"/>
            <a:chOff x="1456133" y="5624388"/>
            <a:chExt cx="10506683" cy="1029566"/>
          </a:xfrm>
        </p:grpSpPr>
        <p:sp>
          <p:nvSpPr>
            <p:cNvPr id="25" name="Rectangle 59">
              <a:extLst>
                <a:ext uri="{FF2B5EF4-FFF2-40B4-BE49-F238E27FC236}">
                  <a16:creationId xmlns:a16="http://schemas.microsoft.com/office/drawing/2014/main" id="{CA066BBC-5B2D-0340-8A5E-0AB09584C5F6}"/>
                </a:ext>
              </a:extLst>
            </p:cNvPr>
            <p:cNvSpPr>
              <a:spLocks noChangeArrowheads="1"/>
            </p:cNvSpPr>
            <p:nvPr/>
          </p:nvSpPr>
          <p:spPr bwMode="auto">
            <a:xfrm>
              <a:off x="1712057" y="5737966"/>
              <a:ext cx="10250759" cy="915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lvl="1">
                <a:spcBef>
                  <a:spcPct val="20000"/>
                </a:spcBef>
                <a:buClr>
                  <a:srgbClr val="000090"/>
                </a:buClr>
                <a:buSzPct val="100000"/>
                <a:defRPr/>
              </a:pPr>
              <a:r>
                <a:rPr lang="en-US" sz="2400" dirty="0">
                  <a:ea typeface="ＭＳ Ｐゴシック" charset="0"/>
                  <a:cs typeface="ＭＳ Ｐゴシック" charset="0"/>
                </a:rPr>
                <a:t>Wireshark software used for our end-of-chapter labs is a (free) packet-sniffer</a:t>
              </a:r>
            </a:p>
            <a:p>
              <a:pPr marL="742950" lvl="1" indent="-285750">
                <a:spcBef>
                  <a:spcPct val="20000"/>
                </a:spcBef>
                <a:buClr>
                  <a:schemeClr val="accent2"/>
                </a:buClr>
                <a:buSzPct val="75000"/>
                <a:buFont typeface="Wingdings" charset="0"/>
                <a:buNone/>
                <a:defRPr/>
              </a:pPr>
              <a:endParaRPr lang="en-US" dirty="0">
                <a:latin typeface="Gill Sans MT" charset="0"/>
                <a:ea typeface="ＭＳ Ｐゴシック" charset="0"/>
                <a:cs typeface="ＭＳ Ｐゴシック" charset="0"/>
              </a:endParaRPr>
            </a:p>
          </p:txBody>
        </p:sp>
        <p:pic>
          <p:nvPicPr>
            <p:cNvPr id="8194" name="Picture 2" descr="Image result for wireshark logo">
              <a:extLst>
                <a:ext uri="{FF2B5EF4-FFF2-40B4-BE49-F238E27FC236}">
                  <a16:creationId xmlns:a16="http://schemas.microsoft.com/office/drawing/2014/main" id="{05D86E15-2863-2D4D-B25D-A42C0FE63ED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56133" y="5624388"/>
              <a:ext cx="667509" cy="66750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2" name="Group 81">
            <a:extLst>
              <a:ext uri="{FF2B5EF4-FFF2-40B4-BE49-F238E27FC236}">
                <a16:creationId xmlns:a16="http://schemas.microsoft.com/office/drawing/2014/main" id="{B9D1305C-AF63-6240-8FD1-E69B36970A8F}"/>
              </a:ext>
            </a:extLst>
          </p:cNvPr>
          <p:cNvGrpSpPr/>
          <p:nvPr/>
        </p:nvGrpSpPr>
        <p:grpSpPr>
          <a:xfrm>
            <a:off x="4054353" y="4784334"/>
            <a:ext cx="958850" cy="476251"/>
            <a:chOff x="7493876" y="2774731"/>
            <a:chExt cx="1481958" cy="894622"/>
          </a:xfrm>
        </p:grpSpPr>
        <p:sp>
          <p:nvSpPr>
            <p:cNvPr id="83" name="Freeform 82">
              <a:extLst>
                <a:ext uri="{FF2B5EF4-FFF2-40B4-BE49-F238E27FC236}">
                  <a16:creationId xmlns:a16="http://schemas.microsoft.com/office/drawing/2014/main" id="{E653ABFA-F7DB-F14E-95A5-0FDFB684F5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4" name="Oval 83">
              <a:extLst>
                <a:ext uri="{FF2B5EF4-FFF2-40B4-BE49-F238E27FC236}">
                  <a16:creationId xmlns:a16="http://schemas.microsoft.com/office/drawing/2014/main" id="{07CB97C4-3176-704C-832B-2769F9BD8A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5" name="Group 84">
              <a:extLst>
                <a:ext uri="{FF2B5EF4-FFF2-40B4-BE49-F238E27FC236}">
                  <a16:creationId xmlns:a16="http://schemas.microsoft.com/office/drawing/2014/main" id="{1C4E248C-B7EE-0749-BE84-6D97E6830AA8}"/>
                </a:ext>
              </a:extLst>
            </p:cNvPr>
            <p:cNvGrpSpPr/>
            <p:nvPr/>
          </p:nvGrpSpPr>
          <p:grpSpPr>
            <a:xfrm>
              <a:off x="7713663" y="2848339"/>
              <a:ext cx="1042107" cy="425543"/>
              <a:chOff x="7786941" y="2884917"/>
              <a:chExt cx="897649" cy="353919"/>
            </a:xfrm>
          </p:grpSpPr>
          <p:sp>
            <p:nvSpPr>
              <p:cNvPr id="86" name="Freeform 85">
                <a:extLst>
                  <a:ext uri="{FF2B5EF4-FFF2-40B4-BE49-F238E27FC236}">
                    <a16:creationId xmlns:a16="http://schemas.microsoft.com/office/drawing/2014/main" id="{D8ABCFB8-B1A0-CC43-8976-0D9324A60B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86">
                <a:extLst>
                  <a:ext uri="{FF2B5EF4-FFF2-40B4-BE49-F238E27FC236}">
                    <a16:creationId xmlns:a16="http://schemas.microsoft.com/office/drawing/2014/main" id="{21E1551D-8D59-7F4D-9AC3-A82F786FCB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87">
                <a:extLst>
                  <a:ext uri="{FF2B5EF4-FFF2-40B4-BE49-F238E27FC236}">
                    <a16:creationId xmlns:a16="http://schemas.microsoft.com/office/drawing/2014/main" id="{F50F35D5-457F-BD4D-9C04-D7E77ADC1C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88">
                <a:extLst>
                  <a:ext uri="{FF2B5EF4-FFF2-40B4-BE49-F238E27FC236}">
                    <a16:creationId xmlns:a16="http://schemas.microsoft.com/office/drawing/2014/main" id="{43929AB4-076F-294E-B995-F22B57E519B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3067714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199683"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89F36D68-7D03-47E5-A2CF-D270690731E9}" type="slidenum">
              <a:rPr lang="en-US" altLang="en-US" sz="1200">
                <a:latin typeface="Tahoma" panose="020B0604030504040204" pitchFamily="34" charset="0"/>
              </a:rPr>
              <a:pPr>
                <a:lnSpc>
                  <a:spcPct val="100000"/>
                </a:lnSpc>
                <a:spcBef>
                  <a:spcPct val="0"/>
                </a:spcBef>
                <a:buClrTx/>
                <a:buSzTx/>
                <a:buFontTx/>
                <a:buNone/>
              </a:pPr>
              <a:t>117</a:t>
            </a:fld>
            <a:endParaRPr lang="en-US" altLang="en-US" sz="1200">
              <a:latin typeface="Tahoma" panose="020B0604030504040204" pitchFamily="34" charset="0"/>
            </a:endParaRPr>
          </a:p>
        </p:txBody>
      </p:sp>
      <p:pic>
        <p:nvPicPr>
          <p:cNvPr id="199684" name="Picture 2" descr="https://www.owasp.org/images/4/48/Eavesdropping.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65644" y="1328568"/>
            <a:ext cx="6553972" cy="4069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85" name="TextBox 5"/>
          <p:cNvSpPr txBox="1">
            <a:spLocks noChangeArrowheads="1"/>
          </p:cNvSpPr>
          <p:nvPr/>
        </p:nvSpPr>
        <p:spPr bwMode="auto">
          <a:xfrm>
            <a:off x="4077625" y="505767"/>
            <a:ext cx="45720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i="1" dirty="0">
                <a:solidFill>
                  <a:srgbClr val="CC0000"/>
                </a:solidFill>
                <a:latin typeface="Arial" panose="020B0604020202020204" pitchFamily="34" charset="0"/>
              </a:rPr>
              <a:t>Packet </a:t>
            </a:r>
            <a:r>
              <a:rPr lang="ja-JP" altLang="en-US" sz="2400" b="1" i="1" dirty="0">
                <a:solidFill>
                  <a:srgbClr val="CC0000"/>
                </a:solidFill>
                <a:latin typeface="Arial" panose="020B0604020202020204" pitchFamily="34" charset="0"/>
              </a:rPr>
              <a:t>“</a:t>
            </a:r>
            <a:r>
              <a:rPr lang="en-US" altLang="ja-JP" sz="2400" b="1" i="1" dirty="0">
                <a:solidFill>
                  <a:srgbClr val="CC0000"/>
                </a:solidFill>
                <a:latin typeface="Arial" panose="020B0604020202020204" pitchFamily="34" charset="0"/>
              </a:rPr>
              <a:t>sniffing</a:t>
            </a:r>
            <a:r>
              <a:rPr lang="ja-JP" altLang="en-US" sz="2400" b="1" i="1" dirty="0">
                <a:solidFill>
                  <a:srgbClr val="CC0000"/>
                </a:solidFill>
                <a:latin typeface="Arial" panose="020B0604020202020204" pitchFamily="34" charset="0"/>
              </a:rPr>
              <a:t>”</a:t>
            </a:r>
            <a:r>
              <a:rPr lang="en-US" altLang="ja-JP" sz="2400" b="1" i="1" dirty="0">
                <a:solidFill>
                  <a:srgbClr val="CC0000"/>
                </a:solidFill>
                <a:latin typeface="Arial" panose="020B0604020202020204" pitchFamily="34" charset="0"/>
              </a:rPr>
              <a:t>:</a:t>
            </a:r>
            <a:r>
              <a:rPr lang="en-US" altLang="ja-JP" sz="2400" b="1" i="1" dirty="0">
                <a:solidFill>
                  <a:srgbClr val="FF0000"/>
                </a:solidFill>
                <a:latin typeface="Arial" panose="020B0604020202020204" pitchFamily="34" charset="0"/>
              </a:rPr>
              <a:t> </a:t>
            </a:r>
          </a:p>
        </p:txBody>
      </p:sp>
    </p:spTree>
    <p:extLst>
      <p:ext uri="{BB962C8B-B14F-4D97-AF65-F5344CB8AC3E}">
        <p14:creationId xmlns:p14="http://schemas.microsoft.com/office/powerpoint/2010/main" val="68337777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Bad guys:  fake identity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118</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88557" y="1942419"/>
            <a:ext cx="10342830" cy="208446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600" i="1" dirty="0">
                <a:solidFill>
                  <a:srgbClr val="CC0000"/>
                </a:solidFill>
                <a:ea typeface="ＭＳ Ｐゴシック" panose="020B0600070205080204" pitchFamily="34" charset="-128"/>
              </a:rPr>
              <a:t>IP spoofing:</a:t>
            </a:r>
            <a:r>
              <a:rPr lang="en-US" altLang="en-US" sz="3200" i="1" dirty="0">
                <a:solidFill>
                  <a:srgbClr val="FF3300"/>
                </a:solidFill>
                <a:ea typeface="ＭＳ Ｐゴシック" panose="020B0600070205080204" pitchFamily="34" charset="-128"/>
              </a:rPr>
              <a:t> </a:t>
            </a:r>
            <a:r>
              <a:rPr lang="en-US" altLang="en-US" sz="3200" dirty="0">
                <a:ea typeface="ＭＳ Ｐゴシック" panose="020B0600070205080204" pitchFamily="34" charset="-128"/>
              </a:rPr>
              <a:t>send packet with false source address</a:t>
            </a:r>
          </a:p>
        </p:txBody>
      </p:sp>
      <p:grpSp>
        <p:nvGrpSpPr>
          <p:cNvPr id="5" name="Group 90">
            <a:extLst>
              <a:ext uri="{FF2B5EF4-FFF2-40B4-BE49-F238E27FC236}">
                <a16:creationId xmlns:a16="http://schemas.microsoft.com/office/drawing/2014/main" id="{4B8B6454-D739-8246-8FD0-D07116C10D15}"/>
              </a:ext>
            </a:extLst>
          </p:cNvPr>
          <p:cNvGrpSpPr>
            <a:grpSpLocks/>
          </p:cNvGrpSpPr>
          <p:nvPr/>
        </p:nvGrpSpPr>
        <p:grpSpPr bwMode="auto">
          <a:xfrm flipH="1">
            <a:off x="5864103" y="3398264"/>
            <a:ext cx="735012" cy="681037"/>
            <a:chOff x="-44" y="1473"/>
            <a:chExt cx="981" cy="1105"/>
          </a:xfrm>
        </p:grpSpPr>
        <p:pic>
          <p:nvPicPr>
            <p:cNvPr id="7" name="Picture 91" descr="desktop_computer_stylized_medium">
              <a:extLst>
                <a:ext uri="{FF2B5EF4-FFF2-40B4-BE49-F238E27FC236}">
                  <a16:creationId xmlns:a16="http://schemas.microsoft.com/office/drawing/2014/main" id="{9D5E2D1E-EE9F-104B-B66B-CCD25447B8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92">
              <a:extLst>
                <a:ext uri="{FF2B5EF4-FFF2-40B4-BE49-F238E27FC236}">
                  <a16:creationId xmlns:a16="http://schemas.microsoft.com/office/drawing/2014/main" id="{B5AF61F7-8621-F54F-BE21-3743A44AEC3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9" name="Freeform 43">
            <a:extLst>
              <a:ext uri="{FF2B5EF4-FFF2-40B4-BE49-F238E27FC236}">
                <a16:creationId xmlns:a16="http://schemas.microsoft.com/office/drawing/2014/main" id="{4DB7420B-BEB3-FA46-87C6-F4E3D7CFB690}"/>
              </a:ext>
            </a:extLst>
          </p:cNvPr>
          <p:cNvSpPr>
            <a:spLocks/>
          </p:cNvSpPr>
          <p:nvPr/>
        </p:nvSpPr>
        <p:spPr bwMode="auto">
          <a:xfrm>
            <a:off x="3359028" y="4133276"/>
            <a:ext cx="4587875" cy="728663"/>
          </a:xfrm>
          <a:custGeom>
            <a:avLst/>
            <a:gdLst>
              <a:gd name="T0" fmla="*/ 2147483647 w 2620"/>
              <a:gd name="T1" fmla="*/ 0 h 459"/>
              <a:gd name="T2" fmla="*/ 0 w 2620"/>
              <a:gd name="T3" fmla="*/ 2147483647 h 459"/>
              <a:gd name="T4" fmla="*/ 2147483647 w 2620"/>
              <a:gd name="T5" fmla="*/ 2147483647 h 459"/>
              <a:gd name="T6" fmla="*/ 2147483647 w 2620"/>
              <a:gd name="T7" fmla="*/ 2147483647 h 459"/>
              <a:gd name="T8" fmla="*/ 0 60000 65536"/>
              <a:gd name="T9" fmla="*/ 0 60000 65536"/>
              <a:gd name="T10" fmla="*/ 0 60000 65536"/>
              <a:gd name="T11" fmla="*/ 0 60000 65536"/>
              <a:gd name="T12" fmla="*/ 0 w 2620"/>
              <a:gd name="T13" fmla="*/ 0 h 459"/>
              <a:gd name="T14" fmla="*/ 2620 w 2620"/>
              <a:gd name="T15" fmla="*/ 459 h 459"/>
            </a:gdLst>
            <a:ahLst/>
            <a:cxnLst>
              <a:cxn ang="T8">
                <a:pos x="T0" y="T1"/>
              </a:cxn>
              <a:cxn ang="T9">
                <a:pos x="T2" y="T3"/>
              </a:cxn>
              <a:cxn ang="T10">
                <a:pos x="T4" y="T5"/>
              </a:cxn>
              <a:cxn ang="T11">
                <a:pos x="T6" y="T7"/>
              </a:cxn>
            </a:cxnLst>
            <a:rect l="T12" t="T13" r="T14" b="T15"/>
            <a:pathLst>
              <a:path w="2620" h="459">
                <a:moveTo>
                  <a:pt x="2" y="0"/>
                </a:moveTo>
                <a:lnTo>
                  <a:pt x="0" y="253"/>
                </a:lnTo>
                <a:lnTo>
                  <a:pt x="2620" y="253"/>
                </a:lnTo>
                <a:lnTo>
                  <a:pt x="2620" y="459"/>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 name="Freeform 44">
            <a:extLst>
              <a:ext uri="{FF2B5EF4-FFF2-40B4-BE49-F238E27FC236}">
                <a16:creationId xmlns:a16="http://schemas.microsoft.com/office/drawing/2014/main" id="{F85E0A6A-88C0-A24D-8518-8ED500586FDD}"/>
              </a:ext>
            </a:extLst>
          </p:cNvPr>
          <p:cNvSpPr>
            <a:spLocks/>
          </p:cNvSpPr>
          <p:nvPr/>
        </p:nvSpPr>
        <p:spPr bwMode="auto">
          <a:xfrm>
            <a:off x="6191128" y="4003101"/>
            <a:ext cx="4762" cy="522288"/>
          </a:xfrm>
          <a:custGeom>
            <a:avLst/>
            <a:gdLst>
              <a:gd name="T0" fmla="*/ 0 w 3"/>
              <a:gd name="T1" fmla="*/ 2147483647 h 329"/>
              <a:gd name="T2" fmla="*/ 2147483647 w 3"/>
              <a:gd name="T3" fmla="*/ 0 h 329"/>
              <a:gd name="T4" fmla="*/ 0 60000 65536"/>
              <a:gd name="T5" fmla="*/ 0 60000 65536"/>
              <a:gd name="T6" fmla="*/ 0 w 3"/>
              <a:gd name="T7" fmla="*/ 0 h 329"/>
              <a:gd name="T8" fmla="*/ 3 w 3"/>
              <a:gd name="T9" fmla="*/ 329 h 329"/>
            </a:gdLst>
            <a:ahLst/>
            <a:cxnLst>
              <a:cxn ang="T4">
                <a:pos x="T0" y="T1"/>
              </a:cxn>
              <a:cxn ang="T5">
                <a:pos x="T2" y="T3"/>
              </a:cxn>
            </a:cxnLst>
            <a:rect l="T6" t="T7" r="T8" b="T9"/>
            <a:pathLst>
              <a:path w="3" h="329">
                <a:moveTo>
                  <a:pt x="0" y="329"/>
                </a:moveTo>
                <a:lnTo>
                  <a:pt x="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 name="Line 45">
            <a:extLst>
              <a:ext uri="{FF2B5EF4-FFF2-40B4-BE49-F238E27FC236}">
                <a16:creationId xmlns:a16="http://schemas.microsoft.com/office/drawing/2014/main" id="{2ADBE0C5-B956-4149-BAB8-22ED6ADCCDCF}"/>
              </a:ext>
            </a:extLst>
          </p:cNvPr>
          <p:cNvSpPr>
            <a:spLocks noChangeShapeType="1"/>
          </p:cNvSpPr>
          <p:nvPr/>
        </p:nvSpPr>
        <p:spPr bwMode="auto">
          <a:xfrm flipV="1">
            <a:off x="4533778" y="4525389"/>
            <a:ext cx="0" cy="374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 name="Line 46">
            <a:extLst>
              <a:ext uri="{FF2B5EF4-FFF2-40B4-BE49-F238E27FC236}">
                <a16:creationId xmlns:a16="http://schemas.microsoft.com/office/drawing/2014/main" id="{90C68912-5E92-7540-BFA2-DF07C51EFD30}"/>
              </a:ext>
            </a:extLst>
          </p:cNvPr>
          <p:cNvSpPr>
            <a:spLocks noChangeShapeType="1"/>
          </p:cNvSpPr>
          <p:nvPr/>
        </p:nvSpPr>
        <p:spPr bwMode="auto">
          <a:xfrm flipV="1">
            <a:off x="4552828" y="5236589"/>
            <a:ext cx="0" cy="2413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 name="Text Box 47">
            <a:extLst>
              <a:ext uri="{FF2B5EF4-FFF2-40B4-BE49-F238E27FC236}">
                <a16:creationId xmlns:a16="http://schemas.microsoft.com/office/drawing/2014/main" id="{AEB79674-18BD-3B41-8E45-BBD3D9EBF39F}"/>
              </a:ext>
            </a:extLst>
          </p:cNvPr>
          <p:cNvSpPr txBox="1">
            <a:spLocks noChangeArrowheads="1"/>
          </p:cNvSpPr>
          <p:nvPr/>
        </p:nvSpPr>
        <p:spPr bwMode="auto">
          <a:xfrm>
            <a:off x="2816103" y="3422076"/>
            <a:ext cx="387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a:t>A</a:t>
            </a:r>
          </a:p>
        </p:txBody>
      </p:sp>
      <p:sp>
        <p:nvSpPr>
          <p:cNvPr id="14" name="Text Box 48">
            <a:extLst>
              <a:ext uri="{FF2B5EF4-FFF2-40B4-BE49-F238E27FC236}">
                <a16:creationId xmlns:a16="http://schemas.microsoft.com/office/drawing/2014/main" id="{9F0C9BB1-EE53-294F-B9A4-6D29AB021CF3}"/>
              </a:ext>
            </a:extLst>
          </p:cNvPr>
          <p:cNvSpPr txBox="1">
            <a:spLocks noChangeArrowheads="1"/>
          </p:cNvSpPr>
          <p:nvPr/>
        </p:nvSpPr>
        <p:spPr bwMode="auto">
          <a:xfrm>
            <a:off x="8285040" y="4885751"/>
            <a:ext cx="388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a:t>B</a:t>
            </a:r>
          </a:p>
        </p:txBody>
      </p:sp>
      <p:sp>
        <p:nvSpPr>
          <p:cNvPr id="15" name="Text Box 49">
            <a:extLst>
              <a:ext uri="{FF2B5EF4-FFF2-40B4-BE49-F238E27FC236}">
                <a16:creationId xmlns:a16="http://schemas.microsoft.com/office/drawing/2014/main" id="{84BD4A5A-ABEB-8E46-B54B-76C3BE0FDF12}"/>
              </a:ext>
            </a:extLst>
          </p:cNvPr>
          <p:cNvSpPr txBox="1">
            <a:spLocks noChangeArrowheads="1"/>
          </p:cNvSpPr>
          <p:nvPr/>
        </p:nvSpPr>
        <p:spPr bwMode="auto">
          <a:xfrm>
            <a:off x="6383215" y="3399851"/>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a:t>C</a:t>
            </a:r>
          </a:p>
        </p:txBody>
      </p:sp>
      <p:pic>
        <p:nvPicPr>
          <p:cNvPr id="26" name="Picture 60">
            <a:extLst>
              <a:ext uri="{FF2B5EF4-FFF2-40B4-BE49-F238E27FC236}">
                <a16:creationId xmlns:a16="http://schemas.microsoft.com/office/drawing/2014/main" id="{6C78CF69-C5D1-1042-99DC-4222EA4DC7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1090" y="3466526"/>
            <a:ext cx="471488" cy="44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grpSp>
        <p:nvGrpSpPr>
          <p:cNvPr id="27" name="Group 54">
            <a:extLst>
              <a:ext uri="{FF2B5EF4-FFF2-40B4-BE49-F238E27FC236}">
                <a16:creationId xmlns:a16="http://schemas.microsoft.com/office/drawing/2014/main" id="{E8873988-DB10-FE45-8043-BCFCC564ED65}"/>
              </a:ext>
            </a:extLst>
          </p:cNvPr>
          <p:cNvGrpSpPr>
            <a:grpSpLocks/>
          </p:cNvGrpSpPr>
          <p:nvPr/>
        </p:nvGrpSpPr>
        <p:grpSpPr bwMode="auto">
          <a:xfrm>
            <a:off x="3184403" y="3460176"/>
            <a:ext cx="365125" cy="712788"/>
            <a:chOff x="4140" y="429"/>
            <a:chExt cx="1425" cy="2396"/>
          </a:xfrm>
        </p:grpSpPr>
        <p:sp>
          <p:nvSpPr>
            <p:cNvPr id="28" name="Freeform 55">
              <a:extLst>
                <a:ext uri="{FF2B5EF4-FFF2-40B4-BE49-F238E27FC236}">
                  <a16:creationId xmlns:a16="http://schemas.microsoft.com/office/drawing/2014/main" id="{7E4CC2E0-3222-BE42-A828-FF50B8CF87E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Rectangle 56">
              <a:extLst>
                <a:ext uri="{FF2B5EF4-FFF2-40B4-BE49-F238E27FC236}">
                  <a16:creationId xmlns:a16="http://schemas.microsoft.com/office/drawing/2014/main" id="{A3A95F5A-927B-8844-AEEA-2C83A43D854F}"/>
                </a:ext>
              </a:extLst>
            </p:cNvPr>
            <p:cNvSpPr>
              <a:spLocks noChangeArrowheads="1"/>
            </p:cNvSpPr>
            <p:nvPr/>
          </p:nvSpPr>
          <p:spPr bwMode="auto">
            <a:xfrm>
              <a:off x="4208" y="429"/>
              <a:ext cx="1047"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0" name="Freeform 57">
              <a:extLst>
                <a:ext uri="{FF2B5EF4-FFF2-40B4-BE49-F238E27FC236}">
                  <a16:creationId xmlns:a16="http://schemas.microsoft.com/office/drawing/2014/main" id="{0069D4B1-B450-FA40-8C0C-BF8FC124F2B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58">
              <a:extLst>
                <a:ext uri="{FF2B5EF4-FFF2-40B4-BE49-F238E27FC236}">
                  <a16:creationId xmlns:a16="http://schemas.microsoft.com/office/drawing/2014/main" id="{614429B8-C719-8644-AE6D-47F8C907AA5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Rectangle 59">
              <a:extLst>
                <a:ext uri="{FF2B5EF4-FFF2-40B4-BE49-F238E27FC236}">
                  <a16:creationId xmlns:a16="http://schemas.microsoft.com/office/drawing/2014/main" id="{2DD880A9-2F05-6141-8481-7222FC289B80}"/>
                </a:ext>
              </a:extLst>
            </p:cNvPr>
            <p:cNvSpPr>
              <a:spLocks noChangeArrowheads="1"/>
            </p:cNvSpPr>
            <p:nvPr/>
          </p:nvSpPr>
          <p:spPr bwMode="auto">
            <a:xfrm>
              <a:off x="4214" y="690"/>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33" name="Group 60">
              <a:extLst>
                <a:ext uri="{FF2B5EF4-FFF2-40B4-BE49-F238E27FC236}">
                  <a16:creationId xmlns:a16="http://schemas.microsoft.com/office/drawing/2014/main" id="{719DB695-149D-A94C-90AB-A2D368B8EE68}"/>
                </a:ext>
              </a:extLst>
            </p:cNvPr>
            <p:cNvGrpSpPr>
              <a:grpSpLocks/>
            </p:cNvGrpSpPr>
            <p:nvPr/>
          </p:nvGrpSpPr>
          <p:grpSpPr bwMode="auto">
            <a:xfrm>
              <a:off x="4749" y="668"/>
              <a:ext cx="581" cy="145"/>
              <a:chOff x="614" y="2568"/>
              <a:chExt cx="725" cy="139"/>
            </a:xfrm>
          </p:grpSpPr>
          <p:sp>
            <p:nvSpPr>
              <p:cNvPr id="58" name="AutoShape 61">
                <a:extLst>
                  <a:ext uri="{FF2B5EF4-FFF2-40B4-BE49-F238E27FC236}">
                    <a16:creationId xmlns:a16="http://schemas.microsoft.com/office/drawing/2014/main" id="{7A4E2E24-3B0D-AF4F-A52C-2C357CC7EFC4}"/>
                  </a:ext>
                </a:extLst>
              </p:cNvPr>
              <p:cNvSpPr>
                <a:spLocks noChangeArrowheads="1"/>
              </p:cNvSpPr>
              <p:nvPr/>
            </p:nvSpPr>
            <p:spPr bwMode="auto">
              <a:xfrm>
                <a:off x="612"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9" name="AutoShape 62">
                <a:extLst>
                  <a:ext uri="{FF2B5EF4-FFF2-40B4-BE49-F238E27FC236}">
                    <a16:creationId xmlns:a16="http://schemas.microsoft.com/office/drawing/2014/main" id="{C6BB5F22-0BFB-674E-AB61-C51BC265F868}"/>
                  </a:ext>
                </a:extLst>
              </p:cNvPr>
              <p:cNvSpPr>
                <a:spLocks noChangeArrowheads="1"/>
              </p:cNvSpPr>
              <p:nvPr/>
            </p:nvSpPr>
            <p:spPr bwMode="auto">
              <a:xfrm>
                <a:off x="627" y="2584"/>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34" name="Rectangle 63">
              <a:extLst>
                <a:ext uri="{FF2B5EF4-FFF2-40B4-BE49-F238E27FC236}">
                  <a16:creationId xmlns:a16="http://schemas.microsoft.com/office/drawing/2014/main" id="{9C5A4256-A53F-874E-BFA1-39FC396FF929}"/>
                </a:ext>
              </a:extLst>
            </p:cNvPr>
            <p:cNvSpPr>
              <a:spLocks noChangeArrowheads="1"/>
            </p:cNvSpPr>
            <p:nvPr/>
          </p:nvSpPr>
          <p:spPr bwMode="auto">
            <a:xfrm>
              <a:off x="4227" y="1021"/>
              <a:ext cx="595" cy="43"/>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35" name="Group 64">
              <a:extLst>
                <a:ext uri="{FF2B5EF4-FFF2-40B4-BE49-F238E27FC236}">
                  <a16:creationId xmlns:a16="http://schemas.microsoft.com/office/drawing/2014/main" id="{0E311E6A-3E40-F74F-B8AF-09D1E252AD39}"/>
                </a:ext>
              </a:extLst>
            </p:cNvPr>
            <p:cNvGrpSpPr>
              <a:grpSpLocks/>
            </p:cNvGrpSpPr>
            <p:nvPr/>
          </p:nvGrpSpPr>
          <p:grpSpPr bwMode="auto">
            <a:xfrm>
              <a:off x="4747" y="994"/>
              <a:ext cx="581" cy="134"/>
              <a:chOff x="614" y="2568"/>
              <a:chExt cx="725" cy="139"/>
            </a:xfrm>
          </p:grpSpPr>
          <p:sp>
            <p:nvSpPr>
              <p:cNvPr id="56" name="AutoShape 65">
                <a:extLst>
                  <a:ext uri="{FF2B5EF4-FFF2-40B4-BE49-F238E27FC236}">
                    <a16:creationId xmlns:a16="http://schemas.microsoft.com/office/drawing/2014/main" id="{1D179FF3-E8BF-8947-9AAD-E6B38311CAD5}"/>
                  </a:ext>
                </a:extLst>
              </p:cNvPr>
              <p:cNvSpPr>
                <a:spLocks noChangeArrowheads="1"/>
              </p:cNvSpPr>
              <p:nvPr/>
            </p:nvSpPr>
            <p:spPr bwMode="auto">
              <a:xfrm>
                <a:off x="614"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7" name="AutoShape 66">
                <a:extLst>
                  <a:ext uri="{FF2B5EF4-FFF2-40B4-BE49-F238E27FC236}">
                    <a16:creationId xmlns:a16="http://schemas.microsoft.com/office/drawing/2014/main" id="{C3E96FCC-760E-C448-981B-346F9384B814}"/>
                  </a:ext>
                </a:extLst>
              </p:cNvPr>
              <p:cNvSpPr>
                <a:spLocks noChangeArrowheads="1"/>
              </p:cNvSpPr>
              <p:nvPr/>
            </p:nvSpPr>
            <p:spPr bwMode="auto">
              <a:xfrm>
                <a:off x="630" y="2585"/>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36" name="Rectangle 67">
              <a:extLst>
                <a:ext uri="{FF2B5EF4-FFF2-40B4-BE49-F238E27FC236}">
                  <a16:creationId xmlns:a16="http://schemas.microsoft.com/office/drawing/2014/main" id="{48149864-6DD7-D34A-BFF0-68E14067A88A}"/>
                </a:ext>
              </a:extLst>
            </p:cNvPr>
            <p:cNvSpPr>
              <a:spLocks noChangeArrowheads="1"/>
            </p:cNvSpPr>
            <p:nvPr/>
          </p:nvSpPr>
          <p:spPr bwMode="auto">
            <a:xfrm>
              <a:off x="4214" y="1358"/>
              <a:ext cx="601"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37" name="Rectangle 68">
              <a:extLst>
                <a:ext uri="{FF2B5EF4-FFF2-40B4-BE49-F238E27FC236}">
                  <a16:creationId xmlns:a16="http://schemas.microsoft.com/office/drawing/2014/main" id="{05CA4BF4-1ECD-CA4F-8A7A-7B9330DA5454}"/>
                </a:ext>
              </a:extLst>
            </p:cNvPr>
            <p:cNvSpPr>
              <a:spLocks noChangeArrowheads="1"/>
            </p:cNvSpPr>
            <p:nvPr/>
          </p:nvSpPr>
          <p:spPr bwMode="auto">
            <a:xfrm>
              <a:off x="4227" y="1656"/>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nvGrpSpPr>
            <p:cNvPr id="38" name="Group 69">
              <a:extLst>
                <a:ext uri="{FF2B5EF4-FFF2-40B4-BE49-F238E27FC236}">
                  <a16:creationId xmlns:a16="http://schemas.microsoft.com/office/drawing/2014/main" id="{F3E39B02-1298-0743-931E-B785BC775AB9}"/>
                </a:ext>
              </a:extLst>
            </p:cNvPr>
            <p:cNvGrpSpPr>
              <a:grpSpLocks/>
            </p:cNvGrpSpPr>
            <p:nvPr/>
          </p:nvGrpSpPr>
          <p:grpSpPr bwMode="auto">
            <a:xfrm>
              <a:off x="4735" y="1627"/>
              <a:ext cx="582" cy="151"/>
              <a:chOff x="614" y="2568"/>
              <a:chExt cx="725" cy="139"/>
            </a:xfrm>
          </p:grpSpPr>
          <p:sp>
            <p:nvSpPr>
              <p:cNvPr id="54" name="AutoShape 70">
                <a:extLst>
                  <a:ext uri="{FF2B5EF4-FFF2-40B4-BE49-F238E27FC236}">
                    <a16:creationId xmlns:a16="http://schemas.microsoft.com/office/drawing/2014/main" id="{F3EE4642-5A67-5747-9173-A2328DFB0CE3}"/>
                  </a:ext>
                </a:extLst>
              </p:cNvPr>
              <p:cNvSpPr>
                <a:spLocks noChangeArrowheads="1"/>
              </p:cNvSpPr>
              <p:nvPr/>
            </p:nvSpPr>
            <p:spPr bwMode="auto">
              <a:xfrm>
                <a:off x="614" y="2570"/>
                <a:ext cx="725"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5" name="AutoShape 71">
                <a:extLst>
                  <a:ext uri="{FF2B5EF4-FFF2-40B4-BE49-F238E27FC236}">
                    <a16:creationId xmlns:a16="http://schemas.microsoft.com/office/drawing/2014/main" id="{5229E8D7-0E29-214E-AA57-AFE2A59BD2B9}"/>
                  </a:ext>
                </a:extLst>
              </p:cNvPr>
              <p:cNvSpPr>
                <a:spLocks noChangeArrowheads="1"/>
              </p:cNvSpPr>
              <p:nvPr/>
            </p:nvSpPr>
            <p:spPr bwMode="auto">
              <a:xfrm>
                <a:off x="629" y="2585"/>
                <a:ext cx="69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39" name="Freeform 72">
              <a:extLst>
                <a:ext uri="{FF2B5EF4-FFF2-40B4-BE49-F238E27FC236}">
                  <a16:creationId xmlns:a16="http://schemas.microsoft.com/office/drawing/2014/main" id="{D90341F2-014E-B14A-B581-851392F933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0" name="Group 73">
              <a:extLst>
                <a:ext uri="{FF2B5EF4-FFF2-40B4-BE49-F238E27FC236}">
                  <a16:creationId xmlns:a16="http://schemas.microsoft.com/office/drawing/2014/main" id="{280B6B26-F269-5C4C-8C19-DBA764C6CDAC}"/>
                </a:ext>
              </a:extLst>
            </p:cNvPr>
            <p:cNvGrpSpPr>
              <a:grpSpLocks/>
            </p:cNvGrpSpPr>
            <p:nvPr/>
          </p:nvGrpSpPr>
          <p:grpSpPr bwMode="auto">
            <a:xfrm>
              <a:off x="4739" y="1327"/>
              <a:ext cx="582" cy="139"/>
              <a:chOff x="614" y="2568"/>
              <a:chExt cx="725" cy="139"/>
            </a:xfrm>
          </p:grpSpPr>
          <p:sp>
            <p:nvSpPr>
              <p:cNvPr id="52" name="AutoShape 74">
                <a:extLst>
                  <a:ext uri="{FF2B5EF4-FFF2-40B4-BE49-F238E27FC236}">
                    <a16:creationId xmlns:a16="http://schemas.microsoft.com/office/drawing/2014/main" id="{6DB26256-77EF-F140-B0E4-C02F57D54B4F}"/>
                  </a:ext>
                </a:extLst>
              </p:cNvPr>
              <p:cNvSpPr>
                <a:spLocks noChangeArrowheads="1"/>
              </p:cNvSpPr>
              <p:nvPr/>
            </p:nvSpPr>
            <p:spPr bwMode="auto">
              <a:xfrm>
                <a:off x="616" y="256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3" name="AutoShape 75">
                <a:extLst>
                  <a:ext uri="{FF2B5EF4-FFF2-40B4-BE49-F238E27FC236}">
                    <a16:creationId xmlns:a16="http://schemas.microsoft.com/office/drawing/2014/main" id="{EFE076B6-538F-1744-AEFF-42E849FD61D4}"/>
                  </a:ext>
                </a:extLst>
              </p:cNvPr>
              <p:cNvSpPr>
                <a:spLocks noChangeArrowheads="1"/>
              </p:cNvSpPr>
              <p:nvPr/>
            </p:nvSpPr>
            <p:spPr bwMode="auto">
              <a:xfrm>
                <a:off x="632" y="2583"/>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sp>
          <p:nvSpPr>
            <p:cNvPr id="41" name="Rectangle 76">
              <a:extLst>
                <a:ext uri="{FF2B5EF4-FFF2-40B4-BE49-F238E27FC236}">
                  <a16:creationId xmlns:a16="http://schemas.microsoft.com/office/drawing/2014/main" id="{022EA956-CFF7-F444-96E1-83E34982538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2" name="Freeform 77">
              <a:extLst>
                <a:ext uri="{FF2B5EF4-FFF2-40B4-BE49-F238E27FC236}">
                  <a16:creationId xmlns:a16="http://schemas.microsoft.com/office/drawing/2014/main" id="{8B0DE4B6-8814-1E46-82AC-7B6D087A2D0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78">
              <a:extLst>
                <a:ext uri="{FF2B5EF4-FFF2-40B4-BE49-F238E27FC236}">
                  <a16:creationId xmlns:a16="http://schemas.microsoft.com/office/drawing/2014/main" id="{A9CF5A83-FC5F-8D4B-B779-B41007025F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Oval 79">
              <a:extLst>
                <a:ext uri="{FF2B5EF4-FFF2-40B4-BE49-F238E27FC236}">
                  <a16:creationId xmlns:a16="http://schemas.microsoft.com/office/drawing/2014/main" id="{FDB262EF-72BC-F740-9B4D-1FFE5D070B56}"/>
                </a:ext>
              </a:extLst>
            </p:cNvPr>
            <p:cNvSpPr>
              <a:spLocks noChangeArrowheads="1"/>
            </p:cNvSpPr>
            <p:nvPr/>
          </p:nvSpPr>
          <p:spPr bwMode="auto">
            <a:xfrm>
              <a:off x="5515" y="2612"/>
              <a:ext cx="50"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5" name="Freeform 80">
              <a:extLst>
                <a:ext uri="{FF2B5EF4-FFF2-40B4-BE49-F238E27FC236}">
                  <a16:creationId xmlns:a16="http://schemas.microsoft.com/office/drawing/2014/main" id="{20A2BDF1-5362-9947-B37C-44E590138C3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AutoShape 81">
              <a:extLst>
                <a:ext uri="{FF2B5EF4-FFF2-40B4-BE49-F238E27FC236}">
                  <a16:creationId xmlns:a16="http://schemas.microsoft.com/office/drawing/2014/main" id="{BAC73710-D3B8-8C49-97AA-648DC14CD98E}"/>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7" name="AutoShape 82">
              <a:extLst>
                <a:ext uri="{FF2B5EF4-FFF2-40B4-BE49-F238E27FC236}">
                  <a16:creationId xmlns:a16="http://schemas.microsoft.com/office/drawing/2014/main" id="{1AA6B3D5-8E2F-C340-A675-9DC59E4B0F54}"/>
                </a:ext>
              </a:extLst>
            </p:cNvPr>
            <p:cNvSpPr>
              <a:spLocks noChangeArrowheads="1"/>
            </p:cNvSpPr>
            <p:nvPr/>
          </p:nvSpPr>
          <p:spPr bwMode="auto">
            <a:xfrm>
              <a:off x="4208" y="2713"/>
              <a:ext cx="1066"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8" name="Oval 83">
              <a:extLst>
                <a:ext uri="{FF2B5EF4-FFF2-40B4-BE49-F238E27FC236}">
                  <a16:creationId xmlns:a16="http://schemas.microsoft.com/office/drawing/2014/main" id="{A39BEF0A-EE8E-7248-A007-97D328CCA256}"/>
                </a:ext>
              </a:extLst>
            </p:cNvPr>
            <p:cNvSpPr>
              <a:spLocks noChangeArrowheads="1"/>
            </p:cNvSpPr>
            <p:nvPr/>
          </p:nvSpPr>
          <p:spPr bwMode="auto">
            <a:xfrm>
              <a:off x="4307" y="2382"/>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9" name="Oval 84">
              <a:extLst>
                <a:ext uri="{FF2B5EF4-FFF2-40B4-BE49-F238E27FC236}">
                  <a16:creationId xmlns:a16="http://schemas.microsoft.com/office/drawing/2014/main" id="{27EEB08E-8DAC-7647-9E5A-B37F47E930AE}"/>
                </a:ext>
              </a:extLst>
            </p:cNvPr>
            <p:cNvSpPr>
              <a:spLocks noChangeArrowheads="1"/>
            </p:cNvSpPr>
            <p:nvPr/>
          </p:nvSpPr>
          <p:spPr bwMode="auto">
            <a:xfrm>
              <a:off x="4487" y="2382"/>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a:solidFill>
                  <a:srgbClr val="FF0000"/>
                </a:solidFill>
              </a:endParaRPr>
            </a:p>
          </p:txBody>
        </p:sp>
        <p:sp>
          <p:nvSpPr>
            <p:cNvPr id="50" name="Oval 85">
              <a:extLst>
                <a:ext uri="{FF2B5EF4-FFF2-40B4-BE49-F238E27FC236}">
                  <a16:creationId xmlns:a16="http://schemas.microsoft.com/office/drawing/2014/main" id="{7165A7B4-85F9-2640-A0EE-2335D6B55D69}"/>
                </a:ext>
              </a:extLst>
            </p:cNvPr>
            <p:cNvSpPr>
              <a:spLocks noChangeArrowheads="1"/>
            </p:cNvSpPr>
            <p:nvPr/>
          </p:nvSpPr>
          <p:spPr bwMode="auto">
            <a:xfrm>
              <a:off x="4660" y="2382"/>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51" name="Rectangle 86">
              <a:extLst>
                <a:ext uri="{FF2B5EF4-FFF2-40B4-BE49-F238E27FC236}">
                  <a16:creationId xmlns:a16="http://schemas.microsoft.com/office/drawing/2014/main" id="{C2E9996D-163B-D745-A6A8-45AB41D5ED6A}"/>
                </a:ext>
              </a:extLst>
            </p:cNvPr>
            <p:cNvSpPr>
              <a:spLocks noChangeArrowheads="1"/>
            </p:cNvSpPr>
            <p:nvPr/>
          </p:nvSpPr>
          <p:spPr bwMode="auto">
            <a:xfrm>
              <a:off x="5063" y="1832"/>
              <a:ext cx="87" cy="763"/>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grpSp>
      <p:grpSp>
        <p:nvGrpSpPr>
          <p:cNvPr id="60" name="Group 87">
            <a:extLst>
              <a:ext uri="{FF2B5EF4-FFF2-40B4-BE49-F238E27FC236}">
                <a16:creationId xmlns:a16="http://schemas.microsoft.com/office/drawing/2014/main" id="{F67D1896-6BBC-AB41-B67F-AB3399BB37B0}"/>
              </a:ext>
            </a:extLst>
          </p:cNvPr>
          <p:cNvGrpSpPr>
            <a:grpSpLocks/>
          </p:cNvGrpSpPr>
          <p:nvPr/>
        </p:nvGrpSpPr>
        <p:grpSpPr bwMode="auto">
          <a:xfrm flipH="1">
            <a:off x="7677028" y="4777801"/>
            <a:ext cx="735012" cy="681038"/>
            <a:chOff x="-44" y="1473"/>
            <a:chExt cx="981" cy="1105"/>
          </a:xfrm>
        </p:grpSpPr>
        <p:pic>
          <p:nvPicPr>
            <p:cNvPr id="61" name="Picture 88" descr="desktop_computer_stylized_medium">
              <a:extLst>
                <a:ext uri="{FF2B5EF4-FFF2-40B4-BE49-F238E27FC236}">
                  <a16:creationId xmlns:a16="http://schemas.microsoft.com/office/drawing/2014/main" id="{12544D91-DE12-C440-AF3A-72D9066513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Freeform 89">
              <a:extLst>
                <a:ext uri="{FF2B5EF4-FFF2-40B4-BE49-F238E27FC236}">
                  <a16:creationId xmlns:a16="http://schemas.microsoft.com/office/drawing/2014/main" id="{D8342731-E1B7-FF4F-B63A-2B9EF713C35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25" name="Rectangle 59">
            <a:extLst>
              <a:ext uri="{FF2B5EF4-FFF2-40B4-BE49-F238E27FC236}">
                <a16:creationId xmlns:a16="http://schemas.microsoft.com/office/drawing/2014/main" id="{CA066BBC-5B2D-0340-8A5E-0AB09584C5F6}"/>
              </a:ext>
            </a:extLst>
          </p:cNvPr>
          <p:cNvSpPr>
            <a:spLocks noChangeArrowheads="1"/>
          </p:cNvSpPr>
          <p:nvPr/>
        </p:nvSpPr>
        <p:spPr bwMode="auto">
          <a:xfrm>
            <a:off x="917141" y="5880409"/>
            <a:ext cx="10250759" cy="6856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ltLang="en-US" sz="2800" i="1" dirty="0"/>
          </a:p>
        </p:txBody>
      </p:sp>
      <p:grpSp>
        <p:nvGrpSpPr>
          <p:cNvPr id="82" name="Group 81">
            <a:extLst>
              <a:ext uri="{FF2B5EF4-FFF2-40B4-BE49-F238E27FC236}">
                <a16:creationId xmlns:a16="http://schemas.microsoft.com/office/drawing/2014/main" id="{B9D1305C-AF63-6240-8FD1-E69B36970A8F}"/>
              </a:ext>
            </a:extLst>
          </p:cNvPr>
          <p:cNvGrpSpPr/>
          <p:nvPr/>
        </p:nvGrpSpPr>
        <p:grpSpPr>
          <a:xfrm>
            <a:off x="4054353" y="4784334"/>
            <a:ext cx="958850" cy="476251"/>
            <a:chOff x="7493876" y="2774731"/>
            <a:chExt cx="1481958" cy="894622"/>
          </a:xfrm>
        </p:grpSpPr>
        <p:sp>
          <p:nvSpPr>
            <p:cNvPr id="83" name="Freeform 82">
              <a:extLst>
                <a:ext uri="{FF2B5EF4-FFF2-40B4-BE49-F238E27FC236}">
                  <a16:creationId xmlns:a16="http://schemas.microsoft.com/office/drawing/2014/main" id="{E653ABFA-F7DB-F14E-95A5-0FDFB684F5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84" name="Oval 83">
              <a:extLst>
                <a:ext uri="{FF2B5EF4-FFF2-40B4-BE49-F238E27FC236}">
                  <a16:creationId xmlns:a16="http://schemas.microsoft.com/office/drawing/2014/main" id="{07CB97C4-3176-704C-832B-2769F9BD8A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85" name="Group 84">
              <a:extLst>
                <a:ext uri="{FF2B5EF4-FFF2-40B4-BE49-F238E27FC236}">
                  <a16:creationId xmlns:a16="http://schemas.microsoft.com/office/drawing/2014/main" id="{1C4E248C-B7EE-0749-BE84-6D97E6830AA8}"/>
                </a:ext>
              </a:extLst>
            </p:cNvPr>
            <p:cNvGrpSpPr/>
            <p:nvPr/>
          </p:nvGrpSpPr>
          <p:grpSpPr>
            <a:xfrm>
              <a:off x="7713663" y="2848339"/>
              <a:ext cx="1042107" cy="425543"/>
              <a:chOff x="7786941" y="2884917"/>
              <a:chExt cx="897649" cy="353919"/>
            </a:xfrm>
          </p:grpSpPr>
          <p:sp>
            <p:nvSpPr>
              <p:cNvPr id="86" name="Freeform 85">
                <a:extLst>
                  <a:ext uri="{FF2B5EF4-FFF2-40B4-BE49-F238E27FC236}">
                    <a16:creationId xmlns:a16="http://schemas.microsoft.com/office/drawing/2014/main" id="{D8ABCFB8-B1A0-CC43-8976-0D9324A60B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86">
                <a:extLst>
                  <a:ext uri="{FF2B5EF4-FFF2-40B4-BE49-F238E27FC236}">
                    <a16:creationId xmlns:a16="http://schemas.microsoft.com/office/drawing/2014/main" id="{21E1551D-8D59-7F4D-9AC3-A82F786FCB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87">
                <a:extLst>
                  <a:ext uri="{FF2B5EF4-FFF2-40B4-BE49-F238E27FC236}">
                    <a16:creationId xmlns:a16="http://schemas.microsoft.com/office/drawing/2014/main" id="{F50F35D5-457F-BD4D-9C04-D7E77ADC1C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88">
                <a:extLst>
                  <a:ext uri="{FF2B5EF4-FFF2-40B4-BE49-F238E27FC236}">
                    <a16:creationId xmlns:a16="http://schemas.microsoft.com/office/drawing/2014/main" id="{43929AB4-076F-294E-B995-F22B57E519B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 name="Group 3">
            <a:extLst>
              <a:ext uri="{FF2B5EF4-FFF2-40B4-BE49-F238E27FC236}">
                <a16:creationId xmlns:a16="http://schemas.microsoft.com/office/drawing/2014/main" id="{2CCE516A-DB7A-FB49-88E0-3F932755EEE9}"/>
              </a:ext>
            </a:extLst>
          </p:cNvPr>
          <p:cNvGrpSpPr/>
          <p:nvPr/>
        </p:nvGrpSpPr>
        <p:grpSpPr>
          <a:xfrm>
            <a:off x="3293812" y="3967064"/>
            <a:ext cx="2967038" cy="819150"/>
            <a:chOff x="3293812" y="3967064"/>
            <a:chExt cx="2967038" cy="819150"/>
          </a:xfrm>
        </p:grpSpPr>
        <p:sp>
          <p:nvSpPr>
            <p:cNvPr id="72" name="Freeform 77">
              <a:extLst>
                <a:ext uri="{FF2B5EF4-FFF2-40B4-BE49-F238E27FC236}">
                  <a16:creationId xmlns:a16="http://schemas.microsoft.com/office/drawing/2014/main" id="{31E2CC4C-34A2-A74C-B65A-214EFD2400A7}"/>
                </a:ext>
              </a:extLst>
            </p:cNvPr>
            <p:cNvSpPr>
              <a:spLocks/>
            </p:cNvSpPr>
            <p:nvPr/>
          </p:nvSpPr>
          <p:spPr bwMode="auto">
            <a:xfrm>
              <a:off x="3293812" y="3967064"/>
              <a:ext cx="2967038" cy="704850"/>
            </a:xfrm>
            <a:custGeom>
              <a:avLst/>
              <a:gdLst>
                <a:gd name="T0" fmla="*/ 2147483647 w 1869"/>
                <a:gd name="T1" fmla="*/ 0 h 444"/>
                <a:gd name="T2" fmla="*/ 2147483647 w 1869"/>
                <a:gd name="T3" fmla="*/ 2147483647 h 444"/>
                <a:gd name="T4" fmla="*/ 0 w 1869"/>
                <a:gd name="T5" fmla="*/ 2147483647 h 444"/>
                <a:gd name="T6" fmla="*/ 0 60000 65536"/>
                <a:gd name="T7" fmla="*/ 0 60000 65536"/>
                <a:gd name="T8" fmla="*/ 0 60000 65536"/>
                <a:gd name="T9" fmla="*/ 0 w 1869"/>
                <a:gd name="T10" fmla="*/ 0 h 444"/>
                <a:gd name="T11" fmla="*/ 1869 w 1869"/>
                <a:gd name="T12" fmla="*/ 444 h 444"/>
              </a:gdLst>
              <a:ahLst/>
              <a:cxnLst>
                <a:cxn ang="T6">
                  <a:pos x="T0" y="T1"/>
                </a:cxn>
                <a:cxn ang="T7">
                  <a:pos x="T2" y="T3"/>
                </a:cxn>
                <a:cxn ang="T8">
                  <a:pos x="T4" y="T5"/>
                </a:cxn>
              </a:cxnLst>
              <a:rect l="T9" t="T10" r="T11" b="T12"/>
              <a:pathLst>
                <a:path w="1869" h="444">
                  <a:moveTo>
                    <a:pt x="1869" y="0"/>
                  </a:moveTo>
                  <a:lnTo>
                    <a:pt x="1869" y="444"/>
                  </a:lnTo>
                  <a:lnTo>
                    <a:pt x="0" y="444"/>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73" name="Group 78">
              <a:extLst>
                <a:ext uri="{FF2B5EF4-FFF2-40B4-BE49-F238E27FC236}">
                  <a16:creationId xmlns:a16="http://schemas.microsoft.com/office/drawing/2014/main" id="{9CEF9F64-861C-7C4C-8594-4DC43481EB32}"/>
                </a:ext>
              </a:extLst>
            </p:cNvPr>
            <p:cNvGrpSpPr>
              <a:grpSpLocks/>
            </p:cNvGrpSpPr>
            <p:nvPr/>
          </p:nvGrpSpPr>
          <p:grpSpPr bwMode="auto">
            <a:xfrm>
              <a:off x="3760537" y="4449664"/>
              <a:ext cx="2295525" cy="336550"/>
              <a:chOff x="2418" y="3342"/>
              <a:chExt cx="1446" cy="212"/>
            </a:xfrm>
          </p:grpSpPr>
          <p:sp>
            <p:nvSpPr>
              <p:cNvPr id="74" name="Rectangle 79">
                <a:extLst>
                  <a:ext uri="{FF2B5EF4-FFF2-40B4-BE49-F238E27FC236}">
                    <a16:creationId xmlns:a16="http://schemas.microsoft.com/office/drawing/2014/main" id="{A1E49101-6F18-CB48-8EBB-03B456FEE8A6}"/>
                  </a:ext>
                </a:extLst>
              </p:cNvPr>
              <p:cNvSpPr>
                <a:spLocks noChangeArrowheads="1"/>
              </p:cNvSpPr>
              <p:nvPr/>
            </p:nvSpPr>
            <p:spPr bwMode="auto">
              <a:xfrm>
                <a:off x="2463" y="3366"/>
                <a:ext cx="1356" cy="174"/>
              </a:xfrm>
              <a:prstGeom prst="rect">
                <a:avLst/>
              </a:prstGeom>
              <a:solidFill>
                <a:srgbClr val="FFFF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
            <p:nvSpPr>
              <p:cNvPr id="75" name="Line 80">
                <a:extLst>
                  <a:ext uri="{FF2B5EF4-FFF2-40B4-BE49-F238E27FC236}">
                    <a16:creationId xmlns:a16="http://schemas.microsoft.com/office/drawing/2014/main" id="{61144F55-A889-914E-A5B8-46BB6DF4F3B4}"/>
                  </a:ext>
                </a:extLst>
              </p:cNvPr>
              <p:cNvSpPr>
                <a:spLocks noChangeShapeType="1"/>
              </p:cNvSpPr>
              <p:nvPr/>
            </p:nvSpPr>
            <p:spPr bwMode="auto">
              <a:xfrm>
                <a:off x="2784" y="3372"/>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6" name="Line 81">
                <a:extLst>
                  <a:ext uri="{FF2B5EF4-FFF2-40B4-BE49-F238E27FC236}">
                    <a16:creationId xmlns:a16="http://schemas.microsoft.com/office/drawing/2014/main" id="{352FD75E-78ED-5D49-88CB-67A89ED572B2}"/>
                  </a:ext>
                </a:extLst>
              </p:cNvPr>
              <p:cNvSpPr>
                <a:spLocks noChangeShapeType="1"/>
              </p:cNvSpPr>
              <p:nvPr/>
            </p:nvSpPr>
            <p:spPr bwMode="auto">
              <a:xfrm>
                <a:off x="3186"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7" name="Line 82">
                <a:extLst>
                  <a:ext uri="{FF2B5EF4-FFF2-40B4-BE49-F238E27FC236}">
                    <a16:creationId xmlns:a16="http://schemas.microsoft.com/office/drawing/2014/main" id="{F00A1AE7-75BA-9F41-9557-FF2EC164D2A5}"/>
                  </a:ext>
                </a:extLst>
              </p:cNvPr>
              <p:cNvSpPr>
                <a:spLocks noChangeShapeType="1"/>
              </p:cNvSpPr>
              <p:nvPr/>
            </p:nvSpPr>
            <p:spPr bwMode="auto">
              <a:xfrm>
                <a:off x="3321"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8" name="Text Box 83">
                <a:extLst>
                  <a:ext uri="{FF2B5EF4-FFF2-40B4-BE49-F238E27FC236}">
                    <a16:creationId xmlns:a16="http://schemas.microsoft.com/office/drawing/2014/main" id="{581B7D01-7767-D64C-AA40-D460CE7527BE}"/>
                  </a:ext>
                </a:extLst>
              </p:cNvPr>
              <p:cNvSpPr txBox="1">
                <a:spLocks noChangeArrowheads="1"/>
              </p:cNvSpPr>
              <p:nvPr/>
            </p:nvSpPr>
            <p:spPr bwMode="auto">
              <a:xfrm>
                <a:off x="2418" y="3342"/>
                <a:ext cx="144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600">
                    <a:solidFill>
                      <a:srgbClr val="CC0000"/>
                    </a:solidFill>
                  </a:rPr>
                  <a:t>src:B</a:t>
                </a:r>
                <a:r>
                  <a:rPr lang="en-US" altLang="en-US" sz="1600"/>
                  <a:t> dest:A     payload</a:t>
                </a:r>
                <a:endParaRPr lang="en-US" altLang="en-US" sz="1600">
                  <a:latin typeface="Times New Roman" panose="02020603050405020304" pitchFamily="18" charset="0"/>
                </a:endParaRPr>
              </a:p>
            </p:txBody>
          </p:sp>
        </p:grpSp>
      </p:grpSp>
    </p:spTree>
    <p:extLst>
      <p:ext uri="{BB962C8B-B14F-4D97-AF65-F5344CB8AC3E}">
        <p14:creationId xmlns:p14="http://schemas.microsoft.com/office/powerpoint/2010/main" val="3451139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grpId="0" nodeType="afterEffect" nodePh="1">
                                  <p:stCondLst>
                                    <p:cond delay="0"/>
                                  </p:stCondLst>
                                  <p:endCondLst>
                                    <p:cond evt="begin" delay="0">
                                      <p:tn val="9"/>
                                    </p:cond>
                                  </p:endCondLst>
                                  <p:childTnLst>
                                    <p:set>
                                      <p:cBhvr>
                                        <p:cTn id="10" dur="1" fill="hold">
                                          <p:stCondLst>
                                            <p:cond delay="0"/>
                                          </p:stCondLst>
                                        </p:cTn>
                                        <p:tgtEl>
                                          <p:spTgt spid="25"/>
                                        </p:tgtEl>
                                        <p:attrNameLst>
                                          <p:attrName>style.visibility</p:attrName>
                                        </p:attrNameLst>
                                      </p:cBhvr>
                                      <p:to>
                                        <p:strVal val="visible"/>
                                      </p:to>
                                    </p:set>
                                    <p:animEffect transition="in" filter="dissolve">
                                      <p:cBhvr>
                                        <p:cTn id="1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endParaRPr lang="en-US" dirty="0"/>
          </a:p>
        </p:txBody>
      </p:sp>
      <p:sp>
        <p:nvSpPr>
          <p:cNvPr id="201731" name="Slide Number Placeholder 2"/>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1200">
                <a:latin typeface="Tahoma" panose="020B0604030504040204" pitchFamily="34" charset="0"/>
              </a:rPr>
              <a:t>1-</a:t>
            </a:r>
            <a:fld id="{029C103F-E023-4C8D-A432-AE40037EAFF8}" type="slidenum">
              <a:rPr lang="en-US" altLang="en-US" sz="1200">
                <a:latin typeface="Tahoma" panose="020B0604030504040204" pitchFamily="34" charset="0"/>
              </a:rPr>
              <a:pPr>
                <a:lnSpc>
                  <a:spcPct val="100000"/>
                </a:lnSpc>
                <a:spcBef>
                  <a:spcPct val="0"/>
                </a:spcBef>
                <a:buClrTx/>
                <a:buSzTx/>
                <a:buFontTx/>
                <a:buNone/>
              </a:pPr>
              <a:t>119</a:t>
            </a:fld>
            <a:endParaRPr lang="en-US" altLang="en-US" sz="1200">
              <a:latin typeface="Tahoma" panose="020B0604030504040204" pitchFamily="34" charset="0"/>
            </a:endParaRPr>
          </a:p>
        </p:txBody>
      </p:sp>
      <p:pic>
        <p:nvPicPr>
          <p:cNvPr id="201732" name="Picture 2" descr="https://encrypted-tbn2.gstatic.com/images?q=tbn:ANd9GcRMbVFiqVch5m3bgkA5N88cbqXcmrMLfOMl0HnPwLJ26CK46895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5511" y="1958391"/>
            <a:ext cx="7271836" cy="3729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733" name="TextBox 5"/>
          <p:cNvSpPr txBox="1">
            <a:spLocks noChangeArrowheads="1"/>
          </p:cNvSpPr>
          <p:nvPr/>
        </p:nvSpPr>
        <p:spPr bwMode="auto">
          <a:xfrm>
            <a:off x="5085347" y="1095376"/>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ct val="20000"/>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0"/>
              </a:buClr>
              <a:buFont typeface="Arial" panose="020B0604020202020204" pitchFamily="34" charset="0"/>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altLang="en-US" sz="2400" b="1" i="1" dirty="0">
                <a:solidFill>
                  <a:srgbClr val="CC0000"/>
                </a:solidFill>
                <a:latin typeface="Arial" panose="020B0604020202020204" pitchFamily="34" charset="0"/>
              </a:rPr>
              <a:t>IP spoofing</a:t>
            </a:r>
            <a:r>
              <a:rPr lang="en-US" altLang="en-US" sz="2400" i="1" dirty="0">
                <a:solidFill>
                  <a:srgbClr val="CC0000"/>
                </a:solidFill>
                <a:latin typeface="Arial" panose="020B0604020202020204" pitchFamily="34" charset="0"/>
              </a:rPr>
              <a:t>:</a:t>
            </a:r>
            <a:r>
              <a:rPr lang="en-US" altLang="en-US" sz="2400" i="1" dirty="0">
                <a:solidFill>
                  <a:srgbClr val="FF3300"/>
                </a:solidFill>
                <a:latin typeface="Arial" panose="020B0604020202020204" pitchFamily="34" charset="0"/>
              </a:rPr>
              <a:t> </a:t>
            </a:r>
            <a:endParaRPr lang="en-US" altLang="en-US" sz="2400" dirty="0">
              <a:latin typeface="Arial" panose="020B0604020202020204" pitchFamily="34" charset="0"/>
            </a:endParaRPr>
          </a:p>
        </p:txBody>
      </p:sp>
    </p:spTree>
    <p:extLst>
      <p:ext uri="{BB962C8B-B14F-4D97-AF65-F5344CB8AC3E}">
        <p14:creationId xmlns:p14="http://schemas.microsoft.com/office/powerpoint/2010/main" val="110381500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120</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8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rgbClr val="0000A8"/>
              </a:buClr>
            </a:pPr>
            <a:r>
              <a:rPr lang="en-US" altLang="en-US" sz="3200" dirty="0">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1AC63344-35EE-C544-A6A2-95622C90383A}"/>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62881793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arpanet2">
            <a:extLst>
              <a:ext uri="{FF2B5EF4-FFF2-40B4-BE49-F238E27FC236}">
                <a16:creationId xmlns:a16="http://schemas.microsoft.com/office/drawing/2014/main" id="{E7F81C40-077A-8344-A0DD-CCE7EDD754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8458"/>
          <a:stretch>
            <a:fillRect/>
          </a:stretch>
        </p:blipFill>
        <p:spPr bwMode="auto">
          <a:xfrm>
            <a:off x="9282054" y="4269293"/>
            <a:ext cx="2443026" cy="2370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121</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74700" y="2095499"/>
            <a:ext cx="4978400" cy="43475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buFont typeface="Wingdings" charset="2"/>
              <a:buChar char="§"/>
              <a:defRPr/>
            </a:pPr>
            <a:r>
              <a:rPr lang="en-US" dirty="0">
                <a:solidFill>
                  <a:srgbClr val="000099"/>
                </a:solidFill>
              </a:rPr>
              <a:t>1961:</a:t>
            </a:r>
            <a:r>
              <a:rPr lang="en-US" dirty="0"/>
              <a:t> Kleinrock - queueing theory shows effectiveness of packet-switching</a:t>
            </a:r>
          </a:p>
          <a:p>
            <a:pPr marL="287338" indent="-287338">
              <a:buFont typeface="Wingdings" charset="2"/>
              <a:buChar char="§"/>
              <a:defRPr/>
            </a:pPr>
            <a:r>
              <a:rPr lang="en-US" dirty="0">
                <a:solidFill>
                  <a:srgbClr val="000099"/>
                </a:solidFill>
              </a:rPr>
              <a:t>1964:</a:t>
            </a:r>
            <a:r>
              <a:rPr lang="en-US" dirty="0"/>
              <a:t> Baran - packet-switching in military nets</a:t>
            </a:r>
          </a:p>
          <a:p>
            <a:pPr marL="287338" indent="-287338">
              <a:buFont typeface="Wingdings" charset="2"/>
              <a:buChar char="§"/>
              <a:defRPr/>
            </a:pPr>
            <a:r>
              <a:rPr lang="en-US" dirty="0">
                <a:solidFill>
                  <a:srgbClr val="000099"/>
                </a:solidFill>
              </a:rPr>
              <a:t>1967:</a:t>
            </a:r>
            <a:r>
              <a:rPr lang="en-US" dirty="0"/>
              <a:t> ARPAnet conceived by Advanced Research Projects Agency</a:t>
            </a:r>
          </a:p>
          <a:p>
            <a:pPr marL="287338" indent="-287338">
              <a:buFont typeface="Wingdings" charset="2"/>
              <a:buChar char="§"/>
              <a:defRPr/>
            </a:pPr>
            <a:r>
              <a:rPr lang="en-US" dirty="0">
                <a:solidFill>
                  <a:srgbClr val="000099"/>
                </a:solidFill>
              </a:rPr>
              <a:t>1969:</a:t>
            </a:r>
            <a:r>
              <a:rPr lang="en-US" dirty="0"/>
              <a:t> first ARPAnet node operational</a:t>
            </a:r>
          </a:p>
        </p:txBody>
      </p:sp>
      <p:sp>
        <p:nvSpPr>
          <p:cNvPr id="5" name="Rectangle 5">
            <a:extLst>
              <a:ext uri="{FF2B5EF4-FFF2-40B4-BE49-F238E27FC236}">
                <a16:creationId xmlns:a16="http://schemas.microsoft.com/office/drawing/2014/main" id="{002B9E4F-B92F-C246-833A-CE5D8587A03B}"/>
              </a:ext>
            </a:extLst>
          </p:cNvPr>
          <p:cNvSpPr txBox="1">
            <a:spLocks noChangeArrowheads="1"/>
          </p:cNvSpPr>
          <p:nvPr/>
        </p:nvSpPr>
        <p:spPr>
          <a:xfrm>
            <a:off x="6146799" y="2087567"/>
            <a:ext cx="5578281" cy="4343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solidFill>
                  <a:srgbClr val="000099"/>
                </a:solidFill>
                <a:ea typeface="ＭＳ Ｐゴシック" panose="020B0600070205080204" pitchFamily="34" charset="-128"/>
              </a:rPr>
              <a:t>1972:</a:t>
            </a:r>
            <a:r>
              <a:rPr lang="en-US" altLang="en-US" dirty="0">
                <a:ea typeface="ＭＳ Ｐゴシック" panose="020B0600070205080204" pitchFamily="34" charset="-128"/>
              </a:rPr>
              <a:t> </a:t>
            </a:r>
          </a:p>
          <a:p>
            <a:pPr marL="523875" lvl="1" indent="-236538"/>
            <a:r>
              <a:rPr lang="en-US" altLang="en-US" sz="2800" dirty="0">
                <a:ea typeface="Arial" panose="020B0604020202020204" pitchFamily="34" charset="0"/>
              </a:rPr>
              <a:t>ARPAnet public demo</a:t>
            </a:r>
          </a:p>
          <a:p>
            <a:pPr marL="523875" lvl="1" indent="-236538"/>
            <a:r>
              <a:rPr lang="en-US" altLang="en-US" sz="2800" dirty="0">
                <a:ea typeface="Arial" panose="020B0604020202020204" pitchFamily="34" charset="0"/>
              </a:rPr>
              <a:t>NCP (Network Control Protocol) first host-host protocol </a:t>
            </a:r>
          </a:p>
          <a:p>
            <a:pPr marL="523875" lvl="1" indent="-236538"/>
            <a:r>
              <a:rPr lang="en-US" altLang="en-US" sz="2800" dirty="0">
                <a:ea typeface="Arial" panose="020B0604020202020204" pitchFamily="34" charset="0"/>
              </a:rPr>
              <a:t>first e-mail program</a:t>
            </a:r>
          </a:p>
          <a:p>
            <a:pPr marL="523875" lvl="1" indent="-236538"/>
            <a:r>
              <a:rPr lang="en-US" altLang="en-US" sz="2800" dirty="0">
                <a:ea typeface="Arial" panose="020B0604020202020204" pitchFamily="34" charset="0"/>
              </a:rPr>
              <a:t>ARPAnet has 15 nodes</a:t>
            </a:r>
          </a:p>
          <a:p>
            <a:pPr>
              <a:buNone/>
            </a:pPr>
            <a:endParaRPr lang="en-US" altLang="en-US" sz="3200" dirty="0">
              <a:ea typeface="ＭＳ Ｐゴシック" panose="020B0600070205080204" pitchFamily="34" charset="-128"/>
            </a:endParaRPr>
          </a:p>
        </p:txBody>
      </p:sp>
      <p:sp>
        <p:nvSpPr>
          <p:cNvPr id="3" name="Rectangle 2">
            <a:extLst>
              <a:ext uri="{FF2B5EF4-FFF2-40B4-BE49-F238E27FC236}">
                <a16:creationId xmlns:a16="http://schemas.microsoft.com/office/drawing/2014/main" id="{729C0EBB-BEDB-6E47-9336-6C5042E6E6F8}"/>
              </a:ext>
            </a:extLst>
          </p:cNvPr>
          <p:cNvSpPr/>
          <p:nvPr/>
        </p:nvSpPr>
        <p:spPr>
          <a:xfrm>
            <a:off x="799867" y="1211969"/>
            <a:ext cx="7568419" cy="584775"/>
          </a:xfrm>
          <a:prstGeom prst="rect">
            <a:avLst/>
          </a:prstGeom>
        </p:spPr>
        <p:txBody>
          <a:bodyPr wrap="none">
            <a:spAutoFit/>
          </a:bodyPr>
          <a:lstStyle/>
          <a:p>
            <a:r>
              <a:rPr lang="en-US" altLang="en-US" sz="3200" i="1" dirty="0">
                <a:solidFill>
                  <a:srgbClr val="C00000"/>
                </a:solidFill>
              </a:rPr>
              <a:t>1961-1972: Early packet-switching principles</a:t>
            </a:r>
            <a:endParaRPr lang="en-US" altLang="en-US" sz="3200" u="sng" dirty="0">
              <a:solidFill>
                <a:srgbClr val="C00000"/>
              </a:solidFill>
            </a:endParaRPr>
          </a:p>
        </p:txBody>
      </p:sp>
    </p:spTree>
    <p:extLst>
      <p:ext uri="{BB962C8B-B14F-4D97-AF65-F5344CB8AC3E}">
        <p14:creationId xmlns:p14="http://schemas.microsoft.com/office/powerpoint/2010/main" val="1613353161"/>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122</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660400" y="2095499"/>
            <a:ext cx="5283200" cy="434758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solidFill>
                  <a:srgbClr val="000099"/>
                </a:solidFill>
                <a:ea typeface="ＭＳ Ｐゴシック" panose="020B0600070205080204" pitchFamily="34" charset="-128"/>
              </a:rPr>
              <a:t>1970:</a:t>
            </a:r>
            <a:r>
              <a:rPr lang="en-US" altLang="en-US" dirty="0">
                <a:ea typeface="ＭＳ Ｐゴシック" panose="020B0600070205080204" pitchFamily="34" charset="-128"/>
              </a:rPr>
              <a:t> </a:t>
            </a:r>
            <a:r>
              <a:rPr lang="en-US" altLang="en-US" dirty="0" err="1">
                <a:ea typeface="ＭＳ Ｐゴシック" panose="020B0600070205080204" pitchFamily="34" charset="-128"/>
              </a:rPr>
              <a:t>ALOHAnet</a:t>
            </a:r>
            <a:r>
              <a:rPr lang="en-US" altLang="en-US" dirty="0">
                <a:ea typeface="ＭＳ Ｐゴシック" panose="020B0600070205080204" pitchFamily="34" charset="-128"/>
              </a:rPr>
              <a:t> satellite network in Hawaii</a:t>
            </a:r>
          </a:p>
          <a:p>
            <a:r>
              <a:rPr lang="en-US" altLang="en-US" dirty="0">
                <a:solidFill>
                  <a:srgbClr val="000099"/>
                </a:solidFill>
                <a:ea typeface="ＭＳ Ｐゴシック" panose="020B0600070205080204" pitchFamily="34" charset="-128"/>
              </a:rPr>
              <a:t>1974:</a:t>
            </a:r>
            <a:r>
              <a:rPr lang="en-US" altLang="en-US" dirty="0">
                <a:ea typeface="ＭＳ Ｐゴシック" panose="020B0600070205080204" pitchFamily="34" charset="-128"/>
              </a:rPr>
              <a:t> Cerf and Kahn - architecture for interconnecting networks</a:t>
            </a:r>
          </a:p>
          <a:p>
            <a:r>
              <a:rPr lang="en-US" altLang="en-US" dirty="0">
                <a:solidFill>
                  <a:srgbClr val="000099"/>
                </a:solidFill>
                <a:ea typeface="ＭＳ Ｐゴシック" panose="020B0600070205080204" pitchFamily="34" charset="-128"/>
              </a:rPr>
              <a:t>1976:</a:t>
            </a:r>
            <a:r>
              <a:rPr lang="en-US" altLang="en-US" dirty="0">
                <a:ea typeface="ＭＳ Ｐゴシック" panose="020B0600070205080204" pitchFamily="34" charset="-128"/>
              </a:rPr>
              <a:t> Ethernet at Xerox PARC</a:t>
            </a:r>
          </a:p>
          <a:p>
            <a:r>
              <a:rPr lang="en-US" altLang="en-US" dirty="0">
                <a:solidFill>
                  <a:srgbClr val="000099"/>
                </a:solidFill>
                <a:ea typeface="ＭＳ Ｐゴシック" panose="020B0600070205080204" pitchFamily="34" charset="-128"/>
              </a:rPr>
              <a:t>late70’</a:t>
            </a:r>
            <a:r>
              <a:rPr lang="en-US" altLang="ja-JP" dirty="0">
                <a:solidFill>
                  <a:srgbClr val="000099"/>
                </a:solidFill>
                <a:ea typeface="ＭＳ Ｐゴシック" panose="020B0600070205080204" pitchFamily="34" charset="-128"/>
              </a:rPr>
              <a:t>s:</a:t>
            </a:r>
            <a:r>
              <a:rPr lang="en-US" altLang="ja-JP" dirty="0">
                <a:ea typeface="ＭＳ Ｐゴシック" panose="020B0600070205080204" pitchFamily="34" charset="-128"/>
              </a:rPr>
              <a:t> proprietary architectures: </a:t>
            </a:r>
            <a:r>
              <a:rPr lang="en-US" altLang="ja-JP" dirty="0" err="1">
                <a:ea typeface="ＭＳ Ｐゴシック" panose="020B0600070205080204" pitchFamily="34" charset="-128"/>
              </a:rPr>
              <a:t>DECnet</a:t>
            </a:r>
            <a:r>
              <a:rPr lang="en-US" altLang="ja-JP" dirty="0">
                <a:ea typeface="ＭＳ Ｐゴシック" panose="020B0600070205080204" pitchFamily="34" charset="-128"/>
              </a:rPr>
              <a:t>, SNA, XNA</a:t>
            </a:r>
          </a:p>
          <a:p>
            <a:r>
              <a:rPr lang="en-US" altLang="en-US" dirty="0">
                <a:solidFill>
                  <a:srgbClr val="000099"/>
                </a:solidFill>
                <a:ea typeface="ＭＳ Ｐゴシック" panose="020B0600070205080204" pitchFamily="34" charset="-128"/>
              </a:rPr>
              <a:t>late 70’</a:t>
            </a:r>
            <a:r>
              <a:rPr lang="en-US" altLang="ja-JP" dirty="0">
                <a:solidFill>
                  <a:srgbClr val="000099"/>
                </a:solidFill>
                <a:ea typeface="ＭＳ Ｐゴシック" panose="020B0600070205080204" pitchFamily="34" charset="-128"/>
              </a:rPr>
              <a:t>s:</a:t>
            </a:r>
            <a:r>
              <a:rPr lang="en-US" altLang="ja-JP" dirty="0">
                <a:ea typeface="ＭＳ Ｐゴシック" panose="020B0600070205080204" pitchFamily="34" charset="-128"/>
              </a:rPr>
              <a:t> switching fixed length packets (ATM precursor)</a:t>
            </a:r>
          </a:p>
          <a:p>
            <a:r>
              <a:rPr lang="en-US" altLang="en-US" dirty="0">
                <a:solidFill>
                  <a:srgbClr val="000099"/>
                </a:solidFill>
                <a:ea typeface="ＭＳ Ｐゴシック" panose="020B0600070205080204" pitchFamily="34" charset="-128"/>
              </a:rPr>
              <a:t>1979:</a:t>
            </a:r>
            <a:r>
              <a:rPr lang="en-US" altLang="en-US" dirty="0">
                <a:ea typeface="ＭＳ Ｐゴシック" panose="020B0600070205080204" pitchFamily="34" charset="-128"/>
              </a:rPr>
              <a:t> ARPAnet has 200 nodes</a:t>
            </a:r>
          </a:p>
        </p:txBody>
      </p:sp>
      <p:sp>
        <p:nvSpPr>
          <p:cNvPr id="3" name="Rectangle 2">
            <a:extLst>
              <a:ext uri="{FF2B5EF4-FFF2-40B4-BE49-F238E27FC236}">
                <a16:creationId xmlns:a16="http://schemas.microsoft.com/office/drawing/2014/main" id="{729C0EBB-BEDB-6E47-9336-6C5042E6E6F8}"/>
              </a:ext>
            </a:extLst>
          </p:cNvPr>
          <p:cNvSpPr/>
          <p:nvPr/>
        </p:nvSpPr>
        <p:spPr>
          <a:xfrm>
            <a:off x="790785" y="1202606"/>
            <a:ext cx="9238363" cy="584775"/>
          </a:xfrm>
          <a:prstGeom prst="rect">
            <a:avLst/>
          </a:prstGeom>
        </p:spPr>
        <p:txBody>
          <a:bodyPr wrap="none">
            <a:spAutoFit/>
          </a:bodyPr>
          <a:lstStyle/>
          <a:p>
            <a:r>
              <a:rPr lang="en-US" altLang="en-US" sz="3200" i="1" dirty="0">
                <a:solidFill>
                  <a:srgbClr val="C00000"/>
                </a:solidFill>
              </a:rPr>
              <a:t>1972-1980: Internetworking, new and proprietary nets</a:t>
            </a:r>
          </a:p>
        </p:txBody>
      </p:sp>
      <p:sp>
        <p:nvSpPr>
          <p:cNvPr id="8" name="Rectangle 4">
            <a:extLst>
              <a:ext uri="{FF2B5EF4-FFF2-40B4-BE49-F238E27FC236}">
                <a16:creationId xmlns:a16="http://schemas.microsoft.com/office/drawing/2014/main" id="{608262C8-1FAC-0443-9A02-4D30DF80F9F4}"/>
              </a:ext>
            </a:extLst>
          </p:cNvPr>
          <p:cNvSpPr txBox="1">
            <a:spLocks noChangeArrowheads="1"/>
          </p:cNvSpPr>
          <p:nvPr/>
        </p:nvSpPr>
        <p:spPr>
          <a:xfrm>
            <a:off x="6879929" y="2320332"/>
            <a:ext cx="4735804" cy="390285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7475" indent="12700">
              <a:buFont typeface="Wingdings" pitchFamily="2" charset="2"/>
              <a:buNone/>
            </a:pPr>
            <a:r>
              <a:rPr lang="en-US" altLang="en-US" sz="2400" dirty="0">
                <a:solidFill>
                  <a:srgbClr val="000090"/>
                </a:solidFill>
                <a:ea typeface="ＭＳ Ｐゴシック" panose="020B0600070205080204" pitchFamily="34" charset="-128"/>
              </a:rPr>
              <a:t>Cerf and Kahn’</a:t>
            </a:r>
            <a:r>
              <a:rPr lang="en-US" altLang="ja-JP" sz="2400" dirty="0">
                <a:solidFill>
                  <a:srgbClr val="000090"/>
                </a:solidFill>
                <a:ea typeface="ＭＳ Ｐゴシック" panose="020B0600070205080204" pitchFamily="34" charset="-128"/>
              </a:rPr>
              <a:t>s internetworking principles:</a:t>
            </a:r>
          </a:p>
          <a:p>
            <a:pPr marL="473075" lvl="1" indent="-288925">
              <a:buFont typeface="Wingdings" pitchFamily="2" charset="2"/>
              <a:buChar char="§"/>
            </a:pPr>
            <a:r>
              <a:rPr lang="en-US" altLang="en-US" dirty="0">
                <a:ea typeface="Arial" panose="020B0604020202020204" pitchFamily="34" charset="0"/>
              </a:rPr>
              <a:t>minimalism, autonomy - no internal changes required to interconnect networks</a:t>
            </a:r>
          </a:p>
          <a:p>
            <a:pPr marL="473075" lvl="1" indent="-288925">
              <a:buFont typeface="Wingdings" pitchFamily="2" charset="2"/>
              <a:buChar char="§"/>
            </a:pPr>
            <a:r>
              <a:rPr lang="en-US" altLang="en-US" dirty="0">
                <a:ea typeface="Arial" panose="020B0604020202020204" pitchFamily="34" charset="0"/>
              </a:rPr>
              <a:t>best-effort service model</a:t>
            </a:r>
          </a:p>
          <a:p>
            <a:pPr marL="473075" lvl="1" indent="-288925">
              <a:buFont typeface="Wingdings" pitchFamily="2" charset="2"/>
              <a:buChar char="§"/>
            </a:pPr>
            <a:r>
              <a:rPr lang="en-US" altLang="en-US" dirty="0">
                <a:ea typeface="Arial" panose="020B0604020202020204" pitchFamily="34" charset="0"/>
              </a:rPr>
              <a:t>stateless routing</a:t>
            </a:r>
          </a:p>
          <a:p>
            <a:pPr marL="473075" lvl="1" indent="-288925">
              <a:buFont typeface="Wingdings" pitchFamily="2" charset="2"/>
              <a:buChar char="§"/>
            </a:pPr>
            <a:r>
              <a:rPr lang="en-US" altLang="en-US" dirty="0">
                <a:ea typeface="Arial" panose="020B0604020202020204" pitchFamily="34" charset="0"/>
              </a:rPr>
              <a:t>decentralized control</a:t>
            </a:r>
          </a:p>
          <a:p>
            <a:pPr marL="117475" indent="0">
              <a:buFont typeface="Wingdings" pitchFamily="2" charset="2"/>
              <a:buNone/>
            </a:pPr>
            <a:r>
              <a:rPr lang="en-US" altLang="en-US" sz="2400" dirty="0">
                <a:solidFill>
                  <a:srgbClr val="000090"/>
                </a:solidFill>
                <a:ea typeface="ＭＳ Ｐゴシック" panose="020B0600070205080204" pitchFamily="34" charset="-128"/>
              </a:rPr>
              <a:t>define today’</a:t>
            </a:r>
            <a:r>
              <a:rPr lang="en-US" altLang="ja-JP" sz="2400" dirty="0">
                <a:solidFill>
                  <a:srgbClr val="000090"/>
                </a:solidFill>
                <a:ea typeface="ＭＳ Ｐゴシック" panose="020B0600070205080204" pitchFamily="34" charset="-128"/>
              </a:rPr>
              <a:t>s Internet architecture</a:t>
            </a:r>
            <a:endParaRPr lang="en-US" altLang="en-US" sz="2400" dirty="0">
              <a:solidFill>
                <a:srgbClr val="000090"/>
              </a:solidFill>
              <a:ea typeface="ＭＳ Ｐゴシック" panose="020B0600070205080204" pitchFamily="34" charset="-128"/>
            </a:endParaRPr>
          </a:p>
        </p:txBody>
      </p:sp>
      <p:sp>
        <p:nvSpPr>
          <p:cNvPr id="9" name="Rectangle 6">
            <a:extLst>
              <a:ext uri="{FF2B5EF4-FFF2-40B4-BE49-F238E27FC236}">
                <a16:creationId xmlns:a16="http://schemas.microsoft.com/office/drawing/2014/main" id="{21C6B9B7-113F-CF4E-B965-F2D14958F1DE}"/>
              </a:ext>
            </a:extLst>
          </p:cNvPr>
          <p:cNvSpPr>
            <a:spLocks noChangeArrowheads="1"/>
          </p:cNvSpPr>
          <p:nvPr/>
        </p:nvSpPr>
        <p:spPr bwMode="auto">
          <a:xfrm>
            <a:off x="6851353" y="2147296"/>
            <a:ext cx="4978399" cy="4050304"/>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latin typeface="Times New Roman" panose="02020603050405020304" pitchFamily="18" charset="0"/>
            </a:endParaRPr>
          </a:p>
        </p:txBody>
      </p:sp>
    </p:spTree>
    <p:extLst>
      <p:ext uri="{BB962C8B-B14F-4D97-AF65-F5344CB8AC3E}">
        <p14:creationId xmlns:p14="http://schemas.microsoft.com/office/powerpoint/2010/main" val="322330727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123</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62000" y="2095499"/>
            <a:ext cx="4978400" cy="43475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solidFill>
                  <a:srgbClr val="000099"/>
                </a:solidFill>
                <a:ea typeface="ＭＳ Ｐゴシック" panose="020B0600070205080204" pitchFamily="34" charset="-128"/>
              </a:rPr>
              <a:t>1983:</a:t>
            </a:r>
            <a:r>
              <a:rPr lang="en-US" altLang="en-US" dirty="0">
                <a:ea typeface="ＭＳ Ｐゴシック" panose="020B0600070205080204" pitchFamily="34" charset="-128"/>
              </a:rPr>
              <a:t> deployment of TCP/IP</a:t>
            </a:r>
          </a:p>
          <a:p>
            <a:pPr marL="287338" indent="-287338"/>
            <a:r>
              <a:rPr lang="en-US" altLang="en-US" dirty="0">
                <a:solidFill>
                  <a:srgbClr val="000099"/>
                </a:solidFill>
                <a:ea typeface="ＭＳ Ｐゴシック" panose="020B0600070205080204" pitchFamily="34" charset="-128"/>
              </a:rPr>
              <a:t>1982:</a:t>
            </a:r>
            <a:r>
              <a:rPr lang="en-US" altLang="en-US" dirty="0">
                <a:ea typeface="ＭＳ Ｐゴシック" panose="020B0600070205080204" pitchFamily="34" charset="-128"/>
              </a:rPr>
              <a:t> smtp e-mail protocol defined </a:t>
            </a:r>
          </a:p>
          <a:p>
            <a:pPr marL="287338" indent="-287338"/>
            <a:r>
              <a:rPr lang="en-US" altLang="en-US" dirty="0">
                <a:solidFill>
                  <a:srgbClr val="000099"/>
                </a:solidFill>
                <a:ea typeface="ＭＳ Ｐゴシック" panose="020B0600070205080204" pitchFamily="34" charset="-128"/>
              </a:rPr>
              <a:t>1983:</a:t>
            </a:r>
            <a:r>
              <a:rPr lang="en-US" altLang="en-US" dirty="0">
                <a:ea typeface="ＭＳ Ｐゴシック" panose="020B0600070205080204" pitchFamily="34" charset="-128"/>
              </a:rPr>
              <a:t> DNS defined for name-to-IP-address translation</a:t>
            </a:r>
          </a:p>
          <a:p>
            <a:pPr marL="287338" indent="-287338"/>
            <a:r>
              <a:rPr lang="en-US" altLang="en-US" dirty="0">
                <a:solidFill>
                  <a:srgbClr val="000099"/>
                </a:solidFill>
                <a:ea typeface="ＭＳ Ｐゴシック" panose="020B0600070205080204" pitchFamily="34" charset="-128"/>
              </a:rPr>
              <a:t>1985:</a:t>
            </a:r>
            <a:r>
              <a:rPr lang="en-US" altLang="en-US" dirty="0">
                <a:ea typeface="ＭＳ Ｐゴシック" panose="020B0600070205080204" pitchFamily="34" charset="-128"/>
              </a:rPr>
              <a:t> ftp protocol defined</a:t>
            </a:r>
          </a:p>
          <a:p>
            <a:pPr marL="287338" indent="-287338"/>
            <a:r>
              <a:rPr lang="en-US" altLang="en-US" dirty="0">
                <a:solidFill>
                  <a:srgbClr val="000099"/>
                </a:solidFill>
                <a:ea typeface="ＭＳ Ｐゴシック" panose="020B0600070205080204" pitchFamily="34" charset="-128"/>
              </a:rPr>
              <a:t>1988:</a:t>
            </a:r>
            <a:r>
              <a:rPr lang="en-US" altLang="en-US" dirty="0">
                <a:ea typeface="ＭＳ Ｐゴシック" panose="020B0600070205080204" pitchFamily="34" charset="-128"/>
              </a:rPr>
              <a:t> TCP congestion control</a:t>
            </a:r>
          </a:p>
        </p:txBody>
      </p:sp>
      <p:sp>
        <p:nvSpPr>
          <p:cNvPr id="5" name="Rectangle 5">
            <a:extLst>
              <a:ext uri="{FF2B5EF4-FFF2-40B4-BE49-F238E27FC236}">
                <a16:creationId xmlns:a16="http://schemas.microsoft.com/office/drawing/2014/main" id="{002B9E4F-B92F-C246-833A-CE5D8587A03B}"/>
              </a:ext>
            </a:extLst>
          </p:cNvPr>
          <p:cNvSpPr txBox="1">
            <a:spLocks noChangeArrowheads="1"/>
          </p:cNvSpPr>
          <p:nvPr/>
        </p:nvSpPr>
        <p:spPr>
          <a:xfrm>
            <a:off x="6146799" y="2087567"/>
            <a:ext cx="5578281" cy="4343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buFont typeface="Wingdings" charset="2"/>
              <a:buChar char="§"/>
              <a:defRPr/>
            </a:pPr>
            <a:r>
              <a:rPr lang="en-US" dirty="0"/>
              <a:t>new national networks: </a:t>
            </a:r>
            <a:r>
              <a:rPr lang="en-US" dirty="0" err="1"/>
              <a:t>CSnet</a:t>
            </a:r>
            <a:r>
              <a:rPr lang="en-US" dirty="0"/>
              <a:t>, </a:t>
            </a:r>
            <a:r>
              <a:rPr lang="en-US" dirty="0" err="1"/>
              <a:t>BITnet</a:t>
            </a:r>
            <a:r>
              <a:rPr lang="en-US" dirty="0"/>
              <a:t>, </a:t>
            </a:r>
            <a:r>
              <a:rPr lang="en-US" dirty="0" err="1"/>
              <a:t>NSFnet</a:t>
            </a:r>
            <a:r>
              <a:rPr lang="en-US" dirty="0"/>
              <a:t>, Minitel</a:t>
            </a:r>
          </a:p>
          <a:p>
            <a:pPr marL="287338" indent="-287338">
              <a:buFont typeface="Wingdings" charset="2"/>
              <a:buChar char="§"/>
              <a:defRPr/>
            </a:pPr>
            <a:r>
              <a:rPr lang="en-US" dirty="0"/>
              <a:t>100,000 hosts connected to confederation of networks</a:t>
            </a:r>
          </a:p>
          <a:p>
            <a:pPr>
              <a:buNone/>
            </a:pPr>
            <a:endParaRPr lang="en-US" altLang="en-US" sz="3200" dirty="0">
              <a:ea typeface="ＭＳ Ｐゴシック" panose="020B0600070205080204" pitchFamily="34" charset="-128"/>
            </a:endParaRPr>
          </a:p>
        </p:txBody>
      </p:sp>
      <p:sp>
        <p:nvSpPr>
          <p:cNvPr id="3" name="Rectangle 2">
            <a:extLst>
              <a:ext uri="{FF2B5EF4-FFF2-40B4-BE49-F238E27FC236}">
                <a16:creationId xmlns:a16="http://schemas.microsoft.com/office/drawing/2014/main" id="{729C0EBB-BEDB-6E47-9336-6C5042E6E6F8}"/>
              </a:ext>
            </a:extLst>
          </p:cNvPr>
          <p:cNvSpPr/>
          <p:nvPr/>
        </p:nvSpPr>
        <p:spPr>
          <a:xfrm>
            <a:off x="762000" y="1212520"/>
            <a:ext cx="9133462" cy="584775"/>
          </a:xfrm>
          <a:prstGeom prst="rect">
            <a:avLst/>
          </a:prstGeom>
        </p:spPr>
        <p:txBody>
          <a:bodyPr wrap="none">
            <a:spAutoFit/>
          </a:bodyPr>
          <a:lstStyle/>
          <a:p>
            <a:r>
              <a:rPr lang="en-US" altLang="en-US" sz="3200" i="1" dirty="0">
                <a:solidFill>
                  <a:srgbClr val="C00000"/>
                </a:solidFill>
              </a:rPr>
              <a:t>1980-1990: new protocols, a proliferation of networks</a:t>
            </a:r>
          </a:p>
        </p:txBody>
      </p:sp>
      <p:pic>
        <p:nvPicPr>
          <p:cNvPr id="11266" name="Picture 2">
            <a:extLst>
              <a:ext uri="{FF2B5EF4-FFF2-40B4-BE49-F238E27FC236}">
                <a16:creationId xmlns:a16="http://schemas.microsoft.com/office/drawing/2014/main" id="{143D9156-178D-FA4A-ACEB-4C58A8C320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84998" y="3880533"/>
            <a:ext cx="3906331" cy="28750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4438004"/>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124</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87167" y="2079634"/>
            <a:ext cx="5578281" cy="471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dirty="0">
                <a:solidFill>
                  <a:srgbClr val="000099"/>
                </a:solidFill>
                <a:ea typeface="ＭＳ Ｐゴシック" panose="020B0600070205080204" pitchFamily="34" charset="-128"/>
              </a:rPr>
              <a:t>early 1990</a:t>
            </a:r>
            <a:r>
              <a:rPr lang="en-US" altLang="ja-JP" dirty="0">
                <a:solidFill>
                  <a:srgbClr val="000099"/>
                </a:solidFill>
                <a:ea typeface="ＭＳ Ｐゴシック" panose="020B0600070205080204" pitchFamily="34" charset="-128"/>
              </a:rPr>
              <a:t>s:</a:t>
            </a:r>
            <a:r>
              <a:rPr lang="en-US" altLang="ja-JP" dirty="0">
                <a:solidFill>
                  <a:schemeClr val="accent2"/>
                </a:solidFill>
                <a:ea typeface="ＭＳ Ｐゴシック" panose="020B0600070205080204" pitchFamily="34" charset="-128"/>
              </a:rPr>
              <a:t> </a:t>
            </a:r>
            <a:r>
              <a:rPr lang="en-US" altLang="ja-JP" dirty="0">
                <a:ea typeface="ＭＳ Ｐゴシック" panose="020B0600070205080204" pitchFamily="34" charset="-128"/>
              </a:rPr>
              <a:t>ARPAnet decommissioned</a:t>
            </a:r>
          </a:p>
          <a:p>
            <a:pPr marL="287338" indent="-287338"/>
            <a:r>
              <a:rPr lang="en-US" altLang="en-US" dirty="0">
                <a:solidFill>
                  <a:srgbClr val="000099"/>
                </a:solidFill>
                <a:ea typeface="ＭＳ Ｐゴシック" panose="020B0600070205080204" pitchFamily="34" charset="-128"/>
              </a:rPr>
              <a:t>1991:</a:t>
            </a:r>
            <a:r>
              <a:rPr lang="en-US" altLang="en-US" dirty="0">
                <a:solidFill>
                  <a:schemeClr val="accent2"/>
                </a:solidFill>
                <a:ea typeface="ＭＳ Ｐゴシック" panose="020B0600070205080204" pitchFamily="34" charset="-128"/>
              </a:rPr>
              <a:t> </a:t>
            </a:r>
            <a:r>
              <a:rPr lang="en-US" altLang="en-US" dirty="0">
                <a:ea typeface="ＭＳ Ｐゴシック" panose="020B0600070205080204" pitchFamily="34" charset="-128"/>
              </a:rPr>
              <a:t>NSF lifts restrictions on commercial use of </a:t>
            </a:r>
            <a:r>
              <a:rPr lang="en-US" altLang="en-US" dirty="0" err="1">
                <a:ea typeface="ＭＳ Ｐゴシック" panose="020B0600070205080204" pitchFamily="34" charset="-128"/>
              </a:rPr>
              <a:t>NSFnet</a:t>
            </a:r>
            <a:r>
              <a:rPr lang="en-US" altLang="en-US" dirty="0">
                <a:ea typeface="ＭＳ Ｐゴシック" panose="020B0600070205080204" pitchFamily="34" charset="-128"/>
              </a:rPr>
              <a:t> (decommissioned, 1995)</a:t>
            </a:r>
          </a:p>
          <a:p>
            <a:pPr marL="287338" indent="-287338"/>
            <a:r>
              <a:rPr lang="en-US" altLang="en-US" dirty="0">
                <a:solidFill>
                  <a:srgbClr val="000099"/>
                </a:solidFill>
                <a:ea typeface="ＭＳ Ｐゴシック" panose="020B0600070205080204" pitchFamily="34" charset="-128"/>
              </a:rPr>
              <a:t>early 1990s:</a:t>
            </a:r>
            <a:r>
              <a:rPr lang="en-US" altLang="en-US" dirty="0">
                <a:ea typeface="ＭＳ Ｐゴシック" panose="020B0600070205080204" pitchFamily="34" charset="-128"/>
              </a:rPr>
              <a:t> Web</a:t>
            </a:r>
          </a:p>
          <a:p>
            <a:pPr marL="569913" lvl="1" indent="-225425"/>
            <a:r>
              <a:rPr lang="en-US" altLang="en-US" dirty="0">
                <a:ea typeface="Arial" panose="020B0604020202020204" pitchFamily="34" charset="0"/>
              </a:rPr>
              <a:t>hypertext </a:t>
            </a:r>
            <a:r>
              <a:rPr lang="en-US" altLang="en-US" sz="1800" dirty="0">
                <a:ea typeface="Arial" panose="020B0604020202020204" pitchFamily="34" charset="0"/>
              </a:rPr>
              <a:t>[Bush 1945, Nelson 1960</a:t>
            </a:r>
            <a:r>
              <a:rPr lang="en-US" altLang="en-US" sz="1800" dirty="0">
                <a:ea typeface="ＭＳ Ｐゴシック" panose="020B0600070205080204" pitchFamily="34" charset="-128"/>
              </a:rPr>
              <a:t>’</a:t>
            </a:r>
            <a:r>
              <a:rPr lang="en-US" altLang="ja-JP" sz="1800" dirty="0">
                <a:ea typeface="ＭＳ Ｐゴシック" panose="020B0600070205080204" pitchFamily="34" charset="-128"/>
              </a:rPr>
              <a:t>s]</a:t>
            </a:r>
          </a:p>
          <a:p>
            <a:pPr marL="569913" lvl="1" indent="-225425"/>
            <a:r>
              <a:rPr lang="en-US" altLang="en-US" dirty="0">
                <a:ea typeface="Arial" panose="020B0604020202020204" pitchFamily="34" charset="0"/>
              </a:rPr>
              <a:t>HTML, HTTP: Berners-Lee</a:t>
            </a:r>
          </a:p>
          <a:p>
            <a:pPr marL="569913" lvl="1" indent="-225425"/>
            <a:r>
              <a:rPr lang="en-US" altLang="en-US" dirty="0">
                <a:solidFill>
                  <a:srgbClr val="0000A8"/>
                </a:solidFill>
                <a:ea typeface="Arial" panose="020B0604020202020204" pitchFamily="34" charset="0"/>
              </a:rPr>
              <a:t>1994: </a:t>
            </a:r>
            <a:r>
              <a:rPr lang="en-US" altLang="en-US" dirty="0">
                <a:ea typeface="Arial" panose="020B0604020202020204" pitchFamily="34" charset="0"/>
              </a:rPr>
              <a:t>Mosaic, later Netscape</a:t>
            </a:r>
          </a:p>
          <a:p>
            <a:pPr marL="569913" lvl="1" indent="-225425"/>
            <a:r>
              <a:rPr lang="en-US" altLang="en-US" dirty="0">
                <a:solidFill>
                  <a:srgbClr val="0000A8"/>
                </a:solidFill>
                <a:ea typeface="Arial" panose="020B0604020202020204" pitchFamily="34" charset="0"/>
              </a:rPr>
              <a:t>late 1990</a:t>
            </a:r>
            <a:r>
              <a:rPr lang="en-US" altLang="ja-JP" dirty="0">
                <a:solidFill>
                  <a:srgbClr val="0000A8"/>
                </a:solidFill>
                <a:ea typeface="ＭＳ Ｐゴシック" panose="020B0600070205080204" pitchFamily="34" charset="-128"/>
              </a:rPr>
              <a:t>s: </a:t>
            </a:r>
            <a:r>
              <a:rPr lang="en-US" altLang="ja-JP" dirty="0">
                <a:ea typeface="ＭＳ Ｐゴシック" panose="020B0600070205080204" pitchFamily="34" charset="-128"/>
              </a:rPr>
              <a:t>commercialization</a:t>
            </a:r>
            <a:r>
              <a:rPr lang="en-US" altLang="ja-JP" sz="2000" dirty="0">
                <a:ea typeface="ＭＳ Ｐゴシック" panose="020B0600070205080204" pitchFamily="34" charset="-128"/>
              </a:rPr>
              <a:t> of the Web</a:t>
            </a:r>
          </a:p>
        </p:txBody>
      </p:sp>
      <p:sp>
        <p:nvSpPr>
          <p:cNvPr id="5" name="Rectangle 5">
            <a:extLst>
              <a:ext uri="{FF2B5EF4-FFF2-40B4-BE49-F238E27FC236}">
                <a16:creationId xmlns:a16="http://schemas.microsoft.com/office/drawing/2014/main" id="{002B9E4F-B92F-C246-833A-CE5D8587A03B}"/>
              </a:ext>
            </a:extLst>
          </p:cNvPr>
          <p:cNvSpPr txBox="1">
            <a:spLocks noChangeArrowheads="1"/>
          </p:cNvSpPr>
          <p:nvPr/>
        </p:nvSpPr>
        <p:spPr>
          <a:xfrm>
            <a:off x="6146799" y="2087567"/>
            <a:ext cx="5578281" cy="4343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dirty="0">
                <a:solidFill>
                  <a:srgbClr val="000099"/>
                </a:solidFill>
                <a:ea typeface="ＭＳ Ｐゴシック" panose="020B0600070205080204" pitchFamily="34" charset="-128"/>
              </a:rPr>
              <a:t>late 1990</a:t>
            </a:r>
            <a:r>
              <a:rPr lang="en-US" altLang="ja-JP" dirty="0">
                <a:solidFill>
                  <a:srgbClr val="000099"/>
                </a:solidFill>
                <a:ea typeface="ＭＳ Ｐゴシック" panose="020B0600070205080204" pitchFamily="34" charset="-128"/>
              </a:rPr>
              <a:t>s – 2000s:</a:t>
            </a:r>
          </a:p>
          <a:p>
            <a:r>
              <a:rPr lang="en-US" altLang="en-US" dirty="0">
                <a:ea typeface="ＭＳ Ｐゴシック" panose="020B0600070205080204" pitchFamily="34" charset="-128"/>
              </a:rPr>
              <a:t>more killer apps: instant messaging, P2P file sharing</a:t>
            </a:r>
          </a:p>
          <a:p>
            <a:r>
              <a:rPr lang="en-US" altLang="en-US" dirty="0">
                <a:ea typeface="ＭＳ Ｐゴシック" panose="020B0600070205080204" pitchFamily="34" charset="-128"/>
              </a:rPr>
              <a:t>network security to forefront</a:t>
            </a:r>
          </a:p>
          <a:p>
            <a:r>
              <a:rPr lang="en-US" altLang="en-US" dirty="0">
                <a:ea typeface="ＭＳ Ｐゴシック" panose="020B0600070205080204" pitchFamily="34" charset="-128"/>
              </a:rPr>
              <a:t>est. 50 million host, 100 million+ users</a:t>
            </a:r>
          </a:p>
          <a:p>
            <a:r>
              <a:rPr lang="en-US" altLang="en-US" dirty="0">
                <a:ea typeface="ＭＳ Ｐゴシック" panose="020B0600070205080204" pitchFamily="34" charset="-128"/>
              </a:rPr>
              <a:t>backbone links running at Gbps</a:t>
            </a:r>
          </a:p>
          <a:p>
            <a:pPr>
              <a:buNone/>
            </a:pPr>
            <a:endParaRPr lang="en-US" altLang="en-US" sz="3200" dirty="0">
              <a:ea typeface="ＭＳ Ｐゴシック" panose="020B0600070205080204" pitchFamily="34" charset="-128"/>
            </a:endParaRPr>
          </a:p>
        </p:txBody>
      </p:sp>
      <p:sp>
        <p:nvSpPr>
          <p:cNvPr id="3" name="Rectangle 2">
            <a:extLst>
              <a:ext uri="{FF2B5EF4-FFF2-40B4-BE49-F238E27FC236}">
                <a16:creationId xmlns:a16="http://schemas.microsoft.com/office/drawing/2014/main" id="{729C0EBB-BEDB-6E47-9336-6C5042E6E6F8}"/>
              </a:ext>
            </a:extLst>
          </p:cNvPr>
          <p:cNvSpPr/>
          <p:nvPr/>
        </p:nvSpPr>
        <p:spPr>
          <a:xfrm>
            <a:off x="740579" y="1215136"/>
            <a:ext cx="10058908" cy="584775"/>
          </a:xfrm>
          <a:prstGeom prst="rect">
            <a:avLst/>
          </a:prstGeom>
        </p:spPr>
        <p:txBody>
          <a:bodyPr wrap="none">
            <a:spAutoFit/>
          </a:bodyPr>
          <a:lstStyle/>
          <a:p>
            <a:r>
              <a:rPr lang="en-US" altLang="en-US" sz="3200" i="1" dirty="0">
                <a:solidFill>
                  <a:srgbClr val="C00000"/>
                </a:solidFill>
              </a:rPr>
              <a:t>1990, 2000s: commercialization, the Web, new applications</a:t>
            </a:r>
          </a:p>
        </p:txBody>
      </p:sp>
    </p:spTree>
    <p:extLst>
      <p:ext uri="{BB962C8B-B14F-4D97-AF65-F5344CB8AC3E}">
        <p14:creationId xmlns:p14="http://schemas.microsoft.com/office/powerpoint/2010/main" val="373535582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125</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820682" y="1913467"/>
            <a:ext cx="11142134" cy="51308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indent="-342900">
              <a:spcBef>
                <a:spcPts val="600"/>
              </a:spcBef>
            </a:pPr>
            <a:r>
              <a:rPr lang="en-US" altLang="en-US" dirty="0">
                <a:ea typeface="ＭＳ Ｐゴシック" panose="020B0600070205080204" pitchFamily="34" charset="-128"/>
              </a:rPr>
              <a:t>~18B devices attached to Internet </a:t>
            </a:r>
            <a:r>
              <a:rPr lang="en-US" altLang="en-US" sz="2000" dirty="0">
                <a:ea typeface="ＭＳ Ｐゴシック" panose="020B0600070205080204" pitchFamily="34" charset="-128"/>
              </a:rPr>
              <a:t>(2017)</a:t>
            </a:r>
          </a:p>
          <a:p>
            <a:pPr marL="863600" lvl="2" indent="-285750">
              <a:spcBef>
                <a:spcPts val="600"/>
              </a:spcBef>
              <a:buClr>
                <a:srgbClr val="0000A8"/>
              </a:buClr>
            </a:pPr>
            <a:r>
              <a:rPr lang="en-US" altLang="en-US" sz="2400" dirty="0">
                <a:ea typeface="ＭＳ Ｐゴシック" panose="020B0600070205080204" pitchFamily="34" charset="-128"/>
              </a:rPr>
              <a:t>rise of smartphones (iPhone: 2007)</a:t>
            </a:r>
          </a:p>
          <a:p>
            <a:pPr marL="473075" indent="-342900">
              <a:spcBef>
                <a:spcPts val="600"/>
              </a:spcBef>
            </a:pPr>
            <a:r>
              <a:rPr lang="en-US" altLang="en-US" dirty="0">
                <a:ea typeface="ＭＳ Ｐゴシック" panose="020B0600070205080204" pitchFamily="34" charset="-128"/>
              </a:rPr>
              <a:t>aggressive deployment of broadband access</a:t>
            </a:r>
          </a:p>
          <a:p>
            <a:pPr marL="473075" indent="-342900">
              <a:spcBef>
                <a:spcPts val="600"/>
              </a:spcBef>
            </a:pPr>
            <a:r>
              <a:rPr lang="en-US" altLang="en-US" dirty="0">
                <a:ea typeface="ＭＳ Ｐゴシック" panose="020B0600070205080204" pitchFamily="34" charset="-128"/>
              </a:rPr>
              <a:t>increasing ubiquity of high-speed wireless access: 4G/5G, </a:t>
            </a:r>
            <a:r>
              <a:rPr lang="en-US" altLang="en-US" dirty="0" err="1">
                <a:ea typeface="ＭＳ Ｐゴシック" panose="020B0600070205080204" pitchFamily="34" charset="-128"/>
              </a:rPr>
              <a:t>WiFi</a:t>
            </a:r>
            <a:endParaRPr lang="en-US" altLang="en-US" dirty="0">
              <a:ea typeface="ＭＳ Ｐゴシック" panose="020B0600070205080204" pitchFamily="34" charset="-128"/>
            </a:endParaRPr>
          </a:p>
          <a:p>
            <a:pPr marL="473075" indent="-342900">
              <a:spcBef>
                <a:spcPts val="600"/>
              </a:spcBef>
            </a:pPr>
            <a:r>
              <a:rPr lang="en-US" altLang="en-US" dirty="0">
                <a:ea typeface="ＭＳ Ｐゴシック" panose="020B0600070205080204" pitchFamily="34" charset="-128"/>
              </a:rPr>
              <a:t>emergence of online social networks: </a:t>
            </a:r>
          </a:p>
          <a:p>
            <a:pPr marL="920750" lvl="2" indent="-342900">
              <a:spcBef>
                <a:spcPts val="600"/>
              </a:spcBef>
            </a:pPr>
            <a:r>
              <a:rPr lang="en-US" altLang="en-US" dirty="0">
                <a:ea typeface="ＭＳ Ｐゴシック" panose="020B0600070205080204" pitchFamily="34" charset="-128"/>
              </a:rPr>
              <a:t>Facebook: ~ 2.5 billion users</a:t>
            </a:r>
            <a:endParaRPr lang="en-US" altLang="en-US" sz="2400" dirty="0">
              <a:ea typeface="ＭＳ Ｐゴシック" panose="020B0600070205080204" pitchFamily="34" charset="-128"/>
            </a:endParaRPr>
          </a:p>
          <a:p>
            <a:pPr marL="473075" indent="-342900">
              <a:spcBef>
                <a:spcPts val="600"/>
              </a:spcBef>
            </a:pPr>
            <a:r>
              <a:rPr lang="en-US" altLang="en-US" dirty="0">
                <a:ea typeface="ＭＳ Ｐゴシック" panose="020B0600070205080204" pitchFamily="34" charset="-128"/>
              </a:rPr>
              <a:t>service providers </a:t>
            </a:r>
            <a:r>
              <a:rPr lang="en-US" altLang="en-US" sz="2400" dirty="0">
                <a:ea typeface="ＭＳ Ｐゴシック" panose="020B0600070205080204" pitchFamily="34" charset="-128"/>
              </a:rPr>
              <a:t>(Google, FB, Microsoft</a:t>
            </a:r>
            <a:r>
              <a:rPr lang="en-US" altLang="en-US" dirty="0">
                <a:ea typeface="ＭＳ Ｐゴシック" panose="020B0600070205080204" pitchFamily="34" charset="-128"/>
              </a:rPr>
              <a:t>) create their own networks</a:t>
            </a:r>
          </a:p>
          <a:p>
            <a:pPr marL="812800" lvl="2" indent="-234950">
              <a:spcBef>
                <a:spcPts val="600"/>
              </a:spcBef>
            </a:pPr>
            <a:r>
              <a:rPr lang="en-US" altLang="en-US" sz="2400" dirty="0">
                <a:ea typeface="ＭＳ Ｐゴシック" panose="020B0600070205080204" pitchFamily="34" charset="-128"/>
              </a:rPr>
              <a:t>bypass commercial Internet to connect “close” to end user, providing </a:t>
            </a:r>
            <a:r>
              <a:rPr lang="ja-JP" altLang="en-US" sz="2400" dirty="0">
                <a:ea typeface="ＭＳ Ｐゴシック" panose="020B0600070205080204" pitchFamily="34" charset="-128"/>
              </a:rPr>
              <a:t>“</a:t>
            </a:r>
            <a:r>
              <a:rPr lang="en-US" altLang="ja-JP" sz="2400" dirty="0">
                <a:ea typeface="ＭＳ Ｐゴシック" panose="020B0600070205080204" pitchFamily="34" charset="-128"/>
              </a:rPr>
              <a:t>instantaneous</a:t>
            </a:r>
            <a:r>
              <a:rPr lang="ja-JP" altLang="en-US" sz="2400" dirty="0">
                <a:ea typeface="ＭＳ Ｐゴシック" panose="020B0600070205080204" pitchFamily="34" charset="-128"/>
              </a:rPr>
              <a:t>”</a:t>
            </a:r>
            <a:r>
              <a:rPr lang="en-US" altLang="ja-JP" sz="2400" dirty="0">
                <a:ea typeface="ＭＳ Ｐゴシック" panose="020B0600070205080204" pitchFamily="34" charset="-128"/>
              </a:rPr>
              <a:t> access to search, video content, …</a:t>
            </a:r>
          </a:p>
          <a:p>
            <a:pPr marL="473075" indent="-342900">
              <a:spcBef>
                <a:spcPts val="600"/>
              </a:spcBef>
            </a:pPr>
            <a:r>
              <a:rPr lang="en-US" altLang="en-US" dirty="0">
                <a:ea typeface="ＭＳ Ｐゴシック" panose="020B0600070205080204" pitchFamily="34" charset="-128"/>
              </a:rPr>
              <a:t>enterprises run their services in “</a:t>
            </a:r>
            <a:r>
              <a:rPr lang="en-US" altLang="ja-JP" dirty="0">
                <a:ea typeface="ＭＳ Ｐゴシック" panose="020B0600070205080204" pitchFamily="34" charset="-128"/>
              </a:rPr>
              <a:t>cloud” </a:t>
            </a:r>
            <a:r>
              <a:rPr lang="en-US" altLang="ja-JP" sz="2400" dirty="0">
                <a:ea typeface="ＭＳ Ｐゴシック" panose="020B0600070205080204" pitchFamily="34" charset="-128"/>
              </a:rPr>
              <a:t>(e.g., Amazon Web Services, Microsoft Azure)</a:t>
            </a:r>
            <a:endParaRPr lang="en-US" altLang="en-US" dirty="0">
              <a:ea typeface="ＭＳ Ｐゴシック" panose="020B0600070205080204" pitchFamily="34" charset="-128"/>
            </a:endParaRPr>
          </a:p>
        </p:txBody>
      </p:sp>
      <p:sp>
        <p:nvSpPr>
          <p:cNvPr id="3" name="Rectangle 2">
            <a:extLst>
              <a:ext uri="{FF2B5EF4-FFF2-40B4-BE49-F238E27FC236}">
                <a16:creationId xmlns:a16="http://schemas.microsoft.com/office/drawing/2014/main" id="{729C0EBB-BEDB-6E47-9336-6C5042E6E6F8}"/>
              </a:ext>
            </a:extLst>
          </p:cNvPr>
          <p:cNvSpPr/>
          <p:nvPr/>
        </p:nvSpPr>
        <p:spPr>
          <a:xfrm>
            <a:off x="800333" y="1211969"/>
            <a:ext cx="10506209" cy="584775"/>
          </a:xfrm>
          <a:prstGeom prst="rect">
            <a:avLst/>
          </a:prstGeom>
        </p:spPr>
        <p:txBody>
          <a:bodyPr wrap="none">
            <a:spAutoFit/>
          </a:bodyPr>
          <a:lstStyle/>
          <a:p>
            <a:r>
              <a:rPr lang="en-US" altLang="en-US" sz="3200" i="1" dirty="0">
                <a:solidFill>
                  <a:srgbClr val="C00000"/>
                </a:solidFill>
                <a:ea typeface="ＭＳ Ｐゴシック" panose="020B0600070205080204" pitchFamily="34" charset="-128"/>
              </a:rPr>
              <a:t>2005-present: more new applications, Internet is “everywhere”</a:t>
            </a:r>
          </a:p>
        </p:txBody>
      </p:sp>
    </p:spTree>
    <p:extLst>
      <p:ext uri="{BB962C8B-B14F-4D97-AF65-F5344CB8AC3E}">
        <p14:creationId xmlns:p14="http://schemas.microsoft.com/office/powerpoint/2010/main" val="1333665630"/>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Chapter 1: summary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126</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677332" y="1325518"/>
            <a:ext cx="6189609" cy="5219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200" i="1" dirty="0">
                <a:solidFill>
                  <a:srgbClr val="C00000"/>
                </a:solidFill>
                <a:ea typeface="ＭＳ Ｐゴシック" panose="020B0600070205080204" pitchFamily="34" charset="-128"/>
              </a:rPr>
              <a:t>We’ve covered a “</a:t>
            </a:r>
            <a:r>
              <a:rPr lang="en-US" altLang="ja-JP" sz="3200" i="1" dirty="0">
                <a:solidFill>
                  <a:srgbClr val="C00000"/>
                </a:solidFill>
                <a:ea typeface="ＭＳ Ｐゴシック" panose="020B0600070205080204" pitchFamily="34" charset="-128"/>
              </a:rPr>
              <a:t>ton” of material!</a:t>
            </a:r>
          </a:p>
          <a:p>
            <a:pPr marL="473075" indent="-355600">
              <a:lnSpc>
                <a:spcPct val="80000"/>
              </a:lnSpc>
            </a:pPr>
            <a:r>
              <a:rPr lang="en-US" altLang="en-US" dirty="0">
                <a:ea typeface="ＭＳ Ｐゴシック" panose="020B0600070205080204" pitchFamily="34" charset="-128"/>
              </a:rPr>
              <a:t>Internet overview</a:t>
            </a:r>
          </a:p>
          <a:p>
            <a:pPr marL="473075" indent="-355600">
              <a:lnSpc>
                <a:spcPct val="80000"/>
              </a:lnSpc>
            </a:pPr>
            <a:r>
              <a:rPr lang="en-US" altLang="en-US" dirty="0">
                <a:ea typeface="ＭＳ Ｐゴシック" panose="020B0600070205080204" pitchFamily="34" charset="-128"/>
              </a:rPr>
              <a:t>what</a:t>
            </a:r>
            <a:r>
              <a:rPr lang="ja-JP" altLang="en-US">
                <a:ea typeface="ＭＳ Ｐゴシック" panose="020B0600070205080204" pitchFamily="34" charset="-128"/>
              </a:rPr>
              <a:t>’</a:t>
            </a:r>
            <a:r>
              <a:rPr lang="en-US" altLang="ja-JP" dirty="0">
                <a:ea typeface="ＭＳ Ｐゴシック" panose="020B0600070205080204" pitchFamily="34" charset="-128"/>
              </a:rPr>
              <a:t>s a protocol?</a:t>
            </a:r>
          </a:p>
          <a:p>
            <a:pPr marL="473075" indent="-355600">
              <a:lnSpc>
                <a:spcPct val="80000"/>
              </a:lnSpc>
            </a:pPr>
            <a:r>
              <a:rPr lang="en-US" altLang="en-US" dirty="0">
                <a:ea typeface="ＭＳ Ｐゴシック" panose="020B0600070205080204" pitchFamily="34" charset="-128"/>
              </a:rPr>
              <a:t>network edge, access network, core</a:t>
            </a:r>
          </a:p>
          <a:p>
            <a:pPr marL="682625" lvl="1" indent="-225425">
              <a:lnSpc>
                <a:spcPct val="80000"/>
              </a:lnSpc>
            </a:pPr>
            <a:r>
              <a:rPr lang="en-US" altLang="en-US" sz="2800" dirty="0">
                <a:ea typeface="Arial" panose="020B0604020202020204" pitchFamily="34" charset="0"/>
              </a:rPr>
              <a:t>packet-switching versus circuit-switching</a:t>
            </a:r>
          </a:p>
          <a:p>
            <a:pPr marL="682625" lvl="1" indent="-225425">
              <a:lnSpc>
                <a:spcPct val="80000"/>
              </a:lnSpc>
            </a:pPr>
            <a:r>
              <a:rPr lang="en-US" altLang="en-US" sz="2800" dirty="0">
                <a:ea typeface="Arial" panose="020B0604020202020204" pitchFamily="34" charset="0"/>
              </a:rPr>
              <a:t>Internet structure</a:t>
            </a:r>
          </a:p>
          <a:p>
            <a:pPr marL="473075" indent="-406400">
              <a:lnSpc>
                <a:spcPct val="80000"/>
              </a:lnSpc>
            </a:pPr>
            <a:r>
              <a:rPr lang="en-US" altLang="en-US" dirty="0">
                <a:ea typeface="ＭＳ Ｐゴシック" panose="020B0600070205080204" pitchFamily="34" charset="-128"/>
              </a:rPr>
              <a:t>performance: loss, delay, throughput</a:t>
            </a:r>
          </a:p>
          <a:p>
            <a:pPr marL="473075" indent="-406400">
              <a:lnSpc>
                <a:spcPct val="80000"/>
              </a:lnSpc>
            </a:pPr>
            <a:r>
              <a:rPr lang="en-US" altLang="en-US" dirty="0">
                <a:ea typeface="ＭＳ Ｐゴシック" panose="020B0600070205080204" pitchFamily="34" charset="-128"/>
              </a:rPr>
              <a:t>layering, service models</a:t>
            </a:r>
          </a:p>
          <a:p>
            <a:pPr marL="473075" indent="-406400">
              <a:lnSpc>
                <a:spcPct val="80000"/>
              </a:lnSpc>
            </a:pPr>
            <a:r>
              <a:rPr lang="en-US" altLang="en-US" dirty="0">
                <a:ea typeface="ＭＳ Ｐゴシック" panose="020B0600070205080204" pitchFamily="34" charset="-128"/>
              </a:rPr>
              <a:t>security</a:t>
            </a:r>
          </a:p>
          <a:p>
            <a:pPr marL="473075" indent="-406400">
              <a:lnSpc>
                <a:spcPct val="80000"/>
              </a:lnSpc>
            </a:pPr>
            <a:r>
              <a:rPr lang="en-US" altLang="en-US" dirty="0">
                <a:ea typeface="ＭＳ Ｐゴシック" panose="020B0600070205080204" pitchFamily="34" charset="-128"/>
              </a:rPr>
              <a:t>history</a:t>
            </a:r>
            <a:endParaRPr lang="en-US" dirty="0"/>
          </a:p>
        </p:txBody>
      </p:sp>
      <p:sp>
        <p:nvSpPr>
          <p:cNvPr id="7" name="Rectangle 4">
            <a:extLst>
              <a:ext uri="{FF2B5EF4-FFF2-40B4-BE49-F238E27FC236}">
                <a16:creationId xmlns:a16="http://schemas.microsoft.com/office/drawing/2014/main" id="{C3515DDB-81B8-9745-A3D6-9EFD3E80B128}"/>
              </a:ext>
            </a:extLst>
          </p:cNvPr>
          <p:cNvSpPr txBox="1">
            <a:spLocks noChangeArrowheads="1"/>
          </p:cNvSpPr>
          <p:nvPr/>
        </p:nvSpPr>
        <p:spPr>
          <a:xfrm>
            <a:off x="7616592" y="2335167"/>
            <a:ext cx="3724275" cy="36253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00000"/>
                </a:solidFill>
                <a:ea typeface="ＭＳ Ｐゴシック" panose="020B0600070205080204" pitchFamily="34" charset="-128"/>
              </a:rPr>
              <a:t>You now have:</a:t>
            </a:r>
            <a:r>
              <a:rPr lang="en-US" altLang="en-US" dirty="0">
                <a:solidFill>
                  <a:srgbClr val="C00000"/>
                </a:solidFill>
                <a:ea typeface="ＭＳ Ｐゴシック" panose="020B0600070205080204" pitchFamily="34" charset="-128"/>
              </a:rPr>
              <a:t> </a:t>
            </a:r>
          </a:p>
          <a:p>
            <a:pPr marL="473075" indent="-355600"/>
            <a:r>
              <a:rPr lang="en-US" altLang="en-US" sz="3200" dirty="0">
                <a:ea typeface="ＭＳ Ｐゴシック" panose="020B0600070205080204" pitchFamily="34" charset="-128"/>
              </a:rPr>
              <a:t>context, overview, vocabulary,  “</a:t>
            </a:r>
            <a:r>
              <a:rPr lang="en-US" altLang="ja-JP" sz="3200" dirty="0">
                <a:ea typeface="ＭＳ Ｐゴシック" panose="020B0600070205080204" pitchFamily="34" charset="-128"/>
              </a:rPr>
              <a:t>feel” of networking</a:t>
            </a:r>
          </a:p>
          <a:p>
            <a:pPr marL="473075" indent="-355600"/>
            <a:r>
              <a:rPr lang="en-US" altLang="en-US" sz="3200" dirty="0">
                <a:ea typeface="ＭＳ Ｐゴシック" panose="020B0600070205080204" pitchFamily="34" charset="-128"/>
              </a:rPr>
              <a:t>more depth, detail, </a:t>
            </a:r>
            <a:r>
              <a:rPr lang="en-US" altLang="en-US" sz="3200" i="1" dirty="0">
                <a:ea typeface="ＭＳ Ｐゴシック" panose="020B0600070205080204" pitchFamily="34" charset="-128"/>
              </a:rPr>
              <a:t>and fun </a:t>
            </a:r>
            <a:r>
              <a:rPr lang="en-US" altLang="en-US" sz="3200" dirty="0">
                <a:ea typeface="ＭＳ Ｐゴシック" panose="020B0600070205080204" pitchFamily="34" charset="-128"/>
              </a:rPr>
              <a:t>to follow</a:t>
            </a:r>
            <a:r>
              <a:rPr lang="en-US" altLang="en-US" sz="3200" i="1" dirty="0">
                <a:ea typeface="ＭＳ Ｐゴシック" panose="020B0600070205080204" pitchFamily="34" charset="-128"/>
              </a:rPr>
              <a:t>!</a:t>
            </a:r>
            <a:endParaRPr lang="en-US" altLang="en-US" sz="3200" dirty="0">
              <a:ea typeface="ＭＳ Ｐゴシック" panose="020B0600070205080204" pitchFamily="34" charset="-128"/>
            </a:endParaRPr>
          </a:p>
        </p:txBody>
      </p:sp>
    </p:spTree>
    <p:extLst>
      <p:ext uri="{BB962C8B-B14F-4D97-AF65-F5344CB8AC3E}">
        <p14:creationId xmlns:p14="http://schemas.microsoft.com/office/powerpoint/2010/main" val="162208143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1 slides</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127</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Wireshark</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a:t>Introduction: 1-</a:t>
            </a:r>
            <a:fld id="{C4204591-24BD-A542-B9D5-F8D8A88D2FEE}" type="slidenum">
              <a:rPr lang="en-US" smtClean="0"/>
              <a:pPr/>
              <a:t>128</a:t>
            </a:fld>
            <a:endParaRPr lang="en-US" dirty="0"/>
          </a:p>
        </p:txBody>
      </p:sp>
      <p:grpSp>
        <p:nvGrpSpPr>
          <p:cNvPr id="9" name="Group 8">
            <a:extLst>
              <a:ext uri="{FF2B5EF4-FFF2-40B4-BE49-F238E27FC236}">
                <a16:creationId xmlns:a16="http://schemas.microsoft.com/office/drawing/2014/main" id="{1A33CACA-6D4B-914E-879C-D0A4801FDD69}"/>
              </a:ext>
            </a:extLst>
          </p:cNvPr>
          <p:cNvGrpSpPr>
            <a:grpSpLocks/>
          </p:cNvGrpSpPr>
          <p:nvPr/>
        </p:nvGrpSpPr>
        <p:grpSpPr bwMode="auto">
          <a:xfrm>
            <a:off x="3064933" y="1186569"/>
            <a:ext cx="5643563" cy="4216400"/>
            <a:chOff x="824874" y="353539"/>
            <a:chExt cx="5643193" cy="4216279"/>
          </a:xfrm>
        </p:grpSpPr>
        <p:sp>
          <p:nvSpPr>
            <p:cNvPr id="10" name="Freeform 9">
              <a:extLst>
                <a:ext uri="{FF2B5EF4-FFF2-40B4-BE49-F238E27FC236}">
                  <a16:creationId xmlns:a16="http://schemas.microsoft.com/office/drawing/2014/main" id="{84E988EB-48F5-F54C-B9C9-133FDF1668DB}"/>
                </a:ext>
              </a:extLst>
            </p:cNvPr>
            <p:cNvSpPr/>
            <p:nvPr/>
          </p:nvSpPr>
          <p:spPr>
            <a:xfrm>
              <a:off x="824874" y="366239"/>
              <a:ext cx="431772" cy="4203579"/>
            </a:xfrm>
            <a:custGeom>
              <a:avLst/>
              <a:gdLst>
                <a:gd name="connsiteX0" fmla="*/ 0 w 432078"/>
                <a:gd name="connsiteY0" fmla="*/ 4203185 h 4255561"/>
                <a:gd name="connsiteX1" fmla="*/ 418984 w 432078"/>
                <a:gd name="connsiteY1" fmla="*/ 3430637 h 4255561"/>
                <a:gd name="connsiteX2" fmla="*/ 432078 w 432078"/>
                <a:gd name="connsiteY2" fmla="*/ 0 h 4255561"/>
                <a:gd name="connsiteX3" fmla="*/ 117839 w 432078"/>
                <a:gd name="connsiteY3" fmla="*/ 4255561 h 4255561"/>
                <a:gd name="connsiteX0" fmla="*/ 26187 w 458265"/>
                <a:gd name="connsiteY0" fmla="*/ 4203185 h 4216279"/>
                <a:gd name="connsiteX1" fmla="*/ 445171 w 458265"/>
                <a:gd name="connsiteY1" fmla="*/ 3430637 h 4216279"/>
                <a:gd name="connsiteX2" fmla="*/ 458265 w 458265"/>
                <a:gd name="connsiteY2" fmla="*/ 0 h 4216279"/>
                <a:gd name="connsiteX3" fmla="*/ 0 w 458265"/>
                <a:gd name="connsiteY3" fmla="*/ 4216279 h 4216279"/>
                <a:gd name="connsiteX0" fmla="*/ 0 w 432078"/>
                <a:gd name="connsiteY0" fmla="*/ 4203185 h 4203185"/>
                <a:gd name="connsiteX1" fmla="*/ 418984 w 432078"/>
                <a:gd name="connsiteY1" fmla="*/ 3430637 h 4203185"/>
                <a:gd name="connsiteX2" fmla="*/ 432078 w 432078"/>
                <a:gd name="connsiteY2" fmla="*/ 0 h 4203185"/>
                <a:gd name="connsiteX3" fmla="*/ 13093 w 432078"/>
                <a:gd name="connsiteY3" fmla="*/ 4203185 h 4203185"/>
                <a:gd name="connsiteX0" fmla="*/ 0 w 432078"/>
                <a:gd name="connsiteY0" fmla="*/ 4203185 h 4203185"/>
                <a:gd name="connsiteX1" fmla="*/ 418984 w 432078"/>
                <a:gd name="connsiteY1" fmla="*/ 3430637 h 4203185"/>
                <a:gd name="connsiteX2" fmla="*/ 432078 w 432078"/>
                <a:gd name="connsiteY2" fmla="*/ 0 h 4203185"/>
                <a:gd name="connsiteX3" fmla="*/ 13093 w 432078"/>
                <a:gd name="connsiteY3" fmla="*/ 4203185 h 4203185"/>
                <a:gd name="connsiteX4" fmla="*/ 0 w 432078"/>
                <a:gd name="connsiteY4" fmla="*/ 4203185 h 420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78" h="4203185">
                  <a:moveTo>
                    <a:pt x="0" y="4203185"/>
                  </a:moveTo>
                  <a:lnTo>
                    <a:pt x="418984" y="3430637"/>
                  </a:lnTo>
                  <a:cubicBezTo>
                    <a:pt x="423349" y="2287091"/>
                    <a:pt x="427713" y="1143546"/>
                    <a:pt x="432078" y="0"/>
                  </a:cubicBezTo>
                  <a:lnTo>
                    <a:pt x="13093" y="4203185"/>
                  </a:lnTo>
                  <a:lnTo>
                    <a:pt x="0" y="4203185"/>
                  </a:lnTo>
                  <a:close/>
                </a:path>
              </a:pathLst>
            </a:custGeom>
            <a:gradFill flip="none" rotWithShape="1">
              <a:gsLst>
                <a:gs pos="0">
                  <a:schemeClr val="accent5">
                    <a:lumMod val="40000"/>
                    <a:lumOff val="60000"/>
                  </a:schemeClr>
                </a:gs>
                <a:gs pos="100000">
                  <a:schemeClr val="bg1"/>
                </a:gs>
              </a:gsLst>
              <a:lin ang="10800000" scaled="0"/>
              <a:tileRect/>
            </a:gradFill>
            <a:ln>
              <a:noFill/>
            </a:ln>
          </p:spPr>
          <p:txBody>
            <a:bodyPr anchor="ctr"/>
            <a:lstStyle/>
            <a:p>
              <a:pPr algn="ctr">
                <a:defRPr/>
              </a:pPr>
              <a:endParaRPr lang="en-US">
                <a:latin typeface="Arial" charset="0"/>
                <a:ea typeface="ＭＳ Ｐゴシック" charset="0"/>
                <a:cs typeface="ＭＳ Ｐゴシック" charset="0"/>
              </a:endParaRPr>
            </a:p>
          </p:txBody>
        </p:sp>
        <p:sp>
          <p:nvSpPr>
            <p:cNvPr id="11" name="Rectangle 10">
              <a:extLst>
                <a:ext uri="{FF2B5EF4-FFF2-40B4-BE49-F238E27FC236}">
                  <a16:creationId xmlns:a16="http://schemas.microsoft.com/office/drawing/2014/main" id="{1D99EF08-E24A-5A49-9945-D9CA13EA5222}"/>
                </a:ext>
              </a:extLst>
            </p:cNvPr>
            <p:cNvSpPr/>
            <p:nvPr/>
          </p:nvSpPr>
          <p:spPr bwMode="auto">
            <a:xfrm>
              <a:off x="1243947" y="353539"/>
              <a:ext cx="5224120" cy="3430489"/>
            </a:xfrm>
            <a:prstGeom prst="rect">
              <a:avLst/>
            </a:prstGeom>
            <a:solidFill>
              <a:schemeClr val="accent5">
                <a:lumMod val="40000"/>
                <a:lumOff val="60000"/>
              </a:schemeClr>
            </a:solidFill>
            <a:ln w="9525" cap="flat" cmpd="sng" algn="ctr">
              <a:noFill/>
              <a:prstDash val="solid"/>
              <a:round/>
              <a:headEnd type="none" w="med" len="med"/>
              <a:tailEnd type="none" w="med" len="med"/>
            </a:ln>
            <a:effectLst/>
          </p:spPr>
          <p:txBody>
            <a:bodyPr/>
            <a:lstStyle/>
            <a:p>
              <a:pPr>
                <a:defRPr/>
              </a:pPr>
              <a:endParaRPr lang="en-US">
                <a:latin typeface="Arial" charset="0"/>
                <a:ea typeface="ＭＳ Ｐゴシック" charset="0"/>
                <a:cs typeface="ＭＳ Ｐゴシック" charset="0"/>
              </a:endParaRPr>
            </a:p>
          </p:txBody>
        </p:sp>
      </p:grpSp>
      <p:pic>
        <p:nvPicPr>
          <p:cNvPr id="12" name="Picture 12" descr="segment.png">
            <a:extLst>
              <a:ext uri="{FF2B5EF4-FFF2-40B4-BE49-F238E27FC236}">
                <a16:creationId xmlns:a16="http://schemas.microsoft.com/office/drawing/2014/main" id="{31F4545C-714A-6F44-B53A-F7A6D5DA341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130146" y="5561719"/>
            <a:ext cx="3959225" cy="10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0" descr="access_point_stylized_small">
            <a:extLst>
              <a:ext uri="{FF2B5EF4-FFF2-40B4-BE49-F238E27FC236}">
                <a16:creationId xmlns:a16="http://schemas.microsoft.com/office/drawing/2014/main" id="{EB48D454-00B5-A34A-A529-36B7DA8E7A1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19596" y="4609219"/>
            <a:ext cx="1389062" cy="127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0" descr="ethernet.png">
            <a:extLst>
              <a:ext uri="{FF2B5EF4-FFF2-40B4-BE49-F238E27FC236}">
                <a16:creationId xmlns:a16="http://schemas.microsoft.com/office/drawing/2014/main" id="{C5203EF8-627E-2042-8C20-19993C07867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flipH="1">
            <a:off x="2909358" y="4955294"/>
            <a:ext cx="12319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1" descr="ethernet.png">
            <a:extLst>
              <a:ext uri="{FF2B5EF4-FFF2-40B4-BE49-F238E27FC236}">
                <a16:creationId xmlns:a16="http://schemas.microsoft.com/office/drawing/2014/main" id="{578AB9CA-D9FD-954A-98D3-51DB796B2589}"/>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856008" y="4958469"/>
            <a:ext cx="12319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20" descr="ethernet.png">
            <a:extLst>
              <a:ext uri="{FF2B5EF4-FFF2-40B4-BE49-F238E27FC236}">
                <a16:creationId xmlns:a16="http://schemas.microsoft.com/office/drawing/2014/main" id="{4C48A8AC-6418-744D-A910-549C5CD8910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flipH="1">
            <a:off x="9602258" y="4977519"/>
            <a:ext cx="12319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17">
            <a:extLst>
              <a:ext uri="{FF2B5EF4-FFF2-40B4-BE49-F238E27FC236}">
                <a16:creationId xmlns:a16="http://schemas.microsoft.com/office/drawing/2014/main" id="{8E4E911A-CDD2-1346-8084-63A13C627C2A}"/>
              </a:ext>
            </a:extLst>
          </p:cNvPr>
          <p:cNvGrpSpPr>
            <a:grpSpLocks/>
          </p:cNvGrpSpPr>
          <p:nvPr/>
        </p:nvGrpSpPr>
        <p:grpSpPr bwMode="auto">
          <a:xfrm>
            <a:off x="6351058" y="1550106"/>
            <a:ext cx="2327275" cy="3171825"/>
            <a:chOff x="4556452" y="1162095"/>
            <a:chExt cx="2326213" cy="3172030"/>
          </a:xfrm>
        </p:grpSpPr>
        <p:cxnSp>
          <p:nvCxnSpPr>
            <p:cNvPr id="19" name="Straight Connector 46">
              <a:extLst>
                <a:ext uri="{FF2B5EF4-FFF2-40B4-BE49-F238E27FC236}">
                  <a16:creationId xmlns:a16="http://schemas.microsoft.com/office/drawing/2014/main" id="{1899062E-6FBE-F241-9273-440E78FA9B8F}"/>
                </a:ext>
              </a:extLst>
            </p:cNvPr>
            <p:cNvCxnSpPr>
              <a:cxnSpLocks noChangeShapeType="1"/>
            </p:cNvCxnSpPr>
            <p:nvPr/>
          </p:nvCxnSpPr>
          <p:spPr bwMode="auto">
            <a:xfrm>
              <a:off x="5630098" y="2252175"/>
              <a:ext cx="0" cy="2081950"/>
            </a:xfrm>
            <a:prstGeom prst="line">
              <a:avLst/>
            </a:prstGeom>
            <a:noFill/>
            <a:ln w="25400">
              <a:solidFill>
                <a:srgbClr val="00009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0" name="Group 31">
              <a:extLst>
                <a:ext uri="{FF2B5EF4-FFF2-40B4-BE49-F238E27FC236}">
                  <a16:creationId xmlns:a16="http://schemas.microsoft.com/office/drawing/2014/main" id="{0AF4144E-7C91-A14A-9783-8FC3A384D893}"/>
                </a:ext>
              </a:extLst>
            </p:cNvPr>
            <p:cNvGrpSpPr>
              <a:grpSpLocks/>
            </p:cNvGrpSpPr>
            <p:nvPr/>
          </p:nvGrpSpPr>
          <p:grpSpPr bwMode="auto">
            <a:xfrm>
              <a:off x="4635010" y="2856756"/>
              <a:ext cx="2190234" cy="1214863"/>
              <a:chOff x="3862510" y="4375664"/>
              <a:chExt cx="2190234" cy="1214863"/>
            </a:xfrm>
          </p:grpSpPr>
          <p:sp>
            <p:nvSpPr>
              <p:cNvPr id="27" name="Rectangle 26">
                <a:extLst>
                  <a:ext uri="{FF2B5EF4-FFF2-40B4-BE49-F238E27FC236}">
                    <a16:creationId xmlns:a16="http://schemas.microsoft.com/office/drawing/2014/main" id="{AF1FC302-1162-5E49-8F13-1F861DEAC265}"/>
                  </a:ext>
                </a:extLst>
              </p:cNvPr>
              <p:cNvSpPr>
                <a:spLocks noChangeArrowheads="1"/>
              </p:cNvSpPr>
              <p:nvPr/>
            </p:nvSpPr>
            <p:spPr bwMode="auto">
              <a:xfrm>
                <a:off x="3871225" y="4425779"/>
                <a:ext cx="2164362" cy="1152600"/>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a:latin typeface="Arial" charset="0"/>
                  <a:ea typeface="ＭＳ Ｐゴシック" charset="0"/>
                  <a:cs typeface="ＭＳ Ｐゴシック" charset="0"/>
                </a:endParaRPr>
              </a:p>
            </p:txBody>
          </p:sp>
          <p:sp>
            <p:nvSpPr>
              <p:cNvPr id="28" name="TextBox 26">
                <a:extLst>
                  <a:ext uri="{FF2B5EF4-FFF2-40B4-BE49-F238E27FC236}">
                    <a16:creationId xmlns:a16="http://schemas.microsoft.com/office/drawing/2014/main" id="{56611581-6A55-8A48-9D24-B72464937D7D}"/>
                  </a:ext>
                </a:extLst>
              </p:cNvPr>
              <p:cNvSpPr txBox="1">
                <a:spLocks noChangeArrowheads="1"/>
              </p:cNvSpPr>
              <p:nvPr/>
            </p:nvSpPr>
            <p:spPr bwMode="auto">
              <a:xfrm>
                <a:off x="3908617" y="4375664"/>
                <a:ext cx="2012565" cy="121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2200"/>
                  </a:lnSpc>
                </a:pPr>
                <a:r>
                  <a:rPr lang="en-US" altLang="en-US" sz="1600"/>
                  <a:t>Transport</a:t>
                </a:r>
                <a:r>
                  <a:rPr lang="en-US" altLang="en-US" sz="1400"/>
                  <a:t> (TCP/UDP)</a:t>
                </a:r>
              </a:p>
              <a:p>
                <a:pPr algn="ctr">
                  <a:lnSpc>
                    <a:spcPts val="2200"/>
                  </a:lnSpc>
                </a:pPr>
                <a:r>
                  <a:rPr lang="en-US" altLang="en-US" sz="1600"/>
                  <a:t>Network</a:t>
                </a:r>
                <a:r>
                  <a:rPr lang="en-US" altLang="en-US" sz="1400"/>
                  <a:t> (IP)</a:t>
                </a:r>
              </a:p>
              <a:p>
                <a:pPr algn="ctr">
                  <a:lnSpc>
                    <a:spcPts val="2200"/>
                  </a:lnSpc>
                </a:pPr>
                <a:r>
                  <a:rPr lang="en-US" altLang="en-US" sz="1600"/>
                  <a:t>Link</a:t>
                </a:r>
                <a:r>
                  <a:rPr lang="en-US" altLang="en-US" sz="1400"/>
                  <a:t> (Ethernet)</a:t>
                </a:r>
              </a:p>
              <a:p>
                <a:pPr algn="ctr">
                  <a:lnSpc>
                    <a:spcPts val="2200"/>
                  </a:lnSpc>
                </a:pPr>
                <a:r>
                  <a:rPr lang="en-US" altLang="en-US" sz="1600"/>
                  <a:t>Physical</a:t>
                </a:r>
              </a:p>
            </p:txBody>
          </p:sp>
          <p:cxnSp>
            <p:nvCxnSpPr>
              <p:cNvPr id="29" name="Straight Connector 28">
                <a:extLst>
                  <a:ext uri="{FF2B5EF4-FFF2-40B4-BE49-F238E27FC236}">
                    <a16:creationId xmlns:a16="http://schemas.microsoft.com/office/drawing/2014/main" id="{FC616FD6-92BE-1448-8332-F8CB3AA88822}"/>
                  </a:ext>
                </a:extLst>
              </p:cNvPr>
              <p:cNvCxnSpPr>
                <a:cxnSpLocks noChangeShapeType="1"/>
              </p:cNvCxnSpPr>
              <p:nvPr/>
            </p:nvCxnSpPr>
            <p:spPr bwMode="auto">
              <a:xfrm>
                <a:off x="3862510" y="4740040"/>
                <a:ext cx="2173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Connector 29">
                <a:extLst>
                  <a:ext uri="{FF2B5EF4-FFF2-40B4-BE49-F238E27FC236}">
                    <a16:creationId xmlns:a16="http://schemas.microsoft.com/office/drawing/2014/main" id="{7AAC730B-8F83-7642-90A1-7970CED73F25}"/>
                  </a:ext>
                </a:extLst>
              </p:cNvPr>
              <p:cNvCxnSpPr>
                <a:cxnSpLocks noChangeShapeType="1"/>
              </p:cNvCxnSpPr>
              <p:nvPr/>
            </p:nvCxnSpPr>
            <p:spPr bwMode="auto">
              <a:xfrm>
                <a:off x="3870887" y="5023380"/>
                <a:ext cx="2173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Straight Connector 30">
                <a:extLst>
                  <a:ext uri="{FF2B5EF4-FFF2-40B4-BE49-F238E27FC236}">
                    <a16:creationId xmlns:a16="http://schemas.microsoft.com/office/drawing/2014/main" id="{53BDE145-CB48-5B40-B0B6-53D48FB66E44}"/>
                  </a:ext>
                </a:extLst>
              </p:cNvPr>
              <p:cNvCxnSpPr>
                <a:cxnSpLocks noChangeShapeType="1"/>
              </p:cNvCxnSpPr>
              <p:nvPr/>
            </p:nvCxnSpPr>
            <p:spPr bwMode="auto">
              <a:xfrm>
                <a:off x="3879264" y="5306720"/>
                <a:ext cx="2173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 name="Group 35">
              <a:extLst>
                <a:ext uri="{FF2B5EF4-FFF2-40B4-BE49-F238E27FC236}">
                  <a16:creationId xmlns:a16="http://schemas.microsoft.com/office/drawing/2014/main" id="{6BDEDF86-62AF-3545-8A5C-C023BBBAE625}"/>
                </a:ext>
              </a:extLst>
            </p:cNvPr>
            <p:cNvGrpSpPr>
              <a:grpSpLocks/>
            </p:cNvGrpSpPr>
            <p:nvPr/>
          </p:nvGrpSpPr>
          <p:grpSpPr bwMode="auto">
            <a:xfrm>
              <a:off x="4811526" y="1162095"/>
              <a:ext cx="1529986" cy="1021335"/>
              <a:chOff x="4130677" y="5836665"/>
              <a:chExt cx="1529986" cy="1021335"/>
            </a:xfrm>
          </p:grpSpPr>
          <p:sp>
            <p:nvSpPr>
              <p:cNvPr id="25" name="Rectangle 24">
                <a:extLst>
                  <a:ext uri="{FF2B5EF4-FFF2-40B4-BE49-F238E27FC236}">
                    <a16:creationId xmlns:a16="http://schemas.microsoft.com/office/drawing/2014/main" id="{2BFC0C6C-CBAC-0D4C-A25C-CD01CD655AFE}"/>
                  </a:ext>
                </a:extLst>
              </p:cNvPr>
              <p:cNvSpPr>
                <a:spLocks noChangeArrowheads="1"/>
              </p:cNvSpPr>
              <p:nvPr/>
            </p:nvSpPr>
            <p:spPr bwMode="auto">
              <a:xfrm>
                <a:off x="4191372" y="5836665"/>
                <a:ext cx="1464594" cy="1020829"/>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a:latin typeface="Arial" charset="0"/>
                  <a:ea typeface="ＭＳ Ｐゴシック" charset="0"/>
                  <a:cs typeface="ＭＳ Ｐゴシック" charset="0"/>
                </a:endParaRPr>
              </a:p>
            </p:txBody>
          </p:sp>
          <p:sp>
            <p:nvSpPr>
              <p:cNvPr id="26" name="TextBox 34">
                <a:extLst>
                  <a:ext uri="{FF2B5EF4-FFF2-40B4-BE49-F238E27FC236}">
                    <a16:creationId xmlns:a16="http://schemas.microsoft.com/office/drawing/2014/main" id="{154423E1-413E-D941-BE7F-12C38BEA0F11}"/>
                  </a:ext>
                </a:extLst>
              </p:cNvPr>
              <p:cNvSpPr txBox="1">
                <a:spLocks noChangeArrowheads="1"/>
              </p:cNvSpPr>
              <p:nvPr/>
            </p:nvSpPr>
            <p:spPr bwMode="auto">
              <a:xfrm>
                <a:off x="4130677" y="5913072"/>
                <a:ext cx="1529986"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600"/>
                  <a:t>application</a:t>
                </a:r>
              </a:p>
              <a:p>
                <a:pPr algn="ctr"/>
                <a:r>
                  <a:rPr lang="en-US" altLang="en-US" sz="1600"/>
                  <a:t>(www browser, </a:t>
                </a:r>
              </a:p>
              <a:p>
                <a:pPr algn="ctr"/>
                <a:r>
                  <a:rPr lang="en-US" altLang="en-US" sz="1600"/>
                  <a:t>email client</a:t>
                </a:r>
                <a:r>
                  <a:rPr lang="en-US" altLang="en-US" sz="2000"/>
                  <a:t>)</a:t>
                </a:r>
              </a:p>
            </p:txBody>
          </p:sp>
        </p:grpSp>
        <p:cxnSp>
          <p:nvCxnSpPr>
            <p:cNvPr id="22" name="Straight Connector 37">
              <a:extLst>
                <a:ext uri="{FF2B5EF4-FFF2-40B4-BE49-F238E27FC236}">
                  <a16:creationId xmlns:a16="http://schemas.microsoft.com/office/drawing/2014/main" id="{4A29DB5B-3F11-884B-AB9A-298FDA78DB79}"/>
                </a:ext>
              </a:extLst>
            </p:cNvPr>
            <p:cNvCxnSpPr>
              <a:cxnSpLocks noChangeShapeType="1"/>
            </p:cNvCxnSpPr>
            <p:nvPr/>
          </p:nvCxnSpPr>
          <p:spPr bwMode="auto">
            <a:xfrm flipV="1">
              <a:off x="4556452" y="2631900"/>
              <a:ext cx="2108014" cy="1309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Box 38">
              <a:extLst>
                <a:ext uri="{FF2B5EF4-FFF2-40B4-BE49-F238E27FC236}">
                  <a16:creationId xmlns:a16="http://schemas.microsoft.com/office/drawing/2014/main" id="{A1004907-9073-D549-98A7-95D39588D447}"/>
                </a:ext>
              </a:extLst>
            </p:cNvPr>
            <p:cNvSpPr txBox="1">
              <a:spLocks noChangeArrowheads="1"/>
            </p:cNvSpPr>
            <p:nvPr/>
          </p:nvSpPr>
          <p:spPr bwMode="auto">
            <a:xfrm>
              <a:off x="5839591" y="2252173"/>
              <a:ext cx="10430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400"/>
                <a:t>application</a:t>
              </a:r>
            </a:p>
          </p:txBody>
        </p:sp>
        <p:sp>
          <p:nvSpPr>
            <p:cNvPr id="24" name="TextBox 39">
              <a:extLst>
                <a:ext uri="{FF2B5EF4-FFF2-40B4-BE49-F238E27FC236}">
                  <a16:creationId xmlns:a16="http://schemas.microsoft.com/office/drawing/2014/main" id="{409E8C39-FFD0-6441-9ADC-D3F798651E37}"/>
                </a:ext>
              </a:extLst>
            </p:cNvPr>
            <p:cNvSpPr txBox="1">
              <a:spLocks noChangeArrowheads="1"/>
            </p:cNvSpPr>
            <p:nvPr/>
          </p:nvSpPr>
          <p:spPr bwMode="auto">
            <a:xfrm>
              <a:off x="6105684" y="2627171"/>
              <a:ext cx="4440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400"/>
                <a:t>OS</a:t>
              </a:r>
            </a:p>
          </p:txBody>
        </p:sp>
      </p:grpSp>
      <p:grpSp>
        <p:nvGrpSpPr>
          <p:cNvPr id="32" name="Group 31">
            <a:extLst>
              <a:ext uri="{FF2B5EF4-FFF2-40B4-BE49-F238E27FC236}">
                <a16:creationId xmlns:a16="http://schemas.microsoft.com/office/drawing/2014/main" id="{EFF2F1FE-AA65-BD42-827C-95CF21339B3A}"/>
              </a:ext>
            </a:extLst>
          </p:cNvPr>
          <p:cNvGrpSpPr>
            <a:grpSpLocks/>
          </p:cNvGrpSpPr>
          <p:nvPr/>
        </p:nvGrpSpPr>
        <p:grpSpPr bwMode="auto">
          <a:xfrm>
            <a:off x="3571346" y="1265944"/>
            <a:ext cx="2925231" cy="3168113"/>
            <a:chOff x="1775964" y="877299"/>
            <a:chExt cx="2925206" cy="3168757"/>
          </a:xfrm>
        </p:grpSpPr>
        <p:grpSp>
          <p:nvGrpSpPr>
            <p:cNvPr id="33" name="Group 44">
              <a:extLst>
                <a:ext uri="{FF2B5EF4-FFF2-40B4-BE49-F238E27FC236}">
                  <a16:creationId xmlns:a16="http://schemas.microsoft.com/office/drawing/2014/main" id="{8C4A5E14-6678-0743-BA67-8633682C537B}"/>
                </a:ext>
              </a:extLst>
            </p:cNvPr>
            <p:cNvGrpSpPr>
              <a:grpSpLocks/>
            </p:cNvGrpSpPr>
            <p:nvPr/>
          </p:nvGrpSpPr>
          <p:grpSpPr bwMode="auto">
            <a:xfrm>
              <a:off x="1846152" y="877299"/>
              <a:ext cx="1597376" cy="3168757"/>
              <a:chOff x="1636659" y="183316"/>
              <a:chExt cx="1597376" cy="3168757"/>
            </a:xfrm>
          </p:grpSpPr>
          <p:grpSp>
            <p:nvGrpSpPr>
              <p:cNvPr id="38" name="Group 22">
                <a:extLst>
                  <a:ext uri="{FF2B5EF4-FFF2-40B4-BE49-F238E27FC236}">
                    <a16:creationId xmlns:a16="http://schemas.microsoft.com/office/drawing/2014/main" id="{459552ED-E99E-1244-8AC2-852FAB00AF50}"/>
                  </a:ext>
                </a:extLst>
              </p:cNvPr>
              <p:cNvGrpSpPr>
                <a:grpSpLocks/>
              </p:cNvGrpSpPr>
              <p:nvPr/>
            </p:nvGrpSpPr>
            <p:grpSpPr bwMode="auto">
              <a:xfrm>
                <a:off x="1780781" y="2206785"/>
                <a:ext cx="1295389" cy="1041028"/>
                <a:chOff x="3116291" y="4275642"/>
                <a:chExt cx="1295389" cy="1041028"/>
              </a:xfrm>
            </p:grpSpPr>
            <p:sp>
              <p:nvSpPr>
                <p:cNvPr id="44" name="Rectangle 43">
                  <a:extLst>
                    <a:ext uri="{FF2B5EF4-FFF2-40B4-BE49-F238E27FC236}">
                      <a16:creationId xmlns:a16="http://schemas.microsoft.com/office/drawing/2014/main" id="{8B9342A8-AF2E-824F-B7B1-36C01D52F9D7}"/>
                    </a:ext>
                  </a:extLst>
                </p:cNvPr>
                <p:cNvSpPr>
                  <a:spLocks noChangeArrowheads="1"/>
                </p:cNvSpPr>
                <p:nvPr/>
              </p:nvSpPr>
              <p:spPr bwMode="auto">
                <a:xfrm>
                  <a:off x="3116291" y="4298876"/>
                  <a:ext cx="1295389" cy="1017794"/>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a:latin typeface="Arial" charset="0"/>
                    <a:ea typeface="ＭＳ Ｐゴシック" charset="0"/>
                    <a:cs typeface="ＭＳ Ｐゴシック" charset="0"/>
                  </a:endParaRPr>
                </a:p>
              </p:txBody>
            </p:sp>
            <p:sp>
              <p:nvSpPr>
                <p:cNvPr id="45" name="TextBox 14">
                  <a:extLst>
                    <a:ext uri="{FF2B5EF4-FFF2-40B4-BE49-F238E27FC236}">
                      <a16:creationId xmlns:a16="http://schemas.microsoft.com/office/drawing/2014/main" id="{BEC95393-BE24-BB43-AD77-D43EC965B45E}"/>
                    </a:ext>
                  </a:extLst>
                </p:cNvPr>
                <p:cNvSpPr txBox="1">
                  <a:spLocks noChangeArrowheads="1"/>
                </p:cNvSpPr>
                <p:nvPr/>
              </p:nvSpPr>
              <p:spPr bwMode="auto">
                <a:xfrm>
                  <a:off x="3151788" y="4275642"/>
                  <a:ext cx="119737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t>packet</a:t>
                  </a:r>
                </a:p>
                <a:p>
                  <a:pPr algn="ctr"/>
                  <a:r>
                    <a:rPr lang="en-US" altLang="en-US" sz="2000" dirty="0"/>
                    <a:t>capture</a:t>
                  </a:r>
                </a:p>
                <a:p>
                  <a:pPr algn="ctr"/>
                  <a:r>
                    <a:rPr lang="en-US" altLang="en-US" sz="2000" dirty="0"/>
                    <a:t>(</a:t>
                  </a:r>
                  <a:r>
                    <a:rPr lang="en-US" altLang="en-US" sz="2000" dirty="0" err="1"/>
                    <a:t>pcap</a:t>
                  </a:r>
                  <a:r>
                    <a:rPr lang="en-US" altLang="en-US" sz="2000" dirty="0"/>
                    <a:t>)</a:t>
                  </a:r>
                </a:p>
              </p:txBody>
            </p:sp>
          </p:grpSp>
          <p:grpSp>
            <p:nvGrpSpPr>
              <p:cNvPr id="39" name="Group 23">
                <a:extLst>
                  <a:ext uri="{FF2B5EF4-FFF2-40B4-BE49-F238E27FC236}">
                    <a16:creationId xmlns:a16="http://schemas.microsoft.com/office/drawing/2014/main" id="{C0A5C2D9-6816-4840-9C13-3A6C5D4DB2D0}"/>
                  </a:ext>
                </a:extLst>
              </p:cNvPr>
              <p:cNvGrpSpPr>
                <a:grpSpLocks/>
              </p:cNvGrpSpPr>
              <p:nvPr/>
            </p:nvGrpSpPr>
            <p:grpSpPr bwMode="auto">
              <a:xfrm>
                <a:off x="1773794" y="863478"/>
                <a:ext cx="1296233" cy="707886"/>
                <a:chOff x="865524" y="5161570"/>
                <a:chExt cx="1296233" cy="707886"/>
              </a:xfrm>
            </p:grpSpPr>
            <p:sp>
              <p:nvSpPr>
                <p:cNvPr id="42" name="Rectangle 41">
                  <a:extLst>
                    <a:ext uri="{FF2B5EF4-FFF2-40B4-BE49-F238E27FC236}">
                      <a16:creationId xmlns:a16="http://schemas.microsoft.com/office/drawing/2014/main" id="{63608655-FBDC-3C4A-BA7F-D1DB2F745DEC}"/>
                    </a:ext>
                  </a:extLst>
                </p:cNvPr>
                <p:cNvSpPr>
                  <a:spLocks noChangeArrowheads="1"/>
                </p:cNvSpPr>
                <p:nvPr/>
              </p:nvSpPr>
              <p:spPr bwMode="auto">
                <a:xfrm>
                  <a:off x="861399" y="5200691"/>
                  <a:ext cx="1300151" cy="668474"/>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a:latin typeface="Arial" charset="0"/>
                    <a:ea typeface="ＭＳ Ｐゴシック" charset="0"/>
                    <a:cs typeface="ＭＳ Ｐゴシック" charset="0"/>
                  </a:endParaRPr>
                </a:p>
              </p:txBody>
            </p:sp>
            <p:sp>
              <p:nvSpPr>
                <p:cNvPr id="43" name="TextBox 16">
                  <a:extLst>
                    <a:ext uri="{FF2B5EF4-FFF2-40B4-BE49-F238E27FC236}">
                      <a16:creationId xmlns:a16="http://schemas.microsoft.com/office/drawing/2014/main" id="{FCA77183-AC62-DD47-AF14-D0B0CFE9AE88}"/>
                    </a:ext>
                  </a:extLst>
                </p:cNvPr>
                <p:cNvSpPr txBox="1">
                  <a:spLocks noChangeArrowheads="1"/>
                </p:cNvSpPr>
                <p:nvPr/>
              </p:nvSpPr>
              <p:spPr bwMode="auto">
                <a:xfrm>
                  <a:off x="937846" y="5161570"/>
                  <a:ext cx="115929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a:t>packet</a:t>
                  </a:r>
                </a:p>
                <a:p>
                  <a:pPr algn="ctr"/>
                  <a:r>
                    <a:rPr lang="en-US" altLang="en-US" sz="2000"/>
                    <a:t>analyzer</a:t>
                  </a:r>
                </a:p>
              </p:txBody>
            </p:sp>
          </p:grpSp>
          <p:sp>
            <p:nvSpPr>
              <p:cNvPr id="40" name="Rectangle 42">
                <a:extLst>
                  <a:ext uri="{FF2B5EF4-FFF2-40B4-BE49-F238E27FC236}">
                    <a16:creationId xmlns:a16="http://schemas.microsoft.com/office/drawing/2014/main" id="{3227ABC3-B012-C747-BD3D-F450FBF094E9}"/>
                  </a:ext>
                </a:extLst>
              </p:cNvPr>
              <p:cNvSpPr>
                <a:spLocks noChangeArrowheads="1"/>
              </p:cNvSpPr>
              <p:nvPr/>
            </p:nvSpPr>
            <p:spPr bwMode="auto">
              <a:xfrm>
                <a:off x="1636659" y="183316"/>
                <a:ext cx="1597376" cy="3168757"/>
              </a:xfrm>
              <a:prstGeom prst="rect">
                <a:avLst/>
              </a:prstGeom>
              <a:noFill/>
              <a:ln w="22225">
                <a:solidFill>
                  <a:srgbClr val="000090"/>
                </a:solidFill>
                <a:prstDash val="sysDash"/>
                <a:round/>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pic>
            <p:nvPicPr>
              <p:cNvPr id="41" name="Picture 43">
                <a:extLst>
                  <a:ext uri="{FF2B5EF4-FFF2-40B4-BE49-F238E27FC236}">
                    <a16:creationId xmlns:a16="http://schemas.microsoft.com/office/drawing/2014/main" id="{59BA13CB-07BE-694A-91F7-B0920A13488E}"/>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859241" y="230951"/>
                <a:ext cx="1089265" cy="36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34" name="Straight Connector 47">
              <a:extLst>
                <a:ext uri="{FF2B5EF4-FFF2-40B4-BE49-F238E27FC236}">
                  <a16:creationId xmlns:a16="http://schemas.microsoft.com/office/drawing/2014/main" id="{3923F7AD-F0C3-3243-8CD4-DDD92CA174B9}"/>
                </a:ext>
              </a:extLst>
            </p:cNvPr>
            <p:cNvCxnSpPr>
              <a:cxnSpLocks noChangeShapeType="1"/>
            </p:cNvCxnSpPr>
            <p:nvPr/>
          </p:nvCxnSpPr>
          <p:spPr bwMode="auto">
            <a:xfrm>
              <a:off x="2640118" y="2330738"/>
              <a:ext cx="0" cy="558315"/>
            </a:xfrm>
            <a:prstGeom prst="line">
              <a:avLst/>
            </a:prstGeom>
            <a:noFill/>
            <a:ln w="25400">
              <a:solidFill>
                <a:srgbClr val="00009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50">
              <a:extLst>
                <a:ext uri="{FF2B5EF4-FFF2-40B4-BE49-F238E27FC236}">
                  <a16:creationId xmlns:a16="http://schemas.microsoft.com/office/drawing/2014/main" id="{AB415A04-E5C0-364E-A75C-CCB02FD025F8}"/>
                </a:ext>
              </a:extLst>
            </p:cNvPr>
            <p:cNvCxnSpPr>
              <a:cxnSpLocks noChangeShapeType="1"/>
            </p:cNvCxnSpPr>
            <p:nvPr/>
          </p:nvCxnSpPr>
          <p:spPr bwMode="auto">
            <a:xfrm>
              <a:off x="3116195" y="3653236"/>
              <a:ext cx="1427164" cy="0"/>
            </a:xfrm>
            <a:prstGeom prst="line">
              <a:avLst/>
            </a:prstGeom>
            <a:noFill/>
            <a:ln w="25400">
              <a:solidFill>
                <a:srgbClr val="00009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 name="TextBox 56">
              <a:extLst>
                <a:ext uri="{FF2B5EF4-FFF2-40B4-BE49-F238E27FC236}">
                  <a16:creationId xmlns:a16="http://schemas.microsoft.com/office/drawing/2014/main" id="{86A658DD-FDA2-DF4A-9996-8E851F97C66D}"/>
                </a:ext>
              </a:extLst>
            </p:cNvPr>
            <p:cNvSpPr txBox="1">
              <a:spLocks noChangeArrowheads="1"/>
            </p:cNvSpPr>
            <p:nvPr/>
          </p:nvSpPr>
          <p:spPr bwMode="auto">
            <a:xfrm>
              <a:off x="3404194" y="3242589"/>
              <a:ext cx="1296976" cy="64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200" dirty="0"/>
                <a:t>copy of all Ethernet frames sent/received</a:t>
              </a:r>
            </a:p>
          </p:txBody>
        </p:sp>
        <p:cxnSp>
          <p:nvCxnSpPr>
            <p:cNvPr id="37" name="Straight Connector 64">
              <a:extLst>
                <a:ext uri="{FF2B5EF4-FFF2-40B4-BE49-F238E27FC236}">
                  <a16:creationId xmlns:a16="http://schemas.microsoft.com/office/drawing/2014/main" id="{3DD256F0-12B9-A44B-97FA-82075E575FA4}"/>
                </a:ext>
              </a:extLst>
            </p:cNvPr>
            <p:cNvCxnSpPr>
              <a:cxnSpLocks noChangeShapeType="1"/>
            </p:cNvCxnSpPr>
            <p:nvPr/>
          </p:nvCxnSpPr>
          <p:spPr bwMode="auto">
            <a:xfrm flipV="1">
              <a:off x="1775964" y="2640266"/>
              <a:ext cx="2108014" cy="1309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46" name="Group 48">
            <a:extLst>
              <a:ext uri="{FF2B5EF4-FFF2-40B4-BE49-F238E27FC236}">
                <a16:creationId xmlns:a16="http://schemas.microsoft.com/office/drawing/2014/main" id="{4F6ED1FB-59EB-454A-BFCC-AD2A53B22B9C}"/>
              </a:ext>
            </a:extLst>
          </p:cNvPr>
          <p:cNvGrpSpPr>
            <a:grpSpLocks/>
          </p:cNvGrpSpPr>
          <p:nvPr/>
        </p:nvGrpSpPr>
        <p:grpSpPr bwMode="auto">
          <a:xfrm>
            <a:off x="1570775" y="4459441"/>
            <a:ext cx="1562100" cy="1511300"/>
            <a:chOff x="-44" y="1473"/>
            <a:chExt cx="981" cy="1105"/>
          </a:xfrm>
        </p:grpSpPr>
        <p:pic>
          <p:nvPicPr>
            <p:cNvPr id="47" name="Picture 49" descr="desktop_computer_stylized_medium">
              <a:extLst>
                <a:ext uri="{FF2B5EF4-FFF2-40B4-BE49-F238E27FC236}">
                  <a16:creationId xmlns:a16="http://schemas.microsoft.com/office/drawing/2014/main" id="{F98D6AC3-8421-8142-ADC8-80BEF2E1F15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50">
              <a:extLst>
                <a:ext uri="{FF2B5EF4-FFF2-40B4-BE49-F238E27FC236}">
                  <a16:creationId xmlns:a16="http://schemas.microsoft.com/office/drawing/2014/main" id="{F3EE387E-1B3E-524C-8162-6AF4C9FBCEC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Tree>
    <p:extLst>
      <p:ext uri="{BB962C8B-B14F-4D97-AF65-F5344CB8AC3E}">
        <p14:creationId xmlns:p14="http://schemas.microsoft.com/office/powerpoint/2010/main" val="283855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dissolve">
                                      <p:cBhvr>
                                        <p:cTn id="11" dur="500"/>
                                        <p:tgtEl>
                                          <p:spTgt spid="18"/>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dissolve">
                                      <p:cBhvr>
                                        <p:cTn id="1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3609</TotalTime>
  <Words>9349</Words>
  <Application>Microsoft Office PowerPoint</Application>
  <PresentationFormat>Widescreen</PresentationFormat>
  <Paragraphs>2594</Paragraphs>
  <Slides>128</Slides>
  <Notes>83</Notes>
  <HiddenSlides>1</HiddenSlides>
  <MMClips>0</MMClips>
  <ScaleCrop>false</ScaleCrop>
  <HeadingPairs>
    <vt:vector size="8" baseType="variant">
      <vt:variant>
        <vt:lpstr>Fonts Used</vt:lpstr>
      </vt:variant>
      <vt:variant>
        <vt:i4>10</vt:i4>
      </vt:variant>
      <vt:variant>
        <vt:lpstr>Theme</vt:lpstr>
      </vt:variant>
      <vt:variant>
        <vt:i4>1</vt:i4>
      </vt:variant>
      <vt:variant>
        <vt:lpstr>Embedded OLE Servers</vt:lpstr>
      </vt:variant>
      <vt:variant>
        <vt:i4>1</vt:i4>
      </vt:variant>
      <vt:variant>
        <vt:lpstr>Slide Titles</vt:lpstr>
      </vt:variant>
      <vt:variant>
        <vt:i4>128</vt:i4>
      </vt:variant>
    </vt:vector>
  </HeadingPairs>
  <TitlesOfParts>
    <vt:vector size="140" baseType="lpstr">
      <vt:lpstr>ＭＳ Ｐゴシック</vt:lpstr>
      <vt:lpstr>Adobe Caslon Pro Bold</vt:lpstr>
      <vt:lpstr>Arial</vt:lpstr>
      <vt:lpstr>Calibri</vt:lpstr>
      <vt:lpstr>Comic Sans MS</vt:lpstr>
      <vt:lpstr>Gill Sans MT</vt:lpstr>
      <vt:lpstr>Tahoma</vt:lpstr>
      <vt:lpstr>Times New Roman</vt:lpstr>
      <vt:lpstr>Wingdings</vt:lpstr>
      <vt:lpstr>ZapfDingbats</vt:lpstr>
      <vt:lpstr>Office Theme</vt:lpstr>
      <vt:lpstr>Clip</vt:lpstr>
      <vt:lpstr>PowerPoint Presentation</vt:lpstr>
      <vt:lpstr>Chapter 1: introduction</vt:lpstr>
      <vt:lpstr>What Is the Internet?</vt:lpstr>
      <vt:lpstr>The Internet: a “nuts and bolts” view</vt:lpstr>
      <vt:lpstr>The Internet: a “nuts and bolts” view</vt:lpstr>
      <vt:lpstr>The Internet: a “service” view</vt:lpstr>
      <vt:lpstr>PowerPoint Presentation</vt:lpstr>
      <vt:lpstr>“Fun” Internet-connected devices</vt:lpstr>
      <vt:lpstr>What’s a protocol?</vt:lpstr>
      <vt:lpstr>What’s a protocol?</vt:lpstr>
      <vt:lpstr>PowerPoint Presentation</vt:lpstr>
      <vt:lpstr>Chapter 1: roadmap</vt:lpstr>
      <vt:lpstr>A closer look at Internet structure</vt:lpstr>
      <vt:lpstr>A closer look at Internet structure</vt:lpstr>
      <vt:lpstr>A closer look at Internet structure</vt:lpstr>
      <vt:lpstr>PowerPoint Presentation</vt:lpstr>
      <vt:lpstr>PowerPoint Presentation</vt:lpstr>
      <vt:lpstr>PowerPoint Presentation</vt:lpstr>
      <vt:lpstr>Access networks and physical media</vt:lpstr>
      <vt:lpstr>Access networks: digital subscriber line (DSL)</vt:lpstr>
      <vt:lpstr>PowerPoint Presentation</vt:lpstr>
      <vt:lpstr>Access networks: cable-based access</vt:lpstr>
      <vt:lpstr>Access networks: cable-based access</vt:lpstr>
      <vt:lpstr>PowerPoint Presentation</vt:lpstr>
      <vt:lpstr>Access networks: home networks</vt:lpstr>
      <vt:lpstr>Access networks: enterprise networks</vt:lpstr>
      <vt:lpstr>PowerPoint Presentation</vt:lpstr>
      <vt:lpstr>Wireless access networks</vt:lpstr>
      <vt:lpstr>Access networks: data center networks</vt:lpstr>
      <vt:lpstr>Host: sends packets of data</vt:lpstr>
      <vt:lpstr>Host: sends packets of data</vt:lpstr>
      <vt:lpstr>Links: physical media</vt:lpstr>
      <vt:lpstr>Links: physical media</vt:lpstr>
      <vt:lpstr>Links: physical media</vt:lpstr>
      <vt:lpstr>Chapter 1: roadmap</vt:lpstr>
      <vt:lpstr>The network core</vt:lpstr>
      <vt:lpstr>Packet-switching: store-and-forward</vt:lpstr>
      <vt:lpstr>PowerPoint Presentation</vt:lpstr>
      <vt:lpstr>PowerPoint Presentation</vt:lpstr>
      <vt:lpstr>PowerPoint Presentation</vt:lpstr>
      <vt:lpstr>Packet-switching: queueing delay, loss</vt:lpstr>
      <vt:lpstr>PowerPoint Presentation</vt:lpstr>
      <vt:lpstr>Two key network-core functions</vt:lpstr>
      <vt:lpstr>Two key network-core functions</vt:lpstr>
      <vt:lpstr>PowerPoint Presentation</vt:lpstr>
      <vt:lpstr>Alternative to packet switching: circuit switching</vt:lpstr>
      <vt:lpstr>PowerPoint Presentation</vt:lpstr>
      <vt:lpstr>Circuit switching: FDM and TDM</vt:lpstr>
      <vt:lpstr>PowerPoint Presentation</vt:lpstr>
      <vt:lpstr>Packet switching versus circuit switching</vt:lpstr>
      <vt:lpstr>PowerPoint Presentation</vt:lpstr>
      <vt:lpstr>Packet switching versus circuit switching</vt:lpstr>
      <vt:lpstr>PowerPoint Presentation</vt:lpstr>
      <vt:lpstr>PowerPoint Presentation</vt:lpstr>
      <vt:lpstr>PowerPoint Presentation</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Tier-1 ISP Network map: Sprint (2019)</vt:lpstr>
      <vt:lpstr>Chapter 1: roadmap</vt:lpstr>
      <vt:lpstr>How do packet loss and delay occur?</vt:lpstr>
      <vt:lpstr>How do loss and delay occur?</vt:lpstr>
      <vt:lpstr>PowerPoint Presentation</vt:lpstr>
      <vt:lpstr>Packet delay: four sources</vt:lpstr>
      <vt:lpstr>Packet delay: four sources</vt:lpstr>
      <vt:lpstr>Caravan analogy</vt:lpstr>
      <vt:lpstr>Caravan analogy</vt:lpstr>
      <vt:lpstr>Packet queueing delay (revisited)</vt:lpstr>
      <vt:lpstr>“Real” Internet delays and routes</vt:lpstr>
      <vt:lpstr>PowerPoint Presentation</vt:lpstr>
      <vt:lpstr>Real Internet delays and routes</vt:lpstr>
      <vt:lpstr>Packet loss</vt:lpstr>
      <vt:lpstr>Throughput</vt:lpstr>
      <vt:lpstr>Throughput</vt:lpstr>
      <vt:lpstr>PowerPoint Presentation</vt:lpstr>
      <vt:lpstr>PowerPoint Presentation</vt:lpstr>
      <vt:lpstr>Example A</vt:lpstr>
      <vt:lpstr>Throughput: network scenario</vt:lpstr>
      <vt:lpstr>PowerPoint Presentation</vt:lpstr>
      <vt:lpstr>PowerPoint Presentation</vt:lpstr>
      <vt:lpstr>PowerPoint Presentation</vt:lpstr>
      <vt:lpstr>Chapter 1: roadmap</vt:lpstr>
      <vt:lpstr>Protocol “layers” and reference models</vt:lpstr>
      <vt:lpstr>Example: organization of air travel</vt:lpstr>
      <vt:lpstr>Example: layering of organization of air travel</vt:lpstr>
      <vt:lpstr>Why layering?</vt:lpstr>
      <vt:lpstr>PowerPoint Presentation</vt:lpstr>
      <vt:lpstr>OSI Model: AN Analogy:  Application Layer - Source Host</vt:lpstr>
      <vt:lpstr> Presentation &amp; Session Layer - Source Host</vt:lpstr>
      <vt:lpstr>OSI Model Analogy :Transport Layer - Source Host</vt:lpstr>
      <vt:lpstr>OSI Model Analogy: Network Layer - Source Host</vt:lpstr>
      <vt:lpstr>OSI Model Analogy: Data Link Layer – Source Host</vt:lpstr>
      <vt:lpstr>OSI Model Analogy: Physical Layer - Media</vt:lpstr>
      <vt:lpstr>OSI Model Analogy : Data Link Layer - Destination</vt:lpstr>
      <vt:lpstr>OSI Model Analogy: Network Layer - Destination</vt:lpstr>
      <vt:lpstr>OSI Model Analogy : Transport Layer - Destination</vt:lpstr>
      <vt:lpstr>Session &amp; Presentation Layer - Destination</vt:lpstr>
      <vt:lpstr>OSI Model Analogy : Application Layer - Destination</vt:lpstr>
      <vt:lpstr>Internet protocol stack (TCP/IP)  </vt:lpstr>
      <vt:lpstr>Internet protocol stack (TCP/IP)</vt:lpstr>
      <vt:lpstr>ISO/OSI reference model</vt:lpstr>
      <vt:lpstr>Encapsulation</vt:lpstr>
      <vt:lpstr>PowerPoint Presentation</vt:lpstr>
      <vt:lpstr>Chapter 1: roadmap</vt:lpstr>
      <vt:lpstr>Network security</vt:lpstr>
      <vt:lpstr>Bad guys: malware </vt:lpstr>
      <vt:lpstr>Bad guys: Malware</vt:lpstr>
      <vt:lpstr>Bad guys: denial of service</vt:lpstr>
      <vt:lpstr>PowerPoint Presentation</vt:lpstr>
      <vt:lpstr>Bad guys: packet interception</vt:lpstr>
      <vt:lpstr>PowerPoint Presentation</vt:lpstr>
      <vt:lpstr>Bad guys:  fake identity</vt:lpstr>
      <vt:lpstr>PowerPoint Presentation</vt:lpstr>
      <vt:lpstr>Chapter 1: roadmap</vt:lpstr>
      <vt:lpstr>Internet history</vt:lpstr>
      <vt:lpstr>Internet history</vt:lpstr>
      <vt:lpstr>Internet history</vt:lpstr>
      <vt:lpstr>Internet history</vt:lpstr>
      <vt:lpstr>Internet history</vt:lpstr>
      <vt:lpstr>Chapter 1: summary</vt:lpstr>
      <vt:lpstr>Additional Chapter 1 slides</vt:lpstr>
      <vt:lpstr>Wireshark</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FIROZ BIN YUSUF PATEL DAWOODI</cp:lastModifiedBy>
  <cp:revision>174</cp:revision>
  <dcterms:created xsi:type="dcterms:W3CDTF">2020-01-18T07:24:59Z</dcterms:created>
  <dcterms:modified xsi:type="dcterms:W3CDTF">2024-10-09T06:56:37Z</dcterms:modified>
</cp:coreProperties>
</file>