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07" r:id="rId2"/>
    <p:sldMasterId id="2147484351" r:id="rId3"/>
  </p:sldMasterIdLst>
  <p:notesMasterIdLst>
    <p:notesMasterId r:id="rId151"/>
  </p:notesMasterIdLst>
  <p:handoutMasterIdLst>
    <p:handoutMasterId r:id="rId152"/>
  </p:handoutMasterIdLst>
  <p:sldIdLst>
    <p:sldId id="778" r:id="rId4"/>
    <p:sldId id="636" r:id="rId5"/>
    <p:sldId id="1004" r:id="rId6"/>
    <p:sldId id="751" r:id="rId7"/>
    <p:sldId id="258" r:id="rId8"/>
    <p:sldId id="523" r:id="rId9"/>
    <p:sldId id="817" r:id="rId10"/>
    <p:sldId id="783" r:id="rId11"/>
    <p:sldId id="1047" r:id="rId12"/>
    <p:sldId id="1029" r:id="rId13"/>
    <p:sldId id="1031" r:id="rId14"/>
    <p:sldId id="294" r:id="rId15"/>
    <p:sldId id="907" r:id="rId16"/>
    <p:sldId id="298" r:id="rId17"/>
    <p:sldId id="1198" r:id="rId18"/>
    <p:sldId id="784" r:id="rId19"/>
    <p:sldId id="1048" r:id="rId20"/>
    <p:sldId id="530" r:id="rId21"/>
    <p:sldId id="926" r:id="rId22"/>
    <p:sldId id="531" r:id="rId23"/>
    <p:sldId id="785" r:id="rId24"/>
    <p:sldId id="1195" r:id="rId25"/>
    <p:sldId id="908" r:id="rId26"/>
    <p:sldId id="909" r:id="rId27"/>
    <p:sldId id="910" r:id="rId28"/>
    <p:sldId id="911" r:id="rId29"/>
    <p:sldId id="788" r:id="rId30"/>
    <p:sldId id="1036" r:id="rId31"/>
    <p:sldId id="533" r:id="rId32"/>
    <p:sldId id="534" r:id="rId33"/>
    <p:sldId id="927" r:id="rId34"/>
    <p:sldId id="535" r:id="rId35"/>
    <p:sldId id="928" r:id="rId36"/>
    <p:sldId id="1203" r:id="rId37"/>
    <p:sldId id="1067" r:id="rId38"/>
    <p:sldId id="929" r:id="rId39"/>
    <p:sldId id="532" r:id="rId40"/>
    <p:sldId id="1069" r:id="rId41"/>
    <p:sldId id="538" r:id="rId42"/>
    <p:sldId id="679" r:id="rId43"/>
    <p:sldId id="1049" r:id="rId44"/>
    <p:sldId id="1072" r:id="rId45"/>
    <p:sldId id="793" r:id="rId46"/>
    <p:sldId id="1077" r:id="rId47"/>
    <p:sldId id="1078" r:id="rId48"/>
    <p:sldId id="931" r:id="rId49"/>
    <p:sldId id="932" r:id="rId50"/>
    <p:sldId id="643" r:id="rId51"/>
    <p:sldId id="933" r:id="rId52"/>
    <p:sldId id="934" r:id="rId53"/>
    <p:sldId id="935" r:id="rId54"/>
    <p:sldId id="897" r:id="rId55"/>
    <p:sldId id="898" r:id="rId56"/>
    <p:sldId id="256" r:id="rId57"/>
    <p:sldId id="257" r:id="rId58"/>
    <p:sldId id="1037" r:id="rId59"/>
    <p:sldId id="259" r:id="rId60"/>
    <p:sldId id="260" r:id="rId61"/>
    <p:sldId id="261" r:id="rId62"/>
    <p:sldId id="262" r:id="rId63"/>
    <p:sldId id="263" r:id="rId64"/>
    <p:sldId id="264" r:id="rId65"/>
    <p:sldId id="265" r:id="rId66"/>
    <p:sldId id="268" r:id="rId67"/>
    <p:sldId id="266" r:id="rId68"/>
    <p:sldId id="267" r:id="rId69"/>
    <p:sldId id="269" r:id="rId70"/>
    <p:sldId id="271" r:id="rId71"/>
    <p:sldId id="272" r:id="rId72"/>
    <p:sldId id="273" r:id="rId73"/>
    <p:sldId id="275" r:id="rId74"/>
    <p:sldId id="276" r:id="rId75"/>
    <p:sldId id="277" r:id="rId76"/>
    <p:sldId id="278" r:id="rId77"/>
    <p:sldId id="279" r:id="rId78"/>
    <p:sldId id="280" r:id="rId79"/>
    <p:sldId id="281" r:id="rId80"/>
    <p:sldId id="1050" r:id="rId81"/>
    <p:sldId id="283" r:id="rId82"/>
    <p:sldId id="1051" r:id="rId83"/>
    <p:sldId id="1052" r:id="rId84"/>
    <p:sldId id="1053" r:id="rId85"/>
    <p:sldId id="1054" r:id="rId86"/>
    <p:sldId id="1055" r:id="rId87"/>
    <p:sldId id="1056" r:id="rId88"/>
    <p:sldId id="1057" r:id="rId89"/>
    <p:sldId id="291" r:id="rId90"/>
    <p:sldId id="292" r:id="rId91"/>
    <p:sldId id="293" r:id="rId92"/>
    <p:sldId id="1038" r:id="rId93"/>
    <p:sldId id="1058" r:id="rId94"/>
    <p:sldId id="1059" r:id="rId95"/>
    <p:sldId id="1060" r:id="rId96"/>
    <p:sldId id="1061" r:id="rId97"/>
    <p:sldId id="1062" r:id="rId98"/>
    <p:sldId id="1063" r:id="rId99"/>
    <p:sldId id="1064" r:id="rId100"/>
    <p:sldId id="1065" r:id="rId101"/>
    <p:sldId id="300" r:id="rId102"/>
    <p:sldId id="297" r:id="rId103"/>
    <p:sldId id="301" r:id="rId104"/>
    <p:sldId id="302" r:id="rId105"/>
    <p:sldId id="303" r:id="rId106"/>
    <p:sldId id="308" r:id="rId107"/>
    <p:sldId id="304" r:id="rId108"/>
    <p:sldId id="305" r:id="rId109"/>
    <p:sldId id="306" r:id="rId110"/>
    <p:sldId id="307" r:id="rId111"/>
    <p:sldId id="309" r:id="rId112"/>
    <p:sldId id="1093" r:id="rId113"/>
    <p:sldId id="1092" r:id="rId114"/>
    <p:sldId id="313" r:id="rId115"/>
    <p:sldId id="314" r:id="rId116"/>
    <p:sldId id="1039" r:id="rId117"/>
    <p:sldId id="299" r:id="rId118"/>
    <p:sldId id="1214" r:id="rId119"/>
    <p:sldId id="939" r:id="rId120"/>
    <p:sldId id="1216" r:id="rId121"/>
    <p:sldId id="1099" r:id="rId122"/>
    <p:sldId id="1100" r:id="rId123"/>
    <p:sldId id="1102" r:id="rId124"/>
    <p:sldId id="392" r:id="rId125"/>
    <p:sldId id="456" r:id="rId126"/>
    <p:sldId id="1215" r:id="rId127"/>
    <p:sldId id="517" r:id="rId128"/>
    <p:sldId id="1107" r:id="rId129"/>
    <p:sldId id="518" r:id="rId130"/>
    <p:sldId id="938" r:id="rId131"/>
    <p:sldId id="519" r:id="rId132"/>
    <p:sldId id="520" r:id="rId133"/>
    <p:sldId id="1109" r:id="rId134"/>
    <p:sldId id="1218" r:id="rId135"/>
    <p:sldId id="1219" r:id="rId136"/>
    <p:sldId id="1110" r:id="rId137"/>
    <p:sldId id="1220" r:id="rId138"/>
    <p:sldId id="1221" r:id="rId139"/>
    <p:sldId id="1112" r:id="rId140"/>
    <p:sldId id="1042" r:id="rId141"/>
    <p:sldId id="1043" r:id="rId142"/>
    <p:sldId id="1113" r:id="rId143"/>
    <p:sldId id="1114" r:id="rId144"/>
    <p:sldId id="1115" r:id="rId145"/>
    <p:sldId id="943" r:id="rId146"/>
    <p:sldId id="1045" r:id="rId147"/>
    <p:sldId id="944" r:id="rId148"/>
    <p:sldId id="1194" r:id="rId149"/>
    <p:sldId id="945" r:id="rId150"/>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Default Section" id="{C8AF73B4-91BF-BA4E-93AA-04BC75883264}">
          <p14:sldIdLst>
            <p14:sldId id="778"/>
            <p14:sldId id="636"/>
            <p14:sldId id="1004"/>
            <p14:sldId id="751"/>
            <p14:sldId id="258"/>
            <p14:sldId id="523"/>
            <p14:sldId id="817"/>
            <p14:sldId id="783"/>
            <p14:sldId id="1047"/>
            <p14:sldId id="1029"/>
            <p14:sldId id="1031"/>
            <p14:sldId id="294"/>
            <p14:sldId id="907"/>
            <p14:sldId id="298"/>
            <p14:sldId id="1198"/>
            <p14:sldId id="784"/>
            <p14:sldId id="1048"/>
            <p14:sldId id="530"/>
            <p14:sldId id="926"/>
            <p14:sldId id="531"/>
            <p14:sldId id="785"/>
            <p14:sldId id="1195"/>
            <p14:sldId id="908"/>
            <p14:sldId id="909"/>
            <p14:sldId id="910"/>
            <p14:sldId id="911"/>
            <p14:sldId id="788"/>
            <p14:sldId id="1036"/>
            <p14:sldId id="533"/>
            <p14:sldId id="534"/>
            <p14:sldId id="927"/>
            <p14:sldId id="535"/>
            <p14:sldId id="928"/>
            <p14:sldId id="1203"/>
            <p14:sldId id="1067"/>
            <p14:sldId id="929"/>
            <p14:sldId id="532"/>
            <p14:sldId id="1069"/>
            <p14:sldId id="538"/>
            <p14:sldId id="679"/>
            <p14:sldId id="1049"/>
            <p14:sldId id="1072"/>
            <p14:sldId id="793"/>
            <p14:sldId id="1077"/>
            <p14:sldId id="1078"/>
            <p14:sldId id="931"/>
            <p14:sldId id="932"/>
            <p14:sldId id="643"/>
            <p14:sldId id="933"/>
            <p14:sldId id="934"/>
            <p14:sldId id="935"/>
            <p14:sldId id="897"/>
            <p14:sldId id="898"/>
          </p14:sldIdLst>
        </p14:section>
        <p14:section name="Part 2" id="{BBB63DE6-ECC2-2B4D-A823-BEE7C0805BC8}">
          <p14:sldIdLst>
            <p14:sldId id="256"/>
            <p14:sldId id="257"/>
            <p14:sldId id="1037"/>
            <p14:sldId id="259"/>
            <p14:sldId id="260"/>
            <p14:sldId id="261"/>
            <p14:sldId id="262"/>
            <p14:sldId id="263"/>
            <p14:sldId id="264"/>
            <p14:sldId id="265"/>
            <p14:sldId id="268"/>
            <p14:sldId id="266"/>
            <p14:sldId id="267"/>
            <p14:sldId id="269"/>
            <p14:sldId id="271"/>
            <p14:sldId id="272"/>
            <p14:sldId id="273"/>
            <p14:sldId id="275"/>
            <p14:sldId id="276"/>
            <p14:sldId id="277"/>
            <p14:sldId id="278"/>
            <p14:sldId id="279"/>
            <p14:sldId id="280"/>
            <p14:sldId id="281"/>
            <p14:sldId id="1050"/>
            <p14:sldId id="283"/>
            <p14:sldId id="1051"/>
            <p14:sldId id="1052"/>
            <p14:sldId id="1053"/>
            <p14:sldId id="1054"/>
            <p14:sldId id="1055"/>
            <p14:sldId id="1056"/>
            <p14:sldId id="1057"/>
            <p14:sldId id="291"/>
            <p14:sldId id="292"/>
            <p14:sldId id="293"/>
            <p14:sldId id="1038"/>
            <p14:sldId id="1058"/>
            <p14:sldId id="1059"/>
            <p14:sldId id="1060"/>
            <p14:sldId id="1061"/>
            <p14:sldId id="1062"/>
            <p14:sldId id="1063"/>
            <p14:sldId id="1064"/>
            <p14:sldId id="1065"/>
            <p14:sldId id="300"/>
            <p14:sldId id="297"/>
            <p14:sldId id="301"/>
            <p14:sldId id="302"/>
            <p14:sldId id="303"/>
            <p14:sldId id="308"/>
            <p14:sldId id="304"/>
            <p14:sldId id="305"/>
            <p14:sldId id="306"/>
            <p14:sldId id="307"/>
            <p14:sldId id="309"/>
            <p14:sldId id="1093"/>
            <p14:sldId id="1092"/>
            <p14:sldId id="313"/>
            <p14:sldId id="314"/>
            <p14:sldId id="1039"/>
            <p14:sldId id="299"/>
            <p14:sldId id="1214"/>
          </p14:sldIdLst>
        </p14:section>
        <p14:section name="Part 3" id="{2948A7D4-D8A9-6644-B857-A76BB5393B77}">
          <p14:sldIdLst>
            <p14:sldId id="939"/>
            <p14:sldId id="1216"/>
            <p14:sldId id="1099"/>
            <p14:sldId id="1100"/>
            <p14:sldId id="1102"/>
            <p14:sldId id="392"/>
            <p14:sldId id="456"/>
            <p14:sldId id="1215"/>
            <p14:sldId id="517"/>
            <p14:sldId id="1107"/>
            <p14:sldId id="518"/>
            <p14:sldId id="938"/>
            <p14:sldId id="519"/>
            <p14:sldId id="520"/>
            <p14:sldId id="1109"/>
            <p14:sldId id="1218"/>
            <p14:sldId id="1219"/>
            <p14:sldId id="1110"/>
            <p14:sldId id="1220"/>
            <p14:sldId id="1221"/>
            <p14:sldId id="1112"/>
            <p14:sldId id="1042"/>
            <p14:sldId id="1043"/>
            <p14:sldId id="1113"/>
            <p14:sldId id="1114"/>
            <p14:sldId id="1115"/>
            <p14:sldId id="943"/>
            <p14:sldId id="1045"/>
            <p14:sldId id="944"/>
            <p14:sldId id="1194"/>
            <p14:sldId id="94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37" autoAdjust="0"/>
    <p:restoredTop sz="84229" autoAdjust="0"/>
  </p:normalViewPr>
  <p:slideViewPr>
    <p:cSldViewPr snapToGrid="0">
      <p:cViewPr>
        <p:scale>
          <a:sx n="63" d="100"/>
          <a:sy n="63" d="100"/>
        </p:scale>
        <p:origin x="101" y="667"/>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50" Type="http://schemas.openxmlformats.org/officeDocument/2006/relationships/slide" Target="slides/slide147.xml"/><Relationship Id="rId155" Type="http://schemas.openxmlformats.org/officeDocument/2006/relationships/theme" Target="theme/theme1.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slide" Target="slides/slide142.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notesMaster" Target="notesMasters/notesMaster1.xml"/><Relationship Id="rId156" Type="http://schemas.openxmlformats.org/officeDocument/2006/relationships/tableStyles" Target="tableStyle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handoutMaster" Target="handoutMasters/handoutMaster1.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presProps" Target="presProps.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viewProps" Target="viewProps.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A5F0D5-1E2D-0041-A24B-8AB65666B3BF}" type="doc">
      <dgm:prSet loTypeId="urn:microsoft.com/office/officeart/2005/8/layout/hierarchy1" loCatId="" qsTypeId="urn:microsoft.com/office/officeart/2005/8/quickstyle/simple4" qsCatId="simple" csTypeId="urn:microsoft.com/office/officeart/2005/8/colors/accent1_2" csCatId="accent1" phldr="1"/>
      <dgm:spPr/>
      <dgm:t>
        <a:bodyPr/>
        <a:lstStyle/>
        <a:p>
          <a:endParaRPr lang="en-US"/>
        </a:p>
      </dgm:t>
    </dgm:pt>
    <dgm:pt modelId="{12690D35-84E2-B041-BD97-B5348C8AB6F5}">
      <dgm:prSet phldrT="[Text]"/>
      <dgm:spPr>
        <a:ln>
          <a:solidFill>
            <a:srgbClr val="00B9FA"/>
          </a:solidFill>
        </a:ln>
      </dgm:spPr>
      <dgm:t>
        <a:bodyPr/>
        <a:lstStyle/>
        <a:p>
          <a:r>
            <a:rPr lang="en-US" dirty="0">
              <a:latin typeface="Arial"/>
              <a:cs typeface="Arial"/>
            </a:rPr>
            <a:t>Two Functions</a:t>
          </a:r>
        </a:p>
      </dgm:t>
    </dgm:pt>
    <dgm:pt modelId="{A70B2387-85E2-1149-B67F-868C462EB5EF}" type="parTrans" cxnId="{12DD2A06-F31F-BE48-9C0C-5AF43E941E92}">
      <dgm:prSet/>
      <dgm:spPr/>
      <dgm:t>
        <a:bodyPr/>
        <a:lstStyle/>
        <a:p>
          <a:endParaRPr lang="en-US">
            <a:latin typeface="Arial"/>
            <a:cs typeface="Arial"/>
          </a:endParaRPr>
        </a:p>
      </dgm:t>
    </dgm:pt>
    <dgm:pt modelId="{01EF2C43-3350-0E4C-87D2-075EBCED566B}" type="sibTrans" cxnId="{12DD2A06-F31F-BE48-9C0C-5AF43E941E92}">
      <dgm:prSet/>
      <dgm:spPr/>
      <dgm:t>
        <a:bodyPr/>
        <a:lstStyle/>
        <a:p>
          <a:endParaRPr lang="en-US">
            <a:latin typeface="Arial"/>
            <a:cs typeface="Arial"/>
          </a:endParaRPr>
        </a:p>
      </dgm:t>
    </dgm:pt>
    <dgm:pt modelId="{A113B24C-07AA-754E-987F-DA2C22A4AFE0}">
      <dgm:prSet phldrT="[Text]"/>
      <dgm:spPr>
        <a:ln>
          <a:solidFill>
            <a:srgbClr val="00B9FA"/>
          </a:solidFill>
        </a:ln>
      </dgm:spPr>
      <dgm:t>
        <a:bodyPr/>
        <a:lstStyle/>
        <a:p>
          <a:r>
            <a:rPr lang="en-US" dirty="0">
              <a:latin typeface="Arial"/>
              <a:cs typeface="Arial"/>
            </a:rPr>
            <a:t>1</a:t>
          </a:r>
          <a:r>
            <a:rPr lang="en-US" baseline="30000" dirty="0">
              <a:latin typeface="Arial"/>
              <a:cs typeface="Arial"/>
            </a:rPr>
            <a:t>st</a:t>
          </a:r>
          <a:r>
            <a:rPr lang="en-US" dirty="0">
              <a:latin typeface="Arial"/>
              <a:cs typeface="Arial"/>
            </a:rPr>
            <a:t>: </a:t>
          </a:r>
          <a:r>
            <a:rPr lang="en-US" dirty="0">
              <a:solidFill>
                <a:srgbClr val="3366FF"/>
              </a:solidFill>
              <a:latin typeface="Arial"/>
              <a:cs typeface="Arial"/>
            </a:rPr>
            <a:t>Forwarding</a:t>
          </a:r>
        </a:p>
      </dgm:t>
    </dgm:pt>
    <dgm:pt modelId="{43D5514C-52C0-8E4F-8B19-DA0FC0C94EBC}" type="parTrans" cxnId="{770D93EE-4941-3646-AF5C-94054AB0CAE2}">
      <dgm:prSet/>
      <dgm:spPr>
        <a:ln w="19050" cmpd="sng">
          <a:solidFill>
            <a:schemeClr val="tx1"/>
          </a:solidFill>
        </a:ln>
      </dgm:spPr>
      <dgm:t>
        <a:bodyPr/>
        <a:lstStyle/>
        <a:p>
          <a:endParaRPr lang="en-US">
            <a:latin typeface="Arial"/>
            <a:cs typeface="Arial"/>
          </a:endParaRPr>
        </a:p>
      </dgm:t>
    </dgm:pt>
    <dgm:pt modelId="{F46EF80E-626B-E642-AC2B-775B6504E4D5}" type="sibTrans" cxnId="{770D93EE-4941-3646-AF5C-94054AB0CAE2}">
      <dgm:prSet/>
      <dgm:spPr/>
      <dgm:t>
        <a:bodyPr/>
        <a:lstStyle/>
        <a:p>
          <a:endParaRPr lang="en-US">
            <a:latin typeface="Arial"/>
            <a:cs typeface="Arial"/>
          </a:endParaRPr>
        </a:p>
      </dgm:t>
    </dgm:pt>
    <dgm:pt modelId="{943D4151-8BD9-844E-BC47-92A3FB8C01CD}">
      <dgm:prSet phldrT="[Text]"/>
      <dgm:spPr>
        <a:ln>
          <a:solidFill>
            <a:srgbClr val="00B9FA"/>
          </a:solidFill>
        </a:ln>
      </dgm:spPr>
      <dgm:t>
        <a:bodyPr/>
        <a:lstStyle/>
        <a:p>
          <a:r>
            <a:rPr lang="en-US" dirty="0">
              <a:latin typeface="Arial"/>
              <a:cs typeface="Arial"/>
            </a:rPr>
            <a:t>2</a:t>
          </a:r>
          <a:r>
            <a:rPr lang="en-US" baseline="30000" dirty="0">
              <a:latin typeface="Arial"/>
              <a:cs typeface="Arial"/>
            </a:rPr>
            <a:t>nd</a:t>
          </a:r>
          <a:r>
            <a:rPr lang="en-US" baseline="0" dirty="0">
              <a:latin typeface="Arial"/>
              <a:cs typeface="Arial"/>
            </a:rPr>
            <a:t>: </a:t>
          </a:r>
          <a:r>
            <a:rPr lang="en-US" dirty="0">
              <a:solidFill>
                <a:srgbClr val="3366FF"/>
              </a:solidFill>
              <a:latin typeface="Arial"/>
              <a:cs typeface="Arial"/>
            </a:rPr>
            <a:t>Routing</a:t>
          </a:r>
        </a:p>
      </dgm:t>
    </dgm:pt>
    <dgm:pt modelId="{E7DC26FE-48F5-9848-8E7A-102FAA086080}" type="parTrans" cxnId="{E14786B3-8DF0-FE40-AD80-88E03750C2F4}">
      <dgm:prSet/>
      <dgm:spPr>
        <a:ln w="19050" cmpd="sng">
          <a:solidFill>
            <a:schemeClr val="tx1"/>
          </a:solidFill>
        </a:ln>
      </dgm:spPr>
      <dgm:t>
        <a:bodyPr/>
        <a:lstStyle/>
        <a:p>
          <a:endParaRPr lang="en-US">
            <a:latin typeface="Arial"/>
            <a:cs typeface="Arial"/>
          </a:endParaRPr>
        </a:p>
      </dgm:t>
    </dgm:pt>
    <dgm:pt modelId="{69776792-D9E4-6E46-A3F4-602B832E9285}" type="sibTrans" cxnId="{E14786B3-8DF0-FE40-AD80-88E03750C2F4}">
      <dgm:prSet/>
      <dgm:spPr/>
      <dgm:t>
        <a:bodyPr/>
        <a:lstStyle/>
        <a:p>
          <a:endParaRPr lang="en-US">
            <a:latin typeface="Arial"/>
            <a:cs typeface="Arial"/>
          </a:endParaRPr>
        </a:p>
      </dgm:t>
    </dgm:pt>
    <dgm:pt modelId="{EF42B103-E194-AA43-9C91-85A080BBE06D}" type="pres">
      <dgm:prSet presAssocID="{66A5F0D5-1E2D-0041-A24B-8AB65666B3BF}" presName="hierChild1" presStyleCnt="0">
        <dgm:presLayoutVars>
          <dgm:chPref val="1"/>
          <dgm:dir/>
          <dgm:animOne val="branch"/>
          <dgm:animLvl val="lvl"/>
          <dgm:resizeHandles/>
        </dgm:presLayoutVars>
      </dgm:prSet>
      <dgm:spPr/>
    </dgm:pt>
    <dgm:pt modelId="{11CF6F8E-1D52-DF42-B6FF-FB93FB3E1B39}" type="pres">
      <dgm:prSet presAssocID="{12690D35-84E2-B041-BD97-B5348C8AB6F5}" presName="hierRoot1" presStyleCnt="0"/>
      <dgm:spPr/>
    </dgm:pt>
    <dgm:pt modelId="{B0A486E0-FC8F-6F4B-A102-DE1D44EDDAA7}" type="pres">
      <dgm:prSet presAssocID="{12690D35-84E2-B041-BD97-B5348C8AB6F5}" presName="composite" presStyleCnt="0"/>
      <dgm:spPr/>
    </dgm:pt>
    <dgm:pt modelId="{00FB5050-4CED-D84F-B68F-3236BFE1043B}" type="pres">
      <dgm:prSet presAssocID="{12690D35-84E2-B041-BD97-B5348C8AB6F5}" presName="background" presStyleLbl="node0" presStyleIdx="0" presStyleCnt="1"/>
      <dgm:spPr>
        <a:solidFill>
          <a:schemeClr val="bg1">
            <a:lumMod val="75000"/>
          </a:schemeClr>
        </a:solidFill>
      </dgm:spPr>
    </dgm:pt>
    <dgm:pt modelId="{C678EE81-A1BE-E344-9E4C-F671D58F235F}" type="pres">
      <dgm:prSet presAssocID="{12690D35-84E2-B041-BD97-B5348C8AB6F5}" presName="text" presStyleLbl="fgAcc0" presStyleIdx="0" presStyleCnt="1" custScaleX="152012">
        <dgm:presLayoutVars>
          <dgm:chPref val="3"/>
        </dgm:presLayoutVars>
      </dgm:prSet>
      <dgm:spPr/>
    </dgm:pt>
    <dgm:pt modelId="{2244B831-56C7-7B4E-BC39-06707EE1D6F2}" type="pres">
      <dgm:prSet presAssocID="{12690D35-84E2-B041-BD97-B5348C8AB6F5}" presName="hierChild2" presStyleCnt="0"/>
      <dgm:spPr/>
    </dgm:pt>
    <dgm:pt modelId="{FB675661-F3B5-A64D-8233-1AE433910355}" type="pres">
      <dgm:prSet presAssocID="{43D5514C-52C0-8E4F-8B19-DA0FC0C94EBC}" presName="Name10" presStyleLbl="parChTrans1D2" presStyleIdx="0" presStyleCnt="2"/>
      <dgm:spPr/>
    </dgm:pt>
    <dgm:pt modelId="{9845663D-5B2A-B248-BE3D-9FB0E0F1C956}" type="pres">
      <dgm:prSet presAssocID="{A113B24C-07AA-754E-987F-DA2C22A4AFE0}" presName="hierRoot2" presStyleCnt="0"/>
      <dgm:spPr/>
    </dgm:pt>
    <dgm:pt modelId="{C598E8F8-1917-374E-84B3-5FB5FE4B906A}" type="pres">
      <dgm:prSet presAssocID="{A113B24C-07AA-754E-987F-DA2C22A4AFE0}" presName="composite2" presStyleCnt="0"/>
      <dgm:spPr/>
    </dgm:pt>
    <dgm:pt modelId="{84C58CC0-3D0C-4A4C-9B2C-2AF66D057916}" type="pres">
      <dgm:prSet presAssocID="{A113B24C-07AA-754E-987F-DA2C22A4AFE0}" presName="background2" presStyleLbl="node2" presStyleIdx="0" presStyleCnt="2"/>
      <dgm:spPr>
        <a:solidFill>
          <a:schemeClr val="bg1">
            <a:lumMod val="75000"/>
          </a:schemeClr>
        </a:solidFill>
      </dgm:spPr>
    </dgm:pt>
    <dgm:pt modelId="{C433DA2E-AB58-3240-A9B5-56B4FB4BF940}" type="pres">
      <dgm:prSet presAssocID="{A113B24C-07AA-754E-987F-DA2C22A4AFE0}" presName="text2" presStyleLbl="fgAcc2" presStyleIdx="0" presStyleCnt="2" custScaleX="170246">
        <dgm:presLayoutVars>
          <dgm:chPref val="3"/>
        </dgm:presLayoutVars>
      </dgm:prSet>
      <dgm:spPr/>
    </dgm:pt>
    <dgm:pt modelId="{FE31B9BF-6486-5440-B29A-3BAB8395863D}" type="pres">
      <dgm:prSet presAssocID="{A113B24C-07AA-754E-987F-DA2C22A4AFE0}" presName="hierChild3" presStyleCnt="0"/>
      <dgm:spPr/>
    </dgm:pt>
    <dgm:pt modelId="{48A0327A-6169-8243-BFC1-A8A92E26820A}" type="pres">
      <dgm:prSet presAssocID="{E7DC26FE-48F5-9848-8E7A-102FAA086080}" presName="Name10" presStyleLbl="parChTrans1D2" presStyleIdx="1" presStyleCnt="2"/>
      <dgm:spPr/>
    </dgm:pt>
    <dgm:pt modelId="{E1A1C424-CF29-FB43-A71B-E73C9F54A232}" type="pres">
      <dgm:prSet presAssocID="{943D4151-8BD9-844E-BC47-92A3FB8C01CD}" presName="hierRoot2" presStyleCnt="0"/>
      <dgm:spPr/>
    </dgm:pt>
    <dgm:pt modelId="{D5D2BEAA-C7DF-6B44-8750-A6DBC2E25268}" type="pres">
      <dgm:prSet presAssocID="{943D4151-8BD9-844E-BC47-92A3FB8C01CD}" presName="composite2" presStyleCnt="0"/>
      <dgm:spPr/>
    </dgm:pt>
    <dgm:pt modelId="{FAA2F400-05BD-DE45-9B8C-9B6E77EFB3C2}" type="pres">
      <dgm:prSet presAssocID="{943D4151-8BD9-844E-BC47-92A3FB8C01CD}" presName="background2" presStyleLbl="node2" presStyleIdx="1" presStyleCnt="2"/>
      <dgm:spPr>
        <a:solidFill>
          <a:schemeClr val="bg1">
            <a:lumMod val="75000"/>
          </a:schemeClr>
        </a:solidFill>
      </dgm:spPr>
    </dgm:pt>
    <dgm:pt modelId="{B113F068-8C01-CC49-994E-0BAB0D6CC16D}" type="pres">
      <dgm:prSet presAssocID="{943D4151-8BD9-844E-BC47-92A3FB8C01CD}" presName="text2" presStyleLbl="fgAcc2" presStyleIdx="1" presStyleCnt="2" custScaleX="148577">
        <dgm:presLayoutVars>
          <dgm:chPref val="3"/>
        </dgm:presLayoutVars>
      </dgm:prSet>
      <dgm:spPr/>
    </dgm:pt>
    <dgm:pt modelId="{AEDBEED6-AE27-E844-82FA-A0CA49B46022}" type="pres">
      <dgm:prSet presAssocID="{943D4151-8BD9-844E-BC47-92A3FB8C01CD}" presName="hierChild3" presStyleCnt="0"/>
      <dgm:spPr/>
    </dgm:pt>
  </dgm:ptLst>
  <dgm:cxnLst>
    <dgm:cxn modelId="{C89C5702-5635-0A42-B2CB-92F4C40B7379}" type="presOf" srcId="{943D4151-8BD9-844E-BC47-92A3FB8C01CD}" destId="{B113F068-8C01-CC49-994E-0BAB0D6CC16D}" srcOrd="0" destOrd="0" presId="urn:microsoft.com/office/officeart/2005/8/layout/hierarchy1"/>
    <dgm:cxn modelId="{12DD2A06-F31F-BE48-9C0C-5AF43E941E92}" srcId="{66A5F0D5-1E2D-0041-A24B-8AB65666B3BF}" destId="{12690D35-84E2-B041-BD97-B5348C8AB6F5}" srcOrd="0" destOrd="0" parTransId="{A70B2387-85E2-1149-B67F-868C462EB5EF}" sibTransId="{01EF2C43-3350-0E4C-87D2-075EBCED566B}"/>
    <dgm:cxn modelId="{D0B98A15-4CE6-1F46-ADC1-2624C6FB76A5}" type="presOf" srcId="{E7DC26FE-48F5-9848-8E7A-102FAA086080}" destId="{48A0327A-6169-8243-BFC1-A8A92E26820A}" srcOrd="0" destOrd="0" presId="urn:microsoft.com/office/officeart/2005/8/layout/hierarchy1"/>
    <dgm:cxn modelId="{1C1AB11C-05E5-7D4E-898B-547EC5EA5EB6}" type="presOf" srcId="{12690D35-84E2-B041-BD97-B5348C8AB6F5}" destId="{C678EE81-A1BE-E344-9E4C-F671D58F235F}" srcOrd="0" destOrd="0" presId="urn:microsoft.com/office/officeart/2005/8/layout/hierarchy1"/>
    <dgm:cxn modelId="{0DD66327-B6D1-EE4A-9640-BBB256A51703}" type="presOf" srcId="{A113B24C-07AA-754E-987F-DA2C22A4AFE0}" destId="{C433DA2E-AB58-3240-A9B5-56B4FB4BF940}" srcOrd="0" destOrd="0" presId="urn:microsoft.com/office/officeart/2005/8/layout/hierarchy1"/>
    <dgm:cxn modelId="{A4E6E430-5EE8-C549-886B-1AA483F6E22F}" type="presOf" srcId="{66A5F0D5-1E2D-0041-A24B-8AB65666B3BF}" destId="{EF42B103-E194-AA43-9C91-85A080BBE06D}" srcOrd="0" destOrd="0" presId="urn:microsoft.com/office/officeart/2005/8/layout/hierarchy1"/>
    <dgm:cxn modelId="{D0EDC6AA-303A-7947-8311-B4496BE7CB0C}" type="presOf" srcId="{43D5514C-52C0-8E4F-8B19-DA0FC0C94EBC}" destId="{FB675661-F3B5-A64D-8233-1AE433910355}" srcOrd="0" destOrd="0" presId="urn:microsoft.com/office/officeart/2005/8/layout/hierarchy1"/>
    <dgm:cxn modelId="{E14786B3-8DF0-FE40-AD80-88E03750C2F4}" srcId="{12690D35-84E2-B041-BD97-B5348C8AB6F5}" destId="{943D4151-8BD9-844E-BC47-92A3FB8C01CD}" srcOrd="1" destOrd="0" parTransId="{E7DC26FE-48F5-9848-8E7A-102FAA086080}" sibTransId="{69776792-D9E4-6E46-A3F4-602B832E9285}"/>
    <dgm:cxn modelId="{770D93EE-4941-3646-AF5C-94054AB0CAE2}" srcId="{12690D35-84E2-B041-BD97-B5348C8AB6F5}" destId="{A113B24C-07AA-754E-987F-DA2C22A4AFE0}" srcOrd="0" destOrd="0" parTransId="{43D5514C-52C0-8E4F-8B19-DA0FC0C94EBC}" sibTransId="{F46EF80E-626B-E642-AC2B-775B6504E4D5}"/>
    <dgm:cxn modelId="{7E952DE4-3FE2-1240-A4EA-EBC587CE72CE}" type="presParOf" srcId="{EF42B103-E194-AA43-9C91-85A080BBE06D}" destId="{11CF6F8E-1D52-DF42-B6FF-FB93FB3E1B39}" srcOrd="0" destOrd="0" presId="urn:microsoft.com/office/officeart/2005/8/layout/hierarchy1"/>
    <dgm:cxn modelId="{B6E831CB-ED94-EA46-8621-B17D7564DBA7}" type="presParOf" srcId="{11CF6F8E-1D52-DF42-B6FF-FB93FB3E1B39}" destId="{B0A486E0-FC8F-6F4B-A102-DE1D44EDDAA7}" srcOrd="0" destOrd="0" presId="urn:microsoft.com/office/officeart/2005/8/layout/hierarchy1"/>
    <dgm:cxn modelId="{955CDF22-30B5-6F4E-A2ED-9F4DA4E99814}" type="presParOf" srcId="{B0A486E0-FC8F-6F4B-A102-DE1D44EDDAA7}" destId="{00FB5050-4CED-D84F-B68F-3236BFE1043B}" srcOrd="0" destOrd="0" presId="urn:microsoft.com/office/officeart/2005/8/layout/hierarchy1"/>
    <dgm:cxn modelId="{7B235D59-6426-AD42-8942-CD26C90C20C3}" type="presParOf" srcId="{B0A486E0-FC8F-6F4B-A102-DE1D44EDDAA7}" destId="{C678EE81-A1BE-E344-9E4C-F671D58F235F}" srcOrd="1" destOrd="0" presId="urn:microsoft.com/office/officeart/2005/8/layout/hierarchy1"/>
    <dgm:cxn modelId="{D5504C0E-70A1-2240-ADB2-F01050CAFC5E}" type="presParOf" srcId="{11CF6F8E-1D52-DF42-B6FF-FB93FB3E1B39}" destId="{2244B831-56C7-7B4E-BC39-06707EE1D6F2}" srcOrd="1" destOrd="0" presId="urn:microsoft.com/office/officeart/2005/8/layout/hierarchy1"/>
    <dgm:cxn modelId="{9685AFB2-183C-1F4E-A6BE-B26CC3C0C2EA}" type="presParOf" srcId="{2244B831-56C7-7B4E-BC39-06707EE1D6F2}" destId="{FB675661-F3B5-A64D-8233-1AE433910355}" srcOrd="0" destOrd="0" presId="urn:microsoft.com/office/officeart/2005/8/layout/hierarchy1"/>
    <dgm:cxn modelId="{559CDA8A-50B1-4244-954C-D3C52401242C}" type="presParOf" srcId="{2244B831-56C7-7B4E-BC39-06707EE1D6F2}" destId="{9845663D-5B2A-B248-BE3D-9FB0E0F1C956}" srcOrd="1" destOrd="0" presId="urn:microsoft.com/office/officeart/2005/8/layout/hierarchy1"/>
    <dgm:cxn modelId="{DDA52E43-B463-4C40-B94F-94B8714B88D8}" type="presParOf" srcId="{9845663D-5B2A-B248-BE3D-9FB0E0F1C956}" destId="{C598E8F8-1917-374E-84B3-5FB5FE4B906A}" srcOrd="0" destOrd="0" presId="urn:microsoft.com/office/officeart/2005/8/layout/hierarchy1"/>
    <dgm:cxn modelId="{42686735-83B4-E54C-8072-EC9EEF363CC0}" type="presParOf" srcId="{C598E8F8-1917-374E-84B3-5FB5FE4B906A}" destId="{84C58CC0-3D0C-4A4C-9B2C-2AF66D057916}" srcOrd="0" destOrd="0" presId="urn:microsoft.com/office/officeart/2005/8/layout/hierarchy1"/>
    <dgm:cxn modelId="{11A01364-5529-C645-9EBD-43245E7F1BBC}" type="presParOf" srcId="{C598E8F8-1917-374E-84B3-5FB5FE4B906A}" destId="{C433DA2E-AB58-3240-A9B5-56B4FB4BF940}" srcOrd="1" destOrd="0" presId="urn:microsoft.com/office/officeart/2005/8/layout/hierarchy1"/>
    <dgm:cxn modelId="{3B710EDE-5312-A449-B4E2-F582EE41CFF0}" type="presParOf" srcId="{9845663D-5B2A-B248-BE3D-9FB0E0F1C956}" destId="{FE31B9BF-6486-5440-B29A-3BAB8395863D}" srcOrd="1" destOrd="0" presId="urn:microsoft.com/office/officeart/2005/8/layout/hierarchy1"/>
    <dgm:cxn modelId="{DFE78464-DD50-864E-BF63-2F9967E278E6}" type="presParOf" srcId="{2244B831-56C7-7B4E-BC39-06707EE1D6F2}" destId="{48A0327A-6169-8243-BFC1-A8A92E26820A}" srcOrd="2" destOrd="0" presId="urn:microsoft.com/office/officeart/2005/8/layout/hierarchy1"/>
    <dgm:cxn modelId="{C2E5CC28-E95D-6344-A203-E583F6CD6EC4}" type="presParOf" srcId="{2244B831-56C7-7B4E-BC39-06707EE1D6F2}" destId="{E1A1C424-CF29-FB43-A71B-E73C9F54A232}" srcOrd="3" destOrd="0" presId="urn:microsoft.com/office/officeart/2005/8/layout/hierarchy1"/>
    <dgm:cxn modelId="{5FD23F6A-9090-EC43-A55F-B5A2EE410C18}" type="presParOf" srcId="{E1A1C424-CF29-FB43-A71B-E73C9F54A232}" destId="{D5D2BEAA-C7DF-6B44-8750-A6DBC2E25268}" srcOrd="0" destOrd="0" presId="urn:microsoft.com/office/officeart/2005/8/layout/hierarchy1"/>
    <dgm:cxn modelId="{B8EBB6F3-40D6-C74E-A436-2E0CD8FA1183}" type="presParOf" srcId="{D5D2BEAA-C7DF-6B44-8750-A6DBC2E25268}" destId="{FAA2F400-05BD-DE45-9B8C-9B6E77EFB3C2}" srcOrd="0" destOrd="0" presId="urn:microsoft.com/office/officeart/2005/8/layout/hierarchy1"/>
    <dgm:cxn modelId="{1F061891-3F07-2447-BA24-C53D8B16C509}" type="presParOf" srcId="{D5D2BEAA-C7DF-6B44-8750-A6DBC2E25268}" destId="{B113F068-8C01-CC49-994E-0BAB0D6CC16D}" srcOrd="1" destOrd="0" presId="urn:microsoft.com/office/officeart/2005/8/layout/hierarchy1"/>
    <dgm:cxn modelId="{72C03650-5FB8-EF45-AB83-6EACB8BF0526}" type="presParOf" srcId="{E1A1C424-CF29-FB43-A71B-E73C9F54A232}" destId="{AEDBEED6-AE27-E844-82FA-A0CA49B4602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A5F0D5-1E2D-0041-A24B-8AB65666B3BF}" type="doc">
      <dgm:prSet loTypeId="urn:microsoft.com/office/officeart/2005/8/layout/hierarchy1" loCatId="" qsTypeId="urn:microsoft.com/office/officeart/2005/8/quickstyle/simple4" qsCatId="simple" csTypeId="urn:microsoft.com/office/officeart/2005/8/colors/accent1_2" csCatId="accent1" phldr="1"/>
      <dgm:spPr/>
      <dgm:t>
        <a:bodyPr/>
        <a:lstStyle/>
        <a:p>
          <a:endParaRPr lang="en-US"/>
        </a:p>
      </dgm:t>
    </dgm:pt>
    <dgm:pt modelId="{12690D35-84E2-B041-BD97-B5348C8AB6F5}">
      <dgm:prSet phldrT="[Text]"/>
      <dgm:spPr>
        <a:ln>
          <a:solidFill>
            <a:srgbClr val="00B9FA"/>
          </a:solidFill>
        </a:ln>
      </dgm:spPr>
      <dgm:t>
        <a:bodyPr/>
        <a:lstStyle/>
        <a:p>
          <a:r>
            <a:rPr lang="en-US" dirty="0">
              <a:latin typeface="Arial"/>
              <a:cs typeface="Arial"/>
            </a:rPr>
            <a:t>Two Control-Plane  Approaches</a:t>
          </a:r>
        </a:p>
      </dgm:t>
    </dgm:pt>
    <dgm:pt modelId="{A70B2387-85E2-1149-B67F-868C462EB5EF}" type="parTrans" cxnId="{12DD2A06-F31F-BE48-9C0C-5AF43E941E92}">
      <dgm:prSet/>
      <dgm:spPr/>
      <dgm:t>
        <a:bodyPr/>
        <a:lstStyle/>
        <a:p>
          <a:endParaRPr lang="en-US">
            <a:latin typeface="Arial"/>
            <a:cs typeface="Arial"/>
          </a:endParaRPr>
        </a:p>
      </dgm:t>
    </dgm:pt>
    <dgm:pt modelId="{01EF2C43-3350-0E4C-87D2-075EBCED566B}" type="sibTrans" cxnId="{12DD2A06-F31F-BE48-9C0C-5AF43E941E92}">
      <dgm:prSet/>
      <dgm:spPr/>
      <dgm:t>
        <a:bodyPr/>
        <a:lstStyle/>
        <a:p>
          <a:endParaRPr lang="en-US">
            <a:latin typeface="Arial"/>
            <a:cs typeface="Arial"/>
          </a:endParaRPr>
        </a:p>
      </dgm:t>
    </dgm:pt>
    <dgm:pt modelId="{A113B24C-07AA-754E-987F-DA2C22A4AFE0}">
      <dgm:prSet phldrT="[Text]"/>
      <dgm:spPr>
        <a:ln>
          <a:solidFill>
            <a:srgbClr val="00B9FA"/>
          </a:solidFill>
        </a:ln>
      </dgm:spPr>
      <dgm:t>
        <a:bodyPr/>
        <a:lstStyle/>
        <a:p>
          <a:r>
            <a:rPr lang="en-US" dirty="0">
              <a:solidFill>
                <a:srgbClr val="00B0F0"/>
              </a:solidFill>
              <a:latin typeface="Arial"/>
              <a:cs typeface="Arial"/>
            </a:rPr>
            <a:t>Traditional Routing Algorithms</a:t>
          </a:r>
        </a:p>
      </dgm:t>
    </dgm:pt>
    <dgm:pt modelId="{43D5514C-52C0-8E4F-8B19-DA0FC0C94EBC}" type="parTrans" cxnId="{770D93EE-4941-3646-AF5C-94054AB0CAE2}">
      <dgm:prSet/>
      <dgm:spPr>
        <a:ln w="19050" cmpd="sng">
          <a:solidFill>
            <a:schemeClr val="tx1"/>
          </a:solidFill>
        </a:ln>
      </dgm:spPr>
      <dgm:t>
        <a:bodyPr/>
        <a:lstStyle/>
        <a:p>
          <a:endParaRPr lang="en-US">
            <a:latin typeface="Arial"/>
            <a:cs typeface="Arial"/>
          </a:endParaRPr>
        </a:p>
      </dgm:t>
    </dgm:pt>
    <dgm:pt modelId="{F46EF80E-626B-E642-AC2B-775B6504E4D5}" type="sibTrans" cxnId="{770D93EE-4941-3646-AF5C-94054AB0CAE2}">
      <dgm:prSet/>
      <dgm:spPr/>
      <dgm:t>
        <a:bodyPr/>
        <a:lstStyle/>
        <a:p>
          <a:endParaRPr lang="en-US">
            <a:latin typeface="Arial"/>
            <a:cs typeface="Arial"/>
          </a:endParaRPr>
        </a:p>
      </dgm:t>
    </dgm:pt>
    <dgm:pt modelId="{943D4151-8BD9-844E-BC47-92A3FB8C01CD}">
      <dgm:prSet phldrT="[Text]"/>
      <dgm:spPr>
        <a:ln>
          <a:solidFill>
            <a:srgbClr val="00B9FA"/>
          </a:solidFill>
        </a:ln>
      </dgm:spPr>
      <dgm:t>
        <a:bodyPr/>
        <a:lstStyle/>
        <a:p>
          <a:r>
            <a:rPr lang="en-US" dirty="0">
              <a:solidFill>
                <a:srgbClr val="00B0F0"/>
              </a:solidFill>
              <a:latin typeface="Arial"/>
              <a:cs typeface="Arial"/>
            </a:rPr>
            <a:t>SDN</a:t>
          </a:r>
        </a:p>
      </dgm:t>
    </dgm:pt>
    <dgm:pt modelId="{E7DC26FE-48F5-9848-8E7A-102FAA086080}" type="parTrans" cxnId="{E14786B3-8DF0-FE40-AD80-88E03750C2F4}">
      <dgm:prSet/>
      <dgm:spPr>
        <a:ln w="19050" cmpd="sng">
          <a:solidFill>
            <a:schemeClr val="tx1"/>
          </a:solidFill>
        </a:ln>
      </dgm:spPr>
      <dgm:t>
        <a:bodyPr/>
        <a:lstStyle/>
        <a:p>
          <a:endParaRPr lang="en-US">
            <a:latin typeface="Arial"/>
            <a:cs typeface="Arial"/>
          </a:endParaRPr>
        </a:p>
      </dgm:t>
    </dgm:pt>
    <dgm:pt modelId="{69776792-D9E4-6E46-A3F4-602B832E9285}" type="sibTrans" cxnId="{E14786B3-8DF0-FE40-AD80-88E03750C2F4}">
      <dgm:prSet/>
      <dgm:spPr/>
      <dgm:t>
        <a:bodyPr/>
        <a:lstStyle/>
        <a:p>
          <a:endParaRPr lang="en-US">
            <a:latin typeface="Arial"/>
            <a:cs typeface="Arial"/>
          </a:endParaRPr>
        </a:p>
      </dgm:t>
    </dgm:pt>
    <dgm:pt modelId="{EF42B103-E194-AA43-9C91-85A080BBE06D}" type="pres">
      <dgm:prSet presAssocID="{66A5F0D5-1E2D-0041-A24B-8AB65666B3BF}" presName="hierChild1" presStyleCnt="0">
        <dgm:presLayoutVars>
          <dgm:chPref val="1"/>
          <dgm:dir/>
          <dgm:animOne val="branch"/>
          <dgm:animLvl val="lvl"/>
          <dgm:resizeHandles/>
        </dgm:presLayoutVars>
      </dgm:prSet>
      <dgm:spPr/>
    </dgm:pt>
    <dgm:pt modelId="{11CF6F8E-1D52-DF42-B6FF-FB93FB3E1B39}" type="pres">
      <dgm:prSet presAssocID="{12690D35-84E2-B041-BD97-B5348C8AB6F5}" presName="hierRoot1" presStyleCnt="0"/>
      <dgm:spPr/>
    </dgm:pt>
    <dgm:pt modelId="{B0A486E0-FC8F-6F4B-A102-DE1D44EDDAA7}" type="pres">
      <dgm:prSet presAssocID="{12690D35-84E2-B041-BD97-B5348C8AB6F5}" presName="composite" presStyleCnt="0"/>
      <dgm:spPr/>
    </dgm:pt>
    <dgm:pt modelId="{00FB5050-4CED-D84F-B68F-3236BFE1043B}" type="pres">
      <dgm:prSet presAssocID="{12690D35-84E2-B041-BD97-B5348C8AB6F5}" presName="background" presStyleLbl="node0" presStyleIdx="0" presStyleCnt="1"/>
      <dgm:spPr>
        <a:solidFill>
          <a:schemeClr val="bg1">
            <a:lumMod val="75000"/>
          </a:schemeClr>
        </a:solidFill>
      </dgm:spPr>
    </dgm:pt>
    <dgm:pt modelId="{C678EE81-A1BE-E344-9E4C-F671D58F235F}" type="pres">
      <dgm:prSet presAssocID="{12690D35-84E2-B041-BD97-B5348C8AB6F5}" presName="text" presStyleLbl="fgAcc0" presStyleIdx="0" presStyleCnt="1" custScaleX="200822">
        <dgm:presLayoutVars>
          <dgm:chPref val="3"/>
        </dgm:presLayoutVars>
      </dgm:prSet>
      <dgm:spPr/>
    </dgm:pt>
    <dgm:pt modelId="{2244B831-56C7-7B4E-BC39-06707EE1D6F2}" type="pres">
      <dgm:prSet presAssocID="{12690D35-84E2-B041-BD97-B5348C8AB6F5}" presName="hierChild2" presStyleCnt="0"/>
      <dgm:spPr/>
    </dgm:pt>
    <dgm:pt modelId="{FB675661-F3B5-A64D-8233-1AE433910355}" type="pres">
      <dgm:prSet presAssocID="{43D5514C-52C0-8E4F-8B19-DA0FC0C94EBC}" presName="Name10" presStyleLbl="parChTrans1D2" presStyleIdx="0" presStyleCnt="2"/>
      <dgm:spPr/>
    </dgm:pt>
    <dgm:pt modelId="{9845663D-5B2A-B248-BE3D-9FB0E0F1C956}" type="pres">
      <dgm:prSet presAssocID="{A113B24C-07AA-754E-987F-DA2C22A4AFE0}" presName="hierRoot2" presStyleCnt="0"/>
      <dgm:spPr/>
    </dgm:pt>
    <dgm:pt modelId="{C598E8F8-1917-374E-84B3-5FB5FE4B906A}" type="pres">
      <dgm:prSet presAssocID="{A113B24C-07AA-754E-987F-DA2C22A4AFE0}" presName="composite2" presStyleCnt="0"/>
      <dgm:spPr/>
    </dgm:pt>
    <dgm:pt modelId="{84C58CC0-3D0C-4A4C-9B2C-2AF66D057916}" type="pres">
      <dgm:prSet presAssocID="{A113B24C-07AA-754E-987F-DA2C22A4AFE0}" presName="background2" presStyleLbl="node2" presStyleIdx="0" presStyleCnt="2"/>
      <dgm:spPr>
        <a:solidFill>
          <a:schemeClr val="bg1">
            <a:lumMod val="75000"/>
          </a:schemeClr>
        </a:solidFill>
      </dgm:spPr>
    </dgm:pt>
    <dgm:pt modelId="{C433DA2E-AB58-3240-A9B5-56B4FB4BF940}" type="pres">
      <dgm:prSet presAssocID="{A113B24C-07AA-754E-987F-DA2C22A4AFE0}" presName="text2" presStyleLbl="fgAcc2" presStyleIdx="0" presStyleCnt="2" custScaleX="170246">
        <dgm:presLayoutVars>
          <dgm:chPref val="3"/>
        </dgm:presLayoutVars>
      </dgm:prSet>
      <dgm:spPr/>
    </dgm:pt>
    <dgm:pt modelId="{FE31B9BF-6486-5440-B29A-3BAB8395863D}" type="pres">
      <dgm:prSet presAssocID="{A113B24C-07AA-754E-987F-DA2C22A4AFE0}" presName="hierChild3" presStyleCnt="0"/>
      <dgm:spPr/>
    </dgm:pt>
    <dgm:pt modelId="{48A0327A-6169-8243-BFC1-A8A92E26820A}" type="pres">
      <dgm:prSet presAssocID="{E7DC26FE-48F5-9848-8E7A-102FAA086080}" presName="Name10" presStyleLbl="parChTrans1D2" presStyleIdx="1" presStyleCnt="2"/>
      <dgm:spPr/>
    </dgm:pt>
    <dgm:pt modelId="{E1A1C424-CF29-FB43-A71B-E73C9F54A232}" type="pres">
      <dgm:prSet presAssocID="{943D4151-8BD9-844E-BC47-92A3FB8C01CD}" presName="hierRoot2" presStyleCnt="0"/>
      <dgm:spPr/>
    </dgm:pt>
    <dgm:pt modelId="{D5D2BEAA-C7DF-6B44-8750-A6DBC2E25268}" type="pres">
      <dgm:prSet presAssocID="{943D4151-8BD9-844E-BC47-92A3FB8C01CD}" presName="composite2" presStyleCnt="0"/>
      <dgm:spPr/>
    </dgm:pt>
    <dgm:pt modelId="{FAA2F400-05BD-DE45-9B8C-9B6E77EFB3C2}" type="pres">
      <dgm:prSet presAssocID="{943D4151-8BD9-844E-BC47-92A3FB8C01CD}" presName="background2" presStyleLbl="node2" presStyleIdx="1" presStyleCnt="2"/>
      <dgm:spPr>
        <a:solidFill>
          <a:schemeClr val="bg1">
            <a:lumMod val="75000"/>
          </a:schemeClr>
        </a:solidFill>
      </dgm:spPr>
    </dgm:pt>
    <dgm:pt modelId="{B113F068-8C01-CC49-994E-0BAB0D6CC16D}" type="pres">
      <dgm:prSet presAssocID="{943D4151-8BD9-844E-BC47-92A3FB8C01CD}" presName="text2" presStyleLbl="fgAcc2" presStyleIdx="1" presStyleCnt="2" custScaleX="171606">
        <dgm:presLayoutVars>
          <dgm:chPref val="3"/>
        </dgm:presLayoutVars>
      </dgm:prSet>
      <dgm:spPr/>
    </dgm:pt>
    <dgm:pt modelId="{AEDBEED6-AE27-E844-82FA-A0CA49B46022}" type="pres">
      <dgm:prSet presAssocID="{943D4151-8BD9-844E-BC47-92A3FB8C01CD}" presName="hierChild3" presStyleCnt="0"/>
      <dgm:spPr/>
    </dgm:pt>
  </dgm:ptLst>
  <dgm:cxnLst>
    <dgm:cxn modelId="{12DD2A06-F31F-BE48-9C0C-5AF43E941E92}" srcId="{66A5F0D5-1E2D-0041-A24B-8AB65666B3BF}" destId="{12690D35-84E2-B041-BD97-B5348C8AB6F5}" srcOrd="0" destOrd="0" parTransId="{A70B2387-85E2-1149-B67F-868C462EB5EF}" sibTransId="{01EF2C43-3350-0E4C-87D2-075EBCED566B}"/>
    <dgm:cxn modelId="{7E054B12-BF02-D04F-A19C-071E74196645}" type="presOf" srcId="{12690D35-84E2-B041-BD97-B5348C8AB6F5}" destId="{C678EE81-A1BE-E344-9E4C-F671D58F235F}" srcOrd="0" destOrd="0" presId="urn:microsoft.com/office/officeart/2005/8/layout/hierarchy1"/>
    <dgm:cxn modelId="{9680FF68-06DF-2542-AB84-47E666C64C19}" type="presOf" srcId="{943D4151-8BD9-844E-BC47-92A3FB8C01CD}" destId="{B113F068-8C01-CC49-994E-0BAB0D6CC16D}" srcOrd="0" destOrd="0" presId="urn:microsoft.com/office/officeart/2005/8/layout/hierarchy1"/>
    <dgm:cxn modelId="{00664087-E897-DA44-8928-16A6CE7935F9}" type="presOf" srcId="{A113B24C-07AA-754E-987F-DA2C22A4AFE0}" destId="{C433DA2E-AB58-3240-A9B5-56B4FB4BF940}" srcOrd="0" destOrd="0" presId="urn:microsoft.com/office/officeart/2005/8/layout/hierarchy1"/>
    <dgm:cxn modelId="{E14786B3-8DF0-FE40-AD80-88E03750C2F4}" srcId="{12690D35-84E2-B041-BD97-B5348C8AB6F5}" destId="{943D4151-8BD9-844E-BC47-92A3FB8C01CD}" srcOrd="1" destOrd="0" parTransId="{E7DC26FE-48F5-9848-8E7A-102FAA086080}" sibTransId="{69776792-D9E4-6E46-A3F4-602B832E9285}"/>
    <dgm:cxn modelId="{A40D3BBF-6360-9B49-BF48-5564F4CB927C}" type="presOf" srcId="{43D5514C-52C0-8E4F-8B19-DA0FC0C94EBC}" destId="{FB675661-F3B5-A64D-8233-1AE433910355}" srcOrd="0" destOrd="0" presId="urn:microsoft.com/office/officeart/2005/8/layout/hierarchy1"/>
    <dgm:cxn modelId="{291814E6-4503-D54E-96AA-82363B86E04A}" type="presOf" srcId="{66A5F0D5-1E2D-0041-A24B-8AB65666B3BF}" destId="{EF42B103-E194-AA43-9C91-85A080BBE06D}" srcOrd="0" destOrd="0" presId="urn:microsoft.com/office/officeart/2005/8/layout/hierarchy1"/>
    <dgm:cxn modelId="{770D93EE-4941-3646-AF5C-94054AB0CAE2}" srcId="{12690D35-84E2-B041-BD97-B5348C8AB6F5}" destId="{A113B24C-07AA-754E-987F-DA2C22A4AFE0}" srcOrd="0" destOrd="0" parTransId="{43D5514C-52C0-8E4F-8B19-DA0FC0C94EBC}" sibTransId="{F46EF80E-626B-E642-AC2B-775B6504E4D5}"/>
    <dgm:cxn modelId="{38A577FA-A572-A34F-894B-EEF44C90EE3D}" type="presOf" srcId="{E7DC26FE-48F5-9848-8E7A-102FAA086080}" destId="{48A0327A-6169-8243-BFC1-A8A92E26820A}" srcOrd="0" destOrd="0" presId="urn:microsoft.com/office/officeart/2005/8/layout/hierarchy1"/>
    <dgm:cxn modelId="{8A5E0403-1A00-294D-91BD-1E10C4DA569B}" type="presParOf" srcId="{EF42B103-E194-AA43-9C91-85A080BBE06D}" destId="{11CF6F8E-1D52-DF42-B6FF-FB93FB3E1B39}" srcOrd="0" destOrd="0" presId="urn:microsoft.com/office/officeart/2005/8/layout/hierarchy1"/>
    <dgm:cxn modelId="{FF78D3A6-2D9F-0447-936A-A719CAC77D43}" type="presParOf" srcId="{11CF6F8E-1D52-DF42-B6FF-FB93FB3E1B39}" destId="{B0A486E0-FC8F-6F4B-A102-DE1D44EDDAA7}" srcOrd="0" destOrd="0" presId="urn:microsoft.com/office/officeart/2005/8/layout/hierarchy1"/>
    <dgm:cxn modelId="{DE6CDF9A-691E-8046-9ABC-2EB3F7B384F2}" type="presParOf" srcId="{B0A486E0-FC8F-6F4B-A102-DE1D44EDDAA7}" destId="{00FB5050-4CED-D84F-B68F-3236BFE1043B}" srcOrd="0" destOrd="0" presId="urn:microsoft.com/office/officeart/2005/8/layout/hierarchy1"/>
    <dgm:cxn modelId="{BA5FB02C-AC7E-5748-A345-4B2872CF3581}" type="presParOf" srcId="{B0A486E0-FC8F-6F4B-A102-DE1D44EDDAA7}" destId="{C678EE81-A1BE-E344-9E4C-F671D58F235F}" srcOrd="1" destOrd="0" presId="urn:microsoft.com/office/officeart/2005/8/layout/hierarchy1"/>
    <dgm:cxn modelId="{531993F6-22D5-924A-99CA-2630CC4655FC}" type="presParOf" srcId="{11CF6F8E-1D52-DF42-B6FF-FB93FB3E1B39}" destId="{2244B831-56C7-7B4E-BC39-06707EE1D6F2}" srcOrd="1" destOrd="0" presId="urn:microsoft.com/office/officeart/2005/8/layout/hierarchy1"/>
    <dgm:cxn modelId="{0C91BD97-2015-BD4F-AFD7-159AF26F296D}" type="presParOf" srcId="{2244B831-56C7-7B4E-BC39-06707EE1D6F2}" destId="{FB675661-F3B5-A64D-8233-1AE433910355}" srcOrd="0" destOrd="0" presId="urn:microsoft.com/office/officeart/2005/8/layout/hierarchy1"/>
    <dgm:cxn modelId="{EB4FA90F-F39E-3342-B7EE-11838B27A8AD}" type="presParOf" srcId="{2244B831-56C7-7B4E-BC39-06707EE1D6F2}" destId="{9845663D-5B2A-B248-BE3D-9FB0E0F1C956}" srcOrd="1" destOrd="0" presId="urn:microsoft.com/office/officeart/2005/8/layout/hierarchy1"/>
    <dgm:cxn modelId="{FBBBAABE-A507-434D-A3B9-F46E4221B9F1}" type="presParOf" srcId="{9845663D-5B2A-B248-BE3D-9FB0E0F1C956}" destId="{C598E8F8-1917-374E-84B3-5FB5FE4B906A}" srcOrd="0" destOrd="0" presId="urn:microsoft.com/office/officeart/2005/8/layout/hierarchy1"/>
    <dgm:cxn modelId="{14F40850-521C-D14B-A431-DF0739545013}" type="presParOf" srcId="{C598E8F8-1917-374E-84B3-5FB5FE4B906A}" destId="{84C58CC0-3D0C-4A4C-9B2C-2AF66D057916}" srcOrd="0" destOrd="0" presId="urn:microsoft.com/office/officeart/2005/8/layout/hierarchy1"/>
    <dgm:cxn modelId="{8FF1539E-A62A-8841-8841-F173C531A18D}" type="presParOf" srcId="{C598E8F8-1917-374E-84B3-5FB5FE4B906A}" destId="{C433DA2E-AB58-3240-A9B5-56B4FB4BF940}" srcOrd="1" destOrd="0" presId="urn:microsoft.com/office/officeart/2005/8/layout/hierarchy1"/>
    <dgm:cxn modelId="{72C22375-F3A8-2949-99A9-69008E965EE7}" type="presParOf" srcId="{9845663D-5B2A-B248-BE3D-9FB0E0F1C956}" destId="{FE31B9BF-6486-5440-B29A-3BAB8395863D}" srcOrd="1" destOrd="0" presId="urn:microsoft.com/office/officeart/2005/8/layout/hierarchy1"/>
    <dgm:cxn modelId="{05DA4316-B84F-8847-B2B3-CD4DA48C67C0}" type="presParOf" srcId="{2244B831-56C7-7B4E-BC39-06707EE1D6F2}" destId="{48A0327A-6169-8243-BFC1-A8A92E26820A}" srcOrd="2" destOrd="0" presId="urn:microsoft.com/office/officeart/2005/8/layout/hierarchy1"/>
    <dgm:cxn modelId="{45CAA2FE-3B5E-854A-99DF-006EFAB0973B}" type="presParOf" srcId="{2244B831-56C7-7B4E-BC39-06707EE1D6F2}" destId="{E1A1C424-CF29-FB43-A71B-E73C9F54A232}" srcOrd="3" destOrd="0" presId="urn:microsoft.com/office/officeart/2005/8/layout/hierarchy1"/>
    <dgm:cxn modelId="{CF59C199-FDA2-7E47-AC88-47AACF9EBEFE}" type="presParOf" srcId="{E1A1C424-CF29-FB43-A71B-E73C9F54A232}" destId="{D5D2BEAA-C7DF-6B44-8750-A6DBC2E25268}" srcOrd="0" destOrd="0" presId="urn:microsoft.com/office/officeart/2005/8/layout/hierarchy1"/>
    <dgm:cxn modelId="{9459724E-A557-8541-B11B-90FF3940D39D}" type="presParOf" srcId="{D5D2BEAA-C7DF-6B44-8750-A6DBC2E25268}" destId="{FAA2F400-05BD-DE45-9B8C-9B6E77EFB3C2}" srcOrd="0" destOrd="0" presId="urn:microsoft.com/office/officeart/2005/8/layout/hierarchy1"/>
    <dgm:cxn modelId="{D6BEF331-B9FB-884F-968E-54C27BE1C9B5}" type="presParOf" srcId="{D5D2BEAA-C7DF-6B44-8750-A6DBC2E25268}" destId="{B113F068-8C01-CC49-994E-0BAB0D6CC16D}" srcOrd="1" destOrd="0" presId="urn:microsoft.com/office/officeart/2005/8/layout/hierarchy1"/>
    <dgm:cxn modelId="{68A52C2A-7D9E-E046-A264-1AC88CD33F83}" type="presParOf" srcId="{E1A1C424-CF29-FB43-A71B-E73C9F54A232}" destId="{AEDBEED6-AE27-E844-82FA-A0CA49B4602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A5F0D5-1E2D-0041-A24B-8AB65666B3BF}" type="doc">
      <dgm:prSet loTypeId="urn:microsoft.com/office/officeart/2005/8/layout/hierarchy2" loCatId="" qsTypeId="urn:microsoft.com/office/officeart/2005/8/quickstyle/simple4" qsCatId="simple" csTypeId="urn:microsoft.com/office/officeart/2005/8/colors/accent1_2" csCatId="accent1" phldr="1"/>
      <dgm:spPr/>
      <dgm:t>
        <a:bodyPr/>
        <a:lstStyle/>
        <a:p>
          <a:endParaRPr lang="en-US"/>
        </a:p>
      </dgm:t>
    </dgm:pt>
    <dgm:pt modelId="{12690D35-84E2-B041-BD97-B5348C8AB6F5}">
      <dgm:prSet phldrT="[Text]"/>
      <dgm:spPr>
        <a:noFill/>
        <a:ln>
          <a:noFill/>
        </a:ln>
        <a:effectLst/>
      </dgm:spPr>
      <dgm:t>
        <a:bodyPr/>
        <a:lstStyle/>
        <a:p>
          <a:endParaRPr lang="en-US" dirty="0">
            <a:solidFill>
              <a:schemeClr val="tx1"/>
            </a:solidFill>
            <a:latin typeface="Arial"/>
            <a:cs typeface="Arial"/>
          </a:endParaRPr>
        </a:p>
      </dgm:t>
    </dgm:pt>
    <dgm:pt modelId="{A70B2387-85E2-1149-B67F-868C462EB5EF}" type="parTrans" cxnId="{12DD2A06-F31F-BE48-9C0C-5AF43E941E92}">
      <dgm:prSet/>
      <dgm:spPr/>
      <dgm:t>
        <a:bodyPr/>
        <a:lstStyle/>
        <a:p>
          <a:endParaRPr lang="en-US">
            <a:latin typeface="Arial"/>
            <a:cs typeface="Arial"/>
          </a:endParaRPr>
        </a:p>
      </dgm:t>
    </dgm:pt>
    <dgm:pt modelId="{01EF2C43-3350-0E4C-87D2-075EBCED566B}" type="sibTrans" cxnId="{12DD2A06-F31F-BE48-9C0C-5AF43E941E92}">
      <dgm:prSet/>
      <dgm:spPr/>
      <dgm:t>
        <a:bodyPr/>
        <a:lstStyle/>
        <a:p>
          <a:endParaRPr lang="en-US">
            <a:latin typeface="Arial"/>
            <a:cs typeface="Arial"/>
          </a:endParaRPr>
        </a:p>
      </dgm:t>
    </dgm:pt>
    <dgm:pt modelId="{A113B24C-07AA-754E-987F-DA2C22A4AFE0}">
      <dgm:prSet phldrT="[Text]"/>
      <dgm:spPr>
        <a:solidFill>
          <a:schemeClr val="bg1">
            <a:lumMod val="85000"/>
          </a:schemeClr>
        </a:solidFill>
        <a:ln>
          <a:solidFill>
            <a:srgbClr val="00B9FA"/>
          </a:solidFill>
        </a:ln>
        <a:effectLst>
          <a:outerShdw blurRad="40005" dist="99187" dir="2820000" algn="tl" rotWithShape="0">
            <a:srgbClr val="000000">
              <a:alpha val="35000"/>
            </a:srgbClr>
          </a:outerShdw>
        </a:effectLst>
      </dgm:spPr>
      <dgm:t>
        <a:bodyPr/>
        <a:lstStyle/>
        <a:p>
          <a:r>
            <a:rPr lang="en-US" dirty="0">
              <a:solidFill>
                <a:schemeClr val="tx1"/>
              </a:solidFill>
              <a:latin typeface="Arial"/>
              <a:cs typeface="Arial"/>
            </a:rPr>
            <a:t>Input Ports</a:t>
          </a:r>
        </a:p>
      </dgm:t>
    </dgm:pt>
    <dgm:pt modelId="{43D5514C-52C0-8E4F-8B19-DA0FC0C94EBC}" type="parTrans" cxnId="{770D93EE-4941-3646-AF5C-94054AB0CAE2}">
      <dgm:prSet/>
      <dgm:spPr>
        <a:ln w="19050" cmpd="sng">
          <a:solidFill>
            <a:schemeClr val="tx1"/>
          </a:solidFill>
        </a:ln>
      </dgm:spPr>
      <dgm:t>
        <a:bodyPr/>
        <a:lstStyle/>
        <a:p>
          <a:endParaRPr lang="en-US">
            <a:latin typeface="Arial"/>
            <a:cs typeface="Arial"/>
          </a:endParaRPr>
        </a:p>
      </dgm:t>
    </dgm:pt>
    <dgm:pt modelId="{F46EF80E-626B-E642-AC2B-775B6504E4D5}" type="sibTrans" cxnId="{770D93EE-4941-3646-AF5C-94054AB0CAE2}">
      <dgm:prSet/>
      <dgm:spPr/>
      <dgm:t>
        <a:bodyPr/>
        <a:lstStyle/>
        <a:p>
          <a:endParaRPr lang="en-US">
            <a:latin typeface="Arial"/>
            <a:cs typeface="Arial"/>
          </a:endParaRPr>
        </a:p>
      </dgm:t>
    </dgm:pt>
    <dgm:pt modelId="{943D4151-8BD9-844E-BC47-92A3FB8C01CD}">
      <dgm:prSet phldrT="[Text]"/>
      <dgm:spPr>
        <a:solidFill>
          <a:schemeClr val="bg1">
            <a:lumMod val="85000"/>
          </a:schemeClr>
        </a:solidFill>
        <a:ln>
          <a:solidFill>
            <a:srgbClr val="00B9FA"/>
          </a:solidFill>
        </a:ln>
        <a:effectLst>
          <a:outerShdw blurRad="40005" dist="99187" dir="2820000" algn="tl" rotWithShape="0">
            <a:srgbClr val="000000">
              <a:alpha val="35000"/>
            </a:srgbClr>
          </a:outerShdw>
        </a:effectLst>
      </dgm:spPr>
      <dgm:t>
        <a:bodyPr/>
        <a:lstStyle/>
        <a:p>
          <a:r>
            <a:rPr lang="en-US" dirty="0">
              <a:solidFill>
                <a:schemeClr val="tx1"/>
              </a:solidFill>
              <a:latin typeface="Arial"/>
              <a:cs typeface="Arial"/>
            </a:rPr>
            <a:t>Output Ports</a:t>
          </a:r>
        </a:p>
      </dgm:t>
    </dgm:pt>
    <dgm:pt modelId="{E7DC26FE-48F5-9848-8E7A-102FAA086080}" type="parTrans" cxnId="{E14786B3-8DF0-FE40-AD80-88E03750C2F4}">
      <dgm:prSet/>
      <dgm:spPr>
        <a:ln w="19050" cmpd="sng">
          <a:solidFill>
            <a:schemeClr val="tx1"/>
          </a:solidFill>
        </a:ln>
      </dgm:spPr>
      <dgm:t>
        <a:bodyPr/>
        <a:lstStyle/>
        <a:p>
          <a:endParaRPr lang="en-US">
            <a:latin typeface="Arial"/>
            <a:cs typeface="Arial"/>
          </a:endParaRPr>
        </a:p>
      </dgm:t>
    </dgm:pt>
    <dgm:pt modelId="{69776792-D9E4-6E46-A3F4-602B832E9285}" type="sibTrans" cxnId="{E14786B3-8DF0-FE40-AD80-88E03750C2F4}">
      <dgm:prSet/>
      <dgm:spPr/>
      <dgm:t>
        <a:bodyPr/>
        <a:lstStyle/>
        <a:p>
          <a:endParaRPr lang="en-US">
            <a:latin typeface="Arial"/>
            <a:cs typeface="Arial"/>
          </a:endParaRPr>
        </a:p>
      </dgm:t>
    </dgm:pt>
    <dgm:pt modelId="{55EE4CAE-F0D0-6342-AEBC-1CC88046A96E}">
      <dgm:prSet phldrT="[Text]"/>
      <dgm:spPr>
        <a:solidFill>
          <a:schemeClr val="bg1">
            <a:lumMod val="85000"/>
          </a:schemeClr>
        </a:solidFill>
        <a:ln>
          <a:solidFill>
            <a:srgbClr val="00B9FA"/>
          </a:solidFill>
        </a:ln>
        <a:effectLst>
          <a:outerShdw blurRad="40005" dist="99187" dir="2820000" algn="tl" rotWithShape="0">
            <a:srgbClr val="000000">
              <a:alpha val="35000"/>
            </a:srgbClr>
          </a:outerShdw>
        </a:effectLst>
      </dgm:spPr>
      <dgm:t>
        <a:bodyPr/>
        <a:lstStyle/>
        <a:p>
          <a:r>
            <a:rPr lang="en-US" dirty="0">
              <a:solidFill>
                <a:schemeClr val="tx1"/>
              </a:solidFill>
              <a:latin typeface="Arial"/>
              <a:cs typeface="Arial"/>
            </a:rPr>
            <a:t>Switching Fabric</a:t>
          </a:r>
        </a:p>
      </dgm:t>
    </dgm:pt>
    <dgm:pt modelId="{D8F5A98C-2666-0849-9AC3-C780B9922559}" type="parTrans" cxnId="{9696F05C-8C83-DF42-BA5F-A05132170B95}">
      <dgm:prSet/>
      <dgm:spPr>
        <a:ln w="19050" cmpd="sng">
          <a:solidFill>
            <a:schemeClr val="tx1"/>
          </a:solidFill>
        </a:ln>
      </dgm:spPr>
      <dgm:t>
        <a:bodyPr/>
        <a:lstStyle/>
        <a:p>
          <a:endParaRPr lang="en-US"/>
        </a:p>
      </dgm:t>
    </dgm:pt>
    <dgm:pt modelId="{53C32C17-1B1D-F149-9877-8AE4A10C63EE}" type="sibTrans" cxnId="{9696F05C-8C83-DF42-BA5F-A05132170B95}">
      <dgm:prSet/>
      <dgm:spPr/>
      <dgm:t>
        <a:bodyPr/>
        <a:lstStyle/>
        <a:p>
          <a:endParaRPr lang="en-US"/>
        </a:p>
      </dgm:t>
    </dgm:pt>
    <dgm:pt modelId="{F82BDEF1-BE30-A04E-9B45-F37E87521042}">
      <dgm:prSet phldrT="[Text]"/>
      <dgm:spPr>
        <a:solidFill>
          <a:schemeClr val="bg1">
            <a:lumMod val="85000"/>
          </a:schemeClr>
        </a:solidFill>
        <a:ln>
          <a:solidFill>
            <a:srgbClr val="00B9FA"/>
          </a:solidFill>
        </a:ln>
        <a:effectLst>
          <a:outerShdw blurRad="40005" dist="99187" dir="2820000" algn="tl" rotWithShape="0">
            <a:srgbClr val="000000">
              <a:alpha val="35000"/>
            </a:srgbClr>
          </a:outerShdw>
        </a:effectLst>
      </dgm:spPr>
      <dgm:t>
        <a:bodyPr/>
        <a:lstStyle/>
        <a:p>
          <a:r>
            <a:rPr lang="en-US" dirty="0">
              <a:solidFill>
                <a:schemeClr val="tx1"/>
              </a:solidFill>
              <a:latin typeface="Arial"/>
              <a:cs typeface="Arial"/>
            </a:rPr>
            <a:t>Routing Processor</a:t>
          </a:r>
        </a:p>
      </dgm:t>
    </dgm:pt>
    <dgm:pt modelId="{7469C7B9-9A55-9243-9577-9F40ACCB6AD1}" type="parTrans" cxnId="{9A7146BD-2D74-AA4C-85ED-35A0804A51C9}">
      <dgm:prSet/>
      <dgm:spPr>
        <a:ln w="12700" cmpd="sng">
          <a:solidFill>
            <a:schemeClr val="tx1"/>
          </a:solidFill>
        </a:ln>
      </dgm:spPr>
      <dgm:t>
        <a:bodyPr/>
        <a:lstStyle/>
        <a:p>
          <a:endParaRPr lang="en-US"/>
        </a:p>
      </dgm:t>
    </dgm:pt>
    <dgm:pt modelId="{FB1C0FEF-84D7-C541-875A-DBCF9D46C793}" type="sibTrans" cxnId="{9A7146BD-2D74-AA4C-85ED-35A0804A51C9}">
      <dgm:prSet/>
      <dgm:spPr/>
      <dgm:t>
        <a:bodyPr/>
        <a:lstStyle/>
        <a:p>
          <a:endParaRPr lang="en-US"/>
        </a:p>
      </dgm:t>
    </dgm:pt>
    <dgm:pt modelId="{58866588-99D5-6342-8C16-2B155FF46F66}" type="pres">
      <dgm:prSet presAssocID="{66A5F0D5-1E2D-0041-A24B-8AB65666B3BF}" presName="diagram" presStyleCnt="0">
        <dgm:presLayoutVars>
          <dgm:chPref val="1"/>
          <dgm:dir/>
          <dgm:animOne val="branch"/>
          <dgm:animLvl val="lvl"/>
          <dgm:resizeHandles val="exact"/>
        </dgm:presLayoutVars>
      </dgm:prSet>
      <dgm:spPr/>
    </dgm:pt>
    <dgm:pt modelId="{6B050EDE-70B0-964D-A0EF-2C854ECB0132}" type="pres">
      <dgm:prSet presAssocID="{12690D35-84E2-B041-BD97-B5348C8AB6F5}" presName="root1" presStyleCnt="0"/>
      <dgm:spPr/>
    </dgm:pt>
    <dgm:pt modelId="{22BB389E-8D5D-FA45-8B70-16FFCDF7D920}" type="pres">
      <dgm:prSet presAssocID="{12690D35-84E2-B041-BD97-B5348C8AB6F5}" presName="LevelOneTextNode" presStyleLbl="node0" presStyleIdx="0" presStyleCnt="1">
        <dgm:presLayoutVars>
          <dgm:chPref val="3"/>
        </dgm:presLayoutVars>
      </dgm:prSet>
      <dgm:spPr/>
    </dgm:pt>
    <dgm:pt modelId="{06E3F2FA-1835-C84D-B56B-628F091BDA2B}" type="pres">
      <dgm:prSet presAssocID="{12690D35-84E2-B041-BD97-B5348C8AB6F5}" presName="level2hierChild" presStyleCnt="0"/>
      <dgm:spPr/>
    </dgm:pt>
    <dgm:pt modelId="{C7BF68AD-2790-0B42-8DD7-0CC42C137C3C}" type="pres">
      <dgm:prSet presAssocID="{43D5514C-52C0-8E4F-8B19-DA0FC0C94EBC}" presName="conn2-1" presStyleLbl="parChTrans1D2" presStyleIdx="0" presStyleCnt="4"/>
      <dgm:spPr/>
    </dgm:pt>
    <dgm:pt modelId="{C21E2ED4-053C-3A45-B377-D3B979E9EA48}" type="pres">
      <dgm:prSet presAssocID="{43D5514C-52C0-8E4F-8B19-DA0FC0C94EBC}" presName="connTx" presStyleLbl="parChTrans1D2" presStyleIdx="0" presStyleCnt="4"/>
      <dgm:spPr/>
    </dgm:pt>
    <dgm:pt modelId="{E2401092-4AE6-EE4D-982B-68248D418FF7}" type="pres">
      <dgm:prSet presAssocID="{A113B24C-07AA-754E-987F-DA2C22A4AFE0}" presName="root2" presStyleCnt="0"/>
      <dgm:spPr/>
    </dgm:pt>
    <dgm:pt modelId="{693AC66B-DF16-1845-9D41-2F026E537BA1}" type="pres">
      <dgm:prSet presAssocID="{A113B24C-07AA-754E-987F-DA2C22A4AFE0}" presName="LevelTwoTextNode" presStyleLbl="node2" presStyleIdx="0" presStyleCnt="4" custScaleX="185068">
        <dgm:presLayoutVars>
          <dgm:chPref val="3"/>
        </dgm:presLayoutVars>
      </dgm:prSet>
      <dgm:spPr/>
    </dgm:pt>
    <dgm:pt modelId="{FA347151-151A-9F48-928F-0A8FBE94A4E0}" type="pres">
      <dgm:prSet presAssocID="{A113B24C-07AA-754E-987F-DA2C22A4AFE0}" presName="level3hierChild" presStyleCnt="0"/>
      <dgm:spPr/>
    </dgm:pt>
    <dgm:pt modelId="{338247AA-903F-FF46-9C90-2DD3C5A4C5A9}" type="pres">
      <dgm:prSet presAssocID="{E7DC26FE-48F5-9848-8E7A-102FAA086080}" presName="conn2-1" presStyleLbl="parChTrans1D2" presStyleIdx="1" presStyleCnt="4"/>
      <dgm:spPr/>
    </dgm:pt>
    <dgm:pt modelId="{DD2AA688-EA0A-BD43-8B04-4DD4AF212807}" type="pres">
      <dgm:prSet presAssocID="{E7DC26FE-48F5-9848-8E7A-102FAA086080}" presName="connTx" presStyleLbl="parChTrans1D2" presStyleIdx="1" presStyleCnt="4"/>
      <dgm:spPr/>
    </dgm:pt>
    <dgm:pt modelId="{A720571F-3C98-8D46-8444-0C92C149E73F}" type="pres">
      <dgm:prSet presAssocID="{943D4151-8BD9-844E-BC47-92A3FB8C01CD}" presName="root2" presStyleCnt="0"/>
      <dgm:spPr/>
    </dgm:pt>
    <dgm:pt modelId="{F45CD5CE-378E-D64A-AE12-D401530355E6}" type="pres">
      <dgm:prSet presAssocID="{943D4151-8BD9-844E-BC47-92A3FB8C01CD}" presName="LevelTwoTextNode" presStyleLbl="node2" presStyleIdx="1" presStyleCnt="4" custScaleX="184541">
        <dgm:presLayoutVars>
          <dgm:chPref val="3"/>
        </dgm:presLayoutVars>
      </dgm:prSet>
      <dgm:spPr/>
    </dgm:pt>
    <dgm:pt modelId="{318BBED8-8674-024B-937F-1E8969EA9734}" type="pres">
      <dgm:prSet presAssocID="{943D4151-8BD9-844E-BC47-92A3FB8C01CD}" presName="level3hierChild" presStyleCnt="0"/>
      <dgm:spPr/>
    </dgm:pt>
    <dgm:pt modelId="{09C5E0EF-4035-B847-A507-BB3157B0E3B7}" type="pres">
      <dgm:prSet presAssocID="{D8F5A98C-2666-0849-9AC3-C780B9922559}" presName="conn2-1" presStyleLbl="parChTrans1D2" presStyleIdx="2" presStyleCnt="4"/>
      <dgm:spPr/>
    </dgm:pt>
    <dgm:pt modelId="{43846CBA-4383-DA4E-998E-4570237A63D3}" type="pres">
      <dgm:prSet presAssocID="{D8F5A98C-2666-0849-9AC3-C780B9922559}" presName="connTx" presStyleLbl="parChTrans1D2" presStyleIdx="2" presStyleCnt="4"/>
      <dgm:spPr/>
    </dgm:pt>
    <dgm:pt modelId="{905FFD85-C999-2843-BAC8-DD112DD98B4F}" type="pres">
      <dgm:prSet presAssocID="{55EE4CAE-F0D0-6342-AEBC-1CC88046A96E}" presName="root2" presStyleCnt="0"/>
      <dgm:spPr/>
    </dgm:pt>
    <dgm:pt modelId="{C7459C93-0D75-CC4E-B624-912E0954D8BD}" type="pres">
      <dgm:prSet presAssocID="{55EE4CAE-F0D0-6342-AEBC-1CC88046A96E}" presName="LevelTwoTextNode" presStyleLbl="node2" presStyleIdx="2" presStyleCnt="4" custScaleX="184541">
        <dgm:presLayoutVars>
          <dgm:chPref val="3"/>
        </dgm:presLayoutVars>
      </dgm:prSet>
      <dgm:spPr/>
    </dgm:pt>
    <dgm:pt modelId="{39274940-27F5-0F4B-B617-9E7899CBBDD1}" type="pres">
      <dgm:prSet presAssocID="{55EE4CAE-F0D0-6342-AEBC-1CC88046A96E}" presName="level3hierChild" presStyleCnt="0"/>
      <dgm:spPr/>
    </dgm:pt>
    <dgm:pt modelId="{9B744A88-1DF7-E041-9CC3-9016637400B4}" type="pres">
      <dgm:prSet presAssocID="{7469C7B9-9A55-9243-9577-9F40ACCB6AD1}" presName="conn2-1" presStyleLbl="parChTrans1D2" presStyleIdx="3" presStyleCnt="4"/>
      <dgm:spPr/>
    </dgm:pt>
    <dgm:pt modelId="{073B0E51-714C-6044-823B-0F15E09CF757}" type="pres">
      <dgm:prSet presAssocID="{7469C7B9-9A55-9243-9577-9F40ACCB6AD1}" presName="connTx" presStyleLbl="parChTrans1D2" presStyleIdx="3" presStyleCnt="4"/>
      <dgm:spPr/>
    </dgm:pt>
    <dgm:pt modelId="{D4939DEF-5214-BC45-862E-5DD5CED7EC0E}" type="pres">
      <dgm:prSet presAssocID="{F82BDEF1-BE30-A04E-9B45-F37E87521042}" presName="root2" presStyleCnt="0"/>
      <dgm:spPr/>
    </dgm:pt>
    <dgm:pt modelId="{27C75E9A-F081-D346-A89C-66297053A6BB}" type="pres">
      <dgm:prSet presAssocID="{F82BDEF1-BE30-A04E-9B45-F37E87521042}" presName="LevelTwoTextNode" presStyleLbl="node2" presStyleIdx="3" presStyleCnt="4" custScaleX="184015">
        <dgm:presLayoutVars>
          <dgm:chPref val="3"/>
        </dgm:presLayoutVars>
      </dgm:prSet>
      <dgm:spPr/>
    </dgm:pt>
    <dgm:pt modelId="{C4230B6A-83F2-F746-BA10-72CC3673C22B}" type="pres">
      <dgm:prSet presAssocID="{F82BDEF1-BE30-A04E-9B45-F37E87521042}" presName="level3hierChild" presStyleCnt="0"/>
      <dgm:spPr/>
    </dgm:pt>
  </dgm:ptLst>
  <dgm:cxnLst>
    <dgm:cxn modelId="{12DD2A06-F31F-BE48-9C0C-5AF43E941E92}" srcId="{66A5F0D5-1E2D-0041-A24B-8AB65666B3BF}" destId="{12690D35-84E2-B041-BD97-B5348C8AB6F5}" srcOrd="0" destOrd="0" parTransId="{A70B2387-85E2-1149-B67F-868C462EB5EF}" sibTransId="{01EF2C43-3350-0E4C-87D2-075EBCED566B}"/>
    <dgm:cxn modelId="{E6BEAC1E-6466-8F4C-805F-D100E3C4D683}" type="presOf" srcId="{E7DC26FE-48F5-9848-8E7A-102FAA086080}" destId="{DD2AA688-EA0A-BD43-8B04-4DD4AF212807}" srcOrd="1" destOrd="0" presId="urn:microsoft.com/office/officeart/2005/8/layout/hierarchy2"/>
    <dgm:cxn modelId="{E48FE939-E379-134C-B3DD-23FCA1D26B3F}" type="presOf" srcId="{43D5514C-52C0-8E4F-8B19-DA0FC0C94EBC}" destId="{C7BF68AD-2790-0B42-8DD7-0CC42C137C3C}" srcOrd="0" destOrd="0" presId="urn:microsoft.com/office/officeart/2005/8/layout/hierarchy2"/>
    <dgm:cxn modelId="{77B5563E-A3C0-4F47-A7C6-6159673312A8}" type="presOf" srcId="{D8F5A98C-2666-0849-9AC3-C780B9922559}" destId="{43846CBA-4383-DA4E-998E-4570237A63D3}" srcOrd="1" destOrd="0" presId="urn:microsoft.com/office/officeart/2005/8/layout/hierarchy2"/>
    <dgm:cxn modelId="{9696F05C-8C83-DF42-BA5F-A05132170B95}" srcId="{12690D35-84E2-B041-BD97-B5348C8AB6F5}" destId="{55EE4CAE-F0D0-6342-AEBC-1CC88046A96E}" srcOrd="2" destOrd="0" parTransId="{D8F5A98C-2666-0849-9AC3-C780B9922559}" sibTransId="{53C32C17-1B1D-F149-9877-8AE4A10C63EE}"/>
    <dgm:cxn modelId="{02F8A168-DB49-5A47-A59E-07470B72A071}" type="presOf" srcId="{66A5F0D5-1E2D-0041-A24B-8AB65666B3BF}" destId="{58866588-99D5-6342-8C16-2B155FF46F66}" srcOrd="0" destOrd="0" presId="urn:microsoft.com/office/officeart/2005/8/layout/hierarchy2"/>
    <dgm:cxn modelId="{BED2C448-4D03-124D-847D-3252467D4870}" type="presOf" srcId="{E7DC26FE-48F5-9848-8E7A-102FAA086080}" destId="{338247AA-903F-FF46-9C90-2DD3C5A4C5A9}" srcOrd="0" destOrd="0" presId="urn:microsoft.com/office/officeart/2005/8/layout/hierarchy2"/>
    <dgm:cxn modelId="{1112F56A-3E2D-A944-B448-C019666F821A}" type="presOf" srcId="{943D4151-8BD9-844E-BC47-92A3FB8C01CD}" destId="{F45CD5CE-378E-D64A-AE12-D401530355E6}" srcOrd="0" destOrd="0" presId="urn:microsoft.com/office/officeart/2005/8/layout/hierarchy2"/>
    <dgm:cxn modelId="{B905B981-49D5-2443-A658-A1889A5F1403}" type="presOf" srcId="{D8F5A98C-2666-0849-9AC3-C780B9922559}" destId="{09C5E0EF-4035-B847-A507-BB3157B0E3B7}" srcOrd="0" destOrd="0" presId="urn:microsoft.com/office/officeart/2005/8/layout/hierarchy2"/>
    <dgm:cxn modelId="{E14786B3-8DF0-FE40-AD80-88E03750C2F4}" srcId="{12690D35-84E2-B041-BD97-B5348C8AB6F5}" destId="{943D4151-8BD9-844E-BC47-92A3FB8C01CD}" srcOrd="1" destOrd="0" parTransId="{E7DC26FE-48F5-9848-8E7A-102FAA086080}" sibTransId="{69776792-D9E4-6E46-A3F4-602B832E9285}"/>
    <dgm:cxn modelId="{F350F6B4-8452-1F4B-A509-8D261833EE34}" type="presOf" srcId="{F82BDEF1-BE30-A04E-9B45-F37E87521042}" destId="{27C75E9A-F081-D346-A89C-66297053A6BB}" srcOrd="0" destOrd="0" presId="urn:microsoft.com/office/officeart/2005/8/layout/hierarchy2"/>
    <dgm:cxn modelId="{9A7146BD-2D74-AA4C-85ED-35A0804A51C9}" srcId="{12690D35-84E2-B041-BD97-B5348C8AB6F5}" destId="{F82BDEF1-BE30-A04E-9B45-F37E87521042}" srcOrd="3" destOrd="0" parTransId="{7469C7B9-9A55-9243-9577-9F40ACCB6AD1}" sibTransId="{FB1C0FEF-84D7-C541-875A-DBCF9D46C793}"/>
    <dgm:cxn modelId="{763372C1-AA45-D247-AD91-0467B9F5F78C}" type="presOf" srcId="{A113B24C-07AA-754E-987F-DA2C22A4AFE0}" destId="{693AC66B-DF16-1845-9D41-2F026E537BA1}" srcOrd="0" destOrd="0" presId="urn:microsoft.com/office/officeart/2005/8/layout/hierarchy2"/>
    <dgm:cxn modelId="{A701DACA-868D-914C-ACAB-5436EBCE3FB8}" type="presOf" srcId="{12690D35-84E2-B041-BD97-B5348C8AB6F5}" destId="{22BB389E-8D5D-FA45-8B70-16FFCDF7D920}" srcOrd="0" destOrd="0" presId="urn:microsoft.com/office/officeart/2005/8/layout/hierarchy2"/>
    <dgm:cxn modelId="{847059E9-6659-534C-A503-78EA5574E803}" type="presOf" srcId="{7469C7B9-9A55-9243-9577-9F40ACCB6AD1}" destId="{9B744A88-1DF7-E041-9CC3-9016637400B4}" srcOrd="0" destOrd="0" presId="urn:microsoft.com/office/officeart/2005/8/layout/hierarchy2"/>
    <dgm:cxn modelId="{CB1ECDED-CD92-A844-A91E-F9EB7197C19B}" type="presOf" srcId="{7469C7B9-9A55-9243-9577-9F40ACCB6AD1}" destId="{073B0E51-714C-6044-823B-0F15E09CF757}" srcOrd="1" destOrd="0" presId="urn:microsoft.com/office/officeart/2005/8/layout/hierarchy2"/>
    <dgm:cxn modelId="{770D93EE-4941-3646-AF5C-94054AB0CAE2}" srcId="{12690D35-84E2-B041-BD97-B5348C8AB6F5}" destId="{A113B24C-07AA-754E-987F-DA2C22A4AFE0}" srcOrd="0" destOrd="0" parTransId="{43D5514C-52C0-8E4F-8B19-DA0FC0C94EBC}" sibTransId="{F46EF80E-626B-E642-AC2B-775B6504E4D5}"/>
    <dgm:cxn modelId="{4747FBF6-0561-4C4B-AF9E-77306C3DCBFB}" type="presOf" srcId="{43D5514C-52C0-8E4F-8B19-DA0FC0C94EBC}" destId="{C21E2ED4-053C-3A45-B377-D3B979E9EA48}" srcOrd="1" destOrd="0" presId="urn:microsoft.com/office/officeart/2005/8/layout/hierarchy2"/>
    <dgm:cxn modelId="{2957ECFD-DE19-B24E-87ED-C342ACF5A797}" type="presOf" srcId="{55EE4CAE-F0D0-6342-AEBC-1CC88046A96E}" destId="{C7459C93-0D75-CC4E-B624-912E0954D8BD}" srcOrd="0" destOrd="0" presId="urn:microsoft.com/office/officeart/2005/8/layout/hierarchy2"/>
    <dgm:cxn modelId="{0C482BCC-5A4C-C34A-B601-1CB6946E5909}" type="presParOf" srcId="{58866588-99D5-6342-8C16-2B155FF46F66}" destId="{6B050EDE-70B0-964D-A0EF-2C854ECB0132}" srcOrd="0" destOrd="0" presId="urn:microsoft.com/office/officeart/2005/8/layout/hierarchy2"/>
    <dgm:cxn modelId="{1706B867-D006-AB49-B1BA-A2A0295B1B67}" type="presParOf" srcId="{6B050EDE-70B0-964D-A0EF-2C854ECB0132}" destId="{22BB389E-8D5D-FA45-8B70-16FFCDF7D920}" srcOrd="0" destOrd="0" presId="urn:microsoft.com/office/officeart/2005/8/layout/hierarchy2"/>
    <dgm:cxn modelId="{9B0941CA-5523-6245-BDB6-EAD2A3BC1651}" type="presParOf" srcId="{6B050EDE-70B0-964D-A0EF-2C854ECB0132}" destId="{06E3F2FA-1835-C84D-B56B-628F091BDA2B}" srcOrd="1" destOrd="0" presId="urn:microsoft.com/office/officeart/2005/8/layout/hierarchy2"/>
    <dgm:cxn modelId="{F7605141-9592-AB44-B953-C3C0CA58549D}" type="presParOf" srcId="{06E3F2FA-1835-C84D-B56B-628F091BDA2B}" destId="{C7BF68AD-2790-0B42-8DD7-0CC42C137C3C}" srcOrd="0" destOrd="0" presId="urn:microsoft.com/office/officeart/2005/8/layout/hierarchy2"/>
    <dgm:cxn modelId="{B470DE21-7330-6B48-BEDD-2E818754BDB3}" type="presParOf" srcId="{C7BF68AD-2790-0B42-8DD7-0CC42C137C3C}" destId="{C21E2ED4-053C-3A45-B377-D3B979E9EA48}" srcOrd="0" destOrd="0" presId="urn:microsoft.com/office/officeart/2005/8/layout/hierarchy2"/>
    <dgm:cxn modelId="{DA6989C4-BB46-0545-BD12-77CE81AB34EC}" type="presParOf" srcId="{06E3F2FA-1835-C84D-B56B-628F091BDA2B}" destId="{E2401092-4AE6-EE4D-982B-68248D418FF7}" srcOrd="1" destOrd="0" presId="urn:microsoft.com/office/officeart/2005/8/layout/hierarchy2"/>
    <dgm:cxn modelId="{5A21C143-54AD-D14A-8ABB-471D2D6E21F4}" type="presParOf" srcId="{E2401092-4AE6-EE4D-982B-68248D418FF7}" destId="{693AC66B-DF16-1845-9D41-2F026E537BA1}" srcOrd="0" destOrd="0" presId="urn:microsoft.com/office/officeart/2005/8/layout/hierarchy2"/>
    <dgm:cxn modelId="{1CF42E88-17E5-6741-81C5-152CAD1CCBB5}" type="presParOf" srcId="{E2401092-4AE6-EE4D-982B-68248D418FF7}" destId="{FA347151-151A-9F48-928F-0A8FBE94A4E0}" srcOrd="1" destOrd="0" presId="urn:microsoft.com/office/officeart/2005/8/layout/hierarchy2"/>
    <dgm:cxn modelId="{98E8C227-40B0-DA43-9ED2-7FE83B8C3C26}" type="presParOf" srcId="{06E3F2FA-1835-C84D-B56B-628F091BDA2B}" destId="{338247AA-903F-FF46-9C90-2DD3C5A4C5A9}" srcOrd="2" destOrd="0" presId="urn:microsoft.com/office/officeart/2005/8/layout/hierarchy2"/>
    <dgm:cxn modelId="{03DD51B8-8867-5944-8C8F-E60900E94CD7}" type="presParOf" srcId="{338247AA-903F-FF46-9C90-2DD3C5A4C5A9}" destId="{DD2AA688-EA0A-BD43-8B04-4DD4AF212807}" srcOrd="0" destOrd="0" presId="urn:microsoft.com/office/officeart/2005/8/layout/hierarchy2"/>
    <dgm:cxn modelId="{E8C598EA-90C1-A64B-BF34-BD54CF5862D5}" type="presParOf" srcId="{06E3F2FA-1835-C84D-B56B-628F091BDA2B}" destId="{A720571F-3C98-8D46-8444-0C92C149E73F}" srcOrd="3" destOrd="0" presId="urn:microsoft.com/office/officeart/2005/8/layout/hierarchy2"/>
    <dgm:cxn modelId="{9EED90A1-65C9-694B-BFE6-EB3140F69CCB}" type="presParOf" srcId="{A720571F-3C98-8D46-8444-0C92C149E73F}" destId="{F45CD5CE-378E-D64A-AE12-D401530355E6}" srcOrd="0" destOrd="0" presId="urn:microsoft.com/office/officeart/2005/8/layout/hierarchy2"/>
    <dgm:cxn modelId="{7DD7D8F2-3491-E042-8724-D95DC7E681CE}" type="presParOf" srcId="{A720571F-3C98-8D46-8444-0C92C149E73F}" destId="{318BBED8-8674-024B-937F-1E8969EA9734}" srcOrd="1" destOrd="0" presId="urn:microsoft.com/office/officeart/2005/8/layout/hierarchy2"/>
    <dgm:cxn modelId="{2BFB3B72-27E2-FC41-BEAF-01B9F8F2F168}" type="presParOf" srcId="{06E3F2FA-1835-C84D-B56B-628F091BDA2B}" destId="{09C5E0EF-4035-B847-A507-BB3157B0E3B7}" srcOrd="4" destOrd="0" presId="urn:microsoft.com/office/officeart/2005/8/layout/hierarchy2"/>
    <dgm:cxn modelId="{359CD08F-CFA2-DA44-BD87-B3448C80DC42}" type="presParOf" srcId="{09C5E0EF-4035-B847-A507-BB3157B0E3B7}" destId="{43846CBA-4383-DA4E-998E-4570237A63D3}" srcOrd="0" destOrd="0" presId="urn:microsoft.com/office/officeart/2005/8/layout/hierarchy2"/>
    <dgm:cxn modelId="{29091839-C0EF-F142-85FD-CE29DB7272C2}" type="presParOf" srcId="{06E3F2FA-1835-C84D-B56B-628F091BDA2B}" destId="{905FFD85-C999-2843-BAC8-DD112DD98B4F}" srcOrd="5" destOrd="0" presId="urn:microsoft.com/office/officeart/2005/8/layout/hierarchy2"/>
    <dgm:cxn modelId="{4F8DC2CF-4036-CB4D-B066-CBA63DC1572F}" type="presParOf" srcId="{905FFD85-C999-2843-BAC8-DD112DD98B4F}" destId="{C7459C93-0D75-CC4E-B624-912E0954D8BD}" srcOrd="0" destOrd="0" presId="urn:microsoft.com/office/officeart/2005/8/layout/hierarchy2"/>
    <dgm:cxn modelId="{687EB73B-3608-BF41-9A6C-5A38D2299900}" type="presParOf" srcId="{905FFD85-C999-2843-BAC8-DD112DD98B4F}" destId="{39274940-27F5-0F4B-B617-9E7899CBBDD1}" srcOrd="1" destOrd="0" presId="urn:microsoft.com/office/officeart/2005/8/layout/hierarchy2"/>
    <dgm:cxn modelId="{ECD61C43-1EEB-414D-9140-5ADF01B8E2B7}" type="presParOf" srcId="{06E3F2FA-1835-C84D-B56B-628F091BDA2B}" destId="{9B744A88-1DF7-E041-9CC3-9016637400B4}" srcOrd="6" destOrd="0" presId="urn:microsoft.com/office/officeart/2005/8/layout/hierarchy2"/>
    <dgm:cxn modelId="{EAAC0CD9-EAC1-9440-AA2C-51A4F709BF3B}" type="presParOf" srcId="{9B744A88-1DF7-E041-9CC3-9016637400B4}" destId="{073B0E51-714C-6044-823B-0F15E09CF757}" srcOrd="0" destOrd="0" presId="urn:microsoft.com/office/officeart/2005/8/layout/hierarchy2"/>
    <dgm:cxn modelId="{35728F32-70A0-8947-84C2-2BBCEF02E3B6}" type="presParOf" srcId="{06E3F2FA-1835-C84D-B56B-628F091BDA2B}" destId="{D4939DEF-5214-BC45-862E-5DD5CED7EC0E}" srcOrd="7" destOrd="0" presId="urn:microsoft.com/office/officeart/2005/8/layout/hierarchy2"/>
    <dgm:cxn modelId="{212CBC90-B5EE-784D-83C0-93174F6AC68C}" type="presParOf" srcId="{D4939DEF-5214-BC45-862E-5DD5CED7EC0E}" destId="{27C75E9A-F081-D346-A89C-66297053A6BB}" srcOrd="0" destOrd="0" presId="urn:microsoft.com/office/officeart/2005/8/layout/hierarchy2"/>
    <dgm:cxn modelId="{8B9FA7D6-663C-2A4E-9247-10895B1F4322}" type="presParOf" srcId="{D4939DEF-5214-BC45-862E-5DD5CED7EC0E}" destId="{C4230B6A-83F2-F746-BA10-72CC3673C22B}"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A0327A-6169-8243-BFC1-A8A92E26820A}">
      <dsp:nvSpPr>
        <dsp:cNvPr id="0" name=""/>
        <dsp:cNvSpPr/>
      </dsp:nvSpPr>
      <dsp:spPr>
        <a:xfrm>
          <a:off x="2884196" y="852453"/>
          <a:ext cx="1291304" cy="390250"/>
        </a:xfrm>
        <a:custGeom>
          <a:avLst/>
          <a:gdLst/>
          <a:ahLst/>
          <a:cxnLst/>
          <a:rect l="0" t="0" r="0" b="0"/>
          <a:pathLst>
            <a:path>
              <a:moveTo>
                <a:pt x="0" y="0"/>
              </a:moveTo>
              <a:lnTo>
                <a:pt x="0" y="265944"/>
              </a:lnTo>
              <a:lnTo>
                <a:pt x="1291304" y="265944"/>
              </a:lnTo>
              <a:lnTo>
                <a:pt x="1291304" y="390250"/>
              </a:lnTo>
            </a:path>
          </a:pathLst>
        </a:custGeom>
        <a:noFill/>
        <a:ln w="19050" cap="flat" cmpd="sng" algn="ctr">
          <a:solidFill>
            <a:schemeClr val="tx1"/>
          </a:solidFill>
          <a:prstDash val="solid"/>
        </a:ln>
        <a:effectLst/>
      </dsp:spPr>
      <dsp:style>
        <a:lnRef idx="1">
          <a:scrgbClr r="0" g="0" b="0"/>
        </a:lnRef>
        <a:fillRef idx="0">
          <a:scrgbClr r="0" g="0" b="0"/>
        </a:fillRef>
        <a:effectRef idx="0">
          <a:scrgbClr r="0" g="0" b="0"/>
        </a:effectRef>
        <a:fontRef idx="minor"/>
      </dsp:style>
    </dsp:sp>
    <dsp:sp modelId="{FB675661-F3B5-A64D-8233-1AE433910355}">
      <dsp:nvSpPr>
        <dsp:cNvPr id="0" name=""/>
        <dsp:cNvSpPr/>
      </dsp:nvSpPr>
      <dsp:spPr>
        <a:xfrm>
          <a:off x="1738273" y="852453"/>
          <a:ext cx="1145922" cy="390250"/>
        </a:xfrm>
        <a:custGeom>
          <a:avLst/>
          <a:gdLst/>
          <a:ahLst/>
          <a:cxnLst/>
          <a:rect l="0" t="0" r="0" b="0"/>
          <a:pathLst>
            <a:path>
              <a:moveTo>
                <a:pt x="1145922" y="0"/>
              </a:moveTo>
              <a:lnTo>
                <a:pt x="1145922" y="265944"/>
              </a:lnTo>
              <a:lnTo>
                <a:pt x="0" y="265944"/>
              </a:lnTo>
              <a:lnTo>
                <a:pt x="0" y="390250"/>
              </a:lnTo>
            </a:path>
          </a:pathLst>
        </a:custGeom>
        <a:noFill/>
        <a:ln w="19050" cap="flat" cmpd="sng" algn="ctr">
          <a:solidFill>
            <a:schemeClr val="tx1"/>
          </a:solidFill>
          <a:prstDash val="solid"/>
        </a:ln>
        <a:effectLst/>
      </dsp:spPr>
      <dsp:style>
        <a:lnRef idx="1">
          <a:scrgbClr r="0" g="0" b="0"/>
        </a:lnRef>
        <a:fillRef idx="0">
          <a:scrgbClr r="0" g="0" b="0"/>
        </a:fillRef>
        <a:effectRef idx="0">
          <a:scrgbClr r="0" g="0" b="0"/>
        </a:effectRef>
        <a:fontRef idx="minor"/>
      </dsp:style>
    </dsp:sp>
    <dsp:sp modelId="{00FB5050-4CED-D84F-B68F-3236BFE1043B}">
      <dsp:nvSpPr>
        <dsp:cNvPr id="0" name=""/>
        <dsp:cNvSpPr/>
      </dsp:nvSpPr>
      <dsp:spPr>
        <a:xfrm>
          <a:off x="1864320" y="387"/>
          <a:ext cx="2039752" cy="852065"/>
        </a:xfrm>
        <a:prstGeom prst="roundRect">
          <a:avLst>
            <a:gd name="adj" fmla="val 10000"/>
          </a:avLst>
        </a:prstGeom>
        <a:solidFill>
          <a:schemeClr val="bg1">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678EE81-A1BE-E344-9E4C-F671D58F235F}">
      <dsp:nvSpPr>
        <dsp:cNvPr id="0" name=""/>
        <dsp:cNvSpPr/>
      </dsp:nvSpPr>
      <dsp:spPr>
        <a:xfrm>
          <a:off x="2013413" y="142025"/>
          <a:ext cx="2039752" cy="852065"/>
        </a:xfrm>
        <a:prstGeom prst="roundRect">
          <a:avLst>
            <a:gd name="adj" fmla="val 10000"/>
          </a:avLst>
        </a:prstGeom>
        <a:solidFill>
          <a:schemeClr val="lt1">
            <a:alpha val="90000"/>
            <a:hueOff val="0"/>
            <a:satOff val="0"/>
            <a:lumOff val="0"/>
            <a:alphaOff val="0"/>
          </a:schemeClr>
        </a:solidFill>
        <a:ln w="9525" cap="flat" cmpd="sng" algn="ctr">
          <a:solidFill>
            <a:srgbClr val="00B9FA"/>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Arial"/>
              <a:cs typeface="Arial"/>
            </a:rPr>
            <a:t>Two Functions</a:t>
          </a:r>
        </a:p>
      </dsp:txBody>
      <dsp:txXfrm>
        <a:off x="2038369" y="166981"/>
        <a:ext cx="1989840" cy="802153"/>
      </dsp:txXfrm>
    </dsp:sp>
    <dsp:sp modelId="{84C58CC0-3D0C-4A4C-9B2C-2AF66D057916}">
      <dsp:nvSpPr>
        <dsp:cNvPr id="0" name=""/>
        <dsp:cNvSpPr/>
      </dsp:nvSpPr>
      <dsp:spPr>
        <a:xfrm>
          <a:off x="596062" y="1242703"/>
          <a:ext cx="2284422" cy="852065"/>
        </a:xfrm>
        <a:prstGeom prst="roundRect">
          <a:avLst>
            <a:gd name="adj" fmla="val 10000"/>
          </a:avLst>
        </a:prstGeom>
        <a:solidFill>
          <a:schemeClr val="bg1">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433DA2E-AB58-3240-A9B5-56B4FB4BF940}">
      <dsp:nvSpPr>
        <dsp:cNvPr id="0" name=""/>
        <dsp:cNvSpPr/>
      </dsp:nvSpPr>
      <dsp:spPr>
        <a:xfrm>
          <a:off x="745155" y="1384341"/>
          <a:ext cx="2284422" cy="852065"/>
        </a:xfrm>
        <a:prstGeom prst="roundRect">
          <a:avLst>
            <a:gd name="adj" fmla="val 10000"/>
          </a:avLst>
        </a:prstGeom>
        <a:solidFill>
          <a:schemeClr val="lt1">
            <a:alpha val="90000"/>
            <a:hueOff val="0"/>
            <a:satOff val="0"/>
            <a:lumOff val="0"/>
            <a:alphaOff val="0"/>
          </a:schemeClr>
        </a:solidFill>
        <a:ln w="9525" cap="flat" cmpd="sng" algn="ctr">
          <a:solidFill>
            <a:srgbClr val="00B9FA"/>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Arial"/>
              <a:cs typeface="Arial"/>
            </a:rPr>
            <a:t>1</a:t>
          </a:r>
          <a:r>
            <a:rPr lang="en-US" sz="2300" kern="1200" baseline="30000" dirty="0">
              <a:latin typeface="Arial"/>
              <a:cs typeface="Arial"/>
            </a:rPr>
            <a:t>st</a:t>
          </a:r>
          <a:r>
            <a:rPr lang="en-US" sz="2300" kern="1200" dirty="0">
              <a:latin typeface="Arial"/>
              <a:cs typeface="Arial"/>
            </a:rPr>
            <a:t>: </a:t>
          </a:r>
          <a:r>
            <a:rPr lang="en-US" sz="2300" kern="1200" dirty="0">
              <a:solidFill>
                <a:srgbClr val="3366FF"/>
              </a:solidFill>
              <a:latin typeface="Arial"/>
              <a:cs typeface="Arial"/>
            </a:rPr>
            <a:t>Forwarding</a:t>
          </a:r>
        </a:p>
      </dsp:txBody>
      <dsp:txXfrm>
        <a:off x="770111" y="1409297"/>
        <a:ext cx="2234510" cy="802153"/>
      </dsp:txXfrm>
    </dsp:sp>
    <dsp:sp modelId="{FAA2F400-05BD-DE45-9B8C-9B6E77EFB3C2}">
      <dsp:nvSpPr>
        <dsp:cNvPr id="0" name=""/>
        <dsp:cNvSpPr/>
      </dsp:nvSpPr>
      <dsp:spPr>
        <a:xfrm>
          <a:off x="3178670" y="1242703"/>
          <a:ext cx="1993659" cy="852065"/>
        </a:xfrm>
        <a:prstGeom prst="roundRect">
          <a:avLst>
            <a:gd name="adj" fmla="val 10000"/>
          </a:avLst>
        </a:prstGeom>
        <a:solidFill>
          <a:schemeClr val="bg1">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113F068-8C01-CC49-994E-0BAB0D6CC16D}">
      <dsp:nvSpPr>
        <dsp:cNvPr id="0" name=""/>
        <dsp:cNvSpPr/>
      </dsp:nvSpPr>
      <dsp:spPr>
        <a:xfrm>
          <a:off x="3327763" y="1384341"/>
          <a:ext cx="1993659" cy="852065"/>
        </a:xfrm>
        <a:prstGeom prst="roundRect">
          <a:avLst>
            <a:gd name="adj" fmla="val 10000"/>
          </a:avLst>
        </a:prstGeom>
        <a:solidFill>
          <a:schemeClr val="lt1">
            <a:alpha val="90000"/>
            <a:hueOff val="0"/>
            <a:satOff val="0"/>
            <a:lumOff val="0"/>
            <a:alphaOff val="0"/>
          </a:schemeClr>
        </a:solidFill>
        <a:ln w="9525" cap="flat" cmpd="sng" algn="ctr">
          <a:solidFill>
            <a:srgbClr val="00B9FA"/>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Arial"/>
              <a:cs typeface="Arial"/>
            </a:rPr>
            <a:t>2</a:t>
          </a:r>
          <a:r>
            <a:rPr lang="en-US" sz="2300" kern="1200" baseline="30000" dirty="0">
              <a:latin typeface="Arial"/>
              <a:cs typeface="Arial"/>
            </a:rPr>
            <a:t>nd</a:t>
          </a:r>
          <a:r>
            <a:rPr lang="en-US" sz="2300" kern="1200" baseline="0" dirty="0">
              <a:latin typeface="Arial"/>
              <a:cs typeface="Arial"/>
            </a:rPr>
            <a:t>: </a:t>
          </a:r>
          <a:r>
            <a:rPr lang="en-US" sz="2300" kern="1200" dirty="0">
              <a:solidFill>
                <a:srgbClr val="3366FF"/>
              </a:solidFill>
              <a:latin typeface="Arial"/>
              <a:cs typeface="Arial"/>
            </a:rPr>
            <a:t>Routing</a:t>
          </a:r>
        </a:p>
      </dsp:txBody>
      <dsp:txXfrm>
        <a:off x="3352719" y="1409297"/>
        <a:ext cx="1943747" cy="8021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A0327A-6169-8243-BFC1-A8A92E26820A}">
      <dsp:nvSpPr>
        <dsp:cNvPr id="0" name=""/>
        <dsp:cNvSpPr/>
      </dsp:nvSpPr>
      <dsp:spPr>
        <a:xfrm>
          <a:off x="1942182" y="627250"/>
          <a:ext cx="949253" cy="286878"/>
        </a:xfrm>
        <a:custGeom>
          <a:avLst/>
          <a:gdLst/>
          <a:ahLst/>
          <a:cxnLst/>
          <a:rect l="0" t="0" r="0" b="0"/>
          <a:pathLst>
            <a:path>
              <a:moveTo>
                <a:pt x="0" y="0"/>
              </a:moveTo>
              <a:lnTo>
                <a:pt x="0" y="195499"/>
              </a:lnTo>
              <a:lnTo>
                <a:pt x="949253" y="195499"/>
              </a:lnTo>
              <a:lnTo>
                <a:pt x="949253" y="286878"/>
              </a:lnTo>
            </a:path>
          </a:pathLst>
        </a:custGeom>
        <a:noFill/>
        <a:ln w="19050" cap="flat" cmpd="sng" algn="ctr">
          <a:solidFill>
            <a:schemeClr val="tx1"/>
          </a:solidFill>
          <a:prstDash val="solid"/>
        </a:ln>
        <a:effectLst/>
      </dsp:spPr>
      <dsp:style>
        <a:lnRef idx="1">
          <a:scrgbClr r="0" g="0" b="0"/>
        </a:lnRef>
        <a:fillRef idx="0">
          <a:scrgbClr r="0" g="0" b="0"/>
        </a:fillRef>
        <a:effectRef idx="0">
          <a:scrgbClr r="0" g="0" b="0"/>
        </a:effectRef>
        <a:fontRef idx="minor"/>
      </dsp:style>
    </dsp:sp>
    <dsp:sp modelId="{FB675661-F3B5-A64D-8233-1AE433910355}">
      <dsp:nvSpPr>
        <dsp:cNvPr id="0" name=""/>
        <dsp:cNvSpPr/>
      </dsp:nvSpPr>
      <dsp:spPr>
        <a:xfrm>
          <a:off x="986221" y="627250"/>
          <a:ext cx="955961" cy="286878"/>
        </a:xfrm>
        <a:custGeom>
          <a:avLst/>
          <a:gdLst/>
          <a:ahLst/>
          <a:cxnLst/>
          <a:rect l="0" t="0" r="0" b="0"/>
          <a:pathLst>
            <a:path>
              <a:moveTo>
                <a:pt x="955961" y="0"/>
              </a:moveTo>
              <a:lnTo>
                <a:pt x="955961" y="195499"/>
              </a:lnTo>
              <a:lnTo>
                <a:pt x="0" y="195499"/>
              </a:lnTo>
              <a:lnTo>
                <a:pt x="0" y="286878"/>
              </a:lnTo>
            </a:path>
          </a:pathLst>
        </a:custGeom>
        <a:noFill/>
        <a:ln w="19050" cap="flat" cmpd="sng" algn="ctr">
          <a:solidFill>
            <a:schemeClr val="tx1"/>
          </a:solidFill>
          <a:prstDash val="solid"/>
        </a:ln>
        <a:effectLst/>
      </dsp:spPr>
      <dsp:style>
        <a:lnRef idx="1">
          <a:scrgbClr r="0" g="0" b="0"/>
        </a:lnRef>
        <a:fillRef idx="0">
          <a:scrgbClr r="0" g="0" b="0"/>
        </a:fillRef>
        <a:effectRef idx="0">
          <a:scrgbClr r="0" g="0" b="0"/>
        </a:effectRef>
        <a:fontRef idx="minor"/>
      </dsp:style>
    </dsp:sp>
    <dsp:sp modelId="{00FB5050-4CED-D84F-B68F-3236BFE1043B}">
      <dsp:nvSpPr>
        <dsp:cNvPr id="0" name=""/>
        <dsp:cNvSpPr/>
      </dsp:nvSpPr>
      <dsp:spPr>
        <a:xfrm>
          <a:off x="951728" y="886"/>
          <a:ext cx="1980908" cy="626364"/>
        </a:xfrm>
        <a:prstGeom prst="roundRect">
          <a:avLst>
            <a:gd name="adj" fmla="val 10000"/>
          </a:avLst>
        </a:prstGeom>
        <a:solidFill>
          <a:schemeClr val="bg1">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678EE81-A1BE-E344-9E4C-F671D58F235F}">
      <dsp:nvSpPr>
        <dsp:cNvPr id="0" name=""/>
        <dsp:cNvSpPr/>
      </dsp:nvSpPr>
      <dsp:spPr>
        <a:xfrm>
          <a:off x="1061328" y="105006"/>
          <a:ext cx="1980908" cy="626364"/>
        </a:xfrm>
        <a:prstGeom prst="roundRect">
          <a:avLst>
            <a:gd name="adj" fmla="val 10000"/>
          </a:avLst>
        </a:prstGeom>
        <a:solidFill>
          <a:schemeClr val="lt1">
            <a:alpha val="90000"/>
            <a:hueOff val="0"/>
            <a:satOff val="0"/>
            <a:lumOff val="0"/>
            <a:alphaOff val="0"/>
          </a:schemeClr>
        </a:solidFill>
        <a:ln w="9525" cap="flat" cmpd="sng" algn="ctr">
          <a:solidFill>
            <a:srgbClr val="00B9FA"/>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a:cs typeface="Arial"/>
            </a:rPr>
            <a:t>Two Control-Plane  Approaches</a:t>
          </a:r>
        </a:p>
      </dsp:txBody>
      <dsp:txXfrm>
        <a:off x="1079674" y="123352"/>
        <a:ext cx="1944216" cy="589672"/>
      </dsp:txXfrm>
    </dsp:sp>
    <dsp:sp modelId="{84C58CC0-3D0C-4A4C-9B2C-2AF66D057916}">
      <dsp:nvSpPr>
        <dsp:cNvPr id="0" name=""/>
        <dsp:cNvSpPr/>
      </dsp:nvSpPr>
      <dsp:spPr>
        <a:xfrm>
          <a:off x="146568" y="914128"/>
          <a:ext cx="1679307" cy="626364"/>
        </a:xfrm>
        <a:prstGeom prst="roundRect">
          <a:avLst>
            <a:gd name="adj" fmla="val 10000"/>
          </a:avLst>
        </a:prstGeom>
        <a:solidFill>
          <a:schemeClr val="bg1">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433DA2E-AB58-3240-A9B5-56B4FB4BF940}">
      <dsp:nvSpPr>
        <dsp:cNvPr id="0" name=""/>
        <dsp:cNvSpPr/>
      </dsp:nvSpPr>
      <dsp:spPr>
        <a:xfrm>
          <a:off x="256168" y="1018248"/>
          <a:ext cx="1679307" cy="626364"/>
        </a:xfrm>
        <a:prstGeom prst="roundRect">
          <a:avLst>
            <a:gd name="adj" fmla="val 10000"/>
          </a:avLst>
        </a:prstGeom>
        <a:solidFill>
          <a:schemeClr val="lt1">
            <a:alpha val="90000"/>
            <a:hueOff val="0"/>
            <a:satOff val="0"/>
            <a:lumOff val="0"/>
            <a:alphaOff val="0"/>
          </a:schemeClr>
        </a:solidFill>
        <a:ln w="9525" cap="flat" cmpd="sng" algn="ctr">
          <a:solidFill>
            <a:srgbClr val="00B9FA"/>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B0F0"/>
              </a:solidFill>
              <a:latin typeface="Arial"/>
              <a:cs typeface="Arial"/>
            </a:rPr>
            <a:t>Traditional Routing Algorithms</a:t>
          </a:r>
        </a:p>
      </dsp:txBody>
      <dsp:txXfrm>
        <a:off x="274514" y="1036594"/>
        <a:ext cx="1642615" cy="589672"/>
      </dsp:txXfrm>
    </dsp:sp>
    <dsp:sp modelId="{FAA2F400-05BD-DE45-9B8C-9B6E77EFB3C2}">
      <dsp:nvSpPr>
        <dsp:cNvPr id="0" name=""/>
        <dsp:cNvSpPr/>
      </dsp:nvSpPr>
      <dsp:spPr>
        <a:xfrm>
          <a:off x="2045075" y="914128"/>
          <a:ext cx="1692722" cy="626364"/>
        </a:xfrm>
        <a:prstGeom prst="roundRect">
          <a:avLst>
            <a:gd name="adj" fmla="val 10000"/>
          </a:avLst>
        </a:prstGeom>
        <a:solidFill>
          <a:schemeClr val="bg1">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113F068-8C01-CC49-994E-0BAB0D6CC16D}">
      <dsp:nvSpPr>
        <dsp:cNvPr id="0" name=""/>
        <dsp:cNvSpPr/>
      </dsp:nvSpPr>
      <dsp:spPr>
        <a:xfrm>
          <a:off x="2154675" y="1018248"/>
          <a:ext cx="1692722" cy="626364"/>
        </a:xfrm>
        <a:prstGeom prst="roundRect">
          <a:avLst>
            <a:gd name="adj" fmla="val 10000"/>
          </a:avLst>
        </a:prstGeom>
        <a:solidFill>
          <a:schemeClr val="lt1">
            <a:alpha val="90000"/>
            <a:hueOff val="0"/>
            <a:satOff val="0"/>
            <a:lumOff val="0"/>
            <a:alphaOff val="0"/>
          </a:schemeClr>
        </a:solidFill>
        <a:ln w="9525" cap="flat" cmpd="sng" algn="ctr">
          <a:solidFill>
            <a:srgbClr val="00B9FA"/>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B0F0"/>
              </a:solidFill>
              <a:latin typeface="Arial"/>
              <a:cs typeface="Arial"/>
            </a:rPr>
            <a:t>SDN</a:t>
          </a:r>
        </a:p>
      </dsp:txBody>
      <dsp:txXfrm>
        <a:off x="2173021" y="1036594"/>
        <a:ext cx="1656030" cy="5896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BB389E-8D5D-FA45-8B70-16FFCDF7D920}">
      <dsp:nvSpPr>
        <dsp:cNvPr id="0" name=""/>
        <dsp:cNvSpPr/>
      </dsp:nvSpPr>
      <dsp:spPr>
        <a:xfrm>
          <a:off x="452237" y="1173257"/>
          <a:ext cx="1359441" cy="679720"/>
        </a:xfrm>
        <a:prstGeom prst="roundRect">
          <a:avLst>
            <a:gd name="adj" fmla="val 10000"/>
          </a:avLst>
        </a:prstGeom>
        <a:no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endParaRPr lang="en-US" sz="2200" kern="1200" dirty="0">
            <a:solidFill>
              <a:schemeClr val="tx1"/>
            </a:solidFill>
            <a:latin typeface="Arial"/>
            <a:cs typeface="Arial"/>
          </a:endParaRPr>
        </a:p>
      </dsp:txBody>
      <dsp:txXfrm>
        <a:off x="472145" y="1193165"/>
        <a:ext cx="1319625" cy="639904"/>
      </dsp:txXfrm>
    </dsp:sp>
    <dsp:sp modelId="{C7BF68AD-2790-0B42-8DD7-0CC42C137C3C}">
      <dsp:nvSpPr>
        <dsp:cNvPr id="0" name=""/>
        <dsp:cNvSpPr/>
      </dsp:nvSpPr>
      <dsp:spPr>
        <a:xfrm rot="17692822">
          <a:off x="1437330" y="906643"/>
          <a:ext cx="1292475" cy="40429"/>
        </a:xfrm>
        <a:custGeom>
          <a:avLst/>
          <a:gdLst/>
          <a:ahLst/>
          <a:cxnLst/>
          <a:rect l="0" t="0" r="0" b="0"/>
          <a:pathLst>
            <a:path>
              <a:moveTo>
                <a:pt x="0" y="20214"/>
              </a:moveTo>
              <a:lnTo>
                <a:pt x="1292475" y="20214"/>
              </a:lnTo>
            </a:path>
          </a:pathLst>
        </a:custGeom>
        <a:noFill/>
        <a:ln w="19050" cap="flat" cmpd="sng" algn="ctr">
          <a:solidFill>
            <a:schemeClr val="tx1"/>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a:cs typeface="Arial"/>
          </a:endParaRPr>
        </a:p>
      </dsp:txBody>
      <dsp:txXfrm>
        <a:off x="2051255" y="894546"/>
        <a:ext cx="64623" cy="64623"/>
      </dsp:txXfrm>
    </dsp:sp>
    <dsp:sp modelId="{693AC66B-DF16-1845-9D41-2F026E537BA1}">
      <dsp:nvSpPr>
        <dsp:cNvPr id="0" name=""/>
        <dsp:cNvSpPr/>
      </dsp:nvSpPr>
      <dsp:spPr>
        <a:xfrm>
          <a:off x="2355455" y="738"/>
          <a:ext cx="2515891" cy="679720"/>
        </a:xfrm>
        <a:prstGeom prst="roundRect">
          <a:avLst>
            <a:gd name="adj" fmla="val 10000"/>
          </a:avLst>
        </a:prstGeom>
        <a:solidFill>
          <a:schemeClr val="bg1">
            <a:lumMod val="85000"/>
          </a:schemeClr>
        </a:solidFill>
        <a:ln>
          <a:solidFill>
            <a:srgbClr val="00B9FA"/>
          </a:solidFill>
        </a:ln>
        <a:effectLst>
          <a:outerShdw blurRad="40005" dist="99187" dir="2820000" algn="tl"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latin typeface="Arial"/>
              <a:cs typeface="Arial"/>
            </a:rPr>
            <a:t>Input Ports</a:t>
          </a:r>
        </a:p>
      </dsp:txBody>
      <dsp:txXfrm>
        <a:off x="2375363" y="20646"/>
        <a:ext cx="2476075" cy="639904"/>
      </dsp:txXfrm>
    </dsp:sp>
    <dsp:sp modelId="{338247AA-903F-FF46-9C90-2DD3C5A4C5A9}">
      <dsp:nvSpPr>
        <dsp:cNvPr id="0" name=""/>
        <dsp:cNvSpPr/>
      </dsp:nvSpPr>
      <dsp:spPr>
        <a:xfrm rot="19457599">
          <a:off x="1748736" y="1297482"/>
          <a:ext cx="669662" cy="40429"/>
        </a:xfrm>
        <a:custGeom>
          <a:avLst/>
          <a:gdLst/>
          <a:ahLst/>
          <a:cxnLst/>
          <a:rect l="0" t="0" r="0" b="0"/>
          <a:pathLst>
            <a:path>
              <a:moveTo>
                <a:pt x="0" y="20214"/>
              </a:moveTo>
              <a:lnTo>
                <a:pt x="669662" y="20214"/>
              </a:lnTo>
            </a:path>
          </a:pathLst>
        </a:custGeom>
        <a:noFill/>
        <a:ln w="19050" cap="flat" cmpd="sng" algn="ctr">
          <a:solidFill>
            <a:schemeClr val="tx1"/>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a:cs typeface="Arial"/>
          </a:endParaRPr>
        </a:p>
      </dsp:txBody>
      <dsp:txXfrm>
        <a:off x="2066826" y="1300956"/>
        <a:ext cx="33483" cy="33483"/>
      </dsp:txXfrm>
    </dsp:sp>
    <dsp:sp modelId="{F45CD5CE-378E-D64A-AE12-D401530355E6}">
      <dsp:nvSpPr>
        <dsp:cNvPr id="0" name=""/>
        <dsp:cNvSpPr/>
      </dsp:nvSpPr>
      <dsp:spPr>
        <a:xfrm>
          <a:off x="2355455" y="782417"/>
          <a:ext cx="2508726" cy="679720"/>
        </a:xfrm>
        <a:prstGeom prst="roundRect">
          <a:avLst>
            <a:gd name="adj" fmla="val 10000"/>
          </a:avLst>
        </a:prstGeom>
        <a:solidFill>
          <a:schemeClr val="bg1">
            <a:lumMod val="85000"/>
          </a:schemeClr>
        </a:solidFill>
        <a:ln>
          <a:solidFill>
            <a:srgbClr val="00B9FA"/>
          </a:solidFill>
        </a:ln>
        <a:effectLst>
          <a:outerShdw blurRad="40005" dist="99187" dir="2820000" algn="tl"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latin typeface="Arial"/>
              <a:cs typeface="Arial"/>
            </a:rPr>
            <a:t>Output Ports</a:t>
          </a:r>
        </a:p>
      </dsp:txBody>
      <dsp:txXfrm>
        <a:off x="2375363" y="802325"/>
        <a:ext cx="2468910" cy="639904"/>
      </dsp:txXfrm>
    </dsp:sp>
    <dsp:sp modelId="{09C5E0EF-4035-B847-A507-BB3157B0E3B7}">
      <dsp:nvSpPr>
        <dsp:cNvPr id="0" name=""/>
        <dsp:cNvSpPr/>
      </dsp:nvSpPr>
      <dsp:spPr>
        <a:xfrm rot="2142401">
          <a:off x="1748736" y="1688322"/>
          <a:ext cx="669662" cy="40429"/>
        </a:xfrm>
        <a:custGeom>
          <a:avLst/>
          <a:gdLst/>
          <a:ahLst/>
          <a:cxnLst/>
          <a:rect l="0" t="0" r="0" b="0"/>
          <a:pathLst>
            <a:path>
              <a:moveTo>
                <a:pt x="0" y="20214"/>
              </a:moveTo>
              <a:lnTo>
                <a:pt x="669662" y="20214"/>
              </a:lnTo>
            </a:path>
          </a:pathLst>
        </a:custGeom>
        <a:noFill/>
        <a:ln w="19050" cap="flat" cmpd="sng" algn="ctr">
          <a:solidFill>
            <a:schemeClr val="tx1"/>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66826" y="1691795"/>
        <a:ext cx="33483" cy="33483"/>
      </dsp:txXfrm>
    </dsp:sp>
    <dsp:sp modelId="{C7459C93-0D75-CC4E-B624-912E0954D8BD}">
      <dsp:nvSpPr>
        <dsp:cNvPr id="0" name=""/>
        <dsp:cNvSpPr/>
      </dsp:nvSpPr>
      <dsp:spPr>
        <a:xfrm>
          <a:off x="2355455" y="1564096"/>
          <a:ext cx="2508726" cy="679720"/>
        </a:xfrm>
        <a:prstGeom prst="roundRect">
          <a:avLst>
            <a:gd name="adj" fmla="val 10000"/>
          </a:avLst>
        </a:prstGeom>
        <a:solidFill>
          <a:schemeClr val="bg1">
            <a:lumMod val="85000"/>
          </a:schemeClr>
        </a:solidFill>
        <a:ln>
          <a:solidFill>
            <a:srgbClr val="00B9FA"/>
          </a:solidFill>
        </a:ln>
        <a:effectLst>
          <a:outerShdw blurRad="40005" dist="99187" dir="2820000" algn="tl"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latin typeface="Arial"/>
              <a:cs typeface="Arial"/>
            </a:rPr>
            <a:t>Switching Fabric</a:t>
          </a:r>
        </a:p>
      </dsp:txBody>
      <dsp:txXfrm>
        <a:off x="2375363" y="1584004"/>
        <a:ext cx="2468910" cy="639904"/>
      </dsp:txXfrm>
    </dsp:sp>
    <dsp:sp modelId="{9B744A88-1DF7-E041-9CC3-9016637400B4}">
      <dsp:nvSpPr>
        <dsp:cNvPr id="0" name=""/>
        <dsp:cNvSpPr/>
      </dsp:nvSpPr>
      <dsp:spPr>
        <a:xfrm rot="3907178">
          <a:off x="1437330" y="2079161"/>
          <a:ext cx="1292475" cy="40429"/>
        </a:xfrm>
        <a:custGeom>
          <a:avLst/>
          <a:gdLst/>
          <a:ahLst/>
          <a:cxnLst/>
          <a:rect l="0" t="0" r="0" b="0"/>
          <a:pathLst>
            <a:path>
              <a:moveTo>
                <a:pt x="0" y="20214"/>
              </a:moveTo>
              <a:lnTo>
                <a:pt x="1292475" y="20214"/>
              </a:lnTo>
            </a:path>
          </a:pathLst>
        </a:custGeom>
        <a:noFill/>
        <a:ln w="12700" cap="flat" cmpd="sng" algn="ctr">
          <a:solidFill>
            <a:schemeClr val="tx1"/>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1255" y="2067064"/>
        <a:ext cx="64623" cy="64623"/>
      </dsp:txXfrm>
    </dsp:sp>
    <dsp:sp modelId="{27C75E9A-F081-D346-A89C-66297053A6BB}">
      <dsp:nvSpPr>
        <dsp:cNvPr id="0" name=""/>
        <dsp:cNvSpPr/>
      </dsp:nvSpPr>
      <dsp:spPr>
        <a:xfrm>
          <a:off x="2355455" y="2345775"/>
          <a:ext cx="2501576" cy="679720"/>
        </a:xfrm>
        <a:prstGeom prst="roundRect">
          <a:avLst>
            <a:gd name="adj" fmla="val 10000"/>
          </a:avLst>
        </a:prstGeom>
        <a:solidFill>
          <a:schemeClr val="bg1">
            <a:lumMod val="85000"/>
          </a:schemeClr>
        </a:solidFill>
        <a:ln>
          <a:solidFill>
            <a:srgbClr val="00B9FA"/>
          </a:solidFill>
        </a:ln>
        <a:effectLst>
          <a:outerShdw blurRad="40005" dist="99187" dir="2820000" algn="tl"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latin typeface="Arial"/>
              <a:cs typeface="Arial"/>
            </a:rPr>
            <a:t>Routing Processor</a:t>
          </a:r>
        </a:p>
      </dsp:txBody>
      <dsp:txXfrm>
        <a:off x="2375363" y="2365683"/>
        <a:ext cx="2461760" cy="63990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4" name="Rectangle 2">
            <a:extLst>
              <a:ext uri="{FF2B5EF4-FFF2-40B4-BE49-F238E27FC236}">
                <a16:creationId xmlns:a16="http://schemas.microsoft.com/office/drawing/2014/main" id="{E115483E-811E-8340-8F41-5625668173BF}"/>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622595" name="Rectangle 3">
            <a:extLst>
              <a:ext uri="{FF2B5EF4-FFF2-40B4-BE49-F238E27FC236}">
                <a16:creationId xmlns:a16="http://schemas.microsoft.com/office/drawing/2014/main" id="{4E79D55D-2504-464A-AB8E-A68A29A88E1B}"/>
              </a:ext>
            </a:extLst>
          </p:cNvPr>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Times New Roman" charset="0"/>
                <a:ea typeface="ＭＳ Ｐゴシック" charset="0"/>
                <a:cs typeface="ＭＳ Ｐゴシック" charset="0"/>
              </a:defRPr>
            </a:lvl1pPr>
          </a:lstStyle>
          <a:p>
            <a:pPr>
              <a:defRPr/>
            </a:pPr>
            <a:endParaRPr lang="en-US"/>
          </a:p>
        </p:txBody>
      </p:sp>
      <p:sp>
        <p:nvSpPr>
          <p:cNvPr id="622596" name="Rectangle 4">
            <a:extLst>
              <a:ext uri="{FF2B5EF4-FFF2-40B4-BE49-F238E27FC236}">
                <a16:creationId xmlns:a16="http://schemas.microsoft.com/office/drawing/2014/main" id="{2DDE29F6-01E0-3E4B-9D39-2D327B422BD8}"/>
              </a:ext>
            </a:extLst>
          </p:cNvPr>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622597" name="Rectangle 5">
            <a:extLst>
              <a:ext uri="{FF2B5EF4-FFF2-40B4-BE49-F238E27FC236}">
                <a16:creationId xmlns:a16="http://schemas.microsoft.com/office/drawing/2014/main" id="{56255478-6928-A84B-8BEB-D6DC34846E9A}"/>
              </a:ext>
            </a:extLst>
          </p:cNvPr>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imes New Roman" panose="02020603050405020304" pitchFamily="18" charset="0"/>
              </a:defRPr>
            </a:lvl1pPr>
          </a:lstStyle>
          <a:p>
            <a:fld id="{0EDA754F-7380-C640-98E0-D322F755C0EF}"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804DC1E-61F3-E445-B045-318220203AFC}"/>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5" name="Rectangle 3">
            <a:extLst>
              <a:ext uri="{FF2B5EF4-FFF2-40B4-BE49-F238E27FC236}">
                <a16:creationId xmlns:a16="http://schemas.microsoft.com/office/drawing/2014/main" id="{98E68304-ADAC-384A-BD86-FCF3BDDFC9F6}"/>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atin typeface="Times New Roman" charset="0"/>
                <a:ea typeface="ＭＳ Ｐゴシック" charset="0"/>
                <a:cs typeface="ＭＳ Ｐゴシック" charset="0"/>
              </a:defRPr>
            </a:lvl1pPr>
          </a:lstStyle>
          <a:p>
            <a:pPr>
              <a:defRPr/>
            </a:pPr>
            <a:endParaRPr lang="en-US"/>
          </a:p>
        </p:txBody>
      </p:sp>
      <p:sp>
        <p:nvSpPr>
          <p:cNvPr id="116740" name="Rectangle 4">
            <a:extLst>
              <a:ext uri="{FF2B5EF4-FFF2-40B4-BE49-F238E27FC236}">
                <a16:creationId xmlns:a16="http://schemas.microsoft.com/office/drawing/2014/main" id="{3B7C5766-5148-964D-B0EA-5DA636F080E7}"/>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D270BCAA-A03D-704C-AC35-6BC1D256DD35}"/>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D8A53E1C-8BAF-D340-9B87-E854DF14DD1E}"/>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Times New Roman" charset="0"/>
                <a:ea typeface="ＭＳ Ｐゴシック" charset="0"/>
                <a:cs typeface="ＭＳ Ｐゴシック" charset="0"/>
              </a:defRPr>
            </a:lvl1pPr>
          </a:lstStyle>
          <a:p>
            <a:pPr>
              <a:defRPr/>
            </a:pPr>
            <a:endParaRPr lang="en-US"/>
          </a:p>
        </p:txBody>
      </p:sp>
      <p:sp>
        <p:nvSpPr>
          <p:cNvPr id="3079" name="Rectangle 7">
            <a:extLst>
              <a:ext uri="{FF2B5EF4-FFF2-40B4-BE49-F238E27FC236}">
                <a16:creationId xmlns:a16="http://schemas.microsoft.com/office/drawing/2014/main" id="{F059D6D3-490C-7B45-BDDD-B73CF66F661E}"/>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atin typeface="Times New Roman" panose="02020603050405020304" pitchFamily="18" charset="0"/>
              </a:defRPr>
            </a:lvl1pPr>
          </a:lstStyle>
          <a:p>
            <a:fld id="{AC288E39-C039-3B44-8C49-0819C1028AF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09"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8207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8629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for this animation:</a:t>
            </a:r>
          </a:p>
          <a:p>
            <a:endParaRPr lang="en-US" dirty="0"/>
          </a:p>
          <a:p>
            <a:r>
              <a:rPr lang="en-US" sz="1200" kern="1200" dirty="0">
                <a:solidFill>
                  <a:schemeClr val="tx1"/>
                </a:solidFill>
                <a:effectLst/>
                <a:latin typeface="+mn-lt"/>
                <a:ea typeface="+mn-ea"/>
                <a:cs typeface="+mn-cs"/>
              </a:rPr>
              <a:t>This all works out pretty nice and looks pretty simple!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But of course the devil is in the details, as the saying goes.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0599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896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7579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4548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9153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5677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214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9541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288E39-C039-3B44-8C49-0819C1028AF4}" type="slidenum">
              <a:rPr lang="en-US" altLang="en-US" smtClean="0"/>
              <a:pPr/>
              <a:t>40</a:t>
            </a:fld>
            <a:endParaRPr lang="en-US" altLang="en-US"/>
          </a:p>
        </p:txBody>
      </p:sp>
    </p:spTree>
    <p:extLst>
      <p:ext uri="{BB962C8B-B14F-4D97-AF65-F5344CB8AC3E}">
        <p14:creationId xmlns:p14="http://schemas.microsoft.com/office/powerpoint/2010/main" val="2374165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2671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2850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5948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MY" sz="1200" kern="1200" baseline="0" dirty="0">
                <a:solidFill>
                  <a:schemeClr val="tx1"/>
                </a:solidFill>
                <a:latin typeface="+mn-lt"/>
                <a:ea typeface="+mn-ea"/>
                <a:cs typeface="+mn-cs"/>
              </a:rPr>
              <a:t>Recall that a network-layer packet is referred to as a </a:t>
            </a:r>
            <a:r>
              <a:rPr lang="en-MY" sz="1200" i="1" kern="1200" baseline="0" dirty="0">
                <a:solidFill>
                  <a:schemeClr val="tx1"/>
                </a:solidFill>
                <a:latin typeface="+mn-lt"/>
                <a:ea typeface="+mn-ea"/>
                <a:cs typeface="+mn-cs"/>
              </a:rPr>
              <a:t>datagram</a:t>
            </a:r>
            <a:endParaRPr lang="en-MY" dirty="0"/>
          </a:p>
        </p:txBody>
      </p:sp>
      <p:sp>
        <p:nvSpPr>
          <p:cNvPr id="4" name="Slide Number Placeholder 3"/>
          <p:cNvSpPr>
            <a:spLocks noGrp="1"/>
          </p:cNvSpPr>
          <p:nvPr>
            <p:ph type="sldNum" sz="quarter" idx="10"/>
          </p:nvPr>
        </p:nvSpPr>
        <p:spPr/>
        <p:txBody>
          <a:bodyPr/>
          <a:lstStyle/>
          <a:p>
            <a:fld id="{44677ADD-46BA-41EA-860B-41789F3B5736}" type="slidenum">
              <a:rPr lang="en-MY" smtClean="0"/>
              <a:pPr/>
              <a:t>46</a:t>
            </a:fld>
            <a:endParaRPr lang="en-MY"/>
          </a:p>
        </p:txBody>
      </p:sp>
    </p:spTree>
    <p:extLst>
      <p:ext uri="{BB962C8B-B14F-4D97-AF65-F5344CB8AC3E}">
        <p14:creationId xmlns:p14="http://schemas.microsoft.com/office/powerpoint/2010/main" val="2841278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93" name="Google Shape;93;p1: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4248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02" name="Google Shape;102;p2: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59719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14" name="Google Shape;114;p3: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4884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43" name="Google Shape;143;p4: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2391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5" name="Google Shape;165;p5:notes"/>
          <p:cNvSpPr txBox="1">
            <a:spLocks noGrp="1"/>
          </p:cNvSpPr>
          <p:nvPr>
            <p:ph type="body" idx="1"/>
          </p:nvPr>
        </p:nvSpPr>
        <p:spPr>
          <a:xfrm>
            <a:off x="1279327" y="3474963"/>
            <a:ext cx="7042547" cy="3291114"/>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a:t>STOP HERE!!! Sec 01 – 17.04.17 ( Monday ) ; 4pm</a:t>
            </a:r>
            <a:endParaRPr/>
          </a:p>
        </p:txBody>
      </p:sp>
      <p:sp>
        <p:nvSpPr>
          <p:cNvPr id="166" name="Google Shape;166;p5:notes"/>
          <p:cNvSpPr txBox="1">
            <a:spLocks noGrp="1"/>
          </p:cNvSpPr>
          <p:nvPr>
            <p:ph type="sldNum" idx="12"/>
          </p:nvPr>
        </p:nvSpPr>
        <p:spPr>
          <a:xfrm>
            <a:off x="5440265" y="6949924"/>
            <a:ext cx="4160936" cy="36527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3081872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6: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74" name="Google Shape;174;p6: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9224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94" name="Google Shape;194;p7: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8033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8: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13" name="Google Shape;213;p8: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4863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25" name="Google Shape;225;p9: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43847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0: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50" name="Google Shape;250;p10: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00774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3: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14" name="Google Shape;314;p13: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33465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1: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74" name="Google Shape;274;p11: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3227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2: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96" name="Google Shape;296;p12:notes"/>
          <p:cNvSpPr txBox="1">
            <a:spLocks noGrp="1"/>
          </p:cNvSpPr>
          <p:nvPr>
            <p:ph type="body" idx="1"/>
          </p:nvPr>
        </p:nvSpPr>
        <p:spPr>
          <a:xfrm>
            <a:off x="1279327" y="3474963"/>
            <a:ext cx="7042547" cy="3291114"/>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97" name="Google Shape;297;p12:notes"/>
          <p:cNvSpPr txBox="1">
            <a:spLocks noGrp="1"/>
          </p:cNvSpPr>
          <p:nvPr>
            <p:ph type="sldNum" idx="12"/>
          </p:nvPr>
        </p:nvSpPr>
        <p:spPr>
          <a:xfrm>
            <a:off x="5440265" y="6949924"/>
            <a:ext cx="4160936" cy="36527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35493402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4: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32" name="Google Shape;332;p14: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41542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6: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73" name="Google Shape;373;p16: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13601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7: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87" name="Google Shape;387;p17: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89088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8: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02" name="Google Shape;402;p18: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76764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0: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26" name="Google Shape;426;p20: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0910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1: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46" name="Google Shape;446;p21: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64297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2: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56" name="Google Shape;456;p22: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74126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23: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67" name="Google Shape;467;p23: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80856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4: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82" name="Google Shape;482;p24: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59577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5: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94" name="Google Shape;494;p25: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80621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6: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519" name="Google Shape;519;p26: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05150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28: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573" name="Google Shape;573;p28: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03584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36: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728" name="Google Shape;728;p36: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803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37: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739" name="Google Shape;739;p37: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03945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38: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770" name="Google Shape;770;p38: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29331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39: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801" name="Google Shape;801;p39: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16050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8925181-6F44-42B4-B59E-6A45B89A7152}" type="slidenum">
              <a:rPr lang="en-US" smtClean="0"/>
              <a:pPr>
                <a:defRPr/>
              </a:pPr>
              <a:t>92</a:t>
            </a:fld>
            <a:endParaRPr lang="en-US"/>
          </a:p>
        </p:txBody>
      </p:sp>
    </p:spTree>
    <p:extLst>
      <p:ext uri="{BB962C8B-B14F-4D97-AF65-F5344CB8AC3E}">
        <p14:creationId xmlns:p14="http://schemas.microsoft.com/office/powerpoint/2010/main" val="8086453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792809-E23B-46DC-B36B-F68B7F120EF7}" type="slidenum">
              <a:rPr kumimoji="0" lang="ms-MY"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ms-MY"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449095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45: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945" name="Google Shape;945;p45: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15967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42: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3" name="Google Shape;833;p42:notes"/>
          <p:cNvSpPr txBox="1">
            <a:spLocks noGrp="1"/>
          </p:cNvSpPr>
          <p:nvPr>
            <p:ph type="body" idx="1"/>
          </p:nvPr>
        </p:nvSpPr>
        <p:spPr>
          <a:xfrm>
            <a:off x="1279327" y="3474963"/>
            <a:ext cx="7042547" cy="3291114"/>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834" name="Google Shape;834;p42:notes"/>
          <p:cNvSpPr txBox="1">
            <a:spLocks noGrp="1"/>
          </p:cNvSpPr>
          <p:nvPr>
            <p:ph type="sldNum" idx="12"/>
          </p:nvPr>
        </p:nvSpPr>
        <p:spPr>
          <a:xfrm>
            <a:off x="5440265" y="6949924"/>
            <a:ext cx="4160936" cy="36527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100</a:t>
            </a:fld>
            <a:endParaRPr/>
          </a:p>
        </p:txBody>
      </p:sp>
    </p:spTree>
    <p:extLst>
      <p:ext uri="{BB962C8B-B14F-4D97-AF65-F5344CB8AC3E}">
        <p14:creationId xmlns:p14="http://schemas.microsoft.com/office/powerpoint/2010/main" val="22798256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p46: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957" name="Google Shape;957;p46: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3309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47: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967" name="Google Shape;967;p47: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5443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48: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977" name="Google Shape;977;p48: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87220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53:notes"/>
          <p:cNvSpPr txBox="1">
            <a:spLocks noGrp="1"/>
          </p:cNvSpPr>
          <p:nvPr>
            <p:ph type="sldNum" idx="12"/>
          </p:nvPr>
        </p:nvSpPr>
        <p:spPr>
          <a:xfrm>
            <a:off x="5440265" y="6949924"/>
            <a:ext cx="4160936" cy="36527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104</a:t>
            </a:fld>
            <a:endParaRPr sz="1300">
              <a:solidFill>
                <a:schemeClr val="dk1"/>
              </a:solidFill>
              <a:latin typeface="Times New Roman"/>
              <a:ea typeface="Times New Roman"/>
              <a:cs typeface="Times New Roman"/>
              <a:sym typeface="Times New Roman"/>
            </a:endParaRPr>
          </a:p>
        </p:txBody>
      </p:sp>
      <p:sp>
        <p:nvSpPr>
          <p:cNvPr id="1031" name="Google Shape;1031;p53: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2" name="Google Shape;1032;p53:notes"/>
          <p:cNvSpPr txBox="1">
            <a:spLocks noGrp="1"/>
          </p:cNvSpPr>
          <p:nvPr>
            <p:ph type="body" idx="1"/>
          </p:nvPr>
        </p:nvSpPr>
        <p:spPr>
          <a:xfrm>
            <a:off x="1279327" y="3474963"/>
            <a:ext cx="7042547" cy="3291114"/>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39115477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49: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88" name="Google Shape;988;p49:notes"/>
          <p:cNvSpPr txBox="1">
            <a:spLocks noGrp="1"/>
          </p:cNvSpPr>
          <p:nvPr>
            <p:ph type="body" idx="1"/>
          </p:nvPr>
        </p:nvSpPr>
        <p:spPr>
          <a:xfrm>
            <a:off x="1279327" y="3474963"/>
            <a:ext cx="7042547" cy="329111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Clr>
                <a:srgbClr val="CC0000"/>
              </a:buClr>
              <a:buSzPts val="1200"/>
              <a:buFont typeface="Noto Sans Symbols"/>
              <a:buNone/>
            </a:pPr>
            <a:r>
              <a:rPr lang="en-US" i="1">
                <a:solidFill>
                  <a:srgbClr val="CC0000"/>
                </a:solidFill>
              </a:rPr>
              <a:t>DHCP overview:</a:t>
            </a:r>
            <a:endParaRPr/>
          </a:p>
          <a:p>
            <a:pPr marL="457200" lvl="1" indent="0" algn="l" rtl="0">
              <a:spcBef>
                <a:spcPts val="360"/>
              </a:spcBef>
              <a:spcAft>
                <a:spcPts val="0"/>
              </a:spcAft>
              <a:buNone/>
            </a:pPr>
            <a:r>
              <a:rPr lang="en-US"/>
              <a:t>host broadcasts </a:t>
            </a:r>
            <a:r>
              <a:rPr lang="en-US">
                <a:solidFill>
                  <a:srgbClr val="CC0000"/>
                </a:solidFill>
              </a:rPr>
              <a:t>“DHCP discover”</a:t>
            </a:r>
            <a:r>
              <a:rPr lang="en-US"/>
              <a:t> msg [optional]</a:t>
            </a:r>
            <a:endParaRPr/>
          </a:p>
          <a:p>
            <a:pPr marL="457200" lvl="1" indent="0" algn="l" rtl="0">
              <a:spcBef>
                <a:spcPts val="360"/>
              </a:spcBef>
              <a:spcAft>
                <a:spcPts val="0"/>
              </a:spcAft>
              <a:buNone/>
            </a:pPr>
            <a:r>
              <a:rPr lang="en-US"/>
              <a:t>DHCP server responds with </a:t>
            </a:r>
            <a:r>
              <a:rPr lang="en-US">
                <a:solidFill>
                  <a:srgbClr val="CC0000"/>
                </a:solidFill>
              </a:rPr>
              <a:t>“DHCP offer”</a:t>
            </a:r>
            <a:r>
              <a:rPr lang="en-US"/>
              <a:t> msg [optional]</a:t>
            </a:r>
            <a:endParaRPr/>
          </a:p>
          <a:p>
            <a:pPr marL="457200" lvl="1" indent="0" algn="l" rtl="0">
              <a:spcBef>
                <a:spcPts val="360"/>
              </a:spcBef>
              <a:spcAft>
                <a:spcPts val="0"/>
              </a:spcAft>
              <a:buNone/>
            </a:pPr>
            <a:r>
              <a:rPr lang="en-US"/>
              <a:t>host requests IP address: </a:t>
            </a:r>
            <a:r>
              <a:rPr lang="en-US">
                <a:solidFill>
                  <a:srgbClr val="CC0000"/>
                </a:solidFill>
              </a:rPr>
              <a:t>“DHCP request”</a:t>
            </a:r>
            <a:r>
              <a:rPr lang="en-US"/>
              <a:t> msg</a:t>
            </a:r>
            <a:endParaRPr/>
          </a:p>
          <a:p>
            <a:pPr marL="457200" lvl="1" indent="0" algn="l" rtl="0">
              <a:spcBef>
                <a:spcPts val="360"/>
              </a:spcBef>
              <a:spcAft>
                <a:spcPts val="0"/>
              </a:spcAft>
              <a:buNone/>
            </a:pPr>
            <a:r>
              <a:rPr lang="en-US"/>
              <a:t>DHCP server sends address: </a:t>
            </a:r>
            <a:r>
              <a:rPr lang="en-US">
                <a:solidFill>
                  <a:srgbClr val="CC0000"/>
                </a:solidFill>
              </a:rPr>
              <a:t>“DHCP ack”</a:t>
            </a:r>
            <a:r>
              <a:rPr lang="en-US"/>
              <a:t> msg </a:t>
            </a:r>
            <a:endParaRPr/>
          </a:p>
          <a:p>
            <a:pPr marL="0" lvl="0" indent="0" algn="l" rtl="0">
              <a:spcBef>
                <a:spcPts val="360"/>
              </a:spcBef>
              <a:spcAft>
                <a:spcPts val="0"/>
              </a:spcAft>
              <a:buNone/>
            </a:pPr>
            <a:endParaRPr/>
          </a:p>
        </p:txBody>
      </p:sp>
      <p:sp>
        <p:nvSpPr>
          <p:cNvPr id="989" name="Google Shape;989;p49:notes"/>
          <p:cNvSpPr txBox="1">
            <a:spLocks noGrp="1"/>
          </p:cNvSpPr>
          <p:nvPr>
            <p:ph type="sldNum" idx="12"/>
          </p:nvPr>
        </p:nvSpPr>
        <p:spPr>
          <a:xfrm>
            <a:off x="5440265" y="6949924"/>
            <a:ext cx="4160936" cy="36527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105</a:t>
            </a:fld>
            <a:endParaRPr/>
          </a:p>
        </p:txBody>
      </p:sp>
    </p:spTree>
    <p:extLst>
      <p:ext uri="{BB962C8B-B14F-4D97-AF65-F5344CB8AC3E}">
        <p14:creationId xmlns:p14="http://schemas.microsoft.com/office/powerpoint/2010/main" val="7772667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50: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999" name="Google Shape;999;p50: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37231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p51: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09" name="Google Shape;1009;p51:notes"/>
          <p:cNvSpPr txBox="1">
            <a:spLocks noGrp="1"/>
          </p:cNvSpPr>
          <p:nvPr>
            <p:ph type="body" idx="1"/>
          </p:nvPr>
        </p:nvSpPr>
        <p:spPr>
          <a:xfrm>
            <a:off x="1279327" y="3474963"/>
            <a:ext cx="7042547" cy="329111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sz="1200">
                <a:solidFill>
                  <a:schemeClr val="dk1"/>
                </a:solidFill>
              </a:rPr>
              <a:t>In </a:t>
            </a:r>
            <a:r>
              <a:rPr lang="en-US" sz="1200">
                <a:solidFill>
                  <a:srgbClr val="C00000"/>
                </a:solidFill>
              </a:rPr>
              <a:t>DHCP request message</a:t>
            </a:r>
            <a:r>
              <a:rPr lang="en-US" sz="1200"/>
              <a:t>, the client echoes back the configuration parameters.</a:t>
            </a:r>
            <a:endParaRPr/>
          </a:p>
          <a:p>
            <a:pPr marL="0" lvl="0" indent="0" algn="l" rtl="0">
              <a:spcBef>
                <a:spcPts val="360"/>
              </a:spcBef>
              <a:spcAft>
                <a:spcPts val="0"/>
              </a:spcAft>
              <a:buNone/>
            </a:pPr>
            <a:endParaRPr sz="1200"/>
          </a:p>
          <a:p>
            <a:pPr marL="0" lvl="0" indent="0" algn="l" rtl="0">
              <a:spcBef>
                <a:spcPts val="600"/>
              </a:spcBef>
              <a:spcAft>
                <a:spcPts val="0"/>
              </a:spcAft>
              <a:buClr>
                <a:schemeClr val="dk1"/>
              </a:buClr>
              <a:buSzPts val="2000"/>
              <a:buFont typeface="Noto Sans Symbols"/>
              <a:buNone/>
            </a:pPr>
            <a:r>
              <a:rPr lang="en-US" sz="2000"/>
              <a:t>DHCP can return more than just allocated IP address on subnet:</a:t>
            </a:r>
            <a:endParaRPr/>
          </a:p>
          <a:p>
            <a:pPr marL="457200" lvl="1" indent="-127000" algn="l" rtl="0">
              <a:spcBef>
                <a:spcPts val="600"/>
              </a:spcBef>
              <a:spcAft>
                <a:spcPts val="0"/>
              </a:spcAft>
              <a:buClr>
                <a:schemeClr val="dk1"/>
              </a:buClr>
              <a:buSzPts val="2000"/>
              <a:buFont typeface="Noto Sans Symbols"/>
              <a:buChar char="▪"/>
            </a:pPr>
            <a:r>
              <a:rPr lang="en-US" sz="2000"/>
              <a:t>address of first-hop router for client</a:t>
            </a:r>
            <a:endParaRPr/>
          </a:p>
          <a:p>
            <a:pPr marL="457200" lvl="1" indent="-127000" algn="l" rtl="0">
              <a:spcBef>
                <a:spcPts val="600"/>
              </a:spcBef>
              <a:spcAft>
                <a:spcPts val="0"/>
              </a:spcAft>
              <a:buClr>
                <a:schemeClr val="dk1"/>
              </a:buClr>
              <a:buSzPts val="2000"/>
              <a:buFont typeface="Noto Sans Symbols"/>
              <a:buChar char="▪"/>
            </a:pPr>
            <a:r>
              <a:rPr lang="en-US" sz="2000"/>
              <a:t>name and IP address of DNS sever</a:t>
            </a:r>
            <a:endParaRPr/>
          </a:p>
          <a:p>
            <a:pPr marL="457200" lvl="1" indent="-127000" algn="l" rtl="0">
              <a:spcBef>
                <a:spcPts val="600"/>
              </a:spcBef>
              <a:spcAft>
                <a:spcPts val="0"/>
              </a:spcAft>
              <a:buClr>
                <a:schemeClr val="dk1"/>
              </a:buClr>
              <a:buSzPts val="2000"/>
              <a:buFont typeface="Noto Sans Symbols"/>
              <a:buChar char="▪"/>
            </a:pPr>
            <a:r>
              <a:rPr lang="en-US" sz="2000"/>
              <a:t>network mask (indicating network versus host portion of address)</a:t>
            </a:r>
            <a:endParaRPr/>
          </a:p>
          <a:p>
            <a:pPr marL="0" lvl="0" indent="0" algn="l" rtl="0">
              <a:spcBef>
                <a:spcPts val="360"/>
              </a:spcBef>
              <a:spcAft>
                <a:spcPts val="0"/>
              </a:spcAft>
              <a:buNone/>
            </a:pPr>
            <a:endParaRPr/>
          </a:p>
        </p:txBody>
      </p:sp>
      <p:sp>
        <p:nvSpPr>
          <p:cNvPr id="1010" name="Google Shape;1010;p51:notes"/>
          <p:cNvSpPr txBox="1">
            <a:spLocks noGrp="1"/>
          </p:cNvSpPr>
          <p:nvPr>
            <p:ph type="sldNum" idx="12"/>
          </p:nvPr>
        </p:nvSpPr>
        <p:spPr>
          <a:xfrm>
            <a:off x="5440265" y="6949924"/>
            <a:ext cx="4160936" cy="36527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107</a:t>
            </a:fld>
            <a:endParaRPr/>
          </a:p>
        </p:txBody>
      </p:sp>
    </p:spTree>
    <p:extLst>
      <p:ext uri="{BB962C8B-B14F-4D97-AF65-F5344CB8AC3E}">
        <p14:creationId xmlns:p14="http://schemas.microsoft.com/office/powerpoint/2010/main" val="2276180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p52: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020" name="Google Shape;1020;p52: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17132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p54:notes"/>
          <p:cNvSpPr txBox="1">
            <a:spLocks noGrp="1"/>
          </p:cNvSpPr>
          <p:nvPr>
            <p:ph type="sldNum" idx="12"/>
          </p:nvPr>
        </p:nvSpPr>
        <p:spPr>
          <a:xfrm>
            <a:off x="5440265" y="6949924"/>
            <a:ext cx="4160936" cy="36527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sz="1200">
                <a:solidFill>
                  <a:srgbClr val="000000"/>
                </a:solidFill>
                <a:latin typeface="Times New Roman"/>
                <a:ea typeface="Times New Roman"/>
                <a:cs typeface="Times New Roman"/>
                <a:sym typeface="Times New Roman"/>
              </a:rPr>
              <a:t>109</a:t>
            </a:fld>
            <a:endParaRPr sz="1200">
              <a:solidFill>
                <a:srgbClr val="000000"/>
              </a:solidFill>
              <a:latin typeface="Times New Roman"/>
              <a:ea typeface="Times New Roman"/>
              <a:cs typeface="Times New Roman"/>
              <a:sym typeface="Times New Roman"/>
            </a:endParaRPr>
          </a:p>
        </p:txBody>
      </p:sp>
      <p:sp>
        <p:nvSpPr>
          <p:cNvPr id="1165" name="Google Shape;1165;p54: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6" name="Google Shape;1166;p54:notes"/>
          <p:cNvSpPr txBox="1">
            <a:spLocks noGrp="1"/>
          </p:cNvSpPr>
          <p:nvPr>
            <p:ph type="body" idx="1"/>
          </p:nvPr>
        </p:nvSpPr>
        <p:spPr>
          <a:xfrm>
            <a:off x="1279327" y="3474963"/>
            <a:ext cx="7042547" cy="3291114"/>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40130153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53779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80320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1"/>
        <p:cNvGrpSpPr/>
        <p:nvPr/>
      </p:nvGrpSpPr>
      <p:grpSpPr>
        <a:xfrm>
          <a:off x="0" y="0"/>
          <a:ext cx="0" cy="0"/>
          <a:chOff x="0" y="0"/>
          <a:chExt cx="0" cy="0"/>
        </a:xfrm>
      </p:grpSpPr>
      <p:sp>
        <p:nvSpPr>
          <p:cNvPr id="1662" name="Google Shape;1662;p58: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663" name="Google Shape;1663;p58: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35668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8"/>
        <p:cNvGrpSpPr/>
        <p:nvPr/>
      </p:nvGrpSpPr>
      <p:grpSpPr>
        <a:xfrm>
          <a:off x="0" y="0"/>
          <a:ext cx="0" cy="0"/>
          <a:chOff x="0" y="0"/>
          <a:chExt cx="0" cy="0"/>
        </a:xfrm>
      </p:grpSpPr>
      <p:sp>
        <p:nvSpPr>
          <p:cNvPr id="1679" name="Google Shape;1679;p59: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680" name="Google Shape;1680;p59: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86713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43: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847" name="Google Shape;847;p43: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43572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44:notes"/>
          <p:cNvSpPr txBox="1">
            <a:spLocks noGrp="1"/>
          </p:cNvSpPr>
          <p:nvPr>
            <p:ph type="body" idx="1"/>
          </p:nvPr>
        </p:nvSpPr>
        <p:spPr>
          <a:xfrm>
            <a:off x="1279327" y="3474963"/>
            <a:ext cx="7042547" cy="329111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896" name="Google Shape;896;p44:notes"/>
          <p:cNvSpPr>
            <a:spLocks noGrp="1" noRot="1" noChangeAspect="1"/>
          </p:cNvSpPr>
          <p:nvPr>
            <p:ph type="sldImg" idx="2"/>
          </p:nvPr>
        </p:nvSpPr>
        <p:spPr>
          <a:xfrm>
            <a:off x="29718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24641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67353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9338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55004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0278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20300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7654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830516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13095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468809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52057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47636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sz="1200" kern="1200" dirty="0">
                <a:solidFill>
                  <a:schemeClr val="tx1"/>
                </a:solidFill>
                <a:effectLst/>
                <a:latin typeface="Times New Roman" pitchFamily="-109" charset="0"/>
                <a:ea typeface="ＭＳ Ｐゴシック" charset="0"/>
                <a:cs typeface="ＭＳ Ｐゴシック" charset="0"/>
              </a:rPr>
              <a:t>Our following discussion of generalized forwarding will be based on Open- Flow [McKeown 2008, ONF 2020, Casado 2014, </a:t>
            </a:r>
            <a:r>
              <a:rPr lang="en-MY" sz="1200" kern="1200" dirty="0" err="1">
                <a:solidFill>
                  <a:schemeClr val="tx1"/>
                </a:solidFill>
                <a:effectLst/>
                <a:latin typeface="Times New Roman" pitchFamily="-109" charset="0"/>
                <a:ea typeface="ＭＳ Ｐゴシック" charset="0"/>
                <a:cs typeface="ＭＳ Ｐゴシック" charset="0"/>
              </a:rPr>
              <a:t>Tourrilhes</a:t>
            </a:r>
            <a:r>
              <a:rPr lang="en-MY" sz="1200" kern="1200" dirty="0">
                <a:solidFill>
                  <a:schemeClr val="tx1"/>
                </a:solidFill>
                <a:effectLst/>
                <a:latin typeface="Times New Roman" pitchFamily="-109" charset="0"/>
                <a:ea typeface="ＭＳ Ｐゴシック" charset="0"/>
                <a:cs typeface="ＭＳ Ｐゴシック" charset="0"/>
              </a:rPr>
              <a:t> 2014]—a highly visible standard that has pioneered the notion of the match-plus-action forwarding </a:t>
            </a:r>
            <a:r>
              <a:rPr lang="en-MY" sz="1200" kern="1200" dirty="0" err="1">
                <a:solidFill>
                  <a:schemeClr val="tx1"/>
                </a:solidFill>
                <a:effectLst/>
                <a:latin typeface="Times New Roman" pitchFamily="-109" charset="0"/>
                <a:ea typeface="ＭＳ Ｐゴシック" charset="0"/>
                <a:cs typeface="ＭＳ Ｐゴシック" charset="0"/>
              </a:rPr>
              <a:t>abstrac</a:t>
            </a:r>
            <a:r>
              <a:rPr lang="en-MY" sz="1200" kern="1200" dirty="0">
                <a:solidFill>
                  <a:schemeClr val="tx1"/>
                </a:solidFill>
                <a:effectLst/>
                <a:latin typeface="Times New Roman" pitchFamily="-109" charset="0"/>
                <a:ea typeface="ＭＳ Ｐゴシック" charset="0"/>
                <a:cs typeface="ＭＳ Ｐゴシック" charset="0"/>
              </a:rPr>
              <a:t>- </a:t>
            </a:r>
            <a:r>
              <a:rPr lang="en-MY" sz="1200" kern="1200" dirty="0" err="1">
                <a:solidFill>
                  <a:schemeClr val="tx1"/>
                </a:solidFill>
                <a:effectLst/>
                <a:latin typeface="Times New Roman" pitchFamily="-109" charset="0"/>
                <a:ea typeface="ＭＳ Ｐゴシック" charset="0"/>
                <a:cs typeface="ＭＳ Ｐゴシック" charset="0"/>
              </a:rPr>
              <a:t>tion</a:t>
            </a:r>
            <a:r>
              <a:rPr lang="en-MY" sz="1200" kern="1200" dirty="0">
                <a:solidFill>
                  <a:schemeClr val="tx1"/>
                </a:solidFill>
                <a:effectLst/>
                <a:latin typeface="Times New Roman" pitchFamily="-109" charset="0"/>
                <a:ea typeface="ＭＳ Ｐゴシック" charset="0"/>
                <a:cs typeface="ＭＳ Ｐゴシック" charset="0"/>
              </a:rPr>
              <a:t> and controllers, as well as the SDN revolution more generally [</a:t>
            </a:r>
            <a:r>
              <a:rPr lang="en-MY" sz="1200" kern="1200" dirty="0" err="1">
                <a:solidFill>
                  <a:schemeClr val="tx1"/>
                </a:solidFill>
                <a:effectLst/>
                <a:latin typeface="Times New Roman" pitchFamily="-109" charset="0"/>
                <a:ea typeface="ＭＳ Ｐゴシック" charset="0"/>
                <a:cs typeface="ＭＳ Ｐゴシック" charset="0"/>
              </a:rPr>
              <a:t>Feamster</a:t>
            </a:r>
            <a:r>
              <a:rPr lang="en-MY" sz="1200" kern="1200" dirty="0">
                <a:solidFill>
                  <a:schemeClr val="tx1"/>
                </a:solidFill>
                <a:effectLst/>
                <a:latin typeface="Times New Roman" pitchFamily="-109" charset="0"/>
                <a:ea typeface="ＭＳ Ｐゴシック" charset="0"/>
                <a:cs typeface="ＭＳ Ｐゴシック" charset="0"/>
              </a:rPr>
              <a:t> 2013]. We’ll primarily consider OpenFlow 1.0, which introduced key SDN abstractions and functionality in a particularly clear and concise manner. Later versions of OpenFlow introduced additional capabilities as a result of experience gained through </a:t>
            </a:r>
            <a:endParaRPr lang="en-MY"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MY" sz="1200" kern="1200" dirty="0">
                <a:solidFill>
                  <a:schemeClr val="tx1"/>
                </a:solidFill>
                <a:effectLst/>
                <a:latin typeface="Times New Roman" pitchFamily="-109" charset="0"/>
                <a:ea typeface="ＭＳ Ｐゴシック" charset="0"/>
                <a:cs typeface="ＭＳ Ｐゴシック" charset="0"/>
              </a:rPr>
              <a:t>implementation and use; current and earlier versions of the OpenFlow standard can be found at [ONF 2020] </a:t>
            </a:r>
            <a:endParaRPr lang="en-MY" dirty="0">
              <a:effectLst/>
            </a:endParaRPr>
          </a:p>
          <a:p>
            <a:endParaRPr lang="en-US" dirty="0"/>
          </a:p>
        </p:txBody>
      </p:sp>
      <p:sp>
        <p:nvSpPr>
          <p:cNvPr id="4" name="Slide Number Placeholder 3"/>
          <p:cNvSpPr>
            <a:spLocks noGrp="1"/>
          </p:cNvSpPr>
          <p:nvPr>
            <p:ph type="sldNum" sz="quarter" idx="5"/>
          </p:nvPr>
        </p:nvSpPr>
        <p:spPr/>
        <p:txBody>
          <a:bodyPr/>
          <a:lstStyle/>
          <a:p>
            <a:pPr>
              <a:defRPr/>
            </a:pPr>
            <a:fld id="{A8925181-6F44-42B4-B59E-6A45B89A7152}" type="slidenum">
              <a:rPr lang="en-US" smtClean="0"/>
              <a:pPr>
                <a:defRPr/>
              </a:pPr>
              <a:t>138</a:t>
            </a:fld>
            <a:endParaRPr lang="en-US"/>
          </a:p>
        </p:txBody>
      </p:sp>
    </p:spTree>
    <p:extLst>
      <p:ext uri="{BB962C8B-B14F-4D97-AF65-F5344CB8AC3E}">
        <p14:creationId xmlns:p14="http://schemas.microsoft.com/office/powerpoint/2010/main" val="7857806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8925181-6F44-42B4-B59E-6A45B89A7152}" type="slidenum">
              <a:rPr lang="en-US" smtClean="0"/>
              <a:pPr>
                <a:defRPr/>
              </a:pPr>
              <a:t>139</a:t>
            </a:fld>
            <a:endParaRPr lang="en-US"/>
          </a:p>
        </p:txBody>
      </p:sp>
    </p:spTree>
    <p:extLst>
      <p:ext uri="{BB962C8B-B14F-4D97-AF65-F5344CB8AC3E}">
        <p14:creationId xmlns:p14="http://schemas.microsoft.com/office/powerpoint/2010/main" val="287011974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793623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804935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8253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145208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a:extLst>
              <a:ext uri="{FF2B5EF4-FFF2-40B4-BE49-F238E27FC236}">
                <a16:creationId xmlns:a16="http://schemas.microsoft.com/office/drawing/2014/main" id="{02732E92-3B7E-F645-98C4-B4657C439F3A}"/>
              </a:ext>
            </a:extLst>
          </p:cNvPr>
          <p:cNvSpPr>
            <a:spLocks noGrp="1" noRot="1" noChangeAspect="1" noTextEdit="1"/>
          </p:cNvSpPr>
          <p:nvPr>
            <p:ph type="sldImg"/>
          </p:nvPr>
        </p:nvSpPr>
        <p:spPr>
          <a:ln/>
        </p:spPr>
      </p:sp>
      <p:sp>
        <p:nvSpPr>
          <p:cNvPr id="125955" name="Notes Placeholder 2">
            <a:extLst>
              <a:ext uri="{FF2B5EF4-FFF2-40B4-BE49-F238E27FC236}">
                <a16:creationId xmlns:a16="http://schemas.microsoft.com/office/drawing/2014/main" id="{879EFCCB-1C39-DD4E-A845-32876A81A5F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
        <p:nvSpPr>
          <p:cNvPr id="125956" name="Slide Number Placeholder 3">
            <a:extLst>
              <a:ext uri="{FF2B5EF4-FFF2-40B4-BE49-F238E27FC236}">
                <a16:creationId xmlns:a16="http://schemas.microsoft.com/office/drawing/2014/main" id="{B9A9CC76-87D9-4041-BDB7-6841A2414E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69248C9-2D6B-0142-AC18-A8AAB9705C21}" type="slidenum">
              <a:rPr lang="en-US" altLang="en-US">
                <a:latin typeface="Times New Roman" panose="02020603050405020304" pitchFamily="18" charset="0"/>
              </a:rPr>
              <a:pPr/>
              <a:t>147</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57644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018048A-9BE4-2C45-94E2-0BADB1007D3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F50EC675-3110-8F4A-BB4F-E93022A32AE2}"/>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6" name="Rectangle 8">
            <a:extLst>
              <a:ext uri="{FF2B5EF4-FFF2-40B4-BE49-F238E27FC236}">
                <a16:creationId xmlns:a16="http://schemas.microsoft.com/office/drawing/2014/main" id="{4AA6C9E0-745F-C04F-8491-B93929F6C190}"/>
              </a:ext>
            </a:extLst>
          </p:cNvPr>
          <p:cNvSpPr>
            <a:spLocks noGrp="1" noChangeArrowheads="1"/>
          </p:cNvSpPr>
          <p:nvPr>
            <p:ph type="sldNum" sz="quarter" idx="12"/>
          </p:nvPr>
        </p:nvSpPr>
        <p:spPr/>
        <p:txBody>
          <a:bodyPr/>
          <a:lstStyle>
            <a:lvl1pPr>
              <a:defRPr/>
            </a:lvl1pPr>
          </a:lstStyle>
          <a:p>
            <a:r>
              <a:rPr lang="en-US" altLang="en-US"/>
              <a:t>4-</a:t>
            </a:r>
            <a:fld id="{AC87638C-6B7A-8A40-B043-C1E7F088416E}" type="slidenum">
              <a:rPr lang="en-US" altLang="en-US"/>
              <a:pPr/>
              <a:t>‹#›</a:t>
            </a:fld>
            <a:endParaRPr lang="en-US" altLang="en-US"/>
          </a:p>
        </p:txBody>
      </p:sp>
    </p:spTree>
    <p:extLst>
      <p:ext uri="{BB962C8B-B14F-4D97-AF65-F5344CB8AC3E}">
        <p14:creationId xmlns:p14="http://schemas.microsoft.com/office/powerpoint/2010/main" val="2749678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1CA0E4D-BA56-E045-9F88-193473C40595}"/>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A40DF66C-A9D2-9042-B2A0-73BD65F54775}"/>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6" name="Rectangle 8">
            <a:extLst>
              <a:ext uri="{FF2B5EF4-FFF2-40B4-BE49-F238E27FC236}">
                <a16:creationId xmlns:a16="http://schemas.microsoft.com/office/drawing/2014/main" id="{51187300-EDE5-8B47-9C3F-2314F3D49E42}"/>
              </a:ext>
            </a:extLst>
          </p:cNvPr>
          <p:cNvSpPr>
            <a:spLocks noGrp="1" noChangeArrowheads="1"/>
          </p:cNvSpPr>
          <p:nvPr>
            <p:ph type="sldNum" sz="quarter" idx="12"/>
          </p:nvPr>
        </p:nvSpPr>
        <p:spPr/>
        <p:txBody>
          <a:bodyPr/>
          <a:lstStyle>
            <a:lvl1pPr>
              <a:defRPr/>
            </a:lvl1pPr>
          </a:lstStyle>
          <a:p>
            <a:r>
              <a:rPr lang="en-US" altLang="en-US"/>
              <a:t>4-</a:t>
            </a:r>
            <a:fld id="{4C397A05-51BD-F74B-8CAE-A0DD5EE5F140}" type="slidenum">
              <a:rPr lang="en-US" altLang="en-US"/>
              <a:pPr/>
              <a:t>‹#›</a:t>
            </a:fld>
            <a:endParaRPr lang="en-US" altLang="en-US"/>
          </a:p>
        </p:txBody>
      </p:sp>
    </p:spTree>
    <p:extLst>
      <p:ext uri="{BB962C8B-B14F-4D97-AF65-F5344CB8AC3E}">
        <p14:creationId xmlns:p14="http://schemas.microsoft.com/office/powerpoint/2010/main" val="4124724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A57B373-11F8-044F-88A2-2D063F36E3CF}"/>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C3361201-48C4-B44E-99FC-C40919B08EE0}"/>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6" name="Rectangle 8">
            <a:extLst>
              <a:ext uri="{FF2B5EF4-FFF2-40B4-BE49-F238E27FC236}">
                <a16:creationId xmlns:a16="http://schemas.microsoft.com/office/drawing/2014/main" id="{E4D53D51-CFDC-B74C-8F9D-0084EBED4284}"/>
              </a:ext>
            </a:extLst>
          </p:cNvPr>
          <p:cNvSpPr>
            <a:spLocks noGrp="1" noChangeArrowheads="1"/>
          </p:cNvSpPr>
          <p:nvPr>
            <p:ph type="sldNum" sz="quarter" idx="12"/>
          </p:nvPr>
        </p:nvSpPr>
        <p:spPr/>
        <p:txBody>
          <a:bodyPr/>
          <a:lstStyle>
            <a:lvl1pPr>
              <a:defRPr/>
            </a:lvl1pPr>
          </a:lstStyle>
          <a:p>
            <a:r>
              <a:rPr lang="en-US" altLang="en-US"/>
              <a:t>4-</a:t>
            </a:r>
            <a:fld id="{E46AA80B-F22A-4440-A853-7D51AF7A5EF5}" type="slidenum">
              <a:rPr lang="en-US" altLang="en-US"/>
              <a:pPr/>
              <a:t>‹#›</a:t>
            </a:fld>
            <a:endParaRPr lang="en-US" altLang="en-US"/>
          </a:p>
        </p:txBody>
      </p:sp>
    </p:spTree>
    <p:extLst>
      <p:ext uri="{BB962C8B-B14F-4D97-AF65-F5344CB8AC3E}">
        <p14:creationId xmlns:p14="http://schemas.microsoft.com/office/powerpoint/2010/main" val="1253100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2CE4B6-0D4B-7344-9052-712488BEAA52}"/>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AD52886D-D902-DB4A-9560-69194E7F7706}"/>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7" name="Rectangle 8">
            <a:extLst>
              <a:ext uri="{FF2B5EF4-FFF2-40B4-BE49-F238E27FC236}">
                <a16:creationId xmlns:a16="http://schemas.microsoft.com/office/drawing/2014/main" id="{AAC4EDC3-0681-B140-9347-F5FBEEFBB59A}"/>
              </a:ext>
            </a:extLst>
          </p:cNvPr>
          <p:cNvSpPr>
            <a:spLocks noGrp="1" noChangeArrowheads="1"/>
          </p:cNvSpPr>
          <p:nvPr>
            <p:ph type="sldNum" sz="quarter" idx="12"/>
          </p:nvPr>
        </p:nvSpPr>
        <p:spPr/>
        <p:txBody>
          <a:bodyPr/>
          <a:lstStyle>
            <a:lvl1pPr>
              <a:defRPr/>
            </a:lvl1pPr>
          </a:lstStyle>
          <a:p>
            <a:r>
              <a:rPr lang="en-US" altLang="en-US"/>
              <a:t>4-</a:t>
            </a:r>
            <a:fld id="{86F8E26F-7CC8-F948-B8B0-7148999F97AC}" type="slidenum">
              <a:rPr lang="en-US" altLang="en-US"/>
              <a:pPr/>
              <a:t>‹#›</a:t>
            </a:fld>
            <a:endParaRPr lang="en-US" altLang="en-US"/>
          </a:p>
        </p:txBody>
      </p:sp>
    </p:spTree>
    <p:extLst>
      <p:ext uri="{BB962C8B-B14F-4D97-AF65-F5344CB8AC3E}">
        <p14:creationId xmlns:p14="http://schemas.microsoft.com/office/powerpoint/2010/main" val="3189031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C5A830B-6BA7-324D-A073-4107B97F9E65}"/>
              </a:ext>
            </a:extLst>
          </p:cNvPr>
          <p:cNvSpPr>
            <a:spLocks noGrp="1" noChangeArrowheads="1"/>
          </p:cNvSpPr>
          <p:nvPr>
            <p:ph type="dt" sz="half" idx="10"/>
          </p:nvPr>
        </p:nvSpPr>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38214DC5-31EE-454B-98CC-B92F41A5059E}"/>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9" name="Slide Number Placeholder 8">
            <a:extLst>
              <a:ext uri="{FF2B5EF4-FFF2-40B4-BE49-F238E27FC236}">
                <a16:creationId xmlns:a16="http://schemas.microsoft.com/office/drawing/2014/main" id="{A8B4BF9D-6A2D-9B45-B781-2FF0B78E627D}"/>
              </a:ext>
            </a:extLst>
          </p:cNvPr>
          <p:cNvSpPr>
            <a:spLocks noGrp="1" noChangeArrowheads="1"/>
          </p:cNvSpPr>
          <p:nvPr>
            <p:ph type="sldNum" sz="quarter" idx="12"/>
          </p:nvPr>
        </p:nvSpPr>
        <p:spPr/>
        <p:txBody>
          <a:bodyPr/>
          <a:lstStyle>
            <a:lvl1pPr>
              <a:defRPr/>
            </a:lvl1pPr>
          </a:lstStyle>
          <a:p>
            <a:r>
              <a:rPr lang="en-US" altLang="en-US"/>
              <a:t>4-</a:t>
            </a:r>
            <a:fld id="{96495742-DDF4-6F42-AB9A-24177638CC63}" type="slidenum">
              <a:rPr lang="en-US" altLang="en-US"/>
              <a:pPr/>
              <a:t>‹#›</a:t>
            </a:fld>
            <a:endParaRPr lang="en-US" altLang="en-US"/>
          </a:p>
        </p:txBody>
      </p:sp>
    </p:spTree>
    <p:extLst>
      <p:ext uri="{BB962C8B-B14F-4D97-AF65-F5344CB8AC3E}">
        <p14:creationId xmlns:p14="http://schemas.microsoft.com/office/powerpoint/2010/main" val="1365140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8167253-97C6-C44C-AD6F-7BFA0C149F4B}"/>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7">
            <a:extLst>
              <a:ext uri="{FF2B5EF4-FFF2-40B4-BE49-F238E27FC236}">
                <a16:creationId xmlns:a16="http://schemas.microsoft.com/office/drawing/2014/main" id="{A3BDED48-9D8E-1C4C-9DBC-CF0E9EFAAD94}"/>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5" name="Rectangle 8">
            <a:extLst>
              <a:ext uri="{FF2B5EF4-FFF2-40B4-BE49-F238E27FC236}">
                <a16:creationId xmlns:a16="http://schemas.microsoft.com/office/drawing/2014/main" id="{B3896CF6-EE33-1449-A013-568AB1F825E1}"/>
              </a:ext>
            </a:extLst>
          </p:cNvPr>
          <p:cNvSpPr>
            <a:spLocks noGrp="1" noChangeArrowheads="1"/>
          </p:cNvSpPr>
          <p:nvPr>
            <p:ph type="sldNum" sz="quarter" idx="12"/>
          </p:nvPr>
        </p:nvSpPr>
        <p:spPr/>
        <p:txBody>
          <a:bodyPr/>
          <a:lstStyle>
            <a:lvl1pPr>
              <a:defRPr/>
            </a:lvl1pPr>
          </a:lstStyle>
          <a:p>
            <a:r>
              <a:rPr lang="en-US" altLang="en-US"/>
              <a:t>4-</a:t>
            </a:r>
            <a:fld id="{672017DF-35A0-714B-8A93-95D68DCECFA8}" type="slidenum">
              <a:rPr lang="en-US" altLang="en-US"/>
              <a:pPr/>
              <a:t>‹#›</a:t>
            </a:fld>
            <a:endParaRPr lang="en-US" altLang="en-US"/>
          </a:p>
        </p:txBody>
      </p:sp>
    </p:spTree>
    <p:extLst>
      <p:ext uri="{BB962C8B-B14F-4D97-AF65-F5344CB8AC3E}">
        <p14:creationId xmlns:p14="http://schemas.microsoft.com/office/powerpoint/2010/main" val="1554050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9503BEA-0042-D742-8D9A-3D8DD06E7ADF}"/>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7">
            <a:extLst>
              <a:ext uri="{FF2B5EF4-FFF2-40B4-BE49-F238E27FC236}">
                <a16:creationId xmlns:a16="http://schemas.microsoft.com/office/drawing/2014/main" id="{FF4464A1-1EF4-3F42-B9F2-C65F8077CD2C}"/>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4" name="Rectangle 8">
            <a:extLst>
              <a:ext uri="{FF2B5EF4-FFF2-40B4-BE49-F238E27FC236}">
                <a16:creationId xmlns:a16="http://schemas.microsoft.com/office/drawing/2014/main" id="{37388F9A-FDF1-5A48-90C5-3C09F1DC1EF8}"/>
              </a:ext>
            </a:extLst>
          </p:cNvPr>
          <p:cNvSpPr>
            <a:spLocks noGrp="1" noChangeArrowheads="1"/>
          </p:cNvSpPr>
          <p:nvPr>
            <p:ph type="sldNum" sz="quarter" idx="12"/>
          </p:nvPr>
        </p:nvSpPr>
        <p:spPr/>
        <p:txBody>
          <a:bodyPr/>
          <a:lstStyle>
            <a:lvl1pPr>
              <a:defRPr/>
            </a:lvl1pPr>
          </a:lstStyle>
          <a:p>
            <a:r>
              <a:rPr lang="en-US" altLang="en-US"/>
              <a:t>4-</a:t>
            </a:r>
            <a:fld id="{188D9036-836E-5140-96D8-091CB4802E41}" type="slidenum">
              <a:rPr lang="en-US" altLang="en-US"/>
              <a:pPr/>
              <a:t>‹#›</a:t>
            </a:fld>
            <a:endParaRPr lang="en-US" altLang="en-US"/>
          </a:p>
        </p:txBody>
      </p:sp>
    </p:spTree>
    <p:extLst>
      <p:ext uri="{BB962C8B-B14F-4D97-AF65-F5344CB8AC3E}">
        <p14:creationId xmlns:p14="http://schemas.microsoft.com/office/powerpoint/2010/main" val="22762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5ADA4BF0-138B-0041-BAB8-010B1E983E73}"/>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E4C278FD-6F08-1A40-A845-16F86BA25319}"/>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7" name="Rectangle 8">
            <a:extLst>
              <a:ext uri="{FF2B5EF4-FFF2-40B4-BE49-F238E27FC236}">
                <a16:creationId xmlns:a16="http://schemas.microsoft.com/office/drawing/2014/main" id="{7FBCE4AE-6FDE-0B46-BC3A-2DF521B55883}"/>
              </a:ext>
            </a:extLst>
          </p:cNvPr>
          <p:cNvSpPr>
            <a:spLocks noGrp="1" noChangeArrowheads="1"/>
          </p:cNvSpPr>
          <p:nvPr>
            <p:ph type="sldNum" sz="quarter" idx="12"/>
          </p:nvPr>
        </p:nvSpPr>
        <p:spPr/>
        <p:txBody>
          <a:bodyPr/>
          <a:lstStyle>
            <a:lvl1pPr>
              <a:defRPr/>
            </a:lvl1pPr>
          </a:lstStyle>
          <a:p>
            <a:r>
              <a:rPr lang="en-US" altLang="en-US"/>
              <a:t>4-</a:t>
            </a:r>
            <a:fld id="{66AE0D64-7E3C-5A45-8FD6-E79018EAF2F5}" type="slidenum">
              <a:rPr lang="en-US" altLang="en-US"/>
              <a:pPr/>
              <a:t>‹#›</a:t>
            </a:fld>
            <a:endParaRPr lang="en-US" altLang="en-US"/>
          </a:p>
        </p:txBody>
      </p:sp>
    </p:spTree>
    <p:extLst>
      <p:ext uri="{BB962C8B-B14F-4D97-AF65-F5344CB8AC3E}">
        <p14:creationId xmlns:p14="http://schemas.microsoft.com/office/powerpoint/2010/main" val="83708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9D78CECE-9EA5-FE4D-A07D-16E246863D53}"/>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F4AD5F7E-D8E0-164C-AFFD-DA6D804B412D}"/>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7" name="Rectangle 8">
            <a:extLst>
              <a:ext uri="{FF2B5EF4-FFF2-40B4-BE49-F238E27FC236}">
                <a16:creationId xmlns:a16="http://schemas.microsoft.com/office/drawing/2014/main" id="{8D060B3F-6D78-FF42-BDFC-A6E6F8E81E50}"/>
              </a:ext>
            </a:extLst>
          </p:cNvPr>
          <p:cNvSpPr>
            <a:spLocks noGrp="1" noChangeArrowheads="1"/>
          </p:cNvSpPr>
          <p:nvPr>
            <p:ph type="sldNum" sz="quarter" idx="12"/>
          </p:nvPr>
        </p:nvSpPr>
        <p:spPr/>
        <p:txBody>
          <a:bodyPr/>
          <a:lstStyle>
            <a:lvl1pPr>
              <a:defRPr/>
            </a:lvl1pPr>
          </a:lstStyle>
          <a:p>
            <a:r>
              <a:rPr lang="en-US" altLang="en-US"/>
              <a:t>4-</a:t>
            </a:r>
            <a:fld id="{B438D27A-54A0-E846-85D4-4EC29AE8BD2C}" type="slidenum">
              <a:rPr lang="en-US" altLang="en-US"/>
              <a:pPr/>
              <a:t>‹#›</a:t>
            </a:fld>
            <a:endParaRPr lang="en-US" altLang="en-US"/>
          </a:p>
        </p:txBody>
      </p:sp>
    </p:spTree>
    <p:extLst>
      <p:ext uri="{BB962C8B-B14F-4D97-AF65-F5344CB8AC3E}">
        <p14:creationId xmlns:p14="http://schemas.microsoft.com/office/powerpoint/2010/main" val="1978586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8B653E0-A412-5A47-B657-F2A9875B9CF5}"/>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389902C6-988A-9B4D-A867-4753FB73298E}"/>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6" name="Rectangle 8">
            <a:extLst>
              <a:ext uri="{FF2B5EF4-FFF2-40B4-BE49-F238E27FC236}">
                <a16:creationId xmlns:a16="http://schemas.microsoft.com/office/drawing/2014/main" id="{00F8C1FD-EBA9-5C4E-871C-6A3F5AA5038C}"/>
              </a:ext>
            </a:extLst>
          </p:cNvPr>
          <p:cNvSpPr>
            <a:spLocks noGrp="1" noChangeArrowheads="1"/>
          </p:cNvSpPr>
          <p:nvPr>
            <p:ph type="sldNum" sz="quarter" idx="12"/>
          </p:nvPr>
        </p:nvSpPr>
        <p:spPr/>
        <p:txBody>
          <a:bodyPr/>
          <a:lstStyle>
            <a:lvl1pPr>
              <a:defRPr/>
            </a:lvl1pPr>
          </a:lstStyle>
          <a:p>
            <a:r>
              <a:rPr lang="en-US" altLang="en-US"/>
              <a:t>4-</a:t>
            </a:r>
            <a:fld id="{BE84F97A-544F-4646-8F99-2679D88375AD}" type="slidenum">
              <a:rPr lang="en-US" altLang="en-US"/>
              <a:pPr/>
              <a:t>‹#›</a:t>
            </a:fld>
            <a:endParaRPr lang="en-US" altLang="en-US"/>
          </a:p>
        </p:txBody>
      </p:sp>
    </p:spTree>
    <p:extLst>
      <p:ext uri="{BB962C8B-B14F-4D97-AF65-F5344CB8AC3E}">
        <p14:creationId xmlns:p14="http://schemas.microsoft.com/office/powerpoint/2010/main" val="239260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6990567-12DC-CE43-B043-404203F29E78}"/>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30E697A9-2290-7C4B-9C78-12CF8DF774FC}"/>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6" name="Rectangle 8">
            <a:extLst>
              <a:ext uri="{FF2B5EF4-FFF2-40B4-BE49-F238E27FC236}">
                <a16:creationId xmlns:a16="http://schemas.microsoft.com/office/drawing/2014/main" id="{F8C83736-CD2C-4041-97E2-4BD3FAEC433E}"/>
              </a:ext>
            </a:extLst>
          </p:cNvPr>
          <p:cNvSpPr>
            <a:spLocks noGrp="1" noChangeArrowheads="1"/>
          </p:cNvSpPr>
          <p:nvPr>
            <p:ph type="sldNum" sz="quarter" idx="12"/>
          </p:nvPr>
        </p:nvSpPr>
        <p:spPr/>
        <p:txBody>
          <a:bodyPr/>
          <a:lstStyle>
            <a:lvl1pPr>
              <a:defRPr/>
            </a:lvl1pPr>
          </a:lstStyle>
          <a:p>
            <a:r>
              <a:rPr lang="en-US" altLang="en-US"/>
              <a:t>4-</a:t>
            </a:r>
            <a:fld id="{3D35F898-556B-724D-9BF3-707CE55696E6}" type="slidenum">
              <a:rPr lang="en-US" altLang="en-US"/>
              <a:pPr/>
              <a:t>‹#›</a:t>
            </a:fld>
            <a:endParaRPr lang="en-US" altLang="en-US"/>
          </a:p>
        </p:txBody>
      </p:sp>
    </p:spTree>
    <p:extLst>
      <p:ext uri="{BB962C8B-B14F-4D97-AF65-F5344CB8AC3E}">
        <p14:creationId xmlns:p14="http://schemas.microsoft.com/office/powerpoint/2010/main" val="1390992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C9EB87-4F90-3441-90C7-B6FBF69780BA}"/>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248E5ECB-2DDB-7C47-AE76-D0591CB21A90}"/>
              </a:ext>
            </a:extLst>
          </p:cNvPr>
          <p:cNvSpPr>
            <a:spLocks noGrp="1" noChangeArrowheads="1"/>
          </p:cNvSpPr>
          <p:nvPr>
            <p:ph type="ftr" sz="quarter" idx="11"/>
          </p:nvPr>
        </p:nvSpPr>
        <p:spPr>
          <a:xfrm>
            <a:off x="5532438" y="6467475"/>
            <a:ext cx="2895600" cy="287338"/>
          </a:xfrm>
        </p:spPr>
        <p:txBody>
          <a:bodyPr/>
          <a:lstStyle>
            <a:lvl1pPr>
              <a:defRPr sz="2400">
                <a:solidFill>
                  <a:schemeClr val="tx1"/>
                </a:solidFill>
                <a:latin typeface="Arial" charset="0"/>
                <a:cs typeface="ＭＳ Ｐゴシック" charset="0"/>
              </a:defRPr>
            </a:lvl1pPr>
          </a:lstStyle>
          <a:p>
            <a:pPr>
              <a:defRPr/>
            </a:pPr>
            <a:r>
              <a:rPr lang="en-US"/>
              <a:t>Network Layer</a:t>
            </a:r>
          </a:p>
        </p:txBody>
      </p:sp>
      <p:sp>
        <p:nvSpPr>
          <p:cNvPr id="7" name="Rectangle 8">
            <a:extLst>
              <a:ext uri="{FF2B5EF4-FFF2-40B4-BE49-F238E27FC236}">
                <a16:creationId xmlns:a16="http://schemas.microsoft.com/office/drawing/2014/main" id="{0E82B8EC-ADEF-7144-A3E5-A8A212DEE597}"/>
              </a:ext>
            </a:extLst>
          </p:cNvPr>
          <p:cNvSpPr>
            <a:spLocks noGrp="1" noChangeArrowheads="1"/>
          </p:cNvSpPr>
          <p:nvPr>
            <p:ph type="sldNum" sz="quarter" idx="12"/>
          </p:nvPr>
        </p:nvSpPr>
        <p:spPr/>
        <p:txBody>
          <a:bodyPr/>
          <a:lstStyle>
            <a:lvl1pPr>
              <a:defRPr/>
            </a:lvl1pPr>
          </a:lstStyle>
          <a:p>
            <a:r>
              <a:rPr lang="en-US" altLang="en-US"/>
              <a:t>4-</a:t>
            </a:r>
            <a:fld id="{817BF714-5A14-EC44-B0BA-6055E3E9B706}" type="slidenum">
              <a:rPr lang="en-US" altLang="en-US"/>
              <a:pPr/>
              <a:t>‹#›</a:t>
            </a:fld>
            <a:endParaRPr lang="en-US" altLang="en-US"/>
          </a:p>
        </p:txBody>
      </p:sp>
    </p:spTree>
    <p:extLst>
      <p:ext uri="{BB962C8B-B14F-4D97-AF65-F5344CB8AC3E}">
        <p14:creationId xmlns:p14="http://schemas.microsoft.com/office/powerpoint/2010/main" val="36383785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728FC90-8728-3A40-A2AA-FBC152D00000}"/>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438BED1-FC17-D042-9676-D2EB73E7CBCA}"/>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6" name="Rectangle 6">
            <a:extLst>
              <a:ext uri="{FF2B5EF4-FFF2-40B4-BE49-F238E27FC236}">
                <a16:creationId xmlns:a16="http://schemas.microsoft.com/office/drawing/2014/main" id="{8CC1D761-3016-6344-A286-81863296F431}"/>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BD1248AD-9BFF-C24C-848B-30E7F6A45066}" type="slidenum">
              <a:rPr lang="en-US" altLang="en-US"/>
              <a:pPr/>
              <a:t>‹#›</a:t>
            </a:fld>
            <a:endParaRPr lang="en-US" altLang="en-US"/>
          </a:p>
        </p:txBody>
      </p:sp>
    </p:spTree>
    <p:extLst>
      <p:ext uri="{BB962C8B-B14F-4D97-AF65-F5344CB8AC3E}">
        <p14:creationId xmlns:p14="http://schemas.microsoft.com/office/powerpoint/2010/main" val="4013405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759AEAB-6815-CC4B-845D-82181E4326D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782E4E4-23BE-5F49-A73A-81E944F1C725}"/>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6" name="Rectangle 6">
            <a:extLst>
              <a:ext uri="{FF2B5EF4-FFF2-40B4-BE49-F238E27FC236}">
                <a16:creationId xmlns:a16="http://schemas.microsoft.com/office/drawing/2014/main" id="{C6DA945F-2A8D-CE4F-A503-8E17C99AB985}"/>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E7A9F995-9F7C-2646-B441-3572C63CB7D8}" type="slidenum">
              <a:rPr lang="en-US" altLang="en-US"/>
              <a:pPr/>
              <a:t>‹#›</a:t>
            </a:fld>
            <a:endParaRPr lang="en-US" altLang="en-US"/>
          </a:p>
        </p:txBody>
      </p:sp>
    </p:spTree>
    <p:extLst>
      <p:ext uri="{BB962C8B-B14F-4D97-AF65-F5344CB8AC3E}">
        <p14:creationId xmlns:p14="http://schemas.microsoft.com/office/powerpoint/2010/main" val="2861633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79F26E7-78AF-2C4D-A7FE-CF6A52D4E5F8}"/>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D3C6AE9-F84A-2A46-8A31-401F2CA30CA2}"/>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6" name="Rectangle 6">
            <a:extLst>
              <a:ext uri="{FF2B5EF4-FFF2-40B4-BE49-F238E27FC236}">
                <a16:creationId xmlns:a16="http://schemas.microsoft.com/office/drawing/2014/main" id="{792732D3-6501-1844-B506-2A511B2B31CE}"/>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35724A80-2C89-0346-B588-1E10528B3EFC}" type="slidenum">
              <a:rPr lang="en-US" altLang="en-US"/>
              <a:pPr/>
              <a:t>‹#›</a:t>
            </a:fld>
            <a:endParaRPr lang="en-US" altLang="en-US"/>
          </a:p>
        </p:txBody>
      </p:sp>
    </p:spTree>
    <p:extLst>
      <p:ext uri="{BB962C8B-B14F-4D97-AF65-F5344CB8AC3E}">
        <p14:creationId xmlns:p14="http://schemas.microsoft.com/office/powerpoint/2010/main" val="466113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20BDE5-C941-974E-B418-67378CFA1B96}"/>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0A365D97-6CCD-0D43-97EE-C4B227384F51}"/>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7" name="Slide Number Placeholder 6">
            <a:extLst>
              <a:ext uri="{FF2B5EF4-FFF2-40B4-BE49-F238E27FC236}">
                <a16:creationId xmlns:a16="http://schemas.microsoft.com/office/drawing/2014/main" id="{D7C10CCB-BE17-A341-8771-C4493BDF8C4D}"/>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46D87EF8-5428-444B-AA78-3C289597752A}" type="slidenum">
              <a:rPr lang="en-US" altLang="en-US"/>
              <a:pPr/>
              <a:t>‹#›</a:t>
            </a:fld>
            <a:endParaRPr lang="en-US" altLang="en-US"/>
          </a:p>
        </p:txBody>
      </p:sp>
    </p:spTree>
    <p:extLst>
      <p:ext uri="{BB962C8B-B14F-4D97-AF65-F5344CB8AC3E}">
        <p14:creationId xmlns:p14="http://schemas.microsoft.com/office/powerpoint/2010/main" val="751231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15459F7A-D043-4740-B9B1-AB5B690F65B2}"/>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BF52A307-ADE3-B047-AE05-D3EDADC6E14D}"/>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9" name="Rectangle 6">
            <a:extLst>
              <a:ext uri="{FF2B5EF4-FFF2-40B4-BE49-F238E27FC236}">
                <a16:creationId xmlns:a16="http://schemas.microsoft.com/office/drawing/2014/main" id="{8DB4146C-0323-7740-8E1D-E27B88539035}"/>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80C0C501-0A69-8249-9A21-DD21C0BC7E87}" type="slidenum">
              <a:rPr lang="en-US" altLang="en-US"/>
              <a:pPr/>
              <a:t>‹#›</a:t>
            </a:fld>
            <a:endParaRPr lang="en-US" altLang="en-US"/>
          </a:p>
        </p:txBody>
      </p:sp>
    </p:spTree>
    <p:extLst>
      <p:ext uri="{BB962C8B-B14F-4D97-AF65-F5344CB8AC3E}">
        <p14:creationId xmlns:p14="http://schemas.microsoft.com/office/powerpoint/2010/main" val="40667637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6804BD3-1746-014A-B1EB-85DF12B559E6}"/>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B14934CD-3963-4043-BB6D-93283EEBED81}"/>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5" name="Rectangle 6">
            <a:extLst>
              <a:ext uri="{FF2B5EF4-FFF2-40B4-BE49-F238E27FC236}">
                <a16:creationId xmlns:a16="http://schemas.microsoft.com/office/drawing/2014/main" id="{F29F299B-4A6B-5A40-8D6E-4C8B670416B5}"/>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A8CFE941-2B47-8D47-A67A-E3542E0AB149}" type="slidenum">
              <a:rPr lang="en-US" altLang="en-US"/>
              <a:pPr/>
              <a:t>‹#›</a:t>
            </a:fld>
            <a:endParaRPr lang="en-US" altLang="en-US"/>
          </a:p>
        </p:txBody>
      </p:sp>
    </p:spTree>
    <p:extLst>
      <p:ext uri="{BB962C8B-B14F-4D97-AF65-F5344CB8AC3E}">
        <p14:creationId xmlns:p14="http://schemas.microsoft.com/office/powerpoint/2010/main" val="32685603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45B0040-0C6E-6841-8B3A-4E47ABC133ED}"/>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1BF0246D-84FD-9045-A29C-09143E99C0E4}"/>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4" name="Rectangle 6">
            <a:extLst>
              <a:ext uri="{FF2B5EF4-FFF2-40B4-BE49-F238E27FC236}">
                <a16:creationId xmlns:a16="http://schemas.microsoft.com/office/drawing/2014/main" id="{59ABEF0D-AEFC-C244-A98F-4804A2A9FED9}"/>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F6072735-2CDE-AA40-817A-B2C182B23455}" type="slidenum">
              <a:rPr lang="en-US" altLang="en-US"/>
              <a:pPr/>
              <a:t>‹#›</a:t>
            </a:fld>
            <a:endParaRPr lang="en-US" altLang="en-US"/>
          </a:p>
        </p:txBody>
      </p:sp>
    </p:spTree>
    <p:extLst>
      <p:ext uri="{BB962C8B-B14F-4D97-AF65-F5344CB8AC3E}">
        <p14:creationId xmlns:p14="http://schemas.microsoft.com/office/powerpoint/2010/main" val="31850181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A950EE58-5746-0D45-B338-14C2AC73E275}"/>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6069AECB-8C32-2C4D-8A3A-5A4F4B1C1D9F}"/>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7" name="Slide Number Placeholder 6">
            <a:extLst>
              <a:ext uri="{FF2B5EF4-FFF2-40B4-BE49-F238E27FC236}">
                <a16:creationId xmlns:a16="http://schemas.microsoft.com/office/drawing/2014/main" id="{F568FBDE-2C2F-2B41-9BE0-4293481DB14F}"/>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7F7D2F71-83F3-5446-8FE5-29A4DFB48A49}" type="slidenum">
              <a:rPr lang="en-US" altLang="en-US"/>
              <a:pPr/>
              <a:t>‹#›</a:t>
            </a:fld>
            <a:endParaRPr lang="en-US" altLang="en-US"/>
          </a:p>
        </p:txBody>
      </p:sp>
    </p:spTree>
    <p:extLst>
      <p:ext uri="{BB962C8B-B14F-4D97-AF65-F5344CB8AC3E}">
        <p14:creationId xmlns:p14="http://schemas.microsoft.com/office/powerpoint/2010/main" val="28694459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8D4753DA-7DA7-4845-9FA2-1AC1E32278AF}"/>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DC5521FD-FB8D-5C48-8605-AB6C16B833C5}"/>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7" name="Slide Number Placeholder 6">
            <a:extLst>
              <a:ext uri="{FF2B5EF4-FFF2-40B4-BE49-F238E27FC236}">
                <a16:creationId xmlns:a16="http://schemas.microsoft.com/office/drawing/2014/main" id="{5B3BEC26-2316-5B4C-83D0-A9B53B8E90F9}"/>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32FD854A-86E0-BE40-A811-376DA54D784E}" type="slidenum">
              <a:rPr lang="en-US" altLang="en-US"/>
              <a:pPr/>
              <a:t>‹#›</a:t>
            </a:fld>
            <a:endParaRPr lang="en-US" altLang="en-US"/>
          </a:p>
        </p:txBody>
      </p:sp>
    </p:spTree>
    <p:extLst>
      <p:ext uri="{BB962C8B-B14F-4D97-AF65-F5344CB8AC3E}">
        <p14:creationId xmlns:p14="http://schemas.microsoft.com/office/powerpoint/2010/main" val="2080672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30D5AAB-8DD0-D343-8D38-652F1AFC23F1}"/>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30856E3-EE35-8A4B-A7AF-EDE0767ADD84}"/>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6" name="Rectangle 6">
            <a:extLst>
              <a:ext uri="{FF2B5EF4-FFF2-40B4-BE49-F238E27FC236}">
                <a16:creationId xmlns:a16="http://schemas.microsoft.com/office/drawing/2014/main" id="{9BDEDC75-8848-DB47-A57C-9DD1EE982EB6}"/>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E3A31E95-FBC4-D04D-A87E-34F1F7FF3F43}" type="slidenum">
              <a:rPr lang="en-US" altLang="en-US"/>
              <a:pPr/>
              <a:t>‹#›</a:t>
            </a:fld>
            <a:endParaRPr lang="en-US" altLang="en-US"/>
          </a:p>
        </p:txBody>
      </p:sp>
    </p:spTree>
    <p:extLst>
      <p:ext uri="{BB962C8B-B14F-4D97-AF65-F5344CB8AC3E}">
        <p14:creationId xmlns:p14="http://schemas.microsoft.com/office/powerpoint/2010/main" val="9608852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48ED3E7-602A-8947-902B-CB5DED4B87F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BBEBB08-44AC-5749-8703-FD72A30E8F59}"/>
              </a:ext>
            </a:extLst>
          </p:cNvPr>
          <p:cNvSpPr>
            <a:spLocks noGrp="1" noChangeArrowheads="1"/>
          </p:cNvSpPr>
          <p:nvPr>
            <p:ph type="ftr" sz="quarter" idx="11"/>
          </p:nvPr>
        </p:nvSpPr>
        <p:spPr/>
        <p:txBody>
          <a:bodyPr/>
          <a:lstStyle>
            <a:lvl1pPr>
              <a:defRPr/>
            </a:lvl1pPr>
          </a:lstStyle>
          <a:p>
            <a:pPr>
              <a:defRPr/>
            </a:pPr>
            <a:r>
              <a:rPr lang="en-US"/>
              <a:t>Transport</a:t>
            </a:r>
            <a:r>
              <a:rPr lang="en-US" sz="1400"/>
              <a:t> </a:t>
            </a:r>
            <a:r>
              <a:rPr lang="en-US"/>
              <a:t>Layer</a:t>
            </a:r>
          </a:p>
        </p:txBody>
      </p:sp>
      <p:sp>
        <p:nvSpPr>
          <p:cNvPr id="6" name="Rectangle 6">
            <a:extLst>
              <a:ext uri="{FF2B5EF4-FFF2-40B4-BE49-F238E27FC236}">
                <a16:creationId xmlns:a16="http://schemas.microsoft.com/office/drawing/2014/main" id="{1C3ADC88-A05B-174C-9481-9A736470FD96}"/>
              </a:ext>
            </a:extLst>
          </p:cNvPr>
          <p:cNvSpPr>
            <a:spLocks noGrp="1" noChangeArrowheads="1"/>
          </p:cNvSpPr>
          <p:nvPr>
            <p:ph type="sldNum" sz="quarter" idx="12"/>
          </p:nvPr>
        </p:nvSpPr>
        <p:spPr/>
        <p:txBody>
          <a:bodyPr/>
          <a:lstStyle>
            <a:lvl1pPr>
              <a:defRPr>
                <a:latin typeface="Arial" panose="020B0604020202020204" pitchFamily="34" charset="0"/>
              </a:defRPr>
            </a:lvl1pPr>
          </a:lstStyle>
          <a:p>
            <a:r>
              <a:rPr lang="en-US" altLang="en-US"/>
              <a:t>3-</a:t>
            </a:r>
            <a:fld id="{8519DA54-C4A6-3648-9E20-1FE8CD986EC3}" type="slidenum">
              <a:rPr lang="en-US" altLang="en-US"/>
              <a:pPr/>
              <a:t>‹#›</a:t>
            </a:fld>
            <a:endParaRPr lang="en-US" altLang="en-US"/>
          </a:p>
        </p:txBody>
      </p:sp>
    </p:spTree>
    <p:extLst>
      <p:ext uri="{BB962C8B-B14F-4D97-AF65-F5344CB8AC3E}">
        <p14:creationId xmlns:p14="http://schemas.microsoft.com/office/powerpoint/2010/main" val="18192354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ms-MY"/>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ms-MY"/>
          </a:p>
        </p:txBody>
      </p:sp>
      <p:sp>
        <p:nvSpPr>
          <p:cNvPr id="4" name="Date Placeholder 3"/>
          <p:cNvSpPr>
            <a:spLocks noGrp="1"/>
          </p:cNvSpPr>
          <p:nvPr>
            <p:ph type="dt" sz="half" idx="10"/>
          </p:nvPr>
        </p:nvSpPr>
        <p:spPr/>
        <p:txBody>
          <a:bodyPr/>
          <a:lstStyle/>
          <a:p>
            <a:fld id="{13A77E20-044B-4A94-A4A7-263AB589D0FB}" type="datetimeFigureOut">
              <a:rPr lang="ms-MY" smtClean="0"/>
              <a:t>21/11/2024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11524881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ms-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Date Placeholder 3"/>
          <p:cNvSpPr>
            <a:spLocks noGrp="1"/>
          </p:cNvSpPr>
          <p:nvPr>
            <p:ph type="dt" sz="half" idx="10"/>
          </p:nvPr>
        </p:nvSpPr>
        <p:spPr/>
        <p:txBody>
          <a:bodyPr/>
          <a:lstStyle/>
          <a:p>
            <a:fld id="{13A77E20-044B-4A94-A4A7-263AB589D0FB}" type="datetimeFigureOut">
              <a:rPr lang="ms-MY" smtClean="0"/>
              <a:t>21/11/2024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5319090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ms-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A77E20-044B-4A94-A4A7-263AB589D0FB}" type="datetimeFigureOut">
              <a:rPr lang="ms-MY" smtClean="0"/>
              <a:t>21/11/2024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38843173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ms-MY"/>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5" name="Date Placeholder 4"/>
          <p:cNvSpPr>
            <a:spLocks noGrp="1"/>
          </p:cNvSpPr>
          <p:nvPr>
            <p:ph type="dt" sz="half" idx="10"/>
          </p:nvPr>
        </p:nvSpPr>
        <p:spPr/>
        <p:txBody>
          <a:bodyPr/>
          <a:lstStyle/>
          <a:p>
            <a:fld id="{13A77E20-044B-4A94-A4A7-263AB589D0FB}" type="datetimeFigureOut">
              <a:rPr lang="ms-MY" smtClean="0"/>
              <a:t>21/11/2024</a:t>
            </a:fld>
            <a:endParaRPr lang="ms-MY"/>
          </a:p>
        </p:txBody>
      </p:sp>
      <p:sp>
        <p:nvSpPr>
          <p:cNvPr id="6" name="Footer Placeholder 5"/>
          <p:cNvSpPr>
            <a:spLocks noGrp="1"/>
          </p:cNvSpPr>
          <p:nvPr>
            <p:ph type="ftr" sz="quarter" idx="11"/>
          </p:nvPr>
        </p:nvSpPr>
        <p:spPr/>
        <p:txBody>
          <a:bodyPr/>
          <a:lstStyle/>
          <a:p>
            <a:endParaRPr lang="ms-MY"/>
          </a:p>
        </p:txBody>
      </p:sp>
      <p:sp>
        <p:nvSpPr>
          <p:cNvPr id="7" name="Slide Number Placeholder 6"/>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32408947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ms-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7" name="Date Placeholder 6"/>
          <p:cNvSpPr>
            <a:spLocks noGrp="1"/>
          </p:cNvSpPr>
          <p:nvPr>
            <p:ph type="dt" sz="half" idx="10"/>
          </p:nvPr>
        </p:nvSpPr>
        <p:spPr/>
        <p:txBody>
          <a:bodyPr/>
          <a:lstStyle/>
          <a:p>
            <a:fld id="{13A77E20-044B-4A94-A4A7-263AB589D0FB}" type="datetimeFigureOut">
              <a:rPr lang="ms-MY" smtClean="0"/>
              <a:t>21/11/2024</a:t>
            </a:fld>
            <a:endParaRPr lang="ms-MY"/>
          </a:p>
        </p:txBody>
      </p:sp>
      <p:sp>
        <p:nvSpPr>
          <p:cNvPr id="8" name="Footer Placeholder 7"/>
          <p:cNvSpPr>
            <a:spLocks noGrp="1"/>
          </p:cNvSpPr>
          <p:nvPr>
            <p:ph type="ftr" sz="quarter" idx="11"/>
          </p:nvPr>
        </p:nvSpPr>
        <p:spPr/>
        <p:txBody>
          <a:bodyPr/>
          <a:lstStyle/>
          <a:p>
            <a:endParaRPr lang="ms-MY"/>
          </a:p>
        </p:txBody>
      </p:sp>
      <p:sp>
        <p:nvSpPr>
          <p:cNvPr id="9" name="Slide Number Placeholder 8"/>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10640936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ms-MY"/>
          </a:p>
        </p:txBody>
      </p:sp>
      <p:sp>
        <p:nvSpPr>
          <p:cNvPr id="3" name="Date Placeholder 2"/>
          <p:cNvSpPr>
            <a:spLocks noGrp="1"/>
          </p:cNvSpPr>
          <p:nvPr>
            <p:ph type="dt" sz="half" idx="10"/>
          </p:nvPr>
        </p:nvSpPr>
        <p:spPr/>
        <p:txBody>
          <a:bodyPr/>
          <a:lstStyle/>
          <a:p>
            <a:fld id="{13A77E20-044B-4A94-A4A7-263AB589D0FB}" type="datetimeFigureOut">
              <a:rPr lang="ms-MY" smtClean="0"/>
              <a:t>21/11/2024</a:t>
            </a:fld>
            <a:endParaRPr lang="ms-MY"/>
          </a:p>
        </p:txBody>
      </p:sp>
      <p:sp>
        <p:nvSpPr>
          <p:cNvPr id="4" name="Footer Placeholder 3"/>
          <p:cNvSpPr>
            <a:spLocks noGrp="1"/>
          </p:cNvSpPr>
          <p:nvPr>
            <p:ph type="ftr" sz="quarter" idx="11"/>
          </p:nvPr>
        </p:nvSpPr>
        <p:spPr/>
        <p:txBody>
          <a:bodyPr/>
          <a:lstStyle/>
          <a:p>
            <a:endParaRPr lang="ms-MY"/>
          </a:p>
        </p:txBody>
      </p:sp>
      <p:sp>
        <p:nvSpPr>
          <p:cNvPr id="5" name="Slide Number Placeholder 4"/>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20649378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A77E20-044B-4A94-A4A7-263AB589D0FB}" type="datetimeFigureOut">
              <a:rPr lang="ms-MY" smtClean="0"/>
              <a:t>21/11/2024</a:t>
            </a:fld>
            <a:endParaRPr lang="ms-MY"/>
          </a:p>
        </p:txBody>
      </p:sp>
      <p:sp>
        <p:nvSpPr>
          <p:cNvPr id="3" name="Footer Placeholder 2"/>
          <p:cNvSpPr>
            <a:spLocks noGrp="1"/>
          </p:cNvSpPr>
          <p:nvPr>
            <p:ph type="ftr" sz="quarter" idx="11"/>
          </p:nvPr>
        </p:nvSpPr>
        <p:spPr/>
        <p:txBody>
          <a:bodyPr/>
          <a:lstStyle/>
          <a:p>
            <a:endParaRPr lang="ms-MY"/>
          </a:p>
        </p:txBody>
      </p:sp>
      <p:sp>
        <p:nvSpPr>
          <p:cNvPr id="4" name="Slide Number Placeholder 3"/>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31804256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ms-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A77E20-044B-4A94-A4A7-263AB589D0FB}" type="datetimeFigureOut">
              <a:rPr lang="ms-MY" smtClean="0"/>
              <a:t>21/11/2024</a:t>
            </a:fld>
            <a:endParaRPr lang="ms-MY"/>
          </a:p>
        </p:txBody>
      </p:sp>
      <p:sp>
        <p:nvSpPr>
          <p:cNvPr id="6" name="Footer Placeholder 5"/>
          <p:cNvSpPr>
            <a:spLocks noGrp="1"/>
          </p:cNvSpPr>
          <p:nvPr>
            <p:ph type="ftr" sz="quarter" idx="11"/>
          </p:nvPr>
        </p:nvSpPr>
        <p:spPr/>
        <p:txBody>
          <a:bodyPr/>
          <a:lstStyle/>
          <a:p>
            <a:endParaRPr lang="ms-MY"/>
          </a:p>
        </p:txBody>
      </p:sp>
      <p:sp>
        <p:nvSpPr>
          <p:cNvPr id="7" name="Slide Number Placeholder 6"/>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33031390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ms-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ms-MY"/>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A77E20-044B-4A94-A4A7-263AB589D0FB}" type="datetimeFigureOut">
              <a:rPr lang="ms-MY" smtClean="0"/>
              <a:t>21/11/2024</a:t>
            </a:fld>
            <a:endParaRPr lang="ms-MY"/>
          </a:p>
        </p:txBody>
      </p:sp>
      <p:sp>
        <p:nvSpPr>
          <p:cNvPr id="6" name="Footer Placeholder 5"/>
          <p:cNvSpPr>
            <a:spLocks noGrp="1"/>
          </p:cNvSpPr>
          <p:nvPr>
            <p:ph type="ftr" sz="quarter" idx="11"/>
          </p:nvPr>
        </p:nvSpPr>
        <p:spPr/>
        <p:txBody>
          <a:bodyPr/>
          <a:lstStyle/>
          <a:p>
            <a:endParaRPr lang="ms-MY"/>
          </a:p>
        </p:txBody>
      </p:sp>
      <p:sp>
        <p:nvSpPr>
          <p:cNvPr id="7" name="Slide Number Placeholder 6"/>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19153951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ms-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Date Placeholder 3"/>
          <p:cNvSpPr>
            <a:spLocks noGrp="1"/>
          </p:cNvSpPr>
          <p:nvPr>
            <p:ph type="dt" sz="half" idx="10"/>
          </p:nvPr>
        </p:nvSpPr>
        <p:spPr/>
        <p:txBody>
          <a:bodyPr/>
          <a:lstStyle/>
          <a:p>
            <a:fld id="{13A77E20-044B-4A94-A4A7-263AB589D0FB}" type="datetimeFigureOut">
              <a:rPr lang="ms-MY" smtClean="0"/>
              <a:t>21/11/2024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38390992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ms-MY"/>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Date Placeholder 3"/>
          <p:cNvSpPr>
            <a:spLocks noGrp="1"/>
          </p:cNvSpPr>
          <p:nvPr>
            <p:ph type="dt" sz="half" idx="10"/>
          </p:nvPr>
        </p:nvSpPr>
        <p:spPr/>
        <p:txBody>
          <a:bodyPr/>
          <a:lstStyle/>
          <a:p>
            <a:fld id="{13A77E20-044B-4A94-A4A7-263AB589D0FB}" type="datetimeFigureOut">
              <a:rPr lang="ms-MY" smtClean="0"/>
              <a:t>21/11/2024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250AD7DF-BA32-4F66-9B19-8D3B3E5A388A}" type="slidenum">
              <a:rPr lang="ms-MY" smtClean="0"/>
              <a:t>‹#›</a:t>
            </a:fld>
            <a:endParaRPr lang="ms-MY"/>
          </a:p>
        </p:txBody>
      </p:sp>
    </p:spTree>
    <p:extLst>
      <p:ext uri="{BB962C8B-B14F-4D97-AF65-F5344CB8AC3E}">
        <p14:creationId xmlns:p14="http://schemas.microsoft.com/office/powerpoint/2010/main" val="2201082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17DB8DB-0551-0147-B7D3-71115962690A}"/>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C51D007-ABDD-C041-8C3E-AF0F960B9AA6}"/>
              </a:ext>
            </a:extLst>
          </p:cNvPr>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863218ED-9DC3-A14E-A410-4430A22BE85A}"/>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charset="0"/>
                <a:ea typeface="ＭＳ Ｐゴシック" charset="0"/>
                <a:cs typeface="ＭＳ Ｐゴシック" charset="0"/>
              </a:defRPr>
            </a:lvl1pPr>
          </a:lstStyle>
          <a:p>
            <a:pPr>
              <a:defRPr/>
            </a:pPr>
            <a:endParaRPr lang="en-US"/>
          </a:p>
        </p:txBody>
      </p:sp>
      <p:sp>
        <p:nvSpPr>
          <p:cNvPr id="1032" name="Rectangle 8">
            <a:extLst>
              <a:ext uri="{FF2B5EF4-FFF2-40B4-BE49-F238E27FC236}">
                <a16:creationId xmlns:a16="http://schemas.microsoft.com/office/drawing/2014/main" id="{2C8DC719-49C0-FA46-BC7C-E633F607F224}"/>
              </a:ext>
            </a:extLst>
          </p:cNvPr>
          <p:cNvSpPr>
            <a:spLocks noGrp="1" noChangeArrowheads="1"/>
          </p:cNvSpPr>
          <p:nvPr>
            <p:ph type="sldNum" sz="quarter" idx="4"/>
          </p:nvPr>
        </p:nvSpPr>
        <p:spPr bwMode="auto">
          <a:xfrm>
            <a:off x="8324850" y="6481763"/>
            <a:ext cx="676275"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anose="020B0604030504040204" pitchFamily="34" charset="0"/>
              </a:defRPr>
            </a:lvl1pPr>
          </a:lstStyle>
          <a:p>
            <a:r>
              <a:rPr lang="en-US" altLang="en-US"/>
              <a:t>4-</a:t>
            </a:r>
            <a:fld id="{6DEC43B6-29E9-AC4B-89FE-DFDBE14147CC}" type="slidenum">
              <a:rPr lang="en-US" altLang="en-US"/>
              <a:pPr/>
              <a:t>‹#›</a:t>
            </a:fld>
            <a:endParaRPr lang="en-US" altLang="en-US"/>
          </a:p>
        </p:txBody>
      </p:sp>
      <p:sp>
        <p:nvSpPr>
          <p:cNvPr id="7" name="Footer Placeholder 2">
            <a:extLst>
              <a:ext uri="{FF2B5EF4-FFF2-40B4-BE49-F238E27FC236}">
                <a16:creationId xmlns:a16="http://schemas.microsoft.com/office/drawing/2014/main" id="{F47DEFC0-CC26-354D-A9F6-E916AC63571C}"/>
              </a:ext>
            </a:extLst>
          </p:cNvPr>
          <p:cNvSpPr>
            <a:spLocks noGrp="1"/>
          </p:cNvSpPr>
          <p:nvPr>
            <p:ph type="ftr" sz="quarter" idx="3"/>
          </p:nvPr>
        </p:nvSpPr>
        <p:spPr>
          <a:xfrm>
            <a:off x="6369050" y="6475413"/>
            <a:ext cx="2089150" cy="382587"/>
          </a:xfrm>
          <a:prstGeom prst="rect">
            <a:avLst/>
          </a:prstGeom>
          <a:noFill/>
          <a:ln/>
          <a:extLst>
            <a:ext uri="{909E8E84-426E-40dd-AFC4-6F175D3DCCD1}"/>
            <a:ext uri="{91240B29-F687-4f45-9708-019B960494DF}"/>
          </a:extLst>
        </p:spPr>
        <p:txBody>
          <a:bodyPr/>
          <a:lstStyle>
            <a:lvl1pPr>
              <a:defRPr sz="1200">
                <a:solidFill>
                  <a:srgbClr val="000000"/>
                </a:solidFill>
                <a:latin typeface="Tahoma" charset="0"/>
                <a:ea typeface="ＭＳ Ｐゴシック" charset="0"/>
                <a:cs typeface="Arial"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a:t>Network Layer: Data Plane</a:t>
            </a:r>
          </a:p>
        </p:txBody>
      </p:sp>
    </p:spTree>
  </p:cSld>
  <p:clrMap bg1="lt1" tx1="dk1" bg2="lt2" tx2="dk2" accent1="accent1" accent2="accent2" accent3="accent3" accent4="accent4" accent5="accent5" accent6="accent6" hlink="hlink" folHlink="folHlink"/>
  <p:sldLayoutIdLst>
    <p:sldLayoutId id="2147484317" r:id="rId1"/>
    <p:sldLayoutId id="2147484318" r:id="rId2"/>
    <p:sldLayoutId id="2147484319" r:id="rId3"/>
    <p:sldLayoutId id="2147484320" r:id="rId4"/>
    <p:sldLayoutId id="2147484321" r:id="rId5"/>
    <p:sldLayoutId id="2147484322" r:id="rId6"/>
    <p:sldLayoutId id="2147484323" r:id="rId7"/>
    <p:sldLayoutId id="2147484324" r:id="rId8"/>
    <p:sldLayoutId id="2147484325" r:id="rId9"/>
    <p:sldLayoutId id="2147484326" r:id="rId10"/>
    <p:sldLayoutId id="2147484327" r:id="rId11"/>
    <p:sldLayoutId id="2147484328" r:id="rId12"/>
  </p:sldLayoutIdLst>
  <p:hf hdr="0" dt="0"/>
  <p:txStyles>
    <p:titleStyle>
      <a:lvl1pPr algn="l" rtl="0" eaLnBrk="0" fontAlgn="base" hangingPunct="0">
        <a:spcBef>
          <a:spcPct val="0"/>
        </a:spcBef>
        <a:spcAft>
          <a:spcPct val="0"/>
        </a:spcAft>
        <a:defRPr sz="4400">
          <a:solidFill>
            <a:srgbClr val="000099"/>
          </a:solidFill>
          <a:latin typeface="+mj-lt"/>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400">
          <a:solidFill>
            <a:srgbClr val="000099"/>
          </a:solidFill>
          <a:latin typeface="Gill Sans MT" pitchFamily="34" charset="0"/>
        </a:defRPr>
      </a:lvl6pPr>
      <a:lvl7pPr marL="914400" algn="l" rtl="0" eaLnBrk="0" fontAlgn="base" hangingPunct="0">
        <a:spcBef>
          <a:spcPct val="0"/>
        </a:spcBef>
        <a:spcAft>
          <a:spcPct val="0"/>
        </a:spcAft>
        <a:defRPr sz="4400">
          <a:solidFill>
            <a:srgbClr val="000099"/>
          </a:solidFill>
          <a:latin typeface="Gill Sans MT" pitchFamily="34" charset="0"/>
        </a:defRPr>
      </a:lvl7pPr>
      <a:lvl8pPr marL="1371600" algn="l" rtl="0" eaLnBrk="0" fontAlgn="base" hangingPunct="0">
        <a:spcBef>
          <a:spcPct val="0"/>
        </a:spcBef>
        <a:spcAft>
          <a:spcPct val="0"/>
        </a:spcAft>
        <a:defRPr sz="4400">
          <a:solidFill>
            <a:srgbClr val="000099"/>
          </a:solidFill>
          <a:latin typeface="Gill Sans MT" pitchFamily="34" charset="0"/>
        </a:defRPr>
      </a:lvl8pPr>
      <a:lvl9pPr marL="1828800" algn="l" rtl="0" eaLnBrk="0" fontAlgn="base" hangingPunct="0">
        <a:spcBef>
          <a:spcPct val="0"/>
        </a:spcBef>
        <a:spcAft>
          <a:spcPct val="0"/>
        </a:spcAft>
        <a:defRPr sz="4400">
          <a:solidFill>
            <a:srgbClr val="000099"/>
          </a:solidFill>
          <a:latin typeface="Gill Sans MT" pitchFamily="34" charset="0"/>
        </a:defRPr>
      </a:lvl9pPr>
    </p:titleStyle>
    <p:body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8F8DFCD-959E-DD4E-B084-7A8865C86475}"/>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Rectangle 3">
            <a:extLst>
              <a:ext uri="{FF2B5EF4-FFF2-40B4-BE49-F238E27FC236}">
                <a16:creationId xmlns:a16="http://schemas.microsoft.com/office/drawing/2014/main" id="{5937E409-678B-1643-A698-118F24E33DDA}"/>
              </a:ext>
            </a:extLst>
          </p:cNvPr>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693A073-6FDF-D849-A235-286A681FA567}"/>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solidFill>
                  <a:srgbClr val="000000"/>
                </a:solidFill>
                <a:latin typeface="Times New Roman" pitchFamily="-109" charset="0"/>
                <a:ea typeface="+mn-ea"/>
                <a:cs typeface="+mn-cs"/>
              </a:defRPr>
            </a:lvl1pPr>
          </a:lstStyle>
          <a:p>
            <a:pPr>
              <a:defRPr/>
            </a:pPr>
            <a:endParaRPr lang="en-US"/>
          </a:p>
        </p:txBody>
      </p:sp>
      <p:sp>
        <p:nvSpPr>
          <p:cNvPr id="1029" name="Rectangle 5">
            <a:extLst>
              <a:ext uri="{FF2B5EF4-FFF2-40B4-BE49-F238E27FC236}">
                <a16:creationId xmlns:a16="http://schemas.microsoft.com/office/drawing/2014/main" id="{D449FB01-8A15-AF43-90EF-688260F2099E}"/>
              </a:ext>
            </a:extLst>
          </p:cNvPr>
          <p:cNvSpPr>
            <a:spLocks noGrp="1" noChangeArrowheads="1"/>
          </p:cNvSpPr>
          <p:nvPr>
            <p:ph type="ftr" sz="quarter" idx="3"/>
          </p:nvPr>
        </p:nvSpPr>
        <p:spPr bwMode="auto">
          <a:xfrm>
            <a:off x="5576888" y="6445250"/>
            <a:ext cx="28956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rgbClr val="000000"/>
                </a:solidFill>
                <a:latin typeface="Tahoma" pitchFamily="34" charset="0"/>
                <a:ea typeface="+mn-ea"/>
                <a:cs typeface="+mn-cs"/>
              </a:defRPr>
            </a:lvl1pPr>
          </a:lstStyle>
          <a:p>
            <a:pPr>
              <a:defRPr/>
            </a:pPr>
            <a:r>
              <a:rPr lang="en-US"/>
              <a:t>Transport</a:t>
            </a:r>
            <a:r>
              <a:rPr lang="en-US" sz="1400"/>
              <a:t> </a:t>
            </a:r>
            <a:r>
              <a:rPr lang="en-US"/>
              <a:t>Layer</a:t>
            </a:r>
          </a:p>
        </p:txBody>
      </p:sp>
      <p:sp>
        <p:nvSpPr>
          <p:cNvPr id="1030" name="Rectangle 6">
            <a:extLst>
              <a:ext uri="{FF2B5EF4-FFF2-40B4-BE49-F238E27FC236}">
                <a16:creationId xmlns:a16="http://schemas.microsoft.com/office/drawing/2014/main" id="{071260C5-2AA4-A444-AB8F-8EC4847DFA7F}"/>
              </a:ext>
            </a:extLst>
          </p:cNvPr>
          <p:cNvSpPr>
            <a:spLocks noGrp="1" noChangeArrowheads="1"/>
          </p:cNvSpPr>
          <p:nvPr>
            <p:ph type="sldNum" sz="quarter" idx="4"/>
          </p:nvPr>
        </p:nvSpPr>
        <p:spPr bwMode="auto">
          <a:xfrm>
            <a:off x="8324850" y="6462713"/>
            <a:ext cx="676275"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rgbClr val="000000"/>
                </a:solidFill>
                <a:latin typeface="Tahoma" panose="020B0604030504040204" pitchFamily="34" charset="0"/>
              </a:defRPr>
            </a:lvl1pPr>
          </a:lstStyle>
          <a:p>
            <a:r>
              <a:rPr lang="en-US" altLang="en-US"/>
              <a:t>3-</a:t>
            </a:r>
            <a:fld id="{04EE5FE2-2D35-5C44-9FFA-AA52DD0F844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340" r:id="rId1"/>
    <p:sldLayoutId id="2147484341" r:id="rId2"/>
    <p:sldLayoutId id="2147484342" r:id="rId3"/>
    <p:sldLayoutId id="2147484343" r:id="rId4"/>
    <p:sldLayoutId id="2147484344" r:id="rId5"/>
    <p:sldLayoutId id="2147484345" r:id="rId6"/>
    <p:sldLayoutId id="2147484346" r:id="rId7"/>
    <p:sldLayoutId id="2147484347" r:id="rId8"/>
    <p:sldLayoutId id="2147484348" r:id="rId9"/>
    <p:sldLayoutId id="2147484349" r:id="rId10"/>
    <p:sldLayoutId id="2147484350" r:id="rId11"/>
  </p:sldLayoutIdLst>
  <p:hf hdr="0" dt="0"/>
  <p:txStyles>
    <p:titleStyle>
      <a:lvl1pPr algn="l" rtl="0" eaLnBrk="0" fontAlgn="base" hangingPunct="0">
        <a:spcBef>
          <a:spcPct val="0"/>
        </a:spcBef>
        <a:spcAft>
          <a:spcPct val="0"/>
        </a:spcAft>
        <a:defRPr sz="4400">
          <a:solidFill>
            <a:srgbClr val="000099"/>
          </a:solidFill>
          <a:latin typeface="+mj-lt"/>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400">
          <a:solidFill>
            <a:srgbClr val="000099"/>
          </a:solidFill>
          <a:latin typeface="Gill Sans MT" pitchFamily="34" charset="0"/>
        </a:defRPr>
      </a:lvl6pPr>
      <a:lvl7pPr marL="914400" algn="l" rtl="0" eaLnBrk="0" fontAlgn="base" hangingPunct="0">
        <a:spcBef>
          <a:spcPct val="0"/>
        </a:spcBef>
        <a:spcAft>
          <a:spcPct val="0"/>
        </a:spcAft>
        <a:defRPr sz="4400">
          <a:solidFill>
            <a:srgbClr val="000099"/>
          </a:solidFill>
          <a:latin typeface="Gill Sans MT" pitchFamily="34" charset="0"/>
        </a:defRPr>
      </a:lvl7pPr>
      <a:lvl8pPr marL="1371600" algn="l" rtl="0" eaLnBrk="0" fontAlgn="base" hangingPunct="0">
        <a:spcBef>
          <a:spcPct val="0"/>
        </a:spcBef>
        <a:spcAft>
          <a:spcPct val="0"/>
        </a:spcAft>
        <a:defRPr sz="4400">
          <a:solidFill>
            <a:srgbClr val="000099"/>
          </a:solidFill>
          <a:latin typeface="Gill Sans MT" pitchFamily="34" charset="0"/>
        </a:defRPr>
      </a:lvl8pPr>
      <a:lvl9pPr marL="1828800" algn="l" rtl="0" eaLnBrk="0" fontAlgn="base" hangingPunct="0">
        <a:spcBef>
          <a:spcPct val="0"/>
        </a:spcBef>
        <a:spcAft>
          <a:spcPct val="0"/>
        </a:spcAft>
        <a:defRPr sz="4400">
          <a:solidFill>
            <a:srgbClr val="000099"/>
          </a:solidFill>
          <a:latin typeface="Gill Sans MT" pitchFamily="34" charset="0"/>
        </a:defRPr>
      </a:lvl9pPr>
    </p:titleStyle>
    <p:body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32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Wingdings" pitchFamily="2" charset="2"/>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ms-MY"/>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ms-MY"/>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A77E20-044B-4A94-A4A7-263AB589D0FB}" type="datetimeFigureOut">
              <a:rPr lang="ms-MY" smtClean="0"/>
              <a:t>21/11/2024</a:t>
            </a:fld>
            <a:endParaRPr lang="ms-MY"/>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ms-MY"/>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0AD7DF-BA32-4F66-9B19-8D3B3E5A388A}" type="slidenum">
              <a:rPr lang="ms-MY" smtClean="0"/>
              <a:t>‹#›</a:t>
            </a:fld>
            <a:endParaRPr lang="ms-MY"/>
          </a:p>
        </p:txBody>
      </p:sp>
    </p:spTree>
    <p:extLst>
      <p:ext uri="{BB962C8B-B14F-4D97-AF65-F5344CB8AC3E}">
        <p14:creationId xmlns:p14="http://schemas.microsoft.com/office/powerpoint/2010/main" val="4037560042"/>
      </p:ext>
    </p:extLst>
  </p:cSld>
  <p:clrMap bg1="lt1" tx1="dk1" bg2="lt2" tx2="dk2" accent1="accent1" accent2="accent2" accent3="accent3" accent4="accent4" accent5="accent5" accent6="accent6" hlink="hlink" folHlink="folHlink"/>
  <p:sldLayoutIdLst>
    <p:sldLayoutId id="2147484352" r:id="rId1"/>
    <p:sldLayoutId id="2147484353" r:id="rId2"/>
    <p:sldLayoutId id="2147484354" r:id="rId3"/>
    <p:sldLayoutId id="2147484355" r:id="rId4"/>
    <p:sldLayoutId id="2147484356" r:id="rId5"/>
    <p:sldLayoutId id="2147484357" r:id="rId6"/>
    <p:sldLayoutId id="2147484358" r:id="rId7"/>
    <p:sldLayoutId id="2147484359" r:id="rId8"/>
    <p:sldLayoutId id="2147484360" r:id="rId9"/>
    <p:sldLayoutId id="2147484361" r:id="rId10"/>
    <p:sldLayoutId id="214748436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ms-M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png"/><Relationship Id="rId21" Type="http://schemas.openxmlformats.org/officeDocument/2006/relationships/image" Target="../media/image2.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0.png"/><Relationship Id="rId7" Type="http://schemas.openxmlformats.org/officeDocument/2006/relationships/diagramColors" Target="../diagrams/colors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jpg"/></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5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6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8.png"/></Relationships>
</file>

<file path=ppt/slides/_rels/slide7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58.png"/></Relationships>
</file>

<file path=ppt/slides/_rels/slide7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7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8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58.png"/></Relationships>
</file>

<file path=ppt/slides/_rels/slide88.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89.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43.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9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9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58.png"/></Relationships>
</file>

<file path=ppt/slides/_rels/slide10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0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0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0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1.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10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0.png"/><Relationship Id="rId4" Type="http://schemas.openxmlformats.org/officeDocument/2006/relationships/image" Target="../media/image69.png"/></Relationships>
</file>

<file path=ppt/slides/_rels/slide10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0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0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10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10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0.png"/></Relationships>
</file>

<file path=ppt/slides/_rels/slide11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11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6.png"/></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63.png"/></Relationships>
</file>

<file path=ppt/slides/_rels/slide1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1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1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4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1.xm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6">
            <a:extLst>
              <a:ext uri="{FF2B5EF4-FFF2-40B4-BE49-F238E27FC236}">
                <a16:creationId xmlns:a16="http://schemas.microsoft.com/office/drawing/2014/main" id="{84D7680F-B09A-6F48-B184-99BE94AFF5B9}"/>
              </a:ext>
            </a:extLst>
          </p:cNvPr>
          <p:cNvSpPr txBox="1">
            <a:spLocks noChangeArrowheads="1"/>
          </p:cNvSpPr>
          <p:nvPr/>
        </p:nvSpPr>
        <p:spPr bwMode="auto">
          <a:xfrm>
            <a:off x="369888" y="3241675"/>
            <a:ext cx="5378450"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A note on the use of these Powerpoint slides:</a:t>
            </a:r>
          </a:p>
          <a:p>
            <a:r>
              <a:rPr lang="en-US" altLang="en-US" sz="1200"/>
              <a:t>We</a:t>
            </a:r>
            <a:r>
              <a:rPr lang="ja-JP" altLang="en-US" sz="1200"/>
              <a:t>’</a:t>
            </a:r>
            <a:r>
              <a:rPr lang="en-US" altLang="ja-JP" sz="1200"/>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200" i="1"/>
              <a:t>lot</a:t>
            </a:r>
            <a:r>
              <a:rPr lang="en-US" altLang="ja-JP" sz="1200"/>
              <a:t> of work on our part. In return for use, we only ask the following:</a:t>
            </a:r>
          </a:p>
          <a:p>
            <a:pPr>
              <a:lnSpc>
                <a:spcPct val="85000"/>
              </a:lnSpc>
            </a:pPr>
            <a:endParaRPr lang="en-US" altLang="en-US" sz="1400"/>
          </a:p>
        </p:txBody>
      </p:sp>
      <p:sp>
        <p:nvSpPr>
          <p:cNvPr id="38916" name="Text Box 7">
            <a:extLst>
              <a:ext uri="{FF2B5EF4-FFF2-40B4-BE49-F238E27FC236}">
                <a16:creationId xmlns:a16="http://schemas.microsoft.com/office/drawing/2014/main" id="{2206AA3E-A63C-CF41-8A57-719782018641}"/>
              </a:ext>
            </a:extLst>
          </p:cNvPr>
          <p:cNvSpPr txBox="1">
            <a:spLocks noChangeArrowheads="1"/>
          </p:cNvSpPr>
          <p:nvPr/>
        </p:nvSpPr>
        <p:spPr bwMode="auto">
          <a:xfrm>
            <a:off x="390525" y="4370388"/>
            <a:ext cx="537845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1400">
              <a:latin typeface="Gill Sans MT" panose="020B0502020104020203" pitchFamily="34" charset="77"/>
            </a:endParaRPr>
          </a:p>
          <a:p>
            <a:pPr>
              <a:buClr>
                <a:srgbClr val="000099"/>
              </a:buClr>
              <a:buSzPct val="100000"/>
              <a:buFont typeface="Wingdings" pitchFamily="2" charset="2"/>
              <a:buChar char="§"/>
            </a:pPr>
            <a:r>
              <a:rPr lang="en-US" altLang="en-US" sz="1200"/>
              <a:t>If you use these slides (e.g., in a class) that you mention their source (after all, we</a:t>
            </a:r>
            <a:r>
              <a:rPr lang="ja-JP" altLang="en-US" sz="1200"/>
              <a:t>’</a:t>
            </a:r>
            <a:r>
              <a:rPr lang="en-US" altLang="ja-JP" sz="1200"/>
              <a:t>d like people to use our book!)</a:t>
            </a:r>
          </a:p>
          <a:p>
            <a:pPr>
              <a:buClr>
                <a:srgbClr val="000099"/>
              </a:buClr>
              <a:buSzPct val="100000"/>
              <a:buFont typeface="Wingdings" pitchFamily="2" charset="2"/>
              <a:buChar char="§"/>
            </a:pPr>
            <a:r>
              <a:rPr lang="en-US" altLang="en-US" sz="1200"/>
              <a:t>If you post any slides on a www site, that you note that they are adapted from (or perhaps identical to) our slides, and note our copyright of this material.</a:t>
            </a:r>
          </a:p>
          <a:p>
            <a:pPr>
              <a:buClr>
                <a:schemeClr val="accent2"/>
              </a:buClr>
              <a:buFont typeface="Wingdings" pitchFamily="2" charset="2"/>
              <a:buChar char="q"/>
            </a:pPr>
            <a:endParaRPr lang="en-US" altLang="en-US" sz="1200"/>
          </a:p>
          <a:p>
            <a:pPr>
              <a:lnSpc>
                <a:spcPct val="85000"/>
              </a:lnSpc>
              <a:buClr>
                <a:schemeClr val="accent2"/>
              </a:buClr>
              <a:buFont typeface="Wingdings" pitchFamily="2" charset="2"/>
              <a:buNone/>
            </a:pPr>
            <a:r>
              <a:rPr lang="en-US" altLang="en-US" sz="1200"/>
              <a:t>Thanks and enjoy!  JFK/KWR</a:t>
            </a:r>
          </a:p>
          <a:p>
            <a:pPr>
              <a:lnSpc>
                <a:spcPct val="85000"/>
              </a:lnSpc>
            </a:pPr>
            <a:endParaRPr lang="en-US" altLang="en-US" sz="1200"/>
          </a:p>
          <a:p>
            <a:r>
              <a:rPr lang="en-US" altLang="en-US" sz="1200"/>
              <a:t>     All material copyright 1996-2016</a:t>
            </a:r>
          </a:p>
          <a:p>
            <a:r>
              <a:rPr lang="en-US" altLang="en-US" sz="1200"/>
              <a:t>     J.F Kurose and K.W. Ross, All Rights Reserved</a:t>
            </a:r>
          </a:p>
        </p:txBody>
      </p:sp>
      <p:pic>
        <p:nvPicPr>
          <p:cNvPr id="38917" name="Picture 8">
            <a:extLst>
              <a:ext uri="{FF2B5EF4-FFF2-40B4-BE49-F238E27FC236}">
                <a16:creationId xmlns:a16="http://schemas.microsoft.com/office/drawing/2014/main" id="{FBDF0FB8-86FA-B04C-86D7-639B8583D6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963" y="6146800"/>
            <a:ext cx="187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Rectangle 3">
            <a:extLst>
              <a:ext uri="{FF2B5EF4-FFF2-40B4-BE49-F238E27FC236}">
                <a16:creationId xmlns:a16="http://schemas.microsoft.com/office/drawing/2014/main" id="{876A5EBA-0702-6C47-BAEE-A4EADA1D3E77}"/>
              </a:ext>
            </a:extLst>
          </p:cNvPr>
          <p:cNvSpPr>
            <a:spLocks noChangeArrowheads="1"/>
          </p:cNvSpPr>
          <p:nvPr/>
        </p:nvSpPr>
        <p:spPr bwMode="auto">
          <a:xfrm>
            <a:off x="371475" y="715963"/>
            <a:ext cx="4487863"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4400">
                <a:solidFill>
                  <a:srgbClr val="000099"/>
                </a:solidFill>
                <a:latin typeface="Gill Sans MT" panose="020B0502020104020203" pitchFamily="34" charset="77"/>
                <a:cs typeface="Arial" panose="020B0604020202020204" pitchFamily="34" charset="0"/>
              </a:rPr>
              <a:t>Chapter 4</a:t>
            </a:r>
            <a:br>
              <a:rPr lang="en-US" altLang="en-US" sz="4800">
                <a:solidFill>
                  <a:srgbClr val="000099"/>
                </a:solidFill>
                <a:latin typeface="Gill Sans MT" panose="020B0502020104020203" pitchFamily="34" charset="77"/>
                <a:cs typeface="Arial" panose="020B0604020202020204" pitchFamily="34" charset="0"/>
              </a:rPr>
            </a:br>
            <a:r>
              <a:rPr lang="en-US" altLang="en-US" sz="4400">
                <a:solidFill>
                  <a:srgbClr val="000099"/>
                </a:solidFill>
                <a:latin typeface="Gill Sans MT" panose="020B0502020104020203" pitchFamily="34" charset="77"/>
                <a:cs typeface="Arial" panose="020B0604020202020204" pitchFamily="34" charset="0"/>
              </a:rPr>
              <a:t>Network Layer:</a:t>
            </a:r>
          </a:p>
          <a:p>
            <a:pPr eaLnBrk="1" hangingPunct="1">
              <a:lnSpc>
                <a:spcPct val="85000"/>
              </a:lnSpc>
            </a:pPr>
            <a:r>
              <a:rPr lang="en-US" altLang="en-US" sz="4400">
                <a:solidFill>
                  <a:srgbClr val="000099"/>
                </a:solidFill>
                <a:latin typeface="Gill Sans MT" panose="020B0502020104020203" pitchFamily="34" charset="77"/>
                <a:cs typeface="Arial" panose="020B0604020202020204" pitchFamily="34" charset="0"/>
              </a:rPr>
              <a:t>The Data Plane</a:t>
            </a:r>
          </a:p>
        </p:txBody>
      </p:sp>
      <p:pic>
        <p:nvPicPr>
          <p:cNvPr id="38920" name="Picture 9" descr="underline_base">
            <a:extLst>
              <a:ext uri="{FF2B5EF4-FFF2-40B4-BE49-F238E27FC236}">
                <a16:creationId xmlns:a16="http://schemas.microsoft.com/office/drawing/2014/main" id="{FAE235D2-78D2-A744-BC29-51E48BA685B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38" y="2389188"/>
            <a:ext cx="3890962"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1" name="Slide Number Placeholder 5">
            <a:extLst>
              <a:ext uri="{FF2B5EF4-FFF2-40B4-BE49-F238E27FC236}">
                <a16:creationId xmlns:a16="http://schemas.microsoft.com/office/drawing/2014/main" id="{72693DB0-E310-F042-A35B-604C35778E2E}"/>
              </a:ext>
            </a:extLst>
          </p:cNvPr>
          <p:cNvSpPr>
            <a:spLocks noGrp="1"/>
          </p:cNvSpPr>
          <p:nvPr>
            <p:ph type="sldNum" sz="quarter" idx="12"/>
          </p:nvPr>
        </p:nvSpPr>
        <p:spPr>
          <a:xfrm>
            <a:off x="8456613" y="6475413"/>
            <a:ext cx="458787"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593A9ED0-F32E-204D-B413-0FE569DCE869}" type="slidenum">
              <a:rPr lang="en-US" altLang="en-US">
                <a:latin typeface="Tahoma" panose="020B0604030504040204" pitchFamily="34" charset="0"/>
              </a:rPr>
              <a:pPr/>
              <a:t>1</a:t>
            </a:fld>
            <a:endParaRPr lang="en-US" altLang="en-US">
              <a:latin typeface="Tahoma" panose="020B0604030504040204" pitchFamily="34" charset="0"/>
            </a:endParaRPr>
          </a:p>
        </p:txBody>
      </p:sp>
      <p:sp>
        <p:nvSpPr>
          <p:cNvPr id="38922" name="Footer Placeholder 2">
            <a:extLst>
              <a:ext uri="{FF2B5EF4-FFF2-40B4-BE49-F238E27FC236}">
                <a16:creationId xmlns:a16="http://schemas.microsoft.com/office/drawing/2014/main" id="{8209A423-5703-A846-A73B-DF8B61659C9D}"/>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
        <p:nvSpPr>
          <p:cNvPr id="12" name="Rectangle 11">
            <a:extLst>
              <a:ext uri="{FF2B5EF4-FFF2-40B4-BE49-F238E27FC236}">
                <a16:creationId xmlns:a16="http://schemas.microsoft.com/office/drawing/2014/main" id="{80AB3C7A-1F3F-6845-8577-B0F8229C00D2}"/>
              </a:ext>
            </a:extLst>
          </p:cNvPr>
          <p:cNvSpPr>
            <a:spLocks noChangeArrowheads="1"/>
          </p:cNvSpPr>
          <p:nvPr/>
        </p:nvSpPr>
        <p:spPr bwMode="auto">
          <a:xfrm>
            <a:off x="5680118" y="3891446"/>
            <a:ext cx="3321007"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endParaRPr lang="en-US" altLang="en-US" sz="2000" dirty="0">
              <a:latin typeface="+mn-lt"/>
            </a:endParaRPr>
          </a:p>
        </p:txBody>
      </p:sp>
      <p:pic>
        <p:nvPicPr>
          <p:cNvPr id="13" name="Picture 12" descr="A picture containing outdoor, water, bridge, building&#10;&#10;Description automatically generated">
            <a:extLst>
              <a:ext uri="{FF2B5EF4-FFF2-40B4-BE49-F238E27FC236}">
                <a16:creationId xmlns:a16="http://schemas.microsoft.com/office/drawing/2014/main" id="{91B44A3E-9CC4-F846-8B89-8AB7FA6DFC6C}"/>
              </a:ext>
            </a:extLst>
          </p:cNvPr>
          <p:cNvPicPr>
            <a:picLocks noChangeAspect="1"/>
          </p:cNvPicPr>
          <p:nvPr/>
        </p:nvPicPr>
        <p:blipFill>
          <a:blip r:embed="rId4"/>
          <a:stretch>
            <a:fillRect/>
          </a:stretch>
        </p:blipFill>
        <p:spPr>
          <a:xfrm>
            <a:off x="5748338" y="488723"/>
            <a:ext cx="3040743" cy="38009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7" descr="underline_base">
            <a:extLst>
              <a:ext uri="{FF2B5EF4-FFF2-40B4-BE49-F238E27FC236}">
                <a16:creationId xmlns:a16="http://schemas.microsoft.com/office/drawing/2014/main" id="{11D07FAC-CC25-334B-8742-C25E83B8F37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1027113"/>
            <a:ext cx="5942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Rectangle 2">
            <a:extLst>
              <a:ext uri="{FF2B5EF4-FFF2-40B4-BE49-F238E27FC236}">
                <a16:creationId xmlns:a16="http://schemas.microsoft.com/office/drawing/2014/main" id="{90E2F111-0712-DA4D-9ACC-F98B78D5C478}"/>
              </a:ext>
            </a:extLst>
          </p:cNvPr>
          <p:cNvSpPr>
            <a:spLocks noGrp="1" noChangeArrowheads="1"/>
          </p:cNvSpPr>
          <p:nvPr>
            <p:ph type="title"/>
          </p:nvPr>
        </p:nvSpPr>
        <p:spPr/>
        <p:txBody>
          <a:bodyPr/>
          <a:lstStyle/>
          <a:p>
            <a:pPr>
              <a:defRPr/>
            </a:pPr>
            <a:r>
              <a:rPr lang="en-US">
                <a:cs typeface="+mj-cs"/>
              </a:rPr>
              <a:t>Chapter 4: network layer</a:t>
            </a:r>
          </a:p>
        </p:txBody>
      </p:sp>
      <p:sp>
        <p:nvSpPr>
          <p:cNvPr id="2054" name="Rectangle 3">
            <a:extLst>
              <a:ext uri="{FF2B5EF4-FFF2-40B4-BE49-F238E27FC236}">
                <a16:creationId xmlns:a16="http://schemas.microsoft.com/office/drawing/2014/main" id="{5B62C21A-442B-5148-B1CB-ED0C86D2A5A8}"/>
              </a:ext>
            </a:extLst>
          </p:cNvPr>
          <p:cNvSpPr>
            <a:spLocks noGrp="1" noChangeArrowheads="1"/>
          </p:cNvSpPr>
          <p:nvPr>
            <p:ph type="body" idx="1"/>
          </p:nvPr>
        </p:nvSpPr>
        <p:spPr>
          <a:xfrm>
            <a:off x="533400" y="1362075"/>
            <a:ext cx="8064500" cy="5238750"/>
          </a:xfrm>
        </p:spPr>
        <p:txBody>
          <a:bodyPr/>
          <a:lstStyle/>
          <a:p>
            <a:pPr>
              <a:buFont typeface="Wingdings" charset="0"/>
              <a:buNone/>
              <a:defRPr/>
            </a:pPr>
            <a:r>
              <a:rPr lang="en-US" sz="3200" i="1" dirty="0">
                <a:solidFill>
                  <a:srgbClr val="CC0000"/>
                </a:solidFill>
                <a:cs typeface="+mn-cs"/>
              </a:rPr>
              <a:t>chapter goals:</a:t>
            </a:r>
            <a:r>
              <a:rPr lang="en-US" sz="3200" dirty="0">
                <a:solidFill>
                  <a:srgbClr val="CC0000"/>
                </a:solidFill>
                <a:cs typeface="+mn-cs"/>
              </a:rPr>
              <a:t> </a:t>
            </a:r>
          </a:p>
          <a:p>
            <a:pPr>
              <a:buFont typeface="Wingdings" charset="2"/>
              <a:buChar char="§"/>
              <a:defRPr/>
            </a:pPr>
            <a:r>
              <a:rPr lang="en-US" dirty="0">
                <a:cs typeface="+mn-cs"/>
              </a:rPr>
              <a:t>understand principles behind network layer services, focusing on data plane:</a:t>
            </a:r>
          </a:p>
          <a:p>
            <a:pPr lvl="1">
              <a:buFont typeface="Arial"/>
              <a:buChar char="•"/>
              <a:defRPr/>
            </a:pPr>
            <a:r>
              <a:rPr lang="en-US" dirty="0"/>
              <a:t>network layer service models</a:t>
            </a:r>
          </a:p>
          <a:p>
            <a:pPr lvl="1">
              <a:buFont typeface="Arial"/>
              <a:buChar char="•"/>
              <a:defRPr/>
            </a:pPr>
            <a:r>
              <a:rPr lang="en-US" dirty="0"/>
              <a:t>forwarding versus routing</a:t>
            </a:r>
          </a:p>
          <a:p>
            <a:pPr lvl="1">
              <a:buFont typeface="Arial"/>
              <a:buChar char="•"/>
              <a:defRPr/>
            </a:pPr>
            <a:r>
              <a:rPr lang="en-US" dirty="0"/>
              <a:t>how a router works</a:t>
            </a:r>
          </a:p>
          <a:p>
            <a:pPr lvl="1">
              <a:buFont typeface="Arial"/>
              <a:buChar char="•"/>
              <a:defRPr/>
            </a:pPr>
            <a:r>
              <a:rPr lang="en-US" dirty="0"/>
              <a:t>addressing</a:t>
            </a:r>
          </a:p>
          <a:p>
            <a:pPr lvl="1">
              <a:buFont typeface="Arial"/>
              <a:buChar char="•"/>
              <a:defRPr/>
            </a:pPr>
            <a:r>
              <a:rPr lang="en-US" dirty="0"/>
              <a:t>generalized forwarding</a:t>
            </a:r>
          </a:p>
          <a:p>
            <a:pPr>
              <a:buFont typeface="Wingdings" charset="2"/>
              <a:buChar char="§"/>
              <a:defRPr/>
            </a:pPr>
            <a:r>
              <a:rPr lang="en-US" dirty="0">
                <a:cs typeface="+mn-cs"/>
              </a:rPr>
              <a:t>instantiation, implementation in the Internet</a:t>
            </a:r>
          </a:p>
          <a:p>
            <a:pPr lvl="1"/>
            <a:r>
              <a:rPr lang="en-US" sz="2800" dirty="0"/>
              <a:t>IP protocol</a:t>
            </a:r>
          </a:p>
          <a:p>
            <a:pPr lvl="1"/>
            <a:r>
              <a:rPr lang="en-US" sz="2800" dirty="0"/>
              <a:t>NAT</a:t>
            </a:r>
          </a:p>
          <a:p>
            <a:r>
              <a:rPr lang="en-MY" dirty="0">
                <a:cs typeface="+mn-cs"/>
              </a:rPr>
              <a:t>Generalized Forwarding and SDN</a:t>
            </a:r>
            <a:endParaRPr lang="en-US" dirty="0">
              <a:cs typeface="+mn-cs"/>
            </a:endParaRPr>
          </a:p>
          <a:p>
            <a:pPr>
              <a:buFont typeface="Wingdings" charset="2"/>
              <a:buChar char="§"/>
              <a:defRPr/>
            </a:pPr>
            <a:endParaRPr lang="en-US" dirty="0">
              <a:cs typeface="+mn-cs"/>
            </a:endParaRPr>
          </a:p>
        </p:txBody>
      </p:sp>
      <p:sp>
        <p:nvSpPr>
          <p:cNvPr id="40965"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456613" y="6475413"/>
            <a:ext cx="458787"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2</a:t>
            </a:fld>
            <a:endParaRPr lang="en-US" altLang="en-US" dirty="0">
              <a:latin typeface="Tahoma" panose="020B0604030504040204" pitchFamily="34" charset="0"/>
            </a:endParaRPr>
          </a:p>
        </p:txBody>
      </p:sp>
      <p:sp>
        <p:nvSpPr>
          <p:cNvPr id="40966" name="Footer Placeholder 2">
            <a:extLst>
              <a:ext uri="{FF2B5EF4-FFF2-40B4-BE49-F238E27FC236}">
                <a16:creationId xmlns:a16="http://schemas.microsoft.com/office/drawing/2014/main" id="{68C9600E-145A-004E-AD22-59C1AC96D876}"/>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dirty="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5"/>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a:latin typeface="Tahoma" pitchFamily="34" charset="0"/>
              </a:rPr>
              <a:t>4-</a:t>
            </a:r>
            <a:fld id="{CE1A20F8-21BF-4251-83D5-2E91FB3B06E9}" type="slidenum">
              <a:rPr lang="en-US" altLang="en-US" smtClean="0">
                <a:latin typeface="Tahoma" pitchFamily="34" charset="0"/>
              </a:rPr>
              <a:pPr/>
              <a:t>3</a:t>
            </a:fld>
            <a:endParaRPr lang="en-US" altLang="en-US">
              <a:latin typeface="Tahoma" pitchFamily="34" charset="0"/>
            </a:endParaRPr>
          </a:p>
        </p:txBody>
      </p:sp>
      <p:pic>
        <p:nvPicPr>
          <p:cNvPr id="4101" name="Picture 11" descr="http://www.microsoft.com/library/media/1033/windowsxp/images/using/networking/setup/68573-connect-to-router-smal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9707" y="2571588"/>
            <a:ext cx="3669266" cy="27815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54" name="Rectangle 3"/>
          <p:cNvSpPr>
            <a:spLocks noGrp="1" noChangeArrowheads="1"/>
          </p:cNvSpPr>
          <p:nvPr>
            <p:ph type="body" idx="1"/>
          </p:nvPr>
        </p:nvSpPr>
        <p:spPr>
          <a:xfrm>
            <a:off x="414688" y="1659120"/>
            <a:ext cx="4666359" cy="2139884"/>
          </a:xfrm>
          <a:ln>
            <a:solidFill>
              <a:srgbClr val="00B0F0"/>
            </a:solidFill>
          </a:ln>
        </p:spPr>
        <p:txBody>
          <a:bodyPr/>
          <a:lstStyle/>
          <a:p>
            <a:pPr>
              <a:lnSpc>
                <a:spcPct val="100000"/>
              </a:lnSpc>
              <a:buFont typeface="Wingdings" charset="0"/>
              <a:buChar char="v"/>
              <a:defRPr/>
            </a:pPr>
            <a:endParaRPr lang="en-MY" sz="2200" dirty="0">
              <a:latin typeface="Arial" panose="020B0604020202020204" pitchFamily="34" charset="0"/>
              <a:cs typeface="Arial" panose="020B0604020202020204" pitchFamily="34" charset="0"/>
            </a:endParaRPr>
          </a:p>
          <a:p>
            <a:pPr>
              <a:lnSpc>
                <a:spcPct val="100000"/>
              </a:lnSpc>
              <a:buFont typeface="Wingdings" charset="0"/>
              <a:buChar char="v"/>
              <a:defRPr/>
            </a:pPr>
            <a:r>
              <a:rPr lang="en-MY" sz="2200" dirty="0">
                <a:latin typeface="Arial" panose="020B0604020202020204" pitchFamily="34" charset="0"/>
                <a:cs typeface="Arial" panose="020B0604020202020204" pitchFamily="34" charset="0"/>
              </a:rPr>
              <a:t>Provides various forms of </a:t>
            </a:r>
            <a:r>
              <a:rPr lang="en-MY" sz="2200" dirty="0">
                <a:solidFill>
                  <a:srgbClr val="00B0F0"/>
                </a:solidFill>
                <a:latin typeface="Arial" panose="020B0604020202020204" pitchFamily="34" charset="0"/>
                <a:cs typeface="Arial" panose="020B0604020202020204" pitchFamily="34" charset="0"/>
              </a:rPr>
              <a:t>process-to-process communication</a:t>
            </a:r>
            <a:r>
              <a:rPr lang="en-MY" sz="2200" dirty="0">
                <a:latin typeface="Arial" panose="020B0604020202020204" pitchFamily="34" charset="0"/>
                <a:cs typeface="Arial" panose="020B0604020202020204" pitchFamily="34" charset="0"/>
              </a:rPr>
              <a:t> by relying on the network layer’s host-to-host communication service.</a:t>
            </a:r>
          </a:p>
          <a:p>
            <a:pPr>
              <a:lnSpc>
                <a:spcPct val="100000"/>
              </a:lnSpc>
              <a:buFont typeface="Wingdings" charset="0"/>
              <a:buChar char="v"/>
              <a:defRPr/>
            </a:pPr>
            <a:endParaRPr lang="en-US" sz="2200" dirty="0">
              <a:latin typeface="Arial" panose="020B0604020202020204" pitchFamily="34" charset="0"/>
              <a:cs typeface="Arial" panose="020B0604020202020204" pitchFamily="34" charset="0"/>
            </a:endParaRPr>
          </a:p>
        </p:txBody>
      </p:sp>
      <p:sp>
        <p:nvSpPr>
          <p:cNvPr id="8" name="Rectangle 2"/>
          <p:cNvSpPr txBox="1">
            <a:spLocks noChangeArrowheads="1"/>
          </p:cNvSpPr>
          <p:nvPr/>
        </p:nvSpPr>
        <p:spPr bwMode="auto">
          <a:xfrm>
            <a:off x="1823167" y="170854"/>
            <a:ext cx="7320835"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tx1"/>
                </a:solidFill>
                <a:latin typeface="Arial"/>
                <a:ea typeface="ＭＳ Ｐゴシック" pitchFamily="34" charset="-128"/>
                <a:cs typeface="Arial"/>
              </a:rPr>
              <a:t>The Network Layer</a:t>
            </a:r>
          </a:p>
        </p:txBody>
      </p:sp>
      <p:sp>
        <p:nvSpPr>
          <p:cNvPr id="9" name="Title 41">
            <a:extLst>
              <a:ext uri="{FF2B5EF4-FFF2-40B4-BE49-F238E27FC236}">
                <a16:creationId xmlns:a16="http://schemas.microsoft.com/office/drawing/2014/main" id="{65FF4264-7B8E-FE49-BA92-14727F79282A}"/>
              </a:ext>
            </a:extLst>
          </p:cNvPr>
          <p:cNvSpPr txBox="1">
            <a:spLocks/>
          </p:cNvSpPr>
          <p:nvPr/>
        </p:nvSpPr>
        <p:spPr bwMode="auto">
          <a:xfrm>
            <a:off x="1361105" y="923894"/>
            <a:ext cx="7772400" cy="4354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400" dirty="0">
                <a:solidFill>
                  <a:srgbClr val="00B9FA"/>
                </a:solidFill>
                <a:latin typeface="Arial"/>
                <a:ea typeface="ＭＳ Ｐゴシック" pitchFamily="34" charset="-128"/>
                <a:cs typeface="Arial"/>
              </a:rPr>
              <a:t>Overview</a:t>
            </a:r>
          </a:p>
        </p:txBody>
      </p:sp>
      <p:sp>
        <p:nvSpPr>
          <p:cNvPr id="14" name="Rectangle 3">
            <a:extLst>
              <a:ext uri="{FF2B5EF4-FFF2-40B4-BE49-F238E27FC236}">
                <a16:creationId xmlns:a16="http://schemas.microsoft.com/office/drawing/2014/main" id="{DE68F4B6-3D97-6140-B053-33E7EC8C1B41}"/>
              </a:ext>
            </a:extLst>
          </p:cNvPr>
          <p:cNvSpPr txBox="1">
            <a:spLocks noChangeArrowheads="1"/>
          </p:cNvSpPr>
          <p:nvPr/>
        </p:nvSpPr>
        <p:spPr bwMode="auto">
          <a:xfrm>
            <a:off x="1571339" y="1462263"/>
            <a:ext cx="2353056" cy="393714"/>
          </a:xfrm>
          <a:prstGeom prst="rect">
            <a:avLst/>
          </a:prstGeom>
          <a:solidFill>
            <a:schemeClr val="bg1"/>
          </a:solidFill>
          <a:ln>
            <a:solidFill>
              <a:srgbClr val="00B0F0"/>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gn="ctr">
              <a:lnSpc>
                <a:spcPct val="100000"/>
              </a:lnSpc>
              <a:buNone/>
              <a:defRPr/>
            </a:pPr>
            <a:r>
              <a:rPr lang="en-MY" sz="2200" b="1" kern="0" dirty="0">
                <a:latin typeface="Arial" panose="020B0604020202020204" pitchFamily="34" charset="0"/>
                <a:cs typeface="Arial" panose="020B0604020202020204" pitchFamily="34" charset="0"/>
              </a:rPr>
              <a:t>Transport layer</a:t>
            </a:r>
            <a:endParaRPr lang="en-US" sz="2200" kern="0"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13C190BE-6C87-4745-A24B-D03AEEEDC67A}"/>
              </a:ext>
            </a:extLst>
          </p:cNvPr>
          <p:cNvGrpSpPr/>
          <p:nvPr/>
        </p:nvGrpSpPr>
        <p:grpSpPr>
          <a:xfrm>
            <a:off x="414688" y="4222390"/>
            <a:ext cx="4666359" cy="2150133"/>
            <a:chOff x="414688" y="4222390"/>
            <a:chExt cx="4666359" cy="2150133"/>
          </a:xfrm>
        </p:grpSpPr>
        <p:sp>
          <p:nvSpPr>
            <p:cNvPr id="13" name="Rectangle 3">
              <a:extLst>
                <a:ext uri="{FF2B5EF4-FFF2-40B4-BE49-F238E27FC236}">
                  <a16:creationId xmlns:a16="http://schemas.microsoft.com/office/drawing/2014/main" id="{5BC6F159-ACB3-0247-88D5-2D64C6ADD149}"/>
                </a:ext>
              </a:extLst>
            </p:cNvPr>
            <p:cNvSpPr txBox="1">
              <a:spLocks noChangeArrowheads="1"/>
            </p:cNvSpPr>
            <p:nvPr/>
          </p:nvSpPr>
          <p:spPr bwMode="auto">
            <a:xfrm>
              <a:off x="414688" y="4421175"/>
              <a:ext cx="4666359" cy="1951348"/>
            </a:xfrm>
            <a:prstGeom prst="rect">
              <a:avLst/>
            </a:prstGeom>
            <a:noFill/>
            <a:ln>
              <a:solidFill>
                <a:srgbClr val="00B0F0"/>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a:lnSpc>
                  <a:spcPct val="100000"/>
                </a:lnSpc>
                <a:buFont typeface="Wingdings" charset="0"/>
                <a:buChar char="v"/>
                <a:defRPr/>
              </a:pPr>
              <a:endParaRPr lang="en-MY" sz="2200" kern="0" dirty="0">
                <a:latin typeface="Arial" panose="020B0604020202020204" pitchFamily="34" charset="0"/>
                <a:cs typeface="Arial" panose="020B0604020202020204" pitchFamily="34" charset="0"/>
              </a:endParaRPr>
            </a:p>
            <a:p>
              <a:pPr>
                <a:lnSpc>
                  <a:spcPct val="100000"/>
                </a:lnSpc>
                <a:buFont typeface="Wingdings" charset="0"/>
                <a:buChar char="v"/>
                <a:defRPr/>
              </a:pPr>
              <a:r>
                <a:rPr lang="en-MY" sz="2200" kern="0" dirty="0">
                  <a:latin typeface="Arial" panose="020B0604020202020204" pitchFamily="34" charset="0"/>
                  <a:cs typeface="Arial" panose="020B0604020202020204" pitchFamily="34" charset="0"/>
                </a:rPr>
                <a:t>Can provide its </a:t>
              </a:r>
              <a:r>
                <a:rPr lang="en-MY" sz="2200" kern="0" dirty="0">
                  <a:solidFill>
                    <a:srgbClr val="00B0F0"/>
                  </a:solidFill>
                  <a:latin typeface="Arial" panose="020B0604020202020204" pitchFamily="34" charset="0"/>
                  <a:cs typeface="Arial" panose="020B0604020202020204" pitchFamily="34" charset="0"/>
                </a:rPr>
                <a:t>host-to-host communication</a:t>
              </a:r>
              <a:r>
                <a:rPr lang="en-MY" sz="2200" kern="0" dirty="0">
                  <a:latin typeface="Arial" panose="020B0604020202020204" pitchFamily="34" charset="0"/>
                  <a:cs typeface="Arial" panose="020B0604020202020204" pitchFamily="34" charset="0"/>
                </a:rPr>
                <a:t> service.</a:t>
              </a:r>
            </a:p>
            <a:p>
              <a:pPr>
                <a:lnSpc>
                  <a:spcPct val="100000"/>
                </a:lnSpc>
                <a:buFont typeface="Wingdings" charset="0"/>
                <a:buChar char="v"/>
                <a:defRPr/>
              </a:pPr>
              <a:r>
                <a:rPr lang="en-MY" sz="2200" kern="0" dirty="0">
                  <a:latin typeface="Arial" panose="020B0604020202020204" pitchFamily="34" charset="0"/>
                  <a:cs typeface="Arial" panose="020B0604020202020204" pitchFamily="34" charset="0"/>
                </a:rPr>
                <a:t>the most </a:t>
              </a:r>
              <a:r>
                <a:rPr lang="en-MY" sz="2200" kern="0" dirty="0">
                  <a:solidFill>
                    <a:srgbClr val="FF0000"/>
                  </a:solidFill>
                  <a:latin typeface="Arial" panose="020B0604020202020204" pitchFamily="34" charset="0"/>
                  <a:cs typeface="Arial" panose="020B0604020202020204" pitchFamily="34" charset="0"/>
                </a:rPr>
                <a:t>complex layer</a:t>
              </a:r>
              <a:r>
                <a:rPr lang="en-MY" sz="2200" kern="0" dirty="0">
                  <a:latin typeface="Arial" panose="020B0604020202020204" pitchFamily="34" charset="0"/>
                  <a:cs typeface="Arial" panose="020B0604020202020204" pitchFamily="34" charset="0"/>
                </a:rPr>
                <a:t> in the protocol stack. </a:t>
              </a:r>
            </a:p>
            <a:p>
              <a:pPr>
                <a:lnSpc>
                  <a:spcPct val="100000"/>
                </a:lnSpc>
                <a:buFont typeface="Wingdings" charset="0"/>
                <a:buChar char="v"/>
                <a:defRPr/>
              </a:pPr>
              <a:endParaRPr lang="en-US" sz="2200" kern="0" dirty="0">
                <a:latin typeface="Arial" panose="020B0604020202020204" pitchFamily="34" charset="0"/>
                <a:cs typeface="Arial" panose="020B0604020202020204" pitchFamily="34" charset="0"/>
              </a:endParaRPr>
            </a:p>
          </p:txBody>
        </p:sp>
        <p:sp>
          <p:nvSpPr>
            <p:cNvPr id="15" name="Rectangle 3">
              <a:extLst>
                <a:ext uri="{FF2B5EF4-FFF2-40B4-BE49-F238E27FC236}">
                  <a16:creationId xmlns:a16="http://schemas.microsoft.com/office/drawing/2014/main" id="{2E1E4C9F-E6D6-A845-94DB-F37FFF889BD0}"/>
                </a:ext>
              </a:extLst>
            </p:cNvPr>
            <p:cNvSpPr txBox="1">
              <a:spLocks noChangeArrowheads="1"/>
            </p:cNvSpPr>
            <p:nvPr/>
          </p:nvSpPr>
          <p:spPr bwMode="auto">
            <a:xfrm>
              <a:off x="1571339" y="4222390"/>
              <a:ext cx="2353056" cy="393714"/>
            </a:xfrm>
            <a:prstGeom prst="rect">
              <a:avLst/>
            </a:prstGeom>
            <a:solidFill>
              <a:schemeClr val="bg1"/>
            </a:solidFill>
            <a:ln>
              <a:solidFill>
                <a:srgbClr val="00B0F0"/>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gn="ctr">
                <a:lnSpc>
                  <a:spcPct val="100000"/>
                </a:lnSpc>
                <a:buNone/>
                <a:defRPr/>
              </a:pPr>
              <a:r>
                <a:rPr lang="en-MY" sz="2200" b="1" kern="0" dirty="0">
                  <a:latin typeface="Arial" panose="020B0604020202020204" pitchFamily="34" charset="0"/>
                  <a:cs typeface="Arial" panose="020B0604020202020204" pitchFamily="34" charset="0"/>
                </a:rPr>
                <a:t>Network layer</a:t>
              </a:r>
              <a:endParaRPr lang="en-US" sz="2200" kern="0" dirty="0">
                <a:latin typeface="Arial" panose="020B0604020202020204" pitchFamily="34" charset="0"/>
                <a:cs typeface="Arial" panose="020B0604020202020204" pitchFamily="34" charset="0"/>
              </a:endParaRPr>
            </a:p>
          </p:txBody>
        </p:sp>
      </p:grpSp>
      <p:sp>
        <p:nvSpPr>
          <p:cNvPr id="18" name="Rectangle 17">
            <a:extLst>
              <a:ext uri="{FF2B5EF4-FFF2-40B4-BE49-F238E27FC236}">
                <a16:creationId xmlns:a16="http://schemas.microsoft.com/office/drawing/2014/main" id="{57210A2A-C625-704D-9599-0A7FFE8116D3}"/>
              </a:ext>
            </a:extLst>
          </p:cNvPr>
          <p:cNvSpPr/>
          <p:nvPr/>
        </p:nvSpPr>
        <p:spPr bwMode="auto">
          <a:xfrm>
            <a:off x="5169707" y="2571588"/>
            <a:ext cx="3963798" cy="4167350"/>
          </a:xfrm>
          <a:prstGeom prst="rect">
            <a:avLst/>
          </a:prstGeom>
          <a:solidFill>
            <a:schemeClr val="bg1">
              <a:alpha val="90000"/>
            </a:scheme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pic>
        <p:nvPicPr>
          <p:cNvPr id="16" name="Picture 15">
            <a:extLst>
              <a:ext uri="{FF2B5EF4-FFF2-40B4-BE49-F238E27FC236}">
                <a16:creationId xmlns:a16="http://schemas.microsoft.com/office/drawing/2014/main" id="{A0EE24E0-CBA5-C044-9B93-FC2A66B73E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5809" y="2108432"/>
            <a:ext cx="1314641" cy="4160256"/>
          </a:xfrm>
          <a:prstGeom prst="rect">
            <a:avLst/>
          </a:prstGeom>
          <a:effectLst>
            <a:outerShdw blurRad="50800" dist="88900" dir="2700000" algn="tl" rotWithShape="0">
              <a:prstClr val="black">
                <a:alpha val="40000"/>
              </a:prstClr>
            </a:outerShdw>
          </a:effectLst>
        </p:spPr>
      </p:pic>
      <p:grpSp>
        <p:nvGrpSpPr>
          <p:cNvPr id="6" name="Group 5">
            <a:extLst>
              <a:ext uri="{FF2B5EF4-FFF2-40B4-BE49-F238E27FC236}">
                <a16:creationId xmlns:a16="http://schemas.microsoft.com/office/drawing/2014/main" id="{2780B642-F6AD-F34F-96E7-3D95514A7AFE}"/>
              </a:ext>
            </a:extLst>
          </p:cNvPr>
          <p:cNvGrpSpPr/>
          <p:nvPr/>
        </p:nvGrpSpPr>
        <p:grpSpPr>
          <a:xfrm>
            <a:off x="4625950" y="4124861"/>
            <a:ext cx="3122882" cy="1684777"/>
            <a:chOff x="4625950" y="4124861"/>
            <a:chExt cx="3122882" cy="1684777"/>
          </a:xfrm>
        </p:grpSpPr>
        <p:sp>
          <p:nvSpPr>
            <p:cNvPr id="3" name="Oval 2">
              <a:extLst>
                <a:ext uri="{FF2B5EF4-FFF2-40B4-BE49-F238E27FC236}">
                  <a16:creationId xmlns:a16="http://schemas.microsoft.com/office/drawing/2014/main" id="{2A703E5D-3472-6B41-9E34-37DF19ECC866}"/>
                </a:ext>
              </a:extLst>
            </p:cNvPr>
            <p:cNvSpPr/>
            <p:nvPr/>
          </p:nvSpPr>
          <p:spPr bwMode="auto">
            <a:xfrm>
              <a:off x="4625950" y="4124861"/>
              <a:ext cx="3122881" cy="1684777"/>
            </a:xfrm>
            <a:prstGeom prst="ellipse">
              <a:avLst/>
            </a:prstGeom>
            <a:solidFill>
              <a:schemeClr val="bg1"/>
            </a:solidFill>
            <a:ln w="9525" cap="flat" cmpd="sng" algn="ctr">
              <a:noFill/>
              <a:prstDash val="solid"/>
              <a:round/>
              <a:headEnd type="none" w="med" len="med"/>
              <a:tailEnd type="none" w="med" len="med"/>
            </a:ln>
            <a:effectLst>
              <a:outerShdw blurRad="50800" dist="88900" dir="2700000" algn="tl" rotWithShape="0">
                <a:prstClr val="black">
                  <a:alpha val="40000"/>
                </a:prstClr>
              </a:outerShdw>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7" name="Oval Callout 16">
              <a:extLst>
                <a:ext uri="{FF2B5EF4-FFF2-40B4-BE49-F238E27FC236}">
                  <a16:creationId xmlns:a16="http://schemas.microsoft.com/office/drawing/2014/main" id="{3B9421A1-3AC7-674F-9131-38727CF38401}"/>
                </a:ext>
              </a:extLst>
            </p:cNvPr>
            <p:cNvSpPr/>
            <p:nvPr/>
          </p:nvSpPr>
          <p:spPr bwMode="auto">
            <a:xfrm>
              <a:off x="4625950" y="4124861"/>
              <a:ext cx="3122882" cy="1684777"/>
            </a:xfrm>
            <a:prstGeom prst="wedgeEllipseCallout">
              <a:avLst>
                <a:gd name="adj1" fmla="val 50595"/>
                <a:gd name="adj2" fmla="val -99492"/>
              </a:avLst>
            </a:prstGeom>
            <a:solidFill>
              <a:srgbClr val="FFFF00">
                <a:alpha val="30000"/>
              </a:srgbClr>
            </a:solidFill>
            <a:ln w="9525" cap="flat" cmpd="sng" algn="ctr">
              <a:solidFill>
                <a:schemeClr val="tx1">
                  <a:alpha val="3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4" name="Rectangle 3">
              <a:extLst>
                <a:ext uri="{FF2B5EF4-FFF2-40B4-BE49-F238E27FC236}">
                  <a16:creationId xmlns:a16="http://schemas.microsoft.com/office/drawing/2014/main" id="{A4CE56F9-93C5-1C42-A865-720A8956AEA0}"/>
                </a:ext>
              </a:extLst>
            </p:cNvPr>
            <p:cNvSpPr/>
            <p:nvPr/>
          </p:nvSpPr>
          <p:spPr>
            <a:xfrm>
              <a:off x="4866307" y="4341316"/>
              <a:ext cx="2690842" cy="1200329"/>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Decomposed the network layer into TWO parts: </a:t>
              </a:r>
              <a:r>
                <a:rPr lang="en-US" b="1" dirty="0">
                  <a:latin typeface="Times New Roman" panose="02020603050405020304" pitchFamily="18" charset="0"/>
                  <a:cs typeface="Times New Roman" panose="02020603050405020304" pitchFamily="18" charset="0"/>
                </a:rPr>
                <a:t>Data Plane</a:t>
              </a:r>
              <a:r>
                <a:rPr lang="en-US" dirty="0">
                  <a:latin typeface="Times New Roman" panose="02020603050405020304" pitchFamily="18" charset="0"/>
                  <a:cs typeface="Times New Roman" panose="02020603050405020304" pitchFamily="18" charset="0"/>
                </a:rPr>
                <a:t> (Chapter 4) &amp; </a:t>
              </a:r>
              <a:r>
                <a:rPr lang="en-US" b="1" dirty="0">
                  <a:latin typeface="Times New Roman" panose="02020603050405020304" pitchFamily="18" charset="0"/>
                  <a:cs typeface="Times New Roman" panose="02020603050405020304" pitchFamily="18" charset="0"/>
                </a:rPr>
                <a:t>Control Plane </a:t>
              </a:r>
              <a:r>
                <a:rPr lang="en-US" dirty="0">
                  <a:latin typeface="Times New Roman" panose="02020603050405020304" pitchFamily="18" charset="0"/>
                  <a:cs typeface="Times New Roman" panose="02020603050405020304" pitchFamily="18" charset="0"/>
                </a:rPr>
                <a:t>(Chapter 5)</a:t>
              </a:r>
              <a:endParaRPr lang="en-US" b="1" dirty="0">
                <a:latin typeface="Times New Roman" panose="02020603050405020304" pitchFamily="18" charset="0"/>
                <a:cs typeface="Times New Roman" panose="02020603050405020304" pitchFamily="18" charset="0"/>
              </a:endParaRPr>
            </a:p>
          </p:txBody>
        </p:sp>
      </p:grpSp>
      <p:sp>
        <p:nvSpPr>
          <p:cNvPr id="20" name="Right Triangle 19">
            <a:extLst>
              <a:ext uri="{FF2B5EF4-FFF2-40B4-BE49-F238E27FC236}">
                <a16:creationId xmlns:a16="http://schemas.microsoft.com/office/drawing/2014/main" id="{006B43A2-A9DF-F040-A217-92AD9D226D40}"/>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9" name="Slide Number Placeholder 5">
            <a:extLst>
              <a:ext uri="{FF2B5EF4-FFF2-40B4-BE49-F238E27FC236}">
                <a16:creationId xmlns:a16="http://schemas.microsoft.com/office/drawing/2014/main" id="{B908D751-CF31-E144-BCDD-06B2FF32E121}"/>
              </a:ext>
            </a:extLst>
          </p:cNvPr>
          <p:cNvSpPr txBox="1">
            <a:spLocks/>
          </p:cNvSpPr>
          <p:nvPr/>
        </p:nvSpPr>
        <p:spPr bwMode="auto">
          <a:xfrm>
            <a:off x="8456613" y="6475413"/>
            <a:ext cx="458787" cy="2730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altLang="en-US">
                <a:latin typeface="Tahoma" panose="020B0604030504040204" pitchFamily="34" charset="0"/>
              </a:rPr>
              <a:t>4-</a:t>
            </a:r>
            <a:fld id="{C2074DCC-A718-E54F-8CB1-E1100D588721}" type="slidenum">
              <a:rPr lang="en-US" altLang="en-US" smtClean="0">
                <a:latin typeface="Tahoma" panose="020B0604030504040204" pitchFamily="34" charset="0"/>
              </a:rPr>
              <a:pPr/>
              <a:t>3</a:t>
            </a:fld>
            <a:endParaRPr lang="en-US" altLang="en-US" dirty="0">
              <a:latin typeface="Tahoma" panose="020B0604030504040204" pitchFamily="34" charset="0"/>
            </a:endParaRPr>
          </a:p>
        </p:txBody>
      </p:sp>
    </p:spTree>
    <p:extLst>
      <p:ext uri="{BB962C8B-B14F-4D97-AF65-F5344CB8AC3E}">
        <p14:creationId xmlns:p14="http://schemas.microsoft.com/office/powerpoint/2010/main" val="337729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underline_base">
            <a:extLst>
              <a:ext uri="{FF2B5EF4-FFF2-40B4-BE49-F238E27FC236}">
                <a16:creationId xmlns:a16="http://schemas.microsoft.com/office/drawing/2014/main" id="{BADA0B16-5E0A-7144-97F7-01D1301AD78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3"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Rectangle 3">
            <a:extLst>
              <a:ext uri="{FF2B5EF4-FFF2-40B4-BE49-F238E27FC236}">
                <a16:creationId xmlns:a16="http://schemas.microsoft.com/office/drawing/2014/main" id="{1779FA95-9D16-A645-8601-2E0303D68EF4}"/>
              </a:ext>
            </a:extLst>
          </p:cNvPr>
          <p:cNvSpPr>
            <a:spLocks noGrp="1" noChangeArrowheads="1"/>
          </p:cNvSpPr>
          <p:nvPr>
            <p:ph type="body" sz="half" idx="1"/>
          </p:nvPr>
        </p:nvSpPr>
        <p:spPr>
          <a:xfrm>
            <a:off x="354919" y="1198563"/>
            <a:ext cx="5521411" cy="4648200"/>
          </a:xfrm>
        </p:spPr>
        <p:txBody>
          <a:bodyPr/>
          <a:lstStyle/>
          <a:p>
            <a:pPr>
              <a:buFont typeface="Wingdings" pitchFamily="2" charset="2"/>
              <a:buNone/>
            </a:pPr>
            <a:r>
              <a:rPr lang="en-US" altLang="en-US" sz="2400" dirty="0">
                <a:solidFill>
                  <a:srgbClr val="CC0000"/>
                </a:solidFill>
                <a:ea typeface="ＭＳ Ｐゴシック" panose="020B0600070205080204" pitchFamily="34" charset="-128"/>
                <a:cs typeface="ＭＳ Ｐゴシック" panose="020B0600070205080204" pitchFamily="34" charset="-128"/>
              </a:rPr>
              <a:t>4.1 Overview of Network layer</a:t>
            </a:r>
          </a:p>
          <a:p>
            <a:pPr lvl="1"/>
            <a:r>
              <a:rPr lang="en-US" altLang="en-US" dirty="0">
                <a:solidFill>
                  <a:srgbClr val="CC0000"/>
                </a:solidFill>
                <a:latin typeface="Gill Sans MT" panose="020B0502020104020203" pitchFamily="34" charset="77"/>
                <a:ea typeface="ＭＳ Ｐゴシック" panose="020B0600070205080204" pitchFamily="34" charset="-128"/>
                <a:cs typeface="Gill Sans MT" panose="020B0502020104020203" pitchFamily="34" charset="77"/>
              </a:rPr>
              <a:t>data plane</a:t>
            </a:r>
          </a:p>
          <a:p>
            <a:pPr lvl="1"/>
            <a:r>
              <a:rPr lang="en-US" altLang="en-US" dirty="0">
                <a:solidFill>
                  <a:srgbClr val="CC0000"/>
                </a:solidFill>
                <a:latin typeface="Gill Sans MT" panose="020B0502020104020203" pitchFamily="34" charset="77"/>
                <a:ea typeface="ＭＳ Ｐゴシック" panose="020B0600070205080204" pitchFamily="34" charset="-128"/>
                <a:cs typeface="Gill Sans MT" panose="020B0502020104020203" pitchFamily="34" charset="77"/>
              </a:rPr>
              <a:t>control plane</a:t>
            </a:r>
          </a:p>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4.2 What</a:t>
            </a:r>
            <a:r>
              <a:rPr lang="ja-JP" altLang="en-US" sz="2400" dirty="0">
                <a:ea typeface="ＭＳ Ｐゴシック" panose="020B0600070205080204" pitchFamily="34" charset="-128"/>
                <a:cs typeface="ＭＳ Ｐゴシック" panose="020B0600070205080204" pitchFamily="34" charset="-128"/>
              </a:rPr>
              <a:t>’</a:t>
            </a:r>
            <a:r>
              <a:rPr lang="en-US" altLang="ja-JP" sz="2400" dirty="0">
                <a:ea typeface="ＭＳ Ｐゴシック" panose="020B0600070205080204" pitchFamily="34" charset="-128"/>
                <a:cs typeface="ＭＳ Ｐゴシック" panose="020B0600070205080204" pitchFamily="34" charset="-128"/>
              </a:rPr>
              <a:t>s inside a router</a:t>
            </a:r>
          </a:p>
          <a:p>
            <a:pPr>
              <a:buNone/>
            </a:pPr>
            <a:r>
              <a:rPr lang="en-US" altLang="ja-JP" sz="2400" dirty="0">
                <a:ea typeface="ＭＳ Ｐゴシック" panose="020B0600070205080204" pitchFamily="34" charset="-128"/>
                <a:cs typeface="Arial" panose="020B0604020202020204" pitchFamily="34" charset="0"/>
              </a:rPr>
              <a:t>	input ports, switching, output ports, buffer management, scheduling</a:t>
            </a:r>
          </a:p>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4.3 IP: Internet Protocol</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datagram format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fragmentation</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IPv4 addressing</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network address translation (NAT)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IPv6</a:t>
            </a:r>
          </a:p>
          <a:p>
            <a:pPr marL="0" indent="0">
              <a:buNone/>
            </a:pPr>
            <a:r>
              <a:rPr lang="en-MY" sz="2400" dirty="0">
                <a:ea typeface="ＭＳ Ｐゴシック" panose="020B0600070205080204" pitchFamily="34" charset="-128"/>
              </a:rPr>
              <a:t>4.4 Generalized Forwarding and SDN</a:t>
            </a:r>
          </a:p>
          <a:p>
            <a:pPr lvl="1">
              <a:spcBef>
                <a:spcPts val="0"/>
              </a:spcBef>
            </a:pPr>
            <a:r>
              <a:rPr lang="en-US" altLang="en-US" sz="2400" dirty="0" err="1">
                <a:ea typeface="ＭＳ Ｐゴシック" panose="020B0600070205080204" pitchFamily="34" charset="-128"/>
              </a:rPr>
              <a:t>Match+action</a:t>
            </a:r>
            <a:endParaRPr lang="en-US" altLang="en-US" sz="2400" dirty="0">
              <a:ea typeface="ＭＳ Ｐゴシック" panose="020B0600070205080204" pitchFamily="34" charset="-128"/>
            </a:endParaRPr>
          </a:p>
          <a:p>
            <a:pPr lvl="1">
              <a:spcBef>
                <a:spcPts val="0"/>
              </a:spcBef>
            </a:pPr>
            <a:r>
              <a:rPr lang="en-US" altLang="en-US" sz="2400" dirty="0">
                <a:ea typeface="ＭＳ Ｐゴシック" panose="020B0600070205080204" pitchFamily="34" charset="-128"/>
              </a:rPr>
              <a:t>OpenFlow: </a:t>
            </a:r>
            <a:r>
              <a:rPr lang="en-US" altLang="en-US" sz="2400" dirty="0" err="1">
                <a:ea typeface="ＭＳ Ｐゴシック" panose="020B0600070205080204" pitchFamily="34" charset="-128"/>
              </a:rPr>
              <a:t>match+action</a:t>
            </a:r>
            <a:r>
              <a:rPr lang="en-US" altLang="en-US" sz="2400" dirty="0">
                <a:ea typeface="ＭＳ Ｐゴシック" panose="020B0600070205080204" pitchFamily="34" charset="-128"/>
              </a:rPr>
              <a:t> in action</a:t>
            </a:r>
          </a:p>
          <a:p>
            <a:pPr marL="0" indent="0">
              <a:buNone/>
            </a:pPr>
            <a:endParaRPr lang="en-US" altLang="en-US" sz="2400" dirty="0">
              <a:ea typeface="ＭＳ Ｐゴシック" panose="020B0600070205080204" pitchFamily="34" charset="-128"/>
            </a:endParaRPr>
          </a:p>
        </p:txBody>
      </p:sp>
      <p:sp>
        <p:nvSpPr>
          <p:cNvPr id="39941" name="Rectangle 2">
            <a:extLst>
              <a:ext uri="{FF2B5EF4-FFF2-40B4-BE49-F238E27FC236}">
                <a16:creationId xmlns:a16="http://schemas.microsoft.com/office/drawing/2014/main" id="{08881E11-B8D9-D44A-803D-BCF6137D1DEA}"/>
              </a:ext>
            </a:extLst>
          </p:cNvPr>
          <p:cNvSpPr>
            <a:spLocks noChangeArrowheads="1"/>
          </p:cNvSpPr>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dirty="0">
                <a:solidFill>
                  <a:srgbClr val="000099"/>
                </a:solidFill>
                <a:latin typeface="Gill Sans MT" panose="020B0502020104020203" pitchFamily="34" charset="77"/>
              </a:rPr>
              <a:t>Chapter 4: data plane</a:t>
            </a:r>
          </a:p>
        </p:txBody>
      </p:sp>
      <p:sp>
        <p:nvSpPr>
          <p:cNvPr id="39942" name="Slide Number Placeholder 5">
            <a:extLst>
              <a:ext uri="{FF2B5EF4-FFF2-40B4-BE49-F238E27FC236}">
                <a16:creationId xmlns:a16="http://schemas.microsoft.com/office/drawing/2014/main" id="{1A9C0547-39B7-5D40-B32F-D4FF56F58514}"/>
              </a:ext>
            </a:extLst>
          </p:cNvPr>
          <p:cNvSpPr>
            <a:spLocks noGrp="1"/>
          </p:cNvSpPr>
          <p:nvPr>
            <p:ph type="sldNum" sz="quarter" idx="12"/>
          </p:nvPr>
        </p:nvSpPr>
        <p:spPr>
          <a:xfrm>
            <a:off x="8456613" y="6475413"/>
            <a:ext cx="458787"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53B65328-94AA-1E41-84D2-8D9D051F1725}" type="slidenum">
              <a:rPr lang="en-US" altLang="en-US">
                <a:latin typeface="Tahoma" panose="020B0604030504040204" pitchFamily="34" charset="0"/>
              </a:rPr>
              <a:pPr/>
              <a:t>4</a:t>
            </a:fld>
            <a:endParaRPr lang="en-US" altLang="en-US">
              <a:latin typeface="Tahoma" panose="020B0604030504040204" pitchFamily="34" charset="0"/>
            </a:endParaRPr>
          </a:p>
        </p:txBody>
      </p:sp>
      <p:sp>
        <p:nvSpPr>
          <p:cNvPr id="39943" name="Footer Placeholder 2">
            <a:extLst>
              <a:ext uri="{FF2B5EF4-FFF2-40B4-BE49-F238E27FC236}">
                <a16:creationId xmlns:a16="http://schemas.microsoft.com/office/drawing/2014/main" id="{8F94DA71-88AB-8345-BA4D-6A4C4F725C91}"/>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pic>
        <p:nvPicPr>
          <p:cNvPr id="7" name="Picture 6" descr="A picture containing outdoor, water, bridge, building&#10;&#10;Description automatically generated">
            <a:extLst>
              <a:ext uri="{FF2B5EF4-FFF2-40B4-BE49-F238E27FC236}">
                <a16:creationId xmlns:a16="http://schemas.microsoft.com/office/drawing/2014/main" id="{20F729A1-AE3D-794B-943A-AF2805603CC6}"/>
              </a:ext>
            </a:extLst>
          </p:cNvPr>
          <p:cNvPicPr>
            <a:picLocks noChangeAspect="1"/>
          </p:cNvPicPr>
          <p:nvPr/>
        </p:nvPicPr>
        <p:blipFill>
          <a:blip r:embed="rId3"/>
          <a:stretch>
            <a:fillRect/>
          </a:stretch>
        </p:blipFill>
        <p:spPr>
          <a:xfrm>
            <a:off x="5748338" y="488723"/>
            <a:ext cx="3040743" cy="38009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reeform 1285">
            <a:extLst>
              <a:ext uri="{FF2B5EF4-FFF2-40B4-BE49-F238E27FC236}">
                <a16:creationId xmlns:a16="http://schemas.microsoft.com/office/drawing/2014/main" id="{7DD1B262-50A0-0343-B8DF-4F9EA109BEB4}"/>
              </a:ext>
            </a:extLst>
          </p:cNvPr>
          <p:cNvSpPr>
            <a:spLocks/>
          </p:cNvSpPr>
          <p:nvPr/>
        </p:nvSpPr>
        <p:spPr bwMode="auto">
          <a:xfrm>
            <a:off x="6748463" y="3516313"/>
            <a:ext cx="1314450" cy="674687"/>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987" name="Freeform 1286">
            <a:extLst>
              <a:ext uri="{FF2B5EF4-FFF2-40B4-BE49-F238E27FC236}">
                <a16:creationId xmlns:a16="http://schemas.microsoft.com/office/drawing/2014/main" id="{E4C25E9F-279D-4943-8142-9EEC337369DD}"/>
              </a:ext>
            </a:extLst>
          </p:cNvPr>
          <p:cNvSpPr>
            <a:spLocks/>
          </p:cNvSpPr>
          <p:nvPr/>
        </p:nvSpPr>
        <p:spPr bwMode="auto">
          <a:xfrm>
            <a:off x="6767513" y="1990725"/>
            <a:ext cx="1730375" cy="1125538"/>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988" name="Freeform 1287">
            <a:extLst>
              <a:ext uri="{FF2B5EF4-FFF2-40B4-BE49-F238E27FC236}">
                <a16:creationId xmlns:a16="http://schemas.microsoft.com/office/drawing/2014/main" id="{97D968FE-6DCC-554C-B74F-AA1C518FC6C9}"/>
              </a:ext>
            </a:extLst>
          </p:cNvPr>
          <p:cNvSpPr>
            <a:spLocks/>
          </p:cNvSpPr>
          <p:nvPr/>
        </p:nvSpPr>
        <p:spPr bwMode="auto">
          <a:xfrm>
            <a:off x="4946650" y="1698625"/>
            <a:ext cx="1736725" cy="107156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1989" name="Group 1288">
            <a:extLst>
              <a:ext uri="{FF2B5EF4-FFF2-40B4-BE49-F238E27FC236}">
                <a16:creationId xmlns:a16="http://schemas.microsoft.com/office/drawing/2014/main" id="{61497B09-9120-994F-9F84-808235BCE5FD}"/>
              </a:ext>
            </a:extLst>
          </p:cNvPr>
          <p:cNvGrpSpPr>
            <a:grpSpLocks/>
          </p:cNvGrpSpPr>
          <p:nvPr/>
        </p:nvGrpSpPr>
        <p:grpSpPr bwMode="auto">
          <a:xfrm>
            <a:off x="5022850" y="2963863"/>
            <a:ext cx="1458913" cy="933450"/>
            <a:chOff x="2889" y="1631"/>
            <a:chExt cx="980" cy="743"/>
          </a:xfrm>
        </p:grpSpPr>
        <p:sp>
          <p:nvSpPr>
            <p:cNvPr id="42607" name="Rectangle 1289">
              <a:extLst>
                <a:ext uri="{FF2B5EF4-FFF2-40B4-BE49-F238E27FC236}">
                  <a16:creationId xmlns:a16="http://schemas.microsoft.com/office/drawing/2014/main" id="{530757D5-098F-4B49-B934-6382C53382BE}"/>
                </a:ext>
              </a:extLst>
            </p:cNvPr>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608" name="AutoShape 1290">
              <a:extLst>
                <a:ext uri="{FF2B5EF4-FFF2-40B4-BE49-F238E27FC236}">
                  <a16:creationId xmlns:a16="http://schemas.microsoft.com/office/drawing/2014/main" id="{A2CCD356-02D4-9C46-B1FA-E777246D92E0}"/>
                </a:ext>
              </a:extLst>
            </p:cNvPr>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solidFill>
                  <a:srgbClr val="00CCFF"/>
                </a:solidFill>
              </a:endParaRPr>
            </a:p>
          </p:txBody>
        </p:sp>
      </p:grpSp>
      <p:sp>
        <p:nvSpPr>
          <p:cNvPr id="41990" name="Line 1291">
            <a:extLst>
              <a:ext uri="{FF2B5EF4-FFF2-40B4-BE49-F238E27FC236}">
                <a16:creationId xmlns:a16="http://schemas.microsoft.com/office/drawing/2014/main" id="{5CFAE95B-B1BB-6642-A68A-0168F7DF3901}"/>
              </a:ext>
            </a:extLst>
          </p:cNvPr>
          <p:cNvSpPr>
            <a:spLocks noChangeShapeType="1"/>
          </p:cNvSpPr>
          <p:nvPr/>
        </p:nvSpPr>
        <p:spPr bwMode="auto">
          <a:xfrm>
            <a:off x="7140575" y="3802063"/>
            <a:ext cx="163513"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1" name="Line 1292">
            <a:extLst>
              <a:ext uri="{FF2B5EF4-FFF2-40B4-BE49-F238E27FC236}">
                <a16:creationId xmlns:a16="http://schemas.microsoft.com/office/drawing/2014/main" id="{48D5A29A-7C91-DF41-A649-268F5CEDFA32}"/>
              </a:ext>
            </a:extLst>
          </p:cNvPr>
          <p:cNvSpPr>
            <a:spLocks noChangeShapeType="1"/>
          </p:cNvSpPr>
          <p:nvPr/>
        </p:nvSpPr>
        <p:spPr bwMode="auto">
          <a:xfrm>
            <a:off x="7237413" y="3722688"/>
            <a:ext cx="27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2" name="Line 1293">
            <a:extLst>
              <a:ext uri="{FF2B5EF4-FFF2-40B4-BE49-F238E27FC236}">
                <a16:creationId xmlns:a16="http://schemas.microsoft.com/office/drawing/2014/main" id="{F0EDCB13-ED62-0349-925A-BDC4C8FFE948}"/>
              </a:ext>
            </a:extLst>
          </p:cNvPr>
          <p:cNvSpPr>
            <a:spLocks noChangeShapeType="1"/>
          </p:cNvSpPr>
          <p:nvPr/>
        </p:nvSpPr>
        <p:spPr bwMode="auto">
          <a:xfrm flipV="1">
            <a:off x="7473950" y="3808413"/>
            <a:ext cx="134938" cy="104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3" name="Line 1294">
            <a:extLst>
              <a:ext uri="{FF2B5EF4-FFF2-40B4-BE49-F238E27FC236}">
                <a16:creationId xmlns:a16="http://schemas.microsoft.com/office/drawing/2014/main" id="{264EA650-9CFF-B54C-AA57-9FE93BA2E0B4}"/>
              </a:ext>
            </a:extLst>
          </p:cNvPr>
          <p:cNvSpPr>
            <a:spLocks noChangeShapeType="1"/>
          </p:cNvSpPr>
          <p:nvPr/>
        </p:nvSpPr>
        <p:spPr bwMode="auto">
          <a:xfrm>
            <a:off x="6172200" y="3729038"/>
            <a:ext cx="679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4" name="Line 1295">
            <a:extLst>
              <a:ext uri="{FF2B5EF4-FFF2-40B4-BE49-F238E27FC236}">
                <a16:creationId xmlns:a16="http://schemas.microsoft.com/office/drawing/2014/main" id="{FB8F7B99-C58B-3B48-91AB-08A313DF6474}"/>
              </a:ext>
            </a:extLst>
          </p:cNvPr>
          <p:cNvSpPr>
            <a:spLocks noChangeShapeType="1"/>
          </p:cNvSpPr>
          <p:nvPr/>
        </p:nvSpPr>
        <p:spPr bwMode="auto">
          <a:xfrm>
            <a:off x="6467475" y="2576513"/>
            <a:ext cx="509588"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5" name="Line 1296">
            <a:extLst>
              <a:ext uri="{FF2B5EF4-FFF2-40B4-BE49-F238E27FC236}">
                <a16:creationId xmlns:a16="http://schemas.microsoft.com/office/drawing/2014/main" id="{8D2015F6-8AAB-6243-8065-B8187AFCF7A6}"/>
              </a:ext>
            </a:extLst>
          </p:cNvPr>
          <p:cNvSpPr>
            <a:spLocks noChangeShapeType="1"/>
          </p:cNvSpPr>
          <p:nvPr/>
        </p:nvSpPr>
        <p:spPr bwMode="auto">
          <a:xfrm>
            <a:off x="6034088" y="2392363"/>
            <a:ext cx="15240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6" name="Freeform 1297">
            <a:extLst>
              <a:ext uri="{FF2B5EF4-FFF2-40B4-BE49-F238E27FC236}">
                <a16:creationId xmlns:a16="http://schemas.microsoft.com/office/drawing/2014/main" id="{960B9D88-C67E-8740-90C9-703644046E76}"/>
              </a:ext>
            </a:extLst>
          </p:cNvPr>
          <p:cNvSpPr>
            <a:spLocks/>
          </p:cNvSpPr>
          <p:nvPr/>
        </p:nvSpPr>
        <p:spPr bwMode="auto">
          <a:xfrm>
            <a:off x="5241925" y="4367213"/>
            <a:ext cx="3079750" cy="1665287"/>
          </a:xfrm>
          <a:custGeom>
            <a:avLst/>
            <a:gdLst>
              <a:gd name="T0" fmla="*/ 2147483647 w 1940"/>
              <a:gd name="T1" fmla="*/ 2147483647 h 1049"/>
              <a:gd name="T2" fmla="*/ 2147483647 w 1940"/>
              <a:gd name="T3" fmla="*/ 2147483647 h 1049"/>
              <a:gd name="T4" fmla="*/ 2147483647 w 1940"/>
              <a:gd name="T5" fmla="*/ 2147483647 h 1049"/>
              <a:gd name="T6" fmla="*/ 2147483647 w 1940"/>
              <a:gd name="T7" fmla="*/ 2147483647 h 1049"/>
              <a:gd name="T8" fmla="*/ 2147483647 w 1940"/>
              <a:gd name="T9" fmla="*/ 2147483647 h 1049"/>
              <a:gd name="T10" fmla="*/ 2147483647 w 1940"/>
              <a:gd name="T11" fmla="*/ 2147483647 h 1049"/>
              <a:gd name="T12" fmla="*/ 2147483647 w 1940"/>
              <a:gd name="T13" fmla="*/ 2147483647 h 1049"/>
              <a:gd name="T14" fmla="*/ 2147483647 w 1940"/>
              <a:gd name="T15" fmla="*/ 2147483647 h 1049"/>
              <a:gd name="T16" fmla="*/ 2147483647 w 1940"/>
              <a:gd name="T17" fmla="*/ 2147483647 h 1049"/>
              <a:gd name="T18" fmla="*/ 2147483647 w 1940"/>
              <a:gd name="T19" fmla="*/ 2147483647 h 1049"/>
              <a:gd name="T20" fmla="*/ 2147483647 w 1940"/>
              <a:gd name="T21" fmla="*/ 2147483647 h 1049"/>
              <a:gd name="T22" fmla="*/ 2147483647 w 1940"/>
              <a:gd name="T23" fmla="*/ 2147483647 h 1049"/>
              <a:gd name="T24" fmla="*/ 2147483647 w 1940"/>
              <a:gd name="T25" fmla="*/ 2147483647 h 1049"/>
              <a:gd name="T26" fmla="*/ 2147483647 w 1940"/>
              <a:gd name="T27" fmla="*/ 2147483647 h 1049"/>
              <a:gd name="T28" fmla="*/ 2147483647 w 1940"/>
              <a:gd name="T29" fmla="*/ 2147483647 h 1049"/>
              <a:gd name="T30" fmla="*/ 2147483647 w 1940"/>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997" name="Line 1298">
            <a:extLst>
              <a:ext uri="{FF2B5EF4-FFF2-40B4-BE49-F238E27FC236}">
                <a16:creationId xmlns:a16="http://schemas.microsoft.com/office/drawing/2014/main" id="{7E91F593-8E07-114E-BA58-13D1012FD010}"/>
              </a:ext>
            </a:extLst>
          </p:cNvPr>
          <p:cNvSpPr>
            <a:spLocks noChangeShapeType="1"/>
          </p:cNvSpPr>
          <p:nvPr/>
        </p:nvSpPr>
        <p:spPr bwMode="auto">
          <a:xfrm rot="16200000" flipV="1">
            <a:off x="7541419" y="5239544"/>
            <a:ext cx="474662" cy="6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8" name="Line 1299">
            <a:extLst>
              <a:ext uri="{FF2B5EF4-FFF2-40B4-BE49-F238E27FC236}">
                <a16:creationId xmlns:a16="http://schemas.microsoft.com/office/drawing/2014/main" id="{E1AD6F65-3BEE-5846-AD95-DC74D942371A}"/>
              </a:ext>
            </a:extLst>
          </p:cNvPr>
          <p:cNvSpPr>
            <a:spLocks noChangeShapeType="1"/>
          </p:cNvSpPr>
          <p:nvPr/>
        </p:nvSpPr>
        <p:spPr bwMode="auto">
          <a:xfrm rot="5400000" flipV="1">
            <a:off x="7735888" y="5429250"/>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9" name="Line 1300">
            <a:extLst>
              <a:ext uri="{FF2B5EF4-FFF2-40B4-BE49-F238E27FC236}">
                <a16:creationId xmlns:a16="http://schemas.microsoft.com/office/drawing/2014/main" id="{BAD0E0BD-121C-324B-BCA9-828467D4D2E0}"/>
              </a:ext>
            </a:extLst>
          </p:cNvPr>
          <p:cNvSpPr>
            <a:spLocks noChangeShapeType="1"/>
          </p:cNvSpPr>
          <p:nvPr/>
        </p:nvSpPr>
        <p:spPr bwMode="auto">
          <a:xfrm rot="16200000" flipH="1">
            <a:off x="7843837" y="5027613"/>
            <a:ext cx="193675"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0" name="Line 1301">
            <a:extLst>
              <a:ext uri="{FF2B5EF4-FFF2-40B4-BE49-F238E27FC236}">
                <a16:creationId xmlns:a16="http://schemas.microsoft.com/office/drawing/2014/main" id="{176D40D8-DEE6-9D4B-BCC6-B1761EB17856}"/>
              </a:ext>
            </a:extLst>
          </p:cNvPr>
          <p:cNvSpPr>
            <a:spLocks noChangeShapeType="1"/>
          </p:cNvSpPr>
          <p:nvPr/>
        </p:nvSpPr>
        <p:spPr bwMode="auto">
          <a:xfrm>
            <a:off x="7102475" y="4686300"/>
            <a:ext cx="390525"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1" name="Line 1302">
            <a:extLst>
              <a:ext uri="{FF2B5EF4-FFF2-40B4-BE49-F238E27FC236}">
                <a16:creationId xmlns:a16="http://schemas.microsoft.com/office/drawing/2014/main" id="{66E1738B-72EE-5E41-A767-E0737EE76CA3}"/>
              </a:ext>
            </a:extLst>
          </p:cNvPr>
          <p:cNvSpPr>
            <a:spLocks noChangeShapeType="1"/>
          </p:cNvSpPr>
          <p:nvPr/>
        </p:nvSpPr>
        <p:spPr bwMode="auto">
          <a:xfrm flipV="1">
            <a:off x="6481763" y="4673600"/>
            <a:ext cx="322262" cy="198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2" name="Line 1303">
            <a:extLst>
              <a:ext uri="{FF2B5EF4-FFF2-40B4-BE49-F238E27FC236}">
                <a16:creationId xmlns:a16="http://schemas.microsoft.com/office/drawing/2014/main" id="{CE5C3560-D6B9-F340-99F6-DFC1D05A79DB}"/>
              </a:ext>
            </a:extLst>
          </p:cNvPr>
          <p:cNvSpPr>
            <a:spLocks noChangeShapeType="1"/>
          </p:cNvSpPr>
          <p:nvPr/>
        </p:nvSpPr>
        <p:spPr bwMode="auto">
          <a:xfrm flipV="1">
            <a:off x="6524625" y="4965700"/>
            <a:ext cx="971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3" name="Line 1305">
            <a:extLst>
              <a:ext uri="{FF2B5EF4-FFF2-40B4-BE49-F238E27FC236}">
                <a16:creationId xmlns:a16="http://schemas.microsoft.com/office/drawing/2014/main" id="{F2F402B9-6406-1F48-BFD2-12DEE3265C8D}"/>
              </a:ext>
            </a:extLst>
          </p:cNvPr>
          <p:cNvSpPr>
            <a:spLocks noChangeShapeType="1"/>
          </p:cNvSpPr>
          <p:nvPr/>
        </p:nvSpPr>
        <p:spPr bwMode="auto">
          <a:xfrm>
            <a:off x="5845175" y="4762500"/>
            <a:ext cx="233363"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4" name="Line 1306">
            <a:extLst>
              <a:ext uri="{FF2B5EF4-FFF2-40B4-BE49-F238E27FC236}">
                <a16:creationId xmlns:a16="http://schemas.microsoft.com/office/drawing/2014/main" id="{FB9FDC26-CB08-8A4A-8247-2EB7BAE8C380}"/>
              </a:ext>
            </a:extLst>
          </p:cNvPr>
          <p:cNvSpPr>
            <a:spLocks noChangeShapeType="1"/>
          </p:cNvSpPr>
          <p:nvPr/>
        </p:nvSpPr>
        <p:spPr bwMode="auto">
          <a:xfrm flipV="1">
            <a:off x="5586413" y="4999038"/>
            <a:ext cx="403225" cy="100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5" name="Line 1309">
            <a:extLst>
              <a:ext uri="{FF2B5EF4-FFF2-40B4-BE49-F238E27FC236}">
                <a16:creationId xmlns:a16="http://schemas.microsoft.com/office/drawing/2014/main" id="{BD047177-8FD3-1349-8751-4A9E46823FC1}"/>
              </a:ext>
            </a:extLst>
          </p:cNvPr>
          <p:cNvSpPr>
            <a:spLocks noChangeShapeType="1"/>
          </p:cNvSpPr>
          <p:nvPr/>
        </p:nvSpPr>
        <p:spPr bwMode="auto">
          <a:xfrm flipH="1">
            <a:off x="6011863" y="5054600"/>
            <a:ext cx="1778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6" name="Line 1310">
            <a:extLst>
              <a:ext uri="{FF2B5EF4-FFF2-40B4-BE49-F238E27FC236}">
                <a16:creationId xmlns:a16="http://schemas.microsoft.com/office/drawing/2014/main" id="{19D2C3D2-DFF5-3049-8005-DCEF6D4E36B0}"/>
              </a:ext>
            </a:extLst>
          </p:cNvPr>
          <p:cNvSpPr>
            <a:spLocks noChangeShapeType="1"/>
          </p:cNvSpPr>
          <p:nvPr/>
        </p:nvSpPr>
        <p:spPr bwMode="auto">
          <a:xfrm flipH="1" flipV="1">
            <a:off x="6405563" y="5038725"/>
            <a:ext cx="1587" cy="220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7" name="Line 1311">
            <a:extLst>
              <a:ext uri="{FF2B5EF4-FFF2-40B4-BE49-F238E27FC236}">
                <a16:creationId xmlns:a16="http://schemas.microsoft.com/office/drawing/2014/main" id="{1AB96D4C-2FD1-374B-98F1-17B04E37E918}"/>
              </a:ext>
            </a:extLst>
          </p:cNvPr>
          <p:cNvSpPr>
            <a:spLocks noChangeShapeType="1"/>
          </p:cNvSpPr>
          <p:nvPr/>
        </p:nvSpPr>
        <p:spPr bwMode="auto">
          <a:xfrm>
            <a:off x="6488113" y="5041900"/>
            <a:ext cx="503237" cy="269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8" name="Line 1313">
            <a:extLst>
              <a:ext uri="{FF2B5EF4-FFF2-40B4-BE49-F238E27FC236}">
                <a16:creationId xmlns:a16="http://schemas.microsoft.com/office/drawing/2014/main" id="{799D2920-524C-C24F-8EBA-302052ED0177}"/>
              </a:ext>
            </a:extLst>
          </p:cNvPr>
          <p:cNvSpPr>
            <a:spLocks noChangeShapeType="1"/>
          </p:cNvSpPr>
          <p:nvPr/>
        </p:nvSpPr>
        <p:spPr bwMode="auto">
          <a:xfrm>
            <a:off x="6026150" y="3511550"/>
            <a:ext cx="0" cy="131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9" name="Line 1314">
            <a:extLst>
              <a:ext uri="{FF2B5EF4-FFF2-40B4-BE49-F238E27FC236}">
                <a16:creationId xmlns:a16="http://schemas.microsoft.com/office/drawing/2014/main" id="{223B356E-7BD1-A046-91C8-58674EE8A515}"/>
              </a:ext>
            </a:extLst>
          </p:cNvPr>
          <p:cNvSpPr>
            <a:spLocks noChangeShapeType="1"/>
          </p:cNvSpPr>
          <p:nvPr/>
        </p:nvSpPr>
        <p:spPr bwMode="auto">
          <a:xfrm flipV="1">
            <a:off x="7321550" y="2481263"/>
            <a:ext cx="123825" cy="87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0" name="Line 1315">
            <a:extLst>
              <a:ext uri="{FF2B5EF4-FFF2-40B4-BE49-F238E27FC236}">
                <a16:creationId xmlns:a16="http://schemas.microsoft.com/office/drawing/2014/main" id="{8CF9AD4D-796A-DF40-9C2E-AEDD344F5925}"/>
              </a:ext>
            </a:extLst>
          </p:cNvPr>
          <p:cNvSpPr>
            <a:spLocks noChangeShapeType="1"/>
          </p:cNvSpPr>
          <p:nvPr/>
        </p:nvSpPr>
        <p:spPr bwMode="auto">
          <a:xfrm>
            <a:off x="7150100" y="2654300"/>
            <a:ext cx="0"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1" name="Line 1316">
            <a:extLst>
              <a:ext uri="{FF2B5EF4-FFF2-40B4-BE49-F238E27FC236}">
                <a16:creationId xmlns:a16="http://schemas.microsoft.com/office/drawing/2014/main" id="{C0A2ED32-1C32-3F4A-AD59-AC1DA4F8C254}"/>
              </a:ext>
            </a:extLst>
          </p:cNvPr>
          <p:cNvSpPr>
            <a:spLocks noChangeShapeType="1"/>
          </p:cNvSpPr>
          <p:nvPr/>
        </p:nvSpPr>
        <p:spPr bwMode="auto">
          <a:xfrm flipV="1">
            <a:off x="7321550" y="2551113"/>
            <a:ext cx="2635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2" name="Line 1317">
            <a:extLst>
              <a:ext uri="{FF2B5EF4-FFF2-40B4-BE49-F238E27FC236}">
                <a16:creationId xmlns:a16="http://schemas.microsoft.com/office/drawing/2014/main" id="{BF7843F8-CD31-D040-963A-806CE00AC461}"/>
              </a:ext>
            </a:extLst>
          </p:cNvPr>
          <p:cNvSpPr>
            <a:spLocks noChangeShapeType="1"/>
          </p:cNvSpPr>
          <p:nvPr/>
        </p:nvSpPr>
        <p:spPr bwMode="auto">
          <a:xfrm>
            <a:off x="7686675" y="2549525"/>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3" name="Line 1318">
            <a:extLst>
              <a:ext uri="{FF2B5EF4-FFF2-40B4-BE49-F238E27FC236}">
                <a16:creationId xmlns:a16="http://schemas.microsoft.com/office/drawing/2014/main" id="{A6E62624-22CC-EF4E-A834-ADBA681F5202}"/>
              </a:ext>
            </a:extLst>
          </p:cNvPr>
          <p:cNvSpPr>
            <a:spLocks noChangeShapeType="1"/>
          </p:cNvSpPr>
          <p:nvPr/>
        </p:nvSpPr>
        <p:spPr bwMode="auto">
          <a:xfrm>
            <a:off x="7340600" y="2855913"/>
            <a:ext cx="1889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4" name="Line 1319">
            <a:extLst>
              <a:ext uri="{FF2B5EF4-FFF2-40B4-BE49-F238E27FC236}">
                <a16:creationId xmlns:a16="http://schemas.microsoft.com/office/drawing/2014/main" id="{DC6BF5E9-9694-034E-B0A2-64A1509C165B}"/>
              </a:ext>
            </a:extLst>
          </p:cNvPr>
          <p:cNvSpPr>
            <a:spLocks noChangeShapeType="1"/>
          </p:cNvSpPr>
          <p:nvPr/>
        </p:nvSpPr>
        <p:spPr bwMode="auto">
          <a:xfrm flipV="1">
            <a:off x="5635625" y="3722688"/>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5" name="Line 1320">
            <a:extLst>
              <a:ext uri="{FF2B5EF4-FFF2-40B4-BE49-F238E27FC236}">
                <a16:creationId xmlns:a16="http://schemas.microsoft.com/office/drawing/2014/main" id="{2ADF01AC-D606-0942-B200-DD0B0BA0D1FE}"/>
              </a:ext>
            </a:extLst>
          </p:cNvPr>
          <p:cNvSpPr>
            <a:spLocks noChangeShapeType="1"/>
          </p:cNvSpPr>
          <p:nvPr/>
        </p:nvSpPr>
        <p:spPr bwMode="auto">
          <a:xfrm>
            <a:off x="7894638" y="2846388"/>
            <a:ext cx="17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6" name="Line 1321">
            <a:extLst>
              <a:ext uri="{FF2B5EF4-FFF2-40B4-BE49-F238E27FC236}">
                <a16:creationId xmlns:a16="http://schemas.microsoft.com/office/drawing/2014/main" id="{F1AEBB81-30D8-3340-9327-62C906D7FCE9}"/>
              </a:ext>
            </a:extLst>
          </p:cNvPr>
          <p:cNvSpPr>
            <a:spLocks noChangeShapeType="1"/>
          </p:cNvSpPr>
          <p:nvPr/>
        </p:nvSpPr>
        <p:spPr bwMode="auto">
          <a:xfrm flipH="1">
            <a:off x="7040563" y="2922588"/>
            <a:ext cx="98425" cy="704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7" name="Line 1322">
            <a:extLst>
              <a:ext uri="{FF2B5EF4-FFF2-40B4-BE49-F238E27FC236}">
                <a16:creationId xmlns:a16="http://schemas.microsoft.com/office/drawing/2014/main" id="{37F462C4-BBB1-7C4B-BB6F-2228F05734F1}"/>
              </a:ext>
            </a:extLst>
          </p:cNvPr>
          <p:cNvSpPr>
            <a:spLocks noChangeShapeType="1"/>
          </p:cNvSpPr>
          <p:nvPr/>
        </p:nvSpPr>
        <p:spPr bwMode="auto">
          <a:xfrm flipH="1">
            <a:off x="7632700" y="2922588"/>
            <a:ext cx="111125" cy="727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8" name="Line 1323">
            <a:extLst>
              <a:ext uri="{FF2B5EF4-FFF2-40B4-BE49-F238E27FC236}">
                <a16:creationId xmlns:a16="http://schemas.microsoft.com/office/drawing/2014/main" id="{203FACBA-C87A-3F4E-AACB-896354C9BB4E}"/>
              </a:ext>
            </a:extLst>
          </p:cNvPr>
          <p:cNvSpPr>
            <a:spLocks noChangeShapeType="1"/>
          </p:cNvSpPr>
          <p:nvPr/>
        </p:nvSpPr>
        <p:spPr bwMode="auto">
          <a:xfrm flipV="1">
            <a:off x="7016750" y="4064000"/>
            <a:ext cx="227013" cy="436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2019" name="Group 1324">
            <a:extLst>
              <a:ext uri="{FF2B5EF4-FFF2-40B4-BE49-F238E27FC236}">
                <a16:creationId xmlns:a16="http://schemas.microsoft.com/office/drawing/2014/main" id="{CC01301C-180E-624A-A3E5-846E4371F014}"/>
              </a:ext>
            </a:extLst>
          </p:cNvPr>
          <p:cNvGrpSpPr>
            <a:grpSpLocks/>
          </p:cNvGrpSpPr>
          <p:nvPr/>
        </p:nvGrpSpPr>
        <p:grpSpPr bwMode="auto">
          <a:xfrm flipH="1">
            <a:off x="5519738" y="4522788"/>
            <a:ext cx="414337" cy="373062"/>
            <a:chOff x="2839" y="3501"/>
            <a:chExt cx="755" cy="803"/>
          </a:xfrm>
        </p:grpSpPr>
        <p:pic>
          <p:nvPicPr>
            <p:cNvPr id="42605" name="Picture 1325" descr="desktop_computer_stylized_medium">
              <a:extLst>
                <a:ext uri="{FF2B5EF4-FFF2-40B4-BE49-F238E27FC236}">
                  <a16:creationId xmlns:a16="http://schemas.microsoft.com/office/drawing/2014/main" id="{C2A2D9C5-5FF9-934E-B30B-8C473CE77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606" name="Freeform 1326">
              <a:extLst>
                <a:ext uri="{FF2B5EF4-FFF2-40B4-BE49-F238E27FC236}">
                  <a16:creationId xmlns:a16="http://schemas.microsoft.com/office/drawing/2014/main" id="{70CDDA1B-EC1C-474D-93FD-62007926328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2020" name="Group 1327">
            <a:extLst>
              <a:ext uri="{FF2B5EF4-FFF2-40B4-BE49-F238E27FC236}">
                <a16:creationId xmlns:a16="http://schemas.microsoft.com/office/drawing/2014/main" id="{1321C77E-B8AD-E446-984A-9AE46F23DF64}"/>
              </a:ext>
            </a:extLst>
          </p:cNvPr>
          <p:cNvGrpSpPr>
            <a:grpSpLocks/>
          </p:cNvGrpSpPr>
          <p:nvPr/>
        </p:nvGrpSpPr>
        <p:grpSpPr bwMode="auto">
          <a:xfrm flipH="1">
            <a:off x="5202238" y="4943475"/>
            <a:ext cx="482600" cy="406400"/>
            <a:chOff x="2839" y="3501"/>
            <a:chExt cx="755" cy="803"/>
          </a:xfrm>
        </p:grpSpPr>
        <p:pic>
          <p:nvPicPr>
            <p:cNvPr id="42603" name="Picture 1328" descr="desktop_computer_stylized_medium">
              <a:extLst>
                <a:ext uri="{FF2B5EF4-FFF2-40B4-BE49-F238E27FC236}">
                  <a16:creationId xmlns:a16="http://schemas.microsoft.com/office/drawing/2014/main" id="{BF87B9B6-233C-4E42-AC13-EFBD92A0D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604" name="Freeform 1329">
              <a:extLst>
                <a:ext uri="{FF2B5EF4-FFF2-40B4-BE49-F238E27FC236}">
                  <a16:creationId xmlns:a16="http://schemas.microsoft.com/office/drawing/2014/main" id="{2216504E-28BC-7D44-9F8D-160EE3D2191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2021" name="Group 1330">
            <a:extLst>
              <a:ext uri="{FF2B5EF4-FFF2-40B4-BE49-F238E27FC236}">
                <a16:creationId xmlns:a16="http://schemas.microsoft.com/office/drawing/2014/main" id="{9CC11B42-9FB6-E345-9F7C-BD4D9B4EFBCD}"/>
              </a:ext>
            </a:extLst>
          </p:cNvPr>
          <p:cNvGrpSpPr>
            <a:grpSpLocks/>
          </p:cNvGrpSpPr>
          <p:nvPr/>
        </p:nvGrpSpPr>
        <p:grpSpPr bwMode="auto">
          <a:xfrm flipH="1">
            <a:off x="5680075" y="5245100"/>
            <a:ext cx="427038" cy="349250"/>
            <a:chOff x="2839" y="3501"/>
            <a:chExt cx="755" cy="803"/>
          </a:xfrm>
        </p:grpSpPr>
        <p:pic>
          <p:nvPicPr>
            <p:cNvPr id="42601" name="Picture 1331" descr="desktop_computer_stylized_medium">
              <a:extLst>
                <a:ext uri="{FF2B5EF4-FFF2-40B4-BE49-F238E27FC236}">
                  <a16:creationId xmlns:a16="http://schemas.microsoft.com/office/drawing/2014/main" id="{2453A453-D4F6-BB4D-AEB3-83B2BD2435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602" name="Freeform 1332">
              <a:extLst>
                <a:ext uri="{FF2B5EF4-FFF2-40B4-BE49-F238E27FC236}">
                  <a16:creationId xmlns:a16="http://schemas.microsoft.com/office/drawing/2014/main" id="{957295C1-6AF7-374C-91BE-0E641309A0E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2022" name="Group 1333">
            <a:extLst>
              <a:ext uri="{FF2B5EF4-FFF2-40B4-BE49-F238E27FC236}">
                <a16:creationId xmlns:a16="http://schemas.microsoft.com/office/drawing/2014/main" id="{EBE4BEFF-354C-5246-9F10-E6319B60DA25}"/>
              </a:ext>
            </a:extLst>
          </p:cNvPr>
          <p:cNvGrpSpPr>
            <a:grpSpLocks/>
          </p:cNvGrpSpPr>
          <p:nvPr/>
        </p:nvGrpSpPr>
        <p:grpSpPr bwMode="auto">
          <a:xfrm>
            <a:off x="6294438" y="5227638"/>
            <a:ext cx="427037" cy="350837"/>
            <a:chOff x="2839" y="3501"/>
            <a:chExt cx="755" cy="803"/>
          </a:xfrm>
        </p:grpSpPr>
        <p:pic>
          <p:nvPicPr>
            <p:cNvPr id="42599" name="Picture 1334" descr="desktop_computer_stylized_medium">
              <a:extLst>
                <a:ext uri="{FF2B5EF4-FFF2-40B4-BE49-F238E27FC236}">
                  <a16:creationId xmlns:a16="http://schemas.microsoft.com/office/drawing/2014/main" id="{0BAEFB10-C472-9049-AD7C-C35266ACC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600" name="Freeform 1335">
              <a:extLst>
                <a:ext uri="{FF2B5EF4-FFF2-40B4-BE49-F238E27FC236}">
                  <a16:creationId xmlns:a16="http://schemas.microsoft.com/office/drawing/2014/main" id="{CB9470F6-13AC-8447-8EBD-2919F86AA52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pic>
        <p:nvPicPr>
          <p:cNvPr id="42023" name="Picture 1336" descr="car_icon_small">
            <a:extLst>
              <a:ext uri="{FF2B5EF4-FFF2-40B4-BE49-F238E27FC236}">
                <a16:creationId xmlns:a16="http://schemas.microsoft.com/office/drawing/2014/main" id="{F4608A31-6B64-5A43-B702-5227143B71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6475" y="1709738"/>
            <a:ext cx="84931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024" name="Group 1337">
            <a:extLst>
              <a:ext uri="{FF2B5EF4-FFF2-40B4-BE49-F238E27FC236}">
                <a16:creationId xmlns:a16="http://schemas.microsoft.com/office/drawing/2014/main" id="{FB318A93-DB97-9848-A47B-E94C9B7728D4}"/>
              </a:ext>
            </a:extLst>
          </p:cNvPr>
          <p:cNvGrpSpPr>
            <a:grpSpLocks/>
          </p:cNvGrpSpPr>
          <p:nvPr/>
        </p:nvGrpSpPr>
        <p:grpSpPr bwMode="auto">
          <a:xfrm>
            <a:off x="5357813" y="1535113"/>
            <a:ext cx="415925" cy="385762"/>
            <a:chOff x="2751" y="1851"/>
            <a:chExt cx="462" cy="478"/>
          </a:xfrm>
        </p:grpSpPr>
        <p:pic>
          <p:nvPicPr>
            <p:cNvPr id="42597" name="Picture 1338" descr="iphone_stylized_small">
              <a:extLst>
                <a:ext uri="{FF2B5EF4-FFF2-40B4-BE49-F238E27FC236}">
                  <a16:creationId xmlns:a16="http://schemas.microsoft.com/office/drawing/2014/main" id="{6921E307-2210-7C4B-8A69-DBDD207D22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598" name="Picture 1339" descr="antenna_radiation_stylized">
              <a:extLst>
                <a:ext uri="{FF2B5EF4-FFF2-40B4-BE49-F238E27FC236}">
                  <a16:creationId xmlns:a16="http://schemas.microsoft.com/office/drawing/2014/main" id="{D27496DF-1339-7943-ADC6-DE9AAABC88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025" name="Group 1340">
            <a:extLst>
              <a:ext uri="{FF2B5EF4-FFF2-40B4-BE49-F238E27FC236}">
                <a16:creationId xmlns:a16="http://schemas.microsoft.com/office/drawing/2014/main" id="{C4E53C77-8C05-6344-9E60-0602378FAA2C}"/>
              </a:ext>
            </a:extLst>
          </p:cNvPr>
          <p:cNvGrpSpPr>
            <a:grpSpLocks/>
          </p:cNvGrpSpPr>
          <p:nvPr/>
        </p:nvGrpSpPr>
        <p:grpSpPr bwMode="auto">
          <a:xfrm>
            <a:off x="7434263" y="2384425"/>
            <a:ext cx="390525" cy="169863"/>
            <a:chOff x="4650" y="1129"/>
            <a:chExt cx="246" cy="95"/>
          </a:xfrm>
        </p:grpSpPr>
        <p:sp>
          <p:nvSpPr>
            <p:cNvPr id="42589" name="Oval 407">
              <a:extLst>
                <a:ext uri="{FF2B5EF4-FFF2-40B4-BE49-F238E27FC236}">
                  <a16:creationId xmlns:a16="http://schemas.microsoft.com/office/drawing/2014/main" id="{FCCFF61C-4FDA-B54D-B905-BAC5669303D2}"/>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90" name="Rectangle 410">
              <a:extLst>
                <a:ext uri="{FF2B5EF4-FFF2-40B4-BE49-F238E27FC236}">
                  <a16:creationId xmlns:a16="http://schemas.microsoft.com/office/drawing/2014/main" id="{E3214F7A-EB1D-8942-A3AE-82A147893867}"/>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91" name="Oval 411">
              <a:extLst>
                <a:ext uri="{FF2B5EF4-FFF2-40B4-BE49-F238E27FC236}">
                  <a16:creationId xmlns:a16="http://schemas.microsoft.com/office/drawing/2014/main" id="{98863261-BCCD-0647-A2AB-7967345AA6EC}"/>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92" name="Group 1344">
              <a:extLst>
                <a:ext uri="{FF2B5EF4-FFF2-40B4-BE49-F238E27FC236}">
                  <a16:creationId xmlns:a16="http://schemas.microsoft.com/office/drawing/2014/main" id="{13F9D096-3933-8743-BAFD-FD7E192AF962}"/>
                </a:ext>
              </a:extLst>
            </p:cNvPr>
            <p:cNvGrpSpPr>
              <a:grpSpLocks/>
            </p:cNvGrpSpPr>
            <p:nvPr/>
          </p:nvGrpSpPr>
          <p:grpSpPr bwMode="auto">
            <a:xfrm>
              <a:off x="4699" y="1145"/>
              <a:ext cx="138" cy="29"/>
              <a:chOff x="2468" y="1332"/>
              <a:chExt cx="310" cy="60"/>
            </a:xfrm>
          </p:grpSpPr>
          <p:sp>
            <p:nvSpPr>
              <p:cNvPr id="42595" name="Freeform 1345">
                <a:extLst>
                  <a:ext uri="{FF2B5EF4-FFF2-40B4-BE49-F238E27FC236}">
                    <a16:creationId xmlns:a16="http://schemas.microsoft.com/office/drawing/2014/main" id="{4BF22F0A-6365-B64B-9CC6-CD7BAF9756F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96" name="Freeform 1346">
                <a:extLst>
                  <a:ext uri="{FF2B5EF4-FFF2-40B4-BE49-F238E27FC236}">
                    <a16:creationId xmlns:a16="http://schemas.microsoft.com/office/drawing/2014/main" id="{C6826807-A170-A44C-9FE9-4B80E71E098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93" name="Line 1347">
              <a:extLst>
                <a:ext uri="{FF2B5EF4-FFF2-40B4-BE49-F238E27FC236}">
                  <a16:creationId xmlns:a16="http://schemas.microsoft.com/office/drawing/2014/main" id="{38B498C9-8606-1241-924B-5BD98B779327}"/>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94" name="Line 1348">
              <a:extLst>
                <a:ext uri="{FF2B5EF4-FFF2-40B4-BE49-F238E27FC236}">
                  <a16:creationId xmlns:a16="http://schemas.microsoft.com/office/drawing/2014/main" id="{EFEFDC2E-DDE3-4B40-B145-A8A917C2BC0D}"/>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26" name="Group 1349">
            <a:extLst>
              <a:ext uri="{FF2B5EF4-FFF2-40B4-BE49-F238E27FC236}">
                <a16:creationId xmlns:a16="http://schemas.microsoft.com/office/drawing/2014/main" id="{FD092D30-4B03-8D42-B887-63A85D722AAB}"/>
              </a:ext>
            </a:extLst>
          </p:cNvPr>
          <p:cNvGrpSpPr>
            <a:grpSpLocks/>
          </p:cNvGrpSpPr>
          <p:nvPr/>
        </p:nvGrpSpPr>
        <p:grpSpPr bwMode="auto">
          <a:xfrm>
            <a:off x="7507288" y="2746375"/>
            <a:ext cx="390525" cy="176213"/>
            <a:chOff x="4650" y="1129"/>
            <a:chExt cx="246" cy="95"/>
          </a:xfrm>
        </p:grpSpPr>
        <p:sp>
          <p:nvSpPr>
            <p:cNvPr id="42581" name="Oval 407">
              <a:extLst>
                <a:ext uri="{FF2B5EF4-FFF2-40B4-BE49-F238E27FC236}">
                  <a16:creationId xmlns:a16="http://schemas.microsoft.com/office/drawing/2014/main" id="{4D2190CB-A363-B543-B2B2-2976BD55F5AB}"/>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82" name="Rectangle 410">
              <a:extLst>
                <a:ext uri="{FF2B5EF4-FFF2-40B4-BE49-F238E27FC236}">
                  <a16:creationId xmlns:a16="http://schemas.microsoft.com/office/drawing/2014/main" id="{D860F223-99E6-BB4B-A78F-55D197894C76}"/>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83" name="Oval 411">
              <a:extLst>
                <a:ext uri="{FF2B5EF4-FFF2-40B4-BE49-F238E27FC236}">
                  <a16:creationId xmlns:a16="http://schemas.microsoft.com/office/drawing/2014/main" id="{375F0240-D042-EE4E-837C-532848DE6399}"/>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84" name="Group 1353">
              <a:extLst>
                <a:ext uri="{FF2B5EF4-FFF2-40B4-BE49-F238E27FC236}">
                  <a16:creationId xmlns:a16="http://schemas.microsoft.com/office/drawing/2014/main" id="{8DB9B7DB-410D-AE40-87BA-C438BB05D1B0}"/>
                </a:ext>
              </a:extLst>
            </p:cNvPr>
            <p:cNvGrpSpPr>
              <a:grpSpLocks/>
            </p:cNvGrpSpPr>
            <p:nvPr/>
          </p:nvGrpSpPr>
          <p:grpSpPr bwMode="auto">
            <a:xfrm>
              <a:off x="4699" y="1145"/>
              <a:ext cx="138" cy="29"/>
              <a:chOff x="2468" y="1332"/>
              <a:chExt cx="310" cy="60"/>
            </a:xfrm>
          </p:grpSpPr>
          <p:sp>
            <p:nvSpPr>
              <p:cNvPr id="42587" name="Freeform 1354">
                <a:extLst>
                  <a:ext uri="{FF2B5EF4-FFF2-40B4-BE49-F238E27FC236}">
                    <a16:creationId xmlns:a16="http://schemas.microsoft.com/office/drawing/2014/main" id="{CF28BFD8-484C-DD49-8843-65379918A7C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88" name="Freeform 1355">
                <a:extLst>
                  <a:ext uri="{FF2B5EF4-FFF2-40B4-BE49-F238E27FC236}">
                    <a16:creationId xmlns:a16="http://schemas.microsoft.com/office/drawing/2014/main" id="{CFEBB45C-7815-144A-B9B6-0E7184116B3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85" name="Line 1356">
              <a:extLst>
                <a:ext uri="{FF2B5EF4-FFF2-40B4-BE49-F238E27FC236}">
                  <a16:creationId xmlns:a16="http://schemas.microsoft.com/office/drawing/2014/main" id="{4467C0B2-8D0C-6A4F-9C52-EE94568C5D6A}"/>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86" name="Line 1357">
              <a:extLst>
                <a:ext uri="{FF2B5EF4-FFF2-40B4-BE49-F238E27FC236}">
                  <a16:creationId xmlns:a16="http://schemas.microsoft.com/office/drawing/2014/main" id="{FD67926F-512E-A048-85C7-5EEAF50A7B48}"/>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27" name="Group 1358">
            <a:extLst>
              <a:ext uri="{FF2B5EF4-FFF2-40B4-BE49-F238E27FC236}">
                <a16:creationId xmlns:a16="http://schemas.microsoft.com/office/drawing/2014/main" id="{D9ED3037-17AA-F84F-9164-E72695721C15}"/>
              </a:ext>
            </a:extLst>
          </p:cNvPr>
          <p:cNvGrpSpPr>
            <a:grpSpLocks/>
          </p:cNvGrpSpPr>
          <p:nvPr/>
        </p:nvGrpSpPr>
        <p:grpSpPr bwMode="auto">
          <a:xfrm>
            <a:off x="6948488" y="2482850"/>
            <a:ext cx="390525" cy="169863"/>
            <a:chOff x="4650" y="1129"/>
            <a:chExt cx="246" cy="95"/>
          </a:xfrm>
        </p:grpSpPr>
        <p:sp>
          <p:nvSpPr>
            <p:cNvPr id="42573" name="Oval 407">
              <a:extLst>
                <a:ext uri="{FF2B5EF4-FFF2-40B4-BE49-F238E27FC236}">
                  <a16:creationId xmlns:a16="http://schemas.microsoft.com/office/drawing/2014/main" id="{C23668CA-915F-6A42-8E08-60923D3EC8FD}"/>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74" name="Rectangle 410">
              <a:extLst>
                <a:ext uri="{FF2B5EF4-FFF2-40B4-BE49-F238E27FC236}">
                  <a16:creationId xmlns:a16="http://schemas.microsoft.com/office/drawing/2014/main" id="{0D206C40-9266-5F42-A2F8-43CF6EF52C5D}"/>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75" name="Oval 411">
              <a:extLst>
                <a:ext uri="{FF2B5EF4-FFF2-40B4-BE49-F238E27FC236}">
                  <a16:creationId xmlns:a16="http://schemas.microsoft.com/office/drawing/2014/main" id="{AF8FAB6B-72B2-694A-9EB1-FD859D28E618}"/>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76" name="Group 1362">
              <a:extLst>
                <a:ext uri="{FF2B5EF4-FFF2-40B4-BE49-F238E27FC236}">
                  <a16:creationId xmlns:a16="http://schemas.microsoft.com/office/drawing/2014/main" id="{B9487ABD-7CB1-844A-8A34-CB9CFCE8A97D}"/>
                </a:ext>
              </a:extLst>
            </p:cNvPr>
            <p:cNvGrpSpPr>
              <a:grpSpLocks/>
            </p:cNvGrpSpPr>
            <p:nvPr/>
          </p:nvGrpSpPr>
          <p:grpSpPr bwMode="auto">
            <a:xfrm>
              <a:off x="4699" y="1145"/>
              <a:ext cx="138" cy="29"/>
              <a:chOff x="2468" y="1332"/>
              <a:chExt cx="310" cy="60"/>
            </a:xfrm>
          </p:grpSpPr>
          <p:sp>
            <p:nvSpPr>
              <p:cNvPr id="42579" name="Freeform 1363">
                <a:extLst>
                  <a:ext uri="{FF2B5EF4-FFF2-40B4-BE49-F238E27FC236}">
                    <a16:creationId xmlns:a16="http://schemas.microsoft.com/office/drawing/2014/main" id="{B6C29883-D367-B24F-9ED7-AD421CD5180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80" name="Freeform 1364">
                <a:extLst>
                  <a:ext uri="{FF2B5EF4-FFF2-40B4-BE49-F238E27FC236}">
                    <a16:creationId xmlns:a16="http://schemas.microsoft.com/office/drawing/2014/main" id="{C86E4CC2-07C4-554D-A422-6CFF7A46A38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77" name="Line 1365">
              <a:extLst>
                <a:ext uri="{FF2B5EF4-FFF2-40B4-BE49-F238E27FC236}">
                  <a16:creationId xmlns:a16="http://schemas.microsoft.com/office/drawing/2014/main" id="{FD4701E3-423C-9F49-98BA-454FDD71C6D3}"/>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78" name="Line 1366">
              <a:extLst>
                <a:ext uri="{FF2B5EF4-FFF2-40B4-BE49-F238E27FC236}">
                  <a16:creationId xmlns:a16="http://schemas.microsoft.com/office/drawing/2014/main" id="{7C99DBC7-8B44-3C43-86CA-85D38FC9637D}"/>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28" name="Group 1367">
            <a:extLst>
              <a:ext uri="{FF2B5EF4-FFF2-40B4-BE49-F238E27FC236}">
                <a16:creationId xmlns:a16="http://schemas.microsoft.com/office/drawing/2014/main" id="{C26E1706-B97E-7648-85FA-239AF5F990DD}"/>
              </a:ext>
            </a:extLst>
          </p:cNvPr>
          <p:cNvGrpSpPr>
            <a:grpSpLocks/>
          </p:cNvGrpSpPr>
          <p:nvPr/>
        </p:nvGrpSpPr>
        <p:grpSpPr bwMode="auto">
          <a:xfrm>
            <a:off x="6959600" y="2746375"/>
            <a:ext cx="390525" cy="169863"/>
            <a:chOff x="4650" y="1129"/>
            <a:chExt cx="246" cy="95"/>
          </a:xfrm>
        </p:grpSpPr>
        <p:sp>
          <p:nvSpPr>
            <p:cNvPr id="42565" name="Oval 407">
              <a:extLst>
                <a:ext uri="{FF2B5EF4-FFF2-40B4-BE49-F238E27FC236}">
                  <a16:creationId xmlns:a16="http://schemas.microsoft.com/office/drawing/2014/main" id="{7D987E82-A24E-6C49-B7D9-D42106EE76E3}"/>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66" name="Rectangle 410">
              <a:extLst>
                <a:ext uri="{FF2B5EF4-FFF2-40B4-BE49-F238E27FC236}">
                  <a16:creationId xmlns:a16="http://schemas.microsoft.com/office/drawing/2014/main" id="{E728E3A6-B1EB-B445-BA1C-873AF82E6C22}"/>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67" name="Oval 411">
              <a:extLst>
                <a:ext uri="{FF2B5EF4-FFF2-40B4-BE49-F238E27FC236}">
                  <a16:creationId xmlns:a16="http://schemas.microsoft.com/office/drawing/2014/main" id="{A06F5909-4575-F841-805E-7C9C7D2B1365}"/>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68" name="Group 1371">
              <a:extLst>
                <a:ext uri="{FF2B5EF4-FFF2-40B4-BE49-F238E27FC236}">
                  <a16:creationId xmlns:a16="http://schemas.microsoft.com/office/drawing/2014/main" id="{6E6D47C9-862F-0B4D-A6B1-2B3E4E8A53A5}"/>
                </a:ext>
              </a:extLst>
            </p:cNvPr>
            <p:cNvGrpSpPr>
              <a:grpSpLocks/>
            </p:cNvGrpSpPr>
            <p:nvPr/>
          </p:nvGrpSpPr>
          <p:grpSpPr bwMode="auto">
            <a:xfrm>
              <a:off x="4699" y="1145"/>
              <a:ext cx="138" cy="29"/>
              <a:chOff x="2468" y="1332"/>
              <a:chExt cx="310" cy="60"/>
            </a:xfrm>
          </p:grpSpPr>
          <p:sp>
            <p:nvSpPr>
              <p:cNvPr id="42571" name="Freeform 1372">
                <a:extLst>
                  <a:ext uri="{FF2B5EF4-FFF2-40B4-BE49-F238E27FC236}">
                    <a16:creationId xmlns:a16="http://schemas.microsoft.com/office/drawing/2014/main" id="{9325E1EB-8448-CD49-9D46-7CDCE1D85148}"/>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72" name="Freeform 1373">
                <a:extLst>
                  <a:ext uri="{FF2B5EF4-FFF2-40B4-BE49-F238E27FC236}">
                    <a16:creationId xmlns:a16="http://schemas.microsoft.com/office/drawing/2014/main" id="{99D1DB1B-FBE7-4A4A-9567-820492E21CB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69" name="Line 1374">
              <a:extLst>
                <a:ext uri="{FF2B5EF4-FFF2-40B4-BE49-F238E27FC236}">
                  <a16:creationId xmlns:a16="http://schemas.microsoft.com/office/drawing/2014/main" id="{F30193C2-EBDC-BA40-829E-F7D56B428EEB}"/>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70" name="Line 1375">
              <a:extLst>
                <a:ext uri="{FF2B5EF4-FFF2-40B4-BE49-F238E27FC236}">
                  <a16:creationId xmlns:a16="http://schemas.microsoft.com/office/drawing/2014/main" id="{4A572E08-2A66-6D4B-B601-050F74E398A4}"/>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2029" name="Line 1376">
            <a:extLst>
              <a:ext uri="{FF2B5EF4-FFF2-40B4-BE49-F238E27FC236}">
                <a16:creationId xmlns:a16="http://schemas.microsoft.com/office/drawing/2014/main" id="{0CC1AF90-34BA-A445-B437-4BE8AB9014CD}"/>
              </a:ext>
            </a:extLst>
          </p:cNvPr>
          <p:cNvSpPr>
            <a:spLocks noChangeShapeType="1"/>
          </p:cNvSpPr>
          <p:nvPr/>
        </p:nvSpPr>
        <p:spPr bwMode="auto">
          <a:xfrm>
            <a:off x="8089900" y="2844800"/>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2030" name="Group 1377">
            <a:extLst>
              <a:ext uri="{FF2B5EF4-FFF2-40B4-BE49-F238E27FC236}">
                <a16:creationId xmlns:a16="http://schemas.microsoft.com/office/drawing/2014/main" id="{CC33AC8C-BA69-7342-81D3-7A103F0250F3}"/>
              </a:ext>
            </a:extLst>
          </p:cNvPr>
          <p:cNvGrpSpPr>
            <a:grpSpLocks/>
          </p:cNvGrpSpPr>
          <p:nvPr/>
        </p:nvGrpSpPr>
        <p:grpSpPr bwMode="auto">
          <a:xfrm>
            <a:off x="7145338" y="3900488"/>
            <a:ext cx="485775" cy="203200"/>
            <a:chOff x="4650" y="1129"/>
            <a:chExt cx="246" cy="95"/>
          </a:xfrm>
        </p:grpSpPr>
        <p:sp>
          <p:nvSpPr>
            <p:cNvPr id="42557" name="Oval 407">
              <a:extLst>
                <a:ext uri="{FF2B5EF4-FFF2-40B4-BE49-F238E27FC236}">
                  <a16:creationId xmlns:a16="http://schemas.microsoft.com/office/drawing/2014/main" id="{3B447AED-D66F-214E-A612-656C4436F3EC}"/>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58" name="Rectangle 410">
              <a:extLst>
                <a:ext uri="{FF2B5EF4-FFF2-40B4-BE49-F238E27FC236}">
                  <a16:creationId xmlns:a16="http://schemas.microsoft.com/office/drawing/2014/main" id="{4845BBAA-4830-9341-8BFE-336798BB42AD}"/>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59" name="Oval 411">
              <a:extLst>
                <a:ext uri="{FF2B5EF4-FFF2-40B4-BE49-F238E27FC236}">
                  <a16:creationId xmlns:a16="http://schemas.microsoft.com/office/drawing/2014/main" id="{912EB192-C6B9-A648-9668-77D329129C00}"/>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60" name="Group 1381">
              <a:extLst>
                <a:ext uri="{FF2B5EF4-FFF2-40B4-BE49-F238E27FC236}">
                  <a16:creationId xmlns:a16="http://schemas.microsoft.com/office/drawing/2014/main" id="{A40CA964-41EF-EB4B-8CC1-4985DA1FFE78}"/>
                </a:ext>
              </a:extLst>
            </p:cNvPr>
            <p:cNvGrpSpPr>
              <a:grpSpLocks/>
            </p:cNvGrpSpPr>
            <p:nvPr/>
          </p:nvGrpSpPr>
          <p:grpSpPr bwMode="auto">
            <a:xfrm>
              <a:off x="4699" y="1145"/>
              <a:ext cx="138" cy="29"/>
              <a:chOff x="2468" y="1332"/>
              <a:chExt cx="310" cy="60"/>
            </a:xfrm>
          </p:grpSpPr>
          <p:sp>
            <p:nvSpPr>
              <p:cNvPr id="42563" name="Freeform 1382">
                <a:extLst>
                  <a:ext uri="{FF2B5EF4-FFF2-40B4-BE49-F238E27FC236}">
                    <a16:creationId xmlns:a16="http://schemas.microsoft.com/office/drawing/2014/main" id="{38668570-3957-CC4F-A0B8-6584FB3FAFA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64" name="Freeform 1383">
                <a:extLst>
                  <a:ext uri="{FF2B5EF4-FFF2-40B4-BE49-F238E27FC236}">
                    <a16:creationId xmlns:a16="http://schemas.microsoft.com/office/drawing/2014/main" id="{3EFDDCD8-7A0C-D347-B313-D87F6C73923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61" name="Line 1384">
              <a:extLst>
                <a:ext uri="{FF2B5EF4-FFF2-40B4-BE49-F238E27FC236}">
                  <a16:creationId xmlns:a16="http://schemas.microsoft.com/office/drawing/2014/main" id="{FD84FFF2-E66C-2145-AE38-AF237FCABB7C}"/>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62" name="Line 1385">
              <a:extLst>
                <a:ext uri="{FF2B5EF4-FFF2-40B4-BE49-F238E27FC236}">
                  <a16:creationId xmlns:a16="http://schemas.microsoft.com/office/drawing/2014/main" id="{2102B7AD-ED61-4E43-880E-893CFD4CD9DA}"/>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31" name="Group 1386">
            <a:extLst>
              <a:ext uri="{FF2B5EF4-FFF2-40B4-BE49-F238E27FC236}">
                <a16:creationId xmlns:a16="http://schemas.microsoft.com/office/drawing/2014/main" id="{37A7281E-27AE-F542-B9FF-CA027E0F3884}"/>
              </a:ext>
            </a:extLst>
          </p:cNvPr>
          <p:cNvGrpSpPr>
            <a:grpSpLocks/>
          </p:cNvGrpSpPr>
          <p:nvPr/>
        </p:nvGrpSpPr>
        <p:grpSpPr bwMode="auto">
          <a:xfrm>
            <a:off x="6826250" y="3619500"/>
            <a:ext cx="485775" cy="203200"/>
            <a:chOff x="4650" y="1129"/>
            <a:chExt cx="246" cy="95"/>
          </a:xfrm>
        </p:grpSpPr>
        <p:sp>
          <p:nvSpPr>
            <p:cNvPr id="42549" name="Oval 407">
              <a:extLst>
                <a:ext uri="{FF2B5EF4-FFF2-40B4-BE49-F238E27FC236}">
                  <a16:creationId xmlns:a16="http://schemas.microsoft.com/office/drawing/2014/main" id="{0162E264-B298-9046-B82E-369C323EE56F}"/>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50" name="Rectangle 410">
              <a:extLst>
                <a:ext uri="{FF2B5EF4-FFF2-40B4-BE49-F238E27FC236}">
                  <a16:creationId xmlns:a16="http://schemas.microsoft.com/office/drawing/2014/main" id="{1E5357AA-D4D2-B34B-B924-4362A5048F2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51" name="Oval 411">
              <a:extLst>
                <a:ext uri="{FF2B5EF4-FFF2-40B4-BE49-F238E27FC236}">
                  <a16:creationId xmlns:a16="http://schemas.microsoft.com/office/drawing/2014/main" id="{700FAB12-212C-0445-8199-BF23E71217A4}"/>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52" name="Group 1390">
              <a:extLst>
                <a:ext uri="{FF2B5EF4-FFF2-40B4-BE49-F238E27FC236}">
                  <a16:creationId xmlns:a16="http://schemas.microsoft.com/office/drawing/2014/main" id="{949F90F3-249D-F443-A092-157185866DBB}"/>
                </a:ext>
              </a:extLst>
            </p:cNvPr>
            <p:cNvGrpSpPr>
              <a:grpSpLocks/>
            </p:cNvGrpSpPr>
            <p:nvPr/>
          </p:nvGrpSpPr>
          <p:grpSpPr bwMode="auto">
            <a:xfrm>
              <a:off x="4699" y="1145"/>
              <a:ext cx="138" cy="29"/>
              <a:chOff x="2468" y="1332"/>
              <a:chExt cx="310" cy="60"/>
            </a:xfrm>
          </p:grpSpPr>
          <p:sp>
            <p:nvSpPr>
              <p:cNvPr id="42555" name="Freeform 1391">
                <a:extLst>
                  <a:ext uri="{FF2B5EF4-FFF2-40B4-BE49-F238E27FC236}">
                    <a16:creationId xmlns:a16="http://schemas.microsoft.com/office/drawing/2014/main" id="{35B02794-7BCB-E242-A10F-2D98E6EAD698}"/>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56" name="Freeform 1392">
                <a:extLst>
                  <a:ext uri="{FF2B5EF4-FFF2-40B4-BE49-F238E27FC236}">
                    <a16:creationId xmlns:a16="http://schemas.microsoft.com/office/drawing/2014/main" id="{537D5176-E56D-894A-B828-8FB3F03DC2B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53" name="Line 1393">
              <a:extLst>
                <a:ext uri="{FF2B5EF4-FFF2-40B4-BE49-F238E27FC236}">
                  <a16:creationId xmlns:a16="http://schemas.microsoft.com/office/drawing/2014/main" id="{23C8B2FE-250D-9745-A67B-84B5615E51DC}"/>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54" name="Line 1394">
              <a:extLst>
                <a:ext uri="{FF2B5EF4-FFF2-40B4-BE49-F238E27FC236}">
                  <a16:creationId xmlns:a16="http://schemas.microsoft.com/office/drawing/2014/main" id="{6F35891E-8A69-2142-853A-FE4303061CCB}"/>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32" name="Group 1395">
            <a:extLst>
              <a:ext uri="{FF2B5EF4-FFF2-40B4-BE49-F238E27FC236}">
                <a16:creationId xmlns:a16="http://schemas.microsoft.com/office/drawing/2014/main" id="{54A05341-4FF4-D646-931E-6F4BD8A5962B}"/>
              </a:ext>
            </a:extLst>
          </p:cNvPr>
          <p:cNvGrpSpPr>
            <a:grpSpLocks/>
          </p:cNvGrpSpPr>
          <p:nvPr/>
        </p:nvGrpSpPr>
        <p:grpSpPr bwMode="auto">
          <a:xfrm>
            <a:off x="7488238" y="3632200"/>
            <a:ext cx="485775" cy="203200"/>
            <a:chOff x="4650" y="1129"/>
            <a:chExt cx="246" cy="95"/>
          </a:xfrm>
        </p:grpSpPr>
        <p:sp>
          <p:nvSpPr>
            <p:cNvPr id="42541" name="Oval 407">
              <a:extLst>
                <a:ext uri="{FF2B5EF4-FFF2-40B4-BE49-F238E27FC236}">
                  <a16:creationId xmlns:a16="http://schemas.microsoft.com/office/drawing/2014/main" id="{4A856AA4-CE08-1E44-AE69-0A0B2297FABE}"/>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42" name="Rectangle 410">
              <a:extLst>
                <a:ext uri="{FF2B5EF4-FFF2-40B4-BE49-F238E27FC236}">
                  <a16:creationId xmlns:a16="http://schemas.microsoft.com/office/drawing/2014/main" id="{C0673917-B2B3-F145-9831-A443E5FA23E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43" name="Oval 411">
              <a:extLst>
                <a:ext uri="{FF2B5EF4-FFF2-40B4-BE49-F238E27FC236}">
                  <a16:creationId xmlns:a16="http://schemas.microsoft.com/office/drawing/2014/main" id="{E0F8DA09-BF05-4C49-8183-F9BA5A582F45}"/>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44" name="Group 1399">
              <a:extLst>
                <a:ext uri="{FF2B5EF4-FFF2-40B4-BE49-F238E27FC236}">
                  <a16:creationId xmlns:a16="http://schemas.microsoft.com/office/drawing/2014/main" id="{2FF17447-23ED-DF49-B4B4-97C8C75BC291}"/>
                </a:ext>
              </a:extLst>
            </p:cNvPr>
            <p:cNvGrpSpPr>
              <a:grpSpLocks/>
            </p:cNvGrpSpPr>
            <p:nvPr/>
          </p:nvGrpSpPr>
          <p:grpSpPr bwMode="auto">
            <a:xfrm>
              <a:off x="4699" y="1145"/>
              <a:ext cx="138" cy="29"/>
              <a:chOff x="2468" y="1332"/>
              <a:chExt cx="310" cy="60"/>
            </a:xfrm>
          </p:grpSpPr>
          <p:sp>
            <p:nvSpPr>
              <p:cNvPr id="42547" name="Freeform 1400">
                <a:extLst>
                  <a:ext uri="{FF2B5EF4-FFF2-40B4-BE49-F238E27FC236}">
                    <a16:creationId xmlns:a16="http://schemas.microsoft.com/office/drawing/2014/main" id="{260E5310-5777-CA4B-A9AF-39E0674EB81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48" name="Freeform 1401">
                <a:extLst>
                  <a:ext uri="{FF2B5EF4-FFF2-40B4-BE49-F238E27FC236}">
                    <a16:creationId xmlns:a16="http://schemas.microsoft.com/office/drawing/2014/main" id="{0AFD0F62-8BD6-DD49-ABDE-4DDEB3A38D1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45" name="Line 1402">
              <a:extLst>
                <a:ext uri="{FF2B5EF4-FFF2-40B4-BE49-F238E27FC236}">
                  <a16:creationId xmlns:a16="http://schemas.microsoft.com/office/drawing/2014/main" id="{8DE6B650-58C1-A641-87AA-042A28542CE0}"/>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46" name="Line 1403">
              <a:extLst>
                <a:ext uri="{FF2B5EF4-FFF2-40B4-BE49-F238E27FC236}">
                  <a16:creationId xmlns:a16="http://schemas.microsoft.com/office/drawing/2014/main" id="{88725932-3F33-5F49-8FFB-70FF061C1054}"/>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33" name="Group 1404">
            <a:extLst>
              <a:ext uri="{FF2B5EF4-FFF2-40B4-BE49-F238E27FC236}">
                <a16:creationId xmlns:a16="http://schemas.microsoft.com/office/drawing/2014/main" id="{A805511F-B9AB-994C-992D-93F7237BC851}"/>
              </a:ext>
            </a:extLst>
          </p:cNvPr>
          <p:cNvGrpSpPr>
            <a:grpSpLocks/>
          </p:cNvGrpSpPr>
          <p:nvPr/>
        </p:nvGrpSpPr>
        <p:grpSpPr bwMode="auto">
          <a:xfrm>
            <a:off x="6707188" y="4494213"/>
            <a:ext cx="619125" cy="242887"/>
            <a:chOff x="4650" y="1129"/>
            <a:chExt cx="246" cy="95"/>
          </a:xfrm>
        </p:grpSpPr>
        <p:sp>
          <p:nvSpPr>
            <p:cNvPr id="42533" name="Oval 407">
              <a:extLst>
                <a:ext uri="{FF2B5EF4-FFF2-40B4-BE49-F238E27FC236}">
                  <a16:creationId xmlns:a16="http://schemas.microsoft.com/office/drawing/2014/main" id="{81B4776B-E1E1-B345-A98C-B1029148B18D}"/>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34" name="Rectangle 410">
              <a:extLst>
                <a:ext uri="{FF2B5EF4-FFF2-40B4-BE49-F238E27FC236}">
                  <a16:creationId xmlns:a16="http://schemas.microsoft.com/office/drawing/2014/main" id="{79B650B8-66D3-6842-9E2A-35FD04DB0395}"/>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35" name="Oval 411">
              <a:extLst>
                <a:ext uri="{FF2B5EF4-FFF2-40B4-BE49-F238E27FC236}">
                  <a16:creationId xmlns:a16="http://schemas.microsoft.com/office/drawing/2014/main" id="{93F57F02-3357-0443-BD6C-75090CAA2805}"/>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36" name="Group 1408">
              <a:extLst>
                <a:ext uri="{FF2B5EF4-FFF2-40B4-BE49-F238E27FC236}">
                  <a16:creationId xmlns:a16="http://schemas.microsoft.com/office/drawing/2014/main" id="{112225AA-978C-BF48-BF64-6DC50933CE17}"/>
                </a:ext>
              </a:extLst>
            </p:cNvPr>
            <p:cNvGrpSpPr>
              <a:grpSpLocks/>
            </p:cNvGrpSpPr>
            <p:nvPr/>
          </p:nvGrpSpPr>
          <p:grpSpPr bwMode="auto">
            <a:xfrm>
              <a:off x="4699" y="1145"/>
              <a:ext cx="138" cy="29"/>
              <a:chOff x="2468" y="1332"/>
              <a:chExt cx="310" cy="60"/>
            </a:xfrm>
          </p:grpSpPr>
          <p:sp>
            <p:nvSpPr>
              <p:cNvPr id="42539" name="Freeform 1409">
                <a:extLst>
                  <a:ext uri="{FF2B5EF4-FFF2-40B4-BE49-F238E27FC236}">
                    <a16:creationId xmlns:a16="http://schemas.microsoft.com/office/drawing/2014/main" id="{4EF16273-1317-FC45-8D8F-8BFCBE56DD1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40" name="Freeform 1410">
                <a:extLst>
                  <a:ext uri="{FF2B5EF4-FFF2-40B4-BE49-F238E27FC236}">
                    <a16:creationId xmlns:a16="http://schemas.microsoft.com/office/drawing/2014/main" id="{DD0D7F86-071B-DA4E-BFDA-7D4A26E19B6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37" name="Line 1411">
              <a:extLst>
                <a:ext uri="{FF2B5EF4-FFF2-40B4-BE49-F238E27FC236}">
                  <a16:creationId xmlns:a16="http://schemas.microsoft.com/office/drawing/2014/main" id="{456D5EA3-CB27-8143-954C-174BD6FB74CA}"/>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38" name="Line 1412">
              <a:extLst>
                <a:ext uri="{FF2B5EF4-FFF2-40B4-BE49-F238E27FC236}">
                  <a16:creationId xmlns:a16="http://schemas.microsoft.com/office/drawing/2014/main" id="{5C0970AB-AFB8-1940-9042-FA149FEFACB8}"/>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34" name="Group 1413">
            <a:extLst>
              <a:ext uri="{FF2B5EF4-FFF2-40B4-BE49-F238E27FC236}">
                <a16:creationId xmlns:a16="http://schemas.microsoft.com/office/drawing/2014/main" id="{D7A1C4B3-59A8-8F42-BBF0-3A10A2075ECA}"/>
              </a:ext>
            </a:extLst>
          </p:cNvPr>
          <p:cNvGrpSpPr>
            <a:grpSpLocks/>
          </p:cNvGrpSpPr>
          <p:nvPr/>
        </p:nvGrpSpPr>
        <p:grpSpPr bwMode="auto">
          <a:xfrm>
            <a:off x="7340600" y="4792663"/>
            <a:ext cx="619125" cy="242887"/>
            <a:chOff x="4650" y="1129"/>
            <a:chExt cx="246" cy="95"/>
          </a:xfrm>
        </p:grpSpPr>
        <p:sp>
          <p:nvSpPr>
            <p:cNvPr id="42525" name="Oval 407">
              <a:extLst>
                <a:ext uri="{FF2B5EF4-FFF2-40B4-BE49-F238E27FC236}">
                  <a16:creationId xmlns:a16="http://schemas.microsoft.com/office/drawing/2014/main" id="{8E605CAE-1D58-6A4C-911C-271A5430BBC7}"/>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26" name="Rectangle 410">
              <a:extLst>
                <a:ext uri="{FF2B5EF4-FFF2-40B4-BE49-F238E27FC236}">
                  <a16:creationId xmlns:a16="http://schemas.microsoft.com/office/drawing/2014/main" id="{E258F9B6-CFCA-FF46-A79D-0BA5CA66B5E5}"/>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27" name="Oval 411">
              <a:extLst>
                <a:ext uri="{FF2B5EF4-FFF2-40B4-BE49-F238E27FC236}">
                  <a16:creationId xmlns:a16="http://schemas.microsoft.com/office/drawing/2014/main" id="{D14F619A-6AC1-6B42-89A6-D19187486055}"/>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28" name="Group 1417">
              <a:extLst>
                <a:ext uri="{FF2B5EF4-FFF2-40B4-BE49-F238E27FC236}">
                  <a16:creationId xmlns:a16="http://schemas.microsoft.com/office/drawing/2014/main" id="{17472619-261E-7D4E-996F-88A2F5999A76}"/>
                </a:ext>
              </a:extLst>
            </p:cNvPr>
            <p:cNvGrpSpPr>
              <a:grpSpLocks/>
            </p:cNvGrpSpPr>
            <p:nvPr/>
          </p:nvGrpSpPr>
          <p:grpSpPr bwMode="auto">
            <a:xfrm>
              <a:off x="4699" y="1145"/>
              <a:ext cx="138" cy="29"/>
              <a:chOff x="2468" y="1332"/>
              <a:chExt cx="310" cy="60"/>
            </a:xfrm>
          </p:grpSpPr>
          <p:sp>
            <p:nvSpPr>
              <p:cNvPr id="42531" name="Freeform 1418">
                <a:extLst>
                  <a:ext uri="{FF2B5EF4-FFF2-40B4-BE49-F238E27FC236}">
                    <a16:creationId xmlns:a16="http://schemas.microsoft.com/office/drawing/2014/main" id="{3BA3327C-C6F2-CF4A-9C1D-98DC9060CCA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32" name="Freeform 1419">
                <a:extLst>
                  <a:ext uri="{FF2B5EF4-FFF2-40B4-BE49-F238E27FC236}">
                    <a16:creationId xmlns:a16="http://schemas.microsoft.com/office/drawing/2014/main" id="{0B359C52-1CD0-B841-A268-C8CBEB48A064}"/>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29" name="Line 1420">
              <a:extLst>
                <a:ext uri="{FF2B5EF4-FFF2-40B4-BE49-F238E27FC236}">
                  <a16:creationId xmlns:a16="http://schemas.microsoft.com/office/drawing/2014/main" id="{ABB50C26-9AAC-8948-844A-1F7097FCA627}"/>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30" name="Line 1421">
              <a:extLst>
                <a:ext uri="{FF2B5EF4-FFF2-40B4-BE49-F238E27FC236}">
                  <a16:creationId xmlns:a16="http://schemas.microsoft.com/office/drawing/2014/main" id="{6BF64E7B-7591-F94E-B8BB-F38E34E8D3BC}"/>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35" name="Group 1422">
            <a:extLst>
              <a:ext uri="{FF2B5EF4-FFF2-40B4-BE49-F238E27FC236}">
                <a16:creationId xmlns:a16="http://schemas.microsoft.com/office/drawing/2014/main" id="{3B907B6D-3302-464A-BCBC-4D25879DD038}"/>
              </a:ext>
            </a:extLst>
          </p:cNvPr>
          <p:cNvGrpSpPr>
            <a:grpSpLocks/>
          </p:cNvGrpSpPr>
          <p:nvPr/>
        </p:nvGrpSpPr>
        <p:grpSpPr bwMode="auto">
          <a:xfrm>
            <a:off x="5991225" y="4837113"/>
            <a:ext cx="619125" cy="242887"/>
            <a:chOff x="4650" y="1129"/>
            <a:chExt cx="246" cy="95"/>
          </a:xfrm>
        </p:grpSpPr>
        <p:sp>
          <p:nvSpPr>
            <p:cNvPr id="42517" name="Oval 407">
              <a:extLst>
                <a:ext uri="{FF2B5EF4-FFF2-40B4-BE49-F238E27FC236}">
                  <a16:creationId xmlns:a16="http://schemas.microsoft.com/office/drawing/2014/main" id="{6410C3AE-2C98-3840-A3F6-88ACB7A230B8}"/>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18" name="Rectangle 410">
              <a:extLst>
                <a:ext uri="{FF2B5EF4-FFF2-40B4-BE49-F238E27FC236}">
                  <a16:creationId xmlns:a16="http://schemas.microsoft.com/office/drawing/2014/main" id="{26F49280-ABB2-5948-9CB9-5FFC5679F91A}"/>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19" name="Oval 411">
              <a:extLst>
                <a:ext uri="{FF2B5EF4-FFF2-40B4-BE49-F238E27FC236}">
                  <a16:creationId xmlns:a16="http://schemas.microsoft.com/office/drawing/2014/main" id="{2C8D5474-19F3-B545-AF40-D5F84E8AB1A8}"/>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20" name="Group 1426">
              <a:extLst>
                <a:ext uri="{FF2B5EF4-FFF2-40B4-BE49-F238E27FC236}">
                  <a16:creationId xmlns:a16="http://schemas.microsoft.com/office/drawing/2014/main" id="{6375164E-945C-C64A-B51A-20FDCBF9ACC4}"/>
                </a:ext>
              </a:extLst>
            </p:cNvPr>
            <p:cNvGrpSpPr>
              <a:grpSpLocks/>
            </p:cNvGrpSpPr>
            <p:nvPr/>
          </p:nvGrpSpPr>
          <p:grpSpPr bwMode="auto">
            <a:xfrm>
              <a:off x="4699" y="1145"/>
              <a:ext cx="138" cy="29"/>
              <a:chOff x="2468" y="1332"/>
              <a:chExt cx="310" cy="60"/>
            </a:xfrm>
          </p:grpSpPr>
          <p:sp>
            <p:nvSpPr>
              <p:cNvPr id="42523" name="Freeform 1427">
                <a:extLst>
                  <a:ext uri="{FF2B5EF4-FFF2-40B4-BE49-F238E27FC236}">
                    <a16:creationId xmlns:a16="http://schemas.microsoft.com/office/drawing/2014/main" id="{DD50B1B5-3A41-764A-81F9-B9E4E5EB4AE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24" name="Freeform 1428">
                <a:extLst>
                  <a:ext uri="{FF2B5EF4-FFF2-40B4-BE49-F238E27FC236}">
                    <a16:creationId xmlns:a16="http://schemas.microsoft.com/office/drawing/2014/main" id="{4A2229DB-6AE2-434F-B973-6C631C38E4D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21" name="Line 1429">
              <a:extLst>
                <a:ext uri="{FF2B5EF4-FFF2-40B4-BE49-F238E27FC236}">
                  <a16:creationId xmlns:a16="http://schemas.microsoft.com/office/drawing/2014/main" id="{2512E2A7-52A3-7749-ACC8-3D392313B968}"/>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22" name="Line 1430">
              <a:extLst>
                <a:ext uri="{FF2B5EF4-FFF2-40B4-BE49-F238E27FC236}">
                  <a16:creationId xmlns:a16="http://schemas.microsoft.com/office/drawing/2014/main" id="{6C48AA89-580F-3947-9DA2-7DADBCBC9FE2}"/>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36" name="Group 1431">
            <a:extLst>
              <a:ext uri="{FF2B5EF4-FFF2-40B4-BE49-F238E27FC236}">
                <a16:creationId xmlns:a16="http://schemas.microsoft.com/office/drawing/2014/main" id="{A0BCAF7E-F793-274B-A893-122E2AB85F71}"/>
              </a:ext>
            </a:extLst>
          </p:cNvPr>
          <p:cNvGrpSpPr>
            <a:grpSpLocks/>
          </p:cNvGrpSpPr>
          <p:nvPr/>
        </p:nvGrpSpPr>
        <p:grpSpPr bwMode="auto">
          <a:xfrm>
            <a:off x="5797550" y="3629025"/>
            <a:ext cx="390525" cy="169863"/>
            <a:chOff x="4650" y="1129"/>
            <a:chExt cx="246" cy="95"/>
          </a:xfrm>
        </p:grpSpPr>
        <p:sp>
          <p:nvSpPr>
            <p:cNvPr id="42509" name="Oval 407">
              <a:extLst>
                <a:ext uri="{FF2B5EF4-FFF2-40B4-BE49-F238E27FC236}">
                  <a16:creationId xmlns:a16="http://schemas.microsoft.com/office/drawing/2014/main" id="{FFC0B838-FFE6-614B-932E-CE95AB8D2CFD}"/>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10" name="Rectangle 410">
              <a:extLst>
                <a:ext uri="{FF2B5EF4-FFF2-40B4-BE49-F238E27FC236}">
                  <a16:creationId xmlns:a16="http://schemas.microsoft.com/office/drawing/2014/main" id="{100F3939-3E1B-F24D-846D-17F55A2152E6}"/>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11" name="Oval 411">
              <a:extLst>
                <a:ext uri="{FF2B5EF4-FFF2-40B4-BE49-F238E27FC236}">
                  <a16:creationId xmlns:a16="http://schemas.microsoft.com/office/drawing/2014/main" id="{46E0BE30-2C5D-EA4D-B2CF-4451EFE493AA}"/>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12" name="Group 1435">
              <a:extLst>
                <a:ext uri="{FF2B5EF4-FFF2-40B4-BE49-F238E27FC236}">
                  <a16:creationId xmlns:a16="http://schemas.microsoft.com/office/drawing/2014/main" id="{2E38924D-D11F-614F-B0D6-94705B0D3BD8}"/>
                </a:ext>
              </a:extLst>
            </p:cNvPr>
            <p:cNvGrpSpPr>
              <a:grpSpLocks/>
            </p:cNvGrpSpPr>
            <p:nvPr/>
          </p:nvGrpSpPr>
          <p:grpSpPr bwMode="auto">
            <a:xfrm>
              <a:off x="4699" y="1145"/>
              <a:ext cx="138" cy="29"/>
              <a:chOff x="2468" y="1332"/>
              <a:chExt cx="310" cy="60"/>
            </a:xfrm>
          </p:grpSpPr>
          <p:sp>
            <p:nvSpPr>
              <p:cNvPr id="42515" name="Freeform 1436">
                <a:extLst>
                  <a:ext uri="{FF2B5EF4-FFF2-40B4-BE49-F238E27FC236}">
                    <a16:creationId xmlns:a16="http://schemas.microsoft.com/office/drawing/2014/main" id="{D5ECF50A-6303-1C4C-BA60-13C7C5BC82C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16" name="Freeform 1437">
                <a:extLst>
                  <a:ext uri="{FF2B5EF4-FFF2-40B4-BE49-F238E27FC236}">
                    <a16:creationId xmlns:a16="http://schemas.microsoft.com/office/drawing/2014/main" id="{602EAF5F-991D-8341-9940-225897FF79FA}"/>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13" name="Line 1438">
              <a:extLst>
                <a:ext uri="{FF2B5EF4-FFF2-40B4-BE49-F238E27FC236}">
                  <a16:creationId xmlns:a16="http://schemas.microsoft.com/office/drawing/2014/main" id="{27805029-849F-104B-B46D-1AC01D8E8D60}"/>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14" name="Line 1439">
              <a:extLst>
                <a:ext uri="{FF2B5EF4-FFF2-40B4-BE49-F238E27FC236}">
                  <a16:creationId xmlns:a16="http://schemas.microsoft.com/office/drawing/2014/main" id="{A470A978-D710-7A41-99AF-7BE2B4C2D346}"/>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37" name="Group 1440">
            <a:extLst>
              <a:ext uri="{FF2B5EF4-FFF2-40B4-BE49-F238E27FC236}">
                <a16:creationId xmlns:a16="http://schemas.microsoft.com/office/drawing/2014/main" id="{B39C2AB7-08FE-D647-B22F-F32ABD8DBB62}"/>
              </a:ext>
            </a:extLst>
          </p:cNvPr>
          <p:cNvGrpSpPr>
            <a:grpSpLocks/>
          </p:cNvGrpSpPr>
          <p:nvPr/>
        </p:nvGrpSpPr>
        <p:grpSpPr bwMode="auto">
          <a:xfrm>
            <a:off x="6097588" y="2476500"/>
            <a:ext cx="390525" cy="169863"/>
            <a:chOff x="4650" y="1129"/>
            <a:chExt cx="246" cy="95"/>
          </a:xfrm>
        </p:grpSpPr>
        <p:sp>
          <p:nvSpPr>
            <p:cNvPr id="42501" name="Oval 407">
              <a:extLst>
                <a:ext uri="{FF2B5EF4-FFF2-40B4-BE49-F238E27FC236}">
                  <a16:creationId xmlns:a16="http://schemas.microsoft.com/office/drawing/2014/main" id="{B1A4F48A-CC60-1547-B0E5-E9FD20B25B50}"/>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42502" name="Rectangle 410">
              <a:extLst>
                <a:ext uri="{FF2B5EF4-FFF2-40B4-BE49-F238E27FC236}">
                  <a16:creationId xmlns:a16="http://schemas.microsoft.com/office/drawing/2014/main" id="{B4CA717F-1751-D046-A996-F647DA8080B5}"/>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42503" name="Oval 411">
              <a:extLst>
                <a:ext uri="{FF2B5EF4-FFF2-40B4-BE49-F238E27FC236}">
                  <a16:creationId xmlns:a16="http://schemas.microsoft.com/office/drawing/2014/main" id="{E20F51AE-C7BA-2A4E-9CB1-6C96EE5B7B8C}"/>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42504" name="Group 1444">
              <a:extLst>
                <a:ext uri="{FF2B5EF4-FFF2-40B4-BE49-F238E27FC236}">
                  <a16:creationId xmlns:a16="http://schemas.microsoft.com/office/drawing/2014/main" id="{E8DDD7F3-27E0-FA49-84A8-D711C9E3CFF9}"/>
                </a:ext>
              </a:extLst>
            </p:cNvPr>
            <p:cNvGrpSpPr>
              <a:grpSpLocks/>
            </p:cNvGrpSpPr>
            <p:nvPr/>
          </p:nvGrpSpPr>
          <p:grpSpPr bwMode="auto">
            <a:xfrm>
              <a:off x="4699" y="1145"/>
              <a:ext cx="138" cy="29"/>
              <a:chOff x="2468" y="1332"/>
              <a:chExt cx="310" cy="60"/>
            </a:xfrm>
          </p:grpSpPr>
          <p:sp>
            <p:nvSpPr>
              <p:cNvPr id="42507" name="Freeform 1445">
                <a:extLst>
                  <a:ext uri="{FF2B5EF4-FFF2-40B4-BE49-F238E27FC236}">
                    <a16:creationId xmlns:a16="http://schemas.microsoft.com/office/drawing/2014/main" id="{1B60A39C-42ED-AF4B-AC06-6C5F31D05A5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508" name="Freeform 1446">
                <a:extLst>
                  <a:ext uri="{FF2B5EF4-FFF2-40B4-BE49-F238E27FC236}">
                    <a16:creationId xmlns:a16="http://schemas.microsoft.com/office/drawing/2014/main" id="{55B3B53E-0BAB-2C4B-8DF2-37F38D2482F0}"/>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2505" name="Line 1447">
              <a:extLst>
                <a:ext uri="{FF2B5EF4-FFF2-40B4-BE49-F238E27FC236}">
                  <a16:creationId xmlns:a16="http://schemas.microsoft.com/office/drawing/2014/main" id="{3DEDF066-E07A-C946-9F80-957683FAF57B}"/>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506" name="Line 1448">
              <a:extLst>
                <a:ext uri="{FF2B5EF4-FFF2-40B4-BE49-F238E27FC236}">
                  <a16:creationId xmlns:a16="http://schemas.microsoft.com/office/drawing/2014/main" id="{0C777880-9E7D-4345-9076-2E5911BFDA6C}"/>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2038" name="Group 1449">
            <a:extLst>
              <a:ext uri="{FF2B5EF4-FFF2-40B4-BE49-F238E27FC236}">
                <a16:creationId xmlns:a16="http://schemas.microsoft.com/office/drawing/2014/main" id="{25513217-834F-4B40-87C8-FDD3134B02B8}"/>
              </a:ext>
            </a:extLst>
          </p:cNvPr>
          <p:cNvGrpSpPr>
            <a:grpSpLocks/>
          </p:cNvGrpSpPr>
          <p:nvPr/>
        </p:nvGrpSpPr>
        <p:grpSpPr bwMode="auto">
          <a:xfrm>
            <a:off x="5356225" y="3489325"/>
            <a:ext cx="506413" cy="352425"/>
            <a:chOff x="2967" y="478"/>
            <a:chExt cx="788" cy="625"/>
          </a:xfrm>
        </p:grpSpPr>
        <p:pic>
          <p:nvPicPr>
            <p:cNvPr id="42499" name="Picture 1450" descr="access_point_stylized_small">
              <a:extLst>
                <a:ext uri="{FF2B5EF4-FFF2-40B4-BE49-F238E27FC236}">
                  <a16:creationId xmlns:a16="http://schemas.microsoft.com/office/drawing/2014/main" id="{959F31B1-8512-BC48-8DD5-A8E8657D92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500" name="Picture 1451" descr="antenna_radiation_stylized">
              <a:extLst>
                <a:ext uri="{FF2B5EF4-FFF2-40B4-BE49-F238E27FC236}">
                  <a16:creationId xmlns:a16="http://schemas.microsoft.com/office/drawing/2014/main" id="{CE9E126E-6845-EA4A-8C20-B1146E00BA6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039" name="Group 1452">
            <a:extLst>
              <a:ext uri="{FF2B5EF4-FFF2-40B4-BE49-F238E27FC236}">
                <a16:creationId xmlns:a16="http://schemas.microsoft.com/office/drawing/2014/main" id="{E56B95B6-A52A-5B49-8158-EA967C850408}"/>
              </a:ext>
            </a:extLst>
          </p:cNvPr>
          <p:cNvGrpSpPr>
            <a:grpSpLocks/>
          </p:cNvGrpSpPr>
          <p:nvPr/>
        </p:nvGrpSpPr>
        <p:grpSpPr bwMode="auto">
          <a:xfrm>
            <a:off x="6877050" y="4992688"/>
            <a:ext cx="563563" cy="420687"/>
            <a:chOff x="2967" y="478"/>
            <a:chExt cx="788" cy="625"/>
          </a:xfrm>
        </p:grpSpPr>
        <p:pic>
          <p:nvPicPr>
            <p:cNvPr id="42497" name="Picture 1453" descr="access_point_stylized_small">
              <a:extLst>
                <a:ext uri="{FF2B5EF4-FFF2-40B4-BE49-F238E27FC236}">
                  <a16:creationId xmlns:a16="http://schemas.microsoft.com/office/drawing/2014/main" id="{5E52758A-1652-5B4B-B1E0-3FA36AD2EC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498" name="Picture 1454" descr="antenna_radiation_stylized">
              <a:extLst>
                <a:ext uri="{FF2B5EF4-FFF2-40B4-BE49-F238E27FC236}">
                  <a16:creationId xmlns:a16="http://schemas.microsoft.com/office/drawing/2014/main" id="{78E944B8-79CE-A24D-884E-985F47F0B87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040" name="Group 1455">
            <a:extLst>
              <a:ext uri="{FF2B5EF4-FFF2-40B4-BE49-F238E27FC236}">
                <a16:creationId xmlns:a16="http://schemas.microsoft.com/office/drawing/2014/main" id="{9F66EA0E-B178-A74B-BDD5-3DCB97B552FA}"/>
              </a:ext>
            </a:extLst>
          </p:cNvPr>
          <p:cNvGrpSpPr>
            <a:grpSpLocks/>
          </p:cNvGrpSpPr>
          <p:nvPr/>
        </p:nvGrpSpPr>
        <p:grpSpPr bwMode="auto">
          <a:xfrm>
            <a:off x="5805488" y="1833563"/>
            <a:ext cx="457200" cy="631825"/>
            <a:chOff x="742" y="2409"/>
            <a:chExt cx="576" cy="881"/>
          </a:xfrm>
        </p:grpSpPr>
        <p:grpSp>
          <p:nvGrpSpPr>
            <p:cNvPr id="42479" name="Group 1456">
              <a:extLst>
                <a:ext uri="{FF2B5EF4-FFF2-40B4-BE49-F238E27FC236}">
                  <a16:creationId xmlns:a16="http://schemas.microsoft.com/office/drawing/2014/main" id="{78FB47F4-FA23-224C-8392-4034F1B026BB}"/>
                </a:ext>
              </a:extLst>
            </p:cNvPr>
            <p:cNvGrpSpPr>
              <a:grpSpLocks/>
            </p:cNvGrpSpPr>
            <p:nvPr/>
          </p:nvGrpSpPr>
          <p:grpSpPr bwMode="auto">
            <a:xfrm>
              <a:off x="832" y="2643"/>
              <a:ext cx="376" cy="647"/>
              <a:chOff x="3130" y="3288"/>
              <a:chExt cx="410" cy="742"/>
            </a:xfrm>
          </p:grpSpPr>
          <p:sp>
            <p:nvSpPr>
              <p:cNvPr id="42482" name="Line 270">
                <a:extLst>
                  <a:ext uri="{FF2B5EF4-FFF2-40B4-BE49-F238E27FC236}">
                    <a16:creationId xmlns:a16="http://schemas.microsoft.com/office/drawing/2014/main" id="{02C86CB7-CC4E-A248-87E8-304391427AF0}"/>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83" name="Line 271">
                <a:extLst>
                  <a:ext uri="{FF2B5EF4-FFF2-40B4-BE49-F238E27FC236}">
                    <a16:creationId xmlns:a16="http://schemas.microsoft.com/office/drawing/2014/main" id="{563E7521-AC11-E145-8B83-3621181C17FA}"/>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84" name="Line 272">
                <a:extLst>
                  <a:ext uri="{FF2B5EF4-FFF2-40B4-BE49-F238E27FC236}">
                    <a16:creationId xmlns:a16="http://schemas.microsoft.com/office/drawing/2014/main" id="{740CE440-4BD0-F248-94FA-3BE482AE6639}"/>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85" name="Line 273">
                <a:extLst>
                  <a:ext uri="{FF2B5EF4-FFF2-40B4-BE49-F238E27FC236}">
                    <a16:creationId xmlns:a16="http://schemas.microsoft.com/office/drawing/2014/main" id="{8FB35506-CBCE-6646-AC2E-863EF4E77B55}"/>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86" name="Line 274">
                <a:extLst>
                  <a:ext uri="{FF2B5EF4-FFF2-40B4-BE49-F238E27FC236}">
                    <a16:creationId xmlns:a16="http://schemas.microsoft.com/office/drawing/2014/main" id="{8BA54C8C-FC4F-3C4A-BB2A-18E79997E43A}"/>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87" name="Line 275">
                <a:extLst>
                  <a:ext uri="{FF2B5EF4-FFF2-40B4-BE49-F238E27FC236}">
                    <a16:creationId xmlns:a16="http://schemas.microsoft.com/office/drawing/2014/main" id="{C41887CD-2F95-D14F-AA92-26ED447C2CB6}"/>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88" name="Line 276">
                <a:extLst>
                  <a:ext uri="{FF2B5EF4-FFF2-40B4-BE49-F238E27FC236}">
                    <a16:creationId xmlns:a16="http://schemas.microsoft.com/office/drawing/2014/main" id="{F0F013C0-FB6B-6A4E-9A67-C1AB6234A8D8}"/>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89" name="Line 277">
                <a:extLst>
                  <a:ext uri="{FF2B5EF4-FFF2-40B4-BE49-F238E27FC236}">
                    <a16:creationId xmlns:a16="http://schemas.microsoft.com/office/drawing/2014/main" id="{97C06F9F-C240-7A44-899B-AA6FCAF98B6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90" name="Line 278">
                <a:extLst>
                  <a:ext uri="{FF2B5EF4-FFF2-40B4-BE49-F238E27FC236}">
                    <a16:creationId xmlns:a16="http://schemas.microsoft.com/office/drawing/2014/main" id="{2E0A2CE8-0867-1E40-99A9-3769F5FA89F8}"/>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91" name="Line 279">
                <a:extLst>
                  <a:ext uri="{FF2B5EF4-FFF2-40B4-BE49-F238E27FC236}">
                    <a16:creationId xmlns:a16="http://schemas.microsoft.com/office/drawing/2014/main" id="{C99F366D-2C23-1146-8197-620AEB9B9F2D}"/>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92" name="Line 280">
                <a:extLst>
                  <a:ext uri="{FF2B5EF4-FFF2-40B4-BE49-F238E27FC236}">
                    <a16:creationId xmlns:a16="http://schemas.microsoft.com/office/drawing/2014/main" id="{79CD9BBB-EDF5-674D-84B0-E5B20BC91E8D}"/>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93" name="Line 281">
                <a:extLst>
                  <a:ext uri="{FF2B5EF4-FFF2-40B4-BE49-F238E27FC236}">
                    <a16:creationId xmlns:a16="http://schemas.microsoft.com/office/drawing/2014/main" id="{3653D029-F953-A345-B261-AD3C2AF55A8C}"/>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94" name="Line 282">
                <a:extLst>
                  <a:ext uri="{FF2B5EF4-FFF2-40B4-BE49-F238E27FC236}">
                    <a16:creationId xmlns:a16="http://schemas.microsoft.com/office/drawing/2014/main" id="{EB4C30FF-F70A-954D-AEB6-EA9BD9BB8D22}"/>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95" name="Line 283">
                <a:extLst>
                  <a:ext uri="{FF2B5EF4-FFF2-40B4-BE49-F238E27FC236}">
                    <a16:creationId xmlns:a16="http://schemas.microsoft.com/office/drawing/2014/main" id="{F58CF9C2-2913-9245-93F3-60909D07883C}"/>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496" name="Line 284">
                <a:extLst>
                  <a:ext uri="{FF2B5EF4-FFF2-40B4-BE49-F238E27FC236}">
                    <a16:creationId xmlns:a16="http://schemas.microsoft.com/office/drawing/2014/main" id="{54404259-531B-B44A-AAF9-876E7AF4ED97}"/>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pic>
          <p:nvPicPr>
            <p:cNvPr id="42480" name="Picture 1472" descr="cell_tower_radiation copy">
              <a:extLst>
                <a:ext uri="{FF2B5EF4-FFF2-40B4-BE49-F238E27FC236}">
                  <a16:creationId xmlns:a16="http://schemas.microsoft.com/office/drawing/2014/main" id="{D42AEC71-A386-324E-B419-66E4EC52C87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481" name="Oval 1473">
              <a:extLst>
                <a:ext uri="{FF2B5EF4-FFF2-40B4-BE49-F238E27FC236}">
                  <a16:creationId xmlns:a16="http://schemas.microsoft.com/office/drawing/2014/main" id="{ABCEEF88-1871-6C41-9801-C471B1DC46D9}"/>
                </a:ext>
              </a:extLst>
            </p:cNvPr>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42041" name="Group 1474">
            <a:extLst>
              <a:ext uri="{FF2B5EF4-FFF2-40B4-BE49-F238E27FC236}">
                <a16:creationId xmlns:a16="http://schemas.microsoft.com/office/drawing/2014/main" id="{D6D152D9-9EC5-E442-B6F0-99322A9D1D03}"/>
              </a:ext>
            </a:extLst>
          </p:cNvPr>
          <p:cNvGrpSpPr>
            <a:grpSpLocks/>
          </p:cNvGrpSpPr>
          <p:nvPr/>
        </p:nvGrpSpPr>
        <p:grpSpPr bwMode="auto">
          <a:xfrm>
            <a:off x="7985125" y="4991100"/>
            <a:ext cx="227013" cy="481013"/>
            <a:chOff x="4140" y="429"/>
            <a:chExt cx="1425" cy="2396"/>
          </a:xfrm>
        </p:grpSpPr>
        <p:sp>
          <p:nvSpPr>
            <p:cNvPr id="42447" name="Freeform 1475">
              <a:extLst>
                <a:ext uri="{FF2B5EF4-FFF2-40B4-BE49-F238E27FC236}">
                  <a16:creationId xmlns:a16="http://schemas.microsoft.com/office/drawing/2014/main" id="{757A17F8-EB97-FF48-B743-39568AE157D7}"/>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48" name="Rectangle 1476">
              <a:extLst>
                <a:ext uri="{FF2B5EF4-FFF2-40B4-BE49-F238E27FC236}">
                  <a16:creationId xmlns:a16="http://schemas.microsoft.com/office/drawing/2014/main" id="{C4428135-9938-8648-9538-0ED098861BA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49" name="Freeform 1477">
              <a:extLst>
                <a:ext uri="{FF2B5EF4-FFF2-40B4-BE49-F238E27FC236}">
                  <a16:creationId xmlns:a16="http://schemas.microsoft.com/office/drawing/2014/main" id="{AF6FC5E1-4FC9-024A-9784-C5BFB48E6E7A}"/>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50" name="Freeform 1478">
              <a:extLst>
                <a:ext uri="{FF2B5EF4-FFF2-40B4-BE49-F238E27FC236}">
                  <a16:creationId xmlns:a16="http://schemas.microsoft.com/office/drawing/2014/main" id="{F7AD6710-BB3D-AA40-A8DD-D7882494D1F9}"/>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51" name="Rectangle 1479">
              <a:extLst>
                <a:ext uri="{FF2B5EF4-FFF2-40B4-BE49-F238E27FC236}">
                  <a16:creationId xmlns:a16="http://schemas.microsoft.com/office/drawing/2014/main" id="{C56363EF-D7D7-064B-9FDB-E04170F5F6F6}"/>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452" name="Group 1480">
              <a:extLst>
                <a:ext uri="{FF2B5EF4-FFF2-40B4-BE49-F238E27FC236}">
                  <a16:creationId xmlns:a16="http://schemas.microsoft.com/office/drawing/2014/main" id="{E1E0E485-9C6C-EB4E-B596-9BB50A3DAF0D}"/>
                </a:ext>
              </a:extLst>
            </p:cNvPr>
            <p:cNvGrpSpPr>
              <a:grpSpLocks/>
            </p:cNvGrpSpPr>
            <p:nvPr/>
          </p:nvGrpSpPr>
          <p:grpSpPr bwMode="auto">
            <a:xfrm>
              <a:off x="4749" y="668"/>
              <a:ext cx="581" cy="145"/>
              <a:chOff x="614" y="2568"/>
              <a:chExt cx="725" cy="139"/>
            </a:xfrm>
          </p:grpSpPr>
          <p:sp>
            <p:nvSpPr>
              <p:cNvPr id="42477" name="AutoShape 1481">
                <a:extLst>
                  <a:ext uri="{FF2B5EF4-FFF2-40B4-BE49-F238E27FC236}">
                    <a16:creationId xmlns:a16="http://schemas.microsoft.com/office/drawing/2014/main" id="{234B36A7-76A2-B148-AC55-EFB5362481E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78" name="AutoShape 1482">
                <a:extLst>
                  <a:ext uri="{FF2B5EF4-FFF2-40B4-BE49-F238E27FC236}">
                    <a16:creationId xmlns:a16="http://schemas.microsoft.com/office/drawing/2014/main" id="{B3E975C5-E579-B549-AF03-160C84D703C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2453" name="Rectangle 1483">
              <a:extLst>
                <a:ext uri="{FF2B5EF4-FFF2-40B4-BE49-F238E27FC236}">
                  <a16:creationId xmlns:a16="http://schemas.microsoft.com/office/drawing/2014/main" id="{0EDFE2DA-5B7D-0445-9CB6-8CF195F842DA}"/>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454" name="Group 1484">
              <a:extLst>
                <a:ext uri="{FF2B5EF4-FFF2-40B4-BE49-F238E27FC236}">
                  <a16:creationId xmlns:a16="http://schemas.microsoft.com/office/drawing/2014/main" id="{C16B4B8B-2C14-8C49-82D4-9B52D0B0293C}"/>
                </a:ext>
              </a:extLst>
            </p:cNvPr>
            <p:cNvGrpSpPr>
              <a:grpSpLocks/>
            </p:cNvGrpSpPr>
            <p:nvPr/>
          </p:nvGrpSpPr>
          <p:grpSpPr bwMode="auto">
            <a:xfrm>
              <a:off x="4747" y="994"/>
              <a:ext cx="581" cy="134"/>
              <a:chOff x="614" y="2568"/>
              <a:chExt cx="725" cy="139"/>
            </a:xfrm>
          </p:grpSpPr>
          <p:sp>
            <p:nvSpPr>
              <p:cNvPr id="42475" name="AutoShape 1485">
                <a:extLst>
                  <a:ext uri="{FF2B5EF4-FFF2-40B4-BE49-F238E27FC236}">
                    <a16:creationId xmlns:a16="http://schemas.microsoft.com/office/drawing/2014/main" id="{AEE4FCD9-5B98-C841-94F5-6C39DFBCAF93}"/>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76" name="AutoShape 1486">
                <a:extLst>
                  <a:ext uri="{FF2B5EF4-FFF2-40B4-BE49-F238E27FC236}">
                    <a16:creationId xmlns:a16="http://schemas.microsoft.com/office/drawing/2014/main" id="{25420AE1-97BE-164E-8199-E6A5DEB9978F}"/>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2455" name="Rectangle 1487">
              <a:extLst>
                <a:ext uri="{FF2B5EF4-FFF2-40B4-BE49-F238E27FC236}">
                  <a16:creationId xmlns:a16="http://schemas.microsoft.com/office/drawing/2014/main" id="{F81E7693-3B75-8B43-BFFB-F4126DF08988}"/>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56" name="Rectangle 1488">
              <a:extLst>
                <a:ext uri="{FF2B5EF4-FFF2-40B4-BE49-F238E27FC236}">
                  <a16:creationId xmlns:a16="http://schemas.microsoft.com/office/drawing/2014/main" id="{43CFFEE9-143A-9749-8D95-7A46805E4956}"/>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457" name="Group 1489">
              <a:extLst>
                <a:ext uri="{FF2B5EF4-FFF2-40B4-BE49-F238E27FC236}">
                  <a16:creationId xmlns:a16="http://schemas.microsoft.com/office/drawing/2014/main" id="{4CF8029A-C67B-DC4E-95AB-ED6CD9E9A04F}"/>
                </a:ext>
              </a:extLst>
            </p:cNvPr>
            <p:cNvGrpSpPr>
              <a:grpSpLocks/>
            </p:cNvGrpSpPr>
            <p:nvPr/>
          </p:nvGrpSpPr>
          <p:grpSpPr bwMode="auto">
            <a:xfrm>
              <a:off x="4735" y="1627"/>
              <a:ext cx="582" cy="151"/>
              <a:chOff x="614" y="2568"/>
              <a:chExt cx="725" cy="139"/>
            </a:xfrm>
          </p:grpSpPr>
          <p:sp>
            <p:nvSpPr>
              <p:cNvPr id="42473" name="AutoShape 1490">
                <a:extLst>
                  <a:ext uri="{FF2B5EF4-FFF2-40B4-BE49-F238E27FC236}">
                    <a16:creationId xmlns:a16="http://schemas.microsoft.com/office/drawing/2014/main" id="{9BF7BE82-8E92-3E46-978A-32D9ACCCBFB2}"/>
                  </a:ext>
                </a:extLst>
              </p:cNvPr>
              <p:cNvSpPr>
                <a:spLocks noChangeArrowheads="1"/>
              </p:cNvSpPr>
              <p:nvPr/>
            </p:nvSpPr>
            <p:spPr bwMode="auto">
              <a:xfrm>
                <a:off x="618" y="2579"/>
                <a:ext cx="720" cy="13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74" name="AutoShape 1491">
                <a:extLst>
                  <a:ext uri="{FF2B5EF4-FFF2-40B4-BE49-F238E27FC236}">
                    <a16:creationId xmlns:a16="http://schemas.microsoft.com/office/drawing/2014/main" id="{323FB585-EF1C-BE4D-9AB6-CC83C2B1E524}"/>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2458" name="Freeform 1492">
              <a:extLst>
                <a:ext uri="{FF2B5EF4-FFF2-40B4-BE49-F238E27FC236}">
                  <a16:creationId xmlns:a16="http://schemas.microsoft.com/office/drawing/2014/main" id="{25C85876-555B-3D44-AE92-AB107B67484B}"/>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2459" name="Group 1493">
              <a:extLst>
                <a:ext uri="{FF2B5EF4-FFF2-40B4-BE49-F238E27FC236}">
                  <a16:creationId xmlns:a16="http://schemas.microsoft.com/office/drawing/2014/main" id="{11A22214-9855-B74A-ACD3-B610BC397CD7}"/>
                </a:ext>
              </a:extLst>
            </p:cNvPr>
            <p:cNvGrpSpPr>
              <a:grpSpLocks/>
            </p:cNvGrpSpPr>
            <p:nvPr/>
          </p:nvGrpSpPr>
          <p:grpSpPr bwMode="auto">
            <a:xfrm>
              <a:off x="4739" y="1327"/>
              <a:ext cx="582" cy="139"/>
              <a:chOff x="614" y="2568"/>
              <a:chExt cx="725" cy="139"/>
            </a:xfrm>
          </p:grpSpPr>
          <p:sp>
            <p:nvSpPr>
              <p:cNvPr id="42471" name="AutoShape 1494">
                <a:extLst>
                  <a:ext uri="{FF2B5EF4-FFF2-40B4-BE49-F238E27FC236}">
                    <a16:creationId xmlns:a16="http://schemas.microsoft.com/office/drawing/2014/main" id="{2902EC9E-5CB4-9F44-8D3B-1F6591804D87}"/>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72" name="AutoShape 1495">
                <a:extLst>
                  <a:ext uri="{FF2B5EF4-FFF2-40B4-BE49-F238E27FC236}">
                    <a16:creationId xmlns:a16="http://schemas.microsoft.com/office/drawing/2014/main" id="{135C0021-AE18-D347-9704-E7E7BDEFF4B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2460" name="Rectangle 1496">
              <a:extLst>
                <a:ext uri="{FF2B5EF4-FFF2-40B4-BE49-F238E27FC236}">
                  <a16:creationId xmlns:a16="http://schemas.microsoft.com/office/drawing/2014/main" id="{43E2C193-7DB4-9A4B-9844-9717E6C5650E}"/>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61" name="Freeform 1497">
              <a:extLst>
                <a:ext uri="{FF2B5EF4-FFF2-40B4-BE49-F238E27FC236}">
                  <a16:creationId xmlns:a16="http://schemas.microsoft.com/office/drawing/2014/main" id="{FB007BFE-889D-DB47-A912-7D7B6DEA498A}"/>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62" name="Freeform 1498">
              <a:extLst>
                <a:ext uri="{FF2B5EF4-FFF2-40B4-BE49-F238E27FC236}">
                  <a16:creationId xmlns:a16="http://schemas.microsoft.com/office/drawing/2014/main" id="{7C515437-3ABE-3B43-9731-3F1C082075AB}"/>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63" name="Oval 1499">
              <a:extLst>
                <a:ext uri="{FF2B5EF4-FFF2-40B4-BE49-F238E27FC236}">
                  <a16:creationId xmlns:a16="http://schemas.microsoft.com/office/drawing/2014/main" id="{8E221562-83FB-F946-AACD-9E2346DDB66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64" name="Freeform 1500">
              <a:extLst>
                <a:ext uri="{FF2B5EF4-FFF2-40B4-BE49-F238E27FC236}">
                  <a16:creationId xmlns:a16="http://schemas.microsoft.com/office/drawing/2014/main" id="{9CE09CA8-F4B2-2F43-9AEF-8BE9E713EFA3}"/>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65" name="AutoShape 1501">
              <a:extLst>
                <a:ext uri="{FF2B5EF4-FFF2-40B4-BE49-F238E27FC236}">
                  <a16:creationId xmlns:a16="http://schemas.microsoft.com/office/drawing/2014/main" id="{A4C1B0EA-6535-114E-B15F-8A04B0634E2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66" name="AutoShape 1502">
              <a:extLst>
                <a:ext uri="{FF2B5EF4-FFF2-40B4-BE49-F238E27FC236}">
                  <a16:creationId xmlns:a16="http://schemas.microsoft.com/office/drawing/2014/main" id="{C8029FF9-7593-014D-95A6-139F951C24F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67" name="Oval 1503">
              <a:extLst>
                <a:ext uri="{FF2B5EF4-FFF2-40B4-BE49-F238E27FC236}">
                  <a16:creationId xmlns:a16="http://schemas.microsoft.com/office/drawing/2014/main" id="{BBE7A9EA-244F-D047-802F-64CFF116323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68" name="Oval 1504">
              <a:extLst>
                <a:ext uri="{FF2B5EF4-FFF2-40B4-BE49-F238E27FC236}">
                  <a16:creationId xmlns:a16="http://schemas.microsoft.com/office/drawing/2014/main" id="{D45DDF6B-467A-4149-8CBA-1868292269DD}"/>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a:solidFill>
                  <a:srgbClr val="FF0000"/>
                </a:solidFill>
                <a:cs typeface="Arial" panose="020B0604020202020204" pitchFamily="34" charset="0"/>
              </a:endParaRPr>
            </a:p>
          </p:txBody>
        </p:sp>
        <p:sp>
          <p:nvSpPr>
            <p:cNvPr id="42469" name="Oval 1505">
              <a:extLst>
                <a:ext uri="{FF2B5EF4-FFF2-40B4-BE49-F238E27FC236}">
                  <a16:creationId xmlns:a16="http://schemas.microsoft.com/office/drawing/2014/main" id="{92AF5780-698B-1F4A-B286-2599E482DAE3}"/>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70" name="Rectangle 1506">
              <a:extLst>
                <a:ext uri="{FF2B5EF4-FFF2-40B4-BE49-F238E27FC236}">
                  <a16:creationId xmlns:a16="http://schemas.microsoft.com/office/drawing/2014/main" id="{8C46B1FA-3967-CC40-863D-7C9FF4FC0C38}"/>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42042" name="Group 1507">
            <a:extLst>
              <a:ext uri="{FF2B5EF4-FFF2-40B4-BE49-F238E27FC236}">
                <a16:creationId xmlns:a16="http://schemas.microsoft.com/office/drawing/2014/main" id="{365DB569-57B1-934A-93ED-3658F6C48263}"/>
              </a:ext>
            </a:extLst>
          </p:cNvPr>
          <p:cNvGrpSpPr>
            <a:grpSpLocks/>
          </p:cNvGrpSpPr>
          <p:nvPr/>
        </p:nvGrpSpPr>
        <p:grpSpPr bwMode="auto">
          <a:xfrm>
            <a:off x="7669213" y="5292725"/>
            <a:ext cx="227012" cy="481013"/>
            <a:chOff x="4140" y="429"/>
            <a:chExt cx="1425" cy="2396"/>
          </a:xfrm>
        </p:grpSpPr>
        <p:sp>
          <p:nvSpPr>
            <p:cNvPr id="42415" name="Freeform 1508">
              <a:extLst>
                <a:ext uri="{FF2B5EF4-FFF2-40B4-BE49-F238E27FC236}">
                  <a16:creationId xmlns:a16="http://schemas.microsoft.com/office/drawing/2014/main" id="{04895896-25AF-1B49-915F-9F1A23F85F37}"/>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16" name="Rectangle 1509">
              <a:extLst>
                <a:ext uri="{FF2B5EF4-FFF2-40B4-BE49-F238E27FC236}">
                  <a16:creationId xmlns:a16="http://schemas.microsoft.com/office/drawing/2014/main" id="{7D436E6B-B6F1-A14D-8C83-E0A43E1593A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17" name="Freeform 1510">
              <a:extLst>
                <a:ext uri="{FF2B5EF4-FFF2-40B4-BE49-F238E27FC236}">
                  <a16:creationId xmlns:a16="http://schemas.microsoft.com/office/drawing/2014/main" id="{FA3AA6A4-8D9C-6145-8806-978855C5E44E}"/>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18" name="Freeform 1511">
              <a:extLst>
                <a:ext uri="{FF2B5EF4-FFF2-40B4-BE49-F238E27FC236}">
                  <a16:creationId xmlns:a16="http://schemas.microsoft.com/office/drawing/2014/main" id="{996173CA-846E-B04A-BE5F-F8439410739C}"/>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19" name="Rectangle 1512">
              <a:extLst>
                <a:ext uri="{FF2B5EF4-FFF2-40B4-BE49-F238E27FC236}">
                  <a16:creationId xmlns:a16="http://schemas.microsoft.com/office/drawing/2014/main" id="{60C3D619-2D97-7E46-9784-C26A6E9BA5FC}"/>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420" name="Group 1513">
              <a:extLst>
                <a:ext uri="{FF2B5EF4-FFF2-40B4-BE49-F238E27FC236}">
                  <a16:creationId xmlns:a16="http://schemas.microsoft.com/office/drawing/2014/main" id="{E6B91A4B-06B6-334B-B883-FE2D673CA051}"/>
                </a:ext>
              </a:extLst>
            </p:cNvPr>
            <p:cNvGrpSpPr>
              <a:grpSpLocks/>
            </p:cNvGrpSpPr>
            <p:nvPr/>
          </p:nvGrpSpPr>
          <p:grpSpPr bwMode="auto">
            <a:xfrm>
              <a:off x="4749" y="668"/>
              <a:ext cx="581" cy="145"/>
              <a:chOff x="614" y="2568"/>
              <a:chExt cx="725" cy="139"/>
            </a:xfrm>
          </p:grpSpPr>
          <p:sp>
            <p:nvSpPr>
              <p:cNvPr id="42445" name="AutoShape 1514">
                <a:extLst>
                  <a:ext uri="{FF2B5EF4-FFF2-40B4-BE49-F238E27FC236}">
                    <a16:creationId xmlns:a16="http://schemas.microsoft.com/office/drawing/2014/main" id="{8A37318C-BF94-B84B-AF97-CAF05F08A7E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46" name="AutoShape 1515">
                <a:extLst>
                  <a:ext uri="{FF2B5EF4-FFF2-40B4-BE49-F238E27FC236}">
                    <a16:creationId xmlns:a16="http://schemas.microsoft.com/office/drawing/2014/main" id="{89737B23-0420-6440-BE54-FBA32DE6D1E2}"/>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2421" name="Rectangle 1516">
              <a:extLst>
                <a:ext uri="{FF2B5EF4-FFF2-40B4-BE49-F238E27FC236}">
                  <a16:creationId xmlns:a16="http://schemas.microsoft.com/office/drawing/2014/main" id="{53F2CD74-1DF1-064F-8D30-FCDCE3F15C94}"/>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422" name="Group 1517">
              <a:extLst>
                <a:ext uri="{FF2B5EF4-FFF2-40B4-BE49-F238E27FC236}">
                  <a16:creationId xmlns:a16="http://schemas.microsoft.com/office/drawing/2014/main" id="{FE7C5D51-3920-D149-8BC8-7BF1E19471AD}"/>
                </a:ext>
              </a:extLst>
            </p:cNvPr>
            <p:cNvGrpSpPr>
              <a:grpSpLocks/>
            </p:cNvGrpSpPr>
            <p:nvPr/>
          </p:nvGrpSpPr>
          <p:grpSpPr bwMode="auto">
            <a:xfrm>
              <a:off x="4747" y="994"/>
              <a:ext cx="581" cy="134"/>
              <a:chOff x="614" y="2568"/>
              <a:chExt cx="725" cy="139"/>
            </a:xfrm>
          </p:grpSpPr>
          <p:sp>
            <p:nvSpPr>
              <p:cNvPr id="42443" name="AutoShape 1518">
                <a:extLst>
                  <a:ext uri="{FF2B5EF4-FFF2-40B4-BE49-F238E27FC236}">
                    <a16:creationId xmlns:a16="http://schemas.microsoft.com/office/drawing/2014/main" id="{9E0400E3-E971-A84C-804E-BFDAA6BE074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44" name="AutoShape 1519">
                <a:extLst>
                  <a:ext uri="{FF2B5EF4-FFF2-40B4-BE49-F238E27FC236}">
                    <a16:creationId xmlns:a16="http://schemas.microsoft.com/office/drawing/2014/main" id="{3208984B-4331-1E4F-AB2C-3DAE0C02A30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2423" name="Rectangle 1520">
              <a:extLst>
                <a:ext uri="{FF2B5EF4-FFF2-40B4-BE49-F238E27FC236}">
                  <a16:creationId xmlns:a16="http://schemas.microsoft.com/office/drawing/2014/main" id="{102D8D44-1352-BB4C-8E7E-6F59EFA1434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24" name="Rectangle 1521">
              <a:extLst>
                <a:ext uri="{FF2B5EF4-FFF2-40B4-BE49-F238E27FC236}">
                  <a16:creationId xmlns:a16="http://schemas.microsoft.com/office/drawing/2014/main" id="{FA135F5B-CC05-7744-AFD8-95F256ED5FCF}"/>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425" name="Group 1522">
              <a:extLst>
                <a:ext uri="{FF2B5EF4-FFF2-40B4-BE49-F238E27FC236}">
                  <a16:creationId xmlns:a16="http://schemas.microsoft.com/office/drawing/2014/main" id="{81731216-6832-5640-B947-D782910EDE97}"/>
                </a:ext>
              </a:extLst>
            </p:cNvPr>
            <p:cNvGrpSpPr>
              <a:grpSpLocks/>
            </p:cNvGrpSpPr>
            <p:nvPr/>
          </p:nvGrpSpPr>
          <p:grpSpPr bwMode="auto">
            <a:xfrm>
              <a:off x="4735" y="1627"/>
              <a:ext cx="582" cy="151"/>
              <a:chOff x="614" y="2568"/>
              <a:chExt cx="725" cy="139"/>
            </a:xfrm>
          </p:grpSpPr>
          <p:sp>
            <p:nvSpPr>
              <p:cNvPr id="42441" name="AutoShape 1523">
                <a:extLst>
                  <a:ext uri="{FF2B5EF4-FFF2-40B4-BE49-F238E27FC236}">
                    <a16:creationId xmlns:a16="http://schemas.microsoft.com/office/drawing/2014/main" id="{EE95D40F-D856-0D4B-BEB3-5004CACF6547}"/>
                  </a:ext>
                </a:extLst>
              </p:cNvPr>
              <p:cNvSpPr>
                <a:spLocks noChangeArrowheads="1"/>
              </p:cNvSpPr>
              <p:nvPr/>
            </p:nvSpPr>
            <p:spPr bwMode="auto">
              <a:xfrm>
                <a:off x="618" y="2579"/>
                <a:ext cx="720" cy="13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42" name="AutoShape 1524">
                <a:extLst>
                  <a:ext uri="{FF2B5EF4-FFF2-40B4-BE49-F238E27FC236}">
                    <a16:creationId xmlns:a16="http://schemas.microsoft.com/office/drawing/2014/main" id="{AF5A1C60-8803-024E-BD1C-D9D18134EC66}"/>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2426" name="Freeform 1525">
              <a:extLst>
                <a:ext uri="{FF2B5EF4-FFF2-40B4-BE49-F238E27FC236}">
                  <a16:creationId xmlns:a16="http://schemas.microsoft.com/office/drawing/2014/main" id="{5D690871-E0AD-F14B-A269-D636217B1CBC}"/>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2427" name="Group 1526">
              <a:extLst>
                <a:ext uri="{FF2B5EF4-FFF2-40B4-BE49-F238E27FC236}">
                  <a16:creationId xmlns:a16="http://schemas.microsoft.com/office/drawing/2014/main" id="{D2A1BF93-E429-034F-87F2-54C98A211D3E}"/>
                </a:ext>
              </a:extLst>
            </p:cNvPr>
            <p:cNvGrpSpPr>
              <a:grpSpLocks/>
            </p:cNvGrpSpPr>
            <p:nvPr/>
          </p:nvGrpSpPr>
          <p:grpSpPr bwMode="auto">
            <a:xfrm>
              <a:off x="4739" y="1327"/>
              <a:ext cx="582" cy="139"/>
              <a:chOff x="614" y="2568"/>
              <a:chExt cx="725" cy="139"/>
            </a:xfrm>
          </p:grpSpPr>
          <p:sp>
            <p:nvSpPr>
              <p:cNvPr id="42439" name="AutoShape 1527">
                <a:extLst>
                  <a:ext uri="{FF2B5EF4-FFF2-40B4-BE49-F238E27FC236}">
                    <a16:creationId xmlns:a16="http://schemas.microsoft.com/office/drawing/2014/main" id="{7B431F45-9EEF-8844-BDCA-D4DA23659A01}"/>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40" name="AutoShape 1528">
                <a:extLst>
                  <a:ext uri="{FF2B5EF4-FFF2-40B4-BE49-F238E27FC236}">
                    <a16:creationId xmlns:a16="http://schemas.microsoft.com/office/drawing/2014/main" id="{B55AB393-B970-B94A-B756-5E17F7C4107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2428" name="Rectangle 1529">
              <a:extLst>
                <a:ext uri="{FF2B5EF4-FFF2-40B4-BE49-F238E27FC236}">
                  <a16:creationId xmlns:a16="http://schemas.microsoft.com/office/drawing/2014/main" id="{9A043498-C283-DD44-A69D-DBFD6928041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29" name="Freeform 1530">
              <a:extLst>
                <a:ext uri="{FF2B5EF4-FFF2-40B4-BE49-F238E27FC236}">
                  <a16:creationId xmlns:a16="http://schemas.microsoft.com/office/drawing/2014/main" id="{EA206486-65D2-1B42-A5D6-CF62527662F8}"/>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30" name="Freeform 1531">
              <a:extLst>
                <a:ext uri="{FF2B5EF4-FFF2-40B4-BE49-F238E27FC236}">
                  <a16:creationId xmlns:a16="http://schemas.microsoft.com/office/drawing/2014/main" id="{B0D0FC96-6421-624C-81A4-996EEF1F42F7}"/>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31" name="Oval 1532">
              <a:extLst>
                <a:ext uri="{FF2B5EF4-FFF2-40B4-BE49-F238E27FC236}">
                  <a16:creationId xmlns:a16="http://schemas.microsoft.com/office/drawing/2014/main" id="{FBDF03A6-A9D3-1A49-AFFC-B50313F2091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32" name="Freeform 1533">
              <a:extLst>
                <a:ext uri="{FF2B5EF4-FFF2-40B4-BE49-F238E27FC236}">
                  <a16:creationId xmlns:a16="http://schemas.microsoft.com/office/drawing/2014/main" id="{C35FD4D3-0AA9-AC4C-9896-DCDAB133CD72}"/>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33" name="AutoShape 1534">
              <a:extLst>
                <a:ext uri="{FF2B5EF4-FFF2-40B4-BE49-F238E27FC236}">
                  <a16:creationId xmlns:a16="http://schemas.microsoft.com/office/drawing/2014/main" id="{B183E7E3-FE82-FF48-8C9E-1D0E0F350A31}"/>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34" name="AutoShape 1535">
              <a:extLst>
                <a:ext uri="{FF2B5EF4-FFF2-40B4-BE49-F238E27FC236}">
                  <a16:creationId xmlns:a16="http://schemas.microsoft.com/office/drawing/2014/main" id="{EFE4572E-934A-714B-99BC-5C763993704F}"/>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35" name="Oval 1536">
              <a:extLst>
                <a:ext uri="{FF2B5EF4-FFF2-40B4-BE49-F238E27FC236}">
                  <a16:creationId xmlns:a16="http://schemas.microsoft.com/office/drawing/2014/main" id="{570552FE-183D-684E-BE5C-9532C7811BC6}"/>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36" name="Oval 1537">
              <a:extLst>
                <a:ext uri="{FF2B5EF4-FFF2-40B4-BE49-F238E27FC236}">
                  <a16:creationId xmlns:a16="http://schemas.microsoft.com/office/drawing/2014/main" id="{0817AA2C-2738-9C43-99AD-DCC9990A3BB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a:solidFill>
                  <a:srgbClr val="FF0000"/>
                </a:solidFill>
                <a:cs typeface="Arial" panose="020B0604020202020204" pitchFamily="34" charset="0"/>
              </a:endParaRPr>
            </a:p>
          </p:txBody>
        </p:sp>
        <p:sp>
          <p:nvSpPr>
            <p:cNvPr id="42437" name="Oval 1538">
              <a:extLst>
                <a:ext uri="{FF2B5EF4-FFF2-40B4-BE49-F238E27FC236}">
                  <a16:creationId xmlns:a16="http://schemas.microsoft.com/office/drawing/2014/main" id="{559443B7-C2BA-C44A-970C-FBE74A732EF4}"/>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438" name="Rectangle 1539">
              <a:extLst>
                <a:ext uri="{FF2B5EF4-FFF2-40B4-BE49-F238E27FC236}">
                  <a16:creationId xmlns:a16="http://schemas.microsoft.com/office/drawing/2014/main" id="{4541F819-A97E-CB4A-8F38-E2C09A19CEB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42043" name="Group 1540">
            <a:extLst>
              <a:ext uri="{FF2B5EF4-FFF2-40B4-BE49-F238E27FC236}">
                <a16:creationId xmlns:a16="http://schemas.microsoft.com/office/drawing/2014/main" id="{EAD968DA-8F1B-6445-924B-29B72BB4237A}"/>
              </a:ext>
            </a:extLst>
          </p:cNvPr>
          <p:cNvGrpSpPr>
            <a:grpSpLocks/>
          </p:cNvGrpSpPr>
          <p:nvPr/>
        </p:nvGrpSpPr>
        <p:grpSpPr bwMode="auto">
          <a:xfrm>
            <a:off x="5046663" y="2032000"/>
            <a:ext cx="534987" cy="407988"/>
            <a:chOff x="877" y="1008"/>
            <a:chExt cx="2747" cy="2591"/>
          </a:xfrm>
        </p:grpSpPr>
        <p:pic>
          <p:nvPicPr>
            <p:cNvPr id="42392" name="Picture 1541" descr="antenna_stylized">
              <a:extLst>
                <a:ext uri="{FF2B5EF4-FFF2-40B4-BE49-F238E27FC236}">
                  <a16:creationId xmlns:a16="http://schemas.microsoft.com/office/drawing/2014/main" id="{234479D6-38E3-204C-87F5-335AED4E55F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393" name="Picture 1542" descr="laptop_keyboard">
              <a:extLst>
                <a:ext uri="{FF2B5EF4-FFF2-40B4-BE49-F238E27FC236}">
                  <a16:creationId xmlns:a16="http://schemas.microsoft.com/office/drawing/2014/main" id="{70D1CD3D-3369-9048-A5A0-8158273C196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94" name="Freeform 1543">
              <a:extLst>
                <a:ext uri="{FF2B5EF4-FFF2-40B4-BE49-F238E27FC236}">
                  <a16:creationId xmlns:a16="http://schemas.microsoft.com/office/drawing/2014/main" id="{2B0E1812-C490-CC4D-9F7B-22C57C2F0F49}"/>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42395" name="Picture 1544" descr="screen">
              <a:extLst>
                <a:ext uri="{FF2B5EF4-FFF2-40B4-BE49-F238E27FC236}">
                  <a16:creationId xmlns:a16="http://schemas.microsoft.com/office/drawing/2014/main" id="{440914A7-F3EA-394E-BAB9-1E727118129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96" name="Freeform 1545">
              <a:extLst>
                <a:ext uri="{FF2B5EF4-FFF2-40B4-BE49-F238E27FC236}">
                  <a16:creationId xmlns:a16="http://schemas.microsoft.com/office/drawing/2014/main" id="{19C847C5-8F73-CC46-966E-A2A0F0A1B235}"/>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97" name="Freeform 1546">
              <a:extLst>
                <a:ext uri="{FF2B5EF4-FFF2-40B4-BE49-F238E27FC236}">
                  <a16:creationId xmlns:a16="http://schemas.microsoft.com/office/drawing/2014/main" id="{E53BB17D-C3DC-F042-B0C1-F992D81C00AE}"/>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98" name="Freeform 1547">
              <a:extLst>
                <a:ext uri="{FF2B5EF4-FFF2-40B4-BE49-F238E27FC236}">
                  <a16:creationId xmlns:a16="http://schemas.microsoft.com/office/drawing/2014/main" id="{9A279E7B-3648-8047-9B43-835EF3F8F91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99" name="Freeform 1548">
              <a:extLst>
                <a:ext uri="{FF2B5EF4-FFF2-40B4-BE49-F238E27FC236}">
                  <a16:creationId xmlns:a16="http://schemas.microsoft.com/office/drawing/2014/main" id="{4162F6AE-90BC-EC40-A0A0-11F3F880CBD8}"/>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00" name="Freeform 1549">
              <a:extLst>
                <a:ext uri="{FF2B5EF4-FFF2-40B4-BE49-F238E27FC236}">
                  <a16:creationId xmlns:a16="http://schemas.microsoft.com/office/drawing/2014/main" id="{487D2134-BE87-6445-809E-970E766CF08E}"/>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6 h 1659"/>
                <a:gd name="T6" fmla="*/ 0 w 637"/>
                <a:gd name="T7" fmla="*/ 6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01" name="Freeform 1550">
              <a:extLst>
                <a:ext uri="{FF2B5EF4-FFF2-40B4-BE49-F238E27FC236}">
                  <a16:creationId xmlns:a16="http://schemas.microsoft.com/office/drawing/2014/main" id="{8A81D628-75EC-BB4B-AF95-956A3B30ABFD}"/>
                </a:ext>
              </a:extLst>
            </p:cNvPr>
            <p:cNvSpPr>
              <a:spLocks/>
            </p:cNvSpPr>
            <p:nvPr/>
          </p:nvSpPr>
          <p:spPr bwMode="auto">
            <a:xfrm>
              <a:off x="1734" y="2587"/>
              <a:ext cx="1494" cy="394"/>
            </a:xfrm>
            <a:custGeom>
              <a:avLst/>
              <a:gdLst>
                <a:gd name="T0" fmla="*/ 0 w 2216"/>
                <a:gd name="T1" fmla="*/ 0 h 550"/>
                <a:gd name="T2" fmla="*/ 1 w 2216"/>
                <a:gd name="T3" fmla="*/ 1 h 550"/>
                <a:gd name="T4" fmla="*/ 3 w 2216"/>
                <a:gd name="T5" fmla="*/ 2 h 550"/>
                <a:gd name="T6" fmla="*/ 3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2402" name="Group 1551">
              <a:extLst>
                <a:ext uri="{FF2B5EF4-FFF2-40B4-BE49-F238E27FC236}">
                  <a16:creationId xmlns:a16="http://schemas.microsoft.com/office/drawing/2014/main" id="{6896D62C-4BF1-F04F-A77A-A2C1211A90AE}"/>
                </a:ext>
              </a:extLst>
            </p:cNvPr>
            <p:cNvGrpSpPr>
              <a:grpSpLocks/>
            </p:cNvGrpSpPr>
            <p:nvPr/>
          </p:nvGrpSpPr>
          <p:grpSpPr bwMode="auto">
            <a:xfrm>
              <a:off x="1709" y="3008"/>
              <a:ext cx="507" cy="234"/>
              <a:chOff x="1740" y="2642"/>
              <a:chExt cx="752" cy="327"/>
            </a:xfrm>
          </p:grpSpPr>
          <p:sp>
            <p:nvSpPr>
              <p:cNvPr id="42409" name="Freeform 1552">
                <a:extLst>
                  <a:ext uri="{FF2B5EF4-FFF2-40B4-BE49-F238E27FC236}">
                    <a16:creationId xmlns:a16="http://schemas.microsoft.com/office/drawing/2014/main" id="{CDD5E53C-70C0-4D47-BD42-C8F0C4F0BB4B}"/>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10" name="Freeform 1553">
                <a:extLst>
                  <a:ext uri="{FF2B5EF4-FFF2-40B4-BE49-F238E27FC236}">
                    <a16:creationId xmlns:a16="http://schemas.microsoft.com/office/drawing/2014/main" id="{7A4AFEC1-D788-C041-98F0-FACD395BC611}"/>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11" name="Freeform 1554">
                <a:extLst>
                  <a:ext uri="{FF2B5EF4-FFF2-40B4-BE49-F238E27FC236}">
                    <a16:creationId xmlns:a16="http://schemas.microsoft.com/office/drawing/2014/main" id="{502A0ADA-407D-0645-AD71-8B8304D5767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12" name="Freeform 1555">
                <a:extLst>
                  <a:ext uri="{FF2B5EF4-FFF2-40B4-BE49-F238E27FC236}">
                    <a16:creationId xmlns:a16="http://schemas.microsoft.com/office/drawing/2014/main" id="{331B6179-0635-0F49-AA81-7326A0F6C35B}"/>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13" name="Freeform 1556">
                <a:extLst>
                  <a:ext uri="{FF2B5EF4-FFF2-40B4-BE49-F238E27FC236}">
                    <a16:creationId xmlns:a16="http://schemas.microsoft.com/office/drawing/2014/main" id="{DE8D2CC2-CBDC-7A49-A747-01C5F888BA44}"/>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14" name="Freeform 1557">
                <a:extLst>
                  <a:ext uri="{FF2B5EF4-FFF2-40B4-BE49-F238E27FC236}">
                    <a16:creationId xmlns:a16="http://schemas.microsoft.com/office/drawing/2014/main" id="{C9AEDB57-6020-5848-BB5A-D4A058377A79}"/>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2403" name="Freeform 1558">
              <a:extLst>
                <a:ext uri="{FF2B5EF4-FFF2-40B4-BE49-F238E27FC236}">
                  <a16:creationId xmlns:a16="http://schemas.microsoft.com/office/drawing/2014/main" id="{89A6C0A0-3EB2-DD45-84E3-738A7D4619F4}"/>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04" name="Freeform 1559">
              <a:extLst>
                <a:ext uri="{FF2B5EF4-FFF2-40B4-BE49-F238E27FC236}">
                  <a16:creationId xmlns:a16="http://schemas.microsoft.com/office/drawing/2014/main" id="{8C2276EE-E0A6-0045-8EFC-68887D09B5DD}"/>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05" name="Freeform 1560">
              <a:extLst>
                <a:ext uri="{FF2B5EF4-FFF2-40B4-BE49-F238E27FC236}">
                  <a16:creationId xmlns:a16="http://schemas.microsoft.com/office/drawing/2014/main" id="{7EE4C6AF-87CE-3048-A488-90BFA381F3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06" name="Freeform 1561">
              <a:extLst>
                <a:ext uri="{FF2B5EF4-FFF2-40B4-BE49-F238E27FC236}">
                  <a16:creationId xmlns:a16="http://schemas.microsoft.com/office/drawing/2014/main" id="{09CEB26A-92DC-1A44-A025-1BD084132365}"/>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07" name="Freeform 1562">
              <a:extLst>
                <a:ext uri="{FF2B5EF4-FFF2-40B4-BE49-F238E27FC236}">
                  <a16:creationId xmlns:a16="http://schemas.microsoft.com/office/drawing/2014/main" id="{BCB03CEE-F2C1-A44E-8A46-032D545D7719}"/>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408" name="Freeform 1563">
              <a:extLst>
                <a:ext uri="{FF2B5EF4-FFF2-40B4-BE49-F238E27FC236}">
                  <a16:creationId xmlns:a16="http://schemas.microsoft.com/office/drawing/2014/main" id="{C1E766F0-4577-624C-8618-6559488ED4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2044" name="Group 1564">
            <a:extLst>
              <a:ext uri="{FF2B5EF4-FFF2-40B4-BE49-F238E27FC236}">
                <a16:creationId xmlns:a16="http://schemas.microsoft.com/office/drawing/2014/main" id="{1994BA15-61AA-574C-BFA7-9654B700195A}"/>
              </a:ext>
            </a:extLst>
          </p:cNvPr>
          <p:cNvGrpSpPr>
            <a:grpSpLocks/>
          </p:cNvGrpSpPr>
          <p:nvPr/>
        </p:nvGrpSpPr>
        <p:grpSpPr bwMode="auto">
          <a:xfrm>
            <a:off x="6616700" y="5475288"/>
            <a:ext cx="474663" cy="407987"/>
            <a:chOff x="877" y="1008"/>
            <a:chExt cx="2747" cy="2591"/>
          </a:xfrm>
        </p:grpSpPr>
        <p:pic>
          <p:nvPicPr>
            <p:cNvPr id="42369" name="Picture 1565" descr="antenna_stylized">
              <a:extLst>
                <a:ext uri="{FF2B5EF4-FFF2-40B4-BE49-F238E27FC236}">
                  <a16:creationId xmlns:a16="http://schemas.microsoft.com/office/drawing/2014/main" id="{64804461-E6FF-584B-A078-ED4C4570825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370" name="Picture 1566" descr="laptop_keyboard">
              <a:extLst>
                <a:ext uri="{FF2B5EF4-FFF2-40B4-BE49-F238E27FC236}">
                  <a16:creationId xmlns:a16="http://schemas.microsoft.com/office/drawing/2014/main" id="{9D6CAB80-1C41-1441-90DF-247555D6AD4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71" name="Freeform 1567">
              <a:extLst>
                <a:ext uri="{FF2B5EF4-FFF2-40B4-BE49-F238E27FC236}">
                  <a16:creationId xmlns:a16="http://schemas.microsoft.com/office/drawing/2014/main" id="{49E4F8C4-C646-3647-AC9B-01138CC20F17}"/>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42372" name="Picture 1568" descr="screen">
              <a:extLst>
                <a:ext uri="{FF2B5EF4-FFF2-40B4-BE49-F238E27FC236}">
                  <a16:creationId xmlns:a16="http://schemas.microsoft.com/office/drawing/2014/main" id="{C5A159F6-6672-6C43-8B59-B3E7F7C5241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73" name="Freeform 1569">
              <a:extLst>
                <a:ext uri="{FF2B5EF4-FFF2-40B4-BE49-F238E27FC236}">
                  <a16:creationId xmlns:a16="http://schemas.microsoft.com/office/drawing/2014/main" id="{55D362E8-5927-C346-8C24-CA266F59272F}"/>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74" name="Freeform 1570">
              <a:extLst>
                <a:ext uri="{FF2B5EF4-FFF2-40B4-BE49-F238E27FC236}">
                  <a16:creationId xmlns:a16="http://schemas.microsoft.com/office/drawing/2014/main" id="{A914AADB-FF52-8B42-B05C-2612C28D6861}"/>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75" name="Freeform 1571">
              <a:extLst>
                <a:ext uri="{FF2B5EF4-FFF2-40B4-BE49-F238E27FC236}">
                  <a16:creationId xmlns:a16="http://schemas.microsoft.com/office/drawing/2014/main" id="{E7E1059E-BF3B-1643-97DF-FEE42F860CAA}"/>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76" name="Freeform 1572">
              <a:extLst>
                <a:ext uri="{FF2B5EF4-FFF2-40B4-BE49-F238E27FC236}">
                  <a16:creationId xmlns:a16="http://schemas.microsoft.com/office/drawing/2014/main" id="{49FAE3AA-1B7A-3E4A-889F-63CC05FFC5F4}"/>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77" name="Freeform 1573">
              <a:extLst>
                <a:ext uri="{FF2B5EF4-FFF2-40B4-BE49-F238E27FC236}">
                  <a16:creationId xmlns:a16="http://schemas.microsoft.com/office/drawing/2014/main" id="{797031F2-8429-794E-B8B5-34865D6BB49D}"/>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6 h 1659"/>
                <a:gd name="T6" fmla="*/ 0 w 637"/>
                <a:gd name="T7" fmla="*/ 6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78" name="Freeform 1574">
              <a:extLst>
                <a:ext uri="{FF2B5EF4-FFF2-40B4-BE49-F238E27FC236}">
                  <a16:creationId xmlns:a16="http://schemas.microsoft.com/office/drawing/2014/main" id="{46CB3896-E5E0-CA4A-A7E6-86DFC7D70811}"/>
                </a:ext>
              </a:extLst>
            </p:cNvPr>
            <p:cNvSpPr>
              <a:spLocks/>
            </p:cNvSpPr>
            <p:nvPr/>
          </p:nvSpPr>
          <p:spPr bwMode="auto">
            <a:xfrm>
              <a:off x="1734" y="2587"/>
              <a:ext cx="1494" cy="394"/>
            </a:xfrm>
            <a:custGeom>
              <a:avLst/>
              <a:gdLst>
                <a:gd name="T0" fmla="*/ 0 w 2216"/>
                <a:gd name="T1" fmla="*/ 0 h 550"/>
                <a:gd name="T2" fmla="*/ 1 w 2216"/>
                <a:gd name="T3" fmla="*/ 1 h 550"/>
                <a:gd name="T4" fmla="*/ 3 w 2216"/>
                <a:gd name="T5" fmla="*/ 2 h 550"/>
                <a:gd name="T6" fmla="*/ 3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2379" name="Group 1575">
              <a:extLst>
                <a:ext uri="{FF2B5EF4-FFF2-40B4-BE49-F238E27FC236}">
                  <a16:creationId xmlns:a16="http://schemas.microsoft.com/office/drawing/2014/main" id="{7E2B9DFA-59A2-664C-875E-4EDE9B9E68B7}"/>
                </a:ext>
              </a:extLst>
            </p:cNvPr>
            <p:cNvGrpSpPr>
              <a:grpSpLocks/>
            </p:cNvGrpSpPr>
            <p:nvPr/>
          </p:nvGrpSpPr>
          <p:grpSpPr bwMode="auto">
            <a:xfrm>
              <a:off x="1709" y="3008"/>
              <a:ext cx="507" cy="234"/>
              <a:chOff x="1740" y="2642"/>
              <a:chExt cx="752" cy="327"/>
            </a:xfrm>
          </p:grpSpPr>
          <p:sp>
            <p:nvSpPr>
              <p:cNvPr id="42386" name="Freeform 1576">
                <a:extLst>
                  <a:ext uri="{FF2B5EF4-FFF2-40B4-BE49-F238E27FC236}">
                    <a16:creationId xmlns:a16="http://schemas.microsoft.com/office/drawing/2014/main" id="{F2FE7CC3-175D-AA44-AD2C-588ABB51F5B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87" name="Freeform 1577">
                <a:extLst>
                  <a:ext uri="{FF2B5EF4-FFF2-40B4-BE49-F238E27FC236}">
                    <a16:creationId xmlns:a16="http://schemas.microsoft.com/office/drawing/2014/main" id="{F7D76D73-82EC-2440-B198-0935D1A02712}"/>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88" name="Freeform 1578">
                <a:extLst>
                  <a:ext uri="{FF2B5EF4-FFF2-40B4-BE49-F238E27FC236}">
                    <a16:creationId xmlns:a16="http://schemas.microsoft.com/office/drawing/2014/main" id="{76E3BA8C-5574-A44C-B39B-8DE79A038ED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89" name="Freeform 1579">
                <a:extLst>
                  <a:ext uri="{FF2B5EF4-FFF2-40B4-BE49-F238E27FC236}">
                    <a16:creationId xmlns:a16="http://schemas.microsoft.com/office/drawing/2014/main" id="{3BF8161F-E0B6-B34A-9EA8-2CD94DD6B82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90" name="Freeform 1580">
                <a:extLst>
                  <a:ext uri="{FF2B5EF4-FFF2-40B4-BE49-F238E27FC236}">
                    <a16:creationId xmlns:a16="http://schemas.microsoft.com/office/drawing/2014/main" id="{5B219D54-9A5E-6F4F-936A-049AB3976C5B}"/>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91" name="Freeform 1581">
                <a:extLst>
                  <a:ext uri="{FF2B5EF4-FFF2-40B4-BE49-F238E27FC236}">
                    <a16:creationId xmlns:a16="http://schemas.microsoft.com/office/drawing/2014/main" id="{2A55FF28-7E78-BD4E-8EDE-6DF055A4446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2380" name="Freeform 1582">
              <a:extLst>
                <a:ext uri="{FF2B5EF4-FFF2-40B4-BE49-F238E27FC236}">
                  <a16:creationId xmlns:a16="http://schemas.microsoft.com/office/drawing/2014/main" id="{C9642440-033E-2A49-89CC-8B814992DE86}"/>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81" name="Freeform 1583">
              <a:extLst>
                <a:ext uri="{FF2B5EF4-FFF2-40B4-BE49-F238E27FC236}">
                  <a16:creationId xmlns:a16="http://schemas.microsoft.com/office/drawing/2014/main" id="{B0DD44E5-B6E7-2446-8874-6737F99E2F0D}"/>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82" name="Freeform 1584">
              <a:extLst>
                <a:ext uri="{FF2B5EF4-FFF2-40B4-BE49-F238E27FC236}">
                  <a16:creationId xmlns:a16="http://schemas.microsoft.com/office/drawing/2014/main" id="{54FD43E4-F593-064D-8D43-161F13CA4BEE}"/>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83" name="Freeform 1585">
              <a:extLst>
                <a:ext uri="{FF2B5EF4-FFF2-40B4-BE49-F238E27FC236}">
                  <a16:creationId xmlns:a16="http://schemas.microsoft.com/office/drawing/2014/main" id="{C7B95E15-86B3-7F46-9318-5A061F995B2E}"/>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84" name="Freeform 1586">
              <a:extLst>
                <a:ext uri="{FF2B5EF4-FFF2-40B4-BE49-F238E27FC236}">
                  <a16:creationId xmlns:a16="http://schemas.microsoft.com/office/drawing/2014/main" id="{16A19892-FC67-B341-AF67-8C2BA80A603A}"/>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85" name="Freeform 1587">
              <a:extLst>
                <a:ext uri="{FF2B5EF4-FFF2-40B4-BE49-F238E27FC236}">
                  <a16:creationId xmlns:a16="http://schemas.microsoft.com/office/drawing/2014/main" id="{0ED4A113-450F-1744-BBBF-60B3736A11FB}"/>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2045" name="Group 1588">
            <a:extLst>
              <a:ext uri="{FF2B5EF4-FFF2-40B4-BE49-F238E27FC236}">
                <a16:creationId xmlns:a16="http://schemas.microsoft.com/office/drawing/2014/main" id="{AAFEFE3A-E314-2642-A751-3F70D2C58E42}"/>
              </a:ext>
            </a:extLst>
          </p:cNvPr>
          <p:cNvGrpSpPr>
            <a:grpSpLocks/>
          </p:cNvGrpSpPr>
          <p:nvPr/>
        </p:nvGrpSpPr>
        <p:grpSpPr bwMode="auto">
          <a:xfrm>
            <a:off x="5305425" y="3030538"/>
            <a:ext cx="444500" cy="407987"/>
            <a:chOff x="877" y="1008"/>
            <a:chExt cx="2747" cy="2591"/>
          </a:xfrm>
        </p:grpSpPr>
        <p:pic>
          <p:nvPicPr>
            <p:cNvPr id="42346" name="Picture 1589" descr="antenna_stylized">
              <a:extLst>
                <a:ext uri="{FF2B5EF4-FFF2-40B4-BE49-F238E27FC236}">
                  <a16:creationId xmlns:a16="http://schemas.microsoft.com/office/drawing/2014/main" id="{52CDABBC-49A3-5147-9DFB-CE82AFC20AA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347" name="Picture 1590" descr="laptop_keyboard">
              <a:extLst>
                <a:ext uri="{FF2B5EF4-FFF2-40B4-BE49-F238E27FC236}">
                  <a16:creationId xmlns:a16="http://schemas.microsoft.com/office/drawing/2014/main" id="{4983D10C-CAD3-DA40-84F5-BF9F61021B3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48" name="Freeform 1591">
              <a:extLst>
                <a:ext uri="{FF2B5EF4-FFF2-40B4-BE49-F238E27FC236}">
                  <a16:creationId xmlns:a16="http://schemas.microsoft.com/office/drawing/2014/main" id="{E7D5D9E6-FA47-A84D-87EE-CD3D2CB6E3C9}"/>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42349" name="Picture 1592" descr="screen">
              <a:extLst>
                <a:ext uri="{FF2B5EF4-FFF2-40B4-BE49-F238E27FC236}">
                  <a16:creationId xmlns:a16="http://schemas.microsoft.com/office/drawing/2014/main" id="{CD6B3E05-2F9E-2E45-A40E-8EAFB4B2E76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50" name="Freeform 1593">
              <a:extLst>
                <a:ext uri="{FF2B5EF4-FFF2-40B4-BE49-F238E27FC236}">
                  <a16:creationId xmlns:a16="http://schemas.microsoft.com/office/drawing/2014/main" id="{C78D4340-06A1-1D42-8ED0-53B15C61ADCF}"/>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51" name="Freeform 1594">
              <a:extLst>
                <a:ext uri="{FF2B5EF4-FFF2-40B4-BE49-F238E27FC236}">
                  <a16:creationId xmlns:a16="http://schemas.microsoft.com/office/drawing/2014/main" id="{7D3448E8-2F7A-264B-80D1-50012C2D457C}"/>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52" name="Freeform 1595">
              <a:extLst>
                <a:ext uri="{FF2B5EF4-FFF2-40B4-BE49-F238E27FC236}">
                  <a16:creationId xmlns:a16="http://schemas.microsoft.com/office/drawing/2014/main" id="{53B2667F-5D1F-4E4B-A2EB-D1AC3BD6CD96}"/>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53" name="Freeform 1596">
              <a:extLst>
                <a:ext uri="{FF2B5EF4-FFF2-40B4-BE49-F238E27FC236}">
                  <a16:creationId xmlns:a16="http://schemas.microsoft.com/office/drawing/2014/main" id="{490AEC8A-17C3-6347-BBAE-4FF6541D9022}"/>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54" name="Freeform 1597">
              <a:extLst>
                <a:ext uri="{FF2B5EF4-FFF2-40B4-BE49-F238E27FC236}">
                  <a16:creationId xmlns:a16="http://schemas.microsoft.com/office/drawing/2014/main" id="{AA2B4E29-954F-924F-BDF2-D5A275B928F6}"/>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6 h 1659"/>
                <a:gd name="T6" fmla="*/ 0 w 637"/>
                <a:gd name="T7" fmla="*/ 6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55" name="Freeform 1598">
              <a:extLst>
                <a:ext uri="{FF2B5EF4-FFF2-40B4-BE49-F238E27FC236}">
                  <a16:creationId xmlns:a16="http://schemas.microsoft.com/office/drawing/2014/main" id="{2301FEF5-6B9B-0F4B-AE8D-0657EED87211}"/>
                </a:ext>
              </a:extLst>
            </p:cNvPr>
            <p:cNvSpPr>
              <a:spLocks/>
            </p:cNvSpPr>
            <p:nvPr/>
          </p:nvSpPr>
          <p:spPr bwMode="auto">
            <a:xfrm>
              <a:off x="1734" y="2587"/>
              <a:ext cx="1494" cy="394"/>
            </a:xfrm>
            <a:custGeom>
              <a:avLst/>
              <a:gdLst>
                <a:gd name="T0" fmla="*/ 0 w 2216"/>
                <a:gd name="T1" fmla="*/ 0 h 550"/>
                <a:gd name="T2" fmla="*/ 1 w 2216"/>
                <a:gd name="T3" fmla="*/ 1 h 550"/>
                <a:gd name="T4" fmla="*/ 3 w 2216"/>
                <a:gd name="T5" fmla="*/ 2 h 550"/>
                <a:gd name="T6" fmla="*/ 3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2356" name="Group 1599">
              <a:extLst>
                <a:ext uri="{FF2B5EF4-FFF2-40B4-BE49-F238E27FC236}">
                  <a16:creationId xmlns:a16="http://schemas.microsoft.com/office/drawing/2014/main" id="{65495EF3-58F8-C54B-80E5-70D6891B0B06}"/>
                </a:ext>
              </a:extLst>
            </p:cNvPr>
            <p:cNvGrpSpPr>
              <a:grpSpLocks/>
            </p:cNvGrpSpPr>
            <p:nvPr/>
          </p:nvGrpSpPr>
          <p:grpSpPr bwMode="auto">
            <a:xfrm>
              <a:off x="1709" y="3008"/>
              <a:ext cx="507" cy="234"/>
              <a:chOff x="1740" y="2642"/>
              <a:chExt cx="752" cy="327"/>
            </a:xfrm>
          </p:grpSpPr>
          <p:sp>
            <p:nvSpPr>
              <p:cNvPr id="42363" name="Freeform 1600">
                <a:extLst>
                  <a:ext uri="{FF2B5EF4-FFF2-40B4-BE49-F238E27FC236}">
                    <a16:creationId xmlns:a16="http://schemas.microsoft.com/office/drawing/2014/main" id="{BC4040E3-7003-7141-BED9-4219B697585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64" name="Freeform 1601">
                <a:extLst>
                  <a:ext uri="{FF2B5EF4-FFF2-40B4-BE49-F238E27FC236}">
                    <a16:creationId xmlns:a16="http://schemas.microsoft.com/office/drawing/2014/main" id="{94D86B64-EB65-BC46-ABAC-4F5B462C0AB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65" name="Freeform 1602">
                <a:extLst>
                  <a:ext uri="{FF2B5EF4-FFF2-40B4-BE49-F238E27FC236}">
                    <a16:creationId xmlns:a16="http://schemas.microsoft.com/office/drawing/2014/main" id="{855122BB-BAC3-E34E-A468-12D8F2CF6A4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66" name="Freeform 1603">
                <a:extLst>
                  <a:ext uri="{FF2B5EF4-FFF2-40B4-BE49-F238E27FC236}">
                    <a16:creationId xmlns:a16="http://schemas.microsoft.com/office/drawing/2014/main" id="{358E7541-EF13-3249-BA41-75537DA7307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67" name="Freeform 1604">
                <a:extLst>
                  <a:ext uri="{FF2B5EF4-FFF2-40B4-BE49-F238E27FC236}">
                    <a16:creationId xmlns:a16="http://schemas.microsoft.com/office/drawing/2014/main" id="{C20DDB44-F087-EF49-B252-01971CD20395}"/>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68" name="Freeform 1605">
                <a:extLst>
                  <a:ext uri="{FF2B5EF4-FFF2-40B4-BE49-F238E27FC236}">
                    <a16:creationId xmlns:a16="http://schemas.microsoft.com/office/drawing/2014/main" id="{A2FCA5C3-4EAA-D54D-B9C4-B1F9987A1904}"/>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2357" name="Freeform 1606">
              <a:extLst>
                <a:ext uri="{FF2B5EF4-FFF2-40B4-BE49-F238E27FC236}">
                  <a16:creationId xmlns:a16="http://schemas.microsoft.com/office/drawing/2014/main" id="{E74721DB-52D2-CD43-89BD-814C6C4D9C91}"/>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58" name="Freeform 1607">
              <a:extLst>
                <a:ext uri="{FF2B5EF4-FFF2-40B4-BE49-F238E27FC236}">
                  <a16:creationId xmlns:a16="http://schemas.microsoft.com/office/drawing/2014/main" id="{BD133B4A-08FC-E54D-BF80-3871051BD982}"/>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59" name="Freeform 1608">
              <a:extLst>
                <a:ext uri="{FF2B5EF4-FFF2-40B4-BE49-F238E27FC236}">
                  <a16:creationId xmlns:a16="http://schemas.microsoft.com/office/drawing/2014/main" id="{EBFFE044-1DE2-2542-B631-E41652F592F7}"/>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60" name="Freeform 1609">
              <a:extLst>
                <a:ext uri="{FF2B5EF4-FFF2-40B4-BE49-F238E27FC236}">
                  <a16:creationId xmlns:a16="http://schemas.microsoft.com/office/drawing/2014/main" id="{D243E3AA-BACD-E34C-B8D9-27CBB1BB75EB}"/>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61" name="Freeform 1610">
              <a:extLst>
                <a:ext uri="{FF2B5EF4-FFF2-40B4-BE49-F238E27FC236}">
                  <a16:creationId xmlns:a16="http://schemas.microsoft.com/office/drawing/2014/main" id="{6F989D5D-0B6E-BA48-90BD-C0E3EB26B28B}"/>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62" name="Freeform 1611">
              <a:extLst>
                <a:ext uri="{FF2B5EF4-FFF2-40B4-BE49-F238E27FC236}">
                  <a16:creationId xmlns:a16="http://schemas.microsoft.com/office/drawing/2014/main" id="{AB113015-B2E6-1B4B-894B-CD42BAE99309}"/>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2046" name="Group 1612">
            <a:extLst>
              <a:ext uri="{FF2B5EF4-FFF2-40B4-BE49-F238E27FC236}">
                <a16:creationId xmlns:a16="http://schemas.microsoft.com/office/drawing/2014/main" id="{E211561D-C3B5-8D4A-B7B7-E5AF038A2DD4}"/>
              </a:ext>
            </a:extLst>
          </p:cNvPr>
          <p:cNvGrpSpPr>
            <a:grpSpLocks/>
          </p:cNvGrpSpPr>
          <p:nvPr/>
        </p:nvGrpSpPr>
        <p:grpSpPr bwMode="auto">
          <a:xfrm flipH="1">
            <a:off x="5684838" y="3211513"/>
            <a:ext cx="414337" cy="373062"/>
            <a:chOff x="2839" y="3501"/>
            <a:chExt cx="755" cy="803"/>
          </a:xfrm>
        </p:grpSpPr>
        <p:pic>
          <p:nvPicPr>
            <p:cNvPr id="42344" name="Picture 1613" descr="desktop_computer_stylized_medium">
              <a:extLst>
                <a:ext uri="{FF2B5EF4-FFF2-40B4-BE49-F238E27FC236}">
                  <a16:creationId xmlns:a16="http://schemas.microsoft.com/office/drawing/2014/main" id="{F673F554-C577-3048-B580-1FD0E6886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45" name="Freeform 1614">
              <a:extLst>
                <a:ext uri="{FF2B5EF4-FFF2-40B4-BE49-F238E27FC236}">
                  <a16:creationId xmlns:a16="http://schemas.microsoft.com/office/drawing/2014/main" id="{91A53FFD-198F-8945-9CEA-2F031A79A7F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2047" name="Group 1615">
            <a:extLst>
              <a:ext uri="{FF2B5EF4-FFF2-40B4-BE49-F238E27FC236}">
                <a16:creationId xmlns:a16="http://schemas.microsoft.com/office/drawing/2014/main" id="{9B4120D2-8BEB-B046-B8FF-91895A5A0A64}"/>
              </a:ext>
            </a:extLst>
          </p:cNvPr>
          <p:cNvGrpSpPr>
            <a:grpSpLocks/>
          </p:cNvGrpSpPr>
          <p:nvPr/>
        </p:nvGrpSpPr>
        <p:grpSpPr bwMode="auto">
          <a:xfrm>
            <a:off x="7051675" y="5411788"/>
            <a:ext cx="474663" cy="407987"/>
            <a:chOff x="877" y="1008"/>
            <a:chExt cx="2747" cy="2591"/>
          </a:xfrm>
        </p:grpSpPr>
        <p:pic>
          <p:nvPicPr>
            <p:cNvPr id="42321" name="Picture 1616" descr="antenna_stylized">
              <a:extLst>
                <a:ext uri="{FF2B5EF4-FFF2-40B4-BE49-F238E27FC236}">
                  <a16:creationId xmlns:a16="http://schemas.microsoft.com/office/drawing/2014/main" id="{3F834914-B744-384E-B3F7-003C98594A5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322" name="Picture 1617" descr="laptop_keyboard">
              <a:extLst>
                <a:ext uri="{FF2B5EF4-FFF2-40B4-BE49-F238E27FC236}">
                  <a16:creationId xmlns:a16="http://schemas.microsoft.com/office/drawing/2014/main" id="{5B8D6650-DEF6-8048-BDD0-5E99342B6BF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23" name="Freeform 1618">
              <a:extLst>
                <a:ext uri="{FF2B5EF4-FFF2-40B4-BE49-F238E27FC236}">
                  <a16:creationId xmlns:a16="http://schemas.microsoft.com/office/drawing/2014/main" id="{778A2D61-23DE-D148-A46E-30F119D2498A}"/>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42324" name="Picture 1619" descr="screen">
              <a:extLst>
                <a:ext uri="{FF2B5EF4-FFF2-40B4-BE49-F238E27FC236}">
                  <a16:creationId xmlns:a16="http://schemas.microsoft.com/office/drawing/2014/main" id="{60D8CA9A-61B9-2846-AB58-1CFD8F1A010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325" name="Freeform 1620">
              <a:extLst>
                <a:ext uri="{FF2B5EF4-FFF2-40B4-BE49-F238E27FC236}">
                  <a16:creationId xmlns:a16="http://schemas.microsoft.com/office/drawing/2014/main" id="{821485F1-1256-8547-ACB7-7B41420958AB}"/>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26" name="Freeform 1621">
              <a:extLst>
                <a:ext uri="{FF2B5EF4-FFF2-40B4-BE49-F238E27FC236}">
                  <a16:creationId xmlns:a16="http://schemas.microsoft.com/office/drawing/2014/main" id="{D5AC7D07-098B-C442-9A01-197576873335}"/>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27" name="Freeform 1622">
              <a:extLst>
                <a:ext uri="{FF2B5EF4-FFF2-40B4-BE49-F238E27FC236}">
                  <a16:creationId xmlns:a16="http://schemas.microsoft.com/office/drawing/2014/main" id="{5EB6092D-CCF8-5B4F-85AE-1A31E9BC38DB}"/>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28" name="Freeform 1623">
              <a:extLst>
                <a:ext uri="{FF2B5EF4-FFF2-40B4-BE49-F238E27FC236}">
                  <a16:creationId xmlns:a16="http://schemas.microsoft.com/office/drawing/2014/main" id="{919F4DA0-84ED-504F-B373-DF26967F0BDA}"/>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29" name="Freeform 1624">
              <a:extLst>
                <a:ext uri="{FF2B5EF4-FFF2-40B4-BE49-F238E27FC236}">
                  <a16:creationId xmlns:a16="http://schemas.microsoft.com/office/drawing/2014/main" id="{CC0EFB76-BF8D-D746-A9E3-E5D0F29CBCC2}"/>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6 h 1659"/>
                <a:gd name="T6" fmla="*/ 0 w 637"/>
                <a:gd name="T7" fmla="*/ 6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30" name="Freeform 1625">
              <a:extLst>
                <a:ext uri="{FF2B5EF4-FFF2-40B4-BE49-F238E27FC236}">
                  <a16:creationId xmlns:a16="http://schemas.microsoft.com/office/drawing/2014/main" id="{BACC21A0-0195-F944-B6D6-C06929EA6843}"/>
                </a:ext>
              </a:extLst>
            </p:cNvPr>
            <p:cNvSpPr>
              <a:spLocks/>
            </p:cNvSpPr>
            <p:nvPr/>
          </p:nvSpPr>
          <p:spPr bwMode="auto">
            <a:xfrm>
              <a:off x="1734" y="2587"/>
              <a:ext cx="1494" cy="394"/>
            </a:xfrm>
            <a:custGeom>
              <a:avLst/>
              <a:gdLst>
                <a:gd name="T0" fmla="*/ 0 w 2216"/>
                <a:gd name="T1" fmla="*/ 0 h 550"/>
                <a:gd name="T2" fmla="*/ 1 w 2216"/>
                <a:gd name="T3" fmla="*/ 1 h 550"/>
                <a:gd name="T4" fmla="*/ 3 w 2216"/>
                <a:gd name="T5" fmla="*/ 2 h 550"/>
                <a:gd name="T6" fmla="*/ 3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2331" name="Group 1626">
              <a:extLst>
                <a:ext uri="{FF2B5EF4-FFF2-40B4-BE49-F238E27FC236}">
                  <a16:creationId xmlns:a16="http://schemas.microsoft.com/office/drawing/2014/main" id="{3C13340C-D48A-BC40-A323-DF50BC0599D2}"/>
                </a:ext>
              </a:extLst>
            </p:cNvPr>
            <p:cNvGrpSpPr>
              <a:grpSpLocks/>
            </p:cNvGrpSpPr>
            <p:nvPr/>
          </p:nvGrpSpPr>
          <p:grpSpPr bwMode="auto">
            <a:xfrm>
              <a:off x="1709" y="3008"/>
              <a:ext cx="507" cy="234"/>
              <a:chOff x="1740" y="2642"/>
              <a:chExt cx="752" cy="327"/>
            </a:xfrm>
          </p:grpSpPr>
          <p:sp>
            <p:nvSpPr>
              <p:cNvPr id="42338" name="Freeform 1627">
                <a:extLst>
                  <a:ext uri="{FF2B5EF4-FFF2-40B4-BE49-F238E27FC236}">
                    <a16:creationId xmlns:a16="http://schemas.microsoft.com/office/drawing/2014/main" id="{4AF9F2A7-A3F3-6149-9B1D-4CC95AAD14B1}"/>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39" name="Freeform 1628">
                <a:extLst>
                  <a:ext uri="{FF2B5EF4-FFF2-40B4-BE49-F238E27FC236}">
                    <a16:creationId xmlns:a16="http://schemas.microsoft.com/office/drawing/2014/main" id="{822C51A4-F499-1044-B7DA-2C6FCEB7894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40" name="Freeform 1629">
                <a:extLst>
                  <a:ext uri="{FF2B5EF4-FFF2-40B4-BE49-F238E27FC236}">
                    <a16:creationId xmlns:a16="http://schemas.microsoft.com/office/drawing/2014/main" id="{FAF6D246-7DED-3949-9997-029768B5B8B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41" name="Freeform 1630">
                <a:extLst>
                  <a:ext uri="{FF2B5EF4-FFF2-40B4-BE49-F238E27FC236}">
                    <a16:creationId xmlns:a16="http://schemas.microsoft.com/office/drawing/2014/main" id="{67DC90EF-7783-EC4F-94C9-F0DFFD5F120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42" name="Freeform 1631">
                <a:extLst>
                  <a:ext uri="{FF2B5EF4-FFF2-40B4-BE49-F238E27FC236}">
                    <a16:creationId xmlns:a16="http://schemas.microsoft.com/office/drawing/2014/main" id="{4CAA172C-6993-E548-A11C-AB4175BD190B}"/>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43" name="Freeform 1632">
                <a:extLst>
                  <a:ext uri="{FF2B5EF4-FFF2-40B4-BE49-F238E27FC236}">
                    <a16:creationId xmlns:a16="http://schemas.microsoft.com/office/drawing/2014/main" id="{A5A9CB96-887F-814C-81AE-B0F31E853DF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2332" name="Freeform 1633">
              <a:extLst>
                <a:ext uri="{FF2B5EF4-FFF2-40B4-BE49-F238E27FC236}">
                  <a16:creationId xmlns:a16="http://schemas.microsoft.com/office/drawing/2014/main" id="{65A52322-890E-8E4C-8D52-704AC1BCDC0D}"/>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33" name="Freeform 1634">
              <a:extLst>
                <a:ext uri="{FF2B5EF4-FFF2-40B4-BE49-F238E27FC236}">
                  <a16:creationId xmlns:a16="http://schemas.microsoft.com/office/drawing/2014/main" id="{E34608A4-E827-6640-81BA-87FC80212001}"/>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34" name="Freeform 1635">
              <a:extLst>
                <a:ext uri="{FF2B5EF4-FFF2-40B4-BE49-F238E27FC236}">
                  <a16:creationId xmlns:a16="http://schemas.microsoft.com/office/drawing/2014/main" id="{8B3C1A3D-4768-DE45-AED6-929750561D29}"/>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35" name="Freeform 1636">
              <a:extLst>
                <a:ext uri="{FF2B5EF4-FFF2-40B4-BE49-F238E27FC236}">
                  <a16:creationId xmlns:a16="http://schemas.microsoft.com/office/drawing/2014/main" id="{14EEC0FF-8D42-C249-84F5-CCEE7582A39C}"/>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36" name="Freeform 1637">
              <a:extLst>
                <a:ext uri="{FF2B5EF4-FFF2-40B4-BE49-F238E27FC236}">
                  <a16:creationId xmlns:a16="http://schemas.microsoft.com/office/drawing/2014/main" id="{0ED26537-1D18-BE4A-A595-02B4E196BB5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37" name="Freeform 1638">
              <a:extLst>
                <a:ext uri="{FF2B5EF4-FFF2-40B4-BE49-F238E27FC236}">
                  <a16:creationId xmlns:a16="http://schemas.microsoft.com/office/drawing/2014/main" id="{051DD4E1-4F66-C542-B319-4BF42243604A}"/>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42048" name="Picture 1283" descr="underline_base">
            <a:extLst>
              <a:ext uri="{FF2B5EF4-FFF2-40B4-BE49-F238E27FC236}">
                <a16:creationId xmlns:a16="http://schemas.microsoft.com/office/drawing/2014/main" id="{A0705CC9-9215-9243-8E69-7E8FC33CD116}"/>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3400" y="933450"/>
            <a:ext cx="36560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Rectangle 2">
            <a:extLst>
              <a:ext uri="{FF2B5EF4-FFF2-40B4-BE49-F238E27FC236}">
                <a16:creationId xmlns:a16="http://schemas.microsoft.com/office/drawing/2014/main" id="{A588BC37-7C79-CA43-A063-C8D51586241F}"/>
              </a:ext>
            </a:extLst>
          </p:cNvPr>
          <p:cNvSpPr>
            <a:spLocks noGrp="1" noChangeArrowheads="1"/>
          </p:cNvSpPr>
          <p:nvPr>
            <p:ph type="title"/>
          </p:nvPr>
        </p:nvSpPr>
        <p:spPr>
          <a:xfrm>
            <a:off x="381000" y="-102394"/>
            <a:ext cx="8382000" cy="942975"/>
          </a:xfrm>
        </p:spPr>
        <p:txBody>
          <a:bodyPr/>
          <a:lstStyle/>
          <a:p>
            <a:pPr>
              <a:defRPr/>
            </a:pPr>
            <a:r>
              <a:rPr lang="en-US" sz="4000" dirty="0">
                <a:cs typeface="+mj-cs"/>
              </a:rPr>
              <a:t>Network layer services and protocols</a:t>
            </a:r>
          </a:p>
        </p:txBody>
      </p:sp>
      <p:sp>
        <p:nvSpPr>
          <p:cNvPr id="42050" name="Rectangle 3">
            <a:extLst>
              <a:ext uri="{FF2B5EF4-FFF2-40B4-BE49-F238E27FC236}">
                <a16:creationId xmlns:a16="http://schemas.microsoft.com/office/drawing/2014/main" id="{9774C943-C2D1-4142-A862-E18C56BF9C1A}"/>
              </a:ext>
            </a:extLst>
          </p:cNvPr>
          <p:cNvSpPr>
            <a:spLocks noGrp="1" noChangeArrowheads="1"/>
          </p:cNvSpPr>
          <p:nvPr>
            <p:ph type="body" sz="half" idx="1"/>
          </p:nvPr>
        </p:nvSpPr>
        <p:spPr>
          <a:xfrm>
            <a:off x="546100" y="1255713"/>
            <a:ext cx="4365625" cy="5100637"/>
          </a:xfrm>
        </p:spPr>
        <p:txBody>
          <a:bodyPr/>
          <a:lstStyle/>
          <a:p>
            <a:r>
              <a:rPr lang="en-US" altLang="en-US" sz="2000" dirty="0">
                <a:ea typeface="ＭＳ Ｐゴシック" panose="020B0600070205080204" pitchFamily="34" charset="-128"/>
                <a:cs typeface="ＭＳ Ｐゴシック" panose="020B0600070205080204" pitchFamily="34" charset="-128"/>
              </a:rPr>
              <a:t>transport segment from sending to receiving host </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1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sender: </a:t>
            </a: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encapsulates segments into datagrams, passes to link layer</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1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receiver: </a:t>
            </a: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delivers segments to transport layer protocol</a:t>
            </a:r>
          </a:p>
          <a:p>
            <a:r>
              <a:rPr lang="en-US" altLang="en-US" sz="2000" dirty="0">
                <a:ea typeface="ＭＳ Ｐゴシック" panose="020B0600070205080204" pitchFamily="34" charset="-128"/>
                <a:cs typeface="ＭＳ Ｐゴシック" panose="020B0600070205080204" pitchFamily="34" charset="-128"/>
              </a:rPr>
              <a:t>network layer protocols in </a:t>
            </a:r>
            <a:r>
              <a:rPr lang="en-US" altLang="en-US" sz="2000" i="1" dirty="0">
                <a:solidFill>
                  <a:srgbClr val="000099"/>
                </a:solidFill>
                <a:ea typeface="ＭＳ Ｐゴシック" panose="020B0600070205080204" pitchFamily="34" charset="-128"/>
                <a:cs typeface="ＭＳ Ｐゴシック" panose="020B0600070205080204" pitchFamily="34" charset="-128"/>
              </a:rPr>
              <a:t>every Internet devices:</a:t>
            </a:r>
            <a:r>
              <a:rPr lang="en-US" altLang="en-US" sz="2000" dirty="0">
                <a:solidFill>
                  <a:srgbClr val="000099"/>
                </a:solidFill>
                <a:ea typeface="ＭＳ Ｐゴシック" panose="020B0600070205080204" pitchFamily="34" charset="-128"/>
                <a:cs typeface="ＭＳ Ｐゴシック" panose="020B0600070205080204" pitchFamily="34" charset="-128"/>
              </a:rPr>
              <a:t> </a:t>
            </a:r>
            <a:r>
              <a:rPr lang="en-US" altLang="en-US" sz="2000" dirty="0">
                <a:ea typeface="ＭＳ Ｐゴシック" panose="020B0600070205080204" pitchFamily="34" charset="-128"/>
                <a:cs typeface="ＭＳ Ｐゴシック" panose="020B0600070205080204" pitchFamily="34" charset="-128"/>
              </a:rPr>
              <a:t>hosts, routers</a:t>
            </a:r>
          </a:p>
          <a:p>
            <a:r>
              <a:rPr lang="en-US" altLang="en-US" sz="2000" dirty="0">
                <a:ea typeface="ＭＳ Ｐゴシック" panose="020B0600070205080204" pitchFamily="34" charset="-128"/>
                <a:cs typeface="ＭＳ Ｐゴシック" panose="020B0600070205080204" pitchFamily="34" charset="-128"/>
              </a:rPr>
              <a:t>routers</a:t>
            </a:r>
          </a:p>
          <a:p>
            <a:pPr lvl="1"/>
            <a:r>
              <a:rPr lang="en-US" altLang="en-US" sz="1600" dirty="0">
                <a:ea typeface="ＭＳ Ｐゴシック" panose="020B0600070205080204" pitchFamily="34" charset="-128"/>
                <a:cs typeface="ＭＳ Ｐゴシック" panose="020B0600070205080204" pitchFamily="34" charset="-128"/>
              </a:rPr>
              <a:t>router examines header fields in all IP datagrams passing through it</a:t>
            </a:r>
          </a:p>
          <a:p>
            <a:pPr lvl="1"/>
            <a:r>
              <a:rPr lang="en-US" altLang="en-US" sz="2000" kern="12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moves datagrams from input ports to output ports to transfer datagrams along end-end path</a:t>
            </a:r>
          </a:p>
          <a:p>
            <a:endParaRPr lang="en-US" altLang="en-US" sz="2000" dirty="0">
              <a:ea typeface="ＭＳ Ｐゴシック" panose="020B0600070205080204" pitchFamily="34" charset="-128"/>
              <a:cs typeface="ＭＳ Ｐゴシック" panose="020B0600070205080204" pitchFamily="34" charset="-128"/>
            </a:endParaRPr>
          </a:p>
          <a:p>
            <a:endParaRPr lang="en-US" altLang="en-US" sz="2000" dirty="0">
              <a:ea typeface="ＭＳ Ｐゴシック" panose="020B0600070205080204" pitchFamily="34" charset="-128"/>
              <a:cs typeface="ＭＳ Ｐゴシック" panose="020B0600070205080204" pitchFamily="34" charset="-128"/>
            </a:endParaRPr>
          </a:p>
          <a:p>
            <a:endParaRPr lang="en-US" altLang="en-US" sz="2400" dirty="0">
              <a:ea typeface="ＭＳ Ｐゴシック" panose="020B0600070205080204" pitchFamily="34" charset="-128"/>
              <a:cs typeface="ＭＳ Ｐゴシック" panose="020B0600070205080204" pitchFamily="34" charset="-128"/>
            </a:endParaRPr>
          </a:p>
        </p:txBody>
      </p:sp>
      <p:grpSp>
        <p:nvGrpSpPr>
          <p:cNvPr id="2" name="Group 1046">
            <a:extLst>
              <a:ext uri="{FF2B5EF4-FFF2-40B4-BE49-F238E27FC236}">
                <a16:creationId xmlns:a16="http://schemas.microsoft.com/office/drawing/2014/main" id="{50666FF0-CFED-DF49-B3C3-99593501E556}"/>
              </a:ext>
            </a:extLst>
          </p:cNvPr>
          <p:cNvGrpSpPr>
            <a:grpSpLocks/>
          </p:cNvGrpSpPr>
          <p:nvPr/>
        </p:nvGrpSpPr>
        <p:grpSpPr bwMode="auto">
          <a:xfrm>
            <a:off x="5400675" y="1141413"/>
            <a:ext cx="1047750" cy="996950"/>
            <a:chOff x="3402" y="719"/>
            <a:chExt cx="660" cy="628"/>
          </a:xfrm>
        </p:grpSpPr>
        <p:sp>
          <p:nvSpPr>
            <p:cNvPr id="42311" name="Freeform 1030">
              <a:extLst>
                <a:ext uri="{FF2B5EF4-FFF2-40B4-BE49-F238E27FC236}">
                  <a16:creationId xmlns:a16="http://schemas.microsoft.com/office/drawing/2014/main" id="{79101677-27BF-434E-8545-9BC87270474C}"/>
                </a:ext>
              </a:extLst>
            </p:cNvPr>
            <p:cNvSpPr>
              <a:spLocks/>
            </p:cNvSpPr>
            <p:nvPr/>
          </p:nvSpPr>
          <p:spPr bwMode="auto">
            <a:xfrm>
              <a:off x="3402" y="753"/>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endParaRPr lang="en-US"/>
            </a:p>
          </p:txBody>
        </p:sp>
        <p:grpSp>
          <p:nvGrpSpPr>
            <p:cNvPr id="42312" name="Group 310">
              <a:extLst>
                <a:ext uri="{FF2B5EF4-FFF2-40B4-BE49-F238E27FC236}">
                  <a16:creationId xmlns:a16="http://schemas.microsoft.com/office/drawing/2014/main" id="{AFAA4313-79DE-B14A-ADC1-A3029354FCAE}"/>
                </a:ext>
              </a:extLst>
            </p:cNvPr>
            <p:cNvGrpSpPr>
              <a:grpSpLocks/>
            </p:cNvGrpSpPr>
            <p:nvPr/>
          </p:nvGrpSpPr>
          <p:grpSpPr bwMode="auto">
            <a:xfrm>
              <a:off x="3549" y="719"/>
              <a:ext cx="513" cy="547"/>
              <a:chOff x="2956" y="969"/>
              <a:chExt cx="513" cy="547"/>
            </a:xfrm>
          </p:grpSpPr>
          <p:sp>
            <p:nvSpPr>
              <p:cNvPr id="42313" name="Rectangle 311">
                <a:extLst>
                  <a:ext uri="{FF2B5EF4-FFF2-40B4-BE49-F238E27FC236}">
                    <a16:creationId xmlns:a16="http://schemas.microsoft.com/office/drawing/2014/main" id="{5F66E0BB-474C-1D40-82DB-ECFA6E736903}"/>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314" name="Rectangle 312">
                <a:extLst>
                  <a:ext uri="{FF2B5EF4-FFF2-40B4-BE49-F238E27FC236}">
                    <a16:creationId xmlns:a16="http://schemas.microsoft.com/office/drawing/2014/main" id="{F07AE9E8-ACCC-2242-B859-347AFA9A9637}"/>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315" name="Rectangle 313">
                <a:extLst>
                  <a:ext uri="{FF2B5EF4-FFF2-40B4-BE49-F238E27FC236}">
                    <a16:creationId xmlns:a16="http://schemas.microsoft.com/office/drawing/2014/main" id="{4738ADCF-AD97-214A-AEBF-88298ED92571}"/>
                  </a:ext>
                </a:extLst>
              </p:cNvPr>
              <p:cNvSpPr>
                <a:spLocks noChangeArrowheads="1"/>
              </p:cNvSpPr>
              <p:nvPr/>
            </p:nvSpPr>
            <p:spPr bwMode="auto">
              <a:xfrm>
                <a:off x="3000" y="1185"/>
                <a:ext cx="432" cy="1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316" name="Text Box 314">
                <a:extLst>
                  <a:ext uri="{FF2B5EF4-FFF2-40B4-BE49-F238E27FC236}">
                    <a16:creationId xmlns:a16="http://schemas.microsoft.com/office/drawing/2014/main" id="{959AFB99-254A-C64F-8CE0-4E1B6A2B7031}"/>
                  </a:ext>
                </a:extLst>
              </p:cNvPr>
              <p:cNvSpPr txBox="1">
                <a:spLocks noChangeArrowheads="1"/>
              </p:cNvSpPr>
              <p:nvPr/>
            </p:nvSpPr>
            <p:spPr bwMode="auto">
              <a:xfrm>
                <a:off x="2956" y="97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000"/>
                  <a:t>application</a:t>
                </a:r>
              </a:p>
              <a:p>
                <a:pPr algn="ctr"/>
                <a:r>
                  <a:rPr lang="en-US" altLang="en-US" sz="1000"/>
                  <a:t>transport</a:t>
                </a:r>
              </a:p>
              <a:p>
                <a:pPr algn="ctr"/>
                <a:r>
                  <a:rPr lang="en-US" altLang="en-US" sz="1000">
                    <a:solidFill>
                      <a:schemeClr val="bg1"/>
                    </a:solidFill>
                  </a:rPr>
                  <a:t>network</a:t>
                </a:r>
                <a:endParaRPr lang="en-US" altLang="en-US" sz="1000"/>
              </a:p>
              <a:p>
                <a:pPr algn="ctr"/>
                <a:r>
                  <a:rPr lang="en-US" altLang="en-US" sz="1000"/>
                  <a:t>data link</a:t>
                </a:r>
              </a:p>
              <a:p>
                <a:pPr algn="ctr"/>
                <a:r>
                  <a:rPr lang="en-US" altLang="en-US" sz="1000"/>
                  <a:t>physical</a:t>
                </a:r>
                <a:endParaRPr lang="en-US" altLang="en-US" sz="2400"/>
              </a:p>
            </p:txBody>
          </p:sp>
          <p:sp>
            <p:nvSpPr>
              <p:cNvPr id="42317" name="Line 315">
                <a:extLst>
                  <a:ext uri="{FF2B5EF4-FFF2-40B4-BE49-F238E27FC236}">
                    <a16:creationId xmlns:a16="http://schemas.microsoft.com/office/drawing/2014/main" id="{A8CCB5E2-E49A-A940-AE13-E0F87669BBC9}"/>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18" name="Line 316">
                <a:extLst>
                  <a:ext uri="{FF2B5EF4-FFF2-40B4-BE49-F238E27FC236}">
                    <a16:creationId xmlns:a16="http://schemas.microsoft.com/office/drawing/2014/main" id="{0C5C3684-4309-9E45-B910-62186B53AB4F}"/>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19" name="Line 317">
                <a:extLst>
                  <a:ext uri="{FF2B5EF4-FFF2-40B4-BE49-F238E27FC236}">
                    <a16:creationId xmlns:a16="http://schemas.microsoft.com/office/drawing/2014/main" id="{A6AC0F1D-2E10-2144-97B4-5DF4223C17F5}"/>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20" name="Line 318">
                <a:extLst>
                  <a:ext uri="{FF2B5EF4-FFF2-40B4-BE49-F238E27FC236}">
                    <a16:creationId xmlns:a16="http://schemas.microsoft.com/office/drawing/2014/main" id="{48564B67-D671-D74C-8538-5000BAECBDAC}"/>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 name="Group 1047">
            <a:extLst>
              <a:ext uri="{FF2B5EF4-FFF2-40B4-BE49-F238E27FC236}">
                <a16:creationId xmlns:a16="http://schemas.microsoft.com/office/drawing/2014/main" id="{8C7E98EC-89AE-AF42-B015-C5D3DCBA6D32}"/>
              </a:ext>
            </a:extLst>
          </p:cNvPr>
          <p:cNvGrpSpPr>
            <a:grpSpLocks/>
          </p:cNvGrpSpPr>
          <p:nvPr/>
        </p:nvGrpSpPr>
        <p:grpSpPr bwMode="auto">
          <a:xfrm>
            <a:off x="8096250" y="4148138"/>
            <a:ext cx="1047750" cy="996950"/>
            <a:chOff x="3402" y="719"/>
            <a:chExt cx="660" cy="628"/>
          </a:xfrm>
        </p:grpSpPr>
        <p:sp>
          <p:nvSpPr>
            <p:cNvPr id="42301" name="Freeform 1048">
              <a:extLst>
                <a:ext uri="{FF2B5EF4-FFF2-40B4-BE49-F238E27FC236}">
                  <a16:creationId xmlns:a16="http://schemas.microsoft.com/office/drawing/2014/main" id="{136956D4-1FB3-434C-8B41-C4C2D861CDF1}"/>
                </a:ext>
              </a:extLst>
            </p:cNvPr>
            <p:cNvSpPr>
              <a:spLocks/>
            </p:cNvSpPr>
            <p:nvPr/>
          </p:nvSpPr>
          <p:spPr bwMode="auto">
            <a:xfrm>
              <a:off x="3402" y="753"/>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endParaRPr lang="en-US"/>
            </a:p>
          </p:txBody>
        </p:sp>
        <p:grpSp>
          <p:nvGrpSpPr>
            <p:cNvPr id="42302" name="Group 1049">
              <a:extLst>
                <a:ext uri="{FF2B5EF4-FFF2-40B4-BE49-F238E27FC236}">
                  <a16:creationId xmlns:a16="http://schemas.microsoft.com/office/drawing/2014/main" id="{27AD43C3-CBC5-334A-8AF4-348B81A5B763}"/>
                </a:ext>
              </a:extLst>
            </p:cNvPr>
            <p:cNvGrpSpPr>
              <a:grpSpLocks/>
            </p:cNvGrpSpPr>
            <p:nvPr/>
          </p:nvGrpSpPr>
          <p:grpSpPr bwMode="auto">
            <a:xfrm>
              <a:off x="3549" y="719"/>
              <a:ext cx="513" cy="547"/>
              <a:chOff x="2956" y="969"/>
              <a:chExt cx="513" cy="547"/>
            </a:xfrm>
          </p:grpSpPr>
          <p:sp>
            <p:nvSpPr>
              <p:cNvPr id="42303" name="Rectangle 1050">
                <a:extLst>
                  <a:ext uri="{FF2B5EF4-FFF2-40B4-BE49-F238E27FC236}">
                    <a16:creationId xmlns:a16="http://schemas.microsoft.com/office/drawing/2014/main" id="{533BF02D-4062-F940-937B-39CC8D4568B5}"/>
                  </a:ext>
                </a:extLst>
              </p:cNvPr>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304" name="Rectangle 1051">
                <a:extLst>
                  <a:ext uri="{FF2B5EF4-FFF2-40B4-BE49-F238E27FC236}">
                    <a16:creationId xmlns:a16="http://schemas.microsoft.com/office/drawing/2014/main" id="{6E98ABF8-1F92-5E4E-92F8-1ADEED3B3334}"/>
                  </a:ext>
                </a:extLst>
              </p:cNvPr>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305" name="Rectangle 1052">
                <a:extLst>
                  <a:ext uri="{FF2B5EF4-FFF2-40B4-BE49-F238E27FC236}">
                    <a16:creationId xmlns:a16="http://schemas.microsoft.com/office/drawing/2014/main" id="{8909E1B5-99FC-C045-8450-97CB28A2DDB9}"/>
                  </a:ext>
                </a:extLst>
              </p:cNvPr>
              <p:cNvSpPr>
                <a:spLocks noChangeArrowheads="1"/>
              </p:cNvSpPr>
              <p:nvPr/>
            </p:nvSpPr>
            <p:spPr bwMode="auto">
              <a:xfrm>
                <a:off x="3000" y="1185"/>
                <a:ext cx="432" cy="1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306" name="Text Box 1053">
                <a:extLst>
                  <a:ext uri="{FF2B5EF4-FFF2-40B4-BE49-F238E27FC236}">
                    <a16:creationId xmlns:a16="http://schemas.microsoft.com/office/drawing/2014/main" id="{19D2C70E-9713-B441-A78E-DE610554B00E}"/>
                  </a:ext>
                </a:extLst>
              </p:cNvPr>
              <p:cNvSpPr txBox="1">
                <a:spLocks noChangeArrowheads="1"/>
              </p:cNvSpPr>
              <p:nvPr/>
            </p:nvSpPr>
            <p:spPr bwMode="auto">
              <a:xfrm>
                <a:off x="2956" y="97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000"/>
                  <a:t>application</a:t>
                </a:r>
              </a:p>
              <a:p>
                <a:pPr algn="ctr"/>
                <a:r>
                  <a:rPr lang="en-US" altLang="en-US" sz="1000"/>
                  <a:t>transport</a:t>
                </a:r>
              </a:p>
              <a:p>
                <a:pPr algn="ctr"/>
                <a:r>
                  <a:rPr lang="en-US" altLang="en-US" sz="1000">
                    <a:solidFill>
                      <a:schemeClr val="bg1"/>
                    </a:solidFill>
                  </a:rPr>
                  <a:t>network</a:t>
                </a:r>
                <a:endParaRPr lang="en-US" altLang="en-US" sz="1000"/>
              </a:p>
              <a:p>
                <a:pPr algn="ctr"/>
                <a:r>
                  <a:rPr lang="en-US" altLang="en-US" sz="1000"/>
                  <a:t>data link</a:t>
                </a:r>
              </a:p>
              <a:p>
                <a:pPr algn="ctr"/>
                <a:r>
                  <a:rPr lang="en-US" altLang="en-US" sz="1000"/>
                  <a:t>physical</a:t>
                </a:r>
                <a:endParaRPr lang="en-US" altLang="en-US" sz="2400"/>
              </a:p>
            </p:txBody>
          </p:sp>
          <p:sp>
            <p:nvSpPr>
              <p:cNvPr id="42307" name="Line 1054">
                <a:extLst>
                  <a:ext uri="{FF2B5EF4-FFF2-40B4-BE49-F238E27FC236}">
                    <a16:creationId xmlns:a16="http://schemas.microsoft.com/office/drawing/2014/main" id="{BAFEA706-86AC-8A40-9164-A7A6A1DEDFB7}"/>
                  </a:ext>
                </a:extLst>
              </p:cNvPr>
              <p:cNvSpPr>
                <a:spLocks noChangeShapeType="1"/>
              </p:cNvSpPr>
              <p:nvPr/>
            </p:nvSpPr>
            <p:spPr bwMode="auto">
              <a:xfrm>
                <a:off x="2997" y="119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08" name="Line 1055">
                <a:extLst>
                  <a:ext uri="{FF2B5EF4-FFF2-40B4-BE49-F238E27FC236}">
                    <a16:creationId xmlns:a16="http://schemas.microsoft.com/office/drawing/2014/main" id="{45A56ED3-F64C-ED41-9395-07A9E49F462B}"/>
                  </a:ext>
                </a:extLst>
              </p:cNvPr>
              <p:cNvSpPr>
                <a:spLocks noChangeShapeType="1"/>
              </p:cNvSpPr>
              <p:nvPr/>
            </p:nvSpPr>
            <p:spPr bwMode="auto">
              <a:xfrm>
                <a:off x="3003" y="1290"/>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09" name="Line 1056">
                <a:extLst>
                  <a:ext uri="{FF2B5EF4-FFF2-40B4-BE49-F238E27FC236}">
                    <a16:creationId xmlns:a16="http://schemas.microsoft.com/office/drawing/2014/main" id="{20143540-193F-CB47-9312-F83875DA5793}"/>
                  </a:ext>
                </a:extLst>
              </p:cNvPr>
              <p:cNvSpPr>
                <a:spLocks noChangeShapeType="1"/>
              </p:cNvSpPr>
              <p:nvPr/>
            </p:nvSpPr>
            <p:spPr bwMode="auto">
              <a:xfrm>
                <a:off x="3003" y="1374"/>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10" name="Line 1057">
                <a:extLst>
                  <a:ext uri="{FF2B5EF4-FFF2-40B4-BE49-F238E27FC236}">
                    <a16:creationId xmlns:a16="http://schemas.microsoft.com/office/drawing/2014/main" id="{42D137A7-B36E-8240-97D5-EDD0A4FD76F9}"/>
                  </a:ext>
                </a:extLst>
              </p:cNvPr>
              <p:cNvSpPr>
                <a:spLocks noChangeShapeType="1"/>
              </p:cNvSpPr>
              <p:nvPr/>
            </p:nvSpPr>
            <p:spPr bwMode="auto">
              <a:xfrm>
                <a:off x="3003" y="109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4" name="Group 1278">
            <a:extLst>
              <a:ext uri="{FF2B5EF4-FFF2-40B4-BE49-F238E27FC236}">
                <a16:creationId xmlns:a16="http://schemas.microsoft.com/office/drawing/2014/main" id="{D4E26448-E63D-7D4D-B044-66B4CE8F3F14}"/>
              </a:ext>
            </a:extLst>
          </p:cNvPr>
          <p:cNvGrpSpPr>
            <a:grpSpLocks/>
          </p:cNvGrpSpPr>
          <p:nvPr/>
        </p:nvGrpSpPr>
        <p:grpSpPr bwMode="auto">
          <a:xfrm>
            <a:off x="5853113" y="1763713"/>
            <a:ext cx="2546350" cy="3429000"/>
            <a:chOff x="3674" y="1148"/>
            <a:chExt cx="1604" cy="2160"/>
          </a:xfrm>
        </p:grpSpPr>
        <p:grpSp>
          <p:nvGrpSpPr>
            <p:cNvPr id="42059" name="Group 433">
              <a:extLst>
                <a:ext uri="{FF2B5EF4-FFF2-40B4-BE49-F238E27FC236}">
                  <a16:creationId xmlns:a16="http://schemas.microsoft.com/office/drawing/2014/main" id="{8B1EB96C-C78D-8C45-9DF4-061F3153A227}"/>
                </a:ext>
              </a:extLst>
            </p:cNvPr>
            <p:cNvGrpSpPr>
              <a:grpSpLocks/>
            </p:cNvGrpSpPr>
            <p:nvPr/>
          </p:nvGrpSpPr>
          <p:grpSpPr bwMode="auto">
            <a:xfrm>
              <a:off x="3701" y="1305"/>
              <a:ext cx="513" cy="442"/>
              <a:chOff x="3937" y="633"/>
              <a:chExt cx="513" cy="442"/>
            </a:xfrm>
          </p:grpSpPr>
          <p:sp>
            <p:nvSpPr>
              <p:cNvPr id="42280" name="Line 434">
                <a:extLst>
                  <a:ext uri="{FF2B5EF4-FFF2-40B4-BE49-F238E27FC236}">
                    <a16:creationId xmlns:a16="http://schemas.microsoft.com/office/drawing/2014/main" id="{64AEBFFE-6BC3-AF42-97CF-85A595E9B150}"/>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81" name="Line 435">
                <a:extLst>
                  <a:ext uri="{FF2B5EF4-FFF2-40B4-BE49-F238E27FC236}">
                    <a16:creationId xmlns:a16="http://schemas.microsoft.com/office/drawing/2014/main" id="{28A87A69-A1FC-0242-B5FF-E5D0149A4EBA}"/>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82" name="Oval 436">
                <a:extLst>
                  <a:ext uri="{FF2B5EF4-FFF2-40B4-BE49-F238E27FC236}">
                    <a16:creationId xmlns:a16="http://schemas.microsoft.com/office/drawing/2014/main" id="{420381CF-7C58-104C-ADBE-1F04AA10ABFF}"/>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83" name="Line 437">
                <a:extLst>
                  <a:ext uri="{FF2B5EF4-FFF2-40B4-BE49-F238E27FC236}">
                    <a16:creationId xmlns:a16="http://schemas.microsoft.com/office/drawing/2014/main" id="{5F9A0825-DAE3-FB4B-9305-026D67DDA6CF}"/>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84" name="Line 438">
                <a:extLst>
                  <a:ext uri="{FF2B5EF4-FFF2-40B4-BE49-F238E27FC236}">
                    <a16:creationId xmlns:a16="http://schemas.microsoft.com/office/drawing/2014/main" id="{F5230C03-175F-4A40-84E4-6664AAF26063}"/>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85" name="Rectangle 439">
                <a:extLst>
                  <a:ext uri="{FF2B5EF4-FFF2-40B4-BE49-F238E27FC236}">
                    <a16:creationId xmlns:a16="http://schemas.microsoft.com/office/drawing/2014/main" id="{A9DCB6FA-DE67-624C-ABB7-24A3AC38B103}"/>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286" name="Oval 440">
                <a:extLst>
                  <a:ext uri="{FF2B5EF4-FFF2-40B4-BE49-F238E27FC236}">
                    <a16:creationId xmlns:a16="http://schemas.microsoft.com/office/drawing/2014/main" id="{60539E5C-572E-2445-9305-1174D49595D4}"/>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287" name="Group 441">
                <a:extLst>
                  <a:ext uri="{FF2B5EF4-FFF2-40B4-BE49-F238E27FC236}">
                    <a16:creationId xmlns:a16="http://schemas.microsoft.com/office/drawing/2014/main" id="{B82301BC-BB0F-1747-9409-01B7683E4517}"/>
                  </a:ext>
                </a:extLst>
              </p:cNvPr>
              <p:cNvGrpSpPr>
                <a:grpSpLocks/>
              </p:cNvGrpSpPr>
              <p:nvPr/>
            </p:nvGrpSpPr>
            <p:grpSpPr bwMode="auto">
              <a:xfrm>
                <a:off x="4120" y="809"/>
                <a:ext cx="156" cy="55"/>
                <a:chOff x="2848" y="848"/>
                <a:chExt cx="140" cy="98"/>
              </a:xfrm>
            </p:grpSpPr>
            <p:sp>
              <p:nvSpPr>
                <p:cNvPr id="42298" name="Line 442">
                  <a:extLst>
                    <a:ext uri="{FF2B5EF4-FFF2-40B4-BE49-F238E27FC236}">
                      <a16:creationId xmlns:a16="http://schemas.microsoft.com/office/drawing/2014/main" id="{08CBF942-531D-0A42-A848-F16446DC8DB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9" name="Line 443">
                  <a:extLst>
                    <a:ext uri="{FF2B5EF4-FFF2-40B4-BE49-F238E27FC236}">
                      <a16:creationId xmlns:a16="http://schemas.microsoft.com/office/drawing/2014/main" id="{A7B60CE6-5B7A-3443-B71A-7F6E24C7E54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00" name="Line 444">
                  <a:extLst>
                    <a:ext uri="{FF2B5EF4-FFF2-40B4-BE49-F238E27FC236}">
                      <a16:creationId xmlns:a16="http://schemas.microsoft.com/office/drawing/2014/main" id="{702A72EC-AE4D-0548-8D4A-27AFF1B7E13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288" name="Group 445">
                <a:extLst>
                  <a:ext uri="{FF2B5EF4-FFF2-40B4-BE49-F238E27FC236}">
                    <a16:creationId xmlns:a16="http://schemas.microsoft.com/office/drawing/2014/main" id="{C5DE90B4-2CFD-9542-A83C-64BA559E3A87}"/>
                  </a:ext>
                </a:extLst>
              </p:cNvPr>
              <p:cNvGrpSpPr>
                <a:grpSpLocks/>
              </p:cNvGrpSpPr>
              <p:nvPr/>
            </p:nvGrpSpPr>
            <p:grpSpPr bwMode="auto">
              <a:xfrm flipV="1">
                <a:off x="4120" y="808"/>
                <a:ext cx="156" cy="56"/>
                <a:chOff x="2848" y="848"/>
                <a:chExt cx="140" cy="98"/>
              </a:xfrm>
            </p:grpSpPr>
            <p:sp>
              <p:nvSpPr>
                <p:cNvPr id="42295" name="Line 446">
                  <a:extLst>
                    <a:ext uri="{FF2B5EF4-FFF2-40B4-BE49-F238E27FC236}">
                      <a16:creationId xmlns:a16="http://schemas.microsoft.com/office/drawing/2014/main" id="{F593F652-C600-7645-B3A5-5EB7B827BDB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6" name="Line 447">
                  <a:extLst>
                    <a:ext uri="{FF2B5EF4-FFF2-40B4-BE49-F238E27FC236}">
                      <a16:creationId xmlns:a16="http://schemas.microsoft.com/office/drawing/2014/main" id="{F6FAD50C-CF00-F149-BE35-F2E6D6D9AA8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7" name="Line 448">
                  <a:extLst>
                    <a:ext uri="{FF2B5EF4-FFF2-40B4-BE49-F238E27FC236}">
                      <a16:creationId xmlns:a16="http://schemas.microsoft.com/office/drawing/2014/main" id="{BDE8C431-3D20-7C47-B82D-E43C3AE2784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289" name="Rectangle 449">
                <a:extLst>
                  <a:ext uri="{FF2B5EF4-FFF2-40B4-BE49-F238E27FC236}">
                    <a16:creationId xmlns:a16="http://schemas.microsoft.com/office/drawing/2014/main" id="{0C155329-54FA-A440-AD69-8607F3DB040B}"/>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90" name="Rectangle 450">
                <a:extLst>
                  <a:ext uri="{FF2B5EF4-FFF2-40B4-BE49-F238E27FC236}">
                    <a16:creationId xmlns:a16="http://schemas.microsoft.com/office/drawing/2014/main" id="{C46810E1-9430-7C41-A00C-976CB043A9EC}"/>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91" name="Line 451">
                <a:extLst>
                  <a:ext uri="{FF2B5EF4-FFF2-40B4-BE49-F238E27FC236}">
                    <a16:creationId xmlns:a16="http://schemas.microsoft.com/office/drawing/2014/main" id="{6F311032-91DD-9743-9323-6DEDD24B4E4D}"/>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2" name="Line 452">
                <a:extLst>
                  <a:ext uri="{FF2B5EF4-FFF2-40B4-BE49-F238E27FC236}">
                    <a16:creationId xmlns:a16="http://schemas.microsoft.com/office/drawing/2014/main" id="{C944CEF8-50F5-B043-9035-12490DC363A0}"/>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93" name="Rectangle 453">
                <a:extLst>
                  <a:ext uri="{FF2B5EF4-FFF2-40B4-BE49-F238E27FC236}">
                    <a16:creationId xmlns:a16="http://schemas.microsoft.com/office/drawing/2014/main" id="{67BDB61D-FD90-7545-94E2-9588867D2B2F}"/>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solidFill>
                    <a:srgbClr val="CC0000"/>
                  </a:solidFill>
                  <a:latin typeface="Comic Sans MS" panose="030F0902030302020204" pitchFamily="66" charset="0"/>
                </a:endParaRPr>
              </a:p>
            </p:txBody>
          </p:sp>
          <p:sp>
            <p:nvSpPr>
              <p:cNvPr id="42294" name="Text Box 454">
                <a:extLst>
                  <a:ext uri="{FF2B5EF4-FFF2-40B4-BE49-F238E27FC236}">
                    <a16:creationId xmlns:a16="http://schemas.microsoft.com/office/drawing/2014/main" id="{B816D141-CA58-A141-BFDE-4F90367AB60C}"/>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0" name="Group 1058">
              <a:extLst>
                <a:ext uri="{FF2B5EF4-FFF2-40B4-BE49-F238E27FC236}">
                  <a16:creationId xmlns:a16="http://schemas.microsoft.com/office/drawing/2014/main" id="{6E9DC5FE-0E26-7D4D-BF22-50999BA2F8A0}"/>
                </a:ext>
              </a:extLst>
            </p:cNvPr>
            <p:cNvGrpSpPr>
              <a:grpSpLocks/>
            </p:cNvGrpSpPr>
            <p:nvPr/>
          </p:nvGrpSpPr>
          <p:grpSpPr bwMode="auto">
            <a:xfrm>
              <a:off x="4207" y="1532"/>
              <a:ext cx="513" cy="442"/>
              <a:chOff x="3937" y="633"/>
              <a:chExt cx="513" cy="442"/>
            </a:xfrm>
          </p:grpSpPr>
          <p:sp>
            <p:nvSpPr>
              <p:cNvPr id="42259" name="Line 1059">
                <a:extLst>
                  <a:ext uri="{FF2B5EF4-FFF2-40B4-BE49-F238E27FC236}">
                    <a16:creationId xmlns:a16="http://schemas.microsoft.com/office/drawing/2014/main" id="{B9B2246C-789E-B44C-89F2-9011F83AE451}"/>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60" name="Line 1060">
                <a:extLst>
                  <a:ext uri="{FF2B5EF4-FFF2-40B4-BE49-F238E27FC236}">
                    <a16:creationId xmlns:a16="http://schemas.microsoft.com/office/drawing/2014/main" id="{14F01A30-F3F0-C94C-B318-52E9A5A1A209}"/>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61" name="Oval 1061">
                <a:extLst>
                  <a:ext uri="{FF2B5EF4-FFF2-40B4-BE49-F238E27FC236}">
                    <a16:creationId xmlns:a16="http://schemas.microsoft.com/office/drawing/2014/main" id="{9478A6FD-40AF-7948-AA8E-1820B8682675}"/>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62" name="Line 1062">
                <a:extLst>
                  <a:ext uri="{FF2B5EF4-FFF2-40B4-BE49-F238E27FC236}">
                    <a16:creationId xmlns:a16="http://schemas.microsoft.com/office/drawing/2014/main" id="{BEC25FC9-E28E-F043-8809-2B865D88AFC7}"/>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63" name="Line 1063">
                <a:extLst>
                  <a:ext uri="{FF2B5EF4-FFF2-40B4-BE49-F238E27FC236}">
                    <a16:creationId xmlns:a16="http://schemas.microsoft.com/office/drawing/2014/main" id="{CCE1A579-E7BC-7344-86AD-E52DFA8BF6A8}"/>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64" name="Rectangle 1064">
                <a:extLst>
                  <a:ext uri="{FF2B5EF4-FFF2-40B4-BE49-F238E27FC236}">
                    <a16:creationId xmlns:a16="http://schemas.microsoft.com/office/drawing/2014/main" id="{C8E39C3D-8999-7945-BAB5-7DE5CC444E1D}"/>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265" name="Oval 1065">
                <a:extLst>
                  <a:ext uri="{FF2B5EF4-FFF2-40B4-BE49-F238E27FC236}">
                    <a16:creationId xmlns:a16="http://schemas.microsoft.com/office/drawing/2014/main" id="{BBADC362-0BE6-F443-AD45-A0EC8166B154}"/>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266" name="Group 1066">
                <a:extLst>
                  <a:ext uri="{FF2B5EF4-FFF2-40B4-BE49-F238E27FC236}">
                    <a16:creationId xmlns:a16="http://schemas.microsoft.com/office/drawing/2014/main" id="{BD748912-D951-9848-8F68-EEBB08D85140}"/>
                  </a:ext>
                </a:extLst>
              </p:cNvPr>
              <p:cNvGrpSpPr>
                <a:grpSpLocks/>
              </p:cNvGrpSpPr>
              <p:nvPr/>
            </p:nvGrpSpPr>
            <p:grpSpPr bwMode="auto">
              <a:xfrm>
                <a:off x="4120" y="809"/>
                <a:ext cx="156" cy="55"/>
                <a:chOff x="2848" y="848"/>
                <a:chExt cx="140" cy="98"/>
              </a:xfrm>
            </p:grpSpPr>
            <p:sp>
              <p:nvSpPr>
                <p:cNvPr id="42277" name="Line 1067">
                  <a:extLst>
                    <a:ext uri="{FF2B5EF4-FFF2-40B4-BE49-F238E27FC236}">
                      <a16:creationId xmlns:a16="http://schemas.microsoft.com/office/drawing/2014/main" id="{E235DD3A-AC15-E543-8291-DA72B2496E8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78" name="Line 1068">
                  <a:extLst>
                    <a:ext uri="{FF2B5EF4-FFF2-40B4-BE49-F238E27FC236}">
                      <a16:creationId xmlns:a16="http://schemas.microsoft.com/office/drawing/2014/main" id="{765617F6-C866-2843-A25A-E79B91B5C77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79" name="Line 1069">
                  <a:extLst>
                    <a:ext uri="{FF2B5EF4-FFF2-40B4-BE49-F238E27FC236}">
                      <a16:creationId xmlns:a16="http://schemas.microsoft.com/office/drawing/2014/main" id="{FAD02C27-5116-1541-B81D-8FFE024E01B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267" name="Group 1070">
                <a:extLst>
                  <a:ext uri="{FF2B5EF4-FFF2-40B4-BE49-F238E27FC236}">
                    <a16:creationId xmlns:a16="http://schemas.microsoft.com/office/drawing/2014/main" id="{92AB610F-9185-7646-9658-2F3451EFCC63}"/>
                  </a:ext>
                </a:extLst>
              </p:cNvPr>
              <p:cNvGrpSpPr>
                <a:grpSpLocks/>
              </p:cNvGrpSpPr>
              <p:nvPr/>
            </p:nvGrpSpPr>
            <p:grpSpPr bwMode="auto">
              <a:xfrm flipV="1">
                <a:off x="4120" y="808"/>
                <a:ext cx="156" cy="56"/>
                <a:chOff x="2848" y="848"/>
                <a:chExt cx="140" cy="98"/>
              </a:xfrm>
            </p:grpSpPr>
            <p:sp>
              <p:nvSpPr>
                <p:cNvPr id="42274" name="Line 1071">
                  <a:extLst>
                    <a:ext uri="{FF2B5EF4-FFF2-40B4-BE49-F238E27FC236}">
                      <a16:creationId xmlns:a16="http://schemas.microsoft.com/office/drawing/2014/main" id="{10B813B2-A5EB-B646-B47D-4222031362D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75" name="Line 1072">
                  <a:extLst>
                    <a:ext uri="{FF2B5EF4-FFF2-40B4-BE49-F238E27FC236}">
                      <a16:creationId xmlns:a16="http://schemas.microsoft.com/office/drawing/2014/main" id="{19DE9396-382F-384C-8CE8-846CCCF8391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76" name="Line 1073">
                  <a:extLst>
                    <a:ext uri="{FF2B5EF4-FFF2-40B4-BE49-F238E27FC236}">
                      <a16:creationId xmlns:a16="http://schemas.microsoft.com/office/drawing/2014/main" id="{02F39F7E-99AF-0243-BE24-0F2E44E7FEE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268" name="Rectangle 1074">
                <a:extLst>
                  <a:ext uri="{FF2B5EF4-FFF2-40B4-BE49-F238E27FC236}">
                    <a16:creationId xmlns:a16="http://schemas.microsoft.com/office/drawing/2014/main" id="{88DF4C51-7E5A-144D-9B50-C351A42DA069}"/>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69" name="Rectangle 1075">
                <a:extLst>
                  <a:ext uri="{FF2B5EF4-FFF2-40B4-BE49-F238E27FC236}">
                    <a16:creationId xmlns:a16="http://schemas.microsoft.com/office/drawing/2014/main" id="{C84668BC-E61B-4C4C-94AC-1FAF9DCA3266}"/>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70" name="Line 1076">
                <a:extLst>
                  <a:ext uri="{FF2B5EF4-FFF2-40B4-BE49-F238E27FC236}">
                    <a16:creationId xmlns:a16="http://schemas.microsoft.com/office/drawing/2014/main" id="{611E2ECC-91A9-B543-B52D-AAED8B4AEC64}"/>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71" name="Line 1077">
                <a:extLst>
                  <a:ext uri="{FF2B5EF4-FFF2-40B4-BE49-F238E27FC236}">
                    <a16:creationId xmlns:a16="http://schemas.microsoft.com/office/drawing/2014/main" id="{B8C0E632-8018-8147-BBEC-8FE49FE724CD}"/>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72" name="Rectangle 1078">
                <a:extLst>
                  <a:ext uri="{FF2B5EF4-FFF2-40B4-BE49-F238E27FC236}">
                    <a16:creationId xmlns:a16="http://schemas.microsoft.com/office/drawing/2014/main" id="{B5D1578A-53A8-9C4A-AEDE-0D0D3C565ACE}"/>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73" name="Text Box 1079">
                <a:extLst>
                  <a:ext uri="{FF2B5EF4-FFF2-40B4-BE49-F238E27FC236}">
                    <a16:creationId xmlns:a16="http://schemas.microsoft.com/office/drawing/2014/main" id="{CCC8DEF5-660F-5749-91CA-757091912556}"/>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1" name="Group 1080">
              <a:extLst>
                <a:ext uri="{FF2B5EF4-FFF2-40B4-BE49-F238E27FC236}">
                  <a16:creationId xmlns:a16="http://schemas.microsoft.com/office/drawing/2014/main" id="{4F1265D8-77A6-E441-8854-2B0748A784F7}"/>
                </a:ext>
              </a:extLst>
            </p:cNvPr>
            <p:cNvGrpSpPr>
              <a:grpSpLocks/>
            </p:cNvGrpSpPr>
            <p:nvPr/>
          </p:nvGrpSpPr>
          <p:grpSpPr bwMode="auto">
            <a:xfrm>
              <a:off x="4661" y="1148"/>
              <a:ext cx="513" cy="442"/>
              <a:chOff x="3937" y="633"/>
              <a:chExt cx="513" cy="442"/>
            </a:xfrm>
          </p:grpSpPr>
          <p:sp>
            <p:nvSpPr>
              <p:cNvPr id="42238" name="Line 1081">
                <a:extLst>
                  <a:ext uri="{FF2B5EF4-FFF2-40B4-BE49-F238E27FC236}">
                    <a16:creationId xmlns:a16="http://schemas.microsoft.com/office/drawing/2014/main" id="{4ECCFFAC-C720-C646-90FE-4927B1CFC6F4}"/>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39" name="Line 1082">
                <a:extLst>
                  <a:ext uri="{FF2B5EF4-FFF2-40B4-BE49-F238E27FC236}">
                    <a16:creationId xmlns:a16="http://schemas.microsoft.com/office/drawing/2014/main" id="{32EFB487-8D80-EA46-99D7-E8233C3C093E}"/>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40" name="Oval 1083">
                <a:extLst>
                  <a:ext uri="{FF2B5EF4-FFF2-40B4-BE49-F238E27FC236}">
                    <a16:creationId xmlns:a16="http://schemas.microsoft.com/office/drawing/2014/main" id="{06632B5E-A534-394E-82C4-1F796D9D99FB}"/>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41" name="Line 1084">
                <a:extLst>
                  <a:ext uri="{FF2B5EF4-FFF2-40B4-BE49-F238E27FC236}">
                    <a16:creationId xmlns:a16="http://schemas.microsoft.com/office/drawing/2014/main" id="{FEDC9B13-B7DB-114B-8E1D-0E4A04550B0A}"/>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42" name="Line 1085">
                <a:extLst>
                  <a:ext uri="{FF2B5EF4-FFF2-40B4-BE49-F238E27FC236}">
                    <a16:creationId xmlns:a16="http://schemas.microsoft.com/office/drawing/2014/main" id="{98BAF4F2-E39B-2E4E-8C3E-AA3024F2FDDD}"/>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43" name="Rectangle 1086">
                <a:extLst>
                  <a:ext uri="{FF2B5EF4-FFF2-40B4-BE49-F238E27FC236}">
                    <a16:creationId xmlns:a16="http://schemas.microsoft.com/office/drawing/2014/main" id="{E61C7559-6945-ED4E-B79C-A960D170D09B}"/>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244" name="Oval 1087">
                <a:extLst>
                  <a:ext uri="{FF2B5EF4-FFF2-40B4-BE49-F238E27FC236}">
                    <a16:creationId xmlns:a16="http://schemas.microsoft.com/office/drawing/2014/main" id="{E71FEE85-F90F-324A-9B1D-39BFB0F0D383}"/>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245" name="Group 1088">
                <a:extLst>
                  <a:ext uri="{FF2B5EF4-FFF2-40B4-BE49-F238E27FC236}">
                    <a16:creationId xmlns:a16="http://schemas.microsoft.com/office/drawing/2014/main" id="{D1DF85D2-5068-2840-A349-DC61D9D7E996}"/>
                  </a:ext>
                </a:extLst>
              </p:cNvPr>
              <p:cNvGrpSpPr>
                <a:grpSpLocks/>
              </p:cNvGrpSpPr>
              <p:nvPr/>
            </p:nvGrpSpPr>
            <p:grpSpPr bwMode="auto">
              <a:xfrm>
                <a:off x="4120" y="809"/>
                <a:ext cx="156" cy="55"/>
                <a:chOff x="2848" y="848"/>
                <a:chExt cx="140" cy="98"/>
              </a:xfrm>
            </p:grpSpPr>
            <p:sp>
              <p:nvSpPr>
                <p:cNvPr id="42256" name="Line 1089">
                  <a:extLst>
                    <a:ext uri="{FF2B5EF4-FFF2-40B4-BE49-F238E27FC236}">
                      <a16:creationId xmlns:a16="http://schemas.microsoft.com/office/drawing/2014/main" id="{69E4D3D8-F5D2-D749-A8AE-312792FAE07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57" name="Line 1090">
                  <a:extLst>
                    <a:ext uri="{FF2B5EF4-FFF2-40B4-BE49-F238E27FC236}">
                      <a16:creationId xmlns:a16="http://schemas.microsoft.com/office/drawing/2014/main" id="{AC5E6F49-938E-4244-8143-F736D7AD6B9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58" name="Line 1091">
                  <a:extLst>
                    <a:ext uri="{FF2B5EF4-FFF2-40B4-BE49-F238E27FC236}">
                      <a16:creationId xmlns:a16="http://schemas.microsoft.com/office/drawing/2014/main" id="{98B2665F-B051-C34A-9C90-A7EDF291739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246" name="Group 1092">
                <a:extLst>
                  <a:ext uri="{FF2B5EF4-FFF2-40B4-BE49-F238E27FC236}">
                    <a16:creationId xmlns:a16="http://schemas.microsoft.com/office/drawing/2014/main" id="{1143C715-729A-6049-AC8B-7DF7E8D91BEA}"/>
                  </a:ext>
                </a:extLst>
              </p:cNvPr>
              <p:cNvGrpSpPr>
                <a:grpSpLocks/>
              </p:cNvGrpSpPr>
              <p:nvPr/>
            </p:nvGrpSpPr>
            <p:grpSpPr bwMode="auto">
              <a:xfrm flipV="1">
                <a:off x="4120" y="808"/>
                <a:ext cx="156" cy="56"/>
                <a:chOff x="2848" y="848"/>
                <a:chExt cx="140" cy="98"/>
              </a:xfrm>
            </p:grpSpPr>
            <p:sp>
              <p:nvSpPr>
                <p:cNvPr id="42253" name="Line 1093">
                  <a:extLst>
                    <a:ext uri="{FF2B5EF4-FFF2-40B4-BE49-F238E27FC236}">
                      <a16:creationId xmlns:a16="http://schemas.microsoft.com/office/drawing/2014/main" id="{DCB72649-C382-F546-8C13-03F796E8D51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54" name="Line 1094">
                  <a:extLst>
                    <a:ext uri="{FF2B5EF4-FFF2-40B4-BE49-F238E27FC236}">
                      <a16:creationId xmlns:a16="http://schemas.microsoft.com/office/drawing/2014/main" id="{9106399B-BA92-C841-962F-4E27F438DE7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55" name="Line 1095">
                  <a:extLst>
                    <a:ext uri="{FF2B5EF4-FFF2-40B4-BE49-F238E27FC236}">
                      <a16:creationId xmlns:a16="http://schemas.microsoft.com/office/drawing/2014/main" id="{F8406486-AFFF-1547-8F39-9B186EA2DAD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247" name="Rectangle 1096">
                <a:extLst>
                  <a:ext uri="{FF2B5EF4-FFF2-40B4-BE49-F238E27FC236}">
                    <a16:creationId xmlns:a16="http://schemas.microsoft.com/office/drawing/2014/main" id="{69D6EBB4-7203-174C-9E60-011A5A28F8E5}"/>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48" name="Rectangle 1097">
                <a:extLst>
                  <a:ext uri="{FF2B5EF4-FFF2-40B4-BE49-F238E27FC236}">
                    <a16:creationId xmlns:a16="http://schemas.microsoft.com/office/drawing/2014/main" id="{056E57B5-4E9A-A946-9608-53C0A901B8F9}"/>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49" name="Line 1098">
                <a:extLst>
                  <a:ext uri="{FF2B5EF4-FFF2-40B4-BE49-F238E27FC236}">
                    <a16:creationId xmlns:a16="http://schemas.microsoft.com/office/drawing/2014/main" id="{8DD3BC2C-C216-1B4B-89D6-D2A77715EF4E}"/>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50" name="Line 1099">
                <a:extLst>
                  <a:ext uri="{FF2B5EF4-FFF2-40B4-BE49-F238E27FC236}">
                    <a16:creationId xmlns:a16="http://schemas.microsoft.com/office/drawing/2014/main" id="{FF430C1B-1F1E-0C48-BA88-8A3DC8E1DCA2}"/>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51" name="Rectangle 1100">
                <a:extLst>
                  <a:ext uri="{FF2B5EF4-FFF2-40B4-BE49-F238E27FC236}">
                    <a16:creationId xmlns:a16="http://schemas.microsoft.com/office/drawing/2014/main" id="{93A1702F-F7B6-274C-A72A-D66C695592BF}"/>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52" name="Text Box 1101">
                <a:extLst>
                  <a:ext uri="{FF2B5EF4-FFF2-40B4-BE49-F238E27FC236}">
                    <a16:creationId xmlns:a16="http://schemas.microsoft.com/office/drawing/2014/main" id="{C98AE0F4-1BCC-5B44-9E16-C35F1B0E650C}"/>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2" name="Group 1102">
              <a:extLst>
                <a:ext uri="{FF2B5EF4-FFF2-40B4-BE49-F238E27FC236}">
                  <a16:creationId xmlns:a16="http://schemas.microsoft.com/office/drawing/2014/main" id="{05B04B27-10B4-E041-8B9C-48E91BF6FEEB}"/>
                </a:ext>
              </a:extLst>
            </p:cNvPr>
            <p:cNvGrpSpPr>
              <a:grpSpLocks/>
            </p:cNvGrpSpPr>
            <p:nvPr/>
          </p:nvGrpSpPr>
          <p:grpSpPr bwMode="auto">
            <a:xfrm>
              <a:off x="4702" y="1523"/>
              <a:ext cx="513" cy="442"/>
              <a:chOff x="3937" y="633"/>
              <a:chExt cx="513" cy="442"/>
            </a:xfrm>
          </p:grpSpPr>
          <p:sp>
            <p:nvSpPr>
              <p:cNvPr id="42217" name="Line 1103">
                <a:extLst>
                  <a:ext uri="{FF2B5EF4-FFF2-40B4-BE49-F238E27FC236}">
                    <a16:creationId xmlns:a16="http://schemas.microsoft.com/office/drawing/2014/main" id="{84BB68F3-4E01-1C47-AC75-1D9C9722020E}"/>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18" name="Line 1104">
                <a:extLst>
                  <a:ext uri="{FF2B5EF4-FFF2-40B4-BE49-F238E27FC236}">
                    <a16:creationId xmlns:a16="http://schemas.microsoft.com/office/drawing/2014/main" id="{B3F927D5-7BA3-3945-A16B-6B525073B6B9}"/>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19" name="Oval 1105">
                <a:extLst>
                  <a:ext uri="{FF2B5EF4-FFF2-40B4-BE49-F238E27FC236}">
                    <a16:creationId xmlns:a16="http://schemas.microsoft.com/office/drawing/2014/main" id="{A0E5F211-3D2D-C04F-88EE-2D24E85DFE01}"/>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20" name="Line 1106">
                <a:extLst>
                  <a:ext uri="{FF2B5EF4-FFF2-40B4-BE49-F238E27FC236}">
                    <a16:creationId xmlns:a16="http://schemas.microsoft.com/office/drawing/2014/main" id="{7BA0F5E0-6D27-2745-A667-AEABD2737BA9}"/>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21" name="Line 1107">
                <a:extLst>
                  <a:ext uri="{FF2B5EF4-FFF2-40B4-BE49-F238E27FC236}">
                    <a16:creationId xmlns:a16="http://schemas.microsoft.com/office/drawing/2014/main" id="{44DC2221-707A-0B48-8825-97A3A2F535DE}"/>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22" name="Rectangle 1108">
                <a:extLst>
                  <a:ext uri="{FF2B5EF4-FFF2-40B4-BE49-F238E27FC236}">
                    <a16:creationId xmlns:a16="http://schemas.microsoft.com/office/drawing/2014/main" id="{D93ED3D7-EC65-4D43-AA99-0422268904EA}"/>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223" name="Oval 1109">
                <a:extLst>
                  <a:ext uri="{FF2B5EF4-FFF2-40B4-BE49-F238E27FC236}">
                    <a16:creationId xmlns:a16="http://schemas.microsoft.com/office/drawing/2014/main" id="{9BF4BD09-163D-344F-B3D5-9A59AEA155B4}"/>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224" name="Group 1110">
                <a:extLst>
                  <a:ext uri="{FF2B5EF4-FFF2-40B4-BE49-F238E27FC236}">
                    <a16:creationId xmlns:a16="http://schemas.microsoft.com/office/drawing/2014/main" id="{4D03D0E3-B1D3-354F-9D7D-8E19F7402BDC}"/>
                  </a:ext>
                </a:extLst>
              </p:cNvPr>
              <p:cNvGrpSpPr>
                <a:grpSpLocks/>
              </p:cNvGrpSpPr>
              <p:nvPr/>
            </p:nvGrpSpPr>
            <p:grpSpPr bwMode="auto">
              <a:xfrm>
                <a:off x="4120" y="809"/>
                <a:ext cx="156" cy="55"/>
                <a:chOff x="2848" y="848"/>
                <a:chExt cx="140" cy="98"/>
              </a:xfrm>
            </p:grpSpPr>
            <p:sp>
              <p:nvSpPr>
                <p:cNvPr id="42235" name="Line 1111">
                  <a:extLst>
                    <a:ext uri="{FF2B5EF4-FFF2-40B4-BE49-F238E27FC236}">
                      <a16:creationId xmlns:a16="http://schemas.microsoft.com/office/drawing/2014/main" id="{7AB91F5F-E9B4-6142-955B-2B62C91FB83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36" name="Line 1112">
                  <a:extLst>
                    <a:ext uri="{FF2B5EF4-FFF2-40B4-BE49-F238E27FC236}">
                      <a16:creationId xmlns:a16="http://schemas.microsoft.com/office/drawing/2014/main" id="{501A87AE-2E8D-634D-A7E0-E0BBE755B08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37" name="Line 1113">
                  <a:extLst>
                    <a:ext uri="{FF2B5EF4-FFF2-40B4-BE49-F238E27FC236}">
                      <a16:creationId xmlns:a16="http://schemas.microsoft.com/office/drawing/2014/main" id="{9525A764-8BBD-514F-834D-6AB4738DBC3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225" name="Group 1114">
                <a:extLst>
                  <a:ext uri="{FF2B5EF4-FFF2-40B4-BE49-F238E27FC236}">
                    <a16:creationId xmlns:a16="http://schemas.microsoft.com/office/drawing/2014/main" id="{F788F7D9-EE53-2147-9C8D-2076230AE31D}"/>
                  </a:ext>
                </a:extLst>
              </p:cNvPr>
              <p:cNvGrpSpPr>
                <a:grpSpLocks/>
              </p:cNvGrpSpPr>
              <p:nvPr/>
            </p:nvGrpSpPr>
            <p:grpSpPr bwMode="auto">
              <a:xfrm flipV="1">
                <a:off x="4120" y="808"/>
                <a:ext cx="156" cy="56"/>
                <a:chOff x="2848" y="848"/>
                <a:chExt cx="140" cy="98"/>
              </a:xfrm>
            </p:grpSpPr>
            <p:sp>
              <p:nvSpPr>
                <p:cNvPr id="42232" name="Line 1115">
                  <a:extLst>
                    <a:ext uri="{FF2B5EF4-FFF2-40B4-BE49-F238E27FC236}">
                      <a16:creationId xmlns:a16="http://schemas.microsoft.com/office/drawing/2014/main" id="{BC8EDB0F-F5D5-DF48-B6AA-1C32163E395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33" name="Line 1116">
                  <a:extLst>
                    <a:ext uri="{FF2B5EF4-FFF2-40B4-BE49-F238E27FC236}">
                      <a16:creationId xmlns:a16="http://schemas.microsoft.com/office/drawing/2014/main" id="{117F6B0F-F8B8-4F4A-9AA5-8ECF1D5DF37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34" name="Line 1117">
                  <a:extLst>
                    <a:ext uri="{FF2B5EF4-FFF2-40B4-BE49-F238E27FC236}">
                      <a16:creationId xmlns:a16="http://schemas.microsoft.com/office/drawing/2014/main" id="{E64E103E-12AA-1E41-9BB0-0B0701F5B85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226" name="Rectangle 1118">
                <a:extLst>
                  <a:ext uri="{FF2B5EF4-FFF2-40B4-BE49-F238E27FC236}">
                    <a16:creationId xmlns:a16="http://schemas.microsoft.com/office/drawing/2014/main" id="{82CA748E-3B6A-1142-BEE7-A86C6FE9AAEE}"/>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27" name="Rectangle 1119">
                <a:extLst>
                  <a:ext uri="{FF2B5EF4-FFF2-40B4-BE49-F238E27FC236}">
                    <a16:creationId xmlns:a16="http://schemas.microsoft.com/office/drawing/2014/main" id="{DD5C9752-D96E-3F45-B246-CD1022E51420}"/>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28" name="Line 1120">
                <a:extLst>
                  <a:ext uri="{FF2B5EF4-FFF2-40B4-BE49-F238E27FC236}">
                    <a16:creationId xmlns:a16="http://schemas.microsoft.com/office/drawing/2014/main" id="{BB8040B2-125D-A040-967D-102F550A4265}"/>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29" name="Line 1121">
                <a:extLst>
                  <a:ext uri="{FF2B5EF4-FFF2-40B4-BE49-F238E27FC236}">
                    <a16:creationId xmlns:a16="http://schemas.microsoft.com/office/drawing/2014/main" id="{E8B3CC03-EDB7-184D-B091-9FD116F1D321}"/>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30" name="Rectangle 1122">
                <a:extLst>
                  <a:ext uri="{FF2B5EF4-FFF2-40B4-BE49-F238E27FC236}">
                    <a16:creationId xmlns:a16="http://schemas.microsoft.com/office/drawing/2014/main" id="{FFB6C846-C4E9-D94A-89A0-2DA73C921A6E}"/>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31" name="Text Box 1123">
                <a:extLst>
                  <a:ext uri="{FF2B5EF4-FFF2-40B4-BE49-F238E27FC236}">
                    <a16:creationId xmlns:a16="http://schemas.microsoft.com/office/drawing/2014/main" id="{F75586A0-49AA-6A43-85CD-33F1431F4A64}"/>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3" name="Group 1124">
              <a:extLst>
                <a:ext uri="{FF2B5EF4-FFF2-40B4-BE49-F238E27FC236}">
                  <a16:creationId xmlns:a16="http://schemas.microsoft.com/office/drawing/2014/main" id="{F8C71BE1-E8FA-8041-A4D1-29DD08D8F07C}"/>
                </a:ext>
              </a:extLst>
            </p:cNvPr>
            <p:cNvGrpSpPr>
              <a:grpSpLocks/>
            </p:cNvGrpSpPr>
            <p:nvPr/>
          </p:nvGrpSpPr>
          <p:grpSpPr bwMode="auto">
            <a:xfrm>
              <a:off x="4197" y="1157"/>
              <a:ext cx="513" cy="442"/>
              <a:chOff x="3937" y="633"/>
              <a:chExt cx="513" cy="442"/>
            </a:xfrm>
          </p:grpSpPr>
          <p:sp>
            <p:nvSpPr>
              <p:cNvPr id="42196" name="Line 1125">
                <a:extLst>
                  <a:ext uri="{FF2B5EF4-FFF2-40B4-BE49-F238E27FC236}">
                    <a16:creationId xmlns:a16="http://schemas.microsoft.com/office/drawing/2014/main" id="{F6FD0091-5F96-A342-BB25-F39B9E07A7AC}"/>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97" name="Line 1126">
                <a:extLst>
                  <a:ext uri="{FF2B5EF4-FFF2-40B4-BE49-F238E27FC236}">
                    <a16:creationId xmlns:a16="http://schemas.microsoft.com/office/drawing/2014/main" id="{2AA1BF4D-35E9-5A40-A60F-44F315A3BDE0}"/>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98" name="Oval 1127">
                <a:extLst>
                  <a:ext uri="{FF2B5EF4-FFF2-40B4-BE49-F238E27FC236}">
                    <a16:creationId xmlns:a16="http://schemas.microsoft.com/office/drawing/2014/main" id="{2C230192-D5E5-F345-A0A0-6A657DE54DF8}"/>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99" name="Line 1128">
                <a:extLst>
                  <a:ext uri="{FF2B5EF4-FFF2-40B4-BE49-F238E27FC236}">
                    <a16:creationId xmlns:a16="http://schemas.microsoft.com/office/drawing/2014/main" id="{2BAB24E0-1CFE-EB46-8219-5D57FE08D3B1}"/>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00" name="Line 1129">
                <a:extLst>
                  <a:ext uri="{FF2B5EF4-FFF2-40B4-BE49-F238E27FC236}">
                    <a16:creationId xmlns:a16="http://schemas.microsoft.com/office/drawing/2014/main" id="{E5953731-0907-8C4A-BEF2-3E82FDA15203}"/>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01" name="Rectangle 1130">
                <a:extLst>
                  <a:ext uri="{FF2B5EF4-FFF2-40B4-BE49-F238E27FC236}">
                    <a16:creationId xmlns:a16="http://schemas.microsoft.com/office/drawing/2014/main" id="{68AB86BE-B587-8444-BAB8-CE6CBB6A3211}"/>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202" name="Oval 1131">
                <a:extLst>
                  <a:ext uri="{FF2B5EF4-FFF2-40B4-BE49-F238E27FC236}">
                    <a16:creationId xmlns:a16="http://schemas.microsoft.com/office/drawing/2014/main" id="{EF44CC20-4A55-A846-947A-92004E29C73C}"/>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203" name="Group 1132">
                <a:extLst>
                  <a:ext uri="{FF2B5EF4-FFF2-40B4-BE49-F238E27FC236}">
                    <a16:creationId xmlns:a16="http://schemas.microsoft.com/office/drawing/2014/main" id="{4B28DF95-2F0E-D84C-A446-FE1AF0D6DB0E}"/>
                  </a:ext>
                </a:extLst>
              </p:cNvPr>
              <p:cNvGrpSpPr>
                <a:grpSpLocks/>
              </p:cNvGrpSpPr>
              <p:nvPr/>
            </p:nvGrpSpPr>
            <p:grpSpPr bwMode="auto">
              <a:xfrm>
                <a:off x="4120" y="809"/>
                <a:ext cx="156" cy="55"/>
                <a:chOff x="2848" y="848"/>
                <a:chExt cx="140" cy="98"/>
              </a:xfrm>
            </p:grpSpPr>
            <p:sp>
              <p:nvSpPr>
                <p:cNvPr id="42214" name="Line 1133">
                  <a:extLst>
                    <a:ext uri="{FF2B5EF4-FFF2-40B4-BE49-F238E27FC236}">
                      <a16:creationId xmlns:a16="http://schemas.microsoft.com/office/drawing/2014/main" id="{3142161F-D0BD-B54F-87BE-F547E32C7C5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15" name="Line 1134">
                  <a:extLst>
                    <a:ext uri="{FF2B5EF4-FFF2-40B4-BE49-F238E27FC236}">
                      <a16:creationId xmlns:a16="http://schemas.microsoft.com/office/drawing/2014/main" id="{04E16DF0-CF3A-7B41-9415-2678DB03DC3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16" name="Line 1135">
                  <a:extLst>
                    <a:ext uri="{FF2B5EF4-FFF2-40B4-BE49-F238E27FC236}">
                      <a16:creationId xmlns:a16="http://schemas.microsoft.com/office/drawing/2014/main" id="{C09F8333-FCF9-5240-A4BE-60D41567FC7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204" name="Group 1136">
                <a:extLst>
                  <a:ext uri="{FF2B5EF4-FFF2-40B4-BE49-F238E27FC236}">
                    <a16:creationId xmlns:a16="http://schemas.microsoft.com/office/drawing/2014/main" id="{376417AE-7307-884C-93B9-BDC321FF6F31}"/>
                  </a:ext>
                </a:extLst>
              </p:cNvPr>
              <p:cNvGrpSpPr>
                <a:grpSpLocks/>
              </p:cNvGrpSpPr>
              <p:nvPr/>
            </p:nvGrpSpPr>
            <p:grpSpPr bwMode="auto">
              <a:xfrm flipV="1">
                <a:off x="4120" y="808"/>
                <a:ext cx="156" cy="56"/>
                <a:chOff x="2848" y="848"/>
                <a:chExt cx="140" cy="98"/>
              </a:xfrm>
            </p:grpSpPr>
            <p:sp>
              <p:nvSpPr>
                <p:cNvPr id="42211" name="Line 1137">
                  <a:extLst>
                    <a:ext uri="{FF2B5EF4-FFF2-40B4-BE49-F238E27FC236}">
                      <a16:creationId xmlns:a16="http://schemas.microsoft.com/office/drawing/2014/main" id="{4E842623-9DA2-BB4C-915D-1DF4F44205F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12" name="Line 1138">
                  <a:extLst>
                    <a:ext uri="{FF2B5EF4-FFF2-40B4-BE49-F238E27FC236}">
                      <a16:creationId xmlns:a16="http://schemas.microsoft.com/office/drawing/2014/main" id="{C66B1D28-91D5-5D4F-8064-2CA86D08711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13" name="Line 1139">
                  <a:extLst>
                    <a:ext uri="{FF2B5EF4-FFF2-40B4-BE49-F238E27FC236}">
                      <a16:creationId xmlns:a16="http://schemas.microsoft.com/office/drawing/2014/main" id="{EA17B676-AF1C-5D45-AC2B-FC4F822D64C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205" name="Rectangle 1140">
                <a:extLst>
                  <a:ext uri="{FF2B5EF4-FFF2-40B4-BE49-F238E27FC236}">
                    <a16:creationId xmlns:a16="http://schemas.microsoft.com/office/drawing/2014/main" id="{613AAFE2-3C09-8A40-8BA5-02F8600053F6}"/>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06" name="Rectangle 1141">
                <a:extLst>
                  <a:ext uri="{FF2B5EF4-FFF2-40B4-BE49-F238E27FC236}">
                    <a16:creationId xmlns:a16="http://schemas.microsoft.com/office/drawing/2014/main" id="{FAA1952C-DC3C-8544-A9D2-A42F0D0FC74B}"/>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07" name="Line 1142">
                <a:extLst>
                  <a:ext uri="{FF2B5EF4-FFF2-40B4-BE49-F238E27FC236}">
                    <a16:creationId xmlns:a16="http://schemas.microsoft.com/office/drawing/2014/main" id="{920928AB-04F8-EC4E-B3AF-12B3AAF31A0D}"/>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08" name="Line 1143">
                <a:extLst>
                  <a:ext uri="{FF2B5EF4-FFF2-40B4-BE49-F238E27FC236}">
                    <a16:creationId xmlns:a16="http://schemas.microsoft.com/office/drawing/2014/main" id="{7038D30E-7E33-434B-82AF-65F0B18172B7}"/>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09" name="Rectangle 1144">
                <a:extLst>
                  <a:ext uri="{FF2B5EF4-FFF2-40B4-BE49-F238E27FC236}">
                    <a16:creationId xmlns:a16="http://schemas.microsoft.com/office/drawing/2014/main" id="{F900E51D-19EB-5A41-AB62-F3709BA6FD42}"/>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210" name="Text Box 1145">
                <a:extLst>
                  <a:ext uri="{FF2B5EF4-FFF2-40B4-BE49-F238E27FC236}">
                    <a16:creationId xmlns:a16="http://schemas.microsoft.com/office/drawing/2014/main" id="{54CD9425-69D7-1742-8DCD-C7D52336745B}"/>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4" name="Group 1146">
              <a:extLst>
                <a:ext uri="{FF2B5EF4-FFF2-40B4-BE49-F238E27FC236}">
                  <a16:creationId xmlns:a16="http://schemas.microsoft.com/office/drawing/2014/main" id="{C4152121-F3F5-3043-B9C1-D51E638E69CB}"/>
                </a:ext>
              </a:extLst>
            </p:cNvPr>
            <p:cNvGrpSpPr>
              <a:grpSpLocks/>
            </p:cNvGrpSpPr>
            <p:nvPr/>
          </p:nvGrpSpPr>
          <p:grpSpPr bwMode="auto">
            <a:xfrm>
              <a:off x="4389" y="2239"/>
              <a:ext cx="513" cy="442"/>
              <a:chOff x="3937" y="633"/>
              <a:chExt cx="513" cy="442"/>
            </a:xfrm>
          </p:grpSpPr>
          <p:sp>
            <p:nvSpPr>
              <p:cNvPr id="42175" name="Line 1147">
                <a:extLst>
                  <a:ext uri="{FF2B5EF4-FFF2-40B4-BE49-F238E27FC236}">
                    <a16:creationId xmlns:a16="http://schemas.microsoft.com/office/drawing/2014/main" id="{82F64230-19B6-C44C-93AD-ADE2B031ACDC}"/>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76" name="Line 1148">
                <a:extLst>
                  <a:ext uri="{FF2B5EF4-FFF2-40B4-BE49-F238E27FC236}">
                    <a16:creationId xmlns:a16="http://schemas.microsoft.com/office/drawing/2014/main" id="{D553B0C0-748A-5344-8394-5369EF27DAF3}"/>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77" name="Oval 1149">
                <a:extLst>
                  <a:ext uri="{FF2B5EF4-FFF2-40B4-BE49-F238E27FC236}">
                    <a16:creationId xmlns:a16="http://schemas.microsoft.com/office/drawing/2014/main" id="{670F4D77-74CE-6C42-8F24-A9F88324724D}"/>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78" name="Line 1150">
                <a:extLst>
                  <a:ext uri="{FF2B5EF4-FFF2-40B4-BE49-F238E27FC236}">
                    <a16:creationId xmlns:a16="http://schemas.microsoft.com/office/drawing/2014/main" id="{8A06D310-A469-4B49-9CDC-52F3307B72B5}"/>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79" name="Line 1151">
                <a:extLst>
                  <a:ext uri="{FF2B5EF4-FFF2-40B4-BE49-F238E27FC236}">
                    <a16:creationId xmlns:a16="http://schemas.microsoft.com/office/drawing/2014/main" id="{6ECB1100-2014-DF48-A7A8-92E86144BC45}"/>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80" name="Rectangle 1152">
                <a:extLst>
                  <a:ext uri="{FF2B5EF4-FFF2-40B4-BE49-F238E27FC236}">
                    <a16:creationId xmlns:a16="http://schemas.microsoft.com/office/drawing/2014/main" id="{2398D4C7-CB75-BC42-8E1C-A25E3BCDA9BE}"/>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181" name="Oval 1153">
                <a:extLst>
                  <a:ext uri="{FF2B5EF4-FFF2-40B4-BE49-F238E27FC236}">
                    <a16:creationId xmlns:a16="http://schemas.microsoft.com/office/drawing/2014/main" id="{242FE655-56B4-D645-BFDA-63640AD45AB8}"/>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182" name="Group 1154">
                <a:extLst>
                  <a:ext uri="{FF2B5EF4-FFF2-40B4-BE49-F238E27FC236}">
                    <a16:creationId xmlns:a16="http://schemas.microsoft.com/office/drawing/2014/main" id="{6C27F99B-5090-BC48-B141-11B4D4955D70}"/>
                  </a:ext>
                </a:extLst>
              </p:cNvPr>
              <p:cNvGrpSpPr>
                <a:grpSpLocks/>
              </p:cNvGrpSpPr>
              <p:nvPr/>
            </p:nvGrpSpPr>
            <p:grpSpPr bwMode="auto">
              <a:xfrm>
                <a:off x="4120" y="809"/>
                <a:ext cx="156" cy="55"/>
                <a:chOff x="2848" y="848"/>
                <a:chExt cx="140" cy="98"/>
              </a:xfrm>
            </p:grpSpPr>
            <p:sp>
              <p:nvSpPr>
                <p:cNvPr id="42193" name="Line 1155">
                  <a:extLst>
                    <a:ext uri="{FF2B5EF4-FFF2-40B4-BE49-F238E27FC236}">
                      <a16:creationId xmlns:a16="http://schemas.microsoft.com/office/drawing/2014/main" id="{7DAC7673-A8FF-D642-B834-46A1F6D327F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94" name="Line 1156">
                  <a:extLst>
                    <a:ext uri="{FF2B5EF4-FFF2-40B4-BE49-F238E27FC236}">
                      <a16:creationId xmlns:a16="http://schemas.microsoft.com/office/drawing/2014/main" id="{57697DF7-6A7D-1A48-B8B0-BCB54B66A8A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95" name="Line 1157">
                  <a:extLst>
                    <a:ext uri="{FF2B5EF4-FFF2-40B4-BE49-F238E27FC236}">
                      <a16:creationId xmlns:a16="http://schemas.microsoft.com/office/drawing/2014/main" id="{E77F7311-226C-654D-BE1B-53D919B9D6B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183" name="Group 1158">
                <a:extLst>
                  <a:ext uri="{FF2B5EF4-FFF2-40B4-BE49-F238E27FC236}">
                    <a16:creationId xmlns:a16="http://schemas.microsoft.com/office/drawing/2014/main" id="{3CBCD522-3EC8-6840-BC05-3ECDE2123928}"/>
                  </a:ext>
                </a:extLst>
              </p:cNvPr>
              <p:cNvGrpSpPr>
                <a:grpSpLocks/>
              </p:cNvGrpSpPr>
              <p:nvPr/>
            </p:nvGrpSpPr>
            <p:grpSpPr bwMode="auto">
              <a:xfrm flipV="1">
                <a:off x="4120" y="808"/>
                <a:ext cx="156" cy="56"/>
                <a:chOff x="2848" y="848"/>
                <a:chExt cx="140" cy="98"/>
              </a:xfrm>
            </p:grpSpPr>
            <p:sp>
              <p:nvSpPr>
                <p:cNvPr id="42190" name="Line 1159">
                  <a:extLst>
                    <a:ext uri="{FF2B5EF4-FFF2-40B4-BE49-F238E27FC236}">
                      <a16:creationId xmlns:a16="http://schemas.microsoft.com/office/drawing/2014/main" id="{06650622-1F38-4843-AB12-96277706DB1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91" name="Line 1160">
                  <a:extLst>
                    <a:ext uri="{FF2B5EF4-FFF2-40B4-BE49-F238E27FC236}">
                      <a16:creationId xmlns:a16="http://schemas.microsoft.com/office/drawing/2014/main" id="{CD2186C9-28B9-FF4F-80C6-E0625A5FD23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92" name="Line 1161">
                  <a:extLst>
                    <a:ext uri="{FF2B5EF4-FFF2-40B4-BE49-F238E27FC236}">
                      <a16:creationId xmlns:a16="http://schemas.microsoft.com/office/drawing/2014/main" id="{170C614B-7465-BF4C-A5D1-ECA52A6B732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184" name="Rectangle 1162">
                <a:extLst>
                  <a:ext uri="{FF2B5EF4-FFF2-40B4-BE49-F238E27FC236}">
                    <a16:creationId xmlns:a16="http://schemas.microsoft.com/office/drawing/2014/main" id="{2FDED596-A411-9E48-8583-83CAB1A965AD}"/>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85" name="Rectangle 1163">
                <a:extLst>
                  <a:ext uri="{FF2B5EF4-FFF2-40B4-BE49-F238E27FC236}">
                    <a16:creationId xmlns:a16="http://schemas.microsoft.com/office/drawing/2014/main" id="{13E61DA4-47FE-224B-9013-CB575BFA745C}"/>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86" name="Line 1164">
                <a:extLst>
                  <a:ext uri="{FF2B5EF4-FFF2-40B4-BE49-F238E27FC236}">
                    <a16:creationId xmlns:a16="http://schemas.microsoft.com/office/drawing/2014/main" id="{AA047E48-E314-6B4E-8EB2-97AE1CC405CF}"/>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87" name="Line 1165">
                <a:extLst>
                  <a:ext uri="{FF2B5EF4-FFF2-40B4-BE49-F238E27FC236}">
                    <a16:creationId xmlns:a16="http://schemas.microsoft.com/office/drawing/2014/main" id="{6DDBD5AB-77BF-E642-849F-DC4160BDDEF0}"/>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88" name="Rectangle 1166">
                <a:extLst>
                  <a:ext uri="{FF2B5EF4-FFF2-40B4-BE49-F238E27FC236}">
                    <a16:creationId xmlns:a16="http://schemas.microsoft.com/office/drawing/2014/main" id="{DF691D0E-C50A-3D4B-9540-7B16AC0792F3}"/>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89" name="Text Box 1167">
                <a:extLst>
                  <a:ext uri="{FF2B5EF4-FFF2-40B4-BE49-F238E27FC236}">
                    <a16:creationId xmlns:a16="http://schemas.microsoft.com/office/drawing/2014/main" id="{4BD7DD21-7BB1-BF46-B1B3-D8159CFDF73F}"/>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5" name="Group 1168">
              <a:extLst>
                <a:ext uri="{FF2B5EF4-FFF2-40B4-BE49-F238E27FC236}">
                  <a16:creationId xmlns:a16="http://schemas.microsoft.com/office/drawing/2014/main" id="{B669C8AA-83DE-D642-AD5A-EB1FACFBD285}"/>
                </a:ext>
              </a:extLst>
            </p:cNvPr>
            <p:cNvGrpSpPr>
              <a:grpSpLocks/>
            </p:cNvGrpSpPr>
            <p:nvPr/>
          </p:nvGrpSpPr>
          <p:grpSpPr bwMode="auto">
            <a:xfrm>
              <a:off x="4765" y="1995"/>
              <a:ext cx="513" cy="442"/>
              <a:chOff x="3937" y="633"/>
              <a:chExt cx="513" cy="442"/>
            </a:xfrm>
          </p:grpSpPr>
          <p:sp>
            <p:nvSpPr>
              <p:cNvPr id="42154" name="Line 1169">
                <a:extLst>
                  <a:ext uri="{FF2B5EF4-FFF2-40B4-BE49-F238E27FC236}">
                    <a16:creationId xmlns:a16="http://schemas.microsoft.com/office/drawing/2014/main" id="{1E1812ED-52DD-9049-BACD-1E876D6A262C}"/>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55" name="Line 1170">
                <a:extLst>
                  <a:ext uri="{FF2B5EF4-FFF2-40B4-BE49-F238E27FC236}">
                    <a16:creationId xmlns:a16="http://schemas.microsoft.com/office/drawing/2014/main" id="{F466BAAD-FCB3-E546-9DEC-1448962A3D40}"/>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56" name="Oval 1171">
                <a:extLst>
                  <a:ext uri="{FF2B5EF4-FFF2-40B4-BE49-F238E27FC236}">
                    <a16:creationId xmlns:a16="http://schemas.microsoft.com/office/drawing/2014/main" id="{7072B208-E916-4D44-9B89-F7DCF38B2849}"/>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57" name="Line 1172">
                <a:extLst>
                  <a:ext uri="{FF2B5EF4-FFF2-40B4-BE49-F238E27FC236}">
                    <a16:creationId xmlns:a16="http://schemas.microsoft.com/office/drawing/2014/main" id="{64427392-059C-9745-A013-E03A8FD9F1E2}"/>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58" name="Line 1173">
                <a:extLst>
                  <a:ext uri="{FF2B5EF4-FFF2-40B4-BE49-F238E27FC236}">
                    <a16:creationId xmlns:a16="http://schemas.microsoft.com/office/drawing/2014/main" id="{4F040E66-7A9E-614A-A792-57A0C04EC54D}"/>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59" name="Rectangle 1174">
                <a:extLst>
                  <a:ext uri="{FF2B5EF4-FFF2-40B4-BE49-F238E27FC236}">
                    <a16:creationId xmlns:a16="http://schemas.microsoft.com/office/drawing/2014/main" id="{135E76A2-8183-E540-A7F3-3686E8C999B7}"/>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160" name="Oval 1175">
                <a:extLst>
                  <a:ext uri="{FF2B5EF4-FFF2-40B4-BE49-F238E27FC236}">
                    <a16:creationId xmlns:a16="http://schemas.microsoft.com/office/drawing/2014/main" id="{2E4B45D9-A7DA-784D-9558-1FBA2711E530}"/>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161" name="Group 1176">
                <a:extLst>
                  <a:ext uri="{FF2B5EF4-FFF2-40B4-BE49-F238E27FC236}">
                    <a16:creationId xmlns:a16="http://schemas.microsoft.com/office/drawing/2014/main" id="{93291534-7675-5F4E-8210-5ABC09C37535}"/>
                  </a:ext>
                </a:extLst>
              </p:cNvPr>
              <p:cNvGrpSpPr>
                <a:grpSpLocks/>
              </p:cNvGrpSpPr>
              <p:nvPr/>
            </p:nvGrpSpPr>
            <p:grpSpPr bwMode="auto">
              <a:xfrm>
                <a:off x="4120" y="809"/>
                <a:ext cx="156" cy="55"/>
                <a:chOff x="2848" y="848"/>
                <a:chExt cx="140" cy="98"/>
              </a:xfrm>
            </p:grpSpPr>
            <p:sp>
              <p:nvSpPr>
                <p:cNvPr id="42172" name="Line 1177">
                  <a:extLst>
                    <a:ext uri="{FF2B5EF4-FFF2-40B4-BE49-F238E27FC236}">
                      <a16:creationId xmlns:a16="http://schemas.microsoft.com/office/drawing/2014/main" id="{4954535A-FB05-AF42-B92C-ADB87BEB7A2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73" name="Line 1178">
                  <a:extLst>
                    <a:ext uri="{FF2B5EF4-FFF2-40B4-BE49-F238E27FC236}">
                      <a16:creationId xmlns:a16="http://schemas.microsoft.com/office/drawing/2014/main" id="{23C2E568-44CB-EE45-B3BE-065F075515B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74" name="Line 1179">
                  <a:extLst>
                    <a:ext uri="{FF2B5EF4-FFF2-40B4-BE49-F238E27FC236}">
                      <a16:creationId xmlns:a16="http://schemas.microsoft.com/office/drawing/2014/main" id="{7E063F09-3D4C-4645-BE81-6ACF1D8D5B3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162" name="Group 1180">
                <a:extLst>
                  <a:ext uri="{FF2B5EF4-FFF2-40B4-BE49-F238E27FC236}">
                    <a16:creationId xmlns:a16="http://schemas.microsoft.com/office/drawing/2014/main" id="{C84FAA78-0974-3A4B-8CED-7F7F46324D1E}"/>
                  </a:ext>
                </a:extLst>
              </p:cNvPr>
              <p:cNvGrpSpPr>
                <a:grpSpLocks/>
              </p:cNvGrpSpPr>
              <p:nvPr/>
            </p:nvGrpSpPr>
            <p:grpSpPr bwMode="auto">
              <a:xfrm flipV="1">
                <a:off x="4120" y="808"/>
                <a:ext cx="156" cy="56"/>
                <a:chOff x="2848" y="848"/>
                <a:chExt cx="140" cy="98"/>
              </a:xfrm>
            </p:grpSpPr>
            <p:sp>
              <p:nvSpPr>
                <p:cNvPr id="42169" name="Line 1181">
                  <a:extLst>
                    <a:ext uri="{FF2B5EF4-FFF2-40B4-BE49-F238E27FC236}">
                      <a16:creationId xmlns:a16="http://schemas.microsoft.com/office/drawing/2014/main" id="{86BF1B45-ECB3-8D4A-9F8B-332106F9BD3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70" name="Line 1182">
                  <a:extLst>
                    <a:ext uri="{FF2B5EF4-FFF2-40B4-BE49-F238E27FC236}">
                      <a16:creationId xmlns:a16="http://schemas.microsoft.com/office/drawing/2014/main" id="{BC09D876-2C01-8541-8133-57883141B57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71" name="Line 1183">
                  <a:extLst>
                    <a:ext uri="{FF2B5EF4-FFF2-40B4-BE49-F238E27FC236}">
                      <a16:creationId xmlns:a16="http://schemas.microsoft.com/office/drawing/2014/main" id="{6D6B0B0E-E199-4D44-90AA-094E88213A4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163" name="Rectangle 1184">
                <a:extLst>
                  <a:ext uri="{FF2B5EF4-FFF2-40B4-BE49-F238E27FC236}">
                    <a16:creationId xmlns:a16="http://schemas.microsoft.com/office/drawing/2014/main" id="{F199B56B-EAD2-7B45-B813-2CEB5E06026E}"/>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64" name="Rectangle 1185">
                <a:extLst>
                  <a:ext uri="{FF2B5EF4-FFF2-40B4-BE49-F238E27FC236}">
                    <a16:creationId xmlns:a16="http://schemas.microsoft.com/office/drawing/2014/main" id="{C3A93E1E-F481-E44D-A110-5080CD629EB6}"/>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65" name="Line 1186">
                <a:extLst>
                  <a:ext uri="{FF2B5EF4-FFF2-40B4-BE49-F238E27FC236}">
                    <a16:creationId xmlns:a16="http://schemas.microsoft.com/office/drawing/2014/main" id="{4E57F592-6D38-5741-BF6C-AC82866AD6AD}"/>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66" name="Line 1187">
                <a:extLst>
                  <a:ext uri="{FF2B5EF4-FFF2-40B4-BE49-F238E27FC236}">
                    <a16:creationId xmlns:a16="http://schemas.microsoft.com/office/drawing/2014/main" id="{4342E636-AF9D-7547-8454-B4E9FA04C214}"/>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67" name="Rectangle 1188">
                <a:extLst>
                  <a:ext uri="{FF2B5EF4-FFF2-40B4-BE49-F238E27FC236}">
                    <a16:creationId xmlns:a16="http://schemas.microsoft.com/office/drawing/2014/main" id="{B52E18EF-7E77-B041-B7EC-0757285D1259}"/>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68" name="Text Box 1189">
                <a:extLst>
                  <a:ext uri="{FF2B5EF4-FFF2-40B4-BE49-F238E27FC236}">
                    <a16:creationId xmlns:a16="http://schemas.microsoft.com/office/drawing/2014/main" id="{64412650-72D5-0E4D-9C0C-F0F074DA1EC0}"/>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6" name="Group 1190">
              <a:extLst>
                <a:ext uri="{FF2B5EF4-FFF2-40B4-BE49-F238E27FC236}">
                  <a16:creationId xmlns:a16="http://schemas.microsoft.com/office/drawing/2014/main" id="{6664D813-F1BD-9043-AB34-9EA8424B34F0}"/>
                </a:ext>
              </a:extLst>
            </p:cNvPr>
            <p:cNvGrpSpPr>
              <a:grpSpLocks/>
            </p:cNvGrpSpPr>
            <p:nvPr/>
          </p:nvGrpSpPr>
          <p:grpSpPr bwMode="auto">
            <a:xfrm>
              <a:off x="4128" y="2003"/>
              <a:ext cx="513" cy="442"/>
              <a:chOff x="3937" y="633"/>
              <a:chExt cx="513" cy="442"/>
            </a:xfrm>
          </p:grpSpPr>
          <p:sp>
            <p:nvSpPr>
              <p:cNvPr id="42133" name="Line 1191">
                <a:extLst>
                  <a:ext uri="{FF2B5EF4-FFF2-40B4-BE49-F238E27FC236}">
                    <a16:creationId xmlns:a16="http://schemas.microsoft.com/office/drawing/2014/main" id="{8818DFB7-3C81-2045-BFFB-FF6A51CD89A4}"/>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34" name="Line 1192">
                <a:extLst>
                  <a:ext uri="{FF2B5EF4-FFF2-40B4-BE49-F238E27FC236}">
                    <a16:creationId xmlns:a16="http://schemas.microsoft.com/office/drawing/2014/main" id="{86E582B4-433D-CE40-B6EE-6BC3CAC60AFF}"/>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35" name="Oval 1193">
                <a:extLst>
                  <a:ext uri="{FF2B5EF4-FFF2-40B4-BE49-F238E27FC236}">
                    <a16:creationId xmlns:a16="http://schemas.microsoft.com/office/drawing/2014/main" id="{099D54EF-4BFC-3A4B-B807-0E8ED6BE0A17}"/>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36" name="Line 1194">
                <a:extLst>
                  <a:ext uri="{FF2B5EF4-FFF2-40B4-BE49-F238E27FC236}">
                    <a16:creationId xmlns:a16="http://schemas.microsoft.com/office/drawing/2014/main" id="{9E3410D4-4F48-EE4B-8420-CE7774EB677C}"/>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37" name="Line 1195">
                <a:extLst>
                  <a:ext uri="{FF2B5EF4-FFF2-40B4-BE49-F238E27FC236}">
                    <a16:creationId xmlns:a16="http://schemas.microsoft.com/office/drawing/2014/main" id="{A9760AF0-DC7F-E544-BB1F-B5C61F65108E}"/>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38" name="Rectangle 1196">
                <a:extLst>
                  <a:ext uri="{FF2B5EF4-FFF2-40B4-BE49-F238E27FC236}">
                    <a16:creationId xmlns:a16="http://schemas.microsoft.com/office/drawing/2014/main" id="{F8D1E9EB-9AB8-A941-8529-FECBFE00FCE4}"/>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139" name="Oval 1197">
                <a:extLst>
                  <a:ext uri="{FF2B5EF4-FFF2-40B4-BE49-F238E27FC236}">
                    <a16:creationId xmlns:a16="http://schemas.microsoft.com/office/drawing/2014/main" id="{47F311D7-44E4-F94C-8505-18926264E4CA}"/>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140" name="Group 1198">
                <a:extLst>
                  <a:ext uri="{FF2B5EF4-FFF2-40B4-BE49-F238E27FC236}">
                    <a16:creationId xmlns:a16="http://schemas.microsoft.com/office/drawing/2014/main" id="{0E3622EC-1DCC-9D4C-A2ED-79C8D10ECFE0}"/>
                  </a:ext>
                </a:extLst>
              </p:cNvPr>
              <p:cNvGrpSpPr>
                <a:grpSpLocks/>
              </p:cNvGrpSpPr>
              <p:nvPr/>
            </p:nvGrpSpPr>
            <p:grpSpPr bwMode="auto">
              <a:xfrm>
                <a:off x="4120" y="809"/>
                <a:ext cx="156" cy="55"/>
                <a:chOff x="2848" y="848"/>
                <a:chExt cx="140" cy="98"/>
              </a:xfrm>
            </p:grpSpPr>
            <p:sp>
              <p:nvSpPr>
                <p:cNvPr id="42151" name="Line 1199">
                  <a:extLst>
                    <a:ext uri="{FF2B5EF4-FFF2-40B4-BE49-F238E27FC236}">
                      <a16:creationId xmlns:a16="http://schemas.microsoft.com/office/drawing/2014/main" id="{FD2988C3-D3EF-7B4E-8907-338EB2AB339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52" name="Line 1200">
                  <a:extLst>
                    <a:ext uri="{FF2B5EF4-FFF2-40B4-BE49-F238E27FC236}">
                      <a16:creationId xmlns:a16="http://schemas.microsoft.com/office/drawing/2014/main" id="{B38DDE09-40C3-B94D-8952-AC3A520ADDA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53" name="Line 1201">
                  <a:extLst>
                    <a:ext uri="{FF2B5EF4-FFF2-40B4-BE49-F238E27FC236}">
                      <a16:creationId xmlns:a16="http://schemas.microsoft.com/office/drawing/2014/main" id="{B2F451E8-1310-5745-977B-71824F8DE9B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141" name="Group 1202">
                <a:extLst>
                  <a:ext uri="{FF2B5EF4-FFF2-40B4-BE49-F238E27FC236}">
                    <a16:creationId xmlns:a16="http://schemas.microsoft.com/office/drawing/2014/main" id="{6FC61C6E-D8E1-D641-A182-6215A1D5F0F3}"/>
                  </a:ext>
                </a:extLst>
              </p:cNvPr>
              <p:cNvGrpSpPr>
                <a:grpSpLocks/>
              </p:cNvGrpSpPr>
              <p:nvPr/>
            </p:nvGrpSpPr>
            <p:grpSpPr bwMode="auto">
              <a:xfrm flipV="1">
                <a:off x="4120" y="808"/>
                <a:ext cx="156" cy="56"/>
                <a:chOff x="2848" y="848"/>
                <a:chExt cx="140" cy="98"/>
              </a:xfrm>
            </p:grpSpPr>
            <p:sp>
              <p:nvSpPr>
                <p:cNvPr id="42148" name="Line 1203">
                  <a:extLst>
                    <a:ext uri="{FF2B5EF4-FFF2-40B4-BE49-F238E27FC236}">
                      <a16:creationId xmlns:a16="http://schemas.microsoft.com/office/drawing/2014/main" id="{1BB3BADB-57A6-F646-8A49-AA4659488E7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49" name="Line 1204">
                  <a:extLst>
                    <a:ext uri="{FF2B5EF4-FFF2-40B4-BE49-F238E27FC236}">
                      <a16:creationId xmlns:a16="http://schemas.microsoft.com/office/drawing/2014/main" id="{DD0BCC64-A503-194E-BCF0-F060AAD1BE9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50" name="Line 1205">
                  <a:extLst>
                    <a:ext uri="{FF2B5EF4-FFF2-40B4-BE49-F238E27FC236}">
                      <a16:creationId xmlns:a16="http://schemas.microsoft.com/office/drawing/2014/main" id="{661F7D00-F111-1641-A3B6-0731395A4C8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142" name="Rectangle 1206">
                <a:extLst>
                  <a:ext uri="{FF2B5EF4-FFF2-40B4-BE49-F238E27FC236}">
                    <a16:creationId xmlns:a16="http://schemas.microsoft.com/office/drawing/2014/main" id="{9358729B-501D-3849-87AC-B29F60216439}"/>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43" name="Rectangle 1207">
                <a:extLst>
                  <a:ext uri="{FF2B5EF4-FFF2-40B4-BE49-F238E27FC236}">
                    <a16:creationId xmlns:a16="http://schemas.microsoft.com/office/drawing/2014/main" id="{A8C646E9-FA98-444E-8738-C4B71F2246E8}"/>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44" name="Line 1208">
                <a:extLst>
                  <a:ext uri="{FF2B5EF4-FFF2-40B4-BE49-F238E27FC236}">
                    <a16:creationId xmlns:a16="http://schemas.microsoft.com/office/drawing/2014/main" id="{CE42AA51-9F93-5D48-AA9D-2552E35517ED}"/>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45" name="Line 1209">
                <a:extLst>
                  <a:ext uri="{FF2B5EF4-FFF2-40B4-BE49-F238E27FC236}">
                    <a16:creationId xmlns:a16="http://schemas.microsoft.com/office/drawing/2014/main" id="{25357D61-0BD1-DB40-A2CD-B69626A57849}"/>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46" name="Rectangle 1210">
                <a:extLst>
                  <a:ext uri="{FF2B5EF4-FFF2-40B4-BE49-F238E27FC236}">
                    <a16:creationId xmlns:a16="http://schemas.microsoft.com/office/drawing/2014/main" id="{8FB2F0FB-67A8-6D44-AD09-FC527AA57246}"/>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47" name="Text Box 1211">
                <a:extLst>
                  <a:ext uri="{FF2B5EF4-FFF2-40B4-BE49-F238E27FC236}">
                    <a16:creationId xmlns:a16="http://schemas.microsoft.com/office/drawing/2014/main" id="{0BE4B660-1F84-B147-B6B3-0D939015723E}"/>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7" name="Group 1212">
              <a:extLst>
                <a:ext uri="{FF2B5EF4-FFF2-40B4-BE49-F238E27FC236}">
                  <a16:creationId xmlns:a16="http://schemas.microsoft.com/office/drawing/2014/main" id="{B2C4FBB2-4515-AB40-B039-54E6386B3462}"/>
                </a:ext>
              </a:extLst>
            </p:cNvPr>
            <p:cNvGrpSpPr>
              <a:grpSpLocks/>
            </p:cNvGrpSpPr>
            <p:nvPr/>
          </p:nvGrpSpPr>
          <p:grpSpPr bwMode="auto">
            <a:xfrm>
              <a:off x="4608" y="2771"/>
              <a:ext cx="513" cy="442"/>
              <a:chOff x="3937" y="633"/>
              <a:chExt cx="513" cy="442"/>
            </a:xfrm>
          </p:grpSpPr>
          <p:sp>
            <p:nvSpPr>
              <p:cNvPr id="42112" name="Line 1213">
                <a:extLst>
                  <a:ext uri="{FF2B5EF4-FFF2-40B4-BE49-F238E27FC236}">
                    <a16:creationId xmlns:a16="http://schemas.microsoft.com/office/drawing/2014/main" id="{C1D1B6E3-0592-7344-81FE-4C85684344A1}"/>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13" name="Line 1214">
                <a:extLst>
                  <a:ext uri="{FF2B5EF4-FFF2-40B4-BE49-F238E27FC236}">
                    <a16:creationId xmlns:a16="http://schemas.microsoft.com/office/drawing/2014/main" id="{519D7463-3ED9-BC41-872A-495DEC7DFCC3}"/>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14" name="Oval 1215">
                <a:extLst>
                  <a:ext uri="{FF2B5EF4-FFF2-40B4-BE49-F238E27FC236}">
                    <a16:creationId xmlns:a16="http://schemas.microsoft.com/office/drawing/2014/main" id="{8EC5BF83-69C9-FF4A-94D3-FE5E6D03ED6D}"/>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15" name="Line 1216">
                <a:extLst>
                  <a:ext uri="{FF2B5EF4-FFF2-40B4-BE49-F238E27FC236}">
                    <a16:creationId xmlns:a16="http://schemas.microsoft.com/office/drawing/2014/main" id="{074D5690-B85C-F14E-A70E-E951F403C1EA}"/>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16" name="Line 1217">
                <a:extLst>
                  <a:ext uri="{FF2B5EF4-FFF2-40B4-BE49-F238E27FC236}">
                    <a16:creationId xmlns:a16="http://schemas.microsoft.com/office/drawing/2014/main" id="{91C86640-5384-1848-9DA2-B9C31F1E5B03}"/>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17" name="Rectangle 1218">
                <a:extLst>
                  <a:ext uri="{FF2B5EF4-FFF2-40B4-BE49-F238E27FC236}">
                    <a16:creationId xmlns:a16="http://schemas.microsoft.com/office/drawing/2014/main" id="{84BAE3CD-E1FF-DE47-800A-163AC4EE2124}"/>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118" name="Oval 1219">
                <a:extLst>
                  <a:ext uri="{FF2B5EF4-FFF2-40B4-BE49-F238E27FC236}">
                    <a16:creationId xmlns:a16="http://schemas.microsoft.com/office/drawing/2014/main" id="{EE32976C-77C0-4147-87DE-1398B7CC9CAE}"/>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119" name="Group 1220">
                <a:extLst>
                  <a:ext uri="{FF2B5EF4-FFF2-40B4-BE49-F238E27FC236}">
                    <a16:creationId xmlns:a16="http://schemas.microsoft.com/office/drawing/2014/main" id="{99689178-217C-B54A-83B1-CAF6BC19A9BF}"/>
                  </a:ext>
                </a:extLst>
              </p:cNvPr>
              <p:cNvGrpSpPr>
                <a:grpSpLocks/>
              </p:cNvGrpSpPr>
              <p:nvPr/>
            </p:nvGrpSpPr>
            <p:grpSpPr bwMode="auto">
              <a:xfrm>
                <a:off x="4120" y="809"/>
                <a:ext cx="156" cy="55"/>
                <a:chOff x="2848" y="848"/>
                <a:chExt cx="140" cy="98"/>
              </a:xfrm>
            </p:grpSpPr>
            <p:sp>
              <p:nvSpPr>
                <p:cNvPr id="42130" name="Line 1221">
                  <a:extLst>
                    <a:ext uri="{FF2B5EF4-FFF2-40B4-BE49-F238E27FC236}">
                      <a16:creationId xmlns:a16="http://schemas.microsoft.com/office/drawing/2014/main" id="{FC718B48-7951-5F4C-9597-582501AD70C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31" name="Line 1222">
                  <a:extLst>
                    <a:ext uri="{FF2B5EF4-FFF2-40B4-BE49-F238E27FC236}">
                      <a16:creationId xmlns:a16="http://schemas.microsoft.com/office/drawing/2014/main" id="{7ACB98F5-CE5B-D249-A25F-80EF7056A3B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32" name="Line 1223">
                  <a:extLst>
                    <a:ext uri="{FF2B5EF4-FFF2-40B4-BE49-F238E27FC236}">
                      <a16:creationId xmlns:a16="http://schemas.microsoft.com/office/drawing/2014/main" id="{C037CC20-06E3-FD4B-909D-F567CD69F6F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120" name="Group 1224">
                <a:extLst>
                  <a:ext uri="{FF2B5EF4-FFF2-40B4-BE49-F238E27FC236}">
                    <a16:creationId xmlns:a16="http://schemas.microsoft.com/office/drawing/2014/main" id="{99A1DD1C-6772-4842-B021-990BDDA9389F}"/>
                  </a:ext>
                </a:extLst>
              </p:cNvPr>
              <p:cNvGrpSpPr>
                <a:grpSpLocks/>
              </p:cNvGrpSpPr>
              <p:nvPr/>
            </p:nvGrpSpPr>
            <p:grpSpPr bwMode="auto">
              <a:xfrm flipV="1">
                <a:off x="4120" y="808"/>
                <a:ext cx="156" cy="56"/>
                <a:chOff x="2848" y="848"/>
                <a:chExt cx="140" cy="98"/>
              </a:xfrm>
            </p:grpSpPr>
            <p:sp>
              <p:nvSpPr>
                <p:cNvPr id="42127" name="Line 1225">
                  <a:extLst>
                    <a:ext uri="{FF2B5EF4-FFF2-40B4-BE49-F238E27FC236}">
                      <a16:creationId xmlns:a16="http://schemas.microsoft.com/office/drawing/2014/main" id="{81E81A19-E1C1-8240-A58F-5577156E0BC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28" name="Line 1226">
                  <a:extLst>
                    <a:ext uri="{FF2B5EF4-FFF2-40B4-BE49-F238E27FC236}">
                      <a16:creationId xmlns:a16="http://schemas.microsoft.com/office/drawing/2014/main" id="{8161C496-753C-5341-9C57-913885E6DED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29" name="Line 1227">
                  <a:extLst>
                    <a:ext uri="{FF2B5EF4-FFF2-40B4-BE49-F238E27FC236}">
                      <a16:creationId xmlns:a16="http://schemas.microsoft.com/office/drawing/2014/main" id="{F84061BA-8123-7C42-AD2E-372B8839D20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121" name="Rectangle 1228">
                <a:extLst>
                  <a:ext uri="{FF2B5EF4-FFF2-40B4-BE49-F238E27FC236}">
                    <a16:creationId xmlns:a16="http://schemas.microsoft.com/office/drawing/2014/main" id="{CEAAFBB2-D063-474C-856E-AE19516B1D48}"/>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22" name="Rectangle 1229">
                <a:extLst>
                  <a:ext uri="{FF2B5EF4-FFF2-40B4-BE49-F238E27FC236}">
                    <a16:creationId xmlns:a16="http://schemas.microsoft.com/office/drawing/2014/main" id="{604BBA1E-B923-2045-9B39-F7ED9A2F8012}"/>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23" name="Line 1230">
                <a:extLst>
                  <a:ext uri="{FF2B5EF4-FFF2-40B4-BE49-F238E27FC236}">
                    <a16:creationId xmlns:a16="http://schemas.microsoft.com/office/drawing/2014/main" id="{B6BAF3B1-DAC8-D848-960F-8D540ADA3BC4}"/>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24" name="Line 1231">
                <a:extLst>
                  <a:ext uri="{FF2B5EF4-FFF2-40B4-BE49-F238E27FC236}">
                    <a16:creationId xmlns:a16="http://schemas.microsoft.com/office/drawing/2014/main" id="{C24F3A0A-B5FA-964E-BAB7-972A06020E83}"/>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25" name="Rectangle 1232">
                <a:extLst>
                  <a:ext uri="{FF2B5EF4-FFF2-40B4-BE49-F238E27FC236}">
                    <a16:creationId xmlns:a16="http://schemas.microsoft.com/office/drawing/2014/main" id="{2DA71A39-3464-CA4B-8229-F5C41EB103DF}"/>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26" name="Text Box 1233">
                <a:extLst>
                  <a:ext uri="{FF2B5EF4-FFF2-40B4-BE49-F238E27FC236}">
                    <a16:creationId xmlns:a16="http://schemas.microsoft.com/office/drawing/2014/main" id="{CC52CD7B-A184-8D44-B865-2939AE015575}"/>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8" name="Group 1234">
              <a:extLst>
                <a:ext uri="{FF2B5EF4-FFF2-40B4-BE49-F238E27FC236}">
                  <a16:creationId xmlns:a16="http://schemas.microsoft.com/office/drawing/2014/main" id="{31463768-7A5D-134C-A1C5-1D372585E5EF}"/>
                </a:ext>
              </a:extLst>
            </p:cNvPr>
            <p:cNvGrpSpPr>
              <a:grpSpLocks/>
            </p:cNvGrpSpPr>
            <p:nvPr/>
          </p:nvGrpSpPr>
          <p:grpSpPr bwMode="auto">
            <a:xfrm>
              <a:off x="4119" y="2640"/>
              <a:ext cx="513" cy="442"/>
              <a:chOff x="3937" y="633"/>
              <a:chExt cx="513" cy="442"/>
            </a:xfrm>
          </p:grpSpPr>
          <p:sp>
            <p:nvSpPr>
              <p:cNvPr id="42091" name="Line 1235">
                <a:extLst>
                  <a:ext uri="{FF2B5EF4-FFF2-40B4-BE49-F238E27FC236}">
                    <a16:creationId xmlns:a16="http://schemas.microsoft.com/office/drawing/2014/main" id="{7EDFE4C1-C612-B845-9A77-E4AC7F11F3A4}"/>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2" name="Line 1236">
                <a:extLst>
                  <a:ext uri="{FF2B5EF4-FFF2-40B4-BE49-F238E27FC236}">
                    <a16:creationId xmlns:a16="http://schemas.microsoft.com/office/drawing/2014/main" id="{39C3EB3C-F0B3-2142-A095-B6C75C2AC764}"/>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3" name="Oval 1237">
                <a:extLst>
                  <a:ext uri="{FF2B5EF4-FFF2-40B4-BE49-F238E27FC236}">
                    <a16:creationId xmlns:a16="http://schemas.microsoft.com/office/drawing/2014/main" id="{395F5DFA-40C0-5D4D-AC73-CF7123D2FB97}"/>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094" name="Line 1238">
                <a:extLst>
                  <a:ext uri="{FF2B5EF4-FFF2-40B4-BE49-F238E27FC236}">
                    <a16:creationId xmlns:a16="http://schemas.microsoft.com/office/drawing/2014/main" id="{5363CF82-6EBC-0E44-9F59-1EFFB69FE8D4}"/>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5" name="Line 1239">
                <a:extLst>
                  <a:ext uri="{FF2B5EF4-FFF2-40B4-BE49-F238E27FC236}">
                    <a16:creationId xmlns:a16="http://schemas.microsoft.com/office/drawing/2014/main" id="{7A25D692-EC5F-EA4C-B35A-CDA006632AC1}"/>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6" name="Rectangle 1240">
                <a:extLst>
                  <a:ext uri="{FF2B5EF4-FFF2-40B4-BE49-F238E27FC236}">
                    <a16:creationId xmlns:a16="http://schemas.microsoft.com/office/drawing/2014/main" id="{630DA11D-A4C3-5A41-8040-28FA63F2AB8F}"/>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097" name="Oval 1241">
                <a:extLst>
                  <a:ext uri="{FF2B5EF4-FFF2-40B4-BE49-F238E27FC236}">
                    <a16:creationId xmlns:a16="http://schemas.microsoft.com/office/drawing/2014/main" id="{94A0E60E-A5BD-DA4E-B80A-B7690BC06CB5}"/>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098" name="Group 1242">
                <a:extLst>
                  <a:ext uri="{FF2B5EF4-FFF2-40B4-BE49-F238E27FC236}">
                    <a16:creationId xmlns:a16="http://schemas.microsoft.com/office/drawing/2014/main" id="{B98E66FD-E79B-4E4A-B592-F344EC3D6122}"/>
                  </a:ext>
                </a:extLst>
              </p:cNvPr>
              <p:cNvGrpSpPr>
                <a:grpSpLocks/>
              </p:cNvGrpSpPr>
              <p:nvPr/>
            </p:nvGrpSpPr>
            <p:grpSpPr bwMode="auto">
              <a:xfrm>
                <a:off x="4120" y="809"/>
                <a:ext cx="156" cy="55"/>
                <a:chOff x="2848" y="848"/>
                <a:chExt cx="140" cy="98"/>
              </a:xfrm>
            </p:grpSpPr>
            <p:sp>
              <p:nvSpPr>
                <p:cNvPr id="42109" name="Line 1243">
                  <a:extLst>
                    <a:ext uri="{FF2B5EF4-FFF2-40B4-BE49-F238E27FC236}">
                      <a16:creationId xmlns:a16="http://schemas.microsoft.com/office/drawing/2014/main" id="{FDE43EEC-41EE-7042-99D4-8953E07A589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10" name="Line 1244">
                  <a:extLst>
                    <a:ext uri="{FF2B5EF4-FFF2-40B4-BE49-F238E27FC236}">
                      <a16:creationId xmlns:a16="http://schemas.microsoft.com/office/drawing/2014/main" id="{C1410727-6446-1744-B811-81F5AC0A0AF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11" name="Line 1245">
                  <a:extLst>
                    <a:ext uri="{FF2B5EF4-FFF2-40B4-BE49-F238E27FC236}">
                      <a16:creationId xmlns:a16="http://schemas.microsoft.com/office/drawing/2014/main" id="{46BED03D-BE33-6245-A604-86FEFFA6DF4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99" name="Group 1246">
                <a:extLst>
                  <a:ext uri="{FF2B5EF4-FFF2-40B4-BE49-F238E27FC236}">
                    <a16:creationId xmlns:a16="http://schemas.microsoft.com/office/drawing/2014/main" id="{E85588BC-CF7A-4645-93FD-DDBA66985657}"/>
                  </a:ext>
                </a:extLst>
              </p:cNvPr>
              <p:cNvGrpSpPr>
                <a:grpSpLocks/>
              </p:cNvGrpSpPr>
              <p:nvPr/>
            </p:nvGrpSpPr>
            <p:grpSpPr bwMode="auto">
              <a:xfrm flipV="1">
                <a:off x="4120" y="808"/>
                <a:ext cx="156" cy="56"/>
                <a:chOff x="2848" y="848"/>
                <a:chExt cx="140" cy="98"/>
              </a:xfrm>
            </p:grpSpPr>
            <p:sp>
              <p:nvSpPr>
                <p:cNvPr id="42106" name="Line 1247">
                  <a:extLst>
                    <a:ext uri="{FF2B5EF4-FFF2-40B4-BE49-F238E27FC236}">
                      <a16:creationId xmlns:a16="http://schemas.microsoft.com/office/drawing/2014/main" id="{C43252FA-8218-4F4D-9D7E-0AEB55B0E6F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07" name="Line 1248">
                  <a:extLst>
                    <a:ext uri="{FF2B5EF4-FFF2-40B4-BE49-F238E27FC236}">
                      <a16:creationId xmlns:a16="http://schemas.microsoft.com/office/drawing/2014/main" id="{46724773-9FC1-3C4D-869E-AE7C6C8D149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08" name="Line 1249">
                  <a:extLst>
                    <a:ext uri="{FF2B5EF4-FFF2-40B4-BE49-F238E27FC236}">
                      <a16:creationId xmlns:a16="http://schemas.microsoft.com/office/drawing/2014/main" id="{8EFDF699-49BE-954B-B454-EA80ECC1DC5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100" name="Rectangle 1250">
                <a:extLst>
                  <a:ext uri="{FF2B5EF4-FFF2-40B4-BE49-F238E27FC236}">
                    <a16:creationId xmlns:a16="http://schemas.microsoft.com/office/drawing/2014/main" id="{D9DC4366-C64A-0640-BF28-5D3072510D1F}"/>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01" name="Rectangle 1251">
                <a:extLst>
                  <a:ext uri="{FF2B5EF4-FFF2-40B4-BE49-F238E27FC236}">
                    <a16:creationId xmlns:a16="http://schemas.microsoft.com/office/drawing/2014/main" id="{B3B5E8BC-83D2-2541-AD38-129AC0956C49}"/>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02" name="Line 1252">
                <a:extLst>
                  <a:ext uri="{FF2B5EF4-FFF2-40B4-BE49-F238E27FC236}">
                    <a16:creationId xmlns:a16="http://schemas.microsoft.com/office/drawing/2014/main" id="{7F9C1C13-E3BC-534E-8A12-0AC9D5D7F97E}"/>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03" name="Line 1253">
                <a:extLst>
                  <a:ext uri="{FF2B5EF4-FFF2-40B4-BE49-F238E27FC236}">
                    <a16:creationId xmlns:a16="http://schemas.microsoft.com/office/drawing/2014/main" id="{18A6FA27-BD96-5C40-B0FA-EE02CB67EAD3}"/>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04" name="Rectangle 1254">
                <a:extLst>
                  <a:ext uri="{FF2B5EF4-FFF2-40B4-BE49-F238E27FC236}">
                    <a16:creationId xmlns:a16="http://schemas.microsoft.com/office/drawing/2014/main" id="{5512A7CF-E19B-7E49-AA4D-F4D91E4E510C}"/>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105" name="Text Box 1255">
                <a:extLst>
                  <a:ext uri="{FF2B5EF4-FFF2-40B4-BE49-F238E27FC236}">
                    <a16:creationId xmlns:a16="http://schemas.microsoft.com/office/drawing/2014/main" id="{A6F65085-E449-CE49-96B0-86CF8C6FD180}"/>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nvGrpSpPr>
            <p:cNvPr id="42069" name="Group 1256">
              <a:extLst>
                <a:ext uri="{FF2B5EF4-FFF2-40B4-BE49-F238E27FC236}">
                  <a16:creationId xmlns:a16="http://schemas.microsoft.com/office/drawing/2014/main" id="{56E298CF-6319-9243-BF9B-349BEE514EA3}"/>
                </a:ext>
              </a:extLst>
            </p:cNvPr>
            <p:cNvGrpSpPr>
              <a:grpSpLocks/>
            </p:cNvGrpSpPr>
            <p:nvPr/>
          </p:nvGrpSpPr>
          <p:grpSpPr bwMode="auto">
            <a:xfrm>
              <a:off x="3674" y="2866"/>
              <a:ext cx="513" cy="442"/>
              <a:chOff x="3937" y="633"/>
              <a:chExt cx="513" cy="442"/>
            </a:xfrm>
          </p:grpSpPr>
          <p:sp>
            <p:nvSpPr>
              <p:cNvPr id="42070" name="Line 1257">
                <a:extLst>
                  <a:ext uri="{FF2B5EF4-FFF2-40B4-BE49-F238E27FC236}">
                    <a16:creationId xmlns:a16="http://schemas.microsoft.com/office/drawing/2014/main" id="{33220741-2ED4-0745-88BC-22995EAC16E6}"/>
                  </a:ext>
                </a:extLst>
              </p:cNvPr>
              <p:cNvSpPr>
                <a:spLocks noChangeShapeType="1"/>
              </p:cNvSpPr>
              <p:nvPr/>
            </p:nvSpPr>
            <p:spPr bwMode="auto">
              <a:xfrm>
                <a:off x="4061" y="1035"/>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71" name="Line 1258">
                <a:extLst>
                  <a:ext uri="{FF2B5EF4-FFF2-40B4-BE49-F238E27FC236}">
                    <a16:creationId xmlns:a16="http://schemas.microsoft.com/office/drawing/2014/main" id="{2011B4F2-4763-4D4A-932E-B6CAF2F67715}"/>
                  </a:ext>
                </a:extLst>
              </p:cNvPr>
              <p:cNvSpPr>
                <a:spLocks noChangeShapeType="1"/>
              </p:cNvSpPr>
              <p:nvPr/>
            </p:nvSpPr>
            <p:spPr bwMode="auto">
              <a:xfrm flipV="1">
                <a:off x="4212" y="929"/>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72" name="Oval 1259">
                <a:extLst>
                  <a:ext uri="{FF2B5EF4-FFF2-40B4-BE49-F238E27FC236}">
                    <a16:creationId xmlns:a16="http://schemas.microsoft.com/office/drawing/2014/main" id="{CFCE95C4-890D-1D45-ADAB-37BFA7CC80A1}"/>
                  </a:ext>
                </a:extLst>
              </p:cNvPr>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073" name="Line 1260">
                <a:extLst>
                  <a:ext uri="{FF2B5EF4-FFF2-40B4-BE49-F238E27FC236}">
                    <a16:creationId xmlns:a16="http://schemas.microsoft.com/office/drawing/2014/main" id="{0E10A7D1-FCB5-8940-A378-E9D262B5CCC9}"/>
                  </a:ext>
                </a:extLst>
              </p:cNvPr>
              <p:cNvSpPr>
                <a:spLocks noChangeShapeType="1"/>
              </p:cNvSpPr>
              <p:nvPr/>
            </p:nvSpPr>
            <p:spPr bwMode="auto">
              <a:xfrm>
                <a:off x="4048"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74" name="Line 1261">
                <a:extLst>
                  <a:ext uri="{FF2B5EF4-FFF2-40B4-BE49-F238E27FC236}">
                    <a16:creationId xmlns:a16="http://schemas.microsoft.com/office/drawing/2014/main" id="{7EEB307F-9653-8046-987F-32B60E91112D}"/>
                  </a:ext>
                </a:extLst>
              </p:cNvPr>
              <p:cNvSpPr>
                <a:spLocks noChangeShapeType="1"/>
              </p:cNvSpPr>
              <p:nvPr/>
            </p:nvSpPr>
            <p:spPr bwMode="auto">
              <a:xfrm>
                <a:off x="4361" y="847"/>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75" name="Rectangle 1262">
                <a:extLst>
                  <a:ext uri="{FF2B5EF4-FFF2-40B4-BE49-F238E27FC236}">
                    <a16:creationId xmlns:a16="http://schemas.microsoft.com/office/drawing/2014/main" id="{F0417A27-567A-9446-9A69-1F3C70459C74}"/>
                  </a:ext>
                </a:extLst>
              </p:cNvPr>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p>
            </p:txBody>
          </p:sp>
          <p:sp>
            <p:nvSpPr>
              <p:cNvPr id="42076" name="Oval 1263">
                <a:extLst>
                  <a:ext uri="{FF2B5EF4-FFF2-40B4-BE49-F238E27FC236}">
                    <a16:creationId xmlns:a16="http://schemas.microsoft.com/office/drawing/2014/main" id="{29451202-0B5F-4344-A3E0-8E91FAE6AB25}"/>
                  </a:ext>
                </a:extLst>
              </p:cNvPr>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42077" name="Group 1264">
                <a:extLst>
                  <a:ext uri="{FF2B5EF4-FFF2-40B4-BE49-F238E27FC236}">
                    <a16:creationId xmlns:a16="http://schemas.microsoft.com/office/drawing/2014/main" id="{47953BE1-68C1-D944-B3AE-16F5ABB0BF84}"/>
                  </a:ext>
                </a:extLst>
              </p:cNvPr>
              <p:cNvGrpSpPr>
                <a:grpSpLocks/>
              </p:cNvGrpSpPr>
              <p:nvPr/>
            </p:nvGrpSpPr>
            <p:grpSpPr bwMode="auto">
              <a:xfrm>
                <a:off x="4120" y="809"/>
                <a:ext cx="156" cy="55"/>
                <a:chOff x="2848" y="848"/>
                <a:chExt cx="140" cy="98"/>
              </a:xfrm>
            </p:grpSpPr>
            <p:sp>
              <p:nvSpPr>
                <p:cNvPr id="42088" name="Line 1265">
                  <a:extLst>
                    <a:ext uri="{FF2B5EF4-FFF2-40B4-BE49-F238E27FC236}">
                      <a16:creationId xmlns:a16="http://schemas.microsoft.com/office/drawing/2014/main" id="{7D97868C-0C36-2941-886B-8A814EAB3D1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9" name="Line 1266">
                  <a:extLst>
                    <a:ext uri="{FF2B5EF4-FFF2-40B4-BE49-F238E27FC236}">
                      <a16:creationId xmlns:a16="http://schemas.microsoft.com/office/drawing/2014/main" id="{7C1CF5A9-241B-CB4C-A559-BE836C4768E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90" name="Line 1267">
                  <a:extLst>
                    <a:ext uri="{FF2B5EF4-FFF2-40B4-BE49-F238E27FC236}">
                      <a16:creationId xmlns:a16="http://schemas.microsoft.com/office/drawing/2014/main" id="{1D2CB84F-FE62-4E47-BF77-3A7D240906C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078" name="Group 1268">
                <a:extLst>
                  <a:ext uri="{FF2B5EF4-FFF2-40B4-BE49-F238E27FC236}">
                    <a16:creationId xmlns:a16="http://schemas.microsoft.com/office/drawing/2014/main" id="{64D50775-5230-3341-B118-E618B12FD974}"/>
                  </a:ext>
                </a:extLst>
              </p:cNvPr>
              <p:cNvGrpSpPr>
                <a:grpSpLocks/>
              </p:cNvGrpSpPr>
              <p:nvPr/>
            </p:nvGrpSpPr>
            <p:grpSpPr bwMode="auto">
              <a:xfrm flipV="1">
                <a:off x="4120" y="808"/>
                <a:ext cx="156" cy="56"/>
                <a:chOff x="2848" y="848"/>
                <a:chExt cx="140" cy="98"/>
              </a:xfrm>
            </p:grpSpPr>
            <p:sp>
              <p:nvSpPr>
                <p:cNvPr id="42085" name="Line 1269">
                  <a:extLst>
                    <a:ext uri="{FF2B5EF4-FFF2-40B4-BE49-F238E27FC236}">
                      <a16:creationId xmlns:a16="http://schemas.microsoft.com/office/drawing/2014/main" id="{924B248D-DFFD-4D44-8218-69BDFD94E13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6" name="Line 1270">
                  <a:extLst>
                    <a:ext uri="{FF2B5EF4-FFF2-40B4-BE49-F238E27FC236}">
                      <a16:creationId xmlns:a16="http://schemas.microsoft.com/office/drawing/2014/main" id="{0ADBB487-FF8E-B844-816A-121777B9C48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7" name="Line 1271">
                  <a:extLst>
                    <a:ext uri="{FF2B5EF4-FFF2-40B4-BE49-F238E27FC236}">
                      <a16:creationId xmlns:a16="http://schemas.microsoft.com/office/drawing/2014/main" id="{3A42D258-E87C-084F-80C9-C470E3CEEB4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2079" name="Rectangle 1272">
                <a:extLst>
                  <a:ext uri="{FF2B5EF4-FFF2-40B4-BE49-F238E27FC236}">
                    <a16:creationId xmlns:a16="http://schemas.microsoft.com/office/drawing/2014/main" id="{A493741F-11A5-B248-97D6-B8A6092F9C6D}"/>
                  </a:ext>
                </a:extLst>
              </p:cNvPr>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080" name="Rectangle 1273">
                <a:extLst>
                  <a:ext uri="{FF2B5EF4-FFF2-40B4-BE49-F238E27FC236}">
                    <a16:creationId xmlns:a16="http://schemas.microsoft.com/office/drawing/2014/main" id="{88674607-1A4D-8C4C-AAAA-4183F906C009}"/>
                  </a:ext>
                </a:extLst>
              </p:cNvPr>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081" name="Line 1274">
                <a:extLst>
                  <a:ext uri="{FF2B5EF4-FFF2-40B4-BE49-F238E27FC236}">
                    <a16:creationId xmlns:a16="http://schemas.microsoft.com/office/drawing/2014/main" id="{036C4E44-A9AE-6643-8764-EECAD5CA7BFC}"/>
                  </a:ext>
                </a:extLst>
              </p:cNvPr>
              <p:cNvSpPr>
                <a:spLocks noChangeShapeType="1"/>
              </p:cNvSpPr>
              <p:nvPr/>
            </p:nvSpPr>
            <p:spPr bwMode="auto">
              <a:xfrm>
                <a:off x="3966" y="94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2" name="Line 1275">
                <a:extLst>
                  <a:ext uri="{FF2B5EF4-FFF2-40B4-BE49-F238E27FC236}">
                    <a16:creationId xmlns:a16="http://schemas.microsoft.com/office/drawing/2014/main" id="{DEA26316-0205-2F4A-81B7-01ADF4FEAFAE}"/>
                  </a:ext>
                </a:extLst>
              </p:cNvPr>
              <p:cNvSpPr>
                <a:spLocks noChangeShapeType="1"/>
              </p:cNvSpPr>
              <p:nvPr/>
            </p:nvSpPr>
            <p:spPr bwMode="auto">
              <a:xfrm>
                <a:off x="3972" y="849"/>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83" name="Rectangle 1276">
                <a:extLst>
                  <a:ext uri="{FF2B5EF4-FFF2-40B4-BE49-F238E27FC236}">
                    <a16:creationId xmlns:a16="http://schemas.microsoft.com/office/drawing/2014/main" id="{C0556A73-A8C3-3F4D-B8F3-6F3EE8BF210D}"/>
                  </a:ext>
                </a:extLst>
              </p:cNvPr>
              <p:cNvSpPr>
                <a:spLocks noChangeArrowheads="1"/>
              </p:cNvSpPr>
              <p:nvPr/>
            </p:nvSpPr>
            <p:spPr bwMode="auto">
              <a:xfrm>
                <a:off x="3966" y="756"/>
                <a:ext cx="435" cy="93"/>
              </a:xfrm>
              <a:prstGeom prst="rect">
                <a:avLst/>
              </a:prstGeom>
              <a:solidFill>
                <a:srgbClr val="CC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084" name="Text Box 1277">
                <a:extLst>
                  <a:ext uri="{FF2B5EF4-FFF2-40B4-BE49-F238E27FC236}">
                    <a16:creationId xmlns:a16="http://schemas.microsoft.com/office/drawing/2014/main" id="{C8ABC686-2F39-9843-8B22-0FA204CBE9B7}"/>
                  </a:ext>
                </a:extLst>
              </p:cNvPr>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1000"/>
              </a:p>
              <a:p>
                <a:pPr algn="ctr"/>
                <a:r>
                  <a:rPr lang="en-US" altLang="en-US" sz="1000">
                    <a:solidFill>
                      <a:schemeClr val="bg1"/>
                    </a:solidFill>
                  </a:rPr>
                  <a:t>network</a:t>
                </a:r>
              </a:p>
              <a:p>
                <a:pPr algn="ctr"/>
                <a:r>
                  <a:rPr lang="en-US" altLang="en-US" sz="1000"/>
                  <a:t>data link</a:t>
                </a:r>
              </a:p>
              <a:p>
                <a:pPr algn="ctr"/>
                <a:r>
                  <a:rPr lang="en-US" altLang="en-US" sz="1000"/>
                  <a:t>physical</a:t>
                </a:r>
                <a:endParaRPr lang="en-US" altLang="en-US" sz="2400"/>
              </a:p>
            </p:txBody>
          </p:sp>
        </p:grpSp>
      </p:grpSp>
      <p:sp>
        <p:nvSpPr>
          <p:cNvPr id="632064" name="Rectangle 1280">
            <a:extLst>
              <a:ext uri="{FF2B5EF4-FFF2-40B4-BE49-F238E27FC236}">
                <a16:creationId xmlns:a16="http://schemas.microsoft.com/office/drawing/2014/main" id="{63BDD548-77A1-3A47-8E24-59B7BCE02B2F}"/>
              </a:ext>
            </a:extLst>
          </p:cNvPr>
          <p:cNvSpPr>
            <a:spLocks noChangeArrowheads="1"/>
          </p:cNvSpPr>
          <p:nvPr/>
        </p:nvSpPr>
        <p:spPr bwMode="auto">
          <a:xfrm>
            <a:off x="5721350" y="858838"/>
            <a:ext cx="388938" cy="138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32065" name="Rectangle 1281">
            <a:extLst>
              <a:ext uri="{FF2B5EF4-FFF2-40B4-BE49-F238E27FC236}">
                <a16:creationId xmlns:a16="http://schemas.microsoft.com/office/drawing/2014/main" id="{428EE46F-2426-EA4B-9989-0D2A5CA089C4}"/>
              </a:ext>
            </a:extLst>
          </p:cNvPr>
          <p:cNvSpPr>
            <a:spLocks noChangeArrowheads="1"/>
          </p:cNvSpPr>
          <p:nvPr/>
        </p:nvSpPr>
        <p:spPr bwMode="auto">
          <a:xfrm>
            <a:off x="5651500" y="1509713"/>
            <a:ext cx="596900" cy="138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32066" name="Rectangle 1282">
            <a:extLst>
              <a:ext uri="{FF2B5EF4-FFF2-40B4-BE49-F238E27FC236}">
                <a16:creationId xmlns:a16="http://schemas.microsoft.com/office/drawing/2014/main" id="{6D3A4B71-FEC2-404A-8614-9949248FA61F}"/>
              </a:ext>
            </a:extLst>
          </p:cNvPr>
          <p:cNvSpPr>
            <a:spLocks noChangeArrowheads="1"/>
          </p:cNvSpPr>
          <p:nvPr/>
        </p:nvSpPr>
        <p:spPr bwMode="auto">
          <a:xfrm>
            <a:off x="8477250" y="4487863"/>
            <a:ext cx="388938" cy="138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057" name="Slide Number Placeholder 5">
            <a:extLst>
              <a:ext uri="{FF2B5EF4-FFF2-40B4-BE49-F238E27FC236}">
                <a16:creationId xmlns:a16="http://schemas.microsoft.com/office/drawing/2014/main" id="{AAAA7FB9-1823-3549-9142-323F2B81E757}"/>
              </a:ext>
            </a:extLst>
          </p:cNvPr>
          <p:cNvSpPr>
            <a:spLocks noGrp="1"/>
          </p:cNvSpPr>
          <p:nvPr>
            <p:ph type="sldNum" sz="quarter" idx="12"/>
          </p:nvPr>
        </p:nvSpPr>
        <p:spPr>
          <a:xfrm>
            <a:off x="8456613" y="6475413"/>
            <a:ext cx="458787"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C32C2644-DFAF-8842-BAA7-B0521A920DD8}" type="slidenum">
              <a:rPr lang="en-US" altLang="en-US">
                <a:latin typeface="Tahoma" panose="020B0604030504040204" pitchFamily="34" charset="0"/>
              </a:rPr>
              <a:pPr/>
              <a:t>5</a:t>
            </a:fld>
            <a:endParaRPr lang="en-US" altLang="en-US">
              <a:latin typeface="Tahoma" panose="020B0604030504040204" pitchFamily="34" charset="0"/>
            </a:endParaRPr>
          </a:p>
        </p:txBody>
      </p:sp>
      <p:sp>
        <p:nvSpPr>
          <p:cNvPr id="42058" name="Footer Placeholder 2">
            <a:extLst>
              <a:ext uri="{FF2B5EF4-FFF2-40B4-BE49-F238E27FC236}">
                <a16:creationId xmlns:a16="http://schemas.microsoft.com/office/drawing/2014/main" id="{36BF3C02-B3F7-F84A-AC2B-BF2B8E43EA56}"/>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10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32064"/>
                                        </p:tgtEl>
                                        <p:attrNameLst>
                                          <p:attrName>style.visibility</p:attrName>
                                        </p:attrNameLst>
                                      </p:cBhvr>
                                      <p:to>
                                        <p:strVal val="visible"/>
                                      </p:to>
                                    </p:set>
                                  </p:childTnLst>
                                </p:cTn>
                              </p:par>
                            </p:childTnLst>
                          </p:cTn>
                        </p:par>
                        <p:par>
                          <p:cTn id="20" fill="hold" nodeType="afterGroup">
                            <p:stCondLst>
                              <p:cond delay="0"/>
                            </p:stCondLst>
                            <p:childTnLst>
                              <p:par>
                                <p:cTn id="21" presetID="42" presetClass="path" presetSubtype="0" accel="50000" decel="50000" fill="hold" grpId="1" nodeType="afterEffect">
                                  <p:stCondLst>
                                    <p:cond delay="0"/>
                                  </p:stCondLst>
                                  <p:childTnLst>
                                    <p:animMotion origin="layout" path="M 0.00244 0.01227 L 0.00382 0.0949 " pathEditMode="relative" rAng="0" ptsTypes="AA">
                                      <p:cBhvr>
                                        <p:cTn id="22" dur="2000" fill="hold"/>
                                        <p:tgtEl>
                                          <p:spTgt spid="632064"/>
                                        </p:tgtEl>
                                        <p:attrNameLst>
                                          <p:attrName>ppt_x</p:attrName>
                                          <p:attrName>ppt_y</p:attrName>
                                        </p:attrNameLst>
                                      </p:cBhvr>
                                      <p:rCtr x="69" y="4120"/>
                                    </p:animMotion>
                                  </p:childTnLst>
                                </p:cTn>
                              </p:par>
                            </p:childTnLst>
                          </p:cTn>
                        </p:par>
                        <p:par>
                          <p:cTn id="23" fill="hold" nodeType="afterGroup">
                            <p:stCondLst>
                              <p:cond delay="2000"/>
                            </p:stCondLst>
                            <p:childTnLst>
                              <p:par>
                                <p:cTn id="24" presetID="1" presetClass="exit" presetSubtype="0" fill="hold" grpId="2" nodeType="afterEffect">
                                  <p:stCondLst>
                                    <p:cond delay="0"/>
                                  </p:stCondLst>
                                  <p:childTnLst>
                                    <p:set>
                                      <p:cBhvr>
                                        <p:cTn id="25" dur="1" fill="hold">
                                          <p:stCondLst>
                                            <p:cond delay="0"/>
                                          </p:stCondLst>
                                        </p:cTn>
                                        <p:tgtEl>
                                          <p:spTgt spid="632064"/>
                                        </p:tgtEl>
                                        <p:attrNameLst>
                                          <p:attrName>style.visibility</p:attrName>
                                        </p:attrNameLst>
                                      </p:cBhvr>
                                      <p:to>
                                        <p:strVal val="hidden"/>
                                      </p:to>
                                    </p:set>
                                  </p:childTnLst>
                                </p:cTn>
                              </p:par>
                            </p:childTnLst>
                          </p:cTn>
                        </p:par>
                        <p:par>
                          <p:cTn id="26" fill="hold" nodeType="afterGroup">
                            <p:stCondLst>
                              <p:cond delay="2000"/>
                            </p:stCondLst>
                            <p:childTnLst>
                              <p:par>
                                <p:cTn id="27" presetID="1" presetClass="entr" presetSubtype="0" fill="hold" grpId="0" nodeType="afterEffect">
                                  <p:stCondLst>
                                    <p:cond delay="0"/>
                                  </p:stCondLst>
                                  <p:childTnLst>
                                    <p:set>
                                      <p:cBhvr>
                                        <p:cTn id="28" dur="1" fill="hold">
                                          <p:stCondLst>
                                            <p:cond delay="0"/>
                                          </p:stCondLst>
                                        </p:cTn>
                                        <p:tgtEl>
                                          <p:spTgt spid="632065"/>
                                        </p:tgtEl>
                                        <p:attrNameLst>
                                          <p:attrName>style.visibility</p:attrName>
                                        </p:attrNameLst>
                                      </p:cBhvr>
                                      <p:to>
                                        <p:strVal val="visible"/>
                                      </p:to>
                                    </p:set>
                                  </p:childTnLst>
                                </p:cTn>
                              </p:par>
                            </p:childTnLst>
                          </p:cTn>
                        </p:par>
                        <p:par>
                          <p:cTn id="29" fill="hold" nodeType="afterGroup">
                            <p:stCondLst>
                              <p:cond delay="2000"/>
                            </p:stCondLst>
                            <p:childTnLst>
                              <p:par>
                                <p:cTn id="30" presetID="0" presetClass="path" presetSubtype="0" accel="50000" decel="50000" fill="hold" grpId="1" nodeType="afterEffect">
                                  <p:stCondLst>
                                    <p:cond delay="0"/>
                                  </p:stCondLst>
                                  <p:childTnLst>
                                    <p:animMotion origin="layout" path="M 2.5E-6 -1.48148E-6 L 2.5E-6 0.07269 L 0.02726 0.18982 L 0.02726 0.1132 L 0.07118 0.11112 L 0.07257 0.18982 L 0.11667 0.14144 L 0.11667 0.07871 L 0.16059 0.07686 L 0.10903 0.23426 L 0.11511 0.15949 L 0.1559 0.15949 L 0.15747 0.23635 L 0.1059 0.34537 L 0.10295 0.27061 L 0.14236 0.26875 L 0.14688 0.39584 L 0.1559 0.3213 L 0.19236 0.31922 L 0.19688 0.39792 L 0.1059 0.49908 L 0.1059 0.41621 L 0.14236 0.41621 L 0.14236 0.49699 L 0.18785 0.53542 L 0.18785 0.44653 L 0.2257 0.44653 L 0.22865 0.52732 L 0.31198 0.50301 L 0.31198 0.43843 " pathEditMode="relative" ptsTypes="AAAAAAAAAAAAAAAAAAAAAAAAAAAAAA">
                                      <p:cBhvr>
                                        <p:cTn id="31" dur="5000" fill="hold"/>
                                        <p:tgtEl>
                                          <p:spTgt spid="632065"/>
                                        </p:tgtEl>
                                        <p:attrNameLst>
                                          <p:attrName>ppt_x</p:attrName>
                                          <p:attrName>ppt_y</p:attrName>
                                        </p:attrNameLst>
                                      </p:cBhvr>
                                    </p:animMotion>
                                  </p:childTnLst>
                                </p:cTn>
                              </p:par>
                            </p:childTnLst>
                          </p:cTn>
                        </p:par>
                        <p:par>
                          <p:cTn id="32" fill="hold" nodeType="afterGroup">
                            <p:stCondLst>
                              <p:cond delay="7000"/>
                            </p:stCondLst>
                            <p:childTnLst>
                              <p:par>
                                <p:cTn id="33" presetID="1" presetClass="exit" presetSubtype="0" fill="hold" grpId="2" nodeType="afterEffect">
                                  <p:stCondLst>
                                    <p:cond delay="0"/>
                                  </p:stCondLst>
                                  <p:childTnLst>
                                    <p:set>
                                      <p:cBhvr>
                                        <p:cTn id="34" dur="1" fill="hold">
                                          <p:stCondLst>
                                            <p:cond delay="0"/>
                                          </p:stCondLst>
                                        </p:cTn>
                                        <p:tgtEl>
                                          <p:spTgt spid="632065"/>
                                        </p:tgtEl>
                                        <p:attrNameLst>
                                          <p:attrName>style.visibility</p:attrName>
                                        </p:attrNameLst>
                                      </p:cBhvr>
                                      <p:to>
                                        <p:strVal val="hidden"/>
                                      </p:to>
                                    </p:set>
                                  </p:childTnLst>
                                </p:cTn>
                              </p:par>
                            </p:childTnLst>
                          </p:cTn>
                        </p:par>
                        <p:par>
                          <p:cTn id="35" fill="hold" nodeType="afterGroup">
                            <p:stCondLst>
                              <p:cond delay="7000"/>
                            </p:stCondLst>
                            <p:childTnLst>
                              <p:par>
                                <p:cTn id="36" presetID="1" presetClass="entr" presetSubtype="0" fill="hold" grpId="0" nodeType="afterEffect">
                                  <p:stCondLst>
                                    <p:cond delay="0"/>
                                  </p:stCondLst>
                                  <p:childTnLst>
                                    <p:set>
                                      <p:cBhvr>
                                        <p:cTn id="37" dur="1" fill="hold">
                                          <p:stCondLst>
                                            <p:cond delay="0"/>
                                          </p:stCondLst>
                                        </p:cTn>
                                        <p:tgtEl>
                                          <p:spTgt spid="632066"/>
                                        </p:tgtEl>
                                        <p:attrNameLst>
                                          <p:attrName>style.visibility</p:attrName>
                                        </p:attrNameLst>
                                      </p:cBhvr>
                                      <p:to>
                                        <p:strVal val="visible"/>
                                      </p:to>
                                    </p:set>
                                  </p:childTnLst>
                                </p:cTn>
                              </p:par>
                            </p:childTnLst>
                          </p:cTn>
                        </p:par>
                        <p:par>
                          <p:cTn id="38" fill="hold" nodeType="afterGroup">
                            <p:stCondLst>
                              <p:cond delay="7000"/>
                            </p:stCondLst>
                            <p:childTnLst>
                              <p:par>
                                <p:cTn id="39" presetID="1" presetClass="entr" presetSubtype="0" fill="hold" grpId="1" nodeType="afterEffect">
                                  <p:stCondLst>
                                    <p:cond delay="0"/>
                                  </p:stCondLst>
                                  <p:childTnLst>
                                    <p:set>
                                      <p:cBhvr>
                                        <p:cTn id="40" dur="1" fill="hold">
                                          <p:stCondLst>
                                            <p:cond delay="0"/>
                                          </p:stCondLst>
                                        </p:cTn>
                                        <p:tgtEl>
                                          <p:spTgt spid="632066"/>
                                        </p:tgtEl>
                                        <p:attrNameLst>
                                          <p:attrName>style.visibility</p:attrName>
                                        </p:attrNameLst>
                                      </p:cBhvr>
                                      <p:to>
                                        <p:strVal val="visible"/>
                                      </p:to>
                                    </p:set>
                                  </p:childTnLst>
                                </p:cTn>
                              </p:par>
                            </p:childTnLst>
                          </p:cTn>
                        </p:par>
                        <p:par>
                          <p:cTn id="41" fill="hold" nodeType="afterGroup">
                            <p:stCondLst>
                              <p:cond delay="7000"/>
                            </p:stCondLst>
                            <p:childTnLst>
                              <p:par>
                                <p:cTn id="42" presetID="42" presetClass="path" presetSubtype="0" accel="50000" decel="50000" fill="hold" grpId="2" nodeType="afterEffect">
                                  <p:stCondLst>
                                    <p:cond delay="0"/>
                                  </p:stCondLst>
                                  <p:childTnLst>
                                    <p:animMotion origin="layout" path="M -3.05556E-6 0 L -0.00156 -0.07106 " pathEditMode="relative" rAng="0" ptsTypes="AA">
                                      <p:cBhvr>
                                        <p:cTn id="43" dur="2000" fill="hold"/>
                                        <p:tgtEl>
                                          <p:spTgt spid="632066"/>
                                        </p:tgtEl>
                                        <p:attrNameLst>
                                          <p:attrName>ppt_x</p:attrName>
                                          <p:attrName>ppt_y</p:attrName>
                                        </p:attrNameLst>
                                      </p:cBhvr>
                                      <p:rCtr x="-87" y="-35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064" grpId="0" animBg="1"/>
      <p:bldP spid="632064" grpId="1" animBg="1"/>
      <p:bldP spid="632064" grpId="2" animBg="1"/>
      <p:bldP spid="632065" grpId="0" animBg="1"/>
      <p:bldP spid="632065" grpId="1" animBg="1"/>
      <p:bldP spid="632065" grpId="2" animBg="1"/>
      <p:bldP spid="632066" grpId="0" animBg="1"/>
      <p:bldP spid="632066" grpId="1" animBg="1"/>
      <p:bldP spid="632066"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6" descr="underline_base">
            <a:extLst>
              <a:ext uri="{FF2B5EF4-FFF2-40B4-BE49-F238E27FC236}">
                <a16:creationId xmlns:a16="http://schemas.microsoft.com/office/drawing/2014/main" id="{3BA69957-4385-4744-A908-2B05B18FE29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25" y="1035050"/>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2">
            <a:extLst>
              <a:ext uri="{FF2B5EF4-FFF2-40B4-BE49-F238E27FC236}">
                <a16:creationId xmlns:a16="http://schemas.microsoft.com/office/drawing/2014/main" id="{F9353BE9-2F46-834F-A37F-542EB2A91EA4}"/>
              </a:ext>
            </a:extLst>
          </p:cNvPr>
          <p:cNvSpPr>
            <a:spLocks noGrp="1" noChangeArrowheads="1"/>
          </p:cNvSpPr>
          <p:nvPr>
            <p:ph type="title"/>
          </p:nvPr>
        </p:nvSpPr>
        <p:spPr/>
        <p:txBody>
          <a:bodyPr/>
          <a:lstStyle/>
          <a:p>
            <a:pPr>
              <a:defRPr/>
            </a:pPr>
            <a:r>
              <a:rPr lang="en-US" dirty="0">
                <a:cs typeface="+mj-cs"/>
              </a:rPr>
              <a:t>Two key network-layer functions</a:t>
            </a:r>
          </a:p>
        </p:txBody>
      </p:sp>
      <p:sp>
        <p:nvSpPr>
          <p:cNvPr id="43015" name="Slide Number Placeholder 5">
            <a:extLst>
              <a:ext uri="{FF2B5EF4-FFF2-40B4-BE49-F238E27FC236}">
                <a16:creationId xmlns:a16="http://schemas.microsoft.com/office/drawing/2014/main" id="{F8BA12F0-51B0-7A4C-A052-07491C5AEE6E}"/>
              </a:ext>
            </a:extLst>
          </p:cNvPr>
          <p:cNvSpPr>
            <a:spLocks noGrp="1"/>
          </p:cNvSpPr>
          <p:nvPr>
            <p:ph type="sldNum" sz="quarter" idx="12"/>
          </p:nvPr>
        </p:nvSpPr>
        <p:spPr>
          <a:xfrm>
            <a:off x="8456613" y="6475413"/>
            <a:ext cx="458787"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D909865A-02BD-9240-B646-FFE54A54F8D9}" type="slidenum">
              <a:rPr lang="en-US" altLang="en-US">
                <a:latin typeface="Tahoma" panose="020B0604030504040204" pitchFamily="34" charset="0"/>
              </a:rPr>
              <a:pPr/>
              <a:t>6</a:t>
            </a:fld>
            <a:endParaRPr lang="en-US" altLang="en-US" dirty="0">
              <a:latin typeface="Tahoma" panose="020B0604030504040204" pitchFamily="34" charset="0"/>
            </a:endParaRPr>
          </a:p>
        </p:txBody>
      </p:sp>
      <p:sp>
        <p:nvSpPr>
          <p:cNvPr id="43016" name="Footer Placeholder 2">
            <a:extLst>
              <a:ext uri="{FF2B5EF4-FFF2-40B4-BE49-F238E27FC236}">
                <a16:creationId xmlns:a16="http://schemas.microsoft.com/office/drawing/2014/main" id="{5AC49938-5194-F84A-820B-49E5770309D7}"/>
              </a:ext>
            </a:extLst>
          </p:cNvPr>
          <p:cNvSpPr>
            <a:spLocks noGrp="1"/>
          </p:cNvSpPr>
          <p:nvPr>
            <p:ph type="ftr" sz="quarter" idx="11"/>
          </p:nvPr>
        </p:nvSpPr>
        <p:spPr bwMode="auto">
          <a:xfrm>
            <a:off x="6419730" y="6511118"/>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
        <p:nvSpPr>
          <p:cNvPr id="11" name="Rectangle 3">
            <a:extLst>
              <a:ext uri="{FF2B5EF4-FFF2-40B4-BE49-F238E27FC236}">
                <a16:creationId xmlns:a16="http://schemas.microsoft.com/office/drawing/2014/main" id="{B8839FFB-1E1B-E64A-B596-3FA5726FAA4E}"/>
              </a:ext>
            </a:extLst>
          </p:cNvPr>
          <p:cNvSpPr txBox="1">
            <a:spLocks noChangeArrowheads="1"/>
          </p:cNvSpPr>
          <p:nvPr/>
        </p:nvSpPr>
        <p:spPr bwMode="auto">
          <a:xfrm>
            <a:off x="5447168" y="3462441"/>
            <a:ext cx="3214045" cy="1810626"/>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ct val="100000"/>
              </a:lnSpc>
              <a:buNone/>
            </a:pPr>
            <a:endParaRPr lang="en-US" altLang="en-US" sz="2200" dirty="0">
              <a:latin typeface="Arial"/>
              <a:ea typeface="ＭＳ Ｐゴシック" pitchFamily="34" charset="-128"/>
              <a:cs typeface="Arial"/>
            </a:endParaRPr>
          </a:p>
          <a:p>
            <a:pPr marL="0" indent="0">
              <a:lnSpc>
                <a:spcPct val="100000"/>
              </a:lnSpc>
              <a:buNone/>
            </a:pPr>
            <a:r>
              <a:rPr lang="en-US" altLang="en-US" sz="2200" dirty="0">
                <a:latin typeface="Arial"/>
                <a:ea typeface="ＭＳ Ｐゴシック" pitchFamily="34" charset="-128"/>
                <a:cs typeface="Arial"/>
              </a:rPr>
              <a:t>Determine route taken by packets from source to destination.</a:t>
            </a:r>
          </a:p>
          <a:p>
            <a:pPr marL="0" indent="0">
              <a:lnSpc>
                <a:spcPct val="100000"/>
              </a:lnSpc>
              <a:buNone/>
            </a:pPr>
            <a:r>
              <a:rPr lang="en-US" altLang="en-US" sz="2200" dirty="0">
                <a:latin typeface="Arial"/>
                <a:ea typeface="ＭＳ Ｐゴシック" pitchFamily="34" charset="-128"/>
                <a:cs typeface="Arial"/>
              </a:rPr>
              <a:t>   * routing algorithms</a:t>
            </a:r>
          </a:p>
          <a:p>
            <a:pPr marL="0" indent="0">
              <a:lnSpc>
                <a:spcPct val="100000"/>
              </a:lnSpc>
              <a:buNone/>
            </a:pPr>
            <a:r>
              <a:rPr lang="en-US" altLang="en-US" sz="2200" dirty="0">
                <a:latin typeface="Arial"/>
                <a:ea typeface="ＭＳ Ｐゴシック" pitchFamily="34" charset="-128"/>
                <a:cs typeface="Arial"/>
              </a:rPr>
              <a:t>	 </a:t>
            </a:r>
          </a:p>
          <a:p>
            <a:pPr marL="0" indent="0">
              <a:lnSpc>
                <a:spcPct val="100000"/>
              </a:lnSpc>
              <a:buNone/>
            </a:pPr>
            <a:endParaRPr lang="en-US" altLang="en-US" sz="2200" dirty="0">
              <a:latin typeface="Arial"/>
              <a:ea typeface="ＭＳ Ｐゴシック" pitchFamily="34" charset="-128"/>
              <a:cs typeface="Arial"/>
            </a:endParaRPr>
          </a:p>
        </p:txBody>
      </p:sp>
      <p:sp>
        <p:nvSpPr>
          <p:cNvPr id="12" name="Rectangle 3">
            <a:extLst>
              <a:ext uri="{FF2B5EF4-FFF2-40B4-BE49-F238E27FC236}">
                <a16:creationId xmlns:a16="http://schemas.microsoft.com/office/drawing/2014/main" id="{683D4C89-989E-6948-A102-4AE3827AA465}"/>
              </a:ext>
            </a:extLst>
          </p:cNvPr>
          <p:cNvSpPr txBox="1">
            <a:spLocks noChangeArrowheads="1"/>
          </p:cNvSpPr>
          <p:nvPr/>
        </p:nvSpPr>
        <p:spPr bwMode="auto">
          <a:xfrm>
            <a:off x="482787" y="3462442"/>
            <a:ext cx="3526410" cy="1586258"/>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ct val="100000"/>
              </a:lnSpc>
              <a:buFont typeface="Wingdings" pitchFamily="2" charset="2"/>
              <a:buNone/>
            </a:pPr>
            <a:endParaRPr lang="en-US" altLang="en-US" sz="2200" kern="0">
              <a:latin typeface="Arial"/>
              <a:ea typeface="ＭＳ Ｐゴシック" pitchFamily="34" charset="-128"/>
              <a:cs typeface="Arial"/>
            </a:endParaRPr>
          </a:p>
          <a:p>
            <a:pPr marL="0" indent="0">
              <a:lnSpc>
                <a:spcPct val="100000"/>
              </a:lnSpc>
              <a:buFont typeface="Wingdings" pitchFamily="2" charset="2"/>
              <a:buNone/>
            </a:pPr>
            <a:r>
              <a:rPr lang="en-US" altLang="en-US" sz="2200" kern="0">
                <a:latin typeface="Arial"/>
                <a:ea typeface="ＭＳ Ｐゴシック" pitchFamily="34" charset="-128"/>
                <a:cs typeface="Arial"/>
              </a:rPr>
              <a:t>Move packets from router’</a:t>
            </a:r>
            <a:r>
              <a:rPr lang="en-US" altLang="ja-JP" sz="2200" kern="0">
                <a:latin typeface="Arial"/>
                <a:ea typeface="ＭＳ Ｐゴシック" pitchFamily="34" charset="-128"/>
                <a:cs typeface="Arial"/>
              </a:rPr>
              <a:t>s input to appropriate router output.</a:t>
            </a:r>
          </a:p>
          <a:p>
            <a:pPr marL="0" indent="0">
              <a:lnSpc>
                <a:spcPct val="100000"/>
              </a:lnSpc>
              <a:buFont typeface="Wingdings" pitchFamily="2" charset="2"/>
              <a:buNone/>
            </a:pPr>
            <a:endParaRPr lang="en-US" altLang="en-US" sz="2200" kern="0" dirty="0">
              <a:latin typeface="Arial"/>
              <a:ea typeface="ＭＳ Ｐゴシック" pitchFamily="34" charset="-128"/>
              <a:cs typeface="Arial"/>
            </a:endParaRPr>
          </a:p>
        </p:txBody>
      </p:sp>
      <p:sp>
        <p:nvSpPr>
          <p:cNvPr id="13" name="Rectangle 4">
            <a:extLst>
              <a:ext uri="{FF2B5EF4-FFF2-40B4-BE49-F238E27FC236}">
                <a16:creationId xmlns:a16="http://schemas.microsoft.com/office/drawing/2014/main" id="{B209272A-B09E-0045-9F7A-6833C210DBF0}"/>
              </a:ext>
            </a:extLst>
          </p:cNvPr>
          <p:cNvSpPr>
            <a:spLocks noChangeArrowheads="1"/>
          </p:cNvSpPr>
          <p:nvPr/>
        </p:nvSpPr>
        <p:spPr bwMode="auto">
          <a:xfrm>
            <a:off x="5420479" y="5261698"/>
            <a:ext cx="3494921" cy="1378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marL="0" indent="0">
              <a:spcBef>
                <a:spcPct val="70000"/>
              </a:spcBef>
              <a:buClr>
                <a:srgbClr val="000099"/>
              </a:buClr>
              <a:buSzPct val="65000"/>
            </a:pPr>
            <a:r>
              <a:rPr lang="en-US" altLang="en-US" sz="2200" i="1" u="sng" dirty="0">
                <a:solidFill>
                  <a:srgbClr val="CC0000"/>
                </a:solidFill>
                <a:latin typeface="Arial"/>
                <a:cs typeface="Arial"/>
              </a:rPr>
              <a:t>Analogy</a:t>
            </a:r>
            <a:r>
              <a:rPr lang="en-US" altLang="en-US" sz="2200" i="1" dirty="0">
                <a:solidFill>
                  <a:srgbClr val="CC0000"/>
                </a:solidFill>
                <a:latin typeface="Arial"/>
                <a:cs typeface="Arial"/>
              </a:rPr>
              <a:t>:</a:t>
            </a:r>
          </a:p>
          <a:p>
            <a:pPr marL="0" indent="0">
              <a:spcBef>
                <a:spcPts val="0"/>
              </a:spcBef>
              <a:buClr>
                <a:srgbClr val="000099"/>
              </a:buClr>
              <a:buSzPct val="65000"/>
            </a:pPr>
            <a:r>
              <a:rPr lang="en-US" altLang="en-US" sz="2200" dirty="0">
                <a:latin typeface="Arial"/>
                <a:cs typeface="Arial"/>
              </a:rPr>
              <a:t>Routing: Process of planning trip from source to destination.</a:t>
            </a:r>
          </a:p>
        </p:txBody>
      </p:sp>
      <p:graphicFrame>
        <p:nvGraphicFramePr>
          <p:cNvPr id="14" name="Diagram 13">
            <a:extLst>
              <a:ext uri="{FF2B5EF4-FFF2-40B4-BE49-F238E27FC236}">
                <a16:creationId xmlns:a16="http://schemas.microsoft.com/office/drawing/2014/main" id="{9EB233A9-1591-D246-9356-7F8FA57FA754}"/>
              </a:ext>
            </a:extLst>
          </p:cNvPr>
          <p:cNvGraphicFramePr/>
          <p:nvPr/>
        </p:nvGraphicFramePr>
        <p:xfrm>
          <a:off x="1752717" y="1584933"/>
          <a:ext cx="5917486" cy="2236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Rectangle 4">
            <a:extLst>
              <a:ext uri="{FF2B5EF4-FFF2-40B4-BE49-F238E27FC236}">
                <a16:creationId xmlns:a16="http://schemas.microsoft.com/office/drawing/2014/main" id="{3CC0A85F-DF56-BF4D-88C8-F6CBA50D3B05}"/>
              </a:ext>
            </a:extLst>
          </p:cNvPr>
          <p:cNvSpPr>
            <a:spLocks noChangeArrowheads="1"/>
          </p:cNvSpPr>
          <p:nvPr/>
        </p:nvSpPr>
        <p:spPr bwMode="auto">
          <a:xfrm>
            <a:off x="533400" y="5133931"/>
            <a:ext cx="3536902" cy="1378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spcBef>
                <a:spcPts val="0"/>
              </a:spcBef>
              <a:buClr>
                <a:srgbClr val="000099"/>
              </a:buClr>
              <a:buSzPct val="65000"/>
              <a:buFont typeface="Wingdings" pitchFamily="2" charset="2"/>
              <a:buNone/>
            </a:pPr>
            <a:r>
              <a:rPr lang="en-US" altLang="en-US" sz="2200" i="1" u="sng" dirty="0">
                <a:solidFill>
                  <a:srgbClr val="CC0000"/>
                </a:solidFill>
                <a:latin typeface="Arial"/>
                <a:cs typeface="Arial"/>
              </a:rPr>
              <a:t>Analogy</a:t>
            </a:r>
            <a:r>
              <a:rPr lang="en-US" altLang="en-US" sz="2200" i="1" dirty="0">
                <a:solidFill>
                  <a:srgbClr val="CC0000"/>
                </a:solidFill>
                <a:latin typeface="Arial"/>
                <a:cs typeface="Arial"/>
              </a:rPr>
              <a:t>:</a:t>
            </a:r>
          </a:p>
          <a:p>
            <a:pPr marL="0" indent="0">
              <a:spcBef>
                <a:spcPts val="0"/>
              </a:spcBef>
              <a:buClr>
                <a:srgbClr val="000099"/>
              </a:buClr>
              <a:buSzPct val="65000"/>
            </a:pPr>
            <a:r>
              <a:rPr lang="en-US" altLang="en-US" sz="2200" dirty="0">
                <a:latin typeface="Arial"/>
                <a:cs typeface="Arial"/>
              </a:rPr>
              <a:t>Forwarding: process of getting through  single interchange.</a:t>
            </a:r>
          </a:p>
          <a:p>
            <a:pPr>
              <a:spcBef>
                <a:spcPts val="0"/>
              </a:spcBef>
              <a:buClr>
                <a:srgbClr val="000099"/>
              </a:buClr>
              <a:buSzPct val="65000"/>
              <a:buFont typeface="Wingdings" pitchFamily="2" charset="2"/>
              <a:buChar char="v"/>
            </a:pPr>
            <a:endParaRPr lang="en-US" altLang="en-US" sz="2200" dirty="0">
              <a:latin typeface="Arial"/>
              <a:cs typeface="Arial"/>
            </a:endParaRPr>
          </a:p>
        </p:txBody>
      </p:sp>
      <p:sp>
        <p:nvSpPr>
          <p:cNvPr id="4" name="Right Triangle 3">
            <a:extLst>
              <a:ext uri="{FF2B5EF4-FFF2-40B4-BE49-F238E27FC236}">
                <a16:creationId xmlns:a16="http://schemas.microsoft.com/office/drawing/2014/main" id="{BA1FA1A7-CAD0-7F4F-B687-D41C929F2F48}"/>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nvGrpSpPr>
          <p:cNvPr id="16" name="Group 15">
            <a:extLst>
              <a:ext uri="{FF2B5EF4-FFF2-40B4-BE49-F238E27FC236}">
                <a16:creationId xmlns:a16="http://schemas.microsoft.com/office/drawing/2014/main" id="{68371013-A5FC-6449-8EBD-FFD24F88C1EA}"/>
              </a:ext>
            </a:extLst>
          </p:cNvPr>
          <p:cNvGrpSpPr/>
          <p:nvPr/>
        </p:nvGrpSpPr>
        <p:grpSpPr>
          <a:xfrm>
            <a:off x="165831" y="1339664"/>
            <a:ext cx="2227101" cy="1745933"/>
            <a:chOff x="6519334" y="4075932"/>
            <a:chExt cx="2227101" cy="1745933"/>
          </a:xfrm>
        </p:grpSpPr>
        <p:pic>
          <p:nvPicPr>
            <p:cNvPr id="17" name="Picture 4" descr="Why traffic apps make congestion worse | Berkeley News">
              <a:extLst>
                <a:ext uri="{FF2B5EF4-FFF2-40B4-BE49-F238E27FC236}">
                  <a16:creationId xmlns:a16="http://schemas.microsoft.com/office/drawing/2014/main" id="{CD6CA999-26EA-C043-A05F-7FF647C236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06213" y="4075932"/>
              <a:ext cx="2140222" cy="142681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D296BA12-D229-844C-A5E1-61D8CC428F53}"/>
                </a:ext>
              </a:extLst>
            </p:cNvPr>
            <p:cNvSpPr txBox="1"/>
            <p:nvPr/>
          </p:nvSpPr>
          <p:spPr>
            <a:xfrm>
              <a:off x="6519334" y="5452533"/>
              <a:ext cx="12092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forwarding</a:t>
              </a:r>
            </a:p>
          </p:txBody>
        </p:sp>
      </p:grpSp>
      <p:grpSp>
        <p:nvGrpSpPr>
          <p:cNvPr id="19" name="Group 18">
            <a:extLst>
              <a:ext uri="{FF2B5EF4-FFF2-40B4-BE49-F238E27FC236}">
                <a16:creationId xmlns:a16="http://schemas.microsoft.com/office/drawing/2014/main" id="{88DBC121-CDA2-B741-8F45-B80ACE3E69DE}"/>
              </a:ext>
            </a:extLst>
          </p:cNvPr>
          <p:cNvGrpSpPr/>
          <p:nvPr/>
        </p:nvGrpSpPr>
        <p:grpSpPr>
          <a:xfrm>
            <a:off x="5987015" y="1248989"/>
            <a:ext cx="2953118" cy="1640102"/>
            <a:chOff x="8314267" y="4706696"/>
            <a:chExt cx="2953118" cy="1640102"/>
          </a:xfrm>
        </p:grpSpPr>
        <p:pic>
          <p:nvPicPr>
            <p:cNvPr id="20" name="Picture 19">
              <a:extLst>
                <a:ext uri="{FF2B5EF4-FFF2-40B4-BE49-F238E27FC236}">
                  <a16:creationId xmlns:a16="http://schemas.microsoft.com/office/drawing/2014/main" id="{7884099A-DDCA-7547-BE60-5A9CFCE7F631}"/>
                </a:ext>
              </a:extLst>
            </p:cNvPr>
            <p:cNvPicPr>
              <a:picLocks noChangeAspect="1"/>
            </p:cNvPicPr>
            <p:nvPr/>
          </p:nvPicPr>
          <p:blipFill>
            <a:blip r:embed="rId9"/>
            <a:stretch>
              <a:fillRect/>
            </a:stretch>
          </p:blipFill>
          <p:spPr>
            <a:xfrm>
              <a:off x="8415131" y="4706696"/>
              <a:ext cx="2852254" cy="1323319"/>
            </a:xfrm>
            <a:prstGeom prst="rect">
              <a:avLst/>
            </a:prstGeom>
          </p:spPr>
        </p:pic>
        <p:sp>
          <p:nvSpPr>
            <p:cNvPr id="21" name="TextBox 20">
              <a:extLst>
                <a:ext uri="{FF2B5EF4-FFF2-40B4-BE49-F238E27FC236}">
                  <a16:creationId xmlns:a16="http://schemas.microsoft.com/office/drawing/2014/main" id="{781A4B5F-43BE-FB43-AF10-E92F839A199B}"/>
                </a:ext>
              </a:extLst>
            </p:cNvPr>
            <p:cNvSpPr txBox="1"/>
            <p:nvPr/>
          </p:nvSpPr>
          <p:spPr>
            <a:xfrm>
              <a:off x="8314267" y="5977466"/>
              <a:ext cx="8654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down)">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p:tgtEl>
                                          <p:spTgt spid="11"/>
                                        </p:tgtEl>
                                        <p:attrNameLst>
                                          <p:attrName>ppt_y</p:attrName>
                                        </p:attrNameLst>
                                      </p:cBhvr>
                                      <p:tavLst>
                                        <p:tav tm="0">
                                          <p:val>
                                            <p:strVal val="#ppt_y-#ppt_h*1.125000"/>
                                          </p:val>
                                        </p:tav>
                                        <p:tav tm="100000">
                                          <p:val>
                                            <p:strVal val="#ppt_y"/>
                                          </p:val>
                                        </p:tav>
                                      </p:tavLst>
                                    </p:anim>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9"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dissolve">
                                      <p:cBhvr>
                                        <p:cTn id="25" dur="500"/>
                                        <p:tgtEl>
                                          <p:spTgt spid="16"/>
                                        </p:tgtEl>
                                      </p:cBhvr>
                                    </p:animEffect>
                                  </p:childTnLst>
                                </p:cTn>
                              </p:par>
                              <p:par>
                                <p:cTn id="26" presetID="9"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dissolve">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6" descr="underline_base">
            <a:extLst>
              <a:ext uri="{FF2B5EF4-FFF2-40B4-BE49-F238E27FC236}">
                <a16:creationId xmlns:a16="http://schemas.microsoft.com/office/drawing/2014/main" id="{3BA69957-4385-4744-A908-2B05B18FE29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25" y="1035050"/>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2">
            <a:extLst>
              <a:ext uri="{FF2B5EF4-FFF2-40B4-BE49-F238E27FC236}">
                <a16:creationId xmlns:a16="http://schemas.microsoft.com/office/drawing/2014/main" id="{F9353BE9-2F46-834F-A37F-542EB2A91EA4}"/>
              </a:ext>
            </a:extLst>
          </p:cNvPr>
          <p:cNvSpPr>
            <a:spLocks noGrp="1" noChangeArrowheads="1"/>
          </p:cNvSpPr>
          <p:nvPr>
            <p:ph type="title"/>
          </p:nvPr>
        </p:nvSpPr>
        <p:spPr/>
        <p:txBody>
          <a:bodyPr/>
          <a:lstStyle/>
          <a:p>
            <a:pPr>
              <a:defRPr/>
            </a:pPr>
            <a:r>
              <a:rPr lang="en-US">
                <a:cs typeface="+mj-cs"/>
              </a:rPr>
              <a:t>Two key network-layer functions</a:t>
            </a:r>
          </a:p>
        </p:txBody>
      </p:sp>
      <p:sp>
        <p:nvSpPr>
          <p:cNvPr id="43015" name="Slide Number Placeholder 5">
            <a:extLst>
              <a:ext uri="{FF2B5EF4-FFF2-40B4-BE49-F238E27FC236}">
                <a16:creationId xmlns:a16="http://schemas.microsoft.com/office/drawing/2014/main" id="{F8BA12F0-51B0-7A4C-A052-07491C5AEE6E}"/>
              </a:ext>
            </a:extLst>
          </p:cNvPr>
          <p:cNvSpPr>
            <a:spLocks noGrp="1"/>
          </p:cNvSpPr>
          <p:nvPr>
            <p:ph type="sldNum" sz="quarter" idx="12"/>
          </p:nvPr>
        </p:nvSpPr>
        <p:spPr>
          <a:xfrm>
            <a:off x="8456613" y="6475413"/>
            <a:ext cx="458787"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D909865A-02BD-9240-B646-FFE54A54F8D9}" type="slidenum">
              <a:rPr lang="en-US" altLang="en-US">
                <a:latin typeface="Tahoma" panose="020B0604030504040204" pitchFamily="34" charset="0"/>
              </a:rPr>
              <a:pPr/>
              <a:t>7</a:t>
            </a:fld>
            <a:endParaRPr lang="en-US" altLang="en-US" dirty="0">
              <a:latin typeface="Tahoma" panose="020B0604030504040204" pitchFamily="34" charset="0"/>
            </a:endParaRPr>
          </a:p>
        </p:txBody>
      </p:sp>
      <p:sp>
        <p:nvSpPr>
          <p:cNvPr id="17" name="Title 41">
            <a:extLst>
              <a:ext uri="{FF2B5EF4-FFF2-40B4-BE49-F238E27FC236}">
                <a16:creationId xmlns:a16="http://schemas.microsoft.com/office/drawing/2014/main" id="{1E5EA147-E7CB-B04D-8456-C3E23694DEBA}"/>
              </a:ext>
            </a:extLst>
          </p:cNvPr>
          <p:cNvSpPr txBox="1">
            <a:spLocks/>
          </p:cNvSpPr>
          <p:nvPr/>
        </p:nvSpPr>
        <p:spPr bwMode="auto">
          <a:xfrm>
            <a:off x="1361105" y="1080650"/>
            <a:ext cx="7772400" cy="4354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400" dirty="0">
                <a:solidFill>
                  <a:srgbClr val="00B9FA"/>
                </a:solidFill>
                <a:latin typeface="Arial"/>
                <a:ea typeface="ＭＳ Ｐゴシック" pitchFamily="34" charset="-128"/>
                <a:cs typeface="Arial"/>
              </a:rPr>
              <a:t>Interplay between forwarding and routing</a:t>
            </a:r>
          </a:p>
        </p:txBody>
      </p:sp>
      <p:sp>
        <p:nvSpPr>
          <p:cNvPr id="18" name="Rectangle 3">
            <a:extLst>
              <a:ext uri="{FF2B5EF4-FFF2-40B4-BE49-F238E27FC236}">
                <a16:creationId xmlns:a16="http://schemas.microsoft.com/office/drawing/2014/main" id="{D192A1B7-A1F1-4F45-9C93-DD5F8D4292BE}"/>
              </a:ext>
            </a:extLst>
          </p:cNvPr>
          <p:cNvSpPr txBox="1">
            <a:spLocks noChangeArrowheads="1"/>
          </p:cNvSpPr>
          <p:nvPr/>
        </p:nvSpPr>
        <p:spPr bwMode="auto">
          <a:xfrm>
            <a:off x="1322401" y="6400989"/>
            <a:ext cx="6875103" cy="4570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algn="ctr" eaLnBrk="1" hangingPunct="1">
              <a:buFont typeface="Wingdings" pitchFamily="2" charset="2"/>
              <a:buNone/>
            </a:pPr>
            <a:r>
              <a:rPr lang="en-US" sz="1800" b="1" dirty="0">
                <a:solidFill>
                  <a:srgbClr val="00B9FA"/>
                </a:solidFill>
                <a:latin typeface="Arial"/>
                <a:ea typeface="ＭＳ Ｐゴシック" pitchFamily="34" charset="-128"/>
                <a:cs typeface="Arial"/>
              </a:rPr>
              <a:t>Figure</a:t>
            </a:r>
            <a:r>
              <a:rPr lang="en-US" sz="1800" dirty="0">
                <a:latin typeface="Arial"/>
                <a:ea typeface="ＭＳ Ｐゴシック" pitchFamily="34" charset="-128"/>
                <a:cs typeface="Arial"/>
              </a:rPr>
              <a:t>: Routing algorithm determine values in forwarding tables</a:t>
            </a:r>
          </a:p>
          <a:p>
            <a:pPr algn="ctr" eaLnBrk="1" hangingPunct="1">
              <a:buFont typeface="Wingdings" pitchFamily="2" charset="2"/>
              <a:buNone/>
            </a:pPr>
            <a:endParaRPr lang="en-US" sz="1800" dirty="0">
              <a:latin typeface="Arial"/>
              <a:ea typeface="ＭＳ Ｐゴシック" pitchFamily="34" charset="-128"/>
              <a:cs typeface="Arial"/>
            </a:endParaRPr>
          </a:p>
        </p:txBody>
      </p:sp>
      <p:sp>
        <p:nvSpPr>
          <p:cNvPr id="27" name="Right Triangle 26">
            <a:extLst>
              <a:ext uri="{FF2B5EF4-FFF2-40B4-BE49-F238E27FC236}">
                <a16:creationId xmlns:a16="http://schemas.microsoft.com/office/drawing/2014/main" id="{9DCA577B-63BA-9E48-8ECA-B75B1ECBE3C3}"/>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28" name="Picture 27" descr="Screen Shot 2016-04-08 at 11.19.41 AM.png">
            <a:extLst>
              <a:ext uri="{FF2B5EF4-FFF2-40B4-BE49-F238E27FC236}">
                <a16:creationId xmlns:a16="http://schemas.microsoft.com/office/drawing/2014/main" id="{A2D31B06-0C44-D14C-9034-5A26FABB5F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3908" y="1683181"/>
            <a:ext cx="5023556" cy="4756272"/>
          </a:xfrm>
          <a:prstGeom prst="rect">
            <a:avLst/>
          </a:prstGeom>
        </p:spPr>
      </p:pic>
      <p:grpSp>
        <p:nvGrpSpPr>
          <p:cNvPr id="29" name="Group 28">
            <a:extLst>
              <a:ext uri="{FF2B5EF4-FFF2-40B4-BE49-F238E27FC236}">
                <a16:creationId xmlns:a16="http://schemas.microsoft.com/office/drawing/2014/main" id="{A665B652-040A-EC45-AD79-F0F142AF0014}"/>
              </a:ext>
            </a:extLst>
          </p:cNvPr>
          <p:cNvGrpSpPr/>
          <p:nvPr/>
        </p:nvGrpSpPr>
        <p:grpSpPr>
          <a:xfrm>
            <a:off x="529363" y="2441563"/>
            <a:ext cx="4451244" cy="1689718"/>
            <a:chOff x="256233" y="2441563"/>
            <a:chExt cx="4451244" cy="1689718"/>
          </a:xfrm>
        </p:grpSpPr>
        <p:sp>
          <p:nvSpPr>
            <p:cNvPr id="30" name="Rectangle 3">
              <a:extLst>
                <a:ext uri="{FF2B5EF4-FFF2-40B4-BE49-F238E27FC236}">
                  <a16:creationId xmlns:a16="http://schemas.microsoft.com/office/drawing/2014/main" id="{3101227A-8A89-4349-B9AA-0B503EB01FCF}"/>
                </a:ext>
              </a:extLst>
            </p:cNvPr>
            <p:cNvSpPr txBox="1">
              <a:spLocks noChangeArrowheads="1"/>
            </p:cNvSpPr>
            <p:nvPr/>
          </p:nvSpPr>
          <p:spPr bwMode="auto">
            <a:xfrm>
              <a:off x="256233" y="2455504"/>
              <a:ext cx="2487180" cy="1675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ct val="100000"/>
                </a:lnSpc>
                <a:buFont typeface="Wingdings" pitchFamily="2" charset="2"/>
                <a:buNone/>
              </a:pPr>
              <a:r>
                <a:rPr lang="en-US" sz="2200" i="1" dirty="0">
                  <a:solidFill>
                    <a:srgbClr val="C00000"/>
                  </a:solidFill>
                  <a:latin typeface="Arial"/>
                  <a:ea typeface="ＭＳ Ｐゴシック" pitchFamily="34" charset="-128"/>
                  <a:cs typeface="Arial"/>
                </a:rPr>
                <a:t>Forwarding:</a:t>
              </a:r>
              <a:r>
                <a:rPr lang="en-US" sz="2200" dirty="0">
                  <a:solidFill>
                    <a:srgbClr val="C00000"/>
                  </a:solidFill>
                  <a:latin typeface="Arial"/>
                  <a:ea typeface="ＭＳ Ｐゴシック" pitchFamily="34" charset="-128"/>
                  <a:cs typeface="Arial"/>
                </a:rPr>
                <a:t> </a:t>
              </a:r>
            </a:p>
            <a:p>
              <a:pPr marL="0" indent="0">
                <a:lnSpc>
                  <a:spcPct val="100000"/>
                </a:lnSpc>
                <a:buFont typeface="Wingdings" pitchFamily="2" charset="2"/>
                <a:buNone/>
              </a:pPr>
              <a:r>
                <a:rPr lang="en-US" sz="2200" dirty="0">
                  <a:latin typeface="Arial"/>
                  <a:ea typeface="ＭＳ Ｐゴシック" pitchFamily="34" charset="-128"/>
                  <a:cs typeface="Arial"/>
                </a:rPr>
                <a:t>Determines local forwarding for this router. </a:t>
              </a:r>
              <a:endParaRPr lang="en-US" altLang="ja-JP" sz="2200" dirty="0">
                <a:latin typeface="Arial"/>
                <a:ea typeface="ＭＳ Ｐゴシック" pitchFamily="34" charset="-128"/>
                <a:cs typeface="Arial"/>
              </a:endParaRPr>
            </a:p>
            <a:p>
              <a:pPr marL="0" indent="0">
                <a:lnSpc>
                  <a:spcPct val="100000"/>
                </a:lnSpc>
                <a:buFont typeface="Wingdings" pitchFamily="2" charset="2"/>
                <a:buNone/>
              </a:pPr>
              <a:endParaRPr lang="en-US" sz="2200" dirty="0">
                <a:latin typeface="Arial"/>
                <a:ea typeface="ＭＳ Ｐゴシック" pitchFamily="34" charset="-128"/>
                <a:cs typeface="Arial"/>
              </a:endParaRPr>
            </a:p>
          </p:txBody>
        </p:sp>
        <p:cxnSp>
          <p:nvCxnSpPr>
            <p:cNvPr id="31" name="Straight Arrow Connector 30">
              <a:extLst>
                <a:ext uri="{FF2B5EF4-FFF2-40B4-BE49-F238E27FC236}">
                  <a16:creationId xmlns:a16="http://schemas.microsoft.com/office/drawing/2014/main" id="{59B38696-A548-974B-A12C-86B66C10CD87}"/>
                </a:ext>
              </a:extLst>
            </p:cNvPr>
            <p:cNvCxnSpPr>
              <a:cxnSpLocks/>
            </p:cNvCxnSpPr>
            <p:nvPr/>
          </p:nvCxnSpPr>
          <p:spPr bwMode="auto">
            <a:xfrm>
              <a:off x="1801167" y="2689014"/>
              <a:ext cx="1187533" cy="0"/>
            </a:xfrm>
            <a:prstGeom prst="straightConnector1">
              <a:avLst/>
            </a:prstGeom>
            <a:solidFill>
              <a:schemeClr val="accent1"/>
            </a:solidFill>
            <a:ln w="9525" cap="flat" cmpd="sng" algn="ctr">
              <a:solidFill>
                <a:srgbClr val="FF0000"/>
              </a:solidFill>
              <a:prstDash val="dash"/>
              <a:round/>
              <a:headEnd type="none" w="med" len="med"/>
              <a:tailEnd type="arrow"/>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2" name="Rectangle 31">
              <a:extLst>
                <a:ext uri="{FF2B5EF4-FFF2-40B4-BE49-F238E27FC236}">
                  <a16:creationId xmlns:a16="http://schemas.microsoft.com/office/drawing/2014/main" id="{3512B1AD-8FC9-2B46-A442-792177362FB7}"/>
                </a:ext>
              </a:extLst>
            </p:cNvPr>
            <p:cNvSpPr/>
            <p:nvPr/>
          </p:nvSpPr>
          <p:spPr bwMode="auto">
            <a:xfrm>
              <a:off x="2988700" y="2441563"/>
              <a:ext cx="1718777" cy="1270051"/>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grpSp>
        <p:nvGrpSpPr>
          <p:cNvPr id="33" name="Group 32">
            <a:extLst>
              <a:ext uri="{FF2B5EF4-FFF2-40B4-BE49-F238E27FC236}">
                <a16:creationId xmlns:a16="http://schemas.microsoft.com/office/drawing/2014/main" id="{ECCB1550-73B5-0948-840D-2A0CD4334CF9}"/>
              </a:ext>
            </a:extLst>
          </p:cNvPr>
          <p:cNvGrpSpPr/>
          <p:nvPr/>
        </p:nvGrpSpPr>
        <p:grpSpPr>
          <a:xfrm>
            <a:off x="3316568" y="1639717"/>
            <a:ext cx="5281167" cy="1861094"/>
            <a:chOff x="3043438" y="1639717"/>
            <a:chExt cx="5281167" cy="1861094"/>
          </a:xfrm>
        </p:grpSpPr>
        <p:sp>
          <p:nvSpPr>
            <p:cNvPr id="34" name="Rectangle 3">
              <a:extLst>
                <a:ext uri="{FF2B5EF4-FFF2-40B4-BE49-F238E27FC236}">
                  <a16:creationId xmlns:a16="http://schemas.microsoft.com/office/drawing/2014/main" id="{818B391F-D5FA-7B40-9D83-4CB67C6D53DC}"/>
                </a:ext>
              </a:extLst>
            </p:cNvPr>
            <p:cNvSpPr txBox="1">
              <a:spLocks noChangeArrowheads="1"/>
            </p:cNvSpPr>
            <p:nvPr/>
          </p:nvSpPr>
          <p:spPr bwMode="auto">
            <a:xfrm>
              <a:off x="6196355" y="1639717"/>
              <a:ext cx="2128250" cy="18610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spcBef>
                  <a:spcPct val="70000"/>
                </a:spcBef>
                <a:buClr>
                  <a:srgbClr val="000099"/>
                </a:buClr>
                <a:buSzPct val="65000"/>
                <a:buFont typeface="Wingdings" pitchFamily="2" charset="2"/>
                <a:buNone/>
              </a:pPr>
              <a:r>
                <a:rPr lang="en-US" sz="2200" i="1" dirty="0">
                  <a:solidFill>
                    <a:srgbClr val="C00000"/>
                  </a:solidFill>
                  <a:latin typeface="Arial"/>
                  <a:cs typeface="Arial"/>
                </a:rPr>
                <a:t>Routing:</a:t>
              </a:r>
              <a:r>
                <a:rPr lang="en-US" sz="2200" dirty="0">
                  <a:solidFill>
                    <a:srgbClr val="C00000"/>
                  </a:solidFill>
                  <a:latin typeface="Arial"/>
                  <a:cs typeface="Arial"/>
                </a:rPr>
                <a:t> </a:t>
              </a:r>
            </a:p>
            <a:p>
              <a:pPr>
                <a:spcBef>
                  <a:spcPts val="600"/>
                </a:spcBef>
                <a:buClr>
                  <a:srgbClr val="000099"/>
                </a:buClr>
                <a:buSzPct val="65000"/>
                <a:buFont typeface="Wingdings" pitchFamily="2" charset="2"/>
                <a:buNone/>
              </a:pPr>
              <a:r>
                <a:rPr lang="en-US" sz="2200" dirty="0">
                  <a:latin typeface="Arial"/>
                  <a:cs typeface="Arial"/>
                </a:rPr>
                <a:t>Determines end-to-end path through network</a:t>
              </a:r>
            </a:p>
            <a:p>
              <a:pPr>
                <a:spcBef>
                  <a:spcPct val="20000"/>
                </a:spcBef>
                <a:buClr>
                  <a:srgbClr val="000099"/>
                </a:buClr>
                <a:buSzPct val="65000"/>
                <a:buFont typeface="Wingdings" pitchFamily="2" charset="2"/>
                <a:buNone/>
              </a:pPr>
              <a:endParaRPr lang="en-US" sz="2200" dirty="0">
                <a:latin typeface="Arial"/>
                <a:cs typeface="Arial"/>
              </a:endParaRPr>
            </a:p>
          </p:txBody>
        </p:sp>
        <p:cxnSp>
          <p:nvCxnSpPr>
            <p:cNvPr id="35" name="Straight Arrow Connector 34">
              <a:extLst>
                <a:ext uri="{FF2B5EF4-FFF2-40B4-BE49-F238E27FC236}">
                  <a16:creationId xmlns:a16="http://schemas.microsoft.com/office/drawing/2014/main" id="{D755747B-AA81-2647-9D15-6C019243F47F}"/>
                </a:ext>
              </a:extLst>
            </p:cNvPr>
            <p:cNvCxnSpPr>
              <a:cxnSpLocks/>
            </p:cNvCxnSpPr>
            <p:nvPr/>
          </p:nvCxnSpPr>
          <p:spPr bwMode="auto">
            <a:xfrm flipH="1" flipV="1">
              <a:off x="4619896" y="2027515"/>
              <a:ext cx="1466275" cy="14419"/>
            </a:xfrm>
            <a:prstGeom prst="straightConnector1">
              <a:avLst/>
            </a:prstGeom>
            <a:solidFill>
              <a:schemeClr val="accent1"/>
            </a:solidFill>
            <a:ln w="9525" cap="flat" cmpd="sng" algn="ctr">
              <a:solidFill>
                <a:srgbClr val="FF0000"/>
              </a:solidFill>
              <a:prstDash val="dash"/>
              <a:round/>
              <a:headEnd type="none" w="med" len="med"/>
              <a:tailEnd type="arrow"/>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6" name="Oval 35">
              <a:extLst>
                <a:ext uri="{FF2B5EF4-FFF2-40B4-BE49-F238E27FC236}">
                  <a16:creationId xmlns:a16="http://schemas.microsoft.com/office/drawing/2014/main" id="{1674C53E-55EA-6344-8311-BA6F022125DF}"/>
                </a:ext>
              </a:extLst>
            </p:cNvPr>
            <p:cNvSpPr/>
            <p:nvPr/>
          </p:nvSpPr>
          <p:spPr bwMode="auto">
            <a:xfrm>
              <a:off x="3043438" y="1850332"/>
              <a:ext cx="1576458" cy="383205"/>
            </a:xfrm>
            <a:prstGeom prst="ellipse">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183198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96118878-BC14-3C4A-9D1C-866524ACF968}"/>
              </a:ext>
            </a:extLst>
          </p:cNvPr>
          <p:cNvCxnSpPr>
            <a:cxnSpLocks/>
          </p:cNvCxnSpPr>
          <p:nvPr/>
        </p:nvCxnSpPr>
        <p:spPr bwMode="auto">
          <a:xfrm>
            <a:off x="3578579" y="1035050"/>
            <a:ext cx="0" cy="5822950"/>
          </a:xfrm>
          <a:prstGeom prst="line">
            <a:avLst/>
          </a:prstGeom>
          <a:solidFill>
            <a:schemeClr val="accent1"/>
          </a:solidFill>
          <a:ln w="381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44034" name="Picture 6" descr="underline_base">
            <a:extLst>
              <a:ext uri="{FF2B5EF4-FFF2-40B4-BE49-F238E27FC236}">
                <a16:creationId xmlns:a16="http://schemas.microsoft.com/office/drawing/2014/main" id="{79E6B3AB-F5A9-164F-95EB-6083D64EC4B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25" y="1035050"/>
            <a:ext cx="7769225"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2">
            <a:extLst>
              <a:ext uri="{FF2B5EF4-FFF2-40B4-BE49-F238E27FC236}">
                <a16:creationId xmlns:a16="http://schemas.microsoft.com/office/drawing/2014/main" id="{D67132DD-BA0D-FB49-9F38-B5DC90F30462}"/>
              </a:ext>
            </a:extLst>
          </p:cNvPr>
          <p:cNvSpPr>
            <a:spLocks noGrp="1" noChangeArrowheads="1"/>
          </p:cNvSpPr>
          <p:nvPr>
            <p:ph type="title"/>
          </p:nvPr>
        </p:nvSpPr>
        <p:spPr>
          <a:xfrm>
            <a:off x="533400" y="228600"/>
            <a:ext cx="8023225" cy="1143000"/>
          </a:xfrm>
        </p:spPr>
        <p:txBody>
          <a:bodyPr/>
          <a:lstStyle/>
          <a:p>
            <a:pPr>
              <a:defRPr/>
            </a:pPr>
            <a:r>
              <a:rPr lang="en-US" sz="3600" dirty="0">
                <a:cs typeface="+mj-cs"/>
              </a:rPr>
              <a:t>Network layer: data plane, control plane</a:t>
            </a:r>
          </a:p>
        </p:txBody>
      </p:sp>
      <p:sp>
        <p:nvSpPr>
          <p:cNvPr id="44039" name="Slide Number Placeholder 5">
            <a:extLst>
              <a:ext uri="{FF2B5EF4-FFF2-40B4-BE49-F238E27FC236}">
                <a16:creationId xmlns:a16="http://schemas.microsoft.com/office/drawing/2014/main" id="{38C4A661-CC85-0945-96F0-1DBB41E54A86}"/>
              </a:ext>
            </a:extLst>
          </p:cNvPr>
          <p:cNvSpPr>
            <a:spLocks noGrp="1"/>
          </p:cNvSpPr>
          <p:nvPr>
            <p:ph type="sldNum" sz="quarter" idx="12"/>
          </p:nvPr>
        </p:nvSpPr>
        <p:spPr>
          <a:xfrm>
            <a:off x="8456613" y="6475413"/>
            <a:ext cx="458787"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42C43880-5FDB-9141-B906-774ACD058BF6}" type="slidenum">
              <a:rPr lang="en-US" altLang="en-US">
                <a:latin typeface="Tahoma" panose="020B0604030504040204" pitchFamily="34" charset="0"/>
              </a:rPr>
              <a:pPr/>
              <a:t>8</a:t>
            </a:fld>
            <a:endParaRPr lang="en-US" altLang="en-US">
              <a:latin typeface="Tahoma" panose="020B0604030504040204" pitchFamily="34" charset="0"/>
            </a:endParaRPr>
          </a:p>
        </p:txBody>
      </p:sp>
      <p:sp>
        <p:nvSpPr>
          <p:cNvPr id="44040" name="Footer Placeholder 2">
            <a:extLst>
              <a:ext uri="{FF2B5EF4-FFF2-40B4-BE49-F238E27FC236}">
                <a16:creationId xmlns:a16="http://schemas.microsoft.com/office/drawing/2014/main" id="{0B81EC1E-13E7-E948-8F25-50A33B5E7682}"/>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
        <p:nvSpPr>
          <p:cNvPr id="47" name="Rectangle 3">
            <a:extLst>
              <a:ext uri="{FF2B5EF4-FFF2-40B4-BE49-F238E27FC236}">
                <a16:creationId xmlns:a16="http://schemas.microsoft.com/office/drawing/2014/main" id="{E4CE89C4-BF5F-9A47-8B44-CB5D2AA9717E}"/>
              </a:ext>
            </a:extLst>
          </p:cNvPr>
          <p:cNvSpPr txBox="1">
            <a:spLocks noChangeArrowheads="1"/>
          </p:cNvSpPr>
          <p:nvPr/>
        </p:nvSpPr>
        <p:spPr bwMode="auto">
          <a:xfrm>
            <a:off x="351241" y="1419400"/>
            <a:ext cx="3227338"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ct val="100000"/>
              </a:lnSpc>
              <a:spcBef>
                <a:spcPts val="0"/>
              </a:spcBef>
              <a:spcAft>
                <a:spcPts val="1200"/>
              </a:spcAft>
              <a:buFont typeface="Wingdings" charset="2"/>
              <a:buNone/>
              <a:defRPr/>
            </a:pPr>
            <a:r>
              <a:rPr lang="en-US" sz="2200" kern="0" dirty="0">
                <a:solidFill>
                  <a:srgbClr val="00B0F0"/>
                </a:solidFill>
                <a:latin typeface="Arial" charset="0"/>
                <a:ea typeface="Arial" charset="0"/>
                <a:cs typeface="Arial" charset="0"/>
              </a:rPr>
              <a:t>Data plane</a:t>
            </a:r>
          </a:p>
          <a:p>
            <a:pPr>
              <a:lnSpc>
                <a:spcPct val="100000"/>
              </a:lnSpc>
              <a:spcBef>
                <a:spcPts val="0"/>
              </a:spcBef>
              <a:spcAft>
                <a:spcPts val="1200"/>
              </a:spcAft>
              <a:buClr>
                <a:srgbClr val="00B0F0"/>
              </a:buClr>
              <a:buSzPct val="100000"/>
              <a:buFont typeface="Wingdings" charset="2"/>
              <a:buChar char="§"/>
              <a:defRPr/>
            </a:pPr>
            <a:r>
              <a:rPr lang="en-US" sz="2200" b="1" kern="0" dirty="0">
                <a:latin typeface="Arial" charset="0"/>
                <a:ea typeface="Arial" charset="0"/>
                <a:cs typeface="Arial" charset="0"/>
              </a:rPr>
              <a:t>Forwarding</a:t>
            </a:r>
            <a:r>
              <a:rPr lang="en-US" sz="2200" kern="0" dirty="0">
                <a:latin typeface="Arial" charset="0"/>
                <a:ea typeface="Arial" charset="0"/>
                <a:cs typeface="Arial" charset="0"/>
              </a:rPr>
              <a:t> function: Determines how datagram arriving on router input port is forwarded to router output port.</a:t>
            </a:r>
          </a:p>
          <a:p>
            <a:pPr>
              <a:lnSpc>
                <a:spcPct val="100000"/>
              </a:lnSpc>
              <a:spcBef>
                <a:spcPts val="0"/>
              </a:spcBef>
              <a:spcAft>
                <a:spcPts val="1200"/>
              </a:spcAft>
              <a:buClr>
                <a:srgbClr val="00B0F0"/>
              </a:buClr>
              <a:buSzPct val="100000"/>
              <a:buFont typeface="Wingdings" charset="2"/>
              <a:buChar char="§"/>
              <a:defRPr/>
            </a:pPr>
            <a:r>
              <a:rPr lang="en-US" sz="2200" kern="0" dirty="0">
                <a:latin typeface="Arial" charset="0"/>
                <a:ea typeface="Arial" charset="0"/>
                <a:cs typeface="Arial" charset="0"/>
              </a:rPr>
              <a:t>Local, per-router function.</a:t>
            </a:r>
          </a:p>
          <a:p>
            <a:pPr>
              <a:lnSpc>
                <a:spcPct val="100000"/>
              </a:lnSpc>
              <a:spcBef>
                <a:spcPts val="0"/>
              </a:spcBef>
              <a:spcAft>
                <a:spcPts val="1200"/>
              </a:spcAft>
              <a:buClr>
                <a:srgbClr val="00B0F0"/>
              </a:buClr>
              <a:buSzPct val="100000"/>
              <a:buFont typeface="Wingdings" charset="2"/>
              <a:buChar char="§"/>
              <a:defRPr/>
            </a:pPr>
            <a:endParaRPr lang="en-US" sz="2200" kern="0" dirty="0">
              <a:latin typeface="Arial" charset="0"/>
              <a:ea typeface="Arial" charset="0"/>
              <a:cs typeface="Arial" charset="0"/>
            </a:endParaRPr>
          </a:p>
          <a:p>
            <a:pPr>
              <a:lnSpc>
                <a:spcPct val="100000"/>
              </a:lnSpc>
              <a:spcBef>
                <a:spcPts val="0"/>
              </a:spcBef>
              <a:spcAft>
                <a:spcPts val="1200"/>
              </a:spcAft>
              <a:buFont typeface="Wingdings" charset="0"/>
              <a:buNone/>
              <a:defRPr/>
            </a:pPr>
            <a:endParaRPr lang="en-US" sz="2200" kern="0" dirty="0">
              <a:latin typeface="Arial" charset="0"/>
              <a:ea typeface="Arial" charset="0"/>
              <a:cs typeface="Arial" charset="0"/>
            </a:endParaRPr>
          </a:p>
          <a:p>
            <a:pPr>
              <a:lnSpc>
                <a:spcPct val="100000"/>
              </a:lnSpc>
              <a:spcBef>
                <a:spcPts val="0"/>
              </a:spcBef>
              <a:spcAft>
                <a:spcPts val="1200"/>
              </a:spcAft>
              <a:buFont typeface="Wingdings" charset="0"/>
              <a:buNone/>
              <a:defRPr/>
            </a:pPr>
            <a:endParaRPr lang="en-US" sz="2200" kern="0" dirty="0">
              <a:latin typeface="Arial" charset="0"/>
              <a:ea typeface="Arial" charset="0"/>
              <a:cs typeface="Arial" charset="0"/>
            </a:endParaRPr>
          </a:p>
        </p:txBody>
      </p:sp>
      <p:sp>
        <p:nvSpPr>
          <p:cNvPr id="48" name="Rectangle 3">
            <a:extLst>
              <a:ext uri="{FF2B5EF4-FFF2-40B4-BE49-F238E27FC236}">
                <a16:creationId xmlns:a16="http://schemas.microsoft.com/office/drawing/2014/main" id="{0DB80C07-4A32-6E4C-AF8F-7CB55EEA5289}"/>
              </a:ext>
            </a:extLst>
          </p:cNvPr>
          <p:cNvSpPr txBox="1">
            <a:spLocks noChangeArrowheads="1"/>
          </p:cNvSpPr>
          <p:nvPr/>
        </p:nvSpPr>
        <p:spPr bwMode="auto">
          <a:xfrm>
            <a:off x="3883378" y="1461104"/>
            <a:ext cx="5156908" cy="2490005"/>
          </a:xfrm>
          <a:prstGeom prst="rect">
            <a:avLst/>
          </a:prstGeom>
          <a:noFill/>
          <a:ln>
            <a:noFill/>
          </a:ln>
          <a:extLst>
            <a:ext uri="{909E8E84-426E-40dd-AFC4-6F175D3DCCD1}"/>
            <a:ext uri="{91240B29-F687-4f45-9708-019B960494DF}"/>
          </a:extLst>
        </p:spPr>
        <p:txBody>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ＭＳ Ｐゴシック"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ct val="100000"/>
              </a:lnSpc>
              <a:spcBef>
                <a:spcPts val="0"/>
              </a:spcBef>
              <a:spcAft>
                <a:spcPts val="1200"/>
              </a:spcAft>
              <a:buSzPct val="65000"/>
              <a:buNone/>
              <a:defRPr/>
            </a:pPr>
            <a:r>
              <a:rPr lang="en-US" sz="2200" kern="0" dirty="0">
                <a:solidFill>
                  <a:srgbClr val="00B0F0"/>
                </a:solidFill>
                <a:latin typeface="Arial" charset="0"/>
                <a:ea typeface="Arial" charset="0"/>
                <a:cs typeface="Arial" charset="0"/>
              </a:rPr>
              <a:t>Control plane</a:t>
            </a:r>
          </a:p>
          <a:p>
            <a:pPr>
              <a:lnSpc>
                <a:spcPct val="100000"/>
              </a:lnSpc>
              <a:spcBef>
                <a:spcPts val="0"/>
              </a:spcBef>
              <a:spcAft>
                <a:spcPts val="1200"/>
              </a:spcAft>
              <a:buClr>
                <a:srgbClr val="00B0F0"/>
              </a:buClr>
              <a:defRPr/>
            </a:pPr>
            <a:r>
              <a:rPr lang="en-US" sz="2200" b="1" kern="0" dirty="0">
                <a:latin typeface="Arial" charset="0"/>
                <a:ea typeface="Arial" charset="0"/>
                <a:cs typeface="Arial" charset="0"/>
              </a:rPr>
              <a:t>Routing</a:t>
            </a:r>
            <a:r>
              <a:rPr lang="en-US" sz="2200" kern="0" dirty="0">
                <a:latin typeface="Arial" charset="0"/>
                <a:ea typeface="Arial" charset="0"/>
                <a:cs typeface="Arial" charset="0"/>
              </a:rPr>
              <a:t> function:             </a:t>
            </a:r>
            <a:r>
              <a:rPr lang="en-US" sz="2200" dirty="0">
                <a:latin typeface="Arial" charset="0"/>
                <a:ea typeface="Arial" charset="0"/>
                <a:cs typeface="Arial" charset="0"/>
              </a:rPr>
              <a:t>Determines how datagram is routed among routers along end-end path from source host to destination host.</a:t>
            </a:r>
          </a:p>
          <a:p>
            <a:pPr>
              <a:lnSpc>
                <a:spcPct val="100000"/>
              </a:lnSpc>
              <a:spcBef>
                <a:spcPts val="0"/>
              </a:spcBef>
              <a:spcAft>
                <a:spcPts val="1200"/>
              </a:spcAft>
              <a:buClr>
                <a:srgbClr val="00B0F0"/>
              </a:buClr>
              <a:defRPr/>
            </a:pPr>
            <a:r>
              <a:rPr lang="en-US" sz="2200" dirty="0">
                <a:latin typeface="Arial" charset="0"/>
                <a:ea typeface="Arial" charset="0"/>
                <a:cs typeface="Arial" charset="0"/>
              </a:rPr>
              <a:t>Network-wide logic.</a:t>
            </a:r>
          </a:p>
          <a:p>
            <a:pPr>
              <a:lnSpc>
                <a:spcPct val="100000"/>
              </a:lnSpc>
              <a:spcBef>
                <a:spcPts val="0"/>
              </a:spcBef>
              <a:spcAft>
                <a:spcPts val="1200"/>
              </a:spcAft>
              <a:buClr>
                <a:srgbClr val="00B0F0"/>
              </a:buClr>
              <a:defRPr/>
            </a:pPr>
            <a:endParaRPr lang="en-US" sz="2200" dirty="0">
              <a:latin typeface="Arial" charset="0"/>
              <a:ea typeface="Arial" charset="0"/>
              <a:cs typeface="Arial" charset="0"/>
            </a:endParaRPr>
          </a:p>
          <a:p>
            <a:pPr>
              <a:lnSpc>
                <a:spcPct val="100000"/>
              </a:lnSpc>
              <a:spcBef>
                <a:spcPts val="0"/>
              </a:spcBef>
              <a:spcAft>
                <a:spcPts val="1200"/>
              </a:spcAft>
              <a:buFont typeface="Wingdings" charset="0"/>
              <a:buNone/>
              <a:defRPr/>
            </a:pPr>
            <a:endParaRPr lang="en-US" sz="2200" dirty="0">
              <a:latin typeface="Arial" charset="0"/>
              <a:ea typeface="Arial" charset="0"/>
              <a:cs typeface="Arial" charset="0"/>
            </a:endParaRPr>
          </a:p>
        </p:txBody>
      </p:sp>
      <p:sp>
        <p:nvSpPr>
          <p:cNvPr id="49" name="Rectangle 3">
            <a:extLst>
              <a:ext uri="{FF2B5EF4-FFF2-40B4-BE49-F238E27FC236}">
                <a16:creationId xmlns:a16="http://schemas.microsoft.com/office/drawing/2014/main" id="{F465AEA5-4A5B-7544-AFF7-2A55AE5229FF}"/>
              </a:ext>
            </a:extLst>
          </p:cNvPr>
          <p:cNvSpPr txBox="1">
            <a:spLocks noChangeArrowheads="1"/>
          </p:cNvSpPr>
          <p:nvPr/>
        </p:nvSpPr>
        <p:spPr bwMode="auto">
          <a:xfrm>
            <a:off x="6115793" y="5429701"/>
            <a:ext cx="2924493" cy="1309766"/>
          </a:xfrm>
          <a:prstGeom prst="rect">
            <a:avLst/>
          </a:prstGeom>
          <a:solidFill>
            <a:schemeClr val="bg1">
              <a:lumMod val="85000"/>
            </a:schemeClr>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gn="ctr">
              <a:lnSpc>
                <a:spcPct val="100000"/>
              </a:lnSpc>
              <a:buFont typeface="Wingdings" pitchFamily="2" charset="2"/>
              <a:buNone/>
            </a:pPr>
            <a:endParaRPr lang="en-US" altLang="en-US" sz="1000" kern="0" dirty="0">
              <a:latin typeface="Arial"/>
              <a:ea typeface="ＭＳ Ｐゴシック" pitchFamily="34" charset="-128"/>
              <a:cs typeface="Arial"/>
            </a:endParaRPr>
          </a:p>
          <a:p>
            <a:pPr marL="0" indent="0" algn="ctr">
              <a:lnSpc>
                <a:spcPct val="100000"/>
              </a:lnSpc>
              <a:buFont typeface="Wingdings" pitchFamily="2" charset="2"/>
              <a:buNone/>
            </a:pPr>
            <a:r>
              <a:rPr lang="en-US" altLang="en-US" sz="1200" kern="0" dirty="0">
                <a:latin typeface="Arial"/>
                <a:ea typeface="ＭＳ Ｐゴシック" pitchFamily="34" charset="-128"/>
                <a:cs typeface="Arial"/>
              </a:rPr>
              <a:t>(Software-Defined Networking SDN) </a:t>
            </a:r>
          </a:p>
          <a:p>
            <a:pPr marL="0" indent="0" algn="ctr">
              <a:lnSpc>
                <a:spcPct val="100000"/>
              </a:lnSpc>
              <a:buFont typeface="Wingdings" pitchFamily="2" charset="2"/>
              <a:buNone/>
            </a:pPr>
            <a:r>
              <a:rPr lang="en-US" altLang="en-US" sz="1800" kern="0" dirty="0">
                <a:latin typeface="Arial"/>
                <a:ea typeface="ＭＳ Ｐゴシック" pitchFamily="34" charset="-128"/>
                <a:cs typeface="Arial"/>
              </a:rPr>
              <a:t>Implemented in server (remote)</a:t>
            </a:r>
            <a:endParaRPr lang="en-US" altLang="ja-JP" sz="1800" kern="0" dirty="0">
              <a:latin typeface="Arial"/>
              <a:ea typeface="ＭＳ Ｐゴシック" pitchFamily="34" charset="-128"/>
              <a:cs typeface="Arial"/>
            </a:endParaRPr>
          </a:p>
          <a:p>
            <a:pPr marL="0" indent="0" algn="ctr">
              <a:lnSpc>
                <a:spcPct val="100000"/>
              </a:lnSpc>
              <a:buFont typeface="Wingdings" pitchFamily="2" charset="2"/>
              <a:buNone/>
            </a:pPr>
            <a:endParaRPr lang="en-US" altLang="en-US" sz="2000" kern="0" dirty="0">
              <a:latin typeface="Arial"/>
              <a:ea typeface="ＭＳ Ｐゴシック" pitchFamily="34" charset="-128"/>
              <a:cs typeface="Arial"/>
            </a:endParaRPr>
          </a:p>
        </p:txBody>
      </p:sp>
      <p:sp>
        <p:nvSpPr>
          <p:cNvPr id="50" name="Rectangle 3">
            <a:extLst>
              <a:ext uri="{FF2B5EF4-FFF2-40B4-BE49-F238E27FC236}">
                <a16:creationId xmlns:a16="http://schemas.microsoft.com/office/drawing/2014/main" id="{C476E4B0-0CAD-964A-AFB1-EFD82525DC06}"/>
              </a:ext>
            </a:extLst>
          </p:cNvPr>
          <p:cNvSpPr txBox="1">
            <a:spLocks noChangeArrowheads="1"/>
          </p:cNvSpPr>
          <p:nvPr/>
        </p:nvSpPr>
        <p:spPr bwMode="auto">
          <a:xfrm>
            <a:off x="3882234" y="5429701"/>
            <a:ext cx="1580415" cy="1309766"/>
          </a:xfrm>
          <a:prstGeom prst="rect">
            <a:avLst/>
          </a:prstGeom>
          <a:solidFill>
            <a:schemeClr val="bg1">
              <a:lumMod val="85000"/>
            </a:schemeClr>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ct val="100000"/>
              </a:lnSpc>
              <a:buFont typeface="Wingdings" pitchFamily="2" charset="2"/>
              <a:buNone/>
            </a:pPr>
            <a:endParaRPr lang="en-US" altLang="en-US" sz="1000" kern="0" dirty="0">
              <a:latin typeface="Arial"/>
              <a:ea typeface="ＭＳ Ｐゴシック" pitchFamily="34" charset="-128"/>
              <a:cs typeface="Arial"/>
            </a:endParaRPr>
          </a:p>
          <a:p>
            <a:pPr marL="0" indent="0">
              <a:lnSpc>
                <a:spcPct val="100000"/>
              </a:lnSpc>
              <a:buFont typeface="Wingdings" pitchFamily="2" charset="2"/>
              <a:buNone/>
            </a:pPr>
            <a:endParaRPr lang="en-US" altLang="en-US" sz="1200" kern="0" dirty="0">
              <a:latin typeface="Arial"/>
              <a:ea typeface="ＭＳ Ｐゴシック" pitchFamily="34" charset="-128"/>
              <a:cs typeface="Arial"/>
            </a:endParaRPr>
          </a:p>
          <a:p>
            <a:pPr marL="0" indent="0" algn="ctr">
              <a:lnSpc>
                <a:spcPct val="100000"/>
              </a:lnSpc>
              <a:buFont typeface="Wingdings" pitchFamily="2" charset="2"/>
              <a:buNone/>
            </a:pPr>
            <a:r>
              <a:rPr lang="en-US" altLang="en-US" sz="1800" kern="0" dirty="0">
                <a:latin typeface="Arial"/>
                <a:ea typeface="ＭＳ Ｐゴシック" pitchFamily="34" charset="-128"/>
                <a:cs typeface="Arial"/>
              </a:rPr>
              <a:t>Implemented in routers.</a:t>
            </a:r>
            <a:endParaRPr lang="en-US" altLang="ja-JP" sz="1800" kern="0" dirty="0">
              <a:latin typeface="Arial"/>
              <a:ea typeface="ＭＳ Ｐゴシック" pitchFamily="34" charset="-128"/>
              <a:cs typeface="Arial"/>
            </a:endParaRPr>
          </a:p>
          <a:p>
            <a:pPr marL="0" indent="0">
              <a:lnSpc>
                <a:spcPct val="100000"/>
              </a:lnSpc>
              <a:buFont typeface="Wingdings" pitchFamily="2" charset="2"/>
              <a:buNone/>
            </a:pPr>
            <a:endParaRPr lang="en-US" altLang="en-US" sz="2000" kern="0" dirty="0">
              <a:latin typeface="Arial"/>
              <a:ea typeface="ＭＳ Ｐゴシック" pitchFamily="34" charset="-128"/>
              <a:cs typeface="Arial"/>
            </a:endParaRPr>
          </a:p>
        </p:txBody>
      </p:sp>
      <p:graphicFrame>
        <p:nvGraphicFramePr>
          <p:cNvPr id="51" name="Diagram 50">
            <a:extLst>
              <a:ext uri="{FF2B5EF4-FFF2-40B4-BE49-F238E27FC236}">
                <a16:creationId xmlns:a16="http://schemas.microsoft.com/office/drawing/2014/main" id="{93F3F021-71C8-0246-8216-133865C8B843}"/>
              </a:ext>
            </a:extLst>
          </p:cNvPr>
          <p:cNvGraphicFramePr/>
          <p:nvPr>
            <p:extLst>
              <p:ext uri="{D42A27DB-BD31-4B8C-83A1-F6EECF244321}">
                <p14:modId xmlns:p14="http://schemas.microsoft.com/office/powerpoint/2010/main" val="508670079"/>
              </p:ext>
            </p:extLst>
          </p:nvPr>
        </p:nvGraphicFramePr>
        <p:xfrm>
          <a:off x="3678683" y="3924355"/>
          <a:ext cx="3993966" cy="16454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5" name="Right Triangle 54">
            <a:extLst>
              <a:ext uri="{FF2B5EF4-FFF2-40B4-BE49-F238E27FC236}">
                <a16:creationId xmlns:a16="http://schemas.microsoft.com/office/drawing/2014/main" id="{E5937AC8-D542-4541-990A-4441355A7588}"/>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Slide Number Placeholder 4">
            <a:extLst>
              <a:ext uri="{FF2B5EF4-FFF2-40B4-BE49-F238E27FC236}">
                <a16:creationId xmlns:a16="http://schemas.microsoft.com/office/drawing/2014/main" id="{CC41D844-4BFF-004B-B364-1106DEFC8A1E}"/>
              </a:ext>
            </a:extLst>
          </p:cNvPr>
          <p:cNvSpPr txBox="1">
            <a:spLocks/>
          </p:cNvSpPr>
          <p:nvPr/>
        </p:nvSpPr>
        <p:spPr bwMode="auto">
          <a:xfrm>
            <a:off x="1878984" y="6475413"/>
            <a:ext cx="2057400" cy="2880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a:t>Network Layer: 4-</a:t>
            </a:r>
            <a:fld id="{C4204591-24BD-A542-B9D5-F8D8A88D2FEE}" type="slidenum">
              <a:rPr lang="en-US" smtClean="0"/>
              <a:pPr/>
              <a:t>8</a:t>
            </a:fld>
            <a:endParaRPr lang="en-US" dirty="0"/>
          </a:p>
        </p:txBody>
      </p:sp>
      <p:grpSp>
        <p:nvGrpSpPr>
          <p:cNvPr id="2" name="Group 8">
            <a:extLst>
              <a:ext uri="{FF2B5EF4-FFF2-40B4-BE49-F238E27FC236}">
                <a16:creationId xmlns:a16="http://schemas.microsoft.com/office/drawing/2014/main" id="{BE1B6AF6-124E-59FD-05A9-E9368A157426}"/>
              </a:ext>
            </a:extLst>
          </p:cNvPr>
          <p:cNvGrpSpPr>
            <a:grpSpLocks/>
          </p:cNvGrpSpPr>
          <p:nvPr/>
        </p:nvGrpSpPr>
        <p:grpSpPr bwMode="auto">
          <a:xfrm>
            <a:off x="238921" y="4807253"/>
            <a:ext cx="3643313" cy="1582738"/>
            <a:chOff x="842050" y="4767952"/>
            <a:chExt cx="3644169" cy="1582996"/>
          </a:xfrm>
        </p:grpSpPr>
        <p:sp>
          <p:nvSpPr>
            <p:cNvPr id="3" name="Freeform 2">
              <a:extLst>
                <a:ext uri="{FF2B5EF4-FFF2-40B4-BE49-F238E27FC236}">
                  <a16:creationId xmlns:a16="http://schemas.microsoft.com/office/drawing/2014/main" id="{2761EF2B-FD9C-D11A-C10F-C0BCE888BF43}"/>
                </a:ext>
              </a:extLst>
            </p:cNvPr>
            <p:cNvSpPr>
              <a:spLocks/>
            </p:cNvSpPr>
            <p:nvPr/>
          </p:nvSpPr>
          <p:spPr bwMode="auto">
            <a:xfrm>
              <a:off x="2591886" y="5436399"/>
              <a:ext cx="1894333" cy="914549"/>
            </a:xfrm>
            <a:custGeom>
              <a:avLst/>
              <a:gdLst>
                <a:gd name="T0" fmla="*/ 1611 w 10001"/>
                <a:gd name="T1" fmla="*/ 374679 h 10125"/>
                <a:gd name="T2" fmla="*/ 287991 w 10001"/>
                <a:gd name="T3" fmla="*/ 147961 h 10125"/>
                <a:gd name="T4" fmla="*/ 1260716 w 10001"/>
                <a:gd name="T5" fmla="*/ 93322 h 10125"/>
                <a:gd name="T6" fmla="*/ 2011909 w 10001"/>
                <a:gd name="T7" fmla="*/ 0 h 10125"/>
                <a:gd name="T8" fmla="*/ 2706712 w 10001"/>
                <a:gd name="T9" fmla="*/ 93600 h 10125"/>
                <a:gd name="T10" fmla="*/ 3255305 w 10001"/>
                <a:gd name="T11" fmla="*/ 46104 h 10125"/>
                <a:gd name="T12" fmla="*/ 4023415 w 10001"/>
                <a:gd name="T13" fmla="*/ 277276 h 10125"/>
                <a:gd name="T14" fmla="*/ 3463544 w 10001"/>
                <a:gd name="T15" fmla="*/ 630526 h 10125"/>
                <a:gd name="T16" fmla="*/ 2817478 w 10001"/>
                <a:gd name="T17" fmla="*/ 864758 h 10125"/>
                <a:gd name="T18" fmla="*/ 2137577 w 10001"/>
                <a:gd name="T19" fmla="*/ 820324 h 10125"/>
                <a:gd name="T20" fmla="*/ 1760571 w 10001"/>
                <a:gd name="T21" fmla="*/ 919490 h 10125"/>
                <a:gd name="T22" fmla="*/ 1264743 w 10001"/>
                <a:gd name="T23" fmla="*/ 929416 h 10125"/>
                <a:gd name="T24" fmla="*/ 877667 w 10001"/>
                <a:gd name="T25" fmla="*/ 732382 h 10125"/>
                <a:gd name="T26" fmla="*/ 478105 w 10001"/>
                <a:gd name="T27" fmla="*/ 695276 h 10125"/>
                <a:gd name="T28" fmla="*/ 1611 w 10001"/>
                <a:gd name="T29" fmla="*/ 374679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flip="none" rotWithShape="1">
              <a:gsLst>
                <a:gs pos="0">
                  <a:srgbClr val="66CCFF"/>
                </a:gs>
                <a:gs pos="100000">
                  <a:srgbClr val="FFFFFF"/>
                </a:gs>
                <a:gs pos="50000">
                  <a:srgbClr val="FFFFFF"/>
                </a:gs>
              </a:gsLst>
              <a:lin ang="0" scaled="1"/>
              <a:tileRect/>
            </a:gra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ＭＳ Ｐゴシック" charset="0"/>
              </a:endParaRPr>
            </a:p>
          </p:txBody>
        </p:sp>
        <p:cxnSp>
          <p:nvCxnSpPr>
            <p:cNvPr id="4" name="Straight Connector 3">
              <a:extLst>
                <a:ext uri="{FF2B5EF4-FFF2-40B4-BE49-F238E27FC236}">
                  <a16:creationId xmlns:a16="http://schemas.microsoft.com/office/drawing/2014/main" id="{60610225-B628-3187-A155-598F16AEE139}"/>
                </a:ext>
              </a:extLst>
            </p:cNvPr>
            <p:cNvCxnSpPr/>
            <p:nvPr/>
          </p:nvCxnSpPr>
          <p:spPr>
            <a:xfrm flipV="1">
              <a:off x="3261968" y="5558656"/>
              <a:ext cx="500180" cy="157189"/>
            </a:xfrm>
            <a:prstGeom prst="line">
              <a:avLst/>
            </a:prstGeom>
            <a:noFill/>
            <a:ln w="12700" cap="flat" cmpd="sng" algn="ctr">
              <a:solidFill>
                <a:srgbClr val="000000"/>
              </a:solidFill>
              <a:prstDash val="solid"/>
            </a:ln>
            <a:effectLst/>
          </p:spPr>
        </p:cxnSp>
        <p:cxnSp>
          <p:nvCxnSpPr>
            <p:cNvPr id="5" name="Straight Connector 4">
              <a:extLst>
                <a:ext uri="{FF2B5EF4-FFF2-40B4-BE49-F238E27FC236}">
                  <a16:creationId xmlns:a16="http://schemas.microsoft.com/office/drawing/2014/main" id="{135056AE-0062-66F0-E9AC-D7BAFE54BAC4}"/>
                </a:ext>
              </a:extLst>
            </p:cNvPr>
            <p:cNvCxnSpPr/>
            <p:nvPr/>
          </p:nvCxnSpPr>
          <p:spPr>
            <a:xfrm>
              <a:off x="3111121" y="5774591"/>
              <a:ext cx="862215" cy="104792"/>
            </a:xfrm>
            <a:prstGeom prst="line">
              <a:avLst/>
            </a:prstGeom>
            <a:noFill/>
            <a:ln w="12700" cap="flat" cmpd="sng" algn="ctr">
              <a:solidFill>
                <a:srgbClr val="000000"/>
              </a:solidFill>
              <a:prstDash val="solid"/>
            </a:ln>
            <a:effectLst/>
          </p:spPr>
        </p:cxnSp>
        <p:cxnSp>
          <p:nvCxnSpPr>
            <p:cNvPr id="6" name="Straight Connector 5">
              <a:extLst>
                <a:ext uri="{FF2B5EF4-FFF2-40B4-BE49-F238E27FC236}">
                  <a16:creationId xmlns:a16="http://schemas.microsoft.com/office/drawing/2014/main" id="{A2E531F3-1E0B-29E9-D437-F76CE6C78BBC}"/>
                </a:ext>
              </a:extLst>
            </p:cNvPr>
            <p:cNvCxnSpPr/>
            <p:nvPr/>
          </p:nvCxnSpPr>
          <p:spPr>
            <a:xfrm>
              <a:off x="3123824" y="5880971"/>
              <a:ext cx="714543" cy="274682"/>
            </a:xfrm>
            <a:prstGeom prst="line">
              <a:avLst/>
            </a:prstGeom>
            <a:noFill/>
            <a:ln w="12700" cap="flat" cmpd="sng" algn="ctr">
              <a:solidFill>
                <a:srgbClr val="000000"/>
              </a:solidFill>
              <a:prstDash val="solid"/>
            </a:ln>
            <a:effectLst/>
          </p:spPr>
        </p:cxnSp>
        <p:cxnSp>
          <p:nvCxnSpPr>
            <p:cNvPr id="7" name="Straight Connector 6">
              <a:extLst>
                <a:ext uri="{FF2B5EF4-FFF2-40B4-BE49-F238E27FC236}">
                  <a16:creationId xmlns:a16="http://schemas.microsoft.com/office/drawing/2014/main" id="{DDD46F4A-C796-8096-6E7D-6301D8D57624}"/>
                </a:ext>
              </a:extLst>
            </p:cNvPr>
            <p:cNvCxnSpPr/>
            <p:nvPr/>
          </p:nvCxnSpPr>
          <p:spPr>
            <a:xfrm flipH="1">
              <a:off x="1283479" y="5801583"/>
              <a:ext cx="1506892" cy="1587"/>
            </a:xfrm>
            <a:prstGeom prst="line">
              <a:avLst/>
            </a:prstGeom>
            <a:noFill/>
            <a:ln w="9525" cap="flat" cmpd="sng" algn="ctr">
              <a:solidFill>
                <a:srgbClr val="000000"/>
              </a:solidFill>
              <a:prstDash val="solid"/>
            </a:ln>
            <a:effectLst/>
          </p:spPr>
        </p:cxnSp>
        <p:sp>
          <p:nvSpPr>
            <p:cNvPr id="8" name="TextBox 265">
              <a:extLst>
                <a:ext uri="{FF2B5EF4-FFF2-40B4-BE49-F238E27FC236}">
                  <a16:creationId xmlns:a16="http://schemas.microsoft.com/office/drawing/2014/main" id="{C5E04351-FBA9-EFBE-D634-25D00F261283}"/>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9" name="TextBox 281">
              <a:extLst>
                <a:ext uri="{FF2B5EF4-FFF2-40B4-BE49-F238E27FC236}">
                  <a16:creationId xmlns:a16="http://schemas.microsoft.com/office/drawing/2014/main" id="{1F3397BF-C46C-E802-F42B-606B53DA44BE}"/>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10" name="TextBox 282">
              <a:extLst>
                <a:ext uri="{FF2B5EF4-FFF2-40B4-BE49-F238E27FC236}">
                  <a16:creationId xmlns:a16="http://schemas.microsoft.com/office/drawing/2014/main" id="{E42EC77E-E3CF-B0B4-701A-8BD72B92E3DF}"/>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nvGrpSpPr>
            <p:cNvPr id="11" name="Group 5">
              <a:extLst>
                <a:ext uri="{FF2B5EF4-FFF2-40B4-BE49-F238E27FC236}">
                  <a16:creationId xmlns:a16="http://schemas.microsoft.com/office/drawing/2014/main" id="{FA5042CB-EE29-C310-5289-BD6D73F6E53E}"/>
                </a:ext>
              </a:extLst>
            </p:cNvPr>
            <p:cNvGrpSpPr>
              <a:grpSpLocks/>
            </p:cNvGrpSpPr>
            <p:nvPr/>
          </p:nvGrpSpPr>
          <p:grpSpPr bwMode="auto">
            <a:xfrm>
              <a:off x="938213" y="5237163"/>
              <a:ext cx="1616075" cy="487362"/>
              <a:chOff x="-4079003" y="2717403"/>
              <a:chExt cx="1616718" cy="488475"/>
            </a:xfrm>
          </p:grpSpPr>
          <p:sp>
            <p:nvSpPr>
              <p:cNvPr id="25" name="Rectangle 97">
                <a:extLst>
                  <a:ext uri="{FF2B5EF4-FFF2-40B4-BE49-F238E27FC236}">
                    <a16:creationId xmlns:a16="http://schemas.microsoft.com/office/drawing/2014/main" id="{27B0C3E0-0461-7F5C-4BDB-5271CFA7B50D}"/>
                  </a:ext>
                </a:extLst>
              </p:cNvPr>
              <p:cNvSpPr>
                <a:spLocks noChangeArrowheads="1"/>
              </p:cNvSpPr>
              <p:nvPr/>
            </p:nvSpPr>
            <p:spPr bwMode="auto">
              <a:xfrm>
                <a:off x="-4052413" y="2965119"/>
                <a:ext cx="1290538" cy="2087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 name="Rectangle 98">
                <a:extLst>
                  <a:ext uri="{FF2B5EF4-FFF2-40B4-BE49-F238E27FC236}">
                    <a16:creationId xmlns:a16="http://schemas.microsoft.com/office/drawing/2014/main" id="{7963B955-3F7A-4EB0-0F38-F312C02DEF6F}"/>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 name="Line 99">
                <a:extLst>
                  <a:ext uri="{FF2B5EF4-FFF2-40B4-BE49-F238E27FC236}">
                    <a16:creationId xmlns:a16="http://schemas.microsoft.com/office/drawing/2014/main" id="{731907F1-B47C-B858-1FD0-AF6C45B797CE}"/>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 name="Rectangle 104">
                <a:extLst>
                  <a:ext uri="{FF2B5EF4-FFF2-40B4-BE49-F238E27FC236}">
                    <a16:creationId xmlns:a16="http://schemas.microsoft.com/office/drawing/2014/main" id="{B8EFC7CD-DD8C-2BDD-EAD4-4900EB743141}"/>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 name="Text Box 105">
                <a:extLst>
                  <a:ext uri="{FF2B5EF4-FFF2-40B4-BE49-F238E27FC236}">
                    <a16:creationId xmlns:a16="http://schemas.microsoft.com/office/drawing/2014/main" id="{C0C4EB16-7CB9-F3AF-E414-609DB1308A4F}"/>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30" name="Line 119">
                <a:extLst>
                  <a:ext uri="{FF2B5EF4-FFF2-40B4-BE49-F238E27FC236}">
                    <a16:creationId xmlns:a16="http://schemas.microsoft.com/office/drawing/2014/main" id="{2E219D65-4570-8526-33AA-4EC68FF77853}"/>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2" name="TextBox 6">
              <a:extLst>
                <a:ext uri="{FF2B5EF4-FFF2-40B4-BE49-F238E27FC236}">
                  <a16:creationId xmlns:a16="http://schemas.microsoft.com/office/drawing/2014/main" id="{0331C3CF-B3F5-8F3F-2F8A-CA99B785B267}"/>
                </a:ext>
              </a:extLst>
            </p:cNvPr>
            <p:cNvSpPr txBox="1">
              <a:spLocks noChangeArrowheads="1"/>
            </p:cNvSpPr>
            <p:nvPr/>
          </p:nvSpPr>
          <p:spPr bwMode="auto">
            <a:xfrm>
              <a:off x="842050" y="4767952"/>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4" name="Group 357">
              <a:extLst>
                <a:ext uri="{FF2B5EF4-FFF2-40B4-BE49-F238E27FC236}">
                  <a16:creationId xmlns:a16="http://schemas.microsoft.com/office/drawing/2014/main" id="{A3312BA3-651F-DA5B-F2B4-FF7B7CAE1600}"/>
                </a:ext>
              </a:extLst>
            </p:cNvPr>
            <p:cNvGrpSpPr>
              <a:grpSpLocks/>
            </p:cNvGrpSpPr>
            <p:nvPr/>
          </p:nvGrpSpPr>
          <p:grpSpPr bwMode="auto">
            <a:xfrm>
              <a:off x="2714625" y="5659438"/>
              <a:ext cx="565150" cy="293687"/>
              <a:chOff x="1871277" y="1576300"/>
              <a:chExt cx="1128371" cy="437861"/>
            </a:xfrm>
          </p:grpSpPr>
          <p:sp>
            <p:nvSpPr>
              <p:cNvPr id="16" name="Oval 15">
                <a:extLst>
                  <a:ext uri="{FF2B5EF4-FFF2-40B4-BE49-F238E27FC236}">
                    <a16:creationId xmlns:a16="http://schemas.microsoft.com/office/drawing/2014/main" id="{E7AEBE2F-0588-FDAF-AD67-82CD22676194}"/>
                  </a:ext>
                </a:extLst>
              </p:cNvPr>
              <p:cNvSpPr>
                <a:spLocks noChangeArrowheads="1"/>
              </p:cNvSpPr>
              <p:nvPr/>
            </p:nvSpPr>
            <p:spPr bwMode="auto">
              <a:xfrm flipV="1">
                <a:off x="1873504" y="1693538"/>
                <a:ext cx="1125467" cy="319572"/>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7" name="Rectangle 16">
                <a:extLst>
                  <a:ext uri="{FF2B5EF4-FFF2-40B4-BE49-F238E27FC236}">
                    <a16:creationId xmlns:a16="http://schemas.microsoft.com/office/drawing/2014/main" id="{35892DBF-BA1A-4D37-CCAE-FDE1AB46051B}"/>
                  </a:ext>
                </a:extLst>
              </p:cNvPr>
              <p:cNvSpPr/>
              <p:nvPr/>
            </p:nvSpPr>
            <p:spPr bwMode="auto">
              <a:xfrm>
                <a:off x="1870334" y="1738514"/>
                <a:ext cx="1128637" cy="11599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8" name="Oval 17">
                <a:extLst>
                  <a:ext uri="{FF2B5EF4-FFF2-40B4-BE49-F238E27FC236}">
                    <a16:creationId xmlns:a16="http://schemas.microsoft.com/office/drawing/2014/main" id="{6DD925FE-6197-8830-D36E-9781905AD725}"/>
                  </a:ext>
                </a:extLst>
              </p:cNvPr>
              <p:cNvSpPr>
                <a:spLocks noChangeArrowheads="1"/>
              </p:cNvSpPr>
              <p:nvPr/>
            </p:nvSpPr>
            <p:spPr bwMode="auto">
              <a:xfrm flipV="1">
                <a:off x="1870334" y="1575177"/>
                <a:ext cx="1125465" cy="31957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9" name="Freeform 49">
                <a:extLst>
                  <a:ext uri="{FF2B5EF4-FFF2-40B4-BE49-F238E27FC236}">
                    <a16:creationId xmlns:a16="http://schemas.microsoft.com/office/drawing/2014/main" id="{9D03A6B6-0805-E70C-942A-68C2A48A9105}"/>
                  </a:ext>
                </a:extLst>
              </p:cNvPr>
              <p:cNvSpPr/>
              <p:nvPr/>
            </p:nvSpPr>
            <p:spPr bwMode="auto">
              <a:xfrm>
                <a:off x="2158833" y="1672232"/>
                <a:ext cx="548468" cy="1609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0" name="Freeform 50">
                <a:extLst>
                  <a:ext uri="{FF2B5EF4-FFF2-40B4-BE49-F238E27FC236}">
                    <a16:creationId xmlns:a16="http://schemas.microsoft.com/office/drawing/2014/main" id="{05BE2ACF-9EA0-0190-1625-F7B249A0BC2E}"/>
                  </a:ext>
                </a:extLst>
              </p:cNvPr>
              <p:cNvSpPr>
                <a:spLocks/>
              </p:cNvSpPr>
              <p:nvPr/>
            </p:nvSpPr>
            <p:spPr bwMode="auto">
              <a:xfrm>
                <a:off x="2101767" y="1631990"/>
                <a:ext cx="662599" cy="111258"/>
              </a:xfrm>
              <a:custGeom>
                <a:avLst/>
                <a:gdLst>
                  <a:gd name="T0" fmla="*/ 0 w 3723451"/>
                  <a:gd name="T1" fmla="*/ 27219 h 932950"/>
                  <a:gd name="T2" fmla="*/ 116589 w 3723451"/>
                  <a:gd name="T3" fmla="*/ 321 h 932950"/>
                  <a:gd name="T4" fmla="*/ 330241 w 3723451"/>
                  <a:gd name="T5" fmla="*/ 62079 h 932950"/>
                  <a:gd name="T6" fmla="*/ 534068 w 3723451"/>
                  <a:gd name="T7" fmla="*/ 0 h 932950"/>
                  <a:gd name="T8" fmla="*/ 662599 w 3723451"/>
                  <a:gd name="T9" fmla="*/ 24703 h 932950"/>
                  <a:gd name="T10" fmla="*/ 566972 w 3723451"/>
                  <a:gd name="T11" fmla="*/ 55080 h 932950"/>
                  <a:gd name="T12" fmla="*/ 536184 w 3723451"/>
                  <a:gd name="T13" fmla="*/ 46891 h 932950"/>
                  <a:gd name="T14" fmla="*/ 333995 w 3723451"/>
                  <a:gd name="T15" fmla="*/ 111258 h 932950"/>
                  <a:gd name="T16" fmla="*/ 126634 w 3723451"/>
                  <a:gd name="T17" fmla="*/ 49258 h 932950"/>
                  <a:gd name="T18" fmla="*/ 93107 w 3723451"/>
                  <a:gd name="T19" fmla="*/ 55950 h 932950"/>
                  <a:gd name="T20" fmla="*/ 0 w 3723451"/>
                  <a:gd name="T21" fmla="*/ 27219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 name="Freeform 51">
                <a:extLst>
                  <a:ext uri="{FF2B5EF4-FFF2-40B4-BE49-F238E27FC236}">
                    <a16:creationId xmlns:a16="http://schemas.microsoft.com/office/drawing/2014/main" id="{A000F516-EC59-A8DC-DD6C-4FD0262D14B5}"/>
                  </a:ext>
                </a:extLst>
              </p:cNvPr>
              <p:cNvSpPr>
                <a:spLocks/>
              </p:cNvSpPr>
              <p:nvPr/>
            </p:nvSpPr>
            <p:spPr bwMode="auto">
              <a:xfrm>
                <a:off x="2536103" y="1726678"/>
                <a:ext cx="244114" cy="97055"/>
              </a:xfrm>
              <a:custGeom>
                <a:avLst/>
                <a:gdLst>
                  <a:gd name="T0" fmla="*/ 0 w 1366596"/>
                  <a:gd name="T1" fmla="*/ 0 h 809868"/>
                  <a:gd name="T2" fmla="*/ 244114 w 1366596"/>
                  <a:gd name="T3" fmla="*/ 74997 h 809868"/>
                  <a:gd name="T4" fmla="*/ 154523 w 1366596"/>
                  <a:gd name="T5" fmla="*/ 97055 h 809868"/>
                  <a:gd name="T6" fmla="*/ 822 w 1366596"/>
                  <a:gd name="T7" fmla="*/ 5128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 name="Freeform 52">
                <a:extLst>
                  <a:ext uri="{FF2B5EF4-FFF2-40B4-BE49-F238E27FC236}">
                    <a16:creationId xmlns:a16="http://schemas.microsoft.com/office/drawing/2014/main" id="{0A92653B-4A76-FD5F-7CC4-D26714A55AA8}"/>
                  </a:ext>
                </a:extLst>
              </p:cNvPr>
              <p:cNvSpPr>
                <a:spLocks/>
              </p:cNvSpPr>
              <p:nvPr/>
            </p:nvSpPr>
            <p:spPr bwMode="auto">
              <a:xfrm>
                <a:off x="2089086" y="1729045"/>
                <a:ext cx="240945" cy="97056"/>
              </a:xfrm>
              <a:custGeom>
                <a:avLst/>
                <a:gdLst>
                  <a:gd name="T0" fmla="*/ 237656 w 1348191"/>
                  <a:gd name="T1" fmla="*/ 0 h 791462"/>
                  <a:gd name="T2" fmla="*/ 240945 w 1348191"/>
                  <a:gd name="T3" fmla="*/ 46835 h 791462"/>
                  <a:gd name="T4" fmla="*/ 87168 w 1348191"/>
                  <a:gd name="T5" fmla="*/ 97056 h 791462"/>
                  <a:gd name="T6" fmla="*/ 0 w 1348191"/>
                  <a:gd name="T7" fmla="*/ 75049 h 791462"/>
                  <a:gd name="T8" fmla="*/ 237656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3" name="Straight Connector 22">
                <a:extLst>
                  <a:ext uri="{FF2B5EF4-FFF2-40B4-BE49-F238E27FC236}">
                    <a16:creationId xmlns:a16="http://schemas.microsoft.com/office/drawing/2014/main" id="{B9F28CE6-8E82-A5C4-CC9E-4C54794EFFEA}"/>
                  </a:ext>
                </a:extLst>
              </p:cNvPr>
              <p:cNvCxnSpPr>
                <a:cxnSpLocks noChangeShapeType="1"/>
                <a:endCxn id="18" idx="2"/>
              </p:cNvCxnSpPr>
              <p:nvPr/>
            </p:nvCxnSpPr>
            <p:spPr bwMode="auto">
              <a:xfrm flipH="1" flipV="1">
                <a:off x="1870334" y="1736147"/>
                <a:ext cx="3169"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4" name="Straight Connector 23">
                <a:extLst>
                  <a:ext uri="{FF2B5EF4-FFF2-40B4-BE49-F238E27FC236}">
                    <a16:creationId xmlns:a16="http://schemas.microsoft.com/office/drawing/2014/main" id="{0DE0A194-0EB9-66CF-31F1-37BBE1786968}"/>
                  </a:ext>
                </a:extLst>
              </p:cNvPr>
              <p:cNvCxnSpPr>
                <a:cxnSpLocks noChangeShapeType="1"/>
              </p:cNvCxnSpPr>
              <p:nvPr/>
            </p:nvCxnSpPr>
            <p:spPr bwMode="auto">
              <a:xfrm flipH="1" flipV="1">
                <a:off x="2995800" y="1733779"/>
                <a:ext cx="3171"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5" name="Freeform 120">
              <a:extLst>
                <a:ext uri="{FF2B5EF4-FFF2-40B4-BE49-F238E27FC236}">
                  <a16:creationId xmlns:a16="http://schemas.microsoft.com/office/drawing/2014/main" id="{98871AC2-EABE-9CCE-C39A-4C1251A7E456}"/>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2" presetClass="entr" presetSubtype="1" fill="hold" grpId="0" nodeType="clickEffect">
                                  <p:stCondLst>
                                    <p:cond delay="0"/>
                                  </p:stCondLst>
                                  <p:childTnLst>
                                    <p:set>
                                      <p:cBhvr>
                                        <p:cTn id="15" dur="1" fill="hold">
                                          <p:stCondLst>
                                            <p:cond delay="0"/>
                                          </p:stCondLst>
                                        </p:cTn>
                                        <p:tgtEl>
                                          <p:spTgt spid="50"/>
                                        </p:tgtEl>
                                        <p:attrNameLst>
                                          <p:attrName>style.visibility</p:attrName>
                                        </p:attrNameLst>
                                      </p:cBhvr>
                                      <p:to>
                                        <p:strVal val="visible"/>
                                      </p:to>
                                    </p:set>
                                    <p:anim calcmode="lin" valueType="num">
                                      <p:cBhvr additive="base">
                                        <p:cTn id="16" dur="500"/>
                                        <p:tgtEl>
                                          <p:spTgt spid="50"/>
                                        </p:tgtEl>
                                        <p:attrNameLst>
                                          <p:attrName>ppt_y</p:attrName>
                                        </p:attrNameLst>
                                      </p:cBhvr>
                                      <p:tavLst>
                                        <p:tav tm="0">
                                          <p:val>
                                            <p:strVal val="#ppt_y-#ppt_h*1.125000"/>
                                          </p:val>
                                        </p:tav>
                                        <p:tav tm="100000">
                                          <p:val>
                                            <p:strVal val="#ppt_y"/>
                                          </p:val>
                                        </p:tav>
                                      </p:tavLst>
                                    </p:anim>
                                    <p:animEffect transition="in" filter="wipe(down)">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cBhvr additive="base">
                                        <p:cTn id="22" dur="500"/>
                                        <p:tgtEl>
                                          <p:spTgt spid="49"/>
                                        </p:tgtEl>
                                        <p:attrNameLst>
                                          <p:attrName>ppt_y</p:attrName>
                                        </p:attrNameLst>
                                      </p:cBhvr>
                                      <p:tavLst>
                                        <p:tav tm="0">
                                          <p:val>
                                            <p:strVal val="#ppt_y-#ppt_h*1.125000"/>
                                          </p:val>
                                        </p:tav>
                                        <p:tav tm="100000">
                                          <p:val>
                                            <p:strVal val="#ppt_y"/>
                                          </p:val>
                                        </p:tav>
                                      </p:tavLst>
                                    </p:anim>
                                    <p:animEffect transition="in" filter="wipe(down)">
                                      <p:cBhvr>
                                        <p:cTn id="2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animBg="1"/>
      <p:bldP spid="50" grpId="0" animBg="1"/>
      <p:bldGraphic spid="51"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8" name="Group 243"/>
          <p:cNvGrpSpPr>
            <a:grpSpLocks/>
          </p:cNvGrpSpPr>
          <p:nvPr/>
        </p:nvGrpSpPr>
        <p:grpSpPr bwMode="auto">
          <a:xfrm>
            <a:off x="3851275" y="4275138"/>
            <a:ext cx="2847975" cy="1481137"/>
            <a:chOff x="291" y="3093"/>
            <a:chExt cx="1794" cy="933"/>
          </a:xfrm>
        </p:grpSpPr>
        <p:grpSp>
          <p:nvGrpSpPr>
            <p:cNvPr id="16465" name="Group 242"/>
            <p:cNvGrpSpPr>
              <a:grpSpLocks/>
            </p:cNvGrpSpPr>
            <p:nvPr/>
          </p:nvGrpSpPr>
          <p:grpSpPr bwMode="auto">
            <a:xfrm>
              <a:off x="291" y="3093"/>
              <a:ext cx="1794" cy="933"/>
              <a:chOff x="2124" y="2903"/>
              <a:chExt cx="1794" cy="933"/>
            </a:xfrm>
          </p:grpSpPr>
          <p:sp>
            <p:nvSpPr>
              <p:cNvPr id="16469" name="Freeform 179"/>
              <p:cNvSpPr>
                <a:spLocks/>
              </p:cNvSpPr>
              <p:nvPr/>
            </p:nvSpPr>
            <p:spPr bwMode="auto">
              <a:xfrm>
                <a:off x="2124" y="2903"/>
                <a:ext cx="1794" cy="933"/>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nvGrpSpPr>
              <p:cNvPr id="16470" name="Group 180"/>
              <p:cNvGrpSpPr>
                <a:grpSpLocks/>
              </p:cNvGrpSpPr>
              <p:nvPr/>
            </p:nvGrpSpPr>
            <p:grpSpPr bwMode="auto">
              <a:xfrm>
                <a:off x="2196" y="3160"/>
                <a:ext cx="1642" cy="415"/>
                <a:chOff x="959" y="3814"/>
                <a:chExt cx="1642" cy="415"/>
              </a:xfrm>
            </p:grpSpPr>
            <p:grpSp>
              <p:nvGrpSpPr>
                <p:cNvPr id="16505" name="Group 181"/>
                <p:cNvGrpSpPr>
                  <a:grpSpLocks/>
                </p:cNvGrpSpPr>
                <p:nvPr/>
              </p:nvGrpSpPr>
              <p:grpSpPr bwMode="auto">
                <a:xfrm>
                  <a:off x="2223" y="3814"/>
                  <a:ext cx="378" cy="181"/>
                  <a:chOff x="4396" y="1245"/>
                  <a:chExt cx="672" cy="248"/>
                </a:xfrm>
              </p:grpSpPr>
              <p:sp>
                <p:nvSpPr>
                  <p:cNvPr id="16524"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sp>
                <p:nvSpPr>
                  <p:cNvPr id="16525"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a:endParaRPr lang="en-US" altLang="en-US" sz="2400">
                      <a:latin typeface="Times New Roman" pitchFamily="18" charset="0"/>
                      <a:cs typeface="Arial" charset="0"/>
                    </a:endParaRPr>
                  </a:p>
                </p:txBody>
              </p:sp>
              <p:sp>
                <p:nvSpPr>
                  <p:cNvPr id="16526"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grpSp>
                <p:nvGrpSpPr>
                  <p:cNvPr id="16527" name="Group 185"/>
                  <p:cNvGrpSpPr>
                    <a:grpSpLocks/>
                  </p:cNvGrpSpPr>
                  <p:nvPr/>
                </p:nvGrpSpPr>
                <p:grpSpPr bwMode="auto">
                  <a:xfrm>
                    <a:off x="4530" y="1287"/>
                    <a:ext cx="377" cy="75"/>
                    <a:chOff x="2468" y="1332"/>
                    <a:chExt cx="310" cy="60"/>
                  </a:xfrm>
                </p:grpSpPr>
                <p:sp>
                  <p:nvSpPr>
                    <p:cNvPr id="16530" name="Freeform 18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531" name="Freeform 18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sp>
                <p:nvSpPr>
                  <p:cNvPr id="16528" name="Line 188"/>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29" name="Line 189"/>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506" name="Group 190"/>
                <p:cNvGrpSpPr>
                  <a:grpSpLocks/>
                </p:cNvGrpSpPr>
                <p:nvPr/>
              </p:nvGrpSpPr>
              <p:grpSpPr bwMode="auto">
                <a:xfrm>
                  <a:off x="1559" y="4048"/>
                  <a:ext cx="378" cy="181"/>
                  <a:chOff x="4396" y="1245"/>
                  <a:chExt cx="672" cy="248"/>
                </a:xfrm>
              </p:grpSpPr>
              <p:sp>
                <p:nvSpPr>
                  <p:cNvPr id="16516"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sp>
                <p:nvSpPr>
                  <p:cNvPr id="16517"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a:endParaRPr lang="en-US" altLang="en-US" sz="2400">
                      <a:latin typeface="Times New Roman" pitchFamily="18" charset="0"/>
                      <a:cs typeface="Arial" charset="0"/>
                    </a:endParaRPr>
                  </a:p>
                </p:txBody>
              </p:sp>
              <p:sp>
                <p:nvSpPr>
                  <p:cNvPr id="16518"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grpSp>
                <p:nvGrpSpPr>
                  <p:cNvPr id="16519" name="Group 194"/>
                  <p:cNvGrpSpPr>
                    <a:grpSpLocks/>
                  </p:cNvGrpSpPr>
                  <p:nvPr/>
                </p:nvGrpSpPr>
                <p:grpSpPr bwMode="auto">
                  <a:xfrm>
                    <a:off x="4530" y="1287"/>
                    <a:ext cx="377" cy="75"/>
                    <a:chOff x="2468" y="1332"/>
                    <a:chExt cx="310" cy="60"/>
                  </a:xfrm>
                </p:grpSpPr>
                <p:sp>
                  <p:nvSpPr>
                    <p:cNvPr id="16522" name="Freeform 19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523" name="Freeform 19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sp>
                <p:nvSpPr>
                  <p:cNvPr id="16520" name="Line 197"/>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21" name="Line 198"/>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507" name="Group 199"/>
                <p:cNvGrpSpPr>
                  <a:grpSpLocks/>
                </p:cNvGrpSpPr>
                <p:nvPr/>
              </p:nvGrpSpPr>
              <p:grpSpPr bwMode="auto">
                <a:xfrm>
                  <a:off x="959" y="3816"/>
                  <a:ext cx="378" cy="181"/>
                  <a:chOff x="4396" y="1245"/>
                  <a:chExt cx="672" cy="248"/>
                </a:xfrm>
              </p:grpSpPr>
              <p:sp>
                <p:nvSpPr>
                  <p:cNvPr id="16508"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sp>
                <p:nvSpPr>
                  <p:cNvPr id="16509"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a:endParaRPr lang="en-US" altLang="en-US" sz="2400">
                      <a:latin typeface="Times New Roman" pitchFamily="18" charset="0"/>
                      <a:cs typeface="Arial" charset="0"/>
                    </a:endParaRPr>
                  </a:p>
                </p:txBody>
              </p:sp>
              <p:sp>
                <p:nvSpPr>
                  <p:cNvPr id="16510"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grpSp>
                <p:nvGrpSpPr>
                  <p:cNvPr id="16511" name="Group 203"/>
                  <p:cNvGrpSpPr>
                    <a:grpSpLocks/>
                  </p:cNvGrpSpPr>
                  <p:nvPr/>
                </p:nvGrpSpPr>
                <p:grpSpPr bwMode="auto">
                  <a:xfrm>
                    <a:off x="4530" y="1287"/>
                    <a:ext cx="377" cy="75"/>
                    <a:chOff x="2468" y="1332"/>
                    <a:chExt cx="310" cy="60"/>
                  </a:xfrm>
                </p:grpSpPr>
                <p:sp>
                  <p:nvSpPr>
                    <p:cNvPr id="16514" name="Freeform 20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515" name="Freeform 20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sp>
                <p:nvSpPr>
                  <p:cNvPr id="16512" name="Line 206"/>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13" name="Line 207"/>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6471" name="Freeform 208"/>
              <p:cNvSpPr>
                <a:spLocks/>
              </p:cNvSpPr>
              <p:nvPr/>
            </p:nvSpPr>
            <p:spPr bwMode="auto">
              <a:xfrm>
                <a:off x="2574" y="3086"/>
                <a:ext cx="294" cy="166"/>
              </a:xfrm>
              <a:custGeom>
                <a:avLst/>
                <a:gdLst>
                  <a:gd name="T0" fmla="*/ 0 w 294"/>
                  <a:gd name="T1" fmla="*/ 166 h 166"/>
                  <a:gd name="T2" fmla="*/ 294 w 294"/>
                  <a:gd name="T3" fmla="*/ 0 h 166"/>
                  <a:gd name="T4" fmla="*/ 0 60000 65536"/>
                  <a:gd name="T5" fmla="*/ 0 60000 65536"/>
                  <a:gd name="T6" fmla="*/ 0 w 294"/>
                  <a:gd name="T7" fmla="*/ 0 h 166"/>
                  <a:gd name="T8" fmla="*/ 294 w 294"/>
                  <a:gd name="T9" fmla="*/ 166 h 166"/>
                </a:gdLst>
                <a:ahLst/>
                <a:cxnLst>
                  <a:cxn ang="T4">
                    <a:pos x="T0" y="T1"/>
                  </a:cxn>
                  <a:cxn ang="T5">
                    <a:pos x="T2" y="T3"/>
                  </a:cxn>
                </a:cxnLst>
                <a:rect l="T6" t="T7" r="T8" b="T9"/>
                <a:pathLst>
                  <a:path w="294" h="166">
                    <a:moveTo>
                      <a:pt x="0" y="166"/>
                    </a:moveTo>
                    <a:lnTo>
                      <a:pt x="294"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72" name="Freeform 209"/>
              <p:cNvSpPr>
                <a:spLocks/>
              </p:cNvSpPr>
              <p:nvPr/>
            </p:nvSpPr>
            <p:spPr bwMode="auto">
              <a:xfrm>
                <a:off x="3182" y="3082"/>
                <a:ext cx="272" cy="174"/>
              </a:xfrm>
              <a:custGeom>
                <a:avLst/>
                <a:gdLst>
                  <a:gd name="T0" fmla="*/ 0 w 272"/>
                  <a:gd name="T1" fmla="*/ 0 h 174"/>
                  <a:gd name="T2" fmla="*/ 272 w 272"/>
                  <a:gd name="T3" fmla="*/ 174 h 174"/>
                  <a:gd name="T4" fmla="*/ 0 60000 65536"/>
                  <a:gd name="T5" fmla="*/ 0 60000 65536"/>
                  <a:gd name="T6" fmla="*/ 0 w 272"/>
                  <a:gd name="T7" fmla="*/ 0 h 174"/>
                  <a:gd name="T8" fmla="*/ 272 w 272"/>
                  <a:gd name="T9" fmla="*/ 174 h 174"/>
                </a:gdLst>
                <a:ahLst/>
                <a:cxnLst>
                  <a:cxn ang="T4">
                    <a:pos x="T0" y="T1"/>
                  </a:cxn>
                  <a:cxn ang="T5">
                    <a:pos x="T2" y="T3"/>
                  </a:cxn>
                </a:cxnLst>
                <a:rect l="T6" t="T7" r="T8" b="T9"/>
                <a:pathLst>
                  <a:path w="272" h="174">
                    <a:moveTo>
                      <a:pt x="0" y="0"/>
                    </a:moveTo>
                    <a:lnTo>
                      <a:pt x="272"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73" name="Freeform 210"/>
              <p:cNvSpPr>
                <a:spLocks/>
              </p:cNvSpPr>
              <p:nvPr/>
            </p:nvSpPr>
            <p:spPr bwMode="auto">
              <a:xfrm>
                <a:off x="2511" y="3329"/>
                <a:ext cx="303" cy="150"/>
              </a:xfrm>
              <a:custGeom>
                <a:avLst/>
                <a:gdLst>
                  <a:gd name="T0" fmla="*/ 0 w 294"/>
                  <a:gd name="T1" fmla="*/ 0 h 174"/>
                  <a:gd name="T2" fmla="*/ 663 w 294"/>
                  <a:gd name="T3" fmla="*/ 3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74" name="Freeform 211"/>
              <p:cNvSpPr>
                <a:spLocks/>
              </p:cNvSpPr>
              <p:nvPr/>
            </p:nvSpPr>
            <p:spPr bwMode="auto">
              <a:xfrm>
                <a:off x="3168" y="3322"/>
                <a:ext cx="352" cy="148"/>
              </a:xfrm>
              <a:custGeom>
                <a:avLst/>
                <a:gdLst>
                  <a:gd name="T0" fmla="*/ 0 w 352"/>
                  <a:gd name="T1" fmla="*/ 148 h 148"/>
                  <a:gd name="T2" fmla="*/ 352 w 352"/>
                  <a:gd name="T3" fmla="*/ 0 h 148"/>
                  <a:gd name="T4" fmla="*/ 0 60000 65536"/>
                  <a:gd name="T5" fmla="*/ 0 60000 65536"/>
                  <a:gd name="T6" fmla="*/ 0 w 352"/>
                  <a:gd name="T7" fmla="*/ 0 h 148"/>
                  <a:gd name="T8" fmla="*/ 352 w 352"/>
                  <a:gd name="T9" fmla="*/ 148 h 148"/>
                </a:gdLst>
                <a:ahLst/>
                <a:cxnLst>
                  <a:cxn ang="T4">
                    <a:pos x="T0" y="T1"/>
                  </a:cxn>
                  <a:cxn ang="T5">
                    <a:pos x="T2" y="T3"/>
                  </a:cxn>
                </a:cxnLst>
                <a:rect l="T6" t="T7" r="T8" b="T9"/>
                <a:pathLst>
                  <a:path w="352" h="148">
                    <a:moveTo>
                      <a:pt x="0" y="148"/>
                    </a:moveTo>
                    <a:lnTo>
                      <a:pt x="35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75" name="Freeform 212"/>
              <p:cNvSpPr>
                <a:spLocks/>
              </p:cNvSpPr>
              <p:nvPr/>
            </p:nvSpPr>
            <p:spPr bwMode="auto">
              <a:xfrm>
                <a:off x="3528" y="3348"/>
                <a:ext cx="130" cy="320"/>
              </a:xfrm>
              <a:custGeom>
                <a:avLst/>
                <a:gdLst>
                  <a:gd name="T0" fmla="*/ 0 w 118"/>
                  <a:gd name="T1" fmla="*/ 1 h 500"/>
                  <a:gd name="T2" fmla="*/ 162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76" name="Freeform 213"/>
              <p:cNvSpPr>
                <a:spLocks/>
              </p:cNvSpPr>
              <p:nvPr/>
            </p:nvSpPr>
            <p:spPr bwMode="auto">
              <a:xfrm>
                <a:off x="2750" y="3684"/>
                <a:ext cx="464" cy="47"/>
              </a:xfrm>
              <a:custGeom>
                <a:avLst/>
                <a:gdLst>
                  <a:gd name="T0" fmla="*/ 166802 w 370"/>
                  <a:gd name="T1" fmla="*/ 10237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77" name="Freeform 214"/>
              <p:cNvSpPr>
                <a:spLocks/>
              </p:cNvSpPr>
              <p:nvPr/>
            </p:nvSpPr>
            <p:spPr bwMode="auto">
              <a:xfrm>
                <a:off x="2412" y="3344"/>
                <a:ext cx="122" cy="268"/>
              </a:xfrm>
              <a:custGeom>
                <a:avLst/>
                <a:gdLst>
                  <a:gd name="T0" fmla="*/ 1 w 176"/>
                  <a:gd name="T1" fmla="*/ 1 h 412"/>
                  <a:gd name="T2" fmla="*/ 1 w 176"/>
                  <a:gd name="T3" fmla="*/ 1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nvGrpSpPr>
              <p:cNvPr id="16478" name="Group 215"/>
              <p:cNvGrpSpPr>
                <a:grpSpLocks/>
              </p:cNvGrpSpPr>
              <p:nvPr/>
            </p:nvGrpSpPr>
            <p:grpSpPr bwMode="auto">
              <a:xfrm>
                <a:off x="2822" y="2974"/>
                <a:ext cx="378" cy="181"/>
                <a:chOff x="4396" y="1245"/>
                <a:chExt cx="672" cy="248"/>
              </a:xfrm>
            </p:grpSpPr>
            <p:sp>
              <p:nvSpPr>
                <p:cNvPr id="16497"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sp>
              <p:nvSpPr>
                <p:cNvPr id="16498"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a:endParaRPr lang="en-US" altLang="en-US" sz="2400">
                    <a:latin typeface="Times New Roman" pitchFamily="18" charset="0"/>
                    <a:cs typeface="Arial" charset="0"/>
                  </a:endParaRPr>
                </a:p>
              </p:txBody>
            </p:sp>
            <p:sp>
              <p:nvSpPr>
                <p:cNvPr id="16499"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grpSp>
              <p:nvGrpSpPr>
                <p:cNvPr id="16500" name="Group 219"/>
                <p:cNvGrpSpPr>
                  <a:grpSpLocks/>
                </p:cNvGrpSpPr>
                <p:nvPr/>
              </p:nvGrpSpPr>
              <p:grpSpPr bwMode="auto">
                <a:xfrm>
                  <a:off x="4530" y="1287"/>
                  <a:ext cx="377" cy="75"/>
                  <a:chOff x="2468" y="1332"/>
                  <a:chExt cx="310" cy="60"/>
                </a:xfrm>
              </p:grpSpPr>
              <p:sp>
                <p:nvSpPr>
                  <p:cNvPr id="16503" name="Freeform 22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504" name="Freeform 22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sp>
              <p:nvSpPr>
                <p:cNvPr id="16501" name="Line 222"/>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02" name="Line 223"/>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479" name="Group 224"/>
              <p:cNvGrpSpPr>
                <a:grpSpLocks/>
              </p:cNvGrpSpPr>
              <p:nvPr/>
            </p:nvGrpSpPr>
            <p:grpSpPr bwMode="auto">
              <a:xfrm>
                <a:off x="3171" y="3604"/>
                <a:ext cx="378" cy="181"/>
                <a:chOff x="4396" y="1245"/>
                <a:chExt cx="672" cy="248"/>
              </a:xfrm>
            </p:grpSpPr>
            <p:sp>
              <p:nvSpPr>
                <p:cNvPr id="16489"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sp>
              <p:nvSpPr>
                <p:cNvPr id="16490"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a:endParaRPr lang="en-US" altLang="en-US" sz="2400">
                    <a:latin typeface="Times New Roman" pitchFamily="18" charset="0"/>
                    <a:cs typeface="Arial" charset="0"/>
                  </a:endParaRPr>
                </a:p>
              </p:txBody>
            </p:sp>
            <p:sp>
              <p:nvSpPr>
                <p:cNvPr id="16491"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grpSp>
              <p:nvGrpSpPr>
                <p:cNvPr id="16492" name="Group 228"/>
                <p:cNvGrpSpPr>
                  <a:grpSpLocks/>
                </p:cNvGrpSpPr>
                <p:nvPr/>
              </p:nvGrpSpPr>
              <p:grpSpPr bwMode="auto">
                <a:xfrm>
                  <a:off x="4530" y="1287"/>
                  <a:ext cx="377" cy="75"/>
                  <a:chOff x="2468" y="1332"/>
                  <a:chExt cx="310" cy="60"/>
                </a:xfrm>
              </p:grpSpPr>
              <p:sp>
                <p:nvSpPr>
                  <p:cNvPr id="16495" name="Freeform 22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96" name="Freeform 23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sp>
              <p:nvSpPr>
                <p:cNvPr id="16493" name="Line 231"/>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94" name="Line 232"/>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480" name="Group 233"/>
              <p:cNvGrpSpPr>
                <a:grpSpLocks/>
              </p:cNvGrpSpPr>
              <p:nvPr/>
            </p:nvGrpSpPr>
            <p:grpSpPr bwMode="auto">
              <a:xfrm>
                <a:off x="2403" y="3574"/>
                <a:ext cx="378" cy="181"/>
                <a:chOff x="4396" y="1245"/>
                <a:chExt cx="672" cy="248"/>
              </a:xfrm>
            </p:grpSpPr>
            <p:sp>
              <p:nvSpPr>
                <p:cNvPr id="16481"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sp>
              <p:nvSpPr>
                <p:cNvPr id="16482"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a:endParaRPr lang="en-US" altLang="en-US" sz="2400">
                    <a:latin typeface="Times New Roman" pitchFamily="18" charset="0"/>
                    <a:cs typeface="Arial" charset="0"/>
                  </a:endParaRPr>
                </a:p>
              </p:txBody>
            </p:sp>
            <p:sp>
              <p:nvSpPr>
                <p:cNvPr id="16483"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sz="2400">
                    <a:latin typeface="Times New Roman" pitchFamily="18" charset="0"/>
                    <a:cs typeface="Arial" charset="0"/>
                  </a:endParaRPr>
                </a:p>
              </p:txBody>
            </p:sp>
            <p:grpSp>
              <p:nvGrpSpPr>
                <p:cNvPr id="16484" name="Group 237"/>
                <p:cNvGrpSpPr>
                  <a:grpSpLocks/>
                </p:cNvGrpSpPr>
                <p:nvPr/>
              </p:nvGrpSpPr>
              <p:grpSpPr bwMode="auto">
                <a:xfrm>
                  <a:off x="4530" y="1287"/>
                  <a:ext cx="377" cy="75"/>
                  <a:chOff x="2468" y="1332"/>
                  <a:chExt cx="310" cy="60"/>
                </a:xfrm>
              </p:grpSpPr>
              <p:sp>
                <p:nvSpPr>
                  <p:cNvPr id="16487" name="Freeform 23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88" name="Freeform 23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sp>
              <p:nvSpPr>
                <p:cNvPr id="16485" name="Line 240"/>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86" name="Line 241"/>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6466" name="Text Box 108"/>
            <p:cNvSpPr txBox="1">
              <a:spLocks noChangeArrowheads="1"/>
            </p:cNvSpPr>
            <p:nvPr/>
          </p:nvSpPr>
          <p:spPr bwMode="auto">
            <a:xfrm>
              <a:off x="667" y="3221"/>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en-US"/>
                <a:t>1</a:t>
              </a:r>
            </a:p>
          </p:txBody>
        </p:sp>
        <p:sp>
          <p:nvSpPr>
            <p:cNvPr id="16467" name="Text Box 109"/>
            <p:cNvSpPr txBox="1">
              <a:spLocks noChangeArrowheads="1"/>
            </p:cNvSpPr>
            <p:nvPr/>
          </p:nvSpPr>
          <p:spPr bwMode="auto">
            <a:xfrm>
              <a:off x="620" y="3504"/>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en-US" sz="1600"/>
                <a:t>2</a:t>
              </a:r>
            </a:p>
          </p:txBody>
        </p:sp>
        <p:sp>
          <p:nvSpPr>
            <p:cNvPr id="16468" name="Text Box 110"/>
            <p:cNvSpPr txBox="1">
              <a:spLocks noChangeArrowheads="1"/>
            </p:cNvSpPr>
            <p:nvPr/>
          </p:nvSpPr>
          <p:spPr bwMode="auto">
            <a:xfrm>
              <a:off x="448" y="3501"/>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en-US" sz="1600"/>
                <a:t>3</a:t>
              </a:r>
            </a:p>
          </p:txBody>
        </p:sp>
      </p:grpSp>
      <p:sp>
        <p:nvSpPr>
          <p:cNvPr id="17414" name="Rectangle 2"/>
          <p:cNvSpPr>
            <a:spLocks noGrp="1" noChangeArrowheads="1"/>
          </p:cNvSpPr>
          <p:nvPr>
            <p:ph type="title"/>
          </p:nvPr>
        </p:nvSpPr>
        <p:spPr>
          <a:xfrm>
            <a:off x="2765425" y="0"/>
            <a:ext cx="6378575" cy="863600"/>
          </a:xfrm>
        </p:spPr>
        <p:txBody>
          <a:bodyPr/>
          <a:lstStyle/>
          <a:p>
            <a:pPr>
              <a:defRPr/>
            </a:pPr>
            <a:r>
              <a:rPr lang="en-US" sz="4000" dirty="0">
                <a:solidFill>
                  <a:schemeClr val="bg1"/>
                </a:solidFill>
                <a:cs typeface="+mj-cs"/>
              </a:rPr>
              <a:t>Datagram forwarding  table</a:t>
            </a:r>
          </a:p>
        </p:txBody>
      </p:sp>
      <p:sp>
        <p:nvSpPr>
          <p:cNvPr id="16391" name="Freeform 11"/>
          <p:cNvSpPr>
            <a:spLocks/>
          </p:cNvSpPr>
          <p:nvPr/>
        </p:nvSpPr>
        <p:spPr bwMode="auto">
          <a:xfrm>
            <a:off x="2397125" y="3521075"/>
            <a:ext cx="2290763" cy="1295400"/>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392" name="Rectangle 12"/>
          <p:cNvSpPr>
            <a:spLocks noChangeArrowheads="1"/>
          </p:cNvSpPr>
          <p:nvPr/>
        </p:nvSpPr>
        <p:spPr bwMode="auto">
          <a:xfrm>
            <a:off x="2176463" y="1195388"/>
            <a:ext cx="2528887" cy="2333625"/>
          </a:xfrm>
          <a:prstGeom prst="rect">
            <a:avLst/>
          </a:prstGeom>
          <a:solidFill>
            <a:schemeClr val="accent1"/>
          </a:solidFill>
          <a:ln w="19050">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393" name="Oval 13"/>
          <p:cNvSpPr>
            <a:spLocks noChangeArrowheads="1"/>
          </p:cNvSpPr>
          <p:nvPr/>
        </p:nvSpPr>
        <p:spPr bwMode="auto">
          <a:xfrm>
            <a:off x="2513013" y="1247775"/>
            <a:ext cx="2095500" cy="604838"/>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394" name="Rectangle 105"/>
          <p:cNvSpPr>
            <a:spLocks noChangeArrowheads="1"/>
          </p:cNvSpPr>
          <p:nvPr/>
        </p:nvSpPr>
        <p:spPr bwMode="auto">
          <a:xfrm>
            <a:off x="2457450" y="4584700"/>
            <a:ext cx="1155700" cy="2381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395" name="Rectangle 106"/>
          <p:cNvSpPr>
            <a:spLocks noChangeArrowheads="1"/>
          </p:cNvSpPr>
          <p:nvPr/>
        </p:nvSpPr>
        <p:spPr bwMode="auto">
          <a:xfrm>
            <a:off x="2433638" y="4608513"/>
            <a:ext cx="1147762" cy="238125"/>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396" name="Line 107"/>
          <p:cNvSpPr>
            <a:spLocks noChangeShapeType="1"/>
          </p:cNvSpPr>
          <p:nvPr/>
        </p:nvSpPr>
        <p:spPr bwMode="auto">
          <a:xfrm>
            <a:off x="3459163" y="4740275"/>
            <a:ext cx="422275"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397" name="Rectangle 111"/>
          <p:cNvSpPr>
            <a:spLocks noChangeArrowheads="1"/>
          </p:cNvSpPr>
          <p:nvPr/>
        </p:nvSpPr>
        <p:spPr bwMode="auto">
          <a:xfrm>
            <a:off x="3062288" y="4611688"/>
            <a:ext cx="427037" cy="2397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398" name="Text Box 112"/>
          <p:cNvSpPr txBox="1">
            <a:spLocks noChangeArrowheads="1"/>
          </p:cNvSpPr>
          <p:nvPr/>
        </p:nvSpPr>
        <p:spPr bwMode="auto">
          <a:xfrm>
            <a:off x="3014663" y="4584700"/>
            <a:ext cx="184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endParaRPr lang="en-US" altLang="en-US" sz="1200"/>
          </a:p>
        </p:txBody>
      </p:sp>
      <p:sp>
        <p:nvSpPr>
          <p:cNvPr id="16399" name="Text Box 113"/>
          <p:cNvSpPr txBox="1">
            <a:spLocks noChangeArrowheads="1"/>
          </p:cNvSpPr>
          <p:nvPr/>
        </p:nvSpPr>
        <p:spPr bwMode="auto">
          <a:xfrm>
            <a:off x="1298575" y="3913188"/>
            <a:ext cx="24653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en-US" sz="1600"/>
              <a:t>IP destination address in </a:t>
            </a:r>
          </a:p>
          <a:p>
            <a:pPr eaLnBrk="1" hangingPunct="1"/>
            <a:r>
              <a:rPr lang="en-US" altLang="en-US" sz="1600"/>
              <a:t>arriving packet</a:t>
            </a:r>
            <a:r>
              <a:rPr lang="ja-JP" altLang="en-US" sz="1600"/>
              <a:t>’</a:t>
            </a:r>
            <a:r>
              <a:rPr lang="en-US" altLang="ja-JP" sz="1600"/>
              <a:t>s header</a:t>
            </a:r>
            <a:endParaRPr lang="en-US" altLang="en-US" sz="1600"/>
          </a:p>
        </p:txBody>
      </p:sp>
      <p:sp>
        <p:nvSpPr>
          <p:cNvPr id="16400" name="Line 114"/>
          <p:cNvSpPr>
            <a:spLocks noChangeShapeType="1"/>
          </p:cNvSpPr>
          <p:nvPr/>
        </p:nvSpPr>
        <p:spPr bwMode="auto">
          <a:xfrm flipH="1">
            <a:off x="2681288" y="4870450"/>
            <a:ext cx="13493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1" name="Text Box 115"/>
          <p:cNvSpPr txBox="1">
            <a:spLocks noChangeArrowheads="1"/>
          </p:cNvSpPr>
          <p:nvPr/>
        </p:nvSpPr>
        <p:spPr bwMode="auto">
          <a:xfrm>
            <a:off x="2641600" y="1404938"/>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lang="en-US" altLang="en-US" sz="1400"/>
              <a:t>routing algorithm</a:t>
            </a:r>
          </a:p>
        </p:txBody>
      </p:sp>
      <p:sp>
        <p:nvSpPr>
          <p:cNvPr id="16402" name="Rectangle 116"/>
          <p:cNvSpPr>
            <a:spLocks noChangeArrowheads="1"/>
          </p:cNvSpPr>
          <p:nvPr/>
        </p:nvSpPr>
        <p:spPr bwMode="auto">
          <a:xfrm>
            <a:off x="2387600" y="2141538"/>
            <a:ext cx="2184400" cy="1298575"/>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03" name="Text Box 117"/>
          <p:cNvSpPr txBox="1">
            <a:spLocks noChangeArrowheads="1"/>
          </p:cNvSpPr>
          <p:nvPr/>
        </p:nvSpPr>
        <p:spPr bwMode="auto">
          <a:xfrm>
            <a:off x="2647950" y="2105025"/>
            <a:ext cx="1858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en-US" sz="1400"/>
              <a:t>local forwarding table</a:t>
            </a:r>
          </a:p>
        </p:txBody>
      </p:sp>
      <p:sp>
        <p:nvSpPr>
          <p:cNvPr id="16404" name="Text Box 118"/>
          <p:cNvSpPr txBox="1">
            <a:spLocks noChangeArrowheads="1"/>
          </p:cNvSpPr>
          <p:nvPr/>
        </p:nvSpPr>
        <p:spPr bwMode="auto">
          <a:xfrm>
            <a:off x="2430463" y="2352675"/>
            <a:ext cx="1312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lang="en-US" altLang="en-US" sz="1400"/>
              <a:t>dest address</a:t>
            </a:r>
          </a:p>
        </p:txBody>
      </p:sp>
      <p:sp>
        <p:nvSpPr>
          <p:cNvPr id="16405" name="Text Box 119"/>
          <p:cNvSpPr txBox="1">
            <a:spLocks noChangeArrowheads="1"/>
          </p:cNvSpPr>
          <p:nvPr/>
        </p:nvSpPr>
        <p:spPr bwMode="auto">
          <a:xfrm>
            <a:off x="3597275" y="2354263"/>
            <a:ext cx="1041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lang="en-US" altLang="en-US" sz="1400"/>
              <a:t>output  link</a:t>
            </a:r>
          </a:p>
        </p:txBody>
      </p:sp>
      <p:sp>
        <p:nvSpPr>
          <p:cNvPr id="16406" name="Line 120"/>
          <p:cNvSpPr>
            <a:spLocks noChangeShapeType="1"/>
          </p:cNvSpPr>
          <p:nvPr/>
        </p:nvSpPr>
        <p:spPr bwMode="auto">
          <a:xfrm>
            <a:off x="3695700" y="2365375"/>
            <a:ext cx="7938"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7" name="Text Box 121"/>
          <p:cNvSpPr txBox="1">
            <a:spLocks noChangeArrowheads="1"/>
          </p:cNvSpPr>
          <p:nvPr/>
        </p:nvSpPr>
        <p:spPr bwMode="auto">
          <a:xfrm>
            <a:off x="2417763" y="2636838"/>
            <a:ext cx="12890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en-US" sz="1200"/>
              <a:t>address-range 1</a:t>
            </a:r>
          </a:p>
          <a:p>
            <a:pPr algn="r" eaLnBrk="1" hangingPunct="1"/>
            <a:r>
              <a:rPr lang="en-US" altLang="en-US" sz="1200"/>
              <a:t>address-range 2</a:t>
            </a:r>
          </a:p>
          <a:p>
            <a:pPr algn="r" eaLnBrk="1" hangingPunct="1"/>
            <a:r>
              <a:rPr lang="en-US" altLang="en-US" sz="1200"/>
              <a:t>address-range 3</a:t>
            </a:r>
          </a:p>
          <a:p>
            <a:pPr algn="r" eaLnBrk="1" hangingPunct="1"/>
            <a:r>
              <a:rPr lang="en-US" altLang="en-US" sz="1200"/>
              <a:t>address-range 4</a:t>
            </a:r>
          </a:p>
        </p:txBody>
      </p:sp>
      <p:sp>
        <p:nvSpPr>
          <p:cNvPr id="16408" name="Text Box 122"/>
          <p:cNvSpPr txBox="1">
            <a:spLocks noChangeArrowheads="1"/>
          </p:cNvSpPr>
          <p:nvPr/>
        </p:nvSpPr>
        <p:spPr bwMode="auto">
          <a:xfrm>
            <a:off x="3711575" y="2636838"/>
            <a:ext cx="2682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r>
              <a:rPr lang="en-US" altLang="en-US" sz="1200"/>
              <a:t>3</a:t>
            </a:r>
          </a:p>
          <a:p>
            <a:pPr algn="ctr" eaLnBrk="1" hangingPunct="1"/>
            <a:r>
              <a:rPr lang="en-US" altLang="en-US" sz="1200"/>
              <a:t>2</a:t>
            </a:r>
          </a:p>
          <a:p>
            <a:pPr algn="ctr" eaLnBrk="1" hangingPunct="1"/>
            <a:r>
              <a:rPr lang="en-US" altLang="en-US" sz="1200"/>
              <a:t>2</a:t>
            </a:r>
          </a:p>
          <a:p>
            <a:pPr algn="ctr" eaLnBrk="1" hangingPunct="1"/>
            <a:r>
              <a:rPr lang="en-US" altLang="en-US" sz="1200"/>
              <a:t>1</a:t>
            </a:r>
          </a:p>
        </p:txBody>
      </p:sp>
      <p:sp>
        <p:nvSpPr>
          <p:cNvPr id="16409" name="Line 123"/>
          <p:cNvSpPr>
            <a:spLocks noChangeShapeType="1"/>
          </p:cNvSpPr>
          <p:nvPr/>
        </p:nvSpPr>
        <p:spPr bwMode="auto">
          <a:xfrm>
            <a:off x="2409825" y="2617788"/>
            <a:ext cx="2163763" cy="4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0" name="Line 124"/>
          <p:cNvSpPr>
            <a:spLocks noChangeShapeType="1"/>
          </p:cNvSpPr>
          <p:nvPr/>
        </p:nvSpPr>
        <p:spPr bwMode="auto">
          <a:xfrm>
            <a:off x="2392363" y="2370138"/>
            <a:ext cx="2173287" cy="4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1" name="AutoShape 125"/>
          <p:cNvSpPr>
            <a:spLocks noChangeArrowheads="1"/>
          </p:cNvSpPr>
          <p:nvPr/>
        </p:nvSpPr>
        <p:spPr bwMode="auto">
          <a:xfrm rot="5400000">
            <a:off x="3466306" y="1859757"/>
            <a:ext cx="239713" cy="273050"/>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12" name="Line 126"/>
          <p:cNvSpPr>
            <a:spLocks noChangeShapeType="1"/>
          </p:cNvSpPr>
          <p:nvPr/>
        </p:nvSpPr>
        <p:spPr bwMode="auto">
          <a:xfrm>
            <a:off x="2843213" y="4302125"/>
            <a:ext cx="363537" cy="342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13" name="Freeform 127"/>
          <p:cNvSpPr>
            <a:spLocks/>
          </p:cNvSpPr>
          <p:nvPr/>
        </p:nvSpPr>
        <p:spPr bwMode="auto">
          <a:xfrm>
            <a:off x="3916363" y="4792663"/>
            <a:ext cx="879475" cy="26511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14" name="Freeform 128"/>
          <p:cNvSpPr>
            <a:spLocks/>
          </p:cNvSpPr>
          <p:nvPr/>
        </p:nvSpPr>
        <p:spPr bwMode="auto">
          <a:xfrm flipH="1">
            <a:off x="6249988" y="4356100"/>
            <a:ext cx="577850" cy="371475"/>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15" name="Freeform 129"/>
          <p:cNvSpPr>
            <a:spLocks/>
          </p:cNvSpPr>
          <p:nvPr/>
        </p:nvSpPr>
        <p:spPr bwMode="auto">
          <a:xfrm flipH="1">
            <a:off x="5240338" y="4083050"/>
            <a:ext cx="577850" cy="371475"/>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16" name="Freeform 130"/>
          <p:cNvSpPr>
            <a:spLocks/>
          </p:cNvSpPr>
          <p:nvPr/>
        </p:nvSpPr>
        <p:spPr bwMode="auto">
          <a:xfrm flipH="1" flipV="1">
            <a:off x="5908675" y="5629275"/>
            <a:ext cx="542925" cy="371475"/>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17" name="Freeform 131"/>
          <p:cNvSpPr>
            <a:spLocks/>
          </p:cNvSpPr>
          <p:nvPr/>
        </p:nvSpPr>
        <p:spPr bwMode="auto">
          <a:xfrm flipH="1" flipV="1">
            <a:off x="4559300" y="5613400"/>
            <a:ext cx="542925" cy="371475"/>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18" name="Freeform 132"/>
          <p:cNvSpPr>
            <a:spLocks/>
          </p:cNvSpPr>
          <p:nvPr/>
        </p:nvSpPr>
        <p:spPr bwMode="auto">
          <a:xfrm flipH="1" flipV="1">
            <a:off x="5199063" y="5321300"/>
            <a:ext cx="542925" cy="452438"/>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nvGrpSpPr>
          <p:cNvPr id="16419" name="Group 133"/>
          <p:cNvGrpSpPr>
            <a:grpSpLocks/>
          </p:cNvGrpSpPr>
          <p:nvPr/>
        </p:nvGrpSpPr>
        <p:grpSpPr bwMode="auto">
          <a:xfrm>
            <a:off x="5248275" y="3638550"/>
            <a:ext cx="550863" cy="452438"/>
            <a:chOff x="2886" y="1668"/>
            <a:chExt cx="347" cy="285"/>
          </a:xfrm>
        </p:grpSpPr>
        <p:sp>
          <p:nvSpPr>
            <p:cNvPr id="16458" name="Rectangle 134"/>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59" name="Oval 135"/>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60" name="Rectangle 136"/>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61" name="Line 137"/>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62" name="Line 138"/>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63" name="Line 139"/>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64" name="AutoShape 140"/>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grpSp>
        <p:nvGrpSpPr>
          <p:cNvPr id="16420" name="Group 141"/>
          <p:cNvGrpSpPr>
            <a:grpSpLocks/>
          </p:cNvGrpSpPr>
          <p:nvPr/>
        </p:nvGrpSpPr>
        <p:grpSpPr bwMode="auto">
          <a:xfrm>
            <a:off x="6261100" y="3911600"/>
            <a:ext cx="550863" cy="452438"/>
            <a:chOff x="2886" y="1668"/>
            <a:chExt cx="347" cy="285"/>
          </a:xfrm>
        </p:grpSpPr>
        <p:sp>
          <p:nvSpPr>
            <p:cNvPr id="16451" name="Rectangle 142"/>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52" name="Oval 143"/>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53" name="Rectangle 144"/>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54" name="Line 145"/>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55" name="Line 146"/>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56" name="Line 147"/>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57" name="AutoShape 148"/>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grpSp>
        <p:nvGrpSpPr>
          <p:cNvPr id="16421" name="Group 149"/>
          <p:cNvGrpSpPr>
            <a:grpSpLocks/>
          </p:cNvGrpSpPr>
          <p:nvPr/>
        </p:nvGrpSpPr>
        <p:grpSpPr bwMode="auto">
          <a:xfrm>
            <a:off x="5891213" y="5988050"/>
            <a:ext cx="550862" cy="452438"/>
            <a:chOff x="2886" y="1668"/>
            <a:chExt cx="347" cy="285"/>
          </a:xfrm>
        </p:grpSpPr>
        <p:sp>
          <p:nvSpPr>
            <p:cNvPr id="16444" name="Rectangle 150"/>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45" name="Oval 151"/>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46" name="Rectangle 152"/>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47" name="Line 153"/>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48" name="Line 154"/>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49" name="Line 155"/>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50" name="AutoShape 156"/>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grpSp>
        <p:nvGrpSpPr>
          <p:cNvPr id="16422" name="Group 157"/>
          <p:cNvGrpSpPr>
            <a:grpSpLocks/>
          </p:cNvGrpSpPr>
          <p:nvPr/>
        </p:nvGrpSpPr>
        <p:grpSpPr bwMode="auto">
          <a:xfrm>
            <a:off x="5195888" y="5768975"/>
            <a:ext cx="550862" cy="452438"/>
            <a:chOff x="2886" y="1668"/>
            <a:chExt cx="347" cy="285"/>
          </a:xfrm>
        </p:grpSpPr>
        <p:sp>
          <p:nvSpPr>
            <p:cNvPr id="16437" name="Rectangle 158"/>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38" name="Oval 159"/>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39" name="Rectangle 160"/>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40" name="Line 161"/>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41" name="Line 162"/>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42" name="Line 163"/>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43" name="AutoShape 164"/>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grpSp>
        <p:nvGrpSpPr>
          <p:cNvPr id="16423" name="Group 165"/>
          <p:cNvGrpSpPr>
            <a:grpSpLocks/>
          </p:cNvGrpSpPr>
          <p:nvPr/>
        </p:nvGrpSpPr>
        <p:grpSpPr bwMode="auto">
          <a:xfrm>
            <a:off x="4540250" y="5961063"/>
            <a:ext cx="550863" cy="452437"/>
            <a:chOff x="2886" y="1668"/>
            <a:chExt cx="347" cy="285"/>
          </a:xfrm>
        </p:grpSpPr>
        <p:sp>
          <p:nvSpPr>
            <p:cNvPr id="16430" name="Rectangle 166"/>
            <p:cNvSpPr>
              <a:spLocks noChangeArrowheads="1"/>
            </p:cNvSpPr>
            <p:nvPr/>
          </p:nvSpPr>
          <p:spPr bwMode="auto">
            <a:xfrm>
              <a:off x="2886" y="1668"/>
              <a:ext cx="347" cy="28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31" name="Oval 167"/>
            <p:cNvSpPr>
              <a:spLocks noChangeArrowheads="1"/>
            </p:cNvSpPr>
            <p:nvPr/>
          </p:nvSpPr>
          <p:spPr bwMode="auto">
            <a:xfrm>
              <a:off x="2905" y="1674"/>
              <a:ext cx="314" cy="74"/>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32" name="Rectangle 168"/>
            <p:cNvSpPr>
              <a:spLocks noChangeArrowheads="1"/>
            </p:cNvSpPr>
            <p:nvPr/>
          </p:nvSpPr>
          <p:spPr bwMode="auto">
            <a:xfrm>
              <a:off x="2913" y="1785"/>
              <a:ext cx="300" cy="1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sp>
          <p:nvSpPr>
            <p:cNvPr id="16433" name="Line 169"/>
            <p:cNvSpPr>
              <a:spLocks noChangeShapeType="1"/>
            </p:cNvSpPr>
            <p:nvPr/>
          </p:nvSpPr>
          <p:spPr bwMode="auto">
            <a:xfrm>
              <a:off x="3082" y="1811"/>
              <a:ext cx="1"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34" name="Line 170"/>
            <p:cNvSpPr>
              <a:spLocks noChangeShapeType="1"/>
            </p:cNvSpPr>
            <p:nvPr/>
          </p:nvSpPr>
          <p:spPr bwMode="auto">
            <a:xfrm>
              <a:off x="2913" y="184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35" name="Line 171"/>
            <p:cNvSpPr>
              <a:spLocks noChangeShapeType="1"/>
            </p:cNvSpPr>
            <p:nvPr/>
          </p:nvSpPr>
          <p:spPr bwMode="auto">
            <a:xfrm>
              <a:off x="2912" y="1812"/>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36" name="AutoShape 172"/>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grpSp>
        <p:nvGrpSpPr>
          <p:cNvPr id="22" name="Group 176"/>
          <p:cNvGrpSpPr>
            <a:grpSpLocks/>
          </p:cNvGrpSpPr>
          <p:nvPr/>
        </p:nvGrpSpPr>
        <p:grpSpPr bwMode="auto">
          <a:xfrm>
            <a:off x="3492500" y="1201738"/>
            <a:ext cx="4986338" cy="1887537"/>
            <a:chOff x="2037" y="708"/>
            <a:chExt cx="3471" cy="1189"/>
          </a:xfrm>
        </p:grpSpPr>
        <p:sp>
          <p:nvSpPr>
            <p:cNvPr id="16428" name="Text Box 174"/>
            <p:cNvSpPr txBox="1">
              <a:spLocks noChangeArrowheads="1"/>
            </p:cNvSpPr>
            <p:nvPr/>
          </p:nvSpPr>
          <p:spPr bwMode="auto">
            <a:xfrm>
              <a:off x="3474" y="708"/>
              <a:ext cx="2034" cy="881"/>
            </a:xfrm>
            <a:prstGeom prst="rect">
              <a:avLst/>
            </a:prstGeom>
            <a:noFill/>
            <a:ln w="127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nSpc>
                  <a:spcPct val="85000"/>
                </a:lnSpc>
              </a:pPr>
              <a:r>
                <a:rPr lang="en-US" altLang="en-US" sz="2000">
                  <a:solidFill>
                    <a:srgbClr val="000099"/>
                  </a:solidFill>
                  <a:latin typeface="Gill Sans MT" pitchFamily="34" charset="0"/>
                </a:rPr>
                <a:t>4 billion IP addresses, so rather than list individual destination address,</a:t>
              </a:r>
            </a:p>
            <a:p>
              <a:pPr>
                <a:lnSpc>
                  <a:spcPct val="85000"/>
                </a:lnSpc>
              </a:pPr>
              <a:r>
                <a:rPr lang="en-US" altLang="en-US" sz="2000">
                  <a:solidFill>
                    <a:srgbClr val="000099"/>
                  </a:solidFill>
                  <a:latin typeface="Gill Sans MT" pitchFamily="34" charset="0"/>
                </a:rPr>
                <a:t>list </a:t>
              </a:r>
              <a:r>
                <a:rPr lang="en-US" altLang="en-US" sz="2000" i="1">
                  <a:solidFill>
                    <a:srgbClr val="000099"/>
                  </a:solidFill>
                  <a:latin typeface="Gill Sans MT" pitchFamily="34" charset="0"/>
                </a:rPr>
                <a:t>range</a:t>
              </a:r>
              <a:r>
                <a:rPr lang="en-US" altLang="en-US" sz="2000">
                  <a:solidFill>
                    <a:srgbClr val="000099"/>
                  </a:solidFill>
                  <a:latin typeface="Gill Sans MT" pitchFamily="34" charset="0"/>
                </a:rPr>
                <a:t> of addresses</a:t>
              </a:r>
            </a:p>
            <a:p>
              <a:pPr>
                <a:lnSpc>
                  <a:spcPct val="85000"/>
                </a:lnSpc>
              </a:pPr>
              <a:r>
                <a:rPr lang="en-US" altLang="en-US" sz="2000">
                  <a:solidFill>
                    <a:srgbClr val="000099"/>
                  </a:solidFill>
                  <a:latin typeface="Gill Sans MT" pitchFamily="34" charset="0"/>
                </a:rPr>
                <a:t>(aggregate table entries)</a:t>
              </a:r>
            </a:p>
          </p:txBody>
        </p:sp>
        <p:sp>
          <p:nvSpPr>
            <p:cNvPr id="16429" name="Line 175"/>
            <p:cNvSpPr>
              <a:spLocks noChangeShapeType="1"/>
            </p:cNvSpPr>
            <p:nvPr/>
          </p:nvSpPr>
          <p:spPr bwMode="auto">
            <a:xfrm flipH="1">
              <a:off x="2037" y="1229"/>
              <a:ext cx="1433" cy="668"/>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3" name="Group 2">
            <a:extLst>
              <a:ext uri="{FF2B5EF4-FFF2-40B4-BE49-F238E27FC236}">
                <a16:creationId xmlns:a16="http://schemas.microsoft.com/office/drawing/2014/main" id="{D6606A9A-1B17-E542-BC71-756188F472A0}"/>
              </a:ext>
            </a:extLst>
          </p:cNvPr>
          <p:cNvGrpSpPr/>
          <p:nvPr/>
        </p:nvGrpSpPr>
        <p:grpSpPr>
          <a:xfrm>
            <a:off x="5145088" y="2722179"/>
            <a:ext cx="3137064" cy="662152"/>
            <a:chOff x="5145088" y="2722179"/>
            <a:chExt cx="3137064" cy="662152"/>
          </a:xfrm>
        </p:grpSpPr>
        <p:sp>
          <p:nvSpPr>
            <p:cNvPr id="2" name="Rectangle 1">
              <a:extLst>
                <a:ext uri="{FF2B5EF4-FFF2-40B4-BE49-F238E27FC236}">
                  <a16:creationId xmlns:a16="http://schemas.microsoft.com/office/drawing/2014/main" id="{802D1955-C109-1345-A410-A916450A59CE}"/>
                </a:ext>
              </a:extLst>
            </p:cNvPr>
            <p:cNvSpPr/>
            <p:nvPr/>
          </p:nvSpPr>
          <p:spPr bwMode="auto">
            <a:xfrm>
              <a:off x="5160579" y="2722179"/>
              <a:ext cx="3121573" cy="662152"/>
            </a:xfrm>
            <a:prstGeom prst="rect">
              <a:avLst/>
            </a:prstGeom>
            <a:solidFill>
              <a:srgbClr val="FFC0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ms-MY" sz="1800" b="0" i="0" u="none" strike="noStrike" cap="none" normalizeH="0" baseline="0">
                <a:ln>
                  <a:noFill/>
                </a:ln>
                <a:solidFill>
                  <a:schemeClr val="tx1"/>
                </a:solidFill>
                <a:effectLst/>
                <a:latin typeface="Arial" charset="0"/>
              </a:endParaRPr>
            </a:p>
          </p:txBody>
        </p:sp>
        <p:sp>
          <p:nvSpPr>
            <p:cNvPr id="16425" name="TextBox 144"/>
            <p:cNvSpPr txBox="1">
              <a:spLocks noChangeArrowheads="1"/>
            </p:cNvSpPr>
            <p:nvPr/>
          </p:nvSpPr>
          <p:spPr bwMode="auto">
            <a:xfrm>
              <a:off x="5881688" y="2894013"/>
              <a:ext cx="2371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b="1">
                  <a:solidFill>
                    <a:srgbClr val="0070C0"/>
                  </a:solidFill>
                </a:rPr>
                <a:t>2      = 4,294,967,296</a:t>
              </a:r>
            </a:p>
          </p:txBody>
        </p:sp>
        <p:sp>
          <p:nvSpPr>
            <p:cNvPr id="16426" name="TextBox 145"/>
            <p:cNvSpPr txBox="1">
              <a:spLocks noChangeArrowheads="1"/>
            </p:cNvSpPr>
            <p:nvPr/>
          </p:nvSpPr>
          <p:spPr bwMode="auto">
            <a:xfrm>
              <a:off x="6032500" y="2757488"/>
              <a:ext cx="3825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sz="1400" b="1">
                  <a:solidFill>
                    <a:srgbClr val="0070C0"/>
                  </a:solidFill>
                </a:rPr>
                <a:t>32</a:t>
              </a:r>
            </a:p>
          </p:txBody>
        </p:sp>
        <p:sp>
          <p:nvSpPr>
            <p:cNvPr id="16427" name="TextBox 146"/>
            <p:cNvSpPr txBox="1">
              <a:spLocks noChangeArrowheads="1"/>
            </p:cNvSpPr>
            <p:nvPr/>
          </p:nvSpPr>
          <p:spPr bwMode="auto">
            <a:xfrm>
              <a:off x="5145088" y="2879725"/>
              <a:ext cx="7360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b="1">
                  <a:solidFill>
                    <a:srgbClr val="0070C0"/>
                  </a:solidFill>
                </a:rPr>
                <a:t>IPv4:</a:t>
              </a:r>
            </a:p>
          </p:txBody>
        </p:sp>
      </p:grpSp>
      <p:sp>
        <p:nvSpPr>
          <p:cNvPr id="152" name="Slide Number Placeholder 4">
            <a:extLst>
              <a:ext uri="{FF2B5EF4-FFF2-40B4-BE49-F238E27FC236}">
                <a16:creationId xmlns:a16="http://schemas.microsoft.com/office/drawing/2014/main" id="{CC41D844-4BFF-004B-B364-1106DEFC8A1E}"/>
              </a:ext>
            </a:extLst>
          </p:cNvPr>
          <p:cNvSpPr>
            <a:spLocks noGrp="1"/>
          </p:cNvSpPr>
          <p:nvPr>
            <p:ph type="sldNum" sz="quarter" idx="4294967295"/>
          </p:nvPr>
        </p:nvSpPr>
        <p:spPr>
          <a:xfrm>
            <a:off x="6833093" y="6303566"/>
            <a:ext cx="2057400" cy="273844"/>
          </a:xfrm>
        </p:spPr>
        <p:txBody>
          <a:bodyPr/>
          <a:lstStyle/>
          <a:p>
            <a:r>
              <a:rPr lang="en-US" dirty="0"/>
              <a:t>Network Layer: 4-</a:t>
            </a:r>
            <a:fld id="{C4204591-24BD-A542-B9D5-F8D8A88D2FEE}" type="slidenum">
              <a:rPr lang="en-US" smtClean="0"/>
              <a:pPr/>
              <a:t>9</a:t>
            </a:fld>
            <a:endParaRPr lang="en-US" dirty="0"/>
          </a:p>
        </p:txBody>
      </p:sp>
    </p:spTree>
    <p:extLst>
      <p:ext uri="{BB962C8B-B14F-4D97-AF65-F5344CB8AC3E}">
        <p14:creationId xmlns:p14="http://schemas.microsoft.com/office/powerpoint/2010/main" val="37706162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txBox="1">
            <a:spLocks noChangeArrowheads="1"/>
          </p:cNvSpPr>
          <p:nvPr/>
        </p:nvSpPr>
        <p:spPr bwMode="auto">
          <a:xfrm>
            <a:off x="4497718" y="-21471"/>
            <a:ext cx="4646282"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altLang="ja-JP" sz="2800" dirty="0">
                <a:solidFill>
                  <a:schemeClr val="tx1"/>
                </a:solidFill>
                <a:latin typeface="Arial"/>
                <a:ea typeface="ＭＳ Ｐゴシック" pitchFamily="34" charset="-128"/>
                <a:cs typeface="Arial"/>
              </a:rPr>
              <a:t>Forwarding and Routing</a:t>
            </a:r>
            <a:endParaRPr lang="en-US" sz="2800" dirty="0">
              <a:solidFill>
                <a:schemeClr val="tx1"/>
              </a:solidFill>
              <a:latin typeface="Arial"/>
              <a:ea typeface="ＭＳ Ｐゴシック" pitchFamily="34" charset="-128"/>
              <a:cs typeface="Arial"/>
            </a:endParaRPr>
          </a:p>
        </p:txBody>
      </p:sp>
      <p:sp>
        <p:nvSpPr>
          <p:cNvPr id="258" name="TextBox 257">
            <a:extLst>
              <a:ext uri="{FF2B5EF4-FFF2-40B4-BE49-F238E27FC236}">
                <a16:creationId xmlns:a16="http://schemas.microsoft.com/office/drawing/2014/main" id="{B5166D56-D4A9-2543-98C4-E16759EAD2B8}"/>
              </a:ext>
            </a:extLst>
          </p:cNvPr>
          <p:cNvSpPr txBox="1"/>
          <p:nvPr/>
        </p:nvSpPr>
        <p:spPr>
          <a:xfrm>
            <a:off x="0" y="6649357"/>
            <a:ext cx="6294584" cy="215444"/>
          </a:xfrm>
          <a:prstGeom prst="rect">
            <a:avLst/>
          </a:prstGeom>
          <a:noFill/>
        </p:spPr>
        <p:txBody>
          <a:bodyPr wrap="square" rtlCol="0">
            <a:spAutoFit/>
          </a:bodyPr>
          <a:lstStyle/>
          <a:p>
            <a:pPr algn="l"/>
            <a:r>
              <a:rPr lang="en-US" sz="800" dirty="0">
                <a:latin typeface="Times New Roman" panose="02020603050405020304" pitchFamily="18" charset="0"/>
                <a:cs typeface="Times New Roman" panose="02020603050405020304" pitchFamily="18" charset="0"/>
              </a:rPr>
              <a:t>Kurose, J.F. and Ross, K.W. (2021). Computer Networking: A Top-Down Approach (8</a:t>
            </a:r>
            <a:r>
              <a:rPr lang="en-US" sz="800" baseline="30000" dirty="0">
                <a:latin typeface="Times New Roman" panose="02020603050405020304" pitchFamily="18" charset="0"/>
                <a:cs typeface="Times New Roman" panose="02020603050405020304" pitchFamily="18" charset="0"/>
              </a:rPr>
              <a:t>th</a:t>
            </a:r>
            <a:r>
              <a:rPr lang="en-US" sz="800" dirty="0">
                <a:latin typeface="Times New Roman" panose="02020603050405020304" pitchFamily="18" charset="0"/>
                <a:cs typeface="Times New Roman" panose="02020603050405020304" pitchFamily="18" charset="0"/>
              </a:rPr>
              <a:t> Edition). </a:t>
            </a:r>
            <a:r>
              <a:rPr lang="en-MY" sz="800" dirty="0">
                <a:latin typeface="Times New Roman" panose="02020603050405020304" pitchFamily="18" charset="0"/>
                <a:cs typeface="Times New Roman" panose="02020603050405020304" pitchFamily="18" charset="0"/>
              </a:rPr>
              <a:t>Pearson Education Limited, England. (pp. 307)</a:t>
            </a:r>
          </a:p>
        </p:txBody>
      </p:sp>
      <p:cxnSp>
        <p:nvCxnSpPr>
          <p:cNvPr id="260" name="Straight Connector 259">
            <a:extLst>
              <a:ext uri="{FF2B5EF4-FFF2-40B4-BE49-F238E27FC236}">
                <a16:creationId xmlns:a16="http://schemas.microsoft.com/office/drawing/2014/main" id="{893EAF2A-0074-064A-8846-E2DF9B02F2AD}"/>
              </a:ext>
            </a:extLst>
          </p:cNvPr>
          <p:cNvCxnSpPr/>
          <p:nvPr/>
        </p:nvCxnSpPr>
        <p:spPr bwMode="auto">
          <a:xfrm>
            <a:off x="0" y="6652822"/>
            <a:ext cx="8324850" cy="0"/>
          </a:xfrm>
          <a:prstGeom prst="line">
            <a:avLst/>
          </a:prstGeom>
          <a:noFill/>
          <a:ln w="12700" cap="flat" cmpd="sng" algn="ctr">
            <a:solidFill>
              <a:srgbClr val="00B0F0"/>
            </a:solidFill>
            <a:prstDash val="solid"/>
            <a:round/>
            <a:headEnd type="none" w="med" len="med"/>
            <a:tailEnd type="none"/>
          </a:ln>
          <a:effectLst/>
        </p:spPr>
      </p:cxnSp>
      <p:pic>
        <p:nvPicPr>
          <p:cNvPr id="3" name="Picture 2">
            <a:extLst>
              <a:ext uri="{FF2B5EF4-FFF2-40B4-BE49-F238E27FC236}">
                <a16:creationId xmlns:a16="http://schemas.microsoft.com/office/drawing/2014/main" id="{AAB85BAC-671D-1A44-A8E8-0A46C20F6B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1255" y="1827280"/>
            <a:ext cx="6613451" cy="4234929"/>
          </a:xfrm>
          <a:prstGeom prst="rect">
            <a:avLst/>
          </a:prstGeom>
        </p:spPr>
      </p:pic>
      <p:sp>
        <p:nvSpPr>
          <p:cNvPr id="259" name="Rectangle 3">
            <a:extLst>
              <a:ext uri="{FF2B5EF4-FFF2-40B4-BE49-F238E27FC236}">
                <a16:creationId xmlns:a16="http://schemas.microsoft.com/office/drawing/2014/main" id="{BBB3CD74-DC19-A546-9E32-F9BC2E31F376}"/>
              </a:ext>
            </a:extLst>
          </p:cNvPr>
          <p:cNvSpPr txBox="1">
            <a:spLocks noChangeArrowheads="1"/>
          </p:cNvSpPr>
          <p:nvPr/>
        </p:nvSpPr>
        <p:spPr bwMode="auto">
          <a:xfrm>
            <a:off x="1322401" y="6230871"/>
            <a:ext cx="6875103" cy="4570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algn="ctr" eaLnBrk="1" hangingPunct="1">
              <a:buFont typeface="Wingdings" pitchFamily="2" charset="2"/>
              <a:buNone/>
            </a:pPr>
            <a:r>
              <a:rPr lang="en-US" sz="1800" b="1" dirty="0">
                <a:solidFill>
                  <a:srgbClr val="00B9FA"/>
                </a:solidFill>
                <a:latin typeface="Arial"/>
                <a:ea typeface="ＭＳ Ｐゴシック" pitchFamily="34" charset="-128"/>
                <a:cs typeface="Arial"/>
              </a:rPr>
              <a:t>Figure</a:t>
            </a:r>
            <a:r>
              <a:rPr lang="en-US" sz="1800" dirty="0">
                <a:latin typeface="Arial"/>
                <a:ea typeface="ＭＳ Ｐゴシック" pitchFamily="34" charset="-128"/>
                <a:cs typeface="Arial"/>
              </a:rPr>
              <a:t>: Routing algorithm determine values in </a:t>
            </a:r>
            <a:r>
              <a:rPr lang="en-US" sz="1800" dirty="0">
                <a:solidFill>
                  <a:srgbClr val="FF0000"/>
                </a:solidFill>
                <a:latin typeface="Arial"/>
                <a:ea typeface="ＭＳ Ｐゴシック" pitchFamily="34" charset="-128"/>
                <a:cs typeface="Arial"/>
              </a:rPr>
              <a:t>forwarding tables</a:t>
            </a:r>
          </a:p>
          <a:p>
            <a:pPr algn="ctr" eaLnBrk="1" hangingPunct="1">
              <a:buFont typeface="Wingdings" pitchFamily="2" charset="2"/>
              <a:buNone/>
            </a:pPr>
            <a:endParaRPr lang="en-US" sz="1800" dirty="0">
              <a:latin typeface="Arial"/>
              <a:ea typeface="ＭＳ Ｐゴシック" pitchFamily="34" charset="-128"/>
              <a:cs typeface="Arial"/>
            </a:endParaRPr>
          </a:p>
        </p:txBody>
      </p:sp>
      <p:sp>
        <p:nvSpPr>
          <p:cNvPr id="12" name="Title 41">
            <a:extLst>
              <a:ext uri="{FF2B5EF4-FFF2-40B4-BE49-F238E27FC236}">
                <a16:creationId xmlns:a16="http://schemas.microsoft.com/office/drawing/2014/main" id="{103FD696-BE32-1944-8467-C143C2C6ACC7}"/>
              </a:ext>
            </a:extLst>
          </p:cNvPr>
          <p:cNvSpPr txBox="1">
            <a:spLocks/>
          </p:cNvSpPr>
          <p:nvPr/>
        </p:nvSpPr>
        <p:spPr bwMode="auto">
          <a:xfrm>
            <a:off x="1322401" y="576357"/>
            <a:ext cx="7772400" cy="4354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marL="457200" indent="-457200" algn="r" eaLnBrk="1" hangingPunct="1">
              <a:buAutoNum type="alphaLcParenBoth"/>
            </a:pPr>
            <a:r>
              <a:rPr lang="en-US" sz="2400" dirty="0">
                <a:solidFill>
                  <a:srgbClr val="00B9FA"/>
                </a:solidFill>
                <a:latin typeface="Arial"/>
                <a:ea typeface="ＭＳ Ｐゴシック" pitchFamily="34" charset="-128"/>
                <a:cs typeface="Arial"/>
              </a:rPr>
              <a:t>Per-router control plane</a:t>
            </a:r>
          </a:p>
          <a:p>
            <a:pPr algn="r" eaLnBrk="1" hangingPunct="1"/>
            <a:r>
              <a:rPr lang="en-US" sz="2400" dirty="0">
                <a:solidFill>
                  <a:srgbClr val="00B9FA"/>
                </a:solidFill>
                <a:latin typeface="Arial"/>
                <a:ea typeface="ＭＳ Ｐゴシック" pitchFamily="34" charset="-128"/>
                <a:cs typeface="Arial"/>
              </a:rPr>
              <a:t>The Traditional Approach</a:t>
            </a:r>
          </a:p>
        </p:txBody>
      </p:sp>
      <p:sp>
        <p:nvSpPr>
          <p:cNvPr id="20" name="Rectangle 19">
            <a:extLst>
              <a:ext uri="{FF2B5EF4-FFF2-40B4-BE49-F238E27FC236}">
                <a16:creationId xmlns:a16="http://schemas.microsoft.com/office/drawing/2014/main" id="{9B21709D-D797-2040-96BE-AD8E2B418AC3}"/>
              </a:ext>
            </a:extLst>
          </p:cNvPr>
          <p:cNvSpPr/>
          <p:nvPr/>
        </p:nvSpPr>
        <p:spPr bwMode="auto">
          <a:xfrm>
            <a:off x="3423684" y="3209602"/>
            <a:ext cx="1020726" cy="990257"/>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4" name="Oval 23">
            <a:extLst>
              <a:ext uri="{FF2B5EF4-FFF2-40B4-BE49-F238E27FC236}">
                <a16:creationId xmlns:a16="http://schemas.microsoft.com/office/drawing/2014/main" id="{3C393FC2-7402-1B44-92A0-F9E2A7CD6CDE}"/>
              </a:ext>
            </a:extLst>
          </p:cNvPr>
          <p:cNvSpPr/>
          <p:nvPr/>
        </p:nvSpPr>
        <p:spPr bwMode="auto">
          <a:xfrm>
            <a:off x="3460091" y="2392327"/>
            <a:ext cx="963053" cy="499730"/>
          </a:xfrm>
          <a:prstGeom prst="ellipse">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nvGrpSpPr>
          <p:cNvPr id="25" name="Group 24">
            <a:extLst>
              <a:ext uri="{FF2B5EF4-FFF2-40B4-BE49-F238E27FC236}">
                <a16:creationId xmlns:a16="http://schemas.microsoft.com/office/drawing/2014/main" id="{DBE1C1AA-545F-5245-B9CE-F1664212E7A2}"/>
              </a:ext>
            </a:extLst>
          </p:cNvPr>
          <p:cNvGrpSpPr/>
          <p:nvPr/>
        </p:nvGrpSpPr>
        <p:grpSpPr>
          <a:xfrm>
            <a:off x="33347" y="3400988"/>
            <a:ext cx="2378862" cy="1498071"/>
            <a:chOff x="4594051" y="4188659"/>
            <a:chExt cx="2378862" cy="1498071"/>
          </a:xfrm>
        </p:grpSpPr>
        <p:sp>
          <p:nvSpPr>
            <p:cNvPr id="26" name="Oval 25">
              <a:extLst>
                <a:ext uri="{FF2B5EF4-FFF2-40B4-BE49-F238E27FC236}">
                  <a16:creationId xmlns:a16="http://schemas.microsoft.com/office/drawing/2014/main" id="{F352DAF6-8AA3-5649-B204-D129EB1FD871}"/>
                </a:ext>
              </a:extLst>
            </p:cNvPr>
            <p:cNvSpPr/>
            <p:nvPr/>
          </p:nvSpPr>
          <p:spPr bwMode="auto">
            <a:xfrm>
              <a:off x="4625951" y="4188659"/>
              <a:ext cx="2346962" cy="1498071"/>
            </a:xfrm>
            <a:prstGeom prst="ellipse">
              <a:avLst/>
            </a:prstGeom>
            <a:solidFill>
              <a:schemeClr val="bg1"/>
            </a:solidFill>
            <a:ln w="9525" cap="flat" cmpd="sng" algn="ctr">
              <a:noFill/>
              <a:prstDash val="solid"/>
              <a:round/>
              <a:headEnd type="none" w="med" len="med"/>
              <a:tailEnd type="none" w="med" len="med"/>
            </a:ln>
            <a:effectLst>
              <a:outerShdw blurRad="50800" dist="88900" dir="2700000" algn="tl" rotWithShape="0">
                <a:prstClr val="black">
                  <a:alpha val="40000"/>
                </a:prstClr>
              </a:outerShdw>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7" name="Oval Callout 26">
              <a:extLst>
                <a:ext uri="{FF2B5EF4-FFF2-40B4-BE49-F238E27FC236}">
                  <a16:creationId xmlns:a16="http://schemas.microsoft.com/office/drawing/2014/main" id="{5A9B7776-0736-5D4E-B067-4206E68D77B1}"/>
                </a:ext>
              </a:extLst>
            </p:cNvPr>
            <p:cNvSpPr/>
            <p:nvPr/>
          </p:nvSpPr>
          <p:spPr bwMode="auto">
            <a:xfrm>
              <a:off x="4594051" y="4188659"/>
              <a:ext cx="2378861" cy="1498071"/>
            </a:xfrm>
            <a:prstGeom prst="wedgeEllipseCallout">
              <a:avLst>
                <a:gd name="adj1" fmla="val 92162"/>
                <a:gd name="adj2" fmla="val -29936"/>
              </a:avLst>
            </a:prstGeom>
            <a:solidFill>
              <a:srgbClr val="FFFF00">
                <a:alpha val="30000"/>
              </a:srgbClr>
            </a:solidFill>
            <a:ln w="9525" cap="flat" cmpd="sng" algn="ctr">
              <a:solidFill>
                <a:schemeClr val="tx1">
                  <a:alpha val="3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28" name="Rectangle 27">
              <a:extLst>
                <a:ext uri="{FF2B5EF4-FFF2-40B4-BE49-F238E27FC236}">
                  <a16:creationId xmlns:a16="http://schemas.microsoft.com/office/drawing/2014/main" id="{DACEF1F5-76CF-8D4C-B12F-51648733DA0F}"/>
                </a:ext>
              </a:extLst>
            </p:cNvPr>
            <p:cNvSpPr/>
            <p:nvPr/>
          </p:nvSpPr>
          <p:spPr>
            <a:xfrm>
              <a:off x="4866307" y="4341316"/>
              <a:ext cx="1888402" cy="1200329"/>
            </a:xfrm>
            <a:prstGeom prst="rect">
              <a:avLst/>
            </a:prstGeom>
          </p:spPr>
          <p:txBody>
            <a:bodyPr wrap="square">
              <a:spAutoFit/>
            </a:bodyPr>
            <a:lstStyle/>
            <a:p>
              <a:pPr algn="ctr"/>
              <a:r>
                <a:rPr lang="en-US" b="1" dirty="0">
                  <a:solidFill>
                    <a:srgbClr val="53A9D6"/>
                  </a:solidFill>
                  <a:latin typeface="Times New Roman" panose="02020603050405020304" pitchFamily="18" charset="0"/>
                  <a:cs typeface="Times New Roman" panose="02020603050405020304" pitchFamily="18" charset="0"/>
                </a:rPr>
                <a:t>Forwarding</a:t>
              </a:r>
              <a:r>
                <a:rPr lang="en-US" dirty="0">
                  <a:latin typeface="Times New Roman" panose="02020603050405020304" pitchFamily="18" charset="0"/>
                  <a:cs typeface="Times New Roman" panose="02020603050405020304" pitchFamily="18" charset="0"/>
                </a:rPr>
                <a:t>:</a:t>
              </a:r>
            </a:p>
            <a:p>
              <a:pPr algn="ctr"/>
              <a:r>
                <a:rPr lang="en-US" dirty="0">
                  <a:latin typeface="Times New Roman" panose="02020603050405020304" pitchFamily="18" charset="0"/>
                  <a:cs typeface="Times New Roman" panose="02020603050405020304" pitchFamily="18" charset="0"/>
                </a:rPr>
                <a:t>Determines local forwarding of this router.</a:t>
              </a:r>
            </a:p>
          </p:txBody>
        </p:sp>
      </p:grpSp>
      <p:grpSp>
        <p:nvGrpSpPr>
          <p:cNvPr id="29" name="Group 28">
            <a:extLst>
              <a:ext uri="{FF2B5EF4-FFF2-40B4-BE49-F238E27FC236}">
                <a16:creationId xmlns:a16="http://schemas.microsoft.com/office/drawing/2014/main" id="{23259943-AE75-D841-BC98-53ACDF9C450C}"/>
              </a:ext>
            </a:extLst>
          </p:cNvPr>
          <p:cNvGrpSpPr/>
          <p:nvPr/>
        </p:nvGrpSpPr>
        <p:grpSpPr>
          <a:xfrm>
            <a:off x="428394" y="942906"/>
            <a:ext cx="2378862" cy="1498071"/>
            <a:chOff x="4594051" y="4188659"/>
            <a:chExt cx="2378862" cy="1498071"/>
          </a:xfrm>
        </p:grpSpPr>
        <p:sp>
          <p:nvSpPr>
            <p:cNvPr id="30" name="Oval 29">
              <a:extLst>
                <a:ext uri="{FF2B5EF4-FFF2-40B4-BE49-F238E27FC236}">
                  <a16:creationId xmlns:a16="http://schemas.microsoft.com/office/drawing/2014/main" id="{D32D553E-2122-B146-A593-E7F804987F71}"/>
                </a:ext>
              </a:extLst>
            </p:cNvPr>
            <p:cNvSpPr/>
            <p:nvPr/>
          </p:nvSpPr>
          <p:spPr bwMode="auto">
            <a:xfrm>
              <a:off x="4625951" y="4188659"/>
              <a:ext cx="2346962" cy="1498071"/>
            </a:xfrm>
            <a:prstGeom prst="ellipse">
              <a:avLst/>
            </a:prstGeom>
            <a:solidFill>
              <a:schemeClr val="bg1"/>
            </a:solidFill>
            <a:ln w="9525" cap="flat" cmpd="sng" algn="ctr">
              <a:noFill/>
              <a:prstDash val="solid"/>
              <a:round/>
              <a:headEnd type="none" w="med" len="med"/>
              <a:tailEnd type="none" w="med" len="med"/>
            </a:ln>
            <a:effectLst>
              <a:outerShdw blurRad="50800" dist="88900" dir="2700000" algn="tl" rotWithShape="0">
                <a:prstClr val="black">
                  <a:alpha val="40000"/>
                </a:prstClr>
              </a:outerShdw>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1" name="Oval Callout 30">
              <a:extLst>
                <a:ext uri="{FF2B5EF4-FFF2-40B4-BE49-F238E27FC236}">
                  <a16:creationId xmlns:a16="http://schemas.microsoft.com/office/drawing/2014/main" id="{AA30AED2-C0F5-7445-8362-452DA3F70278}"/>
                </a:ext>
              </a:extLst>
            </p:cNvPr>
            <p:cNvSpPr/>
            <p:nvPr/>
          </p:nvSpPr>
          <p:spPr bwMode="auto">
            <a:xfrm>
              <a:off x="4594051" y="4188659"/>
              <a:ext cx="2378861" cy="1498071"/>
            </a:xfrm>
            <a:prstGeom prst="wedgeEllipseCallout">
              <a:avLst>
                <a:gd name="adj1" fmla="val 77412"/>
                <a:gd name="adj2" fmla="val 60912"/>
              </a:avLst>
            </a:prstGeom>
            <a:solidFill>
              <a:srgbClr val="FFFF00">
                <a:alpha val="30000"/>
              </a:srgbClr>
            </a:solidFill>
            <a:ln w="9525" cap="flat" cmpd="sng" algn="ctr">
              <a:solidFill>
                <a:schemeClr val="tx1">
                  <a:alpha val="3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32" name="Rectangle 31">
              <a:extLst>
                <a:ext uri="{FF2B5EF4-FFF2-40B4-BE49-F238E27FC236}">
                  <a16:creationId xmlns:a16="http://schemas.microsoft.com/office/drawing/2014/main" id="{4B348A9A-2954-D740-973C-1D13517BB928}"/>
                </a:ext>
              </a:extLst>
            </p:cNvPr>
            <p:cNvSpPr/>
            <p:nvPr/>
          </p:nvSpPr>
          <p:spPr>
            <a:xfrm>
              <a:off x="4813142" y="4341316"/>
              <a:ext cx="1981770" cy="1200329"/>
            </a:xfrm>
            <a:prstGeom prst="rect">
              <a:avLst/>
            </a:prstGeom>
          </p:spPr>
          <p:txBody>
            <a:bodyPr wrap="square">
              <a:spAutoFit/>
            </a:bodyPr>
            <a:lstStyle/>
            <a:p>
              <a:pPr algn="ctr"/>
              <a:r>
                <a:rPr lang="en-US" b="1" dirty="0">
                  <a:solidFill>
                    <a:srgbClr val="53A9D6"/>
                  </a:solidFill>
                  <a:latin typeface="Times New Roman" panose="02020603050405020304" pitchFamily="18" charset="0"/>
                  <a:cs typeface="Times New Roman" panose="02020603050405020304" pitchFamily="18" charset="0"/>
                </a:rPr>
                <a:t>Routing</a:t>
              </a:r>
              <a:r>
                <a:rPr lang="en-US" dirty="0">
                  <a:latin typeface="Times New Roman" panose="02020603050405020304" pitchFamily="18" charset="0"/>
                  <a:cs typeface="Times New Roman" panose="02020603050405020304" pitchFamily="18" charset="0"/>
                </a:rPr>
                <a:t>:</a:t>
              </a:r>
            </a:p>
            <a:p>
              <a:pPr algn="ctr"/>
              <a:r>
                <a:rPr lang="en-US" dirty="0">
                  <a:latin typeface="Times New Roman" panose="02020603050405020304" pitchFamily="18" charset="0"/>
                  <a:cs typeface="Times New Roman" panose="02020603050405020304" pitchFamily="18" charset="0"/>
                </a:rPr>
                <a:t>Determines end-to-end path through network.</a:t>
              </a:r>
            </a:p>
          </p:txBody>
        </p:sp>
      </p:grpSp>
      <p:sp>
        <p:nvSpPr>
          <p:cNvPr id="22" name="Right Triangle 21">
            <a:extLst>
              <a:ext uri="{FF2B5EF4-FFF2-40B4-BE49-F238E27FC236}">
                <a16:creationId xmlns:a16="http://schemas.microsoft.com/office/drawing/2014/main" id="{CCD7F5DA-65B1-9D49-BED4-C7DCB89BC864}"/>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9" name="TextBox 257">
            <a:extLst>
              <a:ext uri="{FF2B5EF4-FFF2-40B4-BE49-F238E27FC236}">
                <a16:creationId xmlns:a16="http://schemas.microsoft.com/office/drawing/2014/main" id="{EDA852AC-89D8-B146-A27C-327B35DE6722}"/>
              </a:ext>
            </a:extLst>
          </p:cNvPr>
          <p:cNvSpPr txBox="1">
            <a:spLocks noChangeArrowheads="1"/>
          </p:cNvSpPr>
          <p:nvPr/>
        </p:nvSpPr>
        <p:spPr bwMode="auto">
          <a:xfrm>
            <a:off x="2807255" y="947826"/>
            <a:ext cx="628754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dirty="0"/>
              <a:t>Individual routing algorithm components </a:t>
            </a:r>
            <a:r>
              <a:rPr lang="en-US" altLang="en-US" sz="2400" i="1" dirty="0">
                <a:solidFill>
                  <a:srgbClr val="000090"/>
                </a:solidFill>
              </a:rPr>
              <a:t>in each and every router </a:t>
            </a:r>
            <a:r>
              <a:rPr lang="en-US" altLang="en-US" sz="2400" dirty="0"/>
              <a:t>interact in the control plane</a:t>
            </a:r>
          </a:p>
        </p:txBody>
      </p:sp>
      <p:sp>
        <p:nvSpPr>
          <p:cNvPr id="21"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10</a:t>
            </a:fld>
            <a:endParaRPr lang="en-US" altLang="en-US" dirty="0">
              <a:latin typeface="Tahoma" panose="020B0604030504040204" pitchFamily="34" charset="0"/>
            </a:endParaRPr>
          </a:p>
        </p:txBody>
      </p:sp>
    </p:spTree>
    <p:extLst>
      <p:ext uri="{BB962C8B-B14F-4D97-AF65-F5344CB8AC3E}">
        <p14:creationId xmlns:p14="http://schemas.microsoft.com/office/powerpoint/2010/main" val="129219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
          <p:cNvSpPr txBox="1">
            <a:spLocks noChangeArrowheads="1"/>
          </p:cNvSpPr>
          <p:nvPr/>
        </p:nvSpPr>
        <p:spPr bwMode="auto">
          <a:xfrm>
            <a:off x="4497718" y="140786"/>
            <a:ext cx="4646282"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altLang="ja-JP" sz="2800" dirty="0">
                <a:solidFill>
                  <a:schemeClr val="tx1"/>
                </a:solidFill>
                <a:latin typeface="Arial"/>
                <a:ea typeface="ＭＳ Ｐゴシック" pitchFamily="34" charset="-128"/>
                <a:cs typeface="Arial"/>
              </a:rPr>
              <a:t>Forwarding and Routing</a:t>
            </a:r>
            <a:endParaRPr lang="en-US" sz="2800" dirty="0">
              <a:solidFill>
                <a:schemeClr val="tx1"/>
              </a:solidFill>
              <a:latin typeface="Arial"/>
              <a:ea typeface="ＭＳ Ｐゴシック" pitchFamily="34" charset="-128"/>
              <a:cs typeface="Arial"/>
            </a:endParaRPr>
          </a:p>
        </p:txBody>
      </p:sp>
      <p:sp>
        <p:nvSpPr>
          <p:cNvPr id="12" name="Title 41">
            <a:extLst>
              <a:ext uri="{FF2B5EF4-FFF2-40B4-BE49-F238E27FC236}">
                <a16:creationId xmlns:a16="http://schemas.microsoft.com/office/drawing/2014/main" id="{103FD696-BE32-1944-8467-C143C2C6ACC7}"/>
              </a:ext>
            </a:extLst>
          </p:cNvPr>
          <p:cNvSpPr txBox="1">
            <a:spLocks/>
          </p:cNvSpPr>
          <p:nvPr/>
        </p:nvSpPr>
        <p:spPr bwMode="auto">
          <a:xfrm>
            <a:off x="1361105" y="923894"/>
            <a:ext cx="7772400" cy="4354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400" dirty="0">
                <a:solidFill>
                  <a:srgbClr val="00B9FA"/>
                </a:solidFill>
                <a:latin typeface="Arial"/>
                <a:ea typeface="ＭＳ Ｐゴシック" pitchFamily="34" charset="-128"/>
                <a:cs typeface="Arial"/>
              </a:rPr>
              <a:t>(b) The SDN Approach</a:t>
            </a:r>
          </a:p>
        </p:txBody>
      </p:sp>
      <p:pic>
        <p:nvPicPr>
          <p:cNvPr id="5" name="Picture 4">
            <a:extLst>
              <a:ext uri="{FF2B5EF4-FFF2-40B4-BE49-F238E27FC236}">
                <a16:creationId xmlns:a16="http://schemas.microsoft.com/office/drawing/2014/main" id="{9AFF5CBB-1886-0047-A2F6-777F8075B6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2373" y="1342160"/>
            <a:ext cx="6851003" cy="5270585"/>
          </a:xfrm>
          <a:prstGeom prst="rect">
            <a:avLst/>
          </a:prstGeom>
        </p:spPr>
      </p:pic>
      <p:sp>
        <p:nvSpPr>
          <p:cNvPr id="20" name="Rectangle 19">
            <a:extLst>
              <a:ext uri="{FF2B5EF4-FFF2-40B4-BE49-F238E27FC236}">
                <a16:creationId xmlns:a16="http://schemas.microsoft.com/office/drawing/2014/main" id="{9B21709D-D797-2040-96BE-AD8E2B418AC3}"/>
              </a:ext>
            </a:extLst>
          </p:cNvPr>
          <p:cNvSpPr/>
          <p:nvPr/>
        </p:nvSpPr>
        <p:spPr bwMode="auto">
          <a:xfrm>
            <a:off x="3625702" y="3840796"/>
            <a:ext cx="978196" cy="990257"/>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nvGrpSpPr>
          <p:cNvPr id="25" name="Group 24">
            <a:extLst>
              <a:ext uri="{FF2B5EF4-FFF2-40B4-BE49-F238E27FC236}">
                <a16:creationId xmlns:a16="http://schemas.microsoft.com/office/drawing/2014/main" id="{DBE1C1AA-545F-5245-B9CE-F1664212E7A2}"/>
              </a:ext>
            </a:extLst>
          </p:cNvPr>
          <p:cNvGrpSpPr/>
          <p:nvPr/>
        </p:nvGrpSpPr>
        <p:grpSpPr>
          <a:xfrm>
            <a:off x="33347" y="3688069"/>
            <a:ext cx="2378862" cy="1498071"/>
            <a:chOff x="4594051" y="4188659"/>
            <a:chExt cx="2378862" cy="1498071"/>
          </a:xfrm>
        </p:grpSpPr>
        <p:sp>
          <p:nvSpPr>
            <p:cNvPr id="26" name="Oval 25">
              <a:extLst>
                <a:ext uri="{FF2B5EF4-FFF2-40B4-BE49-F238E27FC236}">
                  <a16:creationId xmlns:a16="http://schemas.microsoft.com/office/drawing/2014/main" id="{F352DAF6-8AA3-5649-B204-D129EB1FD871}"/>
                </a:ext>
              </a:extLst>
            </p:cNvPr>
            <p:cNvSpPr/>
            <p:nvPr/>
          </p:nvSpPr>
          <p:spPr bwMode="auto">
            <a:xfrm>
              <a:off x="4625951" y="4188659"/>
              <a:ext cx="2346962" cy="1498071"/>
            </a:xfrm>
            <a:prstGeom prst="ellipse">
              <a:avLst/>
            </a:prstGeom>
            <a:solidFill>
              <a:schemeClr val="bg1"/>
            </a:solidFill>
            <a:ln w="9525" cap="flat" cmpd="sng" algn="ctr">
              <a:noFill/>
              <a:prstDash val="solid"/>
              <a:round/>
              <a:headEnd type="none" w="med" len="med"/>
              <a:tailEnd type="none" w="med" len="med"/>
            </a:ln>
            <a:effectLst>
              <a:outerShdw blurRad="50800" dist="88900" dir="2700000" algn="tl" rotWithShape="0">
                <a:prstClr val="black">
                  <a:alpha val="40000"/>
                </a:prstClr>
              </a:outerShdw>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7" name="Oval Callout 26">
              <a:extLst>
                <a:ext uri="{FF2B5EF4-FFF2-40B4-BE49-F238E27FC236}">
                  <a16:creationId xmlns:a16="http://schemas.microsoft.com/office/drawing/2014/main" id="{5A9B7776-0736-5D4E-B067-4206E68D77B1}"/>
                </a:ext>
              </a:extLst>
            </p:cNvPr>
            <p:cNvSpPr/>
            <p:nvPr/>
          </p:nvSpPr>
          <p:spPr bwMode="auto">
            <a:xfrm>
              <a:off x="4594051" y="4188659"/>
              <a:ext cx="2378861" cy="1498071"/>
            </a:xfrm>
            <a:prstGeom prst="wedgeEllipseCallout">
              <a:avLst>
                <a:gd name="adj1" fmla="val 99760"/>
                <a:gd name="adj2" fmla="val -8644"/>
              </a:avLst>
            </a:prstGeom>
            <a:solidFill>
              <a:srgbClr val="FFFF00">
                <a:alpha val="30000"/>
              </a:srgbClr>
            </a:solidFill>
            <a:ln w="9525" cap="flat" cmpd="sng" algn="ctr">
              <a:solidFill>
                <a:schemeClr val="tx1">
                  <a:alpha val="3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28" name="Rectangle 27">
              <a:extLst>
                <a:ext uri="{FF2B5EF4-FFF2-40B4-BE49-F238E27FC236}">
                  <a16:creationId xmlns:a16="http://schemas.microsoft.com/office/drawing/2014/main" id="{DACEF1F5-76CF-8D4C-B12F-51648733DA0F}"/>
                </a:ext>
              </a:extLst>
            </p:cNvPr>
            <p:cNvSpPr/>
            <p:nvPr/>
          </p:nvSpPr>
          <p:spPr>
            <a:xfrm>
              <a:off x="4866307" y="4341316"/>
              <a:ext cx="1888402" cy="1200329"/>
            </a:xfrm>
            <a:prstGeom prst="rect">
              <a:avLst/>
            </a:prstGeom>
          </p:spPr>
          <p:txBody>
            <a:bodyPr wrap="square">
              <a:spAutoFit/>
            </a:bodyPr>
            <a:lstStyle/>
            <a:p>
              <a:pPr algn="ctr"/>
              <a:r>
                <a:rPr lang="en-US" b="1" dirty="0">
                  <a:solidFill>
                    <a:srgbClr val="53A9D6"/>
                  </a:solidFill>
                  <a:latin typeface="Times New Roman" panose="02020603050405020304" pitchFamily="18" charset="0"/>
                  <a:cs typeface="Times New Roman" panose="02020603050405020304" pitchFamily="18" charset="0"/>
                </a:rPr>
                <a:t>Forwarding</a:t>
              </a:r>
              <a:r>
                <a:rPr lang="en-US" dirty="0">
                  <a:latin typeface="Times New Roman" panose="02020603050405020304" pitchFamily="18" charset="0"/>
                  <a:cs typeface="Times New Roman" panose="02020603050405020304" pitchFamily="18" charset="0"/>
                </a:rPr>
                <a:t>:</a:t>
              </a:r>
            </a:p>
            <a:p>
              <a:pPr algn="ctr"/>
              <a:r>
                <a:rPr lang="en-US" dirty="0">
                  <a:latin typeface="Times New Roman" panose="02020603050405020304" pitchFamily="18" charset="0"/>
                  <a:cs typeface="Times New Roman" panose="02020603050405020304" pitchFamily="18" charset="0"/>
                </a:rPr>
                <a:t>Determines local forwarding of this router.</a:t>
              </a:r>
            </a:p>
          </p:txBody>
        </p:sp>
      </p:grpSp>
      <p:sp>
        <p:nvSpPr>
          <p:cNvPr id="24" name="Oval 23">
            <a:extLst>
              <a:ext uri="{FF2B5EF4-FFF2-40B4-BE49-F238E27FC236}">
                <a16:creationId xmlns:a16="http://schemas.microsoft.com/office/drawing/2014/main" id="{3C393FC2-7402-1B44-92A0-F9E2A7CD6CDE}"/>
              </a:ext>
            </a:extLst>
          </p:cNvPr>
          <p:cNvSpPr/>
          <p:nvPr/>
        </p:nvSpPr>
        <p:spPr bwMode="auto">
          <a:xfrm>
            <a:off x="4306186" y="1584250"/>
            <a:ext cx="3476847" cy="386491"/>
          </a:xfrm>
          <a:prstGeom prst="ellipse">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nvGrpSpPr>
          <p:cNvPr id="29" name="Group 28">
            <a:extLst>
              <a:ext uri="{FF2B5EF4-FFF2-40B4-BE49-F238E27FC236}">
                <a16:creationId xmlns:a16="http://schemas.microsoft.com/office/drawing/2014/main" id="{23259943-AE75-D841-BC98-53ACDF9C450C}"/>
              </a:ext>
            </a:extLst>
          </p:cNvPr>
          <p:cNvGrpSpPr/>
          <p:nvPr/>
        </p:nvGrpSpPr>
        <p:grpSpPr>
          <a:xfrm>
            <a:off x="1558961" y="59933"/>
            <a:ext cx="2378862" cy="1498071"/>
            <a:chOff x="4594051" y="4188659"/>
            <a:chExt cx="2378862" cy="1498071"/>
          </a:xfrm>
        </p:grpSpPr>
        <p:sp>
          <p:nvSpPr>
            <p:cNvPr id="30" name="Oval 29">
              <a:extLst>
                <a:ext uri="{FF2B5EF4-FFF2-40B4-BE49-F238E27FC236}">
                  <a16:creationId xmlns:a16="http://schemas.microsoft.com/office/drawing/2014/main" id="{D32D553E-2122-B146-A593-E7F804987F71}"/>
                </a:ext>
              </a:extLst>
            </p:cNvPr>
            <p:cNvSpPr/>
            <p:nvPr/>
          </p:nvSpPr>
          <p:spPr bwMode="auto">
            <a:xfrm>
              <a:off x="4625951" y="4188659"/>
              <a:ext cx="2346962" cy="1498071"/>
            </a:xfrm>
            <a:prstGeom prst="ellipse">
              <a:avLst/>
            </a:prstGeom>
            <a:solidFill>
              <a:schemeClr val="bg1"/>
            </a:solidFill>
            <a:ln w="9525" cap="flat" cmpd="sng" algn="ctr">
              <a:noFill/>
              <a:prstDash val="solid"/>
              <a:round/>
              <a:headEnd type="none" w="med" len="med"/>
              <a:tailEnd type="none" w="med" len="med"/>
            </a:ln>
            <a:effectLst>
              <a:outerShdw blurRad="50800" dist="88900" dir="2700000" algn="tl" rotWithShape="0">
                <a:prstClr val="black">
                  <a:alpha val="40000"/>
                </a:prstClr>
              </a:outerShdw>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1" name="Oval Callout 30">
              <a:extLst>
                <a:ext uri="{FF2B5EF4-FFF2-40B4-BE49-F238E27FC236}">
                  <a16:creationId xmlns:a16="http://schemas.microsoft.com/office/drawing/2014/main" id="{AA30AED2-C0F5-7445-8362-452DA3F70278}"/>
                </a:ext>
              </a:extLst>
            </p:cNvPr>
            <p:cNvSpPr/>
            <p:nvPr/>
          </p:nvSpPr>
          <p:spPr bwMode="auto">
            <a:xfrm>
              <a:off x="4594051" y="4188659"/>
              <a:ext cx="2378861" cy="1498071"/>
            </a:xfrm>
            <a:prstGeom prst="wedgeEllipseCallout">
              <a:avLst>
                <a:gd name="adj1" fmla="val 79647"/>
                <a:gd name="adj2" fmla="val 55944"/>
              </a:avLst>
            </a:prstGeom>
            <a:solidFill>
              <a:srgbClr val="FFFF00">
                <a:alpha val="30000"/>
              </a:srgbClr>
            </a:solidFill>
            <a:ln w="9525" cap="flat" cmpd="sng" algn="ctr">
              <a:solidFill>
                <a:schemeClr val="tx1">
                  <a:alpha val="3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32" name="Rectangle 31">
              <a:extLst>
                <a:ext uri="{FF2B5EF4-FFF2-40B4-BE49-F238E27FC236}">
                  <a16:creationId xmlns:a16="http://schemas.microsoft.com/office/drawing/2014/main" id="{4B348A9A-2954-D740-973C-1D13517BB928}"/>
                </a:ext>
              </a:extLst>
            </p:cNvPr>
            <p:cNvSpPr/>
            <p:nvPr/>
          </p:nvSpPr>
          <p:spPr>
            <a:xfrm>
              <a:off x="4813142" y="4341316"/>
              <a:ext cx="1981770" cy="1200329"/>
            </a:xfrm>
            <a:prstGeom prst="rect">
              <a:avLst/>
            </a:prstGeom>
          </p:spPr>
          <p:txBody>
            <a:bodyPr wrap="square">
              <a:spAutoFit/>
            </a:bodyPr>
            <a:lstStyle/>
            <a:p>
              <a:pPr algn="ctr"/>
              <a:r>
                <a:rPr lang="en-US" b="1" dirty="0">
                  <a:solidFill>
                    <a:srgbClr val="53A9D6"/>
                  </a:solidFill>
                  <a:latin typeface="Times New Roman" panose="02020603050405020304" pitchFamily="18" charset="0"/>
                  <a:cs typeface="Times New Roman" panose="02020603050405020304" pitchFamily="18" charset="0"/>
                </a:rPr>
                <a:t>Routing</a:t>
              </a:r>
              <a:r>
                <a:rPr lang="en-US" dirty="0">
                  <a:latin typeface="Times New Roman" panose="02020603050405020304" pitchFamily="18" charset="0"/>
                  <a:cs typeface="Times New Roman" panose="02020603050405020304" pitchFamily="18" charset="0"/>
                </a:rPr>
                <a:t>:</a:t>
              </a:r>
            </a:p>
            <a:p>
              <a:pPr algn="ctr"/>
              <a:r>
                <a:rPr lang="en-US" dirty="0">
                  <a:latin typeface="Times New Roman" panose="02020603050405020304" pitchFamily="18" charset="0"/>
                  <a:cs typeface="Times New Roman" panose="02020603050405020304" pitchFamily="18" charset="0"/>
                </a:rPr>
                <a:t>Determines end-to-end path through network.</a:t>
              </a:r>
            </a:p>
          </p:txBody>
        </p:sp>
      </p:grpSp>
      <p:sp>
        <p:nvSpPr>
          <p:cNvPr id="259" name="Rectangle 3">
            <a:extLst>
              <a:ext uri="{FF2B5EF4-FFF2-40B4-BE49-F238E27FC236}">
                <a16:creationId xmlns:a16="http://schemas.microsoft.com/office/drawing/2014/main" id="{BBB3CD74-DC19-A546-9E32-F9BC2E31F376}"/>
              </a:ext>
            </a:extLst>
          </p:cNvPr>
          <p:cNvSpPr txBox="1">
            <a:spLocks noChangeArrowheads="1"/>
          </p:cNvSpPr>
          <p:nvPr/>
        </p:nvSpPr>
        <p:spPr bwMode="auto">
          <a:xfrm>
            <a:off x="0" y="6507323"/>
            <a:ext cx="9143801" cy="3302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algn="ctr" eaLnBrk="1" hangingPunct="1">
              <a:buNone/>
            </a:pPr>
            <a:r>
              <a:rPr lang="en-US" sz="1800" b="1" dirty="0">
                <a:solidFill>
                  <a:srgbClr val="00B9FA"/>
                </a:solidFill>
                <a:latin typeface="Arial"/>
                <a:ea typeface="ＭＳ Ｐゴシック" pitchFamily="34" charset="-128"/>
                <a:cs typeface="Arial"/>
              </a:rPr>
              <a:t>Figure</a:t>
            </a:r>
            <a:r>
              <a:rPr lang="en-US" sz="1800" dirty="0">
                <a:latin typeface="Arial"/>
                <a:ea typeface="ＭＳ Ｐゴシック" pitchFamily="34" charset="-128"/>
                <a:cs typeface="Arial"/>
              </a:rPr>
              <a:t>: </a:t>
            </a:r>
            <a:r>
              <a:rPr lang="en-MY" sz="1800" dirty="0">
                <a:latin typeface="Arial"/>
                <a:ea typeface="ＭＳ Ｐゴシック" pitchFamily="34" charset="-128"/>
                <a:cs typeface="Arial"/>
              </a:rPr>
              <a:t>A remote controller determines and distributes values in</a:t>
            </a:r>
            <a:r>
              <a:rPr lang="en-US" sz="1800" dirty="0">
                <a:latin typeface="Arial"/>
                <a:ea typeface="ＭＳ Ｐゴシック" pitchFamily="34" charset="-128"/>
                <a:cs typeface="Arial"/>
              </a:rPr>
              <a:t> </a:t>
            </a:r>
            <a:r>
              <a:rPr lang="en-US" sz="1800" dirty="0">
                <a:solidFill>
                  <a:srgbClr val="FF0000"/>
                </a:solidFill>
                <a:latin typeface="Arial"/>
                <a:ea typeface="ＭＳ Ｐゴシック" pitchFamily="34" charset="-128"/>
                <a:cs typeface="Arial"/>
              </a:rPr>
              <a:t>forwarding tables</a:t>
            </a:r>
          </a:p>
          <a:p>
            <a:pPr algn="ctr" eaLnBrk="1" hangingPunct="1">
              <a:buFont typeface="Wingdings" pitchFamily="2" charset="2"/>
              <a:buNone/>
            </a:pPr>
            <a:endParaRPr lang="en-US" sz="1800" dirty="0">
              <a:latin typeface="Arial"/>
              <a:ea typeface="ＭＳ Ｐゴシック" pitchFamily="34" charset="-128"/>
              <a:cs typeface="Arial"/>
            </a:endParaRPr>
          </a:p>
        </p:txBody>
      </p:sp>
      <p:sp>
        <p:nvSpPr>
          <p:cNvPr id="2" name="Rectangle 1">
            <a:extLst>
              <a:ext uri="{FF2B5EF4-FFF2-40B4-BE49-F238E27FC236}">
                <a16:creationId xmlns:a16="http://schemas.microsoft.com/office/drawing/2014/main" id="{BADB6D2F-6A44-7546-9028-6E13C196CB11}"/>
              </a:ext>
            </a:extLst>
          </p:cNvPr>
          <p:cNvSpPr/>
          <p:nvPr/>
        </p:nvSpPr>
        <p:spPr>
          <a:xfrm>
            <a:off x="7084386" y="1252007"/>
            <a:ext cx="2081019" cy="246221"/>
          </a:xfrm>
          <a:prstGeom prst="rect">
            <a:avLst/>
          </a:prstGeom>
        </p:spPr>
        <p:txBody>
          <a:bodyPr wrap="none">
            <a:spAutoFit/>
          </a:bodyPr>
          <a:lstStyle/>
          <a:p>
            <a:r>
              <a:rPr lang="en-MY" sz="1000" i="1" dirty="0">
                <a:latin typeface="Times New Roman" panose="02020603050405020304" pitchFamily="18" charset="0"/>
                <a:cs typeface="Times New Roman" panose="02020603050405020304" pitchFamily="18" charset="0"/>
              </a:rPr>
              <a:t>Software-Defined Networking </a:t>
            </a:r>
            <a:r>
              <a:rPr lang="en-MY" sz="1000" dirty="0">
                <a:latin typeface="Times New Roman" panose="02020603050405020304" pitchFamily="18" charset="0"/>
                <a:cs typeface="Times New Roman" panose="02020603050405020304" pitchFamily="18" charset="0"/>
              </a:rPr>
              <a:t>(</a:t>
            </a:r>
            <a:r>
              <a:rPr lang="en-MY" sz="1000" i="1" dirty="0">
                <a:latin typeface="Times New Roman" panose="02020603050405020304" pitchFamily="18" charset="0"/>
                <a:cs typeface="Times New Roman" panose="02020603050405020304" pitchFamily="18" charset="0"/>
              </a:rPr>
              <a:t>SDN</a:t>
            </a:r>
            <a:r>
              <a:rPr lang="en-MY" sz="1000" dirty="0">
                <a:latin typeface="Times New Roman" panose="02020603050405020304" pitchFamily="18" charset="0"/>
                <a:cs typeface="Times New Roman" panose="02020603050405020304" pitchFamily="18" charset="0"/>
              </a:rPr>
              <a:t>)</a:t>
            </a:r>
            <a:endParaRPr lang="en-MY" sz="1000" dirty="0">
              <a:effectLst/>
              <a:latin typeface="Times New Roman" panose="02020603050405020304" pitchFamily="18" charset="0"/>
              <a:cs typeface="Times New Roman" panose="02020603050405020304" pitchFamily="18" charset="0"/>
            </a:endParaRPr>
          </a:p>
        </p:txBody>
      </p:sp>
      <p:sp>
        <p:nvSpPr>
          <p:cNvPr id="21" name="Right Triangle 20">
            <a:extLst>
              <a:ext uri="{FF2B5EF4-FFF2-40B4-BE49-F238E27FC236}">
                <a16:creationId xmlns:a16="http://schemas.microsoft.com/office/drawing/2014/main" id="{B50AE4D5-0CCC-3E47-8B3E-3C6877376113}"/>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9" name="TextBox 335">
            <a:extLst>
              <a:ext uri="{FF2B5EF4-FFF2-40B4-BE49-F238E27FC236}">
                <a16:creationId xmlns:a16="http://schemas.microsoft.com/office/drawing/2014/main" id="{C80461D8-BA16-5242-AF44-7C63CF02BD51}"/>
              </a:ext>
            </a:extLst>
          </p:cNvPr>
          <p:cNvSpPr txBox="1">
            <a:spLocks noChangeArrowheads="1"/>
          </p:cNvSpPr>
          <p:nvPr/>
        </p:nvSpPr>
        <p:spPr bwMode="auto">
          <a:xfrm>
            <a:off x="138246" y="1565576"/>
            <a:ext cx="264357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Remote controller computes, installs forwarding tables in routers</a:t>
            </a:r>
          </a:p>
          <a:p>
            <a:endParaRPr lang="en-US" altLang="en-US" sz="2400" dirty="0"/>
          </a:p>
        </p:txBody>
      </p:sp>
      <p:sp>
        <p:nvSpPr>
          <p:cNvPr id="22"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11</a:t>
            </a:fld>
            <a:endParaRPr lang="en-US" altLang="en-US" dirty="0">
              <a:latin typeface="Tahoma" panose="020B0604030504040204" pitchFamily="34" charset="0"/>
            </a:endParaRPr>
          </a:p>
        </p:txBody>
      </p:sp>
    </p:spTree>
    <p:extLst>
      <p:ext uri="{BB962C8B-B14F-4D97-AF65-F5344CB8AC3E}">
        <p14:creationId xmlns:p14="http://schemas.microsoft.com/office/powerpoint/2010/main" val="77327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a:extLst>
              <a:ext uri="{FF2B5EF4-FFF2-40B4-BE49-F238E27FC236}">
                <a16:creationId xmlns:a16="http://schemas.microsoft.com/office/drawing/2014/main" id="{DD664CCB-E6F3-5645-B401-2F6501D10587}"/>
              </a:ext>
            </a:extLst>
          </p:cNvPr>
          <p:cNvSpPr>
            <a:spLocks noGrp="1" noChangeArrowheads="1"/>
          </p:cNvSpPr>
          <p:nvPr>
            <p:ph type="title"/>
          </p:nvPr>
        </p:nvSpPr>
        <p:spPr/>
        <p:txBody>
          <a:bodyPr/>
          <a:lstStyle/>
          <a:p>
            <a:pPr>
              <a:defRPr/>
            </a:pPr>
            <a:r>
              <a:rPr lang="en-US">
                <a:cs typeface="+mj-cs"/>
              </a:rPr>
              <a:t>Network service model</a:t>
            </a:r>
          </a:p>
        </p:txBody>
      </p:sp>
      <p:sp>
        <p:nvSpPr>
          <p:cNvPr id="47107" name="Rectangle 13">
            <a:extLst>
              <a:ext uri="{FF2B5EF4-FFF2-40B4-BE49-F238E27FC236}">
                <a16:creationId xmlns:a16="http://schemas.microsoft.com/office/drawing/2014/main" id="{C59EA4CC-EDFF-3542-AE88-856A46748C6B}"/>
              </a:ext>
            </a:extLst>
          </p:cNvPr>
          <p:cNvSpPr>
            <a:spLocks noChangeArrowheads="1"/>
          </p:cNvSpPr>
          <p:nvPr/>
        </p:nvSpPr>
        <p:spPr bwMode="auto">
          <a:xfrm>
            <a:off x="609600" y="1430338"/>
            <a:ext cx="75549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ZapfDingbats" charset="2"/>
              <a:buNone/>
            </a:pPr>
            <a:r>
              <a:rPr lang="en-US" altLang="en-US" sz="2800" i="1">
                <a:solidFill>
                  <a:srgbClr val="CC0000"/>
                </a:solidFill>
                <a:latin typeface="Gill Sans MT" panose="020B0502020104020203" pitchFamily="34" charset="77"/>
              </a:rPr>
              <a:t>Q:</a:t>
            </a:r>
            <a:r>
              <a:rPr lang="en-US" altLang="en-US" sz="2800">
                <a:latin typeface="Gill Sans MT" panose="020B0502020104020203" pitchFamily="34" charset="77"/>
              </a:rPr>
              <a:t> What </a:t>
            </a:r>
            <a:r>
              <a:rPr lang="en-US" altLang="en-US" sz="2800" i="1">
                <a:solidFill>
                  <a:srgbClr val="000099"/>
                </a:solidFill>
                <a:latin typeface="Gill Sans MT" panose="020B0502020104020203" pitchFamily="34" charset="77"/>
              </a:rPr>
              <a:t>service model</a:t>
            </a:r>
            <a:r>
              <a:rPr lang="en-US" altLang="en-US" sz="2800">
                <a:latin typeface="Gill Sans MT" panose="020B0502020104020203" pitchFamily="34" charset="77"/>
              </a:rPr>
              <a:t> for </a:t>
            </a:r>
            <a:r>
              <a:rPr lang="ja-JP" altLang="en-US" sz="2800">
                <a:latin typeface="Gill Sans MT" panose="020B0502020104020203" pitchFamily="34" charset="77"/>
              </a:rPr>
              <a:t>“</a:t>
            </a:r>
            <a:r>
              <a:rPr lang="en-US" altLang="ja-JP" sz="2800">
                <a:latin typeface="Gill Sans MT" panose="020B0502020104020203" pitchFamily="34" charset="77"/>
              </a:rPr>
              <a:t>channel</a:t>
            </a:r>
            <a:r>
              <a:rPr lang="ja-JP" altLang="en-US" sz="2800">
                <a:latin typeface="Gill Sans MT" panose="020B0502020104020203" pitchFamily="34" charset="77"/>
              </a:rPr>
              <a:t>”</a:t>
            </a:r>
            <a:r>
              <a:rPr lang="en-US" altLang="ja-JP" sz="2800">
                <a:latin typeface="Gill Sans MT" panose="020B0502020104020203" pitchFamily="34" charset="77"/>
              </a:rPr>
              <a:t> transporting datagrams from sender to receiver?</a:t>
            </a:r>
            <a:endParaRPr lang="en-US" altLang="en-US" sz="2800">
              <a:latin typeface="Gill Sans MT" panose="020B0502020104020203" pitchFamily="34" charset="77"/>
            </a:endParaRPr>
          </a:p>
        </p:txBody>
      </p:sp>
      <p:sp>
        <p:nvSpPr>
          <p:cNvPr id="8198" name="Rectangle 15">
            <a:extLst>
              <a:ext uri="{FF2B5EF4-FFF2-40B4-BE49-F238E27FC236}">
                <a16:creationId xmlns:a16="http://schemas.microsoft.com/office/drawing/2014/main" id="{9F4159B1-A846-8D4C-9AFD-1F395CCD040F}"/>
              </a:ext>
            </a:extLst>
          </p:cNvPr>
          <p:cNvSpPr>
            <a:spLocks noGrp="1" noChangeArrowheads="1"/>
          </p:cNvSpPr>
          <p:nvPr>
            <p:ph type="body" sz="half" idx="1"/>
          </p:nvPr>
        </p:nvSpPr>
        <p:spPr>
          <a:xfrm>
            <a:off x="442913" y="2587625"/>
            <a:ext cx="3810000" cy="2528888"/>
          </a:xfrm>
        </p:spPr>
        <p:txBody>
          <a:bodyPr/>
          <a:lstStyle/>
          <a:p>
            <a:pPr>
              <a:buFont typeface="Wingdings" charset="0"/>
              <a:buNone/>
              <a:defRPr/>
            </a:pPr>
            <a:r>
              <a:rPr lang="en-US" i="1" dirty="0">
                <a:solidFill>
                  <a:srgbClr val="CC0000"/>
                </a:solidFill>
                <a:cs typeface="+mn-cs"/>
              </a:rPr>
              <a:t>example services for individual datagrams:</a:t>
            </a:r>
          </a:p>
          <a:p>
            <a:pPr>
              <a:buFont typeface="Wingdings" charset="0"/>
              <a:buNone/>
              <a:defRPr/>
            </a:pPr>
            <a:endParaRPr lang="en-US" i="1" dirty="0">
              <a:solidFill>
                <a:srgbClr val="CC0000"/>
              </a:solidFill>
              <a:cs typeface="+mn-cs"/>
            </a:endParaRPr>
          </a:p>
          <a:p>
            <a:pPr>
              <a:buFont typeface="Wingdings" charset="0"/>
              <a:buNone/>
              <a:defRPr/>
            </a:pPr>
            <a:endParaRPr lang="en-US" i="1" dirty="0">
              <a:solidFill>
                <a:srgbClr val="CC0000"/>
              </a:solidFill>
              <a:cs typeface="+mn-cs"/>
            </a:endParaRPr>
          </a:p>
          <a:p>
            <a:pPr>
              <a:buFont typeface="Wingdings" charset="2"/>
              <a:buChar char="§"/>
              <a:defRPr/>
            </a:pPr>
            <a:r>
              <a:rPr lang="en-US" sz="2400" dirty="0">
                <a:cs typeface="+mn-cs"/>
              </a:rPr>
              <a:t>guaranteed delivery</a:t>
            </a:r>
          </a:p>
          <a:p>
            <a:pPr>
              <a:buFont typeface="Wingdings" charset="2"/>
              <a:buChar char="§"/>
              <a:defRPr/>
            </a:pPr>
            <a:r>
              <a:rPr lang="en-US" sz="2400" dirty="0">
                <a:cs typeface="+mn-cs"/>
              </a:rPr>
              <a:t>guaranteed delivery with less than 40 </a:t>
            </a:r>
            <a:r>
              <a:rPr lang="en-US" sz="2400" dirty="0" err="1">
                <a:cs typeface="+mn-cs"/>
              </a:rPr>
              <a:t>msec</a:t>
            </a:r>
            <a:r>
              <a:rPr lang="en-US" sz="2400" dirty="0">
                <a:cs typeface="+mn-cs"/>
              </a:rPr>
              <a:t> delay</a:t>
            </a:r>
          </a:p>
        </p:txBody>
      </p:sp>
      <p:sp>
        <p:nvSpPr>
          <p:cNvPr id="47109" name="Rectangle 16">
            <a:extLst>
              <a:ext uri="{FF2B5EF4-FFF2-40B4-BE49-F238E27FC236}">
                <a16:creationId xmlns:a16="http://schemas.microsoft.com/office/drawing/2014/main" id="{E33E99F8-B850-6B4F-953E-1D569A8F13A6}"/>
              </a:ext>
            </a:extLst>
          </p:cNvPr>
          <p:cNvSpPr>
            <a:spLocks noGrp="1" noChangeArrowheads="1"/>
          </p:cNvSpPr>
          <p:nvPr>
            <p:ph type="body" sz="half" idx="2"/>
          </p:nvPr>
        </p:nvSpPr>
        <p:spPr>
          <a:xfrm>
            <a:off x="4559300" y="2579688"/>
            <a:ext cx="3994150" cy="3686175"/>
          </a:xfrm>
        </p:spPr>
        <p:txBody>
          <a:bodyPr/>
          <a:lstStyle/>
          <a:p>
            <a:pPr>
              <a:buFont typeface="Wingdings" pitchFamily="2" charset="2"/>
              <a:buNone/>
            </a:pPr>
            <a:r>
              <a:rPr lang="en-US" altLang="en-US" i="1" dirty="0">
                <a:solidFill>
                  <a:srgbClr val="CC0000"/>
                </a:solidFill>
                <a:ea typeface="ＭＳ Ｐゴシック" panose="020B0600070205080204" pitchFamily="34" charset="-128"/>
                <a:cs typeface="ＭＳ Ｐゴシック" panose="020B0600070205080204" pitchFamily="34" charset="-128"/>
              </a:rPr>
              <a:t>example services for a flow of datagrams:</a:t>
            </a:r>
          </a:p>
          <a:p>
            <a:pPr>
              <a:buFont typeface="Wingdings" pitchFamily="2" charset="2"/>
              <a:buNone/>
            </a:pPr>
            <a:endParaRPr lang="en-US" altLang="en-US" i="1" dirty="0">
              <a:solidFill>
                <a:srgbClr val="CC0000"/>
              </a:solidFill>
              <a:ea typeface="ＭＳ Ｐゴシック" panose="020B0600070205080204" pitchFamily="34" charset="-128"/>
              <a:cs typeface="ＭＳ Ｐゴシック" panose="020B0600070205080204" pitchFamily="34" charset="-128"/>
            </a:endParaRPr>
          </a:p>
          <a:p>
            <a:pPr>
              <a:buFont typeface="Wingdings" pitchFamily="2" charset="2"/>
              <a:buNone/>
            </a:pPr>
            <a:endParaRPr lang="en-US" altLang="en-US" i="1" dirty="0">
              <a:solidFill>
                <a:srgbClr val="CC0000"/>
              </a:solidFill>
              <a:ea typeface="ＭＳ Ｐゴシック" panose="020B0600070205080204" pitchFamily="34" charset="-128"/>
              <a:cs typeface="ＭＳ Ｐゴシック" panose="020B0600070205080204" pitchFamily="34" charset="-128"/>
            </a:endParaRPr>
          </a:p>
          <a:p>
            <a:r>
              <a:rPr lang="en-US" altLang="en-US" sz="2400" dirty="0">
                <a:ea typeface="ＭＳ Ｐゴシック" panose="020B0600070205080204" pitchFamily="34" charset="-128"/>
                <a:cs typeface="ＭＳ Ｐゴシック" panose="020B0600070205080204" pitchFamily="34" charset="-128"/>
              </a:rPr>
              <a:t>in-order datagram delivery</a:t>
            </a:r>
          </a:p>
          <a:p>
            <a:r>
              <a:rPr lang="en-US" altLang="en-US" sz="2400" dirty="0">
                <a:ea typeface="ＭＳ Ｐゴシック" panose="020B0600070205080204" pitchFamily="34" charset="-128"/>
                <a:cs typeface="ＭＳ Ｐゴシック" panose="020B0600070205080204" pitchFamily="34" charset="-128"/>
              </a:rPr>
              <a:t>guaranteed minimum bandwidth to flow</a:t>
            </a:r>
          </a:p>
          <a:p>
            <a:r>
              <a:rPr lang="en-US" altLang="en-US" sz="2400" dirty="0">
                <a:ea typeface="ＭＳ Ｐゴシック" panose="020B0600070205080204" pitchFamily="34" charset="-128"/>
                <a:cs typeface="ＭＳ Ｐゴシック" panose="020B0600070205080204" pitchFamily="34" charset="-128"/>
              </a:rPr>
              <a:t>restrictions on changes in inter-packet spacing</a:t>
            </a:r>
          </a:p>
          <a:p>
            <a:endParaRPr lang="en-US" altLang="en-US" sz="2400" dirty="0">
              <a:ea typeface="ＭＳ Ｐゴシック" panose="020B0600070205080204" pitchFamily="34" charset="-128"/>
              <a:cs typeface="ＭＳ Ｐゴシック" panose="020B0600070205080204" pitchFamily="34" charset="-128"/>
            </a:endParaRPr>
          </a:p>
        </p:txBody>
      </p:sp>
      <p:pic>
        <p:nvPicPr>
          <p:cNvPr id="47110" name="Picture 17" descr="underline_base">
            <a:extLst>
              <a:ext uri="{FF2B5EF4-FFF2-40B4-BE49-F238E27FC236}">
                <a16:creationId xmlns:a16="http://schemas.microsoft.com/office/drawing/2014/main" id="{5BDF72F6-5BC4-054D-9C2C-A079E304BF8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103346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1" name="Slide Number Placeholder 5">
            <a:extLst>
              <a:ext uri="{FF2B5EF4-FFF2-40B4-BE49-F238E27FC236}">
                <a16:creationId xmlns:a16="http://schemas.microsoft.com/office/drawing/2014/main" id="{98E1AFAD-3C79-D447-A6E0-1C247B124521}"/>
              </a:ext>
            </a:extLst>
          </p:cNvPr>
          <p:cNvSpPr>
            <a:spLocks noGrp="1"/>
          </p:cNvSpPr>
          <p:nvPr>
            <p:ph type="sldNum" sz="quarter" idx="12"/>
          </p:nvPr>
        </p:nvSpPr>
        <p:spPr>
          <a:xfrm>
            <a:off x="8456613" y="6475413"/>
            <a:ext cx="561263" cy="241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570DB1F6-0EC5-644A-B0D4-1C4BF63E5C9F}" type="slidenum">
              <a:rPr lang="en-US" altLang="en-US">
                <a:latin typeface="Tahoma" panose="020B0604030504040204" pitchFamily="34" charset="0"/>
              </a:rPr>
              <a:pPr/>
              <a:t>12</a:t>
            </a:fld>
            <a:endParaRPr lang="en-US" altLang="en-US">
              <a:latin typeface="Tahoma" panose="020B0604030504040204" pitchFamily="34" charset="0"/>
            </a:endParaRPr>
          </a:p>
        </p:txBody>
      </p:sp>
      <p:sp>
        <p:nvSpPr>
          <p:cNvPr id="47112" name="Footer Placeholder 2">
            <a:extLst>
              <a:ext uri="{FF2B5EF4-FFF2-40B4-BE49-F238E27FC236}">
                <a16:creationId xmlns:a16="http://schemas.microsoft.com/office/drawing/2014/main" id="{21E44EF0-2373-0D44-ACB2-CB6DFAC08709}"/>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dirty="0">
                <a:solidFill>
                  <a:srgbClr val="000000"/>
                </a:solidFill>
                <a:latin typeface="Tahoma" panose="020B0604030504040204" pitchFamily="34" charset="0"/>
                <a:cs typeface="Arial" panose="020B0604020202020204" pitchFamily="34" charset="0"/>
              </a:rPr>
              <a:t>Network Layer: Data Plane</a:t>
            </a:r>
          </a:p>
        </p:txBody>
      </p:sp>
      <p:sp>
        <p:nvSpPr>
          <p:cNvPr id="9" name="Rectangle 8">
            <a:extLst>
              <a:ext uri="{FF2B5EF4-FFF2-40B4-BE49-F238E27FC236}">
                <a16:creationId xmlns:a16="http://schemas.microsoft.com/office/drawing/2014/main" id="{9B6748EE-CDA8-EB4B-98F0-487FB5002F33}"/>
              </a:ext>
            </a:extLst>
          </p:cNvPr>
          <p:cNvSpPr/>
          <p:nvPr/>
        </p:nvSpPr>
        <p:spPr bwMode="auto">
          <a:xfrm>
            <a:off x="747889" y="3551324"/>
            <a:ext cx="451555" cy="225778"/>
          </a:xfrm>
          <a:prstGeom prst="rect">
            <a:avLst/>
          </a:prstGeom>
          <a:solidFill>
            <a:schemeClr val="tx1"/>
          </a:solidFill>
          <a:ln w="9525" cap="flat" cmpd="sng" algn="ctr">
            <a:solidFill>
              <a:schemeClr val="bg1">
                <a:lumMod val="50000"/>
              </a:schemeClr>
            </a:solidFill>
            <a:prstDash val="solid"/>
            <a:round/>
            <a:headEnd type="none" w="med" len="med"/>
            <a:tailEnd type="none" w="med" len="med"/>
          </a:ln>
          <a:effectLst>
            <a:outerShdw blurRad="50800" dist="139700" dir="2700000" algn="tl" rotWithShape="0">
              <a:srgbClr val="000000">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0" name="Rectangle 9">
            <a:extLst>
              <a:ext uri="{FF2B5EF4-FFF2-40B4-BE49-F238E27FC236}">
                <a16:creationId xmlns:a16="http://schemas.microsoft.com/office/drawing/2014/main" id="{599FE958-D060-004B-916D-FF5E51A33CFD}"/>
              </a:ext>
            </a:extLst>
          </p:cNvPr>
          <p:cNvSpPr/>
          <p:nvPr/>
        </p:nvSpPr>
        <p:spPr bwMode="auto">
          <a:xfrm>
            <a:off x="4865512" y="3548502"/>
            <a:ext cx="451555" cy="225778"/>
          </a:xfrm>
          <a:prstGeom prst="rect">
            <a:avLst/>
          </a:prstGeom>
          <a:solidFill>
            <a:schemeClr val="tx1"/>
          </a:solidFill>
          <a:ln w="9525" cap="flat" cmpd="sng" algn="ctr">
            <a:solidFill>
              <a:schemeClr val="bg1">
                <a:lumMod val="50000"/>
              </a:schemeClr>
            </a:solidFill>
            <a:prstDash val="solid"/>
            <a:round/>
            <a:headEnd type="none" w="med" len="med"/>
            <a:tailEnd type="none" w="med" len="med"/>
          </a:ln>
          <a:effectLst>
            <a:outerShdw blurRad="50800" dist="139700" dir="2700000" algn="tl" rotWithShape="0">
              <a:srgbClr val="000000">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1" name="Rectangle 10">
            <a:extLst>
              <a:ext uri="{FF2B5EF4-FFF2-40B4-BE49-F238E27FC236}">
                <a16:creationId xmlns:a16="http://schemas.microsoft.com/office/drawing/2014/main" id="{53DC9291-22B2-C444-8284-9BAC358FE84B}"/>
              </a:ext>
            </a:extLst>
          </p:cNvPr>
          <p:cNvSpPr/>
          <p:nvPr/>
        </p:nvSpPr>
        <p:spPr bwMode="auto">
          <a:xfrm>
            <a:off x="5497689" y="3545680"/>
            <a:ext cx="451555" cy="225778"/>
          </a:xfrm>
          <a:prstGeom prst="rect">
            <a:avLst/>
          </a:prstGeom>
          <a:solidFill>
            <a:schemeClr val="tx1"/>
          </a:solidFill>
          <a:ln w="9525" cap="flat" cmpd="sng" algn="ctr">
            <a:solidFill>
              <a:schemeClr val="bg1">
                <a:lumMod val="50000"/>
              </a:schemeClr>
            </a:solidFill>
            <a:prstDash val="solid"/>
            <a:round/>
            <a:headEnd type="none" w="med" len="med"/>
            <a:tailEnd type="none" w="med" len="med"/>
          </a:ln>
          <a:effectLst>
            <a:outerShdw blurRad="50800" dist="139700" dir="2700000" algn="tl" rotWithShape="0">
              <a:srgbClr val="000000">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Rectangle 11">
            <a:extLst>
              <a:ext uri="{FF2B5EF4-FFF2-40B4-BE49-F238E27FC236}">
                <a16:creationId xmlns:a16="http://schemas.microsoft.com/office/drawing/2014/main" id="{30920ABE-8904-E44B-A831-1E079A9B1359}"/>
              </a:ext>
            </a:extLst>
          </p:cNvPr>
          <p:cNvSpPr/>
          <p:nvPr/>
        </p:nvSpPr>
        <p:spPr bwMode="auto">
          <a:xfrm>
            <a:off x="6118578" y="3545680"/>
            <a:ext cx="451555" cy="225778"/>
          </a:xfrm>
          <a:prstGeom prst="rect">
            <a:avLst/>
          </a:prstGeom>
          <a:solidFill>
            <a:schemeClr val="tx1"/>
          </a:solidFill>
          <a:ln w="9525" cap="flat" cmpd="sng" algn="ctr">
            <a:solidFill>
              <a:schemeClr val="bg1">
                <a:lumMod val="50000"/>
              </a:schemeClr>
            </a:solidFill>
            <a:prstDash val="solid"/>
            <a:round/>
            <a:headEnd type="none" w="med" len="med"/>
            <a:tailEnd type="none" w="med" len="med"/>
          </a:ln>
          <a:effectLst>
            <a:outerShdw blurRad="50800" dist="139700" dir="2700000" algn="tl" rotWithShape="0">
              <a:srgbClr val="000000">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Rectangle 12">
            <a:extLst>
              <a:ext uri="{FF2B5EF4-FFF2-40B4-BE49-F238E27FC236}">
                <a16:creationId xmlns:a16="http://schemas.microsoft.com/office/drawing/2014/main" id="{3A0961A3-5847-3949-BB48-C606C9DBDF5E}"/>
              </a:ext>
            </a:extLst>
          </p:cNvPr>
          <p:cNvSpPr/>
          <p:nvPr/>
        </p:nvSpPr>
        <p:spPr bwMode="auto">
          <a:xfrm>
            <a:off x="6753579" y="3531569"/>
            <a:ext cx="451555" cy="225778"/>
          </a:xfrm>
          <a:prstGeom prst="rect">
            <a:avLst/>
          </a:prstGeom>
          <a:solidFill>
            <a:schemeClr val="tx1"/>
          </a:solidFill>
          <a:ln w="9525" cap="flat" cmpd="sng" algn="ctr">
            <a:solidFill>
              <a:schemeClr val="bg1">
                <a:lumMod val="50000"/>
              </a:schemeClr>
            </a:solidFill>
            <a:prstDash val="solid"/>
            <a:round/>
            <a:headEnd type="none" w="med" len="med"/>
            <a:tailEnd type="none" w="med" len="med"/>
          </a:ln>
          <a:effectLst>
            <a:outerShdw blurRad="50800" dist="139700" dir="2700000" algn="tl" rotWithShape="0">
              <a:srgbClr val="000000">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4" name="Rectangle 13">
            <a:extLst>
              <a:ext uri="{FF2B5EF4-FFF2-40B4-BE49-F238E27FC236}">
                <a16:creationId xmlns:a16="http://schemas.microsoft.com/office/drawing/2014/main" id="{6B450A06-5F6E-6C4A-A598-4764B5F1E020}"/>
              </a:ext>
            </a:extLst>
          </p:cNvPr>
          <p:cNvSpPr/>
          <p:nvPr/>
        </p:nvSpPr>
        <p:spPr bwMode="auto">
          <a:xfrm>
            <a:off x="7445023" y="3531569"/>
            <a:ext cx="451555" cy="225778"/>
          </a:xfrm>
          <a:prstGeom prst="rect">
            <a:avLst/>
          </a:prstGeom>
          <a:solidFill>
            <a:schemeClr val="tx1"/>
          </a:solidFill>
          <a:ln w="9525" cap="flat" cmpd="sng" algn="ctr">
            <a:solidFill>
              <a:schemeClr val="bg1">
                <a:lumMod val="50000"/>
              </a:schemeClr>
            </a:solidFill>
            <a:prstDash val="solid"/>
            <a:round/>
            <a:headEnd type="none" w="med" len="med"/>
            <a:tailEnd type="none" w="med" len="med"/>
          </a:ln>
          <a:effectLst>
            <a:outerShdw blurRad="50800" dist="139700" dir="2700000" algn="tl" rotWithShape="0">
              <a:srgbClr val="000000">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5" name="Right Triangle 14">
            <a:extLst>
              <a:ext uri="{FF2B5EF4-FFF2-40B4-BE49-F238E27FC236}">
                <a16:creationId xmlns:a16="http://schemas.microsoft.com/office/drawing/2014/main" id="{5394E86F-E981-D74B-9ACC-BD7ECF2B680D}"/>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ppt_x</p:attrName>
                                        </p:attrNameLst>
                                      </p:cBhvr>
                                      <p:tavLst>
                                        <p:tav tm="0">
                                          <p:val>
                                            <p:strVal val="#ppt_x-#ppt_w*1.125000"/>
                                          </p:val>
                                        </p:tav>
                                        <p:tav tm="100000">
                                          <p:val>
                                            <p:strVal val="#ppt_x"/>
                                          </p:val>
                                        </p:tav>
                                      </p:tavLst>
                                    </p:anim>
                                    <p:animEffect transition="in" filter="wipe(right)">
                                      <p:cBhvr>
                                        <p:cTn id="8" dur="500"/>
                                        <p:tgtEl>
                                          <p:spTgt spid="9"/>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p:tgtEl>
                                          <p:spTgt spid="14"/>
                                        </p:tgtEl>
                                        <p:attrNameLst>
                                          <p:attrName>ppt_x</p:attrName>
                                        </p:attrNameLst>
                                      </p:cBhvr>
                                      <p:tavLst>
                                        <p:tav tm="0">
                                          <p:val>
                                            <p:strVal val="#ppt_x-#ppt_w*1.125000"/>
                                          </p:val>
                                        </p:tav>
                                        <p:tav tm="100000">
                                          <p:val>
                                            <p:strVal val="#ppt_x"/>
                                          </p:val>
                                        </p:tav>
                                      </p:tavLst>
                                    </p:anim>
                                    <p:animEffect transition="in" filter="wipe(right)">
                                      <p:cBhvr>
                                        <p:cTn id="12" dur="500"/>
                                        <p:tgtEl>
                                          <p:spTgt spid="14"/>
                                        </p:tgtEl>
                                      </p:cBhvr>
                                    </p:animEffect>
                                  </p:childTnLst>
                                </p:cTn>
                              </p:par>
                            </p:childTnLst>
                          </p:cTn>
                        </p:par>
                        <p:par>
                          <p:cTn id="13" fill="hold">
                            <p:stCondLst>
                              <p:cond delay="500"/>
                            </p:stCondLst>
                            <p:childTnLst>
                              <p:par>
                                <p:cTn id="14" presetID="12" presetClass="entr" presetSubtype="8"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right)">
                                      <p:cBhvr>
                                        <p:cTn id="17" dur="500"/>
                                        <p:tgtEl>
                                          <p:spTgt spid="13"/>
                                        </p:tgtEl>
                                      </p:cBhvr>
                                    </p:animEffect>
                                  </p:childTnLst>
                                </p:cTn>
                              </p:par>
                            </p:childTnLst>
                          </p:cTn>
                        </p:par>
                        <p:par>
                          <p:cTn id="18" fill="hold">
                            <p:stCondLst>
                              <p:cond delay="1000"/>
                            </p:stCondLst>
                            <p:childTnLst>
                              <p:par>
                                <p:cTn id="19" presetID="12" presetClass="entr" presetSubtype="8"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p:tgtEl>
                                          <p:spTgt spid="12"/>
                                        </p:tgtEl>
                                        <p:attrNameLst>
                                          <p:attrName>ppt_x</p:attrName>
                                        </p:attrNameLst>
                                      </p:cBhvr>
                                      <p:tavLst>
                                        <p:tav tm="0">
                                          <p:val>
                                            <p:strVal val="#ppt_x-#ppt_w*1.125000"/>
                                          </p:val>
                                        </p:tav>
                                        <p:tav tm="100000">
                                          <p:val>
                                            <p:strVal val="#ppt_x"/>
                                          </p:val>
                                        </p:tav>
                                      </p:tavLst>
                                    </p:anim>
                                    <p:animEffect transition="in" filter="wipe(right)">
                                      <p:cBhvr>
                                        <p:cTn id="22" dur="500"/>
                                        <p:tgtEl>
                                          <p:spTgt spid="12"/>
                                        </p:tgtEl>
                                      </p:cBhvr>
                                    </p:animEffect>
                                  </p:childTnLst>
                                </p:cTn>
                              </p:par>
                            </p:childTnLst>
                          </p:cTn>
                        </p:par>
                        <p:par>
                          <p:cTn id="23" fill="hold">
                            <p:stCondLst>
                              <p:cond delay="1500"/>
                            </p:stCondLst>
                            <p:childTnLst>
                              <p:par>
                                <p:cTn id="24" presetID="1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p:tgtEl>
                                          <p:spTgt spid="11"/>
                                        </p:tgtEl>
                                        <p:attrNameLst>
                                          <p:attrName>ppt_x</p:attrName>
                                        </p:attrNameLst>
                                      </p:cBhvr>
                                      <p:tavLst>
                                        <p:tav tm="0">
                                          <p:val>
                                            <p:strVal val="#ppt_x-#ppt_w*1.125000"/>
                                          </p:val>
                                        </p:tav>
                                        <p:tav tm="100000">
                                          <p:val>
                                            <p:strVal val="#ppt_x"/>
                                          </p:val>
                                        </p:tav>
                                      </p:tavLst>
                                    </p:anim>
                                    <p:animEffect transition="in" filter="wipe(right)">
                                      <p:cBhvr>
                                        <p:cTn id="27" dur="500"/>
                                        <p:tgtEl>
                                          <p:spTgt spid="11"/>
                                        </p:tgtEl>
                                      </p:cBhvr>
                                    </p:animEffect>
                                  </p:childTnLst>
                                </p:cTn>
                              </p:par>
                            </p:childTnLst>
                          </p:cTn>
                        </p:par>
                        <p:par>
                          <p:cTn id="28" fill="hold">
                            <p:stCondLst>
                              <p:cond delay="2000"/>
                            </p:stCondLst>
                            <p:childTnLst>
                              <p:par>
                                <p:cTn id="29" presetID="12" presetClass="entr" presetSubtype="8"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p:tgtEl>
                                          <p:spTgt spid="10"/>
                                        </p:tgtEl>
                                        <p:attrNameLst>
                                          <p:attrName>ppt_x</p:attrName>
                                        </p:attrNameLst>
                                      </p:cBhvr>
                                      <p:tavLst>
                                        <p:tav tm="0">
                                          <p:val>
                                            <p:strVal val="#ppt_x-#ppt_w*1.125000"/>
                                          </p:val>
                                        </p:tav>
                                        <p:tav tm="100000">
                                          <p:val>
                                            <p:strVal val="#ppt_x"/>
                                          </p:val>
                                        </p:tav>
                                      </p:tavLst>
                                    </p:anim>
                                    <p:animEffect transition="in" filter="wipe(righ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628650" y="1156359"/>
            <a:ext cx="7886700" cy="670967"/>
          </a:xfrm>
        </p:spPr>
        <p:txBody>
          <a:bodyPr>
            <a:normAutofit/>
          </a:bodyPr>
          <a:lstStyle/>
          <a:p>
            <a:r>
              <a:rPr lang="en-US" sz="3600" dirty="0"/>
              <a:t>Network-layer service model</a:t>
            </a:r>
          </a:p>
        </p:txBody>
      </p:sp>
      <p:sp>
        <p:nvSpPr>
          <p:cNvPr id="9" name="Text Box 3">
            <a:extLst>
              <a:ext uri="{FF2B5EF4-FFF2-40B4-BE49-F238E27FC236}">
                <a16:creationId xmlns:a16="http://schemas.microsoft.com/office/drawing/2014/main" id="{84FBF14F-DE77-E447-8427-3CD2253600C3}"/>
              </a:ext>
            </a:extLst>
          </p:cNvPr>
          <p:cNvSpPr txBox="1">
            <a:spLocks noChangeArrowheads="1"/>
          </p:cNvSpPr>
          <p:nvPr/>
        </p:nvSpPr>
        <p:spPr bwMode="auto">
          <a:xfrm>
            <a:off x="364161" y="2166058"/>
            <a:ext cx="1212255" cy="297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eaLnBrk="1" fontAlgn="auto" hangingPunct="1">
              <a:spcBef>
                <a:spcPts val="0"/>
              </a:spcBef>
              <a:spcAft>
                <a:spcPts val="0"/>
              </a:spcAft>
              <a:defRPr/>
            </a:pPr>
            <a:r>
              <a:rPr lang="en-US" altLang="en-US" sz="1500" dirty="0">
                <a:solidFill>
                  <a:prstClr val="black"/>
                </a:solidFill>
              </a:rPr>
              <a:t>Network</a:t>
            </a:r>
          </a:p>
          <a:p>
            <a:pPr algn="r" defTabSz="685800" eaLnBrk="1" fontAlgn="auto" hangingPunct="1">
              <a:spcBef>
                <a:spcPts val="0"/>
              </a:spcBef>
              <a:spcAft>
                <a:spcPts val="0"/>
              </a:spcAft>
              <a:defRPr/>
            </a:pPr>
            <a:r>
              <a:rPr lang="en-US" altLang="en-US" sz="1500" dirty="0">
                <a:solidFill>
                  <a:prstClr val="black"/>
                </a:solidFill>
              </a:rPr>
              <a:t>Architecture</a:t>
            </a:r>
          </a:p>
          <a:p>
            <a:pPr algn="r" defTabSz="685800" eaLnBrk="1" fontAlgn="auto" hangingPunct="1">
              <a:spcBef>
                <a:spcPts val="0"/>
              </a:spcBef>
              <a:spcAft>
                <a:spcPts val="0"/>
              </a:spcAft>
              <a:defRPr/>
            </a:pPr>
            <a:endParaRPr lang="en-US" altLang="en-US" sz="1500" dirty="0">
              <a:solidFill>
                <a:prstClr val="black"/>
              </a:solidFill>
            </a:endParaRPr>
          </a:p>
          <a:p>
            <a:pPr algn="r" defTabSz="685800" eaLnBrk="1" fontAlgn="auto" hangingPunct="1">
              <a:spcBef>
                <a:spcPts val="0"/>
              </a:spcBef>
              <a:spcAft>
                <a:spcPts val="0"/>
              </a:spcAft>
              <a:defRPr/>
            </a:pPr>
            <a:r>
              <a:rPr lang="en-US" altLang="en-US" sz="1500" dirty="0">
                <a:solidFill>
                  <a:prstClr val="black"/>
                </a:solidFill>
              </a:rPr>
              <a:t>Internet</a:t>
            </a:r>
          </a:p>
          <a:p>
            <a:pPr algn="r" defTabSz="685800" eaLnBrk="1" fontAlgn="auto" hangingPunct="1">
              <a:spcBef>
                <a:spcPts val="0"/>
              </a:spcBef>
              <a:spcAft>
                <a:spcPts val="0"/>
              </a:spcAft>
              <a:defRPr/>
            </a:pPr>
            <a:endParaRPr lang="en-US" altLang="en-US" sz="1500" dirty="0">
              <a:solidFill>
                <a:prstClr val="black"/>
              </a:solidFill>
            </a:endParaRPr>
          </a:p>
          <a:p>
            <a:pPr algn="r" defTabSz="685800" eaLnBrk="1" fontAlgn="auto" hangingPunct="1">
              <a:spcBef>
                <a:spcPts val="0"/>
              </a:spcBef>
              <a:spcAft>
                <a:spcPts val="0"/>
              </a:spcAft>
              <a:defRPr/>
            </a:pPr>
            <a:r>
              <a:rPr lang="en-US" altLang="en-US" sz="1500" dirty="0">
                <a:solidFill>
                  <a:prstClr val="black"/>
                </a:solidFill>
              </a:rPr>
              <a:t>ATM</a:t>
            </a:r>
          </a:p>
          <a:p>
            <a:pPr algn="r" defTabSz="685800" eaLnBrk="1" fontAlgn="auto" hangingPunct="1">
              <a:spcBef>
                <a:spcPts val="0"/>
              </a:spcBef>
              <a:spcAft>
                <a:spcPts val="0"/>
              </a:spcAft>
              <a:defRPr/>
            </a:pPr>
            <a:endParaRPr lang="en-US" altLang="en-US" sz="1500" dirty="0">
              <a:solidFill>
                <a:prstClr val="black"/>
              </a:solidFill>
            </a:endParaRPr>
          </a:p>
          <a:p>
            <a:pPr algn="r" defTabSz="685800" eaLnBrk="1" fontAlgn="auto" hangingPunct="1">
              <a:spcBef>
                <a:spcPts val="0"/>
              </a:spcBef>
              <a:spcAft>
                <a:spcPts val="0"/>
              </a:spcAft>
              <a:defRPr/>
            </a:pPr>
            <a:r>
              <a:rPr lang="en-US" altLang="en-US" sz="1500" dirty="0">
                <a:solidFill>
                  <a:prstClr val="black"/>
                </a:solidFill>
              </a:rPr>
              <a:t>ATM</a:t>
            </a:r>
          </a:p>
          <a:p>
            <a:pPr algn="r" defTabSz="685800" eaLnBrk="1" fontAlgn="auto" hangingPunct="1">
              <a:spcBef>
                <a:spcPts val="0"/>
              </a:spcBef>
              <a:spcAft>
                <a:spcPts val="0"/>
              </a:spcAft>
              <a:defRPr/>
            </a:pPr>
            <a:endParaRPr lang="en-US" altLang="en-US" sz="1500" dirty="0">
              <a:solidFill>
                <a:prstClr val="black"/>
              </a:solidFill>
            </a:endParaRPr>
          </a:p>
          <a:p>
            <a:pPr algn="r" defTabSz="685800" eaLnBrk="1" fontAlgn="auto" hangingPunct="1">
              <a:spcBef>
                <a:spcPts val="0"/>
              </a:spcBef>
              <a:spcAft>
                <a:spcPts val="0"/>
              </a:spcAft>
              <a:defRPr/>
            </a:pPr>
            <a:r>
              <a:rPr lang="en-US" altLang="en-US" sz="1500" dirty="0">
                <a:solidFill>
                  <a:prstClr val="black"/>
                </a:solidFill>
              </a:rPr>
              <a:t>Internet</a:t>
            </a:r>
          </a:p>
          <a:p>
            <a:pPr algn="r" defTabSz="685800" eaLnBrk="1" fontAlgn="auto" hangingPunct="1">
              <a:spcBef>
                <a:spcPts val="0"/>
              </a:spcBef>
              <a:spcAft>
                <a:spcPts val="0"/>
              </a:spcAft>
              <a:defRPr/>
            </a:pPr>
            <a:endParaRPr lang="en-US" altLang="en-US" sz="1500" dirty="0">
              <a:solidFill>
                <a:prstClr val="black"/>
              </a:solidFill>
            </a:endParaRPr>
          </a:p>
          <a:p>
            <a:pPr algn="r" defTabSz="685800" eaLnBrk="1" fontAlgn="auto" hangingPunct="1">
              <a:spcBef>
                <a:spcPts val="900"/>
              </a:spcBef>
              <a:spcAft>
                <a:spcPts val="0"/>
              </a:spcAft>
              <a:defRPr/>
            </a:pPr>
            <a:r>
              <a:rPr lang="en-US" altLang="en-US" sz="1500" dirty="0">
                <a:solidFill>
                  <a:prstClr val="black"/>
                </a:solidFill>
              </a:rPr>
              <a:t>Internet</a:t>
            </a:r>
            <a:endParaRPr lang="en-US" altLang="en-US" sz="1800" dirty="0">
              <a:solidFill>
                <a:prstClr val="black"/>
              </a:solidFill>
              <a:latin typeface="Times New Roman" panose="02020603050405020304" pitchFamily="18" charset="0"/>
            </a:endParaRPr>
          </a:p>
        </p:txBody>
      </p:sp>
      <p:sp>
        <p:nvSpPr>
          <p:cNvPr id="10" name="Text Box 4">
            <a:extLst>
              <a:ext uri="{FF2B5EF4-FFF2-40B4-BE49-F238E27FC236}">
                <a16:creationId xmlns:a16="http://schemas.microsoft.com/office/drawing/2014/main" id="{4AA65A7D-5684-5446-97C1-4142D3B3DC32}"/>
              </a:ext>
            </a:extLst>
          </p:cNvPr>
          <p:cNvSpPr txBox="1">
            <a:spLocks noChangeArrowheads="1"/>
          </p:cNvSpPr>
          <p:nvPr/>
        </p:nvSpPr>
        <p:spPr bwMode="auto">
          <a:xfrm>
            <a:off x="1840068" y="2177682"/>
            <a:ext cx="1984139" cy="2964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prstClr val="black"/>
                </a:solidFill>
              </a:rPr>
              <a:t>Service</a:t>
            </a:r>
          </a:p>
          <a:p>
            <a:pPr defTabSz="685800" eaLnBrk="1" fontAlgn="auto" hangingPunct="1">
              <a:spcBef>
                <a:spcPts val="0"/>
              </a:spcBef>
              <a:spcAft>
                <a:spcPts val="0"/>
              </a:spcAft>
              <a:defRPr/>
            </a:pPr>
            <a:r>
              <a:rPr lang="en-US" altLang="en-US" sz="1500" dirty="0">
                <a:solidFill>
                  <a:prstClr val="black"/>
                </a:solidFill>
              </a:rPr>
              <a:t>Model</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best effort</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Constant Bit Rate</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Available Bit Rate</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err="1">
                <a:solidFill>
                  <a:prstClr val="black"/>
                </a:solidFill>
              </a:rPr>
              <a:t>Intserv</a:t>
            </a:r>
            <a:r>
              <a:rPr lang="en-US" altLang="en-US" sz="1500" dirty="0">
                <a:solidFill>
                  <a:prstClr val="black"/>
                </a:solidFill>
              </a:rPr>
              <a:t> Guaranteed</a:t>
            </a:r>
          </a:p>
          <a:p>
            <a:pPr defTabSz="685800" eaLnBrk="1" fontAlgn="auto" hangingPunct="1">
              <a:spcBef>
                <a:spcPts val="0"/>
              </a:spcBef>
              <a:spcAft>
                <a:spcPts val="0"/>
              </a:spcAft>
              <a:defRPr/>
            </a:pPr>
            <a:r>
              <a:rPr lang="en-US" altLang="en-US" sz="1200" dirty="0">
                <a:solidFill>
                  <a:prstClr val="black"/>
                </a:solidFill>
              </a:rPr>
              <a:t>(RFC 1633</a:t>
            </a:r>
            <a:r>
              <a:rPr lang="en-US" altLang="en-US" sz="1500" dirty="0">
                <a:solidFill>
                  <a:prstClr val="black"/>
                </a:solidFill>
              </a:rPr>
              <a:t>)</a:t>
            </a:r>
          </a:p>
          <a:p>
            <a:pPr defTabSz="685800" eaLnBrk="1" fontAlgn="auto" hangingPunct="1">
              <a:spcBef>
                <a:spcPts val="750"/>
              </a:spcBef>
              <a:spcAft>
                <a:spcPts val="0"/>
              </a:spcAft>
              <a:defRPr/>
            </a:pPr>
            <a:r>
              <a:rPr lang="en-US" altLang="en-US" sz="1500" dirty="0" err="1">
                <a:solidFill>
                  <a:prstClr val="black"/>
                </a:solidFill>
              </a:rPr>
              <a:t>Diffserv</a:t>
            </a:r>
            <a:r>
              <a:rPr lang="en-US" altLang="en-US" sz="1500" dirty="0">
                <a:solidFill>
                  <a:prstClr val="black"/>
                </a:solidFill>
              </a:rPr>
              <a:t>  </a:t>
            </a:r>
            <a:r>
              <a:rPr lang="en-US" altLang="en-US" sz="1200" dirty="0">
                <a:solidFill>
                  <a:prstClr val="black"/>
                </a:solidFill>
              </a:rPr>
              <a:t>(RFC 2475</a:t>
            </a:r>
            <a:r>
              <a:rPr lang="en-US" altLang="en-US" sz="1500" dirty="0">
                <a:solidFill>
                  <a:prstClr val="black"/>
                </a:solidFill>
              </a:rPr>
              <a:t>) </a:t>
            </a:r>
            <a:endParaRPr lang="en-US" altLang="en-US" sz="1800" dirty="0">
              <a:solidFill>
                <a:prstClr val="black"/>
              </a:solidFill>
              <a:latin typeface="Times New Roman" panose="02020603050405020304" pitchFamily="18" charset="0"/>
            </a:endParaRPr>
          </a:p>
        </p:txBody>
      </p:sp>
      <p:sp>
        <p:nvSpPr>
          <p:cNvPr id="11" name="Text Box 5">
            <a:extLst>
              <a:ext uri="{FF2B5EF4-FFF2-40B4-BE49-F238E27FC236}">
                <a16:creationId xmlns:a16="http://schemas.microsoft.com/office/drawing/2014/main" id="{1C34DAB8-6802-8B4D-80C7-80C914B6F4A9}"/>
              </a:ext>
            </a:extLst>
          </p:cNvPr>
          <p:cNvSpPr txBox="1">
            <a:spLocks noChangeArrowheads="1"/>
          </p:cNvSpPr>
          <p:nvPr/>
        </p:nvSpPr>
        <p:spPr bwMode="auto">
          <a:xfrm>
            <a:off x="3940444" y="2410761"/>
            <a:ext cx="160332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prstClr val="black"/>
                </a:solidFill>
              </a:rPr>
              <a:t>Bandwidth</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none</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Constant rate</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Guaranteed min</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yes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900"/>
              </a:spcBef>
              <a:spcAft>
                <a:spcPts val="0"/>
              </a:spcAft>
              <a:defRPr/>
            </a:pPr>
            <a:r>
              <a:rPr lang="en-US" altLang="en-US" sz="1500" dirty="0">
                <a:solidFill>
                  <a:prstClr val="black"/>
                </a:solidFill>
              </a:rPr>
              <a:t>possible</a:t>
            </a:r>
            <a:endParaRPr lang="en-US" altLang="en-US" sz="1800" dirty="0">
              <a:solidFill>
                <a:prstClr val="black"/>
              </a:solidFill>
              <a:latin typeface="Times New Roman" panose="02020603050405020304" pitchFamily="18" charset="0"/>
            </a:endParaRPr>
          </a:p>
        </p:txBody>
      </p:sp>
      <p:sp>
        <p:nvSpPr>
          <p:cNvPr id="12" name="Text Box 11">
            <a:extLst>
              <a:ext uri="{FF2B5EF4-FFF2-40B4-BE49-F238E27FC236}">
                <a16:creationId xmlns:a16="http://schemas.microsoft.com/office/drawing/2014/main" id="{12C01AE2-D81C-9142-9900-6735E4EC6989}"/>
              </a:ext>
            </a:extLst>
          </p:cNvPr>
          <p:cNvSpPr txBox="1">
            <a:spLocks noChangeArrowheads="1"/>
          </p:cNvSpPr>
          <p:nvPr/>
        </p:nvSpPr>
        <p:spPr bwMode="auto">
          <a:xfrm>
            <a:off x="5482776" y="2410761"/>
            <a:ext cx="88197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prstClr val="black"/>
                </a:solidFill>
              </a:rPr>
              <a:t>Loss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no</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yes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no</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yes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900"/>
              </a:spcBef>
              <a:spcAft>
                <a:spcPts val="0"/>
              </a:spcAft>
              <a:defRPr/>
            </a:pPr>
            <a:r>
              <a:rPr lang="en-US" altLang="en-US" sz="1500" dirty="0">
                <a:solidFill>
                  <a:prstClr val="black"/>
                </a:solidFill>
              </a:rPr>
              <a:t>possibly</a:t>
            </a:r>
            <a:endParaRPr lang="en-US" altLang="en-US" sz="1800" dirty="0">
              <a:solidFill>
                <a:prstClr val="black"/>
              </a:solidFill>
              <a:latin typeface="Times New Roman" panose="02020603050405020304" pitchFamily="18" charset="0"/>
            </a:endParaRPr>
          </a:p>
        </p:txBody>
      </p:sp>
      <p:sp>
        <p:nvSpPr>
          <p:cNvPr id="13" name="Text Box 12">
            <a:extLst>
              <a:ext uri="{FF2B5EF4-FFF2-40B4-BE49-F238E27FC236}">
                <a16:creationId xmlns:a16="http://schemas.microsoft.com/office/drawing/2014/main" id="{215F45F4-0755-7644-85E6-6394DB1A3372}"/>
              </a:ext>
            </a:extLst>
          </p:cNvPr>
          <p:cNvSpPr txBox="1">
            <a:spLocks noChangeArrowheads="1"/>
          </p:cNvSpPr>
          <p:nvPr/>
        </p:nvSpPr>
        <p:spPr bwMode="auto">
          <a:xfrm>
            <a:off x="6362787" y="2417905"/>
            <a:ext cx="88197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prstClr val="black"/>
                </a:solidFill>
              </a:rPr>
              <a:t>Order</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no</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yes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yes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yes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900"/>
              </a:spcBef>
              <a:spcAft>
                <a:spcPts val="0"/>
              </a:spcAft>
              <a:defRPr/>
            </a:pPr>
            <a:r>
              <a:rPr lang="en-US" altLang="en-US" sz="1500" dirty="0">
                <a:solidFill>
                  <a:prstClr val="black"/>
                </a:solidFill>
              </a:rPr>
              <a:t>possibly</a:t>
            </a:r>
            <a:endParaRPr lang="en-US" altLang="en-US" sz="1800" dirty="0">
              <a:solidFill>
                <a:prstClr val="black"/>
              </a:solidFill>
              <a:latin typeface="Times New Roman" panose="02020603050405020304" pitchFamily="18" charset="0"/>
            </a:endParaRPr>
          </a:p>
        </p:txBody>
      </p:sp>
      <p:sp>
        <p:nvSpPr>
          <p:cNvPr id="14" name="Text Box 13">
            <a:extLst>
              <a:ext uri="{FF2B5EF4-FFF2-40B4-BE49-F238E27FC236}">
                <a16:creationId xmlns:a16="http://schemas.microsoft.com/office/drawing/2014/main" id="{51E1E123-2FC9-9A4C-AB30-DF20C3EA339F}"/>
              </a:ext>
            </a:extLst>
          </p:cNvPr>
          <p:cNvSpPr txBox="1">
            <a:spLocks noChangeArrowheads="1"/>
          </p:cNvSpPr>
          <p:nvPr/>
        </p:nvSpPr>
        <p:spPr bwMode="auto">
          <a:xfrm>
            <a:off x="7284693" y="2417905"/>
            <a:ext cx="75623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prstClr val="black"/>
                </a:solidFill>
              </a:rPr>
              <a:t>Timing</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no</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yes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no</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0"/>
              </a:spcBef>
              <a:spcAft>
                <a:spcPts val="0"/>
              </a:spcAft>
              <a:defRPr/>
            </a:pPr>
            <a:r>
              <a:rPr lang="en-US" altLang="en-US" sz="1500" dirty="0">
                <a:solidFill>
                  <a:prstClr val="black"/>
                </a:solidFill>
              </a:rPr>
              <a:t>yes</a:t>
            </a:r>
          </a:p>
          <a:p>
            <a:pPr defTabSz="685800" eaLnBrk="1" fontAlgn="auto" hangingPunct="1">
              <a:spcBef>
                <a:spcPts val="0"/>
              </a:spcBef>
              <a:spcAft>
                <a:spcPts val="0"/>
              </a:spcAft>
              <a:defRPr/>
            </a:pPr>
            <a:endParaRPr lang="en-US" altLang="en-US" sz="1500" dirty="0">
              <a:solidFill>
                <a:prstClr val="black"/>
              </a:solidFill>
            </a:endParaRPr>
          </a:p>
          <a:p>
            <a:pPr defTabSz="685800" eaLnBrk="1" fontAlgn="auto" hangingPunct="1">
              <a:spcBef>
                <a:spcPts val="900"/>
              </a:spcBef>
              <a:spcAft>
                <a:spcPts val="0"/>
              </a:spcAft>
              <a:defRPr/>
            </a:pPr>
            <a:r>
              <a:rPr lang="en-US" altLang="en-US" sz="1500" dirty="0">
                <a:solidFill>
                  <a:prstClr val="black"/>
                </a:solidFill>
              </a:rPr>
              <a:t>no</a:t>
            </a:r>
            <a:endParaRPr lang="en-US" altLang="en-US" sz="1800" dirty="0">
              <a:solidFill>
                <a:prstClr val="black"/>
              </a:solidFill>
              <a:latin typeface="Times New Roman" panose="02020603050405020304" pitchFamily="18" charset="0"/>
            </a:endParaRPr>
          </a:p>
        </p:txBody>
      </p:sp>
      <p:sp>
        <p:nvSpPr>
          <p:cNvPr id="18" name="Line 19">
            <a:extLst>
              <a:ext uri="{FF2B5EF4-FFF2-40B4-BE49-F238E27FC236}">
                <a16:creationId xmlns:a16="http://schemas.microsoft.com/office/drawing/2014/main" id="{D3EFDF3E-E1B2-6442-9107-4885BC9E5F19}"/>
              </a:ext>
            </a:extLst>
          </p:cNvPr>
          <p:cNvSpPr>
            <a:spLocks noChangeShapeType="1"/>
          </p:cNvSpPr>
          <p:nvPr/>
        </p:nvSpPr>
        <p:spPr bwMode="auto">
          <a:xfrm>
            <a:off x="802975" y="2790571"/>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3" name="Line 19">
            <a:extLst>
              <a:ext uri="{FF2B5EF4-FFF2-40B4-BE49-F238E27FC236}">
                <a16:creationId xmlns:a16="http://schemas.microsoft.com/office/drawing/2014/main" id="{32B4DD15-8EEC-9B42-A7A0-C871C28FD81C}"/>
              </a:ext>
            </a:extLst>
          </p:cNvPr>
          <p:cNvSpPr>
            <a:spLocks noChangeShapeType="1"/>
          </p:cNvSpPr>
          <p:nvPr/>
        </p:nvSpPr>
        <p:spPr bwMode="auto">
          <a:xfrm>
            <a:off x="801037" y="3265207"/>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4" name="Line 19">
            <a:extLst>
              <a:ext uri="{FF2B5EF4-FFF2-40B4-BE49-F238E27FC236}">
                <a16:creationId xmlns:a16="http://schemas.microsoft.com/office/drawing/2014/main" id="{0C2B32CB-160C-1949-B26F-AEE112AAA5CE}"/>
              </a:ext>
            </a:extLst>
          </p:cNvPr>
          <p:cNvSpPr>
            <a:spLocks noChangeShapeType="1"/>
          </p:cNvSpPr>
          <p:nvPr/>
        </p:nvSpPr>
        <p:spPr bwMode="auto">
          <a:xfrm>
            <a:off x="799100" y="3728219"/>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5" name="Line 19">
            <a:extLst>
              <a:ext uri="{FF2B5EF4-FFF2-40B4-BE49-F238E27FC236}">
                <a16:creationId xmlns:a16="http://schemas.microsoft.com/office/drawing/2014/main" id="{E012B3C4-5F72-A141-A441-ADA6CA97A556}"/>
              </a:ext>
            </a:extLst>
          </p:cNvPr>
          <p:cNvSpPr>
            <a:spLocks noChangeShapeType="1"/>
          </p:cNvSpPr>
          <p:nvPr/>
        </p:nvSpPr>
        <p:spPr bwMode="auto">
          <a:xfrm>
            <a:off x="797163" y="4191230"/>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 name="Line 19">
            <a:extLst>
              <a:ext uri="{FF2B5EF4-FFF2-40B4-BE49-F238E27FC236}">
                <a16:creationId xmlns:a16="http://schemas.microsoft.com/office/drawing/2014/main" id="{BF483ABF-DBE0-BF4B-94C9-E7D0F188F4AC}"/>
              </a:ext>
            </a:extLst>
          </p:cNvPr>
          <p:cNvSpPr>
            <a:spLocks noChangeShapeType="1"/>
          </p:cNvSpPr>
          <p:nvPr/>
        </p:nvSpPr>
        <p:spPr bwMode="auto">
          <a:xfrm>
            <a:off x="806849" y="4770479"/>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 name="Rectangle 2">
            <a:extLst>
              <a:ext uri="{FF2B5EF4-FFF2-40B4-BE49-F238E27FC236}">
                <a16:creationId xmlns:a16="http://schemas.microsoft.com/office/drawing/2014/main" id="{A76539A4-4744-8842-8ED2-36EF0B5DAA55}"/>
              </a:ext>
            </a:extLst>
          </p:cNvPr>
          <p:cNvSpPr/>
          <p:nvPr/>
        </p:nvSpPr>
        <p:spPr>
          <a:xfrm>
            <a:off x="616058" y="3177262"/>
            <a:ext cx="7590295" cy="21783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7" name="Line 16">
            <a:extLst>
              <a:ext uri="{FF2B5EF4-FFF2-40B4-BE49-F238E27FC236}">
                <a16:creationId xmlns:a16="http://schemas.microsoft.com/office/drawing/2014/main" id="{B1FE5F6C-026F-0544-9F5F-295E95B4FC3A}"/>
              </a:ext>
            </a:extLst>
          </p:cNvPr>
          <p:cNvSpPr>
            <a:spLocks noChangeShapeType="1"/>
          </p:cNvSpPr>
          <p:nvPr/>
        </p:nvSpPr>
        <p:spPr bwMode="auto">
          <a:xfrm flipV="1">
            <a:off x="3986940" y="2363076"/>
            <a:ext cx="402181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grpSp>
        <p:nvGrpSpPr>
          <p:cNvPr id="8" name="Group 7">
            <a:extLst>
              <a:ext uri="{FF2B5EF4-FFF2-40B4-BE49-F238E27FC236}">
                <a16:creationId xmlns:a16="http://schemas.microsoft.com/office/drawing/2014/main" id="{B777822C-9D57-814F-877A-2273D1202ED7}"/>
              </a:ext>
            </a:extLst>
          </p:cNvPr>
          <p:cNvGrpSpPr/>
          <p:nvPr/>
        </p:nvGrpSpPr>
        <p:grpSpPr>
          <a:xfrm>
            <a:off x="1394848" y="3437718"/>
            <a:ext cx="6079210" cy="1917916"/>
            <a:chOff x="852407" y="3270142"/>
            <a:chExt cx="8105613" cy="2557221"/>
          </a:xfrm>
        </p:grpSpPr>
        <p:sp>
          <p:nvSpPr>
            <p:cNvPr id="28" name="TextBox 27">
              <a:extLst>
                <a:ext uri="{FF2B5EF4-FFF2-40B4-BE49-F238E27FC236}">
                  <a16:creationId xmlns:a16="http://schemas.microsoft.com/office/drawing/2014/main" id="{828EFD12-C61D-5143-AE81-9D893932CA81}"/>
                </a:ext>
              </a:extLst>
            </p:cNvPr>
            <p:cNvSpPr txBox="1"/>
            <p:nvPr/>
          </p:nvSpPr>
          <p:spPr>
            <a:xfrm>
              <a:off x="1175287" y="3794501"/>
              <a:ext cx="7419382" cy="1846660"/>
            </a:xfrm>
            <a:prstGeom prst="rect">
              <a:avLst/>
            </a:prstGeom>
            <a:noFill/>
          </p:spPr>
          <p:txBody>
            <a:bodyPr wrap="none" rtlCol="0">
              <a:spAutoFit/>
            </a:bodyPr>
            <a:lstStyle/>
            <a:p>
              <a:pPr defTabSz="685800" eaLnBrk="1" fontAlgn="auto" hangingPunct="1">
                <a:spcBef>
                  <a:spcPts val="0"/>
                </a:spcBef>
                <a:spcAft>
                  <a:spcPts val="0"/>
                </a:spcAft>
                <a:defRPr/>
              </a:pPr>
              <a:r>
                <a:rPr lang="en-US" sz="2100" i="1" dirty="0">
                  <a:solidFill>
                    <a:srgbClr val="0013A3"/>
                  </a:solidFill>
                  <a:latin typeface="Calibri" panose="020F0502020204030204"/>
                  <a:ea typeface="+mn-ea"/>
                </a:rPr>
                <a:t>No</a:t>
              </a:r>
              <a:r>
                <a:rPr lang="en-US" sz="2100" dirty="0">
                  <a:solidFill>
                    <a:prstClr val="black"/>
                  </a:solidFill>
                  <a:latin typeface="Calibri" panose="020F0502020204030204"/>
                  <a:ea typeface="+mn-ea"/>
                </a:rPr>
                <a:t> guarantees on</a:t>
              </a:r>
              <a:r>
                <a:rPr lang="en-US" sz="2100" i="1" dirty="0">
                  <a:solidFill>
                    <a:prstClr val="black"/>
                  </a:solidFill>
                  <a:latin typeface="Calibri" panose="020F0502020204030204"/>
                  <a:ea typeface="+mn-ea"/>
                </a:rPr>
                <a:t>: </a:t>
              </a:r>
            </a:p>
            <a:p>
              <a:pPr marL="650081" lvl="1" indent="-307181" defTabSz="685800" eaLnBrk="1" fontAlgn="auto" hangingPunct="1">
                <a:spcBef>
                  <a:spcPts val="0"/>
                </a:spcBef>
                <a:spcAft>
                  <a:spcPts val="0"/>
                </a:spcAft>
                <a:buFont typeface="+mj-lt"/>
                <a:buAutoNum type="romanLcPeriod"/>
                <a:defRPr/>
              </a:pPr>
              <a:r>
                <a:rPr lang="en-US" sz="2100" dirty="0">
                  <a:solidFill>
                    <a:prstClr val="black"/>
                  </a:solidFill>
                  <a:latin typeface="Calibri" panose="020F0502020204030204"/>
                  <a:ea typeface="+mn-ea"/>
                </a:rPr>
                <a:t>successful</a:t>
              </a:r>
              <a:r>
                <a:rPr lang="en-US" sz="2100" i="1" dirty="0">
                  <a:solidFill>
                    <a:prstClr val="black"/>
                  </a:solidFill>
                  <a:latin typeface="Calibri" panose="020F0502020204030204"/>
                  <a:ea typeface="+mn-ea"/>
                </a:rPr>
                <a:t> </a:t>
              </a:r>
              <a:r>
                <a:rPr lang="en-US" sz="2100" dirty="0">
                  <a:solidFill>
                    <a:prstClr val="black"/>
                  </a:solidFill>
                  <a:latin typeface="Calibri" panose="020F0502020204030204"/>
                  <a:ea typeface="+mn-ea"/>
                </a:rPr>
                <a:t>datagram delivery to destination</a:t>
              </a:r>
            </a:p>
            <a:p>
              <a:pPr marL="650081" lvl="1" indent="-307181" defTabSz="685800" eaLnBrk="1" fontAlgn="auto" hangingPunct="1">
                <a:spcBef>
                  <a:spcPts val="0"/>
                </a:spcBef>
                <a:spcAft>
                  <a:spcPts val="0"/>
                </a:spcAft>
                <a:buFont typeface="+mj-lt"/>
                <a:buAutoNum type="romanLcPeriod"/>
                <a:defRPr/>
              </a:pPr>
              <a:r>
                <a:rPr lang="en-US" sz="2100" dirty="0">
                  <a:solidFill>
                    <a:prstClr val="black"/>
                  </a:solidFill>
                  <a:latin typeface="Calibri" panose="020F0502020204030204"/>
                  <a:ea typeface="+mn-ea"/>
                </a:rPr>
                <a:t>timing or order of delivery</a:t>
              </a:r>
            </a:p>
            <a:p>
              <a:pPr marL="650081" lvl="1" indent="-307181" defTabSz="685800" eaLnBrk="1" fontAlgn="auto" hangingPunct="1">
                <a:spcBef>
                  <a:spcPts val="0"/>
                </a:spcBef>
                <a:spcAft>
                  <a:spcPts val="0"/>
                </a:spcAft>
                <a:buFont typeface="+mj-lt"/>
                <a:buAutoNum type="romanLcPeriod"/>
                <a:defRPr/>
              </a:pPr>
              <a:r>
                <a:rPr lang="en-US" sz="2100" dirty="0">
                  <a:solidFill>
                    <a:prstClr val="black"/>
                  </a:solidFill>
                  <a:latin typeface="Calibri" panose="020F0502020204030204"/>
                  <a:ea typeface="+mn-ea"/>
                </a:rPr>
                <a:t>bandwidth available to end-end flow</a:t>
              </a:r>
              <a:endParaRPr lang="en-US" sz="1350" dirty="0">
                <a:solidFill>
                  <a:prstClr val="black"/>
                </a:solidFill>
                <a:latin typeface="Calibri" panose="020F0502020204030204"/>
                <a:ea typeface="+mn-ea"/>
              </a:endParaRPr>
            </a:p>
          </p:txBody>
        </p:sp>
        <p:sp>
          <p:nvSpPr>
            <p:cNvPr id="7" name="Rectangle 6">
              <a:extLst>
                <a:ext uri="{FF2B5EF4-FFF2-40B4-BE49-F238E27FC236}">
                  <a16:creationId xmlns:a16="http://schemas.microsoft.com/office/drawing/2014/main" id="{78D0C32C-957E-6540-8CA6-963771BBE837}"/>
                </a:ext>
              </a:extLst>
            </p:cNvPr>
            <p:cNvSpPr/>
            <p:nvPr/>
          </p:nvSpPr>
          <p:spPr>
            <a:xfrm>
              <a:off x="852407" y="3502617"/>
              <a:ext cx="8105613" cy="2324746"/>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6" name="TextBox 5">
              <a:extLst>
                <a:ext uri="{FF2B5EF4-FFF2-40B4-BE49-F238E27FC236}">
                  <a16:creationId xmlns:a16="http://schemas.microsoft.com/office/drawing/2014/main" id="{611B64E3-F240-2E4A-9BB4-1C9FDFBB21EA}"/>
                </a:ext>
              </a:extLst>
            </p:cNvPr>
            <p:cNvSpPr txBox="1"/>
            <p:nvPr/>
          </p:nvSpPr>
          <p:spPr>
            <a:xfrm>
              <a:off x="1100380" y="3270142"/>
              <a:ext cx="5543826" cy="553997"/>
            </a:xfrm>
            <a:prstGeom prst="rect">
              <a:avLst/>
            </a:prstGeom>
            <a:solidFill>
              <a:schemeClr val="bg1"/>
            </a:solid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Internet  “best effort” service model</a:t>
              </a:r>
            </a:p>
          </p:txBody>
        </p:sp>
      </p:grpSp>
      <p:sp>
        <p:nvSpPr>
          <p:cNvPr id="29" name="Text Box 15">
            <a:extLst>
              <a:ext uri="{FF2B5EF4-FFF2-40B4-BE49-F238E27FC236}">
                <a16:creationId xmlns:a16="http://schemas.microsoft.com/office/drawing/2014/main" id="{9BD70DA9-3274-304C-A354-2FF885CD2536}"/>
              </a:ext>
            </a:extLst>
          </p:cNvPr>
          <p:cNvSpPr txBox="1">
            <a:spLocks noChangeArrowheads="1"/>
          </p:cNvSpPr>
          <p:nvPr/>
        </p:nvSpPr>
        <p:spPr bwMode="auto">
          <a:xfrm>
            <a:off x="4333843" y="2032365"/>
            <a:ext cx="34788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prstClr val="black"/>
                </a:solidFill>
              </a:rPr>
              <a:t>Qu</a:t>
            </a:r>
            <a:r>
              <a:rPr lang="en-US" altLang="en-US" sz="1500" dirty="0" err="1">
                <a:solidFill>
                  <a:prstClr val="black"/>
                </a:solidFill>
              </a:rPr>
              <a:t>ality</a:t>
            </a:r>
            <a:r>
              <a:rPr lang="en-US" altLang="en-US" sz="1500" dirty="0">
                <a:solidFill>
                  <a:prstClr val="black"/>
                </a:solidFill>
              </a:rPr>
              <a:t> of Service (QoS) Guarantees ?</a:t>
            </a:r>
            <a:endParaRPr lang="en-US" altLang="en-US" sz="1800" dirty="0">
              <a:solidFill>
                <a:prstClr val="black"/>
              </a:solidFill>
              <a:latin typeface="Times New Roman" panose="02020603050405020304" pitchFamily="18" charset="0"/>
            </a:endParaRPr>
          </a:p>
        </p:txBody>
      </p:sp>
      <p:sp>
        <p:nvSpPr>
          <p:cNvPr id="21" name="Slide Number Placeholder 4">
            <a:extLst>
              <a:ext uri="{FF2B5EF4-FFF2-40B4-BE49-F238E27FC236}">
                <a16:creationId xmlns:a16="http://schemas.microsoft.com/office/drawing/2014/main" id="{CC41D844-4BFF-004B-B364-1106DEFC8A1E}"/>
              </a:ext>
            </a:extLst>
          </p:cNvPr>
          <p:cNvSpPr>
            <a:spLocks noGrp="1"/>
          </p:cNvSpPr>
          <p:nvPr>
            <p:ph type="sldNum" sz="quarter" idx="4294967295"/>
          </p:nvPr>
        </p:nvSpPr>
        <p:spPr>
          <a:xfrm>
            <a:off x="6914712" y="5689567"/>
            <a:ext cx="2057400" cy="273844"/>
          </a:xfrm>
        </p:spPr>
        <p:txBody>
          <a:bodyPr/>
          <a:lstStyle/>
          <a:p>
            <a:r>
              <a:rPr lang="en-US" dirty="0"/>
              <a:t>Network Layer: 4-</a:t>
            </a:r>
            <a:fld id="{C4204591-24BD-A542-B9D5-F8D8A88D2FEE}" type="slidenum">
              <a:rPr lang="en-US" smtClean="0"/>
              <a:pPr/>
              <a:t>13</a:t>
            </a:fld>
            <a:endParaRPr lang="en-US" dirty="0"/>
          </a:p>
        </p:txBody>
      </p:sp>
    </p:spTree>
    <p:extLst>
      <p:ext uri="{BB962C8B-B14F-4D97-AF65-F5344CB8AC3E}">
        <p14:creationId xmlns:p14="http://schemas.microsoft.com/office/powerpoint/2010/main" val="2290223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8" descr="underline_base">
            <a:extLst>
              <a:ext uri="{FF2B5EF4-FFF2-40B4-BE49-F238E27FC236}">
                <a16:creationId xmlns:a16="http://schemas.microsoft.com/office/drawing/2014/main" id="{0B668F0E-2858-064E-83B9-22C58C22026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475" y="957263"/>
            <a:ext cx="70246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Rectangle 2">
            <a:extLst>
              <a:ext uri="{FF2B5EF4-FFF2-40B4-BE49-F238E27FC236}">
                <a16:creationId xmlns:a16="http://schemas.microsoft.com/office/drawing/2014/main" id="{06F34278-F49E-3845-8EDD-02FFB9FD4789}"/>
              </a:ext>
            </a:extLst>
          </p:cNvPr>
          <p:cNvSpPr>
            <a:spLocks noGrp="1" noChangeArrowheads="1"/>
          </p:cNvSpPr>
          <p:nvPr>
            <p:ph type="title"/>
          </p:nvPr>
        </p:nvSpPr>
        <p:spPr>
          <a:xfrm>
            <a:off x="533400" y="241300"/>
            <a:ext cx="7772400" cy="974725"/>
          </a:xfrm>
        </p:spPr>
        <p:txBody>
          <a:bodyPr/>
          <a:lstStyle/>
          <a:p>
            <a:r>
              <a:rPr lang="en-US" altLang="en-US">
                <a:ea typeface="ＭＳ Ｐゴシック" panose="020B0600070205080204" pitchFamily="34" charset="-128"/>
              </a:rPr>
              <a:t>Network layer service models:</a:t>
            </a:r>
            <a:endParaRPr lang="en-US" altLang="en-US" sz="4800">
              <a:ea typeface="ＭＳ Ｐゴシック" panose="020B0600070205080204" pitchFamily="34" charset="-128"/>
            </a:endParaRPr>
          </a:p>
        </p:txBody>
      </p:sp>
      <p:sp>
        <p:nvSpPr>
          <p:cNvPr id="48132" name="Text Box 3">
            <a:extLst>
              <a:ext uri="{FF2B5EF4-FFF2-40B4-BE49-F238E27FC236}">
                <a16:creationId xmlns:a16="http://schemas.microsoft.com/office/drawing/2014/main" id="{211E4242-3DA1-D745-A628-528F9D76C1F9}"/>
              </a:ext>
            </a:extLst>
          </p:cNvPr>
          <p:cNvSpPr txBox="1">
            <a:spLocks noChangeArrowheads="1"/>
          </p:cNvSpPr>
          <p:nvPr/>
        </p:nvSpPr>
        <p:spPr bwMode="auto">
          <a:xfrm>
            <a:off x="309563" y="1506538"/>
            <a:ext cx="1538287"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t>Network</a:t>
            </a:r>
          </a:p>
          <a:p>
            <a:pPr algn="r"/>
            <a:r>
              <a:rPr lang="en-US" altLang="en-US" sz="2000"/>
              <a:t>Architecture</a:t>
            </a:r>
          </a:p>
          <a:p>
            <a:pPr algn="r"/>
            <a:endParaRPr lang="en-US" altLang="en-US" sz="2000"/>
          </a:p>
          <a:p>
            <a:pPr algn="r"/>
            <a:r>
              <a:rPr lang="en-US" altLang="en-US" sz="2000"/>
              <a:t>Internet</a:t>
            </a:r>
          </a:p>
          <a:p>
            <a:pPr algn="r"/>
            <a:endParaRPr lang="en-US" altLang="en-US" sz="2000"/>
          </a:p>
          <a:p>
            <a:pPr algn="r"/>
            <a:r>
              <a:rPr lang="en-US" altLang="en-US" sz="2000"/>
              <a:t>ATM</a:t>
            </a:r>
          </a:p>
          <a:p>
            <a:pPr algn="r"/>
            <a:endParaRPr lang="en-US" altLang="en-US" sz="2000"/>
          </a:p>
          <a:p>
            <a:pPr algn="r"/>
            <a:r>
              <a:rPr lang="en-US" altLang="en-US" sz="2000"/>
              <a:t>ATM</a:t>
            </a:r>
          </a:p>
          <a:p>
            <a:pPr algn="r"/>
            <a:endParaRPr lang="en-US" altLang="en-US" sz="2000"/>
          </a:p>
          <a:p>
            <a:pPr algn="r"/>
            <a:r>
              <a:rPr lang="en-US" altLang="en-US" sz="2000"/>
              <a:t>ATM</a:t>
            </a:r>
          </a:p>
          <a:p>
            <a:pPr algn="r"/>
            <a:endParaRPr lang="en-US" altLang="en-US" sz="2000"/>
          </a:p>
          <a:p>
            <a:pPr algn="r"/>
            <a:r>
              <a:rPr lang="en-US" altLang="en-US" sz="2000"/>
              <a:t>ATM</a:t>
            </a:r>
            <a:endParaRPr lang="en-US" altLang="en-US" sz="2400">
              <a:latin typeface="Times New Roman" panose="02020603050405020304" pitchFamily="18" charset="0"/>
            </a:endParaRPr>
          </a:p>
        </p:txBody>
      </p:sp>
      <p:sp>
        <p:nvSpPr>
          <p:cNvPr id="48133" name="Text Box 4">
            <a:extLst>
              <a:ext uri="{FF2B5EF4-FFF2-40B4-BE49-F238E27FC236}">
                <a16:creationId xmlns:a16="http://schemas.microsoft.com/office/drawing/2014/main" id="{67869639-51DB-DD48-A2AA-2B3377125904}"/>
              </a:ext>
            </a:extLst>
          </p:cNvPr>
          <p:cNvSpPr txBox="1">
            <a:spLocks noChangeArrowheads="1"/>
          </p:cNvSpPr>
          <p:nvPr/>
        </p:nvSpPr>
        <p:spPr bwMode="auto">
          <a:xfrm>
            <a:off x="1966913" y="1506538"/>
            <a:ext cx="1309687"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Service</a:t>
            </a:r>
          </a:p>
          <a:p>
            <a:r>
              <a:rPr lang="en-US" altLang="en-US" sz="2000"/>
              <a:t>Model</a:t>
            </a:r>
          </a:p>
          <a:p>
            <a:endParaRPr lang="en-US" altLang="en-US" sz="2000"/>
          </a:p>
          <a:p>
            <a:r>
              <a:rPr lang="en-US" altLang="en-US" sz="2000"/>
              <a:t>best effort</a:t>
            </a:r>
          </a:p>
          <a:p>
            <a:endParaRPr lang="en-US" altLang="en-US" sz="2000"/>
          </a:p>
          <a:p>
            <a:r>
              <a:rPr lang="en-US" altLang="en-US" sz="2000"/>
              <a:t>CBR</a:t>
            </a:r>
          </a:p>
          <a:p>
            <a:endParaRPr lang="en-US" altLang="en-US" sz="2000"/>
          </a:p>
          <a:p>
            <a:r>
              <a:rPr lang="en-US" altLang="en-US" sz="2000"/>
              <a:t>VBR</a:t>
            </a:r>
          </a:p>
          <a:p>
            <a:endParaRPr lang="en-US" altLang="en-US" sz="2000"/>
          </a:p>
          <a:p>
            <a:r>
              <a:rPr lang="en-US" altLang="en-US" sz="2000"/>
              <a:t>ABR</a:t>
            </a:r>
          </a:p>
          <a:p>
            <a:endParaRPr lang="en-US" altLang="en-US" sz="2000"/>
          </a:p>
          <a:p>
            <a:r>
              <a:rPr lang="en-US" altLang="en-US" sz="2000"/>
              <a:t>UBR</a:t>
            </a:r>
            <a:endParaRPr lang="en-US" altLang="en-US" sz="2400">
              <a:latin typeface="Times New Roman" panose="02020603050405020304" pitchFamily="18" charset="0"/>
            </a:endParaRPr>
          </a:p>
        </p:txBody>
      </p:sp>
      <p:sp>
        <p:nvSpPr>
          <p:cNvPr id="48134" name="Text Box 5">
            <a:extLst>
              <a:ext uri="{FF2B5EF4-FFF2-40B4-BE49-F238E27FC236}">
                <a16:creationId xmlns:a16="http://schemas.microsoft.com/office/drawing/2014/main" id="{187B837E-761D-C242-A601-3CB2F9E7CB7F}"/>
              </a:ext>
            </a:extLst>
          </p:cNvPr>
          <p:cNvSpPr txBox="1">
            <a:spLocks noChangeArrowheads="1"/>
          </p:cNvSpPr>
          <p:nvPr/>
        </p:nvSpPr>
        <p:spPr bwMode="auto">
          <a:xfrm>
            <a:off x="3300413" y="1801813"/>
            <a:ext cx="1538287"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Bandwidth</a:t>
            </a:r>
          </a:p>
          <a:p>
            <a:endParaRPr lang="en-US" altLang="en-US" sz="2000"/>
          </a:p>
          <a:p>
            <a:r>
              <a:rPr lang="en-US" altLang="en-US" sz="2000"/>
              <a:t>none</a:t>
            </a:r>
          </a:p>
          <a:p>
            <a:endParaRPr lang="en-US" altLang="en-US" sz="2000"/>
          </a:p>
          <a:p>
            <a:r>
              <a:rPr lang="en-US" altLang="en-US" sz="2000"/>
              <a:t>constant</a:t>
            </a:r>
          </a:p>
          <a:p>
            <a:r>
              <a:rPr lang="en-US" altLang="en-US" sz="2000"/>
              <a:t>rate</a:t>
            </a:r>
          </a:p>
          <a:p>
            <a:r>
              <a:rPr lang="en-US" altLang="en-US" sz="2000"/>
              <a:t>guaranteed</a:t>
            </a:r>
          </a:p>
          <a:p>
            <a:r>
              <a:rPr lang="en-US" altLang="en-US" sz="2000"/>
              <a:t>rate</a:t>
            </a:r>
          </a:p>
          <a:p>
            <a:r>
              <a:rPr lang="en-US" altLang="en-US" sz="2000"/>
              <a:t>guaranteed </a:t>
            </a:r>
          </a:p>
          <a:p>
            <a:r>
              <a:rPr lang="en-US" altLang="en-US" sz="2000"/>
              <a:t>minimum</a:t>
            </a:r>
          </a:p>
          <a:p>
            <a:r>
              <a:rPr lang="en-US" altLang="en-US" sz="2000"/>
              <a:t>none</a:t>
            </a:r>
            <a:endParaRPr lang="en-US" altLang="en-US" sz="2400">
              <a:latin typeface="Times New Roman" panose="02020603050405020304" pitchFamily="18" charset="0"/>
            </a:endParaRPr>
          </a:p>
        </p:txBody>
      </p:sp>
      <p:sp>
        <p:nvSpPr>
          <p:cNvPr id="48135" name="Text Box 11">
            <a:extLst>
              <a:ext uri="{FF2B5EF4-FFF2-40B4-BE49-F238E27FC236}">
                <a16:creationId xmlns:a16="http://schemas.microsoft.com/office/drawing/2014/main" id="{F42B5C7E-3135-7940-9688-3A412EB971B0}"/>
              </a:ext>
            </a:extLst>
          </p:cNvPr>
          <p:cNvSpPr txBox="1">
            <a:spLocks noChangeArrowheads="1"/>
          </p:cNvSpPr>
          <p:nvPr/>
        </p:nvSpPr>
        <p:spPr bwMode="auto">
          <a:xfrm>
            <a:off x="4700588" y="1801813"/>
            <a:ext cx="720725"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dirty="0"/>
              <a:t>Loss</a:t>
            </a:r>
          </a:p>
          <a:p>
            <a:endParaRPr lang="en-US" altLang="en-US" sz="2000" dirty="0"/>
          </a:p>
          <a:p>
            <a:r>
              <a:rPr lang="en-US" altLang="en-US" sz="2000" dirty="0"/>
              <a:t>no</a:t>
            </a:r>
          </a:p>
          <a:p>
            <a:endParaRPr lang="en-US" altLang="en-US" sz="2000" dirty="0"/>
          </a:p>
          <a:p>
            <a:r>
              <a:rPr lang="en-US" altLang="en-US" sz="2000" dirty="0"/>
              <a:t>yes</a:t>
            </a:r>
          </a:p>
          <a:p>
            <a:endParaRPr lang="en-US" altLang="en-US" sz="2000" dirty="0"/>
          </a:p>
          <a:p>
            <a:r>
              <a:rPr lang="en-US" altLang="en-US" sz="2000" dirty="0"/>
              <a:t>yes</a:t>
            </a:r>
          </a:p>
          <a:p>
            <a:endParaRPr lang="en-US" altLang="en-US" sz="2000" dirty="0"/>
          </a:p>
          <a:p>
            <a:r>
              <a:rPr lang="en-US" altLang="en-US" sz="2000" dirty="0"/>
              <a:t>no</a:t>
            </a:r>
          </a:p>
          <a:p>
            <a:endParaRPr lang="en-US" altLang="en-US" sz="2000" dirty="0"/>
          </a:p>
          <a:p>
            <a:r>
              <a:rPr lang="en-US" altLang="en-US" sz="2000" dirty="0"/>
              <a:t>no</a:t>
            </a:r>
            <a:endParaRPr lang="en-US" altLang="en-US" sz="2400" dirty="0">
              <a:latin typeface="Times New Roman" panose="02020603050405020304" pitchFamily="18" charset="0"/>
            </a:endParaRPr>
          </a:p>
        </p:txBody>
      </p:sp>
      <p:sp>
        <p:nvSpPr>
          <p:cNvPr id="48136" name="Text Box 12">
            <a:extLst>
              <a:ext uri="{FF2B5EF4-FFF2-40B4-BE49-F238E27FC236}">
                <a16:creationId xmlns:a16="http://schemas.microsoft.com/office/drawing/2014/main" id="{43FB1A1C-03AF-674E-A974-8E04F026169F}"/>
              </a:ext>
            </a:extLst>
          </p:cNvPr>
          <p:cNvSpPr txBox="1">
            <a:spLocks noChangeArrowheads="1"/>
          </p:cNvSpPr>
          <p:nvPr/>
        </p:nvSpPr>
        <p:spPr bwMode="auto">
          <a:xfrm>
            <a:off x="5424488" y="1811338"/>
            <a:ext cx="831850"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Order</a:t>
            </a:r>
          </a:p>
          <a:p>
            <a:endParaRPr lang="en-US" altLang="en-US" sz="2000"/>
          </a:p>
          <a:p>
            <a:r>
              <a:rPr lang="en-US" altLang="en-US" sz="2000"/>
              <a:t>no</a:t>
            </a:r>
          </a:p>
          <a:p>
            <a:endParaRPr lang="en-US" altLang="en-US" sz="2000"/>
          </a:p>
          <a:p>
            <a:r>
              <a:rPr lang="en-US" altLang="en-US" sz="2000"/>
              <a:t>yes</a:t>
            </a:r>
          </a:p>
          <a:p>
            <a:endParaRPr lang="en-US" altLang="en-US" sz="2000"/>
          </a:p>
          <a:p>
            <a:r>
              <a:rPr lang="en-US" altLang="en-US" sz="2000"/>
              <a:t>yes</a:t>
            </a:r>
          </a:p>
          <a:p>
            <a:endParaRPr lang="en-US" altLang="en-US" sz="2000"/>
          </a:p>
          <a:p>
            <a:r>
              <a:rPr lang="en-US" altLang="en-US" sz="2000"/>
              <a:t>yes</a:t>
            </a:r>
          </a:p>
          <a:p>
            <a:endParaRPr lang="en-US" altLang="en-US" sz="2000"/>
          </a:p>
          <a:p>
            <a:r>
              <a:rPr lang="en-US" altLang="en-US" sz="2000"/>
              <a:t>yes</a:t>
            </a:r>
            <a:endParaRPr lang="en-US" altLang="en-US" sz="2400">
              <a:latin typeface="Times New Roman" panose="02020603050405020304" pitchFamily="18" charset="0"/>
            </a:endParaRPr>
          </a:p>
        </p:txBody>
      </p:sp>
      <p:sp>
        <p:nvSpPr>
          <p:cNvPr id="48137" name="Text Box 13">
            <a:extLst>
              <a:ext uri="{FF2B5EF4-FFF2-40B4-BE49-F238E27FC236}">
                <a16:creationId xmlns:a16="http://schemas.microsoft.com/office/drawing/2014/main" id="{D556380E-EBF4-4D40-8BFD-755AD5803A8C}"/>
              </a:ext>
            </a:extLst>
          </p:cNvPr>
          <p:cNvSpPr txBox="1">
            <a:spLocks noChangeArrowheads="1"/>
          </p:cNvSpPr>
          <p:nvPr/>
        </p:nvSpPr>
        <p:spPr bwMode="auto">
          <a:xfrm>
            <a:off x="6281738" y="1811338"/>
            <a:ext cx="947737"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t>Timing</a:t>
            </a:r>
          </a:p>
          <a:p>
            <a:endParaRPr lang="en-US" altLang="en-US" sz="2000"/>
          </a:p>
          <a:p>
            <a:r>
              <a:rPr lang="en-US" altLang="en-US" sz="2000"/>
              <a:t>no</a:t>
            </a:r>
          </a:p>
          <a:p>
            <a:endParaRPr lang="en-US" altLang="en-US" sz="2000"/>
          </a:p>
          <a:p>
            <a:r>
              <a:rPr lang="en-US" altLang="en-US" sz="2000"/>
              <a:t>yes</a:t>
            </a:r>
          </a:p>
          <a:p>
            <a:endParaRPr lang="en-US" altLang="en-US" sz="2000"/>
          </a:p>
          <a:p>
            <a:r>
              <a:rPr lang="en-US" altLang="en-US" sz="2000"/>
              <a:t>yes</a:t>
            </a:r>
          </a:p>
          <a:p>
            <a:endParaRPr lang="en-US" altLang="en-US" sz="2000"/>
          </a:p>
          <a:p>
            <a:r>
              <a:rPr lang="en-US" altLang="en-US" sz="2000"/>
              <a:t>no</a:t>
            </a:r>
          </a:p>
          <a:p>
            <a:endParaRPr lang="en-US" altLang="en-US" sz="2000"/>
          </a:p>
          <a:p>
            <a:r>
              <a:rPr lang="en-US" altLang="en-US" sz="2000"/>
              <a:t>no</a:t>
            </a:r>
            <a:endParaRPr lang="en-US" altLang="en-US" sz="2400">
              <a:latin typeface="Times New Roman" panose="02020603050405020304" pitchFamily="18" charset="0"/>
            </a:endParaRPr>
          </a:p>
        </p:txBody>
      </p:sp>
      <p:sp>
        <p:nvSpPr>
          <p:cNvPr id="48138" name="Text Box 14">
            <a:extLst>
              <a:ext uri="{FF2B5EF4-FFF2-40B4-BE49-F238E27FC236}">
                <a16:creationId xmlns:a16="http://schemas.microsoft.com/office/drawing/2014/main" id="{5C46AC92-4B0D-7A4E-B069-8C336D25AFF1}"/>
              </a:ext>
            </a:extLst>
          </p:cNvPr>
          <p:cNvSpPr txBox="1">
            <a:spLocks noChangeArrowheads="1"/>
          </p:cNvSpPr>
          <p:nvPr/>
        </p:nvSpPr>
        <p:spPr bwMode="auto">
          <a:xfrm>
            <a:off x="7281863" y="1525588"/>
            <a:ext cx="1481137"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dirty="0"/>
              <a:t>Congestion</a:t>
            </a:r>
          </a:p>
          <a:p>
            <a:r>
              <a:rPr lang="en-US" altLang="en-US" sz="2000" dirty="0"/>
              <a:t>feedback</a:t>
            </a:r>
          </a:p>
          <a:p>
            <a:endParaRPr lang="en-US" altLang="en-US" sz="2000" dirty="0"/>
          </a:p>
          <a:p>
            <a:r>
              <a:rPr lang="en-US" altLang="en-US" sz="2000" dirty="0"/>
              <a:t>no (inferred</a:t>
            </a:r>
          </a:p>
          <a:p>
            <a:r>
              <a:rPr lang="en-US" altLang="en-US" sz="2000" dirty="0"/>
              <a:t>via loss)</a:t>
            </a:r>
          </a:p>
          <a:p>
            <a:r>
              <a:rPr lang="en-US" altLang="en-US" sz="2000" dirty="0"/>
              <a:t>no</a:t>
            </a:r>
          </a:p>
          <a:p>
            <a:r>
              <a:rPr lang="en-US" altLang="en-US" sz="2000" dirty="0"/>
              <a:t>congestion</a:t>
            </a:r>
          </a:p>
          <a:p>
            <a:r>
              <a:rPr lang="en-US" altLang="en-US" sz="2000" dirty="0"/>
              <a:t>no</a:t>
            </a:r>
          </a:p>
          <a:p>
            <a:r>
              <a:rPr lang="en-US" altLang="en-US" sz="2000" dirty="0"/>
              <a:t>congestion</a:t>
            </a:r>
          </a:p>
          <a:p>
            <a:r>
              <a:rPr lang="en-US" altLang="en-US" sz="2000" dirty="0"/>
              <a:t>yes</a:t>
            </a:r>
          </a:p>
          <a:p>
            <a:endParaRPr lang="en-US" altLang="en-US" sz="2000" dirty="0"/>
          </a:p>
          <a:p>
            <a:r>
              <a:rPr lang="en-US" altLang="en-US" sz="2000" dirty="0"/>
              <a:t>no</a:t>
            </a:r>
            <a:endParaRPr lang="en-US" altLang="en-US" sz="2400" dirty="0">
              <a:latin typeface="Times New Roman" panose="02020603050405020304" pitchFamily="18" charset="0"/>
            </a:endParaRPr>
          </a:p>
        </p:txBody>
      </p:sp>
      <p:sp>
        <p:nvSpPr>
          <p:cNvPr id="48139" name="Text Box 15">
            <a:extLst>
              <a:ext uri="{FF2B5EF4-FFF2-40B4-BE49-F238E27FC236}">
                <a16:creationId xmlns:a16="http://schemas.microsoft.com/office/drawing/2014/main" id="{C5B76967-9A30-5341-8208-43CF2F087691}"/>
              </a:ext>
            </a:extLst>
          </p:cNvPr>
          <p:cNvSpPr txBox="1">
            <a:spLocks noChangeArrowheads="1"/>
          </p:cNvSpPr>
          <p:nvPr/>
        </p:nvSpPr>
        <p:spPr bwMode="auto">
          <a:xfrm>
            <a:off x="4176421" y="1108842"/>
            <a:ext cx="24897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Quality of Service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48140" name="Line 16">
            <a:extLst>
              <a:ext uri="{FF2B5EF4-FFF2-40B4-BE49-F238E27FC236}">
                <a16:creationId xmlns:a16="http://schemas.microsoft.com/office/drawing/2014/main" id="{E8B94269-D605-0D45-BDCF-E3945401DF84}"/>
              </a:ext>
            </a:extLst>
          </p:cNvPr>
          <p:cNvSpPr>
            <a:spLocks noChangeShapeType="1"/>
          </p:cNvSpPr>
          <p:nvPr/>
        </p:nvSpPr>
        <p:spPr bwMode="auto">
          <a:xfrm flipV="1">
            <a:off x="3390900" y="1800225"/>
            <a:ext cx="373380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1" name="Line 19">
            <a:extLst>
              <a:ext uri="{FF2B5EF4-FFF2-40B4-BE49-F238E27FC236}">
                <a16:creationId xmlns:a16="http://schemas.microsoft.com/office/drawing/2014/main" id="{C53CEE0A-B47C-7241-8927-821F1316441E}"/>
              </a:ext>
            </a:extLst>
          </p:cNvPr>
          <p:cNvSpPr>
            <a:spLocks noChangeShapeType="1"/>
          </p:cNvSpPr>
          <p:nvPr/>
        </p:nvSpPr>
        <p:spPr bwMode="auto">
          <a:xfrm>
            <a:off x="646113" y="2308225"/>
            <a:ext cx="7985125"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8142" name="Line 25">
            <a:extLst>
              <a:ext uri="{FF2B5EF4-FFF2-40B4-BE49-F238E27FC236}">
                <a16:creationId xmlns:a16="http://schemas.microsoft.com/office/drawing/2014/main" id="{304F3901-D9E1-D44F-9215-540E711D676D}"/>
              </a:ext>
            </a:extLst>
          </p:cNvPr>
          <p:cNvSpPr>
            <a:spLocks noChangeShapeType="1"/>
          </p:cNvSpPr>
          <p:nvPr/>
        </p:nvSpPr>
        <p:spPr bwMode="auto">
          <a:xfrm>
            <a:off x="904875" y="3098800"/>
            <a:ext cx="7437438"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8143" name="Line 26">
            <a:extLst>
              <a:ext uri="{FF2B5EF4-FFF2-40B4-BE49-F238E27FC236}">
                <a16:creationId xmlns:a16="http://schemas.microsoft.com/office/drawing/2014/main" id="{9EB797E1-AF70-0641-9052-F64DA0CCC668}"/>
              </a:ext>
            </a:extLst>
          </p:cNvPr>
          <p:cNvSpPr>
            <a:spLocks noChangeShapeType="1"/>
          </p:cNvSpPr>
          <p:nvPr/>
        </p:nvSpPr>
        <p:spPr bwMode="auto">
          <a:xfrm>
            <a:off x="901700" y="3708400"/>
            <a:ext cx="7437438"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8144" name="Line 27">
            <a:extLst>
              <a:ext uri="{FF2B5EF4-FFF2-40B4-BE49-F238E27FC236}">
                <a16:creationId xmlns:a16="http://schemas.microsoft.com/office/drawing/2014/main" id="{DECC1498-E2A8-B946-BF07-141080AB4DDD}"/>
              </a:ext>
            </a:extLst>
          </p:cNvPr>
          <p:cNvSpPr>
            <a:spLocks noChangeShapeType="1"/>
          </p:cNvSpPr>
          <p:nvPr/>
        </p:nvSpPr>
        <p:spPr bwMode="auto">
          <a:xfrm>
            <a:off x="898525" y="4329113"/>
            <a:ext cx="7437438"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8145" name="Line 28">
            <a:extLst>
              <a:ext uri="{FF2B5EF4-FFF2-40B4-BE49-F238E27FC236}">
                <a16:creationId xmlns:a16="http://schemas.microsoft.com/office/drawing/2014/main" id="{FB7A7DC3-F5EC-2D4E-8C8D-22C40FC40884}"/>
              </a:ext>
            </a:extLst>
          </p:cNvPr>
          <p:cNvSpPr>
            <a:spLocks noChangeShapeType="1"/>
          </p:cNvSpPr>
          <p:nvPr/>
        </p:nvSpPr>
        <p:spPr bwMode="auto">
          <a:xfrm>
            <a:off x="906463" y="4905375"/>
            <a:ext cx="743743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8146" name="Slide Number Placeholder 5">
            <a:extLst>
              <a:ext uri="{FF2B5EF4-FFF2-40B4-BE49-F238E27FC236}">
                <a16:creationId xmlns:a16="http://schemas.microsoft.com/office/drawing/2014/main" id="{1ED6FF59-07F7-9B48-B14E-A4F512F8979D}"/>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114B94CB-24C4-A944-BA3D-7B6783467892}" type="slidenum">
              <a:rPr lang="en-US" altLang="en-US">
                <a:latin typeface="Tahoma" panose="020B0604030504040204" pitchFamily="34" charset="0"/>
              </a:rPr>
              <a:pPr/>
              <a:t>14</a:t>
            </a:fld>
            <a:endParaRPr lang="en-US" altLang="en-US">
              <a:latin typeface="Tahoma" panose="020B0604030504040204" pitchFamily="34" charset="0"/>
            </a:endParaRPr>
          </a:p>
        </p:txBody>
      </p:sp>
      <p:sp>
        <p:nvSpPr>
          <p:cNvPr id="48147" name="Footer Placeholder 2">
            <a:extLst>
              <a:ext uri="{FF2B5EF4-FFF2-40B4-BE49-F238E27FC236}">
                <a16:creationId xmlns:a16="http://schemas.microsoft.com/office/drawing/2014/main" id="{B3B5CE25-0B1B-134C-98F3-FBC871A420A6}"/>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
        <p:nvSpPr>
          <p:cNvPr id="20" name="Rectangle 19"/>
          <p:cNvSpPr/>
          <p:nvPr/>
        </p:nvSpPr>
        <p:spPr>
          <a:xfrm>
            <a:off x="577850" y="5551488"/>
            <a:ext cx="8197850" cy="830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US" sz="1600" dirty="0"/>
              <a:t>Asynchronous Transfer Mode (ATM)  - Network Architecture</a:t>
            </a:r>
          </a:p>
          <a:p>
            <a:pPr>
              <a:defRPr/>
            </a:pPr>
            <a:r>
              <a:rPr lang="en-US" sz="1600" dirty="0"/>
              <a:t>CBR: Constant Bit Rate, VBR=Variable Bit Rate, ABR=Available Bit Rate, UBR= Unspecified Bit Rate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628650" y="1156359"/>
            <a:ext cx="7886700" cy="670967"/>
          </a:xfrm>
        </p:spPr>
        <p:txBody>
          <a:bodyPr>
            <a:normAutofit/>
          </a:bodyPr>
          <a:lstStyle/>
          <a:p>
            <a:r>
              <a:rPr lang="en-US" sz="3600" dirty="0"/>
              <a:t>Reflections on best-effort  service:</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636567" y="1906924"/>
            <a:ext cx="8127725" cy="3518451"/>
          </a:xfrm>
        </p:spPr>
        <p:txBody>
          <a:bodyPr>
            <a:normAutofit fontScale="92500" lnSpcReduction="10000"/>
          </a:bodyPr>
          <a:lstStyle/>
          <a:p>
            <a:pPr>
              <a:buFont typeface="Wingdings" charset="2"/>
              <a:buChar char="§"/>
              <a:defRPr/>
            </a:pPr>
            <a:r>
              <a:rPr lang="en-US" dirty="0">
                <a:solidFill>
                  <a:srgbClr val="0013A3"/>
                </a:solidFill>
              </a:rPr>
              <a:t>simplicity of mechanism </a:t>
            </a:r>
            <a:r>
              <a:rPr lang="en-US" dirty="0"/>
              <a:t>has allowed Internet to be widely deployed adopted</a:t>
            </a:r>
          </a:p>
          <a:p>
            <a:pPr>
              <a:buFont typeface="Wingdings" charset="2"/>
              <a:buChar char="§"/>
              <a:defRPr/>
            </a:pPr>
            <a:r>
              <a:rPr lang="en-US" dirty="0"/>
              <a:t>sufficient </a:t>
            </a:r>
            <a:r>
              <a:rPr lang="en-US" dirty="0">
                <a:solidFill>
                  <a:srgbClr val="0013A3"/>
                </a:solidFill>
              </a:rPr>
              <a:t>provisioning of bandwidth</a:t>
            </a:r>
            <a:r>
              <a:rPr lang="en-US" dirty="0"/>
              <a:t> allows performance of real-time applications (e.g., interactive voice, video) to be “good enough” for “most of the time”</a:t>
            </a:r>
          </a:p>
          <a:p>
            <a:pPr>
              <a:buFont typeface="Wingdings" charset="2"/>
              <a:buChar char="§"/>
              <a:defRPr/>
            </a:pPr>
            <a:r>
              <a:rPr lang="en-US" dirty="0">
                <a:solidFill>
                  <a:srgbClr val="0013A3"/>
                </a:solidFill>
              </a:rPr>
              <a:t>replicated, application-layer distributed services </a:t>
            </a:r>
            <a:r>
              <a:rPr lang="en-US" dirty="0"/>
              <a:t>(datacenters, content distribution networks) connecting close to clients’ networks, allow services to be provided from multiple locations</a:t>
            </a:r>
          </a:p>
          <a:p>
            <a:pPr>
              <a:buFont typeface="Wingdings" charset="2"/>
              <a:buChar char="§"/>
              <a:defRPr/>
            </a:pPr>
            <a:r>
              <a:rPr lang="en-US" dirty="0"/>
              <a:t>congestion control of “elastic” services helps</a:t>
            </a:r>
          </a:p>
          <a:p>
            <a:pPr marL="97631" indent="0">
              <a:buNone/>
            </a:pPr>
            <a:endParaRPr lang="en-US" dirty="0"/>
          </a:p>
        </p:txBody>
      </p:sp>
      <p:sp>
        <p:nvSpPr>
          <p:cNvPr id="7" name="TextBox 6">
            <a:extLst>
              <a:ext uri="{FF2B5EF4-FFF2-40B4-BE49-F238E27FC236}">
                <a16:creationId xmlns:a16="http://schemas.microsoft.com/office/drawing/2014/main" id="{A62B6DB3-9428-AA4F-A9F0-FA024E48D16D}"/>
              </a:ext>
            </a:extLst>
          </p:cNvPr>
          <p:cNvSpPr txBox="1"/>
          <p:nvPr/>
        </p:nvSpPr>
        <p:spPr>
          <a:xfrm flipH="1">
            <a:off x="848532" y="5169654"/>
            <a:ext cx="7578671" cy="461665"/>
          </a:xfrm>
          <a:prstGeom prst="rect">
            <a:avLst/>
          </a:prstGeom>
          <a:noFill/>
        </p:spPr>
        <p:txBody>
          <a:bodyPr wrap="square" rtlCol="0">
            <a:spAutoFit/>
          </a:bodyPr>
          <a:lstStyle/>
          <a:p>
            <a:pPr algn="ctr" defTabSz="685800" eaLnBrk="1" fontAlgn="auto" hangingPunct="1">
              <a:spcBef>
                <a:spcPts val="0"/>
              </a:spcBef>
              <a:spcAft>
                <a:spcPts val="0"/>
              </a:spcAft>
              <a:defRPr/>
            </a:pPr>
            <a:r>
              <a:rPr lang="en-US" sz="2400" i="1" dirty="0">
                <a:solidFill>
                  <a:srgbClr val="C00000"/>
                </a:solidFill>
                <a:latin typeface="Calibri" panose="020F0502020204030204"/>
                <a:ea typeface="+mn-ea"/>
              </a:rPr>
              <a:t>It’s hard to argue with success of best-effort service model </a:t>
            </a:r>
          </a:p>
        </p:txBody>
      </p:sp>
      <p:sp>
        <p:nvSpPr>
          <p:cNvPr id="5" name="Slide Number Placeholder 4">
            <a:extLst>
              <a:ext uri="{FF2B5EF4-FFF2-40B4-BE49-F238E27FC236}">
                <a16:creationId xmlns:a16="http://schemas.microsoft.com/office/drawing/2014/main" id="{F7F6B907-925A-7C4B-8121-37A5FA8A6BE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15</a:t>
            </a:fld>
            <a:endParaRPr lang="en-US" dirty="0"/>
          </a:p>
        </p:txBody>
      </p:sp>
      <p:sp>
        <p:nvSpPr>
          <p:cNvPr id="4" name="Slide Number Placeholder 5">
            <a:extLst>
              <a:ext uri="{FF2B5EF4-FFF2-40B4-BE49-F238E27FC236}">
                <a16:creationId xmlns:a16="http://schemas.microsoft.com/office/drawing/2014/main" id="{5FFD683F-4A6F-6F8D-B643-2B6A2DF0716C}"/>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114B94CB-24C4-A944-BA3D-7B6783467892}" type="slidenum">
              <a:rPr lang="en-US" altLang="en-US">
                <a:latin typeface="Tahoma" panose="020B0604030504040204" pitchFamily="34" charset="0"/>
              </a:rPr>
              <a:pPr/>
              <a:t>15</a:t>
            </a:fld>
            <a:endParaRPr lang="en-US" altLang="en-US">
              <a:latin typeface="Tahoma" panose="020B0604030504040204" pitchFamily="34" charset="0"/>
            </a:endParaRPr>
          </a:p>
        </p:txBody>
      </p:sp>
    </p:spTree>
    <p:extLst>
      <p:ext uri="{BB962C8B-B14F-4D97-AF65-F5344CB8AC3E}">
        <p14:creationId xmlns:p14="http://schemas.microsoft.com/office/powerpoint/2010/main" val="46218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underline_base">
            <a:extLst>
              <a:ext uri="{FF2B5EF4-FFF2-40B4-BE49-F238E27FC236}">
                <a16:creationId xmlns:a16="http://schemas.microsoft.com/office/drawing/2014/main" id="{8675AC14-62E5-264F-82E6-FC7DDB6EB0A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3"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Rectangle 3">
            <a:extLst>
              <a:ext uri="{FF2B5EF4-FFF2-40B4-BE49-F238E27FC236}">
                <a16:creationId xmlns:a16="http://schemas.microsoft.com/office/drawing/2014/main" id="{2F9AF0CF-B4F2-6641-A303-7C010038D3F5}"/>
              </a:ext>
            </a:extLst>
          </p:cNvPr>
          <p:cNvSpPr>
            <a:spLocks noGrp="1" noChangeArrowheads="1"/>
          </p:cNvSpPr>
          <p:nvPr>
            <p:ph type="body" sz="half" idx="1"/>
          </p:nvPr>
        </p:nvSpPr>
        <p:spPr>
          <a:xfrm>
            <a:off x="354919" y="1233261"/>
            <a:ext cx="6275173" cy="4648200"/>
          </a:xfrm>
        </p:spPr>
        <p:txBody>
          <a:bodyPr/>
          <a:lstStyle/>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4.1 Overview of Network layer</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 plane</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control plane</a:t>
            </a:r>
          </a:p>
          <a:p>
            <a:pPr>
              <a:buFont typeface="Wingdings" pitchFamily="2" charset="2"/>
              <a:buNone/>
            </a:pPr>
            <a:r>
              <a:rPr lang="en-US" altLang="en-US" sz="2400" dirty="0">
                <a:solidFill>
                  <a:srgbClr val="CC0000"/>
                </a:solidFill>
                <a:ea typeface="ＭＳ Ｐゴシック" panose="020B0600070205080204" pitchFamily="34" charset="-128"/>
                <a:cs typeface="ＭＳ Ｐゴシック" panose="020B0600070205080204" pitchFamily="34" charset="-128"/>
              </a:rPr>
              <a:t>4.2 What</a:t>
            </a:r>
            <a:r>
              <a:rPr lang="ja-JP" altLang="en-US" sz="2400" dirty="0">
                <a:solidFill>
                  <a:srgbClr val="CC0000"/>
                </a:solidFill>
                <a:ea typeface="ＭＳ Ｐゴシック" panose="020B0600070205080204" pitchFamily="34" charset="-128"/>
                <a:cs typeface="ＭＳ Ｐゴシック" panose="020B0600070205080204" pitchFamily="34" charset="-128"/>
              </a:rPr>
              <a:t>’</a:t>
            </a:r>
            <a:r>
              <a:rPr lang="en-US" altLang="ja-JP" sz="2400" dirty="0">
                <a:solidFill>
                  <a:srgbClr val="CC0000"/>
                </a:solidFill>
                <a:ea typeface="ＭＳ Ｐゴシック" panose="020B0600070205080204" pitchFamily="34" charset="-128"/>
                <a:cs typeface="ＭＳ Ｐゴシック" panose="020B0600070205080204" pitchFamily="34" charset="-128"/>
              </a:rPr>
              <a:t>s inside a router</a:t>
            </a:r>
          </a:p>
          <a:p>
            <a:pPr>
              <a:buNone/>
            </a:pPr>
            <a:r>
              <a:rPr lang="en-US" altLang="ja-JP" sz="2400" dirty="0">
                <a:ea typeface="ＭＳ Ｐゴシック" panose="020B0600070205080204" pitchFamily="34" charset="-128"/>
                <a:cs typeface="Arial" panose="020B0604020202020204" pitchFamily="34" charset="0"/>
              </a:rPr>
              <a:t>   input ports, switching, output ports</a:t>
            </a:r>
          </a:p>
          <a:p>
            <a:pPr>
              <a:buNone/>
            </a:pPr>
            <a:r>
              <a:rPr lang="en-US" altLang="ja-JP" sz="2400" dirty="0">
                <a:ea typeface="ＭＳ Ｐゴシック" panose="020B0600070205080204" pitchFamily="34" charset="-128"/>
                <a:cs typeface="Arial" panose="020B0604020202020204" pitchFamily="34" charset="0"/>
              </a:rPr>
              <a:t>   buffer management, scheduling</a:t>
            </a:r>
            <a:endParaRPr lang="en-US" altLang="ja-JP" sz="2400" dirty="0">
              <a:solidFill>
                <a:srgbClr val="CC0000"/>
              </a:solidFill>
              <a:ea typeface="ＭＳ Ｐゴシック" panose="020B0600070205080204" pitchFamily="34" charset="-128"/>
              <a:cs typeface="ＭＳ Ｐゴシック" panose="020B0600070205080204" pitchFamily="34" charset="-128"/>
            </a:endParaRPr>
          </a:p>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4.3 IP: Internet Protocol</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datagram format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fragmentation</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IPv4 addressing</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network address translation (NAT)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IPv6</a:t>
            </a:r>
          </a:p>
          <a:p>
            <a:pPr marL="0" indent="0">
              <a:buNone/>
            </a:pPr>
            <a:r>
              <a:rPr lang="en-MY" sz="2400" dirty="0">
                <a:latin typeface="Gill Sans MT" panose="020B0502020104020203" pitchFamily="34" charset="77"/>
                <a:ea typeface="ＭＳ Ｐゴシック" panose="020B0600070205080204" pitchFamily="34" charset="-128"/>
              </a:rPr>
              <a:t>4.4 Generalized Forwarding and SDN</a:t>
            </a:r>
          </a:p>
          <a:p>
            <a:pPr lvl="1">
              <a:spcBef>
                <a:spcPts val="0"/>
              </a:spcBef>
            </a:pPr>
            <a:r>
              <a:rPr lang="en-US" altLang="en-US" sz="2400" dirty="0" err="1">
                <a:ea typeface="ＭＳ Ｐゴシック" panose="020B0600070205080204" pitchFamily="34" charset="-128"/>
              </a:rPr>
              <a:t>Match+action</a:t>
            </a:r>
            <a:endParaRPr lang="en-US" altLang="en-US" sz="2400" dirty="0">
              <a:ea typeface="ＭＳ Ｐゴシック" panose="020B0600070205080204" pitchFamily="34" charset="-128"/>
            </a:endParaRPr>
          </a:p>
          <a:p>
            <a:pPr lvl="1">
              <a:spcBef>
                <a:spcPts val="0"/>
              </a:spcBef>
            </a:pPr>
            <a:r>
              <a:rPr lang="en-US" altLang="en-US" sz="2400" dirty="0">
                <a:ea typeface="ＭＳ Ｐゴシック" panose="020B0600070205080204" pitchFamily="34" charset="-128"/>
              </a:rPr>
              <a:t>OpenFlow: </a:t>
            </a:r>
            <a:r>
              <a:rPr lang="en-US" altLang="en-US" sz="2400" dirty="0" err="1">
                <a:ea typeface="ＭＳ Ｐゴシック" panose="020B0600070205080204" pitchFamily="34" charset="-128"/>
              </a:rPr>
              <a:t>match+action</a:t>
            </a:r>
            <a:r>
              <a:rPr lang="en-US" altLang="en-US" sz="2400" dirty="0">
                <a:ea typeface="ＭＳ Ｐゴシック" panose="020B0600070205080204" pitchFamily="34" charset="-128"/>
              </a:rPr>
              <a:t> in action</a:t>
            </a:r>
          </a:p>
          <a:p>
            <a:pPr marL="0" indent="0">
              <a:buNone/>
            </a:pPr>
            <a:endParaRPr lang="en-US" altLang="en-US" sz="2400" dirty="0">
              <a:latin typeface="Gill Sans MT" panose="020B0502020104020203" pitchFamily="34" charset="77"/>
              <a:ea typeface="ＭＳ Ｐゴシック" panose="020B0600070205080204" pitchFamily="34" charset="-128"/>
            </a:endParaRPr>
          </a:p>
        </p:txBody>
      </p:sp>
      <p:sp>
        <p:nvSpPr>
          <p:cNvPr id="49157" name="Rectangle 2">
            <a:extLst>
              <a:ext uri="{FF2B5EF4-FFF2-40B4-BE49-F238E27FC236}">
                <a16:creationId xmlns:a16="http://schemas.microsoft.com/office/drawing/2014/main" id="{E6C6AB28-3059-BB47-8C48-B50CF1C1FC98}"/>
              </a:ext>
            </a:extLst>
          </p:cNvPr>
          <p:cNvSpPr>
            <a:spLocks noChangeArrowheads="1"/>
          </p:cNvSpPr>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dirty="0">
                <a:solidFill>
                  <a:srgbClr val="000099"/>
                </a:solidFill>
                <a:latin typeface="Gill Sans MT" panose="020B0502020104020203" pitchFamily="34" charset="77"/>
              </a:rPr>
              <a:t>Chapter 4: data plane</a:t>
            </a:r>
          </a:p>
        </p:txBody>
      </p:sp>
      <p:sp>
        <p:nvSpPr>
          <p:cNvPr id="49158" name="Slide Number Placeholder 5">
            <a:extLst>
              <a:ext uri="{FF2B5EF4-FFF2-40B4-BE49-F238E27FC236}">
                <a16:creationId xmlns:a16="http://schemas.microsoft.com/office/drawing/2014/main" id="{43B6E5EA-3C2C-ED4C-ADD7-B3BA849860E0}"/>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478443A4-9482-2948-8D68-86BF9A37C25A}" type="slidenum">
              <a:rPr lang="en-US" altLang="en-US">
                <a:latin typeface="Tahoma" panose="020B0604030504040204" pitchFamily="34" charset="0"/>
              </a:rPr>
              <a:pPr/>
              <a:t>16</a:t>
            </a:fld>
            <a:endParaRPr lang="en-US" altLang="en-US">
              <a:latin typeface="Tahoma" panose="020B0604030504040204" pitchFamily="34" charset="0"/>
            </a:endParaRPr>
          </a:p>
        </p:txBody>
      </p:sp>
      <p:sp>
        <p:nvSpPr>
          <p:cNvPr id="49159" name="Footer Placeholder 2">
            <a:extLst>
              <a:ext uri="{FF2B5EF4-FFF2-40B4-BE49-F238E27FC236}">
                <a16:creationId xmlns:a16="http://schemas.microsoft.com/office/drawing/2014/main" id="{B9E750F0-DC55-534A-B5D6-861DFD629982}"/>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pic>
        <p:nvPicPr>
          <p:cNvPr id="7" name="Picture 6" descr="A picture containing outdoor, water, bridge, building&#10;&#10;Description automatically generated">
            <a:extLst>
              <a:ext uri="{FF2B5EF4-FFF2-40B4-BE49-F238E27FC236}">
                <a16:creationId xmlns:a16="http://schemas.microsoft.com/office/drawing/2014/main" id="{0130A066-0088-3A43-B7CE-FD6D296DBA51}"/>
              </a:ext>
            </a:extLst>
          </p:cNvPr>
          <p:cNvPicPr>
            <a:picLocks noChangeAspect="1"/>
          </p:cNvPicPr>
          <p:nvPr/>
        </p:nvPicPr>
        <p:blipFill>
          <a:blip r:embed="rId3"/>
          <a:stretch>
            <a:fillRect/>
          </a:stretch>
        </p:blipFill>
        <p:spPr>
          <a:xfrm>
            <a:off x="5748338" y="488723"/>
            <a:ext cx="3040743" cy="38009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89B0ADB-ACA8-074F-ADE4-5EAA5199D04C}"/>
              </a:ext>
            </a:extLst>
          </p:cNvPr>
          <p:cNvSpPr>
            <a:spLocks noGrp="1" noChangeArrowheads="1"/>
          </p:cNvSpPr>
          <p:nvPr>
            <p:ph type="title"/>
          </p:nvPr>
        </p:nvSpPr>
        <p:spPr>
          <a:xfrm>
            <a:off x="685800" y="304800"/>
            <a:ext cx="7772400" cy="609600"/>
          </a:xfrm>
        </p:spPr>
        <p:txBody>
          <a:bodyPr/>
          <a:lstStyle/>
          <a:p>
            <a:r>
              <a:rPr lang="en-US" altLang="en-US" sz="4000" dirty="0">
                <a:ea typeface="ＭＳ Ｐゴシック" panose="020B0600070205080204" pitchFamily="34" charset="-128"/>
              </a:rPr>
              <a:t>Router architecture overview</a:t>
            </a:r>
            <a:endParaRPr lang="en-US" altLang="en-US" dirty="0">
              <a:ea typeface="ＭＳ Ｐゴシック" panose="020B0600070205080204" pitchFamily="34" charset="-128"/>
            </a:endParaRPr>
          </a:p>
        </p:txBody>
      </p:sp>
      <p:pic>
        <p:nvPicPr>
          <p:cNvPr id="50191" name="Picture 63" descr="underline_base">
            <a:extLst>
              <a:ext uri="{FF2B5EF4-FFF2-40B4-BE49-F238E27FC236}">
                <a16:creationId xmlns:a16="http://schemas.microsoft.com/office/drawing/2014/main" id="{3AB8CD8B-48E9-9142-BCC0-E39F1EF5E44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013" y="842963"/>
            <a:ext cx="635317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96" name="Freeform 11">
            <a:extLst>
              <a:ext uri="{FF2B5EF4-FFF2-40B4-BE49-F238E27FC236}">
                <a16:creationId xmlns:a16="http://schemas.microsoft.com/office/drawing/2014/main" id="{23BB3069-1DA3-8C43-A55D-D56BAF2E69A4}"/>
              </a:ext>
            </a:extLst>
          </p:cNvPr>
          <p:cNvSpPr>
            <a:spLocks/>
          </p:cNvSpPr>
          <p:nvPr/>
        </p:nvSpPr>
        <p:spPr bwMode="auto">
          <a:xfrm>
            <a:off x="-144463" y="647700"/>
            <a:ext cx="8802688" cy="2197100"/>
          </a:xfrm>
          <a:custGeom>
            <a:avLst/>
            <a:gdLst>
              <a:gd name="T0" fmla="*/ 8251758 w 8802811"/>
              <a:gd name="T1" fmla="*/ 0 h 2197979"/>
              <a:gd name="T2" fmla="*/ 8288385 w 8802811"/>
              <a:gd name="T3" fmla="*/ 352284 h 2197979"/>
              <a:gd name="T4" fmla="*/ 8300597 w 8802811"/>
              <a:gd name="T5" fmla="*/ 983961 h 2197979"/>
              <a:gd name="T6" fmla="*/ 8312809 w 8802811"/>
              <a:gd name="T7" fmla="*/ 1202620 h 2197979"/>
              <a:gd name="T8" fmla="*/ 8337225 w 8802811"/>
              <a:gd name="T9" fmla="*/ 1372688 h 2197979"/>
              <a:gd name="T10" fmla="*/ 8312809 w 8802811"/>
              <a:gd name="T11" fmla="*/ 1299800 h 2197979"/>
              <a:gd name="T12" fmla="*/ 8300597 w 8802811"/>
              <a:gd name="T13" fmla="*/ 1214767 h 2197979"/>
              <a:gd name="T14" fmla="*/ 8288385 w 8802811"/>
              <a:gd name="T15" fmla="*/ 1166179 h 2197979"/>
              <a:gd name="T16" fmla="*/ 8251758 w 8802811"/>
              <a:gd name="T17" fmla="*/ 983961 h 2197979"/>
              <a:gd name="T18" fmla="*/ 8239546 w 8802811"/>
              <a:gd name="T19" fmla="*/ 850337 h 2197979"/>
              <a:gd name="T20" fmla="*/ 8215118 w 8802811"/>
              <a:gd name="T21" fmla="*/ 680270 h 2197979"/>
              <a:gd name="T22" fmla="*/ 8202906 w 8802811"/>
              <a:gd name="T23" fmla="*/ 546646 h 2197979"/>
              <a:gd name="T24" fmla="*/ 8178491 w 8802811"/>
              <a:gd name="T25" fmla="*/ 546646 h 2197979"/>
              <a:gd name="T26" fmla="*/ 8178491 w 8802811"/>
              <a:gd name="T27" fmla="*/ 546646 h 2197979"/>
              <a:gd name="T28" fmla="*/ 8410478 w 8802811"/>
              <a:gd name="T29" fmla="*/ 619530 h 2197979"/>
              <a:gd name="T30" fmla="*/ 8471533 w 8802811"/>
              <a:gd name="T31" fmla="*/ 680270 h 2197979"/>
              <a:gd name="T32" fmla="*/ 8557003 w 8802811"/>
              <a:gd name="T33" fmla="*/ 789598 h 2197979"/>
              <a:gd name="T34" fmla="*/ 8581427 w 8802811"/>
              <a:gd name="T35" fmla="*/ 862485 h 2197979"/>
              <a:gd name="T36" fmla="*/ 8618067 w 8802811"/>
              <a:gd name="T37" fmla="*/ 947518 h 2197979"/>
              <a:gd name="T38" fmla="*/ 8691330 w 8802811"/>
              <a:gd name="T39" fmla="*/ 1178325 h 2197979"/>
              <a:gd name="T40" fmla="*/ 8703529 w 8802811"/>
              <a:gd name="T41" fmla="*/ 1251212 h 2197979"/>
              <a:gd name="T42" fmla="*/ 8715745 w 8802811"/>
              <a:gd name="T43" fmla="*/ 1336245 h 2197979"/>
              <a:gd name="T44" fmla="*/ 8740169 w 8802811"/>
              <a:gd name="T45" fmla="*/ 1396982 h 2197979"/>
              <a:gd name="T46" fmla="*/ 8801224 w 8802811"/>
              <a:gd name="T47" fmla="*/ 1396982 h 2197979"/>
              <a:gd name="T48" fmla="*/ 8801224 w 8802811"/>
              <a:gd name="T49" fmla="*/ 1396982 h 2197979"/>
              <a:gd name="T50" fmla="*/ 8789008 w 8802811"/>
              <a:gd name="T51" fmla="*/ 1664232 h 2197979"/>
              <a:gd name="T52" fmla="*/ 8789008 w 8802811"/>
              <a:gd name="T53" fmla="*/ 1664232 h 2197979"/>
              <a:gd name="T54" fmla="*/ 8703529 w 8802811"/>
              <a:gd name="T55" fmla="*/ 1567051 h 2197979"/>
              <a:gd name="T56" fmla="*/ 8642482 w 8802811"/>
              <a:gd name="T57" fmla="*/ 1506311 h 2197979"/>
              <a:gd name="T58" fmla="*/ 8581427 w 8802811"/>
              <a:gd name="T59" fmla="*/ 1409131 h 2197979"/>
              <a:gd name="T60" fmla="*/ 8508164 w 8802811"/>
              <a:gd name="T61" fmla="*/ 1324097 h 2197979"/>
              <a:gd name="T62" fmla="*/ 8434901 w 8802811"/>
              <a:gd name="T63" fmla="*/ 1226915 h 2197979"/>
              <a:gd name="T64" fmla="*/ 8300597 w 8802811"/>
              <a:gd name="T65" fmla="*/ 1032551 h 2197979"/>
              <a:gd name="T66" fmla="*/ 8227330 w 8802811"/>
              <a:gd name="T67" fmla="*/ 911075 h 2197979"/>
              <a:gd name="T68" fmla="*/ 8215118 w 8802811"/>
              <a:gd name="T69" fmla="*/ 874632 h 2197979"/>
              <a:gd name="T70" fmla="*/ 8190703 w 8802811"/>
              <a:gd name="T71" fmla="*/ 838189 h 2197979"/>
              <a:gd name="T72" fmla="*/ 8178491 w 8802811"/>
              <a:gd name="T73" fmla="*/ 789598 h 2197979"/>
              <a:gd name="T74" fmla="*/ 8129643 w 8802811"/>
              <a:gd name="T75" fmla="*/ 716712 h 2197979"/>
              <a:gd name="T76" fmla="*/ 8117452 w 8802811"/>
              <a:gd name="T77" fmla="*/ 704564 h 2197979"/>
              <a:gd name="T78" fmla="*/ 8215118 w 8802811"/>
              <a:gd name="T79" fmla="*/ 777450 h 2197979"/>
              <a:gd name="T80" fmla="*/ 8251758 w 8802811"/>
              <a:gd name="T81" fmla="*/ 813894 h 2197979"/>
              <a:gd name="T82" fmla="*/ 8361648 w 8802811"/>
              <a:gd name="T83" fmla="*/ 911075 h 2197979"/>
              <a:gd name="T84" fmla="*/ 8434901 w 8802811"/>
              <a:gd name="T85" fmla="*/ 1008257 h 2197979"/>
              <a:gd name="T86" fmla="*/ 8471533 w 8802811"/>
              <a:gd name="T87" fmla="*/ 1044700 h 2197979"/>
              <a:gd name="T88" fmla="*/ 8459325 w 8802811"/>
              <a:gd name="T89" fmla="*/ 1032551 h 2197979"/>
              <a:gd name="T90" fmla="*/ 632629 w 8802811"/>
              <a:gd name="T91" fmla="*/ 2150139 h 2197979"/>
              <a:gd name="T92" fmla="*/ 1523975 w 8802811"/>
              <a:gd name="T93" fmla="*/ 2186582 h 2197979"/>
              <a:gd name="T94" fmla="*/ 1035572 w 8802811"/>
              <a:gd name="T95" fmla="*/ 2150139 h 2197979"/>
              <a:gd name="T96" fmla="*/ 547160 w 8802811"/>
              <a:gd name="T97" fmla="*/ 2101550 h 2197979"/>
              <a:gd name="T98" fmla="*/ 70965 w 8802811"/>
              <a:gd name="T99" fmla="*/ 2077253 h 219797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802811"/>
              <a:gd name="T151" fmla="*/ 0 h 2197979"/>
              <a:gd name="T152" fmla="*/ 8802811 w 8802811"/>
              <a:gd name="T153" fmla="*/ 2197979 h 219797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802811" h="2197979">
                <a:moveTo>
                  <a:pt x="8253255" y="0"/>
                </a:moveTo>
                <a:lnTo>
                  <a:pt x="8289892" y="354119"/>
                </a:lnTo>
                <a:cubicBezTo>
                  <a:pt x="8293963" y="565776"/>
                  <a:pt x="8296057" y="777480"/>
                  <a:pt x="8302104" y="989090"/>
                </a:cubicBezTo>
                <a:cubicBezTo>
                  <a:pt x="8304200" y="1062439"/>
                  <a:pt x="8308222" y="1135763"/>
                  <a:pt x="8314317" y="1208888"/>
                </a:cubicBezTo>
                <a:cubicBezTo>
                  <a:pt x="8316142" y="1230787"/>
                  <a:pt x="8344376" y="1368573"/>
                  <a:pt x="8338741" y="1379842"/>
                </a:cubicBezTo>
                <a:cubicBezTo>
                  <a:pt x="8327228" y="1402867"/>
                  <a:pt x="8314317" y="1306576"/>
                  <a:pt x="8314317" y="1306576"/>
                </a:cubicBezTo>
                <a:cubicBezTo>
                  <a:pt x="8310246" y="1278084"/>
                  <a:pt x="8307253" y="1249416"/>
                  <a:pt x="8302104" y="1221099"/>
                </a:cubicBezTo>
                <a:cubicBezTo>
                  <a:pt x="8299101" y="1204587"/>
                  <a:pt x="8292894" y="1188767"/>
                  <a:pt x="8289892" y="1172255"/>
                </a:cubicBezTo>
                <a:cubicBezTo>
                  <a:pt x="8255975" y="985729"/>
                  <a:pt x="8304437" y="1193793"/>
                  <a:pt x="8253255" y="989090"/>
                </a:cubicBezTo>
                <a:cubicBezTo>
                  <a:pt x="8249184" y="944316"/>
                  <a:pt x="8246400" y="899407"/>
                  <a:pt x="8241043" y="854769"/>
                </a:cubicBezTo>
                <a:cubicBezTo>
                  <a:pt x="8234184" y="797616"/>
                  <a:pt x="8221830" y="741142"/>
                  <a:pt x="8216618" y="683815"/>
                </a:cubicBezTo>
                <a:cubicBezTo>
                  <a:pt x="8212547" y="639041"/>
                  <a:pt x="8216237" y="592868"/>
                  <a:pt x="8204406" y="549494"/>
                </a:cubicBezTo>
                <a:cubicBezTo>
                  <a:pt x="8202264" y="541639"/>
                  <a:pt x="8188123" y="549494"/>
                  <a:pt x="8179981" y="549494"/>
                </a:cubicBezTo>
                <a:cubicBezTo>
                  <a:pt x="8254412" y="566668"/>
                  <a:pt x="8345942" y="574712"/>
                  <a:pt x="8412016" y="622760"/>
                </a:cubicBezTo>
                <a:cubicBezTo>
                  <a:pt x="8435295" y="639688"/>
                  <a:pt x="8454344" y="661962"/>
                  <a:pt x="8473077" y="683815"/>
                </a:cubicBezTo>
                <a:cubicBezTo>
                  <a:pt x="8503283" y="719051"/>
                  <a:pt x="8558564" y="793714"/>
                  <a:pt x="8558564" y="793714"/>
                </a:cubicBezTo>
                <a:cubicBezTo>
                  <a:pt x="8566706" y="818136"/>
                  <a:pt x="8573747" y="842953"/>
                  <a:pt x="8582989" y="866980"/>
                </a:cubicBezTo>
                <a:cubicBezTo>
                  <a:pt x="8594118" y="895913"/>
                  <a:pt x="8610878" y="922718"/>
                  <a:pt x="8619626" y="952457"/>
                </a:cubicBezTo>
                <a:cubicBezTo>
                  <a:pt x="8696833" y="1214937"/>
                  <a:pt x="8583806" y="939035"/>
                  <a:pt x="8692900" y="1184466"/>
                </a:cubicBezTo>
                <a:cubicBezTo>
                  <a:pt x="8696971" y="1208888"/>
                  <a:pt x="8701347" y="1233261"/>
                  <a:pt x="8705112" y="1257732"/>
                </a:cubicBezTo>
                <a:cubicBezTo>
                  <a:pt x="8709489" y="1286179"/>
                  <a:pt x="8710343" y="1315287"/>
                  <a:pt x="8717324" y="1343209"/>
                </a:cubicBezTo>
                <a:cubicBezTo>
                  <a:pt x="8722641" y="1364474"/>
                  <a:pt x="8723911" y="1391524"/>
                  <a:pt x="8741749" y="1404264"/>
                </a:cubicBezTo>
                <a:cubicBezTo>
                  <a:pt x="8758312" y="1416094"/>
                  <a:pt x="8782457" y="1404264"/>
                  <a:pt x="8802811" y="1404264"/>
                </a:cubicBezTo>
                <a:lnTo>
                  <a:pt x="8790599" y="1672906"/>
                </a:lnTo>
                <a:cubicBezTo>
                  <a:pt x="8762103" y="1640343"/>
                  <a:pt x="8734463" y="1607012"/>
                  <a:pt x="8705112" y="1575218"/>
                </a:cubicBezTo>
                <a:cubicBezTo>
                  <a:pt x="8685588" y="1554069"/>
                  <a:pt x="8661601" y="1536976"/>
                  <a:pt x="8644050" y="1514163"/>
                </a:cubicBezTo>
                <a:cubicBezTo>
                  <a:pt x="8620635" y="1483727"/>
                  <a:pt x="8605699" y="1447440"/>
                  <a:pt x="8582989" y="1416475"/>
                </a:cubicBezTo>
                <a:cubicBezTo>
                  <a:pt x="8560794" y="1386213"/>
                  <a:pt x="8533160" y="1360302"/>
                  <a:pt x="8509714" y="1330998"/>
                </a:cubicBezTo>
                <a:cubicBezTo>
                  <a:pt x="8484284" y="1299214"/>
                  <a:pt x="8459970" y="1266525"/>
                  <a:pt x="8436440" y="1233310"/>
                </a:cubicBezTo>
                <a:cubicBezTo>
                  <a:pt x="8390753" y="1168818"/>
                  <a:pt x="8331459" y="1111315"/>
                  <a:pt x="8302104" y="1037934"/>
                </a:cubicBezTo>
                <a:cubicBezTo>
                  <a:pt x="8267999" y="952679"/>
                  <a:pt x="8291374" y="993995"/>
                  <a:pt x="8228830" y="915824"/>
                </a:cubicBezTo>
                <a:cubicBezTo>
                  <a:pt x="8224759" y="903613"/>
                  <a:pt x="8222375" y="890703"/>
                  <a:pt x="8216618" y="879191"/>
                </a:cubicBezTo>
                <a:cubicBezTo>
                  <a:pt x="8210054" y="866064"/>
                  <a:pt x="8197975" y="856047"/>
                  <a:pt x="8192193" y="842558"/>
                </a:cubicBezTo>
                <a:cubicBezTo>
                  <a:pt x="8185581" y="827133"/>
                  <a:pt x="8185874" y="809428"/>
                  <a:pt x="8179981" y="793714"/>
                </a:cubicBezTo>
                <a:cubicBezTo>
                  <a:pt x="8162237" y="746401"/>
                  <a:pt x="8160946" y="750260"/>
                  <a:pt x="8131131" y="720448"/>
                </a:cubicBezTo>
                <a:lnTo>
                  <a:pt x="8118919" y="708237"/>
                </a:lnTo>
                <a:cubicBezTo>
                  <a:pt x="8151485" y="732659"/>
                  <a:pt x="8185112" y="755728"/>
                  <a:pt x="8216618" y="781503"/>
                </a:cubicBezTo>
                <a:cubicBezTo>
                  <a:pt x="8229985" y="792438"/>
                  <a:pt x="8240257" y="806764"/>
                  <a:pt x="8253255" y="818136"/>
                </a:cubicBezTo>
                <a:cubicBezTo>
                  <a:pt x="8303675" y="862248"/>
                  <a:pt x="8321173" y="865438"/>
                  <a:pt x="8363166" y="915824"/>
                </a:cubicBezTo>
                <a:cubicBezTo>
                  <a:pt x="8389226" y="947093"/>
                  <a:pt x="8407656" y="984731"/>
                  <a:pt x="8436440" y="1013512"/>
                </a:cubicBezTo>
                <a:lnTo>
                  <a:pt x="8473077" y="1050145"/>
                </a:lnTo>
                <a:lnTo>
                  <a:pt x="8460865" y="1037934"/>
                </a:lnTo>
                <a:lnTo>
                  <a:pt x="632746" y="2161346"/>
                </a:lnTo>
                <a:lnTo>
                  <a:pt x="1524248" y="2197979"/>
                </a:lnTo>
                <a:lnTo>
                  <a:pt x="1035754" y="2161346"/>
                </a:lnTo>
                <a:cubicBezTo>
                  <a:pt x="712856" y="2131451"/>
                  <a:pt x="1008547" y="2123752"/>
                  <a:pt x="547260" y="2112502"/>
                </a:cubicBezTo>
                <a:cubicBezTo>
                  <a:pt x="37453" y="2100069"/>
                  <a:pt x="-102777" y="2174947"/>
                  <a:pt x="70978" y="2088080"/>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0199" name="Slide Number Placeholder 5">
            <a:extLst>
              <a:ext uri="{FF2B5EF4-FFF2-40B4-BE49-F238E27FC236}">
                <a16:creationId xmlns:a16="http://schemas.microsoft.com/office/drawing/2014/main" id="{145C983F-FF49-9E48-9FF5-722DC8B74744}"/>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ADFAF319-76AC-1B42-8DBE-7E9CD4834884}" type="slidenum">
              <a:rPr lang="en-US" altLang="en-US">
                <a:latin typeface="Tahoma" panose="020B0604030504040204" pitchFamily="34" charset="0"/>
              </a:rPr>
              <a:pPr/>
              <a:t>17</a:t>
            </a:fld>
            <a:endParaRPr lang="en-US" altLang="en-US">
              <a:latin typeface="Tahoma" panose="020B0604030504040204" pitchFamily="34" charset="0"/>
            </a:endParaRPr>
          </a:p>
        </p:txBody>
      </p:sp>
      <p:sp>
        <p:nvSpPr>
          <p:cNvPr id="50200" name="Footer Placeholder 2">
            <a:extLst>
              <a:ext uri="{FF2B5EF4-FFF2-40B4-BE49-F238E27FC236}">
                <a16:creationId xmlns:a16="http://schemas.microsoft.com/office/drawing/2014/main" id="{DBE72CDD-EC5D-944B-A659-1B223E2B97FA}"/>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
        <p:nvSpPr>
          <p:cNvPr id="57" name="Right Triangle 56">
            <a:extLst>
              <a:ext uri="{FF2B5EF4-FFF2-40B4-BE49-F238E27FC236}">
                <a16:creationId xmlns:a16="http://schemas.microsoft.com/office/drawing/2014/main" id="{372E28F3-0463-0C46-861E-E17742A7E37A}"/>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60" name="Rectangle 3">
            <a:extLst>
              <a:ext uri="{FF2B5EF4-FFF2-40B4-BE49-F238E27FC236}">
                <a16:creationId xmlns:a16="http://schemas.microsoft.com/office/drawing/2014/main" id="{1E84E021-DCEA-9149-AB7C-11EAA2DD38C9}"/>
              </a:ext>
            </a:extLst>
          </p:cNvPr>
          <p:cNvSpPr txBox="1">
            <a:spLocks noChangeArrowheads="1"/>
          </p:cNvSpPr>
          <p:nvPr/>
        </p:nvSpPr>
        <p:spPr bwMode="auto">
          <a:xfrm>
            <a:off x="665163" y="1255163"/>
            <a:ext cx="8126412" cy="1338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a:lnSpc>
                <a:spcPct val="100000"/>
              </a:lnSpc>
              <a:buFont typeface="Wingdings" charset="0"/>
              <a:buNone/>
              <a:defRPr/>
            </a:pPr>
            <a:r>
              <a:rPr lang="en-US" sz="2200" kern="0" dirty="0">
                <a:latin typeface="Arial"/>
                <a:cs typeface="Arial"/>
              </a:rPr>
              <a:t>TWO key router functions: </a:t>
            </a:r>
          </a:p>
          <a:p>
            <a:pPr>
              <a:lnSpc>
                <a:spcPct val="100000"/>
              </a:lnSpc>
              <a:buFont typeface="Wingdings" charset="0"/>
              <a:buChar char="v"/>
              <a:defRPr/>
            </a:pPr>
            <a:r>
              <a:rPr lang="en-US" sz="2200" kern="0" dirty="0">
                <a:latin typeface="Arial"/>
                <a:cs typeface="Arial"/>
              </a:rPr>
              <a:t>run </a:t>
            </a:r>
            <a:r>
              <a:rPr lang="en-US" sz="2200" i="1" kern="0" dirty="0">
                <a:solidFill>
                  <a:srgbClr val="53A9D6"/>
                </a:solidFill>
                <a:latin typeface="Arial"/>
                <a:cs typeface="Arial"/>
              </a:rPr>
              <a:t>routing algorithms</a:t>
            </a:r>
            <a:r>
              <a:rPr lang="en-US" sz="2200" i="1" kern="0" dirty="0">
                <a:latin typeface="Arial"/>
                <a:cs typeface="Arial"/>
              </a:rPr>
              <a:t> </a:t>
            </a:r>
            <a:r>
              <a:rPr lang="en-US" sz="2200" kern="0" dirty="0">
                <a:latin typeface="Arial"/>
                <a:cs typeface="Arial"/>
              </a:rPr>
              <a:t>/ protocol (RIP, OSPF, BGP)</a:t>
            </a:r>
          </a:p>
          <a:p>
            <a:pPr>
              <a:lnSpc>
                <a:spcPct val="100000"/>
              </a:lnSpc>
              <a:buFont typeface="Wingdings" charset="0"/>
              <a:buChar char="v"/>
              <a:defRPr/>
            </a:pPr>
            <a:r>
              <a:rPr lang="en-US" sz="2200" i="1" kern="0" dirty="0">
                <a:solidFill>
                  <a:srgbClr val="53A9D6"/>
                </a:solidFill>
                <a:latin typeface="Arial"/>
                <a:cs typeface="Arial"/>
              </a:rPr>
              <a:t>forwarding</a:t>
            </a:r>
            <a:r>
              <a:rPr lang="en-US" sz="2200" i="1" kern="0" dirty="0">
                <a:latin typeface="Arial"/>
                <a:cs typeface="Arial"/>
              </a:rPr>
              <a:t> </a:t>
            </a:r>
            <a:r>
              <a:rPr lang="en-US" sz="2200" kern="0" dirty="0">
                <a:latin typeface="Arial"/>
                <a:cs typeface="Arial"/>
              </a:rPr>
              <a:t>datagrams from a router’s incoming links to the appropriate outgoing links at a router</a:t>
            </a:r>
          </a:p>
        </p:txBody>
      </p:sp>
      <p:sp>
        <p:nvSpPr>
          <p:cNvPr id="61" name="Rectangle 3">
            <a:extLst>
              <a:ext uri="{FF2B5EF4-FFF2-40B4-BE49-F238E27FC236}">
                <a16:creationId xmlns:a16="http://schemas.microsoft.com/office/drawing/2014/main" id="{18E6E34F-7013-B745-B191-A6C7D3EB136B}"/>
              </a:ext>
            </a:extLst>
          </p:cNvPr>
          <p:cNvSpPr txBox="1">
            <a:spLocks noChangeArrowheads="1"/>
          </p:cNvSpPr>
          <p:nvPr/>
        </p:nvSpPr>
        <p:spPr bwMode="auto">
          <a:xfrm>
            <a:off x="2822197" y="6238869"/>
            <a:ext cx="3960648" cy="4570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algn="ctr" eaLnBrk="1" hangingPunct="1">
              <a:buFont typeface="Wingdings" pitchFamily="2" charset="2"/>
              <a:buNone/>
            </a:pPr>
            <a:r>
              <a:rPr lang="en-US" sz="1800" b="1" dirty="0">
                <a:solidFill>
                  <a:srgbClr val="00B9FA"/>
                </a:solidFill>
                <a:latin typeface="Arial"/>
                <a:ea typeface="ＭＳ Ｐゴシック" pitchFamily="34" charset="-128"/>
                <a:cs typeface="Arial"/>
              </a:rPr>
              <a:t>Figure</a:t>
            </a:r>
            <a:r>
              <a:rPr lang="en-US" sz="1800" dirty="0">
                <a:latin typeface="Arial"/>
                <a:ea typeface="ＭＳ Ｐゴシック" pitchFamily="34" charset="-128"/>
                <a:cs typeface="Arial"/>
              </a:rPr>
              <a:t>: Four router components</a:t>
            </a:r>
          </a:p>
          <a:p>
            <a:pPr algn="ctr" eaLnBrk="1" hangingPunct="1">
              <a:buFont typeface="Wingdings" pitchFamily="2" charset="2"/>
              <a:buNone/>
            </a:pPr>
            <a:endParaRPr lang="en-US" sz="1800" dirty="0">
              <a:latin typeface="Arial"/>
              <a:ea typeface="ＭＳ Ｐゴシック" pitchFamily="34" charset="-128"/>
              <a:cs typeface="Arial"/>
            </a:endParaRPr>
          </a:p>
        </p:txBody>
      </p:sp>
      <p:grpSp>
        <p:nvGrpSpPr>
          <p:cNvPr id="62" name="Group 61">
            <a:extLst>
              <a:ext uri="{FF2B5EF4-FFF2-40B4-BE49-F238E27FC236}">
                <a16:creationId xmlns:a16="http://schemas.microsoft.com/office/drawing/2014/main" id="{851A2E5A-C976-4B43-BB53-C09FFBF62DBD}"/>
              </a:ext>
            </a:extLst>
          </p:cNvPr>
          <p:cNvGrpSpPr/>
          <p:nvPr/>
        </p:nvGrpSpPr>
        <p:grpSpPr>
          <a:xfrm>
            <a:off x="1579528" y="3065526"/>
            <a:ext cx="2865795" cy="2882752"/>
            <a:chOff x="1579528" y="3065526"/>
            <a:chExt cx="2865795" cy="2882752"/>
          </a:xfrm>
        </p:grpSpPr>
        <p:pic>
          <p:nvPicPr>
            <p:cNvPr id="63" name="Picture 62">
              <a:extLst>
                <a:ext uri="{FF2B5EF4-FFF2-40B4-BE49-F238E27FC236}">
                  <a16:creationId xmlns:a16="http://schemas.microsoft.com/office/drawing/2014/main" id="{E90C9AD6-EC40-B642-A30A-E89D16124DC6}"/>
                </a:ext>
              </a:extLst>
            </p:cNvPr>
            <p:cNvPicPr>
              <a:picLocks noChangeAspect="1"/>
            </p:cNvPicPr>
            <p:nvPr/>
          </p:nvPicPr>
          <p:blipFill>
            <a:blip r:embed="rId3"/>
            <a:stretch>
              <a:fillRect/>
            </a:stretch>
          </p:blipFill>
          <p:spPr>
            <a:xfrm>
              <a:off x="1579528" y="3065526"/>
              <a:ext cx="2865795" cy="2882752"/>
            </a:xfrm>
            <a:prstGeom prst="rect">
              <a:avLst/>
            </a:prstGeom>
          </p:spPr>
        </p:pic>
        <p:sp>
          <p:nvSpPr>
            <p:cNvPr id="64" name="TextBox 63">
              <a:extLst>
                <a:ext uri="{FF2B5EF4-FFF2-40B4-BE49-F238E27FC236}">
                  <a16:creationId xmlns:a16="http://schemas.microsoft.com/office/drawing/2014/main" id="{1EB9B805-FC07-9D4D-B62F-F2329186507C}"/>
                </a:ext>
              </a:extLst>
            </p:cNvPr>
            <p:cNvSpPr txBox="1"/>
            <p:nvPr/>
          </p:nvSpPr>
          <p:spPr>
            <a:xfrm>
              <a:off x="2567221" y="4566368"/>
              <a:ext cx="877501" cy="369332"/>
            </a:xfrm>
            <a:prstGeom prst="rect">
              <a:avLst/>
            </a:prstGeom>
            <a:noFill/>
          </p:spPr>
          <p:txBody>
            <a:bodyPr wrap="none" rtlCol="0">
              <a:spAutoFit/>
            </a:bodyPr>
            <a:lstStyle/>
            <a:p>
              <a:r>
                <a:rPr lang="en-US" dirty="0">
                  <a:solidFill>
                    <a:schemeClr val="bg1"/>
                  </a:solidFill>
                </a:rPr>
                <a:t>Router</a:t>
              </a:r>
            </a:p>
          </p:txBody>
        </p:sp>
      </p:grpSp>
      <p:graphicFrame>
        <p:nvGraphicFramePr>
          <p:cNvPr id="65" name="Diagram 64">
            <a:extLst>
              <a:ext uri="{FF2B5EF4-FFF2-40B4-BE49-F238E27FC236}">
                <a16:creationId xmlns:a16="http://schemas.microsoft.com/office/drawing/2014/main" id="{8E24A78D-48A5-C145-827B-335E815E3E7F}"/>
              </a:ext>
            </a:extLst>
          </p:cNvPr>
          <p:cNvGraphicFramePr/>
          <p:nvPr/>
        </p:nvGraphicFramePr>
        <p:xfrm>
          <a:off x="2215908" y="2891133"/>
          <a:ext cx="5323585" cy="30262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6" name="Rectangle 65">
            <a:extLst>
              <a:ext uri="{FF2B5EF4-FFF2-40B4-BE49-F238E27FC236}">
                <a16:creationId xmlns:a16="http://schemas.microsoft.com/office/drawing/2014/main" id="{0BDE64C3-2121-554B-BCA7-1796BF176699}"/>
              </a:ext>
            </a:extLst>
          </p:cNvPr>
          <p:cNvSpPr/>
          <p:nvPr/>
        </p:nvSpPr>
        <p:spPr>
          <a:xfrm>
            <a:off x="0" y="6293647"/>
            <a:ext cx="2459118"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defRPr/>
            </a:pPr>
            <a:r>
              <a:rPr lang="en-US" sz="1000" i="1" dirty="0">
                <a:solidFill>
                  <a:schemeClr val="bg1">
                    <a:lumMod val="65000"/>
                  </a:schemeClr>
                </a:solidFill>
                <a:latin typeface="Arial"/>
                <a:cs typeface="Arial"/>
              </a:rPr>
              <a:t>RIP (Routing Information Protocol)</a:t>
            </a:r>
          </a:p>
          <a:p>
            <a:pPr>
              <a:defRPr/>
            </a:pPr>
            <a:r>
              <a:rPr lang="en-US" sz="1000" i="1" dirty="0">
                <a:solidFill>
                  <a:schemeClr val="bg1">
                    <a:lumMod val="65000"/>
                  </a:schemeClr>
                </a:solidFill>
                <a:latin typeface="Arial"/>
                <a:cs typeface="Arial"/>
              </a:rPr>
              <a:t>OSPF (Open-Shortest Path First)</a:t>
            </a:r>
          </a:p>
          <a:p>
            <a:pPr>
              <a:defRPr/>
            </a:pPr>
            <a:r>
              <a:rPr lang="en-US" sz="1000" i="1" dirty="0">
                <a:solidFill>
                  <a:schemeClr val="bg1">
                    <a:lumMod val="65000"/>
                  </a:schemeClr>
                </a:solidFill>
                <a:latin typeface="Arial"/>
                <a:cs typeface="Arial"/>
              </a:rPr>
              <a:t>BGP (Border Gateway Protocol)</a:t>
            </a:r>
          </a:p>
        </p:txBody>
      </p:sp>
      <p:sp>
        <p:nvSpPr>
          <p:cNvPr id="15" name="Rectangle 3">
            <a:extLst>
              <a:ext uri="{FF2B5EF4-FFF2-40B4-BE49-F238E27FC236}">
                <a16:creationId xmlns:a16="http://schemas.microsoft.com/office/drawing/2014/main" id="{FA58F09E-7568-E04D-B9A1-995565777398}"/>
              </a:ext>
            </a:extLst>
          </p:cNvPr>
          <p:cNvSpPr txBox="1">
            <a:spLocks noChangeArrowheads="1"/>
          </p:cNvSpPr>
          <p:nvPr/>
        </p:nvSpPr>
        <p:spPr bwMode="auto">
          <a:xfrm>
            <a:off x="-1" y="3660476"/>
            <a:ext cx="2184714" cy="17113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a:lnSpc>
                <a:spcPct val="100000"/>
              </a:lnSpc>
              <a:spcAft>
                <a:spcPts val="1200"/>
              </a:spcAft>
              <a:buFont typeface="Wingdings" charset="0"/>
              <a:buChar char="v"/>
              <a:defRPr/>
            </a:pPr>
            <a:r>
              <a:rPr lang="en-MY" sz="2200" kern="0" dirty="0">
                <a:latin typeface="Arial"/>
                <a:cs typeface="Arial"/>
              </a:rPr>
              <a:t>Four router components can be identified:</a:t>
            </a:r>
          </a:p>
        </p:txBody>
      </p:sp>
    </p:spTree>
    <p:extLst>
      <p:ext uri="{BB962C8B-B14F-4D97-AF65-F5344CB8AC3E}">
        <p14:creationId xmlns:p14="http://schemas.microsoft.com/office/powerpoint/2010/main" val="31700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Graphic spid="65"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89B0ADB-ACA8-074F-ADE4-5EAA5199D04C}"/>
              </a:ext>
            </a:extLst>
          </p:cNvPr>
          <p:cNvSpPr>
            <a:spLocks noGrp="1" noChangeArrowheads="1"/>
          </p:cNvSpPr>
          <p:nvPr>
            <p:ph type="title"/>
          </p:nvPr>
        </p:nvSpPr>
        <p:spPr>
          <a:xfrm>
            <a:off x="685800" y="304800"/>
            <a:ext cx="7772400" cy="609600"/>
          </a:xfrm>
        </p:spPr>
        <p:txBody>
          <a:bodyPr/>
          <a:lstStyle/>
          <a:p>
            <a:r>
              <a:rPr lang="en-US" altLang="en-US" sz="4000" dirty="0">
                <a:ea typeface="ＭＳ Ｐゴシック" panose="020B0600070205080204" pitchFamily="34" charset="-128"/>
              </a:rPr>
              <a:t>Router architecture overview</a:t>
            </a:r>
            <a:endParaRPr lang="en-US" altLang="en-US" dirty="0">
              <a:ea typeface="ＭＳ Ｐゴシック" panose="020B0600070205080204" pitchFamily="34" charset="-128"/>
            </a:endParaRPr>
          </a:p>
        </p:txBody>
      </p:sp>
      <p:grpSp>
        <p:nvGrpSpPr>
          <p:cNvPr id="50179" name="Group 60">
            <a:extLst>
              <a:ext uri="{FF2B5EF4-FFF2-40B4-BE49-F238E27FC236}">
                <a16:creationId xmlns:a16="http://schemas.microsoft.com/office/drawing/2014/main" id="{868B7E24-EC90-4F44-9DFE-D10D8AAE56CE}"/>
              </a:ext>
            </a:extLst>
          </p:cNvPr>
          <p:cNvGrpSpPr>
            <a:grpSpLocks/>
          </p:cNvGrpSpPr>
          <p:nvPr/>
        </p:nvGrpSpPr>
        <p:grpSpPr bwMode="auto">
          <a:xfrm>
            <a:off x="2787650" y="3333750"/>
            <a:ext cx="1609725" cy="2343150"/>
            <a:chOff x="2418" y="1882"/>
            <a:chExt cx="1014" cy="1476"/>
          </a:xfrm>
        </p:grpSpPr>
        <p:sp>
          <p:nvSpPr>
            <p:cNvPr id="50231" name="Rectangle 45">
              <a:extLst>
                <a:ext uri="{FF2B5EF4-FFF2-40B4-BE49-F238E27FC236}">
                  <a16:creationId xmlns:a16="http://schemas.microsoft.com/office/drawing/2014/main" id="{95336B21-66F4-A14E-9A26-992947F3CD99}"/>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32" name="Text Box 48">
              <a:extLst>
                <a:ext uri="{FF2B5EF4-FFF2-40B4-BE49-F238E27FC236}">
                  <a16:creationId xmlns:a16="http://schemas.microsoft.com/office/drawing/2014/main" id="{66031632-DE8C-E34B-B470-8C990D4CB4D1}"/>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dirty="0"/>
                <a:t>high-speed </a:t>
              </a:r>
            </a:p>
            <a:p>
              <a:pPr algn="ctr">
                <a:lnSpc>
                  <a:spcPct val="85000"/>
                </a:lnSpc>
              </a:pPr>
              <a:r>
                <a:rPr lang="en-US" altLang="en-US" dirty="0"/>
                <a:t>switching</a:t>
              </a:r>
            </a:p>
            <a:p>
              <a:pPr algn="ctr">
                <a:lnSpc>
                  <a:spcPct val="85000"/>
                </a:lnSpc>
              </a:pPr>
              <a:r>
                <a:rPr lang="en-US" altLang="en-US" dirty="0"/>
                <a:t>fabric</a:t>
              </a:r>
            </a:p>
          </p:txBody>
        </p:sp>
      </p:grpSp>
      <p:sp>
        <p:nvSpPr>
          <p:cNvPr id="50180" name="Rectangle 46">
            <a:extLst>
              <a:ext uri="{FF2B5EF4-FFF2-40B4-BE49-F238E27FC236}">
                <a16:creationId xmlns:a16="http://schemas.microsoft.com/office/drawing/2014/main" id="{298B21D8-D942-8548-A7E3-4CAA3253DBEB}"/>
              </a:ext>
            </a:extLst>
          </p:cNvPr>
          <p:cNvSpPr>
            <a:spLocks noChangeArrowheads="1"/>
          </p:cNvSpPr>
          <p:nvPr/>
        </p:nvSpPr>
        <p:spPr bwMode="auto">
          <a:xfrm>
            <a:off x="2805113" y="2371725"/>
            <a:ext cx="1590675" cy="647700"/>
          </a:xfrm>
          <a:prstGeom prst="rect">
            <a:avLst/>
          </a:prstGeom>
          <a:solidFill>
            <a:schemeClr val="bg1"/>
          </a:solidFill>
          <a:ln w="28575">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181" name="Text Box 47">
            <a:extLst>
              <a:ext uri="{FF2B5EF4-FFF2-40B4-BE49-F238E27FC236}">
                <a16:creationId xmlns:a16="http://schemas.microsoft.com/office/drawing/2014/main" id="{0A9DFDBD-5E3D-0145-89C9-36FB078FA6E3}"/>
              </a:ext>
            </a:extLst>
          </p:cNvPr>
          <p:cNvSpPr txBox="1">
            <a:spLocks noChangeArrowheads="1"/>
          </p:cNvSpPr>
          <p:nvPr/>
        </p:nvSpPr>
        <p:spPr bwMode="auto">
          <a:xfrm>
            <a:off x="2982913" y="2413000"/>
            <a:ext cx="1187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a:t>routing </a:t>
            </a:r>
          </a:p>
          <a:p>
            <a:pPr algn="ctr">
              <a:lnSpc>
                <a:spcPct val="85000"/>
              </a:lnSpc>
            </a:pPr>
            <a:r>
              <a:rPr lang="en-US" altLang="en-US"/>
              <a:t>processor</a:t>
            </a:r>
          </a:p>
        </p:txBody>
      </p:sp>
      <p:sp>
        <p:nvSpPr>
          <p:cNvPr id="50182" name="Line 50">
            <a:extLst>
              <a:ext uri="{FF2B5EF4-FFF2-40B4-BE49-F238E27FC236}">
                <a16:creationId xmlns:a16="http://schemas.microsoft.com/office/drawing/2014/main" id="{3DE823D0-7A0C-124A-B619-41CB775500CA}"/>
              </a:ext>
            </a:extLst>
          </p:cNvPr>
          <p:cNvSpPr>
            <a:spLocks noChangeShapeType="1"/>
          </p:cNvSpPr>
          <p:nvPr/>
        </p:nvSpPr>
        <p:spPr bwMode="auto">
          <a:xfrm>
            <a:off x="3533775" y="2890838"/>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50183" name="Group 17">
            <a:extLst>
              <a:ext uri="{FF2B5EF4-FFF2-40B4-BE49-F238E27FC236}">
                <a16:creationId xmlns:a16="http://schemas.microsoft.com/office/drawing/2014/main" id="{F1C3A556-6BDD-7546-AC0D-26CAB605185E}"/>
              </a:ext>
            </a:extLst>
          </p:cNvPr>
          <p:cNvGrpSpPr>
            <a:grpSpLocks/>
          </p:cNvGrpSpPr>
          <p:nvPr/>
        </p:nvGrpSpPr>
        <p:grpSpPr bwMode="auto">
          <a:xfrm>
            <a:off x="744538" y="3348038"/>
            <a:ext cx="2033587" cy="566737"/>
            <a:chOff x="930" y="1989"/>
            <a:chExt cx="1482" cy="357"/>
          </a:xfrm>
        </p:grpSpPr>
        <p:sp>
          <p:nvSpPr>
            <p:cNvPr id="50226" name="Rectangle 9">
              <a:extLst>
                <a:ext uri="{FF2B5EF4-FFF2-40B4-BE49-F238E27FC236}">
                  <a16:creationId xmlns:a16="http://schemas.microsoft.com/office/drawing/2014/main" id="{B9BE1155-AF68-4746-BA7D-4D2FB07790FD}"/>
                </a:ext>
              </a:extLst>
            </p:cNvPr>
            <p:cNvSpPr>
              <a:spLocks noChangeArrowheads="1"/>
            </p:cNvSpPr>
            <p:nvPr/>
          </p:nvSpPr>
          <p:spPr bwMode="auto">
            <a:xfrm>
              <a:off x="1152" y="1989"/>
              <a:ext cx="1086" cy="357"/>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27" name="Rectangle 5">
              <a:extLst>
                <a:ext uri="{FF2B5EF4-FFF2-40B4-BE49-F238E27FC236}">
                  <a16:creationId xmlns:a16="http://schemas.microsoft.com/office/drawing/2014/main" id="{4C5697BB-37D8-F64E-85F3-E577D791B39D}"/>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28" name="Rectangle 6">
              <a:extLst>
                <a:ext uri="{FF2B5EF4-FFF2-40B4-BE49-F238E27FC236}">
                  <a16:creationId xmlns:a16="http://schemas.microsoft.com/office/drawing/2014/main" id="{7EC2FDAC-D98E-9047-8519-4C101C6CA076}"/>
                </a:ext>
              </a:extLst>
            </p:cNvPr>
            <p:cNvSpPr>
              <a:spLocks noChangeArrowheads="1"/>
            </p:cNvSpPr>
            <p:nvPr/>
          </p:nvSpPr>
          <p:spPr bwMode="auto">
            <a:xfrm>
              <a:off x="1582" y="2025"/>
              <a:ext cx="273" cy="274"/>
            </a:xfrm>
            <a:prstGeom prst="rect">
              <a:avLst/>
            </a:prstGeom>
            <a:solidFill>
              <a:schemeClr val="bg1"/>
            </a:solidFill>
            <a:ln w="28575">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29" name="Rectangle 8">
              <a:extLst>
                <a:ext uri="{FF2B5EF4-FFF2-40B4-BE49-F238E27FC236}">
                  <a16:creationId xmlns:a16="http://schemas.microsoft.com/office/drawing/2014/main" id="{7D1B5FD2-B438-1442-BDBC-7DB3D5F41288}"/>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30" name="Line 16">
              <a:extLst>
                <a:ext uri="{FF2B5EF4-FFF2-40B4-BE49-F238E27FC236}">
                  <a16:creationId xmlns:a16="http://schemas.microsoft.com/office/drawing/2014/main" id="{C6DE7B69-9384-8545-8A28-93AFD32CDA8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0184" name="Group 18">
            <a:extLst>
              <a:ext uri="{FF2B5EF4-FFF2-40B4-BE49-F238E27FC236}">
                <a16:creationId xmlns:a16="http://schemas.microsoft.com/office/drawing/2014/main" id="{20CF32C4-B26C-BA4D-96D6-16F6E5A4C2B4}"/>
              </a:ext>
            </a:extLst>
          </p:cNvPr>
          <p:cNvGrpSpPr>
            <a:grpSpLocks/>
          </p:cNvGrpSpPr>
          <p:nvPr/>
        </p:nvGrpSpPr>
        <p:grpSpPr bwMode="auto">
          <a:xfrm>
            <a:off x="733425" y="5086350"/>
            <a:ext cx="2058988" cy="566738"/>
            <a:chOff x="930" y="1989"/>
            <a:chExt cx="1482" cy="357"/>
          </a:xfrm>
        </p:grpSpPr>
        <p:sp>
          <p:nvSpPr>
            <p:cNvPr id="50221" name="Rectangle 19">
              <a:extLst>
                <a:ext uri="{FF2B5EF4-FFF2-40B4-BE49-F238E27FC236}">
                  <a16:creationId xmlns:a16="http://schemas.microsoft.com/office/drawing/2014/main" id="{073D8589-48FB-0E43-A240-415A916D9FCE}"/>
                </a:ext>
              </a:extLst>
            </p:cNvPr>
            <p:cNvSpPr>
              <a:spLocks noChangeArrowheads="1"/>
            </p:cNvSpPr>
            <p:nvPr/>
          </p:nvSpPr>
          <p:spPr bwMode="auto">
            <a:xfrm>
              <a:off x="1152" y="1989"/>
              <a:ext cx="1088" cy="357"/>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22" name="Rectangle 20">
              <a:extLst>
                <a:ext uri="{FF2B5EF4-FFF2-40B4-BE49-F238E27FC236}">
                  <a16:creationId xmlns:a16="http://schemas.microsoft.com/office/drawing/2014/main" id="{030EE2FF-A535-054C-B515-F91F5A79F9D7}"/>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23" name="Rectangle 21">
              <a:extLst>
                <a:ext uri="{FF2B5EF4-FFF2-40B4-BE49-F238E27FC236}">
                  <a16:creationId xmlns:a16="http://schemas.microsoft.com/office/drawing/2014/main" id="{0DD73858-EF7C-6549-98A0-8DDFDCD695D9}"/>
                </a:ext>
              </a:extLst>
            </p:cNvPr>
            <p:cNvSpPr>
              <a:spLocks noChangeArrowheads="1"/>
            </p:cNvSpPr>
            <p:nvPr/>
          </p:nvSpPr>
          <p:spPr bwMode="auto">
            <a:xfrm>
              <a:off x="1582" y="2025"/>
              <a:ext cx="273" cy="274"/>
            </a:xfrm>
            <a:prstGeom prst="rect">
              <a:avLst/>
            </a:prstGeom>
            <a:solidFill>
              <a:schemeClr val="bg1"/>
            </a:solidFill>
            <a:ln w="28575">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24" name="Rectangle 22">
              <a:extLst>
                <a:ext uri="{FF2B5EF4-FFF2-40B4-BE49-F238E27FC236}">
                  <a16:creationId xmlns:a16="http://schemas.microsoft.com/office/drawing/2014/main" id="{6445E404-740D-2941-BFD0-6A8BE380E90F}"/>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25" name="Line 23">
              <a:extLst>
                <a:ext uri="{FF2B5EF4-FFF2-40B4-BE49-F238E27FC236}">
                  <a16:creationId xmlns:a16="http://schemas.microsoft.com/office/drawing/2014/main" id="{66E630D2-5BAA-5646-A9FD-094F80B8420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0185" name="Group 29">
            <a:extLst>
              <a:ext uri="{FF2B5EF4-FFF2-40B4-BE49-F238E27FC236}">
                <a16:creationId xmlns:a16="http://schemas.microsoft.com/office/drawing/2014/main" id="{19480BFC-4FD4-F742-BB97-3F55627D7619}"/>
              </a:ext>
            </a:extLst>
          </p:cNvPr>
          <p:cNvGrpSpPr>
            <a:grpSpLocks/>
          </p:cNvGrpSpPr>
          <p:nvPr/>
        </p:nvGrpSpPr>
        <p:grpSpPr bwMode="auto">
          <a:xfrm rot="2656396">
            <a:off x="1363663" y="4238625"/>
            <a:ext cx="546100" cy="546100"/>
            <a:chOff x="354" y="2715"/>
            <a:chExt cx="344" cy="344"/>
          </a:xfrm>
        </p:grpSpPr>
        <p:sp>
          <p:nvSpPr>
            <p:cNvPr id="50217" name="Oval 25">
              <a:extLst>
                <a:ext uri="{FF2B5EF4-FFF2-40B4-BE49-F238E27FC236}">
                  <a16:creationId xmlns:a16="http://schemas.microsoft.com/office/drawing/2014/main" id="{1B2E16AF-F343-1A4B-8786-722918A76017}"/>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18" name="Oval 26">
              <a:extLst>
                <a:ext uri="{FF2B5EF4-FFF2-40B4-BE49-F238E27FC236}">
                  <a16:creationId xmlns:a16="http://schemas.microsoft.com/office/drawing/2014/main" id="{3F219714-84BE-A14E-B503-9DE462AE5BFB}"/>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19" name="Oval 27">
              <a:extLst>
                <a:ext uri="{FF2B5EF4-FFF2-40B4-BE49-F238E27FC236}">
                  <a16:creationId xmlns:a16="http://schemas.microsoft.com/office/drawing/2014/main" id="{88B965CF-7B91-4641-A26A-1D6E2D58BB01}"/>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20" name="Oval 28">
              <a:extLst>
                <a:ext uri="{FF2B5EF4-FFF2-40B4-BE49-F238E27FC236}">
                  <a16:creationId xmlns:a16="http://schemas.microsoft.com/office/drawing/2014/main" id="{C9940E34-E497-1944-958D-1B0CCD26C533}"/>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0186" name="Text Box 57">
            <a:extLst>
              <a:ext uri="{FF2B5EF4-FFF2-40B4-BE49-F238E27FC236}">
                <a16:creationId xmlns:a16="http://schemas.microsoft.com/office/drawing/2014/main" id="{52E84C47-2EE9-BF4A-BCC4-03DB072FAFF3}"/>
              </a:ext>
            </a:extLst>
          </p:cNvPr>
          <p:cNvSpPr txBox="1">
            <a:spLocks noChangeArrowheads="1"/>
          </p:cNvSpPr>
          <p:nvPr/>
        </p:nvSpPr>
        <p:spPr bwMode="auto">
          <a:xfrm>
            <a:off x="639763" y="5732463"/>
            <a:ext cx="191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router input ports</a:t>
            </a:r>
          </a:p>
        </p:txBody>
      </p:sp>
      <p:grpSp>
        <p:nvGrpSpPr>
          <p:cNvPr id="50187" name="Group 37">
            <a:extLst>
              <a:ext uri="{FF2B5EF4-FFF2-40B4-BE49-F238E27FC236}">
                <a16:creationId xmlns:a16="http://schemas.microsoft.com/office/drawing/2014/main" id="{C63D8A5C-1B3D-A44C-BEE5-E518AA49A79F}"/>
              </a:ext>
            </a:extLst>
          </p:cNvPr>
          <p:cNvGrpSpPr>
            <a:grpSpLocks/>
          </p:cNvGrpSpPr>
          <p:nvPr/>
        </p:nvGrpSpPr>
        <p:grpSpPr bwMode="auto">
          <a:xfrm>
            <a:off x="4344988" y="3352800"/>
            <a:ext cx="1957387" cy="566738"/>
            <a:chOff x="-51" y="2454"/>
            <a:chExt cx="1482" cy="357"/>
          </a:xfrm>
        </p:grpSpPr>
        <p:grpSp>
          <p:nvGrpSpPr>
            <p:cNvPr id="50211" name="Group 36">
              <a:extLst>
                <a:ext uri="{FF2B5EF4-FFF2-40B4-BE49-F238E27FC236}">
                  <a16:creationId xmlns:a16="http://schemas.microsoft.com/office/drawing/2014/main" id="{BBBD49B9-9EA0-3941-A8BB-C6E7A1345C7A}"/>
                </a:ext>
              </a:extLst>
            </p:cNvPr>
            <p:cNvGrpSpPr>
              <a:grpSpLocks/>
            </p:cNvGrpSpPr>
            <p:nvPr/>
          </p:nvGrpSpPr>
          <p:grpSpPr bwMode="auto">
            <a:xfrm flipH="1">
              <a:off x="171" y="2454"/>
              <a:ext cx="1086" cy="357"/>
              <a:chOff x="171" y="2454"/>
              <a:chExt cx="1086" cy="357"/>
            </a:xfrm>
          </p:grpSpPr>
          <p:sp>
            <p:nvSpPr>
              <p:cNvPr id="50213" name="Rectangle 31">
                <a:extLst>
                  <a:ext uri="{FF2B5EF4-FFF2-40B4-BE49-F238E27FC236}">
                    <a16:creationId xmlns:a16="http://schemas.microsoft.com/office/drawing/2014/main" id="{8F9AD767-8E0A-3743-84F0-86EA98B9683F}"/>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14" name="Rectangle 32">
                <a:extLst>
                  <a:ext uri="{FF2B5EF4-FFF2-40B4-BE49-F238E27FC236}">
                    <a16:creationId xmlns:a16="http://schemas.microsoft.com/office/drawing/2014/main" id="{5951D564-7EE0-6943-A1D7-D8FCB50FB6B0}"/>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15" name="Rectangle 33">
                <a:extLst>
                  <a:ext uri="{FF2B5EF4-FFF2-40B4-BE49-F238E27FC236}">
                    <a16:creationId xmlns:a16="http://schemas.microsoft.com/office/drawing/2014/main" id="{1F36E093-A37C-E149-95D1-2E5FBDDBE04D}"/>
                  </a:ext>
                </a:extLst>
              </p:cNvPr>
              <p:cNvSpPr>
                <a:spLocks noChangeArrowheads="1"/>
              </p:cNvSpPr>
              <p:nvPr/>
            </p:nvSpPr>
            <p:spPr bwMode="auto">
              <a:xfrm>
                <a:off x="602" y="2490"/>
                <a:ext cx="274" cy="274"/>
              </a:xfrm>
              <a:prstGeom prst="rect">
                <a:avLst/>
              </a:prstGeom>
              <a:solidFill>
                <a:schemeClr val="bg1"/>
              </a:solidFill>
              <a:ln w="28575">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16" name="Rectangle 34">
                <a:extLst>
                  <a:ext uri="{FF2B5EF4-FFF2-40B4-BE49-F238E27FC236}">
                    <a16:creationId xmlns:a16="http://schemas.microsoft.com/office/drawing/2014/main" id="{8F31CCC5-6222-064B-BDC7-BDF352A6FE6A}"/>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0212" name="Line 35">
              <a:extLst>
                <a:ext uri="{FF2B5EF4-FFF2-40B4-BE49-F238E27FC236}">
                  <a16:creationId xmlns:a16="http://schemas.microsoft.com/office/drawing/2014/main" id="{FE3CD352-74F5-4F42-A7CA-087CF268869A}"/>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0188" name="Group 38">
            <a:extLst>
              <a:ext uri="{FF2B5EF4-FFF2-40B4-BE49-F238E27FC236}">
                <a16:creationId xmlns:a16="http://schemas.microsoft.com/office/drawing/2014/main" id="{200F864A-25B9-AE40-A816-150EEF1427CF}"/>
              </a:ext>
            </a:extLst>
          </p:cNvPr>
          <p:cNvGrpSpPr>
            <a:grpSpLocks/>
          </p:cNvGrpSpPr>
          <p:nvPr/>
        </p:nvGrpSpPr>
        <p:grpSpPr bwMode="auto">
          <a:xfrm>
            <a:off x="4364038" y="5086350"/>
            <a:ext cx="2011362" cy="566738"/>
            <a:chOff x="-51" y="2454"/>
            <a:chExt cx="1482" cy="357"/>
          </a:xfrm>
        </p:grpSpPr>
        <p:grpSp>
          <p:nvGrpSpPr>
            <p:cNvPr id="50205" name="Group 39">
              <a:extLst>
                <a:ext uri="{FF2B5EF4-FFF2-40B4-BE49-F238E27FC236}">
                  <a16:creationId xmlns:a16="http://schemas.microsoft.com/office/drawing/2014/main" id="{1DAFC187-45A3-9347-A7C0-18232AFB4A58}"/>
                </a:ext>
              </a:extLst>
            </p:cNvPr>
            <p:cNvGrpSpPr>
              <a:grpSpLocks/>
            </p:cNvGrpSpPr>
            <p:nvPr/>
          </p:nvGrpSpPr>
          <p:grpSpPr bwMode="auto">
            <a:xfrm flipH="1">
              <a:off x="171" y="2454"/>
              <a:ext cx="1086" cy="357"/>
              <a:chOff x="171" y="2454"/>
              <a:chExt cx="1086" cy="357"/>
            </a:xfrm>
          </p:grpSpPr>
          <p:sp>
            <p:nvSpPr>
              <p:cNvPr id="50207" name="Rectangle 40">
                <a:extLst>
                  <a:ext uri="{FF2B5EF4-FFF2-40B4-BE49-F238E27FC236}">
                    <a16:creationId xmlns:a16="http://schemas.microsoft.com/office/drawing/2014/main" id="{4DEDB0CE-72CB-904E-A90B-CA0B6A62335A}"/>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08" name="Rectangle 41">
                <a:extLst>
                  <a:ext uri="{FF2B5EF4-FFF2-40B4-BE49-F238E27FC236}">
                    <a16:creationId xmlns:a16="http://schemas.microsoft.com/office/drawing/2014/main" id="{E267491A-67A0-1D40-B74B-CE34E4BCAE9C}"/>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09" name="Rectangle 42">
                <a:extLst>
                  <a:ext uri="{FF2B5EF4-FFF2-40B4-BE49-F238E27FC236}">
                    <a16:creationId xmlns:a16="http://schemas.microsoft.com/office/drawing/2014/main" id="{19438C34-C575-D541-9AE2-7CC25205392C}"/>
                  </a:ext>
                </a:extLst>
              </p:cNvPr>
              <p:cNvSpPr>
                <a:spLocks noChangeArrowheads="1"/>
              </p:cNvSpPr>
              <p:nvPr/>
            </p:nvSpPr>
            <p:spPr bwMode="auto">
              <a:xfrm>
                <a:off x="602" y="2490"/>
                <a:ext cx="274" cy="274"/>
              </a:xfrm>
              <a:prstGeom prst="rect">
                <a:avLst/>
              </a:prstGeom>
              <a:solidFill>
                <a:schemeClr val="bg1"/>
              </a:solidFill>
              <a:ln w="28575">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10" name="Rectangle 43">
                <a:extLst>
                  <a:ext uri="{FF2B5EF4-FFF2-40B4-BE49-F238E27FC236}">
                    <a16:creationId xmlns:a16="http://schemas.microsoft.com/office/drawing/2014/main" id="{B4845006-636F-AF4C-A2F9-778134D6BF7A}"/>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0206" name="Line 44">
              <a:extLst>
                <a:ext uri="{FF2B5EF4-FFF2-40B4-BE49-F238E27FC236}">
                  <a16:creationId xmlns:a16="http://schemas.microsoft.com/office/drawing/2014/main" id="{D543AC34-5B6C-204C-9B6A-7292A29FEDDA}"/>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0189" name="Group 51">
            <a:extLst>
              <a:ext uri="{FF2B5EF4-FFF2-40B4-BE49-F238E27FC236}">
                <a16:creationId xmlns:a16="http://schemas.microsoft.com/office/drawing/2014/main" id="{595ACEC7-F451-8049-818E-EDE93207663D}"/>
              </a:ext>
            </a:extLst>
          </p:cNvPr>
          <p:cNvGrpSpPr>
            <a:grpSpLocks/>
          </p:cNvGrpSpPr>
          <p:nvPr/>
        </p:nvGrpSpPr>
        <p:grpSpPr bwMode="auto">
          <a:xfrm rot="2656396">
            <a:off x="5230813" y="4229100"/>
            <a:ext cx="546100" cy="546100"/>
            <a:chOff x="354" y="2715"/>
            <a:chExt cx="344" cy="344"/>
          </a:xfrm>
        </p:grpSpPr>
        <p:sp>
          <p:nvSpPr>
            <p:cNvPr id="50201" name="Oval 52">
              <a:extLst>
                <a:ext uri="{FF2B5EF4-FFF2-40B4-BE49-F238E27FC236}">
                  <a16:creationId xmlns:a16="http://schemas.microsoft.com/office/drawing/2014/main" id="{A09E7E2C-F923-0843-8CF1-413F70F48115}"/>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02" name="Oval 53">
              <a:extLst>
                <a:ext uri="{FF2B5EF4-FFF2-40B4-BE49-F238E27FC236}">
                  <a16:creationId xmlns:a16="http://schemas.microsoft.com/office/drawing/2014/main" id="{9F539CF8-9FB8-EA40-BCA2-9946C1CD957E}"/>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03" name="Oval 54">
              <a:extLst>
                <a:ext uri="{FF2B5EF4-FFF2-40B4-BE49-F238E27FC236}">
                  <a16:creationId xmlns:a16="http://schemas.microsoft.com/office/drawing/2014/main" id="{52748268-009E-794E-BE24-B4ACC82F331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0204" name="Oval 55">
              <a:extLst>
                <a:ext uri="{FF2B5EF4-FFF2-40B4-BE49-F238E27FC236}">
                  <a16:creationId xmlns:a16="http://schemas.microsoft.com/office/drawing/2014/main" id="{E1457CBC-AD57-D64F-95D2-3E0E5D653A46}"/>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50190" name="Text Box 58">
            <a:extLst>
              <a:ext uri="{FF2B5EF4-FFF2-40B4-BE49-F238E27FC236}">
                <a16:creationId xmlns:a16="http://schemas.microsoft.com/office/drawing/2014/main" id="{08F808DB-2C2E-EE47-ACF3-4C60FF8A65F0}"/>
              </a:ext>
            </a:extLst>
          </p:cNvPr>
          <p:cNvSpPr txBox="1">
            <a:spLocks noChangeArrowheads="1"/>
          </p:cNvSpPr>
          <p:nvPr/>
        </p:nvSpPr>
        <p:spPr bwMode="auto">
          <a:xfrm>
            <a:off x="4664075" y="5773738"/>
            <a:ext cx="205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router output ports</a:t>
            </a:r>
          </a:p>
        </p:txBody>
      </p:sp>
      <p:pic>
        <p:nvPicPr>
          <p:cNvPr id="50191" name="Picture 63" descr="underline_base">
            <a:extLst>
              <a:ext uri="{FF2B5EF4-FFF2-40B4-BE49-F238E27FC236}">
                <a16:creationId xmlns:a16="http://schemas.microsoft.com/office/drawing/2014/main" id="{3AB8CD8B-48E9-9142-BCC0-E39F1EF5E44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013" y="842963"/>
            <a:ext cx="635317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FFE02F2E-8D60-A346-B93E-F30146FD8FC3}"/>
              </a:ext>
            </a:extLst>
          </p:cNvPr>
          <p:cNvCxnSpPr>
            <a:cxnSpLocks noChangeShapeType="1"/>
          </p:cNvCxnSpPr>
          <p:nvPr/>
        </p:nvCxnSpPr>
        <p:spPr bwMode="auto">
          <a:xfrm>
            <a:off x="733425" y="3143250"/>
            <a:ext cx="7802563" cy="12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 name="TextBox 4">
            <a:extLst>
              <a:ext uri="{FF2B5EF4-FFF2-40B4-BE49-F238E27FC236}">
                <a16:creationId xmlns:a16="http://schemas.microsoft.com/office/drawing/2014/main" id="{3A0F9BD0-FCE0-8A4C-9952-4572339C1CFE}"/>
              </a:ext>
            </a:extLst>
          </p:cNvPr>
          <p:cNvSpPr txBox="1">
            <a:spLocks noChangeArrowheads="1"/>
          </p:cNvSpPr>
          <p:nvPr/>
        </p:nvSpPr>
        <p:spPr bwMode="auto">
          <a:xfrm>
            <a:off x="6640513" y="3179763"/>
            <a:ext cx="21859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600" i="1" dirty="0">
                <a:solidFill>
                  <a:srgbClr val="CC0000"/>
                </a:solidFill>
              </a:rPr>
              <a:t>forwarding data plane  </a:t>
            </a:r>
            <a:r>
              <a:rPr lang="en-US" altLang="en-US" sz="1600" dirty="0"/>
              <a:t>(hardware) operates in nanosecond timeframe</a:t>
            </a:r>
          </a:p>
        </p:txBody>
      </p:sp>
      <p:sp>
        <p:nvSpPr>
          <p:cNvPr id="6" name="Rectangle 5">
            <a:extLst>
              <a:ext uri="{FF2B5EF4-FFF2-40B4-BE49-F238E27FC236}">
                <a16:creationId xmlns:a16="http://schemas.microsoft.com/office/drawing/2014/main" id="{E6F40E2E-090A-D641-B846-44734594B66F}"/>
              </a:ext>
            </a:extLst>
          </p:cNvPr>
          <p:cNvSpPr>
            <a:spLocks noChangeArrowheads="1"/>
          </p:cNvSpPr>
          <p:nvPr/>
        </p:nvSpPr>
        <p:spPr bwMode="auto">
          <a:xfrm>
            <a:off x="5953125" y="2076450"/>
            <a:ext cx="28797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600" i="1">
                <a:solidFill>
                  <a:srgbClr val="CC0000"/>
                </a:solidFill>
              </a:rPr>
              <a:t>routing, management</a:t>
            </a:r>
          </a:p>
          <a:p>
            <a:pPr algn="r"/>
            <a:r>
              <a:rPr lang="en-US" altLang="en-US" sz="1600" i="1">
                <a:solidFill>
                  <a:srgbClr val="CC0000"/>
                </a:solidFill>
              </a:rPr>
              <a:t>control plane </a:t>
            </a:r>
            <a:r>
              <a:rPr lang="en-US" altLang="en-US" sz="1600"/>
              <a:t>(software)</a:t>
            </a:r>
          </a:p>
          <a:p>
            <a:pPr algn="r"/>
            <a:r>
              <a:rPr lang="en-US" altLang="en-US" sz="1600"/>
              <a:t>operates in millisecond </a:t>
            </a:r>
          </a:p>
          <a:p>
            <a:pPr algn="r"/>
            <a:r>
              <a:rPr lang="en-US" altLang="en-US" sz="1600"/>
              <a:t>time frame</a:t>
            </a:r>
          </a:p>
        </p:txBody>
      </p:sp>
      <p:sp>
        <p:nvSpPr>
          <p:cNvPr id="50195" name="Freeform 10">
            <a:extLst>
              <a:ext uri="{FF2B5EF4-FFF2-40B4-BE49-F238E27FC236}">
                <a16:creationId xmlns:a16="http://schemas.microsoft.com/office/drawing/2014/main" id="{BF310816-0CB0-4C4A-8F02-C753D8F2B60A}"/>
              </a:ext>
            </a:extLst>
          </p:cNvPr>
          <p:cNvSpPr>
            <a:spLocks/>
          </p:cNvSpPr>
          <p:nvPr/>
        </p:nvSpPr>
        <p:spPr bwMode="auto">
          <a:xfrm>
            <a:off x="2198688" y="2667000"/>
            <a:ext cx="512762" cy="73025"/>
          </a:xfrm>
          <a:custGeom>
            <a:avLst/>
            <a:gdLst>
              <a:gd name="T0" fmla="*/ 486556 w 512919"/>
              <a:gd name="T1" fmla="*/ 70194 h 73266"/>
              <a:gd name="T2" fmla="*/ 510880 w 512919"/>
              <a:gd name="T3" fmla="*/ 0 h 73266"/>
              <a:gd name="T4" fmla="*/ 145963 w 512919"/>
              <a:gd name="T5" fmla="*/ 11698 h 73266"/>
              <a:gd name="T6" fmla="*/ 97309 w 512919"/>
              <a:gd name="T7" fmla="*/ 23398 h 73266"/>
              <a:gd name="T8" fmla="*/ 0 w 512919"/>
              <a:gd name="T9" fmla="*/ 11698 h 73266"/>
              <a:gd name="T10" fmla="*/ 0 w 512919"/>
              <a:gd name="T11" fmla="*/ 11698 h 73266"/>
              <a:gd name="T12" fmla="*/ 510880 w 512919"/>
              <a:gd name="T13" fmla="*/ 11698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sp>
        <p:nvSpPr>
          <p:cNvPr id="50196" name="Freeform 11">
            <a:extLst>
              <a:ext uri="{FF2B5EF4-FFF2-40B4-BE49-F238E27FC236}">
                <a16:creationId xmlns:a16="http://schemas.microsoft.com/office/drawing/2014/main" id="{23BB3069-1DA3-8C43-A55D-D56BAF2E69A4}"/>
              </a:ext>
            </a:extLst>
          </p:cNvPr>
          <p:cNvSpPr>
            <a:spLocks/>
          </p:cNvSpPr>
          <p:nvPr/>
        </p:nvSpPr>
        <p:spPr bwMode="auto">
          <a:xfrm>
            <a:off x="-144463" y="647700"/>
            <a:ext cx="8802688" cy="2197100"/>
          </a:xfrm>
          <a:custGeom>
            <a:avLst/>
            <a:gdLst>
              <a:gd name="T0" fmla="*/ 8251758 w 8802811"/>
              <a:gd name="T1" fmla="*/ 0 h 2197979"/>
              <a:gd name="T2" fmla="*/ 8288385 w 8802811"/>
              <a:gd name="T3" fmla="*/ 352284 h 2197979"/>
              <a:gd name="T4" fmla="*/ 8300597 w 8802811"/>
              <a:gd name="T5" fmla="*/ 983961 h 2197979"/>
              <a:gd name="T6" fmla="*/ 8312809 w 8802811"/>
              <a:gd name="T7" fmla="*/ 1202620 h 2197979"/>
              <a:gd name="T8" fmla="*/ 8337225 w 8802811"/>
              <a:gd name="T9" fmla="*/ 1372688 h 2197979"/>
              <a:gd name="T10" fmla="*/ 8312809 w 8802811"/>
              <a:gd name="T11" fmla="*/ 1299800 h 2197979"/>
              <a:gd name="T12" fmla="*/ 8300597 w 8802811"/>
              <a:gd name="T13" fmla="*/ 1214767 h 2197979"/>
              <a:gd name="T14" fmla="*/ 8288385 w 8802811"/>
              <a:gd name="T15" fmla="*/ 1166179 h 2197979"/>
              <a:gd name="T16" fmla="*/ 8251758 w 8802811"/>
              <a:gd name="T17" fmla="*/ 983961 h 2197979"/>
              <a:gd name="T18" fmla="*/ 8239546 w 8802811"/>
              <a:gd name="T19" fmla="*/ 850337 h 2197979"/>
              <a:gd name="T20" fmla="*/ 8215118 w 8802811"/>
              <a:gd name="T21" fmla="*/ 680270 h 2197979"/>
              <a:gd name="T22" fmla="*/ 8202906 w 8802811"/>
              <a:gd name="T23" fmla="*/ 546646 h 2197979"/>
              <a:gd name="T24" fmla="*/ 8178491 w 8802811"/>
              <a:gd name="T25" fmla="*/ 546646 h 2197979"/>
              <a:gd name="T26" fmla="*/ 8178491 w 8802811"/>
              <a:gd name="T27" fmla="*/ 546646 h 2197979"/>
              <a:gd name="T28" fmla="*/ 8410478 w 8802811"/>
              <a:gd name="T29" fmla="*/ 619530 h 2197979"/>
              <a:gd name="T30" fmla="*/ 8471533 w 8802811"/>
              <a:gd name="T31" fmla="*/ 680270 h 2197979"/>
              <a:gd name="T32" fmla="*/ 8557003 w 8802811"/>
              <a:gd name="T33" fmla="*/ 789598 h 2197979"/>
              <a:gd name="T34" fmla="*/ 8581427 w 8802811"/>
              <a:gd name="T35" fmla="*/ 862485 h 2197979"/>
              <a:gd name="T36" fmla="*/ 8618067 w 8802811"/>
              <a:gd name="T37" fmla="*/ 947518 h 2197979"/>
              <a:gd name="T38" fmla="*/ 8691330 w 8802811"/>
              <a:gd name="T39" fmla="*/ 1178325 h 2197979"/>
              <a:gd name="T40" fmla="*/ 8703529 w 8802811"/>
              <a:gd name="T41" fmla="*/ 1251212 h 2197979"/>
              <a:gd name="T42" fmla="*/ 8715745 w 8802811"/>
              <a:gd name="T43" fmla="*/ 1336245 h 2197979"/>
              <a:gd name="T44" fmla="*/ 8740169 w 8802811"/>
              <a:gd name="T45" fmla="*/ 1396982 h 2197979"/>
              <a:gd name="T46" fmla="*/ 8801224 w 8802811"/>
              <a:gd name="T47" fmla="*/ 1396982 h 2197979"/>
              <a:gd name="T48" fmla="*/ 8801224 w 8802811"/>
              <a:gd name="T49" fmla="*/ 1396982 h 2197979"/>
              <a:gd name="T50" fmla="*/ 8789008 w 8802811"/>
              <a:gd name="T51" fmla="*/ 1664232 h 2197979"/>
              <a:gd name="T52" fmla="*/ 8789008 w 8802811"/>
              <a:gd name="T53" fmla="*/ 1664232 h 2197979"/>
              <a:gd name="T54" fmla="*/ 8703529 w 8802811"/>
              <a:gd name="T55" fmla="*/ 1567051 h 2197979"/>
              <a:gd name="T56" fmla="*/ 8642482 w 8802811"/>
              <a:gd name="T57" fmla="*/ 1506311 h 2197979"/>
              <a:gd name="T58" fmla="*/ 8581427 w 8802811"/>
              <a:gd name="T59" fmla="*/ 1409131 h 2197979"/>
              <a:gd name="T60" fmla="*/ 8508164 w 8802811"/>
              <a:gd name="T61" fmla="*/ 1324097 h 2197979"/>
              <a:gd name="T62" fmla="*/ 8434901 w 8802811"/>
              <a:gd name="T63" fmla="*/ 1226915 h 2197979"/>
              <a:gd name="T64" fmla="*/ 8300597 w 8802811"/>
              <a:gd name="T65" fmla="*/ 1032551 h 2197979"/>
              <a:gd name="T66" fmla="*/ 8227330 w 8802811"/>
              <a:gd name="T67" fmla="*/ 911075 h 2197979"/>
              <a:gd name="T68" fmla="*/ 8215118 w 8802811"/>
              <a:gd name="T69" fmla="*/ 874632 h 2197979"/>
              <a:gd name="T70" fmla="*/ 8190703 w 8802811"/>
              <a:gd name="T71" fmla="*/ 838189 h 2197979"/>
              <a:gd name="T72" fmla="*/ 8178491 w 8802811"/>
              <a:gd name="T73" fmla="*/ 789598 h 2197979"/>
              <a:gd name="T74" fmla="*/ 8129643 w 8802811"/>
              <a:gd name="T75" fmla="*/ 716712 h 2197979"/>
              <a:gd name="T76" fmla="*/ 8117452 w 8802811"/>
              <a:gd name="T77" fmla="*/ 704564 h 2197979"/>
              <a:gd name="T78" fmla="*/ 8215118 w 8802811"/>
              <a:gd name="T79" fmla="*/ 777450 h 2197979"/>
              <a:gd name="T80" fmla="*/ 8251758 w 8802811"/>
              <a:gd name="T81" fmla="*/ 813894 h 2197979"/>
              <a:gd name="T82" fmla="*/ 8361648 w 8802811"/>
              <a:gd name="T83" fmla="*/ 911075 h 2197979"/>
              <a:gd name="T84" fmla="*/ 8434901 w 8802811"/>
              <a:gd name="T85" fmla="*/ 1008257 h 2197979"/>
              <a:gd name="T86" fmla="*/ 8471533 w 8802811"/>
              <a:gd name="T87" fmla="*/ 1044700 h 2197979"/>
              <a:gd name="T88" fmla="*/ 8459325 w 8802811"/>
              <a:gd name="T89" fmla="*/ 1032551 h 2197979"/>
              <a:gd name="T90" fmla="*/ 632629 w 8802811"/>
              <a:gd name="T91" fmla="*/ 2150139 h 2197979"/>
              <a:gd name="T92" fmla="*/ 1523975 w 8802811"/>
              <a:gd name="T93" fmla="*/ 2186582 h 2197979"/>
              <a:gd name="T94" fmla="*/ 1035572 w 8802811"/>
              <a:gd name="T95" fmla="*/ 2150139 h 2197979"/>
              <a:gd name="T96" fmla="*/ 547160 w 8802811"/>
              <a:gd name="T97" fmla="*/ 2101550 h 2197979"/>
              <a:gd name="T98" fmla="*/ 70965 w 8802811"/>
              <a:gd name="T99" fmla="*/ 2077253 h 219797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802811"/>
              <a:gd name="T151" fmla="*/ 0 h 2197979"/>
              <a:gd name="T152" fmla="*/ 8802811 w 8802811"/>
              <a:gd name="T153" fmla="*/ 2197979 h 219797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802811" h="2197979">
                <a:moveTo>
                  <a:pt x="8253255" y="0"/>
                </a:moveTo>
                <a:lnTo>
                  <a:pt x="8289892" y="354119"/>
                </a:lnTo>
                <a:cubicBezTo>
                  <a:pt x="8293963" y="565776"/>
                  <a:pt x="8296057" y="777480"/>
                  <a:pt x="8302104" y="989090"/>
                </a:cubicBezTo>
                <a:cubicBezTo>
                  <a:pt x="8304200" y="1062439"/>
                  <a:pt x="8308222" y="1135763"/>
                  <a:pt x="8314317" y="1208888"/>
                </a:cubicBezTo>
                <a:cubicBezTo>
                  <a:pt x="8316142" y="1230787"/>
                  <a:pt x="8344376" y="1368573"/>
                  <a:pt x="8338741" y="1379842"/>
                </a:cubicBezTo>
                <a:cubicBezTo>
                  <a:pt x="8327228" y="1402867"/>
                  <a:pt x="8314317" y="1306576"/>
                  <a:pt x="8314317" y="1306576"/>
                </a:cubicBezTo>
                <a:cubicBezTo>
                  <a:pt x="8310246" y="1278084"/>
                  <a:pt x="8307253" y="1249416"/>
                  <a:pt x="8302104" y="1221099"/>
                </a:cubicBezTo>
                <a:cubicBezTo>
                  <a:pt x="8299101" y="1204587"/>
                  <a:pt x="8292894" y="1188767"/>
                  <a:pt x="8289892" y="1172255"/>
                </a:cubicBezTo>
                <a:cubicBezTo>
                  <a:pt x="8255975" y="985729"/>
                  <a:pt x="8304437" y="1193793"/>
                  <a:pt x="8253255" y="989090"/>
                </a:cubicBezTo>
                <a:cubicBezTo>
                  <a:pt x="8249184" y="944316"/>
                  <a:pt x="8246400" y="899407"/>
                  <a:pt x="8241043" y="854769"/>
                </a:cubicBezTo>
                <a:cubicBezTo>
                  <a:pt x="8234184" y="797616"/>
                  <a:pt x="8221830" y="741142"/>
                  <a:pt x="8216618" y="683815"/>
                </a:cubicBezTo>
                <a:cubicBezTo>
                  <a:pt x="8212547" y="639041"/>
                  <a:pt x="8216237" y="592868"/>
                  <a:pt x="8204406" y="549494"/>
                </a:cubicBezTo>
                <a:cubicBezTo>
                  <a:pt x="8202264" y="541639"/>
                  <a:pt x="8188123" y="549494"/>
                  <a:pt x="8179981" y="549494"/>
                </a:cubicBezTo>
                <a:cubicBezTo>
                  <a:pt x="8254412" y="566668"/>
                  <a:pt x="8345942" y="574712"/>
                  <a:pt x="8412016" y="622760"/>
                </a:cubicBezTo>
                <a:cubicBezTo>
                  <a:pt x="8435295" y="639688"/>
                  <a:pt x="8454344" y="661962"/>
                  <a:pt x="8473077" y="683815"/>
                </a:cubicBezTo>
                <a:cubicBezTo>
                  <a:pt x="8503283" y="719051"/>
                  <a:pt x="8558564" y="793714"/>
                  <a:pt x="8558564" y="793714"/>
                </a:cubicBezTo>
                <a:cubicBezTo>
                  <a:pt x="8566706" y="818136"/>
                  <a:pt x="8573747" y="842953"/>
                  <a:pt x="8582989" y="866980"/>
                </a:cubicBezTo>
                <a:cubicBezTo>
                  <a:pt x="8594118" y="895913"/>
                  <a:pt x="8610878" y="922718"/>
                  <a:pt x="8619626" y="952457"/>
                </a:cubicBezTo>
                <a:cubicBezTo>
                  <a:pt x="8696833" y="1214937"/>
                  <a:pt x="8583806" y="939035"/>
                  <a:pt x="8692900" y="1184466"/>
                </a:cubicBezTo>
                <a:cubicBezTo>
                  <a:pt x="8696971" y="1208888"/>
                  <a:pt x="8701347" y="1233261"/>
                  <a:pt x="8705112" y="1257732"/>
                </a:cubicBezTo>
                <a:cubicBezTo>
                  <a:pt x="8709489" y="1286179"/>
                  <a:pt x="8710343" y="1315287"/>
                  <a:pt x="8717324" y="1343209"/>
                </a:cubicBezTo>
                <a:cubicBezTo>
                  <a:pt x="8722641" y="1364474"/>
                  <a:pt x="8723911" y="1391524"/>
                  <a:pt x="8741749" y="1404264"/>
                </a:cubicBezTo>
                <a:cubicBezTo>
                  <a:pt x="8758312" y="1416094"/>
                  <a:pt x="8782457" y="1404264"/>
                  <a:pt x="8802811" y="1404264"/>
                </a:cubicBezTo>
                <a:lnTo>
                  <a:pt x="8790599" y="1672906"/>
                </a:lnTo>
                <a:cubicBezTo>
                  <a:pt x="8762103" y="1640343"/>
                  <a:pt x="8734463" y="1607012"/>
                  <a:pt x="8705112" y="1575218"/>
                </a:cubicBezTo>
                <a:cubicBezTo>
                  <a:pt x="8685588" y="1554069"/>
                  <a:pt x="8661601" y="1536976"/>
                  <a:pt x="8644050" y="1514163"/>
                </a:cubicBezTo>
                <a:cubicBezTo>
                  <a:pt x="8620635" y="1483727"/>
                  <a:pt x="8605699" y="1447440"/>
                  <a:pt x="8582989" y="1416475"/>
                </a:cubicBezTo>
                <a:cubicBezTo>
                  <a:pt x="8560794" y="1386213"/>
                  <a:pt x="8533160" y="1360302"/>
                  <a:pt x="8509714" y="1330998"/>
                </a:cubicBezTo>
                <a:cubicBezTo>
                  <a:pt x="8484284" y="1299214"/>
                  <a:pt x="8459970" y="1266525"/>
                  <a:pt x="8436440" y="1233310"/>
                </a:cubicBezTo>
                <a:cubicBezTo>
                  <a:pt x="8390753" y="1168818"/>
                  <a:pt x="8331459" y="1111315"/>
                  <a:pt x="8302104" y="1037934"/>
                </a:cubicBezTo>
                <a:cubicBezTo>
                  <a:pt x="8267999" y="952679"/>
                  <a:pt x="8291374" y="993995"/>
                  <a:pt x="8228830" y="915824"/>
                </a:cubicBezTo>
                <a:cubicBezTo>
                  <a:pt x="8224759" y="903613"/>
                  <a:pt x="8222375" y="890703"/>
                  <a:pt x="8216618" y="879191"/>
                </a:cubicBezTo>
                <a:cubicBezTo>
                  <a:pt x="8210054" y="866064"/>
                  <a:pt x="8197975" y="856047"/>
                  <a:pt x="8192193" y="842558"/>
                </a:cubicBezTo>
                <a:cubicBezTo>
                  <a:pt x="8185581" y="827133"/>
                  <a:pt x="8185874" y="809428"/>
                  <a:pt x="8179981" y="793714"/>
                </a:cubicBezTo>
                <a:cubicBezTo>
                  <a:pt x="8162237" y="746401"/>
                  <a:pt x="8160946" y="750260"/>
                  <a:pt x="8131131" y="720448"/>
                </a:cubicBezTo>
                <a:lnTo>
                  <a:pt x="8118919" y="708237"/>
                </a:lnTo>
                <a:cubicBezTo>
                  <a:pt x="8151485" y="732659"/>
                  <a:pt x="8185112" y="755728"/>
                  <a:pt x="8216618" y="781503"/>
                </a:cubicBezTo>
                <a:cubicBezTo>
                  <a:pt x="8229985" y="792438"/>
                  <a:pt x="8240257" y="806764"/>
                  <a:pt x="8253255" y="818136"/>
                </a:cubicBezTo>
                <a:cubicBezTo>
                  <a:pt x="8303675" y="862248"/>
                  <a:pt x="8321173" y="865438"/>
                  <a:pt x="8363166" y="915824"/>
                </a:cubicBezTo>
                <a:cubicBezTo>
                  <a:pt x="8389226" y="947093"/>
                  <a:pt x="8407656" y="984731"/>
                  <a:pt x="8436440" y="1013512"/>
                </a:cubicBezTo>
                <a:lnTo>
                  <a:pt x="8473077" y="1050145"/>
                </a:lnTo>
                <a:lnTo>
                  <a:pt x="8460865" y="1037934"/>
                </a:lnTo>
                <a:lnTo>
                  <a:pt x="632746" y="2161346"/>
                </a:lnTo>
                <a:lnTo>
                  <a:pt x="1524248" y="2197979"/>
                </a:lnTo>
                <a:lnTo>
                  <a:pt x="1035754" y="2161346"/>
                </a:lnTo>
                <a:cubicBezTo>
                  <a:pt x="712856" y="2131451"/>
                  <a:pt x="1008547" y="2123752"/>
                  <a:pt x="547260" y="2112502"/>
                </a:cubicBezTo>
                <a:cubicBezTo>
                  <a:pt x="37453" y="2100069"/>
                  <a:pt x="-102777" y="2174947"/>
                  <a:pt x="70978" y="2088080"/>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cxnSp>
        <p:nvCxnSpPr>
          <p:cNvPr id="14" name="Elbow Connector 13">
            <a:extLst>
              <a:ext uri="{FF2B5EF4-FFF2-40B4-BE49-F238E27FC236}">
                <a16:creationId xmlns:a16="http://schemas.microsoft.com/office/drawing/2014/main" id="{3090380F-C0FF-B745-B0D4-2772CE707AD1}"/>
              </a:ext>
            </a:extLst>
          </p:cNvPr>
          <p:cNvCxnSpPr>
            <a:cxnSpLocks noChangeShapeType="1"/>
            <a:endCxn id="50224" idx="0"/>
          </p:cNvCxnSpPr>
          <p:nvPr/>
        </p:nvCxnSpPr>
        <p:spPr bwMode="auto">
          <a:xfrm rot="5400000">
            <a:off x="1215231" y="3729832"/>
            <a:ext cx="2473325" cy="347662"/>
          </a:xfrm>
          <a:prstGeom prst="bentConnector3">
            <a:avLst>
              <a:gd name="adj1" fmla="val -60"/>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50198" name="Content Placeholder 1">
            <a:extLst>
              <a:ext uri="{FF2B5EF4-FFF2-40B4-BE49-F238E27FC236}">
                <a16:creationId xmlns:a16="http://schemas.microsoft.com/office/drawing/2014/main" id="{38E96F73-3B18-5F4D-BE94-50F0D4708F85}"/>
              </a:ext>
            </a:extLst>
          </p:cNvPr>
          <p:cNvSpPr>
            <a:spLocks noGrp="1"/>
          </p:cNvSpPr>
          <p:nvPr>
            <p:ph idx="1"/>
          </p:nvPr>
        </p:nvSpPr>
        <p:spPr>
          <a:xfrm>
            <a:off x="533400" y="1287463"/>
            <a:ext cx="7772400" cy="585787"/>
          </a:xfrm>
        </p:spPr>
        <p:txBody>
          <a:bodyPr/>
          <a:lstStyle/>
          <a:p>
            <a:r>
              <a:rPr lang="en-US" altLang="en-US">
                <a:ea typeface="ＭＳ Ｐゴシック" panose="020B0600070205080204" pitchFamily="34" charset="-128"/>
                <a:cs typeface="ＭＳ Ｐゴシック" panose="020B0600070205080204" pitchFamily="34" charset="-128"/>
              </a:rPr>
              <a:t>high-level view of generic router architecture:</a:t>
            </a:r>
          </a:p>
        </p:txBody>
      </p:sp>
      <p:sp>
        <p:nvSpPr>
          <p:cNvPr id="50199" name="Slide Number Placeholder 5">
            <a:extLst>
              <a:ext uri="{FF2B5EF4-FFF2-40B4-BE49-F238E27FC236}">
                <a16:creationId xmlns:a16="http://schemas.microsoft.com/office/drawing/2014/main" id="{145C983F-FF49-9E48-9FF5-722DC8B74744}"/>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ADFAF319-76AC-1B42-8DBE-7E9CD4834884}" type="slidenum">
              <a:rPr lang="en-US" altLang="en-US">
                <a:latin typeface="Tahoma" panose="020B0604030504040204" pitchFamily="34" charset="0"/>
              </a:rPr>
              <a:pPr/>
              <a:t>18</a:t>
            </a:fld>
            <a:endParaRPr lang="en-US" altLang="en-US">
              <a:latin typeface="Tahoma" panose="020B0604030504040204" pitchFamily="34" charset="0"/>
            </a:endParaRPr>
          </a:p>
        </p:txBody>
      </p:sp>
      <p:sp>
        <p:nvSpPr>
          <p:cNvPr id="50200" name="Footer Placeholder 2">
            <a:extLst>
              <a:ext uri="{FF2B5EF4-FFF2-40B4-BE49-F238E27FC236}">
                <a16:creationId xmlns:a16="http://schemas.microsoft.com/office/drawing/2014/main" id="{DBE72CDD-EC5D-944B-A659-1B223E2B97FA}"/>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dirty="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dissolv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24797" y="1886385"/>
            <a:ext cx="7792153" cy="3723917"/>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190354" y="1125157"/>
            <a:ext cx="3636010" cy="1080770"/>
          </a:xfrm>
          <a:custGeom>
            <a:avLst/>
            <a:gdLst/>
            <a:ahLst/>
            <a:cxnLst/>
            <a:rect l="l" t="t" r="r" b="b"/>
            <a:pathLst>
              <a:path w="3636009" h="1080770">
                <a:moveTo>
                  <a:pt x="179197" y="180085"/>
                </a:moveTo>
                <a:lnTo>
                  <a:pt x="185631" y="132218"/>
                </a:lnTo>
                <a:lnTo>
                  <a:pt x="203787" y="89201"/>
                </a:lnTo>
                <a:lnTo>
                  <a:pt x="231949" y="52752"/>
                </a:lnTo>
                <a:lnTo>
                  <a:pt x="268398" y="24590"/>
                </a:lnTo>
                <a:lnTo>
                  <a:pt x="311415" y="6434"/>
                </a:lnTo>
                <a:lnTo>
                  <a:pt x="359283" y="0"/>
                </a:lnTo>
                <a:lnTo>
                  <a:pt x="755268" y="0"/>
                </a:lnTo>
                <a:lnTo>
                  <a:pt x="1619377" y="0"/>
                </a:lnTo>
                <a:lnTo>
                  <a:pt x="3455542" y="0"/>
                </a:lnTo>
                <a:lnTo>
                  <a:pt x="3503410" y="6434"/>
                </a:lnTo>
                <a:lnTo>
                  <a:pt x="3546427" y="24590"/>
                </a:lnTo>
                <a:lnTo>
                  <a:pt x="3582876" y="52752"/>
                </a:lnTo>
                <a:lnTo>
                  <a:pt x="3611038" y="89201"/>
                </a:lnTo>
                <a:lnTo>
                  <a:pt x="3629194" y="132218"/>
                </a:lnTo>
                <a:lnTo>
                  <a:pt x="3635629" y="180085"/>
                </a:lnTo>
                <a:lnTo>
                  <a:pt x="3635629" y="630300"/>
                </a:lnTo>
                <a:lnTo>
                  <a:pt x="3635629" y="900429"/>
                </a:lnTo>
                <a:lnTo>
                  <a:pt x="3629194" y="948297"/>
                </a:lnTo>
                <a:lnTo>
                  <a:pt x="3611038" y="991314"/>
                </a:lnTo>
                <a:lnTo>
                  <a:pt x="3582876" y="1027763"/>
                </a:lnTo>
                <a:lnTo>
                  <a:pt x="3546427" y="1055925"/>
                </a:lnTo>
                <a:lnTo>
                  <a:pt x="3503410" y="1074081"/>
                </a:lnTo>
                <a:lnTo>
                  <a:pt x="3455542" y="1080515"/>
                </a:lnTo>
                <a:lnTo>
                  <a:pt x="1619377" y="1080515"/>
                </a:lnTo>
                <a:lnTo>
                  <a:pt x="755268" y="1080515"/>
                </a:lnTo>
                <a:lnTo>
                  <a:pt x="359283" y="1080515"/>
                </a:lnTo>
                <a:lnTo>
                  <a:pt x="311415" y="1074081"/>
                </a:lnTo>
                <a:lnTo>
                  <a:pt x="268398" y="1055925"/>
                </a:lnTo>
                <a:lnTo>
                  <a:pt x="231949" y="1027763"/>
                </a:lnTo>
                <a:lnTo>
                  <a:pt x="203787" y="991314"/>
                </a:lnTo>
                <a:lnTo>
                  <a:pt x="185631" y="948297"/>
                </a:lnTo>
                <a:lnTo>
                  <a:pt x="179197" y="900429"/>
                </a:lnTo>
                <a:lnTo>
                  <a:pt x="0" y="928877"/>
                </a:lnTo>
                <a:lnTo>
                  <a:pt x="179197" y="630300"/>
                </a:lnTo>
                <a:lnTo>
                  <a:pt x="179197" y="180085"/>
                </a:lnTo>
                <a:close/>
              </a:path>
            </a:pathLst>
          </a:custGeom>
          <a:ln w="10668">
            <a:solidFill>
              <a:srgbClr val="994633"/>
            </a:solidFill>
            <a:prstDash val="sysDash"/>
          </a:ln>
        </p:spPr>
        <p:txBody>
          <a:bodyPr wrap="square" lIns="0" tIns="0" rIns="0" bIns="0" rtlCol="0"/>
          <a:lstStyle/>
          <a:p>
            <a:endParaRPr/>
          </a:p>
        </p:txBody>
      </p:sp>
      <p:grpSp>
        <p:nvGrpSpPr>
          <p:cNvPr id="24" name="Group 23">
            <a:extLst>
              <a:ext uri="{FF2B5EF4-FFF2-40B4-BE49-F238E27FC236}">
                <a16:creationId xmlns:a16="http://schemas.microsoft.com/office/drawing/2014/main" id="{EC7CF257-44A2-CF4F-97EA-75E11B4775D6}"/>
              </a:ext>
            </a:extLst>
          </p:cNvPr>
          <p:cNvGrpSpPr/>
          <p:nvPr/>
        </p:nvGrpSpPr>
        <p:grpSpPr>
          <a:xfrm>
            <a:off x="5169333" y="1146177"/>
            <a:ext cx="3636010" cy="1080770"/>
            <a:chOff x="5169333" y="1146177"/>
            <a:chExt cx="3636010" cy="1080770"/>
          </a:xfrm>
        </p:grpSpPr>
        <p:sp>
          <p:nvSpPr>
            <p:cNvPr id="3" name="object 3"/>
            <p:cNvSpPr/>
            <p:nvPr/>
          </p:nvSpPr>
          <p:spPr>
            <a:xfrm>
              <a:off x="5169333" y="1146177"/>
              <a:ext cx="3636010" cy="1080770"/>
            </a:xfrm>
            <a:custGeom>
              <a:avLst/>
              <a:gdLst/>
              <a:ahLst/>
              <a:cxnLst/>
              <a:rect l="l" t="t" r="r" b="b"/>
              <a:pathLst>
                <a:path w="3636009" h="1080770">
                  <a:moveTo>
                    <a:pt x="3635629" y="900429"/>
                  </a:moveTo>
                  <a:lnTo>
                    <a:pt x="179197" y="900429"/>
                  </a:lnTo>
                  <a:lnTo>
                    <a:pt x="185631" y="948297"/>
                  </a:lnTo>
                  <a:lnTo>
                    <a:pt x="203787" y="991314"/>
                  </a:lnTo>
                  <a:lnTo>
                    <a:pt x="231949" y="1027763"/>
                  </a:lnTo>
                  <a:lnTo>
                    <a:pt x="268398" y="1055925"/>
                  </a:lnTo>
                  <a:lnTo>
                    <a:pt x="311415" y="1074081"/>
                  </a:lnTo>
                  <a:lnTo>
                    <a:pt x="359283" y="1080515"/>
                  </a:lnTo>
                  <a:lnTo>
                    <a:pt x="3455542" y="1080515"/>
                  </a:lnTo>
                  <a:lnTo>
                    <a:pt x="3503410" y="1074081"/>
                  </a:lnTo>
                  <a:lnTo>
                    <a:pt x="3546427" y="1055925"/>
                  </a:lnTo>
                  <a:lnTo>
                    <a:pt x="3582876" y="1027763"/>
                  </a:lnTo>
                  <a:lnTo>
                    <a:pt x="3611038" y="991314"/>
                  </a:lnTo>
                  <a:lnTo>
                    <a:pt x="3629194" y="948297"/>
                  </a:lnTo>
                  <a:lnTo>
                    <a:pt x="3635629" y="900429"/>
                  </a:lnTo>
                  <a:close/>
                </a:path>
                <a:path w="3636009" h="1080770">
                  <a:moveTo>
                    <a:pt x="3455542" y="0"/>
                  </a:moveTo>
                  <a:lnTo>
                    <a:pt x="359283" y="0"/>
                  </a:lnTo>
                  <a:lnTo>
                    <a:pt x="311415" y="6434"/>
                  </a:lnTo>
                  <a:lnTo>
                    <a:pt x="268398" y="24590"/>
                  </a:lnTo>
                  <a:lnTo>
                    <a:pt x="231949" y="52752"/>
                  </a:lnTo>
                  <a:lnTo>
                    <a:pt x="203787" y="89201"/>
                  </a:lnTo>
                  <a:lnTo>
                    <a:pt x="185631" y="132218"/>
                  </a:lnTo>
                  <a:lnTo>
                    <a:pt x="179197" y="180085"/>
                  </a:lnTo>
                  <a:lnTo>
                    <a:pt x="179197" y="630300"/>
                  </a:lnTo>
                  <a:lnTo>
                    <a:pt x="0" y="928877"/>
                  </a:lnTo>
                  <a:lnTo>
                    <a:pt x="179197" y="900429"/>
                  </a:lnTo>
                  <a:lnTo>
                    <a:pt x="3635629" y="900429"/>
                  </a:lnTo>
                  <a:lnTo>
                    <a:pt x="3635629" y="180085"/>
                  </a:lnTo>
                  <a:lnTo>
                    <a:pt x="3629194" y="132218"/>
                  </a:lnTo>
                  <a:lnTo>
                    <a:pt x="3611038" y="89201"/>
                  </a:lnTo>
                  <a:lnTo>
                    <a:pt x="3582876" y="52752"/>
                  </a:lnTo>
                  <a:lnTo>
                    <a:pt x="3546427" y="24590"/>
                  </a:lnTo>
                  <a:lnTo>
                    <a:pt x="3503410" y="6434"/>
                  </a:lnTo>
                  <a:lnTo>
                    <a:pt x="3455542" y="0"/>
                  </a:lnTo>
                  <a:close/>
                </a:path>
              </a:pathLst>
            </a:custGeom>
            <a:solidFill>
              <a:srgbClr val="00FDFF"/>
            </a:solidFill>
          </p:spPr>
          <p:txBody>
            <a:bodyPr wrap="square" lIns="0" tIns="0" rIns="0" bIns="0" rtlCol="0"/>
            <a:lstStyle/>
            <a:p>
              <a:endParaRPr/>
            </a:p>
          </p:txBody>
        </p:sp>
        <p:sp>
          <p:nvSpPr>
            <p:cNvPr id="5" name="object 5"/>
            <p:cNvSpPr txBox="1"/>
            <p:nvPr/>
          </p:nvSpPr>
          <p:spPr>
            <a:xfrm>
              <a:off x="5501123" y="1232346"/>
              <a:ext cx="3026410" cy="848994"/>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Georgia"/>
                  <a:cs typeface="Georgia"/>
                </a:rPr>
                <a:t>The </a:t>
              </a:r>
              <a:r>
                <a:rPr sz="1800" spc="-5" dirty="0">
                  <a:latin typeface="Georgia"/>
                  <a:cs typeface="Georgia"/>
                </a:rPr>
                <a:t>forwarding table </a:t>
              </a:r>
              <a:r>
                <a:rPr sz="1800" dirty="0">
                  <a:latin typeface="Georgia"/>
                  <a:cs typeface="Georgia"/>
                </a:rPr>
                <a:t>(FT) is  </a:t>
              </a:r>
              <a:r>
                <a:rPr sz="1800" b="1" spc="-5" dirty="0">
                  <a:latin typeface="Georgia"/>
                  <a:cs typeface="Georgia"/>
                </a:rPr>
                <a:t>computed and updated</a:t>
              </a:r>
              <a:r>
                <a:rPr sz="1800" b="1" spc="-70" dirty="0">
                  <a:latin typeface="Georgia"/>
                  <a:cs typeface="Georgia"/>
                </a:rPr>
                <a:t> </a:t>
              </a:r>
              <a:r>
                <a:rPr sz="1800" spc="-5" dirty="0">
                  <a:latin typeface="Georgia"/>
                  <a:cs typeface="Georgia"/>
                </a:rPr>
                <a:t>by  the routing</a:t>
              </a:r>
              <a:r>
                <a:rPr sz="1800" spc="0" dirty="0">
                  <a:latin typeface="Georgia"/>
                  <a:cs typeface="Georgia"/>
                </a:rPr>
                <a:t> </a:t>
              </a:r>
              <a:r>
                <a:rPr sz="1800" spc="-5" dirty="0">
                  <a:latin typeface="Georgia"/>
                  <a:cs typeface="Georgia"/>
                </a:rPr>
                <a:t>processor</a:t>
              </a:r>
              <a:endParaRPr sz="1800">
                <a:latin typeface="Georgia"/>
                <a:cs typeface="Georgia"/>
              </a:endParaRPr>
            </a:p>
          </p:txBody>
        </p:sp>
      </p:grpSp>
      <p:sp>
        <p:nvSpPr>
          <p:cNvPr id="7" name="object 7"/>
          <p:cNvSpPr/>
          <p:nvPr/>
        </p:nvSpPr>
        <p:spPr>
          <a:xfrm>
            <a:off x="760976" y="1556450"/>
            <a:ext cx="2569210" cy="2241550"/>
          </a:xfrm>
          <a:custGeom>
            <a:avLst/>
            <a:gdLst/>
            <a:ahLst/>
            <a:cxnLst/>
            <a:rect l="l" t="t" r="r" b="b"/>
            <a:pathLst>
              <a:path w="2569210" h="2241550">
                <a:moveTo>
                  <a:pt x="0" y="144018"/>
                </a:moveTo>
                <a:lnTo>
                  <a:pt x="7342" y="98511"/>
                </a:lnTo>
                <a:lnTo>
                  <a:pt x="27786" y="58978"/>
                </a:lnTo>
                <a:lnTo>
                  <a:pt x="58962" y="27797"/>
                </a:lnTo>
                <a:lnTo>
                  <a:pt x="98496" y="7345"/>
                </a:lnTo>
                <a:lnTo>
                  <a:pt x="144018" y="0"/>
                </a:lnTo>
                <a:lnTo>
                  <a:pt x="1344168" y="0"/>
                </a:lnTo>
                <a:lnTo>
                  <a:pt x="1920240" y="0"/>
                </a:lnTo>
                <a:lnTo>
                  <a:pt x="2160270" y="0"/>
                </a:lnTo>
                <a:lnTo>
                  <a:pt x="2205776" y="7345"/>
                </a:lnTo>
                <a:lnTo>
                  <a:pt x="2245309" y="27797"/>
                </a:lnTo>
                <a:lnTo>
                  <a:pt x="2276490" y="58978"/>
                </a:lnTo>
                <a:lnTo>
                  <a:pt x="2296942" y="98511"/>
                </a:lnTo>
                <a:lnTo>
                  <a:pt x="2304288" y="144018"/>
                </a:lnTo>
                <a:lnTo>
                  <a:pt x="2304288" y="504063"/>
                </a:lnTo>
                <a:lnTo>
                  <a:pt x="2304288" y="720090"/>
                </a:lnTo>
                <a:lnTo>
                  <a:pt x="2296942" y="765596"/>
                </a:lnTo>
                <a:lnTo>
                  <a:pt x="2276490" y="805129"/>
                </a:lnTo>
                <a:lnTo>
                  <a:pt x="2245309" y="836310"/>
                </a:lnTo>
                <a:lnTo>
                  <a:pt x="2205776" y="856762"/>
                </a:lnTo>
                <a:lnTo>
                  <a:pt x="2160270" y="864108"/>
                </a:lnTo>
                <a:lnTo>
                  <a:pt x="1920240" y="864108"/>
                </a:lnTo>
                <a:lnTo>
                  <a:pt x="2569210" y="2241423"/>
                </a:lnTo>
                <a:lnTo>
                  <a:pt x="1344168" y="864108"/>
                </a:lnTo>
                <a:lnTo>
                  <a:pt x="144018" y="864108"/>
                </a:lnTo>
                <a:lnTo>
                  <a:pt x="98496" y="856762"/>
                </a:lnTo>
                <a:lnTo>
                  <a:pt x="58962" y="836310"/>
                </a:lnTo>
                <a:lnTo>
                  <a:pt x="27786" y="805129"/>
                </a:lnTo>
                <a:lnTo>
                  <a:pt x="7342" y="765596"/>
                </a:lnTo>
                <a:lnTo>
                  <a:pt x="0" y="720090"/>
                </a:lnTo>
                <a:lnTo>
                  <a:pt x="0" y="504063"/>
                </a:lnTo>
                <a:lnTo>
                  <a:pt x="0" y="144018"/>
                </a:lnTo>
                <a:close/>
              </a:path>
            </a:pathLst>
          </a:custGeom>
          <a:ln w="10668">
            <a:solidFill>
              <a:srgbClr val="994633"/>
            </a:solidFill>
            <a:prstDash val="sysDash"/>
          </a:ln>
        </p:spPr>
        <p:txBody>
          <a:bodyPr wrap="square" lIns="0" tIns="0" rIns="0" bIns="0" rtlCol="0"/>
          <a:lstStyle/>
          <a:p>
            <a:endParaRPr/>
          </a:p>
        </p:txBody>
      </p:sp>
      <p:sp>
        <p:nvSpPr>
          <p:cNvPr id="11" name="object 11"/>
          <p:cNvSpPr/>
          <p:nvPr/>
        </p:nvSpPr>
        <p:spPr>
          <a:xfrm>
            <a:off x="2345935" y="5356924"/>
            <a:ext cx="2159635" cy="1096645"/>
          </a:xfrm>
          <a:custGeom>
            <a:avLst/>
            <a:gdLst/>
            <a:ahLst/>
            <a:cxnLst/>
            <a:rect l="l" t="t" r="r" b="b"/>
            <a:pathLst>
              <a:path w="2159635" h="1096645">
                <a:moveTo>
                  <a:pt x="0" y="496697"/>
                </a:moveTo>
                <a:lnTo>
                  <a:pt x="9427" y="450050"/>
                </a:lnTo>
                <a:lnTo>
                  <a:pt x="35131" y="411940"/>
                </a:lnTo>
                <a:lnTo>
                  <a:pt x="73241" y="386236"/>
                </a:lnTo>
                <a:lnTo>
                  <a:pt x="119887" y="376809"/>
                </a:lnTo>
                <a:lnTo>
                  <a:pt x="359918" y="376809"/>
                </a:lnTo>
                <a:lnTo>
                  <a:pt x="970914" y="0"/>
                </a:lnTo>
                <a:lnTo>
                  <a:pt x="899794" y="376809"/>
                </a:lnTo>
                <a:lnTo>
                  <a:pt x="2039620" y="376809"/>
                </a:lnTo>
                <a:lnTo>
                  <a:pt x="2086266" y="386236"/>
                </a:lnTo>
                <a:lnTo>
                  <a:pt x="2124376" y="411940"/>
                </a:lnTo>
                <a:lnTo>
                  <a:pt x="2150080" y="450050"/>
                </a:lnTo>
                <a:lnTo>
                  <a:pt x="2159508" y="496697"/>
                </a:lnTo>
                <a:lnTo>
                  <a:pt x="2159508" y="676529"/>
                </a:lnTo>
                <a:lnTo>
                  <a:pt x="2159508" y="976249"/>
                </a:lnTo>
                <a:lnTo>
                  <a:pt x="2150080" y="1022895"/>
                </a:lnTo>
                <a:lnTo>
                  <a:pt x="2124376" y="1061005"/>
                </a:lnTo>
                <a:lnTo>
                  <a:pt x="2086266" y="1086709"/>
                </a:lnTo>
                <a:lnTo>
                  <a:pt x="2039620" y="1096137"/>
                </a:lnTo>
                <a:lnTo>
                  <a:pt x="899794" y="1096137"/>
                </a:lnTo>
                <a:lnTo>
                  <a:pt x="359918" y="1096137"/>
                </a:lnTo>
                <a:lnTo>
                  <a:pt x="119887" y="1096137"/>
                </a:lnTo>
                <a:lnTo>
                  <a:pt x="73241" y="1086709"/>
                </a:lnTo>
                <a:lnTo>
                  <a:pt x="35131" y="1061005"/>
                </a:lnTo>
                <a:lnTo>
                  <a:pt x="9427" y="1022895"/>
                </a:lnTo>
                <a:lnTo>
                  <a:pt x="0" y="976249"/>
                </a:lnTo>
                <a:lnTo>
                  <a:pt x="0" y="676529"/>
                </a:lnTo>
                <a:lnTo>
                  <a:pt x="0" y="496697"/>
                </a:lnTo>
                <a:close/>
              </a:path>
            </a:pathLst>
          </a:custGeom>
          <a:ln w="10668">
            <a:solidFill>
              <a:srgbClr val="994633"/>
            </a:solidFill>
            <a:prstDash val="sysDash"/>
          </a:ln>
        </p:spPr>
        <p:txBody>
          <a:bodyPr wrap="square" lIns="0" tIns="0" rIns="0" bIns="0" rtlCol="0"/>
          <a:lstStyle/>
          <a:p>
            <a:endParaRPr/>
          </a:p>
        </p:txBody>
      </p:sp>
      <p:grpSp>
        <p:nvGrpSpPr>
          <p:cNvPr id="26" name="Group 25">
            <a:extLst>
              <a:ext uri="{FF2B5EF4-FFF2-40B4-BE49-F238E27FC236}">
                <a16:creationId xmlns:a16="http://schemas.microsoft.com/office/drawing/2014/main" id="{22820564-892E-E54B-BE63-47110DED5389}"/>
              </a:ext>
            </a:extLst>
          </p:cNvPr>
          <p:cNvGrpSpPr/>
          <p:nvPr/>
        </p:nvGrpSpPr>
        <p:grpSpPr>
          <a:xfrm>
            <a:off x="2345935" y="5356924"/>
            <a:ext cx="2159635" cy="1096645"/>
            <a:chOff x="2345935" y="5356924"/>
            <a:chExt cx="2159635" cy="1096645"/>
          </a:xfrm>
        </p:grpSpPr>
        <p:sp>
          <p:nvSpPr>
            <p:cNvPr id="10" name="object 10"/>
            <p:cNvSpPr/>
            <p:nvPr/>
          </p:nvSpPr>
          <p:spPr>
            <a:xfrm>
              <a:off x="2345935" y="5356924"/>
              <a:ext cx="2159635" cy="1096645"/>
            </a:xfrm>
            <a:custGeom>
              <a:avLst/>
              <a:gdLst/>
              <a:ahLst/>
              <a:cxnLst/>
              <a:rect l="l" t="t" r="r" b="b"/>
              <a:pathLst>
                <a:path w="2159635" h="1096645">
                  <a:moveTo>
                    <a:pt x="2039620" y="376809"/>
                  </a:moveTo>
                  <a:lnTo>
                    <a:pt x="119887" y="376809"/>
                  </a:lnTo>
                  <a:lnTo>
                    <a:pt x="73241" y="386236"/>
                  </a:lnTo>
                  <a:lnTo>
                    <a:pt x="35131" y="411940"/>
                  </a:lnTo>
                  <a:lnTo>
                    <a:pt x="9427" y="450050"/>
                  </a:lnTo>
                  <a:lnTo>
                    <a:pt x="0" y="496697"/>
                  </a:lnTo>
                  <a:lnTo>
                    <a:pt x="0" y="976249"/>
                  </a:lnTo>
                  <a:lnTo>
                    <a:pt x="9427" y="1022895"/>
                  </a:lnTo>
                  <a:lnTo>
                    <a:pt x="35131" y="1061005"/>
                  </a:lnTo>
                  <a:lnTo>
                    <a:pt x="73241" y="1086709"/>
                  </a:lnTo>
                  <a:lnTo>
                    <a:pt x="119887" y="1096137"/>
                  </a:lnTo>
                  <a:lnTo>
                    <a:pt x="2039620" y="1096137"/>
                  </a:lnTo>
                  <a:lnTo>
                    <a:pt x="2086266" y="1086709"/>
                  </a:lnTo>
                  <a:lnTo>
                    <a:pt x="2124376" y="1061005"/>
                  </a:lnTo>
                  <a:lnTo>
                    <a:pt x="2150080" y="1022895"/>
                  </a:lnTo>
                  <a:lnTo>
                    <a:pt x="2159508" y="976249"/>
                  </a:lnTo>
                  <a:lnTo>
                    <a:pt x="2159508" y="496697"/>
                  </a:lnTo>
                  <a:lnTo>
                    <a:pt x="2150080" y="450050"/>
                  </a:lnTo>
                  <a:lnTo>
                    <a:pt x="2124376" y="411940"/>
                  </a:lnTo>
                  <a:lnTo>
                    <a:pt x="2086266" y="386236"/>
                  </a:lnTo>
                  <a:lnTo>
                    <a:pt x="2039620" y="376809"/>
                  </a:lnTo>
                  <a:close/>
                </a:path>
                <a:path w="2159635" h="1096645">
                  <a:moveTo>
                    <a:pt x="970914" y="0"/>
                  </a:moveTo>
                  <a:lnTo>
                    <a:pt x="359918" y="376809"/>
                  </a:lnTo>
                  <a:lnTo>
                    <a:pt x="899794" y="376809"/>
                  </a:lnTo>
                  <a:lnTo>
                    <a:pt x="970914" y="0"/>
                  </a:lnTo>
                  <a:close/>
                </a:path>
              </a:pathLst>
            </a:custGeom>
            <a:solidFill>
              <a:srgbClr val="00FDFF"/>
            </a:solidFill>
          </p:spPr>
          <p:txBody>
            <a:bodyPr wrap="square" lIns="0" tIns="0" rIns="0" bIns="0" rtlCol="0"/>
            <a:lstStyle/>
            <a:p>
              <a:endParaRPr/>
            </a:p>
          </p:txBody>
        </p:sp>
        <p:sp>
          <p:nvSpPr>
            <p:cNvPr id="12" name="object 12"/>
            <p:cNvSpPr txBox="1"/>
            <p:nvPr/>
          </p:nvSpPr>
          <p:spPr>
            <a:xfrm>
              <a:off x="2458712" y="5798885"/>
              <a:ext cx="1920239" cy="574675"/>
            </a:xfrm>
            <a:prstGeom prst="rect">
              <a:avLst/>
            </a:prstGeom>
          </p:spPr>
          <p:txBody>
            <a:bodyPr vert="horz" wrap="square" lIns="0" tIns="12700" rIns="0" bIns="0" rtlCol="0">
              <a:spAutoFit/>
            </a:bodyPr>
            <a:lstStyle/>
            <a:p>
              <a:pPr marL="12700">
                <a:lnSpc>
                  <a:spcPct val="100000"/>
                </a:lnSpc>
                <a:spcBef>
                  <a:spcPts val="100"/>
                </a:spcBef>
              </a:pPr>
              <a:r>
                <a:rPr sz="1800" spc="-5" dirty="0">
                  <a:latin typeface="Georgia"/>
                  <a:cs typeface="Georgia"/>
                </a:rPr>
                <a:t>Lookup</a:t>
              </a:r>
              <a:r>
                <a:rPr sz="1800" spc="-50" dirty="0">
                  <a:latin typeface="Georgia"/>
                  <a:cs typeface="Georgia"/>
                </a:rPr>
                <a:t> </a:t>
              </a:r>
              <a:r>
                <a:rPr sz="1800" spc="-5" dirty="0">
                  <a:latin typeface="Georgia"/>
                  <a:cs typeface="Georgia"/>
                </a:rPr>
                <a:t>performed</a:t>
              </a:r>
              <a:endParaRPr sz="1800">
                <a:latin typeface="Georgia"/>
                <a:cs typeface="Georgia"/>
              </a:endParaRPr>
            </a:p>
            <a:p>
              <a:pPr marL="12700">
                <a:lnSpc>
                  <a:spcPct val="100000"/>
                </a:lnSpc>
              </a:pPr>
              <a:r>
                <a:rPr sz="1800" dirty="0">
                  <a:latin typeface="Georgia"/>
                  <a:cs typeface="Georgia"/>
                </a:rPr>
                <a:t>in </a:t>
              </a:r>
              <a:r>
                <a:rPr sz="1800" spc="-5" dirty="0">
                  <a:latin typeface="Georgia"/>
                  <a:cs typeface="Georgia"/>
                </a:rPr>
                <a:t>the </a:t>
              </a:r>
              <a:r>
                <a:rPr sz="1800" dirty="0">
                  <a:latin typeface="Georgia"/>
                  <a:cs typeface="Georgia"/>
                </a:rPr>
                <a:t>input</a:t>
              </a:r>
              <a:r>
                <a:rPr sz="1800" spc="-40" dirty="0">
                  <a:latin typeface="Georgia"/>
                  <a:cs typeface="Georgia"/>
                </a:rPr>
                <a:t> </a:t>
              </a:r>
              <a:r>
                <a:rPr sz="1800" spc="-5" dirty="0">
                  <a:latin typeface="Georgia"/>
                  <a:cs typeface="Georgia"/>
                </a:rPr>
                <a:t>port</a:t>
              </a:r>
              <a:endParaRPr sz="1800">
                <a:latin typeface="Georgia"/>
                <a:cs typeface="Georgia"/>
              </a:endParaRPr>
            </a:p>
          </p:txBody>
        </p:sp>
      </p:grpSp>
      <p:sp>
        <p:nvSpPr>
          <p:cNvPr id="14" name="object 14"/>
          <p:cNvSpPr/>
          <p:nvPr/>
        </p:nvSpPr>
        <p:spPr>
          <a:xfrm>
            <a:off x="4712072" y="5318443"/>
            <a:ext cx="2457450" cy="847090"/>
          </a:xfrm>
          <a:custGeom>
            <a:avLst/>
            <a:gdLst/>
            <a:ahLst/>
            <a:cxnLst/>
            <a:rect l="l" t="t" r="r" b="b"/>
            <a:pathLst>
              <a:path w="2457450" h="847089">
                <a:moveTo>
                  <a:pt x="297815" y="306831"/>
                </a:moveTo>
                <a:lnTo>
                  <a:pt x="306306" y="264836"/>
                </a:lnTo>
                <a:lnTo>
                  <a:pt x="329453" y="230520"/>
                </a:lnTo>
                <a:lnTo>
                  <a:pt x="363769" y="207373"/>
                </a:lnTo>
                <a:lnTo>
                  <a:pt x="405765" y="198881"/>
                </a:lnTo>
                <a:lnTo>
                  <a:pt x="657733" y="198881"/>
                </a:lnTo>
                <a:lnTo>
                  <a:pt x="0" y="0"/>
                </a:lnTo>
                <a:lnTo>
                  <a:pt x="1197610" y="198881"/>
                </a:lnTo>
                <a:lnTo>
                  <a:pt x="2349373" y="198881"/>
                </a:lnTo>
                <a:lnTo>
                  <a:pt x="2391368" y="207373"/>
                </a:lnTo>
                <a:lnTo>
                  <a:pt x="2425684" y="230520"/>
                </a:lnTo>
                <a:lnTo>
                  <a:pt x="2448831" y="264836"/>
                </a:lnTo>
                <a:lnTo>
                  <a:pt x="2457323" y="306831"/>
                </a:lnTo>
                <a:lnTo>
                  <a:pt x="2457323" y="468756"/>
                </a:lnTo>
                <a:lnTo>
                  <a:pt x="2457323" y="738632"/>
                </a:lnTo>
                <a:lnTo>
                  <a:pt x="2448831" y="780627"/>
                </a:lnTo>
                <a:lnTo>
                  <a:pt x="2425684" y="814943"/>
                </a:lnTo>
                <a:lnTo>
                  <a:pt x="2391368" y="838090"/>
                </a:lnTo>
                <a:lnTo>
                  <a:pt x="2349373" y="846582"/>
                </a:lnTo>
                <a:lnTo>
                  <a:pt x="1197610" y="846582"/>
                </a:lnTo>
                <a:lnTo>
                  <a:pt x="657733" y="846582"/>
                </a:lnTo>
                <a:lnTo>
                  <a:pt x="405765" y="846582"/>
                </a:lnTo>
                <a:lnTo>
                  <a:pt x="363769" y="838090"/>
                </a:lnTo>
                <a:lnTo>
                  <a:pt x="329453" y="814943"/>
                </a:lnTo>
                <a:lnTo>
                  <a:pt x="306306" y="780627"/>
                </a:lnTo>
                <a:lnTo>
                  <a:pt x="297815" y="738632"/>
                </a:lnTo>
                <a:lnTo>
                  <a:pt x="297815" y="468756"/>
                </a:lnTo>
                <a:lnTo>
                  <a:pt x="297815" y="306831"/>
                </a:lnTo>
                <a:close/>
              </a:path>
            </a:pathLst>
          </a:custGeom>
          <a:ln w="10668">
            <a:solidFill>
              <a:srgbClr val="994633"/>
            </a:solidFill>
            <a:prstDash val="sysDash"/>
          </a:ln>
        </p:spPr>
        <p:txBody>
          <a:bodyPr wrap="square" lIns="0" tIns="0" rIns="0" bIns="0" rtlCol="0"/>
          <a:lstStyle/>
          <a:p>
            <a:endParaRPr/>
          </a:p>
        </p:txBody>
      </p:sp>
      <p:grpSp>
        <p:nvGrpSpPr>
          <p:cNvPr id="22" name="Group 21">
            <a:extLst>
              <a:ext uri="{FF2B5EF4-FFF2-40B4-BE49-F238E27FC236}">
                <a16:creationId xmlns:a16="http://schemas.microsoft.com/office/drawing/2014/main" id="{B3DB32B3-729F-3A40-98EF-D20A4F9300A8}"/>
              </a:ext>
            </a:extLst>
          </p:cNvPr>
          <p:cNvGrpSpPr/>
          <p:nvPr/>
        </p:nvGrpSpPr>
        <p:grpSpPr>
          <a:xfrm>
            <a:off x="4712072" y="5318443"/>
            <a:ext cx="2457450" cy="847090"/>
            <a:chOff x="4491354" y="4383023"/>
            <a:chExt cx="2457450" cy="847090"/>
          </a:xfrm>
          <a:solidFill>
            <a:srgbClr val="00FDFF"/>
          </a:solidFill>
        </p:grpSpPr>
        <p:sp>
          <p:nvSpPr>
            <p:cNvPr id="13" name="object 13"/>
            <p:cNvSpPr/>
            <p:nvPr/>
          </p:nvSpPr>
          <p:spPr>
            <a:xfrm>
              <a:off x="4491354" y="4383023"/>
              <a:ext cx="2457450" cy="847090"/>
            </a:xfrm>
            <a:custGeom>
              <a:avLst/>
              <a:gdLst/>
              <a:ahLst/>
              <a:cxnLst/>
              <a:rect l="l" t="t" r="r" b="b"/>
              <a:pathLst>
                <a:path w="2457450" h="847089">
                  <a:moveTo>
                    <a:pt x="2349373" y="198881"/>
                  </a:moveTo>
                  <a:lnTo>
                    <a:pt x="405765" y="198881"/>
                  </a:lnTo>
                  <a:lnTo>
                    <a:pt x="363769" y="207373"/>
                  </a:lnTo>
                  <a:lnTo>
                    <a:pt x="329453" y="230520"/>
                  </a:lnTo>
                  <a:lnTo>
                    <a:pt x="306306" y="264836"/>
                  </a:lnTo>
                  <a:lnTo>
                    <a:pt x="297815" y="306831"/>
                  </a:lnTo>
                  <a:lnTo>
                    <a:pt x="297815" y="738632"/>
                  </a:lnTo>
                  <a:lnTo>
                    <a:pt x="306306" y="780627"/>
                  </a:lnTo>
                  <a:lnTo>
                    <a:pt x="329453" y="814943"/>
                  </a:lnTo>
                  <a:lnTo>
                    <a:pt x="363769" y="838090"/>
                  </a:lnTo>
                  <a:lnTo>
                    <a:pt x="405765" y="846582"/>
                  </a:lnTo>
                  <a:lnTo>
                    <a:pt x="2349373" y="846582"/>
                  </a:lnTo>
                  <a:lnTo>
                    <a:pt x="2391368" y="838090"/>
                  </a:lnTo>
                  <a:lnTo>
                    <a:pt x="2425684" y="814943"/>
                  </a:lnTo>
                  <a:lnTo>
                    <a:pt x="2448831" y="780627"/>
                  </a:lnTo>
                  <a:lnTo>
                    <a:pt x="2457323" y="738632"/>
                  </a:lnTo>
                  <a:lnTo>
                    <a:pt x="2457323" y="306831"/>
                  </a:lnTo>
                  <a:lnTo>
                    <a:pt x="2448831" y="264836"/>
                  </a:lnTo>
                  <a:lnTo>
                    <a:pt x="2425684" y="230520"/>
                  </a:lnTo>
                  <a:lnTo>
                    <a:pt x="2391368" y="207373"/>
                  </a:lnTo>
                  <a:lnTo>
                    <a:pt x="2349373" y="198881"/>
                  </a:lnTo>
                  <a:close/>
                </a:path>
                <a:path w="2457450" h="847089">
                  <a:moveTo>
                    <a:pt x="0" y="0"/>
                  </a:moveTo>
                  <a:lnTo>
                    <a:pt x="657733" y="198881"/>
                  </a:lnTo>
                  <a:lnTo>
                    <a:pt x="1197610" y="198881"/>
                  </a:lnTo>
                  <a:lnTo>
                    <a:pt x="0" y="0"/>
                  </a:lnTo>
                  <a:close/>
                </a:path>
              </a:pathLst>
            </a:custGeom>
            <a:grpFill/>
          </p:spPr>
          <p:txBody>
            <a:bodyPr wrap="square" lIns="0" tIns="0" rIns="0" bIns="0" rtlCol="0"/>
            <a:lstStyle/>
            <a:p>
              <a:endParaRPr/>
            </a:p>
          </p:txBody>
        </p:sp>
        <p:sp>
          <p:nvSpPr>
            <p:cNvPr id="15" name="object 15"/>
            <p:cNvSpPr txBox="1"/>
            <p:nvPr/>
          </p:nvSpPr>
          <p:spPr>
            <a:xfrm>
              <a:off x="4899152" y="4611370"/>
              <a:ext cx="1799589" cy="574675"/>
            </a:xfrm>
            <a:prstGeom prst="rect">
              <a:avLst/>
            </a:prstGeom>
            <a:grpFill/>
          </p:spPr>
          <p:txBody>
            <a:bodyPr vert="horz" wrap="square" lIns="0" tIns="12700" rIns="0" bIns="0" rtlCol="0">
              <a:spAutoFit/>
            </a:bodyPr>
            <a:lstStyle/>
            <a:p>
              <a:pPr marL="12700">
                <a:lnSpc>
                  <a:spcPct val="100000"/>
                </a:lnSpc>
                <a:spcBef>
                  <a:spcPts val="100"/>
                </a:spcBef>
              </a:pPr>
              <a:r>
                <a:rPr sz="1800" spc="-5" dirty="0">
                  <a:latin typeface="Georgia"/>
                  <a:cs typeface="Georgia"/>
                </a:rPr>
                <a:t>forwarded via</a:t>
              </a:r>
              <a:r>
                <a:rPr sz="1800" spc="-35" dirty="0">
                  <a:latin typeface="Georgia"/>
                  <a:cs typeface="Georgia"/>
                </a:rPr>
                <a:t> </a:t>
              </a:r>
              <a:r>
                <a:rPr sz="1800" spc="-5" dirty="0">
                  <a:latin typeface="Georgia"/>
                  <a:cs typeface="Georgia"/>
                </a:rPr>
                <a:t>the</a:t>
              </a:r>
              <a:endParaRPr sz="1800">
                <a:latin typeface="Georgia"/>
                <a:cs typeface="Georgia"/>
              </a:endParaRPr>
            </a:p>
            <a:p>
              <a:pPr marL="12700">
                <a:lnSpc>
                  <a:spcPct val="100000"/>
                </a:lnSpc>
              </a:pPr>
              <a:r>
                <a:rPr sz="1800" spc="-5" dirty="0">
                  <a:latin typeface="Georgia"/>
                  <a:cs typeface="Georgia"/>
                </a:rPr>
                <a:t>switching</a:t>
              </a:r>
              <a:r>
                <a:rPr sz="1800" spc="-35" dirty="0">
                  <a:latin typeface="Georgia"/>
                  <a:cs typeface="Georgia"/>
                </a:rPr>
                <a:t> </a:t>
              </a:r>
              <a:r>
                <a:rPr sz="1800" spc="-5" dirty="0">
                  <a:latin typeface="Georgia"/>
                  <a:cs typeface="Georgia"/>
                </a:rPr>
                <a:t>fabric</a:t>
              </a:r>
              <a:endParaRPr sz="1800">
                <a:latin typeface="Georgia"/>
                <a:cs typeface="Georgia"/>
              </a:endParaRPr>
            </a:p>
          </p:txBody>
        </p:sp>
      </p:grpSp>
      <p:sp>
        <p:nvSpPr>
          <p:cNvPr id="17" name="object 17"/>
          <p:cNvSpPr/>
          <p:nvPr/>
        </p:nvSpPr>
        <p:spPr>
          <a:xfrm>
            <a:off x="472940" y="5384229"/>
            <a:ext cx="1224280" cy="925830"/>
          </a:xfrm>
          <a:custGeom>
            <a:avLst/>
            <a:gdLst/>
            <a:ahLst/>
            <a:cxnLst/>
            <a:rect l="l" t="t" r="r" b="b"/>
            <a:pathLst>
              <a:path w="1224280" h="925829">
                <a:moveTo>
                  <a:pt x="0" y="384556"/>
                </a:moveTo>
                <a:lnTo>
                  <a:pt x="8504" y="342413"/>
                </a:lnTo>
                <a:lnTo>
                  <a:pt x="31694" y="308022"/>
                </a:lnTo>
                <a:lnTo>
                  <a:pt x="66088" y="284847"/>
                </a:lnTo>
                <a:lnTo>
                  <a:pt x="108204" y="276351"/>
                </a:lnTo>
                <a:lnTo>
                  <a:pt x="203962" y="276351"/>
                </a:lnTo>
                <a:lnTo>
                  <a:pt x="384225" y="0"/>
                </a:lnTo>
                <a:lnTo>
                  <a:pt x="509905" y="276351"/>
                </a:lnTo>
                <a:lnTo>
                  <a:pt x="1115568" y="276351"/>
                </a:lnTo>
                <a:lnTo>
                  <a:pt x="1157710" y="284847"/>
                </a:lnTo>
                <a:lnTo>
                  <a:pt x="1192101" y="308022"/>
                </a:lnTo>
                <a:lnTo>
                  <a:pt x="1215276" y="342413"/>
                </a:lnTo>
                <a:lnTo>
                  <a:pt x="1223772" y="384556"/>
                </a:lnTo>
                <a:lnTo>
                  <a:pt x="1223772" y="546862"/>
                </a:lnTo>
                <a:lnTo>
                  <a:pt x="1223772" y="817371"/>
                </a:lnTo>
                <a:lnTo>
                  <a:pt x="1215276" y="859514"/>
                </a:lnTo>
                <a:lnTo>
                  <a:pt x="1192101" y="893905"/>
                </a:lnTo>
                <a:lnTo>
                  <a:pt x="1157710" y="917080"/>
                </a:lnTo>
                <a:lnTo>
                  <a:pt x="1115568" y="925576"/>
                </a:lnTo>
                <a:lnTo>
                  <a:pt x="509905" y="925576"/>
                </a:lnTo>
                <a:lnTo>
                  <a:pt x="203962" y="925576"/>
                </a:lnTo>
                <a:lnTo>
                  <a:pt x="108204" y="925576"/>
                </a:lnTo>
                <a:lnTo>
                  <a:pt x="66088" y="917080"/>
                </a:lnTo>
                <a:lnTo>
                  <a:pt x="31694" y="893905"/>
                </a:lnTo>
                <a:lnTo>
                  <a:pt x="8504" y="859514"/>
                </a:lnTo>
                <a:lnTo>
                  <a:pt x="0" y="817371"/>
                </a:lnTo>
                <a:lnTo>
                  <a:pt x="0" y="546862"/>
                </a:lnTo>
                <a:lnTo>
                  <a:pt x="0" y="384556"/>
                </a:lnTo>
                <a:close/>
              </a:path>
            </a:pathLst>
          </a:custGeom>
          <a:ln w="10668">
            <a:solidFill>
              <a:srgbClr val="994633"/>
            </a:solidFill>
            <a:prstDash val="sysDash"/>
          </a:ln>
        </p:spPr>
        <p:txBody>
          <a:bodyPr wrap="square" lIns="0" tIns="0" rIns="0" bIns="0" rtlCol="0"/>
          <a:lstStyle/>
          <a:p>
            <a:endParaRPr/>
          </a:p>
        </p:txBody>
      </p:sp>
      <p:grpSp>
        <p:nvGrpSpPr>
          <p:cNvPr id="25" name="Group 24">
            <a:extLst>
              <a:ext uri="{FF2B5EF4-FFF2-40B4-BE49-F238E27FC236}">
                <a16:creationId xmlns:a16="http://schemas.microsoft.com/office/drawing/2014/main" id="{FAAD4FDB-1CB9-4843-AA20-1A9DE91631AC}"/>
              </a:ext>
            </a:extLst>
          </p:cNvPr>
          <p:cNvGrpSpPr/>
          <p:nvPr/>
        </p:nvGrpSpPr>
        <p:grpSpPr>
          <a:xfrm>
            <a:off x="483451" y="5384229"/>
            <a:ext cx="1224280" cy="925830"/>
            <a:chOff x="483451" y="5384229"/>
            <a:chExt cx="1224280" cy="925830"/>
          </a:xfrm>
        </p:grpSpPr>
        <p:sp>
          <p:nvSpPr>
            <p:cNvPr id="16" name="object 16"/>
            <p:cNvSpPr/>
            <p:nvPr/>
          </p:nvSpPr>
          <p:spPr>
            <a:xfrm>
              <a:off x="483451" y="5384229"/>
              <a:ext cx="1224280" cy="925830"/>
            </a:xfrm>
            <a:custGeom>
              <a:avLst/>
              <a:gdLst/>
              <a:ahLst/>
              <a:cxnLst/>
              <a:rect l="l" t="t" r="r" b="b"/>
              <a:pathLst>
                <a:path w="1224280" h="925829">
                  <a:moveTo>
                    <a:pt x="1115568" y="276351"/>
                  </a:moveTo>
                  <a:lnTo>
                    <a:pt x="108204" y="276351"/>
                  </a:lnTo>
                  <a:lnTo>
                    <a:pt x="66088" y="284847"/>
                  </a:lnTo>
                  <a:lnTo>
                    <a:pt x="31694" y="308022"/>
                  </a:lnTo>
                  <a:lnTo>
                    <a:pt x="8504" y="342413"/>
                  </a:lnTo>
                  <a:lnTo>
                    <a:pt x="0" y="384556"/>
                  </a:lnTo>
                  <a:lnTo>
                    <a:pt x="0" y="817371"/>
                  </a:lnTo>
                  <a:lnTo>
                    <a:pt x="8504" y="859514"/>
                  </a:lnTo>
                  <a:lnTo>
                    <a:pt x="31694" y="893905"/>
                  </a:lnTo>
                  <a:lnTo>
                    <a:pt x="66088" y="917080"/>
                  </a:lnTo>
                  <a:lnTo>
                    <a:pt x="108204" y="925576"/>
                  </a:lnTo>
                  <a:lnTo>
                    <a:pt x="1115568" y="925576"/>
                  </a:lnTo>
                  <a:lnTo>
                    <a:pt x="1157710" y="917080"/>
                  </a:lnTo>
                  <a:lnTo>
                    <a:pt x="1192101" y="893905"/>
                  </a:lnTo>
                  <a:lnTo>
                    <a:pt x="1215276" y="859514"/>
                  </a:lnTo>
                  <a:lnTo>
                    <a:pt x="1223772" y="817371"/>
                  </a:lnTo>
                  <a:lnTo>
                    <a:pt x="1223772" y="384556"/>
                  </a:lnTo>
                  <a:lnTo>
                    <a:pt x="1215276" y="342413"/>
                  </a:lnTo>
                  <a:lnTo>
                    <a:pt x="1192101" y="308022"/>
                  </a:lnTo>
                  <a:lnTo>
                    <a:pt x="1157710" y="284847"/>
                  </a:lnTo>
                  <a:lnTo>
                    <a:pt x="1115568" y="276351"/>
                  </a:lnTo>
                  <a:close/>
                </a:path>
                <a:path w="1224280" h="925829">
                  <a:moveTo>
                    <a:pt x="384225" y="0"/>
                  </a:moveTo>
                  <a:lnTo>
                    <a:pt x="203962" y="276351"/>
                  </a:lnTo>
                  <a:lnTo>
                    <a:pt x="509905" y="276351"/>
                  </a:lnTo>
                  <a:lnTo>
                    <a:pt x="384225" y="0"/>
                  </a:lnTo>
                  <a:close/>
                </a:path>
              </a:pathLst>
            </a:custGeom>
            <a:solidFill>
              <a:srgbClr val="00FDFF"/>
            </a:solidFill>
          </p:spPr>
          <p:txBody>
            <a:bodyPr wrap="square" lIns="0" tIns="0" rIns="0" bIns="0" rtlCol="0"/>
            <a:lstStyle/>
            <a:p>
              <a:endParaRPr/>
            </a:p>
          </p:txBody>
        </p:sp>
        <p:sp>
          <p:nvSpPr>
            <p:cNvPr id="18" name="object 18"/>
            <p:cNvSpPr txBox="1"/>
            <p:nvPr/>
          </p:nvSpPr>
          <p:spPr>
            <a:xfrm>
              <a:off x="726177" y="5691062"/>
              <a:ext cx="716915" cy="574040"/>
            </a:xfrm>
            <a:prstGeom prst="rect">
              <a:avLst/>
            </a:prstGeom>
          </p:spPr>
          <p:txBody>
            <a:bodyPr vert="horz" wrap="square" lIns="0" tIns="12700" rIns="0" bIns="0" rtlCol="0">
              <a:spAutoFit/>
            </a:bodyPr>
            <a:lstStyle/>
            <a:p>
              <a:pPr marL="12700" marR="5080" indent="10160">
                <a:lnSpc>
                  <a:spcPct val="100000"/>
                </a:lnSpc>
                <a:spcBef>
                  <a:spcPts val="100"/>
                </a:spcBef>
              </a:pPr>
              <a:r>
                <a:rPr sz="1800" spc="-10" dirty="0">
                  <a:latin typeface="Georgia"/>
                  <a:cs typeface="Georgia"/>
                </a:rPr>
                <a:t>P</a:t>
              </a:r>
              <a:r>
                <a:rPr sz="1800" dirty="0">
                  <a:latin typeface="Georgia"/>
                  <a:cs typeface="Georgia"/>
                </a:rPr>
                <a:t>acket  ar</a:t>
              </a:r>
              <a:r>
                <a:rPr sz="1800" spc="-10" dirty="0">
                  <a:latin typeface="Georgia"/>
                  <a:cs typeface="Georgia"/>
                </a:rPr>
                <a:t>r</a:t>
              </a:r>
              <a:r>
                <a:rPr sz="1800" dirty="0">
                  <a:latin typeface="Georgia"/>
                  <a:cs typeface="Georgia"/>
                </a:rPr>
                <a:t>i</a:t>
              </a:r>
              <a:r>
                <a:rPr sz="1800" spc="-10" dirty="0">
                  <a:latin typeface="Georgia"/>
                  <a:cs typeface="Georgia"/>
                </a:rPr>
                <a:t>v</a:t>
              </a:r>
              <a:r>
                <a:rPr sz="1800" dirty="0">
                  <a:latin typeface="Georgia"/>
                  <a:cs typeface="Georgia"/>
                </a:rPr>
                <a:t>es</a:t>
              </a:r>
              <a:endParaRPr sz="1800">
                <a:latin typeface="Georgia"/>
                <a:cs typeface="Georgia"/>
              </a:endParaRPr>
            </a:p>
          </p:txBody>
        </p:sp>
      </p:grpSp>
      <p:sp>
        <p:nvSpPr>
          <p:cNvPr id="20" name="object 20"/>
          <p:cNvSpPr txBox="1"/>
          <p:nvPr/>
        </p:nvSpPr>
        <p:spPr>
          <a:xfrm>
            <a:off x="4434713" y="6422603"/>
            <a:ext cx="276225" cy="255904"/>
          </a:xfrm>
          <a:prstGeom prst="rect">
            <a:avLst/>
          </a:prstGeom>
        </p:spPr>
        <p:txBody>
          <a:bodyPr vert="horz" wrap="square" lIns="0" tIns="0" rIns="0" bIns="0" rtlCol="0">
            <a:spAutoFit/>
          </a:bodyPr>
          <a:lstStyle/>
          <a:p>
            <a:pPr marL="25400">
              <a:lnSpc>
                <a:spcPts val="1885"/>
              </a:lnSpc>
            </a:pPr>
            <a:r>
              <a:rPr sz="1600" spc="-5" dirty="0">
                <a:solidFill>
                  <a:srgbClr val="FFFFFF"/>
                </a:solidFill>
                <a:latin typeface="Georgia"/>
                <a:cs typeface="Georgia"/>
              </a:rPr>
              <a:t>36</a:t>
            </a:r>
            <a:endParaRPr sz="1600">
              <a:latin typeface="Georgia"/>
              <a:cs typeface="Georgia"/>
            </a:endParaRPr>
          </a:p>
        </p:txBody>
      </p:sp>
      <p:sp>
        <p:nvSpPr>
          <p:cNvPr id="19" name="object 19"/>
          <p:cNvSpPr txBox="1"/>
          <p:nvPr/>
        </p:nvSpPr>
        <p:spPr>
          <a:xfrm>
            <a:off x="4889938" y="2643351"/>
            <a:ext cx="3549869" cy="1422184"/>
          </a:xfrm>
          <a:prstGeom prst="rect">
            <a:avLst/>
          </a:prstGeom>
          <a:solidFill>
            <a:srgbClr val="FFFF00"/>
          </a:solidFill>
        </p:spPr>
        <p:txBody>
          <a:bodyPr vert="horz" wrap="square" lIns="0" tIns="36830" rIns="0" bIns="0" rtlCol="0">
            <a:spAutoFit/>
          </a:bodyPr>
          <a:lstStyle/>
          <a:p>
            <a:pPr marL="92075">
              <a:lnSpc>
                <a:spcPct val="100000"/>
              </a:lnSpc>
              <a:spcBef>
                <a:spcPts val="290"/>
              </a:spcBef>
            </a:pPr>
            <a:r>
              <a:rPr dirty="0">
                <a:latin typeface="Arial" panose="020B0604020202020204" pitchFamily="34" charset="0"/>
                <a:cs typeface="Arial" panose="020B0604020202020204" pitchFamily="34" charset="0"/>
              </a:rPr>
              <a:t>Why </a:t>
            </a:r>
            <a:r>
              <a:rPr i="1" spc="-5" dirty="0">
                <a:solidFill>
                  <a:srgbClr val="FF0000"/>
                </a:solidFill>
                <a:latin typeface="Arial" panose="020B0604020202020204" pitchFamily="34" charset="0"/>
                <a:cs typeface="Arial" panose="020B0604020202020204" pitchFamily="34" charset="0"/>
              </a:rPr>
              <a:t>shadow</a:t>
            </a:r>
            <a:r>
              <a:rPr i="1" spc="-20" dirty="0">
                <a:solidFill>
                  <a:srgbClr val="FF0000"/>
                </a:solidFill>
                <a:latin typeface="Arial" panose="020B0604020202020204" pitchFamily="34" charset="0"/>
                <a:cs typeface="Arial" panose="020B0604020202020204" pitchFamily="34" charset="0"/>
              </a:rPr>
              <a:t> </a:t>
            </a:r>
            <a:r>
              <a:rPr i="1" spc="-5" dirty="0">
                <a:solidFill>
                  <a:srgbClr val="FF0000"/>
                </a:solidFill>
                <a:latin typeface="Arial" panose="020B0604020202020204" pitchFamily="34" charset="0"/>
                <a:cs typeface="Arial" panose="020B0604020202020204" pitchFamily="34" charset="0"/>
              </a:rPr>
              <a:t>copy</a:t>
            </a:r>
            <a:r>
              <a:rPr spc="-5" dirty="0">
                <a:latin typeface="Arial" panose="020B0604020202020204" pitchFamily="34" charset="0"/>
                <a:cs typeface="Arial" panose="020B0604020202020204" pitchFamily="34" charset="0"/>
              </a:rPr>
              <a:t>?</a:t>
            </a:r>
            <a:endParaRPr>
              <a:latin typeface="Arial" panose="020B0604020202020204" pitchFamily="34" charset="0"/>
              <a:cs typeface="Arial" panose="020B0604020202020204" pitchFamily="34" charset="0"/>
            </a:endParaRPr>
          </a:p>
          <a:p>
            <a:pPr marL="377825" indent="-285750">
              <a:lnSpc>
                <a:spcPct val="100000"/>
              </a:lnSpc>
              <a:buFont typeface="Arial" panose="020B0604020202020204" pitchFamily="34" charset="0"/>
              <a:buChar char="•"/>
            </a:pPr>
            <a:r>
              <a:rPr spc="-5" dirty="0">
                <a:latin typeface="Arial" panose="020B0604020202020204" pitchFamily="34" charset="0"/>
                <a:cs typeface="Arial" panose="020B0604020202020204" pitchFamily="34" charset="0"/>
              </a:rPr>
              <a:t>forwarding </a:t>
            </a:r>
            <a:r>
              <a:rPr dirty="0">
                <a:latin typeface="Arial" panose="020B0604020202020204" pitchFamily="34" charset="0"/>
                <a:cs typeface="Arial" panose="020B0604020202020204" pitchFamily="34" charset="0"/>
              </a:rPr>
              <a:t>decisions</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done</a:t>
            </a:r>
            <a:r>
              <a:rPr lang="en-US">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locally </a:t>
            </a:r>
            <a:r>
              <a:rPr dirty="0">
                <a:latin typeface="Arial" panose="020B0604020202020204" pitchFamily="34" charset="0"/>
                <a:cs typeface="Arial" panose="020B0604020202020204" pitchFamily="34" charset="0"/>
              </a:rPr>
              <a:t>(at input</a:t>
            </a:r>
            <a:r>
              <a:rPr spc="-10" dirty="0">
                <a:latin typeface="Arial" panose="020B0604020202020204" pitchFamily="34" charset="0"/>
                <a:cs typeface="Arial" panose="020B0604020202020204" pitchFamily="34" charset="0"/>
              </a:rPr>
              <a:t> port)</a:t>
            </a:r>
            <a:endParaRPr>
              <a:latin typeface="Arial" panose="020B0604020202020204" pitchFamily="34" charset="0"/>
              <a:cs typeface="Arial" panose="020B0604020202020204" pitchFamily="34" charset="0"/>
            </a:endParaRPr>
          </a:p>
          <a:p>
            <a:pPr marL="377825" marR="225425" indent="-285750">
              <a:lnSpc>
                <a:spcPct val="100000"/>
              </a:lnSpc>
              <a:spcBef>
                <a:spcPts val="5"/>
              </a:spcBef>
              <a:buFont typeface="Arial" panose="020B0604020202020204" pitchFamily="34" charset="0"/>
              <a:buChar char="•"/>
            </a:pPr>
            <a:r>
              <a:rPr spc="-155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avoiding </a:t>
            </a:r>
            <a:r>
              <a:rPr spc="-5" dirty="0">
                <a:latin typeface="Arial" panose="020B0604020202020204" pitchFamily="34" charset="0"/>
                <a:cs typeface="Arial" panose="020B0604020202020204" pitchFamily="34" charset="0"/>
              </a:rPr>
              <a:t>bottleneck </a:t>
            </a:r>
            <a:r>
              <a:rPr dirty="0">
                <a:latin typeface="Arial" panose="020B0604020202020204" pitchFamily="34" charset="0"/>
                <a:cs typeface="Arial" panose="020B0604020202020204" pitchFamily="34" charset="0"/>
              </a:rPr>
              <a:t>at </a:t>
            </a:r>
            <a:r>
              <a:rPr spc="-5" dirty="0">
                <a:latin typeface="Arial" panose="020B0604020202020204" pitchFamily="34" charset="0"/>
                <a:cs typeface="Arial" panose="020B0604020202020204" pitchFamily="34" charset="0"/>
              </a:rPr>
              <a:t>central  processor</a:t>
            </a:r>
            <a:endParaRPr>
              <a:latin typeface="Arial" panose="020B0604020202020204" pitchFamily="34" charset="0"/>
              <a:cs typeface="Arial" panose="020B0604020202020204" pitchFamily="34" charset="0"/>
            </a:endParaRPr>
          </a:p>
        </p:txBody>
      </p:sp>
      <p:grpSp>
        <p:nvGrpSpPr>
          <p:cNvPr id="33" name="Group 32">
            <a:extLst>
              <a:ext uri="{FF2B5EF4-FFF2-40B4-BE49-F238E27FC236}">
                <a16:creationId xmlns:a16="http://schemas.microsoft.com/office/drawing/2014/main" id="{0CBF6C00-2780-9E4F-9442-FF4B0DBB2F1B}"/>
              </a:ext>
            </a:extLst>
          </p:cNvPr>
          <p:cNvGrpSpPr/>
          <p:nvPr/>
        </p:nvGrpSpPr>
        <p:grpSpPr>
          <a:xfrm>
            <a:off x="760976" y="1556145"/>
            <a:ext cx="3422142" cy="3494075"/>
            <a:chOff x="540258" y="620725"/>
            <a:chExt cx="3422142" cy="3494075"/>
          </a:xfrm>
        </p:grpSpPr>
        <p:sp>
          <p:nvSpPr>
            <p:cNvPr id="6" name="object 6"/>
            <p:cNvSpPr/>
            <p:nvPr/>
          </p:nvSpPr>
          <p:spPr>
            <a:xfrm>
              <a:off x="540258" y="621030"/>
              <a:ext cx="2569210" cy="2241550"/>
            </a:xfrm>
            <a:custGeom>
              <a:avLst/>
              <a:gdLst/>
              <a:ahLst/>
              <a:cxnLst/>
              <a:rect l="l" t="t" r="r" b="b"/>
              <a:pathLst>
                <a:path w="2569210" h="2241550">
                  <a:moveTo>
                    <a:pt x="1920240" y="864108"/>
                  </a:moveTo>
                  <a:lnTo>
                    <a:pt x="1344168" y="864108"/>
                  </a:lnTo>
                  <a:lnTo>
                    <a:pt x="2569210" y="2241423"/>
                  </a:lnTo>
                  <a:lnTo>
                    <a:pt x="1920240" y="864108"/>
                  </a:lnTo>
                  <a:close/>
                </a:path>
                <a:path w="2569210" h="2241550">
                  <a:moveTo>
                    <a:pt x="2160270" y="0"/>
                  </a:moveTo>
                  <a:lnTo>
                    <a:pt x="144018" y="0"/>
                  </a:lnTo>
                  <a:lnTo>
                    <a:pt x="98496" y="7345"/>
                  </a:lnTo>
                  <a:lnTo>
                    <a:pt x="58962" y="27797"/>
                  </a:lnTo>
                  <a:lnTo>
                    <a:pt x="27786" y="58978"/>
                  </a:lnTo>
                  <a:lnTo>
                    <a:pt x="7342" y="98511"/>
                  </a:lnTo>
                  <a:lnTo>
                    <a:pt x="0" y="144018"/>
                  </a:lnTo>
                  <a:lnTo>
                    <a:pt x="0" y="720090"/>
                  </a:lnTo>
                  <a:lnTo>
                    <a:pt x="7342" y="765596"/>
                  </a:lnTo>
                  <a:lnTo>
                    <a:pt x="27786" y="805129"/>
                  </a:lnTo>
                  <a:lnTo>
                    <a:pt x="58962" y="836310"/>
                  </a:lnTo>
                  <a:lnTo>
                    <a:pt x="98496" y="856762"/>
                  </a:lnTo>
                  <a:lnTo>
                    <a:pt x="144018" y="864108"/>
                  </a:lnTo>
                  <a:lnTo>
                    <a:pt x="2160270" y="864108"/>
                  </a:lnTo>
                  <a:lnTo>
                    <a:pt x="2205776" y="856762"/>
                  </a:lnTo>
                  <a:lnTo>
                    <a:pt x="2245309" y="836310"/>
                  </a:lnTo>
                  <a:lnTo>
                    <a:pt x="2276490" y="805129"/>
                  </a:lnTo>
                  <a:lnTo>
                    <a:pt x="2296942" y="765596"/>
                  </a:lnTo>
                  <a:lnTo>
                    <a:pt x="2304288" y="720090"/>
                  </a:lnTo>
                  <a:lnTo>
                    <a:pt x="2304288" y="144018"/>
                  </a:lnTo>
                  <a:lnTo>
                    <a:pt x="2296942" y="98511"/>
                  </a:lnTo>
                  <a:lnTo>
                    <a:pt x="2276490" y="58978"/>
                  </a:lnTo>
                  <a:lnTo>
                    <a:pt x="2245309" y="27797"/>
                  </a:lnTo>
                  <a:lnTo>
                    <a:pt x="2205776" y="7345"/>
                  </a:lnTo>
                  <a:lnTo>
                    <a:pt x="2160270" y="0"/>
                  </a:lnTo>
                  <a:close/>
                </a:path>
              </a:pathLst>
            </a:custGeom>
            <a:solidFill>
              <a:srgbClr val="00FDFF"/>
            </a:solidFill>
          </p:spPr>
          <p:txBody>
            <a:bodyPr wrap="square" lIns="0" tIns="0" rIns="0" bIns="0" rtlCol="0"/>
            <a:lstStyle/>
            <a:p>
              <a:endParaRPr/>
            </a:p>
          </p:txBody>
        </p:sp>
        <p:sp>
          <p:nvSpPr>
            <p:cNvPr id="8" name="object 8"/>
            <p:cNvSpPr txBox="1"/>
            <p:nvPr/>
          </p:nvSpPr>
          <p:spPr>
            <a:xfrm>
              <a:off x="660603" y="620725"/>
              <a:ext cx="1986280" cy="574675"/>
            </a:xfrm>
            <a:prstGeom prst="rect">
              <a:avLst/>
            </a:prstGeom>
          </p:spPr>
          <p:txBody>
            <a:bodyPr vert="horz" wrap="square" lIns="0" tIns="12700" rIns="0" bIns="0" rtlCol="0">
              <a:spAutoFit/>
            </a:bodyPr>
            <a:lstStyle/>
            <a:p>
              <a:pPr marL="12700">
                <a:lnSpc>
                  <a:spcPct val="100000"/>
                </a:lnSpc>
                <a:spcBef>
                  <a:spcPts val="100"/>
                </a:spcBef>
              </a:pPr>
              <a:r>
                <a:rPr sz="1800" dirty="0">
                  <a:latin typeface="Georgia"/>
                  <a:cs typeface="Georgia"/>
                </a:rPr>
                <a:t>a </a:t>
              </a:r>
              <a:r>
                <a:rPr sz="1800" i="1" spc="-5" dirty="0">
                  <a:solidFill>
                    <a:srgbClr val="FF0000"/>
                  </a:solidFill>
                  <a:latin typeface="Georgia"/>
                  <a:cs typeface="Georgia"/>
                </a:rPr>
                <a:t>shadow copy</a:t>
              </a:r>
              <a:r>
                <a:rPr sz="1800" spc="405" dirty="0">
                  <a:latin typeface="Georgia"/>
                  <a:cs typeface="Georgia"/>
                </a:rPr>
                <a:t> </a:t>
              </a:r>
              <a:r>
                <a:rPr sz="1800" spc="-5" dirty="0">
                  <a:latin typeface="Georgia"/>
                  <a:cs typeface="Georgia"/>
                </a:rPr>
                <a:t>of</a:t>
              </a:r>
              <a:endParaRPr sz="1800">
                <a:latin typeface="Georgia"/>
                <a:cs typeface="Georgia"/>
              </a:endParaRPr>
            </a:p>
            <a:p>
              <a:pPr marL="12700">
                <a:lnSpc>
                  <a:spcPct val="100000"/>
                </a:lnSpc>
                <a:spcBef>
                  <a:spcPts val="5"/>
                </a:spcBef>
              </a:pPr>
              <a:r>
                <a:rPr sz="1800" spc="-5" dirty="0">
                  <a:latin typeface="Georgia"/>
                  <a:cs typeface="Georgia"/>
                </a:rPr>
                <a:t>FT </a:t>
              </a:r>
              <a:r>
                <a:rPr sz="1800" dirty="0">
                  <a:latin typeface="Georgia"/>
                  <a:cs typeface="Georgia"/>
                </a:rPr>
                <a:t>is </a:t>
              </a:r>
              <a:r>
                <a:rPr sz="1800" spc="-5" dirty="0">
                  <a:latin typeface="Georgia"/>
                  <a:cs typeface="Georgia"/>
                </a:rPr>
                <a:t>stored </a:t>
              </a:r>
              <a:r>
                <a:rPr sz="1800" dirty="0">
                  <a:latin typeface="Georgia"/>
                  <a:cs typeface="Georgia"/>
                </a:rPr>
                <a:t>at</a:t>
              </a:r>
              <a:r>
                <a:rPr sz="1800" spc="-55" dirty="0">
                  <a:latin typeface="Georgia"/>
                  <a:cs typeface="Georgia"/>
                </a:rPr>
                <a:t> </a:t>
              </a:r>
              <a:r>
                <a:rPr sz="1800" spc="-5" dirty="0">
                  <a:latin typeface="Georgia"/>
                  <a:cs typeface="Georgia"/>
                </a:rPr>
                <a:t>each</a:t>
              </a:r>
              <a:endParaRPr sz="1800">
                <a:latin typeface="Georgia"/>
                <a:cs typeface="Georgia"/>
              </a:endParaRPr>
            </a:p>
          </p:txBody>
        </p:sp>
        <p:sp>
          <p:nvSpPr>
            <p:cNvPr id="9" name="object 9"/>
            <p:cNvSpPr txBox="1"/>
            <p:nvPr/>
          </p:nvSpPr>
          <p:spPr>
            <a:xfrm>
              <a:off x="660603" y="1169923"/>
              <a:ext cx="105092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Georgia"/>
                  <a:cs typeface="Georgia"/>
                </a:rPr>
                <a:t>input</a:t>
              </a:r>
              <a:r>
                <a:rPr sz="1800" spc="-65" dirty="0">
                  <a:latin typeface="Georgia"/>
                  <a:cs typeface="Georgia"/>
                </a:rPr>
                <a:t> </a:t>
              </a:r>
              <a:r>
                <a:rPr sz="1800" spc="-5" dirty="0">
                  <a:latin typeface="Georgia"/>
                  <a:cs typeface="Georgia"/>
                </a:rPr>
                <a:t>port</a:t>
              </a:r>
              <a:endParaRPr sz="1800">
                <a:latin typeface="Georgia"/>
                <a:cs typeface="Georgia"/>
              </a:endParaRPr>
            </a:p>
          </p:txBody>
        </p:sp>
        <p:grpSp>
          <p:nvGrpSpPr>
            <p:cNvPr id="32" name="Group 31">
              <a:extLst>
                <a:ext uri="{FF2B5EF4-FFF2-40B4-BE49-F238E27FC236}">
                  <a16:creationId xmlns:a16="http://schemas.microsoft.com/office/drawing/2014/main" id="{C85B2B37-57D4-5349-A50E-053639FBE037}"/>
                </a:ext>
              </a:extLst>
            </p:cNvPr>
            <p:cNvGrpSpPr/>
            <p:nvPr/>
          </p:nvGrpSpPr>
          <p:grpSpPr>
            <a:xfrm>
              <a:off x="3200400" y="1219200"/>
              <a:ext cx="762000" cy="2895600"/>
              <a:chOff x="3200400" y="1219200"/>
              <a:chExt cx="762000" cy="2895600"/>
            </a:xfrm>
          </p:grpSpPr>
          <p:cxnSp>
            <p:nvCxnSpPr>
              <p:cNvPr id="23" name="Elbow Connector 22">
                <a:extLst>
                  <a:ext uri="{FF2B5EF4-FFF2-40B4-BE49-F238E27FC236}">
                    <a16:creationId xmlns:a16="http://schemas.microsoft.com/office/drawing/2014/main" id="{903B396A-C583-FE4B-B6A0-981165EC02C3}"/>
                  </a:ext>
                </a:extLst>
              </p:cNvPr>
              <p:cNvCxnSpPr>
                <a:cxnSpLocks noChangeShapeType="1"/>
              </p:cNvCxnSpPr>
              <p:nvPr/>
            </p:nvCxnSpPr>
            <p:spPr bwMode="auto">
              <a:xfrm rot="5400000">
                <a:off x="2743199" y="1676401"/>
                <a:ext cx="1676402" cy="762000"/>
              </a:xfrm>
              <a:prstGeom prst="bentConnector3">
                <a:avLst>
                  <a:gd name="adj1" fmla="val 842"/>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31" name="Straight Arrow Connector 30">
                <a:extLst>
                  <a:ext uri="{FF2B5EF4-FFF2-40B4-BE49-F238E27FC236}">
                    <a16:creationId xmlns:a16="http://schemas.microsoft.com/office/drawing/2014/main" id="{0F114A41-3540-4F48-AD29-806FC63901D8}"/>
                  </a:ext>
                </a:extLst>
              </p:cNvPr>
              <p:cNvCxnSpPr/>
              <p:nvPr/>
            </p:nvCxnSpPr>
            <p:spPr>
              <a:xfrm>
                <a:off x="3200400" y="3352800"/>
                <a:ext cx="0" cy="7620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34" name="Rectangle 2">
            <a:extLst>
              <a:ext uri="{FF2B5EF4-FFF2-40B4-BE49-F238E27FC236}">
                <a16:creationId xmlns:a16="http://schemas.microsoft.com/office/drawing/2014/main" id="{389B0ADB-ACA8-074F-ADE4-5EAA5199D04C}"/>
              </a:ext>
            </a:extLst>
          </p:cNvPr>
          <p:cNvSpPr txBox="1">
            <a:spLocks noChangeArrowheads="1"/>
          </p:cNvSpPr>
          <p:nvPr/>
        </p:nvSpPr>
        <p:spPr>
          <a:xfrm>
            <a:off x="685800" y="304800"/>
            <a:ext cx="7772400" cy="609600"/>
          </a:xfrm>
          <a:prstGeom prst="rect">
            <a:avLst/>
          </a:prstGeom>
        </p:spPr>
        <p:txBody>
          <a:bodyPr/>
          <a:lstStyle>
            <a:lvl1pPr algn="l" rtl="0" eaLnBrk="0" fontAlgn="base" hangingPunct="0">
              <a:spcBef>
                <a:spcPct val="0"/>
              </a:spcBef>
              <a:spcAft>
                <a:spcPct val="0"/>
              </a:spcAft>
              <a:defRPr sz="4400">
                <a:solidFill>
                  <a:srgbClr val="000099"/>
                </a:solidFill>
                <a:latin typeface="+mj-lt"/>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400">
                <a:solidFill>
                  <a:srgbClr val="000099"/>
                </a:solidFill>
                <a:latin typeface="Gill Sans MT" pitchFamily="34" charset="0"/>
              </a:defRPr>
            </a:lvl6pPr>
            <a:lvl7pPr marL="914400" algn="l" rtl="0" eaLnBrk="0" fontAlgn="base" hangingPunct="0">
              <a:spcBef>
                <a:spcPct val="0"/>
              </a:spcBef>
              <a:spcAft>
                <a:spcPct val="0"/>
              </a:spcAft>
              <a:defRPr sz="4400">
                <a:solidFill>
                  <a:srgbClr val="000099"/>
                </a:solidFill>
                <a:latin typeface="Gill Sans MT" pitchFamily="34" charset="0"/>
              </a:defRPr>
            </a:lvl7pPr>
            <a:lvl8pPr marL="1371600" algn="l" rtl="0" eaLnBrk="0" fontAlgn="base" hangingPunct="0">
              <a:spcBef>
                <a:spcPct val="0"/>
              </a:spcBef>
              <a:spcAft>
                <a:spcPct val="0"/>
              </a:spcAft>
              <a:defRPr sz="4400">
                <a:solidFill>
                  <a:srgbClr val="000099"/>
                </a:solidFill>
                <a:latin typeface="Gill Sans MT" pitchFamily="34" charset="0"/>
              </a:defRPr>
            </a:lvl8pPr>
            <a:lvl9pPr marL="1828800" algn="l" rtl="0" eaLnBrk="0" fontAlgn="base" hangingPunct="0">
              <a:spcBef>
                <a:spcPct val="0"/>
              </a:spcBef>
              <a:spcAft>
                <a:spcPct val="0"/>
              </a:spcAft>
              <a:defRPr sz="4400">
                <a:solidFill>
                  <a:srgbClr val="000099"/>
                </a:solidFill>
                <a:latin typeface="Gill Sans MT" pitchFamily="34" charset="0"/>
              </a:defRPr>
            </a:lvl9pPr>
          </a:lstStyle>
          <a:p>
            <a:r>
              <a:rPr lang="en-US" altLang="en-US" sz="4000" kern="0">
                <a:ea typeface="ＭＳ Ｐゴシック" panose="020B0600070205080204" pitchFamily="34" charset="-128"/>
              </a:rPr>
              <a:t>Router architecture overview</a:t>
            </a:r>
            <a:endParaRPr lang="en-US" altLang="en-US" kern="0" dirty="0">
              <a:ea typeface="ＭＳ Ｐゴシック" panose="020B0600070205080204" pitchFamily="34" charset="-128"/>
            </a:endParaRPr>
          </a:p>
        </p:txBody>
      </p:sp>
      <p:sp>
        <p:nvSpPr>
          <p:cNvPr id="35" name="Slide Number Placeholder 5">
            <a:extLst>
              <a:ext uri="{FF2B5EF4-FFF2-40B4-BE49-F238E27FC236}">
                <a16:creationId xmlns:a16="http://schemas.microsoft.com/office/drawing/2014/main" id="{145C983F-FF49-9E48-9FF5-722DC8B74744}"/>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ADFAF319-76AC-1B42-8DBE-7E9CD4834884}" type="slidenum">
              <a:rPr lang="en-US" altLang="en-US">
                <a:latin typeface="Tahoma" panose="020B0604030504040204" pitchFamily="34" charset="0"/>
              </a:rPr>
              <a:pPr/>
              <a:t>19</a:t>
            </a:fld>
            <a:endParaRPr lang="en-US" altLang="en-US">
              <a:latin typeface="Tahoma" panose="020B0604030504040204" pitchFamily="34" charset="0"/>
            </a:endParaRPr>
          </a:p>
        </p:txBody>
      </p:sp>
      <p:sp>
        <p:nvSpPr>
          <p:cNvPr id="36" name="Footer Placeholder 2">
            <a:extLst>
              <a:ext uri="{FF2B5EF4-FFF2-40B4-BE49-F238E27FC236}">
                <a16:creationId xmlns:a16="http://schemas.microsoft.com/office/drawing/2014/main" id="{DBE72CDD-EC5D-944B-A659-1B223E2B97FA}"/>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dirty="0">
                <a:solidFill>
                  <a:srgbClr val="000000"/>
                </a:solidFill>
                <a:latin typeface="Tahoma" panose="020B0604030504040204" pitchFamily="34" charset="0"/>
                <a:cs typeface="Arial" panose="020B0604020202020204" pitchFamily="34" charset="0"/>
              </a:rPr>
              <a:t>Network Layer: Data Plane</a:t>
            </a:r>
          </a:p>
        </p:txBody>
      </p:sp>
    </p:spTree>
    <p:extLst>
      <p:ext uri="{BB962C8B-B14F-4D97-AF65-F5344CB8AC3E}">
        <p14:creationId xmlns:p14="http://schemas.microsoft.com/office/powerpoint/2010/main" val="79326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57" descr="underline_base">
            <a:extLst>
              <a:ext uri="{FF2B5EF4-FFF2-40B4-BE49-F238E27FC236}">
                <a16:creationId xmlns:a16="http://schemas.microsoft.com/office/drawing/2014/main" id="{38CD5E3D-BCCF-CF41-9900-3112FAAD61B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63" y="814388"/>
            <a:ext cx="4570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Rectangle 12">
            <a:extLst>
              <a:ext uri="{FF2B5EF4-FFF2-40B4-BE49-F238E27FC236}">
                <a16:creationId xmlns:a16="http://schemas.microsoft.com/office/drawing/2014/main" id="{CC578C1C-130E-0C43-9B9A-F905E8191709}"/>
              </a:ext>
            </a:extLst>
          </p:cNvPr>
          <p:cNvSpPr>
            <a:spLocks noChangeArrowheads="1"/>
          </p:cNvSpPr>
          <p:nvPr/>
        </p:nvSpPr>
        <p:spPr bwMode="auto">
          <a:xfrm>
            <a:off x="1917700" y="1306513"/>
            <a:ext cx="4568825" cy="1836737"/>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04" name="Rectangle 13">
            <a:extLst>
              <a:ext uri="{FF2B5EF4-FFF2-40B4-BE49-F238E27FC236}">
                <a16:creationId xmlns:a16="http://schemas.microsoft.com/office/drawing/2014/main" id="{37FCA47B-D3A4-2A49-87EA-63D2933A91BF}"/>
              </a:ext>
            </a:extLst>
          </p:cNvPr>
          <p:cNvSpPr>
            <a:spLocks noChangeArrowheads="1"/>
          </p:cNvSpPr>
          <p:nvPr/>
        </p:nvSpPr>
        <p:spPr bwMode="auto">
          <a:xfrm>
            <a:off x="2073275" y="1820863"/>
            <a:ext cx="1417638" cy="828675"/>
          </a:xfrm>
          <a:prstGeom prst="rect">
            <a:avLst/>
          </a:prstGeom>
          <a:solidFill>
            <a:schemeClr val="bg1"/>
          </a:solidFill>
          <a:ln w="28575">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line</a:t>
            </a:r>
          </a:p>
          <a:p>
            <a:pPr algn="ctr"/>
            <a:r>
              <a:rPr lang="en-US" altLang="en-US"/>
              <a:t>termination</a:t>
            </a:r>
          </a:p>
        </p:txBody>
      </p:sp>
      <p:sp>
        <p:nvSpPr>
          <p:cNvPr id="51205" name="Rectangle 14">
            <a:extLst>
              <a:ext uri="{FF2B5EF4-FFF2-40B4-BE49-F238E27FC236}">
                <a16:creationId xmlns:a16="http://schemas.microsoft.com/office/drawing/2014/main" id="{6122CBBB-2257-9A41-AEFD-16CCEC349E66}"/>
              </a:ext>
            </a:extLst>
          </p:cNvPr>
          <p:cNvSpPr>
            <a:spLocks noChangeArrowheads="1"/>
          </p:cNvSpPr>
          <p:nvPr/>
        </p:nvSpPr>
        <p:spPr bwMode="auto">
          <a:xfrm>
            <a:off x="3697288" y="1492250"/>
            <a:ext cx="1152525" cy="1409700"/>
          </a:xfrm>
          <a:prstGeom prst="rect">
            <a:avLst/>
          </a:prstGeom>
          <a:solidFill>
            <a:schemeClr val="bg1"/>
          </a:solidFill>
          <a:ln w="28575">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06" name="Rectangle 15">
            <a:extLst>
              <a:ext uri="{FF2B5EF4-FFF2-40B4-BE49-F238E27FC236}">
                <a16:creationId xmlns:a16="http://schemas.microsoft.com/office/drawing/2014/main" id="{415E6C27-DF55-DE4A-A9F7-37CBE89A1957}"/>
              </a:ext>
            </a:extLst>
          </p:cNvPr>
          <p:cNvSpPr>
            <a:spLocks noChangeArrowheads="1"/>
          </p:cNvSpPr>
          <p:nvPr/>
        </p:nvSpPr>
        <p:spPr bwMode="auto">
          <a:xfrm>
            <a:off x="5048250" y="1443038"/>
            <a:ext cx="1247775" cy="1504950"/>
          </a:xfrm>
          <a:prstGeom prst="rect">
            <a:avLst/>
          </a:prstGeom>
          <a:solidFill>
            <a:schemeClr val="bg1"/>
          </a:solidFill>
          <a:ln w="28575">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07" name="Line 16">
            <a:extLst>
              <a:ext uri="{FF2B5EF4-FFF2-40B4-BE49-F238E27FC236}">
                <a16:creationId xmlns:a16="http://schemas.microsoft.com/office/drawing/2014/main" id="{0326976A-AD3C-9047-B204-B4743D3C9907}"/>
              </a:ext>
            </a:extLst>
          </p:cNvPr>
          <p:cNvSpPr>
            <a:spLocks noChangeShapeType="1"/>
          </p:cNvSpPr>
          <p:nvPr/>
        </p:nvSpPr>
        <p:spPr bwMode="auto">
          <a:xfrm>
            <a:off x="1641475" y="2232025"/>
            <a:ext cx="4238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208" name="Line 30">
            <a:extLst>
              <a:ext uri="{FF2B5EF4-FFF2-40B4-BE49-F238E27FC236}">
                <a16:creationId xmlns:a16="http://schemas.microsoft.com/office/drawing/2014/main" id="{F32400C7-7C3C-0849-94DB-04AE733644DC}"/>
              </a:ext>
            </a:extLst>
          </p:cNvPr>
          <p:cNvSpPr>
            <a:spLocks noChangeShapeType="1"/>
          </p:cNvSpPr>
          <p:nvPr/>
        </p:nvSpPr>
        <p:spPr bwMode="auto">
          <a:xfrm>
            <a:off x="3509963" y="2211388"/>
            <a:ext cx="190500"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209" name="Line 31">
            <a:extLst>
              <a:ext uri="{FF2B5EF4-FFF2-40B4-BE49-F238E27FC236}">
                <a16:creationId xmlns:a16="http://schemas.microsoft.com/office/drawing/2014/main" id="{3C80F004-4E9C-6148-86DF-028AA800B230}"/>
              </a:ext>
            </a:extLst>
          </p:cNvPr>
          <p:cNvSpPr>
            <a:spLocks noChangeShapeType="1"/>
          </p:cNvSpPr>
          <p:nvPr/>
        </p:nvSpPr>
        <p:spPr bwMode="auto">
          <a:xfrm>
            <a:off x="4852988" y="2168525"/>
            <a:ext cx="19050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210" name="Line 32">
            <a:extLst>
              <a:ext uri="{FF2B5EF4-FFF2-40B4-BE49-F238E27FC236}">
                <a16:creationId xmlns:a16="http://schemas.microsoft.com/office/drawing/2014/main" id="{DE0BBD51-31F9-DD41-AA98-523392948848}"/>
              </a:ext>
            </a:extLst>
          </p:cNvPr>
          <p:cNvSpPr>
            <a:spLocks noChangeShapeType="1"/>
          </p:cNvSpPr>
          <p:nvPr/>
        </p:nvSpPr>
        <p:spPr bwMode="auto">
          <a:xfrm flipV="1">
            <a:off x="6243638" y="2209800"/>
            <a:ext cx="73660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211" name="Rectangle 33">
            <a:extLst>
              <a:ext uri="{FF2B5EF4-FFF2-40B4-BE49-F238E27FC236}">
                <a16:creationId xmlns:a16="http://schemas.microsoft.com/office/drawing/2014/main" id="{9892FFA6-51A8-8740-8B49-C3F76113C05E}"/>
              </a:ext>
            </a:extLst>
          </p:cNvPr>
          <p:cNvSpPr>
            <a:spLocks noChangeArrowheads="1"/>
          </p:cNvSpPr>
          <p:nvPr/>
        </p:nvSpPr>
        <p:spPr bwMode="auto">
          <a:xfrm>
            <a:off x="3730625" y="1801813"/>
            <a:ext cx="1055688"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0000"/>
              </a:lnSpc>
            </a:pPr>
            <a:r>
              <a:rPr lang="en-US" altLang="en-US"/>
              <a:t>link </a:t>
            </a:r>
          </a:p>
          <a:p>
            <a:pPr algn="ctr">
              <a:lnSpc>
                <a:spcPct val="90000"/>
              </a:lnSpc>
            </a:pPr>
            <a:r>
              <a:rPr lang="en-US" altLang="en-US"/>
              <a:t>layer </a:t>
            </a:r>
          </a:p>
          <a:p>
            <a:pPr algn="ctr">
              <a:lnSpc>
                <a:spcPct val="90000"/>
              </a:lnSpc>
            </a:pPr>
            <a:r>
              <a:rPr lang="en-US" altLang="en-US"/>
              <a:t>protocol</a:t>
            </a:r>
          </a:p>
          <a:p>
            <a:pPr algn="ctr">
              <a:lnSpc>
                <a:spcPct val="90000"/>
              </a:lnSpc>
            </a:pPr>
            <a:r>
              <a:rPr lang="en-US" altLang="en-US"/>
              <a:t>(receive)</a:t>
            </a:r>
          </a:p>
        </p:txBody>
      </p:sp>
      <p:sp>
        <p:nvSpPr>
          <p:cNvPr id="51212" name="Text Box 35">
            <a:extLst>
              <a:ext uri="{FF2B5EF4-FFF2-40B4-BE49-F238E27FC236}">
                <a16:creationId xmlns:a16="http://schemas.microsoft.com/office/drawing/2014/main" id="{13C034BF-1773-424C-AD5D-3B6547EF4A09}"/>
              </a:ext>
            </a:extLst>
          </p:cNvPr>
          <p:cNvSpPr txBox="1">
            <a:spLocks noChangeArrowheads="1"/>
          </p:cNvSpPr>
          <p:nvPr/>
        </p:nvSpPr>
        <p:spPr bwMode="auto">
          <a:xfrm>
            <a:off x="5080000" y="1455738"/>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lookup,</a:t>
            </a:r>
          </a:p>
          <a:p>
            <a:pPr algn="ctr"/>
            <a:r>
              <a:rPr lang="en-US" altLang="en-US"/>
              <a:t>forwarding</a:t>
            </a:r>
          </a:p>
          <a:p>
            <a:pPr algn="ctr"/>
            <a:endParaRPr lang="en-US" altLang="en-US"/>
          </a:p>
          <a:p>
            <a:pPr algn="ctr"/>
            <a:endParaRPr lang="en-US" altLang="en-US"/>
          </a:p>
          <a:p>
            <a:pPr algn="ctr"/>
            <a:r>
              <a:rPr lang="en-US" altLang="en-US"/>
              <a:t>queueing</a:t>
            </a:r>
          </a:p>
        </p:txBody>
      </p:sp>
      <p:sp>
        <p:nvSpPr>
          <p:cNvPr id="51213" name="Rectangle 3">
            <a:extLst>
              <a:ext uri="{FF2B5EF4-FFF2-40B4-BE49-F238E27FC236}">
                <a16:creationId xmlns:a16="http://schemas.microsoft.com/office/drawing/2014/main" id="{4EDDAACA-4EEB-C348-BA91-EFB07C2BFF86}"/>
              </a:ext>
            </a:extLst>
          </p:cNvPr>
          <p:cNvSpPr>
            <a:spLocks noGrp="1" noChangeArrowheads="1"/>
          </p:cNvSpPr>
          <p:nvPr>
            <p:ph type="title"/>
          </p:nvPr>
        </p:nvSpPr>
        <p:spPr>
          <a:xfrm>
            <a:off x="422275" y="293688"/>
            <a:ext cx="7772400" cy="609600"/>
          </a:xfrm>
        </p:spPr>
        <p:txBody>
          <a:bodyPr/>
          <a:lstStyle/>
          <a:p>
            <a:r>
              <a:rPr lang="en-US" altLang="en-US" sz="4000">
                <a:ea typeface="ＭＳ Ｐゴシック" panose="020B0600070205080204" pitchFamily="34" charset="-128"/>
              </a:rPr>
              <a:t>Input port functions</a:t>
            </a:r>
            <a:endParaRPr lang="en-US" altLang="en-US">
              <a:ea typeface="ＭＳ Ｐゴシック" panose="020B0600070205080204" pitchFamily="34" charset="-128"/>
            </a:endParaRPr>
          </a:p>
        </p:txBody>
      </p:sp>
      <p:sp>
        <p:nvSpPr>
          <p:cNvPr id="51214" name="Rectangle 4">
            <a:extLst>
              <a:ext uri="{FF2B5EF4-FFF2-40B4-BE49-F238E27FC236}">
                <a16:creationId xmlns:a16="http://schemas.microsoft.com/office/drawing/2014/main" id="{F18AEAEA-D62E-554B-944D-D4AF66D4A78E}"/>
              </a:ext>
            </a:extLst>
          </p:cNvPr>
          <p:cNvSpPr>
            <a:spLocks noGrp="1" noChangeArrowheads="1"/>
          </p:cNvSpPr>
          <p:nvPr>
            <p:ph type="body" idx="1"/>
          </p:nvPr>
        </p:nvSpPr>
        <p:spPr>
          <a:xfrm>
            <a:off x="3394075" y="3746500"/>
            <a:ext cx="5456238" cy="2667000"/>
          </a:xfrm>
        </p:spPr>
        <p:txBody>
          <a:bodyPr/>
          <a:lstStyle/>
          <a:p>
            <a:pPr>
              <a:lnSpc>
                <a:spcPct val="90000"/>
              </a:lnSpc>
              <a:buFont typeface="Wingdings" pitchFamily="2" charset="2"/>
              <a:buNone/>
            </a:pPr>
            <a:r>
              <a:rPr lang="en-US" altLang="en-US" sz="2400">
                <a:solidFill>
                  <a:srgbClr val="000099"/>
                </a:solidFill>
                <a:ea typeface="ＭＳ Ｐゴシック" panose="020B0600070205080204" pitchFamily="34" charset="-128"/>
                <a:cs typeface="ＭＳ Ｐゴシック" panose="020B0600070205080204" pitchFamily="34" charset="-128"/>
              </a:rPr>
              <a:t>decentralized switching</a:t>
            </a:r>
            <a:r>
              <a:rPr lang="en-US" altLang="en-US" sz="2400" i="1">
                <a:solidFill>
                  <a:srgbClr val="000099"/>
                </a:solidFill>
                <a:ea typeface="ＭＳ Ｐゴシック" panose="020B0600070205080204" pitchFamily="34" charset="-128"/>
                <a:cs typeface="ＭＳ Ｐゴシック" panose="020B0600070205080204" pitchFamily="34" charset="-128"/>
              </a:rPr>
              <a:t>:</a:t>
            </a:r>
            <a:r>
              <a:rPr lang="en-US" altLang="en-US" sz="2400">
                <a:solidFill>
                  <a:srgbClr val="000099"/>
                </a:solidFill>
                <a:ea typeface="ＭＳ Ｐゴシック" panose="020B0600070205080204" pitchFamily="34" charset="-128"/>
                <a:cs typeface="ＭＳ Ｐゴシック" panose="020B0600070205080204" pitchFamily="34" charset="-128"/>
              </a:rPr>
              <a:t> </a:t>
            </a:r>
          </a:p>
          <a:p>
            <a:pPr>
              <a:lnSpc>
                <a:spcPct val="90000"/>
              </a:lnSpc>
            </a:pPr>
            <a:r>
              <a:rPr lang="en-US" altLang="en-US" sz="2200">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lang="en-US" altLang="en-US" sz="2200" i="1">
                <a:ea typeface="ＭＳ Ｐゴシック" panose="020B0600070205080204" pitchFamily="34" charset="-128"/>
                <a:cs typeface="ＭＳ Ｐゴシック" panose="020B0600070205080204" pitchFamily="34" charset="-128"/>
              </a:rPr>
              <a:t>(“match plus action”)</a:t>
            </a:r>
          </a:p>
          <a:p>
            <a:pPr>
              <a:lnSpc>
                <a:spcPct val="90000"/>
              </a:lnSpc>
            </a:pPr>
            <a:r>
              <a:rPr lang="en-US" altLang="en-US" sz="2200">
                <a:ea typeface="ＭＳ Ｐゴシック" panose="020B0600070205080204" pitchFamily="34" charset="-128"/>
                <a:cs typeface="ＭＳ Ｐゴシック" panose="020B0600070205080204" pitchFamily="34" charset="-128"/>
              </a:rPr>
              <a:t>goal: complete input port processing at </a:t>
            </a:r>
            <a:r>
              <a:rPr lang="ja-JP" altLang="en-US" sz="2200">
                <a:ea typeface="ＭＳ Ｐゴシック" panose="020B0600070205080204" pitchFamily="34" charset="-128"/>
                <a:cs typeface="ＭＳ Ｐゴシック" panose="020B0600070205080204" pitchFamily="34" charset="-128"/>
              </a:rPr>
              <a:t>‘</a:t>
            </a:r>
            <a:r>
              <a:rPr lang="en-US" altLang="ja-JP" sz="2200">
                <a:ea typeface="ＭＳ Ｐゴシック" panose="020B0600070205080204" pitchFamily="34" charset="-128"/>
                <a:cs typeface="ＭＳ Ｐゴシック" panose="020B0600070205080204" pitchFamily="34" charset="-128"/>
              </a:rPr>
              <a:t>line speed</a:t>
            </a:r>
            <a:r>
              <a:rPr lang="ja-JP" altLang="en-US" sz="2200">
                <a:ea typeface="ＭＳ Ｐゴシック" panose="020B0600070205080204" pitchFamily="34" charset="-128"/>
                <a:cs typeface="ＭＳ Ｐゴシック" panose="020B0600070205080204" pitchFamily="34" charset="-128"/>
              </a:rPr>
              <a:t>’</a:t>
            </a:r>
            <a:endParaRPr lang="en-US" altLang="ja-JP" sz="2200">
              <a:ea typeface="ＭＳ Ｐゴシック" panose="020B0600070205080204" pitchFamily="34" charset="-128"/>
              <a:cs typeface="ＭＳ Ｐゴシック" panose="020B0600070205080204" pitchFamily="34" charset="-128"/>
            </a:endParaRPr>
          </a:p>
          <a:p>
            <a:pPr>
              <a:lnSpc>
                <a:spcPct val="90000"/>
              </a:lnSpc>
            </a:pPr>
            <a:r>
              <a:rPr lang="en-US" altLang="en-US" sz="2200">
                <a:ea typeface="ＭＳ Ｐゴシック" panose="020B0600070205080204" pitchFamily="34" charset="-128"/>
                <a:cs typeface="ＭＳ Ｐゴシック" panose="020B0600070205080204" pitchFamily="34" charset="-128"/>
              </a:rPr>
              <a:t>queuing: if datagrams arrive faster than forwarding rate into switch fabric</a:t>
            </a:r>
          </a:p>
        </p:txBody>
      </p:sp>
      <p:sp>
        <p:nvSpPr>
          <p:cNvPr id="51215" name="Text Box 5">
            <a:extLst>
              <a:ext uri="{FF2B5EF4-FFF2-40B4-BE49-F238E27FC236}">
                <a16:creationId xmlns:a16="http://schemas.microsoft.com/office/drawing/2014/main" id="{32CA7EEB-2BE2-3B44-86BF-A7D04320E108}"/>
              </a:ext>
            </a:extLst>
          </p:cNvPr>
          <p:cNvSpPr txBox="1">
            <a:spLocks noChangeArrowheads="1"/>
          </p:cNvSpPr>
          <p:nvPr/>
        </p:nvSpPr>
        <p:spPr bwMode="auto">
          <a:xfrm>
            <a:off x="201613" y="3054350"/>
            <a:ext cx="21748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solidFill>
                  <a:srgbClr val="000099"/>
                </a:solidFill>
              </a:rPr>
              <a:t>physical layer:</a:t>
            </a:r>
          </a:p>
          <a:p>
            <a:pPr algn="r"/>
            <a:r>
              <a:rPr lang="en-US" altLang="en-US" sz="2000"/>
              <a:t>bit-level reception</a:t>
            </a:r>
            <a:endParaRPr lang="en-US" altLang="en-US"/>
          </a:p>
        </p:txBody>
      </p:sp>
      <p:sp>
        <p:nvSpPr>
          <p:cNvPr id="51216" name="Text Box 6">
            <a:extLst>
              <a:ext uri="{FF2B5EF4-FFF2-40B4-BE49-F238E27FC236}">
                <a16:creationId xmlns:a16="http://schemas.microsoft.com/office/drawing/2014/main" id="{F694A675-69A7-A647-BDF1-6347FCE28AF1}"/>
              </a:ext>
            </a:extLst>
          </p:cNvPr>
          <p:cNvSpPr txBox="1">
            <a:spLocks noChangeArrowheads="1"/>
          </p:cNvSpPr>
          <p:nvPr/>
        </p:nvSpPr>
        <p:spPr bwMode="auto">
          <a:xfrm>
            <a:off x="569913" y="3783013"/>
            <a:ext cx="18208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dirty="0">
                <a:solidFill>
                  <a:srgbClr val="000099"/>
                </a:solidFill>
              </a:rPr>
              <a:t>data link layer:</a:t>
            </a:r>
          </a:p>
          <a:p>
            <a:pPr algn="r"/>
            <a:r>
              <a:rPr lang="en-US" altLang="en-US" sz="2000" dirty="0"/>
              <a:t>e.g., Ethernet</a:t>
            </a:r>
          </a:p>
          <a:p>
            <a:pPr algn="r"/>
            <a:r>
              <a:rPr lang="en-US" altLang="en-US" sz="2000" dirty="0"/>
              <a:t>see chapter 6</a:t>
            </a:r>
            <a:endParaRPr lang="en-US" altLang="en-US" dirty="0"/>
          </a:p>
        </p:txBody>
      </p:sp>
      <p:sp>
        <p:nvSpPr>
          <p:cNvPr id="51217" name="Line 45">
            <a:extLst>
              <a:ext uri="{FF2B5EF4-FFF2-40B4-BE49-F238E27FC236}">
                <a16:creationId xmlns:a16="http://schemas.microsoft.com/office/drawing/2014/main" id="{B7B37E6E-9312-3841-93C7-2EF8EEEB4379}"/>
              </a:ext>
            </a:extLst>
          </p:cNvPr>
          <p:cNvSpPr>
            <a:spLocks noChangeShapeType="1"/>
          </p:cNvSpPr>
          <p:nvPr/>
        </p:nvSpPr>
        <p:spPr bwMode="auto">
          <a:xfrm>
            <a:off x="6969125" y="690563"/>
            <a:ext cx="11113" cy="2865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18" name="Rectangle 46">
            <a:extLst>
              <a:ext uri="{FF2B5EF4-FFF2-40B4-BE49-F238E27FC236}">
                <a16:creationId xmlns:a16="http://schemas.microsoft.com/office/drawing/2014/main" id="{0ECE0ED0-3BAA-3947-B168-8A93018297FC}"/>
              </a:ext>
            </a:extLst>
          </p:cNvPr>
          <p:cNvSpPr>
            <a:spLocks noChangeArrowheads="1"/>
          </p:cNvSpPr>
          <p:nvPr/>
        </p:nvSpPr>
        <p:spPr bwMode="auto">
          <a:xfrm>
            <a:off x="7061200" y="1819275"/>
            <a:ext cx="1055688"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0000"/>
              </a:lnSpc>
            </a:pPr>
            <a:r>
              <a:rPr lang="en-US" altLang="en-US"/>
              <a:t>switch</a:t>
            </a:r>
          </a:p>
          <a:p>
            <a:pPr algn="ctr">
              <a:lnSpc>
                <a:spcPct val="90000"/>
              </a:lnSpc>
            </a:pPr>
            <a:r>
              <a:rPr lang="en-US" altLang="en-US"/>
              <a:t>fabric</a:t>
            </a:r>
          </a:p>
        </p:txBody>
      </p:sp>
      <p:grpSp>
        <p:nvGrpSpPr>
          <p:cNvPr id="51219" name="Group 56">
            <a:extLst>
              <a:ext uri="{FF2B5EF4-FFF2-40B4-BE49-F238E27FC236}">
                <a16:creationId xmlns:a16="http://schemas.microsoft.com/office/drawing/2014/main" id="{E095895D-1357-7F43-ACE8-EB6B4FAA8D15}"/>
              </a:ext>
            </a:extLst>
          </p:cNvPr>
          <p:cNvGrpSpPr>
            <a:grpSpLocks/>
          </p:cNvGrpSpPr>
          <p:nvPr/>
        </p:nvGrpSpPr>
        <p:grpSpPr bwMode="auto">
          <a:xfrm>
            <a:off x="5175250" y="2062163"/>
            <a:ext cx="993775" cy="468312"/>
            <a:chOff x="310" y="3526"/>
            <a:chExt cx="1040" cy="457"/>
          </a:xfrm>
        </p:grpSpPr>
        <p:sp>
          <p:nvSpPr>
            <p:cNvPr id="51225" name="Rectangle 47">
              <a:extLst>
                <a:ext uri="{FF2B5EF4-FFF2-40B4-BE49-F238E27FC236}">
                  <a16:creationId xmlns:a16="http://schemas.microsoft.com/office/drawing/2014/main" id="{3C8D9A8A-9C51-E642-804C-4D6B9636D06F}"/>
                </a:ext>
              </a:extLst>
            </p:cNvPr>
            <p:cNvSpPr>
              <a:spLocks noChangeArrowheads="1"/>
            </p:cNvSpPr>
            <p:nvPr/>
          </p:nvSpPr>
          <p:spPr bwMode="auto">
            <a:xfrm>
              <a:off x="310" y="3526"/>
              <a:ext cx="1040" cy="457"/>
            </a:xfrm>
            <a:prstGeom prst="rect">
              <a:avLst/>
            </a:prstGeom>
            <a:solidFill>
              <a:srgbClr val="FF0000"/>
            </a:solidFill>
            <a:ln w="38100">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226" name="Line 48">
              <a:extLst>
                <a:ext uri="{FF2B5EF4-FFF2-40B4-BE49-F238E27FC236}">
                  <a16:creationId xmlns:a16="http://schemas.microsoft.com/office/drawing/2014/main" id="{77FC0138-7D79-3A47-A474-50AA1CADD72E}"/>
                </a:ext>
              </a:extLst>
            </p:cNvPr>
            <p:cNvSpPr>
              <a:spLocks noChangeShapeType="1"/>
            </p:cNvSpPr>
            <p:nvPr/>
          </p:nvSpPr>
          <p:spPr bwMode="auto">
            <a:xfrm>
              <a:off x="446"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27" name="Line 49">
              <a:extLst>
                <a:ext uri="{FF2B5EF4-FFF2-40B4-BE49-F238E27FC236}">
                  <a16:creationId xmlns:a16="http://schemas.microsoft.com/office/drawing/2014/main" id="{50C76ADF-D1B8-124B-A81E-F23EFB9EE5A0}"/>
                </a:ext>
              </a:extLst>
            </p:cNvPr>
            <p:cNvSpPr>
              <a:spLocks noChangeShapeType="1"/>
            </p:cNvSpPr>
            <p:nvPr/>
          </p:nvSpPr>
          <p:spPr bwMode="auto">
            <a:xfrm>
              <a:off x="558"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28" name="Line 50">
              <a:extLst>
                <a:ext uri="{FF2B5EF4-FFF2-40B4-BE49-F238E27FC236}">
                  <a16:creationId xmlns:a16="http://schemas.microsoft.com/office/drawing/2014/main" id="{23642B42-84E7-214A-BFA0-5382EC7FB643}"/>
                </a:ext>
              </a:extLst>
            </p:cNvPr>
            <p:cNvSpPr>
              <a:spLocks noChangeShapeType="1"/>
            </p:cNvSpPr>
            <p:nvPr/>
          </p:nvSpPr>
          <p:spPr bwMode="auto">
            <a:xfrm>
              <a:off x="671"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29" name="Line 51">
              <a:extLst>
                <a:ext uri="{FF2B5EF4-FFF2-40B4-BE49-F238E27FC236}">
                  <a16:creationId xmlns:a16="http://schemas.microsoft.com/office/drawing/2014/main" id="{B4AA36A0-5C00-534F-B8C1-5A927CC2AC1A}"/>
                </a:ext>
              </a:extLst>
            </p:cNvPr>
            <p:cNvSpPr>
              <a:spLocks noChangeShapeType="1"/>
            </p:cNvSpPr>
            <p:nvPr/>
          </p:nvSpPr>
          <p:spPr bwMode="auto">
            <a:xfrm>
              <a:off x="782"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30" name="Line 52">
              <a:extLst>
                <a:ext uri="{FF2B5EF4-FFF2-40B4-BE49-F238E27FC236}">
                  <a16:creationId xmlns:a16="http://schemas.microsoft.com/office/drawing/2014/main" id="{800CCBAE-056A-7C41-9766-42A448DCCDB4}"/>
                </a:ext>
              </a:extLst>
            </p:cNvPr>
            <p:cNvSpPr>
              <a:spLocks noChangeShapeType="1"/>
            </p:cNvSpPr>
            <p:nvPr/>
          </p:nvSpPr>
          <p:spPr bwMode="auto">
            <a:xfrm>
              <a:off x="895"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31" name="Line 53">
              <a:extLst>
                <a:ext uri="{FF2B5EF4-FFF2-40B4-BE49-F238E27FC236}">
                  <a16:creationId xmlns:a16="http://schemas.microsoft.com/office/drawing/2014/main" id="{2E13D35F-AF5F-BE43-9E8C-DD1D6A95607F}"/>
                </a:ext>
              </a:extLst>
            </p:cNvPr>
            <p:cNvSpPr>
              <a:spLocks noChangeShapeType="1"/>
            </p:cNvSpPr>
            <p:nvPr/>
          </p:nvSpPr>
          <p:spPr bwMode="auto">
            <a:xfrm>
              <a:off x="1006"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32" name="Line 54">
              <a:extLst>
                <a:ext uri="{FF2B5EF4-FFF2-40B4-BE49-F238E27FC236}">
                  <a16:creationId xmlns:a16="http://schemas.microsoft.com/office/drawing/2014/main" id="{5D9CEE5D-D388-C848-99DB-BBB0FD74336C}"/>
                </a:ext>
              </a:extLst>
            </p:cNvPr>
            <p:cNvSpPr>
              <a:spLocks noChangeShapeType="1"/>
            </p:cNvSpPr>
            <p:nvPr/>
          </p:nvSpPr>
          <p:spPr bwMode="auto">
            <a:xfrm>
              <a:off x="1121"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33" name="Line 55">
              <a:extLst>
                <a:ext uri="{FF2B5EF4-FFF2-40B4-BE49-F238E27FC236}">
                  <a16:creationId xmlns:a16="http://schemas.microsoft.com/office/drawing/2014/main" id="{A8CF067F-684A-FB42-B95F-83E735409712}"/>
                </a:ext>
              </a:extLst>
            </p:cNvPr>
            <p:cNvSpPr>
              <a:spLocks noChangeShapeType="1"/>
            </p:cNvSpPr>
            <p:nvPr/>
          </p:nvSpPr>
          <p:spPr bwMode="auto">
            <a:xfrm>
              <a:off x="1229"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51220" name="Line 58">
            <a:extLst>
              <a:ext uri="{FF2B5EF4-FFF2-40B4-BE49-F238E27FC236}">
                <a16:creationId xmlns:a16="http://schemas.microsoft.com/office/drawing/2014/main" id="{8BA68337-EF8E-0D44-8677-8C11610CC9AA}"/>
              </a:ext>
            </a:extLst>
          </p:cNvPr>
          <p:cNvSpPr>
            <a:spLocks noChangeShapeType="1"/>
          </p:cNvSpPr>
          <p:nvPr/>
        </p:nvSpPr>
        <p:spPr bwMode="auto">
          <a:xfrm flipV="1">
            <a:off x="2386013" y="2743200"/>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21" name="Line 59">
            <a:extLst>
              <a:ext uri="{FF2B5EF4-FFF2-40B4-BE49-F238E27FC236}">
                <a16:creationId xmlns:a16="http://schemas.microsoft.com/office/drawing/2014/main" id="{47AF5E9F-6EDA-CC41-922F-C4AE9D316ADF}"/>
              </a:ext>
            </a:extLst>
          </p:cNvPr>
          <p:cNvSpPr>
            <a:spLocks noChangeShapeType="1"/>
          </p:cNvSpPr>
          <p:nvPr/>
        </p:nvSpPr>
        <p:spPr bwMode="auto">
          <a:xfrm flipV="1">
            <a:off x="2405063" y="2940050"/>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22" name="Line 60">
            <a:extLst>
              <a:ext uri="{FF2B5EF4-FFF2-40B4-BE49-F238E27FC236}">
                <a16:creationId xmlns:a16="http://schemas.microsoft.com/office/drawing/2014/main" id="{ACFD891D-2E5E-BA42-85A4-6F8658C9FDF8}"/>
              </a:ext>
            </a:extLst>
          </p:cNvPr>
          <p:cNvSpPr>
            <a:spLocks noChangeShapeType="1"/>
          </p:cNvSpPr>
          <p:nvPr/>
        </p:nvSpPr>
        <p:spPr bwMode="auto">
          <a:xfrm flipV="1">
            <a:off x="4910138" y="3070225"/>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1223" name="Slide Number Placeholder 5">
            <a:extLst>
              <a:ext uri="{FF2B5EF4-FFF2-40B4-BE49-F238E27FC236}">
                <a16:creationId xmlns:a16="http://schemas.microsoft.com/office/drawing/2014/main" id="{C4628303-149A-9B4F-A333-0A82EB6B6C0F}"/>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12C0E58D-54C9-4C4E-B1CA-006AA0B74AF6}" type="slidenum">
              <a:rPr lang="en-US" altLang="en-US">
                <a:latin typeface="Tahoma" panose="020B0604030504040204" pitchFamily="34" charset="0"/>
              </a:rPr>
              <a:pPr/>
              <a:t>20</a:t>
            </a:fld>
            <a:endParaRPr lang="en-US" altLang="en-US">
              <a:latin typeface="Tahoma" panose="020B0604030504040204" pitchFamily="34" charset="0"/>
            </a:endParaRPr>
          </a:p>
        </p:txBody>
      </p:sp>
      <p:sp>
        <p:nvSpPr>
          <p:cNvPr id="51224" name="Footer Placeholder 2">
            <a:extLst>
              <a:ext uri="{FF2B5EF4-FFF2-40B4-BE49-F238E27FC236}">
                <a16:creationId xmlns:a16="http://schemas.microsoft.com/office/drawing/2014/main" id="{C64BF56E-CB39-3642-9959-73FFD88C988A}"/>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57" descr="underline_base">
            <a:extLst>
              <a:ext uri="{FF2B5EF4-FFF2-40B4-BE49-F238E27FC236}">
                <a16:creationId xmlns:a16="http://schemas.microsoft.com/office/drawing/2014/main" id="{B63D0BE9-4A1B-1C4F-99C4-179E831C8D3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63" y="814388"/>
            <a:ext cx="45704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Rectangle 12">
            <a:extLst>
              <a:ext uri="{FF2B5EF4-FFF2-40B4-BE49-F238E27FC236}">
                <a16:creationId xmlns:a16="http://schemas.microsoft.com/office/drawing/2014/main" id="{06E34DDB-62E2-8B44-8E74-8157A0F7EF6F}"/>
              </a:ext>
            </a:extLst>
          </p:cNvPr>
          <p:cNvSpPr>
            <a:spLocks noChangeArrowheads="1"/>
          </p:cNvSpPr>
          <p:nvPr/>
        </p:nvSpPr>
        <p:spPr bwMode="auto">
          <a:xfrm>
            <a:off x="1917700" y="1306513"/>
            <a:ext cx="4568825" cy="1836737"/>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28" name="Rectangle 13">
            <a:extLst>
              <a:ext uri="{FF2B5EF4-FFF2-40B4-BE49-F238E27FC236}">
                <a16:creationId xmlns:a16="http://schemas.microsoft.com/office/drawing/2014/main" id="{6485B61B-358C-0648-96A6-79EC063B1B7E}"/>
              </a:ext>
            </a:extLst>
          </p:cNvPr>
          <p:cNvSpPr>
            <a:spLocks noChangeArrowheads="1"/>
          </p:cNvSpPr>
          <p:nvPr/>
        </p:nvSpPr>
        <p:spPr bwMode="auto">
          <a:xfrm>
            <a:off x="2073275" y="1820863"/>
            <a:ext cx="1417638" cy="828675"/>
          </a:xfrm>
          <a:prstGeom prst="rect">
            <a:avLst/>
          </a:prstGeom>
          <a:solidFill>
            <a:schemeClr val="bg1"/>
          </a:solidFill>
          <a:ln w="28575">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line</a:t>
            </a:r>
          </a:p>
          <a:p>
            <a:pPr algn="ctr"/>
            <a:r>
              <a:rPr lang="en-US" altLang="en-US"/>
              <a:t>termination</a:t>
            </a:r>
          </a:p>
        </p:txBody>
      </p:sp>
      <p:sp>
        <p:nvSpPr>
          <p:cNvPr id="52229" name="Rectangle 14">
            <a:extLst>
              <a:ext uri="{FF2B5EF4-FFF2-40B4-BE49-F238E27FC236}">
                <a16:creationId xmlns:a16="http://schemas.microsoft.com/office/drawing/2014/main" id="{92DE08C5-C707-894C-8B38-9E914097E08D}"/>
              </a:ext>
            </a:extLst>
          </p:cNvPr>
          <p:cNvSpPr>
            <a:spLocks noChangeArrowheads="1"/>
          </p:cNvSpPr>
          <p:nvPr/>
        </p:nvSpPr>
        <p:spPr bwMode="auto">
          <a:xfrm>
            <a:off x="3697288" y="1492250"/>
            <a:ext cx="1152525" cy="1409700"/>
          </a:xfrm>
          <a:prstGeom prst="rect">
            <a:avLst/>
          </a:prstGeom>
          <a:solidFill>
            <a:schemeClr val="bg1"/>
          </a:solidFill>
          <a:ln w="28575">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30" name="Rectangle 15">
            <a:extLst>
              <a:ext uri="{FF2B5EF4-FFF2-40B4-BE49-F238E27FC236}">
                <a16:creationId xmlns:a16="http://schemas.microsoft.com/office/drawing/2014/main" id="{7E2D8593-B2FF-824D-9583-DA3447579526}"/>
              </a:ext>
            </a:extLst>
          </p:cNvPr>
          <p:cNvSpPr>
            <a:spLocks noChangeArrowheads="1"/>
          </p:cNvSpPr>
          <p:nvPr/>
        </p:nvSpPr>
        <p:spPr bwMode="auto">
          <a:xfrm>
            <a:off x="5048250" y="1443038"/>
            <a:ext cx="1247775" cy="1504950"/>
          </a:xfrm>
          <a:prstGeom prst="rect">
            <a:avLst/>
          </a:prstGeom>
          <a:solidFill>
            <a:schemeClr val="bg1"/>
          </a:solidFill>
          <a:ln w="28575">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31" name="Line 16">
            <a:extLst>
              <a:ext uri="{FF2B5EF4-FFF2-40B4-BE49-F238E27FC236}">
                <a16:creationId xmlns:a16="http://schemas.microsoft.com/office/drawing/2014/main" id="{AF720F17-18C3-EA46-9480-4971D50AE7C9}"/>
              </a:ext>
            </a:extLst>
          </p:cNvPr>
          <p:cNvSpPr>
            <a:spLocks noChangeShapeType="1"/>
          </p:cNvSpPr>
          <p:nvPr/>
        </p:nvSpPr>
        <p:spPr bwMode="auto">
          <a:xfrm>
            <a:off x="1641475" y="2232025"/>
            <a:ext cx="4238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232" name="Line 30">
            <a:extLst>
              <a:ext uri="{FF2B5EF4-FFF2-40B4-BE49-F238E27FC236}">
                <a16:creationId xmlns:a16="http://schemas.microsoft.com/office/drawing/2014/main" id="{01407C01-10D9-9347-8C31-A301E2A876EC}"/>
              </a:ext>
            </a:extLst>
          </p:cNvPr>
          <p:cNvSpPr>
            <a:spLocks noChangeShapeType="1"/>
          </p:cNvSpPr>
          <p:nvPr/>
        </p:nvSpPr>
        <p:spPr bwMode="auto">
          <a:xfrm>
            <a:off x="3509963" y="2211388"/>
            <a:ext cx="190500"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233" name="Line 31">
            <a:extLst>
              <a:ext uri="{FF2B5EF4-FFF2-40B4-BE49-F238E27FC236}">
                <a16:creationId xmlns:a16="http://schemas.microsoft.com/office/drawing/2014/main" id="{1BFD7A0A-FC1B-0C42-B9F0-31DDCBC6BA58}"/>
              </a:ext>
            </a:extLst>
          </p:cNvPr>
          <p:cNvSpPr>
            <a:spLocks noChangeShapeType="1"/>
          </p:cNvSpPr>
          <p:nvPr/>
        </p:nvSpPr>
        <p:spPr bwMode="auto">
          <a:xfrm>
            <a:off x="4852988" y="2168525"/>
            <a:ext cx="19050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234" name="Line 32">
            <a:extLst>
              <a:ext uri="{FF2B5EF4-FFF2-40B4-BE49-F238E27FC236}">
                <a16:creationId xmlns:a16="http://schemas.microsoft.com/office/drawing/2014/main" id="{9B2615F2-0FCA-EF4C-B5E0-72D28B5F49D0}"/>
              </a:ext>
            </a:extLst>
          </p:cNvPr>
          <p:cNvSpPr>
            <a:spLocks noChangeShapeType="1"/>
          </p:cNvSpPr>
          <p:nvPr/>
        </p:nvSpPr>
        <p:spPr bwMode="auto">
          <a:xfrm flipV="1">
            <a:off x="6243638" y="2209800"/>
            <a:ext cx="73660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235" name="Rectangle 33">
            <a:extLst>
              <a:ext uri="{FF2B5EF4-FFF2-40B4-BE49-F238E27FC236}">
                <a16:creationId xmlns:a16="http://schemas.microsoft.com/office/drawing/2014/main" id="{8777E473-057B-8F4D-83F7-70A9F4EA5C48}"/>
              </a:ext>
            </a:extLst>
          </p:cNvPr>
          <p:cNvSpPr>
            <a:spLocks noChangeArrowheads="1"/>
          </p:cNvSpPr>
          <p:nvPr/>
        </p:nvSpPr>
        <p:spPr bwMode="auto">
          <a:xfrm>
            <a:off x="3730625" y="1801813"/>
            <a:ext cx="1055688"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0000"/>
              </a:lnSpc>
            </a:pPr>
            <a:r>
              <a:rPr lang="en-US" altLang="en-US"/>
              <a:t>link </a:t>
            </a:r>
          </a:p>
          <a:p>
            <a:pPr algn="ctr">
              <a:lnSpc>
                <a:spcPct val="90000"/>
              </a:lnSpc>
            </a:pPr>
            <a:r>
              <a:rPr lang="en-US" altLang="en-US"/>
              <a:t>layer </a:t>
            </a:r>
          </a:p>
          <a:p>
            <a:pPr algn="ctr">
              <a:lnSpc>
                <a:spcPct val="90000"/>
              </a:lnSpc>
            </a:pPr>
            <a:r>
              <a:rPr lang="en-US" altLang="en-US"/>
              <a:t>protocol</a:t>
            </a:r>
          </a:p>
          <a:p>
            <a:pPr algn="ctr">
              <a:lnSpc>
                <a:spcPct val="90000"/>
              </a:lnSpc>
            </a:pPr>
            <a:r>
              <a:rPr lang="en-US" altLang="en-US"/>
              <a:t>(receive)</a:t>
            </a:r>
          </a:p>
        </p:txBody>
      </p:sp>
      <p:sp>
        <p:nvSpPr>
          <p:cNvPr id="52236" name="Text Box 35">
            <a:extLst>
              <a:ext uri="{FF2B5EF4-FFF2-40B4-BE49-F238E27FC236}">
                <a16:creationId xmlns:a16="http://schemas.microsoft.com/office/drawing/2014/main" id="{B9F8A506-9E93-3343-8165-35AC723E893C}"/>
              </a:ext>
            </a:extLst>
          </p:cNvPr>
          <p:cNvSpPr txBox="1">
            <a:spLocks noChangeArrowheads="1"/>
          </p:cNvSpPr>
          <p:nvPr/>
        </p:nvSpPr>
        <p:spPr bwMode="auto">
          <a:xfrm>
            <a:off x="5080000" y="1455738"/>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lookup,</a:t>
            </a:r>
          </a:p>
          <a:p>
            <a:pPr algn="ctr"/>
            <a:r>
              <a:rPr lang="en-US" altLang="en-US"/>
              <a:t>forwarding</a:t>
            </a:r>
          </a:p>
          <a:p>
            <a:pPr algn="ctr"/>
            <a:endParaRPr lang="en-US" altLang="en-US"/>
          </a:p>
          <a:p>
            <a:pPr algn="ctr"/>
            <a:endParaRPr lang="en-US" altLang="en-US"/>
          </a:p>
          <a:p>
            <a:pPr algn="ctr"/>
            <a:r>
              <a:rPr lang="en-US" altLang="en-US"/>
              <a:t>queueing</a:t>
            </a:r>
          </a:p>
        </p:txBody>
      </p:sp>
      <p:sp>
        <p:nvSpPr>
          <p:cNvPr id="52237" name="Rectangle 3">
            <a:extLst>
              <a:ext uri="{FF2B5EF4-FFF2-40B4-BE49-F238E27FC236}">
                <a16:creationId xmlns:a16="http://schemas.microsoft.com/office/drawing/2014/main" id="{7A3434FC-A197-5741-AEA5-4013315B1972}"/>
              </a:ext>
            </a:extLst>
          </p:cNvPr>
          <p:cNvSpPr>
            <a:spLocks noGrp="1" noChangeArrowheads="1"/>
          </p:cNvSpPr>
          <p:nvPr>
            <p:ph type="title"/>
          </p:nvPr>
        </p:nvSpPr>
        <p:spPr>
          <a:xfrm>
            <a:off x="422275" y="293688"/>
            <a:ext cx="7772400" cy="609600"/>
          </a:xfrm>
        </p:spPr>
        <p:txBody>
          <a:bodyPr/>
          <a:lstStyle/>
          <a:p>
            <a:r>
              <a:rPr lang="en-US" altLang="en-US" sz="4000">
                <a:ea typeface="ＭＳ Ｐゴシック" panose="020B0600070205080204" pitchFamily="34" charset="-128"/>
              </a:rPr>
              <a:t>Input port functions</a:t>
            </a:r>
            <a:endParaRPr lang="en-US" altLang="en-US">
              <a:ea typeface="ＭＳ Ｐゴシック" panose="020B0600070205080204" pitchFamily="34" charset="-128"/>
            </a:endParaRPr>
          </a:p>
        </p:txBody>
      </p:sp>
      <p:sp>
        <p:nvSpPr>
          <p:cNvPr id="52238" name="Rectangle 4">
            <a:extLst>
              <a:ext uri="{FF2B5EF4-FFF2-40B4-BE49-F238E27FC236}">
                <a16:creationId xmlns:a16="http://schemas.microsoft.com/office/drawing/2014/main" id="{049322DD-24F8-6342-97A8-50A1725E7291}"/>
              </a:ext>
            </a:extLst>
          </p:cNvPr>
          <p:cNvSpPr>
            <a:spLocks noGrp="1" noChangeArrowheads="1"/>
          </p:cNvSpPr>
          <p:nvPr>
            <p:ph type="body" idx="1"/>
          </p:nvPr>
        </p:nvSpPr>
        <p:spPr>
          <a:xfrm>
            <a:off x="3394075" y="3492500"/>
            <a:ext cx="5456238" cy="2667000"/>
          </a:xfrm>
        </p:spPr>
        <p:txBody>
          <a:bodyPr/>
          <a:lstStyle/>
          <a:p>
            <a:pPr>
              <a:lnSpc>
                <a:spcPct val="90000"/>
              </a:lnSpc>
              <a:buFont typeface="Wingdings" pitchFamily="2" charset="2"/>
              <a:buNone/>
            </a:pPr>
            <a:r>
              <a:rPr lang="en-US" altLang="en-US" sz="2400" dirty="0">
                <a:solidFill>
                  <a:srgbClr val="000099"/>
                </a:solidFill>
                <a:ea typeface="ＭＳ Ｐゴシック" panose="020B0600070205080204" pitchFamily="34" charset="-128"/>
                <a:cs typeface="ＭＳ Ｐゴシック" panose="020B0600070205080204" pitchFamily="34" charset="-128"/>
              </a:rPr>
              <a:t>decentralized switching</a:t>
            </a:r>
            <a:r>
              <a:rPr lang="en-US" altLang="en-US" sz="2400" i="1" dirty="0">
                <a:solidFill>
                  <a:srgbClr val="000099"/>
                </a:solidFill>
                <a:ea typeface="ＭＳ Ｐゴシック" panose="020B0600070205080204" pitchFamily="34" charset="-128"/>
                <a:cs typeface="ＭＳ Ｐゴシック" panose="020B0600070205080204" pitchFamily="34" charset="-128"/>
              </a:rPr>
              <a:t>:</a:t>
            </a:r>
            <a:r>
              <a:rPr lang="en-US" altLang="en-US" sz="2400" dirty="0">
                <a:solidFill>
                  <a:srgbClr val="000099"/>
                </a:solidFill>
                <a:ea typeface="ＭＳ Ｐゴシック" panose="020B0600070205080204" pitchFamily="34" charset="-128"/>
                <a:cs typeface="ＭＳ Ｐゴシック" panose="020B0600070205080204" pitchFamily="34" charset="-128"/>
              </a:rPr>
              <a:t> </a:t>
            </a:r>
          </a:p>
          <a:p>
            <a:pPr>
              <a:lnSpc>
                <a:spcPct val="90000"/>
              </a:lnSpc>
            </a:pPr>
            <a:r>
              <a:rPr lang="en-US" altLang="en-US" sz="2200" dirty="0">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lang="en-US" altLang="en-US" sz="2200" i="1" dirty="0">
                <a:ea typeface="ＭＳ Ｐゴシック" panose="020B0600070205080204" pitchFamily="34" charset="-128"/>
                <a:cs typeface="ＭＳ Ｐゴシック" panose="020B0600070205080204" pitchFamily="34" charset="-128"/>
              </a:rPr>
              <a:t>(“match plus action”)</a:t>
            </a:r>
          </a:p>
          <a:p>
            <a:pPr>
              <a:lnSpc>
                <a:spcPct val="90000"/>
              </a:lnSpc>
            </a:pPr>
            <a:r>
              <a:rPr lang="en-US" altLang="en-US" sz="2200" i="1" dirty="0">
                <a:solidFill>
                  <a:srgbClr val="CC0000"/>
                </a:solidFill>
                <a:ea typeface="ＭＳ Ｐゴシック" panose="020B0600070205080204" pitchFamily="34" charset="-128"/>
                <a:cs typeface="ＭＳ Ｐゴシック" panose="020B0600070205080204" pitchFamily="34" charset="-128"/>
              </a:rPr>
              <a:t>destination-based forwarding: </a:t>
            </a:r>
            <a:r>
              <a:rPr lang="en-US" altLang="en-US" sz="2200" dirty="0">
                <a:ea typeface="ＭＳ Ｐゴシック" panose="020B0600070205080204" pitchFamily="34" charset="-128"/>
                <a:cs typeface="ＭＳ Ｐゴシック" panose="020B0600070205080204" pitchFamily="34" charset="-128"/>
              </a:rPr>
              <a:t>forward based only on destination IP address (traditional)</a:t>
            </a:r>
            <a:endParaRPr lang="en-US" altLang="ja-JP" sz="2200" dirty="0">
              <a:ea typeface="ＭＳ Ｐゴシック" panose="020B0600070205080204" pitchFamily="34" charset="-128"/>
              <a:cs typeface="ＭＳ Ｐゴシック" panose="020B0600070205080204" pitchFamily="34" charset="-128"/>
            </a:endParaRPr>
          </a:p>
          <a:p>
            <a:pPr>
              <a:lnSpc>
                <a:spcPct val="90000"/>
              </a:lnSpc>
            </a:pPr>
            <a:r>
              <a:rPr lang="en-US" altLang="en-US" sz="2200" i="1" dirty="0">
                <a:solidFill>
                  <a:srgbClr val="CC0000"/>
                </a:solidFill>
                <a:ea typeface="ＭＳ Ｐゴシック" panose="020B0600070205080204" pitchFamily="34" charset="-128"/>
                <a:cs typeface="ＭＳ Ｐゴシック" panose="020B0600070205080204" pitchFamily="34" charset="-128"/>
              </a:rPr>
              <a:t>generalized forwarding (SDN): </a:t>
            </a:r>
            <a:r>
              <a:rPr lang="en-US" altLang="en-US" sz="2200" dirty="0">
                <a:ea typeface="ＭＳ Ｐゴシック" panose="020B0600070205080204" pitchFamily="34" charset="-128"/>
                <a:cs typeface="ＭＳ Ｐゴシック" panose="020B0600070205080204" pitchFamily="34" charset="-128"/>
              </a:rPr>
              <a:t>forward based on any set of header field values</a:t>
            </a:r>
          </a:p>
        </p:txBody>
      </p:sp>
      <p:sp>
        <p:nvSpPr>
          <p:cNvPr id="52239" name="Text Box 5">
            <a:extLst>
              <a:ext uri="{FF2B5EF4-FFF2-40B4-BE49-F238E27FC236}">
                <a16:creationId xmlns:a16="http://schemas.microsoft.com/office/drawing/2014/main" id="{8D15AD9B-3DAA-244A-AD86-E86B1078F74B}"/>
              </a:ext>
            </a:extLst>
          </p:cNvPr>
          <p:cNvSpPr txBox="1">
            <a:spLocks noChangeArrowheads="1"/>
          </p:cNvSpPr>
          <p:nvPr/>
        </p:nvSpPr>
        <p:spPr bwMode="auto">
          <a:xfrm>
            <a:off x="201613" y="3054350"/>
            <a:ext cx="21748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a:solidFill>
                  <a:srgbClr val="000099"/>
                </a:solidFill>
              </a:rPr>
              <a:t>physical layer:</a:t>
            </a:r>
          </a:p>
          <a:p>
            <a:pPr algn="r"/>
            <a:r>
              <a:rPr lang="en-US" altLang="en-US" sz="2000"/>
              <a:t>bit-level reception</a:t>
            </a:r>
            <a:endParaRPr lang="en-US" altLang="en-US"/>
          </a:p>
        </p:txBody>
      </p:sp>
      <p:sp>
        <p:nvSpPr>
          <p:cNvPr id="52240" name="Text Box 6">
            <a:extLst>
              <a:ext uri="{FF2B5EF4-FFF2-40B4-BE49-F238E27FC236}">
                <a16:creationId xmlns:a16="http://schemas.microsoft.com/office/drawing/2014/main" id="{5FD3388E-D951-7042-9E36-17C34998B8C6}"/>
              </a:ext>
            </a:extLst>
          </p:cNvPr>
          <p:cNvSpPr txBox="1">
            <a:spLocks noChangeArrowheads="1"/>
          </p:cNvSpPr>
          <p:nvPr/>
        </p:nvSpPr>
        <p:spPr bwMode="auto">
          <a:xfrm>
            <a:off x="569913" y="3783013"/>
            <a:ext cx="18208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dirty="0">
                <a:solidFill>
                  <a:srgbClr val="000099"/>
                </a:solidFill>
              </a:rPr>
              <a:t>data link layer:</a:t>
            </a:r>
          </a:p>
          <a:p>
            <a:pPr algn="r"/>
            <a:r>
              <a:rPr lang="en-US" altLang="en-US" sz="2000" dirty="0"/>
              <a:t>e.g., Ethernet</a:t>
            </a:r>
          </a:p>
          <a:p>
            <a:pPr algn="r"/>
            <a:r>
              <a:rPr lang="en-US" altLang="en-US" sz="2000" dirty="0"/>
              <a:t>see chapter 6</a:t>
            </a:r>
            <a:endParaRPr lang="en-US" altLang="en-US" dirty="0"/>
          </a:p>
        </p:txBody>
      </p:sp>
      <p:sp>
        <p:nvSpPr>
          <p:cNvPr id="52241" name="Line 45">
            <a:extLst>
              <a:ext uri="{FF2B5EF4-FFF2-40B4-BE49-F238E27FC236}">
                <a16:creationId xmlns:a16="http://schemas.microsoft.com/office/drawing/2014/main" id="{FE31F09E-0258-6247-8F76-A67D23E75FE1}"/>
              </a:ext>
            </a:extLst>
          </p:cNvPr>
          <p:cNvSpPr>
            <a:spLocks noChangeShapeType="1"/>
          </p:cNvSpPr>
          <p:nvPr/>
        </p:nvSpPr>
        <p:spPr bwMode="auto">
          <a:xfrm>
            <a:off x="6969125" y="690563"/>
            <a:ext cx="11113" cy="2865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42" name="Rectangle 46">
            <a:extLst>
              <a:ext uri="{FF2B5EF4-FFF2-40B4-BE49-F238E27FC236}">
                <a16:creationId xmlns:a16="http://schemas.microsoft.com/office/drawing/2014/main" id="{C3D16531-4700-BE4B-A0AD-28DD4B917D60}"/>
              </a:ext>
            </a:extLst>
          </p:cNvPr>
          <p:cNvSpPr>
            <a:spLocks noChangeArrowheads="1"/>
          </p:cNvSpPr>
          <p:nvPr/>
        </p:nvSpPr>
        <p:spPr bwMode="auto">
          <a:xfrm>
            <a:off x="7061200" y="1819275"/>
            <a:ext cx="1055688"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0000"/>
              </a:lnSpc>
            </a:pPr>
            <a:r>
              <a:rPr lang="en-US" altLang="en-US"/>
              <a:t>switch</a:t>
            </a:r>
          </a:p>
          <a:p>
            <a:pPr algn="ctr">
              <a:lnSpc>
                <a:spcPct val="90000"/>
              </a:lnSpc>
            </a:pPr>
            <a:r>
              <a:rPr lang="en-US" altLang="en-US"/>
              <a:t>fabric</a:t>
            </a:r>
          </a:p>
        </p:txBody>
      </p:sp>
      <p:grpSp>
        <p:nvGrpSpPr>
          <p:cNvPr id="52243" name="Group 56">
            <a:extLst>
              <a:ext uri="{FF2B5EF4-FFF2-40B4-BE49-F238E27FC236}">
                <a16:creationId xmlns:a16="http://schemas.microsoft.com/office/drawing/2014/main" id="{9F957D97-857C-CB40-BEE9-7231A4BF26B7}"/>
              </a:ext>
            </a:extLst>
          </p:cNvPr>
          <p:cNvGrpSpPr>
            <a:grpSpLocks/>
          </p:cNvGrpSpPr>
          <p:nvPr/>
        </p:nvGrpSpPr>
        <p:grpSpPr bwMode="auto">
          <a:xfrm>
            <a:off x="5175250" y="2062163"/>
            <a:ext cx="993775" cy="468312"/>
            <a:chOff x="310" y="3526"/>
            <a:chExt cx="1040" cy="457"/>
          </a:xfrm>
        </p:grpSpPr>
        <p:sp>
          <p:nvSpPr>
            <p:cNvPr id="52249" name="Rectangle 47">
              <a:extLst>
                <a:ext uri="{FF2B5EF4-FFF2-40B4-BE49-F238E27FC236}">
                  <a16:creationId xmlns:a16="http://schemas.microsoft.com/office/drawing/2014/main" id="{7802D3F3-9500-3342-9BA2-750043A6212D}"/>
                </a:ext>
              </a:extLst>
            </p:cNvPr>
            <p:cNvSpPr>
              <a:spLocks noChangeArrowheads="1"/>
            </p:cNvSpPr>
            <p:nvPr/>
          </p:nvSpPr>
          <p:spPr bwMode="auto">
            <a:xfrm>
              <a:off x="310" y="3526"/>
              <a:ext cx="1040" cy="457"/>
            </a:xfrm>
            <a:prstGeom prst="rect">
              <a:avLst/>
            </a:prstGeom>
            <a:solidFill>
              <a:srgbClr val="FF0000"/>
            </a:solidFill>
            <a:ln w="38100">
              <a:solidFill>
                <a:schemeClr val="bg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2250" name="Line 48">
              <a:extLst>
                <a:ext uri="{FF2B5EF4-FFF2-40B4-BE49-F238E27FC236}">
                  <a16:creationId xmlns:a16="http://schemas.microsoft.com/office/drawing/2014/main" id="{BF7098F2-1AC8-1B45-BF4F-B5341833335E}"/>
                </a:ext>
              </a:extLst>
            </p:cNvPr>
            <p:cNvSpPr>
              <a:spLocks noChangeShapeType="1"/>
            </p:cNvSpPr>
            <p:nvPr/>
          </p:nvSpPr>
          <p:spPr bwMode="auto">
            <a:xfrm>
              <a:off x="446"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51" name="Line 49">
              <a:extLst>
                <a:ext uri="{FF2B5EF4-FFF2-40B4-BE49-F238E27FC236}">
                  <a16:creationId xmlns:a16="http://schemas.microsoft.com/office/drawing/2014/main" id="{87FAF80D-95E2-114C-BCFB-453EB2FB5B55}"/>
                </a:ext>
              </a:extLst>
            </p:cNvPr>
            <p:cNvSpPr>
              <a:spLocks noChangeShapeType="1"/>
            </p:cNvSpPr>
            <p:nvPr/>
          </p:nvSpPr>
          <p:spPr bwMode="auto">
            <a:xfrm>
              <a:off x="558"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52" name="Line 50">
              <a:extLst>
                <a:ext uri="{FF2B5EF4-FFF2-40B4-BE49-F238E27FC236}">
                  <a16:creationId xmlns:a16="http://schemas.microsoft.com/office/drawing/2014/main" id="{6D5E7A0B-51DB-5F41-8570-B81BF256353C}"/>
                </a:ext>
              </a:extLst>
            </p:cNvPr>
            <p:cNvSpPr>
              <a:spLocks noChangeShapeType="1"/>
            </p:cNvSpPr>
            <p:nvPr/>
          </p:nvSpPr>
          <p:spPr bwMode="auto">
            <a:xfrm>
              <a:off x="671"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53" name="Line 51">
              <a:extLst>
                <a:ext uri="{FF2B5EF4-FFF2-40B4-BE49-F238E27FC236}">
                  <a16:creationId xmlns:a16="http://schemas.microsoft.com/office/drawing/2014/main" id="{BEF00020-C724-2A45-AC01-3B15FCB05BF2}"/>
                </a:ext>
              </a:extLst>
            </p:cNvPr>
            <p:cNvSpPr>
              <a:spLocks noChangeShapeType="1"/>
            </p:cNvSpPr>
            <p:nvPr/>
          </p:nvSpPr>
          <p:spPr bwMode="auto">
            <a:xfrm>
              <a:off x="782"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54" name="Line 52">
              <a:extLst>
                <a:ext uri="{FF2B5EF4-FFF2-40B4-BE49-F238E27FC236}">
                  <a16:creationId xmlns:a16="http://schemas.microsoft.com/office/drawing/2014/main" id="{8361351D-2A0A-B246-BC58-C0996D96788B}"/>
                </a:ext>
              </a:extLst>
            </p:cNvPr>
            <p:cNvSpPr>
              <a:spLocks noChangeShapeType="1"/>
            </p:cNvSpPr>
            <p:nvPr/>
          </p:nvSpPr>
          <p:spPr bwMode="auto">
            <a:xfrm>
              <a:off x="895"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55" name="Line 53">
              <a:extLst>
                <a:ext uri="{FF2B5EF4-FFF2-40B4-BE49-F238E27FC236}">
                  <a16:creationId xmlns:a16="http://schemas.microsoft.com/office/drawing/2014/main" id="{6AC12EA9-81E6-C44D-B745-AED4AE35D85A}"/>
                </a:ext>
              </a:extLst>
            </p:cNvPr>
            <p:cNvSpPr>
              <a:spLocks noChangeShapeType="1"/>
            </p:cNvSpPr>
            <p:nvPr/>
          </p:nvSpPr>
          <p:spPr bwMode="auto">
            <a:xfrm>
              <a:off x="1006"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56" name="Line 54">
              <a:extLst>
                <a:ext uri="{FF2B5EF4-FFF2-40B4-BE49-F238E27FC236}">
                  <a16:creationId xmlns:a16="http://schemas.microsoft.com/office/drawing/2014/main" id="{72766ADD-C75F-7C47-B91E-F81E95D3D1A8}"/>
                </a:ext>
              </a:extLst>
            </p:cNvPr>
            <p:cNvSpPr>
              <a:spLocks noChangeShapeType="1"/>
            </p:cNvSpPr>
            <p:nvPr/>
          </p:nvSpPr>
          <p:spPr bwMode="auto">
            <a:xfrm>
              <a:off x="1121"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57" name="Line 55">
              <a:extLst>
                <a:ext uri="{FF2B5EF4-FFF2-40B4-BE49-F238E27FC236}">
                  <a16:creationId xmlns:a16="http://schemas.microsoft.com/office/drawing/2014/main" id="{DDE0729A-F144-9647-956B-E7318DB05431}"/>
                </a:ext>
              </a:extLst>
            </p:cNvPr>
            <p:cNvSpPr>
              <a:spLocks noChangeShapeType="1"/>
            </p:cNvSpPr>
            <p:nvPr/>
          </p:nvSpPr>
          <p:spPr bwMode="auto">
            <a:xfrm>
              <a:off x="1229"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52244" name="Line 58">
            <a:extLst>
              <a:ext uri="{FF2B5EF4-FFF2-40B4-BE49-F238E27FC236}">
                <a16:creationId xmlns:a16="http://schemas.microsoft.com/office/drawing/2014/main" id="{EA0F049C-8D2C-4A4A-803A-F510D0E0AC20}"/>
              </a:ext>
            </a:extLst>
          </p:cNvPr>
          <p:cNvSpPr>
            <a:spLocks noChangeShapeType="1"/>
          </p:cNvSpPr>
          <p:nvPr/>
        </p:nvSpPr>
        <p:spPr bwMode="auto">
          <a:xfrm flipV="1">
            <a:off x="2386013" y="2743200"/>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45" name="Line 59">
            <a:extLst>
              <a:ext uri="{FF2B5EF4-FFF2-40B4-BE49-F238E27FC236}">
                <a16:creationId xmlns:a16="http://schemas.microsoft.com/office/drawing/2014/main" id="{1CC322E8-F9B3-9745-B3A0-521051E55D86}"/>
              </a:ext>
            </a:extLst>
          </p:cNvPr>
          <p:cNvSpPr>
            <a:spLocks noChangeShapeType="1"/>
          </p:cNvSpPr>
          <p:nvPr/>
        </p:nvSpPr>
        <p:spPr bwMode="auto">
          <a:xfrm flipV="1">
            <a:off x="2405063" y="2940050"/>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46" name="Line 60">
            <a:extLst>
              <a:ext uri="{FF2B5EF4-FFF2-40B4-BE49-F238E27FC236}">
                <a16:creationId xmlns:a16="http://schemas.microsoft.com/office/drawing/2014/main" id="{B71AE42E-6880-3847-B4F9-393F2B1FE6FC}"/>
              </a:ext>
            </a:extLst>
          </p:cNvPr>
          <p:cNvSpPr>
            <a:spLocks noChangeShapeType="1"/>
          </p:cNvSpPr>
          <p:nvPr/>
        </p:nvSpPr>
        <p:spPr bwMode="auto">
          <a:xfrm flipV="1">
            <a:off x="5103813" y="3070225"/>
            <a:ext cx="476250" cy="57785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2247" name="Slide Number Placeholder 5">
            <a:extLst>
              <a:ext uri="{FF2B5EF4-FFF2-40B4-BE49-F238E27FC236}">
                <a16:creationId xmlns:a16="http://schemas.microsoft.com/office/drawing/2014/main" id="{E88770D9-5A3A-F745-8F48-880F0D16BBF8}"/>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84E20EA2-FCD2-7948-AC42-E882293AF853}" type="slidenum">
              <a:rPr lang="en-US" altLang="en-US">
                <a:latin typeface="Tahoma" panose="020B0604030504040204" pitchFamily="34" charset="0"/>
              </a:rPr>
              <a:pPr/>
              <a:t>21</a:t>
            </a:fld>
            <a:endParaRPr lang="en-US" altLang="en-US">
              <a:latin typeface="Tahoma" panose="020B0604030504040204" pitchFamily="34" charset="0"/>
            </a:endParaRPr>
          </a:p>
        </p:txBody>
      </p:sp>
      <p:sp>
        <p:nvSpPr>
          <p:cNvPr id="52248" name="Footer Placeholder 2">
            <a:extLst>
              <a:ext uri="{FF2B5EF4-FFF2-40B4-BE49-F238E27FC236}">
                <a16:creationId xmlns:a16="http://schemas.microsoft.com/office/drawing/2014/main" id="{7F4C3608-2682-9C4A-8D39-6D5EE1834C53}"/>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2">
            <a:extLst>
              <a:ext uri="{FF2B5EF4-FFF2-40B4-BE49-F238E27FC236}">
                <a16:creationId xmlns:a16="http://schemas.microsoft.com/office/drawing/2014/main" id="{39713235-40E8-FD43-A0F7-09AF038C8856}"/>
              </a:ext>
            </a:extLst>
          </p:cNvPr>
          <p:cNvSpPr txBox="1">
            <a:spLocks noChangeArrowheads="1"/>
          </p:cNvSpPr>
          <p:nvPr/>
        </p:nvSpPr>
        <p:spPr bwMode="auto">
          <a:xfrm>
            <a:off x="891001" y="5382453"/>
            <a:ext cx="54994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800" i="1" dirty="0">
                <a:solidFill>
                  <a:srgbClr val="CC0000"/>
                </a:solidFill>
                <a:latin typeface="Calibri" panose="020F0502020204030204"/>
              </a:rPr>
              <a:t>Q:</a:t>
            </a:r>
            <a:r>
              <a:rPr lang="en-US" altLang="en-US" sz="1800" dirty="0">
                <a:solidFill>
                  <a:prstClr val="black"/>
                </a:solidFill>
                <a:latin typeface="Calibri" panose="020F0502020204030204"/>
              </a:rPr>
              <a:t> but what happens if ranges don’</a:t>
            </a:r>
            <a:r>
              <a:rPr lang="en-US" altLang="ja-JP" sz="1800" dirty="0">
                <a:solidFill>
                  <a:prstClr val="black"/>
                </a:solidFill>
                <a:latin typeface="Calibri" panose="020F0502020204030204"/>
              </a:rPr>
              <a:t>t divide up so nicely? </a:t>
            </a:r>
            <a:endParaRPr lang="en-US" altLang="en-US" sz="1800" dirty="0">
              <a:solidFill>
                <a:prstClr val="black"/>
              </a:solidFill>
              <a:latin typeface="Calibri" panose="020F0502020204030204"/>
            </a:endParaRPr>
          </a:p>
        </p:txBody>
      </p:sp>
      <p:pic>
        <p:nvPicPr>
          <p:cNvPr id="27" name="Picture 26">
            <a:extLst>
              <a:ext uri="{FF2B5EF4-FFF2-40B4-BE49-F238E27FC236}">
                <a16:creationId xmlns:a16="http://schemas.microsoft.com/office/drawing/2014/main" id="{26C911F9-D713-DF44-9F74-E50D01F6C43A}"/>
              </a:ext>
            </a:extLst>
          </p:cNvPr>
          <p:cNvPicPr>
            <a:picLocks noChangeAspect="1"/>
          </p:cNvPicPr>
          <p:nvPr/>
        </p:nvPicPr>
        <p:blipFill>
          <a:blip r:embed="rId3"/>
          <a:stretch>
            <a:fillRect/>
          </a:stretch>
        </p:blipFill>
        <p:spPr>
          <a:xfrm>
            <a:off x="792308" y="3223129"/>
            <a:ext cx="7031900" cy="2084678"/>
          </a:xfrm>
          <a:prstGeom prst="rect">
            <a:avLst/>
          </a:prstGeom>
        </p:spPr>
      </p:pic>
      <p:grpSp>
        <p:nvGrpSpPr>
          <p:cNvPr id="7" name="Group 6">
            <a:extLst>
              <a:ext uri="{FF2B5EF4-FFF2-40B4-BE49-F238E27FC236}">
                <a16:creationId xmlns:a16="http://schemas.microsoft.com/office/drawing/2014/main" id="{625C7E65-E330-D54C-9458-A2526E45EE84}"/>
              </a:ext>
            </a:extLst>
          </p:cNvPr>
          <p:cNvGrpSpPr/>
          <p:nvPr/>
        </p:nvGrpSpPr>
        <p:grpSpPr>
          <a:xfrm>
            <a:off x="674051" y="1688523"/>
            <a:ext cx="7274995" cy="1533435"/>
            <a:chOff x="898734" y="1108364"/>
            <a:chExt cx="9699993" cy="2044580"/>
          </a:xfrm>
        </p:grpSpPr>
        <p:pic>
          <p:nvPicPr>
            <p:cNvPr id="28" name="Picture 27">
              <a:extLst>
                <a:ext uri="{FF2B5EF4-FFF2-40B4-BE49-F238E27FC236}">
                  <a16:creationId xmlns:a16="http://schemas.microsoft.com/office/drawing/2014/main" id="{AB2C9B1D-B13F-2A44-BFD7-FE059F60C03B}"/>
                </a:ext>
              </a:extLst>
            </p:cNvPr>
            <p:cNvPicPr>
              <a:picLocks noChangeAspect="1"/>
            </p:cNvPicPr>
            <p:nvPr/>
          </p:nvPicPr>
          <p:blipFill>
            <a:blip r:embed="rId4"/>
            <a:stretch>
              <a:fillRect/>
            </a:stretch>
          </p:blipFill>
          <p:spPr>
            <a:xfrm>
              <a:off x="898734" y="1186912"/>
              <a:ext cx="9594790" cy="1966032"/>
            </a:xfrm>
            <a:prstGeom prst="rect">
              <a:avLst/>
            </a:prstGeom>
          </p:spPr>
        </p:pic>
        <p:sp>
          <p:nvSpPr>
            <p:cNvPr id="5" name="Rectangle 4">
              <a:extLst>
                <a:ext uri="{FF2B5EF4-FFF2-40B4-BE49-F238E27FC236}">
                  <a16:creationId xmlns:a16="http://schemas.microsoft.com/office/drawing/2014/main" id="{1FAB1BC2-A9DF-384B-9E93-78C77805E9B5}"/>
                </a:ext>
              </a:extLst>
            </p:cNvPr>
            <p:cNvSpPr/>
            <p:nvPr/>
          </p:nvSpPr>
          <p:spPr>
            <a:xfrm>
              <a:off x="1039091" y="1108364"/>
              <a:ext cx="9559636" cy="2355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628650" y="1116603"/>
            <a:ext cx="7886700" cy="670967"/>
          </a:xfrm>
        </p:spPr>
        <p:txBody>
          <a:bodyPr>
            <a:normAutofit/>
          </a:bodyPr>
          <a:lstStyle/>
          <a:p>
            <a:r>
              <a:rPr lang="en-US" sz="3600" dirty="0"/>
              <a:t>Destination-based forwarding</a:t>
            </a:r>
          </a:p>
        </p:txBody>
      </p:sp>
      <p:grpSp>
        <p:nvGrpSpPr>
          <p:cNvPr id="9" name="Group 8">
            <a:extLst>
              <a:ext uri="{FF2B5EF4-FFF2-40B4-BE49-F238E27FC236}">
                <a16:creationId xmlns:a16="http://schemas.microsoft.com/office/drawing/2014/main" id="{BDFBC640-7D8A-6C4E-A73D-113F295A0D69}"/>
              </a:ext>
            </a:extLst>
          </p:cNvPr>
          <p:cNvGrpSpPr/>
          <p:nvPr/>
        </p:nvGrpSpPr>
        <p:grpSpPr>
          <a:xfrm>
            <a:off x="778886" y="2866596"/>
            <a:ext cx="6820002" cy="962459"/>
            <a:chOff x="1038514" y="2679128"/>
            <a:chExt cx="9093336" cy="1283278"/>
          </a:xfrm>
        </p:grpSpPr>
        <p:pic>
          <p:nvPicPr>
            <p:cNvPr id="29" name="Picture 28">
              <a:extLst>
                <a:ext uri="{FF2B5EF4-FFF2-40B4-BE49-F238E27FC236}">
                  <a16:creationId xmlns:a16="http://schemas.microsoft.com/office/drawing/2014/main" id="{16512AEA-D127-3748-A1EB-EB563AC90228}"/>
                </a:ext>
              </a:extLst>
            </p:cNvPr>
            <p:cNvPicPr>
              <a:picLocks noChangeAspect="1"/>
            </p:cNvPicPr>
            <p:nvPr/>
          </p:nvPicPr>
          <p:blipFill>
            <a:blip r:embed="rId5"/>
            <a:stretch>
              <a:fillRect/>
            </a:stretch>
          </p:blipFill>
          <p:spPr>
            <a:xfrm>
              <a:off x="1038514" y="2679128"/>
              <a:ext cx="9093336" cy="1283278"/>
            </a:xfrm>
            <a:prstGeom prst="rect">
              <a:avLst/>
            </a:prstGeom>
          </p:spPr>
        </p:pic>
        <p:sp>
          <p:nvSpPr>
            <p:cNvPr id="8" name="TextBox 7">
              <a:extLst>
                <a:ext uri="{FF2B5EF4-FFF2-40B4-BE49-F238E27FC236}">
                  <a16:creationId xmlns:a16="http://schemas.microsoft.com/office/drawing/2014/main" id="{9EF59FBD-8B2C-9141-A4D8-C536B3311F8A}"/>
                </a:ext>
              </a:extLst>
            </p:cNvPr>
            <p:cNvSpPr txBox="1"/>
            <p:nvPr/>
          </p:nvSpPr>
          <p:spPr>
            <a:xfrm>
              <a:off x="8451273" y="3131128"/>
              <a:ext cx="886691" cy="461665"/>
            </a:xfrm>
            <a:prstGeom prst="rect">
              <a:avLst/>
            </a:prstGeom>
            <a:solidFill>
              <a:schemeClr val="bg1"/>
            </a:solidFill>
          </p:spPr>
          <p:txBody>
            <a:bodyPr wrap="square" rtlCol="0">
              <a:spAutoFit/>
            </a:bodyPr>
            <a:lstStyle/>
            <a:p>
              <a:pPr algn="ctr" defTabSz="685800" eaLnBrk="1" fontAlgn="auto" hangingPunct="1">
                <a:spcBef>
                  <a:spcPts val="0"/>
                </a:spcBef>
                <a:spcAft>
                  <a:spcPts val="0"/>
                </a:spcAft>
                <a:defRPr/>
              </a:pPr>
              <a:r>
                <a:rPr lang="en-US" sz="1650" dirty="0">
                  <a:solidFill>
                    <a:prstClr val="black"/>
                  </a:solidFill>
                  <a:latin typeface="Calibri" panose="020F0502020204030204"/>
                  <a:ea typeface="+mn-ea"/>
                </a:rPr>
                <a:t>3</a:t>
              </a:r>
            </a:p>
          </p:txBody>
        </p:sp>
      </p:grpSp>
      <p:sp>
        <p:nvSpPr>
          <p:cNvPr id="11" name="Slide Number Placeholder 4">
            <a:extLst>
              <a:ext uri="{FF2B5EF4-FFF2-40B4-BE49-F238E27FC236}">
                <a16:creationId xmlns:a16="http://schemas.microsoft.com/office/drawing/2014/main" id="{81C74D07-6178-E24A-9413-942CDFCE346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22</a:t>
            </a:fld>
            <a:endParaRPr lang="en-US" dirty="0"/>
          </a:p>
        </p:txBody>
      </p:sp>
      <p:sp>
        <p:nvSpPr>
          <p:cNvPr id="3" name="Slide Number Placeholder 4">
            <a:extLst>
              <a:ext uri="{FF2B5EF4-FFF2-40B4-BE49-F238E27FC236}">
                <a16:creationId xmlns:a16="http://schemas.microsoft.com/office/drawing/2014/main" id="{7B19163C-8475-D440-371F-5E130A2E4024}"/>
              </a:ext>
            </a:extLst>
          </p:cNvPr>
          <p:cNvSpPr txBox="1">
            <a:spLocks/>
          </p:cNvSpPr>
          <p:nvPr/>
        </p:nvSpPr>
        <p:spPr bwMode="auto">
          <a:xfrm>
            <a:off x="6826828" y="6381651"/>
            <a:ext cx="2057400" cy="27384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Tahom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a:t>Network Layer: 4-</a:t>
            </a:r>
            <a:fld id="{C4204591-24BD-A542-B9D5-F8D8A88D2FEE}" type="slidenum">
              <a:rPr lang="en-US" smtClean="0"/>
              <a:pPr/>
              <a:t>22</a:t>
            </a:fld>
            <a:endParaRPr lang="en-US" dirty="0"/>
          </a:p>
        </p:txBody>
      </p:sp>
    </p:spTree>
    <p:extLst>
      <p:ext uri="{BB962C8B-B14F-4D97-AF65-F5344CB8AC3E}">
        <p14:creationId xmlns:p14="http://schemas.microsoft.com/office/powerpoint/2010/main" val="365791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42" presetClass="path" presetSubtype="0" accel="50000" decel="50000" fill="hold" nodeType="withEffect">
                                  <p:stCondLst>
                                    <p:cond delay="0"/>
                                  </p:stCondLst>
                                  <p:childTnLst>
                                    <p:animMotion origin="layout" path="M -3.75E-6 1.11022E-16 L 0.00052 0.10718 " pathEditMode="relative" rAng="0" ptsTypes="AA">
                                      <p:cBhvr>
                                        <p:cTn id="9" dur="2000" fill="hold"/>
                                        <p:tgtEl>
                                          <p:spTgt spid="27"/>
                                        </p:tgtEl>
                                        <p:attrNameLst>
                                          <p:attrName>ppt_x</p:attrName>
                                          <p:attrName>ppt_y</p:attrName>
                                        </p:attrNameLst>
                                      </p:cBhvr>
                                      <p:rCtr x="26" y="5347"/>
                                    </p:animMotion>
                                  </p:childTnLst>
                                </p:cTn>
                              </p:par>
                              <p:par>
                                <p:cTn id="10" presetID="42" presetClass="path" presetSubtype="0" accel="50000" decel="50000" fill="hold" nodeType="withEffect">
                                  <p:stCondLst>
                                    <p:cond delay="0"/>
                                  </p:stCondLst>
                                  <p:childTnLst>
                                    <p:animMotion origin="layout" path="M -4.375E-6 1.85185E-6 L 0.00013 -0.05417 " pathEditMode="relative" rAng="0" ptsTypes="AA">
                                      <p:cBhvr>
                                        <p:cTn id="11" dur="2000" fill="hold"/>
                                        <p:tgtEl>
                                          <p:spTgt spid="7"/>
                                        </p:tgtEl>
                                        <p:attrNameLst>
                                          <p:attrName>ppt_x</p:attrName>
                                          <p:attrName>ppt_y</p:attrName>
                                        </p:attrNameLst>
                                      </p:cBhvr>
                                      <p:rCtr x="0" y="-27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628650" y="1116603"/>
            <a:ext cx="7886700" cy="670967"/>
          </a:xfrm>
        </p:spPr>
        <p:txBody>
          <a:bodyPr>
            <a:normAutofit/>
          </a:bodyPr>
          <a:lstStyle/>
          <a:p>
            <a:r>
              <a:rPr lang="en-US" sz="36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743674" y="2007653"/>
            <a:ext cx="6899516" cy="1215110"/>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846070" y="2223727"/>
            <a:ext cx="693626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80000"/>
              </a:lnSpc>
              <a:spcBef>
                <a:spcPts val="0"/>
              </a:spcBef>
              <a:spcAft>
                <a:spcPts val="0"/>
              </a:spcAft>
              <a:defRPr/>
            </a:pPr>
            <a:r>
              <a:rPr lang="en-US" altLang="en-US" sz="2250" dirty="0">
                <a:solidFill>
                  <a:prstClr val="black"/>
                </a:solidFill>
                <a:latin typeface="Calibri" panose="020F0502020204030204"/>
              </a:rPr>
              <a:t>when looking for forwarding table entry for given destination address, use </a:t>
            </a:r>
            <a:r>
              <a:rPr lang="en-US" altLang="en-US" sz="2250" i="1" dirty="0">
                <a:solidFill>
                  <a:srgbClr val="000099"/>
                </a:solidFill>
                <a:latin typeface="Calibri" panose="020F0502020204030204"/>
              </a:rPr>
              <a:t>longest</a:t>
            </a:r>
            <a:r>
              <a:rPr lang="en-US" altLang="en-US" sz="2250" dirty="0">
                <a:solidFill>
                  <a:prstClr val="black"/>
                </a:solidFill>
                <a:latin typeface="Calibri" panose="020F0502020204030204"/>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836543" y="1783816"/>
            <a:ext cx="2726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dirty="0">
                <a:solidFill>
                  <a:srgbClr val="C00000"/>
                </a:solidFill>
                <a:latin typeface="Calibri" panose="020F0502020204030204"/>
              </a:rPr>
              <a:t>longest prefix match</a:t>
            </a:r>
          </a:p>
        </p:txBody>
      </p:sp>
      <p:grpSp>
        <p:nvGrpSpPr>
          <p:cNvPr id="3" name="Group 2">
            <a:extLst>
              <a:ext uri="{FF2B5EF4-FFF2-40B4-BE49-F238E27FC236}">
                <a16:creationId xmlns:a16="http://schemas.microsoft.com/office/drawing/2014/main" id="{03D13401-BB00-AB4B-8905-3EDC38C55E44}"/>
              </a:ext>
            </a:extLst>
          </p:cNvPr>
          <p:cNvGrpSpPr/>
          <p:nvPr/>
        </p:nvGrpSpPr>
        <p:grpSpPr>
          <a:xfrm>
            <a:off x="2005951" y="3419269"/>
            <a:ext cx="5609494" cy="1661046"/>
            <a:chOff x="2674601" y="3416024"/>
            <a:chExt cx="7479325" cy="2214728"/>
          </a:xfrm>
        </p:grpSpPr>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30149"/>
              <a:ext cx="4941530" cy="220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defTabSz="685800" eaLnBrk="1" fontAlgn="auto" hangingPunct="1">
                <a:lnSpc>
                  <a:spcPct val="150000"/>
                </a:lnSpc>
                <a:spcBef>
                  <a:spcPts val="0"/>
                </a:spcBef>
                <a:spcAft>
                  <a:spcPts val="0"/>
                </a:spcAft>
                <a:defRPr/>
              </a:pPr>
              <a:r>
                <a:rPr lang="en-US" altLang="en-US" sz="1350" dirty="0">
                  <a:solidFill>
                    <a:prstClr val="black"/>
                  </a:solidFill>
                </a:rPr>
                <a:t>Destination Address Range                        </a:t>
              </a: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11001000  00010111  00010</a:t>
              </a:r>
              <a:endParaRPr lang="en-US" altLang="en-US" sz="1500" dirty="0">
                <a:solidFill>
                  <a:prstClr val="black"/>
                </a:solidFill>
                <a:latin typeface="Courier New" panose="02070309020205020404" pitchFamily="49"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11001000  00010111  00011000</a:t>
              </a:r>
              <a:endParaRPr lang="en-US" altLang="en-US" sz="1500" dirty="0">
                <a:solidFill>
                  <a:prstClr val="black"/>
                </a:solidFill>
                <a:latin typeface="Courier New" panose="02070309020205020404" pitchFamily="49"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11001000  00010111  00011</a:t>
              </a:r>
              <a:endParaRPr lang="en-US" altLang="en-US" sz="1500" dirty="0">
                <a:solidFill>
                  <a:prstClr val="black"/>
                </a:solidFill>
                <a:latin typeface="Comic Sans MS" panose="030F0902030302020204" pitchFamily="66"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rPr>
                <a:t>otherwise  </a:t>
              </a:r>
              <a:r>
                <a:rPr lang="en-US" altLang="en-US" sz="1350" dirty="0">
                  <a:solidFill>
                    <a:prstClr val="black"/>
                  </a:solidFill>
                  <a:latin typeface="Times" pitchFamily="2" charset="0"/>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618392" cy="220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150000"/>
                </a:lnSpc>
                <a:spcBef>
                  <a:spcPts val="0"/>
                </a:spcBef>
                <a:spcAft>
                  <a:spcPts val="0"/>
                </a:spcAft>
                <a:defRPr/>
              </a:pPr>
              <a:r>
                <a:rPr lang="en-US" altLang="en-US" sz="1350">
                  <a:solidFill>
                    <a:prstClr val="black"/>
                  </a:solidFill>
                </a:rPr>
                <a:t>Link interface</a:t>
              </a:r>
            </a:p>
            <a:p>
              <a:pPr defTabSz="685800" eaLnBrk="1" fontAlgn="auto" hangingPunct="1">
                <a:lnSpc>
                  <a:spcPct val="150000"/>
                </a:lnSpc>
                <a:spcBef>
                  <a:spcPts val="0"/>
                </a:spcBef>
                <a:spcAft>
                  <a:spcPts val="0"/>
                </a:spcAft>
                <a:defRPr/>
              </a:pPr>
              <a:r>
                <a:rPr lang="en-US" altLang="en-US" sz="1350">
                  <a:solidFill>
                    <a:prstClr val="black"/>
                  </a:solidFill>
                </a:rPr>
                <a:t>0</a:t>
              </a:r>
            </a:p>
            <a:p>
              <a:pPr defTabSz="685800" eaLnBrk="1" fontAlgn="auto" hangingPunct="1">
                <a:lnSpc>
                  <a:spcPct val="150000"/>
                </a:lnSpc>
                <a:spcBef>
                  <a:spcPts val="0"/>
                </a:spcBef>
                <a:spcAft>
                  <a:spcPts val="0"/>
                </a:spcAft>
                <a:defRPr/>
              </a:pPr>
              <a:r>
                <a:rPr lang="en-US" altLang="en-US" sz="1350">
                  <a:solidFill>
                    <a:prstClr val="black"/>
                  </a:solidFill>
                </a:rPr>
                <a:t>1</a:t>
              </a:r>
            </a:p>
            <a:p>
              <a:pPr defTabSz="685800" eaLnBrk="1" fontAlgn="auto" hangingPunct="1">
                <a:lnSpc>
                  <a:spcPct val="150000"/>
                </a:lnSpc>
                <a:spcBef>
                  <a:spcPts val="0"/>
                </a:spcBef>
                <a:spcAft>
                  <a:spcPts val="0"/>
                </a:spcAft>
                <a:defRPr/>
              </a:pPr>
              <a:r>
                <a:rPr lang="en-US" altLang="en-US" sz="1350">
                  <a:solidFill>
                    <a:prstClr val="black"/>
                  </a:solidFill>
                </a:rPr>
                <a:t>2</a:t>
              </a:r>
            </a:p>
            <a:p>
              <a:pPr defTabSz="685800" eaLnBrk="1" fontAlgn="auto" hangingPunct="1">
                <a:lnSpc>
                  <a:spcPct val="150000"/>
                </a:lnSpc>
                <a:spcBef>
                  <a:spcPts val="0"/>
                </a:spcBef>
                <a:spcAft>
                  <a:spcPts val="0"/>
                </a:spcAft>
                <a:defRPr/>
              </a:pPr>
              <a:r>
                <a:rPr lang="en-US" altLang="en-US" sz="1350">
                  <a:solidFill>
                    <a:prstClr val="black"/>
                  </a:solidFill>
                </a:rPr>
                <a:t>3</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400109"/>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772168" cy="400109"/>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400109"/>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778224" cy="400109"/>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400109"/>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grpSp>
      <p:grpSp>
        <p:nvGrpSpPr>
          <p:cNvPr id="4" name="Group 3">
            <a:extLst>
              <a:ext uri="{FF2B5EF4-FFF2-40B4-BE49-F238E27FC236}">
                <a16:creationId xmlns:a16="http://schemas.microsoft.com/office/drawing/2014/main" id="{F655AE30-180F-9548-B5CE-B9911AA53A47}"/>
              </a:ext>
            </a:extLst>
          </p:cNvPr>
          <p:cNvGrpSpPr/>
          <p:nvPr/>
        </p:nvGrpSpPr>
        <p:grpSpPr>
          <a:xfrm>
            <a:off x="592277" y="5167958"/>
            <a:ext cx="7025943" cy="689246"/>
            <a:chOff x="789703" y="5747609"/>
            <a:chExt cx="9367924" cy="918994"/>
          </a:xfrm>
        </p:grpSpPr>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2" y="6266494"/>
              <a:ext cx="5664372"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ourier New" panose="02070309020205020404" pitchFamily="49" charset="0"/>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2"/>
              <a:ext cx="1702604"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2100" dirty="0">
                  <a:solidFill>
                    <a:srgbClr val="000099"/>
                  </a:solidFill>
                  <a:latin typeface="Calibri" panose="020F0502020204030204"/>
                </a:rPr>
                <a:t>examples</a:t>
              </a:r>
              <a:r>
                <a:rPr lang="en-US" altLang="en-US" sz="1800" dirty="0">
                  <a:solidFill>
                    <a:srgbClr val="000099"/>
                  </a:solidFill>
                  <a:latin typeface="Calibri" panose="020F0502020204030204"/>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71567" cy="430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srgbClr val="0000A3"/>
                  </a:solidFill>
                  <a:latin typeface="Calibri" panose="020F0502020204030204"/>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70" y="6233982"/>
              <a:ext cx="1971567" cy="430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srgbClr val="0000A3"/>
                  </a:solidFill>
                  <a:latin typeface="Calibri" panose="020F0502020204030204"/>
                </a:rPr>
                <a:t>which interface?</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6" y="5802809"/>
              <a:ext cx="5664372"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ourier New" panose="02070309020205020404" pitchFamily="49" charset="0"/>
                  <a:cs typeface="Courier New" panose="02070309020205020404" pitchFamily="49" charset="0"/>
                </a:rPr>
                <a:t>11001000  00010111  00010110  10100001 </a:t>
              </a:r>
            </a:p>
          </p:txBody>
        </p:sp>
      </p:grpSp>
      <p:sp>
        <p:nvSpPr>
          <p:cNvPr id="31" name="Slide Number Placeholder 4">
            <a:extLst>
              <a:ext uri="{FF2B5EF4-FFF2-40B4-BE49-F238E27FC236}">
                <a16:creationId xmlns:a16="http://schemas.microsoft.com/office/drawing/2014/main" id="{EC760D1C-B9BF-9F46-BBE7-A444C5F68770}"/>
              </a:ext>
            </a:extLst>
          </p:cNvPr>
          <p:cNvSpPr>
            <a:spLocks noGrp="1"/>
          </p:cNvSpPr>
          <p:nvPr>
            <p:ph type="sldNum" sz="quarter" idx="4294967295"/>
          </p:nvPr>
        </p:nvSpPr>
        <p:spPr>
          <a:xfrm>
            <a:off x="6873489" y="6428691"/>
            <a:ext cx="2057400" cy="273844"/>
          </a:xfrm>
        </p:spPr>
        <p:txBody>
          <a:bodyPr/>
          <a:lstStyle/>
          <a:p>
            <a:r>
              <a:rPr lang="en-US" dirty="0"/>
              <a:t>Network Layer: 4-</a:t>
            </a:r>
            <a:fld id="{C4204591-24BD-A542-B9D5-F8D8A88D2FEE}" type="slidenum">
              <a:rPr lang="en-US" smtClean="0"/>
              <a:pPr/>
              <a:t>23</a:t>
            </a:fld>
            <a:endParaRPr lang="en-US" dirty="0"/>
          </a:p>
        </p:txBody>
      </p:sp>
    </p:spTree>
    <p:extLst>
      <p:ext uri="{BB962C8B-B14F-4D97-AF65-F5344CB8AC3E}">
        <p14:creationId xmlns:p14="http://schemas.microsoft.com/office/powerpoint/2010/main" val="41924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628650" y="1116603"/>
            <a:ext cx="7886700" cy="670967"/>
          </a:xfrm>
        </p:spPr>
        <p:txBody>
          <a:bodyPr>
            <a:normAutofit/>
          </a:bodyPr>
          <a:lstStyle/>
          <a:p>
            <a:r>
              <a:rPr lang="en-US" sz="36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743674" y="2007653"/>
            <a:ext cx="6899516" cy="1215110"/>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846070" y="2223727"/>
            <a:ext cx="693626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80000"/>
              </a:lnSpc>
              <a:spcBef>
                <a:spcPts val="0"/>
              </a:spcBef>
              <a:spcAft>
                <a:spcPts val="0"/>
              </a:spcAft>
              <a:defRPr/>
            </a:pPr>
            <a:r>
              <a:rPr lang="en-US" altLang="en-US" sz="2250" dirty="0">
                <a:solidFill>
                  <a:prstClr val="black"/>
                </a:solidFill>
                <a:latin typeface="Calibri" panose="020F0502020204030204"/>
              </a:rPr>
              <a:t>when looking for forwarding table entry for given destination address, use </a:t>
            </a:r>
            <a:r>
              <a:rPr lang="en-US" altLang="en-US" sz="2250" i="1" dirty="0">
                <a:solidFill>
                  <a:srgbClr val="000099"/>
                </a:solidFill>
                <a:latin typeface="Calibri" panose="020F0502020204030204"/>
              </a:rPr>
              <a:t>longest</a:t>
            </a:r>
            <a:r>
              <a:rPr lang="en-US" altLang="en-US" sz="2250" dirty="0">
                <a:solidFill>
                  <a:prstClr val="black"/>
                </a:solidFill>
                <a:latin typeface="Calibri" panose="020F0502020204030204"/>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836543" y="1783816"/>
            <a:ext cx="2726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dirty="0">
                <a:solidFill>
                  <a:srgbClr val="C00000"/>
                </a:solidFill>
                <a:latin typeface="Calibri" panose="020F0502020204030204"/>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005951" y="3429862"/>
            <a:ext cx="3706148"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defTabSz="685800" eaLnBrk="1" fontAlgn="auto" hangingPunct="1">
              <a:lnSpc>
                <a:spcPct val="150000"/>
              </a:lnSpc>
              <a:spcBef>
                <a:spcPts val="0"/>
              </a:spcBef>
              <a:spcAft>
                <a:spcPts val="0"/>
              </a:spcAft>
              <a:defRPr/>
            </a:pPr>
            <a:r>
              <a:rPr lang="en-US" altLang="en-US" sz="1350" dirty="0">
                <a:solidFill>
                  <a:prstClr val="black"/>
                </a:solidFill>
              </a:rPr>
              <a:t>Destination Address Range                        </a:t>
            </a: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11001000  00010111  00010</a:t>
            </a:r>
            <a:endParaRPr lang="en-US" altLang="en-US" sz="1500" dirty="0">
              <a:solidFill>
                <a:prstClr val="black"/>
              </a:solidFill>
              <a:latin typeface="Courier New" panose="02070309020205020404" pitchFamily="49"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11001000  00010111  00011000</a:t>
            </a:r>
            <a:endParaRPr lang="en-US" altLang="en-US" sz="1500" dirty="0">
              <a:solidFill>
                <a:prstClr val="black"/>
              </a:solidFill>
              <a:latin typeface="Courier New" panose="02070309020205020404" pitchFamily="49"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11001000  00010111  00011</a:t>
            </a:r>
            <a:endParaRPr lang="en-US" altLang="en-US" sz="1500" dirty="0">
              <a:solidFill>
                <a:prstClr val="black"/>
              </a:solidFill>
              <a:latin typeface="Comic Sans MS" panose="030F0902030302020204" pitchFamily="66"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rPr>
              <a:t>otherwise  </a:t>
            </a:r>
            <a:r>
              <a:rPr lang="en-US" altLang="en-US" sz="1350" dirty="0">
                <a:solidFill>
                  <a:prstClr val="black"/>
                </a:solidFill>
                <a:latin typeface="Times" pitchFamily="2" charset="0"/>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006410" y="3462131"/>
            <a:ext cx="5594747" cy="157996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006410" y="378836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029032" y="411102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009982" y="4425347"/>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007601" y="4748006"/>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6082028" y="3440907"/>
            <a:ext cx="0" cy="1588294"/>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6118829" y="3419268"/>
            <a:ext cx="1213794"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150000"/>
              </a:lnSpc>
              <a:spcBef>
                <a:spcPts val="0"/>
              </a:spcBef>
              <a:spcAft>
                <a:spcPts val="0"/>
              </a:spcAft>
              <a:defRPr/>
            </a:pPr>
            <a:r>
              <a:rPr lang="en-US" altLang="en-US" sz="1350">
                <a:solidFill>
                  <a:prstClr val="black"/>
                </a:solidFill>
              </a:rPr>
              <a:t>Link interface</a:t>
            </a:r>
          </a:p>
          <a:p>
            <a:pPr defTabSz="685800" eaLnBrk="1" fontAlgn="auto" hangingPunct="1">
              <a:lnSpc>
                <a:spcPct val="150000"/>
              </a:lnSpc>
              <a:spcBef>
                <a:spcPts val="0"/>
              </a:spcBef>
              <a:spcAft>
                <a:spcPts val="0"/>
              </a:spcAft>
              <a:defRPr/>
            </a:pPr>
            <a:r>
              <a:rPr lang="en-US" altLang="en-US" sz="1350">
                <a:solidFill>
                  <a:prstClr val="black"/>
                </a:solidFill>
              </a:rPr>
              <a:t>0</a:t>
            </a:r>
          </a:p>
          <a:p>
            <a:pPr defTabSz="685800" eaLnBrk="1" fontAlgn="auto" hangingPunct="1">
              <a:lnSpc>
                <a:spcPct val="150000"/>
              </a:lnSpc>
              <a:spcBef>
                <a:spcPts val="0"/>
              </a:spcBef>
              <a:spcAft>
                <a:spcPts val="0"/>
              </a:spcAft>
              <a:defRPr/>
            </a:pPr>
            <a:r>
              <a:rPr lang="en-US" altLang="en-US" sz="1350">
                <a:solidFill>
                  <a:prstClr val="black"/>
                </a:solidFill>
              </a:rPr>
              <a:t>1</a:t>
            </a:r>
          </a:p>
          <a:p>
            <a:pPr defTabSz="685800" eaLnBrk="1" fontAlgn="auto" hangingPunct="1">
              <a:lnSpc>
                <a:spcPct val="150000"/>
              </a:lnSpc>
              <a:spcBef>
                <a:spcPts val="0"/>
              </a:spcBef>
              <a:spcAft>
                <a:spcPts val="0"/>
              </a:spcAft>
              <a:defRPr/>
            </a:pPr>
            <a:r>
              <a:rPr lang="en-US" altLang="en-US" sz="1350">
                <a:solidFill>
                  <a:prstClr val="black"/>
                </a:solidFill>
              </a:rPr>
              <a:t>2</a:t>
            </a:r>
          </a:p>
          <a:p>
            <a:pPr defTabSz="685800" eaLnBrk="1" fontAlgn="auto" hangingPunct="1">
              <a:lnSpc>
                <a:spcPct val="150000"/>
              </a:lnSpc>
              <a:spcBef>
                <a:spcPts val="0"/>
              </a:spcBef>
              <a:spcAft>
                <a:spcPts val="0"/>
              </a:spcAft>
              <a:defRPr/>
            </a:pPr>
            <a:r>
              <a:rPr lang="en-US" altLang="en-US" sz="1350">
                <a:solidFill>
                  <a:prstClr val="black"/>
                </a:solidFill>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004736" y="5557121"/>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ourier New" panose="02070309020205020404" pitchFamily="49" charset="0"/>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592278" y="5269418"/>
            <a:ext cx="127695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2100" dirty="0">
                <a:solidFill>
                  <a:srgbClr val="000099"/>
                </a:solidFill>
                <a:latin typeface="Calibri" panose="020F0502020204030204"/>
              </a:rPr>
              <a:t>examples</a:t>
            </a:r>
            <a:r>
              <a:rPr lang="en-US" altLang="en-US" sz="1800" dirty="0">
                <a:solidFill>
                  <a:srgbClr val="000099"/>
                </a:solidFill>
                <a:latin typeface="Calibri" panose="020F0502020204030204"/>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6139546" y="516795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srgbClr val="0000A3"/>
                </a:solidFill>
                <a:latin typeface="Calibri" panose="020F0502020204030204"/>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6134152" y="553273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srgbClr val="0000A3"/>
                </a:solidFill>
                <a:latin typeface="Calibri" panose="020F0502020204030204"/>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5072496" y="3860224"/>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4566805" y="3861530"/>
            <a:ext cx="446810" cy="507831"/>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5070004" y="4469824"/>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4562263" y="4492231"/>
            <a:ext cx="446810" cy="507831"/>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5070004" y="4174549"/>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004124" y="5209357"/>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ourier New" panose="02070309020205020404" pitchFamily="49" charset="0"/>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602673" y="3330286"/>
            <a:ext cx="7252855" cy="2670464"/>
            <a:chOff x="803563" y="3297382"/>
            <a:chExt cx="9670473" cy="3560618"/>
          </a:xfrm>
        </p:grpSpPr>
        <p:sp>
          <p:nvSpPr>
            <p:cNvPr id="7" name="Freeform 6">
              <a:extLst>
                <a:ext uri="{FF2B5EF4-FFF2-40B4-BE49-F238E27FC236}">
                  <a16:creationId xmlns:a16="http://schemas.microsoft.com/office/drawing/2014/main" id="{A848FF30-7F47-EF40-9B21-6336F9996053}"/>
                </a:ext>
              </a:extLst>
            </p:cNvPr>
            <p:cNvSpPr/>
            <p:nvPr/>
          </p:nvSpPr>
          <p:spPr>
            <a:xfrm>
              <a:off x="845127" y="32973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470E4B3-DFDA-4D4A-93DD-AEAF7A1D9F63}"/>
                </a:ext>
              </a:extLst>
            </p:cNvPr>
            <p:cNvSpPr/>
            <p:nvPr/>
          </p:nvSpPr>
          <p:spPr>
            <a:xfrm>
              <a:off x="1634837" y="4364180"/>
              <a:ext cx="8756072" cy="1399309"/>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803563" y="57357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246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026228" y="3836843"/>
            <a:ext cx="2628899" cy="1613189"/>
            <a:chOff x="2701636" y="3972790"/>
            <a:chExt cx="3505199" cy="2150919"/>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7279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350327"/>
              <a:ext cx="290946" cy="142701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4738255"/>
              <a:ext cx="1128771" cy="492443"/>
            </a:xfrm>
            <a:prstGeom prst="rect">
              <a:avLst/>
            </a:prstGeom>
            <a:solidFill>
              <a:schemeClr val="bg1"/>
            </a:solidFill>
          </p:spPr>
          <p:txBody>
            <a:bodyPr wrap="none" rtlCol="0">
              <a:spAutoFit/>
            </a:bodyPr>
            <a:lstStyle/>
            <a:p>
              <a:pPr defTabSz="685800" eaLnBrk="1" fontAlgn="auto" hangingPunct="1">
                <a:spcBef>
                  <a:spcPts val="0"/>
                </a:spcBef>
                <a:spcAft>
                  <a:spcPts val="0"/>
                </a:spcAft>
                <a:defRPr/>
              </a:pPr>
              <a:r>
                <a:rPr lang="en-US" dirty="0">
                  <a:solidFill>
                    <a:srgbClr val="C00000"/>
                  </a:solidFill>
                  <a:latin typeface="Calibri" panose="020F0502020204030204"/>
                  <a:ea typeface="+mn-ea"/>
                </a:rPr>
                <a:t>match!</a:t>
              </a:r>
            </a:p>
          </p:txBody>
        </p:sp>
      </p:grpSp>
      <p:sp>
        <p:nvSpPr>
          <p:cNvPr id="35" name="Slide Number Placeholder 4">
            <a:extLst>
              <a:ext uri="{FF2B5EF4-FFF2-40B4-BE49-F238E27FC236}">
                <a16:creationId xmlns:a16="http://schemas.microsoft.com/office/drawing/2014/main" id="{0AD153D5-F6CB-0E4F-AE80-7E6404A6B287}"/>
              </a:ext>
            </a:extLst>
          </p:cNvPr>
          <p:cNvSpPr>
            <a:spLocks noGrp="1"/>
          </p:cNvSpPr>
          <p:nvPr>
            <p:ph type="sldNum" sz="quarter" idx="4294967295"/>
          </p:nvPr>
        </p:nvSpPr>
        <p:spPr>
          <a:xfrm>
            <a:off x="6826828" y="6381651"/>
            <a:ext cx="2057400" cy="273844"/>
          </a:xfrm>
        </p:spPr>
        <p:txBody>
          <a:bodyPr/>
          <a:lstStyle/>
          <a:p>
            <a:r>
              <a:rPr lang="en-US" dirty="0"/>
              <a:t>Network Layer: 4-</a:t>
            </a:r>
            <a:fld id="{C4204591-24BD-A542-B9D5-F8D8A88D2FEE}" type="slidenum">
              <a:rPr lang="en-US" smtClean="0"/>
              <a:pPr/>
              <a:t>24</a:t>
            </a:fld>
            <a:endParaRPr lang="en-US" dirty="0"/>
          </a:p>
        </p:txBody>
      </p:sp>
    </p:spTree>
    <p:extLst>
      <p:ext uri="{BB962C8B-B14F-4D97-AF65-F5344CB8AC3E}">
        <p14:creationId xmlns:p14="http://schemas.microsoft.com/office/powerpoint/2010/main" val="2816495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628650" y="1116603"/>
            <a:ext cx="7886700" cy="670967"/>
          </a:xfrm>
        </p:spPr>
        <p:txBody>
          <a:bodyPr>
            <a:normAutofit/>
          </a:bodyPr>
          <a:lstStyle/>
          <a:p>
            <a:r>
              <a:rPr lang="en-US" sz="36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743674" y="2007653"/>
            <a:ext cx="6899516" cy="1215110"/>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846070" y="2223727"/>
            <a:ext cx="693626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80000"/>
              </a:lnSpc>
              <a:spcBef>
                <a:spcPts val="0"/>
              </a:spcBef>
              <a:spcAft>
                <a:spcPts val="0"/>
              </a:spcAft>
              <a:defRPr/>
            </a:pPr>
            <a:r>
              <a:rPr lang="en-US" altLang="en-US" sz="2250" dirty="0">
                <a:solidFill>
                  <a:prstClr val="black"/>
                </a:solidFill>
                <a:latin typeface="Calibri" panose="020F0502020204030204"/>
              </a:rPr>
              <a:t>when looking for forwarding table entry for given destination address, use </a:t>
            </a:r>
            <a:r>
              <a:rPr lang="en-US" altLang="en-US" sz="2250" i="1" dirty="0">
                <a:solidFill>
                  <a:srgbClr val="000099"/>
                </a:solidFill>
                <a:latin typeface="Calibri" panose="020F0502020204030204"/>
              </a:rPr>
              <a:t>longest</a:t>
            </a:r>
            <a:r>
              <a:rPr lang="en-US" altLang="en-US" sz="2250" dirty="0">
                <a:solidFill>
                  <a:prstClr val="black"/>
                </a:solidFill>
                <a:latin typeface="Calibri" panose="020F0502020204030204"/>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836543" y="1783816"/>
            <a:ext cx="2726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dirty="0">
                <a:solidFill>
                  <a:srgbClr val="C00000"/>
                </a:solidFill>
                <a:latin typeface="Calibri" panose="020F0502020204030204"/>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005951" y="3429862"/>
            <a:ext cx="3706148"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defTabSz="685800" eaLnBrk="1" fontAlgn="auto" hangingPunct="1">
              <a:lnSpc>
                <a:spcPct val="150000"/>
              </a:lnSpc>
              <a:spcBef>
                <a:spcPts val="0"/>
              </a:spcBef>
              <a:spcAft>
                <a:spcPts val="0"/>
              </a:spcAft>
              <a:defRPr/>
            </a:pPr>
            <a:r>
              <a:rPr lang="en-US" altLang="en-US" sz="1350" dirty="0">
                <a:solidFill>
                  <a:prstClr val="black"/>
                </a:solidFill>
              </a:rPr>
              <a:t>Destination Address Range                        </a:t>
            </a: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11001000  00010111  00010</a:t>
            </a:r>
            <a:endParaRPr lang="en-US" altLang="en-US" sz="1500" dirty="0">
              <a:solidFill>
                <a:prstClr val="black"/>
              </a:solidFill>
              <a:latin typeface="Courier New" panose="02070309020205020404" pitchFamily="49"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11001000  00010111  00011000</a:t>
            </a:r>
            <a:endParaRPr lang="en-US" altLang="en-US" sz="1500" dirty="0">
              <a:solidFill>
                <a:prstClr val="black"/>
              </a:solidFill>
              <a:latin typeface="Courier New" panose="02070309020205020404" pitchFamily="49"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11001000  00010111  00011</a:t>
            </a:r>
            <a:endParaRPr lang="en-US" altLang="en-US" sz="1500" dirty="0">
              <a:solidFill>
                <a:prstClr val="black"/>
              </a:solidFill>
              <a:latin typeface="Comic Sans MS" panose="030F0902030302020204" pitchFamily="66"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rPr>
              <a:t>otherwise  </a:t>
            </a:r>
            <a:r>
              <a:rPr lang="en-US" altLang="en-US" sz="1350" dirty="0">
                <a:solidFill>
                  <a:prstClr val="black"/>
                </a:solidFill>
                <a:latin typeface="Times" pitchFamily="2" charset="0"/>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006410" y="3462131"/>
            <a:ext cx="5594747" cy="157996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006410" y="378836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029032" y="411102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009982" y="4425347"/>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007601" y="4748006"/>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6082028" y="3440907"/>
            <a:ext cx="0" cy="1588294"/>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6118829" y="3419268"/>
            <a:ext cx="1213794"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150000"/>
              </a:lnSpc>
              <a:spcBef>
                <a:spcPts val="0"/>
              </a:spcBef>
              <a:spcAft>
                <a:spcPts val="0"/>
              </a:spcAft>
              <a:defRPr/>
            </a:pPr>
            <a:r>
              <a:rPr lang="en-US" altLang="en-US" sz="1350">
                <a:solidFill>
                  <a:prstClr val="black"/>
                </a:solidFill>
              </a:rPr>
              <a:t>Link interface</a:t>
            </a:r>
          </a:p>
          <a:p>
            <a:pPr defTabSz="685800" eaLnBrk="1" fontAlgn="auto" hangingPunct="1">
              <a:lnSpc>
                <a:spcPct val="150000"/>
              </a:lnSpc>
              <a:spcBef>
                <a:spcPts val="0"/>
              </a:spcBef>
              <a:spcAft>
                <a:spcPts val="0"/>
              </a:spcAft>
              <a:defRPr/>
            </a:pPr>
            <a:r>
              <a:rPr lang="en-US" altLang="en-US" sz="1350">
                <a:solidFill>
                  <a:prstClr val="black"/>
                </a:solidFill>
              </a:rPr>
              <a:t>0</a:t>
            </a:r>
          </a:p>
          <a:p>
            <a:pPr defTabSz="685800" eaLnBrk="1" fontAlgn="auto" hangingPunct="1">
              <a:lnSpc>
                <a:spcPct val="150000"/>
              </a:lnSpc>
              <a:spcBef>
                <a:spcPts val="0"/>
              </a:spcBef>
              <a:spcAft>
                <a:spcPts val="0"/>
              </a:spcAft>
              <a:defRPr/>
            </a:pPr>
            <a:r>
              <a:rPr lang="en-US" altLang="en-US" sz="1350">
                <a:solidFill>
                  <a:prstClr val="black"/>
                </a:solidFill>
              </a:rPr>
              <a:t>1</a:t>
            </a:r>
          </a:p>
          <a:p>
            <a:pPr defTabSz="685800" eaLnBrk="1" fontAlgn="auto" hangingPunct="1">
              <a:lnSpc>
                <a:spcPct val="150000"/>
              </a:lnSpc>
              <a:spcBef>
                <a:spcPts val="0"/>
              </a:spcBef>
              <a:spcAft>
                <a:spcPts val="0"/>
              </a:spcAft>
              <a:defRPr/>
            </a:pPr>
            <a:r>
              <a:rPr lang="en-US" altLang="en-US" sz="1350">
                <a:solidFill>
                  <a:prstClr val="black"/>
                </a:solidFill>
              </a:rPr>
              <a:t>2</a:t>
            </a:r>
          </a:p>
          <a:p>
            <a:pPr defTabSz="685800" eaLnBrk="1" fontAlgn="auto" hangingPunct="1">
              <a:lnSpc>
                <a:spcPct val="150000"/>
              </a:lnSpc>
              <a:spcBef>
                <a:spcPts val="0"/>
              </a:spcBef>
              <a:spcAft>
                <a:spcPts val="0"/>
              </a:spcAft>
              <a:defRPr/>
            </a:pPr>
            <a:r>
              <a:rPr lang="en-US" altLang="en-US" sz="1350">
                <a:solidFill>
                  <a:prstClr val="black"/>
                </a:solidFill>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004736" y="5557121"/>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ourier New" panose="02070309020205020404" pitchFamily="49" charset="0"/>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592278" y="5269418"/>
            <a:ext cx="127695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2100" dirty="0">
                <a:solidFill>
                  <a:srgbClr val="000099"/>
                </a:solidFill>
                <a:latin typeface="Calibri" panose="020F0502020204030204"/>
              </a:rPr>
              <a:t>examples</a:t>
            </a:r>
            <a:r>
              <a:rPr lang="en-US" altLang="en-US" sz="1800" dirty="0">
                <a:solidFill>
                  <a:srgbClr val="000099"/>
                </a:solidFill>
                <a:latin typeface="Calibri" panose="020F0502020204030204"/>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6139546" y="516795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srgbClr val="0000A3"/>
                </a:solidFill>
                <a:latin typeface="Calibri" panose="020F0502020204030204"/>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6134152" y="553273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srgbClr val="0000A3"/>
                </a:solidFill>
                <a:latin typeface="Calibri" panose="020F0502020204030204"/>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5072496" y="3860224"/>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4566805" y="3861530"/>
            <a:ext cx="446810" cy="507831"/>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5070004" y="4469824"/>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4562263" y="4492231"/>
            <a:ext cx="446810" cy="507831"/>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5070004" y="4174549"/>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004124" y="5209357"/>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ourier New" panose="02070309020205020404" pitchFamily="49" charset="0"/>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644236" y="3330288"/>
            <a:ext cx="7221683" cy="2670463"/>
            <a:chOff x="858982" y="3297383"/>
            <a:chExt cx="9628910" cy="3560617"/>
          </a:xfrm>
        </p:grpSpPr>
        <p:sp>
          <p:nvSpPr>
            <p:cNvPr id="7" name="Freeform 6">
              <a:extLst>
                <a:ext uri="{FF2B5EF4-FFF2-40B4-BE49-F238E27FC236}">
                  <a16:creationId xmlns:a16="http://schemas.microsoft.com/office/drawing/2014/main" id="{A848FF30-7F47-EF40-9B21-6336F9996053}"/>
                </a:ext>
              </a:extLst>
            </p:cNvPr>
            <p:cNvSpPr/>
            <p:nvPr/>
          </p:nvSpPr>
          <p:spPr>
            <a:xfrm>
              <a:off x="858982" y="3297383"/>
              <a:ext cx="9628910" cy="1944054"/>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10" h="1944054">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5112326"/>
              <a:ext cx="8118764" cy="1052948"/>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026228" y="4460311"/>
            <a:ext cx="2628899" cy="1353413"/>
            <a:chOff x="2701636" y="4319159"/>
            <a:chExt cx="3505199" cy="1804550"/>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4319159"/>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682823"/>
              <a:ext cx="290945" cy="1094521"/>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5029209"/>
              <a:ext cx="1128771" cy="492442"/>
            </a:xfrm>
            <a:prstGeom prst="rect">
              <a:avLst/>
            </a:prstGeom>
            <a:solidFill>
              <a:schemeClr val="bg1"/>
            </a:solidFill>
          </p:spPr>
          <p:txBody>
            <a:bodyPr wrap="none" rtlCol="0">
              <a:spAutoFit/>
            </a:bodyPr>
            <a:lstStyle/>
            <a:p>
              <a:pPr defTabSz="685800" eaLnBrk="1" fontAlgn="auto" hangingPunct="1">
                <a:spcBef>
                  <a:spcPts val="0"/>
                </a:spcBef>
                <a:spcAft>
                  <a:spcPts val="0"/>
                </a:spcAft>
                <a:defRPr/>
              </a:pPr>
              <a:r>
                <a:rPr lang="en-US" dirty="0">
                  <a:solidFill>
                    <a:srgbClr val="C00000"/>
                  </a:solidFill>
                  <a:latin typeface="Calibri" panose="020F0502020204030204"/>
                  <a:ea typeface="+mn-ea"/>
                </a:rPr>
                <a:t>match!</a:t>
              </a:r>
            </a:p>
          </p:txBody>
        </p:sp>
      </p:grpSp>
      <p:sp>
        <p:nvSpPr>
          <p:cNvPr id="35" name="Slide Number Placeholder 4">
            <a:extLst>
              <a:ext uri="{FF2B5EF4-FFF2-40B4-BE49-F238E27FC236}">
                <a16:creationId xmlns:a16="http://schemas.microsoft.com/office/drawing/2014/main" id="{41B73FEC-A96A-8347-A60F-5E87D5B24CAA}"/>
              </a:ext>
            </a:extLst>
          </p:cNvPr>
          <p:cNvSpPr>
            <a:spLocks noGrp="1"/>
          </p:cNvSpPr>
          <p:nvPr>
            <p:ph type="sldNum" sz="quarter" idx="4294967295"/>
          </p:nvPr>
        </p:nvSpPr>
        <p:spPr>
          <a:xfrm>
            <a:off x="6873489" y="6294005"/>
            <a:ext cx="2057400" cy="273844"/>
          </a:xfrm>
        </p:spPr>
        <p:txBody>
          <a:bodyPr/>
          <a:lstStyle/>
          <a:p>
            <a:r>
              <a:rPr lang="en-US" dirty="0"/>
              <a:t>Network Layer: 4-</a:t>
            </a:r>
            <a:fld id="{C4204591-24BD-A542-B9D5-F8D8A88D2FEE}" type="slidenum">
              <a:rPr lang="en-US" smtClean="0"/>
              <a:pPr/>
              <a:t>25</a:t>
            </a:fld>
            <a:endParaRPr lang="en-US" dirty="0"/>
          </a:p>
        </p:txBody>
      </p:sp>
    </p:spTree>
    <p:extLst>
      <p:ext uri="{BB962C8B-B14F-4D97-AF65-F5344CB8AC3E}">
        <p14:creationId xmlns:p14="http://schemas.microsoft.com/office/powerpoint/2010/main" val="2477166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628650" y="1116603"/>
            <a:ext cx="7886700" cy="670967"/>
          </a:xfrm>
        </p:spPr>
        <p:txBody>
          <a:bodyPr>
            <a:normAutofit/>
          </a:bodyPr>
          <a:lstStyle/>
          <a:p>
            <a:r>
              <a:rPr lang="en-US" sz="36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743674" y="2007653"/>
            <a:ext cx="6899516" cy="1215110"/>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846070" y="2223727"/>
            <a:ext cx="693626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80000"/>
              </a:lnSpc>
              <a:spcBef>
                <a:spcPts val="0"/>
              </a:spcBef>
              <a:spcAft>
                <a:spcPts val="0"/>
              </a:spcAft>
              <a:defRPr/>
            </a:pPr>
            <a:r>
              <a:rPr lang="en-US" altLang="en-US" sz="2250" dirty="0">
                <a:solidFill>
                  <a:prstClr val="black"/>
                </a:solidFill>
                <a:latin typeface="Calibri" panose="020F0502020204030204"/>
              </a:rPr>
              <a:t>when looking for forwarding table entry for given destination address, use </a:t>
            </a:r>
            <a:r>
              <a:rPr lang="en-US" altLang="en-US" sz="2250" i="1" dirty="0">
                <a:solidFill>
                  <a:srgbClr val="000099"/>
                </a:solidFill>
                <a:latin typeface="Calibri" panose="020F0502020204030204"/>
              </a:rPr>
              <a:t>longest</a:t>
            </a:r>
            <a:r>
              <a:rPr lang="en-US" altLang="en-US" sz="2250" dirty="0">
                <a:solidFill>
                  <a:prstClr val="black"/>
                </a:solidFill>
                <a:latin typeface="Calibri" panose="020F0502020204030204"/>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836543" y="1783816"/>
            <a:ext cx="2726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dirty="0">
                <a:solidFill>
                  <a:srgbClr val="C00000"/>
                </a:solidFill>
                <a:latin typeface="Calibri" panose="020F0502020204030204"/>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005951" y="3429862"/>
            <a:ext cx="3706148"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defTabSz="685800" eaLnBrk="1" fontAlgn="auto" hangingPunct="1">
              <a:lnSpc>
                <a:spcPct val="150000"/>
              </a:lnSpc>
              <a:spcBef>
                <a:spcPts val="0"/>
              </a:spcBef>
              <a:spcAft>
                <a:spcPts val="0"/>
              </a:spcAft>
              <a:defRPr/>
            </a:pPr>
            <a:r>
              <a:rPr lang="en-US" altLang="en-US" sz="1350" dirty="0">
                <a:solidFill>
                  <a:prstClr val="black"/>
                </a:solidFill>
              </a:rPr>
              <a:t>Destination Address Range                        </a:t>
            </a: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11001000  00010111  00010</a:t>
            </a:r>
            <a:endParaRPr lang="en-US" altLang="en-US" sz="1500" dirty="0">
              <a:solidFill>
                <a:prstClr val="black"/>
              </a:solidFill>
              <a:latin typeface="Courier New" panose="02070309020205020404" pitchFamily="49"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11001000  00010111  00011000</a:t>
            </a:r>
            <a:endParaRPr lang="en-US" altLang="en-US" sz="1500" dirty="0">
              <a:solidFill>
                <a:prstClr val="black"/>
              </a:solidFill>
              <a:latin typeface="Courier New" panose="02070309020205020404" pitchFamily="49"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latin typeface="Courier New" panose="02070309020205020404" pitchFamily="49" charset="0"/>
              </a:rPr>
              <a:t>11001000  00010111  00011</a:t>
            </a:r>
            <a:endParaRPr lang="en-US" altLang="en-US" sz="1500" dirty="0">
              <a:solidFill>
                <a:prstClr val="black"/>
              </a:solidFill>
              <a:latin typeface="Comic Sans MS" panose="030F0902030302020204" pitchFamily="66" charset="0"/>
            </a:endParaRPr>
          </a:p>
          <a:p>
            <a:pPr algn="just" defTabSz="685800" eaLnBrk="1" fontAlgn="auto" hangingPunct="1">
              <a:lnSpc>
                <a:spcPct val="150000"/>
              </a:lnSpc>
              <a:spcBef>
                <a:spcPts val="0"/>
              </a:spcBef>
              <a:spcAft>
                <a:spcPts val="0"/>
              </a:spcAft>
              <a:defRPr/>
            </a:pPr>
            <a:r>
              <a:rPr lang="en-US" altLang="en-US" sz="1350" dirty="0">
                <a:solidFill>
                  <a:prstClr val="black"/>
                </a:solidFill>
              </a:rPr>
              <a:t>otherwise  </a:t>
            </a:r>
            <a:r>
              <a:rPr lang="en-US" altLang="en-US" sz="1350" dirty="0">
                <a:solidFill>
                  <a:prstClr val="black"/>
                </a:solidFill>
                <a:latin typeface="Times" pitchFamily="2" charset="0"/>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006410" y="3462131"/>
            <a:ext cx="5594747" cy="157996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006410" y="378836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029032" y="411102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009982" y="4425347"/>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007601" y="4748006"/>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6082028" y="3440907"/>
            <a:ext cx="0" cy="1588294"/>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a:solidFill>
                <a:prstClr val="black"/>
              </a:solidFill>
              <a:latin typeface="Calibri" panose="020F0502020204030204"/>
              <a:ea typeface="+mn-ea"/>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6118829" y="3419268"/>
            <a:ext cx="1213794"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150000"/>
              </a:lnSpc>
              <a:spcBef>
                <a:spcPts val="0"/>
              </a:spcBef>
              <a:spcAft>
                <a:spcPts val="0"/>
              </a:spcAft>
              <a:defRPr/>
            </a:pPr>
            <a:r>
              <a:rPr lang="en-US" altLang="en-US" sz="1350">
                <a:solidFill>
                  <a:prstClr val="black"/>
                </a:solidFill>
              </a:rPr>
              <a:t>Link interface</a:t>
            </a:r>
          </a:p>
          <a:p>
            <a:pPr defTabSz="685800" eaLnBrk="1" fontAlgn="auto" hangingPunct="1">
              <a:lnSpc>
                <a:spcPct val="150000"/>
              </a:lnSpc>
              <a:spcBef>
                <a:spcPts val="0"/>
              </a:spcBef>
              <a:spcAft>
                <a:spcPts val="0"/>
              </a:spcAft>
              <a:defRPr/>
            </a:pPr>
            <a:r>
              <a:rPr lang="en-US" altLang="en-US" sz="1350">
                <a:solidFill>
                  <a:prstClr val="black"/>
                </a:solidFill>
              </a:rPr>
              <a:t>0</a:t>
            </a:r>
          </a:p>
          <a:p>
            <a:pPr defTabSz="685800" eaLnBrk="1" fontAlgn="auto" hangingPunct="1">
              <a:lnSpc>
                <a:spcPct val="150000"/>
              </a:lnSpc>
              <a:spcBef>
                <a:spcPts val="0"/>
              </a:spcBef>
              <a:spcAft>
                <a:spcPts val="0"/>
              </a:spcAft>
              <a:defRPr/>
            </a:pPr>
            <a:r>
              <a:rPr lang="en-US" altLang="en-US" sz="1350">
                <a:solidFill>
                  <a:prstClr val="black"/>
                </a:solidFill>
              </a:rPr>
              <a:t>1</a:t>
            </a:r>
          </a:p>
          <a:p>
            <a:pPr defTabSz="685800" eaLnBrk="1" fontAlgn="auto" hangingPunct="1">
              <a:lnSpc>
                <a:spcPct val="150000"/>
              </a:lnSpc>
              <a:spcBef>
                <a:spcPts val="0"/>
              </a:spcBef>
              <a:spcAft>
                <a:spcPts val="0"/>
              </a:spcAft>
              <a:defRPr/>
            </a:pPr>
            <a:r>
              <a:rPr lang="en-US" altLang="en-US" sz="1350">
                <a:solidFill>
                  <a:prstClr val="black"/>
                </a:solidFill>
              </a:rPr>
              <a:t>2</a:t>
            </a:r>
          </a:p>
          <a:p>
            <a:pPr defTabSz="685800" eaLnBrk="1" fontAlgn="auto" hangingPunct="1">
              <a:lnSpc>
                <a:spcPct val="150000"/>
              </a:lnSpc>
              <a:spcBef>
                <a:spcPts val="0"/>
              </a:spcBef>
              <a:spcAft>
                <a:spcPts val="0"/>
              </a:spcAft>
              <a:defRPr/>
            </a:pPr>
            <a:r>
              <a:rPr lang="en-US" altLang="en-US" sz="1350">
                <a:solidFill>
                  <a:prstClr val="black"/>
                </a:solidFill>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004736" y="5557121"/>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ourier New" panose="02070309020205020404" pitchFamily="49" charset="0"/>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592278" y="5269418"/>
            <a:ext cx="127695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2100" dirty="0">
                <a:solidFill>
                  <a:srgbClr val="000099"/>
                </a:solidFill>
                <a:latin typeface="Calibri" panose="020F0502020204030204"/>
              </a:rPr>
              <a:t>examples</a:t>
            </a:r>
            <a:r>
              <a:rPr lang="en-US" altLang="en-US" sz="1800" dirty="0">
                <a:solidFill>
                  <a:srgbClr val="000099"/>
                </a:solidFill>
                <a:latin typeface="Calibri" panose="020F0502020204030204"/>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6139546" y="516795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srgbClr val="0000A3"/>
                </a:solidFill>
                <a:latin typeface="Calibri" panose="020F0502020204030204"/>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6134152" y="553273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srgbClr val="0000A3"/>
                </a:solidFill>
                <a:latin typeface="Calibri" panose="020F0502020204030204"/>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5072496" y="3860224"/>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4566805" y="3861530"/>
            <a:ext cx="446810" cy="507831"/>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5070004" y="4469824"/>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4562263" y="4492231"/>
            <a:ext cx="446810" cy="507831"/>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5070004" y="4174549"/>
            <a:ext cx="1309255" cy="300082"/>
          </a:xfrm>
          <a:prstGeom prst="rect">
            <a:avLst/>
          </a:prstGeom>
          <a:noFill/>
        </p:spPr>
        <p:txBody>
          <a:bodyPr wrap="square" rtlCol="0">
            <a:spAutoFit/>
          </a:bodyPr>
          <a:lstStyle/>
          <a:p>
            <a:pPr defTabSz="685800" eaLnBrk="1" fontAlgn="auto" hangingPunct="1">
              <a:spcBef>
                <a:spcPts val="0"/>
              </a:spcBef>
              <a:spcAft>
                <a:spcPts val="0"/>
              </a:spcAft>
              <a:defRPr/>
            </a:pPr>
            <a:r>
              <a:rPr lang="en-US" sz="1350" dirty="0">
                <a:solidFill>
                  <a:prstClr val="black"/>
                </a:solidFill>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004124" y="5209357"/>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ourier New" panose="02070309020205020404" pitchFamily="49" charset="0"/>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644236" y="3330286"/>
            <a:ext cx="7211291" cy="2670464"/>
            <a:chOff x="858981" y="3297382"/>
            <a:chExt cx="9615055" cy="3560618"/>
          </a:xfrm>
        </p:grpSpPr>
        <p:sp>
          <p:nvSpPr>
            <p:cNvPr id="7" name="Freeform 6">
              <a:extLst>
                <a:ext uri="{FF2B5EF4-FFF2-40B4-BE49-F238E27FC236}">
                  <a16:creationId xmlns:a16="http://schemas.microsoft.com/office/drawing/2014/main" id="{A848FF30-7F47-EF40-9B21-6336F9996053}"/>
                </a:ext>
              </a:extLst>
            </p:cNvPr>
            <p:cNvSpPr/>
            <p:nvPr/>
          </p:nvSpPr>
          <p:spPr>
            <a:xfrm>
              <a:off x="858981" y="3297382"/>
              <a:ext cx="9615055" cy="1884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39637"/>
                <a:gd name="connsiteX1" fmla="*/ 9615055 w 9628910"/>
                <a:gd name="connsiteY1" fmla="*/ 13854 h 1939637"/>
                <a:gd name="connsiteX2" fmla="*/ 9628910 w 9628910"/>
                <a:gd name="connsiteY2" fmla="*/ 1925782 h 1939637"/>
                <a:gd name="connsiteX3" fmla="*/ 5848426 w 9628910"/>
                <a:gd name="connsiteY3" fmla="*/ 1500709 h 1939637"/>
                <a:gd name="connsiteX4" fmla="*/ 5341431 w 9628910"/>
                <a:gd name="connsiteY4" fmla="*/ 1505726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341431 w 9615055"/>
                <a:gd name="connsiteY4" fmla="*/ 1505726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066799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26340 w 9615055"/>
                <a:gd name="connsiteY4" fmla="*/ 1006963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88397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37712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5055" h="1884218">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4764472"/>
              <a:ext cx="8118764" cy="1343892"/>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760279 w 9531927"/>
                <a:gd name="connsiteY3" fmla="*/ 625263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026226" y="4148580"/>
            <a:ext cx="2951019" cy="1696307"/>
            <a:chOff x="2701635" y="3903517"/>
            <a:chExt cx="3934692" cy="2261743"/>
          </a:xfrm>
        </p:grpSpPr>
        <p:sp>
          <p:nvSpPr>
            <p:cNvPr id="3" name="Rectangle 2">
              <a:extLst>
                <a:ext uri="{FF2B5EF4-FFF2-40B4-BE49-F238E27FC236}">
                  <a16:creationId xmlns:a16="http://schemas.microsoft.com/office/drawing/2014/main" id="{0F0BC283-76C4-1340-944F-7C4D353D8FFC}"/>
                </a:ext>
              </a:extLst>
            </p:cNvPr>
            <p:cNvSpPr/>
            <p:nvPr/>
          </p:nvSpPr>
          <p:spPr>
            <a:xfrm>
              <a:off x="2701635" y="5791200"/>
              <a:ext cx="3934691" cy="3740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03517"/>
              <a:ext cx="3920838" cy="34981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294897"/>
              <a:ext cx="346364" cy="148244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45528" y="4807538"/>
              <a:ext cx="1128771" cy="492443"/>
            </a:xfrm>
            <a:prstGeom prst="rect">
              <a:avLst/>
            </a:prstGeom>
            <a:solidFill>
              <a:schemeClr val="bg1"/>
            </a:solidFill>
          </p:spPr>
          <p:txBody>
            <a:bodyPr wrap="none" rtlCol="0">
              <a:spAutoFit/>
            </a:bodyPr>
            <a:lstStyle/>
            <a:p>
              <a:pPr defTabSz="685800" eaLnBrk="1" fontAlgn="auto" hangingPunct="1">
                <a:spcBef>
                  <a:spcPts val="0"/>
                </a:spcBef>
                <a:spcAft>
                  <a:spcPts val="0"/>
                </a:spcAft>
                <a:defRPr/>
              </a:pPr>
              <a:r>
                <a:rPr lang="en-US" dirty="0">
                  <a:solidFill>
                    <a:srgbClr val="C00000"/>
                  </a:solidFill>
                  <a:latin typeface="Calibri" panose="020F0502020204030204"/>
                  <a:ea typeface="+mn-ea"/>
                </a:rPr>
                <a:t>match!</a:t>
              </a:r>
            </a:p>
          </p:txBody>
        </p:sp>
      </p:grpSp>
      <p:sp>
        <p:nvSpPr>
          <p:cNvPr id="35" name="Slide Number Placeholder 4">
            <a:extLst>
              <a:ext uri="{FF2B5EF4-FFF2-40B4-BE49-F238E27FC236}">
                <a16:creationId xmlns:a16="http://schemas.microsoft.com/office/drawing/2014/main" id="{448BDD4C-3288-5747-9BB3-0F1BB4D2595C}"/>
              </a:ext>
            </a:extLst>
          </p:cNvPr>
          <p:cNvSpPr>
            <a:spLocks noGrp="1"/>
          </p:cNvSpPr>
          <p:nvPr>
            <p:ph type="sldNum" sz="quarter" idx="4294967295"/>
          </p:nvPr>
        </p:nvSpPr>
        <p:spPr>
          <a:xfrm>
            <a:off x="6873489" y="6401919"/>
            <a:ext cx="2057400" cy="273844"/>
          </a:xfrm>
        </p:spPr>
        <p:txBody>
          <a:bodyPr/>
          <a:lstStyle/>
          <a:p>
            <a:r>
              <a:rPr lang="en-US" dirty="0"/>
              <a:t>Network Layer: 4-</a:t>
            </a:r>
            <a:fld id="{C4204591-24BD-A542-B9D5-F8D8A88D2FEE}" type="slidenum">
              <a:rPr lang="en-US" smtClean="0"/>
              <a:pPr/>
              <a:t>26</a:t>
            </a:fld>
            <a:endParaRPr lang="en-US" dirty="0"/>
          </a:p>
        </p:txBody>
      </p:sp>
    </p:spTree>
    <p:extLst>
      <p:ext uri="{BB962C8B-B14F-4D97-AF65-F5344CB8AC3E}">
        <p14:creationId xmlns:p14="http://schemas.microsoft.com/office/powerpoint/2010/main" val="82952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4" name="Rectangle 2">
            <a:extLst>
              <a:ext uri="{FF2B5EF4-FFF2-40B4-BE49-F238E27FC236}">
                <a16:creationId xmlns:a16="http://schemas.microsoft.com/office/drawing/2014/main" id="{33893743-8545-E047-9E62-E7B38117A09B}"/>
              </a:ext>
            </a:extLst>
          </p:cNvPr>
          <p:cNvSpPr>
            <a:spLocks noGrp="1" noChangeArrowheads="1"/>
          </p:cNvSpPr>
          <p:nvPr>
            <p:ph type="title"/>
          </p:nvPr>
        </p:nvSpPr>
        <p:spPr>
          <a:xfrm>
            <a:off x="469900" y="-68263"/>
            <a:ext cx="7772400" cy="1143001"/>
          </a:xfrm>
        </p:spPr>
        <p:txBody>
          <a:bodyPr/>
          <a:lstStyle/>
          <a:p>
            <a:pPr>
              <a:defRPr/>
            </a:pPr>
            <a:r>
              <a:rPr lang="en-US" dirty="0">
                <a:cs typeface="+mj-cs"/>
              </a:rPr>
              <a:t>Longest prefix matching</a:t>
            </a:r>
          </a:p>
        </p:txBody>
      </p:sp>
      <p:sp>
        <p:nvSpPr>
          <p:cNvPr id="55299" name="Content Placeholder 1">
            <a:extLst>
              <a:ext uri="{FF2B5EF4-FFF2-40B4-BE49-F238E27FC236}">
                <a16:creationId xmlns:a16="http://schemas.microsoft.com/office/drawing/2014/main" id="{D01F8928-E7A1-FC4C-AAAB-20C6201252B9}"/>
              </a:ext>
            </a:extLst>
          </p:cNvPr>
          <p:cNvSpPr>
            <a:spLocks noGrp="1"/>
          </p:cNvSpPr>
          <p:nvPr>
            <p:ph idx="1"/>
          </p:nvPr>
        </p:nvSpPr>
        <p:spPr>
          <a:xfrm>
            <a:off x="512762" y="1366838"/>
            <a:ext cx="8631237" cy="4648200"/>
          </a:xfrm>
        </p:spPr>
        <p:txBody>
          <a:bodyPr/>
          <a:lstStyle/>
          <a:p>
            <a:r>
              <a:rPr lang="en-US" altLang="en-US" dirty="0">
                <a:ea typeface="ＭＳ Ｐゴシック" panose="020B0600070205080204" pitchFamily="34" charset="-128"/>
                <a:cs typeface="ＭＳ Ｐゴシック" panose="020B0600070205080204" pitchFamily="34" charset="-128"/>
              </a:rPr>
              <a:t>we’ll see</a:t>
            </a:r>
            <a:r>
              <a:rPr lang="en-US" altLang="en-US" i="1" dirty="0">
                <a:solidFill>
                  <a:srgbClr val="000090"/>
                </a:solidFill>
                <a:ea typeface="ＭＳ Ｐゴシック" panose="020B0600070205080204" pitchFamily="34" charset="-128"/>
                <a:cs typeface="ＭＳ Ｐゴシック" panose="020B0600070205080204" pitchFamily="34" charset="-128"/>
              </a:rPr>
              <a:t> why </a:t>
            </a:r>
            <a:r>
              <a:rPr lang="en-US" altLang="en-US" dirty="0">
                <a:ea typeface="ＭＳ Ｐゴシック" panose="020B0600070205080204" pitchFamily="34" charset="-128"/>
                <a:cs typeface="ＭＳ Ｐゴシック" panose="020B0600070205080204" pitchFamily="34" charset="-128"/>
              </a:rPr>
              <a:t>longest prefix matching is used shortly, when we study addressing</a:t>
            </a:r>
          </a:p>
          <a:p>
            <a:r>
              <a:rPr lang="en-US" altLang="en-US" dirty="0">
                <a:ea typeface="ＭＳ Ｐゴシック" panose="020B0600070205080204" pitchFamily="34" charset="-128"/>
                <a:cs typeface="ＭＳ Ｐゴシック" panose="020B0600070205080204" pitchFamily="34" charset="-128"/>
              </a:rPr>
              <a:t>longest prefix matching: often performed using ternary content addressable memories (TCAMs)</a:t>
            </a:r>
          </a:p>
          <a:p>
            <a:pPr lvl="1"/>
            <a:r>
              <a:rPr lang="en-US" altLang="en-US" i="1" dirty="0">
                <a:solidFill>
                  <a:srgbClr val="CC0000"/>
                </a:solidFill>
                <a:latin typeface="Gill Sans MT" panose="020B0502020104020203" pitchFamily="34" charset="77"/>
                <a:ea typeface="ＭＳ Ｐゴシック" panose="020B0600070205080204" pitchFamily="34" charset="-128"/>
                <a:cs typeface="Gill Sans MT" panose="020B0502020104020203" pitchFamily="34" charset="77"/>
              </a:rPr>
              <a:t>content addressable: </a:t>
            </a:r>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present address to TCAM: retrieve address in one clock cycle, regardless of table size</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Cisco Catalyst: can up ~1M routing table entries in TCAM</a:t>
            </a:r>
          </a:p>
        </p:txBody>
      </p:sp>
      <p:pic>
        <p:nvPicPr>
          <p:cNvPr id="55300" name="Picture 32" descr="underline_base">
            <a:extLst>
              <a:ext uri="{FF2B5EF4-FFF2-40B4-BE49-F238E27FC236}">
                <a16:creationId xmlns:a16="http://schemas.microsoft.com/office/drawing/2014/main" id="{40CA9A86-F606-8243-A4ED-1701FBCDBBA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075" y="777875"/>
            <a:ext cx="54848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1" name="Slide Number Placeholder 5">
            <a:extLst>
              <a:ext uri="{FF2B5EF4-FFF2-40B4-BE49-F238E27FC236}">
                <a16:creationId xmlns:a16="http://schemas.microsoft.com/office/drawing/2014/main" id="{A2E038DD-33C6-E745-BEC8-7272D5D30DF8}"/>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236996A6-8EE6-D14B-BB48-0DEC0DE515A8}" type="slidenum">
              <a:rPr lang="en-US" altLang="en-US">
                <a:latin typeface="Tahoma" panose="020B0604030504040204" pitchFamily="34" charset="0"/>
              </a:rPr>
              <a:pPr/>
              <a:t>27</a:t>
            </a:fld>
            <a:endParaRPr lang="en-US" altLang="en-US">
              <a:latin typeface="Tahoma" panose="020B0604030504040204" pitchFamily="34" charset="0"/>
            </a:endParaRPr>
          </a:p>
        </p:txBody>
      </p:sp>
      <p:sp>
        <p:nvSpPr>
          <p:cNvPr id="55302" name="Footer Placeholder 2">
            <a:extLst>
              <a:ext uri="{FF2B5EF4-FFF2-40B4-BE49-F238E27FC236}">
                <a16:creationId xmlns:a16="http://schemas.microsoft.com/office/drawing/2014/main" id="{59715C92-C69D-5A48-95ED-3491A2A35CDE}"/>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Slide Number Placeholder 5"/>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a:latin typeface="Tahoma" pitchFamily="34" charset="0"/>
              </a:rPr>
              <a:t>4-</a:t>
            </a:r>
            <a:fld id="{E25872FA-F619-41A2-8DF0-AC76C5D013AB}" type="slidenum">
              <a:rPr lang="en-US" altLang="en-US" smtClean="0">
                <a:latin typeface="Tahoma" pitchFamily="34" charset="0"/>
              </a:rPr>
              <a:pPr/>
              <a:t>28</a:t>
            </a:fld>
            <a:endParaRPr lang="en-US" altLang="en-US">
              <a:latin typeface="Tahoma" pitchFamily="34" charset="0"/>
            </a:endParaRPr>
          </a:p>
        </p:txBody>
      </p:sp>
      <p:sp>
        <p:nvSpPr>
          <p:cNvPr id="24582" name="Rectangle 4"/>
          <p:cNvSpPr>
            <a:spLocks noGrp="1" noChangeArrowheads="1"/>
          </p:cNvSpPr>
          <p:nvPr>
            <p:ph type="body" idx="1"/>
          </p:nvPr>
        </p:nvSpPr>
        <p:spPr>
          <a:xfrm>
            <a:off x="543591" y="624120"/>
            <a:ext cx="8541729" cy="2073432"/>
          </a:xfrm>
        </p:spPr>
        <p:txBody>
          <a:bodyPr/>
          <a:lstStyle/>
          <a:p>
            <a:pPr>
              <a:lnSpc>
                <a:spcPct val="100000"/>
              </a:lnSpc>
              <a:buFont typeface="Wingdings" charset="0"/>
              <a:buChar char="v"/>
              <a:defRPr/>
            </a:pPr>
            <a:r>
              <a:rPr lang="en-US" sz="2200" dirty="0">
                <a:latin typeface="Arial"/>
                <a:cs typeface="Arial"/>
              </a:rPr>
              <a:t>Transfer packet from </a:t>
            </a:r>
            <a:r>
              <a:rPr lang="en-US" sz="2200" b="1" dirty="0">
                <a:latin typeface="Arial"/>
                <a:cs typeface="Arial"/>
              </a:rPr>
              <a:t>input</a:t>
            </a:r>
            <a:r>
              <a:rPr lang="en-US" sz="2200" dirty="0">
                <a:latin typeface="Arial"/>
                <a:cs typeface="Arial"/>
              </a:rPr>
              <a:t> </a:t>
            </a:r>
            <a:r>
              <a:rPr lang="en-US" sz="2200" b="1" dirty="0">
                <a:latin typeface="Arial"/>
                <a:cs typeface="Arial"/>
              </a:rPr>
              <a:t>link</a:t>
            </a:r>
            <a:r>
              <a:rPr lang="en-US" sz="2200" dirty="0">
                <a:latin typeface="Arial"/>
                <a:cs typeface="Arial"/>
              </a:rPr>
              <a:t> to appropriate </a:t>
            </a:r>
            <a:r>
              <a:rPr lang="en-US" sz="2200" b="1" dirty="0">
                <a:latin typeface="Arial"/>
                <a:cs typeface="Arial"/>
              </a:rPr>
              <a:t>output link</a:t>
            </a:r>
          </a:p>
          <a:p>
            <a:pPr>
              <a:lnSpc>
                <a:spcPct val="100000"/>
              </a:lnSpc>
              <a:buFont typeface="Wingdings" charset="0"/>
              <a:buChar char="v"/>
              <a:defRPr/>
            </a:pPr>
            <a:r>
              <a:rPr lang="en-US" sz="2200" dirty="0">
                <a:solidFill>
                  <a:srgbClr val="FF0000"/>
                </a:solidFill>
                <a:latin typeface="Arial"/>
                <a:cs typeface="Arial"/>
              </a:rPr>
              <a:t>Switching rate</a:t>
            </a:r>
            <a:r>
              <a:rPr lang="en-US" sz="2200" dirty="0">
                <a:latin typeface="Arial"/>
                <a:cs typeface="Arial"/>
              </a:rPr>
              <a:t>: rate at which packets can be transfer from  inputs to outputs</a:t>
            </a:r>
          </a:p>
          <a:p>
            <a:pPr lvl="1">
              <a:lnSpc>
                <a:spcPct val="100000"/>
              </a:lnSpc>
              <a:buFont typeface="Wingdings" charset="0"/>
              <a:buChar char="§"/>
              <a:defRPr/>
            </a:pPr>
            <a:r>
              <a:rPr lang="en-US" sz="2200" dirty="0">
                <a:latin typeface="Arial"/>
                <a:cs typeface="Arial"/>
              </a:rPr>
              <a:t>often measured as multiple of input/output line rate.</a:t>
            </a:r>
          </a:p>
          <a:p>
            <a:pPr lvl="1">
              <a:lnSpc>
                <a:spcPct val="100000"/>
              </a:lnSpc>
              <a:buFont typeface="Wingdings" charset="0"/>
              <a:buChar char="§"/>
              <a:defRPr/>
            </a:pPr>
            <a:r>
              <a:rPr lang="en-US" sz="2200" i="1" dirty="0">
                <a:latin typeface="Arial"/>
                <a:cs typeface="Arial"/>
              </a:rPr>
              <a:t>N</a:t>
            </a:r>
            <a:r>
              <a:rPr lang="en-US" sz="2200" dirty="0">
                <a:latin typeface="Arial"/>
                <a:cs typeface="Arial"/>
              </a:rPr>
              <a:t> inputs: switching rate = </a:t>
            </a:r>
            <a:r>
              <a:rPr lang="en-US" sz="2200" i="1" dirty="0">
                <a:latin typeface="Arial"/>
                <a:cs typeface="Arial"/>
              </a:rPr>
              <a:t>N</a:t>
            </a:r>
            <a:r>
              <a:rPr lang="en-US" sz="2200" dirty="0">
                <a:latin typeface="Arial"/>
                <a:cs typeface="Arial"/>
              </a:rPr>
              <a:t> times line rate desirable.</a:t>
            </a:r>
          </a:p>
        </p:txBody>
      </p:sp>
      <p:sp>
        <p:nvSpPr>
          <p:cNvPr id="143" name="Rectangle 2"/>
          <p:cNvSpPr txBox="1">
            <a:spLocks noChangeArrowheads="1"/>
          </p:cNvSpPr>
          <p:nvPr/>
        </p:nvSpPr>
        <p:spPr bwMode="auto">
          <a:xfrm>
            <a:off x="3891351" y="140786"/>
            <a:ext cx="5252649" cy="6279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800" dirty="0">
                <a:solidFill>
                  <a:schemeClr val="tx1"/>
                </a:solidFill>
                <a:latin typeface="Arial"/>
                <a:ea typeface="ＭＳ Ｐゴシック" pitchFamily="34" charset="-128"/>
                <a:cs typeface="Arial"/>
              </a:rPr>
              <a:t>Switching Fabrics</a:t>
            </a:r>
          </a:p>
        </p:txBody>
      </p:sp>
      <p:sp>
        <p:nvSpPr>
          <p:cNvPr id="10" name="Right Triangle 9">
            <a:extLst>
              <a:ext uri="{FF2B5EF4-FFF2-40B4-BE49-F238E27FC236}">
                <a16:creationId xmlns:a16="http://schemas.microsoft.com/office/drawing/2014/main" id="{49489271-391C-CC43-B89B-498E67B2F6CF}"/>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2" name="Picture 41">
            <a:extLst>
              <a:ext uri="{FF2B5EF4-FFF2-40B4-BE49-F238E27FC236}">
                <a16:creationId xmlns:a16="http://schemas.microsoft.com/office/drawing/2014/main" id="{589329E7-20FA-D475-6F63-B2D948FE1A96}"/>
              </a:ext>
            </a:extLst>
          </p:cNvPr>
          <p:cNvPicPr>
            <a:picLocks noChangeAspect="1"/>
          </p:cNvPicPr>
          <p:nvPr/>
        </p:nvPicPr>
        <p:blipFill>
          <a:blip r:embed="rId2"/>
          <a:stretch>
            <a:fillRect/>
          </a:stretch>
        </p:blipFill>
        <p:spPr>
          <a:xfrm>
            <a:off x="3208719" y="5249817"/>
            <a:ext cx="3082087" cy="1520587"/>
          </a:xfrm>
          <a:prstGeom prst="rect">
            <a:avLst/>
          </a:prstGeom>
        </p:spPr>
      </p:pic>
      <p:grpSp>
        <p:nvGrpSpPr>
          <p:cNvPr id="43" name="Group 60">
            <a:extLst>
              <a:ext uri="{FF2B5EF4-FFF2-40B4-BE49-F238E27FC236}">
                <a16:creationId xmlns:a16="http://schemas.microsoft.com/office/drawing/2014/main" id="{C43B8114-CD4F-C69A-6A50-3F2708B8EB21}"/>
              </a:ext>
            </a:extLst>
          </p:cNvPr>
          <p:cNvGrpSpPr>
            <a:grpSpLocks/>
          </p:cNvGrpSpPr>
          <p:nvPr/>
        </p:nvGrpSpPr>
        <p:grpSpPr bwMode="auto">
          <a:xfrm>
            <a:off x="3891351" y="2697552"/>
            <a:ext cx="1609725" cy="2343150"/>
            <a:chOff x="2418" y="1882"/>
            <a:chExt cx="1014" cy="1476"/>
          </a:xfrm>
          <a:effectLst>
            <a:outerShdw blurRad="50800" dist="38100" dir="2700000" algn="tl" rotWithShape="0">
              <a:prstClr val="black">
                <a:alpha val="40000"/>
              </a:prstClr>
            </a:outerShdw>
          </a:effectLst>
        </p:grpSpPr>
        <p:sp>
          <p:nvSpPr>
            <p:cNvPr id="44" name="Rectangle 45">
              <a:extLst>
                <a:ext uri="{FF2B5EF4-FFF2-40B4-BE49-F238E27FC236}">
                  <a16:creationId xmlns:a16="http://schemas.microsoft.com/office/drawing/2014/main" id="{03A2E8BC-DF78-26F7-4C95-3000FE65664E}"/>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5" name="Text Box 48">
              <a:extLst>
                <a:ext uri="{FF2B5EF4-FFF2-40B4-BE49-F238E27FC236}">
                  <a16:creationId xmlns:a16="http://schemas.microsoft.com/office/drawing/2014/main" id="{3B335E44-459A-C4E6-293E-27178CEE6164}"/>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sp>
        <p:nvSpPr>
          <p:cNvPr id="46" name="Text Box 57">
            <a:extLst>
              <a:ext uri="{FF2B5EF4-FFF2-40B4-BE49-F238E27FC236}">
                <a16:creationId xmlns:a16="http://schemas.microsoft.com/office/drawing/2014/main" id="{95C718A2-EAAC-E839-2F4B-4F79ED2FB59D}"/>
              </a:ext>
            </a:extLst>
          </p:cNvPr>
          <p:cNvSpPr txBox="1">
            <a:spLocks noChangeArrowheads="1"/>
          </p:cNvSpPr>
          <p:nvPr/>
        </p:nvSpPr>
        <p:spPr bwMode="auto">
          <a:xfrm>
            <a:off x="1597691" y="3612021"/>
            <a:ext cx="1492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 input ports</a:t>
            </a:r>
          </a:p>
        </p:txBody>
      </p:sp>
      <p:grpSp>
        <p:nvGrpSpPr>
          <p:cNvPr id="47" name="Group 38">
            <a:extLst>
              <a:ext uri="{FF2B5EF4-FFF2-40B4-BE49-F238E27FC236}">
                <a16:creationId xmlns:a16="http://schemas.microsoft.com/office/drawing/2014/main" id="{49880962-6F12-BC8A-9EB6-C6616F51849D}"/>
              </a:ext>
            </a:extLst>
          </p:cNvPr>
          <p:cNvGrpSpPr>
            <a:grpSpLocks/>
          </p:cNvGrpSpPr>
          <p:nvPr/>
        </p:nvGrpSpPr>
        <p:grpSpPr bwMode="auto">
          <a:xfrm>
            <a:off x="5529926" y="4463405"/>
            <a:ext cx="1472095" cy="386798"/>
            <a:chOff x="-51" y="2454"/>
            <a:chExt cx="1482" cy="357"/>
          </a:xfrm>
        </p:grpSpPr>
        <p:grpSp>
          <p:nvGrpSpPr>
            <p:cNvPr id="48" name="Group 39">
              <a:extLst>
                <a:ext uri="{FF2B5EF4-FFF2-40B4-BE49-F238E27FC236}">
                  <a16:creationId xmlns:a16="http://schemas.microsoft.com/office/drawing/2014/main" id="{BE01B662-B65B-274A-6B20-4ACDACF32263}"/>
                </a:ext>
              </a:extLst>
            </p:cNvPr>
            <p:cNvGrpSpPr>
              <a:grpSpLocks/>
            </p:cNvGrpSpPr>
            <p:nvPr/>
          </p:nvGrpSpPr>
          <p:grpSpPr bwMode="auto">
            <a:xfrm flipH="1">
              <a:off x="171" y="2454"/>
              <a:ext cx="1086" cy="357"/>
              <a:chOff x="171" y="2454"/>
              <a:chExt cx="1086" cy="357"/>
            </a:xfrm>
          </p:grpSpPr>
          <p:sp>
            <p:nvSpPr>
              <p:cNvPr id="50" name="Rectangle 40">
                <a:extLst>
                  <a:ext uri="{FF2B5EF4-FFF2-40B4-BE49-F238E27FC236}">
                    <a16:creationId xmlns:a16="http://schemas.microsoft.com/office/drawing/2014/main" id="{65377AC1-80F8-0974-4B89-DCD345D91AAC}"/>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1" name="Rectangle 41">
                <a:extLst>
                  <a:ext uri="{FF2B5EF4-FFF2-40B4-BE49-F238E27FC236}">
                    <a16:creationId xmlns:a16="http://schemas.microsoft.com/office/drawing/2014/main" id="{251A3082-9FA0-E670-A184-D5CFF00E0291}"/>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 name="Rectangle 42">
                <a:extLst>
                  <a:ext uri="{FF2B5EF4-FFF2-40B4-BE49-F238E27FC236}">
                    <a16:creationId xmlns:a16="http://schemas.microsoft.com/office/drawing/2014/main" id="{7C0D65DE-8CBA-5043-0DB5-E49A2D5C38B5}"/>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 name="Rectangle 43">
                <a:extLst>
                  <a:ext uri="{FF2B5EF4-FFF2-40B4-BE49-F238E27FC236}">
                    <a16:creationId xmlns:a16="http://schemas.microsoft.com/office/drawing/2014/main" id="{044B0F9C-4D15-D244-279E-CAA32047566A}"/>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49" name="Line 44">
              <a:extLst>
                <a:ext uri="{FF2B5EF4-FFF2-40B4-BE49-F238E27FC236}">
                  <a16:creationId xmlns:a16="http://schemas.microsoft.com/office/drawing/2014/main" id="{B84237B3-5BF6-6F76-B480-0159070219FA}"/>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4" name="Text Box 57">
            <a:extLst>
              <a:ext uri="{FF2B5EF4-FFF2-40B4-BE49-F238E27FC236}">
                <a16:creationId xmlns:a16="http://schemas.microsoft.com/office/drawing/2014/main" id="{8B26D65D-8A7B-C010-5898-59E449E390D8}"/>
              </a:ext>
            </a:extLst>
          </p:cNvPr>
          <p:cNvSpPr txBox="1">
            <a:spLocks noChangeArrowheads="1"/>
          </p:cNvSpPr>
          <p:nvPr/>
        </p:nvSpPr>
        <p:spPr bwMode="auto">
          <a:xfrm>
            <a:off x="4932002" y="4186662"/>
            <a:ext cx="1633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 output ports</a:t>
            </a:r>
          </a:p>
        </p:txBody>
      </p:sp>
      <p:grpSp>
        <p:nvGrpSpPr>
          <p:cNvPr id="55" name="Group 38">
            <a:extLst>
              <a:ext uri="{FF2B5EF4-FFF2-40B4-BE49-F238E27FC236}">
                <a16:creationId xmlns:a16="http://schemas.microsoft.com/office/drawing/2014/main" id="{323BE621-EF7C-E361-7C50-7A9E87D17155}"/>
              </a:ext>
            </a:extLst>
          </p:cNvPr>
          <p:cNvGrpSpPr>
            <a:grpSpLocks/>
          </p:cNvGrpSpPr>
          <p:nvPr/>
        </p:nvGrpSpPr>
        <p:grpSpPr bwMode="auto">
          <a:xfrm>
            <a:off x="5536552" y="2826761"/>
            <a:ext cx="1472095" cy="386798"/>
            <a:chOff x="-51" y="2454"/>
            <a:chExt cx="1482" cy="357"/>
          </a:xfrm>
        </p:grpSpPr>
        <p:grpSp>
          <p:nvGrpSpPr>
            <p:cNvPr id="56" name="Group 39">
              <a:extLst>
                <a:ext uri="{FF2B5EF4-FFF2-40B4-BE49-F238E27FC236}">
                  <a16:creationId xmlns:a16="http://schemas.microsoft.com/office/drawing/2014/main" id="{0B97B7AC-2B48-2272-9D56-6800B755190D}"/>
                </a:ext>
              </a:extLst>
            </p:cNvPr>
            <p:cNvGrpSpPr>
              <a:grpSpLocks/>
            </p:cNvGrpSpPr>
            <p:nvPr/>
          </p:nvGrpSpPr>
          <p:grpSpPr bwMode="auto">
            <a:xfrm flipH="1">
              <a:off x="171" y="2454"/>
              <a:ext cx="1086" cy="357"/>
              <a:chOff x="171" y="2454"/>
              <a:chExt cx="1086" cy="357"/>
            </a:xfrm>
          </p:grpSpPr>
          <p:sp>
            <p:nvSpPr>
              <p:cNvPr id="58" name="Rectangle 40">
                <a:extLst>
                  <a:ext uri="{FF2B5EF4-FFF2-40B4-BE49-F238E27FC236}">
                    <a16:creationId xmlns:a16="http://schemas.microsoft.com/office/drawing/2014/main" id="{049B0355-CDF9-5EB8-78BB-BFB38CCBB158}"/>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 name="Rectangle 41">
                <a:extLst>
                  <a:ext uri="{FF2B5EF4-FFF2-40B4-BE49-F238E27FC236}">
                    <a16:creationId xmlns:a16="http://schemas.microsoft.com/office/drawing/2014/main" id="{8E512647-907F-E621-5F1A-5DFB96FBC616}"/>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60" name="Rectangle 42">
                <a:extLst>
                  <a:ext uri="{FF2B5EF4-FFF2-40B4-BE49-F238E27FC236}">
                    <a16:creationId xmlns:a16="http://schemas.microsoft.com/office/drawing/2014/main" id="{7DA79AAA-C8FC-E4C7-260B-DBC564899727}"/>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61" name="Rectangle 43">
                <a:extLst>
                  <a:ext uri="{FF2B5EF4-FFF2-40B4-BE49-F238E27FC236}">
                    <a16:creationId xmlns:a16="http://schemas.microsoft.com/office/drawing/2014/main" id="{51559502-1C48-9815-E4CF-D00B1E11B3B6}"/>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7" name="Line 44">
              <a:extLst>
                <a:ext uri="{FF2B5EF4-FFF2-40B4-BE49-F238E27FC236}">
                  <a16:creationId xmlns:a16="http://schemas.microsoft.com/office/drawing/2014/main" id="{9E447365-A263-D735-6CC1-3F4B787A09FA}"/>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2" name="TextBox 61">
            <a:extLst>
              <a:ext uri="{FF2B5EF4-FFF2-40B4-BE49-F238E27FC236}">
                <a16:creationId xmlns:a16="http://schemas.microsoft.com/office/drawing/2014/main" id="{7ABD1A9D-36AE-6326-7B4A-0E96F0F027FC}"/>
              </a:ext>
            </a:extLst>
          </p:cNvPr>
          <p:cNvSpPr txBox="1"/>
          <p:nvPr/>
        </p:nvSpPr>
        <p:spPr>
          <a:xfrm rot="5400000">
            <a:off x="5629319" y="3462591"/>
            <a:ext cx="92764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 . </a:t>
            </a:r>
          </a:p>
        </p:txBody>
      </p:sp>
      <p:sp>
        <p:nvSpPr>
          <p:cNvPr id="63" name="TextBox 62">
            <a:extLst>
              <a:ext uri="{FF2B5EF4-FFF2-40B4-BE49-F238E27FC236}">
                <a16:creationId xmlns:a16="http://schemas.microsoft.com/office/drawing/2014/main" id="{8410D8E8-C281-74D8-EA5B-1D55C7F520C0}"/>
              </a:ext>
            </a:extLst>
          </p:cNvPr>
          <p:cNvSpPr txBox="1"/>
          <p:nvPr/>
        </p:nvSpPr>
        <p:spPr>
          <a:xfrm rot="5400000">
            <a:off x="2852989" y="3469218"/>
            <a:ext cx="92764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 . </a:t>
            </a:r>
          </a:p>
        </p:txBody>
      </p:sp>
      <p:grpSp>
        <p:nvGrpSpPr>
          <p:cNvPr id="128" name="Group 39">
            <a:extLst>
              <a:ext uri="{FF2B5EF4-FFF2-40B4-BE49-F238E27FC236}">
                <a16:creationId xmlns:a16="http://schemas.microsoft.com/office/drawing/2014/main" id="{7AB11638-CB7B-CEB6-89D6-7E1C29A5839A}"/>
              </a:ext>
            </a:extLst>
          </p:cNvPr>
          <p:cNvGrpSpPr>
            <a:grpSpLocks/>
          </p:cNvGrpSpPr>
          <p:nvPr/>
        </p:nvGrpSpPr>
        <p:grpSpPr bwMode="auto">
          <a:xfrm rot="10800000" flipH="1">
            <a:off x="2622929" y="2820135"/>
            <a:ext cx="1078742" cy="386798"/>
            <a:chOff x="171" y="2454"/>
            <a:chExt cx="1086" cy="357"/>
          </a:xfrm>
        </p:grpSpPr>
        <p:sp>
          <p:nvSpPr>
            <p:cNvPr id="129" name="Rectangle 40">
              <a:extLst>
                <a:ext uri="{FF2B5EF4-FFF2-40B4-BE49-F238E27FC236}">
                  <a16:creationId xmlns:a16="http://schemas.microsoft.com/office/drawing/2014/main" id="{AE57CCCD-EC78-01D8-FE3E-A2757BA926BF}"/>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0" name="Rectangle 41">
              <a:extLst>
                <a:ext uri="{FF2B5EF4-FFF2-40B4-BE49-F238E27FC236}">
                  <a16:creationId xmlns:a16="http://schemas.microsoft.com/office/drawing/2014/main" id="{619F571A-25F2-0CFE-AAF3-9B6DC3C0DAB4}"/>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1" name="Rectangle 42">
              <a:extLst>
                <a:ext uri="{FF2B5EF4-FFF2-40B4-BE49-F238E27FC236}">
                  <a16:creationId xmlns:a16="http://schemas.microsoft.com/office/drawing/2014/main" id="{5ED3255D-FE98-5714-E909-69381EC13E78}"/>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2" name="Rectangle 43">
              <a:extLst>
                <a:ext uri="{FF2B5EF4-FFF2-40B4-BE49-F238E27FC236}">
                  <a16:creationId xmlns:a16="http://schemas.microsoft.com/office/drawing/2014/main" id="{8462CEDF-190E-0F51-6A0B-143ED7ECCC7D}"/>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33" name="Line 44">
            <a:extLst>
              <a:ext uri="{FF2B5EF4-FFF2-40B4-BE49-F238E27FC236}">
                <a16:creationId xmlns:a16="http://schemas.microsoft.com/office/drawing/2014/main" id="{04F9B0D8-25FB-878A-CBB0-4F20A795E2E6}"/>
              </a:ext>
            </a:extLst>
          </p:cNvPr>
          <p:cNvSpPr>
            <a:spLocks noChangeShapeType="1"/>
          </p:cNvSpPr>
          <p:nvPr/>
        </p:nvSpPr>
        <p:spPr bwMode="auto">
          <a:xfrm>
            <a:off x="2402413" y="3015159"/>
            <a:ext cx="14720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4" name="Group 39">
            <a:extLst>
              <a:ext uri="{FF2B5EF4-FFF2-40B4-BE49-F238E27FC236}">
                <a16:creationId xmlns:a16="http://schemas.microsoft.com/office/drawing/2014/main" id="{238916CE-1E6A-17EE-0A97-CA7F0D0E93E3}"/>
              </a:ext>
            </a:extLst>
          </p:cNvPr>
          <p:cNvGrpSpPr>
            <a:grpSpLocks/>
          </p:cNvGrpSpPr>
          <p:nvPr/>
        </p:nvGrpSpPr>
        <p:grpSpPr bwMode="auto">
          <a:xfrm rot="10800000" flipH="1">
            <a:off x="2629555" y="4483282"/>
            <a:ext cx="1078742" cy="386798"/>
            <a:chOff x="171" y="2454"/>
            <a:chExt cx="1086" cy="357"/>
          </a:xfrm>
        </p:grpSpPr>
        <p:sp>
          <p:nvSpPr>
            <p:cNvPr id="135" name="Rectangle 40">
              <a:extLst>
                <a:ext uri="{FF2B5EF4-FFF2-40B4-BE49-F238E27FC236}">
                  <a16:creationId xmlns:a16="http://schemas.microsoft.com/office/drawing/2014/main" id="{41A2876D-8B0B-0674-3DEB-09CF8159393D}"/>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6" name="Rectangle 41">
              <a:extLst>
                <a:ext uri="{FF2B5EF4-FFF2-40B4-BE49-F238E27FC236}">
                  <a16:creationId xmlns:a16="http://schemas.microsoft.com/office/drawing/2014/main" id="{5896075C-6028-66C0-6432-D80B145B4826}"/>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7" name="Rectangle 42">
              <a:extLst>
                <a:ext uri="{FF2B5EF4-FFF2-40B4-BE49-F238E27FC236}">
                  <a16:creationId xmlns:a16="http://schemas.microsoft.com/office/drawing/2014/main" id="{5AFFC68D-C6F4-3D6A-B988-97E10D5158E5}"/>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8" name="Rectangle 43">
              <a:extLst>
                <a:ext uri="{FF2B5EF4-FFF2-40B4-BE49-F238E27FC236}">
                  <a16:creationId xmlns:a16="http://schemas.microsoft.com/office/drawing/2014/main" id="{54EC65AA-5717-D3DD-7114-B1586CBECE25}"/>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39" name="Line 44">
            <a:extLst>
              <a:ext uri="{FF2B5EF4-FFF2-40B4-BE49-F238E27FC236}">
                <a16:creationId xmlns:a16="http://schemas.microsoft.com/office/drawing/2014/main" id="{7803F156-CCEA-EF7C-6FA2-E524D6FAA95A}"/>
              </a:ext>
            </a:extLst>
          </p:cNvPr>
          <p:cNvSpPr>
            <a:spLocks noChangeShapeType="1"/>
          </p:cNvSpPr>
          <p:nvPr/>
        </p:nvSpPr>
        <p:spPr bwMode="auto">
          <a:xfrm>
            <a:off x="2409039" y="4678306"/>
            <a:ext cx="14720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TextBox 139">
            <a:extLst>
              <a:ext uri="{FF2B5EF4-FFF2-40B4-BE49-F238E27FC236}">
                <a16:creationId xmlns:a16="http://schemas.microsoft.com/office/drawing/2014/main" id="{B80445A3-4521-618B-45CB-3DCDD3286176}"/>
              </a:ext>
            </a:extLst>
          </p:cNvPr>
          <p:cNvSpPr txBox="1"/>
          <p:nvPr/>
        </p:nvSpPr>
        <p:spPr>
          <a:xfrm>
            <a:off x="2137371" y="2835872"/>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141" name="TextBox 140">
            <a:extLst>
              <a:ext uri="{FF2B5EF4-FFF2-40B4-BE49-F238E27FC236}">
                <a16:creationId xmlns:a16="http://schemas.microsoft.com/office/drawing/2014/main" id="{AE4202A9-E45A-7715-B606-4B8D0EB6A70F}"/>
              </a:ext>
            </a:extLst>
          </p:cNvPr>
          <p:cNvSpPr txBox="1"/>
          <p:nvPr/>
        </p:nvSpPr>
        <p:spPr>
          <a:xfrm>
            <a:off x="2130745" y="4472516"/>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142" name="TextBox 141">
            <a:extLst>
              <a:ext uri="{FF2B5EF4-FFF2-40B4-BE49-F238E27FC236}">
                <a16:creationId xmlns:a16="http://schemas.microsoft.com/office/drawing/2014/main" id="{60A1E46D-F3A0-B356-9212-3D3E14274F1B}"/>
              </a:ext>
            </a:extLst>
          </p:cNvPr>
          <p:cNvSpPr txBox="1"/>
          <p:nvPr/>
        </p:nvSpPr>
        <p:spPr>
          <a:xfrm>
            <a:off x="6974414" y="2835873"/>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144" name="TextBox 143">
            <a:extLst>
              <a:ext uri="{FF2B5EF4-FFF2-40B4-BE49-F238E27FC236}">
                <a16:creationId xmlns:a16="http://schemas.microsoft.com/office/drawing/2014/main" id="{95110E3B-AC52-18D9-D917-EF2F3677A02C}"/>
              </a:ext>
            </a:extLst>
          </p:cNvPr>
          <p:cNvSpPr txBox="1"/>
          <p:nvPr/>
        </p:nvSpPr>
        <p:spPr>
          <a:xfrm>
            <a:off x="6967787" y="4472517"/>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145" name="TextBox 144">
            <a:extLst>
              <a:ext uri="{FF2B5EF4-FFF2-40B4-BE49-F238E27FC236}">
                <a16:creationId xmlns:a16="http://schemas.microsoft.com/office/drawing/2014/main" id="{28126448-B1BA-C6FA-965B-D8644DB4B56F}"/>
              </a:ext>
            </a:extLst>
          </p:cNvPr>
          <p:cNvSpPr txBox="1"/>
          <p:nvPr/>
        </p:nvSpPr>
        <p:spPr>
          <a:xfrm>
            <a:off x="3992677" y="2849124"/>
            <a:ext cx="133118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(rate: NR, ideally)</a:t>
            </a:r>
          </a:p>
        </p:txBody>
      </p:sp>
    </p:spTree>
    <p:extLst>
      <p:ext uri="{BB962C8B-B14F-4D97-AF65-F5344CB8AC3E}">
        <p14:creationId xmlns:p14="http://schemas.microsoft.com/office/powerpoint/2010/main" val="319456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dissolve">
                                      <p:cBhvr>
                                        <p:cTn id="7"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174" descr="underline_base">
            <a:extLst>
              <a:ext uri="{FF2B5EF4-FFF2-40B4-BE49-F238E27FC236}">
                <a16:creationId xmlns:a16="http://schemas.microsoft.com/office/drawing/2014/main" id="{E00CEEE3-72B1-3B42-9C52-2DFB8D8C2DE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800100"/>
            <a:ext cx="3656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Rectangle 3">
            <a:extLst>
              <a:ext uri="{FF2B5EF4-FFF2-40B4-BE49-F238E27FC236}">
                <a16:creationId xmlns:a16="http://schemas.microsoft.com/office/drawing/2014/main" id="{688EBEB0-2B02-5740-9749-EC087EEF507F}"/>
              </a:ext>
            </a:extLst>
          </p:cNvPr>
          <p:cNvSpPr>
            <a:spLocks noGrp="1" noChangeArrowheads="1"/>
          </p:cNvSpPr>
          <p:nvPr>
            <p:ph type="title"/>
          </p:nvPr>
        </p:nvSpPr>
        <p:spPr>
          <a:xfrm>
            <a:off x="441325" y="247650"/>
            <a:ext cx="7772400" cy="685800"/>
          </a:xfrm>
        </p:spPr>
        <p:txBody>
          <a:bodyPr/>
          <a:lstStyle/>
          <a:p>
            <a:r>
              <a:rPr lang="en-US" altLang="en-US" sz="4000">
                <a:ea typeface="ＭＳ Ｐゴシック" panose="020B0600070205080204" pitchFamily="34" charset="-128"/>
              </a:rPr>
              <a:t>Switching fabrics</a:t>
            </a:r>
            <a:endParaRPr lang="en-US" altLang="en-US">
              <a:ea typeface="ＭＳ Ｐゴシック" panose="020B0600070205080204" pitchFamily="34" charset="-128"/>
            </a:endParaRPr>
          </a:p>
        </p:txBody>
      </p:sp>
      <p:sp>
        <p:nvSpPr>
          <p:cNvPr id="24582" name="Rectangle 4">
            <a:extLst>
              <a:ext uri="{FF2B5EF4-FFF2-40B4-BE49-F238E27FC236}">
                <a16:creationId xmlns:a16="http://schemas.microsoft.com/office/drawing/2014/main" id="{95426E18-24D9-8D48-BD4B-327DABA57B33}"/>
              </a:ext>
            </a:extLst>
          </p:cNvPr>
          <p:cNvSpPr>
            <a:spLocks noGrp="1" noChangeArrowheads="1"/>
          </p:cNvSpPr>
          <p:nvPr>
            <p:ph type="body" idx="1"/>
          </p:nvPr>
        </p:nvSpPr>
        <p:spPr>
          <a:xfrm>
            <a:off x="701675" y="1177925"/>
            <a:ext cx="7772400" cy="4648200"/>
          </a:xfrm>
        </p:spPr>
        <p:txBody>
          <a:bodyPr/>
          <a:lstStyle/>
          <a:p>
            <a:pPr>
              <a:buFont typeface="Wingdings" charset="2"/>
              <a:buChar char="§"/>
              <a:defRPr/>
            </a:pPr>
            <a:r>
              <a:rPr lang="en-US" dirty="0">
                <a:cs typeface="+mn-cs"/>
              </a:rPr>
              <a:t>transfer packet from input link to appropriate output link</a:t>
            </a:r>
          </a:p>
          <a:p>
            <a:pPr>
              <a:buFont typeface="Wingdings" charset="2"/>
              <a:buChar char="§"/>
              <a:defRPr/>
            </a:pPr>
            <a:r>
              <a:rPr lang="en-US" dirty="0">
                <a:cs typeface="+mn-cs"/>
              </a:rPr>
              <a:t>switching rate: rate at which packets can be transfer from inputs to outputs</a:t>
            </a:r>
          </a:p>
          <a:p>
            <a:pPr lvl="1">
              <a:buFont typeface="Arial"/>
              <a:buChar char="•"/>
              <a:defRPr/>
            </a:pPr>
            <a:r>
              <a:rPr lang="en-US" sz="2000" dirty="0"/>
              <a:t>often measured as multiple of input/output line rate</a:t>
            </a:r>
          </a:p>
          <a:p>
            <a:pPr lvl="1">
              <a:buFont typeface="Arial"/>
              <a:buChar char="•"/>
              <a:defRPr/>
            </a:pPr>
            <a:r>
              <a:rPr lang="en-US" sz="2000" dirty="0"/>
              <a:t>N inputs: switching rate N times line rate desirable</a:t>
            </a:r>
          </a:p>
          <a:p>
            <a:pPr>
              <a:buFont typeface="Wingdings" charset="2"/>
              <a:buChar char="§"/>
              <a:defRPr/>
            </a:pPr>
            <a:r>
              <a:rPr lang="en-US" dirty="0">
                <a:cs typeface="+mn-cs"/>
              </a:rPr>
              <a:t>three types of switching fabrics</a:t>
            </a:r>
          </a:p>
        </p:txBody>
      </p:sp>
      <p:grpSp>
        <p:nvGrpSpPr>
          <p:cNvPr id="56325" name="Group 30">
            <a:extLst>
              <a:ext uri="{FF2B5EF4-FFF2-40B4-BE49-F238E27FC236}">
                <a16:creationId xmlns:a16="http://schemas.microsoft.com/office/drawing/2014/main" id="{00FE0193-E751-424C-AB54-4C2C54873E52}"/>
              </a:ext>
            </a:extLst>
          </p:cNvPr>
          <p:cNvGrpSpPr>
            <a:grpSpLocks/>
          </p:cNvGrpSpPr>
          <p:nvPr/>
        </p:nvGrpSpPr>
        <p:grpSpPr bwMode="auto">
          <a:xfrm>
            <a:off x="742950" y="4283075"/>
            <a:ext cx="890588" cy="215900"/>
            <a:chOff x="876" y="2800"/>
            <a:chExt cx="642" cy="175"/>
          </a:xfrm>
        </p:grpSpPr>
        <p:sp>
          <p:nvSpPr>
            <p:cNvPr id="56455" name="Rectangle 7">
              <a:extLst>
                <a:ext uri="{FF2B5EF4-FFF2-40B4-BE49-F238E27FC236}">
                  <a16:creationId xmlns:a16="http://schemas.microsoft.com/office/drawing/2014/main" id="{E684A2DE-9CA0-F541-84D2-38F4B31B305B}"/>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56" name="Rectangle 8">
              <a:extLst>
                <a:ext uri="{FF2B5EF4-FFF2-40B4-BE49-F238E27FC236}">
                  <a16:creationId xmlns:a16="http://schemas.microsoft.com/office/drawing/2014/main" id="{24A44B69-9C07-5A41-B784-47F436FF075E}"/>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57" name="Rectangle 9">
              <a:extLst>
                <a:ext uri="{FF2B5EF4-FFF2-40B4-BE49-F238E27FC236}">
                  <a16:creationId xmlns:a16="http://schemas.microsoft.com/office/drawing/2014/main" id="{4221C221-A3DD-1048-81DA-B1D5508AF34C}"/>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58" name="Rectangle 10">
              <a:extLst>
                <a:ext uri="{FF2B5EF4-FFF2-40B4-BE49-F238E27FC236}">
                  <a16:creationId xmlns:a16="http://schemas.microsoft.com/office/drawing/2014/main" id="{3FBB5D57-EAF7-C349-A329-18994F24E9EB}"/>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59" name="Line 11">
              <a:extLst>
                <a:ext uri="{FF2B5EF4-FFF2-40B4-BE49-F238E27FC236}">
                  <a16:creationId xmlns:a16="http://schemas.microsoft.com/office/drawing/2014/main" id="{2622F74E-D35F-7344-8DD8-4D5B12474C3A}"/>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26" name="Group 45">
            <a:extLst>
              <a:ext uri="{FF2B5EF4-FFF2-40B4-BE49-F238E27FC236}">
                <a16:creationId xmlns:a16="http://schemas.microsoft.com/office/drawing/2014/main" id="{8A4240DB-FF6A-8A4D-ABC4-8E8106F4344B}"/>
              </a:ext>
            </a:extLst>
          </p:cNvPr>
          <p:cNvGrpSpPr>
            <a:grpSpLocks/>
          </p:cNvGrpSpPr>
          <p:nvPr/>
        </p:nvGrpSpPr>
        <p:grpSpPr bwMode="auto">
          <a:xfrm>
            <a:off x="719138" y="4678363"/>
            <a:ext cx="890587" cy="215900"/>
            <a:chOff x="876" y="2800"/>
            <a:chExt cx="642" cy="175"/>
          </a:xfrm>
        </p:grpSpPr>
        <p:sp>
          <p:nvSpPr>
            <p:cNvPr id="56450" name="Rectangle 46">
              <a:extLst>
                <a:ext uri="{FF2B5EF4-FFF2-40B4-BE49-F238E27FC236}">
                  <a16:creationId xmlns:a16="http://schemas.microsoft.com/office/drawing/2014/main" id="{D3CDD6E4-23DE-8C4B-89DA-81A38275E03B}"/>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51" name="Rectangle 47">
              <a:extLst>
                <a:ext uri="{FF2B5EF4-FFF2-40B4-BE49-F238E27FC236}">
                  <a16:creationId xmlns:a16="http://schemas.microsoft.com/office/drawing/2014/main" id="{D3DC2C4F-85EA-FC4C-9DFF-529F2DA0745C}"/>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52" name="Rectangle 48">
              <a:extLst>
                <a:ext uri="{FF2B5EF4-FFF2-40B4-BE49-F238E27FC236}">
                  <a16:creationId xmlns:a16="http://schemas.microsoft.com/office/drawing/2014/main" id="{F379CA5C-F276-3241-A511-E14DBD609899}"/>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53" name="Rectangle 49">
              <a:extLst>
                <a:ext uri="{FF2B5EF4-FFF2-40B4-BE49-F238E27FC236}">
                  <a16:creationId xmlns:a16="http://schemas.microsoft.com/office/drawing/2014/main" id="{2FBFD202-4640-9047-9CF7-9F0E890D669C}"/>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54" name="Line 50">
              <a:extLst>
                <a:ext uri="{FF2B5EF4-FFF2-40B4-BE49-F238E27FC236}">
                  <a16:creationId xmlns:a16="http://schemas.microsoft.com/office/drawing/2014/main" id="{058229CB-9C1A-894B-A84B-75BC32F08222}"/>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27" name="Group 51">
            <a:extLst>
              <a:ext uri="{FF2B5EF4-FFF2-40B4-BE49-F238E27FC236}">
                <a16:creationId xmlns:a16="http://schemas.microsoft.com/office/drawing/2014/main" id="{B41251E0-A964-3843-A30F-40D43ABB28D2}"/>
              </a:ext>
            </a:extLst>
          </p:cNvPr>
          <p:cNvGrpSpPr>
            <a:grpSpLocks/>
          </p:cNvGrpSpPr>
          <p:nvPr/>
        </p:nvGrpSpPr>
        <p:grpSpPr bwMode="auto">
          <a:xfrm>
            <a:off x="714375" y="5105400"/>
            <a:ext cx="890588" cy="215900"/>
            <a:chOff x="876" y="2800"/>
            <a:chExt cx="642" cy="175"/>
          </a:xfrm>
        </p:grpSpPr>
        <p:sp>
          <p:nvSpPr>
            <p:cNvPr id="56445" name="Rectangle 52">
              <a:extLst>
                <a:ext uri="{FF2B5EF4-FFF2-40B4-BE49-F238E27FC236}">
                  <a16:creationId xmlns:a16="http://schemas.microsoft.com/office/drawing/2014/main" id="{A0D81ACC-6154-6640-A935-A55FFFFBFC83}"/>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46" name="Rectangle 53">
              <a:extLst>
                <a:ext uri="{FF2B5EF4-FFF2-40B4-BE49-F238E27FC236}">
                  <a16:creationId xmlns:a16="http://schemas.microsoft.com/office/drawing/2014/main" id="{6A91F373-BC39-2942-A638-6F6D8049AD31}"/>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47" name="Rectangle 54">
              <a:extLst>
                <a:ext uri="{FF2B5EF4-FFF2-40B4-BE49-F238E27FC236}">
                  <a16:creationId xmlns:a16="http://schemas.microsoft.com/office/drawing/2014/main" id="{21A2CCA2-BFFF-884C-A227-CD39CFDEDAFB}"/>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48" name="Rectangle 55">
              <a:extLst>
                <a:ext uri="{FF2B5EF4-FFF2-40B4-BE49-F238E27FC236}">
                  <a16:creationId xmlns:a16="http://schemas.microsoft.com/office/drawing/2014/main" id="{53101AF8-3C6F-884D-94F2-C033F4122155}"/>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49" name="Line 56">
              <a:extLst>
                <a:ext uri="{FF2B5EF4-FFF2-40B4-BE49-F238E27FC236}">
                  <a16:creationId xmlns:a16="http://schemas.microsoft.com/office/drawing/2014/main" id="{AEC7840D-1A53-0046-93AB-E2D62D1B121D}"/>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56328" name="Rectangle 57">
            <a:extLst>
              <a:ext uri="{FF2B5EF4-FFF2-40B4-BE49-F238E27FC236}">
                <a16:creationId xmlns:a16="http://schemas.microsoft.com/office/drawing/2014/main" id="{A93607D5-70D1-E44E-9DCA-3332C4DD3F6F}"/>
              </a:ext>
            </a:extLst>
          </p:cNvPr>
          <p:cNvSpPr>
            <a:spLocks noChangeArrowheads="1"/>
          </p:cNvSpPr>
          <p:nvPr/>
        </p:nvSpPr>
        <p:spPr bwMode="auto">
          <a:xfrm>
            <a:off x="1601788" y="4200525"/>
            <a:ext cx="704850" cy="117633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56329" name="Group 64">
            <a:extLst>
              <a:ext uri="{FF2B5EF4-FFF2-40B4-BE49-F238E27FC236}">
                <a16:creationId xmlns:a16="http://schemas.microsoft.com/office/drawing/2014/main" id="{9F406B0B-ECE5-C343-B2CE-D995B43E30E5}"/>
              </a:ext>
            </a:extLst>
          </p:cNvPr>
          <p:cNvGrpSpPr>
            <a:grpSpLocks/>
          </p:cNvGrpSpPr>
          <p:nvPr/>
        </p:nvGrpSpPr>
        <p:grpSpPr bwMode="auto">
          <a:xfrm>
            <a:off x="2311400" y="4281488"/>
            <a:ext cx="890588" cy="215900"/>
            <a:chOff x="455" y="3463"/>
            <a:chExt cx="561" cy="136"/>
          </a:xfrm>
        </p:grpSpPr>
        <p:sp>
          <p:nvSpPr>
            <p:cNvPr id="56440" name="Rectangle 59">
              <a:extLst>
                <a:ext uri="{FF2B5EF4-FFF2-40B4-BE49-F238E27FC236}">
                  <a16:creationId xmlns:a16="http://schemas.microsoft.com/office/drawing/2014/main" id="{546CBE8D-973F-1045-A38A-6412361C66D0}"/>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41" name="Rectangle 60">
              <a:extLst>
                <a:ext uri="{FF2B5EF4-FFF2-40B4-BE49-F238E27FC236}">
                  <a16:creationId xmlns:a16="http://schemas.microsoft.com/office/drawing/2014/main" id="{B2A8B645-6BB3-1044-8419-1FF729EAFC82}"/>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42" name="Rectangle 61">
              <a:extLst>
                <a:ext uri="{FF2B5EF4-FFF2-40B4-BE49-F238E27FC236}">
                  <a16:creationId xmlns:a16="http://schemas.microsoft.com/office/drawing/2014/main" id="{498F8797-9B23-B24E-985D-3E79F72A9EA5}"/>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43" name="Rectangle 62">
              <a:extLst>
                <a:ext uri="{FF2B5EF4-FFF2-40B4-BE49-F238E27FC236}">
                  <a16:creationId xmlns:a16="http://schemas.microsoft.com/office/drawing/2014/main" id="{7E2F64D4-40F2-8D41-A5C5-7E38CA753C46}"/>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44" name="Line 63">
              <a:extLst>
                <a:ext uri="{FF2B5EF4-FFF2-40B4-BE49-F238E27FC236}">
                  <a16:creationId xmlns:a16="http://schemas.microsoft.com/office/drawing/2014/main" id="{0DA066C9-41DE-3E4A-B55F-95AAEE70344D}"/>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30" name="Group 65">
            <a:extLst>
              <a:ext uri="{FF2B5EF4-FFF2-40B4-BE49-F238E27FC236}">
                <a16:creationId xmlns:a16="http://schemas.microsoft.com/office/drawing/2014/main" id="{2EDF9239-91DB-9540-B3C3-3ADE4E0116BD}"/>
              </a:ext>
            </a:extLst>
          </p:cNvPr>
          <p:cNvGrpSpPr>
            <a:grpSpLocks/>
          </p:cNvGrpSpPr>
          <p:nvPr/>
        </p:nvGrpSpPr>
        <p:grpSpPr bwMode="auto">
          <a:xfrm>
            <a:off x="2316163" y="4673600"/>
            <a:ext cx="890587" cy="215900"/>
            <a:chOff x="455" y="3463"/>
            <a:chExt cx="561" cy="136"/>
          </a:xfrm>
        </p:grpSpPr>
        <p:sp>
          <p:nvSpPr>
            <p:cNvPr id="56435" name="Rectangle 66">
              <a:extLst>
                <a:ext uri="{FF2B5EF4-FFF2-40B4-BE49-F238E27FC236}">
                  <a16:creationId xmlns:a16="http://schemas.microsoft.com/office/drawing/2014/main" id="{B1744858-F5AF-FE42-8BD4-22233D105846}"/>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36" name="Rectangle 67">
              <a:extLst>
                <a:ext uri="{FF2B5EF4-FFF2-40B4-BE49-F238E27FC236}">
                  <a16:creationId xmlns:a16="http://schemas.microsoft.com/office/drawing/2014/main" id="{E30BF378-3135-6D46-A9B6-F906163DFE55}"/>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37" name="Rectangle 68">
              <a:extLst>
                <a:ext uri="{FF2B5EF4-FFF2-40B4-BE49-F238E27FC236}">
                  <a16:creationId xmlns:a16="http://schemas.microsoft.com/office/drawing/2014/main" id="{C0DBBF8E-4D5E-8A49-980C-CE277F927CFF}"/>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38" name="Rectangle 69">
              <a:extLst>
                <a:ext uri="{FF2B5EF4-FFF2-40B4-BE49-F238E27FC236}">
                  <a16:creationId xmlns:a16="http://schemas.microsoft.com/office/drawing/2014/main" id="{717AE421-B495-7141-97F4-62347AA88235}"/>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39" name="Line 70">
              <a:extLst>
                <a:ext uri="{FF2B5EF4-FFF2-40B4-BE49-F238E27FC236}">
                  <a16:creationId xmlns:a16="http://schemas.microsoft.com/office/drawing/2014/main" id="{AFB1B785-C85C-184E-BE72-62525D7EF22B}"/>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31" name="Group 71">
            <a:extLst>
              <a:ext uri="{FF2B5EF4-FFF2-40B4-BE49-F238E27FC236}">
                <a16:creationId xmlns:a16="http://schemas.microsoft.com/office/drawing/2014/main" id="{9145EAA6-AD28-2641-9114-89C17A69A3A1}"/>
              </a:ext>
            </a:extLst>
          </p:cNvPr>
          <p:cNvGrpSpPr>
            <a:grpSpLocks/>
          </p:cNvGrpSpPr>
          <p:nvPr/>
        </p:nvGrpSpPr>
        <p:grpSpPr bwMode="auto">
          <a:xfrm>
            <a:off x="2311400" y="5100638"/>
            <a:ext cx="890588" cy="215900"/>
            <a:chOff x="455" y="3463"/>
            <a:chExt cx="561" cy="136"/>
          </a:xfrm>
        </p:grpSpPr>
        <p:sp>
          <p:nvSpPr>
            <p:cNvPr id="56430" name="Rectangle 72">
              <a:extLst>
                <a:ext uri="{FF2B5EF4-FFF2-40B4-BE49-F238E27FC236}">
                  <a16:creationId xmlns:a16="http://schemas.microsoft.com/office/drawing/2014/main" id="{83FA629E-0D88-BB41-98C2-8C0D437EFE9E}"/>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31" name="Rectangle 73">
              <a:extLst>
                <a:ext uri="{FF2B5EF4-FFF2-40B4-BE49-F238E27FC236}">
                  <a16:creationId xmlns:a16="http://schemas.microsoft.com/office/drawing/2014/main" id="{818F284C-93AC-734B-B621-680AF4E8DFEE}"/>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32" name="Rectangle 74">
              <a:extLst>
                <a:ext uri="{FF2B5EF4-FFF2-40B4-BE49-F238E27FC236}">
                  <a16:creationId xmlns:a16="http://schemas.microsoft.com/office/drawing/2014/main" id="{7B672E7E-94BB-9E4B-A76E-1784BF2B17F1}"/>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33" name="Rectangle 75">
              <a:extLst>
                <a:ext uri="{FF2B5EF4-FFF2-40B4-BE49-F238E27FC236}">
                  <a16:creationId xmlns:a16="http://schemas.microsoft.com/office/drawing/2014/main" id="{66D42582-8A5B-5D4B-806C-86A10A07AD15}"/>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34" name="Line 76">
              <a:extLst>
                <a:ext uri="{FF2B5EF4-FFF2-40B4-BE49-F238E27FC236}">
                  <a16:creationId xmlns:a16="http://schemas.microsoft.com/office/drawing/2014/main" id="{4EFF4683-A052-2740-AEEF-68F85215739C}"/>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56332" name="Text Box 78">
            <a:extLst>
              <a:ext uri="{FF2B5EF4-FFF2-40B4-BE49-F238E27FC236}">
                <a16:creationId xmlns:a16="http://schemas.microsoft.com/office/drawing/2014/main" id="{F6A2A48C-9B56-2F4F-82FB-2A020C2B2216}"/>
              </a:ext>
            </a:extLst>
          </p:cNvPr>
          <p:cNvSpPr txBox="1">
            <a:spLocks noChangeArrowheads="1"/>
          </p:cNvSpPr>
          <p:nvPr/>
        </p:nvSpPr>
        <p:spPr bwMode="auto">
          <a:xfrm>
            <a:off x="1435100" y="5586413"/>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memory</a:t>
            </a:r>
          </a:p>
        </p:txBody>
      </p:sp>
      <p:sp>
        <p:nvSpPr>
          <p:cNvPr id="56333" name="Text Box 79">
            <a:extLst>
              <a:ext uri="{FF2B5EF4-FFF2-40B4-BE49-F238E27FC236}">
                <a16:creationId xmlns:a16="http://schemas.microsoft.com/office/drawing/2014/main" id="{1FF5E16F-47C8-CA49-9D62-74AED8D49FE2}"/>
              </a:ext>
            </a:extLst>
          </p:cNvPr>
          <p:cNvSpPr txBox="1">
            <a:spLocks noChangeArrowheads="1"/>
          </p:cNvSpPr>
          <p:nvPr/>
        </p:nvSpPr>
        <p:spPr bwMode="auto">
          <a:xfrm>
            <a:off x="1533525" y="4518025"/>
            <a:ext cx="8239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memory</a:t>
            </a:r>
          </a:p>
        </p:txBody>
      </p:sp>
      <p:grpSp>
        <p:nvGrpSpPr>
          <p:cNvPr id="56334" name="Group 80">
            <a:extLst>
              <a:ext uri="{FF2B5EF4-FFF2-40B4-BE49-F238E27FC236}">
                <a16:creationId xmlns:a16="http://schemas.microsoft.com/office/drawing/2014/main" id="{832A6E03-FE36-7C40-A2A6-74A4B7CF88A2}"/>
              </a:ext>
            </a:extLst>
          </p:cNvPr>
          <p:cNvGrpSpPr>
            <a:grpSpLocks/>
          </p:cNvGrpSpPr>
          <p:nvPr/>
        </p:nvGrpSpPr>
        <p:grpSpPr bwMode="auto">
          <a:xfrm>
            <a:off x="3648075" y="4267200"/>
            <a:ext cx="890588" cy="215900"/>
            <a:chOff x="876" y="2800"/>
            <a:chExt cx="642" cy="175"/>
          </a:xfrm>
        </p:grpSpPr>
        <p:sp>
          <p:nvSpPr>
            <p:cNvPr id="56425" name="Rectangle 81">
              <a:extLst>
                <a:ext uri="{FF2B5EF4-FFF2-40B4-BE49-F238E27FC236}">
                  <a16:creationId xmlns:a16="http://schemas.microsoft.com/office/drawing/2014/main" id="{771969B5-FE99-444F-8610-84ACC4606C17}"/>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26" name="Rectangle 82">
              <a:extLst>
                <a:ext uri="{FF2B5EF4-FFF2-40B4-BE49-F238E27FC236}">
                  <a16:creationId xmlns:a16="http://schemas.microsoft.com/office/drawing/2014/main" id="{99CF8FBD-C7C0-1B4A-82D7-58E719E6C96F}"/>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27" name="Rectangle 83">
              <a:extLst>
                <a:ext uri="{FF2B5EF4-FFF2-40B4-BE49-F238E27FC236}">
                  <a16:creationId xmlns:a16="http://schemas.microsoft.com/office/drawing/2014/main" id="{BC7381B7-6B0B-BD49-943B-EAAFB341F62A}"/>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28" name="Rectangle 84">
              <a:extLst>
                <a:ext uri="{FF2B5EF4-FFF2-40B4-BE49-F238E27FC236}">
                  <a16:creationId xmlns:a16="http://schemas.microsoft.com/office/drawing/2014/main" id="{EA8DDDE7-289C-AB43-8242-667C3F5617E3}"/>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29" name="Line 85">
              <a:extLst>
                <a:ext uri="{FF2B5EF4-FFF2-40B4-BE49-F238E27FC236}">
                  <a16:creationId xmlns:a16="http://schemas.microsoft.com/office/drawing/2014/main" id="{A08809B4-22DE-9D4D-9B5E-7BA90559D3E2}"/>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35" name="Group 86">
            <a:extLst>
              <a:ext uri="{FF2B5EF4-FFF2-40B4-BE49-F238E27FC236}">
                <a16:creationId xmlns:a16="http://schemas.microsoft.com/office/drawing/2014/main" id="{8B3EF60B-8EF5-4F49-B1E0-60B4CEA4B7DB}"/>
              </a:ext>
            </a:extLst>
          </p:cNvPr>
          <p:cNvGrpSpPr>
            <a:grpSpLocks/>
          </p:cNvGrpSpPr>
          <p:nvPr/>
        </p:nvGrpSpPr>
        <p:grpSpPr bwMode="auto">
          <a:xfrm>
            <a:off x="3646488" y="4662488"/>
            <a:ext cx="890587" cy="215900"/>
            <a:chOff x="876" y="2800"/>
            <a:chExt cx="642" cy="175"/>
          </a:xfrm>
        </p:grpSpPr>
        <p:sp>
          <p:nvSpPr>
            <p:cNvPr id="56420" name="Rectangle 87">
              <a:extLst>
                <a:ext uri="{FF2B5EF4-FFF2-40B4-BE49-F238E27FC236}">
                  <a16:creationId xmlns:a16="http://schemas.microsoft.com/office/drawing/2014/main" id="{E6402044-7E04-BE4D-A54C-335B31F87AEB}"/>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21" name="Rectangle 88">
              <a:extLst>
                <a:ext uri="{FF2B5EF4-FFF2-40B4-BE49-F238E27FC236}">
                  <a16:creationId xmlns:a16="http://schemas.microsoft.com/office/drawing/2014/main" id="{85ABA5B3-867C-0942-9103-98D3DDDA2632}"/>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22" name="Rectangle 89">
              <a:extLst>
                <a:ext uri="{FF2B5EF4-FFF2-40B4-BE49-F238E27FC236}">
                  <a16:creationId xmlns:a16="http://schemas.microsoft.com/office/drawing/2014/main" id="{DEC961CF-C5BD-094C-8276-723C7A291DC4}"/>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23" name="Rectangle 90">
              <a:extLst>
                <a:ext uri="{FF2B5EF4-FFF2-40B4-BE49-F238E27FC236}">
                  <a16:creationId xmlns:a16="http://schemas.microsoft.com/office/drawing/2014/main" id="{1E14C547-46E5-B045-A1F7-0E30E9FBE4A8}"/>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24" name="Line 91">
              <a:extLst>
                <a:ext uri="{FF2B5EF4-FFF2-40B4-BE49-F238E27FC236}">
                  <a16:creationId xmlns:a16="http://schemas.microsoft.com/office/drawing/2014/main" id="{D12953C3-56A9-7046-946C-BC793623AB3B}"/>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36" name="Group 92">
            <a:extLst>
              <a:ext uri="{FF2B5EF4-FFF2-40B4-BE49-F238E27FC236}">
                <a16:creationId xmlns:a16="http://schemas.microsoft.com/office/drawing/2014/main" id="{81978C6C-5EF5-C548-9DA4-2ED6F3D21204}"/>
              </a:ext>
            </a:extLst>
          </p:cNvPr>
          <p:cNvGrpSpPr>
            <a:grpSpLocks/>
          </p:cNvGrpSpPr>
          <p:nvPr/>
        </p:nvGrpSpPr>
        <p:grpSpPr bwMode="auto">
          <a:xfrm>
            <a:off x="3641725" y="5089525"/>
            <a:ext cx="890588" cy="215900"/>
            <a:chOff x="876" y="2800"/>
            <a:chExt cx="642" cy="175"/>
          </a:xfrm>
        </p:grpSpPr>
        <p:sp>
          <p:nvSpPr>
            <p:cNvPr id="56415" name="Rectangle 93">
              <a:extLst>
                <a:ext uri="{FF2B5EF4-FFF2-40B4-BE49-F238E27FC236}">
                  <a16:creationId xmlns:a16="http://schemas.microsoft.com/office/drawing/2014/main" id="{C5564355-998B-6F4F-B9BA-27E789E5007C}"/>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16" name="Rectangle 94">
              <a:extLst>
                <a:ext uri="{FF2B5EF4-FFF2-40B4-BE49-F238E27FC236}">
                  <a16:creationId xmlns:a16="http://schemas.microsoft.com/office/drawing/2014/main" id="{8B021BDC-286B-0B43-86D6-451830D45BE2}"/>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17" name="Rectangle 95">
              <a:extLst>
                <a:ext uri="{FF2B5EF4-FFF2-40B4-BE49-F238E27FC236}">
                  <a16:creationId xmlns:a16="http://schemas.microsoft.com/office/drawing/2014/main" id="{D27B27B2-D00D-B64E-A519-C881974190B0}"/>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18" name="Rectangle 96">
              <a:extLst>
                <a:ext uri="{FF2B5EF4-FFF2-40B4-BE49-F238E27FC236}">
                  <a16:creationId xmlns:a16="http://schemas.microsoft.com/office/drawing/2014/main" id="{A6C214DD-E3A1-5A47-B2C8-C2B9806B92DE}"/>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19" name="Line 97">
              <a:extLst>
                <a:ext uri="{FF2B5EF4-FFF2-40B4-BE49-F238E27FC236}">
                  <a16:creationId xmlns:a16="http://schemas.microsoft.com/office/drawing/2014/main" id="{87E75D59-332B-C749-A903-8E323F52493E}"/>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56337" name="Line 98">
            <a:extLst>
              <a:ext uri="{FF2B5EF4-FFF2-40B4-BE49-F238E27FC236}">
                <a16:creationId xmlns:a16="http://schemas.microsoft.com/office/drawing/2014/main" id="{874096D0-49BC-C44D-A37A-007DA86B19C5}"/>
              </a:ext>
            </a:extLst>
          </p:cNvPr>
          <p:cNvSpPr>
            <a:spLocks noChangeShapeType="1"/>
          </p:cNvSpPr>
          <p:nvPr/>
        </p:nvSpPr>
        <p:spPr bwMode="auto">
          <a:xfrm>
            <a:off x="4549775" y="4270375"/>
            <a:ext cx="0" cy="10033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56338" name="Group 99">
            <a:extLst>
              <a:ext uri="{FF2B5EF4-FFF2-40B4-BE49-F238E27FC236}">
                <a16:creationId xmlns:a16="http://schemas.microsoft.com/office/drawing/2014/main" id="{3928ADD1-69FF-8547-8F46-906A48F5FEA2}"/>
              </a:ext>
            </a:extLst>
          </p:cNvPr>
          <p:cNvGrpSpPr>
            <a:grpSpLocks/>
          </p:cNvGrpSpPr>
          <p:nvPr/>
        </p:nvGrpSpPr>
        <p:grpSpPr bwMode="auto">
          <a:xfrm>
            <a:off x="4603750" y="4254500"/>
            <a:ext cx="890588" cy="215900"/>
            <a:chOff x="455" y="3463"/>
            <a:chExt cx="561" cy="136"/>
          </a:xfrm>
        </p:grpSpPr>
        <p:sp>
          <p:nvSpPr>
            <p:cNvPr id="56410" name="Rectangle 100">
              <a:extLst>
                <a:ext uri="{FF2B5EF4-FFF2-40B4-BE49-F238E27FC236}">
                  <a16:creationId xmlns:a16="http://schemas.microsoft.com/office/drawing/2014/main" id="{F366D53B-8F49-2040-B918-0252FC0A617E}"/>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11" name="Rectangle 101">
              <a:extLst>
                <a:ext uri="{FF2B5EF4-FFF2-40B4-BE49-F238E27FC236}">
                  <a16:creationId xmlns:a16="http://schemas.microsoft.com/office/drawing/2014/main" id="{7C449DC4-60DE-1542-BC57-5611C5778319}"/>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12" name="Rectangle 102">
              <a:extLst>
                <a:ext uri="{FF2B5EF4-FFF2-40B4-BE49-F238E27FC236}">
                  <a16:creationId xmlns:a16="http://schemas.microsoft.com/office/drawing/2014/main" id="{5D602CDC-49EA-FA49-8858-AED8571A663C}"/>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13" name="Rectangle 103">
              <a:extLst>
                <a:ext uri="{FF2B5EF4-FFF2-40B4-BE49-F238E27FC236}">
                  <a16:creationId xmlns:a16="http://schemas.microsoft.com/office/drawing/2014/main" id="{F5EB7AF7-A8F8-2046-8742-1B28BE5FF085}"/>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14" name="Line 104">
              <a:extLst>
                <a:ext uri="{FF2B5EF4-FFF2-40B4-BE49-F238E27FC236}">
                  <a16:creationId xmlns:a16="http://schemas.microsoft.com/office/drawing/2014/main" id="{00617B05-286F-A94B-B230-CEB26A589002}"/>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39" name="Group 105">
            <a:extLst>
              <a:ext uri="{FF2B5EF4-FFF2-40B4-BE49-F238E27FC236}">
                <a16:creationId xmlns:a16="http://schemas.microsoft.com/office/drawing/2014/main" id="{118219CD-58BD-3E48-8B7F-92E388A10570}"/>
              </a:ext>
            </a:extLst>
          </p:cNvPr>
          <p:cNvGrpSpPr>
            <a:grpSpLocks/>
          </p:cNvGrpSpPr>
          <p:nvPr/>
        </p:nvGrpSpPr>
        <p:grpSpPr bwMode="auto">
          <a:xfrm>
            <a:off x="4608513" y="4646613"/>
            <a:ext cx="890587" cy="215900"/>
            <a:chOff x="455" y="3463"/>
            <a:chExt cx="561" cy="136"/>
          </a:xfrm>
        </p:grpSpPr>
        <p:sp>
          <p:nvSpPr>
            <p:cNvPr id="56405" name="Rectangle 106">
              <a:extLst>
                <a:ext uri="{FF2B5EF4-FFF2-40B4-BE49-F238E27FC236}">
                  <a16:creationId xmlns:a16="http://schemas.microsoft.com/office/drawing/2014/main" id="{CE9B2A67-FEB4-B241-87EE-C9DCD9483A85}"/>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06" name="Rectangle 107">
              <a:extLst>
                <a:ext uri="{FF2B5EF4-FFF2-40B4-BE49-F238E27FC236}">
                  <a16:creationId xmlns:a16="http://schemas.microsoft.com/office/drawing/2014/main" id="{F9F4825F-651D-BC49-9264-B97578A2D69C}"/>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07" name="Rectangle 108">
              <a:extLst>
                <a:ext uri="{FF2B5EF4-FFF2-40B4-BE49-F238E27FC236}">
                  <a16:creationId xmlns:a16="http://schemas.microsoft.com/office/drawing/2014/main" id="{791C3393-4ACE-3641-81C1-DEE83ED1A29A}"/>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08" name="Rectangle 109">
              <a:extLst>
                <a:ext uri="{FF2B5EF4-FFF2-40B4-BE49-F238E27FC236}">
                  <a16:creationId xmlns:a16="http://schemas.microsoft.com/office/drawing/2014/main" id="{6A798D6B-57A2-4147-964D-9651A87E231D}"/>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09" name="Line 110">
              <a:extLst>
                <a:ext uri="{FF2B5EF4-FFF2-40B4-BE49-F238E27FC236}">
                  <a16:creationId xmlns:a16="http://schemas.microsoft.com/office/drawing/2014/main" id="{BCCE8352-4994-2142-9B37-F4807E6EB8D2}"/>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40" name="Group 111">
            <a:extLst>
              <a:ext uri="{FF2B5EF4-FFF2-40B4-BE49-F238E27FC236}">
                <a16:creationId xmlns:a16="http://schemas.microsoft.com/office/drawing/2014/main" id="{451EE45E-7A03-8844-AEB5-13ADE9853E76}"/>
              </a:ext>
            </a:extLst>
          </p:cNvPr>
          <p:cNvGrpSpPr>
            <a:grpSpLocks/>
          </p:cNvGrpSpPr>
          <p:nvPr/>
        </p:nvGrpSpPr>
        <p:grpSpPr bwMode="auto">
          <a:xfrm>
            <a:off x="4603750" y="5073650"/>
            <a:ext cx="890588" cy="215900"/>
            <a:chOff x="455" y="3463"/>
            <a:chExt cx="561" cy="136"/>
          </a:xfrm>
        </p:grpSpPr>
        <p:sp>
          <p:nvSpPr>
            <p:cNvPr id="56400" name="Rectangle 112">
              <a:extLst>
                <a:ext uri="{FF2B5EF4-FFF2-40B4-BE49-F238E27FC236}">
                  <a16:creationId xmlns:a16="http://schemas.microsoft.com/office/drawing/2014/main" id="{7E2B528F-A862-8441-B967-A1E37A7F6EFA}"/>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01" name="Rectangle 113">
              <a:extLst>
                <a:ext uri="{FF2B5EF4-FFF2-40B4-BE49-F238E27FC236}">
                  <a16:creationId xmlns:a16="http://schemas.microsoft.com/office/drawing/2014/main" id="{AE5EF2AC-595E-6546-A33E-EA77EEBA401D}"/>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02" name="Rectangle 114">
              <a:extLst>
                <a:ext uri="{FF2B5EF4-FFF2-40B4-BE49-F238E27FC236}">
                  <a16:creationId xmlns:a16="http://schemas.microsoft.com/office/drawing/2014/main" id="{89009148-8D90-6B4E-A2A1-784A2B82B4DF}"/>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03" name="Rectangle 115">
              <a:extLst>
                <a:ext uri="{FF2B5EF4-FFF2-40B4-BE49-F238E27FC236}">
                  <a16:creationId xmlns:a16="http://schemas.microsoft.com/office/drawing/2014/main" id="{22F04A70-F916-1A48-B2B6-4E8F06993EF5}"/>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404" name="Line 116">
              <a:extLst>
                <a:ext uri="{FF2B5EF4-FFF2-40B4-BE49-F238E27FC236}">
                  <a16:creationId xmlns:a16="http://schemas.microsoft.com/office/drawing/2014/main" id="{74418B35-E685-C44A-81AA-324D4A99EE49}"/>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56341" name="Text Box 117">
            <a:extLst>
              <a:ext uri="{FF2B5EF4-FFF2-40B4-BE49-F238E27FC236}">
                <a16:creationId xmlns:a16="http://schemas.microsoft.com/office/drawing/2014/main" id="{D15AA523-42AD-5847-A9A5-66BF113FA371}"/>
              </a:ext>
            </a:extLst>
          </p:cNvPr>
          <p:cNvSpPr txBox="1">
            <a:spLocks noChangeArrowheads="1"/>
          </p:cNvSpPr>
          <p:nvPr/>
        </p:nvSpPr>
        <p:spPr bwMode="auto">
          <a:xfrm>
            <a:off x="4286250" y="5583238"/>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bus</a:t>
            </a:r>
          </a:p>
        </p:txBody>
      </p:sp>
      <p:grpSp>
        <p:nvGrpSpPr>
          <p:cNvPr id="56342" name="Group 118">
            <a:extLst>
              <a:ext uri="{FF2B5EF4-FFF2-40B4-BE49-F238E27FC236}">
                <a16:creationId xmlns:a16="http://schemas.microsoft.com/office/drawing/2014/main" id="{B47B5434-25C2-EF49-AF18-61889504DF08}"/>
              </a:ext>
            </a:extLst>
          </p:cNvPr>
          <p:cNvGrpSpPr>
            <a:grpSpLocks/>
          </p:cNvGrpSpPr>
          <p:nvPr/>
        </p:nvGrpSpPr>
        <p:grpSpPr bwMode="auto">
          <a:xfrm>
            <a:off x="6091238" y="4233863"/>
            <a:ext cx="890587" cy="215900"/>
            <a:chOff x="876" y="2800"/>
            <a:chExt cx="642" cy="175"/>
          </a:xfrm>
        </p:grpSpPr>
        <p:sp>
          <p:nvSpPr>
            <p:cNvPr id="56395" name="Rectangle 119">
              <a:extLst>
                <a:ext uri="{FF2B5EF4-FFF2-40B4-BE49-F238E27FC236}">
                  <a16:creationId xmlns:a16="http://schemas.microsoft.com/office/drawing/2014/main" id="{1D937DE2-E4E7-CC49-BCE6-306B925E8483}"/>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96" name="Rectangle 120">
              <a:extLst>
                <a:ext uri="{FF2B5EF4-FFF2-40B4-BE49-F238E27FC236}">
                  <a16:creationId xmlns:a16="http://schemas.microsoft.com/office/drawing/2014/main" id="{0C8A8648-6BF1-EB44-BFBD-6FD1C041D235}"/>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97" name="Rectangle 121">
              <a:extLst>
                <a:ext uri="{FF2B5EF4-FFF2-40B4-BE49-F238E27FC236}">
                  <a16:creationId xmlns:a16="http://schemas.microsoft.com/office/drawing/2014/main" id="{C921205F-825A-0E43-A85A-B2796D44D046}"/>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98" name="Rectangle 122">
              <a:extLst>
                <a:ext uri="{FF2B5EF4-FFF2-40B4-BE49-F238E27FC236}">
                  <a16:creationId xmlns:a16="http://schemas.microsoft.com/office/drawing/2014/main" id="{A07B07F1-8962-7F46-9AB5-748D26FBA614}"/>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99" name="Line 123">
              <a:extLst>
                <a:ext uri="{FF2B5EF4-FFF2-40B4-BE49-F238E27FC236}">
                  <a16:creationId xmlns:a16="http://schemas.microsoft.com/office/drawing/2014/main" id="{E14F5D9F-47E3-2444-B210-E1DF8BC3D8B0}"/>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43" name="Group 124">
            <a:extLst>
              <a:ext uri="{FF2B5EF4-FFF2-40B4-BE49-F238E27FC236}">
                <a16:creationId xmlns:a16="http://schemas.microsoft.com/office/drawing/2014/main" id="{F4A0F848-33D5-9C45-B7F8-04F9B04CFA3E}"/>
              </a:ext>
            </a:extLst>
          </p:cNvPr>
          <p:cNvGrpSpPr>
            <a:grpSpLocks/>
          </p:cNvGrpSpPr>
          <p:nvPr/>
        </p:nvGrpSpPr>
        <p:grpSpPr bwMode="auto">
          <a:xfrm>
            <a:off x="6067425" y="4629150"/>
            <a:ext cx="890588" cy="215900"/>
            <a:chOff x="876" y="2800"/>
            <a:chExt cx="642" cy="175"/>
          </a:xfrm>
        </p:grpSpPr>
        <p:sp>
          <p:nvSpPr>
            <p:cNvPr id="56390" name="Rectangle 125">
              <a:extLst>
                <a:ext uri="{FF2B5EF4-FFF2-40B4-BE49-F238E27FC236}">
                  <a16:creationId xmlns:a16="http://schemas.microsoft.com/office/drawing/2014/main" id="{C9B0F407-144E-A041-A420-58860D383AF0}"/>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91" name="Rectangle 126">
              <a:extLst>
                <a:ext uri="{FF2B5EF4-FFF2-40B4-BE49-F238E27FC236}">
                  <a16:creationId xmlns:a16="http://schemas.microsoft.com/office/drawing/2014/main" id="{468E3D41-B4EF-704D-BBCD-8E45ED6C303E}"/>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92" name="Rectangle 127">
              <a:extLst>
                <a:ext uri="{FF2B5EF4-FFF2-40B4-BE49-F238E27FC236}">
                  <a16:creationId xmlns:a16="http://schemas.microsoft.com/office/drawing/2014/main" id="{DB345E23-E6EF-BA45-90E9-4F2E58AAD1C5}"/>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93" name="Rectangle 128">
              <a:extLst>
                <a:ext uri="{FF2B5EF4-FFF2-40B4-BE49-F238E27FC236}">
                  <a16:creationId xmlns:a16="http://schemas.microsoft.com/office/drawing/2014/main" id="{51BE8F81-9108-0D46-925B-ABA607CFB7EC}"/>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94" name="Line 129">
              <a:extLst>
                <a:ext uri="{FF2B5EF4-FFF2-40B4-BE49-F238E27FC236}">
                  <a16:creationId xmlns:a16="http://schemas.microsoft.com/office/drawing/2014/main" id="{89427942-417C-8048-956B-E12B1209828C}"/>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44" name="Group 130">
            <a:extLst>
              <a:ext uri="{FF2B5EF4-FFF2-40B4-BE49-F238E27FC236}">
                <a16:creationId xmlns:a16="http://schemas.microsoft.com/office/drawing/2014/main" id="{0E9DE2DF-570D-0743-A9AC-D144B86A86DD}"/>
              </a:ext>
            </a:extLst>
          </p:cNvPr>
          <p:cNvGrpSpPr>
            <a:grpSpLocks/>
          </p:cNvGrpSpPr>
          <p:nvPr/>
        </p:nvGrpSpPr>
        <p:grpSpPr bwMode="auto">
          <a:xfrm>
            <a:off x="6062663" y="5056188"/>
            <a:ext cx="890587" cy="215900"/>
            <a:chOff x="876" y="2800"/>
            <a:chExt cx="642" cy="175"/>
          </a:xfrm>
        </p:grpSpPr>
        <p:sp>
          <p:nvSpPr>
            <p:cNvPr id="56385" name="Rectangle 131">
              <a:extLst>
                <a:ext uri="{FF2B5EF4-FFF2-40B4-BE49-F238E27FC236}">
                  <a16:creationId xmlns:a16="http://schemas.microsoft.com/office/drawing/2014/main" id="{68F97F33-542C-014A-A2AE-6116C92BC895}"/>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86" name="Rectangle 132">
              <a:extLst>
                <a:ext uri="{FF2B5EF4-FFF2-40B4-BE49-F238E27FC236}">
                  <a16:creationId xmlns:a16="http://schemas.microsoft.com/office/drawing/2014/main" id="{510C9097-F151-0C45-B563-6A1E99BD7CBA}"/>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87" name="Rectangle 133">
              <a:extLst>
                <a:ext uri="{FF2B5EF4-FFF2-40B4-BE49-F238E27FC236}">
                  <a16:creationId xmlns:a16="http://schemas.microsoft.com/office/drawing/2014/main" id="{2C2ED65B-58D5-B343-A716-AD2A41B2D3B1}"/>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88" name="Rectangle 134">
              <a:extLst>
                <a:ext uri="{FF2B5EF4-FFF2-40B4-BE49-F238E27FC236}">
                  <a16:creationId xmlns:a16="http://schemas.microsoft.com/office/drawing/2014/main" id="{EB84F01F-D5E0-3D49-8550-D68D9C95C0A6}"/>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89" name="Line 135">
              <a:extLst>
                <a:ext uri="{FF2B5EF4-FFF2-40B4-BE49-F238E27FC236}">
                  <a16:creationId xmlns:a16="http://schemas.microsoft.com/office/drawing/2014/main" id="{A758583E-0599-9647-8EAB-F2F54CD36EA4}"/>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45" name="Group 154">
            <a:extLst>
              <a:ext uri="{FF2B5EF4-FFF2-40B4-BE49-F238E27FC236}">
                <a16:creationId xmlns:a16="http://schemas.microsoft.com/office/drawing/2014/main" id="{865C7AF0-992B-4446-B095-39A5237B5207}"/>
              </a:ext>
            </a:extLst>
          </p:cNvPr>
          <p:cNvGrpSpPr>
            <a:grpSpLocks/>
          </p:cNvGrpSpPr>
          <p:nvPr/>
        </p:nvGrpSpPr>
        <p:grpSpPr bwMode="auto">
          <a:xfrm rot="5400000">
            <a:off x="7186613" y="5253038"/>
            <a:ext cx="895350" cy="1035050"/>
            <a:chOff x="2954" y="2776"/>
            <a:chExt cx="564" cy="652"/>
          </a:xfrm>
        </p:grpSpPr>
        <p:grpSp>
          <p:nvGrpSpPr>
            <p:cNvPr id="56367" name="Group 136">
              <a:extLst>
                <a:ext uri="{FF2B5EF4-FFF2-40B4-BE49-F238E27FC236}">
                  <a16:creationId xmlns:a16="http://schemas.microsoft.com/office/drawing/2014/main" id="{CE0FC991-BE8D-7D43-9A26-69168B8D4482}"/>
                </a:ext>
              </a:extLst>
            </p:cNvPr>
            <p:cNvGrpSpPr>
              <a:grpSpLocks/>
            </p:cNvGrpSpPr>
            <p:nvPr/>
          </p:nvGrpSpPr>
          <p:grpSpPr bwMode="auto">
            <a:xfrm>
              <a:off x="2954" y="2776"/>
              <a:ext cx="561" cy="136"/>
              <a:chOff x="455" y="3463"/>
              <a:chExt cx="561" cy="136"/>
            </a:xfrm>
          </p:grpSpPr>
          <p:sp>
            <p:nvSpPr>
              <p:cNvPr id="56380" name="Rectangle 137">
                <a:extLst>
                  <a:ext uri="{FF2B5EF4-FFF2-40B4-BE49-F238E27FC236}">
                    <a16:creationId xmlns:a16="http://schemas.microsoft.com/office/drawing/2014/main" id="{FF492CB4-2897-034A-8AE2-6DA80DF1CB02}"/>
                  </a:ext>
                </a:extLst>
              </p:cNvPr>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81" name="Rectangle 138">
                <a:extLst>
                  <a:ext uri="{FF2B5EF4-FFF2-40B4-BE49-F238E27FC236}">
                    <a16:creationId xmlns:a16="http://schemas.microsoft.com/office/drawing/2014/main" id="{F37961D3-6952-3547-905A-9101D3B09792}"/>
                  </a:ext>
                </a:extLst>
              </p:cNvPr>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82" name="Rectangle 139">
                <a:extLst>
                  <a:ext uri="{FF2B5EF4-FFF2-40B4-BE49-F238E27FC236}">
                    <a16:creationId xmlns:a16="http://schemas.microsoft.com/office/drawing/2014/main" id="{C1E3B753-C197-3F48-81AA-E7504CBD9BB6}"/>
                  </a:ext>
                </a:extLst>
              </p:cNvPr>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83" name="Rectangle 140">
                <a:extLst>
                  <a:ext uri="{FF2B5EF4-FFF2-40B4-BE49-F238E27FC236}">
                    <a16:creationId xmlns:a16="http://schemas.microsoft.com/office/drawing/2014/main" id="{C053EF02-DAE7-C24D-AFE4-6A1D0D24A633}"/>
                  </a:ext>
                </a:extLst>
              </p:cNvPr>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84" name="Line 141">
                <a:extLst>
                  <a:ext uri="{FF2B5EF4-FFF2-40B4-BE49-F238E27FC236}">
                    <a16:creationId xmlns:a16="http://schemas.microsoft.com/office/drawing/2014/main" id="{0FE2014B-FEE2-6D45-91BC-EFF7E71A3501}"/>
                  </a:ext>
                </a:extLst>
              </p:cNvPr>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68" name="Group 142">
              <a:extLst>
                <a:ext uri="{FF2B5EF4-FFF2-40B4-BE49-F238E27FC236}">
                  <a16:creationId xmlns:a16="http://schemas.microsoft.com/office/drawing/2014/main" id="{98F21437-FA41-E847-BE39-A2CEE1F4BD7A}"/>
                </a:ext>
              </a:extLst>
            </p:cNvPr>
            <p:cNvGrpSpPr>
              <a:grpSpLocks/>
            </p:cNvGrpSpPr>
            <p:nvPr/>
          </p:nvGrpSpPr>
          <p:grpSpPr bwMode="auto">
            <a:xfrm>
              <a:off x="2957" y="3023"/>
              <a:ext cx="561" cy="136"/>
              <a:chOff x="455" y="3463"/>
              <a:chExt cx="561" cy="136"/>
            </a:xfrm>
          </p:grpSpPr>
          <p:sp>
            <p:nvSpPr>
              <p:cNvPr id="56375" name="Rectangle 143">
                <a:extLst>
                  <a:ext uri="{FF2B5EF4-FFF2-40B4-BE49-F238E27FC236}">
                    <a16:creationId xmlns:a16="http://schemas.microsoft.com/office/drawing/2014/main" id="{2577E22D-8C2D-4445-BE15-7CB49D594D9D}"/>
                  </a:ext>
                </a:extLst>
              </p:cNvPr>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76" name="Rectangle 144">
                <a:extLst>
                  <a:ext uri="{FF2B5EF4-FFF2-40B4-BE49-F238E27FC236}">
                    <a16:creationId xmlns:a16="http://schemas.microsoft.com/office/drawing/2014/main" id="{E00A8A2F-A7EB-CA40-A983-703985B33C1C}"/>
                  </a:ext>
                </a:extLst>
              </p:cNvPr>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77" name="Rectangle 145">
                <a:extLst>
                  <a:ext uri="{FF2B5EF4-FFF2-40B4-BE49-F238E27FC236}">
                    <a16:creationId xmlns:a16="http://schemas.microsoft.com/office/drawing/2014/main" id="{47CC66F8-4BC3-374B-979B-12D8F3DA6E13}"/>
                  </a:ext>
                </a:extLst>
              </p:cNvPr>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78" name="Rectangle 146">
                <a:extLst>
                  <a:ext uri="{FF2B5EF4-FFF2-40B4-BE49-F238E27FC236}">
                    <a16:creationId xmlns:a16="http://schemas.microsoft.com/office/drawing/2014/main" id="{864CD0B9-369C-5141-A510-D05B8A0B6331}"/>
                  </a:ext>
                </a:extLst>
              </p:cNvPr>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79" name="Line 147">
                <a:extLst>
                  <a:ext uri="{FF2B5EF4-FFF2-40B4-BE49-F238E27FC236}">
                    <a16:creationId xmlns:a16="http://schemas.microsoft.com/office/drawing/2014/main" id="{500B8CAD-E593-CF40-89F5-DB582787F06B}"/>
                  </a:ext>
                </a:extLst>
              </p:cNvPr>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6369" name="Group 148">
              <a:extLst>
                <a:ext uri="{FF2B5EF4-FFF2-40B4-BE49-F238E27FC236}">
                  <a16:creationId xmlns:a16="http://schemas.microsoft.com/office/drawing/2014/main" id="{D2A2C63B-4562-634C-A495-B4D4DFE5B78F}"/>
                </a:ext>
              </a:extLst>
            </p:cNvPr>
            <p:cNvGrpSpPr>
              <a:grpSpLocks/>
            </p:cNvGrpSpPr>
            <p:nvPr/>
          </p:nvGrpSpPr>
          <p:grpSpPr bwMode="auto">
            <a:xfrm>
              <a:off x="2954" y="3292"/>
              <a:ext cx="561" cy="136"/>
              <a:chOff x="455" y="3463"/>
              <a:chExt cx="561" cy="136"/>
            </a:xfrm>
          </p:grpSpPr>
          <p:sp>
            <p:nvSpPr>
              <p:cNvPr id="56370" name="Rectangle 149">
                <a:extLst>
                  <a:ext uri="{FF2B5EF4-FFF2-40B4-BE49-F238E27FC236}">
                    <a16:creationId xmlns:a16="http://schemas.microsoft.com/office/drawing/2014/main" id="{49035BD5-E0E6-6C47-AB2F-BB33C818B3BA}"/>
                  </a:ext>
                </a:extLst>
              </p:cNvPr>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71" name="Rectangle 150">
                <a:extLst>
                  <a:ext uri="{FF2B5EF4-FFF2-40B4-BE49-F238E27FC236}">
                    <a16:creationId xmlns:a16="http://schemas.microsoft.com/office/drawing/2014/main" id="{CB2A361F-65EE-F448-B600-4EB1BF4419A5}"/>
                  </a:ext>
                </a:extLst>
              </p:cNvPr>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72" name="Rectangle 151">
                <a:extLst>
                  <a:ext uri="{FF2B5EF4-FFF2-40B4-BE49-F238E27FC236}">
                    <a16:creationId xmlns:a16="http://schemas.microsoft.com/office/drawing/2014/main" id="{D6E272A1-0C5A-884D-84C2-E93FA233A7D3}"/>
                  </a:ext>
                </a:extLst>
              </p:cNvPr>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73" name="Rectangle 152">
                <a:extLst>
                  <a:ext uri="{FF2B5EF4-FFF2-40B4-BE49-F238E27FC236}">
                    <a16:creationId xmlns:a16="http://schemas.microsoft.com/office/drawing/2014/main" id="{25486E0A-19F3-5844-89B9-DC27DA890551}"/>
                  </a:ext>
                </a:extLst>
              </p:cNvPr>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74" name="Line 153">
                <a:extLst>
                  <a:ext uri="{FF2B5EF4-FFF2-40B4-BE49-F238E27FC236}">
                    <a16:creationId xmlns:a16="http://schemas.microsoft.com/office/drawing/2014/main" id="{66CA615A-981C-D946-92EE-D42C6E0DF016}"/>
                  </a:ext>
                </a:extLst>
              </p:cNvPr>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sp>
        <p:nvSpPr>
          <p:cNvPr id="56346" name="Line 155">
            <a:extLst>
              <a:ext uri="{FF2B5EF4-FFF2-40B4-BE49-F238E27FC236}">
                <a16:creationId xmlns:a16="http://schemas.microsoft.com/office/drawing/2014/main" id="{27A1C72F-A3DC-8A44-812C-3B47EC545F85}"/>
              </a:ext>
            </a:extLst>
          </p:cNvPr>
          <p:cNvSpPr>
            <a:spLocks noChangeShapeType="1"/>
          </p:cNvSpPr>
          <p:nvPr/>
        </p:nvSpPr>
        <p:spPr bwMode="auto">
          <a:xfrm>
            <a:off x="6981825" y="4340225"/>
            <a:ext cx="10636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47" name="Line 156">
            <a:extLst>
              <a:ext uri="{FF2B5EF4-FFF2-40B4-BE49-F238E27FC236}">
                <a16:creationId xmlns:a16="http://schemas.microsoft.com/office/drawing/2014/main" id="{BB33FF94-0A7B-5C44-B9E6-DCEA7BB4D8BB}"/>
              </a:ext>
            </a:extLst>
          </p:cNvPr>
          <p:cNvSpPr>
            <a:spLocks noChangeShapeType="1"/>
          </p:cNvSpPr>
          <p:nvPr/>
        </p:nvSpPr>
        <p:spPr bwMode="auto">
          <a:xfrm flipV="1">
            <a:off x="6943725" y="4727575"/>
            <a:ext cx="1111250" cy="317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48" name="Line 157">
            <a:extLst>
              <a:ext uri="{FF2B5EF4-FFF2-40B4-BE49-F238E27FC236}">
                <a16:creationId xmlns:a16="http://schemas.microsoft.com/office/drawing/2014/main" id="{5F280BC8-9601-EF47-9C35-B6E6992A1CBA}"/>
              </a:ext>
            </a:extLst>
          </p:cNvPr>
          <p:cNvSpPr>
            <a:spLocks noChangeShapeType="1"/>
          </p:cNvSpPr>
          <p:nvPr/>
        </p:nvSpPr>
        <p:spPr bwMode="auto">
          <a:xfrm>
            <a:off x="6943725" y="5159375"/>
            <a:ext cx="11017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49" name="Line 158">
            <a:extLst>
              <a:ext uri="{FF2B5EF4-FFF2-40B4-BE49-F238E27FC236}">
                <a16:creationId xmlns:a16="http://schemas.microsoft.com/office/drawing/2014/main" id="{88D8647C-FE9B-7F40-8FFA-DFC349093B0A}"/>
              </a:ext>
            </a:extLst>
          </p:cNvPr>
          <p:cNvSpPr>
            <a:spLocks noChangeShapeType="1"/>
          </p:cNvSpPr>
          <p:nvPr/>
        </p:nvSpPr>
        <p:spPr bwMode="auto">
          <a:xfrm flipV="1">
            <a:off x="7226300" y="4340225"/>
            <a:ext cx="0" cy="977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50" name="Line 159">
            <a:extLst>
              <a:ext uri="{FF2B5EF4-FFF2-40B4-BE49-F238E27FC236}">
                <a16:creationId xmlns:a16="http://schemas.microsoft.com/office/drawing/2014/main" id="{7BC0B01C-FFC1-E94D-9A59-728CFE1E74E5}"/>
              </a:ext>
            </a:extLst>
          </p:cNvPr>
          <p:cNvSpPr>
            <a:spLocks noChangeShapeType="1"/>
          </p:cNvSpPr>
          <p:nvPr/>
        </p:nvSpPr>
        <p:spPr bwMode="auto">
          <a:xfrm flipV="1">
            <a:off x="7648575" y="4340225"/>
            <a:ext cx="0" cy="977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51" name="Line 160">
            <a:extLst>
              <a:ext uri="{FF2B5EF4-FFF2-40B4-BE49-F238E27FC236}">
                <a16:creationId xmlns:a16="http://schemas.microsoft.com/office/drawing/2014/main" id="{5F8156E0-8D80-4A48-B967-F4285EDA76A9}"/>
              </a:ext>
            </a:extLst>
          </p:cNvPr>
          <p:cNvSpPr>
            <a:spLocks noChangeShapeType="1"/>
          </p:cNvSpPr>
          <p:nvPr/>
        </p:nvSpPr>
        <p:spPr bwMode="auto">
          <a:xfrm flipV="1">
            <a:off x="8045450" y="4330700"/>
            <a:ext cx="0" cy="977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6352" name="Oval 161">
            <a:extLst>
              <a:ext uri="{FF2B5EF4-FFF2-40B4-BE49-F238E27FC236}">
                <a16:creationId xmlns:a16="http://schemas.microsoft.com/office/drawing/2014/main" id="{ED2FC6D0-C536-8B4D-A21C-3B18F7C6EF94}"/>
              </a:ext>
            </a:extLst>
          </p:cNvPr>
          <p:cNvSpPr>
            <a:spLocks noChangeArrowheads="1"/>
          </p:cNvSpPr>
          <p:nvPr/>
        </p:nvSpPr>
        <p:spPr bwMode="auto">
          <a:xfrm>
            <a:off x="7185025" y="4302125"/>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53" name="Oval 162">
            <a:extLst>
              <a:ext uri="{FF2B5EF4-FFF2-40B4-BE49-F238E27FC236}">
                <a16:creationId xmlns:a16="http://schemas.microsoft.com/office/drawing/2014/main" id="{1D0CC878-A0F1-0146-BB7C-94F0D957207D}"/>
              </a:ext>
            </a:extLst>
          </p:cNvPr>
          <p:cNvSpPr>
            <a:spLocks noChangeArrowheads="1"/>
          </p:cNvSpPr>
          <p:nvPr/>
        </p:nvSpPr>
        <p:spPr bwMode="auto">
          <a:xfrm>
            <a:off x="7185025" y="4686300"/>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54" name="Oval 163">
            <a:extLst>
              <a:ext uri="{FF2B5EF4-FFF2-40B4-BE49-F238E27FC236}">
                <a16:creationId xmlns:a16="http://schemas.microsoft.com/office/drawing/2014/main" id="{A9C54FC8-34C2-9E45-908C-AAE2E1D5AA7E}"/>
              </a:ext>
            </a:extLst>
          </p:cNvPr>
          <p:cNvSpPr>
            <a:spLocks noChangeArrowheads="1"/>
          </p:cNvSpPr>
          <p:nvPr/>
        </p:nvSpPr>
        <p:spPr bwMode="auto">
          <a:xfrm>
            <a:off x="7178675" y="5111750"/>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55" name="Oval 164">
            <a:extLst>
              <a:ext uri="{FF2B5EF4-FFF2-40B4-BE49-F238E27FC236}">
                <a16:creationId xmlns:a16="http://schemas.microsoft.com/office/drawing/2014/main" id="{03155C65-8546-9B4C-8BFB-81BF1FC3DD48}"/>
              </a:ext>
            </a:extLst>
          </p:cNvPr>
          <p:cNvSpPr>
            <a:spLocks noChangeArrowheads="1"/>
          </p:cNvSpPr>
          <p:nvPr/>
        </p:nvSpPr>
        <p:spPr bwMode="auto">
          <a:xfrm>
            <a:off x="7610475" y="4302125"/>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56" name="Oval 165">
            <a:extLst>
              <a:ext uri="{FF2B5EF4-FFF2-40B4-BE49-F238E27FC236}">
                <a16:creationId xmlns:a16="http://schemas.microsoft.com/office/drawing/2014/main" id="{D8CF521B-FB99-4B4F-9D29-EC1F0388DAD7}"/>
              </a:ext>
            </a:extLst>
          </p:cNvPr>
          <p:cNvSpPr>
            <a:spLocks noChangeArrowheads="1"/>
          </p:cNvSpPr>
          <p:nvPr/>
        </p:nvSpPr>
        <p:spPr bwMode="auto">
          <a:xfrm>
            <a:off x="7610475" y="4686300"/>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57" name="Oval 166">
            <a:extLst>
              <a:ext uri="{FF2B5EF4-FFF2-40B4-BE49-F238E27FC236}">
                <a16:creationId xmlns:a16="http://schemas.microsoft.com/office/drawing/2014/main" id="{44B1E965-929D-B04F-A471-CB8CB9AFA8EA}"/>
              </a:ext>
            </a:extLst>
          </p:cNvPr>
          <p:cNvSpPr>
            <a:spLocks noChangeArrowheads="1"/>
          </p:cNvSpPr>
          <p:nvPr/>
        </p:nvSpPr>
        <p:spPr bwMode="auto">
          <a:xfrm>
            <a:off x="7604125" y="5111750"/>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58" name="Oval 167">
            <a:extLst>
              <a:ext uri="{FF2B5EF4-FFF2-40B4-BE49-F238E27FC236}">
                <a16:creationId xmlns:a16="http://schemas.microsoft.com/office/drawing/2014/main" id="{CCFEAC92-CB3E-C449-9BAC-6A08AFEEE7DC}"/>
              </a:ext>
            </a:extLst>
          </p:cNvPr>
          <p:cNvSpPr>
            <a:spLocks noChangeArrowheads="1"/>
          </p:cNvSpPr>
          <p:nvPr/>
        </p:nvSpPr>
        <p:spPr bwMode="auto">
          <a:xfrm>
            <a:off x="8001000" y="4302125"/>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59" name="Oval 168">
            <a:extLst>
              <a:ext uri="{FF2B5EF4-FFF2-40B4-BE49-F238E27FC236}">
                <a16:creationId xmlns:a16="http://schemas.microsoft.com/office/drawing/2014/main" id="{D5BE6C8D-8F83-1243-A10F-CE3D53DC4FE7}"/>
              </a:ext>
            </a:extLst>
          </p:cNvPr>
          <p:cNvSpPr>
            <a:spLocks noChangeArrowheads="1"/>
          </p:cNvSpPr>
          <p:nvPr/>
        </p:nvSpPr>
        <p:spPr bwMode="auto">
          <a:xfrm>
            <a:off x="8001000" y="4686300"/>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60" name="Oval 169">
            <a:extLst>
              <a:ext uri="{FF2B5EF4-FFF2-40B4-BE49-F238E27FC236}">
                <a16:creationId xmlns:a16="http://schemas.microsoft.com/office/drawing/2014/main" id="{08A92183-E8CA-ED41-B5B5-21C1B825DD5E}"/>
              </a:ext>
            </a:extLst>
          </p:cNvPr>
          <p:cNvSpPr>
            <a:spLocks noChangeArrowheads="1"/>
          </p:cNvSpPr>
          <p:nvPr/>
        </p:nvSpPr>
        <p:spPr bwMode="auto">
          <a:xfrm>
            <a:off x="7994650" y="5111750"/>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6361" name="Text Box 170">
            <a:extLst>
              <a:ext uri="{FF2B5EF4-FFF2-40B4-BE49-F238E27FC236}">
                <a16:creationId xmlns:a16="http://schemas.microsoft.com/office/drawing/2014/main" id="{DD4236B9-B79E-9742-B438-2942C04668D8}"/>
              </a:ext>
            </a:extLst>
          </p:cNvPr>
          <p:cNvSpPr txBox="1">
            <a:spLocks noChangeArrowheads="1"/>
          </p:cNvSpPr>
          <p:nvPr/>
        </p:nvSpPr>
        <p:spPr bwMode="auto">
          <a:xfrm>
            <a:off x="5899150" y="5589588"/>
            <a:ext cx="1060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crossbar</a:t>
            </a:r>
          </a:p>
        </p:txBody>
      </p:sp>
      <p:sp>
        <p:nvSpPr>
          <p:cNvPr id="56362" name="Freeform 171">
            <a:extLst>
              <a:ext uri="{FF2B5EF4-FFF2-40B4-BE49-F238E27FC236}">
                <a16:creationId xmlns:a16="http://schemas.microsoft.com/office/drawing/2014/main" id="{0F180FD9-CB0C-1F44-9730-477CC99ECE37}"/>
              </a:ext>
            </a:extLst>
          </p:cNvPr>
          <p:cNvSpPr>
            <a:spLocks/>
          </p:cNvSpPr>
          <p:nvPr/>
        </p:nvSpPr>
        <p:spPr bwMode="auto">
          <a:xfrm>
            <a:off x="590550" y="4325938"/>
            <a:ext cx="2798763" cy="412750"/>
          </a:xfrm>
          <a:custGeom>
            <a:avLst/>
            <a:gdLst>
              <a:gd name="T0" fmla="*/ 0 w 1763"/>
              <a:gd name="T1" fmla="*/ 0 h 260"/>
              <a:gd name="T2" fmla="*/ 2147483647 w 1763"/>
              <a:gd name="T3" fmla="*/ 0 h 260"/>
              <a:gd name="T4" fmla="*/ 2147483647 w 1763"/>
              <a:gd name="T5" fmla="*/ 2147483647 h 260"/>
              <a:gd name="T6" fmla="*/ 2147483647 w 1763"/>
              <a:gd name="T7" fmla="*/ 2147483647 h 260"/>
              <a:gd name="T8" fmla="*/ 0 60000 65536"/>
              <a:gd name="T9" fmla="*/ 0 60000 65536"/>
              <a:gd name="T10" fmla="*/ 0 60000 65536"/>
              <a:gd name="T11" fmla="*/ 0 60000 65536"/>
              <a:gd name="T12" fmla="*/ 0 w 1763"/>
              <a:gd name="T13" fmla="*/ 0 h 260"/>
              <a:gd name="T14" fmla="*/ 1763 w 1763"/>
              <a:gd name="T15" fmla="*/ 260 h 260"/>
            </a:gdLst>
            <a:ahLst/>
            <a:cxnLst>
              <a:cxn ang="T8">
                <a:pos x="T0" y="T1"/>
              </a:cxn>
              <a:cxn ang="T9">
                <a:pos x="T2" y="T3"/>
              </a:cxn>
              <a:cxn ang="T10">
                <a:pos x="T4" y="T5"/>
              </a:cxn>
              <a:cxn ang="T11">
                <a:pos x="T6" y="T7"/>
              </a:cxn>
            </a:cxnLst>
            <a:rect l="T12" t="T13" r="T14" b="T15"/>
            <a:pathLst>
              <a:path w="1763" h="260">
                <a:moveTo>
                  <a:pt x="0" y="0"/>
                </a:moveTo>
                <a:lnTo>
                  <a:pt x="689" y="0"/>
                </a:lnTo>
                <a:lnTo>
                  <a:pt x="1054" y="260"/>
                </a:lnTo>
                <a:lnTo>
                  <a:pt x="1763" y="260"/>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56363" name="Freeform 172">
            <a:extLst>
              <a:ext uri="{FF2B5EF4-FFF2-40B4-BE49-F238E27FC236}">
                <a16:creationId xmlns:a16="http://schemas.microsoft.com/office/drawing/2014/main" id="{CBF95493-4122-C44A-9E79-FDD7EFBEC1E7}"/>
              </a:ext>
            </a:extLst>
          </p:cNvPr>
          <p:cNvSpPr>
            <a:spLocks/>
          </p:cNvSpPr>
          <p:nvPr/>
        </p:nvSpPr>
        <p:spPr bwMode="auto">
          <a:xfrm>
            <a:off x="3641725" y="4295775"/>
            <a:ext cx="2006600" cy="40005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Lst>
            <a:ahLst/>
            <a:cxnLst>
              <a:cxn ang="T8">
                <a:pos x="T0" y="T1"/>
              </a:cxn>
              <a:cxn ang="T9">
                <a:pos x="T2" y="T3"/>
              </a:cxn>
              <a:cxn ang="T10">
                <a:pos x="T4" y="T5"/>
              </a:cxn>
              <a:cxn ang="T11">
                <a:pos x="T6" y="T7"/>
              </a:cxn>
            </a:cxnLst>
            <a:rect l="T12" t="T13" r="T14" b="T15"/>
            <a:pathLst>
              <a:path w="1264" h="252">
                <a:moveTo>
                  <a:pt x="0" y="2"/>
                </a:moveTo>
                <a:lnTo>
                  <a:pt x="622" y="0"/>
                </a:lnTo>
                <a:lnTo>
                  <a:pt x="616" y="246"/>
                </a:lnTo>
                <a:lnTo>
                  <a:pt x="1264" y="252"/>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56364" name="Freeform 173">
            <a:extLst>
              <a:ext uri="{FF2B5EF4-FFF2-40B4-BE49-F238E27FC236}">
                <a16:creationId xmlns:a16="http://schemas.microsoft.com/office/drawing/2014/main" id="{7308ACBB-8E08-E646-AE3A-47E98B433F28}"/>
              </a:ext>
            </a:extLst>
          </p:cNvPr>
          <p:cNvSpPr>
            <a:spLocks/>
          </p:cNvSpPr>
          <p:nvPr/>
        </p:nvSpPr>
        <p:spPr bwMode="auto">
          <a:xfrm>
            <a:off x="6038850" y="4286250"/>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56365" name="Slide Number Placeholder 5">
            <a:extLst>
              <a:ext uri="{FF2B5EF4-FFF2-40B4-BE49-F238E27FC236}">
                <a16:creationId xmlns:a16="http://schemas.microsoft.com/office/drawing/2014/main" id="{2645466C-E720-B441-A7D0-6CA5B10DFE1B}"/>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CE441EA2-6575-3744-AF69-CEADD752AD5E}" type="slidenum">
              <a:rPr lang="en-US" altLang="en-US">
                <a:latin typeface="Tahoma" panose="020B0604030504040204" pitchFamily="34" charset="0"/>
              </a:rPr>
              <a:pPr/>
              <a:t>29</a:t>
            </a:fld>
            <a:endParaRPr lang="en-US" altLang="en-US">
              <a:latin typeface="Tahoma" panose="020B0604030504040204" pitchFamily="34" charset="0"/>
            </a:endParaRPr>
          </a:p>
        </p:txBody>
      </p:sp>
      <p:sp>
        <p:nvSpPr>
          <p:cNvPr id="56366" name="Footer Placeholder 2">
            <a:extLst>
              <a:ext uri="{FF2B5EF4-FFF2-40B4-BE49-F238E27FC236}">
                <a16:creationId xmlns:a16="http://schemas.microsoft.com/office/drawing/2014/main" id="{BBD5AE0D-F232-C646-B2D9-2B7208293944}"/>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7" descr="underline_base">
            <a:extLst>
              <a:ext uri="{FF2B5EF4-FFF2-40B4-BE49-F238E27FC236}">
                <a16:creationId xmlns:a16="http://schemas.microsoft.com/office/drawing/2014/main" id="{849B7EEC-727E-354D-A8BA-B1405C0ED69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25" y="781050"/>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Rectangle 2">
            <a:extLst>
              <a:ext uri="{FF2B5EF4-FFF2-40B4-BE49-F238E27FC236}">
                <a16:creationId xmlns:a16="http://schemas.microsoft.com/office/drawing/2014/main" id="{5A346884-3A37-7B40-A091-F84BA2B572F8}"/>
              </a:ext>
            </a:extLst>
          </p:cNvPr>
          <p:cNvSpPr>
            <a:spLocks noGrp="1" noChangeArrowheads="1"/>
          </p:cNvSpPr>
          <p:nvPr>
            <p:ph type="title"/>
          </p:nvPr>
        </p:nvSpPr>
        <p:spPr>
          <a:xfrm>
            <a:off x="652463" y="263525"/>
            <a:ext cx="7772400" cy="609600"/>
          </a:xfrm>
        </p:spPr>
        <p:txBody>
          <a:bodyPr/>
          <a:lstStyle/>
          <a:p>
            <a:r>
              <a:rPr lang="en-US" altLang="en-US" sz="4000" dirty="0">
                <a:ea typeface="ＭＳ Ｐゴシック" panose="020B0600070205080204" pitchFamily="34" charset="-128"/>
              </a:rPr>
              <a:t>Switching via memory</a:t>
            </a:r>
            <a:endParaRPr lang="en-US" altLang="en-US" dirty="0">
              <a:ea typeface="ＭＳ Ｐゴシック" panose="020B0600070205080204" pitchFamily="34" charset="-128"/>
            </a:endParaRPr>
          </a:p>
        </p:txBody>
      </p:sp>
      <p:sp>
        <p:nvSpPr>
          <p:cNvPr id="57348" name="Rectangle 3">
            <a:extLst>
              <a:ext uri="{FF2B5EF4-FFF2-40B4-BE49-F238E27FC236}">
                <a16:creationId xmlns:a16="http://schemas.microsoft.com/office/drawing/2014/main" id="{DE6896C7-FDF4-4F48-AB01-718EB3C2DC04}"/>
              </a:ext>
            </a:extLst>
          </p:cNvPr>
          <p:cNvSpPr>
            <a:spLocks noGrp="1" noChangeArrowheads="1"/>
          </p:cNvSpPr>
          <p:nvPr>
            <p:ph type="body" idx="1"/>
          </p:nvPr>
        </p:nvSpPr>
        <p:spPr>
          <a:xfrm>
            <a:off x="685800" y="1177925"/>
            <a:ext cx="7848600" cy="1066800"/>
          </a:xfrm>
        </p:spPr>
        <p:txBody>
          <a:bodyPr/>
          <a:lstStyle/>
          <a:p>
            <a:pPr marL="234950" indent="-234950">
              <a:buFont typeface="Wingdings" pitchFamily="2" charset="2"/>
              <a:buNone/>
            </a:pPr>
            <a:r>
              <a:rPr lang="en-US" altLang="en-US" i="1" dirty="0">
                <a:solidFill>
                  <a:srgbClr val="CC0000"/>
                </a:solidFill>
                <a:ea typeface="ＭＳ Ｐゴシック" panose="020B0600070205080204" pitchFamily="34" charset="-128"/>
                <a:cs typeface="ＭＳ Ｐゴシック" panose="020B0600070205080204" pitchFamily="34" charset="-128"/>
              </a:rPr>
              <a:t>first generation routers:</a:t>
            </a:r>
          </a:p>
          <a:p>
            <a:pPr marL="234950" indent="-234950"/>
            <a:r>
              <a:rPr lang="en-US" altLang="en-US" sz="2400" dirty="0">
                <a:ea typeface="ＭＳ Ｐゴシック" panose="020B0600070205080204" pitchFamily="34" charset="-128"/>
                <a:cs typeface="ＭＳ Ｐゴシック" panose="020B0600070205080204" pitchFamily="34" charset="-128"/>
              </a:rPr>
              <a:t>traditional computers with switching under direct control of CPU</a:t>
            </a:r>
          </a:p>
          <a:p>
            <a:pPr marL="234950" indent="-234950"/>
            <a:r>
              <a:rPr lang="en-US" altLang="en-US" sz="2400" dirty="0">
                <a:ea typeface="ＭＳ Ｐゴシック" panose="020B0600070205080204" pitchFamily="34" charset="-128"/>
                <a:cs typeface="ＭＳ Ｐゴシック" panose="020B0600070205080204" pitchFamily="34" charset="-128"/>
              </a:rPr>
              <a:t>packet copied to system’</a:t>
            </a:r>
            <a:r>
              <a:rPr lang="en-US" altLang="ja-JP" sz="2400" dirty="0">
                <a:ea typeface="ＭＳ Ｐゴシック" panose="020B0600070205080204" pitchFamily="34" charset="-128"/>
                <a:cs typeface="ＭＳ Ｐゴシック" panose="020B0600070205080204" pitchFamily="34" charset="-128"/>
              </a:rPr>
              <a:t>s memory</a:t>
            </a:r>
          </a:p>
          <a:p>
            <a:pPr marL="234950" indent="-234950"/>
            <a:r>
              <a:rPr lang="en-US" altLang="en-US" sz="2400" dirty="0">
                <a:ea typeface="ＭＳ Ｐゴシック" panose="020B0600070205080204" pitchFamily="34" charset="-128"/>
                <a:cs typeface="ＭＳ Ｐゴシック" panose="020B0600070205080204" pitchFamily="34" charset="-128"/>
              </a:rPr>
              <a:t>speed limited by memory bandwidth (2 bus crossings per datagram)</a:t>
            </a:r>
            <a:endParaRPr lang="en-US" altLang="en-US" sz="1800" dirty="0">
              <a:ea typeface="ＭＳ Ｐゴシック" panose="020B0600070205080204" pitchFamily="34" charset="-128"/>
              <a:cs typeface="ＭＳ Ｐゴシック" panose="020B0600070205080204" pitchFamily="34" charset="-128"/>
            </a:endParaRPr>
          </a:p>
        </p:txBody>
      </p:sp>
      <p:grpSp>
        <p:nvGrpSpPr>
          <p:cNvPr id="57349" name="Group 42">
            <a:extLst>
              <a:ext uri="{FF2B5EF4-FFF2-40B4-BE49-F238E27FC236}">
                <a16:creationId xmlns:a16="http://schemas.microsoft.com/office/drawing/2014/main" id="{B2F740A2-8E6B-E242-86EE-614185B34F94}"/>
              </a:ext>
            </a:extLst>
          </p:cNvPr>
          <p:cNvGrpSpPr>
            <a:grpSpLocks/>
          </p:cNvGrpSpPr>
          <p:nvPr/>
        </p:nvGrpSpPr>
        <p:grpSpPr bwMode="auto">
          <a:xfrm>
            <a:off x="1560513" y="4032250"/>
            <a:ext cx="6611937" cy="1787525"/>
            <a:chOff x="983" y="2540"/>
            <a:chExt cx="4165" cy="1126"/>
          </a:xfrm>
        </p:grpSpPr>
        <p:sp>
          <p:nvSpPr>
            <p:cNvPr id="57356" name="Rectangle 30">
              <a:extLst>
                <a:ext uri="{FF2B5EF4-FFF2-40B4-BE49-F238E27FC236}">
                  <a16:creationId xmlns:a16="http://schemas.microsoft.com/office/drawing/2014/main" id="{861603DA-EFF5-4E46-BF27-6294073144DD}"/>
                </a:ext>
              </a:extLst>
            </p:cNvPr>
            <p:cNvSpPr>
              <a:spLocks noChangeArrowheads="1"/>
            </p:cNvSpPr>
            <p:nvPr/>
          </p:nvSpPr>
          <p:spPr bwMode="auto">
            <a:xfrm>
              <a:off x="983" y="2542"/>
              <a:ext cx="766" cy="702"/>
            </a:xfrm>
            <a:prstGeom prst="rect">
              <a:avLst/>
            </a:prstGeom>
            <a:solidFill>
              <a:schemeClr val="bg1"/>
            </a:solidFill>
            <a:ln w="28575">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357" name="Text Box 31">
              <a:extLst>
                <a:ext uri="{FF2B5EF4-FFF2-40B4-BE49-F238E27FC236}">
                  <a16:creationId xmlns:a16="http://schemas.microsoft.com/office/drawing/2014/main" id="{4D06CD12-9DAB-AD48-B0A8-F6494EF5D87E}"/>
                </a:ext>
              </a:extLst>
            </p:cNvPr>
            <p:cNvSpPr txBox="1">
              <a:spLocks noChangeArrowheads="1"/>
            </p:cNvSpPr>
            <p:nvPr/>
          </p:nvSpPr>
          <p:spPr bwMode="auto">
            <a:xfrm>
              <a:off x="991" y="2557"/>
              <a:ext cx="70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0000"/>
                </a:lnSpc>
              </a:pPr>
              <a:r>
                <a:rPr lang="en-US" altLang="en-US"/>
                <a:t>input</a:t>
              </a:r>
            </a:p>
            <a:p>
              <a:pPr algn="ctr">
                <a:lnSpc>
                  <a:spcPct val="90000"/>
                </a:lnSpc>
              </a:pPr>
              <a:r>
                <a:rPr lang="en-US" altLang="en-US"/>
                <a:t>port</a:t>
              </a:r>
            </a:p>
            <a:p>
              <a:pPr algn="ctr">
                <a:lnSpc>
                  <a:spcPct val="90000"/>
                </a:lnSpc>
              </a:pPr>
              <a:r>
                <a:rPr lang="en-US" altLang="en-US"/>
                <a:t>(e.g.,</a:t>
              </a:r>
            </a:p>
            <a:p>
              <a:pPr algn="ctr">
                <a:lnSpc>
                  <a:spcPct val="90000"/>
                </a:lnSpc>
              </a:pPr>
              <a:r>
                <a:rPr lang="en-US" altLang="en-US"/>
                <a:t>Ethernet)</a:t>
              </a:r>
            </a:p>
          </p:txBody>
        </p:sp>
        <p:sp>
          <p:nvSpPr>
            <p:cNvPr id="57358" name="Text Box 32">
              <a:extLst>
                <a:ext uri="{FF2B5EF4-FFF2-40B4-BE49-F238E27FC236}">
                  <a16:creationId xmlns:a16="http://schemas.microsoft.com/office/drawing/2014/main" id="{67B1FC43-F017-0E45-B327-80D35551AE66}"/>
                </a:ext>
              </a:extLst>
            </p:cNvPr>
            <p:cNvSpPr txBox="1">
              <a:spLocks noChangeArrowheads="1"/>
            </p:cNvSpPr>
            <p:nvPr/>
          </p:nvSpPr>
          <p:spPr bwMode="auto">
            <a:xfrm>
              <a:off x="2324" y="2773"/>
              <a:ext cx="63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0000"/>
                </a:lnSpc>
              </a:pPr>
              <a:r>
                <a:rPr lang="en-US" altLang="en-US"/>
                <a:t>memory</a:t>
              </a:r>
            </a:p>
          </p:txBody>
        </p:sp>
        <p:sp>
          <p:nvSpPr>
            <p:cNvPr id="57359" name="Rectangle 34">
              <a:extLst>
                <a:ext uri="{FF2B5EF4-FFF2-40B4-BE49-F238E27FC236}">
                  <a16:creationId xmlns:a16="http://schemas.microsoft.com/office/drawing/2014/main" id="{9F526205-2DD8-C64A-A702-9F68E7CCD49B}"/>
                </a:ext>
              </a:extLst>
            </p:cNvPr>
            <p:cNvSpPr>
              <a:spLocks noChangeArrowheads="1"/>
            </p:cNvSpPr>
            <p:nvPr/>
          </p:nvSpPr>
          <p:spPr bwMode="auto">
            <a:xfrm>
              <a:off x="2072" y="2542"/>
              <a:ext cx="1173" cy="6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360" name="Rectangle 35">
              <a:extLst>
                <a:ext uri="{FF2B5EF4-FFF2-40B4-BE49-F238E27FC236}">
                  <a16:creationId xmlns:a16="http://schemas.microsoft.com/office/drawing/2014/main" id="{4ABEE14A-AA63-2242-A6D4-49045B2B2DC0}"/>
                </a:ext>
              </a:extLst>
            </p:cNvPr>
            <p:cNvSpPr>
              <a:spLocks noChangeArrowheads="1"/>
            </p:cNvSpPr>
            <p:nvPr/>
          </p:nvSpPr>
          <p:spPr bwMode="auto">
            <a:xfrm>
              <a:off x="3557" y="2540"/>
              <a:ext cx="766" cy="702"/>
            </a:xfrm>
            <a:prstGeom prst="rect">
              <a:avLst/>
            </a:prstGeom>
            <a:solidFill>
              <a:schemeClr val="bg1"/>
            </a:solidFill>
            <a:ln w="28575">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361" name="Text Box 36">
              <a:extLst>
                <a:ext uri="{FF2B5EF4-FFF2-40B4-BE49-F238E27FC236}">
                  <a16:creationId xmlns:a16="http://schemas.microsoft.com/office/drawing/2014/main" id="{E594EF99-84A4-B349-810B-CB847B865CB2}"/>
                </a:ext>
              </a:extLst>
            </p:cNvPr>
            <p:cNvSpPr txBox="1">
              <a:spLocks noChangeArrowheads="1"/>
            </p:cNvSpPr>
            <p:nvPr/>
          </p:nvSpPr>
          <p:spPr bwMode="auto">
            <a:xfrm>
              <a:off x="3565" y="2555"/>
              <a:ext cx="70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0000"/>
                </a:lnSpc>
              </a:pPr>
              <a:r>
                <a:rPr lang="en-US" altLang="en-US"/>
                <a:t>output</a:t>
              </a:r>
            </a:p>
            <a:p>
              <a:pPr algn="ctr">
                <a:lnSpc>
                  <a:spcPct val="90000"/>
                </a:lnSpc>
              </a:pPr>
              <a:r>
                <a:rPr lang="en-US" altLang="en-US"/>
                <a:t>port</a:t>
              </a:r>
            </a:p>
            <a:p>
              <a:pPr algn="ctr">
                <a:lnSpc>
                  <a:spcPct val="90000"/>
                </a:lnSpc>
              </a:pPr>
              <a:r>
                <a:rPr lang="en-US" altLang="en-US"/>
                <a:t>(e.g.,</a:t>
              </a:r>
            </a:p>
            <a:p>
              <a:pPr algn="ctr">
                <a:lnSpc>
                  <a:spcPct val="90000"/>
                </a:lnSpc>
              </a:pPr>
              <a:r>
                <a:rPr lang="en-US" altLang="en-US"/>
                <a:t>Ethernet)</a:t>
              </a:r>
            </a:p>
          </p:txBody>
        </p:sp>
        <p:sp>
          <p:nvSpPr>
            <p:cNvPr id="57362" name="Line 37">
              <a:extLst>
                <a:ext uri="{FF2B5EF4-FFF2-40B4-BE49-F238E27FC236}">
                  <a16:creationId xmlns:a16="http://schemas.microsoft.com/office/drawing/2014/main" id="{8CE0A374-A7EE-514A-9F02-680D5BD69FFC}"/>
                </a:ext>
              </a:extLst>
            </p:cNvPr>
            <p:cNvSpPr>
              <a:spLocks noChangeShapeType="1"/>
            </p:cNvSpPr>
            <p:nvPr/>
          </p:nvSpPr>
          <p:spPr bwMode="auto">
            <a:xfrm>
              <a:off x="983" y="3561"/>
              <a:ext cx="33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7363" name="Line 38">
              <a:extLst>
                <a:ext uri="{FF2B5EF4-FFF2-40B4-BE49-F238E27FC236}">
                  <a16:creationId xmlns:a16="http://schemas.microsoft.com/office/drawing/2014/main" id="{BF75C708-EB20-3843-87EC-6BCC34640179}"/>
                </a:ext>
              </a:extLst>
            </p:cNvPr>
            <p:cNvSpPr>
              <a:spLocks noChangeShapeType="1"/>
            </p:cNvSpPr>
            <p:nvPr/>
          </p:nvSpPr>
          <p:spPr bwMode="auto">
            <a:xfrm>
              <a:off x="1370" y="3252"/>
              <a:ext cx="0" cy="31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7364" name="Line 39">
              <a:extLst>
                <a:ext uri="{FF2B5EF4-FFF2-40B4-BE49-F238E27FC236}">
                  <a16:creationId xmlns:a16="http://schemas.microsoft.com/office/drawing/2014/main" id="{710ACE4D-6D90-2047-BA64-21015FE78BB5}"/>
                </a:ext>
              </a:extLst>
            </p:cNvPr>
            <p:cNvSpPr>
              <a:spLocks noChangeShapeType="1"/>
            </p:cNvSpPr>
            <p:nvPr/>
          </p:nvSpPr>
          <p:spPr bwMode="auto">
            <a:xfrm>
              <a:off x="3939" y="3242"/>
              <a:ext cx="0" cy="31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7365" name="Line 40">
              <a:extLst>
                <a:ext uri="{FF2B5EF4-FFF2-40B4-BE49-F238E27FC236}">
                  <a16:creationId xmlns:a16="http://schemas.microsoft.com/office/drawing/2014/main" id="{2DE5D9DC-F11E-C748-AC97-AD13C228E31B}"/>
                </a:ext>
              </a:extLst>
            </p:cNvPr>
            <p:cNvSpPr>
              <a:spLocks noChangeShapeType="1"/>
            </p:cNvSpPr>
            <p:nvPr/>
          </p:nvSpPr>
          <p:spPr bwMode="auto">
            <a:xfrm>
              <a:off x="2665" y="3240"/>
              <a:ext cx="0" cy="3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7366" name="Text Box 41">
              <a:extLst>
                <a:ext uri="{FF2B5EF4-FFF2-40B4-BE49-F238E27FC236}">
                  <a16:creationId xmlns:a16="http://schemas.microsoft.com/office/drawing/2014/main" id="{150A4C54-0FA1-D84F-8548-4F069F4F192E}"/>
                </a:ext>
              </a:extLst>
            </p:cNvPr>
            <p:cNvSpPr txBox="1">
              <a:spLocks noChangeArrowheads="1"/>
            </p:cNvSpPr>
            <p:nvPr/>
          </p:nvSpPr>
          <p:spPr bwMode="auto">
            <a:xfrm>
              <a:off x="4304" y="3435"/>
              <a:ext cx="8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system bus</a:t>
              </a:r>
            </a:p>
          </p:txBody>
        </p:sp>
      </p:grpSp>
      <p:pic>
        <p:nvPicPr>
          <p:cNvPr id="57350" name="Picture 43">
            <a:extLst>
              <a:ext uri="{FF2B5EF4-FFF2-40B4-BE49-F238E27FC236}">
                <a16:creationId xmlns:a16="http://schemas.microsoft.com/office/drawing/2014/main" id="{ED19A84C-61BA-9247-9073-ED98F8990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538" y="4225925"/>
            <a:ext cx="5334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1" name="Picture 44">
            <a:extLst>
              <a:ext uri="{FF2B5EF4-FFF2-40B4-BE49-F238E27FC236}">
                <a16:creationId xmlns:a16="http://schemas.microsoft.com/office/drawing/2014/main" id="{C3F1BABC-1BA1-0448-8C5C-1E8C062FED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4338" y="4189413"/>
            <a:ext cx="5334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7293" name="Rectangle 45">
            <a:extLst>
              <a:ext uri="{FF2B5EF4-FFF2-40B4-BE49-F238E27FC236}">
                <a16:creationId xmlns:a16="http://schemas.microsoft.com/office/drawing/2014/main" id="{682CE1DA-2136-B148-B1F4-094F26FFFD31}"/>
              </a:ext>
            </a:extLst>
          </p:cNvPr>
          <p:cNvSpPr>
            <a:spLocks noChangeArrowheads="1"/>
          </p:cNvSpPr>
          <p:nvPr/>
        </p:nvSpPr>
        <p:spPr bwMode="auto">
          <a:xfrm>
            <a:off x="377825" y="4460875"/>
            <a:ext cx="434975" cy="2222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37294" name="Rectangle 46">
            <a:extLst>
              <a:ext uri="{FF2B5EF4-FFF2-40B4-BE49-F238E27FC236}">
                <a16:creationId xmlns:a16="http://schemas.microsoft.com/office/drawing/2014/main" id="{D891FAB3-042E-0F46-908E-266ABC341C30}"/>
              </a:ext>
            </a:extLst>
          </p:cNvPr>
          <p:cNvSpPr>
            <a:spLocks noChangeArrowheads="1"/>
          </p:cNvSpPr>
          <p:nvPr/>
        </p:nvSpPr>
        <p:spPr bwMode="auto">
          <a:xfrm>
            <a:off x="390525" y="4470400"/>
            <a:ext cx="446088" cy="21272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354" name="Slide Number Placeholder 5">
            <a:extLst>
              <a:ext uri="{FF2B5EF4-FFF2-40B4-BE49-F238E27FC236}">
                <a16:creationId xmlns:a16="http://schemas.microsoft.com/office/drawing/2014/main" id="{60F35FBB-B66A-A74D-BAFD-0C2A91F11072}"/>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47996405-4C97-554D-BC61-D3DAE488331E}" type="slidenum">
              <a:rPr lang="en-US" altLang="en-US">
                <a:latin typeface="Tahoma" panose="020B0604030504040204" pitchFamily="34" charset="0"/>
              </a:rPr>
              <a:pPr/>
              <a:t>30</a:t>
            </a:fld>
            <a:endParaRPr lang="en-US" altLang="en-US">
              <a:latin typeface="Tahoma" panose="020B0604030504040204" pitchFamily="34" charset="0"/>
            </a:endParaRPr>
          </a:p>
        </p:txBody>
      </p:sp>
      <p:sp>
        <p:nvSpPr>
          <p:cNvPr id="57355" name="Footer Placeholder 2">
            <a:extLst>
              <a:ext uri="{FF2B5EF4-FFF2-40B4-BE49-F238E27FC236}">
                <a16:creationId xmlns:a16="http://schemas.microsoft.com/office/drawing/2014/main" id="{A285B922-A293-EF44-BC05-D91784447101}"/>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grpId="0" nodeType="clickEffect">
                                  <p:stCondLst>
                                    <p:cond delay="0"/>
                                  </p:stCondLst>
                                  <p:childTnLst>
                                    <p:animMotion origin="layout" path="M -4.16667E-6 3.33333E-6 L 0.16476 3.33333E-6 L 0.16962 0.13495 L 0.39098 0.13495 L 0.39098 0.04074 " pathEditMode="relative" rAng="0" ptsTypes="AAAAA">
                                      <p:cBhvr>
                                        <p:cTn id="6" dur="2000" fill="hold"/>
                                        <p:tgtEl>
                                          <p:spTgt spid="437293"/>
                                        </p:tgtEl>
                                        <p:attrNameLst>
                                          <p:attrName>ppt_x</p:attrName>
                                          <p:attrName>ppt_y</p:attrName>
                                        </p:attrNameLst>
                                      </p:cBhvr>
                                      <p:rCtr x="19549" y="6736"/>
                                    </p:animMotion>
                                  </p:childTnLst>
                                </p:cTn>
                              </p:par>
                            </p:childTnLst>
                          </p:cTn>
                        </p:par>
                        <p:par>
                          <p:cTn id="7" fill="hold" nodeType="afterGroup">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437294"/>
                                        </p:tgtEl>
                                        <p:attrNameLst>
                                          <p:attrName>style.visibility</p:attrName>
                                        </p:attrNameLst>
                                      </p:cBhvr>
                                      <p:to>
                                        <p:strVal val="visible"/>
                                      </p:to>
                                    </p:set>
                                    <p:animEffect transition="in" filter="dissolve">
                                      <p:cBhvr>
                                        <p:cTn id="10" dur="500"/>
                                        <p:tgtEl>
                                          <p:spTgt spid="437294"/>
                                        </p:tgtEl>
                                      </p:cBhvr>
                                    </p:animEffect>
                                  </p:childTnLst>
                                </p:cTn>
                              </p:par>
                            </p:childTnLst>
                          </p:cTn>
                        </p:par>
                        <p:par>
                          <p:cTn id="11" fill="hold" nodeType="afterGroup">
                            <p:stCondLst>
                              <p:cond delay="2500"/>
                            </p:stCondLst>
                            <p:childTnLst>
                              <p:par>
                                <p:cTn id="12" presetID="0" presetClass="path" presetSubtype="0" accel="50000" decel="50000" fill="hold" grpId="1" nodeType="afterEffect">
                                  <p:stCondLst>
                                    <p:cond delay="0"/>
                                  </p:stCondLst>
                                  <p:childTnLst>
                                    <p:animMotion origin="layout" path="M 1.38889E-6 -1.11111E-6 L 0.16233 -1.11111E-6 L 0.16597 0.1382 L 0.33906 0.13588 L 0.33785 0.03843 " pathEditMode="relative" rAng="0" ptsTypes="AAAAA">
                                      <p:cBhvr>
                                        <p:cTn id="13" dur="2000" fill="hold"/>
                                        <p:tgtEl>
                                          <p:spTgt spid="437294"/>
                                        </p:tgtEl>
                                        <p:attrNameLst>
                                          <p:attrName>ppt_x</p:attrName>
                                          <p:attrName>ppt_y</p:attrName>
                                        </p:attrNameLst>
                                      </p:cBhvr>
                                      <p:rCtr x="16944" y="6898"/>
                                    </p:animMotion>
                                  </p:childTnLst>
                                </p:cTn>
                              </p:par>
                            </p:childTnLst>
                          </p:cTn>
                        </p:par>
                      </p:childTnLst>
                    </p:cTn>
                  </p:par>
                  <p:par>
                    <p:cTn id="14" fill="hold" nodeType="clickPar">
                      <p:stCondLst>
                        <p:cond delay="indefinite"/>
                      </p:stCondLst>
                      <p:childTnLst>
                        <p:par>
                          <p:cTn id="15" fill="hold" nodeType="withGroup">
                            <p:stCondLst>
                              <p:cond delay="0"/>
                            </p:stCondLst>
                            <p:childTnLst>
                              <p:par>
                                <p:cTn id="16" presetID="0" presetClass="path" presetSubtype="0" accel="50000" decel="50000" fill="hold" grpId="1" nodeType="clickEffect">
                                  <p:stCondLst>
                                    <p:cond delay="0"/>
                                  </p:stCondLst>
                                  <p:childTnLst>
                                    <p:animMotion origin="layout" path="M 0.39098 0.04074 L 0.408 0.04074 L 0.408 0.12847 L 0.61911 0.12361 L 0.62032 -0.00162 L 0.79098 -0.00162 " pathEditMode="relative" ptsTypes="AAAAAA">
                                      <p:cBhvr>
                                        <p:cTn id="17" dur="2000" fill="hold"/>
                                        <p:tgtEl>
                                          <p:spTgt spid="437293"/>
                                        </p:tgtEl>
                                        <p:attrNameLst>
                                          <p:attrName>ppt_x</p:attrName>
                                          <p:attrName>ppt_y</p:attrName>
                                        </p:attrNameLst>
                                      </p:cBhvr>
                                    </p:animMotion>
                                  </p:childTnLst>
                                </p:cTn>
                              </p:par>
                            </p:childTnLst>
                          </p:cTn>
                        </p:par>
                        <p:par>
                          <p:cTn id="18" fill="hold" nodeType="afterGroup">
                            <p:stCondLst>
                              <p:cond delay="2000"/>
                            </p:stCondLst>
                            <p:childTnLst>
                              <p:par>
                                <p:cTn id="19" presetID="9" presetClass="exit" presetSubtype="0" fill="hold" grpId="2" nodeType="afterEffect">
                                  <p:stCondLst>
                                    <p:cond delay="0"/>
                                  </p:stCondLst>
                                  <p:childTnLst>
                                    <p:animEffect transition="out" filter="dissolve">
                                      <p:cBhvr>
                                        <p:cTn id="20" dur="500"/>
                                        <p:tgtEl>
                                          <p:spTgt spid="437293"/>
                                        </p:tgtEl>
                                      </p:cBhvr>
                                    </p:animEffect>
                                    <p:set>
                                      <p:cBhvr>
                                        <p:cTn id="21" dur="1" fill="hold">
                                          <p:stCondLst>
                                            <p:cond delay="499"/>
                                          </p:stCondLst>
                                        </p:cTn>
                                        <p:tgtEl>
                                          <p:spTgt spid="4372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93" grpId="0" animBg="1"/>
      <p:bldP spid="437293" grpId="1" animBg="1"/>
      <p:bldP spid="437293" grpId="2" animBg="1"/>
      <p:bldP spid="437294" grpId="0" animBg="1"/>
      <p:bldP spid="437294"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a:latin typeface="Tahoma" pitchFamily="34" charset="0"/>
              </a:rPr>
              <a:t>4-</a:t>
            </a:r>
            <a:fld id="{51613188-6120-4A18-BFE0-8982255CB6D9}" type="slidenum">
              <a:rPr lang="en-US" altLang="en-US" smtClean="0">
                <a:latin typeface="Tahoma" pitchFamily="34" charset="0"/>
              </a:rPr>
              <a:pPr/>
              <a:t>31</a:t>
            </a:fld>
            <a:endParaRPr lang="en-US" altLang="en-US">
              <a:latin typeface="Tahoma" pitchFamily="34" charset="0"/>
            </a:endParaRPr>
          </a:p>
        </p:txBody>
      </p:sp>
      <p:sp>
        <p:nvSpPr>
          <p:cNvPr id="28" name="Rectangle 2"/>
          <p:cNvSpPr txBox="1">
            <a:spLocks noChangeArrowheads="1"/>
          </p:cNvSpPr>
          <p:nvPr/>
        </p:nvSpPr>
        <p:spPr bwMode="auto">
          <a:xfrm>
            <a:off x="3891351" y="140786"/>
            <a:ext cx="5252649"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800" dirty="0">
                <a:solidFill>
                  <a:schemeClr val="bg1"/>
                </a:solidFill>
                <a:latin typeface="Arial"/>
                <a:ea typeface="ＭＳ Ｐゴシック" pitchFamily="34" charset="-128"/>
                <a:cs typeface="Arial"/>
              </a:rPr>
              <a:t>Switching Fabrics</a:t>
            </a:r>
          </a:p>
        </p:txBody>
      </p:sp>
      <p:pic>
        <p:nvPicPr>
          <p:cNvPr id="2" name="Picture 1" descr="Screen Shot 2016-04-08 at 11.40.49 AM.png"/>
          <p:cNvPicPr>
            <a:picLocks noChangeAspect="1"/>
          </p:cNvPicPr>
          <p:nvPr/>
        </p:nvPicPr>
        <p:blipFill rotWithShape="1">
          <a:blip r:embed="rId2">
            <a:extLst>
              <a:ext uri="{28A0092B-C50C-407E-A947-70E740481C1C}">
                <a14:useLocalDpi xmlns:a14="http://schemas.microsoft.com/office/drawing/2010/main" val="0"/>
              </a:ext>
            </a:extLst>
          </a:blip>
          <a:srcRect t="12004"/>
          <a:stretch/>
        </p:blipFill>
        <p:spPr>
          <a:xfrm>
            <a:off x="762002" y="4134556"/>
            <a:ext cx="6604000" cy="2389167"/>
          </a:xfrm>
          <a:prstGeom prst="rect">
            <a:avLst/>
          </a:prstGeom>
        </p:spPr>
      </p:pic>
      <p:pic>
        <p:nvPicPr>
          <p:cNvPr id="5" name="Picture 4" descr="Screen Shot 2016-04-08 at 11.42.24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1309" y="2948112"/>
            <a:ext cx="3414889" cy="563111"/>
          </a:xfrm>
          <a:prstGeom prst="rect">
            <a:avLst/>
          </a:prstGeom>
          <a:effectLst>
            <a:outerShdw blurRad="50800" dist="139700" dir="2700000" algn="tl" rotWithShape="0">
              <a:srgbClr val="000000">
                <a:alpha val="43000"/>
              </a:srgbClr>
            </a:outerShdw>
          </a:effectLst>
        </p:spPr>
      </p:pic>
      <p:sp>
        <p:nvSpPr>
          <p:cNvPr id="11" name="object 3">
            <a:extLst>
              <a:ext uri="{FF2B5EF4-FFF2-40B4-BE49-F238E27FC236}">
                <a16:creationId xmlns:a16="http://schemas.microsoft.com/office/drawing/2014/main" id="{90D0BD5F-3CB2-DA42-999B-69D33DCF0507}"/>
              </a:ext>
            </a:extLst>
          </p:cNvPr>
          <p:cNvSpPr txBox="1"/>
          <p:nvPr/>
        </p:nvSpPr>
        <p:spPr>
          <a:xfrm>
            <a:off x="89864" y="3798595"/>
            <a:ext cx="1297502" cy="592470"/>
          </a:xfrm>
          <a:prstGeom prst="rect">
            <a:avLst/>
          </a:prstGeom>
          <a:solidFill>
            <a:srgbClr val="FFC000"/>
          </a:solidFill>
        </p:spPr>
        <p:txBody>
          <a:bodyPr vert="horz" wrap="square" lIns="0" tIns="38100" rIns="0" bIns="0" rtlCol="0">
            <a:spAutoFit/>
          </a:bodyPr>
          <a:lstStyle/>
          <a:p>
            <a:pPr marL="91440">
              <a:lnSpc>
                <a:spcPct val="100000"/>
              </a:lnSpc>
              <a:spcBef>
                <a:spcPts val="300"/>
              </a:spcBef>
            </a:pPr>
            <a:r>
              <a:rPr lang="en-US" sz="1800" spc="-5" dirty="0">
                <a:latin typeface="Georgia"/>
                <a:cs typeface="Georgia"/>
              </a:rPr>
              <a:t>Datagram</a:t>
            </a:r>
            <a:endParaRPr sz="1800">
              <a:latin typeface="Georgia"/>
              <a:cs typeface="Georgia"/>
            </a:endParaRPr>
          </a:p>
          <a:p>
            <a:pPr marL="91440">
              <a:lnSpc>
                <a:spcPct val="100000"/>
              </a:lnSpc>
            </a:pPr>
            <a:r>
              <a:rPr sz="1800" spc="-5" dirty="0">
                <a:latin typeface="Georgia"/>
                <a:cs typeface="Georgia"/>
              </a:rPr>
              <a:t>arrives</a:t>
            </a:r>
            <a:endParaRPr sz="1800">
              <a:latin typeface="Georgia"/>
              <a:cs typeface="Georgia"/>
            </a:endParaRPr>
          </a:p>
        </p:txBody>
      </p:sp>
      <p:sp>
        <p:nvSpPr>
          <p:cNvPr id="12" name="object 4">
            <a:extLst>
              <a:ext uri="{FF2B5EF4-FFF2-40B4-BE49-F238E27FC236}">
                <a16:creationId xmlns:a16="http://schemas.microsoft.com/office/drawing/2014/main" id="{FD106D2B-CA4B-7F47-8CBF-FFEB1CBD8F34}"/>
              </a:ext>
            </a:extLst>
          </p:cNvPr>
          <p:cNvSpPr txBox="1"/>
          <p:nvPr/>
        </p:nvSpPr>
        <p:spPr>
          <a:xfrm>
            <a:off x="2770262" y="3405088"/>
            <a:ext cx="2495421" cy="591829"/>
          </a:xfrm>
          <a:prstGeom prst="rect">
            <a:avLst/>
          </a:prstGeom>
          <a:solidFill>
            <a:srgbClr val="FFC000"/>
          </a:solidFill>
        </p:spPr>
        <p:txBody>
          <a:bodyPr vert="horz" wrap="square" lIns="0" tIns="37465" rIns="0" bIns="0" rtlCol="0">
            <a:spAutoFit/>
          </a:bodyPr>
          <a:lstStyle/>
          <a:p>
            <a:pPr marL="92075">
              <a:lnSpc>
                <a:spcPct val="100000"/>
              </a:lnSpc>
              <a:spcBef>
                <a:spcPts val="295"/>
              </a:spcBef>
            </a:pPr>
            <a:r>
              <a:rPr sz="1800" spc="-5" dirty="0">
                <a:latin typeface="Georgia"/>
                <a:cs typeface="Georgia"/>
              </a:rPr>
              <a:t>Processor</a:t>
            </a:r>
            <a:r>
              <a:rPr sz="1800" spc="-10" dirty="0">
                <a:latin typeface="Georgia"/>
                <a:cs typeface="Georgia"/>
              </a:rPr>
              <a:t> </a:t>
            </a:r>
            <a:r>
              <a:rPr sz="1800" spc="-5" dirty="0">
                <a:latin typeface="Georgia"/>
                <a:cs typeface="Georgia"/>
              </a:rPr>
              <a:t>copy</a:t>
            </a:r>
            <a:endParaRPr sz="1800" dirty="0">
              <a:latin typeface="Georgia"/>
              <a:cs typeface="Georgia"/>
            </a:endParaRPr>
          </a:p>
          <a:p>
            <a:pPr marL="92075">
              <a:lnSpc>
                <a:spcPct val="100000"/>
              </a:lnSpc>
            </a:pPr>
            <a:r>
              <a:rPr lang="en-US" sz="1800" spc="-5" dirty="0">
                <a:latin typeface="Georgia"/>
                <a:cs typeface="Georgia"/>
              </a:rPr>
              <a:t>datagram</a:t>
            </a:r>
            <a:r>
              <a:rPr sz="1800" spc="-5" dirty="0">
                <a:latin typeface="Georgia"/>
                <a:cs typeface="Georgia"/>
              </a:rPr>
              <a:t> </a:t>
            </a:r>
            <a:r>
              <a:rPr sz="1800" dirty="0">
                <a:latin typeface="Georgia"/>
                <a:cs typeface="Georgia"/>
              </a:rPr>
              <a:t>into</a:t>
            </a:r>
            <a:r>
              <a:rPr sz="1800" spc="-25" dirty="0">
                <a:latin typeface="Georgia"/>
                <a:cs typeface="Georgia"/>
              </a:rPr>
              <a:t> </a:t>
            </a:r>
            <a:r>
              <a:rPr lang="en-US" sz="1800" spc="-5" dirty="0">
                <a:latin typeface="Georgia"/>
                <a:cs typeface="Georgia"/>
              </a:rPr>
              <a:t>M</a:t>
            </a:r>
            <a:r>
              <a:rPr sz="1800" spc="-5" dirty="0">
                <a:latin typeface="Georgia"/>
                <a:cs typeface="Georgia"/>
              </a:rPr>
              <a:t>emory</a:t>
            </a:r>
            <a:endParaRPr sz="1800" dirty="0">
              <a:latin typeface="Georgia"/>
              <a:cs typeface="Georgia"/>
            </a:endParaRPr>
          </a:p>
        </p:txBody>
      </p:sp>
      <p:sp>
        <p:nvSpPr>
          <p:cNvPr id="13" name="object 6">
            <a:extLst>
              <a:ext uri="{FF2B5EF4-FFF2-40B4-BE49-F238E27FC236}">
                <a16:creationId xmlns:a16="http://schemas.microsoft.com/office/drawing/2014/main" id="{8A93F07F-D812-B347-A1DA-89507CEDB321}"/>
              </a:ext>
            </a:extLst>
          </p:cNvPr>
          <p:cNvSpPr txBox="1"/>
          <p:nvPr/>
        </p:nvSpPr>
        <p:spPr>
          <a:xfrm>
            <a:off x="1828799" y="4832130"/>
            <a:ext cx="1807779" cy="579646"/>
          </a:xfrm>
          <a:prstGeom prst="rect">
            <a:avLst/>
          </a:prstGeom>
          <a:solidFill>
            <a:srgbClr val="FFC000"/>
          </a:solidFill>
        </p:spPr>
        <p:txBody>
          <a:bodyPr vert="horz" wrap="square" lIns="0" tIns="12700" rIns="0" bIns="0" rtlCol="0">
            <a:spAutoFit/>
          </a:bodyPr>
          <a:lstStyle/>
          <a:p>
            <a:pPr marL="377190" marR="208915" indent="-285750">
              <a:lnSpc>
                <a:spcPct val="100000"/>
              </a:lnSpc>
              <a:spcBef>
                <a:spcPts val="100"/>
              </a:spcBef>
              <a:buFont typeface="Arial" panose="020B0604020202020204" pitchFamily="34" charset="0"/>
              <a:buChar char="•"/>
            </a:pPr>
            <a:r>
              <a:rPr sz="1800" spc="-5" dirty="0">
                <a:latin typeface="Georgia"/>
                <a:cs typeface="Georgia"/>
              </a:rPr>
              <a:t>Check</a:t>
            </a:r>
            <a:r>
              <a:rPr sz="1800" spc="-80" dirty="0">
                <a:latin typeface="Georgia"/>
                <a:cs typeface="Georgia"/>
              </a:rPr>
              <a:t> </a:t>
            </a:r>
            <a:r>
              <a:rPr sz="1800" spc="-5" dirty="0">
                <a:latin typeface="Georgia"/>
                <a:cs typeface="Georgia"/>
              </a:rPr>
              <a:t>Dest </a:t>
            </a:r>
            <a:endParaRPr lang="en-US" sz="1800" spc="-5" dirty="0">
              <a:latin typeface="Georgia"/>
              <a:cs typeface="Georgia"/>
            </a:endParaRPr>
          </a:p>
          <a:p>
            <a:pPr marL="377190" marR="208915" indent="-285750">
              <a:lnSpc>
                <a:spcPct val="100000"/>
              </a:lnSpc>
              <a:spcBef>
                <a:spcPts val="100"/>
              </a:spcBef>
              <a:buFont typeface="Arial" panose="020B0604020202020204" pitchFamily="34" charset="0"/>
              <a:buChar char="•"/>
            </a:pPr>
            <a:r>
              <a:rPr lang="en-US" sz="1800" dirty="0">
                <a:latin typeface="Georgia"/>
                <a:cs typeface="Georgia"/>
              </a:rPr>
              <a:t>Lookup</a:t>
            </a:r>
            <a:r>
              <a:rPr sz="1800" spc="400" dirty="0">
                <a:latin typeface="Georgia"/>
                <a:cs typeface="Georgia"/>
              </a:rPr>
              <a:t> </a:t>
            </a:r>
            <a:r>
              <a:rPr sz="1800" spc="-5" dirty="0">
                <a:latin typeface="Georgia"/>
                <a:cs typeface="Georgia"/>
              </a:rPr>
              <a:t>FT</a:t>
            </a:r>
            <a:endParaRPr sz="1800">
              <a:latin typeface="Georgia"/>
              <a:cs typeface="Georgia"/>
            </a:endParaRPr>
          </a:p>
        </p:txBody>
      </p:sp>
      <p:sp>
        <p:nvSpPr>
          <p:cNvPr id="14" name="object 7">
            <a:extLst>
              <a:ext uri="{FF2B5EF4-FFF2-40B4-BE49-F238E27FC236}">
                <a16:creationId xmlns:a16="http://schemas.microsoft.com/office/drawing/2014/main" id="{B8AC6FC0-DE50-4440-B2B7-DE1D9F41FB87}"/>
              </a:ext>
            </a:extLst>
          </p:cNvPr>
          <p:cNvSpPr txBox="1"/>
          <p:nvPr/>
        </p:nvSpPr>
        <p:spPr>
          <a:xfrm>
            <a:off x="4879428" y="5623033"/>
            <a:ext cx="1655445" cy="592470"/>
          </a:xfrm>
          <a:prstGeom prst="rect">
            <a:avLst/>
          </a:prstGeom>
          <a:solidFill>
            <a:srgbClr val="FFC000"/>
          </a:solidFill>
        </p:spPr>
        <p:txBody>
          <a:bodyPr vert="horz" wrap="square" lIns="0" tIns="38100" rIns="0" bIns="0" rtlCol="0">
            <a:spAutoFit/>
          </a:bodyPr>
          <a:lstStyle/>
          <a:p>
            <a:pPr marL="91440">
              <a:lnSpc>
                <a:spcPct val="100000"/>
              </a:lnSpc>
              <a:spcBef>
                <a:spcPts val="300"/>
              </a:spcBef>
            </a:pPr>
            <a:r>
              <a:rPr sz="1800" spc="-5" dirty="0">
                <a:latin typeface="Georgia"/>
                <a:cs typeface="Georgia"/>
              </a:rPr>
              <a:t>Copy</a:t>
            </a:r>
            <a:r>
              <a:rPr sz="1800" spc="-20" dirty="0">
                <a:latin typeface="Georgia"/>
                <a:cs typeface="Georgia"/>
              </a:rPr>
              <a:t> </a:t>
            </a:r>
            <a:r>
              <a:rPr lang="en-US" sz="1800" spc="-5" dirty="0">
                <a:latin typeface="Georgia"/>
                <a:cs typeface="Georgia"/>
              </a:rPr>
              <a:t>datagram</a:t>
            </a:r>
            <a:endParaRPr sz="1800">
              <a:latin typeface="Georgia"/>
              <a:cs typeface="Georgia"/>
            </a:endParaRPr>
          </a:p>
          <a:p>
            <a:pPr marL="91440">
              <a:lnSpc>
                <a:spcPct val="100000"/>
              </a:lnSpc>
            </a:pPr>
            <a:r>
              <a:rPr sz="1800" spc="-5" dirty="0">
                <a:latin typeface="Georgia"/>
                <a:cs typeface="Georgia"/>
              </a:rPr>
              <a:t>to output</a:t>
            </a:r>
            <a:r>
              <a:rPr sz="1800" spc="-15" dirty="0">
                <a:latin typeface="Georgia"/>
                <a:cs typeface="Georgia"/>
              </a:rPr>
              <a:t> </a:t>
            </a:r>
            <a:r>
              <a:rPr sz="1800" spc="-5" dirty="0">
                <a:latin typeface="Georgia"/>
                <a:cs typeface="Georgia"/>
              </a:rPr>
              <a:t>port</a:t>
            </a:r>
            <a:endParaRPr sz="1800">
              <a:latin typeface="Georgia"/>
              <a:cs typeface="Georgia"/>
            </a:endParaRPr>
          </a:p>
        </p:txBody>
      </p:sp>
      <p:sp>
        <p:nvSpPr>
          <p:cNvPr id="16" name="Rectangle 2">
            <a:extLst>
              <a:ext uri="{FF2B5EF4-FFF2-40B4-BE49-F238E27FC236}">
                <a16:creationId xmlns:a16="http://schemas.microsoft.com/office/drawing/2014/main" id="{5A346884-3A37-7B40-A091-F84BA2B572F8}"/>
              </a:ext>
            </a:extLst>
          </p:cNvPr>
          <p:cNvSpPr>
            <a:spLocks noGrp="1" noChangeArrowheads="1"/>
          </p:cNvSpPr>
          <p:nvPr>
            <p:ph type="title"/>
          </p:nvPr>
        </p:nvSpPr>
        <p:spPr>
          <a:xfrm>
            <a:off x="652463" y="263525"/>
            <a:ext cx="7772400" cy="609600"/>
          </a:xfrm>
        </p:spPr>
        <p:txBody>
          <a:bodyPr/>
          <a:lstStyle/>
          <a:p>
            <a:r>
              <a:rPr lang="en-US" altLang="en-US" sz="4000" dirty="0">
                <a:ea typeface="ＭＳ Ｐゴシック" panose="020B0600070205080204" pitchFamily="34" charset="-128"/>
              </a:rPr>
              <a:t>Switching via memory</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00019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47" descr="underline_base">
            <a:extLst>
              <a:ext uri="{FF2B5EF4-FFF2-40B4-BE49-F238E27FC236}">
                <a16:creationId xmlns:a16="http://schemas.microsoft.com/office/drawing/2014/main" id="{A783986A-1E75-2847-9844-4EE84F4F294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950" y="965200"/>
            <a:ext cx="4113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Rectangle 6">
            <a:extLst>
              <a:ext uri="{FF2B5EF4-FFF2-40B4-BE49-F238E27FC236}">
                <a16:creationId xmlns:a16="http://schemas.microsoft.com/office/drawing/2014/main" id="{14FBA623-8FF8-4E4A-9C52-0D456E2E16B5}"/>
              </a:ext>
            </a:extLst>
          </p:cNvPr>
          <p:cNvSpPr>
            <a:spLocks noGrp="1" noChangeArrowheads="1"/>
          </p:cNvSpPr>
          <p:nvPr>
            <p:ph type="title"/>
          </p:nvPr>
        </p:nvSpPr>
        <p:spPr>
          <a:xfrm>
            <a:off x="449263" y="385763"/>
            <a:ext cx="7772400" cy="685800"/>
          </a:xfrm>
        </p:spPr>
        <p:txBody>
          <a:bodyPr/>
          <a:lstStyle/>
          <a:p>
            <a:r>
              <a:rPr lang="en-US" altLang="en-US" sz="4000" dirty="0">
                <a:ea typeface="ＭＳ Ｐゴシック" panose="020B0600070205080204" pitchFamily="34" charset="-128"/>
              </a:rPr>
              <a:t>Switching via a bus</a:t>
            </a:r>
            <a:endParaRPr lang="en-US" altLang="en-US" dirty="0">
              <a:ea typeface="ＭＳ Ｐゴシック" panose="020B0600070205080204" pitchFamily="34" charset="-128"/>
            </a:endParaRPr>
          </a:p>
        </p:txBody>
      </p:sp>
      <p:sp>
        <p:nvSpPr>
          <p:cNvPr id="26630" name="Rectangle 7">
            <a:extLst>
              <a:ext uri="{FF2B5EF4-FFF2-40B4-BE49-F238E27FC236}">
                <a16:creationId xmlns:a16="http://schemas.microsoft.com/office/drawing/2014/main" id="{F3B4EC2F-3876-0C46-9B21-02F24E9D597F}"/>
              </a:ext>
            </a:extLst>
          </p:cNvPr>
          <p:cNvSpPr>
            <a:spLocks noGrp="1" noChangeArrowheads="1"/>
          </p:cNvSpPr>
          <p:nvPr>
            <p:ph type="body" idx="1"/>
          </p:nvPr>
        </p:nvSpPr>
        <p:spPr>
          <a:xfrm>
            <a:off x="631825" y="1530350"/>
            <a:ext cx="5608638" cy="4071938"/>
          </a:xfrm>
        </p:spPr>
        <p:txBody>
          <a:bodyPr/>
          <a:lstStyle/>
          <a:p>
            <a:pPr>
              <a:buFont typeface="Wingdings" charset="2"/>
              <a:buChar char="§"/>
              <a:defRPr/>
            </a:pPr>
            <a:r>
              <a:rPr lang="en-US">
                <a:cs typeface="+mn-cs"/>
              </a:rPr>
              <a:t>datagram from input port memory</a:t>
            </a:r>
          </a:p>
          <a:p>
            <a:pPr>
              <a:buFont typeface="Wingdings" charset="0"/>
              <a:buNone/>
              <a:defRPr/>
            </a:pPr>
            <a:r>
              <a:rPr lang="en-US">
                <a:cs typeface="+mn-cs"/>
              </a:rPr>
              <a:t>    to output port memory via a shared bus</a:t>
            </a:r>
          </a:p>
          <a:p>
            <a:pPr>
              <a:buFont typeface="Wingdings" charset="2"/>
              <a:buChar char="§"/>
              <a:defRPr/>
            </a:pPr>
            <a:r>
              <a:rPr lang="en-US" i="1">
                <a:solidFill>
                  <a:srgbClr val="CC0000"/>
                </a:solidFill>
                <a:cs typeface="+mn-cs"/>
              </a:rPr>
              <a:t>bus contention:</a:t>
            </a:r>
            <a:r>
              <a:rPr lang="en-US">
                <a:cs typeface="+mn-cs"/>
              </a:rPr>
              <a:t>  switching speed limited by bus bandwidth</a:t>
            </a:r>
          </a:p>
          <a:p>
            <a:pPr>
              <a:buFont typeface="Wingdings" charset="2"/>
              <a:buChar char="§"/>
              <a:defRPr/>
            </a:pPr>
            <a:r>
              <a:rPr lang="en-US">
                <a:cs typeface="+mn-cs"/>
              </a:rPr>
              <a:t>32 Gbps bus, Cisco 5600: sufficient speed for access and enterprise routers</a:t>
            </a:r>
          </a:p>
        </p:txBody>
      </p:sp>
      <p:grpSp>
        <p:nvGrpSpPr>
          <p:cNvPr id="58373" name="Group 8">
            <a:extLst>
              <a:ext uri="{FF2B5EF4-FFF2-40B4-BE49-F238E27FC236}">
                <a16:creationId xmlns:a16="http://schemas.microsoft.com/office/drawing/2014/main" id="{73255966-872F-5F4A-8376-813913A91AAF}"/>
              </a:ext>
            </a:extLst>
          </p:cNvPr>
          <p:cNvGrpSpPr>
            <a:grpSpLocks/>
          </p:cNvGrpSpPr>
          <p:nvPr/>
        </p:nvGrpSpPr>
        <p:grpSpPr bwMode="auto">
          <a:xfrm>
            <a:off x="6408738" y="2435225"/>
            <a:ext cx="890587" cy="215900"/>
            <a:chOff x="876" y="2800"/>
            <a:chExt cx="642" cy="175"/>
          </a:xfrm>
        </p:grpSpPr>
        <p:sp>
          <p:nvSpPr>
            <p:cNvPr id="58409" name="Rectangle 9">
              <a:extLst>
                <a:ext uri="{FF2B5EF4-FFF2-40B4-BE49-F238E27FC236}">
                  <a16:creationId xmlns:a16="http://schemas.microsoft.com/office/drawing/2014/main" id="{853AA0E2-7429-AD42-9B22-8B5B40239B40}"/>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10" name="Rectangle 10">
              <a:extLst>
                <a:ext uri="{FF2B5EF4-FFF2-40B4-BE49-F238E27FC236}">
                  <a16:creationId xmlns:a16="http://schemas.microsoft.com/office/drawing/2014/main" id="{240709D2-235E-ED4E-BE64-BBF0C8E8D6EB}"/>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11" name="Rectangle 11">
              <a:extLst>
                <a:ext uri="{FF2B5EF4-FFF2-40B4-BE49-F238E27FC236}">
                  <a16:creationId xmlns:a16="http://schemas.microsoft.com/office/drawing/2014/main" id="{49B75856-F5C2-3B44-B47C-380BFE66D55F}"/>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12" name="Rectangle 12">
              <a:extLst>
                <a:ext uri="{FF2B5EF4-FFF2-40B4-BE49-F238E27FC236}">
                  <a16:creationId xmlns:a16="http://schemas.microsoft.com/office/drawing/2014/main" id="{A4268AAF-0572-0B42-8716-DA9941DDD786}"/>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13" name="Line 13">
              <a:extLst>
                <a:ext uri="{FF2B5EF4-FFF2-40B4-BE49-F238E27FC236}">
                  <a16:creationId xmlns:a16="http://schemas.microsoft.com/office/drawing/2014/main" id="{22BA61B5-87C1-C84A-BD23-065482F30FA3}"/>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8374" name="Group 14">
            <a:extLst>
              <a:ext uri="{FF2B5EF4-FFF2-40B4-BE49-F238E27FC236}">
                <a16:creationId xmlns:a16="http://schemas.microsoft.com/office/drawing/2014/main" id="{11263405-C2C8-E849-BB5F-D3A2BCA2BEDE}"/>
              </a:ext>
            </a:extLst>
          </p:cNvPr>
          <p:cNvGrpSpPr>
            <a:grpSpLocks/>
          </p:cNvGrpSpPr>
          <p:nvPr/>
        </p:nvGrpSpPr>
        <p:grpSpPr bwMode="auto">
          <a:xfrm>
            <a:off x="6407150" y="2830513"/>
            <a:ext cx="890588" cy="215900"/>
            <a:chOff x="876" y="2800"/>
            <a:chExt cx="642" cy="175"/>
          </a:xfrm>
        </p:grpSpPr>
        <p:sp>
          <p:nvSpPr>
            <p:cNvPr id="58404" name="Rectangle 15">
              <a:extLst>
                <a:ext uri="{FF2B5EF4-FFF2-40B4-BE49-F238E27FC236}">
                  <a16:creationId xmlns:a16="http://schemas.microsoft.com/office/drawing/2014/main" id="{F7506C1E-537C-6341-B384-83B70AE84DCF}"/>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05" name="Rectangle 16">
              <a:extLst>
                <a:ext uri="{FF2B5EF4-FFF2-40B4-BE49-F238E27FC236}">
                  <a16:creationId xmlns:a16="http://schemas.microsoft.com/office/drawing/2014/main" id="{DE3C9F46-D470-CE4C-95BF-F90F77038447}"/>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06" name="Rectangle 17">
              <a:extLst>
                <a:ext uri="{FF2B5EF4-FFF2-40B4-BE49-F238E27FC236}">
                  <a16:creationId xmlns:a16="http://schemas.microsoft.com/office/drawing/2014/main" id="{AAF2891E-0F38-6545-9EC9-18FCE66B9E39}"/>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07" name="Rectangle 18">
              <a:extLst>
                <a:ext uri="{FF2B5EF4-FFF2-40B4-BE49-F238E27FC236}">
                  <a16:creationId xmlns:a16="http://schemas.microsoft.com/office/drawing/2014/main" id="{F17CDDFC-3828-B446-B8A5-469DBDCC05CB}"/>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08" name="Line 19">
              <a:extLst>
                <a:ext uri="{FF2B5EF4-FFF2-40B4-BE49-F238E27FC236}">
                  <a16:creationId xmlns:a16="http://schemas.microsoft.com/office/drawing/2014/main" id="{F94B80EB-6086-BA45-81CB-65A2757C2AF0}"/>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8375" name="Group 20">
            <a:extLst>
              <a:ext uri="{FF2B5EF4-FFF2-40B4-BE49-F238E27FC236}">
                <a16:creationId xmlns:a16="http://schemas.microsoft.com/office/drawing/2014/main" id="{CCAB5D5D-1B2A-594C-BDE4-B3A8D05D9D34}"/>
              </a:ext>
            </a:extLst>
          </p:cNvPr>
          <p:cNvGrpSpPr>
            <a:grpSpLocks/>
          </p:cNvGrpSpPr>
          <p:nvPr/>
        </p:nvGrpSpPr>
        <p:grpSpPr bwMode="auto">
          <a:xfrm>
            <a:off x="6402388" y="3257550"/>
            <a:ext cx="890587" cy="215900"/>
            <a:chOff x="876" y="2800"/>
            <a:chExt cx="642" cy="175"/>
          </a:xfrm>
        </p:grpSpPr>
        <p:sp>
          <p:nvSpPr>
            <p:cNvPr id="58399" name="Rectangle 21">
              <a:extLst>
                <a:ext uri="{FF2B5EF4-FFF2-40B4-BE49-F238E27FC236}">
                  <a16:creationId xmlns:a16="http://schemas.microsoft.com/office/drawing/2014/main" id="{C951190B-D14B-4146-BD48-F1B2B45BD09B}"/>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00" name="Rectangle 22">
              <a:extLst>
                <a:ext uri="{FF2B5EF4-FFF2-40B4-BE49-F238E27FC236}">
                  <a16:creationId xmlns:a16="http://schemas.microsoft.com/office/drawing/2014/main" id="{85D05D28-0C05-A14B-B951-70BBD8B39888}"/>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01" name="Rectangle 23">
              <a:extLst>
                <a:ext uri="{FF2B5EF4-FFF2-40B4-BE49-F238E27FC236}">
                  <a16:creationId xmlns:a16="http://schemas.microsoft.com/office/drawing/2014/main" id="{885B874D-DA69-464F-81A8-3CBE69FEDDB6}"/>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02" name="Rectangle 24">
              <a:extLst>
                <a:ext uri="{FF2B5EF4-FFF2-40B4-BE49-F238E27FC236}">
                  <a16:creationId xmlns:a16="http://schemas.microsoft.com/office/drawing/2014/main" id="{D24F5BE2-66DA-CD4B-BC93-7C73F01C555A}"/>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403" name="Line 25">
              <a:extLst>
                <a:ext uri="{FF2B5EF4-FFF2-40B4-BE49-F238E27FC236}">
                  <a16:creationId xmlns:a16="http://schemas.microsoft.com/office/drawing/2014/main" id="{E83F80B9-DFBF-1D41-8FC9-6179E51840E8}"/>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58376" name="Line 26">
            <a:extLst>
              <a:ext uri="{FF2B5EF4-FFF2-40B4-BE49-F238E27FC236}">
                <a16:creationId xmlns:a16="http://schemas.microsoft.com/office/drawing/2014/main" id="{106CF68A-567D-9C44-93C7-F04A3B064CEA}"/>
              </a:ext>
            </a:extLst>
          </p:cNvPr>
          <p:cNvSpPr>
            <a:spLocks noChangeShapeType="1"/>
          </p:cNvSpPr>
          <p:nvPr/>
        </p:nvSpPr>
        <p:spPr bwMode="auto">
          <a:xfrm>
            <a:off x="7310438" y="2438400"/>
            <a:ext cx="0" cy="10033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58377" name="Group 27">
            <a:extLst>
              <a:ext uri="{FF2B5EF4-FFF2-40B4-BE49-F238E27FC236}">
                <a16:creationId xmlns:a16="http://schemas.microsoft.com/office/drawing/2014/main" id="{EABF493D-4BF0-DC4B-AAE7-39BC429A3DB5}"/>
              </a:ext>
            </a:extLst>
          </p:cNvPr>
          <p:cNvGrpSpPr>
            <a:grpSpLocks/>
          </p:cNvGrpSpPr>
          <p:nvPr/>
        </p:nvGrpSpPr>
        <p:grpSpPr bwMode="auto">
          <a:xfrm>
            <a:off x="7364413" y="2422525"/>
            <a:ext cx="890587" cy="215900"/>
            <a:chOff x="455" y="3463"/>
            <a:chExt cx="561" cy="136"/>
          </a:xfrm>
        </p:grpSpPr>
        <p:sp>
          <p:nvSpPr>
            <p:cNvPr id="58394" name="Rectangle 28">
              <a:extLst>
                <a:ext uri="{FF2B5EF4-FFF2-40B4-BE49-F238E27FC236}">
                  <a16:creationId xmlns:a16="http://schemas.microsoft.com/office/drawing/2014/main" id="{82A5BFE9-BC50-D54A-8A67-0B0119F33497}"/>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95" name="Rectangle 29">
              <a:extLst>
                <a:ext uri="{FF2B5EF4-FFF2-40B4-BE49-F238E27FC236}">
                  <a16:creationId xmlns:a16="http://schemas.microsoft.com/office/drawing/2014/main" id="{13B6ED1A-7A77-B948-9E4E-8BB004808A08}"/>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96" name="Rectangle 30">
              <a:extLst>
                <a:ext uri="{FF2B5EF4-FFF2-40B4-BE49-F238E27FC236}">
                  <a16:creationId xmlns:a16="http://schemas.microsoft.com/office/drawing/2014/main" id="{3EC3CAF5-DAF1-F949-B621-7C8EF3FFA9E3}"/>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97" name="Rectangle 31">
              <a:extLst>
                <a:ext uri="{FF2B5EF4-FFF2-40B4-BE49-F238E27FC236}">
                  <a16:creationId xmlns:a16="http://schemas.microsoft.com/office/drawing/2014/main" id="{924DD140-3427-A94F-929B-40F6ADBE1587}"/>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98" name="Line 32">
              <a:extLst>
                <a:ext uri="{FF2B5EF4-FFF2-40B4-BE49-F238E27FC236}">
                  <a16:creationId xmlns:a16="http://schemas.microsoft.com/office/drawing/2014/main" id="{CD41D4BE-E9BA-DC41-904D-CDA7ADA30BB0}"/>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8378" name="Group 33">
            <a:extLst>
              <a:ext uri="{FF2B5EF4-FFF2-40B4-BE49-F238E27FC236}">
                <a16:creationId xmlns:a16="http://schemas.microsoft.com/office/drawing/2014/main" id="{1FF27420-8FFF-EF4F-AD6A-4AACF5016556}"/>
              </a:ext>
            </a:extLst>
          </p:cNvPr>
          <p:cNvGrpSpPr>
            <a:grpSpLocks/>
          </p:cNvGrpSpPr>
          <p:nvPr/>
        </p:nvGrpSpPr>
        <p:grpSpPr bwMode="auto">
          <a:xfrm>
            <a:off x="7369175" y="2814638"/>
            <a:ext cx="890588" cy="215900"/>
            <a:chOff x="455" y="3463"/>
            <a:chExt cx="561" cy="136"/>
          </a:xfrm>
        </p:grpSpPr>
        <p:sp>
          <p:nvSpPr>
            <p:cNvPr id="58389" name="Rectangle 34">
              <a:extLst>
                <a:ext uri="{FF2B5EF4-FFF2-40B4-BE49-F238E27FC236}">
                  <a16:creationId xmlns:a16="http://schemas.microsoft.com/office/drawing/2014/main" id="{6D2E7743-F963-1944-BE30-120FCA8D512A}"/>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90" name="Rectangle 35">
              <a:extLst>
                <a:ext uri="{FF2B5EF4-FFF2-40B4-BE49-F238E27FC236}">
                  <a16:creationId xmlns:a16="http://schemas.microsoft.com/office/drawing/2014/main" id="{DD481B62-92A5-D94F-A6E2-F2E112398F57}"/>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91" name="Rectangle 36">
              <a:extLst>
                <a:ext uri="{FF2B5EF4-FFF2-40B4-BE49-F238E27FC236}">
                  <a16:creationId xmlns:a16="http://schemas.microsoft.com/office/drawing/2014/main" id="{16D13792-A36A-654F-AEB1-BC53AEE1831D}"/>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92" name="Rectangle 37">
              <a:extLst>
                <a:ext uri="{FF2B5EF4-FFF2-40B4-BE49-F238E27FC236}">
                  <a16:creationId xmlns:a16="http://schemas.microsoft.com/office/drawing/2014/main" id="{5E56EA2B-2AB8-0C4F-AE64-3A8331837513}"/>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93" name="Line 38">
              <a:extLst>
                <a:ext uri="{FF2B5EF4-FFF2-40B4-BE49-F238E27FC236}">
                  <a16:creationId xmlns:a16="http://schemas.microsoft.com/office/drawing/2014/main" id="{C9B2EF15-990A-9C4B-998E-8D989F3D077B}"/>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8379" name="Group 39">
            <a:extLst>
              <a:ext uri="{FF2B5EF4-FFF2-40B4-BE49-F238E27FC236}">
                <a16:creationId xmlns:a16="http://schemas.microsoft.com/office/drawing/2014/main" id="{82AE5FDA-D8BD-C542-AF7C-E409952E4D49}"/>
              </a:ext>
            </a:extLst>
          </p:cNvPr>
          <p:cNvGrpSpPr>
            <a:grpSpLocks/>
          </p:cNvGrpSpPr>
          <p:nvPr/>
        </p:nvGrpSpPr>
        <p:grpSpPr bwMode="auto">
          <a:xfrm>
            <a:off x="7364413" y="3241675"/>
            <a:ext cx="890587" cy="215900"/>
            <a:chOff x="455" y="3463"/>
            <a:chExt cx="561" cy="136"/>
          </a:xfrm>
        </p:grpSpPr>
        <p:sp>
          <p:nvSpPr>
            <p:cNvPr id="58384" name="Rectangle 40">
              <a:extLst>
                <a:ext uri="{FF2B5EF4-FFF2-40B4-BE49-F238E27FC236}">
                  <a16:creationId xmlns:a16="http://schemas.microsoft.com/office/drawing/2014/main" id="{A3E16D18-4DB3-7E41-A07C-3EC0AE115E3C}"/>
                </a:ext>
              </a:extLst>
            </p:cNvPr>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85" name="Rectangle 41">
              <a:extLst>
                <a:ext uri="{FF2B5EF4-FFF2-40B4-BE49-F238E27FC236}">
                  <a16:creationId xmlns:a16="http://schemas.microsoft.com/office/drawing/2014/main" id="{59723EC7-1FD1-6C46-B37B-4B1246DF3C78}"/>
                </a:ext>
              </a:extLst>
            </p:cNvPr>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86" name="Rectangle 42">
              <a:extLst>
                <a:ext uri="{FF2B5EF4-FFF2-40B4-BE49-F238E27FC236}">
                  <a16:creationId xmlns:a16="http://schemas.microsoft.com/office/drawing/2014/main" id="{30C0B47E-96C5-E247-8FE6-BB41919E42AF}"/>
                </a:ext>
              </a:extLst>
            </p:cNvPr>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87" name="Rectangle 43">
              <a:extLst>
                <a:ext uri="{FF2B5EF4-FFF2-40B4-BE49-F238E27FC236}">
                  <a16:creationId xmlns:a16="http://schemas.microsoft.com/office/drawing/2014/main" id="{F3127D75-58B1-FB4F-81BD-FDCD61FE1729}"/>
                </a:ext>
              </a:extLst>
            </p:cNvPr>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8388" name="Line 44">
              <a:extLst>
                <a:ext uri="{FF2B5EF4-FFF2-40B4-BE49-F238E27FC236}">
                  <a16:creationId xmlns:a16="http://schemas.microsoft.com/office/drawing/2014/main" id="{43F46F97-F12B-4B45-BF7E-44150A53FEC9}"/>
                </a:ext>
              </a:extLst>
            </p:cNvPr>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58380" name="Text Box 45">
            <a:extLst>
              <a:ext uri="{FF2B5EF4-FFF2-40B4-BE49-F238E27FC236}">
                <a16:creationId xmlns:a16="http://schemas.microsoft.com/office/drawing/2014/main" id="{569658FD-C640-7B41-89CB-20BCCB2A9D22}"/>
              </a:ext>
            </a:extLst>
          </p:cNvPr>
          <p:cNvSpPr txBox="1">
            <a:spLocks noChangeArrowheads="1"/>
          </p:cNvSpPr>
          <p:nvPr/>
        </p:nvSpPr>
        <p:spPr bwMode="auto">
          <a:xfrm>
            <a:off x="7046913" y="3678238"/>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t>bus</a:t>
            </a:r>
          </a:p>
        </p:txBody>
      </p:sp>
      <p:sp>
        <p:nvSpPr>
          <p:cNvPr id="58381" name="Freeform 46">
            <a:extLst>
              <a:ext uri="{FF2B5EF4-FFF2-40B4-BE49-F238E27FC236}">
                <a16:creationId xmlns:a16="http://schemas.microsoft.com/office/drawing/2014/main" id="{450FECF3-A256-E64C-9B2E-701565A6FFE7}"/>
              </a:ext>
            </a:extLst>
          </p:cNvPr>
          <p:cNvSpPr>
            <a:spLocks/>
          </p:cNvSpPr>
          <p:nvPr/>
        </p:nvSpPr>
        <p:spPr bwMode="auto">
          <a:xfrm>
            <a:off x="6402388" y="2463800"/>
            <a:ext cx="2006600" cy="40005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Lst>
            <a:ahLst/>
            <a:cxnLst>
              <a:cxn ang="T8">
                <a:pos x="T0" y="T1"/>
              </a:cxn>
              <a:cxn ang="T9">
                <a:pos x="T2" y="T3"/>
              </a:cxn>
              <a:cxn ang="T10">
                <a:pos x="T4" y="T5"/>
              </a:cxn>
              <a:cxn ang="T11">
                <a:pos x="T6" y="T7"/>
              </a:cxn>
            </a:cxnLst>
            <a:rect l="T12" t="T13" r="T14" b="T15"/>
            <a:pathLst>
              <a:path w="1264" h="252">
                <a:moveTo>
                  <a:pt x="0" y="2"/>
                </a:moveTo>
                <a:lnTo>
                  <a:pt x="622" y="0"/>
                </a:lnTo>
                <a:lnTo>
                  <a:pt x="616" y="246"/>
                </a:lnTo>
                <a:lnTo>
                  <a:pt x="1264" y="252"/>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58382" name="Slide Number Placeholder 5">
            <a:extLst>
              <a:ext uri="{FF2B5EF4-FFF2-40B4-BE49-F238E27FC236}">
                <a16:creationId xmlns:a16="http://schemas.microsoft.com/office/drawing/2014/main" id="{FEAFBD94-F52F-B747-BF9F-10E82287420C}"/>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9F7A66F9-8514-894D-BA12-69A9F1655D4A}" type="slidenum">
              <a:rPr lang="en-US" altLang="en-US">
                <a:latin typeface="Tahoma" panose="020B0604030504040204" pitchFamily="34" charset="0"/>
              </a:rPr>
              <a:pPr/>
              <a:t>32</a:t>
            </a:fld>
            <a:endParaRPr lang="en-US" altLang="en-US">
              <a:latin typeface="Tahoma" panose="020B0604030504040204" pitchFamily="34" charset="0"/>
            </a:endParaRPr>
          </a:p>
        </p:txBody>
      </p:sp>
      <p:sp>
        <p:nvSpPr>
          <p:cNvPr id="58383" name="Footer Placeholder 2">
            <a:extLst>
              <a:ext uri="{FF2B5EF4-FFF2-40B4-BE49-F238E27FC236}">
                <a16:creationId xmlns:a16="http://schemas.microsoft.com/office/drawing/2014/main" id="{DFB490E5-4A5B-344E-91D0-19B216048A51}"/>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pic>
        <p:nvPicPr>
          <p:cNvPr id="46" name="Picture 45" descr="Screen Shot 2016-04-08 at 11.41.01 AM.png">
            <a:extLst>
              <a:ext uri="{FF2B5EF4-FFF2-40B4-BE49-F238E27FC236}">
                <a16:creationId xmlns:a16="http://schemas.microsoft.com/office/drawing/2014/main" id="{AEF6EE47-969A-0B4B-A5E0-4497B4A9605D}"/>
              </a:ext>
            </a:extLst>
          </p:cNvPr>
          <p:cNvPicPr>
            <a:picLocks noChangeAspect="1"/>
          </p:cNvPicPr>
          <p:nvPr/>
        </p:nvPicPr>
        <p:blipFill rotWithShape="1">
          <a:blip r:embed="rId3">
            <a:extLst>
              <a:ext uri="{28A0092B-C50C-407E-A947-70E740481C1C}">
                <a14:useLocalDpi xmlns:a14="http://schemas.microsoft.com/office/drawing/2010/main" val="0"/>
              </a:ext>
            </a:extLst>
          </a:blip>
          <a:srcRect t="11212"/>
          <a:stretch/>
        </p:blipFill>
        <p:spPr>
          <a:xfrm>
            <a:off x="854287" y="4639583"/>
            <a:ext cx="4247414" cy="1835830"/>
          </a:xfrm>
          <a:prstGeom prst="rect">
            <a:avLst/>
          </a:prstGeom>
        </p:spPr>
      </p:pic>
      <p:pic>
        <p:nvPicPr>
          <p:cNvPr id="47" name="Picture 46" descr="Screen Shot 2016-04-08 at 11.42.24 AM.png">
            <a:extLst>
              <a:ext uri="{FF2B5EF4-FFF2-40B4-BE49-F238E27FC236}">
                <a16:creationId xmlns:a16="http://schemas.microsoft.com/office/drawing/2014/main" id="{48289413-018A-9F46-ACD0-5002F7D669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7624" y="4833937"/>
            <a:ext cx="3414889" cy="563111"/>
          </a:xfrm>
          <a:prstGeom prst="rect">
            <a:avLst/>
          </a:prstGeom>
          <a:effectLst>
            <a:outerShdw blurRad="50800" dist="139700" dir="2700000" algn="tl" rotWithShape="0">
              <a:srgbClr val="000000">
                <a:alpha val="43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4-08 at 11.41.01 AM.png"/>
          <p:cNvPicPr>
            <a:picLocks noChangeAspect="1"/>
          </p:cNvPicPr>
          <p:nvPr/>
        </p:nvPicPr>
        <p:blipFill rotWithShape="1">
          <a:blip r:embed="rId2">
            <a:extLst>
              <a:ext uri="{28A0092B-C50C-407E-A947-70E740481C1C}">
                <a14:useLocalDpi xmlns:a14="http://schemas.microsoft.com/office/drawing/2010/main" val="0"/>
              </a:ext>
            </a:extLst>
          </a:blip>
          <a:srcRect t="11212"/>
          <a:stretch/>
        </p:blipFill>
        <p:spPr>
          <a:xfrm>
            <a:off x="1443032" y="2428570"/>
            <a:ext cx="5715000" cy="2470155"/>
          </a:xfrm>
          <a:prstGeom prst="rect">
            <a:avLst/>
          </a:prstGeom>
        </p:spPr>
      </p:pic>
      <p:sp>
        <p:nvSpPr>
          <p:cNvPr id="25603" name="Slide Number Placeholder 5"/>
          <p:cNvSpPr>
            <a:spLocks noGrp="1"/>
          </p:cNvSpPr>
          <p:nvPr>
            <p:ph type="sldNum" sz="quarter" idx="12"/>
          </p:nvPr>
        </p:nvSpPr>
        <p:spPr>
          <a:xfrm>
            <a:off x="7723271" y="6472237"/>
            <a:ext cx="676275" cy="27622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dirty="0">
                <a:latin typeface="Tahoma" pitchFamily="34" charset="0"/>
              </a:rPr>
              <a:t>4-</a:t>
            </a:r>
            <a:fld id="{C47BA17A-00DE-4707-91F5-A0B86EB95496}" type="slidenum">
              <a:rPr lang="en-US" altLang="en-US" smtClean="0">
                <a:latin typeface="Tahoma" pitchFamily="34" charset="0"/>
              </a:rPr>
              <a:pPr/>
              <a:t>33</a:t>
            </a:fld>
            <a:endParaRPr lang="en-US" altLang="en-US" dirty="0">
              <a:latin typeface="Tahoma" pitchFamily="34" charset="0"/>
            </a:endParaRPr>
          </a:p>
        </p:txBody>
      </p:sp>
      <p:pic>
        <p:nvPicPr>
          <p:cNvPr id="11" name="Picture 10" descr="Screen Shot 2016-04-08 at 11.42.24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8094" y="5457315"/>
            <a:ext cx="3414889" cy="563111"/>
          </a:xfrm>
          <a:prstGeom prst="rect">
            <a:avLst/>
          </a:prstGeom>
          <a:effectLst>
            <a:outerShdw blurRad="50800" dist="139700" dir="2700000" algn="tl" rotWithShape="0">
              <a:srgbClr val="000000">
                <a:alpha val="43000"/>
              </a:srgbClr>
            </a:outerShdw>
          </a:effectLst>
        </p:spPr>
      </p:pic>
      <p:sp>
        <p:nvSpPr>
          <p:cNvPr id="13" name="object 3">
            <a:extLst>
              <a:ext uri="{FF2B5EF4-FFF2-40B4-BE49-F238E27FC236}">
                <a16:creationId xmlns:a16="http://schemas.microsoft.com/office/drawing/2014/main" id="{0C9B7CB3-82CA-C94D-BA37-73E6E9E3117E}"/>
              </a:ext>
            </a:extLst>
          </p:cNvPr>
          <p:cNvSpPr txBox="1"/>
          <p:nvPr/>
        </p:nvSpPr>
        <p:spPr>
          <a:xfrm>
            <a:off x="391510" y="2136228"/>
            <a:ext cx="1332186" cy="591829"/>
          </a:xfrm>
          <a:prstGeom prst="rect">
            <a:avLst/>
          </a:prstGeom>
          <a:solidFill>
            <a:srgbClr val="FFC000"/>
          </a:solidFill>
        </p:spPr>
        <p:txBody>
          <a:bodyPr vert="horz" wrap="square" lIns="0" tIns="37465" rIns="0" bIns="0" rtlCol="0">
            <a:spAutoFit/>
          </a:bodyPr>
          <a:lstStyle/>
          <a:p>
            <a:pPr marL="90805" marR="217170">
              <a:lnSpc>
                <a:spcPct val="100000"/>
              </a:lnSpc>
              <a:spcBef>
                <a:spcPts val="295"/>
              </a:spcBef>
            </a:pPr>
            <a:r>
              <a:rPr lang="en-US" sz="1800" spc="-5" dirty="0">
                <a:latin typeface="Georgia"/>
                <a:cs typeface="Georgia"/>
              </a:rPr>
              <a:t>Datagram</a:t>
            </a:r>
            <a:r>
              <a:rPr sz="1800" spc="-5" dirty="0">
                <a:latin typeface="Georgia"/>
                <a:cs typeface="Georgia"/>
              </a:rPr>
              <a:t>  </a:t>
            </a:r>
            <a:r>
              <a:rPr sz="1800" dirty="0">
                <a:latin typeface="Georgia"/>
                <a:cs typeface="Georgia"/>
              </a:rPr>
              <a:t>ar</a:t>
            </a:r>
            <a:r>
              <a:rPr sz="1800" spc="-10" dirty="0">
                <a:latin typeface="Georgia"/>
                <a:cs typeface="Georgia"/>
              </a:rPr>
              <a:t>r</a:t>
            </a:r>
            <a:r>
              <a:rPr sz="1800" dirty="0">
                <a:latin typeface="Georgia"/>
                <a:cs typeface="Georgia"/>
              </a:rPr>
              <a:t>i</a:t>
            </a:r>
            <a:r>
              <a:rPr sz="1800" spc="-10" dirty="0">
                <a:latin typeface="Georgia"/>
                <a:cs typeface="Georgia"/>
              </a:rPr>
              <a:t>v</a:t>
            </a:r>
            <a:r>
              <a:rPr sz="1800" dirty="0">
                <a:latin typeface="Georgia"/>
                <a:cs typeface="Georgia"/>
              </a:rPr>
              <a:t>es</a:t>
            </a:r>
            <a:endParaRPr sz="1800">
              <a:latin typeface="Georgia"/>
              <a:cs typeface="Georgia"/>
            </a:endParaRPr>
          </a:p>
        </p:txBody>
      </p:sp>
      <p:sp>
        <p:nvSpPr>
          <p:cNvPr id="14" name="object 5">
            <a:extLst>
              <a:ext uri="{FF2B5EF4-FFF2-40B4-BE49-F238E27FC236}">
                <a16:creationId xmlns:a16="http://schemas.microsoft.com/office/drawing/2014/main" id="{94525B99-6159-D24A-A1DF-0EB2E3770BAB}"/>
              </a:ext>
            </a:extLst>
          </p:cNvPr>
          <p:cNvSpPr txBox="1"/>
          <p:nvPr/>
        </p:nvSpPr>
        <p:spPr>
          <a:xfrm>
            <a:off x="2007477" y="3158359"/>
            <a:ext cx="1513840" cy="869469"/>
          </a:xfrm>
          <a:prstGeom prst="rect">
            <a:avLst/>
          </a:prstGeom>
          <a:solidFill>
            <a:srgbClr val="FFC000"/>
          </a:solidFill>
        </p:spPr>
        <p:txBody>
          <a:bodyPr vert="horz" wrap="square" lIns="0" tIns="38100" rIns="0" bIns="0" rtlCol="0">
            <a:spAutoFit/>
          </a:bodyPr>
          <a:lstStyle/>
          <a:p>
            <a:pPr marL="92075" marR="223520">
              <a:lnSpc>
                <a:spcPct val="100000"/>
              </a:lnSpc>
              <a:spcBef>
                <a:spcPts val="300"/>
              </a:spcBef>
            </a:pPr>
            <a:r>
              <a:rPr lang="en-US" sz="1800" spc="-5" dirty="0">
                <a:latin typeface="Georgia"/>
                <a:cs typeface="Georgia"/>
              </a:rPr>
              <a:t>Datagram</a:t>
            </a:r>
            <a:r>
              <a:rPr sz="1800" spc="-5" dirty="0">
                <a:latin typeface="Georgia"/>
                <a:cs typeface="Georgia"/>
              </a:rPr>
              <a:t> gets  switch</a:t>
            </a:r>
            <a:r>
              <a:rPr sz="1800" spc="-65" dirty="0">
                <a:latin typeface="Georgia"/>
                <a:cs typeface="Georgia"/>
              </a:rPr>
              <a:t> </a:t>
            </a:r>
            <a:r>
              <a:rPr sz="1800" spc="-5" dirty="0">
                <a:latin typeface="Georgia"/>
                <a:cs typeface="Georgia"/>
              </a:rPr>
              <a:t>label</a:t>
            </a:r>
            <a:endParaRPr sz="1800">
              <a:latin typeface="Georgia"/>
              <a:cs typeface="Georgia"/>
            </a:endParaRPr>
          </a:p>
        </p:txBody>
      </p:sp>
      <p:sp>
        <p:nvSpPr>
          <p:cNvPr id="15" name="object 7">
            <a:extLst>
              <a:ext uri="{FF2B5EF4-FFF2-40B4-BE49-F238E27FC236}">
                <a16:creationId xmlns:a16="http://schemas.microsoft.com/office/drawing/2014/main" id="{6D145BEF-B10A-274C-973B-38204429BEAF}"/>
              </a:ext>
            </a:extLst>
          </p:cNvPr>
          <p:cNvSpPr txBox="1"/>
          <p:nvPr/>
        </p:nvSpPr>
        <p:spPr>
          <a:xfrm>
            <a:off x="3557665" y="1601689"/>
            <a:ext cx="1329646" cy="764312"/>
          </a:xfrm>
          <a:prstGeom prst="rect">
            <a:avLst/>
          </a:prstGeom>
          <a:solidFill>
            <a:srgbClr val="FFC000"/>
          </a:solidFill>
        </p:spPr>
        <p:txBody>
          <a:bodyPr vert="horz" wrap="square" lIns="0" tIns="0" rIns="0" bIns="0" rtlCol="0">
            <a:spAutoFit/>
          </a:bodyPr>
          <a:lstStyle/>
          <a:p>
            <a:pPr marL="92075">
              <a:lnSpc>
                <a:spcPts val="1910"/>
              </a:lnSpc>
            </a:pPr>
            <a:r>
              <a:rPr lang="en-US" sz="1800" spc="-5" dirty="0">
                <a:latin typeface="Georgia"/>
                <a:cs typeface="Georgia"/>
              </a:rPr>
              <a:t>Datagram</a:t>
            </a:r>
            <a:r>
              <a:rPr sz="1800" spc="-15" dirty="0">
                <a:latin typeface="Georgia"/>
                <a:cs typeface="Georgia"/>
              </a:rPr>
              <a:t> </a:t>
            </a:r>
            <a:r>
              <a:rPr sz="1800" spc="-5" dirty="0">
                <a:latin typeface="Georgia"/>
                <a:cs typeface="Georgia"/>
              </a:rPr>
              <a:t>gets</a:t>
            </a:r>
            <a:endParaRPr sz="1800">
              <a:latin typeface="Georgia"/>
              <a:cs typeface="Georgia"/>
            </a:endParaRPr>
          </a:p>
          <a:p>
            <a:pPr marL="92075">
              <a:lnSpc>
                <a:spcPct val="100000"/>
              </a:lnSpc>
            </a:pPr>
            <a:r>
              <a:rPr sz="1800" spc="-5" dirty="0">
                <a:latin typeface="Georgia"/>
                <a:cs typeface="Georgia"/>
              </a:rPr>
              <a:t>on</a:t>
            </a:r>
            <a:r>
              <a:rPr sz="1800" spc="-10" dirty="0">
                <a:latin typeface="Georgia"/>
                <a:cs typeface="Georgia"/>
              </a:rPr>
              <a:t> </a:t>
            </a:r>
            <a:r>
              <a:rPr sz="1800" spc="-5" dirty="0">
                <a:latin typeface="Georgia"/>
                <a:cs typeface="Georgia"/>
              </a:rPr>
              <a:t>bus</a:t>
            </a:r>
            <a:endParaRPr sz="1800">
              <a:latin typeface="Georgia"/>
              <a:cs typeface="Georgia"/>
            </a:endParaRPr>
          </a:p>
        </p:txBody>
      </p:sp>
      <p:sp>
        <p:nvSpPr>
          <p:cNvPr id="16" name="object 8">
            <a:extLst>
              <a:ext uri="{FF2B5EF4-FFF2-40B4-BE49-F238E27FC236}">
                <a16:creationId xmlns:a16="http://schemas.microsoft.com/office/drawing/2014/main" id="{640BC77A-F031-0B46-9981-306B328B8EBD}"/>
              </a:ext>
            </a:extLst>
          </p:cNvPr>
          <p:cNvSpPr txBox="1"/>
          <p:nvPr/>
        </p:nvSpPr>
        <p:spPr>
          <a:xfrm>
            <a:off x="4603531" y="3993931"/>
            <a:ext cx="2735580" cy="923925"/>
          </a:xfrm>
          <a:prstGeom prst="rect">
            <a:avLst/>
          </a:prstGeom>
          <a:solidFill>
            <a:srgbClr val="FFC000"/>
          </a:solidFill>
        </p:spPr>
        <p:txBody>
          <a:bodyPr vert="horz" wrap="square" lIns="0" tIns="38735" rIns="0" bIns="0" rtlCol="0">
            <a:spAutoFit/>
          </a:bodyPr>
          <a:lstStyle/>
          <a:p>
            <a:pPr marL="92075" marR="273050">
              <a:lnSpc>
                <a:spcPct val="100000"/>
              </a:lnSpc>
              <a:spcBef>
                <a:spcPts val="305"/>
              </a:spcBef>
            </a:pPr>
            <a:r>
              <a:rPr sz="1800" dirty="0">
                <a:latin typeface="Georgia"/>
                <a:cs typeface="Georgia"/>
              </a:rPr>
              <a:t>The </a:t>
            </a:r>
            <a:r>
              <a:rPr sz="1800" spc="-5" dirty="0">
                <a:latin typeface="Georgia"/>
                <a:cs typeface="Georgia"/>
              </a:rPr>
              <a:t>correct output port  get </a:t>
            </a:r>
            <a:r>
              <a:rPr sz="1800" dirty="0">
                <a:latin typeface="Georgia"/>
                <a:cs typeface="Georgia"/>
              </a:rPr>
              <a:t>it </a:t>
            </a:r>
            <a:r>
              <a:rPr sz="1800" dirty="0">
                <a:latin typeface="Wingdings"/>
                <a:cs typeface="Wingdings"/>
              </a:rPr>
              <a:t> </a:t>
            </a:r>
            <a:r>
              <a:rPr sz="1800" spc="-5" dirty="0">
                <a:latin typeface="Georgia"/>
                <a:cs typeface="Georgia"/>
              </a:rPr>
              <a:t>strip label </a:t>
            </a:r>
            <a:r>
              <a:rPr sz="1800" dirty="0">
                <a:latin typeface="Wingdings"/>
                <a:cs typeface="Wingdings"/>
              </a:rPr>
              <a:t>  </a:t>
            </a:r>
            <a:r>
              <a:rPr sz="1800" spc="-5" dirty="0">
                <a:latin typeface="Georgia"/>
                <a:cs typeface="Georgia"/>
              </a:rPr>
              <a:t>send on </a:t>
            </a:r>
            <a:r>
              <a:rPr sz="1800" dirty="0">
                <a:latin typeface="Georgia"/>
                <a:cs typeface="Georgia"/>
              </a:rPr>
              <a:t>its</a:t>
            </a:r>
            <a:r>
              <a:rPr sz="1800" spc="-10" dirty="0">
                <a:latin typeface="Georgia"/>
                <a:cs typeface="Georgia"/>
              </a:rPr>
              <a:t> </a:t>
            </a:r>
            <a:r>
              <a:rPr sz="1800" dirty="0">
                <a:latin typeface="Georgia"/>
                <a:cs typeface="Georgia"/>
              </a:rPr>
              <a:t>ways</a:t>
            </a:r>
            <a:endParaRPr sz="1800">
              <a:latin typeface="Georgia"/>
              <a:cs typeface="Georgia"/>
            </a:endParaRPr>
          </a:p>
        </p:txBody>
      </p:sp>
      <p:sp>
        <p:nvSpPr>
          <p:cNvPr id="17" name="Rectangle 6">
            <a:extLst>
              <a:ext uri="{FF2B5EF4-FFF2-40B4-BE49-F238E27FC236}">
                <a16:creationId xmlns:a16="http://schemas.microsoft.com/office/drawing/2014/main" id="{14FBA623-8FF8-4E4A-9C52-0D456E2E16B5}"/>
              </a:ext>
            </a:extLst>
          </p:cNvPr>
          <p:cNvSpPr>
            <a:spLocks noGrp="1" noChangeArrowheads="1"/>
          </p:cNvSpPr>
          <p:nvPr>
            <p:ph type="title"/>
          </p:nvPr>
        </p:nvSpPr>
        <p:spPr>
          <a:xfrm>
            <a:off x="449263" y="385763"/>
            <a:ext cx="7772400" cy="685800"/>
          </a:xfrm>
        </p:spPr>
        <p:txBody>
          <a:bodyPr/>
          <a:lstStyle/>
          <a:p>
            <a:r>
              <a:rPr lang="en-US" altLang="en-US" sz="4000" dirty="0">
                <a:ea typeface="ＭＳ Ｐゴシック" panose="020B0600070205080204" pitchFamily="34" charset="-128"/>
              </a:rPr>
              <a:t>Switching via a bus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56170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579531" y="1376485"/>
            <a:ext cx="4857750" cy="3825632"/>
          </a:xfrm>
        </p:spPr>
        <p:txBody>
          <a:bodyPr>
            <a:normAutofit/>
          </a:bodyPr>
          <a:lstStyle/>
          <a:p>
            <a:pPr indent="-215504">
              <a:buFont typeface="Wingdings" charset="2"/>
              <a:buChar char="§"/>
              <a:defRPr/>
            </a:pPr>
            <a:r>
              <a:rPr lang="en-US" sz="2400" dirty="0">
                <a:cs typeface="+mn-cs"/>
              </a:rPr>
              <a:t>overcome bus bandwidth limitations</a:t>
            </a:r>
          </a:p>
          <a:p>
            <a:pPr indent="-215504">
              <a:buFont typeface="Wingdings" charset="2"/>
              <a:buChar char="§"/>
              <a:defRPr/>
            </a:pPr>
            <a:r>
              <a:rPr lang="en-US" sz="2400" dirty="0"/>
              <a:t>Crossbar, Clos networks, other interconnection nets initially developed to connect processors in multiprocessor</a:t>
            </a: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448176" y="447280"/>
            <a:ext cx="7886700" cy="670967"/>
          </a:xfrm>
        </p:spPr>
        <p:txBody>
          <a:bodyPr>
            <a:normAutofit fontScale="90000"/>
          </a:bodyPr>
          <a:lstStyle/>
          <a:p>
            <a:r>
              <a:rPr lang="en-US" sz="3600" dirty="0"/>
              <a:t>Switching via interconnection network</a:t>
            </a:r>
            <a:br>
              <a:rPr lang="en-US" sz="3600" dirty="0"/>
            </a:br>
            <a:r>
              <a:rPr lang="en-US" sz="3600" dirty="0"/>
              <a:t>(crossbar)</a:t>
            </a:r>
          </a:p>
        </p:txBody>
      </p:sp>
      <p:grpSp>
        <p:nvGrpSpPr>
          <p:cNvPr id="58" name="Group 57">
            <a:extLst>
              <a:ext uri="{FF2B5EF4-FFF2-40B4-BE49-F238E27FC236}">
                <a16:creationId xmlns:a16="http://schemas.microsoft.com/office/drawing/2014/main" id="{73BC25E0-E8D5-F049-83E9-F0682565AF56}"/>
              </a:ext>
            </a:extLst>
          </p:cNvPr>
          <p:cNvGrpSpPr/>
          <p:nvPr/>
        </p:nvGrpSpPr>
        <p:grpSpPr>
          <a:xfrm>
            <a:off x="6062869" y="2049947"/>
            <a:ext cx="1739348" cy="1391478"/>
            <a:chOff x="7417077" y="4485654"/>
            <a:chExt cx="2112963" cy="2066925"/>
          </a:xfrm>
        </p:grpSpPr>
        <p:grpSp>
          <p:nvGrpSpPr>
            <p:cNvPr id="60" name="Group 118">
              <a:extLst>
                <a:ext uri="{FF2B5EF4-FFF2-40B4-BE49-F238E27FC236}">
                  <a16:creationId xmlns:a16="http://schemas.microsoft.com/office/drawing/2014/main" id="{BDFB8215-3D56-2D42-B36A-269A0DF68C1A}"/>
                </a:ext>
              </a:extLst>
            </p:cNvPr>
            <p:cNvGrpSpPr>
              <a:grpSpLocks/>
            </p:cNvGrpSpPr>
            <p:nvPr/>
          </p:nvGrpSpPr>
          <p:grpSpPr bwMode="auto">
            <a:xfrm>
              <a:off x="7469465" y="4485654"/>
              <a:ext cx="890587" cy="215900"/>
              <a:chOff x="876" y="2800"/>
              <a:chExt cx="642" cy="175"/>
            </a:xfrm>
          </p:grpSpPr>
          <p:sp>
            <p:nvSpPr>
              <p:cNvPr id="109" name="Rectangle 119">
                <a:extLst>
                  <a:ext uri="{FF2B5EF4-FFF2-40B4-BE49-F238E27FC236}">
                    <a16:creationId xmlns:a16="http://schemas.microsoft.com/office/drawing/2014/main" id="{EF4B7892-A69C-B64C-8510-14C1B274D0CF}"/>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10" name="Rectangle 120">
                <a:extLst>
                  <a:ext uri="{FF2B5EF4-FFF2-40B4-BE49-F238E27FC236}">
                    <a16:creationId xmlns:a16="http://schemas.microsoft.com/office/drawing/2014/main" id="{FE2EA6C0-E7DC-1842-B380-66BD448F4B13}"/>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11" name="Rectangle 121">
                <a:extLst>
                  <a:ext uri="{FF2B5EF4-FFF2-40B4-BE49-F238E27FC236}">
                    <a16:creationId xmlns:a16="http://schemas.microsoft.com/office/drawing/2014/main" id="{7E0CFCBF-4656-A846-BB21-6FD14CE46A43}"/>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12" name="Rectangle 122">
                <a:extLst>
                  <a:ext uri="{FF2B5EF4-FFF2-40B4-BE49-F238E27FC236}">
                    <a16:creationId xmlns:a16="http://schemas.microsoft.com/office/drawing/2014/main" id="{92F45F15-8114-484B-BB16-CBD68760ADAC}"/>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13" name="Line 123">
                <a:extLst>
                  <a:ext uri="{FF2B5EF4-FFF2-40B4-BE49-F238E27FC236}">
                    <a16:creationId xmlns:a16="http://schemas.microsoft.com/office/drawing/2014/main" id="{2D95AFB2-02C8-3D4A-87D0-AE121B456CCA}"/>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nvGrpSpPr>
            <p:cNvPr id="61" name="Group 124">
              <a:extLst>
                <a:ext uri="{FF2B5EF4-FFF2-40B4-BE49-F238E27FC236}">
                  <a16:creationId xmlns:a16="http://schemas.microsoft.com/office/drawing/2014/main" id="{93E2D3F6-A7EF-6542-84C8-21B44C9CEED2}"/>
                </a:ext>
              </a:extLst>
            </p:cNvPr>
            <p:cNvGrpSpPr>
              <a:grpSpLocks/>
            </p:cNvGrpSpPr>
            <p:nvPr/>
          </p:nvGrpSpPr>
          <p:grpSpPr bwMode="auto">
            <a:xfrm>
              <a:off x="7445652" y="4880941"/>
              <a:ext cx="890588" cy="215900"/>
              <a:chOff x="876" y="2800"/>
              <a:chExt cx="642" cy="175"/>
            </a:xfrm>
          </p:grpSpPr>
          <p:sp>
            <p:nvSpPr>
              <p:cNvPr id="104" name="Rectangle 125">
                <a:extLst>
                  <a:ext uri="{FF2B5EF4-FFF2-40B4-BE49-F238E27FC236}">
                    <a16:creationId xmlns:a16="http://schemas.microsoft.com/office/drawing/2014/main" id="{41418EC7-91D0-5544-BCA0-2A1CC3DFC9AC}"/>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05" name="Rectangle 126">
                <a:extLst>
                  <a:ext uri="{FF2B5EF4-FFF2-40B4-BE49-F238E27FC236}">
                    <a16:creationId xmlns:a16="http://schemas.microsoft.com/office/drawing/2014/main" id="{D8E3B2A9-3D82-AD48-A93B-71583BCE3A5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06" name="Rectangle 127">
                <a:extLst>
                  <a:ext uri="{FF2B5EF4-FFF2-40B4-BE49-F238E27FC236}">
                    <a16:creationId xmlns:a16="http://schemas.microsoft.com/office/drawing/2014/main" id="{C0867EE3-2BC5-874A-814C-A4B0DAF9545B}"/>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07" name="Rectangle 128">
                <a:extLst>
                  <a:ext uri="{FF2B5EF4-FFF2-40B4-BE49-F238E27FC236}">
                    <a16:creationId xmlns:a16="http://schemas.microsoft.com/office/drawing/2014/main" id="{75944114-E888-5043-A7C2-56BC12040CC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08" name="Line 129">
                <a:extLst>
                  <a:ext uri="{FF2B5EF4-FFF2-40B4-BE49-F238E27FC236}">
                    <a16:creationId xmlns:a16="http://schemas.microsoft.com/office/drawing/2014/main" id="{26320DB4-394D-0A43-A8A6-C99E5CC0BF82}"/>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nvGrpSpPr>
            <p:cNvPr id="62" name="Group 130">
              <a:extLst>
                <a:ext uri="{FF2B5EF4-FFF2-40B4-BE49-F238E27FC236}">
                  <a16:creationId xmlns:a16="http://schemas.microsoft.com/office/drawing/2014/main" id="{DD7E937A-F922-3B49-B727-489978FC6398}"/>
                </a:ext>
              </a:extLst>
            </p:cNvPr>
            <p:cNvGrpSpPr>
              <a:grpSpLocks/>
            </p:cNvGrpSpPr>
            <p:nvPr/>
          </p:nvGrpSpPr>
          <p:grpSpPr bwMode="auto">
            <a:xfrm>
              <a:off x="7440890" y="5307979"/>
              <a:ext cx="890587" cy="215900"/>
              <a:chOff x="876" y="2800"/>
              <a:chExt cx="642" cy="175"/>
            </a:xfrm>
          </p:grpSpPr>
          <p:sp>
            <p:nvSpPr>
              <p:cNvPr id="99" name="Rectangle 131">
                <a:extLst>
                  <a:ext uri="{FF2B5EF4-FFF2-40B4-BE49-F238E27FC236}">
                    <a16:creationId xmlns:a16="http://schemas.microsoft.com/office/drawing/2014/main" id="{A0A7DC16-AAF0-0543-B181-2D0657967547}"/>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00" name="Rectangle 132">
                <a:extLst>
                  <a:ext uri="{FF2B5EF4-FFF2-40B4-BE49-F238E27FC236}">
                    <a16:creationId xmlns:a16="http://schemas.microsoft.com/office/drawing/2014/main" id="{4888429E-949E-5C46-B8C3-47C65F62A48B}"/>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01" name="Rectangle 133">
                <a:extLst>
                  <a:ext uri="{FF2B5EF4-FFF2-40B4-BE49-F238E27FC236}">
                    <a16:creationId xmlns:a16="http://schemas.microsoft.com/office/drawing/2014/main" id="{B17D677C-7F64-6F43-82D8-FCC88D2C0E27}"/>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02" name="Rectangle 134">
                <a:extLst>
                  <a:ext uri="{FF2B5EF4-FFF2-40B4-BE49-F238E27FC236}">
                    <a16:creationId xmlns:a16="http://schemas.microsoft.com/office/drawing/2014/main" id="{E19D732E-85B6-E34A-9661-7644732E7579}"/>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03" name="Line 135">
                <a:extLst>
                  <a:ext uri="{FF2B5EF4-FFF2-40B4-BE49-F238E27FC236}">
                    <a16:creationId xmlns:a16="http://schemas.microsoft.com/office/drawing/2014/main" id="{9E926801-1D95-B942-965D-EC34909B22F0}"/>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nvGrpSpPr>
            <p:cNvPr id="63" name="Group 154">
              <a:extLst>
                <a:ext uri="{FF2B5EF4-FFF2-40B4-BE49-F238E27FC236}">
                  <a16:creationId xmlns:a16="http://schemas.microsoft.com/office/drawing/2014/main" id="{5D801805-22E9-3342-9E61-4013BDBDBF00}"/>
                </a:ext>
              </a:extLst>
            </p:cNvPr>
            <p:cNvGrpSpPr>
              <a:grpSpLocks/>
            </p:cNvGrpSpPr>
            <p:nvPr/>
          </p:nvGrpSpPr>
          <p:grpSpPr bwMode="auto">
            <a:xfrm rot="5400000">
              <a:off x="8564840" y="5504829"/>
              <a:ext cx="895350" cy="1035050"/>
              <a:chOff x="2954" y="2776"/>
              <a:chExt cx="564" cy="652"/>
            </a:xfrm>
          </p:grpSpPr>
          <p:grpSp>
            <p:nvGrpSpPr>
              <p:cNvPr id="81" name="Group 136">
                <a:extLst>
                  <a:ext uri="{FF2B5EF4-FFF2-40B4-BE49-F238E27FC236}">
                    <a16:creationId xmlns:a16="http://schemas.microsoft.com/office/drawing/2014/main" id="{DC4ACDF3-3A37-974C-9F24-96752CB4F955}"/>
                  </a:ext>
                </a:extLst>
              </p:cNvPr>
              <p:cNvGrpSpPr>
                <a:grpSpLocks/>
              </p:cNvGrpSpPr>
              <p:nvPr/>
            </p:nvGrpSpPr>
            <p:grpSpPr bwMode="auto">
              <a:xfrm>
                <a:off x="2954" y="2776"/>
                <a:ext cx="561" cy="136"/>
                <a:chOff x="455" y="3463"/>
                <a:chExt cx="561" cy="136"/>
              </a:xfrm>
            </p:grpSpPr>
            <p:sp>
              <p:nvSpPr>
                <p:cNvPr id="94" name="Rectangle 137">
                  <a:extLst>
                    <a:ext uri="{FF2B5EF4-FFF2-40B4-BE49-F238E27FC236}">
                      <a16:creationId xmlns:a16="http://schemas.microsoft.com/office/drawing/2014/main" id="{5140BCA1-AB6C-7246-9D38-40A1E491AA5C}"/>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95" name="Rectangle 138">
                  <a:extLst>
                    <a:ext uri="{FF2B5EF4-FFF2-40B4-BE49-F238E27FC236}">
                      <a16:creationId xmlns:a16="http://schemas.microsoft.com/office/drawing/2014/main" id="{C37AD059-391A-BD44-8F54-18B650B064F0}"/>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96" name="Rectangle 139">
                  <a:extLst>
                    <a:ext uri="{FF2B5EF4-FFF2-40B4-BE49-F238E27FC236}">
                      <a16:creationId xmlns:a16="http://schemas.microsoft.com/office/drawing/2014/main" id="{EE27F0FF-5EF9-D843-929A-3953523A9F44}"/>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97" name="Rectangle 140">
                  <a:extLst>
                    <a:ext uri="{FF2B5EF4-FFF2-40B4-BE49-F238E27FC236}">
                      <a16:creationId xmlns:a16="http://schemas.microsoft.com/office/drawing/2014/main" id="{09C2F96D-9977-7F48-B003-05EE8C4173AB}"/>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98" name="Line 141">
                  <a:extLst>
                    <a:ext uri="{FF2B5EF4-FFF2-40B4-BE49-F238E27FC236}">
                      <a16:creationId xmlns:a16="http://schemas.microsoft.com/office/drawing/2014/main" id="{B0A2C267-A8F8-5343-BBA6-24283D0BE14D}"/>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nvGrpSpPr>
              <p:cNvPr id="82" name="Group 142">
                <a:extLst>
                  <a:ext uri="{FF2B5EF4-FFF2-40B4-BE49-F238E27FC236}">
                    <a16:creationId xmlns:a16="http://schemas.microsoft.com/office/drawing/2014/main" id="{73020812-FECA-6246-AAD6-7B05930AC00E}"/>
                  </a:ext>
                </a:extLst>
              </p:cNvPr>
              <p:cNvGrpSpPr>
                <a:grpSpLocks/>
              </p:cNvGrpSpPr>
              <p:nvPr/>
            </p:nvGrpSpPr>
            <p:grpSpPr bwMode="auto">
              <a:xfrm>
                <a:off x="2957" y="3023"/>
                <a:ext cx="561" cy="136"/>
                <a:chOff x="455" y="3463"/>
                <a:chExt cx="561" cy="136"/>
              </a:xfrm>
            </p:grpSpPr>
            <p:sp>
              <p:nvSpPr>
                <p:cNvPr id="89" name="Rectangle 143">
                  <a:extLst>
                    <a:ext uri="{FF2B5EF4-FFF2-40B4-BE49-F238E27FC236}">
                      <a16:creationId xmlns:a16="http://schemas.microsoft.com/office/drawing/2014/main" id="{D6FCD1B7-B959-994C-B29E-A9A5B76E36B9}"/>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90" name="Rectangle 144">
                  <a:extLst>
                    <a:ext uri="{FF2B5EF4-FFF2-40B4-BE49-F238E27FC236}">
                      <a16:creationId xmlns:a16="http://schemas.microsoft.com/office/drawing/2014/main" id="{593F7969-8E89-2D47-BDE5-5210EAEE609D}"/>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91" name="Rectangle 145">
                  <a:extLst>
                    <a:ext uri="{FF2B5EF4-FFF2-40B4-BE49-F238E27FC236}">
                      <a16:creationId xmlns:a16="http://schemas.microsoft.com/office/drawing/2014/main" id="{C1482B84-B84B-7E4B-AF00-6AA2344929CA}"/>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92" name="Rectangle 146">
                  <a:extLst>
                    <a:ext uri="{FF2B5EF4-FFF2-40B4-BE49-F238E27FC236}">
                      <a16:creationId xmlns:a16="http://schemas.microsoft.com/office/drawing/2014/main" id="{73FD5F69-21CF-0346-B2CA-EDA9FF6EFD65}"/>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93" name="Line 147">
                  <a:extLst>
                    <a:ext uri="{FF2B5EF4-FFF2-40B4-BE49-F238E27FC236}">
                      <a16:creationId xmlns:a16="http://schemas.microsoft.com/office/drawing/2014/main" id="{31A2A149-6C13-3640-A322-7E1A5ED0BD0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nvGrpSpPr>
              <p:cNvPr id="83" name="Group 148">
                <a:extLst>
                  <a:ext uri="{FF2B5EF4-FFF2-40B4-BE49-F238E27FC236}">
                    <a16:creationId xmlns:a16="http://schemas.microsoft.com/office/drawing/2014/main" id="{6C1D3A5F-381C-864A-88EB-B040498493AD}"/>
                  </a:ext>
                </a:extLst>
              </p:cNvPr>
              <p:cNvGrpSpPr>
                <a:grpSpLocks/>
              </p:cNvGrpSpPr>
              <p:nvPr/>
            </p:nvGrpSpPr>
            <p:grpSpPr bwMode="auto">
              <a:xfrm>
                <a:off x="2954" y="3292"/>
                <a:ext cx="561" cy="136"/>
                <a:chOff x="455" y="3463"/>
                <a:chExt cx="561" cy="136"/>
              </a:xfrm>
            </p:grpSpPr>
            <p:sp>
              <p:nvSpPr>
                <p:cNvPr id="84" name="Rectangle 149">
                  <a:extLst>
                    <a:ext uri="{FF2B5EF4-FFF2-40B4-BE49-F238E27FC236}">
                      <a16:creationId xmlns:a16="http://schemas.microsoft.com/office/drawing/2014/main" id="{14AD2249-2359-6A4A-A176-4000523777BF}"/>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85" name="Rectangle 150">
                  <a:extLst>
                    <a:ext uri="{FF2B5EF4-FFF2-40B4-BE49-F238E27FC236}">
                      <a16:creationId xmlns:a16="http://schemas.microsoft.com/office/drawing/2014/main" id="{04B515EF-281D-F94C-AED4-8ED9BEAE757A}"/>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86" name="Rectangle 151">
                  <a:extLst>
                    <a:ext uri="{FF2B5EF4-FFF2-40B4-BE49-F238E27FC236}">
                      <a16:creationId xmlns:a16="http://schemas.microsoft.com/office/drawing/2014/main" id="{C272AC2F-2576-1447-A246-09AEE63AFD63}"/>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87" name="Rectangle 152">
                  <a:extLst>
                    <a:ext uri="{FF2B5EF4-FFF2-40B4-BE49-F238E27FC236}">
                      <a16:creationId xmlns:a16="http://schemas.microsoft.com/office/drawing/2014/main" id="{7806C0E0-4DAD-EB43-94FA-6C7BFC6D4335}"/>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88" name="Line 153">
                  <a:extLst>
                    <a:ext uri="{FF2B5EF4-FFF2-40B4-BE49-F238E27FC236}">
                      <a16:creationId xmlns:a16="http://schemas.microsoft.com/office/drawing/2014/main" id="{3BF9883C-66A0-5947-BC28-BF02D827A954}"/>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sp>
          <p:nvSpPr>
            <p:cNvPr id="64" name="Line 155">
              <a:extLst>
                <a:ext uri="{FF2B5EF4-FFF2-40B4-BE49-F238E27FC236}">
                  <a16:creationId xmlns:a16="http://schemas.microsoft.com/office/drawing/2014/main" id="{A0B12453-ABAF-784E-9587-2EDADB3CEE4B}"/>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a:defRPr/>
              </a:pPr>
              <a:endParaRPr lang="en-US" sz="1350">
                <a:solidFill>
                  <a:srgbClr val="000000"/>
                </a:solidFill>
              </a:endParaRPr>
            </a:p>
          </p:txBody>
        </p:sp>
        <p:sp>
          <p:nvSpPr>
            <p:cNvPr id="65" name="Line 156">
              <a:extLst>
                <a:ext uri="{FF2B5EF4-FFF2-40B4-BE49-F238E27FC236}">
                  <a16:creationId xmlns:a16="http://schemas.microsoft.com/office/drawing/2014/main" id="{3BA7B7A3-5901-8B41-AF4B-8AD856BE213F}"/>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a:defRPr/>
              </a:pPr>
              <a:endParaRPr lang="en-US" sz="1350">
                <a:solidFill>
                  <a:srgbClr val="000000"/>
                </a:solidFill>
              </a:endParaRPr>
            </a:p>
          </p:txBody>
        </p:sp>
        <p:sp>
          <p:nvSpPr>
            <p:cNvPr id="66" name="Line 157">
              <a:extLst>
                <a:ext uri="{FF2B5EF4-FFF2-40B4-BE49-F238E27FC236}">
                  <a16:creationId xmlns:a16="http://schemas.microsoft.com/office/drawing/2014/main" id="{F69E1FCD-BBAA-9E43-BED9-EE235364E4F2}"/>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a:defRPr/>
              </a:pPr>
              <a:endParaRPr lang="en-US" sz="1350">
                <a:solidFill>
                  <a:srgbClr val="000000"/>
                </a:solidFill>
              </a:endParaRPr>
            </a:p>
          </p:txBody>
        </p:sp>
        <p:sp>
          <p:nvSpPr>
            <p:cNvPr id="67" name="Line 158">
              <a:extLst>
                <a:ext uri="{FF2B5EF4-FFF2-40B4-BE49-F238E27FC236}">
                  <a16:creationId xmlns:a16="http://schemas.microsoft.com/office/drawing/2014/main" id="{4DEB4277-4967-454A-9807-61DFB43FB239}"/>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a:defRPr/>
              </a:pPr>
              <a:endParaRPr lang="en-US" sz="1350">
                <a:solidFill>
                  <a:srgbClr val="000000"/>
                </a:solidFill>
              </a:endParaRPr>
            </a:p>
          </p:txBody>
        </p:sp>
        <p:sp>
          <p:nvSpPr>
            <p:cNvPr id="68" name="Line 159">
              <a:extLst>
                <a:ext uri="{FF2B5EF4-FFF2-40B4-BE49-F238E27FC236}">
                  <a16:creationId xmlns:a16="http://schemas.microsoft.com/office/drawing/2014/main" id="{32ED3CA0-6B4A-9940-A7FF-2B4B1FD49405}"/>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a:defRPr/>
              </a:pPr>
              <a:endParaRPr lang="en-US" sz="1350">
                <a:solidFill>
                  <a:srgbClr val="000000"/>
                </a:solidFill>
              </a:endParaRPr>
            </a:p>
          </p:txBody>
        </p:sp>
        <p:sp>
          <p:nvSpPr>
            <p:cNvPr id="69" name="Line 160">
              <a:extLst>
                <a:ext uri="{FF2B5EF4-FFF2-40B4-BE49-F238E27FC236}">
                  <a16:creationId xmlns:a16="http://schemas.microsoft.com/office/drawing/2014/main" id="{D6336297-B3DB-A64E-8187-6A52BB96D572}"/>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a:defRPr/>
              </a:pPr>
              <a:endParaRPr lang="en-US" sz="1350">
                <a:solidFill>
                  <a:srgbClr val="000000"/>
                </a:solidFill>
              </a:endParaRPr>
            </a:p>
          </p:txBody>
        </p:sp>
        <p:sp>
          <p:nvSpPr>
            <p:cNvPr id="70" name="Oval 161">
              <a:extLst>
                <a:ext uri="{FF2B5EF4-FFF2-40B4-BE49-F238E27FC236}">
                  <a16:creationId xmlns:a16="http://schemas.microsoft.com/office/drawing/2014/main" id="{14FD0237-6962-7D4D-A26A-99F549DF7C9D}"/>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71" name="Oval 162">
              <a:extLst>
                <a:ext uri="{FF2B5EF4-FFF2-40B4-BE49-F238E27FC236}">
                  <a16:creationId xmlns:a16="http://schemas.microsoft.com/office/drawing/2014/main" id="{2384493A-323F-B14C-9F98-CA62184022FA}"/>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72" name="Oval 163">
              <a:extLst>
                <a:ext uri="{FF2B5EF4-FFF2-40B4-BE49-F238E27FC236}">
                  <a16:creationId xmlns:a16="http://schemas.microsoft.com/office/drawing/2014/main" id="{32E7692D-5C12-B442-80FF-C7B249514970}"/>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73" name="Oval 164">
              <a:extLst>
                <a:ext uri="{FF2B5EF4-FFF2-40B4-BE49-F238E27FC236}">
                  <a16:creationId xmlns:a16="http://schemas.microsoft.com/office/drawing/2014/main" id="{0DDA2FFE-E5BA-0C4F-8A0B-F1CA4A5E388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74" name="Oval 165">
              <a:extLst>
                <a:ext uri="{FF2B5EF4-FFF2-40B4-BE49-F238E27FC236}">
                  <a16:creationId xmlns:a16="http://schemas.microsoft.com/office/drawing/2014/main" id="{9CF681B8-BF04-5441-BEE3-A16AEEDE8CC8}"/>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75" name="Oval 166">
              <a:extLst>
                <a:ext uri="{FF2B5EF4-FFF2-40B4-BE49-F238E27FC236}">
                  <a16:creationId xmlns:a16="http://schemas.microsoft.com/office/drawing/2014/main" id="{F756BE03-9919-5149-B8C1-27AA8537629D}"/>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76" name="Oval 167">
              <a:extLst>
                <a:ext uri="{FF2B5EF4-FFF2-40B4-BE49-F238E27FC236}">
                  <a16:creationId xmlns:a16="http://schemas.microsoft.com/office/drawing/2014/main" id="{ACBB363A-E96A-164C-982D-673D5C98F32A}"/>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77" name="Oval 168">
              <a:extLst>
                <a:ext uri="{FF2B5EF4-FFF2-40B4-BE49-F238E27FC236}">
                  <a16:creationId xmlns:a16="http://schemas.microsoft.com/office/drawing/2014/main" id="{6B3D6E0C-831F-1C4C-A193-5B2FD8811328}"/>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78" name="Oval 169">
              <a:extLst>
                <a:ext uri="{FF2B5EF4-FFF2-40B4-BE49-F238E27FC236}">
                  <a16:creationId xmlns:a16="http://schemas.microsoft.com/office/drawing/2014/main" id="{9A7D3398-0377-0B4F-823A-F463BA7F4884}"/>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80" name="Freeform 173">
              <a:extLst>
                <a:ext uri="{FF2B5EF4-FFF2-40B4-BE49-F238E27FC236}">
                  <a16:creationId xmlns:a16="http://schemas.microsoft.com/office/drawing/2014/main" id="{030444B6-CE0A-BD47-AC76-37A98FE88F23}"/>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a:defRPr/>
              </a:pPr>
              <a:endParaRPr lang="en-US" sz="1350" kern="0">
                <a:solidFill>
                  <a:srgbClr val="000000"/>
                </a:solidFill>
              </a:endParaRPr>
            </a:p>
          </p:txBody>
        </p:sp>
      </p:grpSp>
      <p:grpSp>
        <p:nvGrpSpPr>
          <p:cNvPr id="4" name="Group 3">
            <a:extLst>
              <a:ext uri="{FF2B5EF4-FFF2-40B4-BE49-F238E27FC236}">
                <a16:creationId xmlns:a16="http://schemas.microsoft.com/office/drawing/2014/main" id="{9D4BCC10-D7E9-614B-926D-56BBE41D093E}"/>
              </a:ext>
            </a:extLst>
          </p:cNvPr>
          <p:cNvGrpSpPr/>
          <p:nvPr/>
        </p:nvGrpSpPr>
        <p:grpSpPr>
          <a:xfrm>
            <a:off x="6047008" y="3872223"/>
            <a:ext cx="2484911" cy="1924624"/>
            <a:chOff x="8062678" y="4019964"/>
            <a:chExt cx="3313215" cy="2566165"/>
          </a:xfrm>
        </p:grpSpPr>
        <p:grpSp>
          <p:nvGrpSpPr>
            <p:cNvPr id="239" name="Group 238">
              <a:extLst>
                <a:ext uri="{FF2B5EF4-FFF2-40B4-BE49-F238E27FC236}">
                  <a16:creationId xmlns:a16="http://schemas.microsoft.com/office/drawing/2014/main" id="{F8CD2492-ABC8-0B42-8CF0-E5637A87FB48}"/>
                </a:ext>
              </a:extLst>
            </p:cNvPr>
            <p:cNvGrpSpPr/>
            <p:nvPr/>
          </p:nvGrpSpPr>
          <p:grpSpPr>
            <a:xfrm>
              <a:off x="8169965" y="4019964"/>
              <a:ext cx="2682875" cy="1949450"/>
              <a:chOff x="7772400" y="4086225"/>
              <a:chExt cx="2682875" cy="1949450"/>
            </a:xfrm>
          </p:grpSpPr>
          <p:sp>
            <p:nvSpPr>
              <p:cNvPr id="223" name="Freeform 222">
                <a:extLst>
                  <a:ext uri="{FF2B5EF4-FFF2-40B4-BE49-F238E27FC236}">
                    <a16:creationId xmlns:a16="http://schemas.microsoft.com/office/drawing/2014/main" id="{6D34F9C0-29A9-D84A-A418-F4116A1040B0}"/>
                  </a:ext>
                </a:extLst>
              </p:cNvPr>
              <p:cNvSpPr/>
              <p:nvPr/>
            </p:nvSpPr>
            <p:spPr>
              <a:xfrm>
                <a:off x="7778750" y="4194175"/>
                <a:ext cx="2676525" cy="479425"/>
              </a:xfrm>
              <a:custGeom>
                <a:avLst/>
                <a:gdLst>
                  <a:gd name="connsiteX0" fmla="*/ 0 w 2676525"/>
                  <a:gd name="connsiteY0" fmla="*/ 476250 h 479425"/>
                  <a:gd name="connsiteX1" fmla="*/ 622300 w 2676525"/>
                  <a:gd name="connsiteY1" fmla="*/ 479425 h 479425"/>
                  <a:gd name="connsiteX2" fmla="*/ 1028700 w 2676525"/>
                  <a:gd name="connsiteY2" fmla="*/ 0 h 479425"/>
                  <a:gd name="connsiteX3" fmla="*/ 1644650 w 2676525"/>
                  <a:gd name="connsiteY3" fmla="*/ 0 h 479425"/>
                  <a:gd name="connsiteX4" fmla="*/ 2054225 w 2676525"/>
                  <a:gd name="connsiteY4" fmla="*/ 469900 h 479425"/>
                  <a:gd name="connsiteX5" fmla="*/ 2676525 w 2676525"/>
                  <a:gd name="connsiteY5" fmla="*/ 466725 h 47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6525" h="479425">
                    <a:moveTo>
                      <a:pt x="0" y="476250"/>
                    </a:moveTo>
                    <a:lnTo>
                      <a:pt x="622300" y="479425"/>
                    </a:lnTo>
                    <a:lnTo>
                      <a:pt x="1028700" y="0"/>
                    </a:lnTo>
                    <a:lnTo>
                      <a:pt x="1644650" y="0"/>
                    </a:lnTo>
                    <a:lnTo>
                      <a:pt x="2054225" y="469900"/>
                    </a:lnTo>
                    <a:lnTo>
                      <a:pt x="2676525" y="4667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24" name="Freeform 223">
                <a:extLst>
                  <a:ext uri="{FF2B5EF4-FFF2-40B4-BE49-F238E27FC236}">
                    <a16:creationId xmlns:a16="http://schemas.microsoft.com/office/drawing/2014/main" id="{00F4ED56-6913-1F47-AFAA-EA8139FE3A6A}"/>
                  </a:ext>
                </a:extLst>
              </p:cNvPr>
              <p:cNvSpPr/>
              <p:nvPr/>
            </p:nvSpPr>
            <p:spPr>
              <a:xfrm flipV="1">
                <a:off x="7775575" y="5454650"/>
                <a:ext cx="2676525" cy="479425"/>
              </a:xfrm>
              <a:custGeom>
                <a:avLst/>
                <a:gdLst>
                  <a:gd name="connsiteX0" fmla="*/ 0 w 2676525"/>
                  <a:gd name="connsiteY0" fmla="*/ 476250 h 479425"/>
                  <a:gd name="connsiteX1" fmla="*/ 622300 w 2676525"/>
                  <a:gd name="connsiteY1" fmla="*/ 479425 h 479425"/>
                  <a:gd name="connsiteX2" fmla="*/ 1028700 w 2676525"/>
                  <a:gd name="connsiteY2" fmla="*/ 0 h 479425"/>
                  <a:gd name="connsiteX3" fmla="*/ 1644650 w 2676525"/>
                  <a:gd name="connsiteY3" fmla="*/ 0 h 479425"/>
                  <a:gd name="connsiteX4" fmla="*/ 2054225 w 2676525"/>
                  <a:gd name="connsiteY4" fmla="*/ 469900 h 479425"/>
                  <a:gd name="connsiteX5" fmla="*/ 2676525 w 2676525"/>
                  <a:gd name="connsiteY5" fmla="*/ 466725 h 47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6525" h="479425">
                    <a:moveTo>
                      <a:pt x="0" y="476250"/>
                    </a:moveTo>
                    <a:lnTo>
                      <a:pt x="622300" y="479425"/>
                    </a:lnTo>
                    <a:lnTo>
                      <a:pt x="1028700" y="0"/>
                    </a:lnTo>
                    <a:lnTo>
                      <a:pt x="1644650" y="0"/>
                    </a:lnTo>
                    <a:lnTo>
                      <a:pt x="2054225" y="469900"/>
                    </a:lnTo>
                    <a:lnTo>
                      <a:pt x="2676525" y="4667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25" name="Freeform 224">
                <a:extLst>
                  <a:ext uri="{FF2B5EF4-FFF2-40B4-BE49-F238E27FC236}">
                    <a16:creationId xmlns:a16="http://schemas.microsoft.com/office/drawing/2014/main" id="{D040CEC2-BCD9-CC4A-9B8C-BA4CBF9256D1}"/>
                  </a:ext>
                </a:extLst>
              </p:cNvPr>
              <p:cNvSpPr/>
              <p:nvPr/>
            </p:nvSpPr>
            <p:spPr>
              <a:xfrm>
                <a:off x="7781925" y="4699000"/>
                <a:ext cx="2673350" cy="57150"/>
              </a:xfrm>
              <a:custGeom>
                <a:avLst/>
                <a:gdLst>
                  <a:gd name="connsiteX0" fmla="*/ 0 w 2673350"/>
                  <a:gd name="connsiteY0" fmla="*/ 57150 h 57150"/>
                  <a:gd name="connsiteX1" fmla="*/ 619125 w 2673350"/>
                  <a:gd name="connsiteY1" fmla="*/ 57150 h 57150"/>
                  <a:gd name="connsiteX2" fmla="*/ 1025525 w 2673350"/>
                  <a:gd name="connsiteY2" fmla="*/ 0 h 57150"/>
                  <a:gd name="connsiteX3" fmla="*/ 1638300 w 2673350"/>
                  <a:gd name="connsiteY3" fmla="*/ 3175 h 57150"/>
                  <a:gd name="connsiteX4" fmla="*/ 2047875 w 2673350"/>
                  <a:gd name="connsiteY4" fmla="*/ 47625 h 57150"/>
                  <a:gd name="connsiteX5" fmla="*/ 2673350 w 2673350"/>
                  <a:gd name="connsiteY5" fmla="*/ 4762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3350" h="57150">
                    <a:moveTo>
                      <a:pt x="0" y="57150"/>
                    </a:moveTo>
                    <a:lnTo>
                      <a:pt x="619125" y="57150"/>
                    </a:lnTo>
                    <a:lnTo>
                      <a:pt x="1025525" y="0"/>
                    </a:lnTo>
                    <a:lnTo>
                      <a:pt x="1638300" y="3175"/>
                    </a:lnTo>
                    <a:lnTo>
                      <a:pt x="2047875" y="47625"/>
                    </a:lnTo>
                    <a:lnTo>
                      <a:pt x="2673350" y="476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26" name="Freeform 225">
                <a:extLst>
                  <a:ext uri="{FF2B5EF4-FFF2-40B4-BE49-F238E27FC236}">
                    <a16:creationId xmlns:a16="http://schemas.microsoft.com/office/drawing/2014/main" id="{1A2CDA45-208E-9946-A2AD-822647EFEDFA}"/>
                  </a:ext>
                </a:extLst>
              </p:cNvPr>
              <p:cNvSpPr/>
              <p:nvPr/>
            </p:nvSpPr>
            <p:spPr>
              <a:xfrm flipV="1">
                <a:off x="7772400" y="5381625"/>
                <a:ext cx="2673350" cy="57150"/>
              </a:xfrm>
              <a:custGeom>
                <a:avLst/>
                <a:gdLst>
                  <a:gd name="connsiteX0" fmla="*/ 0 w 2673350"/>
                  <a:gd name="connsiteY0" fmla="*/ 57150 h 57150"/>
                  <a:gd name="connsiteX1" fmla="*/ 619125 w 2673350"/>
                  <a:gd name="connsiteY1" fmla="*/ 57150 h 57150"/>
                  <a:gd name="connsiteX2" fmla="*/ 1025525 w 2673350"/>
                  <a:gd name="connsiteY2" fmla="*/ 0 h 57150"/>
                  <a:gd name="connsiteX3" fmla="*/ 1638300 w 2673350"/>
                  <a:gd name="connsiteY3" fmla="*/ 3175 h 57150"/>
                  <a:gd name="connsiteX4" fmla="*/ 2047875 w 2673350"/>
                  <a:gd name="connsiteY4" fmla="*/ 47625 h 57150"/>
                  <a:gd name="connsiteX5" fmla="*/ 2673350 w 2673350"/>
                  <a:gd name="connsiteY5" fmla="*/ 4762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3350" h="57150">
                    <a:moveTo>
                      <a:pt x="0" y="57150"/>
                    </a:moveTo>
                    <a:lnTo>
                      <a:pt x="619125" y="57150"/>
                    </a:lnTo>
                    <a:lnTo>
                      <a:pt x="1025525" y="0"/>
                    </a:lnTo>
                    <a:lnTo>
                      <a:pt x="1638300" y="3175"/>
                    </a:lnTo>
                    <a:lnTo>
                      <a:pt x="2047875" y="47625"/>
                    </a:lnTo>
                    <a:lnTo>
                      <a:pt x="2673350" y="476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27" name="Freeform 226">
                <a:extLst>
                  <a:ext uri="{FF2B5EF4-FFF2-40B4-BE49-F238E27FC236}">
                    <a16:creationId xmlns:a16="http://schemas.microsoft.com/office/drawing/2014/main" id="{FE54A13B-3416-FF4A-B70D-7C6B5BAF587B}"/>
                  </a:ext>
                </a:extLst>
              </p:cNvPr>
              <p:cNvSpPr/>
              <p:nvPr/>
            </p:nvSpPr>
            <p:spPr>
              <a:xfrm>
                <a:off x="7781925" y="4832350"/>
                <a:ext cx="2670175" cy="431800"/>
              </a:xfrm>
              <a:custGeom>
                <a:avLst/>
                <a:gdLst>
                  <a:gd name="connsiteX0" fmla="*/ 0 w 2670175"/>
                  <a:gd name="connsiteY0" fmla="*/ 9525 h 431800"/>
                  <a:gd name="connsiteX1" fmla="*/ 619125 w 2670175"/>
                  <a:gd name="connsiteY1" fmla="*/ 12700 h 431800"/>
                  <a:gd name="connsiteX2" fmla="*/ 1028700 w 2670175"/>
                  <a:gd name="connsiteY2" fmla="*/ 431800 h 431800"/>
                  <a:gd name="connsiteX3" fmla="*/ 1647825 w 2670175"/>
                  <a:gd name="connsiteY3" fmla="*/ 431800 h 431800"/>
                  <a:gd name="connsiteX4" fmla="*/ 2047875 w 2670175"/>
                  <a:gd name="connsiteY4" fmla="*/ 0 h 431800"/>
                  <a:gd name="connsiteX5" fmla="*/ 2670175 w 2670175"/>
                  <a:gd name="connsiteY5" fmla="*/ 0 h 431800"/>
                  <a:gd name="connsiteX6" fmla="*/ 2670175 w 2670175"/>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175" h="431800">
                    <a:moveTo>
                      <a:pt x="0" y="9525"/>
                    </a:moveTo>
                    <a:lnTo>
                      <a:pt x="619125" y="12700"/>
                    </a:lnTo>
                    <a:lnTo>
                      <a:pt x="1028700" y="431800"/>
                    </a:lnTo>
                    <a:lnTo>
                      <a:pt x="1647825" y="431800"/>
                    </a:lnTo>
                    <a:lnTo>
                      <a:pt x="2047875" y="0"/>
                    </a:lnTo>
                    <a:lnTo>
                      <a:pt x="2670175" y="0"/>
                    </a:lnTo>
                    <a:lnTo>
                      <a:pt x="267017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28" name="Freeform 227">
                <a:extLst>
                  <a:ext uri="{FF2B5EF4-FFF2-40B4-BE49-F238E27FC236}">
                    <a16:creationId xmlns:a16="http://schemas.microsoft.com/office/drawing/2014/main" id="{422C6A4B-723B-9F4A-9C0E-546001CFE567}"/>
                  </a:ext>
                </a:extLst>
              </p:cNvPr>
              <p:cNvSpPr/>
              <p:nvPr/>
            </p:nvSpPr>
            <p:spPr>
              <a:xfrm flipV="1">
                <a:off x="7772400" y="4870450"/>
                <a:ext cx="2670175" cy="431800"/>
              </a:xfrm>
              <a:custGeom>
                <a:avLst/>
                <a:gdLst>
                  <a:gd name="connsiteX0" fmla="*/ 0 w 2670175"/>
                  <a:gd name="connsiteY0" fmla="*/ 9525 h 431800"/>
                  <a:gd name="connsiteX1" fmla="*/ 619125 w 2670175"/>
                  <a:gd name="connsiteY1" fmla="*/ 12700 h 431800"/>
                  <a:gd name="connsiteX2" fmla="*/ 1028700 w 2670175"/>
                  <a:gd name="connsiteY2" fmla="*/ 431800 h 431800"/>
                  <a:gd name="connsiteX3" fmla="*/ 1647825 w 2670175"/>
                  <a:gd name="connsiteY3" fmla="*/ 431800 h 431800"/>
                  <a:gd name="connsiteX4" fmla="*/ 2047875 w 2670175"/>
                  <a:gd name="connsiteY4" fmla="*/ 0 h 431800"/>
                  <a:gd name="connsiteX5" fmla="*/ 2670175 w 2670175"/>
                  <a:gd name="connsiteY5" fmla="*/ 0 h 431800"/>
                  <a:gd name="connsiteX6" fmla="*/ 2670175 w 2670175"/>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175" h="431800">
                    <a:moveTo>
                      <a:pt x="0" y="9525"/>
                    </a:moveTo>
                    <a:lnTo>
                      <a:pt x="619125" y="12700"/>
                    </a:lnTo>
                    <a:lnTo>
                      <a:pt x="1028700" y="431800"/>
                    </a:lnTo>
                    <a:lnTo>
                      <a:pt x="1647825" y="431800"/>
                    </a:lnTo>
                    <a:lnTo>
                      <a:pt x="2047875" y="0"/>
                    </a:lnTo>
                    <a:lnTo>
                      <a:pt x="2670175" y="0"/>
                    </a:lnTo>
                    <a:lnTo>
                      <a:pt x="267017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29" name="Freeform 228">
                <a:extLst>
                  <a:ext uri="{FF2B5EF4-FFF2-40B4-BE49-F238E27FC236}">
                    <a16:creationId xmlns:a16="http://schemas.microsoft.com/office/drawing/2014/main" id="{9E0AF2C1-2620-9E44-97FC-19E9F839C492}"/>
                  </a:ext>
                </a:extLst>
              </p:cNvPr>
              <p:cNvSpPr/>
              <p:nvPr/>
            </p:nvSpPr>
            <p:spPr>
              <a:xfrm>
                <a:off x="7778750" y="4911725"/>
                <a:ext cx="2667000" cy="860425"/>
              </a:xfrm>
              <a:custGeom>
                <a:avLst/>
                <a:gdLst>
                  <a:gd name="connsiteX0" fmla="*/ 0 w 2667000"/>
                  <a:gd name="connsiteY0" fmla="*/ 12700 h 860425"/>
                  <a:gd name="connsiteX1" fmla="*/ 622300 w 2667000"/>
                  <a:gd name="connsiteY1" fmla="*/ 15875 h 860425"/>
                  <a:gd name="connsiteX2" fmla="*/ 1022350 w 2667000"/>
                  <a:gd name="connsiteY2" fmla="*/ 860425 h 860425"/>
                  <a:gd name="connsiteX3" fmla="*/ 1654175 w 2667000"/>
                  <a:gd name="connsiteY3" fmla="*/ 857250 h 860425"/>
                  <a:gd name="connsiteX4" fmla="*/ 2057400 w 2667000"/>
                  <a:gd name="connsiteY4" fmla="*/ 0 h 860425"/>
                  <a:gd name="connsiteX5" fmla="*/ 2667000 w 2667000"/>
                  <a:gd name="connsiteY5" fmla="*/ 317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000" h="860425">
                    <a:moveTo>
                      <a:pt x="0" y="12700"/>
                    </a:moveTo>
                    <a:lnTo>
                      <a:pt x="622300" y="15875"/>
                    </a:lnTo>
                    <a:lnTo>
                      <a:pt x="1022350" y="860425"/>
                    </a:lnTo>
                    <a:lnTo>
                      <a:pt x="1654175" y="857250"/>
                    </a:lnTo>
                    <a:lnTo>
                      <a:pt x="2057400" y="0"/>
                    </a:lnTo>
                    <a:lnTo>
                      <a:pt x="2667000" y="317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0" name="Freeform 229">
                <a:extLst>
                  <a:ext uri="{FF2B5EF4-FFF2-40B4-BE49-F238E27FC236}">
                    <a16:creationId xmlns:a16="http://schemas.microsoft.com/office/drawing/2014/main" id="{88B69035-8F28-C644-A38A-B94888D6C889}"/>
                  </a:ext>
                </a:extLst>
              </p:cNvPr>
              <p:cNvSpPr/>
              <p:nvPr/>
            </p:nvSpPr>
            <p:spPr>
              <a:xfrm flipV="1">
                <a:off x="7772400" y="4362450"/>
                <a:ext cx="2667000" cy="860425"/>
              </a:xfrm>
              <a:custGeom>
                <a:avLst/>
                <a:gdLst>
                  <a:gd name="connsiteX0" fmla="*/ 0 w 2667000"/>
                  <a:gd name="connsiteY0" fmla="*/ 12700 h 860425"/>
                  <a:gd name="connsiteX1" fmla="*/ 622300 w 2667000"/>
                  <a:gd name="connsiteY1" fmla="*/ 15875 h 860425"/>
                  <a:gd name="connsiteX2" fmla="*/ 1022350 w 2667000"/>
                  <a:gd name="connsiteY2" fmla="*/ 860425 h 860425"/>
                  <a:gd name="connsiteX3" fmla="*/ 1654175 w 2667000"/>
                  <a:gd name="connsiteY3" fmla="*/ 857250 h 860425"/>
                  <a:gd name="connsiteX4" fmla="*/ 2057400 w 2667000"/>
                  <a:gd name="connsiteY4" fmla="*/ 0 h 860425"/>
                  <a:gd name="connsiteX5" fmla="*/ 2667000 w 2667000"/>
                  <a:gd name="connsiteY5" fmla="*/ 317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000" h="860425">
                    <a:moveTo>
                      <a:pt x="0" y="12700"/>
                    </a:moveTo>
                    <a:lnTo>
                      <a:pt x="622300" y="15875"/>
                    </a:lnTo>
                    <a:lnTo>
                      <a:pt x="1022350" y="860425"/>
                    </a:lnTo>
                    <a:lnTo>
                      <a:pt x="1654175" y="857250"/>
                    </a:lnTo>
                    <a:lnTo>
                      <a:pt x="2057400" y="0"/>
                    </a:lnTo>
                    <a:lnTo>
                      <a:pt x="2667000" y="317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1" name="Rectangle 230">
                <a:extLst>
                  <a:ext uri="{FF2B5EF4-FFF2-40B4-BE49-F238E27FC236}">
                    <a16:creationId xmlns:a16="http://schemas.microsoft.com/office/drawing/2014/main" id="{96950FD3-B7F2-234A-A4D7-176DF00FF8F2}"/>
                  </a:ext>
                </a:extLst>
              </p:cNvPr>
              <p:cNvSpPr/>
              <p:nvPr/>
            </p:nvSpPr>
            <p:spPr>
              <a:xfrm>
                <a:off x="7896225" y="46069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2" name="Rectangle 231">
                <a:extLst>
                  <a:ext uri="{FF2B5EF4-FFF2-40B4-BE49-F238E27FC236}">
                    <a16:creationId xmlns:a16="http://schemas.microsoft.com/office/drawing/2014/main" id="{668109C4-4800-6341-9708-CD02EDA64090}"/>
                  </a:ext>
                </a:extLst>
              </p:cNvPr>
              <p:cNvSpPr/>
              <p:nvPr/>
            </p:nvSpPr>
            <p:spPr>
              <a:xfrm>
                <a:off x="7893050" y="51530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3" name="Rectangle 232">
                <a:extLst>
                  <a:ext uri="{FF2B5EF4-FFF2-40B4-BE49-F238E27FC236}">
                    <a16:creationId xmlns:a16="http://schemas.microsoft.com/office/drawing/2014/main" id="{87252927-5ABB-4143-A0CF-8F27601B552F}"/>
                  </a:ext>
                </a:extLst>
              </p:cNvPr>
              <p:cNvSpPr/>
              <p:nvPr/>
            </p:nvSpPr>
            <p:spPr>
              <a:xfrm>
                <a:off x="8921750" y="40862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4" name="Rectangle 233">
                <a:extLst>
                  <a:ext uri="{FF2B5EF4-FFF2-40B4-BE49-F238E27FC236}">
                    <a16:creationId xmlns:a16="http://schemas.microsoft.com/office/drawing/2014/main" id="{6F93DF06-F167-394B-81B1-7291F4CA8475}"/>
                  </a:ext>
                </a:extLst>
              </p:cNvPr>
              <p:cNvSpPr/>
              <p:nvPr/>
            </p:nvSpPr>
            <p:spPr>
              <a:xfrm>
                <a:off x="8912225" y="45878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5" name="Rectangle 234">
                <a:extLst>
                  <a:ext uri="{FF2B5EF4-FFF2-40B4-BE49-F238E27FC236}">
                    <a16:creationId xmlns:a16="http://schemas.microsoft.com/office/drawing/2014/main" id="{EF079388-6C88-6547-87EC-8A1B75261342}"/>
                  </a:ext>
                </a:extLst>
              </p:cNvPr>
              <p:cNvSpPr/>
              <p:nvPr/>
            </p:nvSpPr>
            <p:spPr>
              <a:xfrm>
                <a:off x="8915400" y="5143500"/>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6" name="Rectangle 235">
                <a:extLst>
                  <a:ext uri="{FF2B5EF4-FFF2-40B4-BE49-F238E27FC236}">
                    <a16:creationId xmlns:a16="http://schemas.microsoft.com/office/drawing/2014/main" id="{7D123F75-983B-C64D-8690-6077B5C786EC}"/>
                  </a:ext>
                </a:extLst>
              </p:cNvPr>
              <p:cNvSpPr/>
              <p:nvPr/>
            </p:nvSpPr>
            <p:spPr>
              <a:xfrm>
                <a:off x="8921750" y="56546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7" name="Rectangle 236">
                <a:extLst>
                  <a:ext uri="{FF2B5EF4-FFF2-40B4-BE49-F238E27FC236}">
                    <a16:creationId xmlns:a16="http://schemas.microsoft.com/office/drawing/2014/main" id="{7494C5C3-47A7-E742-A563-34C9D94740D8}"/>
                  </a:ext>
                </a:extLst>
              </p:cNvPr>
              <p:cNvSpPr/>
              <p:nvPr/>
            </p:nvSpPr>
            <p:spPr>
              <a:xfrm>
                <a:off x="9944100" y="51530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38" name="Rectangle 237">
                <a:extLst>
                  <a:ext uri="{FF2B5EF4-FFF2-40B4-BE49-F238E27FC236}">
                    <a16:creationId xmlns:a16="http://schemas.microsoft.com/office/drawing/2014/main" id="{00C425D8-A431-8042-B3F0-55970A83C656}"/>
                  </a:ext>
                </a:extLst>
              </p:cNvPr>
              <p:cNvSpPr/>
              <p:nvPr/>
            </p:nvSpPr>
            <p:spPr>
              <a:xfrm>
                <a:off x="9944100" y="45878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sp>
          <p:nvSpPr>
            <p:cNvPr id="240" name="TextBox 239">
              <a:extLst>
                <a:ext uri="{FF2B5EF4-FFF2-40B4-BE49-F238E27FC236}">
                  <a16:creationId xmlns:a16="http://schemas.microsoft.com/office/drawing/2014/main" id="{3D9B9457-EBBB-0C43-82B6-87717EDBAAEA}"/>
                </a:ext>
              </a:extLst>
            </p:cNvPr>
            <p:cNvSpPr txBox="1"/>
            <p:nvPr/>
          </p:nvSpPr>
          <p:spPr>
            <a:xfrm>
              <a:off x="8062678" y="5989982"/>
              <a:ext cx="3313215" cy="596147"/>
            </a:xfrm>
            <a:prstGeom prst="rect">
              <a:avLst/>
            </a:prstGeom>
            <a:noFill/>
          </p:spPr>
          <p:txBody>
            <a:bodyPr wrap="none" rtlCol="0">
              <a:spAutoFit/>
            </a:bodyPr>
            <a:lstStyle/>
            <a:p>
              <a:pPr algn="ctr" defTabSz="685800" eaLnBrk="1" fontAlgn="auto" hangingPunct="1">
                <a:lnSpc>
                  <a:spcPct val="85000"/>
                </a:lnSpc>
                <a:spcBef>
                  <a:spcPts val="0"/>
                </a:spcBef>
                <a:spcAft>
                  <a:spcPts val="0"/>
                </a:spcAft>
                <a:defRPr/>
              </a:pPr>
              <a:r>
                <a:rPr lang="en-US" sz="1350" dirty="0">
                  <a:solidFill>
                    <a:prstClr val="black"/>
                  </a:solidFill>
                  <a:latin typeface="Calibri" panose="020F0502020204030204"/>
                  <a:ea typeface="+mn-ea"/>
                </a:rPr>
                <a:t>8x8 multistage switch </a:t>
              </a:r>
            </a:p>
            <a:p>
              <a:pPr algn="ctr" defTabSz="685800" eaLnBrk="1" fontAlgn="auto" hangingPunct="1">
                <a:lnSpc>
                  <a:spcPct val="85000"/>
                </a:lnSpc>
                <a:spcBef>
                  <a:spcPts val="0"/>
                </a:spcBef>
                <a:spcAft>
                  <a:spcPts val="0"/>
                </a:spcAft>
                <a:defRPr/>
              </a:pPr>
              <a:r>
                <a:rPr lang="en-US" sz="1350" dirty="0">
                  <a:solidFill>
                    <a:prstClr val="black"/>
                  </a:solidFill>
                  <a:latin typeface="Calibri" panose="020F0502020204030204"/>
                  <a:ea typeface="+mn-ea"/>
                </a:rPr>
                <a:t>built from smaller-sized switches</a:t>
              </a:r>
            </a:p>
          </p:txBody>
        </p:sp>
      </p:grpSp>
      <p:sp>
        <p:nvSpPr>
          <p:cNvPr id="241" name="TextBox 240">
            <a:extLst>
              <a:ext uri="{FF2B5EF4-FFF2-40B4-BE49-F238E27FC236}">
                <a16:creationId xmlns:a16="http://schemas.microsoft.com/office/drawing/2014/main" id="{B2396B77-B6FA-2840-BC57-4DD04AF562BD}"/>
              </a:ext>
            </a:extLst>
          </p:cNvPr>
          <p:cNvSpPr txBox="1"/>
          <p:nvPr/>
        </p:nvSpPr>
        <p:spPr>
          <a:xfrm>
            <a:off x="6730466" y="3436456"/>
            <a:ext cx="1068306" cy="270523"/>
          </a:xfrm>
          <a:prstGeom prst="rect">
            <a:avLst/>
          </a:prstGeom>
          <a:noFill/>
        </p:spPr>
        <p:txBody>
          <a:bodyPr wrap="none" rtlCol="0">
            <a:spAutoFit/>
          </a:bodyPr>
          <a:lstStyle/>
          <a:p>
            <a:pPr algn="ctr" defTabSz="685800" eaLnBrk="1" fontAlgn="auto" hangingPunct="1">
              <a:lnSpc>
                <a:spcPct val="85000"/>
              </a:lnSpc>
              <a:spcBef>
                <a:spcPts val="0"/>
              </a:spcBef>
              <a:spcAft>
                <a:spcPts val="0"/>
              </a:spcAft>
              <a:defRPr/>
            </a:pPr>
            <a:r>
              <a:rPr lang="en-US" sz="1350" dirty="0">
                <a:solidFill>
                  <a:prstClr val="black"/>
                </a:solidFill>
                <a:latin typeface="Calibri" panose="020F0502020204030204"/>
                <a:ea typeface="+mn-ea"/>
              </a:rPr>
              <a:t>3x3 crossbar</a:t>
            </a:r>
          </a:p>
        </p:txBody>
      </p:sp>
      <p:sp>
        <p:nvSpPr>
          <p:cNvPr id="79" name="Content Placeholder 2">
            <a:extLst>
              <a:ext uri="{FF2B5EF4-FFF2-40B4-BE49-F238E27FC236}">
                <a16:creationId xmlns:a16="http://schemas.microsoft.com/office/drawing/2014/main" id="{F80CBFA4-4A18-914C-A713-E4A5E18F64DB}"/>
              </a:ext>
            </a:extLst>
          </p:cNvPr>
          <p:cNvSpPr txBox="1">
            <a:spLocks/>
          </p:cNvSpPr>
          <p:nvPr/>
        </p:nvSpPr>
        <p:spPr>
          <a:xfrm>
            <a:off x="591655" y="3289301"/>
            <a:ext cx="4857750" cy="820305"/>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15504" defTabSz="685800" fontAlgn="auto">
              <a:spcBef>
                <a:spcPts val="750"/>
              </a:spcBef>
              <a:spcAft>
                <a:spcPts val="0"/>
              </a:spcAft>
              <a:buFont typeface="Wingdings" charset="2"/>
              <a:buChar char="§"/>
              <a:defRPr/>
            </a:pPr>
            <a:r>
              <a:rPr lang="en-US" sz="2400" dirty="0">
                <a:solidFill>
                  <a:srgbClr val="0000A3"/>
                </a:solidFill>
                <a:latin typeface="Calibri" panose="020F0502020204030204"/>
              </a:rPr>
              <a:t>multistage switch: </a:t>
            </a:r>
            <a:r>
              <a:rPr lang="en-US" sz="2400" i="1" dirty="0" err="1">
                <a:solidFill>
                  <a:prstClr val="black"/>
                </a:solidFill>
                <a:latin typeface="Calibri" panose="020F0502020204030204"/>
              </a:rPr>
              <a:t>nxn</a:t>
            </a:r>
            <a:r>
              <a:rPr lang="en-US" sz="2400" dirty="0">
                <a:solidFill>
                  <a:prstClr val="black"/>
                </a:solidFill>
                <a:latin typeface="Calibri" panose="020F0502020204030204"/>
              </a:rPr>
              <a:t> switch from multiple stages of smaller switches</a:t>
            </a:r>
          </a:p>
        </p:txBody>
      </p:sp>
      <p:sp>
        <p:nvSpPr>
          <p:cNvPr id="114" name="Content Placeholder 2">
            <a:extLst>
              <a:ext uri="{FF2B5EF4-FFF2-40B4-BE49-F238E27FC236}">
                <a16:creationId xmlns:a16="http://schemas.microsoft.com/office/drawing/2014/main" id="{C44BED26-0F25-A14C-A2DE-9DA48DF09A44}"/>
              </a:ext>
            </a:extLst>
          </p:cNvPr>
          <p:cNvSpPr txBox="1">
            <a:spLocks/>
          </p:cNvSpPr>
          <p:nvPr/>
        </p:nvSpPr>
        <p:spPr>
          <a:xfrm>
            <a:off x="581262" y="4068619"/>
            <a:ext cx="4857750" cy="1589232"/>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15504" defTabSz="685800" fontAlgn="auto">
              <a:spcBef>
                <a:spcPts val="750"/>
              </a:spcBef>
              <a:spcAft>
                <a:spcPts val="0"/>
              </a:spcAft>
              <a:buFont typeface="Wingdings" charset="2"/>
              <a:buChar char="§"/>
              <a:defRPr/>
            </a:pPr>
            <a:r>
              <a:rPr lang="en-US" sz="2400" dirty="0">
                <a:solidFill>
                  <a:srgbClr val="0000A3"/>
                </a:solidFill>
                <a:latin typeface="Calibri" panose="020F0502020204030204"/>
              </a:rPr>
              <a:t>exploiting parallelism: </a:t>
            </a:r>
          </a:p>
          <a:p>
            <a:pPr marL="520304" lvl="1" indent="-215504" defTabSz="685800" fontAlgn="auto">
              <a:spcBef>
                <a:spcPts val="375"/>
              </a:spcBef>
              <a:spcAft>
                <a:spcPts val="0"/>
              </a:spcAft>
              <a:defRPr/>
            </a:pPr>
            <a:r>
              <a:rPr lang="en-US" sz="1800" dirty="0">
                <a:solidFill>
                  <a:prstClr val="black"/>
                </a:solidFill>
                <a:latin typeface="Calibri" panose="020F0502020204030204"/>
              </a:rPr>
              <a:t>fragment datagram into fixed length cells on entry</a:t>
            </a:r>
          </a:p>
          <a:p>
            <a:pPr marL="520304" lvl="1" indent="-215504" defTabSz="685800" fontAlgn="auto">
              <a:spcBef>
                <a:spcPts val="375"/>
              </a:spcBef>
              <a:spcAft>
                <a:spcPts val="0"/>
              </a:spcAft>
              <a:defRPr/>
            </a:pPr>
            <a:r>
              <a:rPr lang="en-US" sz="1800" dirty="0">
                <a:solidFill>
                  <a:prstClr val="black"/>
                </a:solidFill>
                <a:latin typeface="Calibri" panose="020F0502020204030204"/>
              </a:rPr>
              <a:t>switch cells through the fabric, reassemble datagram at exit</a:t>
            </a:r>
          </a:p>
          <a:p>
            <a:pPr marL="304800" lvl="1" indent="0" defTabSz="685800" fontAlgn="auto">
              <a:spcBef>
                <a:spcPts val="375"/>
              </a:spcBef>
              <a:spcAft>
                <a:spcPts val="0"/>
              </a:spcAft>
              <a:buNone/>
              <a:defRPr/>
            </a:pPr>
            <a:endParaRPr lang="en-US" sz="1800" dirty="0">
              <a:solidFill>
                <a:prstClr val="black"/>
              </a:solidFill>
              <a:latin typeface="Calibri" panose="020F0502020204030204"/>
            </a:endParaRPr>
          </a:p>
        </p:txBody>
      </p:sp>
      <p:sp>
        <p:nvSpPr>
          <p:cNvPr id="134" name="TextBox 133">
            <a:extLst>
              <a:ext uri="{FF2B5EF4-FFF2-40B4-BE49-F238E27FC236}">
                <a16:creationId xmlns:a16="http://schemas.microsoft.com/office/drawing/2014/main" id="{2ACE683F-C3E3-E542-87F3-26A8CC51B32B}"/>
              </a:ext>
            </a:extLst>
          </p:cNvPr>
          <p:cNvSpPr txBox="1"/>
          <p:nvPr/>
        </p:nvSpPr>
        <p:spPr>
          <a:xfrm>
            <a:off x="6730466" y="3436456"/>
            <a:ext cx="1068306" cy="270523"/>
          </a:xfrm>
          <a:prstGeom prst="rect">
            <a:avLst/>
          </a:prstGeom>
          <a:noFill/>
        </p:spPr>
        <p:txBody>
          <a:bodyPr wrap="none" rtlCol="0">
            <a:spAutoFit/>
          </a:bodyPr>
          <a:lstStyle/>
          <a:p>
            <a:pPr algn="ctr" defTabSz="685800" eaLnBrk="1" fontAlgn="auto" hangingPunct="1">
              <a:lnSpc>
                <a:spcPct val="85000"/>
              </a:lnSpc>
              <a:spcBef>
                <a:spcPts val="0"/>
              </a:spcBef>
              <a:spcAft>
                <a:spcPts val="0"/>
              </a:spcAft>
              <a:defRPr/>
            </a:pPr>
            <a:r>
              <a:rPr lang="en-US" sz="1350" dirty="0">
                <a:solidFill>
                  <a:prstClr val="black"/>
                </a:solidFill>
                <a:latin typeface="Calibri" panose="020F0502020204030204"/>
                <a:ea typeface="+mn-ea"/>
              </a:rPr>
              <a:t>3x3 crossbar</a:t>
            </a:r>
          </a:p>
        </p:txBody>
      </p:sp>
      <p:sp>
        <p:nvSpPr>
          <p:cNvPr id="135" name="Rectangle 46">
            <a:extLst>
              <a:ext uri="{FF2B5EF4-FFF2-40B4-BE49-F238E27FC236}">
                <a16:creationId xmlns:a16="http://schemas.microsoft.com/office/drawing/2014/main" id="{CADDF9A1-F510-0A48-A5C8-B604DC721314}"/>
              </a:ext>
            </a:extLst>
          </p:cNvPr>
          <p:cNvSpPr>
            <a:spLocks noChangeArrowheads="1"/>
          </p:cNvSpPr>
          <p:nvPr/>
        </p:nvSpPr>
        <p:spPr bwMode="auto">
          <a:xfrm>
            <a:off x="5458843" y="4238954"/>
            <a:ext cx="218114" cy="142635"/>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36" name="Rectangle 46">
            <a:extLst>
              <a:ext uri="{FF2B5EF4-FFF2-40B4-BE49-F238E27FC236}">
                <a16:creationId xmlns:a16="http://schemas.microsoft.com/office/drawing/2014/main" id="{EF37199A-A67A-4242-ABE8-2B6C3B2BEA3E}"/>
              </a:ext>
            </a:extLst>
          </p:cNvPr>
          <p:cNvSpPr>
            <a:spLocks noChangeArrowheads="1"/>
          </p:cNvSpPr>
          <p:nvPr/>
        </p:nvSpPr>
        <p:spPr bwMode="auto">
          <a:xfrm>
            <a:off x="5678447" y="4238525"/>
            <a:ext cx="218114" cy="142635"/>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37" name="Rectangle 46">
            <a:extLst>
              <a:ext uri="{FF2B5EF4-FFF2-40B4-BE49-F238E27FC236}">
                <a16:creationId xmlns:a16="http://schemas.microsoft.com/office/drawing/2014/main" id="{2A43E4D0-9761-694D-909E-DDC6673E3480}"/>
              </a:ext>
            </a:extLst>
          </p:cNvPr>
          <p:cNvSpPr>
            <a:spLocks noChangeArrowheads="1"/>
          </p:cNvSpPr>
          <p:nvPr/>
        </p:nvSpPr>
        <p:spPr bwMode="auto">
          <a:xfrm>
            <a:off x="5897108" y="4238525"/>
            <a:ext cx="218114" cy="142635"/>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15" name="Slide Number Placeholder 4">
            <a:extLst>
              <a:ext uri="{FF2B5EF4-FFF2-40B4-BE49-F238E27FC236}">
                <a16:creationId xmlns:a16="http://schemas.microsoft.com/office/drawing/2014/main" id="{4F8C5248-5115-F748-B1EF-FF98DE1ECEF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34</a:t>
            </a:fld>
            <a:endParaRPr lang="en-US" dirty="0"/>
          </a:p>
        </p:txBody>
      </p:sp>
      <p:sp>
        <p:nvSpPr>
          <p:cNvPr id="9" name="Slide Number Placeholder 5">
            <a:extLst>
              <a:ext uri="{FF2B5EF4-FFF2-40B4-BE49-F238E27FC236}">
                <a16:creationId xmlns:a16="http://schemas.microsoft.com/office/drawing/2014/main" id="{185DC2A5-6635-0C31-8FC0-09A30114C400}"/>
              </a:ext>
            </a:extLst>
          </p:cNvPr>
          <p:cNvSpPr>
            <a:spLocks noGrp="1"/>
          </p:cNvSpPr>
          <p:nvPr>
            <p:ph type="sldNum" sz="quarter" idx="12"/>
          </p:nvPr>
        </p:nvSpPr>
        <p:spPr>
          <a:xfrm>
            <a:off x="7723271" y="6472237"/>
            <a:ext cx="676275" cy="27622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dirty="0">
                <a:latin typeface="Tahoma" pitchFamily="34" charset="0"/>
              </a:rPr>
              <a:t>4-</a:t>
            </a:r>
            <a:fld id="{C47BA17A-00DE-4707-91F5-A0B86EB95496}" type="slidenum">
              <a:rPr lang="en-US" altLang="en-US" smtClean="0">
                <a:latin typeface="Tahoma" pitchFamily="34" charset="0"/>
              </a:rPr>
              <a:pPr/>
              <a:t>34</a:t>
            </a:fld>
            <a:endParaRPr lang="en-US" altLang="en-US" dirty="0">
              <a:latin typeface="Tahoma" pitchFamily="34" charset="0"/>
            </a:endParaRPr>
          </a:p>
        </p:txBody>
      </p:sp>
    </p:spTree>
    <p:extLst>
      <p:ext uri="{BB962C8B-B14F-4D97-AF65-F5344CB8AC3E}">
        <p14:creationId xmlns:p14="http://schemas.microsoft.com/office/powerpoint/2010/main" val="304044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dissolve">
                                      <p:cBhvr>
                                        <p:cTn id="7" dur="500"/>
                                        <p:tgtEl>
                                          <p:spTgt spid="79"/>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dissolve">
                                      <p:cBhvr>
                                        <p:cTn id="15" dur="5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35"/>
                                        </p:tgtEl>
                                        <p:attrNameLst>
                                          <p:attrName>style.visibility</p:attrName>
                                        </p:attrNameLst>
                                      </p:cBhvr>
                                      <p:to>
                                        <p:strVal val="visible"/>
                                      </p:to>
                                    </p:set>
                                    <p:animEffect transition="in" filter="dissolve">
                                      <p:cBhvr>
                                        <p:cTn id="20" dur="500"/>
                                        <p:tgtEl>
                                          <p:spTgt spid="135"/>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dissolve">
                                      <p:cBhvr>
                                        <p:cTn id="23" dur="500"/>
                                        <p:tgtEl>
                                          <p:spTgt spid="13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dissolve">
                                      <p:cBhvr>
                                        <p:cTn id="26" dur="500"/>
                                        <p:tgtEl>
                                          <p:spTgt spid="137"/>
                                        </p:tgtEl>
                                      </p:cBhvr>
                                    </p:animEffec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8.33333E-7 3.7037E-6 L 0.06537 0.00023 L 0.0974 -0.06899 L 0.14805 -0.06899 C 0.15925 -0.0463 0.17018 -0.02385 0.18164 -0.00093 C 0.19596 -0.00186 0.28151 -0.00047 0.29662 -0.00116 " pathEditMode="relative" rAng="0" ptsTypes="AAAAAA">
                                      <p:cBhvr>
                                        <p:cTn id="30" dur="3000" fill="hold"/>
                                        <p:tgtEl>
                                          <p:spTgt spid="137"/>
                                        </p:tgtEl>
                                        <p:attrNameLst>
                                          <p:attrName>ppt_x</p:attrName>
                                          <p:attrName>ppt_y</p:attrName>
                                        </p:attrNameLst>
                                      </p:cBhvr>
                                      <p:rCtr x="14831" y="-3449"/>
                                    </p:animMotion>
                                  </p:childTnLst>
                                </p:cTn>
                              </p:par>
                              <p:par>
                                <p:cTn id="31" presetID="0" presetClass="path" presetSubtype="0" accel="50000" decel="50000" fill="hold" grpId="1" nodeType="withEffect">
                                  <p:stCondLst>
                                    <p:cond delay="0"/>
                                  </p:stCondLst>
                                  <p:childTnLst>
                                    <p:animMotion origin="layout" path="M -2.5E-6 -0.00024 L 0.06407 0.00069 C 0.06914 0.00949 0.07409 0.01851 0.07904 0.02731 L 0.08867 0.02592 L 0.12214 0.08842 L 0.17136 0.08842 L 0.20482 0.02453 L 0.22982 0.02453 L 0.23477 -0.00116 C 0.25508 -0.00116 0.28073 -0.0007 0.30104 -0.0007 " pathEditMode="relative" rAng="0" ptsTypes="AAAAAAAAAA">
                                      <p:cBhvr>
                                        <p:cTn id="32" dur="3000" fill="hold"/>
                                        <p:tgtEl>
                                          <p:spTgt spid="136"/>
                                        </p:tgtEl>
                                        <p:attrNameLst>
                                          <p:attrName>ppt_x</p:attrName>
                                          <p:attrName>ppt_y</p:attrName>
                                        </p:attrNameLst>
                                      </p:cBhvr>
                                      <p:rCtr x="15052" y="4375"/>
                                    </p:animMotion>
                                  </p:childTnLst>
                                </p:cTn>
                              </p:par>
                              <p:par>
                                <p:cTn id="33" presetID="0" presetClass="path" presetSubtype="0" accel="50000" decel="50000" fill="hold" grpId="1" nodeType="withEffect">
                                  <p:stCondLst>
                                    <p:cond delay="0"/>
                                  </p:stCondLst>
                                  <p:childTnLst>
                                    <p:animMotion origin="layout" path="M 0 0 L 0.08685 0.00139 L 0.10339 0.03912 L 0.11342 0.03842 L 0.14688 0.16365 L 0.19649 0.16296 L 0.23073 0.03634 L 0.25339 0.03564 L 0.26029 -0.00116 L 0.30495 -0.00116 " pathEditMode="relative" ptsTypes="AAAAAAAAAA">
                                      <p:cBhvr>
                                        <p:cTn id="34" dur="3000" fill="hold"/>
                                        <p:tgtEl>
                                          <p:spTgt spid="13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114" grpId="0"/>
      <p:bldP spid="135" grpId="0" animBg="1"/>
      <p:bldP spid="135" grpId="1" animBg="1"/>
      <p:bldP spid="136" grpId="0" animBg="1"/>
      <p:bldP spid="136" grpId="1" animBg="1"/>
      <p:bldP spid="137" grpId="0" animBg="1"/>
      <p:bldP spid="137"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693485" y="1822890"/>
            <a:ext cx="7938880" cy="769642"/>
          </a:xfrm>
        </p:spPr>
        <p:txBody>
          <a:bodyPr>
            <a:normAutofit/>
          </a:bodyPr>
          <a:lstStyle/>
          <a:p>
            <a:pPr indent="-215504">
              <a:buFont typeface="Wingdings" charset="2"/>
              <a:buChar char="§"/>
              <a:defRPr/>
            </a:pPr>
            <a:r>
              <a:rPr lang="en-US" sz="2400" dirty="0"/>
              <a:t>scaling, using multiple switching “planes” in parallel: </a:t>
            </a:r>
          </a:p>
          <a:p>
            <a:pPr lvl="1" indent="-215504">
              <a:buFont typeface="Wingdings" charset="2"/>
              <a:buChar char="§"/>
              <a:defRPr/>
            </a:pPr>
            <a:r>
              <a:rPr lang="en-US" sz="2100" dirty="0"/>
              <a:t>speedup, scaleup via parallelism</a:t>
            </a: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557774" y="414084"/>
            <a:ext cx="7886700" cy="670967"/>
          </a:xfrm>
        </p:spPr>
        <p:txBody>
          <a:bodyPr>
            <a:normAutofit fontScale="90000"/>
          </a:bodyPr>
          <a:lstStyle/>
          <a:p>
            <a:r>
              <a:rPr lang="en-US" sz="3600" dirty="0"/>
              <a:t>Switching via interconnection network</a:t>
            </a:r>
            <a:br>
              <a:rPr lang="en-US" sz="3600" dirty="0"/>
            </a:br>
            <a:r>
              <a:rPr lang="en-US" sz="3600" dirty="0"/>
              <a:t>(crossbar)</a:t>
            </a:r>
          </a:p>
        </p:txBody>
      </p:sp>
      <p:grpSp>
        <p:nvGrpSpPr>
          <p:cNvPr id="37" name="Group 36">
            <a:extLst>
              <a:ext uri="{FF2B5EF4-FFF2-40B4-BE49-F238E27FC236}">
                <a16:creationId xmlns:a16="http://schemas.microsoft.com/office/drawing/2014/main" id="{34ACF90F-291D-A84B-9EA4-A850C531F102}"/>
              </a:ext>
            </a:extLst>
          </p:cNvPr>
          <p:cNvGrpSpPr/>
          <p:nvPr/>
        </p:nvGrpSpPr>
        <p:grpSpPr>
          <a:xfrm>
            <a:off x="4099414" y="3097935"/>
            <a:ext cx="4878353" cy="2131944"/>
            <a:chOff x="2502527" y="2166731"/>
            <a:chExt cx="6504470" cy="2842592"/>
          </a:xfrm>
        </p:grpSpPr>
        <p:grpSp>
          <p:nvGrpSpPr>
            <p:cNvPr id="334" name="Group 118">
              <a:extLst>
                <a:ext uri="{FF2B5EF4-FFF2-40B4-BE49-F238E27FC236}">
                  <a16:creationId xmlns:a16="http://schemas.microsoft.com/office/drawing/2014/main" id="{AF49CF4D-AE10-6E4A-BE27-3F975761A6F8}"/>
                </a:ext>
              </a:extLst>
            </p:cNvPr>
            <p:cNvGrpSpPr>
              <a:grpSpLocks/>
            </p:cNvGrpSpPr>
            <p:nvPr/>
          </p:nvGrpSpPr>
          <p:grpSpPr bwMode="auto">
            <a:xfrm>
              <a:off x="2661555" y="4446106"/>
              <a:ext cx="977484" cy="193795"/>
              <a:chOff x="876" y="2800"/>
              <a:chExt cx="642" cy="175"/>
            </a:xfrm>
          </p:grpSpPr>
          <p:sp>
            <p:nvSpPr>
              <p:cNvPr id="335" name="Rectangle 119">
                <a:extLst>
                  <a:ext uri="{FF2B5EF4-FFF2-40B4-BE49-F238E27FC236}">
                    <a16:creationId xmlns:a16="http://schemas.microsoft.com/office/drawing/2014/main" id="{4093A69A-1A26-8344-A1EE-EC3CD90B7339}"/>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36" name="Rectangle 120">
                <a:extLst>
                  <a:ext uri="{FF2B5EF4-FFF2-40B4-BE49-F238E27FC236}">
                    <a16:creationId xmlns:a16="http://schemas.microsoft.com/office/drawing/2014/main" id="{2812FBDC-BDD7-A446-BBAE-BB6C428C79D0}"/>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37" name="Rectangle 121">
                <a:extLst>
                  <a:ext uri="{FF2B5EF4-FFF2-40B4-BE49-F238E27FC236}">
                    <a16:creationId xmlns:a16="http://schemas.microsoft.com/office/drawing/2014/main" id="{F1C83022-DCCD-824D-9EFC-DB58276AFEC8}"/>
                  </a:ext>
                </a:extLst>
              </p:cNvPr>
              <p:cNvSpPr>
                <a:spLocks noChangeArrowheads="1"/>
              </p:cNvSpPr>
              <p:nvPr/>
            </p:nvSpPr>
            <p:spPr bwMode="auto">
              <a:xfrm>
                <a:off x="1117" y="2818"/>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38" name="Rectangle 122">
                <a:extLst>
                  <a:ext uri="{FF2B5EF4-FFF2-40B4-BE49-F238E27FC236}">
                    <a16:creationId xmlns:a16="http://schemas.microsoft.com/office/drawing/2014/main" id="{7EF3B5CA-CC9D-5D42-9788-BE1DCF3D216C}"/>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339" name="Line 123">
                <a:extLst>
                  <a:ext uri="{FF2B5EF4-FFF2-40B4-BE49-F238E27FC236}">
                    <a16:creationId xmlns:a16="http://schemas.microsoft.com/office/drawing/2014/main" id="{888A3CB1-B901-B84C-9FDC-4A75C03255D3}"/>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nvGrpSpPr>
            <p:cNvPr id="328" name="Group 118">
              <a:extLst>
                <a:ext uri="{FF2B5EF4-FFF2-40B4-BE49-F238E27FC236}">
                  <a16:creationId xmlns:a16="http://schemas.microsoft.com/office/drawing/2014/main" id="{424B3156-291C-B04F-8BD2-8D13170A3586}"/>
                </a:ext>
              </a:extLst>
            </p:cNvPr>
            <p:cNvGrpSpPr>
              <a:grpSpLocks/>
            </p:cNvGrpSpPr>
            <p:nvPr/>
          </p:nvGrpSpPr>
          <p:grpSpPr bwMode="auto">
            <a:xfrm>
              <a:off x="2575415" y="4611758"/>
              <a:ext cx="977484" cy="193795"/>
              <a:chOff x="876" y="2800"/>
              <a:chExt cx="642" cy="175"/>
            </a:xfrm>
          </p:grpSpPr>
          <p:sp>
            <p:nvSpPr>
              <p:cNvPr id="329" name="Rectangle 119">
                <a:extLst>
                  <a:ext uri="{FF2B5EF4-FFF2-40B4-BE49-F238E27FC236}">
                    <a16:creationId xmlns:a16="http://schemas.microsoft.com/office/drawing/2014/main" id="{B9D5FCED-BF06-4C46-AE44-21C038F8580D}"/>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30" name="Rectangle 120">
                <a:extLst>
                  <a:ext uri="{FF2B5EF4-FFF2-40B4-BE49-F238E27FC236}">
                    <a16:creationId xmlns:a16="http://schemas.microsoft.com/office/drawing/2014/main" id="{51E04347-0FE1-6E45-B8AF-9085B6208DA5}"/>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31" name="Rectangle 121">
                <a:extLst>
                  <a:ext uri="{FF2B5EF4-FFF2-40B4-BE49-F238E27FC236}">
                    <a16:creationId xmlns:a16="http://schemas.microsoft.com/office/drawing/2014/main" id="{4B3FD1AD-66FF-344E-8B85-CE87F954D239}"/>
                  </a:ext>
                </a:extLst>
              </p:cNvPr>
              <p:cNvSpPr>
                <a:spLocks noChangeArrowheads="1"/>
              </p:cNvSpPr>
              <p:nvPr/>
            </p:nvSpPr>
            <p:spPr bwMode="auto">
              <a:xfrm>
                <a:off x="1117" y="2818"/>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32" name="Rectangle 122">
                <a:extLst>
                  <a:ext uri="{FF2B5EF4-FFF2-40B4-BE49-F238E27FC236}">
                    <a16:creationId xmlns:a16="http://schemas.microsoft.com/office/drawing/2014/main" id="{38C47484-37BF-CC4A-8AFC-5633045A34C9}"/>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33" name="Line 123">
                <a:extLst>
                  <a:ext uri="{FF2B5EF4-FFF2-40B4-BE49-F238E27FC236}">
                    <a16:creationId xmlns:a16="http://schemas.microsoft.com/office/drawing/2014/main" id="{E9322185-052D-CF4D-9604-30F5852D0997}"/>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grpSp>
        <p:grpSp>
          <p:nvGrpSpPr>
            <p:cNvPr id="12" name="Group 11">
              <a:extLst>
                <a:ext uri="{FF2B5EF4-FFF2-40B4-BE49-F238E27FC236}">
                  <a16:creationId xmlns:a16="http://schemas.microsoft.com/office/drawing/2014/main" id="{420BA766-6DB9-0342-ACF5-6818F39878BC}"/>
                </a:ext>
              </a:extLst>
            </p:cNvPr>
            <p:cNvGrpSpPr/>
            <p:nvPr/>
          </p:nvGrpSpPr>
          <p:grpSpPr>
            <a:xfrm>
              <a:off x="4608371" y="2166731"/>
              <a:ext cx="2321442" cy="2842592"/>
              <a:chOff x="4184302" y="2922105"/>
              <a:chExt cx="2321442" cy="2842592"/>
            </a:xfrm>
          </p:grpSpPr>
          <p:grpSp>
            <p:nvGrpSpPr>
              <p:cNvPr id="122" name="Group 121">
                <a:extLst>
                  <a:ext uri="{FF2B5EF4-FFF2-40B4-BE49-F238E27FC236}">
                    <a16:creationId xmlns:a16="http://schemas.microsoft.com/office/drawing/2014/main" id="{40760763-7D13-D14C-B004-0516855F8019}"/>
                  </a:ext>
                </a:extLst>
              </p:cNvPr>
              <p:cNvGrpSpPr/>
              <p:nvPr/>
            </p:nvGrpSpPr>
            <p:grpSpPr>
              <a:xfrm>
                <a:off x="4787274" y="2922105"/>
                <a:ext cx="1718470" cy="1311965"/>
                <a:chOff x="1401344" y="5221357"/>
                <a:chExt cx="1718470" cy="1311965"/>
              </a:xfrm>
            </p:grpSpPr>
            <p:cxnSp>
              <p:nvCxnSpPr>
                <p:cNvPr id="123" name="Straight Connector 122">
                  <a:extLst>
                    <a:ext uri="{FF2B5EF4-FFF2-40B4-BE49-F238E27FC236}">
                      <a16:creationId xmlns:a16="http://schemas.microsoft.com/office/drawing/2014/main" id="{A4E31C51-93A1-5042-9D84-F246E6733681}"/>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C4626BFC-BC91-AE40-9E2F-1CAF813F24B3}"/>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3D5CC8D6-8701-3148-9853-D5C192B7DF31}"/>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DFBBFD44-0DFB-B049-98DF-A3EE6FC4071B}"/>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E13D79D-4110-5C48-B252-22BF34D55EEE}"/>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CF1ED62F-9B31-4E4D-A9A1-B5604E0F379D}"/>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F2389D36-0494-AF4B-BE1C-E8755716C377}"/>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C930B35-8338-024A-815B-949A85C3DE94}"/>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Group 130">
                  <a:extLst>
                    <a:ext uri="{FF2B5EF4-FFF2-40B4-BE49-F238E27FC236}">
                      <a16:creationId xmlns:a16="http://schemas.microsoft.com/office/drawing/2014/main" id="{45AFFA33-989B-6A44-AEC9-7FFF15DD3FD7}"/>
                    </a:ext>
                  </a:extLst>
                </p:cNvPr>
                <p:cNvGrpSpPr/>
                <p:nvPr/>
              </p:nvGrpSpPr>
              <p:grpSpPr>
                <a:xfrm>
                  <a:off x="1749287" y="5221357"/>
                  <a:ext cx="1237946" cy="1311965"/>
                  <a:chOff x="4426226" y="4479235"/>
                  <a:chExt cx="1237946" cy="1311965"/>
                </a:xfrm>
              </p:grpSpPr>
              <p:sp>
                <p:nvSpPr>
                  <p:cNvPr id="134" name="Rectangle 133">
                    <a:extLst>
                      <a:ext uri="{FF2B5EF4-FFF2-40B4-BE49-F238E27FC236}">
                        <a16:creationId xmlns:a16="http://schemas.microsoft.com/office/drawing/2014/main" id="{7AAD5D40-EBE5-7A46-BA23-4588D31D97BE}"/>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35" name="TextBox 134">
                    <a:extLst>
                      <a:ext uri="{FF2B5EF4-FFF2-40B4-BE49-F238E27FC236}">
                        <a16:creationId xmlns:a16="http://schemas.microsoft.com/office/drawing/2014/main" id="{A09B1F95-9C4A-5041-A4C5-44BBBB463756}"/>
                      </a:ext>
                    </a:extLst>
                  </p:cNvPr>
                  <p:cNvSpPr txBox="1"/>
                  <p:nvPr/>
                </p:nvSpPr>
                <p:spPr>
                  <a:xfrm>
                    <a:off x="4426226" y="4479235"/>
                    <a:ext cx="1237946"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fabric plane 0</a:t>
                    </a:r>
                  </a:p>
                </p:txBody>
              </p:sp>
            </p:grpSp>
            <p:sp>
              <p:nvSpPr>
                <p:cNvPr id="132" name="TextBox 131">
                  <a:extLst>
                    <a:ext uri="{FF2B5EF4-FFF2-40B4-BE49-F238E27FC236}">
                      <a16:creationId xmlns:a16="http://schemas.microsoft.com/office/drawing/2014/main" id="{B61383D0-8600-7145-ABB4-73D8D87E126A}"/>
                    </a:ext>
                  </a:extLst>
                </p:cNvPr>
                <p:cNvSpPr txBox="1"/>
                <p:nvPr/>
              </p:nvSpPr>
              <p:spPr>
                <a:xfrm rot="16200000">
                  <a:off x="1340429" y="5674655"/>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sp>
              <p:nvSpPr>
                <p:cNvPr id="133" name="TextBox 132">
                  <a:extLst>
                    <a:ext uri="{FF2B5EF4-FFF2-40B4-BE49-F238E27FC236}">
                      <a16:creationId xmlns:a16="http://schemas.microsoft.com/office/drawing/2014/main" id="{C3A565F3-8853-E54F-91C8-30A8A3BB49DE}"/>
                    </a:ext>
                  </a:extLst>
                </p:cNvPr>
                <p:cNvSpPr txBox="1"/>
                <p:nvPr/>
              </p:nvSpPr>
              <p:spPr>
                <a:xfrm rot="16200000">
                  <a:off x="2658790" y="5671329"/>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grpSp>
          <p:grpSp>
            <p:nvGrpSpPr>
              <p:cNvPr id="136" name="Group 135">
                <a:extLst>
                  <a:ext uri="{FF2B5EF4-FFF2-40B4-BE49-F238E27FC236}">
                    <a16:creationId xmlns:a16="http://schemas.microsoft.com/office/drawing/2014/main" id="{1ECDB28F-7D58-FC47-90E4-A1884B6DED49}"/>
                  </a:ext>
                </a:extLst>
              </p:cNvPr>
              <p:cNvGrpSpPr/>
              <p:nvPr/>
            </p:nvGrpSpPr>
            <p:grpSpPr>
              <a:xfrm>
                <a:off x="4701136" y="3140766"/>
                <a:ext cx="1718469" cy="1311965"/>
                <a:chOff x="1401345" y="5221357"/>
                <a:chExt cx="1718469" cy="1311965"/>
              </a:xfrm>
            </p:grpSpPr>
            <p:cxnSp>
              <p:nvCxnSpPr>
                <p:cNvPr id="137" name="Straight Connector 136">
                  <a:extLst>
                    <a:ext uri="{FF2B5EF4-FFF2-40B4-BE49-F238E27FC236}">
                      <a16:creationId xmlns:a16="http://schemas.microsoft.com/office/drawing/2014/main" id="{22B49291-35C1-F646-9151-8D5CAD91152E}"/>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E4800AA-0F72-3B48-BF00-140135B900EF}"/>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6A1667E-854A-2D44-8A29-88B7998B7DBC}"/>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7BC52-7519-E74E-82F4-7446D94755B4}"/>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2DFB66F9-2EEA-4F45-9982-AA0ECE4D0705}"/>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C5AE7172-0A61-A943-AF6A-AA3B4966318B}"/>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AB86A0CA-2BBD-3241-BDD7-CC2EA169186B}"/>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DB056F78-A09C-F34E-9087-9576AB942378}"/>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144">
                  <a:extLst>
                    <a:ext uri="{FF2B5EF4-FFF2-40B4-BE49-F238E27FC236}">
                      <a16:creationId xmlns:a16="http://schemas.microsoft.com/office/drawing/2014/main" id="{6EAD8D3D-6C07-0C47-BC6F-F6E324523699}"/>
                    </a:ext>
                  </a:extLst>
                </p:cNvPr>
                <p:cNvGrpSpPr/>
                <p:nvPr/>
              </p:nvGrpSpPr>
              <p:grpSpPr>
                <a:xfrm>
                  <a:off x="1749287" y="5221357"/>
                  <a:ext cx="1237944" cy="1311965"/>
                  <a:chOff x="4426226" y="4479235"/>
                  <a:chExt cx="1237944" cy="1311965"/>
                </a:xfrm>
              </p:grpSpPr>
              <p:sp>
                <p:nvSpPr>
                  <p:cNvPr id="148" name="Rectangle 147">
                    <a:extLst>
                      <a:ext uri="{FF2B5EF4-FFF2-40B4-BE49-F238E27FC236}">
                        <a16:creationId xmlns:a16="http://schemas.microsoft.com/office/drawing/2014/main" id="{E1A34E00-2B81-5C43-BD96-BAC50603F9AB}"/>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49" name="TextBox 148">
                    <a:extLst>
                      <a:ext uri="{FF2B5EF4-FFF2-40B4-BE49-F238E27FC236}">
                        <a16:creationId xmlns:a16="http://schemas.microsoft.com/office/drawing/2014/main" id="{4E8CD73F-1D04-324E-8B5D-52BE9676926D}"/>
                      </a:ext>
                    </a:extLst>
                  </p:cNvPr>
                  <p:cNvSpPr txBox="1"/>
                  <p:nvPr/>
                </p:nvSpPr>
                <p:spPr>
                  <a:xfrm>
                    <a:off x="4426226" y="4479235"/>
                    <a:ext cx="1237944"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fabric plane 1</a:t>
                    </a:r>
                  </a:p>
                </p:txBody>
              </p:sp>
            </p:grpSp>
            <p:sp>
              <p:nvSpPr>
                <p:cNvPr id="146" name="TextBox 145">
                  <a:extLst>
                    <a:ext uri="{FF2B5EF4-FFF2-40B4-BE49-F238E27FC236}">
                      <a16:creationId xmlns:a16="http://schemas.microsoft.com/office/drawing/2014/main" id="{AC67F0E3-96A7-9C40-9453-5DD6D22CDBF7}"/>
                    </a:ext>
                  </a:extLst>
                </p:cNvPr>
                <p:cNvSpPr txBox="1"/>
                <p:nvPr/>
              </p:nvSpPr>
              <p:spPr>
                <a:xfrm rot="16200000">
                  <a:off x="1340430" y="5674656"/>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sp>
              <p:nvSpPr>
                <p:cNvPr id="147" name="TextBox 146">
                  <a:extLst>
                    <a:ext uri="{FF2B5EF4-FFF2-40B4-BE49-F238E27FC236}">
                      <a16:creationId xmlns:a16="http://schemas.microsoft.com/office/drawing/2014/main" id="{A1B35328-3A8C-DC49-B311-E8D84E1C8394}"/>
                    </a:ext>
                  </a:extLst>
                </p:cNvPr>
                <p:cNvSpPr txBox="1"/>
                <p:nvPr/>
              </p:nvSpPr>
              <p:spPr>
                <a:xfrm rot="16200000">
                  <a:off x="2658790" y="5671329"/>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grpSp>
          <p:grpSp>
            <p:nvGrpSpPr>
              <p:cNvPr id="150" name="Group 149">
                <a:extLst>
                  <a:ext uri="{FF2B5EF4-FFF2-40B4-BE49-F238E27FC236}">
                    <a16:creationId xmlns:a16="http://schemas.microsoft.com/office/drawing/2014/main" id="{763257EE-6514-D14D-BB4B-808C84B0BBED}"/>
                  </a:ext>
                </a:extLst>
              </p:cNvPr>
              <p:cNvGrpSpPr/>
              <p:nvPr/>
            </p:nvGrpSpPr>
            <p:grpSpPr>
              <a:xfrm>
                <a:off x="4614997" y="3359427"/>
                <a:ext cx="1718469" cy="1311965"/>
                <a:chOff x="1401345" y="5221357"/>
                <a:chExt cx="1718469" cy="1311965"/>
              </a:xfrm>
            </p:grpSpPr>
            <p:cxnSp>
              <p:nvCxnSpPr>
                <p:cNvPr id="151" name="Straight Connector 150">
                  <a:extLst>
                    <a:ext uri="{FF2B5EF4-FFF2-40B4-BE49-F238E27FC236}">
                      <a16:creationId xmlns:a16="http://schemas.microsoft.com/office/drawing/2014/main" id="{625BA914-684C-6F4B-A078-484B0935E6E4}"/>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DB5939BD-2E58-F046-B3EB-98CD21C55CFB}"/>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94550567-087F-7D4A-ABF2-7F3F4FACFA92}"/>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D893FAE-2400-F144-9821-71CAA7E70A34}"/>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7B0FF6F9-EC58-C84A-B28F-451E6C448902}"/>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841956C-2DE9-8B42-95DA-9121FCD6BE5D}"/>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3F88C77F-CF8B-2C4D-AD38-8280A026C0C2}"/>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EA7D2E27-F9F1-9C4C-9900-89369B77816F}"/>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F24FFC69-3FC3-EE40-BEED-9120F9E4723F}"/>
                    </a:ext>
                  </a:extLst>
                </p:cNvPr>
                <p:cNvGrpSpPr/>
                <p:nvPr/>
              </p:nvGrpSpPr>
              <p:grpSpPr>
                <a:xfrm>
                  <a:off x="1749287" y="5221357"/>
                  <a:ext cx="1237944" cy="1311965"/>
                  <a:chOff x="4426226" y="4479235"/>
                  <a:chExt cx="1237944" cy="1311965"/>
                </a:xfrm>
              </p:grpSpPr>
              <p:sp>
                <p:nvSpPr>
                  <p:cNvPr id="162" name="Rectangle 161">
                    <a:extLst>
                      <a:ext uri="{FF2B5EF4-FFF2-40B4-BE49-F238E27FC236}">
                        <a16:creationId xmlns:a16="http://schemas.microsoft.com/office/drawing/2014/main" id="{286D436C-A2D4-BF4B-8437-C11986C72671}"/>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63" name="TextBox 162">
                    <a:extLst>
                      <a:ext uri="{FF2B5EF4-FFF2-40B4-BE49-F238E27FC236}">
                        <a16:creationId xmlns:a16="http://schemas.microsoft.com/office/drawing/2014/main" id="{88E4113D-A9CA-8949-8F16-E16EBD61CBD4}"/>
                      </a:ext>
                    </a:extLst>
                  </p:cNvPr>
                  <p:cNvSpPr txBox="1"/>
                  <p:nvPr/>
                </p:nvSpPr>
                <p:spPr>
                  <a:xfrm>
                    <a:off x="4426226" y="4479235"/>
                    <a:ext cx="1237944"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fabric plane 2</a:t>
                    </a:r>
                  </a:p>
                </p:txBody>
              </p:sp>
            </p:grpSp>
            <p:sp>
              <p:nvSpPr>
                <p:cNvPr id="160" name="TextBox 159">
                  <a:extLst>
                    <a:ext uri="{FF2B5EF4-FFF2-40B4-BE49-F238E27FC236}">
                      <a16:creationId xmlns:a16="http://schemas.microsoft.com/office/drawing/2014/main" id="{BE7EBCF1-265E-5742-9AD9-4E6EA8AC8417}"/>
                    </a:ext>
                  </a:extLst>
                </p:cNvPr>
                <p:cNvSpPr txBox="1"/>
                <p:nvPr/>
              </p:nvSpPr>
              <p:spPr>
                <a:xfrm rot="16200000">
                  <a:off x="1340430" y="5674656"/>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sp>
              <p:nvSpPr>
                <p:cNvPr id="161" name="TextBox 160">
                  <a:extLst>
                    <a:ext uri="{FF2B5EF4-FFF2-40B4-BE49-F238E27FC236}">
                      <a16:creationId xmlns:a16="http://schemas.microsoft.com/office/drawing/2014/main" id="{2A4BCCF5-BAE8-7B49-93B9-352D63E3BADF}"/>
                    </a:ext>
                  </a:extLst>
                </p:cNvPr>
                <p:cNvSpPr txBox="1"/>
                <p:nvPr/>
              </p:nvSpPr>
              <p:spPr>
                <a:xfrm rot="16200000">
                  <a:off x="2658790" y="5671329"/>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grpSp>
          <p:grpSp>
            <p:nvGrpSpPr>
              <p:cNvPr id="164" name="Group 163">
                <a:extLst>
                  <a:ext uri="{FF2B5EF4-FFF2-40B4-BE49-F238E27FC236}">
                    <a16:creationId xmlns:a16="http://schemas.microsoft.com/office/drawing/2014/main" id="{4DCE3833-0A76-C643-A867-84E6834282A7}"/>
                  </a:ext>
                </a:extLst>
              </p:cNvPr>
              <p:cNvGrpSpPr/>
              <p:nvPr/>
            </p:nvGrpSpPr>
            <p:grpSpPr>
              <a:xfrm>
                <a:off x="4528858" y="3578088"/>
                <a:ext cx="1718469" cy="1311965"/>
                <a:chOff x="1401345" y="5221357"/>
                <a:chExt cx="1718469" cy="1311965"/>
              </a:xfrm>
            </p:grpSpPr>
            <p:cxnSp>
              <p:nvCxnSpPr>
                <p:cNvPr id="165" name="Straight Connector 164">
                  <a:extLst>
                    <a:ext uri="{FF2B5EF4-FFF2-40B4-BE49-F238E27FC236}">
                      <a16:creationId xmlns:a16="http://schemas.microsoft.com/office/drawing/2014/main" id="{47C70EEA-30DB-8C4F-90AC-620FDA2A0138}"/>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4FFC5AE1-AA4D-9446-9C71-2CBADB228D10}"/>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499BB1B1-8E50-DB42-8699-52C4D6CE4F8F}"/>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FEDB77A6-D189-AA46-AEDF-2E616F256A12}"/>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91EBC83D-1513-A14A-B855-971436AA892D}"/>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539B859B-2C00-EC4B-BB9F-FA2A699D633A}"/>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0C304F32-EE17-864A-AE73-180F7283F1C8}"/>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889F01C-0F8B-0B4D-9089-8FA49FB1058C}"/>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8C5D3CC4-DD40-464E-81E7-9C5248FEC8AE}"/>
                    </a:ext>
                  </a:extLst>
                </p:cNvPr>
                <p:cNvGrpSpPr/>
                <p:nvPr/>
              </p:nvGrpSpPr>
              <p:grpSpPr>
                <a:xfrm>
                  <a:off x="1749287" y="5221357"/>
                  <a:ext cx="1237944" cy="1311965"/>
                  <a:chOff x="4426226" y="4479235"/>
                  <a:chExt cx="1237944" cy="1311965"/>
                </a:xfrm>
              </p:grpSpPr>
              <p:sp>
                <p:nvSpPr>
                  <p:cNvPr id="176" name="Rectangle 175">
                    <a:extLst>
                      <a:ext uri="{FF2B5EF4-FFF2-40B4-BE49-F238E27FC236}">
                        <a16:creationId xmlns:a16="http://schemas.microsoft.com/office/drawing/2014/main" id="{5CE93A9B-38A1-BF40-811E-E359099DDBBC}"/>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77" name="TextBox 176">
                    <a:extLst>
                      <a:ext uri="{FF2B5EF4-FFF2-40B4-BE49-F238E27FC236}">
                        <a16:creationId xmlns:a16="http://schemas.microsoft.com/office/drawing/2014/main" id="{5B2E5208-A895-B14E-8DCB-4EA25D617FA8}"/>
                      </a:ext>
                    </a:extLst>
                  </p:cNvPr>
                  <p:cNvSpPr txBox="1"/>
                  <p:nvPr/>
                </p:nvSpPr>
                <p:spPr>
                  <a:xfrm>
                    <a:off x="4426226" y="4479235"/>
                    <a:ext cx="1237944"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fabric plane 3</a:t>
                    </a:r>
                  </a:p>
                </p:txBody>
              </p:sp>
            </p:grpSp>
            <p:sp>
              <p:nvSpPr>
                <p:cNvPr id="174" name="TextBox 173">
                  <a:extLst>
                    <a:ext uri="{FF2B5EF4-FFF2-40B4-BE49-F238E27FC236}">
                      <a16:creationId xmlns:a16="http://schemas.microsoft.com/office/drawing/2014/main" id="{2C56D9DF-BEBF-9F41-9334-37C8562CF65B}"/>
                    </a:ext>
                  </a:extLst>
                </p:cNvPr>
                <p:cNvSpPr txBox="1"/>
                <p:nvPr/>
              </p:nvSpPr>
              <p:spPr>
                <a:xfrm rot="16200000">
                  <a:off x="1340430" y="5674656"/>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sp>
              <p:nvSpPr>
                <p:cNvPr id="175" name="TextBox 174">
                  <a:extLst>
                    <a:ext uri="{FF2B5EF4-FFF2-40B4-BE49-F238E27FC236}">
                      <a16:creationId xmlns:a16="http://schemas.microsoft.com/office/drawing/2014/main" id="{5FB62124-F9A9-B74E-801E-939E6D55F5FC}"/>
                    </a:ext>
                  </a:extLst>
                </p:cNvPr>
                <p:cNvSpPr txBox="1"/>
                <p:nvPr/>
              </p:nvSpPr>
              <p:spPr>
                <a:xfrm rot="16200000">
                  <a:off x="2658790" y="5671329"/>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grpSp>
          <p:grpSp>
            <p:nvGrpSpPr>
              <p:cNvPr id="178" name="Group 177">
                <a:extLst>
                  <a:ext uri="{FF2B5EF4-FFF2-40B4-BE49-F238E27FC236}">
                    <a16:creationId xmlns:a16="http://schemas.microsoft.com/office/drawing/2014/main" id="{852B1340-D76B-4E46-856E-F639AB9F1AE8}"/>
                  </a:ext>
                </a:extLst>
              </p:cNvPr>
              <p:cNvGrpSpPr/>
              <p:nvPr/>
            </p:nvGrpSpPr>
            <p:grpSpPr>
              <a:xfrm>
                <a:off x="4442719" y="3796749"/>
                <a:ext cx="1718469" cy="1311965"/>
                <a:chOff x="1401345" y="5221357"/>
                <a:chExt cx="1718469" cy="1311965"/>
              </a:xfrm>
            </p:grpSpPr>
            <p:cxnSp>
              <p:nvCxnSpPr>
                <p:cNvPr id="179" name="Straight Connector 178">
                  <a:extLst>
                    <a:ext uri="{FF2B5EF4-FFF2-40B4-BE49-F238E27FC236}">
                      <a16:creationId xmlns:a16="http://schemas.microsoft.com/office/drawing/2014/main" id="{F59DED08-18FE-834E-9DA0-0FC95C193D97}"/>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4FCA4BD1-13EE-CD49-9555-680BF4FBC4CB}"/>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DE1EB86E-EDA3-A241-9E9D-72B854D1C38F}"/>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D6A935F4-98BE-5444-BD08-78AC8A59CCE5}"/>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B9C75665-BA08-3640-BED8-5DDF21BEBB11}"/>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59C2AFDA-7A15-AB47-A801-28BE8DB6A7AE}"/>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DA760F63-3FCA-1E48-9694-3000FEDFCC64}"/>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54AEC58-3B5E-C34C-A4BF-C9CABF071051}"/>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7" name="Group 186">
                  <a:extLst>
                    <a:ext uri="{FF2B5EF4-FFF2-40B4-BE49-F238E27FC236}">
                      <a16:creationId xmlns:a16="http://schemas.microsoft.com/office/drawing/2014/main" id="{1170DB51-8293-234B-B9F1-B0B3101F4AF8}"/>
                    </a:ext>
                  </a:extLst>
                </p:cNvPr>
                <p:cNvGrpSpPr/>
                <p:nvPr/>
              </p:nvGrpSpPr>
              <p:grpSpPr>
                <a:xfrm>
                  <a:off x="1749287" y="5221357"/>
                  <a:ext cx="1237944" cy="1311965"/>
                  <a:chOff x="4426226" y="4479235"/>
                  <a:chExt cx="1237944" cy="1311965"/>
                </a:xfrm>
              </p:grpSpPr>
              <p:sp>
                <p:nvSpPr>
                  <p:cNvPr id="190" name="Rectangle 189">
                    <a:extLst>
                      <a:ext uri="{FF2B5EF4-FFF2-40B4-BE49-F238E27FC236}">
                        <a16:creationId xmlns:a16="http://schemas.microsoft.com/office/drawing/2014/main" id="{74C76E3E-68EE-114E-B49D-DCEC2C9B222A}"/>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91" name="TextBox 190">
                    <a:extLst>
                      <a:ext uri="{FF2B5EF4-FFF2-40B4-BE49-F238E27FC236}">
                        <a16:creationId xmlns:a16="http://schemas.microsoft.com/office/drawing/2014/main" id="{A87D0399-6E79-5643-89F0-7906B987D4DB}"/>
                      </a:ext>
                    </a:extLst>
                  </p:cNvPr>
                  <p:cNvSpPr txBox="1"/>
                  <p:nvPr/>
                </p:nvSpPr>
                <p:spPr>
                  <a:xfrm>
                    <a:off x="4426226" y="4479235"/>
                    <a:ext cx="1237944"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fabric plane 4</a:t>
                    </a:r>
                  </a:p>
                </p:txBody>
              </p:sp>
            </p:grpSp>
            <p:sp>
              <p:nvSpPr>
                <p:cNvPr id="188" name="TextBox 187">
                  <a:extLst>
                    <a:ext uri="{FF2B5EF4-FFF2-40B4-BE49-F238E27FC236}">
                      <a16:creationId xmlns:a16="http://schemas.microsoft.com/office/drawing/2014/main" id="{A79B0505-1934-F54D-B44C-8780B6463E57}"/>
                    </a:ext>
                  </a:extLst>
                </p:cNvPr>
                <p:cNvSpPr txBox="1"/>
                <p:nvPr/>
              </p:nvSpPr>
              <p:spPr>
                <a:xfrm rot="16200000">
                  <a:off x="1340430" y="5674656"/>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sp>
              <p:nvSpPr>
                <p:cNvPr id="189" name="TextBox 188">
                  <a:extLst>
                    <a:ext uri="{FF2B5EF4-FFF2-40B4-BE49-F238E27FC236}">
                      <a16:creationId xmlns:a16="http://schemas.microsoft.com/office/drawing/2014/main" id="{B0BBB775-1B8E-AF45-9C88-E7B9BFDFBD3A}"/>
                    </a:ext>
                  </a:extLst>
                </p:cNvPr>
                <p:cNvSpPr txBox="1"/>
                <p:nvPr/>
              </p:nvSpPr>
              <p:spPr>
                <a:xfrm rot="16200000">
                  <a:off x="2658790" y="5671329"/>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grpSp>
          <p:grpSp>
            <p:nvGrpSpPr>
              <p:cNvPr id="192" name="Group 191">
                <a:extLst>
                  <a:ext uri="{FF2B5EF4-FFF2-40B4-BE49-F238E27FC236}">
                    <a16:creationId xmlns:a16="http://schemas.microsoft.com/office/drawing/2014/main" id="{27A16CD3-F266-6F4E-9433-67344A61D1CD}"/>
                  </a:ext>
                </a:extLst>
              </p:cNvPr>
              <p:cNvGrpSpPr/>
              <p:nvPr/>
            </p:nvGrpSpPr>
            <p:grpSpPr>
              <a:xfrm>
                <a:off x="4356580" y="4015410"/>
                <a:ext cx="1718469" cy="1311965"/>
                <a:chOff x="1401345" y="5221357"/>
                <a:chExt cx="1718469" cy="1311965"/>
              </a:xfrm>
            </p:grpSpPr>
            <p:cxnSp>
              <p:nvCxnSpPr>
                <p:cNvPr id="193" name="Straight Connector 192">
                  <a:extLst>
                    <a:ext uri="{FF2B5EF4-FFF2-40B4-BE49-F238E27FC236}">
                      <a16:creationId xmlns:a16="http://schemas.microsoft.com/office/drawing/2014/main" id="{242CBD24-8BFA-4F4B-871C-88474723172A}"/>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EB9D3DD4-EFAB-BE46-97AE-6C051DD69973}"/>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4300FE2E-5CE0-B442-98C0-BC4D3906A2E8}"/>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A97E0211-B1F2-6149-9BC1-481F09996CD6}"/>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7A3AA3DF-BABF-A94F-856A-2269148C5774}"/>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95EAEAA-4623-7644-9035-CD12D3CEDA0A}"/>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D777CAA-B533-BD47-8D37-FE2DB83393A3}"/>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884B12-0A7D-744B-B331-BAAC393D6F46}"/>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6450D750-FD73-664B-A24E-E4A6F25DD06A}"/>
                    </a:ext>
                  </a:extLst>
                </p:cNvPr>
                <p:cNvGrpSpPr/>
                <p:nvPr/>
              </p:nvGrpSpPr>
              <p:grpSpPr>
                <a:xfrm>
                  <a:off x="1749287" y="5221357"/>
                  <a:ext cx="1237944" cy="1311965"/>
                  <a:chOff x="4426226" y="4479235"/>
                  <a:chExt cx="1237944" cy="1311965"/>
                </a:xfrm>
              </p:grpSpPr>
              <p:sp>
                <p:nvSpPr>
                  <p:cNvPr id="204" name="Rectangle 203">
                    <a:extLst>
                      <a:ext uri="{FF2B5EF4-FFF2-40B4-BE49-F238E27FC236}">
                        <a16:creationId xmlns:a16="http://schemas.microsoft.com/office/drawing/2014/main" id="{4EB2FFEE-D801-434F-811C-4D932D9FD863}"/>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05" name="TextBox 204">
                    <a:extLst>
                      <a:ext uri="{FF2B5EF4-FFF2-40B4-BE49-F238E27FC236}">
                        <a16:creationId xmlns:a16="http://schemas.microsoft.com/office/drawing/2014/main" id="{6338DC98-C356-5F4C-BDDB-19CFA45B2ADF}"/>
                      </a:ext>
                    </a:extLst>
                  </p:cNvPr>
                  <p:cNvSpPr txBox="1"/>
                  <p:nvPr/>
                </p:nvSpPr>
                <p:spPr>
                  <a:xfrm>
                    <a:off x="4426226" y="4479235"/>
                    <a:ext cx="1237944"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fabric plane 5</a:t>
                    </a:r>
                  </a:p>
                </p:txBody>
              </p:sp>
            </p:grpSp>
            <p:sp>
              <p:nvSpPr>
                <p:cNvPr id="202" name="TextBox 201">
                  <a:extLst>
                    <a:ext uri="{FF2B5EF4-FFF2-40B4-BE49-F238E27FC236}">
                      <a16:creationId xmlns:a16="http://schemas.microsoft.com/office/drawing/2014/main" id="{4F03D8B2-18DF-9441-91C6-EDCF41C5DCFE}"/>
                    </a:ext>
                  </a:extLst>
                </p:cNvPr>
                <p:cNvSpPr txBox="1"/>
                <p:nvPr/>
              </p:nvSpPr>
              <p:spPr>
                <a:xfrm rot="16200000">
                  <a:off x="1340430" y="5674656"/>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sp>
              <p:nvSpPr>
                <p:cNvPr id="203" name="TextBox 202">
                  <a:extLst>
                    <a:ext uri="{FF2B5EF4-FFF2-40B4-BE49-F238E27FC236}">
                      <a16:creationId xmlns:a16="http://schemas.microsoft.com/office/drawing/2014/main" id="{B1680810-053C-1B44-97E5-1DCD007C9E5C}"/>
                    </a:ext>
                  </a:extLst>
                </p:cNvPr>
                <p:cNvSpPr txBox="1"/>
                <p:nvPr/>
              </p:nvSpPr>
              <p:spPr>
                <a:xfrm rot="16200000">
                  <a:off x="2658790" y="5671329"/>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grpSp>
          <p:grpSp>
            <p:nvGrpSpPr>
              <p:cNvPr id="206" name="Group 205">
                <a:extLst>
                  <a:ext uri="{FF2B5EF4-FFF2-40B4-BE49-F238E27FC236}">
                    <a16:creationId xmlns:a16="http://schemas.microsoft.com/office/drawing/2014/main" id="{7D56FDB2-A56A-2049-AAEE-5D25D788A270}"/>
                  </a:ext>
                </a:extLst>
              </p:cNvPr>
              <p:cNvGrpSpPr/>
              <p:nvPr/>
            </p:nvGrpSpPr>
            <p:grpSpPr>
              <a:xfrm>
                <a:off x="4270441" y="4234071"/>
                <a:ext cx="1718469" cy="1311965"/>
                <a:chOff x="1401345" y="5221357"/>
                <a:chExt cx="1718469" cy="1311965"/>
              </a:xfrm>
            </p:grpSpPr>
            <p:cxnSp>
              <p:nvCxnSpPr>
                <p:cNvPr id="207" name="Straight Connector 206">
                  <a:extLst>
                    <a:ext uri="{FF2B5EF4-FFF2-40B4-BE49-F238E27FC236}">
                      <a16:creationId xmlns:a16="http://schemas.microsoft.com/office/drawing/2014/main" id="{22EAFDB0-6DE3-0E44-9902-0724F0EAB690}"/>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08C7048B-F714-F84E-B906-722645E72990}"/>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6E4A0C0A-06FA-5F4D-B2FA-1D4BF01B99CB}"/>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E372A1A-E34B-F942-9893-AA5FB31EFB57}"/>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A99CA063-1FE2-EE45-84DD-A3F243F39CBA}"/>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621C27B-0228-544D-966D-4F474D033ED9}"/>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E54809C9-307B-984C-AA4B-37B74EF60940}"/>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534B91EF-1FC6-6947-8ABD-09296A096B07}"/>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A3B5CB2A-7E9D-A740-9A3C-4E1E9C4E860E}"/>
                    </a:ext>
                  </a:extLst>
                </p:cNvPr>
                <p:cNvGrpSpPr/>
                <p:nvPr/>
              </p:nvGrpSpPr>
              <p:grpSpPr>
                <a:xfrm>
                  <a:off x="1749287" y="5221357"/>
                  <a:ext cx="1237944" cy="1311965"/>
                  <a:chOff x="4426226" y="4479235"/>
                  <a:chExt cx="1237944" cy="1311965"/>
                </a:xfrm>
              </p:grpSpPr>
              <p:sp>
                <p:nvSpPr>
                  <p:cNvPr id="218" name="Rectangle 217">
                    <a:extLst>
                      <a:ext uri="{FF2B5EF4-FFF2-40B4-BE49-F238E27FC236}">
                        <a16:creationId xmlns:a16="http://schemas.microsoft.com/office/drawing/2014/main" id="{67652EB3-8E5E-124E-8E46-0E70E5F5EB07}"/>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19" name="TextBox 218">
                    <a:extLst>
                      <a:ext uri="{FF2B5EF4-FFF2-40B4-BE49-F238E27FC236}">
                        <a16:creationId xmlns:a16="http://schemas.microsoft.com/office/drawing/2014/main" id="{1C717108-F21C-404D-BC48-34D7D27FDE9C}"/>
                      </a:ext>
                    </a:extLst>
                  </p:cNvPr>
                  <p:cNvSpPr txBox="1"/>
                  <p:nvPr/>
                </p:nvSpPr>
                <p:spPr>
                  <a:xfrm>
                    <a:off x="4426226" y="4479235"/>
                    <a:ext cx="1237944"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fabric plane 6</a:t>
                    </a:r>
                  </a:p>
                </p:txBody>
              </p:sp>
            </p:grpSp>
            <p:sp>
              <p:nvSpPr>
                <p:cNvPr id="216" name="TextBox 215">
                  <a:extLst>
                    <a:ext uri="{FF2B5EF4-FFF2-40B4-BE49-F238E27FC236}">
                      <a16:creationId xmlns:a16="http://schemas.microsoft.com/office/drawing/2014/main" id="{B69D0A55-0506-A841-9161-089AD1E68DB7}"/>
                    </a:ext>
                  </a:extLst>
                </p:cNvPr>
                <p:cNvSpPr txBox="1"/>
                <p:nvPr/>
              </p:nvSpPr>
              <p:spPr>
                <a:xfrm rot="16200000">
                  <a:off x="1340430" y="5674656"/>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sp>
              <p:nvSpPr>
                <p:cNvPr id="217" name="TextBox 216">
                  <a:extLst>
                    <a:ext uri="{FF2B5EF4-FFF2-40B4-BE49-F238E27FC236}">
                      <a16:creationId xmlns:a16="http://schemas.microsoft.com/office/drawing/2014/main" id="{A0CCAB8F-FD60-2243-B1B8-FF0A635D71D1}"/>
                    </a:ext>
                  </a:extLst>
                </p:cNvPr>
                <p:cNvSpPr txBox="1"/>
                <p:nvPr/>
              </p:nvSpPr>
              <p:spPr>
                <a:xfrm rot="16200000">
                  <a:off x="2658790" y="5671329"/>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grpSp>
          <p:grpSp>
            <p:nvGrpSpPr>
              <p:cNvPr id="220" name="Group 219">
                <a:extLst>
                  <a:ext uri="{FF2B5EF4-FFF2-40B4-BE49-F238E27FC236}">
                    <a16:creationId xmlns:a16="http://schemas.microsoft.com/office/drawing/2014/main" id="{EBE05E73-D99E-C147-9716-828223599C40}"/>
                  </a:ext>
                </a:extLst>
              </p:cNvPr>
              <p:cNvGrpSpPr/>
              <p:nvPr/>
            </p:nvGrpSpPr>
            <p:grpSpPr>
              <a:xfrm>
                <a:off x="4184302" y="4452732"/>
                <a:ext cx="1718469" cy="1311965"/>
                <a:chOff x="1401345" y="5221357"/>
                <a:chExt cx="1718469" cy="1311965"/>
              </a:xfrm>
            </p:grpSpPr>
            <p:cxnSp>
              <p:nvCxnSpPr>
                <p:cNvPr id="221" name="Straight Connector 220">
                  <a:extLst>
                    <a:ext uri="{FF2B5EF4-FFF2-40B4-BE49-F238E27FC236}">
                      <a16:creationId xmlns:a16="http://schemas.microsoft.com/office/drawing/2014/main" id="{BD2E3933-9FCB-D54C-9E07-9014FBA4EECE}"/>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0DDC4D9-1AE1-124C-B7D3-5CBC537D97AC}"/>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0194CF0-8839-CC4F-99D8-3F3A37783E56}"/>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52B5416-5AAB-2D46-9B0E-CE3CA11D2ED9}"/>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2E2826A0-6585-5742-B3D7-72AC0D8B5703}"/>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85CEE96-F86A-3F45-A843-174A5CE01AEE}"/>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16F9E714-0E70-3C4B-995B-BA09A4319E0E}"/>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99A2B0DD-2B68-0345-8098-716D1C4E5C05}"/>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8" name="Group 247">
                  <a:extLst>
                    <a:ext uri="{FF2B5EF4-FFF2-40B4-BE49-F238E27FC236}">
                      <a16:creationId xmlns:a16="http://schemas.microsoft.com/office/drawing/2014/main" id="{E207C60C-2027-014E-ACA1-A8C5FECF1B84}"/>
                    </a:ext>
                  </a:extLst>
                </p:cNvPr>
                <p:cNvGrpSpPr/>
                <p:nvPr/>
              </p:nvGrpSpPr>
              <p:grpSpPr>
                <a:xfrm>
                  <a:off x="1749287" y="5221357"/>
                  <a:ext cx="1237944" cy="1311965"/>
                  <a:chOff x="4426226" y="4479235"/>
                  <a:chExt cx="1237944" cy="1311965"/>
                </a:xfrm>
              </p:grpSpPr>
              <p:sp>
                <p:nvSpPr>
                  <p:cNvPr id="251" name="Rectangle 250">
                    <a:extLst>
                      <a:ext uri="{FF2B5EF4-FFF2-40B4-BE49-F238E27FC236}">
                        <a16:creationId xmlns:a16="http://schemas.microsoft.com/office/drawing/2014/main" id="{08D55DB1-B076-A04E-8054-6804391003C5}"/>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252" name="TextBox 251">
                    <a:extLst>
                      <a:ext uri="{FF2B5EF4-FFF2-40B4-BE49-F238E27FC236}">
                        <a16:creationId xmlns:a16="http://schemas.microsoft.com/office/drawing/2014/main" id="{03F187CE-BFD2-954F-B4CF-08652524520B}"/>
                      </a:ext>
                    </a:extLst>
                  </p:cNvPr>
                  <p:cNvSpPr txBox="1"/>
                  <p:nvPr/>
                </p:nvSpPr>
                <p:spPr>
                  <a:xfrm>
                    <a:off x="4426226" y="4479235"/>
                    <a:ext cx="1237944" cy="338555"/>
                  </a:xfrm>
                  <a:prstGeom prst="rect">
                    <a:avLst/>
                  </a:prstGeom>
                  <a:noFill/>
                </p:spPr>
                <p:txBody>
                  <a:bodyPr wrap="none" rtlCol="0">
                    <a:spAutoFit/>
                  </a:bodyPr>
                  <a:lstStyle/>
                  <a:p>
                    <a:pPr defTabSz="685800" eaLnBrk="1" fontAlgn="auto" hangingPunct="1">
                      <a:spcBef>
                        <a:spcPts val="0"/>
                      </a:spcBef>
                      <a:spcAft>
                        <a:spcPts val="0"/>
                      </a:spcAft>
                      <a:defRPr/>
                    </a:pPr>
                    <a:r>
                      <a:rPr lang="en-US" sz="1050" dirty="0">
                        <a:solidFill>
                          <a:prstClr val="black"/>
                        </a:solidFill>
                        <a:latin typeface="Calibri" panose="020F0502020204030204"/>
                        <a:ea typeface="+mn-ea"/>
                      </a:rPr>
                      <a:t>fabric plane 7</a:t>
                    </a:r>
                  </a:p>
                </p:txBody>
              </p:sp>
            </p:grpSp>
            <p:sp>
              <p:nvSpPr>
                <p:cNvPr id="249" name="TextBox 248">
                  <a:extLst>
                    <a:ext uri="{FF2B5EF4-FFF2-40B4-BE49-F238E27FC236}">
                      <a16:creationId xmlns:a16="http://schemas.microsoft.com/office/drawing/2014/main" id="{B8F709DD-A4C9-964E-9369-DC9024B01328}"/>
                    </a:ext>
                  </a:extLst>
                </p:cNvPr>
                <p:cNvSpPr txBox="1"/>
                <p:nvPr/>
              </p:nvSpPr>
              <p:spPr>
                <a:xfrm rot="16200000">
                  <a:off x="1340430" y="5674656"/>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sp>
              <p:nvSpPr>
                <p:cNvPr id="250" name="TextBox 249">
                  <a:extLst>
                    <a:ext uri="{FF2B5EF4-FFF2-40B4-BE49-F238E27FC236}">
                      <a16:creationId xmlns:a16="http://schemas.microsoft.com/office/drawing/2014/main" id="{0CB27A1C-1B33-8D47-A809-2A64EA9496C4}"/>
                    </a:ext>
                  </a:extLst>
                </p:cNvPr>
                <p:cNvSpPr txBox="1"/>
                <p:nvPr/>
              </p:nvSpPr>
              <p:spPr>
                <a:xfrm rot="16200000">
                  <a:off x="2658790" y="5671329"/>
                  <a:ext cx="521939" cy="400109"/>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 .</a:t>
                  </a:r>
                </a:p>
              </p:txBody>
            </p:sp>
          </p:grpSp>
        </p:grpSp>
        <p:grpSp>
          <p:nvGrpSpPr>
            <p:cNvPr id="276" name="Group 148">
              <a:extLst>
                <a:ext uri="{FF2B5EF4-FFF2-40B4-BE49-F238E27FC236}">
                  <a16:creationId xmlns:a16="http://schemas.microsoft.com/office/drawing/2014/main" id="{2E570F32-B5FE-CB40-B069-AF1FD1544947}"/>
                </a:ext>
              </a:extLst>
            </p:cNvPr>
            <p:cNvGrpSpPr>
              <a:grpSpLocks/>
            </p:cNvGrpSpPr>
            <p:nvPr/>
          </p:nvGrpSpPr>
          <p:grpSpPr bwMode="auto">
            <a:xfrm>
              <a:off x="7458844" y="4535520"/>
              <a:ext cx="799405" cy="236966"/>
              <a:chOff x="453" y="3465"/>
              <a:chExt cx="561" cy="136"/>
            </a:xfrm>
          </p:grpSpPr>
          <p:sp>
            <p:nvSpPr>
              <p:cNvPr id="277" name="Rectangle 149">
                <a:extLst>
                  <a:ext uri="{FF2B5EF4-FFF2-40B4-BE49-F238E27FC236}">
                    <a16:creationId xmlns:a16="http://schemas.microsoft.com/office/drawing/2014/main" id="{FEA32228-96F7-134B-A34B-AB5502318465}"/>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278" name="Rectangle 150">
                <a:extLst>
                  <a:ext uri="{FF2B5EF4-FFF2-40B4-BE49-F238E27FC236}">
                    <a16:creationId xmlns:a16="http://schemas.microsoft.com/office/drawing/2014/main" id="{2365A856-1D41-F642-858D-16C20FD01E42}"/>
                  </a:ext>
                </a:extLst>
              </p:cNvPr>
              <p:cNvSpPr>
                <a:spLocks noChangeArrowheads="1"/>
              </p:cNvSpPr>
              <p:nvPr/>
            </p:nvSpPr>
            <p:spPr bwMode="auto">
              <a:xfrm>
                <a:off x="769" y="3504"/>
                <a:ext cx="132" cy="61"/>
              </a:xfrm>
              <a:prstGeom prst="rect">
                <a:avLst/>
              </a:prstGeom>
              <a:solidFill>
                <a:srgbClr val="FFFFFF"/>
              </a:solidFill>
              <a:ln w="158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279" name="Rectangle 151">
                <a:extLst>
                  <a:ext uri="{FF2B5EF4-FFF2-40B4-BE49-F238E27FC236}">
                    <a16:creationId xmlns:a16="http://schemas.microsoft.com/office/drawing/2014/main" id="{0B0BE8CF-B7C0-7947-BE53-3B146B8EC001}"/>
                  </a:ext>
                </a:extLst>
              </p:cNvPr>
              <p:cNvSpPr>
                <a:spLocks noChangeArrowheads="1"/>
              </p:cNvSpPr>
              <p:nvPr/>
            </p:nvSpPr>
            <p:spPr bwMode="auto">
              <a:xfrm>
                <a:off x="642" y="3481"/>
                <a:ext cx="108" cy="104"/>
              </a:xfrm>
              <a:prstGeom prst="rect">
                <a:avLst/>
              </a:prstGeom>
              <a:solidFill>
                <a:srgbClr val="FFFFFF"/>
              </a:solidFill>
              <a:ln w="158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280" name="Rectangle 152">
                <a:extLst>
                  <a:ext uri="{FF2B5EF4-FFF2-40B4-BE49-F238E27FC236}">
                    <a16:creationId xmlns:a16="http://schemas.microsoft.com/office/drawing/2014/main" id="{868D8C31-ED5A-E24D-8D93-00655F6384B0}"/>
                  </a:ext>
                </a:extLst>
              </p:cNvPr>
              <p:cNvSpPr>
                <a:spLocks noChangeArrowheads="1"/>
              </p:cNvSpPr>
              <p:nvPr/>
            </p:nvSpPr>
            <p:spPr bwMode="auto">
              <a:xfrm>
                <a:off x="515" y="3478"/>
                <a:ext cx="108" cy="105"/>
              </a:xfrm>
              <a:prstGeom prst="rect">
                <a:avLst/>
              </a:prstGeom>
              <a:solidFill>
                <a:srgbClr val="FFFFFF"/>
              </a:solidFill>
              <a:ln w="158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281" name="Line 153">
                <a:extLst>
                  <a:ext uri="{FF2B5EF4-FFF2-40B4-BE49-F238E27FC236}">
                    <a16:creationId xmlns:a16="http://schemas.microsoft.com/office/drawing/2014/main" id="{65D89C0F-33F9-8F40-A576-039AE5F2393F}"/>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cxnSp>
          <p:nvCxnSpPr>
            <p:cNvPr id="16" name="Straight Connector 15">
              <a:extLst>
                <a:ext uri="{FF2B5EF4-FFF2-40B4-BE49-F238E27FC236}">
                  <a16:creationId xmlns:a16="http://schemas.microsoft.com/office/drawing/2014/main" id="{AC5C06A7-CC33-B147-8CF7-72174E9EF51C}"/>
                </a:ext>
              </a:extLst>
            </p:cNvPr>
            <p:cNvCxnSpPr>
              <a:cxnSpLocks/>
            </p:cNvCxnSpPr>
            <p:nvPr/>
          </p:nvCxnSpPr>
          <p:spPr>
            <a:xfrm flipH="1">
              <a:off x="4374532" y="2250005"/>
              <a:ext cx="1064231" cy="292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F8E278EB-F529-0245-8909-19F0275C51F3}"/>
                </a:ext>
              </a:extLst>
            </p:cNvPr>
            <p:cNvCxnSpPr>
              <a:cxnSpLocks/>
            </p:cNvCxnSpPr>
            <p:nvPr/>
          </p:nvCxnSpPr>
          <p:spPr>
            <a:xfrm flipH="1">
              <a:off x="4379613" y="2473015"/>
              <a:ext cx="975008" cy="700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B52CBCAC-3051-6E4F-BE6E-0E188B5230EB}"/>
                </a:ext>
              </a:extLst>
            </p:cNvPr>
            <p:cNvCxnSpPr>
              <a:cxnSpLocks/>
            </p:cNvCxnSpPr>
            <p:nvPr/>
          </p:nvCxnSpPr>
          <p:spPr>
            <a:xfrm flipH="1" flipV="1">
              <a:off x="4374532" y="2542460"/>
              <a:ext cx="887706" cy="145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7A1AA8BB-3481-5D4C-8AE1-96BF35A11907}"/>
                </a:ext>
              </a:extLst>
            </p:cNvPr>
            <p:cNvCxnSpPr>
              <a:cxnSpLocks/>
            </p:cNvCxnSpPr>
            <p:nvPr/>
          </p:nvCxnSpPr>
          <p:spPr>
            <a:xfrm flipH="1" flipV="1">
              <a:off x="4383143" y="2539506"/>
              <a:ext cx="803404" cy="366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A8EE266F-7F85-D745-9E59-EFAAD06842D2}"/>
                </a:ext>
              </a:extLst>
            </p:cNvPr>
            <p:cNvCxnSpPr>
              <a:cxnSpLocks/>
            </p:cNvCxnSpPr>
            <p:nvPr/>
          </p:nvCxnSpPr>
          <p:spPr>
            <a:xfrm flipH="1" flipV="1">
              <a:off x="4374532" y="2542460"/>
              <a:ext cx="721772" cy="5825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DA93283C-0C9E-8543-AF5F-81C9EADB16A9}"/>
                </a:ext>
              </a:extLst>
            </p:cNvPr>
            <p:cNvCxnSpPr>
              <a:cxnSpLocks/>
            </p:cNvCxnSpPr>
            <p:nvPr/>
          </p:nvCxnSpPr>
          <p:spPr>
            <a:xfrm flipH="1" flipV="1">
              <a:off x="4379613" y="2543036"/>
              <a:ext cx="630409" cy="7967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AD9651E7-198A-4540-9EAA-6C1B85AACA3E}"/>
                </a:ext>
              </a:extLst>
            </p:cNvPr>
            <p:cNvCxnSpPr>
              <a:cxnSpLocks/>
            </p:cNvCxnSpPr>
            <p:nvPr/>
          </p:nvCxnSpPr>
          <p:spPr>
            <a:xfrm flipH="1" flipV="1">
              <a:off x="4374532" y="2542460"/>
              <a:ext cx="554878" cy="1023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82B32D18-45B7-A544-93F3-482D031376A5}"/>
                </a:ext>
              </a:extLst>
            </p:cNvPr>
            <p:cNvCxnSpPr>
              <a:cxnSpLocks/>
            </p:cNvCxnSpPr>
            <p:nvPr/>
          </p:nvCxnSpPr>
          <p:spPr>
            <a:xfrm flipH="1" flipV="1">
              <a:off x="4374532" y="2542460"/>
              <a:ext cx="463674" cy="1239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60B2CCF9-7FBB-EB49-9BF3-CFE052378DB3}"/>
                </a:ext>
              </a:extLst>
            </p:cNvPr>
            <p:cNvCxnSpPr>
              <a:cxnSpLocks/>
            </p:cNvCxnSpPr>
            <p:nvPr/>
          </p:nvCxnSpPr>
          <p:spPr>
            <a:xfrm flipH="1" flipV="1">
              <a:off x="6814697" y="3196191"/>
              <a:ext cx="643514" cy="1458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F5AB2FF7-2FB7-E24A-9C38-598523278059}"/>
                </a:ext>
              </a:extLst>
            </p:cNvPr>
            <p:cNvCxnSpPr>
              <a:cxnSpLocks/>
              <a:stCxn id="281" idx="0"/>
            </p:cNvCxnSpPr>
            <p:nvPr/>
          </p:nvCxnSpPr>
          <p:spPr>
            <a:xfrm flipH="1" flipV="1">
              <a:off x="6730554" y="3415671"/>
              <a:ext cx="728290" cy="12383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8A0880C7-A15A-534A-90E6-FBF859429BDA}"/>
                </a:ext>
              </a:extLst>
            </p:cNvPr>
            <p:cNvCxnSpPr>
              <a:cxnSpLocks/>
              <a:stCxn id="281" idx="0"/>
            </p:cNvCxnSpPr>
            <p:nvPr/>
          </p:nvCxnSpPr>
          <p:spPr>
            <a:xfrm flipH="1" flipV="1">
              <a:off x="6653472" y="3638681"/>
              <a:ext cx="805372" cy="10153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3E017690-EC6F-FB4F-A1FF-CAE71BABDE52}"/>
                </a:ext>
              </a:extLst>
            </p:cNvPr>
            <p:cNvCxnSpPr>
              <a:cxnSpLocks/>
              <a:stCxn id="281" idx="0"/>
            </p:cNvCxnSpPr>
            <p:nvPr/>
          </p:nvCxnSpPr>
          <p:spPr>
            <a:xfrm flipH="1" flipV="1">
              <a:off x="6569330" y="3858161"/>
              <a:ext cx="889514" cy="795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8412F5B1-1BE1-734A-B9C4-7E61DAACE56E}"/>
                </a:ext>
              </a:extLst>
            </p:cNvPr>
            <p:cNvCxnSpPr>
              <a:cxnSpLocks/>
              <a:stCxn id="281" idx="0"/>
            </p:cNvCxnSpPr>
            <p:nvPr/>
          </p:nvCxnSpPr>
          <p:spPr>
            <a:xfrm flipH="1" flipV="1">
              <a:off x="6478128" y="4074111"/>
              <a:ext cx="980716" cy="57989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B2D8881F-1594-4149-9DD1-52BC68531279}"/>
                </a:ext>
              </a:extLst>
            </p:cNvPr>
            <p:cNvCxnSpPr>
              <a:cxnSpLocks/>
              <a:stCxn id="281" idx="0"/>
            </p:cNvCxnSpPr>
            <p:nvPr/>
          </p:nvCxnSpPr>
          <p:spPr>
            <a:xfrm flipH="1" flipV="1">
              <a:off x="6390458" y="4290061"/>
              <a:ext cx="1068386" cy="36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FB912C47-FFD4-2740-8D44-D2C1F2E1EFA0}"/>
                </a:ext>
              </a:extLst>
            </p:cNvPr>
            <p:cNvCxnSpPr>
              <a:cxnSpLocks/>
              <a:stCxn id="281" idx="0"/>
            </p:cNvCxnSpPr>
            <p:nvPr/>
          </p:nvCxnSpPr>
          <p:spPr>
            <a:xfrm flipH="1" flipV="1">
              <a:off x="6299258" y="4509543"/>
              <a:ext cx="1159586" cy="1444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9F4EF984-B0C2-4946-A8C1-37C7146F8BC5}"/>
                </a:ext>
              </a:extLst>
            </p:cNvPr>
            <p:cNvCxnSpPr>
              <a:cxnSpLocks/>
            </p:cNvCxnSpPr>
            <p:nvPr/>
          </p:nvCxnSpPr>
          <p:spPr>
            <a:xfrm flipH="1">
              <a:off x="6218650" y="4657807"/>
              <a:ext cx="1228969" cy="78279"/>
            </a:xfrm>
            <a:prstGeom prst="line">
              <a:avLst/>
            </a:prstGeom>
          </p:spPr>
          <p:style>
            <a:lnRef idx="1">
              <a:schemeClr val="accent1"/>
            </a:lnRef>
            <a:fillRef idx="0">
              <a:schemeClr val="accent1"/>
            </a:fillRef>
            <a:effectRef idx="0">
              <a:schemeClr val="accent1"/>
            </a:effectRef>
            <a:fontRef idx="minor">
              <a:schemeClr val="tx1"/>
            </a:fontRef>
          </p:style>
        </p:cxnSp>
        <p:grpSp>
          <p:nvGrpSpPr>
            <p:cNvPr id="322" name="Group 118">
              <a:extLst>
                <a:ext uri="{FF2B5EF4-FFF2-40B4-BE49-F238E27FC236}">
                  <a16:creationId xmlns:a16="http://schemas.microsoft.com/office/drawing/2014/main" id="{8531BEC6-8E48-1745-9FD6-6DA75DC1C20E}"/>
                </a:ext>
              </a:extLst>
            </p:cNvPr>
            <p:cNvGrpSpPr>
              <a:grpSpLocks/>
            </p:cNvGrpSpPr>
            <p:nvPr/>
          </p:nvGrpSpPr>
          <p:grpSpPr bwMode="auto">
            <a:xfrm>
              <a:off x="2502527" y="4777410"/>
              <a:ext cx="977484" cy="193795"/>
              <a:chOff x="876" y="2800"/>
              <a:chExt cx="642" cy="175"/>
            </a:xfrm>
          </p:grpSpPr>
          <p:sp>
            <p:nvSpPr>
              <p:cNvPr id="323" name="Rectangle 119">
                <a:extLst>
                  <a:ext uri="{FF2B5EF4-FFF2-40B4-BE49-F238E27FC236}">
                    <a16:creationId xmlns:a16="http://schemas.microsoft.com/office/drawing/2014/main" id="{AD85F25B-088A-FF43-8996-713EAF236AE2}"/>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24" name="Rectangle 120">
                <a:extLst>
                  <a:ext uri="{FF2B5EF4-FFF2-40B4-BE49-F238E27FC236}">
                    <a16:creationId xmlns:a16="http://schemas.microsoft.com/office/drawing/2014/main" id="{881293D1-125C-CE4E-BDAC-ED5BE197B355}"/>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325" name="Rectangle 121">
                <a:extLst>
                  <a:ext uri="{FF2B5EF4-FFF2-40B4-BE49-F238E27FC236}">
                    <a16:creationId xmlns:a16="http://schemas.microsoft.com/office/drawing/2014/main" id="{512AFAA5-EC34-A742-993A-F06E45DCEA02}"/>
                  </a:ext>
                </a:extLst>
              </p:cNvPr>
              <p:cNvSpPr>
                <a:spLocks noChangeArrowheads="1"/>
              </p:cNvSpPr>
              <p:nvPr/>
            </p:nvSpPr>
            <p:spPr bwMode="auto">
              <a:xfrm>
                <a:off x="1117" y="2821"/>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26" name="Rectangle 122">
                <a:extLst>
                  <a:ext uri="{FF2B5EF4-FFF2-40B4-BE49-F238E27FC236}">
                    <a16:creationId xmlns:a16="http://schemas.microsoft.com/office/drawing/2014/main" id="{E5A9B695-D6BC-E646-8F7D-BABEDDBA0EDA}"/>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27" name="Line 123">
                <a:extLst>
                  <a:ext uri="{FF2B5EF4-FFF2-40B4-BE49-F238E27FC236}">
                    <a16:creationId xmlns:a16="http://schemas.microsoft.com/office/drawing/2014/main" id="{E65D8F28-EA0F-2244-AA7B-70C137E80EAC}"/>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nvGrpSpPr>
            <p:cNvPr id="36" name="Group 35">
              <a:extLst>
                <a:ext uri="{FF2B5EF4-FFF2-40B4-BE49-F238E27FC236}">
                  <a16:creationId xmlns:a16="http://schemas.microsoft.com/office/drawing/2014/main" id="{2810B165-77EB-1340-AB6E-272C262E9452}"/>
                </a:ext>
              </a:extLst>
            </p:cNvPr>
            <p:cNvGrpSpPr/>
            <p:nvPr/>
          </p:nvGrpSpPr>
          <p:grpSpPr>
            <a:xfrm>
              <a:off x="3507269" y="2955235"/>
              <a:ext cx="216590" cy="413440"/>
              <a:chOff x="3507269" y="2955235"/>
              <a:chExt cx="216590" cy="413440"/>
            </a:xfrm>
          </p:grpSpPr>
          <p:sp>
            <p:nvSpPr>
              <p:cNvPr id="33" name="Oval 32">
                <a:extLst>
                  <a:ext uri="{FF2B5EF4-FFF2-40B4-BE49-F238E27FC236}">
                    <a16:creationId xmlns:a16="http://schemas.microsoft.com/office/drawing/2014/main" id="{CC1FC9A4-61A1-B14D-939C-A6CF2C62ABA5}"/>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40" name="Oval 339">
                <a:extLst>
                  <a:ext uri="{FF2B5EF4-FFF2-40B4-BE49-F238E27FC236}">
                    <a16:creationId xmlns:a16="http://schemas.microsoft.com/office/drawing/2014/main" id="{AC8158DD-C79C-C24C-AD83-DDBAB99ED80C}"/>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41" name="Oval 340">
                <a:extLst>
                  <a:ext uri="{FF2B5EF4-FFF2-40B4-BE49-F238E27FC236}">
                    <a16:creationId xmlns:a16="http://schemas.microsoft.com/office/drawing/2014/main" id="{8FF7AB88-E320-7840-9DA7-5197F446D998}"/>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nvGrpSpPr>
            <p:cNvPr id="342" name="Group 341">
              <a:extLst>
                <a:ext uri="{FF2B5EF4-FFF2-40B4-BE49-F238E27FC236}">
                  <a16:creationId xmlns:a16="http://schemas.microsoft.com/office/drawing/2014/main" id="{799C3A75-BFC9-2E48-85C8-5B7EC7CCDAB9}"/>
                </a:ext>
              </a:extLst>
            </p:cNvPr>
            <p:cNvGrpSpPr/>
            <p:nvPr/>
          </p:nvGrpSpPr>
          <p:grpSpPr>
            <a:xfrm>
              <a:off x="3177069" y="3850585"/>
              <a:ext cx="216590" cy="413440"/>
              <a:chOff x="3507269" y="2955235"/>
              <a:chExt cx="216590" cy="413440"/>
            </a:xfrm>
          </p:grpSpPr>
          <p:sp>
            <p:nvSpPr>
              <p:cNvPr id="343" name="Oval 342">
                <a:extLst>
                  <a:ext uri="{FF2B5EF4-FFF2-40B4-BE49-F238E27FC236}">
                    <a16:creationId xmlns:a16="http://schemas.microsoft.com/office/drawing/2014/main" id="{72ABB4E7-CCDD-1048-8C9B-331093124F08}"/>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44" name="Oval 343">
                <a:extLst>
                  <a:ext uri="{FF2B5EF4-FFF2-40B4-BE49-F238E27FC236}">
                    <a16:creationId xmlns:a16="http://schemas.microsoft.com/office/drawing/2014/main" id="{788BF5C4-FCBC-234C-A3AA-4A94BEC19621}"/>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45" name="Oval 344">
                <a:extLst>
                  <a:ext uri="{FF2B5EF4-FFF2-40B4-BE49-F238E27FC236}">
                    <a16:creationId xmlns:a16="http://schemas.microsoft.com/office/drawing/2014/main" id="{81E03BF8-40AA-A14E-A442-E2FE179942C4}"/>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nvGrpSpPr>
            <p:cNvPr id="346" name="Group 118">
              <a:extLst>
                <a:ext uri="{FF2B5EF4-FFF2-40B4-BE49-F238E27FC236}">
                  <a16:creationId xmlns:a16="http://schemas.microsoft.com/office/drawing/2014/main" id="{09A94EFC-0C6E-AB46-BB6D-B8EDD8753E87}"/>
                </a:ext>
              </a:extLst>
            </p:cNvPr>
            <p:cNvGrpSpPr>
              <a:grpSpLocks/>
            </p:cNvGrpSpPr>
            <p:nvPr/>
          </p:nvGrpSpPr>
          <p:grpSpPr bwMode="auto">
            <a:xfrm>
              <a:off x="3399128" y="2453587"/>
              <a:ext cx="977484" cy="193795"/>
              <a:chOff x="876" y="2800"/>
              <a:chExt cx="642" cy="175"/>
            </a:xfrm>
          </p:grpSpPr>
          <p:sp>
            <p:nvSpPr>
              <p:cNvPr id="347" name="Rectangle 119">
                <a:extLst>
                  <a:ext uri="{FF2B5EF4-FFF2-40B4-BE49-F238E27FC236}">
                    <a16:creationId xmlns:a16="http://schemas.microsoft.com/office/drawing/2014/main" id="{95557478-C808-0A49-99F3-AB762999C6DA}"/>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48" name="Rectangle 120">
                <a:extLst>
                  <a:ext uri="{FF2B5EF4-FFF2-40B4-BE49-F238E27FC236}">
                    <a16:creationId xmlns:a16="http://schemas.microsoft.com/office/drawing/2014/main" id="{57DD8E6C-AE44-C246-A617-6D3940612041}"/>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349" name="Rectangle 121">
                <a:extLst>
                  <a:ext uri="{FF2B5EF4-FFF2-40B4-BE49-F238E27FC236}">
                    <a16:creationId xmlns:a16="http://schemas.microsoft.com/office/drawing/2014/main" id="{EC25F33B-A2F2-E441-9E7F-31DC2E7A8A2A}"/>
                  </a:ext>
                </a:extLst>
              </p:cNvPr>
              <p:cNvSpPr>
                <a:spLocks noChangeArrowheads="1"/>
              </p:cNvSpPr>
              <p:nvPr/>
            </p:nvSpPr>
            <p:spPr bwMode="auto">
              <a:xfrm>
                <a:off x="1117" y="2821"/>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50" name="Rectangle 122">
                <a:extLst>
                  <a:ext uri="{FF2B5EF4-FFF2-40B4-BE49-F238E27FC236}">
                    <a16:creationId xmlns:a16="http://schemas.microsoft.com/office/drawing/2014/main" id="{43EDE764-1035-AE47-96B5-71878F878CA1}"/>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51" name="Line 123">
                <a:extLst>
                  <a:ext uri="{FF2B5EF4-FFF2-40B4-BE49-F238E27FC236}">
                    <a16:creationId xmlns:a16="http://schemas.microsoft.com/office/drawing/2014/main" id="{6F7EBE29-77D5-1443-A62A-0BCECCF4B62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nvGrpSpPr>
            <p:cNvPr id="352" name="Group 351">
              <a:extLst>
                <a:ext uri="{FF2B5EF4-FFF2-40B4-BE49-F238E27FC236}">
                  <a16:creationId xmlns:a16="http://schemas.microsoft.com/office/drawing/2014/main" id="{190EAB13-BC95-254B-8BB7-4ECCA50E13F0}"/>
                </a:ext>
              </a:extLst>
            </p:cNvPr>
            <p:cNvGrpSpPr/>
            <p:nvPr/>
          </p:nvGrpSpPr>
          <p:grpSpPr>
            <a:xfrm>
              <a:off x="8205165" y="3160644"/>
              <a:ext cx="216590" cy="413440"/>
              <a:chOff x="3507269" y="2955235"/>
              <a:chExt cx="216590" cy="413440"/>
            </a:xfrm>
          </p:grpSpPr>
          <p:sp>
            <p:nvSpPr>
              <p:cNvPr id="353" name="Oval 352">
                <a:extLst>
                  <a:ext uri="{FF2B5EF4-FFF2-40B4-BE49-F238E27FC236}">
                    <a16:creationId xmlns:a16="http://schemas.microsoft.com/office/drawing/2014/main" id="{804BF0A2-3072-234A-8050-8FB74487C8DA}"/>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54" name="Oval 353">
                <a:extLst>
                  <a:ext uri="{FF2B5EF4-FFF2-40B4-BE49-F238E27FC236}">
                    <a16:creationId xmlns:a16="http://schemas.microsoft.com/office/drawing/2014/main" id="{C413300F-0BEB-F24C-821D-DC72C49D43A3}"/>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55" name="Oval 354">
                <a:extLst>
                  <a:ext uri="{FF2B5EF4-FFF2-40B4-BE49-F238E27FC236}">
                    <a16:creationId xmlns:a16="http://schemas.microsoft.com/office/drawing/2014/main" id="{31EB8237-FBF1-B04A-AB23-73699C8FBA07}"/>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nvGrpSpPr>
            <p:cNvPr id="356" name="Group 355">
              <a:extLst>
                <a:ext uri="{FF2B5EF4-FFF2-40B4-BE49-F238E27FC236}">
                  <a16:creationId xmlns:a16="http://schemas.microsoft.com/office/drawing/2014/main" id="{96152ADC-604E-D743-A986-EE1E09F3192C}"/>
                </a:ext>
              </a:extLst>
            </p:cNvPr>
            <p:cNvGrpSpPr/>
            <p:nvPr/>
          </p:nvGrpSpPr>
          <p:grpSpPr>
            <a:xfrm>
              <a:off x="7874965" y="4055994"/>
              <a:ext cx="216590" cy="413440"/>
              <a:chOff x="3507269" y="2955235"/>
              <a:chExt cx="216590" cy="413440"/>
            </a:xfrm>
          </p:grpSpPr>
          <p:sp>
            <p:nvSpPr>
              <p:cNvPr id="357" name="Oval 356">
                <a:extLst>
                  <a:ext uri="{FF2B5EF4-FFF2-40B4-BE49-F238E27FC236}">
                    <a16:creationId xmlns:a16="http://schemas.microsoft.com/office/drawing/2014/main" id="{AD2413A3-D610-3A44-A8C9-D33C8445F06C}"/>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58" name="Oval 357">
                <a:extLst>
                  <a:ext uri="{FF2B5EF4-FFF2-40B4-BE49-F238E27FC236}">
                    <a16:creationId xmlns:a16="http://schemas.microsoft.com/office/drawing/2014/main" id="{A236988D-798F-384E-8DDE-1AC0A77B3151}"/>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59" name="Oval 358">
                <a:extLst>
                  <a:ext uri="{FF2B5EF4-FFF2-40B4-BE49-F238E27FC236}">
                    <a16:creationId xmlns:a16="http://schemas.microsoft.com/office/drawing/2014/main" id="{C4C673DD-75A7-5844-A4F5-64B9BEA27A98}"/>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nvGrpSpPr>
            <p:cNvPr id="366" name="Group 148">
              <a:extLst>
                <a:ext uri="{FF2B5EF4-FFF2-40B4-BE49-F238E27FC236}">
                  <a16:creationId xmlns:a16="http://schemas.microsoft.com/office/drawing/2014/main" id="{F021FAE4-32E0-2144-BFDD-D6EFA8B276AE}"/>
                </a:ext>
              </a:extLst>
            </p:cNvPr>
            <p:cNvGrpSpPr>
              <a:grpSpLocks/>
            </p:cNvGrpSpPr>
            <p:nvPr/>
          </p:nvGrpSpPr>
          <p:grpSpPr bwMode="auto">
            <a:xfrm>
              <a:off x="8207592" y="2673589"/>
              <a:ext cx="799405" cy="236966"/>
              <a:chOff x="453" y="3465"/>
              <a:chExt cx="561" cy="136"/>
            </a:xfrm>
          </p:grpSpPr>
          <p:sp>
            <p:nvSpPr>
              <p:cNvPr id="367" name="Rectangle 149">
                <a:extLst>
                  <a:ext uri="{FF2B5EF4-FFF2-40B4-BE49-F238E27FC236}">
                    <a16:creationId xmlns:a16="http://schemas.microsoft.com/office/drawing/2014/main" id="{93B37654-0763-114F-AA2F-3A9E07388149}"/>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68" name="Rectangle 150">
                <a:extLst>
                  <a:ext uri="{FF2B5EF4-FFF2-40B4-BE49-F238E27FC236}">
                    <a16:creationId xmlns:a16="http://schemas.microsoft.com/office/drawing/2014/main" id="{AABF2D8B-7487-0742-BA35-023E04B67A8C}"/>
                  </a:ext>
                </a:extLst>
              </p:cNvPr>
              <p:cNvSpPr>
                <a:spLocks noChangeArrowheads="1"/>
              </p:cNvSpPr>
              <p:nvPr/>
            </p:nvSpPr>
            <p:spPr bwMode="auto">
              <a:xfrm>
                <a:off x="769" y="3504"/>
                <a:ext cx="132" cy="61"/>
              </a:xfrm>
              <a:prstGeom prst="rect">
                <a:avLst/>
              </a:prstGeom>
              <a:solidFill>
                <a:srgbClr val="FFFFFF"/>
              </a:solidFill>
              <a:ln w="158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69" name="Rectangle 151">
                <a:extLst>
                  <a:ext uri="{FF2B5EF4-FFF2-40B4-BE49-F238E27FC236}">
                    <a16:creationId xmlns:a16="http://schemas.microsoft.com/office/drawing/2014/main" id="{D6D3CB67-9339-734B-AB0F-9E44535D56A1}"/>
                  </a:ext>
                </a:extLst>
              </p:cNvPr>
              <p:cNvSpPr>
                <a:spLocks noChangeArrowheads="1"/>
              </p:cNvSpPr>
              <p:nvPr/>
            </p:nvSpPr>
            <p:spPr bwMode="auto">
              <a:xfrm>
                <a:off x="642" y="3481"/>
                <a:ext cx="108" cy="104"/>
              </a:xfrm>
              <a:prstGeom prst="rect">
                <a:avLst/>
              </a:prstGeom>
              <a:solidFill>
                <a:srgbClr val="FFFFFF"/>
              </a:solidFill>
              <a:ln w="158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70" name="Rectangle 152">
                <a:extLst>
                  <a:ext uri="{FF2B5EF4-FFF2-40B4-BE49-F238E27FC236}">
                    <a16:creationId xmlns:a16="http://schemas.microsoft.com/office/drawing/2014/main" id="{D8AB43B3-3B77-B646-A401-FABAFFFA1642}"/>
                  </a:ext>
                </a:extLst>
              </p:cNvPr>
              <p:cNvSpPr>
                <a:spLocks noChangeArrowheads="1"/>
              </p:cNvSpPr>
              <p:nvPr/>
            </p:nvSpPr>
            <p:spPr bwMode="auto">
              <a:xfrm>
                <a:off x="515" y="3478"/>
                <a:ext cx="108" cy="105"/>
              </a:xfrm>
              <a:prstGeom prst="rect">
                <a:avLst/>
              </a:prstGeom>
              <a:solidFill>
                <a:srgbClr val="FFFFFF"/>
              </a:solidFill>
              <a:ln w="158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371" name="Line 153">
                <a:extLst>
                  <a:ext uri="{FF2B5EF4-FFF2-40B4-BE49-F238E27FC236}">
                    <a16:creationId xmlns:a16="http://schemas.microsoft.com/office/drawing/2014/main" id="{E6B2B676-EED8-CB4D-921C-F264E4A9D76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sp>
        <p:nvSpPr>
          <p:cNvPr id="372" name="Content Placeholder 2">
            <a:extLst>
              <a:ext uri="{FF2B5EF4-FFF2-40B4-BE49-F238E27FC236}">
                <a16:creationId xmlns:a16="http://schemas.microsoft.com/office/drawing/2014/main" id="{79568C0E-EF16-3C4B-8D37-DECD1B4863BB}"/>
              </a:ext>
            </a:extLst>
          </p:cNvPr>
          <p:cNvSpPr txBox="1">
            <a:spLocks/>
          </p:cNvSpPr>
          <p:nvPr/>
        </p:nvSpPr>
        <p:spPr>
          <a:xfrm>
            <a:off x="706903" y="2816596"/>
            <a:ext cx="3006969" cy="2676134"/>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15504" defTabSz="685800" fontAlgn="auto">
              <a:spcBef>
                <a:spcPts val="750"/>
              </a:spcBef>
              <a:spcAft>
                <a:spcPts val="0"/>
              </a:spcAft>
              <a:buFont typeface="Wingdings" charset="2"/>
              <a:buChar char="§"/>
              <a:defRPr/>
            </a:pPr>
            <a:r>
              <a:rPr lang="en-US" sz="2400" dirty="0">
                <a:solidFill>
                  <a:prstClr val="black"/>
                </a:solidFill>
                <a:latin typeface="Calibri" panose="020F0502020204030204"/>
              </a:rPr>
              <a:t>Cisco CRS router:</a:t>
            </a:r>
          </a:p>
          <a:p>
            <a:pPr marL="521494" lvl="1" indent="-215504" defTabSz="685800" fontAlgn="auto">
              <a:spcBef>
                <a:spcPts val="375"/>
              </a:spcBef>
              <a:spcAft>
                <a:spcPts val="0"/>
              </a:spcAft>
              <a:buFont typeface="Wingdings" charset="2"/>
              <a:buChar char="§"/>
              <a:defRPr/>
            </a:pPr>
            <a:r>
              <a:rPr lang="en-US" sz="2100" dirty="0">
                <a:solidFill>
                  <a:prstClr val="black"/>
                </a:solidFill>
                <a:latin typeface="Calibri" panose="020F0502020204030204"/>
              </a:rPr>
              <a:t>basic unit: 8 switching planes</a:t>
            </a:r>
          </a:p>
          <a:p>
            <a:pPr marL="521494" lvl="1" indent="-215504" defTabSz="685800" fontAlgn="auto">
              <a:spcBef>
                <a:spcPts val="375"/>
              </a:spcBef>
              <a:spcAft>
                <a:spcPts val="0"/>
              </a:spcAft>
              <a:buFont typeface="Wingdings" charset="2"/>
              <a:buChar char="§"/>
              <a:defRPr/>
            </a:pPr>
            <a:r>
              <a:rPr lang="en-US" sz="2100" dirty="0">
                <a:solidFill>
                  <a:prstClr val="black"/>
                </a:solidFill>
                <a:latin typeface="Calibri" panose="020F0502020204030204"/>
              </a:rPr>
              <a:t>each plane: 3-stage interconnection network</a:t>
            </a:r>
          </a:p>
          <a:p>
            <a:pPr marL="521494" lvl="1" indent="-215504" defTabSz="685800" fontAlgn="auto">
              <a:spcBef>
                <a:spcPts val="375"/>
              </a:spcBef>
              <a:spcAft>
                <a:spcPts val="0"/>
              </a:spcAft>
              <a:buFont typeface="Wingdings" charset="2"/>
              <a:buChar char="§"/>
              <a:defRPr/>
            </a:pPr>
            <a:r>
              <a:rPr lang="en-US" sz="2100" dirty="0">
                <a:solidFill>
                  <a:prstClr val="black"/>
                </a:solidFill>
                <a:latin typeface="Calibri" panose="020F0502020204030204"/>
              </a:rPr>
              <a:t>up to 100’s </a:t>
            </a:r>
            <a:r>
              <a:rPr lang="en-US" sz="2100" dirty="0" err="1">
                <a:solidFill>
                  <a:prstClr val="black"/>
                </a:solidFill>
                <a:latin typeface="Calibri" panose="020F0502020204030204"/>
              </a:rPr>
              <a:t>Tbps</a:t>
            </a:r>
            <a:r>
              <a:rPr lang="en-US" sz="2100" dirty="0">
                <a:solidFill>
                  <a:prstClr val="black"/>
                </a:solidFill>
                <a:latin typeface="Calibri" panose="020F0502020204030204"/>
              </a:rPr>
              <a:t> switching capacity</a:t>
            </a:r>
          </a:p>
        </p:txBody>
      </p:sp>
      <p:pic>
        <p:nvPicPr>
          <p:cNvPr id="4" name="Picture 3">
            <a:extLst>
              <a:ext uri="{FF2B5EF4-FFF2-40B4-BE49-F238E27FC236}">
                <a16:creationId xmlns:a16="http://schemas.microsoft.com/office/drawing/2014/main" id="{6FF52103-AEE1-3D43-8707-045D602860C7}"/>
              </a:ext>
            </a:extLst>
          </p:cNvPr>
          <p:cNvPicPr>
            <a:picLocks noChangeAspect="1"/>
          </p:cNvPicPr>
          <p:nvPr/>
        </p:nvPicPr>
        <p:blipFill>
          <a:blip r:embed="rId3"/>
          <a:stretch>
            <a:fillRect/>
          </a:stretch>
        </p:blipFill>
        <p:spPr>
          <a:xfrm>
            <a:off x="6027682" y="4525495"/>
            <a:ext cx="703262" cy="550205"/>
          </a:xfrm>
          <a:prstGeom prst="rect">
            <a:avLst/>
          </a:prstGeom>
        </p:spPr>
      </p:pic>
      <p:sp>
        <p:nvSpPr>
          <p:cNvPr id="223" name="Slide Number Placeholder 4">
            <a:extLst>
              <a:ext uri="{FF2B5EF4-FFF2-40B4-BE49-F238E27FC236}">
                <a16:creationId xmlns:a16="http://schemas.microsoft.com/office/drawing/2014/main" id="{E7A4998C-0527-1B40-A7CD-C664065D210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35</a:t>
            </a:fld>
            <a:endParaRPr lang="en-US" dirty="0"/>
          </a:p>
        </p:txBody>
      </p:sp>
    </p:spTree>
    <p:extLst>
      <p:ext uri="{BB962C8B-B14F-4D97-AF65-F5344CB8AC3E}">
        <p14:creationId xmlns:p14="http://schemas.microsoft.com/office/powerpoint/2010/main" val="338221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dissolve">
                                      <p:cBhvr>
                                        <p:cTn id="7" dur="500"/>
                                        <p:tgtEl>
                                          <p:spTgt spid="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354052" y="1623917"/>
            <a:ext cx="4343169" cy="4993462"/>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4615067" y="3610435"/>
            <a:ext cx="288290" cy="216535"/>
          </a:xfrm>
          <a:custGeom>
            <a:avLst/>
            <a:gdLst/>
            <a:ahLst/>
            <a:cxnLst/>
            <a:rect l="l" t="t" r="r" b="b"/>
            <a:pathLst>
              <a:path w="288289" h="216535">
                <a:moveTo>
                  <a:pt x="0" y="108204"/>
                </a:moveTo>
                <a:lnTo>
                  <a:pt x="11322" y="66061"/>
                </a:lnTo>
                <a:lnTo>
                  <a:pt x="42195" y="31670"/>
                </a:lnTo>
                <a:lnTo>
                  <a:pt x="87975" y="8495"/>
                </a:lnTo>
                <a:lnTo>
                  <a:pt x="144018" y="0"/>
                </a:lnTo>
                <a:lnTo>
                  <a:pt x="200060" y="8495"/>
                </a:lnTo>
                <a:lnTo>
                  <a:pt x="245840" y="31670"/>
                </a:lnTo>
                <a:lnTo>
                  <a:pt x="276713" y="66061"/>
                </a:lnTo>
                <a:lnTo>
                  <a:pt x="288036" y="108204"/>
                </a:lnTo>
                <a:lnTo>
                  <a:pt x="276713" y="150346"/>
                </a:lnTo>
                <a:lnTo>
                  <a:pt x="245840" y="184737"/>
                </a:lnTo>
                <a:lnTo>
                  <a:pt x="200060" y="207912"/>
                </a:lnTo>
                <a:lnTo>
                  <a:pt x="144018" y="216408"/>
                </a:lnTo>
                <a:lnTo>
                  <a:pt x="87975" y="207912"/>
                </a:lnTo>
                <a:lnTo>
                  <a:pt x="42195" y="184737"/>
                </a:lnTo>
                <a:lnTo>
                  <a:pt x="11322" y="150346"/>
                </a:lnTo>
                <a:lnTo>
                  <a:pt x="0" y="108204"/>
                </a:lnTo>
                <a:close/>
              </a:path>
            </a:pathLst>
          </a:custGeom>
          <a:ln w="28955">
            <a:solidFill>
              <a:srgbClr val="FF0000"/>
            </a:solidFill>
            <a:prstDash val="sysDash"/>
          </a:ln>
        </p:spPr>
        <p:txBody>
          <a:bodyPr wrap="square" lIns="0" tIns="0" rIns="0" bIns="0" rtlCol="0"/>
          <a:lstStyle/>
          <a:p>
            <a:endParaRPr/>
          </a:p>
        </p:txBody>
      </p:sp>
      <p:sp>
        <p:nvSpPr>
          <p:cNvPr id="18" name="object 18"/>
          <p:cNvSpPr txBox="1"/>
          <p:nvPr/>
        </p:nvSpPr>
        <p:spPr>
          <a:xfrm>
            <a:off x="3881378" y="6412093"/>
            <a:ext cx="247015" cy="255904"/>
          </a:xfrm>
          <a:prstGeom prst="rect">
            <a:avLst/>
          </a:prstGeom>
        </p:spPr>
        <p:txBody>
          <a:bodyPr vert="horz" wrap="square" lIns="0" tIns="0" rIns="0" bIns="0" rtlCol="0">
            <a:spAutoFit/>
          </a:bodyPr>
          <a:lstStyle/>
          <a:p>
            <a:pPr marL="12700">
              <a:lnSpc>
                <a:spcPts val="1885"/>
              </a:lnSpc>
            </a:pPr>
            <a:r>
              <a:rPr sz="1600" spc="-10" dirty="0">
                <a:solidFill>
                  <a:srgbClr val="FFFFFF"/>
                </a:solidFill>
                <a:latin typeface="Georgia"/>
                <a:cs typeface="Georgia"/>
              </a:rPr>
              <a:t>45</a:t>
            </a:r>
            <a:endParaRPr sz="1600">
              <a:latin typeface="Georgia"/>
              <a:cs typeface="Georgia"/>
            </a:endParaRPr>
          </a:p>
        </p:txBody>
      </p:sp>
      <p:sp>
        <p:nvSpPr>
          <p:cNvPr id="14" name="object 14"/>
          <p:cNvSpPr txBox="1"/>
          <p:nvPr/>
        </p:nvSpPr>
        <p:spPr>
          <a:xfrm>
            <a:off x="1008994" y="1461096"/>
            <a:ext cx="1336624" cy="593111"/>
          </a:xfrm>
          <a:prstGeom prst="rect">
            <a:avLst/>
          </a:prstGeom>
          <a:solidFill>
            <a:srgbClr val="FFC000"/>
          </a:solidFill>
        </p:spPr>
        <p:txBody>
          <a:bodyPr vert="horz" wrap="square" lIns="0" tIns="38735" rIns="0" bIns="0" rtlCol="0">
            <a:spAutoFit/>
          </a:bodyPr>
          <a:lstStyle/>
          <a:p>
            <a:pPr marL="92075" marR="215900">
              <a:lnSpc>
                <a:spcPct val="100000"/>
              </a:lnSpc>
              <a:spcBef>
                <a:spcPts val="305"/>
              </a:spcBef>
            </a:pPr>
            <a:r>
              <a:rPr lang="en-US" sz="1800" dirty="0">
                <a:latin typeface="Georgia"/>
                <a:cs typeface="Georgia"/>
              </a:rPr>
              <a:t>Datagram</a:t>
            </a:r>
            <a:r>
              <a:rPr sz="1800" dirty="0">
                <a:latin typeface="Georgia"/>
                <a:cs typeface="Georgia"/>
              </a:rPr>
              <a:t>  </a:t>
            </a:r>
            <a:r>
              <a:rPr sz="1800" spc="0" dirty="0">
                <a:latin typeface="Georgia"/>
                <a:cs typeface="Georgia"/>
              </a:rPr>
              <a:t>a</a:t>
            </a:r>
            <a:r>
              <a:rPr sz="1800" dirty="0">
                <a:latin typeface="Georgia"/>
                <a:cs typeface="Georgia"/>
              </a:rPr>
              <a:t>r</a:t>
            </a:r>
            <a:r>
              <a:rPr sz="1800" spc="-10" dirty="0">
                <a:latin typeface="Georgia"/>
                <a:cs typeface="Georgia"/>
              </a:rPr>
              <a:t>r</a:t>
            </a:r>
            <a:r>
              <a:rPr sz="1800" dirty="0">
                <a:latin typeface="Georgia"/>
                <a:cs typeface="Georgia"/>
              </a:rPr>
              <a:t>iv</a:t>
            </a:r>
            <a:r>
              <a:rPr sz="1800" spc="0" dirty="0">
                <a:latin typeface="Georgia"/>
                <a:cs typeface="Georgia"/>
              </a:rPr>
              <a:t>e</a:t>
            </a:r>
            <a:r>
              <a:rPr sz="1800" dirty="0">
                <a:latin typeface="Georgia"/>
                <a:cs typeface="Georgia"/>
              </a:rPr>
              <a:t>s</a:t>
            </a:r>
            <a:endParaRPr sz="1800">
              <a:latin typeface="Georgia"/>
              <a:cs typeface="Georgia"/>
            </a:endParaRPr>
          </a:p>
        </p:txBody>
      </p:sp>
      <p:sp>
        <p:nvSpPr>
          <p:cNvPr id="15" name="object 15"/>
          <p:cNvSpPr txBox="1"/>
          <p:nvPr/>
        </p:nvSpPr>
        <p:spPr>
          <a:xfrm>
            <a:off x="2644036" y="1151619"/>
            <a:ext cx="1080770" cy="646430"/>
          </a:xfrm>
          <a:prstGeom prst="rect">
            <a:avLst/>
          </a:prstGeom>
          <a:solidFill>
            <a:srgbClr val="FFC000"/>
          </a:solidFill>
        </p:spPr>
        <p:txBody>
          <a:bodyPr vert="horz" wrap="square" lIns="0" tIns="37465" rIns="0" bIns="0" rtlCol="0">
            <a:spAutoFit/>
          </a:bodyPr>
          <a:lstStyle/>
          <a:p>
            <a:pPr marL="91440" marR="131445">
              <a:lnSpc>
                <a:spcPct val="100000"/>
              </a:lnSpc>
              <a:spcBef>
                <a:spcPts val="295"/>
              </a:spcBef>
            </a:pPr>
            <a:r>
              <a:rPr sz="1800" spc="-5" dirty="0">
                <a:latin typeface="Georgia"/>
                <a:cs typeface="Georgia"/>
              </a:rPr>
              <a:t>Check  dest.</a:t>
            </a:r>
            <a:r>
              <a:rPr sz="1800" spc="-70" dirty="0">
                <a:latin typeface="Georgia"/>
                <a:cs typeface="Georgia"/>
              </a:rPr>
              <a:t> </a:t>
            </a:r>
            <a:r>
              <a:rPr sz="1800" spc="-5" dirty="0">
                <a:latin typeface="Georgia"/>
                <a:cs typeface="Georgia"/>
              </a:rPr>
              <a:t>(Y)</a:t>
            </a:r>
            <a:endParaRPr sz="1800">
              <a:latin typeface="Georgia"/>
              <a:cs typeface="Georgia"/>
            </a:endParaRPr>
          </a:p>
        </p:txBody>
      </p:sp>
      <p:sp>
        <p:nvSpPr>
          <p:cNvPr id="16" name="object 16"/>
          <p:cNvSpPr txBox="1"/>
          <p:nvPr/>
        </p:nvSpPr>
        <p:spPr>
          <a:xfrm>
            <a:off x="5150070" y="1582806"/>
            <a:ext cx="2014374" cy="591829"/>
          </a:xfrm>
          <a:prstGeom prst="rect">
            <a:avLst/>
          </a:prstGeom>
          <a:solidFill>
            <a:srgbClr val="FFC000"/>
          </a:solidFill>
        </p:spPr>
        <p:txBody>
          <a:bodyPr vert="horz" wrap="square" lIns="0" tIns="37465" rIns="0" bIns="0" rtlCol="0">
            <a:spAutoFit/>
          </a:bodyPr>
          <a:lstStyle/>
          <a:p>
            <a:pPr marL="92075" marR="186690">
              <a:lnSpc>
                <a:spcPct val="100000"/>
              </a:lnSpc>
              <a:spcBef>
                <a:spcPts val="295"/>
              </a:spcBef>
            </a:pPr>
            <a:r>
              <a:rPr sz="1800" spc="-5" dirty="0">
                <a:latin typeface="Georgia"/>
                <a:cs typeface="Georgia"/>
              </a:rPr>
              <a:t>Close A-Y </a:t>
            </a:r>
            <a:r>
              <a:rPr sz="1800" dirty="0">
                <a:latin typeface="Wingdings"/>
                <a:cs typeface="Wingdings"/>
              </a:rPr>
              <a:t></a:t>
            </a:r>
            <a:r>
              <a:rPr sz="1800" spc="-1420" dirty="0">
                <a:latin typeface="Wingdings"/>
                <a:cs typeface="Wingdings"/>
              </a:rPr>
              <a:t> </a:t>
            </a:r>
            <a:r>
              <a:rPr sz="1800" spc="-5" dirty="0">
                <a:latin typeface="Georgia"/>
                <a:cs typeface="Georgia"/>
              </a:rPr>
              <a:t>put  </a:t>
            </a:r>
            <a:r>
              <a:rPr lang="en-US" sz="1800" spc="-5" dirty="0">
                <a:latin typeface="Georgia"/>
                <a:cs typeface="Georgia"/>
              </a:rPr>
              <a:t>datagram</a:t>
            </a:r>
            <a:r>
              <a:rPr sz="1800" spc="-5" dirty="0">
                <a:latin typeface="Georgia"/>
                <a:cs typeface="Georgia"/>
              </a:rPr>
              <a:t> on</a:t>
            </a:r>
            <a:r>
              <a:rPr sz="1800" spc="-25" dirty="0">
                <a:latin typeface="Georgia"/>
                <a:cs typeface="Georgia"/>
              </a:rPr>
              <a:t> </a:t>
            </a:r>
            <a:r>
              <a:rPr sz="1800" spc="-5" dirty="0">
                <a:latin typeface="Georgia"/>
                <a:cs typeface="Georgia"/>
              </a:rPr>
              <a:t>bus</a:t>
            </a:r>
            <a:endParaRPr sz="1800">
              <a:latin typeface="Georgia"/>
              <a:cs typeface="Georgia"/>
            </a:endParaRPr>
          </a:p>
        </p:txBody>
      </p:sp>
      <p:sp>
        <p:nvSpPr>
          <p:cNvPr id="17" name="object 17"/>
          <p:cNvSpPr txBox="1"/>
          <p:nvPr/>
        </p:nvSpPr>
        <p:spPr>
          <a:xfrm>
            <a:off x="3477296" y="5043337"/>
            <a:ext cx="1225550" cy="593111"/>
          </a:xfrm>
          <a:prstGeom prst="rect">
            <a:avLst/>
          </a:prstGeom>
          <a:solidFill>
            <a:srgbClr val="FFC000"/>
          </a:solidFill>
        </p:spPr>
        <p:txBody>
          <a:bodyPr vert="horz" wrap="square" lIns="0" tIns="38735" rIns="0" bIns="0" rtlCol="0">
            <a:spAutoFit/>
          </a:bodyPr>
          <a:lstStyle/>
          <a:p>
            <a:pPr marL="92710">
              <a:lnSpc>
                <a:spcPct val="100000"/>
              </a:lnSpc>
              <a:spcBef>
                <a:spcPts val="305"/>
              </a:spcBef>
            </a:pPr>
            <a:r>
              <a:rPr sz="1800" dirty="0">
                <a:latin typeface="Georgia"/>
                <a:cs typeface="Georgia"/>
              </a:rPr>
              <a:t>Y </a:t>
            </a:r>
            <a:r>
              <a:rPr sz="1800" spc="-5" dirty="0">
                <a:latin typeface="Georgia"/>
                <a:cs typeface="Georgia"/>
              </a:rPr>
              <a:t>picks</a:t>
            </a:r>
            <a:r>
              <a:rPr sz="1800" spc="-65" dirty="0">
                <a:latin typeface="Georgia"/>
                <a:cs typeface="Georgia"/>
              </a:rPr>
              <a:t> </a:t>
            </a:r>
            <a:r>
              <a:rPr sz="1800" spc="-5" dirty="0">
                <a:latin typeface="Georgia"/>
                <a:cs typeface="Georgia"/>
              </a:rPr>
              <a:t>up</a:t>
            </a:r>
            <a:endParaRPr sz="1800">
              <a:latin typeface="Georgia"/>
              <a:cs typeface="Georgia"/>
            </a:endParaRPr>
          </a:p>
          <a:p>
            <a:pPr marL="92710">
              <a:lnSpc>
                <a:spcPct val="100000"/>
              </a:lnSpc>
            </a:pPr>
            <a:r>
              <a:rPr lang="en-US" sz="1800" spc="-5" dirty="0">
                <a:latin typeface="Georgia"/>
                <a:cs typeface="Georgia"/>
              </a:rPr>
              <a:t>datagram</a:t>
            </a:r>
            <a:endParaRPr sz="1800">
              <a:latin typeface="Georgia"/>
              <a:cs typeface="Georgia"/>
            </a:endParaRPr>
          </a:p>
        </p:txBody>
      </p:sp>
      <p:cxnSp>
        <p:nvCxnSpPr>
          <p:cNvPr id="29" name="Elbow Connector 28">
            <a:extLst>
              <a:ext uri="{FF2B5EF4-FFF2-40B4-BE49-F238E27FC236}">
                <a16:creationId xmlns:a16="http://schemas.microsoft.com/office/drawing/2014/main" id="{8FD00D20-3A14-9749-98CD-4CAF7FBAB702}"/>
              </a:ext>
            </a:extLst>
          </p:cNvPr>
          <p:cNvCxnSpPr>
            <a:cxnSpLocks/>
          </p:cNvCxnSpPr>
          <p:nvPr/>
        </p:nvCxnSpPr>
        <p:spPr bwMode="auto">
          <a:xfrm rot="16200000" flipH="1">
            <a:off x="1066798" y="2674881"/>
            <a:ext cx="4172610" cy="3279231"/>
          </a:xfrm>
          <a:prstGeom prst="bentConnector3">
            <a:avLst>
              <a:gd name="adj1" fmla="val 378"/>
            </a:avLst>
          </a:prstGeom>
          <a:solidFill>
            <a:schemeClr val="accent1"/>
          </a:solidFill>
          <a:ln w="762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9" name="Rectangle 2">
            <a:extLst>
              <a:ext uri="{FF2B5EF4-FFF2-40B4-BE49-F238E27FC236}">
                <a16:creationId xmlns:a16="http://schemas.microsoft.com/office/drawing/2014/main" id="{0AEB8FC6-5D79-FB4E-A666-9C3B9C178528}"/>
              </a:ext>
            </a:extLst>
          </p:cNvPr>
          <p:cNvSpPr>
            <a:spLocks noGrp="1" noChangeArrowheads="1"/>
          </p:cNvSpPr>
          <p:nvPr>
            <p:ph type="title"/>
          </p:nvPr>
        </p:nvSpPr>
        <p:spPr>
          <a:xfrm>
            <a:off x="155642" y="269704"/>
            <a:ext cx="7928043" cy="854075"/>
          </a:xfrm>
        </p:spPr>
        <p:txBody>
          <a:bodyPr/>
          <a:lstStyle/>
          <a:p>
            <a:pPr>
              <a:defRPr/>
            </a:pPr>
            <a:r>
              <a:rPr lang="en-US" sz="3600" dirty="0">
                <a:cs typeface="+mj-cs"/>
              </a:rPr>
              <a:t>Switching via interconnection network (crossbar)</a:t>
            </a:r>
          </a:p>
        </p:txBody>
      </p:sp>
      <p:sp>
        <p:nvSpPr>
          <p:cNvPr id="25" name="Slide Number Placeholder 5">
            <a:extLst>
              <a:ext uri="{FF2B5EF4-FFF2-40B4-BE49-F238E27FC236}">
                <a16:creationId xmlns:a16="http://schemas.microsoft.com/office/drawing/2014/main" id="{145C983F-FF49-9E48-9FF5-722DC8B74744}"/>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ADFAF319-76AC-1B42-8DBE-7E9CD4834884}" type="slidenum">
              <a:rPr lang="en-US" altLang="en-US">
                <a:latin typeface="Tahoma" panose="020B0604030504040204" pitchFamily="34" charset="0"/>
              </a:rPr>
              <a:pPr/>
              <a:t>36</a:t>
            </a:fld>
            <a:endParaRPr lang="en-US" altLang="en-US" dirty="0">
              <a:latin typeface="Tahoma" panose="020B0604030504040204" pitchFamily="34" charset="0"/>
            </a:endParaRPr>
          </a:p>
        </p:txBody>
      </p:sp>
      <p:sp>
        <p:nvSpPr>
          <p:cNvPr id="26" name="Footer Placeholder 2">
            <a:extLst>
              <a:ext uri="{FF2B5EF4-FFF2-40B4-BE49-F238E27FC236}">
                <a16:creationId xmlns:a16="http://schemas.microsoft.com/office/drawing/2014/main" id="{DBE72CDD-EC5D-944B-A659-1B223E2B97FA}"/>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dirty="0">
                <a:solidFill>
                  <a:srgbClr val="000000"/>
                </a:solidFill>
                <a:latin typeface="Tahoma" panose="020B0604030504040204" pitchFamily="34" charset="0"/>
                <a:cs typeface="Arial" panose="020B0604020202020204" pitchFamily="34" charset="0"/>
              </a:rPr>
              <a:t>Network Layer: Data Plane</a:t>
            </a:r>
          </a:p>
        </p:txBody>
      </p:sp>
    </p:spTree>
    <p:extLst>
      <p:ext uri="{BB962C8B-B14F-4D97-AF65-F5344CB8AC3E}">
        <p14:creationId xmlns:p14="http://schemas.microsoft.com/office/powerpoint/2010/main" val="327652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5" grpId="0" animBg="1"/>
      <p:bldP spid="16"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78" descr="underline_base">
            <a:extLst>
              <a:ext uri="{FF2B5EF4-FFF2-40B4-BE49-F238E27FC236}">
                <a16:creationId xmlns:a16="http://schemas.microsoft.com/office/drawing/2014/main" id="{E05D0F43-0DA6-8C4B-A1C1-535DACEBE9A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313" y="711200"/>
            <a:ext cx="3656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Rectangle 2">
            <a:extLst>
              <a:ext uri="{FF2B5EF4-FFF2-40B4-BE49-F238E27FC236}">
                <a16:creationId xmlns:a16="http://schemas.microsoft.com/office/drawing/2014/main" id="{7B7FE000-065E-6748-90C7-DA5A89630C4B}"/>
              </a:ext>
            </a:extLst>
          </p:cNvPr>
          <p:cNvSpPr>
            <a:spLocks noGrp="1" noChangeArrowheads="1"/>
          </p:cNvSpPr>
          <p:nvPr>
            <p:ph type="title"/>
          </p:nvPr>
        </p:nvSpPr>
        <p:spPr>
          <a:xfrm>
            <a:off x="685800" y="292100"/>
            <a:ext cx="7772400" cy="457200"/>
          </a:xfrm>
        </p:spPr>
        <p:txBody>
          <a:bodyPr/>
          <a:lstStyle/>
          <a:p>
            <a:r>
              <a:rPr lang="en-US" altLang="en-US" sz="3600">
                <a:ea typeface="ＭＳ Ｐゴシック" panose="020B0600070205080204" pitchFamily="34" charset="-128"/>
              </a:rPr>
              <a:t>Input port queuing</a:t>
            </a:r>
            <a:endParaRPr lang="en-US" altLang="en-US">
              <a:ea typeface="ＭＳ Ｐゴシック" panose="020B0600070205080204" pitchFamily="34" charset="-128"/>
            </a:endParaRPr>
          </a:p>
        </p:txBody>
      </p:sp>
      <p:sp>
        <p:nvSpPr>
          <p:cNvPr id="60420" name="Rectangle 3">
            <a:extLst>
              <a:ext uri="{FF2B5EF4-FFF2-40B4-BE49-F238E27FC236}">
                <a16:creationId xmlns:a16="http://schemas.microsoft.com/office/drawing/2014/main" id="{A79E5244-EBB9-E546-8F3A-2F699B9AE4D0}"/>
              </a:ext>
            </a:extLst>
          </p:cNvPr>
          <p:cNvSpPr>
            <a:spLocks noGrp="1" noChangeArrowheads="1"/>
          </p:cNvSpPr>
          <p:nvPr>
            <p:ph type="body" idx="1"/>
          </p:nvPr>
        </p:nvSpPr>
        <p:spPr>
          <a:xfrm>
            <a:off x="731838" y="1127125"/>
            <a:ext cx="8101012" cy="2649538"/>
          </a:xfrm>
        </p:spPr>
        <p:txBody>
          <a:bodyPr/>
          <a:lstStyle/>
          <a:p>
            <a:r>
              <a:rPr lang="en-US" altLang="en-US" sz="2400" dirty="0">
                <a:ea typeface="ＭＳ Ｐゴシック" panose="020B0600070205080204" pitchFamily="34" charset="-128"/>
                <a:cs typeface="ＭＳ Ｐゴシック" panose="020B0600070205080204" pitchFamily="34" charset="-128"/>
              </a:rPr>
              <a:t>If fabric slower than input ports combined -&gt; queueing may occur at input queues </a:t>
            </a:r>
          </a:p>
          <a:p>
            <a:pPr lvl="1"/>
            <a:r>
              <a:rPr lang="en-US" altLang="en-US" i="1" dirty="0">
                <a:solidFill>
                  <a:srgbClr val="CC0000"/>
                </a:solidFill>
                <a:latin typeface="Gill Sans MT" panose="020B0502020104020203" pitchFamily="34" charset="77"/>
                <a:ea typeface="ＭＳ Ｐゴシック" panose="020B0600070205080204" pitchFamily="34" charset="-128"/>
                <a:cs typeface="Gill Sans MT" panose="020B0502020104020203" pitchFamily="34" charset="77"/>
              </a:rPr>
              <a:t>queueing delay and loss due to input buffer overflow!</a:t>
            </a:r>
            <a:endParaRPr lang="en-US" altLang="en-US" dirty="0">
              <a:solidFill>
                <a:srgbClr val="CC0000"/>
              </a:solidFill>
              <a:latin typeface="Gill Sans MT" panose="020B0502020104020203" pitchFamily="34" charset="77"/>
              <a:ea typeface="ＭＳ Ｐゴシック" panose="020B0600070205080204" pitchFamily="34" charset="-128"/>
              <a:cs typeface="Gill Sans MT" panose="020B0502020104020203" pitchFamily="34" charset="77"/>
            </a:endParaRPr>
          </a:p>
          <a:p>
            <a:r>
              <a:rPr lang="en-US" altLang="en-US" sz="2400" dirty="0">
                <a:solidFill>
                  <a:srgbClr val="CC0000"/>
                </a:solidFill>
                <a:ea typeface="ＭＳ Ｐゴシック" panose="020B0600070205080204" pitchFamily="34" charset="-128"/>
                <a:cs typeface="ＭＳ Ｐゴシック" panose="020B0600070205080204" pitchFamily="34" charset="-128"/>
              </a:rPr>
              <a:t>Head-of-the-Line (HOL) blocking:</a:t>
            </a:r>
            <a:r>
              <a:rPr lang="en-US" altLang="en-US" sz="2400" dirty="0">
                <a:ea typeface="ＭＳ Ｐゴシック" panose="020B0600070205080204" pitchFamily="34" charset="-128"/>
                <a:cs typeface="ＭＳ Ｐゴシック" panose="020B0600070205080204" pitchFamily="34" charset="-128"/>
              </a:rPr>
              <a:t> queued datagram at front of queue prevents others in queue from moving forward</a:t>
            </a:r>
          </a:p>
        </p:txBody>
      </p:sp>
      <p:grpSp>
        <p:nvGrpSpPr>
          <p:cNvPr id="60421" name="Group 7">
            <a:extLst>
              <a:ext uri="{FF2B5EF4-FFF2-40B4-BE49-F238E27FC236}">
                <a16:creationId xmlns:a16="http://schemas.microsoft.com/office/drawing/2014/main" id="{D768E15E-5DA6-694A-8ADF-28F63EA06222}"/>
              </a:ext>
            </a:extLst>
          </p:cNvPr>
          <p:cNvGrpSpPr>
            <a:grpSpLocks/>
          </p:cNvGrpSpPr>
          <p:nvPr/>
        </p:nvGrpSpPr>
        <p:grpSpPr bwMode="auto">
          <a:xfrm>
            <a:off x="1389063" y="3194050"/>
            <a:ext cx="3027362" cy="1809750"/>
            <a:chOff x="523" y="976"/>
            <a:chExt cx="2099" cy="1356"/>
          </a:xfrm>
        </p:grpSpPr>
        <p:sp>
          <p:nvSpPr>
            <p:cNvPr id="60468" name="Rectangle 8">
              <a:extLst>
                <a:ext uri="{FF2B5EF4-FFF2-40B4-BE49-F238E27FC236}">
                  <a16:creationId xmlns:a16="http://schemas.microsoft.com/office/drawing/2014/main" id="{F47EDBBC-4C87-164F-9295-32EA628070BF}"/>
                </a:ext>
              </a:extLst>
            </p:cNvPr>
            <p:cNvSpPr>
              <a:spLocks noChangeArrowheads="1"/>
            </p:cNvSpPr>
            <p:nvPr/>
          </p:nvSpPr>
          <p:spPr bwMode="auto">
            <a:xfrm>
              <a:off x="1208" y="976"/>
              <a:ext cx="745" cy="13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60469" name="Group 9">
              <a:extLst>
                <a:ext uri="{FF2B5EF4-FFF2-40B4-BE49-F238E27FC236}">
                  <a16:creationId xmlns:a16="http://schemas.microsoft.com/office/drawing/2014/main" id="{9FFC4D0E-4F80-5C46-8D4C-AF4EA8988009}"/>
                </a:ext>
              </a:extLst>
            </p:cNvPr>
            <p:cNvGrpSpPr>
              <a:grpSpLocks/>
            </p:cNvGrpSpPr>
            <p:nvPr/>
          </p:nvGrpSpPr>
          <p:grpSpPr bwMode="auto">
            <a:xfrm>
              <a:off x="804" y="997"/>
              <a:ext cx="249" cy="1295"/>
              <a:chOff x="748" y="997"/>
              <a:chExt cx="249" cy="1295"/>
            </a:xfrm>
          </p:grpSpPr>
          <p:sp>
            <p:nvSpPr>
              <p:cNvPr id="60488" name="Rectangle 10">
                <a:extLst>
                  <a:ext uri="{FF2B5EF4-FFF2-40B4-BE49-F238E27FC236}">
                    <a16:creationId xmlns:a16="http://schemas.microsoft.com/office/drawing/2014/main" id="{6805E366-9DA2-1447-9DC0-3DB8DE12DCCF}"/>
                  </a:ext>
                </a:extLst>
              </p:cNvPr>
              <p:cNvSpPr>
                <a:spLocks noChangeArrowheads="1"/>
              </p:cNvSpPr>
              <p:nvPr/>
            </p:nvSpPr>
            <p:spPr bwMode="auto">
              <a:xfrm>
                <a:off x="759" y="997"/>
                <a:ext cx="240"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89" name="Rectangle 11">
                <a:extLst>
                  <a:ext uri="{FF2B5EF4-FFF2-40B4-BE49-F238E27FC236}">
                    <a16:creationId xmlns:a16="http://schemas.microsoft.com/office/drawing/2014/main" id="{9BAD4F34-627D-5B4C-A5BA-E0DB262CC9A4}"/>
                  </a:ext>
                </a:extLst>
              </p:cNvPr>
              <p:cNvSpPr>
                <a:spLocks noChangeArrowheads="1"/>
              </p:cNvSpPr>
              <p:nvPr/>
            </p:nvSpPr>
            <p:spPr bwMode="auto">
              <a:xfrm>
                <a:off x="750" y="1472"/>
                <a:ext cx="240"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90" name="Rectangle 12">
                <a:extLst>
                  <a:ext uri="{FF2B5EF4-FFF2-40B4-BE49-F238E27FC236}">
                    <a16:creationId xmlns:a16="http://schemas.microsoft.com/office/drawing/2014/main" id="{839E7458-1DB8-9D49-BC88-602D1E7B4DDB}"/>
                  </a:ext>
                </a:extLst>
              </p:cNvPr>
              <p:cNvSpPr>
                <a:spLocks noChangeArrowheads="1"/>
              </p:cNvSpPr>
              <p:nvPr/>
            </p:nvSpPr>
            <p:spPr bwMode="auto">
              <a:xfrm>
                <a:off x="748" y="1938"/>
                <a:ext cx="240"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60470" name="Group 13">
              <a:extLst>
                <a:ext uri="{FF2B5EF4-FFF2-40B4-BE49-F238E27FC236}">
                  <a16:creationId xmlns:a16="http://schemas.microsoft.com/office/drawing/2014/main" id="{ABFCAB35-7A27-E847-BC38-82A3D65AA271}"/>
                </a:ext>
              </a:extLst>
            </p:cNvPr>
            <p:cNvGrpSpPr>
              <a:grpSpLocks/>
            </p:cNvGrpSpPr>
            <p:nvPr/>
          </p:nvGrpSpPr>
          <p:grpSpPr bwMode="auto">
            <a:xfrm>
              <a:off x="2109" y="1002"/>
              <a:ext cx="249" cy="1295"/>
              <a:chOff x="748" y="997"/>
              <a:chExt cx="249" cy="1295"/>
            </a:xfrm>
          </p:grpSpPr>
          <p:sp>
            <p:nvSpPr>
              <p:cNvPr id="60485" name="Rectangle 14">
                <a:extLst>
                  <a:ext uri="{FF2B5EF4-FFF2-40B4-BE49-F238E27FC236}">
                    <a16:creationId xmlns:a16="http://schemas.microsoft.com/office/drawing/2014/main" id="{CD9E95CB-9463-5043-B7C0-05C569D71CA7}"/>
                  </a:ext>
                </a:extLst>
              </p:cNvPr>
              <p:cNvSpPr>
                <a:spLocks noChangeArrowheads="1"/>
              </p:cNvSpPr>
              <p:nvPr/>
            </p:nvSpPr>
            <p:spPr bwMode="auto">
              <a:xfrm>
                <a:off x="759" y="997"/>
                <a:ext cx="238" cy="352"/>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86" name="Rectangle 15">
                <a:extLst>
                  <a:ext uri="{FF2B5EF4-FFF2-40B4-BE49-F238E27FC236}">
                    <a16:creationId xmlns:a16="http://schemas.microsoft.com/office/drawing/2014/main" id="{996B676A-1F53-004A-8D59-5B43D3894F21}"/>
                  </a:ext>
                </a:extLst>
              </p:cNvPr>
              <p:cNvSpPr>
                <a:spLocks noChangeArrowheads="1"/>
              </p:cNvSpPr>
              <p:nvPr/>
            </p:nvSpPr>
            <p:spPr bwMode="auto">
              <a:xfrm>
                <a:off x="750" y="1472"/>
                <a:ext cx="238" cy="352"/>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87" name="Rectangle 16">
                <a:extLst>
                  <a:ext uri="{FF2B5EF4-FFF2-40B4-BE49-F238E27FC236}">
                    <a16:creationId xmlns:a16="http://schemas.microsoft.com/office/drawing/2014/main" id="{D0A70622-BF83-C04B-A716-C1FCA6C45624}"/>
                  </a:ext>
                </a:extLst>
              </p:cNvPr>
              <p:cNvSpPr>
                <a:spLocks noChangeArrowheads="1"/>
              </p:cNvSpPr>
              <p:nvPr/>
            </p:nvSpPr>
            <p:spPr bwMode="auto">
              <a:xfrm>
                <a:off x="748" y="1940"/>
                <a:ext cx="238" cy="352"/>
              </a:xfrm>
              <a:prstGeom prst="rect">
                <a:avLst/>
              </a:prstGeom>
              <a:solidFill>
                <a:schemeClr val="bg1"/>
              </a:solidFill>
              <a:ln w="19050">
                <a:solidFill>
                  <a:srgbClr val="008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60471" name="Line 17">
              <a:extLst>
                <a:ext uri="{FF2B5EF4-FFF2-40B4-BE49-F238E27FC236}">
                  <a16:creationId xmlns:a16="http://schemas.microsoft.com/office/drawing/2014/main" id="{3974EB27-B5F0-9C4B-ABC0-CC0370F16AF6}"/>
                </a:ext>
              </a:extLst>
            </p:cNvPr>
            <p:cNvSpPr>
              <a:spLocks noChangeShapeType="1"/>
            </p:cNvSpPr>
            <p:nvPr/>
          </p:nvSpPr>
          <p:spPr bwMode="auto">
            <a:xfrm>
              <a:off x="1946" y="1181"/>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72" name="Line 18">
              <a:extLst>
                <a:ext uri="{FF2B5EF4-FFF2-40B4-BE49-F238E27FC236}">
                  <a16:creationId xmlns:a16="http://schemas.microsoft.com/office/drawing/2014/main" id="{A04FF316-B741-EB49-AD2D-A456BFFD8D16}"/>
                </a:ext>
              </a:extLst>
            </p:cNvPr>
            <p:cNvSpPr>
              <a:spLocks noChangeShapeType="1"/>
            </p:cNvSpPr>
            <p:nvPr/>
          </p:nvSpPr>
          <p:spPr bwMode="auto">
            <a:xfrm>
              <a:off x="1940" y="1644"/>
              <a:ext cx="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73" name="Line 19">
              <a:extLst>
                <a:ext uri="{FF2B5EF4-FFF2-40B4-BE49-F238E27FC236}">
                  <a16:creationId xmlns:a16="http://schemas.microsoft.com/office/drawing/2014/main" id="{66D27CF3-1093-9643-9BAD-430165FD905A}"/>
                </a:ext>
              </a:extLst>
            </p:cNvPr>
            <p:cNvSpPr>
              <a:spLocks noChangeShapeType="1"/>
            </p:cNvSpPr>
            <p:nvPr/>
          </p:nvSpPr>
          <p:spPr bwMode="auto">
            <a:xfrm>
              <a:off x="1940" y="2119"/>
              <a:ext cx="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74" name="Line 20">
              <a:extLst>
                <a:ext uri="{FF2B5EF4-FFF2-40B4-BE49-F238E27FC236}">
                  <a16:creationId xmlns:a16="http://schemas.microsoft.com/office/drawing/2014/main" id="{2E89E0C8-5A1A-4F47-9993-74F652972243}"/>
                </a:ext>
              </a:extLst>
            </p:cNvPr>
            <p:cNvSpPr>
              <a:spLocks noChangeShapeType="1"/>
            </p:cNvSpPr>
            <p:nvPr/>
          </p:nvSpPr>
          <p:spPr bwMode="auto">
            <a:xfrm>
              <a:off x="1044" y="1164"/>
              <a:ext cx="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75" name="Line 21">
              <a:extLst>
                <a:ext uri="{FF2B5EF4-FFF2-40B4-BE49-F238E27FC236}">
                  <a16:creationId xmlns:a16="http://schemas.microsoft.com/office/drawing/2014/main" id="{5968AF8E-B9A9-1740-B5D6-D89EBAE7B51B}"/>
                </a:ext>
              </a:extLst>
            </p:cNvPr>
            <p:cNvSpPr>
              <a:spLocks noChangeShapeType="1"/>
            </p:cNvSpPr>
            <p:nvPr/>
          </p:nvSpPr>
          <p:spPr bwMode="auto">
            <a:xfrm>
              <a:off x="1038" y="1629"/>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76" name="Line 22">
              <a:extLst>
                <a:ext uri="{FF2B5EF4-FFF2-40B4-BE49-F238E27FC236}">
                  <a16:creationId xmlns:a16="http://schemas.microsoft.com/office/drawing/2014/main" id="{DB3E1796-89AF-D249-B3EE-573F4F934EC7}"/>
                </a:ext>
              </a:extLst>
            </p:cNvPr>
            <p:cNvSpPr>
              <a:spLocks noChangeShapeType="1"/>
            </p:cNvSpPr>
            <p:nvPr/>
          </p:nvSpPr>
          <p:spPr bwMode="auto">
            <a:xfrm>
              <a:off x="1038" y="2102"/>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60477" name="Group 23">
              <a:extLst>
                <a:ext uri="{FF2B5EF4-FFF2-40B4-BE49-F238E27FC236}">
                  <a16:creationId xmlns:a16="http://schemas.microsoft.com/office/drawing/2014/main" id="{515FF37E-DC8A-1346-BA2F-8F6A58CC1C9B}"/>
                </a:ext>
              </a:extLst>
            </p:cNvPr>
            <p:cNvGrpSpPr>
              <a:grpSpLocks/>
            </p:cNvGrpSpPr>
            <p:nvPr/>
          </p:nvGrpSpPr>
          <p:grpSpPr bwMode="auto">
            <a:xfrm>
              <a:off x="523" y="1169"/>
              <a:ext cx="288" cy="939"/>
              <a:chOff x="-60" y="1148"/>
              <a:chExt cx="168" cy="939"/>
            </a:xfrm>
          </p:grpSpPr>
          <p:sp>
            <p:nvSpPr>
              <p:cNvPr id="60482" name="Line 24">
                <a:extLst>
                  <a:ext uri="{FF2B5EF4-FFF2-40B4-BE49-F238E27FC236}">
                    <a16:creationId xmlns:a16="http://schemas.microsoft.com/office/drawing/2014/main" id="{0BB5A7B1-C31D-1542-A96B-148C12D86514}"/>
                  </a:ext>
                </a:extLst>
              </p:cNvPr>
              <p:cNvSpPr>
                <a:spLocks noChangeShapeType="1"/>
              </p:cNvSpPr>
              <p:nvPr/>
            </p:nvSpPr>
            <p:spPr bwMode="auto">
              <a:xfrm>
                <a:off x="-54" y="1148"/>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83" name="Line 25">
                <a:extLst>
                  <a:ext uri="{FF2B5EF4-FFF2-40B4-BE49-F238E27FC236}">
                    <a16:creationId xmlns:a16="http://schemas.microsoft.com/office/drawing/2014/main" id="{8DC40933-C0F3-7842-8395-36C9E61D09C8}"/>
                  </a:ext>
                </a:extLst>
              </p:cNvPr>
              <p:cNvSpPr>
                <a:spLocks noChangeShapeType="1"/>
              </p:cNvSpPr>
              <p:nvPr/>
            </p:nvSpPr>
            <p:spPr bwMode="auto">
              <a:xfrm>
                <a:off x="-60" y="1613"/>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84" name="Line 26">
                <a:extLst>
                  <a:ext uri="{FF2B5EF4-FFF2-40B4-BE49-F238E27FC236}">
                    <a16:creationId xmlns:a16="http://schemas.microsoft.com/office/drawing/2014/main" id="{9D590853-F1F2-8740-B18C-3A91E125F871}"/>
                  </a:ext>
                </a:extLst>
              </p:cNvPr>
              <p:cNvSpPr>
                <a:spLocks noChangeShapeType="1"/>
              </p:cNvSpPr>
              <p:nvPr/>
            </p:nvSpPr>
            <p:spPr bwMode="auto">
              <a:xfrm>
                <a:off x="-60" y="2087"/>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0478" name="Group 27">
              <a:extLst>
                <a:ext uri="{FF2B5EF4-FFF2-40B4-BE49-F238E27FC236}">
                  <a16:creationId xmlns:a16="http://schemas.microsoft.com/office/drawing/2014/main" id="{55F50F43-7207-8F4D-9CE8-CDEBB89178D4}"/>
                </a:ext>
              </a:extLst>
            </p:cNvPr>
            <p:cNvGrpSpPr>
              <a:grpSpLocks/>
            </p:cNvGrpSpPr>
            <p:nvPr/>
          </p:nvGrpSpPr>
          <p:grpSpPr bwMode="auto">
            <a:xfrm>
              <a:off x="2334" y="1173"/>
              <a:ext cx="288" cy="939"/>
              <a:chOff x="-60" y="1148"/>
              <a:chExt cx="168" cy="939"/>
            </a:xfrm>
          </p:grpSpPr>
          <p:sp>
            <p:nvSpPr>
              <p:cNvPr id="60479" name="Line 28">
                <a:extLst>
                  <a:ext uri="{FF2B5EF4-FFF2-40B4-BE49-F238E27FC236}">
                    <a16:creationId xmlns:a16="http://schemas.microsoft.com/office/drawing/2014/main" id="{4C12F45D-0D8F-0B4C-A67E-FB6C5C79EA32}"/>
                  </a:ext>
                </a:extLst>
              </p:cNvPr>
              <p:cNvSpPr>
                <a:spLocks noChangeShapeType="1"/>
              </p:cNvSpPr>
              <p:nvPr/>
            </p:nvSpPr>
            <p:spPr bwMode="auto">
              <a:xfrm>
                <a:off x="-54" y="1148"/>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80" name="Line 29">
                <a:extLst>
                  <a:ext uri="{FF2B5EF4-FFF2-40B4-BE49-F238E27FC236}">
                    <a16:creationId xmlns:a16="http://schemas.microsoft.com/office/drawing/2014/main" id="{293AB515-729B-4F44-B29D-A9FC344CCD53}"/>
                  </a:ext>
                </a:extLst>
              </p:cNvPr>
              <p:cNvSpPr>
                <a:spLocks noChangeShapeType="1"/>
              </p:cNvSpPr>
              <p:nvPr/>
            </p:nvSpPr>
            <p:spPr bwMode="auto">
              <a:xfrm>
                <a:off x="-60" y="1615"/>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81" name="Line 30">
                <a:extLst>
                  <a:ext uri="{FF2B5EF4-FFF2-40B4-BE49-F238E27FC236}">
                    <a16:creationId xmlns:a16="http://schemas.microsoft.com/office/drawing/2014/main" id="{46078A5E-59F2-CC47-AC20-0F7E213DA57C}"/>
                  </a:ext>
                </a:extLst>
              </p:cNvPr>
              <p:cNvSpPr>
                <a:spLocks noChangeShapeType="1"/>
              </p:cNvSpPr>
              <p:nvPr/>
            </p:nvSpPr>
            <p:spPr bwMode="auto">
              <a:xfrm>
                <a:off x="-60" y="2087"/>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sp>
        <p:nvSpPr>
          <p:cNvPr id="60422" name="Rectangle 55">
            <a:extLst>
              <a:ext uri="{FF2B5EF4-FFF2-40B4-BE49-F238E27FC236}">
                <a16:creationId xmlns:a16="http://schemas.microsoft.com/office/drawing/2014/main" id="{3D32CE80-7E4D-714E-AAF3-CEAB4D55156B}"/>
              </a:ext>
            </a:extLst>
          </p:cNvPr>
          <p:cNvSpPr>
            <a:spLocks noChangeArrowheads="1"/>
          </p:cNvSpPr>
          <p:nvPr/>
        </p:nvSpPr>
        <p:spPr bwMode="auto">
          <a:xfrm>
            <a:off x="1841500" y="3190875"/>
            <a:ext cx="252413" cy="130175"/>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23" name="Rectangle 56">
            <a:extLst>
              <a:ext uri="{FF2B5EF4-FFF2-40B4-BE49-F238E27FC236}">
                <a16:creationId xmlns:a16="http://schemas.microsoft.com/office/drawing/2014/main" id="{5001D64E-11C6-4440-B05C-1C11C0079474}"/>
              </a:ext>
            </a:extLst>
          </p:cNvPr>
          <p:cNvSpPr>
            <a:spLocks noChangeArrowheads="1"/>
          </p:cNvSpPr>
          <p:nvPr/>
        </p:nvSpPr>
        <p:spPr bwMode="auto">
          <a:xfrm>
            <a:off x="1827213" y="3922713"/>
            <a:ext cx="252412" cy="131762"/>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24" name="Rectangle 57">
            <a:extLst>
              <a:ext uri="{FF2B5EF4-FFF2-40B4-BE49-F238E27FC236}">
                <a16:creationId xmlns:a16="http://schemas.microsoft.com/office/drawing/2014/main" id="{FB759F4A-E38D-764A-B147-B4F36B680A16}"/>
              </a:ext>
            </a:extLst>
          </p:cNvPr>
          <p:cNvSpPr>
            <a:spLocks noChangeArrowheads="1"/>
          </p:cNvSpPr>
          <p:nvPr/>
        </p:nvSpPr>
        <p:spPr bwMode="auto">
          <a:xfrm>
            <a:off x="1825625" y="4557713"/>
            <a:ext cx="252413" cy="130175"/>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25" name="Rectangle 58">
            <a:extLst>
              <a:ext uri="{FF2B5EF4-FFF2-40B4-BE49-F238E27FC236}">
                <a16:creationId xmlns:a16="http://schemas.microsoft.com/office/drawing/2014/main" id="{AFA83BD7-7AC1-FB41-8CA5-A5A1ECB7CDB4}"/>
              </a:ext>
            </a:extLst>
          </p:cNvPr>
          <p:cNvSpPr>
            <a:spLocks noChangeArrowheads="1"/>
          </p:cNvSpPr>
          <p:nvPr/>
        </p:nvSpPr>
        <p:spPr bwMode="auto">
          <a:xfrm>
            <a:off x="1482725" y="3186113"/>
            <a:ext cx="252413" cy="131762"/>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26" name="Rectangle 59">
            <a:extLst>
              <a:ext uri="{FF2B5EF4-FFF2-40B4-BE49-F238E27FC236}">
                <a16:creationId xmlns:a16="http://schemas.microsoft.com/office/drawing/2014/main" id="{000BFB64-20D3-D746-8BBC-77FA8F2771CB}"/>
              </a:ext>
            </a:extLst>
          </p:cNvPr>
          <p:cNvSpPr>
            <a:spLocks noChangeArrowheads="1"/>
          </p:cNvSpPr>
          <p:nvPr/>
        </p:nvSpPr>
        <p:spPr bwMode="auto">
          <a:xfrm>
            <a:off x="1477963" y="4546600"/>
            <a:ext cx="252412" cy="131763"/>
          </a:xfrm>
          <a:prstGeom prst="rect">
            <a:avLst/>
          </a:prstGeom>
          <a:solidFill>
            <a:srgbClr val="00CC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27" name="Line 60">
            <a:extLst>
              <a:ext uri="{FF2B5EF4-FFF2-40B4-BE49-F238E27FC236}">
                <a16:creationId xmlns:a16="http://schemas.microsoft.com/office/drawing/2014/main" id="{D9B77876-F7DE-9C42-A789-64D26A2B4398}"/>
              </a:ext>
            </a:extLst>
          </p:cNvPr>
          <p:cNvSpPr>
            <a:spLocks noChangeShapeType="1"/>
          </p:cNvSpPr>
          <p:nvPr/>
        </p:nvSpPr>
        <p:spPr bwMode="auto">
          <a:xfrm>
            <a:off x="2133600" y="3246438"/>
            <a:ext cx="1479550" cy="1587"/>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28" name="Freeform 61">
            <a:extLst>
              <a:ext uri="{FF2B5EF4-FFF2-40B4-BE49-F238E27FC236}">
                <a16:creationId xmlns:a16="http://schemas.microsoft.com/office/drawing/2014/main" id="{A1EEFDCB-747D-3C4C-AB4F-33A6A6D0BEF7}"/>
              </a:ext>
            </a:extLst>
          </p:cNvPr>
          <p:cNvSpPr>
            <a:spLocks/>
          </p:cNvSpPr>
          <p:nvPr/>
        </p:nvSpPr>
        <p:spPr bwMode="auto">
          <a:xfrm>
            <a:off x="2178050" y="3644900"/>
            <a:ext cx="1395413" cy="979488"/>
          </a:xfrm>
          <a:custGeom>
            <a:avLst/>
            <a:gdLst>
              <a:gd name="T0" fmla="*/ 0 w 967"/>
              <a:gd name="T1" fmla="*/ 2147483647 h 735"/>
              <a:gd name="T2" fmla="*/ 2147483647 w 967"/>
              <a:gd name="T3" fmla="*/ 2147483647 h 735"/>
              <a:gd name="T4" fmla="*/ 214748364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60429" name="Text Box 62">
            <a:extLst>
              <a:ext uri="{FF2B5EF4-FFF2-40B4-BE49-F238E27FC236}">
                <a16:creationId xmlns:a16="http://schemas.microsoft.com/office/drawing/2014/main" id="{58A7A5DE-999B-ED48-BDF7-E1C8BBCC73FB}"/>
              </a:ext>
            </a:extLst>
          </p:cNvPr>
          <p:cNvSpPr txBox="1">
            <a:spLocks noChangeArrowheads="1"/>
          </p:cNvSpPr>
          <p:nvPr/>
        </p:nvSpPr>
        <p:spPr bwMode="auto">
          <a:xfrm>
            <a:off x="1349375" y="5100638"/>
            <a:ext cx="33909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Gill Sans MT" panose="020B0502020104020203" pitchFamily="34" charset="77"/>
              </a:rPr>
              <a:t>output port contention:</a:t>
            </a:r>
          </a:p>
          <a:p>
            <a:pPr algn="ctr"/>
            <a:r>
              <a:rPr lang="en-US" altLang="en-US">
                <a:latin typeface="Gill Sans MT" panose="020B0502020104020203" pitchFamily="34" charset="77"/>
              </a:rPr>
              <a:t>only one red datagram can be transferred.</a:t>
            </a:r>
            <a:br>
              <a:rPr lang="en-US" altLang="en-US">
                <a:latin typeface="Gill Sans MT" panose="020B0502020104020203" pitchFamily="34" charset="77"/>
              </a:rPr>
            </a:br>
            <a:r>
              <a:rPr lang="en-US" altLang="en-US" i="1">
                <a:latin typeface="Gill Sans MT" panose="020B0502020104020203" pitchFamily="34" charset="77"/>
              </a:rPr>
              <a:t>lower red packet is blocked</a:t>
            </a:r>
          </a:p>
        </p:txBody>
      </p:sp>
      <p:sp>
        <p:nvSpPr>
          <p:cNvPr id="60430" name="Text Box 64">
            <a:extLst>
              <a:ext uri="{FF2B5EF4-FFF2-40B4-BE49-F238E27FC236}">
                <a16:creationId xmlns:a16="http://schemas.microsoft.com/office/drawing/2014/main" id="{8D159D6F-8422-BD41-B188-229D4209EB7C}"/>
              </a:ext>
            </a:extLst>
          </p:cNvPr>
          <p:cNvSpPr txBox="1">
            <a:spLocks noChangeArrowheads="1"/>
          </p:cNvSpPr>
          <p:nvPr/>
        </p:nvSpPr>
        <p:spPr bwMode="auto">
          <a:xfrm>
            <a:off x="2527300" y="3990975"/>
            <a:ext cx="747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switch</a:t>
            </a:r>
          </a:p>
          <a:p>
            <a:r>
              <a:rPr lang="en-US" altLang="en-US" sz="1600"/>
              <a:t>fabric</a:t>
            </a:r>
          </a:p>
        </p:txBody>
      </p:sp>
      <p:sp>
        <p:nvSpPr>
          <p:cNvPr id="60431" name="Line 73">
            <a:extLst>
              <a:ext uri="{FF2B5EF4-FFF2-40B4-BE49-F238E27FC236}">
                <a16:creationId xmlns:a16="http://schemas.microsoft.com/office/drawing/2014/main" id="{24E18D97-6DD8-074D-AF1C-EE1E1B81BD7D}"/>
              </a:ext>
            </a:extLst>
          </p:cNvPr>
          <p:cNvSpPr>
            <a:spLocks noChangeShapeType="1"/>
          </p:cNvSpPr>
          <p:nvPr/>
        </p:nvSpPr>
        <p:spPr bwMode="auto">
          <a:xfrm>
            <a:off x="2124075" y="3990975"/>
            <a:ext cx="1458913" cy="19050"/>
          </a:xfrm>
          <a:prstGeom prst="line">
            <a:avLst/>
          </a:prstGeom>
          <a:noFill/>
          <a:ln w="28575">
            <a:solidFill>
              <a:srgbClr val="000099"/>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7" name="Group 79">
            <a:extLst>
              <a:ext uri="{FF2B5EF4-FFF2-40B4-BE49-F238E27FC236}">
                <a16:creationId xmlns:a16="http://schemas.microsoft.com/office/drawing/2014/main" id="{CC36AA9E-F9CF-584E-A55D-D72F0C7DE76B}"/>
              </a:ext>
            </a:extLst>
          </p:cNvPr>
          <p:cNvGrpSpPr>
            <a:grpSpLocks/>
          </p:cNvGrpSpPr>
          <p:nvPr/>
        </p:nvGrpSpPr>
        <p:grpSpPr bwMode="auto">
          <a:xfrm>
            <a:off x="4879975" y="3214688"/>
            <a:ext cx="3027363" cy="3086100"/>
            <a:chOff x="3074" y="2025"/>
            <a:chExt cx="1907" cy="1944"/>
          </a:xfrm>
        </p:grpSpPr>
        <p:grpSp>
          <p:nvGrpSpPr>
            <p:cNvPr id="60435" name="Group 31">
              <a:extLst>
                <a:ext uri="{FF2B5EF4-FFF2-40B4-BE49-F238E27FC236}">
                  <a16:creationId xmlns:a16="http://schemas.microsoft.com/office/drawing/2014/main" id="{0799EAE5-B953-4844-ACFE-35EC40098DD7}"/>
                </a:ext>
              </a:extLst>
            </p:cNvPr>
            <p:cNvGrpSpPr>
              <a:grpSpLocks/>
            </p:cNvGrpSpPr>
            <p:nvPr/>
          </p:nvGrpSpPr>
          <p:grpSpPr bwMode="auto">
            <a:xfrm>
              <a:off x="3074" y="2047"/>
              <a:ext cx="1907" cy="1140"/>
              <a:chOff x="523" y="976"/>
              <a:chExt cx="2099" cy="1356"/>
            </a:xfrm>
          </p:grpSpPr>
          <p:sp>
            <p:nvSpPr>
              <p:cNvPr id="60445" name="Rectangle 32">
                <a:extLst>
                  <a:ext uri="{FF2B5EF4-FFF2-40B4-BE49-F238E27FC236}">
                    <a16:creationId xmlns:a16="http://schemas.microsoft.com/office/drawing/2014/main" id="{41FEB241-668F-9144-B163-0796F3BF5C40}"/>
                  </a:ext>
                </a:extLst>
              </p:cNvPr>
              <p:cNvSpPr>
                <a:spLocks noChangeArrowheads="1"/>
              </p:cNvSpPr>
              <p:nvPr/>
            </p:nvSpPr>
            <p:spPr bwMode="auto">
              <a:xfrm>
                <a:off x="1208" y="976"/>
                <a:ext cx="745" cy="13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60446" name="Group 33">
                <a:extLst>
                  <a:ext uri="{FF2B5EF4-FFF2-40B4-BE49-F238E27FC236}">
                    <a16:creationId xmlns:a16="http://schemas.microsoft.com/office/drawing/2014/main" id="{EB5F4A81-8B14-E045-83AD-5D06E6370080}"/>
                  </a:ext>
                </a:extLst>
              </p:cNvPr>
              <p:cNvGrpSpPr>
                <a:grpSpLocks/>
              </p:cNvGrpSpPr>
              <p:nvPr/>
            </p:nvGrpSpPr>
            <p:grpSpPr bwMode="auto">
              <a:xfrm>
                <a:off x="804" y="997"/>
                <a:ext cx="249" cy="1295"/>
                <a:chOff x="748" y="997"/>
                <a:chExt cx="249" cy="1295"/>
              </a:xfrm>
            </p:grpSpPr>
            <p:sp>
              <p:nvSpPr>
                <p:cNvPr id="60465" name="Rectangle 34">
                  <a:extLst>
                    <a:ext uri="{FF2B5EF4-FFF2-40B4-BE49-F238E27FC236}">
                      <a16:creationId xmlns:a16="http://schemas.microsoft.com/office/drawing/2014/main" id="{9EEB9617-3B64-C949-B481-2391D5F3C3D6}"/>
                    </a:ext>
                  </a:extLst>
                </p:cNvPr>
                <p:cNvSpPr>
                  <a:spLocks noChangeArrowheads="1"/>
                </p:cNvSpPr>
                <p:nvPr/>
              </p:nvSpPr>
              <p:spPr bwMode="auto">
                <a:xfrm>
                  <a:off x="759" y="997"/>
                  <a:ext cx="240"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66" name="Rectangle 35">
                  <a:extLst>
                    <a:ext uri="{FF2B5EF4-FFF2-40B4-BE49-F238E27FC236}">
                      <a16:creationId xmlns:a16="http://schemas.microsoft.com/office/drawing/2014/main" id="{13FBADC5-D158-8C4F-B72B-0357C655D170}"/>
                    </a:ext>
                  </a:extLst>
                </p:cNvPr>
                <p:cNvSpPr>
                  <a:spLocks noChangeArrowheads="1"/>
                </p:cNvSpPr>
                <p:nvPr/>
              </p:nvSpPr>
              <p:spPr bwMode="auto">
                <a:xfrm>
                  <a:off x="750" y="1472"/>
                  <a:ext cx="240"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67" name="Rectangle 36">
                  <a:extLst>
                    <a:ext uri="{FF2B5EF4-FFF2-40B4-BE49-F238E27FC236}">
                      <a16:creationId xmlns:a16="http://schemas.microsoft.com/office/drawing/2014/main" id="{B7EB394C-EC94-8342-B107-E70AC89256E2}"/>
                    </a:ext>
                  </a:extLst>
                </p:cNvPr>
                <p:cNvSpPr>
                  <a:spLocks noChangeArrowheads="1"/>
                </p:cNvSpPr>
                <p:nvPr/>
              </p:nvSpPr>
              <p:spPr bwMode="auto">
                <a:xfrm>
                  <a:off x="748" y="1938"/>
                  <a:ext cx="240"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60447" name="Group 37">
                <a:extLst>
                  <a:ext uri="{FF2B5EF4-FFF2-40B4-BE49-F238E27FC236}">
                    <a16:creationId xmlns:a16="http://schemas.microsoft.com/office/drawing/2014/main" id="{4A74ACF7-2A09-8C4B-9D5D-4D449C3FFDD6}"/>
                  </a:ext>
                </a:extLst>
              </p:cNvPr>
              <p:cNvGrpSpPr>
                <a:grpSpLocks/>
              </p:cNvGrpSpPr>
              <p:nvPr/>
            </p:nvGrpSpPr>
            <p:grpSpPr bwMode="auto">
              <a:xfrm>
                <a:off x="2109" y="1002"/>
                <a:ext cx="249" cy="1295"/>
                <a:chOff x="748" y="997"/>
                <a:chExt cx="249" cy="1295"/>
              </a:xfrm>
            </p:grpSpPr>
            <p:sp>
              <p:nvSpPr>
                <p:cNvPr id="60462" name="Rectangle 38">
                  <a:extLst>
                    <a:ext uri="{FF2B5EF4-FFF2-40B4-BE49-F238E27FC236}">
                      <a16:creationId xmlns:a16="http://schemas.microsoft.com/office/drawing/2014/main" id="{A3E48816-39D5-1145-ABD7-EAC5E40FD492}"/>
                    </a:ext>
                  </a:extLst>
                </p:cNvPr>
                <p:cNvSpPr>
                  <a:spLocks noChangeArrowheads="1"/>
                </p:cNvSpPr>
                <p:nvPr/>
              </p:nvSpPr>
              <p:spPr bwMode="auto">
                <a:xfrm>
                  <a:off x="759" y="997"/>
                  <a:ext cx="238" cy="352"/>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63" name="Rectangle 39">
                  <a:extLst>
                    <a:ext uri="{FF2B5EF4-FFF2-40B4-BE49-F238E27FC236}">
                      <a16:creationId xmlns:a16="http://schemas.microsoft.com/office/drawing/2014/main" id="{277D0E88-1F7D-9847-B846-C7CA533D7BBF}"/>
                    </a:ext>
                  </a:extLst>
                </p:cNvPr>
                <p:cNvSpPr>
                  <a:spLocks noChangeArrowheads="1"/>
                </p:cNvSpPr>
                <p:nvPr/>
              </p:nvSpPr>
              <p:spPr bwMode="auto">
                <a:xfrm>
                  <a:off x="750" y="1472"/>
                  <a:ext cx="238" cy="352"/>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sp>
              <p:nvSpPr>
                <p:cNvPr id="60464" name="Rectangle 40">
                  <a:extLst>
                    <a:ext uri="{FF2B5EF4-FFF2-40B4-BE49-F238E27FC236}">
                      <a16:creationId xmlns:a16="http://schemas.microsoft.com/office/drawing/2014/main" id="{760353A5-1A99-FE48-908B-E5EAE0DCC703}"/>
                    </a:ext>
                  </a:extLst>
                </p:cNvPr>
                <p:cNvSpPr>
                  <a:spLocks noChangeArrowheads="1"/>
                </p:cNvSpPr>
                <p:nvPr/>
              </p:nvSpPr>
              <p:spPr bwMode="auto">
                <a:xfrm>
                  <a:off x="748" y="1940"/>
                  <a:ext cx="238" cy="352"/>
                </a:xfrm>
                <a:prstGeom prst="rect">
                  <a:avLst/>
                </a:prstGeom>
                <a:solidFill>
                  <a:schemeClr val="bg1"/>
                </a:solidFill>
                <a:ln w="19050">
                  <a:solidFill>
                    <a:srgbClr val="008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60448" name="Line 41">
                <a:extLst>
                  <a:ext uri="{FF2B5EF4-FFF2-40B4-BE49-F238E27FC236}">
                    <a16:creationId xmlns:a16="http://schemas.microsoft.com/office/drawing/2014/main" id="{1203E061-0F1B-584F-BC03-F09B521C808A}"/>
                  </a:ext>
                </a:extLst>
              </p:cNvPr>
              <p:cNvSpPr>
                <a:spLocks noChangeShapeType="1"/>
              </p:cNvSpPr>
              <p:nvPr/>
            </p:nvSpPr>
            <p:spPr bwMode="auto">
              <a:xfrm>
                <a:off x="1946" y="1181"/>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49" name="Line 42">
                <a:extLst>
                  <a:ext uri="{FF2B5EF4-FFF2-40B4-BE49-F238E27FC236}">
                    <a16:creationId xmlns:a16="http://schemas.microsoft.com/office/drawing/2014/main" id="{34764C8E-319B-BF4E-AFAA-7006B15CEE85}"/>
                  </a:ext>
                </a:extLst>
              </p:cNvPr>
              <p:cNvSpPr>
                <a:spLocks noChangeShapeType="1"/>
              </p:cNvSpPr>
              <p:nvPr/>
            </p:nvSpPr>
            <p:spPr bwMode="auto">
              <a:xfrm>
                <a:off x="1940" y="1644"/>
                <a:ext cx="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50" name="Line 43">
                <a:extLst>
                  <a:ext uri="{FF2B5EF4-FFF2-40B4-BE49-F238E27FC236}">
                    <a16:creationId xmlns:a16="http://schemas.microsoft.com/office/drawing/2014/main" id="{85BA9DF9-6C24-8D45-9F8D-E142EAA85F80}"/>
                  </a:ext>
                </a:extLst>
              </p:cNvPr>
              <p:cNvSpPr>
                <a:spLocks noChangeShapeType="1"/>
              </p:cNvSpPr>
              <p:nvPr/>
            </p:nvSpPr>
            <p:spPr bwMode="auto">
              <a:xfrm>
                <a:off x="1940" y="2119"/>
                <a:ext cx="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51" name="Line 44">
                <a:extLst>
                  <a:ext uri="{FF2B5EF4-FFF2-40B4-BE49-F238E27FC236}">
                    <a16:creationId xmlns:a16="http://schemas.microsoft.com/office/drawing/2014/main" id="{D8BDD0F1-A50D-AF40-84DA-16766CDF9368}"/>
                  </a:ext>
                </a:extLst>
              </p:cNvPr>
              <p:cNvSpPr>
                <a:spLocks noChangeShapeType="1"/>
              </p:cNvSpPr>
              <p:nvPr/>
            </p:nvSpPr>
            <p:spPr bwMode="auto">
              <a:xfrm>
                <a:off x="1044" y="1164"/>
                <a:ext cx="1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52" name="Line 45">
                <a:extLst>
                  <a:ext uri="{FF2B5EF4-FFF2-40B4-BE49-F238E27FC236}">
                    <a16:creationId xmlns:a16="http://schemas.microsoft.com/office/drawing/2014/main" id="{C1CE7536-FE86-174D-AA67-81D2E013C15C}"/>
                  </a:ext>
                </a:extLst>
              </p:cNvPr>
              <p:cNvSpPr>
                <a:spLocks noChangeShapeType="1"/>
              </p:cNvSpPr>
              <p:nvPr/>
            </p:nvSpPr>
            <p:spPr bwMode="auto">
              <a:xfrm>
                <a:off x="1038" y="1629"/>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53" name="Line 46">
                <a:extLst>
                  <a:ext uri="{FF2B5EF4-FFF2-40B4-BE49-F238E27FC236}">
                    <a16:creationId xmlns:a16="http://schemas.microsoft.com/office/drawing/2014/main" id="{BEF72E46-1FAC-D84C-84CE-18272BDB5937}"/>
                  </a:ext>
                </a:extLst>
              </p:cNvPr>
              <p:cNvSpPr>
                <a:spLocks noChangeShapeType="1"/>
              </p:cNvSpPr>
              <p:nvPr/>
            </p:nvSpPr>
            <p:spPr bwMode="auto">
              <a:xfrm>
                <a:off x="1038" y="2102"/>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60454" name="Group 47">
                <a:extLst>
                  <a:ext uri="{FF2B5EF4-FFF2-40B4-BE49-F238E27FC236}">
                    <a16:creationId xmlns:a16="http://schemas.microsoft.com/office/drawing/2014/main" id="{5662D72C-759A-604B-8BBA-BDA658DAA3F9}"/>
                  </a:ext>
                </a:extLst>
              </p:cNvPr>
              <p:cNvGrpSpPr>
                <a:grpSpLocks/>
              </p:cNvGrpSpPr>
              <p:nvPr/>
            </p:nvGrpSpPr>
            <p:grpSpPr bwMode="auto">
              <a:xfrm>
                <a:off x="523" y="1169"/>
                <a:ext cx="288" cy="939"/>
                <a:chOff x="-60" y="1148"/>
                <a:chExt cx="168" cy="939"/>
              </a:xfrm>
            </p:grpSpPr>
            <p:sp>
              <p:nvSpPr>
                <p:cNvPr id="60459" name="Line 48">
                  <a:extLst>
                    <a:ext uri="{FF2B5EF4-FFF2-40B4-BE49-F238E27FC236}">
                      <a16:creationId xmlns:a16="http://schemas.microsoft.com/office/drawing/2014/main" id="{13207CBC-2CB6-E74B-B853-11481C4BC38F}"/>
                    </a:ext>
                  </a:extLst>
                </p:cNvPr>
                <p:cNvSpPr>
                  <a:spLocks noChangeShapeType="1"/>
                </p:cNvSpPr>
                <p:nvPr/>
              </p:nvSpPr>
              <p:spPr bwMode="auto">
                <a:xfrm>
                  <a:off x="-54" y="1148"/>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60" name="Line 49">
                  <a:extLst>
                    <a:ext uri="{FF2B5EF4-FFF2-40B4-BE49-F238E27FC236}">
                      <a16:creationId xmlns:a16="http://schemas.microsoft.com/office/drawing/2014/main" id="{AD400796-63A5-D74E-913F-1FB73FD27506}"/>
                    </a:ext>
                  </a:extLst>
                </p:cNvPr>
                <p:cNvSpPr>
                  <a:spLocks noChangeShapeType="1"/>
                </p:cNvSpPr>
                <p:nvPr/>
              </p:nvSpPr>
              <p:spPr bwMode="auto">
                <a:xfrm>
                  <a:off x="-60" y="1613"/>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0461" name="Line 50">
                  <a:extLst>
                    <a:ext uri="{FF2B5EF4-FFF2-40B4-BE49-F238E27FC236}">
                      <a16:creationId xmlns:a16="http://schemas.microsoft.com/office/drawing/2014/main" id="{EA9ECD3D-AB6A-964E-9B77-51868060C2C6}"/>
                    </a:ext>
                  </a:extLst>
                </p:cNvPr>
                <p:cNvSpPr>
                  <a:spLocks noChangeShapeType="1"/>
                </p:cNvSpPr>
                <p:nvPr/>
              </p:nvSpPr>
              <p:spPr bwMode="auto">
                <a:xfrm>
                  <a:off x="-60" y="2087"/>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0455" name="Group 51">
                <a:extLst>
                  <a:ext uri="{FF2B5EF4-FFF2-40B4-BE49-F238E27FC236}">
                    <a16:creationId xmlns:a16="http://schemas.microsoft.com/office/drawing/2014/main" id="{C5F56DA1-2BFC-D141-8600-BD2B0562F45F}"/>
                  </a:ext>
                </a:extLst>
              </p:cNvPr>
              <p:cNvGrpSpPr>
                <a:grpSpLocks/>
              </p:cNvGrpSpPr>
              <p:nvPr/>
            </p:nvGrpSpPr>
            <p:grpSpPr bwMode="auto">
              <a:xfrm>
                <a:off x="2334" y="1173"/>
                <a:ext cx="288" cy="939"/>
                <a:chOff x="-60" y="1148"/>
                <a:chExt cx="168" cy="939"/>
              </a:xfrm>
            </p:grpSpPr>
            <p:sp>
              <p:nvSpPr>
                <p:cNvPr id="60456" name="Line 52">
                  <a:extLst>
                    <a:ext uri="{FF2B5EF4-FFF2-40B4-BE49-F238E27FC236}">
                      <a16:creationId xmlns:a16="http://schemas.microsoft.com/office/drawing/2014/main" id="{C7105ADA-59D5-4843-BCA5-0F183879AC0E}"/>
                    </a:ext>
                  </a:extLst>
                </p:cNvPr>
                <p:cNvSpPr>
                  <a:spLocks noChangeShapeType="1"/>
                </p:cNvSpPr>
                <p:nvPr/>
              </p:nvSpPr>
              <p:spPr bwMode="auto">
                <a:xfrm>
                  <a:off x="-54" y="1148"/>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57" name="Line 53">
                  <a:extLst>
                    <a:ext uri="{FF2B5EF4-FFF2-40B4-BE49-F238E27FC236}">
                      <a16:creationId xmlns:a16="http://schemas.microsoft.com/office/drawing/2014/main" id="{4F5BC149-184F-1247-8AB0-272E80CEA1C5}"/>
                    </a:ext>
                  </a:extLst>
                </p:cNvPr>
                <p:cNvSpPr>
                  <a:spLocks noChangeShapeType="1"/>
                </p:cNvSpPr>
                <p:nvPr/>
              </p:nvSpPr>
              <p:spPr bwMode="auto">
                <a:xfrm>
                  <a:off x="-60" y="1615"/>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58" name="Line 54">
                  <a:extLst>
                    <a:ext uri="{FF2B5EF4-FFF2-40B4-BE49-F238E27FC236}">
                      <a16:creationId xmlns:a16="http://schemas.microsoft.com/office/drawing/2014/main" id="{6FEF39FF-B6AC-6A4E-ACF4-0F9FA0B1AE68}"/>
                    </a:ext>
                  </a:extLst>
                </p:cNvPr>
                <p:cNvSpPr>
                  <a:spLocks noChangeShapeType="1"/>
                </p:cNvSpPr>
                <p:nvPr/>
              </p:nvSpPr>
              <p:spPr bwMode="auto">
                <a:xfrm>
                  <a:off x="-60" y="2087"/>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sp>
          <p:nvSpPr>
            <p:cNvPr id="60436" name="Text Box 63">
              <a:extLst>
                <a:ext uri="{FF2B5EF4-FFF2-40B4-BE49-F238E27FC236}">
                  <a16:creationId xmlns:a16="http://schemas.microsoft.com/office/drawing/2014/main" id="{511BB2C9-0EE5-F340-8FE0-71E65BA9B0F2}"/>
                </a:ext>
              </a:extLst>
            </p:cNvPr>
            <p:cNvSpPr txBox="1">
              <a:spLocks noChangeArrowheads="1"/>
            </p:cNvSpPr>
            <p:nvPr/>
          </p:nvSpPr>
          <p:spPr bwMode="auto">
            <a:xfrm>
              <a:off x="3287" y="3219"/>
              <a:ext cx="1407"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Gill Sans MT" panose="020B0502020104020203" pitchFamily="34" charset="77"/>
                </a:rPr>
                <a:t>one packet time later: green packet experiences HOL blocking</a:t>
              </a:r>
              <a:endParaRPr lang="en-US" altLang="en-US" i="1">
                <a:latin typeface="Gill Sans MT" panose="020B0502020104020203" pitchFamily="34" charset="77"/>
              </a:endParaRPr>
            </a:p>
          </p:txBody>
        </p:sp>
        <p:sp>
          <p:nvSpPr>
            <p:cNvPr id="60437" name="Text Box 65">
              <a:extLst>
                <a:ext uri="{FF2B5EF4-FFF2-40B4-BE49-F238E27FC236}">
                  <a16:creationId xmlns:a16="http://schemas.microsoft.com/office/drawing/2014/main" id="{379390F8-766D-564B-A367-1705596B4C45}"/>
                </a:ext>
              </a:extLst>
            </p:cNvPr>
            <p:cNvSpPr txBox="1">
              <a:spLocks noChangeArrowheads="1"/>
            </p:cNvSpPr>
            <p:nvPr/>
          </p:nvSpPr>
          <p:spPr bwMode="auto">
            <a:xfrm>
              <a:off x="3778" y="2507"/>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switch</a:t>
              </a:r>
            </a:p>
            <a:p>
              <a:r>
                <a:rPr lang="en-US" altLang="en-US" sz="1600"/>
                <a:t>fabric</a:t>
              </a:r>
            </a:p>
          </p:txBody>
        </p:sp>
        <p:sp>
          <p:nvSpPr>
            <p:cNvPr id="60438" name="Rectangle 66">
              <a:extLst>
                <a:ext uri="{FF2B5EF4-FFF2-40B4-BE49-F238E27FC236}">
                  <a16:creationId xmlns:a16="http://schemas.microsoft.com/office/drawing/2014/main" id="{73CF7506-0ABD-1743-9AD4-8A8E2FCBF2A3}"/>
                </a:ext>
              </a:extLst>
            </p:cNvPr>
            <p:cNvSpPr>
              <a:spLocks noChangeArrowheads="1"/>
            </p:cNvSpPr>
            <p:nvPr/>
          </p:nvSpPr>
          <p:spPr bwMode="auto">
            <a:xfrm>
              <a:off x="4551" y="2025"/>
              <a:ext cx="159" cy="83"/>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39" name="Rectangle 69">
              <a:extLst>
                <a:ext uri="{FF2B5EF4-FFF2-40B4-BE49-F238E27FC236}">
                  <a16:creationId xmlns:a16="http://schemas.microsoft.com/office/drawing/2014/main" id="{51A3ABCD-6A2A-7542-B8F9-424566574BA4}"/>
                </a:ext>
              </a:extLst>
            </p:cNvPr>
            <p:cNvSpPr>
              <a:spLocks noChangeArrowheads="1"/>
            </p:cNvSpPr>
            <p:nvPr/>
          </p:nvSpPr>
          <p:spPr bwMode="auto">
            <a:xfrm>
              <a:off x="3363" y="2050"/>
              <a:ext cx="159" cy="82"/>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40" name="Rectangle 70">
              <a:extLst>
                <a:ext uri="{FF2B5EF4-FFF2-40B4-BE49-F238E27FC236}">
                  <a16:creationId xmlns:a16="http://schemas.microsoft.com/office/drawing/2014/main" id="{4ECE25DF-6AD8-994D-AD0D-5978B3E7D54F}"/>
                </a:ext>
              </a:extLst>
            </p:cNvPr>
            <p:cNvSpPr>
              <a:spLocks noChangeArrowheads="1"/>
            </p:cNvSpPr>
            <p:nvPr/>
          </p:nvSpPr>
          <p:spPr bwMode="auto">
            <a:xfrm>
              <a:off x="3360" y="2916"/>
              <a:ext cx="159" cy="83"/>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41" name="Freeform 71">
              <a:extLst>
                <a:ext uri="{FF2B5EF4-FFF2-40B4-BE49-F238E27FC236}">
                  <a16:creationId xmlns:a16="http://schemas.microsoft.com/office/drawing/2014/main" id="{86679C7B-C85A-7C47-9B63-AB1EADFAB730}"/>
                </a:ext>
              </a:extLst>
            </p:cNvPr>
            <p:cNvSpPr>
              <a:spLocks/>
            </p:cNvSpPr>
            <p:nvPr/>
          </p:nvSpPr>
          <p:spPr bwMode="auto">
            <a:xfrm>
              <a:off x="3585" y="2324"/>
              <a:ext cx="878" cy="618"/>
            </a:xfrm>
            <a:custGeom>
              <a:avLst/>
              <a:gdLst>
                <a:gd name="T0" fmla="*/ 0 w 967"/>
                <a:gd name="T1" fmla="*/ 39 h 735"/>
                <a:gd name="T2" fmla="*/ 101 w 967"/>
                <a:gd name="T3" fmla="*/ 39 h 735"/>
                <a:gd name="T4" fmla="*/ 188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60442" name="Freeform 72">
              <a:extLst>
                <a:ext uri="{FF2B5EF4-FFF2-40B4-BE49-F238E27FC236}">
                  <a16:creationId xmlns:a16="http://schemas.microsoft.com/office/drawing/2014/main" id="{8F711398-2460-DC41-8FF2-B35B2DDF0171}"/>
                </a:ext>
              </a:extLst>
            </p:cNvPr>
            <p:cNvSpPr>
              <a:spLocks/>
            </p:cNvSpPr>
            <p:nvPr/>
          </p:nvSpPr>
          <p:spPr bwMode="auto">
            <a:xfrm>
              <a:off x="3573" y="2134"/>
              <a:ext cx="860" cy="437"/>
            </a:xfrm>
            <a:custGeom>
              <a:avLst/>
              <a:gdLst>
                <a:gd name="T0" fmla="*/ 0 w 860"/>
                <a:gd name="T1" fmla="*/ 3 h 437"/>
                <a:gd name="T2" fmla="*/ 468 w 860"/>
                <a:gd name="T3" fmla="*/ 0 h 437"/>
                <a:gd name="T4" fmla="*/ 860 w 860"/>
                <a:gd name="T5" fmla="*/ 437 h 437"/>
                <a:gd name="T6" fmla="*/ 0 60000 65536"/>
                <a:gd name="T7" fmla="*/ 0 60000 65536"/>
                <a:gd name="T8" fmla="*/ 0 60000 65536"/>
                <a:gd name="T9" fmla="*/ 0 w 860"/>
                <a:gd name="T10" fmla="*/ 0 h 437"/>
                <a:gd name="T11" fmla="*/ 860 w 860"/>
                <a:gd name="T12" fmla="*/ 437 h 437"/>
              </a:gdLst>
              <a:ahLst/>
              <a:cxnLst>
                <a:cxn ang="T6">
                  <a:pos x="T0" y="T1"/>
                </a:cxn>
                <a:cxn ang="T7">
                  <a:pos x="T2" y="T3"/>
                </a:cxn>
                <a:cxn ang="T8">
                  <a:pos x="T4" y="T5"/>
                </a:cxn>
              </a:cxnLst>
              <a:rect l="T9" t="T10" r="T11" b="T12"/>
              <a:pathLst>
                <a:path w="860" h="437">
                  <a:moveTo>
                    <a:pt x="0" y="3"/>
                  </a:moveTo>
                  <a:lnTo>
                    <a:pt x="468" y="0"/>
                  </a:lnTo>
                  <a:lnTo>
                    <a:pt x="860" y="437"/>
                  </a:lnTo>
                </a:path>
              </a:pathLst>
            </a:custGeom>
            <a:noFill/>
            <a:ln w="28575" cap="flat" cmpd="sng">
              <a:solidFill>
                <a:srgbClr val="000099"/>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60443" name="Rectangle 76">
              <a:extLst>
                <a:ext uri="{FF2B5EF4-FFF2-40B4-BE49-F238E27FC236}">
                  <a16:creationId xmlns:a16="http://schemas.microsoft.com/office/drawing/2014/main" id="{6117E102-6037-F048-B81B-4B27B17084FF}"/>
                </a:ext>
              </a:extLst>
            </p:cNvPr>
            <p:cNvSpPr>
              <a:spLocks noChangeArrowheads="1"/>
            </p:cNvSpPr>
            <p:nvPr/>
          </p:nvSpPr>
          <p:spPr bwMode="auto">
            <a:xfrm>
              <a:off x="3141" y="2890"/>
              <a:ext cx="159" cy="83"/>
            </a:xfrm>
            <a:prstGeom prst="rect">
              <a:avLst/>
            </a:prstGeom>
            <a:solidFill>
              <a:srgbClr val="00CC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0444" name="Rectangle 77">
              <a:extLst>
                <a:ext uri="{FF2B5EF4-FFF2-40B4-BE49-F238E27FC236}">
                  <a16:creationId xmlns:a16="http://schemas.microsoft.com/office/drawing/2014/main" id="{60F8FD12-18AA-3A42-BC1A-487AEBBA6BCD}"/>
                </a:ext>
              </a:extLst>
            </p:cNvPr>
            <p:cNvSpPr>
              <a:spLocks noChangeArrowheads="1"/>
            </p:cNvSpPr>
            <p:nvPr/>
          </p:nvSpPr>
          <p:spPr bwMode="auto">
            <a:xfrm>
              <a:off x="4542" y="2518"/>
              <a:ext cx="159" cy="83"/>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60433" name="Slide Number Placeholder 5">
            <a:extLst>
              <a:ext uri="{FF2B5EF4-FFF2-40B4-BE49-F238E27FC236}">
                <a16:creationId xmlns:a16="http://schemas.microsoft.com/office/drawing/2014/main" id="{AA9F376D-D996-6647-8DB6-DF20387568E8}"/>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60B7ED41-7133-9147-9C59-CFD2706DF2DF}" type="slidenum">
              <a:rPr lang="en-US" altLang="en-US">
                <a:latin typeface="Tahoma" panose="020B0604030504040204" pitchFamily="34" charset="0"/>
              </a:rPr>
              <a:pPr/>
              <a:t>37</a:t>
            </a:fld>
            <a:endParaRPr lang="en-US" altLang="en-US" dirty="0">
              <a:latin typeface="Tahoma" panose="020B0604030504040204" pitchFamily="34" charset="0"/>
            </a:endParaRPr>
          </a:p>
        </p:txBody>
      </p:sp>
      <p:sp>
        <p:nvSpPr>
          <p:cNvPr id="60434" name="Footer Placeholder 2">
            <a:extLst>
              <a:ext uri="{FF2B5EF4-FFF2-40B4-BE49-F238E27FC236}">
                <a16:creationId xmlns:a16="http://schemas.microsoft.com/office/drawing/2014/main" id="{017F65B5-8B43-E142-B5AA-5689608A4BA3}"/>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628650" y="1090608"/>
            <a:ext cx="7886700" cy="670967"/>
          </a:xfrm>
        </p:spPr>
        <p:txBody>
          <a:bodyPr/>
          <a:lstStyle/>
          <a:p>
            <a:r>
              <a:rPr lang="en-US" altLang="en-US" dirty="0">
                <a:ea typeface="ＭＳ Ｐゴシック" panose="020B0600070205080204" pitchFamily="34" charset="-128"/>
              </a:rPr>
              <a:t>Output port queuing</a:t>
            </a:r>
            <a:endParaRPr lang="en-US" dirty="0"/>
          </a:p>
        </p:txBody>
      </p:sp>
      <p:sp>
        <p:nvSpPr>
          <p:cNvPr id="142" name="Rectangle 3">
            <a:extLst>
              <a:ext uri="{FF2B5EF4-FFF2-40B4-BE49-F238E27FC236}">
                <a16:creationId xmlns:a16="http://schemas.microsoft.com/office/drawing/2014/main" id="{913FC5A4-1E19-7B47-9F20-2A2FD0E7A215}"/>
              </a:ext>
            </a:extLst>
          </p:cNvPr>
          <p:cNvSpPr txBox="1">
            <a:spLocks noChangeArrowheads="1"/>
          </p:cNvSpPr>
          <p:nvPr/>
        </p:nvSpPr>
        <p:spPr>
          <a:xfrm>
            <a:off x="666580" y="3420051"/>
            <a:ext cx="4483158" cy="1059950"/>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68580" tIns="34290" rIns="68580" bIns="3429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spcBef>
                <a:spcPts val="750"/>
              </a:spcBef>
              <a:spcAft>
                <a:spcPts val="0"/>
              </a:spcAft>
              <a:buSzPct val="100000"/>
              <a:defRPr/>
            </a:pPr>
            <a:r>
              <a:rPr lang="en-US" sz="2100" i="1" dirty="0">
                <a:solidFill>
                  <a:srgbClr val="CC0000"/>
                </a:solidFill>
                <a:latin typeface="Calibri" panose="020F0502020204030204"/>
              </a:rPr>
              <a:t>Buffering</a:t>
            </a:r>
            <a:r>
              <a:rPr lang="en-US" sz="2100" dirty="0">
                <a:solidFill>
                  <a:prstClr val="black"/>
                </a:solidFill>
                <a:latin typeface="Calibri" panose="020F0502020204030204"/>
              </a:rPr>
              <a:t> required when datagrams arrive from fabric faster than link transmission rate. </a:t>
            </a:r>
            <a:r>
              <a:rPr lang="en-US" sz="2100" i="1" dirty="0">
                <a:solidFill>
                  <a:srgbClr val="C00000"/>
                </a:solidFill>
                <a:latin typeface="Calibri" panose="020F0502020204030204"/>
              </a:rPr>
              <a:t>Drop policy: </a:t>
            </a:r>
            <a:r>
              <a:rPr lang="en-US" sz="2100" dirty="0">
                <a:solidFill>
                  <a:prstClr val="black"/>
                </a:solidFill>
                <a:latin typeface="Calibri" panose="020F0502020204030204"/>
              </a:rPr>
              <a:t>which datagrams to drop if no free buffers?</a:t>
            </a:r>
          </a:p>
        </p:txBody>
      </p:sp>
      <p:sp>
        <p:nvSpPr>
          <p:cNvPr id="191" name="Rectangle 3">
            <a:extLst>
              <a:ext uri="{FF2B5EF4-FFF2-40B4-BE49-F238E27FC236}">
                <a16:creationId xmlns:a16="http://schemas.microsoft.com/office/drawing/2014/main" id="{655E40F4-C569-5647-83A5-4E4AC0D12CE4}"/>
              </a:ext>
            </a:extLst>
          </p:cNvPr>
          <p:cNvSpPr txBox="1">
            <a:spLocks noChangeArrowheads="1"/>
          </p:cNvSpPr>
          <p:nvPr/>
        </p:nvSpPr>
        <p:spPr>
          <a:xfrm>
            <a:off x="703988" y="4743852"/>
            <a:ext cx="3848906" cy="966752"/>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spcBef>
                <a:spcPts val="750"/>
              </a:spcBef>
              <a:spcAft>
                <a:spcPts val="0"/>
              </a:spcAft>
              <a:buSzPct val="100000"/>
              <a:buFont typeface="Wingdings" charset="2"/>
              <a:buChar char="§"/>
              <a:defRPr/>
            </a:pPr>
            <a:r>
              <a:rPr lang="en-US" sz="2100" i="1" dirty="0">
                <a:solidFill>
                  <a:srgbClr val="CC0000"/>
                </a:solidFill>
                <a:latin typeface="Calibri" panose="020F0502020204030204"/>
              </a:rPr>
              <a:t>Scheduling discipline</a:t>
            </a:r>
            <a:r>
              <a:rPr lang="en-US" sz="2100" dirty="0">
                <a:solidFill>
                  <a:prstClr val="black"/>
                </a:solidFill>
                <a:latin typeface="Calibri" panose="020F0502020204030204"/>
              </a:rPr>
              <a:t> chooses among queued datagrams for transmission</a:t>
            </a:r>
          </a:p>
        </p:txBody>
      </p:sp>
      <p:grpSp>
        <p:nvGrpSpPr>
          <p:cNvPr id="14" name="Group 13">
            <a:extLst>
              <a:ext uri="{FF2B5EF4-FFF2-40B4-BE49-F238E27FC236}">
                <a16:creationId xmlns:a16="http://schemas.microsoft.com/office/drawing/2014/main" id="{CEACDE6A-9FE9-BD4D-9835-19E2A389BF2D}"/>
              </a:ext>
            </a:extLst>
          </p:cNvPr>
          <p:cNvGrpSpPr/>
          <p:nvPr/>
        </p:nvGrpSpPr>
        <p:grpSpPr>
          <a:xfrm>
            <a:off x="5175631" y="3683519"/>
            <a:ext cx="3777176" cy="964880"/>
            <a:chOff x="6302327" y="3768360"/>
            <a:chExt cx="5036234" cy="1286506"/>
          </a:xfrm>
        </p:grpSpPr>
        <p:sp>
          <p:nvSpPr>
            <p:cNvPr id="143" name="TextBox 142">
              <a:extLst>
                <a:ext uri="{FF2B5EF4-FFF2-40B4-BE49-F238E27FC236}">
                  <a16:creationId xmlns:a16="http://schemas.microsoft.com/office/drawing/2014/main" id="{30FDEEE0-B9AF-9D4C-ACC2-98B5C103795E}"/>
                </a:ext>
              </a:extLst>
            </p:cNvPr>
            <p:cNvSpPr txBox="1">
              <a:spLocks noChangeArrowheads="1"/>
            </p:cNvSpPr>
            <p:nvPr/>
          </p:nvSpPr>
          <p:spPr bwMode="auto">
            <a:xfrm>
              <a:off x="7385539" y="3768360"/>
              <a:ext cx="3953022" cy="1286506"/>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90000"/>
                </a:lnSpc>
                <a:spcBef>
                  <a:spcPts val="0"/>
                </a:spcBef>
                <a:spcAft>
                  <a:spcPts val="0"/>
                </a:spcAft>
                <a:defRPr/>
              </a:pPr>
              <a:r>
                <a:rPr lang="en-US" altLang="en-US" sz="2100" dirty="0">
                  <a:solidFill>
                    <a:srgbClr val="000000"/>
                  </a:solidFill>
                  <a:latin typeface="Calibri" panose="020F0502020204030204"/>
                </a:rPr>
                <a:t>Datagrams can be lost due to congestion, lack of buffers</a:t>
              </a:r>
            </a:p>
          </p:txBody>
        </p:sp>
        <p:sp>
          <p:nvSpPr>
            <p:cNvPr id="7" name="Right Arrow 6">
              <a:extLst>
                <a:ext uri="{FF2B5EF4-FFF2-40B4-BE49-F238E27FC236}">
                  <a16:creationId xmlns:a16="http://schemas.microsoft.com/office/drawing/2014/main" id="{2B8D69F4-7226-5D4D-A695-DB1CC7F30950}"/>
                </a:ext>
              </a:extLst>
            </p:cNvPr>
            <p:cNvSpPr/>
            <p:nvPr/>
          </p:nvSpPr>
          <p:spPr>
            <a:xfrm>
              <a:off x="6302327" y="4135902"/>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15" name="Group 14">
            <a:extLst>
              <a:ext uri="{FF2B5EF4-FFF2-40B4-BE49-F238E27FC236}">
                <a16:creationId xmlns:a16="http://schemas.microsoft.com/office/drawing/2014/main" id="{F388476A-12F9-364B-B461-B0624DF38E97}"/>
              </a:ext>
            </a:extLst>
          </p:cNvPr>
          <p:cNvGrpSpPr/>
          <p:nvPr/>
        </p:nvGrpSpPr>
        <p:grpSpPr>
          <a:xfrm>
            <a:off x="5156606" y="4758194"/>
            <a:ext cx="3989949" cy="964880"/>
            <a:chOff x="6243711" y="5201260"/>
            <a:chExt cx="5319932" cy="1286506"/>
          </a:xfrm>
        </p:grpSpPr>
        <p:sp>
          <p:nvSpPr>
            <p:cNvPr id="144" name="TextBox 143">
              <a:extLst>
                <a:ext uri="{FF2B5EF4-FFF2-40B4-BE49-F238E27FC236}">
                  <a16:creationId xmlns:a16="http://schemas.microsoft.com/office/drawing/2014/main" id="{5EC532F3-AD2F-834B-A210-0023284DAED3}"/>
                </a:ext>
              </a:extLst>
            </p:cNvPr>
            <p:cNvSpPr txBox="1">
              <a:spLocks noChangeArrowheads="1"/>
            </p:cNvSpPr>
            <p:nvPr/>
          </p:nvSpPr>
          <p:spPr bwMode="auto">
            <a:xfrm>
              <a:off x="7371470" y="5201260"/>
              <a:ext cx="4192173" cy="1286506"/>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90000"/>
                </a:lnSpc>
                <a:spcBef>
                  <a:spcPts val="0"/>
                </a:spcBef>
                <a:spcAft>
                  <a:spcPts val="0"/>
                </a:spcAft>
                <a:defRPr/>
              </a:pPr>
              <a:r>
                <a:rPr lang="en-US" altLang="en-US" sz="2100" dirty="0">
                  <a:solidFill>
                    <a:srgbClr val="000000"/>
                  </a:solidFill>
                  <a:latin typeface="Calibri" panose="020F0502020204030204"/>
                </a:rPr>
                <a:t>Priority scheduling – who gets best performance, network neutrality</a:t>
              </a:r>
            </a:p>
          </p:txBody>
        </p:sp>
        <p:sp>
          <p:nvSpPr>
            <p:cNvPr id="192" name="Right Arrow 191">
              <a:extLst>
                <a:ext uri="{FF2B5EF4-FFF2-40B4-BE49-F238E27FC236}">
                  <a16:creationId xmlns:a16="http://schemas.microsoft.com/office/drawing/2014/main" id="{0BB35D2A-3275-9A47-BFA6-3685C1F9CA7F}"/>
                </a:ext>
              </a:extLst>
            </p:cNvPr>
            <p:cNvSpPr/>
            <p:nvPr/>
          </p:nvSpPr>
          <p:spPr>
            <a:xfrm>
              <a:off x="6243711" y="5512190"/>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10" name="Group 9">
            <a:extLst>
              <a:ext uri="{FF2B5EF4-FFF2-40B4-BE49-F238E27FC236}">
                <a16:creationId xmlns:a16="http://schemas.microsoft.com/office/drawing/2014/main" id="{89D5CAC8-4273-BF4C-A720-130BA9B77F38}"/>
              </a:ext>
            </a:extLst>
          </p:cNvPr>
          <p:cNvGrpSpPr/>
          <p:nvPr/>
        </p:nvGrpSpPr>
        <p:grpSpPr>
          <a:xfrm>
            <a:off x="884212" y="1904654"/>
            <a:ext cx="5335264" cy="1271847"/>
            <a:chOff x="763318" y="1529542"/>
            <a:chExt cx="7113685" cy="1695796"/>
          </a:xfrm>
        </p:grpSpPr>
        <p:sp>
          <p:nvSpPr>
            <p:cNvPr id="168" name="Rectangle 5">
              <a:extLst>
                <a:ext uri="{FF2B5EF4-FFF2-40B4-BE49-F238E27FC236}">
                  <a16:creationId xmlns:a16="http://schemas.microsoft.com/office/drawing/2014/main" id="{9B163D0F-CA1A-3E4C-BF5C-777B168A4EEA}"/>
                </a:ext>
              </a:extLst>
            </p:cNvPr>
            <p:cNvSpPr>
              <a:spLocks noChangeArrowheads="1"/>
            </p:cNvSpPr>
            <p:nvPr/>
          </p:nvSpPr>
          <p:spPr bwMode="auto">
            <a:xfrm>
              <a:off x="2505123" y="1529542"/>
              <a:ext cx="4568825" cy="1679171"/>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200" kern="0">
                <a:solidFill>
                  <a:srgbClr val="000000"/>
                </a:solidFill>
                <a:latin typeface="Tahoma" panose="020B0604030504040204" pitchFamily="34" charset="0"/>
              </a:endParaRPr>
            </a:p>
          </p:txBody>
        </p:sp>
        <p:sp>
          <p:nvSpPr>
            <p:cNvPr id="169" name="Rectangle 6">
              <a:extLst>
                <a:ext uri="{FF2B5EF4-FFF2-40B4-BE49-F238E27FC236}">
                  <a16:creationId xmlns:a16="http://schemas.microsoft.com/office/drawing/2014/main" id="{D9ABA473-56A4-9140-B810-39DA1BF9AA4C}"/>
                </a:ext>
              </a:extLst>
            </p:cNvPr>
            <p:cNvSpPr>
              <a:spLocks noChangeArrowheads="1"/>
            </p:cNvSpPr>
            <p:nvPr/>
          </p:nvSpPr>
          <p:spPr bwMode="auto">
            <a:xfrm>
              <a:off x="5427711" y="1946056"/>
              <a:ext cx="1417637"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200" kern="0">
                  <a:solidFill>
                    <a:srgbClr val="000000"/>
                  </a:solidFill>
                  <a:latin typeface="Tahoma" panose="020B0604030504040204" pitchFamily="34" charset="0"/>
                </a:rPr>
                <a:t>line</a:t>
              </a:r>
            </a:p>
            <a:p>
              <a:pPr algn="ctr" defTabSz="685800">
                <a:defRPr/>
              </a:pPr>
              <a:r>
                <a:rPr lang="en-US" altLang="en-US" sz="1200" kern="0">
                  <a:solidFill>
                    <a:srgbClr val="000000"/>
                  </a:solidFill>
                  <a:latin typeface="Tahoma" panose="020B0604030504040204" pitchFamily="34" charset="0"/>
                </a:rPr>
                <a:t>termination</a:t>
              </a:r>
            </a:p>
          </p:txBody>
        </p:sp>
        <p:sp>
          <p:nvSpPr>
            <p:cNvPr id="170" name="Rectangle 7">
              <a:extLst>
                <a:ext uri="{FF2B5EF4-FFF2-40B4-BE49-F238E27FC236}">
                  <a16:creationId xmlns:a16="http://schemas.microsoft.com/office/drawing/2014/main" id="{A93445FD-0A38-824D-AD5C-D69A392C9E2F}"/>
                </a:ext>
              </a:extLst>
            </p:cNvPr>
            <p:cNvSpPr>
              <a:spLocks noChangeArrowheads="1"/>
            </p:cNvSpPr>
            <p:nvPr/>
          </p:nvSpPr>
          <p:spPr bwMode="auto">
            <a:xfrm>
              <a:off x="4118023" y="1673006"/>
              <a:ext cx="1152525" cy="1409700"/>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200" kern="0">
                <a:solidFill>
                  <a:srgbClr val="000000"/>
                </a:solidFill>
                <a:latin typeface="Tahoma" panose="020B0604030504040204" pitchFamily="34" charset="0"/>
              </a:endParaRPr>
            </a:p>
          </p:txBody>
        </p:sp>
        <p:sp>
          <p:nvSpPr>
            <p:cNvPr id="171" name="Line 10">
              <a:extLst>
                <a:ext uri="{FF2B5EF4-FFF2-40B4-BE49-F238E27FC236}">
                  <a16:creationId xmlns:a16="http://schemas.microsoft.com/office/drawing/2014/main" id="{F251D37A-1EA2-C048-A7C5-11851E5541EA}"/>
                </a:ext>
              </a:extLst>
            </p:cNvPr>
            <p:cNvSpPr>
              <a:spLocks noChangeShapeType="1"/>
            </p:cNvSpPr>
            <p:nvPr/>
          </p:nvSpPr>
          <p:spPr bwMode="auto">
            <a:xfrm>
              <a:off x="3940223" y="2392143"/>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72" name="Line 11">
              <a:extLst>
                <a:ext uri="{FF2B5EF4-FFF2-40B4-BE49-F238E27FC236}">
                  <a16:creationId xmlns:a16="http://schemas.microsoft.com/office/drawing/2014/main" id="{E70C16AE-A78C-2644-ACA1-5A2B601BF119}"/>
                </a:ext>
              </a:extLst>
            </p:cNvPr>
            <p:cNvSpPr>
              <a:spLocks noChangeShapeType="1"/>
            </p:cNvSpPr>
            <p:nvPr/>
          </p:nvSpPr>
          <p:spPr bwMode="auto">
            <a:xfrm>
              <a:off x="5273723" y="2349281"/>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74" name="Rectangle 13">
              <a:extLst>
                <a:ext uri="{FF2B5EF4-FFF2-40B4-BE49-F238E27FC236}">
                  <a16:creationId xmlns:a16="http://schemas.microsoft.com/office/drawing/2014/main" id="{A66255F7-4CD5-DF46-8B83-7D17A05654C5}"/>
                </a:ext>
              </a:extLst>
            </p:cNvPr>
            <p:cNvSpPr>
              <a:spLocks noChangeArrowheads="1"/>
            </p:cNvSpPr>
            <p:nvPr/>
          </p:nvSpPr>
          <p:spPr bwMode="auto">
            <a:xfrm>
              <a:off x="4151361" y="1982568"/>
              <a:ext cx="1055687"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90000"/>
                </a:lnSpc>
                <a:defRPr/>
              </a:pPr>
              <a:r>
                <a:rPr lang="en-US" altLang="en-US" sz="1200" kern="0" dirty="0">
                  <a:solidFill>
                    <a:srgbClr val="000000"/>
                  </a:solidFill>
                  <a:latin typeface="Tahoma" panose="020B0604030504040204" pitchFamily="34" charset="0"/>
                </a:rPr>
                <a:t>link </a:t>
              </a:r>
            </a:p>
            <a:p>
              <a:pPr algn="ctr" defTabSz="685800">
                <a:lnSpc>
                  <a:spcPct val="90000"/>
                </a:lnSpc>
                <a:defRPr/>
              </a:pPr>
              <a:r>
                <a:rPr lang="en-US" altLang="en-US" sz="1200" kern="0" dirty="0">
                  <a:solidFill>
                    <a:srgbClr val="000000"/>
                  </a:solidFill>
                  <a:latin typeface="Tahoma" panose="020B0604030504040204" pitchFamily="34" charset="0"/>
                </a:rPr>
                <a:t>layer </a:t>
              </a:r>
            </a:p>
            <a:p>
              <a:pPr algn="ctr" defTabSz="685800">
                <a:lnSpc>
                  <a:spcPct val="90000"/>
                </a:lnSpc>
                <a:defRPr/>
              </a:pPr>
              <a:r>
                <a:rPr lang="en-US" altLang="en-US" sz="1200" kern="0" dirty="0">
                  <a:solidFill>
                    <a:srgbClr val="000000"/>
                  </a:solidFill>
                  <a:latin typeface="Tahoma" panose="020B0604030504040204" pitchFamily="34" charset="0"/>
                </a:rPr>
                <a:t>protocol</a:t>
              </a:r>
            </a:p>
            <a:p>
              <a:pPr algn="ctr" defTabSz="685800">
                <a:lnSpc>
                  <a:spcPct val="90000"/>
                </a:lnSpc>
                <a:defRPr/>
              </a:pPr>
              <a:r>
                <a:rPr lang="en-US" altLang="en-US" sz="1200" kern="0" dirty="0">
                  <a:solidFill>
                    <a:srgbClr val="000000"/>
                  </a:solidFill>
                  <a:latin typeface="Tahoma" panose="020B0604030504040204" pitchFamily="34" charset="0"/>
                </a:rPr>
                <a:t>(send)</a:t>
              </a:r>
            </a:p>
          </p:txBody>
        </p:sp>
        <p:sp>
          <p:nvSpPr>
            <p:cNvPr id="175" name="Rectangle 16">
              <a:extLst>
                <a:ext uri="{FF2B5EF4-FFF2-40B4-BE49-F238E27FC236}">
                  <a16:creationId xmlns:a16="http://schemas.microsoft.com/office/drawing/2014/main" id="{DDB93494-97A6-8A4A-91E9-BC29A5AE37AC}"/>
                </a:ext>
              </a:extLst>
            </p:cNvPr>
            <p:cNvSpPr>
              <a:spLocks noChangeArrowheads="1"/>
            </p:cNvSpPr>
            <p:nvPr/>
          </p:nvSpPr>
          <p:spPr bwMode="auto">
            <a:xfrm>
              <a:off x="763318" y="1925822"/>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500" kern="0" dirty="0">
                  <a:solidFill>
                    <a:srgbClr val="000000"/>
                  </a:solidFill>
                  <a:latin typeface="Tahoma" panose="020B0604030504040204" pitchFamily="34" charset="0"/>
                </a:rPr>
                <a:t>switch</a:t>
              </a:r>
            </a:p>
            <a:p>
              <a:pPr algn="r" defTabSz="685800">
                <a:defRPr/>
              </a:pPr>
              <a:r>
                <a:rPr lang="en-US" altLang="en-US" sz="1500" kern="0" dirty="0">
                  <a:solidFill>
                    <a:srgbClr val="000000"/>
                  </a:solidFill>
                  <a:latin typeface="Tahoma" panose="020B0604030504040204" pitchFamily="34" charset="0"/>
                </a:rPr>
                <a:t>f</a:t>
              </a:r>
              <a:r>
                <a:rPr lang="en-US" altLang="en-US" sz="1500" kern="0" dirty="0" err="1">
                  <a:solidFill>
                    <a:srgbClr val="000000"/>
                  </a:solidFill>
                  <a:latin typeface="Tahoma" panose="020B0604030504040204" pitchFamily="34" charset="0"/>
                </a:rPr>
                <a:t>abric</a:t>
              </a:r>
              <a:endParaRPr lang="en-US" altLang="en-US" sz="1500" kern="0" dirty="0">
                <a:solidFill>
                  <a:srgbClr val="000000"/>
                </a:solidFill>
                <a:latin typeface="Tahoma" panose="020B0604030504040204" pitchFamily="34" charset="0"/>
              </a:endParaRPr>
            </a:p>
            <a:p>
              <a:pPr algn="r" defTabSz="685800">
                <a:defRPr/>
              </a:pPr>
              <a:r>
                <a:rPr lang="en-US" altLang="en-US" sz="1500" kern="0" dirty="0">
                  <a:solidFill>
                    <a:srgbClr val="000000"/>
                  </a:solidFill>
                  <a:latin typeface="Tahoma" panose="020B0604030504040204" pitchFamily="34" charset="0"/>
                </a:rPr>
                <a:t>(</a:t>
              </a:r>
              <a:r>
                <a:rPr lang="en-US" altLang="en-US" sz="1350" kern="0" dirty="0">
                  <a:solidFill>
                    <a:srgbClr val="000000"/>
                  </a:solidFill>
                  <a:latin typeface="Tahoma" panose="020B0604030504040204" pitchFamily="34" charset="0"/>
                </a:rPr>
                <a:t>rate: </a:t>
              </a:r>
              <a:r>
                <a:rPr lang="en-US" altLang="en-US" sz="1500" kern="0" dirty="0">
                  <a:solidFill>
                    <a:srgbClr val="000000"/>
                  </a:solidFill>
                  <a:latin typeface="Tahoma" panose="020B0604030504040204" pitchFamily="34" charset="0"/>
                </a:rPr>
                <a:t>NR)</a:t>
              </a:r>
            </a:p>
          </p:txBody>
        </p:sp>
        <p:grpSp>
          <p:nvGrpSpPr>
            <p:cNvPr id="176" name="Group 28">
              <a:extLst>
                <a:ext uri="{FF2B5EF4-FFF2-40B4-BE49-F238E27FC236}">
                  <a16:creationId xmlns:a16="http://schemas.microsoft.com/office/drawing/2014/main" id="{D9BF0A2B-C5F9-A740-8460-7E121162451A}"/>
                </a:ext>
              </a:extLst>
            </p:cNvPr>
            <p:cNvGrpSpPr>
              <a:grpSpLocks/>
            </p:cNvGrpSpPr>
            <p:nvPr/>
          </p:nvGrpSpPr>
          <p:grpSpPr bwMode="auto">
            <a:xfrm>
              <a:off x="2657523" y="1623793"/>
              <a:ext cx="1247775" cy="1504950"/>
              <a:chOff x="3180" y="909"/>
              <a:chExt cx="786" cy="948"/>
            </a:xfrm>
          </p:grpSpPr>
          <p:sp>
            <p:nvSpPr>
              <p:cNvPr id="177" name="Rectangle 8">
                <a:extLst>
                  <a:ext uri="{FF2B5EF4-FFF2-40B4-BE49-F238E27FC236}">
                    <a16:creationId xmlns:a16="http://schemas.microsoft.com/office/drawing/2014/main" id="{DD4D9539-6E74-FE4C-939B-205C9E71D416}"/>
                  </a:ext>
                </a:extLst>
              </p:cNvPr>
              <p:cNvSpPr>
                <a:spLocks noChangeArrowheads="1"/>
              </p:cNvSpPr>
              <p:nvPr/>
            </p:nvSpPr>
            <p:spPr bwMode="auto">
              <a:xfrm>
                <a:off x="3180" y="909"/>
                <a:ext cx="786" cy="948"/>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200" kern="0">
                  <a:solidFill>
                    <a:srgbClr val="000000"/>
                  </a:solidFill>
                  <a:latin typeface="Tahoma" panose="020B0604030504040204" pitchFamily="34" charset="0"/>
                </a:endParaRPr>
              </a:p>
            </p:txBody>
          </p:sp>
          <p:sp>
            <p:nvSpPr>
              <p:cNvPr id="178" name="Text Box 14">
                <a:extLst>
                  <a:ext uri="{FF2B5EF4-FFF2-40B4-BE49-F238E27FC236}">
                    <a16:creationId xmlns:a16="http://schemas.microsoft.com/office/drawing/2014/main" id="{AE54DBDF-A7F9-704B-B392-E2740194AA62}"/>
                  </a:ext>
                </a:extLst>
              </p:cNvPr>
              <p:cNvSpPr txBox="1">
                <a:spLocks noChangeArrowheads="1"/>
              </p:cNvSpPr>
              <p:nvPr/>
            </p:nvSpPr>
            <p:spPr bwMode="auto">
              <a:xfrm>
                <a:off x="3244" y="917"/>
                <a:ext cx="699" cy="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200" kern="0" dirty="0">
                    <a:solidFill>
                      <a:srgbClr val="000000"/>
                    </a:solidFill>
                  </a:rPr>
                  <a:t>datagram</a:t>
                </a:r>
              </a:p>
              <a:p>
                <a:pPr algn="ctr" defTabSz="685800">
                  <a:defRPr/>
                </a:pPr>
                <a:r>
                  <a:rPr lang="en-US" altLang="en-US" sz="1200" kern="0" dirty="0">
                    <a:solidFill>
                      <a:srgbClr val="000000"/>
                    </a:solidFill>
                  </a:rPr>
                  <a:t>buffer</a:t>
                </a:r>
              </a:p>
              <a:p>
                <a:pPr algn="ctr" defTabSz="685800">
                  <a:defRPr/>
                </a:pPr>
                <a:endParaRPr lang="en-US" altLang="en-US" sz="1200" kern="0" dirty="0">
                  <a:solidFill>
                    <a:srgbClr val="000000"/>
                  </a:solidFill>
                </a:endParaRPr>
              </a:p>
              <a:p>
                <a:pPr algn="ctr" defTabSz="685800">
                  <a:defRPr/>
                </a:pPr>
                <a:endParaRPr lang="en-US" altLang="en-US" sz="1200" kern="0" dirty="0">
                  <a:solidFill>
                    <a:srgbClr val="000000"/>
                  </a:solidFill>
                </a:endParaRPr>
              </a:p>
              <a:p>
                <a:pPr algn="ctr" defTabSz="685800">
                  <a:defRPr/>
                </a:pPr>
                <a:r>
                  <a:rPr lang="en-US" altLang="en-US" sz="1200" kern="0" dirty="0">
                    <a:solidFill>
                      <a:srgbClr val="000000"/>
                    </a:solidFill>
                  </a:rPr>
                  <a:t>queueing</a:t>
                </a:r>
              </a:p>
            </p:txBody>
          </p:sp>
          <p:grpSp>
            <p:nvGrpSpPr>
              <p:cNvPr id="179" name="Group 17">
                <a:extLst>
                  <a:ext uri="{FF2B5EF4-FFF2-40B4-BE49-F238E27FC236}">
                    <a16:creationId xmlns:a16="http://schemas.microsoft.com/office/drawing/2014/main" id="{06F8403D-BA10-5144-A155-19FE3754BE36}"/>
                  </a:ext>
                </a:extLst>
              </p:cNvPr>
              <p:cNvGrpSpPr>
                <a:grpSpLocks/>
              </p:cNvGrpSpPr>
              <p:nvPr/>
            </p:nvGrpSpPr>
            <p:grpSpPr bwMode="auto">
              <a:xfrm>
                <a:off x="3260" y="1299"/>
                <a:ext cx="626" cy="295"/>
                <a:chOff x="310" y="3526"/>
                <a:chExt cx="1040" cy="457"/>
              </a:xfrm>
            </p:grpSpPr>
            <p:sp>
              <p:nvSpPr>
                <p:cNvPr id="180" name="Rectangle 18">
                  <a:extLst>
                    <a:ext uri="{FF2B5EF4-FFF2-40B4-BE49-F238E27FC236}">
                      <a16:creationId xmlns:a16="http://schemas.microsoft.com/office/drawing/2014/main" id="{9A795CC1-826F-4C44-9993-319F64F49FC2}"/>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200" kern="0">
                    <a:solidFill>
                      <a:srgbClr val="000000"/>
                    </a:solidFill>
                    <a:latin typeface="Tahoma" panose="020B0604030504040204" pitchFamily="34" charset="0"/>
                  </a:endParaRPr>
                </a:p>
              </p:txBody>
            </p:sp>
            <p:sp>
              <p:nvSpPr>
                <p:cNvPr id="181" name="Line 19">
                  <a:extLst>
                    <a:ext uri="{FF2B5EF4-FFF2-40B4-BE49-F238E27FC236}">
                      <a16:creationId xmlns:a16="http://schemas.microsoft.com/office/drawing/2014/main" id="{4731A973-BD75-D041-B879-015ABFDDD7EB}"/>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82" name="Line 20">
                  <a:extLst>
                    <a:ext uri="{FF2B5EF4-FFF2-40B4-BE49-F238E27FC236}">
                      <a16:creationId xmlns:a16="http://schemas.microsoft.com/office/drawing/2014/main" id="{E25B9F25-22CB-0447-9AC4-9FC92218F432}"/>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83" name="Line 21">
                  <a:extLst>
                    <a:ext uri="{FF2B5EF4-FFF2-40B4-BE49-F238E27FC236}">
                      <a16:creationId xmlns:a16="http://schemas.microsoft.com/office/drawing/2014/main" id="{91851468-4893-D34C-9AE7-1771C894A65C}"/>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84" name="Line 22">
                  <a:extLst>
                    <a:ext uri="{FF2B5EF4-FFF2-40B4-BE49-F238E27FC236}">
                      <a16:creationId xmlns:a16="http://schemas.microsoft.com/office/drawing/2014/main" id="{24979CFA-E6E8-6443-8031-1C8E87B15CF5}"/>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85" name="Line 23">
                  <a:extLst>
                    <a:ext uri="{FF2B5EF4-FFF2-40B4-BE49-F238E27FC236}">
                      <a16:creationId xmlns:a16="http://schemas.microsoft.com/office/drawing/2014/main" id="{DD3375EE-F46C-7845-8A16-1C39FA3943F4}"/>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86" name="Line 24">
                  <a:extLst>
                    <a:ext uri="{FF2B5EF4-FFF2-40B4-BE49-F238E27FC236}">
                      <a16:creationId xmlns:a16="http://schemas.microsoft.com/office/drawing/2014/main" id="{2CF7F543-916F-574B-9CF5-E75F82B8E662}"/>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87" name="Line 25">
                  <a:extLst>
                    <a:ext uri="{FF2B5EF4-FFF2-40B4-BE49-F238E27FC236}">
                      <a16:creationId xmlns:a16="http://schemas.microsoft.com/office/drawing/2014/main" id="{5571B680-4F31-6A43-B505-CB421081C05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88" name="Line 26">
                  <a:extLst>
                    <a:ext uri="{FF2B5EF4-FFF2-40B4-BE49-F238E27FC236}">
                      <a16:creationId xmlns:a16="http://schemas.microsoft.com/office/drawing/2014/main" id="{87E5063B-F80B-F542-9BC3-D9BE9AAED9D2}"/>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sp>
          <p:nvSpPr>
            <p:cNvPr id="189" name="Line 27">
              <a:extLst>
                <a:ext uri="{FF2B5EF4-FFF2-40B4-BE49-F238E27FC236}">
                  <a16:creationId xmlns:a16="http://schemas.microsoft.com/office/drawing/2014/main" id="{AC914BE7-EF9D-D444-B3B1-4333D5182D93}"/>
                </a:ext>
              </a:extLst>
            </p:cNvPr>
            <p:cNvSpPr>
              <a:spLocks noChangeShapeType="1"/>
            </p:cNvSpPr>
            <p:nvPr/>
          </p:nvSpPr>
          <p:spPr bwMode="auto">
            <a:xfrm>
              <a:off x="1878016" y="1579418"/>
              <a:ext cx="0" cy="164592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190" name="Line 9">
              <a:extLst>
                <a:ext uri="{FF2B5EF4-FFF2-40B4-BE49-F238E27FC236}">
                  <a16:creationId xmlns:a16="http://schemas.microsoft.com/office/drawing/2014/main" id="{CBD25FB7-BD31-354A-B607-0A105E81B218}"/>
                </a:ext>
              </a:extLst>
            </p:cNvPr>
            <p:cNvSpPr>
              <a:spLocks noChangeShapeType="1"/>
            </p:cNvSpPr>
            <p:nvPr/>
          </p:nvSpPr>
          <p:spPr bwMode="auto">
            <a:xfrm flipV="1">
              <a:off x="1860598" y="2435006"/>
              <a:ext cx="92551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cxnSp>
          <p:nvCxnSpPr>
            <p:cNvPr id="8" name="Straight Arrow Connector 7">
              <a:extLst>
                <a:ext uri="{FF2B5EF4-FFF2-40B4-BE49-F238E27FC236}">
                  <a16:creationId xmlns:a16="http://schemas.microsoft.com/office/drawing/2014/main" id="{12077A03-5191-4C4E-9229-0F4C5ED20B83}"/>
                </a:ext>
              </a:extLst>
            </p:cNvPr>
            <p:cNvCxnSpPr/>
            <p:nvPr/>
          </p:nvCxnSpPr>
          <p:spPr>
            <a:xfrm>
              <a:off x="6846225" y="2394066"/>
              <a:ext cx="1030778"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C49EDB8-5525-2E4A-8DBC-6D03E6692746}"/>
                </a:ext>
              </a:extLst>
            </p:cNvPr>
            <p:cNvSpPr txBox="1"/>
            <p:nvPr/>
          </p:nvSpPr>
          <p:spPr>
            <a:xfrm flipH="1">
              <a:off x="7215448" y="2377441"/>
              <a:ext cx="315884" cy="553997"/>
            </a:xfrm>
            <a:prstGeom prst="rect">
              <a:avLst/>
            </a:prstGeom>
            <a:noFill/>
          </p:spPr>
          <p:txBody>
            <a:bodyPr wrap="squar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R</a:t>
              </a:r>
            </a:p>
          </p:txBody>
        </p:sp>
      </p:grpSp>
      <p:sp>
        <p:nvSpPr>
          <p:cNvPr id="39" name="Slide Number Placeholder 4">
            <a:extLst>
              <a:ext uri="{FF2B5EF4-FFF2-40B4-BE49-F238E27FC236}">
                <a16:creationId xmlns:a16="http://schemas.microsoft.com/office/drawing/2014/main" id="{00A3717F-1F0F-FC43-A1DA-5E87871F0596}"/>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38</a:t>
            </a:fld>
            <a:endParaRPr lang="en-US" dirty="0"/>
          </a:p>
        </p:txBody>
      </p:sp>
      <p:sp>
        <p:nvSpPr>
          <p:cNvPr id="11" name="Slide Number Placeholder 5">
            <a:extLst>
              <a:ext uri="{FF2B5EF4-FFF2-40B4-BE49-F238E27FC236}">
                <a16:creationId xmlns:a16="http://schemas.microsoft.com/office/drawing/2014/main" id="{C7273E46-5682-9BCE-A842-4F032F831611}"/>
              </a:ext>
            </a:extLst>
          </p:cNvPr>
          <p:cNvSpPr>
            <a:spLocks noGrp="1"/>
          </p:cNvSpPr>
          <p:nvPr>
            <p:ph type="sldNum" sz="quarter" idx="12"/>
          </p:nvPr>
        </p:nvSpPr>
        <p:spPr>
          <a:xfrm>
            <a:off x="8071603" y="6170039"/>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ADFAF319-76AC-1B42-8DBE-7E9CD4834884}" type="slidenum">
              <a:rPr lang="en-US" altLang="en-US">
                <a:latin typeface="Tahoma" panose="020B0604030504040204" pitchFamily="34" charset="0"/>
              </a:rPr>
              <a:pPr/>
              <a:t>38</a:t>
            </a:fld>
            <a:endParaRPr lang="en-US" altLang="en-US" dirty="0">
              <a:latin typeface="Tahoma" panose="020B0604030504040204" pitchFamily="34" charset="0"/>
            </a:endParaRPr>
          </a:p>
        </p:txBody>
      </p:sp>
    </p:spTree>
    <p:extLst>
      <p:ext uri="{BB962C8B-B14F-4D97-AF65-F5344CB8AC3E}">
        <p14:creationId xmlns:p14="http://schemas.microsoft.com/office/powerpoint/2010/main" val="172273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dissolve">
                                      <p:cBhvr>
                                        <p:cTn id="12" dur="5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80" descr="underline_base">
            <a:extLst>
              <a:ext uri="{FF2B5EF4-FFF2-40B4-BE49-F238E27FC236}">
                <a16:creationId xmlns:a16="http://schemas.microsoft.com/office/drawing/2014/main" id="{AB8F7134-DA3F-924E-931E-5029F46D126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8" y="784225"/>
            <a:ext cx="50276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Rectangle 2">
            <a:extLst>
              <a:ext uri="{FF2B5EF4-FFF2-40B4-BE49-F238E27FC236}">
                <a16:creationId xmlns:a16="http://schemas.microsoft.com/office/drawing/2014/main" id="{05C86F4B-52BF-F547-9515-9243ADAD2637}"/>
              </a:ext>
            </a:extLst>
          </p:cNvPr>
          <p:cNvSpPr>
            <a:spLocks noGrp="1" noChangeArrowheads="1"/>
          </p:cNvSpPr>
          <p:nvPr>
            <p:ph type="title"/>
          </p:nvPr>
        </p:nvSpPr>
        <p:spPr>
          <a:xfrm>
            <a:off x="533400" y="196850"/>
            <a:ext cx="7772400" cy="730250"/>
          </a:xfrm>
        </p:spPr>
        <p:txBody>
          <a:bodyPr/>
          <a:lstStyle/>
          <a:p>
            <a:r>
              <a:rPr lang="en-US" altLang="en-US" sz="4000">
                <a:ea typeface="ＭＳ Ｐゴシック" panose="020B0600070205080204" pitchFamily="34" charset="-128"/>
              </a:rPr>
              <a:t>Output port queueing</a:t>
            </a:r>
            <a:endParaRPr lang="en-US" altLang="en-US">
              <a:ea typeface="ＭＳ Ｐゴシック" panose="020B0600070205080204" pitchFamily="34" charset="-128"/>
            </a:endParaRPr>
          </a:p>
        </p:txBody>
      </p:sp>
      <p:sp>
        <p:nvSpPr>
          <p:cNvPr id="62468" name="Rectangle 3">
            <a:extLst>
              <a:ext uri="{FF2B5EF4-FFF2-40B4-BE49-F238E27FC236}">
                <a16:creationId xmlns:a16="http://schemas.microsoft.com/office/drawing/2014/main" id="{4F2EE97A-6CB6-DA42-9FBF-24A0F9AF22D0}"/>
              </a:ext>
            </a:extLst>
          </p:cNvPr>
          <p:cNvSpPr>
            <a:spLocks noGrp="1" noChangeArrowheads="1"/>
          </p:cNvSpPr>
          <p:nvPr>
            <p:ph type="body" idx="1"/>
          </p:nvPr>
        </p:nvSpPr>
        <p:spPr>
          <a:xfrm>
            <a:off x="746125" y="4602163"/>
            <a:ext cx="7772400" cy="1190625"/>
          </a:xfrm>
        </p:spPr>
        <p:txBody>
          <a:bodyPr/>
          <a:lstStyle/>
          <a:p>
            <a:r>
              <a:rPr lang="en-US" altLang="en-US" dirty="0">
                <a:ea typeface="ＭＳ Ｐゴシック" panose="020B0600070205080204" pitchFamily="34" charset="-128"/>
                <a:cs typeface="ＭＳ Ｐゴシック" panose="020B0600070205080204" pitchFamily="34" charset="-128"/>
              </a:rPr>
              <a:t>buffering when arrival rate via switch exceeds output line speed</a:t>
            </a:r>
          </a:p>
          <a:p>
            <a:r>
              <a:rPr lang="en-US" altLang="en-US" i="1" dirty="0">
                <a:solidFill>
                  <a:srgbClr val="CC0000"/>
                </a:solidFill>
                <a:ea typeface="ＭＳ Ｐゴシック" panose="020B0600070205080204" pitchFamily="34" charset="-128"/>
                <a:cs typeface="ＭＳ Ｐゴシック" panose="020B0600070205080204" pitchFamily="34" charset="-128"/>
              </a:rPr>
              <a:t>queueing (delay) and loss due to output port buffer overflow!</a:t>
            </a:r>
            <a:endParaRPr lang="en-US" altLang="en-US" dirty="0">
              <a:solidFill>
                <a:srgbClr val="CC0000"/>
              </a:solidFill>
              <a:ea typeface="ＭＳ Ｐゴシック" panose="020B0600070205080204" pitchFamily="34" charset="-128"/>
              <a:cs typeface="ＭＳ Ｐゴシック" panose="020B0600070205080204" pitchFamily="34" charset="-128"/>
            </a:endParaRPr>
          </a:p>
        </p:txBody>
      </p:sp>
      <p:grpSp>
        <p:nvGrpSpPr>
          <p:cNvPr id="62469" name="Group 78">
            <a:extLst>
              <a:ext uri="{FF2B5EF4-FFF2-40B4-BE49-F238E27FC236}">
                <a16:creationId xmlns:a16="http://schemas.microsoft.com/office/drawing/2014/main" id="{099BC74B-F9CF-2C41-A28E-D7989CA7E27B}"/>
              </a:ext>
            </a:extLst>
          </p:cNvPr>
          <p:cNvGrpSpPr>
            <a:grpSpLocks/>
          </p:cNvGrpSpPr>
          <p:nvPr/>
        </p:nvGrpSpPr>
        <p:grpSpPr bwMode="auto">
          <a:xfrm>
            <a:off x="884238" y="1477963"/>
            <a:ext cx="7412037" cy="2870200"/>
            <a:chOff x="550" y="931"/>
            <a:chExt cx="4669" cy="1808"/>
          </a:xfrm>
        </p:grpSpPr>
        <p:grpSp>
          <p:nvGrpSpPr>
            <p:cNvPr id="62472" name="Group 29">
              <a:extLst>
                <a:ext uri="{FF2B5EF4-FFF2-40B4-BE49-F238E27FC236}">
                  <a16:creationId xmlns:a16="http://schemas.microsoft.com/office/drawing/2014/main" id="{07DD1082-E795-9E40-98E4-F4E0AD284F85}"/>
                </a:ext>
              </a:extLst>
            </p:cNvPr>
            <p:cNvGrpSpPr>
              <a:grpSpLocks/>
            </p:cNvGrpSpPr>
            <p:nvPr/>
          </p:nvGrpSpPr>
          <p:grpSpPr bwMode="auto">
            <a:xfrm>
              <a:off x="699" y="948"/>
              <a:ext cx="2099" cy="1356"/>
              <a:chOff x="523" y="976"/>
              <a:chExt cx="2099" cy="1356"/>
            </a:xfrm>
          </p:grpSpPr>
          <p:sp>
            <p:nvSpPr>
              <p:cNvPr id="62518" name="Rectangle 6">
                <a:extLst>
                  <a:ext uri="{FF2B5EF4-FFF2-40B4-BE49-F238E27FC236}">
                    <a16:creationId xmlns:a16="http://schemas.microsoft.com/office/drawing/2014/main" id="{6714B9FE-0353-2842-893F-D8408674EE7A}"/>
                  </a:ext>
                </a:extLst>
              </p:cNvPr>
              <p:cNvSpPr>
                <a:spLocks noChangeArrowheads="1"/>
              </p:cNvSpPr>
              <p:nvPr/>
            </p:nvSpPr>
            <p:spPr bwMode="auto">
              <a:xfrm>
                <a:off x="1208" y="976"/>
                <a:ext cx="745" cy="13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62519" name="Group 10">
                <a:extLst>
                  <a:ext uri="{FF2B5EF4-FFF2-40B4-BE49-F238E27FC236}">
                    <a16:creationId xmlns:a16="http://schemas.microsoft.com/office/drawing/2014/main" id="{0DBE1F9A-A0C1-F54E-991D-4F43587A4481}"/>
                  </a:ext>
                </a:extLst>
              </p:cNvPr>
              <p:cNvGrpSpPr>
                <a:grpSpLocks/>
              </p:cNvGrpSpPr>
              <p:nvPr/>
            </p:nvGrpSpPr>
            <p:grpSpPr bwMode="auto">
              <a:xfrm>
                <a:off x="804" y="997"/>
                <a:ext cx="249" cy="1295"/>
                <a:chOff x="748" y="997"/>
                <a:chExt cx="249" cy="1295"/>
              </a:xfrm>
            </p:grpSpPr>
            <p:sp>
              <p:nvSpPr>
                <p:cNvPr id="62538" name="Rectangle 7">
                  <a:extLst>
                    <a:ext uri="{FF2B5EF4-FFF2-40B4-BE49-F238E27FC236}">
                      <a16:creationId xmlns:a16="http://schemas.microsoft.com/office/drawing/2014/main" id="{B0887F6E-4E60-934A-9F1D-E6BDAA0CBCB9}"/>
                    </a:ext>
                  </a:extLst>
                </p:cNvPr>
                <p:cNvSpPr>
                  <a:spLocks noChangeArrowheads="1"/>
                </p:cNvSpPr>
                <p:nvPr/>
              </p:nvSpPr>
              <p:spPr bwMode="auto">
                <a:xfrm>
                  <a:off x="759" y="997"/>
                  <a:ext cx="238"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539" name="Rectangle 8">
                  <a:extLst>
                    <a:ext uri="{FF2B5EF4-FFF2-40B4-BE49-F238E27FC236}">
                      <a16:creationId xmlns:a16="http://schemas.microsoft.com/office/drawing/2014/main" id="{49F0AE81-904C-064A-902E-23C38F7FFF8A}"/>
                    </a:ext>
                  </a:extLst>
                </p:cNvPr>
                <p:cNvSpPr>
                  <a:spLocks noChangeArrowheads="1"/>
                </p:cNvSpPr>
                <p:nvPr/>
              </p:nvSpPr>
              <p:spPr bwMode="auto">
                <a:xfrm>
                  <a:off x="750" y="1472"/>
                  <a:ext cx="238"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540" name="Rectangle 9">
                  <a:extLst>
                    <a:ext uri="{FF2B5EF4-FFF2-40B4-BE49-F238E27FC236}">
                      <a16:creationId xmlns:a16="http://schemas.microsoft.com/office/drawing/2014/main" id="{2DB1396A-9464-A64C-A6A1-6EA1D3437420}"/>
                    </a:ext>
                  </a:extLst>
                </p:cNvPr>
                <p:cNvSpPr>
                  <a:spLocks noChangeArrowheads="1"/>
                </p:cNvSpPr>
                <p:nvPr/>
              </p:nvSpPr>
              <p:spPr bwMode="auto">
                <a:xfrm>
                  <a:off x="748" y="1940"/>
                  <a:ext cx="238"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62520" name="Group 11">
                <a:extLst>
                  <a:ext uri="{FF2B5EF4-FFF2-40B4-BE49-F238E27FC236}">
                    <a16:creationId xmlns:a16="http://schemas.microsoft.com/office/drawing/2014/main" id="{742093AC-FF0B-DD4D-8540-DD4C0EF52DA7}"/>
                  </a:ext>
                </a:extLst>
              </p:cNvPr>
              <p:cNvGrpSpPr>
                <a:grpSpLocks/>
              </p:cNvGrpSpPr>
              <p:nvPr/>
            </p:nvGrpSpPr>
            <p:grpSpPr bwMode="auto">
              <a:xfrm>
                <a:off x="2109" y="1002"/>
                <a:ext cx="249" cy="1295"/>
                <a:chOff x="748" y="997"/>
                <a:chExt cx="249" cy="1295"/>
              </a:xfrm>
            </p:grpSpPr>
            <p:sp>
              <p:nvSpPr>
                <p:cNvPr id="62535" name="Rectangle 12">
                  <a:extLst>
                    <a:ext uri="{FF2B5EF4-FFF2-40B4-BE49-F238E27FC236}">
                      <a16:creationId xmlns:a16="http://schemas.microsoft.com/office/drawing/2014/main" id="{2E3A5AE7-1536-6940-A4B4-E7DBA67857D6}"/>
                    </a:ext>
                  </a:extLst>
                </p:cNvPr>
                <p:cNvSpPr>
                  <a:spLocks noChangeArrowheads="1"/>
                </p:cNvSpPr>
                <p:nvPr/>
              </p:nvSpPr>
              <p:spPr bwMode="auto">
                <a:xfrm>
                  <a:off x="759" y="997"/>
                  <a:ext cx="238" cy="352"/>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536" name="Rectangle 13">
                  <a:extLst>
                    <a:ext uri="{FF2B5EF4-FFF2-40B4-BE49-F238E27FC236}">
                      <a16:creationId xmlns:a16="http://schemas.microsoft.com/office/drawing/2014/main" id="{8281A694-0A1B-1945-AADF-BB75F94BAB0D}"/>
                    </a:ext>
                  </a:extLst>
                </p:cNvPr>
                <p:cNvSpPr>
                  <a:spLocks noChangeArrowheads="1"/>
                </p:cNvSpPr>
                <p:nvPr/>
              </p:nvSpPr>
              <p:spPr bwMode="auto">
                <a:xfrm>
                  <a:off x="750" y="1472"/>
                  <a:ext cx="238" cy="352"/>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537" name="Rectangle 14">
                  <a:extLst>
                    <a:ext uri="{FF2B5EF4-FFF2-40B4-BE49-F238E27FC236}">
                      <a16:creationId xmlns:a16="http://schemas.microsoft.com/office/drawing/2014/main" id="{190E68E6-793E-604B-BD1D-83FA8B52D56C}"/>
                    </a:ext>
                  </a:extLst>
                </p:cNvPr>
                <p:cNvSpPr>
                  <a:spLocks noChangeArrowheads="1"/>
                </p:cNvSpPr>
                <p:nvPr/>
              </p:nvSpPr>
              <p:spPr bwMode="auto">
                <a:xfrm>
                  <a:off x="748" y="1940"/>
                  <a:ext cx="238" cy="352"/>
                </a:xfrm>
                <a:prstGeom prst="rect">
                  <a:avLst/>
                </a:prstGeom>
                <a:solidFill>
                  <a:schemeClr val="bg1"/>
                </a:solidFill>
                <a:ln w="19050">
                  <a:solidFill>
                    <a:srgbClr val="008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62521" name="Line 15">
                <a:extLst>
                  <a:ext uri="{FF2B5EF4-FFF2-40B4-BE49-F238E27FC236}">
                    <a16:creationId xmlns:a16="http://schemas.microsoft.com/office/drawing/2014/main" id="{9E7B086C-BFA6-FA43-A259-9D4F233C5377}"/>
                  </a:ext>
                </a:extLst>
              </p:cNvPr>
              <p:cNvSpPr>
                <a:spLocks noChangeShapeType="1"/>
              </p:cNvSpPr>
              <p:nvPr/>
            </p:nvSpPr>
            <p:spPr bwMode="auto">
              <a:xfrm>
                <a:off x="1946" y="1180"/>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22" name="Line 16">
                <a:extLst>
                  <a:ext uri="{FF2B5EF4-FFF2-40B4-BE49-F238E27FC236}">
                    <a16:creationId xmlns:a16="http://schemas.microsoft.com/office/drawing/2014/main" id="{F826608E-9E5E-C74D-A60B-DA1110903AE6}"/>
                  </a:ext>
                </a:extLst>
              </p:cNvPr>
              <p:cNvSpPr>
                <a:spLocks noChangeShapeType="1"/>
              </p:cNvSpPr>
              <p:nvPr/>
            </p:nvSpPr>
            <p:spPr bwMode="auto">
              <a:xfrm>
                <a:off x="1940" y="1645"/>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23" name="Line 17">
                <a:extLst>
                  <a:ext uri="{FF2B5EF4-FFF2-40B4-BE49-F238E27FC236}">
                    <a16:creationId xmlns:a16="http://schemas.microsoft.com/office/drawing/2014/main" id="{6A336253-44BC-E940-950C-3C24FE5B9A8F}"/>
                  </a:ext>
                </a:extLst>
              </p:cNvPr>
              <p:cNvSpPr>
                <a:spLocks noChangeShapeType="1"/>
              </p:cNvSpPr>
              <p:nvPr/>
            </p:nvSpPr>
            <p:spPr bwMode="auto">
              <a:xfrm>
                <a:off x="1940" y="2119"/>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24" name="Line 18">
                <a:extLst>
                  <a:ext uri="{FF2B5EF4-FFF2-40B4-BE49-F238E27FC236}">
                    <a16:creationId xmlns:a16="http://schemas.microsoft.com/office/drawing/2014/main" id="{6B9AADFB-F0F2-0748-82A7-48C1CD603A51}"/>
                  </a:ext>
                </a:extLst>
              </p:cNvPr>
              <p:cNvSpPr>
                <a:spLocks noChangeShapeType="1"/>
              </p:cNvSpPr>
              <p:nvPr/>
            </p:nvSpPr>
            <p:spPr bwMode="auto">
              <a:xfrm>
                <a:off x="1044" y="1164"/>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25" name="Line 19">
                <a:extLst>
                  <a:ext uri="{FF2B5EF4-FFF2-40B4-BE49-F238E27FC236}">
                    <a16:creationId xmlns:a16="http://schemas.microsoft.com/office/drawing/2014/main" id="{3136E80F-EAE8-5F4F-A4D0-052CC483160A}"/>
                  </a:ext>
                </a:extLst>
              </p:cNvPr>
              <p:cNvSpPr>
                <a:spLocks noChangeShapeType="1"/>
              </p:cNvSpPr>
              <p:nvPr/>
            </p:nvSpPr>
            <p:spPr bwMode="auto">
              <a:xfrm>
                <a:off x="1038" y="1629"/>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26" name="Line 20">
                <a:extLst>
                  <a:ext uri="{FF2B5EF4-FFF2-40B4-BE49-F238E27FC236}">
                    <a16:creationId xmlns:a16="http://schemas.microsoft.com/office/drawing/2014/main" id="{FD5EEBDA-EDA2-6548-BB6E-35DE8E4D13C3}"/>
                  </a:ext>
                </a:extLst>
              </p:cNvPr>
              <p:cNvSpPr>
                <a:spLocks noChangeShapeType="1"/>
              </p:cNvSpPr>
              <p:nvPr/>
            </p:nvSpPr>
            <p:spPr bwMode="auto">
              <a:xfrm>
                <a:off x="1038" y="2103"/>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62527" name="Group 24">
                <a:extLst>
                  <a:ext uri="{FF2B5EF4-FFF2-40B4-BE49-F238E27FC236}">
                    <a16:creationId xmlns:a16="http://schemas.microsoft.com/office/drawing/2014/main" id="{ACEB22BB-A256-CA4A-B580-0CFA83034646}"/>
                  </a:ext>
                </a:extLst>
              </p:cNvPr>
              <p:cNvGrpSpPr>
                <a:grpSpLocks/>
              </p:cNvGrpSpPr>
              <p:nvPr/>
            </p:nvGrpSpPr>
            <p:grpSpPr bwMode="auto">
              <a:xfrm>
                <a:off x="523" y="1169"/>
                <a:ext cx="288" cy="939"/>
                <a:chOff x="-60" y="1148"/>
                <a:chExt cx="168" cy="939"/>
              </a:xfrm>
            </p:grpSpPr>
            <p:sp>
              <p:nvSpPr>
                <p:cNvPr id="62532" name="Line 21">
                  <a:extLst>
                    <a:ext uri="{FF2B5EF4-FFF2-40B4-BE49-F238E27FC236}">
                      <a16:creationId xmlns:a16="http://schemas.microsoft.com/office/drawing/2014/main" id="{A4030424-93D8-7047-BFD9-C0DAE4A8559F}"/>
                    </a:ext>
                  </a:extLst>
                </p:cNvPr>
                <p:cNvSpPr>
                  <a:spLocks noChangeShapeType="1"/>
                </p:cNvSpPr>
                <p:nvPr/>
              </p:nvSpPr>
              <p:spPr bwMode="auto">
                <a:xfrm>
                  <a:off x="-54" y="1148"/>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33" name="Line 22">
                  <a:extLst>
                    <a:ext uri="{FF2B5EF4-FFF2-40B4-BE49-F238E27FC236}">
                      <a16:creationId xmlns:a16="http://schemas.microsoft.com/office/drawing/2014/main" id="{737A1FBE-C9BD-8147-B5C6-74C5DDF736AE}"/>
                    </a:ext>
                  </a:extLst>
                </p:cNvPr>
                <p:cNvSpPr>
                  <a:spLocks noChangeShapeType="1"/>
                </p:cNvSpPr>
                <p:nvPr/>
              </p:nvSpPr>
              <p:spPr bwMode="auto">
                <a:xfrm>
                  <a:off x="-60" y="1613"/>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34" name="Line 23">
                  <a:extLst>
                    <a:ext uri="{FF2B5EF4-FFF2-40B4-BE49-F238E27FC236}">
                      <a16:creationId xmlns:a16="http://schemas.microsoft.com/office/drawing/2014/main" id="{6E95284A-0A0E-4F46-BC9B-68F76AA52BF8}"/>
                    </a:ext>
                  </a:extLst>
                </p:cNvPr>
                <p:cNvSpPr>
                  <a:spLocks noChangeShapeType="1"/>
                </p:cNvSpPr>
                <p:nvPr/>
              </p:nvSpPr>
              <p:spPr bwMode="auto">
                <a:xfrm>
                  <a:off x="-60" y="2087"/>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2528" name="Group 25">
                <a:extLst>
                  <a:ext uri="{FF2B5EF4-FFF2-40B4-BE49-F238E27FC236}">
                    <a16:creationId xmlns:a16="http://schemas.microsoft.com/office/drawing/2014/main" id="{1A1A157C-098D-8C42-9A1E-94BE59065871}"/>
                  </a:ext>
                </a:extLst>
              </p:cNvPr>
              <p:cNvGrpSpPr>
                <a:grpSpLocks/>
              </p:cNvGrpSpPr>
              <p:nvPr/>
            </p:nvGrpSpPr>
            <p:grpSpPr bwMode="auto">
              <a:xfrm>
                <a:off x="2334" y="1173"/>
                <a:ext cx="288" cy="939"/>
                <a:chOff x="-60" y="1148"/>
                <a:chExt cx="168" cy="939"/>
              </a:xfrm>
            </p:grpSpPr>
            <p:sp>
              <p:nvSpPr>
                <p:cNvPr id="62529" name="Line 26">
                  <a:extLst>
                    <a:ext uri="{FF2B5EF4-FFF2-40B4-BE49-F238E27FC236}">
                      <a16:creationId xmlns:a16="http://schemas.microsoft.com/office/drawing/2014/main" id="{5F25D4E1-3DB8-8540-9358-49EBD62F9458}"/>
                    </a:ext>
                  </a:extLst>
                </p:cNvPr>
                <p:cNvSpPr>
                  <a:spLocks noChangeShapeType="1"/>
                </p:cNvSpPr>
                <p:nvPr/>
              </p:nvSpPr>
              <p:spPr bwMode="auto">
                <a:xfrm>
                  <a:off x="-54" y="1148"/>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530" name="Line 27">
                  <a:extLst>
                    <a:ext uri="{FF2B5EF4-FFF2-40B4-BE49-F238E27FC236}">
                      <a16:creationId xmlns:a16="http://schemas.microsoft.com/office/drawing/2014/main" id="{3F356228-8F62-1049-9549-5BAFBB4F4FF7}"/>
                    </a:ext>
                  </a:extLst>
                </p:cNvPr>
                <p:cNvSpPr>
                  <a:spLocks noChangeShapeType="1"/>
                </p:cNvSpPr>
                <p:nvPr/>
              </p:nvSpPr>
              <p:spPr bwMode="auto">
                <a:xfrm>
                  <a:off x="-60" y="1613"/>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531" name="Line 28">
                  <a:extLst>
                    <a:ext uri="{FF2B5EF4-FFF2-40B4-BE49-F238E27FC236}">
                      <a16:creationId xmlns:a16="http://schemas.microsoft.com/office/drawing/2014/main" id="{53A831F9-63DA-824A-A14B-6C369C0AE417}"/>
                    </a:ext>
                  </a:extLst>
                </p:cNvPr>
                <p:cNvSpPr>
                  <a:spLocks noChangeShapeType="1"/>
                </p:cNvSpPr>
                <p:nvPr/>
              </p:nvSpPr>
              <p:spPr bwMode="auto">
                <a:xfrm>
                  <a:off x="-60" y="2087"/>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grpSp>
          <p:nvGrpSpPr>
            <p:cNvPr id="62473" name="Group 30">
              <a:extLst>
                <a:ext uri="{FF2B5EF4-FFF2-40B4-BE49-F238E27FC236}">
                  <a16:creationId xmlns:a16="http://schemas.microsoft.com/office/drawing/2014/main" id="{37C3AC93-08DB-434F-A336-DA4DE7DF0D71}"/>
                </a:ext>
              </a:extLst>
            </p:cNvPr>
            <p:cNvGrpSpPr>
              <a:grpSpLocks/>
            </p:cNvGrpSpPr>
            <p:nvPr/>
          </p:nvGrpSpPr>
          <p:grpSpPr bwMode="auto">
            <a:xfrm>
              <a:off x="3120" y="931"/>
              <a:ext cx="2099" cy="1356"/>
              <a:chOff x="523" y="976"/>
              <a:chExt cx="2099" cy="1356"/>
            </a:xfrm>
          </p:grpSpPr>
          <p:sp>
            <p:nvSpPr>
              <p:cNvPr id="62495" name="Rectangle 31">
                <a:extLst>
                  <a:ext uri="{FF2B5EF4-FFF2-40B4-BE49-F238E27FC236}">
                    <a16:creationId xmlns:a16="http://schemas.microsoft.com/office/drawing/2014/main" id="{B8A27061-CF44-6347-8DBE-DE4F54EFDC61}"/>
                  </a:ext>
                </a:extLst>
              </p:cNvPr>
              <p:cNvSpPr>
                <a:spLocks noChangeArrowheads="1"/>
              </p:cNvSpPr>
              <p:nvPr/>
            </p:nvSpPr>
            <p:spPr bwMode="auto">
              <a:xfrm>
                <a:off x="1208" y="976"/>
                <a:ext cx="745" cy="13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62496" name="Group 32">
                <a:extLst>
                  <a:ext uri="{FF2B5EF4-FFF2-40B4-BE49-F238E27FC236}">
                    <a16:creationId xmlns:a16="http://schemas.microsoft.com/office/drawing/2014/main" id="{BDC1D254-576C-FF44-BFF9-5CCD42EF5A62}"/>
                  </a:ext>
                </a:extLst>
              </p:cNvPr>
              <p:cNvGrpSpPr>
                <a:grpSpLocks/>
              </p:cNvGrpSpPr>
              <p:nvPr/>
            </p:nvGrpSpPr>
            <p:grpSpPr bwMode="auto">
              <a:xfrm>
                <a:off x="804" y="997"/>
                <a:ext cx="249" cy="1295"/>
                <a:chOff x="748" y="997"/>
                <a:chExt cx="249" cy="1295"/>
              </a:xfrm>
            </p:grpSpPr>
            <p:sp>
              <p:nvSpPr>
                <p:cNvPr id="62515" name="Rectangle 33">
                  <a:extLst>
                    <a:ext uri="{FF2B5EF4-FFF2-40B4-BE49-F238E27FC236}">
                      <a16:creationId xmlns:a16="http://schemas.microsoft.com/office/drawing/2014/main" id="{1E4421C6-5A8C-8044-A196-277FE2D2475D}"/>
                    </a:ext>
                  </a:extLst>
                </p:cNvPr>
                <p:cNvSpPr>
                  <a:spLocks noChangeArrowheads="1"/>
                </p:cNvSpPr>
                <p:nvPr/>
              </p:nvSpPr>
              <p:spPr bwMode="auto">
                <a:xfrm>
                  <a:off x="759" y="997"/>
                  <a:ext cx="238"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516" name="Rectangle 34">
                  <a:extLst>
                    <a:ext uri="{FF2B5EF4-FFF2-40B4-BE49-F238E27FC236}">
                      <a16:creationId xmlns:a16="http://schemas.microsoft.com/office/drawing/2014/main" id="{93FF2EFE-B938-434E-927D-5D049E572342}"/>
                    </a:ext>
                  </a:extLst>
                </p:cNvPr>
                <p:cNvSpPr>
                  <a:spLocks noChangeArrowheads="1"/>
                </p:cNvSpPr>
                <p:nvPr/>
              </p:nvSpPr>
              <p:spPr bwMode="auto">
                <a:xfrm>
                  <a:off x="750" y="1472"/>
                  <a:ext cx="238"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517" name="Rectangle 35">
                  <a:extLst>
                    <a:ext uri="{FF2B5EF4-FFF2-40B4-BE49-F238E27FC236}">
                      <a16:creationId xmlns:a16="http://schemas.microsoft.com/office/drawing/2014/main" id="{3723A2CD-D562-A745-9C2D-001804B58173}"/>
                    </a:ext>
                  </a:extLst>
                </p:cNvPr>
                <p:cNvSpPr>
                  <a:spLocks noChangeArrowheads="1"/>
                </p:cNvSpPr>
                <p:nvPr/>
              </p:nvSpPr>
              <p:spPr bwMode="auto">
                <a:xfrm>
                  <a:off x="748" y="1940"/>
                  <a:ext cx="238" cy="35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62497" name="Group 36">
                <a:extLst>
                  <a:ext uri="{FF2B5EF4-FFF2-40B4-BE49-F238E27FC236}">
                    <a16:creationId xmlns:a16="http://schemas.microsoft.com/office/drawing/2014/main" id="{6991C6C9-3DFE-2641-AD60-9C322AB3B0C7}"/>
                  </a:ext>
                </a:extLst>
              </p:cNvPr>
              <p:cNvGrpSpPr>
                <a:grpSpLocks/>
              </p:cNvGrpSpPr>
              <p:nvPr/>
            </p:nvGrpSpPr>
            <p:grpSpPr bwMode="auto">
              <a:xfrm>
                <a:off x="2109" y="1002"/>
                <a:ext cx="249" cy="1295"/>
                <a:chOff x="748" y="997"/>
                <a:chExt cx="249" cy="1295"/>
              </a:xfrm>
            </p:grpSpPr>
            <p:sp>
              <p:nvSpPr>
                <p:cNvPr id="62512" name="Rectangle 37">
                  <a:extLst>
                    <a:ext uri="{FF2B5EF4-FFF2-40B4-BE49-F238E27FC236}">
                      <a16:creationId xmlns:a16="http://schemas.microsoft.com/office/drawing/2014/main" id="{323A16C1-BEB4-A441-AC86-BBD0D488A381}"/>
                    </a:ext>
                  </a:extLst>
                </p:cNvPr>
                <p:cNvSpPr>
                  <a:spLocks noChangeArrowheads="1"/>
                </p:cNvSpPr>
                <p:nvPr/>
              </p:nvSpPr>
              <p:spPr bwMode="auto">
                <a:xfrm>
                  <a:off x="759" y="997"/>
                  <a:ext cx="238" cy="352"/>
                </a:xfrm>
                <a:prstGeom prst="rect">
                  <a:avLst/>
                </a:prstGeom>
                <a:solidFill>
                  <a:schemeClr val="bg1"/>
                </a:solidFill>
                <a:ln w="19050">
                  <a:solidFill>
                    <a:srgbClr val="FF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513" name="Rectangle 38">
                  <a:extLst>
                    <a:ext uri="{FF2B5EF4-FFF2-40B4-BE49-F238E27FC236}">
                      <a16:creationId xmlns:a16="http://schemas.microsoft.com/office/drawing/2014/main" id="{10578769-CEF5-FA4F-A8D0-E0D33CB37B94}"/>
                    </a:ext>
                  </a:extLst>
                </p:cNvPr>
                <p:cNvSpPr>
                  <a:spLocks noChangeArrowheads="1"/>
                </p:cNvSpPr>
                <p:nvPr/>
              </p:nvSpPr>
              <p:spPr bwMode="auto">
                <a:xfrm>
                  <a:off x="750" y="1472"/>
                  <a:ext cx="238" cy="352"/>
                </a:xfrm>
                <a:prstGeom prst="rect">
                  <a:avLst/>
                </a:prstGeom>
                <a:solidFill>
                  <a:schemeClr val="bg1"/>
                </a:solidFill>
                <a:ln w="19050">
                  <a:solidFill>
                    <a:schemeClr val="accent2"/>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p>
              </p:txBody>
            </p:sp>
            <p:sp>
              <p:nvSpPr>
                <p:cNvPr id="62514" name="Rectangle 39">
                  <a:extLst>
                    <a:ext uri="{FF2B5EF4-FFF2-40B4-BE49-F238E27FC236}">
                      <a16:creationId xmlns:a16="http://schemas.microsoft.com/office/drawing/2014/main" id="{1A2BFD7F-D062-AE40-9999-78F1683C558F}"/>
                    </a:ext>
                  </a:extLst>
                </p:cNvPr>
                <p:cNvSpPr>
                  <a:spLocks noChangeArrowheads="1"/>
                </p:cNvSpPr>
                <p:nvPr/>
              </p:nvSpPr>
              <p:spPr bwMode="auto">
                <a:xfrm>
                  <a:off x="748" y="1940"/>
                  <a:ext cx="238" cy="352"/>
                </a:xfrm>
                <a:prstGeom prst="rect">
                  <a:avLst/>
                </a:prstGeom>
                <a:solidFill>
                  <a:schemeClr val="bg1"/>
                </a:solidFill>
                <a:ln w="19050">
                  <a:solidFill>
                    <a:srgbClr val="008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62498" name="Line 40">
                <a:extLst>
                  <a:ext uri="{FF2B5EF4-FFF2-40B4-BE49-F238E27FC236}">
                    <a16:creationId xmlns:a16="http://schemas.microsoft.com/office/drawing/2014/main" id="{0FC2E427-A762-FF47-A4AD-79B8E01B0D77}"/>
                  </a:ext>
                </a:extLst>
              </p:cNvPr>
              <p:cNvSpPr>
                <a:spLocks noChangeShapeType="1"/>
              </p:cNvSpPr>
              <p:nvPr/>
            </p:nvSpPr>
            <p:spPr bwMode="auto">
              <a:xfrm>
                <a:off x="1946" y="1180"/>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499" name="Line 41">
                <a:extLst>
                  <a:ext uri="{FF2B5EF4-FFF2-40B4-BE49-F238E27FC236}">
                    <a16:creationId xmlns:a16="http://schemas.microsoft.com/office/drawing/2014/main" id="{FB0CFE74-D1A4-5A42-9680-EF9A219497BF}"/>
                  </a:ext>
                </a:extLst>
              </p:cNvPr>
              <p:cNvSpPr>
                <a:spLocks noChangeShapeType="1"/>
              </p:cNvSpPr>
              <p:nvPr/>
            </p:nvSpPr>
            <p:spPr bwMode="auto">
              <a:xfrm>
                <a:off x="1940" y="1645"/>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00" name="Line 42">
                <a:extLst>
                  <a:ext uri="{FF2B5EF4-FFF2-40B4-BE49-F238E27FC236}">
                    <a16:creationId xmlns:a16="http://schemas.microsoft.com/office/drawing/2014/main" id="{C16B9D91-7A3E-BE43-AAF2-FD019EF83146}"/>
                  </a:ext>
                </a:extLst>
              </p:cNvPr>
              <p:cNvSpPr>
                <a:spLocks noChangeShapeType="1"/>
              </p:cNvSpPr>
              <p:nvPr/>
            </p:nvSpPr>
            <p:spPr bwMode="auto">
              <a:xfrm>
                <a:off x="1940" y="2119"/>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01" name="Line 43">
                <a:extLst>
                  <a:ext uri="{FF2B5EF4-FFF2-40B4-BE49-F238E27FC236}">
                    <a16:creationId xmlns:a16="http://schemas.microsoft.com/office/drawing/2014/main" id="{26CDF095-99EF-DC48-A1B2-DB4DFCA6EA09}"/>
                  </a:ext>
                </a:extLst>
              </p:cNvPr>
              <p:cNvSpPr>
                <a:spLocks noChangeShapeType="1"/>
              </p:cNvSpPr>
              <p:nvPr/>
            </p:nvSpPr>
            <p:spPr bwMode="auto">
              <a:xfrm>
                <a:off x="1044" y="1164"/>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02" name="Line 44">
                <a:extLst>
                  <a:ext uri="{FF2B5EF4-FFF2-40B4-BE49-F238E27FC236}">
                    <a16:creationId xmlns:a16="http://schemas.microsoft.com/office/drawing/2014/main" id="{5167269B-35A5-024A-9DFD-E55C710E150C}"/>
                  </a:ext>
                </a:extLst>
              </p:cNvPr>
              <p:cNvSpPr>
                <a:spLocks noChangeShapeType="1"/>
              </p:cNvSpPr>
              <p:nvPr/>
            </p:nvSpPr>
            <p:spPr bwMode="auto">
              <a:xfrm>
                <a:off x="1038" y="1629"/>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03" name="Line 45">
                <a:extLst>
                  <a:ext uri="{FF2B5EF4-FFF2-40B4-BE49-F238E27FC236}">
                    <a16:creationId xmlns:a16="http://schemas.microsoft.com/office/drawing/2014/main" id="{FCE737DB-ADBF-2040-9FCA-A76D42DCFD17}"/>
                  </a:ext>
                </a:extLst>
              </p:cNvPr>
              <p:cNvSpPr>
                <a:spLocks noChangeShapeType="1"/>
              </p:cNvSpPr>
              <p:nvPr/>
            </p:nvSpPr>
            <p:spPr bwMode="auto">
              <a:xfrm>
                <a:off x="1038" y="2103"/>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62504" name="Group 46">
                <a:extLst>
                  <a:ext uri="{FF2B5EF4-FFF2-40B4-BE49-F238E27FC236}">
                    <a16:creationId xmlns:a16="http://schemas.microsoft.com/office/drawing/2014/main" id="{A03EF551-10D3-7143-BDA6-0124EA727814}"/>
                  </a:ext>
                </a:extLst>
              </p:cNvPr>
              <p:cNvGrpSpPr>
                <a:grpSpLocks/>
              </p:cNvGrpSpPr>
              <p:nvPr/>
            </p:nvGrpSpPr>
            <p:grpSpPr bwMode="auto">
              <a:xfrm>
                <a:off x="523" y="1169"/>
                <a:ext cx="288" cy="939"/>
                <a:chOff x="-60" y="1148"/>
                <a:chExt cx="168" cy="939"/>
              </a:xfrm>
            </p:grpSpPr>
            <p:sp>
              <p:nvSpPr>
                <p:cNvPr id="62509" name="Line 47">
                  <a:extLst>
                    <a:ext uri="{FF2B5EF4-FFF2-40B4-BE49-F238E27FC236}">
                      <a16:creationId xmlns:a16="http://schemas.microsoft.com/office/drawing/2014/main" id="{20638131-EE30-8D47-873D-CED4F0FDCA5F}"/>
                    </a:ext>
                  </a:extLst>
                </p:cNvPr>
                <p:cNvSpPr>
                  <a:spLocks noChangeShapeType="1"/>
                </p:cNvSpPr>
                <p:nvPr/>
              </p:nvSpPr>
              <p:spPr bwMode="auto">
                <a:xfrm>
                  <a:off x="-54" y="1148"/>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10" name="Line 48">
                  <a:extLst>
                    <a:ext uri="{FF2B5EF4-FFF2-40B4-BE49-F238E27FC236}">
                      <a16:creationId xmlns:a16="http://schemas.microsoft.com/office/drawing/2014/main" id="{B713DD69-CE0F-2D4C-AB43-1CF2C7733375}"/>
                    </a:ext>
                  </a:extLst>
                </p:cNvPr>
                <p:cNvSpPr>
                  <a:spLocks noChangeShapeType="1"/>
                </p:cNvSpPr>
                <p:nvPr/>
              </p:nvSpPr>
              <p:spPr bwMode="auto">
                <a:xfrm>
                  <a:off x="-60" y="1613"/>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2511" name="Line 49">
                  <a:extLst>
                    <a:ext uri="{FF2B5EF4-FFF2-40B4-BE49-F238E27FC236}">
                      <a16:creationId xmlns:a16="http://schemas.microsoft.com/office/drawing/2014/main" id="{736E3114-D5F9-3347-B403-CDCB3DAE9994}"/>
                    </a:ext>
                  </a:extLst>
                </p:cNvPr>
                <p:cNvSpPr>
                  <a:spLocks noChangeShapeType="1"/>
                </p:cNvSpPr>
                <p:nvPr/>
              </p:nvSpPr>
              <p:spPr bwMode="auto">
                <a:xfrm>
                  <a:off x="-60" y="2087"/>
                  <a:ext cx="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62505" name="Group 50">
                <a:extLst>
                  <a:ext uri="{FF2B5EF4-FFF2-40B4-BE49-F238E27FC236}">
                    <a16:creationId xmlns:a16="http://schemas.microsoft.com/office/drawing/2014/main" id="{371A6894-2234-264A-8783-0C33CAE01507}"/>
                  </a:ext>
                </a:extLst>
              </p:cNvPr>
              <p:cNvGrpSpPr>
                <a:grpSpLocks/>
              </p:cNvGrpSpPr>
              <p:nvPr/>
            </p:nvGrpSpPr>
            <p:grpSpPr bwMode="auto">
              <a:xfrm>
                <a:off x="2334" y="1173"/>
                <a:ext cx="288" cy="939"/>
                <a:chOff x="-60" y="1148"/>
                <a:chExt cx="168" cy="939"/>
              </a:xfrm>
            </p:grpSpPr>
            <p:sp>
              <p:nvSpPr>
                <p:cNvPr id="62506" name="Line 51">
                  <a:extLst>
                    <a:ext uri="{FF2B5EF4-FFF2-40B4-BE49-F238E27FC236}">
                      <a16:creationId xmlns:a16="http://schemas.microsoft.com/office/drawing/2014/main" id="{52E4DF15-240C-CD42-BF80-D27F385E41E0}"/>
                    </a:ext>
                  </a:extLst>
                </p:cNvPr>
                <p:cNvSpPr>
                  <a:spLocks noChangeShapeType="1"/>
                </p:cNvSpPr>
                <p:nvPr/>
              </p:nvSpPr>
              <p:spPr bwMode="auto">
                <a:xfrm>
                  <a:off x="-54" y="1148"/>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507" name="Line 52">
                  <a:extLst>
                    <a:ext uri="{FF2B5EF4-FFF2-40B4-BE49-F238E27FC236}">
                      <a16:creationId xmlns:a16="http://schemas.microsoft.com/office/drawing/2014/main" id="{022FEE0A-818B-8B4F-B3E4-3FC91B68F0E5}"/>
                    </a:ext>
                  </a:extLst>
                </p:cNvPr>
                <p:cNvSpPr>
                  <a:spLocks noChangeShapeType="1"/>
                </p:cNvSpPr>
                <p:nvPr/>
              </p:nvSpPr>
              <p:spPr bwMode="auto">
                <a:xfrm>
                  <a:off x="-60" y="1613"/>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508" name="Line 53">
                  <a:extLst>
                    <a:ext uri="{FF2B5EF4-FFF2-40B4-BE49-F238E27FC236}">
                      <a16:creationId xmlns:a16="http://schemas.microsoft.com/office/drawing/2014/main" id="{781B4954-AA35-7546-9717-573924AAFE40}"/>
                    </a:ext>
                  </a:extLst>
                </p:cNvPr>
                <p:cNvSpPr>
                  <a:spLocks noChangeShapeType="1"/>
                </p:cNvSpPr>
                <p:nvPr/>
              </p:nvSpPr>
              <p:spPr bwMode="auto">
                <a:xfrm>
                  <a:off x="-60" y="2087"/>
                  <a:ext cx="1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sp>
          <p:nvSpPr>
            <p:cNvPr id="62474" name="Rectangle 54">
              <a:extLst>
                <a:ext uri="{FF2B5EF4-FFF2-40B4-BE49-F238E27FC236}">
                  <a16:creationId xmlns:a16="http://schemas.microsoft.com/office/drawing/2014/main" id="{9E836171-402F-6540-870E-C3CBA81D3533}"/>
                </a:ext>
              </a:extLst>
            </p:cNvPr>
            <p:cNvSpPr>
              <a:spLocks noChangeArrowheads="1"/>
            </p:cNvSpPr>
            <p:nvPr/>
          </p:nvSpPr>
          <p:spPr bwMode="auto">
            <a:xfrm>
              <a:off x="1012" y="1012"/>
              <a:ext cx="175" cy="98"/>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75" name="Rectangle 55">
              <a:extLst>
                <a:ext uri="{FF2B5EF4-FFF2-40B4-BE49-F238E27FC236}">
                  <a16:creationId xmlns:a16="http://schemas.microsoft.com/office/drawing/2014/main" id="{47D5FC9A-B535-8A45-A142-7F48625A2BA4}"/>
                </a:ext>
              </a:extLst>
            </p:cNvPr>
            <p:cNvSpPr>
              <a:spLocks noChangeArrowheads="1"/>
            </p:cNvSpPr>
            <p:nvPr/>
          </p:nvSpPr>
          <p:spPr bwMode="auto">
            <a:xfrm>
              <a:off x="1003" y="1494"/>
              <a:ext cx="175" cy="98"/>
            </a:xfrm>
            <a:prstGeom prst="rect">
              <a:avLst/>
            </a:prstGeom>
            <a:solidFill>
              <a:srgbClr val="00009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76" name="Rectangle 56">
              <a:extLst>
                <a:ext uri="{FF2B5EF4-FFF2-40B4-BE49-F238E27FC236}">
                  <a16:creationId xmlns:a16="http://schemas.microsoft.com/office/drawing/2014/main" id="{100DF484-1ADB-6C43-B6DC-46A96A2D1C1B}"/>
                </a:ext>
              </a:extLst>
            </p:cNvPr>
            <p:cNvSpPr>
              <a:spLocks noChangeArrowheads="1"/>
            </p:cNvSpPr>
            <p:nvPr/>
          </p:nvSpPr>
          <p:spPr bwMode="auto">
            <a:xfrm>
              <a:off x="994" y="1969"/>
              <a:ext cx="175" cy="98"/>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77" name="Rectangle 57">
              <a:extLst>
                <a:ext uri="{FF2B5EF4-FFF2-40B4-BE49-F238E27FC236}">
                  <a16:creationId xmlns:a16="http://schemas.microsoft.com/office/drawing/2014/main" id="{EC6E19F7-2BB8-774E-A0AF-BA153D22880E}"/>
                </a:ext>
              </a:extLst>
            </p:cNvPr>
            <p:cNvSpPr>
              <a:spLocks noChangeArrowheads="1"/>
            </p:cNvSpPr>
            <p:nvPr/>
          </p:nvSpPr>
          <p:spPr bwMode="auto">
            <a:xfrm>
              <a:off x="764" y="1017"/>
              <a:ext cx="175" cy="9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78" name="Rectangle 58">
              <a:extLst>
                <a:ext uri="{FF2B5EF4-FFF2-40B4-BE49-F238E27FC236}">
                  <a16:creationId xmlns:a16="http://schemas.microsoft.com/office/drawing/2014/main" id="{06F98520-25D2-B244-B0B5-A7BC53EE7A88}"/>
                </a:ext>
              </a:extLst>
            </p:cNvPr>
            <p:cNvSpPr>
              <a:spLocks noChangeArrowheads="1"/>
            </p:cNvSpPr>
            <p:nvPr/>
          </p:nvSpPr>
          <p:spPr bwMode="auto">
            <a:xfrm>
              <a:off x="760" y="1953"/>
              <a:ext cx="175" cy="98"/>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79" name="Line 60">
              <a:extLst>
                <a:ext uri="{FF2B5EF4-FFF2-40B4-BE49-F238E27FC236}">
                  <a16:creationId xmlns:a16="http://schemas.microsoft.com/office/drawing/2014/main" id="{5B677E09-F528-B049-8400-2E66A8030E6F}"/>
                </a:ext>
              </a:extLst>
            </p:cNvPr>
            <p:cNvSpPr>
              <a:spLocks noChangeShapeType="1"/>
            </p:cNvSpPr>
            <p:nvPr/>
          </p:nvSpPr>
          <p:spPr bwMode="auto">
            <a:xfrm>
              <a:off x="1215" y="1054"/>
              <a:ext cx="1026" cy="1"/>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480" name="Freeform 62">
              <a:extLst>
                <a:ext uri="{FF2B5EF4-FFF2-40B4-BE49-F238E27FC236}">
                  <a16:creationId xmlns:a16="http://schemas.microsoft.com/office/drawing/2014/main" id="{36667A25-9E96-FA46-8691-09A64C1EBE2D}"/>
                </a:ext>
              </a:extLst>
            </p:cNvPr>
            <p:cNvSpPr>
              <a:spLocks/>
            </p:cNvSpPr>
            <p:nvPr/>
          </p:nvSpPr>
          <p:spPr bwMode="auto">
            <a:xfrm>
              <a:off x="1246" y="1285"/>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62481" name="Text Box 63">
              <a:extLst>
                <a:ext uri="{FF2B5EF4-FFF2-40B4-BE49-F238E27FC236}">
                  <a16:creationId xmlns:a16="http://schemas.microsoft.com/office/drawing/2014/main" id="{6A7C2FCA-1174-984B-A351-658D548DC4F8}"/>
                </a:ext>
              </a:extLst>
            </p:cNvPr>
            <p:cNvSpPr txBox="1">
              <a:spLocks noChangeArrowheads="1"/>
            </p:cNvSpPr>
            <p:nvPr/>
          </p:nvSpPr>
          <p:spPr bwMode="auto">
            <a:xfrm>
              <a:off x="933" y="2335"/>
              <a:ext cx="15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at </a:t>
              </a:r>
              <a:r>
                <a:rPr lang="en-US" altLang="en-US" i="1"/>
                <a:t>t,</a:t>
              </a:r>
              <a:r>
                <a:rPr lang="en-US" altLang="en-US"/>
                <a:t> packets more</a:t>
              </a:r>
            </a:p>
            <a:p>
              <a:pPr algn="ctr"/>
              <a:r>
                <a:rPr lang="en-US" altLang="en-US"/>
                <a:t>from input to output</a:t>
              </a:r>
              <a:endParaRPr lang="en-US" altLang="en-US" i="1"/>
            </a:p>
          </p:txBody>
        </p:sp>
        <p:sp>
          <p:nvSpPr>
            <p:cNvPr id="62482" name="Text Box 64">
              <a:extLst>
                <a:ext uri="{FF2B5EF4-FFF2-40B4-BE49-F238E27FC236}">
                  <a16:creationId xmlns:a16="http://schemas.microsoft.com/office/drawing/2014/main" id="{5F2A6394-CE63-8144-AC5D-AA692CE0EA38}"/>
                </a:ext>
              </a:extLst>
            </p:cNvPr>
            <p:cNvSpPr txBox="1">
              <a:spLocks noChangeArrowheads="1"/>
            </p:cNvSpPr>
            <p:nvPr/>
          </p:nvSpPr>
          <p:spPr bwMode="auto">
            <a:xfrm>
              <a:off x="3354" y="2325"/>
              <a:ext cx="15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one packet time later</a:t>
              </a:r>
              <a:endParaRPr lang="en-US" altLang="en-US" i="1"/>
            </a:p>
          </p:txBody>
        </p:sp>
        <p:sp>
          <p:nvSpPr>
            <p:cNvPr id="62483" name="Text Box 66">
              <a:extLst>
                <a:ext uri="{FF2B5EF4-FFF2-40B4-BE49-F238E27FC236}">
                  <a16:creationId xmlns:a16="http://schemas.microsoft.com/office/drawing/2014/main" id="{354F8274-4237-F840-9B97-8E569ACBDD66}"/>
                </a:ext>
              </a:extLst>
            </p:cNvPr>
            <p:cNvSpPr txBox="1">
              <a:spLocks noChangeArrowheads="1"/>
            </p:cNvSpPr>
            <p:nvPr/>
          </p:nvSpPr>
          <p:spPr bwMode="auto">
            <a:xfrm>
              <a:off x="1488" y="1545"/>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switch</a:t>
              </a:r>
            </a:p>
            <a:p>
              <a:r>
                <a:rPr lang="en-US" altLang="en-US" sz="1600"/>
                <a:t>fabric</a:t>
              </a:r>
            </a:p>
          </p:txBody>
        </p:sp>
        <p:sp>
          <p:nvSpPr>
            <p:cNvPr id="62484" name="Text Box 67">
              <a:extLst>
                <a:ext uri="{FF2B5EF4-FFF2-40B4-BE49-F238E27FC236}">
                  <a16:creationId xmlns:a16="http://schemas.microsoft.com/office/drawing/2014/main" id="{2E6B2243-F5C6-9343-AE97-A93871E3B4D8}"/>
                </a:ext>
              </a:extLst>
            </p:cNvPr>
            <p:cNvSpPr txBox="1">
              <a:spLocks noChangeArrowheads="1"/>
            </p:cNvSpPr>
            <p:nvPr/>
          </p:nvSpPr>
          <p:spPr bwMode="auto">
            <a:xfrm>
              <a:off x="3895" y="1479"/>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switch</a:t>
              </a:r>
            </a:p>
            <a:p>
              <a:r>
                <a:rPr lang="en-US" altLang="en-US" sz="1600"/>
                <a:t>fabric</a:t>
              </a:r>
            </a:p>
          </p:txBody>
        </p:sp>
        <p:sp>
          <p:nvSpPr>
            <p:cNvPr id="62485" name="Rectangle 68">
              <a:extLst>
                <a:ext uri="{FF2B5EF4-FFF2-40B4-BE49-F238E27FC236}">
                  <a16:creationId xmlns:a16="http://schemas.microsoft.com/office/drawing/2014/main" id="{9EEB4D2E-4249-264D-8D8C-07B3063A03DD}"/>
                </a:ext>
              </a:extLst>
            </p:cNvPr>
            <p:cNvSpPr>
              <a:spLocks noChangeArrowheads="1"/>
            </p:cNvSpPr>
            <p:nvPr/>
          </p:nvSpPr>
          <p:spPr bwMode="auto">
            <a:xfrm>
              <a:off x="4746" y="972"/>
              <a:ext cx="175" cy="98"/>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86" name="Rectangle 69">
              <a:extLst>
                <a:ext uri="{FF2B5EF4-FFF2-40B4-BE49-F238E27FC236}">
                  <a16:creationId xmlns:a16="http://schemas.microsoft.com/office/drawing/2014/main" id="{2E03138E-D6A2-8F41-A799-6567BB863AE2}"/>
                </a:ext>
              </a:extLst>
            </p:cNvPr>
            <p:cNvSpPr>
              <a:spLocks noChangeArrowheads="1"/>
            </p:cNvSpPr>
            <p:nvPr/>
          </p:nvSpPr>
          <p:spPr bwMode="auto">
            <a:xfrm>
              <a:off x="4746" y="1497"/>
              <a:ext cx="175" cy="98"/>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87" name="Rectangle 70">
              <a:extLst>
                <a:ext uri="{FF2B5EF4-FFF2-40B4-BE49-F238E27FC236}">
                  <a16:creationId xmlns:a16="http://schemas.microsoft.com/office/drawing/2014/main" id="{1148552F-A3B6-0943-8234-9CC7C6278AD1}"/>
                </a:ext>
              </a:extLst>
            </p:cNvPr>
            <p:cNvSpPr>
              <a:spLocks noChangeArrowheads="1"/>
            </p:cNvSpPr>
            <p:nvPr/>
          </p:nvSpPr>
          <p:spPr bwMode="auto">
            <a:xfrm>
              <a:off x="4743" y="1099"/>
              <a:ext cx="175" cy="98"/>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88" name="Rectangle 71">
              <a:extLst>
                <a:ext uri="{FF2B5EF4-FFF2-40B4-BE49-F238E27FC236}">
                  <a16:creationId xmlns:a16="http://schemas.microsoft.com/office/drawing/2014/main" id="{ECE24400-A501-AA4A-9512-58D9FFBEBDD9}"/>
                </a:ext>
              </a:extLst>
            </p:cNvPr>
            <p:cNvSpPr>
              <a:spLocks noChangeArrowheads="1"/>
            </p:cNvSpPr>
            <p:nvPr/>
          </p:nvSpPr>
          <p:spPr bwMode="auto">
            <a:xfrm>
              <a:off x="3445" y="1001"/>
              <a:ext cx="175" cy="9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89" name="Rectangle 72">
              <a:extLst>
                <a:ext uri="{FF2B5EF4-FFF2-40B4-BE49-F238E27FC236}">
                  <a16:creationId xmlns:a16="http://schemas.microsoft.com/office/drawing/2014/main" id="{BA9B2364-7D3D-5A40-AAAF-1E303DE54D67}"/>
                </a:ext>
              </a:extLst>
            </p:cNvPr>
            <p:cNvSpPr>
              <a:spLocks noChangeArrowheads="1"/>
            </p:cNvSpPr>
            <p:nvPr/>
          </p:nvSpPr>
          <p:spPr bwMode="auto">
            <a:xfrm>
              <a:off x="3434" y="1965"/>
              <a:ext cx="175" cy="98"/>
            </a:xfrm>
            <a:prstGeom prst="rect">
              <a:avLst/>
            </a:prstGeom>
            <a:solidFill>
              <a:srgbClr val="FF000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90" name="Freeform 73">
              <a:extLst>
                <a:ext uri="{FF2B5EF4-FFF2-40B4-BE49-F238E27FC236}">
                  <a16:creationId xmlns:a16="http://schemas.microsoft.com/office/drawing/2014/main" id="{7D1317C4-632D-0B43-AB22-87BE1D2F5F41}"/>
                </a:ext>
              </a:extLst>
            </p:cNvPr>
            <p:cNvSpPr>
              <a:spLocks/>
            </p:cNvSpPr>
            <p:nvPr/>
          </p:nvSpPr>
          <p:spPr bwMode="auto">
            <a:xfrm>
              <a:off x="3682" y="1261"/>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62491" name="Freeform 74">
              <a:extLst>
                <a:ext uri="{FF2B5EF4-FFF2-40B4-BE49-F238E27FC236}">
                  <a16:creationId xmlns:a16="http://schemas.microsoft.com/office/drawing/2014/main" id="{3E659993-2293-7C4C-9E21-DBE2C64639C2}"/>
                </a:ext>
              </a:extLst>
            </p:cNvPr>
            <p:cNvSpPr>
              <a:spLocks/>
            </p:cNvSpPr>
            <p:nvPr/>
          </p:nvSpPr>
          <p:spPr bwMode="auto">
            <a:xfrm>
              <a:off x="3669" y="1051"/>
              <a:ext cx="988" cy="951"/>
            </a:xfrm>
            <a:custGeom>
              <a:avLst/>
              <a:gdLst>
                <a:gd name="T0" fmla="*/ 0 w 1002"/>
                <a:gd name="T1" fmla="*/ 231034 h 480"/>
                <a:gd name="T2" fmla="*/ 411 w 1002"/>
                <a:gd name="T3" fmla="*/ 0 h 480"/>
                <a:gd name="T4" fmla="*/ 789 w 1002"/>
                <a:gd name="T5" fmla="*/ 53604132 h 480"/>
                <a:gd name="T6" fmla="*/ 0 60000 65536"/>
                <a:gd name="T7" fmla="*/ 0 60000 65536"/>
                <a:gd name="T8" fmla="*/ 0 60000 65536"/>
                <a:gd name="T9" fmla="*/ 0 w 1002"/>
                <a:gd name="T10" fmla="*/ 0 h 480"/>
                <a:gd name="T11" fmla="*/ 1002 w 1002"/>
                <a:gd name="T12" fmla="*/ 480 h 480"/>
              </a:gdLst>
              <a:ahLst/>
              <a:cxnLst>
                <a:cxn ang="T6">
                  <a:pos x="T0" y="T1"/>
                </a:cxn>
                <a:cxn ang="T7">
                  <a:pos x="T2" y="T3"/>
                </a:cxn>
                <a:cxn ang="T8">
                  <a:pos x="T4" y="T5"/>
                </a:cxn>
              </a:cxnLst>
              <a:rect l="T9" t="T10" r="T11" b="T12"/>
              <a:pathLst>
                <a:path w="1002" h="480">
                  <a:moveTo>
                    <a:pt x="0" y="2"/>
                  </a:moveTo>
                  <a:lnTo>
                    <a:pt x="522" y="0"/>
                  </a:lnTo>
                  <a:lnTo>
                    <a:pt x="1002" y="480"/>
                  </a:lnTo>
                </a:path>
              </a:pathLst>
            </a:custGeom>
            <a:noFill/>
            <a:ln w="28575" cap="flat" cmpd="sng">
              <a:solidFill>
                <a:srgbClr val="008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62492" name="Line 75">
              <a:extLst>
                <a:ext uri="{FF2B5EF4-FFF2-40B4-BE49-F238E27FC236}">
                  <a16:creationId xmlns:a16="http://schemas.microsoft.com/office/drawing/2014/main" id="{07657E5F-C250-E647-84A4-F58B6AE1F485}"/>
                </a:ext>
              </a:extLst>
            </p:cNvPr>
            <p:cNvSpPr>
              <a:spLocks noChangeShapeType="1"/>
            </p:cNvSpPr>
            <p:nvPr/>
          </p:nvSpPr>
          <p:spPr bwMode="auto">
            <a:xfrm>
              <a:off x="1208" y="1545"/>
              <a:ext cx="1012" cy="14"/>
            </a:xfrm>
            <a:prstGeom prst="line">
              <a:avLst/>
            </a:prstGeom>
            <a:noFill/>
            <a:ln w="28575">
              <a:solidFill>
                <a:schemeClr val="accent2"/>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493" name="Rectangle 76">
              <a:extLst>
                <a:ext uri="{FF2B5EF4-FFF2-40B4-BE49-F238E27FC236}">
                  <a16:creationId xmlns:a16="http://schemas.microsoft.com/office/drawing/2014/main" id="{D3059148-E1D7-0544-8D42-695D982C60AF}"/>
                </a:ext>
              </a:extLst>
            </p:cNvPr>
            <p:cNvSpPr>
              <a:spLocks noChangeArrowheads="1"/>
            </p:cNvSpPr>
            <p:nvPr/>
          </p:nvSpPr>
          <p:spPr bwMode="auto">
            <a:xfrm>
              <a:off x="550" y="1010"/>
              <a:ext cx="175" cy="98"/>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2494" name="Rectangle 77">
              <a:extLst>
                <a:ext uri="{FF2B5EF4-FFF2-40B4-BE49-F238E27FC236}">
                  <a16:creationId xmlns:a16="http://schemas.microsoft.com/office/drawing/2014/main" id="{F026C81E-0C79-6345-AD73-2A2C442049B5}"/>
                </a:ext>
              </a:extLst>
            </p:cNvPr>
            <p:cNvSpPr>
              <a:spLocks noChangeArrowheads="1"/>
            </p:cNvSpPr>
            <p:nvPr/>
          </p:nvSpPr>
          <p:spPr bwMode="auto">
            <a:xfrm>
              <a:off x="3194" y="997"/>
              <a:ext cx="175" cy="98"/>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62470" name="Slide Number Placeholder 5">
            <a:extLst>
              <a:ext uri="{FF2B5EF4-FFF2-40B4-BE49-F238E27FC236}">
                <a16:creationId xmlns:a16="http://schemas.microsoft.com/office/drawing/2014/main" id="{4C26163E-D286-6648-A4E9-9FF22D0838C7}"/>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2A1B4505-337D-2B4B-8130-3B9305FFE74D}" type="slidenum">
              <a:rPr lang="en-US" altLang="en-US">
                <a:latin typeface="Tahoma" panose="020B0604030504040204" pitchFamily="34" charset="0"/>
              </a:rPr>
              <a:pPr/>
              <a:t>39</a:t>
            </a:fld>
            <a:endParaRPr lang="en-US" altLang="en-US" dirty="0">
              <a:latin typeface="Tahoma" panose="020B0604030504040204" pitchFamily="34" charset="0"/>
            </a:endParaRPr>
          </a:p>
        </p:txBody>
      </p:sp>
      <p:sp>
        <p:nvSpPr>
          <p:cNvPr id="62471" name="Footer Placeholder 2">
            <a:extLst>
              <a:ext uri="{FF2B5EF4-FFF2-40B4-BE49-F238E27FC236}">
                <a16:creationId xmlns:a16="http://schemas.microsoft.com/office/drawing/2014/main" id="{15E1F5C1-38CC-BF4E-8C61-3BA2B560B74C}"/>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11" descr="underline_base">
            <a:extLst>
              <a:ext uri="{FF2B5EF4-FFF2-40B4-BE49-F238E27FC236}">
                <a16:creationId xmlns:a16="http://schemas.microsoft.com/office/drawing/2014/main" id="{DE8937E8-9BDD-C243-BEC7-D4F33DBD63E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852" y="779463"/>
            <a:ext cx="50276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Rectangle 2">
            <a:extLst>
              <a:ext uri="{FF2B5EF4-FFF2-40B4-BE49-F238E27FC236}">
                <a16:creationId xmlns:a16="http://schemas.microsoft.com/office/drawing/2014/main" id="{AD4047A3-C623-994C-977C-E6B6808CBD26}"/>
              </a:ext>
            </a:extLst>
          </p:cNvPr>
          <p:cNvSpPr>
            <a:spLocks noGrp="1" noChangeArrowheads="1"/>
          </p:cNvSpPr>
          <p:nvPr>
            <p:ph type="title"/>
          </p:nvPr>
        </p:nvSpPr>
        <p:spPr>
          <a:xfrm>
            <a:off x="501651" y="-65339"/>
            <a:ext cx="7772400" cy="1143000"/>
          </a:xfrm>
        </p:spPr>
        <p:txBody>
          <a:bodyPr/>
          <a:lstStyle/>
          <a:p>
            <a:pPr>
              <a:defRPr/>
            </a:pPr>
            <a:r>
              <a:rPr lang="en-US" dirty="0">
                <a:cs typeface="+mj-cs"/>
              </a:rPr>
              <a:t>How much buffering?</a:t>
            </a:r>
          </a:p>
        </p:txBody>
      </p:sp>
      <p:sp>
        <p:nvSpPr>
          <p:cNvPr id="63494" name="Slide Number Placeholder 5">
            <a:extLst>
              <a:ext uri="{FF2B5EF4-FFF2-40B4-BE49-F238E27FC236}">
                <a16:creationId xmlns:a16="http://schemas.microsoft.com/office/drawing/2014/main" id="{CEB9BA01-6139-E640-8D3F-50D5925DE191}"/>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F19F5014-777E-4341-A991-5CAC975415B3}" type="slidenum">
              <a:rPr lang="en-US" altLang="en-US">
                <a:latin typeface="Tahoma" panose="020B0604030504040204" pitchFamily="34" charset="0"/>
              </a:rPr>
              <a:pPr/>
              <a:t>40</a:t>
            </a:fld>
            <a:endParaRPr lang="en-US" altLang="en-US" dirty="0">
              <a:latin typeface="Tahoma" panose="020B0604030504040204" pitchFamily="34" charset="0"/>
            </a:endParaRPr>
          </a:p>
        </p:txBody>
      </p:sp>
      <p:sp>
        <p:nvSpPr>
          <p:cNvPr id="63495" name="Footer Placeholder 2">
            <a:extLst>
              <a:ext uri="{FF2B5EF4-FFF2-40B4-BE49-F238E27FC236}">
                <a16:creationId xmlns:a16="http://schemas.microsoft.com/office/drawing/2014/main" id="{8847DC21-5961-A444-BAAE-8EDCD280C816}"/>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dirty="0">
                <a:solidFill>
                  <a:srgbClr val="000000"/>
                </a:solidFill>
                <a:latin typeface="Tahoma" panose="020B0604030504040204" pitchFamily="34" charset="0"/>
                <a:cs typeface="Arial" panose="020B0604020202020204" pitchFamily="34" charset="0"/>
              </a:rPr>
              <a:t>Network Layer: Data Plane</a:t>
            </a:r>
          </a:p>
        </p:txBody>
      </p:sp>
      <p:sp>
        <p:nvSpPr>
          <p:cNvPr id="14" name="Rectangle 3"/>
          <p:cNvSpPr txBox="1">
            <a:spLocks noChangeArrowheads="1"/>
          </p:cNvSpPr>
          <p:nvPr/>
        </p:nvSpPr>
        <p:spPr bwMode="auto">
          <a:xfrm>
            <a:off x="609852" y="11049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r>
              <a:rPr lang="en-US" altLang="en-US" kern="0" dirty="0">
                <a:ea typeface="ＭＳ Ｐゴシック" pitchFamily="34" charset="-128"/>
              </a:rPr>
              <a:t>RFC 3439 rule of thumb: </a:t>
            </a:r>
          </a:p>
          <a:p>
            <a:pPr lvl="1"/>
            <a:r>
              <a:rPr lang="en-US" altLang="en-US" kern="0" dirty="0">
                <a:ea typeface="ＭＳ Ｐゴシック" pitchFamily="34" charset="-128"/>
              </a:rPr>
              <a:t>average buffering size = </a:t>
            </a:r>
            <a:r>
              <a:rPr lang="en-US" altLang="ja-JP" kern="0" dirty="0">
                <a:ea typeface="ＭＳ Ｐゴシック" pitchFamily="34" charset="-128"/>
              </a:rPr>
              <a:t>RTT * link capacity C</a:t>
            </a:r>
          </a:p>
          <a:p>
            <a:pPr lvl="1"/>
            <a:r>
              <a:rPr lang="en-US" altLang="en-US" kern="0" dirty="0">
                <a:ea typeface="ＭＳ Ｐゴシック" pitchFamily="34" charset="-128"/>
              </a:rPr>
              <a:t>e.g., </a:t>
            </a:r>
            <a:r>
              <a:rPr lang="en-US" altLang="ja-JP" kern="0" dirty="0">
                <a:ea typeface="ＭＳ Ｐゴシック" pitchFamily="34" charset="-128"/>
              </a:rPr>
              <a:t>RTT=250 </a:t>
            </a:r>
            <a:r>
              <a:rPr lang="en-US" altLang="ja-JP" kern="0" dirty="0" err="1">
                <a:ea typeface="ＭＳ Ｐゴシック" pitchFamily="34" charset="-128"/>
              </a:rPr>
              <a:t>msec</a:t>
            </a:r>
            <a:r>
              <a:rPr lang="en-US" altLang="ja-JP" kern="0" dirty="0">
                <a:ea typeface="ＭＳ Ｐゴシック" pitchFamily="34" charset="-128"/>
              </a:rPr>
              <a:t> (</a:t>
            </a:r>
            <a:r>
              <a:rPr lang="ja-JP" altLang="en-US" kern="0" dirty="0">
                <a:ea typeface="ＭＳ Ｐゴシック" pitchFamily="34" charset="-128"/>
              </a:rPr>
              <a:t>“</a:t>
            </a:r>
            <a:r>
              <a:rPr lang="en-US" altLang="ja-JP" kern="0" dirty="0">
                <a:ea typeface="ＭＳ Ｐゴシック" pitchFamily="34" charset="-128"/>
              </a:rPr>
              <a:t>typical</a:t>
            </a:r>
            <a:r>
              <a:rPr lang="ja-JP" altLang="en-US" kern="0" dirty="0">
                <a:ea typeface="ＭＳ Ｐゴシック" pitchFamily="34" charset="-128"/>
              </a:rPr>
              <a:t>”</a:t>
            </a:r>
            <a:r>
              <a:rPr lang="en-US" altLang="ja-JP" kern="0" dirty="0">
                <a:ea typeface="ＭＳ Ｐゴシック" pitchFamily="34" charset="-128"/>
              </a:rPr>
              <a:t>), </a:t>
            </a:r>
            <a:r>
              <a:rPr lang="en-US" altLang="en-US" kern="0" dirty="0">
                <a:ea typeface="ＭＳ Ｐゴシック" pitchFamily="34" charset="-128"/>
              </a:rPr>
              <a:t>C = 10 </a:t>
            </a:r>
            <a:r>
              <a:rPr lang="en-US" altLang="en-US" kern="0" dirty="0" err="1">
                <a:ea typeface="ＭＳ Ｐゴシック" pitchFamily="34" charset="-128"/>
              </a:rPr>
              <a:t>Gpbs</a:t>
            </a:r>
            <a:r>
              <a:rPr lang="en-US" altLang="en-US" kern="0" dirty="0">
                <a:ea typeface="ＭＳ Ｐゴシック" pitchFamily="34" charset="-128"/>
              </a:rPr>
              <a:t> link</a:t>
            </a:r>
          </a:p>
          <a:p>
            <a:pPr lvl="2"/>
            <a:r>
              <a:rPr lang="en-US" altLang="en-US" kern="0" dirty="0">
                <a:ea typeface="ＭＳ Ｐゴシック" pitchFamily="34" charset="-128"/>
              </a:rPr>
              <a:t>average buffering size =</a:t>
            </a:r>
            <a:r>
              <a:rPr lang="en-US" altLang="ja-JP" kern="0" dirty="0">
                <a:ea typeface="ＭＳ Ｐゴシック" pitchFamily="34" charset="-128"/>
              </a:rPr>
              <a:t>250 </a:t>
            </a:r>
            <a:r>
              <a:rPr lang="en-US" altLang="ja-JP" kern="0" dirty="0" err="1">
                <a:ea typeface="ＭＳ Ｐゴシック" pitchFamily="34" charset="-128"/>
              </a:rPr>
              <a:t>msec</a:t>
            </a:r>
            <a:r>
              <a:rPr lang="en-US" altLang="ja-JP" kern="0" dirty="0">
                <a:ea typeface="ＭＳ Ｐゴシック" pitchFamily="34" charset="-128"/>
              </a:rPr>
              <a:t> *</a:t>
            </a:r>
            <a:r>
              <a:rPr lang="en-US" altLang="en-US" kern="0" dirty="0">
                <a:ea typeface="ＭＳ Ｐゴシック" pitchFamily="34" charset="-128"/>
              </a:rPr>
              <a:t> 10 </a:t>
            </a:r>
            <a:r>
              <a:rPr lang="en-US" altLang="en-US" kern="0" dirty="0" err="1">
                <a:ea typeface="ＭＳ Ｐゴシック" pitchFamily="34" charset="-128"/>
              </a:rPr>
              <a:t>Gpbs</a:t>
            </a:r>
            <a:r>
              <a:rPr lang="en-US" altLang="en-US" kern="0" dirty="0">
                <a:ea typeface="ＭＳ Ｐゴシック" pitchFamily="34" charset="-128"/>
              </a:rPr>
              <a:t> </a:t>
            </a:r>
          </a:p>
          <a:p>
            <a:pPr lvl="7"/>
            <a:r>
              <a:rPr lang="en-US" altLang="en-US" kern="0" dirty="0">
                <a:ea typeface="ＭＳ Ｐゴシック" pitchFamily="34" charset="-128"/>
              </a:rPr>
              <a:t>= 2.5 </a:t>
            </a:r>
            <a:r>
              <a:rPr lang="en-US" altLang="en-US" kern="0" dirty="0" err="1">
                <a:ea typeface="ＭＳ Ｐゴシック" pitchFamily="34" charset="-128"/>
              </a:rPr>
              <a:t>Gbit</a:t>
            </a:r>
            <a:r>
              <a:rPr lang="en-US" altLang="en-US" kern="0" dirty="0">
                <a:ea typeface="ＭＳ Ｐゴシック" pitchFamily="34" charset="-128"/>
              </a:rPr>
              <a:t> buffer</a:t>
            </a:r>
          </a:p>
          <a:p>
            <a:pPr lvl="2">
              <a:buFontTx/>
              <a:buNone/>
            </a:pPr>
            <a:endParaRPr lang="en-US" altLang="en-US" kern="0" dirty="0">
              <a:ea typeface="ＭＳ Ｐゴシック" pitchFamily="34" charset="-128"/>
            </a:endParaRPr>
          </a:p>
          <a:p>
            <a:r>
              <a:rPr lang="en-US" altLang="en-US" kern="0" dirty="0">
                <a:ea typeface="ＭＳ Ｐゴシック" pitchFamily="34" charset="-128"/>
              </a:rPr>
              <a:t>More recent recommendation: with </a:t>
            </a:r>
            <a:r>
              <a:rPr lang="en-US" altLang="en-US" i="1" kern="0" dirty="0">
                <a:ea typeface="ＭＳ Ｐゴシック" pitchFamily="34" charset="-128"/>
              </a:rPr>
              <a:t>N</a:t>
            </a:r>
            <a:r>
              <a:rPr lang="en-US" altLang="en-US" kern="0" dirty="0">
                <a:ea typeface="ＭＳ Ｐゴシック" pitchFamily="34" charset="-128"/>
              </a:rPr>
              <a:t> flows, buffering equal to </a:t>
            </a:r>
          </a:p>
        </p:txBody>
      </p:sp>
      <p:grpSp>
        <p:nvGrpSpPr>
          <p:cNvPr id="16" name="Group 9"/>
          <p:cNvGrpSpPr>
            <a:grpSpLocks/>
          </p:cNvGrpSpPr>
          <p:nvPr/>
        </p:nvGrpSpPr>
        <p:grpSpPr bwMode="auto">
          <a:xfrm>
            <a:off x="3989387" y="3848769"/>
            <a:ext cx="1165225" cy="1109663"/>
            <a:chOff x="1923" y="2801"/>
            <a:chExt cx="734" cy="699"/>
          </a:xfrm>
        </p:grpSpPr>
        <p:sp>
          <p:nvSpPr>
            <p:cNvPr id="17" name="Text Box 4"/>
            <p:cNvSpPr txBox="1">
              <a:spLocks noChangeArrowheads="1"/>
            </p:cNvSpPr>
            <p:nvPr/>
          </p:nvSpPr>
          <p:spPr bwMode="auto">
            <a:xfrm>
              <a:off x="1923" y="2918"/>
              <a:ext cx="7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sz="2400" dirty="0"/>
                <a:t>RTT  C</a:t>
              </a:r>
            </a:p>
          </p:txBody>
        </p:sp>
        <p:sp>
          <p:nvSpPr>
            <p:cNvPr id="18" name="Text Box 5"/>
            <p:cNvSpPr txBox="1">
              <a:spLocks noChangeArrowheads="1"/>
            </p:cNvSpPr>
            <p:nvPr/>
          </p:nvSpPr>
          <p:spPr bwMode="auto">
            <a:xfrm>
              <a:off x="2309" y="2801"/>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sz="3200" dirty="0"/>
                <a:t>.</a:t>
              </a:r>
            </a:p>
          </p:txBody>
        </p:sp>
        <p:sp>
          <p:nvSpPr>
            <p:cNvPr id="19" name="Line 6"/>
            <p:cNvSpPr>
              <a:spLocks noChangeShapeType="1"/>
            </p:cNvSpPr>
            <p:nvPr/>
          </p:nvSpPr>
          <p:spPr bwMode="auto">
            <a:xfrm>
              <a:off x="1929" y="3168"/>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0" name="Text Box 7"/>
            <p:cNvSpPr txBox="1">
              <a:spLocks noChangeArrowheads="1"/>
            </p:cNvSpPr>
            <p:nvPr/>
          </p:nvSpPr>
          <p:spPr bwMode="auto">
            <a:xfrm>
              <a:off x="2091" y="321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sz="2400"/>
                <a:t>N</a:t>
              </a:r>
            </a:p>
          </p:txBody>
        </p:sp>
        <p:sp>
          <p:nvSpPr>
            <p:cNvPr id="21" name="Freeform 8"/>
            <p:cNvSpPr>
              <a:spLocks/>
            </p:cNvSpPr>
            <p:nvPr/>
          </p:nvSpPr>
          <p:spPr bwMode="auto">
            <a:xfrm>
              <a:off x="2062" y="3218"/>
              <a:ext cx="279" cy="209"/>
            </a:xfrm>
            <a:custGeom>
              <a:avLst/>
              <a:gdLst>
                <a:gd name="T0" fmla="*/ 0 w 279"/>
                <a:gd name="T1" fmla="*/ 148 h 209"/>
                <a:gd name="T2" fmla="*/ 26 w 279"/>
                <a:gd name="T3" fmla="*/ 105 h 209"/>
                <a:gd name="T4" fmla="*/ 44 w 279"/>
                <a:gd name="T5" fmla="*/ 209 h 209"/>
                <a:gd name="T6" fmla="*/ 61 w 279"/>
                <a:gd name="T7" fmla="*/ 0 h 209"/>
                <a:gd name="T8" fmla="*/ 279 w 279"/>
                <a:gd name="T9" fmla="*/ 0 h 209"/>
                <a:gd name="T10" fmla="*/ 0 60000 65536"/>
                <a:gd name="T11" fmla="*/ 0 60000 65536"/>
                <a:gd name="T12" fmla="*/ 0 60000 65536"/>
                <a:gd name="T13" fmla="*/ 0 60000 65536"/>
                <a:gd name="T14" fmla="*/ 0 60000 65536"/>
                <a:gd name="T15" fmla="*/ 0 w 279"/>
                <a:gd name="T16" fmla="*/ 0 h 209"/>
                <a:gd name="T17" fmla="*/ 279 w 279"/>
                <a:gd name="T18" fmla="*/ 209 h 209"/>
              </a:gdLst>
              <a:ahLst/>
              <a:cxnLst>
                <a:cxn ang="T10">
                  <a:pos x="T0" y="T1"/>
                </a:cxn>
                <a:cxn ang="T11">
                  <a:pos x="T2" y="T3"/>
                </a:cxn>
                <a:cxn ang="T12">
                  <a:pos x="T4" y="T5"/>
                </a:cxn>
                <a:cxn ang="T13">
                  <a:pos x="T6" y="T7"/>
                </a:cxn>
                <a:cxn ang="T14">
                  <a:pos x="T8" y="T9"/>
                </a:cxn>
              </a:cxnLst>
              <a:rect l="T15" t="T16" r="T17" b="T18"/>
              <a:pathLst>
                <a:path w="279" h="209">
                  <a:moveTo>
                    <a:pt x="0" y="148"/>
                  </a:moveTo>
                  <a:lnTo>
                    <a:pt x="26" y="105"/>
                  </a:lnTo>
                  <a:lnTo>
                    <a:pt x="44" y="209"/>
                  </a:lnTo>
                  <a:lnTo>
                    <a:pt x="61" y="0"/>
                  </a:lnTo>
                  <a:lnTo>
                    <a:pt x="279"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endParaRPr lang="en-US" altLang="en-US"/>
            </a:p>
          </p:txBody>
        </p:sp>
      </p:grpSp>
      <p:sp>
        <p:nvSpPr>
          <p:cNvPr id="2" name="Content Placeholder 1">
            <a:extLst>
              <a:ext uri="{FF2B5EF4-FFF2-40B4-BE49-F238E27FC236}">
                <a16:creationId xmlns:a16="http://schemas.microsoft.com/office/drawing/2014/main" id="{8DE5F028-BC84-C0D2-F9F0-ADA98267E898}"/>
              </a:ext>
            </a:extLst>
          </p:cNvPr>
          <p:cNvSpPr txBox="1">
            <a:spLocks/>
          </p:cNvSpPr>
          <p:nvPr/>
        </p:nvSpPr>
        <p:spPr>
          <a:xfrm>
            <a:off x="494047" y="4977482"/>
            <a:ext cx="10515600" cy="2271198"/>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but</a:t>
            </a: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too </a:t>
            </a: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much buffering can increase delays (particularly in home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long RTTs: poor performance for </a:t>
            </a:r>
            <a:r>
              <a:rPr kumimoji="0" lang="en-US" altLang="en-US" sz="20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realtime</a:t>
            </a: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apps, sluggish TCP response </a:t>
            </a:r>
            <a:endParaRPr kumimoji="0" lang="en-US" sz="2000" b="0" i="0" u="none" strike="noStrike" kern="1200" cap="none" spc="0" normalizeH="0" baseline="0" noProof="0" dirty="0">
              <a:ln>
                <a:noFill/>
              </a:ln>
              <a:solidFill>
                <a:prstClr val="black"/>
              </a:solidFill>
              <a:effectLst/>
              <a:uLnTx/>
              <a:uFillTx/>
              <a:latin typeface="Calibri" panose="020F0502020204030204"/>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recall delay-based congestion control: “keep bottleneck link just full enough</a:t>
            </a:r>
            <a:r>
              <a:rPr kumimoji="0" lang="en-US" altLang="en-US" sz="2000" b="0" i="0" u="none" strike="noStrike" kern="1200" cap="none" spc="0" normalizeH="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463550" marR="0" lvl="1" indent="0" algn="l" defTabSz="914400" rtl="0" eaLnBrk="1" fontAlgn="auto" latinLnBrk="0" hangingPunct="1">
              <a:lnSpc>
                <a:spcPct val="90000"/>
              </a:lnSpc>
              <a:spcBef>
                <a:spcPts val="500"/>
              </a:spcBef>
              <a:spcAft>
                <a:spcPts val="0"/>
              </a:spcAft>
              <a:buClr>
                <a:srgbClr val="0000A8"/>
              </a:buClr>
              <a:buSz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(busy) but no fuller”</a:t>
            </a:r>
            <a:endParaRPr kumimoji="0" lang="en-US" sz="2000" b="0" i="0" u="none" strike="noStrike" kern="1200" cap="none" spc="0" normalizeH="0" baseline="0" noProof="0" dirty="0">
              <a:ln>
                <a:noFill/>
              </a:ln>
              <a:solidFill>
                <a:prstClr val="black"/>
              </a:solidFill>
              <a:effectLst/>
              <a:uLnTx/>
              <a:uFillTx/>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546" y="713981"/>
            <a:ext cx="8185803" cy="1983727"/>
          </a:xfrm>
        </p:spPr>
        <p:txBody>
          <a:bodyPr>
            <a:normAutofit/>
          </a:bodyPr>
          <a:lstStyle/>
          <a:p>
            <a:pPr marL="0" indent="0" eaLnBrk="1" hangingPunct="1">
              <a:lnSpc>
                <a:spcPct val="100000"/>
              </a:lnSpc>
              <a:buNone/>
            </a:pPr>
            <a:r>
              <a:rPr lang="en-US" altLang="en-US" sz="2200" dirty="0">
                <a:latin typeface="Arial"/>
                <a:cs typeface="Arial"/>
              </a:rPr>
              <a:t>Supposed the link capacity for a router is 20</a:t>
            </a:r>
            <a:r>
              <a:rPr lang="en-US" altLang="en-US" sz="2200" i="1" dirty="0">
                <a:latin typeface="Arial"/>
                <a:cs typeface="Arial"/>
              </a:rPr>
              <a:t>Mbps</a:t>
            </a:r>
            <a:r>
              <a:rPr lang="en-US" altLang="en-US" sz="2200" dirty="0">
                <a:latin typeface="Arial"/>
                <a:cs typeface="Arial"/>
              </a:rPr>
              <a:t> and RTT for a packet is 400</a:t>
            </a:r>
            <a:r>
              <a:rPr lang="en-US" altLang="en-US" sz="2200" i="1" dirty="0">
                <a:latin typeface="Arial"/>
                <a:cs typeface="Arial"/>
              </a:rPr>
              <a:t>msec</a:t>
            </a:r>
            <a:r>
              <a:rPr lang="en-US" altLang="en-US" sz="2200" dirty="0">
                <a:latin typeface="Arial"/>
                <a:cs typeface="Arial"/>
              </a:rPr>
              <a:t>. </a:t>
            </a:r>
          </a:p>
          <a:p>
            <a:pPr marL="0" indent="0" eaLnBrk="1" hangingPunct="1">
              <a:lnSpc>
                <a:spcPct val="100000"/>
              </a:lnSpc>
              <a:buNone/>
            </a:pPr>
            <a:r>
              <a:rPr lang="en-US" altLang="en-US" sz="2200" dirty="0">
                <a:latin typeface="Arial"/>
                <a:cs typeface="Arial"/>
              </a:rPr>
              <a:t>If the TCP flow of packets is 16, calculate the buffering needed for the router.</a:t>
            </a:r>
          </a:p>
        </p:txBody>
      </p:sp>
      <p:sp>
        <p:nvSpPr>
          <p:cNvPr id="18" name="Rectangle 2"/>
          <p:cNvSpPr txBox="1">
            <a:spLocks noChangeArrowheads="1"/>
          </p:cNvSpPr>
          <p:nvPr/>
        </p:nvSpPr>
        <p:spPr bwMode="auto">
          <a:xfrm>
            <a:off x="6022086" y="38542"/>
            <a:ext cx="2958596" cy="538318"/>
          </a:xfrm>
          <a:prstGeom prst="rect">
            <a:avLst/>
          </a:prstGeom>
          <a:solidFill>
            <a:srgbClr val="FFFF00"/>
          </a:solid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tx1"/>
                </a:solidFill>
                <a:latin typeface="Arial"/>
                <a:ea typeface="ＭＳ Ｐゴシック" pitchFamily="34" charset="-128"/>
                <a:cs typeface="Arial"/>
              </a:rPr>
              <a:t>Exercise</a:t>
            </a:r>
          </a:p>
        </p:txBody>
      </p:sp>
      <p:sp>
        <p:nvSpPr>
          <p:cNvPr id="7" name="Content Placeholder 2"/>
          <p:cNvSpPr txBox="1">
            <a:spLocks/>
          </p:cNvSpPr>
          <p:nvPr/>
        </p:nvSpPr>
        <p:spPr bwMode="auto">
          <a:xfrm>
            <a:off x="517546" y="2307457"/>
            <a:ext cx="8185803" cy="1782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eaLnBrk="1" hangingPunct="1">
              <a:lnSpc>
                <a:spcPct val="100000"/>
              </a:lnSpc>
              <a:buFont typeface="Wingdings" pitchFamily="2" charset="2"/>
              <a:buNone/>
            </a:pPr>
            <a:r>
              <a:rPr lang="en-US" altLang="en-US" sz="2200" b="1" u="sng" dirty="0">
                <a:solidFill>
                  <a:srgbClr val="FF0000"/>
                </a:solidFill>
                <a:latin typeface="Arial"/>
                <a:cs typeface="Arial"/>
              </a:rPr>
              <a:t>Solution:</a:t>
            </a:r>
          </a:p>
          <a:p>
            <a:pPr eaLnBrk="1" hangingPunct="1">
              <a:lnSpc>
                <a:spcPct val="100000"/>
              </a:lnSpc>
            </a:pPr>
            <a:r>
              <a:rPr lang="en-US" altLang="en-US" sz="2200" dirty="0">
                <a:latin typeface="Arial"/>
                <a:cs typeface="Arial"/>
              </a:rPr>
              <a:t>Link capacity, </a:t>
            </a:r>
            <a:r>
              <a:rPr lang="en-US" altLang="en-US" sz="2200" i="1" dirty="0">
                <a:latin typeface="Arial"/>
                <a:cs typeface="Arial"/>
              </a:rPr>
              <a:t>C</a:t>
            </a:r>
            <a:r>
              <a:rPr lang="en-US" altLang="en-US" sz="2200" dirty="0">
                <a:latin typeface="Arial"/>
                <a:cs typeface="Arial"/>
              </a:rPr>
              <a:t> = 20</a:t>
            </a:r>
            <a:r>
              <a:rPr lang="en-US" altLang="en-US" sz="2200" i="1" dirty="0">
                <a:latin typeface="Arial"/>
                <a:cs typeface="Arial"/>
              </a:rPr>
              <a:t>Mbps</a:t>
            </a:r>
          </a:p>
          <a:p>
            <a:pPr eaLnBrk="1" hangingPunct="1">
              <a:lnSpc>
                <a:spcPct val="100000"/>
              </a:lnSpc>
            </a:pPr>
            <a:r>
              <a:rPr lang="en-US" altLang="en-US" sz="2200" dirty="0">
                <a:latin typeface="Arial"/>
                <a:cs typeface="Arial"/>
              </a:rPr>
              <a:t>RTT = 400</a:t>
            </a:r>
            <a:r>
              <a:rPr lang="en-US" altLang="en-US" sz="2200" i="1" dirty="0">
                <a:latin typeface="Arial"/>
                <a:cs typeface="Arial"/>
              </a:rPr>
              <a:t>msec</a:t>
            </a:r>
          </a:p>
          <a:p>
            <a:pPr eaLnBrk="1" hangingPunct="1">
              <a:lnSpc>
                <a:spcPct val="100000"/>
              </a:lnSpc>
            </a:pPr>
            <a:r>
              <a:rPr lang="en-US" altLang="en-US" sz="2200" dirty="0">
                <a:latin typeface="Arial"/>
                <a:cs typeface="Arial"/>
              </a:rPr>
              <a:t>TCP flows, </a:t>
            </a:r>
            <a:r>
              <a:rPr lang="en-US" altLang="en-US" sz="2200" i="1" dirty="0">
                <a:latin typeface="Arial"/>
                <a:cs typeface="Arial"/>
              </a:rPr>
              <a:t>N</a:t>
            </a:r>
            <a:r>
              <a:rPr lang="en-US" altLang="en-US" sz="2200" dirty="0">
                <a:latin typeface="Arial"/>
                <a:cs typeface="Arial"/>
              </a:rPr>
              <a:t> = 16</a:t>
            </a:r>
          </a:p>
        </p:txBody>
      </p:sp>
      <p:grpSp>
        <p:nvGrpSpPr>
          <p:cNvPr id="15" name="Group 14"/>
          <p:cNvGrpSpPr/>
          <p:nvPr/>
        </p:nvGrpSpPr>
        <p:grpSpPr>
          <a:xfrm>
            <a:off x="1873572" y="4111713"/>
            <a:ext cx="6829777" cy="2455333"/>
            <a:chOff x="4430888" y="3457222"/>
            <a:chExt cx="6829777" cy="2455333"/>
          </a:xfrm>
        </p:grpSpPr>
        <p:sp>
          <p:nvSpPr>
            <p:cNvPr id="16" name="Rectangle 15"/>
            <p:cNvSpPr/>
            <p:nvPr/>
          </p:nvSpPr>
          <p:spPr bwMode="auto">
            <a:xfrm>
              <a:off x="4430888" y="3457222"/>
              <a:ext cx="6829777" cy="245533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aphicFrame>
          <p:nvGraphicFramePr>
            <p:cNvPr id="17" name="Object 16"/>
            <p:cNvGraphicFramePr>
              <a:graphicFrameLocks noChangeAspect="1"/>
            </p:cNvGraphicFramePr>
            <p:nvPr/>
          </p:nvGraphicFramePr>
          <p:xfrm>
            <a:off x="6050051" y="3575743"/>
            <a:ext cx="1625600" cy="838200"/>
          </p:xfrm>
          <a:graphic>
            <a:graphicData uri="http://schemas.openxmlformats.org/presentationml/2006/ole">
              <mc:AlternateContent xmlns:mc="http://schemas.openxmlformats.org/markup-compatibility/2006">
                <mc:Choice xmlns:v="urn:schemas-microsoft-com:vml" Requires="v">
                  <p:oleObj name="Equation" r:id="rId2" imgW="812800" imgH="419100" progId="Equation.3">
                    <p:embed/>
                  </p:oleObj>
                </mc:Choice>
                <mc:Fallback>
                  <p:oleObj name="Equation" r:id="rId2" imgW="812800" imgH="419100" progId="Equation.3">
                    <p:embed/>
                    <p:pic>
                      <p:nvPicPr>
                        <p:cNvPr id="17" name="Object 16"/>
                        <p:cNvPicPr/>
                        <p:nvPr/>
                      </p:nvPicPr>
                      <p:blipFill>
                        <a:blip r:embed="rId3"/>
                        <a:stretch>
                          <a:fillRect/>
                        </a:stretch>
                      </p:blipFill>
                      <p:spPr>
                        <a:xfrm>
                          <a:off x="6050051" y="3575743"/>
                          <a:ext cx="1625600" cy="838200"/>
                        </a:xfrm>
                        <a:prstGeom prst="rect">
                          <a:avLst/>
                        </a:prstGeom>
                      </p:spPr>
                    </p:pic>
                  </p:oleObj>
                </mc:Fallback>
              </mc:AlternateContent>
            </a:graphicData>
          </a:graphic>
        </p:graphicFrame>
        <p:sp>
          <p:nvSpPr>
            <p:cNvPr id="19" name="Rectangle 18"/>
            <p:cNvSpPr/>
            <p:nvPr/>
          </p:nvSpPr>
          <p:spPr>
            <a:xfrm>
              <a:off x="4468894" y="3738225"/>
              <a:ext cx="1590763" cy="430887"/>
            </a:xfrm>
            <a:prstGeom prst="rect">
              <a:avLst/>
            </a:prstGeom>
          </p:spPr>
          <p:txBody>
            <a:bodyPr wrap="none">
              <a:spAutoFit/>
            </a:bodyPr>
            <a:lstStyle/>
            <a:p>
              <a:pPr eaLnBrk="1" hangingPunct="1">
                <a:lnSpc>
                  <a:spcPct val="100000"/>
                </a:lnSpc>
              </a:pPr>
              <a:r>
                <a:rPr lang="en-US" altLang="en-US" sz="2200" dirty="0">
                  <a:latin typeface="Arial"/>
                  <a:cs typeface="Arial"/>
                </a:rPr>
                <a:t>Buffer size,  </a:t>
              </a:r>
            </a:p>
          </p:txBody>
        </p:sp>
      </p:grpSp>
      <p:graphicFrame>
        <p:nvGraphicFramePr>
          <p:cNvPr id="20" name="Object 19"/>
          <p:cNvGraphicFramePr>
            <a:graphicFrameLocks noChangeAspect="1"/>
          </p:cNvGraphicFramePr>
          <p:nvPr/>
        </p:nvGraphicFramePr>
        <p:xfrm>
          <a:off x="5381948" y="4264996"/>
          <a:ext cx="2667000" cy="2006600"/>
        </p:xfrm>
        <a:graphic>
          <a:graphicData uri="http://schemas.openxmlformats.org/presentationml/2006/ole">
            <mc:AlternateContent xmlns:mc="http://schemas.openxmlformats.org/markup-compatibility/2006">
              <mc:Choice xmlns:v="urn:schemas-microsoft-com:vml" Requires="v">
                <p:oleObj name="Equation" r:id="rId4" imgW="1333500" imgH="1003300" progId="Equation.3">
                  <p:embed/>
                </p:oleObj>
              </mc:Choice>
              <mc:Fallback>
                <p:oleObj name="Equation" r:id="rId4" imgW="1333500" imgH="1003300" progId="Equation.3">
                  <p:embed/>
                  <p:pic>
                    <p:nvPicPr>
                      <p:cNvPr id="20" name="Object 19"/>
                      <p:cNvPicPr/>
                      <p:nvPr/>
                    </p:nvPicPr>
                    <p:blipFill>
                      <a:blip r:embed="rId5"/>
                      <a:stretch>
                        <a:fillRect/>
                      </a:stretch>
                    </p:blipFill>
                    <p:spPr>
                      <a:xfrm>
                        <a:off x="5381948" y="4264996"/>
                        <a:ext cx="2667000" cy="2006600"/>
                      </a:xfrm>
                      <a:prstGeom prst="rect">
                        <a:avLst/>
                      </a:prstGeom>
                    </p:spPr>
                  </p:pic>
                </p:oleObj>
              </mc:Fallback>
            </mc:AlternateContent>
          </a:graphicData>
        </a:graphic>
      </p:graphicFrame>
      <p:sp>
        <p:nvSpPr>
          <p:cNvPr id="10"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426104" y="6589027"/>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41</a:t>
            </a:fld>
            <a:endParaRPr lang="en-US" altLang="en-US" dirty="0">
              <a:latin typeface="Tahoma" panose="020B0604030504040204" pitchFamily="34" charset="0"/>
            </a:endParaRPr>
          </a:p>
        </p:txBody>
      </p:sp>
    </p:spTree>
    <p:extLst>
      <p:ext uri="{BB962C8B-B14F-4D97-AF65-F5344CB8AC3E}">
        <p14:creationId xmlns:p14="http://schemas.microsoft.com/office/powerpoint/2010/main" val="200950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628650" y="1090608"/>
            <a:ext cx="7886700" cy="670967"/>
          </a:xfrm>
        </p:spPr>
        <p:txBody>
          <a:bodyPr/>
          <a:lstStyle/>
          <a:p>
            <a:r>
              <a:rPr lang="en-US" dirty="0"/>
              <a:t>Buffer Management</a:t>
            </a:r>
          </a:p>
        </p:txBody>
      </p:sp>
      <p:sp>
        <p:nvSpPr>
          <p:cNvPr id="14" name="Content Placeholder 1">
            <a:extLst>
              <a:ext uri="{FF2B5EF4-FFF2-40B4-BE49-F238E27FC236}">
                <a16:creationId xmlns:a16="http://schemas.microsoft.com/office/drawing/2014/main" id="{017C4922-A89B-2D44-942B-27D216DF220C}"/>
              </a:ext>
            </a:extLst>
          </p:cNvPr>
          <p:cNvSpPr txBox="1">
            <a:spLocks/>
          </p:cNvSpPr>
          <p:nvPr/>
        </p:nvSpPr>
        <p:spPr>
          <a:xfrm>
            <a:off x="4990514" y="1954530"/>
            <a:ext cx="3724861" cy="375689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404" indent="-167879" defTabSz="685800" fontAlgn="auto">
              <a:spcBef>
                <a:spcPts val="750"/>
              </a:spcBef>
              <a:spcAft>
                <a:spcPts val="0"/>
              </a:spcAft>
              <a:buNone/>
              <a:defRPr/>
            </a:pPr>
            <a:r>
              <a:rPr lang="en-US" altLang="en-US" sz="2400" dirty="0">
                <a:solidFill>
                  <a:srgbClr val="C00000"/>
                </a:solidFill>
                <a:latin typeface="Calibri" panose="020F0502020204030204"/>
                <a:ea typeface="ＭＳ Ｐゴシック" panose="020B0600070205080204" pitchFamily="34" charset="-128"/>
                <a:cs typeface="ＭＳ Ｐゴシック" panose="020B0600070205080204" pitchFamily="34" charset="-128"/>
              </a:rPr>
              <a:t>buffer management: </a:t>
            </a:r>
          </a:p>
          <a:p>
            <a:pPr marL="221456" indent="-211931" defTabSz="685800" fontAlgn="auto">
              <a:spcBef>
                <a:spcPts val="750"/>
              </a:spcBef>
              <a:spcAft>
                <a:spcPts val="0"/>
              </a:spcAft>
              <a:defRPr/>
            </a:pPr>
            <a:r>
              <a:rPr lang="en-US" altLang="en-US" sz="2400" dirty="0">
                <a:solidFill>
                  <a:srgbClr val="C00000"/>
                </a:solidFill>
                <a:latin typeface="Calibri" panose="020F0502020204030204"/>
                <a:ea typeface="ＭＳ Ｐゴシック" panose="020B0600070205080204" pitchFamily="34" charset="-128"/>
                <a:cs typeface="ＭＳ Ｐゴシック" panose="020B0600070205080204" pitchFamily="34" charset="-128"/>
              </a:rPr>
              <a:t>drop: </a:t>
            </a:r>
            <a:r>
              <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which packet to add, drop when buffers are full</a:t>
            </a:r>
            <a:endPar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endParaRPr>
          </a:p>
          <a:p>
            <a:pPr marL="521494" lvl="1" indent="-173831" defTabSz="685800" fontAlgn="auto">
              <a:lnSpc>
                <a:spcPts val="1706"/>
              </a:lnSpc>
              <a:spcBef>
                <a:spcPts val="375"/>
              </a:spcBef>
              <a:spcAft>
                <a:spcPts val="0"/>
              </a:spcAft>
              <a:defRPr/>
            </a:pPr>
            <a:r>
              <a:rPr lang="en-US" altLang="en-US" sz="2100" dirty="0">
                <a:solidFill>
                  <a:srgbClr val="000099"/>
                </a:solidFill>
                <a:latin typeface="Calibri" panose="020F0502020204030204"/>
                <a:ea typeface="Gill Sans MT" panose="020B0502020104020203" pitchFamily="34" charset="77"/>
                <a:cs typeface="Gill Sans MT" panose="020B0502020104020203" pitchFamily="34" charset="77"/>
              </a:rPr>
              <a:t>tail drop: </a:t>
            </a: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drop arriving packet</a:t>
            </a:r>
          </a:p>
          <a:p>
            <a:pPr marL="521494" lvl="1" indent="-173831" defTabSz="685800" fontAlgn="auto">
              <a:lnSpc>
                <a:spcPts val="1706"/>
              </a:lnSpc>
              <a:spcBef>
                <a:spcPts val="375"/>
              </a:spcBef>
              <a:spcAft>
                <a:spcPts val="0"/>
              </a:spcAft>
              <a:defRPr/>
            </a:pPr>
            <a:r>
              <a:rPr lang="en-US" altLang="en-US" sz="2100" dirty="0">
                <a:solidFill>
                  <a:srgbClr val="000099"/>
                </a:solidFill>
                <a:latin typeface="Calibri" panose="020F0502020204030204"/>
                <a:ea typeface="Gill Sans MT" panose="020B0502020104020203" pitchFamily="34" charset="77"/>
                <a:cs typeface="Gill Sans MT" panose="020B0502020104020203" pitchFamily="34" charset="77"/>
              </a:rPr>
              <a:t>priority: </a:t>
            </a: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drop/remove on priority basis</a:t>
            </a:r>
          </a:p>
        </p:txBody>
      </p:sp>
      <p:sp>
        <p:nvSpPr>
          <p:cNvPr id="35" name="Rectangle 5">
            <a:extLst>
              <a:ext uri="{FF2B5EF4-FFF2-40B4-BE49-F238E27FC236}">
                <a16:creationId xmlns:a16="http://schemas.microsoft.com/office/drawing/2014/main" id="{6B5E77BE-663D-0C4F-B1A0-4FE84A5853BA}"/>
              </a:ext>
            </a:extLst>
          </p:cNvPr>
          <p:cNvSpPr>
            <a:spLocks noChangeArrowheads="1"/>
          </p:cNvSpPr>
          <p:nvPr/>
        </p:nvSpPr>
        <p:spPr bwMode="auto">
          <a:xfrm>
            <a:off x="1025902" y="2278714"/>
            <a:ext cx="2632126" cy="1364649"/>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200" kern="0" dirty="0">
              <a:solidFill>
                <a:srgbClr val="000000"/>
              </a:solidFill>
              <a:latin typeface="Tahoma" panose="020B0604030504040204" pitchFamily="34" charset="0"/>
            </a:endParaRPr>
          </a:p>
        </p:txBody>
      </p:sp>
      <p:sp>
        <p:nvSpPr>
          <p:cNvPr id="36" name="Rectangle 6">
            <a:extLst>
              <a:ext uri="{FF2B5EF4-FFF2-40B4-BE49-F238E27FC236}">
                <a16:creationId xmlns:a16="http://schemas.microsoft.com/office/drawing/2014/main" id="{5BE02A94-EF22-BA42-86FA-86D884A8ECBC}"/>
              </a:ext>
            </a:extLst>
          </p:cNvPr>
          <p:cNvSpPr>
            <a:spLocks noChangeArrowheads="1"/>
          </p:cNvSpPr>
          <p:nvPr/>
        </p:nvSpPr>
        <p:spPr bwMode="auto">
          <a:xfrm>
            <a:off x="2862731" y="2735426"/>
            <a:ext cx="731003" cy="465801"/>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200" kern="0" dirty="0">
                <a:solidFill>
                  <a:srgbClr val="000000"/>
                </a:solidFill>
                <a:latin typeface="Tahoma" panose="020B0604030504040204" pitchFamily="34" charset="0"/>
              </a:rPr>
              <a:t>line</a:t>
            </a:r>
          </a:p>
          <a:p>
            <a:pPr algn="ctr" defTabSz="685800">
              <a:defRPr/>
            </a:pPr>
            <a:r>
              <a:rPr lang="en-US" altLang="en-US" sz="1050" kern="0" dirty="0">
                <a:solidFill>
                  <a:srgbClr val="000000"/>
                </a:solidFill>
                <a:latin typeface="Tahoma" panose="020B0604030504040204" pitchFamily="34" charset="0"/>
              </a:rPr>
              <a:t>termination</a:t>
            </a:r>
            <a:endParaRPr lang="en-US" altLang="en-US" sz="1200" kern="0" dirty="0">
              <a:solidFill>
                <a:srgbClr val="000000"/>
              </a:solidFill>
              <a:latin typeface="Tahoma" panose="020B0604030504040204" pitchFamily="34" charset="0"/>
            </a:endParaRPr>
          </a:p>
        </p:txBody>
      </p:sp>
      <p:sp>
        <p:nvSpPr>
          <p:cNvPr id="37" name="Rectangle 7">
            <a:extLst>
              <a:ext uri="{FF2B5EF4-FFF2-40B4-BE49-F238E27FC236}">
                <a16:creationId xmlns:a16="http://schemas.microsoft.com/office/drawing/2014/main" id="{2D2F95B6-E152-904F-9434-1185BAD6C22E}"/>
              </a:ext>
            </a:extLst>
          </p:cNvPr>
          <p:cNvSpPr>
            <a:spLocks noChangeArrowheads="1"/>
          </p:cNvSpPr>
          <p:nvPr/>
        </p:nvSpPr>
        <p:spPr bwMode="auto">
          <a:xfrm>
            <a:off x="2039599" y="2557034"/>
            <a:ext cx="724355" cy="825104"/>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200" kern="0">
              <a:solidFill>
                <a:srgbClr val="000000"/>
              </a:solidFill>
              <a:latin typeface="Tahoma" panose="020B0604030504040204" pitchFamily="34" charset="0"/>
            </a:endParaRPr>
          </a:p>
        </p:txBody>
      </p:sp>
      <p:sp>
        <p:nvSpPr>
          <p:cNvPr id="38" name="Line 10">
            <a:extLst>
              <a:ext uri="{FF2B5EF4-FFF2-40B4-BE49-F238E27FC236}">
                <a16:creationId xmlns:a16="http://schemas.microsoft.com/office/drawing/2014/main" id="{1C5F0AC7-43BC-C54D-9EC4-226334C8420D}"/>
              </a:ext>
            </a:extLst>
          </p:cNvPr>
          <p:cNvSpPr>
            <a:spLocks noChangeShapeType="1"/>
          </p:cNvSpPr>
          <p:nvPr/>
        </p:nvSpPr>
        <p:spPr bwMode="auto">
          <a:xfrm>
            <a:off x="1927854" y="2986972"/>
            <a:ext cx="119728" cy="111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39" name="Line 11">
            <a:extLst>
              <a:ext uri="{FF2B5EF4-FFF2-40B4-BE49-F238E27FC236}">
                <a16:creationId xmlns:a16="http://schemas.microsoft.com/office/drawing/2014/main" id="{1D5DD4EA-D05C-D747-B223-1017B318E553}"/>
              </a:ext>
            </a:extLst>
          </p:cNvPr>
          <p:cNvSpPr>
            <a:spLocks noChangeShapeType="1"/>
          </p:cNvSpPr>
          <p:nvPr/>
        </p:nvSpPr>
        <p:spPr bwMode="auto">
          <a:xfrm>
            <a:off x="2765950" y="2983335"/>
            <a:ext cx="119728" cy="111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41" name="Rectangle 13">
            <a:extLst>
              <a:ext uri="{FF2B5EF4-FFF2-40B4-BE49-F238E27FC236}">
                <a16:creationId xmlns:a16="http://schemas.microsoft.com/office/drawing/2014/main" id="{B95717F2-1515-C143-9500-6A8B8FCE180F}"/>
              </a:ext>
            </a:extLst>
          </p:cNvPr>
          <p:cNvSpPr>
            <a:spLocks noChangeArrowheads="1"/>
          </p:cNvSpPr>
          <p:nvPr/>
        </p:nvSpPr>
        <p:spPr bwMode="auto">
          <a:xfrm>
            <a:off x="2060553" y="2669684"/>
            <a:ext cx="663493" cy="5824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90000"/>
              </a:lnSpc>
              <a:defRPr/>
            </a:pPr>
            <a:r>
              <a:rPr lang="en-US" altLang="en-US" sz="1200" kern="0" dirty="0">
                <a:solidFill>
                  <a:srgbClr val="000000"/>
                </a:solidFill>
                <a:latin typeface="Tahoma" panose="020B0604030504040204" pitchFamily="34" charset="0"/>
              </a:rPr>
              <a:t>link </a:t>
            </a:r>
          </a:p>
          <a:p>
            <a:pPr algn="ctr" defTabSz="685800">
              <a:lnSpc>
                <a:spcPct val="90000"/>
              </a:lnSpc>
              <a:defRPr/>
            </a:pPr>
            <a:r>
              <a:rPr lang="en-US" altLang="en-US" sz="1200" kern="0" dirty="0">
                <a:solidFill>
                  <a:srgbClr val="000000"/>
                </a:solidFill>
                <a:latin typeface="Tahoma" panose="020B0604030504040204" pitchFamily="34" charset="0"/>
              </a:rPr>
              <a:t>layer </a:t>
            </a:r>
          </a:p>
          <a:p>
            <a:pPr algn="ctr" defTabSz="685800">
              <a:lnSpc>
                <a:spcPct val="90000"/>
              </a:lnSpc>
              <a:defRPr/>
            </a:pPr>
            <a:r>
              <a:rPr lang="en-US" altLang="en-US" sz="1200" kern="0" dirty="0">
                <a:solidFill>
                  <a:srgbClr val="000000"/>
                </a:solidFill>
                <a:latin typeface="Tahoma" panose="020B0604030504040204" pitchFamily="34" charset="0"/>
              </a:rPr>
              <a:t>protocol</a:t>
            </a:r>
          </a:p>
          <a:p>
            <a:pPr algn="ctr" defTabSz="685800">
              <a:lnSpc>
                <a:spcPct val="90000"/>
              </a:lnSpc>
              <a:defRPr/>
            </a:pPr>
            <a:r>
              <a:rPr lang="en-US" altLang="en-US" sz="1200" kern="0" dirty="0">
                <a:solidFill>
                  <a:srgbClr val="000000"/>
                </a:solidFill>
                <a:latin typeface="Tahoma" panose="020B0604030504040204" pitchFamily="34" charset="0"/>
              </a:rPr>
              <a:t>(send)</a:t>
            </a:r>
          </a:p>
        </p:txBody>
      </p:sp>
      <p:sp>
        <p:nvSpPr>
          <p:cNvPr id="42" name="Rectangle 16">
            <a:extLst>
              <a:ext uri="{FF2B5EF4-FFF2-40B4-BE49-F238E27FC236}">
                <a16:creationId xmlns:a16="http://schemas.microsoft.com/office/drawing/2014/main" id="{DC955E5A-0AAE-9941-B8FE-125514F714AF}"/>
              </a:ext>
            </a:extLst>
          </p:cNvPr>
          <p:cNvSpPr>
            <a:spLocks noChangeArrowheads="1"/>
          </p:cNvSpPr>
          <p:nvPr/>
        </p:nvSpPr>
        <p:spPr bwMode="auto">
          <a:xfrm>
            <a:off x="249727" y="2513923"/>
            <a:ext cx="663494" cy="5824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90000"/>
              </a:lnSpc>
              <a:defRPr/>
            </a:pPr>
            <a:r>
              <a:rPr lang="en-US" altLang="en-US" sz="1200" kern="0">
                <a:solidFill>
                  <a:srgbClr val="000000"/>
                </a:solidFill>
                <a:latin typeface="Tahoma" panose="020B0604030504040204" pitchFamily="34" charset="0"/>
              </a:rPr>
              <a:t>switch</a:t>
            </a:r>
          </a:p>
          <a:p>
            <a:pPr algn="ctr" defTabSz="685800">
              <a:lnSpc>
                <a:spcPct val="90000"/>
              </a:lnSpc>
              <a:defRPr/>
            </a:pPr>
            <a:r>
              <a:rPr lang="en-US" altLang="en-US" sz="1200" kern="0">
                <a:solidFill>
                  <a:srgbClr val="000000"/>
                </a:solidFill>
                <a:latin typeface="Tahoma" panose="020B0604030504040204" pitchFamily="34" charset="0"/>
              </a:rPr>
              <a:t>fabric</a:t>
            </a:r>
          </a:p>
        </p:txBody>
      </p:sp>
      <p:grpSp>
        <p:nvGrpSpPr>
          <p:cNvPr id="43" name="Group 28">
            <a:extLst>
              <a:ext uri="{FF2B5EF4-FFF2-40B4-BE49-F238E27FC236}">
                <a16:creationId xmlns:a16="http://schemas.microsoft.com/office/drawing/2014/main" id="{A1443F96-0F63-DB42-8E29-A8625BB994E0}"/>
              </a:ext>
            </a:extLst>
          </p:cNvPr>
          <p:cNvGrpSpPr>
            <a:grpSpLocks/>
          </p:cNvGrpSpPr>
          <p:nvPr/>
        </p:nvGrpSpPr>
        <p:grpSpPr bwMode="auto">
          <a:xfrm>
            <a:off x="1060826" y="2360628"/>
            <a:ext cx="915921" cy="1228416"/>
            <a:chOff x="3119" y="858"/>
            <a:chExt cx="918" cy="1101"/>
          </a:xfrm>
        </p:grpSpPr>
        <p:sp>
          <p:nvSpPr>
            <p:cNvPr id="46" name="Rectangle 8">
              <a:extLst>
                <a:ext uri="{FF2B5EF4-FFF2-40B4-BE49-F238E27FC236}">
                  <a16:creationId xmlns:a16="http://schemas.microsoft.com/office/drawing/2014/main" id="{2FD0FF32-9B37-DC42-BD62-F82282C0088F}"/>
                </a:ext>
              </a:extLst>
            </p:cNvPr>
            <p:cNvSpPr>
              <a:spLocks noChangeArrowheads="1"/>
            </p:cNvSpPr>
            <p:nvPr/>
          </p:nvSpPr>
          <p:spPr bwMode="auto">
            <a:xfrm>
              <a:off x="3180" y="858"/>
              <a:ext cx="786" cy="1085"/>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200" kern="0">
                <a:solidFill>
                  <a:srgbClr val="000000"/>
                </a:solidFill>
                <a:latin typeface="Tahoma" panose="020B0604030504040204" pitchFamily="34" charset="0"/>
              </a:endParaRPr>
            </a:p>
          </p:txBody>
        </p:sp>
        <p:sp>
          <p:nvSpPr>
            <p:cNvPr id="47" name="Text Box 14">
              <a:extLst>
                <a:ext uri="{FF2B5EF4-FFF2-40B4-BE49-F238E27FC236}">
                  <a16:creationId xmlns:a16="http://schemas.microsoft.com/office/drawing/2014/main" id="{A704393B-C1D3-CB4A-8942-0AB0E7633A09}"/>
                </a:ext>
              </a:extLst>
            </p:cNvPr>
            <p:cNvSpPr txBox="1">
              <a:spLocks noChangeArrowheads="1"/>
            </p:cNvSpPr>
            <p:nvPr/>
          </p:nvSpPr>
          <p:spPr bwMode="auto">
            <a:xfrm>
              <a:off x="3119" y="883"/>
              <a:ext cx="918" cy="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200" kern="0" dirty="0">
                  <a:solidFill>
                    <a:srgbClr val="000000"/>
                  </a:solidFill>
                </a:rPr>
                <a:t>datagram</a:t>
              </a:r>
            </a:p>
            <a:p>
              <a:pPr algn="ctr" defTabSz="685800">
                <a:defRPr/>
              </a:pPr>
              <a:r>
                <a:rPr lang="en-US" altLang="en-US" sz="1200" kern="0" dirty="0">
                  <a:solidFill>
                    <a:srgbClr val="000000"/>
                  </a:solidFill>
                </a:rPr>
                <a:t>buffer</a:t>
              </a:r>
            </a:p>
            <a:p>
              <a:pPr algn="ctr" defTabSz="685800">
                <a:defRPr/>
              </a:pPr>
              <a:endParaRPr lang="en-US" altLang="en-US" sz="1200" kern="0" dirty="0">
                <a:solidFill>
                  <a:srgbClr val="000000"/>
                </a:solidFill>
              </a:endParaRPr>
            </a:p>
            <a:p>
              <a:pPr algn="ctr" defTabSz="685800">
                <a:defRPr/>
              </a:pPr>
              <a:endParaRPr lang="en-US" altLang="en-US" sz="1200" kern="0" dirty="0">
                <a:solidFill>
                  <a:srgbClr val="000000"/>
                </a:solidFill>
              </a:endParaRPr>
            </a:p>
            <a:p>
              <a:pPr algn="ctr" defTabSz="685800">
                <a:defRPr/>
              </a:pPr>
              <a:r>
                <a:rPr lang="en-US" altLang="en-US" sz="1200" kern="0" dirty="0">
                  <a:solidFill>
                    <a:srgbClr val="000000"/>
                  </a:solidFill>
                </a:rPr>
                <a:t>queueing </a:t>
              </a:r>
            </a:p>
            <a:p>
              <a:pPr algn="ctr" defTabSz="685800">
                <a:defRPr/>
              </a:pPr>
              <a:r>
                <a:rPr lang="en-US" altLang="en-US" sz="1200" kern="0" dirty="0">
                  <a:solidFill>
                    <a:srgbClr val="000000"/>
                  </a:solidFill>
                </a:rPr>
                <a:t>scheduling</a:t>
              </a:r>
            </a:p>
          </p:txBody>
        </p:sp>
        <p:grpSp>
          <p:nvGrpSpPr>
            <p:cNvPr id="48" name="Group 17">
              <a:extLst>
                <a:ext uri="{FF2B5EF4-FFF2-40B4-BE49-F238E27FC236}">
                  <a16:creationId xmlns:a16="http://schemas.microsoft.com/office/drawing/2014/main" id="{B0E03F2B-4025-F443-AE90-5D044032C12D}"/>
                </a:ext>
              </a:extLst>
            </p:cNvPr>
            <p:cNvGrpSpPr>
              <a:grpSpLocks/>
            </p:cNvGrpSpPr>
            <p:nvPr/>
          </p:nvGrpSpPr>
          <p:grpSpPr bwMode="auto">
            <a:xfrm>
              <a:off x="3260" y="1299"/>
              <a:ext cx="626" cy="295"/>
              <a:chOff x="310" y="3526"/>
              <a:chExt cx="1040" cy="457"/>
            </a:xfrm>
          </p:grpSpPr>
          <p:sp>
            <p:nvSpPr>
              <p:cNvPr id="49" name="Rectangle 18">
                <a:extLst>
                  <a:ext uri="{FF2B5EF4-FFF2-40B4-BE49-F238E27FC236}">
                    <a16:creationId xmlns:a16="http://schemas.microsoft.com/office/drawing/2014/main" id="{ECEBB9A5-BC44-7043-875E-41F36660919C}"/>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200" kern="0">
                  <a:solidFill>
                    <a:srgbClr val="000000"/>
                  </a:solidFill>
                  <a:latin typeface="Tahoma" panose="020B0604030504040204" pitchFamily="34" charset="0"/>
                </a:endParaRPr>
              </a:p>
            </p:txBody>
          </p:sp>
          <p:sp>
            <p:nvSpPr>
              <p:cNvPr id="50" name="Line 19">
                <a:extLst>
                  <a:ext uri="{FF2B5EF4-FFF2-40B4-BE49-F238E27FC236}">
                    <a16:creationId xmlns:a16="http://schemas.microsoft.com/office/drawing/2014/main" id="{0A2D0D25-7A9A-AF43-8C67-18BD8B549BC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51" name="Line 20">
                <a:extLst>
                  <a:ext uri="{FF2B5EF4-FFF2-40B4-BE49-F238E27FC236}">
                    <a16:creationId xmlns:a16="http://schemas.microsoft.com/office/drawing/2014/main" id="{0A801491-494C-F54C-A6E4-4E7C15631E9F}"/>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52" name="Line 21">
                <a:extLst>
                  <a:ext uri="{FF2B5EF4-FFF2-40B4-BE49-F238E27FC236}">
                    <a16:creationId xmlns:a16="http://schemas.microsoft.com/office/drawing/2014/main" id="{EC499DCF-CBA3-D343-8D13-1CA6F6FC0192}"/>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53" name="Line 22">
                <a:extLst>
                  <a:ext uri="{FF2B5EF4-FFF2-40B4-BE49-F238E27FC236}">
                    <a16:creationId xmlns:a16="http://schemas.microsoft.com/office/drawing/2014/main" id="{9FA94699-4903-B14C-BACD-94E12E020CAE}"/>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54" name="Line 23">
                <a:extLst>
                  <a:ext uri="{FF2B5EF4-FFF2-40B4-BE49-F238E27FC236}">
                    <a16:creationId xmlns:a16="http://schemas.microsoft.com/office/drawing/2014/main" id="{F25A4708-C3C6-F343-8219-9A6897A31DC8}"/>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55" name="Line 24">
                <a:extLst>
                  <a:ext uri="{FF2B5EF4-FFF2-40B4-BE49-F238E27FC236}">
                    <a16:creationId xmlns:a16="http://schemas.microsoft.com/office/drawing/2014/main" id="{5DE5701B-9777-304C-B2CF-4C1C0765E127}"/>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56" name="Line 25">
                <a:extLst>
                  <a:ext uri="{FF2B5EF4-FFF2-40B4-BE49-F238E27FC236}">
                    <a16:creationId xmlns:a16="http://schemas.microsoft.com/office/drawing/2014/main" id="{1B0F3E17-7114-524E-9BCB-69561687E2A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57" name="Line 26">
                <a:extLst>
                  <a:ext uri="{FF2B5EF4-FFF2-40B4-BE49-F238E27FC236}">
                    <a16:creationId xmlns:a16="http://schemas.microsoft.com/office/drawing/2014/main" id="{953EF77C-6D4A-2047-A707-DF4184E0097C}"/>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grpSp>
      </p:grpSp>
      <p:sp>
        <p:nvSpPr>
          <p:cNvPr id="44" name="Line 27">
            <a:extLst>
              <a:ext uri="{FF2B5EF4-FFF2-40B4-BE49-F238E27FC236}">
                <a16:creationId xmlns:a16="http://schemas.microsoft.com/office/drawing/2014/main" id="{40C964AE-48AA-2546-9EF3-698E815B66B6}"/>
              </a:ext>
            </a:extLst>
          </p:cNvPr>
          <p:cNvSpPr>
            <a:spLocks noChangeShapeType="1"/>
          </p:cNvSpPr>
          <p:nvPr/>
        </p:nvSpPr>
        <p:spPr bwMode="auto">
          <a:xfrm>
            <a:off x="829411" y="2216025"/>
            <a:ext cx="6984" cy="15430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sp>
        <p:nvSpPr>
          <p:cNvPr id="45" name="Line 9">
            <a:extLst>
              <a:ext uri="{FF2B5EF4-FFF2-40B4-BE49-F238E27FC236}">
                <a16:creationId xmlns:a16="http://schemas.microsoft.com/office/drawing/2014/main" id="{93D857D3-E505-7948-820C-1A4B1683F87A}"/>
              </a:ext>
            </a:extLst>
          </p:cNvPr>
          <p:cNvSpPr>
            <a:spLocks noChangeShapeType="1"/>
          </p:cNvSpPr>
          <p:nvPr/>
        </p:nvSpPr>
        <p:spPr bwMode="auto">
          <a:xfrm flipV="1">
            <a:off x="824422" y="2976951"/>
            <a:ext cx="31143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a:solidFill>
                <a:srgbClr val="000000"/>
              </a:solidFill>
            </a:endParaRPr>
          </a:p>
        </p:txBody>
      </p:sp>
      <p:cxnSp>
        <p:nvCxnSpPr>
          <p:cNvPr id="58" name="Straight Arrow Connector 57">
            <a:extLst>
              <a:ext uri="{FF2B5EF4-FFF2-40B4-BE49-F238E27FC236}">
                <a16:creationId xmlns:a16="http://schemas.microsoft.com/office/drawing/2014/main" id="{2DDA7F7E-A362-2A4C-9951-2964302A9536}"/>
              </a:ext>
            </a:extLst>
          </p:cNvPr>
          <p:cNvCxnSpPr/>
          <p:nvPr/>
        </p:nvCxnSpPr>
        <p:spPr>
          <a:xfrm>
            <a:off x="3601504" y="2957513"/>
            <a:ext cx="33218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Content Placeholder 1">
            <a:extLst>
              <a:ext uri="{FF2B5EF4-FFF2-40B4-BE49-F238E27FC236}">
                <a16:creationId xmlns:a16="http://schemas.microsoft.com/office/drawing/2014/main" id="{F62DD4C0-CD1D-4043-9713-C43AC793D144}"/>
              </a:ext>
            </a:extLst>
          </p:cNvPr>
          <p:cNvSpPr txBox="1">
            <a:spLocks/>
          </p:cNvSpPr>
          <p:nvPr/>
        </p:nvSpPr>
        <p:spPr>
          <a:xfrm>
            <a:off x="4911931" y="4200266"/>
            <a:ext cx="3724861" cy="910114"/>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5991" indent="-208360" defTabSz="685800" fontAlgn="auto">
              <a:spcBef>
                <a:spcPts val="750"/>
              </a:spcBef>
              <a:spcAft>
                <a:spcPts val="0"/>
              </a:spcAft>
              <a:defRPr/>
            </a:pPr>
            <a:r>
              <a:rPr lang="en-US" altLang="en-US" sz="2400" dirty="0">
                <a:solidFill>
                  <a:srgbClr val="C00000"/>
                </a:solidFill>
                <a:latin typeface="Calibri" panose="020F0502020204030204"/>
                <a:ea typeface="Gill Sans MT" panose="020B0502020104020203" pitchFamily="34" charset="77"/>
                <a:cs typeface="Gill Sans MT" panose="020B0502020104020203" pitchFamily="34" charset="77"/>
              </a:rPr>
              <a:t>marking: </a:t>
            </a: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which packets to mark to signal congestion (ECN, RED)</a:t>
            </a:r>
          </a:p>
          <a:p>
            <a:pPr marL="302419" indent="-292894" defTabSz="685800" fontAlgn="auto">
              <a:spcBef>
                <a:spcPts val="750"/>
              </a:spcBef>
              <a:spcAft>
                <a:spcPts val="0"/>
              </a:spcAft>
              <a:buNone/>
              <a:defRPr/>
            </a:pPr>
            <a:endPar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endParaRPr>
          </a:p>
        </p:txBody>
      </p:sp>
      <p:sp>
        <p:nvSpPr>
          <p:cNvPr id="66" name="TextBox 65">
            <a:extLst>
              <a:ext uri="{FF2B5EF4-FFF2-40B4-BE49-F238E27FC236}">
                <a16:creationId xmlns:a16="http://schemas.microsoft.com/office/drawing/2014/main" id="{3F4CC885-8054-8F48-8989-F712B0D1A976}"/>
              </a:ext>
            </a:extLst>
          </p:cNvPr>
          <p:cNvSpPr txBox="1"/>
          <p:nvPr/>
        </p:nvSpPr>
        <p:spPr>
          <a:xfrm>
            <a:off x="3640975" y="2640330"/>
            <a:ext cx="309700" cy="369332"/>
          </a:xfrm>
          <a:prstGeom prst="rect">
            <a:avLst/>
          </a:prstGeom>
          <a:noFill/>
        </p:spPr>
        <p:txBody>
          <a:bodyPr wrap="none" rtlCol="0">
            <a:spAutoFit/>
          </a:bodyPr>
          <a:lstStyle/>
          <a:p>
            <a:pPr defTabSz="685800" eaLnBrk="1" fontAlgn="auto" hangingPunct="1">
              <a:spcBef>
                <a:spcPts val="0"/>
              </a:spcBef>
              <a:spcAft>
                <a:spcPts val="0"/>
              </a:spcAft>
              <a:defRPr/>
            </a:pPr>
            <a:r>
              <a:rPr lang="en-US" dirty="0">
                <a:solidFill>
                  <a:prstClr val="black"/>
                </a:solidFill>
                <a:latin typeface="Calibri" panose="020F0502020204030204"/>
                <a:ea typeface="+mn-ea"/>
              </a:rPr>
              <a:t>R</a:t>
            </a:r>
          </a:p>
        </p:txBody>
      </p:sp>
      <p:grpSp>
        <p:nvGrpSpPr>
          <p:cNvPr id="70" name="Group 69">
            <a:extLst>
              <a:ext uri="{FF2B5EF4-FFF2-40B4-BE49-F238E27FC236}">
                <a16:creationId xmlns:a16="http://schemas.microsoft.com/office/drawing/2014/main" id="{073AFBDE-85D6-DF4F-AC50-8DAEBAB4402B}"/>
              </a:ext>
            </a:extLst>
          </p:cNvPr>
          <p:cNvGrpSpPr/>
          <p:nvPr/>
        </p:nvGrpSpPr>
        <p:grpSpPr>
          <a:xfrm>
            <a:off x="681203" y="4274953"/>
            <a:ext cx="3279576" cy="1292688"/>
            <a:chOff x="609012" y="4257679"/>
            <a:chExt cx="4372767" cy="1723584"/>
          </a:xfrm>
        </p:grpSpPr>
        <p:grpSp>
          <p:nvGrpSpPr>
            <p:cNvPr id="71" name="Group 70">
              <a:extLst>
                <a:ext uri="{FF2B5EF4-FFF2-40B4-BE49-F238E27FC236}">
                  <a16:creationId xmlns:a16="http://schemas.microsoft.com/office/drawing/2014/main" id="{2CDEC7D0-D38A-B14D-BA1B-5BBB43FFCC01}"/>
                </a:ext>
              </a:extLst>
            </p:cNvPr>
            <p:cNvGrpSpPr/>
            <p:nvPr/>
          </p:nvGrpSpPr>
          <p:grpSpPr>
            <a:xfrm>
              <a:off x="609012" y="4257679"/>
              <a:ext cx="4372767" cy="1723584"/>
              <a:chOff x="609012" y="4257679"/>
              <a:chExt cx="4372767" cy="1723584"/>
            </a:xfrm>
          </p:grpSpPr>
          <p:grpSp>
            <p:nvGrpSpPr>
              <p:cNvPr id="73" name="Group 25">
                <a:extLst>
                  <a:ext uri="{FF2B5EF4-FFF2-40B4-BE49-F238E27FC236}">
                    <a16:creationId xmlns:a16="http://schemas.microsoft.com/office/drawing/2014/main" id="{FE6D6529-7A75-4F43-A99B-35E9F160B5F3}"/>
                  </a:ext>
                </a:extLst>
              </p:cNvPr>
              <p:cNvGrpSpPr>
                <a:grpSpLocks/>
              </p:cNvGrpSpPr>
              <p:nvPr/>
            </p:nvGrpSpPr>
            <p:grpSpPr bwMode="auto">
              <a:xfrm>
                <a:off x="1468086" y="4855765"/>
                <a:ext cx="939800" cy="565150"/>
                <a:chOff x="1670312" y="2562997"/>
                <a:chExt cx="940317" cy="565219"/>
              </a:xfrm>
            </p:grpSpPr>
            <p:grpSp>
              <p:nvGrpSpPr>
                <p:cNvPr id="83" name="Group 28">
                  <a:extLst>
                    <a:ext uri="{FF2B5EF4-FFF2-40B4-BE49-F238E27FC236}">
                      <a16:creationId xmlns:a16="http://schemas.microsoft.com/office/drawing/2014/main" id="{02B7209E-6CC9-9C4C-89B8-A67F8E1E9FEB}"/>
                    </a:ext>
                  </a:extLst>
                </p:cNvPr>
                <p:cNvGrpSpPr>
                  <a:grpSpLocks/>
                </p:cNvGrpSpPr>
                <p:nvPr/>
              </p:nvGrpSpPr>
              <p:grpSpPr bwMode="auto">
                <a:xfrm>
                  <a:off x="1670312" y="2562997"/>
                  <a:ext cx="929822" cy="565219"/>
                  <a:chOff x="1670312" y="2562997"/>
                  <a:chExt cx="929822" cy="565219"/>
                </a:xfrm>
              </p:grpSpPr>
              <p:sp>
                <p:nvSpPr>
                  <p:cNvPr id="85" name="Rectangle 30">
                    <a:extLst>
                      <a:ext uri="{FF2B5EF4-FFF2-40B4-BE49-F238E27FC236}">
                        <a16:creationId xmlns:a16="http://schemas.microsoft.com/office/drawing/2014/main" id="{102A1B2D-9D16-2543-A7D1-261D2C71A845}"/>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cxnSp>
                <p:nvCxnSpPr>
                  <p:cNvPr id="86" name="Straight Connector 31">
                    <a:extLst>
                      <a:ext uri="{FF2B5EF4-FFF2-40B4-BE49-F238E27FC236}">
                        <a16:creationId xmlns:a16="http://schemas.microsoft.com/office/drawing/2014/main" id="{03AD5D40-7908-4044-9CAD-591F661655C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Straight Connector 32">
                    <a:extLst>
                      <a:ext uri="{FF2B5EF4-FFF2-40B4-BE49-F238E27FC236}">
                        <a16:creationId xmlns:a16="http://schemas.microsoft.com/office/drawing/2014/main" id="{494E554E-CB70-0547-8421-0D7A028BD933}"/>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Straight Connector 33">
                    <a:extLst>
                      <a:ext uri="{FF2B5EF4-FFF2-40B4-BE49-F238E27FC236}">
                        <a16:creationId xmlns:a16="http://schemas.microsoft.com/office/drawing/2014/main" id="{85A011C5-9EB7-B54C-AD8B-3660552BBB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Straight Connector 34">
                    <a:extLst>
                      <a:ext uri="{FF2B5EF4-FFF2-40B4-BE49-F238E27FC236}">
                        <a16:creationId xmlns:a16="http://schemas.microsoft.com/office/drawing/2014/main" id="{BE660910-036D-8449-BD07-43DD83740A9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Straight Connector 35">
                    <a:extLst>
                      <a:ext uri="{FF2B5EF4-FFF2-40B4-BE49-F238E27FC236}">
                        <a16:creationId xmlns:a16="http://schemas.microsoft.com/office/drawing/2014/main" id="{9D787DC4-0C12-1641-AF5A-00DF7041D95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Straight Connector 36">
                    <a:extLst>
                      <a:ext uri="{FF2B5EF4-FFF2-40B4-BE49-F238E27FC236}">
                        <a16:creationId xmlns:a16="http://schemas.microsoft.com/office/drawing/2014/main" id="{AA98298F-12EA-D942-AFB9-39CA8127980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Straight Connector 37">
                    <a:extLst>
                      <a:ext uri="{FF2B5EF4-FFF2-40B4-BE49-F238E27FC236}">
                        <a16:creationId xmlns:a16="http://schemas.microsoft.com/office/drawing/2014/main" id="{28C77B82-2F36-224F-BF89-5D58C0B0C510}"/>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 name="Rectangle 29">
                  <a:extLst>
                    <a:ext uri="{FF2B5EF4-FFF2-40B4-BE49-F238E27FC236}">
                      <a16:creationId xmlns:a16="http://schemas.microsoft.com/office/drawing/2014/main" id="{54C06F40-EED0-194E-87D3-8843B65B486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grpSp>
          <p:sp>
            <p:nvSpPr>
              <p:cNvPr id="74" name="Oval 27">
                <a:extLst>
                  <a:ext uri="{FF2B5EF4-FFF2-40B4-BE49-F238E27FC236}">
                    <a16:creationId xmlns:a16="http://schemas.microsoft.com/office/drawing/2014/main" id="{88894E86-5D38-724F-AEB2-14B330E1B0FF}"/>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a:solidFill>
                    <a:prstClr val="black"/>
                  </a:solidFill>
                </a:endParaRPr>
              </a:p>
            </p:txBody>
          </p:sp>
          <p:cxnSp>
            <p:nvCxnSpPr>
              <p:cNvPr id="75" name="Straight Arrow Connector 11">
                <a:extLst>
                  <a:ext uri="{FF2B5EF4-FFF2-40B4-BE49-F238E27FC236}">
                    <a16:creationId xmlns:a16="http://schemas.microsoft.com/office/drawing/2014/main" id="{7774AB2A-B674-A84B-A92A-6D330DB7E91C}"/>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TextBox 17">
                <a:extLst>
                  <a:ext uri="{FF2B5EF4-FFF2-40B4-BE49-F238E27FC236}">
                    <a16:creationId xmlns:a16="http://schemas.microsoft.com/office/drawing/2014/main" id="{383BCE6D-C3CB-9445-A36E-C64D23505E9F}"/>
                  </a:ext>
                </a:extLst>
              </p:cNvPr>
              <p:cNvSpPr txBox="1">
                <a:spLocks noChangeArrowheads="1"/>
              </p:cNvSpPr>
              <p:nvPr/>
            </p:nvSpPr>
            <p:spPr bwMode="auto">
              <a:xfrm>
                <a:off x="1249738" y="5422502"/>
                <a:ext cx="1338401"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050" dirty="0">
                    <a:solidFill>
                      <a:prstClr val="black"/>
                    </a:solidFill>
                    <a:cs typeface="Arial" panose="020B0604020202020204" pitchFamily="34" charset="0"/>
                  </a:rPr>
                  <a:t>queue</a:t>
                </a:r>
              </a:p>
              <a:p>
                <a:pPr algn="ctr" defTabSz="685800" eaLnBrk="1" fontAlgn="auto" hangingPunct="1">
                  <a:spcBef>
                    <a:spcPts val="0"/>
                  </a:spcBef>
                  <a:spcAft>
                    <a:spcPts val="0"/>
                  </a:spcAft>
                  <a:defRPr/>
                </a:pPr>
                <a:r>
                  <a:rPr lang="en-US" altLang="en-US" sz="1050" dirty="0">
                    <a:solidFill>
                      <a:prstClr val="black"/>
                    </a:solidFill>
                    <a:cs typeface="Arial" panose="020B0604020202020204" pitchFamily="34" charset="0"/>
                  </a:rPr>
                  <a:t>(waiting area)</a:t>
                </a:r>
              </a:p>
            </p:txBody>
          </p:sp>
          <p:sp>
            <p:nvSpPr>
              <p:cNvPr id="77" name="TextBox 18">
                <a:extLst>
                  <a:ext uri="{FF2B5EF4-FFF2-40B4-BE49-F238E27FC236}">
                    <a16:creationId xmlns:a16="http://schemas.microsoft.com/office/drawing/2014/main" id="{B9632A3F-08F4-F34D-9B01-65C1C39E7FDA}"/>
                  </a:ext>
                </a:extLst>
              </p:cNvPr>
              <p:cNvSpPr txBox="1">
                <a:spLocks noChangeArrowheads="1"/>
              </p:cNvSpPr>
              <p:nvPr/>
            </p:nvSpPr>
            <p:spPr bwMode="auto">
              <a:xfrm>
                <a:off x="609012" y="5182790"/>
                <a:ext cx="827579"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050">
                    <a:solidFill>
                      <a:prstClr val="black"/>
                    </a:solidFill>
                    <a:cs typeface="Arial" panose="020B0604020202020204" pitchFamily="34" charset="0"/>
                  </a:rPr>
                  <a:t>packet</a:t>
                </a:r>
              </a:p>
              <a:p>
                <a:pPr algn="ctr" defTabSz="685800" eaLnBrk="1" fontAlgn="auto" hangingPunct="1">
                  <a:spcBef>
                    <a:spcPts val="0"/>
                  </a:spcBef>
                  <a:spcAft>
                    <a:spcPts val="0"/>
                  </a:spcAft>
                  <a:defRPr/>
                </a:pPr>
                <a:r>
                  <a:rPr lang="en-US" altLang="en-US" sz="1050">
                    <a:solidFill>
                      <a:prstClr val="black"/>
                    </a:solidFill>
                    <a:cs typeface="Arial" panose="020B0604020202020204" pitchFamily="34" charset="0"/>
                  </a:rPr>
                  <a:t>arrivals</a:t>
                </a:r>
              </a:p>
            </p:txBody>
          </p:sp>
          <p:cxnSp>
            <p:nvCxnSpPr>
              <p:cNvPr id="78" name="Straight Arrow Connector 20">
                <a:extLst>
                  <a:ext uri="{FF2B5EF4-FFF2-40B4-BE49-F238E27FC236}">
                    <a16:creationId xmlns:a16="http://schemas.microsoft.com/office/drawing/2014/main" id="{A18FE320-429D-9F4A-9A73-5875C7A7E138}"/>
                  </a:ext>
                </a:extLst>
              </p:cNvPr>
              <p:cNvCxnSpPr>
                <a:cxnSpLocks noChangeShapeType="1"/>
                <a:stCxn id="74"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Box 22">
                <a:extLst>
                  <a:ext uri="{FF2B5EF4-FFF2-40B4-BE49-F238E27FC236}">
                    <a16:creationId xmlns:a16="http://schemas.microsoft.com/office/drawing/2014/main" id="{C1334E5E-01E5-254F-B7A3-E48EE0CFE51A}"/>
                  </a:ext>
                </a:extLst>
              </p:cNvPr>
              <p:cNvSpPr txBox="1">
                <a:spLocks noChangeArrowheads="1"/>
              </p:cNvSpPr>
              <p:nvPr/>
            </p:nvSpPr>
            <p:spPr bwMode="auto">
              <a:xfrm>
                <a:off x="3874210" y="4931966"/>
                <a:ext cx="1107569"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050" dirty="0">
                    <a:solidFill>
                      <a:prstClr val="black"/>
                    </a:solidFill>
                    <a:cs typeface="Arial" panose="020B0604020202020204" pitchFamily="34" charset="0"/>
                  </a:rPr>
                  <a:t>packet</a:t>
                </a:r>
              </a:p>
              <a:p>
                <a:pPr algn="ctr" defTabSz="685800" eaLnBrk="1" fontAlgn="auto" hangingPunct="1">
                  <a:spcBef>
                    <a:spcPts val="0"/>
                  </a:spcBef>
                  <a:spcAft>
                    <a:spcPts val="0"/>
                  </a:spcAft>
                  <a:defRPr/>
                </a:pPr>
                <a:r>
                  <a:rPr lang="en-US" altLang="en-US" sz="1050" dirty="0">
                    <a:solidFill>
                      <a:prstClr val="black"/>
                    </a:solidFill>
                    <a:cs typeface="Arial" panose="020B0604020202020204" pitchFamily="34" charset="0"/>
                  </a:rPr>
                  <a:t>departures</a:t>
                </a:r>
              </a:p>
            </p:txBody>
          </p:sp>
          <p:sp>
            <p:nvSpPr>
              <p:cNvPr id="80" name="TextBox 23">
                <a:extLst>
                  <a:ext uri="{FF2B5EF4-FFF2-40B4-BE49-F238E27FC236}">
                    <a16:creationId xmlns:a16="http://schemas.microsoft.com/office/drawing/2014/main" id="{31BC3B67-5DA1-9544-B795-15A9B552C119}"/>
                  </a:ext>
                </a:extLst>
              </p:cNvPr>
              <p:cNvSpPr txBox="1">
                <a:spLocks noChangeArrowheads="1"/>
              </p:cNvSpPr>
              <p:nvPr/>
            </p:nvSpPr>
            <p:spPr bwMode="auto">
              <a:xfrm>
                <a:off x="2684436" y="5427266"/>
                <a:ext cx="915208"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050" dirty="0">
                    <a:solidFill>
                      <a:prstClr val="black"/>
                    </a:solidFill>
                    <a:cs typeface="Arial" panose="020B0604020202020204" pitchFamily="34" charset="0"/>
                  </a:rPr>
                  <a:t>link</a:t>
                </a:r>
              </a:p>
              <a:p>
                <a:pPr algn="ctr" defTabSz="685800" eaLnBrk="1" fontAlgn="auto" hangingPunct="1">
                  <a:spcBef>
                    <a:spcPts val="0"/>
                  </a:spcBef>
                  <a:spcAft>
                    <a:spcPts val="0"/>
                  </a:spcAft>
                  <a:defRPr/>
                </a:pPr>
                <a:r>
                  <a:rPr lang="en-US" altLang="en-US" sz="1050" dirty="0">
                    <a:solidFill>
                      <a:prstClr val="black"/>
                    </a:solidFill>
                    <a:cs typeface="Arial" panose="020B0604020202020204" pitchFamily="34" charset="0"/>
                  </a:rPr>
                  <a:t> (server)</a:t>
                </a:r>
              </a:p>
            </p:txBody>
          </p:sp>
          <p:cxnSp>
            <p:nvCxnSpPr>
              <p:cNvPr id="81" name="Straight Arrow Connector 52">
                <a:extLst>
                  <a:ext uri="{FF2B5EF4-FFF2-40B4-BE49-F238E27FC236}">
                    <a16:creationId xmlns:a16="http://schemas.microsoft.com/office/drawing/2014/main" id="{8FF19B42-73E6-7849-809B-12D65C1C5785}"/>
                  </a:ext>
                </a:extLst>
              </p:cNvPr>
              <p:cNvCxnSpPr>
                <a:cxnSpLocks noChangeShapeType="1"/>
                <a:stCxn id="84" idx="3"/>
                <a:endCxn id="74"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Box 81">
                <a:extLst>
                  <a:ext uri="{FF2B5EF4-FFF2-40B4-BE49-F238E27FC236}">
                    <a16:creationId xmlns:a16="http://schemas.microsoft.com/office/drawing/2014/main" id="{944E60FD-B5CB-CC4D-AC70-2DCAC39480B1}"/>
                  </a:ext>
                </a:extLst>
              </p:cNvPr>
              <p:cNvSpPr txBox="1"/>
              <p:nvPr/>
            </p:nvSpPr>
            <p:spPr>
              <a:xfrm>
                <a:off x="614363" y="4257679"/>
                <a:ext cx="2868393" cy="553997"/>
              </a:xfrm>
              <a:prstGeom prst="rect">
                <a:avLst/>
              </a:prstGeom>
              <a:noFill/>
            </p:spPr>
            <p:txBody>
              <a:bodyPr wrap="none" rtlCol="0">
                <a:spAutoFit/>
              </a:bodyPr>
              <a:lstStyle/>
              <a:p>
                <a:pPr defTabSz="685800" eaLnBrk="1" fontAlgn="auto" hangingPunct="1">
                  <a:spcBef>
                    <a:spcPts val="0"/>
                  </a:spcBef>
                  <a:spcAft>
                    <a:spcPts val="0"/>
                  </a:spcAft>
                  <a:defRPr/>
                </a:pPr>
                <a:r>
                  <a:rPr lang="en-US" sz="2100" dirty="0">
                    <a:solidFill>
                      <a:prstClr val="black"/>
                    </a:solidFill>
                    <a:latin typeface="Calibri" panose="020F0502020204030204"/>
                    <a:ea typeface="+mn-ea"/>
                  </a:rPr>
                  <a:t>Abstraction</a:t>
                </a:r>
                <a:r>
                  <a:rPr lang="en-US" dirty="0">
                    <a:solidFill>
                      <a:prstClr val="black"/>
                    </a:solidFill>
                    <a:latin typeface="Calibri" panose="020F0502020204030204"/>
                    <a:ea typeface="+mn-ea"/>
                  </a:rPr>
                  <a:t>: queue</a:t>
                </a:r>
              </a:p>
            </p:txBody>
          </p:sp>
        </p:grpSp>
        <p:sp>
          <p:nvSpPr>
            <p:cNvPr id="72" name="TextBox 71">
              <a:extLst>
                <a:ext uri="{FF2B5EF4-FFF2-40B4-BE49-F238E27FC236}">
                  <a16:creationId xmlns:a16="http://schemas.microsoft.com/office/drawing/2014/main" id="{685E3C43-4CAD-2D4C-9E17-3A20CAFBD251}"/>
                </a:ext>
              </a:extLst>
            </p:cNvPr>
            <p:cNvSpPr txBox="1"/>
            <p:nvPr/>
          </p:nvSpPr>
          <p:spPr>
            <a:xfrm>
              <a:off x="2978727" y="4907280"/>
              <a:ext cx="412933" cy="492443"/>
            </a:xfrm>
            <a:prstGeom prst="rect">
              <a:avLst/>
            </a:prstGeom>
            <a:noFill/>
          </p:spPr>
          <p:txBody>
            <a:bodyPr wrap="none" rtlCol="0">
              <a:spAutoFit/>
            </a:bodyPr>
            <a:lstStyle/>
            <a:p>
              <a:pPr defTabSz="685800" eaLnBrk="1" fontAlgn="auto" hangingPunct="1">
                <a:spcBef>
                  <a:spcPts val="0"/>
                </a:spcBef>
                <a:spcAft>
                  <a:spcPts val="0"/>
                </a:spcAft>
                <a:defRPr/>
              </a:pPr>
              <a:r>
                <a:rPr lang="en-US" dirty="0">
                  <a:solidFill>
                    <a:prstClr val="black"/>
                  </a:solidFill>
                  <a:latin typeface="Calibri" panose="020F0502020204030204"/>
                  <a:ea typeface="+mn-ea"/>
                </a:rPr>
                <a:t>R</a:t>
              </a:r>
            </a:p>
          </p:txBody>
        </p:sp>
      </p:grpSp>
      <p:sp>
        <p:nvSpPr>
          <p:cNvPr id="59" name="Slide Number Placeholder 4">
            <a:extLst>
              <a:ext uri="{FF2B5EF4-FFF2-40B4-BE49-F238E27FC236}">
                <a16:creationId xmlns:a16="http://schemas.microsoft.com/office/drawing/2014/main" id="{778C1AFB-D815-9341-BB0F-77D13777523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42</a:t>
            </a:fld>
            <a:endParaRPr lang="en-US" dirty="0"/>
          </a:p>
        </p:txBody>
      </p:sp>
      <p:sp>
        <p:nvSpPr>
          <p:cNvPr id="5" name="Slide Number Placeholder 5">
            <a:extLst>
              <a:ext uri="{FF2B5EF4-FFF2-40B4-BE49-F238E27FC236}">
                <a16:creationId xmlns:a16="http://schemas.microsoft.com/office/drawing/2014/main" id="{BF139652-CDFA-A2FB-E770-FAAA6B262325}"/>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F19F5014-777E-4341-A991-5CAC975415B3}" type="slidenum">
              <a:rPr lang="en-US" altLang="en-US">
                <a:latin typeface="Tahoma" panose="020B0604030504040204" pitchFamily="34" charset="0"/>
              </a:rPr>
              <a:pPr/>
              <a:t>42</a:t>
            </a:fld>
            <a:endParaRPr lang="en-US" altLang="en-US" dirty="0">
              <a:latin typeface="Tahoma" panose="020B0604030504040204" pitchFamily="34" charset="0"/>
            </a:endParaRPr>
          </a:p>
        </p:txBody>
      </p:sp>
    </p:spTree>
    <p:extLst>
      <p:ext uri="{BB962C8B-B14F-4D97-AF65-F5344CB8AC3E}">
        <p14:creationId xmlns:p14="http://schemas.microsoft.com/office/powerpoint/2010/main" val="345883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dissolve">
                                      <p:cBhvr>
                                        <p:cTn id="1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6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descr="underline_base">
            <a:extLst>
              <a:ext uri="{FF2B5EF4-FFF2-40B4-BE49-F238E27FC236}">
                <a16:creationId xmlns:a16="http://schemas.microsoft.com/office/drawing/2014/main" id="{0878070F-4D43-1A49-8621-6FFAEEFAE2E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3"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Rectangle 3">
            <a:extLst>
              <a:ext uri="{FF2B5EF4-FFF2-40B4-BE49-F238E27FC236}">
                <a16:creationId xmlns:a16="http://schemas.microsoft.com/office/drawing/2014/main" id="{AD227180-0C5F-884B-98AB-FE17CA905134}"/>
              </a:ext>
            </a:extLst>
          </p:cNvPr>
          <p:cNvSpPr>
            <a:spLocks noGrp="1" noChangeArrowheads="1"/>
          </p:cNvSpPr>
          <p:nvPr>
            <p:ph type="body" sz="half" idx="1"/>
          </p:nvPr>
        </p:nvSpPr>
        <p:spPr>
          <a:xfrm>
            <a:off x="380320" y="1198563"/>
            <a:ext cx="5657335" cy="4983480"/>
          </a:xfrm>
        </p:spPr>
        <p:txBody>
          <a:bodyPr/>
          <a:lstStyle/>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4.1 Overview of Network layer</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 plane</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control plane</a:t>
            </a:r>
          </a:p>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4.2 What</a:t>
            </a:r>
            <a:r>
              <a:rPr lang="ja-JP" altLang="en-US" sz="2400" dirty="0">
                <a:ea typeface="ＭＳ Ｐゴシック" panose="020B0600070205080204" pitchFamily="34" charset="-128"/>
                <a:cs typeface="ＭＳ Ｐゴシック" panose="020B0600070205080204" pitchFamily="34" charset="-128"/>
              </a:rPr>
              <a:t>’</a:t>
            </a:r>
            <a:r>
              <a:rPr lang="en-US" altLang="ja-JP" sz="2400" dirty="0">
                <a:ea typeface="ＭＳ Ｐゴシック" panose="020B0600070205080204" pitchFamily="34" charset="-128"/>
                <a:cs typeface="ＭＳ Ｐゴシック" panose="020B0600070205080204" pitchFamily="34" charset="-128"/>
              </a:rPr>
              <a:t>s inside a router</a:t>
            </a:r>
          </a:p>
          <a:p>
            <a:pPr>
              <a:buNone/>
            </a:pPr>
            <a:r>
              <a:rPr lang="en-US" altLang="ja-JP" sz="2400" dirty="0">
                <a:ea typeface="ＭＳ Ｐゴシック" panose="020B0600070205080204" pitchFamily="34" charset="-128"/>
                <a:cs typeface="Arial" panose="020B0604020202020204" pitchFamily="34" charset="0"/>
              </a:rPr>
              <a:t>   input ports, switching, output ports</a:t>
            </a:r>
          </a:p>
          <a:p>
            <a:pPr>
              <a:buNone/>
            </a:pPr>
            <a:r>
              <a:rPr lang="en-US" altLang="ja-JP" sz="2400" dirty="0">
                <a:ea typeface="ＭＳ Ｐゴシック" panose="020B0600070205080204" pitchFamily="34" charset="-128"/>
                <a:cs typeface="Arial" panose="020B0604020202020204" pitchFamily="34" charset="0"/>
              </a:rPr>
              <a:t>   buffer management, scheduling</a:t>
            </a:r>
          </a:p>
          <a:p>
            <a:pPr>
              <a:buFont typeface="Wingdings" pitchFamily="2" charset="2"/>
              <a:buNone/>
            </a:pPr>
            <a:r>
              <a:rPr lang="en-US" altLang="en-US" sz="2400" dirty="0">
                <a:solidFill>
                  <a:srgbClr val="CC0000"/>
                </a:solidFill>
                <a:ea typeface="ＭＳ Ｐゴシック" panose="020B0600070205080204" pitchFamily="34" charset="-128"/>
                <a:cs typeface="ＭＳ Ｐゴシック" panose="020B0600070205080204" pitchFamily="34" charset="-128"/>
              </a:rPr>
              <a:t>4.3 IP: Internet Protocol</a:t>
            </a:r>
          </a:p>
          <a:p>
            <a:pPr lvl="1"/>
            <a:r>
              <a:rPr lang="en-US" altLang="en-US" dirty="0">
                <a:solidFill>
                  <a:srgbClr val="CC0000"/>
                </a:solidFill>
                <a:latin typeface="Gill Sans MT" panose="020B0502020104020203" pitchFamily="34" charset="77"/>
                <a:ea typeface="ＭＳ Ｐゴシック" panose="020B0600070205080204" pitchFamily="34" charset="-128"/>
                <a:cs typeface="Gill Sans MT" panose="020B0502020104020203" pitchFamily="34" charset="77"/>
              </a:rPr>
              <a:t>datagram format</a:t>
            </a:r>
          </a:p>
          <a:p>
            <a:pPr lvl="1"/>
            <a:r>
              <a:rPr lang="en-US" altLang="en-US" dirty="0">
                <a:solidFill>
                  <a:srgbClr val="CC0000"/>
                </a:solidFill>
                <a:latin typeface="Gill Sans MT" panose="020B0502020104020203" pitchFamily="34" charset="77"/>
                <a:ea typeface="ＭＳ Ｐゴシック" panose="020B0600070205080204" pitchFamily="34" charset="-128"/>
                <a:cs typeface="Gill Sans MT" panose="020B0502020104020203" pitchFamily="34" charset="77"/>
              </a:rPr>
              <a:t>fragmentation</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IPv4 addressing</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network address translation (NAT)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IPv6</a:t>
            </a:r>
          </a:p>
          <a:p>
            <a:pPr marL="0" indent="0">
              <a:buNone/>
            </a:pPr>
            <a:r>
              <a:rPr lang="en-MY" sz="2400" dirty="0">
                <a:latin typeface="Gill Sans MT" panose="020B0502020104020203" pitchFamily="34" charset="77"/>
                <a:ea typeface="ＭＳ Ｐゴシック" panose="020B0600070205080204" pitchFamily="34" charset="-128"/>
              </a:rPr>
              <a:t>4.4 Generalized Forwarding and SDN</a:t>
            </a:r>
          </a:p>
          <a:p>
            <a:pPr lvl="1">
              <a:spcBef>
                <a:spcPts val="0"/>
              </a:spcBef>
            </a:pPr>
            <a:r>
              <a:rPr lang="en-US" altLang="en-US" sz="2400" dirty="0" err="1">
                <a:ea typeface="ＭＳ Ｐゴシック" panose="020B0600070205080204" pitchFamily="34" charset="-128"/>
              </a:rPr>
              <a:t>Match+action</a:t>
            </a:r>
            <a:endParaRPr lang="en-US" altLang="en-US" sz="2400" dirty="0">
              <a:ea typeface="ＭＳ Ｐゴシック" panose="020B0600070205080204" pitchFamily="34" charset="-128"/>
            </a:endParaRPr>
          </a:p>
          <a:p>
            <a:pPr lvl="1">
              <a:spcBef>
                <a:spcPts val="0"/>
              </a:spcBef>
            </a:pPr>
            <a:r>
              <a:rPr lang="en-US" altLang="en-US" sz="2400" dirty="0">
                <a:ea typeface="ＭＳ Ｐゴシック" panose="020B0600070205080204" pitchFamily="34" charset="-128"/>
              </a:rPr>
              <a:t>OpenFlow: </a:t>
            </a:r>
            <a:r>
              <a:rPr lang="en-US" altLang="en-US" sz="2400" dirty="0" err="1">
                <a:ea typeface="ＭＳ Ｐゴシック" panose="020B0600070205080204" pitchFamily="34" charset="-128"/>
              </a:rPr>
              <a:t>match+action</a:t>
            </a:r>
            <a:r>
              <a:rPr lang="en-US" altLang="en-US" sz="2400" dirty="0">
                <a:ea typeface="ＭＳ Ｐゴシック" panose="020B0600070205080204" pitchFamily="34" charset="-128"/>
              </a:rPr>
              <a:t> in action</a:t>
            </a:r>
          </a:p>
          <a:p>
            <a:pPr marL="0" indent="0">
              <a:buNone/>
            </a:pPr>
            <a:endParaRPr lang="en-US" altLang="en-US" sz="2400" dirty="0">
              <a:latin typeface="Gill Sans MT" panose="020B0502020104020203" pitchFamily="34" charset="77"/>
              <a:ea typeface="ＭＳ Ｐゴシック" panose="020B0600070205080204" pitchFamily="34" charset="-128"/>
            </a:endParaRPr>
          </a:p>
        </p:txBody>
      </p:sp>
      <p:sp>
        <p:nvSpPr>
          <p:cNvPr id="68613" name="Rectangle 2">
            <a:extLst>
              <a:ext uri="{FF2B5EF4-FFF2-40B4-BE49-F238E27FC236}">
                <a16:creationId xmlns:a16="http://schemas.microsoft.com/office/drawing/2014/main" id="{B990EB2C-ED4C-914C-B4CF-9BB4ED8A3434}"/>
              </a:ext>
            </a:extLst>
          </p:cNvPr>
          <p:cNvSpPr>
            <a:spLocks noChangeArrowheads="1"/>
          </p:cNvSpPr>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dirty="0">
                <a:solidFill>
                  <a:srgbClr val="000099"/>
                </a:solidFill>
                <a:latin typeface="Gill Sans MT" panose="020B0502020104020203" pitchFamily="34" charset="77"/>
              </a:rPr>
              <a:t>Chapter 4: data plane</a:t>
            </a:r>
          </a:p>
        </p:txBody>
      </p:sp>
      <p:sp>
        <p:nvSpPr>
          <p:cNvPr id="68614" name="Slide Number Placeholder 5">
            <a:extLst>
              <a:ext uri="{FF2B5EF4-FFF2-40B4-BE49-F238E27FC236}">
                <a16:creationId xmlns:a16="http://schemas.microsoft.com/office/drawing/2014/main" id="{9DC56AF1-87B0-E447-BFCC-8C5069978254}"/>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6DA9F379-1BED-CF43-8AF3-1CB09B7D8626}" type="slidenum">
              <a:rPr lang="en-US" altLang="en-US">
                <a:latin typeface="Tahoma" panose="020B0604030504040204" pitchFamily="34" charset="0"/>
              </a:rPr>
              <a:pPr/>
              <a:t>43</a:t>
            </a:fld>
            <a:endParaRPr lang="en-US" altLang="en-US">
              <a:latin typeface="Tahoma" panose="020B0604030504040204" pitchFamily="34" charset="0"/>
            </a:endParaRPr>
          </a:p>
        </p:txBody>
      </p:sp>
      <p:sp>
        <p:nvSpPr>
          <p:cNvPr id="68615" name="Footer Placeholder 2">
            <a:extLst>
              <a:ext uri="{FF2B5EF4-FFF2-40B4-BE49-F238E27FC236}">
                <a16:creationId xmlns:a16="http://schemas.microsoft.com/office/drawing/2014/main" id="{3299CCB6-45A7-B24B-8DA1-AFB2FEB8D1DD}"/>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pic>
        <p:nvPicPr>
          <p:cNvPr id="7" name="Picture 6" descr="A picture containing outdoor, water, bridge, building&#10;&#10;Description automatically generated">
            <a:extLst>
              <a:ext uri="{FF2B5EF4-FFF2-40B4-BE49-F238E27FC236}">
                <a16:creationId xmlns:a16="http://schemas.microsoft.com/office/drawing/2014/main" id="{37F5E0E6-9D4B-B34E-BC00-E60CE3FB8AA1}"/>
              </a:ext>
            </a:extLst>
          </p:cNvPr>
          <p:cNvPicPr>
            <a:picLocks noChangeAspect="1"/>
          </p:cNvPicPr>
          <p:nvPr/>
        </p:nvPicPr>
        <p:blipFill>
          <a:blip r:embed="rId3"/>
          <a:stretch>
            <a:fillRect/>
          </a:stretch>
        </p:blipFill>
        <p:spPr>
          <a:xfrm>
            <a:off x="5748338" y="488723"/>
            <a:ext cx="3040743" cy="380092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628650" y="682484"/>
            <a:ext cx="7886700" cy="670967"/>
          </a:xfrm>
        </p:spPr>
        <p:txBody>
          <a:bodyPr/>
          <a:lstStyle/>
          <a:p>
            <a:r>
              <a:rPr lang="en-US" dirty="0">
                <a:ea typeface="ＭＳ Ｐゴシック" panose="020B0600070205080204" pitchFamily="34" charset="-128"/>
              </a:rPr>
              <a:t>Network Layer: Internet</a:t>
            </a:r>
            <a:endParaRPr lang="en-US" dirty="0"/>
          </a:p>
        </p:txBody>
      </p:sp>
      <p:sp>
        <p:nvSpPr>
          <p:cNvPr id="42" name="Rectangle 3">
            <a:extLst>
              <a:ext uri="{FF2B5EF4-FFF2-40B4-BE49-F238E27FC236}">
                <a16:creationId xmlns:a16="http://schemas.microsoft.com/office/drawing/2014/main" id="{54249E09-2CB1-514A-AC5F-40ADE00A2799}"/>
              </a:ext>
            </a:extLst>
          </p:cNvPr>
          <p:cNvSpPr>
            <a:spLocks noChangeArrowheads="1"/>
          </p:cNvSpPr>
          <p:nvPr/>
        </p:nvSpPr>
        <p:spPr bwMode="auto">
          <a:xfrm>
            <a:off x="2352988" y="2518914"/>
            <a:ext cx="5528091" cy="3057525"/>
          </a:xfrm>
          <a:prstGeom prst="rect">
            <a:avLst/>
          </a:prstGeom>
          <a:solidFill>
            <a:srgbClr val="FFFFFF"/>
          </a:solidFill>
          <a:ln w="19050">
            <a:solidFill>
              <a:srgbClr val="000000"/>
            </a:solidFill>
            <a:miter lim="800000"/>
            <a:headEnd/>
            <a:tailEnd/>
          </a:ln>
          <a:effectLst>
            <a:outerShdw blurRad="1651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500" kern="0" dirty="0">
              <a:solidFill>
                <a:srgbClr val="000000"/>
              </a:solidFill>
              <a:latin typeface="Calibri" panose="020F0502020204030204"/>
            </a:endParaRPr>
          </a:p>
        </p:txBody>
      </p:sp>
      <p:sp>
        <p:nvSpPr>
          <p:cNvPr id="53" name="Rectangle 16">
            <a:extLst>
              <a:ext uri="{FF2B5EF4-FFF2-40B4-BE49-F238E27FC236}">
                <a16:creationId xmlns:a16="http://schemas.microsoft.com/office/drawing/2014/main" id="{B180F0D6-1F8C-804C-9B7D-8CC6486CAF5D}"/>
              </a:ext>
            </a:extLst>
          </p:cNvPr>
          <p:cNvSpPr txBox="1">
            <a:spLocks noChangeArrowheads="1"/>
          </p:cNvSpPr>
          <p:nvPr/>
        </p:nvSpPr>
        <p:spPr bwMode="auto">
          <a:xfrm>
            <a:off x="666439" y="1917668"/>
            <a:ext cx="5650706"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57175" indent="-257175" defTabSz="685800">
              <a:buNone/>
              <a:defRPr/>
            </a:pPr>
            <a:r>
              <a:rPr lang="en-US" sz="2400" kern="0" dirty="0">
                <a:solidFill>
                  <a:srgbClr val="000000"/>
                </a:solidFill>
                <a:latin typeface="Calibri" panose="020F0502020204030204"/>
                <a:cs typeface="+mn-cs"/>
              </a:rPr>
              <a:t>host, router network layer functions:</a:t>
            </a:r>
          </a:p>
        </p:txBody>
      </p:sp>
      <p:sp>
        <p:nvSpPr>
          <p:cNvPr id="54" name="Line 17">
            <a:extLst>
              <a:ext uri="{FF2B5EF4-FFF2-40B4-BE49-F238E27FC236}">
                <a16:creationId xmlns:a16="http://schemas.microsoft.com/office/drawing/2014/main" id="{C662B522-B91B-764B-B1C6-707D227F7B4D}"/>
              </a:ext>
            </a:extLst>
          </p:cNvPr>
          <p:cNvSpPr>
            <a:spLocks noChangeShapeType="1"/>
          </p:cNvSpPr>
          <p:nvPr/>
        </p:nvSpPr>
        <p:spPr bwMode="auto">
          <a:xfrm flipV="1">
            <a:off x="2345845" y="5183746"/>
            <a:ext cx="5546477" cy="812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sp>
        <p:nvSpPr>
          <p:cNvPr id="55" name="Line 18">
            <a:extLst>
              <a:ext uri="{FF2B5EF4-FFF2-40B4-BE49-F238E27FC236}">
                <a16:creationId xmlns:a16="http://schemas.microsoft.com/office/drawing/2014/main" id="{FF84D1AE-B7A3-194D-8C60-F60894071514}"/>
              </a:ext>
            </a:extLst>
          </p:cNvPr>
          <p:cNvSpPr>
            <a:spLocks noChangeShapeType="1"/>
          </p:cNvSpPr>
          <p:nvPr/>
        </p:nvSpPr>
        <p:spPr bwMode="auto">
          <a:xfrm flipV="1">
            <a:off x="2367275" y="4790895"/>
            <a:ext cx="5525046" cy="806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grpSp>
        <p:nvGrpSpPr>
          <p:cNvPr id="60" name="Group 24">
            <a:extLst>
              <a:ext uri="{FF2B5EF4-FFF2-40B4-BE49-F238E27FC236}">
                <a16:creationId xmlns:a16="http://schemas.microsoft.com/office/drawing/2014/main" id="{5EB605D2-4BE6-F84E-ADE0-AB4D2A7BF140}"/>
              </a:ext>
            </a:extLst>
          </p:cNvPr>
          <p:cNvGrpSpPr>
            <a:grpSpLocks/>
          </p:cNvGrpSpPr>
          <p:nvPr/>
        </p:nvGrpSpPr>
        <p:grpSpPr bwMode="auto">
          <a:xfrm>
            <a:off x="5388502" y="3053186"/>
            <a:ext cx="2364583" cy="960835"/>
            <a:chOff x="102" y="1294"/>
            <a:chExt cx="1986" cy="807"/>
          </a:xfrm>
        </p:grpSpPr>
        <p:sp>
          <p:nvSpPr>
            <p:cNvPr id="62" name="Rectangle 26">
              <a:extLst>
                <a:ext uri="{FF2B5EF4-FFF2-40B4-BE49-F238E27FC236}">
                  <a16:creationId xmlns:a16="http://schemas.microsoft.com/office/drawing/2014/main" id="{2EDD264A-A709-3A4C-A00D-67F984963850}"/>
                </a:ext>
              </a:extLst>
            </p:cNvPr>
            <p:cNvSpPr>
              <a:spLocks noChangeArrowheads="1"/>
            </p:cNvSpPr>
            <p:nvPr/>
          </p:nvSpPr>
          <p:spPr bwMode="auto">
            <a:xfrm>
              <a:off x="102" y="1314"/>
              <a:ext cx="1976" cy="784"/>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500" kern="0" dirty="0">
                <a:solidFill>
                  <a:srgbClr val="000000"/>
                </a:solidFill>
                <a:latin typeface="Calibri" panose="020F0502020204030204"/>
              </a:endParaRPr>
            </a:p>
          </p:txBody>
        </p:sp>
        <p:sp>
          <p:nvSpPr>
            <p:cNvPr id="63" name="Text Box 27">
              <a:extLst>
                <a:ext uri="{FF2B5EF4-FFF2-40B4-BE49-F238E27FC236}">
                  <a16:creationId xmlns:a16="http://schemas.microsoft.com/office/drawing/2014/main" id="{0296BAAF-C3F3-6D4C-8BEA-A71228A41980}"/>
                </a:ext>
              </a:extLst>
            </p:cNvPr>
            <p:cNvSpPr txBox="1">
              <a:spLocks noChangeArrowheads="1"/>
            </p:cNvSpPr>
            <p:nvPr/>
          </p:nvSpPr>
          <p:spPr bwMode="auto">
            <a:xfrm>
              <a:off x="131" y="1294"/>
              <a:ext cx="1957" cy="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800" i="1" kern="0" dirty="0">
                  <a:solidFill>
                    <a:srgbClr val="CC0000"/>
                  </a:solidFill>
                  <a:latin typeface="Calibri" panose="020F0502020204030204"/>
                </a:rPr>
                <a:t>IP protocol</a:t>
              </a:r>
              <a:endParaRPr lang="en-US" altLang="en-US" sz="1350" kern="0" dirty="0">
                <a:solidFill>
                  <a:srgbClr val="000000"/>
                </a:solidFill>
                <a:latin typeface="Calibri" panose="020F0502020204030204"/>
              </a:endParaRPr>
            </a:p>
            <a:p>
              <a:pPr defTabSz="685800">
                <a:lnSpc>
                  <a:spcPct val="95000"/>
                </a:lnSpc>
                <a:buClr>
                  <a:srgbClr val="0000A3"/>
                </a:buClr>
                <a:buFontTx/>
                <a:buChar char="•"/>
                <a:defRPr/>
              </a:pPr>
              <a:r>
                <a:rPr lang="en-US" altLang="en-US" sz="1350" kern="0" dirty="0">
                  <a:solidFill>
                    <a:srgbClr val="000000"/>
                  </a:solidFill>
                  <a:latin typeface="Calibri" panose="020F0502020204030204"/>
                </a:rPr>
                <a:t> datagram format</a:t>
              </a:r>
            </a:p>
            <a:p>
              <a:pPr defTabSz="685800">
                <a:lnSpc>
                  <a:spcPct val="95000"/>
                </a:lnSpc>
                <a:buClr>
                  <a:srgbClr val="0000A3"/>
                </a:buClr>
                <a:buFontTx/>
                <a:buChar char="•"/>
                <a:defRPr/>
              </a:pPr>
              <a:r>
                <a:rPr lang="en-US" altLang="en-US" sz="1350" kern="0" dirty="0">
                  <a:solidFill>
                    <a:srgbClr val="000000"/>
                  </a:solidFill>
                  <a:latin typeface="Calibri" panose="020F0502020204030204"/>
                </a:rPr>
                <a:t> addressing</a:t>
              </a:r>
            </a:p>
            <a:p>
              <a:pPr defTabSz="685800">
                <a:lnSpc>
                  <a:spcPct val="95000"/>
                </a:lnSpc>
                <a:buClr>
                  <a:srgbClr val="0000A3"/>
                </a:buClr>
                <a:buFontTx/>
                <a:buChar char="•"/>
                <a:defRPr/>
              </a:pPr>
              <a:r>
                <a:rPr lang="en-US" altLang="en-US" sz="1350" kern="0" dirty="0">
                  <a:solidFill>
                    <a:srgbClr val="000000"/>
                  </a:solidFill>
                  <a:latin typeface="Calibri" panose="020F0502020204030204"/>
                </a:rPr>
                <a:t> packet handling conventions</a:t>
              </a:r>
              <a:endParaRPr lang="en-US" altLang="en-US" sz="1500" kern="0" dirty="0">
                <a:solidFill>
                  <a:srgbClr val="000000"/>
                </a:solidFill>
                <a:latin typeface="Calibri" panose="020F0502020204030204"/>
              </a:endParaRPr>
            </a:p>
          </p:txBody>
        </p:sp>
      </p:grpSp>
      <p:sp>
        <p:nvSpPr>
          <p:cNvPr id="65" name="Rectangle 30">
            <a:extLst>
              <a:ext uri="{FF2B5EF4-FFF2-40B4-BE49-F238E27FC236}">
                <a16:creationId xmlns:a16="http://schemas.microsoft.com/office/drawing/2014/main" id="{D53E8097-7EF9-9F40-A258-C7BAC9FB04F8}"/>
              </a:ext>
            </a:extLst>
          </p:cNvPr>
          <p:cNvSpPr>
            <a:spLocks noChangeArrowheads="1"/>
          </p:cNvSpPr>
          <p:nvPr/>
        </p:nvSpPr>
        <p:spPr bwMode="auto">
          <a:xfrm>
            <a:off x="5792527" y="4067119"/>
            <a:ext cx="1782074" cy="663758"/>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500" kern="0" dirty="0">
              <a:solidFill>
                <a:srgbClr val="000000"/>
              </a:solidFill>
              <a:latin typeface="Calibri" panose="020F0502020204030204"/>
            </a:endParaRPr>
          </a:p>
        </p:txBody>
      </p:sp>
      <p:sp>
        <p:nvSpPr>
          <p:cNvPr id="66" name="Text Box 31">
            <a:extLst>
              <a:ext uri="{FF2B5EF4-FFF2-40B4-BE49-F238E27FC236}">
                <a16:creationId xmlns:a16="http://schemas.microsoft.com/office/drawing/2014/main" id="{CA5FE275-A1EE-6149-A25B-AB47FE13C914}"/>
              </a:ext>
            </a:extLst>
          </p:cNvPr>
          <p:cNvSpPr txBox="1">
            <a:spLocks noChangeArrowheads="1"/>
          </p:cNvSpPr>
          <p:nvPr/>
        </p:nvSpPr>
        <p:spPr bwMode="auto">
          <a:xfrm>
            <a:off x="5834514" y="4032367"/>
            <a:ext cx="1841535" cy="75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95000"/>
              </a:lnSpc>
              <a:defRPr/>
            </a:pPr>
            <a:r>
              <a:rPr lang="en-US" altLang="en-US" sz="1800" i="1" kern="0" dirty="0">
                <a:solidFill>
                  <a:srgbClr val="CC0000"/>
                </a:solidFill>
                <a:latin typeface="Calibri" panose="020F0502020204030204"/>
              </a:rPr>
              <a:t>ICMP protocol</a:t>
            </a:r>
          </a:p>
          <a:p>
            <a:pPr defTabSz="685800">
              <a:lnSpc>
                <a:spcPct val="95000"/>
              </a:lnSpc>
              <a:buFontTx/>
              <a:buChar char="•"/>
              <a:defRPr/>
            </a:pPr>
            <a:r>
              <a:rPr lang="en-US" altLang="en-US" sz="1350" kern="0" dirty="0">
                <a:solidFill>
                  <a:srgbClr val="000000"/>
                </a:solidFill>
                <a:latin typeface="Calibri" panose="020F0502020204030204"/>
              </a:rPr>
              <a:t> error reporting</a:t>
            </a:r>
          </a:p>
          <a:p>
            <a:pPr defTabSz="685800">
              <a:lnSpc>
                <a:spcPct val="95000"/>
              </a:lnSpc>
              <a:buFontTx/>
              <a:buChar char="•"/>
              <a:defRPr/>
            </a:pPr>
            <a:r>
              <a:rPr lang="en-US" altLang="en-US" sz="1350" kern="0" dirty="0">
                <a:solidFill>
                  <a:srgbClr val="000000"/>
                </a:solidFill>
                <a:latin typeface="Calibri" panose="020F0502020204030204"/>
              </a:rPr>
              <a:t> router “</a:t>
            </a:r>
            <a:r>
              <a:rPr lang="en-US" altLang="ja-JP" sz="1350" kern="0" dirty="0">
                <a:solidFill>
                  <a:srgbClr val="000000"/>
                </a:solidFill>
                <a:latin typeface="Calibri" panose="020F0502020204030204"/>
              </a:rPr>
              <a:t>signaling”</a:t>
            </a:r>
            <a:endParaRPr lang="en-US" altLang="en-US" sz="1500" kern="0" dirty="0">
              <a:solidFill>
                <a:srgbClr val="000000"/>
              </a:solidFill>
              <a:latin typeface="Calibri" panose="020F0502020204030204"/>
            </a:endParaRPr>
          </a:p>
        </p:txBody>
      </p:sp>
      <p:sp>
        <p:nvSpPr>
          <p:cNvPr id="67" name="Line 32">
            <a:extLst>
              <a:ext uri="{FF2B5EF4-FFF2-40B4-BE49-F238E27FC236}">
                <a16:creationId xmlns:a16="http://schemas.microsoft.com/office/drawing/2014/main" id="{83D8B023-CCE3-A545-A900-2FBC5363CBA5}"/>
              </a:ext>
            </a:extLst>
          </p:cNvPr>
          <p:cNvSpPr>
            <a:spLocks noChangeShapeType="1"/>
          </p:cNvSpPr>
          <p:nvPr/>
        </p:nvSpPr>
        <p:spPr bwMode="auto">
          <a:xfrm flipV="1">
            <a:off x="2367275" y="2976382"/>
            <a:ext cx="5525046" cy="806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sp>
        <p:nvSpPr>
          <p:cNvPr id="68" name="Text Box 33">
            <a:extLst>
              <a:ext uri="{FF2B5EF4-FFF2-40B4-BE49-F238E27FC236}">
                <a16:creationId xmlns:a16="http://schemas.microsoft.com/office/drawing/2014/main" id="{0FCECF46-65B8-9744-948E-304AC0DAC27D}"/>
              </a:ext>
            </a:extLst>
          </p:cNvPr>
          <p:cNvSpPr txBox="1">
            <a:spLocks noChangeArrowheads="1"/>
          </p:cNvSpPr>
          <p:nvPr/>
        </p:nvSpPr>
        <p:spPr bwMode="auto">
          <a:xfrm>
            <a:off x="4010494" y="2596442"/>
            <a:ext cx="216918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kern="0" dirty="0">
                <a:solidFill>
                  <a:srgbClr val="808080"/>
                </a:solidFill>
                <a:latin typeface="Calibri" panose="020F0502020204030204"/>
              </a:rPr>
              <a:t>transport layer: TCP, UDP</a:t>
            </a:r>
            <a:endParaRPr lang="en-US" altLang="en-US" sz="1500" kern="0" dirty="0">
              <a:solidFill>
                <a:srgbClr val="000000"/>
              </a:solidFill>
              <a:latin typeface="Calibri" panose="020F0502020204030204"/>
            </a:endParaRPr>
          </a:p>
        </p:txBody>
      </p:sp>
      <p:sp>
        <p:nvSpPr>
          <p:cNvPr id="69" name="Text Box 34">
            <a:extLst>
              <a:ext uri="{FF2B5EF4-FFF2-40B4-BE49-F238E27FC236}">
                <a16:creationId xmlns:a16="http://schemas.microsoft.com/office/drawing/2014/main" id="{F0EDF1E8-9470-B34D-B8BA-67D4C38586E9}"/>
              </a:ext>
            </a:extLst>
          </p:cNvPr>
          <p:cNvSpPr txBox="1">
            <a:spLocks noChangeArrowheads="1"/>
          </p:cNvSpPr>
          <p:nvPr/>
        </p:nvSpPr>
        <p:spPr bwMode="auto">
          <a:xfrm>
            <a:off x="4621461" y="4859019"/>
            <a:ext cx="89319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kern="0" dirty="0">
                <a:solidFill>
                  <a:srgbClr val="808080"/>
                </a:solidFill>
                <a:latin typeface="Calibri" panose="020F0502020204030204"/>
              </a:rPr>
              <a:t>link layer</a:t>
            </a:r>
            <a:endParaRPr lang="en-US" altLang="en-US" sz="1500" kern="0" dirty="0">
              <a:solidFill>
                <a:srgbClr val="000000"/>
              </a:solidFill>
              <a:latin typeface="Calibri" panose="020F0502020204030204"/>
            </a:endParaRPr>
          </a:p>
        </p:txBody>
      </p:sp>
      <p:sp>
        <p:nvSpPr>
          <p:cNvPr id="70" name="Text Box 35">
            <a:extLst>
              <a:ext uri="{FF2B5EF4-FFF2-40B4-BE49-F238E27FC236}">
                <a16:creationId xmlns:a16="http://schemas.microsoft.com/office/drawing/2014/main" id="{DC66EFC2-D14F-D54B-94E4-C02AED9BE40C}"/>
              </a:ext>
            </a:extLst>
          </p:cNvPr>
          <p:cNvSpPr txBox="1">
            <a:spLocks noChangeArrowheads="1"/>
          </p:cNvSpPr>
          <p:nvPr/>
        </p:nvSpPr>
        <p:spPr bwMode="auto">
          <a:xfrm>
            <a:off x="4529646" y="5240683"/>
            <a:ext cx="124104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kern="0" dirty="0">
                <a:solidFill>
                  <a:srgbClr val="808080"/>
                </a:solidFill>
                <a:latin typeface="Calibri" panose="020F0502020204030204"/>
              </a:rPr>
              <a:t>physical layer</a:t>
            </a:r>
            <a:endParaRPr lang="en-US" altLang="en-US" sz="1500" kern="0" dirty="0">
              <a:solidFill>
                <a:srgbClr val="000000"/>
              </a:solidFill>
              <a:latin typeface="Calibri" panose="020F0502020204030204"/>
            </a:endParaRPr>
          </a:p>
        </p:txBody>
      </p:sp>
      <p:sp>
        <p:nvSpPr>
          <p:cNvPr id="71" name="Text Box 36">
            <a:extLst>
              <a:ext uri="{FF2B5EF4-FFF2-40B4-BE49-F238E27FC236}">
                <a16:creationId xmlns:a16="http://schemas.microsoft.com/office/drawing/2014/main" id="{443CA5C2-E267-9843-988A-10AA069D7A88}"/>
              </a:ext>
            </a:extLst>
          </p:cNvPr>
          <p:cNvSpPr txBox="1">
            <a:spLocks noChangeArrowheads="1"/>
          </p:cNvSpPr>
          <p:nvPr/>
        </p:nvSpPr>
        <p:spPr bwMode="auto">
          <a:xfrm>
            <a:off x="1201397" y="3571427"/>
            <a:ext cx="110158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2100" kern="0" dirty="0">
                <a:solidFill>
                  <a:srgbClr val="CC0000"/>
                </a:solidFill>
                <a:latin typeface="Calibri" panose="020F0502020204030204"/>
              </a:rPr>
              <a:t>network</a:t>
            </a:r>
          </a:p>
          <a:p>
            <a:pPr algn="r" defTabSz="685800">
              <a:defRPr/>
            </a:pPr>
            <a:r>
              <a:rPr lang="en-US" altLang="en-US" sz="2100" kern="0" dirty="0">
                <a:solidFill>
                  <a:srgbClr val="CC0000"/>
                </a:solidFill>
                <a:latin typeface="Calibri" panose="020F0502020204030204"/>
              </a:rPr>
              <a:t>layer</a:t>
            </a:r>
            <a:endParaRPr lang="en-US" altLang="en-US" sz="1500" kern="0" dirty="0">
              <a:solidFill>
                <a:srgbClr val="CC0000"/>
              </a:solidFill>
              <a:latin typeface="Calibri" panose="020F0502020204030204"/>
            </a:endParaRPr>
          </a:p>
        </p:txBody>
      </p:sp>
      <p:sp>
        <p:nvSpPr>
          <p:cNvPr id="72" name="Line 37">
            <a:extLst>
              <a:ext uri="{FF2B5EF4-FFF2-40B4-BE49-F238E27FC236}">
                <a16:creationId xmlns:a16="http://schemas.microsoft.com/office/drawing/2014/main" id="{3FA09A96-5FBE-6E4C-B57D-75ADA055202E}"/>
              </a:ext>
            </a:extLst>
          </p:cNvPr>
          <p:cNvSpPr>
            <a:spLocks noChangeShapeType="1"/>
          </p:cNvSpPr>
          <p:nvPr/>
        </p:nvSpPr>
        <p:spPr bwMode="auto">
          <a:xfrm flipV="1">
            <a:off x="2160107" y="2991592"/>
            <a:ext cx="0" cy="557213"/>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defRPr/>
            </a:pPr>
            <a:endParaRPr lang="en-US" sz="1500" dirty="0">
              <a:solidFill>
                <a:srgbClr val="000000"/>
              </a:solidFill>
              <a:latin typeface="Calibri" panose="020F0502020204030204"/>
            </a:endParaRPr>
          </a:p>
        </p:txBody>
      </p:sp>
      <p:sp>
        <p:nvSpPr>
          <p:cNvPr id="73" name="Line 38">
            <a:extLst>
              <a:ext uri="{FF2B5EF4-FFF2-40B4-BE49-F238E27FC236}">
                <a16:creationId xmlns:a16="http://schemas.microsoft.com/office/drawing/2014/main" id="{F1A87A3C-ABBA-1445-B932-9F07DDB1DC8B}"/>
              </a:ext>
            </a:extLst>
          </p:cNvPr>
          <p:cNvSpPr>
            <a:spLocks noChangeShapeType="1"/>
          </p:cNvSpPr>
          <p:nvPr/>
        </p:nvSpPr>
        <p:spPr bwMode="auto">
          <a:xfrm>
            <a:off x="2170934" y="4241748"/>
            <a:ext cx="0" cy="557213"/>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defRPr/>
            </a:pPr>
            <a:endParaRPr lang="en-US" sz="1500" dirty="0">
              <a:solidFill>
                <a:srgbClr val="000000"/>
              </a:solidFill>
              <a:latin typeface="Calibri" panose="020F0502020204030204"/>
            </a:endParaRPr>
          </a:p>
        </p:txBody>
      </p:sp>
      <p:grpSp>
        <p:nvGrpSpPr>
          <p:cNvPr id="2" name="Group 1">
            <a:extLst>
              <a:ext uri="{FF2B5EF4-FFF2-40B4-BE49-F238E27FC236}">
                <a16:creationId xmlns:a16="http://schemas.microsoft.com/office/drawing/2014/main" id="{C8E5DB8E-5758-7A40-B6B5-7D4AF5690956}"/>
              </a:ext>
            </a:extLst>
          </p:cNvPr>
          <p:cNvGrpSpPr/>
          <p:nvPr/>
        </p:nvGrpSpPr>
        <p:grpSpPr>
          <a:xfrm>
            <a:off x="2555899" y="3177329"/>
            <a:ext cx="2765498" cy="1491171"/>
            <a:chOff x="3407866" y="3093438"/>
            <a:chExt cx="3687330" cy="1988228"/>
          </a:xfrm>
        </p:grpSpPr>
        <p:grpSp>
          <p:nvGrpSpPr>
            <p:cNvPr id="43" name="Group 6">
              <a:extLst>
                <a:ext uri="{FF2B5EF4-FFF2-40B4-BE49-F238E27FC236}">
                  <a16:creationId xmlns:a16="http://schemas.microsoft.com/office/drawing/2014/main" id="{871F3AA1-3276-FB48-99A0-4DB2EA4E1228}"/>
                </a:ext>
              </a:extLst>
            </p:cNvPr>
            <p:cNvGrpSpPr>
              <a:grpSpLocks/>
            </p:cNvGrpSpPr>
            <p:nvPr/>
          </p:nvGrpSpPr>
          <p:grpSpPr bwMode="auto">
            <a:xfrm>
              <a:off x="5700768" y="3657572"/>
              <a:ext cx="1394428" cy="1171575"/>
              <a:chOff x="3957" y="2910"/>
              <a:chExt cx="679" cy="738"/>
            </a:xfrm>
          </p:grpSpPr>
          <p:sp>
            <p:nvSpPr>
              <p:cNvPr id="45" name="Rectangle 8">
                <a:extLst>
                  <a:ext uri="{FF2B5EF4-FFF2-40B4-BE49-F238E27FC236}">
                    <a16:creationId xmlns:a16="http://schemas.microsoft.com/office/drawing/2014/main" id="{BA7260F4-B2A7-AF47-BF92-9B85CFE6FC13}"/>
                  </a:ext>
                </a:extLst>
              </p:cNvPr>
              <p:cNvSpPr>
                <a:spLocks noChangeArrowheads="1"/>
              </p:cNvSpPr>
              <p:nvPr/>
            </p:nvSpPr>
            <p:spPr bwMode="auto">
              <a:xfrm>
                <a:off x="3996" y="2910"/>
                <a:ext cx="582" cy="738"/>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500" kern="0" dirty="0">
                  <a:solidFill>
                    <a:srgbClr val="000000"/>
                  </a:solidFill>
                  <a:latin typeface="Calibri" panose="020F0502020204030204"/>
                </a:endParaRPr>
              </a:p>
            </p:txBody>
          </p:sp>
          <p:sp>
            <p:nvSpPr>
              <p:cNvPr id="46" name="Text Box 9">
                <a:extLst>
                  <a:ext uri="{FF2B5EF4-FFF2-40B4-BE49-F238E27FC236}">
                    <a16:creationId xmlns:a16="http://schemas.microsoft.com/office/drawing/2014/main" id="{C24F447E-295B-5343-A770-64A4288623FA}"/>
                  </a:ext>
                </a:extLst>
              </p:cNvPr>
              <p:cNvSpPr txBox="1">
                <a:spLocks noChangeArrowheads="1"/>
              </p:cNvSpPr>
              <p:nvPr/>
            </p:nvSpPr>
            <p:spPr bwMode="auto">
              <a:xfrm>
                <a:off x="3957" y="3071"/>
                <a:ext cx="679"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500" kern="0" dirty="0">
                    <a:solidFill>
                      <a:srgbClr val="000000"/>
                    </a:solidFill>
                    <a:latin typeface="Calibri" panose="020F0502020204030204"/>
                  </a:rPr>
                  <a:t>forwarding</a:t>
                </a:r>
              </a:p>
              <a:p>
                <a:pPr algn="ctr" defTabSz="685800">
                  <a:defRPr/>
                </a:pPr>
                <a:r>
                  <a:rPr lang="en-US" altLang="en-US" sz="1500" kern="0" dirty="0">
                    <a:solidFill>
                      <a:srgbClr val="000000"/>
                    </a:solidFill>
                    <a:latin typeface="Calibri" panose="020F0502020204030204"/>
                  </a:rPr>
                  <a:t>table</a:t>
                </a:r>
              </a:p>
            </p:txBody>
          </p:sp>
          <p:sp>
            <p:nvSpPr>
              <p:cNvPr id="47" name="Line 10">
                <a:extLst>
                  <a:ext uri="{FF2B5EF4-FFF2-40B4-BE49-F238E27FC236}">
                    <a16:creationId xmlns:a16="http://schemas.microsoft.com/office/drawing/2014/main" id="{A1A6378B-7AD4-9543-A13E-9D075DF319CB}"/>
                  </a:ext>
                </a:extLst>
              </p:cNvPr>
              <p:cNvSpPr>
                <a:spLocks noChangeShapeType="1"/>
              </p:cNvSpPr>
              <p:nvPr/>
            </p:nvSpPr>
            <p:spPr bwMode="auto">
              <a:xfrm>
                <a:off x="4065" y="2994"/>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sp>
            <p:nvSpPr>
              <p:cNvPr id="48" name="Line 11">
                <a:extLst>
                  <a:ext uri="{FF2B5EF4-FFF2-40B4-BE49-F238E27FC236}">
                    <a16:creationId xmlns:a16="http://schemas.microsoft.com/office/drawing/2014/main" id="{AFF84EEF-BF82-EE46-A8CD-990D38D7B888}"/>
                  </a:ext>
                </a:extLst>
              </p:cNvPr>
              <p:cNvSpPr>
                <a:spLocks noChangeShapeType="1"/>
              </p:cNvSpPr>
              <p:nvPr/>
            </p:nvSpPr>
            <p:spPr bwMode="auto">
              <a:xfrm>
                <a:off x="4071" y="3048"/>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sp>
            <p:nvSpPr>
              <p:cNvPr id="49" name="Line 12">
                <a:extLst>
                  <a:ext uri="{FF2B5EF4-FFF2-40B4-BE49-F238E27FC236}">
                    <a16:creationId xmlns:a16="http://schemas.microsoft.com/office/drawing/2014/main" id="{F9BAE992-9BF7-104C-8ECA-81D34B658B5E}"/>
                  </a:ext>
                </a:extLst>
              </p:cNvPr>
              <p:cNvSpPr>
                <a:spLocks noChangeShapeType="1"/>
              </p:cNvSpPr>
              <p:nvPr/>
            </p:nvSpPr>
            <p:spPr bwMode="auto">
              <a:xfrm>
                <a:off x="4074" y="3102"/>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sp>
            <p:nvSpPr>
              <p:cNvPr id="50" name="Line 13">
                <a:extLst>
                  <a:ext uri="{FF2B5EF4-FFF2-40B4-BE49-F238E27FC236}">
                    <a16:creationId xmlns:a16="http://schemas.microsoft.com/office/drawing/2014/main" id="{3429694D-F679-004A-9DBC-A3A9033DE14F}"/>
                  </a:ext>
                </a:extLst>
              </p:cNvPr>
              <p:cNvSpPr>
                <a:spLocks noChangeShapeType="1"/>
              </p:cNvSpPr>
              <p:nvPr/>
            </p:nvSpPr>
            <p:spPr bwMode="auto">
              <a:xfrm>
                <a:off x="4065" y="3477"/>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sp>
            <p:nvSpPr>
              <p:cNvPr id="51" name="Line 14">
                <a:extLst>
                  <a:ext uri="{FF2B5EF4-FFF2-40B4-BE49-F238E27FC236}">
                    <a16:creationId xmlns:a16="http://schemas.microsoft.com/office/drawing/2014/main" id="{76EE42B6-BAC1-4944-9196-448650DA216C}"/>
                  </a:ext>
                </a:extLst>
              </p:cNvPr>
              <p:cNvSpPr>
                <a:spLocks noChangeShapeType="1"/>
              </p:cNvSpPr>
              <p:nvPr/>
            </p:nvSpPr>
            <p:spPr bwMode="auto">
              <a:xfrm>
                <a:off x="4068" y="3528"/>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sp>
            <p:nvSpPr>
              <p:cNvPr id="52" name="Line 15">
                <a:extLst>
                  <a:ext uri="{FF2B5EF4-FFF2-40B4-BE49-F238E27FC236}">
                    <a16:creationId xmlns:a16="http://schemas.microsoft.com/office/drawing/2014/main" id="{F59AD1B5-E124-0149-BDFB-A6D75F8BE6E8}"/>
                  </a:ext>
                </a:extLst>
              </p:cNvPr>
              <p:cNvSpPr>
                <a:spLocks noChangeShapeType="1"/>
              </p:cNvSpPr>
              <p:nvPr/>
            </p:nvSpPr>
            <p:spPr bwMode="auto">
              <a:xfrm>
                <a:off x="4071" y="3579"/>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500" kern="0" dirty="0">
                  <a:solidFill>
                    <a:srgbClr val="000000"/>
                  </a:solidFill>
                  <a:latin typeface="Calibri" panose="020F0502020204030204"/>
                </a:endParaRPr>
              </a:p>
            </p:txBody>
          </p:sp>
        </p:grpSp>
        <p:sp>
          <p:nvSpPr>
            <p:cNvPr id="57" name="Rectangle 21">
              <a:extLst>
                <a:ext uri="{FF2B5EF4-FFF2-40B4-BE49-F238E27FC236}">
                  <a16:creationId xmlns:a16="http://schemas.microsoft.com/office/drawing/2014/main" id="{D79EAD81-D7BF-7740-89CA-28286122F096}"/>
                </a:ext>
              </a:extLst>
            </p:cNvPr>
            <p:cNvSpPr>
              <a:spLocks noChangeArrowheads="1"/>
            </p:cNvSpPr>
            <p:nvPr/>
          </p:nvSpPr>
          <p:spPr bwMode="auto">
            <a:xfrm>
              <a:off x="3407866" y="3093438"/>
              <a:ext cx="2048551" cy="1988228"/>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500" kern="0" dirty="0">
                <a:solidFill>
                  <a:srgbClr val="000000"/>
                </a:solidFill>
                <a:latin typeface="Calibri" panose="020F0502020204030204"/>
              </a:endParaRPr>
            </a:p>
          </p:txBody>
        </p:sp>
        <p:sp>
          <p:nvSpPr>
            <p:cNvPr id="58" name="Text Box 22">
              <a:extLst>
                <a:ext uri="{FF2B5EF4-FFF2-40B4-BE49-F238E27FC236}">
                  <a16:creationId xmlns:a16="http://schemas.microsoft.com/office/drawing/2014/main" id="{468D56E5-617A-EB4B-A291-7109B25CF16E}"/>
                </a:ext>
              </a:extLst>
            </p:cNvPr>
            <p:cNvSpPr txBox="1">
              <a:spLocks noChangeArrowheads="1"/>
            </p:cNvSpPr>
            <p:nvPr/>
          </p:nvSpPr>
          <p:spPr bwMode="auto">
            <a:xfrm>
              <a:off x="3446597" y="3128879"/>
              <a:ext cx="212521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i="1" kern="0" dirty="0">
                  <a:solidFill>
                    <a:srgbClr val="CC0000"/>
                  </a:solidFill>
                  <a:latin typeface="Calibri" panose="020F0502020204030204"/>
                </a:rPr>
                <a:t>Path-selection  algorithms: </a:t>
              </a:r>
              <a:r>
                <a:rPr lang="en-US" altLang="en-US" sz="1500" kern="0" dirty="0">
                  <a:solidFill>
                    <a:prstClr val="black"/>
                  </a:solidFill>
                  <a:latin typeface="Calibri" panose="020F0502020204030204"/>
                </a:rPr>
                <a:t>implemented in </a:t>
              </a:r>
            </a:p>
            <a:p>
              <a:pPr marL="171450" indent="-128588" defTabSz="685800">
                <a:buClr>
                  <a:srgbClr val="0000A3"/>
                </a:buClr>
                <a:buFont typeface="Arial" panose="020B0604020202020204" pitchFamily="34" charset="0"/>
                <a:buChar char="•"/>
                <a:tabLst>
                  <a:tab pos="40481" algn="l"/>
                  <a:tab pos="83344" algn="l"/>
                </a:tabLst>
                <a:defRPr/>
              </a:pPr>
              <a:r>
                <a:rPr lang="en-US" altLang="en-US" sz="1350" kern="0" dirty="0">
                  <a:solidFill>
                    <a:srgbClr val="000000"/>
                  </a:solidFill>
                  <a:latin typeface="Calibri" panose="020F0502020204030204"/>
                </a:rPr>
                <a:t>routing protocols (RIP, OSPF, BGP)</a:t>
              </a:r>
            </a:p>
            <a:p>
              <a:pPr marL="171450" indent="-128588" defTabSz="685800">
                <a:buClr>
                  <a:srgbClr val="0000A3"/>
                </a:buClr>
                <a:buFont typeface="Arial" panose="020B0604020202020204" pitchFamily="34" charset="0"/>
                <a:buChar char="•"/>
                <a:tabLst>
                  <a:tab pos="40481" algn="l"/>
                  <a:tab pos="83344" algn="l"/>
                </a:tabLst>
                <a:defRPr/>
              </a:pPr>
              <a:r>
                <a:rPr lang="en-US" altLang="en-US" sz="1350" kern="0" dirty="0">
                  <a:solidFill>
                    <a:srgbClr val="000000"/>
                  </a:solidFill>
                  <a:latin typeface="Calibri" panose="020F0502020204030204"/>
                </a:rPr>
                <a:t>SDN controller</a:t>
              </a:r>
              <a:endParaRPr lang="en-US" altLang="en-US" sz="1500" kern="0" dirty="0">
                <a:solidFill>
                  <a:srgbClr val="000000"/>
                </a:solidFill>
                <a:latin typeface="Calibri" panose="020F0502020204030204"/>
              </a:endParaRPr>
            </a:p>
          </p:txBody>
        </p:sp>
        <p:sp>
          <p:nvSpPr>
            <p:cNvPr id="74" name="Bent Arrow 73">
              <a:extLst>
                <a:ext uri="{FF2B5EF4-FFF2-40B4-BE49-F238E27FC236}">
                  <a16:creationId xmlns:a16="http://schemas.microsoft.com/office/drawing/2014/main" id="{0C3DF2E4-3C65-BB46-9EC4-94CCFD39934B}"/>
                </a:ext>
              </a:extLst>
            </p:cNvPr>
            <p:cNvSpPr/>
            <p:nvPr/>
          </p:nvSpPr>
          <p:spPr>
            <a:xfrm rot="5400000">
              <a:off x="5728412" y="2923460"/>
              <a:ext cx="479687" cy="86868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black"/>
                </a:solidFill>
                <a:latin typeface="Calibri" panose="020F0502020204030204"/>
              </a:endParaRPr>
            </a:p>
          </p:txBody>
        </p:sp>
      </p:grpSp>
      <p:sp>
        <p:nvSpPr>
          <p:cNvPr id="32" name="Slide Number Placeholder 3">
            <a:extLst>
              <a:ext uri="{FF2B5EF4-FFF2-40B4-BE49-F238E27FC236}">
                <a16:creationId xmlns:a16="http://schemas.microsoft.com/office/drawing/2014/main" id="{2ED44C56-FED1-2249-B378-3FF1836635D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44</a:t>
            </a:fld>
            <a:endParaRPr lang="en-US" dirty="0"/>
          </a:p>
        </p:txBody>
      </p:sp>
      <p:sp>
        <p:nvSpPr>
          <p:cNvPr id="4" name="TextBox 3">
            <a:extLst>
              <a:ext uri="{FF2B5EF4-FFF2-40B4-BE49-F238E27FC236}">
                <a16:creationId xmlns:a16="http://schemas.microsoft.com/office/drawing/2014/main" id="{1F887048-9FA2-9D93-48A2-53DB23ABAE83}"/>
              </a:ext>
            </a:extLst>
          </p:cNvPr>
          <p:cNvSpPr txBox="1"/>
          <p:nvPr/>
        </p:nvSpPr>
        <p:spPr>
          <a:xfrm>
            <a:off x="386023" y="5831095"/>
            <a:ext cx="2169876" cy="553998"/>
          </a:xfrm>
          <a:prstGeom prst="rect">
            <a:avLst/>
          </a:prstGeom>
          <a:noFill/>
        </p:spPr>
        <p:txBody>
          <a:bodyPr wrap="none" rtlCol="0">
            <a:spAutoFit/>
          </a:bodyPr>
          <a:lstStyle/>
          <a:p>
            <a:r>
              <a:rPr lang="en-US" sz="1000" i="1" dirty="0"/>
              <a:t>RIP (Routing Information Protocol)</a:t>
            </a:r>
          </a:p>
          <a:p>
            <a:r>
              <a:rPr lang="en-US" sz="1000" i="1" dirty="0"/>
              <a:t>OSPF (Open Shortest path First)</a:t>
            </a:r>
          </a:p>
          <a:p>
            <a:r>
              <a:rPr lang="en-US" sz="1000" i="1" dirty="0"/>
              <a:t>BGP (Border Gateway Protocol)</a:t>
            </a:r>
          </a:p>
        </p:txBody>
      </p:sp>
      <p:sp>
        <p:nvSpPr>
          <p:cNvPr id="5" name="Slide Number Placeholder 5">
            <a:extLst>
              <a:ext uri="{FF2B5EF4-FFF2-40B4-BE49-F238E27FC236}">
                <a16:creationId xmlns:a16="http://schemas.microsoft.com/office/drawing/2014/main" id="{4BA033DA-ABCB-05EC-90B7-EFCE4D7975EA}"/>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908581E0-0497-D647-9B86-CA2DA9E8C4C8}" type="slidenum">
              <a:rPr lang="en-US" altLang="en-US">
                <a:latin typeface="Tahoma" panose="020B0604030504040204" pitchFamily="34" charset="0"/>
              </a:rPr>
              <a:pPr/>
              <a:t>44</a:t>
            </a:fld>
            <a:endParaRPr lang="en-US" altLang="en-US" dirty="0">
              <a:latin typeface="Tahoma" panose="020B0604030504040204" pitchFamily="34" charset="0"/>
            </a:endParaRPr>
          </a:p>
        </p:txBody>
      </p:sp>
    </p:spTree>
    <p:extLst>
      <p:ext uri="{BB962C8B-B14F-4D97-AF65-F5344CB8AC3E}">
        <p14:creationId xmlns:p14="http://schemas.microsoft.com/office/powerpoint/2010/main" val="377915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dissolv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dissolve">
                                      <p:cBhvr>
                                        <p:cTn id="17" dur="500"/>
                                        <p:tgtEl>
                                          <p:spTgt spid="6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dissolve">
                                      <p:cBhvr>
                                        <p:cTn id="20"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628650" y="598710"/>
            <a:ext cx="7886700" cy="670967"/>
          </a:xfrm>
        </p:spPr>
        <p:txBody>
          <a:bodyPr/>
          <a:lstStyle/>
          <a:p>
            <a:r>
              <a:rPr lang="en-US" dirty="0">
                <a:ea typeface="ＭＳ Ｐゴシック" panose="020B0600070205080204" pitchFamily="34" charset="-128"/>
              </a:rPr>
              <a:t>IP Datagram format</a:t>
            </a:r>
            <a:endParaRPr lang="en-US" dirty="0"/>
          </a:p>
        </p:txBody>
      </p:sp>
      <p:grpSp>
        <p:nvGrpSpPr>
          <p:cNvPr id="120" name="Group 55">
            <a:extLst>
              <a:ext uri="{FF2B5EF4-FFF2-40B4-BE49-F238E27FC236}">
                <a16:creationId xmlns:a16="http://schemas.microsoft.com/office/drawing/2014/main" id="{096C3C5A-67A4-3541-9E14-6812D63272DC}"/>
              </a:ext>
            </a:extLst>
          </p:cNvPr>
          <p:cNvGrpSpPr>
            <a:grpSpLocks/>
          </p:cNvGrpSpPr>
          <p:nvPr/>
        </p:nvGrpSpPr>
        <p:grpSpPr bwMode="auto">
          <a:xfrm>
            <a:off x="3331037" y="1804812"/>
            <a:ext cx="3030141" cy="3994547"/>
            <a:chOff x="1929" y="607"/>
            <a:chExt cx="2545" cy="3355"/>
          </a:xfrm>
        </p:grpSpPr>
        <p:sp>
          <p:nvSpPr>
            <p:cNvPr id="122" name="Rectangle 5">
              <a:extLst>
                <a:ext uri="{FF2B5EF4-FFF2-40B4-BE49-F238E27FC236}">
                  <a16:creationId xmlns:a16="http://schemas.microsoft.com/office/drawing/2014/main" id="{7B516688-96C2-8349-A69E-D6A9EC6BBF14}"/>
                </a:ext>
              </a:extLst>
            </p:cNvPr>
            <p:cNvSpPr>
              <a:spLocks noChangeArrowheads="1"/>
            </p:cNvSpPr>
            <p:nvPr/>
          </p:nvSpPr>
          <p:spPr bwMode="auto">
            <a:xfrm>
              <a:off x="1980" y="935"/>
              <a:ext cx="2489" cy="3027"/>
            </a:xfrm>
            <a:prstGeom prst="rect">
              <a:avLst/>
            </a:prstGeom>
            <a:solidFill>
              <a:srgbClr val="FFFFFF"/>
            </a:solidFill>
            <a:ln w="19050">
              <a:solidFill>
                <a:srgbClr val="000000"/>
              </a:solidFill>
              <a:miter lim="800000"/>
              <a:headEnd/>
              <a:tailEnd/>
            </a:ln>
            <a:effectLst>
              <a:outerShdw blurRad="1397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800" kern="0" dirty="0">
                <a:solidFill>
                  <a:srgbClr val="000000"/>
                </a:solidFill>
              </a:endParaRPr>
            </a:p>
          </p:txBody>
        </p:sp>
        <p:sp>
          <p:nvSpPr>
            <p:cNvPr id="123" name="Text Box 6">
              <a:extLst>
                <a:ext uri="{FF2B5EF4-FFF2-40B4-BE49-F238E27FC236}">
                  <a16:creationId xmlns:a16="http://schemas.microsoft.com/office/drawing/2014/main" id="{DF4EC220-193E-8947-9E07-CECD76B72F65}"/>
                </a:ext>
              </a:extLst>
            </p:cNvPr>
            <p:cNvSpPr txBox="1">
              <a:spLocks noChangeArrowheads="1"/>
            </p:cNvSpPr>
            <p:nvPr/>
          </p:nvSpPr>
          <p:spPr bwMode="auto">
            <a:xfrm>
              <a:off x="1933" y="973"/>
              <a:ext cx="3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ver</a:t>
              </a:r>
              <a:endParaRPr lang="en-US" altLang="en-US" sz="1800" kern="0" dirty="0">
                <a:solidFill>
                  <a:srgbClr val="000000"/>
                </a:solidFill>
              </a:endParaRPr>
            </a:p>
          </p:txBody>
        </p:sp>
        <p:sp>
          <p:nvSpPr>
            <p:cNvPr id="124" name="Text Box 7">
              <a:extLst>
                <a:ext uri="{FF2B5EF4-FFF2-40B4-BE49-F238E27FC236}">
                  <a16:creationId xmlns:a16="http://schemas.microsoft.com/office/drawing/2014/main" id="{3EE9E625-9218-0244-9694-F71E2BAA4608}"/>
                </a:ext>
              </a:extLst>
            </p:cNvPr>
            <p:cNvSpPr txBox="1">
              <a:spLocks noChangeArrowheads="1"/>
            </p:cNvSpPr>
            <p:nvPr/>
          </p:nvSpPr>
          <p:spPr bwMode="auto">
            <a:xfrm>
              <a:off x="3507" y="1012"/>
              <a:ext cx="5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length</a:t>
              </a:r>
            </a:p>
          </p:txBody>
        </p:sp>
        <p:sp>
          <p:nvSpPr>
            <p:cNvPr id="125" name="Line 8">
              <a:extLst>
                <a:ext uri="{FF2B5EF4-FFF2-40B4-BE49-F238E27FC236}">
                  <a16:creationId xmlns:a16="http://schemas.microsoft.com/office/drawing/2014/main" id="{F817320A-8485-D045-8632-7F84A094CE8F}"/>
                </a:ext>
              </a:extLst>
            </p:cNvPr>
            <p:cNvSpPr>
              <a:spLocks noChangeShapeType="1"/>
            </p:cNvSpPr>
            <p:nvPr/>
          </p:nvSpPr>
          <p:spPr bwMode="auto">
            <a:xfrm>
              <a:off x="1988" y="1261"/>
              <a:ext cx="2486"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26" name="Line 9">
              <a:extLst>
                <a:ext uri="{FF2B5EF4-FFF2-40B4-BE49-F238E27FC236}">
                  <a16:creationId xmlns:a16="http://schemas.microsoft.com/office/drawing/2014/main" id="{4A7FCA27-B9B4-7C40-B61E-66830D6E541D}"/>
                </a:ext>
              </a:extLst>
            </p:cNvPr>
            <p:cNvSpPr>
              <a:spLocks noChangeShapeType="1"/>
            </p:cNvSpPr>
            <p:nvPr/>
          </p:nvSpPr>
          <p:spPr bwMode="auto">
            <a:xfrm flipH="1" flipV="1">
              <a:off x="3210" y="941"/>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27" name="Text Box 10">
              <a:extLst>
                <a:ext uri="{FF2B5EF4-FFF2-40B4-BE49-F238E27FC236}">
                  <a16:creationId xmlns:a16="http://schemas.microsoft.com/office/drawing/2014/main" id="{4C789F02-EAB2-A242-BBE2-FBDC34528E5A}"/>
                </a:ext>
              </a:extLst>
            </p:cNvPr>
            <p:cNvSpPr txBox="1">
              <a:spLocks noChangeArrowheads="1"/>
            </p:cNvSpPr>
            <p:nvPr/>
          </p:nvSpPr>
          <p:spPr bwMode="auto">
            <a:xfrm>
              <a:off x="2900" y="607"/>
              <a:ext cx="58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32 bits</a:t>
              </a:r>
              <a:endParaRPr lang="en-US" altLang="en-US" sz="1800" kern="0" dirty="0">
                <a:solidFill>
                  <a:srgbClr val="000000"/>
                </a:solidFill>
              </a:endParaRPr>
            </a:p>
          </p:txBody>
        </p:sp>
        <p:sp>
          <p:nvSpPr>
            <p:cNvPr id="128" name="Line 11">
              <a:extLst>
                <a:ext uri="{FF2B5EF4-FFF2-40B4-BE49-F238E27FC236}">
                  <a16:creationId xmlns:a16="http://schemas.microsoft.com/office/drawing/2014/main" id="{95360C57-2C57-0544-9320-4650E66A99D5}"/>
                </a:ext>
              </a:extLst>
            </p:cNvPr>
            <p:cNvSpPr>
              <a:spLocks noChangeShapeType="1"/>
            </p:cNvSpPr>
            <p:nvPr/>
          </p:nvSpPr>
          <p:spPr bwMode="auto">
            <a:xfrm>
              <a:off x="3552" y="762"/>
              <a:ext cx="899" cy="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29" name="Line 12">
              <a:extLst>
                <a:ext uri="{FF2B5EF4-FFF2-40B4-BE49-F238E27FC236}">
                  <a16:creationId xmlns:a16="http://schemas.microsoft.com/office/drawing/2014/main" id="{5C078034-561A-DD4E-8E06-3CE9768E71F5}"/>
                </a:ext>
              </a:extLst>
            </p:cNvPr>
            <p:cNvSpPr>
              <a:spLocks noChangeShapeType="1"/>
            </p:cNvSpPr>
            <p:nvPr/>
          </p:nvSpPr>
          <p:spPr bwMode="auto">
            <a:xfrm rot="10800000">
              <a:off x="1972" y="769"/>
              <a:ext cx="845"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30" name="Text Box 13">
              <a:extLst>
                <a:ext uri="{FF2B5EF4-FFF2-40B4-BE49-F238E27FC236}">
                  <a16:creationId xmlns:a16="http://schemas.microsoft.com/office/drawing/2014/main" id="{EAAA5B1E-960B-444D-BC67-196606CFF4BD}"/>
                </a:ext>
              </a:extLst>
            </p:cNvPr>
            <p:cNvSpPr txBox="1">
              <a:spLocks noChangeArrowheads="1"/>
            </p:cNvSpPr>
            <p:nvPr/>
          </p:nvSpPr>
          <p:spPr bwMode="auto">
            <a:xfrm>
              <a:off x="2551" y="2943"/>
              <a:ext cx="1405" cy="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500" kern="0" dirty="0">
                  <a:solidFill>
                    <a:srgbClr val="000000"/>
                  </a:solidFill>
                </a:rPr>
                <a:t>payload data </a:t>
              </a:r>
            </a:p>
            <a:p>
              <a:pPr algn="ctr" defTabSz="685800">
                <a:defRPr/>
              </a:pPr>
              <a:r>
                <a:rPr lang="en-US" altLang="en-US" sz="1500" kern="0" dirty="0">
                  <a:solidFill>
                    <a:srgbClr val="000000"/>
                  </a:solidFill>
                </a:rPr>
                <a:t>(variable length,</a:t>
              </a:r>
            </a:p>
            <a:p>
              <a:pPr algn="ctr" defTabSz="685800">
                <a:defRPr/>
              </a:pPr>
              <a:r>
                <a:rPr lang="en-US" altLang="en-US" sz="1500" kern="0" dirty="0">
                  <a:solidFill>
                    <a:srgbClr val="000000"/>
                  </a:solidFill>
                </a:rPr>
                <a:t>typically a TCP </a:t>
              </a:r>
            </a:p>
            <a:p>
              <a:pPr algn="ctr" defTabSz="685800">
                <a:defRPr/>
              </a:pPr>
              <a:r>
                <a:rPr lang="en-US" altLang="en-US" sz="1500" kern="0" dirty="0">
                  <a:solidFill>
                    <a:srgbClr val="000000"/>
                  </a:solidFill>
                </a:rPr>
                <a:t>or UDP segment)</a:t>
              </a:r>
              <a:endParaRPr lang="en-US" altLang="en-US" sz="1800" kern="0" dirty="0">
                <a:solidFill>
                  <a:srgbClr val="000000"/>
                </a:solidFill>
              </a:endParaRPr>
            </a:p>
          </p:txBody>
        </p:sp>
        <p:sp>
          <p:nvSpPr>
            <p:cNvPr id="131" name="Text Box 14">
              <a:extLst>
                <a:ext uri="{FF2B5EF4-FFF2-40B4-BE49-F238E27FC236}">
                  <a16:creationId xmlns:a16="http://schemas.microsoft.com/office/drawing/2014/main" id="{B7C5120C-457F-DD46-9E43-405DD41CBE92}"/>
                </a:ext>
              </a:extLst>
            </p:cNvPr>
            <p:cNvSpPr txBox="1">
              <a:spLocks noChangeArrowheads="1"/>
            </p:cNvSpPr>
            <p:nvPr/>
          </p:nvSpPr>
          <p:spPr bwMode="auto">
            <a:xfrm>
              <a:off x="1929" y="1320"/>
              <a:ext cx="13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16-bit identifier</a:t>
              </a:r>
              <a:endParaRPr lang="en-US" altLang="en-US" sz="1500" kern="0" dirty="0">
                <a:solidFill>
                  <a:srgbClr val="000000"/>
                </a:solidFill>
              </a:endParaRPr>
            </a:p>
          </p:txBody>
        </p:sp>
        <p:sp>
          <p:nvSpPr>
            <p:cNvPr id="132" name="Line 15">
              <a:extLst>
                <a:ext uri="{FF2B5EF4-FFF2-40B4-BE49-F238E27FC236}">
                  <a16:creationId xmlns:a16="http://schemas.microsoft.com/office/drawing/2014/main" id="{6E8EDA64-4D72-E644-A7A2-C624035759F6}"/>
                </a:ext>
              </a:extLst>
            </p:cNvPr>
            <p:cNvSpPr>
              <a:spLocks noChangeShapeType="1"/>
            </p:cNvSpPr>
            <p:nvPr/>
          </p:nvSpPr>
          <p:spPr bwMode="auto">
            <a:xfrm flipV="1">
              <a:off x="1984" y="22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33" name="Line 16">
              <a:extLst>
                <a:ext uri="{FF2B5EF4-FFF2-40B4-BE49-F238E27FC236}">
                  <a16:creationId xmlns:a16="http://schemas.microsoft.com/office/drawing/2014/main" id="{27C58B80-F7F3-2B47-A794-308A73EF2619}"/>
                </a:ext>
              </a:extLst>
            </p:cNvPr>
            <p:cNvSpPr>
              <a:spLocks noChangeShapeType="1"/>
            </p:cNvSpPr>
            <p:nvPr/>
          </p:nvSpPr>
          <p:spPr bwMode="auto">
            <a:xfrm flipV="1">
              <a:off x="1984" y="25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34" name="Text Box 17">
              <a:extLst>
                <a:ext uri="{FF2B5EF4-FFF2-40B4-BE49-F238E27FC236}">
                  <a16:creationId xmlns:a16="http://schemas.microsoft.com/office/drawing/2014/main" id="{C16AB973-194F-5A45-BFDC-8BC3E836AD72}"/>
                </a:ext>
              </a:extLst>
            </p:cNvPr>
            <p:cNvSpPr txBox="1">
              <a:spLocks noChangeArrowheads="1"/>
            </p:cNvSpPr>
            <p:nvPr/>
          </p:nvSpPr>
          <p:spPr bwMode="auto">
            <a:xfrm>
              <a:off x="3441" y="1549"/>
              <a:ext cx="85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header</a:t>
              </a:r>
            </a:p>
            <a:p>
              <a:pPr algn="ctr" defTabSz="685800">
                <a:defRPr/>
              </a:pPr>
              <a:r>
                <a:rPr lang="en-US" altLang="en-US" sz="1350" kern="0" dirty="0">
                  <a:solidFill>
                    <a:srgbClr val="000000"/>
                  </a:solidFill>
                </a:rPr>
                <a:t> checksum</a:t>
              </a:r>
            </a:p>
          </p:txBody>
        </p:sp>
        <p:sp>
          <p:nvSpPr>
            <p:cNvPr id="135" name="Text Box 18">
              <a:extLst>
                <a:ext uri="{FF2B5EF4-FFF2-40B4-BE49-F238E27FC236}">
                  <a16:creationId xmlns:a16="http://schemas.microsoft.com/office/drawing/2014/main" id="{73F144F0-D722-DD4E-913A-9D1C13A3A3DC}"/>
                </a:ext>
              </a:extLst>
            </p:cNvPr>
            <p:cNvSpPr txBox="1">
              <a:spLocks noChangeArrowheads="1"/>
            </p:cNvSpPr>
            <p:nvPr/>
          </p:nvSpPr>
          <p:spPr bwMode="auto">
            <a:xfrm>
              <a:off x="1986" y="1531"/>
              <a:ext cx="591"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time to</a:t>
              </a:r>
            </a:p>
            <a:p>
              <a:pPr algn="ctr" defTabSz="685800">
                <a:defRPr/>
              </a:pPr>
              <a:r>
                <a:rPr lang="en-US" altLang="en-US" sz="1350" kern="0" dirty="0">
                  <a:solidFill>
                    <a:srgbClr val="000000"/>
                  </a:solidFill>
                </a:rPr>
                <a:t>live</a:t>
              </a:r>
            </a:p>
          </p:txBody>
        </p:sp>
        <p:sp>
          <p:nvSpPr>
            <p:cNvPr id="136" name="Text Box 19">
              <a:extLst>
                <a:ext uri="{FF2B5EF4-FFF2-40B4-BE49-F238E27FC236}">
                  <a16:creationId xmlns:a16="http://schemas.microsoft.com/office/drawing/2014/main" id="{24E2CAED-6A31-D148-BAF3-804A52CDFBE4}"/>
                </a:ext>
              </a:extLst>
            </p:cNvPr>
            <p:cNvSpPr txBox="1">
              <a:spLocks noChangeArrowheads="1"/>
            </p:cNvSpPr>
            <p:nvPr/>
          </p:nvSpPr>
          <p:spPr bwMode="auto">
            <a:xfrm>
              <a:off x="2540" y="1959"/>
              <a:ext cx="132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source IP address</a:t>
              </a:r>
              <a:endParaRPr lang="en-US" altLang="en-US" sz="1800" kern="0" dirty="0">
                <a:solidFill>
                  <a:srgbClr val="000000"/>
                </a:solidFill>
              </a:endParaRPr>
            </a:p>
          </p:txBody>
        </p:sp>
        <p:sp>
          <p:nvSpPr>
            <p:cNvPr id="137" name="Text Box 31">
              <a:extLst>
                <a:ext uri="{FF2B5EF4-FFF2-40B4-BE49-F238E27FC236}">
                  <a16:creationId xmlns:a16="http://schemas.microsoft.com/office/drawing/2014/main" id="{BEE296DD-3F61-ED40-BC79-F3A9021ABAD7}"/>
                </a:ext>
              </a:extLst>
            </p:cNvPr>
            <p:cNvSpPr txBox="1">
              <a:spLocks noChangeArrowheads="1"/>
            </p:cNvSpPr>
            <p:nvPr/>
          </p:nvSpPr>
          <p:spPr bwMode="auto">
            <a:xfrm>
              <a:off x="2201" y="907"/>
              <a:ext cx="51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head.</a:t>
              </a:r>
            </a:p>
            <a:p>
              <a:pPr algn="ctr" defTabSz="685800">
                <a:defRPr/>
              </a:pPr>
              <a:r>
                <a:rPr lang="en-US" altLang="en-US" sz="1350" kern="0" dirty="0">
                  <a:solidFill>
                    <a:srgbClr val="000000"/>
                  </a:solidFill>
                </a:rPr>
                <a:t>len</a:t>
              </a:r>
              <a:endParaRPr lang="en-US" altLang="en-US" sz="1800" kern="0" dirty="0">
                <a:solidFill>
                  <a:srgbClr val="000000"/>
                </a:solidFill>
              </a:endParaRPr>
            </a:p>
          </p:txBody>
        </p:sp>
        <p:sp>
          <p:nvSpPr>
            <p:cNvPr id="138" name="Text Box 32">
              <a:extLst>
                <a:ext uri="{FF2B5EF4-FFF2-40B4-BE49-F238E27FC236}">
                  <a16:creationId xmlns:a16="http://schemas.microsoft.com/office/drawing/2014/main" id="{F97B56F5-767E-B842-B667-C862E3D38318}"/>
                </a:ext>
              </a:extLst>
            </p:cNvPr>
            <p:cNvSpPr txBox="1">
              <a:spLocks noChangeArrowheads="1"/>
            </p:cNvSpPr>
            <p:nvPr/>
          </p:nvSpPr>
          <p:spPr bwMode="auto">
            <a:xfrm>
              <a:off x="2624" y="901"/>
              <a:ext cx="616"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type of</a:t>
              </a:r>
            </a:p>
            <a:p>
              <a:pPr algn="ctr" defTabSz="685800">
                <a:defRPr/>
              </a:pPr>
              <a:r>
                <a:rPr lang="en-US" altLang="en-US" sz="1350" kern="0" dirty="0">
                  <a:solidFill>
                    <a:srgbClr val="000000"/>
                  </a:solidFill>
                </a:rPr>
                <a:t>service</a:t>
              </a:r>
              <a:endParaRPr lang="en-US" altLang="en-US" sz="1800" kern="0" dirty="0">
                <a:solidFill>
                  <a:srgbClr val="000000"/>
                </a:solidFill>
              </a:endParaRPr>
            </a:p>
          </p:txBody>
        </p:sp>
        <p:sp>
          <p:nvSpPr>
            <p:cNvPr id="139" name="Line 33">
              <a:extLst>
                <a:ext uri="{FF2B5EF4-FFF2-40B4-BE49-F238E27FC236}">
                  <a16:creationId xmlns:a16="http://schemas.microsoft.com/office/drawing/2014/main" id="{BDD076AF-08C4-4F47-9082-FD95A3AE8871}"/>
                </a:ext>
              </a:extLst>
            </p:cNvPr>
            <p:cNvSpPr>
              <a:spLocks noChangeShapeType="1"/>
            </p:cNvSpPr>
            <p:nvPr/>
          </p:nvSpPr>
          <p:spPr bwMode="auto">
            <a:xfrm flipH="1" flipV="1">
              <a:off x="2646" y="938"/>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40" name="Line 34">
              <a:extLst>
                <a:ext uri="{FF2B5EF4-FFF2-40B4-BE49-F238E27FC236}">
                  <a16:creationId xmlns:a16="http://schemas.microsoft.com/office/drawing/2014/main" id="{ED69820A-98A8-C448-9306-B016D7131F89}"/>
                </a:ext>
              </a:extLst>
            </p:cNvPr>
            <p:cNvSpPr>
              <a:spLocks noChangeShapeType="1"/>
            </p:cNvSpPr>
            <p:nvPr/>
          </p:nvSpPr>
          <p:spPr bwMode="auto">
            <a:xfrm flipH="1" flipV="1">
              <a:off x="2259" y="944"/>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41" name="Line 37">
              <a:extLst>
                <a:ext uri="{FF2B5EF4-FFF2-40B4-BE49-F238E27FC236}">
                  <a16:creationId xmlns:a16="http://schemas.microsoft.com/office/drawing/2014/main" id="{4C39789B-1352-C348-9751-652C9E9F847E}"/>
                </a:ext>
              </a:extLst>
            </p:cNvPr>
            <p:cNvSpPr>
              <a:spLocks noChangeShapeType="1"/>
            </p:cNvSpPr>
            <p:nvPr/>
          </p:nvSpPr>
          <p:spPr bwMode="auto">
            <a:xfrm flipH="1" flipV="1">
              <a:off x="3210" y="1265"/>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42" name="Text Box 38">
              <a:extLst>
                <a:ext uri="{FF2B5EF4-FFF2-40B4-BE49-F238E27FC236}">
                  <a16:creationId xmlns:a16="http://schemas.microsoft.com/office/drawing/2014/main" id="{D17766F8-1604-7844-AF12-5526BB719D91}"/>
                </a:ext>
              </a:extLst>
            </p:cNvPr>
            <p:cNvSpPr txBox="1">
              <a:spLocks noChangeArrowheads="1"/>
            </p:cNvSpPr>
            <p:nvPr/>
          </p:nvSpPr>
          <p:spPr bwMode="auto">
            <a:xfrm>
              <a:off x="3117" y="1314"/>
              <a:ext cx="4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flgs</a:t>
              </a:r>
              <a:endParaRPr lang="en-US" altLang="en-US" sz="1500" kern="0" dirty="0">
                <a:solidFill>
                  <a:srgbClr val="000000"/>
                </a:solidFill>
              </a:endParaRPr>
            </a:p>
          </p:txBody>
        </p:sp>
        <p:sp>
          <p:nvSpPr>
            <p:cNvPr id="143" name="Line 39">
              <a:extLst>
                <a:ext uri="{FF2B5EF4-FFF2-40B4-BE49-F238E27FC236}">
                  <a16:creationId xmlns:a16="http://schemas.microsoft.com/office/drawing/2014/main" id="{347B244D-DD5B-7D4F-94F4-91C0A285AFF9}"/>
                </a:ext>
              </a:extLst>
            </p:cNvPr>
            <p:cNvSpPr>
              <a:spLocks noChangeShapeType="1"/>
            </p:cNvSpPr>
            <p:nvPr/>
          </p:nvSpPr>
          <p:spPr bwMode="auto">
            <a:xfrm flipH="1" flipV="1">
              <a:off x="3504" y="1259"/>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44" name="Text Box 40">
              <a:extLst>
                <a:ext uri="{FF2B5EF4-FFF2-40B4-BE49-F238E27FC236}">
                  <a16:creationId xmlns:a16="http://schemas.microsoft.com/office/drawing/2014/main" id="{7247D566-AB42-3841-994B-E294C06DAB62}"/>
                </a:ext>
              </a:extLst>
            </p:cNvPr>
            <p:cNvSpPr txBox="1">
              <a:spLocks noChangeArrowheads="1"/>
            </p:cNvSpPr>
            <p:nvPr/>
          </p:nvSpPr>
          <p:spPr bwMode="auto">
            <a:xfrm>
              <a:off x="3531" y="1230"/>
              <a:ext cx="90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fragment</a:t>
              </a:r>
            </a:p>
            <a:p>
              <a:pPr algn="ctr" defTabSz="685800">
                <a:defRPr/>
              </a:pPr>
              <a:r>
                <a:rPr lang="en-US" altLang="en-US" sz="1350" kern="0" dirty="0">
                  <a:solidFill>
                    <a:srgbClr val="000000"/>
                  </a:solidFill>
                </a:rPr>
                <a:t> offset</a:t>
              </a:r>
              <a:endParaRPr lang="en-US" altLang="en-US" sz="1500" kern="0" dirty="0">
                <a:solidFill>
                  <a:srgbClr val="000000"/>
                </a:solidFill>
              </a:endParaRPr>
            </a:p>
          </p:txBody>
        </p:sp>
        <p:sp>
          <p:nvSpPr>
            <p:cNvPr id="145" name="Line 43">
              <a:extLst>
                <a:ext uri="{FF2B5EF4-FFF2-40B4-BE49-F238E27FC236}">
                  <a16:creationId xmlns:a16="http://schemas.microsoft.com/office/drawing/2014/main" id="{3AA0ABEC-0F0D-104F-A9E5-4BBC9A6A4208}"/>
                </a:ext>
              </a:extLst>
            </p:cNvPr>
            <p:cNvSpPr>
              <a:spLocks noChangeShapeType="1"/>
            </p:cNvSpPr>
            <p:nvPr/>
          </p:nvSpPr>
          <p:spPr bwMode="auto">
            <a:xfrm flipV="1">
              <a:off x="1984" y="1581"/>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46" name="Line 44">
              <a:extLst>
                <a:ext uri="{FF2B5EF4-FFF2-40B4-BE49-F238E27FC236}">
                  <a16:creationId xmlns:a16="http://schemas.microsoft.com/office/drawing/2014/main" id="{3BCAABB0-D26C-C443-A64A-9B2F129C9CCE}"/>
                </a:ext>
              </a:extLst>
            </p:cNvPr>
            <p:cNvSpPr>
              <a:spLocks noChangeShapeType="1"/>
            </p:cNvSpPr>
            <p:nvPr/>
          </p:nvSpPr>
          <p:spPr bwMode="auto">
            <a:xfrm flipH="1" flipV="1">
              <a:off x="3210" y="1583"/>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47" name="Line 45">
              <a:extLst>
                <a:ext uri="{FF2B5EF4-FFF2-40B4-BE49-F238E27FC236}">
                  <a16:creationId xmlns:a16="http://schemas.microsoft.com/office/drawing/2014/main" id="{E866F42A-10BE-C449-97E1-04B252E8309D}"/>
                </a:ext>
              </a:extLst>
            </p:cNvPr>
            <p:cNvSpPr>
              <a:spLocks noChangeShapeType="1"/>
            </p:cNvSpPr>
            <p:nvPr/>
          </p:nvSpPr>
          <p:spPr bwMode="auto">
            <a:xfrm flipV="1">
              <a:off x="1972" y="19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48" name="Text Box 46">
              <a:extLst>
                <a:ext uri="{FF2B5EF4-FFF2-40B4-BE49-F238E27FC236}">
                  <a16:creationId xmlns:a16="http://schemas.microsoft.com/office/drawing/2014/main" id="{E683D402-CA7F-9F47-849F-2224DC3DE9FB}"/>
                </a:ext>
              </a:extLst>
            </p:cNvPr>
            <p:cNvSpPr txBox="1">
              <a:spLocks noChangeArrowheads="1"/>
            </p:cNvSpPr>
            <p:nvPr/>
          </p:nvSpPr>
          <p:spPr bwMode="auto">
            <a:xfrm>
              <a:off x="2646" y="1525"/>
              <a:ext cx="527"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upper</a:t>
              </a:r>
            </a:p>
            <a:p>
              <a:pPr algn="ctr" defTabSz="685800">
                <a:defRPr/>
              </a:pPr>
              <a:r>
                <a:rPr lang="en-US" altLang="en-US" sz="1350" kern="0" dirty="0">
                  <a:solidFill>
                    <a:srgbClr val="000000"/>
                  </a:solidFill>
                </a:rPr>
                <a:t> layer</a:t>
              </a:r>
            </a:p>
          </p:txBody>
        </p:sp>
        <p:sp>
          <p:nvSpPr>
            <p:cNvPr id="149" name="Line 47">
              <a:extLst>
                <a:ext uri="{FF2B5EF4-FFF2-40B4-BE49-F238E27FC236}">
                  <a16:creationId xmlns:a16="http://schemas.microsoft.com/office/drawing/2014/main" id="{0E531E3C-4F5A-D941-83E8-AE1464B5A344}"/>
                </a:ext>
              </a:extLst>
            </p:cNvPr>
            <p:cNvSpPr>
              <a:spLocks noChangeShapeType="1"/>
            </p:cNvSpPr>
            <p:nvPr/>
          </p:nvSpPr>
          <p:spPr bwMode="auto">
            <a:xfrm flipH="1" flipV="1">
              <a:off x="2610" y="1589"/>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50" name="Text Box 49">
              <a:extLst>
                <a:ext uri="{FF2B5EF4-FFF2-40B4-BE49-F238E27FC236}">
                  <a16:creationId xmlns:a16="http://schemas.microsoft.com/office/drawing/2014/main" id="{0D207251-C799-F041-9618-AD88DBAA8CF0}"/>
                </a:ext>
              </a:extLst>
            </p:cNvPr>
            <p:cNvSpPr txBox="1">
              <a:spLocks noChangeArrowheads="1"/>
            </p:cNvSpPr>
            <p:nvPr/>
          </p:nvSpPr>
          <p:spPr bwMode="auto">
            <a:xfrm>
              <a:off x="2431" y="2235"/>
              <a:ext cx="15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destination IP address</a:t>
              </a:r>
              <a:endParaRPr lang="en-US" altLang="en-US" sz="1800" kern="0" dirty="0">
                <a:solidFill>
                  <a:srgbClr val="000000"/>
                </a:solidFill>
              </a:endParaRPr>
            </a:p>
          </p:txBody>
        </p:sp>
        <p:sp>
          <p:nvSpPr>
            <p:cNvPr id="151" name="Line 50">
              <a:extLst>
                <a:ext uri="{FF2B5EF4-FFF2-40B4-BE49-F238E27FC236}">
                  <a16:creationId xmlns:a16="http://schemas.microsoft.com/office/drawing/2014/main" id="{3D7847B5-06DC-744F-AFA4-710C1C3AACDA}"/>
                </a:ext>
              </a:extLst>
            </p:cNvPr>
            <p:cNvSpPr>
              <a:spLocks noChangeShapeType="1"/>
            </p:cNvSpPr>
            <p:nvPr/>
          </p:nvSpPr>
          <p:spPr bwMode="auto">
            <a:xfrm flipV="1">
              <a:off x="1984" y="2787"/>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52" name="Text Box 51">
              <a:extLst>
                <a:ext uri="{FF2B5EF4-FFF2-40B4-BE49-F238E27FC236}">
                  <a16:creationId xmlns:a16="http://schemas.microsoft.com/office/drawing/2014/main" id="{DDCF4509-5098-514D-8D40-9FA4EA41780D}"/>
                </a:ext>
              </a:extLst>
            </p:cNvPr>
            <p:cNvSpPr txBox="1">
              <a:spLocks noChangeArrowheads="1"/>
            </p:cNvSpPr>
            <p:nvPr/>
          </p:nvSpPr>
          <p:spPr bwMode="auto">
            <a:xfrm>
              <a:off x="2648" y="2529"/>
              <a:ext cx="11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350" kern="0" dirty="0">
                  <a:solidFill>
                    <a:srgbClr val="000000"/>
                  </a:solidFill>
                </a:rPr>
                <a:t>options (if any)</a:t>
              </a:r>
              <a:endParaRPr lang="en-US" altLang="en-US" sz="1800" kern="0" dirty="0">
                <a:solidFill>
                  <a:srgbClr val="000000"/>
                </a:solidFill>
              </a:endParaRPr>
            </a:p>
          </p:txBody>
        </p:sp>
      </p:grpSp>
      <p:grpSp>
        <p:nvGrpSpPr>
          <p:cNvPr id="153" name="Group 56">
            <a:extLst>
              <a:ext uri="{FF2B5EF4-FFF2-40B4-BE49-F238E27FC236}">
                <a16:creationId xmlns:a16="http://schemas.microsoft.com/office/drawing/2014/main" id="{F46ED7D0-3A4C-C74F-A2AF-2F28546928AE}"/>
              </a:ext>
            </a:extLst>
          </p:cNvPr>
          <p:cNvGrpSpPr>
            <a:grpSpLocks/>
          </p:cNvGrpSpPr>
          <p:nvPr/>
        </p:nvGrpSpPr>
        <p:grpSpPr bwMode="auto">
          <a:xfrm>
            <a:off x="798578" y="2095320"/>
            <a:ext cx="2699147" cy="300036"/>
            <a:chOff x="-198" y="851"/>
            <a:chExt cx="2267" cy="252"/>
          </a:xfrm>
        </p:grpSpPr>
        <p:sp>
          <p:nvSpPr>
            <p:cNvPr id="154" name="Text Box 20">
              <a:extLst>
                <a:ext uri="{FF2B5EF4-FFF2-40B4-BE49-F238E27FC236}">
                  <a16:creationId xmlns:a16="http://schemas.microsoft.com/office/drawing/2014/main" id="{DD501FF6-E28D-E740-B77A-CD4A3210C2D5}"/>
                </a:ext>
              </a:extLst>
            </p:cNvPr>
            <p:cNvSpPr txBox="1">
              <a:spLocks noChangeArrowheads="1"/>
            </p:cNvSpPr>
            <p:nvPr/>
          </p:nvSpPr>
          <p:spPr bwMode="auto">
            <a:xfrm>
              <a:off x="-198" y="851"/>
              <a:ext cx="19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350" kern="0" dirty="0">
                  <a:solidFill>
                    <a:srgbClr val="000000"/>
                  </a:solidFill>
                </a:rPr>
                <a:t>IP protocol version number</a:t>
              </a:r>
              <a:endParaRPr lang="en-US" altLang="en-US" sz="750" kern="0" dirty="0">
                <a:solidFill>
                  <a:srgbClr val="000000"/>
                </a:solidFill>
              </a:endParaRPr>
            </a:p>
          </p:txBody>
        </p:sp>
        <p:sp>
          <p:nvSpPr>
            <p:cNvPr id="155" name="Line 23">
              <a:extLst>
                <a:ext uri="{FF2B5EF4-FFF2-40B4-BE49-F238E27FC236}">
                  <a16:creationId xmlns:a16="http://schemas.microsoft.com/office/drawing/2014/main" id="{F85B0816-D21B-CB47-8C66-E05D0680EC83}"/>
                </a:ext>
              </a:extLst>
            </p:cNvPr>
            <p:cNvSpPr>
              <a:spLocks noChangeShapeType="1"/>
            </p:cNvSpPr>
            <p:nvPr/>
          </p:nvSpPr>
          <p:spPr bwMode="auto">
            <a:xfrm flipV="1">
              <a:off x="1740" y="996"/>
              <a:ext cx="329"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grpSp>
      <p:grpSp>
        <p:nvGrpSpPr>
          <p:cNvPr id="156" name="Group 57">
            <a:extLst>
              <a:ext uri="{FF2B5EF4-FFF2-40B4-BE49-F238E27FC236}">
                <a16:creationId xmlns:a16="http://schemas.microsoft.com/office/drawing/2014/main" id="{09D76537-7447-BC4F-803B-D699F93DFDEB}"/>
              </a:ext>
            </a:extLst>
          </p:cNvPr>
          <p:cNvGrpSpPr>
            <a:grpSpLocks/>
          </p:cNvGrpSpPr>
          <p:nvPr/>
        </p:nvGrpSpPr>
        <p:grpSpPr bwMode="auto">
          <a:xfrm>
            <a:off x="921212" y="2360838"/>
            <a:ext cx="2863454" cy="300039"/>
            <a:chOff x="-95" y="1074"/>
            <a:chExt cx="2405" cy="252"/>
          </a:xfrm>
        </p:grpSpPr>
        <p:sp>
          <p:nvSpPr>
            <p:cNvPr id="157" name="Text Box 21">
              <a:extLst>
                <a:ext uri="{FF2B5EF4-FFF2-40B4-BE49-F238E27FC236}">
                  <a16:creationId xmlns:a16="http://schemas.microsoft.com/office/drawing/2014/main" id="{6BB3B2E4-B494-8F48-ADC1-00DA5E9C53C6}"/>
                </a:ext>
              </a:extLst>
            </p:cNvPr>
            <p:cNvSpPr txBox="1">
              <a:spLocks noChangeArrowheads="1"/>
            </p:cNvSpPr>
            <p:nvPr/>
          </p:nvSpPr>
          <p:spPr bwMode="auto">
            <a:xfrm>
              <a:off x="-95" y="1074"/>
              <a:ext cx="18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350" kern="0" dirty="0">
                  <a:solidFill>
                    <a:srgbClr val="000000"/>
                  </a:solidFill>
                </a:rPr>
                <a:t>header length(bytes)</a:t>
              </a:r>
              <a:endParaRPr lang="en-US" altLang="en-US" sz="750" kern="0" dirty="0">
                <a:solidFill>
                  <a:srgbClr val="000000"/>
                </a:solidFill>
              </a:endParaRPr>
            </a:p>
          </p:txBody>
        </p:sp>
        <p:sp>
          <p:nvSpPr>
            <p:cNvPr id="158" name="Line 24">
              <a:extLst>
                <a:ext uri="{FF2B5EF4-FFF2-40B4-BE49-F238E27FC236}">
                  <a16:creationId xmlns:a16="http://schemas.microsoft.com/office/drawing/2014/main" id="{706E58AF-5939-4644-8ECF-E13603BC22AD}"/>
                </a:ext>
              </a:extLst>
            </p:cNvPr>
            <p:cNvSpPr>
              <a:spLocks noChangeShapeType="1"/>
            </p:cNvSpPr>
            <p:nvPr/>
          </p:nvSpPr>
          <p:spPr bwMode="auto">
            <a:xfrm flipV="1">
              <a:off x="1748" y="1184"/>
              <a:ext cx="562"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grpSp>
      <p:grpSp>
        <p:nvGrpSpPr>
          <p:cNvPr id="159" name="Group 60">
            <a:extLst>
              <a:ext uri="{FF2B5EF4-FFF2-40B4-BE49-F238E27FC236}">
                <a16:creationId xmlns:a16="http://schemas.microsoft.com/office/drawing/2014/main" id="{4258D741-EF03-AB43-8674-1FF314406AE4}"/>
              </a:ext>
            </a:extLst>
          </p:cNvPr>
          <p:cNvGrpSpPr>
            <a:grpSpLocks/>
          </p:cNvGrpSpPr>
          <p:nvPr/>
        </p:nvGrpSpPr>
        <p:grpSpPr bwMode="auto">
          <a:xfrm>
            <a:off x="113967" y="3190905"/>
            <a:ext cx="4151711" cy="958454"/>
            <a:chOff x="-773" y="1434"/>
            <a:chExt cx="3487" cy="805"/>
          </a:xfrm>
        </p:grpSpPr>
        <p:sp>
          <p:nvSpPr>
            <p:cNvPr id="160" name="Text Box 27">
              <a:extLst>
                <a:ext uri="{FF2B5EF4-FFF2-40B4-BE49-F238E27FC236}">
                  <a16:creationId xmlns:a16="http://schemas.microsoft.com/office/drawing/2014/main" id="{2ABE1009-3567-E94C-9ECA-3B9CCF763210}"/>
                </a:ext>
              </a:extLst>
            </p:cNvPr>
            <p:cNvSpPr txBox="1">
              <a:spLocks noChangeArrowheads="1"/>
            </p:cNvSpPr>
            <p:nvPr/>
          </p:nvSpPr>
          <p:spPr bwMode="auto">
            <a:xfrm>
              <a:off x="-773" y="1987"/>
              <a:ext cx="25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350" kern="0" dirty="0">
                  <a:solidFill>
                    <a:srgbClr val="000000"/>
                  </a:solidFill>
                </a:rPr>
                <a:t>upper layer protocol </a:t>
              </a:r>
              <a:r>
                <a:rPr lang="en-US" altLang="en-US" sz="1200" kern="0" dirty="0">
                  <a:solidFill>
                    <a:srgbClr val="000000"/>
                  </a:solidFill>
                </a:rPr>
                <a:t>(e.g., TCP or UDP)</a:t>
              </a:r>
              <a:endParaRPr lang="en-US" altLang="en-US" sz="1350" kern="0" dirty="0">
                <a:solidFill>
                  <a:srgbClr val="000000"/>
                </a:solidFill>
              </a:endParaRPr>
            </a:p>
          </p:txBody>
        </p:sp>
        <p:sp>
          <p:nvSpPr>
            <p:cNvPr id="161" name="Line 28">
              <a:extLst>
                <a:ext uri="{FF2B5EF4-FFF2-40B4-BE49-F238E27FC236}">
                  <a16:creationId xmlns:a16="http://schemas.microsoft.com/office/drawing/2014/main" id="{5458F48E-33B1-F14C-AC20-E862C9526956}"/>
                </a:ext>
              </a:extLst>
            </p:cNvPr>
            <p:cNvSpPr>
              <a:spLocks noChangeShapeType="1"/>
            </p:cNvSpPr>
            <p:nvPr/>
          </p:nvSpPr>
          <p:spPr bwMode="auto">
            <a:xfrm flipV="1">
              <a:off x="1766" y="1434"/>
              <a:ext cx="948" cy="672"/>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grpSp>
      <p:grpSp>
        <p:nvGrpSpPr>
          <p:cNvPr id="162" name="Group 61">
            <a:extLst>
              <a:ext uri="{FF2B5EF4-FFF2-40B4-BE49-F238E27FC236}">
                <a16:creationId xmlns:a16="http://schemas.microsoft.com/office/drawing/2014/main" id="{CACE9B0D-62D6-B34E-89A0-4E0AFCF2C3B2}"/>
              </a:ext>
            </a:extLst>
          </p:cNvPr>
          <p:cNvGrpSpPr>
            <a:grpSpLocks/>
          </p:cNvGrpSpPr>
          <p:nvPr/>
        </p:nvGrpSpPr>
        <p:grpSpPr bwMode="auto">
          <a:xfrm>
            <a:off x="6076618" y="2096514"/>
            <a:ext cx="1799034" cy="508397"/>
            <a:chOff x="4235" y="852"/>
            <a:chExt cx="1511" cy="427"/>
          </a:xfrm>
        </p:grpSpPr>
        <p:sp>
          <p:nvSpPr>
            <p:cNvPr id="163" name="Text Box 26">
              <a:extLst>
                <a:ext uri="{FF2B5EF4-FFF2-40B4-BE49-F238E27FC236}">
                  <a16:creationId xmlns:a16="http://schemas.microsoft.com/office/drawing/2014/main" id="{30E427B3-A5A5-4D4F-B92F-565A16BD627D}"/>
                </a:ext>
              </a:extLst>
            </p:cNvPr>
            <p:cNvSpPr txBox="1">
              <a:spLocks noChangeArrowheads="1"/>
            </p:cNvSpPr>
            <p:nvPr/>
          </p:nvSpPr>
          <p:spPr bwMode="auto">
            <a:xfrm>
              <a:off x="4662" y="852"/>
              <a:ext cx="108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kern="0" dirty="0">
                  <a:solidFill>
                    <a:srgbClr val="000000"/>
                  </a:solidFill>
                </a:rPr>
                <a:t>total datagram</a:t>
              </a:r>
            </a:p>
            <a:p>
              <a:pPr defTabSz="685800">
                <a:defRPr/>
              </a:pPr>
              <a:r>
                <a:rPr lang="en-US" altLang="en-US" sz="1350" kern="0" dirty="0">
                  <a:solidFill>
                    <a:srgbClr val="000000"/>
                  </a:solidFill>
                </a:rPr>
                <a:t>length (bytes)</a:t>
              </a:r>
            </a:p>
          </p:txBody>
        </p:sp>
        <p:sp>
          <p:nvSpPr>
            <p:cNvPr id="164" name="Line 30">
              <a:extLst>
                <a:ext uri="{FF2B5EF4-FFF2-40B4-BE49-F238E27FC236}">
                  <a16:creationId xmlns:a16="http://schemas.microsoft.com/office/drawing/2014/main" id="{3AF47488-1011-A848-99D2-FC6016C55C06}"/>
                </a:ext>
              </a:extLst>
            </p:cNvPr>
            <p:cNvSpPr>
              <a:spLocks noChangeShapeType="1"/>
            </p:cNvSpPr>
            <p:nvPr/>
          </p:nvSpPr>
          <p:spPr bwMode="auto">
            <a:xfrm flipH="1">
              <a:off x="4235" y="1149"/>
              <a:ext cx="429"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grpSp>
      <p:grpSp>
        <p:nvGrpSpPr>
          <p:cNvPr id="165" name="Group 58">
            <a:extLst>
              <a:ext uri="{FF2B5EF4-FFF2-40B4-BE49-F238E27FC236}">
                <a16:creationId xmlns:a16="http://schemas.microsoft.com/office/drawing/2014/main" id="{48A836F1-05EC-DE4D-B1B8-1C5131E8EA97}"/>
              </a:ext>
            </a:extLst>
          </p:cNvPr>
          <p:cNvGrpSpPr>
            <a:grpSpLocks/>
          </p:cNvGrpSpPr>
          <p:nvPr/>
        </p:nvGrpSpPr>
        <p:grpSpPr bwMode="auto">
          <a:xfrm>
            <a:off x="1742746" y="2402511"/>
            <a:ext cx="2533652" cy="1113239"/>
            <a:chOff x="595" y="1109"/>
            <a:chExt cx="2128" cy="935"/>
          </a:xfrm>
        </p:grpSpPr>
        <p:sp>
          <p:nvSpPr>
            <p:cNvPr id="166" name="Text Box 35">
              <a:extLst>
                <a:ext uri="{FF2B5EF4-FFF2-40B4-BE49-F238E27FC236}">
                  <a16:creationId xmlns:a16="http://schemas.microsoft.com/office/drawing/2014/main" id="{30EE02F6-A328-8D46-8C08-639ED0208690}"/>
                </a:ext>
              </a:extLst>
            </p:cNvPr>
            <p:cNvSpPr txBox="1">
              <a:spLocks noChangeArrowheads="1"/>
            </p:cNvSpPr>
            <p:nvPr/>
          </p:nvSpPr>
          <p:spPr bwMode="auto">
            <a:xfrm>
              <a:off x="595" y="1307"/>
              <a:ext cx="1229"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ja-JP" sz="1350" kern="0" dirty="0">
                  <a:solidFill>
                    <a:srgbClr val="000000"/>
                  </a:solidFill>
                </a:rPr>
                <a:t>“type” of service:</a:t>
              </a:r>
            </a:p>
            <a:p>
              <a:pPr marL="214313" indent="-123825" defTabSz="685800">
                <a:buClr>
                  <a:srgbClr val="0000A8"/>
                </a:buClr>
                <a:buFont typeface="Wingdings" pitchFamily="2" charset="2"/>
                <a:buChar char="§"/>
                <a:defRPr/>
              </a:pPr>
              <a:r>
                <a:rPr lang="en-US" altLang="ja-JP" sz="1200" kern="0" dirty="0">
                  <a:solidFill>
                    <a:srgbClr val="000000"/>
                  </a:solidFill>
                </a:rPr>
                <a:t>diffserv (0:5)</a:t>
              </a:r>
            </a:p>
            <a:p>
              <a:pPr marL="214313" indent="-123825" defTabSz="685800">
                <a:buClr>
                  <a:srgbClr val="0000A8"/>
                </a:buClr>
                <a:buFont typeface="Wingdings" pitchFamily="2" charset="2"/>
                <a:buChar char="§"/>
                <a:defRPr/>
              </a:pPr>
              <a:r>
                <a:rPr lang="en-US" altLang="ja-JP" sz="1200" kern="0" dirty="0">
                  <a:solidFill>
                    <a:srgbClr val="000000"/>
                  </a:solidFill>
                </a:rPr>
                <a:t>ECN (6:7)</a:t>
              </a:r>
            </a:p>
            <a:p>
              <a:pPr algn="r" defTabSz="685800">
                <a:defRPr/>
              </a:pPr>
              <a:r>
                <a:rPr lang="en-US" altLang="ja-JP" sz="1350" kern="0" dirty="0">
                  <a:solidFill>
                    <a:srgbClr val="000000"/>
                  </a:solidFill>
                </a:rPr>
                <a:t> </a:t>
              </a:r>
              <a:endParaRPr lang="en-US" altLang="en-US" sz="750" kern="0" dirty="0">
                <a:solidFill>
                  <a:srgbClr val="000000"/>
                </a:solidFill>
              </a:endParaRPr>
            </a:p>
          </p:txBody>
        </p:sp>
        <p:sp>
          <p:nvSpPr>
            <p:cNvPr id="167" name="Line 36">
              <a:extLst>
                <a:ext uri="{FF2B5EF4-FFF2-40B4-BE49-F238E27FC236}">
                  <a16:creationId xmlns:a16="http://schemas.microsoft.com/office/drawing/2014/main" id="{F3ABE1B3-92EF-EE40-8416-0B8D319EE942}"/>
                </a:ext>
              </a:extLst>
            </p:cNvPr>
            <p:cNvSpPr>
              <a:spLocks noChangeShapeType="1"/>
            </p:cNvSpPr>
            <p:nvPr/>
          </p:nvSpPr>
          <p:spPr bwMode="auto">
            <a:xfrm flipV="1">
              <a:off x="1746" y="1109"/>
              <a:ext cx="977" cy="32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grpSp>
      <p:grpSp>
        <p:nvGrpSpPr>
          <p:cNvPr id="168" name="Group 62">
            <a:extLst>
              <a:ext uri="{FF2B5EF4-FFF2-40B4-BE49-F238E27FC236}">
                <a16:creationId xmlns:a16="http://schemas.microsoft.com/office/drawing/2014/main" id="{4087126E-9476-2B47-BE4F-7A42B99BC7FE}"/>
              </a:ext>
            </a:extLst>
          </p:cNvPr>
          <p:cNvGrpSpPr>
            <a:grpSpLocks/>
          </p:cNvGrpSpPr>
          <p:nvPr/>
        </p:nvGrpSpPr>
        <p:grpSpPr bwMode="auto">
          <a:xfrm>
            <a:off x="4747881" y="2562048"/>
            <a:ext cx="3128963" cy="508397"/>
            <a:chOff x="3119" y="1243"/>
            <a:chExt cx="2628" cy="427"/>
          </a:xfrm>
        </p:grpSpPr>
        <p:sp>
          <p:nvSpPr>
            <p:cNvPr id="169" name="Text Box 25">
              <a:extLst>
                <a:ext uri="{FF2B5EF4-FFF2-40B4-BE49-F238E27FC236}">
                  <a16:creationId xmlns:a16="http://schemas.microsoft.com/office/drawing/2014/main" id="{512E3B71-E3FC-D34A-9DEC-E65FCBAE37BC}"/>
                </a:ext>
              </a:extLst>
            </p:cNvPr>
            <p:cNvSpPr txBox="1">
              <a:spLocks noChangeArrowheads="1"/>
            </p:cNvSpPr>
            <p:nvPr/>
          </p:nvSpPr>
          <p:spPr bwMode="auto">
            <a:xfrm>
              <a:off x="4663" y="1243"/>
              <a:ext cx="108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kern="0" dirty="0">
                  <a:solidFill>
                    <a:srgbClr val="000000"/>
                  </a:solidFill>
                </a:rPr>
                <a:t>fragmentation/</a:t>
              </a:r>
            </a:p>
            <a:p>
              <a:pPr defTabSz="685800">
                <a:defRPr/>
              </a:pPr>
              <a:r>
                <a:rPr lang="en-US" altLang="en-US" sz="1350" kern="0" dirty="0">
                  <a:solidFill>
                    <a:srgbClr val="000000"/>
                  </a:solidFill>
                </a:rPr>
                <a:t>reassembly</a:t>
              </a:r>
            </a:p>
          </p:txBody>
        </p:sp>
        <p:sp>
          <p:nvSpPr>
            <p:cNvPr id="170" name="Line 29">
              <a:extLst>
                <a:ext uri="{FF2B5EF4-FFF2-40B4-BE49-F238E27FC236}">
                  <a16:creationId xmlns:a16="http://schemas.microsoft.com/office/drawing/2014/main" id="{82BB5C8E-99D8-AB4F-812C-C8887D1E1E10}"/>
                </a:ext>
              </a:extLst>
            </p:cNvPr>
            <p:cNvSpPr>
              <a:spLocks noChangeShapeType="1"/>
            </p:cNvSpPr>
            <p:nvPr/>
          </p:nvSpPr>
          <p:spPr bwMode="auto">
            <a:xfrm flipH="1">
              <a:off x="3443" y="1358"/>
              <a:ext cx="1228" cy="177"/>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71" name="Line 41">
              <a:extLst>
                <a:ext uri="{FF2B5EF4-FFF2-40B4-BE49-F238E27FC236}">
                  <a16:creationId xmlns:a16="http://schemas.microsoft.com/office/drawing/2014/main" id="{179D4ED7-D84C-2F4C-8903-32B5F0AEECE1}"/>
                </a:ext>
              </a:extLst>
            </p:cNvPr>
            <p:cNvSpPr>
              <a:spLocks noChangeShapeType="1"/>
            </p:cNvSpPr>
            <p:nvPr/>
          </p:nvSpPr>
          <p:spPr bwMode="auto">
            <a:xfrm flipH="1" flipV="1">
              <a:off x="4301" y="1349"/>
              <a:ext cx="381" cy="2"/>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172" name="Line 42">
              <a:extLst>
                <a:ext uri="{FF2B5EF4-FFF2-40B4-BE49-F238E27FC236}">
                  <a16:creationId xmlns:a16="http://schemas.microsoft.com/office/drawing/2014/main" id="{E9410A24-EBCE-C541-89FB-7277C9EF1BCD}"/>
                </a:ext>
              </a:extLst>
            </p:cNvPr>
            <p:cNvSpPr>
              <a:spLocks noChangeShapeType="1"/>
            </p:cNvSpPr>
            <p:nvPr/>
          </p:nvSpPr>
          <p:spPr bwMode="auto">
            <a:xfrm flipH="1">
              <a:off x="3119" y="1354"/>
              <a:ext cx="1555" cy="103"/>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grpSp>
      <p:grpSp>
        <p:nvGrpSpPr>
          <p:cNvPr id="173" name="Group 59">
            <a:extLst>
              <a:ext uri="{FF2B5EF4-FFF2-40B4-BE49-F238E27FC236}">
                <a16:creationId xmlns:a16="http://schemas.microsoft.com/office/drawing/2014/main" id="{F3E5E860-E3FA-1043-A7CA-31E59409DB3B}"/>
              </a:ext>
            </a:extLst>
          </p:cNvPr>
          <p:cNvGrpSpPr>
            <a:grpSpLocks/>
          </p:cNvGrpSpPr>
          <p:nvPr/>
        </p:nvGrpSpPr>
        <p:grpSpPr bwMode="auto">
          <a:xfrm>
            <a:off x="590190" y="3257609"/>
            <a:ext cx="2981327" cy="565548"/>
            <a:chOff x="-366" y="1483"/>
            <a:chExt cx="2504" cy="475"/>
          </a:xfrm>
        </p:grpSpPr>
        <p:sp>
          <p:nvSpPr>
            <p:cNvPr id="174" name="Text Box 22">
              <a:extLst>
                <a:ext uri="{FF2B5EF4-FFF2-40B4-BE49-F238E27FC236}">
                  <a16:creationId xmlns:a16="http://schemas.microsoft.com/office/drawing/2014/main" id="{F3BCF68C-C9A4-A848-9F65-D9DA862AA831}"/>
                </a:ext>
              </a:extLst>
            </p:cNvPr>
            <p:cNvSpPr txBox="1">
              <a:spLocks noChangeArrowheads="1"/>
            </p:cNvSpPr>
            <p:nvPr/>
          </p:nvSpPr>
          <p:spPr bwMode="auto">
            <a:xfrm>
              <a:off x="-366" y="1551"/>
              <a:ext cx="214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350" kern="0" dirty="0">
                  <a:solidFill>
                    <a:srgbClr val="000000"/>
                  </a:solidFill>
                </a:rPr>
                <a:t>TTL: remaining  max hops</a:t>
              </a:r>
            </a:p>
            <a:p>
              <a:pPr algn="r" defTabSz="685800">
                <a:defRPr/>
              </a:pPr>
              <a:r>
                <a:rPr lang="en-US" altLang="en-US" sz="1200" kern="0" dirty="0">
                  <a:solidFill>
                    <a:srgbClr val="000000"/>
                  </a:solidFill>
                </a:rPr>
                <a:t>(decremented at each router)</a:t>
              </a:r>
            </a:p>
          </p:txBody>
        </p:sp>
        <p:sp>
          <p:nvSpPr>
            <p:cNvPr id="175" name="Line 48">
              <a:extLst>
                <a:ext uri="{FF2B5EF4-FFF2-40B4-BE49-F238E27FC236}">
                  <a16:creationId xmlns:a16="http://schemas.microsoft.com/office/drawing/2014/main" id="{E8C2FC41-FC21-EB4A-81CC-6A4E388FF3AA}"/>
                </a:ext>
              </a:extLst>
            </p:cNvPr>
            <p:cNvSpPr>
              <a:spLocks noChangeShapeType="1"/>
            </p:cNvSpPr>
            <p:nvPr/>
          </p:nvSpPr>
          <p:spPr bwMode="auto">
            <a:xfrm flipV="1">
              <a:off x="1753" y="1483"/>
              <a:ext cx="385" cy="277"/>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grpSp>
      <p:grpSp>
        <p:nvGrpSpPr>
          <p:cNvPr id="9" name="Group 8">
            <a:extLst>
              <a:ext uri="{FF2B5EF4-FFF2-40B4-BE49-F238E27FC236}">
                <a16:creationId xmlns:a16="http://schemas.microsoft.com/office/drawing/2014/main" id="{B25CB83E-CD83-0142-A8BA-DD13CD2B40A6}"/>
              </a:ext>
            </a:extLst>
          </p:cNvPr>
          <p:cNvGrpSpPr/>
          <p:nvPr/>
        </p:nvGrpSpPr>
        <p:grpSpPr>
          <a:xfrm>
            <a:off x="5789951" y="4118316"/>
            <a:ext cx="2978927" cy="507831"/>
            <a:chOff x="7719934" y="4348085"/>
            <a:chExt cx="3971903" cy="677106"/>
          </a:xfrm>
        </p:grpSpPr>
        <p:sp>
          <p:nvSpPr>
            <p:cNvPr id="177" name="Text Box 52">
              <a:extLst>
                <a:ext uri="{FF2B5EF4-FFF2-40B4-BE49-F238E27FC236}">
                  <a16:creationId xmlns:a16="http://schemas.microsoft.com/office/drawing/2014/main" id="{BF8FA8D1-8EB5-EC42-B60C-8F8686E922DD}"/>
                </a:ext>
              </a:extLst>
            </p:cNvPr>
            <p:cNvSpPr txBox="1">
              <a:spLocks noChangeArrowheads="1"/>
            </p:cNvSpPr>
            <p:nvPr/>
          </p:nvSpPr>
          <p:spPr bwMode="auto">
            <a:xfrm>
              <a:off x="8778774" y="4348085"/>
              <a:ext cx="2913063" cy="67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kern="0" dirty="0">
                  <a:solidFill>
                    <a:srgbClr val="000000"/>
                  </a:solidFill>
                </a:rPr>
                <a:t>e.g., timestamp, record route taken</a:t>
              </a:r>
            </a:p>
          </p:txBody>
        </p:sp>
        <p:cxnSp>
          <p:nvCxnSpPr>
            <p:cNvPr id="8" name="Straight Connector 7">
              <a:extLst>
                <a:ext uri="{FF2B5EF4-FFF2-40B4-BE49-F238E27FC236}">
                  <a16:creationId xmlns:a16="http://schemas.microsoft.com/office/drawing/2014/main" id="{A07119CE-E347-CD4F-96FC-B870BFBD3116}"/>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DE02EBEC-D750-1C46-BDD3-4EC55628DEFF}"/>
              </a:ext>
            </a:extLst>
          </p:cNvPr>
          <p:cNvGrpSpPr/>
          <p:nvPr/>
        </p:nvGrpSpPr>
        <p:grpSpPr>
          <a:xfrm>
            <a:off x="5804738" y="3395708"/>
            <a:ext cx="2978927" cy="300082"/>
            <a:chOff x="7719934" y="4348085"/>
            <a:chExt cx="3971903" cy="400108"/>
          </a:xfrm>
        </p:grpSpPr>
        <p:sp>
          <p:nvSpPr>
            <p:cNvPr id="67" name="Text Box 52">
              <a:extLst>
                <a:ext uri="{FF2B5EF4-FFF2-40B4-BE49-F238E27FC236}">
                  <a16:creationId xmlns:a16="http://schemas.microsoft.com/office/drawing/2014/main" id="{3CBC8EE1-4E86-AC49-A4AC-FB712E2BE141}"/>
                </a:ext>
              </a:extLst>
            </p:cNvPr>
            <p:cNvSpPr txBox="1">
              <a:spLocks noChangeArrowheads="1"/>
            </p:cNvSpPr>
            <p:nvPr/>
          </p:nvSpPr>
          <p:spPr bwMode="auto">
            <a:xfrm>
              <a:off x="8778774" y="4348085"/>
              <a:ext cx="2913063"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kern="0" dirty="0">
                  <a:solidFill>
                    <a:srgbClr val="000000"/>
                  </a:solidFill>
                </a:rPr>
                <a:t>32-bit source IP address</a:t>
              </a:r>
            </a:p>
          </p:txBody>
        </p:sp>
        <p:cxnSp>
          <p:nvCxnSpPr>
            <p:cNvPr id="68" name="Straight Connector 67">
              <a:extLst>
                <a:ext uri="{FF2B5EF4-FFF2-40B4-BE49-F238E27FC236}">
                  <a16:creationId xmlns:a16="http://schemas.microsoft.com/office/drawing/2014/main" id="{8DD646F6-F588-FB47-AA50-B7AAB81C8AE9}"/>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9D96639F-797D-284B-91E2-801FDB799E1D}"/>
              </a:ext>
            </a:extLst>
          </p:cNvPr>
          <p:cNvGrpSpPr/>
          <p:nvPr/>
        </p:nvGrpSpPr>
        <p:grpSpPr>
          <a:xfrm>
            <a:off x="5791177" y="3754105"/>
            <a:ext cx="3135848" cy="507831"/>
            <a:chOff x="7719934" y="4348085"/>
            <a:chExt cx="4181130" cy="677106"/>
          </a:xfrm>
        </p:grpSpPr>
        <p:sp>
          <p:nvSpPr>
            <p:cNvPr id="70" name="Text Box 52">
              <a:extLst>
                <a:ext uri="{FF2B5EF4-FFF2-40B4-BE49-F238E27FC236}">
                  <a16:creationId xmlns:a16="http://schemas.microsoft.com/office/drawing/2014/main" id="{E0B8AC9F-9175-CD46-93B6-7B6E6B487849}"/>
                </a:ext>
              </a:extLst>
            </p:cNvPr>
            <p:cNvSpPr txBox="1">
              <a:spLocks noChangeArrowheads="1"/>
            </p:cNvSpPr>
            <p:nvPr/>
          </p:nvSpPr>
          <p:spPr bwMode="auto">
            <a:xfrm>
              <a:off x="8778774" y="4348085"/>
              <a:ext cx="3122290" cy="67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kern="0" dirty="0">
                  <a:solidFill>
                    <a:srgbClr val="000000"/>
                  </a:solidFill>
                </a:rPr>
                <a:t>32-bit destination IP address</a:t>
              </a:r>
            </a:p>
          </p:txBody>
        </p:sp>
        <p:cxnSp>
          <p:nvCxnSpPr>
            <p:cNvPr id="71" name="Straight Connector 70">
              <a:extLst>
                <a:ext uri="{FF2B5EF4-FFF2-40B4-BE49-F238E27FC236}">
                  <a16:creationId xmlns:a16="http://schemas.microsoft.com/office/drawing/2014/main" id="{4120CCDA-7A8F-1344-9A9B-52EEE045034B}"/>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9E74BE6E-3A51-9848-A524-4B01A8AE7030}"/>
              </a:ext>
            </a:extLst>
          </p:cNvPr>
          <p:cNvGrpSpPr/>
          <p:nvPr/>
        </p:nvGrpSpPr>
        <p:grpSpPr>
          <a:xfrm>
            <a:off x="5802800" y="3047928"/>
            <a:ext cx="2978927" cy="300082"/>
            <a:chOff x="7719934" y="4348085"/>
            <a:chExt cx="3971903" cy="400108"/>
          </a:xfrm>
        </p:grpSpPr>
        <p:sp>
          <p:nvSpPr>
            <p:cNvPr id="73" name="Text Box 52">
              <a:extLst>
                <a:ext uri="{FF2B5EF4-FFF2-40B4-BE49-F238E27FC236}">
                  <a16:creationId xmlns:a16="http://schemas.microsoft.com/office/drawing/2014/main" id="{A7B0ED1A-7B94-1F43-8F94-529E2D993741}"/>
                </a:ext>
              </a:extLst>
            </p:cNvPr>
            <p:cNvSpPr txBox="1">
              <a:spLocks noChangeArrowheads="1"/>
            </p:cNvSpPr>
            <p:nvPr/>
          </p:nvSpPr>
          <p:spPr bwMode="auto">
            <a:xfrm>
              <a:off x="8778774" y="4348085"/>
              <a:ext cx="2913063"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kern="0" dirty="0">
                  <a:solidFill>
                    <a:srgbClr val="000000"/>
                  </a:solidFill>
                </a:rPr>
                <a:t>header checksum</a:t>
              </a:r>
            </a:p>
          </p:txBody>
        </p:sp>
        <p:cxnSp>
          <p:nvCxnSpPr>
            <p:cNvPr id="74" name="Straight Connector 73">
              <a:extLst>
                <a:ext uri="{FF2B5EF4-FFF2-40B4-BE49-F238E27FC236}">
                  <a16:creationId xmlns:a16="http://schemas.microsoft.com/office/drawing/2014/main" id="{FD6BF316-20F5-9D47-88E4-912E1DFB3A16}"/>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1FEAE828-7047-3147-A47C-B181088247F3}"/>
              </a:ext>
            </a:extLst>
          </p:cNvPr>
          <p:cNvGrpSpPr/>
          <p:nvPr/>
        </p:nvGrpSpPr>
        <p:grpSpPr>
          <a:xfrm>
            <a:off x="6711046" y="2175783"/>
            <a:ext cx="2150269" cy="3624943"/>
            <a:chOff x="9209324" y="1834243"/>
            <a:chExt cx="2867024" cy="4833257"/>
          </a:xfrm>
        </p:grpSpPr>
        <p:cxnSp>
          <p:nvCxnSpPr>
            <p:cNvPr id="75" name="Straight Arrow Connector 74">
              <a:extLst>
                <a:ext uri="{FF2B5EF4-FFF2-40B4-BE49-F238E27FC236}">
                  <a16:creationId xmlns:a16="http://schemas.microsoft.com/office/drawing/2014/main" id="{A63DAC61-3FDE-8840-9F16-FD8E18BF0966}"/>
                </a:ext>
              </a:extLst>
            </p:cNvPr>
            <p:cNvCxnSpPr/>
            <p:nvPr/>
          </p:nvCxnSpPr>
          <p:spPr>
            <a:xfrm>
              <a:off x="11097988" y="1834243"/>
              <a:ext cx="0" cy="4833257"/>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D5FB8E8-CA23-894F-92FD-40ED972CF645}"/>
                </a:ext>
              </a:extLst>
            </p:cNvPr>
            <p:cNvCxnSpPr/>
            <p:nvPr/>
          </p:nvCxnSpPr>
          <p:spPr>
            <a:xfrm>
              <a:off x="10823536" y="1839686"/>
              <a:ext cx="60036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B2F5C4B-1186-4346-9A50-C9616F8D8E9F}"/>
                </a:ext>
              </a:extLst>
            </p:cNvPr>
            <p:cNvCxnSpPr/>
            <p:nvPr/>
          </p:nvCxnSpPr>
          <p:spPr>
            <a:xfrm>
              <a:off x="10828978" y="6645729"/>
              <a:ext cx="60036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BFCABC9A-B0D4-C84D-B341-359EA25A99AD}"/>
                </a:ext>
              </a:extLst>
            </p:cNvPr>
            <p:cNvSpPr txBox="1"/>
            <p:nvPr/>
          </p:nvSpPr>
          <p:spPr>
            <a:xfrm>
              <a:off x="9209324" y="3788230"/>
              <a:ext cx="2867024" cy="677108"/>
            </a:xfrm>
            <a:prstGeom prst="rect">
              <a:avLst/>
            </a:prstGeom>
            <a:solidFill>
              <a:schemeClr val="bg1"/>
            </a:solid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Maximum length: 64K bytes</a:t>
              </a:r>
            </a:p>
            <a:p>
              <a:pPr defTabSz="685800" eaLnBrk="1" fontAlgn="auto" hangingPunct="1">
                <a:spcBef>
                  <a:spcPts val="0"/>
                </a:spcBef>
                <a:spcAft>
                  <a:spcPts val="0"/>
                </a:spcAft>
                <a:defRPr/>
              </a:pPr>
              <a:r>
                <a:rPr lang="en-US" sz="1350" dirty="0">
                  <a:solidFill>
                    <a:prstClr val="black"/>
                  </a:solidFill>
                  <a:latin typeface="Calibri" panose="020F0502020204030204"/>
                  <a:ea typeface="+mn-ea"/>
                </a:rPr>
                <a:t>Typically: 1500 bytes or less</a:t>
              </a:r>
            </a:p>
          </p:txBody>
        </p:sp>
      </p:grpSp>
      <p:sp>
        <p:nvSpPr>
          <p:cNvPr id="79" name="Slide Number Placeholder 3">
            <a:extLst>
              <a:ext uri="{FF2B5EF4-FFF2-40B4-BE49-F238E27FC236}">
                <a16:creationId xmlns:a16="http://schemas.microsoft.com/office/drawing/2014/main" id="{4475E451-EA6C-E04C-BC05-BA34B2ECE74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45</a:t>
            </a:fld>
            <a:endParaRPr lang="en-US" dirty="0"/>
          </a:p>
        </p:txBody>
      </p:sp>
      <p:sp>
        <p:nvSpPr>
          <p:cNvPr id="7" name="Slide Number Placeholder 5">
            <a:extLst>
              <a:ext uri="{FF2B5EF4-FFF2-40B4-BE49-F238E27FC236}">
                <a16:creationId xmlns:a16="http://schemas.microsoft.com/office/drawing/2014/main" id="{34EF1A54-EA36-764C-A45C-C1BC8AB3600F}"/>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908581E0-0497-D647-9B86-CA2DA9E8C4C8}" type="slidenum">
              <a:rPr lang="en-US" altLang="en-US">
                <a:latin typeface="Tahoma" panose="020B0604030504040204" pitchFamily="34" charset="0"/>
              </a:rPr>
              <a:pPr/>
              <a:t>45</a:t>
            </a:fld>
            <a:endParaRPr lang="en-US" altLang="en-US" dirty="0">
              <a:latin typeface="Tahoma" panose="020B0604030504040204" pitchFamily="34" charset="0"/>
            </a:endParaRPr>
          </a:p>
        </p:txBody>
      </p:sp>
    </p:spTree>
    <p:extLst>
      <p:ext uri="{BB962C8B-B14F-4D97-AF65-F5344CB8AC3E}">
        <p14:creationId xmlns:p14="http://schemas.microsoft.com/office/powerpoint/2010/main" val="399610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dissolve">
                                      <p:cBhvr>
                                        <p:cTn id="7" dur="5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6"/>
                                        </p:tgtEl>
                                        <p:attrNameLst>
                                          <p:attrName>style.visibility</p:attrName>
                                        </p:attrNameLst>
                                      </p:cBhvr>
                                      <p:to>
                                        <p:strVal val="visible"/>
                                      </p:to>
                                    </p:set>
                                    <p:animEffect transition="in" filter="dissolve">
                                      <p:cBhvr>
                                        <p:cTn id="12" dur="500"/>
                                        <p:tgtEl>
                                          <p:spTgt spid="1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dissolve">
                                      <p:cBhvr>
                                        <p:cTn id="17" dur="500"/>
                                        <p:tgtEl>
                                          <p:spTgt spid="16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4"/>
                                        </p:tgtEl>
                                      </p:cBhvr>
                                    </p:animEffect>
                                    <p:set>
                                      <p:cBhvr>
                                        <p:cTn id="27" dur="1" fill="hold">
                                          <p:stCondLst>
                                            <p:cond delay="499"/>
                                          </p:stCondLst>
                                        </p:cTn>
                                        <p:tgtEl>
                                          <p:spTgt spid="4"/>
                                        </p:tgtEl>
                                        <p:attrNameLst>
                                          <p:attrName>style.visibility</p:attrName>
                                        </p:attrNameLst>
                                      </p:cBhvr>
                                      <p:to>
                                        <p:strVal val="hidden"/>
                                      </p:to>
                                    </p:set>
                                  </p:childTnLst>
                                </p:cTn>
                              </p:par>
                              <p:par>
                                <p:cTn id="28" presetID="9" presetClass="entr" presetSubtype="0" fill="hold" nodeType="withEffect">
                                  <p:stCondLst>
                                    <p:cond delay="0"/>
                                  </p:stCondLst>
                                  <p:childTnLst>
                                    <p:set>
                                      <p:cBhvr>
                                        <p:cTn id="29" dur="1" fill="hold">
                                          <p:stCondLst>
                                            <p:cond delay="0"/>
                                          </p:stCondLst>
                                        </p:cTn>
                                        <p:tgtEl>
                                          <p:spTgt spid="165"/>
                                        </p:tgtEl>
                                        <p:attrNameLst>
                                          <p:attrName>style.visibility</p:attrName>
                                        </p:attrNameLst>
                                      </p:cBhvr>
                                      <p:to>
                                        <p:strVal val="visible"/>
                                      </p:to>
                                    </p:set>
                                    <p:animEffect transition="in" filter="dissolve">
                                      <p:cBhvr>
                                        <p:cTn id="30" dur="500"/>
                                        <p:tgtEl>
                                          <p:spTgt spid="16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73"/>
                                        </p:tgtEl>
                                        <p:attrNameLst>
                                          <p:attrName>style.visibility</p:attrName>
                                        </p:attrNameLst>
                                      </p:cBhvr>
                                      <p:to>
                                        <p:strVal val="visible"/>
                                      </p:to>
                                    </p:set>
                                    <p:animEffect transition="in" filter="dissolve">
                                      <p:cBhvr>
                                        <p:cTn id="35" dur="500"/>
                                        <p:tgtEl>
                                          <p:spTgt spid="17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59"/>
                                        </p:tgtEl>
                                        <p:attrNameLst>
                                          <p:attrName>style.visibility</p:attrName>
                                        </p:attrNameLst>
                                      </p:cBhvr>
                                      <p:to>
                                        <p:strVal val="visible"/>
                                      </p:to>
                                    </p:set>
                                    <p:animEffect transition="in" filter="dissolve">
                                      <p:cBhvr>
                                        <p:cTn id="40" dur="500"/>
                                        <p:tgtEl>
                                          <p:spTgt spid="15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168"/>
                                        </p:tgtEl>
                                        <p:attrNameLst>
                                          <p:attrName>style.visibility</p:attrName>
                                        </p:attrNameLst>
                                      </p:cBhvr>
                                      <p:to>
                                        <p:strVal val="visible"/>
                                      </p:to>
                                    </p:set>
                                    <p:animEffect transition="in" filter="dissolve">
                                      <p:cBhvr>
                                        <p:cTn id="45" dur="500"/>
                                        <p:tgtEl>
                                          <p:spTgt spid="16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72"/>
                                        </p:tgtEl>
                                        <p:attrNameLst>
                                          <p:attrName>style.visibility</p:attrName>
                                        </p:attrNameLst>
                                      </p:cBhvr>
                                      <p:to>
                                        <p:strVal val="visible"/>
                                      </p:to>
                                    </p:set>
                                    <p:animEffect transition="in" filter="dissolve">
                                      <p:cBhvr>
                                        <p:cTn id="50" dur="500"/>
                                        <p:tgtEl>
                                          <p:spTgt spid="7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dissolve">
                                      <p:cBhvr>
                                        <p:cTn id="55" dur="500"/>
                                        <p:tgtEl>
                                          <p:spTgt spid="66"/>
                                        </p:tgtEl>
                                      </p:cBhvr>
                                    </p:animEffect>
                                  </p:childTnLst>
                                </p:cTn>
                              </p:par>
                              <p:par>
                                <p:cTn id="56" presetID="9" presetClass="entr" presetSubtype="0" fill="hold" nodeType="withEffect">
                                  <p:stCondLst>
                                    <p:cond delay="0"/>
                                  </p:stCondLst>
                                  <p:childTnLst>
                                    <p:set>
                                      <p:cBhvr>
                                        <p:cTn id="57" dur="1" fill="hold">
                                          <p:stCondLst>
                                            <p:cond delay="0"/>
                                          </p:stCondLst>
                                        </p:cTn>
                                        <p:tgtEl>
                                          <p:spTgt spid="69"/>
                                        </p:tgtEl>
                                        <p:attrNameLst>
                                          <p:attrName>style.visibility</p:attrName>
                                        </p:attrNameLst>
                                      </p:cBhvr>
                                      <p:to>
                                        <p:strVal val="visible"/>
                                      </p:to>
                                    </p:set>
                                    <p:animEffect transition="in" filter="dissolve">
                                      <p:cBhvr>
                                        <p:cTn id="58" dur="500"/>
                                        <p:tgtEl>
                                          <p:spTgt spid="69"/>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dissolve">
                                      <p:cBhvr>
                                        <p:cTn id="6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512379" y="1379482"/>
            <a:ext cx="8284779" cy="4832132"/>
          </a:xfrm>
        </p:spPr>
        <p:txBody>
          <a:bodyPr/>
          <a:lstStyle/>
          <a:p>
            <a:pPr>
              <a:spcAft>
                <a:spcPts val="600"/>
              </a:spcAft>
            </a:pPr>
            <a:r>
              <a:rPr lang="en-US" sz="2400" dirty="0"/>
              <a:t>Understanding datagram format is important</a:t>
            </a:r>
          </a:p>
          <a:p>
            <a:pPr>
              <a:spcAft>
                <a:spcPts val="600"/>
              </a:spcAft>
            </a:pPr>
            <a:r>
              <a:rPr lang="en-US" sz="2400" dirty="0"/>
              <a:t>A datagram has its own header (overhead) </a:t>
            </a:r>
            <a:r>
              <a:rPr lang="en-US" sz="2400" dirty="0">
                <a:sym typeface="Wingdings" pitchFamily="2" charset="2"/>
              </a:rPr>
              <a:t> </a:t>
            </a:r>
            <a:r>
              <a:rPr lang="en-US" sz="2400" b="1" dirty="0">
                <a:solidFill>
                  <a:srgbClr val="C00000"/>
                </a:solidFill>
                <a:sym typeface="Wingdings" pitchFamily="2" charset="2"/>
              </a:rPr>
              <a:t>20 bytes</a:t>
            </a:r>
          </a:p>
          <a:p>
            <a:pPr>
              <a:spcAft>
                <a:spcPts val="600"/>
              </a:spcAft>
            </a:pPr>
            <a:r>
              <a:rPr lang="en-US" sz="2400" dirty="0">
                <a:sym typeface="Wingdings" pitchFamily="2" charset="2"/>
              </a:rPr>
              <a:t>A datagram holds TCP/UDP segment within it  TCP/UDP has own overhead</a:t>
            </a:r>
          </a:p>
          <a:p>
            <a:pPr>
              <a:spcAft>
                <a:spcPts val="600"/>
              </a:spcAft>
            </a:pPr>
            <a:endParaRPr lang="en-US" sz="2400" dirty="0">
              <a:sym typeface="Wingdings" pitchFamily="2" charset="2"/>
            </a:endParaRPr>
          </a:p>
          <a:p>
            <a:pPr>
              <a:spcAft>
                <a:spcPts val="600"/>
              </a:spcAft>
            </a:pPr>
            <a:endParaRPr lang="en-MY" sz="2400" dirty="0"/>
          </a:p>
        </p:txBody>
      </p:sp>
      <p:pic>
        <p:nvPicPr>
          <p:cNvPr id="4" name="Picture 3">
            <a:extLst>
              <a:ext uri="{FF2B5EF4-FFF2-40B4-BE49-F238E27FC236}">
                <a16:creationId xmlns:a16="http://schemas.microsoft.com/office/drawing/2014/main" id="{17B1D228-21F4-2B4E-A6AB-61CD5C0A1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442" y="3163614"/>
            <a:ext cx="6095124" cy="605476"/>
          </a:xfrm>
          <a:prstGeom prst="rect">
            <a:avLst/>
          </a:prstGeom>
        </p:spPr>
      </p:pic>
      <p:sp>
        <p:nvSpPr>
          <p:cNvPr id="12" name="Rectangle 2">
            <a:extLst>
              <a:ext uri="{FF2B5EF4-FFF2-40B4-BE49-F238E27FC236}">
                <a16:creationId xmlns:a16="http://schemas.microsoft.com/office/drawing/2014/main" id="{0601B7A9-DB4A-AD40-8282-4B184BC82D6B}"/>
              </a:ext>
            </a:extLst>
          </p:cNvPr>
          <p:cNvSpPr>
            <a:spLocks noGrp="1" noChangeArrowheads="1"/>
          </p:cNvSpPr>
          <p:nvPr>
            <p:ph type="title"/>
          </p:nvPr>
        </p:nvSpPr>
        <p:spPr>
          <a:xfrm>
            <a:off x="552450" y="96891"/>
            <a:ext cx="7772400" cy="781050"/>
          </a:xfrm>
        </p:spPr>
        <p:txBody>
          <a:bodyPr/>
          <a:lstStyle/>
          <a:p>
            <a:r>
              <a:rPr lang="en-US" altLang="en-US" sz="4000" dirty="0">
                <a:ea typeface="ＭＳ Ｐゴシック" panose="020B0600070205080204" pitchFamily="34" charset="-128"/>
              </a:rPr>
              <a:t>IP datagram format</a:t>
            </a:r>
            <a:endParaRPr lang="en-US" altLang="en-US" dirty="0">
              <a:ea typeface="ＭＳ Ｐゴシック" panose="020B0600070205080204" pitchFamily="34" charset="-128"/>
            </a:endParaRPr>
          </a:p>
        </p:txBody>
      </p:sp>
      <p:sp>
        <p:nvSpPr>
          <p:cNvPr id="6"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81599" y="6413618"/>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46</a:t>
            </a:fld>
            <a:endParaRPr lang="en-US" altLang="en-US" dirty="0">
              <a:latin typeface="Tahoma" panose="020B0604030504040204" pitchFamily="34" charset="0"/>
            </a:endParaRPr>
          </a:p>
        </p:txBody>
      </p:sp>
      <p:grpSp>
        <p:nvGrpSpPr>
          <p:cNvPr id="2" name="Group 1">
            <a:extLst>
              <a:ext uri="{FF2B5EF4-FFF2-40B4-BE49-F238E27FC236}">
                <a16:creationId xmlns:a16="http://schemas.microsoft.com/office/drawing/2014/main" id="{0B7C8006-36F3-CDD7-CEDF-6F08FF35595E}"/>
              </a:ext>
            </a:extLst>
          </p:cNvPr>
          <p:cNvGrpSpPr/>
          <p:nvPr/>
        </p:nvGrpSpPr>
        <p:grpSpPr>
          <a:xfrm>
            <a:off x="2902959" y="3948536"/>
            <a:ext cx="2823045" cy="2083632"/>
            <a:chOff x="419725" y="4467070"/>
            <a:chExt cx="2823045" cy="2083632"/>
          </a:xfrm>
        </p:grpSpPr>
        <p:sp>
          <p:nvSpPr>
            <p:cNvPr id="3" name="Rectangle 54">
              <a:extLst>
                <a:ext uri="{FF2B5EF4-FFF2-40B4-BE49-F238E27FC236}">
                  <a16:creationId xmlns:a16="http://schemas.microsoft.com/office/drawing/2014/main" id="{A9FADA79-6491-4FA6-465F-A3B8F329267F}"/>
                </a:ext>
              </a:extLst>
            </p:cNvPr>
            <p:cNvSpPr>
              <a:spLocks noChangeArrowheads="1"/>
            </p:cNvSpPr>
            <p:nvPr/>
          </p:nvSpPr>
          <p:spPr bwMode="auto">
            <a:xfrm>
              <a:off x="437293" y="4954788"/>
              <a:ext cx="2805477" cy="146547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223838" algn="l" defTabSz="914400" rtl="0" eaLnBrk="0" fontAlgn="base" latinLnBrk="0" hangingPunct="0">
                <a:lnSpc>
                  <a:spcPct val="8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20 bytes of TCP</a:t>
              </a:r>
            </a:p>
            <a:p>
              <a:pPr marL="342900" marR="0" lvl="0" indent="-223838" algn="l" defTabSz="914400" rtl="0" eaLnBrk="0" fontAlgn="base" latinLnBrk="0" hangingPunct="0">
                <a:lnSpc>
                  <a:spcPct val="8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20 bytes of IP</a:t>
              </a:r>
            </a:p>
            <a:p>
              <a:pPr marL="342900" marR="0" lvl="0" indent="-223838" algn="l" defTabSz="914400" rtl="0" eaLnBrk="0" fontAlgn="base" latinLnBrk="0" hangingPunct="0">
                <a:lnSpc>
                  <a:spcPct val="9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40 bytes + app layer overhead for TCP+IP</a:t>
              </a:r>
            </a:p>
          </p:txBody>
        </p:sp>
        <p:sp>
          <p:nvSpPr>
            <p:cNvPr id="7" name="Rectangle 6">
              <a:extLst>
                <a:ext uri="{FF2B5EF4-FFF2-40B4-BE49-F238E27FC236}">
                  <a16:creationId xmlns:a16="http://schemas.microsoft.com/office/drawing/2014/main" id="{8C6CD073-BA86-F84D-372A-9E675D56115D}"/>
                </a:ext>
              </a:extLst>
            </p:cNvPr>
            <p:cNvSpPr/>
            <p:nvPr/>
          </p:nvSpPr>
          <p:spPr>
            <a:xfrm>
              <a:off x="419725" y="4751882"/>
              <a:ext cx="2683239" cy="179882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64C5F72-4286-9B06-8A76-1C3F8797E24B}"/>
                </a:ext>
              </a:extLst>
            </p:cNvPr>
            <p:cNvSpPr txBox="1"/>
            <p:nvPr/>
          </p:nvSpPr>
          <p:spPr>
            <a:xfrm>
              <a:off x="599607" y="4467070"/>
              <a:ext cx="1561325"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overhead</a:t>
              </a:r>
            </a:p>
          </p:txBody>
        </p:sp>
      </p:grpSp>
    </p:spTree>
    <p:extLst>
      <p:ext uri="{BB962C8B-B14F-4D97-AF65-F5344CB8AC3E}">
        <p14:creationId xmlns:p14="http://schemas.microsoft.com/office/powerpoint/2010/main" val="142982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r>
              <a:rPr lang="en-US" altLang="en-US"/>
              <a:t>4-</a:t>
            </a:r>
            <a:fld id="{4C397A05-51BD-F74B-8CAE-A0DD5EE5F140}" type="slidenum">
              <a:rPr lang="en-US" altLang="en-US" smtClean="0"/>
              <a:pPr/>
              <a:t>47</a:t>
            </a:fld>
            <a:endParaRPr lang="en-US" altLang="en-US"/>
          </a:p>
        </p:txBody>
      </p:sp>
      <p:pic>
        <p:nvPicPr>
          <p:cNvPr id="16" name="Picture 2"/>
          <p:cNvPicPr>
            <a:picLocks noChangeAspect="1" noChangeArrowheads="1"/>
          </p:cNvPicPr>
          <p:nvPr/>
        </p:nvPicPr>
        <p:blipFill>
          <a:blip r:embed="rId2" cstate="print"/>
          <a:srcRect/>
          <a:stretch>
            <a:fillRect/>
          </a:stretch>
        </p:blipFill>
        <p:spPr bwMode="auto">
          <a:xfrm>
            <a:off x="456152" y="947632"/>
            <a:ext cx="6536750" cy="5040560"/>
          </a:xfrm>
          <a:prstGeom prst="rect">
            <a:avLst/>
          </a:prstGeom>
          <a:noFill/>
          <a:ln w="9525">
            <a:noFill/>
            <a:miter lim="800000"/>
            <a:headEnd/>
            <a:tailEnd/>
          </a:ln>
        </p:spPr>
      </p:pic>
      <p:sp>
        <p:nvSpPr>
          <p:cNvPr id="20" name="Rectangle 2">
            <a:extLst>
              <a:ext uri="{FF2B5EF4-FFF2-40B4-BE49-F238E27FC236}">
                <a16:creationId xmlns:a16="http://schemas.microsoft.com/office/drawing/2014/main" id="{328A927F-E865-494A-9E22-55ACD4DE5418}"/>
              </a:ext>
            </a:extLst>
          </p:cNvPr>
          <p:cNvSpPr txBox="1">
            <a:spLocks noChangeArrowheads="1"/>
          </p:cNvSpPr>
          <p:nvPr/>
        </p:nvSpPr>
        <p:spPr bwMode="auto">
          <a:xfrm>
            <a:off x="4497718" y="140786"/>
            <a:ext cx="4646282"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altLang="ja-JP" sz="2800" dirty="0">
                <a:solidFill>
                  <a:schemeClr val="bg1"/>
                </a:solidFill>
                <a:latin typeface="Arial"/>
                <a:ea typeface="ＭＳ Ｐゴシック" pitchFamily="34" charset="-128"/>
                <a:cs typeface="Arial"/>
              </a:rPr>
              <a:t>IPv4 Datagram Format</a:t>
            </a:r>
            <a:endParaRPr lang="en-US" sz="2800" dirty="0">
              <a:solidFill>
                <a:schemeClr val="bg1"/>
              </a:solidFill>
              <a:latin typeface="Arial"/>
              <a:ea typeface="ＭＳ Ｐゴシック" pitchFamily="34" charset="-128"/>
              <a:cs typeface="Arial"/>
            </a:endParaRPr>
          </a:p>
        </p:txBody>
      </p:sp>
      <p:sp>
        <p:nvSpPr>
          <p:cNvPr id="21" name="Right Brace 20">
            <a:extLst>
              <a:ext uri="{FF2B5EF4-FFF2-40B4-BE49-F238E27FC236}">
                <a16:creationId xmlns:a16="http://schemas.microsoft.com/office/drawing/2014/main" id="{D5911F83-5D24-4448-88FC-278A7D85627B}"/>
              </a:ext>
            </a:extLst>
          </p:cNvPr>
          <p:cNvSpPr/>
          <p:nvPr/>
        </p:nvSpPr>
        <p:spPr bwMode="auto">
          <a:xfrm>
            <a:off x="7147034" y="1734205"/>
            <a:ext cx="420414" cy="2879835"/>
          </a:xfrm>
          <a:prstGeom prst="rightBrace">
            <a:avLst/>
          </a:prstGeom>
          <a:no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ms-MY" sz="1800" b="0" i="0" u="none" strike="noStrike" cap="none" normalizeH="0" baseline="0">
              <a:ln>
                <a:noFill/>
              </a:ln>
              <a:solidFill>
                <a:schemeClr val="tx1"/>
              </a:solidFill>
              <a:effectLst/>
              <a:latin typeface="Arial" charset="0"/>
            </a:endParaRPr>
          </a:p>
        </p:txBody>
      </p:sp>
      <p:sp>
        <p:nvSpPr>
          <p:cNvPr id="22" name="TextBox 21">
            <a:extLst>
              <a:ext uri="{FF2B5EF4-FFF2-40B4-BE49-F238E27FC236}">
                <a16:creationId xmlns:a16="http://schemas.microsoft.com/office/drawing/2014/main" id="{CB197C8E-4B6D-4D46-9E17-72496C7E3716}"/>
              </a:ext>
            </a:extLst>
          </p:cNvPr>
          <p:cNvSpPr txBox="1"/>
          <p:nvPr/>
        </p:nvSpPr>
        <p:spPr>
          <a:xfrm>
            <a:off x="7651531" y="2984938"/>
            <a:ext cx="1152880" cy="400110"/>
          </a:xfrm>
          <a:prstGeom prst="rect">
            <a:avLst/>
          </a:prstGeom>
          <a:solidFill>
            <a:srgbClr val="FFFF00"/>
          </a:solidFill>
        </p:spPr>
        <p:txBody>
          <a:bodyPr wrap="none" rtlCol="0">
            <a:spAutoFit/>
          </a:bodyPr>
          <a:lstStyle/>
          <a:p>
            <a:r>
              <a:rPr lang="ms-MY" sz="2000">
                <a:solidFill>
                  <a:srgbClr val="FF0000"/>
                </a:solidFill>
              </a:rPr>
              <a:t>20 bytes</a:t>
            </a:r>
          </a:p>
        </p:txBody>
      </p:sp>
      <p:cxnSp>
        <p:nvCxnSpPr>
          <p:cNvPr id="23" name="Straight Connector 22">
            <a:extLst>
              <a:ext uri="{FF2B5EF4-FFF2-40B4-BE49-F238E27FC236}">
                <a16:creationId xmlns:a16="http://schemas.microsoft.com/office/drawing/2014/main" id="{0D957F4C-7DCD-0841-BDB7-E5F338CE2E91}"/>
              </a:ext>
            </a:extLst>
          </p:cNvPr>
          <p:cNvCxnSpPr/>
          <p:nvPr/>
        </p:nvCxnSpPr>
        <p:spPr bwMode="auto">
          <a:xfrm>
            <a:off x="441434" y="1744717"/>
            <a:ext cx="6432332" cy="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 name="Straight Connector 23">
            <a:extLst>
              <a:ext uri="{FF2B5EF4-FFF2-40B4-BE49-F238E27FC236}">
                <a16:creationId xmlns:a16="http://schemas.microsoft.com/office/drawing/2014/main" id="{6FDE3FA4-D8BB-1B43-8168-77723884058E}"/>
              </a:ext>
            </a:extLst>
          </p:cNvPr>
          <p:cNvCxnSpPr/>
          <p:nvPr/>
        </p:nvCxnSpPr>
        <p:spPr bwMode="auto">
          <a:xfrm>
            <a:off x="446690" y="4682358"/>
            <a:ext cx="6432332" cy="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5" name="Rectangle 2">
            <a:extLst>
              <a:ext uri="{FF2B5EF4-FFF2-40B4-BE49-F238E27FC236}">
                <a16:creationId xmlns:a16="http://schemas.microsoft.com/office/drawing/2014/main" id="{0601B7A9-DB4A-AD40-8282-4B184BC82D6B}"/>
              </a:ext>
            </a:extLst>
          </p:cNvPr>
          <p:cNvSpPr>
            <a:spLocks noGrp="1" noChangeArrowheads="1"/>
          </p:cNvSpPr>
          <p:nvPr>
            <p:ph type="title"/>
          </p:nvPr>
        </p:nvSpPr>
        <p:spPr>
          <a:xfrm>
            <a:off x="552450" y="96891"/>
            <a:ext cx="7772400" cy="781050"/>
          </a:xfrm>
        </p:spPr>
        <p:txBody>
          <a:bodyPr/>
          <a:lstStyle/>
          <a:p>
            <a:r>
              <a:rPr lang="en-US" altLang="en-US" sz="4000" dirty="0">
                <a:ea typeface="ＭＳ Ｐゴシック" panose="020B0600070205080204" pitchFamily="34" charset="-128"/>
              </a:rPr>
              <a:t>IP datagram format</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8013507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7FC1A7C-48A4-C044-A601-9CF45453BFC1}"/>
              </a:ext>
            </a:extLst>
          </p:cNvPr>
          <p:cNvSpPr>
            <a:spLocks noGrp="1" noChangeArrowheads="1"/>
          </p:cNvSpPr>
          <p:nvPr>
            <p:ph type="title"/>
          </p:nvPr>
        </p:nvSpPr>
        <p:spPr>
          <a:xfrm>
            <a:off x="533400" y="185738"/>
            <a:ext cx="7772400" cy="930275"/>
          </a:xfrm>
        </p:spPr>
        <p:txBody>
          <a:bodyPr/>
          <a:lstStyle/>
          <a:p>
            <a:r>
              <a:rPr lang="en-US" altLang="en-US" dirty="0">
                <a:ea typeface="ＭＳ Ｐゴシック" panose="020B0600070205080204" pitchFamily="34" charset="-128"/>
              </a:rPr>
              <a:t>IP fragmentation, reassembly</a:t>
            </a:r>
            <a:endParaRPr lang="en-US" altLang="en-US" sz="4800" dirty="0">
              <a:ea typeface="ＭＳ Ｐゴシック" panose="020B0600070205080204" pitchFamily="34" charset="-128"/>
            </a:endParaRPr>
          </a:p>
        </p:txBody>
      </p:sp>
      <p:sp>
        <p:nvSpPr>
          <p:cNvPr id="71683" name="Rectangle 3">
            <a:extLst>
              <a:ext uri="{FF2B5EF4-FFF2-40B4-BE49-F238E27FC236}">
                <a16:creationId xmlns:a16="http://schemas.microsoft.com/office/drawing/2014/main" id="{B22EBEAC-771F-314C-BC5E-3A75D2952599}"/>
              </a:ext>
            </a:extLst>
          </p:cNvPr>
          <p:cNvSpPr>
            <a:spLocks noGrp="1" noChangeArrowheads="1"/>
          </p:cNvSpPr>
          <p:nvPr>
            <p:ph type="body" sz="half" idx="1"/>
          </p:nvPr>
        </p:nvSpPr>
        <p:spPr>
          <a:xfrm>
            <a:off x="297499" y="1003300"/>
            <a:ext cx="3810000" cy="5094287"/>
          </a:xfrm>
        </p:spPr>
        <p:txBody>
          <a:bodyPr/>
          <a:lstStyle/>
          <a:p>
            <a:r>
              <a:rPr lang="en-US" altLang="en-US" sz="2400" dirty="0">
                <a:ea typeface="ＭＳ Ｐゴシック" panose="020B0600070205080204" pitchFamily="34" charset="-128"/>
                <a:cs typeface="ＭＳ Ｐゴシック" panose="020B0600070205080204" pitchFamily="34" charset="-128"/>
              </a:rPr>
              <a:t>network links have MTU (</a:t>
            </a:r>
            <a:r>
              <a:rPr lang="en-US" altLang="en-US" sz="2400" dirty="0" err="1">
                <a:ea typeface="ＭＳ Ｐゴシック" panose="020B0600070205080204" pitchFamily="34" charset="-128"/>
                <a:cs typeface="ＭＳ Ｐゴシック" panose="020B0600070205080204" pitchFamily="34" charset="-128"/>
              </a:rPr>
              <a:t>max.transfer</a:t>
            </a:r>
            <a:r>
              <a:rPr lang="en-US" altLang="en-US" sz="2400" dirty="0">
                <a:ea typeface="ＭＳ Ｐゴシック" panose="020B0600070205080204" pitchFamily="34" charset="-128"/>
                <a:cs typeface="ＭＳ Ｐゴシック" panose="020B0600070205080204" pitchFamily="34" charset="-128"/>
              </a:rPr>
              <a:t> unit) - largest possible link-level frame</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different link types, different MTUs</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Ethernet MTU 1500 bytes </a:t>
            </a:r>
          </a:p>
          <a:p>
            <a:r>
              <a:rPr lang="en-US" altLang="en-US" sz="2400" dirty="0">
                <a:ea typeface="ＭＳ Ｐゴシック" panose="020B0600070205080204" pitchFamily="34" charset="-128"/>
                <a:cs typeface="ＭＳ Ｐゴシック" panose="020B0600070205080204" pitchFamily="34" charset="-128"/>
              </a:rPr>
              <a:t>large IP datagram divided (</a:t>
            </a:r>
            <a:r>
              <a:rPr lang="ja-JP" altLang="en-US" sz="2400" dirty="0">
                <a:ea typeface="ＭＳ Ｐゴシック" panose="020B0600070205080204" pitchFamily="34" charset="-128"/>
                <a:cs typeface="ＭＳ Ｐゴシック" panose="020B0600070205080204" pitchFamily="34" charset="-128"/>
              </a:rPr>
              <a:t>“</a:t>
            </a:r>
            <a:r>
              <a:rPr lang="en-US" altLang="ja-JP" sz="2400" dirty="0">
                <a:ea typeface="ＭＳ Ｐゴシック" panose="020B0600070205080204" pitchFamily="34" charset="-128"/>
                <a:cs typeface="ＭＳ Ｐゴシック" panose="020B0600070205080204" pitchFamily="34" charset="-128"/>
              </a:rPr>
              <a:t>fragmented</a:t>
            </a:r>
            <a:r>
              <a:rPr lang="ja-JP" altLang="en-US" sz="2400" dirty="0">
                <a:ea typeface="ＭＳ Ｐゴシック" panose="020B0600070205080204" pitchFamily="34" charset="-128"/>
                <a:cs typeface="ＭＳ Ｐゴシック" panose="020B0600070205080204" pitchFamily="34" charset="-128"/>
              </a:rPr>
              <a:t>”</a:t>
            </a:r>
            <a:r>
              <a:rPr lang="en-US" altLang="ja-JP" sz="2400" dirty="0">
                <a:ea typeface="ＭＳ Ｐゴシック" panose="020B0600070205080204" pitchFamily="34" charset="-128"/>
                <a:cs typeface="ＭＳ Ｐゴシック" panose="020B0600070205080204" pitchFamily="34" charset="-128"/>
              </a:rPr>
              <a:t>) within net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one datagram becomes several datagrams</a:t>
            </a:r>
          </a:p>
          <a:p>
            <a:pPr lvl="1"/>
            <a:r>
              <a:rPr lang="ja-JP" altLang="en-US" dirty="0">
                <a:latin typeface="Gill Sans MT" panose="020B0502020104020203" pitchFamily="34" charset="77"/>
                <a:ea typeface="ＭＳ Ｐゴシック" panose="020B0600070205080204" pitchFamily="34" charset="-128"/>
                <a:cs typeface="Gill Sans MT" panose="020B0502020104020203" pitchFamily="34" charset="77"/>
              </a:rPr>
              <a:t>“</a:t>
            </a:r>
            <a:r>
              <a:rPr lang="en-US" altLang="ja-JP" dirty="0">
                <a:latin typeface="Gill Sans MT" panose="020B0502020104020203" pitchFamily="34" charset="77"/>
                <a:ea typeface="ＭＳ Ｐゴシック" panose="020B0600070205080204" pitchFamily="34" charset="-128"/>
                <a:cs typeface="Gill Sans MT" panose="020B0502020104020203" pitchFamily="34" charset="77"/>
              </a:rPr>
              <a:t>reassembled</a:t>
            </a:r>
            <a:r>
              <a:rPr lang="ja-JP" altLang="en-US" dirty="0">
                <a:latin typeface="Gill Sans MT" panose="020B0502020104020203" pitchFamily="34" charset="77"/>
                <a:ea typeface="ＭＳ Ｐゴシック" panose="020B0600070205080204" pitchFamily="34" charset="-128"/>
                <a:cs typeface="Gill Sans MT" panose="020B0502020104020203" pitchFamily="34" charset="77"/>
              </a:rPr>
              <a:t>”</a:t>
            </a:r>
            <a:r>
              <a:rPr lang="en-US" altLang="ja-JP" dirty="0">
                <a:latin typeface="Gill Sans MT" panose="020B0502020104020203" pitchFamily="34" charset="77"/>
                <a:ea typeface="ＭＳ Ｐゴシック" panose="020B0600070205080204" pitchFamily="34" charset="-128"/>
                <a:cs typeface="Gill Sans MT" panose="020B0502020104020203" pitchFamily="34" charset="77"/>
              </a:rPr>
              <a:t> only at final destination</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 header bits used to identify, order related fragments</a:t>
            </a:r>
          </a:p>
        </p:txBody>
      </p:sp>
      <p:sp>
        <p:nvSpPr>
          <p:cNvPr id="71684" name="Freeform 4">
            <a:extLst>
              <a:ext uri="{FF2B5EF4-FFF2-40B4-BE49-F238E27FC236}">
                <a16:creationId xmlns:a16="http://schemas.microsoft.com/office/drawing/2014/main" id="{BEAA3E5A-A715-044D-93E6-1581C8CF60E2}"/>
              </a:ext>
            </a:extLst>
          </p:cNvPr>
          <p:cNvSpPr>
            <a:spLocks/>
          </p:cNvSpPr>
          <p:nvPr/>
        </p:nvSpPr>
        <p:spPr bwMode="auto">
          <a:xfrm>
            <a:off x="4597400" y="1628775"/>
            <a:ext cx="2436813" cy="2255838"/>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685" name="Freeform 5">
            <a:extLst>
              <a:ext uri="{FF2B5EF4-FFF2-40B4-BE49-F238E27FC236}">
                <a16:creationId xmlns:a16="http://schemas.microsoft.com/office/drawing/2014/main" id="{2C1F5E33-87DE-6141-BA1F-5286F21847AE}"/>
              </a:ext>
            </a:extLst>
          </p:cNvPr>
          <p:cNvSpPr>
            <a:spLocks/>
          </p:cNvSpPr>
          <p:nvPr/>
        </p:nvSpPr>
        <p:spPr bwMode="auto">
          <a:xfrm>
            <a:off x="4597400" y="4030663"/>
            <a:ext cx="1976438" cy="1987550"/>
          </a:xfrm>
          <a:custGeom>
            <a:avLst/>
            <a:gdLst>
              <a:gd name="T0" fmla="*/ 2147483647 w 873"/>
              <a:gd name="T1" fmla="*/ 2147483647 h 940"/>
              <a:gd name="T2" fmla="*/ 2147483647 w 873"/>
              <a:gd name="T3" fmla="*/ 2147483647 h 940"/>
              <a:gd name="T4" fmla="*/ 2147483647 w 873"/>
              <a:gd name="T5" fmla="*/ 2147483647 h 940"/>
              <a:gd name="T6" fmla="*/ 2147483647 w 873"/>
              <a:gd name="T7" fmla="*/ 2147483647 h 940"/>
              <a:gd name="T8" fmla="*/ 2147483647 w 873"/>
              <a:gd name="T9" fmla="*/ 2147483647 h 940"/>
              <a:gd name="T10" fmla="*/ 2147483647 w 873"/>
              <a:gd name="T11" fmla="*/ 2147483647 h 940"/>
              <a:gd name="T12" fmla="*/ 2147483647 w 873"/>
              <a:gd name="T13" fmla="*/ 2147483647 h 940"/>
              <a:gd name="T14" fmla="*/ 2147483647 w 873"/>
              <a:gd name="T15" fmla="*/ 2147483647 h 940"/>
              <a:gd name="T16" fmla="*/ 2147483647 w 873"/>
              <a:gd name="T17" fmla="*/ 2147483647 h 940"/>
              <a:gd name="T18" fmla="*/ 2147483647 w 873"/>
              <a:gd name="T19" fmla="*/ 2147483647 h 940"/>
              <a:gd name="T20" fmla="*/ 2147483647 w 873"/>
              <a:gd name="T21" fmla="*/ 2147483647 h 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73"/>
              <a:gd name="T34" fmla="*/ 0 h 940"/>
              <a:gd name="T35" fmla="*/ 873 w 873"/>
              <a:gd name="T36" fmla="*/ 940 h 9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73" h="940">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686" name="Line 16">
            <a:extLst>
              <a:ext uri="{FF2B5EF4-FFF2-40B4-BE49-F238E27FC236}">
                <a16:creationId xmlns:a16="http://schemas.microsoft.com/office/drawing/2014/main" id="{08421E5E-5A5E-454C-B051-F90F2ED9722E}"/>
              </a:ext>
            </a:extLst>
          </p:cNvPr>
          <p:cNvSpPr>
            <a:spLocks noChangeShapeType="1"/>
          </p:cNvSpPr>
          <p:nvPr/>
        </p:nvSpPr>
        <p:spPr bwMode="auto">
          <a:xfrm flipV="1">
            <a:off x="4670425" y="2584450"/>
            <a:ext cx="127000"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87" name="Line 17">
            <a:extLst>
              <a:ext uri="{FF2B5EF4-FFF2-40B4-BE49-F238E27FC236}">
                <a16:creationId xmlns:a16="http://schemas.microsoft.com/office/drawing/2014/main" id="{898E7E77-AD39-3A43-A9F3-8EEDDF963E46}"/>
              </a:ext>
            </a:extLst>
          </p:cNvPr>
          <p:cNvSpPr>
            <a:spLocks noChangeShapeType="1"/>
          </p:cNvSpPr>
          <p:nvPr/>
        </p:nvSpPr>
        <p:spPr bwMode="auto">
          <a:xfrm>
            <a:off x="5246688" y="1909763"/>
            <a:ext cx="658812" cy="279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88" name="Line 18">
            <a:extLst>
              <a:ext uri="{FF2B5EF4-FFF2-40B4-BE49-F238E27FC236}">
                <a16:creationId xmlns:a16="http://schemas.microsoft.com/office/drawing/2014/main" id="{D32B4B0A-97A1-C448-A3E6-DB6EED75DF2D}"/>
              </a:ext>
            </a:extLst>
          </p:cNvPr>
          <p:cNvSpPr>
            <a:spLocks noChangeShapeType="1"/>
          </p:cNvSpPr>
          <p:nvPr/>
        </p:nvSpPr>
        <p:spPr bwMode="auto">
          <a:xfrm>
            <a:off x="6092825" y="2246313"/>
            <a:ext cx="196850" cy="669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89" name="Line 19">
            <a:extLst>
              <a:ext uri="{FF2B5EF4-FFF2-40B4-BE49-F238E27FC236}">
                <a16:creationId xmlns:a16="http://schemas.microsoft.com/office/drawing/2014/main" id="{110CD131-244A-804E-94C8-B1FE94912245}"/>
              </a:ext>
            </a:extLst>
          </p:cNvPr>
          <p:cNvSpPr>
            <a:spLocks noChangeShapeType="1"/>
          </p:cNvSpPr>
          <p:nvPr/>
        </p:nvSpPr>
        <p:spPr bwMode="auto">
          <a:xfrm>
            <a:off x="4995863" y="2022475"/>
            <a:ext cx="1587" cy="582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0" name="Line 20">
            <a:extLst>
              <a:ext uri="{FF2B5EF4-FFF2-40B4-BE49-F238E27FC236}">
                <a16:creationId xmlns:a16="http://schemas.microsoft.com/office/drawing/2014/main" id="{05A16AC1-ADDB-0A44-8BE0-1759D6EA7AD1}"/>
              </a:ext>
            </a:extLst>
          </p:cNvPr>
          <p:cNvSpPr>
            <a:spLocks noChangeShapeType="1"/>
          </p:cNvSpPr>
          <p:nvPr/>
        </p:nvSpPr>
        <p:spPr bwMode="auto">
          <a:xfrm>
            <a:off x="5230813" y="2676525"/>
            <a:ext cx="971550" cy="4016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1" name="Line 21">
            <a:extLst>
              <a:ext uri="{FF2B5EF4-FFF2-40B4-BE49-F238E27FC236}">
                <a16:creationId xmlns:a16="http://schemas.microsoft.com/office/drawing/2014/main" id="{BA3D5BBB-ADF8-3D4F-85E8-0BEFC3DF9F4F}"/>
              </a:ext>
            </a:extLst>
          </p:cNvPr>
          <p:cNvSpPr>
            <a:spLocks noChangeShapeType="1"/>
          </p:cNvSpPr>
          <p:nvPr/>
        </p:nvSpPr>
        <p:spPr bwMode="auto">
          <a:xfrm flipH="1" flipV="1">
            <a:off x="6503988" y="3206750"/>
            <a:ext cx="476250" cy="687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2" name="Line 22">
            <a:extLst>
              <a:ext uri="{FF2B5EF4-FFF2-40B4-BE49-F238E27FC236}">
                <a16:creationId xmlns:a16="http://schemas.microsoft.com/office/drawing/2014/main" id="{1796A404-91AD-EE4B-91B0-A4DA573CBE32}"/>
              </a:ext>
            </a:extLst>
          </p:cNvPr>
          <p:cNvSpPr>
            <a:spLocks noChangeShapeType="1"/>
          </p:cNvSpPr>
          <p:nvPr/>
        </p:nvSpPr>
        <p:spPr bwMode="auto">
          <a:xfrm flipH="1">
            <a:off x="5254625" y="2214563"/>
            <a:ext cx="758825" cy="5175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3" name="Line 23">
            <a:extLst>
              <a:ext uri="{FF2B5EF4-FFF2-40B4-BE49-F238E27FC236}">
                <a16:creationId xmlns:a16="http://schemas.microsoft.com/office/drawing/2014/main" id="{F4F77BCF-7EC8-8444-95FC-D4B7A8F6004C}"/>
              </a:ext>
            </a:extLst>
          </p:cNvPr>
          <p:cNvSpPr>
            <a:spLocks noChangeShapeType="1"/>
          </p:cNvSpPr>
          <p:nvPr/>
        </p:nvSpPr>
        <p:spPr bwMode="auto">
          <a:xfrm flipH="1">
            <a:off x="5264150" y="1654175"/>
            <a:ext cx="47625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4" name="Line 24">
            <a:extLst>
              <a:ext uri="{FF2B5EF4-FFF2-40B4-BE49-F238E27FC236}">
                <a16:creationId xmlns:a16="http://schemas.microsoft.com/office/drawing/2014/main" id="{93B075E8-D2A3-D440-88BA-11172B98EA4E}"/>
              </a:ext>
            </a:extLst>
          </p:cNvPr>
          <p:cNvSpPr>
            <a:spLocks noChangeShapeType="1"/>
          </p:cNvSpPr>
          <p:nvPr/>
        </p:nvSpPr>
        <p:spPr bwMode="auto">
          <a:xfrm flipH="1">
            <a:off x="5981700" y="1830388"/>
            <a:ext cx="273050" cy="2365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5" name="Line 119">
            <a:extLst>
              <a:ext uri="{FF2B5EF4-FFF2-40B4-BE49-F238E27FC236}">
                <a16:creationId xmlns:a16="http://schemas.microsoft.com/office/drawing/2014/main" id="{526E4C63-F60F-C747-A18D-487F9BCF26B0}"/>
              </a:ext>
            </a:extLst>
          </p:cNvPr>
          <p:cNvSpPr>
            <a:spLocks noChangeShapeType="1"/>
          </p:cNvSpPr>
          <p:nvPr/>
        </p:nvSpPr>
        <p:spPr bwMode="auto">
          <a:xfrm flipH="1">
            <a:off x="6461125" y="4206875"/>
            <a:ext cx="636588" cy="8778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 name="Group 199">
            <a:extLst>
              <a:ext uri="{FF2B5EF4-FFF2-40B4-BE49-F238E27FC236}">
                <a16:creationId xmlns:a16="http://schemas.microsoft.com/office/drawing/2014/main" id="{834F5CE6-9E3E-144C-A7B6-F9C50DC1D55C}"/>
              </a:ext>
            </a:extLst>
          </p:cNvPr>
          <p:cNvGrpSpPr>
            <a:grpSpLocks/>
          </p:cNvGrpSpPr>
          <p:nvPr/>
        </p:nvGrpSpPr>
        <p:grpSpPr bwMode="auto">
          <a:xfrm>
            <a:off x="5003800" y="2955925"/>
            <a:ext cx="1222375" cy="403225"/>
            <a:chOff x="3152" y="1862"/>
            <a:chExt cx="770" cy="254"/>
          </a:xfrm>
        </p:grpSpPr>
        <p:grpSp>
          <p:nvGrpSpPr>
            <p:cNvPr id="71811" name="Group 120">
              <a:extLst>
                <a:ext uri="{FF2B5EF4-FFF2-40B4-BE49-F238E27FC236}">
                  <a16:creationId xmlns:a16="http://schemas.microsoft.com/office/drawing/2014/main" id="{A5B355E6-01F5-7A47-86CB-5847359B4CDA}"/>
                </a:ext>
              </a:extLst>
            </p:cNvPr>
            <p:cNvGrpSpPr>
              <a:grpSpLocks/>
            </p:cNvGrpSpPr>
            <p:nvPr/>
          </p:nvGrpSpPr>
          <p:grpSpPr bwMode="auto">
            <a:xfrm rot="1433392">
              <a:off x="3152" y="1862"/>
              <a:ext cx="648" cy="108"/>
              <a:chOff x="4712" y="1742"/>
              <a:chExt cx="648" cy="108"/>
            </a:xfrm>
          </p:grpSpPr>
          <p:sp>
            <p:nvSpPr>
              <p:cNvPr id="71813" name="Rectangle 121">
                <a:extLst>
                  <a:ext uri="{FF2B5EF4-FFF2-40B4-BE49-F238E27FC236}">
                    <a16:creationId xmlns:a16="http://schemas.microsoft.com/office/drawing/2014/main" id="{956EAA7C-6ADB-1245-B604-04D0E08975A3}"/>
                  </a:ext>
                </a:extLst>
              </p:cNvPr>
              <p:cNvSpPr>
                <a:spLocks noChangeArrowheads="1"/>
              </p:cNvSpPr>
              <p:nvPr/>
            </p:nvSpPr>
            <p:spPr bwMode="auto">
              <a:xfrm>
                <a:off x="4712" y="1742"/>
                <a:ext cx="648"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814" name="Rectangle 122">
                <a:extLst>
                  <a:ext uri="{FF2B5EF4-FFF2-40B4-BE49-F238E27FC236}">
                    <a16:creationId xmlns:a16="http://schemas.microsoft.com/office/drawing/2014/main" id="{FFBE6DA2-3055-6C4E-B615-5EB0D1D1775E}"/>
                  </a:ext>
                </a:extLst>
              </p:cNvPr>
              <p:cNvSpPr>
                <a:spLocks noChangeArrowheads="1"/>
              </p:cNvSpPr>
              <p:nvPr/>
            </p:nvSpPr>
            <p:spPr bwMode="auto">
              <a:xfrm>
                <a:off x="4710" y="1742"/>
                <a:ext cx="534"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71812" name="Line 132">
              <a:extLst>
                <a:ext uri="{FF2B5EF4-FFF2-40B4-BE49-F238E27FC236}">
                  <a16:creationId xmlns:a16="http://schemas.microsoft.com/office/drawing/2014/main" id="{CE95EEAA-26BA-9D47-813F-6D5DD01EB9CA}"/>
                </a:ext>
              </a:extLst>
            </p:cNvPr>
            <p:cNvSpPr>
              <a:spLocks noChangeShapeType="1"/>
            </p:cNvSpPr>
            <p:nvPr/>
          </p:nvSpPr>
          <p:spPr bwMode="auto">
            <a:xfrm>
              <a:off x="3784" y="2060"/>
              <a:ext cx="138"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576648" name="Text Box 136">
            <a:extLst>
              <a:ext uri="{FF2B5EF4-FFF2-40B4-BE49-F238E27FC236}">
                <a16:creationId xmlns:a16="http://schemas.microsoft.com/office/drawing/2014/main" id="{56AC6D99-2B04-0A4F-B4DD-655D77819FFD}"/>
              </a:ext>
            </a:extLst>
          </p:cNvPr>
          <p:cNvSpPr txBox="1">
            <a:spLocks noChangeArrowheads="1"/>
          </p:cNvSpPr>
          <p:nvPr/>
        </p:nvSpPr>
        <p:spPr bwMode="auto">
          <a:xfrm>
            <a:off x="6615113" y="2241550"/>
            <a:ext cx="24669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i="1">
                <a:solidFill>
                  <a:srgbClr val="CC0000"/>
                </a:solidFill>
              </a:rPr>
              <a:t>fragmentation:</a:t>
            </a:r>
            <a:r>
              <a:rPr lang="en-US" altLang="en-US" sz="1600"/>
              <a:t> </a:t>
            </a:r>
          </a:p>
          <a:p>
            <a:r>
              <a:rPr lang="en-US" altLang="en-US" sz="1600" b="1" i="1">
                <a:solidFill>
                  <a:srgbClr val="000099"/>
                </a:solidFill>
              </a:rPr>
              <a:t>in:</a:t>
            </a:r>
            <a:r>
              <a:rPr lang="en-US" altLang="en-US" sz="1600"/>
              <a:t> one large datagram</a:t>
            </a:r>
          </a:p>
          <a:p>
            <a:r>
              <a:rPr lang="en-US" altLang="en-US" sz="1600" b="1" i="1">
                <a:solidFill>
                  <a:srgbClr val="000099"/>
                </a:solidFill>
              </a:rPr>
              <a:t>out:</a:t>
            </a:r>
            <a:r>
              <a:rPr lang="en-US" altLang="en-US" sz="1600"/>
              <a:t> 3 smaller datagrams</a:t>
            </a:r>
            <a:endParaRPr lang="en-US" altLang="en-US"/>
          </a:p>
        </p:txBody>
      </p:sp>
      <p:sp>
        <p:nvSpPr>
          <p:cNvPr id="71698" name="Line 118">
            <a:extLst>
              <a:ext uri="{FF2B5EF4-FFF2-40B4-BE49-F238E27FC236}">
                <a16:creationId xmlns:a16="http://schemas.microsoft.com/office/drawing/2014/main" id="{9639417B-A0D8-5A47-94E1-C3E645C4A5EC}"/>
              </a:ext>
            </a:extLst>
          </p:cNvPr>
          <p:cNvSpPr>
            <a:spLocks noChangeShapeType="1"/>
          </p:cNvSpPr>
          <p:nvPr/>
        </p:nvSpPr>
        <p:spPr bwMode="auto">
          <a:xfrm>
            <a:off x="5484813" y="5178425"/>
            <a:ext cx="287337"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 name="Group 220">
            <a:extLst>
              <a:ext uri="{FF2B5EF4-FFF2-40B4-BE49-F238E27FC236}">
                <a16:creationId xmlns:a16="http://schemas.microsoft.com/office/drawing/2014/main" id="{035928C1-5CB6-7B43-B001-95E10B834B82}"/>
              </a:ext>
            </a:extLst>
          </p:cNvPr>
          <p:cNvGrpSpPr>
            <a:grpSpLocks/>
          </p:cNvGrpSpPr>
          <p:nvPr/>
        </p:nvGrpSpPr>
        <p:grpSpPr bwMode="auto">
          <a:xfrm>
            <a:off x="5407025" y="4352925"/>
            <a:ext cx="708025" cy="558800"/>
            <a:chOff x="3406" y="2742"/>
            <a:chExt cx="446" cy="352"/>
          </a:xfrm>
        </p:grpSpPr>
        <p:grpSp>
          <p:nvGrpSpPr>
            <p:cNvPr id="71799" name="Group 137">
              <a:extLst>
                <a:ext uri="{FF2B5EF4-FFF2-40B4-BE49-F238E27FC236}">
                  <a16:creationId xmlns:a16="http://schemas.microsoft.com/office/drawing/2014/main" id="{4AFB399E-9F10-A24B-8B37-4A0B34345E5B}"/>
                </a:ext>
              </a:extLst>
            </p:cNvPr>
            <p:cNvGrpSpPr>
              <a:grpSpLocks/>
            </p:cNvGrpSpPr>
            <p:nvPr/>
          </p:nvGrpSpPr>
          <p:grpSpPr bwMode="auto">
            <a:xfrm rot="-10773343">
              <a:off x="3566" y="2742"/>
              <a:ext cx="282" cy="108"/>
              <a:chOff x="5078" y="1860"/>
              <a:chExt cx="282" cy="108"/>
            </a:xfrm>
          </p:grpSpPr>
          <p:sp>
            <p:nvSpPr>
              <p:cNvPr id="71809" name="Rectangle 138">
                <a:extLst>
                  <a:ext uri="{FF2B5EF4-FFF2-40B4-BE49-F238E27FC236}">
                    <a16:creationId xmlns:a16="http://schemas.microsoft.com/office/drawing/2014/main" id="{A8D04A4B-909D-564C-9401-C436076788A9}"/>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810" name="Rectangle 139">
                <a:extLst>
                  <a:ext uri="{FF2B5EF4-FFF2-40B4-BE49-F238E27FC236}">
                    <a16:creationId xmlns:a16="http://schemas.microsoft.com/office/drawing/2014/main" id="{45E89B9F-9023-BC44-9733-CAEB460957CF}"/>
                  </a:ext>
                </a:extLst>
              </p:cNvPr>
              <p:cNvSpPr>
                <a:spLocks noChangeArrowheads="1"/>
              </p:cNvSpPr>
              <p:nvPr/>
            </p:nvSpPr>
            <p:spPr bwMode="auto">
              <a:xfrm>
                <a:off x="5080"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71800" name="Group 140">
              <a:extLst>
                <a:ext uri="{FF2B5EF4-FFF2-40B4-BE49-F238E27FC236}">
                  <a16:creationId xmlns:a16="http://schemas.microsoft.com/office/drawing/2014/main" id="{B6C5A6A3-4F88-9747-8053-90F7F81981C7}"/>
                </a:ext>
              </a:extLst>
            </p:cNvPr>
            <p:cNvGrpSpPr>
              <a:grpSpLocks/>
            </p:cNvGrpSpPr>
            <p:nvPr/>
          </p:nvGrpSpPr>
          <p:grpSpPr bwMode="auto">
            <a:xfrm rot="-10773343">
              <a:off x="3568" y="2864"/>
              <a:ext cx="282" cy="108"/>
              <a:chOff x="5078" y="1860"/>
              <a:chExt cx="282" cy="108"/>
            </a:xfrm>
          </p:grpSpPr>
          <p:sp>
            <p:nvSpPr>
              <p:cNvPr id="71807" name="Rectangle 141">
                <a:extLst>
                  <a:ext uri="{FF2B5EF4-FFF2-40B4-BE49-F238E27FC236}">
                    <a16:creationId xmlns:a16="http://schemas.microsoft.com/office/drawing/2014/main" id="{12A28469-2881-A041-B393-1F0DDA72E3B9}"/>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808" name="Rectangle 142">
                <a:extLst>
                  <a:ext uri="{FF2B5EF4-FFF2-40B4-BE49-F238E27FC236}">
                    <a16:creationId xmlns:a16="http://schemas.microsoft.com/office/drawing/2014/main" id="{42CAA011-B694-A846-B024-268A78502A44}"/>
                  </a:ext>
                </a:extLst>
              </p:cNvPr>
              <p:cNvSpPr>
                <a:spLocks noChangeArrowheads="1"/>
              </p:cNvSpPr>
              <p:nvPr/>
            </p:nvSpPr>
            <p:spPr bwMode="auto">
              <a:xfrm>
                <a:off x="5080"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71801" name="Group 143">
              <a:extLst>
                <a:ext uri="{FF2B5EF4-FFF2-40B4-BE49-F238E27FC236}">
                  <a16:creationId xmlns:a16="http://schemas.microsoft.com/office/drawing/2014/main" id="{F91B681B-1BE0-F942-936E-0C3733133053}"/>
                </a:ext>
              </a:extLst>
            </p:cNvPr>
            <p:cNvGrpSpPr>
              <a:grpSpLocks/>
            </p:cNvGrpSpPr>
            <p:nvPr/>
          </p:nvGrpSpPr>
          <p:grpSpPr bwMode="auto">
            <a:xfrm rot="-10773343">
              <a:off x="3570" y="2986"/>
              <a:ext cx="282" cy="108"/>
              <a:chOff x="5078" y="1860"/>
              <a:chExt cx="282" cy="108"/>
            </a:xfrm>
          </p:grpSpPr>
          <p:sp>
            <p:nvSpPr>
              <p:cNvPr id="71805" name="Rectangle 144">
                <a:extLst>
                  <a:ext uri="{FF2B5EF4-FFF2-40B4-BE49-F238E27FC236}">
                    <a16:creationId xmlns:a16="http://schemas.microsoft.com/office/drawing/2014/main" id="{AAF67B1E-82F4-BA43-A8B8-1B79BE87D7EB}"/>
                  </a:ext>
                </a:extLst>
              </p:cNvPr>
              <p:cNvSpPr>
                <a:spLocks noChangeArrowheads="1"/>
              </p:cNvSpPr>
              <p:nvPr/>
            </p:nvSpPr>
            <p:spPr bwMode="auto">
              <a:xfrm>
                <a:off x="5216"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806" name="Rectangle 145">
                <a:extLst>
                  <a:ext uri="{FF2B5EF4-FFF2-40B4-BE49-F238E27FC236}">
                    <a16:creationId xmlns:a16="http://schemas.microsoft.com/office/drawing/2014/main" id="{8159F45C-385D-D547-B5A8-2D6BB79A643E}"/>
                  </a:ext>
                </a:extLst>
              </p:cNvPr>
              <p:cNvSpPr>
                <a:spLocks noChangeArrowheads="1"/>
              </p:cNvSpPr>
              <p:nvPr/>
            </p:nvSpPr>
            <p:spPr bwMode="auto">
              <a:xfrm>
                <a:off x="5080"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71802" name="Line 146">
              <a:extLst>
                <a:ext uri="{FF2B5EF4-FFF2-40B4-BE49-F238E27FC236}">
                  <a16:creationId xmlns:a16="http://schemas.microsoft.com/office/drawing/2014/main" id="{574619DA-A93D-5343-841B-9E996A10826C}"/>
                </a:ext>
              </a:extLst>
            </p:cNvPr>
            <p:cNvSpPr>
              <a:spLocks noChangeShapeType="1"/>
            </p:cNvSpPr>
            <p:nvPr/>
          </p:nvSpPr>
          <p:spPr bwMode="auto">
            <a:xfrm rot="9691848">
              <a:off x="3412" y="2778"/>
              <a:ext cx="138"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03" name="Line 147">
              <a:extLst>
                <a:ext uri="{FF2B5EF4-FFF2-40B4-BE49-F238E27FC236}">
                  <a16:creationId xmlns:a16="http://schemas.microsoft.com/office/drawing/2014/main" id="{3224B5D0-F749-A943-A30E-A027887633B4}"/>
                </a:ext>
              </a:extLst>
            </p:cNvPr>
            <p:cNvSpPr>
              <a:spLocks noChangeShapeType="1"/>
            </p:cNvSpPr>
            <p:nvPr/>
          </p:nvSpPr>
          <p:spPr bwMode="auto">
            <a:xfrm rot="9691848">
              <a:off x="3406" y="2888"/>
              <a:ext cx="138"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04" name="Line 148">
              <a:extLst>
                <a:ext uri="{FF2B5EF4-FFF2-40B4-BE49-F238E27FC236}">
                  <a16:creationId xmlns:a16="http://schemas.microsoft.com/office/drawing/2014/main" id="{7339CFEF-3811-5047-8B00-2CC9AE5867FC}"/>
                </a:ext>
              </a:extLst>
            </p:cNvPr>
            <p:cNvSpPr>
              <a:spLocks noChangeShapeType="1"/>
            </p:cNvSpPr>
            <p:nvPr/>
          </p:nvSpPr>
          <p:spPr bwMode="auto">
            <a:xfrm rot="9691848">
              <a:off x="3408" y="3018"/>
              <a:ext cx="138"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 name="Group 233">
            <a:extLst>
              <a:ext uri="{FF2B5EF4-FFF2-40B4-BE49-F238E27FC236}">
                <a16:creationId xmlns:a16="http://schemas.microsoft.com/office/drawing/2014/main" id="{0C418413-61A9-2D40-82E7-B3DEEF38396E}"/>
              </a:ext>
            </a:extLst>
          </p:cNvPr>
          <p:cNvGrpSpPr>
            <a:grpSpLocks/>
          </p:cNvGrpSpPr>
          <p:nvPr/>
        </p:nvGrpSpPr>
        <p:grpSpPr bwMode="auto">
          <a:xfrm>
            <a:off x="4287838" y="3871913"/>
            <a:ext cx="1395412" cy="490537"/>
            <a:chOff x="2701" y="2439"/>
            <a:chExt cx="879" cy="309"/>
          </a:xfrm>
        </p:grpSpPr>
        <p:grpSp>
          <p:nvGrpSpPr>
            <p:cNvPr id="71793" name="Group 232">
              <a:extLst>
                <a:ext uri="{FF2B5EF4-FFF2-40B4-BE49-F238E27FC236}">
                  <a16:creationId xmlns:a16="http://schemas.microsoft.com/office/drawing/2014/main" id="{01EA5492-659B-6243-ACDB-A79359E9ABC0}"/>
                </a:ext>
              </a:extLst>
            </p:cNvPr>
            <p:cNvGrpSpPr>
              <a:grpSpLocks/>
            </p:cNvGrpSpPr>
            <p:nvPr/>
          </p:nvGrpSpPr>
          <p:grpSpPr bwMode="auto">
            <a:xfrm>
              <a:off x="2701" y="2639"/>
              <a:ext cx="806" cy="109"/>
              <a:chOff x="2540" y="2639"/>
              <a:chExt cx="806" cy="109"/>
            </a:xfrm>
          </p:grpSpPr>
          <p:grpSp>
            <p:nvGrpSpPr>
              <p:cNvPr id="71795" name="Group 149">
                <a:extLst>
                  <a:ext uri="{FF2B5EF4-FFF2-40B4-BE49-F238E27FC236}">
                    <a16:creationId xmlns:a16="http://schemas.microsoft.com/office/drawing/2014/main" id="{FAF91F05-7467-714C-8782-A7CFDF0A07E7}"/>
                  </a:ext>
                </a:extLst>
              </p:cNvPr>
              <p:cNvGrpSpPr>
                <a:grpSpLocks/>
              </p:cNvGrpSpPr>
              <p:nvPr/>
            </p:nvGrpSpPr>
            <p:grpSpPr bwMode="auto">
              <a:xfrm rot="10793026">
                <a:off x="2697" y="2639"/>
                <a:ext cx="649" cy="109"/>
                <a:chOff x="4712" y="1742"/>
                <a:chExt cx="648" cy="108"/>
              </a:xfrm>
            </p:grpSpPr>
            <p:sp>
              <p:nvSpPr>
                <p:cNvPr id="71797" name="Rectangle 150">
                  <a:extLst>
                    <a:ext uri="{FF2B5EF4-FFF2-40B4-BE49-F238E27FC236}">
                      <a16:creationId xmlns:a16="http://schemas.microsoft.com/office/drawing/2014/main" id="{7F2F562C-D33C-8C4C-8264-42BA1C89CB73}"/>
                    </a:ext>
                  </a:extLst>
                </p:cNvPr>
                <p:cNvSpPr>
                  <a:spLocks noChangeArrowheads="1"/>
                </p:cNvSpPr>
                <p:nvPr/>
              </p:nvSpPr>
              <p:spPr bwMode="auto">
                <a:xfrm>
                  <a:off x="4712" y="1742"/>
                  <a:ext cx="648"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798" name="Rectangle 151">
                  <a:extLst>
                    <a:ext uri="{FF2B5EF4-FFF2-40B4-BE49-F238E27FC236}">
                      <a16:creationId xmlns:a16="http://schemas.microsoft.com/office/drawing/2014/main" id="{29EEAB17-888D-2441-891E-1E6F17EBB9A7}"/>
                    </a:ext>
                  </a:extLst>
                </p:cNvPr>
                <p:cNvSpPr>
                  <a:spLocks noChangeArrowheads="1"/>
                </p:cNvSpPr>
                <p:nvPr/>
              </p:nvSpPr>
              <p:spPr bwMode="auto">
                <a:xfrm>
                  <a:off x="4714" y="1744"/>
                  <a:ext cx="534"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71796" name="Line 152">
                <a:extLst>
                  <a:ext uri="{FF2B5EF4-FFF2-40B4-BE49-F238E27FC236}">
                    <a16:creationId xmlns:a16="http://schemas.microsoft.com/office/drawing/2014/main" id="{6232BD0B-8716-9247-B8B9-AD40BD5AEB63}"/>
                  </a:ext>
                </a:extLst>
              </p:cNvPr>
              <p:cNvSpPr>
                <a:spLocks noChangeShapeType="1"/>
              </p:cNvSpPr>
              <p:nvPr/>
            </p:nvSpPr>
            <p:spPr bwMode="auto">
              <a:xfrm rot="9691848">
                <a:off x="2540" y="2666"/>
                <a:ext cx="138"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71794" name="Text Box 153">
              <a:extLst>
                <a:ext uri="{FF2B5EF4-FFF2-40B4-BE49-F238E27FC236}">
                  <a16:creationId xmlns:a16="http://schemas.microsoft.com/office/drawing/2014/main" id="{1531A0BB-5EA2-FB43-8AFC-ADDED97C1646}"/>
                </a:ext>
              </a:extLst>
            </p:cNvPr>
            <p:cNvSpPr txBox="1">
              <a:spLocks noChangeArrowheads="1"/>
            </p:cNvSpPr>
            <p:nvPr/>
          </p:nvSpPr>
          <p:spPr bwMode="auto">
            <a:xfrm>
              <a:off x="2810" y="2439"/>
              <a:ext cx="7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i="1">
                  <a:solidFill>
                    <a:srgbClr val="CC0000"/>
                  </a:solidFill>
                </a:rPr>
                <a:t>reassembly</a:t>
              </a:r>
              <a:endParaRPr lang="en-US" altLang="en-US" i="1">
                <a:solidFill>
                  <a:srgbClr val="CC0000"/>
                </a:solidFill>
              </a:endParaRPr>
            </a:p>
          </p:txBody>
        </p:sp>
      </p:grpSp>
      <p:pic>
        <p:nvPicPr>
          <p:cNvPr id="71701" name="Picture 154" descr="underline_base">
            <a:extLst>
              <a:ext uri="{FF2B5EF4-FFF2-40B4-BE49-F238E27FC236}">
                <a16:creationId xmlns:a16="http://schemas.microsoft.com/office/drawing/2014/main" id="{1FE26787-B80A-6A4D-A7D2-40F661B5E7E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881063"/>
            <a:ext cx="68564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702" name="Group 162">
            <a:extLst>
              <a:ext uri="{FF2B5EF4-FFF2-40B4-BE49-F238E27FC236}">
                <a16:creationId xmlns:a16="http://schemas.microsoft.com/office/drawing/2014/main" id="{ED153A2B-C9F3-DF47-9BB7-B6B4CD182161}"/>
              </a:ext>
            </a:extLst>
          </p:cNvPr>
          <p:cNvGrpSpPr>
            <a:grpSpLocks/>
          </p:cNvGrpSpPr>
          <p:nvPr/>
        </p:nvGrpSpPr>
        <p:grpSpPr bwMode="auto">
          <a:xfrm>
            <a:off x="3849688" y="1708150"/>
            <a:ext cx="838200" cy="1720850"/>
            <a:chOff x="2345" y="1140"/>
            <a:chExt cx="528" cy="1084"/>
          </a:xfrm>
        </p:grpSpPr>
        <p:sp>
          <p:nvSpPr>
            <p:cNvPr id="71783" name="Line 8">
              <a:extLst>
                <a:ext uri="{FF2B5EF4-FFF2-40B4-BE49-F238E27FC236}">
                  <a16:creationId xmlns:a16="http://schemas.microsoft.com/office/drawing/2014/main" id="{BD314BA7-772F-4748-B156-7B9E7F8BF92F}"/>
                </a:ext>
              </a:extLst>
            </p:cNvPr>
            <p:cNvSpPr>
              <a:spLocks noChangeShapeType="1"/>
            </p:cNvSpPr>
            <p:nvPr/>
          </p:nvSpPr>
          <p:spPr bwMode="auto">
            <a:xfrm flipV="1">
              <a:off x="2811" y="1459"/>
              <a:ext cx="6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84" name="Line 10">
              <a:extLst>
                <a:ext uri="{FF2B5EF4-FFF2-40B4-BE49-F238E27FC236}">
                  <a16:creationId xmlns:a16="http://schemas.microsoft.com/office/drawing/2014/main" id="{CDE8D9AC-130B-EF4C-A765-D6DCC55108A0}"/>
                </a:ext>
              </a:extLst>
            </p:cNvPr>
            <p:cNvSpPr>
              <a:spLocks noChangeShapeType="1"/>
            </p:cNvSpPr>
            <p:nvPr/>
          </p:nvSpPr>
          <p:spPr bwMode="auto">
            <a:xfrm flipV="1">
              <a:off x="2811" y="1967"/>
              <a:ext cx="6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85" name="Line 15">
              <a:extLst>
                <a:ext uri="{FF2B5EF4-FFF2-40B4-BE49-F238E27FC236}">
                  <a16:creationId xmlns:a16="http://schemas.microsoft.com/office/drawing/2014/main" id="{B53F3559-348B-9E4B-9279-79773F7EC15C}"/>
                </a:ext>
              </a:extLst>
            </p:cNvPr>
            <p:cNvSpPr>
              <a:spLocks noChangeShapeType="1"/>
            </p:cNvSpPr>
            <p:nvPr/>
          </p:nvSpPr>
          <p:spPr bwMode="auto">
            <a:xfrm>
              <a:off x="2868" y="1456"/>
              <a:ext cx="0" cy="5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786" name="Group 155">
              <a:extLst>
                <a:ext uri="{FF2B5EF4-FFF2-40B4-BE49-F238E27FC236}">
                  <a16:creationId xmlns:a16="http://schemas.microsoft.com/office/drawing/2014/main" id="{5B1A02A9-E6DB-D246-92F7-A31DD4080347}"/>
                </a:ext>
              </a:extLst>
            </p:cNvPr>
            <p:cNvGrpSpPr>
              <a:grpSpLocks/>
            </p:cNvGrpSpPr>
            <p:nvPr/>
          </p:nvGrpSpPr>
          <p:grpSpPr bwMode="auto">
            <a:xfrm>
              <a:off x="2345" y="1140"/>
              <a:ext cx="503" cy="444"/>
              <a:chOff x="-44" y="1473"/>
              <a:chExt cx="981" cy="1105"/>
            </a:xfrm>
          </p:grpSpPr>
          <p:pic>
            <p:nvPicPr>
              <p:cNvPr id="71791" name="Picture 156" descr="desktop_computer_stylized_medium">
                <a:extLst>
                  <a:ext uri="{FF2B5EF4-FFF2-40B4-BE49-F238E27FC236}">
                    <a16:creationId xmlns:a16="http://schemas.microsoft.com/office/drawing/2014/main" id="{33778A39-EBE4-2548-B976-5E535AC705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92" name="Freeform 157">
                <a:extLst>
                  <a:ext uri="{FF2B5EF4-FFF2-40B4-BE49-F238E27FC236}">
                    <a16:creationId xmlns:a16="http://schemas.microsoft.com/office/drawing/2014/main" id="{C1C40C36-EEE8-4E49-ACD9-F6C8029EE997}"/>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71787" name="Text Box 158">
              <a:extLst>
                <a:ext uri="{FF2B5EF4-FFF2-40B4-BE49-F238E27FC236}">
                  <a16:creationId xmlns:a16="http://schemas.microsoft.com/office/drawing/2014/main" id="{EF97BB20-41D0-9C4E-8354-BF42AA99A5FA}"/>
                </a:ext>
              </a:extLst>
            </p:cNvPr>
            <p:cNvSpPr txBox="1">
              <a:spLocks noChangeArrowheads="1"/>
            </p:cNvSpPr>
            <p:nvPr/>
          </p:nvSpPr>
          <p:spPr bwMode="auto">
            <a:xfrm rot="5400000">
              <a:off x="2526" y="1509"/>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800"/>
                <a:t>…</a:t>
              </a:r>
            </a:p>
          </p:txBody>
        </p:sp>
        <p:grpSp>
          <p:nvGrpSpPr>
            <p:cNvPr id="71788" name="Group 159">
              <a:extLst>
                <a:ext uri="{FF2B5EF4-FFF2-40B4-BE49-F238E27FC236}">
                  <a16:creationId xmlns:a16="http://schemas.microsoft.com/office/drawing/2014/main" id="{23B3F5D9-8408-C74A-B244-D2B004C5B66D}"/>
                </a:ext>
              </a:extLst>
            </p:cNvPr>
            <p:cNvGrpSpPr>
              <a:grpSpLocks/>
            </p:cNvGrpSpPr>
            <p:nvPr/>
          </p:nvGrpSpPr>
          <p:grpSpPr bwMode="auto">
            <a:xfrm>
              <a:off x="2357" y="1780"/>
              <a:ext cx="503" cy="444"/>
              <a:chOff x="-44" y="1473"/>
              <a:chExt cx="981" cy="1105"/>
            </a:xfrm>
          </p:grpSpPr>
          <p:pic>
            <p:nvPicPr>
              <p:cNvPr id="71789" name="Picture 160" descr="desktop_computer_stylized_medium">
                <a:extLst>
                  <a:ext uri="{FF2B5EF4-FFF2-40B4-BE49-F238E27FC236}">
                    <a16:creationId xmlns:a16="http://schemas.microsoft.com/office/drawing/2014/main" id="{75FE6F3E-B353-8444-8F37-CD7FEF7676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90" name="Freeform 161">
                <a:extLst>
                  <a:ext uri="{FF2B5EF4-FFF2-40B4-BE49-F238E27FC236}">
                    <a16:creationId xmlns:a16="http://schemas.microsoft.com/office/drawing/2014/main" id="{FE7D5DBF-CBAF-0947-8709-30A43690EBBD}"/>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grpSp>
        <p:nvGrpSpPr>
          <p:cNvPr id="71703" name="Group 163">
            <a:extLst>
              <a:ext uri="{FF2B5EF4-FFF2-40B4-BE49-F238E27FC236}">
                <a16:creationId xmlns:a16="http://schemas.microsoft.com/office/drawing/2014/main" id="{2204F6AF-7162-1B42-9AF3-B009AA362EF3}"/>
              </a:ext>
            </a:extLst>
          </p:cNvPr>
          <p:cNvGrpSpPr>
            <a:grpSpLocks/>
          </p:cNvGrpSpPr>
          <p:nvPr/>
        </p:nvGrpSpPr>
        <p:grpSpPr bwMode="auto">
          <a:xfrm>
            <a:off x="5970588" y="2895600"/>
            <a:ext cx="698500" cy="355600"/>
            <a:chOff x="4396" y="1245"/>
            <a:chExt cx="672" cy="248"/>
          </a:xfrm>
        </p:grpSpPr>
        <p:sp>
          <p:nvSpPr>
            <p:cNvPr id="71775" name="Oval 407">
              <a:extLst>
                <a:ext uri="{FF2B5EF4-FFF2-40B4-BE49-F238E27FC236}">
                  <a16:creationId xmlns:a16="http://schemas.microsoft.com/office/drawing/2014/main" id="{FC064B53-0109-C84D-8BA1-978A9CAE0D34}"/>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71776" name="Rectangle 410">
              <a:extLst>
                <a:ext uri="{FF2B5EF4-FFF2-40B4-BE49-F238E27FC236}">
                  <a16:creationId xmlns:a16="http://schemas.microsoft.com/office/drawing/2014/main" id="{5958D782-AC26-654E-9E74-7CC293E72899}"/>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71777" name="Oval 411">
              <a:extLst>
                <a:ext uri="{FF2B5EF4-FFF2-40B4-BE49-F238E27FC236}">
                  <a16:creationId xmlns:a16="http://schemas.microsoft.com/office/drawing/2014/main" id="{8A32C3D7-93DE-4F44-A477-4BE91530B56E}"/>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71778" name="Group 167">
              <a:extLst>
                <a:ext uri="{FF2B5EF4-FFF2-40B4-BE49-F238E27FC236}">
                  <a16:creationId xmlns:a16="http://schemas.microsoft.com/office/drawing/2014/main" id="{3E6DD6BE-E1BC-A646-8E83-6C7869792E88}"/>
                </a:ext>
              </a:extLst>
            </p:cNvPr>
            <p:cNvGrpSpPr>
              <a:grpSpLocks/>
            </p:cNvGrpSpPr>
            <p:nvPr/>
          </p:nvGrpSpPr>
          <p:grpSpPr bwMode="auto">
            <a:xfrm>
              <a:off x="4530" y="1287"/>
              <a:ext cx="377" cy="75"/>
              <a:chOff x="2468" y="1332"/>
              <a:chExt cx="310" cy="60"/>
            </a:xfrm>
          </p:grpSpPr>
          <p:sp>
            <p:nvSpPr>
              <p:cNvPr id="71781" name="Freeform 168">
                <a:extLst>
                  <a:ext uri="{FF2B5EF4-FFF2-40B4-BE49-F238E27FC236}">
                    <a16:creationId xmlns:a16="http://schemas.microsoft.com/office/drawing/2014/main" id="{D518FEA6-FA6C-D941-B75E-62DA3F13756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782" name="Freeform 169">
                <a:extLst>
                  <a:ext uri="{FF2B5EF4-FFF2-40B4-BE49-F238E27FC236}">
                    <a16:creationId xmlns:a16="http://schemas.microsoft.com/office/drawing/2014/main" id="{FFC96D87-84BF-4745-8643-AB0C7470D0C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1779" name="Line 170">
              <a:extLst>
                <a:ext uri="{FF2B5EF4-FFF2-40B4-BE49-F238E27FC236}">
                  <a16:creationId xmlns:a16="http://schemas.microsoft.com/office/drawing/2014/main" id="{16D483BA-F852-5543-8479-C817BCAB5B05}"/>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80" name="Line 171">
              <a:extLst>
                <a:ext uri="{FF2B5EF4-FFF2-40B4-BE49-F238E27FC236}">
                  <a16:creationId xmlns:a16="http://schemas.microsoft.com/office/drawing/2014/main" id="{D0A8FE1B-2C0C-4F4D-BC25-86BE45184B40}"/>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1704" name="Group 172">
            <a:extLst>
              <a:ext uri="{FF2B5EF4-FFF2-40B4-BE49-F238E27FC236}">
                <a16:creationId xmlns:a16="http://schemas.microsoft.com/office/drawing/2014/main" id="{629C4EC2-84EF-DF43-82EF-B01834B087C4}"/>
              </a:ext>
            </a:extLst>
          </p:cNvPr>
          <p:cNvGrpSpPr>
            <a:grpSpLocks/>
          </p:cNvGrpSpPr>
          <p:nvPr/>
        </p:nvGrpSpPr>
        <p:grpSpPr bwMode="auto">
          <a:xfrm>
            <a:off x="4757738" y="1790700"/>
            <a:ext cx="698500" cy="355600"/>
            <a:chOff x="4396" y="1245"/>
            <a:chExt cx="672" cy="248"/>
          </a:xfrm>
        </p:grpSpPr>
        <p:sp>
          <p:nvSpPr>
            <p:cNvPr id="71767" name="Oval 407">
              <a:extLst>
                <a:ext uri="{FF2B5EF4-FFF2-40B4-BE49-F238E27FC236}">
                  <a16:creationId xmlns:a16="http://schemas.microsoft.com/office/drawing/2014/main" id="{2B40D1BA-8F4D-EB4F-93CC-B86CF9371104}"/>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71768" name="Rectangle 410">
              <a:extLst>
                <a:ext uri="{FF2B5EF4-FFF2-40B4-BE49-F238E27FC236}">
                  <a16:creationId xmlns:a16="http://schemas.microsoft.com/office/drawing/2014/main" id="{4FB8E716-E216-4B46-A740-8A17273C270C}"/>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71769" name="Oval 411">
              <a:extLst>
                <a:ext uri="{FF2B5EF4-FFF2-40B4-BE49-F238E27FC236}">
                  <a16:creationId xmlns:a16="http://schemas.microsoft.com/office/drawing/2014/main" id="{A5F1E9CA-6D7D-534B-8F34-DA55B296FF86}"/>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71770" name="Group 176">
              <a:extLst>
                <a:ext uri="{FF2B5EF4-FFF2-40B4-BE49-F238E27FC236}">
                  <a16:creationId xmlns:a16="http://schemas.microsoft.com/office/drawing/2014/main" id="{CAAF9BE6-F8B6-2947-8F40-463FD1DF0E75}"/>
                </a:ext>
              </a:extLst>
            </p:cNvPr>
            <p:cNvGrpSpPr>
              <a:grpSpLocks/>
            </p:cNvGrpSpPr>
            <p:nvPr/>
          </p:nvGrpSpPr>
          <p:grpSpPr bwMode="auto">
            <a:xfrm>
              <a:off x="4530" y="1287"/>
              <a:ext cx="377" cy="75"/>
              <a:chOff x="2468" y="1332"/>
              <a:chExt cx="310" cy="60"/>
            </a:xfrm>
          </p:grpSpPr>
          <p:sp>
            <p:nvSpPr>
              <p:cNvPr id="71773" name="Freeform 177">
                <a:extLst>
                  <a:ext uri="{FF2B5EF4-FFF2-40B4-BE49-F238E27FC236}">
                    <a16:creationId xmlns:a16="http://schemas.microsoft.com/office/drawing/2014/main" id="{5D34AC7E-4326-AF41-A922-094FFE577DD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774" name="Freeform 178">
                <a:extLst>
                  <a:ext uri="{FF2B5EF4-FFF2-40B4-BE49-F238E27FC236}">
                    <a16:creationId xmlns:a16="http://schemas.microsoft.com/office/drawing/2014/main" id="{4BC7A125-3344-6B42-B629-95DDDF0433D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1771" name="Line 179">
              <a:extLst>
                <a:ext uri="{FF2B5EF4-FFF2-40B4-BE49-F238E27FC236}">
                  <a16:creationId xmlns:a16="http://schemas.microsoft.com/office/drawing/2014/main" id="{25B7B91F-AF12-684B-AA3B-6FA905A2E84E}"/>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72" name="Line 180">
              <a:extLst>
                <a:ext uri="{FF2B5EF4-FFF2-40B4-BE49-F238E27FC236}">
                  <a16:creationId xmlns:a16="http://schemas.microsoft.com/office/drawing/2014/main" id="{A91097BA-6B19-D545-A037-715B847A6A84}"/>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1705" name="Group 181">
            <a:extLst>
              <a:ext uri="{FF2B5EF4-FFF2-40B4-BE49-F238E27FC236}">
                <a16:creationId xmlns:a16="http://schemas.microsoft.com/office/drawing/2014/main" id="{732FEEC1-C8A7-0841-953D-DDD9DB76413C}"/>
              </a:ext>
            </a:extLst>
          </p:cNvPr>
          <p:cNvGrpSpPr>
            <a:grpSpLocks/>
          </p:cNvGrpSpPr>
          <p:nvPr/>
        </p:nvGrpSpPr>
        <p:grpSpPr bwMode="auto">
          <a:xfrm>
            <a:off x="4764088" y="2425700"/>
            <a:ext cx="698500" cy="355600"/>
            <a:chOff x="4396" y="1245"/>
            <a:chExt cx="672" cy="248"/>
          </a:xfrm>
        </p:grpSpPr>
        <p:sp>
          <p:nvSpPr>
            <p:cNvPr id="71759" name="Oval 407">
              <a:extLst>
                <a:ext uri="{FF2B5EF4-FFF2-40B4-BE49-F238E27FC236}">
                  <a16:creationId xmlns:a16="http://schemas.microsoft.com/office/drawing/2014/main" id="{510BC4DE-B251-8C49-84CB-806B5F433A90}"/>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71760" name="Rectangle 410">
              <a:extLst>
                <a:ext uri="{FF2B5EF4-FFF2-40B4-BE49-F238E27FC236}">
                  <a16:creationId xmlns:a16="http://schemas.microsoft.com/office/drawing/2014/main" id="{5A9559C0-2230-624E-BBAC-91D8EC9AE07C}"/>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71761" name="Oval 411">
              <a:extLst>
                <a:ext uri="{FF2B5EF4-FFF2-40B4-BE49-F238E27FC236}">
                  <a16:creationId xmlns:a16="http://schemas.microsoft.com/office/drawing/2014/main" id="{2A00E276-8ACE-0542-BA5B-4031CEF4E04F}"/>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71762" name="Group 185">
              <a:extLst>
                <a:ext uri="{FF2B5EF4-FFF2-40B4-BE49-F238E27FC236}">
                  <a16:creationId xmlns:a16="http://schemas.microsoft.com/office/drawing/2014/main" id="{C330C5CE-AB87-A546-89B0-9AE57EB31C4C}"/>
                </a:ext>
              </a:extLst>
            </p:cNvPr>
            <p:cNvGrpSpPr>
              <a:grpSpLocks/>
            </p:cNvGrpSpPr>
            <p:nvPr/>
          </p:nvGrpSpPr>
          <p:grpSpPr bwMode="auto">
            <a:xfrm>
              <a:off x="4530" y="1287"/>
              <a:ext cx="377" cy="75"/>
              <a:chOff x="2468" y="1332"/>
              <a:chExt cx="310" cy="60"/>
            </a:xfrm>
          </p:grpSpPr>
          <p:sp>
            <p:nvSpPr>
              <p:cNvPr id="71765" name="Freeform 186">
                <a:extLst>
                  <a:ext uri="{FF2B5EF4-FFF2-40B4-BE49-F238E27FC236}">
                    <a16:creationId xmlns:a16="http://schemas.microsoft.com/office/drawing/2014/main" id="{FD22AE81-2200-A14E-9681-7283728B860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766" name="Freeform 187">
                <a:extLst>
                  <a:ext uri="{FF2B5EF4-FFF2-40B4-BE49-F238E27FC236}">
                    <a16:creationId xmlns:a16="http://schemas.microsoft.com/office/drawing/2014/main" id="{849B9F4D-FD81-ED42-98CD-05EBA5F9844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1763" name="Line 188">
              <a:extLst>
                <a:ext uri="{FF2B5EF4-FFF2-40B4-BE49-F238E27FC236}">
                  <a16:creationId xmlns:a16="http://schemas.microsoft.com/office/drawing/2014/main" id="{9D4FD0E8-61FA-6145-A276-E3E2D4C03D96}"/>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64" name="Line 189">
              <a:extLst>
                <a:ext uri="{FF2B5EF4-FFF2-40B4-BE49-F238E27FC236}">
                  <a16:creationId xmlns:a16="http://schemas.microsoft.com/office/drawing/2014/main" id="{FCF78DE6-44AD-D245-B5DC-5E185C7A3E93}"/>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1706" name="Group 190">
            <a:extLst>
              <a:ext uri="{FF2B5EF4-FFF2-40B4-BE49-F238E27FC236}">
                <a16:creationId xmlns:a16="http://schemas.microsoft.com/office/drawing/2014/main" id="{79F71872-FDF4-8548-8A65-52E53E9BF635}"/>
              </a:ext>
            </a:extLst>
          </p:cNvPr>
          <p:cNvGrpSpPr>
            <a:grpSpLocks/>
          </p:cNvGrpSpPr>
          <p:nvPr/>
        </p:nvGrpSpPr>
        <p:grpSpPr bwMode="auto">
          <a:xfrm>
            <a:off x="5595938" y="2000250"/>
            <a:ext cx="698500" cy="355600"/>
            <a:chOff x="4396" y="1245"/>
            <a:chExt cx="672" cy="248"/>
          </a:xfrm>
        </p:grpSpPr>
        <p:sp>
          <p:nvSpPr>
            <p:cNvPr id="71751" name="Oval 407">
              <a:extLst>
                <a:ext uri="{FF2B5EF4-FFF2-40B4-BE49-F238E27FC236}">
                  <a16:creationId xmlns:a16="http://schemas.microsoft.com/office/drawing/2014/main" id="{DB0DF2D7-0754-6345-9ED2-A4B37F0DCACE}"/>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71752" name="Rectangle 410">
              <a:extLst>
                <a:ext uri="{FF2B5EF4-FFF2-40B4-BE49-F238E27FC236}">
                  <a16:creationId xmlns:a16="http://schemas.microsoft.com/office/drawing/2014/main" id="{00538D9E-E4BD-0F40-910C-558A8F6DA407}"/>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71753" name="Oval 411">
              <a:extLst>
                <a:ext uri="{FF2B5EF4-FFF2-40B4-BE49-F238E27FC236}">
                  <a16:creationId xmlns:a16="http://schemas.microsoft.com/office/drawing/2014/main" id="{2E4D994D-3A51-8C4F-A338-1354867B4707}"/>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71754" name="Group 194">
              <a:extLst>
                <a:ext uri="{FF2B5EF4-FFF2-40B4-BE49-F238E27FC236}">
                  <a16:creationId xmlns:a16="http://schemas.microsoft.com/office/drawing/2014/main" id="{F238D57E-5699-1846-8972-1BDDC1BE2DCF}"/>
                </a:ext>
              </a:extLst>
            </p:cNvPr>
            <p:cNvGrpSpPr>
              <a:grpSpLocks/>
            </p:cNvGrpSpPr>
            <p:nvPr/>
          </p:nvGrpSpPr>
          <p:grpSpPr bwMode="auto">
            <a:xfrm>
              <a:off x="4530" y="1287"/>
              <a:ext cx="377" cy="75"/>
              <a:chOff x="2468" y="1332"/>
              <a:chExt cx="310" cy="60"/>
            </a:xfrm>
          </p:grpSpPr>
          <p:sp>
            <p:nvSpPr>
              <p:cNvPr id="71757" name="Freeform 195">
                <a:extLst>
                  <a:ext uri="{FF2B5EF4-FFF2-40B4-BE49-F238E27FC236}">
                    <a16:creationId xmlns:a16="http://schemas.microsoft.com/office/drawing/2014/main" id="{802F4A04-8386-3145-BC61-A3F9F5FC192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758" name="Freeform 196">
                <a:extLst>
                  <a:ext uri="{FF2B5EF4-FFF2-40B4-BE49-F238E27FC236}">
                    <a16:creationId xmlns:a16="http://schemas.microsoft.com/office/drawing/2014/main" id="{3DAFEA96-2F37-414F-B5E8-F170B4477340}"/>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1755" name="Line 197">
              <a:extLst>
                <a:ext uri="{FF2B5EF4-FFF2-40B4-BE49-F238E27FC236}">
                  <a16:creationId xmlns:a16="http://schemas.microsoft.com/office/drawing/2014/main" id="{8C6CE625-72EC-8144-82B0-53187B76B313}"/>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56" name="Line 198">
              <a:extLst>
                <a:ext uri="{FF2B5EF4-FFF2-40B4-BE49-F238E27FC236}">
                  <a16:creationId xmlns:a16="http://schemas.microsoft.com/office/drawing/2014/main" id="{76B02E71-267F-3D45-BAB6-DFA2586FCB2D}"/>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2" name="Group 200">
            <a:extLst>
              <a:ext uri="{FF2B5EF4-FFF2-40B4-BE49-F238E27FC236}">
                <a16:creationId xmlns:a16="http://schemas.microsoft.com/office/drawing/2014/main" id="{9B553489-39B2-9A43-8B74-AB9E6F3985D8}"/>
              </a:ext>
            </a:extLst>
          </p:cNvPr>
          <p:cNvGrpSpPr>
            <a:grpSpLocks/>
          </p:cNvGrpSpPr>
          <p:nvPr/>
        </p:nvGrpSpPr>
        <p:grpSpPr bwMode="auto">
          <a:xfrm>
            <a:off x="6421438" y="3103563"/>
            <a:ext cx="1033462" cy="801687"/>
            <a:chOff x="4045" y="1955"/>
            <a:chExt cx="651" cy="505"/>
          </a:xfrm>
        </p:grpSpPr>
        <p:grpSp>
          <p:nvGrpSpPr>
            <p:cNvPr id="71739" name="Group 123">
              <a:extLst>
                <a:ext uri="{FF2B5EF4-FFF2-40B4-BE49-F238E27FC236}">
                  <a16:creationId xmlns:a16="http://schemas.microsoft.com/office/drawing/2014/main" id="{5D0BCBEA-D1C0-DB4B-AFFF-AF1C6C2CAA94}"/>
                </a:ext>
              </a:extLst>
            </p:cNvPr>
            <p:cNvGrpSpPr>
              <a:grpSpLocks/>
            </p:cNvGrpSpPr>
            <p:nvPr/>
          </p:nvGrpSpPr>
          <p:grpSpPr bwMode="auto">
            <a:xfrm rot="3346875">
              <a:off x="3958" y="2042"/>
              <a:ext cx="282" cy="108"/>
              <a:chOff x="5078" y="1860"/>
              <a:chExt cx="282" cy="108"/>
            </a:xfrm>
          </p:grpSpPr>
          <p:sp>
            <p:nvSpPr>
              <p:cNvPr id="71749" name="Rectangle 124">
                <a:extLst>
                  <a:ext uri="{FF2B5EF4-FFF2-40B4-BE49-F238E27FC236}">
                    <a16:creationId xmlns:a16="http://schemas.microsoft.com/office/drawing/2014/main" id="{BE778F03-A05B-E440-978D-EF2856B077B0}"/>
                  </a:ext>
                </a:extLst>
              </p:cNvPr>
              <p:cNvSpPr>
                <a:spLocks noChangeArrowheads="1"/>
              </p:cNvSpPr>
              <p:nvPr/>
            </p:nvSpPr>
            <p:spPr bwMode="auto">
              <a:xfrm>
                <a:off x="5215" y="1861"/>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750" name="Rectangle 125">
                <a:extLst>
                  <a:ext uri="{FF2B5EF4-FFF2-40B4-BE49-F238E27FC236}">
                    <a16:creationId xmlns:a16="http://schemas.microsoft.com/office/drawing/2014/main" id="{F655A1D2-5389-9F48-A77F-B46CE622791A}"/>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71740" name="Group 126">
              <a:extLst>
                <a:ext uri="{FF2B5EF4-FFF2-40B4-BE49-F238E27FC236}">
                  <a16:creationId xmlns:a16="http://schemas.microsoft.com/office/drawing/2014/main" id="{41305870-279B-F94D-85FF-32C2CF54C882}"/>
                </a:ext>
              </a:extLst>
            </p:cNvPr>
            <p:cNvGrpSpPr>
              <a:grpSpLocks/>
            </p:cNvGrpSpPr>
            <p:nvPr/>
          </p:nvGrpSpPr>
          <p:grpSpPr bwMode="auto">
            <a:xfrm rot="3215306">
              <a:off x="4158" y="2108"/>
              <a:ext cx="282" cy="108"/>
              <a:chOff x="5078" y="1860"/>
              <a:chExt cx="282" cy="108"/>
            </a:xfrm>
          </p:grpSpPr>
          <p:sp>
            <p:nvSpPr>
              <p:cNvPr id="71747" name="Rectangle 127">
                <a:extLst>
                  <a:ext uri="{FF2B5EF4-FFF2-40B4-BE49-F238E27FC236}">
                    <a16:creationId xmlns:a16="http://schemas.microsoft.com/office/drawing/2014/main" id="{CD5962FF-0D8A-C047-95F9-A90A3CCDC08A}"/>
                  </a:ext>
                </a:extLst>
              </p:cNvPr>
              <p:cNvSpPr>
                <a:spLocks noChangeArrowheads="1"/>
              </p:cNvSpPr>
              <p:nvPr/>
            </p:nvSpPr>
            <p:spPr bwMode="auto">
              <a:xfrm>
                <a:off x="5214"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748" name="Rectangle 128">
                <a:extLst>
                  <a:ext uri="{FF2B5EF4-FFF2-40B4-BE49-F238E27FC236}">
                    <a16:creationId xmlns:a16="http://schemas.microsoft.com/office/drawing/2014/main" id="{5AAD7492-3639-744E-BDC5-89B6F07C1538}"/>
                  </a:ext>
                </a:extLst>
              </p:cNvPr>
              <p:cNvSpPr>
                <a:spLocks noChangeArrowheads="1"/>
              </p:cNvSpPr>
              <p:nvPr/>
            </p:nvSpPr>
            <p:spPr bwMode="auto">
              <a:xfrm>
                <a:off x="5076"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71741" name="Group 129">
              <a:extLst>
                <a:ext uri="{FF2B5EF4-FFF2-40B4-BE49-F238E27FC236}">
                  <a16:creationId xmlns:a16="http://schemas.microsoft.com/office/drawing/2014/main" id="{C90ACE73-584F-D549-BCA0-71FDCA9F2084}"/>
                </a:ext>
              </a:extLst>
            </p:cNvPr>
            <p:cNvGrpSpPr>
              <a:grpSpLocks/>
            </p:cNvGrpSpPr>
            <p:nvPr/>
          </p:nvGrpSpPr>
          <p:grpSpPr bwMode="auto">
            <a:xfrm rot="3051000">
              <a:off x="4380" y="2184"/>
              <a:ext cx="282" cy="108"/>
              <a:chOff x="5078" y="1860"/>
              <a:chExt cx="282" cy="108"/>
            </a:xfrm>
          </p:grpSpPr>
          <p:sp>
            <p:nvSpPr>
              <p:cNvPr id="71745" name="Rectangle 130">
                <a:extLst>
                  <a:ext uri="{FF2B5EF4-FFF2-40B4-BE49-F238E27FC236}">
                    <a16:creationId xmlns:a16="http://schemas.microsoft.com/office/drawing/2014/main" id="{2D3F7A8D-B9AF-AB45-AD80-B5448F7ADCF4}"/>
                  </a:ext>
                </a:extLst>
              </p:cNvPr>
              <p:cNvSpPr>
                <a:spLocks noChangeArrowheads="1"/>
              </p:cNvSpPr>
              <p:nvPr/>
            </p:nvSpPr>
            <p:spPr bwMode="auto">
              <a:xfrm>
                <a:off x="5214" y="1860"/>
                <a:ext cx="144" cy="10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71746" name="Rectangle 131">
                <a:extLst>
                  <a:ext uri="{FF2B5EF4-FFF2-40B4-BE49-F238E27FC236}">
                    <a16:creationId xmlns:a16="http://schemas.microsoft.com/office/drawing/2014/main" id="{C0A08B7A-796B-3B40-8598-64D3B63A8474}"/>
                  </a:ext>
                </a:extLst>
              </p:cNvPr>
              <p:cNvSpPr>
                <a:spLocks noChangeArrowheads="1"/>
              </p:cNvSpPr>
              <p:nvPr/>
            </p:nvSpPr>
            <p:spPr bwMode="auto">
              <a:xfrm>
                <a:off x="5078" y="1860"/>
                <a:ext cx="16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71742" name="Line 133">
              <a:extLst>
                <a:ext uri="{FF2B5EF4-FFF2-40B4-BE49-F238E27FC236}">
                  <a16:creationId xmlns:a16="http://schemas.microsoft.com/office/drawing/2014/main" id="{8CF88339-2D69-F140-83BA-C476529C8D7C}"/>
                </a:ext>
              </a:extLst>
            </p:cNvPr>
            <p:cNvSpPr>
              <a:spLocks noChangeShapeType="1"/>
            </p:cNvSpPr>
            <p:nvPr/>
          </p:nvSpPr>
          <p:spPr bwMode="auto">
            <a:xfrm>
              <a:off x="4184" y="2216"/>
              <a:ext cx="84" cy="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43" name="Line 134">
              <a:extLst>
                <a:ext uri="{FF2B5EF4-FFF2-40B4-BE49-F238E27FC236}">
                  <a16:creationId xmlns:a16="http://schemas.microsoft.com/office/drawing/2014/main" id="{FE5530B2-4C4F-F042-B61D-D2A15A848229}"/>
                </a:ext>
              </a:extLst>
            </p:cNvPr>
            <p:cNvSpPr>
              <a:spLocks noChangeShapeType="1"/>
            </p:cNvSpPr>
            <p:nvPr/>
          </p:nvSpPr>
          <p:spPr bwMode="auto">
            <a:xfrm>
              <a:off x="4388" y="2278"/>
              <a:ext cx="82" cy="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44" name="Line 135">
              <a:extLst>
                <a:ext uri="{FF2B5EF4-FFF2-40B4-BE49-F238E27FC236}">
                  <a16:creationId xmlns:a16="http://schemas.microsoft.com/office/drawing/2014/main" id="{49F6ECB0-DD8E-574B-AA79-1456E28FA063}"/>
                </a:ext>
              </a:extLst>
            </p:cNvPr>
            <p:cNvSpPr>
              <a:spLocks noChangeShapeType="1"/>
            </p:cNvSpPr>
            <p:nvPr/>
          </p:nvSpPr>
          <p:spPr bwMode="auto">
            <a:xfrm>
              <a:off x="4620" y="2350"/>
              <a:ext cx="76" cy="11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708" name="Group 201">
            <a:extLst>
              <a:ext uri="{FF2B5EF4-FFF2-40B4-BE49-F238E27FC236}">
                <a16:creationId xmlns:a16="http://schemas.microsoft.com/office/drawing/2014/main" id="{0524195C-0504-7547-A06A-A737BAE6C9C1}"/>
              </a:ext>
            </a:extLst>
          </p:cNvPr>
          <p:cNvGrpSpPr>
            <a:grpSpLocks/>
          </p:cNvGrpSpPr>
          <p:nvPr/>
        </p:nvGrpSpPr>
        <p:grpSpPr bwMode="auto">
          <a:xfrm>
            <a:off x="6694488" y="3886200"/>
            <a:ext cx="698500" cy="355600"/>
            <a:chOff x="4396" y="1245"/>
            <a:chExt cx="672" cy="248"/>
          </a:xfrm>
        </p:grpSpPr>
        <p:sp>
          <p:nvSpPr>
            <p:cNvPr id="71731" name="Oval 407">
              <a:extLst>
                <a:ext uri="{FF2B5EF4-FFF2-40B4-BE49-F238E27FC236}">
                  <a16:creationId xmlns:a16="http://schemas.microsoft.com/office/drawing/2014/main" id="{FBC9043B-2AB7-FE47-BDBC-7348F75ADF61}"/>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71732" name="Rectangle 410">
              <a:extLst>
                <a:ext uri="{FF2B5EF4-FFF2-40B4-BE49-F238E27FC236}">
                  <a16:creationId xmlns:a16="http://schemas.microsoft.com/office/drawing/2014/main" id="{81897E0F-8D5F-DD44-ABDB-711543DA6641}"/>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71733" name="Oval 411">
              <a:extLst>
                <a:ext uri="{FF2B5EF4-FFF2-40B4-BE49-F238E27FC236}">
                  <a16:creationId xmlns:a16="http://schemas.microsoft.com/office/drawing/2014/main" id="{D9876496-49ED-1441-9626-9DFAEFE40494}"/>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71734" name="Group 205">
              <a:extLst>
                <a:ext uri="{FF2B5EF4-FFF2-40B4-BE49-F238E27FC236}">
                  <a16:creationId xmlns:a16="http://schemas.microsoft.com/office/drawing/2014/main" id="{89F498D5-2249-D54F-AEA6-2C8752C927B9}"/>
                </a:ext>
              </a:extLst>
            </p:cNvPr>
            <p:cNvGrpSpPr>
              <a:grpSpLocks/>
            </p:cNvGrpSpPr>
            <p:nvPr/>
          </p:nvGrpSpPr>
          <p:grpSpPr bwMode="auto">
            <a:xfrm>
              <a:off x="4530" y="1287"/>
              <a:ext cx="377" cy="75"/>
              <a:chOff x="2468" y="1332"/>
              <a:chExt cx="310" cy="60"/>
            </a:xfrm>
          </p:grpSpPr>
          <p:sp>
            <p:nvSpPr>
              <p:cNvPr id="71737" name="Freeform 206">
                <a:extLst>
                  <a:ext uri="{FF2B5EF4-FFF2-40B4-BE49-F238E27FC236}">
                    <a16:creationId xmlns:a16="http://schemas.microsoft.com/office/drawing/2014/main" id="{272465D6-B625-CC4E-9D51-F6B98B82663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738" name="Freeform 207">
                <a:extLst>
                  <a:ext uri="{FF2B5EF4-FFF2-40B4-BE49-F238E27FC236}">
                    <a16:creationId xmlns:a16="http://schemas.microsoft.com/office/drawing/2014/main" id="{99AB33F0-A206-1D4D-834C-A56B5BCD133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1735" name="Line 208">
              <a:extLst>
                <a:ext uri="{FF2B5EF4-FFF2-40B4-BE49-F238E27FC236}">
                  <a16:creationId xmlns:a16="http://schemas.microsoft.com/office/drawing/2014/main" id="{D4323EEC-C80F-5149-B6A7-13428103D21A}"/>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6" name="Line 209">
              <a:extLst>
                <a:ext uri="{FF2B5EF4-FFF2-40B4-BE49-F238E27FC236}">
                  <a16:creationId xmlns:a16="http://schemas.microsoft.com/office/drawing/2014/main" id="{72024637-55A0-3C42-ACC2-9CA6941D79D3}"/>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1709" name="Group 210">
            <a:extLst>
              <a:ext uri="{FF2B5EF4-FFF2-40B4-BE49-F238E27FC236}">
                <a16:creationId xmlns:a16="http://schemas.microsoft.com/office/drawing/2014/main" id="{EC5538E9-8B11-1746-A1AF-089B345A9213}"/>
              </a:ext>
            </a:extLst>
          </p:cNvPr>
          <p:cNvGrpSpPr>
            <a:grpSpLocks/>
          </p:cNvGrpSpPr>
          <p:nvPr/>
        </p:nvGrpSpPr>
        <p:grpSpPr bwMode="auto">
          <a:xfrm>
            <a:off x="5791200" y="4954588"/>
            <a:ext cx="698500" cy="355600"/>
            <a:chOff x="4396" y="1245"/>
            <a:chExt cx="672" cy="248"/>
          </a:xfrm>
        </p:grpSpPr>
        <p:sp>
          <p:nvSpPr>
            <p:cNvPr id="71723" name="Oval 407">
              <a:extLst>
                <a:ext uri="{FF2B5EF4-FFF2-40B4-BE49-F238E27FC236}">
                  <a16:creationId xmlns:a16="http://schemas.microsoft.com/office/drawing/2014/main" id="{397D2BE3-C48F-8149-B565-5C4D3FE7CD11}"/>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71724" name="Rectangle 410">
              <a:extLst>
                <a:ext uri="{FF2B5EF4-FFF2-40B4-BE49-F238E27FC236}">
                  <a16:creationId xmlns:a16="http://schemas.microsoft.com/office/drawing/2014/main" id="{F52F2184-77AB-FA4D-9C22-1FFDD164E669}"/>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71725" name="Oval 411">
              <a:extLst>
                <a:ext uri="{FF2B5EF4-FFF2-40B4-BE49-F238E27FC236}">
                  <a16:creationId xmlns:a16="http://schemas.microsoft.com/office/drawing/2014/main" id="{D2F9E3D2-0395-874A-8C77-DB29071231AC}"/>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71726" name="Group 214">
              <a:extLst>
                <a:ext uri="{FF2B5EF4-FFF2-40B4-BE49-F238E27FC236}">
                  <a16:creationId xmlns:a16="http://schemas.microsoft.com/office/drawing/2014/main" id="{4A8D18C7-042E-A64A-87E9-289A7778807E}"/>
                </a:ext>
              </a:extLst>
            </p:cNvPr>
            <p:cNvGrpSpPr>
              <a:grpSpLocks/>
            </p:cNvGrpSpPr>
            <p:nvPr/>
          </p:nvGrpSpPr>
          <p:grpSpPr bwMode="auto">
            <a:xfrm>
              <a:off x="4530" y="1287"/>
              <a:ext cx="377" cy="75"/>
              <a:chOff x="2468" y="1332"/>
              <a:chExt cx="310" cy="60"/>
            </a:xfrm>
          </p:grpSpPr>
          <p:sp>
            <p:nvSpPr>
              <p:cNvPr id="71729" name="Freeform 215">
                <a:extLst>
                  <a:ext uri="{FF2B5EF4-FFF2-40B4-BE49-F238E27FC236}">
                    <a16:creationId xmlns:a16="http://schemas.microsoft.com/office/drawing/2014/main" id="{DC1BB958-8BD6-6B49-8F6A-42C60F69C5A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730" name="Freeform 216">
                <a:extLst>
                  <a:ext uri="{FF2B5EF4-FFF2-40B4-BE49-F238E27FC236}">
                    <a16:creationId xmlns:a16="http://schemas.microsoft.com/office/drawing/2014/main" id="{F5CFB8B1-DBED-9745-8A76-C0D4FA82C10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1727" name="Line 217">
              <a:extLst>
                <a:ext uri="{FF2B5EF4-FFF2-40B4-BE49-F238E27FC236}">
                  <a16:creationId xmlns:a16="http://schemas.microsoft.com/office/drawing/2014/main" id="{86DD8495-FFF5-AF44-9220-33C806AB378B}"/>
                </a:ext>
              </a:extLst>
            </p:cNvPr>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8" name="Line 218">
              <a:extLst>
                <a:ext uri="{FF2B5EF4-FFF2-40B4-BE49-F238E27FC236}">
                  <a16:creationId xmlns:a16="http://schemas.microsoft.com/office/drawing/2014/main" id="{670A73C1-7E80-134E-A147-F74670523783}"/>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1710" name="Group 221">
            <a:extLst>
              <a:ext uri="{FF2B5EF4-FFF2-40B4-BE49-F238E27FC236}">
                <a16:creationId xmlns:a16="http://schemas.microsoft.com/office/drawing/2014/main" id="{24276E3F-E495-1B48-BE34-90A5D10884E2}"/>
              </a:ext>
            </a:extLst>
          </p:cNvPr>
          <p:cNvGrpSpPr>
            <a:grpSpLocks/>
          </p:cNvGrpSpPr>
          <p:nvPr/>
        </p:nvGrpSpPr>
        <p:grpSpPr bwMode="auto">
          <a:xfrm>
            <a:off x="4752975" y="4400550"/>
            <a:ext cx="738188" cy="1385888"/>
            <a:chOff x="2345" y="1140"/>
            <a:chExt cx="528" cy="1084"/>
          </a:xfrm>
        </p:grpSpPr>
        <p:sp>
          <p:nvSpPr>
            <p:cNvPr id="71713" name="Line 222">
              <a:extLst>
                <a:ext uri="{FF2B5EF4-FFF2-40B4-BE49-F238E27FC236}">
                  <a16:creationId xmlns:a16="http://schemas.microsoft.com/office/drawing/2014/main" id="{F5DEE4B2-7C88-EC45-ABBD-7544CAD10A57}"/>
                </a:ext>
              </a:extLst>
            </p:cNvPr>
            <p:cNvSpPr>
              <a:spLocks noChangeShapeType="1"/>
            </p:cNvSpPr>
            <p:nvPr/>
          </p:nvSpPr>
          <p:spPr bwMode="auto">
            <a:xfrm flipV="1">
              <a:off x="2811" y="1459"/>
              <a:ext cx="6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14" name="Line 223">
              <a:extLst>
                <a:ext uri="{FF2B5EF4-FFF2-40B4-BE49-F238E27FC236}">
                  <a16:creationId xmlns:a16="http://schemas.microsoft.com/office/drawing/2014/main" id="{28C34333-BB75-9641-8183-00E74B74612E}"/>
                </a:ext>
              </a:extLst>
            </p:cNvPr>
            <p:cNvSpPr>
              <a:spLocks noChangeShapeType="1"/>
            </p:cNvSpPr>
            <p:nvPr/>
          </p:nvSpPr>
          <p:spPr bwMode="auto">
            <a:xfrm flipV="1">
              <a:off x="2811" y="1967"/>
              <a:ext cx="6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15" name="Line 224">
              <a:extLst>
                <a:ext uri="{FF2B5EF4-FFF2-40B4-BE49-F238E27FC236}">
                  <a16:creationId xmlns:a16="http://schemas.microsoft.com/office/drawing/2014/main" id="{C7F59DA8-A8DC-A04A-93BE-780CFFB8AB26}"/>
                </a:ext>
              </a:extLst>
            </p:cNvPr>
            <p:cNvSpPr>
              <a:spLocks noChangeShapeType="1"/>
            </p:cNvSpPr>
            <p:nvPr/>
          </p:nvSpPr>
          <p:spPr bwMode="auto">
            <a:xfrm>
              <a:off x="2868" y="1455"/>
              <a:ext cx="0" cy="50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71716" name="Group 225">
              <a:extLst>
                <a:ext uri="{FF2B5EF4-FFF2-40B4-BE49-F238E27FC236}">
                  <a16:creationId xmlns:a16="http://schemas.microsoft.com/office/drawing/2014/main" id="{96FF7F6B-CACA-9546-B14E-15E05C811FC4}"/>
                </a:ext>
              </a:extLst>
            </p:cNvPr>
            <p:cNvGrpSpPr>
              <a:grpSpLocks/>
            </p:cNvGrpSpPr>
            <p:nvPr/>
          </p:nvGrpSpPr>
          <p:grpSpPr bwMode="auto">
            <a:xfrm>
              <a:off x="2345" y="1140"/>
              <a:ext cx="503" cy="444"/>
              <a:chOff x="-44" y="1473"/>
              <a:chExt cx="981" cy="1105"/>
            </a:xfrm>
          </p:grpSpPr>
          <p:pic>
            <p:nvPicPr>
              <p:cNvPr id="71721" name="Picture 226" descr="desktop_computer_stylized_medium">
                <a:extLst>
                  <a:ext uri="{FF2B5EF4-FFF2-40B4-BE49-F238E27FC236}">
                    <a16:creationId xmlns:a16="http://schemas.microsoft.com/office/drawing/2014/main" id="{A63681EE-C6E4-8E4D-99F6-319CB8111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2" name="Freeform 227">
                <a:extLst>
                  <a:ext uri="{FF2B5EF4-FFF2-40B4-BE49-F238E27FC236}">
                    <a16:creationId xmlns:a16="http://schemas.microsoft.com/office/drawing/2014/main" id="{2CEFFB45-185E-0947-9117-4B4976B50675}"/>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71717" name="Text Box 228">
              <a:extLst>
                <a:ext uri="{FF2B5EF4-FFF2-40B4-BE49-F238E27FC236}">
                  <a16:creationId xmlns:a16="http://schemas.microsoft.com/office/drawing/2014/main" id="{0C944D28-C4EB-4E4F-B923-B1EF91EB9B72}"/>
                </a:ext>
              </a:extLst>
            </p:cNvPr>
            <p:cNvSpPr txBox="1">
              <a:spLocks noChangeArrowheads="1"/>
            </p:cNvSpPr>
            <p:nvPr/>
          </p:nvSpPr>
          <p:spPr bwMode="auto">
            <a:xfrm rot="5400000">
              <a:off x="2463" y="1529"/>
              <a:ext cx="422"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800"/>
                <a:t>…</a:t>
              </a:r>
            </a:p>
          </p:txBody>
        </p:sp>
        <p:grpSp>
          <p:nvGrpSpPr>
            <p:cNvPr id="71718" name="Group 229">
              <a:extLst>
                <a:ext uri="{FF2B5EF4-FFF2-40B4-BE49-F238E27FC236}">
                  <a16:creationId xmlns:a16="http://schemas.microsoft.com/office/drawing/2014/main" id="{8776A5CF-6244-0643-AC5F-E3932B0B38C8}"/>
                </a:ext>
              </a:extLst>
            </p:cNvPr>
            <p:cNvGrpSpPr>
              <a:grpSpLocks/>
            </p:cNvGrpSpPr>
            <p:nvPr/>
          </p:nvGrpSpPr>
          <p:grpSpPr bwMode="auto">
            <a:xfrm>
              <a:off x="2357" y="1780"/>
              <a:ext cx="503" cy="444"/>
              <a:chOff x="-44" y="1473"/>
              <a:chExt cx="981" cy="1105"/>
            </a:xfrm>
          </p:grpSpPr>
          <p:pic>
            <p:nvPicPr>
              <p:cNvPr id="71719" name="Picture 230" descr="desktop_computer_stylized_medium">
                <a:extLst>
                  <a:ext uri="{FF2B5EF4-FFF2-40B4-BE49-F238E27FC236}">
                    <a16:creationId xmlns:a16="http://schemas.microsoft.com/office/drawing/2014/main" id="{3E8B736D-9DB4-C940-BAB9-38C7D8EDC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0" name="Freeform 231">
                <a:extLst>
                  <a:ext uri="{FF2B5EF4-FFF2-40B4-BE49-F238E27FC236}">
                    <a16:creationId xmlns:a16="http://schemas.microsoft.com/office/drawing/2014/main" id="{C0C1FDEE-8D1A-104A-84D1-3BE7CA74590D}"/>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sp>
        <p:nvSpPr>
          <p:cNvPr id="71711" name="Slide Number Placeholder 5">
            <a:extLst>
              <a:ext uri="{FF2B5EF4-FFF2-40B4-BE49-F238E27FC236}">
                <a16:creationId xmlns:a16="http://schemas.microsoft.com/office/drawing/2014/main" id="{3A4EEEA0-66E8-D447-B695-26F3C362E72D}"/>
              </a:ext>
            </a:extLst>
          </p:cNvPr>
          <p:cNvSpPr>
            <a:spLocks noGrp="1"/>
          </p:cNvSpPr>
          <p:nvPr>
            <p:ph type="sldNum" sz="quarter" idx="12"/>
          </p:nvPr>
        </p:nvSpPr>
        <p:spPr>
          <a:xfrm>
            <a:off x="8456613" y="6475413"/>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D0B470DE-87D9-0547-A6C2-5C8BBE5BDCDF}" type="slidenum">
              <a:rPr lang="en-US" altLang="en-US">
                <a:latin typeface="Tahoma" panose="020B0604030504040204" pitchFamily="34" charset="0"/>
              </a:rPr>
              <a:pPr/>
              <a:t>48</a:t>
            </a:fld>
            <a:endParaRPr lang="en-US" altLang="en-US">
              <a:latin typeface="Tahoma" panose="020B0604030504040204" pitchFamily="34" charset="0"/>
            </a:endParaRPr>
          </a:p>
        </p:txBody>
      </p:sp>
      <p:sp>
        <p:nvSpPr>
          <p:cNvPr id="71712" name="Footer Placeholder 2">
            <a:extLst>
              <a:ext uri="{FF2B5EF4-FFF2-40B4-BE49-F238E27FC236}">
                <a16:creationId xmlns:a16="http://schemas.microsoft.com/office/drawing/2014/main" id="{646CC30D-E4B4-AD41-865F-E51131752DAE}"/>
              </a:ext>
            </a:extLst>
          </p:cNvPr>
          <p:cNvSpPr>
            <a:spLocks noGrp="1"/>
          </p:cNvSpPr>
          <p:nvPr>
            <p:ph type="ftr" sz="quarter" idx="11"/>
          </p:nvPr>
        </p:nvSpPr>
        <p:spPr bwMode="auto">
          <a:xfrm>
            <a:off x="6375400" y="6475413"/>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up)">
                                      <p:cBhvr>
                                        <p:cTn id="12" dur="1000"/>
                                        <p:tgtEl>
                                          <p:spTgt spid="22"/>
                                        </p:tgtEl>
                                      </p:cBhvr>
                                    </p:animEffect>
                                  </p:childTnLst>
                                </p:cTn>
                              </p:par>
                              <p:par>
                                <p:cTn id="13" presetID="9" presetClass="entr" presetSubtype="0" fill="hold" nodeType="withEffect">
                                  <p:stCondLst>
                                    <p:cond delay="0"/>
                                  </p:stCondLst>
                                  <p:childTnLst>
                                    <p:set>
                                      <p:cBhvr>
                                        <p:cTn id="14" dur="1" fill="hold">
                                          <p:stCondLst>
                                            <p:cond delay="0"/>
                                          </p:stCondLst>
                                        </p:cTn>
                                        <p:tgtEl>
                                          <p:spTgt spid="576648">
                                            <p:txEl>
                                              <p:pRg st="0" end="0"/>
                                            </p:txEl>
                                          </p:spTgt>
                                        </p:tgtEl>
                                        <p:attrNameLst>
                                          <p:attrName>style.visibility</p:attrName>
                                        </p:attrNameLst>
                                      </p:cBhvr>
                                      <p:to>
                                        <p:strVal val="visible"/>
                                      </p:to>
                                    </p:set>
                                    <p:animEffect transition="in" filter="dissolve">
                                      <p:cBhvr>
                                        <p:cTn id="15" dur="500"/>
                                        <p:tgtEl>
                                          <p:spTgt spid="576648">
                                            <p:txEl>
                                              <p:pRg st="0" end="0"/>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576648">
                                            <p:txEl>
                                              <p:pRg st="1" end="1"/>
                                            </p:txEl>
                                          </p:spTgt>
                                        </p:tgtEl>
                                        <p:attrNameLst>
                                          <p:attrName>style.visibility</p:attrName>
                                        </p:attrNameLst>
                                      </p:cBhvr>
                                      <p:to>
                                        <p:strVal val="visible"/>
                                      </p:to>
                                    </p:set>
                                    <p:animEffect transition="in" filter="dissolve">
                                      <p:cBhvr>
                                        <p:cTn id="18" dur="500"/>
                                        <p:tgtEl>
                                          <p:spTgt spid="576648">
                                            <p:txEl>
                                              <p:pRg st="1" end="1"/>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576648">
                                            <p:txEl>
                                              <p:pRg st="2" end="2"/>
                                            </p:txEl>
                                          </p:spTgt>
                                        </p:tgtEl>
                                        <p:attrNameLst>
                                          <p:attrName>style.visibility</p:attrName>
                                        </p:attrNameLst>
                                      </p:cBhvr>
                                      <p:to>
                                        <p:strVal val="visible"/>
                                      </p:to>
                                    </p:set>
                                    <p:animEffect transition="in" filter="dissolve">
                                      <p:cBhvr>
                                        <p:cTn id="21" dur="500"/>
                                        <p:tgtEl>
                                          <p:spTgt spid="576648">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2"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right)">
                                      <p:cBhvr>
                                        <p:cTn id="26" dur="1000"/>
                                        <p:tgtEl>
                                          <p:spTgt spid="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2"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04-08 at 11.56.3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08085"/>
            <a:ext cx="7408333" cy="5552350"/>
          </a:xfrm>
          <a:prstGeom prst="rect">
            <a:avLst/>
          </a:prstGeom>
        </p:spPr>
      </p:pic>
      <p:sp>
        <p:nvSpPr>
          <p:cNvPr id="34819" name="Slide Number Placeholder 6"/>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pitchFamily="34" charset="-128"/>
              </a:defRPr>
            </a:lvl1pPr>
            <a:lvl2pPr marL="742950" indent="-285750">
              <a:defRPr>
                <a:solidFill>
                  <a:schemeClr val="tx1"/>
                </a:solidFill>
                <a:latin typeface="Arial" charset="0"/>
                <a:ea typeface="ＭＳ Ｐゴシック" pitchFamily="34" charset="-128"/>
              </a:defRPr>
            </a:lvl2pPr>
            <a:lvl3pPr marL="1143000" indent="-228600">
              <a:defRPr>
                <a:solidFill>
                  <a:schemeClr val="tx1"/>
                </a:solidFill>
                <a:latin typeface="Arial" charset="0"/>
                <a:ea typeface="ＭＳ Ｐゴシック" pitchFamily="34" charset="-128"/>
              </a:defRPr>
            </a:lvl3pPr>
            <a:lvl4pPr marL="1600200" indent="-228600">
              <a:defRPr>
                <a:solidFill>
                  <a:schemeClr val="tx1"/>
                </a:solidFill>
                <a:latin typeface="Arial" charset="0"/>
                <a:ea typeface="ＭＳ Ｐゴシック" pitchFamily="34" charset="-128"/>
              </a:defRPr>
            </a:lvl4pPr>
            <a:lvl5pPr marL="2057400" indent="-22860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r>
              <a:rPr lang="en-US" altLang="en-US">
                <a:latin typeface="Tahoma" pitchFamily="34" charset="0"/>
              </a:rPr>
              <a:t>4-</a:t>
            </a:r>
            <a:fld id="{D81566FB-1535-4800-8AD4-AE08FD32F742}" type="slidenum">
              <a:rPr lang="en-US" altLang="en-US" smtClean="0">
                <a:latin typeface="Tahoma" pitchFamily="34" charset="0"/>
              </a:rPr>
              <a:pPr/>
              <a:t>49</a:t>
            </a:fld>
            <a:endParaRPr lang="en-US" altLang="en-US">
              <a:latin typeface="Tahoma" pitchFamily="34" charset="0"/>
            </a:endParaRPr>
          </a:p>
        </p:txBody>
      </p:sp>
      <p:sp>
        <p:nvSpPr>
          <p:cNvPr id="11" name="TextBox 10"/>
          <p:cNvSpPr txBox="1"/>
          <p:nvPr/>
        </p:nvSpPr>
        <p:spPr>
          <a:xfrm>
            <a:off x="2868213" y="1895185"/>
            <a:ext cx="1677963" cy="338554"/>
          </a:xfrm>
          <a:prstGeom prst="rect">
            <a:avLst/>
          </a:prstGeom>
          <a:solidFill>
            <a:schemeClr val="bg1"/>
          </a:solidFill>
        </p:spPr>
        <p:txBody>
          <a:bodyPr wrap="none" rtlCol="0">
            <a:spAutoFit/>
          </a:bodyPr>
          <a:lstStyle/>
          <a:p>
            <a:r>
              <a:rPr lang="en-US" sz="1600" b="1" dirty="0">
                <a:solidFill>
                  <a:srgbClr val="FF0000"/>
                </a:solidFill>
              </a:rPr>
              <a:t>Fragmentation:</a:t>
            </a:r>
          </a:p>
        </p:txBody>
      </p:sp>
      <p:sp>
        <p:nvSpPr>
          <p:cNvPr id="12" name="TextBox 11"/>
          <p:cNvSpPr txBox="1"/>
          <p:nvPr/>
        </p:nvSpPr>
        <p:spPr>
          <a:xfrm>
            <a:off x="1615402" y="4020041"/>
            <a:ext cx="1450638" cy="338554"/>
          </a:xfrm>
          <a:prstGeom prst="rect">
            <a:avLst/>
          </a:prstGeom>
          <a:solidFill>
            <a:schemeClr val="bg1"/>
          </a:solidFill>
        </p:spPr>
        <p:txBody>
          <a:bodyPr wrap="none" rtlCol="0">
            <a:spAutoFit/>
          </a:bodyPr>
          <a:lstStyle/>
          <a:p>
            <a:r>
              <a:rPr lang="en-US" sz="1600" b="1" dirty="0">
                <a:solidFill>
                  <a:srgbClr val="FF0000"/>
                </a:solidFill>
              </a:rPr>
              <a:t>Reassembly:</a:t>
            </a:r>
          </a:p>
        </p:txBody>
      </p:sp>
      <p:grpSp>
        <p:nvGrpSpPr>
          <p:cNvPr id="16" name="Group 15"/>
          <p:cNvGrpSpPr/>
          <p:nvPr/>
        </p:nvGrpSpPr>
        <p:grpSpPr>
          <a:xfrm>
            <a:off x="5388516" y="3568103"/>
            <a:ext cx="3531469" cy="682771"/>
            <a:chOff x="5062677" y="1500827"/>
            <a:chExt cx="3531469" cy="604645"/>
          </a:xfrm>
          <a:solidFill>
            <a:srgbClr val="FFFF00">
              <a:alpha val="50000"/>
            </a:srgbClr>
          </a:solidFill>
        </p:grpSpPr>
        <p:sp>
          <p:nvSpPr>
            <p:cNvPr id="17" name="Isosceles Triangle 16"/>
            <p:cNvSpPr/>
            <p:nvPr/>
          </p:nvSpPr>
          <p:spPr bwMode="auto">
            <a:xfrm rot="17515807">
              <a:off x="5757070" y="806434"/>
              <a:ext cx="260518" cy="1649303"/>
            </a:xfrm>
            <a:prstGeom prst="triangle">
              <a:avLst>
                <a:gd name="adj" fmla="val 99020"/>
              </a:avLst>
            </a:prstGeom>
            <a:grp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 name="TextBox 17"/>
            <p:cNvSpPr txBox="1"/>
            <p:nvPr/>
          </p:nvSpPr>
          <p:spPr>
            <a:xfrm>
              <a:off x="6601293" y="1520696"/>
              <a:ext cx="1992853" cy="584776"/>
            </a:xfrm>
            <a:prstGeom prst="rect">
              <a:avLst/>
            </a:prstGeom>
            <a:grpFill/>
            <a:effectLst/>
          </p:spPr>
          <p:txBody>
            <a:bodyPr wrap="none" rtlCol="0">
              <a:spAutoFit/>
            </a:bodyPr>
            <a:lstStyle/>
            <a:p>
              <a:r>
                <a:rPr lang="en-US" sz="1600" dirty="0"/>
                <a:t>= 4000 / 1500 bytes</a:t>
              </a:r>
            </a:p>
            <a:p>
              <a:r>
                <a:rPr lang="en-US" sz="1600" dirty="0"/>
                <a:t>= 3 datagrams</a:t>
              </a:r>
            </a:p>
          </p:txBody>
        </p:sp>
      </p:grpSp>
      <p:grpSp>
        <p:nvGrpSpPr>
          <p:cNvPr id="7" name="Group 6">
            <a:extLst>
              <a:ext uri="{FF2B5EF4-FFF2-40B4-BE49-F238E27FC236}">
                <a16:creationId xmlns:a16="http://schemas.microsoft.com/office/drawing/2014/main" id="{D9DD8E09-9D9F-D941-BF1A-B9C390352DC5}"/>
              </a:ext>
            </a:extLst>
          </p:cNvPr>
          <p:cNvGrpSpPr/>
          <p:nvPr/>
        </p:nvGrpSpPr>
        <p:grpSpPr>
          <a:xfrm>
            <a:off x="104736" y="1069554"/>
            <a:ext cx="3240360" cy="1989816"/>
            <a:chOff x="92300" y="1026339"/>
            <a:chExt cx="3240360" cy="1989816"/>
          </a:xfrm>
        </p:grpSpPr>
        <p:sp>
          <p:nvSpPr>
            <p:cNvPr id="19" name="Rectangle 18">
              <a:extLst>
                <a:ext uri="{FF2B5EF4-FFF2-40B4-BE49-F238E27FC236}">
                  <a16:creationId xmlns:a16="http://schemas.microsoft.com/office/drawing/2014/main" id="{85CCCA3C-7D45-BB49-A9F5-126ACD738C81}"/>
                </a:ext>
              </a:extLst>
            </p:cNvPr>
            <p:cNvSpPr/>
            <p:nvPr/>
          </p:nvSpPr>
          <p:spPr>
            <a:xfrm>
              <a:off x="92300" y="1026339"/>
              <a:ext cx="3240360" cy="1200329"/>
            </a:xfrm>
            <a:prstGeom prst="rect">
              <a:avLst/>
            </a:prstGeom>
            <a:solidFill>
              <a:srgbClr val="FFC000"/>
            </a:solidFill>
          </p:spPr>
          <p:txBody>
            <a:bodyPr wrap="square">
              <a:spAutoFit/>
            </a:bodyPr>
            <a:lstStyle/>
            <a:p>
              <a:r>
                <a:rPr lang="en-MY" dirty="0"/>
                <a:t>Original datagram :</a:t>
              </a:r>
            </a:p>
            <a:p>
              <a:r>
                <a:rPr lang="en-MY" dirty="0"/>
                <a:t>4000 bytes </a:t>
              </a:r>
            </a:p>
            <a:p>
              <a:r>
                <a:rPr lang="en-MY" dirty="0"/>
                <a:t>=         20 bytes of IP header  </a:t>
              </a:r>
            </a:p>
            <a:p>
              <a:r>
                <a:rPr lang="en-MY" dirty="0"/>
                <a:t>   + 3,980 bytes of IP payload</a:t>
              </a:r>
            </a:p>
          </p:txBody>
        </p:sp>
        <p:cxnSp>
          <p:nvCxnSpPr>
            <p:cNvPr id="6" name="Straight Arrow Connector 5">
              <a:extLst>
                <a:ext uri="{FF2B5EF4-FFF2-40B4-BE49-F238E27FC236}">
                  <a16:creationId xmlns:a16="http://schemas.microsoft.com/office/drawing/2014/main" id="{F1ADDF63-9D04-734C-910B-30B76A110747}"/>
                </a:ext>
              </a:extLst>
            </p:cNvPr>
            <p:cNvCxnSpPr/>
            <p:nvPr/>
          </p:nvCxnSpPr>
          <p:spPr bwMode="auto">
            <a:xfrm>
              <a:off x="1869743" y="2183642"/>
              <a:ext cx="477672" cy="832513"/>
            </a:xfrm>
            <a:prstGeom prst="straightConnector1">
              <a:avLst/>
            </a:prstGeom>
            <a:solidFill>
              <a:schemeClr val="accent1"/>
            </a:solidFill>
            <a:ln w="76200" cap="flat" cmpd="sng" algn="ctr">
              <a:solidFill>
                <a:srgbClr val="FFC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21" name="Rectangle 2">
            <a:extLst>
              <a:ext uri="{FF2B5EF4-FFF2-40B4-BE49-F238E27FC236}">
                <a16:creationId xmlns:a16="http://schemas.microsoft.com/office/drawing/2014/main" id="{F6904D55-C5CD-CB4C-9CD9-2B270FC6644E}"/>
              </a:ext>
            </a:extLst>
          </p:cNvPr>
          <p:cNvSpPr txBox="1">
            <a:spLocks noChangeArrowheads="1"/>
          </p:cNvSpPr>
          <p:nvPr/>
        </p:nvSpPr>
        <p:spPr bwMode="auto">
          <a:xfrm>
            <a:off x="3616657" y="140786"/>
            <a:ext cx="5527343"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800" dirty="0">
                <a:solidFill>
                  <a:schemeClr val="bg1"/>
                </a:solidFill>
                <a:latin typeface="Arial"/>
                <a:ea typeface="ＭＳ Ｐゴシック" pitchFamily="34" charset="-128"/>
                <a:cs typeface="Arial"/>
              </a:rPr>
              <a:t>IP fragmentation, reassembly</a:t>
            </a:r>
          </a:p>
        </p:txBody>
      </p:sp>
      <p:sp>
        <p:nvSpPr>
          <p:cNvPr id="20" name="Rectangle 2">
            <a:extLst>
              <a:ext uri="{FF2B5EF4-FFF2-40B4-BE49-F238E27FC236}">
                <a16:creationId xmlns:a16="http://schemas.microsoft.com/office/drawing/2014/main" id="{D7FC1A7C-48A4-C044-A601-9CF45453BFC1}"/>
              </a:ext>
            </a:extLst>
          </p:cNvPr>
          <p:cNvSpPr>
            <a:spLocks noGrp="1" noChangeArrowheads="1"/>
          </p:cNvSpPr>
          <p:nvPr>
            <p:ph type="title"/>
          </p:nvPr>
        </p:nvSpPr>
        <p:spPr>
          <a:xfrm>
            <a:off x="533400" y="185738"/>
            <a:ext cx="7772400" cy="930275"/>
          </a:xfrm>
        </p:spPr>
        <p:txBody>
          <a:bodyPr/>
          <a:lstStyle/>
          <a:p>
            <a:r>
              <a:rPr lang="en-US" altLang="en-US" dirty="0">
                <a:ea typeface="ＭＳ Ｐゴシック" panose="020B0600070205080204" pitchFamily="34" charset="-128"/>
              </a:rPr>
              <a:t>IP fragmentation, reassembly</a:t>
            </a:r>
            <a:endParaRPr lang="en-US" altLang="en-US" sz="4800" dirty="0">
              <a:ea typeface="ＭＳ Ｐゴシック" panose="020B0600070205080204" pitchFamily="34" charset="-128"/>
            </a:endParaRPr>
          </a:p>
        </p:txBody>
      </p:sp>
    </p:spTree>
    <p:extLst>
      <p:ext uri="{BB962C8B-B14F-4D97-AF65-F5344CB8AC3E}">
        <p14:creationId xmlns:p14="http://schemas.microsoft.com/office/powerpoint/2010/main" val="265694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2"/>
          <p:cNvSpPr txBox="1">
            <a:spLocks noChangeArrowheads="1"/>
          </p:cNvSpPr>
          <p:nvPr/>
        </p:nvSpPr>
        <p:spPr bwMode="auto">
          <a:xfrm>
            <a:off x="3616657" y="140786"/>
            <a:ext cx="5527343"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800" dirty="0">
                <a:solidFill>
                  <a:schemeClr val="bg1"/>
                </a:solidFill>
                <a:latin typeface="Arial"/>
                <a:ea typeface="ＭＳ Ｐゴシック" pitchFamily="34" charset="-128"/>
                <a:cs typeface="Arial"/>
              </a:rPr>
              <a:t>IP fragmentation, reassembly</a:t>
            </a:r>
          </a:p>
        </p:txBody>
      </p:sp>
      <p:grpSp>
        <p:nvGrpSpPr>
          <p:cNvPr id="8" name="Group 7"/>
          <p:cNvGrpSpPr/>
          <p:nvPr/>
        </p:nvGrpSpPr>
        <p:grpSpPr>
          <a:xfrm>
            <a:off x="514400" y="1227541"/>
            <a:ext cx="8155977" cy="603944"/>
            <a:chOff x="481708" y="3983567"/>
            <a:chExt cx="8155977" cy="603944"/>
          </a:xfrm>
        </p:grpSpPr>
        <p:sp>
          <p:nvSpPr>
            <p:cNvPr id="3" name="TextBox 2"/>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a:t>
              </a:r>
              <a:r>
                <a:rPr lang="en-US" dirty="0">
                  <a:solidFill>
                    <a:srgbClr val="FF0000"/>
                  </a:solidFill>
                  <a:latin typeface="Courier New"/>
                  <a:cs typeface="Courier New"/>
                </a:rPr>
                <a:t>1500</a:t>
              </a:r>
              <a:r>
                <a:rPr lang="en-US" dirty="0">
                  <a:latin typeface="Courier New"/>
                  <a:cs typeface="Courier New"/>
                </a:rPr>
                <a:t>   ID=</a:t>
              </a:r>
              <a:r>
                <a:rPr lang="en-US" dirty="0">
                  <a:solidFill>
                    <a:srgbClr val="FF0000"/>
                  </a:solidFill>
                  <a:latin typeface="Courier New"/>
                  <a:cs typeface="Courier New"/>
                </a:rPr>
                <a:t>777</a:t>
              </a:r>
              <a:r>
                <a:rPr lang="en-US" dirty="0">
                  <a:latin typeface="Courier New"/>
                  <a:cs typeface="Courier New"/>
                </a:rPr>
                <a:t>   flag=</a:t>
              </a:r>
              <a:r>
                <a:rPr lang="en-US" dirty="0">
                  <a:solidFill>
                    <a:srgbClr val="FF0000"/>
                  </a:solidFill>
                  <a:latin typeface="Courier New"/>
                  <a:cs typeface="Courier New"/>
                </a:rPr>
                <a:t>1</a:t>
              </a:r>
              <a:r>
                <a:rPr lang="en-US" dirty="0">
                  <a:latin typeface="Courier New"/>
                  <a:cs typeface="Courier New"/>
                </a:rPr>
                <a:t>   offset=</a:t>
              </a:r>
              <a:r>
                <a:rPr lang="en-US" dirty="0">
                  <a:solidFill>
                    <a:srgbClr val="FF0000"/>
                  </a:solidFill>
                  <a:latin typeface="Courier New"/>
                  <a:cs typeface="Courier New"/>
                </a:rPr>
                <a:t>0</a:t>
              </a:r>
            </a:p>
          </p:txBody>
        </p:sp>
        <p:sp>
          <p:nvSpPr>
            <p:cNvPr id="4" name="Rectangle 3"/>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2" name="Rectangle 31"/>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3" name="Rectangle 32"/>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4" name="Rectangle 33"/>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7" name="TextBox 6"/>
            <p:cNvSpPr txBox="1"/>
            <p:nvPr/>
          </p:nvSpPr>
          <p:spPr>
            <a:xfrm>
              <a:off x="481708" y="4061973"/>
              <a:ext cx="1784175" cy="430887"/>
            </a:xfrm>
            <a:prstGeom prst="rect">
              <a:avLst/>
            </a:prstGeom>
            <a:noFill/>
          </p:spPr>
          <p:txBody>
            <a:bodyPr wrap="none" rtlCol="0">
              <a:spAutoFit/>
            </a:bodyPr>
            <a:lstStyle/>
            <a:p>
              <a:r>
                <a:rPr lang="en-US" sz="2200" dirty="0"/>
                <a:t>Fragment #1</a:t>
              </a:r>
            </a:p>
          </p:txBody>
        </p:sp>
      </p:grpSp>
      <p:grpSp>
        <p:nvGrpSpPr>
          <p:cNvPr id="38" name="Group 37"/>
          <p:cNvGrpSpPr/>
          <p:nvPr/>
        </p:nvGrpSpPr>
        <p:grpSpPr>
          <a:xfrm>
            <a:off x="513534" y="2157317"/>
            <a:ext cx="8155977" cy="603944"/>
            <a:chOff x="481708" y="3983567"/>
            <a:chExt cx="8155977" cy="603944"/>
          </a:xfrm>
        </p:grpSpPr>
        <p:sp>
          <p:nvSpPr>
            <p:cNvPr id="39" name="TextBox 38"/>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a:t>
              </a:r>
              <a:r>
                <a:rPr lang="en-US" dirty="0">
                  <a:solidFill>
                    <a:srgbClr val="FF0000"/>
                  </a:solidFill>
                  <a:latin typeface="Courier New"/>
                  <a:cs typeface="Courier New"/>
                </a:rPr>
                <a:t>1500</a:t>
              </a:r>
              <a:r>
                <a:rPr lang="en-US" dirty="0">
                  <a:latin typeface="Courier New"/>
                  <a:cs typeface="Courier New"/>
                </a:rPr>
                <a:t>   ID=</a:t>
              </a:r>
              <a:r>
                <a:rPr lang="en-US" dirty="0">
                  <a:solidFill>
                    <a:srgbClr val="FF0000"/>
                  </a:solidFill>
                  <a:latin typeface="Courier New"/>
                  <a:cs typeface="Courier New"/>
                </a:rPr>
                <a:t>777</a:t>
              </a:r>
              <a:r>
                <a:rPr lang="en-US" dirty="0">
                  <a:latin typeface="Courier New"/>
                  <a:cs typeface="Courier New"/>
                </a:rPr>
                <a:t>   flag=</a:t>
              </a:r>
              <a:r>
                <a:rPr lang="en-US" dirty="0">
                  <a:solidFill>
                    <a:srgbClr val="FF0000"/>
                  </a:solidFill>
                  <a:latin typeface="Courier New"/>
                  <a:cs typeface="Courier New"/>
                </a:rPr>
                <a:t>1</a:t>
              </a:r>
              <a:r>
                <a:rPr lang="en-US" dirty="0">
                  <a:latin typeface="Courier New"/>
                  <a:cs typeface="Courier New"/>
                </a:rPr>
                <a:t>   offset=</a:t>
              </a:r>
              <a:r>
                <a:rPr lang="en-US" dirty="0">
                  <a:solidFill>
                    <a:srgbClr val="FF0000"/>
                  </a:solidFill>
                  <a:latin typeface="Courier New"/>
                  <a:cs typeface="Courier New"/>
                </a:rPr>
                <a:t>185</a:t>
              </a:r>
            </a:p>
          </p:txBody>
        </p:sp>
        <p:sp>
          <p:nvSpPr>
            <p:cNvPr id="40" name="Rectangle 39"/>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2" name="Rectangle 41"/>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3" name="Rectangle 42"/>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4" name="TextBox 43"/>
            <p:cNvSpPr txBox="1"/>
            <p:nvPr/>
          </p:nvSpPr>
          <p:spPr>
            <a:xfrm>
              <a:off x="481708" y="4061973"/>
              <a:ext cx="1784175" cy="430887"/>
            </a:xfrm>
            <a:prstGeom prst="rect">
              <a:avLst/>
            </a:prstGeom>
            <a:noFill/>
          </p:spPr>
          <p:txBody>
            <a:bodyPr wrap="none" rtlCol="0">
              <a:spAutoFit/>
            </a:bodyPr>
            <a:lstStyle/>
            <a:p>
              <a:r>
                <a:rPr lang="en-US" sz="2200" dirty="0"/>
                <a:t>Fragment #2</a:t>
              </a:r>
            </a:p>
          </p:txBody>
        </p:sp>
      </p:grpSp>
      <p:grpSp>
        <p:nvGrpSpPr>
          <p:cNvPr id="45" name="Group 44"/>
          <p:cNvGrpSpPr/>
          <p:nvPr/>
        </p:nvGrpSpPr>
        <p:grpSpPr>
          <a:xfrm>
            <a:off x="503453" y="3143563"/>
            <a:ext cx="8155977" cy="603944"/>
            <a:chOff x="481708" y="3983567"/>
            <a:chExt cx="8155977" cy="603944"/>
          </a:xfrm>
        </p:grpSpPr>
        <p:sp>
          <p:nvSpPr>
            <p:cNvPr id="46" name="TextBox 45"/>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a:t>
              </a:r>
              <a:r>
                <a:rPr lang="en-US" dirty="0">
                  <a:solidFill>
                    <a:srgbClr val="FF0000"/>
                  </a:solidFill>
                  <a:latin typeface="Courier New"/>
                  <a:cs typeface="Courier New"/>
                </a:rPr>
                <a:t>1040</a:t>
              </a:r>
              <a:r>
                <a:rPr lang="en-US" dirty="0">
                  <a:latin typeface="Courier New"/>
                  <a:cs typeface="Courier New"/>
                </a:rPr>
                <a:t>   ID=</a:t>
              </a:r>
              <a:r>
                <a:rPr lang="en-US" dirty="0">
                  <a:solidFill>
                    <a:srgbClr val="FF0000"/>
                  </a:solidFill>
                  <a:latin typeface="Courier New"/>
                  <a:cs typeface="Courier New"/>
                </a:rPr>
                <a:t>777</a:t>
              </a:r>
              <a:r>
                <a:rPr lang="en-US" dirty="0">
                  <a:latin typeface="Courier New"/>
                  <a:cs typeface="Courier New"/>
                </a:rPr>
                <a:t>   flag=</a:t>
              </a:r>
              <a:r>
                <a:rPr lang="en-US" dirty="0">
                  <a:solidFill>
                    <a:srgbClr val="FF0000"/>
                  </a:solidFill>
                  <a:latin typeface="Courier New"/>
                  <a:cs typeface="Courier New"/>
                </a:rPr>
                <a:t>0</a:t>
              </a:r>
              <a:r>
                <a:rPr lang="en-US" dirty="0">
                  <a:latin typeface="Courier New"/>
                  <a:cs typeface="Courier New"/>
                </a:rPr>
                <a:t>   offset=</a:t>
              </a:r>
              <a:r>
                <a:rPr lang="en-US" dirty="0">
                  <a:solidFill>
                    <a:srgbClr val="FF0000"/>
                  </a:solidFill>
                  <a:latin typeface="Courier New"/>
                  <a:cs typeface="Courier New"/>
                </a:rPr>
                <a:t>370</a:t>
              </a:r>
            </a:p>
          </p:txBody>
        </p:sp>
        <p:sp>
          <p:nvSpPr>
            <p:cNvPr id="47" name="Rectangle 46"/>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8" name="Rectangle 47"/>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9" name="Rectangle 48"/>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50" name="Rectangle 49"/>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51" name="TextBox 50"/>
            <p:cNvSpPr txBox="1"/>
            <p:nvPr/>
          </p:nvSpPr>
          <p:spPr>
            <a:xfrm>
              <a:off x="481708" y="4061973"/>
              <a:ext cx="1784175" cy="430887"/>
            </a:xfrm>
            <a:prstGeom prst="rect">
              <a:avLst/>
            </a:prstGeom>
            <a:noFill/>
          </p:spPr>
          <p:txBody>
            <a:bodyPr wrap="none" rtlCol="0">
              <a:spAutoFit/>
            </a:bodyPr>
            <a:lstStyle/>
            <a:p>
              <a:r>
                <a:rPr lang="en-US" sz="2200" dirty="0"/>
                <a:t>Fragment #3</a:t>
              </a:r>
            </a:p>
          </p:txBody>
        </p:sp>
      </p:grpSp>
      <p:pic>
        <p:nvPicPr>
          <p:cNvPr id="9" name="Picture 8">
            <a:extLst>
              <a:ext uri="{FF2B5EF4-FFF2-40B4-BE49-F238E27FC236}">
                <a16:creationId xmlns:a16="http://schemas.microsoft.com/office/drawing/2014/main" id="{15BF53E2-35C0-464A-820D-13061CE13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5152" y="4518929"/>
            <a:ext cx="6509982" cy="1363823"/>
          </a:xfrm>
          <a:prstGeom prst="rect">
            <a:avLst/>
          </a:prstGeom>
        </p:spPr>
      </p:pic>
      <p:sp>
        <p:nvSpPr>
          <p:cNvPr id="28" name="Rectangle 2">
            <a:extLst>
              <a:ext uri="{FF2B5EF4-FFF2-40B4-BE49-F238E27FC236}">
                <a16:creationId xmlns:a16="http://schemas.microsoft.com/office/drawing/2014/main" id="{D7FC1A7C-48A4-C044-A601-9CF45453BFC1}"/>
              </a:ext>
            </a:extLst>
          </p:cNvPr>
          <p:cNvSpPr>
            <a:spLocks noGrp="1" noChangeArrowheads="1"/>
          </p:cNvSpPr>
          <p:nvPr>
            <p:ph type="title"/>
          </p:nvPr>
        </p:nvSpPr>
        <p:spPr>
          <a:xfrm>
            <a:off x="533400" y="185738"/>
            <a:ext cx="7772400" cy="930275"/>
          </a:xfrm>
        </p:spPr>
        <p:txBody>
          <a:bodyPr/>
          <a:lstStyle/>
          <a:p>
            <a:r>
              <a:rPr lang="en-US" altLang="en-US" dirty="0">
                <a:ea typeface="ＭＳ Ｐゴシック" panose="020B0600070205080204" pitchFamily="34" charset="-128"/>
              </a:rPr>
              <a:t>IP fragmentation, reassembly</a:t>
            </a:r>
            <a:endParaRPr lang="en-US" altLang="en-US" sz="4800" dirty="0">
              <a:ea typeface="ＭＳ Ｐゴシック" panose="020B0600070205080204" pitchFamily="34" charset="-128"/>
            </a:endParaRPr>
          </a:p>
        </p:txBody>
      </p:sp>
      <p:sp>
        <p:nvSpPr>
          <p:cNvPr id="26"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10551" y="6354637"/>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50</a:t>
            </a:fld>
            <a:endParaRPr lang="en-US" altLang="en-US" dirty="0">
              <a:latin typeface="Tahoma" panose="020B0604030504040204" pitchFamily="34" charset="0"/>
            </a:endParaRPr>
          </a:p>
        </p:txBody>
      </p:sp>
    </p:spTree>
    <p:extLst>
      <p:ext uri="{BB962C8B-B14F-4D97-AF65-F5344CB8AC3E}">
        <p14:creationId xmlns:p14="http://schemas.microsoft.com/office/powerpoint/2010/main" val="2064175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36C7EC1-044C-2747-8DA0-12843B7D97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41" y="4805704"/>
            <a:ext cx="4367284" cy="1419062"/>
          </a:xfrm>
          <a:prstGeom prst="rect">
            <a:avLst/>
          </a:prstGeom>
        </p:spPr>
      </p:pic>
      <p:pic>
        <p:nvPicPr>
          <p:cNvPr id="5" name="Picture 4" descr="Screen Shot 2016-04-08 at 2.25.45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4304"/>
            <a:ext cx="9144000" cy="3056978"/>
          </a:xfrm>
          <a:prstGeom prst="rect">
            <a:avLst/>
          </a:prstGeom>
        </p:spPr>
      </p:pic>
      <p:grpSp>
        <p:nvGrpSpPr>
          <p:cNvPr id="4" name="Group 3"/>
          <p:cNvGrpSpPr/>
          <p:nvPr/>
        </p:nvGrpSpPr>
        <p:grpSpPr>
          <a:xfrm>
            <a:off x="4409875" y="4476270"/>
            <a:ext cx="2813537" cy="1545344"/>
            <a:chOff x="4341635" y="4577737"/>
            <a:chExt cx="2813537" cy="1545344"/>
          </a:xfrm>
        </p:grpSpPr>
        <p:sp>
          <p:nvSpPr>
            <p:cNvPr id="3" name="TextBox 2"/>
            <p:cNvSpPr txBox="1"/>
            <p:nvPr/>
          </p:nvSpPr>
          <p:spPr>
            <a:xfrm>
              <a:off x="4341635" y="5476750"/>
              <a:ext cx="2813537" cy="646331"/>
            </a:xfrm>
            <a:prstGeom prst="rect">
              <a:avLst/>
            </a:prstGeom>
            <a:noFill/>
          </p:spPr>
          <p:txBody>
            <a:bodyPr wrap="square" rtlCol="0">
              <a:spAutoFit/>
            </a:bodyPr>
            <a:lstStyle/>
            <a:p>
              <a:r>
                <a:rPr lang="en-US" dirty="0">
                  <a:solidFill>
                    <a:srgbClr val="FF0000"/>
                  </a:solidFill>
                </a:rPr>
                <a:t>Offset value specified in units of </a:t>
              </a:r>
              <a:r>
                <a:rPr lang="en-US" u="sng" dirty="0">
                  <a:solidFill>
                    <a:srgbClr val="FF0000"/>
                  </a:solidFill>
                </a:rPr>
                <a:t>8-byte chunks</a:t>
              </a:r>
            </a:p>
          </p:txBody>
        </p:sp>
        <p:sp>
          <p:nvSpPr>
            <p:cNvPr id="31" name="Line 53"/>
            <p:cNvSpPr>
              <a:spLocks noChangeShapeType="1"/>
            </p:cNvSpPr>
            <p:nvPr/>
          </p:nvSpPr>
          <p:spPr bwMode="auto">
            <a:xfrm>
              <a:off x="5239183" y="4577737"/>
              <a:ext cx="5702" cy="847273"/>
            </a:xfrm>
            <a:prstGeom prst="line">
              <a:avLst/>
            </a:prstGeom>
            <a:noFill/>
            <a:ln w="19050">
              <a:solidFill>
                <a:srgbClr val="FF0000"/>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10" name="Group 9"/>
          <p:cNvGrpSpPr/>
          <p:nvPr/>
        </p:nvGrpSpPr>
        <p:grpSpPr>
          <a:xfrm>
            <a:off x="6806609" y="4509341"/>
            <a:ext cx="2462346" cy="2056451"/>
            <a:chOff x="405065" y="4454362"/>
            <a:chExt cx="2462346" cy="2056451"/>
          </a:xfrm>
        </p:grpSpPr>
        <p:sp>
          <p:nvSpPr>
            <p:cNvPr id="7" name="Rectangle 6"/>
            <p:cNvSpPr/>
            <p:nvPr/>
          </p:nvSpPr>
          <p:spPr bwMode="auto">
            <a:xfrm>
              <a:off x="1040024" y="4707938"/>
              <a:ext cx="1204238" cy="645975"/>
            </a:xfrm>
            <a:prstGeom prst="rect">
              <a:avLst/>
            </a:prstGeom>
            <a:solidFill>
              <a:schemeClr val="accent5"/>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Fragment 1</a:t>
              </a:r>
            </a:p>
          </p:txBody>
        </p:sp>
        <p:sp>
          <p:nvSpPr>
            <p:cNvPr id="34" name="Rectangle 33"/>
            <p:cNvSpPr/>
            <p:nvPr/>
          </p:nvSpPr>
          <p:spPr bwMode="auto">
            <a:xfrm>
              <a:off x="1039157" y="5353029"/>
              <a:ext cx="1204238" cy="645975"/>
            </a:xfrm>
            <a:prstGeom prst="rect">
              <a:avLst/>
            </a:prstGeom>
            <a:solidFill>
              <a:schemeClr val="accent5"/>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Fragment 2</a:t>
              </a:r>
            </a:p>
          </p:txBody>
        </p:sp>
        <p:sp>
          <p:nvSpPr>
            <p:cNvPr id="36" name="Rectangle 35"/>
            <p:cNvSpPr/>
            <p:nvPr/>
          </p:nvSpPr>
          <p:spPr bwMode="auto">
            <a:xfrm>
              <a:off x="1040024" y="5988945"/>
              <a:ext cx="1204238" cy="459847"/>
            </a:xfrm>
            <a:prstGeom prst="rect">
              <a:avLst/>
            </a:prstGeom>
            <a:solidFill>
              <a:schemeClr val="accent5"/>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rPr>
                <a:t>Fragment 3</a:t>
              </a:r>
            </a:p>
          </p:txBody>
        </p:sp>
        <p:sp>
          <p:nvSpPr>
            <p:cNvPr id="9" name="TextBox 8"/>
            <p:cNvSpPr txBox="1"/>
            <p:nvPr/>
          </p:nvSpPr>
          <p:spPr>
            <a:xfrm>
              <a:off x="405065" y="4664154"/>
              <a:ext cx="645909" cy="1846659"/>
            </a:xfrm>
            <a:prstGeom prst="rect">
              <a:avLst/>
            </a:prstGeom>
            <a:noFill/>
          </p:spPr>
          <p:txBody>
            <a:bodyPr wrap="square" rtlCol="0">
              <a:spAutoFit/>
            </a:bodyPr>
            <a:lstStyle/>
            <a:p>
              <a:pPr algn="r"/>
              <a:r>
                <a:rPr lang="en-US" sz="1000" dirty="0">
                  <a:solidFill>
                    <a:srgbClr val="FF0000"/>
                  </a:solidFill>
                  <a:latin typeface="Courier New"/>
                  <a:cs typeface="Courier New"/>
                </a:rPr>
                <a:t>0</a:t>
              </a:r>
            </a:p>
            <a:p>
              <a:pPr algn="r"/>
              <a:r>
                <a:rPr lang="en-US" sz="1000" dirty="0">
                  <a:latin typeface="Courier New"/>
                  <a:cs typeface="Courier New"/>
                </a:rPr>
                <a:t>8</a:t>
              </a:r>
            </a:p>
            <a:p>
              <a:pPr algn="r"/>
              <a:r>
                <a:rPr lang="en-US" sz="1000" dirty="0">
                  <a:latin typeface="Courier New"/>
                  <a:cs typeface="Courier New"/>
                </a:rPr>
                <a:t>...</a:t>
              </a:r>
            </a:p>
            <a:p>
              <a:pPr algn="r"/>
              <a:r>
                <a:rPr lang="en-US" sz="1000" dirty="0">
                  <a:latin typeface="Courier New"/>
                  <a:cs typeface="Courier New"/>
                </a:rPr>
                <a:t>1472</a:t>
              </a:r>
            </a:p>
            <a:p>
              <a:pPr algn="r"/>
              <a:r>
                <a:rPr lang="en-US" sz="1000" dirty="0">
                  <a:solidFill>
                    <a:srgbClr val="FF0000"/>
                  </a:solidFill>
                  <a:latin typeface="Courier New"/>
                  <a:cs typeface="Courier New"/>
                </a:rPr>
                <a:t>1480</a:t>
              </a:r>
            </a:p>
            <a:p>
              <a:pPr algn="r"/>
              <a:endParaRPr lang="en-US" sz="1400" dirty="0">
                <a:latin typeface="Courier New"/>
                <a:cs typeface="Courier New"/>
              </a:endParaRPr>
            </a:p>
            <a:p>
              <a:pPr algn="r"/>
              <a:r>
                <a:rPr lang="en-US" sz="1000" dirty="0">
                  <a:latin typeface="Courier New"/>
                  <a:cs typeface="Courier New"/>
                </a:rPr>
                <a:t>...</a:t>
              </a:r>
            </a:p>
            <a:p>
              <a:pPr algn="r"/>
              <a:r>
                <a:rPr lang="en-US" sz="1000" dirty="0">
                  <a:latin typeface="Courier New"/>
                  <a:cs typeface="Courier New"/>
                </a:rPr>
                <a:t>2952</a:t>
              </a:r>
            </a:p>
            <a:p>
              <a:pPr algn="r"/>
              <a:r>
                <a:rPr lang="en-US" sz="1000" dirty="0">
                  <a:solidFill>
                    <a:srgbClr val="FF0000"/>
                  </a:solidFill>
                  <a:latin typeface="Courier New"/>
                  <a:cs typeface="Courier New"/>
                </a:rPr>
                <a:t>2960</a:t>
              </a:r>
            </a:p>
            <a:p>
              <a:pPr algn="r"/>
              <a:r>
                <a:rPr lang="en-US" sz="1000" dirty="0">
                  <a:latin typeface="Courier New"/>
                  <a:cs typeface="Courier New"/>
                </a:rPr>
                <a:t>...</a:t>
              </a:r>
            </a:p>
            <a:p>
              <a:pPr algn="r"/>
              <a:r>
                <a:rPr lang="en-US" sz="1000" dirty="0">
                  <a:solidFill>
                    <a:srgbClr val="FF0000"/>
                  </a:solidFill>
                  <a:latin typeface="Courier New"/>
                  <a:cs typeface="Courier New"/>
                </a:rPr>
                <a:t>3980</a:t>
              </a:r>
            </a:p>
          </p:txBody>
        </p:sp>
        <p:sp>
          <p:nvSpPr>
            <p:cNvPr id="38" name="TextBox 37"/>
            <p:cNvSpPr txBox="1"/>
            <p:nvPr/>
          </p:nvSpPr>
          <p:spPr>
            <a:xfrm>
              <a:off x="2221502" y="4641372"/>
              <a:ext cx="645909" cy="1538883"/>
            </a:xfrm>
            <a:prstGeom prst="rect">
              <a:avLst/>
            </a:prstGeom>
            <a:noFill/>
          </p:spPr>
          <p:txBody>
            <a:bodyPr wrap="square" rtlCol="0">
              <a:spAutoFit/>
            </a:bodyPr>
            <a:lstStyle/>
            <a:p>
              <a:r>
                <a:rPr lang="en-US" sz="1000" b="1" dirty="0">
                  <a:solidFill>
                    <a:srgbClr val="FF0000"/>
                  </a:solidFill>
                  <a:latin typeface="Courier New"/>
                  <a:cs typeface="Courier New"/>
                </a:rPr>
                <a:t>0</a:t>
              </a:r>
            </a:p>
            <a:p>
              <a:endParaRPr lang="en-US" sz="1000" b="1" dirty="0">
                <a:solidFill>
                  <a:srgbClr val="FF0000"/>
                </a:solidFill>
                <a:latin typeface="Courier New"/>
                <a:cs typeface="Courier New"/>
              </a:endParaRPr>
            </a:p>
            <a:p>
              <a:endParaRPr lang="en-US" sz="1000" b="1" dirty="0">
                <a:solidFill>
                  <a:srgbClr val="FF0000"/>
                </a:solidFill>
                <a:latin typeface="Courier New"/>
                <a:cs typeface="Courier New"/>
              </a:endParaRPr>
            </a:p>
            <a:p>
              <a:endParaRPr lang="en-US" sz="1000" b="1" dirty="0">
                <a:solidFill>
                  <a:srgbClr val="FF0000"/>
                </a:solidFill>
                <a:latin typeface="Courier New"/>
                <a:cs typeface="Courier New"/>
              </a:endParaRPr>
            </a:p>
            <a:p>
              <a:r>
                <a:rPr lang="en-US" sz="1000" b="1" dirty="0">
                  <a:solidFill>
                    <a:srgbClr val="FF0000"/>
                  </a:solidFill>
                  <a:latin typeface="Courier New"/>
                  <a:cs typeface="Courier New"/>
                </a:rPr>
                <a:t>185</a:t>
              </a:r>
            </a:p>
            <a:p>
              <a:endParaRPr lang="en-US" sz="1400" b="1" dirty="0">
                <a:solidFill>
                  <a:srgbClr val="FF0000"/>
                </a:solidFill>
                <a:latin typeface="Courier New"/>
                <a:cs typeface="Courier New"/>
              </a:endParaRPr>
            </a:p>
            <a:p>
              <a:endParaRPr lang="en-US" sz="1000" b="1" dirty="0">
                <a:solidFill>
                  <a:srgbClr val="FF0000"/>
                </a:solidFill>
                <a:latin typeface="Courier New"/>
                <a:cs typeface="Courier New"/>
              </a:endParaRPr>
            </a:p>
            <a:p>
              <a:endParaRPr lang="en-US" sz="1000" b="1" dirty="0">
                <a:solidFill>
                  <a:srgbClr val="FF0000"/>
                </a:solidFill>
                <a:latin typeface="Courier New"/>
                <a:cs typeface="Courier New"/>
              </a:endParaRPr>
            </a:p>
            <a:p>
              <a:r>
                <a:rPr lang="en-US" sz="1000" b="1" dirty="0">
                  <a:solidFill>
                    <a:srgbClr val="FF0000"/>
                  </a:solidFill>
                  <a:latin typeface="Courier New"/>
                  <a:cs typeface="Courier New"/>
                </a:rPr>
                <a:t>370</a:t>
              </a:r>
            </a:p>
          </p:txBody>
        </p:sp>
        <p:sp>
          <p:nvSpPr>
            <p:cNvPr id="39" name="TextBox 38"/>
            <p:cNvSpPr txBox="1"/>
            <p:nvPr/>
          </p:nvSpPr>
          <p:spPr>
            <a:xfrm>
              <a:off x="2012627" y="4454362"/>
              <a:ext cx="811855" cy="246221"/>
            </a:xfrm>
            <a:prstGeom prst="rect">
              <a:avLst/>
            </a:prstGeom>
            <a:noFill/>
          </p:spPr>
          <p:txBody>
            <a:bodyPr wrap="square" rtlCol="0">
              <a:spAutoFit/>
            </a:bodyPr>
            <a:lstStyle/>
            <a:p>
              <a:r>
                <a:rPr lang="en-US" sz="1000" dirty="0">
                  <a:solidFill>
                    <a:srgbClr val="FF0000"/>
                  </a:solidFill>
                  <a:latin typeface="Courier New"/>
                  <a:cs typeface="Courier New"/>
                </a:rPr>
                <a:t>offset:</a:t>
              </a:r>
            </a:p>
          </p:txBody>
        </p:sp>
      </p:grpSp>
      <p:sp>
        <p:nvSpPr>
          <p:cNvPr id="19" name="Rounded Rectangular Callout 18">
            <a:extLst>
              <a:ext uri="{FF2B5EF4-FFF2-40B4-BE49-F238E27FC236}">
                <a16:creationId xmlns:a16="http://schemas.microsoft.com/office/drawing/2014/main" id="{21D0992D-983D-A646-900B-A0EC6526A694}"/>
              </a:ext>
            </a:extLst>
          </p:cNvPr>
          <p:cNvSpPr/>
          <p:nvPr/>
        </p:nvSpPr>
        <p:spPr>
          <a:xfrm>
            <a:off x="1603684" y="1154897"/>
            <a:ext cx="1296144" cy="648072"/>
          </a:xfrm>
          <a:prstGeom prst="wedgeRoundRectCallout">
            <a:avLst>
              <a:gd name="adj1" fmla="val -48210"/>
              <a:gd name="adj2" fmla="val 81453"/>
              <a:gd name="adj3" fmla="val 16667"/>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Why 1480 not 1500?</a:t>
            </a:r>
            <a:endParaRPr lang="en-MY" dirty="0"/>
          </a:p>
        </p:txBody>
      </p:sp>
      <p:sp>
        <p:nvSpPr>
          <p:cNvPr id="20" name="TextBox 19">
            <a:extLst>
              <a:ext uri="{FF2B5EF4-FFF2-40B4-BE49-F238E27FC236}">
                <a16:creationId xmlns:a16="http://schemas.microsoft.com/office/drawing/2014/main" id="{22905F26-2386-1640-BD63-6738C43BAEEB}"/>
              </a:ext>
            </a:extLst>
          </p:cNvPr>
          <p:cNvSpPr txBox="1"/>
          <p:nvPr/>
        </p:nvSpPr>
        <p:spPr>
          <a:xfrm>
            <a:off x="784006" y="473578"/>
            <a:ext cx="3096344" cy="646331"/>
          </a:xfrm>
          <a:prstGeom prst="rect">
            <a:avLst/>
          </a:prstGeom>
          <a:solidFill>
            <a:srgbClr val="0070C0"/>
          </a:solidFill>
        </p:spPr>
        <p:txBody>
          <a:bodyPr wrap="square" rtlCol="0">
            <a:spAutoFit/>
          </a:bodyPr>
          <a:lstStyle/>
          <a:p>
            <a:r>
              <a:rPr lang="en-US" dirty="0">
                <a:solidFill>
                  <a:schemeClr val="bg1"/>
                </a:solidFill>
              </a:rPr>
              <a:t>Data (1480) + Header (20) = 1500 bytes</a:t>
            </a:r>
            <a:endParaRPr lang="en-MY" dirty="0">
              <a:solidFill>
                <a:schemeClr val="bg1"/>
              </a:solidFill>
            </a:endParaRPr>
          </a:p>
        </p:txBody>
      </p:sp>
      <p:grpSp>
        <p:nvGrpSpPr>
          <p:cNvPr id="2" name="Group 1">
            <a:extLst>
              <a:ext uri="{FF2B5EF4-FFF2-40B4-BE49-F238E27FC236}">
                <a16:creationId xmlns:a16="http://schemas.microsoft.com/office/drawing/2014/main" id="{7561FE24-C476-7B40-8A80-D647E7FA382A}"/>
              </a:ext>
            </a:extLst>
          </p:cNvPr>
          <p:cNvGrpSpPr/>
          <p:nvPr/>
        </p:nvGrpSpPr>
        <p:grpSpPr>
          <a:xfrm>
            <a:off x="1831534" y="1909811"/>
            <a:ext cx="2999772" cy="3681769"/>
            <a:chOff x="1831534" y="1909811"/>
            <a:chExt cx="2999772" cy="3681769"/>
          </a:xfrm>
        </p:grpSpPr>
        <p:sp>
          <p:nvSpPr>
            <p:cNvPr id="21" name="Rounded Rectangle 20">
              <a:extLst>
                <a:ext uri="{FF2B5EF4-FFF2-40B4-BE49-F238E27FC236}">
                  <a16:creationId xmlns:a16="http://schemas.microsoft.com/office/drawing/2014/main" id="{2DAC9D7F-583F-544F-9D75-8F11C3786C73}"/>
                </a:ext>
              </a:extLst>
            </p:cNvPr>
            <p:cNvSpPr/>
            <p:nvPr/>
          </p:nvSpPr>
          <p:spPr>
            <a:xfrm>
              <a:off x="3193969" y="1909811"/>
              <a:ext cx="1637337" cy="223910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Rounded Rectangular Callout 21">
              <a:extLst>
                <a:ext uri="{FF2B5EF4-FFF2-40B4-BE49-F238E27FC236}">
                  <a16:creationId xmlns:a16="http://schemas.microsoft.com/office/drawing/2014/main" id="{9988286E-96CF-8644-8822-7F4A10E1E2FD}"/>
                </a:ext>
              </a:extLst>
            </p:cNvPr>
            <p:cNvSpPr/>
            <p:nvPr/>
          </p:nvSpPr>
          <p:spPr>
            <a:xfrm>
              <a:off x="1831534" y="5015516"/>
              <a:ext cx="1800200" cy="576064"/>
            </a:xfrm>
            <a:prstGeom prst="wedgeRoundRectCallout">
              <a:avLst>
                <a:gd name="adj1" fmla="val 48914"/>
                <a:gd name="adj2" fmla="val -183891"/>
                <a:gd name="adj3" fmla="val 16667"/>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Fragments of same datagram</a:t>
              </a:r>
              <a:endParaRPr lang="en-MY" dirty="0"/>
            </a:p>
          </p:txBody>
        </p:sp>
      </p:grpSp>
      <p:sp>
        <p:nvSpPr>
          <p:cNvPr id="24" name="Rectangle 2">
            <a:extLst>
              <a:ext uri="{FF2B5EF4-FFF2-40B4-BE49-F238E27FC236}">
                <a16:creationId xmlns:a16="http://schemas.microsoft.com/office/drawing/2014/main" id="{5F6B5828-3BF2-C149-95F0-1511640AE1C0}"/>
              </a:ext>
            </a:extLst>
          </p:cNvPr>
          <p:cNvSpPr txBox="1">
            <a:spLocks noChangeArrowheads="1"/>
          </p:cNvSpPr>
          <p:nvPr/>
        </p:nvSpPr>
        <p:spPr bwMode="auto">
          <a:xfrm>
            <a:off x="3616657" y="140786"/>
            <a:ext cx="5527343"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800" dirty="0">
                <a:solidFill>
                  <a:schemeClr val="bg1"/>
                </a:solidFill>
                <a:latin typeface="Arial"/>
                <a:ea typeface="ＭＳ Ｐゴシック" pitchFamily="34" charset="-128"/>
                <a:cs typeface="Arial"/>
              </a:rPr>
              <a:t>IP fragmentation, reassembly</a:t>
            </a:r>
          </a:p>
        </p:txBody>
      </p:sp>
      <p:grpSp>
        <p:nvGrpSpPr>
          <p:cNvPr id="8" name="Group 7">
            <a:extLst>
              <a:ext uri="{FF2B5EF4-FFF2-40B4-BE49-F238E27FC236}">
                <a16:creationId xmlns:a16="http://schemas.microsoft.com/office/drawing/2014/main" id="{F843AD04-2F0D-224A-A8C1-937916AC4285}"/>
              </a:ext>
            </a:extLst>
          </p:cNvPr>
          <p:cNvGrpSpPr/>
          <p:nvPr/>
        </p:nvGrpSpPr>
        <p:grpSpPr>
          <a:xfrm>
            <a:off x="5022376" y="1978925"/>
            <a:ext cx="943970" cy="1860647"/>
            <a:chOff x="5022376" y="1978925"/>
            <a:chExt cx="943970" cy="1860647"/>
          </a:xfrm>
        </p:grpSpPr>
        <p:sp>
          <p:nvSpPr>
            <p:cNvPr id="6" name="Rectangle 5">
              <a:extLst>
                <a:ext uri="{FF2B5EF4-FFF2-40B4-BE49-F238E27FC236}">
                  <a16:creationId xmlns:a16="http://schemas.microsoft.com/office/drawing/2014/main" id="{CE73EF8D-E054-1B4C-A059-A8945B82A232}"/>
                </a:ext>
              </a:extLst>
            </p:cNvPr>
            <p:cNvSpPr/>
            <p:nvPr/>
          </p:nvSpPr>
          <p:spPr bwMode="auto">
            <a:xfrm>
              <a:off x="5022376" y="1978925"/>
              <a:ext cx="805218" cy="300251"/>
            </a:xfrm>
            <a:prstGeom prst="rect">
              <a:avLst/>
            </a:prstGeom>
            <a:solidFill>
              <a:srgbClr val="FFFF00">
                <a:alpha val="26000"/>
              </a:srgbClr>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ms-MY" sz="1800" b="0" i="0" u="none" strike="noStrike" cap="none" normalizeH="0" baseline="0">
                <a:ln>
                  <a:noFill/>
                </a:ln>
                <a:solidFill>
                  <a:schemeClr val="tx1"/>
                </a:solidFill>
                <a:effectLst/>
                <a:latin typeface="Arial" charset="0"/>
              </a:endParaRPr>
            </a:p>
          </p:txBody>
        </p:sp>
        <p:sp>
          <p:nvSpPr>
            <p:cNvPr id="26" name="Rectangle 25">
              <a:extLst>
                <a:ext uri="{FF2B5EF4-FFF2-40B4-BE49-F238E27FC236}">
                  <a16:creationId xmlns:a16="http://schemas.microsoft.com/office/drawing/2014/main" id="{8F6A4B7A-BA0B-2447-8C56-9C0BFD2C74AF}"/>
                </a:ext>
              </a:extLst>
            </p:cNvPr>
            <p:cNvSpPr/>
            <p:nvPr/>
          </p:nvSpPr>
          <p:spPr bwMode="auto">
            <a:xfrm>
              <a:off x="5038298" y="2784144"/>
              <a:ext cx="925773" cy="302526"/>
            </a:xfrm>
            <a:prstGeom prst="rect">
              <a:avLst/>
            </a:prstGeom>
            <a:solidFill>
              <a:srgbClr val="FFFF00">
                <a:alpha val="26000"/>
              </a:srgbClr>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ms-MY" sz="1800" b="0" i="0" u="none" strike="noStrike" cap="none" normalizeH="0" baseline="0">
                <a:ln>
                  <a:noFill/>
                </a:ln>
                <a:solidFill>
                  <a:schemeClr val="tx1"/>
                </a:solidFill>
                <a:effectLst/>
                <a:latin typeface="Arial" charset="0"/>
              </a:endParaRPr>
            </a:p>
          </p:txBody>
        </p:sp>
        <p:sp>
          <p:nvSpPr>
            <p:cNvPr id="27" name="Rectangle 26">
              <a:extLst>
                <a:ext uri="{FF2B5EF4-FFF2-40B4-BE49-F238E27FC236}">
                  <a16:creationId xmlns:a16="http://schemas.microsoft.com/office/drawing/2014/main" id="{8A7B0DF1-9CFB-064C-A82F-A142897CDACC}"/>
                </a:ext>
              </a:extLst>
            </p:cNvPr>
            <p:cNvSpPr/>
            <p:nvPr/>
          </p:nvSpPr>
          <p:spPr bwMode="auto">
            <a:xfrm>
              <a:off x="5040573" y="3537046"/>
              <a:ext cx="925773" cy="302526"/>
            </a:xfrm>
            <a:prstGeom prst="rect">
              <a:avLst/>
            </a:prstGeom>
            <a:solidFill>
              <a:srgbClr val="FFFF00">
                <a:alpha val="26000"/>
              </a:srgbClr>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ms-MY" sz="1800" b="0" i="0" u="none" strike="noStrike" cap="none" normalizeH="0" baseline="0">
                <a:ln>
                  <a:noFill/>
                </a:ln>
                <a:solidFill>
                  <a:schemeClr val="tx1"/>
                </a:solidFill>
                <a:effectLst/>
                <a:latin typeface="Arial" charset="0"/>
              </a:endParaRPr>
            </a:p>
          </p:txBody>
        </p:sp>
      </p:grpSp>
      <p:sp>
        <p:nvSpPr>
          <p:cNvPr id="28" name="Rectangle 2">
            <a:extLst>
              <a:ext uri="{FF2B5EF4-FFF2-40B4-BE49-F238E27FC236}">
                <a16:creationId xmlns:a16="http://schemas.microsoft.com/office/drawing/2014/main" id="{D7FC1A7C-48A4-C044-A601-9CF45453BFC1}"/>
              </a:ext>
            </a:extLst>
          </p:cNvPr>
          <p:cNvSpPr>
            <a:spLocks noGrp="1" noChangeArrowheads="1"/>
          </p:cNvSpPr>
          <p:nvPr>
            <p:ph type="title"/>
          </p:nvPr>
        </p:nvSpPr>
        <p:spPr>
          <a:xfrm>
            <a:off x="1047698" y="-289920"/>
            <a:ext cx="7772400" cy="930275"/>
          </a:xfrm>
        </p:spPr>
        <p:txBody>
          <a:bodyPr/>
          <a:lstStyle/>
          <a:p>
            <a:r>
              <a:rPr lang="en-US" altLang="en-US" dirty="0">
                <a:ea typeface="ＭＳ Ｐゴシック" panose="020B0600070205080204" pitchFamily="34" charset="-128"/>
              </a:rPr>
              <a:t>IP fragmentation, reassembly</a:t>
            </a:r>
            <a:endParaRPr lang="en-US" altLang="en-US" sz="4800" dirty="0">
              <a:ea typeface="ＭＳ Ｐゴシック" panose="020B0600070205080204" pitchFamily="34" charset="-128"/>
            </a:endParaRPr>
          </a:p>
        </p:txBody>
      </p:sp>
      <p:sp>
        <p:nvSpPr>
          <p:cNvPr id="25"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461150" y="656622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51</a:t>
            </a:fld>
            <a:endParaRPr lang="en-US" altLang="en-US" dirty="0">
              <a:latin typeface="Tahoma" panose="020B0604030504040204" pitchFamily="34" charset="0"/>
            </a:endParaRPr>
          </a:p>
        </p:txBody>
      </p:sp>
    </p:spTree>
    <p:extLst>
      <p:ext uri="{BB962C8B-B14F-4D97-AF65-F5344CB8AC3E}">
        <p14:creationId xmlns:p14="http://schemas.microsoft.com/office/powerpoint/2010/main" val="206250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548" y="1202369"/>
            <a:ext cx="8185803" cy="1983727"/>
          </a:xfrm>
        </p:spPr>
        <p:txBody>
          <a:bodyPr>
            <a:normAutofit/>
          </a:bodyPr>
          <a:lstStyle/>
          <a:p>
            <a:pPr marL="0" indent="0" eaLnBrk="1" hangingPunct="1">
              <a:lnSpc>
                <a:spcPct val="100000"/>
              </a:lnSpc>
              <a:buNone/>
            </a:pPr>
            <a:r>
              <a:rPr lang="en-US" altLang="en-US" sz="2200" dirty="0">
                <a:latin typeface="Arial"/>
                <a:cs typeface="Arial"/>
              </a:rPr>
              <a:t>A datagram of </a:t>
            </a:r>
            <a:r>
              <a:rPr lang="en-US" altLang="en-US" sz="2200" dirty="0">
                <a:latin typeface="Courier New"/>
                <a:cs typeface="Courier New"/>
              </a:rPr>
              <a:t>5000</a:t>
            </a:r>
            <a:r>
              <a:rPr lang="en-US" altLang="en-US" sz="2200" dirty="0">
                <a:latin typeface="Arial"/>
                <a:cs typeface="Arial"/>
              </a:rPr>
              <a:t> bytes arrived at a router and must be forwarded to a link with an MTU of </a:t>
            </a:r>
            <a:r>
              <a:rPr lang="en-US" altLang="en-US" sz="2200" dirty="0">
                <a:latin typeface="Courier New"/>
                <a:cs typeface="Courier New"/>
              </a:rPr>
              <a:t>1500</a:t>
            </a:r>
            <a:r>
              <a:rPr lang="en-US" altLang="en-US" sz="2200" dirty="0">
                <a:latin typeface="Arial"/>
                <a:cs typeface="Arial"/>
              </a:rPr>
              <a:t> bytes. Suppose that the original datagram is stamped with an identification number of </a:t>
            </a:r>
            <a:r>
              <a:rPr lang="en-US" altLang="en-US" sz="2200" dirty="0">
                <a:latin typeface="Courier New"/>
                <a:cs typeface="Courier New"/>
              </a:rPr>
              <a:t>333</a:t>
            </a:r>
            <a:r>
              <a:rPr lang="en-US" altLang="en-US" sz="2200" dirty="0">
                <a:latin typeface="Arial"/>
                <a:cs typeface="Arial"/>
              </a:rPr>
              <a:t>. Draw all IP fragments generated after fragmentation that reflect the requirement of original payload data in the datagram.</a:t>
            </a:r>
          </a:p>
        </p:txBody>
      </p:sp>
      <p:sp>
        <p:nvSpPr>
          <p:cNvPr id="18" name="Rectangle 2"/>
          <p:cNvSpPr txBox="1">
            <a:spLocks noChangeArrowheads="1"/>
          </p:cNvSpPr>
          <p:nvPr/>
        </p:nvSpPr>
        <p:spPr bwMode="auto">
          <a:xfrm>
            <a:off x="6185406" y="166437"/>
            <a:ext cx="2958596" cy="538318"/>
          </a:xfrm>
          <a:prstGeom prst="rect">
            <a:avLst/>
          </a:prstGeom>
          <a:solidFill>
            <a:srgbClr val="FF0000"/>
          </a:solid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bg1"/>
                </a:solidFill>
                <a:latin typeface="Arial"/>
                <a:ea typeface="ＭＳ Ｐゴシック" pitchFamily="34" charset="-128"/>
                <a:cs typeface="Arial"/>
              </a:rPr>
              <a:t>Exercise </a:t>
            </a:r>
          </a:p>
        </p:txBody>
      </p:sp>
      <p:grpSp>
        <p:nvGrpSpPr>
          <p:cNvPr id="13" name="Group 12"/>
          <p:cNvGrpSpPr/>
          <p:nvPr/>
        </p:nvGrpSpPr>
        <p:grpSpPr>
          <a:xfrm>
            <a:off x="459809" y="3359494"/>
            <a:ext cx="8155977" cy="603944"/>
            <a:chOff x="481708" y="3983567"/>
            <a:chExt cx="8155977" cy="603944"/>
          </a:xfrm>
        </p:grpSpPr>
        <p:sp>
          <p:nvSpPr>
            <p:cNvPr id="14" name="TextBox 13"/>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a:t>
              </a:r>
              <a:r>
                <a:rPr lang="en-US" dirty="0">
                  <a:solidFill>
                    <a:srgbClr val="FF0000"/>
                  </a:solidFill>
                  <a:latin typeface="Courier New"/>
                  <a:cs typeface="Courier New"/>
                </a:rPr>
                <a:t>5000</a:t>
              </a:r>
              <a:r>
                <a:rPr lang="en-US" dirty="0">
                  <a:latin typeface="Courier New"/>
                  <a:cs typeface="Courier New"/>
                </a:rPr>
                <a:t>   ID=</a:t>
              </a:r>
              <a:r>
                <a:rPr lang="en-US" dirty="0">
                  <a:solidFill>
                    <a:srgbClr val="FF0000"/>
                  </a:solidFill>
                  <a:latin typeface="Courier New"/>
                  <a:cs typeface="Courier New"/>
                </a:rPr>
                <a:t>333</a:t>
              </a:r>
              <a:r>
                <a:rPr lang="en-US" dirty="0">
                  <a:latin typeface="Courier New"/>
                  <a:cs typeface="Courier New"/>
                </a:rPr>
                <a:t>   flag=</a:t>
              </a:r>
              <a:r>
                <a:rPr lang="en-US" dirty="0">
                  <a:solidFill>
                    <a:srgbClr val="FF0000"/>
                  </a:solidFill>
                  <a:latin typeface="Courier New"/>
                  <a:cs typeface="Courier New"/>
                </a:rPr>
                <a:t>0</a:t>
              </a:r>
              <a:r>
                <a:rPr lang="en-US" dirty="0">
                  <a:latin typeface="Courier New"/>
                  <a:cs typeface="Courier New"/>
                </a:rPr>
                <a:t>   offset=</a:t>
              </a:r>
              <a:r>
                <a:rPr lang="en-US" dirty="0">
                  <a:solidFill>
                    <a:srgbClr val="FF0000"/>
                  </a:solidFill>
                  <a:latin typeface="Courier New"/>
                  <a:cs typeface="Courier New"/>
                </a:rPr>
                <a:t>0</a:t>
              </a:r>
            </a:p>
          </p:txBody>
        </p:sp>
        <p:sp>
          <p:nvSpPr>
            <p:cNvPr id="15" name="Rectangle 14"/>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6" name="Rectangle 15"/>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7" name="Rectangle 16"/>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3" name="Rectangle 22"/>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4" name="TextBox 23"/>
            <p:cNvSpPr txBox="1"/>
            <p:nvPr/>
          </p:nvSpPr>
          <p:spPr>
            <a:xfrm>
              <a:off x="481708" y="4061973"/>
              <a:ext cx="1423386" cy="430887"/>
            </a:xfrm>
            <a:prstGeom prst="rect">
              <a:avLst/>
            </a:prstGeom>
            <a:noFill/>
          </p:spPr>
          <p:txBody>
            <a:bodyPr wrap="none" rtlCol="0">
              <a:spAutoFit/>
            </a:bodyPr>
            <a:lstStyle/>
            <a:p>
              <a:r>
                <a:rPr lang="en-US" sz="2200" dirty="0"/>
                <a:t>Datagram</a:t>
              </a:r>
            </a:p>
          </p:txBody>
        </p:sp>
      </p:grpSp>
      <p:sp>
        <p:nvSpPr>
          <p:cNvPr id="19" name="Right Triangle 18">
            <a:extLst>
              <a:ext uri="{FF2B5EF4-FFF2-40B4-BE49-F238E27FC236}">
                <a16:creationId xmlns:a16="http://schemas.microsoft.com/office/drawing/2014/main" id="{0A3E2572-5E4E-324A-B38C-7CBCEDF8F4A0}"/>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22339" y="6446168"/>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52</a:t>
            </a:fld>
            <a:endParaRPr lang="en-US" altLang="en-US" dirty="0">
              <a:latin typeface="Tahoma" panose="020B0604030504040204" pitchFamily="34" charset="0"/>
            </a:endParaRPr>
          </a:p>
        </p:txBody>
      </p:sp>
    </p:spTree>
    <p:extLst>
      <p:ext uri="{BB962C8B-B14F-4D97-AF65-F5344CB8AC3E}">
        <p14:creationId xmlns:p14="http://schemas.microsoft.com/office/powerpoint/2010/main" val="22923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548" y="1202368"/>
            <a:ext cx="8185803" cy="1972631"/>
          </a:xfrm>
        </p:spPr>
        <p:txBody>
          <a:bodyPr>
            <a:normAutofit/>
          </a:bodyPr>
          <a:lstStyle/>
          <a:p>
            <a:pPr marL="0" indent="0" eaLnBrk="1" hangingPunct="1">
              <a:lnSpc>
                <a:spcPct val="100000"/>
              </a:lnSpc>
              <a:buNone/>
            </a:pPr>
            <a:r>
              <a:rPr lang="en-US" altLang="en-US" sz="2200" b="1" u="sng" dirty="0">
                <a:solidFill>
                  <a:srgbClr val="FF0000"/>
                </a:solidFill>
                <a:latin typeface="Arial"/>
                <a:cs typeface="Arial"/>
              </a:rPr>
              <a:t>Solution:</a:t>
            </a:r>
          </a:p>
          <a:p>
            <a:pPr eaLnBrk="1" hangingPunct="1">
              <a:lnSpc>
                <a:spcPct val="100000"/>
              </a:lnSpc>
            </a:pPr>
            <a:endParaRPr lang="en-US" altLang="en-US" sz="2200" dirty="0">
              <a:latin typeface="Arial"/>
              <a:cs typeface="Arial"/>
            </a:endParaRPr>
          </a:p>
          <a:p>
            <a:pPr marL="0" indent="0" eaLnBrk="1" hangingPunct="1">
              <a:lnSpc>
                <a:spcPct val="100000"/>
              </a:lnSpc>
              <a:buNone/>
            </a:pPr>
            <a:endParaRPr lang="en-US" altLang="en-US" sz="2200" dirty="0">
              <a:latin typeface="Arial"/>
              <a:cs typeface="Arial"/>
            </a:endParaRPr>
          </a:p>
          <a:p>
            <a:pPr eaLnBrk="1" hangingPunct="1">
              <a:lnSpc>
                <a:spcPct val="100000"/>
              </a:lnSpc>
            </a:pPr>
            <a:r>
              <a:rPr lang="en-US" altLang="en-US" sz="2200" dirty="0">
                <a:latin typeface="Arial"/>
                <a:cs typeface="Arial"/>
              </a:rPr>
              <a:t>20 header + 4980 data</a:t>
            </a:r>
          </a:p>
        </p:txBody>
      </p:sp>
      <p:sp>
        <p:nvSpPr>
          <p:cNvPr id="18" name="Rectangle 2"/>
          <p:cNvSpPr txBox="1">
            <a:spLocks noChangeArrowheads="1"/>
          </p:cNvSpPr>
          <p:nvPr/>
        </p:nvSpPr>
        <p:spPr bwMode="auto">
          <a:xfrm>
            <a:off x="6185406" y="166437"/>
            <a:ext cx="2958596" cy="538318"/>
          </a:xfrm>
          <a:prstGeom prst="rect">
            <a:avLst/>
          </a:prstGeom>
          <a:solidFill>
            <a:srgbClr val="FF0000"/>
          </a:solid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bg1"/>
                </a:solidFill>
                <a:latin typeface="Arial"/>
                <a:ea typeface="ＭＳ Ｐゴシック" pitchFamily="34" charset="-128"/>
                <a:cs typeface="Arial"/>
              </a:rPr>
              <a:t>Solution  </a:t>
            </a:r>
          </a:p>
        </p:txBody>
      </p:sp>
      <p:grpSp>
        <p:nvGrpSpPr>
          <p:cNvPr id="13" name="Group 12"/>
          <p:cNvGrpSpPr/>
          <p:nvPr/>
        </p:nvGrpSpPr>
        <p:grpSpPr>
          <a:xfrm>
            <a:off x="685585" y="4036822"/>
            <a:ext cx="7930201" cy="603944"/>
            <a:chOff x="707484" y="3983567"/>
            <a:chExt cx="7930201" cy="603944"/>
          </a:xfrm>
        </p:grpSpPr>
        <p:sp>
          <p:nvSpPr>
            <p:cNvPr id="14" name="TextBox 13"/>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a:t>
              </a:r>
              <a:r>
                <a:rPr lang="en-US" dirty="0">
                  <a:solidFill>
                    <a:srgbClr val="FF0000"/>
                  </a:solidFill>
                  <a:latin typeface="Courier New"/>
                  <a:cs typeface="Courier New"/>
                </a:rPr>
                <a:t>1500</a:t>
              </a:r>
              <a:r>
                <a:rPr lang="en-US" dirty="0">
                  <a:latin typeface="Courier New"/>
                  <a:cs typeface="Courier New"/>
                </a:rPr>
                <a:t>   ID=</a:t>
              </a:r>
              <a:r>
                <a:rPr lang="en-US" dirty="0">
                  <a:solidFill>
                    <a:srgbClr val="FF0000"/>
                  </a:solidFill>
                  <a:latin typeface="Courier New"/>
                  <a:cs typeface="Courier New"/>
                </a:rPr>
                <a:t>333</a:t>
              </a:r>
              <a:r>
                <a:rPr lang="en-US" dirty="0">
                  <a:latin typeface="Courier New"/>
                  <a:cs typeface="Courier New"/>
                </a:rPr>
                <a:t>   flag=</a:t>
              </a:r>
              <a:r>
                <a:rPr lang="en-US" dirty="0">
                  <a:solidFill>
                    <a:srgbClr val="FF0000"/>
                  </a:solidFill>
                  <a:latin typeface="Courier New"/>
                  <a:cs typeface="Courier New"/>
                </a:rPr>
                <a:t>1</a:t>
              </a:r>
              <a:r>
                <a:rPr lang="en-US" dirty="0">
                  <a:latin typeface="Courier New"/>
                  <a:cs typeface="Courier New"/>
                </a:rPr>
                <a:t>   offset=</a:t>
              </a:r>
              <a:r>
                <a:rPr lang="en-US" dirty="0">
                  <a:solidFill>
                    <a:srgbClr val="FF0000"/>
                  </a:solidFill>
                  <a:latin typeface="Courier New"/>
                  <a:cs typeface="Courier New"/>
                </a:rPr>
                <a:t>0</a:t>
              </a:r>
            </a:p>
          </p:txBody>
        </p:sp>
        <p:sp>
          <p:nvSpPr>
            <p:cNvPr id="15" name="Rectangle 14"/>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6" name="Rectangle 15"/>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7" name="Rectangle 16"/>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3" name="Rectangle 22"/>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4" name="TextBox 23"/>
            <p:cNvSpPr txBox="1"/>
            <p:nvPr/>
          </p:nvSpPr>
          <p:spPr>
            <a:xfrm>
              <a:off x="707484" y="4061973"/>
              <a:ext cx="1705791" cy="430887"/>
            </a:xfrm>
            <a:prstGeom prst="rect">
              <a:avLst/>
            </a:prstGeom>
            <a:noFill/>
          </p:spPr>
          <p:txBody>
            <a:bodyPr wrap="none" rtlCol="0">
              <a:spAutoFit/>
            </a:bodyPr>
            <a:lstStyle/>
            <a:p>
              <a:r>
                <a:rPr lang="en-US" sz="2200" dirty="0"/>
                <a:t>Fragment</a:t>
              </a:r>
              <a:r>
                <a:rPr lang="en-US" sz="2200" dirty="0">
                  <a:solidFill>
                    <a:srgbClr val="FF0000"/>
                  </a:solidFill>
                </a:rPr>
                <a:t>#1</a:t>
              </a:r>
            </a:p>
          </p:txBody>
        </p:sp>
      </p:grpSp>
      <p:grpSp>
        <p:nvGrpSpPr>
          <p:cNvPr id="19" name="Group 18"/>
          <p:cNvGrpSpPr/>
          <p:nvPr/>
        </p:nvGrpSpPr>
        <p:grpSpPr>
          <a:xfrm>
            <a:off x="837985" y="1748019"/>
            <a:ext cx="7774980" cy="603944"/>
            <a:chOff x="862705" y="3983567"/>
            <a:chExt cx="7774980" cy="603944"/>
          </a:xfrm>
        </p:grpSpPr>
        <p:sp>
          <p:nvSpPr>
            <p:cNvPr id="20" name="TextBox 19"/>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a:t>
              </a:r>
              <a:r>
                <a:rPr lang="en-US" dirty="0">
                  <a:solidFill>
                    <a:srgbClr val="FF0000"/>
                  </a:solidFill>
                  <a:latin typeface="Courier New"/>
                  <a:cs typeface="Courier New"/>
                </a:rPr>
                <a:t>5000</a:t>
              </a:r>
              <a:r>
                <a:rPr lang="en-US" dirty="0">
                  <a:latin typeface="Courier New"/>
                  <a:cs typeface="Courier New"/>
                </a:rPr>
                <a:t>   ID=</a:t>
              </a:r>
              <a:r>
                <a:rPr lang="en-US" dirty="0">
                  <a:solidFill>
                    <a:srgbClr val="FF0000"/>
                  </a:solidFill>
                  <a:latin typeface="Courier New"/>
                  <a:cs typeface="Courier New"/>
                </a:rPr>
                <a:t>333</a:t>
              </a:r>
              <a:r>
                <a:rPr lang="en-US" dirty="0">
                  <a:latin typeface="Courier New"/>
                  <a:cs typeface="Courier New"/>
                </a:rPr>
                <a:t>   flag=</a:t>
              </a:r>
              <a:r>
                <a:rPr lang="en-US" dirty="0">
                  <a:solidFill>
                    <a:srgbClr val="FF0000"/>
                  </a:solidFill>
                  <a:latin typeface="Courier New"/>
                  <a:cs typeface="Courier New"/>
                </a:rPr>
                <a:t>0</a:t>
              </a:r>
              <a:r>
                <a:rPr lang="en-US" dirty="0">
                  <a:latin typeface="Courier New"/>
                  <a:cs typeface="Courier New"/>
                </a:rPr>
                <a:t>   offset=</a:t>
              </a:r>
              <a:r>
                <a:rPr lang="en-US" dirty="0">
                  <a:solidFill>
                    <a:srgbClr val="FF0000"/>
                  </a:solidFill>
                  <a:latin typeface="Courier New"/>
                  <a:cs typeface="Courier New"/>
                </a:rPr>
                <a:t>0</a:t>
              </a:r>
            </a:p>
          </p:txBody>
        </p:sp>
        <p:sp>
          <p:nvSpPr>
            <p:cNvPr id="21" name="Rectangle 20"/>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2" name="Rectangle 21"/>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5" name="Rectangle 24"/>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6" name="Rectangle 25"/>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7" name="TextBox 26"/>
            <p:cNvSpPr txBox="1"/>
            <p:nvPr/>
          </p:nvSpPr>
          <p:spPr>
            <a:xfrm>
              <a:off x="862705" y="4047862"/>
              <a:ext cx="1423386" cy="430887"/>
            </a:xfrm>
            <a:prstGeom prst="rect">
              <a:avLst/>
            </a:prstGeom>
            <a:noFill/>
          </p:spPr>
          <p:txBody>
            <a:bodyPr wrap="none" rtlCol="0">
              <a:spAutoFit/>
            </a:bodyPr>
            <a:lstStyle/>
            <a:p>
              <a:r>
                <a:rPr lang="en-US" sz="2200" dirty="0"/>
                <a:t>Datagram</a:t>
              </a:r>
            </a:p>
          </p:txBody>
        </p:sp>
      </p:grpSp>
      <p:sp>
        <p:nvSpPr>
          <p:cNvPr id="28" name="Content Placeholder 2"/>
          <p:cNvSpPr txBox="1">
            <a:spLocks/>
          </p:cNvSpPr>
          <p:nvPr/>
        </p:nvSpPr>
        <p:spPr bwMode="auto">
          <a:xfrm>
            <a:off x="517548" y="3022688"/>
            <a:ext cx="8185803" cy="9284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eaLnBrk="1" hangingPunct="1">
              <a:lnSpc>
                <a:spcPct val="100000"/>
              </a:lnSpc>
            </a:pPr>
            <a:r>
              <a:rPr lang="en-US" altLang="en-US" sz="2200" dirty="0">
                <a:latin typeface="Arial"/>
                <a:cs typeface="Arial"/>
              </a:rPr>
              <a:t>Total fragments = 5000 / 1500 = 4</a:t>
            </a:r>
          </a:p>
          <a:p>
            <a:pPr eaLnBrk="1" hangingPunct="1">
              <a:lnSpc>
                <a:spcPct val="100000"/>
              </a:lnSpc>
            </a:pPr>
            <a:r>
              <a:rPr lang="en-US" altLang="en-US" sz="2200" dirty="0">
                <a:latin typeface="Arial"/>
                <a:cs typeface="Arial"/>
              </a:rPr>
              <a:t>4980 = 1480 + 1480 + 1480 + 540</a:t>
            </a:r>
          </a:p>
        </p:txBody>
      </p:sp>
      <p:grpSp>
        <p:nvGrpSpPr>
          <p:cNvPr id="29" name="Group 28"/>
          <p:cNvGrpSpPr/>
          <p:nvPr/>
        </p:nvGrpSpPr>
        <p:grpSpPr>
          <a:xfrm>
            <a:off x="682764" y="4711329"/>
            <a:ext cx="7930201" cy="603944"/>
            <a:chOff x="707484" y="3983567"/>
            <a:chExt cx="7930201" cy="603944"/>
          </a:xfrm>
        </p:grpSpPr>
        <p:sp>
          <p:nvSpPr>
            <p:cNvPr id="30" name="TextBox 29"/>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a:t>
              </a:r>
              <a:r>
                <a:rPr lang="en-US" dirty="0">
                  <a:solidFill>
                    <a:srgbClr val="FF0000"/>
                  </a:solidFill>
                  <a:latin typeface="Courier New"/>
                  <a:cs typeface="Courier New"/>
                </a:rPr>
                <a:t>1500</a:t>
              </a:r>
              <a:r>
                <a:rPr lang="en-US" dirty="0">
                  <a:latin typeface="Courier New"/>
                  <a:cs typeface="Courier New"/>
                </a:rPr>
                <a:t>   ID=</a:t>
              </a:r>
              <a:r>
                <a:rPr lang="en-US" dirty="0">
                  <a:solidFill>
                    <a:srgbClr val="FF0000"/>
                  </a:solidFill>
                  <a:latin typeface="Courier New"/>
                  <a:cs typeface="Courier New"/>
                </a:rPr>
                <a:t>333</a:t>
              </a:r>
              <a:r>
                <a:rPr lang="en-US" dirty="0">
                  <a:latin typeface="Courier New"/>
                  <a:cs typeface="Courier New"/>
                </a:rPr>
                <a:t>   flag=</a:t>
              </a:r>
              <a:r>
                <a:rPr lang="en-US" dirty="0">
                  <a:solidFill>
                    <a:srgbClr val="FF0000"/>
                  </a:solidFill>
                  <a:latin typeface="Courier New"/>
                  <a:cs typeface="Courier New"/>
                </a:rPr>
                <a:t>1</a:t>
              </a:r>
              <a:r>
                <a:rPr lang="en-US" dirty="0">
                  <a:latin typeface="Courier New"/>
                  <a:cs typeface="Courier New"/>
                </a:rPr>
                <a:t>   offset=</a:t>
              </a:r>
              <a:r>
                <a:rPr lang="en-US" dirty="0">
                  <a:solidFill>
                    <a:srgbClr val="FF0000"/>
                  </a:solidFill>
                  <a:latin typeface="Courier New"/>
                  <a:cs typeface="Courier New"/>
                </a:rPr>
                <a:t>185</a:t>
              </a:r>
            </a:p>
          </p:txBody>
        </p:sp>
        <p:sp>
          <p:nvSpPr>
            <p:cNvPr id="31" name="Rectangle 30"/>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2" name="Rectangle 31"/>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3" name="Rectangle 32"/>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4" name="Rectangle 33"/>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5" name="TextBox 34"/>
            <p:cNvSpPr txBox="1"/>
            <p:nvPr/>
          </p:nvSpPr>
          <p:spPr>
            <a:xfrm>
              <a:off x="707484" y="4061973"/>
              <a:ext cx="1705791" cy="430887"/>
            </a:xfrm>
            <a:prstGeom prst="rect">
              <a:avLst/>
            </a:prstGeom>
            <a:noFill/>
          </p:spPr>
          <p:txBody>
            <a:bodyPr wrap="none" rtlCol="0">
              <a:spAutoFit/>
            </a:bodyPr>
            <a:lstStyle/>
            <a:p>
              <a:r>
                <a:rPr lang="en-US" sz="2200" dirty="0"/>
                <a:t>Fragment</a:t>
              </a:r>
              <a:r>
                <a:rPr lang="en-US" sz="2200" dirty="0">
                  <a:solidFill>
                    <a:srgbClr val="FF0000"/>
                  </a:solidFill>
                </a:rPr>
                <a:t>#2</a:t>
              </a:r>
            </a:p>
          </p:txBody>
        </p:sp>
      </p:grpSp>
      <p:grpSp>
        <p:nvGrpSpPr>
          <p:cNvPr id="36" name="Group 35"/>
          <p:cNvGrpSpPr/>
          <p:nvPr/>
        </p:nvGrpSpPr>
        <p:grpSpPr>
          <a:xfrm>
            <a:off x="682764" y="5374546"/>
            <a:ext cx="7930201" cy="603944"/>
            <a:chOff x="707484" y="3983567"/>
            <a:chExt cx="7930201" cy="603944"/>
          </a:xfrm>
        </p:grpSpPr>
        <p:sp>
          <p:nvSpPr>
            <p:cNvPr id="37" name="TextBox 36"/>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a:t>
              </a:r>
              <a:r>
                <a:rPr lang="en-US" dirty="0">
                  <a:solidFill>
                    <a:srgbClr val="FF0000"/>
                  </a:solidFill>
                  <a:latin typeface="Courier New"/>
                  <a:cs typeface="Courier New"/>
                </a:rPr>
                <a:t>1500</a:t>
              </a:r>
              <a:r>
                <a:rPr lang="en-US" dirty="0">
                  <a:latin typeface="Courier New"/>
                  <a:cs typeface="Courier New"/>
                </a:rPr>
                <a:t>   ID=</a:t>
              </a:r>
              <a:r>
                <a:rPr lang="en-US" dirty="0">
                  <a:solidFill>
                    <a:srgbClr val="FF0000"/>
                  </a:solidFill>
                  <a:latin typeface="Courier New"/>
                  <a:cs typeface="Courier New"/>
                </a:rPr>
                <a:t>333</a:t>
              </a:r>
              <a:r>
                <a:rPr lang="en-US" dirty="0">
                  <a:latin typeface="Courier New"/>
                  <a:cs typeface="Courier New"/>
                </a:rPr>
                <a:t>   flag=</a:t>
              </a:r>
              <a:r>
                <a:rPr lang="en-US" dirty="0">
                  <a:solidFill>
                    <a:srgbClr val="FF0000"/>
                  </a:solidFill>
                  <a:latin typeface="Courier New"/>
                  <a:cs typeface="Courier New"/>
                </a:rPr>
                <a:t>1</a:t>
              </a:r>
              <a:r>
                <a:rPr lang="en-US" dirty="0">
                  <a:latin typeface="Courier New"/>
                  <a:cs typeface="Courier New"/>
                </a:rPr>
                <a:t>   offset=</a:t>
              </a:r>
              <a:r>
                <a:rPr lang="en-US" dirty="0">
                  <a:solidFill>
                    <a:srgbClr val="FF0000"/>
                  </a:solidFill>
                  <a:latin typeface="Courier New"/>
                  <a:cs typeface="Courier New"/>
                </a:rPr>
                <a:t>370</a:t>
              </a:r>
            </a:p>
          </p:txBody>
        </p:sp>
        <p:sp>
          <p:nvSpPr>
            <p:cNvPr id="38" name="Rectangle 37"/>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0" name="Rectangle 39"/>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2" name="TextBox 41"/>
            <p:cNvSpPr txBox="1"/>
            <p:nvPr/>
          </p:nvSpPr>
          <p:spPr>
            <a:xfrm>
              <a:off x="707484" y="4061973"/>
              <a:ext cx="1705791" cy="430887"/>
            </a:xfrm>
            <a:prstGeom prst="rect">
              <a:avLst/>
            </a:prstGeom>
            <a:noFill/>
          </p:spPr>
          <p:txBody>
            <a:bodyPr wrap="none" rtlCol="0">
              <a:spAutoFit/>
            </a:bodyPr>
            <a:lstStyle/>
            <a:p>
              <a:r>
                <a:rPr lang="en-US" sz="2200" dirty="0"/>
                <a:t>Fragment</a:t>
              </a:r>
              <a:r>
                <a:rPr lang="en-US" sz="2200" dirty="0">
                  <a:solidFill>
                    <a:srgbClr val="FF0000"/>
                  </a:solidFill>
                </a:rPr>
                <a:t>#3</a:t>
              </a:r>
            </a:p>
          </p:txBody>
        </p:sp>
      </p:grpSp>
      <p:grpSp>
        <p:nvGrpSpPr>
          <p:cNvPr id="43" name="Group 42"/>
          <p:cNvGrpSpPr/>
          <p:nvPr/>
        </p:nvGrpSpPr>
        <p:grpSpPr>
          <a:xfrm>
            <a:off x="685585" y="6040584"/>
            <a:ext cx="7930201" cy="603944"/>
            <a:chOff x="707484" y="3983567"/>
            <a:chExt cx="7930201" cy="603944"/>
          </a:xfrm>
        </p:grpSpPr>
        <p:sp>
          <p:nvSpPr>
            <p:cNvPr id="44" name="TextBox 43"/>
            <p:cNvSpPr txBox="1"/>
            <p:nvPr/>
          </p:nvSpPr>
          <p:spPr>
            <a:xfrm>
              <a:off x="1631208" y="4083869"/>
              <a:ext cx="7006465" cy="369332"/>
            </a:xfrm>
            <a:prstGeom prst="rect">
              <a:avLst/>
            </a:prstGeom>
            <a:noFill/>
          </p:spPr>
          <p:txBody>
            <a:bodyPr wrap="square" rtlCol="0">
              <a:spAutoFit/>
            </a:bodyPr>
            <a:lstStyle/>
            <a:p>
              <a:r>
                <a:rPr lang="en-US" dirty="0">
                  <a:latin typeface="Courier New"/>
                  <a:cs typeface="Courier New"/>
                </a:rPr>
                <a:t>	length= </a:t>
              </a:r>
              <a:r>
                <a:rPr lang="en-US" dirty="0">
                  <a:solidFill>
                    <a:srgbClr val="FF0000"/>
                  </a:solidFill>
                  <a:latin typeface="Courier New"/>
                  <a:cs typeface="Courier New"/>
                </a:rPr>
                <a:t>560</a:t>
              </a:r>
              <a:r>
                <a:rPr lang="en-US" dirty="0">
                  <a:latin typeface="Courier New"/>
                  <a:cs typeface="Courier New"/>
                </a:rPr>
                <a:t>   ID=</a:t>
              </a:r>
              <a:r>
                <a:rPr lang="en-US" dirty="0">
                  <a:solidFill>
                    <a:srgbClr val="FF0000"/>
                  </a:solidFill>
                  <a:latin typeface="Courier New"/>
                  <a:cs typeface="Courier New"/>
                </a:rPr>
                <a:t>333</a:t>
              </a:r>
              <a:r>
                <a:rPr lang="en-US" dirty="0">
                  <a:latin typeface="Courier New"/>
                  <a:cs typeface="Courier New"/>
                </a:rPr>
                <a:t>   flag=</a:t>
              </a:r>
              <a:r>
                <a:rPr lang="en-US" dirty="0">
                  <a:solidFill>
                    <a:srgbClr val="FF0000"/>
                  </a:solidFill>
                  <a:latin typeface="Courier New"/>
                  <a:cs typeface="Courier New"/>
                </a:rPr>
                <a:t>0</a:t>
              </a:r>
              <a:r>
                <a:rPr lang="en-US" dirty="0">
                  <a:latin typeface="Courier New"/>
                  <a:cs typeface="Courier New"/>
                </a:rPr>
                <a:t>   offset=</a:t>
              </a:r>
              <a:r>
                <a:rPr lang="en-US" dirty="0">
                  <a:solidFill>
                    <a:srgbClr val="FF0000"/>
                  </a:solidFill>
                  <a:latin typeface="Courier New"/>
                  <a:cs typeface="Courier New"/>
                </a:rPr>
                <a:t>555</a:t>
              </a:r>
            </a:p>
          </p:txBody>
        </p:sp>
        <p:sp>
          <p:nvSpPr>
            <p:cNvPr id="45" name="Rectangle 44"/>
            <p:cNvSpPr/>
            <p:nvPr/>
          </p:nvSpPr>
          <p:spPr bwMode="auto">
            <a:xfrm>
              <a:off x="2430384" y="3985331"/>
              <a:ext cx="1882991"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6" name="Rectangle 45"/>
            <p:cNvSpPr/>
            <p:nvPr/>
          </p:nvSpPr>
          <p:spPr bwMode="auto">
            <a:xfrm>
              <a:off x="4312509" y="3984449"/>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7" name="Rectangle 46"/>
            <p:cNvSpPr/>
            <p:nvPr/>
          </p:nvSpPr>
          <p:spPr bwMode="auto">
            <a:xfrm>
              <a:off x="5537776" y="3983567"/>
              <a:ext cx="1227000"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8" name="Rectangle 47"/>
            <p:cNvSpPr/>
            <p:nvPr/>
          </p:nvSpPr>
          <p:spPr bwMode="auto">
            <a:xfrm>
              <a:off x="6763909" y="3983567"/>
              <a:ext cx="1873776" cy="60218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9" name="TextBox 48"/>
            <p:cNvSpPr txBox="1"/>
            <p:nvPr/>
          </p:nvSpPr>
          <p:spPr>
            <a:xfrm>
              <a:off x="707484" y="4061973"/>
              <a:ext cx="1705791" cy="430887"/>
            </a:xfrm>
            <a:prstGeom prst="rect">
              <a:avLst/>
            </a:prstGeom>
            <a:noFill/>
          </p:spPr>
          <p:txBody>
            <a:bodyPr wrap="none" rtlCol="0">
              <a:spAutoFit/>
            </a:bodyPr>
            <a:lstStyle/>
            <a:p>
              <a:r>
                <a:rPr lang="en-US" sz="2200" dirty="0"/>
                <a:t>Fragment</a:t>
              </a:r>
              <a:r>
                <a:rPr lang="en-US" sz="2200" dirty="0">
                  <a:solidFill>
                    <a:srgbClr val="FF0000"/>
                  </a:solidFill>
                </a:rPr>
                <a:t>#4</a:t>
              </a:r>
            </a:p>
          </p:txBody>
        </p:sp>
      </p:grpSp>
      <p:sp>
        <p:nvSpPr>
          <p:cNvPr id="50" name="Right Triangle 49">
            <a:extLst>
              <a:ext uri="{FF2B5EF4-FFF2-40B4-BE49-F238E27FC236}">
                <a16:creationId xmlns:a16="http://schemas.microsoft.com/office/drawing/2014/main" id="{DACFD02B-31AB-BA4A-B6D1-9903A049319E}"/>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51"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573357" y="6600274"/>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53</a:t>
            </a:fld>
            <a:endParaRPr lang="en-US" altLang="en-US" dirty="0">
              <a:latin typeface="Tahoma" panose="020B0604030504040204" pitchFamily="34" charset="0"/>
            </a:endParaRPr>
          </a:p>
        </p:txBody>
      </p:sp>
    </p:spTree>
    <p:extLst>
      <p:ext uri="{BB962C8B-B14F-4D97-AF65-F5344CB8AC3E}">
        <p14:creationId xmlns:p14="http://schemas.microsoft.com/office/powerpoint/2010/main" val="16715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 descr="underline_base"/>
          <p:cNvPicPr preferRelativeResize="0"/>
          <p:nvPr/>
        </p:nvPicPr>
        <p:blipFill rotWithShape="1">
          <a:blip r:embed="rId3">
            <a:alphaModFix/>
          </a:blip>
          <a:srcRect/>
          <a:stretch/>
        </p:blipFill>
        <p:spPr>
          <a:xfrm>
            <a:off x="601663" y="1025525"/>
            <a:ext cx="4113212" cy="173038"/>
          </a:xfrm>
          <a:prstGeom prst="rect">
            <a:avLst/>
          </a:prstGeom>
          <a:noFill/>
          <a:ln>
            <a:noFill/>
          </a:ln>
        </p:spPr>
      </p:pic>
      <p:sp>
        <p:nvSpPr>
          <p:cNvPr id="96" name="Google Shape;96;p1"/>
          <p:cNvSpPr txBox="1">
            <a:spLocks noGrp="1"/>
          </p:cNvSpPr>
          <p:nvPr>
            <p:ph type="body" idx="1"/>
          </p:nvPr>
        </p:nvSpPr>
        <p:spPr>
          <a:xfrm>
            <a:off x="533400" y="1233261"/>
            <a:ext cx="6275173" cy="4648200"/>
          </a:xfrm>
          <a:prstGeom prst="rect">
            <a:avLst/>
          </a:prstGeom>
          <a:noFill/>
          <a:ln>
            <a:noFill/>
          </a:ln>
        </p:spPr>
        <p:txBody>
          <a:bodyPr spcFirstLastPara="1" wrap="square" lIns="91425" tIns="45700" rIns="91425" bIns="45700" anchor="t" anchorCtr="0">
            <a:noAutofit/>
          </a:bodyPr>
          <a:lstStyle/>
          <a:p>
            <a:pPr marL="342900" lvl="0" indent="-342900" algn="l" rtl="0">
              <a:lnSpc>
                <a:spcPct val="85000"/>
              </a:lnSpc>
              <a:spcBef>
                <a:spcPts val="0"/>
              </a:spcBef>
              <a:spcAft>
                <a:spcPts val="0"/>
              </a:spcAft>
              <a:buSzPts val="1560"/>
              <a:buFont typeface="Noto Sans Symbols"/>
              <a:buNone/>
            </a:pPr>
            <a:r>
              <a:rPr lang="en-US" sz="2400" dirty="0"/>
              <a:t>4.1 Overview of Network layer</a:t>
            </a:r>
            <a:endParaRPr dirty="0"/>
          </a:p>
          <a:p>
            <a:pPr marL="742950" lvl="1" indent="-285750" algn="l" rtl="0">
              <a:lnSpc>
                <a:spcPct val="85000"/>
              </a:lnSpc>
              <a:spcBef>
                <a:spcPts val="480"/>
              </a:spcBef>
              <a:spcAft>
                <a:spcPts val="0"/>
              </a:spcAft>
              <a:buSzPts val="2400"/>
              <a:buChar char="▪"/>
            </a:pPr>
            <a:r>
              <a:rPr lang="en-US" dirty="0">
                <a:latin typeface="Gill Sans"/>
                <a:ea typeface="Gill Sans"/>
                <a:cs typeface="Gill Sans"/>
                <a:sym typeface="Gill Sans"/>
              </a:rPr>
              <a:t>data plane</a:t>
            </a:r>
            <a:endParaRPr dirty="0"/>
          </a:p>
          <a:p>
            <a:pPr marL="742950" lvl="1" indent="-285750" algn="l" rtl="0">
              <a:lnSpc>
                <a:spcPct val="85000"/>
              </a:lnSpc>
              <a:spcBef>
                <a:spcPts val="480"/>
              </a:spcBef>
              <a:spcAft>
                <a:spcPts val="0"/>
              </a:spcAft>
              <a:buSzPts val="2400"/>
              <a:buChar char="▪"/>
            </a:pPr>
            <a:r>
              <a:rPr lang="en-US" dirty="0">
                <a:latin typeface="Gill Sans"/>
                <a:ea typeface="Gill Sans"/>
                <a:cs typeface="Gill Sans"/>
                <a:sym typeface="Gill Sans"/>
              </a:rPr>
              <a:t>control plane</a:t>
            </a:r>
            <a:endParaRPr dirty="0"/>
          </a:p>
          <a:p>
            <a:pPr marL="342900" lvl="0" indent="-342900" algn="l" rtl="0">
              <a:lnSpc>
                <a:spcPct val="85000"/>
              </a:lnSpc>
              <a:spcBef>
                <a:spcPts val="480"/>
              </a:spcBef>
              <a:spcAft>
                <a:spcPts val="0"/>
              </a:spcAft>
              <a:buSzPts val="1560"/>
              <a:buFont typeface="Noto Sans Symbols"/>
              <a:buNone/>
            </a:pPr>
            <a:r>
              <a:rPr lang="en-US" sz="2400" dirty="0"/>
              <a:t>4.2 What</a:t>
            </a:r>
            <a:r>
              <a:rPr lang="en-US" sz="2400" dirty="0">
                <a:latin typeface="MS PGothic"/>
                <a:ea typeface="MS PGothic"/>
                <a:cs typeface="MS PGothic"/>
                <a:sym typeface="MS PGothic"/>
              </a:rPr>
              <a:t>’</a:t>
            </a:r>
            <a:r>
              <a:rPr lang="en-US" sz="2400" dirty="0"/>
              <a:t>s inside a router</a:t>
            </a:r>
            <a:endParaRPr dirty="0"/>
          </a:p>
          <a:p>
            <a:pPr marL="342900" lvl="0" indent="-342900" algn="l" rtl="0">
              <a:lnSpc>
                <a:spcPct val="85000"/>
              </a:lnSpc>
              <a:spcBef>
                <a:spcPts val="480"/>
              </a:spcBef>
              <a:spcAft>
                <a:spcPts val="0"/>
              </a:spcAft>
              <a:buSzPts val="1560"/>
              <a:buNone/>
            </a:pPr>
            <a:r>
              <a:rPr lang="en-US" sz="2400" dirty="0"/>
              <a:t>     input ports, switching, output ports</a:t>
            </a:r>
          </a:p>
          <a:p>
            <a:pPr>
              <a:spcBef>
                <a:spcPts val="480"/>
              </a:spcBef>
              <a:spcAft>
                <a:spcPts val="0"/>
              </a:spcAft>
              <a:buSzPts val="1560"/>
              <a:buNone/>
            </a:pPr>
            <a:r>
              <a:rPr lang="en-US" altLang="ja-JP" sz="2400" dirty="0">
                <a:ea typeface="ＭＳ Ｐゴシック" panose="020B0600070205080204" pitchFamily="34" charset="-128"/>
                <a:cs typeface="Arial" panose="020B0604020202020204" pitchFamily="34" charset="0"/>
              </a:rPr>
              <a:t>     buffer management, scheduling</a:t>
            </a:r>
            <a:endParaRPr lang="en-US" altLang="ja-JP" sz="2400" dirty="0">
              <a:solidFill>
                <a:srgbClr val="CC0000"/>
              </a:solidFill>
              <a:ea typeface="ＭＳ Ｐゴシック" panose="020B0600070205080204" pitchFamily="34" charset="-128"/>
              <a:cs typeface="ＭＳ Ｐゴシック" panose="020B0600070205080204" pitchFamily="34" charset="-128"/>
            </a:endParaRPr>
          </a:p>
          <a:p>
            <a:pPr marL="342900" lvl="0" indent="-342900" algn="l" rtl="0">
              <a:lnSpc>
                <a:spcPct val="85000"/>
              </a:lnSpc>
              <a:spcBef>
                <a:spcPts val="480"/>
              </a:spcBef>
              <a:spcAft>
                <a:spcPts val="0"/>
              </a:spcAft>
              <a:buSzPts val="1560"/>
              <a:buFont typeface="Noto Sans Symbols"/>
              <a:buNone/>
            </a:pPr>
            <a:r>
              <a:rPr lang="en-US" sz="2400" dirty="0">
                <a:solidFill>
                  <a:srgbClr val="CC0000"/>
                </a:solidFill>
              </a:rPr>
              <a:t>4.3 IP: Internet Protocol</a:t>
            </a:r>
            <a:endParaRPr dirty="0"/>
          </a:p>
          <a:p>
            <a:pPr marL="742950" lvl="1" indent="-285750" algn="l" rtl="0">
              <a:lnSpc>
                <a:spcPct val="85000"/>
              </a:lnSpc>
              <a:spcBef>
                <a:spcPts val="480"/>
              </a:spcBef>
              <a:spcAft>
                <a:spcPts val="0"/>
              </a:spcAft>
              <a:buSzPts val="2400"/>
              <a:buChar char="▪"/>
            </a:pPr>
            <a:r>
              <a:rPr lang="en-US" dirty="0">
                <a:latin typeface="Gill Sans"/>
                <a:ea typeface="Gill Sans"/>
                <a:cs typeface="Gill Sans"/>
                <a:sym typeface="Gill Sans"/>
              </a:rPr>
              <a:t>datagram format</a:t>
            </a:r>
            <a:endParaRPr dirty="0"/>
          </a:p>
          <a:p>
            <a:pPr marL="742950" lvl="1" indent="-285750" algn="l" rtl="0">
              <a:lnSpc>
                <a:spcPct val="85000"/>
              </a:lnSpc>
              <a:spcBef>
                <a:spcPts val="480"/>
              </a:spcBef>
              <a:spcAft>
                <a:spcPts val="0"/>
              </a:spcAft>
              <a:buSzPts val="2400"/>
              <a:buChar char="▪"/>
            </a:pPr>
            <a:r>
              <a:rPr lang="en-US" dirty="0">
                <a:latin typeface="Gill Sans"/>
                <a:ea typeface="Gill Sans"/>
                <a:cs typeface="Gill Sans"/>
                <a:sym typeface="Gill Sans"/>
              </a:rPr>
              <a:t>fragmentation</a:t>
            </a:r>
            <a:endParaRPr dirty="0"/>
          </a:p>
          <a:p>
            <a:pPr marL="742950" lvl="1" indent="-285750" algn="l" rtl="0">
              <a:lnSpc>
                <a:spcPct val="85000"/>
              </a:lnSpc>
              <a:spcBef>
                <a:spcPts val="480"/>
              </a:spcBef>
              <a:spcAft>
                <a:spcPts val="0"/>
              </a:spcAft>
              <a:buSzPts val="2400"/>
              <a:buChar char="▪"/>
            </a:pPr>
            <a:r>
              <a:rPr lang="en-US" dirty="0">
                <a:solidFill>
                  <a:srgbClr val="CC0000"/>
                </a:solidFill>
                <a:latin typeface="Gill Sans"/>
                <a:ea typeface="Gill Sans"/>
                <a:cs typeface="Gill Sans"/>
                <a:sym typeface="Gill Sans"/>
              </a:rPr>
              <a:t>IPv4 addressing</a:t>
            </a:r>
            <a:endParaRPr dirty="0"/>
          </a:p>
          <a:p>
            <a:pPr marL="742950" lvl="1" indent="-285750" algn="l" rtl="0">
              <a:lnSpc>
                <a:spcPct val="85000"/>
              </a:lnSpc>
              <a:spcBef>
                <a:spcPts val="480"/>
              </a:spcBef>
              <a:spcAft>
                <a:spcPts val="0"/>
              </a:spcAft>
              <a:buSzPts val="2400"/>
              <a:buChar char="▪"/>
            </a:pPr>
            <a:r>
              <a:rPr lang="en-US" dirty="0">
                <a:solidFill>
                  <a:srgbClr val="000000"/>
                </a:solidFill>
                <a:latin typeface="Gill Sans"/>
                <a:ea typeface="Gill Sans"/>
                <a:cs typeface="Gill Sans"/>
                <a:sym typeface="Gill Sans"/>
              </a:rPr>
              <a:t>network address translation</a:t>
            </a:r>
            <a:r>
              <a:rPr lang="en-US" dirty="0">
                <a:cs typeface="Gill Sans"/>
                <a:sym typeface="Gill Sans"/>
              </a:rPr>
              <a:t> (NAT)</a:t>
            </a:r>
            <a:endParaRPr dirty="0">
              <a:solidFill>
                <a:srgbClr val="000000"/>
              </a:solidFill>
              <a:latin typeface="Gill Sans"/>
              <a:ea typeface="Gill Sans"/>
              <a:cs typeface="Gill Sans"/>
              <a:sym typeface="Gill Sans"/>
            </a:endParaRPr>
          </a:p>
          <a:p>
            <a:pPr marL="742950" lvl="1" indent="-285750" algn="l" rtl="0">
              <a:lnSpc>
                <a:spcPct val="85000"/>
              </a:lnSpc>
              <a:spcBef>
                <a:spcPts val="480"/>
              </a:spcBef>
              <a:spcAft>
                <a:spcPts val="0"/>
              </a:spcAft>
              <a:buSzPts val="2400"/>
              <a:buChar char="▪"/>
            </a:pPr>
            <a:r>
              <a:rPr lang="en-US" dirty="0">
                <a:solidFill>
                  <a:srgbClr val="000000"/>
                </a:solidFill>
                <a:latin typeface="Gill Sans"/>
                <a:ea typeface="Gill Sans"/>
                <a:cs typeface="Gill Sans"/>
                <a:sym typeface="Gill Sans"/>
              </a:rPr>
              <a:t>IPv6</a:t>
            </a:r>
          </a:p>
          <a:p>
            <a:pPr marL="111125" indent="0">
              <a:spcBef>
                <a:spcPts val="480"/>
              </a:spcBef>
              <a:spcAft>
                <a:spcPts val="0"/>
              </a:spcAft>
              <a:buSzPts val="2400"/>
              <a:buNone/>
            </a:pPr>
            <a:r>
              <a:rPr lang="en-MY" sz="2400" dirty="0">
                <a:latin typeface="Gill Sans"/>
                <a:cs typeface="Gill Sans"/>
              </a:rPr>
              <a:t>4.4 Generalized Forwarding and SDN</a:t>
            </a:r>
          </a:p>
          <a:p>
            <a:pPr lvl="1">
              <a:spcBef>
                <a:spcPts val="0"/>
              </a:spcBef>
            </a:pPr>
            <a:r>
              <a:rPr lang="en-US" altLang="en-US" sz="2400" dirty="0" err="1">
                <a:ea typeface="ＭＳ Ｐゴシック" panose="020B0600070205080204" pitchFamily="34" charset="-128"/>
              </a:rPr>
              <a:t>Match+action</a:t>
            </a:r>
            <a:endParaRPr lang="en-US" altLang="en-US" sz="2400" dirty="0">
              <a:ea typeface="ＭＳ Ｐゴシック" panose="020B0600070205080204" pitchFamily="34" charset="-128"/>
            </a:endParaRPr>
          </a:p>
          <a:p>
            <a:pPr lvl="1">
              <a:spcBef>
                <a:spcPts val="0"/>
              </a:spcBef>
            </a:pPr>
            <a:r>
              <a:rPr lang="en-US" altLang="en-US" sz="2400" dirty="0">
                <a:ea typeface="ＭＳ Ｐゴシック" panose="020B0600070205080204" pitchFamily="34" charset="-128"/>
              </a:rPr>
              <a:t>OpenFlow: </a:t>
            </a:r>
            <a:r>
              <a:rPr lang="en-US" altLang="en-US" sz="2400" dirty="0" err="1">
                <a:ea typeface="ＭＳ Ｐゴシック" panose="020B0600070205080204" pitchFamily="34" charset="-128"/>
              </a:rPr>
              <a:t>match+action</a:t>
            </a:r>
            <a:r>
              <a:rPr lang="en-US" altLang="en-US" sz="2400" dirty="0">
                <a:ea typeface="ＭＳ Ｐゴシック" panose="020B0600070205080204" pitchFamily="34" charset="-128"/>
              </a:rPr>
              <a:t> in action</a:t>
            </a:r>
          </a:p>
          <a:p>
            <a:pPr marL="111125" indent="0">
              <a:spcBef>
                <a:spcPts val="480"/>
              </a:spcBef>
              <a:spcAft>
                <a:spcPts val="0"/>
              </a:spcAft>
              <a:buSzPts val="2400"/>
              <a:buNone/>
            </a:pPr>
            <a:endParaRPr lang="en-US" sz="2400" dirty="0">
              <a:latin typeface="Gill Sans"/>
              <a:cs typeface="Gill Sans"/>
              <a:sym typeface="Gill Sans"/>
            </a:endParaRPr>
          </a:p>
        </p:txBody>
      </p:sp>
      <p:sp>
        <p:nvSpPr>
          <p:cNvPr id="97" name="Google Shape;97;p1"/>
          <p:cNvSpPr/>
          <p:nvPr/>
        </p:nvSpPr>
        <p:spPr>
          <a:xfrm>
            <a:off x="533400" y="228600"/>
            <a:ext cx="7772400"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400" b="0" i="0" u="none" strike="noStrike" cap="none" dirty="0">
                <a:solidFill>
                  <a:srgbClr val="000099"/>
                </a:solidFill>
                <a:latin typeface="Gill Sans"/>
                <a:ea typeface="Gill Sans"/>
                <a:cs typeface="Gill Sans"/>
                <a:sym typeface="Gill Sans"/>
              </a:rPr>
              <a:t>Chapter 4: </a:t>
            </a:r>
            <a:r>
              <a:rPr lang="en-US" sz="4400" dirty="0">
                <a:solidFill>
                  <a:srgbClr val="000099"/>
                </a:solidFill>
                <a:latin typeface="Gill Sans"/>
                <a:ea typeface="Gill Sans"/>
                <a:cs typeface="Gill Sans"/>
                <a:sym typeface="Gill Sans"/>
              </a:rPr>
              <a:t>data plane</a:t>
            </a:r>
            <a:endParaRPr dirty="0"/>
          </a:p>
        </p:txBody>
      </p:sp>
      <p:sp>
        <p:nvSpPr>
          <p:cNvPr id="98" name="Google Shape;98;p1"/>
          <p:cNvSpPr txBox="1">
            <a:spLocks noGrp="1"/>
          </p:cNvSpPr>
          <p:nvPr>
            <p:ph type="sldNum" idx="12"/>
          </p:nvPr>
        </p:nvSpPr>
        <p:spPr>
          <a:xfrm>
            <a:off x="8456613" y="6475413"/>
            <a:ext cx="561975" cy="273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a:solidFill>
                  <a:schemeClr val="dk1"/>
                </a:solidFill>
                <a:latin typeface="Tahoma"/>
                <a:ea typeface="Tahoma"/>
                <a:cs typeface="Tahoma"/>
                <a:sym typeface="Tahoma"/>
              </a:rPr>
              <a:t>4-</a:t>
            </a:r>
            <a:fld id="{00000000-1234-1234-1234-123412341234}" type="slidenum">
              <a:rPr lang="en-US" sz="1200" b="0" i="0" u="none" strike="noStrike" cap="none">
                <a:solidFill>
                  <a:schemeClr val="dk1"/>
                </a:solidFill>
                <a:latin typeface="Tahoma"/>
                <a:ea typeface="Tahoma"/>
                <a:cs typeface="Tahoma"/>
                <a:sym typeface="Tahoma"/>
              </a:rPr>
              <a:t>54</a:t>
            </a:fld>
            <a:endParaRPr sz="1200" b="0" i="0" u="none" strike="noStrike" cap="none">
              <a:solidFill>
                <a:schemeClr val="dk1"/>
              </a:solidFill>
              <a:latin typeface="Tahoma"/>
              <a:ea typeface="Tahoma"/>
              <a:cs typeface="Tahoma"/>
              <a:sym typeface="Tahoma"/>
            </a:endParaRPr>
          </a:p>
        </p:txBody>
      </p:sp>
      <p:sp>
        <p:nvSpPr>
          <p:cNvPr id="99" name="Google Shape;99;p1"/>
          <p:cNvSpPr txBox="1">
            <a:spLocks noGrp="1"/>
          </p:cNvSpPr>
          <p:nvPr>
            <p:ph type="ftr" idx="11"/>
          </p:nvPr>
        </p:nvSpPr>
        <p:spPr>
          <a:xfrm>
            <a:off x="6375400" y="6475413"/>
            <a:ext cx="2178050" cy="2413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0" i="0" u="none" strike="noStrike" cap="none">
                <a:solidFill>
                  <a:srgbClr val="000000"/>
                </a:solidFill>
                <a:latin typeface="Tahoma"/>
                <a:ea typeface="Tahoma"/>
                <a:cs typeface="Tahoma"/>
                <a:sym typeface="Tahoma"/>
              </a:rPr>
              <a:t>Network Layer: Data Plane</a:t>
            </a:r>
            <a:endParaRPr/>
          </a:p>
        </p:txBody>
      </p:sp>
      <p:pic>
        <p:nvPicPr>
          <p:cNvPr id="7" name="Picture 6" descr="A picture containing outdoor, water, bridge, building&#10;&#10;Description automatically generated">
            <a:extLst>
              <a:ext uri="{FF2B5EF4-FFF2-40B4-BE49-F238E27FC236}">
                <a16:creationId xmlns:a16="http://schemas.microsoft.com/office/drawing/2014/main" id="{D494D83D-8468-A844-8108-2712A7A8BE0B}"/>
              </a:ext>
            </a:extLst>
          </p:cNvPr>
          <p:cNvPicPr>
            <a:picLocks noChangeAspect="1"/>
          </p:cNvPicPr>
          <p:nvPr/>
        </p:nvPicPr>
        <p:blipFill>
          <a:blip r:embed="rId4"/>
          <a:stretch>
            <a:fillRect/>
          </a:stretch>
        </p:blipFill>
        <p:spPr>
          <a:xfrm>
            <a:off x="5748338" y="488723"/>
            <a:ext cx="3040743" cy="3800929"/>
          </a:xfrm>
          <a:prstGeom prst="rect">
            <a:avLst/>
          </a:prstGeom>
        </p:spPr>
      </p:pic>
    </p:spTree>
    <p:extLst>
      <p:ext uri="{BB962C8B-B14F-4D97-AF65-F5344CB8AC3E}">
        <p14:creationId xmlns:p14="http://schemas.microsoft.com/office/powerpoint/2010/main" val="4043851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7" name="Google Shape;107;p2"/>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b="0" i="0" u="none" strike="noStrike" cap="none" dirty="0">
                <a:latin typeface="Arial"/>
                <a:ea typeface="Arial"/>
                <a:cs typeface="Arial"/>
                <a:sym typeface="Arial"/>
              </a:rPr>
              <a:t>IPv4 Addressing</a:t>
            </a:r>
            <a:endParaRPr sz="2800" b="0" i="0" u="none" strike="noStrike" cap="none" dirty="0">
              <a:latin typeface="Arial"/>
              <a:ea typeface="Arial"/>
              <a:cs typeface="Arial"/>
              <a:sym typeface="Arial"/>
            </a:endParaRPr>
          </a:p>
        </p:txBody>
      </p:sp>
      <p:sp>
        <p:nvSpPr>
          <p:cNvPr id="108" name="Google Shape;108;p2"/>
          <p:cNvSpPr txBox="1"/>
          <p:nvPr/>
        </p:nvSpPr>
        <p:spPr>
          <a:xfrm>
            <a:off x="290915" y="1141512"/>
            <a:ext cx="7772400" cy="43549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0" i="0" u="none" strike="noStrike" cap="none">
                <a:solidFill>
                  <a:srgbClr val="000099"/>
                </a:solidFill>
                <a:latin typeface="Arial"/>
                <a:ea typeface="Arial"/>
                <a:cs typeface="Arial"/>
                <a:sym typeface="Arial"/>
              </a:rPr>
              <a:t>What is an IP Address? </a:t>
            </a:r>
            <a:endParaRPr sz="2800" b="0" i="0" u="none" strike="noStrike" cap="none">
              <a:solidFill>
                <a:srgbClr val="00B9FA"/>
              </a:solidFill>
              <a:latin typeface="Arial"/>
              <a:ea typeface="Arial"/>
              <a:cs typeface="Arial"/>
              <a:sym typeface="Arial"/>
            </a:endParaRPr>
          </a:p>
        </p:txBody>
      </p:sp>
      <p:sp>
        <p:nvSpPr>
          <p:cNvPr id="109" name="Google Shape;109;p2"/>
          <p:cNvSpPr txBox="1"/>
          <p:nvPr/>
        </p:nvSpPr>
        <p:spPr>
          <a:xfrm>
            <a:off x="290915" y="1798154"/>
            <a:ext cx="7772400" cy="435497"/>
          </a:xfrm>
          <a:prstGeom prst="rect">
            <a:avLst/>
          </a:prstGeom>
          <a:noFill/>
          <a:ln>
            <a:noFill/>
          </a:ln>
        </p:spPr>
        <p:txBody>
          <a:bodyPr spcFirstLastPara="1" wrap="square" lIns="91425" tIns="45700" rIns="91425" bIns="45700" anchor="t" anchorCtr="0">
            <a:noAutofit/>
          </a:bodyPr>
          <a:lstStyle/>
          <a:p>
            <a:pPr marL="342900" marR="0" lvl="0" indent="-342900" algn="l" rtl="0">
              <a:lnSpc>
                <a:spcPct val="85000"/>
              </a:lnSpc>
              <a:spcBef>
                <a:spcPts val="0"/>
              </a:spcBef>
              <a:spcAft>
                <a:spcPts val="0"/>
              </a:spcAft>
              <a:buClr>
                <a:srgbClr val="000099"/>
              </a:buClr>
              <a:buSzPts val="1560"/>
              <a:buFont typeface="Noto Sans Symbols"/>
              <a:buChar char="❖"/>
            </a:pPr>
            <a:r>
              <a:rPr lang="en-US" sz="2400" b="0" i="0" u="none" strike="noStrike" cap="none">
                <a:solidFill>
                  <a:schemeClr val="dk1"/>
                </a:solidFill>
                <a:latin typeface="Arial"/>
                <a:ea typeface="Arial"/>
                <a:cs typeface="Arial"/>
                <a:sym typeface="Arial"/>
              </a:rPr>
              <a:t>IP address is used to identify a host within a network.</a:t>
            </a:r>
            <a:endParaRPr/>
          </a:p>
          <a:p>
            <a:pPr marL="342900" marR="0" lvl="0" indent="-243840" algn="l" rtl="0">
              <a:lnSpc>
                <a:spcPct val="85000"/>
              </a:lnSpc>
              <a:spcBef>
                <a:spcPts val="480"/>
              </a:spcBef>
              <a:spcAft>
                <a:spcPts val="0"/>
              </a:spcAft>
              <a:buClr>
                <a:srgbClr val="000099"/>
              </a:buClr>
              <a:buSzPts val="1560"/>
              <a:buFont typeface="Noto Sans Symbols"/>
              <a:buNone/>
            </a:pPr>
            <a:endParaRPr sz="2400" b="0" i="0" u="none" strike="noStrike" cap="none">
              <a:solidFill>
                <a:schemeClr val="dk1"/>
              </a:solidFill>
              <a:latin typeface="Arial"/>
              <a:ea typeface="Arial"/>
              <a:cs typeface="Arial"/>
              <a:sym typeface="Arial"/>
            </a:endParaRPr>
          </a:p>
        </p:txBody>
      </p:sp>
      <p:sp>
        <p:nvSpPr>
          <p:cNvPr id="110" name="Google Shape;110;p2"/>
          <p:cNvSpPr txBox="1"/>
          <p:nvPr/>
        </p:nvSpPr>
        <p:spPr>
          <a:xfrm>
            <a:off x="290915" y="2378596"/>
            <a:ext cx="8304445" cy="2308333"/>
          </a:xfrm>
          <a:prstGeom prst="rect">
            <a:avLst/>
          </a:prstGeom>
          <a:noFill/>
          <a:ln>
            <a:noFill/>
          </a:ln>
        </p:spPr>
        <p:txBody>
          <a:bodyPr spcFirstLastPara="1" wrap="square" lIns="91425" tIns="45700" rIns="91425" bIns="45700" anchor="t" anchorCtr="0">
            <a:noAutofit/>
          </a:bodyPr>
          <a:lstStyle/>
          <a:p>
            <a:pPr marL="742950" marR="0" lvl="1" indent="-285750" algn="l" rtl="0">
              <a:lnSpc>
                <a:spcPct val="85000"/>
              </a:lnSpc>
              <a:spcBef>
                <a:spcPts val="0"/>
              </a:spcBef>
              <a:spcAft>
                <a:spcPts val="0"/>
              </a:spcAft>
              <a:buClr>
                <a:srgbClr val="000099"/>
              </a:buClr>
              <a:buSzPts val="2200"/>
              <a:buFont typeface="Noto Sans Symbols"/>
              <a:buChar char="▪"/>
            </a:pPr>
            <a:r>
              <a:rPr lang="en-US" sz="2200" b="0" i="0" u="none" strike="noStrike" cap="none">
                <a:solidFill>
                  <a:schemeClr val="dk1"/>
                </a:solidFill>
                <a:latin typeface="Arial"/>
                <a:ea typeface="Arial"/>
                <a:cs typeface="Arial"/>
                <a:sym typeface="Arial"/>
              </a:rPr>
              <a:t>are written in a so-called </a:t>
            </a:r>
            <a:r>
              <a:rPr lang="en-US" sz="2200" b="1" i="1" u="none" strike="noStrike" cap="none">
                <a:solidFill>
                  <a:schemeClr val="accent2"/>
                </a:solidFill>
                <a:latin typeface="Arial"/>
                <a:ea typeface="Arial"/>
                <a:cs typeface="Arial"/>
                <a:sym typeface="Arial"/>
              </a:rPr>
              <a:t>dotted decimal </a:t>
            </a:r>
            <a:r>
              <a:rPr lang="en-US" sz="2200" b="1" i="0" u="none" strike="noStrike" cap="none">
                <a:solidFill>
                  <a:schemeClr val="accent2"/>
                </a:solidFill>
                <a:latin typeface="Arial"/>
                <a:ea typeface="Arial"/>
                <a:cs typeface="Arial"/>
                <a:sym typeface="Arial"/>
              </a:rPr>
              <a:t>notation</a:t>
            </a:r>
            <a:endParaRPr/>
          </a:p>
          <a:p>
            <a:pPr marL="742950" marR="0" lvl="1" indent="-285750" algn="l" rtl="0">
              <a:lnSpc>
                <a:spcPct val="85000"/>
              </a:lnSpc>
              <a:spcBef>
                <a:spcPts val="440"/>
              </a:spcBef>
              <a:spcAft>
                <a:spcPts val="0"/>
              </a:spcAft>
              <a:buClr>
                <a:srgbClr val="000099"/>
              </a:buClr>
              <a:buSzPts val="2200"/>
              <a:buFont typeface="Noto Sans Symbols"/>
              <a:buChar char="▪"/>
            </a:pPr>
            <a:r>
              <a:rPr lang="en-US" sz="2200" b="0" i="0" u="none" strike="noStrike" cap="none">
                <a:solidFill>
                  <a:schemeClr val="dk1"/>
                </a:solidFill>
                <a:latin typeface="Arial"/>
                <a:ea typeface="Arial"/>
                <a:cs typeface="Arial"/>
                <a:sym typeface="Arial"/>
              </a:rPr>
              <a:t>Each byte is identified by a decimal number in the range [0…255]:</a:t>
            </a:r>
            <a:endParaRPr/>
          </a:p>
          <a:p>
            <a:pPr marL="342900" marR="0" lvl="0" indent="-330517" algn="l" rtl="0">
              <a:lnSpc>
                <a:spcPct val="85000"/>
              </a:lnSpc>
              <a:spcBef>
                <a:spcPts val="60"/>
              </a:spcBef>
              <a:spcAft>
                <a:spcPts val="0"/>
              </a:spcAft>
              <a:buClr>
                <a:srgbClr val="000099"/>
              </a:buClr>
              <a:buSzPts val="195"/>
              <a:buFont typeface="Noto Sans Symbols"/>
              <a:buNone/>
            </a:pPr>
            <a:endParaRPr sz="300" b="1" i="0" u="none" strike="noStrike" cap="none">
              <a:solidFill>
                <a:srgbClr val="0000FF"/>
              </a:solidFill>
              <a:latin typeface="Arial"/>
              <a:ea typeface="Arial"/>
              <a:cs typeface="Arial"/>
              <a:sym typeface="Arial"/>
            </a:endParaRPr>
          </a:p>
          <a:p>
            <a:pPr marL="342900" marR="0" lvl="0" indent="-342900" algn="l" rtl="0">
              <a:lnSpc>
                <a:spcPct val="85000"/>
              </a:lnSpc>
              <a:spcBef>
                <a:spcPts val="480"/>
              </a:spcBef>
              <a:spcAft>
                <a:spcPts val="0"/>
              </a:spcAft>
              <a:buClr>
                <a:srgbClr val="000099"/>
              </a:buClr>
              <a:buSzPts val="1560"/>
              <a:buFont typeface="Noto Sans Symbols"/>
              <a:buChar char="❖"/>
            </a:pPr>
            <a:r>
              <a:rPr lang="en-US" sz="2400" b="1" i="0" u="none" strike="noStrike" cap="none">
                <a:solidFill>
                  <a:srgbClr val="FF0000"/>
                </a:solidFill>
                <a:latin typeface="Arial"/>
                <a:ea typeface="Arial"/>
                <a:cs typeface="Arial"/>
                <a:sym typeface="Arial"/>
              </a:rPr>
              <a:t>Example:</a:t>
            </a:r>
            <a:r>
              <a:rPr lang="en-US" sz="2400" b="0" i="0" u="none" strike="noStrike" cap="none">
                <a:solidFill>
                  <a:schemeClr val="dk1"/>
                </a:solidFill>
                <a:latin typeface="Arial"/>
                <a:ea typeface="Arial"/>
                <a:cs typeface="Arial"/>
                <a:sym typeface="Arial"/>
              </a:rPr>
              <a:t> 		      </a:t>
            </a:r>
            <a:endParaRPr/>
          </a:p>
        </p:txBody>
      </p:sp>
      <p:pic>
        <p:nvPicPr>
          <p:cNvPr id="111" name="Google Shape;111;p2"/>
          <p:cNvPicPr preferRelativeResize="0"/>
          <p:nvPr/>
        </p:nvPicPr>
        <p:blipFill rotWithShape="1">
          <a:blip r:embed="rId3">
            <a:alphaModFix/>
          </a:blip>
          <a:srcRect/>
          <a:stretch/>
        </p:blipFill>
        <p:spPr>
          <a:xfrm>
            <a:off x="1198173" y="3954086"/>
            <a:ext cx="7051633" cy="2410691"/>
          </a:xfrm>
          <a:prstGeom prst="rect">
            <a:avLst/>
          </a:prstGeom>
          <a:noFill/>
          <a:ln>
            <a:noFill/>
          </a:ln>
        </p:spPr>
      </p:pic>
      <p:sp>
        <p:nvSpPr>
          <p:cNvPr id="10" name="Right Triangle 9">
            <a:extLst>
              <a:ext uri="{FF2B5EF4-FFF2-40B4-BE49-F238E27FC236}">
                <a16:creationId xmlns:a16="http://schemas.microsoft.com/office/drawing/2014/main" id="{48A9D3BF-AF49-D241-949F-7FBBDD211A38}"/>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71791" y="6364777"/>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55</a:t>
            </a:fld>
            <a:endParaRPr lang="en-US" altLang="en-US" dirty="0">
              <a:latin typeface="Tahoma" panose="020B0604030504040204" pitchFamily="34" charset="0"/>
            </a:endParaRPr>
          </a:p>
        </p:txBody>
      </p:sp>
    </p:spTree>
    <p:extLst>
      <p:ext uri="{BB962C8B-B14F-4D97-AF65-F5344CB8AC3E}">
        <p14:creationId xmlns:p14="http://schemas.microsoft.com/office/powerpoint/2010/main" val="24918185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p:nvPr/>
        </p:nvSpPr>
        <p:spPr>
          <a:xfrm>
            <a:off x="687659" y="4413875"/>
            <a:ext cx="3096103" cy="1464025"/>
          </a:xfrm>
          <a:prstGeom prst="rect">
            <a:avLst/>
          </a:prstGeom>
          <a:solidFill>
            <a:srgbClr val="53A9D6">
              <a:alpha val="49803"/>
            </a:srgbClr>
          </a:solidFill>
          <a:ln w="9525" cap="flat" cmpd="sng">
            <a:solidFill>
              <a:srgbClr val="A5A5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7" name="Google Shape;117;p3"/>
          <p:cNvSpPr/>
          <p:nvPr/>
        </p:nvSpPr>
        <p:spPr>
          <a:xfrm>
            <a:off x="692688" y="3495253"/>
            <a:ext cx="3096103" cy="724242"/>
          </a:xfrm>
          <a:prstGeom prst="rect">
            <a:avLst/>
          </a:prstGeom>
          <a:solidFill>
            <a:srgbClr val="53A9D6">
              <a:alpha val="49803"/>
            </a:srgbClr>
          </a:solidFill>
          <a:ln w="9525" cap="flat" cmpd="sng">
            <a:solidFill>
              <a:srgbClr val="A5A5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18" name="Google Shape;118;p3" descr="Screen Shot 2016-04-08 at 12.00.11 PM.png"/>
          <p:cNvPicPr preferRelativeResize="0"/>
          <p:nvPr/>
        </p:nvPicPr>
        <p:blipFill rotWithShape="1">
          <a:blip r:embed="rId3">
            <a:alphaModFix/>
          </a:blip>
          <a:srcRect/>
          <a:stretch/>
        </p:blipFill>
        <p:spPr>
          <a:xfrm>
            <a:off x="3993446" y="1203887"/>
            <a:ext cx="5150557" cy="3628920"/>
          </a:xfrm>
          <a:prstGeom prst="rect">
            <a:avLst/>
          </a:prstGeom>
          <a:noFill/>
          <a:ln>
            <a:noFill/>
          </a:ln>
        </p:spPr>
      </p:pic>
      <p:sp>
        <p:nvSpPr>
          <p:cNvPr id="119" name="Google Shape;119;p3"/>
          <p:cNvSpPr txBox="1">
            <a:spLocks noGrp="1"/>
          </p:cNvSpPr>
          <p:nvPr>
            <p:ph type="body" idx="1"/>
          </p:nvPr>
        </p:nvSpPr>
        <p:spPr>
          <a:xfrm>
            <a:off x="111426" y="2340665"/>
            <a:ext cx="3695700" cy="1091611"/>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1430"/>
              <a:buChar char="❖"/>
            </a:pPr>
            <a:r>
              <a:rPr lang="en-US" sz="2200" i="1" dirty="0">
                <a:solidFill>
                  <a:srgbClr val="CC0000"/>
                </a:solidFill>
                <a:latin typeface="Arial"/>
                <a:ea typeface="Arial"/>
                <a:cs typeface="Arial"/>
                <a:sym typeface="Arial"/>
              </a:rPr>
              <a:t>Interface:</a:t>
            </a:r>
            <a:r>
              <a:rPr lang="en-US" sz="2200" dirty="0">
                <a:latin typeface="Arial"/>
                <a:ea typeface="Arial"/>
                <a:cs typeface="Arial"/>
                <a:sym typeface="Arial"/>
              </a:rPr>
              <a:t> connection between host/router and physical link.</a:t>
            </a:r>
            <a:endParaRPr dirty="0"/>
          </a:p>
        </p:txBody>
      </p:sp>
      <p:sp>
        <p:nvSpPr>
          <p:cNvPr id="123" name="Google Shape;123;p3"/>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b="0" i="0" u="none" strike="noStrike" cap="none" dirty="0">
                <a:latin typeface="Arial"/>
                <a:ea typeface="Arial"/>
                <a:cs typeface="Arial"/>
                <a:sym typeface="Arial"/>
              </a:rPr>
              <a:t>IPv4 Addressing</a:t>
            </a:r>
            <a:endParaRPr sz="2800" b="0" i="0" u="none" strike="noStrike" cap="none" dirty="0">
              <a:latin typeface="Arial"/>
              <a:ea typeface="Arial"/>
              <a:cs typeface="Arial"/>
              <a:sym typeface="Arial"/>
            </a:endParaRPr>
          </a:p>
        </p:txBody>
      </p:sp>
      <p:sp>
        <p:nvSpPr>
          <p:cNvPr id="124" name="Google Shape;124;p3"/>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b="0" i="0" u="none" strike="noStrike" cap="none">
                <a:solidFill>
                  <a:srgbClr val="00B9FA"/>
                </a:solidFill>
                <a:latin typeface="Arial"/>
                <a:ea typeface="Arial"/>
                <a:cs typeface="Arial"/>
                <a:sym typeface="Arial"/>
              </a:rPr>
              <a:t>Addresses</a:t>
            </a:r>
            <a:endParaRPr/>
          </a:p>
        </p:txBody>
      </p:sp>
      <p:grpSp>
        <p:nvGrpSpPr>
          <p:cNvPr id="125" name="Google Shape;125;p3"/>
          <p:cNvGrpSpPr/>
          <p:nvPr/>
        </p:nvGrpSpPr>
        <p:grpSpPr>
          <a:xfrm>
            <a:off x="4504944" y="1472587"/>
            <a:ext cx="4012956" cy="2570713"/>
            <a:chOff x="4504944" y="1472587"/>
            <a:chExt cx="4012956" cy="2570713"/>
          </a:xfrm>
        </p:grpSpPr>
        <p:sp>
          <p:nvSpPr>
            <p:cNvPr id="126" name="Google Shape;126;p3"/>
            <p:cNvSpPr/>
            <p:nvPr/>
          </p:nvSpPr>
          <p:spPr>
            <a:xfrm>
              <a:off x="4528195" y="1472587"/>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7" name="Google Shape;127;p3"/>
            <p:cNvSpPr/>
            <p:nvPr/>
          </p:nvSpPr>
          <p:spPr>
            <a:xfrm>
              <a:off x="4504944" y="2462605"/>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 name="Google Shape;128;p3"/>
            <p:cNvSpPr/>
            <p:nvPr/>
          </p:nvSpPr>
          <p:spPr>
            <a:xfrm>
              <a:off x="4518455" y="3435323"/>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9" name="Google Shape;129;p3"/>
            <p:cNvSpPr/>
            <p:nvPr/>
          </p:nvSpPr>
          <p:spPr>
            <a:xfrm>
              <a:off x="5869619" y="3800092"/>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0" name="Google Shape;130;p3"/>
            <p:cNvSpPr/>
            <p:nvPr/>
          </p:nvSpPr>
          <p:spPr>
            <a:xfrm>
              <a:off x="7004597" y="3813602"/>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1" name="Google Shape;131;p3"/>
            <p:cNvSpPr/>
            <p:nvPr/>
          </p:nvSpPr>
          <p:spPr>
            <a:xfrm>
              <a:off x="8288202" y="3165123"/>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2" name="Google Shape;132;p3"/>
            <p:cNvSpPr/>
            <p:nvPr/>
          </p:nvSpPr>
          <p:spPr>
            <a:xfrm>
              <a:off x="8288202" y="1719556"/>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33" name="Google Shape;133;p3"/>
          <p:cNvGrpSpPr/>
          <p:nvPr/>
        </p:nvGrpSpPr>
        <p:grpSpPr>
          <a:xfrm>
            <a:off x="6058782" y="2449095"/>
            <a:ext cx="932303" cy="459367"/>
            <a:chOff x="6058782" y="2449095"/>
            <a:chExt cx="932303" cy="459367"/>
          </a:xfrm>
        </p:grpSpPr>
        <p:sp>
          <p:nvSpPr>
            <p:cNvPr id="134" name="Google Shape;134;p3"/>
            <p:cNvSpPr/>
            <p:nvPr/>
          </p:nvSpPr>
          <p:spPr>
            <a:xfrm>
              <a:off x="6058782" y="2462605"/>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5" name="Google Shape;135;p3"/>
            <p:cNvSpPr/>
            <p:nvPr/>
          </p:nvSpPr>
          <p:spPr>
            <a:xfrm>
              <a:off x="6761387" y="2449095"/>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6" name="Google Shape;136;p3"/>
            <p:cNvSpPr/>
            <p:nvPr/>
          </p:nvSpPr>
          <p:spPr>
            <a:xfrm>
              <a:off x="6410085" y="2678764"/>
              <a:ext cx="229698" cy="229698"/>
            </a:xfrm>
            <a:prstGeom prst="ellipse">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37" name="Google Shape;137;p3"/>
          <p:cNvSpPr txBox="1"/>
          <p:nvPr/>
        </p:nvSpPr>
        <p:spPr>
          <a:xfrm>
            <a:off x="111426" y="1133895"/>
            <a:ext cx="3695700" cy="112227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99"/>
              </a:buClr>
              <a:buSzPts val="1430"/>
              <a:buFont typeface="Noto Sans Symbols"/>
              <a:buChar char="❖"/>
            </a:pPr>
            <a:r>
              <a:rPr lang="en-US" sz="2200" b="0" i="1" u="none" strike="noStrike" cap="none" dirty="0">
                <a:solidFill>
                  <a:srgbClr val="CC0000"/>
                </a:solidFill>
                <a:latin typeface="Arial"/>
                <a:ea typeface="Arial"/>
                <a:cs typeface="Arial"/>
                <a:sym typeface="Arial"/>
              </a:rPr>
              <a:t>IP address:</a:t>
            </a:r>
            <a:r>
              <a:rPr lang="en-US" sz="2200" b="0" i="0" u="none" strike="noStrike" cap="none" dirty="0">
                <a:solidFill>
                  <a:schemeClr val="dk1"/>
                </a:solidFill>
                <a:latin typeface="Arial"/>
                <a:ea typeface="Arial"/>
                <a:cs typeface="Arial"/>
                <a:sym typeface="Arial"/>
              </a:rPr>
              <a:t> 32-bit identifier for each host</a:t>
            </a:r>
            <a:r>
              <a:rPr lang="en-US" sz="2200" dirty="0">
                <a:solidFill>
                  <a:schemeClr val="dk1"/>
                </a:solidFill>
                <a:latin typeface="Arial"/>
                <a:ea typeface="Arial"/>
                <a:cs typeface="Arial"/>
                <a:sym typeface="Arial"/>
              </a:rPr>
              <a:t> or</a:t>
            </a:r>
            <a:r>
              <a:rPr lang="en-US" sz="2200" b="0" i="0" u="none" strike="noStrike" cap="none" dirty="0">
                <a:solidFill>
                  <a:schemeClr val="dk1"/>
                </a:solidFill>
                <a:latin typeface="Arial"/>
                <a:ea typeface="Arial"/>
                <a:cs typeface="Arial"/>
                <a:sym typeface="Arial"/>
              </a:rPr>
              <a:t> router </a:t>
            </a:r>
            <a:r>
              <a:rPr lang="en-US" sz="2200" b="0" i="1" u="sng" strike="noStrike" cap="none" dirty="0">
                <a:solidFill>
                  <a:schemeClr val="dk1"/>
                </a:solidFill>
                <a:latin typeface="Arial"/>
                <a:ea typeface="Arial"/>
                <a:cs typeface="Arial"/>
                <a:sym typeface="Arial"/>
              </a:rPr>
              <a:t>interface</a:t>
            </a:r>
            <a:r>
              <a:rPr lang="en-US" sz="2200" b="0" i="0" u="none" strike="noStrike" cap="none" dirty="0">
                <a:solidFill>
                  <a:schemeClr val="dk1"/>
                </a:solidFill>
                <a:latin typeface="Arial"/>
                <a:ea typeface="Arial"/>
                <a:cs typeface="Arial"/>
                <a:sym typeface="Arial"/>
              </a:rPr>
              <a:t> </a:t>
            </a:r>
            <a:endParaRPr sz="2200" b="0" i="0" u="none" strike="noStrike" cap="none" dirty="0">
              <a:solidFill>
                <a:schemeClr val="dk1"/>
              </a:solidFill>
              <a:latin typeface="Arial"/>
              <a:ea typeface="Arial"/>
              <a:cs typeface="Arial"/>
              <a:sym typeface="Arial"/>
            </a:endParaRPr>
          </a:p>
        </p:txBody>
      </p:sp>
      <p:sp>
        <p:nvSpPr>
          <p:cNvPr id="138" name="Google Shape;138;p3"/>
          <p:cNvSpPr txBox="1"/>
          <p:nvPr/>
        </p:nvSpPr>
        <p:spPr>
          <a:xfrm>
            <a:off x="153407" y="3453566"/>
            <a:ext cx="3695700" cy="881389"/>
          </a:xfrm>
          <a:prstGeom prst="rect">
            <a:avLst/>
          </a:prstGeom>
          <a:noFill/>
          <a:ln>
            <a:noFill/>
          </a:ln>
        </p:spPr>
        <p:txBody>
          <a:bodyPr spcFirstLastPara="1" wrap="square" lIns="91425" tIns="45700" rIns="91425" bIns="45700" anchor="t" anchorCtr="0">
            <a:noAutofit/>
          </a:bodyPr>
          <a:lstStyle/>
          <a:p>
            <a:pPr marL="742950" marR="0" lvl="1" indent="-285750" algn="l" rtl="0">
              <a:lnSpc>
                <a:spcPct val="100000"/>
              </a:lnSpc>
              <a:spcBef>
                <a:spcPts val="0"/>
              </a:spcBef>
              <a:spcAft>
                <a:spcPts val="0"/>
              </a:spcAft>
              <a:buClr>
                <a:srgbClr val="000099"/>
              </a:buClr>
              <a:buSzPts val="2200"/>
              <a:buFont typeface="Noto Sans Symbols"/>
              <a:buChar char="▪"/>
            </a:pPr>
            <a:r>
              <a:rPr lang="en-US" sz="2200" b="0" i="0" u="sng" strike="noStrike" cap="none">
                <a:solidFill>
                  <a:schemeClr val="dk1"/>
                </a:solidFill>
                <a:latin typeface="Arial"/>
                <a:ea typeface="Arial"/>
                <a:cs typeface="Arial"/>
                <a:sym typeface="Arial"/>
              </a:rPr>
              <a:t>router</a:t>
            </a:r>
            <a:r>
              <a:rPr lang="en-US" sz="2200" b="0" i="0" u="none" strike="noStrike" cap="none">
                <a:solidFill>
                  <a:schemeClr val="dk1"/>
                </a:solidFill>
                <a:latin typeface="Arial"/>
                <a:ea typeface="Arial"/>
                <a:cs typeface="Arial"/>
                <a:sym typeface="Arial"/>
              </a:rPr>
              <a:t>'s typically have multiple interfaces.</a:t>
            </a:r>
            <a:endParaRPr/>
          </a:p>
        </p:txBody>
      </p:sp>
      <p:sp>
        <p:nvSpPr>
          <p:cNvPr id="139" name="Google Shape;139;p3"/>
          <p:cNvSpPr txBox="1"/>
          <p:nvPr/>
        </p:nvSpPr>
        <p:spPr>
          <a:xfrm>
            <a:off x="148379" y="4414174"/>
            <a:ext cx="3695700" cy="1463728"/>
          </a:xfrm>
          <a:prstGeom prst="rect">
            <a:avLst/>
          </a:prstGeom>
          <a:noFill/>
          <a:ln>
            <a:noFill/>
          </a:ln>
        </p:spPr>
        <p:txBody>
          <a:bodyPr spcFirstLastPara="1" wrap="square" lIns="91425" tIns="45700" rIns="91425" bIns="45700" anchor="t" anchorCtr="0">
            <a:noAutofit/>
          </a:bodyPr>
          <a:lstStyle/>
          <a:p>
            <a:pPr marL="742950" marR="0" lvl="1" indent="-285750" algn="l" rtl="0">
              <a:lnSpc>
                <a:spcPct val="100000"/>
              </a:lnSpc>
              <a:spcBef>
                <a:spcPts val="0"/>
              </a:spcBef>
              <a:spcAft>
                <a:spcPts val="0"/>
              </a:spcAft>
              <a:buClr>
                <a:srgbClr val="000099"/>
              </a:buClr>
              <a:buSzPts val="2200"/>
              <a:buFont typeface="Noto Sans Symbols"/>
              <a:buChar char="▪"/>
            </a:pPr>
            <a:r>
              <a:rPr lang="en-US" sz="2200" b="0" i="0" u="sng" strike="noStrike" cap="none">
                <a:solidFill>
                  <a:schemeClr val="dk1"/>
                </a:solidFill>
                <a:latin typeface="Arial"/>
                <a:ea typeface="Arial"/>
                <a:cs typeface="Arial"/>
                <a:sym typeface="Arial"/>
              </a:rPr>
              <a:t>host</a:t>
            </a:r>
            <a:r>
              <a:rPr lang="en-US" sz="2200" b="0" i="0" u="none" strike="noStrike" cap="none">
                <a:solidFill>
                  <a:schemeClr val="dk1"/>
                </a:solidFill>
                <a:latin typeface="Arial"/>
                <a:ea typeface="Arial"/>
                <a:cs typeface="Arial"/>
                <a:sym typeface="Arial"/>
              </a:rPr>
              <a:t> typically has one or two interfaces.  (e.g., wired Ethernet, wireless 802.11)</a:t>
            </a:r>
            <a:endParaRPr/>
          </a:p>
          <a:p>
            <a:pPr marL="742950" marR="0" lvl="1" indent="-222250" algn="l" rtl="0">
              <a:lnSpc>
                <a:spcPct val="100000"/>
              </a:lnSpc>
              <a:spcBef>
                <a:spcPts val="200"/>
              </a:spcBef>
              <a:spcAft>
                <a:spcPts val="0"/>
              </a:spcAft>
              <a:buClr>
                <a:srgbClr val="000099"/>
              </a:buClr>
              <a:buSzPts val="1000"/>
              <a:buFont typeface="Noto Sans Symbols"/>
              <a:buNone/>
            </a:pPr>
            <a:endParaRPr sz="1000" b="0" i="0" u="none" strike="noStrike" cap="none">
              <a:solidFill>
                <a:schemeClr val="dk1"/>
              </a:solidFill>
              <a:latin typeface="Arial"/>
              <a:ea typeface="Arial"/>
              <a:cs typeface="Arial"/>
              <a:sym typeface="Arial"/>
            </a:endParaRPr>
          </a:p>
        </p:txBody>
      </p:sp>
      <p:sp>
        <p:nvSpPr>
          <p:cNvPr id="140" name="Google Shape;140;p3"/>
          <p:cNvSpPr txBox="1"/>
          <p:nvPr/>
        </p:nvSpPr>
        <p:spPr>
          <a:xfrm>
            <a:off x="4701879" y="5740634"/>
            <a:ext cx="3757305" cy="872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99"/>
              </a:buClr>
              <a:buSzPts val="1430"/>
              <a:buFont typeface="Noto Sans Symbols"/>
              <a:buNone/>
            </a:pPr>
            <a:r>
              <a:rPr lang="en-US" sz="2200" b="0" i="1" u="none" strike="noStrike" cap="none">
                <a:solidFill>
                  <a:srgbClr val="CC0000"/>
                </a:solidFill>
                <a:latin typeface="Arial"/>
                <a:ea typeface="Arial"/>
                <a:cs typeface="Arial"/>
                <a:sym typeface="Arial"/>
              </a:rPr>
              <a:t>One IP address associated with each interface !</a:t>
            </a:r>
            <a:endParaRPr/>
          </a:p>
        </p:txBody>
      </p:sp>
      <p:sp>
        <p:nvSpPr>
          <p:cNvPr id="27" name="Right Triangle 26">
            <a:extLst>
              <a:ext uri="{FF2B5EF4-FFF2-40B4-BE49-F238E27FC236}">
                <a16:creationId xmlns:a16="http://schemas.microsoft.com/office/drawing/2014/main" id="{1C839709-8346-A64B-B3F5-E9C64D738D87}"/>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5"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288202" y="6313097"/>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56</a:t>
            </a:fld>
            <a:endParaRPr lang="en-US" altLang="en-US" dirty="0">
              <a:latin typeface="Tahoma" panose="020B0604030504040204" pitchFamily="34" charset="0"/>
            </a:endParaRPr>
          </a:p>
        </p:txBody>
      </p:sp>
    </p:spTree>
    <p:extLst>
      <p:ext uri="{BB962C8B-B14F-4D97-AF65-F5344CB8AC3E}">
        <p14:creationId xmlns:p14="http://schemas.microsoft.com/office/powerpoint/2010/main" val="380416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9"/>
                                        </p:tgtEl>
                                        <p:attrNameLst>
                                          <p:attrName>style.visibility</p:attrName>
                                        </p:attrNameLst>
                                      </p:cBhvr>
                                      <p:to>
                                        <p:strVal val="visible"/>
                                      </p:to>
                                    </p:set>
                                  </p:childTnLst>
                                </p:cTn>
                              </p:par>
                              <p:par>
                                <p:cTn id="17" presetID="10" presetClass="exit" presetSubtype="0" fill="hold" nodeType="withEffect">
                                  <p:stCondLst>
                                    <p:cond delay="0"/>
                                  </p:stCondLst>
                                  <p:childTnLst>
                                    <p:animEffect transition="out" filter="fade">
                                      <p:cBhvr>
                                        <p:cTn id="18" dur="500"/>
                                        <p:tgtEl>
                                          <p:spTgt spid="133"/>
                                        </p:tgtEl>
                                      </p:cBhvr>
                                    </p:animEffect>
                                    <p:set>
                                      <p:cBhvr>
                                        <p:cTn id="19" dur="1" fill="hold">
                                          <p:stCondLst>
                                            <p:cond delay="500"/>
                                          </p:stCondLst>
                                        </p:cTn>
                                        <p:tgtEl>
                                          <p:spTgt spid="133"/>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0"/>
                                          </p:stCondLst>
                                        </p:cTn>
                                        <p:tgtEl>
                                          <p:spTgt spid="1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2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40"/>
                                        </p:tgtEl>
                                        <p:attrNameLst>
                                          <p:attrName>style.visibility</p:attrName>
                                        </p:attrNameLst>
                                      </p:cBhvr>
                                      <p:to>
                                        <p:strVal val="visible"/>
                                      </p:to>
                                    </p:set>
                                    <p:animEffect transition="in" filter="fade">
                                      <p:cBhvr>
                                        <p:cTn id="30"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4" descr="Screen Shot 2016-04-08 at 12.00.11 PM.png"/>
          <p:cNvPicPr preferRelativeResize="0"/>
          <p:nvPr/>
        </p:nvPicPr>
        <p:blipFill rotWithShape="1">
          <a:blip r:embed="rId3">
            <a:alphaModFix/>
          </a:blip>
          <a:srcRect/>
          <a:stretch/>
        </p:blipFill>
        <p:spPr>
          <a:xfrm>
            <a:off x="3993446" y="1203887"/>
            <a:ext cx="5150557" cy="3628920"/>
          </a:xfrm>
          <a:prstGeom prst="rect">
            <a:avLst/>
          </a:prstGeom>
          <a:noFill/>
          <a:ln>
            <a:noFill/>
          </a:ln>
        </p:spPr>
      </p:pic>
      <p:grpSp>
        <p:nvGrpSpPr>
          <p:cNvPr id="146" name="Google Shape;146;p4"/>
          <p:cNvGrpSpPr/>
          <p:nvPr/>
        </p:nvGrpSpPr>
        <p:grpSpPr>
          <a:xfrm>
            <a:off x="4850676" y="1553647"/>
            <a:ext cx="567489" cy="1999476"/>
            <a:chOff x="4850676" y="1553647"/>
            <a:chExt cx="567489" cy="1999476"/>
          </a:xfrm>
        </p:grpSpPr>
        <p:pic>
          <p:nvPicPr>
            <p:cNvPr id="147" name="Google Shape;147;p4"/>
            <p:cNvPicPr preferRelativeResize="0"/>
            <p:nvPr/>
          </p:nvPicPr>
          <p:blipFill rotWithShape="1">
            <a:blip r:embed="rId4">
              <a:alphaModFix/>
            </a:blip>
            <a:srcRect/>
            <a:stretch/>
          </p:blipFill>
          <p:spPr>
            <a:xfrm>
              <a:off x="4850676" y="2289184"/>
              <a:ext cx="567489" cy="567489"/>
            </a:xfrm>
            <a:prstGeom prst="rect">
              <a:avLst/>
            </a:prstGeom>
            <a:noFill/>
            <a:ln>
              <a:noFill/>
            </a:ln>
          </p:spPr>
        </p:pic>
        <p:cxnSp>
          <p:nvCxnSpPr>
            <p:cNvPr id="148" name="Google Shape;148;p4"/>
            <p:cNvCxnSpPr/>
            <p:nvPr/>
          </p:nvCxnSpPr>
          <p:spPr>
            <a:xfrm>
              <a:off x="5012817" y="1553647"/>
              <a:ext cx="0" cy="851128"/>
            </a:xfrm>
            <a:prstGeom prst="straightConnector1">
              <a:avLst/>
            </a:prstGeom>
            <a:solidFill>
              <a:schemeClr val="accent1"/>
            </a:solidFill>
            <a:ln w="9525" cap="flat" cmpd="sng">
              <a:solidFill>
                <a:schemeClr val="dk1"/>
              </a:solidFill>
              <a:prstDash val="solid"/>
              <a:round/>
              <a:headEnd type="none" w="sm" len="sm"/>
              <a:tailEnd type="none" w="sm" len="sm"/>
            </a:ln>
          </p:spPr>
        </p:cxnSp>
        <p:cxnSp>
          <p:nvCxnSpPr>
            <p:cNvPr id="149" name="Google Shape;149;p4"/>
            <p:cNvCxnSpPr/>
            <p:nvPr/>
          </p:nvCxnSpPr>
          <p:spPr>
            <a:xfrm flipH="1">
              <a:off x="5012817" y="2597705"/>
              <a:ext cx="3772" cy="955418"/>
            </a:xfrm>
            <a:prstGeom prst="straightConnector1">
              <a:avLst/>
            </a:prstGeom>
            <a:solidFill>
              <a:schemeClr val="accent1"/>
            </a:solidFill>
            <a:ln w="9525" cap="flat" cmpd="sng">
              <a:solidFill>
                <a:schemeClr val="dk1"/>
              </a:solidFill>
              <a:prstDash val="solid"/>
              <a:round/>
              <a:headEnd type="none" w="sm" len="sm"/>
              <a:tailEnd type="none" w="sm" len="sm"/>
            </a:ln>
          </p:spPr>
        </p:cxnSp>
      </p:grpSp>
      <p:sp>
        <p:nvSpPr>
          <p:cNvPr id="153" name="Google Shape;153;p4"/>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b="0" i="0" u="none" strike="noStrike" cap="none">
                <a:latin typeface="Arial"/>
                <a:ea typeface="Arial"/>
                <a:cs typeface="Arial"/>
                <a:sym typeface="Arial"/>
              </a:rPr>
              <a:t>IPv4 Addressing</a:t>
            </a:r>
            <a:endParaRPr sz="2800" b="0" i="0" u="none" strike="noStrike" cap="none">
              <a:latin typeface="Arial"/>
              <a:ea typeface="Arial"/>
              <a:cs typeface="Arial"/>
              <a:sym typeface="Arial"/>
            </a:endParaRPr>
          </a:p>
        </p:txBody>
      </p:sp>
      <p:sp>
        <p:nvSpPr>
          <p:cNvPr id="154" name="Google Shape;154;p4"/>
          <p:cNvSpPr txBox="1">
            <a:spLocks noGrp="1"/>
          </p:cNvSpPr>
          <p:nvPr>
            <p:ph type="body" idx="1"/>
          </p:nvPr>
        </p:nvSpPr>
        <p:spPr>
          <a:xfrm>
            <a:off x="206010" y="1444626"/>
            <a:ext cx="3304445" cy="951734"/>
          </a:xfrm>
          <a:prstGeom prst="rect">
            <a:avLst/>
          </a:prstGeom>
          <a:solidFill>
            <a:srgbClr val="66CCFF">
              <a:alpha val="49803"/>
            </a:srgbClr>
          </a:solid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30"/>
              <a:buFont typeface="Noto Sans Symbols"/>
              <a:buNone/>
            </a:pPr>
            <a:r>
              <a:rPr lang="en-US" sz="2200" i="1">
                <a:solidFill>
                  <a:srgbClr val="CC0000"/>
                </a:solidFill>
                <a:latin typeface="Arial"/>
                <a:ea typeface="Arial"/>
                <a:cs typeface="Arial"/>
                <a:sym typeface="Arial"/>
              </a:rPr>
              <a:t>Q: How are interfaces </a:t>
            </a:r>
            <a:endParaRPr/>
          </a:p>
          <a:p>
            <a:pPr marL="0" lvl="0" indent="0" algn="l" rtl="0">
              <a:lnSpc>
                <a:spcPct val="100000"/>
              </a:lnSpc>
              <a:spcBef>
                <a:spcPts val="440"/>
              </a:spcBef>
              <a:spcAft>
                <a:spcPts val="0"/>
              </a:spcAft>
              <a:buSzPts val="1430"/>
              <a:buFont typeface="Noto Sans Symbols"/>
              <a:buNone/>
            </a:pPr>
            <a:r>
              <a:rPr lang="en-US" sz="2200" i="1">
                <a:solidFill>
                  <a:srgbClr val="CC0000"/>
                </a:solidFill>
                <a:latin typeface="Arial"/>
                <a:ea typeface="Arial"/>
                <a:cs typeface="Arial"/>
                <a:sym typeface="Arial"/>
              </a:rPr>
              <a:t>     actually connected?</a:t>
            </a:r>
            <a:endParaRPr/>
          </a:p>
        </p:txBody>
      </p:sp>
      <p:grpSp>
        <p:nvGrpSpPr>
          <p:cNvPr id="155" name="Google Shape;155;p4"/>
          <p:cNvGrpSpPr/>
          <p:nvPr/>
        </p:nvGrpSpPr>
        <p:grpSpPr>
          <a:xfrm>
            <a:off x="286735" y="2620935"/>
            <a:ext cx="4712571" cy="1783482"/>
            <a:chOff x="601998" y="2620303"/>
            <a:chExt cx="7625508" cy="1784627"/>
          </a:xfrm>
        </p:grpSpPr>
        <p:sp>
          <p:nvSpPr>
            <p:cNvPr id="156" name="Google Shape;156;p4"/>
            <p:cNvSpPr txBox="1"/>
            <p:nvPr/>
          </p:nvSpPr>
          <p:spPr>
            <a:xfrm>
              <a:off x="601998" y="2772666"/>
              <a:ext cx="4300100" cy="16322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1" u="none" strike="noStrike" cap="none">
                  <a:solidFill>
                    <a:srgbClr val="CC0000"/>
                  </a:solidFill>
                  <a:latin typeface="Arial"/>
                  <a:ea typeface="Arial"/>
                  <a:cs typeface="Arial"/>
                  <a:sym typeface="Arial"/>
                </a:rPr>
                <a:t>A: </a:t>
              </a:r>
              <a:r>
                <a:rPr lang="en-US" sz="2000" b="0" i="0" u="none" strike="noStrike" cap="none">
                  <a:solidFill>
                    <a:schemeClr val="dk1"/>
                  </a:solidFill>
                  <a:latin typeface="Arial"/>
                  <a:ea typeface="Arial"/>
                  <a:cs typeface="Arial"/>
                  <a:sym typeface="Arial"/>
                </a:rPr>
                <a:t>wired Ethernet interfaces connected by </a:t>
              </a:r>
              <a:r>
                <a:rPr lang="en-US" sz="2000" b="1" i="0" u="none" strike="noStrike" cap="none">
                  <a:solidFill>
                    <a:srgbClr val="FF0000"/>
                  </a:solidFill>
                  <a:latin typeface="Arial"/>
                  <a:ea typeface="Arial"/>
                  <a:cs typeface="Arial"/>
                  <a:sym typeface="Arial"/>
                </a:rPr>
                <a:t>Ethernet switches</a:t>
              </a:r>
              <a:r>
                <a:rPr lang="en-US" sz="2000" b="0" i="0" u="none" strike="noStrike" cap="none">
                  <a:solidFill>
                    <a:schemeClr val="dk1"/>
                  </a:solidFill>
                  <a:latin typeface="Arial"/>
                  <a:ea typeface="Arial"/>
                  <a:cs typeface="Arial"/>
                  <a:sym typeface="Arial"/>
                </a:rPr>
                <a:t> (Link Layer)</a:t>
              </a:r>
              <a:endParaRPr/>
            </a:p>
          </p:txBody>
        </p:sp>
        <p:cxnSp>
          <p:nvCxnSpPr>
            <p:cNvPr id="157" name="Google Shape;157;p4"/>
            <p:cNvCxnSpPr/>
            <p:nvPr/>
          </p:nvCxnSpPr>
          <p:spPr>
            <a:xfrm flipH="1">
              <a:off x="4593861" y="2620303"/>
              <a:ext cx="3633645" cy="890091"/>
            </a:xfrm>
            <a:prstGeom prst="straightConnector1">
              <a:avLst/>
            </a:prstGeom>
            <a:noFill/>
            <a:ln w="9525" cap="flat" cmpd="sng">
              <a:solidFill>
                <a:srgbClr val="FF0000"/>
              </a:solidFill>
              <a:prstDash val="solid"/>
              <a:round/>
              <a:headEnd type="none" w="med" len="med"/>
              <a:tailEnd type="none" w="med" len="med"/>
            </a:ln>
          </p:spPr>
        </p:cxnSp>
      </p:grpSp>
      <p:grpSp>
        <p:nvGrpSpPr>
          <p:cNvPr id="158" name="Google Shape;158;p4"/>
          <p:cNvGrpSpPr/>
          <p:nvPr/>
        </p:nvGrpSpPr>
        <p:grpSpPr>
          <a:xfrm>
            <a:off x="316169" y="3115452"/>
            <a:ext cx="6507209" cy="2968593"/>
            <a:chOff x="4460995" y="2962774"/>
            <a:chExt cx="9098950" cy="2674144"/>
          </a:xfrm>
        </p:grpSpPr>
        <p:pic>
          <p:nvPicPr>
            <p:cNvPr id="159" name="Google Shape;159;p4" descr="access_point_stylized_small"/>
            <p:cNvPicPr preferRelativeResize="0"/>
            <p:nvPr/>
          </p:nvPicPr>
          <p:blipFill rotWithShape="1">
            <a:blip r:embed="rId5">
              <a:alphaModFix/>
            </a:blip>
            <a:srcRect/>
            <a:stretch/>
          </p:blipFill>
          <p:spPr>
            <a:xfrm>
              <a:off x="12879794" y="2962774"/>
              <a:ext cx="680151" cy="563626"/>
            </a:xfrm>
            <a:prstGeom prst="rect">
              <a:avLst/>
            </a:prstGeom>
            <a:noFill/>
            <a:ln>
              <a:noFill/>
            </a:ln>
          </p:spPr>
        </p:pic>
        <p:sp>
          <p:nvSpPr>
            <p:cNvPr id="160" name="Google Shape;160;p4"/>
            <p:cNvSpPr txBox="1"/>
            <p:nvPr/>
          </p:nvSpPr>
          <p:spPr>
            <a:xfrm>
              <a:off x="4460995" y="4444748"/>
              <a:ext cx="3733308" cy="11921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1" u="none" strike="noStrike" cap="none">
                  <a:solidFill>
                    <a:srgbClr val="CC0000"/>
                  </a:solidFill>
                  <a:latin typeface="Arial"/>
                  <a:ea typeface="Arial"/>
                  <a:cs typeface="Arial"/>
                  <a:sym typeface="Arial"/>
                </a:rPr>
                <a:t>A: </a:t>
              </a:r>
              <a:r>
                <a:rPr lang="en-US" sz="2000" b="0" i="0" u="none" strike="noStrike" cap="none">
                  <a:solidFill>
                    <a:schemeClr val="dk1"/>
                  </a:solidFill>
                  <a:latin typeface="Arial"/>
                  <a:ea typeface="Arial"/>
                  <a:cs typeface="Arial"/>
                  <a:sym typeface="Arial"/>
                </a:rPr>
                <a:t>wireless WiFi interfaces connected by WiFi base station (</a:t>
              </a:r>
              <a:r>
                <a:rPr lang="en-US" sz="2000" b="1" i="0" u="none" strike="noStrike" cap="none">
                  <a:solidFill>
                    <a:srgbClr val="FF0000"/>
                  </a:solidFill>
                  <a:latin typeface="Arial"/>
                  <a:ea typeface="Arial"/>
                  <a:cs typeface="Arial"/>
                  <a:sym typeface="Arial"/>
                </a:rPr>
                <a:t>AP</a:t>
              </a:r>
              <a:r>
                <a:rPr lang="en-US" sz="2000" b="0" i="0" u="none" strike="noStrike" cap="none">
                  <a:solidFill>
                    <a:schemeClr val="dk1"/>
                  </a:solidFill>
                  <a:latin typeface="Arial"/>
                  <a:ea typeface="Arial"/>
                  <a:cs typeface="Arial"/>
                  <a:sym typeface="Arial"/>
                </a:rPr>
                <a:t> – </a:t>
              </a:r>
              <a:r>
                <a:rPr lang="en-US" sz="2000" b="0" i="0" u="none" strike="noStrike" cap="none">
                  <a:solidFill>
                    <a:srgbClr val="FF0000"/>
                  </a:solidFill>
                  <a:latin typeface="Arial"/>
                  <a:ea typeface="Arial"/>
                  <a:cs typeface="Arial"/>
                  <a:sym typeface="Arial"/>
                </a:rPr>
                <a:t>access point</a:t>
              </a:r>
              <a:r>
                <a:rPr lang="en-US" sz="2000" b="0" i="0" u="none" strike="noStrike" cap="none">
                  <a:solidFill>
                    <a:schemeClr val="dk1"/>
                  </a:solidFill>
                  <a:latin typeface="Arial"/>
                  <a:ea typeface="Arial"/>
                  <a:cs typeface="Arial"/>
                  <a:sym typeface="Arial"/>
                </a:rPr>
                <a:t>)</a:t>
              </a:r>
              <a:endParaRPr/>
            </a:p>
          </p:txBody>
        </p:sp>
        <p:cxnSp>
          <p:nvCxnSpPr>
            <p:cNvPr id="161" name="Google Shape;161;p4"/>
            <p:cNvCxnSpPr>
              <a:endCxn id="160" idx="3"/>
            </p:cNvCxnSpPr>
            <p:nvPr/>
          </p:nvCxnSpPr>
          <p:spPr>
            <a:xfrm flipH="1">
              <a:off x="8194303" y="3413333"/>
              <a:ext cx="4613100" cy="1627500"/>
            </a:xfrm>
            <a:prstGeom prst="straightConnector1">
              <a:avLst/>
            </a:prstGeom>
            <a:noFill/>
            <a:ln w="9525" cap="flat" cmpd="sng">
              <a:solidFill>
                <a:srgbClr val="FF0000"/>
              </a:solidFill>
              <a:prstDash val="solid"/>
              <a:round/>
              <a:headEnd type="none" w="med" len="med"/>
              <a:tailEnd type="none" w="med" len="med"/>
            </a:ln>
          </p:spPr>
        </p:cxnSp>
      </p:grpSp>
      <p:sp>
        <p:nvSpPr>
          <p:cNvPr id="162" name="Google Shape;162;p4"/>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b="0" i="0" u="none" strike="noStrike" cap="none">
                <a:solidFill>
                  <a:srgbClr val="00B9FA"/>
                </a:solidFill>
                <a:latin typeface="Arial"/>
                <a:ea typeface="Arial"/>
                <a:cs typeface="Arial"/>
                <a:sym typeface="Arial"/>
              </a:rPr>
              <a:t>Addresses</a:t>
            </a:r>
            <a:endParaRPr/>
          </a:p>
        </p:txBody>
      </p:sp>
      <p:sp>
        <p:nvSpPr>
          <p:cNvPr id="20" name="Right Triangle 19">
            <a:extLst>
              <a:ext uri="{FF2B5EF4-FFF2-40B4-BE49-F238E27FC236}">
                <a16:creationId xmlns:a16="http://schemas.microsoft.com/office/drawing/2014/main" id="{FDF61DAF-EC4B-A14D-AC9E-C31A25A79555}"/>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415609" y="6375250"/>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57</a:t>
            </a:fld>
            <a:endParaRPr lang="en-US" altLang="en-US" dirty="0">
              <a:latin typeface="Tahoma" panose="020B0604030504040204" pitchFamily="34" charset="0"/>
            </a:endParaRPr>
          </a:p>
        </p:txBody>
      </p:sp>
    </p:spTree>
    <p:extLst>
      <p:ext uri="{BB962C8B-B14F-4D97-AF65-F5344CB8AC3E}">
        <p14:creationId xmlns:p14="http://schemas.microsoft.com/office/powerpoint/2010/main" val="53430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par>
                                <p:cTn id="8" presetID="1" presetClass="entr" presetSubtype="0" fill="hold" nodeType="withEffect">
                                  <p:stCondLst>
                                    <p:cond delay="0"/>
                                  </p:stCondLst>
                                  <p:childTnLst>
                                    <p:set>
                                      <p:cBhvr>
                                        <p:cTn id="9" dur="1" fill="hold">
                                          <p:stCondLst>
                                            <p:cond delay="0"/>
                                          </p:stCondLst>
                                        </p:cTn>
                                        <p:tgtEl>
                                          <p:spTgt spid="14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58"/>
                                        </p:tgtEl>
                                        <p:attrNameLst>
                                          <p:attrName>style.visibility</p:attrName>
                                        </p:attrNameLst>
                                      </p:cBhvr>
                                      <p:to>
                                        <p:strVal val="visible"/>
                                      </p:to>
                                    </p:set>
                                    <p:animEffect transition="in" filter="fade">
                                      <p:cBhvr>
                                        <p:cTn id="14"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5"/>
          <p:cNvSpPr txBox="1">
            <a:spLocks noGrp="1"/>
          </p:cNvSpPr>
          <p:nvPr>
            <p:ph type="ctrTitle"/>
          </p:nvPr>
        </p:nvSpPr>
        <p:spPr>
          <a:xfrm>
            <a:off x="403761" y="2130425"/>
            <a:ext cx="8597364"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600" dirty="0">
                <a:solidFill>
                  <a:srgbClr val="0070C0"/>
                </a:solidFill>
                <a:latin typeface="Arial"/>
                <a:ea typeface="Arial"/>
                <a:cs typeface="Arial"/>
                <a:sym typeface="Arial"/>
              </a:rPr>
              <a:t>IPv4 Addressing – </a:t>
            </a:r>
            <a:r>
              <a:rPr lang="en-US" sz="3600" b="1" dirty="0">
                <a:solidFill>
                  <a:srgbClr val="0070C0"/>
                </a:solidFill>
                <a:latin typeface="Arial"/>
                <a:ea typeface="Arial"/>
                <a:cs typeface="Arial"/>
                <a:sym typeface="Arial"/>
              </a:rPr>
              <a:t>Subnet/</a:t>
            </a:r>
            <a:r>
              <a:rPr lang="en-US" sz="3600" b="1" dirty="0" err="1">
                <a:solidFill>
                  <a:srgbClr val="0070C0"/>
                </a:solidFill>
                <a:latin typeface="Arial"/>
                <a:ea typeface="Arial"/>
                <a:cs typeface="Arial"/>
                <a:sym typeface="Arial"/>
              </a:rPr>
              <a:t>Subnetting</a:t>
            </a:r>
            <a:endParaRPr dirty="0"/>
          </a:p>
        </p:txBody>
      </p:sp>
      <p:sp>
        <p:nvSpPr>
          <p:cNvPr id="171" name="Google Shape;171;p5"/>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4-</a:t>
            </a:r>
            <a:fld id="{00000000-1234-1234-1234-123412341234}" type="slidenum">
              <a:rPr lang="en-US"/>
              <a:t>58</a:t>
            </a:fld>
            <a:endParaRPr/>
          </a:p>
        </p:txBody>
      </p:sp>
    </p:spTree>
    <p:extLst>
      <p:ext uri="{BB962C8B-B14F-4D97-AF65-F5344CB8AC3E}">
        <p14:creationId xmlns:p14="http://schemas.microsoft.com/office/powerpoint/2010/main" val="4089392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6" descr="Screen Shot 2016-04-08 at 12.03.18 PM.png"/>
          <p:cNvPicPr preferRelativeResize="0"/>
          <p:nvPr/>
        </p:nvPicPr>
        <p:blipFill rotWithShape="1">
          <a:blip r:embed="rId3">
            <a:alphaModFix/>
          </a:blip>
          <a:srcRect/>
          <a:stretch/>
        </p:blipFill>
        <p:spPr>
          <a:xfrm>
            <a:off x="3965222" y="1183076"/>
            <a:ext cx="5178778" cy="3524520"/>
          </a:xfrm>
          <a:prstGeom prst="rect">
            <a:avLst/>
          </a:prstGeom>
          <a:noFill/>
          <a:ln>
            <a:noFill/>
          </a:ln>
        </p:spPr>
      </p:pic>
      <p:sp>
        <p:nvSpPr>
          <p:cNvPr id="180" name="Google Shape;180;p6"/>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b="0" i="0" u="none" strike="noStrike" cap="none" dirty="0">
                <a:latin typeface="Arial"/>
                <a:ea typeface="Arial"/>
                <a:cs typeface="Arial"/>
                <a:sym typeface="Arial"/>
              </a:rPr>
              <a:t>IPv4 Addressing</a:t>
            </a:r>
            <a:endParaRPr sz="2800" b="0" i="0" u="none" strike="noStrike" cap="none" dirty="0">
              <a:latin typeface="Arial"/>
              <a:ea typeface="Arial"/>
              <a:cs typeface="Arial"/>
              <a:sym typeface="Arial"/>
            </a:endParaRPr>
          </a:p>
        </p:txBody>
      </p:sp>
      <p:sp>
        <p:nvSpPr>
          <p:cNvPr id="181" name="Google Shape;181;p6"/>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b="0" i="0" u="none" strike="noStrike" cap="none">
                <a:solidFill>
                  <a:srgbClr val="00B9FA"/>
                </a:solidFill>
                <a:latin typeface="Arial"/>
                <a:ea typeface="Arial"/>
                <a:cs typeface="Arial"/>
                <a:sym typeface="Arial"/>
              </a:rPr>
              <a:t>Subnets</a:t>
            </a:r>
            <a:endParaRPr/>
          </a:p>
        </p:txBody>
      </p:sp>
      <p:pic>
        <p:nvPicPr>
          <p:cNvPr id="182" name="Google Shape;182;p6" descr="Screen Shot 2016-04-08 at 12.00.11 PM.png"/>
          <p:cNvPicPr preferRelativeResize="0"/>
          <p:nvPr/>
        </p:nvPicPr>
        <p:blipFill rotWithShape="1">
          <a:blip r:embed="rId4">
            <a:alphaModFix/>
          </a:blip>
          <a:srcRect l="33754" t="59059" r="35014" b="30829"/>
          <a:stretch/>
        </p:blipFill>
        <p:spPr>
          <a:xfrm>
            <a:off x="5715001" y="3316113"/>
            <a:ext cx="1608667" cy="366888"/>
          </a:xfrm>
          <a:prstGeom prst="rect">
            <a:avLst/>
          </a:prstGeom>
          <a:noFill/>
          <a:ln>
            <a:noFill/>
          </a:ln>
        </p:spPr>
      </p:pic>
      <p:grpSp>
        <p:nvGrpSpPr>
          <p:cNvPr id="183" name="Google Shape;183;p6"/>
          <p:cNvGrpSpPr/>
          <p:nvPr/>
        </p:nvGrpSpPr>
        <p:grpSpPr>
          <a:xfrm>
            <a:off x="92495" y="1091609"/>
            <a:ext cx="2825193" cy="2582085"/>
            <a:chOff x="92495" y="1091609"/>
            <a:chExt cx="2825193" cy="2582085"/>
          </a:xfrm>
        </p:grpSpPr>
        <p:sp>
          <p:nvSpPr>
            <p:cNvPr id="184" name="Google Shape;184;p6"/>
            <p:cNvSpPr/>
            <p:nvPr/>
          </p:nvSpPr>
          <p:spPr>
            <a:xfrm>
              <a:off x="178424" y="1091609"/>
              <a:ext cx="2739264" cy="2582085"/>
            </a:xfrm>
            <a:prstGeom prst="wedgeEllipseCallout">
              <a:avLst>
                <a:gd name="adj1" fmla="val 79777"/>
                <a:gd name="adj2" fmla="val 5248"/>
              </a:avLst>
            </a:prstGeom>
            <a:solidFill>
              <a:srgbClr val="FFFF00">
                <a:alpha val="49803"/>
              </a:srgbClr>
            </a:solidFill>
            <a:ln w="9525" cap="flat" cmpd="sng">
              <a:solidFill>
                <a:srgbClr val="A5A5A5"/>
              </a:solidFill>
              <a:prstDash val="solid"/>
              <a:round/>
              <a:headEnd type="none" w="sm" len="sm"/>
              <a:tailEnd type="none" w="sm" len="sm"/>
            </a:ln>
            <a:effectLst>
              <a:outerShdw blurRad="50800" dist="139700" dir="2700000" algn="tl" rotWithShape="0">
                <a:srgbClr val="000000">
                  <a:alpha val="42745"/>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5" name="Google Shape;185;p6"/>
            <p:cNvSpPr/>
            <p:nvPr/>
          </p:nvSpPr>
          <p:spPr>
            <a:xfrm>
              <a:off x="92495" y="1383194"/>
              <a:ext cx="2646776" cy="2123658"/>
            </a:xfrm>
            <a:prstGeom prst="rect">
              <a:avLst/>
            </a:prstGeom>
            <a:noFill/>
            <a:ln>
              <a:noFill/>
            </a:ln>
          </p:spPr>
          <p:txBody>
            <a:bodyPr spcFirstLastPara="1" wrap="square" lIns="91425" tIns="45700" rIns="91425" bIns="45700" anchor="t" anchorCtr="0">
              <a:spAutoFit/>
            </a:bodyPr>
            <a:lstStyle/>
            <a:p>
              <a:pPr marL="349250" marR="0" lvl="1" indent="0" algn="ctr" rtl="0">
                <a:lnSpc>
                  <a:spcPct val="100000"/>
                </a:lnSpc>
                <a:spcBef>
                  <a:spcPts val="0"/>
                </a:spcBef>
                <a:spcAft>
                  <a:spcPts val="0"/>
                </a:spcAft>
                <a:buNone/>
              </a:pPr>
              <a:r>
                <a:rPr lang="en-US" sz="2200" b="0" i="0" u="none" strike="noStrike" cap="none">
                  <a:solidFill>
                    <a:schemeClr val="dk1"/>
                  </a:solidFill>
                  <a:latin typeface="Arial"/>
                  <a:ea typeface="Arial"/>
                  <a:cs typeface="Arial"/>
                  <a:sym typeface="Arial"/>
                </a:rPr>
                <a:t>Interconnecting three host interfaces and one router interface forms  a </a:t>
              </a:r>
              <a:r>
                <a:rPr lang="en-US" sz="2200" b="1" i="0" u="none" strike="noStrike" cap="none">
                  <a:solidFill>
                    <a:schemeClr val="dk1"/>
                  </a:solidFill>
                  <a:latin typeface="Arial"/>
                  <a:ea typeface="Arial"/>
                  <a:cs typeface="Arial"/>
                  <a:sym typeface="Arial"/>
                </a:rPr>
                <a:t>subnet</a:t>
              </a:r>
              <a:r>
                <a:rPr lang="en-US" sz="2200" b="0" i="0" u="none" strike="noStrike" cap="none">
                  <a:solidFill>
                    <a:schemeClr val="dk1"/>
                  </a:solidFill>
                  <a:latin typeface="Arial"/>
                  <a:ea typeface="Arial"/>
                  <a:cs typeface="Arial"/>
                  <a:sym typeface="Arial"/>
                </a:rPr>
                <a:t>.</a:t>
              </a:r>
              <a:endParaRPr/>
            </a:p>
          </p:txBody>
        </p:sp>
      </p:grpSp>
      <p:sp>
        <p:nvSpPr>
          <p:cNvPr id="186" name="Google Shape;186;p6"/>
          <p:cNvSpPr/>
          <p:nvPr/>
        </p:nvSpPr>
        <p:spPr>
          <a:xfrm>
            <a:off x="3788792" y="1165086"/>
            <a:ext cx="1792202" cy="2949452"/>
          </a:xfrm>
          <a:prstGeom prst="rect">
            <a:avLst/>
          </a:prstGeom>
          <a:noFill/>
          <a:ln w="12700" cap="flat" cmpd="sng">
            <a:solidFill>
              <a:srgbClr val="FF0000"/>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7" name="Google Shape;187;p6"/>
          <p:cNvSpPr txBox="1"/>
          <p:nvPr/>
        </p:nvSpPr>
        <p:spPr>
          <a:xfrm>
            <a:off x="559310" y="4806939"/>
            <a:ext cx="8251165" cy="1726418"/>
          </a:xfrm>
          <a:prstGeom prst="rect">
            <a:avLst/>
          </a:prstGeom>
          <a:noFill/>
          <a:ln w="12700" cap="flat" cmpd="sng">
            <a:solidFill>
              <a:srgbClr val="53A9D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99"/>
              </a:buClr>
              <a:buSzPts val="650"/>
              <a:buFont typeface="Noto Sans Symbols"/>
              <a:buNone/>
            </a:pPr>
            <a:endParaRPr sz="1000" b="0" i="0" u="none" strike="noStrike" cap="none" dirty="0">
              <a:solidFill>
                <a:schemeClr val="dk1"/>
              </a:solidFill>
              <a:latin typeface="Arial"/>
              <a:ea typeface="Arial"/>
              <a:cs typeface="Arial"/>
              <a:sym typeface="Arial"/>
            </a:endParaRPr>
          </a:p>
          <a:p>
            <a:pPr marL="342900" indent="-342900">
              <a:spcBef>
                <a:spcPts val="440"/>
              </a:spcBef>
              <a:spcAft>
                <a:spcPts val="0"/>
              </a:spcAft>
              <a:buClr>
                <a:srgbClr val="000099"/>
              </a:buClr>
              <a:buSzPts val="1430"/>
              <a:buFont typeface="Noto Sans Symbols"/>
              <a:buChar char="❖"/>
            </a:pPr>
            <a:r>
              <a:rPr lang="en-US" altLang="en-US" sz="2400" dirty="0">
                <a:solidFill>
                  <a:prstClr val="black"/>
                </a:solidFill>
                <a:latin typeface="Calibri" panose="020F0502020204030204"/>
              </a:rPr>
              <a:t>device interfaces that can physically reach each other </a:t>
            </a:r>
            <a:r>
              <a:rPr lang="en-US" altLang="en-US" sz="2400" dirty="0">
                <a:solidFill>
                  <a:srgbClr val="C00000"/>
                </a:solidFill>
                <a:latin typeface="Calibri" panose="020F0502020204030204"/>
              </a:rPr>
              <a:t>without passing through an intervening router</a:t>
            </a:r>
            <a:endParaRPr lang="en-US" altLang="en-US" sz="2400" i="1" dirty="0">
              <a:solidFill>
                <a:srgbClr val="CC0000"/>
              </a:solidFill>
              <a:latin typeface="Calibri" panose="020F0502020204030204"/>
            </a:endParaRPr>
          </a:p>
          <a:p>
            <a:pPr marL="342900" marR="0" lvl="0" indent="-342900" algn="l" rtl="0">
              <a:lnSpc>
                <a:spcPct val="100000"/>
              </a:lnSpc>
              <a:spcBef>
                <a:spcPts val="440"/>
              </a:spcBef>
              <a:spcAft>
                <a:spcPts val="0"/>
              </a:spcAft>
              <a:buClr>
                <a:srgbClr val="000099"/>
              </a:buClr>
              <a:buSzPts val="1430"/>
              <a:buFont typeface="Noto Sans Symbols"/>
              <a:buChar char="❖"/>
            </a:pPr>
            <a:r>
              <a:rPr lang="en-US" sz="2200" b="0" i="0" u="none" strike="noStrike" cap="none" dirty="0">
                <a:solidFill>
                  <a:schemeClr val="dk1"/>
                </a:solidFill>
                <a:latin typeface="Arial"/>
                <a:ea typeface="Arial"/>
                <a:cs typeface="Arial"/>
                <a:sym typeface="Arial"/>
              </a:rPr>
              <a:t>is a </a:t>
            </a:r>
            <a:r>
              <a:rPr lang="en-US" sz="2200" b="0" i="0" u="none" strike="noStrike" cap="none" dirty="0">
                <a:solidFill>
                  <a:srgbClr val="FF0000"/>
                </a:solidFill>
                <a:latin typeface="Arial"/>
                <a:ea typeface="Arial"/>
                <a:cs typeface="Arial"/>
                <a:sym typeface="Arial"/>
              </a:rPr>
              <a:t>logical</a:t>
            </a:r>
            <a:r>
              <a:rPr lang="en-US" sz="2200" b="0" i="0" u="none" strike="noStrike" cap="none" dirty="0">
                <a:solidFill>
                  <a:schemeClr val="dk1"/>
                </a:solidFill>
                <a:latin typeface="Arial"/>
                <a:ea typeface="Arial"/>
                <a:cs typeface="Arial"/>
                <a:sym typeface="Arial"/>
              </a:rPr>
              <a:t>, </a:t>
            </a:r>
            <a:r>
              <a:rPr lang="en-US" sz="2200" b="0" i="0" u="none" strike="noStrike" cap="none" dirty="0">
                <a:solidFill>
                  <a:srgbClr val="FF0000"/>
                </a:solidFill>
                <a:latin typeface="Arial"/>
                <a:ea typeface="Arial"/>
                <a:cs typeface="Arial"/>
                <a:sym typeface="Arial"/>
              </a:rPr>
              <a:t>visible subdivision</a:t>
            </a:r>
            <a:r>
              <a:rPr lang="en-US" sz="2200" b="0" i="0" u="none" strike="noStrike" cap="none" dirty="0">
                <a:solidFill>
                  <a:schemeClr val="dk1"/>
                </a:solidFill>
                <a:latin typeface="Arial"/>
                <a:ea typeface="Arial"/>
                <a:cs typeface="Arial"/>
                <a:sym typeface="Arial"/>
              </a:rPr>
              <a:t> of an </a:t>
            </a:r>
            <a:r>
              <a:rPr lang="en-US" sz="2200" b="0" i="1" u="none" strike="noStrike" cap="none" dirty="0">
                <a:solidFill>
                  <a:schemeClr val="dk1"/>
                </a:solidFill>
                <a:latin typeface="Arial"/>
                <a:ea typeface="Arial"/>
                <a:cs typeface="Arial"/>
                <a:sym typeface="Arial"/>
              </a:rPr>
              <a:t>IP network</a:t>
            </a:r>
            <a:r>
              <a:rPr lang="en-US" sz="2200" b="0" i="0" u="none" strike="noStrike" cap="none" dirty="0">
                <a:solidFill>
                  <a:schemeClr val="dk1"/>
                </a:solidFill>
                <a:latin typeface="Arial"/>
                <a:ea typeface="Arial"/>
                <a:cs typeface="Arial"/>
                <a:sym typeface="Arial"/>
              </a:rPr>
              <a:t>.</a:t>
            </a:r>
            <a:r>
              <a:rPr lang="en-US" dirty="0">
                <a:sym typeface="Arial"/>
              </a:rPr>
              <a:t> </a:t>
            </a:r>
            <a:r>
              <a:rPr lang="en-US" sz="2200" b="0" i="0" u="none" strike="noStrike" cap="none" dirty="0">
                <a:solidFill>
                  <a:schemeClr val="dk1"/>
                </a:solidFill>
                <a:latin typeface="Arial"/>
                <a:ea typeface="Arial"/>
                <a:cs typeface="Arial"/>
                <a:sym typeface="Arial"/>
              </a:rPr>
              <a:t>The practice of </a:t>
            </a:r>
            <a:r>
              <a:rPr lang="en-US" sz="2200" b="0" i="0" u="none" strike="noStrike" cap="none" dirty="0">
                <a:solidFill>
                  <a:srgbClr val="FF0000"/>
                </a:solidFill>
                <a:latin typeface="Arial"/>
                <a:ea typeface="Arial"/>
                <a:cs typeface="Arial"/>
                <a:sym typeface="Arial"/>
              </a:rPr>
              <a:t>dividing a network into</a:t>
            </a:r>
            <a:r>
              <a:rPr lang="en-US" sz="2200" b="0" i="0" u="none" strike="noStrike" cap="none" dirty="0">
                <a:solidFill>
                  <a:schemeClr val="dk1"/>
                </a:solidFill>
                <a:latin typeface="Arial"/>
                <a:ea typeface="Arial"/>
                <a:cs typeface="Arial"/>
                <a:sym typeface="Arial"/>
              </a:rPr>
              <a:t> two or </a:t>
            </a:r>
            <a:r>
              <a:rPr lang="en-US" sz="2200" b="0" i="0" u="none" strike="noStrike" cap="none" dirty="0">
                <a:solidFill>
                  <a:srgbClr val="FF0000"/>
                </a:solidFill>
                <a:latin typeface="Arial"/>
                <a:ea typeface="Arial"/>
                <a:cs typeface="Arial"/>
                <a:sym typeface="Arial"/>
              </a:rPr>
              <a:t>more networks</a:t>
            </a:r>
            <a:r>
              <a:rPr lang="en-US" sz="2200" b="0" i="0" u="none" strike="noStrike" cap="none" dirty="0">
                <a:solidFill>
                  <a:schemeClr val="dk1"/>
                </a:solidFill>
                <a:latin typeface="Arial"/>
                <a:ea typeface="Arial"/>
                <a:cs typeface="Arial"/>
                <a:sym typeface="Arial"/>
              </a:rPr>
              <a:t> is called </a:t>
            </a:r>
            <a:r>
              <a:rPr lang="en-US" sz="2200" b="0" i="1" u="none" strike="noStrike" cap="none" dirty="0">
                <a:solidFill>
                  <a:schemeClr val="dk1"/>
                </a:solidFill>
                <a:latin typeface="Arial"/>
                <a:ea typeface="Arial"/>
                <a:cs typeface="Arial"/>
                <a:sym typeface="Arial"/>
              </a:rPr>
              <a:t>subnetting</a:t>
            </a:r>
            <a:r>
              <a:rPr lang="en-US" sz="2200" b="0" i="0" u="none" strike="noStrike" cap="none" dirty="0">
                <a:solidFill>
                  <a:schemeClr val="dk1"/>
                </a:solidFill>
                <a:latin typeface="Arial"/>
                <a:ea typeface="Arial"/>
                <a:cs typeface="Arial"/>
                <a:sym typeface="Arial"/>
              </a:rPr>
              <a:t>.</a:t>
            </a:r>
            <a:endParaRPr sz="2200" b="0" i="0" u="none" strike="noStrike" cap="none" dirty="0">
              <a:solidFill>
                <a:schemeClr val="dk1"/>
              </a:solidFill>
              <a:latin typeface="Arial"/>
              <a:ea typeface="Arial"/>
              <a:cs typeface="Arial"/>
              <a:sym typeface="Arial"/>
            </a:endParaRPr>
          </a:p>
          <a:p>
            <a:pPr marL="342900" marR="0" lvl="0" indent="-252095" algn="l" rtl="0">
              <a:lnSpc>
                <a:spcPct val="100000"/>
              </a:lnSpc>
              <a:spcBef>
                <a:spcPts val="440"/>
              </a:spcBef>
              <a:spcAft>
                <a:spcPts val="0"/>
              </a:spcAft>
              <a:buClr>
                <a:srgbClr val="000099"/>
              </a:buClr>
              <a:buSzPts val="1430"/>
              <a:buFont typeface="Noto Sans Symbols"/>
              <a:buNone/>
            </a:pPr>
            <a:endParaRPr sz="2200" b="0" i="0" u="none" strike="noStrike" cap="none" dirty="0">
              <a:solidFill>
                <a:schemeClr val="dk1"/>
              </a:solidFill>
              <a:latin typeface="Arial"/>
              <a:ea typeface="Arial"/>
              <a:cs typeface="Arial"/>
              <a:sym typeface="Arial"/>
            </a:endParaRPr>
          </a:p>
          <a:p>
            <a:pPr marL="234950" marR="0" lvl="0" indent="-193675" algn="l" rtl="0">
              <a:lnSpc>
                <a:spcPct val="100000"/>
              </a:lnSpc>
              <a:spcBef>
                <a:spcPts val="200"/>
              </a:spcBef>
              <a:spcAft>
                <a:spcPts val="0"/>
              </a:spcAft>
              <a:buClr>
                <a:srgbClr val="000099"/>
              </a:buClr>
              <a:buSzPts val="650"/>
              <a:buFont typeface="Noto Sans Symbols"/>
              <a:buNone/>
            </a:pPr>
            <a:endParaRPr sz="1000" b="0" i="0" u="none" strike="noStrike" cap="none" dirty="0">
              <a:solidFill>
                <a:schemeClr val="dk1"/>
              </a:solidFill>
              <a:latin typeface="Arial"/>
              <a:ea typeface="Arial"/>
              <a:cs typeface="Arial"/>
              <a:sym typeface="Arial"/>
            </a:endParaRPr>
          </a:p>
        </p:txBody>
      </p:sp>
      <p:grpSp>
        <p:nvGrpSpPr>
          <p:cNvPr id="188" name="Google Shape;188;p6"/>
          <p:cNvGrpSpPr/>
          <p:nvPr/>
        </p:nvGrpSpPr>
        <p:grpSpPr>
          <a:xfrm>
            <a:off x="671697" y="4262583"/>
            <a:ext cx="2949172" cy="828108"/>
            <a:chOff x="818627" y="4262583"/>
            <a:chExt cx="2949172" cy="828108"/>
          </a:xfrm>
        </p:grpSpPr>
        <p:sp>
          <p:nvSpPr>
            <p:cNvPr id="189" name="Google Shape;189;p6"/>
            <p:cNvSpPr/>
            <p:nvPr/>
          </p:nvSpPr>
          <p:spPr>
            <a:xfrm>
              <a:off x="818627" y="4859769"/>
              <a:ext cx="2949172" cy="230922"/>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0" name="Google Shape;190;p6"/>
            <p:cNvSpPr txBox="1"/>
            <p:nvPr/>
          </p:nvSpPr>
          <p:spPr>
            <a:xfrm>
              <a:off x="986552" y="4262583"/>
              <a:ext cx="2613322" cy="430344"/>
            </a:xfrm>
            <a:prstGeom prst="rect">
              <a:avLst/>
            </a:prstGeom>
            <a:solidFill>
              <a:srgbClr val="53A9D6">
                <a:alpha val="49803"/>
              </a:srgbClr>
            </a:solidFill>
            <a:ln w="9525" cap="flat" cmpd="sng">
              <a:solidFill>
                <a:srgbClr val="53A9D6"/>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99"/>
                </a:buClr>
                <a:buSzPts val="1430"/>
                <a:buFont typeface="Noto Sans Symbols"/>
                <a:buNone/>
              </a:pPr>
              <a:r>
                <a:rPr lang="en-US" sz="2200" b="0" i="0" u="none" strike="noStrike" cap="none" dirty="0">
                  <a:solidFill>
                    <a:schemeClr val="dk1"/>
                  </a:solidFill>
                  <a:latin typeface="Arial"/>
                  <a:ea typeface="Arial"/>
                  <a:cs typeface="Arial"/>
                  <a:sym typeface="Arial"/>
                </a:rPr>
                <a:t>What’s a </a:t>
              </a:r>
              <a:r>
                <a:rPr lang="en-US" sz="2200" b="1" i="0" u="none" strike="noStrike" cap="none" dirty="0">
                  <a:solidFill>
                    <a:schemeClr val="dk1"/>
                  </a:solidFill>
                  <a:latin typeface="Arial"/>
                  <a:ea typeface="Arial"/>
                  <a:cs typeface="Arial"/>
                  <a:sym typeface="Arial"/>
                </a:rPr>
                <a:t>subnet</a:t>
              </a:r>
              <a:r>
                <a:rPr lang="en-US" sz="2200" b="0" i="0" u="none" strike="noStrike" cap="none" dirty="0">
                  <a:solidFill>
                    <a:schemeClr val="dk1"/>
                  </a:solidFill>
                  <a:latin typeface="Arial"/>
                  <a:ea typeface="Arial"/>
                  <a:cs typeface="Arial"/>
                  <a:sym typeface="Arial"/>
                </a:rPr>
                <a:t> ?</a:t>
              </a:r>
              <a:endParaRPr dirty="0"/>
            </a:p>
            <a:p>
              <a:pPr marL="234950" marR="0" lvl="0" indent="-193675" algn="ctr" rtl="0">
                <a:lnSpc>
                  <a:spcPct val="100000"/>
                </a:lnSpc>
                <a:spcBef>
                  <a:spcPts val="200"/>
                </a:spcBef>
                <a:spcAft>
                  <a:spcPts val="0"/>
                </a:spcAft>
                <a:buClr>
                  <a:srgbClr val="000099"/>
                </a:buClr>
                <a:buSzPts val="650"/>
                <a:buFont typeface="Noto Sans Symbols"/>
                <a:buNone/>
              </a:pPr>
              <a:endParaRPr sz="1000" b="0" i="0" u="none" strike="noStrike" cap="none" dirty="0">
                <a:solidFill>
                  <a:schemeClr val="dk1"/>
                </a:solidFill>
                <a:latin typeface="Arial"/>
                <a:ea typeface="Arial"/>
                <a:cs typeface="Arial"/>
                <a:sym typeface="Arial"/>
              </a:endParaRPr>
            </a:p>
          </p:txBody>
        </p:sp>
      </p:grpSp>
      <p:sp>
        <p:nvSpPr>
          <p:cNvPr id="191" name="Google Shape;191;p6"/>
          <p:cNvSpPr/>
          <p:nvPr/>
        </p:nvSpPr>
        <p:spPr>
          <a:xfrm>
            <a:off x="5602014" y="1397876"/>
            <a:ext cx="1755227" cy="662152"/>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 name="Right Triangle 17">
            <a:extLst>
              <a:ext uri="{FF2B5EF4-FFF2-40B4-BE49-F238E27FC236}">
                <a16:creationId xmlns:a16="http://schemas.microsoft.com/office/drawing/2014/main" id="{7019A76B-3476-2844-8B73-4E2C061679C5}"/>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6"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056146" y="6439068"/>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59</a:t>
            </a:fld>
            <a:endParaRPr lang="en-US" altLang="en-US" dirty="0">
              <a:latin typeface="Tahoma" panose="020B0604030504040204" pitchFamily="34" charset="0"/>
            </a:endParaRPr>
          </a:p>
        </p:txBody>
      </p:sp>
    </p:spTree>
    <p:extLst>
      <p:ext uri="{BB962C8B-B14F-4D97-AF65-F5344CB8AC3E}">
        <p14:creationId xmlns:p14="http://schemas.microsoft.com/office/powerpoint/2010/main" val="507304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animEffect transition="in" filter="fade">
                                      <p:cBhvr>
                                        <p:cTn id="7" dur="500"/>
                                        <p:tgtEl>
                                          <p:spTgt spid="187"/>
                                        </p:tgtEl>
                                      </p:cBhvr>
                                    </p:animEffect>
                                  </p:childTnLst>
                                </p:cTn>
                              </p:par>
                              <p:par>
                                <p:cTn id="8" presetID="10" presetClass="entr" presetSubtype="0" fill="hold" nodeType="withEffect">
                                  <p:stCondLst>
                                    <p:cond delay="0"/>
                                  </p:stCondLst>
                                  <p:childTnLst>
                                    <p:set>
                                      <p:cBhvr>
                                        <p:cTn id="9" dur="1" fill="hold">
                                          <p:stCondLst>
                                            <p:cond delay="0"/>
                                          </p:stCondLst>
                                        </p:cTn>
                                        <p:tgtEl>
                                          <p:spTgt spid="188"/>
                                        </p:tgtEl>
                                        <p:attrNameLst>
                                          <p:attrName>style.visibility</p:attrName>
                                        </p:attrNameLst>
                                      </p:cBhvr>
                                      <p:to>
                                        <p:strVal val="visible"/>
                                      </p:to>
                                    </p:set>
                                    <p:animEffect transition="in" filter="fade">
                                      <p:cBhvr>
                                        <p:cTn id="10" dur="500"/>
                                        <p:tgtEl>
                                          <p:spTgt spid="18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7"/>
          <p:cNvSpPr/>
          <p:nvPr/>
        </p:nvSpPr>
        <p:spPr>
          <a:xfrm>
            <a:off x="0" y="1206555"/>
            <a:ext cx="4183117" cy="4580095"/>
          </a:xfrm>
          <a:prstGeom prst="rect">
            <a:avLst/>
          </a:prstGeom>
          <a:solidFill>
            <a:srgbClr val="53A9D6">
              <a:alpha val="49803"/>
            </a:srgbClr>
          </a:solidFill>
          <a:ln w="9525" cap="flat" cmpd="sng">
            <a:solidFill>
              <a:srgbClr val="A5A5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97" name="Google Shape;197;p7" descr="Screen Shot 2016-04-08 at 12.00.11 PM.png"/>
          <p:cNvPicPr preferRelativeResize="0"/>
          <p:nvPr/>
        </p:nvPicPr>
        <p:blipFill rotWithShape="1">
          <a:blip r:embed="rId3">
            <a:alphaModFix/>
          </a:blip>
          <a:srcRect/>
          <a:stretch/>
        </p:blipFill>
        <p:spPr>
          <a:xfrm>
            <a:off x="4298728" y="1298481"/>
            <a:ext cx="4845272" cy="3413826"/>
          </a:xfrm>
          <a:prstGeom prst="rect">
            <a:avLst/>
          </a:prstGeom>
          <a:noFill/>
          <a:ln>
            <a:noFill/>
          </a:ln>
        </p:spPr>
      </p:pic>
      <p:sp>
        <p:nvSpPr>
          <p:cNvPr id="198" name="Google Shape;198;p7"/>
          <p:cNvSpPr txBox="1">
            <a:spLocks noGrp="1"/>
          </p:cNvSpPr>
          <p:nvPr>
            <p:ph type="body" idx="1"/>
          </p:nvPr>
        </p:nvSpPr>
        <p:spPr>
          <a:xfrm>
            <a:off x="449263" y="1092200"/>
            <a:ext cx="3695700" cy="3333750"/>
          </a:xfrm>
          <a:prstGeom prst="rect">
            <a:avLst/>
          </a:prstGeom>
          <a:noFill/>
          <a:ln>
            <a:noFill/>
          </a:ln>
        </p:spPr>
        <p:txBody>
          <a:bodyPr spcFirstLastPara="1" wrap="square" lIns="91425" tIns="45700" rIns="91425" bIns="45700" anchor="t" anchorCtr="0">
            <a:noAutofit/>
          </a:bodyPr>
          <a:lstStyle/>
          <a:p>
            <a:pPr marL="342900" lvl="0" indent="-243840" algn="l" rtl="0">
              <a:lnSpc>
                <a:spcPct val="85000"/>
              </a:lnSpc>
              <a:spcBef>
                <a:spcPts val="0"/>
              </a:spcBef>
              <a:spcAft>
                <a:spcPts val="0"/>
              </a:spcAft>
              <a:buSzPts val="1560"/>
              <a:buNone/>
            </a:pPr>
            <a:endParaRPr sz="2400"/>
          </a:p>
          <a:p>
            <a:pPr marL="342900" lvl="0" indent="-243840" algn="l" rtl="0">
              <a:lnSpc>
                <a:spcPct val="85000"/>
              </a:lnSpc>
              <a:spcBef>
                <a:spcPts val="480"/>
              </a:spcBef>
              <a:spcAft>
                <a:spcPts val="0"/>
              </a:spcAft>
              <a:buSzPts val="1560"/>
              <a:buNone/>
            </a:pPr>
            <a:endParaRPr sz="2400"/>
          </a:p>
        </p:txBody>
      </p:sp>
      <p:sp>
        <p:nvSpPr>
          <p:cNvPr id="199" name="Google Shape;199;p7"/>
          <p:cNvSpPr txBox="1">
            <a:spLocks noGrp="1"/>
          </p:cNvSpPr>
          <p:nvPr>
            <p:ph type="body" idx="2"/>
          </p:nvPr>
        </p:nvSpPr>
        <p:spPr>
          <a:xfrm>
            <a:off x="0" y="969528"/>
            <a:ext cx="4151586" cy="4951068"/>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1300"/>
              <a:buFont typeface="Noto Sans Symbols"/>
              <a:buNone/>
            </a:pPr>
            <a:endParaRPr sz="2000" i="1" dirty="0">
              <a:solidFill>
                <a:srgbClr val="CC0000"/>
              </a:solidFill>
              <a:latin typeface="Arial"/>
              <a:ea typeface="Arial"/>
              <a:cs typeface="Arial"/>
              <a:sym typeface="Arial"/>
            </a:endParaRPr>
          </a:p>
          <a:p>
            <a:pPr marL="342900" lvl="0" indent="-342900" algn="l" rtl="0">
              <a:lnSpc>
                <a:spcPct val="100000"/>
              </a:lnSpc>
              <a:spcBef>
                <a:spcPts val="400"/>
              </a:spcBef>
              <a:spcAft>
                <a:spcPts val="0"/>
              </a:spcAft>
              <a:buSzPts val="1300"/>
              <a:buFont typeface="Noto Sans Symbols"/>
              <a:buChar char="❖"/>
            </a:pPr>
            <a:r>
              <a:rPr lang="en-US" sz="2000" dirty="0">
                <a:latin typeface="Arial"/>
                <a:ea typeface="Arial"/>
                <a:cs typeface="Arial"/>
                <a:sym typeface="Arial"/>
              </a:rPr>
              <a:t>A subnet is a group of host identified with </a:t>
            </a:r>
            <a:r>
              <a:rPr lang="en-US" sz="2000" dirty="0">
                <a:solidFill>
                  <a:srgbClr val="FF0000"/>
                </a:solidFill>
                <a:latin typeface="Arial"/>
                <a:ea typeface="Arial"/>
                <a:cs typeface="Arial"/>
                <a:sym typeface="Arial"/>
              </a:rPr>
              <a:t>having the same network portion</a:t>
            </a:r>
            <a:r>
              <a:rPr lang="en-US" sz="2000" dirty="0">
                <a:latin typeface="Arial"/>
                <a:ea typeface="Arial"/>
                <a:cs typeface="Arial"/>
                <a:sym typeface="Arial"/>
              </a:rPr>
              <a:t> of their IP address</a:t>
            </a:r>
            <a:endParaRPr dirty="0"/>
          </a:p>
          <a:p>
            <a:pPr marL="342900" lvl="0" indent="-342900" algn="l" rtl="0">
              <a:lnSpc>
                <a:spcPct val="100000"/>
              </a:lnSpc>
              <a:spcBef>
                <a:spcPts val="400"/>
              </a:spcBef>
              <a:spcAft>
                <a:spcPts val="0"/>
              </a:spcAft>
              <a:buSzPts val="1300"/>
              <a:buFont typeface="Noto Sans Symbols"/>
              <a:buChar char="❖"/>
            </a:pPr>
            <a:r>
              <a:rPr lang="en-US" sz="2000" b="1" dirty="0">
                <a:latin typeface="Arial"/>
                <a:ea typeface="Arial"/>
                <a:cs typeface="Arial"/>
                <a:sym typeface="Arial"/>
              </a:rPr>
              <a:t>Example</a:t>
            </a:r>
            <a:r>
              <a:rPr lang="en-US" sz="2000" dirty="0">
                <a:latin typeface="Arial"/>
                <a:ea typeface="Arial"/>
                <a:cs typeface="Arial"/>
                <a:sym typeface="Arial"/>
              </a:rPr>
              <a:t>: </a:t>
            </a:r>
            <a:endParaRPr dirty="0"/>
          </a:p>
          <a:p>
            <a:pPr marL="742950" lvl="1" indent="-285750" algn="l" rtl="0">
              <a:lnSpc>
                <a:spcPct val="100000"/>
              </a:lnSpc>
              <a:spcBef>
                <a:spcPts val="360"/>
              </a:spcBef>
              <a:spcAft>
                <a:spcPts val="0"/>
              </a:spcAft>
              <a:buSzPts val="1800"/>
              <a:buFont typeface="Noto Sans Symbols"/>
              <a:buChar char="❖"/>
            </a:pPr>
            <a:r>
              <a:rPr lang="en-US" sz="1800" dirty="0">
                <a:latin typeface="Arial"/>
                <a:ea typeface="Arial"/>
                <a:cs typeface="Arial"/>
                <a:sym typeface="Arial"/>
              </a:rPr>
              <a:t>223.1.1.1, 223.1.1.2, 223.1.1.3, 223.1.1.4, …</a:t>
            </a:r>
            <a:endParaRPr dirty="0"/>
          </a:p>
          <a:p>
            <a:pPr marL="717550" lvl="0" indent="0" algn="l" rtl="0">
              <a:lnSpc>
                <a:spcPct val="100000"/>
              </a:lnSpc>
              <a:spcBef>
                <a:spcPts val="360"/>
              </a:spcBef>
              <a:spcAft>
                <a:spcPts val="0"/>
              </a:spcAft>
              <a:buSzPts val="1170"/>
              <a:buNone/>
            </a:pPr>
            <a:r>
              <a:rPr lang="en-US" sz="1800" b="1" i="1" dirty="0">
                <a:solidFill>
                  <a:srgbClr val="FF0000"/>
                </a:solidFill>
                <a:highlight>
                  <a:srgbClr val="00FFFF"/>
                </a:highlight>
                <a:latin typeface="Arial"/>
                <a:ea typeface="Arial"/>
                <a:cs typeface="Arial"/>
                <a:sym typeface="Arial"/>
              </a:rPr>
              <a:t>223.1.1</a:t>
            </a:r>
            <a:r>
              <a:rPr lang="en-US" sz="1800" i="1" dirty="0">
                <a:highlight>
                  <a:srgbClr val="00FFFF"/>
                </a:highlight>
                <a:latin typeface="Arial"/>
                <a:ea typeface="Arial"/>
                <a:cs typeface="Arial"/>
                <a:sym typeface="Arial"/>
              </a:rPr>
              <a:t>.1, </a:t>
            </a:r>
            <a:r>
              <a:rPr lang="en-US" sz="1800" b="1" i="1" dirty="0">
                <a:solidFill>
                  <a:srgbClr val="FF0000"/>
                </a:solidFill>
                <a:highlight>
                  <a:srgbClr val="00FFFF"/>
                </a:highlight>
                <a:latin typeface="Arial"/>
                <a:ea typeface="Arial"/>
                <a:cs typeface="Arial"/>
                <a:sym typeface="Arial"/>
              </a:rPr>
              <a:t>223.1.1</a:t>
            </a:r>
            <a:r>
              <a:rPr lang="en-US" sz="1800" i="1" dirty="0">
                <a:highlight>
                  <a:srgbClr val="00FFFF"/>
                </a:highlight>
                <a:latin typeface="Arial"/>
                <a:ea typeface="Arial"/>
                <a:cs typeface="Arial"/>
                <a:sym typeface="Arial"/>
              </a:rPr>
              <a:t>.2, </a:t>
            </a:r>
            <a:r>
              <a:rPr lang="en-US" sz="1800" b="1" i="1" dirty="0">
                <a:solidFill>
                  <a:srgbClr val="FF0000"/>
                </a:solidFill>
                <a:highlight>
                  <a:srgbClr val="00FFFF"/>
                </a:highlight>
                <a:latin typeface="Arial"/>
                <a:ea typeface="Arial"/>
                <a:cs typeface="Arial"/>
                <a:sym typeface="Arial"/>
              </a:rPr>
              <a:t>223.1.1</a:t>
            </a:r>
            <a:r>
              <a:rPr lang="en-US" sz="1800" i="1" dirty="0">
                <a:highlight>
                  <a:srgbClr val="00FFFF"/>
                </a:highlight>
                <a:latin typeface="Arial"/>
                <a:ea typeface="Arial"/>
                <a:cs typeface="Arial"/>
                <a:sym typeface="Arial"/>
              </a:rPr>
              <a:t>.3,  </a:t>
            </a:r>
            <a:r>
              <a:rPr lang="en-US" sz="1800" b="1" i="1" dirty="0">
                <a:solidFill>
                  <a:srgbClr val="FF0000"/>
                </a:solidFill>
                <a:highlight>
                  <a:srgbClr val="00FFFF"/>
                </a:highlight>
                <a:latin typeface="Arial"/>
                <a:ea typeface="Arial"/>
                <a:cs typeface="Arial"/>
                <a:sym typeface="Arial"/>
              </a:rPr>
              <a:t>223.1.1</a:t>
            </a:r>
            <a:r>
              <a:rPr lang="en-US" sz="1800" i="1" dirty="0">
                <a:highlight>
                  <a:srgbClr val="00FFFF"/>
                </a:highlight>
                <a:latin typeface="Arial"/>
                <a:ea typeface="Arial"/>
                <a:cs typeface="Arial"/>
                <a:sym typeface="Arial"/>
              </a:rPr>
              <a:t>.4, …</a:t>
            </a:r>
            <a:endParaRPr dirty="0"/>
          </a:p>
          <a:p>
            <a:pPr marL="342900" lvl="0" indent="-342900" algn="l" rtl="0">
              <a:lnSpc>
                <a:spcPct val="100000"/>
              </a:lnSpc>
              <a:spcBef>
                <a:spcPts val="400"/>
              </a:spcBef>
              <a:spcAft>
                <a:spcPts val="0"/>
              </a:spcAft>
              <a:buSzPts val="1300"/>
              <a:buFont typeface="Noto Sans Symbols"/>
              <a:buChar char="❖"/>
            </a:pPr>
            <a:r>
              <a:rPr lang="en-US" sz="2000" dirty="0">
                <a:latin typeface="Arial"/>
                <a:ea typeface="Arial"/>
                <a:cs typeface="Arial"/>
                <a:sym typeface="Arial"/>
              </a:rPr>
              <a:t>This network portion is indicated by the </a:t>
            </a:r>
            <a:r>
              <a:rPr lang="en-US" sz="2000" dirty="0">
                <a:solidFill>
                  <a:srgbClr val="FF0000"/>
                </a:solidFill>
                <a:latin typeface="Arial"/>
                <a:ea typeface="Arial"/>
                <a:cs typeface="Arial"/>
                <a:sym typeface="Arial"/>
              </a:rPr>
              <a:t>subnet mask </a:t>
            </a:r>
            <a:r>
              <a:rPr lang="en-US" sz="2000" dirty="0">
                <a:latin typeface="Arial"/>
                <a:ea typeface="Arial"/>
                <a:cs typeface="Arial"/>
                <a:sym typeface="Arial"/>
              </a:rPr>
              <a:t>with</a:t>
            </a:r>
            <a:r>
              <a:rPr lang="en-US" sz="2000" dirty="0">
                <a:solidFill>
                  <a:srgbClr val="FF0000"/>
                </a:solidFill>
                <a:latin typeface="Arial"/>
                <a:ea typeface="Arial"/>
                <a:cs typeface="Arial"/>
                <a:sym typeface="Arial"/>
              </a:rPr>
              <a:t> </a:t>
            </a:r>
            <a:r>
              <a:rPr lang="en-US" sz="2000" dirty="0">
                <a:latin typeface="Arial"/>
                <a:ea typeface="Arial"/>
                <a:cs typeface="Arial"/>
                <a:sym typeface="Arial"/>
              </a:rPr>
              <a:t>notation </a:t>
            </a:r>
            <a:r>
              <a:rPr lang="en-US" sz="2000" b="1" dirty="0">
                <a:solidFill>
                  <a:srgbClr val="FF0000"/>
                </a:solidFill>
                <a:latin typeface="Arial"/>
                <a:ea typeface="Arial"/>
                <a:cs typeface="Arial"/>
                <a:sym typeface="Arial"/>
              </a:rPr>
              <a:t>/24</a:t>
            </a:r>
            <a:endParaRPr dirty="0"/>
          </a:p>
          <a:p>
            <a:pPr marL="342900" lvl="0" indent="-342900" algn="l" rtl="0">
              <a:lnSpc>
                <a:spcPct val="100000"/>
              </a:lnSpc>
              <a:spcBef>
                <a:spcPts val="400"/>
              </a:spcBef>
              <a:spcAft>
                <a:spcPts val="0"/>
              </a:spcAft>
              <a:buSzPts val="1300"/>
              <a:buFont typeface="Noto Sans Symbols"/>
              <a:buChar char="❖"/>
            </a:pPr>
            <a:r>
              <a:rPr lang="en-US" sz="2000" dirty="0">
                <a:solidFill>
                  <a:srgbClr val="FF0000"/>
                </a:solidFill>
                <a:latin typeface="Arial"/>
                <a:ea typeface="Arial"/>
                <a:cs typeface="Arial"/>
                <a:sym typeface="Arial"/>
              </a:rPr>
              <a:t>Subnet mask</a:t>
            </a:r>
            <a:r>
              <a:rPr lang="en-US" sz="2000" dirty="0">
                <a:latin typeface="Arial"/>
                <a:ea typeface="Arial"/>
                <a:cs typeface="Arial"/>
                <a:sym typeface="Arial"/>
              </a:rPr>
              <a:t> defines the </a:t>
            </a:r>
            <a:r>
              <a:rPr lang="en-US" sz="2000" dirty="0">
                <a:solidFill>
                  <a:srgbClr val="FF0000"/>
                </a:solidFill>
                <a:latin typeface="Arial"/>
                <a:ea typeface="Arial"/>
                <a:cs typeface="Arial"/>
                <a:sym typeface="Arial"/>
              </a:rPr>
              <a:t>subnet address</a:t>
            </a:r>
            <a:endParaRPr dirty="0"/>
          </a:p>
          <a:p>
            <a:pPr marL="400050" lvl="1" indent="0" algn="l" rtl="0">
              <a:lnSpc>
                <a:spcPct val="100000"/>
              </a:lnSpc>
              <a:spcBef>
                <a:spcPts val="400"/>
              </a:spcBef>
              <a:spcAft>
                <a:spcPts val="0"/>
              </a:spcAft>
              <a:buSzPts val="2000"/>
              <a:buNone/>
            </a:pPr>
            <a:r>
              <a:rPr lang="en-US" sz="2000" dirty="0">
                <a:latin typeface="Arial"/>
                <a:ea typeface="Arial"/>
                <a:cs typeface="Arial"/>
                <a:sym typeface="Arial"/>
              </a:rPr>
              <a:t> </a:t>
            </a:r>
            <a:r>
              <a:rPr lang="en-US" sz="1800" dirty="0">
                <a:latin typeface="Arial"/>
                <a:ea typeface="Arial"/>
                <a:cs typeface="Arial"/>
                <a:sym typeface="Arial"/>
              </a:rPr>
              <a:t>➙ </a:t>
            </a:r>
            <a:r>
              <a:rPr lang="en-US" sz="1800" dirty="0">
                <a:solidFill>
                  <a:srgbClr val="FF0000"/>
                </a:solidFill>
                <a:latin typeface="Arial"/>
                <a:ea typeface="Arial"/>
                <a:cs typeface="Arial"/>
                <a:sym typeface="Arial"/>
              </a:rPr>
              <a:t>223.1.1.0/24 </a:t>
            </a:r>
            <a:endParaRPr sz="1600" dirty="0">
              <a:latin typeface="Arial"/>
              <a:ea typeface="Arial"/>
              <a:cs typeface="Arial"/>
              <a:sym typeface="Arial"/>
            </a:endParaRPr>
          </a:p>
          <a:p>
            <a:pPr marL="342900" lvl="0" indent="-260350" algn="l" rtl="0">
              <a:lnSpc>
                <a:spcPct val="100000"/>
              </a:lnSpc>
              <a:spcBef>
                <a:spcPts val="400"/>
              </a:spcBef>
              <a:spcAft>
                <a:spcPts val="0"/>
              </a:spcAft>
              <a:buSzPts val="1300"/>
              <a:buFont typeface="Noto Sans Symbols"/>
              <a:buNone/>
            </a:pPr>
            <a:endParaRPr sz="2000" dirty="0">
              <a:solidFill>
                <a:srgbClr val="FF0000"/>
              </a:solidFill>
              <a:latin typeface="Arial"/>
              <a:ea typeface="Arial"/>
              <a:cs typeface="Arial"/>
              <a:sym typeface="Arial"/>
            </a:endParaRPr>
          </a:p>
        </p:txBody>
      </p:sp>
      <p:sp>
        <p:nvSpPr>
          <p:cNvPr id="203" name="Google Shape;203;p7"/>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b="0" i="0" u="none" strike="noStrike" cap="none" dirty="0">
                <a:latin typeface="Arial"/>
                <a:ea typeface="Arial"/>
                <a:cs typeface="Arial"/>
                <a:sym typeface="Arial"/>
              </a:rPr>
              <a:t>IPv4 Addressing</a:t>
            </a:r>
            <a:endParaRPr sz="2800" b="0" i="0" u="none" strike="noStrike" cap="none" dirty="0">
              <a:latin typeface="Arial"/>
              <a:ea typeface="Arial"/>
              <a:cs typeface="Arial"/>
              <a:sym typeface="Arial"/>
            </a:endParaRPr>
          </a:p>
        </p:txBody>
      </p:sp>
      <p:sp>
        <p:nvSpPr>
          <p:cNvPr id="204" name="Google Shape;204;p7"/>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b="0" i="0" u="none" strike="noStrike" cap="none">
                <a:solidFill>
                  <a:srgbClr val="00B9FA"/>
                </a:solidFill>
                <a:latin typeface="Arial"/>
                <a:ea typeface="Arial"/>
                <a:cs typeface="Arial"/>
                <a:sym typeface="Arial"/>
              </a:rPr>
              <a:t>Subnets</a:t>
            </a:r>
            <a:endParaRPr/>
          </a:p>
        </p:txBody>
      </p:sp>
      <p:sp>
        <p:nvSpPr>
          <p:cNvPr id="205" name="Google Shape;205;p7"/>
          <p:cNvSpPr txBox="1"/>
          <p:nvPr/>
        </p:nvSpPr>
        <p:spPr>
          <a:xfrm rot="-5400000">
            <a:off x="4720632" y="2374032"/>
            <a:ext cx="132600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0" u="none" strike="noStrike" cap="none">
                <a:solidFill>
                  <a:srgbClr val="FF0000"/>
                </a:solidFill>
                <a:latin typeface="Arial"/>
                <a:ea typeface="Arial"/>
                <a:cs typeface="Arial"/>
                <a:sym typeface="Arial"/>
              </a:rPr>
              <a:t>223.1.1.0/24</a:t>
            </a:r>
            <a:endParaRPr/>
          </a:p>
        </p:txBody>
      </p:sp>
      <p:grpSp>
        <p:nvGrpSpPr>
          <p:cNvPr id="206" name="Google Shape;206;p7"/>
          <p:cNvGrpSpPr/>
          <p:nvPr/>
        </p:nvGrpSpPr>
        <p:grpSpPr>
          <a:xfrm>
            <a:off x="6020219" y="1897608"/>
            <a:ext cx="2093161" cy="1871058"/>
            <a:chOff x="6020219" y="1897608"/>
            <a:chExt cx="2093161" cy="1871058"/>
          </a:xfrm>
        </p:grpSpPr>
        <p:sp>
          <p:nvSpPr>
            <p:cNvPr id="207" name="Google Shape;207;p7"/>
            <p:cNvSpPr txBox="1"/>
            <p:nvPr/>
          </p:nvSpPr>
          <p:spPr>
            <a:xfrm rot="5400000">
              <a:off x="7281101" y="2391333"/>
              <a:ext cx="132600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Arial"/>
                  <a:ea typeface="Arial"/>
                  <a:cs typeface="Arial"/>
                  <a:sym typeface="Arial"/>
                </a:rPr>
                <a:t>223.1.2.0/24</a:t>
              </a:r>
              <a:endParaRPr/>
            </a:p>
          </p:txBody>
        </p:sp>
        <p:sp>
          <p:nvSpPr>
            <p:cNvPr id="208" name="Google Shape;208;p7"/>
            <p:cNvSpPr txBox="1"/>
            <p:nvPr/>
          </p:nvSpPr>
          <p:spPr>
            <a:xfrm>
              <a:off x="6020219" y="3430112"/>
              <a:ext cx="132600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Arial"/>
                  <a:ea typeface="Arial"/>
                  <a:cs typeface="Arial"/>
                  <a:sym typeface="Arial"/>
                </a:rPr>
                <a:t>223.1.3.0/24</a:t>
              </a:r>
              <a:endParaRPr/>
            </a:p>
          </p:txBody>
        </p:sp>
      </p:grpSp>
      <p:sp>
        <p:nvSpPr>
          <p:cNvPr id="209" name="Google Shape;209;p7"/>
          <p:cNvSpPr/>
          <p:nvPr/>
        </p:nvSpPr>
        <p:spPr>
          <a:xfrm>
            <a:off x="4246178" y="1282262"/>
            <a:ext cx="1460939" cy="2921876"/>
          </a:xfrm>
          <a:prstGeom prst="rect">
            <a:avLst/>
          </a:prstGeom>
          <a:noFill/>
          <a:ln w="12700" cap="flat" cmpd="sng">
            <a:solidFill>
              <a:srgbClr val="FF0000"/>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0" name="Google Shape;210;p7"/>
          <p:cNvSpPr txBox="1"/>
          <p:nvPr/>
        </p:nvSpPr>
        <p:spPr>
          <a:xfrm>
            <a:off x="4306961" y="4916361"/>
            <a:ext cx="4837039" cy="448563"/>
          </a:xfrm>
          <a:prstGeom prst="rect">
            <a:avLst/>
          </a:prstGeom>
          <a:solidFill>
            <a:srgbClr val="FFFF00"/>
          </a:solidFill>
          <a:ln>
            <a:noFill/>
          </a:ln>
        </p:spPr>
        <p:txBody>
          <a:bodyPr spcFirstLastPara="1" wrap="square" lIns="91425" tIns="45700" rIns="91425" bIns="45700" anchor="t" anchorCtr="0">
            <a:noAutofit/>
          </a:bodyPr>
          <a:lstStyle/>
          <a:p>
            <a:pPr marL="342900" marR="0" lvl="0" indent="-342900" algn="ctr" rtl="0">
              <a:lnSpc>
                <a:spcPct val="85000"/>
              </a:lnSpc>
              <a:spcBef>
                <a:spcPts val="0"/>
              </a:spcBef>
              <a:spcAft>
                <a:spcPts val="0"/>
              </a:spcAft>
              <a:buClr>
                <a:srgbClr val="000099"/>
              </a:buClr>
              <a:buSzPts val="1170"/>
              <a:buFont typeface="Noto Sans Symbols"/>
              <a:buNone/>
            </a:pPr>
            <a:r>
              <a:rPr lang="en-US" sz="1800" b="0" u="none" dirty="0">
                <a:solidFill>
                  <a:schemeClr val="dk1"/>
                </a:solidFill>
                <a:latin typeface="Arial"/>
                <a:ea typeface="Arial"/>
                <a:cs typeface="Arial"/>
                <a:sym typeface="Arial"/>
              </a:rPr>
              <a:t>Network consisting of 3 subnets</a:t>
            </a:r>
            <a:endParaRPr sz="1800" b="0" u="none" dirty="0">
              <a:solidFill>
                <a:schemeClr val="dk1"/>
              </a:solidFill>
              <a:latin typeface="Arial"/>
              <a:ea typeface="Arial"/>
              <a:cs typeface="Arial"/>
              <a:sym typeface="Arial"/>
            </a:endParaRPr>
          </a:p>
        </p:txBody>
      </p:sp>
      <p:sp>
        <p:nvSpPr>
          <p:cNvPr id="17" name="Right Triangle 16">
            <a:extLst>
              <a:ext uri="{FF2B5EF4-FFF2-40B4-BE49-F238E27FC236}">
                <a16:creationId xmlns:a16="http://schemas.microsoft.com/office/drawing/2014/main" id="{9C1D4C52-00BD-DC4E-969E-D48F71DC37BF}"/>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5"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60</a:t>
            </a:fld>
            <a:endParaRPr lang="en-US" altLang="en-US" dirty="0">
              <a:latin typeface="Tahoma" panose="020B0604030504040204" pitchFamily="34" charset="0"/>
            </a:endParaRPr>
          </a:p>
        </p:txBody>
      </p:sp>
    </p:spTree>
    <p:extLst>
      <p:ext uri="{BB962C8B-B14F-4D97-AF65-F5344CB8AC3E}">
        <p14:creationId xmlns:p14="http://schemas.microsoft.com/office/powerpoint/2010/main" val="145669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6"/>
                                        </p:tgtEl>
                                        <p:attrNameLst>
                                          <p:attrName>style.visibility</p:attrName>
                                        </p:attrNameLst>
                                      </p:cBhvr>
                                      <p:to>
                                        <p:strVal val="visible"/>
                                      </p:to>
                                    </p:set>
                                    <p:anim calcmode="lin" valueType="num">
                                      <p:cBhvr additive="base">
                                        <p:cTn id="7" dur="500"/>
                                        <p:tgtEl>
                                          <p:spTgt spid="19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205"/>
                                        </p:tgtEl>
                                        <p:attrNameLst>
                                          <p:attrName>style.visibility</p:attrName>
                                        </p:attrNameLst>
                                      </p:cBhvr>
                                      <p:to>
                                        <p:strVal val="visible"/>
                                      </p:to>
                                    </p:set>
                                    <p:anim calcmode="lin" valueType="num">
                                      <p:cBhvr additive="base">
                                        <p:cTn id="16" dur="500"/>
                                        <p:tgtEl>
                                          <p:spTgt spid="20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6"/>
                                        </p:tgtEl>
                                        <p:attrNameLst>
                                          <p:attrName>style.visibility</p:attrName>
                                        </p:attrNameLst>
                                      </p:cBhvr>
                                      <p:to>
                                        <p:strVal val="visible"/>
                                      </p:to>
                                    </p:set>
                                    <p:anim calcmode="lin" valueType="num">
                                      <p:cBhvr additive="base">
                                        <p:cTn id="25" dur="500"/>
                                        <p:tgtEl>
                                          <p:spTgt spid="2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8"/>
          <p:cNvSpPr/>
          <p:nvPr/>
        </p:nvSpPr>
        <p:spPr>
          <a:xfrm>
            <a:off x="888750" y="3411932"/>
            <a:ext cx="7897897" cy="2323714"/>
          </a:xfrm>
          <a:prstGeom prst="rect">
            <a:avLst/>
          </a:prstGeom>
          <a:solidFill>
            <a:srgbClr val="BFBFB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6" name="Google Shape;216;p8"/>
          <p:cNvSpPr txBox="1">
            <a:spLocks noGrp="1"/>
          </p:cNvSpPr>
          <p:nvPr>
            <p:ph type="body" idx="1"/>
          </p:nvPr>
        </p:nvSpPr>
        <p:spPr>
          <a:xfrm>
            <a:off x="565296" y="1669891"/>
            <a:ext cx="8055124" cy="4068757"/>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SzPts val="1430"/>
              <a:buChar char="❖"/>
            </a:pPr>
            <a:r>
              <a:rPr lang="en-US" sz="2200">
                <a:latin typeface="Arial"/>
                <a:ea typeface="Arial"/>
                <a:cs typeface="Arial"/>
                <a:sym typeface="Arial"/>
              </a:rPr>
              <a:t>A computer OR a router must be able to identify whether a host with a given IP address is on its subnet or not.</a:t>
            </a:r>
            <a:endParaRPr/>
          </a:p>
          <a:p>
            <a:pPr marL="342900" lvl="0" indent="-342900" algn="l" rtl="0">
              <a:lnSpc>
                <a:spcPct val="100000"/>
              </a:lnSpc>
              <a:spcBef>
                <a:spcPts val="440"/>
              </a:spcBef>
              <a:spcAft>
                <a:spcPts val="0"/>
              </a:spcAft>
              <a:buSzPts val="1430"/>
              <a:buFont typeface="Noto Sans Symbols"/>
              <a:buNone/>
            </a:pPr>
            <a:endParaRPr sz="2200">
              <a:latin typeface="Arial"/>
              <a:ea typeface="Arial"/>
              <a:cs typeface="Arial"/>
              <a:sym typeface="Arial"/>
            </a:endParaRPr>
          </a:p>
          <a:p>
            <a:pPr marL="342900" lvl="0" indent="-342900" algn="l" rtl="0">
              <a:lnSpc>
                <a:spcPct val="100000"/>
              </a:lnSpc>
              <a:spcBef>
                <a:spcPts val="440"/>
              </a:spcBef>
              <a:spcAft>
                <a:spcPts val="0"/>
              </a:spcAft>
              <a:buSzPts val="1430"/>
              <a:buChar char="❖"/>
            </a:pPr>
            <a:r>
              <a:rPr lang="en-US" sz="2200">
                <a:latin typeface="Arial"/>
                <a:ea typeface="Arial"/>
                <a:cs typeface="Arial"/>
                <a:sym typeface="Arial"/>
              </a:rPr>
              <a:t>The </a:t>
            </a:r>
            <a:r>
              <a:rPr lang="en-US" sz="2200" b="1">
                <a:solidFill>
                  <a:srgbClr val="FF0000"/>
                </a:solidFill>
                <a:latin typeface="Arial"/>
                <a:ea typeface="Arial"/>
                <a:cs typeface="Arial"/>
                <a:sym typeface="Arial"/>
              </a:rPr>
              <a:t>subnet mask</a:t>
            </a:r>
            <a:r>
              <a:rPr lang="en-US" sz="2200" b="1">
                <a:latin typeface="Arial"/>
                <a:ea typeface="Arial"/>
                <a:cs typeface="Arial"/>
                <a:sym typeface="Arial"/>
              </a:rPr>
              <a:t> </a:t>
            </a:r>
            <a:r>
              <a:rPr lang="en-US" sz="2200">
                <a:latin typeface="Arial"/>
                <a:ea typeface="Arial"/>
                <a:cs typeface="Arial"/>
                <a:sym typeface="Arial"/>
              </a:rPr>
              <a:t>is:</a:t>
            </a:r>
            <a:endParaRPr/>
          </a:p>
          <a:p>
            <a:pPr marL="342900" lvl="0" indent="-252095" algn="l" rtl="0">
              <a:lnSpc>
                <a:spcPct val="100000"/>
              </a:lnSpc>
              <a:spcBef>
                <a:spcPts val="440"/>
              </a:spcBef>
              <a:spcAft>
                <a:spcPts val="0"/>
              </a:spcAft>
              <a:buSzPts val="1430"/>
              <a:buNone/>
            </a:pPr>
            <a:endParaRPr sz="2200">
              <a:latin typeface="Arial"/>
              <a:ea typeface="Arial"/>
              <a:cs typeface="Arial"/>
              <a:sym typeface="Arial"/>
            </a:endParaRPr>
          </a:p>
          <a:p>
            <a:pPr marL="742950" lvl="1" indent="-285750" algn="l" rtl="0">
              <a:lnSpc>
                <a:spcPct val="100000"/>
              </a:lnSpc>
              <a:spcBef>
                <a:spcPts val="440"/>
              </a:spcBef>
              <a:spcAft>
                <a:spcPts val="0"/>
              </a:spcAft>
              <a:buSzPts val="2200"/>
              <a:buChar char="▪"/>
            </a:pPr>
            <a:r>
              <a:rPr lang="en-US" sz="2200">
                <a:latin typeface="Arial"/>
                <a:ea typeface="Arial"/>
                <a:cs typeface="Arial"/>
                <a:sym typeface="Arial"/>
              </a:rPr>
              <a:t>used </a:t>
            </a:r>
            <a:r>
              <a:rPr lang="en-US" sz="2200">
                <a:solidFill>
                  <a:srgbClr val="FF0000"/>
                </a:solidFill>
                <a:latin typeface="Arial"/>
                <a:ea typeface="Arial"/>
                <a:cs typeface="Arial"/>
                <a:sym typeface="Arial"/>
              </a:rPr>
              <a:t>to separate</a:t>
            </a:r>
            <a:r>
              <a:rPr lang="en-US" sz="2200">
                <a:latin typeface="Arial"/>
                <a:ea typeface="Arial"/>
                <a:cs typeface="Arial"/>
                <a:sym typeface="Arial"/>
              </a:rPr>
              <a:t> the network portion of an IP address from the host portion.</a:t>
            </a:r>
            <a:endParaRPr/>
          </a:p>
          <a:p>
            <a:pPr marL="742950" lvl="1" indent="-146050" algn="l" rtl="0">
              <a:lnSpc>
                <a:spcPct val="100000"/>
              </a:lnSpc>
              <a:spcBef>
                <a:spcPts val="440"/>
              </a:spcBef>
              <a:spcAft>
                <a:spcPts val="0"/>
              </a:spcAft>
              <a:buSzPts val="2200"/>
              <a:buNone/>
            </a:pPr>
            <a:endParaRPr sz="2200">
              <a:latin typeface="Arial"/>
              <a:ea typeface="Arial"/>
              <a:cs typeface="Arial"/>
              <a:sym typeface="Arial"/>
            </a:endParaRPr>
          </a:p>
          <a:p>
            <a:pPr marL="742950" lvl="1" indent="-285750" algn="l" rtl="0">
              <a:lnSpc>
                <a:spcPct val="100000"/>
              </a:lnSpc>
              <a:spcBef>
                <a:spcPts val="440"/>
              </a:spcBef>
              <a:spcAft>
                <a:spcPts val="0"/>
              </a:spcAft>
              <a:buSzPts val="2200"/>
              <a:buChar char="▪"/>
            </a:pPr>
            <a:r>
              <a:rPr lang="en-US" sz="2200">
                <a:latin typeface="Arial"/>
                <a:ea typeface="Arial"/>
                <a:cs typeface="Arial"/>
                <a:sym typeface="Arial"/>
              </a:rPr>
              <a:t>a set of 32 bits IP address which the bits in the </a:t>
            </a:r>
            <a:r>
              <a:rPr lang="en-US" sz="2200">
                <a:solidFill>
                  <a:srgbClr val="FF0000"/>
                </a:solidFill>
                <a:latin typeface="Arial"/>
                <a:ea typeface="Arial"/>
                <a:cs typeface="Arial"/>
                <a:sym typeface="Arial"/>
              </a:rPr>
              <a:t>network portion</a:t>
            </a:r>
            <a:r>
              <a:rPr lang="en-US" sz="2200">
                <a:latin typeface="Arial"/>
                <a:ea typeface="Arial"/>
                <a:cs typeface="Arial"/>
                <a:sym typeface="Arial"/>
              </a:rPr>
              <a:t> of the address are </a:t>
            </a:r>
            <a:r>
              <a:rPr lang="en-US" sz="2200">
                <a:solidFill>
                  <a:srgbClr val="FF0000"/>
                </a:solidFill>
                <a:latin typeface="Arial"/>
                <a:ea typeface="Arial"/>
                <a:cs typeface="Arial"/>
                <a:sym typeface="Arial"/>
              </a:rPr>
              <a:t>set to </a:t>
            </a:r>
            <a:r>
              <a:rPr lang="en-US" sz="2200" b="1">
                <a:solidFill>
                  <a:srgbClr val="FF0000"/>
                </a:solidFill>
                <a:latin typeface="Arial"/>
                <a:ea typeface="Arial"/>
                <a:cs typeface="Arial"/>
                <a:sym typeface="Arial"/>
              </a:rPr>
              <a:t>1s</a:t>
            </a:r>
            <a:r>
              <a:rPr lang="en-US" sz="2200">
                <a:latin typeface="Arial"/>
                <a:ea typeface="Arial"/>
                <a:cs typeface="Arial"/>
                <a:sym typeface="Arial"/>
              </a:rPr>
              <a:t> and the </a:t>
            </a:r>
            <a:r>
              <a:rPr lang="en-US" sz="2200">
                <a:solidFill>
                  <a:srgbClr val="008000"/>
                </a:solidFill>
                <a:latin typeface="Arial"/>
                <a:ea typeface="Arial"/>
                <a:cs typeface="Arial"/>
                <a:sym typeface="Arial"/>
              </a:rPr>
              <a:t>host portion</a:t>
            </a:r>
            <a:r>
              <a:rPr lang="en-US" sz="2200">
                <a:latin typeface="Arial"/>
                <a:ea typeface="Arial"/>
                <a:cs typeface="Arial"/>
                <a:sym typeface="Arial"/>
              </a:rPr>
              <a:t> is </a:t>
            </a:r>
            <a:r>
              <a:rPr lang="en-US" sz="2200">
                <a:solidFill>
                  <a:srgbClr val="008000"/>
                </a:solidFill>
                <a:latin typeface="Arial"/>
                <a:ea typeface="Arial"/>
                <a:cs typeface="Arial"/>
                <a:sym typeface="Arial"/>
              </a:rPr>
              <a:t>set to </a:t>
            </a:r>
            <a:r>
              <a:rPr lang="en-US" sz="2200" b="1">
                <a:solidFill>
                  <a:srgbClr val="008000"/>
                </a:solidFill>
                <a:latin typeface="Arial"/>
                <a:ea typeface="Arial"/>
                <a:cs typeface="Arial"/>
                <a:sym typeface="Arial"/>
              </a:rPr>
              <a:t>0s</a:t>
            </a:r>
            <a:r>
              <a:rPr lang="en-US" sz="2200">
                <a:latin typeface="Arial"/>
                <a:ea typeface="Arial"/>
                <a:cs typeface="Arial"/>
                <a:sym typeface="Arial"/>
              </a:rPr>
              <a:t>.</a:t>
            </a:r>
            <a:endParaRPr/>
          </a:p>
        </p:txBody>
      </p:sp>
      <p:sp>
        <p:nvSpPr>
          <p:cNvPr id="217" name="Google Shape;217;p8"/>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61</a:t>
            </a:fld>
            <a:endParaRPr sz="1200">
              <a:solidFill>
                <a:schemeClr val="dk1"/>
              </a:solidFill>
              <a:latin typeface="Tahoma"/>
              <a:ea typeface="Tahoma"/>
              <a:cs typeface="Tahoma"/>
              <a:sym typeface="Tahoma"/>
            </a:endParaRPr>
          </a:p>
        </p:txBody>
      </p:sp>
      <p:sp>
        <p:nvSpPr>
          <p:cNvPr id="221" name="Google Shape;221;p8"/>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latin typeface="Arial"/>
                <a:ea typeface="Arial"/>
                <a:cs typeface="Arial"/>
                <a:sym typeface="Arial"/>
              </a:rPr>
              <a:t>IPv4 Addressing</a:t>
            </a:r>
            <a:endParaRPr sz="2800" dirty="0">
              <a:latin typeface="Arial"/>
              <a:ea typeface="Arial"/>
              <a:cs typeface="Arial"/>
              <a:sym typeface="Arial"/>
            </a:endParaRPr>
          </a:p>
        </p:txBody>
      </p:sp>
      <p:sp>
        <p:nvSpPr>
          <p:cNvPr id="222" name="Google Shape;222;p8"/>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dirty="0">
                <a:solidFill>
                  <a:srgbClr val="00B9FA"/>
                </a:solidFill>
                <a:latin typeface="Arial"/>
                <a:ea typeface="Arial"/>
                <a:cs typeface="Arial"/>
                <a:sym typeface="Arial"/>
              </a:rPr>
              <a:t>Subnet Mask</a:t>
            </a:r>
            <a:endParaRPr dirty="0"/>
          </a:p>
        </p:txBody>
      </p:sp>
      <p:sp>
        <p:nvSpPr>
          <p:cNvPr id="10" name="Right Triangle 9">
            <a:extLst>
              <a:ext uri="{FF2B5EF4-FFF2-40B4-BE49-F238E27FC236}">
                <a16:creationId xmlns:a16="http://schemas.microsoft.com/office/drawing/2014/main" id="{EB8150B6-4C2A-8046-8095-0D2B5401C03C}"/>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7917641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9"/>
          <p:cNvSpPr txBox="1">
            <a:spLocks noGrp="1"/>
          </p:cNvSpPr>
          <p:nvPr>
            <p:ph type="body" idx="1"/>
          </p:nvPr>
        </p:nvSpPr>
        <p:spPr>
          <a:xfrm>
            <a:off x="966787" y="4539282"/>
            <a:ext cx="7696200" cy="613295"/>
          </a:xfrm>
          <a:prstGeom prst="rect">
            <a:avLst/>
          </a:prstGeom>
          <a:noFill/>
          <a:ln>
            <a:noFill/>
          </a:ln>
        </p:spPr>
        <p:txBody>
          <a:bodyPr spcFirstLastPara="1" wrap="square" lIns="91425" tIns="45700" rIns="91425" bIns="45700" anchor="t" anchorCtr="0">
            <a:noAutofit/>
          </a:bodyPr>
          <a:lstStyle/>
          <a:p>
            <a:pPr>
              <a:lnSpc>
                <a:spcPct val="100000"/>
              </a:lnSpc>
              <a:spcBef>
                <a:spcPts val="0"/>
              </a:spcBef>
              <a:spcAft>
                <a:spcPts val="0"/>
              </a:spcAft>
              <a:buSzPts val="1430"/>
            </a:pPr>
            <a:r>
              <a:rPr lang="en-US" sz="2200" dirty="0">
                <a:latin typeface="Arial"/>
                <a:ea typeface="Arial"/>
                <a:cs typeface="Arial"/>
                <a:sym typeface="Arial"/>
              </a:rPr>
              <a:t>Thus, subnet mask =  </a:t>
            </a:r>
            <a:r>
              <a:rPr lang="en-US" sz="2200" b="1" dirty="0">
                <a:solidFill>
                  <a:srgbClr val="FF0000"/>
                </a:solidFill>
                <a:latin typeface="Courier New"/>
                <a:ea typeface="Courier New"/>
                <a:cs typeface="Courier New"/>
                <a:sym typeface="Courier New"/>
              </a:rPr>
              <a:t>255.255.255</a:t>
            </a:r>
            <a:r>
              <a:rPr lang="en-US" sz="2200" b="1" dirty="0">
                <a:solidFill>
                  <a:srgbClr val="002060"/>
                </a:solidFill>
                <a:latin typeface="Courier New"/>
                <a:ea typeface="Courier New"/>
                <a:cs typeface="Courier New"/>
                <a:sym typeface="Courier New"/>
              </a:rPr>
              <a:t>.</a:t>
            </a:r>
            <a:r>
              <a:rPr lang="en-US" sz="2200" b="1" dirty="0">
                <a:solidFill>
                  <a:srgbClr val="008000"/>
                </a:solidFill>
                <a:latin typeface="Courier New"/>
                <a:ea typeface="Courier New"/>
                <a:cs typeface="Courier New"/>
                <a:sym typeface="Courier New"/>
              </a:rPr>
              <a:t>0</a:t>
            </a:r>
            <a:endParaRPr sz="2200" b="1" dirty="0">
              <a:solidFill>
                <a:srgbClr val="008000"/>
              </a:solidFill>
              <a:latin typeface="Arial"/>
              <a:ea typeface="Arial"/>
              <a:cs typeface="Arial"/>
              <a:sym typeface="Arial"/>
            </a:endParaRPr>
          </a:p>
        </p:txBody>
      </p:sp>
      <p:sp>
        <p:nvSpPr>
          <p:cNvPr id="228" name="Google Shape;228;p9"/>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62</a:t>
            </a:fld>
            <a:endParaRPr sz="1200">
              <a:solidFill>
                <a:schemeClr val="dk1"/>
              </a:solidFill>
              <a:latin typeface="Tahoma"/>
              <a:ea typeface="Tahoma"/>
              <a:cs typeface="Tahoma"/>
              <a:sym typeface="Tahoma"/>
            </a:endParaRPr>
          </a:p>
        </p:txBody>
      </p:sp>
      <p:sp>
        <p:nvSpPr>
          <p:cNvPr id="232" name="Google Shape;232;p9"/>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latin typeface="Arial"/>
                <a:ea typeface="Arial"/>
                <a:cs typeface="Arial"/>
                <a:sym typeface="Arial"/>
              </a:rPr>
              <a:t>IPv4 Addressing</a:t>
            </a:r>
            <a:endParaRPr sz="2800" dirty="0">
              <a:latin typeface="Arial"/>
              <a:ea typeface="Arial"/>
              <a:cs typeface="Arial"/>
              <a:sym typeface="Arial"/>
            </a:endParaRPr>
          </a:p>
        </p:txBody>
      </p:sp>
      <p:sp>
        <p:nvSpPr>
          <p:cNvPr id="233" name="Google Shape;233;p9"/>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a:solidFill>
                  <a:srgbClr val="00B9FA"/>
                </a:solidFill>
                <a:latin typeface="Arial"/>
                <a:ea typeface="Arial"/>
                <a:cs typeface="Arial"/>
                <a:sym typeface="Arial"/>
              </a:rPr>
              <a:t>Subnet Mask</a:t>
            </a:r>
            <a:endParaRPr/>
          </a:p>
        </p:txBody>
      </p:sp>
      <p:grpSp>
        <p:nvGrpSpPr>
          <p:cNvPr id="234" name="Google Shape;234;p9"/>
          <p:cNvGrpSpPr/>
          <p:nvPr/>
        </p:nvGrpSpPr>
        <p:grpSpPr>
          <a:xfrm>
            <a:off x="1053902" y="3269414"/>
            <a:ext cx="4593958" cy="741615"/>
            <a:chOff x="1053902" y="3269414"/>
            <a:chExt cx="4593958" cy="741615"/>
          </a:xfrm>
        </p:grpSpPr>
        <p:sp>
          <p:nvSpPr>
            <p:cNvPr id="235" name="Google Shape;235;p9"/>
            <p:cNvSpPr txBox="1"/>
            <p:nvPr/>
          </p:nvSpPr>
          <p:spPr>
            <a:xfrm>
              <a:off x="2202392" y="3580142"/>
              <a:ext cx="2160392"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rgbClr val="FF0000"/>
                  </a:solidFill>
                  <a:latin typeface="Arial"/>
                  <a:ea typeface="Arial"/>
                  <a:cs typeface="Arial"/>
                  <a:sym typeface="Arial"/>
                </a:rPr>
                <a:t>Network portion</a:t>
              </a:r>
              <a:endParaRPr/>
            </a:p>
          </p:txBody>
        </p:sp>
        <p:sp>
          <p:nvSpPr>
            <p:cNvPr id="236" name="Google Shape;236;p9"/>
            <p:cNvSpPr/>
            <p:nvPr/>
          </p:nvSpPr>
          <p:spPr>
            <a:xfrm rot="5400000">
              <a:off x="3198871" y="1124444"/>
              <a:ext cx="304019" cy="4593958"/>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37" name="Google Shape;237;p9"/>
          <p:cNvGrpSpPr/>
          <p:nvPr/>
        </p:nvGrpSpPr>
        <p:grpSpPr>
          <a:xfrm>
            <a:off x="5597588" y="3300225"/>
            <a:ext cx="1705791" cy="728106"/>
            <a:chOff x="5597588" y="3300225"/>
            <a:chExt cx="1705791" cy="728106"/>
          </a:xfrm>
        </p:grpSpPr>
        <p:sp>
          <p:nvSpPr>
            <p:cNvPr id="238" name="Google Shape;238;p9"/>
            <p:cNvSpPr txBox="1"/>
            <p:nvPr/>
          </p:nvSpPr>
          <p:spPr>
            <a:xfrm>
              <a:off x="5597588" y="3597443"/>
              <a:ext cx="1705791"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rgbClr val="008000"/>
                  </a:solidFill>
                  <a:latin typeface="Arial"/>
                  <a:ea typeface="Arial"/>
                  <a:cs typeface="Arial"/>
                  <a:sym typeface="Arial"/>
                </a:rPr>
                <a:t>Host portion</a:t>
              </a:r>
              <a:endParaRPr/>
            </a:p>
          </p:txBody>
        </p:sp>
        <p:sp>
          <p:nvSpPr>
            <p:cNvPr id="239" name="Google Shape;239;p9"/>
            <p:cNvSpPr/>
            <p:nvPr/>
          </p:nvSpPr>
          <p:spPr>
            <a:xfrm rot="5400000">
              <a:off x="6286704" y="2661381"/>
              <a:ext cx="266410" cy="1544097"/>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40" name="Google Shape;240;p9"/>
          <p:cNvGrpSpPr/>
          <p:nvPr/>
        </p:nvGrpSpPr>
        <p:grpSpPr>
          <a:xfrm>
            <a:off x="1030653" y="2310205"/>
            <a:ext cx="6184561" cy="857277"/>
            <a:chOff x="1030653" y="2310205"/>
            <a:chExt cx="6184561" cy="857277"/>
          </a:xfrm>
        </p:grpSpPr>
        <p:grpSp>
          <p:nvGrpSpPr>
            <p:cNvPr id="241" name="Google Shape;241;p9"/>
            <p:cNvGrpSpPr/>
            <p:nvPr/>
          </p:nvGrpSpPr>
          <p:grpSpPr>
            <a:xfrm>
              <a:off x="1030653" y="2732805"/>
              <a:ext cx="6163875" cy="434677"/>
              <a:chOff x="1030653" y="2732805"/>
              <a:chExt cx="6163875" cy="434677"/>
            </a:xfrm>
          </p:grpSpPr>
          <p:sp>
            <p:nvSpPr>
              <p:cNvPr id="242" name="Google Shape;242;p9"/>
              <p:cNvSpPr txBox="1"/>
              <p:nvPr/>
            </p:nvSpPr>
            <p:spPr>
              <a:xfrm>
                <a:off x="1030653" y="2732805"/>
                <a:ext cx="1539103" cy="430887"/>
              </a:xfrm>
              <a:prstGeom prst="rect">
                <a:avLst/>
              </a:prstGeom>
              <a:solidFill>
                <a:srgbClr val="FF6600">
                  <a:alpha val="49803"/>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Courier New"/>
                    <a:ea typeface="Courier New"/>
                    <a:cs typeface="Courier New"/>
                    <a:sym typeface="Courier New"/>
                  </a:rPr>
                  <a:t>11111111</a:t>
                </a:r>
                <a:endParaRPr/>
              </a:p>
            </p:txBody>
          </p:sp>
          <p:sp>
            <p:nvSpPr>
              <p:cNvPr id="243" name="Google Shape;243;p9"/>
              <p:cNvSpPr txBox="1"/>
              <p:nvPr/>
            </p:nvSpPr>
            <p:spPr>
              <a:xfrm>
                <a:off x="2574758" y="2736595"/>
                <a:ext cx="1539103" cy="430887"/>
              </a:xfrm>
              <a:prstGeom prst="rect">
                <a:avLst/>
              </a:prstGeom>
              <a:solidFill>
                <a:srgbClr val="FF6600">
                  <a:alpha val="49803"/>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Courier New"/>
                    <a:ea typeface="Courier New"/>
                    <a:cs typeface="Courier New"/>
                    <a:sym typeface="Courier New"/>
                  </a:rPr>
                  <a:t>11111111</a:t>
                </a:r>
                <a:endParaRPr/>
              </a:p>
            </p:txBody>
          </p:sp>
          <p:sp>
            <p:nvSpPr>
              <p:cNvPr id="244" name="Google Shape;244;p9"/>
              <p:cNvSpPr txBox="1"/>
              <p:nvPr/>
            </p:nvSpPr>
            <p:spPr>
              <a:xfrm>
                <a:off x="4115091" y="2736595"/>
                <a:ext cx="1539103" cy="430887"/>
              </a:xfrm>
              <a:prstGeom prst="rect">
                <a:avLst/>
              </a:prstGeom>
              <a:solidFill>
                <a:srgbClr val="FF6600">
                  <a:alpha val="49803"/>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Courier New"/>
                    <a:ea typeface="Courier New"/>
                    <a:cs typeface="Courier New"/>
                    <a:sym typeface="Courier New"/>
                  </a:rPr>
                  <a:t>11111111</a:t>
                </a:r>
                <a:endParaRPr/>
              </a:p>
            </p:txBody>
          </p:sp>
          <p:sp>
            <p:nvSpPr>
              <p:cNvPr id="245" name="Google Shape;245;p9"/>
              <p:cNvSpPr txBox="1"/>
              <p:nvPr/>
            </p:nvSpPr>
            <p:spPr>
              <a:xfrm>
                <a:off x="5655425" y="2736595"/>
                <a:ext cx="1539103" cy="430887"/>
              </a:xfrm>
              <a:prstGeom prst="rect">
                <a:avLst/>
              </a:prstGeom>
              <a:solidFill>
                <a:srgbClr val="60C89B"/>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Courier New"/>
                    <a:ea typeface="Courier New"/>
                    <a:cs typeface="Courier New"/>
                    <a:sym typeface="Courier New"/>
                  </a:rPr>
                  <a:t>00000000</a:t>
                </a:r>
                <a:endParaRPr/>
              </a:p>
            </p:txBody>
          </p:sp>
        </p:grpSp>
        <p:sp>
          <p:nvSpPr>
            <p:cNvPr id="246" name="Google Shape;246;p9"/>
            <p:cNvSpPr txBox="1"/>
            <p:nvPr/>
          </p:nvSpPr>
          <p:spPr>
            <a:xfrm>
              <a:off x="1459256" y="2310205"/>
              <a:ext cx="575595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8 bits	           8 bits	     8 bits		8 bits</a:t>
              </a:r>
              <a:endParaRPr/>
            </a:p>
          </p:txBody>
        </p:sp>
      </p:grpSp>
      <p:sp>
        <p:nvSpPr>
          <p:cNvPr id="247" name="Google Shape;247;p9"/>
          <p:cNvSpPr txBox="1"/>
          <p:nvPr/>
        </p:nvSpPr>
        <p:spPr>
          <a:xfrm>
            <a:off x="829033" y="1239069"/>
            <a:ext cx="7696200" cy="57276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99"/>
              </a:buClr>
              <a:buSzPts val="1430"/>
              <a:buFont typeface="Noto Sans Symbols"/>
              <a:buChar char="❖"/>
            </a:pPr>
            <a:r>
              <a:rPr lang="en-US" sz="2200">
                <a:solidFill>
                  <a:schemeClr val="dk1"/>
                </a:solidFill>
                <a:latin typeface="Arial"/>
                <a:ea typeface="Arial"/>
                <a:cs typeface="Arial"/>
                <a:sym typeface="Arial"/>
              </a:rPr>
              <a:t>IP address with </a:t>
            </a:r>
            <a:r>
              <a:rPr lang="en-US" sz="2200" b="1">
                <a:solidFill>
                  <a:srgbClr val="FF0000"/>
                </a:solidFill>
                <a:latin typeface="Courier New"/>
                <a:ea typeface="Courier New"/>
                <a:cs typeface="Courier New"/>
                <a:sym typeface="Courier New"/>
              </a:rPr>
              <a:t>w.x.y.z /24</a:t>
            </a:r>
            <a:r>
              <a:rPr lang="en-US" sz="2200">
                <a:solidFill>
                  <a:srgbClr val="002060"/>
                </a:solidFill>
                <a:latin typeface="Courier New"/>
                <a:ea typeface="Courier New"/>
                <a:cs typeface="Courier New"/>
                <a:sym typeface="Courier New"/>
              </a:rPr>
              <a:t> </a:t>
            </a:r>
            <a:r>
              <a:rPr lang="en-US" sz="2200">
                <a:solidFill>
                  <a:srgbClr val="002060"/>
                </a:solidFill>
                <a:latin typeface="Arial"/>
                <a:ea typeface="Arial"/>
                <a:cs typeface="Arial"/>
                <a:sym typeface="Arial"/>
              </a:rPr>
              <a:t>address</a:t>
            </a:r>
            <a:r>
              <a:rPr lang="en-US" sz="2200">
                <a:solidFill>
                  <a:schemeClr val="dk1"/>
                </a:solidFill>
                <a:latin typeface="Arial"/>
                <a:ea typeface="Arial"/>
                <a:cs typeface="Arial"/>
                <a:sym typeface="Arial"/>
              </a:rPr>
              <a:t>.</a:t>
            </a:r>
            <a:endParaRPr/>
          </a:p>
        </p:txBody>
      </p:sp>
      <p:sp>
        <p:nvSpPr>
          <p:cNvPr id="23" name="Right Triangle 22">
            <a:extLst>
              <a:ext uri="{FF2B5EF4-FFF2-40B4-BE49-F238E27FC236}">
                <a16:creationId xmlns:a16="http://schemas.microsoft.com/office/drawing/2014/main" id="{9B33C748-1C80-5C48-9EEF-B1ADAFBF162B}"/>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6019417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3" name="Google Shape;253;p10"/>
          <p:cNvSpPr txBox="1">
            <a:spLocks noGrp="1"/>
          </p:cNvSpPr>
          <p:nvPr>
            <p:ph type="body" idx="1"/>
          </p:nvPr>
        </p:nvSpPr>
        <p:spPr>
          <a:xfrm>
            <a:off x="319341" y="1516975"/>
            <a:ext cx="8505317" cy="3865180"/>
          </a:xfrm>
          <a:prstGeom prst="rect">
            <a:avLst/>
          </a:prstGeom>
          <a:noFill/>
          <a:ln>
            <a:noFill/>
          </a:ln>
        </p:spPr>
        <p:txBody>
          <a:bodyPr spcFirstLastPara="1" wrap="square" lIns="91425" tIns="45700" rIns="91425" bIns="45700" anchor="t" anchorCtr="0">
            <a:normAutofit/>
          </a:bodyPr>
          <a:lstStyle/>
          <a:p>
            <a:pPr marL="342900" lvl="0" indent="-342900" algn="l" rtl="0">
              <a:lnSpc>
                <a:spcPct val="85000"/>
              </a:lnSpc>
              <a:spcBef>
                <a:spcPts val="0"/>
              </a:spcBef>
              <a:spcAft>
                <a:spcPts val="0"/>
              </a:spcAft>
              <a:buSzPts val="1560"/>
              <a:buChar char="❖"/>
            </a:pPr>
            <a:r>
              <a:rPr lang="en-US" sz="2400" dirty="0">
                <a:latin typeface="Arial"/>
                <a:ea typeface="Arial"/>
                <a:cs typeface="Arial"/>
                <a:sym typeface="Arial"/>
              </a:rPr>
              <a:t>Each IP address can be divided into </a:t>
            </a:r>
            <a:r>
              <a:rPr lang="en-US" sz="2400" dirty="0">
                <a:solidFill>
                  <a:srgbClr val="FF0000"/>
                </a:solidFill>
                <a:latin typeface="Arial"/>
                <a:ea typeface="Arial"/>
                <a:cs typeface="Arial"/>
                <a:sym typeface="Arial"/>
              </a:rPr>
              <a:t>network portion</a:t>
            </a:r>
            <a:r>
              <a:rPr lang="en-US" sz="2400" dirty="0">
                <a:solidFill>
                  <a:srgbClr val="C00000"/>
                </a:solidFill>
                <a:latin typeface="Arial"/>
                <a:ea typeface="Arial"/>
                <a:cs typeface="Arial"/>
                <a:sym typeface="Arial"/>
              </a:rPr>
              <a:t> </a:t>
            </a:r>
            <a:r>
              <a:rPr lang="en-US" sz="2400" dirty="0">
                <a:latin typeface="Arial"/>
                <a:ea typeface="Arial"/>
                <a:cs typeface="Arial"/>
                <a:sym typeface="Arial"/>
              </a:rPr>
              <a:t>and </a:t>
            </a:r>
            <a:r>
              <a:rPr lang="en-US" sz="2400" dirty="0">
                <a:solidFill>
                  <a:srgbClr val="FF0000"/>
                </a:solidFill>
                <a:latin typeface="Arial"/>
                <a:ea typeface="Arial"/>
                <a:cs typeface="Arial"/>
                <a:sym typeface="Arial"/>
              </a:rPr>
              <a:t>host portion</a:t>
            </a:r>
            <a:endParaRPr dirty="0"/>
          </a:p>
          <a:p>
            <a:pPr marL="742950" lvl="1" indent="-285750" algn="l" rtl="0">
              <a:lnSpc>
                <a:spcPct val="85000"/>
              </a:lnSpc>
              <a:spcBef>
                <a:spcPts val="600"/>
              </a:spcBef>
              <a:spcAft>
                <a:spcPts val="0"/>
              </a:spcAft>
              <a:buSzPts val="2200"/>
              <a:buChar char="▪"/>
            </a:pPr>
            <a:r>
              <a:rPr lang="en-US" sz="2200" b="1" dirty="0">
                <a:latin typeface="Arial"/>
                <a:ea typeface="Arial"/>
                <a:cs typeface="Arial"/>
                <a:sym typeface="Arial"/>
              </a:rPr>
              <a:t>Network</a:t>
            </a:r>
            <a:r>
              <a:rPr lang="en-US" sz="2200" dirty="0">
                <a:latin typeface="Arial"/>
                <a:ea typeface="Arial"/>
                <a:cs typeface="Arial"/>
                <a:sym typeface="Arial"/>
              </a:rPr>
              <a:t> </a:t>
            </a:r>
            <a:r>
              <a:rPr lang="en-US" sz="2200" b="1" dirty="0">
                <a:latin typeface="Arial"/>
                <a:ea typeface="Arial"/>
                <a:cs typeface="Arial"/>
                <a:sym typeface="Arial"/>
              </a:rPr>
              <a:t>portion</a:t>
            </a:r>
            <a:r>
              <a:rPr lang="en-US" sz="2200" dirty="0">
                <a:latin typeface="Arial"/>
                <a:ea typeface="Arial"/>
                <a:cs typeface="Arial"/>
                <a:sym typeface="Arial"/>
              </a:rPr>
              <a:t> (indicated by </a:t>
            </a:r>
            <a:r>
              <a:rPr lang="en-US" sz="2200" dirty="0">
                <a:solidFill>
                  <a:srgbClr val="FF0000"/>
                </a:solidFill>
                <a:latin typeface="Arial"/>
                <a:ea typeface="Arial"/>
                <a:cs typeface="Arial"/>
                <a:sym typeface="Arial"/>
              </a:rPr>
              <a:t>subnet mask</a:t>
            </a:r>
            <a:r>
              <a:rPr lang="en-US" sz="2200" dirty="0">
                <a:latin typeface="Arial"/>
                <a:ea typeface="Arial"/>
                <a:cs typeface="Arial"/>
                <a:sym typeface="Arial"/>
              </a:rPr>
              <a:t>) </a:t>
            </a:r>
            <a:endParaRPr dirty="0"/>
          </a:p>
          <a:p>
            <a:pPr marL="1143000" lvl="2" indent="-228600" algn="l" rtl="0">
              <a:spcBef>
                <a:spcPts val="600"/>
              </a:spcBef>
              <a:spcAft>
                <a:spcPts val="0"/>
              </a:spcAft>
              <a:buClr>
                <a:schemeClr val="dk1"/>
              </a:buClr>
              <a:buSzPts val="2000"/>
              <a:buFont typeface="Arial"/>
              <a:buChar char="•"/>
            </a:pPr>
            <a:r>
              <a:rPr lang="en-US" dirty="0">
                <a:latin typeface="Arial"/>
                <a:ea typeface="Arial"/>
                <a:cs typeface="Arial"/>
                <a:sym typeface="Arial"/>
              </a:rPr>
              <a:t>all host with </a:t>
            </a:r>
            <a:r>
              <a:rPr lang="en-US" dirty="0">
                <a:solidFill>
                  <a:srgbClr val="FF0000"/>
                </a:solidFill>
                <a:latin typeface="Arial"/>
                <a:ea typeface="Arial"/>
                <a:cs typeface="Arial"/>
                <a:sym typeface="Arial"/>
              </a:rPr>
              <a:t>same network portion</a:t>
            </a:r>
            <a:r>
              <a:rPr lang="en-US" dirty="0">
                <a:latin typeface="Arial"/>
                <a:ea typeface="Arial"/>
                <a:cs typeface="Arial"/>
                <a:sym typeface="Arial"/>
              </a:rPr>
              <a:t> are in the </a:t>
            </a:r>
            <a:r>
              <a:rPr lang="en-US" dirty="0">
                <a:solidFill>
                  <a:srgbClr val="FF0000"/>
                </a:solidFill>
                <a:latin typeface="Arial"/>
                <a:ea typeface="Arial"/>
                <a:cs typeface="Arial"/>
                <a:sym typeface="Arial"/>
              </a:rPr>
              <a:t>same subnet</a:t>
            </a:r>
            <a:endParaRPr dirty="0"/>
          </a:p>
          <a:p>
            <a:pPr marL="1143000" lvl="2" indent="-228600" algn="l" rtl="0">
              <a:spcBef>
                <a:spcPts val="600"/>
              </a:spcBef>
              <a:spcAft>
                <a:spcPts val="0"/>
              </a:spcAft>
              <a:buClr>
                <a:schemeClr val="dk1"/>
              </a:buClr>
              <a:buSzPts val="2000"/>
              <a:buFont typeface="Arial"/>
              <a:buChar char="•"/>
            </a:pPr>
            <a:r>
              <a:rPr lang="en-US" dirty="0">
                <a:latin typeface="Arial"/>
                <a:ea typeface="Arial"/>
                <a:cs typeface="Arial"/>
                <a:sym typeface="Arial"/>
              </a:rPr>
              <a:t>these host can </a:t>
            </a:r>
            <a:r>
              <a:rPr lang="en-US" dirty="0">
                <a:solidFill>
                  <a:srgbClr val="FF0000"/>
                </a:solidFill>
                <a:latin typeface="Arial"/>
                <a:ea typeface="Arial"/>
                <a:cs typeface="Arial"/>
                <a:sym typeface="Arial"/>
              </a:rPr>
              <a:t>physically reach each other</a:t>
            </a:r>
            <a:r>
              <a:rPr lang="en-US" dirty="0">
                <a:latin typeface="Arial"/>
                <a:ea typeface="Arial"/>
                <a:cs typeface="Arial"/>
                <a:sym typeface="Arial"/>
              </a:rPr>
              <a:t> without intervening router</a:t>
            </a:r>
            <a:endParaRPr dirty="0"/>
          </a:p>
          <a:p>
            <a:pPr marL="742950" lvl="1" indent="-285750" algn="l" rtl="0">
              <a:lnSpc>
                <a:spcPct val="85000"/>
              </a:lnSpc>
              <a:spcBef>
                <a:spcPts val="600"/>
              </a:spcBef>
              <a:spcAft>
                <a:spcPts val="0"/>
              </a:spcAft>
              <a:buSzPts val="2200"/>
              <a:buChar char="▪"/>
            </a:pPr>
            <a:r>
              <a:rPr lang="en-US" sz="2200" b="1" dirty="0">
                <a:latin typeface="Arial"/>
                <a:ea typeface="Arial"/>
                <a:cs typeface="Arial"/>
                <a:sym typeface="Arial"/>
              </a:rPr>
              <a:t>Host</a:t>
            </a:r>
            <a:r>
              <a:rPr lang="en-US" sz="2200" dirty="0">
                <a:latin typeface="Arial"/>
                <a:ea typeface="Arial"/>
                <a:cs typeface="Arial"/>
                <a:sym typeface="Arial"/>
              </a:rPr>
              <a:t> </a:t>
            </a:r>
            <a:r>
              <a:rPr lang="en-US" sz="2200" b="1" dirty="0">
                <a:latin typeface="Arial"/>
                <a:ea typeface="Arial"/>
                <a:cs typeface="Arial"/>
                <a:sym typeface="Arial"/>
              </a:rPr>
              <a:t>portion</a:t>
            </a:r>
            <a:r>
              <a:rPr lang="en-US" sz="2200" dirty="0">
                <a:latin typeface="Arial"/>
                <a:ea typeface="Arial"/>
                <a:cs typeface="Arial"/>
                <a:sym typeface="Arial"/>
              </a:rPr>
              <a:t> (the remaining bits </a:t>
            </a:r>
            <a:r>
              <a:rPr lang="en-US" sz="2200" dirty="0">
                <a:latin typeface="Arial"/>
                <a:ea typeface="Arial"/>
                <a:cs typeface="Arial"/>
                <a:sym typeface="Wingdings" panose="05000000000000000000" pitchFamily="2" charset="2"/>
              </a:rPr>
              <a:t> </a:t>
            </a:r>
            <a:r>
              <a:rPr lang="en-US" sz="2200" dirty="0">
                <a:solidFill>
                  <a:srgbClr val="FF0000"/>
                </a:solidFill>
                <a:latin typeface="Arial"/>
                <a:ea typeface="Arial"/>
                <a:cs typeface="Arial"/>
                <a:sym typeface="Arial"/>
              </a:rPr>
              <a:t>{32 bits – subnet mask</a:t>
            </a:r>
            <a:r>
              <a:rPr lang="en-US" sz="2200" dirty="0">
                <a:solidFill>
                  <a:srgbClr val="0070C0"/>
                </a:solidFill>
                <a:latin typeface="Arial"/>
                <a:ea typeface="Arial"/>
                <a:cs typeface="Arial"/>
                <a:sym typeface="Arial"/>
              </a:rPr>
              <a:t> </a:t>
            </a:r>
            <a:r>
              <a:rPr lang="en-US" sz="2200" dirty="0">
                <a:solidFill>
                  <a:srgbClr val="FF0000"/>
                </a:solidFill>
                <a:latin typeface="Arial"/>
                <a:ea typeface="Arial"/>
                <a:cs typeface="Arial"/>
                <a:sym typeface="Arial"/>
              </a:rPr>
              <a:t>}</a:t>
            </a:r>
            <a:r>
              <a:rPr lang="en-US" sz="2200" dirty="0">
                <a:latin typeface="Arial"/>
                <a:ea typeface="Arial"/>
                <a:cs typeface="Arial"/>
                <a:sym typeface="Arial"/>
              </a:rPr>
              <a:t>)</a:t>
            </a:r>
            <a:endParaRPr dirty="0"/>
          </a:p>
          <a:p>
            <a:pPr marL="1143000" lvl="2" indent="-228600" algn="l" rtl="0">
              <a:spcBef>
                <a:spcPts val="600"/>
              </a:spcBef>
              <a:spcAft>
                <a:spcPts val="0"/>
              </a:spcAft>
              <a:buClr>
                <a:schemeClr val="dk1"/>
              </a:buClr>
              <a:buSzPts val="2000"/>
              <a:buFont typeface="Arial"/>
              <a:buChar char="•"/>
            </a:pPr>
            <a:r>
              <a:rPr lang="en-US" dirty="0">
                <a:latin typeface="Arial"/>
                <a:ea typeface="Arial"/>
                <a:cs typeface="Arial"/>
                <a:sym typeface="Arial"/>
              </a:rPr>
              <a:t>The individual (unique) address for a host</a:t>
            </a:r>
            <a:endParaRPr dirty="0"/>
          </a:p>
          <a:p>
            <a:pPr marL="1143000" lvl="2" indent="-161925" algn="l" rtl="0">
              <a:spcBef>
                <a:spcPts val="600"/>
              </a:spcBef>
              <a:spcAft>
                <a:spcPts val="0"/>
              </a:spcAft>
              <a:buClr>
                <a:schemeClr val="dk1"/>
              </a:buClr>
              <a:buSzPts val="1050"/>
              <a:buFont typeface="Comic Sans MS"/>
              <a:buNone/>
            </a:pPr>
            <a:endParaRPr sz="1050" dirty="0">
              <a:latin typeface="Arial"/>
              <a:ea typeface="Arial"/>
              <a:cs typeface="Arial"/>
              <a:sym typeface="Arial"/>
            </a:endParaRPr>
          </a:p>
          <a:p>
            <a:pPr marL="742950" lvl="1" indent="-285750" algn="l" rtl="0">
              <a:lnSpc>
                <a:spcPct val="85000"/>
              </a:lnSpc>
              <a:spcBef>
                <a:spcPts val="600"/>
              </a:spcBef>
              <a:spcAft>
                <a:spcPts val="0"/>
              </a:spcAft>
              <a:buSzPts val="2200"/>
              <a:buChar char="▪"/>
            </a:pPr>
            <a:r>
              <a:rPr lang="en-US" sz="2200" dirty="0">
                <a:latin typeface="Arial"/>
                <a:ea typeface="Arial"/>
                <a:cs typeface="Arial"/>
                <a:sym typeface="Arial"/>
              </a:rPr>
              <a:t>Example: 192.64.22.31/24</a:t>
            </a:r>
            <a:endParaRPr sz="2200" dirty="0">
              <a:latin typeface="Arial"/>
              <a:ea typeface="Arial"/>
              <a:cs typeface="Arial"/>
              <a:sym typeface="Arial"/>
            </a:endParaRPr>
          </a:p>
          <a:p>
            <a:pPr marL="1143000" lvl="2" indent="-114300" algn="l" rtl="0">
              <a:spcBef>
                <a:spcPts val="600"/>
              </a:spcBef>
              <a:spcAft>
                <a:spcPts val="0"/>
              </a:spcAft>
              <a:buClr>
                <a:schemeClr val="dk1"/>
              </a:buClr>
              <a:buSzPts val="1800"/>
              <a:buFont typeface="Comic Sans MS"/>
              <a:buNone/>
            </a:pPr>
            <a:endParaRPr sz="1800" dirty="0">
              <a:latin typeface="Arial"/>
              <a:ea typeface="Arial"/>
              <a:cs typeface="Arial"/>
              <a:sym typeface="Arial"/>
            </a:endParaRPr>
          </a:p>
          <a:p>
            <a:pPr marL="342900" lvl="0" indent="-243840" algn="l" rtl="0">
              <a:lnSpc>
                <a:spcPct val="85000"/>
              </a:lnSpc>
              <a:spcBef>
                <a:spcPts val="600"/>
              </a:spcBef>
              <a:spcAft>
                <a:spcPts val="0"/>
              </a:spcAft>
              <a:buSzPts val="1560"/>
              <a:buNone/>
            </a:pPr>
            <a:endParaRPr sz="2400" dirty="0">
              <a:latin typeface="Arial"/>
              <a:ea typeface="Arial"/>
              <a:cs typeface="Arial"/>
              <a:sym typeface="Arial"/>
            </a:endParaRPr>
          </a:p>
        </p:txBody>
      </p:sp>
      <p:grpSp>
        <p:nvGrpSpPr>
          <p:cNvPr id="254" name="Google Shape;254;p10"/>
          <p:cNvGrpSpPr/>
          <p:nvPr/>
        </p:nvGrpSpPr>
        <p:grpSpPr>
          <a:xfrm>
            <a:off x="1924472" y="5108221"/>
            <a:ext cx="5328592" cy="688142"/>
            <a:chOff x="2123728" y="2204864"/>
            <a:chExt cx="5328592" cy="688142"/>
          </a:xfrm>
        </p:grpSpPr>
        <p:sp>
          <p:nvSpPr>
            <p:cNvPr id="255" name="Google Shape;255;p10"/>
            <p:cNvSpPr txBox="1"/>
            <p:nvPr/>
          </p:nvSpPr>
          <p:spPr>
            <a:xfrm>
              <a:off x="2123728" y="2492896"/>
              <a:ext cx="5328592" cy="400110"/>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11000000 . 01000000 . 00010110 . 00011111 </a:t>
              </a:r>
              <a:endParaRPr sz="2000">
                <a:solidFill>
                  <a:schemeClr val="dk1"/>
                </a:solidFill>
                <a:latin typeface="Arial"/>
                <a:ea typeface="Arial"/>
                <a:cs typeface="Arial"/>
                <a:sym typeface="Arial"/>
              </a:endParaRPr>
            </a:p>
          </p:txBody>
        </p:sp>
        <p:sp>
          <p:nvSpPr>
            <p:cNvPr id="256" name="Google Shape;256;p10"/>
            <p:cNvSpPr txBox="1"/>
            <p:nvPr/>
          </p:nvSpPr>
          <p:spPr>
            <a:xfrm>
              <a:off x="2483768" y="2204864"/>
              <a:ext cx="576064" cy="369332"/>
            </a:xfrm>
            <a:prstGeom prst="rect">
              <a:avLst/>
            </a:prstGeom>
            <a:solidFill>
              <a:srgbClr val="00B0F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192</a:t>
              </a:r>
              <a:endParaRPr sz="1800">
                <a:solidFill>
                  <a:schemeClr val="dk1"/>
                </a:solidFill>
                <a:latin typeface="Arial"/>
                <a:ea typeface="Arial"/>
                <a:cs typeface="Arial"/>
                <a:sym typeface="Arial"/>
              </a:endParaRPr>
            </a:p>
          </p:txBody>
        </p:sp>
        <p:sp>
          <p:nvSpPr>
            <p:cNvPr id="257" name="Google Shape;257;p10"/>
            <p:cNvSpPr txBox="1"/>
            <p:nvPr/>
          </p:nvSpPr>
          <p:spPr>
            <a:xfrm>
              <a:off x="3851920" y="2204864"/>
              <a:ext cx="576064" cy="369332"/>
            </a:xfrm>
            <a:prstGeom prst="rect">
              <a:avLst/>
            </a:prstGeom>
            <a:solidFill>
              <a:srgbClr val="00B0F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64</a:t>
              </a:r>
              <a:endParaRPr sz="1800">
                <a:solidFill>
                  <a:schemeClr val="dk1"/>
                </a:solidFill>
                <a:latin typeface="Arial"/>
                <a:ea typeface="Arial"/>
                <a:cs typeface="Arial"/>
                <a:sym typeface="Arial"/>
              </a:endParaRPr>
            </a:p>
          </p:txBody>
        </p:sp>
        <p:sp>
          <p:nvSpPr>
            <p:cNvPr id="258" name="Google Shape;258;p10"/>
            <p:cNvSpPr txBox="1"/>
            <p:nvPr/>
          </p:nvSpPr>
          <p:spPr>
            <a:xfrm>
              <a:off x="5292080" y="2204864"/>
              <a:ext cx="576064" cy="369332"/>
            </a:xfrm>
            <a:prstGeom prst="rect">
              <a:avLst/>
            </a:prstGeom>
            <a:solidFill>
              <a:srgbClr val="00B0F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22</a:t>
              </a:r>
              <a:endParaRPr sz="1800">
                <a:solidFill>
                  <a:schemeClr val="dk1"/>
                </a:solidFill>
                <a:latin typeface="Arial"/>
                <a:ea typeface="Arial"/>
                <a:cs typeface="Arial"/>
                <a:sym typeface="Arial"/>
              </a:endParaRPr>
            </a:p>
          </p:txBody>
        </p:sp>
        <p:sp>
          <p:nvSpPr>
            <p:cNvPr id="259" name="Google Shape;259;p10"/>
            <p:cNvSpPr txBox="1"/>
            <p:nvPr/>
          </p:nvSpPr>
          <p:spPr>
            <a:xfrm>
              <a:off x="6516216" y="2204864"/>
              <a:ext cx="576064" cy="369332"/>
            </a:xfrm>
            <a:prstGeom prst="rect">
              <a:avLst/>
            </a:prstGeom>
            <a:solidFill>
              <a:srgbClr val="00B0F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31</a:t>
              </a:r>
              <a:endParaRPr sz="1800">
                <a:solidFill>
                  <a:schemeClr val="dk1"/>
                </a:solidFill>
                <a:latin typeface="Arial"/>
                <a:ea typeface="Arial"/>
                <a:cs typeface="Arial"/>
                <a:sym typeface="Arial"/>
              </a:endParaRPr>
            </a:p>
          </p:txBody>
        </p:sp>
      </p:grpSp>
      <p:grpSp>
        <p:nvGrpSpPr>
          <p:cNvPr id="260" name="Google Shape;260;p10"/>
          <p:cNvGrpSpPr/>
          <p:nvPr/>
        </p:nvGrpSpPr>
        <p:grpSpPr>
          <a:xfrm>
            <a:off x="1420416" y="5468261"/>
            <a:ext cx="4464496" cy="936104"/>
            <a:chOff x="1420416" y="5110457"/>
            <a:chExt cx="4464496" cy="936104"/>
          </a:xfrm>
        </p:grpSpPr>
        <p:sp>
          <p:nvSpPr>
            <p:cNvPr id="261" name="Google Shape;261;p10"/>
            <p:cNvSpPr/>
            <p:nvPr/>
          </p:nvSpPr>
          <p:spPr>
            <a:xfrm>
              <a:off x="1996480" y="5110457"/>
              <a:ext cx="3888432" cy="36004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2" name="Google Shape;262;p10"/>
            <p:cNvSpPr/>
            <p:nvPr/>
          </p:nvSpPr>
          <p:spPr>
            <a:xfrm>
              <a:off x="1420416" y="5686521"/>
              <a:ext cx="2088232" cy="360040"/>
            </a:xfrm>
            <a:prstGeom prst="wedgeRoundRectCallout">
              <a:avLst>
                <a:gd name="adj1" fmla="val 7270"/>
                <a:gd name="adj2" fmla="val -108078"/>
                <a:gd name="adj3" fmla="val 16667"/>
              </a:avLst>
            </a:prstGeom>
            <a:solidFill>
              <a:srgbClr val="00B050"/>
            </a:solidFill>
            <a:ln w="25400" cap="flat" cmpd="sng">
              <a:solidFill>
                <a:srgbClr val="00946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Network portion</a:t>
              </a:r>
              <a:endParaRPr sz="1800">
                <a:solidFill>
                  <a:schemeClr val="lt1"/>
                </a:solidFill>
                <a:latin typeface="Arial"/>
                <a:ea typeface="Arial"/>
                <a:cs typeface="Arial"/>
                <a:sym typeface="Arial"/>
              </a:endParaRPr>
            </a:p>
          </p:txBody>
        </p:sp>
      </p:grpSp>
      <p:grpSp>
        <p:nvGrpSpPr>
          <p:cNvPr id="263" name="Google Shape;263;p10"/>
          <p:cNvGrpSpPr/>
          <p:nvPr/>
        </p:nvGrpSpPr>
        <p:grpSpPr>
          <a:xfrm>
            <a:off x="5380856" y="5468261"/>
            <a:ext cx="1745158" cy="864096"/>
            <a:chOff x="5380856" y="5110457"/>
            <a:chExt cx="1745158" cy="864096"/>
          </a:xfrm>
        </p:grpSpPr>
        <p:sp>
          <p:nvSpPr>
            <p:cNvPr id="264" name="Google Shape;264;p10"/>
            <p:cNvSpPr/>
            <p:nvPr/>
          </p:nvSpPr>
          <p:spPr>
            <a:xfrm>
              <a:off x="5948855" y="5110457"/>
              <a:ext cx="1177159" cy="360040"/>
            </a:xfrm>
            <a:prstGeom prst="roundRect">
              <a:avLst>
                <a:gd name="adj" fmla="val 16667"/>
              </a:avLst>
            </a:prstGeom>
            <a:noFill/>
            <a:ln w="28575"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5" name="Google Shape;265;p10"/>
            <p:cNvSpPr/>
            <p:nvPr/>
          </p:nvSpPr>
          <p:spPr>
            <a:xfrm>
              <a:off x="5380856" y="5614513"/>
              <a:ext cx="1656184" cy="360040"/>
            </a:xfrm>
            <a:prstGeom prst="wedgeRoundRectCallout">
              <a:avLst>
                <a:gd name="adj1" fmla="val 21279"/>
                <a:gd name="adj2" fmla="val -108078"/>
                <a:gd name="adj3" fmla="val 16667"/>
              </a:avLst>
            </a:prstGeom>
            <a:solidFill>
              <a:srgbClr val="00B050"/>
            </a:solidFill>
            <a:ln w="25400" cap="flat" cmpd="sng">
              <a:solidFill>
                <a:srgbClr val="00946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Host portion</a:t>
              </a:r>
              <a:endParaRPr sz="1800">
                <a:solidFill>
                  <a:schemeClr val="lt1"/>
                </a:solidFill>
                <a:latin typeface="Arial"/>
                <a:ea typeface="Arial"/>
                <a:cs typeface="Arial"/>
                <a:sym typeface="Arial"/>
              </a:endParaRPr>
            </a:p>
          </p:txBody>
        </p:sp>
      </p:grpSp>
      <p:sp>
        <p:nvSpPr>
          <p:cNvPr id="269" name="Google Shape;269;p10"/>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a:latin typeface="Arial"/>
                <a:ea typeface="Arial"/>
                <a:cs typeface="Arial"/>
                <a:sym typeface="Arial"/>
              </a:rPr>
              <a:t>IPv4 Addressing</a:t>
            </a:r>
            <a:endParaRPr sz="2800">
              <a:latin typeface="Arial"/>
              <a:ea typeface="Arial"/>
              <a:cs typeface="Arial"/>
              <a:sym typeface="Arial"/>
            </a:endParaRPr>
          </a:p>
        </p:txBody>
      </p:sp>
      <p:sp>
        <p:nvSpPr>
          <p:cNvPr id="270" name="Google Shape;270;p10"/>
          <p:cNvSpPr/>
          <p:nvPr/>
        </p:nvSpPr>
        <p:spPr>
          <a:xfrm>
            <a:off x="4076699" y="4633844"/>
            <a:ext cx="433719" cy="36004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71" name="Google Shape;271;p10"/>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a:solidFill>
                  <a:srgbClr val="00B9FA"/>
                </a:solidFill>
                <a:latin typeface="Arial"/>
                <a:ea typeface="Arial"/>
                <a:cs typeface="Arial"/>
                <a:sym typeface="Arial"/>
              </a:rPr>
              <a:t>Subnet Mask</a:t>
            </a:r>
            <a:endParaRPr/>
          </a:p>
        </p:txBody>
      </p:sp>
      <p:sp>
        <p:nvSpPr>
          <p:cNvPr id="22" name="Right Triangle 21">
            <a:extLst>
              <a:ext uri="{FF2B5EF4-FFF2-40B4-BE49-F238E27FC236}">
                <a16:creationId xmlns:a16="http://schemas.microsoft.com/office/drawing/2014/main" id="{37F4E03A-C38B-CA4B-A620-534569E7ED0F}"/>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0"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63</a:t>
            </a:fld>
            <a:endParaRPr lang="en-US" altLang="en-US" dirty="0">
              <a:latin typeface="Tahoma" panose="020B0604030504040204" pitchFamily="34" charset="0"/>
            </a:endParaRPr>
          </a:p>
        </p:txBody>
      </p:sp>
    </p:spTree>
    <p:extLst>
      <p:ext uri="{BB962C8B-B14F-4D97-AF65-F5344CB8AC3E}">
        <p14:creationId xmlns:p14="http://schemas.microsoft.com/office/powerpoint/2010/main" val="131247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0"/>
                                        </p:tgtEl>
                                        <p:attrNameLst>
                                          <p:attrName>style.visibility</p:attrName>
                                        </p:attrNameLst>
                                      </p:cBhvr>
                                      <p:to>
                                        <p:strVal val="visible"/>
                                      </p:to>
                                    </p:set>
                                    <p:anim calcmode="lin" valueType="num">
                                      <p:cBhvr additive="base">
                                        <p:cTn id="7" dur="500"/>
                                        <p:tgtEl>
                                          <p:spTgt spid="27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0"/>
                                        </p:tgtEl>
                                        <p:attrNameLst>
                                          <p:attrName>style.visibility</p:attrName>
                                        </p:attrNameLst>
                                      </p:cBhvr>
                                      <p:to>
                                        <p:strVal val="visible"/>
                                      </p:to>
                                    </p:set>
                                    <p:anim calcmode="lin" valueType="num">
                                      <p:cBhvr additive="base">
                                        <p:cTn id="12" dur="500"/>
                                        <p:tgtEl>
                                          <p:spTgt spid="260"/>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3"/>
                                        </p:tgtEl>
                                        <p:attrNameLst>
                                          <p:attrName>style.visibility</p:attrName>
                                        </p:attrNameLst>
                                      </p:cBhvr>
                                      <p:to>
                                        <p:strVal val="visible"/>
                                      </p:to>
                                    </p:set>
                                    <p:anim calcmode="lin" valueType="num">
                                      <p:cBhvr additive="base">
                                        <p:cTn id="17" dur="500"/>
                                        <p:tgtEl>
                                          <p:spTgt spid="2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3"/>
          <p:cNvSpPr txBox="1">
            <a:spLocks noGrp="1"/>
          </p:cNvSpPr>
          <p:nvPr>
            <p:ph type="body" idx="1"/>
          </p:nvPr>
        </p:nvSpPr>
        <p:spPr>
          <a:xfrm>
            <a:off x="659874" y="2111116"/>
            <a:ext cx="7696200" cy="473383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30"/>
              <a:buNone/>
            </a:pPr>
            <a:r>
              <a:rPr lang="en-US" sz="2200">
                <a:latin typeface="Arial"/>
                <a:ea typeface="Arial"/>
                <a:cs typeface="Arial"/>
                <a:sym typeface="Arial"/>
              </a:rPr>
              <a:t>Convert these </a:t>
            </a:r>
            <a:r>
              <a:rPr lang="en-US" sz="2200" u="sng">
                <a:solidFill>
                  <a:srgbClr val="FF0000"/>
                </a:solidFill>
                <a:latin typeface="Arial"/>
                <a:ea typeface="Arial"/>
                <a:cs typeface="Arial"/>
                <a:sym typeface="Arial"/>
              </a:rPr>
              <a:t>subnet mask</a:t>
            </a:r>
            <a:r>
              <a:rPr lang="en-US" sz="2200">
                <a:latin typeface="Arial"/>
                <a:ea typeface="Arial"/>
                <a:cs typeface="Arial"/>
                <a:sym typeface="Arial"/>
              </a:rPr>
              <a:t> into decimal values.</a:t>
            </a:r>
            <a:endParaRPr/>
          </a:p>
          <a:p>
            <a:pPr marL="57150" lvl="0" indent="0" algn="l" rtl="0">
              <a:lnSpc>
                <a:spcPct val="100000"/>
              </a:lnSpc>
              <a:spcBef>
                <a:spcPts val="440"/>
              </a:spcBef>
              <a:spcAft>
                <a:spcPts val="0"/>
              </a:spcAft>
              <a:buSzPts val="1430"/>
              <a:buNone/>
            </a:pPr>
            <a:endParaRPr sz="2200">
              <a:latin typeface="Arial"/>
              <a:ea typeface="Arial"/>
              <a:cs typeface="Arial"/>
              <a:sym typeface="Arial"/>
            </a:endParaRPr>
          </a:p>
          <a:p>
            <a:pPr marL="57150" lvl="0" indent="0" algn="l" rtl="0">
              <a:lnSpc>
                <a:spcPct val="100000"/>
              </a:lnSpc>
              <a:spcBef>
                <a:spcPts val="440"/>
              </a:spcBef>
              <a:spcAft>
                <a:spcPts val="0"/>
              </a:spcAft>
              <a:buSzPts val="1430"/>
              <a:buNone/>
            </a:pPr>
            <a:r>
              <a:rPr lang="en-US" sz="2200">
                <a:latin typeface="Arial"/>
                <a:ea typeface="Arial"/>
                <a:cs typeface="Arial"/>
                <a:sym typeface="Arial"/>
              </a:rPr>
              <a:t>(a) </a:t>
            </a:r>
            <a:r>
              <a:rPr lang="en-US" sz="2200">
                <a:latin typeface="Courier New"/>
                <a:ea typeface="Courier New"/>
                <a:cs typeface="Courier New"/>
                <a:sym typeface="Courier New"/>
              </a:rPr>
              <a:t>/8</a:t>
            </a:r>
            <a:endParaRPr/>
          </a:p>
          <a:p>
            <a:pPr marL="57150" lvl="0" indent="0" algn="l" rtl="0">
              <a:lnSpc>
                <a:spcPct val="100000"/>
              </a:lnSpc>
              <a:spcBef>
                <a:spcPts val="440"/>
              </a:spcBef>
              <a:spcAft>
                <a:spcPts val="0"/>
              </a:spcAft>
              <a:buSzPts val="1430"/>
              <a:buNone/>
            </a:pPr>
            <a:endParaRPr sz="2200">
              <a:latin typeface="Arial"/>
              <a:ea typeface="Arial"/>
              <a:cs typeface="Arial"/>
              <a:sym typeface="Arial"/>
            </a:endParaRPr>
          </a:p>
          <a:p>
            <a:pPr marL="57150" lvl="0" indent="0" algn="l" rtl="0">
              <a:lnSpc>
                <a:spcPct val="100000"/>
              </a:lnSpc>
              <a:spcBef>
                <a:spcPts val="440"/>
              </a:spcBef>
              <a:spcAft>
                <a:spcPts val="0"/>
              </a:spcAft>
              <a:buSzPts val="1430"/>
              <a:buNone/>
            </a:pPr>
            <a:r>
              <a:rPr lang="en-US" sz="2200">
                <a:latin typeface="Arial"/>
                <a:ea typeface="Arial"/>
                <a:cs typeface="Arial"/>
                <a:sym typeface="Arial"/>
              </a:rPr>
              <a:t>(b) </a:t>
            </a:r>
            <a:r>
              <a:rPr lang="en-US" sz="2200">
                <a:latin typeface="Courier New"/>
                <a:ea typeface="Courier New"/>
                <a:cs typeface="Courier New"/>
                <a:sym typeface="Courier New"/>
              </a:rPr>
              <a:t>/16</a:t>
            </a:r>
            <a:endParaRPr/>
          </a:p>
          <a:p>
            <a:pPr marL="57150" lvl="0" indent="0" algn="l" rtl="0">
              <a:lnSpc>
                <a:spcPct val="100000"/>
              </a:lnSpc>
              <a:spcBef>
                <a:spcPts val="440"/>
              </a:spcBef>
              <a:spcAft>
                <a:spcPts val="0"/>
              </a:spcAft>
              <a:buSzPts val="1430"/>
              <a:buNone/>
            </a:pPr>
            <a:endParaRPr sz="2200">
              <a:latin typeface="Arial"/>
              <a:ea typeface="Arial"/>
              <a:cs typeface="Arial"/>
              <a:sym typeface="Arial"/>
            </a:endParaRPr>
          </a:p>
          <a:p>
            <a:pPr marL="57150" lvl="0" indent="0" algn="l" rtl="0">
              <a:lnSpc>
                <a:spcPct val="100000"/>
              </a:lnSpc>
              <a:spcBef>
                <a:spcPts val="440"/>
              </a:spcBef>
              <a:spcAft>
                <a:spcPts val="0"/>
              </a:spcAft>
              <a:buSzPts val="1430"/>
              <a:buNone/>
            </a:pPr>
            <a:r>
              <a:rPr lang="en-US" sz="2200">
                <a:latin typeface="Arial"/>
                <a:ea typeface="Arial"/>
                <a:cs typeface="Arial"/>
                <a:sym typeface="Arial"/>
              </a:rPr>
              <a:t>(c) </a:t>
            </a:r>
            <a:r>
              <a:rPr lang="en-US" sz="2200">
                <a:latin typeface="Courier New"/>
                <a:ea typeface="Courier New"/>
                <a:cs typeface="Courier New"/>
                <a:sym typeface="Courier New"/>
              </a:rPr>
              <a:t>/24</a:t>
            </a:r>
            <a:endParaRPr/>
          </a:p>
          <a:p>
            <a:pPr marL="57150" lvl="0" indent="0" algn="l" rtl="0">
              <a:lnSpc>
                <a:spcPct val="100000"/>
              </a:lnSpc>
              <a:spcBef>
                <a:spcPts val="440"/>
              </a:spcBef>
              <a:spcAft>
                <a:spcPts val="0"/>
              </a:spcAft>
              <a:buSzPts val="1430"/>
              <a:buNone/>
            </a:pPr>
            <a:endParaRPr sz="2200">
              <a:latin typeface="Arial"/>
              <a:ea typeface="Arial"/>
              <a:cs typeface="Arial"/>
              <a:sym typeface="Arial"/>
            </a:endParaRPr>
          </a:p>
          <a:p>
            <a:pPr marL="57150" lvl="0" indent="0" algn="l" rtl="0">
              <a:lnSpc>
                <a:spcPct val="100000"/>
              </a:lnSpc>
              <a:spcBef>
                <a:spcPts val="440"/>
              </a:spcBef>
              <a:spcAft>
                <a:spcPts val="0"/>
              </a:spcAft>
              <a:buSzPts val="1430"/>
              <a:buNone/>
            </a:pPr>
            <a:r>
              <a:rPr lang="en-US" sz="2200">
                <a:latin typeface="Arial"/>
                <a:ea typeface="Arial"/>
                <a:cs typeface="Arial"/>
                <a:sym typeface="Arial"/>
              </a:rPr>
              <a:t>(d) </a:t>
            </a:r>
            <a:r>
              <a:rPr lang="en-US" sz="2200">
                <a:latin typeface="Courier New"/>
                <a:ea typeface="Courier New"/>
                <a:cs typeface="Courier New"/>
                <a:sym typeface="Courier New"/>
              </a:rPr>
              <a:t>/25</a:t>
            </a:r>
            <a:endParaRPr/>
          </a:p>
          <a:p>
            <a:pPr marL="57150" lvl="0" indent="0" algn="l" rtl="0">
              <a:lnSpc>
                <a:spcPct val="100000"/>
              </a:lnSpc>
              <a:spcBef>
                <a:spcPts val="440"/>
              </a:spcBef>
              <a:spcAft>
                <a:spcPts val="0"/>
              </a:spcAft>
              <a:buSzPts val="1430"/>
              <a:buNone/>
            </a:pPr>
            <a:endParaRPr sz="2200">
              <a:latin typeface="Arial"/>
              <a:ea typeface="Arial"/>
              <a:cs typeface="Arial"/>
              <a:sym typeface="Arial"/>
            </a:endParaRPr>
          </a:p>
        </p:txBody>
      </p:sp>
      <p:sp>
        <p:nvSpPr>
          <p:cNvPr id="317" name="Google Shape;317;p13"/>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64</a:t>
            </a:fld>
            <a:endParaRPr sz="1200">
              <a:solidFill>
                <a:schemeClr val="dk1"/>
              </a:solidFill>
              <a:latin typeface="Tahoma"/>
              <a:ea typeface="Tahoma"/>
              <a:cs typeface="Tahoma"/>
              <a:sym typeface="Tahoma"/>
            </a:endParaRPr>
          </a:p>
        </p:txBody>
      </p:sp>
      <p:sp>
        <p:nvSpPr>
          <p:cNvPr id="321" name="Google Shape;321;p13"/>
          <p:cNvSpPr txBox="1"/>
          <p:nvPr/>
        </p:nvSpPr>
        <p:spPr>
          <a:xfrm>
            <a:off x="2661807" y="2913551"/>
            <a:ext cx="5571632"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.00000000.00000000.00000000</a:t>
            </a:r>
            <a:endParaRPr/>
          </a:p>
          <a:p>
            <a:pPr marL="0" marR="0" lvl="0" indent="0" algn="ctr" rtl="0">
              <a:spcBef>
                <a:spcPts val="0"/>
              </a:spcBef>
              <a:spcAft>
                <a:spcPts val="0"/>
              </a:spcAft>
              <a:buNone/>
            </a:pPr>
            <a:r>
              <a:rPr lang="en-US" sz="2000" b="1">
                <a:solidFill>
                  <a:schemeClr val="dk1"/>
                </a:solidFill>
                <a:latin typeface="Courier New"/>
                <a:ea typeface="Courier New"/>
                <a:cs typeface="Courier New"/>
                <a:sym typeface="Courier New"/>
              </a:rPr>
              <a:t>255.0.0.0</a:t>
            </a:r>
            <a:endParaRPr/>
          </a:p>
        </p:txBody>
      </p:sp>
      <p:sp>
        <p:nvSpPr>
          <p:cNvPr id="322" name="Google Shape;322;p13"/>
          <p:cNvSpPr txBox="1"/>
          <p:nvPr/>
        </p:nvSpPr>
        <p:spPr>
          <a:xfrm>
            <a:off x="2665576" y="3687411"/>
            <a:ext cx="557075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a:t>
            </a: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.00000000.00000000</a:t>
            </a:r>
            <a:endParaRPr/>
          </a:p>
          <a:p>
            <a:pPr marL="0" marR="0" lvl="0" indent="0" algn="ctr" rtl="0">
              <a:spcBef>
                <a:spcPts val="0"/>
              </a:spcBef>
              <a:spcAft>
                <a:spcPts val="0"/>
              </a:spcAft>
              <a:buNone/>
            </a:pPr>
            <a:r>
              <a:rPr lang="en-US" sz="2000" b="1">
                <a:solidFill>
                  <a:schemeClr val="dk1"/>
                </a:solidFill>
                <a:latin typeface="Courier New"/>
                <a:ea typeface="Courier New"/>
                <a:cs typeface="Courier New"/>
                <a:sym typeface="Courier New"/>
              </a:rPr>
              <a:t>255.255.0.0</a:t>
            </a:r>
            <a:endParaRPr/>
          </a:p>
        </p:txBody>
      </p:sp>
      <p:sp>
        <p:nvSpPr>
          <p:cNvPr id="323" name="Google Shape;323;p13"/>
          <p:cNvSpPr txBox="1"/>
          <p:nvPr/>
        </p:nvSpPr>
        <p:spPr>
          <a:xfrm>
            <a:off x="2679092" y="4525028"/>
            <a:ext cx="557075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a:t>
            </a: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a:t>
            </a: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.00000000</a:t>
            </a:r>
            <a:endParaRPr/>
          </a:p>
          <a:p>
            <a:pPr marL="0" marR="0" lvl="0" indent="0" algn="ctr" rtl="0">
              <a:spcBef>
                <a:spcPts val="0"/>
              </a:spcBef>
              <a:spcAft>
                <a:spcPts val="0"/>
              </a:spcAft>
              <a:buNone/>
            </a:pPr>
            <a:r>
              <a:rPr lang="en-US" sz="2000" b="1">
                <a:solidFill>
                  <a:schemeClr val="dk1"/>
                </a:solidFill>
                <a:latin typeface="Courier New"/>
                <a:ea typeface="Courier New"/>
                <a:cs typeface="Courier New"/>
                <a:sym typeface="Courier New"/>
              </a:rPr>
              <a:t>255.255.255.0</a:t>
            </a:r>
            <a:endParaRPr/>
          </a:p>
        </p:txBody>
      </p:sp>
      <p:sp>
        <p:nvSpPr>
          <p:cNvPr id="324" name="Google Shape;324;p13"/>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latin typeface="Arial"/>
                <a:ea typeface="Arial"/>
                <a:cs typeface="Arial"/>
                <a:sym typeface="Arial"/>
              </a:rPr>
              <a:t>IPv4 Addressing</a:t>
            </a:r>
            <a:endParaRPr sz="2800" dirty="0">
              <a:latin typeface="Arial"/>
              <a:ea typeface="Arial"/>
              <a:cs typeface="Arial"/>
              <a:sym typeface="Arial"/>
            </a:endParaRPr>
          </a:p>
        </p:txBody>
      </p:sp>
      <p:sp>
        <p:nvSpPr>
          <p:cNvPr id="325" name="Google Shape;325;p13"/>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dirty="0">
                <a:solidFill>
                  <a:srgbClr val="00B9FA"/>
                </a:solidFill>
                <a:latin typeface="Arial"/>
                <a:ea typeface="Arial"/>
                <a:cs typeface="Arial"/>
                <a:sym typeface="Arial"/>
              </a:rPr>
              <a:t>Subnet Mask</a:t>
            </a:r>
            <a:endParaRPr dirty="0"/>
          </a:p>
        </p:txBody>
      </p:sp>
      <p:grpSp>
        <p:nvGrpSpPr>
          <p:cNvPr id="326" name="Google Shape;326;p13"/>
          <p:cNvGrpSpPr/>
          <p:nvPr/>
        </p:nvGrpSpPr>
        <p:grpSpPr>
          <a:xfrm>
            <a:off x="-120415" y="-151788"/>
            <a:ext cx="2631381" cy="1707319"/>
            <a:chOff x="6668445" y="-249764"/>
            <a:chExt cx="2631381" cy="1707319"/>
          </a:xfrm>
        </p:grpSpPr>
        <p:sp>
          <p:nvSpPr>
            <p:cNvPr id="327" name="Google Shape;327;p13"/>
            <p:cNvSpPr/>
            <p:nvPr/>
          </p:nvSpPr>
          <p:spPr>
            <a:xfrm rot="859133">
              <a:off x="6772182" y="32215"/>
              <a:ext cx="2423907" cy="1143362"/>
            </a:xfrm>
            <a:prstGeom prst="irregularSeal2">
              <a:avLst/>
            </a:prstGeom>
            <a:solidFill>
              <a:srgbClr val="FFFF00"/>
            </a:solidFill>
            <a:ln>
              <a:noFill/>
            </a:ln>
            <a:effectLst>
              <a:outerShdw blurRad="50800" dist="139700" dir="2700000" algn="tl" rotWithShape="0">
                <a:srgbClr val="000000">
                  <a:alpha val="42745"/>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2040"/>
                <a:buFont typeface="Arial"/>
                <a:buNone/>
              </a:pPr>
              <a:endParaRPr sz="2400" b="0" i="0" u="none" strike="noStrike" cap="none">
                <a:solidFill>
                  <a:schemeClr val="dk1"/>
                </a:solidFill>
                <a:latin typeface="Comic Sans MS"/>
                <a:ea typeface="Comic Sans MS"/>
                <a:cs typeface="Comic Sans MS"/>
                <a:sym typeface="Comic Sans MS"/>
              </a:endParaRPr>
            </a:p>
          </p:txBody>
        </p:sp>
        <p:sp>
          <p:nvSpPr>
            <p:cNvPr id="328" name="Google Shape;328;p13"/>
            <p:cNvSpPr txBox="1"/>
            <p:nvPr/>
          </p:nvSpPr>
          <p:spPr>
            <a:xfrm>
              <a:off x="7260307" y="405356"/>
              <a:ext cx="138371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0000"/>
                  </a:solidFill>
                  <a:latin typeface="Arial"/>
                  <a:ea typeface="Arial"/>
                  <a:cs typeface="Arial"/>
                  <a:sym typeface="Arial"/>
                </a:rPr>
                <a:t>Example</a:t>
              </a:r>
              <a:endParaRPr/>
            </a:p>
          </p:txBody>
        </p:sp>
      </p:grpSp>
      <p:sp>
        <p:nvSpPr>
          <p:cNvPr id="329" name="Google Shape;329;p13"/>
          <p:cNvSpPr txBox="1"/>
          <p:nvPr/>
        </p:nvSpPr>
        <p:spPr>
          <a:xfrm>
            <a:off x="2754094" y="5331048"/>
            <a:ext cx="5724644"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a:t>
            </a: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a:t>
            </a:r>
            <a:r>
              <a:rPr lang="en-US" sz="2000">
                <a:solidFill>
                  <a:srgbClr val="FF0000"/>
                </a:solidFill>
                <a:latin typeface="Courier New"/>
                <a:ea typeface="Courier New"/>
                <a:cs typeface="Courier New"/>
                <a:sym typeface="Courier New"/>
              </a:rPr>
              <a:t>11111111</a:t>
            </a:r>
            <a:r>
              <a:rPr lang="en-US" sz="2000">
                <a:solidFill>
                  <a:schemeClr val="dk1"/>
                </a:solidFill>
                <a:latin typeface="Courier New"/>
                <a:ea typeface="Courier New"/>
                <a:cs typeface="Courier New"/>
                <a:sym typeface="Courier New"/>
              </a:rPr>
              <a:t>.</a:t>
            </a:r>
            <a:r>
              <a:rPr lang="en-US" sz="2000">
                <a:solidFill>
                  <a:srgbClr val="FF0000"/>
                </a:solidFill>
                <a:latin typeface="Courier New"/>
                <a:ea typeface="Courier New"/>
                <a:cs typeface="Courier New"/>
                <a:sym typeface="Courier New"/>
              </a:rPr>
              <a:t>1</a:t>
            </a:r>
            <a:r>
              <a:rPr lang="en-US" sz="2000">
                <a:solidFill>
                  <a:schemeClr val="dk1"/>
                </a:solidFill>
                <a:latin typeface="Courier New"/>
                <a:ea typeface="Courier New"/>
                <a:cs typeface="Courier New"/>
                <a:sym typeface="Courier New"/>
              </a:rPr>
              <a:t>0000000</a:t>
            </a:r>
            <a:endParaRPr/>
          </a:p>
          <a:p>
            <a:pPr marL="0" marR="0" lvl="0" indent="0" algn="ctr" rtl="0">
              <a:spcBef>
                <a:spcPts val="0"/>
              </a:spcBef>
              <a:spcAft>
                <a:spcPts val="0"/>
              </a:spcAft>
              <a:buNone/>
            </a:pPr>
            <a:r>
              <a:rPr lang="en-US" sz="2000" b="1">
                <a:solidFill>
                  <a:schemeClr val="dk1"/>
                </a:solidFill>
                <a:latin typeface="Courier New"/>
                <a:ea typeface="Courier New"/>
                <a:cs typeface="Courier New"/>
                <a:sym typeface="Courier New"/>
              </a:rPr>
              <a:t>255.255.255.128</a:t>
            </a:r>
            <a:endParaRPr/>
          </a:p>
        </p:txBody>
      </p:sp>
    </p:spTree>
    <p:extLst>
      <p:ext uri="{BB962C8B-B14F-4D97-AF65-F5344CB8AC3E}">
        <p14:creationId xmlns:p14="http://schemas.microsoft.com/office/powerpoint/2010/main" val="286657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7" name="Google Shape;277;p11"/>
          <p:cNvSpPr txBox="1">
            <a:spLocks noGrp="1"/>
          </p:cNvSpPr>
          <p:nvPr>
            <p:ph type="body" idx="1"/>
          </p:nvPr>
        </p:nvSpPr>
        <p:spPr>
          <a:xfrm>
            <a:off x="186138" y="2624837"/>
            <a:ext cx="8503920" cy="3702390"/>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lnSpc>
                <a:spcPct val="85000"/>
              </a:lnSpc>
              <a:spcBef>
                <a:spcPts val="0"/>
              </a:spcBef>
              <a:spcAft>
                <a:spcPts val="0"/>
              </a:spcAft>
              <a:buSzPct val="65000"/>
              <a:buChar char="❖"/>
            </a:pPr>
            <a:r>
              <a:rPr lang="en-US" sz="2400" dirty="0">
                <a:latin typeface="Arial"/>
                <a:ea typeface="Arial"/>
                <a:cs typeface="Arial"/>
                <a:sym typeface="Arial"/>
              </a:rPr>
              <a:t>Given the information we find that:</a:t>
            </a:r>
            <a:endParaRPr dirty="0"/>
          </a:p>
          <a:p>
            <a:pPr marL="742950" lvl="1" indent="-285750" algn="l" rtl="0">
              <a:lnSpc>
                <a:spcPct val="85000"/>
              </a:lnSpc>
              <a:spcBef>
                <a:spcPts val="1200"/>
              </a:spcBef>
              <a:spcAft>
                <a:spcPts val="0"/>
              </a:spcAft>
              <a:buSzPct val="100000"/>
              <a:buChar char="▪"/>
            </a:pPr>
            <a:r>
              <a:rPr lang="en-US" dirty="0">
                <a:latin typeface="Arial"/>
                <a:ea typeface="Arial"/>
                <a:cs typeface="Arial"/>
                <a:sym typeface="Arial"/>
              </a:rPr>
              <a:t>The host portion has </a:t>
            </a:r>
            <a:r>
              <a:rPr lang="en-US" dirty="0">
                <a:solidFill>
                  <a:srgbClr val="FF0000"/>
                </a:solidFill>
                <a:latin typeface="Arial"/>
                <a:ea typeface="Arial"/>
                <a:cs typeface="Arial"/>
                <a:sym typeface="Arial"/>
              </a:rPr>
              <a:t>8 bits</a:t>
            </a:r>
            <a:r>
              <a:rPr lang="en-US" dirty="0">
                <a:latin typeface="Arial"/>
                <a:ea typeface="Arial"/>
                <a:cs typeface="Arial"/>
                <a:sym typeface="Arial"/>
              </a:rPr>
              <a:t> </a:t>
            </a:r>
            <a:r>
              <a:rPr lang="en-US" dirty="0">
                <a:latin typeface="Arial"/>
                <a:ea typeface="Arial"/>
                <a:cs typeface="Arial"/>
                <a:sym typeface="Wingdings" panose="05000000000000000000" pitchFamily="2" charset="2"/>
              </a:rPr>
              <a:t></a:t>
            </a:r>
            <a:r>
              <a:rPr lang="en-US" dirty="0">
                <a:latin typeface="Arial"/>
                <a:ea typeface="Arial"/>
                <a:cs typeface="Arial"/>
                <a:sym typeface="Arial"/>
              </a:rPr>
              <a:t> </a:t>
            </a:r>
            <a:endParaRPr dirty="0"/>
          </a:p>
          <a:p>
            <a:pPr marL="1143000" lvl="2" indent="-228600" algn="l" rtl="0">
              <a:spcBef>
                <a:spcPts val="1200"/>
              </a:spcBef>
              <a:spcAft>
                <a:spcPts val="0"/>
              </a:spcAft>
              <a:buClr>
                <a:schemeClr val="dk1"/>
              </a:buClr>
              <a:buSzPct val="100000"/>
              <a:buFont typeface="Arial"/>
              <a:buChar char="•"/>
            </a:pPr>
            <a:r>
              <a:rPr lang="en-US" sz="2200" dirty="0">
                <a:latin typeface="Arial"/>
                <a:ea typeface="Arial"/>
                <a:cs typeface="Arial"/>
                <a:sym typeface="Arial"/>
              </a:rPr>
              <a:t>this subnet can have up to</a:t>
            </a:r>
            <a:r>
              <a:rPr lang="en-US" sz="2200" dirty="0">
                <a:solidFill>
                  <a:srgbClr val="FF0000"/>
                </a:solidFill>
                <a:latin typeface="Arial"/>
                <a:ea typeface="Arial"/>
                <a:cs typeface="Arial"/>
                <a:sym typeface="Arial"/>
              </a:rPr>
              <a:t> 2</a:t>
            </a:r>
            <a:r>
              <a:rPr lang="en-US" sz="2200" baseline="30000" dirty="0">
                <a:solidFill>
                  <a:srgbClr val="FF0000"/>
                </a:solidFill>
                <a:latin typeface="Arial"/>
                <a:ea typeface="Arial"/>
                <a:cs typeface="Arial"/>
                <a:sym typeface="Arial"/>
              </a:rPr>
              <a:t>8</a:t>
            </a:r>
            <a:r>
              <a:rPr lang="en-US" sz="2200" dirty="0">
                <a:solidFill>
                  <a:srgbClr val="FF0000"/>
                </a:solidFill>
                <a:latin typeface="Arial"/>
                <a:ea typeface="Arial"/>
                <a:cs typeface="Arial"/>
                <a:sym typeface="Arial"/>
              </a:rPr>
              <a:t> = </a:t>
            </a:r>
            <a:r>
              <a:rPr lang="en-US" sz="2200" b="1" dirty="0">
                <a:solidFill>
                  <a:srgbClr val="FF0000"/>
                </a:solidFill>
                <a:latin typeface="Arial"/>
                <a:ea typeface="Arial"/>
                <a:cs typeface="Arial"/>
                <a:sym typeface="Arial"/>
              </a:rPr>
              <a:t>256 hosts</a:t>
            </a:r>
            <a:endParaRPr sz="2200" b="1" dirty="0">
              <a:solidFill>
                <a:srgbClr val="FF0000"/>
              </a:solidFill>
              <a:latin typeface="Arial"/>
              <a:ea typeface="Arial"/>
              <a:cs typeface="Arial"/>
              <a:sym typeface="Arial"/>
            </a:endParaRPr>
          </a:p>
          <a:p>
            <a:pPr marL="1143000" lvl="2" indent="-228600" algn="l" rtl="0">
              <a:spcBef>
                <a:spcPts val="1200"/>
              </a:spcBef>
              <a:spcAft>
                <a:spcPts val="0"/>
              </a:spcAft>
              <a:buClr>
                <a:schemeClr val="dk1"/>
              </a:buClr>
              <a:buSzPct val="100000"/>
              <a:buFont typeface="Arial"/>
              <a:buChar char="•"/>
            </a:pPr>
            <a:r>
              <a:rPr lang="en-US" sz="2200" dirty="0">
                <a:latin typeface="Arial"/>
                <a:ea typeface="Arial"/>
                <a:cs typeface="Arial"/>
                <a:sym typeface="Arial"/>
              </a:rPr>
              <a:t>With IP addresses ranging from </a:t>
            </a:r>
            <a:r>
              <a:rPr lang="en-US" sz="2200" dirty="0">
                <a:solidFill>
                  <a:srgbClr val="FF0000"/>
                </a:solidFill>
                <a:latin typeface="Arial"/>
                <a:ea typeface="Arial"/>
                <a:cs typeface="Arial"/>
                <a:sym typeface="Arial"/>
              </a:rPr>
              <a:t>192.64.22.0 – 192.64.22.255</a:t>
            </a:r>
            <a:endParaRPr dirty="0"/>
          </a:p>
          <a:p>
            <a:pPr marL="742950" lvl="1" indent="-285750" algn="l" rtl="0">
              <a:lnSpc>
                <a:spcPct val="85000"/>
              </a:lnSpc>
              <a:spcBef>
                <a:spcPts val="1200"/>
              </a:spcBef>
              <a:spcAft>
                <a:spcPts val="0"/>
              </a:spcAft>
              <a:buSzPct val="100000"/>
              <a:buChar char="▪"/>
            </a:pPr>
            <a:r>
              <a:rPr lang="en-US" dirty="0">
                <a:latin typeface="Arial"/>
                <a:ea typeface="Arial"/>
                <a:cs typeface="Arial"/>
                <a:sym typeface="Arial"/>
              </a:rPr>
              <a:t>But the </a:t>
            </a:r>
            <a:r>
              <a:rPr lang="en-US" b="1" dirty="0">
                <a:solidFill>
                  <a:srgbClr val="FF0000"/>
                </a:solidFill>
                <a:latin typeface="Arial"/>
                <a:ea typeface="Arial"/>
                <a:cs typeface="Arial"/>
                <a:sym typeface="Arial"/>
              </a:rPr>
              <a:t>first</a:t>
            </a:r>
            <a:r>
              <a:rPr lang="en-US" dirty="0">
                <a:latin typeface="Arial"/>
                <a:ea typeface="Arial"/>
                <a:cs typeface="Arial"/>
                <a:sym typeface="Arial"/>
              </a:rPr>
              <a:t> and </a:t>
            </a:r>
            <a:r>
              <a:rPr lang="en-US" b="1" dirty="0">
                <a:solidFill>
                  <a:srgbClr val="FF0000"/>
                </a:solidFill>
                <a:latin typeface="Arial"/>
                <a:ea typeface="Arial"/>
                <a:cs typeface="Arial"/>
                <a:sym typeface="Arial"/>
              </a:rPr>
              <a:t>last</a:t>
            </a:r>
            <a:r>
              <a:rPr lang="en-US" dirty="0">
                <a:solidFill>
                  <a:srgbClr val="FF0000"/>
                </a:solidFill>
                <a:latin typeface="Arial"/>
                <a:ea typeface="Arial"/>
                <a:cs typeface="Arial"/>
                <a:sym typeface="Arial"/>
              </a:rPr>
              <a:t> IP address</a:t>
            </a:r>
            <a:r>
              <a:rPr lang="en-US" dirty="0">
                <a:latin typeface="Arial"/>
                <a:ea typeface="Arial"/>
                <a:cs typeface="Arial"/>
                <a:sym typeface="Arial"/>
              </a:rPr>
              <a:t> </a:t>
            </a:r>
            <a:r>
              <a:rPr lang="en-US" b="1" dirty="0">
                <a:solidFill>
                  <a:srgbClr val="FF0000"/>
                </a:solidFill>
                <a:latin typeface="Arial"/>
                <a:ea typeface="Arial"/>
                <a:cs typeface="Arial"/>
                <a:sym typeface="Arial"/>
              </a:rPr>
              <a:t>cannot</a:t>
            </a:r>
            <a:r>
              <a:rPr lang="en-US" dirty="0">
                <a:latin typeface="Arial"/>
                <a:ea typeface="Arial"/>
                <a:cs typeface="Arial"/>
                <a:sym typeface="Arial"/>
              </a:rPr>
              <a:t> be assigned to host</a:t>
            </a:r>
            <a:endParaRPr dirty="0"/>
          </a:p>
          <a:p>
            <a:pPr marL="1143000" lvl="2" indent="-228600" algn="l" rtl="0">
              <a:spcBef>
                <a:spcPts val="1200"/>
              </a:spcBef>
              <a:spcAft>
                <a:spcPts val="0"/>
              </a:spcAft>
              <a:buClr>
                <a:schemeClr val="dk1"/>
              </a:buClr>
              <a:buSzPct val="100000"/>
              <a:buFont typeface="Arial"/>
              <a:buChar char="•"/>
            </a:pPr>
            <a:r>
              <a:rPr lang="en-US" sz="2200" dirty="0">
                <a:latin typeface="Arial"/>
                <a:ea typeface="Arial"/>
                <a:cs typeface="Arial"/>
                <a:sym typeface="Arial"/>
              </a:rPr>
              <a:t>so </a:t>
            </a:r>
            <a:r>
              <a:rPr lang="en-US" sz="2200" dirty="0">
                <a:solidFill>
                  <a:srgbClr val="FF0000"/>
                </a:solidFill>
                <a:latin typeface="Arial"/>
                <a:ea typeface="Arial"/>
                <a:cs typeface="Arial"/>
                <a:sym typeface="Arial"/>
              </a:rPr>
              <a:t>only</a:t>
            </a:r>
            <a:r>
              <a:rPr lang="en-US" sz="2200" dirty="0">
                <a:latin typeface="Arial"/>
                <a:ea typeface="Arial"/>
                <a:cs typeface="Arial"/>
                <a:sym typeface="Arial"/>
              </a:rPr>
              <a:t> </a:t>
            </a:r>
            <a:r>
              <a:rPr lang="en-US" sz="2200" b="1" dirty="0">
                <a:solidFill>
                  <a:srgbClr val="FF0000"/>
                </a:solidFill>
                <a:latin typeface="Arial"/>
                <a:ea typeface="Arial"/>
                <a:cs typeface="Arial"/>
                <a:sym typeface="Arial"/>
              </a:rPr>
              <a:t>254 hosts available</a:t>
            </a:r>
            <a:r>
              <a:rPr lang="en-US" sz="2200" dirty="0">
                <a:latin typeface="Arial"/>
                <a:ea typeface="Arial"/>
                <a:cs typeface="Arial"/>
                <a:sym typeface="Arial"/>
              </a:rPr>
              <a:t> (or usable)</a:t>
            </a:r>
            <a:endParaRPr dirty="0"/>
          </a:p>
          <a:p>
            <a:pPr marL="1143000" lvl="2" indent="-228600" algn="l" rtl="0">
              <a:spcBef>
                <a:spcPts val="1200"/>
              </a:spcBef>
              <a:spcAft>
                <a:spcPts val="0"/>
              </a:spcAft>
              <a:buClr>
                <a:schemeClr val="dk1"/>
              </a:buClr>
              <a:buSzPct val="100000"/>
              <a:buFont typeface="Arial"/>
              <a:buChar char="•"/>
            </a:pPr>
            <a:r>
              <a:rPr lang="en-US" sz="2200" dirty="0">
                <a:latin typeface="Arial"/>
                <a:ea typeface="Arial"/>
                <a:cs typeface="Arial"/>
                <a:sym typeface="Arial"/>
              </a:rPr>
              <a:t> …thus useable IP addresses </a:t>
            </a:r>
            <a:r>
              <a:rPr lang="en-US" sz="2200" dirty="0">
                <a:latin typeface="Arial"/>
                <a:ea typeface="Arial"/>
                <a:cs typeface="Arial"/>
                <a:sym typeface="Wingdings" panose="05000000000000000000" pitchFamily="2" charset="2"/>
              </a:rPr>
              <a:t></a:t>
            </a:r>
            <a:r>
              <a:rPr lang="en-US" sz="2200" dirty="0">
                <a:latin typeface="Arial"/>
                <a:ea typeface="Arial"/>
                <a:cs typeface="Arial"/>
                <a:sym typeface="Arial"/>
              </a:rPr>
              <a:t> </a:t>
            </a:r>
            <a:r>
              <a:rPr lang="en-US" sz="2200" b="1" dirty="0">
                <a:solidFill>
                  <a:srgbClr val="0070C0"/>
                </a:solidFill>
                <a:latin typeface="Arial"/>
                <a:ea typeface="Arial"/>
                <a:cs typeface="Arial"/>
                <a:sym typeface="Arial"/>
              </a:rPr>
              <a:t>192.64.22.1 – 192.64.22.254</a:t>
            </a:r>
            <a:endParaRPr sz="2200" b="1" dirty="0">
              <a:solidFill>
                <a:srgbClr val="0070C0"/>
              </a:solidFill>
              <a:latin typeface="Arial"/>
              <a:ea typeface="Arial"/>
              <a:cs typeface="Arial"/>
              <a:sym typeface="Arial"/>
            </a:endParaRPr>
          </a:p>
          <a:p>
            <a:pPr marL="742950" lvl="1" indent="-285750" algn="l" rtl="0">
              <a:lnSpc>
                <a:spcPct val="85000"/>
              </a:lnSpc>
              <a:spcBef>
                <a:spcPts val="1200"/>
              </a:spcBef>
              <a:spcAft>
                <a:spcPts val="0"/>
              </a:spcAft>
              <a:buSzPct val="100000"/>
              <a:buChar char="▪"/>
            </a:pPr>
            <a:r>
              <a:rPr lang="en-US" dirty="0">
                <a:latin typeface="Arial"/>
                <a:ea typeface="Arial"/>
                <a:cs typeface="Arial"/>
                <a:sym typeface="Arial"/>
              </a:rPr>
              <a:t>The </a:t>
            </a:r>
            <a:r>
              <a:rPr lang="en-US" b="1" dirty="0">
                <a:solidFill>
                  <a:srgbClr val="FF0000"/>
                </a:solidFill>
                <a:latin typeface="Arial"/>
                <a:ea typeface="Arial"/>
                <a:cs typeface="Arial"/>
                <a:sym typeface="Arial"/>
              </a:rPr>
              <a:t>first IP</a:t>
            </a:r>
            <a:r>
              <a:rPr lang="en-US" dirty="0">
                <a:latin typeface="Arial"/>
                <a:ea typeface="Arial"/>
                <a:cs typeface="Arial"/>
                <a:sym typeface="Arial"/>
              </a:rPr>
              <a:t> – becomes </a:t>
            </a:r>
            <a:r>
              <a:rPr lang="en-US" dirty="0">
                <a:solidFill>
                  <a:srgbClr val="FF0000"/>
                </a:solidFill>
                <a:latin typeface="Arial"/>
                <a:ea typeface="Arial"/>
                <a:cs typeface="Arial"/>
                <a:sym typeface="Arial"/>
              </a:rPr>
              <a:t>network address </a:t>
            </a:r>
            <a:r>
              <a:rPr lang="en-US" dirty="0">
                <a:latin typeface="Arial"/>
                <a:ea typeface="Arial"/>
                <a:cs typeface="Arial"/>
                <a:sym typeface="Wingdings" panose="05000000000000000000" pitchFamily="2" charset="2"/>
              </a:rPr>
              <a:t></a:t>
            </a:r>
            <a:r>
              <a:rPr lang="en-US" dirty="0">
                <a:latin typeface="Arial"/>
                <a:ea typeface="Arial"/>
                <a:cs typeface="Arial"/>
                <a:sym typeface="Arial"/>
              </a:rPr>
              <a:t> to address the subnet</a:t>
            </a:r>
            <a:endParaRPr dirty="0"/>
          </a:p>
          <a:p>
            <a:pPr marL="742950" lvl="1" indent="-285750" algn="l" rtl="0">
              <a:lnSpc>
                <a:spcPct val="134000"/>
              </a:lnSpc>
              <a:spcBef>
                <a:spcPts val="1200"/>
              </a:spcBef>
              <a:spcAft>
                <a:spcPts val="0"/>
              </a:spcAft>
              <a:buSzPct val="100000"/>
              <a:buChar char="▪"/>
            </a:pPr>
            <a:r>
              <a:rPr lang="en-US" dirty="0">
                <a:latin typeface="Arial"/>
                <a:ea typeface="Arial"/>
                <a:cs typeface="Arial"/>
                <a:sym typeface="Arial"/>
              </a:rPr>
              <a:t>The </a:t>
            </a:r>
            <a:r>
              <a:rPr lang="en-US" b="1" dirty="0">
                <a:solidFill>
                  <a:srgbClr val="FF0000"/>
                </a:solidFill>
                <a:latin typeface="Arial"/>
                <a:ea typeface="Arial"/>
                <a:cs typeface="Arial"/>
                <a:sym typeface="Arial"/>
              </a:rPr>
              <a:t>last IP</a:t>
            </a:r>
            <a:r>
              <a:rPr lang="en-US" dirty="0">
                <a:latin typeface="Arial"/>
                <a:ea typeface="Arial"/>
                <a:cs typeface="Arial"/>
                <a:sym typeface="Arial"/>
              </a:rPr>
              <a:t> – becomes </a:t>
            </a:r>
            <a:r>
              <a:rPr lang="en-US" dirty="0">
                <a:solidFill>
                  <a:srgbClr val="FF0000"/>
                </a:solidFill>
                <a:latin typeface="Arial"/>
                <a:ea typeface="Arial"/>
                <a:cs typeface="Arial"/>
                <a:sym typeface="Arial"/>
              </a:rPr>
              <a:t>broadcast address</a:t>
            </a:r>
            <a:r>
              <a:rPr lang="en-US" dirty="0">
                <a:latin typeface="Arial"/>
                <a:ea typeface="Arial"/>
                <a:cs typeface="Arial"/>
                <a:sym typeface="Arial"/>
              </a:rPr>
              <a:t> </a:t>
            </a:r>
            <a:r>
              <a:rPr lang="en-US" dirty="0">
                <a:latin typeface="Arial"/>
                <a:ea typeface="Arial"/>
                <a:cs typeface="Arial"/>
                <a:sym typeface="Wingdings" panose="05000000000000000000" pitchFamily="2" charset="2"/>
              </a:rPr>
              <a:t></a:t>
            </a:r>
            <a:r>
              <a:rPr lang="en-US" dirty="0">
                <a:latin typeface="Arial"/>
                <a:ea typeface="Arial"/>
                <a:cs typeface="Arial"/>
                <a:sym typeface="Arial"/>
              </a:rPr>
              <a:t> used to broadcast info throughout the subnet</a:t>
            </a:r>
            <a:endParaRPr dirty="0">
              <a:latin typeface="Arial"/>
              <a:ea typeface="Arial"/>
              <a:cs typeface="Arial"/>
              <a:sym typeface="Arial"/>
            </a:endParaRPr>
          </a:p>
        </p:txBody>
      </p:sp>
      <p:grpSp>
        <p:nvGrpSpPr>
          <p:cNvPr id="278" name="Google Shape;278;p11"/>
          <p:cNvGrpSpPr/>
          <p:nvPr/>
        </p:nvGrpSpPr>
        <p:grpSpPr>
          <a:xfrm>
            <a:off x="2518869" y="1069063"/>
            <a:ext cx="5832648" cy="1296144"/>
            <a:chOff x="1115616" y="5013176"/>
            <a:chExt cx="5832648" cy="1296144"/>
          </a:xfrm>
        </p:grpSpPr>
        <p:grpSp>
          <p:nvGrpSpPr>
            <p:cNvPr id="279" name="Google Shape;279;p11"/>
            <p:cNvGrpSpPr/>
            <p:nvPr/>
          </p:nvGrpSpPr>
          <p:grpSpPr>
            <a:xfrm>
              <a:off x="1619672" y="5013176"/>
              <a:ext cx="5328592" cy="688142"/>
              <a:chOff x="2123728" y="2204864"/>
              <a:chExt cx="5328592" cy="688142"/>
            </a:xfrm>
          </p:grpSpPr>
          <p:sp>
            <p:nvSpPr>
              <p:cNvPr id="280" name="Google Shape;280;p11"/>
              <p:cNvSpPr txBox="1"/>
              <p:nvPr/>
            </p:nvSpPr>
            <p:spPr>
              <a:xfrm>
                <a:off x="2123728" y="2492896"/>
                <a:ext cx="5328592" cy="400110"/>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11000000 . 01000000 . 00010110 . 00011111 </a:t>
                </a:r>
                <a:endParaRPr sz="2000">
                  <a:solidFill>
                    <a:schemeClr val="dk1"/>
                  </a:solidFill>
                  <a:latin typeface="Arial"/>
                  <a:ea typeface="Arial"/>
                  <a:cs typeface="Arial"/>
                  <a:sym typeface="Arial"/>
                </a:endParaRPr>
              </a:p>
            </p:txBody>
          </p:sp>
          <p:sp>
            <p:nvSpPr>
              <p:cNvPr id="281" name="Google Shape;281;p11"/>
              <p:cNvSpPr txBox="1"/>
              <p:nvPr/>
            </p:nvSpPr>
            <p:spPr>
              <a:xfrm>
                <a:off x="2483768" y="2204864"/>
                <a:ext cx="576064" cy="369332"/>
              </a:xfrm>
              <a:prstGeom prst="rect">
                <a:avLst/>
              </a:prstGeom>
              <a:solidFill>
                <a:srgbClr val="00B0F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192</a:t>
                </a:r>
                <a:endParaRPr sz="1800">
                  <a:solidFill>
                    <a:schemeClr val="dk1"/>
                  </a:solidFill>
                  <a:latin typeface="Arial"/>
                  <a:ea typeface="Arial"/>
                  <a:cs typeface="Arial"/>
                  <a:sym typeface="Arial"/>
                </a:endParaRPr>
              </a:p>
            </p:txBody>
          </p:sp>
          <p:sp>
            <p:nvSpPr>
              <p:cNvPr id="282" name="Google Shape;282;p11"/>
              <p:cNvSpPr txBox="1"/>
              <p:nvPr/>
            </p:nvSpPr>
            <p:spPr>
              <a:xfrm>
                <a:off x="3851920" y="2204864"/>
                <a:ext cx="576064" cy="369332"/>
              </a:xfrm>
              <a:prstGeom prst="rect">
                <a:avLst/>
              </a:prstGeom>
              <a:solidFill>
                <a:srgbClr val="00B0F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64</a:t>
                </a:r>
                <a:endParaRPr sz="1800">
                  <a:solidFill>
                    <a:schemeClr val="dk1"/>
                  </a:solidFill>
                  <a:latin typeface="Arial"/>
                  <a:ea typeface="Arial"/>
                  <a:cs typeface="Arial"/>
                  <a:sym typeface="Arial"/>
                </a:endParaRPr>
              </a:p>
            </p:txBody>
          </p:sp>
          <p:sp>
            <p:nvSpPr>
              <p:cNvPr id="283" name="Google Shape;283;p11"/>
              <p:cNvSpPr txBox="1"/>
              <p:nvPr/>
            </p:nvSpPr>
            <p:spPr>
              <a:xfrm>
                <a:off x="5292080" y="2204864"/>
                <a:ext cx="576064" cy="369332"/>
              </a:xfrm>
              <a:prstGeom prst="rect">
                <a:avLst/>
              </a:prstGeom>
              <a:solidFill>
                <a:srgbClr val="00B0F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22</a:t>
                </a:r>
                <a:endParaRPr sz="1800">
                  <a:solidFill>
                    <a:schemeClr val="dk1"/>
                  </a:solidFill>
                  <a:latin typeface="Arial"/>
                  <a:ea typeface="Arial"/>
                  <a:cs typeface="Arial"/>
                  <a:sym typeface="Arial"/>
                </a:endParaRPr>
              </a:p>
            </p:txBody>
          </p:sp>
          <p:sp>
            <p:nvSpPr>
              <p:cNvPr id="284" name="Google Shape;284;p11"/>
              <p:cNvSpPr txBox="1"/>
              <p:nvPr/>
            </p:nvSpPr>
            <p:spPr>
              <a:xfrm>
                <a:off x="6516216" y="2204864"/>
                <a:ext cx="576064" cy="369332"/>
              </a:xfrm>
              <a:prstGeom prst="rect">
                <a:avLst/>
              </a:prstGeom>
              <a:solidFill>
                <a:srgbClr val="00B0F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31</a:t>
                </a:r>
                <a:endParaRPr sz="1800">
                  <a:solidFill>
                    <a:schemeClr val="dk1"/>
                  </a:solidFill>
                  <a:latin typeface="Arial"/>
                  <a:ea typeface="Arial"/>
                  <a:cs typeface="Arial"/>
                  <a:sym typeface="Arial"/>
                </a:endParaRPr>
              </a:p>
            </p:txBody>
          </p:sp>
        </p:grpSp>
        <p:sp>
          <p:nvSpPr>
            <p:cNvPr id="285" name="Google Shape;285;p11"/>
            <p:cNvSpPr/>
            <p:nvPr/>
          </p:nvSpPr>
          <p:spPr>
            <a:xfrm>
              <a:off x="1691680" y="5373216"/>
              <a:ext cx="3888432" cy="36004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11"/>
            <p:cNvSpPr/>
            <p:nvPr/>
          </p:nvSpPr>
          <p:spPr>
            <a:xfrm>
              <a:off x="1115616" y="5949280"/>
              <a:ext cx="2088232" cy="360040"/>
            </a:xfrm>
            <a:prstGeom prst="wedgeRoundRectCallout">
              <a:avLst>
                <a:gd name="adj1" fmla="val 7270"/>
                <a:gd name="adj2" fmla="val -108078"/>
                <a:gd name="adj3" fmla="val 16667"/>
              </a:avLst>
            </a:prstGeom>
            <a:solidFill>
              <a:srgbClr val="00B050"/>
            </a:solidFill>
            <a:ln w="25400" cap="flat" cmpd="sng">
              <a:solidFill>
                <a:srgbClr val="00946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Network portion</a:t>
              </a:r>
              <a:endParaRPr sz="1800">
                <a:solidFill>
                  <a:schemeClr val="lt1"/>
                </a:solidFill>
                <a:latin typeface="Arial"/>
                <a:ea typeface="Arial"/>
                <a:cs typeface="Arial"/>
                <a:sym typeface="Arial"/>
              </a:endParaRPr>
            </a:p>
          </p:txBody>
        </p:sp>
        <p:sp>
          <p:nvSpPr>
            <p:cNvPr id="287" name="Google Shape;287;p11"/>
            <p:cNvSpPr/>
            <p:nvPr/>
          </p:nvSpPr>
          <p:spPr>
            <a:xfrm>
              <a:off x="5659699" y="5373216"/>
              <a:ext cx="1288565" cy="360040"/>
            </a:xfrm>
            <a:prstGeom prst="roundRect">
              <a:avLst>
                <a:gd name="adj" fmla="val 16667"/>
              </a:avLst>
            </a:prstGeom>
            <a:noFill/>
            <a:ln w="28575"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8" name="Google Shape;288;p11"/>
            <p:cNvSpPr/>
            <p:nvPr/>
          </p:nvSpPr>
          <p:spPr>
            <a:xfrm>
              <a:off x="5076056" y="5877272"/>
              <a:ext cx="1656184" cy="360040"/>
            </a:xfrm>
            <a:prstGeom prst="wedgeRoundRectCallout">
              <a:avLst>
                <a:gd name="adj1" fmla="val 21279"/>
                <a:gd name="adj2" fmla="val -108078"/>
                <a:gd name="adj3" fmla="val 16667"/>
              </a:avLst>
            </a:prstGeom>
            <a:solidFill>
              <a:srgbClr val="00B050"/>
            </a:solidFill>
            <a:ln w="25400" cap="flat" cmpd="sng">
              <a:solidFill>
                <a:srgbClr val="00946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Host portion</a:t>
              </a:r>
              <a:endParaRPr sz="1800">
                <a:solidFill>
                  <a:schemeClr val="lt1"/>
                </a:solidFill>
                <a:latin typeface="Arial"/>
                <a:ea typeface="Arial"/>
                <a:cs typeface="Arial"/>
                <a:sym typeface="Arial"/>
              </a:endParaRPr>
            </a:p>
          </p:txBody>
        </p:sp>
      </p:grpSp>
      <p:sp>
        <p:nvSpPr>
          <p:cNvPr id="289" name="Google Shape;289;p11"/>
          <p:cNvSpPr/>
          <p:nvPr/>
        </p:nvSpPr>
        <p:spPr>
          <a:xfrm>
            <a:off x="323528" y="1052736"/>
            <a:ext cx="1838965" cy="369332"/>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192.64.22.31/24</a:t>
            </a:r>
            <a:endParaRPr sz="1800">
              <a:solidFill>
                <a:schemeClr val="dk1"/>
              </a:solidFill>
              <a:latin typeface="Arial"/>
              <a:ea typeface="Arial"/>
              <a:cs typeface="Arial"/>
              <a:sym typeface="Arial"/>
            </a:endParaRPr>
          </a:p>
        </p:txBody>
      </p:sp>
      <p:sp>
        <p:nvSpPr>
          <p:cNvPr id="293" name="Google Shape;293;p11"/>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latin typeface="Arial"/>
                <a:ea typeface="Arial"/>
                <a:cs typeface="Arial"/>
                <a:sym typeface="Arial"/>
              </a:rPr>
              <a:t>IPv4 Addressing</a:t>
            </a:r>
            <a:endParaRPr sz="2800" dirty="0">
              <a:latin typeface="Arial"/>
              <a:ea typeface="Arial"/>
              <a:cs typeface="Arial"/>
              <a:sym typeface="Arial"/>
            </a:endParaRPr>
          </a:p>
        </p:txBody>
      </p:sp>
      <p:sp>
        <p:nvSpPr>
          <p:cNvPr id="20" name="Right Triangle 19">
            <a:extLst>
              <a:ext uri="{FF2B5EF4-FFF2-40B4-BE49-F238E27FC236}">
                <a16:creationId xmlns:a16="http://schemas.microsoft.com/office/drawing/2014/main" id="{926E3FF6-DC02-1E4A-A2DE-810738069910}"/>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65</a:t>
            </a:fld>
            <a:endParaRPr lang="en-US" altLang="en-US" dirty="0">
              <a:latin typeface="Tahoma" panose="020B0604030504040204" pitchFamily="34" charset="0"/>
            </a:endParaRPr>
          </a:p>
        </p:txBody>
      </p:sp>
    </p:spTree>
    <p:extLst>
      <p:ext uri="{BB962C8B-B14F-4D97-AF65-F5344CB8AC3E}">
        <p14:creationId xmlns:p14="http://schemas.microsoft.com/office/powerpoint/2010/main" val="13229958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12"/>
          <p:cNvSpPr txBox="1">
            <a:spLocks noGrp="1"/>
          </p:cNvSpPr>
          <p:nvPr>
            <p:ph type="body" idx="4294967295"/>
          </p:nvPr>
        </p:nvSpPr>
        <p:spPr>
          <a:xfrm>
            <a:off x="256819" y="1045496"/>
            <a:ext cx="8504238" cy="2517511"/>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1560"/>
              <a:buChar char="❖"/>
            </a:pPr>
            <a:r>
              <a:rPr lang="en-US" sz="2400" dirty="0">
                <a:latin typeface="Arial"/>
                <a:ea typeface="Arial"/>
                <a:cs typeface="Arial"/>
                <a:sym typeface="Arial"/>
              </a:rPr>
              <a:t>Given an </a:t>
            </a:r>
            <a:r>
              <a:rPr lang="en-US" sz="2400" u="sng" dirty="0">
                <a:solidFill>
                  <a:srgbClr val="FF0000"/>
                </a:solidFill>
                <a:latin typeface="Arial"/>
                <a:ea typeface="Arial"/>
                <a:cs typeface="Arial"/>
                <a:sym typeface="Arial"/>
              </a:rPr>
              <a:t>IP address</a:t>
            </a:r>
            <a:r>
              <a:rPr lang="en-US" sz="2400" dirty="0">
                <a:latin typeface="Arial"/>
                <a:ea typeface="Arial"/>
                <a:cs typeface="Arial"/>
                <a:sym typeface="Arial"/>
              </a:rPr>
              <a:t> and </a:t>
            </a:r>
            <a:r>
              <a:rPr lang="en-US" sz="2400" u="sng" dirty="0">
                <a:solidFill>
                  <a:srgbClr val="FF0000"/>
                </a:solidFill>
                <a:latin typeface="Arial"/>
                <a:ea typeface="Arial"/>
                <a:cs typeface="Arial"/>
                <a:sym typeface="Arial"/>
              </a:rPr>
              <a:t>subnet mask</a:t>
            </a:r>
            <a:r>
              <a:rPr lang="en-US" sz="2400" dirty="0">
                <a:latin typeface="Arial"/>
                <a:ea typeface="Arial"/>
                <a:cs typeface="Arial"/>
                <a:sym typeface="Arial"/>
              </a:rPr>
              <a:t>, we </a:t>
            </a:r>
            <a:r>
              <a:rPr lang="en-US" sz="2400" dirty="0">
                <a:solidFill>
                  <a:srgbClr val="FF0000"/>
                </a:solidFill>
                <a:latin typeface="Arial"/>
                <a:ea typeface="Arial"/>
                <a:cs typeface="Arial"/>
                <a:sym typeface="Arial"/>
              </a:rPr>
              <a:t>can find</a:t>
            </a:r>
            <a:r>
              <a:rPr lang="en-US" sz="2400" dirty="0">
                <a:latin typeface="Arial"/>
                <a:ea typeface="Arial"/>
                <a:cs typeface="Arial"/>
                <a:sym typeface="Arial"/>
              </a:rPr>
              <a:t> the </a:t>
            </a:r>
            <a:r>
              <a:rPr lang="en-US" sz="2400" u="sng" dirty="0">
                <a:solidFill>
                  <a:srgbClr val="FF0000"/>
                </a:solidFill>
                <a:latin typeface="Arial"/>
                <a:ea typeface="Arial"/>
                <a:cs typeface="Arial"/>
                <a:sym typeface="Arial"/>
              </a:rPr>
              <a:t>network address</a:t>
            </a:r>
            <a:r>
              <a:rPr lang="en-US" sz="2400" dirty="0">
                <a:latin typeface="Arial"/>
                <a:ea typeface="Arial"/>
                <a:cs typeface="Arial"/>
                <a:sym typeface="Arial"/>
              </a:rPr>
              <a:t> and </a:t>
            </a:r>
            <a:r>
              <a:rPr lang="en-US" sz="2400" u="sng" dirty="0">
                <a:solidFill>
                  <a:srgbClr val="FF0000"/>
                </a:solidFill>
                <a:latin typeface="Arial"/>
                <a:ea typeface="Arial"/>
                <a:cs typeface="Arial"/>
                <a:sym typeface="Arial"/>
              </a:rPr>
              <a:t>broadcast address</a:t>
            </a:r>
            <a:r>
              <a:rPr lang="en-US" sz="2400" dirty="0">
                <a:latin typeface="Arial"/>
                <a:ea typeface="Arial"/>
                <a:cs typeface="Arial"/>
                <a:sym typeface="Arial"/>
              </a:rPr>
              <a:t> …</a:t>
            </a:r>
            <a:endParaRPr sz="2400" dirty="0">
              <a:solidFill>
                <a:srgbClr val="C00000"/>
              </a:solidFill>
              <a:latin typeface="Arial"/>
              <a:ea typeface="Arial"/>
              <a:cs typeface="Arial"/>
              <a:sym typeface="Arial"/>
            </a:endParaRPr>
          </a:p>
          <a:p>
            <a:pPr marL="342900" lvl="0" indent="-342900" algn="l" rtl="0">
              <a:lnSpc>
                <a:spcPct val="100000"/>
              </a:lnSpc>
              <a:spcBef>
                <a:spcPts val="1200"/>
              </a:spcBef>
              <a:spcAft>
                <a:spcPts val="0"/>
              </a:spcAft>
              <a:buSzPts val="1560"/>
              <a:buChar char="❖"/>
            </a:pPr>
            <a:r>
              <a:rPr lang="en-US" sz="2400" dirty="0">
                <a:latin typeface="Arial"/>
                <a:ea typeface="Arial"/>
                <a:cs typeface="Arial"/>
                <a:sym typeface="Arial"/>
              </a:rPr>
              <a:t>Example: IP address</a:t>
            </a:r>
            <a:r>
              <a:rPr lang="en-US" sz="2400" dirty="0">
                <a:solidFill>
                  <a:srgbClr val="0070C0"/>
                </a:solidFill>
                <a:latin typeface="Arial"/>
                <a:ea typeface="Arial"/>
                <a:cs typeface="Arial"/>
                <a:sym typeface="Arial"/>
              </a:rPr>
              <a:t> = 192.168.1.10/24</a:t>
            </a:r>
            <a:endParaRPr dirty="0"/>
          </a:p>
          <a:p>
            <a:pPr marL="742950" lvl="1" indent="-285750" algn="l" rtl="0">
              <a:lnSpc>
                <a:spcPct val="100000"/>
              </a:lnSpc>
              <a:spcBef>
                <a:spcPts val="1200"/>
              </a:spcBef>
              <a:spcAft>
                <a:spcPts val="0"/>
              </a:spcAft>
              <a:buSzPts val="2200"/>
              <a:buChar char="▪"/>
            </a:pPr>
            <a:r>
              <a:rPr lang="en-US" sz="2200" dirty="0">
                <a:latin typeface="Arial"/>
                <a:ea typeface="Arial"/>
                <a:cs typeface="Arial"/>
                <a:sym typeface="Arial"/>
              </a:rPr>
              <a:t>Set the </a:t>
            </a:r>
            <a:r>
              <a:rPr lang="en-US" sz="2200" dirty="0">
                <a:solidFill>
                  <a:srgbClr val="FF0000"/>
                </a:solidFill>
                <a:latin typeface="Arial"/>
                <a:ea typeface="Arial"/>
                <a:cs typeface="Arial"/>
                <a:sym typeface="Arial"/>
              </a:rPr>
              <a:t>host portion</a:t>
            </a:r>
            <a:r>
              <a:rPr lang="en-US" sz="2200" dirty="0">
                <a:latin typeface="Arial"/>
                <a:ea typeface="Arial"/>
                <a:cs typeface="Arial"/>
                <a:sym typeface="Arial"/>
              </a:rPr>
              <a:t> as </a:t>
            </a:r>
            <a:r>
              <a:rPr lang="en-US" sz="2200" b="1" dirty="0">
                <a:solidFill>
                  <a:srgbClr val="FF0000"/>
                </a:solidFill>
                <a:latin typeface="Arial"/>
                <a:ea typeface="Arial"/>
                <a:cs typeface="Arial"/>
                <a:sym typeface="Arial"/>
              </a:rPr>
              <a:t>all zero(0)</a:t>
            </a:r>
            <a:r>
              <a:rPr lang="en-US" sz="2200" dirty="0">
                <a:latin typeface="Arial"/>
                <a:ea typeface="Arial"/>
                <a:cs typeface="Arial"/>
                <a:sym typeface="Arial"/>
              </a:rPr>
              <a:t> to get </a:t>
            </a:r>
            <a:r>
              <a:rPr lang="en-US" sz="2200" dirty="0">
                <a:solidFill>
                  <a:srgbClr val="FF0000"/>
                </a:solidFill>
                <a:latin typeface="Arial"/>
                <a:ea typeface="Arial"/>
                <a:cs typeface="Arial"/>
                <a:sym typeface="Arial"/>
              </a:rPr>
              <a:t>network address</a:t>
            </a:r>
            <a:endParaRPr dirty="0"/>
          </a:p>
          <a:p>
            <a:pPr marL="742950" lvl="1" indent="-285750" algn="l" rtl="0">
              <a:lnSpc>
                <a:spcPct val="100000"/>
              </a:lnSpc>
              <a:spcBef>
                <a:spcPts val="1200"/>
              </a:spcBef>
              <a:spcAft>
                <a:spcPts val="0"/>
              </a:spcAft>
              <a:buSzPts val="2200"/>
              <a:buChar char="▪"/>
            </a:pPr>
            <a:r>
              <a:rPr lang="en-US" sz="2200" dirty="0">
                <a:latin typeface="Arial"/>
                <a:ea typeface="Arial"/>
                <a:cs typeface="Arial"/>
                <a:sym typeface="Arial"/>
              </a:rPr>
              <a:t>Set the </a:t>
            </a:r>
            <a:r>
              <a:rPr lang="en-US" sz="2200" dirty="0">
                <a:solidFill>
                  <a:srgbClr val="FF0000"/>
                </a:solidFill>
                <a:latin typeface="Arial"/>
                <a:ea typeface="Arial"/>
                <a:cs typeface="Arial"/>
                <a:sym typeface="Arial"/>
              </a:rPr>
              <a:t>host portion</a:t>
            </a:r>
            <a:r>
              <a:rPr lang="en-US" sz="2200" dirty="0">
                <a:latin typeface="Arial"/>
                <a:ea typeface="Arial"/>
                <a:cs typeface="Arial"/>
                <a:sym typeface="Arial"/>
              </a:rPr>
              <a:t> as </a:t>
            </a:r>
            <a:r>
              <a:rPr lang="en-US" sz="2200" b="1" dirty="0">
                <a:solidFill>
                  <a:srgbClr val="FF0000"/>
                </a:solidFill>
                <a:latin typeface="Arial"/>
                <a:ea typeface="Arial"/>
                <a:cs typeface="Arial"/>
                <a:sym typeface="Arial"/>
              </a:rPr>
              <a:t>all  one(1)</a:t>
            </a:r>
            <a:r>
              <a:rPr lang="en-US" sz="2200" dirty="0">
                <a:latin typeface="Arial"/>
                <a:ea typeface="Arial"/>
                <a:cs typeface="Arial"/>
                <a:sym typeface="Arial"/>
              </a:rPr>
              <a:t> to get </a:t>
            </a:r>
            <a:r>
              <a:rPr lang="en-US" sz="2200" dirty="0">
                <a:solidFill>
                  <a:srgbClr val="FF0000"/>
                </a:solidFill>
                <a:latin typeface="Arial"/>
                <a:ea typeface="Arial"/>
                <a:cs typeface="Arial"/>
                <a:sym typeface="Arial"/>
              </a:rPr>
              <a:t>broadcast address</a:t>
            </a:r>
            <a:endParaRPr dirty="0"/>
          </a:p>
        </p:txBody>
      </p:sp>
      <p:sp>
        <p:nvSpPr>
          <p:cNvPr id="301" name="Google Shape;301;p12"/>
          <p:cNvSpPr txBox="1"/>
          <p:nvPr/>
        </p:nvSpPr>
        <p:spPr>
          <a:xfrm>
            <a:off x="597704" y="3640330"/>
            <a:ext cx="3282124" cy="461665"/>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70C0"/>
                </a:solidFill>
                <a:latin typeface="Arial"/>
                <a:ea typeface="Arial"/>
                <a:cs typeface="Arial"/>
                <a:sym typeface="Arial"/>
              </a:rPr>
              <a:t>192.168.1.</a:t>
            </a:r>
            <a:r>
              <a:rPr lang="en-US" sz="2400">
                <a:solidFill>
                  <a:srgbClr val="FF0000"/>
                </a:solidFill>
                <a:latin typeface="Arial"/>
                <a:ea typeface="Arial"/>
                <a:cs typeface="Arial"/>
                <a:sym typeface="Arial"/>
              </a:rPr>
              <a:t>10</a:t>
            </a:r>
            <a:endParaRPr/>
          </a:p>
        </p:txBody>
      </p:sp>
      <p:grpSp>
        <p:nvGrpSpPr>
          <p:cNvPr id="302" name="Google Shape;302;p12"/>
          <p:cNvGrpSpPr/>
          <p:nvPr/>
        </p:nvGrpSpPr>
        <p:grpSpPr>
          <a:xfrm>
            <a:off x="1291385" y="3979481"/>
            <a:ext cx="7633067" cy="798512"/>
            <a:chOff x="1322916" y="3842847"/>
            <a:chExt cx="7633067" cy="798512"/>
          </a:xfrm>
        </p:grpSpPr>
        <p:sp>
          <p:nvSpPr>
            <p:cNvPr id="303" name="Google Shape;303;p12"/>
            <p:cNvSpPr txBox="1"/>
            <p:nvPr/>
          </p:nvSpPr>
          <p:spPr>
            <a:xfrm>
              <a:off x="1322916" y="4179694"/>
              <a:ext cx="4258075" cy="461665"/>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70C0"/>
                  </a:solidFill>
                  <a:latin typeface="Arial"/>
                  <a:ea typeface="Arial"/>
                  <a:cs typeface="Arial"/>
                  <a:sym typeface="Arial"/>
                </a:rPr>
                <a:t>192.168.1</a:t>
              </a:r>
              <a:r>
                <a:rPr lang="en-US" sz="2400">
                  <a:solidFill>
                    <a:schemeClr val="dk1"/>
                  </a:solidFill>
                  <a:latin typeface="Arial"/>
                  <a:ea typeface="Arial"/>
                  <a:cs typeface="Arial"/>
                  <a:sym typeface="Arial"/>
                </a:rPr>
                <a:t>.</a:t>
              </a:r>
              <a:r>
                <a:rPr lang="en-US" sz="2400" b="1">
                  <a:solidFill>
                    <a:srgbClr val="FF0000"/>
                  </a:solidFill>
                  <a:latin typeface="Arial"/>
                  <a:ea typeface="Arial"/>
                  <a:cs typeface="Arial"/>
                  <a:sym typeface="Arial"/>
                </a:rPr>
                <a:t>[00000000]</a:t>
              </a:r>
              <a:endParaRPr/>
            </a:p>
          </p:txBody>
        </p:sp>
        <p:sp>
          <p:nvSpPr>
            <p:cNvPr id="304" name="Google Shape;304;p12"/>
            <p:cNvSpPr/>
            <p:nvPr/>
          </p:nvSpPr>
          <p:spPr>
            <a:xfrm>
              <a:off x="5014281" y="3842847"/>
              <a:ext cx="3941702" cy="576064"/>
            </a:xfrm>
            <a:prstGeom prst="wedgeRoundRectCallout">
              <a:avLst>
                <a:gd name="adj1" fmla="val -64342"/>
                <a:gd name="adj2" fmla="val 45164"/>
                <a:gd name="adj3"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rgbClr val="0070C0"/>
                  </a:solidFill>
                  <a:latin typeface="Arial"/>
                  <a:ea typeface="Arial"/>
                  <a:cs typeface="Arial"/>
                  <a:sym typeface="Arial"/>
                </a:rPr>
                <a:t>Network address: </a:t>
              </a:r>
              <a:r>
                <a:rPr lang="en-US" sz="1800" b="1" dirty="0">
                  <a:solidFill>
                    <a:srgbClr val="0070C0"/>
                  </a:solidFill>
                  <a:latin typeface="Arial"/>
                  <a:ea typeface="Arial"/>
                  <a:cs typeface="Arial"/>
                  <a:sym typeface="Arial"/>
                </a:rPr>
                <a:t>192.168.1.0</a:t>
              </a:r>
              <a:endParaRPr dirty="0"/>
            </a:p>
          </p:txBody>
        </p:sp>
      </p:grpSp>
      <p:grpSp>
        <p:nvGrpSpPr>
          <p:cNvPr id="305" name="Google Shape;305;p12"/>
          <p:cNvGrpSpPr/>
          <p:nvPr/>
        </p:nvGrpSpPr>
        <p:grpSpPr>
          <a:xfrm>
            <a:off x="1301896" y="5086919"/>
            <a:ext cx="7622556" cy="691843"/>
            <a:chOff x="1333427" y="4950285"/>
            <a:chExt cx="7622556" cy="691843"/>
          </a:xfrm>
        </p:grpSpPr>
        <p:sp>
          <p:nvSpPr>
            <p:cNvPr id="306" name="Google Shape;306;p12"/>
            <p:cNvSpPr txBox="1"/>
            <p:nvPr/>
          </p:nvSpPr>
          <p:spPr>
            <a:xfrm>
              <a:off x="1333427" y="4950285"/>
              <a:ext cx="4258075" cy="461665"/>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70C0"/>
                  </a:solidFill>
                  <a:latin typeface="Arial"/>
                  <a:ea typeface="Arial"/>
                  <a:cs typeface="Arial"/>
                  <a:sym typeface="Arial"/>
                </a:rPr>
                <a:t>192.168.1</a:t>
              </a:r>
              <a:r>
                <a:rPr lang="en-US" sz="2400">
                  <a:solidFill>
                    <a:schemeClr val="dk1"/>
                  </a:solidFill>
                  <a:latin typeface="Arial"/>
                  <a:ea typeface="Arial"/>
                  <a:cs typeface="Arial"/>
                  <a:sym typeface="Arial"/>
                </a:rPr>
                <a:t>.</a:t>
              </a:r>
              <a:r>
                <a:rPr lang="en-US" sz="2400" b="1">
                  <a:solidFill>
                    <a:srgbClr val="FF0000"/>
                  </a:solidFill>
                  <a:latin typeface="Arial"/>
                  <a:ea typeface="Arial"/>
                  <a:cs typeface="Arial"/>
                  <a:sym typeface="Arial"/>
                </a:rPr>
                <a:t>[11111111]</a:t>
              </a:r>
              <a:endParaRPr/>
            </a:p>
          </p:txBody>
        </p:sp>
        <p:sp>
          <p:nvSpPr>
            <p:cNvPr id="307" name="Google Shape;307;p12"/>
            <p:cNvSpPr/>
            <p:nvPr/>
          </p:nvSpPr>
          <p:spPr>
            <a:xfrm>
              <a:off x="5014281" y="5066064"/>
              <a:ext cx="3941702" cy="576064"/>
            </a:xfrm>
            <a:prstGeom prst="wedgeRoundRectCallout">
              <a:avLst>
                <a:gd name="adj1" fmla="val -66993"/>
                <a:gd name="adj2" fmla="val -27446"/>
                <a:gd name="adj3"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70C0"/>
                  </a:solidFill>
                  <a:latin typeface="Arial"/>
                  <a:ea typeface="Arial"/>
                  <a:cs typeface="Arial"/>
                  <a:sym typeface="Arial"/>
                </a:rPr>
                <a:t>Broadcast address: </a:t>
              </a:r>
              <a:r>
                <a:rPr lang="en-US" sz="1800" b="1">
                  <a:solidFill>
                    <a:srgbClr val="0070C0"/>
                  </a:solidFill>
                  <a:latin typeface="Arial"/>
                  <a:ea typeface="Arial"/>
                  <a:cs typeface="Arial"/>
                  <a:sym typeface="Arial"/>
                </a:rPr>
                <a:t>192.168.1.255</a:t>
              </a:r>
              <a:endParaRPr/>
            </a:p>
          </p:txBody>
        </p:sp>
      </p:grpSp>
      <p:sp>
        <p:nvSpPr>
          <p:cNvPr id="311" name="Google Shape;311;p12"/>
          <p:cNvSpPr txBox="1"/>
          <p:nvPr/>
        </p:nvSpPr>
        <p:spPr>
          <a:xfrm>
            <a:off x="4497718" y="108578"/>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latin typeface="Arial"/>
                <a:ea typeface="Arial"/>
                <a:cs typeface="Arial"/>
                <a:sym typeface="Arial"/>
              </a:rPr>
              <a:t>IPv4 Addressing</a:t>
            </a:r>
            <a:endParaRPr sz="2800" dirty="0">
              <a:latin typeface="Arial"/>
              <a:ea typeface="Arial"/>
              <a:cs typeface="Arial"/>
              <a:sym typeface="Arial"/>
            </a:endParaRPr>
          </a:p>
        </p:txBody>
      </p:sp>
      <p:sp>
        <p:nvSpPr>
          <p:cNvPr id="15" name="Right Triangle 14">
            <a:extLst>
              <a:ext uri="{FF2B5EF4-FFF2-40B4-BE49-F238E27FC236}">
                <a16:creationId xmlns:a16="http://schemas.microsoft.com/office/drawing/2014/main" id="{0BA801DB-442B-F948-AD6B-9A02700A2864}"/>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66</a:t>
            </a:fld>
            <a:endParaRPr lang="en-US" altLang="en-US" dirty="0">
              <a:latin typeface="Tahoma" panose="020B0604030504040204" pitchFamily="34" charset="0"/>
            </a:endParaRPr>
          </a:p>
        </p:txBody>
      </p:sp>
      <p:sp>
        <p:nvSpPr>
          <p:cNvPr id="2" name="Google Shape;339;p14">
            <a:extLst>
              <a:ext uri="{FF2B5EF4-FFF2-40B4-BE49-F238E27FC236}">
                <a16:creationId xmlns:a16="http://schemas.microsoft.com/office/drawing/2014/main" id="{148FF318-DC58-34CA-8881-AA452894D2B1}"/>
              </a:ext>
            </a:extLst>
          </p:cNvPr>
          <p:cNvSpPr txBox="1"/>
          <p:nvPr/>
        </p:nvSpPr>
        <p:spPr>
          <a:xfrm>
            <a:off x="-503785" y="570624"/>
            <a:ext cx="9647785" cy="46542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dirty="0">
                <a:solidFill>
                  <a:srgbClr val="00B9FA"/>
                </a:solidFill>
                <a:latin typeface="Arial"/>
                <a:ea typeface="Arial"/>
                <a:cs typeface="Arial"/>
                <a:sym typeface="Arial"/>
              </a:rPr>
              <a:t>Subnet Network Address (Binary Method) and Broadcast Address</a:t>
            </a:r>
            <a:endParaRPr dirty="0"/>
          </a:p>
        </p:txBody>
      </p:sp>
    </p:spTree>
    <p:extLst>
      <p:ext uri="{BB962C8B-B14F-4D97-AF65-F5344CB8AC3E}">
        <p14:creationId xmlns:p14="http://schemas.microsoft.com/office/powerpoint/2010/main" val="358335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02"/>
                                        </p:tgtEl>
                                        <p:attrNameLst>
                                          <p:attrName>style.visibility</p:attrName>
                                        </p:attrNameLst>
                                      </p:cBhvr>
                                      <p:to>
                                        <p:strVal val="visible"/>
                                      </p:to>
                                    </p:set>
                                    <p:anim calcmode="lin" valueType="num">
                                      <p:cBhvr additive="base">
                                        <p:cTn id="11" dur="500"/>
                                        <p:tgtEl>
                                          <p:spTgt spid="302"/>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305"/>
                                        </p:tgtEl>
                                        <p:attrNameLst>
                                          <p:attrName>style.visibility</p:attrName>
                                        </p:attrNameLst>
                                      </p:cBhvr>
                                      <p:to>
                                        <p:strVal val="visible"/>
                                      </p:to>
                                    </p:set>
                                    <p:anim calcmode="lin" valueType="num">
                                      <p:cBhvr additive="base">
                                        <p:cTn id="16" dur="500"/>
                                        <p:tgtEl>
                                          <p:spTgt spid="3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14" descr="Screen Shot 2016-04-08 at 12.06.25 PM.png"/>
          <p:cNvPicPr preferRelativeResize="0"/>
          <p:nvPr/>
        </p:nvPicPr>
        <p:blipFill rotWithShape="1">
          <a:blip r:embed="rId3">
            <a:alphaModFix/>
          </a:blip>
          <a:srcRect/>
          <a:stretch/>
        </p:blipFill>
        <p:spPr>
          <a:xfrm>
            <a:off x="239887" y="1057022"/>
            <a:ext cx="4904216" cy="5322405"/>
          </a:xfrm>
          <a:prstGeom prst="rect">
            <a:avLst/>
          </a:prstGeom>
          <a:noFill/>
          <a:ln>
            <a:noFill/>
          </a:ln>
        </p:spPr>
      </p:pic>
      <p:sp>
        <p:nvSpPr>
          <p:cNvPr id="338" name="Google Shape;338;p14"/>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latin typeface="Arial"/>
                <a:ea typeface="Arial"/>
                <a:cs typeface="Arial"/>
                <a:sym typeface="Arial"/>
              </a:rPr>
              <a:t>IPv4 Addressing</a:t>
            </a:r>
            <a:endParaRPr sz="2800" dirty="0">
              <a:latin typeface="Arial"/>
              <a:ea typeface="Arial"/>
              <a:cs typeface="Arial"/>
              <a:sym typeface="Arial"/>
            </a:endParaRPr>
          </a:p>
        </p:txBody>
      </p:sp>
      <p:sp>
        <p:nvSpPr>
          <p:cNvPr id="339" name="Google Shape;339;p14"/>
          <p:cNvSpPr txBox="1"/>
          <p:nvPr/>
        </p:nvSpPr>
        <p:spPr>
          <a:xfrm>
            <a:off x="1257903" y="597687"/>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dirty="0">
                <a:solidFill>
                  <a:srgbClr val="00B9FA"/>
                </a:solidFill>
                <a:latin typeface="Arial"/>
                <a:ea typeface="Arial"/>
                <a:cs typeface="Arial"/>
                <a:sym typeface="Arial"/>
              </a:rPr>
              <a:t>Subnet Network Address (AND Method)</a:t>
            </a:r>
            <a:endParaRPr dirty="0"/>
          </a:p>
        </p:txBody>
      </p:sp>
      <p:sp>
        <p:nvSpPr>
          <p:cNvPr id="340" name="Google Shape;340;p14"/>
          <p:cNvSpPr txBox="1"/>
          <p:nvPr/>
        </p:nvSpPr>
        <p:spPr>
          <a:xfrm>
            <a:off x="5381297" y="1475706"/>
            <a:ext cx="3653227" cy="1015663"/>
          </a:xfrm>
          <a:prstGeom prst="rect">
            <a:avLst/>
          </a:prstGeom>
          <a:solidFill>
            <a:srgbClr val="66CCFF">
              <a:alpha val="49803"/>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i="1">
                <a:solidFill>
                  <a:srgbClr val="0070C0"/>
                </a:solidFill>
                <a:latin typeface="Arial"/>
                <a:ea typeface="Arial"/>
                <a:cs typeface="Arial"/>
                <a:sym typeface="Arial"/>
              </a:rPr>
              <a:t>To determine </a:t>
            </a:r>
            <a:r>
              <a:rPr lang="en-US" sz="2000" i="1" u="sng">
                <a:solidFill>
                  <a:srgbClr val="0070C0"/>
                </a:solidFill>
                <a:latin typeface="Arial"/>
                <a:ea typeface="Arial"/>
                <a:cs typeface="Arial"/>
                <a:sym typeface="Arial"/>
              </a:rPr>
              <a:t>subnet address</a:t>
            </a:r>
            <a:r>
              <a:rPr lang="en-US" sz="2000" i="1">
                <a:solidFill>
                  <a:srgbClr val="0070C0"/>
                </a:solidFill>
                <a:latin typeface="Arial"/>
                <a:ea typeface="Arial"/>
                <a:cs typeface="Arial"/>
                <a:sym typeface="Arial"/>
              </a:rPr>
              <a:t>: </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   </a:t>
            </a:r>
            <a:r>
              <a:rPr lang="en-US" sz="2000">
                <a:solidFill>
                  <a:schemeClr val="dk1"/>
                </a:solidFill>
                <a:highlight>
                  <a:srgbClr val="FFFF00"/>
                </a:highlight>
                <a:latin typeface="Arial"/>
                <a:ea typeface="Arial"/>
                <a:cs typeface="Arial"/>
                <a:sym typeface="Arial"/>
              </a:rPr>
              <a:t>IP address </a:t>
            </a:r>
            <a:r>
              <a:rPr lang="en-US" sz="2000" b="1">
                <a:solidFill>
                  <a:srgbClr val="FF0000"/>
                </a:solidFill>
                <a:highlight>
                  <a:srgbClr val="FFFF00"/>
                </a:highlight>
                <a:latin typeface="Courier New"/>
                <a:ea typeface="Courier New"/>
                <a:cs typeface="Courier New"/>
                <a:sym typeface="Courier New"/>
              </a:rPr>
              <a:t>AND</a:t>
            </a:r>
            <a:r>
              <a:rPr lang="en-US" sz="2000">
                <a:solidFill>
                  <a:srgbClr val="008000"/>
                </a:solidFill>
                <a:highlight>
                  <a:srgbClr val="FFFF00"/>
                </a:highlight>
                <a:latin typeface="Arial"/>
                <a:ea typeface="Arial"/>
                <a:cs typeface="Arial"/>
                <a:sym typeface="Arial"/>
              </a:rPr>
              <a:t> </a:t>
            </a:r>
            <a:r>
              <a:rPr lang="en-US" sz="2000">
                <a:solidFill>
                  <a:schemeClr val="dk1"/>
                </a:solidFill>
                <a:highlight>
                  <a:srgbClr val="FFFF00"/>
                </a:highlight>
                <a:latin typeface="Arial"/>
                <a:ea typeface="Arial"/>
                <a:cs typeface="Arial"/>
                <a:sym typeface="Arial"/>
              </a:rPr>
              <a:t>subnet mask</a:t>
            </a:r>
            <a:endParaRPr/>
          </a:p>
        </p:txBody>
      </p:sp>
      <p:sp>
        <p:nvSpPr>
          <p:cNvPr id="341" name="Google Shape;341;p14"/>
          <p:cNvSpPr/>
          <p:nvPr/>
        </p:nvSpPr>
        <p:spPr>
          <a:xfrm>
            <a:off x="1288756" y="983320"/>
            <a:ext cx="2761863" cy="1753857"/>
          </a:xfrm>
          <a:prstGeom prst="rect">
            <a:avLst/>
          </a:prstGeom>
          <a:noFill/>
          <a:ln w="12700" cap="flat" cmpd="sng">
            <a:solidFill>
              <a:srgbClr val="FF0000"/>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342" name="Google Shape;342;p14"/>
          <p:cNvCxnSpPr>
            <a:endCxn id="343" idx="1"/>
          </p:cNvCxnSpPr>
          <p:nvPr/>
        </p:nvCxnSpPr>
        <p:spPr>
          <a:xfrm>
            <a:off x="4061549" y="2138237"/>
            <a:ext cx="1467000" cy="1274700"/>
          </a:xfrm>
          <a:prstGeom prst="straightConnector1">
            <a:avLst/>
          </a:prstGeom>
          <a:solidFill>
            <a:schemeClr val="accent1"/>
          </a:solidFill>
          <a:ln w="12700" cap="flat" cmpd="sng">
            <a:solidFill>
              <a:srgbClr val="FF0000"/>
            </a:solidFill>
            <a:prstDash val="dash"/>
            <a:round/>
            <a:headEnd type="none" w="sm" len="sm"/>
            <a:tailEnd type="none" w="sm" len="sm"/>
          </a:ln>
        </p:spPr>
      </p:cxnSp>
      <p:sp>
        <p:nvSpPr>
          <p:cNvPr id="344" name="Google Shape;344;p14"/>
          <p:cNvSpPr/>
          <p:nvPr/>
        </p:nvSpPr>
        <p:spPr>
          <a:xfrm>
            <a:off x="-42040" y="3283725"/>
            <a:ext cx="9144000" cy="3595284"/>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endParaRPr sz="20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8000"/>
              </a:buClr>
              <a:buSzPts val="1800"/>
              <a:buFont typeface="Arial"/>
              <a:buNone/>
            </a:pPr>
            <a:r>
              <a:rPr lang="en-US" sz="1800" b="1">
                <a:solidFill>
                  <a:srgbClr val="008000"/>
                </a:solidFill>
                <a:latin typeface="Arial"/>
                <a:ea typeface="Arial"/>
                <a:cs typeface="Arial"/>
                <a:sym typeface="Arial"/>
              </a:rPr>
              <a:t>(</a:t>
            </a:r>
            <a:r>
              <a:rPr lang="en-US" sz="2400" b="1">
                <a:solidFill>
                  <a:srgbClr val="008000"/>
                </a:solidFill>
                <a:latin typeface="Courier New"/>
                <a:ea typeface="Courier New"/>
                <a:cs typeface="Courier New"/>
                <a:sym typeface="Courier New"/>
              </a:rPr>
              <a:t>AND</a:t>
            </a:r>
            <a:r>
              <a:rPr lang="en-US" sz="1800" b="1">
                <a:solidFill>
                  <a:srgbClr val="008000"/>
                </a:solidFill>
                <a:latin typeface="Arial"/>
                <a:ea typeface="Arial"/>
                <a:cs typeface="Arial"/>
                <a:sym typeface="Arial"/>
              </a:rPr>
              <a:t>)</a:t>
            </a:r>
            <a:r>
              <a:rPr lang="en-US" sz="1800" b="1">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3" name="Google Shape;343;p14"/>
          <p:cNvSpPr txBox="1"/>
          <p:nvPr/>
        </p:nvSpPr>
        <p:spPr>
          <a:xfrm>
            <a:off x="5528549" y="2689662"/>
            <a:ext cx="3476514" cy="1446550"/>
          </a:xfrm>
          <a:prstGeom prst="rect">
            <a:avLst/>
          </a:prstGeom>
          <a:solidFill>
            <a:srgbClr val="D8D8D8"/>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u="sng">
                <a:solidFill>
                  <a:schemeClr val="dk1"/>
                </a:solidFill>
                <a:latin typeface="Arial"/>
                <a:ea typeface="Arial"/>
                <a:cs typeface="Arial"/>
                <a:sym typeface="Arial"/>
              </a:rPr>
              <a:t>Example</a:t>
            </a:r>
            <a:r>
              <a:rPr lang="en-US" sz="2200">
                <a:solidFill>
                  <a:schemeClr val="dk1"/>
                </a:solidFill>
                <a:latin typeface="Arial"/>
                <a:ea typeface="Arial"/>
                <a:cs typeface="Arial"/>
                <a:sym typeface="Arial"/>
              </a:rPr>
              <a:t>:</a:t>
            </a:r>
            <a:endParaRPr/>
          </a:p>
          <a:p>
            <a:pPr marL="0" marR="0" lvl="0" indent="0" algn="l" rtl="0">
              <a:spcBef>
                <a:spcPts val="0"/>
              </a:spcBef>
              <a:spcAft>
                <a:spcPts val="0"/>
              </a:spcAft>
              <a:buNone/>
            </a:pPr>
            <a:r>
              <a:rPr lang="en-US" sz="2200">
                <a:solidFill>
                  <a:schemeClr val="dk1"/>
                </a:solidFill>
                <a:latin typeface="Arial"/>
                <a:ea typeface="Arial"/>
                <a:cs typeface="Arial"/>
                <a:sym typeface="Arial"/>
              </a:rPr>
              <a:t>If the subnet mask is </a:t>
            </a:r>
            <a:r>
              <a:rPr lang="en-US" sz="2200" b="1">
                <a:solidFill>
                  <a:srgbClr val="FF0000"/>
                </a:solidFill>
                <a:latin typeface="Courier New"/>
                <a:ea typeface="Courier New"/>
                <a:cs typeface="Courier New"/>
                <a:sym typeface="Courier New"/>
              </a:rPr>
              <a:t>255.255.255.0</a:t>
            </a:r>
            <a:r>
              <a:rPr lang="en-US" sz="2200">
                <a:solidFill>
                  <a:schemeClr val="dk1"/>
                </a:solidFill>
                <a:latin typeface="Arial"/>
                <a:ea typeface="Arial"/>
                <a:cs typeface="Arial"/>
                <a:sym typeface="Arial"/>
              </a:rPr>
              <a:t>, define the </a:t>
            </a:r>
            <a:r>
              <a:rPr lang="en-US" sz="2200" i="1" u="sng">
                <a:solidFill>
                  <a:srgbClr val="FF0000"/>
                </a:solidFill>
                <a:latin typeface="Arial"/>
                <a:ea typeface="Arial"/>
                <a:cs typeface="Arial"/>
                <a:sym typeface="Arial"/>
              </a:rPr>
              <a:t>subnet address</a:t>
            </a:r>
            <a:r>
              <a:rPr lang="en-US" sz="2200">
                <a:solidFill>
                  <a:schemeClr val="dk1"/>
                </a:solidFill>
                <a:latin typeface="Arial"/>
                <a:ea typeface="Arial"/>
                <a:cs typeface="Arial"/>
                <a:sym typeface="Arial"/>
              </a:rPr>
              <a:t>.</a:t>
            </a:r>
            <a:endParaRPr/>
          </a:p>
        </p:txBody>
      </p:sp>
      <p:sp>
        <p:nvSpPr>
          <p:cNvPr id="345" name="Google Shape;345;p14"/>
          <p:cNvSpPr txBox="1"/>
          <p:nvPr/>
        </p:nvSpPr>
        <p:spPr>
          <a:xfrm>
            <a:off x="1919486" y="2045748"/>
            <a:ext cx="1467068" cy="400110"/>
          </a:xfrm>
          <a:prstGeom prst="rect">
            <a:avLst/>
          </a:prstGeom>
          <a:solidFill>
            <a:srgbClr val="FFFF00">
              <a:alpha val="38823"/>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Arial"/>
                <a:ea typeface="Arial"/>
                <a:cs typeface="Arial"/>
                <a:sym typeface="Arial"/>
              </a:rPr>
              <a:t>223.1.1.0/24</a:t>
            </a:r>
            <a:endParaRPr sz="2000" b="1">
              <a:solidFill>
                <a:srgbClr val="00B0F0"/>
              </a:solidFill>
              <a:latin typeface="Comic Sans MS"/>
              <a:ea typeface="Comic Sans MS"/>
              <a:cs typeface="Comic Sans MS"/>
              <a:sym typeface="Comic Sans MS"/>
            </a:endParaRPr>
          </a:p>
        </p:txBody>
      </p:sp>
      <p:sp>
        <p:nvSpPr>
          <p:cNvPr id="346" name="Google Shape;346;p14"/>
          <p:cNvSpPr txBox="1"/>
          <p:nvPr/>
        </p:nvSpPr>
        <p:spPr>
          <a:xfrm>
            <a:off x="880164" y="3662024"/>
            <a:ext cx="3623661" cy="800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dirty="0">
                <a:solidFill>
                  <a:schemeClr val="dk1"/>
                </a:solidFill>
                <a:latin typeface="Arial"/>
                <a:ea typeface="Arial"/>
                <a:cs typeface="Arial"/>
                <a:sym typeface="Arial"/>
              </a:rPr>
              <a:t>            </a:t>
            </a:r>
            <a:r>
              <a:rPr lang="en-US" sz="2200" b="1" dirty="0">
                <a:solidFill>
                  <a:schemeClr val="dk1"/>
                </a:solidFill>
                <a:latin typeface="Courier New"/>
                <a:ea typeface="Courier New"/>
                <a:cs typeface="Courier New"/>
                <a:sym typeface="Courier New"/>
              </a:rPr>
              <a:t>223. 1 . 1 .4</a:t>
            </a:r>
            <a:endParaRPr dirty="0"/>
          </a:p>
          <a:p>
            <a:pPr marL="0" marR="0" lvl="0" indent="0" algn="l" rtl="0">
              <a:spcBef>
                <a:spcPts val="0"/>
              </a:spcBef>
              <a:spcAft>
                <a:spcPts val="0"/>
              </a:spcAft>
              <a:buNone/>
            </a:pPr>
            <a:r>
              <a:rPr lang="en-US" sz="2400" dirty="0">
                <a:solidFill>
                  <a:schemeClr val="dk1"/>
                </a:solidFill>
                <a:latin typeface="Courier New"/>
                <a:ea typeface="Courier New"/>
                <a:cs typeface="Courier New"/>
                <a:sym typeface="Courier New"/>
              </a:rPr>
              <a:t>AND</a:t>
            </a:r>
            <a:r>
              <a:rPr lang="en-US" sz="2200" dirty="0">
                <a:solidFill>
                  <a:schemeClr val="dk1"/>
                </a:solidFill>
                <a:latin typeface="Arial"/>
                <a:ea typeface="Arial"/>
                <a:cs typeface="Arial"/>
                <a:sym typeface="Arial"/>
              </a:rPr>
              <a:t>     </a:t>
            </a:r>
            <a:r>
              <a:rPr lang="en-US" sz="2200" dirty="0">
                <a:solidFill>
                  <a:srgbClr val="FF0000"/>
                </a:solidFill>
                <a:latin typeface="Courier New"/>
                <a:ea typeface="Courier New"/>
                <a:cs typeface="Courier New"/>
                <a:sym typeface="Courier New"/>
              </a:rPr>
              <a:t>255.255.255.0</a:t>
            </a:r>
            <a:endParaRPr dirty="0"/>
          </a:p>
        </p:txBody>
      </p:sp>
      <p:sp>
        <p:nvSpPr>
          <p:cNvPr id="347" name="Google Shape;347;p14"/>
          <p:cNvSpPr txBox="1"/>
          <p:nvPr/>
        </p:nvSpPr>
        <p:spPr>
          <a:xfrm>
            <a:off x="728615" y="4630127"/>
            <a:ext cx="6897000" cy="161582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a:solidFill>
                  <a:schemeClr val="dk1"/>
                </a:solidFill>
                <a:latin typeface="Courier New"/>
                <a:ea typeface="Courier New"/>
                <a:cs typeface="Courier New"/>
                <a:sym typeface="Courier New"/>
              </a:rPr>
              <a:t>11011111.00000001.00000001.00000100</a:t>
            </a:r>
            <a:endParaRPr/>
          </a:p>
          <a:p>
            <a:pPr marL="0" marR="0" lvl="0" indent="0" algn="l" rtl="0">
              <a:lnSpc>
                <a:spcPct val="150000"/>
              </a:lnSpc>
              <a:spcBef>
                <a:spcPts val="0"/>
              </a:spcBef>
              <a:spcAft>
                <a:spcPts val="0"/>
              </a:spcAft>
              <a:buNone/>
            </a:pPr>
            <a:r>
              <a:rPr lang="en-US" sz="2200" u="sng">
                <a:solidFill>
                  <a:srgbClr val="FF0000"/>
                </a:solidFill>
                <a:latin typeface="Courier New"/>
                <a:ea typeface="Courier New"/>
                <a:cs typeface="Courier New"/>
                <a:sym typeface="Courier New"/>
              </a:rPr>
              <a:t>11111111.11111111.11111111</a:t>
            </a:r>
            <a:r>
              <a:rPr lang="en-US" sz="2200" u="sng">
                <a:solidFill>
                  <a:schemeClr val="dk1"/>
                </a:solidFill>
                <a:latin typeface="Courier New"/>
                <a:ea typeface="Courier New"/>
                <a:cs typeface="Courier New"/>
                <a:sym typeface="Courier New"/>
              </a:rPr>
              <a:t>.00000000</a:t>
            </a:r>
            <a:endParaRPr/>
          </a:p>
          <a:p>
            <a:pPr marL="0" marR="0" lvl="0" indent="0" algn="l" rtl="0">
              <a:lnSpc>
                <a:spcPct val="150000"/>
              </a:lnSpc>
              <a:spcBef>
                <a:spcPts val="0"/>
              </a:spcBef>
              <a:spcAft>
                <a:spcPts val="0"/>
              </a:spcAft>
              <a:buNone/>
            </a:pPr>
            <a:r>
              <a:rPr lang="en-US" sz="2200" b="1" u="sng">
                <a:solidFill>
                  <a:srgbClr val="00B0F0"/>
                </a:solidFill>
                <a:latin typeface="Courier New"/>
                <a:ea typeface="Courier New"/>
                <a:cs typeface="Courier New"/>
                <a:sym typeface="Courier New"/>
              </a:rPr>
              <a:t>11011111.00000001.00000001.00000000</a:t>
            </a:r>
            <a:endParaRPr/>
          </a:p>
        </p:txBody>
      </p:sp>
      <p:sp>
        <p:nvSpPr>
          <p:cNvPr id="348" name="Google Shape;348;p14"/>
          <p:cNvSpPr txBox="1"/>
          <p:nvPr/>
        </p:nvSpPr>
        <p:spPr>
          <a:xfrm>
            <a:off x="1800615" y="6237529"/>
            <a:ext cx="2376500" cy="430887"/>
          </a:xfrm>
          <a:prstGeom prst="rect">
            <a:avLst/>
          </a:prstGeom>
          <a:solidFill>
            <a:srgbClr val="FFFF00">
              <a:alpha val="49803"/>
            </a:srgbClr>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00B0F0"/>
                </a:solidFill>
                <a:latin typeface="Courier New"/>
                <a:ea typeface="Courier New"/>
                <a:cs typeface="Courier New"/>
                <a:sym typeface="Courier New"/>
              </a:rPr>
              <a:t>223.1.1.0/24</a:t>
            </a:r>
            <a:endParaRPr/>
          </a:p>
        </p:txBody>
      </p:sp>
      <p:sp>
        <p:nvSpPr>
          <p:cNvPr id="349" name="Google Shape;349;p14"/>
          <p:cNvSpPr/>
          <p:nvPr/>
        </p:nvSpPr>
        <p:spPr>
          <a:xfrm>
            <a:off x="2827283" y="1051034"/>
            <a:ext cx="945931" cy="283779"/>
          </a:xfrm>
          <a:prstGeom prst="ellipse">
            <a:avLst/>
          </a:prstGeom>
          <a:solidFill>
            <a:srgbClr val="92D050">
              <a:alpha val="3882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0" name="Google Shape;350;p14"/>
          <p:cNvSpPr/>
          <p:nvPr/>
        </p:nvSpPr>
        <p:spPr>
          <a:xfrm>
            <a:off x="0" y="5255172"/>
            <a:ext cx="788276" cy="4309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 name="Right Triangle 18">
            <a:extLst>
              <a:ext uri="{FF2B5EF4-FFF2-40B4-BE49-F238E27FC236}">
                <a16:creationId xmlns:a16="http://schemas.microsoft.com/office/drawing/2014/main" id="{C6C87036-8B98-B64E-8B59-2C873BBBEC24}"/>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7"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67</a:t>
            </a:fld>
            <a:endParaRPr lang="en-US" altLang="en-US" dirty="0">
              <a:latin typeface="Tahoma" panose="020B0604030504040204" pitchFamily="34" charset="0"/>
            </a:endParaRPr>
          </a:p>
        </p:txBody>
      </p:sp>
    </p:spTree>
    <p:extLst>
      <p:ext uri="{BB962C8B-B14F-4D97-AF65-F5344CB8AC3E}">
        <p14:creationId xmlns:p14="http://schemas.microsoft.com/office/powerpoint/2010/main" val="99558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349"/>
                                        </p:tgtEl>
                                        <p:attrNameLst>
                                          <p:attrName>style.visibility</p:attrName>
                                        </p:attrNameLst>
                                      </p:cBhvr>
                                      <p:to>
                                        <p:strVal val="visible"/>
                                      </p:to>
                                    </p:set>
                                    <p:anim calcmode="lin" valueType="num">
                                      <p:cBhvr additive="base">
                                        <p:cTn id="17" dur="500"/>
                                        <p:tgtEl>
                                          <p:spTgt spid="349"/>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6"/>
                                        </p:tgtEl>
                                        <p:attrNameLst>
                                          <p:attrName>style.visibility</p:attrName>
                                        </p:attrNameLst>
                                      </p:cBhvr>
                                      <p:to>
                                        <p:strVal val="visible"/>
                                      </p:to>
                                    </p:set>
                                    <p:animEffect transition="in" filter="fade">
                                      <p:cBhvr>
                                        <p:cTn id="22" dur="500"/>
                                        <p:tgtEl>
                                          <p:spTgt spid="34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7"/>
                                        </p:tgtEl>
                                        <p:attrNameLst>
                                          <p:attrName>style.visibility</p:attrName>
                                        </p:attrNameLst>
                                      </p:cBhvr>
                                      <p:to>
                                        <p:strVal val="visible"/>
                                      </p:to>
                                    </p:set>
                                    <p:animEffect transition="in" filter="fade">
                                      <p:cBhvr>
                                        <p:cTn id="27" dur="500"/>
                                        <p:tgtEl>
                                          <p:spTgt spid="34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350"/>
                                        </p:tgtEl>
                                      </p:cBhvr>
                                    </p:animEffect>
                                    <p:set>
                                      <p:cBhvr>
                                        <p:cTn id="32" dur="1" fill="hold">
                                          <p:stCondLst>
                                            <p:cond delay="500"/>
                                          </p:stCondLst>
                                        </p:cTn>
                                        <p:tgtEl>
                                          <p:spTgt spid="35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8"/>
                                        </p:tgtEl>
                                        <p:attrNameLst>
                                          <p:attrName>style.visibility</p:attrName>
                                        </p:attrNameLst>
                                      </p:cBhvr>
                                      <p:to>
                                        <p:strVal val="visible"/>
                                      </p:to>
                                    </p:set>
                                    <p:animEffect transition="in" filter="fade">
                                      <p:cBhvr>
                                        <p:cTn id="37" dur="500"/>
                                        <p:tgtEl>
                                          <p:spTgt spid="34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6"/>
          <p:cNvSpPr/>
          <p:nvPr/>
        </p:nvSpPr>
        <p:spPr>
          <a:xfrm>
            <a:off x="203200" y="1280456"/>
            <a:ext cx="2925763" cy="425450"/>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2400">
                <a:solidFill>
                  <a:schemeClr val="dk1"/>
                </a:solidFill>
                <a:latin typeface="Arial"/>
                <a:ea typeface="Arial"/>
                <a:cs typeface="Arial"/>
                <a:sym typeface="Arial"/>
              </a:rPr>
              <a:t>182.126.103.215</a:t>
            </a:r>
            <a:r>
              <a:rPr lang="en-US" sz="2400">
                <a:solidFill>
                  <a:srgbClr val="FF0000"/>
                </a:solidFill>
                <a:latin typeface="Arial"/>
                <a:ea typeface="Arial"/>
                <a:cs typeface="Arial"/>
                <a:sym typeface="Arial"/>
              </a:rPr>
              <a:t>/30</a:t>
            </a:r>
            <a:endParaRPr/>
          </a:p>
        </p:txBody>
      </p:sp>
      <p:pic>
        <p:nvPicPr>
          <p:cNvPr id="376" name="Google Shape;376;p16"/>
          <p:cNvPicPr preferRelativeResize="0"/>
          <p:nvPr/>
        </p:nvPicPr>
        <p:blipFill rotWithShape="1">
          <a:blip r:embed="rId3">
            <a:alphaModFix/>
          </a:blip>
          <a:srcRect/>
          <a:stretch/>
        </p:blipFill>
        <p:spPr>
          <a:xfrm>
            <a:off x="878326" y="2063806"/>
            <a:ext cx="7688262" cy="3708400"/>
          </a:xfrm>
          <a:prstGeom prst="rect">
            <a:avLst/>
          </a:prstGeom>
          <a:noFill/>
          <a:ln>
            <a:noFill/>
          </a:ln>
        </p:spPr>
      </p:pic>
      <p:sp>
        <p:nvSpPr>
          <p:cNvPr id="377" name="Google Shape;377;p16"/>
          <p:cNvSpPr txBox="1"/>
          <p:nvPr/>
        </p:nvSpPr>
        <p:spPr>
          <a:xfrm>
            <a:off x="220718" y="5807075"/>
            <a:ext cx="2764221" cy="480131"/>
          </a:xfrm>
          <a:prstGeom prst="rect">
            <a:avLst/>
          </a:prstGeom>
          <a:solidFill>
            <a:srgbClr val="84FFE0"/>
          </a:solid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400" b="1">
                <a:solidFill>
                  <a:srgbClr val="FF0000"/>
                </a:solidFill>
                <a:latin typeface="Arial"/>
                <a:ea typeface="Arial"/>
                <a:cs typeface="Arial"/>
                <a:sym typeface="Arial"/>
              </a:rPr>
              <a:t>Network portion of the address DOES NOT CHANGE.</a:t>
            </a:r>
            <a:endParaRPr sz="1400" b="1">
              <a:solidFill>
                <a:srgbClr val="FF0000"/>
              </a:solidFill>
              <a:latin typeface="Arial"/>
              <a:ea typeface="Arial"/>
              <a:cs typeface="Arial"/>
              <a:sym typeface="Arial"/>
            </a:endParaRPr>
          </a:p>
        </p:txBody>
      </p:sp>
      <p:grpSp>
        <p:nvGrpSpPr>
          <p:cNvPr id="378" name="Google Shape;378;p16"/>
          <p:cNvGrpSpPr/>
          <p:nvPr/>
        </p:nvGrpSpPr>
        <p:grpSpPr>
          <a:xfrm>
            <a:off x="0" y="0"/>
            <a:ext cx="9143999" cy="926011"/>
            <a:chOff x="0" y="0"/>
            <a:chExt cx="9143999" cy="926011"/>
          </a:xfrm>
        </p:grpSpPr>
        <p:pic>
          <p:nvPicPr>
            <p:cNvPr id="379" name="Google Shape;379;p16" descr="Screen Shot 2015-04-08 at 10.38.40 AM.png"/>
            <p:cNvPicPr preferRelativeResize="0"/>
            <p:nvPr/>
          </p:nvPicPr>
          <p:blipFill rotWithShape="1">
            <a:blip r:embed="rId4">
              <a:alphaModFix/>
            </a:blip>
            <a:srcRect/>
            <a:stretch/>
          </p:blipFill>
          <p:spPr>
            <a:xfrm>
              <a:off x="0" y="0"/>
              <a:ext cx="8354231" cy="926011"/>
            </a:xfrm>
            <a:prstGeom prst="rect">
              <a:avLst/>
            </a:prstGeom>
            <a:noFill/>
            <a:ln>
              <a:noFill/>
            </a:ln>
          </p:spPr>
        </p:pic>
        <p:pic>
          <p:nvPicPr>
            <p:cNvPr id="380" name="Google Shape;380;p16" descr="Screen Shot 2015-04-08 at 10.42.03 AM.png"/>
            <p:cNvPicPr preferRelativeResize="0"/>
            <p:nvPr/>
          </p:nvPicPr>
          <p:blipFill rotWithShape="1">
            <a:blip r:embed="rId5">
              <a:alphaModFix/>
            </a:blip>
            <a:srcRect/>
            <a:stretch/>
          </p:blipFill>
          <p:spPr>
            <a:xfrm>
              <a:off x="8249806" y="1"/>
              <a:ext cx="894193" cy="923672"/>
            </a:xfrm>
            <a:prstGeom prst="rect">
              <a:avLst/>
            </a:prstGeom>
            <a:noFill/>
            <a:ln>
              <a:noFill/>
            </a:ln>
          </p:spPr>
        </p:pic>
      </p:grpSp>
      <p:sp>
        <p:nvSpPr>
          <p:cNvPr id="381" name="Google Shape;381;p16"/>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a:solidFill>
                  <a:schemeClr val="lt1"/>
                </a:solidFill>
                <a:latin typeface="Arial"/>
                <a:ea typeface="Arial"/>
                <a:cs typeface="Arial"/>
                <a:sym typeface="Arial"/>
              </a:rPr>
              <a:t>IPv4 Addressing</a:t>
            </a:r>
            <a:endParaRPr sz="2800">
              <a:solidFill>
                <a:schemeClr val="lt1"/>
              </a:solidFill>
              <a:latin typeface="Arial"/>
              <a:ea typeface="Arial"/>
              <a:cs typeface="Arial"/>
              <a:sym typeface="Arial"/>
            </a:endParaRPr>
          </a:p>
        </p:txBody>
      </p:sp>
      <p:grpSp>
        <p:nvGrpSpPr>
          <p:cNvPr id="382" name="Google Shape;382;p16"/>
          <p:cNvGrpSpPr/>
          <p:nvPr/>
        </p:nvGrpSpPr>
        <p:grpSpPr>
          <a:xfrm>
            <a:off x="-117702" y="-133199"/>
            <a:ext cx="2845135" cy="1594768"/>
            <a:chOff x="6668445" y="-249764"/>
            <a:chExt cx="2631381" cy="1707319"/>
          </a:xfrm>
        </p:grpSpPr>
        <p:sp>
          <p:nvSpPr>
            <p:cNvPr id="383" name="Google Shape;383;p16"/>
            <p:cNvSpPr/>
            <p:nvPr/>
          </p:nvSpPr>
          <p:spPr>
            <a:xfrm rot="859133">
              <a:off x="6772182" y="32215"/>
              <a:ext cx="2423907" cy="1143362"/>
            </a:xfrm>
            <a:prstGeom prst="irregularSeal2">
              <a:avLst/>
            </a:prstGeom>
            <a:solidFill>
              <a:srgbClr val="FFFF00"/>
            </a:solidFill>
            <a:ln>
              <a:noFill/>
            </a:ln>
            <a:effectLst>
              <a:outerShdw blurRad="50800" dist="139700" dir="2700000" algn="tl" rotWithShape="0">
                <a:srgbClr val="000000">
                  <a:alpha val="42745"/>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2040"/>
                <a:buFont typeface="Arial"/>
                <a:buNone/>
              </a:pPr>
              <a:endParaRPr sz="2400" b="0" i="0" u="none" strike="noStrike" cap="none">
                <a:solidFill>
                  <a:schemeClr val="dk1"/>
                </a:solidFill>
                <a:latin typeface="Comic Sans MS"/>
                <a:ea typeface="Comic Sans MS"/>
                <a:cs typeface="Comic Sans MS"/>
                <a:sym typeface="Comic Sans MS"/>
              </a:endParaRPr>
            </a:p>
          </p:txBody>
        </p:sp>
        <p:sp>
          <p:nvSpPr>
            <p:cNvPr id="384" name="Google Shape;384;p16"/>
            <p:cNvSpPr txBox="1"/>
            <p:nvPr/>
          </p:nvSpPr>
          <p:spPr>
            <a:xfrm>
              <a:off x="7260307" y="405356"/>
              <a:ext cx="138371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0000"/>
                  </a:solidFill>
                  <a:latin typeface="Arial"/>
                  <a:ea typeface="Arial"/>
                  <a:cs typeface="Arial"/>
                  <a:sym typeface="Arial"/>
                </a:rPr>
                <a:t>Example</a:t>
              </a:r>
              <a:endParaRPr/>
            </a:p>
          </p:txBody>
        </p:sp>
      </p:grpSp>
      <p:sp>
        <p:nvSpPr>
          <p:cNvPr id="12"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68</a:t>
            </a:fld>
            <a:endParaRPr lang="en-US" altLang="en-US" dirty="0">
              <a:latin typeface="Tahoma" panose="020B0604030504040204" pitchFamily="34" charset="0"/>
            </a:endParaRPr>
          </a:p>
        </p:txBody>
      </p:sp>
    </p:spTree>
    <p:extLst>
      <p:ext uri="{BB962C8B-B14F-4D97-AF65-F5344CB8AC3E}">
        <p14:creationId xmlns:p14="http://schemas.microsoft.com/office/powerpoint/2010/main" val="6327425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7"/>
          <p:cNvSpPr/>
          <p:nvPr/>
        </p:nvSpPr>
        <p:spPr>
          <a:xfrm>
            <a:off x="213710" y="1259435"/>
            <a:ext cx="2754313" cy="425450"/>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2400">
                <a:solidFill>
                  <a:schemeClr val="dk1"/>
                </a:solidFill>
                <a:latin typeface="Arial"/>
                <a:ea typeface="Arial"/>
                <a:cs typeface="Arial"/>
                <a:sym typeface="Arial"/>
              </a:rPr>
              <a:t>178.120.188.96</a:t>
            </a:r>
            <a:r>
              <a:rPr lang="en-US" sz="2400">
                <a:solidFill>
                  <a:srgbClr val="FF0000"/>
                </a:solidFill>
                <a:latin typeface="Arial"/>
                <a:ea typeface="Arial"/>
                <a:cs typeface="Arial"/>
                <a:sym typeface="Arial"/>
              </a:rPr>
              <a:t>/16</a:t>
            </a:r>
            <a:endParaRPr/>
          </a:p>
        </p:txBody>
      </p:sp>
      <p:pic>
        <p:nvPicPr>
          <p:cNvPr id="390" name="Google Shape;390;p17"/>
          <p:cNvPicPr preferRelativeResize="0"/>
          <p:nvPr/>
        </p:nvPicPr>
        <p:blipFill rotWithShape="1">
          <a:blip r:embed="rId3">
            <a:alphaModFix/>
          </a:blip>
          <a:srcRect/>
          <a:stretch/>
        </p:blipFill>
        <p:spPr>
          <a:xfrm>
            <a:off x="1284287" y="1922025"/>
            <a:ext cx="7859713" cy="3463925"/>
          </a:xfrm>
          <a:prstGeom prst="rect">
            <a:avLst/>
          </a:prstGeom>
          <a:noFill/>
          <a:ln>
            <a:noFill/>
          </a:ln>
        </p:spPr>
      </p:pic>
      <p:sp>
        <p:nvSpPr>
          <p:cNvPr id="391" name="Google Shape;391;p17"/>
          <p:cNvSpPr txBox="1"/>
          <p:nvPr/>
        </p:nvSpPr>
        <p:spPr>
          <a:xfrm>
            <a:off x="3663950" y="1861700"/>
            <a:ext cx="2403475" cy="738187"/>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Arial"/>
                <a:ea typeface="Arial"/>
                <a:cs typeface="Arial"/>
                <a:sym typeface="Arial"/>
              </a:rPr>
              <a:t>16 bits for the network portion and 16 bits for host portion</a:t>
            </a:r>
            <a:endParaRPr sz="1400" b="1">
              <a:solidFill>
                <a:schemeClr val="dk1"/>
              </a:solidFill>
              <a:latin typeface="Arial"/>
              <a:ea typeface="Arial"/>
              <a:cs typeface="Arial"/>
              <a:sym typeface="Arial"/>
            </a:endParaRPr>
          </a:p>
        </p:txBody>
      </p:sp>
      <p:grpSp>
        <p:nvGrpSpPr>
          <p:cNvPr id="392" name="Google Shape;392;p17"/>
          <p:cNvGrpSpPr/>
          <p:nvPr/>
        </p:nvGrpSpPr>
        <p:grpSpPr>
          <a:xfrm>
            <a:off x="0" y="0"/>
            <a:ext cx="9143999" cy="926011"/>
            <a:chOff x="0" y="0"/>
            <a:chExt cx="9143999" cy="926011"/>
          </a:xfrm>
        </p:grpSpPr>
        <p:pic>
          <p:nvPicPr>
            <p:cNvPr id="393" name="Google Shape;393;p17" descr="Screen Shot 2015-04-08 at 10.38.40 AM.png"/>
            <p:cNvPicPr preferRelativeResize="0"/>
            <p:nvPr/>
          </p:nvPicPr>
          <p:blipFill rotWithShape="1">
            <a:blip r:embed="rId4">
              <a:alphaModFix/>
            </a:blip>
            <a:srcRect/>
            <a:stretch/>
          </p:blipFill>
          <p:spPr>
            <a:xfrm>
              <a:off x="0" y="0"/>
              <a:ext cx="8354231" cy="926011"/>
            </a:xfrm>
            <a:prstGeom prst="rect">
              <a:avLst/>
            </a:prstGeom>
            <a:noFill/>
            <a:ln>
              <a:noFill/>
            </a:ln>
          </p:spPr>
        </p:pic>
        <p:pic>
          <p:nvPicPr>
            <p:cNvPr id="394" name="Google Shape;394;p17" descr="Screen Shot 2015-04-08 at 10.42.03 AM.png"/>
            <p:cNvPicPr preferRelativeResize="0"/>
            <p:nvPr/>
          </p:nvPicPr>
          <p:blipFill rotWithShape="1">
            <a:blip r:embed="rId5">
              <a:alphaModFix/>
            </a:blip>
            <a:srcRect/>
            <a:stretch/>
          </p:blipFill>
          <p:spPr>
            <a:xfrm>
              <a:off x="8249806" y="1"/>
              <a:ext cx="894193" cy="923672"/>
            </a:xfrm>
            <a:prstGeom prst="rect">
              <a:avLst/>
            </a:prstGeom>
            <a:noFill/>
            <a:ln>
              <a:noFill/>
            </a:ln>
          </p:spPr>
        </p:pic>
      </p:grpSp>
      <p:sp>
        <p:nvSpPr>
          <p:cNvPr id="395" name="Google Shape;395;p17"/>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a:solidFill>
                  <a:schemeClr val="lt1"/>
                </a:solidFill>
                <a:latin typeface="Arial"/>
                <a:ea typeface="Arial"/>
                <a:cs typeface="Arial"/>
                <a:sym typeface="Arial"/>
              </a:rPr>
              <a:t>IPv4 Addressing</a:t>
            </a:r>
            <a:endParaRPr sz="2800">
              <a:solidFill>
                <a:schemeClr val="lt1"/>
              </a:solidFill>
              <a:latin typeface="Arial"/>
              <a:ea typeface="Arial"/>
              <a:cs typeface="Arial"/>
              <a:sym typeface="Arial"/>
            </a:endParaRPr>
          </a:p>
        </p:txBody>
      </p:sp>
      <p:grpSp>
        <p:nvGrpSpPr>
          <p:cNvPr id="396" name="Google Shape;396;p17"/>
          <p:cNvGrpSpPr/>
          <p:nvPr/>
        </p:nvGrpSpPr>
        <p:grpSpPr>
          <a:xfrm>
            <a:off x="-117701" y="-133199"/>
            <a:ext cx="2813604" cy="1594768"/>
            <a:chOff x="6668445" y="-249764"/>
            <a:chExt cx="2631381" cy="1707319"/>
          </a:xfrm>
        </p:grpSpPr>
        <p:sp>
          <p:nvSpPr>
            <p:cNvPr id="397" name="Google Shape;397;p17"/>
            <p:cNvSpPr/>
            <p:nvPr/>
          </p:nvSpPr>
          <p:spPr>
            <a:xfrm rot="859133">
              <a:off x="6772182" y="32215"/>
              <a:ext cx="2423907" cy="1143362"/>
            </a:xfrm>
            <a:prstGeom prst="irregularSeal2">
              <a:avLst/>
            </a:prstGeom>
            <a:solidFill>
              <a:srgbClr val="FFFF00"/>
            </a:solidFill>
            <a:ln>
              <a:noFill/>
            </a:ln>
            <a:effectLst>
              <a:outerShdw blurRad="50800" dist="139700" dir="2700000" algn="tl" rotWithShape="0">
                <a:srgbClr val="000000">
                  <a:alpha val="42745"/>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accent2"/>
                </a:buClr>
                <a:buSzPts val="2040"/>
                <a:buFont typeface="Arial"/>
                <a:buNone/>
              </a:pPr>
              <a:endParaRPr sz="2400" b="0" i="0" u="none" strike="noStrike" cap="none">
                <a:solidFill>
                  <a:schemeClr val="dk1"/>
                </a:solidFill>
                <a:latin typeface="Comic Sans MS"/>
                <a:ea typeface="Comic Sans MS"/>
                <a:cs typeface="Comic Sans MS"/>
                <a:sym typeface="Comic Sans MS"/>
              </a:endParaRPr>
            </a:p>
          </p:txBody>
        </p:sp>
        <p:sp>
          <p:nvSpPr>
            <p:cNvPr id="398" name="Google Shape;398;p17"/>
            <p:cNvSpPr txBox="1"/>
            <p:nvPr/>
          </p:nvSpPr>
          <p:spPr>
            <a:xfrm>
              <a:off x="7260307" y="405356"/>
              <a:ext cx="138371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0000"/>
                  </a:solidFill>
                  <a:latin typeface="Arial"/>
                  <a:ea typeface="Arial"/>
                  <a:cs typeface="Arial"/>
                  <a:sym typeface="Arial"/>
                </a:rPr>
                <a:t>Example</a:t>
              </a:r>
              <a:endParaRPr/>
            </a:p>
          </p:txBody>
        </p:sp>
      </p:grpSp>
      <p:sp>
        <p:nvSpPr>
          <p:cNvPr id="399" name="Google Shape;399;p17"/>
          <p:cNvSpPr txBox="1"/>
          <p:nvPr/>
        </p:nvSpPr>
        <p:spPr>
          <a:xfrm>
            <a:off x="1" y="5481254"/>
            <a:ext cx="2438400" cy="674031"/>
          </a:xfrm>
          <a:prstGeom prst="rect">
            <a:avLst/>
          </a:prstGeom>
          <a:solidFill>
            <a:srgbClr val="84FFE0"/>
          </a:solid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400" b="1">
                <a:solidFill>
                  <a:srgbClr val="FF0000"/>
                </a:solidFill>
                <a:latin typeface="Arial"/>
                <a:ea typeface="Arial"/>
                <a:cs typeface="Arial"/>
                <a:sym typeface="Arial"/>
              </a:rPr>
              <a:t>Network portion of the address DOES NOT CHANGE.</a:t>
            </a:r>
            <a:endParaRPr sz="1400" b="1">
              <a:solidFill>
                <a:srgbClr val="FF0000"/>
              </a:solidFill>
              <a:latin typeface="Arial"/>
              <a:ea typeface="Arial"/>
              <a:cs typeface="Arial"/>
              <a:sym typeface="Arial"/>
            </a:endParaRPr>
          </a:p>
        </p:txBody>
      </p:sp>
      <p:sp>
        <p:nvSpPr>
          <p:cNvPr id="13"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69</a:t>
            </a:fld>
            <a:endParaRPr lang="en-US" altLang="en-US" dirty="0">
              <a:latin typeface="Tahoma" panose="020B0604030504040204" pitchFamily="34" charset="0"/>
            </a:endParaRPr>
          </a:p>
        </p:txBody>
      </p:sp>
    </p:spTree>
    <p:extLst>
      <p:ext uri="{BB962C8B-B14F-4D97-AF65-F5344CB8AC3E}">
        <p14:creationId xmlns:p14="http://schemas.microsoft.com/office/powerpoint/2010/main" val="10240104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6" name="Google Shape;406;p18"/>
          <p:cNvSpPr txBox="1">
            <a:spLocks noGrp="1"/>
          </p:cNvSpPr>
          <p:nvPr>
            <p:ph type="body" idx="1"/>
          </p:nvPr>
        </p:nvSpPr>
        <p:spPr>
          <a:xfrm>
            <a:off x="533400" y="1600200"/>
            <a:ext cx="5583621" cy="4648200"/>
          </a:xfrm>
          <a:prstGeom prst="rect">
            <a:avLst/>
          </a:prstGeom>
          <a:noFill/>
          <a:ln>
            <a:noFill/>
          </a:ln>
        </p:spPr>
        <p:txBody>
          <a:bodyPr spcFirstLastPara="1" wrap="square" lIns="91425" tIns="45700" rIns="91425" bIns="45700" anchor="t" anchorCtr="0">
            <a:noAutofit/>
          </a:bodyPr>
          <a:lstStyle/>
          <a:p>
            <a:pPr marL="342900" lvl="0" indent="-342900" algn="l" rtl="0">
              <a:lnSpc>
                <a:spcPct val="85000"/>
              </a:lnSpc>
              <a:spcBef>
                <a:spcPts val="0"/>
              </a:spcBef>
              <a:spcAft>
                <a:spcPts val="0"/>
              </a:spcAft>
              <a:buSzPts val="1560"/>
              <a:buChar char="❖"/>
            </a:pPr>
            <a:r>
              <a:rPr lang="en-US" sz="2400">
                <a:latin typeface="Arial"/>
                <a:ea typeface="Arial"/>
                <a:cs typeface="Arial"/>
                <a:sym typeface="Arial"/>
              </a:rPr>
              <a:t>Given these IP addresses, determine the network portion and the host portion</a:t>
            </a:r>
            <a:endParaRPr/>
          </a:p>
          <a:p>
            <a:pPr marL="731520" lvl="1" indent="-457200" algn="l" rtl="0">
              <a:lnSpc>
                <a:spcPct val="85000"/>
              </a:lnSpc>
              <a:spcBef>
                <a:spcPts val="1176"/>
              </a:spcBef>
              <a:spcAft>
                <a:spcPts val="0"/>
              </a:spcAft>
              <a:buSzPts val="2000"/>
              <a:buFont typeface="Gill Sans"/>
              <a:buAutoNum type="alphaLcPeriod"/>
            </a:pPr>
            <a:r>
              <a:rPr lang="en-US" sz="2000">
                <a:latin typeface="Arial"/>
                <a:ea typeface="Arial"/>
                <a:cs typeface="Arial"/>
                <a:sym typeface="Arial"/>
              </a:rPr>
              <a:t>192.168.12.0/24</a:t>
            </a:r>
            <a:endParaRPr/>
          </a:p>
          <a:p>
            <a:pPr marL="731520" lvl="1" indent="-457200" algn="l" rtl="0">
              <a:lnSpc>
                <a:spcPct val="85000"/>
              </a:lnSpc>
              <a:spcBef>
                <a:spcPts val="1176"/>
              </a:spcBef>
              <a:spcAft>
                <a:spcPts val="0"/>
              </a:spcAft>
              <a:buSzPts val="2000"/>
              <a:buFont typeface="Gill Sans"/>
              <a:buAutoNum type="alphaLcPeriod"/>
            </a:pPr>
            <a:r>
              <a:rPr lang="en-US" sz="2000">
                <a:latin typeface="Arial"/>
                <a:ea typeface="Arial"/>
                <a:cs typeface="Arial"/>
                <a:sym typeface="Arial"/>
              </a:rPr>
              <a:t>192.168.12.25/25</a:t>
            </a:r>
            <a:endParaRPr/>
          </a:p>
          <a:p>
            <a:pPr marL="731520" lvl="1" indent="-457200" algn="l" rtl="0">
              <a:lnSpc>
                <a:spcPct val="85000"/>
              </a:lnSpc>
              <a:spcBef>
                <a:spcPts val="1176"/>
              </a:spcBef>
              <a:spcAft>
                <a:spcPts val="0"/>
              </a:spcAft>
              <a:buSzPts val="2000"/>
              <a:buFont typeface="Gill Sans"/>
              <a:buAutoNum type="alphaLcPeriod"/>
            </a:pPr>
            <a:r>
              <a:rPr lang="en-US" sz="2000">
                <a:latin typeface="Arial"/>
                <a:ea typeface="Arial"/>
                <a:cs typeface="Arial"/>
                <a:sym typeface="Arial"/>
              </a:rPr>
              <a:t>172.16.32.0/16</a:t>
            </a:r>
            <a:endParaRPr/>
          </a:p>
          <a:p>
            <a:pPr marL="731520" lvl="1" indent="-457200" algn="l" rtl="0">
              <a:lnSpc>
                <a:spcPct val="85000"/>
              </a:lnSpc>
              <a:spcBef>
                <a:spcPts val="1176"/>
              </a:spcBef>
              <a:spcAft>
                <a:spcPts val="0"/>
              </a:spcAft>
              <a:buSzPts val="2000"/>
              <a:buFont typeface="Gill Sans"/>
              <a:buAutoNum type="alphaLcPeriod"/>
            </a:pPr>
            <a:r>
              <a:rPr lang="en-US" sz="2000">
                <a:latin typeface="Arial"/>
                <a:ea typeface="Arial"/>
                <a:cs typeface="Arial"/>
                <a:sym typeface="Arial"/>
              </a:rPr>
              <a:t>172.16.32.0/20</a:t>
            </a:r>
            <a:endParaRPr/>
          </a:p>
          <a:p>
            <a:pPr marL="731520" lvl="1" indent="-457200" algn="l" rtl="0">
              <a:lnSpc>
                <a:spcPct val="85000"/>
              </a:lnSpc>
              <a:spcBef>
                <a:spcPts val="1176"/>
              </a:spcBef>
              <a:spcAft>
                <a:spcPts val="0"/>
              </a:spcAft>
              <a:buSzPts val="2000"/>
              <a:buFont typeface="Gill Sans"/>
              <a:buAutoNum type="alphaLcPeriod"/>
            </a:pPr>
            <a:r>
              <a:rPr lang="en-US" sz="2000">
                <a:latin typeface="Arial"/>
                <a:ea typeface="Arial"/>
                <a:cs typeface="Arial"/>
                <a:sym typeface="Arial"/>
              </a:rPr>
              <a:t>10.10.10.0/8</a:t>
            </a:r>
            <a:endParaRPr/>
          </a:p>
          <a:p>
            <a:pPr marL="731520" lvl="1" indent="-330199" algn="l" rtl="0">
              <a:lnSpc>
                <a:spcPct val="85000"/>
              </a:lnSpc>
              <a:spcBef>
                <a:spcPts val="1176"/>
              </a:spcBef>
              <a:spcAft>
                <a:spcPts val="0"/>
              </a:spcAft>
              <a:buSzPts val="2000"/>
              <a:buFont typeface="Gill Sans"/>
              <a:buNone/>
            </a:pPr>
            <a:endParaRPr sz="2000">
              <a:latin typeface="Arial"/>
              <a:ea typeface="Arial"/>
              <a:cs typeface="Arial"/>
              <a:sym typeface="Arial"/>
            </a:endParaRPr>
          </a:p>
          <a:p>
            <a:pPr marL="731520" lvl="1" indent="-330199" algn="l" rtl="0">
              <a:lnSpc>
                <a:spcPct val="85000"/>
              </a:lnSpc>
              <a:spcBef>
                <a:spcPts val="1176"/>
              </a:spcBef>
              <a:spcAft>
                <a:spcPts val="0"/>
              </a:spcAft>
              <a:buSzPts val="2000"/>
              <a:buFont typeface="Gill Sans"/>
              <a:buNone/>
            </a:pPr>
            <a:endParaRPr sz="2000">
              <a:latin typeface="Arial"/>
              <a:ea typeface="Arial"/>
              <a:cs typeface="Arial"/>
              <a:sym typeface="Arial"/>
            </a:endParaRPr>
          </a:p>
        </p:txBody>
      </p:sp>
      <p:grpSp>
        <p:nvGrpSpPr>
          <p:cNvPr id="407" name="Google Shape;407;p18"/>
          <p:cNvGrpSpPr/>
          <p:nvPr/>
        </p:nvGrpSpPr>
        <p:grpSpPr>
          <a:xfrm>
            <a:off x="0" y="0"/>
            <a:ext cx="9143999" cy="926011"/>
            <a:chOff x="0" y="0"/>
            <a:chExt cx="9143999" cy="926011"/>
          </a:xfrm>
        </p:grpSpPr>
        <p:pic>
          <p:nvPicPr>
            <p:cNvPr id="408" name="Google Shape;408;p18"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409" name="Google Shape;409;p18"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410" name="Google Shape;410;p18"/>
          <p:cNvSpPr txBox="1"/>
          <p:nvPr/>
        </p:nvSpPr>
        <p:spPr>
          <a:xfrm>
            <a:off x="3057800" y="193338"/>
            <a:ext cx="4646282" cy="62799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chemeClr val="lt1"/>
                </a:solidFill>
                <a:latin typeface="Arial"/>
                <a:ea typeface="Arial"/>
                <a:cs typeface="Arial"/>
                <a:sym typeface="Arial"/>
              </a:rPr>
              <a:t>Class Exercise </a:t>
            </a:r>
            <a:endParaRPr sz="3200">
              <a:solidFill>
                <a:schemeClr val="lt1"/>
              </a:solidFill>
              <a:latin typeface="Arial"/>
              <a:ea typeface="Arial"/>
              <a:cs typeface="Arial"/>
              <a:sym typeface="Arial"/>
            </a:endParaRPr>
          </a:p>
        </p:txBody>
      </p:sp>
      <p:grpSp>
        <p:nvGrpSpPr>
          <p:cNvPr id="411" name="Google Shape;411;p18"/>
          <p:cNvGrpSpPr/>
          <p:nvPr/>
        </p:nvGrpSpPr>
        <p:grpSpPr>
          <a:xfrm>
            <a:off x="672664" y="3037478"/>
            <a:ext cx="2990193" cy="1697425"/>
            <a:chOff x="735724" y="2638098"/>
            <a:chExt cx="2990193" cy="1697425"/>
          </a:xfrm>
        </p:grpSpPr>
        <p:sp>
          <p:nvSpPr>
            <p:cNvPr id="412" name="Google Shape;412;p18"/>
            <p:cNvSpPr/>
            <p:nvPr/>
          </p:nvSpPr>
          <p:spPr>
            <a:xfrm>
              <a:off x="735724" y="2638098"/>
              <a:ext cx="2984938" cy="462455"/>
            </a:xfrm>
            <a:prstGeom prst="rect">
              <a:avLst/>
            </a:prstGeom>
            <a:solidFill>
              <a:srgbClr val="FFFF00">
                <a:alpha val="22745"/>
              </a:srgbClr>
            </a:solidFill>
            <a:ln w="1905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413" name="Google Shape;413;p18"/>
            <p:cNvSpPr/>
            <p:nvPr/>
          </p:nvSpPr>
          <p:spPr>
            <a:xfrm>
              <a:off x="740979" y="3873068"/>
              <a:ext cx="2984938" cy="462455"/>
            </a:xfrm>
            <a:prstGeom prst="rect">
              <a:avLst/>
            </a:prstGeom>
            <a:solidFill>
              <a:srgbClr val="FFFF00">
                <a:alpha val="22745"/>
              </a:srgbClr>
            </a:solidFill>
            <a:ln w="1905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414" name="Google Shape;414;p18"/>
          <p:cNvSpPr/>
          <p:nvPr/>
        </p:nvSpPr>
        <p:spPr>
          <a:xfrm>
            <a:off x="5644055" y="1996965"/>
            <a:ext cx="2827283" cy="1629104"/>
          </a:xfrm>
          <a:prstGeom prst="cloudCallout">
            <a:avLst>
              <a:gd name="adj1" fmla="val -102617"/>
              <a:gd name="adj2" fmla="val 56693"/>
            </a:avLst>
          </a:prstGeom>
          <a:solidFill>
            <a:srgbClr val="FFFF00"/>
          </a:solidFill>
          <a:ln w="952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0000"/>
              </a:buClr>
              <a:buSzPts val="2400"/>
              <a:buFont typeface="Arial"/>
              <a:buNone/>
            </a:pPr>
            <a:r>
              <a:rPr lang="en-US" sz="2400">
                <a:solidFill>
                  <a:srgbClr val="FF0000"/>
                </a:solidFill>
                <a:latin typeface="Arial"/>
                <a:ea typeface="Arial"/>
                <a:cs typeface="Arial"/>
                <a:sym typeface="Arial"/>
              </a:rPr>
              <a:t>In-class try out ...</a:t>
            </a:r>
            <a:endParaRPr sz="2400" b="0" i="0" u="none" strike="noStrike" cap="none">
              <a:solidFill>
                <a:srgbClr val="FF0000"/>
              </a:solidFill>
              <a:latin typeface="Arial"/>
              <a:ea typeface="Arial"/>
              <a:cs typeface="Arial"/>
              <a:sym typeface="Arial"/>
            </a:endParaRPr>
          </a:p>
        </p:txBody>
      </p:sp>
      <p:sp>
        <p:nvSpPr>
          <p:cNvPr id="13"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70</a:t>
            </a:fld>
            <a:endParaRPr lang="en-US" altLang="en-US" dirty="0">
              <a:latin typeface="Tahoma" panose="020B0604030504040204" pitchFamily="34" charset="0"/>
            </a:endParaRPr>
          </a:p>
        </p:txBody>
      </p:sp>
    </p:spTree>
    <p:extLst>
      <p:ext uri="{BB962C8B-B14F-4D97-AF65-F5344CB8AC3E}">
        <p14:creationId xmlns:p14="http://schemas.microsoft.com/office/powerpoint/2010/main" val="3643404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11"/>
                                        </p:tgtEl>
                                        <p:attrNameLst>
                                          <p:attrName>style.visibility</p:attrName>
                                        </p:attrNameLst>
                                      </p:cBhvr>
                                      <p:to>
                                        <p:strVal val="visible"/>
                                      </p:to>
                                    </p:set>
                                    <p:anim calcmode="lin" valueType="num">
                                      <p:cBhvr additive="base">
                                        <p:cTn id="7" dur="500"/>
                                        <p:tgtEl>
                                          <p:spTgt spid="411"/>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14"/>
                                        </p:tgtEl>
                                        <p:attrNameLst>
                                          <p:attrName>style.visibility</p:attrName>
                                        </p:attrNameLst>
                                      </p:cBhvr>
                                      <p:to>
                                        <p:strVal val="visible"/>
                                      </p:to>
                                    </p:set>
                                    <p:anim calcmode="lin" valueType="num">
                                      <p:cBhvr additive="base">
                                        <p:cTn id="10" dur="500"/>
                                        <p:tgtEl>
                                          <p:spTgt spid="41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grpSp>
        <p:nvGrpSpPr>
          <p:cNvPr id="428" name="Google Shape;428;p20"/>
          <p:cNvGrpSpPr/>
          <p:nvPr/>
        </p:nvGrpSpPr>
        <p:grpSpPr>
          <a:xfrm>
            <a:off x="0" y="0"/>
            <a:ext cx="9143999" cy="926011"/>
            <a:chOff x="0" y="0"/>
            <a:chExt cx="9143999" cy="926011"/>
          </a:xfrm>
        </p:grpSpPr>
        <p:pic>
          <p:nvPicPr>
            <p:cNvPr id="429" name="Google Shape;429;p20"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430" name="Google Shape;430;p20"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grpSp>
        <p:nvGrpSpPr>
          <p:cNvPr id="432" name="Google Shape;432;p20"/>
          <p:cNvGrpSpPr/>
          <p:nvPr/>
        </p:nvGrpSpPr>
        <p:grpSpPr>
          <a:xfrm>
            <a:off x="1858687" y="2973380"/>
            <a:ext cx="5426625" cy="2307115"/>
            <a:chOff x="593853" y="747"/>
            <a:chExt cx="5426625" cy="2307115"/>
          </a:xfrm>
        </p:grpSpPr>
        <p:sp>
          <p:nvSpPr>
            <p:cNvPr id="433" name="Google Shape;433;p20"/>
            <p:cNvSpPr/>
            <p:nvPr/>
          </p:nvSpPr>
          <p:spPr>
            <a:xfrm>
              <a:off x="3239505" y="774115"/>
              <a:ext cx="1345363" cy="354206"/>
            </a:xfrm>
            <a:custGeom>
              <a:avLst/>
              <a:gdLst/>
              <a:ahLst/>
              <a:cxnLst/>
              <a:rect l="l" t="t" r="r" b="b"/>
              <a:pathLst>
                <a:path w="120000" h="120000" extrusionOk="0">
                  <a:moveTo>
                    <a:pt x="0" y="0"/>
                  </a:moveTo>
                  <a:lnTo>
                    <a:pt x="0" y="81776"/>
                  </a:lnTo>
                  <a:lnTo>
                    <a:pt x="120000" y="81776"/>
                  </a:lnTo>
                  <a:lnTo>
                    <a:pt x="120000" y="120000"/>
                  </a:lnTo>
                </a:path>
              </a:pathLst>
            </a:custGeom>
            <a:noFill/>
            <a:ln w="19050" cap="flat" cmpd="sng">
              <a:solidFill>
                <a:schemeClr val="dk1"/>
              </a:solidFill>
              <a:prstDash val="solid"/>
              <a:round/>
              <a:headEnd type="none" w="sm" len="sm"/>
              <a:tailEnd type="none" w="sm" len="sm"/>
            </a:ln>
          </p:spPr>
          <p:txBody>
            <a:bodyPr/>
            <a:lstStyle/>
            <a:p>
              <a:endParaRPr lang="en-MY"/>
            </a:p>
          </p:txBody>
        </p:sp>
        <p:sp>
          <p:nvSpPr>
            <p:cNvPr id="434" name="Google Shape;434;p20"/>
            <p:cNvSpPr/>
            <p:nvPr/>
          </p:nvSpPr>
          <p:spPr>
            <a:xfrm>
              <a:off x="1803894" y="774115"/>
              <a:ext cx="1435610" cy="354206"/>
            </a:xfrm>
            <a:custGeom>
              <a:avLst/>
              <a:gdLst/>
              <a:ahLst/>
              <a:cxnLst/>
              <a:rect l="l" t="t" r="r" b="b"/>
              <a:pathLst>
                <a:path w="120000" h="120000" extrusionOk="0">
                  <a:moveTo>
                    <a:pt x="120000" y="0"/>
                  </a:moveTo>
                  <a:lnTo>
                    <a:pt x="120000" y="81776"/>
                  </a:lnTo>
                  <a:lnTo>
                    <a:pt x="0" y="81776"/>
                  </a:lnTo>
                  <a:lnTo>
                    <a:pt x="0" y="120000"/>
                  </a:lnTo>
                </a:path>
              </a:pathLst>
            </a:custGeom>
            <a:noFill/>
            <a:ln w="19050" cap="flat" cmpd="sng">
              <a:solidFill>
                <a:schemeClr val="dk1"/>
              </a:solidFill>
              <a:prstDash val="solid"/>
              <a:round/>
              <a:headEnd type="none" w="sm" len="sm"/>
              <a:tailEnd type="none" w="sm" len="sm"/>
            </a:ln>
          </p:spPr>
          <p:txBody>
            <a:bodyPr/>
            <a:lstStyle/>
            <a:p>
              <a:endParaRPr lang="en-MY"/>
            </a:p>
          </p:txBody>
        </p:sp>
        <p:sp>
          <p:nvSpPr>
            <p:cNvPr id="435" name="Google Shape;435;p20"/>
            <p:cNvSpPr/>
            <p:nvPr/>
          </p:nvSpPr>
          <p:spPr>
            <a:xfrm>
              <a:off x="1895458" y="747"/>
              <a:ext cx="2688094" cy="773368"/>
            </a:xfrm>
            <a:prstGeom prst="roundRect">
              <a:avLst>
                <a:gd name="adj" fmla="val 10000"/>
              </a:avLst>
            </a:prstGeom>
            <a:solidFill>
              <a:srgbClr val="BFBFBF"/>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0"/>
            <p:cNvSpPr/>
            <p:nvPr/>
          </p:nvSpPr>
          <p:spPr>
            <a:xfrm>
              <a:off x="2030780" y="129303"/>
              <a:ext cx="2688094" cy="773368"/>
            </a:xfrm>
            <a:prstGeom prst="roundRect">
              <a:avLst>
                <a:gd name="adj" fmla="val 10000"/>
              </a:avLst>
            </a:prstGeom>
            <a:solidFill>
              <a:schemeClr val="lt1">
                <a:alpha val="89803"/>
              </a:schemeClr>
            </a:solidFill>
            <a:ln w="9525" cap="flat" cmpd="sng">
              <a:solidFill>
                <a:srgbClr val="00B9F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0"/>
            <p:cNvSpPr txBox="1"/>
            <p:nvPr/>
          </p:nvSpPr>
          <p:spPr>
            <a:xfrm>
              <a:off x="2053431" y="151954"/>
              <a:ext cx="2642792" cy="728066"/>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None/>
              </a:pPr>
              <a:r>
                <a:rPr lang="en-US" sz="2200" dirty="0">
                  <a:solidFill>
                    <a:schemeClr val="dk1"/>
                  </a:solidFill>
                  <a:latin typeface="Arial"/>
                  <a:ea typeface="Arial"/>
                  <a:cs typeface="Arial"/>
                  <a:sym typeface="Arial"/>
                </a:rPr>
                <a:t>Type of Addressing</a:t>
              </a:r>
              <a:endParaRPr dirty="0"/>
            </a:p>
          </p:txBody>
        </p:sp>
        <p:sp>
          <p:nvSpPr>
            <p:cNvPr id="438" name="Google Shape;438;p20"/>
            <p:cNvSpPr/>
            <p:nvPr/>
          </p:nvSpPr>
          <p:spPr>
            <a:xfrm>
              <a:off x="593853" y="1128322"/>
              <a:ext cx="2420082" cy="943161"/>
            </a:xfrm>
            <a:prstGeom prst="roundRect">
              <a:avLst>
                <a:gd name="adj" fmla="val 10000"/>
              </a:avLst>
            </a:prstGeom>
            <a:solidFill>
              <a:srgbClr val="BFBFBF"/>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0"/>
            <p:cNvSpPr/>
            <p:nvPr/>
          </p:nvSpPr>
          <p:spPr>
            <a:xfrm>
              <a:off x="729176" y="1256878"/>
              <a:ext cx="2420082" cy="943161"/>
            </a:xfrm>
            <a:prstGeom prst="roundRect">
              <a:avLst>
                <a:gd name="adj" fmla="val 10000"/>
              </a:avLst>
            </a:prstGeom>
            <a:solidFill>
              <a:schemeClr val="lt1">
                <a:alpha val="89803"/>
              </a:schemeClr>
            </a:solidFill>
            <a:ln w="9525" cap="flat" cmpd="sng">
              <a:solidFill>
                <a:srgbClr val="00B9F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0"/>
            <p:cNvSpPr txBox="1"/>
            <p:nvPr/>
          </p:nvSpPr>
          <p:spPr>
            <a:xfrm>
              <a:off x="756800" y="1284502"/>
              <a:ext cx="2364834" cy="88791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None/>
              </a:pPr>
              <a:r>
                <a:rPr lang="en-US" sz="2200">
                  <a:solidFill>
                    <a:srgbClr val="FF0000"/>
                  </a:solidFill>
                  <a:latin typeface="Arial"/>
                  <a:ea typeface="Arial"/>
                  <a:cs typeface="Arial"/>
                  <a:sym typeface="Arial"/>
                </a:rPr>
                <a:t>Classful</a:t>
              </a:r>
              <a:r>
                <a:rPr lang="en-US" sz="2200">
                  <a:solidFill>
                    <a:schemeClr val="dk1"/>
                  </a:solidFill>
                  <a:latin typeface="Arial"/>
                  <a:ea typeface="Arial"/>
                  <a:cs typeface="Arial"/>
                  <a:sym typeface="Arial"/>
                </a:rPr>
                <a:t>                       ( old one)</a:t>
              </a:r>
              <a:endParaRPr/>
            </a:p>
          </p:txBody>
        </p:sp>
        <p:sp>
          <p:nvSpPr>
            <p:cNvPr id="441" name="Google Shape;441;p20"/>
            <p:cNvSpPr/>
            <p:nvPr/>
          </p:nvSpPr>
          <p:spPr>
            <a:xfrm>
              <a:off x="3284581" y="1128322"/>
              <a:ext cx="2600575" cy="1050984"/>
            </a:xfrm>
            <a:prstGeom prst="roundRect">
              <a:avLst>
                <a:gd name="adj" fmla="val 10000"/>
              </a:avLst>
            </a:prstGeom>
            <a:solidFill>
              <a:srgbClr val="BFBFBF"/>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0"/>
            <p:cNvSpPr/>
            <p:nvPr/>
          </p:nvSpPr>
          <p:spPr>
            <a:xfrm>
              <a:off x="3419903" y="1256878"/>
              <a:ext cx="2600575" cy="1050984"/>
            </a:xfrm>
            <a:prstGeom prst="roundRect">
              <a:avLst>
                <a:gd name="adj" fmla="val 10000"/>
              </a:avLst>
            </a:prstGeom>
            <a:solidFill>
              <a:schemeClr val="lt1">
                <a:alpha val="89803"/>
              </a:schemeClr>
            </a:solidFill>
            <a:ln w="9525" cap="flat" cmpd="sng">
              <a:solidFill>
                <a:srgbClr val="00B9F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0"/>
            <p:cNvSpPr txBox="1"/>
            <p:nvPr/>
          </p:nvSpPr>
          <p:spPr>
            <a:xfrm>
              <a:off x="3450685" y="1287660"/>
              <a:ext cx="2539011" cy="989420"/>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None/>
              </a:pPr>
              <a:r>
                <a:rPr lang="en-US" sz="2200" b="1" dirty="0">
                  <a:solidFill>
                    <a:srgbClr val="92D050"/>
                  </a:solidFill>
                  <a:latin typeface="Arial"/>
                  <a:ea typeface="Arial"/>
                  <a:cs typeface="Arial"/>
                  <a:sym typeface="Arial"/>
                </a:rPr>
                <a:t>Classless (CIDR)</a:t>
              </a:r>
              <a:r>
                <a:rPr lang="en-US" sz="2200" dirty="0">
                  <a:solidFill>
                    <a:srgbClr val="CC0000"/>
                  </a:solidFill>
                  <a:latin typeface="Arial"/>
                  <a:ea typeface="Arial"/>
                  <a:cs typeface="Arial"/>
                  <a:sym typeface="Arial"/>
                </a:rPr>
                <a:t>                            </a:t>
              </a:r>
              <a:r>
                <a:rPr lang="en-US" sz="2200" dirty="0">
                  <a:solidFill>
                    <a:srgbClr val="000000"/>
                  </a:solidFill>
                  <a:latin typeface="Arial"/>
                  <a:ea typeface="Arial"/>
                  <a:cs typeface="Arial"/>
                  <a:sym typeface="Arial"/>
                </a:rPr>
                <a:t>( current)</a:t>
              </a:r>
              <a:endParaRPr dirty="0"/>
            </a:p>
          </p:txBody>
        </p:sp>
      </p:grpSp>
      <p:sp>
        <p:nvSpPr>
          <p:cNvPr id="1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71</a:t>
            </a:fld>
            <a:endParaRPr lang="en-US" altLang="en-US" dirty="0">
              <a:latin typeface="Tahoma" panose="020B0604030504040204" pitchFamily="34" charset="0"/>
            </a:endParaRPr>
          </a:p>
        </p:txBody>
      </p:sp>
      <p:sp>
        <p:nvSpPr>
          <p:cNvPr id="2" name="Google Shape;420;p19">
            <a:extLst>
              <a:ext uri="{FF2B5EF4-FFF2-40B4-BE49-F238E27FC236}">
                <a16:creationId xmlns:a16="http://schemas.microsoft.com/office/drawing/2014/main" id="{2FCD9515-77AA-1943-6F02-7222C3B5454D}"/>
              </a:ext>
            </a:extLst>
          </p:cNvPr>
          <p:cNvSpPr txBox="1">
            <a:spLocks/>
          </p:cNvSpPr>
          <p:nvPr/>
        </p:nvSpPr>
        <p:spPr bwMode="auto">
          <a:xfrm>
            <a:off x="546635" y="1214683"/>
            <a:ext cx="8597364"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ctr" anchorCtr="0" compatLnSpc="1">
            <a:prstTxWarp prst="textNoShape">
              <a:avLst/>
            </a:prstTxWarp>
            <a:noAutofit/>
          </a:bodyPr>
          <a:lstStyle>
            <a:lvl1pPr algn="l" rtl="0" eaLnBrk="0" fontAlgn="base" hangingPunct="0">
              <a:spcBef>
                <a:spcPct val="0"/>
              </a:spcBef>
              <a:spcAft>
                <a:spcPct val="0"/>
              </a:spcAft>
              <a:defRPr sz="4400">
                <a:solidFill>
                  <a:srgbClr val="000099"/>
                </a:solidFill>
                <a:latin typeface="+mj-lt"/>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400">
                <a:solidFill>
                  <a:srgbClr val="000099"/>
                </a:solidFill>
                <a:latin typeface="Gill Sans MT" pitchFamily="34" charset="0"/>
              </a:defRPr>
            </a:lvl6pPr>
            <a:lvl7pPr marL="914400" algn="l" rtl="0" eaLnBrk="0" fontAlgn="base" hangingPunct="0">
              <a:spcBef>
                <a:spcPct val="0"/>
              </a:spcBef>
              <a:spcAft>
                <a:spcPct val="0"/>
              </a:spcAft>
              <a:defRPr sz="4400">
                <a:solidFill>
                  <a:srgbClr val="000099"/>
                </a:solidFill>
                <a:latin typeface="Gill Sans MT" pitchFamily="34" charset="0"/>
              </a:defRPr>
            </a:lvl7pPr>
            <a:lvl8pPr marL="1371600" algn="l" rtl="0" eaLnBrk="0" fontAlgn="base" hangingPunct="0">
              <a:spcBef>
                <a:spcPct val="0"/>
              </a:spcBef>
              <a:spcAft>
                <a:spcPct val="0"/>
              </a:spcAft>
              <a:defRPr sz="4400">
                <a:solidFill>
                  <a:srgbClr val="000099"/>
                </a:solidFill>
                <a:latin typeface="Gill Sans MT" pitchFamily="34" charset="0"/>
              </a:defRPr>
            </a:lvl8pPr>
            <a:lvl9pPr marL="1828800" algn="l" rtl="0" eaLnBrk="0" fontAlgn="base" hangingPunct="0">
              <a:spcBef>
                <a:spcPct val="0"/>
              </a:spcBef>
              <a:spcAft>
                <a:spcPct val="0"/>
              </a:spcAft>
              <a:defRPr sz="4400">
                <a:solidFill>
                  <a:srgbClr val="000099"/>
                </a:solidFill>
                <a:latin typeface="Gill Sans MT" pitchFamily="34" charset="0"/>
              </a:defRPr>
            </a:lvl9pPr>
          </a:lstStyle>
          <a:p>
            <a:pPr>
              <a:spcBef>
                <a:spcPts val="0"/>
              </a:spcBef>
              <a:spcAft>
                <a:spcPts val="0"/>
              </a:spcAft>
            </a:pPr>
            <a:r>
              <a:rPr lang="en-US" sz="3600" kern="0">
                <a:solidFill>
                  <a:srgbClr val="0070C0"/>
                </a:solidFill>
                <a:latin typeface="Arial"/>
                <a:ea typeface="Arial"/>
                <a:cs typeface="Arial"/>
                <a:sym typeface="Arial"/>
              </a:rPr>
              <a:t>IPv4 Addressing – </a:t>
            </a:r>
            <a:r>
              <a:rPr lang="en-US" sz="3600" b="1" kern="0">
                <a:solidFill>
                  <a:srgbClr val="0070C0"/>
                </a:solidFill>
                <a:latin typeface="Arial"/>
                <a:ea typeface="Arial"/>
                <a:cs typeface="Arial"/>
                <a:sym typeface="Arial"/>
              </a:rPr>
              <a:t>Type of Addressing</a:t>
            </a:r>
            <a:endParaRPr lang="en-US" kern="0" dirty="0"/>
          </a:p>
        </p:txBody>
      </p:sp>
    </p:spTree>
    <p:extLst>
      <p:ext uri="{BB962C8B-B14F-4D97-AF65-F5344CB8AC3E}">
        <p14:creationId xmlns:p14="http://schemas.microsoft.com/office/powerpoint/2010/main" val="3190918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9" name="Google Shape;449;p21"/>
          <p:cNvSpPr txBox="1">
            <a:spLocks noGrp="1"/>
          </p:cNvSpPr>
          <p:nvPr>
            <p:ph type="body" idx="1"/>
          </p:nvPr>
        </p:nvSpPr>
        <p:spPr>
          <a:xfrm>
            <a:off x="354723" y="1232338"/>
            <a:ext cx="8316311" cy="5178972"/>
          </a:xfrm>
          <a:prstGeom prst="rect">
            <a:avLst/>
          </a:prstGeom>
          <a:noFill/>
          <a:ln>
            <a:noFill/>
          </a:ln>
        </p:spPr>
        <p:txBody>
          <a:bodyPr spcFirstLastPara="1" wrap="square" lIns="91425" tIns="45700" rIns="91425" bIns="45700" anchor="t" anchorCtr="0">
            <a:normAutofit/>
          </a:bodyPr>
          <a:lstStyle/>
          <a:p>
            <a:pPr marL="342900" lvl="0" indent="-342900" algn="l" rtl="0">
              <a:lnSpc>
                <a:spcPct val="110000"/>
              </a:lnSpc>
              <a:spcBef>
                <a:spcPts val="0"/>
              </a:spcBef>
              <a:spcAft>
                <a:spcPts val="0"/>
              </a:spcAft>
              <a:buSzPts val="1560"/>
              <a:buChar char="❖"/>
            </a:pPr>
            <a:r>
              <a:rPr lang="en-US" sz="2400" dirty="0">
                <a:latin typeface="Arial"/>
                <a:ea typeface="Arial"/>
                <a:cs typeface="Arial"/>
                <a:sym typeface="Arial"/>
              </a:rPr>
              <a:t>In the </a:t>
            </a:r>
            <a:r>
              <a:rPr lang="en-US" sz="2400" dirty="0">
                <a:solidFill>
                  <a:srgbClr val="FF0000"/>
                </a:solidFill>
                <a:latin typeface="Arial"/>
                <a:ea typeface="Arial"/>
                <a:cs typeface="Arial"/>
                <a:sym typeface="Arial"/>
              </a:rPr>
              <a:t>beginning</a:t>
            </a:r>
            <a:r>
              <a:rPr lang="en-US" sz="2400" dirty="0">
                <a:latin typeface="Arial"/>
                <a:ea typeface="Arial"/>
                <a:cs typeface="Arial"/>
                <a:sym typeface="Arial"/>
              </a:rPr>
              <a:t>, addressing scheme known as </a:t>
            </a:r>
            <a:r>
              <a:rPr lang="en-US" sz="2400" dirty="0" err="1">
                <a:solidFill>
                  <a:srgbClr val="FF0000"/>
                </a:solidFill>
                <a:latin typeface="Arial"/>
                <a:ea typeface="Arial"/>
                <a:cs typeface="Arial"/>
                <a:sym typeface="Arial"/>
              </a:rPr>
              <a:t>classful</a:t>
            </a:r>
            <a:r>
              <a:rPr lang="en-US" sz="2400" dirty="0">
                <a:solidFill>
                  <a:srgbClr val="FF0000"/>
                </a:solidFill>
                <a:latin typeface="Arial"/>
                <a:ea typeface="Arial"/>
                <a:cs typeface="Arial"/>
                <a:sym typeface="Arial"/>
              </a:rPr>
              <a:t> addressing</a:t>
            </a:r>
            <a:r>
              <a:rPr lang="en-US" sz="2400" dirty="0">
                <a:latin typeface="Arial"/>
                <a:ea typeface="Arial"/>
                <a:cs typeface="Arial"/>
                <a:sym typeface="Arial"/>
              </a:rPr>
              <a:t> </a:t>
            </a:r>
            <a:r>
              <a:rPr lang="en-US" sz="2400" dirty="0">
                <a:latin typeface="Arial"/>
                <a:ea typeface="Arial"/>
                <a:cs typeface="Arial"/>
                <a:sym typeface="Wingdings" panose="05000000000000000000" pitchFamily="2" charset="2"/>
              </a:rPr>
              <a:t></a:t>
            </a:r>
            <a:r>
              <a:rPr lang="en-US" sz="2400" dirty="0">
                <a:latin typeface="Arial"/>
                <a:ea typeface="Arial"/>
                <a:cs typeface="Arial"/>
                <a:sym typeface="Arial"/>
              </a:rPr>
              <a:t> </a:t>
            </a:r>
            <a:endParaRPr dirty="0"/>
          </a:p>
          <a:p>
            <a:pPr marL="742950" lvl="1" indent="-285750" algn="l" rtl="0">
              <a:lnSpc>
                <a:spcPct val="110000"/>
              </a:lnSpc>
              <a:spcBef>
                <a:spcPts val="1080"/>
              </a:spcBef>
              <a:spcAft>
                <a:spcPts val="0"/>
              </a:spcAft>
              <a:buSzPts val="2400"/>
              <a:buChar char="▪"/>
            </a:pPr>
            <a:r>
              <a:rPr lang="en-US" dirty="0">
                <a:latin typeface="Arial"/>
                <a:ea typeface="Arial"/>
                <a:cs typeface="Arial"/>
                <a:sym typeface="Arial"/>
              </a:rPr>
              <a:t>where </a:t>
            </a:r>
            <a:r>
              <a:rPr lang="en-US" dirty="0">
                <a:solidFill>
                  <a:srgbClr val="FF0000"/>
                </a:solidFill>
                <a:latin typeface="Arial"/>
                <a:ea typeface="Arial"/>
                <a:cs typeface="Arial"/>
                <a:sym typeface="Arial"/>
              </a:rPr>
              <a:t>IP blocks</a:t>
            </a:r>
            <a:r>
              <a:rPr lang="en-US" dirty="0">
                <a:latin typeface="Arial"/>
                <a:ea typeface="Arial"/>
                <a:cs typeface="Arial"/>
                <a:sym typeface="Arial"/>
              </a:rPr>
              <a:t> were given </a:t>
            </a:r>
            <a:r>
              <a:rPr lang="en-US" dirty="0">
                <a:solidFill>
                  <a:srgbClr val="FF0000"/>
                </a:solidFill>
                <a:latin typeface="Arial"/>
                <a:ea typeface="Arial"/>
                <a:cs typeface="Arial"/>
                <a:sym typeface="Arial"/>
              </a:rPr>
              <a:t>according to size</a:t>
            </a:r>
            <a:r>
              <a:rPr lang="en-US" dirty="0">
                <a:latin typeface="Arial"/>
                <a:ea typeface="Arial"/>
                <a:cs typeface="Arial"/>
                <a:sym typeface="Arial"/>
              </a:rPr>
              <a:t> </a:t>
            </a:r>
            <a:endParaRPr dirty="0"/>
          </a:p>
          <a:p>
            <a:pPr marL="742950" lvl="1" indent="-285750" algn="l" rtl="0">
              <a:lnSpc>
                <a:spcPct val="110000"/>
              </a:lnSpc>
              <a:spcBef>
                <a:spcPts val="1080"/>
              </a:spcBef>
              <a:spcAft>
                <a:spcPts val="0"/>
              </a:spcAft>
              <a:buSzPts val="2400"/>
              <a:buChar char="▪"/>
            </a:pPr>
            <a:r>
              <a:rPr lang="en-US" dirty="0">
                <a:latin typeface="Arial"/>
                <a:ea typeface="Arial"/>
                <a:cs typeface="Arial"/>
                <a:sym typeface="Arial"/>
              </a:rPr>
              <a:t>Class A – big size of organization</a:t>
            </a:r>
            <a:endParaRPr dirty="0"/>
          </a:p>
          <a:p>
            <a:pPr marL="742950" lvl="1" indent="-285750" algn="l" rtl="0">
              <a:lnSpc>
                <a:spcPct val="110000"/>
              </a:lnSpc>
              <a:spcBef>
                <a:spcPts val="1080"/>
              </a:spcBef>
              <a:spcAft>
                <a:spcPts val="0"/>
              </a:spcAft>
              <a:buSzPts val="2400"/>
              <a:buChar char="▪"/>
            </a:pPr>
            <a:r>
              <a:rPr lang="en-US" dirty="0">
                <a:latin typeface="Arial"/>
                <a:ea typeface="Arial"/>
                <a:cs typeface="Arial"/>
                <a:sym typeface="Arial"/>
              </a:rPr>
              <a:t>Class B – medium size of organization</a:t>
            </a:r>
            <a:endParaRPr dirty="0"/>
          </a:p>
          <a:p>
            <a:pPr marL="742950" lvl="1" indent="-285750" algn="l" rtl="0">
              <a:lnSpc>
                <a:spcPct val="110000"/>
              </a:lnSpc>
              <a:spcBef>
                <a:spcPts val="1080"/>
              </a:spcBef>
              <a:spcAft>
                <a:spcPts val="0"/>
              </a:spcAft>
              <a:buSzPts val="2400"/>
              <a:buChar char="▪"/>
            </a:pPr>
            <a:r>
              <a:rPr lang="en-US" dirty="0">
                <a:latin typeface="Arial"/>
                <a:ea typeface="Arial"/>
                <a:cs typeface="Arial"/>
                <a:sym typeface="Arial"/>
              </a:rPr>
              <a:t>Class C – small size of organization</a:t>
            </a:r>
            <a:endParaRPr dirty="0"/>
          </a:p>
          <a:p>
            <a:pPr marL="342900" lvl="0" indent="-260350" algn="l" rtl="0">
              <a:lnSpc>
                <a:spcPct val="85000"/>
              </a:lnSpc>
              <a:spcBef>
                <a:spcPts val="1000"/>
              </a:spcBef>
              <a:spcAft>
                <a:spcPts val="0"/>
              </a:spcAft>
              <a:buSzPts val="1300"/>
              <a:buNone/>
            </a:pPr>
            <a:endParaRPr sz="2000" b="1" dirty="0">
              <a:solidFill>
                <a:srgbClr val="FF0000"/>
              </a:solidFill>
              <a:latin typeface="Arial"/>
              <a:ea typeface="Arial"/>
              <a:cs typeface="Arial"/>
              <a:sym typeface="Arial"/>
            </a:endParaRPr>
          </a:p>
          <a:p>
            <a:pPr marL="342900" lvl="0" indent="-260350" algn="l" rtl="0">
              <a:lnSpc>
                <a:spcPct val="85000"/>
              </a:lnSpc>
              <a:spcBef>
                <a:spcPts val="1000"/>
              </a:spcBef>
              <a:spcAft>
                <a:spcPts val="0"/>
              </a:spcAft>
              <a:buSzPts val="1300"/>
              <a:buNone/>
            </a:pPr>
            <a:endParaRPr sz="2000" dirty="0">
              <a:latin typeface="Arial"/>
              <a:ea typeface="Arial"/>
              <a:cs typeface="Arial"/>
              <a:sym typeface="Arial"/>
            </a:endParaRPr>
          </a:p>
          <a:p>
            <a:pPr marL="342900" lvl="0" indent="-260350" algn="l" rtl="0">
              <a:lnSpc>
                <a:spcPct val="120000"/>
              </a:lnSpc>
              <a:spcBef>
                <a:spcPts val="600"/>
              </a:spcBef>
              <a:spcAft>
                <a:spcPts val="0"/>
              </a:spcAft>
              <a:buSzPts val="1300"/>
              <a:buNone/>
            </a:pPr>
            <a:endParaRPr sz="2000" dirty="0">
              <a:latin typeface="Arial"/>
              <a:ea typeface="Arial"/>
              <a:cs typeface="Arial"/>
              <a:sym typeface="Arial"/>
            </a:endParaRPr>
          </a:p>
          <a:p>
            <a:pPr marL="742950" lvl="1" indent="-158750" algn="l" rtl="0">
              <a:lnSpc>
                <a:spcPct val="85000"/>
              </a:lnSpc>
              <a:spcBef>
                <a:spcPts val="1000"/>
              </a:spcBef>
              <a:spcAft>
                <a:spcPts val="0"/>
              </a:spcAft>
              <a:buSzPts val="2000"/>
              <a:buNone/>
            </a:pPr>
            <a:endParaRPr sz="2000" dirty="0">
              <a:latin typeface="Arial"/>
              <a:ea typeface="Arial"/>
              <a:cs typeface="Arial"/>
              <a:sym typeface="Arial"/>
            </a:endParaRPr>
          </a:p>
        </p:txBody>
      </p:sp>
      <p:grpSp>
        <p:nvGrpSpPr>
          <p:cNvPr id="450" name="Google Shape;450;p21"/>
          <p:cNvGrpSpPr/>
          <p:nvPr/>
        </p:nvGrpSpPr>
        <p:grpSpPr>
          <a:xfrm>
            <a:off x="0" y="0"/>
            <a:ext cx="9143999" cy="926011"/>
            <a:chOff x="0" y="0"/>
            <a:chExt cx="9143999" cy="926011"/>
          </a:xfrm>
        </p:grpSpPr>
        <p:pic>
          <p:nvPicPr>
            <p:cNvPr id="451" name="Google Shape;451;p21"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452" name="Google Shape;452;p21"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453" name="Google Shape;453;p21"/>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Gill Sans"/>
                <a:ea typeface="Arial"/>
                <a:cs typeface="Arial"/>
                <a:sym typeface="Gill Sans"/>
              </a:rPr>
              <a:t>Classful Addressing</a:t>
            </a:r>
            <a:endParaRPr sz="2800" dirty="0">
              <a:solidFill>
                <a:schemeClr val="lt1"/>
              </a:solidFill>
              <a:latin typeface="Arial"/>
              <a:ea typeface="Arial"/>
              <a:cs typeface="Arial"/>
              <a:sym typeface="Arial"/>
            </a:endParaRPr>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72</a:t>
            </a:fld>
            <a:endParaRPr lang="en-US" altLang="en-US" dirty="0">
              <a:latin typeface="Tahoma" panose="020B0604030504040204" pitchFamily="34" charset="0"/>
            </a:endParaRPr>
          </a:p>
        </p:txBody>
      </p:sp>
    </p:spTree>
    <p:extLst>
      <p:ext uri="{BB962C8B-B14F-4D97-AF65-F5344CB8AC3E}">
        <p14:creationId xmlns:p14="http://schemas.microsoft.com/office/powerpoint/2010/main" val="4946737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459" name="Google Shape;459;p22"/>
          <p:cNvGrpSpPr/>
          <p:nvPr/>
        </p:nvGrpSpPr>
        <p:grpSpPr>
          <a:xfrm>
            <a:off x="10495" y="112683"/>
            <a:ext cx="9143999" cy="926011"/>
            <a:chOff x="0" y="0"/>
            <a:chExt cx="9143999" cy="926011"/>
          </a:xfrm>
        </p:grpSpPr>
        <p:pic>
          <p:nvPicPr>
            <p:cNvPr id="460" name="Google Shape;460;p22"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461" name="Google Shape;461;p22"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463" name="Google Shape;463;p22"/>
          <p:cNvSpPr txBox="1"/>
          <p:nvPr/>
        </p:nvSpPr>
        <p:spPr>
          <a:xfrm>
            <a:off x="1371600" y="1036356"/>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dirty="0">
                <a:solidFill>
                  <a:srgbClr val="00B9FA"/>
                </a:solidFill>
                <a:latin typeface="Arial"/>
                <a:ea typeface="Arial"/>
                <a:cs typeface="Arial"/>
                <a:sym typeface="Arial"/>
              </a:rPr>
              <a:t>Classful addressing</a:t>
            </a:r>
            <a:endParaRPr dirty="0"/>
          </a:p>
        </p:txBody>
      </p:sp>
      <p:pic>
        <p:nvPicPr>
          <p:cNvPr id="464" name="Google Shape;464;p22"/>
          <p:cNvPicPr preferRelativeResize="0"/>
          <p:nvPr/>
        </p:nvPicPr>
        <p:blipFill rotWithShape="1">
          <a:blip r:embed="rId5">
            <a:alphaModFix/>
          </a:blip>
          <a:srcRect/>
          <a:stretch/>
        </p:blipFill>
        <p:spPr>
          <a:xfrm>
            <a:off x="1100342" y="1630497"/>
            <a:ext cx="7042171" cy="4832216"/>
          </a:xfrm>
          <a:prstGeom prst="rect">
            <a:avLst/>
          </a:prstGeom>
          <a:noFill/>
          <a:ln>
            <a:noFill/>
          </a:ln>
        </p:spPr>
      </p:pic>
      <p:sp>
        <p:nvSpPr>
          <p:cNvPr id="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73</a:t>
            </a:fld>
            <a:endParaRPr lang="en-US" altLang="en-US" dirty="0">
              <a:latin typeface="Tahoma" panose="020B0604030504040204" pitchFamily="34" charset="0"/>
            </a:endParaRPr>
          </a:p>
        </p:txBody>
      </p:sp>
    </p:spTree>
    <p:extLst>
      <p:ext uri="{BB962C8B-B14F-4D97-AF65-F5344CB8AC3E}">
        <p14:creationId xmlns:p14="http://schemas.microsoft.com/office/powerpoint/2010/main" val="32518031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grpSp>
        <p:nvGrpSpPr>
          <p:cNvPr id="470" name="Google Shape;470;p23"/>
          <p:cNvGrpSpPr/>
          <p:nvPr/>
        </p:nvGrpSpPr>
        <p:grpSpPr>
          <a:xfrm>
            <a:off x="0" y="0"/>
            <a:ext cx="9143999" cy="926011"/>
            <a:chOff x="0" y="0"/>
            <a:chExt cx="9143999" cy="926011"/>
          </a:xfrm>
        </p:grpSpPr>
        <p:pic>
          <p:nvPicPr>
            <p:cNvPr id="471" name="Google Shape;471;p23"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472" name="Google Shape;472;p23"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pic>
        <p:nvPicPr>
          <p:cNvPr id="474" name="Google Shape;474;p23"/>
          <p:cNvPicPr preferRelativeResize="0"/>
          <p:nvPr/>
        </p:nvPicPr>
        <p:blipFill rotWithShape="1">
          <a:blip r:embed="rId5">
            <a:alphaModFix/>
          </a:blip>
          <a:srcRect/>
          <a:stretch/>
        </p:blipFill>
        <p:spPr>
          <a:xfrm>
            <a:off x="278688" y="1408964"/>
            <a:ext cx="8668575" cy="4151009"/>
          </a:xfrm>
          <a:prstGeom prst="rect">
            <a:avLst/>
          </a:prstGeom>
          <a:noFill/>
          <a:ln>
            <a:noFill/>
          </a:ln>
        </p:spPr>
      </p:pic>
      <p:sp>
        <p:nvSpPr>
          <p:cNvPr id="475" name="Google Shape;475;p23"/>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a:solidFill>
                  <a:srgbClr val="00B9FA"/>
                </a:solidFill>
                <a:latin typeface="Arial"/>
                <a:ea typeface="Arial"/>
                <a:cs typeface="Arial"/>
                <a:sym typeface="Arial"/>
              </a:rPr>
              <a:t>Classful addressing</a:t>
            </a:r>
            <a:endParaRPr/>
          </a:p>
        </p:txBody>
      </p:sp>
      <p:sp>
        <p:nvSpPr>
          <p:cNvPr id="476" name="Google Shape;476;p23"/>
          <p:cNvSpPr/>
          <p:nvPr/>
        </p:nvSpPr>
        <p:spPr>
          <a:xfrm>
            <a:off x="368178" y="1793178"/>
            <a:ext cx="8405708" cy="2194399"/>
          </a:xfrm>
          <a:prstGeom prst="rect">
            <a:avLst/>
          </a:prstGeom>
          <a:solidFill>
            <a:srgbClr val="FFFF00">
              <a:alpha val="22745"/>
            </a:srgbClr>
          </a:solidFill>
          <a:ln w="1905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477" name="Google Shape;477;p23"/>
          <p:cNvSpPr txBox="1"/>
          <p:nvPr/>
        </p:nvSpPr>
        <p:spPr>
          <a:xfrm>
            <a:off x="1482290" y="2065535"/>
            <a:ext cx="140294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/8 255.0.0.0</a:t>
            </a:r>
            <a:endParaRPr/>
          </a:p>
        </p:txBody>
      </p:sp>
      <p:sp>
        <p:nvSpPr>
          <p:cNvPr id="478" name="Google Shape;478;p23"/>
          <p:cNvSpPr txBox="1"/>
          <p:nvPr/>
        </p:nvSpPr>
        <p:spPr>
          <a:xfrm>
            <a:off x="1361105" y="2799276"/>
            <a:ext cx="17876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/16 255.255.0.0</a:t>
            </a:r>
            <a:endParaRPr/>
          </a:p>
        </p:txBody>
      </p:sp>
      <p:sp>
        <p:nvSpPr>
          <p:cNvPr id="479" name="Google Shape;479;p23"/>
          <p:cNvSpPr txBox="1"/>
          <p:nvPr/>
        </p:nvSpPr>
        <p:spPr>
          <a:xfrm>
            <a:off x="1301012" y="3618246"/>
            <a:ext cx="20441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/24 255.255.255.0</a:t>
            </a:r>
            <a:endParaRPr/>
          </a:p>
        </p:txBody>
      </p:sp>
      <p:sp>
        <p:nvSpPr>
          <p:cNvPr id="13"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74</a:t>
            </a:fld>
            <a:endParaRPr lang="en-US" altLang="en-US" dirty="0">
              <a:latin typeface="Tahoma" panose="020B0604030504040204" pitchFamily="34" charset="0"/>
            </a:endParaRPr>
          </a:p>
        </p:txBody>
      </p:sp>
    </p:spTree>
    <p:extLst>
      <p:ext uri="{BB962C8B-B14F-4D97-AF65-F5344CB8AC3E}">
        <p14:creationId xmlns:p14="http://schemas.microsoft.com/office/powerpoint/2010/main" val="32074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76"/>
                                        </p:tgtEl>
                                        <p:attrNameLst>
                                          <p:attrName>style.visibility</p:attrName>
                                        </p:attrNameLst>
                                      </p:cBhvr>
                                      <p:to>
                                        <p:strVal val="visible"/>
                                      </p:to>
                                    </p:set>
                                    <p:anim calcmode="lin" valueType="num">
                                      <p:cBhvr additive="base">
                                        <p:cTn id="7" dur="500"/>
                                        <p:tgtEl>
                                          <p:spTgt spid="47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24"/>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4-</a:t>
            </a:r>
            <a:fld id="{00000000-1234-1234-1234-123412341234}" type="slidenum">
              <a:rPr lang="en-US"/>
              <a:t>75</a:t>
            </a:fld>
            <a:endParaRPr dirty="0"/>
          </a:p>
        </p:txBody>
      </p:sp>
      <p:grpSp>
        <p:nvGrpSpPr>
          <p:cNvPr id="485" name="Google Shape;485;p24"/>
          <p:cNvGrpSpPr/>
          <p:nvPr/>
        </p:nvGrpSpPr>
        <p:grpSpPr>
          <a:xfrm>
            <a:off x="0" y="0"/>
            <a:ext cx="9143999" cy="926011"/>
            <a:chOff x="0" y="0"/>
            <a:chExt cx="9143999" cy="926011"/>
          </a:xfrm>
        </p:grpSpPr>
        <p:pic>
          <p:nvPicPr>
            <p:cNvPr id="486" name="Google Shape;486;p24"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487" name="Google Shape;487;p24"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489" name="Google Shape;489;p24"/>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a:solidFill>
                  <a:srgbClr val="00B9FA"/>
                </a:solidFill>
                <a:latin typeface="Arial"/>
                <a:ea typeface="Arial"/>
                <a:cs typeface="Arial"/>
                <a:sym typeface="Arial"/>
              </a:rPr>
              <a:t>Classful addressing</a:t>
            </a:r>
            <a:endParaRPr/>
          </a:p>
        </p:txBody>
      </p:sp>
      <p:sp>
        <p:nvSpPr>
          <p:cNvPr id="490" name="Google Shape;490;p24"/>
          <p:cNvSpPr/>
          <p:nvPr/>
        </p:nvSpPr>
        <p:spPr>
          <a:xfrm>
            <a:off x="488127" y="1384294"/>
            <a:ext cx="7367751" cy="3231654"/>
          </a:xfrm>
          <a:prstGeom prst="rect">
            <a:avLst/>
          </a:prstGeom>
          <a:solidFill>
            <a:srgbClr val="00FDFF"/>
          </a:solid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2200" b="1" i="0" u="none" strike="noStrike" cap="none">
                <a:solidFill>
                  <a:schemeClr val="dk1"/>
                </a:solidFill>
                <a:latin typeface="Arial"/>
                <a:ea typeface="Arial"/>
                <a:cs typeface="Arial"/>
                <a:sym typeface="Arial"/>
              </a:rPr>
              <a:t>Example</a:t>
            </a:r>
            <a:r>
              <a:rPr lang="en-US" sz="2200" b="0" i="0" u="none" strike="noStrike" cap="none">
                <a:solidFill>
                  <a:schemeClr val="dk1"/>
                </a:solidFill>
                <a:latin typeface="Arial"/>
                <a:ea typeface="Arial"/>
                <a:cs typeface="Arial"/>
                <a:sym typeface="Arial"/>
              </a:rPr>
              <a:t>:</a:t>
            </a:r>
            <a:endParaRPr/>
          </a:p>
          <a:p>
            <a:pPr marL="0" marR="0" lvl="1" indent="0" algn="l" rtl="0">
              <a:spcBef>
                <a:spcPts val="1200"/>
              </a:spcBef>
              <a:spcAft>
                <a:spcPts val="0"/>
              </a:spcAft>
              <a:buNone/>
            </a:pPr>
            <a:endParaRPr sz="1400" b="0" i="0" u="none" strike="noStrike" cap="none">
              <a:solidFill>
                <a:schemeClr val="dk1"/>
              </a:solidFill>
              <a:latin typeface="Arial"/>
              <a:ea typeface="Arial"/>
              <a:cs typeface="Arial"/>
              <a:sym typeface="Arial"/>
            </a:endParaRPr>
          </a:p>
          <a:p>
            <a:pPr marL="285750" marR="0" lvl="1" indent="-285750" algn="l" rtl="0">
              <a:spcBef>
                <a:spcPts val="1200"/>
              </a:spcBef>
              <a:spcAft>
                <a:spcPts val="0"/>
              </a:spcAft>
              <a:buClr>
                <a:schemeClr val="dk1"/>
              </a:buClr>
              <a:buSzPts val="1430"/>
              <a:buFont typeface="Noto Sans Symbols"/>
              <a:buChar char="❖"/>
            </a:pPr>
            <a:r>
              <a:rPr lang="en-US" sz="2200" b="0" i="0" u="none" strike="noStrike" cap="none">
                <a:solidFill>
                  <a:schemeClr val="dk1"/>
                </a:solidFill>
                <a:latin typeface="Arial"/>
                <a:ea typeface="Arial"/>
                <a:cs typeface="Arial"/>
                <a:sym typeface="Arial"/>
              </a:rPr>
              <a:t>An organization </a:t>
            </a:r>
            <a:r>
              <a:rPr lang="en-US" sz="2200" b="0" i="0" u="none" strike="noStrike" cap="none">
                <a:solidFill>
                  <a:srgbClr val="FF0000"/>
                </a:solidFill>
                <a:latin typeface="Arial"/>
                <a:ea typeface="Arial"/>
                <a:cs typeface="Arial"/>
                <a:sym typeface="Arial"/>
              </a:rPr>
              <a:t>needs </a:t>
            </a:r>
            <a:r>
              <a:rPr lang="en-US" sz="2200" b="1" i="0" u="none" strike="noStrike" cap="none">
                <a:solidFill>
                  <a:srgbClr val="FF0000"/>
                </a:solidFill>
                <a:latin typeface="Arial"/>
                <a:ea typeface="Arial"/>
                <a:cs typeface="Arial"/>
                <a:sym typeface="Arial"/>
              </a:rPr>
              <a:t>2000</a:t>
            </a:r>
            <a:r>
              <a:rPr lang="en-US" sz="2200" b="0" i="0" u="none" strike="noStrike" cap="none">
                <a:solidFill>
                  <a:srgbClr val="FF0000"/>
                </a:solidFill>
                <a:latin typeface="Arial"/>
                <a:ea typeface="Arial"/>
                <a:cs typeface="Arial"/>
                <a:sym typeface="Arial"/>
              </a:rPr>
              <a:t> hosts</a:t>
            </a:r>
            <a:r>
              <a:rPr lang="en-US" sz="2200" b="0" i="0" u="none" strike="noStrike" cap="none">
                <a:solidFill>
                  <a:schemeClr val="dk1"/>
                </a:solidFill>
                <a:latin typeface="Arial"/>
                <a:ea typeface="Arial"/>
                <a:cs typeface="Arial"/>
                <a:sym typeface="Arial"/>
              </a:rPr>
              <a:t> and </a:t>
            </a:r>
            <a:r>
              <a:rPr lang="en-US" sz="2200" b="0" i="0" u="none" strike="noStrike" cap="none">
                <a:solidFill>
                  <a:srgbClr val="FF0000"/>
                </a:solidFill>
                <a:latin typeface="Arial"/>
                <a:ea typeface="Arial"/>
                <a:cs typeface="Arial"/>
                <a:sym typeface="Arial"/>
              </a:rPr>
              <a:t>apply class B</a:t>
            </a:r>
            <a:endParaRPr/>
          </a:p>
          <a:p>
            <a:pPr marL="285750" marR="0" lvl="1" indent="-285750" algn="l" rtl="0">
              <a:spcBef>
                <a:spcPts val="1200"/>
              </a:spcBef>
              <a:spcAft>
                <a:spcPts val="0"/>
              </a:spcAft>
              <a:buClr>
                <a:schemeClr val="dk1"/>
              </a:buClr>
              <a:buSzPts val="1430"/>
              <a:buFont typeface="Noto Sans Symbols"/>
              <a:buChar char="❖"/>
            </a:pPr>
            <a:r>
              <a:rPr lang="en-US" sz="2200" b="1" i="0" u="none" strike="noStrike" cap="none">
                <a:solidFill>
                  <a:schemeClr val="dk1"/>
                </a:solidFill>
                <a:latin typeface="Arial"/>
                <a:ea typeface="Arial"/>
                <a:cs typeface="Arial"/>
                <a:sym typeface="Arial"/>
              </a:rPr>
              <a:t>Class B </a:t>
            </a:r>
            <a:r>
              <a:rPr lang="en-US" sz="2200" b="0" i="0" u="none" strike="noStrike" cap="none">
                <a:solidFill>
                  <a:schemeClr val="dk1"/>
                </a:solidFill>
                <a:latin typeface="Arial"/>
                <a:ea typeface="Arial"/>
                <a:cs typeface="Arial"/>
                <a:sym typeface="Arial"/>
              </a:rPr>
              <a:t>allocated 65000 addresses, and leaving more than </a:t>
            </a:r>
            <a:r>
              <a:rPr lang="en-US" sz="2200" b="0" i="0" u="none" strike="noStrike" cap="none">
                <a:solidFill>
                  <a:srgbClr val="FF0000"/>
                </a:solidFill>
                <a:latin typeface="Arial"/>
                <a:ea typeface="Arial"/>
                <a:cs typeface="Arial"/>
                <a:sym typeface="Arial"/>
              </a:rPr>
              <a:t>63000</a:t>
            </a:r>
            <a:r>
              <a:rPr lang="en-US" sz="2200" b="0" i="0" u="none" strike="noStrike" cap="none">
                <a:solidFill>
                  <a:schemeClr val="dk1"/>
                </a:solidFill>
                <a:latin typeface="Arial"/>
                <a:ea typeface="Arial"/>
                <a:cs typeface="Arial"/>
                <a:sym typeface="Arial"/>
              </a:rPr>
              <a:t> not used.</a:t>
            </a:r>
            <a:endParaRPr/>
          </a:p>
          <a:p>
            <a:pPr marL="285750" marR="0" lvl="1" indent="-194945" algn="l" rtl="0">
              <a:spcBef>
                <a:spcPts val="1200"/>
              </a:spcBef>
              <a:spcAft>
                <a:spcPts val="0"/>
              </a:spcAft>
              <a:buClr>
                <a:schemeClr val="dk1"/>
              </a:buClr>
              <a:buSzPts val="1430"/>
              <a:buFont typeface="Noto Sans Symbols"/>
              <a:buNone/>
            </a:pPr>
            <a:endParaRPr sz="2200" b="0" i="0" u="none" strike="noStrike" cap="none">
              <a:solidFill>
                <a:schemeClr val="dk1"/>
              </a:solidFill>
              <a:latin typeface="Arial"/>
              <a:ea typeface="Arial"/>
              <a:cs typeface="Arial"/>
              <a:sym typeface="Arial"/>
            </a:endParaRPr>
          </a:p>
          <a:p>
            <a:pPr marL="285750" marR="0" lvl="1" indent="-285750" algn="l" rtl="0">
              <a:spcBef>
                <a:spcPts val="1200"/>
              </a:spcBef>
              <a:spcAft>
                <a:spcPts val="0"/>
              </a:spcAft>
              <a:buClr>
                <a:srgbClr val="FF0000"/>
              </a:buClr>
              <a:buSzPts val="1430"/>
              <a:buFont typeface="Noto Sans Symbols"/>
              <a:buChar char="❖"/>
            </a:pPr>
            <a:r>
              <a:rPr lang="en-US" sz="2200" b="1" i="0" u="none" strike="noStrike" cap="none">
                <a:solidFill>
                  <a:srgbClr val="FF0000"/>
                </a:solidFill>
                <a:latin typeface="Arial"/>
                <a:ea typeface="Arial"/>
                <a:cs typeface="Arial"/>
                <a:sym typeface="Arial"/>
              </a:rPr>
              <a:t>PROBLEMS</a:t>
            </a:r>
            <a:r>
              <a:rPr lang="en-US" sz="2200" b="0" i="0" u="none" strike="noStrike" cap="none">
                <a:solidFill>
                  <a:srgbClr val="FF0000"/>
                </a:solidFill>
                <a:latin typeface="Arial"/>
                <a:ea typeface="Arial"/>
                <a:cs typeface="Arial"/>
                <a:sym typeface="Arial"/>
              </a:rPr>
              <a:t>: Wasted addresses and not optimized</a:t>
            </a:r>
            <a:endParaRPr/>
          </a:p>
        </p:txBody>
      </p:sp>
      <p:sp>
        <p:nvSpPr>
          <p:cNvPr id="491" name="Google Shape;491;p24"/>
          <p:cNvSpPr txBox="1">
            <a:spLocks noGrp="1"/>
          </p:cNvSpPr>
          <p:nvPr>
            <p:ph type="body" idx="1"/>
          </p:nvPr>
        </p:nvSpPr>
        <p:spPr>
          <a:xfrm>
            <a:off x="301642" y="4580208"/>
            <a:ext cx="8333244" cy="1786996"/>
          </a:xfrm>
          <a:prstGeom prst="rect">
            <a:avLst/>
          </a:prstGeom>
          <a:noFill/>
          <a:ln>
            <a:noFill/>
          </a:ln>
        </p:spPr>
        <p:txBody>
          <a:bodyPr spcFirstLastPara="1" wrap="square" lIns="91425" tIns="45700" rIns="91425" bIns="45700" anchor="t" anchorCtr="0">
            <a:normAutofit/>
          </a:bodyPr>
          <a:lstStyle/>
          <a:p>
            <a:pPr marL="0" lvl="0" indent="0" algn="l" rtl="0">
              <a:lnSpc>
                <a:spcPct val="85000"/>
              </a:lnSpc>
              <a:spcBef>
                <a:spcPts val="0"/>
              </a:spcBef>
              <a:spcAft>
                <a:spcPts val="0"/>
              </a:spcAft>
              <a:buSzPts val="1560"/>
              <a:buNone/>
            </a:pPr>
            <a:endParaRPr sz="2400">
              <a:latin typeface="Arial"/>
              <a:ea typeface="Arial"/>
              <a:cs typeface="Arial"/>
              <a:sym typeface="Arial"/>
            </a:endParaRPr>
          </a:p>
          <a:p>
            <a:pPr marL="742950" lvl="1" indent="-285750" algn="l" rtl="0">
              <a:lnSpc>
                <a:spcPct val="85000"/>
              </a:lnSpc>
              <a:spcBef>
                <a:spcPts val="1000"/>
              </a:spcBef>
              <a:spcAft>
                <a:spcPts val="0"/>
              </a:spcAft>
              <a:buSzPts val="2000"/>
              <a:buChar char="▪"/>
            </a:pPr>
            <a:r>
              <a:rPr lang="en-US" sz="2000">
                <a:latin typeface="Arial"/>
                <a:ea typeface="Arial"/>
                <a:cs typeface="Arial"/>
                <a:sym typeface="Arial"/>
              </a:rPr>
              <a:t>Large organizations do not fully utilize the IP address they have</a:t>
            </a:r>
            <a:endParaRPr sz="2000">
              <a:latin typeface="Arial"/>
              <a:ea typeface="Arial"/>
              <a:cs typeface="Arial"/>
              <a:sym typeface="Arial"/>
            </a:endParaRPr>
          </a:p>
          <a:p>
            <a:pPr marL="742950" lvl="1" indent="-285750" algn="l" rtl="0">
              <a:lnSpc>
                <a:spcPct val="120000"/>
              </a:lnSpc>
              <a:spcBef>
                <a:spcPts val="1000"/>
              </a:spcBef>
              <a:spcAft>
                <a:spcPts val="0"/>
              </a:spcAft>
              <a:buSzPts val="2000"/>
              <a:buChar char="▪"/>
            </a:pPr>
            <a:r>
              <a:rPr lang="en-US" sz="2000">
                <a:latin typeface="Arial"/>
                <a:ea typeface="Arial"/>
                <a:cs typeface="Arial"/>
                <a:sym typeface="Arial"/>
              </a:rPr>
              <a:t>Had problem supporting the rapidly growing number of organizations with small and medium-sized subnets</a:t>
            </a:r>
            <a:endParaRPr/>
          </a:p>
          <a:p>
            <a:pPr marL="742950" lvl="1" indent="-158750" algn="l" rtl="0">
              <a:lnSpc>
                <a:spcPct val="85000"/>
              </a:lnSpc>
              <a:spcBef>
                <a:spcPts val="1000"/>
              </a:spcBef>
              <a:spcAft>
                <a:spcPts val="0"/>
              </a:spcAft>
              <a:buSzPts val="2000"/>
              <a:buNone/>
            </a:pPr>
            <a:endParaRPr sz="2000">
              <a:latin typeface="Arial"/>
              <a:ea typeface="Arial"/>
              <a:cs typeface="Arial"/>
              <a:sym typeface="Arial"/>
            </a:endParaRPr>
          </a:p>
        </p:txBody>
      </p:sp>
    </p:spTree>
    <p:extLst>
      <p:ext uri="{BB962C8B-B14F-4D97-AF65-F5344CB8AC3E}">
        <p14:creationId xmlns:p14="http://schemas.microsoft.com/office/powerpoint/2010/main" val="36848434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25"/>
          <p:cNvSpPr txBox="1">
            <a:spLocks noGrp="1"/>
          </p:cNvSpPr>
          <p:nvPr>
            <p:ph type="body" idx="1"/>
          </p:nvPr>
        </p:nvSpPr>
        <p:spPr>
          <a:xfrm>
            <a:off x="139700" y="1612593"/>
            <a:ext cx="8007350" cy="3171825"/>
          </a:xfrm>
          <a:prstGeom prst="rect">
            <a:avLst/>
          </a:prstGeom>
          <a:noFill/>
          <a:ln>
            <a:noFill/>
          </a:ln>
        </p:spPr>
        <p:txBody>
          <a:bodyPr spcFirstLastPara="1" wrap="square" lIns="91425" tIns="45700" rIns="91425" bIns="45700" anchor="t" anchorCtr="0">
            <a:noAutofit/>
          </a:bodyPr>
          <a:lstStyle/>
          <a:p>
            <a:pPr marL="742950" lvl="1" indent="-285750">
              <a:lnSpc>
                <a:spcPct val="100000"/>
              </a:lnSpc>
              <a:spcBef>
                <a:spcPts val="0"/>
              </a:spcBef>
              <a:spcAft>
                <a:spcPts val="0"/>
              </a:spcAft>
              <a:buSzPts val="2200"/>
              <a:buFont typeface="Noto Sans Symbols"/>
              <a:buChar char="▪"/>
            </a:pPr>
            <a:r>
              <a:rPr lang="en-US" sz="2200" dirty="0">
                <a:latin typeface="Arial"/>
                <a:ea typeface="Arial"/>
                <a:cs typeface="Arial"/>
                <a:sym typeface="Arial"/>
              </a:rPr>
              <a:t>more flexible than original system of internet address scheme (classful addressing),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subnet portion of address of arbitrary length</a:t>
            </a:r>
          </a:p>
          <a:p>
            <a:pPr marL="742950" lvl="1" indent="-285750" algn="l" rtl="0">
              <a:lnSpc>
                <a:spcPct val="100000"/>
              </a:lnSpc>
              <a:spcBef>
                <a:spcPts val="440"/>
              </a:spcBef>
              <a:spcAft>
                <a:spcPts val="0"/>
              </a:spcAft>
              <a:buSzPts val="2200"/>
              <a:buFont typeface="Noto Sans Symbols"/>
              <a:buChar char="▪"/>
            </a:pPr>
            <a:r>
              <a:rPr lang="en-US" sz="2200" dirty="0">
                <a:latin typeface="Arial"/>
                <a:ea typeface="Arial"/>
                <a:cs typeface="Arial"/>
                <a:sym typeface="Arial"/>
              </a:rPr>
              <a:t>can </a:t>
            </a:r>
            <a:r>
              <a:rPr lang="en-US" sz="2200" dirty="0">
                <a:solidFill>
                  <a:srgbClr val="FF0000"/>
                </a:solidFill>
                <a:latin typeface="Arial"/>
                <a:ea typeface="Arial"/>
                <a:cs typeface="Arial"/>
                <a:sym typeface="Arial"/>
              </a:rPr>
              <a:t>avoid situations </a:t>
            </a:r>
            <a:r>
              <a:rPr lang="en-US" sz="2200" dirty="0">
                <a:latin typeface="Arial"/>
                <a:ea typeface="Arial"/>
                <a:cs typeface="Arial"/>
                <a:sym typeface="Arial"/>
              </a:rPr>
              <a:t>where large numbers of IP </a:t>
            </a:r>
            <a:r>
              <a:rPr lang="en-US" sz="2200" dirty="0">
                <a:solidFill>
                  <a:srgbClr val="FF0000"/>
                </a:solidFill>
                <a:latin typeface="Arial"/>
                <a:ea typeface="Arial"/>
                <a:cs typeface="Arial"/>
                <a:sym typeface="Arial"/>
              </a:rPr>
              <a:t>addresses are </a:t>
            </a:r>
            <a:r>
              <a:rPr lang="en-US" sz="2200" b="1" dirty="0">
                <a:solidFill>
                  <a:srgbClr val="FF0000"/>
                </a:solidFill>
                <a:latin typeface="Arial"/>
                <a:ea typeface="Arial"/>
                <a:cs typeface="Arial"/>
                <a:sym typeface="Arial"/>
              </a:rPr>
              <a:t>unused</a:t>
            </a:r>
            <a:r>
              <a:rPr lang="en-US" sz="2200" dirty="0">
                <a:latin typeface="Arial"/>
                <a:ea typeface="Arial"/>
                <a:cs typeface="Arial"/>
                <a:sym typeface="Arial"/>
              </a:rPr>
              <a:t> </a:t>
            </a:r>
            <a:endParaRPr sz="2200" dirty="0">
              <a:latin typeface="Arial"/>
              <a:ea typeface="Arial"/>
              <a:cs typeface="Arial"/>
              <a:sym typeface="Arial"/>
            </a:endParaRPr>
          </a:p>
          <a:p>
            <a:pPr marL="742950" lvl="1" indent="-285750" algn="l" rtl="0">
              <a:lnSpc>
                <a:spcPct val="100000"/>
              </a:lnSpc>
              <a:spcBef>
                <a:spcPts val="480"/>
              </a:spcBef>
              <a:spcAft>
                <a:spcPts val="0"/>
              </a:spcAft>
              <a:buSzPts val="2200"/>
              <a:buFont typeface="Noto Sans Symbols"/>
              <a:buChar char="▪"/>
            </a:pPr>
            <a:r>
              <a:rPr lang="en-US" sz="2200" dirty="0">
                <a:latin typeface="Arial"/>
                <a:ea typeface="Arial"/>
                <a:cs typeface="Arial"/>
                <a:sym typeface="Arial"/>
              </a:rPr>
              <a:t>address format: </a:t>
            </a:r>
            <a:r>
              <a:rPr lang="en-US" b="1" dirty="0" err="1">
                <a:solidFill>
                  <a:srgbClr val="CC0000"/>
                </a:solidFill>
                <a:latin typeface="Courier New"/>
                <a:ea typeface="Courier New"/>
                <a:cs typeface="Courier New"/>
                <a:sym typeface="Courier New"/>
              </a:rPr>
              <a:t>a.b.c.d</a:t>
            </a:r>
            <a:r>
              <a:rPr lang="en-US" b="1" dirty="0">
                <a:solidFill>
                  <a:srgbClr val="CC0000"/>
                </a:solidFill>
                <a:latin typeface="Courier New"/>
                <a:ea typeface="Courier New"/>
                <a:cs typeface="Courier New"/>
                <a:sym typeface="Courier New"/>
              </a:rPr>
              <a:t>/x</a:t>
            </a:r>
            <a:r>
              <a:rPr lang="en-US" sz="2200" dirty="0">
                <a:latin typeface="Arial"/>
                <a:ea typeface="Arial"/>
                <a:cs typeface="Arial"/>
                <a:sym typeface="Arial"/>
              </a:rPr>
              <a:t> </a:t>
            </a:r>
            <a:endParaRPr dirty="0"/>
          </a:p>
          <a:p>
            <a:pPr marL="1143000" lvl="2" indent="-114300" algn="l" rtl="0">
              <a:spcBef>
                <a:spcPts val="360"/>
              </a:spcBef>
              <a:spcAft>
                <a:spcPts val="0"/>
              </a:spcAft>
              <a:buClr>
                <a:schemeClr val="dk1"/>
              </a:buClr>
              <a:buSzPts val="1800"/>
              <a:buFont typeface="Noto Sans Symbols"/>
              <a:buNone/>
            </a:pPr>
            <a:endParaRPr sz="1800" b="1" dirty="0">
              <a:solidFill>
                <a:srgbClr val="CC0000"/>
              </a:solidFill>
              <a:latin typeface="Courier New"/>
              <a:ea typeface="Courier New"/>
              <a:cs typeface="Courier New"/>
              <a:sym typeface="Courier New"/>
            </a:endParaRPr>
          </a:p>
        </p:txBody>
      </p:sp>
      <p:sp>
        <p:nvSpPr>
          <p:cNvPr id="497" name="Google Shape;497;p25"/>
          <p:cNvSpPr txBox="1"/>
          <p:nvPr/>
        </p:nvSpPr>
        <p:spPr>
          <a:xfrm>
            <a:off x="2613325" y="3735116"/>
            <a:ext cx="277041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70C0"/>
                </a:solidFill>
                <a:latin typeface="Courier New"/>
                <a:ea typeface="Courier New"/>
                <a:cs typeface="Courier New"/>
                <a:sym typeface="Courier New"/>
              </a:rPr>
              <a:t>200.23.16.0/23</a:t>
            </a:r>
            <a:endParaRPr sz="1800" b="1">
              <a:solidFill>
                <a:srgbClr val="0070C0"/>
              </a:solidFill>
              <a:latin typeface="Courier New"/>
              <a:ea typeface="Courier New"/>
              <a:cs typeface="Courier New"/>
              <a:sym typeface="Courier New"/>
            </a:endParaRPr>
          </a:p>
        </p:txBody>
      </p:sp>
      <p:grpSp>
        <p:nvGrpSpPr>
          <p:cNvPr id="498" name="Google Shape;498;p25"/>
          <p:cNvGrpSpPr/>
          <p:nvPr/>
        </p:nvGrpSpPr>
        <p:grpSpPr>
          <a:xfrm>
            <a:off x="851017" y="4354241"/>
            <a:ext cx="6649026" cy="984315"/>
            <a:chOff x="851017" y="4354241"/>
            <a:chExt cx="6649026" cy="984315"/>
          </a:xfrm>
        </p:grpSpPr>
        <p:sp>
          <p:nvSpPr>
            <p:cNvPr id="499" name="Google Shape;499;p25"/>
            <p:cNvSpPr txBox="1"/>
            <p:nvPr/>
          </p:nvSpPr>
          <p:spPr>
            <a:xfrm>
              <a:off x="851017" y="4354241"/>
              <a:ext cx="664902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urier New"/>
                  <a:ea typeface="Courier New"/>
                  <a:cs typeface="Courier New"/>
                  <a:sym typeface="Courier New"/>
                </a:rPr>
                <a:t>11001000</a:t>
              </a:r>
              <a:r>
                <a:rPr lang="en-US" sz="2400" b="1">
                  <a:solidFill>
                    <a:schemeClr val="dk1"/>
                  </a:solidFill>
                  <a:latin typeface="Courier New"/>
                  <a:ea typeface="Courier New"/>
                  <a:cs typeface="Courier New"/>
                  <a:sym typeface="Courier New"/>
                </a:rPr>
                <a:t>.</a:t>
              </a:r>
              <a:r>
                <a:rPr lang="en-US" sz="2400" b="1">
                  <a:solidFill>
                    <a:srgbClr val="FF0000"/>
                  </a:solidFill>
                  <a:latin typeface="Courier New"/>
                  <a:ea typeface="Courier New"/>
                  <a:cs typeface="Courier New"/>
                  <a:sym typeface="Courier New"/>
                </a:rPr>
                <a:t>00010111</a:t>
              </a:r>
              <a:r>
                <a:rPr lang="en-US" sz="2400" b="1">
                  <a:solidFill>
                    <a:srgbClr val="000000"/>
                  </a:solidFill>
                  <a:latin typeface="Courier New"/>
                  <a:ea typeface="Courier New"/>
                  <a:cs typeface="Courier New"/>
                  <a:sym typeface="Courier New"/>
                </a:rPr>
                <a:t>.</a:t>
              </a:r>
              <a:r>
                <a:rPr lang="en-US" sz="2400" b="1">
                  <a:solidFill>
                    <a:srgbClr val="FF0000"/>
                  </a:solidFill>
                  <a:latin typeface="Courier New"/>
                  <a:ea typeface="Courier New"/>
                  <a:cs typeface="Courier New"/>
                  <a:sym typeface="Courier New"/>
                </a:rPr>
                <a:t>0001000</a:t>
              </a:r>
              <a:r>
                <a:rPr lang="en-US" sz="2400" b="1">
                  <a:solidFill>
                    <a:schemeClr val="dk1"/>
                  </a:solidFill>
                  <a:latin typeface="Courier New"/>
                  <a:ea typeface="Courier New"/>
                  <a:cs typeface="Courier New"/>
                  <a:sym typeface="Courier New"/>
                </a:rPr>
                <a:t>0</a:t>
              </a:r>
              <a:r>
                <a:rPr lang="en-US" sz="2400">
                  <a:solidFill>
                    <a:schemeClr val="dk1"/>
                  </a:solidFill>
                  <a:latin typeface="Courier New"/>
                  <a:ea typeface="Courier New"/>
                  <a:cs typeface="Courier New"/>
                  <a:sym typeface="Courier New"/>
                </a:rPr>
                <a:t>.</a:t>
              </a:r>
              <a:r>
                <a:rPr lang="en-US" sz="2400" b="1">
                  <a:solidFill>
                    <a:schemeClr val="dk1"/>
                  </a:solidFill>
                  <a:latin typeface="Courier New"/>
                  <a:ea typeface="Courier New"/>
                  <a:cs typeface="Courier New"/>
                  <a:sym typeface="Courier New"/>
                </a:rPr>
                <a:t>00000000</a:t>
              </a:r>
              <a:endParaRPr/>
            </a:p>
          </p:txBody>
        </p:sp>
        <p:grpSp>
          <p:nvGrpSpPr>
            <p:cNvPr id="500" name="Google Shape;500;p25"/>
            <p:cNvGrpSpPr/>
            <p:nvPr/>
          </p:nvGrpSpPr>
          <p:grpSpPr>
            <a:xfrm>
              <a:off x="1039227" y="4697206"/>
              <a:ext cx="6322675" cy="641350"/>
              <a:chOff x="1458327" y="4481306"/>
              <a:chExt cx="6322675" cy="641350"/>
            </a:xfrm>
          </p:grpSpPr>
          <p:sp>
            <p:nvSpPr>
              <p:cNvPr id="501" name="Google Shape;501;p25"/>
              <p:cNvSpPr txBox="1"/>
              <p:nvPr/>
            </p:nvSpPr>
            <p:spPr>
              <a:xfrm>
                <a:off x="2780349" y="4613879"/>
                <a:ext cx="163488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Subnet part</a:t>
                </a:r>
                <a:endParaRPr/>
              </a:p>
            </p:txBody>
          </p:sp>
          <p:sp>
            <p:nvSpPr>
              <p:cNvPr id="502" name="Google Shape;502;p25"/>
              <p:cNvSpPr txBox="1"/>
              <p:nvPr/>
            </p:nvSpPr>
            <p:spPr>
              <a:xfrm>
                <a:off x="6641141" y="4481306"/>
                <a:ext cx="615950" cy="6413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host</a:t>
                </a:r>
                <a:endParaRPr/>
              </a:p>
              <a:p>
                <a:pPr marL="0" marR="0" lvl="0" indent="0" algn="ctr" rtl="0">
                  <a:spcBef>
                    <a:spcPts val="0"/>
                  </a:spcBef>
                  <a:spcAft>
                    <a:spcPts val="0"/>
                  </a:spcAft>
                  <a:buNone/>
                </a:pPr>
                <a:r>
                  <a:rPr lang="en-US" sz="1800">
                    <a:solidFill>
                      <a:schemeClr val="dk1"/>
                    </a:solidFill>
                    <a:latin typeface="Arial"/>
                    <a:ea typeface="Arial"/>
                    <a:cs typeface="Arial"/>
                    <a:sym typeface="Arial"/>
                  </a:rPr>
                  <a:t>part</a:t>
                </a:r>
                <a:endParaRPr/>
              </a:p>
            </p:txBody>
          </p:sp>
          <p:cxnSp>
            <p:nvCxnSpPr>
              <p:cNvPr id="503" name="Google Shape;503;p25"/>
              <p:cNvCxnSpPr/>
              <p:nvPr/>
            </p:nvCxnSpPr>
            <p:spPr>
              <a:xfrm>
                <a:off x="4367841" y="4855891"/>
                <a:ext cx="1620837" cy="0"/>
              </a:xfrm>
              <a:prstGeom prst="straightConnector1">
                <a:avLst/>
              </a:prstGeom>
              <a:noFill/>
              <a:ln w="28575" cap="flat" cmpd="sng">
                <a:solidFill>
                  <a:srgbClr val="FF0000"/>
                </a:solidFill>
                <a:prstDash val="solid"/>
                <a:round/>
                <a:headEnd type="none" w="med" len="med"/>
                <a:tailEnd type="triangle" w="med" len="med"/>
              </a:ln>
            </p:spPr>
          </p:cxnSp>
          <p:cxnSp>
            <p:nvCxnSpPr>
              <p:cNvPr id="504" name="Google Shape;504;p25"/>
              <p:cNvCxnSpPr/>
              <p:nvPr/>
            </p:nvCxnSpPr>
            <p:spPr>
              <a:xfrm>
                <a:off x="7185690" y="4844779"/>
                <a:ext cx="595312" cy="0"/>
              </a:xfrm>
              <a:prstGeom prst="straightConnector1">
                <a:avLst/>
              </a:prstGeom>
              <a:noFill/>
              <a:ln w="28575" cap="flat" cmpd="sng">
                <a:solidFill>
                  <a:schemeClr val="dk1"/>
                </a:solidFill>
                <a:prstDash val="solid"/>
                <a:round/>
                <a:headEnd type="none" w="med" len="med"/>
                <a:tailEnd type="triangle" w="med" len="med"/>
              </a:ln>
            </p:spPr>
          </p:cxnSp>
          <p:cxnSp>
            <p:nvCxnSpPr>
              <p:cNvPr id="505" name="Google Shape;505;p25"/>
              <p:cNvCxnSpPr/>
              <p:nvPr/>
            </p:nvCxnSpPr>
            <p:spPr>
              <a:xfrm rot="10800000">
                <a:off x="1458327" y="4846366"/>
                <a:ext cx="1438275" cy="0"/>
              </a:xfrm>
              <a:prstGeom prst="straightConnector1">
                <a:avLst/>
              </a:prstGeom>
              <a:noFill/>
              <a:ln w="28575" cap="flat" cmpd="sng">
                <a:solidFill>
                  <a:srgbClr val="FF0000"/>
                </a:solidFill>
                <a:prstDash val="solid"/>
                <a:round/>
                <a:headEnd type="none" w="med" len="med"/>
                <a:tailEnd type="triangle" w="med" len="med"/>
              </a:ln>
            </p:spPr>
          </p:cxnSp>
          <p:cxnSp>
            <p:nvCxnSpPr>
              <p:cNvPr id="506" name="Google Shape;506;p25"/>
              <p:cNvCxnSpPr/>
              <p:nvPr/>
            </p:nvCxnSpPr>
            <p:spPr>
              <a:xfrm rot="10800000">
                <a:off x="6055390" y="4857479"/>
                <a:ext cx="647700" cy="0"/>
              </a:xfrm>
              <a:prstGeom prst="straightConnector1">
                <a:avLst/>
              </a:prstGeom>
              <a:noFill/>
              <a:ln w="19050" cap="flat" cmpd="sng">
                <a:solidFill>
                  <a:schemeClr val="dk1"/>
                </a:solidFill>
                <a:prstDash val="solid"/>
                <a:round/>
                <a:headEnd type="none" w="med" len="med"/>
                <a:tailEnd type="triangle" w="med" len="med"/>
              </a:ln>
            </p:spPr>
          </p:cxnSp>
        </p:grpSp>
      </p:grpSp>
      <p:grpSp>
        <p:nvGrpSpPr>
          <p:cNvPr id="507" name="Google Shape;507;p25"/>
          <p:cNvGrpSpPr/>
          <p:nvPr/>
        </p:nvGrpSpPr>
        <p:grpSpPr>
          <a:xfrm>
            <a:off x="0" y="0"/>
            <a:ext cx="9143999" cy="926011"/>
            <a:chOff x="0" y="0"/>
            <a:chExt cx="9143999" cy="926011"/>
          </a:xfrm>
        </p:grpSpPr>
        <p:pic>
          <p:nvPicPr>
            <p:cNvPr id="508" name="Google Shape;508;p25"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509" name="Google Shape;509;p25"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511" name="Google Shape;511;p25"/>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a:solidFill>
                  <a:srgbClr val="00B9FA"/>
                </a:solidFill>
                <a:latin typeface="Arial"/>
                <a:ea typeface="Arial"/>
                <a:cs typeface="Arial"/>
                <a:sym typeface="Arial"/>
              </a:rPr>
              <a:t>Classless Inter Domain Routing (CIDR)</a:t>
            </a:r>
            <a:endParaRPr/>
          </a:p>
        </p:txBody>
      </p:sp>
      <p:grpSp>
        <p:nvGrpSpPr>
          <p:cNvPr id="512" name="Google Shape;512;p25"/>
          <p:cNvGrpSpPr/>
          <p:nvPr/>
        </p:nvGrpSpPr>
        <p:grpSpPr>
          <a:xfrm>
            <a:off x="4631743" y="3216897"/>
            <a:ext cx="4267300" cy="923330"/>
            <a:chOff x="4782143" y="3212466"/>
            <a:chExt cx="4267300" cy="923330"/>
          </a:xfrm>
        </p:grpSpPr>
        <p:sp>
          <p:nvSpPr>
            <p:cNvPr id="513" name="Google Shape;513;p25"/>
            <p:cNvSpPr/>
            <p:nvPr/>
          </p:nvSpPr>
          <p:spPr>
            <a:xfrm>
              <a:off x="5950643" y="3212466"/>
              <a:ext cx="3098800" cy="923330"/>
            </a:xfrm>
            <a:prstGeom prst="rect">
              <a:avLst/>
            </a:prstGeom>
            <a:noFill/>
            <a:ln w="19050"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lvl="0">
                <a:spcBef>
                  <a:spcPts val="0"/>
                </a:spcBef>
                <a:spcAft>
                  <a:spcPts val="0"/>
                </a:spcAft>
              </a:pPr>
              <a:r>
                <a:rPr lang="en-US" dirty="0">
                  <a:solidFill>
                    <a:schemeClr val="dk1"/>
                  </a:solidFill>
                  <a:latin typeface="Arial"/>
                  <a:ea typeface="Arial"/>
                  <a:cs typeface="Arial"/>
                  <a:sym typeface="Arial"/>
                </a:rPr>
                <a:t>w</a:t>
              </a:r>
              <a:r>
                <a:rPr lang="en-US" sz="1800" dirty="0">
                  <a:solidFill>
                    <a:schemeClr val="dk1"/>
                  </a:solidFill>
                  <a:latin typeface="Arial"/>
                  <a:ea typeface="Arial"/>
                  <a:cs typeface="Arial"/>
                  <a:sym typeface="Arial"/>
                </a:rPr>
                <a:t>here </a:t>
              </a:r>
              <a:r>
                <a:rPr lang="en-US" b="1" dirty="0">
                  <a:solidFill>
                    <a:srgbClr val="CC0000"/>
                  </a:solidFill>
                  <a:latin typeface="Courier New"/>
                  <a:ea typeface="Courier New"/>
                  <a:cs typeface="Courier New"/>
                  <a:sym typeface="Courier New"/>
                </a:rPr>
                <a:t>x </a:t>
              </a:r>
              <a:r>
                <a:rPr lang="en-US" sz="1800" dirty="0">
                  <a:solidFill>
                    <a:schemeClr val="dk1"/>
                  </a:solidFill>
                  <a:latin typeface="Arial"/>
                  <a:ea typeface="Arial"/>
                  <a:cs typeface="Arial"/>
                  <a:sym typeface="Arial"/>
                </a:rPr>
                <a:t>is no. of bits in </a:t>
              </a:r>
              <a:r>
                <a:rPr lang="en-US" sz="1800" dirty="0">
                  <a:solidFill>
                    <a:srgbClr val="FF0000"/>
                  </a:solidFill>
                  <a:latin typeface="Arial"/>
                  <a:ea typeface="Arial"/>
                  <a:cs typeface="Arial"/>
                  <a:sym typeface="Arial"/>
                </a:rPr>
                <a:t>subnet portion</a:t>
              </a:r>
              <a:r>
                <a:rPr lang="en-US" sz="1800" dirty="0">
                  <a:solidFill>
                    <a:schemeClr val="dk1"/>
                  </a:solidFill>
                  <a:latin typeface="Arial"/>
                  <a:ea typeface="Arial"/>
                  <a:cs typeface="Arial"/>
                  <a:sym typeface="Arial"/>
                </a:rPr>
                <a:t> of address often referred to as </a:t>
              </a:r>
              <a:r>
                <a:rPr lang="en-US" sz="1800" b="1" dirty="0">
                  <a:solidFill>
                    <a:srgbClr val="CC0000"/>
                  </a:solidFill>
                  <a:latin typeface="Courier New"/>
                  <a:ea typeface="Courier New"/>
                  <a:cs typeface="Courier New"/>
                  <a:sym typeface="Courier New"/>
                </a:rPr>
                <a:t>prefix</a:t>
              </a:r>
              <a:endParaRPr sz="1800" dirty="0">
                <a:solidFill>
                  <a:schemeClr val="dk1"/>
                </a:solidFill>
                <a:latin typeface="Arial"/>
                <a:ea typeface="Arial"/>
                <a:cs typeface="Arial"/>
                <a:sym typeface="Arial"/>
              </a:endParaRPr>
            </a:p>
          </p:txBody>
        </p:sp>
        <p:cxnSp>
          <p:nvCxnSpPr>
            <p:cNvPr id="514" name="Google Shape;514;p25"/>
            <p:cNvCxnSpPr>
              <a:stCxn id="513" idx="1"/>
            </p:cNvCxnSpPr>
            <p:nvPr/>
          </p:nvCxnSpPr>
          <p:spPr>
            <a:xfrm flipH="1">
              <a:off x="4782143" y="3674131"/>
              <a:ext cx="1168500" cy="39300"/>
            </a:xfrm>
            <a:prstGeom prst="straightConnector1">
              <a:avLst/>
            </a:prstGeom>
            <a:solidFill>
              <a:schemeClr val="accent1"/>
            </a:solidFill>
            <a:ln w="28575" cap="flat" cmpd="sng">
              <a:solidFill>
                <a:srgbClr val="FF0000"/>
              </a:solidFill>
              <a:prstDash val="solid"/>
              <a:round/>
              <a:headEnd type="none" w="sm" len="sm"/>
              <a:tailEnd type="triangle" w="med" len="med"/>
            </a:ln>
          </p:spPr>
        </p:cxnSp>
      </p:grpSp>
      <p:sp>
        <p:nvSpPr>
          <p:cNvPr id="516" name="Google Shape;516;p25"/>
          <p:cNvSpPr txBox="1"/>
          <p:nvPr/>
        </p:nvSpPr>
        <p:spPr>
          <a:xfrm>
            <a:off x="2520959" y="5147855"/>
            <a:ext cx="149271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Network part</a:t>
            </a:r>
            <a:endParaRPr/>
          </a:p>
        </p:txBody>
      </p:sp>
      <p:sp>
        <p:nvSpPr>
          <p:cNvPr id="23"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76</a:t>
            </a:fld>
            <a:endParaRPr lang="en-US" altLang="en-US" dirty="0">
              <a:latin typeface="Tahoma" panose="020B0604030504040204" pitchFamily="34" charset="0"/>
            </a:endParaRPr>
          </a:p>
        </p:txBody>
      </p:sp>
    </p:spTree>
    <p:extLst>
      <p:ext uri="{BB962C8B-B14F-4D97-AF65-F5344CB8AC3E}">
        <p14:creationId xmlns:p14="http://schemas.microsoft.com/office/powerpoint/2010/main" val="28869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97"/>
                                        </p:tgtEl>
                                        <p:attrNameLst>
                                          <p:attrName>style.visibility</p:attrName>
                                        </p:attrNameLst>
                                      </p:cBhvr>
                                      <p:to>
                                        <p:strVal val="visible"/>
                                      </p:to>
                                    </p:set>
                                    <p:anim calcmode="lin" valueType="num">
                                      <p:cBhvr additive="base">
                                        <p:cTn id="11" dur="500"/>
                                        <p:tgtEl>
                                          <p:spTgt spid="497"/>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98"/>
                                        </p:tgtEl>
                                        <p:attrNameLst>
                                          <p:attrName>style.visibility</p:attrName>
                                        </p:attrNameLst>
                                      </p:cBhvr>
                                      <p:to>
                                        <p:strVal val="visible"/>
                                      </p:to>
                                    </p:set>
                                    <p:anim calcmode="lin" valueType="num">
                                      <p:cBhvr additive="base">
                                        <p:cTn id="16" dur="500"/>
                                        <p:tgtEl>
                                          <p:spTgt spid="4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2" name="Google Shape;522;p26"/>
          <p:cNvSpPr txBox="1">
            <a:spLocks noGrp="1"/>
          </p:cNvSpPr>
          <p:nvPr>
            <p:ph type="body" idx="1"/>
          </p:nvPr>
        </p:nvSpPr>
        <p:spPr>
          <a:xfrm>
            <a:off x="547736" y="1513549"/>
            <a:ext cx="8287623" cy="3126535"/>
          </a:xfrm>
          <a:prstGeom prst="rect">
            <a:avLst/>
          </a:prstGeom>
          <a:solidFill>
            <a:srgbClr val="00FDFF"/>
          </a:solidFill>
          <a:ln>
            <a:noFill/>
          </a:ln>
        </p:spPr>
        <p:txBody>
          <a:bodyPr spcFirstLastPara="1" wrap="square" lIns="91425" tIns="45700" rIns="91425" bIns="45700" anchor="t" anchorCtr="0">
            <a:normAutofit/>
          </a:bodyPr>
          <a:lstStyle/>
          <a:p>
            <a:pPr marL="0" lvl="0" indent="0" algn="l" rtl="0">
              <a:lnSpc>
                <a:spcPct val="85000"/>
              </a:lnSpc>
              <a:spcBef>
                <a:spcPts val="0"/>
              </a:spcBef>
              <a:spcAft>
                <a:spcPts val="0"/>
              </a:spcAft>
              <a:buSzPts val="1430"/>
              <a:buNone/>
            </a:pPr>
            <a:r>
              <a:rPr lang="en-US" sz="2200" b="1" dirty="0">
                <a:latin typeface="Arial"/>
                <a:ea typeface="Arial"/>
                <a:cs typeface="Arial"/>
                <a:sym typeface="Arial"/>
              </a:rPr>
              <a:t>Example</a:t>
            </a:r>
            <a:r>
              <a:rPr lang="en-US" sz="2200" dirty="0">
                <a:latin typeface="Arial"/>
                <a:ea typeface="Arial"/>
                <a:cs typeface="Arial"/>
                <a:sym typeface="Arial"/>
              </a:rPr>
              <a:t>:</a:t>
            </a:r>
            <a:r>
              <a:rPr lang="en-US" sz="2400" dirty="0">
                <a:latin typeface="Arial"/>
                <a:ea typeface="Arial"/>
                <a:cs typeface="Arial"/>
                <a:sym typeface="Arial"/>
              </a:rPr>
              <a:t> </a:t>
            </a:r>
            <a:endParaRPr dirty="0"/>
          </a:p>
          <a:p>
            <a:pPr marL="342900" lvl="0" indent="-285115" algn="l" rtl="0">
              <a:lnSpc>
                <a:spcPct val="85000"/>
              </a:lnSpc>
              <a:spcBef>
                <a:spcPts val="280"/>
              </a:spcBef>
              <a:spcAft>
                <a:spcPts val="0"/>
              </a:spcAft>
              <a:buSzPts val="910"/>
              <a:buNone/>
            </a:pPr>
            <a:endParaRPr sz="1400" dirty="0">
              <a:latin typeface="Arial"/>
              <a:ea typeface="Arial"/>
              <a:cs typeface="Arial"/>
              <a:sym typeface="Arial"/>
            </a:endParaRPr>
          </a:p>
          <a:p>
            <a:pPr marL="742950" lvl="1" indent="-285750" algn="l" rtl="0">
              <a:lnSpc>
                <a:spcPct val="100000"/>
              </a:lnSpc>
              <a:spcBef>
                <a:spcPts val="440"/>
              </a:spcBef>
              <a:spcAft>
                <a:spcPts val="0"/>
              </a:spcAft>
              <a:buSzPts val="2200"/>
              <a:buChar char="▪"/>
            </a:pPr>
            <a:r>
              <a:rPr lang="en-US" sz="2200" dirty="0">
                <a:latin typeface="Arial"/>
                <a:ea typeface="Arial"/>
                <a:cs typeface="Arial"/>
                <a:sym typeface="Arial"/>
              </a:rPr>
              <a:t>An organization </a:t>
            </a:r>
            <a:r>
              <a:rPr lang="en-US" sz="2200" dirty="0">
                <a:solidFill>
                  <a:srgbClr val="FF0000"/>
                </a:solidFill>
                <a:latin typeface="Arial"/>
                <a:ea typeface="Arial"/>
                <a:cs typeface="Arial"/>
                <a:sym typeface="Arial"/>
              </a:rPr>
              <a:t>needs </a:t>
            </a:r>
            <a:r>
              <a:rPr lang="en-US" sz="2200" b="1" dirty="0">
                <a:solidFill>
                  <a:srgbClr val="FF0000"/>
                </a:solidFill>
                <a:latin typeface="Arial"/>
                <a:ea typeface="Arial"/>
                <a:cs typeface="Arial"/>
                <a:sym typeface="Arial"/>
              </a:rPr>
              <a:t>2000</a:t>
            </a:r>
            <a:r>
              <a:rPr lang="en-US" sz="2200" dirty="0">
                <a:solidFill>
                  <a:srgbClr val="FF0000"/>
                </a:solidFill>
                <a:latin typeface="Arial"/>
                <a:ea typeface="Arial"/>
                <a:cs typeface="Arial"/>
                <a:sym typeface="Arial"/>
              </a:rPr>
              <a:t> hosts</a:t>
            </a:r>
            <a:r>
              <a:rPr lang="en-US" sz="2200" dirty="0">
                <a:latin typeface="Arial"/>
                <a:ea typeface="Arial"/>
                <a:cs typeface="Arial"/>
                <a:sym typeface="Arial"/>
              </a:rPr>
              <a:t> and apply for IP address</a:t>
            </a:r>
            <a:endParaRPr dirty="0"/>
          </a:p>
          <a:p>
            <a:pPr marL="742950" lvl="1" indent="-158750" algn="l" rtl="0">
              <a:lnSpc>
                <a:spcPct val="100000"/>
              </a:lnSpc>
              <a:spcBef>
                <a:spcPts val="400"/>
              </a:spcBef>
              <a:spcAft>
                <a:spcPts val="0"/>
              </a:spcAft>
              <a:buSzPts val="2000"/>
              <a:buNone/>
            </a:pPr>
            <a:endParaRPr sz="2000" dirty="0">
              <a:latin typeface="Arial"/>
              <a:ea typeface="Arial"/>
              <a:cs typeface="Arial"/>
              <a:sym typeface="Arial"/>
            </a:endParaRPr>
          </a:p>
          <a:p>
            <a:pPr marL="742950" lvl="1" indent="-285750" algn="l" rtl="0">
              <a:lnSpc>
                <a:spcPct val="100000"/>
              </a:lnSpc>
              <a:spcBef>
                <a:spcPts val="440"/>
              </a:spcBef>
              <a:spcAft>
                <a:spcPts val="0"/>
              </a:spcAft>
              <a:buSzPts val="2200"/>
              <a:buChar char="▪"/>
            </a:pPr>
            <a:r>
              <a:rPr lang="en-US" sz="2200" dirty="0">
                <a:latin typeface="Arial"/>
                <a:ea typeface="Arial"/>
                <a:cs typeface="Arial"/>
                <a:sym typeface="Arial"/>
              </a:rPr>
              <a:t>Host needed is 2000 </a:t>
            </a:r>
            <a:r>
              <a:rPr lang="en-US" sz="2200" dirty="0">
                <a:latin typeface="Arial"/>
                <a:ea typeface="Arial"/>
                <a:cs typeface="Arial"/>
                <a:sym typeface="Wingdings" panose="05000000000000000000" pitchFamily="2" charset="2"/>
              </a:rPr>
              <a:t></a:t>
            </a:r>
            <a:r>
              <a:rPr lang="en-US" sz="2200" dirty="0">
                <a:latin typeface="Arial"/>
                <a:ea typeface="Arial"/>
                <a:cs typeface="Arial"/>
                <a:sym typeface="Arial"/>
              </a:rPr>
              <a:t> </a:t>
            </a:r>
            <a:r>
              <a:rPr lang="en-US" sz="2200" dirty="0">
                <a:solidFill>
                  <a:srgbClr val="FF0000"/>
                </a:solidFill>
                <a:latin typeface="Arial"/>
                <a:ea typeface="Arial"/>
                <a:cs typeface="Arial"/>
                <a:sym typeface="Arial"/>
              </a:rPr>
              <a:t>2</a:t>
            </a:r>
            <a:r>
              <a:rPr lang="en-US" sz="2200" b="1" baseline="30000" dirty="0">
                <a:solidFill>
                  <a:srgbClr val="FF0000"/>
                </a:solidFill>
                <a:latin typeface="Arial"/>
                <a:ea typeface="Arial"/>
                <a:cs typeface="Arial"/>
                <a:sym typeface="Arial"/>
              </a:rPr>
              <a:t>11</a:t>
            </a:r>
            <a:r>
              <a:rPr lang="en-US" sz="2200" dirty="0">
                <a:solidFill>
                  <a:srgbClr val="FF0000"/>
                </a:solidFill>
                <a:latin typeface="Arial"/>
                <a:ea typeface="Arial"/>
                <a:cs typeface="Arial"/>
                <a:sym typeface="Arial"/>
              </a:rPr>
              <a:t> = 2048</a:t>
            </a:r>
            <a:r>
              <a:rPr lang="en-US" sz="2200" dirty="0">
                <a:latin typeface="Arial"/>
                <a:ea typeface="Arial"/>
                <a:cs typeface="Arial"/>
                <a:sym typeface="Arial"/>
              </a:rPr>
              <a:t>  (i.e. only extra 48)</a:t>
            </a:r>
            <a:endParaRPr dirty="0"/>
          </a:p>
          <a:p>
            <a:pPr marL="742950" lvl="1" indent="-158750" algn="l" rtl="0">
              <a:lnSpc>
                <a:spcPct val="100000"/>
              </a:lnSpc>
              <a:spcBef>
                <a:spcPts val="400"/>
              </a:spcBef>
              <a:spcAft>
                <a:spcPts val="0"/>
              </a:spcAft>
              <a:buSzPts val="2000"/>
              <a:buNone/>
            </a:pPr>
            <a:endParaRPr sz="2000" dirty="0">
              <a:latin typeface="Arial"/>
              <a:ea typeface="Arial"/>
              <a:cs typeface="Arial"/>
              <a:sym typeface="Arial"/>
            </a:endParaRPr>
          </a:p>
          <a:p>
            <a:pPr marL="742950" lvl="1" indent="-285750" algn="l" rtl="0">
              <a:lnSpc>
                <a:spcPct val="100000"/>
              </a:lnSpc>
              <a:spcBef>
                <a:spcPts val="440"/>
              </a:spcBef>
              <a:spcAft>
                <a:spcPts val="0"/>
              </a:spcAft>
              <a:buSzPts val="2200"/>
              <a:buChar char="▪"/>
            </a:pPr>
            <a:r>
              <a:rPr lang="en-US" sz="2200" dirty="0">
                <a:latin typeface="Arial"/>
                <a:ea typeface="Arial"/>
                <a:cs typeface="Arial"/>
                <a:sym typeface="Arial"/>
              </a:rPr>
              <a:t>Thus an</a:t>
            </a:r>
            <a:r>
              <a:rPr lang="en-US" sz="2200" dirty="0">
                <a:solidFill>
                  <a:srgbClr val="FF0000"/>
                </a:solidFill>
                <a:latin typeface="Arial"/>
                <a:ea typeface="Arial"/>
                <a:cs typeface="Arial"/>
                <a:sym typeface="Arial"/>
              </a:rPr>
              <a:t> IP address</a:t>
            </a:r>
            <a:r>
              <a:rPr lang="en-US" sz="2200" dirty="0">
                <a:solidFill>
                  <a:srgbClr val="FF0000"/>
                </a:solidFill>
                <a:latin typeface="Arial"/>
                <a:ea typeface="Arial"/>
                <a:cs typeface="Arial"/>
                <a:sym typeface="Wingdings" panose="05000000000000000000" pitchFamily="2" charset="2"/>
              </a:rPr>
              <a:t></a:t>
            </a:r>
            <a:r>
              <a:rPr lang="en-US" sz="2200" dirty="0">
                <a:latin typeface="Arial"/>
                <a:ea typeface="Arial"/>
                <a:cs typeface="Arial"/>
                <a:sym typeface="Arial"/>
              </a:rPr>
              <a:t> </a:t>
            </a:r>
            <a:r>
              <a:rPr lang="en-US" sz="2200" b="1" dirty="0">
                <a:solidFill>
                  <a:srgbClr val="FF0000"/>
                </a:solidFill>
                <a:latin typeface="Arial"/>
                <a:ea typeface="Arial"/>
                <a:cs typeface="Arial"/>
                <a:sym typeface="Arial"/>
              </a:rPr>
              <a:t>163.44.224.0/21 </a:t>
            </a:r>
            <a:r>
              <a:rPr lang="en-US" sz="2200" dirty="0">
                <a:latin typeface="Arial"/>
                <a:ea typeface="Arial"/>
                <a:cs typeface="Arial"/>
                <a:sym typeface="Arial"/>
              </a:rPr>
              <a:t>is given</a:t>
            </a:r>
            <a:endParaRPr sz="2200" b="1" dirty="0">
              <a:solidFill>
                <a:srgbClr val="FF0000"/>
              </a:solidFill>
              <a:latin typeface="Arial"/>
              <a:ea typeface="Arial"/>
              <a:cs typeface="Arial"/>
              <a:sym typeface="Arial"/>
            </a:endParaRPr>
          </a:p>
          <a:p>
            <a:pPr marL="1143000" lvl="2" indent="-228600" algn="l" rtl="0">
              <a:spcBef>
                <a:spcPts val="1040"/>
              </a:spcBef>
              <a:spcAft>
                <a:spcPts val="0"/>
              </a:spcAft>
              <a:buClr>
                <a:schemeClr val="dk1"/>
              </a:buClr>
              <a:buSzPts val="2200"/>
              <a:buFont typeface="Arial"/>
              <a:buChar char="•"/>
            </a:pPr>
            <a:r>
              <a:rPr lang="en-US" sz="2200" dirty="0">
                <a:latin typeface="Arial"/>
                <a:ea typeface="Arial"/>
                <a:cs typeface="Arial"/>
                <a:sym typeface="Arial"/>
              </a:rPr>
              <a:t> </a:t>
            </a:r>
            <a:r>
              <a:rPr lang="en-US" dirty="0">
                <a:latin typeface="Arial"/>
                <a:ea typeface="Arial"/>
                <a:cs typeface="Arial"/>
                <a:sym typeface="Arial"/>
              </a:rPr>
              <a:t>How we get … </a:t>
            </a:r>
            <a:r>
              <a:rPr lang="en-US" b="1" dirty="0">
                <a:latin typeface="Arial"/>
                <a:ea typeface="Arial"/>
                <a:cs typeface="Arial"/>
                <a:sym typeface="Arial"/>
              </a:rPr>
              <a:t> </a:t>
            </a:r>
            <a:r>
              <a:rPr lang="en-US" b="1" dirty="0">
                <a:solidFill>
                  <a:srgbClr val="FF0000"/>
                </a:solidFill>
                <a:latin typeface="Arial"/>
                <a:ea typeface="Arial"/>
                <a:cs typeface="Arial"/>
                <a:sym typeface="Arial"/>
              </a:rPr>
              <a:t>/21</a:t>
            </a:r>
            <a:r>
              <a:rPr lang="en-US" dirty="0">
                <a:latin typeface="Arial"/>
                <a:ea typeface="Arial"/>
                <a:cs typeface="Arial"/>
                <a:sym typeface="Arial"/>
              </a:rPr>
              <a:t> ?  </a:t>
            </a:r>
            <a:r>
              <a:rPr lang="en-US" dirty="0">
                <a:latin typeface="Arial"/>
                <a:ea typeface="Arial"/>
                <a:cs typeface="Arial"/>
                <a:sym typeface="Wingdings" panose="05000000000000000000" pitchFamily="2" charset="2"/>
              </a:rPr>
              <a:t> </a:t>
            </a:r>
            <a:r>
              <a:rPr lang="en-US" dirty="0">
                <a:solidFill>
                  <a:srgbClr val="FF0000"/>
                </a:solidFill>
                <a:latin typeface="Arial"/>
                <a:ea typeface="Arial"/>
                <a:cs typeface="Arial"/>
                <a:sym typeface="Arial"/>
              </a:rPr>
              <a:t>32 – </a:t>
            </a:r>
            <a:r>
              <a:rPr lang="en-US" b="1" dirty="0">
                <a:solidFill>
                  <a:srgbClr val="FF0000"/>
                </a:solidFill>
                <a:latin typeface="Arial"/>
                <a:ea typeface="Arial"/>
                <a:cs typeface="Arial"/>
                <a:sym typeface="Arial"/>
              </a:rPr>
              <a:t>11</a:t>
            </a:r>
            <a:r>
              <a:rPr lang="en-US" dirty="0">
                <a:solidFill>
                  <a:srgbClr val="FF0000"/>
                </a:solidFill>
                <a:latin typeface="Arial"/>
                <a:ea typeface="Arial"/>
                <a:cs typeface="Arial"/>
                <a:sym typeface="Arial"/>
              </a:rPr>
              <a:t> = 21</a:t>
            </a:r>
            <a:endParaRPr dirty="0"/>
          </a:p>
          <a:p>
            <a:pPr marL="457200" lvl="1" indent="0" algn="l" rtl="0">
              <a:lnSpc>
                <a:spcPct val="100000"/>
              </a:lnSpc>
              <a:spcBef>
                <a:spcPts val="920"/>
              </a:spcBef>
              <a:spcAft>
                <a:spcPts val="0"/>
              </a:spcAft>
              <a:buSzPts val="1600"/>
              <a:buNone/>
            </a:pPr>
            <a:endParaRPr sz="1600" b="1" dirty="0">
              <a:solidFill>
                <a:srgbClr val="FF0000"/>
              </a:solidFill>
              <a:latin typeface="Arial"/>
              <a:ea typeface="Arial"/>
              <a:cs typeface="Arial"/>
              <a:sym typeface="Arial"/>
            </a:endParaRPr>
          </a:p>
          <a:p>
            <a:pPr marL="742950" lvl="1" indent="-133350" algn="l" rtl="0">
              <a:lnSpc>
                <a:spcPct val="85000"/>
              </a:lnSpc>
              <a:spcBef>
                <a:spcPts val="1080"/>
              </a:spcBef>
              <a:spcAft>
                <a:spcPts val="0"/>
              </a:spcAft>
              <a:buSzPts val="2400"/>
              <a:buNone/>
            </a:pPr>
            <a:endParaRPr dirty="0">
              <a:latin typeface="Arial"/>
              <a:ea typeface="Arial"/>
              <a:cs typeface="Arial"/>
              <a:sym typeface="Arial"/>
            </a:endParaRPr>
          </a:p>
        </p:txBody>
      </p:sp>
      <p:grpSp>
        <p:nvGrpSpPr>
          <p:cNvPr id="523" name="Google Shape;523;p26"/>
          <p:cNvGrpSpPr/>
          <p:nvPr/>
        </p:nvGrpSpPr>
        <p:grpSpPr>
          <a:xfrm>
            <a:off x="0" y="0"/>
            <a:ext cx="9143999" cy="926011"/>
            <a:chOff x="0" y="0"/>
            <a:chExt cx="9143999" cy="926011"/>
          </a:xfrm>
        </p:grpSpPr>
        <p:pic>
          <p:nvPicPr>
            <p:cNvPr id="524" name="Google Shape;524;p26"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525" name="Google Shape;525;p26"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527" name="Google Shape;527;p26"/>
          <p:cNvSpPr txBox="1"/>
          <p:nvPr/>
        </p:nvSpPr>
        <p:spPr>
          <a:xfrm>
            <a:off x="1361105" y="937404"/>
            <a:ext cx="7772400" cy="435497"/>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400">
                <a:solidFill>
                  <a:srgbClr val="00B9FA"/>
                </a:solidFill>
                <a:latin typeface="Arial"/>
                <a:ea typeface="Arial"/>
                <a:cs typeface="Arial"/>
                <a:sym typeface="Arial"/>
              </a:rPr>
              <a:t>Classless Inter Domain Routing (CIDR)</a:t>
            </a:r>
            <a:endParaRPr/>
          </a:p>
        </p:txBody>
      </p:sp>
      <p:grpSp>
        <p:nvGrpSpPr>
          <p:cNvPr id="528" name="Google Shape;528;p26"/>
          <p:cNvGrpSpPr/>
          <p:nvPr/>
        </p:nvGrpSpPr>
        <p:grpSpPr>
          <a:xfrm>
            <a:off x="1186424" y="5780817"/>
            <a:ext cx="4140950" cy="741614"/>
            <a:chOff x="1053902" y="3269415"/>
            <a:chExt cx="4140950" cy="741615"/>
          </a:xfrm>
        </p:grpSpPr>
        <p:sp>
          <p:nvSpPr>
            <p:cNvPr id="529" name="Google Shape;529;p26"/>
            <p:cNvSpPr txBox="1"/>
            <p:nvPr/>
          </p:nvSpPr>
          <p:spPr>
            <a:xfrm>
              <a:off x="2069872" y="3580142"/>
              <a:ext cx="2160392"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Arial"/>
                  <a:ea typeface="Arial"/>
                  <a:cs typeface="Arial"/>
                  <a:sym typeface="Arial"/>
                </a:rPr>
                <a:t>Network portion</a:t>
              </a:r>
              <a:endParaRPr/>
            </a:p>
          </p:txBody>
        </p:sp>
        <p:sp>
          <p:nvSpPr>
            <p:cNvPr id="530" name="Google Shape;530;p26"/>
            <p:cNvSpPr/>
            <p:nvPr/>
          </p:nvSpPr>
          <p:spPr>
            <a:xfrm rot="5400000">
              <a:off x="2991170" y="1332146"/>
              <a:ext cx="266413" cy="4140950"/>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531" name="Google Shape;531;p26"/>
          <p:cNvGrpSpPr/>
          <p:nvPr/>
        </p:nvGrpSpPr>
        <p:grpSpPr>
          <a:xfrm>
            <a:off x="5327374" y="5811627"/>
            <a:ext cx="2176190" cy="728105"/>
            <a:chOff x="5194852" y="3300225"/>
            <a:chExt cx="2176190" cy="728105"/>
          </a:xfrm>
        </p:grpSpPr>
        <p:sp>
          <p:nvSpPr>
            <p:cNvPr id="532" name="Google Shape;532;p26"/>
            <p:cNvSpPr txBox="1"/>
            <p:nvPr/>
          </p:nvSpPr>
          <p:spPr>
            <a:xfrm>
              <a:off x="5504824" y="3597443"/>
              <a:ext cx="1866217"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rgbClr val="FF0000"/>
                  </a:solidFill>
                  <a:latin typeface="Arial"/>
                  <a:ea typeface="Arial"/>
                  <a:cs typeface="Arial"/>
                  <a:sym typeface="Arial"/>
                </a:rPr>
                <a:t>Host portion</a:t>
              </a:r>
              <a:endParaRPr/>
            </a:p>
          </p:txBody>
        </p:sp>
        <p:sp>
          <p:nvSpPr>
            <p:cNvPr id="533" name="Google Shape;533;p26"/>
            <p:cNvSpPr/>
            <p:nvPr/>
          </p:nvSpPr>
          <p:spPr>
            <a:xfrm rot="5400000">
              <a:off x="6115907" y="2379170"/>
              <a:ext cx="266415" cy="2108526"/>
            </a:xfrm>
            <a:prstGeom prst="rightBrace">
              <a:avLst>
                <a:gd name="adj1" fmla="val 8333"/>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534" name="Google Shape;534;p26"/>
          <p:cNvGrpSpPr/>
          <p:nvPr/>
        </p:nvGrpSpPr>
        <p:grpSpPr>
          <a:xfrm>
            <a:off x="1163175" y="4821607"/>
            <a:ext cx="6272726" cy="857277"/>
            <a:chOff x="1030653" y="2310205"/>
            <a:chExt cx="6272726" cy="857277"/>
          </a:xfrm>
        </p:grpSpPr>
        <p:grpSp>
          <p:nvGrpSpPr>
            <p:cNvPr id="535" name="Google Shape;535;p26"/>
            <p:cNvGrpSpPr/>
            <p:nvPr/>
          </p:nvGrpSpPr>
          <p:grpSpPr>
            <a:xfrm>
              <a:off x="1030653" y="2732805"/>
              <a:ext cx="6272726" cy="434677"/>
              <a:chOff x="1030653" y="2732805"/>
              <a:chExt cx="6272726" cy="434677"/>
            </a:xfrm>
          </p:grpSpPr>
          <p:sp>
            <p:nvSpPr>
              <p:cNvPr id="536" name="Google Shape;536;p26"/>
              <p:cNvSpPr txBox="1"/>
              <p:nvPr/>
            </p:nvSpPr>
            <p:spPr>
              <a:xfrm>
                <a:off x="1030653" y="2732805"/>
                <a:ext cx="1539103" cy="430887"/>
              </a:xfrm>
              <a:prstGeom prst="rect">
                <a:avLst/>
              </a:prstGeom>
              <a:solidFill>
                <a:srgbClr val="FF6600">
                  <a:alpha val="49803"/>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Courier New"/>
                    <a:ea typeface="Courier New"/>
                    <a:cs typeface="Courier New"/>
                    <a:sym typeface="Courier New"/>
                  </a:rPr>
                  <a:t>11111111</a:t>
                </a:r>
                <a:endParaRPr/>
              </a:p>
            </p:txBody>
          </p:sp>
          <p:sp>
            <p:nvSpPr>
              <p:cNvPr id="537" name="Google Shape;537;p26"/>
              <p:cNvSpPr txBox="1"/>
              <p:nvPr/>
            </p:nvSpPr>
            <p:spPr>
              <a:xfrm>
                <a:off x="2574758" y="2736595"/>
                <a:ext cx="1539103" cy="430887"/>
              </a:xfrm>
              <a:prstGeom prst="rect">
                <a:avLst/>
              </a:prstGeom>
              <a:solidFill>
                <a:srgbClr val="FF6600">
                  <a:alpha val="49803"/>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Courier New"/>
                    <a:ea typeface="Courier New"/>
                    <a:cs typeface="Courier New"/>
                    <a:sym typeface="Courier New"/>
                  </a:rPr>
                  <a:t>11111111</a:t>
                </a:r>
                <a:endParaRPr/>
              </a:p>
            </p:txBody>
          </p:sp>
          <p:sp>
            <p:nvSpPr>
              <p:cNvPr id="538" name="Google Shape;538;p26"/>
              <p:cNvSpPr txBox="1"/>
              <p:nvPr/>
            </p:nvSpPr>
            <p:spPr>
              <a:xfrm>
                <a:off x="4115091" y="2736595"/>
                <a:ext cx="1079761" cy="430887"/>
              </a:xfrm>
              <a:prstGeom prst="rect">
                <a:avLst/>
              </a:prstGeom>
              <a:solidFill>
                <a:srgbClr val="FF6600">
                  <a:alpha val="49803"/>
                </a:srgbClr>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dk1"/>
                    </a:solidFill>
                    <a:latin typeface="Courier New"/>
                    <a:ea typeface="Courier New"/>
                    <a:cs typeface="Courier New"/>
                    <a:sym typeface="Courier New"/>
                  </a:rPr>
                  <a:t>11111</a:t>
                </a:r>
                <a:endParaRPr/>
              </a:p>
            </p:txBody>
          </p:sp>
          <p:sp>
            <p:nvSpPr>
              <p:cNvPr id="539" name="Google Shape;539;p26"/>
              <p:cNvSpPr txBox="1"/>
              <p:nvPr/>
            </p:nvSpPr>
            <p:spPr>
              <a:xfrm>
                <a:off x="5194853" y="2736595"/>
                <a:ext cx="2108526" cy="430887"/>
              </a:xfrm>
              <a:prstGeom prst="rect">
                <a:avLst/>
              </a:prstGeom>
              <a:solidFill>
                <a:srgbClr val="CBEDDE"/>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rgbClr val="FF0000"/>
                    </a:solidFill>
                    <a:latin typeface="Courier New"/>
                    <a:ea typeface="Courier New"/>
                    <a:cs typeface="Courier New"/>
                    <a:sym typeface="Courier New"/>
                  </a:rPr>
                  <a:t>00000000000</a:t>
                </a:r>
                <a:endParaRPr/>
              </a:p>
            </p:txBody>
          </p:sp>
        </p:grpSp>
        <p:sp>
          <p:nvSpPr>
            <p:cNvPr id="540" name="Google Shape;540;p26"/>
            <p:cNvSpPr txBox="1"/>
            <p:nvPr/>
          </p:nvSpPr>
          <p:spPr>
            <a:xfrm>
              <a:off x="1459256" y="2310205"/>
              <a:ext cx="575595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	           21 bits	     	            </a:t>
              </a:r>
              <a:r>
                <a:rPr lang="en-US" sz="1800" b="1">
                  <a:solidFill>
                    <a:srgbClr val="FF0000"/>
                  </a:solidFill>
                  <a:latin typeface="Arial"/>
                  <a:ea typeface="Arial"/>
                  <a:cs typeface="Arial"/>
                  <a:sym typeface="Arial"/>
                </a:rPr>
                <a:t>11 bits</a:t>
              </a:r>
              <a:endParaRPr/>
            </a:p>
          </p:txBody>
        </p:sp>
      </p:grpSp>
      <p:sp>
        <p:nvSpPr>
          <p:cNvPr id="22"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77</a:t>
            </a:fld>
            <a:endParaRPr lang="en-US" altLang="en-US" dirty="0">
              <a:latin typeface="Tahoma" panose="020B0604030504040204" pitchFamily="34" charset="0"/>
            </a:endParaRPr>
          </a:p>
        </p:txBody>
      </p:sp>
    </p:spTree>
    <p:extLst>
      <p:ext uri="{BB962C8B-B14F-4D97-AF65-F5344CB8AC3E}">
        <p14:creationId xmlns:p14="http://schemas.microsoft.com/office/powerpoint/2010/main" val="1582279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8"/>
                                        </p:tgtEl>
                                        <p:attrNameLst>
                                          <p:attrName>style.visibility</p:attrName>
                                        </p:attrNameLst>
                                      </p:cBhvr>
                                      <p:to>
                                        <p:strVal val="visible"/>
                                      </p:to>
                                    </p:set>
                                    <p:anim calcmode="lin" valueType="num">
                                      <p:cBhvr additive="base">
                                        <p:cTn id="7" dur="500"/>
                                        <p:tgtEl>
                                          <p:spTgt spid="52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531"/>
                                        </p:tgtEl>
                                        <p:attrNameLst>
                                          <p:attrName>style.visibility</p:attrName>
                                        </p:attrNameLst>
                                      </p:cBhvr>
                                      <p:to>
                                        <p:strVal val="visible"/>
                                      </p:to>
                                    </p:set>
                                    <p:anim calcmode="lin" valueType="num">
                                      <p:cBhvr additive="base">
                                        <p:cTn id="10" dur="500"/>
                                        <p:tgtEl>
                                          <p:spTgt spid="531"/>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534"/>
                                        </p:tgtEl>
                                        <p:attrNameLst>
                                          <p:attrName>style.visibility</p:attrName>
                                        </p:attrNameLst>
                                      </p:cBhvr>
                                      <p:to>
                                        <p:strVal val="visible"/>
                                      </p:to>
                                    </p:set>
                                    <p:anim calcmode="lin" valueType="num">
                                      <p:cBhvr additive="base">
                                        <p:cTn id="13" dur="500"/>
                                        <p:tgtEl>
                                          <p:spTgt spid="5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bwMode="auto">
          <a:xfrm>
            <a:off x="135113" y="3228884"/>
            <a:ext cx="8887279" cy="864638"/>
          </a:xfrm>
          <a:prstGeom prst="rect">
            <a:avLst/>
          </a:prstGeom>
          <a:solidFill>
            <a:schemeClr val="bg1">
              <a:lumMod val="75000"/>
              <a:alpha val="7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nvGrpSpPr>
          <p:cNvPr id="6" name="Group 5"/>
          <p:cNvGrpSpPr/>
          <p:nvPr/>
        </p:nvGrpSpPr>
        <p:grpSpPr>
          <a:xfrm>
            <a:off x="0" y="0"/>
            <a:ext cx="9143999" cy="926011"/>
            <a:chOff x="0" y="0"/>
            <a:chExt cx="9143999" cy="926011"/>
          </a:xfrm>
        </p:grpSpPr>
        <p:pic>
          <p:nvPicPr>
            <p:cNvPr id="7" name="Picture 6" descr="Screen Shot 2015-04-08 at 10.38.40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1" name="Rectangle 3"/>
          <p:cNvSpPr txBox="1">
            <a:spLocks noChangeArrowheads="1"/>
          </p:cNvSpPr>
          <p:nvPr/>
        </p:nvSpPr>
        <p:spPr bwMode="auto">
          <a:xfrm>
            <a:off x="618045" y="1118918"/>
            <a:ext cx="8077200" cy="8996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a:lnSpc>
                <a:spcPct val="100000"/>
              </a:lnSpc>
              <a:buFont typeface="Wingdings" pitchFamily="2" charset="2"/>
              <a:buNone/>
            </a:pPr>
            <a:r>
              <a:rPr lang="en-US" altLang="en-US" sz="2200" i="1" dirty="0">
                <a:solidFill>
                  <a:srgbClr val="CC0000"/>
                </a:solidFill>
                <a:latin typeface="Arial"/>
                <a:ea typeface="ＭＳ Ｐゴシック" pitchFamily="34" charset="-128"/>
                <a:cs typeface="Arial"/>
              </a:rPr>
              <a:t>Q:</a:t>
            </a:r>
            <a:r>
              <a:rPr lang="en-US" altLang="en-US" sz="2200" dirty="0">
                <a:latin typeface="Arial"/>
                <a:ea typeface="ＭＳ Ｐゴシック" pitchFamily="34" charset="-128"/>
                <a:cs typeface="Arial"/>
              </a:rPr>
              <a:t> How does </a:t>
            </a:r>
            <a:r>
              <a:rPr lang="en-US" altLang="en-US" sz="2200" i="1" dirty="0">
                <a:latin typeface="Arial"/>
                <a:ea typeface="ＭＳ Ｐゴシック" pitchFamily="34" charset="-128"/>
                <a:cs typeface="Arial"/>
              </a:rPr>
              <a:t>a</a:t>
            </a:r>
            <a:r>
              <a:rPr lang="en-US" altLang="en-US" sz="2200" dirty="0">
                <a:latin typeface="Arial"/>
                <a:ea typeface="ＭＳ Ｐゴシック" pitchFamily="34" charset="-128"/>
                <a:cs typeface="Arial"/>
              </a:rPr>
              <a:t> </a:t>
            </a:r>
            <a:r>
              <a:rPr lang="en-US" altLang="en-US" sz="2200" i="1" dirty="0">
                <a:latin typeface="Arial"/>
                <a:ea typeface="ＭＳ Ｐゴシック" pitchFamily="34" charset="-128"/>
                <a:cs typeface="Arial"/>
              </a:rPr>
              <a:t>network</a:t>
            </a:r>
            <a:r>
              <a:rPr lang="en-US" altLang="en-US" sz="2200" dirty="0">
                <a:latin typeface="Arial"/>
                <a:ea typeface="ＭＳ Ｐゴシック" pitchFamily="34" charset="-128"/>
                <a:cs typeface="Arial"/>
              </a:rPr>
              <a:t> get subnets part of an IP address?</a:t>
            </a:r>
          </a:p>
          <a:p>
            <a:pPr>
              <a:lnSpc>
                <a:spcPct val="100000"/>
              </a:lnSpc>
              <a:buFont typeface="Wingdings" pitchFamily="2" charset="2"/>
              <a:buNone/>
            </a:pPr>
            <a:endParaRPr lang="en-US" altLang="en-US" sz="800" i="1" dirty="0">
              <a:solidFill>
                <a:srgbClr val="CC0000"/>
              </a:solidFill>
              <a:latin typeface="Arial"/>
              <a:ea typeface="ＭＳ Ｐゴシック" pitchFamily="34" charset="-128"/>
              <a:cs typeface="Arial"/>
            </a:endParaRPr>
          </a:p>
          <a:p>
            <a:pPr>
              <a:lnSpc>
                <a:spcPct val="100000"/>
              </a:lnSpc>
              <a:buFont typeface="Wingdings" pitchFamily="2" charset="2"/>
              <a:buNone/>
            </a:pPr>
            <a:r>
              <a:rPr lang="en-US" altLang="en-US" sz="2200" i="1" dirty="0">
                <a:solidFill>
                  <a:srgbClr val="CC0000"/>
                </a:solidFill>
                <a:latin typeface="Arial"/>
                <a:ea typeface="ＭＳ Ｐゴシック" pitchFamily="34" charset="-128"/>
                <a:cs typeface="Arial"/>
              </a:rPr>
              <a:t>A:</a:t>
            </a:r>
            <a:r>
              <a:rPr lang="en-US" altLang="en-US" sz="2200" dirty="0">
                <a:latin typeface="Arial"/>
                <a:ea typeface="ＭＳ Ｐゴシック" pitchFamily="34" charset="-128"/>
                <a:cs typeface="Arial"/>
              </a:rPr>
              <a:t> by subnetting the given IP</a:t>
            </a:r>
            <a:r>
              <a:rPr lang="en-US" altLang="ja-JP" sz="2200" dirty="0">
                <a:latin typeface="Arial"/>
                <a:ea typeface="ＭＳ Ｐゴシック" pitchFamily="34" charset="-128"/>
                <a:cs typeface="Arial"/>
              </a:rPr>
              <a:t> address</a:t>
            </a:r>
            <a:endParaRPr lang="en-US" altLang="en-US" sz="2200" dirty="0">
              <a:latin typeface="Arial"/>
              <a:ea typeface="ＭＳ Ｐゴシック" pitchFamily="34" charset="-128"/>
              <a:cs typeface="Arial"/>
            </a:endParaRPr>
          </a:p>
        </p:txBody>
      </p:sp>
      <p:sp>
        <p:nvSpPr>
          <p:cNvPr id="12" name="TextBox 11"/>
          <p:cNvSpPr txBox="1"/>
          <p:nvPr/>
        </p:nvSpPr>
        <p:spPr>
          <a:xfrm>
            <a:off x="155453" y="2291335"/>
            <a:ext cx="8005718" cy="430887"/>
          </a:xfrm>
          <a:prstGeom prst="rect">
            <a:avLst/>
          </a:prstGeom>
          <a:noFill/>
        </p:spPr>
        <p:txBody>
          <a:bodyPr wrap="none" rtlCol="0">
            <a:spAutoFit/>
          </a:bodyPr>
          <a:lstStyle/>
          <a:p>
            <a:r>
              <a:rPr lang="en-US" sz="2200" b="1" u="sng" dirty="0"/>
              <a:t>Example</a:t>
            </a:r>
            <a:r>
              <a:rPr lang="en-US" sz="2200" dirty="0"/>
              <a:t>: </a:t>
            </a:r>
            <a:r>
              <a:rPr lang="en-US" sz="2200" dirty="0">
                <a:highlight>
                  <a:srgbClr val="00FFFF"/>
                </a:highlight>
                <a:latin typeface="Courier New"/>
                <a:cs typeface="Courier New"/>
              </a:rPr>
              <a:t>200.23.16.0/20</a:t>
            </a:r>
            <a:r>
              <a:rPr lang="en-US" sz="2200" dirty="0">
                <a:latin typeface="Arial"/>
                <a:cs typeface="Arial"/>
              </a:rPr>
              <a:t> to be divided into </a:t>
            </a:r>
            <a:r>
              <a:rPr lang="en-US" sz="2200" dirty="0">
                <a:solidFill>
                  <a:srgbClr val="FF0000"/>
                </a:solidFill>
                <a:latin typeface="Arial"/>
                <a:cs typeface="Arial"/>
              </a:rPr>
              <a:t>8 subnets (2</a:t>
            </a:r>
            <a:r>
              <a:rPr lang="en-US" sz="2200" baseline="30000" dirty="0">
                <a:solidFill>
                  <a:srgbClr val="FF0000"/>
                </a:solidFill>
                <a:latin typeface="Arial"/>
                <a:cs typeface="Arial"/>
              </a:rPr>
              <a:t>3</a:t>
            </a:r>
            <a:r>
              <a:rPr lang="en-US" sz="2200" dirty="0">
                <a:solidFill>
                  <a:srgbClr val="FF0000"/>
                </a:solidFill>
                <a:latin typeface="Arial"/>
                <a:cs typeface="Arial"/>
              </a:rPr>
              <a:t>)</a:t>
            </a:r>
            <a:r>
              <a:rPr lang="en-US" sz="2200" dirty="0">
                <a:latin typeface="Arial"/>
                <a:cs typeface="Arial"/>
              </a:rPr>
              <a:t>.</a:t>
            </a:r>
          </a:p>
        </p:txBody>
      </p:sp>
      <p:sp>
        <p:nvSpPr>
          <p:cNvPr id="13" name="Rectangle 12"/>
          <p:cNvSpPr/>
          <p:nvPr/>
        </p:nvSpPr>
        <p:spPr bwMode="auto">
          <a:xfrm>
            <a:off x="279299" y="1099870"/>
            <a:ext cx="8130924" cy="540399"/>
          </a:xfrm>
          <a:prstGeom prst="rect">
            <a:avLst/>
          </a:prstGeom>
          <a:noFill/>
          <a:ln w="12700" cap="flat" cmpd="sng" algn="ctr">
            <a:solidFill>
              <a:srgbClr val="CC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nvGrpSpPr>
          <p:cNvPr id="16" name="Group 15"/>
          <p:cNvGrpSpPr/>
          <p:nvPr/>
        </p:nvGrpSpPr>
        <p:grpSpPr>
          <a:xfrm>
            <a:off x="125355" y="3232674"/>
            <a:ext cx="9228960" cy="769441"/>
            <a:chOff x="246963" y="3354264"/>
            <a:chExt cx="9228960" cy="769441"/>
          </a:xfrm>
        </p:grpSpPr>
        <p:sp>
          <p:nvSpPr>
            <p:cNvPr id="14" name="TextBox 13"/>
            <p:cNvSpPr txBox="1"/>
            <p:nvPr/>
          </p:nvSpPr>
          <p:spPr>
            <a:xfrm>
              <a:off x="246963" y="3354264"/>
              <a:ext cx="3000579" cy="769441"/>
            </a:xfrm>
            <a:prstGeom prst="rect">
              <a:avLst/>
            </a:prstGeom>
            <a:noFill/>
          </p:spPr>
          <p:txBody>
            <a:bodyPr wrap="none" rtlCol="0">
              <a:spAutoFit/>
            </a:bodyPr>
            <a:lstStyle/>
            <a:p>
              <a:r>
                <a:rPr lang="en-US" sz="2200" dirty="0"/>
                <a:t>ISP’s block: </a:t>
              </a:r>
            </a:p>
            <a:p>
              <a:r>
                <a:rPr lang="en-US" sz="2200" dirty="0">
                  <a:highlight>
                    <a:srgbClr val="00FFFF"/>
                  </a:highlight>
                  <a:latin typeface="Courier New"/>
                  <a:cs typeface="Courier New"/>
                </a:rPr>
                <a:t>200.23.16.0</a:t>
              </a:r>
              <a:r>
                <a:rPr lang="en-US" sz="2200" b="1" dirty="0">
                  <a:highlight>
                    <a:srgbClr val="00FFFF"/>
                  </a:highlight>
                  <a:latin typeface="Courier New"/>
                  <a:cs typeface="Courier New"/>
                </a:rPr>
                <a:t>/20</a:t>
              </a:r>
              <a:r>
                <a:rPr lang="en-US" sz="2200" dirty="0">
                  <a:latin typeface="Courier New"/>
                  <a:cs typeface="Courier New"/>
                </a:rPr>
                <a:t> </a:t>
              </a:r>
              <a:r>
                <a:rPr lang="en-US" sz="2200" dirty="0">
                  <a:latin typeface="Courier New"/>
                  <a:cs typeface="Courier New"/>
                  <a:sym typeface="Wingdings"/>
                </a:rPr>
                <a:t></a:t>
              </a:r>
              <a:endParaRPr lang="en-US" sz="2200" dirty="0">
                <a:latin typeface="Courier New"/>
                <a:cs typeface="Courier New"/>
              </a:endParaRPr>
            </a:p>
          </p:txBody>
        </p:sp>
        <p:sp>
          <p:nvSpPr>
            <p:cNvPr id="15" name="TextBox 14"/>
            <p:cNvSpPr txBox="1"/>
            <p:nvPr/>
          </p:nvSpPr>
          <p:spPr>
            <a:xfrm>
              <a:off x="3196289" y="3682295"/>
              <a:ext cx="6279634" cy="430887"/>
            </a:xfrm>
            <a:prstGeom prst="rect">
              <a:avLst/>
            </a:prstGeom>
            <a:noFill/>
          </p:spPr>
          <p:txBody>
            <a:bodyPr wrap="none" rtlCol="0">
              <a:spAutoFit/>
            </a:bodyPr>
            <a:lstStyle/>
            <a:p>
              <a:r>
                <a:rPr lang="en-US" sz="2200" b="1" dirty="0">
                  <a:solidFill>
                    <a:srgbClr val="FF0000"/>
                  </a:solidFill>
                  <a:latin typeface="Courier New"/>
                  <a:cs typeface="Courier New"/>
                </a:rPr>
                <a:t>11001000.00010111.0001</a:t>
              </a:r>
              <a:r>
                <a:rPr lang="en-US" sz="2200" dirty="0">
                  <a:latin typeface="Courier New"/>
                  <a:cs typeface="Courier New"/>
                </a:rPr>
                <a:t>0000.00000000</a:t>
              </a:r>
            </a:p>
          </p:txBody>
        </p:sp>
      </p:grpSp>
      <p:grpSp>
        <p:nvGrpSpPr>
          <p:cNvPr id="17" name="Group 16"/>
          <p:cNvGrpSpPr/>
          <p:nvPr/>
        </p:nvGrpSpPr>
        <p:grpSpPr>
          <a:xfrm>
            <a:off x="129123" y="4101104"/>
            <a:ext cx="9228960" cy="769441"/>
            <a:chOff x="246963" y="3354264"/>
            <a:chExt cx="9228960" cy="769441"/>
          </a:xfrm>
        </p:grpSpPr>
        <p:sp>
          <p:nvSpPr>
            <p:cNvPr id="18" name="TextBox 17"/>
            <p:cNvSpPr txBox="1"/>
            <p:nvPr/>
          </p:nvSpPr>
          <p:spPr>
            <a:xfrm>
              <a:off x="246963" y="3354264"/>
              <a:ext cx="3000579" cy="769441"/>
            </a:xfrm>
            <a:prstGeom prst="rect">
              <a:avLst/>
            </a:prstGeom>
            <a:noFill/>
          </p:spPr>
          <p:txBody>
            <a:bodyPr wrap="none" rtlCol="0">
              <a:spAutoFit/>
            </a:bodyPr>
            <a:lstStyle/>
            <a:p>
              <a:r>
                <a:rPr lang="en-US" sz="2200" dirty="0"/>
                <a:t>Subnet </a:t>
              </a:r>
              <a:r>
                <a:rPr lang="en-US" sz="2200" b="1" dirty="0"/>
                <a:t>0</a:t>
              </a:r>
              <a:r>
                <a:rPr lang="en-US" sz="2200" dirty="0"/>
                <a:t>: </a:t>
              </a:r>
            </a:p>
            <a:p>
              <a:r>
                <a:rPr lang="en-US" sz="2200" dirty="0">
                  <a:highlight>
                    <a:srgbClr val="00FF00"/>
                  </a:highlight>
                  <a:latin typeface="Courier New"/>
                  <a:cs typeface="Courier New"/>
                </a:rPr>
                <a:t>200.23.16.0</a:t>
              </a:r>
              <a:r>
                <a:rPr lang="en-US" sz="2200" b="1" dirty="0">
                  <a:highlight>
                    <a:srgbClr val="00FF00"/>
                  </a:highlight>
                  <a:latin typeface="Courier New"/>
                  <a:cs typeface="Courier New"/>
                </a:rPr>
                <a:t>/23</a:t>
              </a:r>
              <a:r>
                <a:rPr lang="en-US" sz="2200" dirty="0">
                  <a:latin typeface="Courier New"/>
                  <a:cs typeface="Courier New"/>
                </a:rPr>
                <a:t> </a:t>
              </a:r>
              <a:r>
                <a:rPr lang="en-US" sz="2200" dirty="0">
                  <a:latin typeface="Courier New"/>
                  <a:cs typeface="Courier New"/>
                  <a:sym typeface="Wingdings"/>
                </a:rPr>
                <a:t></a:t>
              </a:r>
              <a:endParaRPr lang="en-US" sz="2200" dirty="0">
                <a:latin typeface="Courier New"/>
                <a:cs typeface="Courier New"/>
              </a:endParaRPr>
            </a:p>
          </p:txBody>
        </p:sp>
        <p:sp>
          <p:nvSpPr>
            <p:cNvPr id="19" name="TextBox 18"/>
            <p:cNvSpPr txBox="1"/>
            <p:nvPr/>
          </p:nvSpPr>
          <p:spPr>
            <a:xfrm>
              <a:off x="3196289" y="3682295"/>
              <a:ext cx="6279634" cy="430887"/>
            </a:xfrm>
            <a:prstGeom prst="rect">
              <a:avLst/>
            </a:prstGeom>
            <a:noFill/>
          </p:spPr>
          <p:txBody>
            <a:bodyPr wrap="none" rtlCol="0">
              <a:spAutoFit/>
            </a:bodyPr>
            <a:lstStyle/>
            <a:p>
              <a:r>
                <a:rPr lang="en-US" sz="2200" b="1" dirty="0">
                  <a:solidFill>
                    <a:srgbClr val="0070C0"/>
                  </a:solidFill>
                  <a:latin typeface="Courier New"/>
                  <a:cs typeface="Courier New"/>
                </a:rPr>
                <a:t>11001000.00010111.0001</a:t>
              </a:r>
              <a:r>
                <a:rPr lang="en-US" sz="2200" b="1" u="sng" dirty="0">
                  <a:solidFill>
                    <a:srgbClr val="0070C0"/>
                  </a:solidFill>
                  <a:latin typeface="Courier New"/>
                  <a:cs typeface="Courier New"/>
                </a:rPr>
                <a:t>000</a:t>
              </a:r>
              <a:r>
                <a:rPr lang="en-US" sz="2200" dirty="0">
                  <a:latin typeface="Courier New"/>
                  <a:cs typeface="Courier New"/>
                </a:rPr>
                <a:t>0.00000000</a:t>
              </a:r>
            </a:p>
          </p:txBody>
        </p:sp>
      </p:grpSp>
      <p:grpSp>
        <p:nvGrpSpPr>
          <p:cNvPr id="20" name="Group 19"/>
          <p:cNvGrpSpPr/>
          <p:nvPr/>
        </p:nvGrpSpPr>
        <p:grpSpPr>
          <a:xfrm>
            <a:off x="118530" y="4901983"/>
            <a:ext cx="9228960" cy="769441"/>
            <a:chOff x="246963" y="3354264"/>
            <a:chExt cx="9228960" cy="769441"/>
          </a:xfrm>
        </p:grpSpPr>
        <p:sp>
          <p:nvSpPr>
            <p:cNvPr id="21" name="TextBox 20"/>
            <p:cNvSpPr txBox="1"/>
            <p:nvPr/>
          </p:nvSpPr>
          <p:spPr>
            <a:xfrm>
              <a:off x="246963" y="3354264"/>
              <a:ext cx="3000579" cy="769441"/>
            </a:xfrm>
            <a:prstGeom prst="rect">
              <a:avLst/>
            </a:prstGeom>
            <a:noFill/>
          </p:spPr>
          <p:txBody>
            <a:bodyPr wrap="none" rtlCol="0">
              <a:spAutoFit/>
            </a:bodyPr>
            <a:lstStyle/>
            <a:p>
              <a:r>
                <a:rPr lang="en-US" sz="2200" dirty="0"/>
                <a:t>Subnet </a:t>
              </a:r>
              <a:r>
                <a:rPr lang="en-US" sz="2200" b="1" dirty="0"/>
                <a:t>1</a:t>
              </a:r>
              <a:r>
                <a:rPr lang="en-US" sz="2200" dirty="0"/>
                <a:t>: </a:t>
              </a:r>
            </a:p>
            <a:p>
              <a:r>
                <a:rPr lang="en-US" sz="2200" dirty="0">
                  <a:highlight>
                    <a:srgbClr val="7FF21A"/>
                  </a:highlight>
                  <a:latin typeface="Courier New"/>
                  <a:cs typeface="Courier New"/>
                </a:rPr>
                <a:t>200.23.18.0</a:t>
              </a:r>
              <a:r>
                <a:rPr lang="en-US" sz="2200" b="1" dirty="0">
                  <a:highlight>
                    <a:srgbClr val="7FF21A"/>
                  </a:highlight>
                  <a:latin typeface="Courier New"/>
                  <a:cs typeface="Courier New"/>
                </a:rPr>
                <a:t>/23</a:t>
              </a:r>
              <a:r>
                <a:rPr lang="en-US" sz="2200" dirty="0">
                  <a:latin typeface="Courier New"/>
                  <a:cs typeface="Courier New"/>
                </a:rPr>
                <a:t> </a:t>
              </a:r>
              <a:r>
                <a:rPr lang="en-US" sz="2200" dirty="0">
                  <a:latin typeface="Courier New"/>
                  <a:cs typeface="Courier New"/>
                  <a:sym typeface="Wingdings"/>
                </a:rPr>
                <a:t></a:t>
              </a:r>
              <a:endParaRPr lang="en-US" sz="2200" dirty="0">
                <a:latin typeface="Courier New"/>
                <a:cs typeface="Courier New"/>
              </a:endParaRPr>
            </a:p>
          </p:txBody>
        </p:sp>
        <p:sp>
          <p:nvSpPr>
            <p:cNvPr id="22" name="TextBox 21"/>
            <p:cNvSpPr txBox="1"/>
            <p:nvPr/>
          </p:nvSpPr>
          <p:spPr>
            <a:xfrm>
              <a:off x="3196289" y="3682295"/>
              <a:ext cx="6279634" cy="430887"/>
            </a:xfrm>
            <a:prstGeom prst="rect">
              <a:avLst/>
            </a:prstGeom>
            <a:noFill/>
          </p:spPr>
          <p:txBody>
            <a:bodyPr wrap="none" rtlCol="0">
              <a:spAutoFit/>
            </a:bodyPr>
            <a:lstStyle/>
            <a:p>
              <a:r>
                <a:rPr lang="en-US" sz="2200" b="1" dirty="0">
                  <a:solidFill>
                    <a:srgbClr val="0070C0"/>
                  </a:solidFill>
                  <a:latin typeface="Courier New"/>
                  <a:cs typeface="Courier New"/>
                </a:rPr>
                <a:t>11001000.00010111.0001</a:t>
              </a:r>
              <a:r>
                <a:rPr lang="en-US" sz="2200" b="1" u="sng" dirty="0">
                  <a:solidFill>
                    <a:srgbClr val="0070C0"/>
                  </a:solidFill>
                  <a:latin typeface="Courier New"/>
                  <a:cs typeface="Courier New"/>
                </a:rPr>
                <a:t>001</a:t>
              </a:r>
              <a:r>
                <a:rPr lang="en-US" sz="2200" dirty="0">
                  <a:latin typeface="Courier New"/>
                  <a:cs typeface="Courier New"/>
                </a:rPr>
                <a:t>0.00000000</a:t>
              </a:r>
            </a:p>
          </p:txBody>
        </p:sp>
      </p:grpSp>
      <p:grpSp>
        <p:nvGrpSpPr>
          <p:cNvPr id="23" name="Group 22"/>
          <p:cNvGrpSpPr/>
          <p:nvPr/>
        </p:nvGrpSpPr>
        <p:grpSpPr>
          <a:xfrm>
            <a:off x="132042" y="5652613"/>
            <a:ext cx="9197177" cy="1117715"/>
            <a:chOff x="246963" y="3344545"/>
            <a:chExt cx="9197177" cy="1117715"/>
          </a:xfrm>
        </p:grpSpPr>
        <p:sp>
          <p:nvSpPr>
            <p:cNvPr id="24" name="TextBox 23"/>
            <p:cNvSpPr txBox="1"/>
            <p:nvPr/>
          </p:nvSpPr>
          <p:spPr>
            <a:xfrm>
              <a:off x="246963" y="3354264"/>
              <a:ext cx="3056701" cy="1107996"/>
            </a:xfrm>
            <a:prstGeom prst="rect">
              <a:avLst/>
            </a:prstGeom>
            <a:noFill/>
          </p:spPr>
          <p:txBody>
            <a:bodyPr wrap="square" rtlCol="0">
              <a:spAutoFit/>
            </a:bodyPr>
            <a:lstStyle/>
            <a:p>
              <a:r>
                <a:rPr lang="en-US" sz="2200" dirty="0"/>
                <a:t>	…</a:t>
              </a:r>
            </a:p>
            <a:p>
              <a:r>
                <a:rPr lang="en-US" sz="2200" dirty="0"/>
                <a:t>Subnet </a:t>
              </a:r>
              <a:r>
                <a:rPr lang="en-US" sz="2200" b="1" dirty="0"/>
                <a:t>7</a:t>
              </a:r>
              <a:r>
                <a:rPr lang="en-US" sz="2200" dirty="0"/>
                <a:t>: </a:t>
              </a:r>
            </a:p>
            <a:p>
              <a:r>
                <a:rPr lang="en-US" sz="2200" dirty="0">
                  <a:latin typeface="Courier New"/>
                  <a:cs typeface="Courier New"/>
                </a:rPr>
                <a:t>200.23.30.0</a:t>
              </a:r>
              <a:r>
                <a:rPr lang="en-US" sz="2200" b="1" dirty="0">
                  <a:latin typeface="Courier New"/>
                  <a:cs typeface="Courier New"/>
                </a:rPr>
                <a:t>/23</a:t>
              </a:r>
              <a:r>
                <a:rPr lang="en-US" sz="2200" dirty="0">
                  <a:latin typeface="Courier New"/>
                  <a:cs typeface="Courier New"/>
                </a:rPr>
                <a:t> </a:t>
              </a:r>
              <a:r>
                <a:rPr lang="en-US" sz="2200" dirty="0">
                  <a:latin typeface="Courier New"/>
                  <a:cs typeface="Courier New"/>
                  <a:sym typeface="Wingdings"/>
                </a:rPr>
                <a:t></a:t>
              </a:r>
              <a:endParaRPr lang="en-US" sz="2200" dirty="0">
                <a:latin typeface="Courier New"/>
                <a:cs typeface="Courier New"/>
              </a:endParaRPr>
            </a:p>
          </p:txBody>
        </p:sp>
        <p:sp>
          <p:nvSpPr>
            <p:cNvPr id="25" name="TextBox 24"/>
            <p:cNvSpPr txBox="1"/>
            <p:nvPr/>
          </p:nvSpPr>
          <p:spPr>
            <a:xfrm>
              <a:off x="3164506" y="3344545"/>
              <a:ext cx="6279634" cy="1107996"/>
            </a:xfrm>
            <a:prstGeom prst="rect">
              <a:avLst/>
            </a:prstGeom>
            <a:noFill/>
          </p:spPr>
          <p:txBody>
            <a:bodyPr wrap="none" rtlCol="0">
              <a:spAutoFit/>
            </a:bodyPr>
            <a:lstStyle/>
            <a:p>
              <a:pPr algn="ctr"/>
              <a:r>
                <a:rPr lang="en-US" sz="2200" dirty="0">
                  <a:latin typeface="Courier New"/>
                  <a:cs typeface="Courier New"/>
                </a:rPr>
                <a:t>...</a:t>
              </a:r>
            </a:p>
            <a:p>
              <a:pPr algn="ctr"/>
              <a:endParaRPr lang="en-US" sz="2200" dirty="0">
                <a:solidFill>
                  <a:srgbClr val="FF0000"/>
                </a:solidFill>
                <a:latin typeface="Courier New"/>
                <a:cs typeface="Courier New"/>
              </a:endParaRPr>
            </a:p>
            <a:p>
              <a:r>
                <a:rPr lang="en-US" sz="2200" b="1" dirty="0">
                  <a:solidFill>
                    <a:srgbClr val="0070C0"/>
                  </a:solidFill>
                  <a:latin typeface="Courier New"/>
                  <a:cs typeface="Courier New"/>
                </a:rPr>
                <a:t>11001000.00010111.0001</a:t>
              </a:r>
              <a:r>
                <a:rPr lang="en-US" sz="2200" b="1" u="sng" dirty="0">
                  <a:solidFill>
                    <a:srgbClr val="0070C0"/>
                  </a:solidFill>
                  <a:latin typeface="Courier New"/>
                  <a:cs typeface="Courier New"/>
                </a:rPr>
                <a:t>111</a:t>
              </a:r>
              <a:r>
                <a:rPr lang="en-US" sz="2200" dirty="0">
                  <a:latin typeface="Courier New"/>
                  <a:cs typeface="Courier New"/>
                </a:rPr>
                <a:t>0.00000000</a:t>
              </a:r>
            </a:p>
          </p:txBody>
        </p:sp>
      </p:grpSp>
      <p:cxnSp>
        <p:nvCxnSpPr>
          <p:cNvPr id="3" name="Straight Connector 2"/>
          <p:cNvCxnSpPr>
            <a:cxnSpLocks/>
          </p:cNvCxnSpPr>
          <p:nvPr/>
        </p:nvCxnSpPr>
        <p:spPr bwMode="auto">
          <a:xfrm>
            <a:off x="6864596" y="3215374"/>
            <a:ext cx="0" cy="3642626"/>
          </a:xfrm>
          <a:prstGeom prst="line">
            <a:avLst/>
          </a:prstGeom>
          <a:solidFill>
            <a:schemeClr val="accent1"/>
          </a:solidFill>
          <a:ln w="19050" cap="flat" cmpd="sng" algn="ctr">
            <a:solidFill>
              <a:srgbClr val="FF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7" name="Straight Connector 26"/>
          <p:cNvCxnSpPr/>
          <p:nvPr/>
        </p:nvCxnSpPr>
        <p:spPr bwMode="auto">
          <a:xfrm flipH="1">
            <a:off x="7356764" y="4128814"/>
            <a:ext cx="19860" cy="2729186"/>
          </a:xfrm>
          <a:prstGeom prst="line">
            <a:avLst/>
          </a:prstGeom>
          <a:solidFill>
            <a:schemeClr val="accent1"/>
          </a:solidFill>
          <a:ln w="19050" cap="flat" cmpd="sng" algn="ctr">
            <a:solidFill>
              <a:srgbClr val="0070C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8" name="Rectangle 2">
            <a:extLst>
              <a:ext uri="{FF2B5EF4-FFF2-40B4-BE49-F238E27FC236}">
                <a16:creationId xmlns:a16="http://schemas.microsoft.com/office/drawing/2014/main" id="{982451B4-9707-2B43-A44B-B3F3BD52C688}"/>
              </a:ext>
            </a:extLst>
          </p:cNvPr>
          <p:cNvSpPr txBox="1">
            <a:spLocks noChangeArrowheads="1"/>
          </p:cNvSpPr>
          <p:nvPr/>
        </p:nvSpPr>
        <p:spPr bwMode="auto">
          <a:xfrm>
            <a:off x="2806701" y="140786"/>
            <a:ext cx="6337300"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altLang="ja-JP" sz="2800" dirty="0">
                <a:solidFill>
                  <a:schemeClr val="bg1"/>
                </a:solidFill>
                <a:latin typeface="Arial"/>
                <a:ea typeface="ＭＳ Ｐゴシック" pitchFamily="34" charset="-128"/>
                <a:cs typeface="Arial"/>
              </a:rPr>
              <a:t>Subnetting: To subnet a small network</a:t>
            </a:r>
          </a:p>
        </p:txBody>
      </p:sp>
      <p:grpSp>
        <p:nvGrpSpPr>
          <p:cNvPr id="5" name="Group 4">
            <a:extLst>
              <a:ext uri="{FF2B5EF4-FFF2-40B4-BE49-F238E27FC236}">
                <a16:creationId xmlns:a16="http://schemas.microsoft.com/office/drawing/2014/main" id="{0C2E861C-109D-F74C-B69D-03945CC4A6C4}"/>
              </a:ext>
            </a:extLst>
          </p:cNvPr>
          <p:cNvGrpSpPr/>
          <p:nvPr/>
        </p:nvGrpSpPr>
        <p:grpSpPr>
          <a:xfrm>
            <a:off x="4181664" y="3176959"/>
            <a:ext cx="4814978" cy="409756"/>
            <a:chOff x="4181664" y="3026486"/>
            <a:chExt cx="4814978" cy="409756"/>
          </a:xfrm>
        </p:grpSpPr>
        <p:sp>
          <p:nvSpPr>
            <p:cNvPr id="30" name="TextBox 29">
              <a:extLst>
                <a:ext uri="{FF2B5EF4-FFF2-40B4-BE49-F238E27FC236}">
                  <a16:creationId xmlns:a16="http://schemas.microsoft.com/office/drawing/2014/main" id="{DF35AB49-9E8E-CE4E-AA12-297779106DCD}"/>
                </a:ext>
              </a:extLst>
            </p:cNvPr>
            <p:cNvSpPr txBox="1"/>
            <p:nvPr/>
          </p:nvSpPr>
          <p:spPr>
            <a:xfrm>
              <a:off x="7430188" y="3026486"/>
              <a:ext cx="1566454" cy="400110"/>
            </a:xfrm>
            <a:prstGeom prst="rect">
              <a:avLst/>
            </a:prstGeom>
            <a:solidFill>
              <a:schemeClr val="bg1">
                <a:lumMod val="75000"/>
              </a:schemeClr>
            </a:solidFill>
          </p:spPr>
          <p:txBody>
            <a:bodyPr wrap="none" rtlCol="0">
              <a:spAutoFit/>
            </a:bodyPr>
            <a:lstStyle/>
            <a:p>
              <a:r>
                <a:rPr lang="en-US" sz="2000" dirty="0"/>
                <a:t>Host portion</a:t>
              </a:r>
            </a:p>
          </p:txBody>
        </p:sp>
        <p:sp>
          <p:nvSpPr>
            <p:cNvPr id="29" name="TextBox 28">
              <a:extLst>
                <a:ext uri="{FF2B5EF4-FFF2-40B4-BE49-F238E27FC236}">
                  <a16:creationId xmlns:a16="http://schemas.microsoft.com/office/drawing/2014/main" id="{8951CDED-5A3C-BB4D-9BE6-FC9B947BE584}"/>
                </a:ext>
              </a:extLst>
            </p:cNvPr>
            <p:cNvSpPr txBox="1"/>
            <p:nvPr/>
          </p:nvSpPr>
          <p:spPr>
            <a:xfrm>
              <a:off x="4181664" y="3036132"/>
              <a:ext cx="1980029" cy="400110"/>
            </a:xfrm>
            <a:prstGeom prst="rect">
              <a:avLst/>
            </a:prstGeom>
            <a:solidFill>
              <a:schemeClr val="bg1">
                <a:lumMod val="75000"/>
              </a:schemeClr>
            </a:solidFill>
          </p:spPr>
          <p:txBody>
            <a:bodyPr wrap="none" rtlCol="0">
              <a:spAutoFit/>
            </a:bodyPr>
            <a:lstStyle/>
            <a:p>
              <a:r>
                <a:rPr lang="en-US" sz="2000" dirty="0">
                  <a:solidFill>
                    <a:srgbClr val="FF0000"/>
                  </a:solidFill>
                </a:rPr>
                <a:t>Network portion</a:t>
              </a:r>
            </a:p>
          </p:txBody>
        </p:sp>
      </p:grpSp>
      <p:sp>
        <p:nvSpPr>
          <p:cNvPr id="2" name="Rounded Rectangular Callout 1">
            <a:extLst>
              <a:ext uri="{FF2B5EF4-FFF2-40B4-BE49-F238E27FC236}">
                <a16:creationId xmlns:a16="http://schemas.microsoft.com/office/drawing/2014/main" id="{E1CFCE67-B1D0-254C-ACAE-DDD6A8BB7B48}"/>
              </a:ext>
            </a:extLst>
          </p:cNvPr>
          <p:cNvSpPr/>
          <p:nvPr/>
        </p:nvSpPr>
        <p:spPr bwMode="auto">
          <a:xfrm>
            <a:off x="6950098" y="2615878"/>
            <a:ext cx="2193902" cy="856527"/>
          </a:xfrm>
          <a:prstGeom prst="wedgeRoundRectCallout">
            <a:avLst>
              <a:gd name="adj1" fmla="val -44205"/>
              <a:gd name="adj2" fmla="val 147073"/>
              <a:gd name="adj3" fmla="val 16667"/>
            </a:avLst>
          </a:prstGeom>
          <a:solidFill>
            <a:srgbClr val="FFFF00">
              <a:alpha val="99000"/>
            </a:srgbClr>
          </a:solidFill>
          <a:ln w="28575" cap="flat" cmpd="sng" algn="ctr">
            <a:solidFill>
              <a:srgbClr val="53A9D6"/>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ms-MY" sz="1600" b="0" i="0" u="none" strike="noStrike" cap="none" normalizeH="0" baseline="0">
                <a:ln>
                  <a:noFill/>
                </a:ln>
                <a:solidFill>
                  <a:srgbClr val="FF0000"/>
                </a:solidFill>
                <a:effectLst/>
                <a:latin typeface="Arial" charset="0"/>
              </a:rPr>
              <a:t>need to borrow </a:t>
            </a:r>
            <a:r>
              <a:rPr kumimoji="0" lang="ms-MY" sz="1600" b="1" i="0" u="none" strike="noStrike" cap="none" normalizeH="0" baseline="0">
                <a:ln>
                  <a:noFill/>
                </a:ln>
                <a:solidFill>
                  <a:srgbClr val="FF0000"/>
                </a:solidFill>
                <a:effectLst/>
                <a:latin typeface="Arial" charset="0"/>
              </a:rPr>
              <a:t>3 bits</a:t>
            </a:r>
          </a:p>
          <a:p>
            <a:pPr marL="0" marR="0" indent="0" algn="l" defTabSz="914400" rtl="0" eaLnBrk="0" fontAlgn="base" latinLnBrk="0" hangingPunct="0">
              <a:lnSpc>
                <a:spcPct val="100000"/>
              </a:lnSpc>
              <a:spcBef>
                <a:spcPct val="0"/>
              </a:spcBef>
              <a:spcAft>
                <a:spcPct val="0"/>
              </a:spcAft>
              <a:buClrTx/>
              <a:buSzTx/>
              <a:buFontTx/>
              <a:buNone/>
              <a:tabLst/>
            </a:pPr>
            <a:r>
              <a:rPr lang="ms-MY" sz="1600">
                <a:solidFill>
                  <a:srgbClr val="FF0000"/>
                </a:solidFill>
              </a:rPr>
              <a:t>from host portion</a:t>
            </a:r>
            <a:r>
              <a:rPr kumimoji="0" lang="ms-MY" sz="1600" b="0" i="0" u="none" strike="noStrike" cap="none" normalizeH="0" baseline="0">
                <a:ln>
                  <a:noFill/>
                </a:ln>
                <a:solidFill>
                  <a:srgbClr val="FF0000"/>
                </a:solidFill>
                <a:effectLst/>
                <a:latin typeface="Arial" charset="0"/>
              </a:rPr>
              <a:t> </a:t>
            </a:r>
          </a:p>
          <a:p>
            <a:pPr marL="0" marR="0" indent="0" algn="l" defTabSz="914400" rtl="0" eaLnBrk="0" fontAlgn="base" latinLnBrk="0" hangingPunct="0">
              <a:lnSpc>
                <a:spcPct val="100000"/>
              </a:lnSpc>
              <a:spcBef>
                <a:spcPct val="0"/>
              </a:spcBef>
              <a:spcAft>
                <a:spcPct val="0"/>
              </a:spcAft>
              <a:buClrTx/>
              <a:buSzTx/>
              <a:buFontTx/>
              <a:buNone/>
              <a:tabLst/>
            </a:pPr>
            <a:r>
              <a:rPr kumimoji="0" lang="ms-MY" sz="1600" b="0" i="0" u="none" strike="noStrike" cap="none" normalizeH="0" baseline="0">
                <a:ln>
                  <a:noFill/>
                </a:ln>
                <a:solidFill>
                  <a:srgbClr val="FF0000"/>
                </a:solidFill>
                <a:effectLst/>
                <a:latin typeface="Arial" charset="0"/>
              </a:rPr>
              <a:t>to define </a:t>
            </a:r>
            <a:r>
              <a:rPr kumimoji="0" lang="ms-MY" sz="1600" b="1" i="0" u="none" strike="noStrike" cap="none" normalizeH="0" baseline="0">
                <a:ln>
                  <a:noFill/>
                </a:ln>
                <a:solidFill>
                  <a:srgbClr val="FF0000"/>
                </a:solidFill>
                <a:effectLst/>
                <a:latin typeface="Arial" charset="0"/>
              </a:rPr>
              <a:t>8 subnets</a:t>
            </a:r>
          </a:p>
        </p:txBody>
      </p:sp>
      <p:sp>
        <p:nvSpPr>
          <p:cNvPr id="31"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595705" y="5959668"/>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78</a:t>
            </a:fld>
            <a:endParaRPr lang="en-US" altLang="en-US" dirty="0">
              <a:latin typeface="Tahoma" panose="020B0604030504040204" pitchFamily="34" charset="0"/>
            </a:endParaRPr>
          </a:p>
        </p:txBody>
      </p:sp>
    </p:spTree>
    <p:extLst>
      <p:ext uri="{BB962C8B-B14F-4D97-AF65-F5344CB8AC3E}">
        <p14:creationId xmlns:p14="http://schemas.microsoft.com/office/powerpoint/2010/main" val="124772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2" grpId="0"/>
      <p:bldP spid="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28"/>
          <p:cNvSpPr txBox="1">
            <a:spLocks noGrp="1"/>
          </p:cNvSpPr>
          <p:nvPr>
            <p:ph type="body" idx="1"/>
          </p:nvPr>
        </p:nvSpPr>
        <p:spPr>
          <a:xfrm>
            <a:off x="544974" y="1195086"/>
            <a:ext cx="8319625" cy="5040614"/>
          </a:xfrm>
          <a:prstGeom prst="rect">
            <a:avLst/>
          </a:prstGeom>
          <a:noFill/>
          <a:ln>
            <a:noFill/>
          </a:ln>
        </p:spPr>
        <p:txBody>
          <a:bodyPr spcFirstLastPara="1" wrap="square" lIns="91425" tIns="45700" rIns="91425" bIns="45700" anchor="t" anchorCtr="0">
            <a:noAutofit/>
          </a:bodyPr>
          <a:lstStyle/>
          <a:p>
            <a:pPr marL="342900" lvl="0" indent="-342900" algn="l" rtl="0">
              <a:lnSpc>
                <a:spcPct val="135000"/>
              </a:lnSpc>
              <a:spcBef>
                <a:spcPts val="0"/>
              </a:spcBef>
              <a:spcAft>
                <a:spcPts val="0"/>
              </a:spcAft>
              <a:buSzPts val="1560"/>
              <a:buChar char="❖"/>
            </a:pPr>
            <a:r>
              <a:rPr lang="en-US" sz="2400" dirty="0">
                <a:latin typeface="Arial"/>
                <a:ea typeface="Arial"/>
                <a:cs typeface="Arial"/>
                <a:sym typeface="Arial"/>
              </a:rPr>
              <a:t>Say, Company A (CA) is given the IP address </a:t>
            </a:r>
            <a:r>
              <a:rPr lang="en-US" sz="2400" dirty="0">
                <a:solidFill>
                  <a:srgbClr val="0070C0"/>
                </a:solidFill>
                <a:latin typeface="Arial"/>
                <a:ea typeface="Arial"/>
                <a:cs typeface="Arial"/>
                <a:sym typeface="Arial"/>
              </a:rPr>
              <a:t>192.168.1.0/24</a:t>
            </a:r>
            <a:endParaRPr dirty="0"/>
          </a:p>
          <a:p>
            <a:pPr marL="342900" lvl="0" indent="-342900" algn="l" rtl="0">
              <a:lnSpc>
                <a:spcPct val="135000"/>
              </a:lnSpc>
              <a:spcBef>
                <a:spcPts val="600"/>
              </a:spcBef>
              <a:spcAft>
                <a:spcPts val="0"/>
              </a:spcAft>
              <a:buSzPts val="1560"/>
              <a:buChar char="❖"/>
            </a:pPr>
            <a:r>
              <a:rPr lang="en-US" sz="2400" dirty="0">
                <a:latin typeface="Arial"/>
                <a:ea typeface="Arial"/>
                <a:cs typeface="Arial"/>
                <a:sym typeface="Arial"/>
              </a:rPr>
              <a:t>CA has 4 departments under it: </a:t>
            </a:r>
            <a:endParaRPr dirty="0"/>
          </a:p>
          <a:p>
            <a:pPr marL="742950" lvl="1" indent="-285750" algn="l" rtl="0">
              <a:lnSpc>
                <a:spcPct val="135000"/>
              </a:lnSpc>
              <a:spcBef>
                <a:spcPts val="600"/>
              </a:spcBef>
              <a:spcAft>
                <a:spcPts val="0"/>
              </a:spcAft>
              <a:buSzPts val="2200"/>
              <a:buChar char="▪"/>
            </a:pPr>
            <a:r>
              <a:rPr lang="en-US" sz="2200" dirty="0">
                <a:latin typeface="Arial"/>
                <a:ea typeface="Arial"/>
                <a:cs typeface="Arial"/>
                <a:sym typeface="Arial"/>
              </a:rPr>
              <a:t>RND</a:t>
            </a:r>
            <a:endParaRPr dirty="0"/>
          </a:p>
          <a:p>
            <a:pPr marL="742950" lvl="1" indent="-285750" algn="l" rtl="0">
              <a:lnSpc>
                <a:spcPct val="135000"/>
              </a:lnSpc>
              <a:spcBef>
                <a:spcPts val="600"/>
              </a:spcBef>
              <a:spcAft>
                <a:spcPts val="0"/>
              </a:spcAft>
              <a:buSzPts val="2200"/>
              <a:buChar char="▪"/>
            </a:pPr>
            <a:r>
              <a:rPr lang="en-US" sz="2200" dirty="0">
                <a:latin typeface="Arial"/>
                <a:ea typeface="Arial"/>
                <a:cs typeface="Arial"/>
                <a:sym typeface="Arial"/>
              </a:rPr>
              <a:t>Sales </a:t>
            </a:r>
            <a:endParaRPr dirty="0"/>
          </a:p>
          <a:p>
            <a:pPr marL="742950" lvl="1" indent="-285750" algn="l" rtl="0">
              <a:lnSpc>
                <a:spcPct val="135000"/>
              </a:lnSpc>
              <a:spcBef>
                <a:spcPts val="600"/>
              </a:spcBef>
              <a:spcAft>
                <a:spcPts val="0"/>
              </a:spcAft>
              <a:buSzPts val="2200"/>
              <a:buChar char="▪"/>
            </a:pPr>
            <a:r>
              <a:rPr lang="en-US" sz="2200" dirty="0">
                <a:latin typeface="Arial"/>
                <a:ea typeface="Arial"/>
                <a:cs typeface="Arial"/>
                <a:sym typeface="Arial"/>
              </a:rPr>
              <a:t>Finance </a:t>
            </a:r>
            <a:endParaRPr dirty="0"/>
          </a:p>
          <a:p>
            <a:pPr marL="742950" lvl="1" indent="-285750" algn="l" rtl="0">
              <a:lnSpc>
                <a:spcPct val="135000"/>
              </a:lnSpc>
              <a:spcBef>
                <a:spcPts val="600"/>
              </a:spcBef>
              <a:spcAft>
                <a:spcPts val="0"/>
              </a:spcAft>
              <a:buSzPts val="2200"/>
              <a:buChar char="▪"/>
            </a:pPr>
            <a:r>
              <a:rPr lang="en-US" sz="2200" dirty="0">
                <a:latin typeface="Arial"/>
                <a:ea typeface="Arial"/>
                <a:cs typeface="Arial"/>
                <a:sym typeface="Arial"/>
              </a:rPr>
              <a:t>Human Resource (HR)</a:t>
            </a:r>
            <a:endParaRPr dirty="0"/>
          </a:p>
          <a:p>
            <a:pPr marL="342900" lvl="0" indent="-342900" algn="l" rtl="0">
              <a:lnSpc>
                <a:spcPct val="135000"/>
              </a:lnSpc>
              <a:spcBef>
                <a:spcPts val="600"/>
              </a:spcBef>
              <a:spcAft>
                <a:spcPts val="0"/>
              </a:spcAft>
              <a:buSzPts val="1560"/>
              <a:buChar char="❖"/>
            </a:pPr>
            <a:r>
              <a:rPr lang="en-US" sz="2400" dirty="0">
                <a:latin typeface="Arial"/>
                <a:ea typeface="Arial"/>
                <a:cs typeface="Arial"/>
                <a:sym typeface="Arial"/>
              </a:rPr>
              <a:t>CA decided to divide the network according to purpose. So, the network needs to have 4 subnets.</a:t>
            </a:r>
            <a:endParaRPr dirty="0"/>
          </a:p>
          <a:p>
            <a:pPr marL="342900" lvl="0" indent="-243840" algn="l" rtl="0">
              <a:lnSpc>
                <a:spcPct val="135000"/>
              </a:lnSpc>
              <a:spcBef>
                <a:spcPts val="600"/>
              </a:spcBef>
              <a:spcAft>
                <a:spcPts val="0"/>
              </a:spcAft>
              <a:buSzPts val="1560"/>
              <a:buNone/>
            </a:pPr>
            <a:endParaRPr sz="2400" dirty="0">
              <a:latin typeface="Arial"/>
              <a:ea typeface="Arial"/>
              <a:cs typeface="Arial"/>
              <a:sym typeface="Arial"/>
            </a:endParaRPr>
          </a:p>
          <a:p>
            <a:pPr marL="342900" lvl="0" indent="-260350" algn="l" rtl="0">
              <a:lnSpc>
                <a:spcPct val="85000"/>
              </a:lnSpc>
              <a:spcBef>
                <a:spcPts val="600"/>
              </a:spcBef>
              <a:spcAft>
                <a:spcPts val="0"/>
              </a:spcAft>
              <a:buSzPts val="1300"/>
              <a:buNone/>
            </a:pPr>
            <a:endParaRPr sz="2000" dirty="0">
              <a:solidFill>
                <a:srgbClr val="0070C0"/>
              </a:solidFill>
              <a:latin typeface="Arial"/>
              <a:ea typeface="Arial"/>
              <a:cs typeface="Arial"/>
              <a:sym typeface="Arial"/>
            </a:endParaRPr>
          </a:p>
          <a:p>
            <a:pPr marL="342900" lvl="0" indent="-243840" algn="l" rtl="0">
              <a:lnSpc>
                <a:spcPct val="85000"/>
              </a:lnSpc>
              <a:spcBef>
                <a:spcPts val="1200"/>
              </a:spcBef>
              <a:spcAft>
                <a:spcPts val="0"/>
              </a:spcAft>
              <a:buSzPts val="1560"/>
              <a:buNone/>
            </a:pPr>
            <a:endParaRPr sz="2400" dirty="0">
              <a:latin typeface="Arial"/>
              <a:ea typeface="Arial"/>
              <a:cs typeface="Arial"/>
              <a:sym typeface="Arial"/>
            </a:endParaRPr>
          </a:p>
          <a:p>
            <a:pPr marL="342900" lvl="0" indent="-243840" algn="l" rtl="0">
              <a:lnSpc>
                <a:spcPct val="85000"/>
              </a:lnSpc>
              <a:spcBef>
                <a:spcPts val="1200"/>
              </a:spcBef>
              <a:spcAft>
                <a:spcPts val="0"/>
              </a:spcAft>
              <a:buSzPts val="1560"/>
              <a:buNone/>
            </a:pPr>
            <a:endParaRPr sz="2400" dirty="0">
              <a:latin typeface="Arial"/>
              <a:ea typeface="Arial"/>
              <a:cs typeface="Arial"/>
              <a:sym typeface="Arial"/>
            </a:endParaRPr>
          </a:p>
        </p:txBody>
      </p:sp>
      <p:grpSp>
        <p:nvGrpSpPr>
          <p:cNvPr id="577" name="Google Shape;577;p28"/>
          <p:cNvGrpSpPr/>
          <p:nvPr/>
        </p:nvGrpSpPr>
        <p:grpSpPr>
          <a:xfrm>
            <a:off x="0" y="0"/>
            <a:ext cx="9143999" cy="926011"/>
            <a:chOff x="0" y="0"/>
            <a:chExt cx="9143999" cy="926011"/>
          </a:xfrm>
        </p:grpSpPr>
        <p:pic>
          <p:nvPicPr>
            <p:cNvPr id="578" name="Google Shape;578;p28"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579" name="Google Shape;579;p28"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580" name="Google Shape;580;p28"/>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79</a:t>
            </a:fld>
            <a:endParaRPr lang="en-US" altLang="en-US" dirty="0">
              <a:latin typeface="Tahoma" panose="020B0604030504040204" pitchFamily="34" charset="0"/>
            </a:endParaRPr>
          </a:p>
        </p:txBody>
      </p:sp>
    </p:spTree>
    <p:extLst>
      <p:ext uri="{BB962C8B-B14F-4D97-AF65-F5344CB8AC3E}">
        <p14:creationId xmlns:p14="http://schemas.microsoft.com/office/powerpoint/2010/main" val="21414969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65A1FC-E4BF-3641-81B8-47C8A663F085}"/>
              </a:ext>
            </a:extLst>
          </p:cNvPr>
          <p:cNvGrpSpPr/>
          <p:nvPr/>
        </p:nvGrpSpPr>
        <p:grpSpPr>
          <a:xfrm>
            <a:off x="0" y="0"/>
            <a:ext cx="9143999" cy="926011"/>
            <a:chOff x="0" y="0"/>
            <a:chExt cx="9143999" cy="926011"/>
          </a:xfrm>
        </p:grpSpPr>
        <p:pic>
          <p:nvPicPr>
            <p:cNvPr id="7" name="Picture 6" descr="Screen Shot 2015-04-08 at 10.38.40 AM.png">
              <a:extLst>
                <a:ext uri="{FF2B5EF4-FFF2-40B4-BE49-F238E27FC236}">
                  <a16:creationId xmlns:a16="http://schemas.microsoft.com/office/drawing/2014/main" id="{A7E1DD4E-5DE5-6846-9CE4-AE73F96E7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a:extLst>
                <a:ext uri="{FF2B5EF4-FFF2-40B4-BE49-F238E27FC236}">
                  <a16:creationId xmlns:a16="http://schemas.microsoft.com/office/drawing/2014/main" id="{BB3C4288-323C-2A46-A5A1-09BB84C60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0" name="TextBox 9">
            <a:extLst>
              <a:ext uri="{FF2B5EF4-FFF2-40B4-BE49-F238E27FC236}">
                <a16:creationId xmlns:a16="http://schemas.microsoft.com/office/drawing/2014/main" id="{2B5D589A-87AA-FC4C-8160-0FC21588416F}"/>
              </a:ext>
            </a:extLst>
          </p:cNvPr>
          <p:cNvSpPr txBox="1"/>
          <p:nvPr/>
        </p:nvSpPr>
        <p:spPr>
          <a:xfrm>
            <a:off x="595291" y="1446383"/>
            <a:ext cx="6599884" cy="461665"/>
          </a:xfrm>
          <a:prstGeom prst="rect">
            <a:avLst/>
          </a:prstGeom>
          <a:noFill/>
        </p:spPr>
        <p:txBody>
          <a:bodyPr wrap="none" rtlCol="0">
            <a:spAutoFit/>
          </a:bodyPr>
          <a:lstStyle/>
          <a:p>
            <a:r>
              <a:rPr lang="en-US" sz="2400" b="1" dirty="0">
                <a:solidFill>
                  <a:srgbClr val="0070C0"/>
                </a:solidFill>
                <a:latin typeface="Courier New"/>
                <a:cs typeface="Courier New"/>
              </a:rPr>
              <a:t>192.168.1.0/24</a:t>
            </a:r>
            <a:r>
              <a:rPr lang="en-US" sz="2400" dirty="0">
                <a:latin typeface="Arial"/>
                <a:cs typeface="Arial"/>
              </a:rPr>
              <a:t> to be divided into </a:t>
            </a:r>
            <a:r>
              <a:rPr lang="en-US" sz="2400" dirty="0">
                <a:solidFill>
                  <a:srgbClr val="FF0000"/>
                </a:solidFill>
                <a:latin typeface="Arial"/>
                <a:cs typeface="Arial"/>
              </a:rPr>
              <a:t>4 subnets</a:t>
            </a:r>
            <a:endParaRPr lang="en-US" sz="2400" dirty="0">
              <a:latin typeface="Arial"/>
              <a:cs typeface="Arial"/>
            </a:endParaRPr>
          </a:p>
        </p:txBody>
      </p:sp>
      <p:sp>
        <p:nvSpPr>
          <p:cNvPr id="11" name="Rectangle 10">
            <a:extLst>
              <a:ext uri="{FF2B5EF4-FFF2-40B4-BE49-F238E27FC236}">
                <a16:creationId xmlns:a16="http://schemas.microsoft.com/office/drawing/2014/main" id="{898A4553-3992-A346-B109-CDBCB1D6C4AB}"/>
              </a:ext>
            </a:extLst>
          </p:cNvPr>
          <p:cNvSpPr/>
          <p:nvPr/>
        </p:nvSpPr>
        <p:spPr bwMode="auto">
          <a:xfrm>
            <a:off x="0" y="2662176"/>
            <a:ext cx="9144000" cy="609543"/>
          </a:xfrm>
          <a:prstGeom prst="rect">
            <a:avLst/>
          </a:prstGeom>
          <a:solidFill>
            <a:schemeClr val="bg1">
              <a:lumMod val="75000"/>
              <a:alpha val="7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TextBox 12">
            <a:extLst>
              <a:ext uri="{FF2B5EF4-FFF2-40B4-BE49-F238E27FC236}">
                <a16:creationId xmlns:a16="http://schemas.microsoft.com/office/drawing/2014/main" id="{E95FE820-A6E3-BE49-9823-2E9B4CCAB195}"/>
              </a:ext>
            </a:extLst>
          </p:cNvPr>
          <p:cNvSpPr txBox="1"/>
          <p:nvPr/>
        </p:nvSpPr>
        <p:spPr>
          <a:xfrm>
            <a:off x="90631" y="2445596"/>
            <a:ext cx="3009157" cy="769441"/>
          </a:xfrm>
          <a:prstGeom prst="rect">
            <a:avLst/>
          </a:prstGeom>
          <a:noFill/>
        </p:spPr>
        <p:txBody>
          <a:bodyPr wrap="none" rtlCol="0">
            <a:spAutoFit/>
          </a:bodyPr>
          <a:lstStyle/>
          <a:p>
            <a:endParaRPr lang="en-US" sz="2200" dirty="0"/>
          </a:p>
          <a:p>
            <a:r>
              <a:rPr lang="en-US" sz="2200" dirty="0">
                <a:solidFill>
                  <a:srgbClr val="0070C0"/>
                </a:solidFill>
                <a:highlight>
                  <a:srgbClr val="FFFF00"/>
                </a:highlight>
                <a:latin typeface="Courier New"/>
                <a:cs typeface="Courier New"/>
              </a:rPr>
              <a:t>192.168.1.0</a:t>
            </a:r>
            <a:r>
              <a:rPr lang="en-US" sz="2200" b="1" dirty="0">
                <a:solidFill>
                  <a:srgbClr val="0070C0"/>
                </a:solidFill>
                <a:highlight>
                  <a:srgbClr val="FFFF00"/>
                </a:highlight>
                <a:latin typeface="Courier New"/>
                <a:cs typeface="Courier New"/>
              </a:rPr>
              <a:t>/24</a:t>
            </a:r>
            <a:r>
              <a:rPr lang="en-US" sz="2200" dirty="0">
                <a:latin typeface="Courier New"/>
                <a:cs typeface="Courier New"/>
              </a:rPr>
              <a:t> </a:t>
            </a:r>
            <a:r>
              <a:rPr lang="en-US" sz="2200" dirty="0">
                <a:latin typeface="Courier New"/>
                <a:cs typeface="Courier New"/>
                <a:sym typeface="Wingdings"/>
              </a:rPr>
              <a:t></a:t>
            </a:r>
            <a:endParaRPr lang="en-US" sz="2200" dirty="0">
              <a:latin typeface="Courier New"/>
              <a:cs typeface="Courier New"/>
            </a:endParaRPr>
          </a:p>
        </p:txBody>
      </p:sp>
      <p:sp>
        <p:nvSpPr>
          <p:cNvPr id="14" name="TextBox 13">
            <a:extLst>
              <a:ext uri="{FF2B5EF4-FFF2-40B4-BE49-F238E27FC236}">
                <a16:creationId xmlns:a16="http://schemas.microsoft.com/office/drawing/2014/main" id="{2375998A-860F-BD42-988C-90A618582957}"/>
              </a:ext>
            </a:extLst>
          </p:cNvPr>
          <p:cNvSpPr txBox="1"/>
          <p:nvPr/>
        </p:nvSpPr>
        <p:spPr>
          <a:xfrm>
            <a:off x="3039957" y="2773627"/>
            <a:ext cx="6131807" cy="430887"/>
          </a:xfrm>
          <a:prstGeom prst="rect">
            <a:avLst/>
          </a:prstGeom>
          <a:noFill/>
        </p:spPr>
        <p:txBody>
          <a:bodyPr wrap="none" rtlCol="0">
            <a:spAutoFit/>
          </a:bodyPr>
          <a:lstStyle/>
          <a:p>
            <a:r>
              <a:rPr lang="en-US" sz="2200" dirty="0">
                <a:latin typeface="Courier New"/>
                <a:cs typeface="Courier New"/>
              </a:rPr>
              <a:t>11000000.10101000.00000001.00000000</a:t>
            </a:r>
          </a:p>
        </p:txBody>
      </p:sp>
      <p:sp>
        <p:nvSpPr>
          <p:cNvPr id="12"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80</a:t>
            </a:fld>
            <a:endParaRPr lang="en-US" altLang="en-US" dirty="0">
              <a:latin typeface="Tahoma" panose="020B0604030504040204" pitchFamily="34" charset="0"/>
            </a:endParaRPr>
          </a:p>
        </p:txBody>
      </p:sp>
      <p:sp>
        <p:nvSpPr>
          <p:cNvPr id="3" name="Google Shape;580;p28">
            <a:extLst>
              <a:ext uri="{FF2B5EF4-FFF2-40B4-BE49-F238E27FC236}">
                <a16:creationId xmlns:a16="http://schemas.microsoft.com/office/drawing/2014/main" id="{E4F91A24-9923-E7E8-C806-45B32F46EE52}"/>
              </a:ext>
            </a:extLst>
          </p:cNvPr>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Tree>
    <p:extLst>
      <p:ext uri="{BB962C8B-B14F-4D97-AF65-F5344CB8AC3E}">
        <p14:creationId xmlns:p14="http://schemas.microsoft.com/office/powerpoint/2010/main" val="31685396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65A1FC-E4BF-3641-81B8-47C8A663F085}"/>
              </a:ext>
            </a:extLst>
          </p:cNvPr>
          <p:cNvGrpSpPr/>
          <p:nvPr/>
        </p:nvGrpSpPr>
        <p:grpSpPr>
          <a:xfrm>
            <a:off x="0" y="0"/>
            <a:ext cx="9143999" cy="926011"/>
            <a:chOff x="0" y="0"/>
            <a:chExt cx="9143999" cy="926011"/>
          </a:xfrm>
        </p:grpSpPr>
        <p:pic>
          <p:nvPicPr>
            <p:cNvPr id="7" name="Picture 6" descr="Screen Shot 2015-04-08 at 10.38.40 AM.png">
              <a:extLst>
                <a:ext uri="{FF2B5EF4-FFF2-40B4-BE49-F238E27FC236}">
                  <a16:creationId xmlns:a16="http://schemas.microsoft.com/office/drawing/2014/main" id="{A7E1DD4E-5DE5-6846-9CE4-AE73F96E7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a:extLst>
                <a:ext uri="{FF2B5EF4-FFF2-40B4-BE49-F238E27FC236}">
                  <a16:creationId xmlns:a16="http://schemas.microsoft.com/office/drawing/2014/main" id="{BB3C4288-323C-2A46-A5A1-09BB84C60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0" name="TextBox 9">
            <a:extLst>
              <a:ext uri="{FF2B5EF4-FFF2-40B4-BE49-F238E27FC236}">
                <a16:creationId xmlns:a16="http://schemas.microsoft.com/office/drawing/2014/main" id="{2B5D589A-87AA-FC4C-8160-0FC21588416F}"/>
              </a:ext>
            </a:extLst>
          </p:cNvPr>
          <p:cNvSpPr txBox="1"/>
          <p:nvPr/>
        </p:nvSpPr>
        <p:spPr>
          <a:xfrm>
            <a:off x="595291" y="1446383"/>
            <a:ext cx="6599884" cy="461665"/>
          </a:xfrm>
          <a:prstGeom prst="rect">
            <a:avLst/>
          </a:prstGeom>
          <a:noFill/>
        </p:spPr>
        <p:txBody>
          <a:bodyPr wrap="none" rtlCol="0">
            <a:spAutoFit/>
          </a:bodyPr>
          <a:lstStyle/>
          <a:p>
            <a:r>
              <a:rPr lang="en-US" sz="2400" b="1" dirty="0">
                <a:solidFill>
                  <a:srgbClr val="0070C0"/>
                </a:solidFill>
                <a:latin typeface="Courier New"/>
                <a:cs typeface="Courier New"/>
              </a:rPr>
              <a:t>192.168.1.0/24</a:t>
            </a:r>
            <a:r>
              <a:rPr lang="en-US" sz="2400" dirty="0">
                <a:latin typeface="Arial"/>
                <a:cs typeface="Arial"/>
              </a:rPr>
              <a:t> to be divided into </a:t>
            </a:r>
            <a:r>
              <a:rPr lang="en-US" sz="2400" dirty="0">
                <a:solidFill>
                  <a:srgbClr val="FF0000"/>
                </a:solidFill>
                <a:latin typeface="Arial"/>
                <a:cs typeface="Arial"/>
              </a:rPr>
              <a:t>4 subnets</a:t>
            </a:r>
            <a:endParaRPr lang="en-US" sz="2400" dirty="0">
              <a:latin typeface="Arial"/>
              <a:cs typeface="Arial"/>
            </a:endParaRPr>
          </a:p>
        </p:txBody>
      </p:sp>
      <p:sp>
        <p:nvSpPr>
          <p:cNvPr id="11" name="Rectangle 10">
            <a:extLst>
              <a:ext uri="{FF2B5EF4-FFF2-40B4-BE49-F238E27FC236}">
                <a16:creationId xmlns:a16="http://schemas.microsoft.com/office/drawing/2014/main" id="{898A4553-3992-A346-B109-CDBCB1D6C4AB}"/>
              </a:ext>
            </a:extLst>
          </p:cNvPr>
          <p:cNvSpPr/>
          <p:nvPr/>
        </p:nvSpPr>
        <p:spPr bwMode="auto">
          <a:xfrm>
            <a:off x="0" y="2662176"/>
            <a:ext cx="9144000" cy="609543"/>
          </a:xfrm>
          <a:prstGeom prst="rect">
            <a:avLst/>
          </a:prstGeom>
          <a:solidFill>
            <a:schemeClr val="bg1">
              <a:lumMod val="75000"/>
              <a:alpha val="7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TextBox 12">
            <a:extLst>
              <a:ext uri="{FF2B5EF4-FFF2-40B4-BE49-F238E27FC236}">
                <a16:creationId xmlns:a16="http://schemas.microsoft.com/office/drawing/2014/main" id="{E95FE820-A6E3-BE49-9823-2E9B4CCAB195}"/>
              </a:ext>
            </a:extLst>
          </p:cNvPr>
          <p:cNvSpPr txBox="1"/>
          <p:nvPr/>
        </p:nvSpPr>
        <p:spPr>
          <a:xfrm>
            <a:off x="90631" y="2445596"/>
            <a:ext cx="3009157" cy="769441"/>
          </a:xfrm>
          <a:prstGeom prst="rect">
            <a:avLst/>
          </a:prstGeom>
          <a:noFill/>
        </p:spPr>
        <p:txBody>
          <a:bodyPr wrap="none" rtlCol="0">
            <a:spAutoFit/>
          </a:bodyPr>
          <a:lstStyle/>
          <a:p>
            <a:endParaRPr lang="en-US" sz="2200" dirty="0"/>
          </a:p>
          <a:p>
            <a:r>
              <a:rPr lang="en-US" sz="2200" dirty="0">
                <a:solidFill>
                  <a:srgbClr val="0070C0"/>
                </a:solidFill>
                <a:highlight>
                  <a:srgbClr val="FFFF00"/>
                </a:highlight>
                <a:latin typeface="Courier New"/>
                <a:cs typeface="Courier New"/>
              </a:rPr>
              <a:t>192.168.1.0</a:t>
            </a:r>
            <a:r>
              <a:rPr lang="en-US" sz="2200" b="1" dirty="0">
                <a:solidFill>
                  <a:srgbClr val="0070C0"/>
                </a:solidFill>
                <a:highlight>
                  <a:srgbClr val="FFFF00"/>
                </a:highlight>
                <a:latin typeface="Courier New"/>
                <a:cs typeface="Courier New"/>
              </a:rPr>
              <a:t>/24</a:t>
            </a:r>
            <a:r>
              <a:rPr lang="en-US" sz="2200" dirty="0">
                <a:latin typeface="Courier New"/>
                <a:cs typeface="Courier New"/>
              </a:rPr>
              <a:t> </a:t>
            </a:r>
            <a:r>
              <a:rPr lang="en-US" sz="2200" dirty="0">
                <a:latin typeface="Courier New"/>
                <a:cs typeface="Courier New"/>
                <a:sym typeface="Wingdings"/>
              </a:rPr>
              <a:t></a:t>
            </a:r>
            <a:endParaRPr lang="en-US" sz="2200" dirty="0">
              <a:latin typeface="Courier New"/>
              <a:cs typeface="Courier New"/>
            </a:endParaRPr>
          </a:p>
        </p:txBody>
      </p:sp>
      <p:sp>
        <p:nvSpPr>
          <p:cNvPr id="14" name="TextBox 13">
            <a:extLst>
              <a:ext uri="{FF2B5EF4-FFF2-40B4-BE49-F238E27FC236}">
                <a16:creationId xmlns:a16="http://schemas.microsoft.com/office/drawing/2014/main" id="{2375998A-860F-BD42-988C-90A618582957}"/>
              </a:ext>
            </a:extLst>
          </p:cNvPr>
          <p:cNvSpPr txBox="1"/>
          <p:nvPr/>
        </p:nvSpPr>
        <p:spPr>
          <a:xfrm>
            <a:off x="3039957" y="2773627"/>
            <a:ext cx="6131807" cy="430887"/>
          </a:xfrm>
          <a:prstGeom prst="rect">
            <a:avLst/>
          </a:prstGeom>
          <a:noFill/>
        </p:spPr>
        <p:txBody>
          <a:bodyPr wrap="none" rtlCol="0">
            <a:spAutoFit/>
          </a:bodyPr>
          <a:lstStyle/>
          <a:p>
            <a:r>
              <a:rPr lang="en-US" sz="2200" dirty="0">
                <a:solidFill>
                  <a:srgbClr val="FF0000"/>
                </a:solidFill>
                <a:latin typeface="Courier New"/>
                <a:cs typeface="Courier New"/>
              </a:rPr>
              <a:t>11000000.10101000.00000001</a:t>
            </a:r>
            <a:r>
              <a:rPr lang="en-US" sz="2200" dirty="0">
                <a:latin typeface="Courier New"/>
                <a:cs typeface="Courier New"/>
              </a:rPr>
              <a:t>.00000000</a:t>
            </a:r>
          </a:p>
        </p:txBody>
      </p:sp>
      <p:grpSp>
        <p:nvGrpSpPr>
          <p:cNvPr id="28" name="Group 27">
            <a:extLst>
              <a:ext uri="{FF2B5EF4-FFF2-40B4-BE49-F238E27FC236}">
                <a16:creationId xmlns:a16="http://schemas.microsoft.com/office/drawing/2014/main" id="{C170EB1C-219D-8544-A1FF-7860A1DF863D}"/>
              </a:ext>
            </a:extLst>
          </p:cNvPr>
          <p:cNvGrpSpPr/>
          <p:nvPr/>
        </p:nvGrpSpPr>
        <p:grpSpPr>
          <a:xfrm>
            <a:off x="7626596" y="2529574"/>
            <a:ext cx="410428" cy="1750326"/>
            <a:chOff x="7626596" y="2529574"/>
            <a:chExt cx="410428" cy="1750326"/>
          </a:xfrm>
        </p:grpSpPr>
        <p:cxnSp>
          <p:nvCxnSpPr>
            <p:cNvPr id="15" name="Straight Connector 14">
              <a:extLst>
                <a:ext uri="{FF2B5EF4-FFF2-40B4-BE49-F238E27FC236}">
                  <a16:creationId xmlns:a16="http://schemas.microsoft.com/office/drawing/2014/main" id="{4AE86F46-E638-0F46-B691-E1718AB200F4}"/>
                </a:ext>
              </a:extLst>
            </p:cNvPr>
            <p:cNvCxnSpPr>
              <a:cxnSpLocks/>
            </p:cNvCxnSpPr>
            <p:nvPr/>
          </p:nvCxnSpPr>
          <p:spPr bwMode="auto">
            <a:xfrm>
              <a:off x="7626596" y="2529574"/>
              <a:ext cx="0" cy="1699526"/>
            </a:xfrm>
            <a:prstGeom prst="line">
              <a:avLst/>
            </a:prstGeom>
            <a:solidFill>
              <a:schemeClr val="accent1"/>
            </a:solidFill>
            <a:ln w="19050" cap="flat" cmpd="sng" algn="ctr">
              <a:solidFill>
                <a:srgbClr val="FF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9FAE64CD-2E1D-1C41-B55B-E93D71487697}"/>
                </a:ext>
              </a:extLst>
            </p:cNvPr>
            <p:cNvCxnSpPr>
              <a:cxnSpLocks/>
            </p:cNvCxnSpPr>
            <p:nvPr/>
          </p:nvCxnSpPr>
          <p:spPr bwMode="auto">
            <a:xfrm>
              <a:off x="8037024" y="2604814"/>
              <a:ext cx="0" cy="1675086"/>
            </a:xfrm>
            <a:prstGeom prst="line">
              <a:avLst/>
            </a:prstGeom>
            <a:solidFill>
              <a:schemeClr val="accent1"/>
            </a:solidFill>
            <a:ln w="19050" cap="flat" cmpd="sng" algn="ctr">
              <a:solidFill>
                <a:srgbClr val="0070C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22" name="Rounded Rectangular Callout 21">
            <a:extLst>
              <a:ext uri="{FF2B5EF4-FFF2-40B4-BE49-F238E27FC236}">
                <a16:creationId xmlns:a16="http://schemas.microsoft.com/office/drawing/2014/main" id="{82C7A1E2-8E58-494E-940C-77A3512FB2E1}"/>
              </a:ext>
            </a:extLst>
          </p:cNvPr>
          <p:cNvSpPr/>
          <p:nvPr/>
        </p:nvSpPr>
        <p:spPr bwMode="auto">
          <a:xfrm>
            <a:off x="6048398" y="4736778"/>
            <a:ext cx="2193902" cy="1181422"/>
          </a:xfrm>
          <a:prstGeom prst="wedgeRoundRectCallout">
            <a:avLst>
              <a:gd name="adj1" fmla="val 32207"/>
              <a:gd name="adj2" fmla="val -113888"/>
              <a:gd name="adj3" fmla="val 16667"/>
            </a:avLst>
          </a:prstGeom>
          <a:solidFill>
            <a:srgbClr val="FFFF00">
              <a:alpha val="99000"/>
            </a:srgbClr>
          </a:solidFill>
          <a:ln w="28575" cap="flat" cmpd="sng" algn="ctr">
            <a:solidFill>
              <a:srgbClr val="53A9D6"/>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ms-MY" sz="1600" b="0" i="0" u="none" strike="noStrike" cap="none" normalizeH="0" baseline="0">
                <a:ln>
                  <a:noFill/>
                </a:ln>
                <a:solidFill>
                  <a:srgbClr val="FF0000"/>
                </a:solidFill>
                <a:effectLst/>
                <a:latin typeface="Arial" charset="0"/>
              </a:rPr>
              <a:t>need to borrow </a:t>
            </a:r>
            <a:r>
              <a:rPr kumimoji="0" lang="ms-MY" sz="1600" b="1" i="0" u="none" strike="noStrike" cap="none" normalizeH="0" baseline="0">
                <a:ln>
                  <a:noFill/>
                </a:ln>
                <a:solidFill>
                  <a:srgbClr val="FF0000"/>
                </a:solidFill>
                <a:effectLst/>
                <a:latin typeface="Arial" charset="0"/>
              </a:rPr>
              <a:t>2 bits</a:t>
            </a:r>
          </a:p>
          <a:p>
            <a:pPr marL="0" marR="0" indent="0" algn="l" defTabSz="914400" rtl="0" eaLnBrk="0" fontAlgn="base" latinLnBrk="0" hangingPunct="0">
              <a:lnSpc>
                <a:spcPct val="100000"/>
              </a:lnSpc>
              <a:spcBef>
                <a:spcPct val="0"/>
              </a:spcBef>
              <a:spcAft>
                <a:spcPct val="0"/>
              </a:spcAft>
              <a:buClrTx/>
              <a:buSzTx/>
              <a:buFontTx/>
              <a:buNone/>
              <a:tabLst/>
            </a:pPr>
            <a:r>
              <a:rPr lang="ms-MY" sz="1600">
                <a:solidFill>
                  <a:srgbClr val="FF0000"/>
                </a:solidFill>
              </a:rPr>
              <a:t>from host portion</a:t>
            </a:r>
            <a:r>
              <a:rPr kumimoji="0" lang="ms-MY" sz="1600" b="0" i="0" u="none" strike="noStrike" cap="none" normalizeH="0" baseline="0">
                <a:ln>
                  <a:noFill/>
                </a:ln>
                <a:solidFill>
                  <a:srgbClr val="FF0000"/>
                </a:solidFill>
                <a:effectLst/>
                <a:latin typeface="Arial" charset="0"/>
              </a:rPr>
              <a:t> </a:t>
            </a:r>
          </a:p>
          <a:p>
            <a:pPr marL="0" marR="0" indent="0" algn="l" defTabSz="914400" rtl="0" eaLnBrk="0" fontAlgn="base" latinLnBrk="0" hangingPunct="0">
              <a:lnSpc>
                <a:spcPct val="100000"/>
              </a:lnSpc>
              <a:spcBef>
                <a:spcPct val="0"/>
              </a:spcBef>
              <a:spcAft>
                <a:spcPct val="0"/>
              </a:spcAft>
              <a:buClrTx/>
              <a:buSzTx/>
              <a:buFontTx/>
              <a:buNone/>
              <a:tabLst/>
            </a:pPr>
            <a:r>
              <a:rPr kumimoji="0" lang="ms-MY" sz="1600" b="0" i="0" u="none" strike="noStrike" cap="none" normalizeH="0" baseline="0">
                <a:ln>
                  <a:noFill/>
                </a:ln>
                <a:solidFill>
                  <a:srgbClr val="FF0000"/>
                </a:solidFill>
                <a:effectLst/>
                <a:latin typeface="Arial" charset="0"/>
              </a:rPr>
              <a:t>to define </a:t>
            </a:r>
            <a:r>
              <a:rPr kumimoji="0" lang="ms-MY" sz="1600" b="1" i="0" u="none" strike="noStrike" cap="none" normalizeH="0" baseline="0">
                <a:ln>
                  <a:noFill/>
                </a:ln>
                <a:solidFill>
                  <a:srgbClr val="FF0000"/>
                </a:solidFill>
                <a:effectLst/>
                <a:latin typeface="Arial" charset="0"/>
              </a:rPr>
              <a:t>4 subnets </a:t>
            </a:r>
          </a:p>
          <a:p>
            <a:pPr marL="0" marR="0" indent="0" algn="l" defTabSz="914400" rtl="0" eaLnBrk="0" fontAlgn="base" latinLnBrk="0" hangingPunct="0">
              <a:lnSpc>
                <a:spcPct val="100000"/>
              </a:lnSpc>
              <a:spcBef>
                <a:spcPct val="0"/>
              </a:spcBef>
              <a:spcAft>
                <a:spcPct val="0"/>
              </a:spcAft>
              <a:buClrTx/>
              <a:buSzTx/>
              <a:buFontTx/>
              <a:buNone/>
              <a:tabLst/>
            </a:pPr>
            <a:r>
              <a:rPr kumimoji="0" lang="ms-MY" sz="1600" i="0" u="none" strike="noStrike" cap="none" normalizeH="0" baseline="0">
                <a:ln>
                  <a:noFill/>
                </a:ln>
                <a:solidFill>
                  <a:srgbClr val="FF0000"/>
                </a:solidFill>
                <a:effectLst/>
                <a:latin typeface="Arial" charset="0"/>
              </a:rPr>
              <a:t>(i.e. 2</a:t>
            </a:r>
            <a:r>
              <a:rPr kumimoji="0" lang="ms-MY" sz="1600" i="0" u="none" strike="noStrike" cap="none" normalizeH="0" baseline="30000">
                <a:ln>
                  <a:noFill/>
                </a:ln>
                <a:solidFill>
                  <a:srgbClr val="FF0000"/>
                </a:solidFill>
                <a:effectLst/>
                <a:latin typeface="Arial" charset="0"/>
              </a:rPr>
              <a:t>2</a:t>
            </a:r>
            <a:r>
              <a:rPr kumimoji="0" lang="ms-MY" sz="1600" i="0" u="none" strike="noStrike" cap="none" normalizeH="0" baseline="0">
                <a:ln>
                  <a:noFill/>
                </a:ln>
                <a:solidFill>
                  <a:srgbClr val="FF0000"/>
                </a:solidFill>
                <a:effectLst/>
                <a:latin typeface="Arial" charset="0"/>
              </a:rPr>
              <a:t>)</a:t>
            </a:r>
            <a:endParaRPr kumimoji="0" lang="ms-MY" sz="1600" b="1" i="0" u="none" strike="noStrike" cap="none" normalizeH="0" baseline="0">
              <a:ln>
                <a:noFill/>
              </a:ln>
              <a:solidFill>
                <a:srgbClr val="FF0000"/>
              </a:solidFill>
              <a:effectLst/>
              <a:latin typeface="Arial" charset="0"/>
            </a:endParaRPr>
          </a:p>
        </p:txBody>
      </p:sp>
      <p:grpSp>
        <p:nvGrpSpPr>
          <p:cNvPr id="23" name="Group 22">
            <a:extLst>
              <a:ext uri="{FF2B5EF4-FFF2-40B4-BE49-F238E27FC236}">
                <a16:creationId xmlns:a16="http://schemas.microsoft.com/office/drawing/2014/main" id="{DE3E588E-3D60-254E-8685-A5A0232AF2D3}"/>
              </a:ext>
            </a:extLst>
          </p:cNvPr>
          <p:cNvGrpSpPr/>
          <p:nvPr/>
        </p:nvGrpSpPr>
        <p:grpSpPr>
          <a:xfrm>
            <a:off x="4168964" y="2249859"/>
            <a:ext cx="4967378" cy="409756"/>
            <a:chOff x="4181664" y="3026486"/>
            <a:chExt cx="4967378" cy="409756"/>
          </a:xfrm>
        </p:grpSpPr>
        <p:sp>
          <p:nvSpPr>
            <p:cNvPr id="24" name="TextBox 23">
              <a:extLst>
                <a:ext uri="{FF2B5EF4-FFF2-40B4-BE49-F238E27FC236}">
                  <a16:creationId xmlns:a16="http://schemas.microsoft.com/office/drawing/2014/main" id="{158E3B9D-B3CF-6B4F-9644-F9CC4851F603}"/>
                </a:ext>
              </a:extLst>
            </p:cNvPr>
            <p:cNvSpPr txBox="1"/>
            <p:nvPr/>
          </p:nvSpPr>
          <p:spPr>
            <a:xfrm>
              <a:off x="7582588" y="3026486"/>
              <a:ext cx="1566454" cy="400110"/>
            </a:xfrm>
            <a:prstGeom prst="rect">
              <a:avLst/>
            </a:prstGeom>
            <a:solidFill>
              <a:schemeClr val="bg1">
                <a:lumMod val="75000"/>
              </a:schemeClr>
            </a:solidFill>
          </p:spPr>
          <p:txBody>
            <a:bodyPr wrap="none" rtlCol="0">
              <a:spAutoFit/>
            </a:bodyPr>
            <a:lstStyle/>
            <a:p>
              <a:r>
                <a:rPr lang="en-US" sz="2000" dirty="0"/>
                <a:t>Host portion</a:t>
              </a:r>
            </a:p>
          </p:txBody>
        </p:sp>
        <p:sp>
          <p:nvSpPr>
            <p:cNvPr id="25" name="TextBox 24">
              <a:extLst>
                <a:ext uri="{FF2B5EF4-FFF2-40B4-BE49-F238E27FC236}">
                  <a16:creationId xmlns:a16="http://schemas.microsoft.com/office/drawing/2014/main" id="{1FCA5BF3-0244-3049-8D29-FBD8989BDFE4}"/>
                </a:ext>
              </a:extLst>
            </p:cNvPr>
            <p:cNvSpPr txBox="1"/>
            <p:nvPr/>
          </p:nvSpPr>
          <p:spPr>
            <a:xfrm>
              <a:off x="4181664" y="3036132"/>
              <a:ext cx="1980029" cy="400110"/>
            </a:xfrm>
            <a:prstGeom prst="rect">
              <a:avLst/>
            </a:prstGeom>
            <a:solidFill>
              <a:schemeClr val="bg1">
                <a:lumMod val="75000"/>
              </a:schemeClr>
            </a:solidFill>
          </p:spPr>
          <p:txBody>
            <a:bodyPr wrap="none" rtlCol="0">
              <a:spAutoFit/>
            </a:bodyPr>
            <a:lstStyle/>
            <a:p>
              <a:r>
                <a:rPr lang="en-US" sz="2000" dirty="0">
                  <a:solidFill>
                    <a:srgbClr val="FF0000"/>
                  </a:solidFill>
                </a:rPr>
                <a:t>Network portion</a:t>
              </a:r>
            </a:p>
          </p:txBody>
        </p:sp>
      </p:grpSp>
      <p:grpSp>
        <p:nvGrpSpPr>
          <p:cNvPr id="29" name="Group 28">
            <a:extLst>
              <a:ext uri="{FF2B5EF4-FFF2-40B4-BE49-F238E27FC236}">
                <a16:creationId xmlns:a16="http://schemas.microsoft.com/office/drawing/2014/main" id="{F025E33C-85A8-BB41-BB3D-DEF87434BA30}"/>
              </a:ext>
            </a:extLst>
          </p:cNvPr>
          <p:cNvGrpSpPr/>
          <p:nvPr/>
        </p:nvGrpSpPr>
        <p:grpSpPr>
          <a:xfrm>
            <a:off x="192623" y="3700727"/>
            <a:ext cx="8991841" cy="450264"/>
            <a:chOff x="192623" y="3700727"/>
            <a:chExt cx="8991841" cy="450264"/>
          </a:xfrm>
        </p:grpSpPr>
        <p:sp>
          <p:nvSpPr>
            <p:cNvPr id="18" name="TextBox 17">
              <a:extLst>
                <a:ext uri="{FF2B5EF4-FFF2-40B4-BE49-F238E27FC236}">
                  <a16:creationId xmlns:a16="http://schemas.microsoft.com/office/drawing/2014/main" id="{CEA63EBF-872D-7D47-AC8A-953CCFEEF59F}"/>
                </a:ext>
              </a:extLst>
            </p:cNvPr>
            <p:cNvSpPr txBox="1"/>
            <p:nvPr/>
          </p:nvSpPr>
          <p:spPr>
            <a:xfrm>
              <a:off x="3052657" y="3700727"/>
              <a:ext cx="6131807" cy="430887"/>
            </a:xfrm>
            <a:prstGeom prst="rect">
              <a:avLst/>
            </a:prstGeom>
            <a:noFill/>
          </p:spPr>
          <p:txBody>
            <a:bodyPr wrap="none" rtlCol="0">
              <a:spAutoFit/>
            </a:bodyPr>
            <a:lstStyle/>
            <a:p>
              <a:r>
                <a:rPr lang="en-US" sz="2200" dirty="0">
                  <a:solidFill>
                    <a:srgbClr val="00B0F0"/>
                  </a:solidFill>
                  <a:latin typeface="Courier New"/>
                  <a:cs typeface="Courier New"/>
                </a:rPr>
                <a:t>11000000.10101000.00000001.</a:t>
              </a:r>
              <a:r>
                <a:rPr lang="en-US" sz="2200" b="1" dirty="0">
                  <a:solidFill>
                    <a:srgbClr val="00B0F0"/>
                  </a:solidFill>
                  <a:latin typeface="Courier New"/>
                  <a:cs typeface="Courier New"/>
                </a:rPr>
                <a:t>00</a:t>
              </a:r>
              <a:r>
                <a:rPr lang="en-US" sz="2200" dirty="0">
                  <a:latin typeface="Courier New"/>
                  <a:cs typeface="Courier New"/>
                </a:rPr>
                <a:t>000000</a:t>
              </a:r>
            </a:p>
          </p:txBody>
        </p:sp>
        <p:sp>
          <p:nvSpPr>
            <p:cNvPr id="26" name="TextBox 25">
              <a:extLst>
                <a:ext uri="{FF2B5EF4-FFF2-40B4-BE49-F238E27FC236}">
                  <a16:creationId xmlns:a16="http://schemas.microsoft.com/office/drawing/2014/main" id="{3392FB7C-F1B9-4D4F-A1A0-F6465194BA45}"/>
                </a:ext>
              </a:extLst>
            </p:cNvPr>
            <p:cNvSpPr txBox="1"/>
            <p:nvPr/>
          </p:nvSpPr>
          <p:spPr>
            <a:xfrm>
              <a:off x="192623" y="3720104"/>
              <a:ext cx="2844048" cy="430887"/>
            </a:xfrm>
            <a:prstGeom prst="rect">
              <a:avLst/>
            </a:prstGeom>
            <a:noFill/>
          </p:spPr>
          <p:txBody>
            <a:bodyPr wrap="none" rtlCol="0">
              <a:spAutoFit/>
            </a:bodyPr>
            <a:lstStyle/>
            <a:p>
              <a:r>
                <a:rPr lang="en-US" sz="2200" dirty="0">
                  <a:solidFill>
                    <a:srgbClr val="53A9D6"/>
                  </a:solidFill>
                </a:rPr>
                <a:t>Subnet </a:t>
              </a:r>
              <a:r>
                <a:rPr lang="en-US" sz="2200" b="1" dirty="0">
                  <a:solidFill>
                    <a:srgbClr val="53A9D6"/>
                  </a:solidFill>
                </a:rPr>
                <a:t>address</a:t>
              </a:r>
              <a:r>
                <a:rPr lang="en-US" sz="2200" dirty="0">
                  <a:solidFill>
                    <a:srgbClr val="53A9D6"/>
                  </a:solidFill>
                </a:rPr>
                <a:t>: </a:t>
              </a:r>
              <a:r>
                <a:rPr lang="en-US" sz="2200" dirty="0">
                  <a:solidFill>
                    <a:srgbClr val="53A9D6"/>
                  </a:solidFill>
                  <a:latin typeface="Courier New"/>
                  <a:cs typeface="Courier New"/>
                </a:rPr>
                <a:t> </a:t>
              </a:r>
              <a:r>
                <a:rPr lang="en-US" sz="2200" dirty="0">
                  <a:solidFill>
                    <a:srgbClr val="53A9D6"/>
                  </a:solidFill>
                  <a:latin typeface="Courier New"/>
                  <a:cs typeface="Courier New"/>
                  <a:sym typeface="Wingdings"/>
                </a:rPr>
                <a:t></a:t>
              </a:r>
              <a:endParaRPr lang="en-US" sz="2200" dirty="0">
                <a:solidFill>
                  <a:srgbClr val="53A9D6"/>
                </a:solidFill>
                <a:latin typeface="Courier New"/>
                <a:cs typeface="Courier New"/>
              </a:endParaRPr>
            </a:p>
          </p:txBody>
        </p:sp>
      </p:grpSp>
      <p:sp>
        <p:nvSpPr>
          <p:cNvPr id="21"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81</a:t>
            </a:fld>
            <a:endParaRPr lang="en-US" altLang="en-US" dirty="0">
              <a:latin typeface="Tahoma" panose="020B0604030504040204" pitchFamily="34" charset="0"/>
            </a:endParaRPr>
          </a:p>
        </p:txBody>
      </p:sp>
      <p:sp>
        <p:nvSpPr>
          <p:cNvPr id="2" name="Google Shape;580;p28">
            <a:extLst>
              <a:ext uri="{FF2B5EF4-FFF2-40B4-BE49-F238E27FC236}">
                <a16:creationId xmlns:a16="http://schemas.microsoft.com/office/drawing/2014/main" id="{CE6597EE-DF21-3B87-EDCE-C78A509A6EE6}"/>
              </a:ext>
            </a:extLst>
          </p:cNvPr>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Tree>
    <p:extLst>
      <p:ext uri="{BB962C8B-B14F-4D97-AF65-F5344CB8AC3E}">
        <p14:creationId xmlns:p14="http://schemas.microsoft.com/office/powerpoint/2010/main" val="1848608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65A1FC-E4BF-3641-81B8-47C8A663F085}"/>
              </a:ext>
            </a:extLst>
          </p:cNvPr>
          <p:cNvGrpSpPr/>
          <p:nvPr/>
        </p:nvGrpSpPr>
        <p:grpSpPr>
          <a:xfrm>
            <a:off x="0" y="0"/>
            <a:ext cx="9143999" cy="926011"/>
            <a:chOff x="0" y="0"/>
            <a:chExt cx="9143999" cy="926011"/>
          </a:xfrm>
        </p:grpSpPr>
        <p:pic>
          <p:nvPicPr>
            <p:cNvPr id="7" name="Picture 6" descr="Screen Shot 2015-04-08 at 10.38.40 AM.png">
              <a:extLst>
                <a:ext uri="{FF2B5EF4-FFF2-40B4-BE49-F238E27FC236}">
                  <a16:creationId xmlns:a16="http://schemas.microsoft.com/office/drawing/2014/main" id="{A7E1DD4E-5DE5-6846-9CE4-AE73F96E7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a:extLst>
                <a:ext uri="{FF2B5EF4-FFF2-40B4-BE49-F238E27FC236}">
                  <a16:creationId xmlns:a16="http://schemas.microsoft.com/office/drawing/2014/main" id="{BB3C4288-323C-2A46-A5A1-09BB84C60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0" name="TextBox 9">
            <a:extLst>
              <a:ext uri="{FF2B5EF4-FFF2-40B4-BE49-F238E27FC236}">
                <a16:creationId xmlns:a16="http://schemas.microsoft.com/office/drawing/2014/main" id="{2B5D589A-87AA-FC4C-8160-0FC21588416F}"/>
              </a:ext>
            </a:extLst>
          </p:cNvPr>
          <p:cNvSpPr txBox="1"/>
          <p:nvPr/>
        </p:nvSpPr>
        <p:spPr>
          <a:xfrm>
            <a:off x="595291" y="1446383"/>
            <a:ext cx="6599884" cy="461665"/>
          </a:xfrm>
          <a:prstGeom prst="rect">
            <a:avLst/>
          </a:prstGeom>
          <a:noFill/>
        </p:spPr>
        <p:txBody>
          <a:bodyPr wrap="none" rtlCol="0">
            <a:spAutoFit/>
          </a:bodyPr>
          <a:lstStyle/>
          <a:p>
            <a:r>
              <a:rPr lang="en-US" sz="2400" b="1" dirty="0">
                <a:solidFill>
                  <a:srgbClr val="0070C0"/>
                </a:solidFill>
                <a:latin typeface="Courier New"/>
                <a:cs typeface="Courier New"/>
              </a:rPr>
              <a:t>192.168.1.0/24</a:t>
            </a:r>
            <a:r>
              <a:rPr lang="en-US" sz="2400" dirty="0">
                <a:latin typeface="Arial"/>
                <a:cs typeface="Arial"/>
              </a:rPr>
              <a:t> to be divided into </a:t>
            </a:r>
            <a:r>
              <a:rPr lang="en-US" sz="2400" dirty="0">
                <a:solidFill>
                  <a:srgbClr val="FF0000"/>
                </a:solidFill>
                <a:latin typeface="Arial"/>
                <a:cs typeface="Arial"/>
              </a:rPr>
              <a:t>4 subnets</a:t>
            </a:r>
            <a:endParaRPr lang="en-US" sz="2400" dirty="0">
              <a:latin typeface="Arial"/>
              <a:cs typeface="Arial"/>
            </a:endParaRPr>
          </a:p>
        </p:txBody>
      </p:sp>
      <p:sp>
        <p:nvSpPr>
          <p:cNvPr id="11" name="Rectangle 10">
            <a:extLst>
              <a:ext uri="{FF2B5EF4-FFF2-40B4-BE49-F238E27FC236}">
                <a16:creationId xmlns:a16="http://schemas.microsoft.com/office/drawing/2014/main" id="{898A4553-3992-A346-B109-CDBCB1D6C4AB}"/>
              </a:ext>
            </a:extLst>
          </p:cNvPr>
          <p:cNvSpPr/>
          <p:nvPr/>
        </p:nvSpPr>
        <p:spPr bwMode="auto">
          <a:xfrm>
            <a:off x="0" y="2662176"/>
            <a:ext cx="9144000" cy="609543"/>
          </a:xfrm>
          <a:prstGeom prst="rect">
            <a:avLst/>
          </a:prstGeom>
          <a:solidFill>
            <a:schemeClr val="bg1">
              <a:lumMod val="75000"/>
              <a:alpha val="7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TextBox 12">
            <a:extLst>
              <a:ext uri="{FF2B5EF4-FFF2-40B4-BE49-F238E27FC236}">
                <a16:creationId xmlns:a16="http://schemas.microsoft.com/office/drawing/2014/main" id="{E95FE820-A6E3-BE49-9823-2E9B4CCAB195}"/>
              </a:ext>
            </a:extLst>
          </p:cNvPr>
          <p:cNvSpPr txBox="1"/>
          <p:nvPr/>
        </p:nvSpPr>
        <p:spPr>
          <a:xfrm>
            <a:off x="90631" y="2445596"/>
            <a:ext cx="3009157" cy="769441"/>
          </a:xfrm>
          <a:prstGeom prst="rect">
            <a:avLst/>
          </a:prstGeom>
          <a:noFill/>
        </p:spPr>
        <p:txBody>
          <a:bodyPr wrap="none" rtlCol="0">
            <a:spAutoFit/>
          </a:bodyPr>
          <a:lstStyle/>
          <a:p>
            <a:endParaRPr lang="en-US" sz="2200" dirty="0"/>
          </a:p>
          <a:p>
            <a:r>
              <a:rPr lang="en-US" sz="2200" dirty="0">
                <a:solidFill>
                  <a:srgbClr val="0070C0"/>
                </a:solidFill>
                <a:highlight>
                  <a:srgbClr val="FFFF00"/>
                </a:highlight>
                <a:latin typeface="Courier New"/>
                <a:cs typeface="Courier New"/>
              </a:rPr>
              <a:t>192.168.1.0</a:t>
            </a:r>
            <a:r>
              <a:rPr lang="en-US" sz="2200" b="1" dirty="0">
                <a:solidFill>
                  <a:srgbClr val="0070C0"/>
                </a:solidFill>
                <a:highlight>
                  <a:srgbClr val="FFFF00"/>
                </a:highlight>
                <a:latin typeface="Courier New"/>
                <a:cs typeface="Courier New"/>
              </a:rPr>
              <a:t>/24</a:t>
            </a:r>
            <a:r>
              <a:rPr lang="en-US" sz="2200" dirty="0">
                <a:latin typeface="Courier New"/>
                <a:cs typeface="Courier New"/>
              </a:rPr>
              <a:t> </a:t>
            </a:r>
            <a:r>
              <a:rPr lang="en-US" sz="2200" dirty="0">
                <a:latin typeface="Courier New"/>
                <a:cs typeface="Courier New"/>
                <a:sym typeface="Wingdings"/>
              </a:rPr>
              <a:t></a:t>
            </a:r>
            <a:endParaRPr lang="en-US" sz="2200" dirty="0">
              <a:latin typeface="Courier New"/>
              <a:cs typeface="Courier New"/>
            </a:endParaRPr>
          </a:p>
        </p:txBody>
      </p:sp>
      <p:sp>
        <p:nvSpPr>
          <p:cNvPr id="14" name="TextBox 13">
            <a:extLst>
              <a:ext uri="{FF2B5EF4-FFF2-40B4-BE49-F238E27FC236}">
                <a16:creationId xmlns:a16="http://schemas.microsoft.com/office/drawing/2014/main" id="{2375998A-860F-BD42-988C-90A618582957}"/>
              </a:ext>
            </a:extLst>
          </p:cNvPr>
          <p:cNvSpPr txBox="1"/>
          <p:nvPr/>
        </p:nvSpPr>
        <p:spPr>
          <a:xfrm>
            <a:off x="3039957" y="2773627"/>
            <a:ext cx="6131807" cy="430887"/>
          </a:xfrm>
          <a:prstGeom prst="rect">
            <a:avLst/>
          </a:prstGeom>
          <a:noFill/>
        </p:spPr>
        <p:txBody>
          <a:bodyPr wrap="none" rtlCol="0">
            <a:spAutoFit/>
          </a:bodyPr>
          <a:lstStyle/>
          <a:p>
            <a:r>
              <a:rPr lang="en-US" sz="2200" dirty="0">
                <a:solidFill>
                  <a:srgbClr val="FF0000"/>
                </a:solidFill>
                <a:latin typeface="Courier New"/>
                <a:cs typeface="Courier New"/>
              </a:rPr>
              <a:t>11000000.10101000.00000001</a:t>
            </a:r>
            <a:r>
              <a:rPr lang="en-US" sz="2200" dirty="0">
                <a:latin typeface="Courier New"/>
                <a:cs typeface="Courier New"/>
              </a:rPr>
              <a:t>.00000000</a:t>
            </a:r>
          </a:p>
        </p:txBody>
      </p:sp>
      <p:sp>
        <p:nvSpPr>
          <p:cNvPr id="18" name="TextBox 17">
            <a:extLst>
              <a:ext uri="{FF2B5EF4-FFF2-40B4-BE49-F238E27FC236}">
                <a16:creationId xmlns:a16="http://schemas.microsoft.com/office/drawing/2014/main" id="{CEA63EBF-872D-7D47-AC8A-953CCFEEF59F}"/>
              </a:ext>
            </a:extLst>
          </p:cNvPr>
          <p:cNvSpPr txBox="1"/>
          <p:nvPr/>
        </p:nvSpPr>
        <p:spPr>
          <a:xfrm>
            <a:off x="3052657" y="3700727"/>
            <a:ext cx="6131807" cy="430887"/>
          </a:xfrm>
          <a:prstGeom prst="rect">
            <a:avLst/>
          </a:prstGeom>
          <a:noFill/>
        </p:spPr>
        <p:txBody>
          <a:bodyPr wrap="none" rtlCol="0">
            <a:spAutoFit/>
          </a:bodyPr>
          <a:lstStyle/>
          <a:p>
            <a:r>
              <a:rPr lang="en-US" sz="2200" dirty="0">
                <a:solidFill>
                  <a:srgbClr val="00B0F0"/>
                </a:solidFill>
                <a:latin typeface="Courier New"/>
                <a:cs typeface="Courier New"/>
              </a:rPr>
              <a:t>11000000.10101000.00000001.00</a:t>
            </a:r>
            <a:r>
              <a:rPr lang="en-US" sz="2200" dirty="0">
                <a:latin typeface="Courier New"/>
                <a:cs typeface="Courier New"/>
              </a:rPr>
              <a:t>000000</a:t>
            </a:r>
          </a:p>
        </p:txBody>
      </p:sp>
      <p:grpSp>
        <p:nvGrpSpPr>
          <p:cNvPr id="23" name="Group 22">
            <a:extLst>
              <a:ext uri="{FF2B5EF4-FFF2-40B4-BE49-F238E27FC236}">
                <a16:creationId xmlns:a16="http://schemas.microsoft.com/office/drawing/2014/main" id="{DE3E588E-3D60-254E-8685-A5A0232AF2D3}"/>
              </a:ext>
            </a:extLst>
          </p:cNvPr>
          <p:cNvGrpSpPr/>
          <p:nvPr/>
        </p:nvGrpSpPr>
        <p:grpSpPr>
          <a:xfrm>
            <a:off x="4168964" y="2249859"/>
            <a:ext cx="4954678" cy="409756"/>
            <a:chOff x="4181664" y="3026486"/>
            <a:chExt cx="4954678" cy="409756"/>
          </a:xfrm>
        </p:grpSpPr>
        <p:sp>
          <p:nvSpPr>
            <p:cNvPr id="24" name="TextBox 23">
              <a:extLst>
                <a:ext uri="{FF2B5EF4-FFF2-40B4-BE49-F238E27FC236}">
                  <a16:creationId xmlns:a16="http://schemas.microsoft.com/office/drawing/2014/main" id="{158E3B9D-B3CF-6B4F-9644-F9CC4851F603}"/>
                </a:ext>
              </a:extLst>
            </p:cNvPr>
            <p:cNvSpPr txBox="1"/>
            <p:nvPr/>
          </p:nvSpPr>
          <p:spPr>
            <a:xfrm>
              <a:off x="7569888" y="3026486"/>
              <a:ext cx="1566454" cy="400110"/>
            </a:xfrm>
            <a:prstGeom prst="rect">
              <a:avLst/>
            </a:prstGeom>
            <a:solidFill>
              <a:schemeClr val="bg1">
                <a:lumMod val="75000"/>
              </a:schemeClr>
            </a:solidFill>
          </p:spPr>
          <p:txBody>
            <a:bodyPr wrap="none" rtlCol="0">
              <a:spAutoFit/>
            </a:bodyPr>
            <a:lstStyle/>
            <a:p>
              <a:r>
                <a:rPr lang="en-US" sz="2000" dirty="0"/>
                <a:t>Host portion</a:t>
              </a:r>
            </a:p>
          </p:txBody>
        </p:sp>
        <p:sp>
          <p:nvSpPr>
            <p:cNvPr id="25" name="TextBox 24">
              <a:extLst>
                <a:ext uri="{FF2B5EF4-FFF2-40B4-BE49-F238E27FC236}">
                  <a16:creationId xmlns:a16="http://schemas.microsoft.com/office/drawing/2014/main" id="{1FCA5BF3-0244-3049-8D29-FBD8989BDFE4}"/>
                </a:ext>
              </a:extLst>
            </p:cNvPr>
            <p:cNvSpPr txBox="1"/>
            <p:nvPr/>
          </p:nvSpPr>
          <p:spPr>
            <a:xfrm>
              <a:off x="4181664" y="3036132"/>
              <a:ext cx="1980029" cy="400110"/>
            </a:xfrm>
            <a:prstGeom prst="rect">
              <a:avLst/>
            </a:prstGeom>
            <a:solidFill>
              <a:schemeClr val="bg1">
                <a:lumMod val="75000"/>
              </a:schemeClr>
            </a:solidFill>
          </p:spPr>
          <p:txBody>
            <a:bodyPr wrap="none" rtlCol="0">
              <a:spAutoFit/>
            </a:bodyPr>
            <a:lstStyle/>
            <a:p>
              <a:r>
                <a:rPr lang="en-US" sz="2000" dirty="0">
                  <a:solidFill>
                    <a:srgbClr val="FF0000"/>
                  </a:solidFill>
                </a:rPr>
                <a:t>Network portion</a:t>
              </a:r>
            </a:p>
          </p:txBody>
        </p:sp>
      </p:grpSp>
      <p:sp>
        <p:nvSpPr>
          <p:cNvPr id="26" name="TextBox 25">
            <a:extLst>
              <a:ext uri="{FF2B5EF4-FFF2-40B4-BE49-F238E27FC236}">
                <a16:creationId xmlns:a16="http://schemas.microsoft.com/office/drawing/2014/main" id="{3392FB7C-F1B9-4D4F-A1A0-F6465194BA45}"/>
              </a:ext>
            </a:extLst>
          </p:cNvPr>
          <p:cNvSpPr txBox="1"/>
          <p:nvPr/>
        </p:nvSpPr>
        <p:spPr>
          <a:xfrm>
            <a:off x="192623" y="3720104"/>
            <a:ext cx="2844048" cy="430887"/>
          </a:xfrm>
          <a:prstGeom prst="rect">
            <a:avLst/>
          </a:prstGeom>
          <a:noFill/>
        </p:spPr>
        <p:txBody>
          <a:bodyPr wrap="none" rtlCol="0">
            <a:spAutoFit/>
          </a:bodyPr>
          <a:lstStyle/>
          <a:p>
            <a:r>
              <a:rPr lang="en-US" sz="2200" dirty="0">
                <a:solidFill>
                  <a:srgbClr val="53A9D6"/>
                </a:solidFill>
              </a:rPr>
              <a:t>Subnet </a:t>
            </a:r>
            <a:r>
              <a:rPr lang="en-US" sz="2200" b="1" dirty="0">
                <a:solidFill>
                  <a:srgbClr val="53A9D6"/>
                </a:solidFill>
              </a:rPr>
              <a:t>address</a:t>
            </a:r>
            <a:r>
              <a:rPr lang="en-US" sz="2200" dirty="0">
                <a:solidFill>
                  <a:srgbClr val="53A9D6"/>
                </a:solidFill>
              </a:rPr>
              <a:t>: </a:t>
            </a:r>
            <a:r>
              <a:rPr lang="en-US" sz="2200" dirty="0">
                <a:solidFill>
                  <a:srgbClr val="53A9D6"/>
                </a:solidFill>
                <a:latin typeface="Courier New"/>
                <a:cs typeface="Courier New"/>
              </a:rPr>
              <a:t> </a:t>
            </a:r>
            <a:r>
              <a:rPr lang="en-US" sz="2200" dirty="0">
                <a:solidFill>
                  <a:srgbClr val="53A9D6"/>
                </a:solidFill>
                <a:latin typeface="Courier New"/>
                <a:cs typeface="Courier New"/>
                <a:sym typeface="Wingdings"/>
              </a:rPr>
              <a:t></a:t>
            </a:r>
            <a:endParaRPr lang="en-US" sz="2200" dirty="0">
              <a:solidFill>
                <a:srgbClr val="53A9D6"/>
              </a:solidFill>
              <a:latin typeface="Courier New"/>
              <a:cs typeface="Courier New"/>
            </a:endParaRPr>
          </a:p>
        </p:txBody>
      </p:sp>
      <p:grpSp>
        <p:nvGrpSpPr>
          <p:cNvPr id="30" name="Group 29">
            <a:extLst>
              <a:ext uri="{FF2B5EF4-FFF2-40B4-BE49-F238E27FC236}">
                <a16:creationId xmlns:a16="http://schemas.microsoft.com/office/drawing/2014/main" id="{701B86B9-F604-A548-9D90-B7FDDFC83A19}"/>
              </a:ext>
            </a:extLst>
          </p:cNvPr>
          <p:cNvGrpSpPr/>
          <p:nvPr/>
        </p:nvGrpSpPr>
        <p:grpSpPr>
          <a:xfrm>
            <a:off x="177559" y="4367804"/>
            <a:ext cx="9004541" cy="769441"/>
            <a:chOff x="177559" y="4367804"/>
            <a:chExt cx="9004541" cy="769441"/>
          </a:xfrm>
        </p:grpSpPr>
        <p:sp>
          <p:nvSpPr>
            <p:cNvPr id="19" name="TextBox 18">
              <a:extLst>
                <a:ext uri="{FF2B5EF4-FFF2-40B4-BE49-F238E27FC236}">
                  <a16:creationId xmlns:a16="http://schemas.microsoft.com/office/drawing/2014/main" id="{20640D14-FB15-FF46-B95F-548C6BFCEEDE}"/>
                </a:ext>
              </a:extLst>
            </p:cNvPr>
            <p:cNvSpPr txBox="1"/>
            <p:nvPr/>
          </p:nvSpPr>
          <p:spPr>
            <a:xfrm>
              <a:off x="3050293" y="4399227"/>
              <a:ext cx="6131807" cy="430887"/>
            </a:xfrm>
            <a:prstGeom prst="rect">
              <a:avLst/>
            </a:prstGeom>
            <a:noFill/>
          </p:spPr>
          <p:txBody>
            <a:bodyPr wrap="none" rtlCol="0">
              <a:spAutoFit/>
            </a:bodyPr>
            <a:lstStyle/>
            <a:p>
              <a:r>
                <a:rPr lang="en-US" sz="2200" b="1" dirty="0">
                  <a:solidFill>
                    <a:srgbClr val="002060"/>
                  </a:solidFill>
                  <a:latin typeface="Courier New"/>
                  <a:cs typeface="Courier New"/>
                </a:rPr>
                <a:t>11000000</a:t>
              </a:r>
              <a:r>
                <a:rPr lang="en-US" sz="2200" dirty="0">
                  <a:solidFill>
                    <a:srgbClr val="002060"/>
                  </a:solidFill>
                  <a:latin typeface="Courier New"/>
                  <a:cs typeface="Courier New"/>
                </a:rPr>
                <a:t>.</a:t>
              </a:r>
              <a:r>
                <a:rPr lang="en-US" sz="2200" b="1" dirty="0">
                  <a:solidFill>
                    <a:srgbClr val="002060"/>
                  </a:solidFill>
                  <a:latin typeface="Courier New"/>
                  <a:cs typeface="Courier New"/>
                </a:rPr>
                <a:t>10101000</a:t>
              </a:r>
              <a:r>
                <a:rPr lang="en-US" sz="2200" dirty="0">
                  <a:solidFill>
                    <a:srgbClr val="002060"/>
                  </a:solidFill>
                  <a:latin typeface="Courier New"/>
                  <a:cs typeface="Courier New"/>
                </a:rPr>
                <a:t>.</a:t>
              </a:r>
              <a:r>
                <a:rPr lang="en-US" sz="2200" b="1" dirty="0">
                  <a:solidFill>
                    <a:srgbClr val="002060"/>
                  </a:solidFill>
                  <a:latin typeface="Courier New"/>
                  <a:cs typeface="Courier New"/>
                </a:rPr>
                <a:t>00000001</a:t>
              </a:r>
              <a:r>
                <a:rPr lang="en-US" sz="2200" dirty="0">
                  <a:solidFill>
                    <a:srgbClr val="002060"/>
                  </a:solidFill>
                  <a:latin typeface="Courier New"/>
                  <a:cs typeface="Courier New"/>
                </a:rPr>
                <a:t>.</a:t>
              </a:r>
              <a:r>
                <a:rPr lang="en-US" sz="2200" b="1" dirty="0">
                  <a:solidFill>
                    <a:srgbClr val="002060"/>
                  </a:solidFill>
                  <a:latin typeface="Courier New"/>
                  <a:cs typeface="Courier New"/>
                </a:rPr>
                <a:t>00</a:t>
              </a:r>
              <a:r>
                <a:rPr lang="en-US" sz="2200" dirty="0">
                  <a:solidFill>
                    <a:srgbClr val="FF0000"/>
                  </a:solidFill>
                  <a:latin typeface="Courier New"/>
                  <a:cs typeface="Courier New"/>
                </a:rPr>
                <a:t>000000</a:t>
              </a:r>
            </a:p>
          </p:txBody>
        </p:sp>
        <p:sp>
          <p:nvSpPr>
            <p:cNvPr id="21" name="TextBox 20">
              <a:extLst>
                <a:ext uri="{FF2B5EF4-FFF2-40B4-BE49-F238E27FC236}">
                  <a16:creationId xmlns:a16="http://schemas.microsoft.com/office/drawing/2014/main" id="{A5ED8D18-4BD4-BE44-BE0E-652C34A862FE}"/>
                </a:ext>
              </a:extLst>
            </p:cNvPr>
            <p:cNvSpPr txBox="1"/>
            <p:nvPr/>
          </p:nvSpPr>
          <p:spPr>
            <a:xfrm>
              <a:off x="177559" y="4367804"/>
              <a:ext cx="2925801" cy="769441"/>
            </a:xfrm>
            <a:prstGeom prst="rect">
              <a:avLst/>
            </a:prstGeom>
            <a:noFill/>
          </p:spPr>
          <p:txBody>
            <a:bodyPr wrap="none" rtlCol="0">
              <a:spAutoFit/>
            </a:bodyPr>
            <a:lstStyle/>
            <a:p>
              <a:r>
                <a:rPr lang="en-US" sz="2200" dirty="0">
                  <a:solidFill>
                    <a:srgbClr val="53A9D6"/>
                  </a:solidFill>
                </a:rPr>
                <a:t>Subnet </a:t>
              </a:r>
              <a:r>
                <a:rPr lang="en-US" sz="2200" b="1" dirty="0">
                  <a:solidFill>
                    <a:srgbClr val="53A9D6"/>
                  </a:solidFill>
                </a:rPr>
                <a:t>0</a:t>
              </a:r>
              <a:r>
                <a:rPr lang="en-US" sz="2200" dirty="0">
                  <a:solidFill>
                    <a:srgbClr val="53A9D6"/>
                  </a:solidFill>
                </a:rPr>
                <a:t>:                </a:t>
              </a:r>
              <a:r>
                <a:rPr lang="en-US" sz="2200" dirty="0">
                  <a:solidFill>
                    <a:srgbClr val="53A9D6"/>
                  </a:solidFill>
                  <a:latin typeface="Courier New"/>
                  <a:cs typeface="Courier New"/>
                  <a:sym typeface="Wingdings"/>
                </a:rPr>
                <a:t></a:t>
              </a:r>
              <a:endParaRPr lang="en-US" sz="2200" dirty="0">
                <a:solidFill>
                  <a:srgbClr val="53A9D6"/>
                </a:solidFill>
              </a:endParaRPr>
            </a:p>
            <a:p>
              <a:r>
                <a:rPr lang="en-US" sz="2200" dirty="0">
                  <a:solidFill>
                    <a:srgbClr val="002060"/>
                  </a:solidFill>
                  <a:highlight>
                    <a:srgbClr val="00FF00"/>
                  </a:highlight>
                  <a:latin typeface="Courier New"/>
                  <a:cs typeface="Courier New"/>
                </a:rPr>
                <a:t>192.168.1.0</a:t>
              </a:r>
              <a:r>
                <a:rPr lang="en-US" sz="2200" b="1" dirty="0">
                  <a:solidFill>
                    <a:srgbClr val="002060"/>
                  </a:solidFill>
                  <a:highlight>
                    <a:srgbClr val="00FF00"/>
                  </a:highlight>
                  <a:latin typeface="Courier New"/>
                  <a:cs typeface="Courier New"/>
                </a:rPr>
                <a:t>/26</a:t>
              </a:r>
              <a:endParaRPr lang="en-US" sz="2200" dirty="0">
                <a:solidFill>
                  <a:srgbClr val="002060"/>
                </a:solidFill>
                <a:latin typeface="Courier New"/>
                <a:cs typeface="Courier New"/>
              </a:endParaRPr>
            </a:p>
          </p:txBody>
        </p:sp>
      </p:grpSp>
      <p:grpSp>
        <p:nvGrpSpPr>
          <p:cNvPr id="34" name="Group 33">
            <a:extLst>
              <a:ext uri="{FF2B5EF4-FFF2-40B4-BE49-F238E27FC236}">
                <a16:creationId xmlns:a16="http://schemas.microsoft.com/office/drawing/2014/main" id="{431E6C0C-F8AB-7A4C-844C-FA71DF3E0037}"/>
              </a:ext>
            </a:extLst>
          </p:cNvPr>
          <p:cNvGrpSpPr/>
          <p:nvPr/>
        </p:nvGrpSpPr>
        <p:grpSpPr>
          <a:xfrm>
            <a:off x="622300" y="5130800"/>
            <a:ext cx="3672800" cy="1014631"/>
            <a:chOff x="711200" y="5118100"/>
            <a:chExt cx="3672800" cy="1014631"/>
          </a:xfrm>
        </p:grpSpPr>
        <p:sp>
          <p:nvSpPr>
            <p:cNvPr id="31" name="TextBox 30">
              <a:extLst>
                <a:ext uri="{FF2B5EF4-FFF2-40B4-BE49-F238E27FC236}">
                  <a16:creationId xmlns:a16="http://schemas.microsoft.com/office/drawing/2014/main" id="{50831F8A-D785-5043-BFB6-39431F1A8574}"/>
                </a:ext>
              </a:extLst>
            </p:cNvPr>
            <p:cNvSpPr txBox="1"/>
            <p:nvPr/>
          </p:nvSpPr>
          <p:spPr>
            <a:xfrm>
              <a:off x="711200" y="5486400"/>
              <a:ext cx="3672800" cy="646331"/>
            </a:xfrm>
            <a:prstGeom prst="rect">
              <a:avLst/>
            </a:prstGeom>
            <a:solidFill>
              <a:srgbClr val="FFFF00"/>
            </a:solidFill>
            <a:ln>
              <a:solidFill>
                <a:srgbClr val="FF0000"/>
              </a:solidFill>
            </a:ln>
          </p:spPr>
          <p:txBody>
            <a:bodyPr wrap="none" rtlCol="0">
              <a:spAutoFit/>
            </a:bodyPr>
            <a:lstStyle/>
            <a:p>
              <a:r>
                <a:rPr lang="ms-MY">
                  <a:solidFill>
                    <a:srgbClr val="FF0000"/>
                  </a:solidFill>
                </a:rPr>
                <a:t>The subnet mask for each subnet </a:t>
              </a:r>
            </a:p>
            <a:p>
              <a:r>
                <a:rPr lang="ms-MY">
                  <a:solidFill>
                    <a:srgbClr val="FF0000"/>
                  </a:solidFill>
                </a:rPr>
                <a:t>is </a:t>
              </a:r>
              <a:r>
                <a:rPr lang="ms-MY" b="1">
                  <a:solidFill>
                    <a:srgbClr val="FF0000"/>
                  </a:solidFill>
                </a:rPr>
                <a:t>/26</a:t>
              </a:r>
              <a:r>
                <a:rPr lang="ms-MY">
                  <a:solidFill>
                    <a:srgbClr val="FF0000"/>
                  </a:solidFill>
                </a:rPr>
                <a:t>  OR  </a:t>
              </a:r>
              <a:r>
                <a:rPr lang="ms-MY" b="1">
                  <a:solidFill>
                    <a:srgbClr val="FF0000"/>
                  </a:solidFill>
                </a:rPr>
                <a:t>255.255.255.192</a:t>
              </a:r>
            </a:p>
          </p:txBody>
        </p:sp>
        <p:cxnSp>
          <p:nvCxnSpPr>
            <p:cNvPr id="33" name="Straight Arrow Connector 32">
              <a:extLst>
                <a:ext uri="{FF2B5EF4-FFF2-40B4-BE49-F238E27FC236}">
                  <a16:creationId xmlns:a16="http://schemas.microsoft.com/office/drawing/2014/main" id="{6D2A49A3-9D9B-2440-AD8F-AAC3777C2070}"/>
                </a:ext>
              </a:extLst>
            </p:cNvPr>
            <p:cNvCxnSpPr>
              <a:cxnSpLocks/>
            </p:cNvCxnSpPr>
            <p:nvPr/>
          </p:nvCxnSpPr>
          <p:spPr bwMode="auto">
            <a:xfrm flipH="1" flipV="1">
              <a:off x="2552700" y="5118100"/>
              <a:ext cx="165100" cy="304800"/>
            </a:xfrm>
            <a:prstGeom prst="straightConnector1">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35" name="Group 34">
            <a:extLst>
              <a:ext uri="{FF2B5EF4-FFF2-40B4-BE49-F238E27FC236}">
                <a16:creationId xmlns:a16="http://schemas.microsoft.com/office/drawing/2014/main" id="{07B8CC1C-665F-5145-B116-3BB1F50F6EFB}"/>
              </a:ext>
            </a:extLst>
          </p:cNvPr>
          <p:cNvGrpSpPr/>
          <p:nvPr/>
        </p:nvGrpSpPr>
        <p:grpSpPr>
          <a:xfrm>
            <a:off x="6972300" y="4762500"/>
            <a:ext cx="1826141" cy="788432"/>
            <a:chOff x="711200" y="5067300"/>
            <a:chExt cx="1826141" cy="788432"/>
          </a:xfrm>
        </p:grpSpPr>
        <p:sp>
          <p:nvSpPr>
            <p:cNvPr id="36" name="TextBox 35">
              <a:extLst>
                <a:ext uri="{FF2B5EF4-FFF2-40B4-BE49-F238E27FC236}">
                  <a16:creationId xmlns:a16="http://schemas.microsoft.com/office/drawing/2014/main" id="{B0123443-F198-CF49-9126-C2543B28E28D}"/>
                </a:ext>
              </a:extLst>
            </p:cNvPr>
            <p:cNvSpPr txBox="1"/>
            <p:nvPr/>
          </p:nvSpPr>
          <p:spPr>
            <a:xfrm>
              <a:off x="711200" y="5486400"/>
              <a:ext cx="1826141" cy="369332"/>
            </a:xfrm>
            <a:prstGeom prst="rect">
              <a:avLst/>
            </a:prstGeom>
            <a:solidFill>
              <a:srgbClr val="FFFF00"/>
            </a:solidFill>
            <a:ln>
              <a:solidFill>
                <a:srgbClr val="FF0000"/>
              </a:solidFill>
            </a:ln>
          </p:spPr>
          <p:txBody>
            <a:bodyPr wrap="none" rtlCol="0">
              <a:spAutoFit/>
            </a:bodyPr>
            <a:lstStyle/>
            <a:p>
              <a:r>
                <a:rPr lang="ms-MY">
                  <a:solidFill>
                    <a:srgbClr val="FF0000"/>
                  </a:solidFill>
                </a:rPr>
                <a:t>6 bit left for host</a:t>
              </a:r>
              <a:endParaRPr lang="ms-MY" b="1">
                <a:solidFill>
                  <a:srgbClr val="FF0000"/>
                </a:solidFill>
              </a:endParaRPr>
            </a:p>
          </p:txBody>
        </p:sp>
        <p:cxnSp>
          <p:nvCxnSpPr>
            <p:cNvPr id="37" name="Straight Arrow Connector 36">
              <a:extLst>
                <a:ext uri="{FF2B5EF4-FFF2-40B4-BE49-F238E27FC236}">
                  <a16:creationId xmlns:a16="http://schemas.microsoft.com/office/drawing/2014/main" id="{CA956C8C-D096-8444-B37B-2FE49B168890}"/>
                </a:ext>
              </a:extLst>
            </p:cNvPr>
            <p:cNvCxnSpPr>
              <a:cxnSpLocks/>
              <a:stCxn id="36" idx="0"/>
            </p:cNvCxnSpPr>
            <p:nvPr/>
          </p:nvCxnSpPr>
          <p:spPr bwMode="auto">
            <a:xfrm flipV="1">
              <a:off x="1624271" y="5067300"/>
              <a:ext cx="598229" cy="419100"/>
            </a:xfrm>
            <a:prstGeom prst="straightConnector1">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27"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82</a:t>
            </a:fld>
            <a:endParaRPr lang="en-US" altLang="en-US" dirty="0">
              <a:latin typeface="Tahoma" panose="020B0604030504040204" pitchFamily="34" charset="0"/>
            </a:endParaRPr>
          </a:p>
        </p:txBody>
      </p:sp>
      <p:sp>
        <p:nvSpPr>
          <p:cNvPr id="2" name="Google Shape;580;p28">
            <a:extLst>
              <a:ext uri="{FF2B5EF4-FFF2-40B4-BE49-F238E27FC236}">
                <a16:creationId xmlns:a16="http://schemas.microsoft.com/office/drawing/2014/main" id="{4F038E1A-9FFE-2C94-5DE3-26BF2D464FB0}"/>
              </a:ext>
            </a:extLst>
          </p:cNvPr>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Tree>
    <p:extLst>
      <p:ext uri="{BB962C8B-B14F-4D97-AF65-F5344CB8AC3E}">
        <p14:creationId xmlns:p14="http://schemas.microsoft.com/office/powerpoint/2010/main" val="221410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anim calcmode="lin" valueType="num">
                                      <p:cBhvr additive="base">
                                        <p:cTn id="13" dur="500" fill="hold"/>
                                        <p:tgtEl>
                                          <p:spTgt spid="34"/>
                                        </p:tgtEl>
                                        <p:attrNameLst>
                                          <p:attrName>ppt_x</p:attrName>
                                        </p:attrNameLst>
                                      </p:cBhvr>
                                      <p:tavLst>
                                        <p:tav tm="0">
                                          <p:val>
                                            <p:strVal val="#ppt_x"/>
                                          </p:val>
                                        </p:tav>
                                        <p:tav tm="100000">
                                          <p:val>
                                            <p:strVal val="#ppt_x"/>
                                          </p:val>
                                        </p:tav>
                                      </p:tavLst>
                                    </p:anim>
                                    <p:anim calcmode="lin" valueType="num">
                                      <p:cBhvr additive="base">
                                        <p:cTn id="1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fill="hold"/>
                                        <p:tgtEl>
                                          <p:spTgt spid="35"/>
                                        </p:tgtEl>
                                        <p:attrNameLst>
                                          <p:attrName>ppt_x</p:attrName>
                                        </p:attrNameLst>
                                      </p:cBhvr>
                                      <p:tavLst>
                                        <p:tav tm="0">
                                          <p:val>
                                            <p:strVal val="#ppt_x"/>
                                          </p:val>
                                        </p:tav>
                                        <p:tav tm="100000">
                                          <p:val>
                                            <p:strVal val="#ppt_x"/>
                                          </p:val>
                                        </p:tav>
                                      </p:tavLst>
                                    </p:anim>
                                    <p:anim calcmode="lin" valueType="num">
                                      <p:cBhvr additive="base">
                                        <p:cTn id="2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65A1FC-E4BF-3641-81B8-47C8A663F085}"/>
              </a:ext>
            </a:extLst>
          </p:cNvPr>
          <p:cNvGrpSpPr/>
          <p:nvPr/>
        </p:nvGrpSpPr>
        <p:grpSpPr>
          <a:xfrm>
            <a:off x="0" y="0"/>
            <a:ext cx="9143999" cy="926011"/>
            <a:chOff x="0" y="0"/>
            <a:chExt cx="9143999" cy="926011"/>
          </a:xfrm>
        </p:grpSpPr>
        <p:pic>
          <p:nvPicPr>
            <p:cNvPr id="7" name="Picture 6" descr="Screen Shot 2015-04-08 at 10.38.40 AM.png">
              <a:extLst>
                <a:ext uri="{FF2B5EF4-FFF2-40B4-BE49-F238E27FC236}">
                  <a16:creationId xmlns:a16="http://schemas.microsoft.com/office/drawing/2014/main" id="{A7E1DD4E-5DE5-6846-9CE4-AE73F96E7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a:extLst>
                <a:ext uri="{FF2B5EF4-FFF2-40B4-BE49-F238E27FC236}">
                  <a16:creationId xmlns:a16="http://schemas.microsoft.com/office/drawing/2014/main" id="{BB3C4288-323C-2A46-A5A1-09BB84C60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1" name="Rectangle 10">
            <a:extLst>
              <a:ext uri="{FF2B5EF4-FFF2-40B4-BE49-F238E27FC236}">
                <a16:creationId xmlns:a16="http://schemas.microsoft.com/office/drawing/2014/main" id="{898A4553-3992-A346-B109-CDBCB1D6C4AB}"/>
              </a:ext>
            </a:extLst>
          </p:cNvPr>
          <p:cNvSpPr/>
          <p:nvPr/>
        </p:nvSpPr>
        <p:spPr bwMode="auto">
          <a:xfrm>
            <a:off x="0" y="1176276"/>
            <a:ext cx="9144000" cy="855724"/>
          </a:xfrm>
          <a:prstGeom prst="rect">
            <a:avLst/>
          </a:prstGeom>
          <a:solidFill>
            <a:schemeClr val="bg1">
              <a:lumMod val="75000"/>
              <a:alpha val="7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 name="TextBox 17">
            <a:extLst>
              <a:ext uri="{FF2B5EF4-FFF2-40B4-BE49-F238E27FC236}">
                <a16:creationId xmlns:a16="http://schemas.microsoft.com/office/drawing/2014/main" id="{CEA63EBF-872D-7D47-AC8A-953CCFEEF59F}"/>
              </a:ext>
            </a:extLst>
          </p:cNvPr>
          <p:cNvSpPr txBox="1"/>
          <p:nvPr/>
        </p:nvSpPr>
        <p:spPr>
          <a:xfrm>
            <a:off x="2874857" y="1224227"/>
            <a:ext cx="6131807" cy="430887"/>
          </a:xfrm>
          <a:prstGeom prst="rect">
            <a:avLst/>
          </a:prstGeom>
          <a:noFill/>
        </p:spPr>
        <p:txBody>
          <a:bodyPr wrap="none" rtlCol="0">
            <a:spAutoFit/>
          </a:bodyPr>
          <a:lstStyle/>
          <a:p>
            <a:r>
              <a:rPr lang="en-US" sz="2200" b="1" dirty="0">
                <a:solidFill>
                  <a:srgbClr val="00B0F0"/>
                </a:solidFill>
                <a:latin typeface="Courier New"/>
                <a:cs typeface="Courier New"/>
              </a:rPr>
              <a:t>11000000</a:t>
            </a:r>
            <a:r>
              <a:rPr lang="en-US" sz="2200" dirty="0">
                <a:solidFill>
                  <a:srgbClr val="00B0F0"/>
                </a:solidFill>
                <a:latin typeface="Courier New"/>
                <a:cs typeface="Courier New"/>
              </a:rPr>
              <a:t>.</a:t>
            </a:r>
            <a:r>
              <a:rPr lang="en-US" sz="2200" b="1" dirty="0">
                <a:solidFill>
                  <a:srgbClr val="00B0F0"/>
                </a:solidFill>
                <a:latin typeface="Courier New"/>
                <a:cs typeface="Courier New"/>
              </a:rPr>
              <a:t>10101000</a:t>
            </a:r>
            <a:r>
              <a:rPr lang="en-US" sz="2200" dirty="0">
                <a:solidFill>
                  <a:srgbClr val="00B0F0"/>
                </a:solidFill>
                <a:latin typeface="Courier New"/>
                <a:cs typeface="Courier New"/>
              </a:rPr>
              <a:t>.</a:t>
            </a:r>
            <a:r>
              <a:rPr lang="en-US" sz="2200" b="1" dirty="0">
                <a:solidFill>
                  <a:srgbClr val="00B0F0"/>
                </a:solidFill>
                <a:latin typeface="Courier New"/>
                <a:cs typeface="Courier New"/>
              </a:rPr>
              <a:t>00000001</a:t>
            </a:r>
            <a:r>
              <a:rPr lang="en-US" sz="2200" dirty="0">
                <a:solidFill>
                  <a:srgbClr val="00B0F0"/>
                </a:solidFill>
                <a:latin typeface="Courier New"/>
                <a:cs typeface="Courier New"/>
              </a:rPr>
              <a:t>.</a:t>
            </a:r>
            <a:r>
              <a:rPr lang="en-US" sz="2200" b="1" dirty="0">
                <a:solidFill>
                  <a:srgbClr val="00B0F0"/>
                </a:solidFill>
                <a:latin typeface="Courier New"/>
                <a:cs typeface="Courier New"/>
              </a:rPr>
              <a:t>00</a:t>
            </a:r>
            <a:r>
              <a:rPr lang="en-US" sz="2200" dirty="0">
                <a:latin typeface="Courier New"/>
                <a:cs typeface="Courier New"/>
              </a:rPr>
              <a:t>000000</a:t>
            </a:r>
          </a:p>
        </p:txBody>
      </p:sp>
      <p:sp>
        <p:nvSpPr>
          <p:cNvPr id="21" name="TextBox 20">
            <a:extLst>
              <a:ext uri="{FF2B5EF4-FFF2-40B4-BE49-F238E27FC236}">
                <a16:creationId xmlns:a16="http://schemas.microsoft.com/office/drawing/2014/main" id="{A5ED8D18-4BD4-BE44-BE0E-652C34A862FE}"/>
              </a:ext>
            </a:extLst>
          </p:cNvPr>
          <p:cNvSpPr txBox="1"/>
          <p:nvPr/>
        </p:nvSpPr>
        <p:spPr>
          <a:xfrm>
            <a:off x="0" y="1218204"/>
            <a:ext cx="2925801" cy="769441"/>
          </a:xfrm>
          <a:prstGeom prst="rect">
            <a:avLst/>
          </a:prstGeom>
          <a:noFill/>
        </p:spPr>
        <p:txBody>
          <a:bodyPr wrap="none" rtlCol="0">
            <a:spAutoFit/>
          </a:bodyPr>
          <a:lstStyle/>
          <a:p>
            <a:r>
              <a:rPr lang="en-US" sz="2200" dirty="0">
                <a:solidFill>
                  <a:srgbClr val="53A9D6"/>
                </a:solidFill>
              </a:rPr>
              <a:t>Subnet </a:t>
            </a:r>
            <a:r>
              <a:rPr lang="en-US" sz="2200" b="1" dirty="0">
                <a:solidFill>
                  <a:srgbClr val="53A9D6"/>
                </a:solidFill>
              </a:rPr>
              <a:t>0</a:t>
            </a:r>
            <a:r>
              <a:rPr lang="en-US" sz="2200" dirty="0">
                <a:solidFill>
                  <a:srgbClr val="53A9D6"/>
                </a:solidFill>
              </a:rPr>
              <a:t>:                </a:t>
            </a:r>
            <a:r>
              <a:rPr lang="en-US" sz="2200" dirty="0">
                <a:solidFill>
                  <a:srgbClr val="53A9D6"/>
                </a:solidFill>
                <a:latin typeface="Courier New"/>
                <a:cs typeface="Courier New"/>
                <a:sym typeface="Wingdings"/>
              </a:rPr>
              <a:t></a:t>
            </a:r>
            <a:endParaRPr lang="en-US" sz="2200" dirty="0">
              <a:solidFill>
                <a:srgbClr val="53A9D6"/>
              </a:solidFill>
            </a:endParaRPr>
          </a:p>
          <a:p>
            <a:r>
              <a:rPr lang="en-US" sz="2200" dirty="0">
                <a:highlight>
                  <a:srgbClr val="00FF00"/>
                </a:highlight>
                <a:latin typeface="Courier New"/>
                <a:cs typeface="Courier New"/>
              </a:rPr>
              <a:t>192.168.1.0</a:t>
            </a:r>
            <a:r>
              <a:rPr lang="en-US" sz="2200" b="1" dirty="0">
                <a:highlight>
                  <a:srgbClr val="00FF00"/>
                </a:highlight>
                <a:latin typeface="Courier New"/>
                <a:cs typeface="Courier New"/>
              </a:rPr>
              <a:t>/26</a:t>
            </a:r>
            <a:endParaRPr lang="en-US" sz="2200" dirty="0">
              <a:solidFill>
                <a:srgbClr val="53A9D6"/>
              </a:solidFill>
              <a:latin typeface="Courier New"/>
              <a:cs typeface="Courier New"/>
            </a:endParaRPr>
          </a:p>
        </p:txBody>
      </p:sp>
      <p:sp>
        <p:nvSpPr>
          <p:cNvPr id="29" name="TextBox 28">
            <a:extLst>
              <a:ext uri="{FF2B5EF4-FFF2-40B4-BE49-F238E27FC236}">
                <a16:creationId xmlns:a16="http://schemas.microsoft.com/office/drawing/2014/main" id="{7A445AF7-1F98-024B-A09B-9BEE7569CA7A}"/>
              </a:ext>
            </a:extLst>
          </p:cNvPr>
          <p:cNvSpPr txBox="1"/>
          <p:nvPr/>
        </p:nvSpPr>
        <p:spPr>
          <a:xfrm>
            <a:off x="180093" y="2519627"/>
            <a:ext cx="4092787" cy="2800767"/>
          </a:xfrm>
          <a:prstGeom prst="rect">
            <a:avLst/>
          </a:prstGeom>
          <a:noFill/>
        </p:spPr>
        <p:txBody>
          <a:bodyPr wrap="none" rtlCol="0">
            <a:spAutoFit/>
          </a:bodyPr>
          <a:lstStyle/>
          <a:p>
            <a:r>
              <a:rPr lang="en-US" sz="2200" dirty="0">
                <a:solidFill>
                  <a:srgbClr val="00B0F0"/>
                </a:solidFill>
                <a:latin typeface="Courier New"/>
                <a:cs typeface="Courier New"/>
              </a:rPr>
              <a:t>192.168.1.[ </a:t>
            </a:r>
            <a:r>
              <a:rPr lang="en-US" sz="2200" b="1" dirty="0">
                <a:solidFill>
                  <a:srgbClr val="00B0F0"/>
                </a:solidFill>
                <a:latin typeface="Courier New"/>
                <a:cs typeface="Courier New"/>
              </a:rPr>
              <a:t>00 </a:t>
            </a:r>
            <a:r>
              <a:rPr lang="en-US" sz="2200" dirty="0">
                <a:solidFill>
                  <a:srgbClr val="00B0F0"/>
                </a:solidFill>
                <a:latin typeface="Courier New"/>
                <a:cs typeface="Courier New"/>
              </a:rPr>
              <a:t>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00</a:t>
            </a:r>
            <a:r>
              <a:rPr lang="en-US" sz="2200" dirty="0">
                <a:solidFill>
                  <a:srgbClr val="00B0F0"/>
                </a:solidFill>
                <a:latin typeface="Courier New"/>
                <a:cs typeface="Courier New"/>
              </a:rPr>
              <a:t> 111111 ]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01 </a:t>
            </a:r>
            <a:r>
              <a:rPr lang="en-US" sz="2200" dirty="0">
                <a:solidFill>
                  <a:srgbClr val="00B0F0"/>
                </a:solidFill>
                <a:latin typeface="Courier New"/>
                <a:cs typeface="Courier New"/>
              </a:rPr>
              <a:t>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01</a:t>
            </a:r>
            <a:r>
              <a:rPr lang="en-US" sz="2200" dirty="0">
                <a:solidFill>
                  <a:srgbClr val="00B0F0"/>
                </a:solidFill>
                <a:latin typeface="Courier New"/>
                <a:cs typeface="Courier New"/>
              </a:rPr>
              <a:t> 111111 ]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10 </a:t>
            </a:r>
            <a:r>
              <a:rPr lang="en-US" sz="2200" dirty="0">
                <a:solidFill>
                  <a:srgbClr val="00B0F0"/>
                </a:solidFill>
                <a:latin typeface="Courier New"/>
                <a:cs typeface="Courier New"/>
              </a:rPr>
              <a:t>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10</a:t>
            </a:r>
            <a:r>
              <a:rPr lang="en-US" sz="2200" dirty="0">
                <a:solidFill>
                  <a:srgbClr val="00B0F0"/>
                </a:solidFill>
                <a:latin typeface="Courier New"/>
                <a:cs typeface="Courier New"/>
              </a:rPr>
              <a:t> 111111 ]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11 </a:t>
            </a:r>
            <a:r>
              <a:rPr lang="en-US" sz="2200" dirty="0">
                <a:solidFill>
                  <a:srgbClr val="00B0F0"/>
                </a:solidFill>
                <a:latin typeface="Courier New"/>
                <a:cs typeface="Courier New"/>
              </a:rPr>
              <a:t>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11</a:t>
            </a:r>
            <a:r>
              <a:rPr lang="en-US" sz="2200" dirty="0">
                <a:solidFill>
                  <a:srgbClr val="00B0F0"/>
                </a:solidFill>
                <a:latin typeface="Courier New"/>
                <a:cs typeface="Courier New"/>
              </a:rPr>
              <a:t> 111111 ]</a:t>
            </a:r>
            <a:endParaRPr lang="en-US" sz="2200" dirty="0">
              <a:latin typeface="Courier New"/>
              <a:cs typeface="Courier New"/>
            </a:endParaRPr>
          </a:p>
        </p:txBody>
      </p:sp>
      <p:cxnSp>
        <p:nvCxnSpPr>
          <p:cNvPr id="27" name="Straight Connector 26">
            <a:extLst>
              <a:ext uri="{FF2B5EF4-FFF2-40B4-BE49-F238E27FC236}">
                <a16:creationId xmlns:a16="http://schemas.microsoft.com/office/drawing/2014/main" id="{FB3BC7EC-EC26-2E41-9D49-CE683F25CF4E}"/>
              </a:ext>
            </a:extLst>
          </p:cNvPr>
          <p:cNvCxnSpPr>
            <a:cxnSpLocks/>
          </p:cNvCxnSpPr>
          <p:nvPr/>
        </p:nvCxnSpPr>
        <p:spPr bwMode="auto">
          <a:xfrm>
            <a:off x="2728424" y="2414314"/>
            <a:ext cx="0" cy="3008586"/>
          </a:xfrm>
          <a:prstGeom prst="line">
            <a:avLst/>
          </a:prstGeom>
          <a:solidFill>
            <a:schemeClr val="accent1"/>
          </a:solidFill>
          <a:ln w="19050" cap="flat" cmpd="sng" algn="ctr">
            <a:solidFill>
              <a:srgbClr val="0070C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33" name="Group 32">
            <a:extLst>
              <a:ext uri="{FF2B5EF4-FFF2-40B4-BE49-F238E27FC236}">
                <a16:creationId xmlns:a16="http://schemas.microsoft.com/office/drawing/2014/main" id="{407A059F-C53E-8745-A4C5-A910EF24F6D2}"/>
              </a:ext>
            </a:extLst>
          </p:cNvPr>
          <p:cNvGrpSpPr/>
          <p:nvPr/>
        </p:nvGrpSpPr>
        <p:grpSpPr>
          <a:xfrm>
            <a:off x="1661624" y="2540000"/>
            <a:ext cx="3878920" cy="2369880"/>
            <a:chOff x="3655524" y="2540000"/>
            <a:chExt cx="3878920" cy="2369880"/>
          </a:xfrm>
        </p:grpSpPr>
        <p:grpSp>
          <p:nvGrpSpPr>
            <p:cNvPr id="22" name="Group 21">
              <a:extLst>
                <a:ext uri="{FF2B5EF4-FFF2-40B4-BE49-F238E27FC236}">
                  <a16:creationId xmlns:a16="http://schemas.microsoft.com/office/drawing/2014/main" id="{E075DE28-423D-BB47-A26C-A70504162EDA}"/>
                </a:ext>
              </a:extLst>
            </p:cNvPr>
            <p:cNvGrpSpPr/>
            <p:nvPr/>
          </p:nvGrpSpPr>
          <p:grpSpPr>
            <a:xfrm>
              <a:off x="3655524" y="3251200"/>
              <a:ext cx="2580176" cy="1346200"/>
              <a:chOff x="3655524" y="3251200"/>
              <a:chExt cx="2580176" cy="1346200"/>
            </a:xfrm>
          </p:grpSpPr>
          <p:cxnSp>
            <p:nvCxnSpPr>
              <p:cNvPr id="28" name="Straight Connector 27">
                <a:extLst>
                  <a:ext uri="{FF2B5EF4-FFF2-40B4-BE49-F238E27FC236}">
                    <a16:creationId xmlns:a16="http://schemas.microsoft.com/office/drawing/2014/main" id="{EF4F1E1F-B5F8-FB4C-8670-95066E5985FE}"/>
                  </a:ext>
                </a:extLst>
              </p:cNvPr>
              <p:cNvCxnSpPr>
                <a:cxnSpLocks/>
              </p:cNvCxnSpPr>
              <p:nvPr/>
            </p:nvCxnSpPr>
            <p:spPr bwMode="auto">
              <a:xfrm flipH="1">
                <a:off x="3655524" y="32512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0" name="Straight Connector 29">
                <a:extLst>
                  <a:ext uri="{FF2B5EF4-FFF2-40B4-BE49-F238E27FC236}">
                    <a16:creationId xmlns:a16="http://schemas.microsoft.com/office/drawing/2014/main" id="{D986E957-A057-4D4D-8D5C-AC48F65682FD}"/>
                  </a:ext>
                </a:extLst>
              </p:cNvPr>
              <p:cNvCxnSpPr>
                <a:cxnSpLocks/>
              </p:cNvCxnSpPr>
              <p:nvPr/>
            </p:nvCxnSpPr>
            <p:spPr bwMode="auto">
              <a:xfrm flipH="1">
                <a:off x="3706324" y="39370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1" name="Straight Connector 30">
                <a:extLst>
                  <a:ext uri="{FF2B5EF4-FFF2-40B4-BE49-F238E27FC236}">
                    <a16:creationId xmlns:a16="http://schemas.microsoft.com/office/drawing/2014/main" id="{1C060C79-3858-9349-9D22-9FE435A9D889}"/>
                  </a:ext>
                </a:extLst>
              </p:cNvPr>
              <p:cNvCxnSpPr>
                <a:cxnSpLocks/>
              </p:cNvCxnSpPr>
              <p:nvPr/>
            </p:nvCxnSpPr>
            <p:spPr bwMode="auto">
              <a:xfrm flipH="1">
                <a:off x="3680924" y="45974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32" name="TextBox 31">
              <a:extLst>
                <a:ext uri="{FF2B5EF4-FFF2-40B4-BE49-F238E27FC236}">
                  <a16:creationId xmlns:a16="http://schemas.microsoft.com/office/drawing/2014/main" id="{D6720759-28AB-3C41-99BB-0F8C701A0C81}"/>
                </a:ext>
              </a:extLst>
            </p:cNvPr>
            <p:cNvSpPr txBox="1"/>
            <p:nvPr/>
          </p:nvSpPr>
          <p:spPr>
            <a:xfrm>
              <a:off x="6400800" y="2540000"/>
              <a:ext cx="1133644" cy="2369880"/>
            </a:xfrm>
            <a:prstGeom prst="rect">
              <a:avLst/>
            </a:prstGeom>
            <a:noFill/>
          </p:spPr>
          <p:txBody>
            <a:bodyPr wrap="none" rtlCol="0">
              <a:spAutoFit/>
            </a:bodyPr>
            <a:lstStyle/>
            <a:p>
              <a:r>
                <a:rPr lang="ms-MY" b="1">
                  <a:solidFill>
                    <a:srgbClr val="0070C0"/>
                  </a:solidFill>
                </a:rPr>
                <a:t>subnet 0</a:t>
              </a:r>
            </a:p>
            <a:p>
              <a:endParaRPr lang="ms-MY" sz="1400">
                <a:solidFill>
                  <a:srgbClr val="0070C0"/>
                </a:solidFill>
              </a:endParaRPr>
            </a:p>
            <a:p>
              <a:endParaRPr lang="ms-MY" sz="1200">
                <a:solidFill>
                  <a:srgbClr val="0070C0"/>
                </a:solidFill>
              </a:endParaRPr>
            </a:p>
            <a:p>
              <a:r>
                <a:rPr lang="ms-MY" b="1">
                  <a:solidFill>
                    <a:srgbClr val="0070C0"/>
                  </a:solidFill>
                </a:rPr>
                <a:t>subnet 1</a:t>
              </a:r>
            </a:p>
            <a:p>
              <a:endParaRPr lang="ms-MY" sz="1400">
                <a:solidFill>
                  <a:srgbClr val="0070C0"/>
                </a:solidFill>
              </a:endParaRPr>
            </a:p>
            <a:p>
              <a:endParaRPr lang="ms-MY" sz="1100">
                <a:solidFill>
                  <a:srgbClr val="0070C0"/>
                </a:solidFill>
              </a:endParaRPr>
            </a:p>
            <a:p>
              <a:r>
                <a:rPr lang="ms-MY" b="1">
                  <a:solidFill>
                    <a:srgbClr val="0070C0"/>
                  </a:solidFill>
                </a:rPr>
                <a:t>subnet 2</a:t>
              </a:r>
            </a:p>
            <a:p>
              <a:endParaRPr lang="ms-MY">
                <a:solidFill>
                  <a:srgbClr val="0070C0"/>
                </a:solidFill>
              </a:endParaRPr>
            </a:p>
            <a:p>
              <a:endParaRPr lang="ms-MY" sz="700">
                <a:solidFill>
                  <a:srgbClr val="0070C0"/>
                </a:solidFill>
              </a:endParaRPr>
            </a:p>
            <a:p>
              <a:r>
                <a:rPr lang="ms-MY" b="1">
                  <a:solidFill>
                    <a:srgbClr val="0070C0"/>
                  </a:solidFill>
                </a:rPr>
                <a:t>subnet 3</a:t>
              </a:r>
              <a:endParaRPr lang="ms-MY">
                <a:solidFill>
                  <a:srgbClr val="0070C0"/>
                </a:solidFill>
              </a:endParaRPr>
            </a:p>
          </p:txBody>
        </p:sp>
      </p:grpSp>
      <p:sp>
        <p:nvSpPr>
          <p:cNvPr id="1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83</a:t>
            </a:fld>
            <a:endParaRPr lang="en-US" altLang="en-US" dirty="0">
              <a:latin typeface="Tahoma" panose="020B0604030504040204" pitchFamily="34" charset="0"/>
            </a:endParaRPr>
          </a:p>
        </p:txBody>
      </p:sp>
      <p:sp>
        <p:nvSpPr>
          <p:cNvPr id="2" name="Google Shape;580;p28">
            <a:extLst>
              <a:ext uri="{FF2B5EF4-FFF2-40B4-BE49-F238E27FC236}">
                <a16:creationId xmlns:a16="http://schemas.microsoft.com/office/drawing/2014/main" id="{13B75850-F98B-C35A-57A2-23ACE4752498}"/>
              </a:ext>
            </a:extLst>
          </p:cNvPr>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Tree>
    <p:extLst>
      <p:ext uri="{BB962C8B-B14F-4D97-AF65-F5344CB8AC3E}">
        <p14:creationId xmlns:p14="http://schemas.microsoft.com/office/powerpoint/2010/main" val="132467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65A1FC-E4BF-3641-81B8-47C8A663F085}"/>
              </a:ext>
            </a:extLst>
          </p:cNvPr>
          <p:cNvGrpSpPr/>
          <p:nvPr/>
        </p:nvGrpSpPr>
        <p:grpSpPr>
          <a:xfrm>
            <a:off x="0" y="0"/>
            <a:ext cx="9143999" cy="926011"/>
            <a:chOff x="0" y="0"/>
            <a:chExt cx="9143999" cy="926011"/>
          </a:xfrm>
        </p:grpSpPr>
        <p:pic>
          <p:nvPicPr>
            <p:cNvPr id="7" name="Picture 6" descr="Screen Shot 2015-04-08 at 10.38.40 AM.png">
              <a:extLst>
                <a:ext uri="{FF2B5EF4-FFF2-40B4-BE49-F238E27FC236}">
                  <a16:creationId xmlns:a16="http://schemas.microsoft.com/office/drawing/2014/main" id="{A7E1DD4E-5DE5-6846-9CE4-AE73F96E7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a:extLst>
                <a:ext uri="{FF2B5EF4-FFF2-40B4-BE49-F238E27FC236}">
                  <a16:creationId xmlns:a16="http://schemas.microsoft.com/office/drawing/2014/main" id="{BB3C4288-323C-2A46-A5A1-09BB84C60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1" name="Rectangle 10">
            <a:extLst>
              <a:ext uri="{FF2B5EF4-FFF2-40B4-BE49-F238E27FC236}">
                <a16:creationId xmlns:a16="http://schemas.microsoft.com/office/drawing/2014/main" id="{898A4553-3992-A346-B109-CDBCB1D6C4AB}"/>
              </a:ext>
            </a:extLst>
          </p:cNvPr>
          <p:cNvSpPr/>
          <p:nvPr/>
        </p:nvSpPr>
        <p:spPr bwMode="auto">
          <a:xfrm>
            <a:off x="0" y="1176276"/>
            <a:ext cx="9144000" cy="855724"/>
          </a:xfrm>
          <a:prstGeom prst="rect">
            <a:avLst/>
          </a:prstGeom>
          <a:solidFill>
            <a:schemeClr val="bg1">
              <a:lumMod val="75000"/>
              <a:alpha val="7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1" name="TextBox 20">
            <a:extLst>
              <a:ext uri="{FF2B5EF4-FFF2-40B4-BE49-F238E27FC236}">
                <a16:creationId xmlns:a16="http://schemas.microsoft.com/office/drawing/2014/main" id="{A5ED8D18-4BD4-BE44-BE0E-652C34A862FE}"/>
              </a:ext>
            </a:extLst>
          </p:cNvPr>
          <p:cNvSpPr txBox="1"/>
          <p:nvPr/>
        </p:nvSpPr>
        <p:spPr>
          <a:xfrm>
            <a:off x="0" y="1218204"/>
            <a:ext cx="2925801" cy="769441"/>
          </a:xfrm>
          <a:prstGeom prst="rect">
            <a:avLst/>
          </a:prstGeom>
          <a:noFill/>
        </p:spPr>
        <p:txBody>
          <a:bodyPr wrap="none" rtlCol="0">
            <a:spAutoFit/>
          </a:bodyPr>
          <a:lstStyle/>
          <a:p>
            <a:r>
              <a:rPr lang="en-US" sz="2200" dirty="0">
                <a:solidFill>
                  <a:srgbClr val="53A9D6"/>
                </a:solidFill>
              </a:rPr>
              <a:t>Subnet </a:t>
            </a:r>
            <a:r>
              <a:rPr lang="en-US" sz="2200" b="1" dirty="0">
                <a:solidFill>
                  <a:srgbClr val="53A9D6"/>
                </a:solidFill>
              </a:rPr>
              <a:t>0</a:t>
            </a:r>
            <a:r>
              <a:rPr lang="en-US" sz="2200" dirty="0">
                <a:solidFill>
                  <a:srgbClr val="53A9D6"/>
                </a:solidFill>
              </a:rPr>
              <a:t>:                </a:t>
            </a:r>
            <a:r>
              <a:rPr lang="en-US" sz="2200" dirty="0">
                <a:solidFill>
                  <a:srgbClr val="53A9D6"/>
                </a:solidFill>
                <a:latin typeface="Courier New"/>
                <a:cs typeface="Courier New"/>
                <a:sym typeface="Wingdings"/>
              </a:rPr>
              <a:t></a:t>
            </a:r>
            <a:endParaRPr lang="en-US" sz="2200" dirty="0">
              <a:solidFill>
                <a:srgbClr val="53A9D6"/>
              </a:solidFill>
            </a:endParaRPr>
          </a:p>
          <a:p>
            <a:r>
              <a:rPr lang="en-US" sz="2200" dirty="0">
                <a:highlight>
                  <a:srgbClr val="00FF00"/>
                </a:highlight>
                <a:latin typeface="Courier New"/>
                <a:cs typeface="Courier New"/>
              </a:rPr>
              <a:t>192.168.1.0</a:t>
            </a:r>
            <a:r>
              <a:rPr lang="en-US" sz="2200" b="1" dirty="0">
                <a:highlight>
                  <a:srgbClr val="00FF00"/>
                </a:highlight>
                <a:latin typeface="Courier New"/>
                <a:cs typeface="Courier New"/>
              </a:rPr>
              <a:t>/26</a:t>
            </a:r>
            <a:endParaRPr lang="en-US" sz="2200" dirty="0">
              <a:solidFill>
                <a:srgbClr val="53A9D6"/>
              </a:solidFill>
              <a:latin typeface="Courier New"/>
              <a:cs typeface="Courier New"/>
            </a:endParaRPr>
          </a:p>
        </p:txBody>
      </p:sp>
      <p:sp>
        <p:nvSpPr>
          <p:cNvPr id="29" name="TextBox 28">
            <a:extLst>
              <a:ext uri="{FF2B5EF4-FFF2-40B4-BE49-F238E27FC236}">
                <a16:creationId xmlns:a16="http://schemas.microsoft.com/office/drawing/2014/main" id="{7A445AF7-1F98-024B-A09B-9BEE7569CA7A}"/>
              </a:ext>
            </a:extLst>
          </p:cNvPr>
          <p:cNvSpPr txBox="1"/>
          <p:nvPr/>
        </p:nvSpPr>
        <p:spPr>
          <a:xfrm>
            <a:off x="180093" y="2519627"/>
            <a:ext cx="4092787" cy="2800767"/>
          </a:xfrm>
          <a:prstGeom prst="rect">
            <a:avLst/>
          </a:prstGeom>
          <a:noFill/>
        </p:spPr>
        <p:txBody>
          <a:bodyPr wrap="none" rtlCol="0">
            <a:spAutoFit/>
          </a:bodyPr>
          <a:lstStyle/>
          <a:p>
            <a:r>
              <a:rPr lang="en-US" sz="2200" dirty="0">
                <a:solidFill>
                  <a:srgbClr val="00B0F0"/>
                </a:solidFill>
                <a:latin typeface="Courier New"/>
                <a:cs typeface="Courier New"/>
              </a:rPr>
              <a:t>192.168.1.[ </a:t>
            </a:r>
            <a:r>
              <a:rPr lang="en-US" sz="2200" b="1" dirty="0">
                <a:solidFill>
                  <a:srgbClr val="00B0F0"/>
                </a:solidFill>
                <a:latin typeface="Courier New"/>
                <a:cs typeface="Courier New"/>
              </a:rPr>
              <a:t>00 000000</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.[ 00 111111 ]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01 000000</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.[ 01 111111 ]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10 000000</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.[ 10 111111 ]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11 000000</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.[ 11 111111 ]</a:t>
            </a:r>
            <a:endParaRPr lang="en-US" sz="2200" dirty="0">
              <a:latin typeface="Courier New"/>
              <a:cs typeface="Courier New"/>
            </a:endParaRPr>
          </a:p>
        </p:txBody>
      </p:sp>
      <p:cxnSp>
        <p:nvCxnSpPr>
          <p:cNvPr id="27" name="Straight Connector 26">
            <a:extLst>
              <a:ext uri="{FF2B5EF4-FFF2-40B4-BE49-F238E27FC236}">
                <a16:creationId xmlns:a16="http://schemas.microsoft.com/office/drawing/2014/main" id="{FB3BC7EC-EC26-2E41-9D49-CE683F25CF4E}"/>
              </a:ext>
            </a:extLst>
          </p:cNvPr>
          <p:cNvCxnSpPr>
            <a:cxnSpLocks/>
          </p:cNvCxnSpPr>
          <p:nvPr/>
        </p:nvCxnSpPr>
        <p:spPr bwMode="auto">
          <a:xfrm>
            <a:off x="2728424" y="2414314"/>
            <a:ext cx="0" cy="3008586"/>
          </a:xfrm>
          <a:prstGeom prst="line">
            <a:avLst/>
          </a:prstGeom>
          <a:solidFill>
            <a:schemeClr val="accent1"/>
          </a:solidFill>
          <a:ln w="19050" cap="flat" cmpd="sng" algn="ctr">
            <a:solidFill>
              <a:srgbClr val="0070C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33" name="Group 32">
            <a:extLst>
              <a:ext uri="{FF2B5EF4-FFF2-40B4-BE49-F238E27FC236}">
                <a16:creationId xmlns:a16="http://schemas.microsoft.com/office/drawing/2014/main" id="{407A059F-C53E-8745-A4C5-A910EF24F6D2}"/>
              </a:ext>
            </a:extLst>
          </p:cNvPr>
          <p:cNvGrpSpPr/>
          <p:nvPr/>
        </p:nvGrpSpPr>
        <p:grpSpPr>
          <a:xfrm>
            <a:off x="1661624" y="2540000"/>
            <a:ext cx="7501706" cy="2369880"/>
            <a:chOff x="3655524" y="2540000"/>
            <a:chExt cx="7501706" cy="2369880"/>
          </a:xfrm>
        </p:grpSpPr>
        <p:grpSp>
          <p:nvGrpSpPr>
            <p:cNvPr id="22" name="Group 21">
              <a:extLst>
                <a:ext uri="{FF2B5EF4-FFF2-40B4-BE49-F238E27FC236}">
                  <a16:creationId xmlns:a16="http://schemas.microsoft.com/office/drawing/2014/main" id="{E075DE28-423D-BB47-A26C-A70504162EDA}"/>
                </a:ext>
              </a:extLst>
            </p:cNvPr>
            <p:cNvGrpSpPr/>
            <p:nvPr/>
          </p:nvGrpSpPr>
          <p:grpSpPr>
            <a:xfrm>
              <a:off x="3655524" y="3251200"/>
              <a:ext cx="2580176" cy="1346200"/>
              <a:chOff x="3655524" y="3251200"/>
              <a:chExt cx="2580176" cy="1346200"/>
            </a:xfrm>
          </p:grpSpPr>
          <p:cxnSp>
            <p:nvCxnSpPr>
              <p:cNvPr id="28" name="Straight Connector 27">
                <a:extLst>
                  <a:ext uri="{FF2B5EF4-FFF2-40B4-BE49-F238E27FC236}">
                    <a16:creationId xmlns:a16="http://schemas.microsoft.com/office/drawing/2014/main" id="{EF4F1E1F-B5F8-FB4C-8670-95066E5985FE}"/>
                  </a:ext>
                </a:extLst>
              </p:cNvPr>
              <p:cNvCxnSpPr>
                <a:cxnSpLocks/>
              </p:cNvCxnSpPr>
              <p:nvPr/>
            </p:nvCxnSpPr>
            <p:spPr bwMode="auto">
              <a:xfrm flipH="1">
                <a:off x="3655524" y="32512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0" name="Straight Connector 29">
                <a:extLst>
                  <a:ext uri="{FF2B5EF4-FFF2-40B4-BE49-F238E27FC236}">
                    <a16:creationId xmlns:a16="http://schemas.microsoft.com/office/drawing/2014/main" id="{D986E957-A057-4D4D-8D5C-AC48F65682FD}"/>
                  </a:ext>
                </a:extLst>
              </p:cNvPr>
              <p:cNvCxnSpPr>
                <a:cxnSpLocks/>
              </p:cNvCxnSpPr>
              <p:nvPr/>
            </p:nvCxnSpPr>
            <p:spPr bwMode="auto">
              <a:xfrm flipH="1">
                <a:off x="3706324" y="39370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1" name="Straight Connector 30">
                <a:extLst>
                  <a:ext uri="{FF2B5EF4-FFF2-40B4-BE49-F238E27FC236}">
                    <a16:creationId xmlns:a16="http://schemas.microsoft.com/office/drawing/2014/main" id="{1C060C79-3858-9349-9D22-9FE435A9D889}"/>
                  </a:ext>
                </a:extLst>
              </p:cNvPr>
              <p:cNvCxnSpPr>
                <a:cxnSpLocks/>
              </p:cNvCxnSpPr>
              <p:nvPr/>
            </p:nvCxnSpPr>
            <p:spPr bwMode="auto">
              <a:xfrm flipH="1">
                <a:off x="3680924" y="45974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32" name="TextBox 31">
              <a:extLst>
                <a:ext uri="{FF2B5EF4-FFF2-40B4-BE49-F238E27FC236}">
                  <a16:creationId xmlns:a16="http://schemas.microsoft.com/office/drawing/2014/main" id="{D6720759-28AB-3C41-99BB-0F8C701A0C81}"/>
                </a:ext>
              </a:extLst>
            </p:cNvPr>
            <p:cNvSpPr txBox="1"/>
            <p:nvPr/>
          </p:nvSpPr>
          <p:spPr>
            <a:xfrm>
              <a:off x="6400800" y="2540000"/>
              <a:ext cx="4756430" cy="2369880"/>
            </a:xfrm>
            <a:prstGeom prst="rect">
              <a:avLst/>
            </a:prstGeom>
            <a:noFill/>
          </p:spPr>
          <p:txBody>
            <a:bodyPr wrap="none" rtlCol="0">
              <a:spAutoFit/>
            </a:bodyPr>
            <a:lstStyle/>
            <a:p>
              <a:r>
                <a:rPr lang="ms-MY" b="1">
                  <a:solidFill>
                    <a:srgbClr val="0070C0"/>
                  </a:solidFill>
                </a:rPr>
                <a:t>subnet 0</a:t>
              </a:r>
              <a:r>
                <a:rPr lang="ms-MY">
                  <a:solidFill>
                    <a:srgbClr val="0070C0"/>
                  </a:solidFill>
                </a:rPr>
                <a:t>; network address = 192.168.1.</a:t>
              </a:r>
              <a:r>
                <a:rPr lang="ms-MY" b="1">
                  <a:solidFill>
                    <a:srgbClr val="0070C0"/>
                  </a:solidFill>
                </a:rPr>
                <a:t>0</a:t>
              </a:r>
            </a:p>
            <a:p>
              <a:endParaRPr lang="ms-MY" sz="1400">
                <a:solidFill>
                  <a:srgbClr val="0070C0"/>
                </a:solidFill>
              </a:endParaRPr>
            </a:p>
            <a:p>
              <a:endParaRPr lang="ms-MY" sz="1200">
                <a:solidFill>
                  <a:srgbClr val="0070C0"/>
                </a:solidFill>
              </a:endParaRPr>
            </a:p>
            <a:p>
              <a:r>
                <a:rPr lang="ms-MY" b="1">
                  <a:solidFill>
                    <a:srgbClr val="0070C0"/>
                  </a:solidFill>
                </a:rPr>
                <a:t>subnet 1</a:t>
              </a:r>
              <a:r>
                <a:rPr lang="ms-MY">
                  <a:solidFill>
                    <a:srgbClr val="0070C0"/>
                  </a:solidFill>
                </a:rPr>
                <a:t>; network address = 192.168.1.</a:t>
              </a:r>
              <a:r>
                <a:rPr lang="ms-MY" b="1">
                  <a:solidFill>
                    <a:srgbClr val="0070C0"/>
                  </a:solidFill>
                </a:rPr>
                <a:t>64</a:t>
              </a:r>
            </a:p>
            <a:p>
              <a:endParaRPr lang="ms-MY" sz="1400">
                <a:solidFill>
                  <a:srgbClr val="0070C0"/>
                </a:solidFill>
              </a:endParaRPr>
            </a:p>
            <a:p>
              <a:endParaRPr lang="ms-MY" sz="1100">
                <a:solidFill>
                  <a:srgbClr val="0070C0"/>
                </a:solidFill>
              </a:endParaRPr>
            </a:p>
            <a:p>
              <a:r>
                <a:rPr lang="ms-MY" b="1">
                  <a:solidFill>
                    <a:srgbClr val="0070C0"/>
                  </a:solidFill>
                </a:rPr>
                <a:t>subnet 2</a:t>
              </a:r>
              <a:r>
                <a:rPr lang="ms-MY">
                  <a:solidFill>
                    <a:srgbClr val="0070C0"/>
                  </a:solidFill>
                </a:rPr>
                <a:t>; network address = 192.168.1.</a:t>
              </a:r>
              <a:r>
                <a:rPr lang="ms-MY" b="1">
                  <a:solidFill>
                    <a:srgbClr val="0070C0"/>
                  </a:solidFill>
                </a:rPr>
                <a:t>128</a:t>
              </a:r>
            </a:p>
            <a:p>
              <a:endParaRPr lang="ms-MY">
                <a:solidFill>
                  <a:srgbClr val="0070C0"/>
                </a:solidFill>
              </a:endParaRPr>
            </a:p>
            <a:p>
              <a:endParaRPr lang="ms-MY" sz="700">
                <a:solidFill>
                  <a:srgbClr val="0070C0"/>
                </a:solidFill>
              </a:endParaRPr>
            </a:p>
            <a:p>
              <a:r>
                <a:rPr lang="ms-MY" b="1">
                  <a:solidFill>
                    <a:srgbClr val="0070C0"/>
                  </a:solidFill>
                </a:rPr>
                <a:t>subnet 3</a:t>
              </a:r>
              <a:r>
                <a:rPr lang="ms-MY">
                  <a:solidFill>
                    <a:srgbClr val="0070C0"/>
                  </a:solidFill>
                </a:rPr>
                <a:t>; network address = 192.168.1.</a:t>
              </a:r>
              <a:r>
                <a:rPr lang="ms-MY" b="1">
                  <a:solidFill>
                    <a:srgbClr val="0070C0"/>
                  </a:solidFill>
                </a:rPr>
                <a:t>192</a:t>
              </a:r>
              <a:r>
                <a:rPr lang="ms-MY">
                  <a:solidFill>
                    <a:srgbClr val="0070C0"/>
                  </a:solidFill>
                </a:rPr>
                <a:t> </a:t>
              </a:r>
            </a:p>
          </p:txBody>
        </p:sp>
      </p:grpSp>
      <p:sp>
        <p:nvSpPr>
          <p:cNvPr id="35" name="TextBox 34">
            <a:extLst>
              <a:ext uri="{FF2B5EF4-FFF2-40B4-BE49-F238E27FC236}">
                <a16:creationId xmlns:a16="http://schemas.microsoft.com/office/drawing/2014/main" id="{8C163FB0-E7B2-5A49-85E2-B4855D178E1D}"/>
              </a:ext>
            </a:extLst>
          </p:cNvPr>
          <p:cNvSpPr txBox="1"/>
          <p:nvPr/>
        </p:nvSpPr>
        <p:spPr>
          <a:xfrm>
            <a:off x="2874857" y="1224227"/>
            <a:ext cx="6131807" cy="430887"/>
          </a:xfrm>
          <a:prstGeom prst="rect">
            <a:avLst/>
          </a:prstGeom>
          <a:noFill/>
        </p:spPr>
        <p:txBody>
          <a:bodyPr wrap="none" rtlCol="0">
            <a:spAutoFit/>
          </a:bodyPr>
          <a:lstStyle/>
          <a:p>
            <a:r>
              <a:rPr lang="en-US" sz="2200" b="1" dirty="0">
                <a:solidFill>
                  <a:srgbClr val="00B0F0"/>
                </a:solidFill>
                <a:latin typeface="Courier New"/>
                <a:cs typeface="Courier New"/>
              </a:rPr>
              <a:t>11000000</a:t>
            </a:r>
            <a:r>
              <a:rPr lang="en-US" sz="2200" dirty="0">
                <a:solidFill>
                  <a:srgbClr val="00B0F0"/>
                </a:solidFill>
                <a:latin typeface="Courier New"/>
                <a:cs typeface="Courier New"/>
              </a:rPr>
              <a:t>.</a:t>
            </a:r>
            <a:r>
              <a:rPr lang="en-US" sz="2200" b="1" dirty="0">
                <a:solidFill>
                  <a:srgbClr val="00B0F0"/>
                </a:solidFill>
                <a:latin typeface="Courier New"/>
                <a:cs typeface="Courier New"/>
              </a:rPr>
              <a:t>10101000</a:t>
            </a:r>
            <a:r>
              <a:rPr lang="en-US" sz="2200" dirty="0">
                <a:solidFill>
                  <a:srgbClr val="00B0F0"/>
                </a:solidFill>
                <a:latin typeface="Courier New"/>
                <a:cs typeface="Courier New"/>
              </a:rPr>
              <a:t>.</a:t>
            </a:r>
            <a:r>
              <a:rPr lang="en-US" sz="2200" b="1" dirty="0">
                <a:solidFill>
                  <a:srgbClr val="00B0F0"/>
                </a:solidFill>
                <a:latin typeface="Courier New"/>
                <a:cs typeface="Courier New"/>
              </a:rPr>
              <a:t>00000001</a:t>
            </a:r>
            <a:r>
              <a:rPr lang="en-US" sz="2200" dirty="0">
                <a:solidFill>
                  <a:srgbClr val="00B0F0"/>
                </a:solidFill>
                <a:latin typeface="Courier New"/>
                <a:cs typeface="Courier New"/>
              </a:rPr>
              <a:t>.</a:t>
            </a:r>
            <a:r>
              <a:rPr lang="en-US" sz="2200" b="1" dirty="0">
                <a:solidFill>
                  <a:srgbClr val="00B0F0"/>
                </a:solidFill>
                <a:latin typeface="Courier New"/>
                <a:cs typeface="Courier New"/>
              </a:rPr>
              <a:t>00</a:t>
            </a:r>
            <a:r>
              <a:rPr lang="en-US" sz="2200" dirty="0">
                <a:latin typeface="Courier New"/>
                <a:cs typeface="Courier New"/>
              </a:rPr>
              <a:t>000000</a:t>
            </a:r>
          </a:p>
        </p:txBody>
      </p:sp>
      <p:sp>
        <p:nvSpPr>
          <p:cNvPr id="1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84</a:t>
            </a:fld>
            <a:endParaRPr lang="en-US" altLang="en-US" dirty="0">
              <a:latin typeface="Tahoma" panose="020B0604030504040204" pitchFamily="34" charset="0"/>
            </a:endParaRPr>
          </a:p>
        </p:txBody>
      </p:sp>
      <p:sp>
        <p:nvSpPr>
          <p:cNvPr id="2" name="Google Shape;580;p28">
            <a:extLst>
              <a:ext uri="{FF2B5EF4-FFF2-40B4-BE49-F238E27FC236}">
                <a16:creationId xmlns:a16="http://schemas.microsoft.com/office/drawing/2014/main" id="{F93E5CBB-760F-F615-73D7-F10A0B55100E}"/>
              </a:ext>
            </a:extLst>
          </p:cNvPr>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Tree>
    <p:extLst>
      <p:ext uri="{BB962C8B-B14F-4D97-AF65-F5344CB8AC3E}">
        <p14:creationId xmlns:p14="http://schemas.microsoft.com/office/powerpoint/2010/main" val="33791441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65A1FC-E4BF-3641-81B8-47C8A663F085}"/>
              </a:ext>
            </a:extLst>
          </p:cNvPr>
          <p:cNvGrpSpPr/>
          <p:nvPr/>
        </p:nvGrpSpPr>
        <p:grpSpPr>
          <a:xfrm>
            <a:off x="0" y="0"/>
            <a:ext cx="9143999" cy="926011"/>
            <a:chOff x="0" y="0"/>
            <a:chExt cx="9143999" cy="926011"/>
          </a:xfrm>
        </p:grpSpPr>
        <p:pic>
          <p:nvPicPr>
            <p:cNvPr id="7" name="Picture 6" descr="Screen Shot 2015-04-08 at 10.38.40 AM.png">
              <a:extLst>
                <a:ext uri="{FF2B5EF4-FFF2-40B4-BE49-F238E27FC236}">
                  <a16:creationId xmlns:a16="http://schemas.microsoft.com/office/drawing/2014/main" id="{A7E1DD4E-5DE5-6846-9CE4-AE73F96E7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a:extLst>
                <a:ext uri="{FF2B5EF4-FFF2-40B4-BE49-F238E27FC236}">
                  <a16:creationId xmlns:a16="http://schemas.microsoft.com/office/drawing/2014/main" id="{BB3C4288-323C-2A46-A5A1-09BB84C60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1" name="Rectangle 10">
            <a:extLst>
              <a:ext uri="{FF2B5EF4-FFF2-40B4-BE49-F238E27FC236}">
                <a16:creationId xmlns:a16="http://schemas.microsoft.com/office/drawing/2014/main" id="{898A4553-3992-A346-B109-CDBCB1D6C4AB}"/>
              </a:ext>
            </a:extLst>
          </p:cNvPr>
          <p:cNvSpPr/>
          <p:nvPr/>
        </p:nvSpPr>
        <p:spPr bwMode="auto">
          <a:xfrm>
            <a:off x="0" y="1176276"/>
            <a:ext cx="9144000" cy="855724"/>
          </a:xfrm>
          <a:prstGeom prst="rect">
            <a:avLst/>
          </a:prstGeom>
          <a:solidFill>
            <a:schemeClr val="bg1">
              <a:lumMod val="75000"/>
              <a:alpha val="7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1" name="TextBox 20">
            <a:extLst>
              <a:ext uri="{FF2B5EF4-FFF2-40B4-BE49-F238E27FC236}">
                <a16:creationId xmlns:a16="http://schemas.microsoft.com/office/drawing/2014/main" id="{A5ED8D18-4BD4-BE44-BE0E-652C34A862FE}"/>
              </a:ext>
            </a:extLst>
          </p:cNvPr>
          <p:cNvSpPr txBox="1"/>
          <p:nvPr/>
        </p:nvSpPr>
        <p:spPr>
          <a:xfrm>
            <a:off x="0" y="1218204"/>
            <a:ext cx="2925801" cy="769441"/>
          </a:xfrm>
          <a:prstGeom prst="rect">
            <a:avLst/>
          </a:prstGeom>
          <a:noFill/>
        </p:spPr>
        <p:txBody>
          <a:bodyPr wrap="none" rtlCol="0">
            <a:spAutoFit/>
          </a:bodyPr>
          <a:lstStyle/>
          <a:p>
            <a:r>
              <a:rPr lang="en-US" sz="2200" dirty="0">
                <a:solidFill>
                  <a:srgbClr val="53A9D6"/>
                </a:solidFill>
              </a:rPr>
              <a:t>Subnet </a:t>
            </a:r>
            <a:r>
              <a:rPr lang="en-US" sz="2200" b="1" dirty="0">
                <a:solidFill>
                  <a:srgbClr val="53A9D6"/>
                </a:solidFill>
              </a:rPr>
              <a:t>0</a:t>
            </a:r>
            <a:r>
              <a:rPr lang="en-US" sz="2200" dirty="0">
                <a:solidFill>
                  <a:srgbClr val="53A9D6"/>
                </a:solidFill>
              </a:rPr>
              <a:t>:                </a:t>
            </a:r>
            <a:r>
              <a:rPr lang="en-US" sz="2200" dirty="0">
                <a:solidFill>
                  <a:srgbClr val="53A9D6"/>
                </a:solidFill>
                <a:latin typeface="Courier New"/>
                <a:cs typeface="Courier New"/>
                <a:sym typeface="Wingdings"/>
              </a:rPr>
              <a:t></a:t>
            </a:r>
            <a:endParaRPr lang="en-US" sz="2200" dirty="0">
              <a:solidFill>
                <a:srgbClr val="53A9D6"/>
              </a:solidFill>
            </a:endParaRPr>
          </a:p>
          <a:p>
            <a:r>
              <a:rPr lang="en-US" sz="2200" dirty="0">
                <a:highlight>
                  <a:srgbClr val="00FF00"/>
                </a:highlight>
                <a:latin typeface="Courier New"/>
                <a:cs typeface="Courier New"/>
              </a:rPr>
              <a:t>192.168.1.0</a:t>
            </a:r>
            <a:r>
              <a:rPr lang="en-US" sz="2200" b="1" dirty="0">
                <a:highlight>
                  <a:srgbClr val="00FF00"/>
                </a:highlight>
                <a:latin typeface="Courier New"/>
                <a:cs typeface="Courier New"/>
              </a:rPr>
              <a:t>/26</a:t>
            </a:r>
            <a:endParaRPr lang="en-US" sz="2200" dirty="0">
              <a:solidFill>
                <a:srgbClr val="53A9D6"/>
              </a:solidFill>
              <a:latin typeface="Courier New"/>
              <a:cs typeface="Courier New"/>
            </a:endParaRPr>
          </a:p>
        </p:txBody>
      </p:sp>
      <p:sp>
        <p:nvSpPr>
          <p:cNvPr id="29" name="TextBox 28">
            <a:extLst>
              <a:ext uri="{FF2B5EF4-FFF2-40B4-BE49-F238E27FC236}">
                <a16:creationId xmlns:a16="http://schemas.microsoft.com/office/drawing/2014/main" id="{7A445AF7-1F98-024B-A09B-9BEE7569CA7A}"/>
              </a:ext>
            </a:extLst>
          </p:cNvPr>
          <p:cNvSpPr txBox="1"/>
          <p:nvPr/>
        </p:nvSpPr>
        <p:spPr>
          <a:xfrm>
            <a:off x="180093" y="2519627"/>
            <a:ext cx="4092787" cy="2800767"/>
          </a:xfrm>
          <a:prstGeom prst="rect">
            <a:avLst/>
          </a:prstGeom>
          <a:noFill/>
        </p:spPr>
        <p:txBody>
          <a:bodyPr wrap="none" rtlCol="0">
            <a:spAutoFit/>
          </a:bodyPr>
          <a:lstStyle/>
          <a:p>
            <a:r>
              <a:rPr lang="en-US" sz="2200" dirty="0">
                <a:solidFill>
                  <a:srgbClr val="00B0F0"/>
                </a:solidFill>
                <a:latin typeface="Courier New"/>
                <a:cs typeface="Courier New"/>
              </a:rPr>
              <a:t>192.168.1.[ 00 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00 111111</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.[ 01 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01 111111</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.[ 10 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10 111111</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.[ 11 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11 111111</a:t>
            </a:r>
            <a:r>
              <a:rPr lang="en-US" sz="2200" dirty="0">
                <a:solidFill>
                  <a:srgbClr val="00B0F0"/>
                </a:solidFill>
                <a:latin typeface="Courier New"/>
                <a:cs typeface="Courier New"/>
              </a:rPr>
              <a:t> ]</a:t>
            </a:r>
            <a:endParaRPr lang="en-US" sz="2200" dirty="0">
              <a:latin typeface="Courier New"/>
              <a:cs typeface="Courier New"/>
            </a:endParaRPr>
          </a:p>
        </p:txBody>
      </p:sp>
      <p:cxnSp>
        <p:nvCxnSpPr>
          <p:cNvPr id="27" name="Straight Connector 26">
            <a:extLst>
              <a:ext uri="{FF2B5EF4-FFF2-40B4-BE49-F238E27FC236}">
                <a16:creationId xmlns:a16="http://schemas.microsoft.com/office/drawing/2014/main" id="{FB3BC7EC-EC26-2E41-9D49-CE683F25CF4E}"/>
              </a:ext>
            </a:extLst>
          </p:cNvPr>
          <p:cNvCxnSpPr>
            <a:cxnSpLocks/>
          </p:cNvCxnSpPr>
          <p:nvPr/>
        </p:nvCxnSpPr>
        <p:spPr bwMode="auto">
          <a:xfrm>
            <a:off x="2728424" y="2414314"/>
            <a:ext cx="0" cy="3008586"/>
          </a:xfrm>
          <a:prstGeom prst="line">
            <a:avLst/>
          </a:prstGeom>
          <a:solidFill>
            <a:schemeClr val="accent1"/>
          </a:solidFill>
          <a:ln w="19050" cap="flat" cmpd="sng" algn="ctr">
            <a:solidFill>
              <a:srgbClr val="0070C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33" name="Group 32">
            <a:extLst>
              <a:ext uri="{FF2B5EF4-FFF2-40B4-BE49-F238E27FC236}">
                <a16:creationId xmlns:a16="http://schemas.microsoft.com/office/drawing/2014/main" id="{407A059F-C53E-8745-A4C5-A910EF24F6D2}"/>
              </a:ext>
            </a:extLst>
          </p:cNvPr>
          <p:cNvGrpSpPr/>
          <p:nvPr/>
        </p:nvGrpSpPr>
        <p:grpSpPr>
          <a:xfrm>
            <a:off x="1661624" y="2882900"/>
            <a:ext cx="7592591" cy="2369880"/>
            <a:chOff x="3655524" y="2882900"/>
            <a:chExt cx="7592591" cy="2369880"/>
          </a:xfrm>
        </p:grpSpPr>
        <p:grpSp>
          <p:nvGrpSpPr>
            <p:cNvPr id="22" name="Group 21">
              <a:extLst>
                <a:ext uri="{FF2B5EF4-FFF2-40B4-BE49-F238E27FC236}">
                  <a16:creationId xmlns:a16="http://schemas.microsoft.com/office/drawing/2014/main" id="{E075DE28-423D-BB47-A26C-A70504162EDA}"/>
                </a:ext>
              </a:extLst>
            </p:cNvPr>
            <p:cNvGrpSpPr/>
            <p:nvPr/>
          </p:nvGrpSpPr>
          <p:grpSpPr>
            <a:xfrm>
              <a:off x="3655524" y="3251200"/>
              <a:ext cx="2580176" cy="1346200"/>
              <a:chOff x="3655524" y="3251200"/>
              <a:chExt cx="2580176" cy="1346200"/>
            </a:xfrm>
          </p:grpSpPr>
          <p:cxnSp>
            <p:nvCxnSpPr>
              <p:cNvPr id="28" name="Straight Connector 27">
                <a:extLst>
                  <a:ext uri="{FF2B5EF4-FFF2-40B4-BE49-F238E27FC236}">
                    <a16:creationId xmlns:a16="http://schemas.microsoft.com/office/drawing/2014/main" id="{EF4F1E1F-B5F8-FB4C-8670-95066E5985FE}"/>
                  </a:ext>
                </a:extLst>
              </p:cNvPr>
              <p:cNvCxnSpPr>
                <a:cxnSpLocks/>
              </p:cNvCxnSpPr>
              <p:nvPr/>
            </p:nvCxnSpPr>
            <p:spPr bwMode="auto">
              <a:xfrm flipH="1">
                <a:off x="3655524" y="32512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0" name="Straight Connector 29">
                <a:extLst>
                  <a:ext uri="{FF2B5EF4-FFF2-40B4-BE49-F238E27FC236}">
                    <a16:creationId xmlns:a16="http://schemas.microsoft.com/office/drawing/2014/main" id="{D986E957-A057-4D4D-8D5C-AC48F65682FD}"/>
                  </a:ext>
                </a:extLst>
              </p:cNvPr>
              <p:cNvCxnSpPr>
                <a:cxnSpLocks/>
              </p:cNvCxnSpPr>
              <p:nvPr/>
            </p:nvCxnSpPr>
            <p:spPr bwMode="auto">
              <a:xfrm flipH="1">
                <a:off x="3706324" y="39370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1" name="Straight Connector 30">
                <a:extLst>
                  <a:ext uri="{FF2B5EF4-FFF2-40B4-BE49-F238E27FC236}">
                    <a16:creationId xmlns:a16="http://schemas.microsoft.com/office/drawing/2014/main" id="{1C060C79-3858-9349-9D22-9FE435A9D889}"/>
                  </a:ext>
                </a:extLst>
              </p:cNvPr>
              <p:cNvCxnSpPr>
                <a:cxnSpLocks/>
              </p:cNvCxnSpPr>
              <p:nvPr/>
            </p:nvCxnSpPr>
            <p:spPr bwMode="auto">
              <a:xfrm flipH="1">
                <a:off x="3680924" y="45974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32" name="TextBox 31">
              <a:extLst>
                <a:ext uri="{FF2B5EF4-FFF2-40B4-BE49-F238E27FC236}">
                  <a16:creationId xmlns:a16="http://schemas.microsoft.com/office/drawing/2014/main" id="{D6720759-28AB-3C41-99BB-0F8C701A0C81}"/>
                </a:ext>
              </a:extLst>
            </p:cNvPr>
            <p:cNvSpPr txBox="1"/>
            <p:nvPr/>
          </p:nvSpPr>
          <p:spPr>
            <a:xfrm>
              <a:off x="6286500" y="2882900"/>
              <a:ext cx="4961615" cy="2369880"/>
            </a:xfrm>
            <a:prstGeom prst="rect">
              <a:avLst/>
            </a:prstGeom>
            <a:noFill/>
          </p:spPr>
          <p:txBody>
            <a:bodyPr wrap="none" rtlCol="0">
              <a:spAutoFit/>
            </a:bodyPr>
            <a:lstStyle/>
            <a:p>
              <a:r>
                <a:rPr lang="ms-MY" b="1" dirty="0">
                  <a:solidFill>
                    <a:srgbClr val="0070C0"/>
                  </a:solidFill>
                </a:rPr>
                <a:t>subnet 0</a:t>
              </a:r>
              <a:r>
                <a:rPr lang="ms-MY" dirty="0">
                  <a:solidFill>
                    <a:srgbClr val="0070C0"/>
                  </a:solidFill>
                </a:rPr>
                <a:t>; broadcast address = 192.168.1.</a:t>
              </a:r>
              <a:r>
                <a:rPr lang="ms-MY" b="1" dirty="0">
                  <a:solidFill>
                    <a:srgbClr val="0070C0"/>
                  </a:solidFill>
                </a:rPr>
                <a:t>63</a:t>
              </a:r>
            </a:p>
            <a:p>
              <a:endParaRPr lang="ms-MY" sz="1400" dirty="0">
                <a:solidFill>
                  <a:srgbClr val="0070C0"/>
                </a:solidFill>
              </a:endParaRPr>
            </a:p>
            <a:p>
              <a:endParaRPr lang="ms-MY" sz="1200" dirty="0">
                <a:solidFill>
                  <a:srgbClr val="0070C0"/>
                </a:solidFill>
              </a:endParaRPr>
            </a:p>
            <a:p>
              <a:r>
                <a:rPr lang="ms-MY" b="1" dirty="0">
                  <a:solidFill>
                    <a:srgbClr val="0070C0"/>
                  </a:solidFill>
                </a:rPr>
                <a:t>subnet 1</a:t>
              </a:r>
              <a:r>
                <a:rPr lang="ms-MY" dirty="0">
                  <a:solidFill>
                    <a:srgbClr val="0070C0"/>
                  </a:solidFill>
                </a:rPr>
                <a:t>; broadcast address = 192.168.1.</a:t>
              </a:r>
              <a:r>
                <a:rPr lang="ms-MY" b="1" dirty="0">
                  <a:solidFill>
                    <a:srgbClr val="0070C0"/>
                  </a:solidFill>
                </a:rPr>
                <a:t>127</a:t>
              </a:r>
            </a:p>
            <a:p>
              <a:endParaRPr lang="ms-MY" sz="1400" dirty="0">
                <a:solidFill>
                  <a:srgbClr val="0070C0"/>
                </a:solidFill>
              </a:endParaRPr>
            </a:p>
            <a:p>
              <a:endParaRPr lang="ms-MY" sz="1100" dirty="0">
                <a:solidFill>
                  <a:srgbClr val="0070C0"/>
                </a:solidFill>
              </a:endParaRPr>
            </a:p>
            <a:p>
              <a:r>
                <a:rPr lang="ms-MY" b="1" dirty="0">
                  <a:solidFill>
                    <a:srgbClr val="0070C0"/>
                  </a:solidFill>
                </a:rPr>
                <a:t>subnet 2</a:t>
              </a:r>
              <a:r>
                <a:rPr lang="ms-MY" dirty="0">
                  <a:solidFill>
                    <a:srgbClr val="0070C0"/>
                  </a:solidFill>
                </a:rPr>
                <a:t>; broadcast address = 192.168.1.</a:t>
              </a:r>
              <a:r>
                <a:rPr lang="ms-MY" b="1" dirty="0">
                  <a:solidFill>
                    <a:srgbClr val="0070C0"/>
                  </a:solidFill>
                </a:rPr>
                <a:t>191</a:t>
              </a:r>
            </a:p>
            <a:p>
              <a:endParaRPr lang="ms-MY" dirty="0">
                <a:solidFill>
                  <a:srgbClr val="0070C0"/>
                </a:solidFill>
              </a:endParaRPr>
            </a:p>
            <a:p>
              <a:endParaRPr lang="ms-MY" sz="700" dirty="0">
                <a:solidFill>
                  <a:srgbClr val="0070C0"/>
                </a:solidFill>
              </a:endParaRPr>
            </a:p>
            <a:p>
              <a:r>
                <a:rPr lang="ms-MY" b="1" dirty="0">
                  <a:solidFill>
                    <a:srgbClr val="0070C0"/>
                  </a:solidFill>
                </a:rPr>
                <a:t>subnet 3</a:t>
              </a:r>
              <a:r>
                <a:rPr lang="ms-MY" dirty="0">
                  <a:solidFill>
                    <a:srgbClr val="0070C0"/>
                  </a:solidFill>
                </a:rPr>
                <a:t>; broadcast address = 192.168.1.</a:t>
              </a:r>
              <a:r>
                <a:rPr lang="ms-MY" b="1" dirty="0">
                  <a:solidFill>
                    <a:srgbClr val="0070C0"/>
                  </a:solidFill>
                </a:rPr>
                <a:t>255</a:t>
              </a:r>
              <a:r>
                <a:rPr lang="ms-MY" dirty="0">
                  <a:solidFill>
                    <a:srgbClr val="0070C0"/>
                  </a:solidFill>
                </a:rPr>
                <a:t> </a:t>
              </a:r>
            </a:p>
          </p:txBody>
        </p:sp>
      </p:grpSp>
      <p:sp>
        <p:nvSpPr>
          <p:cNvPr id="19" name="TextBox 18">
            <a:extLst>
              <a:ext uri="{FF2B5EF4-FFF2-40B4-BE49-F238E27FC236}">
                <a16:creationId xmlns:a16="http://schemas.microsoft.com/office/drawing/2014/main" id="{8D8BE143-C241-7945-9B56-057674D157F2}"/>
              </a:ext>
            </a:extLst>
          </p:cNvPr>
          <p:cNvSpPr txBox="1"/>
          <p:nvPr/>
        </p:nvSpPr>
        <p:spPr>
          <a:xfrm>
            <a:off x="2874857" y="1224227"/>
            <a:ext cx="6131807" cy="430887"/>
          </a:xfrm>
          <a:prstGeom prst="rect">
            <a:avLst/>
          </a:prstGeom>
          <a:noFill/>
        </p:spPr>
        <p:txBody>
          <a:bodyPr wrap="none" rtlCol="0">
            <a:spAutoFit/>
          </a:bodyPr>
          <a:lstStyle/>
          <a:p>
            <a:r>
              <a:rPr lang="en-US" sz="2200" b="1" dirty="0">
                <a:solidFill>
                  <a:srgbClr val="00B0F0"/>
                </a:solidFill>
                <a:latin typeface="Courier New"/>
                <a:cs typeface="Courier New"/>
              </a:rPr>
              <a:t>11000000</a:t>
            </a:r>
            <a:r>
              <a:rPr lang="en-US" sz="2200" dirty="0">
                <a:solidFill>
                  <a:srgbClr val="00B0F0"/>
                </a:solidFill>
                <a:latin typeface="Courier New"/>
                <a:cs typeface="Courier New"/>
              </a:rPr>
              <a:t>.</a:t>
            </a:r>
            <a:r>
              <a:rPr lang="en-US" sz="2200" b="1" dirty="0">
                <a:solidFill>
                  <a:srgbClr val="00B0F0"/>
                </a:solidFill>
                <a:latin typeface="Courier New"/>
                <a:cs typeface="Courier New"/>
              </a:rPr>
              <a:t>10101000</a:t>
            </a:r>
            <a:r>
              <a:rPr lang="en-US" sz="2200" dirty="0">
                <a:solidFill>
                  <a:srgbClr val="00B0F0"/>
                </a:solidFill>
                <a:latin typeface="Courier New"/>
                <a:cs typeface="Courier New"/>
              </a:rPr>
              <a:t>.</a:t>
            </a:r>
            <a:r>
              <a:rPr lang="en-US" sz="2200" b="1" dirty="0">
                <a:solidFill>
                  <a:srgbClr val="00B0F0"/>
                </a:solidFill>
                <a:latin typeface="Courier New"/>
                <a:cs typeface="Courier New"/>
              </a:rPr>
              <a:t>00000001</a:t>
            </a:r>
            <a:r>
              <a:rPr lang="en-US" sz="2200" dirty="0">
                <a:solidFill>
                  <a:srgbClr val="00B0F0"/>
                </a:solidFill>
                <a:latin typeface="Courier New"/>
                <a:cs typeface="Courier New"/>
              </a:rPr>
              <a:t>.</a:t>
            </a:r>
            <a:r>
              <a:rPr lang="en-US" sz="2200" b="1" dirty="0">
                <a:solidFill>
                  <a:srgbClr val="00B0F0"/>
                </a:solidFill>
                <a:latin typeface="Courier New"/>
                <a:cs typeface="Courier New"/>
              </a:rPr>
              <a:t>00</a:t>
            </a:r>
            <a:r>
              <a:rPr lang="en-US" sz="2200" dirty="0">
                <a:latin typeface="Courier New"/>
                <a:cs typeface="Courier New"/>
              </a:rPr>
              <a:t>000000</a:t>
            </a:r>
          </a:p>
        </p:txBody>
      </p:sp>
      <p:sp>
        <p:nvSpPr>
          <p:cNvPr id="1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85</a:t>
            </a:fld>
            <a:endParaRPr lang="en-US" altLang="en-US" dirty="0">
              <a:latin typeface="Tahoma" panose="020B0604030504040204" pitchFamily="34" charset="0"/>
            </a:endParaRPr>
          </a:p>
        </p:txBody>
      </p:sp>
      <p:sp>
        <p:nvSpPr>
          <p:cNvPr id="2" name="Google Shape;580;p28">
            <a:extLst>
              <a:ext uri="{FF2B5EF4-FFF2-40B4-BE49-F238E27FC236}">
                <a16:creationId xmlns:a16="http://schemas.microsoft.com/office/drawing/2014/main" id="{21AFBFD6-DC81-B95B-92AB-4D13A6B48E61}"/>
              </a:ext>
            </a:extLst>
          </p:cNvPr>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Tree>
    <p:extLst>
      <p:ext uri="{BB962C8B-B14F-4D97-AF65-F5344CB8AC3E}">
        <p14:creationId xmlns:p14="http://schemas.microsoft.com/office/powerpoint/2010/main" val="8895319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65A1FC-E4BF-3641-81B8-47C8A663F085}"/>
              </a:ext>
            </a:extLst>
          </p:cNvPr>
          <p:cNvGrpSpPr/>
          <p:nvPr/>
        </p:nvGrpSpPr>
        <p:grpSpPr>
          <a:xfrm>
            <a:off x="0" y="0"/>
            <a:ext cx="9143999" cy="926011"/>
            <a:chOff x="0" y="0"/>
            <a:chExt cx="9143999" cy="926011"/>
          </a:xfrm>
        </p:grpSpPr>
        <p:pic>
          <p:nvPicPr>
            <p:cNvPr id="7" name="Picture 6" descr="Screen Shot 2015-04-08 at 10.38.40 AM.png">
              <a:extLst>
                <a:ext uri="{FF2B5EF4-FFF2-40B4-BE49-F238E27FC236}">
                  <a16:creationId xmlns:a16="http://schemas.microsoft.com/office/drawing/2014/main" id="{A7E1DD4E-5DE5-6846-9CE4-AE73F96E7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a:extLst>
                <a:ext uri="{FF2B5EF4-FFF2-40B4-BE49-F238E27FC236}">
                  <a16:creationId xmlns:a16="http://schemas.microsoft.com/office/drawing/2014/main" id="{BB3C4288-323C-2A46-A5A1-09BB84C60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1" name="Rectangle 10">
            <a:extLst>
              <a:ext uri="{FF2B5EF4-FFF2-40B4-BE49-F238E27FC236}">
                <a16:creationId xmlns:a16="http://schemas.microsoft.com/office/drawing/2014/main" id="{898A4553-3992-A346-B109-CDBCB1D6C4AB}"/>
              </a:ext>
            </a:extLst>
          </p:cNvPr>
          <p:cNvSpPr/>
          <p:nvPr/>
        </p:nvSpPr>
        <p:spPr bwMode="auto">
          <a:xfrm>
            <a:off x="0" y="1176276"/>
            <a:ext cx="9144000" cy="855724"/>
          </a:xfrm>
          <a:prstGeom prst="rect">
            <a:avLst/>
          </a:prstGeom>
          <a:solidFill>
            <a:schemeClr val="bg1">
              <a:lumMod val="75000"/>
              <a:alpha val="7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1" name="TextBox 20">
            <a:extLst>
              <a:ext uri="{FF2B5EF4-FFF2-40B4-BE49-F238E27FC236}">
                <a16:creationId xmlns:a16="http://schemas.microsoft.com/office/drawing/2014/main" id="{A5ED8D18-4BD4-BE44-BE0E-652C34A862FE}"/>
              </a:ext>
            </a:extLst>
          </p:cNvPr>
          <p:cNvSpPr txBox="1"/>
          <p:nvPr/>
        </p:nvSpPr>
        <p:spPr>
          <a:xfrm>
            <a:off x="0" y="1218204"/>
            <a:ext cx="2925801" cy="769441"/>
          </a:xfrm>
          <a:prstGeom prst="rect">
            <a:avLst/>
          </a:prstGeom>
          <a:noFill/>
        </p:spPr>
        <p:txBody>
          <a:bodyPr wrap="none" rtlCol="0">
            <a:spAutoFit/>
          </a:bodyPr>
          <a:lstStyle/>
          <a:p>
            <a:r>
              <a:rPr lang="en-US" sz="2200" dirty="0">
                <a:solidFill>
                  <a:srgbClr val="53A9D6"/>
                </a:solidFill>
              </a:rPr>
              <a:t>Subnet </a:t>
            </a:r>
            <a:r>
              <a:rPr lang="en-US" sz="2200" b="1" dirty="0">
                <a:solidFill>
                  <a:srgbClr val="53A9D6"/>
                </a:solidFill>
              </a:rPr>
              <a:t>0</a:t>
            </a:r>
            <a:r>
              <a:rPr lang="en-US" sz="2200" dirty="0">
                <a:solidFill>
                  <a:srgbClr val="53A9D6"/>
                </a:solidFill>
              </a:rPr>
              <a:t>:                </a:t>
            </a:r>
            <a:r>
              <a:rPr lang="en-US" sz="2200" dirty="0">
                <a:solidFill>
                  <a:srgbClr val="53A9D6"/>
                </a:solidFill>
                <a:latin typeface="Courier New"/>
                <a:cs typeface="Courier New"/>
                <a:sym typeface="Wingdings"/>
              </a:rPr>
              <a:t></a:t>
            </a:r>
            <a:endParaRPr lang="en-US" sz="2200" dirty="0">
              <a:solidFill>
                <a:srgbClr val="53A9D6"/>
              </a:solidFill>
            </a:endParaRPr>
          </a:p>
          <a:p>
            <a:r>
              <a:rPr lang="en-US" sz="2200" dirty="0">
                <a:highlight>
                  <a:srgbClr val="00FF00"/>
                </a:highlight>
                <a:latin typeface="Courier New"/>
                <a:cs typeface="Courier New"/>
              </a:rPr>
              <a:t>192.168.1.0</a:t>
            </a:r>
            <a:r>
              <a:rPr lang="en-US" sz="2200" b="1" dirty="0">
                <a:highlight>
                  <a:srgbClr val="00FF00"/>
                </a:highlight>
                <a:latin typeface="Courier New"/>
                <a:cs typeface="Courier New"/>
              </a:rPr>
              <a:t>/26</a:t>
            </a:r>
            <a:endParaRPr lang="en-US" sz="2200" dirty="0">
              <a:solidFill>
                <a:srgbClr val="53A9D6"/>
              </a:solidFill>
              <a:latin typeface="Courier New"/>
              <a:cs typeface="Courier New"/>
            </a:endParaRPr>
          </a:p>
        </p:txBody>
      </p:sp>
      <p:sp>
        <p:nvSpPr>
          <p:cNvPr id="29" name="TextBox 28">
            <a:extLst>
              <a:ext uri="{FF2B5EF4-FFF2-40B4-BE49-F238E27FC236}">
                <a16:creationId xmlns:a16="http://schemas.microsoft.com/office/drawing/2014/main" id="{7A445AF7-1F98-024B-A09B-9BEE7569CA7A}"/>
              </a:ext>
            </a:extLst>
          </p:cNvPr>
          <p:cNvSpPr txBox="1"/>
          <p:nvPr/>
        </p:nvSpPr>
        <p:spPr>
          <a:xfrm>
            <a:off x="180093" y="2519627"/>
            <a:ext cx="4092787" cy="2800767"/>
          </a:xfrm>
          <a:prstGeom prst="rect">
            <a:avLst/>
          </a:prstGeom>
          <a:noFill/>
        </p:spPr>
        <p:txBody>
          <a:bodyPr wrap="none" rtlCol="0">
            <a:spAutoFit/>
          </a:bodyPr>
          <a:lstStyle/>
          <a:p>
            <a:r>
              <a:rPr lang="en-US" sz="2200" dirty="0">
                <a:solidFill>
                  <a:srgbClr val="00B0F0"/>
                </a:solidFill>
                <a:latin typeface="Courier New"/>
                <a:cs typeface="Courier New"/>
              </a:rPr>
              <a:t>192.168.1.[ 00 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00 111111</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.[ 01 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01 111111</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.[ 10 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10 111111</a:t>
            </a:r>
            <a:r>
              <a:rPr lang="en-US" sz="2200" dirty="0">
                <a:solidFill>
                  <a:srgbClr val="00B0F0"/>
                </a:solidFill>
                <a:latin typeface="Courier New"/>
                <a:cs typeface="Courier New"/>
              </a:rPr>
              <a:t> ]</a:t>
            </a:r>
          </a:p>
          <a:p>
            <a:r>
              <a:rPr lang="en-US" sz="2200" dirty="0">
                <a:solidFill>
                  <a:srgbClr val="00B0F0"/>
                </a:solidFill>
                <a:latin typeface="Courier New"/>
                <a:cs typeface="Courier New"/>
              </a:rPr>
              <a:t>         .[ 11 000000 ]</a:t>
            </a:r>
          </a:p>
          <a:p>
            <a:r>
              <a:rPr lang="en-US" sz="2200" dirty="0">
                <a:solidFill>
                  <a:srgbClr val="00B0F0"/>
                </a:solidFill>
                <a:latin typeface="Courier New"/>
                <a:cs typeface="Courier New"/>
              </a:rPr>
              <a:t>         .[ </a:t>
            </a:r>
            <a:r>
              <a:rPr lang="en-US" sz="2200" b="1" dirty="0">
                <a:solidFill>
                  <a:srgbClr val="00B0F0"/>
                </a:solidFill>
                <a:latin typeface="Courier New"/>
                <a:cs typeface="Courier New"/>
              </a:rPr>
              <a:t>11 111111</a:t>
            </a:r>
            <a:r>
              <a:rPr lang="en-US" sz="2200" dirty="0">
                <a:solidFill>
                  <a:srgbClr val="00B0F0"/>
                </a:solidFill>
                <a:latin typeface="Courier New"/>
                <a:cs typeface="Courier New"/>
              </a:rPr>
              <a:t> ]</a:t>
            </a:r>
            <a:endParaRPr lang="en-US" sz="2200" dirty="0">
              <a:latin typeface="Courier New"/>
              <a:cs typeface="Courier New"/>
            </a:endParaRPr>
          </a:p>
        </p:txBody>
      </p:sp>
      <p:cxnSp>
        <p:nvCxnSpPr>
          <p:cNvPr id="27" name="Straight Connector 26">
            <a:extLst>
              <a:ext uri="{FF2B5EF4-FFF2-40B4-BE49-F238E27FC236}">
                <a16:creationId xmlns:a16="http://schemas.microsoft.com/office/drawing/2014/main" id="{FB3BC7EC-EC26-2E41-9D49-CE683F25CF4E}"/>
              </a:ext>
            </a:extLst>
          </p:cNvPr>
          <p:cNvCxnSpPr>
            <a:cxnSpLocks/>
          </p:cNvCxnSpPr>
          <p:nvPr/>
        </p:nvCxnSpPr>
        <p:spPr bwMode="auto">
          <a:xfrm>
            <a:off x="2728424" y="2414314"/>
            <a:ext cx="0" cy="3008586"/>
          </a:xfrm>
          <a:prstGeom prst="line">
            <a:avLst/>
          </a:prstGeom>
          <a:solidFill>
            <a:schemeClr val="accent1"/>
          </a:solidFill>
          <a:ln w="19050" cap="flat" cmpd="sng" algn="ctr">
            <a:solidFill>
              <a:srgbClr val="0070C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22" name="Group 21">
            <a:extLst>
              <a:ext uri="{FF2B5EF4-FFF2-40B4-BE49-F238E27FC236}">
                <a16:creationId xmlns:a16="http://schemas.microsoft.com/office/drawing/2014/main" id="{E075DE28-423D-BB47-A26C-A70504162EDA}"/>
              </a:ext>
            </a:extLst>
          </p:cNvPr>
          <p:cNvGrpSpPr/>
          <p:nvPr/>
        </p:nvGrpSpPr>
        <p:grpSpPr>
          <a:xfrm>
            <a:off x="1661624" y="3251200"/>
            <a:ext cx="2580176" cy="1346200"/>
            <a:chOff x="3655524" y="3251200"/>
            <a:chExt cx="2580176" cy="1346200"/>
          </a:xfrm>
        </p:grpSpPr>
        <p:cxnSp>
          <p:nvCxnSpPr>
            <p:cNvPr id="28" name="Straight Connector 27">
              <a:extLst>
                <a:ext uri="{FF2B5EF4-FFF2-40B4-BE49-F238E27FC236}">
                  <a16:creationId xmlns:a16="http://schemas.microsoft.com/office/drawing/2014/main" id="{EF4F1E1F-B5F8-FB4C-8670-95066E5985FE}"/>
                </a:ext>
              </a:extLst>
            </p:cNvPr>
            <p:cNvCxnSpPr>
              <a:cxnSpLocks/>
            </p:cNvCxnSpPr>
            <p:nvPr/>
          </p:nvCxnSpPr>
          <p:spPr bwMode="auto">
            <a:xfrm flipH="1">
              <a:off x="3655524" y="32512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0" name="Straight Connector 29">
              <a:extLst>
                <a:ext uri="{FF2B5EF4-FFF2-40B4-BE49-F238E27FC236}">
                  <a16:creationId xmlns:a16="http://schemas.microsoft.com/office/drawing/2014/main" id="{D986E957-A057-4D4D-8D5C-AC48F65682FD}"/>
                </a:ext>
              </a:extLst>
            </p:cNvPr>
            <p:cNvCxnSpPr>
              <a:cxnSpLocks/>
            </p:cNvCxnSpPr>
            <p:nvPr/>
          </p:nvCxnSpPr>
          <p:spPr bwMode="auto">
            <a:xfrm flipH="1">
              <a:off x="3706324" y="39370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1" name="Straight Connector 30">
              <a:extLst>
                <a:ext uri="{FF2B5EF4-FFF2-40B4-BE49-F238E27FC236}">
                  <a16:creationId xmlns:a16="http://schemas.microsoft.com/office/drawing/2014/main" id="{1C060C79-3858-9349-9D22-9FE435A9D889}"/>
                </a:ext>
              </a:extLst>
            </p:cNvPr>
            <p:cNvCxnSpPr>
              <a:cxnSpLocks/>
            </p:cNvCxnSpPr>
            <p:nvPr/>
          </p:nvCxnSpPr>
          <p:spPr bwMode="auto">
            <a:xfrm flipH="1">
              <a:off x="3680924" y="4597400"/>
              <a:ext cx="2529376" cy="0"/>
            </a:xfrm>
            <a:prstGeom prst="line">
              <a:avLst/>
            </a:prstGeom>
            <a:solidFill>
              <a:schemeClr val="accent1"/>
            </a:solidFill>
            <a:ln w="19050" cap="flat" cmpd="sng" algn="ctr">
              <a:solidFill>
                <a:srgbClr val="0000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19" name="TextBox 18">
            <a:extLst>
              <a:ext uri="{FF2B5EF4-FFF2-40B4-BE49-F238E27FC236}">
                <a16:creationId xmlns:a16="http://schemas.microsoft.com/office/drawing/2014/main" id="{8D8BE143-C241-7945-9B56-057674D157F2}"/>
              </a:ext>
            </a:extLst>
          </p:cNvPr>
          <p:cNvSpPr txBox="1"/>
          <p:nvPr/>
        </p:nvSpPr>
        <p:spPr>
          <a:xfrm>
            <a:off x="2874857" y="1224227"/>
            <a:ext cx="6131807" cy="430887"/>
          </a:xfrm>
          <a:prstGeom prst="rect">
            <a:avLst/>
          </a:prstGeom>
          <a:noFill/>
        </p:spPr>
        <p:txBody>
          <a:bodyPr wrap="none" rtlCol="0">
            <a:spAutoFit/>
          </a:bodyPr>
          <a:lstStyle/>
          <a:p>
            <a:r>
              <a:rPr lang="en-US" sz="2200" b="1" dirty="0">
                <a:solidFill>
                  <a:srgbClr val="00B0F0"/>
                </a:solidFill>
                <a:latin typeface="Courier New"/>
                <a:cs typeface="Courier New"/>
              </a:rPr>
              <a:t>11000000</a:t>
            </a:r>
            <a:r>
              <a:rPr lang="en-US" sz="2200" dirty="0">
                <a:solidFill>
                  <a:srgbClr val="00B0F0"/>
                </a:solidFill>
                <a:latin typeface="Courier New"/>
                <a:cs typeface="Courier New"/>
              </a:rPr>
              <a:t>.</a:t>
            </a:r>
            <a:r>
              <a:rPr lang="en-US" sz="2200" b="1" dirty="0">
                <a:solidFill>
                  <a:srgbClr val="00B0F0"/>
                </a:solidFill>
                <a:latin typeface="Courier New"/>
                <a:cs typeface="Courier New"/>
              </a:rPr>
              <a:t>10101000</a:t>
            </a:r>
            <a:r>
              <a:rPr lang="en-US" sz="2200" dirty="0">
                <a:solidFill>
                  <a:srgbClr val="00B0F0"/>
                </a:solidFill>
                <a:latin typeface="Courier New"/>
                <a:cs typeface="Courier New"/>
              </a:rPr>
              <a:t>.</a:t>
            </a:r>
            <a:r>
              <a:rPr lang="en-US" sz="2200" b="1" dirty="0">
                <a:solidFill>
                  <a:srgbClr val="00B0F0"/>
                </a:solidFill>
                <a:latin typeface="Courier New"/>
                <a:cs typeface="Courier New"/>
              </a:rPr>
              <a:t>00000001</a:t>
            </a:r>
            <a:r>
              <a:rPr lang="en-US" sz="2200" dirty="0">
                <a:solidFill>
                  <a:srgbClr val="00B0F0"/>
                </a:solidFill>
                <a:latin typeface="Courier New"/>
                <a:cs typeface="Courier New"/>
              </a:rPr>
              <a:t>.</a:t>
            </a:r>
            <a:r>
              <a:rPr lang="en-US" sz="2200" b="1" dirty="0">
                <a:solidFill>
                  <a:srgbClr val="00B0F0"/>
                </a:solidFill>
                <a:latin typeface="Courier New"/>
                <a:cs typeface="Courier New"/>
              </a:rPr>
              <a:t>00</a:t>
            </a:r>
            <a:r>
              <a:rPr lang="en-US" sz="2200" dirty="0">
                <a:latin typeface="Courier New"/>
                <a:cs typeface="Courier New"/>
              </a:rPr>
              <a:t>000000</a:t>
            </a:r>
          </a:p>
        </p:txBody>
      </p:sp>
      <p:sp>
        <p:nvSpPr>
          <p:cNvPr id="2" name="TextBox 1"/>
          <p:cNvSpPr txBox="1"/>
          <p:nvPr/>
        </p:nvSpPr>
        <p:spPr>
          <a:xfrm>
            <a:off x="4921918" y="2604869"/>
            <a:ext cx="2403222" cy="646331"/>
          </a:xfrm>
          <a:prstGeom prst="rect">
            <a:avLst/>
          </a:prstGeom>
          <a:noFill/>
        </p:spPr>
        <p:txBody>
          <a:bodyPr wrap="none" rtlCol="0">
            <a:spAutoFit/>
          </a:bodyPr>
          <a:lstStyle/>
          <a:p>
            <a:r>
              <a:rPr lang="en-US" dirty="0"/>
              <a:t>00 000001 – first host</a:t>
            </a:r>
          </a:p>
          <a:p>
            <a:r>
              <a:rPr lang="en-US" dirty="0"/>
              <a:t>00 111110 – last host</a:t>
            </a:r>
          </a:p>
        </p:txBody>
      </p:sp>
      <p:sp>
        <p:nvSpPr>
          <p:cNvPr id="3" name="TextBox 2"/>
          <p:cNvSpPr txBox="1"/>
          <p:nvPr/>
        </p:nvSpPr>
        <p:spPr>
          <a:xfrm>
            <a:off x="4921918" y="3953379"/>
            <a:ext cx="2403222" cy="646331"/>
          </a:xfrm>
          <a:prstGeom prst="rect">
            <a:avLst/>
          </a:prstGeom>
          <a:noFill/>
        </p:spPr>
        <p:txBody>
          <a:bodyPr wrap="none" rtlCol="0">
            <a:spAutoFit/>
          </a:bodyPr>
          <a:lstStyle/>
          <a:p>
            <a:r>
              <a:rPr lang="en-US" dirty="0"/>
              <a:t>10 000001 – first host</a:t>
            </a:r>
          </a:p>
          <a:p>
            <a:r>
              <a:rPr lang="en-US" dirty="0"/>
              <a:t>10 111110 – last host</a:t>
            </a:r>
          </a:p>
        </p:txBody>
      </p:sp>
      <p:sp>
        <p:nvSpPr>
          <p:cNvPr id="5" name="Right Arrow 4"/>
          <p:cNvSpPr/>
          <p:nvPr/>
        </p:nvSpPr>
        <p:spPr bwMode="auto">
          <a:xfrm flipH="1">
            <a:off x="4035232" y="2818748"/>
            <a:ext cx="740229" cy="202721"/>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Arial" charset="0"/>
            </a:endParaRPr>
          </a:p>
        </p:txBody>
      </p:sp>
      <p:sp>
        <p:nvSpPr>
          <p:cNvPr id="20" name="Right Arrow 19"/>
          <p:cNvSpPr/>
          <p:nvPr/>
        </p:nvSpPr>
        <p:spPr bwMode="auto">
          <a:xfrm flipH="1">
            <a:off x="4018453" y="4162655"/>
            <a:ext cx="735207" cy="20501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Arial" charset="0"/>
            </a:endParaRPr>
          </a:p>
        </p:txBody>
      </p:sp>
      <p:sp>
        <p:nvSpPr>
          <p:cNvPr id="23"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86</a:t>
            </a:fld>
            <a:endParaRPr lang="en-US" altLang="en-US" dirty="0">
              <a:latin typeface="Tahoma" panose="020B0604030504040204" pitchFamily="34" charset="0"/>
            </a:endParaRPr>
          </a:p>
        </p:txBody>
      </p:sp>
      <p:sp>
        <p:nvSpPr>
          <p:cNvPr id="4" name="Google Shape;580;p28">
            <a:extLst>
              <a:ext uri="{FF2B5EF4-FFF2-40B4-BE49-F238E27FC236}">
                <a16:creationId xmlns:a16="http://schemas.microsoft.com/office/drawing/2014/main" id="{5689F2DD-FD63-6978-DD66-4DB9A6D9EA9B}"/>
              </a:ext>
            </a:extLst>
          </p:cNvPr>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
        <p:nvSpPr>
          <p:cNvPr id="10" name="TextBox 9">
            <a:extLst>
              <a:ext uri="{FF2B5EF4-FFF2-40B4-BE49-F238E27FC236}">
                <a16:creationId xmlns:a16="http://schemas.microsoft.com/office/drawing/2014/main" id="{FE574104-B6D3-3CA7-9EFE-C86AB5632062}"/>
              </a:ext>
            </a:extLst>
          </p:cNvPr>
          <p:cNvSpPr txBox="1"/>
          <p:nvPr/>
        </p:nvSpPr>
        <p:spPr>
          <a:xfrm>
            <a:off x="4921918" y="3241447"/>
            <a:ext cx="2403222" cy="646331"/>
          </a:xfrm>
          <a:prstGeom prst="rect">
            <a:avLst/>
          </a:prstGeom>
          <a:noFill/>
        </p:spPr>
        <p:txBody>
          <a:bodyPr wrap="none" rtlCol="0">
            <a:spAutoFit/>
          </a:bodyPr>
          <a:lstStyle/>
          <a:p>
            <a:r>
              <a:rPr lang="en-US" dirty="0"/>
              <a:t>01 000001 – first host</a:t>
            </a:r>
          </a:p>
          <a:p>
            <a:r>
              <a:rPr lang="en-US" dirty="0"/>
              <a:t>01 111110 – last host</a:t>
            </a:r>
          </a:p>
        </p:txBody>
      </p:sp>
      <p:sp>
        <p:nvSpPr>
          <p:cNvPr id="12" name="Right Arrow 4">
            <a:extLst>
              <a:ext uri="{FF2B5EF4-FFF2-40B4-BE49-F238E27FC236}">
                <a16:creationId xmlns:a16="http://schemas.microsoft.com/office/drawing/2014/main" id="{778C69F1-CF21-A01A-1A44-0744A6D3416A}"/>
              </a:ext>
            </a:extLst>
          </p:cNvPr>
          <p:cNvSpPr/>
          <p:nvPr/>
        </p:nvSpPr>
        <p:spPr bwMode="auto">
          <a:xfrm flipH="1">
            <a:off x="4046503" y="3500236"/>
            <a:ext cx="740229" cy="202721"/>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Arial" charset="0"/>
            </a:endParaRPr>
          </a:p>
        </p:txBody>
      </p:sp>
      <p:sp>
        <p:nvSpPr>
          <p:cNvPr id="13" name="Right Arrow 19">
            <a:extLst>
              <a:ext uri="{FF2B5EF4-FFF2-40B4-BE49-F238E27FC236}">
                <a16:creationId xmlns:a16="http://schemas.microsoft.com/office/drawing/2014/main" id="{D778D9F4-F61A-EBDA-7080-6401AD38EE1B}"/>
              </a:ext>
            </a:extLst>
          </p:cNvPr>
          <p:cNvSpPr/>
          <p:nvPr/>
        </p:nvSpPr>
        <p:spPr bwMode="auto">
          <a:xfrm flipH="1">
            <a:off x="4026843" y="4836040"/>
            <a:ext cx="735207" cy="18637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Arial" charset="0"/>
            </a:endParaRPr>
          </a:p>
        </p:txBody>
      </p:sp>
      <p:sp>
        <p:nvSpPr>
          <p:cNvPr id="14" name="TextBox 13">
            <a:extLst>
              <a:ext uri="{FF2B5EF4-FFF2-40B4-BE49-F238E27FC236}">
                <a16:creationId xmlns:a16="http://schemas.microsoft.com/office/drawing/2014/main" id="{A01040AF-A1B8-EAB1-90B0-D801C6D09540}"/>
              </a:ext>
            </a:extLst>
          </p:cNvPr>
          <p:cNvSpPr txBox="1"/>
          <p:nvPr/>
        </p:nvSpPr>
        <p:spPr>
          <a:xfrm>
            <a:off x="4921918" y="4597400"/>
            <a:ext cx="2403222" cy="646331"/>
          </a:xfrm>
          <a:prstGeom prst="rect">
            <a:avLst/>
          </a:prstGeom>
          <a:noFill/>
        </p:spPr>
        <p:txBody>
          <a:bodyPr wrap="none" rtlCol="0">
            <a:spAutoFit/>
          </a:bodyPr>
          <a:lstStyle/>
          <a:p>
            <a:r>
              <a:rPr lang="en-US" dirty="0"/>
              <a:t>11 000001 – first host</a:t>
            </a:r>
          </a:p>
          <a:p>
            <a:r>
              <a:rPr lang="en-US" dirty="0"/>
              <a:t>11 111110 – last host</a:t>
            </a:r>
          </a:p>
        </p:txBody>
      </p:sp>
    </p:spTree>
    <p:extLst>
      <p:ext uri="{BB962C8B-B14F-4D97-AF65-F5344CB8AC3E}">
        <p14:creationId xmlns:p14="http://schemas.microsoft.com/office/powerpoint/2010/main" val="27464985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grpSp>
        <p:nvGrpSpPr>
          <p:cNvPr id="731" name="Google Shape;731;p36"/>
          <p:cNvGrpSpPr/>
          <p:nvPr/>
        </p:nvGrpSpPr>
        <p:grpSpPr>
          <a:xfrm>
            <a:off x="0" y="0"/>
            <a:ext cx="9143999" cy="926011"/>
            <a:chOff x="0" y="0"/>
            <a:chExt cx="9143999" cy="926011"/>
          </a:xfrm>
        </p:grpSpPr>
        <p:pic>
          <p:nvPicPr>
            <p:cNvPr id="732" name="Google Shape;732;p36"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733" name="Google Shape;733;p36"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735" name="Google Shape;735;p36"/>
          <p:cNvSpPr txBox="1"/>
          <p:nvPr/>
        </p:nvSpPr>
        <p:spPr>
          <a:xfrm>
            <a:off x="226991" y="1141583"/>
            <a:ext cx="733566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70C0"/>
                </a:solidFill>
                <a:latin typeface="Courier New"/>
                <a:ea typeface="Courier New"/>
                <a:cs typeface="Courier New"/>
                <a:sym typeface="Courier New"/>
              </a:rPr>
              <a:t>192.168.1.0/24</a:t>
            </a:r>
            <a:r>
              <a:rPr lang="en-US" sz="2400">
                <a:solidFill>
                  <a:schemeClr val="dk1"/>
                </a:solidFill>
                <a:latin typeface="Arial"/>
                <a:ea typeface="Arial"/>
                <a:cs typeface="Arial"/>
                <a:sym typeface="Arial"/>
              </a:rPr>
              <a:t> be divided into </a:t>
            </a:r>
            <a:r>
              <a:rPr lang="en-US" sz="2400">
                <a:solidFill>
                  <a:srgbClr val="FF0000"/>
                </a:solidFill>
                <a:latin typeface="Arial"/>
                <a:ea typeface="Arial"/>
                <a:cs typeface="Arial"/>
                <a:sym typeface="Arial"/>
              </a:rPr>
              <a:t>4 subnets </a:t>
            </a:r>
            <a:r>
              <a:rPr lang="en-US" sz="2400">
                <a:solidFill>
                  <a:schemeClr val="dk1"/>
                </a:solidFill>
                <a:latin typeface="Arial"/>
                <a:ea typeface="Arial"/>
                <a:cs typeface="Arial"/>
                <a:sym typeface="Arial"/>
              </a:rPr>
              <a:t>we get:</a:t>
            </a:r>
            <a:endParaRPr/>
          </a:p>
        </p:txBody>
      </p:sp>
      <p:pic>
        <p:nvPicPr>
          <p:cNvPr id="736" name="Google Shape;736;p36"/>
          <p:cNvPicPr preferRelativeResize="0"/>
          <p:nvPr/>
        </p:nvPicPr>
        <p:blipFill rotWithShape="1">
          <a:blip r:embed="rId5">
            <a:alphaModFix/>
          </a:blip>
          <a:srcRect/>
          <a:stretch/>
        </p:blipFill>
        <p:spPr>
          <a:xfrm>
            <a:off x="184150" y="1841500"/>
            <a:ext cx="8745124" cy="3771900"/>
          </a:xfrm>
          <a:prstGeom prst="rect">
            <a:avLst/>
          </a:prstGeom>
          <a:noFill/>
          <a:ln>
            <a:noFill/>
          </a:ln>
        </p:spPr>
      </p:pic>
      <p:sp>
        <p:nvSpPr>
          <p:cNvPr id="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87</a:t>
            </a:fld>
            <a:endParaRPr lang="en-US" altLang="en-US" dirty="0">
              <a:latin typeface="Tahoma" panose="020B0604030504040204" pitchFamily="34" charset="0"/>
            </a:endParaRPr>
          </a:p>
        </p:txBody>
      </p:sp>
      <p:sp>
        <p:nvSpPr>
          <p:cNvPr id="2" name="Google Shape;580;p28">
            <a:extLst>
              <a:ext uri="{FF2B5EF4-FFF2-40B4-BE49-F238E27FC236}">
                <a16:creationId xmlns:a16="http://schemas.microsoft.com/office/drawing/2014/main" id="{1B6A984D-2583-2F5D-AF5E-EA34F8999E6D}"/>
              </a:ext>
            </a:extLst>
          </p:cNvPr>
          <p:cNvSpPr txBox="1"/>
          <p:nvPr/>
        </p:nvSpPr>
        <p:spPr>
          <a:xfrm>
            <a:off x="2508308" y="140786"/>
            <a:ext cx="663569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Subnetting (Example): To subnet </a:t>
            </a:r>
          </a:p>
          <a:p>
            <a:pPr marL="0" marR="0" lvl="0" indent="0" algn="r" rtl="0">
              <a:spcBef>
                <a:spcPts val="0"/>
              </a:spcBef>
              <a:spcAft>
                <a:spcPts val="0"/>
              </a:spcAft>
              <a:buNone/>
            </a:pPr>
            <a:r>
              <a:rPr lang="en-US" sz="2800" dirty="0">
                <a:solidFill>
                  <a:schemeClr val="lt1"/>
                </a:solidFill>
                <a:latin typeface="Arial"/>
                <a:ea typeface="Arial"/>
                <a:cs typeface="Arial"/>
                <a:sym typeface="Arial"/>
              </a:rPr>
              <a:t>a small network</a:t>
            </a:r>
            <a:endParaRPr dirty="0"/>
          </a:p>
        </p:txBody>
      </p:sp>
    </p:spTree>
    <p:extLst>
      <p:ext uri="{BB962C8B-B14F-4D97-AF65-F5344CB8AC3E}">
        <p14:creationId xmlns:p14="http://schemas.microsoft.com/office/powerpoint/2010/main" val="35823606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pic>
        <p:nvPicPr>
          <p:cNvPr id="741" name="Google Shape;741;p37" descr="Screen Shot 2015-04-20 at 11.00.17 AM.png"/>
          <p:cNvPicPr preferRelativeResize="0"/>
          <p:nvPr/>
        </p:nvPicPr>
        <p:blipFill rotWithShape="1">
          <a:blip r:embed="rId3">
            <a:alphaModFix/>
          </a:blip>
          <a:srcRect/>
          <a:stretch/>
        </p:blipFill>
        <p:spPr>
          <a:xfrm>
            <a:off x="291255" y="1043729"/>
            <a:ext cx="4820277" cy="5348044"/>
          </a:xfrm>
          <a:prstGeom prst="rect">
            <a:avLst/>
          </a:prstGeom>
          <a:noFill/>
          <a:ln>
            <a:noFill/>
          </a:ln>
        </p:spPr>
      </p:pic>
      <p:grpSp>
        <p:nvGrpSpPr>
          <p:cNvPr id="742" name="Google Shape;742;p37"/>
          <p:cNvGrpSpPr/>
          <p:nvPr/>
        </p:nvGrpSpPr>
        <p:grpSpPr>
          <a:xfrm>
            <a:off x="474174" y="2094097"/>
            <a:ext cx="3630466" cy="3146816"/>
            <a:chOff x="4371527" y="2455405"/>
            <a:chExt cx="3630466" cy="3146816"/>
          </a:xfrm>
        </p:grpSpPr>
        <p:sp>
          <p:nvSpPr>
            <p:cNvPr id="743" name="Google Shape;743;p37"/>
            <p:cNvSpPr txBox="1"/>
            <p:nvPr/>
          </p:nvSpPr>
          <p:spPr>
            <a:xfrm>
              <a:off x="5840504" y="2455405"/>
              <a:ext cx="147753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Courier New"/>
                  <a:ea typeface="Courier New"/>
                  <a:cs typeface="Courier New"/>
                  <a:sym typeface="Courier New"/>
                </a:rPr>
                <a:t>200.1.0.0/16</a:t>
              </a:r>
              <a:endParaRPr sz="1600">
                <a:solidFill>
                  <a:srgbClr val="000000"/>
                </a:solidFill>
                <a:latin typeface="Courier New"/>
                <a:ea typeface="Courier New"/>
                <a:cs typeface="Courier New"/>
                <a:sym typeface="Courier New"/>
              </a:endParaRPr>
            </a:p>
          </p:txBody>
        </p:sp>
        <p:sp>
          <p:nvSpPr>
            <p:cNvPr id="744" name="Google Shape;744;p37"/>
            <p:cNvSpPr txBox="1"/>
            <p:nvPr/>
          </p:nvSpPr>
          <p:spPr>
            <a:xfrm>
              <a:off x="4371527" y="5210281"/>
              <a:ext cx="169301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161.139.2.0/24</a:t>
              </a:r>
              <a:endParaRPr sz="1600">
                <a:solidFill>
                  <a:schemeClr val="dk1"/>
                </a:solidFill>
                <a:latin typeface="Courier New"/>
                <a:ea typeface="Courier New"/>
                <a:cs typeface="Courier New"/>
                <a:sym typeface="Courier New"/>
              </a:endParaRPr>
            </a:p>
          </p:txBody>
        </p:sp>
        <p:sp>
          <p:nvSpPr>
            <p:cNvPr id="745" name="Google Shape;745;p37"/>
            <p:cNvSpPr txBox="1"/>
            <p:nvPr/>
          </p:nvSpPr>
          <p:spPr>
            <a:xfrm>
              <a:off x="7663364" y="5232889"/>
              <a:ext cx="3386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X</a:t>
              </a:r>
              <a:endParaRPr sz="1800">
                <a:solidFill>
                  <a:schemeClr val="dk1"/>
                </a:solidFill>
                <a:latin typeface="Arial"/>
                <a:ea typeface="Arial"/>
                <a:cs typeface="Arial"/>
                <a:sym typeface="Arial"/>
              </a:endParaRPr>
            </a:p>
          </p:txBody>
        </p:sp>
      </p:grpSp>
      <p:grpSp>
        <p:nvGrpSpPr>
          <p:cNvPr id="746" name="Google Shape;746;p37"/>
          <p:cNvGrpSpPr/>
          <p:nvPr/>
        </p:nvGrpSpPr>
        <p:grpSpPr>
          <a:xfrm>
            <a:off x="0" y="0"/>
            <a:ext cx="9143999" cy="926011"/>
            <a:chOff x="0" y="0"/>
            <a:chExt cx="9143999" cy="926011"/>
          </a:xfrm>
        </p:grpSpPr>
        <p:pic>
          <p:nvPicPr>
            <p:cNvPr id="747" name="Google Shape;747;p37" descr="Screen Shot 2015-04-08 at 10.38.40 AM.png"/>
            <p:cNvPicPr preferRelativeResize="0"/>
            <p:nvPr/>
          </p:nvPicPr>
          <p:blipFill rotWithShape="1">
            <a:blip r:embed="rId4">
              <a:alphaModFix/>
            </a:blip>
            <a:srcRect/>
            <a:stretch/>
          </p:blipFill>
          <p:spPr>
            <a:xfrm>
              <a:off x="0" y="0"/>
              <a:ext cx="8354231" cy="926011"/>
            </a:xfrm>
            <a:prstGeom prst="rect">
              <a:avLst/>
            </a:prstGeom>
            <a:noFill/>
            <a:ln>
              <a:noFill/>
            </a:ln>
          </p:spPr>
        </p:pic>
        <p:pic>
          <p:nvPicPr>
            <p:cNvPr id="748" name="Google Shape;748;p37" descr="Screen Shot 2015-04-08 at 10.42.03 AM.png"/>
            <p:cNvPicPr preferRelativeResize="0"/>
            <p:nvPr/>
          </p:nvPicPr>
          <p:blipFill rotWithShape="1">
            <a:blip r:embed="rId5">
              <a:alphaModFix/>
            </a:blip>
            <a:srcRect/>
            <a:stretch/>
          </p:blipFill>
          <p:spPr>
            <a:xfrm>
              <a:off x="8249806" y="1"/>
              <a:ext cx="894193" cy="923672"/>
            </a:xfrm>
            <a:prstGeom prst="rect">
              <a:avLst/>
            </a:prstGeom>
            <a:noFill/>
            <a:ln>
              <a:noFill/>
            </a:ln>
          </p:spPr>
        </p:pic>
      </p:grpSp>
      <p:sp>
        <p:nvSpPr>
          <p:cNvPr id="749" name="Google Shape;749;p37"/>
          <p:cNvSpPr txBox="1"/>
          <p:nvPr/>
        </p:nvSpPr>
        <p:spPr>
          <a:xfrm>
            <a:off x="5265810" y="1000329"/>
            <a:ext cx="3815891" cy="51013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Given a network with hosts and interconnecting routers.</a:t>
            </a:r>
            <a:endParaRPr dirty="0"/>
          </a:p>
          <a:p>
            <a:pPr marL="0" marR="0" lvl="0" indent="0" algn="l" rtl="0">
              <a:spcBef>
                <a:spcPts val="0"/>
              </a:spcBef>
              <a:spcAft>
                <a:spcPts val="0"/>
              </a:spcAft>
              <a:buNone/>
            </a:pPr>
            <a:endParaRPr sz="1050" dirty="0">
              <a:solidFill>
                <a:schemeClr val="dk1"/>
              </a:solidFill>
              <a:latin typeface="Arial"/>
              <a:ea typeface="Arial"/>
              <a:cs typeface="Arial"/>
              <a:sym typeface="Arial"/>
            </a:endParaRPr>
          </a:p>
          <a:p>
            <a:pPr marL="457200" marR="0" lvl="0" indent="-457200" algn="l" rtl="0">
              <a:spcBef>
                <a:spcPts val="600"/>
              </a:spcBef>
              <a:spcAft>
                <a:spcPts val="0"/>
              </a:spcAft>
              <a:buClr>
                <a:schemeClr val="dk1"/>
              </a:buClr>
              <a:buSzPts val="2000"/>
              <a:buFont typeface="Arial"/>
              <a:buAutoNum type="alphaLcParenBoth"/>
            </a:pPr>
            <a:r>
              <a:rPr lang="en-US" sz="2000" dirty="0">
                <a:solidFill>
                  <a:schemeClr val="dk1"/>
                </a:solidFill>
                <a:latin typeface="Arial"/>
                <a:ea typeface="Arial"/>
                <a:cs typeface="Arial"/>
                <a:sym typeface="Arial"/>
              </a:rPr>
              <a:t>What are the subnet mask for the network that consists of host A, B, D and E? </a:t>
            </a:r>
            <a:endParaRPr dirty="0"/>
          </a:p>
          <a:p>
            <a:pPr marL="457200" marR="0" lvl="0" indent="-457200" algn="l" rtl="0">
              <a:spcBef>
                <a:spcPts val="1200"/>
              </a:spcBef>
              <a:spcAft>
                <a:spcPts val="0"/>
              </a:spcAft>
              <a:buClr>
                <a:schemeClr val="dk1"/>
              </a:buClr>
              <a:buSzPts val="2000"/>
              <a:buFont typeface="Arial"/>
              <a:buAutoNum type="alphaLcParenBoth"/>
            </a:pPr>
            <a:r>
              <a:rPr lang="en-US" sz="2000" dirty="0">
                <a:solidFill>
                  <a:schemeClr val="dk1"/>
                </a:solidFill>
                <a:latin typeface="Arial"/>
                <a:ea typeface="Arial"/>
                <a:cs typeface="Arial"/>
                <a:sym typeface="Arial"/>
              </a:rPr>
              <a:t>What is the subnet network address of X if the subnet mask is 255.0.0.0?</a:t>
            </a:r>
            <a:endParaRPr dirty="0"/>
          </a:p>
          <a:p>
            <a:pPr marL="457200" marR="0" lvl="0" indent="-457200" algn="l" rtl="0">
              <a:spcBef>
                <a:spcPts val="1200"/>
              </a:spcBef>
              <a:spcAft>
                <a:spcPts val="0"/>
              </a:spcAft>
              <a:buClr>
                <a:schemeClr val="dk1"/>
              </a:buClr>
              <a:buSzPts val="2000"/>
              <a:buFont typeface="Arial"/>
              <a:buAutoNum type="alphaLcParenBoth"/>
            </a:pPr>
            <a:r>
              <a:rPr lang="en-US" sz="2000" dirty="0">
                <a:solidFill>
                  <a:schemeClr val="dk1"/>
                </a:solidFill>
                <a:latin typeface="Arial"/>
                <a:ea typeface="Arial"/>
                <a:cs typeface="Arial"/>
                <a:sym typeface="Arial"/>
              </a:rPr>
              <a:t>Get first valid usable IP address for host A, B, D, E and G.</a:t>
            </a:r>
            <a:endParaRPr dirty="0"/>
          </a:p>
          <a:p>
            <a:pPr marL="457200" marR="0" lvl="0" indent="-457200" algn="l" rtl="0">
              <a:spcBef>
                <a:spcPts val="1200"/>
              </a:spcBef>
              <a:spcAft>
                <a:spcPts val="0"/>
              </a:spcAft>
              <a:buClr>
                <a:schemeClr val="dk1"/>
              </a:buClr>
              <a:buSzPts val="2000"/>
              <a:buFont typeface="Arial"/>
              <a:buAutoNum type="alphaLcParenBoth"/>
            </a:pPr>
            <a:r>
              <a:rPr lang="en-US" sz="2000" dirty="0">
                <a:solidFill>
                  <a:schemeClr val="dk1"/>
                </a:solidFill>
                <a:latin typeface="Arial"/>
                <a:ea typeface="Arial"/>
                <a:cs typeface="Arial"/>
                <a:sym typeface="Arial"/>
              </a:rPr>
              <a:t>Get last valid usable IP address for each router’s interface at C and F.</a:t>
            </a:r>
            <a:endParaRPr dirty="0"/>
          </a:p>
        </p:txBody>
      </p:sp>
      <p:sp>
        <p:nvSpPr>
          <p:cNvPr id="750" name="Google Shape;750;p37"/>
          <p:cNvSpPr txBox="1"/>
          <p:nvPr/>
        </p:nvSpPr>
        <p:spPr>
          <a:xfrm>
            <a:off x="6185406" y="166437"/>
            <a:ext cx="2958596" cy="538318"/>
          </a:xfrm>
          <a:prstGeom prst="rect">
            <a:avLst/>
          </a:prstGeom>
          <a:solidFill>
            <a:srgbClr val="FFFF00"/>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dk1"/>
                </a:solidFill>
                <a:latin typeface="Arial"/>
                <a:ea typeface="Arial"/>
                <a:cs typeface="Arial"/>
                <a:sym typeface="Arial"/>
              </a:rPr>
              <a:t>Exercise </a:t>
            </a:r>
            <a:endParaRPr dirty="0"/>
          </a:p>
        </p:txBody>
      </p:sp>
      <p:sp>
        <p:nvSpPr>
          <p:cNvPr id="751" name="Google Shape;751;p37"/>
          <p:cNvSpPr/>
          <p:nvPr/>
        </p:nvSpPr>
        <p:spPr>
          <a:xfrm>
            <a:off x="1412243" y="1062025"/>
            <a:ext cx="2244262" cy="208026"/>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2" name="Google Shape;752;p37"/>
          <p:cNvSpPr/>
          <p:nvPr/>
        </p:nvSpPr>
        <p:spPr>
          <a:xfrm>
            <a:off x="360404" y="6174190"/>
            <a:ext cx="4817820"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3" name="Google Shape;753;p37"/>
          <p:cNvSpPr/>
          <p:nvPr/>
        </p:nvSpPr>
        <p:spPr>
          <a:xfrm>
            <a:off x="1630328" y="4345755"/>
            <a:ext cx="2015230"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4" name="Google Shape;754;p37"/>
          <p:cNvSpPr/>
          <p:nvPr/>
        </p:nvSpPr>
        <p:spPr>
          <a:xfrm>
            <a:off x="4037938" y="4498155"/>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5" name="Google Shape;755;p37"/>
          <p:cNvSpPr/>
          <p:nvPr/>
        </p:nvSpPr>
        <p:spPr>
          <a:xfrm>
            <a:off x="3894750" y="3818455"/>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6" name="Google Shape;756;p37"/>
          <p:cNvSpPr/>
          <p:nvPr/>
        </p:nvSpPr>
        <p:spPr>
          <a:xfrm>
            <a:off x="240856" y="4508221"/>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7" name="Google Shape;757;p37"/>
          <p:cNvSpPr/>
          <p:nvPr/>
        </p:nvSpPr>
        <p:spPr>
          <a:xfrm>
            <a:off x="350336" y="3818455"/>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8" name="Google Shape;758;p37"/>
          <p:cNvSpPr/>
          <p:nvPr/>
        </p:nvSpPr>
        <p:spPr>
          <a:xfrm>
            <a:off x="1301913" y="2865035"/>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9" name="Google Shape;759;p37"/>
          <p:cNvSpPr/>
          <p:nvPr/>
        </p:nvSpPr>
        <p:spPr>
          <a:xfrm>
            <a:off x="2910347" y="2853204"/>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60" name="Google Shape;760;p37"/>
          <p:cNvSpPr/>
          <p:nvPr/>
        </p:nvSpPr>
        <p:spPr>
          <a:xfrm>
            <a:off x="2680442" y="2448102"/>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61" name="Google Shape;761;p37"/>
          <p:cNvSpPr txBox="1"/>
          <p:nvPr/>
        </p:nvSpPr>
        <p:spPr>
          <a:xfrm>
            <a:off x="1740672" y="908743"/>
            <a:ext cx="35137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A</a:t>
            </a:r>
            <a:endParaRPr/>
          </a:p>
        </p:txBody>
      </p:sp>
      <p:sp>
        <p:nvSpPr>
          <p:cNvPr id="762" name="Google Shape;762;p37"/>
          <p:cNvSpPr txBox="1"/>
          <p:nvPr/>
        </p:nvSpPr>
        <p:spPr>
          <a:xfrm>
            <a:off x="3130153" y="907860"/>
            <a:ext cx="3386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B</a:t>
            </a:r>
            <a:endParaRPr/>
          </a:p>
        </p:txBody>
      </p:sp>
      <p:sp>
        <p:nvSpPr>
          <p:cNvPr id="763" name="Google Shape;763;p37"/>
          <p:cNvSpPr txBox="1"/>
          <p:nvPr/>
        </p:nvSpPr>
        <p:spPr>
          <a:xfrm>
            <a:off x="502724" y="6119448"/>
            <a:ext cx="3526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D	        E 		G</a:t>
            </a:r>
            <a:endParaRPr/>
          </a:p>
        </p:txBody>
      </p:sp>
      <p:sp>
        <p:nvSpPr>
          <p:cNvPr id="764" name="Google Shape;764;p37"/>
          <p:cNvSpPr txBox="1"/>
          <p:nvPr/>
        </p:nvSpPr>
        <p:spPr>
          <a:xfrm>
            <a:off x="4107922" y="6107192"/>
            <a:ext cx="11543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10.90.2.1</a:t>
            </a:r>
            <a:endParaRPr sz="1600">
              <a:solidFill>
                <a:schemeClr val="dk1"/>
              </a:solidFill>
              <a:latin typeface="Courier New"/>
              <a:ea typeface="Courier New"/>
              <a:cs typeface="Courier New"/>
              <a:sym typeface="Courier New"/>
            </a:endParaRPr>
          </a:p>
        </p:txBody>
      </p:sp>
      <p:sp>
        <p:nvSpPr>
          <p:cNvPr id="765" name="Google Shape;765;p37"/>
          <p:cNvSpPr txBox="1"/>
          <p:nvPr/>
        </p:nvSpPr>
        <p:spPr>
          <a:xfrm>
            <a:off x="2681300" y="2440680"/>
            <a:ext cx="3513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C</a:t>
            </a:r>
            <a:endParaRPr/>
          </a:p>
        </p:txBody>
      </p:sp>
      <p:sp>
        <p:nvSpPr>
          <p:cNvPr id="766" name="Google Shape;766;p37"/>
          <p:cNvSpPr txBox="1"/>
          <p:nvPr/>
        </p:nvSpPr>
        <p:spPr>
          <a:xfrm>
            <a:off x="907786" y="4389552"/>
            <a:ext cx="32566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F</a:t>
            </a:r>
            <a:endParaRPr/>
          </a:p>
        </p:txBody>
      </p:sp>
      <p:sp>
        <p:nvSpPr>
          <p:cNvPr id="767" name="Google Shape;767;p37"/>
          <p:cNvSpPr/>
          <p:nvPr/>
        </p:nvSpPr>
        <p:spPr>
          <a:xfrm>
            <a:off x="3355596" y="14623"/>
            <a:ext cx="2028087" cy="946899"/>
          </a:xfrm>
          <a:prstGeom prst="wedgeEllipseCallout">
            <a:avLst>
              <a:gd name="adj1" fmla="val 34755"/>
              <a:gd name="adj2" fmla="val 99522"/>
            </a:avLst>
          </a:prstGeom>
          <a:solidFill>
            <a:srgbClr val="FF0000"/>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800"/>
              <a:buFont typeface="Arial"/>
              <a:buNone/>
            </a:pPr>
            <a:r>
              <a:rPr lang="en-US" sz="2800" dirty="0">
                <a:solidFill>
                  <a:schemeClr val="lt1"/>
                </a:solidFill>
                <a:latin typeface="Arial"/>
                <a:ea typeface="Arial"/>
                <a:cs typeface="Arial"/>
                <a:sym typeface="Arial"/>
              </a:rPr>
              <a:t>Self study</a:t>
            </a:r>
            <a:endParaRPr sz="2800" b="0" i="0" u="none" strike="noStrike" cap="none" dirty="0">
              <a:solidFill>
                <a:schemeClr val="lt1"/>
              </a:solidFill>
              <a:latin typeface="Arial"/>
              <a:ea typeface="Arial"/>
              <a:cs typeface="Arial"/>
              <a:sym typeface="Arial"/>
            </a:endParaRPr>
          </a:p>
        </p:txBody>
      </p:sp>
      <p:sp>
        <p:nvSpPr>
          <p:cNvPr id="2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88</a:t>
            </a:fld>
            <a:endParaRPr lang="en-US" altLang="en-US" dirty="0">
              <a:latin typeface="Tahoma" panose="020B0604030504040204" pitchFamily="34" charset="0"/>
            </a:endParaRPr>
          </a:p>
        </p:txBody>
      </p:sp>
    </p:spTree>
    <p:extLst>
      <p:ext uri="{BB962C8B-B14F-4D97-AF65-F5344CB8AC3E}">
        <p14:creationId xmlns:p14="http://schemas.microsoft.com/office/powerpoint/2010/main" val="10173585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pic>
        <p:nvPicPr>
          <p:cNvPr id="772" name="Google Shape;772;p38" descr="Screen Shot 2015-04-20 at 11.00.17 AM.png"/>
          <p:cNvPicPr preferRelativeResize="0"/>
          <p:nvPr/>
        </p:nvPicPr>
        <p:blipFill rotWithShape="1">
          <a:blip r:embed="rId3">
            <a:alphaModFix/>
          </a:blip>
          <a:srcRect/>
          <a:stretch/>
        </p:blipFill>
        <p:spPr>
          <a:xfrm>
            <a:off x="291255" y="1034104"/>
            <a:ext cx="4820277" cy="5348044"/>
          </a:xfrm>
          <a:prstGeom prst="rect">
            <a:avLst/>
          </a:prstGeom>
          <a:noFill/>
          <a:ln>
            <a:noFill/>
          </a:ln>
        </p:spPr>
      </p:pic>
      <p:grpSp>
        <p:nvGrpSpPr>
          <p:cNvPr id="773" name="Google Shape;773;p38"/>
          <p:cNvGrpSpPr/>
          <p:nvPr/>
        </p:nvGrpSpPr>
        <p:grpSpPr>
          <a:xfrm>
            <a:off x="474174" y="2094097"/>
            <a:ext cx="3630466" cy="3146816"/>
            <a:chOff x="4371527" y="2455405"/>
            <a:chExt cx="3630466" cy="3146816"/>
          </a:xfrm>
        </p:grpSpPr>
        <p:sp>
          <p:nvSpPr>
            <p:cNvPr id="774" name="Google Shape;774;p38"/>
            <p:cNvSpPr txBox="1"/>
            <p:nvPr/>
          </p:nvSpPr>
          <p:spPr>
            <a:xfrm>
              <a:off x="5840504" y="2455405"/>
              <a:ext cx="147753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Courier New"/>
                  <a:ea typeface="Courier New"/>
                  <a:cs typeface="Courier New"/>
                  <a:sym typeface="Courier New"/>
                </a:rPr>
                <a:t>200.1.0.0/16</a:t>
              </a:r>
              <a:endParaRPr sz="1600">
                <a:solidFill>
                  <a:srgbClr val="000000"/>
                </a:solidFill>
                <a:latin typeface="Courier New"/>
                <a:ea typeface="Courier New"/>
                <a:cs typeface="Courier New"/>
                <a:sym typeface="Courier New"/>
              </a:endParaRPr>
            </a:p>
          </p:txBody>
        </p:sp>
        <p:sp>
          <p:nvSpPr>
            <p:cNvPr id="775" name="Google Shape;775;p38"/>
            <p:cNvSpPr txBox="1"/>
            <p:nvPr/>
          </p:nvSpPr>
          <p:spPr>
            <a:xfrm>
              <a:off x="4371527" y="5210281"/>
              <a:ext cx="169301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161.139.2.0/24</a:t>
              </a:r>
              <a:endParaRPr sz="1600">
                <a:solidFill>
                  <a:schemeClr val="dk1"/>
                </a:solidFill>
                <a:latin typeface="Courier New"/>
                <a:ea typeface="Courier New"/>
                <a:cs typeface="Courier New"/>
                <a:sym typeface="Courier New"/>
              </a:endParaRPr>
            </a:p>
          </p:txBody>
        </p:sp>
        <p:sp>
          <p:nvSpPr>
            <p:cNvPr id="776" name="Google Shape;776;p38"/>
            <p:cNvSpPr txBox="1"/>
            <p:nvPr/>
          </p:nvSpPr>
          <p:spPr>
            <a:xfrm>
              <a:off x="7663364" y="5232889"/>
              <a:ext cx="3386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X</a:t>
              </a:r>
              <a:endParaRPr sz="1800">
                <a:solidFill>
                  <a:schemeClr val="dk1"/>
                </a:solidFill>
                <a:latin typeface="Arial"/>
                <a:ea typeface="Arial"/>
                <a:cs typeface="Arial"/>
                <a:sym typeface="Arial"/>
              </a:endParaRPr>
            </a:p>
          </p:txBody>
        </p:sp>
      </p:grpSp>
      <p:grpSp>
        <p:nvGrpSpPr>
          <p:cNvPr id="777" name="Google Shape;777;p38"/>
          <p:cNvGrpSpPr/>
          <p:nvPr/>
        </p:nvGrpSpPr>
        <p:grpSpPr>
          <a:xfrm>
            <a:off x="0" y="-91631"/>
            <a:ext cx="9143999" cy="926011"/>
            <a:chOff x="0" y="0"/>
            <a:chExt cx="9143999" cy="926011"/>
          </a:xfrm>
        </p:grpSpPr>
        <p:pic>
          <p:nvPicPr>
            <p:cNvPr id="778" name="Google Shape;778;p38" descr="Screen Shot 2015-04-08 at 10.38.40 AM.png"/>
            <p:cNvPicPr preferRelativeResize="0"/>
            <p:nvPr/>
          </p:nvPicPr>
          <p:blipFill rotWithShape="1">
            <a:blip r:embed="rId4">
              <a:alphaModFix/>
            </a:blip>
            <a:srcRect/>
            <a:stretch/>
          </p:blipFill>
          <p:spPr>
            <a:xfrm>
              <a:off x="0" y="0"/>
              <a:ext cx="8354231" cy="926011"/>
            </a:xfrm>
            <a:prstGeom prst="rect">
              <a:avLst/>
            </a:prstGeom>
            <a:noFill/>
            <a:ln>
              <a:noFill/>
            </a:ln>
          </p:spPr>
        </p:pic>
        <p:pic>
          <p:nvPicPr>
            <p:cNvPr id="779" name="Google Shape;779;p38" descr="Screen Shot 2015-04-08 at 10.42.03 AM.png"/>
            <p:cNvPicPr preferRelativeResize="0"/>
            <p:nvPr/>
          </p:nvPicPr>
          <p:blipFill rotWithShape="1">
            <a:blip r:embed="rId5">
              <a:alphaModFix/>
            </a:blip>
            <a:srcRect/>
            <a:stretch/>
          </p:blipFill>
          <p:spPr>
            <a:xfrm>
              <a:off x="8249806" y="1"/>
              <a:ext cx="894193" cy="923672"/>
            </a:xfrm>
            <a:prstGeom prst="rect">
              <a:avLst/>
            </a:prstGeom>
            <a:noFill/>
            <a:ln>
              <a:noFill/>
            </a:ln>
          </p:spPr>
        </p:pic>
      </p:grpSp>
      <p:sp>
        <p:nvSpPr>
          <p:cNvPr id="780" name="Google Shape;780;p38"/>
          <p:cNvSpPr txBox="1"/>
          <p:nvPr/>
        </p:nvSpPr>
        <p:spPr>
          <a:xfrm>
            <a:off x="5244378" y="839161"/>
            <a:ext cx="3836865" cy="532449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000"/>
              <a:buFont typeface="Arial"/>
              <a:buAutoNum type="alphaLcParenBoth"/>
            </a:pPr>
            <a:r>
              <a:rPr lang="en-US" sz="2000" dirty="0">
                <a:solidFill>
                  <a:schemeClr val="dk1"/>
                </a:solidFill>
                <a:latin typeface="Arial"/>
                <a:ea typeface="Arial"/>
                <a:cs typeface="Arial"/>
                <a:sym typeface="Arial"/>
              </a:rPr>
              <a:t>Net. consists of host A, B:</a:t>
            </a:r>
            <a:endParaRPr dirty="0"/>
          </a:p>
          <a:p>
            <a:pPr marL="0" marR="0" lvl="0" indent="0" algn="ctr" rtl="0">
              <a:spcBef>
                <a:spcPts val="0"/>
              </a:spcBef>
              <a:spcAft>
                <a:spcPts val="0"/>
              </a:spcAft>
              <a:buNone/>
            </a:pPr>
            <a:r>
              <a:rPr lang="en-US" sz="2000" dirty="0">
                <a:solidFill>
                  <a:schemeClr val="dk1"/>
                </a:solidFill>
                <a:latin typeface="Arial"/>
                <a:ea typeface="Arial"/>
                <a:cs typeface="Arial"/>
                <a:sym typeface="Arial"/>
              </a:rPr>
              <a:t>       </a:t>
            </a:r>
            <a:r>
              <a:rPr lang="en-US" sz="2000" dirty="0">
                <a:solidFill>
                  <a:srgbClr val="FF0000"/>
                </a:solidFill>
                <a:latin typeface="Courier New"/>
                <a:ea typeface="Courier New"/>
                <a:cs typeface="Courier New"/>
                <a:sym typeface="Courier New"/>
              </a:rPr>
              <a:t>255.255.0.0</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Net. consists of host D, E: </a:t>
            </a:r>
            <a:endParaRPr dirty="0"/>
          </a:p>
          <a:p>
            <a:pPr marL="0" marR="0" lvl="0" indent="0" algn="ctr" rtl="0">
              <a:spcBef>
                <a:spcPts val="0"/>
              </a:spcBef>
              <a:spcAft>
                <a:spcPts val="0"/>
              </a:spcAft>
              <a:buNone/>
            </a:pPr>
            <a:r>
              <a:rPr lang="en-US" sz="2000" dirty="0">
                <a:solidFill>
                  <a:srgbClr val="FF0000"/>
                </a:solidFill>
                <a:latin typeface="Courier New"/>
                <a:ea typeface="Courier New"/>
                <a:cs typeface="Courier New"/>
                <a:sym typeface="Courier New"/>
              </a:rPr>
              <a:t>   255.255.255.0</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(b)      </a:t>
            </a:r>
            <a:r>
              <a:rPr lang="en-US" sz="2000" dirty="0">
                <a:solidFill>
                  <a:schemeClr val="dk1"/>
                </a:solidFill>
                <a:latin typeface="Courier New"/>
                <a:ea typeface="Courier New"/>
                <a:cs typeface="Courier New"/>
                <a:sym typeface="Courier New"/>
              </a:rPr>
              <a:t>10.90.2.1</a:t>
            </a:r>
            <a:endParaRPr dirty="0"/>
          </a:p>
          <a:p>
            <a:pPr marL="0" marR="0" lvl="0" indent="0" algn="l" rtl="0">
              <a:spcBef>
                <a:spcPts val="0"/>
              </a:spcBef>
              <a:spcAft>
                <a:spcPts val="0"/>
              </a:spcAft>
              <a:buNone/>
            </a:pPr>
            <a:r>
              <a:rPr lang="en-US" sz="2000" dirty="0">
                <a:solidFill>
                  <a:schemeClr val="dk1"/>
                </a:solidFill>
                <a:latin typeface="Courier New"/>
                <a:ea typeface="Courier New"/>
                <a:cs typeface="Courier New"/>
                <a:sym typeface="Courier New"/>
              </a:rPr>
              <a:t>    </a:t>
            </a:r>
            <a:r>
              <a:rPr lang="en-US" sz="2000" u="sng" dirty="0">
                <a:solidFill>
                  <a:schemeClr val="dk1"/>
                </a:solidFill>
                <a:latin typeface="Courier New"/>
                <a:ea typeface="Courier New"/>
                <a:cs typeface="Courier New"/>
                <a:sym typeface="Courier New"/>
              </a:rPr>
              <a:t>255. 0.0.0</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a:t>
            </a:r>
            <a:r>
              <a:rPr lang="en-US" sz="2000" dirty="0">
                <a:solidFill>
                  <a:srgbClr val="FF0000"/>
                </a:solidFill>
                <a:latin typeface="Courier New"/>
                <a:ea typeface="Courier New"/>
                <a:cs typeface="Courier New"/>
                <a:sym typeface="Courier New"/>
              </a:rPr>
              <a:t>10. 0.0.0</a:t>
            </a:r>
            <a:endParaRPr dirty="0"/>
          </a:p>
          <a:p>
            <a:pPr marL="457200" marR="0" lvl="0" indent="-457200" algn="l" rtl="0">
              <a:spcBef>
                <a:spcPts val="0"/>
              </a:spcBef>
              <a:spcAft>
                <a:spcPts val="0"/>
              </a:spcAft>
              <a:buClr>
                <a:schemeClr val="dk1"/>
              </a:buClr>
              <a:buSzPts val="2000"/>
              <a:buFont typeface="Arial"/>
              <a:buAutoNum type="alphaLcParenBoth" startAt="3"/>
            </a:pPr>
            <a:r>
              <a:rPr lang="en-US" sz="2000" dirty="0">
                <a:solidFill>
                  <a:schemeClr val="dk1"/>
                </a:solidFill>
                <a:latin typeface="Arial"/>
                <a:ea typeface="Arial"/>
                <a:cs typeface="Arial"/>
                <a:sym typeface="Arial"/>
              </a:rPr>
              <a:t>First valid usable IP address: </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a:t>
            </a:r>
            <a:r>
              <a:rPr lang="pt-BR" sz="2000" dirty="0">
                <a:solidFill>
                  <a:schemeClr val="dk1"/>
                </a:solidFill>
                <a:latin typeface="Arial"/>
                <a:ea typeface="Arial"/>
                <a:cs typeface="Arial"/>
                <a:sym typeface="Arial"/>
              </a:rPr>
              <a:t>A: 200.1.0.1</a:t>
            </a:r>
          </a:p>
          <a:p>
            <a:pPr marL="0" marR="0" lvl="0" indent="0" algn="l" rtl="0">
              <a:spcBef>
                <a:spcPts val="0"/>
              </a:spcBef>
              <a:spcAft>
                <a:spcPts val="0"/>
              </a:spcAft>
              <a:buNone/>
            </a:pPr>
            <a:r>
              <a:rPr lang="pt-BR" sz="2000" dirty="0">
                <a:solidFill>
                  <a:schemeClr val="dk1"/>
                </a:solidFill>
                <a:latin typeface="Arial"/>
                <a:ea typeface="Arial"/>
                <a:cs typeface="Arial"/>
                <a:sym typeface="Arial"/>
              </a:rPr>
              <a:t>	B: 200.1.0.2</a:t>
            </a:r>
          </a:p>
          <a:p>
            <a:pPr marL="0" marR="0" lvl="0" indent="0" algn="l" rtl="0">
              <a:spcBef>
                <a:spcPts val="0"/>
              </a:spcBef>
              <a:spcAft>
                <a:spcPts val="0"/>
              </a:spcAft>
              <a:buNone/>
            </a:pPr>
            <a:r>
              <a:rPr lang="pt-BR" sz="2000" dirty="0">
                <a:solidFill>
                  <a:schemeClr val="dk1"/>
                </a:solidFill>
                <a:latin typeface="Arial"/>
                <a:ea typeface="Arial"/>
                <a:cs typeface="Arial"/>
                <a:sym typeface="Arial"/>
              </a:rPr>
              <a:t>	D: 161.139.2.1</a:t>
            </a:r>
          </a:p>
          <a:p>
            <a:pPr marL="0" marR="0" lvl="0" indent="0" algn="l" rtl="0">
              <a:spcBef>
                <a:spcPts val="0"/>
              </a:spcBef>
              <a:spcAft>
                <a:spcPts val="0"/>
              </a:spcAft>
              <a:buNone/>
            </a:pPr>
            <a:r>
              <a:rPr lang="pt-BR" sz="2000" dirty="0">
                <a:solidFill>
                  <a:schemeClr val="dk1"/>
                </a:solidFill>
                <a:latin typeface="Arial"/>
                <a:ea typeface="Arial"/>
                <a:cs typeface="Arial"/>
                <a:sym typeface="Arial"/>
              </a:rPr>
              <a:t>	E: 161.139.2.2</a:t>
            </a:r>
          </a:p>
          <a:p>
            <a:pPr marL="0" marR="0" lvl="0" indent="0" algn="l" rtl="0">
              <a:spcBef>
                <a:spcPts val="0"/>
              </a:spcBef>
              <a:spcAft>
                <a:spcPts val="0"/>
              </a:spcAft>
              <a:buNone/>
            </a:pPr>
            <a:r>
              <a:rPr lang="pt-BR" sz="2000" dirty="0">
                <a:solidFill>
                  <a:schemeClr val="dk1"/>
                </a:solidFill>
                <a:latin typeface="Arial"/>
                <a:ea typeface="Arial"/>
                <a:cs typeface="Arial"/>
                <a:sym typeface="Arial"/>
              </a:rPr>
              <a:t>	G: 10.90.2.2</a:t>
            </a: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US" sz="2000" dirty="0">
                <a:solidFill>
                  <a:schemeClr val="dk1"/>
                </a:solidFill>
                <a:latin typeface="Arial"/>
                <a:ea typeface="Arial"/>
                <a:cs typeface="Arial"/>
                <a:sym typeface="Arial"/>
              </a:rPr>
              <a:t>(d) Last valid usable IP address: </a:t>
            </a:r>
            <a:endParaRPr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C: 200.1.255.254</a:t>
            </a:r>
          </a:p>
          <a:p>
            <a:pPr marL="0" marR="0" lvl="0" indent="0" algn="l" rtl="0">
              <a:spcBef>
                <a:spcPts val="0"/>
              </a:spcBef>
              <a:spcAft>
                <a:spcPts val="0"/>
              </a:spcAft>
              <a:buNone/>
            </a:pPr>
            <a:r>
              <a:rPr lang="en-US" sz="2000" dirty="0">
                <a:solidFill>
                  <a:schemeClr val="dk1"/>
                </a:solidFill>
                <a:latin typeface="Arial"/>
                <a:ea typeface="Arial"/>
                <a:cs typeface="Arial"/>
                <a:sym typeface="Arial"/>
              </a:rPr>
              <a:t>	F: 161.139.2.254</a:t>
            </a:r>
            <a:endParaRPr sz="2000" dirty="0">
              <a:solidFill>
                <a:schemeClr val="dk1"/>
              </a:solidFill>
              <a:latin typeface="Arial"/>
              <a:ea typeface="Arial"/>
              <a:cs typeface="Arial"/>
              <a:sym typeface="Arial"/>
            </a:endParaRPr>
          </a:p>
        </p:txBody>
      </p:sp>
      <p:sp>
        <p:nvSpPr>
          <p:cNvPr id="781" name="Google Shape;781;p38"/>
          <p:cNvSpPr txBox="1"/>
          <p:nvPr/>
        </p:nvSpPr>
        <p:spPr>
          <a:xfrm>
            <a:off x="6185406" y="166437"/>
            <a:ext cx="2958596" cy="538318"/>
          </a:xfrm>
          <a:prstGeom prst="rect">
            <a:avLst/>
          </a:prstGeom>
          <a:solidFill>
            <a:srgbClr val="FFFF00"/>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dk1"/>
                </a:solidFill>
                <a:latin typeface="Arial"/>
                <a:ea typeface="Arial"/>
                <a:cs typeface="Arial"/>
                <a:sym typeface="Arial"/>
              </a:rPr>
              <a:t>Solution </a:t>
            </a:r>
            <a:endParaRPr dirty="0"/>
          </a:p>
        </p:txBody>
      </p:sp>
      <p:sp>
        <p:nvSpPr>
          <p:cNvPr id="782" name="Google Shape;782;p38"/>
          <p:cNvSpPr/>
          <p:nvPr/>
        </p:nvSpPr>
        <p:spPr>
          <a:xfrm>
            <a:off x="1412243" y="1062025"/>
            <a:ext cx="2244262" cy="208026"/>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3" name="Google Shape;783;p38"/>
          <p:cNvSpPr/>
          <p:nvPr/>
        </p:nvSpPr>
        <p:spPr>
          <a:xfrm>
            <a:off x="360404" y="6174190"/>
            <a:ext cx="4817820"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4" name="Google Shape;784;p38"/>
          <p:cNvSpPr/>
          <p:nvPr/>
        </p:nvSpPr>
        <p:spPr>
          <a:xfrm>
            <a:off x="1630328" y="4345755"/>
            <a:ext cx="2015230"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5" name="Google Shape;785;p38"/>
          <p:cNvSpPr/>
          <p:nvPr/>
        </p:nvSpPr>
        <p:spPr>
          <a:xfrm>
            <a:off x="4037938" y="4498155"/>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6" name="Google Shape;786;p38"/>
          <p:cNvSpPr/>
          <p:nvPr/>
        </p:nvSpPr>
        <p:spPr>
          <a:xfrm>
            <a:off x="3894750" y="3818455"/>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7" name="Google Shape;787;p38"/>
          <p:cNvSpPr/>
          <p:nvPr/>
        </p:nvSpPr>
        <p:spPr>
          <a:xfrm>
            <a:off x="240856" y="4508221"/>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8" name="Google Shape;788;p38"/>
          <p:cNvSpPr/>
          <p:nvPr/>
        </p:nvSpPr>
        <p:spPr>
          <a:xfrm>
            <a:off x="350336" y="3818455"/>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9" name="Google Shape;789;p38"/>
          <p:cNvSpPr/>
          <p:nvPr/>
        </p:nvSpPr>
        <p:spPr>
          <a:xfrm>
            <a:off x="1301913" y="2865035"/>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0" name="Google Shape;790;p38"/>
          <p:cNvSpPr/>
          <p:nvPr/>
        </p:nvSpPr>
        <p:spPr>
          <a:xfrm>
            <a:off x="2910347" y="2853204"/>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1" name="Google Shape;791;p38"/>
          <p:cNvSpPr/>
          <p:nvPr/>
        </p:nvSpPr>
        <p:spPr>
          <a:xfrm>
            <a:off x="2680442" y="2448102"/>
            <a:ext cx="1008915" cy="274601"/>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2" name="Google Shape;792;p38"/>
          <p:cNvSpPr txBox="1"/>
          <p:nvPr/>
        </p:nvSpPr>
        <p:spPr>
          <a:xfrm>
            <a:off x="1740672" y="908743"/>
            <a:ext cx="35137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A</a:t>
            </a:r>
            <a:endParaRPr/>
          </a:p>
        </p:txBody>
      </p:sp>
      <p:sp>
        <p:nvSpPr>
          <p:cNvPr id="793" name="Google Shape;793;p38"/>
          <p:cNvSpPr txBox="1"/>
          <p:nvPr/>
        </p:nvSpPr>
        <p:spPr>
          <a:xfrm>
            <a:off x="3130153" y="907860"/>
            <a:ext cx="3386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B</a:t>
            </a:r>
            <a:endParaRPr/>
          </a:p>
        </p:txBody>
      </p:sp>
      <p:sp>
        <p:nvSpPr>
          <p:cNvPr id="794" name="Google Shape;794;p38"/>
          <p:cNvSpPr txBox="1"/>
          <p:nvPr/>
        </p:nvSpPr>
        <p:spPr>
          <a:xfrm>
            <a:off x="502724" y="6119448"/>
            <a:ext cx="3526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D	        E 		G</a:t>
            </a:r>
            <a:endParaRPr/>
          </a:p>
        </p:txBody>
      </p:sp>
      <p:sp>
        <p:nvSpPr>
          <p:cNvPr id="795" name="Google Shape;795;p38"/>
          <p:cNvSpPr txBox="1"/>
          <p:nvPr/>
        </p:nvSpPr>
        <p:spPr>
          <a:xfrm>
            <a:off x="4107922" y="6107192"/>
            <a:ext cx="11543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10.90.2.1</a:t>
            </a:r>
            <a:endParaRPr sz="1600">
              <a:solidFill>
                <a:schemeClr val="dk1"/>
              </a:solidFill>
              <a:latin typeface="Courier New"/>
              <a:ea typeface="Courier New"/>
              <a:cs typeface="Courier New"/>
              <a:sym typeface="Courier New"/>
            </a:endParaRPr>
          </a:p>
        </p:txBody>
      </p:sp>
      <p:sp>
        <p:nvSpPr>
          <p:cNvPr id="796" name="Google Shape;796;p38"/>
          <p:cNvSpPr txBox="1"/>
          <p:nvPr/>
        </p:nvSpPr>
        <p:spPr>
          <a:xfrm>
            <a:off x="2681300" y="2440680"/>
            <a:ext cx="3513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C</a:t>
            </a:r>
            <a:endParaRPr/>
          </a:p>
        </p:txBody>
      </p:sp>
      <p:sp>
        <p:nvSpPr>
          <p:cNvPr id="797" name="Google Shape;797;p38"/>
          <p:cNvSpPr txBox="1"/>
          <p:nvPr/>
        </p:nvSpPr>
        <p:spPr>
          <a:xfrm>
            <a:off x="907786" y="4389552"/>
            <a:ext cx="32566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F</a:t>
            </a:r>
            <a:endParaRPr/>
          </a:p>
        </p:txBody>
      </p:sp>
      <p:sp>
        <p:nvSpPr>
          <p:cNvPr id="798" name="Google Shape;798;p38"/>
          <p:cNvSpPr/>
          <p:nvPr/>
        </p:nvSpPr>
        <p:spPr>
          <a:xfrm>
            <a:off x="3420689" y="14624"/>
            <a:ext cx="1962994" cy="973252"/>
          </a:xfrm>
          <a:prstGeom prst="wedgeEllipseCallout">
            <a:avLst>
              <a:gd name="adj1" fmla="val 34755"/>
              <a:gd name="adj2" fmla="val 99522"/>
            </a:avLst>
          </a:prstGeom>
          <a:solidFill>
            <a:srgbClr val="FF0000"/>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Self study</a:t>
            </a:r>
            <a:endParaRPr sz="2800" b="0" i="0" u="none" strike="noStrike" cap="none">
              <a:solidFill>
                <a:schemeClr val="lt1"/>
              </a:solidFill>
              <a:latin typeface="Arial"/>
              <a:ea typeface="Arial"/>
              <a:cs typeface="Arial"/>
              <a:sym typeface="Arial"/>
            </a:endParaRPr>
          </a:p>
        </p:txBody>
      </p:sp>
      <p:sp>
        <p:nvSpPr>
          <p:cNvPr id="2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451391" y="6446770"/>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89</a:t>
            </a:fld>
            <a:endParaRPr lang="en-US" altLang="en-US" dirty="0">
              <a:latin typeface="Tahoma" panose="020B0604030504040204" pitchFamily="34" charset="0"/>
            </a:endParaRPr>
          </a:p>
        </p:txBody>
      </p:sp>
    </p:spTree>
    <p:extLst>
      <p:ext uri="{BB962C8B-B14F-4D97-AF65-F5344CB8AC3E}">
        <p14:creationId xmlns:p14="http://schemas.microsoft.com/office/powerpoint/2010/main" val="20276562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grpSp>
        <p:nvGrpSpPr>
          <p:cNvPr id="803" name="Google Shape;803;p39"/>
          <p:cNvGrpSpPr/>
          <p:nvPr/>
        </p:nvGrpSpPr>
        <p:grpSpPr>
          <a:xfrm>
            <a:off x="0" y="0"/>
            <a:ext cx="9143999" cy="926011"/>
            <a:chOff x="0" y="0"/>
            <a:chExt cx="9143999" cy="926011"/>
          </a:xfrm>
        </p:grpSpPr>
        <p:pic>
          <p:nvPicPr>
            <p:cNvPr id="804" name="Google Shape;804;p39"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805" name="Google Shape;805;p39"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806" name="Google Shape;806;p39"/>
          <p:cNvSpPr txBox="1"/>
          <p:nvPr/>
        </p:nvSpPr>
        <p:spPr>
          <a:xfrm>
            <a:off x="6185406" y="166437"/>
            <a:ext cx="2958596" cy="538318"/>
          </a:xfrm>
          <a:prstGeom prst="rect">
            <a:avLst/>
          </a:prstGeom>
          <a:solidFill>
            <a:srgbClr val="FFFF00"/>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dk1"/>
                </a:solidFill>
                <a:latin typeface="Arial"/>
                <a:ea typeface="Arial"/>
                <a:cs typeface="Arial"/>
                <a:sym typeface="Arial"/>
              </a:rPr>
              <a:t>Exercise </a:t>
            </a:r>
            <a:endParaRPr dirty="0"/>
          </a:p>
        </p:txBody>
      </p:sp>
      <p:sp>
        <p:nvSpPr>
          <p:cNvPr id="807" name="Google Shape;807;p39"/>
          <p:cNvSpPr txBox="1">
            <a:spLocks noGrp="1"/>
          </p:cNvSpPr>
          <p:nvPr>
            <p:ph type="body" idx="1"/>
          </p:nvPr>
        </p:nvSpPr>
        <p:spPr>
          <a:xfrm>
            <a:off x="605132" y="1399451"/>
            <a:ext cx="8185803" cy="4523808"/>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00000"/>
              </a:lnSpc>
              <a:spcBef>
                <a:spcPts val="0"/>
              </a:spcBef>
              <a:spcAft>
                <a:spcPts val="0"/>
              </a:spcAft>
              <a:buSzPts val="1430"/>
              <a:buNone/>
            </a:pPr>
            <a:r>
              <a:rPr lang="en-US" sz="2200" dirty="0">
                <a:latin typeface="Arial"/>
                <a:ea typeface="Arial"/>
                <a:cs typeface="Arial"/>
                <a:sym typeface="Arial"/>
              </a:rPr>
              <a:t>Given an IP address as </a:t>
            </a:r>
            <a:r>
              <a:rPr lang="en-US" sz="2200" dirty="0">
                <a:latin typeface="Courier New"/>
                <a:ea typeface="Courier New"/>
                <a:cs typeface="Courier New"/>
                <a:sym typeface="Courier New"/>
              </a:rPr>
              <a:t>200.23.0.0/20</a:t>
            </a:r>
            <a:r>
              <a:rPr lang="en-US" sz="2200" dirty="0">
                <a:latin typeface="Arial"/>
                <a:ea typeface="Arial"/>
                <a:cs typeface="Arial"/>
                <a:sym typeface="Arial"/>
              </a:rPr>
              <a:t>. The network need to be divided into 5 subnets with first subnet label as Subnet 0 and last subnet label as Subnet 4.</a:t>
            </a:r>
            <a:endParaRPr dirty="0"/>
          </a:p>
          <a:p>
            <a:pPr marL="0" lvl="0" indent="0" algn="l" rtl="0">
              <a:lnSpc>
                <a:spcPct val="100000"/>
              </a:lnSpc>
              <a:spcBef>
                <a:spcPts val="440"/>
              </a:spcBef>
              <a:spcAft>
                <a:spcPts val="0"/>
              </a:spcAft>
              <a:buSzPts val="1430"/>
              <a:buNone/>
            </a:pPr>
            <a:endParaRPr sz="2200" dirty="0">
              <a:latin typeface="Arial"/>
              <a:ea typeface="Arial"/>
              <a:cs typeface="Arial"/>
              <a:sym typeface="Arial"/>
            </a:endParaRPr>
          </a:p>
          <a:p>
            <a:pPr marL="457200" lvl="0" indent="-457200" algn="l" rtl="0">
              <a:lnSpc>
                <a:spcPct val="100000"/>
              </a:lnSpc>
              <a:spcBef>
                <a:spcPts val="440"/>
              </a:spcBef>
              <a:spcAft>
                <a:spcPts val="0"/>
              </a:spcAft>
              <a:buClr>
                <a:schemeClr val="dk1"/>
              </a:buClr>
              <a:buSzPts val="2200"/>
              <a:buAutoNum type="alphaLcParenBoth"/>
            </a:pPr>
            <a:r>
              <a:rPr lang="en-US" sz="2200" dirty="0">
                <a:latin typeface="Arial"/>
                <a:ea typeface="Arial"/>
                <a:cs typeface="Arial"/>
                <a:sym typeface="Arial"/>
              </a:rPr>
              <a:t>What is the original subnet mask for the given IP address network?</a:t>
            </a:r>
            <a:endParaRPr dirty="0"/>
          </a:p>
          <a:p>
            <a:pPr marL="457200" lvl="0" indent="-457200" algn="l" rtl="0">
              <a:lnSpc>
                <a:spcPct val="100000"/>
              </a:lnSpc>
              <a:spcBef>
                <a:spcPts val="440"/>
              </a:spcBef>
              <a:spcAft>
                <a:spcPts val="0"/>
              </a:spcAft>
              <a:buClr>
                <a:schemeClr val="dk1"/>
              </a:buClr>
              <a:buSzPts val="2200"/>
              <a:buAutoNum type="alphaLcParenBoth"/>
            </a:pPr>
            <a:r>
              <a:rPr lang="en-US" sz="2200" dirty="0">
                <a:latin typeface="Arial"/>
                <a:ea typeface="Arial"/>
                <a:cs typeface="Arial"/>
                <a:sym typeface="Arial"/>
              </a:rPr>
              <a:t>How many hosts can be supported in the original IP address network?</a:t>
            </a:r>
            <a:endParaRPr dirty="0"/>
          </a:p>
          <a:p>
            <a:pPr marL="457200" lvl="0" indent="-457200" algn="l" rtl="0">
              <a:lnSpc>
                <a:spcPct val="100000"/>
              </a:lnSpc>
              <a:spcBef>
                <a:spcPts val="440"/>
              </a:spcBef>
              <a:spcAft>
                <a:spcPts val="0"/>
              </a:spcAft>
              <a:buClr>
                <a:schemeClr val="dk1"/>
              </a:buClr>
              <a:buSzPts val="2200"/>
              <a:buFont typeface="Noto Sans Symbols"/>
              <a:buAutoNum type="alphaLcParenBoth"/>
            </a:pPr>
            <a:r>
              <a:rPr lang="en-US" sz="2200" dirty="0">
                <a:latin typeface="Arial"/>
                <a:ea typeface="Arial"/>
                <a:cs typeface="Arial"/>
                <a:sym typeface="Arial"/>
              </a:rPr>
              <a:t>List all new subnet address in binary and dotted decimal format.</a:t>
            </a:r>
            <a:endParaRPr dirty="0"/>
          </a:p>
          <a:p>
            <a:pPr marL="457200" lvl="0" indent="-457200" algn="l" rtl="0">
              <a:lnSpc>
                <a:spcPct val="100000"/>
              </a:lnSpc>
              <a:spcBef>
                <a:spcPts val="440"/>
              </a:spcBef>
              <a:spcAft>
                <a:spcPts val="0"/>
              </a:spcAft>
              <a:buClr>
                <a:schemeClr val="dk1"/>
              </a:buClr>
              <a:buSzPts val="2200"/>
              <a:buFont typeface="Noto Sans Symbols"/>
              <a:buAutoNum type="alphaLcParenBoth"/>
            </a:pPr>
            <a:r>
              <a:rPr lang="en-US" sz="2200" dirty="0">
                <a:latin typeface="Arial"/>
                <a:ea typeface="Arial"/>
                <a:cs typeface="Arial"/>
                <a:sym typeface="Arial"/>
              </a:rPr>
              <a:t>What is the new subnet mask for each subnet?</a:t>
            </a:r>
            <a:endParaRPr dirty="0"/>
          </a:p>
          <a:p>
            <a:pPr marL="457200" lvl="0" indent="-457200" algn="l" rtl="0">
              <a:lnSpc>
                <a:spcPct val="100000"/>
              </a:lnSpc>
              <a:spcBef>
                <a:spcPts val="440"/>
              </a:spcBef>
              <a:spcAft>
                <a:spcPts val="0"/>
              </a:spcAft>
              <a:buClr>
                <a:schemeClr val="dk1"/>
              </a:buClr>
              <a:buSzPts val="2200"/>
              <a:buFont typeface="Noto Sans Symbols"/>
              <a:buAutoNum type="alphaLcParenBoth"/>
            </a:pPr>
            <a:r>
              <a:rPr lang="en-US" sz="2200" dirty="0">
                <a:latin typeface="Arial"/>
                <a:ea typeface="Arial"/>
                <a:cs typeface="Arial"/>
                <a:sym typeface="Arial"/>
              </a:rPr>
              <a:t>How many hosts can be supported for each new subnet?</a:t>
            </a:r>
            <a:endParaRPr dirty="0"/>
          </a:p>
          <a:p>
            <a:pPr marL="457200" lvl="0" indent="-457200" algn="l" rtl="0">
              <a:lnSpc>
                <a:spcPct val="100000"/>
              </a:lnSpc>
              <a:spcBef>
                <a:spcPts val="440"/>
              </a:spcBef>
              <a:spcAft>
                <a:spcPts val="0"/>
              </a:spcAft>
              <a:buClr>
                <a:schemeClr val="dk1"/>
              </a:buClr>
              <a:buSzPts val="2200"/>
              <a:buFont typeface="Noto Sans Symbols"/>
              <a:buAutoNum type="alphaLcParenBoth"/>
            </a:pPr>
            <a:r>
              <a:rPr lang="en-US" sz="2200" dirty="0">
                <a:latin typeface="Arial"/>
                <a:ea typeface="Arial"/>
                <a:cs typeface="Arial"/>
                <a:sym typeface="Arial"/>
              </a:rPr>
              <a:t>List the first 5 valid IP addresses for the Subnet 3.</a:t>
            </a:r>
            <a:endParaRPr dirty="0"/>
          </a:p>
          <a:p>
            <a:pPr marL="457200" lvl="0" indent="-457200" algn="l" rtl="0">
              <a:lnSpc>
                <a:spcPct val="100000"/>
              </a:lnSpc>
              <a:spcBef>
                <a:spcPts val="440"/>
              </a:spcBef>
              <a:spcAft>
                <a:spcPts val="0"/>
              </a:spcAft>
              <a:buClr>
                <a:schemeClr val="dk1"/>
              </a:buClr>
              <a:buSzPts val="2200"/>
              <a:buFont typeface="Noto Sans Symbols"/>
              <a:buAutoNum type="alphaLcParenBoth"/>
            </a:pPr>
            <a:r>
              <a:rPr lang="en-US" sz="2200" dirty="0">
                <a:latin typeface="Arial"/>
                <a:ea typeface="Arial"/>
                <a:cs typeface="Arial"/>
                <a:sym typeface="Arial"/>
              </a:rPr>
              <a:t>How many subnet remain unused and can be utilized in future?</a:t>
            </a:r>
            <a:endParaRPr dirty="0"/>
          </a:p>
          <a:p>
            <a:pPr marL="457200" lvl="0" indent="-317500" algn="l" rtl="0">
              <a:lnSpc>
                <a:spcPct val="100000"/>
              </a:lnSpc>
              <a:spcBef>
                <a:spcPts val="440"/>
              </a:spcBef>
              <a:spcAft>
                <a:spcPts val="0"/>
              </a:spcAft>
              <a:buClr>
                <a:schemeClr val="dk1"/>
              </a:buClr>
              <a:buSzPts val="2200"/>
              <a:buNone/>
            </a:pPr>
            <a:endParaRPr sz="2200" dirty="0">
              <a:latin typeface="Arial"/>
              <a:ea typeface="Arial"/>
              <a:cs typeface="Arial"/>
              <a:sym typeface="Arial"/>
            </a:endParaRPr>
          </a:p>
          <a:p>
            <a:pPr marL="457200" lvl="0" indent="-366395" algn="l" rtl="0">
              <a:lnSpc>
                <a:spcPct val="100000"/>
              </a:lnSpc>
              <a:spcBef>
                <a:spcPts val="440"/>
              </a:spcBef>
              <a:spcAft>
                <a:spcPts val="0"/>
              </a:spcAft>
              <a:buSzPts val="1430"/>
              <a:buNone/>
            </a:pPr>
            <a:endParaRPr sz="2200" dirty="0">
              <a:latin typeface="Arial"/>
              <a:ea typeface="Arial"/>
              <a:cs typeface="Arial"/>
              <a:sym typeface="Arial"/>
            </a:endParaRPr>
          </a:p>
        </p:txBody>
      </p:sp>
      <p:sp>
        <p:nvSpPr>
          <p:cNvPr id="808" name="Google Shape;808;p39"/>
          <p:cNvSpPr/>
          <p:nvPr/>
        </p:nvSpPr>
        <p:spPr>
          <a:xfrm>
            <a:off x="3313651" y="14623"/>
            <a:ext cx="2070032" cy="920117"/>
          </a:xfrm>
          <a:prstGeom prst="wedgeEllipseCallout">
            <a:avLst>
              <a:gd name="adj1" fmla="val 34755"/>
              <a:gd name="adj2" fmla="val 99522"/>
            </a:avLst>
          </a:prstGeom>
          <a:solidFill>
            <a:srgbClr val="FF0000"/>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800"/>
              <a:buFont typeface="Arial"/>
              <a:buNone/>
            </a:pPr>
            <a:r>
              <a:rPr lang="en-US" sz="2800" dirty="0">
                <a:solidFill>
                  <a:schemeClr val="lt1"/>
                </a:solidFill>
                <a:latin typeface="Arial"/>
                <a:ea typeface="Arial"/>
                <a:cs typeface="Arial"/>
                <a:sym typeface="Arial"/>
              </a:rPr>
              <a:t>Self study</a:t>
            </a:r>
            <a:endParaRPr sz="2800" b="0" i="0" u="none" strike="noStrike" cap="none" dirty="0">
              <a:solidFill>
                <a:schemeClr val="lt1"/>
              </a:solidFill>
              <a:latin typeface="Arial"/>
              <a:ea typeface="Arial"/>
              <a:cs typeface="Arial"/>
              <a:sym typeface="Arial"/>
            </a:endParaRPr>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37954" y="6246930"/>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90</a:t>
            </a:fld>
            <a:endParaRPr lang="en-US" altLang="en-US" dirty="0">
              <a:latin typeface="Tahoma" panose="020B0604030504040204" pitchFamily="34" charset="0"/>
            </a:endParaRPr>
          </a:p>
        </p:txBody>
      </p:sp>
    </p:spTree>
    <p:extLst>
      <p:ext uri="{BB962C8B-B14F-4D97-AF65-F5344CB8AC3E}">
        <p14:creationId xmlns:p14="http://schemas.microsoft.com/office/powerpoint/2010/main" val="29621153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0" y="0"/>
            <a:ext cx="9143999" cy="926011"/>
            <a:chOff x="0" y="0"/>
            <a:chExt cx="9143999" cy="926011"/>
          </a:xfrm>
        </p:grpSpPr>
        <p:pic>
          <p:nvPicPr>
            <p:cNvPr id="7" name="Picture 6" descr="Screen Shot 2015-04-08 at 10.38.40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27" name="Rectangle 2"/>
          <p:cNvSpPr txBox="1">
            <a:spLocks noChangeArrowheads="1"/>
          </p:cNvSpPr>
          <p:nvPr/>
        </p:nvSpPr>
        <p:spPr bwMode="auto">
          <a:xfrm>
            <a:off x="6185406" y="166437"/>
            <a:ext cx="2958596" cy="538318"/>
          </a:xfrm>
          <a:prstGeom prst="rect">
            <a:avLst/>
          </a:prstGeom>
          <a:solidFill>
            <a:srgbClr val="FFFF00"/>
          </a:solid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tx1"/>
                </a:solidFill>
                <a:latin typeface="Arial"/>
                <a:ea typeface="ＭＳ Ｐゴシック" pitchFamily="34" charset="-128"/>
                <a:cs typeface="Arial"/>
              </a:rPr>
              <a:t>Solution </a:t>
            </a:r>
          </a:p>
        </p:txBody>
      </p:sp>
      <p:sp>
        <p:nvSpPr>
          <p:cNvPr id="28" name="Content Placeholder 2"/>
          <p:cNvSpPr>
            <a:spLocks noGrp="1"/>
          </p:cNvSpPr>
          <p:nvPr>
            <p:ph idx="1"/>
          </p:nvPr>
        </p:nvSpPr>
        <p:spPr>
          <a:xfrm>
            <a:off x="517548" y="1202368"/>
            <a:ext cx="8454179" cy="5355911"/>
          </a:xfrm>
        </p:spPr>
        <p:txBody>
          <a:bodyPr>
            <a:normAutofit fontScale="77500" lnSpcReduction="20000"/>
          </a:bodyPr>
          <a:lstStyle/>
          <a:p>
            <a:pPr marL="0" indent="0" eaLnBrk="1" hangingPunct="1">
              <a:lnSpc>
                <a:spcPct val="100000"/>
              </a:lnSpc>
              <a:buNone/>
            </a:pPr>
            <a:r>
              <a:rPr lang="en-US" altLang="en-US" sz="2200" u="sng" dirty="0">
                <a:solidFill>
                  <a:srgbClr val="FF0000"/>
                </a:solidFill>
                <a:latin typeface="Arial"/>
                <a:cs typeface="Arial"/>
              </a:rPr>
              <a:t>Solutions:</a:t>
            </a:r>
          </a:p>
          <a:p>
            <a:pPr marL="0" indent="0" eaLnBrk="1" hangingPunct="1">
              <a:lnSpc>
                <a:spcPct val="100000"/>
              </a:lnSpc>
              <a:buNone/>
            </a:pPr>
            <a:endParaRPr lang="en-US" altLang="en-US" sz="2200" dirty="0">
              <a:latin typeface="Arial"/>
              <a:cs typeface="Arial"/>
            </a:endParaRPr>
          </a:p>
          <a:p>
            <a:pPr marL="457200" indent="-457200" eaLnBrk="1" hangingPunct="1">
              <a:lnSpc>
                <a:spcPct val="100000"/>
              </a:lnSpc>
              <a:buClr>
                <a:schemeClr val="tx1"/>
              </a:buClr>
              <a:buSzPct val="100000"/>
              <a:buAutoNum type="alphaLcParenBoth"/>
            </a:pPr>
            <a:r>
              <a:rPr lang="en-US" altLang="en-US" sz="2200" dirty="0">
                <a:latin typeface="Arial"/>
                <a:cs typeface="Arial"/>
              </a:rPr>
              <a:t> </a:t>
            </a:r>
            <a:r>
              <a:rPr lang="en-US" altLang="en-US" sz="2200" dirty="0">
                <a:solidFill>
                  <a:srgbClr val="FF0000"/>
                </a:solidFill>
                <a:latin typeface="Courier New"/>
                <a:cs typeface="Courier New"/>
              </a:rPr>
              <a:t>11111111</a:t>
            </a:r>
            <a:r>
              <a:rPr lang="en-US" altLang="en-US" sz="2200" dirty="0">
                <a:latin typeface="Courier New"/>
                <a:cs typeface="Courier New"/>
              </a:rPr>
              <a:t>.</a:t>
            </a:r>
            <a:r>
              <a:rPr lang="en-US" altLang="en-US" sz="2200" dirty="0">
                <a:solidFill>
                  <a:srgbClr val="FF0000"/>
                </a:solidFill>
                <a:latin typeface="Courier New"/>
                <a:cs typeface="Courier New"/>
              </a:rPr>
              <a:t>11111111</a:t>
            </a:r>
            <a:r>
              <a:rPr lang="en-US" altLang="en-US" sz="2200" dirty="0">
                <a:latin typeface="Courier New"/>
                <a:cs typeface="Courier New"/>
              </a:rPr>
              <a:t>.</a:t>
            </a:r>
            <a:r>
              <a:rPr lang="en-US" altLang="en-US" sz="2200" dirty="0">
                <a:solidFill>
                  <a:srgbClr val="FF0000"/>
                </a:solidFill>
                <a:latin typeface="Courier New"/>
                <a:cs typeface="Courier New"/>
              </a:rPr>
              <a:t>1111</a:t>
            </a:r>
            <a:r>
              <a:rPr lang="en-US" altLang="en-US" sz="2200" dirty="0">
                <a:latin typeface="Courier New"/>
                <a:cs typeface="Courier New"/>
              </a:rPr>
              <a:t>0000.00000000</a:t>
            </a:r>
          </a:p>
          <a:p>
            <a:pPr marL="0" indent="0" eaLnBrk="1" hangingPunct="1">
              <a:lnSpc>
                <a:spcPct val="100000"/>
              </a:lnSpc>
              <a:buClr>
                <a:schemeClr val="tx1"/>
              </a:buClr>
              <a:buSzPct val="100000"/>
              <a:buNone/>
            </a:pPr>
            <a:r>
              <a:rPr lang="en-US" altLang="en-US" sz="2200" dirty="0">
                <a:latin typeface="Arial"/>
                <a:cs typeface="Arial"/>
              </a:rPr>
              <a:t>       </a:t>
            </a:r>
            <a:r>
              <a:rPr lang="en-US" altLang="en-US" sz="2200" dirty="0">
                <a:latin typeface="Courier New"/>
                <a:cs typeface="Courier New"/>
              </a:rPr>
              <a:t>255.255.240.0</a:t>
            </a:r>
          </a:p>
          <a:p>
            <a:pPr marL="457200" indent="-457200" eaLnBrk="1" hangingPunct="1">
              <a:lnSpc>
                <a:spcPct val="100000"/>
              </a:lnSpc>
              <a:buClr>
                <a:schemeClr val="tx1"/>
              </a:buClr>
              <a:buSzPct val="100000"/>
              <a:buFont typeface="Wingdings" pitchFamily="2" charset="2"/>
              <a:buAutoNum type="alphaLcParenBoth"/>
            </a:pPr>
            <a:endParaRPr lang="en-US" altLang="en-US" sz="2200" dirty="0">
              <a:latin typeface="Arial"/>
              <a:cs typeface="Arial"/>
            </a:endParaRPr>
          </a:p>
          <a:p>
            <a:pPr marL="0" indent="0" eaLnBrk="1" hangingPunct="1">
              <a:lnSpc>
                <a:spcPct val="100000"/>
              </a:lnSpc>
              <a:buClr>
                <a:schemeClr val="tx1"/>
              </a:buClr>
              <a:buSzPct val="100000"/>
              <a:buNone/>
            </a:pPr>
            <a:r>
              <a:rPr lang="en-US" altLang="en-US" sz="2200" dirty="0">
                <a:latin typeface="Arial"/>
                <a:cs typeface="Arial"/>
              </a:rPr>
              <a:t>(b)  Total original hosts </a:t>
            </a:r>
            <a:r>
              <a:rPr lang="en-US" altLang="en-US" sz="2200" dirty="0">
                <a:latin typeface="Arial"/>
                <a:cs typeface="Arial"/>
                <a:sym typeface="Wingdings"/>
              </a:rPr>
              <a:t> 2</a:t>
            </a:r>
            <a:r>
              <a:rPr lang="en-US" altLang="en-US" sz="2200" baseline="30000" dirty="0">
                <a:latin typeface="Arial"/>
                <a:cs typeface="Arial"/>
                <a:sym typeface="Wingdings"/>
              </a:rPr>
              <a:t>12</a:t>
            </a:r>
            <a:r>
              <a:rPr lang="en-US" altLang="en-US" sz="2200" dirty="0">
                <a:latin typeface="Arial"/>
                <a:cs typeface="Arial"/>
                <a:sym typeface="Wingdings"/>
              </a:rPr>
              <a:t> – 2 = 4096 – 2 = 4094 hosts (12 bit for host portion)</a:t>
            </a:r>
            <a:r>
              <a:rPr lang="en-US" altLang="en-US" sz="2200" dirty="0">
                <a:latin typeface="Arial"/>
                <a:cs typeface="Arial"/>
              </a:rPr>
              <a:t> </a:t>
            </a:r>
          </a:p>
          <a:p>
            <a:pPr marL="0" indent="0" eaLnBrk="1" hangingPunct="1">
              <a:lnSpc>
                <a:spcPct val="100000"/>
              </a:lnSpc>
              <a:buClr>
                <a:schemeClr val="tx1"/>
              </a:buClr>
              <a:buSzPct val="100000"/>
              <a:buNone/>
            </a:pPr>
            <a:endParaRPr lang="en-US" altLang="en-US" sz="2200" dirty="0">
              <a:latin typeface="Arial"/>
              <a:cs typeface="Arial"/>
            </a:endParaRPr>
          </a:p>
          <a:p>
            <a:pPr marL="0" indent="0" eaLnBrk="1" hangingPunct="1">
              <a:lnSpc>
                <a:spcPct val="100000"/>
              </a:lnSpc>
              <a:buClr>
                <a:schemeClr val="tx1"/>
              </a:buClr>
              <a:buSzPct val="100000"/>
              <a:buNone/>
            </a:pPr>
            <a:r>
              <a:rPr lang="en-US" altLang="en-US" sz="2200" dirty="0">
                <a:latin typeface="Arial"/>
                <a:cs typeface="Arial"/>
              </a:rPr>
              <a:t>(c)  Number of Subnets Needed = 5 </a:t>
            </a:r>
            <a:r>
              <a:rPr lang="en-US" altLang="en-US" sz="2200" dirty="0">
                <a:latin typeface="Arial"/>
                <a:cs typeface="Arial"/>
                <a:sym typeface="Wingdings"/>
              </a:rPr>
              <a:t> nearest 2</a:t>
            </a:r>
            <a:r>
              <a:rPr lang="en-US" altLang="en-US" sz="2200" baseline="30000" dirty="0">
                <a:latin typeface="Arial"/>
                <a:cs typeface="Arial"/>
                <a:sym typeface="Wingdings"/>
              </a:rPr>
              <a:t>3</a:t>
            </a:r>
            <a:r>
              <a:rPr lang="en-US" altLang="en-US" sz="2200" dirty="0">
                <a:latin typeface="Arial"/>
                <a:cs typeface="Arial"/>
                <a:sym typeface="Wingdings"/>
              </a:rPr>
              <a:t> = 8 subnets; 3 bits for subnet;</a:t>
            </a:r>
            <a:endParaRPr lang="en-US" altLang="en-US" sz="2200" dirty="0">
              <a:latin typeface="Arial"/>
              <a:cs typeface="Arial"/>
            </a:endParaRPr>
          </a:p>
          <a:p>
            <a:pPr marL="0" indent="0" eaLnBrk="1" hangingPunct="1">
              <a:lnSpc>
                <a:spcPct val="100000"/>
              </a:lnSpc>
              <a:buClr>
                <a:schemeClr val="tx1"/>
              </a:buClr>
              <a:buSzPct val="100000"/>
              <a:buNone/>
            </a:pPr>
            <a:endParaRPr lang="en-US" altLang="en-US" sz="2200" dirty="0">
              <a:latin typeface="Courier New"/>
              <a:cs typeface="Courier New"/>
            </a:endParaRP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000</a:t>
            </a:r>
            <a:r>
              <a:rPr lang="en-US" altLang="en-US" sz="2200" dirty="0">
                <a:latin typeface="Courier New"/>
                <a:cs typeface="Courier New"/>
              </a:rPr>
              <a:t>0.00000000</a:t>
            </a:r>
            <a:r>
              <a:rPr lang="en-US" altLang="en-US" sz="2200" dirty="0">
                <a:latin typeface="Arial"/>
                <a:cs typeface="Arial"/>
              </a:rPr>
              <a:t>    (</a:t>
            </a:r>
            <a:r>
              <a:rPr lang="en-US" altLang="en-US" sz="2200" dirty="0">
                <a:latin typeface="Courier New"/>
                <a:cs typeface="Courier New"/>
              </a:rPr>
              <a:t>200.23.0.0/23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001</a:t>
            </a:r>
            <a:r>
              <a:rPr lang="en-US" altLang="en-US" sz="2200" dirty="0">
                <a:latin typeface="Courier New"/>
                <a:cs typeface="Courier New"/>
              </a:rPr>
              <a:t>0.00000000</a:t>
            </a:r>
            <a:r>
              <a:rPr lang="en-US" altLang="en-US" sz="2200" dirty="0">
                <a:latin typeface="Arial"/>
                <a:cs typeface="Arial"/>
              </a:rPr>
              <a:t>    (</a:t>
            </a:r>
            <a:r>
              <a:rPr lang="en-US" altLang="en-US" sz="2200" dirty="0">
                <a:latin typeface="Courier New"/>
                <a:cs typeface="Courier New"/>
              </a:rPr>
              <a:t>200.23.2.0/23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010</a:t>
            </a:r>
            <a:r>
              <a:rPr lang="en-US" altLang="en-US" sz="2200" dirty="0">
                <a:latin typeface="Courier New"/>
                <a:cs typeface="Courier New"/>
              </a:rPr>
              <a:t>0.00000000</a:t>
            </a:r>
            <a:r>
              <a:rPr lang="en-US" altLang="en-US" sz="2200" dirty="0">
                <a:latin typeface="Arial"/>
                <a:cs typeface="Arial"/>
              </a:rPr>
              <a:t>    (</a:t>
            </a:r>
            <a:r>
              <a:rPr lang="en-US" altLang="en-US" sz="2200" dirty="0">
                <a:latin typeface="Courier New"/>
                <a:cs typeface="Courier New"/>
              </a:rPr>
              <a:t>200.23.4.0/23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011</a:t>
            </a:r>
            <a:r>
              <a:rPr lang="en-US" altLang="en-US" sz="2200" dirty="0">
                <a:latin typeface="Courier New"/>
                <a:cs typeface="Courier New"/>
              </a:rPr>
              <a:t>0.00000000</a:t>
            </a:r>
            <a:r>
              <a:rPr lang="en-US" altLang="en-US" sz="2200" dirty="0">
                <a:latin typeface="Arial"/>
                <a:cs typeface="Arial"/>
              </a:rPr>
              <a:t>    (</a:t>
            </a:r>
            <a:r>
              <a:rPr lang="en-US" altLang="en-US" sz="2200" dirty="0">
                <a:latin typeface="Courier New"/>
                <a:cs typeface="Courier New"/>
              </a:rPr>
              <a:t>200.23.6.0/23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100</a:t>
            </a:r>
            <a:r>
              <a:rPr lang="en-US" altLang="en-US" sz="2200" dirty="0">
                <a:latin typeface="Courier New"/>
                <a:cs typeface="Courier New"/>
              </a:rPr>
              <a:t>0.00000000 </a:t>
            </a:r>
            <a:r>
              <a:rPr lang="en-US" altLang="en-US" sz="2200" dirty="0">
                <a:latin typeface="Arial"/>
                <a:cs typeface="Arial"/>
              </a:rPr>
              <a:t>  (</a:t>
            </a:r>
            <a:r>
              <a:rPr lang="en-US" altLang="en-US" sz="2200" dirty="0">
                <a:latin typeface="Courier New"/>
                <a:cs typeface="Courier New"/>
              </a:rPr>
              <a:t>200.23.8.0/23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101</a:t>
            </a:r>
            <a:r>
              <a:rPr lang="en-US" altLang="en-US" sz="2200" dirty="0">
                <a:latin typeface="Courier New"/>
                <a:cs typeface="Courier New"/>
              </a:rPr>
              <a:t>0.00000000 </a:t>
            </a:r>
            <a:r>
              <a:rPr lang="en-US" altLang="en-US" sz="2200" dirty="0">
                <a:latin typeface="Arial"/>
                <a:cs typeface="Arial"/>
              </a:rPr>
              <a:t>  (</a:t>
            </a:r>
            <a:r>
              <a:rPr lang="en-US" altLang="en-US" sz="2200" dirty="0">
                <a:latin typeface="Courier New"/>
                <a:cs typeface="Courier New"/>
              </a:rPr>
              <a:t>200.23.10.0/23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110</a:t>
            </a:r>
            <a:r>
              <a:rPr lang="en-US" altLang="en-US" sz="2200" dirty="0">
                <a:latin typeface="Courier New"/>
                <a:cs typeface="Courier New"/>
              </a:rPr>
              <a:t>0.00000000</a:t>
            </a:r>
            <a:r>
              <a:rPr lang="en-US" altLang="en-US" sz="2200" dirty="0">
                <a:latin typeface="Arial"/>
                <a:cs typeface="Arial"/>
              </a:rPr>
              <a:t>    (</a:t>
            </a:r>
            <a:r>
              <a:rPr lang="en-US" altLang="en-US" sz="2200" dirty="0">
                <a:latin typeface="Courier New"/>
                <a:cs typeface="Courier New"/>
              </a:rPr>
              <a:t>200.23.12.0/23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111</a:t>
            </a:r>
            <a:r>
              <a:rPr lang="en-US" altLang="en-US" sz="2200" dirty="0">
                <a:latin typeface="Courier New"/>
                <a:cs typeface="Courier New"/>
              </a:rPr>
              <a:t>0.00000000 </a:t>
            </a:r>
            <a:r>
              <a:rPr lang="en-US" altLang="en-US" sz="2200" dirty="0">
                <a:latin typeface="Arial"/>
                <a:cs typeface="Arial"/>
              </a:rPr>
              <a:t>  (</a:t>
            </a:r>
            <a:r>
              <a:rPr lang="en-US" altLang="en-US" sz="2200" dirty="0">
                <a:latin typeface="Courier New"/>
                <a:cs typeface="Courier New"/>
              </a:rPr>
              <a:t>200.23.14.0/23</a:t>
            </a:r>
            <a:r>
              <a:rPr lang="en-US" altLang="en-US" sz="2200" dirty="0">
                <a:latin typeface="Arial"/>
                <a:cs typeface="Arial"/>
              </a:rPr>
              <a:t>)</a:t>
            </a:r>
          </a:p>
          <a:p>
            <a:pPr marL="457200" indent="-457200" eaLnBrk="1" hangingPunct="1">
              <a:lnSpc>
                <a:spcPct val="100000"/>
              </a:lnSpc>
              <a:buAutoNum type="alphaLcParenBoth"/>
            </a:pPr>
            <a:endParaRPr lang="en-US" altLang="en-US" sz="2200" dirty="0">
              <a:latin typeface="Arial"/>
              <a:cs typeface="Arial"/>
            </a:endParaRPr>
          </a:p>
        </p:txBody>
      </p:sp>
      <p:sp>
        <p:nvSpPr>
          <p:cNvPr id="10" name="Oval Callout 9">
            <a:extLst>
              <a:ext uri="{FF2B5EF4-FFF2-40B4-BE49-F238E27FC236}">
                <a16:creationId xmlns:a16="http://schemas.microsoft.com/office/drawing/2014/main" id="{B83721B6-2D23-BF47-8A3C-79C489DFE373}"/>
              </a:ext>
            </a:extLst>
          </p:cNvPr>
          <p:cNvSpPr/>
          <p:nvPr/>
        </p:nvSpPr>
        <p:spPr bwMode="auto">
          <a:xfrm>
            <a:off x="3414731" y="14624"/>
            <a:ext cx="1968952" cy="860722"/>
          </a:xfrm>
          <a:prstGeom prst="wedgeEllipseCallout">
            <a:avLst>
              <a:gd name="adj1" fmla="val 34755"/>
              <a:gd name="adj2" fmla="val 99522"/>
            </a:avLst>
          </a:prstGeom>
          <a:solidFill>
            <a:srgbClr val="FF0000"/>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800" dirty="0">
                <a:solidFill>
                  <a:schemeClr val="bg1"/>
                </a:solidFill>
              </a:rPr>
              <a:t>Self study</a:t>
            </a:r>
            <a:endParaRPr kumimoji="0" lang="en-US" sz="2800" b="0" i="0" u="none" strike="noStrike" cap="none" normalizeH="0" baseline="0" dirty="0">
              <a:ln>
                <a:noFill/>
              </a:ln>
              <a:solidFill>
                <a:schemeClr val="bg1"/>
              </a:solidFill>
              <a:effectLst/>
            </a:endParaRPr>
          </a:p>
        </p:txBody>
      </p:sp>
      <p:sp>
        <p:nvSpPr>
          <p:cNvPr id="11"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249806" y="6408510"/>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91</a:t>
            </a:fld>
            <a:endParaRPr lang="en-US" altLang="en-US" dirty="0">
              <a:latin typeface="Tahoma" panose="020B0604030504040204" pitchFamily="34" charset="0"/>
            </a:endParaRPr>
          </a:p>
        </p:txBody>
      </p:sp>
    </p:spTree>
    <p:extLst>
      <p:ext uri="{BB962C8B-B14F-4D97-AF65-F5344CB8AC3E}">
        <p14:creationId xmlns:p14="http://schemas.microsoft.com/office/powerpoint/2010/main" val="15035154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0" y="0"/>
            <a:ext cx="9143999" cy="926011"/>
            <a:chOff x="0" y="0"/>
            <a:chExt cx="9143999" cy="926011"/>
          </a:xfrm>
        </p:grpSpPr>
        <p:pic>
          <p:nvPicPr>
            <p:cNvPr id="7" name="Picture 6" descr="Screen Shot 2015-04-08 at 10.38.40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8" name="Picture 7" descr="Screen Shot 2015-04-08 at 10.42.03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27" name="Rectangle 2"/>
          <p:cNvSpPr txBox="1">
            <a:spLocks noChangeArrowheads="1"/>
          </p:cNvSpPr>
          <p:nvPr/>
        </p:nvSpPr>
        <p:spPr bwMode="auto">
          <a:xfrm>
            <a:off x="6185406" y="166437"/>
            <a:ext cx="2958596" cy="538318"/>
          </a:xfrm>
          <a:prstGeom prst="rect">
            <a:avLst/>
          </a:prstGeom>
          <a:solidFill>
            <a:srgbClr val="FFFF00"/>
          </a:solid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tx1"/>
                </a:solidFill>
                <a:latin typeface="Arial"/>
                <a:ea typeface="ＭＳ Ｐゴシック" pitchFamily="34" charset="-128"/>
                <a:cs typeface="Arial"/>
              </a:rPr>
              <a:t>Solution </a:t>
            </a:r>
          </a:p>
        </p:txBody>
      </p:sp>
      <p:sp>
        <p:nvSpPr>
          <p:cNvPr id="28" name="Content Placeholder 2"/>
          <p:cNvSpPr>
            <a:spLocks noGrp="1"/>
          </p:cNvSpPr>
          <p:nvPr>
            <p:ph idx="1"/>
          </p:nvPr>
        </p:nvSpPr>
        <p:spPr>
          <a:xfrm>
            <a:off x="517548" y="1239314"/>
            <a:ext cx="8626452" cy="5655631"/>
          </a:xfrm>
        </p:spPr>
        <p:txBody>
          <a:bodyPr>
            <a:normAutofit fontScale="92500" lnSpcReduction="20000"/>
          </a:bodyPr>
          <a:lstStyle/>
          <a:p>
            <a:pPr marL="0" indent="0" eaLnBrk="1" hangingPunct="1">
              <a:lnSpc>
                <a:spcPct val="100000"/>
              </a:lnSpc>
              <a:buNone/>
            </a:pPr>
            <a:r>
              <a:rPr lang="en-US" altLang="en-US" sz="2200" u="sng" dirty="0">
                <a:solidFill>
                  <a:srgbClr val="FF0000"/>
                </a:solidFill>
                <a:latin typeface="Arial"/>
                <a:cs typeface="Arial"/>
              </a:rPr>
              <a:t>Solutions:</a:t>
            </a:r>
          </a:p>
          <a:p>
            <a:pPr marL="0" indent="0" eaLnBrk="1" hangingPunct="1">
              <a:lnSpc>
                <a:spcPct val="100000"/>
              </a:lnSpc>
              <a:buNone/>
            </a:pPr>
            <a:endParaRPr lang="en-US" altLang="en-US" sz="2200" dirty="0">
              <a:latin typeface="Arial"/>
              <a:cs typeface="Arial"/>
            </a:endParaRPr>
          </a:p>
          <a:p>
            <a:pPr marL="0" indent="0" eaLnBrk="1" hangingPunct="1">
              <a:lnSpc>
                <a:spcPct val="100000"/>
              </a:lnSpc>
              <a:buClr>
                <a:schemeClr val="tx1"/>
              </a:buClr>
              <a:buSzPct val="100000"/>
              <a:buNone/>
            </a:pPr>
            <a:r>
              <a:rPr lang="en-US" altLang="en-US" sz="2200" dirty="0">
                <a:latin typeface="Arial"/>
                <a:cs typeface="Arial"/>
              </a:rPr>
              <a:t>(d)   </a:t>
            </a:r>
            <a:r>
              <a:rPr lang="en-US" altLang="en-US" sz="2200" dirty="0">
                <a:latin typeface="Courier New"/>
                <a:cs typeface="Courier New"/>
              </a:rPr>
              <a:t>11111111.11111111.1111</a:t>
            </a:r>
            <a:r>
              <a:rPr lang="en-US" altLang="en-US" sz="2200" dirty="0">
                <a:solidFill>
                  <a:srgbClr val="FF0000"/>
                </a:solidFill>
                <a:latin typeface="Courier New"/>
                <a:cs typeface="Courier New"/>
              </a:rPr>
              <a:t>111</a:t>
            </a:r>
            <a:r>
              <a:rPr lang="en-US" altLang="en-US" sz="2200" dirty="0">
                <a:latin typeface="Courier New"/>
                <a:cs typeface="Courier New"/>
              </a:rPr>
              <a:t>0.00000000</a:t>
            </a:r>
          </a:p>
          <a:p>
            <a:pPr marL="0" indent="0" eaLnBrk="1" hangingPunct="1">
              <a:lnSpc>
                <a:spcPct val="100000"/>
              </a:lnSpc>
              <a:buClr>
                <a:schemeClr val="tx1"/>
              </a:buClr>
              <a:buSzPct val="100000"/>
              <a:buNone/>
            </a:pPr>
            <a:r>
              <a:rPr lang="en-US" altLang="en-US" sz="2200" dirty="0">
                <a:latin typeface="Arial"/>
                <a:cs typeface="Arial"/>
              </a:rPr>
              <a:t>       </a:t>
            </a:r>
            <a:r>
              <a:rPr lang="en-US" altLang="en-US" sz="2200" dirty="0">
                <a:latin typeface="Courier New"/>
                <a:cs typeface="Courier New"/>
              </a:rPr>
              <a:t>255.255.254.0</a:t>
            </a:r>
          </a:p>
          <a:p>
            <a:pPr marL="457200" indent="-457200" eaLnBrk="1" hangingPunct="1">
              <a:lnSpc>
                <a:spcPct val="100000"/>
              </a:lnSpc>
              <a:buClr>
                <a:schemeClr val="tx1"/>
              </a:buClr>
              <a:buSzPct val="100000"/>
              <a:buFont typeface="Wingdings" pitchFamily="2" charset="2"/>
              <a:buAutoNum type="alphaLcParenBoth"/>
            </a:pPr>
            <a:endParaRPr lang="en-US" altLang="en-US" sz="2200" dirty="0">
              <a:latin typeface="Arial"/>
              <a:cs typeface="Arial"/>
            </a:endParaRPr>
          </a:p>
          <a:p>
            <a:pPr marL="0" indent="0" eaLnBrk="1" hangingPunct="1">
              <a:lnSpc>
                <a:spcPct val="100000"/>
              </a:lnSpc>
              <a:buClr>
                <a:schemeClr val="tx1"/>
              </a:buClr>
              <a:buSzPct val="100000"/>
              <a:buNone/>
            </a:pPr>
            <a:r>
              <a:rPr lang="en-US" altLang="en-US" sz="2200" dirty="0">
                <a:latin typeface="Arial"/>
                <a:cs typeface="Arial"/>
              </a:rPr>
              <a:t>(e)  Total hosts in new subnet </a:t>
            </a:r>
            <a:r>
              <a:rPr lang="en-US" altLang="en-US" sz="2200" dirty="0">
                <a:latin typeface="Arial"/>
                <a:cs typeface="Arial"/>
                <a:sym typeface="Wingdings"/>
              </a:rPr>
              <a:t> 2</a:t>
            </a:r>
            <a:r>
              <a:rPr lang="en-US" altLang="en-US" sz="2200" baseline="30000" dirty="0">
                <a:latin typeface="Arial"/>
                <a:cs typeface="Arial"/>
                <a:sym typeface="Wingdings"/>
              </a:rPr>
              <a:t>9</a:t>
            </a:r>
            <a:r>
              <a:rPr lang="en-US" altLang="en-US" sz="2200" dirty="0">
                <a:latin typeface="Arial"/>
                <a:cs typeface="Arial"/>
                <a:sym typeface="Wingdings"/>
              </a:rPr>
              <a:t> = 512 – 2 = 510 hosts (9 bits for host portion)</a:t>
            </a:r>
            <a:endParaRPr lang="en-US" altLang="en-US" sz="2200" dirty="0">
              <a:latin typeface="Arial"/>
              <a:cs typeface="Arial"/>
            </a:endParaRPr>
          </a:p>
          <a:p>
            <a:pPr marL="0" indent="0" eaLnBrk="1" hangingPunct="1">
              <a:lnSpc>
                <a:spcPct val="100000"/>
              </a:lnSpc>
              <a:buClr>
                <a:schemeClr val="tx1"/>
              </a:buClr>
              <a:buSzPct val="100000"/>
              <a:buNone/>
            </a:pPr>
            <a:endParaRPr lang="en-US" altLang="en-US" sz="2200" dirty="0">
              <a:latin typeface="Arial"/>
              <a:cs typeface="Arial"/>
            </a:endParaRPr>
          </a:p>
          <a:p>
            <a:pPr marL="0" indent="0" eaLnBrk="1" hangingPunct="1">
              <a:lnSpc>
                <a:spcPct val="100000"/>
              </a:lnSpc>
              <a:buClr>
                <a:schemeClr val="tx1"/>
              </a:buClr>
              <a:buSzPct val="100000"/>
              <a:buNone/>
            </a:pPr>
            <a:r>
              <a:rPr lang="en-US" altLang="en-US" sz="2200" dirty="0">
                <a:latin typeface="Arial"/>
                <a:cs typeface="Arial"/>
              </a:rPr>
              <a:t>(f) Subnet 3 = </a:t>
            </a:r>
            <a:r>
              <a:rPr lang="en-US" altLang="en-US" sz="2200" dirty="0">
                <a:latin typeface="Courier New"/>
                <a:cs typeface="Courier New"/>
              </a:rPr>
              <a:t>200.23.6.0/23</a:t>
            </a:r>
          </a:p>
          <a:p>
            <a:pPr marL="0" indent="0" eaLnBrk="1" hangingPunct="1">
              <a:lnSpc>
                <a:spcPct val="100000"/>
              </a:lnSpc>
              <a:buClr>
                <a:schemeClr val="tx1"/>
              </a:buClr>
              <a:buSzPct val="100000"/>
              <a:buNone/>
            </a:pPr>
            <a:endParaRPr lang="en-US" altLang="en-US" sz="2200" dirty="0">
              <a:latin typeface="Courier New"/>
              <a:cs typeface="Courier New"/>
            </a:endParaRP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011</a:t>
            </a:r>
            <a:r>
              <a:rPr lang="en-US" altLang="en-US" sz="2200" dirty="0">
                <a:highlight>
                  <a:srgbClr val="00FF00"/>
                </a:highlight>
                <a:latin typeface="Courier New"/>
                <a:cs typeface="Courier New"/>
              </a:rPr>
              <a:t>0.00000001</a:t>
            </a:r>
            <a:r>
              <a:rPr lang="en-US" altLang="en-US" sz="2200" dirty="0">
                <a:latin typeface="Arial"/>
                <a:cs typeface="Arial"/>
              </a:rPr>
              <a:t>    (</a:t>
            </a:r>
            <a:r>
              <a:rPr lang="en-US" altLang="en-US" sz="2200" dirty="0">
                <a:latin typeface="Courier New"/>
                <a:cs typeface="Courier New"/>
              </a:rPr>
              <a:t>200.23.6.1/23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011</a:t>
            </a:r>
            <a:r>
              <a:rPr lang="en-US" altLang="en-US" sz="2200" dirty="0">
                <a:highlight>
                  <a:srgbClr val="00FF00"/>
                </a:highlight>
                <a:latin typeface="Courier New"/>
                <a:cs typeface="Courier New"/>
              </a:rPr>
              <a:t>0.00000010</a:t>
            </a:r>
            <a:r>
              <a:rPr lang="en-US" altLang="en-US" sz="2200" dirty="0">
                <a:latin typeface="Arial"/>
                <a:cs typeface="Arial"/>
              </a:rPr>
              <a:t>    (</a:t>
            </a:r>
            <a:r>
              <a:rPr lang="en-US" altLang="en-US" sz="2200" dirty="0">
                <a:latin typeface="Courier New"/>
                <a:cs typeface="Courier New"/>
              </a:rPr>
              <a:t>200.23.6.2/23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011</a:t>
            </a:r>
            <a:r>
              <a:rPr lang="en-US" altLang="en-US" sz="2200" dirty="0">
                <a:highlight>
                  <a:srgbClr val="00FF00"/>
                </a:highlight>
                <a:latin typeface="Courier New"/>
                <a:cs typeface="Courier New"/>
              </a:rPr>
              <a:t>0.00000011</a:t>
            </a:r>
            <a:r>
              <a:rPr lang="en-US" altLang="en-US" sz="2200" dirty="0">
                <a:latin typeface="Arial"/>
                <a:cs typeface="Arial"/>
              </a:rPr>
              <a:t>    (</a:t>
            </a:r>
            <a:r>
              <a:rPr lang="en-US" altLang="en-US" sz="2200" dirty="0">
                <a:latin typeface="Courier New"/>
                <a:cs typeface="Courier New"/>
              </a:rPr>
              <a:t>200.23.6.3/23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011</a:t>
            </a:r>
            <a:r>
              <a:rPr lang="en-US" altLang="en-US" sz="2200" dirty="0">
                <a:highlight>
                  <a:srgbClr val="00FF00"/>
                </a:highlight>
                <a:latin typeface="Courier New"/>
                <a:cs typeface="Courier New"/>
              </a:rPr>
              <a:t>0.00000100</a:t>
            </a:r>
            <a:r>
              <a:rPr lang="en-US" altLang="en-US" sz="2200" dirty="0">
                <a:latin typeface="Courier New"/>
                <a:cs typeface="Courier New"/>
              </a:rPr>
              <a:t> </a:t>
            </a:r>
            <a:r>
              <a:rPr lang="en-US" altLang="en-US" sz="2200" dirty="0">
                <a:latin typeface="Arial"/>
                <a:cs typeface="Arial"/>
              </a:rPr>
              <a:t>  (</a:t>
            </a:r>
            <a:r>
              <a:rPr lang="en-US" altLang="en-US" sz="2200" dirty="0">
                <a:latin typeface="Courier New"/>
                <a:cs typeface="Courier New"/>
              </a:rPr>
              <a:t>200.23.6.4/23</a:t>
            </a:r>
            <a:r>
              <a:rPr lang="en-US" altLang="en-US" sz="2200" dirty="0">
                <a:latin typeface="Arial"/>
                <a:cs typeface="Arial"/>
              </a:rPr>
              <a:t>)</a:t>
            </a:r>
          </a:p>
          <a:p>
            <a:pPr marL="0" indent="0" eaLnBrk="1" hangingPunct="1">
              <a:lnSpc>
                <a:spcPct val="100000"/>
              </a:lnSpc>
              <a:buClr>
                <a:schemeClr val="tx1"/>
              </a:buClr>
              <a:buSzPct val="100000"/>
              <a:buNone/>
            </a:pPr>
            <a:r>
              <a:rPr lang="en-US" altLang="en-US" sz="2200" dirty="0">
                <a:latin typeface="Courier New"/>
                <a:cs typeface="Courier New"/>
              </a:rPr>
              <a:t>11001000.00010111.0000</a:t>
            </a:r>
            <a:r>
              <a:rPr lang="en-US" altLang="en-US" sz="2200" dirty="0">
                <a:solidFill>
                  <a:srgbClr val="FF0000"/>
                </a:solidFill>
                <a:latin typeface="Courier New"/>
                <a:cs typeface="Courier New"/>
              </a:rPr>
              <a:t>011</a:t>
            </a:r>
            <a:r>
              <a:rPr lang="en-US" altLang="en-US" sz="2200" dirty="0">
                <a:highlight>
                  <a:srgbClr val="00FF00"/>
                </a:highlight>
                <a:latin typeface="Courier New"/>
                <a:cs typeface="Courier New"/>
              </a:rPr>
              <a:t>0.00000101</a:t>
            </a:r>
            <a:r>
              <a:rPr lang="en-US" altLang="en-US" sz="2200" dirty="0">
                <a:latin typeface="Courier New"/>
                <a:cs typeface="Courier New"/>
              </a:rPr>
              <a:t> </a:t>
            </a:r>
            <a:r>
              <a:rPr lang="en-US" altLang="en-US" sz="2200" dirty="0">
                <a:latin typeface="Arial"/>
                <a:cs typeface="Arial"/>
              </a:rPr>
              <a:t>  (</a:t>
            </a:r>
            <a:r>
              <a:rPr lang="en-US" altLang="en-US" sz="2200" dirty="0">
                <a:latin typeface="Courier New"/>
                <a:cs typeface="Courier New"/>
              </a:rPr>
              <a:t>200.23.6.5/23</a:t>
            </a:r>
            <a:r>
              <a:rPr lang="en-US" altLang="en-US" sz="2200" dirty="0">
                <a:latin typeface="Arial"/>
                <a:cs typeface="Arial"/>
              </a:rPr>
              <a:t>)</a:t>
            </a:r>
          </a:p>
          <a:p>
            <a:pPr marL="0" indent="0" eaLnBrk="1" hangingPunct="1">
              <a:lnSpc>
                <a:spcPct val="100000"/>
              </a:lnSpc>
              <a:buNone/>
            </a:pPr>
            <a:endParaRPr lang="en-US" altLang="en-US" sz="2200" dirty="0">
              <a:latin typeface="Arial"/>
              <a:cs typeface="Arial"/>
            </a:endParaRPr>
          </a:p>
          <a:p>
            <a:pPr marL="0" indent="0" eaLnBrk="1" hangingPunct="1">
              <a:lnSpc>
                <a:spcPct val="100000"/>
              </a:lnSpc>
              <a:buNone/>
            </a:pPr>
            <a:r>
              <a:rPr lang="en-US" altLang="en-US" sz="2200" dirty="0">
                <a:latin typeface="Arial"/>
                <a:cs typeface="Arial"/>
              </a:rPr>
              <a:t>(g) Need 5 subnets, generated subnets = 8, extra = 8 – 5 = 3 subnets for future use</a:t>
            </a:r>
          </a:p>
        </p:txBody>
      </p:sp>
      <p:sp>
        <p:nvSpPr>
          <p:cNvPr id="9" name="Oval Callout 8">
            <a:extLst>
              <a:ext uri="{FF2B5EF4-FFF2-40B4-BE49-F238E27FC236}">
                <a16:creationId xmlns:a16="http://schemas.microsoft.com/office/drawing/2014/main" id="{224A1F07-6B16-E441-8FD5-8E4E47F0070B}"/>
              </a:ext>
            </a:extLst>
          </p:cNvPr>
          <p:cNvSpPr/>
          <p:nvPr/>
        </p:nvSpPr>
        <p:spPr bwMode="auto">
          <a:xfrm>
            <a:off x="3414731" y="14624"/>
            <a:ext cx="1968952" cy="860722"/>
          </a:xfrm>
          <a:prstGeom prst="wedgeEllipseCallout">
            <a:avLst>
              <a:gd name="adj1" fmla="val 34755"/>
              <a:gd name="adj2" fmla="val 99522"/>
            </a:avLst>
          </a:prstGeom>
          <a:solidFill>
            <a:srgbClr val="FF0000"/>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800" dirty="0">
                <a:solidFill>
                  <a:schemeClr val="bg1"/>
                </a:solidFill>
              </a:rPr>
              <a:t>Self study</a:t>
            </a:r>
            <a:endParaRPr kumimoji="0" lang="en-US" sz="2800" b="0" i="0" u="none" strike="noStrike" cap="none" normalizeH="0" baseline="0" dirty="0">
              <a:ln>
                <a:noFill/>
              </a:ln>
              <a:solidFill>
                <a:schemeClr val="bg1"/>
              </a:solidFill>
              <a:effectLst/>
            </a:endParaRPr>
          </a:p>
        </p:txBody>
      </p:sp>
      <p:sp>
        <p:nvSpPr>
          <p:cNvPr id="10"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54231" y="6423376"/>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92</a:t>
            </a:fld>
            <a:endParaRPr lang="en-US" altLang="en-US" dirty="0">
              <a:latin typeface="Tahoma" panose="020B0604030504040204" pitchFamily="34" charset="0"/>
            </a:endParaRPr>
          </a:p>
        </p:txBody>
      </p:sp>
    </p:spTree>
    <p:extLst>
      <p:ext uri="{BB962C8B-B14F-4D97-AF65-F5344CB8AC3E}">
        <p14:creationId xmlns:p14="http://schemas.microsoft.com/office/powerpoint/2010/main" val="17451076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335096"/>
            <a:ext cx="8534400" cy="758952"/>
          </a:xfrm>
        </p:spPr>
        <p:txBody>
          <a:bodyPr>
            <a:normAutofit fontScale="90000"/>
          </a:bodyPr>
          <a:lstStyle/>
          <a:p>
            <a:r>
              <a:rPr lang="en-US" dirty="0"/>
              <a:t>Extra Exercise: Subnet small network</a:t>
            </a:r>
          </a:p>
        </p:txBody>
      </p:sp>
      <p:sp>
        <p:nvSpPr>
          <p:cNvPr id="5" name="Content Placeholder 4"/>
          <p:cNvSpPr>
            <a:spLocks noGrp="1"/>
          </p:cNvSpPr>
          <p:nvPr>
            <p:ph sz="quarter" idx="1"/>
          </p:nvPr>
        </p:nvSpPr>
        <p:spPr/>
        <p:txBody>
          <a:bodyPr>
            <a:normAutofit lnSpcReduction="10000"/>
          </a:bodyPr>
          <a:lstStyle/>
          <a:p>
            <a:r>
              <a:rPr lang="en-US" dirty="0"/>
              <a:t>Say, Company A (CA) is given the Network address </a:t>
            </a:r>
            <a:r>
              <a:rPr lang="en-US" dirty="0">
                <a:solidFill>
                  <a:srgbClr val="FF0000"/>
                </a:solidFill>
              </a:rPr>
              <a:t>192.168.1.0/24</a:t>
            </a:r>
          </a:p>
          <a:p>
            <a:r>
              <a:rPr lang="en-US" dirty="0"/>
              <a:t>CA has </a:t>
            </a:r>
            <a:r>
              <a:rPr lang="en-US" dirty="0">
                <a:solidFill>
                  <a:srgbClr val="0070C0"/>
                </a:solidFill>
              </a:rPr>
              <a:t>4 departments under it: RND, Sales, Finance, HR</a:t>
            </a:r>
          </a:p>
          <a:p>
            <a:r>
              <a:rPr lang="en-US" dirty="0"/>
              <a:t>Each department needs the following number of usable host: RND(50), Sales(30), Finance(20), HR(10)</a:t>
            </a:r>
          </a:p>
          <a:p>
            <a:r>
              <a:rPr lang="en-US" dirty="0">
                <a:solidFill>
                  <a:srgbClr val="0070C0"/>
                </a:solidFill>
              </a:rPr>
              <a:t>Task:</a:t>
            </a:r>
          </a:p>
          <a:p>
            <a:pPr lvl="1"/>
            <a:r>
              <a:rPr lang="en-US" b="1" dirty="0">
                <a:solidFill>
                  <a:srgbClr val="0070C0"/>
                </a:solidFill>
              </a:rPr>
              <a:t>Divide equally for all dept. (same/equal size)</a:t>
            </a:r>
          </a:p>
          <a:p>
            <a:endParaRPr lang="en-US" dirty="0"/>
          </a:p>
          <a:p>
            <a:endParaRPr lang="en-US" dirty="0"/>
          </a:p>
        </p:txBody>
      </p:sp>
      <p:sp>
        <p:nvSpPr>
          <p:cNvPr id="6"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93</a:t>
            </a:fld>
            <a:endParaRPr lang="en-US" altLang="en-US" dirty="0">
              <a:latin typeface="Tahoma" panose="020B0604030504040204" pitchFamily="34" charset="0"/>
            </a:endParaRPr>
          </a:p>
        </p:txBody>
      </p:sp>
    </p:spTree>
    <p:extLst>
      <p:ext uri="{BB962C8B-B14F-4D97-AF65-F5344CB8AC3E}">
        <p14:creationId xmlns:p14="http://schemas.microsoft.com/office/powerpoint/2010/main" val="14232926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23528" y="332656"/>
            <a:ext cx="6876819"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a:ea typeface="+mn-ea"/>
                <a:cs typeface="+mn-cs"/>
              </a:rPr>
              <a:t>Network address 192.168.1.0/24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a:ea typeface="+mn-ea"/>
                <a:cs typeface="+mn-cs"/>
              </a:rPr>
              <a:t> to divide into SAME/EQUAL SIZED 4 dept : RND, SALES, FIN, HR</a:t>
            </a:r>
          </a:p>
        </p:txBody>
      </p:sp>
      <p:sp>
        <p:nvSpPr>
          <p:cNvPr id="7" name="TextBox 6"/>
          <p:cNvSpPr txBox="1"/>
          <p:nvPr/>
        </p:nvSpPr>
        <p:spPr>
          <a:xfrm>
            <a:off x="477416" y="1340768"/>
            <a:ext cx="49564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STEP 1 : Divide the Network and host portion (HP)</a:t>
            </a:r>
          </a:p>
        </p:txBody>
      </p:sp>
      <p:sp>
        <p:nvSpPr>
          <p:cNvPr id="8" name="TextBox 7"/>
          <p:cNvSpPr txBox="1"/>
          <p:nvPr/>
        </p:nvSpPr>
        <p:spPr>
          <a:xfrm>
            <a:off x="1115616" y="2099738"/>
            <a:ext cx="637225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192      . 168           .      1           .      0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11000000</a:t>
            </a:r>
            <a:r>
              <a:rPr kumimoji="0" lang="en-US" sz="2400" b="0" i="0" u="none" strike="noStrike" kern="1200" cap="none" spc="0" normalizeH="0" baseline="0" noProof="0" dirty="0">
                <a:ln>
                  <a:noFill/>
                </a:ln>
                <a:solidFill>
                  <a:prstClr val="black"/>
                </a:solidFill>
                <a:effectLst/>
                <a:uLnTx/>
                <a:uFillTx/>
                <a:latin typeface="Calibri"/>
                <a:ea typeface="+mn-ea"/>
                <a:cs typeface="+mn-cs"/>
              </a:rPr>
              <a:t> . </a:t>
            </a:r>
            <a:r>
              <a:rPr kumimoji="0" lang="en-US" sz="2400" b="0" i="0" u="none" strike="noStrike" kern="1200" cap="none" spc="0" normalizeH="0" baseline="0" noProof="0" dirty="0">
                <a:ln>
                  <a:noFill/>
                </a:ln>
                <a:solidFill>
                  <a:srgbClr val="FF0000"/>
                </a:solidFill>
                <a:effectLst/>
                <a:uLnTx/>
                <a:uFillTx/>
                <a:latin typeface="Calibri"/>
                <a:ea typeface="+mn-ea"/>
                <a:cs typeface="+mn-cs"/>
              </a:rPr>
              <a:t>10101000</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0" i="0" u="none" strike="noStrike" kern="1200" cap="none" spc="0" normalizeH="0" baseline="0" noProof="0" dirty="0">
                <a:ln>
                  <a:noFill/>
                </a:ln>
                <a:solidFill>
                  <a:srgbClr val="FF0000"/>
                </a:solidFill>
                <a:effectLst/>
                <a:uLnTx/>
                <a:uFillTx/>
                <a:latin typeface="Calibri"/>
                <a:ea typeface="+mn-ea"/>
                <a:cs typeface="+mn-cs"/>
              </a:rPr>
              <a:t>00000001</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.00000000 </a:t>
            </a:r>
            <a:endParaRPr kumimoji="0" lang="en-MY"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Rounded Rectangular Callout 8"/>
          <p:cNvSpPr/>
          <p:nvPr/>
        </p:nvSpPr>
        <p:spPr>
          <a:xfrm>
            <a:off x="549675" y="2854643"/>
            <a:ext cx="1080120" cy="765956"/>
          </a:xfrm>
          <a:prstGeom prst="wedgeRoundRectCallout">
            <a:avLst>
              <a:gd name="adj1" fmla="val 103234"/>
              <a:gd name="adj2" fmla="val -44530"/>
              <a:gd name="adj3" fmla="val 1666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NP = 24 bits </a:t>
            </a:r>
            <a:endParaRPr kumimoji="0" lang="en-MY"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TextBox 10"/>
          <p:cNvSpPr txBox="1"/>
          <p:nvPr/>
        </p:nvSpPr>
        <p:spPr>
          <a:xfrm>
            <a:off x="4139952" y="3237621"/>
            <a:ext cx="4630923" cy="646331"/>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**when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subnetting</a:t>
            </a:r>
            <a:r>
              <a:rPr kumimoji="0" lang="en-US" sz="1800" b="0" i="0" u="none" strike="noStrike" kern="1200" cap="none" spc="0" normalizeH="0" baseline="0" noProof="0" dirty="0">
                <a:ln>
                  <a:noFill/>
                </a:ln>
                <a:solidFill>
                  <a:prstClr val="black"/>
                </a:solidFill>
                <a:effectLst/>
                <a:uLnTx/>
                <a:uFillTx/>
                <a:latin typeface="Calibri"/>
                <a:ea typeface="+mn-ea"/>
                <a:cs typeface="+mn-cs"/>
              </a:rPr>
              <a:t> ONLY HOST PORTION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is borrowed from (disturbed)</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extBox 11"/>
          <p:cNvSpPr txBox="1"/>
          <p:nvPr/>
        </p:nvSpPr>
        <p:spPr>
          <a:xfrm>
            <a:off x="631304" y="4354673"/>
            <a:ext cx="714650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STEP 2 : Decide how many bits need to BORROW from HP?</a:t>
            </a:r>
          </a:p>
        </p:txBody>
      </p:sp>
      <p:sp>
        <p:nvSpPr>
          <p:cNvPr id="13" name="TextBox 12"/>
          <p:cNvSpPr txBox="1"/>
          <p:nvPr/>
        </p:nvSpPr>
        <p:spPr>
          <a:xfrm>
            <a:off x="904957" y="4946941"/>
            <a:ext cx="3451586"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4 depts. </a:t>
            </a:r>
            <a:r>
              <a:rPr kumimoji="0" lang="en-US" sz="24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4 subnet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So  </a:t>
            </a:r>
            <a:r>
              <a:rPr kumimoji="0" lang="en-US" sz="2400" b="1" i="0" u="none" strike="noStrike" kern="1200" cap="none" spc="0" normalizeH="0" baseline="0" noProof="0" dirty="0">
                <a:ln>
                  <a:noFill/>
                </a:ln>
                <a:solidFill>
                  <a:srgbClr val="FF0000"/>
                </a:solidFill>
                <a:effectLst/>
                <a:uLnTx/>
                <a:uFillTx/>
                <a:latin typeface="Calibri"/>
                <a:ea typeface="+mn-ea"/>
                <a:cs typeface="+mn-cs"/>
                <a:sym typeface="Wingdings" panose="05000000000000000000" pitchFamily="2" charset="2"/>
              </a:rPr>
              <a:t>2</a:t>
            </a:r>
            <a:r>
              <a:rPr kumimoji="0" lang="en-US" sz="2400" b="1" i="0" u="none" strike="noStrike" kern="1200" cap="none" spc="0" normalizeH="0" baseline="30000" noProof="0" dirty="0">
                <a:ln>
                  <a:noFill/>
                </a:ln>
                <a:solidFill>
                  <a:srgbClr val="FF0000"/>
                </a:solidFill>
                <a:effectLst/>
                <a:uLnTx/>
                <a:uFillTx/>
                <a:latin typeface="Calibri"/>
                <a:ea typeface="+mn-ea"/>
                <a:cs typeface="+mn-cs"/>
                <a:sym typeface="Wingdings" panose="05000000000000000000" pitchFamily="2" charset="2"/>
              </a:rPr>
              <a:t>x</a:t>
            </a:r>
            <a:r>
              <a:rPr kumimoji="0" lang="en-US" sz="2400" b="1" i="0" u="none" strike="noStrike" kern="1200" cap="none" spc="0" normalizeH="0" baseline="0" noProof="0" dirty="0">
                <a:ln>
                  <a:noFill/>
                </a:ln>
                <a:solidFill>
                  <a:srgbClr val="FF0000"/>
                </a:solidFill>
                <a:effectLst/>
                <a:uLnTx/>
                <a:uFillTx/>
                <a:latin typeface="Calibri"/>
                <a:ea typeface="+mn-ea"/>
                <a:cs typeface="+mn-cs"/>
                <a:sym typeface="Wingdings" panose="05000000000000000000" pitchFamily="2" charset="2"/>
              </a:rPr>
              <a:t> = 4 </a:t>
            </a:r>
            <a:r>
              <a:rPr kumimoji="0" lang="en-US" sz="24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a:t>
            </a:r>
            <a:r>
              <a:rPr kumimoji="0" lang="en-US" sz="2400" b="1" i="0" u="none" strike="noStrike" kern="1200" cap="none" spc="0" normalizeH="0" baseline="0" noProof="0" dirty="0">
                <a:ln>
                  <a:noFill/>
                </a:ln>
                <a:solidFill>
                  <a:srgbClr val="FF0000"/>
                </a:solidFill>
                <a:effectLst/>
                <a:uLnTx/>
                <a:uFillTx/>
                <a:latin typeface="Calibri"/>
                <a:ea typeface="+mn-ea"/>
                <a:cs typeface="+mn-cs"/>
                <a:sym typeface="Wingdings" panose="05000000000000000000" pitchFamily="2" charset="2"/>
              </a:rPr>
              <a:t>x = 2 bits</a:t>
            </a:r>
            <a:endParaRPr kumimoji="0" lang="en-MY" sz="2400" b="1" i="0" u="none" strike="noStrike" kern="1200" cap="none" spc="0" normalizeH="0" baseline="0" noProof="0" dirty="0">
              <a:ln>
                <a:noFill/>
              </a:ln>
              <a:solidFill>
                <a:srgbClr val="FF0000"/>
              </a:solidFill>
              <a:effectLst/>
              <a:uLnTx/>
              <a:uFillTx/>
              <a:latin typeface="Calibri"/>
              <a:ea typeface="+mn-ea"/>
              <a:cs typeface="+mn-cs"/>
            </a:endParaRPr>
          </a:p>
        </p:txBody>
      </p:sp>
      <p:sp>
        <p:nvSpPr>
          <p:cNvPr id="14" name="Rounded Rectangular Callout 13"/>
          <p:cNvSpPr/>
          <p:nvPr/>
        </p:nvSpPr>
        <p:spPr>
          <a:xfrm>
            <a:off x="5436096" y="5230731"/>
            <a:ext cx="1772346" cy="765956"/>
          </a:xfrm>
          <a:prstGeom prst="wedgeRoundRectCallout">
            <a:avLst>
              <a:gd name="adj1" fmla="val -112095"/>
              <a:gd name="adj2" fmla="val -11598"/>
              <a:gd name="adj3" fmla="val 1666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Borrow 2 bits</a:t>
            </a:r>
            <a:endParaRPr kumimoji="0" lang="en-MY"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94</a:t>
            </a:fld>
            <a:endParaRPr lang="en-US" altLang="en-US" dirty="0">
              <a:latin typeface="Tahoma" panose="020B0604030504040204" pitchFamily="34" charset="0"/>
            </a:endParaRPr>
          </a:p>
        </p:txBody>
      </p:sp>
    </p:spTree>
    <p:extLst>
      <p:ext uri="{BB962C8B-B14F-4D97-AF65-F5344CB8AC3E}">
        <p14:creationId xmlns:p14="http://schemas.microsoft.com/office/powerpoint/2010/main" val="18732199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23528" y="332656"/>
            <a:ext cx="6876819"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a:ea typeface="+mn-ea"/>
                <a:cs typeface="+mn-cs"/>
              </a:rPr>
              <a:t>Network address 192.168.1.0/24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a:ea typeface="+mn-ea"/>
                <a:cs typeface="+mn-cs"/>
              </a:rPr>
              <a:t> to divide into SAME/EQUAL SIZED 4 dept : RND, SALES, FIN, HR</a:t>
            </a:r>
          </a:p>
        </p:txBody>
      </p:sp>
      <p:sp>
        <p:nvSpPr>
          <p:cNvPr id="7" name="TextBox 6"/>
          <p:cNvSpPr txBox="1"/>
          <p:nvPr/>
        </p:nvSpPr>
        <p:spPr>
          <a:xfrm>
            <a:off x="477416" y="1340768"/>
            <a:ext cx="54649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STEP 3 : Borrow 2 bits from the host portion</a:t>
            </a:r>
          </a:p>
        </p:txBody>
      </p:sp>
      <p:sp>
        <p:nvSpPr>
          <p:cNvPr id="8" name="TextBox 7"/>
          <p:cNvSpPr txBox="1"/>
          <p:nvPr/>
        </p:nvSpPr>
        <p:spPr>
          <a:xfrm>
            <a:off x="1115616" y="2099738"/>
            <a:ext cx="637225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192      . 168           .      1           .      0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11000000</a:t>
            </a:r>
            <a:r>
              <a:rPr kumimoji="0" lang="en-US" sz="2400" b="0" i="0" u="none" strike="noStrike" kern="1200" cap="none" spc="0" normalizeH="0" baseline="0" noProof="0" dirty="0">
                <a:ln>
                  <a:noFill/>
                </a:ln>
                <a:solidFill>
                  <a:prstClr val="black"/>
                </a:solidFill>
                <a:effectLst/>
                <a:uLnTx/>
                <a:uFillTx/>
                <a:latin typeface="Calibri"/>
                <a:ea typeface="+mn-ea"/>
                <a:cs typeface="+mn-cs"/>
              </a:rPr>
              <a:t> . </a:t>
            </a:r>
            <a:r>
              <a:rPr kumimoji="0" lang="en-US" sz="2400" b="0" i="0" u="none" strike="noStrike" kern="1200" cap="none" spc="0" normalizeH="0" baseline="0" noProof="0" dirty="0">
                <a:ln>
                  <a:noFill/>
                </a:ln>
                <a:solidFill>
                  <a:srgbClr val="FF0000"/>
                </a:solidFill>
                <a:effectLst/>
                <a:uLnTx/>
                <a:uFillTx/>
                <a:latin typeface="Calibri"/>
                <a:ea typeface="+mn-ea"/>
                <a:cs typeface="+mn-cs"/>
              </a:rPr>
              <a:t>10101000</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0" i="0" u="none" strike="noStrike" kern="1200" cap="none" spc="0" normalizeH="0" baseline="0" noProof="0" dirty="0">
                <a:ln>
                  <a:noFill/>
                </a:ln>
                <a:solidFill>
                  <a:srgbClr val="FF0000"/>
                </a:solidFill>
                <a:effectLst/>
                <a:uLnTx/>
                <a:uFillTx/>
                <a:latin typeface="Calibri"/>
                <a:ea typeface="+mn-ea"/>
                <a:cs typeface="+mn-cs"/>
              </a:rPr>
              <a:t>00000001</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00</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 </a:t>
            </a:r>
            <a:endParaRPr kumimoji="0" lang="en-MY"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Rounded Rectangular Callout 8"/>
          <p:cNvSpPr/>
          <p:nvPr/>
        </p:nvSpPr>
        <p:spPr>
          <a:xfrm>
            <a:off x="6300192" y="1165328"/>
            <a:ext cx="1728643" cy="765956"/>
          </a:xfrm>
          <a:prstGeom prst="wedgeRoundRectCallout">
            <a:avLst>
              <a:gd name="adj1" fmla="val -103132"/>
              <a:gd name="adj2" fmla="val 130154"/>
              <a:gd name="adj3" fmla="val 1666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Borrow from this end – THE LEFTMOST</a:t>
            </a:r>
            <a:endParaRPr kumimoji="0" lang="en-MY"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TextBox 11"/>
          <p:cNvSpPr txBox="1"/>
          <p:nvPr/>
        </p:nvSpPr>
        <p:spPr>
          <a:xfrm>
            <a:off x="521609" y="3338594"/>
            <a:ext cx="418095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STEP 4 : Arrange the new subnets</a:t>
            </a:r>
          </a:p>
        </p:txBody>
      </p:sp>
      <p:sp>
        <p:nvSpPr>
          <p:cNvPr id="15" name="TextBox 14"/>
          <p:cNvSpPr txBox="1"/>
          <p:nvPr/>
        </p:nvSpPr>
        <p:spPr>
          <a:xfrm>
            <a:off x="755576" y="3675502"/>
            <a:ext cx="6846746"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192      . 168           .      1           .      0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11000000</a:t>
            </a:r>
            <a:r>
              <a:rPr kumimoji="0" lang="en-US" sz="2400" b="0" i="0" u="none" strike="noStrike" kern="1200" cap="none" spc="0" normalizeH="0" baseline="0" noProof="0" dirty="0">
                <a:ln>
                  <a:noFill/>
                </a:ln>
                <a:solidFill>
                  <a:prstClr val="black"/>
                </a:solidFill>
                <a:effectLst/>
                <a:uLnTx/>
                <a:uFillTx/>
                <a:latin typeface="Calibri"/>
                <a:ea typeface="+mn-ea"/>
                <a:cs typeface="+mn-cs"/>
              </a:rPr>
              <a:t> . </a:t>
            </a:r>
            <a:r>
              <a:rPr kumimoji="0" lang="en-US" sz="2400" b="0" i="0" u="none" strike="noStrike" kern="1200" cap="none" spc="0" normalizeH="0" baseline="0" noProof="0" dirty="0">
                <a:ln>
                  <a:noFill/>
                </a:ln>
                <a:solidFill>
                  <a:srgbClr val="FF0000"/>
                </a:solidFill>
                <a:effectLst/>
                <a:uLnTx/>
                <a:uFillTx/>
                <a:latin typeface="Calibri"/>
                <a:ea typeface="+mn-ea"/>
                <a:cs typeface="+mn-cs"/>
              </a:rPr>
              <a:t>10101000</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0" i="0" u="none" strike="noStrike" kern="1200" cap="none" spc="0" normalizeH="0" baseline="0" noProof="0" dirty="0">
                <a:ln>
                  <a:noFill/>
                </a:ln>
                <a:solidFill>
                  <a:srgbClr val="FF0000"/>
                </a:solidFill>
                <a:effectLst/>
                <a:uLnTx/>
                <a:uFillTx/>
                <a:latin typeface="Calibri"/>
                <a:ea typeface="+mn-ea"/>
                <a:cs typeface="+mn-cs"/>
              </a:rPr>
              <a:t>00000001</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00</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 [0]</a:t>
            </a:r>
          </a:p>
        </p:txBody>
      </p:sp>
      <p:sp>
        <p:nvSpPr>
          <p:cNvPr id="16" name="TextBox 15"/>
          <p:cNvSpPr txBox="1"/>
          <p:nvPr/>
        </p:nvSpPr>
        <p:spPr>
          <a:xfrm>
            <a:off x="4788024" y="4437112"/>
            <a:ext cx="2230098"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00</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 [63]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01</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 [64]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01</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 [127]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10</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 [128]</a:t>
            </a:r>
            <a:endParaRPr kumimoji="0" lang="en-MY" sz="24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 name="Straight Connector 3"/>
          <p:cNvCxnSpPr/>
          <p:nvPr/>
        </p:nvCxnSpPr>
        <p:spPr>
          <a:xfrm>
            <a:off x="5220072" y="3926813"/>
            <a:ext cx="0" cy="248351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1569" y="4869160"/>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751569" y="5589240"/>
            <a:ext cx="259228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Rounded Rectangular Callout 18"/>
          <p:cNvSpPr/>
          <p:nvPr/>
        </p:nvSpPr>
        <p:spPr>
          <a:xfrm>
            <a:off x="6084168" y="3034036"/>
            <a:ext cx="2902982" cy="832099"/>
          </a:xfrm>
          <a:prstGeom prst="wedgeRoundRectCallout">
            <a:avLst>
              <a:gd name="adj1" fmla="val -23782"/>
              <a:gd name="adj2" fmla="val 85329"/>
              <a:gd name="adj3" fmla="val 1666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Within the subnet , the HP gets all 0 and all 1</a:t>
            </a:r>
            <a:endParaRPr kumimoji="0" lang="en-MY"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95</a:t>
            </a:fld>
            <a:endParaRPr lang="en-US" altLang="en-US" dirty="0">
              <a:latin typeface="Tahoma" panose="020B0604030504040204" pitchFamily="34" charset="0"/>
            </a:endParaRPr>
          </a:p>
        </p:txBody>
      </p:sp>
    </p:spTree>
    <p:extLst>
      <p:ext uri="{BB962C8B-B14F-4D97-AF65-F5344CB8AC3E}">
        <p14:creationId xmlns:p14="http://schemas.microsoft.com/office/powerpoint/2010/main" val="104627719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23528" y="332656"/>
            <a:ext cx="6876819"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a:ea typeface="+mn-ea"/>
                <a:cs typeface="+mn-cs"/>
              </a:rPr>
              <a:t>Network address 192.168.1.0/24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a:ea typeface="+mn-ea"/>
                <a:cs typeface="+mn-cs"/>
              </a:rPr>
              <a:t> to divide into SAME/EQUAL SIZED 4 dept : RND, SALES, FIN, HR</a:t>
            </a:r>
          </a:p>
        </p:txBody>
      </p:sp>
      <p:sp>
        <p:nvSpPr>
          <p:cNvPr id="12" name="TextBox 11"/>
          <p:cNvSpPr txBox="1"/>
          <p:nvPr/>
        </p:nvSpPr>
        <p:spPr>
          <a:xfrm>
            <a:off x="350806" y="1413064"/>
            <a:ext cx="418095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STEP 4 : Arrange the new subnets</a:t>
            </a:r>
          </a:p>
        </p:txBody>
      </p:sp>
      <p:sp>
        <p:nvSpPr>
          <p:cNvPr id="15" name="TextBox 14"/>
          <p:cNvSpPr txBox="1"/>
          <p:nvPr/>
        </p:nvSpPr>
        <p:spPr>
          <a:xfrm>
            <a:off x="584773" y="1749972"/>
            <a:ext cx="635302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192      . 168           .      1           .      0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11000000</a:t>
            </a:r>
            <a:r>
              <a:rPr kumimoji="0" lang="en-US" sz="2400" b="0" i="0" u="none" strike="noStrike" kern="1200" cap="none" spc="0" normalizeH="0" baseline="0" noProof="0" dirty="0">
                <a:ln>
                  <a:noFill/>
                </a:ln>
                <a:solidFill>
                  <a:prstClr val="black"/>
                </a:solidFill>
                <a:effectLst/>
                <a:uLnTx/>
                <a:uFillTx/>
                <a:latin typeface="Calibri"/>
                <a:ea typeface="+mn-ea"/>
                <a:cs typeface="+mn-cs"/>
              </a:rPr>
              <a:t> . </a:t>
            </a:r>
            <a:r>
              <a:rPr kumimoji="0" lang="en-US" sz="2400" b="0" i="0" u="none" strike="noStrike" kern="1200" cap="none" spc="0" normalizeH="0" baseline="0" noProof="0" dirty="0">
                <a:ln>
                  <a:noFill/>
                </a:ln>
                <a:solidFill>
                  <a:srgbClr val="FF0000"/>
                </a:solidFill>
                <a:effectLst/>
                <a:uLnTx/>
                <a:uFillTx/>
                <a:latin typeface="Calibri"/>
                <a:ea typeface="+mn-ea"/>
                <a:cs typeface="+mn-cs"/>
              </a:rPr>
              <a:t>10101000</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0" i="0" u="none" strike="noStrike" kern="1200" cap="none" spc="0" normalizeH="0" baseline="0" noProof="0" dirty="0">
                <a:ln>
                  <a:noFill/>
                </a:ln>
                <a:solidFill>
                  <a:srgbClr val="FF0000"/>
                </a:solidFill>
                <a:effectLst/>
                <a:uLnTx/>
                <a:uFillTx/>
                <a:latin typeface="Calibri"/>
                <a:ea typeface="+mn-ea"/>
                <a:cs typeface="+mn-cs"/>
              </a:rPr>
              <a:t>00000001</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00</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a:t>
            </a:r>
          </a:p>
        </p:txBody>
      </p:sp>
      <p:sp>
        <p:nvSpPr>
          <p:cNvPr id="16" name="TextBox 15"/>
          <p:cNvSpPr txBox="1"/>
          <p:nvPr/>
        </p:nvSpPr>
        <p:spPr>
          <a:xfrm>
            <a:off x="4572000" y="2511582"/>
            <a:ext cx="1712328" cy="267765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00</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01 </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01 </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10 </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10 </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11  </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11  </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 </a:t>
            </a:r>
            <a:endParaRPr kumimoji="0" lang="en-MY" sz="24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 name="Straight Connector 3"/>
          <p:cNvCxnSpPr/>
          <p:nvPr/>
        </p:nvCxnSpPr>
        <p:spPr>
          <a:xfrm>
            <a:off x="5004048" y="2040773"/>
            <a:ext cx="26787" cy="35159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225925" y="2937673"/>
            <a:ext cx="3947129" cy="5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100672" y="3663710"/>
            <a:ext cx="3072382" cy="82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144607" y="4433579"/>
            <a:ext cx="2979440" cy="3533"/>
          </a:xfrm>
          <a:prstGeom prst="line">
            <a:avLst/>
          </a:prstGeom>
        </p:spPr>
        <p:style>
          <a:lnRef idx="1">
            <a:schemeClr val="accent1"/>
          </a:lnRef>
          <a:fillRef idx="0">
            <a:schemeClr val="accent1"/>
          </a:fillRef>
          <a:effectRef idx="0">
            <a:schemeClr val="accent1"/>
          </a:effectRef>
          <a:fontRef idx="minor">
            <a:schemeClr val="tx1"/>
          </a:fontRef>
        </p:style>
      </p:cxnSp>
      <p:sp>
        <p:nvSpPr>
          <p:cNvPr id="21" name="Rounded Rectangular Callout 20"/>
          <p:cNvSpPr/>
          <p:nvPr/>
        </p:nvSpPr>
        <p:spPr>
          <a:xfrm>
            <a:off x="6937794" y="1337085"/>
            <a:ext cx="1346526" cy="765956"/>
          </a:xfrm>
          <a:prstGeom prst="wedgeRoundRectCallout">
            <a:avLst>
              <a:gd name="adj1" fmla="val -119406"/>
              <a:gd name="adj2" fmla="val 86424"/>
              <a:gd name="adj3" fmla="val 1666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S0 Network Add </a:t>
            </a:r>
            <a:endParaRPr kumimoji="0" lang="en-MY"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TextBox 4"/>
          <p:cNvSpPr txBox="1"/>
          <p:nvPr/>
        </p:nvSpPr>
        <p:spPr>
          <a:xfrm>
            <a:off x="4100672" y="2568341"/>
            <a:ext cx="4555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S0</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 name="TextBox 21"/>
          <p:cNvSpPr txBox="1"/>
          <p:nvPr/>
        </p:nvSpPr>
        <p:spPr>
          <a:xfrm>
            <a:off x="4117863" y="3171165"/>
            <a:ext cx="4138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S1</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TextBox 22"/>
          <p:cNvSpPr txBox="1"/>
          <p:nvPr/>
        </p:nvSpPr>
        <p:spPr>
          <a:xfrm>
            <a:off x="4144607" y="3863366"/>
            <a:ext cx="4555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S2</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 name="TextBox 23"/>
          <p:cNvSpPr txBox="1"/>
          <p:nvPr/>
        </p:nvSpPr>
        <p:spPr>
          <a:xfrm>
            <a:off x="4164329" y="4575187"/>
            <a:ext cx="441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S3</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6" name="Rounded Rectangular Callout 25"/>
          <p:cNvSpPr/>
          <p:nvPr/>
        </p:nvSpPr>
        <p:spPr>
          <a:xfrm>
            <a:off x="7349914" y="2445530"/>
            <a:ext cx="1525342" cy="765956"/>
          </a:xfrm>
          <a:prstGeom prst="wedgeRoundRectCallout">
            <a:avLst>
              <a:gd name="adj1" fmla="val -139581"/>
              <a:gd name="adj2" fmla="val -13960"/>
              <a:gd name="adj3" fmla="val 1666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S0 Broadcast Add </a:t>
            </a:r>
            <a:endParaRPr kumimoji="0" lang="en-MY"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 name="TextBox 26"/>
          <p:cNvSpPr txBox="1"/>
          <p:nvPr/>
        </p:nvSpPr>
        <p:spPr>
          <a:xfrm>
            <a:off x="450074" y="3344820"/>
            <a:ext cx="2538900" cy="193899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S0 (Subnet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network address: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192.168.1.0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Broadcast address: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192.168.1.63</a:t>
            </a:r>
            <a:endParaRPr kumimoji="0" lang="en-MY"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96</a:t>
            </a:fld>
            <a:endParaRPr lang="en-US" altLang="en-US" dirty="0">
              <a:latin typeface="Tahoma" panose="020B0604030504040204" pitchFamily="34" charset="0"/>
            </a:endParaRPr>
          </a:p>
        </p:txBody>
      </p:sp>
    </p:spTree>
    <p:extLst>
      <p:ext uri="{BB962C8B-B14F-4D97-AF65-F5344CB8AC3E}">
        <p14:creationId xmlns:p14="http://schemas.microsoft.com/office/powerpoint/2010/main" val="1689276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23528" y="332656"/>
            <a:ext cx="6876819" cy="70788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a:ea typeface="+mn-ea"/>
                <a:cs typeface="+mn-cs"/>
              </a:rPr>
              <a:t>Network address 192.168.1.0/24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a:ea typeface="+mn-ea"/>
                <a:cs typeface="+mn-cs"/>
              </a:rPr>
              <a:t> to divide into SAME/EQUAL SIZED 4 dept : RND, SALES, FIN, HR</a:t>
            </a:r>
          </a:p>
        </p:txBody>
      </p:sp>
      <p:sp>
        <p:nvSpPr>
          <p:cNvPr id="12" name="TextBox 11"/>
          <p:cNvSpPr txBox="1"/>
          <p:nvPr/>
        </p:nvSpPr>
        <p:spPr>
          <a:xfrm>
            <a:off x="350806" y="1413064"/>
            <a:ext cx="39773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STEP 5 : Assign the new subnets</a:t>
            </a:r>
          </a:p>
        </p:txBody>
      </p:sp>
      <p:sp>
        <p:nvSpPr>
          <p:cNvPr id="15" name="TextBox 14"/>
          <p:cNvSpPr txBox="1"/>
          <p:nvPr/>
        </p:nvSpPr>
        <p:spPr>
          <a:xfrm>
            <a:off x="611560" y="1749972"/>
            <a:ext cx="635302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192      . 168           .      1           .      0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11000000</a:t>
            </a:r>
            <a:r>
              <a:rPr kumimoji="0" lang="en-US" sz="2400" b="0" i="0" u="none" strike="noStrike" kern="1200" cap="none" spc="0" normalizeH="0" baseline="0" noProof="0" dirty="0">
                <a:ln>
                  <a:noFill/>
                </a:ln>
                <a:solidFill>
                  <a:prstClr val="black"/>
                </a:solidFill>
                <a:effectLst/>
                <a:uLnTx/>
                <a:uFillTx/>
                <a:latin typeface="Calibri"/>
                <a:ea typeface="+mn-ea"/>
                <a:cs typeface="+mn-cs"/>
              </a:rPr>
              <a:t> . </a:t>
            </a:r>
            <a:r>
              <a:rPr kumimoji="0" lang="en-US" sz="2400" b="0" i="0" u="none" strike="noStrike" kern="1200" cap="none" spc="0" normalizeH="0" baseline="0" noProof="0" dirty="0">
                <a:ln>
                  <a:noFill/>
                </a:ln>
                <a:solidFill>
                  <a:srgbClr val="FF0000"/>
                </a:solidFill>
                <a:effectLst/>
                <a:uLnTx/>
                <a:uFillTx/>
                <a:latin typeface="Calibri"/>
                <a:ea typeface="+mn-ea"/>
                <a:cs typeface="+mn-cs"/>
              </a:rPr>
              <a:t>10101000</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0" i="0" u="none" strike="noStrike" kern="1200" cap="none" spc="0" normalizeH="0" baseline="0" noProof="0" dirty="0">
                <a:ln>
                  <a:noFill/>
                </a:ln>
                <a:solidFill>
                  <a:srgbClr val="FF0000"/>
                </a:solidFill>
                <a:effectLst/>
                <a:uLnTx/>
                <a:uFillTx/>
                <a:latin typeface="Calibri"/>
                <a:ea typeface="+mn-ea"/>
                <a:cs typeface="+mn-cs"/>
              </a:rPr>
              <a:t>00000001</a:t>
            </a: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00</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a:t>
            </a:r>
          </a:p>
        </p:txBody>
      </p:sp>
      <p:sp>
        <p:nvSpPr>
          <p:cNvPr id="16" name="TextBox 15"/>
          <p:cNvSpPr txBox="1"/>
          <p:nvPr/>
        </p:nvSpPr>
        <p:spPr>
          <a:xfrm>
            <a:off x="4572000" y="2511582"/>
            <a:ext cx="1712328" cy="267765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00</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01 </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01 </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10 </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10 </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11  </a:t>
            </a:r>
            <a:r>
              <a:rPr kumimoji="0" lang="en-US" sz="2400" b="0" i="0" u="none" strike="noStrike" kern="1200" cap="none" spc="0" normalizeH="0" baseline="0" noProof="0" dirty="0">
                <a:ln>
                  <a:noFill/>
                </a:ln>
                <a:solidFill>
                  <a:prstClr val="black"/>
                </a:solidFill>
                <a:effectLst/>
                <a:uLnTx/>
                <a:uFillTx/>
                <a:latin typeface="Calibri"/>
                <a:ea typeface="+mn-ea"/>
                <a:cs typeface="+mn-cs"/>
              </a:rPr>
              <a:t>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t>
            </a:r>
            <a:r>
              <a:rPr kumimoji="0" lang="en-US" sz="2400" b="1" i="0" u="none" strike="noStrike" kern="1200" cap="none" spc="0" normalizeH="0" baseline="0" noProof="0" dirty="0">
                <a:ln>
                  <a:noFill/>
                </a:ln>
                <a:solidFill>
                  <a:srgbClr val="00B050"/>
                </a:solidFill>
                <a:effectLst/>
                <a:uLnTx/>
                <a:uFillTx/>
                <a:latin typeface="Calibri"/>
                <a:ea typeface="+mn-ea"/>
                <a:cs typeface="+mn-cs"/>
              </a:rPr>
              <a:t>11  </a:t>
            </a:r>
            <a:r>
              <a:rPr kumimoji="0" lang="en-US" sz="2400" b="0" i="0" u="none" strike="noStrike" kern="1200" cap="none" spc="0" normalizeH="0" baseline="0" noProof="0" dirty="0">
                <a:ln>
                  <a:noFill/>
                </a:ln>
                <a:solidFill>
                  <a:prstClr val="black"/>
                </a:solidFill>
                <a:effectLst/>
                <a:uLnTx/>
                <a:uFillTx/>
                <a:latin typeface="Calibri"/>
                <a:ea typeface="+mn-ea"/>
                <a:cs typeface="+mn-cs"/>
              </a:rPr>
              <a:t>111111 </a:t>
            </a:r>
            <a:endParaRPr kumimoji="0" lang="en-MY" sz="24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 name="Straight Connector 3"/>
          <p:cNvCxnSpPr/>
          <p:nvPr/>
        </p:nvCxnSpPr>
        <p:spPr>
          <a:xfrm>
            <a:off x="5076056" y="2040773"/>
            <a:ext cx="26787" cy="35159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225925" y="2937673"/>
            <a:ext cx="3947129" cy="5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100672" y="3663710"/>
            <a:ext cx="3072382" cy="82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144607" y="4433579"/>
            <a:ext cx="2979440" cy="3533"/>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3722543" y="2518552"/>
            <a:ext cx="1165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S0 - RND</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 name="TextBox 21"/>
          <p:cNvSpPr txBox="1"/>
          <p:nvPr/>
        </p:nvSpPr>
        <p:spPr>
          <a:xfrm>
            <a:off x="3650348" y="3146353"/>
            <a:ext cx="1317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S1 - SALES</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TextBox 22"/>
          <p:cNvSpPr txBox="1"/>
          <p:nvPr/>
        </p:nvSpPr>
        <p:spPr>
          <a:xfrm>
            <a:off x="3768103" y="3917477"/>
            <a:ext cx="10454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S2 - FIN</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 name="TextBox 23"/>
          <p:cNvSpPr txBox="1"/>
          <p:nvPr/>
        </p:nvSpPr>
        <p:spPr>
          <a:xfrm>
            <a:off x="3796155" y="4625735"/>
            <a:ext cx="9893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S3 - HR</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6" name="TextBox 25"/>
          <p:cNvSpPr txBox="1"/>
          <p:nvPr/>
        </p:nvSpPr>
        <p:spPr>
          <a:xfrm>
            <a:off x="6533599" y="950098"/>
            <a:ext cx="2475358" cy="1200329"/>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S0 (Subnet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Usable/valid IP address: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192.168.1.1 to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192.168.1.62</a:t>
            </a:r>
            <a:endParaRPr kumimoji="0" lang="en-MY"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Box 6">
            <a:extLst>
              <a:ext uri="{FF2B5EF4-FFF2-40B4-BE49-F238E27FC236}">
                <a16:creationId xmlns:a16="http://schemas.microsoft.com/office/drawing/2014/main" id="{11DADDA3-6650-43CE-A1AA-60B641955824}"/>
              </a:ext>
            </a:extLst>
          </p:cNvPr>
          <p:cNvSpPr txBox="1"/>
          <p:nvPr/>
        </p:nvSpPr>
        <p:spPr>
          <a:xfrm>
            <a:off x="6845079" y="2312224"/>
            <a:ext cx="73289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000001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111110</a:t>
            </a:r>
          </a:p>
        </p:txBody>
      </p:sp>
      <p:sp>
        <p:nvSpPr>
          <p:cNvPr id="9" name="Arrow: Right 8">
            <a:extLst>
              <a:ext uri="{FF2B5EF4-FFF2-40B4-BE49-F238E27FC236}">
                <a16:creationId xmlns:a16="http://schemas.microsoft.com/office/drawing/2014/main" id="{188C0725-56AD-4BC5-B017-F4A64CAC3239}"/>
              </a:ext>
            </a:extLst>
          </p:cNvPr>
          <p:cNvSpPr/>
          <p:nvPr/>
        </p:nvSpPr>
        <p:spPr>
          <a:xfrm flipH="1">
            <a:off x="5897657" y="2360403"/>
            <a:ext cx="977413" cy="389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 name="Straight Arrow Connector 10">
            <a:extLst>
              <a:ext uri="{FF2B5EF4-FFF2-40B4-BE49-F238E27FC236}">
                <a16:creationId xmlns:a16="http://schemas.microsoft.com/office/drawing/2014/main" id="{D6952676-EC76-4112-9F6B-D02324862BC6}"/>
              </a:ext>
            </a:extLst>
          </p:cNvPr>
          <p:cNvCxnSpPr>
            <a:cxnSpLocks/>
          </p:cNvCxnSpPr>
          <p:nvPr/>
        </p:nvCxnSpPr>
        <p:spPr>
          <a:xfrm flipH="1">
            <a:off x="7527638" y="2142038"/>
            <a:ext cx="193306" cy="423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680BD6A7-DB63-482A-AA01-D47AFC0488B4}"/>
              </a:ext>
            </a:extLst>
          </p:cNvPr>
          <p:cNvSpPr/>
          <p:nvPr/>
        </p:nvSpPr>
        <p:spPr>
          <a:xfrm flipH="1">
            <a:off x="5940152" y="3115374"/>
            <a:ext cx="977413" cy="389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4A129A67-C1C9-49BE-A14E-E2C463DBA7F5}"/>
              </a:ext>
            </a:extLst>
          </p:cNvPr>
          <p:cNvSpPr txBox="1"/>
          <p:nvPr/>
        </p:nvSpPr>
        <p:spPr>
          <a:xfrm>
            <a:off x="6875373" y="3028789"/>
            <a:ext cx="73289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000001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111110</a:t>
            </a:r>
          </a:p>
        </p:txBody>
      </p:sp>
      <p:sp>
        <p:nvSpPr>
          <p:cNvPr id="29" name="Arrow: Right 28">
            <a:extLst>
              <a:ext uri="{FF2B5EF4-FFF2-40B4-BE49-F238E27FC236}">
                <a16:creationId xmlns:a16="http://schemas.microsoft.com/office/drawing/2014/main" id="{8451BCF3-9A44-446F-B237-951E1FD40E7C}"/>
              </a:ext>
            </a:extLst>
          </p:cNvPr>
          <p:cNvSpPr/>
          <p:nvPr/>
        </p:nvSpPr>
        <p:spPr>
          <a:xfrm flipH="1">
            <a:off x="5970745" y="3846605"/>
            <a:ext cx="977413" cy="389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7FF23D97-E72E-42F8-9D9A-90789DAC5F78}"/>
              </a:ext>
            </a:extLst>
          </p:cNvPr>
          <p:cNvSpPr txBox="1"/>
          <p:nvPr/>
        </p:nvSpPr>
        <p:spPr>
          <a:xfrm>
            <a:off x="6902084" y="3805214"/>
            <a:ext cx="73289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000001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111110</a:t>
            </a:r>
          </a:p>
        </p:txBody>
      </p:sp>
      <p:sp>
        <p:nvSpPr>
          <p:cNvPr id="31" name="Arrow: Right 30">
            <a:extLst>
              <a:ext uri="{FF2B5EF4-FFF2-40B4-BE49-F238E27FC236}">
                <a16:creationId xmlns:a16="http://schemas.microsoft.com/office/drawing/2014/main" id="{C02902CE-C60A-4E17-89FD-78B4C4617E2C}"/>
              </a:ext>
            </a:extLst>
          </p:cNvPr>
          <p:cNvSpPr/>
          <p:nvPr/>
        </p:nvSpPr>
        <p:spPr>
          <a:xfrm flipH="1">
            <a:off x="6043906" y="4563785"/>
            <a:ext cx="977413" cy="389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a:extLst>
              <a:ext uri="{FF2B5EF4-FFF2-40B4-BE49-F238E27FC236}">
                <a16:creationId xmlns:a16="http://schemas.microsoft.com/office/drawing/2014/main" id="{29C89A3D-4F3E-4945-B771-5B254988B0C5}"/>
              </a:ext>
            </a:extLst>
          </p:cNvPr>
          <p:cNvSpPr txBox="1"/>
          <p:nvPr/>
        </p:nvSpPr>
        <p:spPr>
          <a:xfrm>
            <a:off x="6993267" y="4497597"/>
            <a:ext cx="73289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000001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111110</a:t>
            </a:r>
          </a:p>
        </p:txBody>
      </p:sp>
      <p:sp>
        <p:nvSpPr>
          <p:cNvPr id="27"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97</a:t>
            </a:fld>
            <a:endParaRPr lang="en-US" altLang="en-US" dirty="0">
              <a:latin typeface="Tahoma" panose="020B0604030504040204" pitchFamily="34" charset="0"/>
            </a:endParaRPr>
          </a:p>
        </p:txBody>
      </p:sp>
    </p:spTree>
    <p:extLst>
      <p:ext uri="{BB962C8B-B14F-4D97-AF65-F5344CB8AC3E}">
        <p14:creationId xmlns:p14="http://schemas.microsoft.com/office/powerpoint/2010/main" val="15357525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83568" y="1124744"/>
          <a:ext cx="7776864" cy="3139440"/>
        </p:xfrm>
        <a:graphic>
          <a:graphicData uri="http://schemas.openxmlformats.org/drawingml/2006/table">
            <a:tbl>
              <a:tblPr firstRow="1" bandRow="1">
                <a:tableStyleId>{073A0DAA-6AF3-43AB-8588-CEC1D06C72B9}</a:tableStyleId>
              </a:tblPr>
              <a:tblGrid>
                <a:gridCol w="792088">
                  <a:extLst>
                    <a:ext uri="{9D8B030D-6E8A-4147-A177-3AD203B41FA5}">
                      <a16:colId xmlns:a16="http://schemas.microsoft.com/office/drawing/2014/main" val="637509995"/>
                    </a:ext>
                  </a:extLst>
                </a:gridCol>
                <a:gridCol w="1584176">
                  <a:extLst>
                    <a:ext uri="{9D8B030D-6E8A-4147-A177-3AD203B41FA5}">
                      <a16:colId xmlns:a16="http://schemas.microsoft.com/office/drawing/2014/main" val="2413373739"/>
                    </a:ext>
                  </a:extLst>
                </a:gridCol>
                <a:gridCol w="1728192">
                  <a:extLst>
                    <a:ext uri="{9D8B030D-6E8A-4147-A177-3AD203B41FA5}">
                      <a16:colId xmlns:a16="http://schemas.microsoft.com/office/drawing/2014/main" val="3975333901"/>
                    </a:ext>
                  </a:extLst>
                </a:gridCol>
                <a:gridCol w="1728192">
                  <a:extLst>
                    <a:ext uri="{9D8B030D-6E8A-4147-A177-3AD203B41FA5}">
                      <a16:colId xmlns:a16="http://schemas.microsoft.com/office/drawing/2014/main" val="1502838738"/>
                    </a:ext>
                  </a:extLst>
                </a:gridCol>
                <a:gridCol w="1944216">
                  <a:extLst>
                    <a:ext uri="{9D8B030D-6E8A-4147-A177-3AD203B41FA5}">
                      <a16:colId xmlns:a16="http://schemas.microsoft.com/office/drawing/2014/main" val="4196384528"/>
                    </a:ext>
                  </a:extLst>
                </a:gridCol>
              </a:tblGrid>
              <a:tr h="370840">
                <a:tc>
                  <a:txBody>
                    <a:bodyPr/>
                    <a:lstStyle/>
                    <a:p>
                      <a:r>
                        <a:rPr lang="en-US" sz="1400" dirty="0"/>
                        <a:t>SUBNET</a:t>
                      </a:r>
                      <a:endParaRPr lang="en-MY" sz="1400" dirty="0"/>
                    </a:p>
                  </a:txBody>
                  <a:tcPr/>
                </a:tc>
                <a:tc>
                  <a:txBody>
                    <a:bodyPr/>
                    <a:lstStyle/>
                    <a:p>
                      <a:r>
                        <a:rPr lang="en-US" sz="1600" dirty="0"/>
                        <a:t>NETWORK</a:t>
                      </a:r>
                    </a:p>
                    <a:p>
                      <a:r>
                        <a:rPr lang="en-US" sz="1600" dirty="0"/>
                        <a:t>ADDRESS</a:t>
                      </a:r>
                      <a:endParaRPr lang="en-MY" sz="1600" dirty="0"/>
                    </a:p>
                  </a:txBody>
                  <a:tcPr/>
                </a:tc>
                <a:tc>
                  <a:txBody>
                    <a:bodyPr/>
                    <a:lstStyle/>
                    <a:p>
                      <a:r>
                        <a:rPr lang="en-US" sz="1600" dirty="0"/>
                        <a:t>USABLE/VALID IP ADD. RANGE</a:t>
                      </a:r>
                      <a:endParaRPr lang="en-MY" sz="1600" dirty="0"/>
                    </a:p>
                  </a:txBody>
                  <a:tcPr/>
                </a:tc>
                <a:tc>
                  <a:txBody>
                    <a:bodyPr/>
                    <a:lstStyle/>
                    <a:p>
                      <a:r>
                        <a:rPr lang="en-US" sz="1600" dirty="0"/>
                        <a:t>BROADCAST ADDRESS</a:t>
                      </a:r>
                      <a:endParaRPr lang="en-MY" sz="1600" dirty="0"/>
                    </a:p>
                  </a:txBody>
                  <a:tcPr/>
                </a:tc>
                <a:tc>
                  <a:txBody>
                    <a:bodyPr/>
                    <a:lstStyle/>
                    <a:p>
                      <a:r>
                        <a:rPr lang="en-US" sz="1600" dirty="0"/>
                        <a:t>SUBNET MASK</a:t>
                      </a:r>
                      <a:endParaRPr lang="en-MY" sz="1600" dirty="0"/>
                    </a:p>
                  </a:txBody>
                  <a:tcPr/>
                </a:tc>
                <a:extLst>
                  <a:ext uri="{0D108BD9-81ED-4DB2-BD59-A6C34878D82A}">
                    <a16:rowId xmlns:a16="http://schemas.microsoft.com/office/drawing/2014/main" val="3207461325"/>
                  </a:ext>
                </a:extLst>
              </a:tr>
              <a:tr h="370840">
                <a:tc>
                  <a:txBody>
                    <a:bodyPr/>
                    <a:lstStyle/>
                    <a:p>
                      <a:pPr algn="ctr"/>
                      <a:r>
                        <a:rPr lang="en-US" sz="1800" dirty="0"/>
                        <a:t>0</a:t>
                      </a:r>
                      <a:endParaRPr lang="en-MY" sz="1800" dirty="0"/>
                    </a:p>
                  </a:txBody>
                  <a:tcPr/>
                </a:tc>
                <a:tc>
                  <a:txBody>
                    <a:bodyPr/>
                    <a:lstStyle/>
                    <a:p>
                      <a:r>
                        <a:rPr lang="en-US" sz="1800" dirty="0"/>
                        <a:t>192.168.1.0</a:t>
                      </a:r>
                      <a:endParaRPr lang="en-MY" sz="1800" dirty="0"/>
                    </a:p>
                  </a:txBody>
                  <a:tcPr/>
                </a:tc>
                <a:tc>
                  <a:txBody>
                    <a:bodyPr/>
                    <a:lstStyle/>
                    <a:p>
                      <a:r>
                        <a:rPr lang="en-US" sz="1800" dirty="0"/>
                        <a:t>192.168.1.1 – 192.168.1.62</a:t>
                      </a:r>
                      <a:endParaRPr lang="en-MY" sz="1800" dirty="0"/>
                    </a:p>
                  </a:txBody>
                  <a:tcPr/>
                </a:tc>
                <a:tc>
                  <a:txBody>
                    <a:bodyPr/>
                    <a:lstStyle/>
                    <a:p>
                      <a:r>
                        <a:rPr lang="en-US" sz="1800" dirty="0"/>
                        <a:t>192.168.1.63</a:t>
                      </a:r>
                      <a:endParaRPr lang="en-MY" sz="1800" dirty="0"/>
                    </a:p>
                  </a:txBody>
                  <a:tcPr/>
                </a:tc>
                <a:tc>
                  <a:txBody>
                    <a:bodyPr/>
                    <a:lstStyle/>
                    <a:p>
                      <a:r>
                        <a:rPr lang="en-US" sz="1800" dirty="0"/>
                        <a:t>/26 OR</a:t>
                      </a:r>
                    </a:p>
                    <a:p>
                      <a:r>
                        <a:rPr lang="en-US" sz="1800" dirty="0"/>
                        <a:t>255.255.255.192</a:t>
                      </a:r>
                      <a:endParaRPr lang="en-MY" sz="1800" dirty="0"/>
                    </a:p>
                  </a:txBody>
                  <a:tcPr/>
                </a:tc>
                <a:extLst>
                  <a:ext uri="{0D108BD9-81ED-4DB2-BD59-A6C34878D82A}">
                    <a16:rowId xmlns:a16="http://schemas.microsoft.com/office/drawing/2014/main" val="3429110358"/>
                  </a:ext>
                </a:extLst>
              </a:tr>
              <a:tr h="370840">
                <a:tc>
                  <a:txBody>
                    <a:bodyPr/>
                    <a:lstStyle/>
                    <a:p>
                      <a:pPr algn="ctr"/>
                      <a:r>
                        <a:rPr lang="en-US" sz="1800" dirty="0"/>
                        <a:t>1</a:t>
                      </a:r>
                      <a:endParaRPr lang="en-MY" sz="1800" dirty="0"/>
                    </a:p>
                  </a:txBody>
                  <a:tcPr/>
                </a:tc>
                <a:tc>
                  <a:txBody>
                    <a:bodyPr/>
                    <a:lstStyle/>
                    <a:p>
                      <a:r>
                        <a:rPr lang="en-US" sz="1800" dirty="0"/>
                        <a:t>192.168.1.64</a:t>
                      </a:r>
                      <a:endParaRPr lang="en-MY" sz="1800" dirty="0"/>
                    </a:p>
                  </a:txBody>
                  <a:tcPr/>
                </a:tc>
                <a:tc>
                  <a:txBody>
                    <a:bodyPr/>
                    <a:lstStyle/>
                    <a:p>
                      <a:r>
                        <a:rPr lang="en-MY" sz="1800" dirty="0"/>
                        <a:t>192.168.1.65 –</a:t>
                      </a:r>
                    </a:p>
                    <a:p>
                      <a:r>
                        <a:rPr lang="en-MY" sz="1800" dirty="0"/>
                        <a:t>192.168.1.126</a:t>
                      </a:r>
                    </a:p>
                  </a:txBody>
                  <a:tcPr/>
                </a:tc>
                <a:tc>
                  <a:txBody>
                    <a:bodyPr/>
                    <a:lstStyle/>
                    <a:p>
                      <a:r>
                        <a:rPr lang="en-US" sz="1800" dirty="0"/>
                        <a:t>192.168.1.127</a:t>
                      </a:r>
                      <a:endParaRPr lang="en-MY" sz="1800" dirty="0"/>
                    </a:p>
                  </a:txBody>
                  <a:tcPr/>
                </a:tc>
                <a:tc>
                  <a:txBody>
                    <a:bodyPr/>
                    <a:lstStyle/>
                    <a:p>
                      <a:r>
                        <a:rPr lang="en-US" sz="1800" dirty="0"/>
                        <a:t>/26 OR</a:t>
                      </a:r>
                    </a:p>
                    <a:p>
                      <a:r>
                        <a:rPr lang="en-US" sz="1800" dirty="0"/>
                        <a:t>255.255.255.192</a:t>
                      </a:r>
                      <a:endParaRPr lang="en-MY" sz="1800" dirty="0"/>
                    </a:p>
                  </a:txBody>
                  <a:tcPr/>
                </a:tc>
                <a:extLst>
                  <a:ext uri="{0D108BD9-81ED-4DB2-BD59-A6C34878D82A}">
                    <a16:rowId xmlns:a16="http://schemas.microsoft.com/office/drawing/2014/main" val="1102089915"/>
                  </a:ext>
                </a:extLst>
              </a:tr>
              <a:tr h="370840">
                <a:tc>
                  <a:txBody>
                    <a:bodyPr/>
                    <a:lstStyle/>
                    <a:p>
                      <a:pPr algn="ctr"/>
                      <a:r>
                        <a:rPr lang="en-US" sz="1800" dirty="0"/>
                        <a:t>2</a:t>
                      </a:r>
                      <a:endParaRPr lang="en-MY" sz="1800" dirty="0"/>
                    </a:p>
                  </a:txBody>
                  <a:tcPr/>
                </a:tc>
                <a:tc>
                  <a:txBody>
                    <a:bodyPr/>
                    <a:lstStyle/>
                    <a:p>
                      <a:r>
                        <a:rPr lang="en-US" sz="1800" dirty="0"/>
                        <a:t>192.168.1.128</a:t>
                      </a:r>
                      <a:endParaRPr lang="en-MY" sz="1800" dirty="0"/>
                    </a:p>
                  </a:txBody>
                  <a:tcPr/>
                </a:tc>
                <a:tc>
                  <a:txBody>
                    <a:bodyPr/>
                    <a:lstStyle/>
                    <a:p>
                      <a:r>
                        <a:rPr lang="en-MY" sz="1800" dirty="0"/>
                        <a:t>192.168.1.126 –</a:t>
                      </a:r>
                    </a:p>
                    <a:p>
                      <a:r>
                        <a:rPr lang="en-MY" sz="1800" dirty="0"/>
                        <a:t>192.168.1.190</a:t>
                      </a:r>
                    </a:p>
                  </a:txBody>
                  <a:tcPr/>
                </a:tc>
                <a:tc>
                  <a:txBody>
                    <a:bodyPr/>
                    <a:lstStyle/>
                    <a:p>
                      <a:r>
                        <a:rPr lang="en-US" sz="1800" dirty="0"/>
                        <a:t>192.168.1.191</a:t>
                      </a:r>
                      <a:endParaRPr lang="en-MY" sz="1800" dirty="0"/>
                    </a:p>
                  </a:txBody>
                  <a:tcPr/>
                </a:tc>
                <a:tc>
                  <a:txBody>
                    <a:bodyPr/>
                    <a:lstStyle/>
                    <a:p>
                      <a:r>
                        <a:rPr lang="en-US" sz="1800" dirty="0"/>
                        <a:t>/26 OR</a:t>
                      </a:r>
                    </a:p>
                    <a:p>
                      <a:r>
                        <a:rPr lang="en-US" sz="1800" dirty="0"/>
                        <a:t>255.255.255.192</a:t>
                      </a:r>
                      <a:endParaRPr lang="en-MY" sz="1800" dirty="0"/>
                    </a:p>
                  </a:txBody>
                  <a:tcPr/>
                </a:tc>
                <a:extLst>
                  <a:ext uri="{0D108BD9-81ED-4DB2-BD59-A6C34878D82A}">
                    <a16:rowId xmlns:a16="http://schemas.microsoft.com/office/drawing/2014/main" val="2706838998"/>
                  </a:ext>
                </a:extLst>
              </a:tr>
              <a:tr h="370840">
                <a:tc>
                  <a:txBody>
                    <a:bodyPr/>
                    <a:lstStyle/>
                    <a:p>
                      <a:pPr algn="ctr"/>
                      <a:r>
                        <a:rPr lang="en-US" sz="1800" dirty="0"/>
                        <a:t>3</a:t>
                      </a:r>
                      <a:endParaRPr lang="en-MY" sz="1800" dirty="0"/>
                    </a:p>
                  </a:txBody>
                  <a:tcPr/>
                </a:tc>
                <a:tc>
                  <a:txBody>
                    <a:bodyPr/>
                    <a:lstStyle/>
                    <a:p>
                      <a:r>
                        <a:rPr lang="en-US" sz="1800" dirty="0"/>
                        <a:t>192.168.1.192</a:t>
                      </a:r>
                      <a:endParaRPr lang="en-MY" sz="1800" dirty="0"/>
                    </a:p>
                  </a:txBody>
                  <a:tcPr/>
                </a:tc>
                <a:tc>
                  <a:txBody>
                    <a:bodyPr/>
                    <a:lstStyle/>
                    <a:p>
                      <a:r>
                        <a:rPr lang="en-MY" sz="1800" dirty="0"/>
                        <a:t>192.168.1.190 –</a:t>
                      </a:r>
                    </a:p>
                    <a:p>
                      <a:r>
                        <a:rPr lang="en-MY" sz="1800" dirty="0"/>
                        <a:t>192.168.1.254</a:t>
                      </a:r>
                    </a:p>
                  </a:txBody>
                  <a:tcPr/>
                </a:tc>
                <a:tc>
                  <a:txBody>
                    <a:bodyPr/>
                    <a:lstStyle/>
                    <a:p>
                      <a:r>
                        <a:rPr lang="en-US" sz="1800" dirty="0"/>
                        <a:t>192.168.1.255</a:t>
                      </a:r>
                      <a:endParaRPr lang="en-MY" sz="1800" dirty="0"/>
                    </a:p>
                  </a:txBody>
                  <a:tcPr/>
                </a:tc>
                <a:tc>
                  <a:txBody>
                    <a:bodyPr/>
                    <a:lstStyle/>
                    <a:p>
                      <a:r>
                        <a:rPr lang="en-US" sz="1800" dirty="0"/>
                        <a:t>/26 OR</a:t>
                      </a:r>
                    </a:p>
                    <a:p>
                      <a:r>
                        <a:rPr lang="en-US" sz="1800" dirty="0"/>
                        <a:t>255.255.255.192</a:t>
                      </a:r>
                      <a:endParaRPr lang="en-MY" sz="1800" dirty="0"/>
                    </a:p>
                  </a:txBody>
                  <a:tcPr/>
                </a:tc>
                <a:extLst>
                  <a:ext uri="{0D108BD9-81ED-4DB2-BD59-A6C34878D82A}">
                    <a16:rowId xmlns:a16="http://schemas.microsoft.com/office/drawing/2014/main" val="3019573023"/>
                  </a:ext>
                </a:extLst>
              </a:tr>
            </a:tbl>
          </a:graphicData>
        </a:graphic>
      </p:graphicFrame>
      <p:sp>
        <p:nvSpPr>
          <p:cNvPr id="3" name="TextBox 2">
            <a:extLst>
              <a:ext uri="{FF2B5EF4-FFF2-40B4-BE49-F238E27FC236}">
                <a16:creationId xmlns:a16="http://schemas.microsoft.com/office/drawing/2014/main" id="{A76255BD-0C23-4DD9-BBC2-706D496AE337}"/>
              </a:ext>
            </a:extLst>
          </p:cNvPr>
          <p:cNvSpPr txBox="1"/>
          <p:nvPr/>
        </p:nvSpPr>
        <p:spPr>
          <a:xfrm>
            <a:off x="1043608" y="4365104"/>
            <a:ext cx="69376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Convert calculation in table to binary format for complete understanding</a:t>
            </a:r>
          </a:p>
        </p:txBody>
      </p:sp>
      <p:sp>
        <p:nvSpPr>
          <p:cNvPr id="4"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98</a:t>
            </a:fld>
            <a:endParaRPr lang="en-US" altLang="en-US" dirty="0">
              <a:latin typeface="Tahoma" panose="020B0604030504040204" pitchFamily="34" charset="0"/>
            </a:endParaRPr>
          </a:p>
        </p:txBody>
      </p:sp>
      <p:sp>
        <p:nvSpPr>
          <p:cNvPr id="6" name="TextBox 5">
            <a:extLst>
              <a:ext uri="{FF2B5EF4-FFF2-40B4-BE49-F238E27FC236}">
                <a16:creationId xmlns:a16="http://schemas.microsoft.com/office/drawing/2014/main" id="{1660329C-7F44-C7CF-8EA3-AF132F3D0EEE}"/>
              </a:ext>
            </a:extLst>
          </p:cNvPr>
          <p:cNvSpPr txBox="1"/>
          <p:nvPr/>
        </p:nvSpPr>
        <p:spPr>
          <a:xfrm>
            <a:off x="683568" y="520286"/>
            <a:ext cx="457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Calibri"/>
                <a:ea typeface="+mn-ea"/>
                <a:cs typeface="+mn-cs"/>
              </a:rPr>
              <a:t>STEP 6 : Complete the subnetting table</a:t>
            </a:r>
          </a:p>
        </p:txBody>
      </p:sp>
    </p:spTree>
    <p:extLst>
      <p:ext uri="{BB962C8B-B14F-4D97-AF65-F5344CB8AC3E}">
        <p14:creationId xmlns:p14="http://schemas.microsoft.com/office/powerpoint/2010/main" val="236501055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grpSp>
        <p:nvGrpSpPr>
          <p:cNvPr id="947" name="Google Shape;947;p45"/>
          <p:cNvGrpSpPr/>
          <p:nvPr/>
        </p:nvGrpSpPr>
        <p:grpSpPr>
          <a:xfrm>
            <a:off x="0" y="0"/>
            <a:ext cx="9143999" cy="926011"/>
            <a:chOff x="0" y="0"/>
            <a:chExt cx="9143999" cy="926011"/>
          </a:xfrm>
        </p:grpSpPr>
        <p:pic>
          <p:nvPicPr>
            <p:cNvPr id="948" name="Google Shape;948;p45"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949" name="Google Shape;949;p45"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950" name="Google Shape;950;p45"/>
          <p:cNvSpPr txBox="1"/>
          <p:nvPr/>
        </p:nvSpPr>
        <p:spPr>
          <a:xfrm>
            <a:off x="3589867" y="140786"/>
            <a:ext cx="5554133"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chemeClr val="lt1"/>
                </a:solidFill>
                <a:latin typeface="Arial"/>
                <a:ea typeface="Arial"/>
                <a:cs typeface="Arial"/>
                <a:sym typeface="Arial"/>
              </a:rPr>
              <a:t>Obtaining a block of addresses (network address)</a:t>
            </a:r>
            <a:endParaRPr dirty="0"/>
          </a:p>
        </p:txBody>
      </p:sp>
      <p:sp>
        <p:nvSpPr>
          <p:cNvPr id="951" name="Google Shape;951;p45"/>
          <p:cNvSpPr/>
          <p:nvPr/>
        </p:nvSpPr>
        <p:spPr>
          <a:xfrm>
            <a:off x="0" y="1032138"/>
            <a:ext cx="6323447" cy="926011"/>
          </a:xfrm>
          <a:prstGeom prst="rect">
            <a:avLst/>
          </a:prstGeom>
          <a:no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2" name="Google Shape;952;p45"/>
          <p:cNvSpPr/>
          <p:nvPr/>
        </p:nvSpPr>
        <p:spPr>
          <a:xfrm>
            <a:off x="336231" y="1156436"/>
            <a:ext cx="5987216" cy="5427086"/>
          </a:xfrm>
          <a:prstGeom prst="rect">
            <a:avLst/>
          </a:prstGeom>
          <a:noFill/>
          <a:ln>
            <a:noFill/>
          </a:ln>
        </p:spPr>
        <p:txBody>
          <a:bodyPr spcFirstLastPara="1" wrap="square" lIns="91425" tIns="45700" rIns="91425" bIns="45700" anchor="t" anchorCtr="0">
            <a:spAutoFit/>
          </a:bodyPr>
          <a:lstStyle/>
          <a:p>
            <a:pPr marL="342900" lvl="0" indent="-342900">
              <a:spcBef>
                <a:spcPts val="0"/>
              </a:spcBef>
              <a:spcAft>
                <a:spcPts val="0"/>
              </a:spcAft>
            </a:pPr>
            <a:r>
              <a:rPr lang="en-US" sz="2200" i="1" dirty="0">
                <a:solidFill>
                  <a:srgbClr val="CC0000"/>
                </a:solidFill>
                <a:latin typeface="Arial"/>
                <a:ea typeface="Arial"/>
                <a:cs typeface="Arial"/>
                <a:sym typeface="Arial"/>
              </a:rPr>
              <a:t>Q: How does a network get IP address block for itself (network part of address)</a:t>
            </a:r>
            <a:endParaRPr dirty="0"/>
          </a:p>
          <a:p>
            <a:pPr marL="342900" marR="0" lvl="0" indent="-342900" algn="l" rtl="0">
              <a:spcBef>
                <a:spcPts val="440"/>
              </a:spcBef>
              <a:spcAft>
                <a:spcPts val="0"/>
              </a:spcAft>
              <a:buNone/>
            </a:pPr>
            <a:endParaRPr sz="2200" i="1" dirty="0">
              <a:solidFill>
                <a:schemeClr val="dk1"/>
              </a:solidFill>
              <a:latin typeface="Arial"/>
              <a:ea typeface="Arial"/>
              <a:cs typeface="Arial"/>
              <a:sym typeface="Arial"/>
            </a:endParaRPr>
          </a:p>
          <a:p>
            <a:pPr marL="342900" marR="0" lvl="0" indent="-342900" algn="l" rtl="0">
              <a:spcBef>
                <a:spcPts val="440"/>
              </a:spcBef>
              <a:spcAft>
                <a:spcPts val="0"/>
              </a:spcAft>
              <a:buNone/>
            </a:pPr>
            <a:r>
              <a:rPr lang="en-US" sz="2200" i="1" dirty="0">
                <a:solidFill>
                  <a:srgbClr val="CC0000"/>
                </a:solidFill>
                <a:latin typeface="Arial"/>
                <a:ea typeface="Arial"/>
                <a:cs typeface="Arial"/>
                <a:sym typeface="Arial"/>
              </a:rPr>
              <a:t>A:  </a:t>
            </a:r>
            <a:r>
              <a:rPr lang="en-US" sz="2200" b="1" dirty="0">
                <a:solidFill>
                  <a:schemeClr val="dk1"/>
                </a:solidFill>
                <a:latin typeface="Arial"/>
                <a:ea typeface="Arial"/>
                <a:cs typeface="Arial"/>
                <a:sym typeface="Arial"/>
              </a:rPr>
              <a:t>ICANN</a:t>
            </a:r>
            <a:r>
              <a:rPr lang="en-US" sz="2200" dirty="0">
                <a:solidFill>
                  <a:schemeClr val="dk1"/>
                </a:solidFill>
                <a:latin typeface="Arial"/>
                <a:ea typeface="Arial"/>
                <a:cs typeface="Arial"/>
                <a:sym typeface="Arial"/>
              </a:rPr>
              <a:t>: Internet Corporation for Assigned Names and Numbers                     (</a:t>
            </a:r>
            <a:r>
              <a:rPr lang="en-US" sz="2200" dirty="0">
                <a:solidFill>
                  <a:srgbClr val="3366FF"/>
                </a:solidFill>
                <a:latin typeface="Courier New"/>
                <a:ea typeface="Courier New"/>
                <a:cs typeface="Courier New"/>
                <a:sym typeface="Courier New"/>
              </a:rPr>
              <a:t>http://www.icann.org/</a:t>
            </a:r>
            <a:r>
              <a:rPr lang="en-US" sz="2200" dirty="0">
                <a:solidFill>
                  <a:schemeClr val="dk1"/>
                </a:solidFill>
                <a:latin typeface="Arial"/>
                <a:ea typeface="Arial"/>
                <a:cs typeface="Arial"/>
                <a:sym typeface="Arial"/>
              </a:rPr>
              <a:t>)</a:t>
            </a:r>
            <a:endParaRPr dirty="0"/>
          </a:p>
          <a:p>
            <a:pPr marL="804863" marR="0" lvl="1" indent="-347663" algn="l" rtl="0">
              <a:spcBef>
                <a:spcPts val="0"/>
              </a:spcBef>
              <a:spcAft>
                <a:spcPts val="0"/>
              </a:spcAft>
              <a:buClr>
                <a:schemeClr val="dk1"/>
              </a:buClr>
              <a:buSzPts val="2200"/>
              <a:buFont typeface="Noto Sans Symbols"/>
              <a:buChar char="▪"/>
            </a:pPr>
            <a:r>
              <a:rPr lang="en-US" sz="2200" b="0" i="0" u="none" strike="noStrike" cap="none" dirty="0">
                <a:solidFill>
                  <a:schemeClr val="dk1"/>
                </a:solidFill>
                <a:latin typeface="Arial"/>
                <a:ea typeface="Arial"/>
                <a:cs typeface="Arial"/>
                <a:sym typeface="Arial"/>
              </a:rPr>
              <a:t>allocates addresses</a:t>
            </a:r>
            <a:endParaRPr dirty="0"/>
          </a:p>
          <a:p>
            <a:pPr marL="804863" marR="0" lvl="1" indent="-347663" algn="l" rtl="0">
              <a:spcBef>
                <a:spcPts val="0"/>
              </a:spcBef>
              <a:spcAft>
                <a:spcPts val="0"/>
              </a:spcAft>
              <a:buClr>
                <a:schemeClr val="dk1"/>
              </a:buClr>
              <a:buSzPts val="2200"/>
              <a:buFont typeface="Noto Sans Symbols"/>
              <a:buChar char="▪"/>
            </a:pPr>
            <a:r>
              <a:rPr lang="en-US" sz="2200" b="0" i="0" u="none" strike="noStrike" cap="none" dirty="0">
                <a:solidFill>
                  <a:schemeClr val="dk1"/>
                </a:solidFill>
                <a:latin typeface="Arial"/>
                <a:ea typeface="Arial"/>
                <a:cs typeface="Arial"/>
                <a:sym typeface="Arial"/>
              </a:rPr>
              <a:t>manages DNS</a:t>
            </a:r>
            <a:endParaRPr dirty="0"/>
          </a:p>
          <a:p>
            <a:pPr marL="804863" marR="0" lvl="1" indent="-347663" algn="l" rtl="0">
              <a:spcBef>
                <a:spcPts val="0"/>
              </a:spcBef>
              <a:spcAft>
                <a:spcPts val="0"/>
              </a:spcAft>
              <a:buClr>
                <a:schemeClr val="dk1"/>
              </a:buClr>
              <a:buSzPts val="2200"/>
              <a:buFont typeface="Noto Sans Symbols"/>
              <a:buChar char="▪"/>
            </a:pPr>
            <a:r>
              <a:rPr lang="en-US" sz="2200" b="0" i="0" u="none" strike="noStrike" cap="none" dirty="0">
                <a:solidFill>
                  <a:schemeClr val="dk1"/>
                </a:solidFill>
                <a:latin typeface="Arial"/>
                <a:ea typeface="Arial"/>
                <a:cs typeface="Arial"/>
                <a:sym typeface="Arial"/>
              </a:rPr>
              <a:t>assigns domain names,               resolves disputes</a:t>
            </a:r>
            <a:endParaRPr dirty="0"/>
          </a:p>
          <a:p>
            <a:pPr marL="347663" marR="0" lvl="0" indent="-220663" algn="l" rtl="0">
              <a:spcBef>
                <a:spcPts val="0"/>
              </a:spcBef>
              <a:spcAft>
                <a:spcPts val="0"/>
              </a:spcAft>
              <a:buClr>
                <a:schemeClr val="dk1"/>
              </a:buClr>
              <a:buSzPts val="2000"/>
              <a:buFont typeface="Noto Sans Symbols"/>
              <a:buNone/>
            </a:pPr>
            <a:endParaRPr sz="2000" dirty="0">
              <a:solidFill>
                <a:schemeClr val="dk1"/>
              </a:solidFill>
              <a:latin typeface="Arial"/>
              <a:ea typeface="Arial"/>
              <a:cs typeface="Arial"/>
              <a:sym typeface="Arial"/>
            </a:endParaRPr>
          </a:p>
          <a:p>
            <a:pPr marL="347663" marR="0" lvl="0" indent="-347663" algn="l" rtl="0">
              <a:spcBef>
                <a:spcPts val="0"/>
              </a:spcBef>
              <a:spcAft>
                <a:spcPts val="0"/>
              </a:spcAft>
              <a:buClr>
                <a:schemeClr val="dk1"/>
              </a:buClr>
              <a:buSzPts val="2000"/>
              <a:buFont typeface="Noto Sans Symbols"/>
              <a:buChar char="▪"/>
            </a:pPr>
            <a:r>
              <a:rPr lang="en-US" sz="2000" dirty="0">
                <a:solidFill>
                  <a:schemeClr val="dk1"/>
                </a:solidFill>
                <a:latin typeface="Arial"/>
                <a:ea typeface="Arial"/>
                <a:cs typeface="Arial"/>
                <a:sym typeface="Arial"/>
              </a:rPr>
              <a:t>ICANN allocates addresses to 5 regional Internet registries (RRs)</a:t>
            </a:r>
            <a:endParaRPr dirty="0"/>
          </a:p>
          <a:p>
            <a:pPr marL="804863" marR="0" lvl="1" indent="-347663" algn="l"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Arial"/>
                <a:ea typeface="Arial"/>
                <a:cs typeface="Arial"/>
                <a:sym typeface="Arial"/>
              </a:rPr>
              <a:t>like ARIN, RIPE, APNIC, and LACNIC</a:t>
            </a:r>
            <a:endParaRPr dirty="0"/>
          </a:p>
          <a:p>
            <a:pPr marL="804863" marR="0" lvl="1" indent="-347663" algn="l" rtl="0">
              <a:spcBef>
                <a:spcPts val="0"/>
              </a:spcBef>
              <a:spcAft>
                <a:spcPts val="0"/>
              </a:spcAft>
              <a:buClr>
                <a:schemeClr val="dk1"/>
              </a:buClr>
              <a:buSzPts val="2000"/>
              <a:buFont typeface="Noto Sans Symbols"/>
              <a:buChar char="▪"/>
            </a:pPr>
            <a:r>
              <a:rPr lang="en-US" sz="2000" b="0" i="0" u="none" strike="noStrike" cap="none" dirty="0">
                <a:solidFill>
                  <a:schemeClr val="dk1"/>
                </a:solidFill>
                <a:latin typeface="Arial"/>
                <a:ea typeface="Arial"/>
                <a:cs typeface="Arial"/>
                <a:sym typeface="Arial"/>
              </a:rPr>
              <a:t>…which handle the allocation/management of addresses within their regions.</a:t>
            </a:r>
            <a:endParaRPr sz="2200" b="0" i="0" u="none" strike="noStrike" cap="none" dirty="0">
              <a:solidFill>
                <a:schemeClr val="dk1"/>
              </a:solidFill>
              <a:latin typeface="Arial"/>
              <a:ea typeface="Arial"/>
              <a:cs typeface="Arial"/>
              <a:sym typeface="Arial"/>
            </a:endParaRPr>
          </a:p>
        </p:txBody>
      </p:sp>
      <p:pic>
        <p:nvPicPr>
          <p:cNvPr id="953" name="Google Shape;953;p45"/>
          <p:cNvPicPr preferRelativeResize="0"/>
          <p:nvPr/>
        </p:nvPicPr>
        <p:blipFill rotWithShape="1">
          <a:blip r:embed="rId5">
            <a:alphaModFix/>
          </a:blip>
          <a:srcRect/>
          <a:stretch/>
        </p:blipFill>
        <p:spPr>
          <a:xfrm>
            <a:off x="7303910" y="992695"/>
            <a:ext cx="1616167" cy="1616167"/>
          </a:xfrm>
          <a:prstGeom prst="rect">
            <a:avLst/>
          </a:prstGeom>
          <a:noFill/>
          <a:ln>
            <a:noFill/>
          </a:ln>
        </p:spPr>
      </p:pic>
      <p:pic>
        <p:nvPicPr>
          <p:cNvPr id="954" name="Google Shape;954;p45"/>
          <p:cNvPicPr preferRelativeResize="0"/>
          <p:nvPr/>
        </p:nvPicPr>
        <p:blipFill rotWithShape="1">
          <a:blip r:embed="rId6">
            <a:alphaModFix/>
          </a:blip>
          <a:srcRect/>
          <a:stretch/>
        </p:blipFill>
        <p:spPr>
          <a:xfrm>
            <a:off x="7112000" y="3043767"/>
            <a:ext cx="2032000" cy="1352203"/>
          </a:xfrm>
          <a:prstGeom prst="rect">
            <a:avLst/>
          </a:prstGeom>
          <a:noFill/>
          <a:ln>
            <a:noFill/>
          </a:ln>
        </p:spPr>
      </p:pic>
      <p:sp>
        <p:nvSpPr>
          <p:cNvPr id="10"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99</a:t>
            </a:fld>
            <a:endParaRPr lang="en-US" altLang="en-US" dirty="0">
              <a:latin typeface="Tahoma" panose="020B0604030504040204" pitchFamily="34" charset="0"/>
            </a:endParaRPr>
          </a:p>
        </p:txBody>
      </p:sp>
    </p:spTree>
    <p:extLst>
      <p:ext uri="{BB962C8B-B14F-4D97-AF65-F5344CB8AC3E}">
        <p14:creationId xmlns:p14="http://schemas.microsoft.com/office/powerpoint/2010/main" val="76409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5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5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5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5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grpSp>
        <p:nvGrpSpPr>
          <p:cNvPr id="836" name="Google Shape;836;p42"/>
          <p:cNvGrpSpPr/>
          <p:nvPr/>
        </p:nvGrpSpPr>
        <p:grpSpPr>
          <a:xfrm>
            <a:off x="0" y="0"/>
            <a:ext cx="9143999" cy="926011"/>
            <a:chOff x="0" y="0"/>
            <a:chExt cx="9143999" cy="926011"/>
          </a:xfrm>
        </p:grpSpPr>
        <p:pic>
          <p:nvPicPr>
            <p:cNvPr id="837" name="Google Shape;837;p42"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838" name="Google Shape;838;p42"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839" name="Google Shape;839;p42"/>
          <p:cNvSpPr txBox="1"/>
          <p:nvPr/>
        </p:nvSpPr>
        <p:spPr>
          <a:xfrm>
            <a:off x="4497718" y="140786"/>
            <a:ext cx="4646282" cy="6279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a:solidFill>
                  <a:schemeClr val="lt1"/>
                </a:solidFill>
                <a:latin typeface="Arial"/>
                <a:ea typeface="Arial"/>
                <a:cs typeface="Arial"/>
                <a:sym typeface="Arial"/>
              </a:rPr>
              <a:t>Obtaining a host addresses</a:t>
            </a:r>
            <a:endParaRPr/>
          </a:p>
        </p:txBody>
      </p:sp>
      <p:grpSp>
        <p:nvGrpSpPr>
          <p:cNvPr id="840" name="Google Shape;840;p42"/>
          <p:cNvGrpSpPr/>
          <p:nvPr/>
        </p:nvGrpSpPr>
        <p:grpSpPr>
          <a:xfrm>
            <a:off x="466064" y="1330005"/>
            <a:ext cx="8079626" cy="848543"/>
            <a:chOff x="499931" y="1567072"/>
            <a:chExt cx="8079626" cy="848543"/>
          </a:xfrm>
        </p:grpSpPr>
        <p:sp>
          <p:nvSpPr>
            <p:cNvPr id="841" name="Google Shape;841;p42"/>
            <p:cNvSpPr/>
            <p:nvPr/>
          </p:nvSpPr>
          <p:spPr>
            <a:xfrm>
              <a:off x="499931" y="1567072"/>
              <a:ext cx="8079626" cy="848543"/>
            </a:xfrm>
            <a:prstGeom prst="rect">
              <a:avLst/>
            </a:prstGeom>
            <a:no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42" name="Google Shape;842;p42"/>
            <p:cNvSpPr/>
            <p:nvPr/>
          </p:nvSpPr>
          <p:spPr>
            <a:xfrm>
              <a:off x="592950" y="1646214"/>
              <a:ext cx="7950200"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C0000"/>
                </a:buClr>
                <a:buSzPts val="2200"/>
                <a:buFont typeface="Noto Sans Symbols"/>
                <a:buNone/>
              </a:pPr>
              <a:r>
                <a:rPr lang="en-US" sz="2200" i="1" dirty="0">
                  <a:solidFill>
                    <a:srgbClr val="CC0000"/>
                  </a:solidFill>
                  <a:latin typeface="Arial"/>
                  <a:ea typeface="Arial"/>
                  <a:cs typeface="Arial"/>
                  <a:sym typeface="Arial"/>
                </a:rPr>
                <a:t>Q: How does a host get IP address within its network (host part of address)?</a:t>
              </a:r>
              <a:endParaRPr dirty="0"/>
            </a:p>
          </p:txBody>
        </p:sp>
      </p:grpSp>
      <p:sp>
        <p:nvSpPr>
          <p:cNvPr id="843" name="Google Shape;843;p42"/>
          <p:cNvSpPr txBox="1"/>
          <p:nvPr/>
        </p:nvSpPr>
        <p:spPr>
          <a:xfrm>
            <a:off x="652953" y="2363243"/>
            <a:ext cx="7892737" cy="184751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99"/>
              </a:buClr>
              <a:buSzPts val="1430"/>
              <a:buFont typeface="Noto Sans Symbols"/>
              <a:buNone/>
            </a:pPr>
            <a:r>
              <a:rPr lang="en-US" sz="2000" dirty="0">
                <a:solidFill>
                  <a:srgbClr val="FF0000"/>
                </a:solidFill>
                <a:latin typeface="Arial"/>
                <a:ea typeface="Arial"/>
                <a:cs typeface="Arial"/>
                <a:sym typeface="Arial"/>
              </a:rPr>
              <a:t>A:</a:t>
            </a:r>
            <a:r>
              <a:rPr lang="en-US" sz="2000" dirty="0">
                <a:sym typeface="Arial"/>
              </a:rPr>
              <a:t> </a:t>
            </a:r>
            <a:r>
              <a:rPr lang="en-US" sz="2000" b="0" i="0" u="none" strike="noStrike" cap="none" dirty="0">
                <a:solidFill>
                  <a:schemeClr val="dk1"/>
                </a:solidFill>
                <a:latin typeface="Arial"/>
                <a:ea typeface="Arial"/>
                <a:cs typeface="Arial"/>
                <a:sym typeface="Arial"/>
              </a:rPr>
              <a:t>local </a:t>
            </a:r>
            <a:r>
              <a:rPr lang="en-US" sz="2000" b="1" i="0" u="none" strike="noStrike" cap="none" dirty="0">
                <a:solidFill>
                  <a:schemeClr val="dk1"/>
                </a:solidFill>
                <a:latin typeface="Arial"/>
                <a:ea typeface="Arial"/>
                <a:cs typeface="Arial"/>
                <a:sym typeface="Arial"/>
              </a:rPr>
              <a:t>ISP</a:t>
            </a:r>
            <a:r>
              <a:rPr lang="en-US" sz="2000" b="0" i="0" u="none" strike="noStrike" cap="none" dirty="0">
                <a:solidFill>
                  <a:schemeClr val="dk1"/>
                </a:solidFill>
                <a:latin typeface="Arial"/>
                <a:ea typeface="Arial"/>
                <a:cs typeface="Arial"/>
                <a:sym typeface="Arial"/>
              </a:rPr>
              <a:t> (e.g. Telekom, Celcom, </a:t>
            </a:r>
            <a:r>
              <a:rPr lang="en-US" sz="2000" b="0" i="0" u="none" strike="noStrike" cap="none" dirty="0" err="1">
                <a:solidFill>
                  <a:schemeClr val="dk1"/>
                </a:solidFill>
                <a:latin typeface="Arial"/>
                <a:ea typeface="Arial"/>
                <a:cs typeface="Arial"/>
                <a:sym typeface="Arial"/>
              </a:rPr>
              <a:t>DiGi</a:t>
            </a:r>
            <a:r>
              <a:rPr lang="en-US" sz="2000" b="0" i="0" u="none" strike="noStrike" cap="none" dirty="0">
                <a:solidFill>
                  <a:schemeClr val="dk1"/>
                </a:solidFill>
                <a:latin typeface="Arial"/>
                <a:ea typeface="Arial"/>
                <a:cs typeface="Arial"/>
                <a:sym typeface="Arial"/>
              </a:rPr>
              <a:t>, Maxis)</a:t>
            </a:r>
            <a:r>
              <a:rPr lang="en-US" sz="2000" dirty="0">
                <a:sym typeface="Arial"/>
              </a:rPr>
              <a:t> &amp; </a:t>
            </a:r>
            <a:r>
              <a:rPr lang="en-US" sz="2000" b="0" i="0" u="none" strike="noStrike" cap="none" dirty="0">
                <a:solidFill>
                  <a:schemeClr val="dk1"/>
                </a:solidFill>
                <a:latin typeface="Arial"/>
                <a:ea typeface="Arial"/>
                <a:cs typeface="Arial"/>
                <a:sym typeface="Arial"/>
              </a:rPr>
              <a:t>local organization like UTM:</a:t>
            </a:r>
          </a:p>
          <a:p>
            <a:pPr marL="0" marR="0" lvl="0" indent="0" algn="l" rtl="0">
              <a:lnSpc>
                <a:spcPct val="100000"/>
              </a:lnSpc>
              <a:spcBef>
                <a:spcPts val="0"/>
              </a:spcBef>
              <a:spcAft>
                <a:spcPts val="0"/>
              </a:spcAft>
              <a:buClr>
                <a:srgbClr val="000099"/>
              </a:buClr>
              <a:buSzPts val="1430"/>
              <a:buFont typeface="Noto Sans Symbols"/>
              <a:buNone/>
            </a:pPr>
            <a:endParaRPr lang="en-US" altLang="en-US" sz="2000" dirty="0">
              <a:solidFill>
                <a:schemeClr val="dk1"/>
              </a:solidFill>
              <a:latin typeface="Arial"/>
              <a:cs typeface="Arial"/>
              <a:sym typeface="Arial"/>
            </a:endParaRPr>
          </a:p>
          <a:p>
            <a:pPr marL="0" marR="0" lvl="0" indent="0" algn="l" rtl="0">
              <a:lnSpc>
                <a:spcPct val="100000"/>
              </a:lnSpc>
              <a:spcBef>
                <a:spcPts val="0"/>
              </a:spcBef>
              <a:spcAft>
                <a:spcPts val="0"/>
              </a:spcAft>
              <a:buClr>
                <a:srgbClr val="000099"/>
              </a:buClr>
              <a:buSzPts val="1430"/>
              <a:buFont typeface="Noto Sans Symbols"/>
              <a:buNone/>
            </a:pPr>
            <a:r>
              <a:rPr lang="en-US" altLang="en-US" sz="2000" dirty="0">
                <a:solidFill>
                  <a:srgbClr val="CC0000"/>
                </a:solidFill>
                <a:latin typeface="Calibri" panose="020F0502020204030204"/>
                <a:cs typeface="ＭＳ Ｐゴシック" panose="020B0600070205080204" pitchFamily="34" charset="-128"/>
              </a:rPr>
              <a:t>DHCP:</a:t>
            </a:r>
            <a:r>
              <a:rPr lang="en-US" altLang="en-US" sz="2000" dirty="0">
                <a:solidFill>
                  <a:prstClr val="black"/>
                </a:solidFill>
                <a:latin typeface="Calibri" panose="020F0502020204030204"/>
                <a:cs typeface="ＭＳ Ｐゴシック" panose="020B0600070205080204" pitchFamily="34" charset="-128"/>
              </a:rPr>
              <a:t> </a:t>
            </a:r>
            <a:r>
              <a:rPr lang="en-US" altLang="en-US" sz="2000" dirty="0">
                <a:solidFill>
                  <a:srgbClr val="CC0000"/>
                </a:solidFill>
                <a:latin typeface="Calibri" panose="020F0502020204030204"/>
                <a:cs typeface="ＭＳ Ｐゴシック" panose="020B0600070205080204" pitchFamily="34" charset="-128"/>
              </a:rPr>
              <a:t>D</a:t>
            </a:r>
            <a:r>
              <a:rPr lang="en-US" altLang="en-US" sz="2000" dirty="0">
                <a:solidFill>
                  <a:prstClr val="black"/>
                </a:solidFill>
                <a:latin typeface="Calibri" panose="020F0502020204030204"/>
                <a:cs typeface="ＭＳ Ｐゴシック" panose="020B0600070205080204" pitchFamily="34" charset="-128"/>
              </a:rPr>
              <a:t>ynamic </a:t>
            </a:r>
            <a:r>
              <a:rPr lang="en-US" altLang="en-US" sz="2000" dirty="0">
                <a:solidFill>
                  <a:srgbClr val="CC0000"/>
                </a:solidFill>
                <a:latin typeface="Calibri" panose="020F0502020204030204"/>
                <a:cs typeface="ＭＳ Ｐゴシック" panose="020B0600070205080204" pitchFamily="34" charset="-128"/>
              </a:rPr>
              <a:t>H</a:t>
            </a:r>
            <a:r>
              <a:rPr lang="en-US" altLang="en-US" sz="2000" dirty="0">
                <a:solidFill>
                  <a:prstClr val="black"/>
                </a:solidFill>
                <a:latin typeface="Calibri" panose="020F0502020204030204"/>
                <a:cs typeface="ＭＳ Ｐゴシック" panose="020B0600070205080204" pitchFamily="34" charset="-128"/>
              </a:rPr>
              <a:t>ost </a:t>
            </a:r>
            <a:r>
              <a:rPr lang="en-US" altLang="en-US" sz="2000" dirty="0">
                <a:solidFill>
                  <a:srgbClr val="CC0000"/>
                </a:solidFill>
                <a:latin typeface="Calibri" panose="020F0502020204030204"/>
                <a:cs typeface="ＭＳ Ｐゴシック" panose="020B0600070205080204" pitchFamily="34" charset="-128"/>
              </a:rPr>
              <a:t>C</a:t>
            </a:r>
            <a:r>
              <a:rPr lang="en-US" altLang="en-US" sz="2000" dirty="0">
                <a:solidFill>
                  <a:prstClr val="black"/>
                </a:solidFill>
                <a:latin typeface="Calibri" panose="020F0502020204030204"/>
                <a:cs typeface="ＭＳ Ｐゴシック" panose="020B0600070205080204" pitchFamily="34" charset="-128"/>
              </a:rPr>
              <a:t>onfiguration </a:t>
            </a:r>
            <a:r>
              <a:rPr lang="en-US" altLang="en-US" sz="2000" dirty="0">
                <a:solidFill>
                  <a:srgbClr val="CC0000"/>
                </a:solidFill>
                <a:latin typeface="Calibri" panose="020F0502020204030204"/>
                <a:cs typeface="ＭＳ Ｐゴシック" panose="020B0600070205080204" pitchFamily="34" charset="-128"/>
              </a:rPr>
              <a:t>P</a:t>
            </a:r>
            <a:r>
              <a:rPr lang="en-US" altLang="en-US" sz="2000" dirty="0">
                <a:solidFill>
                  <a:prstClr val="black"/>
                </a:solidFill>
                <a:latin typeface="Calibri" panose="020F0502020204030204"/>
                <a:cs typeface="ＭＳ Ｐゴシック" panose="020B0600070205080204" pitchFamily="34" charset="-128"/>
              </a:rPr>
              <a:t>rotocol: dynamically get address from server. </a:t>
            </a:r>
            <a:r>
              <a:rPr lang="en-US" altLang="ja-JP" sz="2000" dirty="0">
                <a:solidFill>
                  <a:prstClr val="black"/>
                </a:solidFill>
                <a:latin typeface="Calibri" panose="020F0502020204030204"/>
              </a:rPr>
              <a:t>“plug-and-play” concept</a:t>
            </a:r>
          </a:p>
          <a:p>
            <a:pPr marL="0" marR="0" lvl="0" indent="0" algn="l" rtl="0">
              <a:lnSpc>
                <a:spcPct val="100000"/>
              </a:lnSpc>
              <a:spcBef>
                <a:spcPts val="0"/>
              </a:spcBef>
              <a:spcAft>
                <a:spcPts val="0"/>
              </a:spcAft>
              <a:buClr>
                <a:srgbClr val="000099"/>
              </a:buClr>
              <a:buSzPts val="1430"/>
              <a:buFont typeface="Noto Sans Symbols"/>
              <a:buNone/>
            </a:pPr>
            <a:endParaRPr lang="en-US" altLang="ja-JP" sz="2000" dirty="0">
              <a:solidFill>
                <a:prstClr val="black"/>
              </a:solidFill>
              <a:latin typeface="Calibri" panose="020F0502020204030204"/>
            </a:endParaRPr>
          </a:p>
          <a:p>
            <a:pPr marL="0" marR="0" lvl="0" indent="0" algn="l" rtl="0">
              <a:lnSpc>
                <a:spcPct val="100000"/>
              </a:lnSpc>
              <a:spcBef>
                <a:spcPts val="0"/>
              </a:spcBef>
              <a:spcAft>
                <a:spcPts val="0"/>
              </a:spcAft>
              <a:buClr>
                <a:srgbClr val="000099"/>
              </a:buClr>
              <a:buSzPts val="1430"/>
              <a:buFont typeface="Noto Sans Symbols"/>
              <a:buNone/>
            </a:pPr>
            <a:r>
              <a:rPr lang="en-US" altLang="ja-JP" sz="2000" dirty="0">
                <a:solidFill>
                  <a:prstClr val="black"/>
                </a:solidFill>
                <a:latin typeface="Calibri" panose="020F0502020204030204"/>
              </a:rPr>
              <a:t>OR</a:t>
            </a:r>
          </a:p>
          <a:p>
            <a:pPr marL="0" marR="0" lvl="0" indent="0" algn="l" rtl="0">
              <a:lnSpc>
                <a:spcPct val="100000"/>
              </a:lnSpc>
              <a:spcBef>
                <a:spcPts val="0"/>
              </a:spcBef>
              <a:spcAft>
                <a:spcPts val="0"/>
              </a:spcAft>
              <a:buClr>
                <a:srgbClr val="000099"/>
              </a:buClr>
              <a:buSzPts val="1430"/>
              <a:buFont typeface="Noto Sans Symbols"/>
              <a:buNone/>
            </a:pPr>
            <a:endParaRPr lang="en-US" altLang="en-US" sz="2000" dirty="0">
              <a:solidFill>
                <a:prstClr val="black"/>
              </a:solidFill>
              <a:latin typeface="Calibri" panose="020F0502020204030204"/>
              <a:cs typeface="ＭＳ Ｐゴシック" panose="020B0600070205080204" pitchFamily="34" charset="-128"/>
            </a:endParaRPr>
          </a:p>
          <a:p>
            <a:pPr marL="0" marR="0" lvl="0" indent="0" algn="l" rtl="0">
              <a:lnSpc>
                <a:spcPct val="100000"/>
              </a:lnSpc>
              <a:spcBef>
                <a:spcPts val="0"/>
              </a:spcBef>
              <a:spcAft>
                <a:spcPts val="0"/>
              </a:spcAft>
              <a:buClr>
                <a:srgbClr val="000099"/>
              </a:buClr>
              <a:buSzPts val="1430"/>
              <a:buFont typeface="Noto Sans Symbols"/>
              <a:buNone/>
            </a:pPr>
            <a:r>
              <a:rPr lang="en-US" altLang="en-US" sz="2000" dirty="0">
                <a:solidFill>
                  <a:prstClr val="black"/>
                </a:solidFill>
                <a:latin typeface="Calibri" panose="020F0502020204030204"/>
                <a:cs typeface="ＭＳ Ｐゴシック" panose="020B0600070205080204" pitchFamily="34" charset="-128"/>
              </a:rPr>
              <a:t>hard-coded by sysadmin in config file (e.g., </a:t>
            </a:r>
            <a:r>
              <a:rPr lang="en-US" altLang="en-US" sz="2000" dirty="0">
                <a:solidFill>
                  <a:prstClr val="black"/>
                </a:solidFill>
                <a:latin typeface="Calibri" panose="020F0502020204030204"/>
              </a:rPr>
              <a:t>/</a:t>
            </a:r>
            <a:r>
              <a:rPr lang="en-US" altLang="en-US" sz="2000" dirty="0" err="1">
                <a:solidFill>
                  <a:prstClr val="black"/>
                </a:solidFill>
                <a:latin typeface="Calibri" panose="020F0502020204030204"/>
              </a:rPr>
              <a:t>etc</a:t>
            </a:r>
            <a:r>
              <a:rPr lang="en-US" altLang="en-US" sz="2000" dirty="0">
                <a:solidFill>
                  <a:prstClr val="black"/>
                </a:solidFill>
                <a:latin typeface="Calibri" panose="020F0502020204030204"/>
              </a:rPr>
              <a:t>/</a:t>
            </a:r>
            <a:r>
              <a:rPr lang="en-US" altLang="en-US" sz="2000" dirty="0" err="1">
                <a:solidFill>
                  <a:prstClr val="black"/>
                </a:solidFill>
                <a:latin typeface="Calibri" panose="020F0502020204030204"/>
              </a:rPr>
              <a:t>rc.config</a:t>
            </a:r>
            <a:r>
              <a:rPr lang="en-US" altLang="en-US" sz="2000" dirty="0">
                <a:solidFill>
                  <a:prstClr val="black"/>
                </a:solidFill>
                <a:latin typeface="Calibri" panose="020F0502020204030204"/>
              </a:rPr>
              <a:t> in UNIX)</a:t>
            </a:r>
            <a:endParaRPr lang="en-US" altLang="en-US" sz="2000" dirty="0">
              <a:solidFill>
                <a:prstClr val="black"/>
              </a:solidFill>
              <a:latin typeface="Calibri" panose="020F0502020204030204"/>
              <a:cs typeface="ＭＳ Ｐゴシック" panose="020B0600070205080204" pitchFamily="34" charset="-128"/>
            </a:endParaRPr>
          </a:p>
          <a:p>
            <a:pPr lvl="2" eaLnBrk="1" fontAlgn="auto" hangingPunct="1">
              <a:spcBef>
                <a:spcPts val="0"/>
              </a:spcBef>
              <a:spcAft>
                <a:spcPts val="0"/>
              </a:spcAft>
              <a:defRPr/>
            </a:pPr>
            <a:endParaRPr lang="en-US" altLang="ja-JP" dirty="0">
              <a:solidFill>
                <a:prstClr val="black"/>
              </a:solidFill>
              <a:latin typeface="Calibri" panose="020F0502020204030204"/>
            </a:endParaRPr>
          </a:p>
          <a:p>
            <a:pPr marL="1200150" lvl="2" indent="-285750">
              <a:spcBef>
                <a:spcPts val="440"/>
              </a:spcBef>
              <a:spcAft>
                <a:spcPts val="0"/>
              </a:spcAft>
              <a:buClr>
                <a:srgbClr val="000099"/>
              </a:buClr>
              <a:buSzPts val="2200"/>
              <a:buFont typeface="Noto Sans Symbols"/>
              <a:buChar char="▪"/>
            </a:pPr>
            <a:endParaRPr sz="2200" dirty="0">
              <a:solidFill>
                <a:schemeClr val="dk1"/>
              </a:solidFill>
              <a:latin typeface="Arial"/>
              <a:ea typeface="Arial"/>
              <a:cs typeface="Arial"/>
              <a:sym typeface="Arial"/>
            </a:endParaRPr>
          </a:p>
        </p:txBody>
      </p:sp>
      <p:sp>
        <p:nvSpPr>
          <p:cNvPr id="844" name="Google Shape;844;p42"/>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100</a:t>
            </a:fld>
            <a:endParaRPr sz="1200">
              <a:solidFill>
                <a:schemeClr val="dk1"/>
              </a:solidFill>
              <a:latin typeface="Tahoma"/>
              <a:ea typeface="Tahoma"/>
              <a:cs typeface="Tahoma"/>
              <a:sym typeface="Tahoma"/>
            </a:endParaRPr>
          </a:p>
        </p:txBody>
      </p:sp>
    </p:spTree>
    <p:extLst>
      <p:ext uri="{BB962C8B-B14F-4D97-AF65-F5344CB8AC3E}">
        <p14:creationId xmlns:p14="http://schemas.microsoft.com/office/powerpoint/2010/main" val="164328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0"/>
                                        </p:tgtEl>
                                        <p:attrNameLst>
                                          <p:attrName>style.visibility</p:attrName>
                                        </p:attrNameLst>
                                      </p:cBhvr>
                                      <p:to>
                                        <p:strVal val="visible"/>
                                      </p:to>
                                    </p:set>
                                    <p:anim calcmode="lin" valueType="num">
                                      <p:cBhvr additive="base">
                                        <p:cTn id="7" dur="500"/>
                                        <p:tgtEl>
                                          <p:spTgt spid="84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3"/>
                                        </p:tgtEl>
                                        <p:attrNameLst>
                                          <p:attrName>style.visibility</p:attrName>
                                        </p:attrNameLst>
                                      </p:cBhvr>
                                      <p:to>
                                        <p:strVal val="visible"/>
                                      </p:to>
                                    </p:set>
                                    <p:animEffect transition="in" filter="fade">
                                      <p:cBhvr>
                                        <p:cTn id="12" dur="500"/>
                                        <p:tgtEl>
                                          <p:spTgt spid="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60" name="Google Shape;960;p46"/>
          <p:cNvSpPr txBox="1">
            <a:spLocks noGrp="1"/>
          </p:cNvSpPr>
          <p:nvPr>
            <p:ph type="body" idx="1"/>
          </p:nvPr>
        </p:nvSpPr>
        <p:spPr>
          <a:xfrm>
            <a:off x="543911" y="1337440"/>
            <a:ext cx="7772400" cy="4954177"/>
          </a:xfrm>
          <a:prstGeom prst="rect">
            <a:avLst/>
          </a:prstGeom>
          <a:noFill/>
          <a:ln>
            <a:noFill/>
          </a:ln>
        </p:spPr>
        <p:txBody>
          <a:bodyPr spcFirstLastPara="1" wrap="square" lIns="91425" tIns="45700" rIns="91425" bIns="45700" anchor="t" anchorCtr="0">
            <a:normAutofit/>
          </a:bodyPr>
          <a:lstStyle/>
          <a:p>
            <a:pPr marL="342900" lvl="0" indent="-342900" algn="l" rtl="0">
              <a:lnSpc>
                <a:spcPct val="85000"/>
              </a:lnSpc>
              <a:spcBef>
                <a:spcPts val="0"/>
              </a:spcBef>
              <a:spcAft>
                <a:spcPts val="0"/>
              </a:spcAft>
              <a:buSzPts val="1560"/>
              <a:buChar char="❖"/>
            </a:pPr>
            <a:r>
              <a:rPr lang="en-US" sz="2400" dirty="0"/>
              <a:t>In an organization, IP address can be assigned to host</a:t>
            </a:r>
            <a:endParaRPr dirty="0"/>
          </a:p>
          <a:p>
            <a:pPr marL="742950" lvl="1" indent="-285750" algn="l" rtl="0">
              <a:lnSpc>
                <a:spcPct val="85000"/>
              </a:lnSpc>
              <a:spcBef>
                <a:spcPts val="1080"/>
              </a:spcBef>
              <a:spcAft>
                <a:spcPts val="0"/>
              </a:spcAft>
              <a:buSzPts val="2400"/>
              <a:buChar char="▪"/>
            </a:pPr>
            <a:r>
              <a:rPr lang="en-US" sz="2400" dirty="0">
                <a:solidFill>
                  <a:srgbClr val="FF0000"/>
                </a:solidFill>
              </a:rPr>
              <a:t>Statically</a:t>
            </a:r>
            <a:r>
              <a:rPr lang="en-US" dirty="0"/>
              <a:t> – User manually configure IP address at host (normally done by ‘network admin’)</a:t>
            </a:r>
            <a:endParaRPr dirty="0"/>
          </a:p>
          <a:p>
            <a:pPr marL="742950" lvl="1" indent="-285750" algn="l" rtl="0">
              <a:lnSpc>
                <a:spcPct val="85000"/>
              </a:lnSpc>
              <a:spcBef>
                <a:spcPts val="1080"/>
              </a:spcBef>
              <a:spcAft>
                <a:spcPts val="0"/>
              </a:spcAft>
              <a:buSzPts val="2400"/>
              <a:buChar char="▪"/>
            </a:pPr>
            <a:r>
              <a:rPr lang="en-US" sz="2400" dirty="0">
                <a:solidFill>
                  <a:srgbClr val="FF0000"/>
                </a:solidFill>
              </a:rPr>
              <a:t>Dynamically</a:t>
            </a:r>
            <a:r>
              <a:rPr lang="en-US" sz="2400" dirty="0"/>
              <a:t> - done using </a:t>
            </a:r>
            <a:r>
              <a:rPr lang="en-US" sz="2400" b="1" dirty="0">
                <a:solidFill>
                  <a:srgbClr val="FF0000"/>
                </a:solidFill>
              </a:rPr>
              <a:t>DHCP</a:t>
            </a:r>
            <a:r>
              <a:rPr lang="en-US" sz="2400" dirty="0"/>
              <a:t> </a:t>
            </a:r>
            <a:endParaRPr dirty="0"/>
          </a:p>
          <a:p>
            <a:pPr marL="742950" lvl="1" indent="-133350" algn="l" rtl="0">
              <a:lnSpc>
                <a:spcPct val="85000"/>
              </a:lnSpc>
              <a:spcBef>
                <a:spcPts val="1080"/>
              </a:spcBef>
              <a:spcAft>
                <a:spcPts val="0"/>
              </a:spcAft>
              <a:buSzPts val="2400"/>
              <a:buNone/>
            </a:pPr>
            <a:endParaRPr sz="2400" dirty="0"/>
          </a:p>
          <a:p>
            <a:pPr marL="342900" lvl="0" indent="-342900" algn="l" rtl="0">
              <a:lnSpc>
                <a:spcPct val="85000"/>
              </a:lnSpc>
              <a:spcBef>
                <a:spcPts val="1080"/>
              </a:spcBef>
              <a:spcAft>
                <a:spcPts val="0"/>
              </a:spcAft>
              <a:buSzPts val="1560"/>
              <a:buChar char="❖"/>
            </a:pPr>
            <a:r>
              <a:rPr lang="en-US" sz="2400" dirty="0">
                <a:solidFill>
                  <a:srgbClr val="FF0000"/>
                </a:solidFill>
              </a:rPr>
              <a:t>DHCP</a:t>
            </a:r>
            <a:r>
              <a:rPr lang="en-US" sz="2400" dirty="0"/>
              <a:t> can be configured to assign</a:t>
            </a:r>
            <a:endParaRPr dirty="0"/>
          </a:p>
          <a:p>
            <a:pPr marL="742950" lvl="1" indent="-285750" algn="l" rtl="0">
              <a:lnSpc>
                <a:spcPct val="85000"/>
              </a:lnSpc>
              <a:spcBef>
                <a:spcPts val="1080"/>
              </a:spcBef>
              <a:spcAft>
                <a:spcPts val="0"/>
              </a:spcAft>
              <a:buSzPts val="2400"/>
              <a:buChar char="▪"/>
            </a:pPr>
            <a:r>
              <a:rPr lang="en-US" sz="2400" dirty="0"/>
              <a:t>the </a:t>
            </a:r>
            <a:r>
              <a:rPr lang="en-US" sz="2400" dirty="0">
                <a:solidFill>
                  <a:srgbClr val="FF0000"/>
                </a:solidFill>
              </a:rPr>
              <a:t>same IP address</a:t>
            </a:r>
            <a:r>
              <a:rPr lang="en-US" sz="2400" dirty="0"/>
              <a:t> to a given host each time it connects to the network</a:t>
            </a:r>
            <a:endParaRPr dirty="0"/>
          </a:p>
          <a:p>
            <a:pPr marL="742950" lvl="1" indent="-285750" algn="l" rtl="0">
              <a:lnSpc>
                <a:spcPct val="85000"/>
              </a:lnSpc>
              <a:spcBef>
                <a:spcPts val="1080"/>
              </a:spcBef>
              <a:spcAft>
                <a:spcPts val="0"/>
              </a:spcAft>
              <a:buSzPts val="2400"/>
              <a:buChar char="▪"/>
            </a:pPr>
            <a:r>
              <a:rPr lang="en-US" dirty="0"/>
              <a:t>OR </a:t>
            </a:r>
          </a:p>
          <a:p>
            <a:pPr marL="742950" lvl="1" indent="-285750" algn="l" rtl="0">
              <a:lnSpc>
                <a:spcPct val="85000"/>
              </a:lnSpc>
              <a:spcBef>
                <a:spcPts val="1080"/>
              </a:spcBef>
              <a:spcAft>
                <a:spcPts val="0"/>
              </a:spcAft>
              <a:buSzPts val="2400"/>
              <a:buChar char="▪"/>
            </a:pPr>
            <a:r>
              <a:rPr lang="en-US" dirty="0">
                <a:solidFill>
                  <a:srgbClr val="FF0000"/>
                </a:solidFill>
              </a:rPr>
              <a:t>different IP address</a:t>
            </a:r>
            <a:r>
              <a:rPr lang="en-US" dirty="0"/>
              <a:t> each time the host connects to the network.</a:t>
            </a:r>
            <a:endParaRPr dirty="0"/>
          </a:p>
          <a:p>
            <a:pPr marL="342900" lvl="0" indent="-264477" algn="l" rtl="0">
              <a:lnSpc>
                <a:spcPct val="85000"/>
              </a:lnSpc>
              <a:spcBef>
                <a:spcPts val="980"/>
              </a:spcBef>
              <a:spcAft>
                <a:spcPts val="0"/>
              </a:spcAft>
              <a:buSzPts val="1235"/>
              <a:buNone/>
            </a:pPr>
            <a:endParaRPr sz="1900" dirty="0"/>
          </a:p>
        </p:txBody>
      </p:sp>
      <p:grpSp>
        <p:nvGrpSpPr>
          <p:cNvPr id="961" name="Google Shape;961;p46"/>
          <p:cNvGrpSpPr/>
          <p:nvPr/>
        </p:nvGrpSpPr>
        <p:grpSpPr>
          <a:xfrm>
            <a:off x="0" y="0"/>
            <a:ext cx="9143999" cy="926011"/>
            <a:chOff x="0" y="0"/>
            <a:chExt cx="9143999" cy="926011"/>
          </a:xfrm>
        </p:grpSpPr>
        <p:pic>
          <p:nvPicPr>
            <p:cNvPr id="962" name="Google Shape;962;p46"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963" name="Google Shape;963;p46"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964" name="Google Shape;964;p46"/>
          <p:cNvSpPr txBox="1"/>
          <p:nvPr/>
        </p:nvSpPr>
        <p:spPr>
          <a:xfrm>
            <a:off x="1986454" y="191874"/>
            <a:ext cx="7199588" cy="53831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Arial"/>
                <a:ea typeface="Arial"/>
                <a:cs typeface="Arial"/>
                <a:sym typeface="Arial"/>
              </a:rPr>
              <a:t>Dynamic Host Configuration Protocol (DHCP)</a:t>
            </a:r>
            <a:endParaRPr/>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101</a:t>
            </a:fld>
            <a:endParaRPr lang="en-US" altLang="en-US" dirty="0">
              <a:latin typeface="Tahoma" panose="020B0604030504040204" pitchFamily="34" charset="0"/>
            </a:endParaRPr>
          </a:p>
        </p:txBody>
      </p:sp>
    </p:spTree>
    <p:extLst>
      <p:ext uri="{BB962C8B-B14F-4D97-AF65-F5344CB8AC3E}">
        <p14:creationId xmlns:p14="http://schemas.microsoft.com/office/powerpoint/2010/main" val="8358775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70" name="Google Shape;970;p47"/>
          <p:cNvSpPr txBox="1">
            <a:spLocks noGrp="1"/>
          </p:cNvSpPr>
          <p:nvPr>
            <p:ph type="body" idx="1"/>
          </p:nvPr>
        </p:nvSpPr>
        <p:spPr>
          <a:xfrm>
            <a:off x="501869" y="1358462"/>
            <a:ext cx="7772400" cy="46482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85000"/>
              </a:lnSpc>
              <a:spcBef>
                <a:spcPts val="0"/>
              </a:spcBef>
              <a:spcAft>
                <a:spcPts val="0"/>
              </a:spcAft>
              <a:buSzPts val="1820"/>
              <a:buChar char="❖"/>
            </a:pPr>
            <a:r>
              <a:rPr lang="en-US" i="1" dirty="0">
                <a:solidFill>
                  <a:srgbClr val="FF0000"/>
                </a:solidFill>
              </a:rPr>
              <a:t>Goal</a:t>
            </a:r>
            <a:r>
              <a:rPr lang="en-US" i="1" dirty="0">
                <a:solidFill>
                  <a:srgbClr val="CC0000"/>
                </a:solidFill>
              </a:rPr>
              <a:t>: </a:t>
            </a:r>
            <a:r>
              <a:rPr lang="en-US" sz="2400" dirty="0"/>
              <a:t> allow host to </a:t>
            </a:r>
            <a:r>
              <a:rPr lang="en-US" sz="2400" i="1" dirty="0">
                <a:solidFill>
                  <a:srgbClr val="FF0000"/>
                </a:solidFill>
              </a:rPr>
              <a:t>dynamically</a:t>
            </a:r>
            <a:r>
              <a:rPr lang="en-US" sz="2400" i="1" dirty="0"/>
              <a:t> </a:t>
            </a:r>
            <a:r>
              <a:rPr lang="en-US" sz="2400" dirty="0"/>
              <a:t>obtain its IP address from DHCP server when it joins network</a:t>
            </a:r>
            <a:endParaRPr dirty="0"/>
          </a:p>
          <a:p>
            <a:pPr marL="742950" lvl="1" indent="-285750" algn="l" rtl="0">
              <a:lnSpc>
                <a:spcPct val="85000"/>
              </a:lnSpc>
              <a:spcBef>
                <a:spcPts val="1080"/>
              </a:spcBef>
              <a:spcAft>
                <a:spcPts val="0"/>
              </a:spcAft>
              <a:buSzPts val="2400"/>
              <a:buChar char="▪"/>
            </a:pPr>
            <a:r>
              <a:rPr lang="en-US" dirty="0"/>
              <a:t>host will </a:t>
            </a:r>
            <a:r>
              <a:rPr lang="en-US" i="1" dirty="0">
                <a:solidFill>
                  <a:srgbClr val="FF0000"/>
                </a:solidFill>
              </a:rPr>
              <a:t>lease </a:t>
            </a:r>
            <a:r>
              <a:rPr lang="en-US" dirty="0"/>
              <a:t>an IP address,</a:t>
            </a:r>
            <a:r>
              <a:rPr lang="en-US" i="1" dirty="0">
                <a:solidFill>
                  <a:srgbClr val="FF0000"/>
                </a:solidFill>
              </a:rPr>
              <a:t> </a:t>
            </a:r>
            <a:r>
              <a:rPr lang="en-US" dirty="0"/>
              <a:t>can renew its lease on address in use</a:t>
            </a:r>
            <a:endParaRPr dirty="0"/>
          </a:p>
          <a:p>
            <a:pPr marL="742950" lvl="1" indent="-285750" algn="l" rtl="0">
              <a:lnSpc>
                <a:spcPct val="85000"/>
              </a:lnSpc>
              <a:spcBef>
                <a:spcPts val="1080"/>
              </a:spcBef>
              <a:spcAft>
                <a:spcPts val="0"/>
              </a:spcAft>
              <a:buSzPts val="2400"/>
              <a:buChar char="▪"/>
            </a:pPr>
            <a:r>
              <a:rPr lang="en-US" dirty="0"/>
              <a:t>allows reuse of addresses (only hold address while connected/on)</a:t>
            </a:r>
            <a:endParaRPr dirty="0"/>
          </a:p>
          <a:p>
            <a:pPr marL="742950" lvl="1" indent="-285750" algn="l" rtl="0">
              <a:lnSpc>
                <a:spcPct val="85000"/>
              </a:lnSpc>
              <a:spcBef>
                <a:spcPts val="1080"/>
              </a:spcBef>
              <a:spcAft>
                <a:spcPts val="0"/>
              </a:spcAft>
              <a:buSzPts val="2400"/>
              <a:buChar char="▪"/>
            </a:pPr>
            <a:r>
              <a:rPr lang="en-US" dirty="0"/>
              <a:t>support for mobile users who want to join/leave network</a:t>
            </a:r>
            <a:endParaRPr dirty="0"/>
          </a:p>
          <a:p>
            <a:pPr marL="742950" lvl="1" indent="-133350" algn="l" rtl="0">
              <a:lnSpc>
                <a:spcPct val="85000"/>
              </a:lnSpc>
              <a:spcBef>
                <a:spcPts val="1080"/>
              </a:spcBef>
              <a:spcAft>
                <a:spcPts val="0"/>
              </a:spcAft>
              <a:buSzPts val="2400"/>
              <a:buNone/>
            </a:pPr>
            <a:endParaRPr dirty="0"/>
          </a:p>
          <a:p>
            <a:pPr marL="342900" lvl="0" indent="-342900" algn="l" rtl="0">
              <a:lnSpc>
                <a:spcPct val="85000"/>
              </a:lnSpc>
              <a:spcBef>
                <a:spcPts val="1080"/>
              </a:spcBef>
              <a:spcAft>
                <a:spcPts val="0"/>
              </a:spcAft>
              <a:buSzPts val="1560"/>
              <a:buChar char="❖"/>
            </a:pPr>
            <a:r>
              <a:rPr lang="en-US" sz="2400" dirty="0"/>
              <a:t>DHCP is a </a:t>
            </a:r>
            <a:r>
              <a:rPr lang="en-US" sz="2400" dirty="0">
                <a:solidFill>
                  <a:srgbClr val="FF0000"/>
                </a:solidFill>
              </a:rPr>
              <a:t>plug-and-play</a:t>
            </a:r>
            <a:r>
              <a:rPr lang="en-US" sz="2400" dirty="0"/>
              <a:t> protocol</a:t>
            </a:r>
            <a:endParaRPr dirty="0"/>
          </a:p>
          <a:p>
            <a:pPr marL="742950" lvl="1" indent="-285750" algn="l" rtl="0">
              <a:lnSpc>
                <a:spcPct val="85000"/>
              </a:lnSpc>
              <a:spcBef>
                <a:spcPts val="1080"/>
              </a:spcBef>
              <a:spcAft>
                <a:spcPts val="0"/>
              </a:spcAft>
              <a:buSzPts val="2400"/>
              <a:buChar char="▪"/>
            </a:pPr>
            <a:r>
              <a:rPr lang="en-US" dirty="0"/>
              <a:t>Makes network admin job easier</a:t>
            </a:r>
            <a:endParaRPr dirty="0"/>
          </a:p>
          <a:p>
            <a:pPr marL="742950" lvl="1" indent="-285750" algn="l" rtl="0">
              <a:lnSpc>
                <a:spcPct val="85000"/>
              </a:lnSpc>
              <a:spcBef>
                <a:spcPts val="1080"/>
              </a:spcBef>
              <a:spcAft>
                <a:spcPts val="0"/>
              </a:spcAft>
              <a:buSzPts val="2400"/>
              <a:buChar char="▪"/>
            </a:pPr>
            <a:r>
              <a:rPr lang="en-US" dirty="0"/>
              <a:t>Makes network mobility easier too</a:t>
            </a:r>
            <a:endParaRPr dirty="0"/>
          </a:p>
          <a:p>
            <a:pPr marL="342900" lvl="0" indent="-227330" algn="l" rtl="0">
              <a:lnSpc>
                <a:spcPct val="85000"/>
              </a:lnSpc>
              <a:spcBef>
                <a:spcPts val="1160"/>
              </a:spcBef>
              <a:spcAft>
                <a:spcPts val="0"/>
              </a:spcAft>
              <a:buSzPts val="1820"/>
              <a:buNone/>
            </a:pPr>
            <a:endParaRPr dirty="0"/>
          </a:p>
        </p:txBody>
      </p:sp>
      <p:grpSp>
        <p:nvGrpSpPr>
          <p:cNvPr id="971" name="Google Shape;971;p47"/>
          <p:cNvGrpSpPr/>
          <p:nvPr/>
        </p:nvGrpSpPr>
        <p:grpSpPr>
          <a:xfrm>
            <a:off x="0" y="0"/>
            <a:ext cx="9143999" cy="926011"/>
            <a:chOff x="0" y="0"/>
            <a:chExt cx="9143999" cy="926011"/>
          </a:xfrm>
        </p:grpSpPr>
        <p:pic>
          <p:nvPicPr>
            <p:cNvPr id="972" name="Google Shape;972;p47"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973" name="Google Shape;973;p47"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974" name="Google Shape;974;p47"/>
          <p:cNvSpPr txBox="1"/>
          <p:nvPr/>
        </p:nvSpPr>
        <p:spPr>
          <a:xfrm>
            <a:off x="1986454" y="191874"/>
            <a:ext cx="7199588" cy="53831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Arial"/>
                <a:ea typeface="Arial"/>
                <a:cs typeface="Arial"/>
                <a:sym typeface="Arial"/>
              </a:rPr>
              <a:t>Dynamic Host Configuration Protocol (DHCP)</a:t>
            </a:r>
            <a:endParaRPr/>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102</a:t>
            </a:fld>
            <a:endParaRPr lang="en-US" altLang="en-US" dirty="0">
              <a:latin typeface="Tahoma" panose="020B0604030504040204" pitchFamily="34" charset="0"/>
            </a:endParaRPr>
          </a:p>
        </p:txBody>
      </p:sp>
    </p:spTree>
    <p:extLst>
      <p:ext uri="{BB962C8B-B14F-4D97-AF65-F5344CB8AC3E}">
        <p14:creationId xmlns:p14="http://schemas.microsoft.com/office/powerpoint/2010/main" val="13086309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pic>
        <p:nvPicPr>
          <p:cNvPr id="980" name="Google Shape;980;p48"/>
          <p:cNvPicPr preferRelativeResize="0"/>
          <p:nvPr/>
        </p:nvPicPr>
        <p:blipFill rotWithShape="1">
          <a:blip r:embed="rId3">
            <a:alphaModFix/>
          </a:blip>
          <a:srcRect/>
          <a:stretch/>
        </p:blipFill>
        <p:spPr>
          <a:xfrm>
            <a:off x="919635" y="913413"/>
            <a:ext cx="6979546" cy="5184229"/>
          </a:xfrm>
          <a:prstGeom prst="rect">
            <a:avLst/>
          </a:prstGeom>
          <a:noFill/>
          <a:ln>
            <a:noFill/>
          </a:ln>
        </p:spPr>
      </p:pic>
      <p:sp>
        <p:nvSpPr>
          <p:cNvPr id="981" name="Google Shape;981;p48"/>
          <p:cNvSpPr/>
          <p:nvPr/>
        </p:nvSpPr>
        <p:spPr>
          <a:xfrm>
            <a:off x="6603428" y="1082262"/>
            <a:ext cx="2448272" cy="1440160"/>
          </a:xfrm>
          <a:prstGeom prst="wedgeRoundRectCallout">
            <a:avLst>
              <a:gd name="adj1" fmla="val -25126"/>
              <a:gd name="adj2" fmla="val 111397"/>
              <a:gd name="adj3" fmla="val 16667"/>
            </a:avLst>
          </a:prstGeom>
          <a:solidFill>
            <a:srgbClr val="00FDFF"/>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A newly arriving host, goes through the DHCP protocol  </a:t>
            </a:r>
            <a:r>
              <a:rPr lang="en-US" sz="1800" b="1" u="sng">
                <a:solidFill>
                  <a:srgbClr val="FF0000"/>
                </a:solidFill>
                <a:latin typeface="Arial"/>
                <a:ea typeface="Arial"/>
                <a:cs typeface="Arial"/>
                <a:sym typeface="Arial"/>
              </a:rPr>
              <a:t>four-step process</a:t>
            </a:r>
            <a:endParaRPr/>
          </a:p>
        </p:txBody>
      </p:sp>
      <p:grpSp>
        <p:nvGrpSpPr>
          <p:cNvPr id="982" name="Google Shape;982;p48"/>
          <p:cNvGrpSpPr/>
          <p:nvPr/>
        </p:nvGrpSpPr>
        <p:grpSpPr>
          <a:xfrm>
            <a:off x="0" y="0"/>
            <a:ext cx="9143999" cy="926011"/>
            <a:chOff x="0" y="0"/>
            <a:chExt cx="9143999" cy="926011"/>
          </a:xfrm>
        </p:grpSpPr>
        <p:pic>
          <p:nvPicPr>
            <p:cNvPr id="983" name="Google Shape;983;p48" descr="Screen Shot 2015-04-08 at 10.38.40 AM.png"/>
            <p:cNvPicPr preferRelativeResize="0"/>
            <p:nvPr/>
          </p:nvPicPr>
          <p:blipFill rotWithShape="1">
            <a:blip r:embed="rId4">
              <a:alphaModFix/>
            </a:blip>
            <a:srcRect/>
            <a:stretch/>
          </p:blipFill>
          <p:spPr>
            <a:xfrm>
              <a:off x="0" y="0"/>
              <a:ext cx="8354231" cy="926011"/>
            </a:xfrm>
            <a:prstGeom prst="rect">
              <a:avLst/>
            </a:prstGeom>
            <a:noFill/>
            <a:ln>
              <a:noFill/>
            </a:ln>
          </p:spPr>
        </p:pic>
        <p:pic>
          <p:nvPicPr>
            <p:cNvPr id="984" name="Google Shape;984;p48" descr="Screen Shot 2015-04-08 at 10.42.03 AM.png"/>
            <p:cNvPicPr preferRelativeResize="0"/>
            <p:nvPr/>
          </p:nvPicPr>
          <p:blipFill rotWithShape="1">
            <a:blip r:embed="rId5">
              <a:alphaModFix/>
            </a:blip>
            <a:srcRect/>
            <a:stretch/>
          </p:blipFill>
          <p:spPr>
            <a:xfrm>
              <a:off x="8249806" y="1"/>
              <a:ext cx="894193" cy="923672"/>
            </a:xfrm>
            <a:prstGeom prst="rect">
              <a:avLst/>
            </a:prstGeom>
            <a:noFill/>
            <a:ln>
              <a:noFill/>
            </a:ln>
          </p:spPr>
        </p:pic>
      </p:grpSp>
      <p:sp>
        <p:nvSpPr>
          <p:cNvPr id="985" name="Google Shape;985;p48"/>
          <p:cNvSpPr txBox="1"/>
          <p:nvPr/>
        </p:nvSpPr>
        <p:spPr>
          <a:xfrm>
            <a:off x="1986454" y="191874"/>
            <a:ext cx="7199588" cy="53831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Arial"/>
                <a:ea typeface="Arial"/>
                <a:cs typeface="Arial"/>
                <a:sym typeface="Arial"/>
              </a:rPr>
              <a:t>Dynamic Host Configuration Protocol (DHCP)</a:t>
            </a:r>
            <a:endParaRPr/>
          </a:p>
        </p:txBody>
      </p:sp>
      <p:sp>
        <p:nvSpPr>
          <p:cNvPr id="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103</a:t>
            </a:fld>
            <a:endParaRPr lang="en-US" altLang="en-US" dirty="0">
              <a:latin typeface="Tahoma" panose="020B0604030504040204" pitchFamily="34" charset="0"/>
            </a:endParaRPr>
          </a:p>
        </p:txBody>
      </p:sp>
    </p:spTree>
    <p:extLst>
      <p:ext uri="{BB962C8B-B14F-4D97-AF65-F5344CB8AC3E}">
        <p14:creationId xmlns:p14="http://schemas.microsoft.com/office/powerpoint/2010/main" val="22286907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53"/>
          <p:cNvSpPr txBox="1">
            <a:spLocks noGrp="1"/>
          </p:cNvSpPr>
          <p:nvPr>
            <p:ph type="ftr" idx="11"/>
          </p:nvPr>
        </p:nvSpPr>
        <p:spPr>
          <a:xfrm>
            <a:off x="5532438" y="6467475"/>
            <a:ext cx="2895600" cy="28733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Tahoma"/>
                <a:ea typeface="Tahoma"/>
                <a:cs typeface="Tahoma"/>
                <a:sym typeface="Tahoma"/>
              </a:rPr>
              <a:t>Network Layer</a:t>
            </a:r>
            <a:endParaRPr/>
          </a:p>
        </p:txBody>
      </p:sp>
      <p:sp>
        <p:nvSpPr>
          <p:cNvPr id="1035" name="Google Shape;1035;p53"/>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104</a:t>
            </a:fld>
            <a:endParaRPr sz="1200" dirty="0">
              <a:solidFill>
                <a:schemeClr val="dk1"/>
              </a:solidFill>
              <a:latin typeface="Tahoma"/>
              <a:ea typeface="Tahoma"/>
              <a:cs typeface="Tahoma"/>
              <a:sym typeface="Tahoma"/>
            </a:endParaRPr>
          </a:p>
        </p:txBody>
      </p:sp>
      <p:sp>
        <p:nvSpPr>
          <p:cNvPr id="1036" name="Google Shape;1036;p53"/>
          <p:cNvSpPr txBox="1">
            <a:spLocks noGrp="1"/>
          </p:cNvSpPr>
          <p:nvPr>
            <p:ph type="title"/>
          </p:nvPr>
        </p:nvSpPr>
        <p:spPr>
          <a:xfrm>
            <a:off x="438150" y="255588"/>
            <a:ext cx="6824663" cy="8985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4000"/>
              <a:t>DHCP client-server scenario</a:t>
            </a:r>
            <a:endParaRPr/>
          </a:p>
        </p:txBody>
      </p:sp>
      <p:sp>
        <p:nvSpPr>
          <p:cNvPr id="1037" name="Google Shape;1037;p53"/>
          <p:cNvSpPr/>
          <p:nvPr/>
        </p:nvSpPr>
        <p:spPr>
          <a:xfrm>
            <a:off x="1995488" y="5380038"/>
            <a:ext cx="4978400" cy="3190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8" name="Google Shape;1038;p53"/>
          <p:cNvSpPr/>
          <p:nvPr/>
        </p:nvSpPr>
        <p:spPr>
          <a:xfrm>
            <a:off x="6210300" y="6770688"/>
            <a:ext cx="85725" cy="41116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a:solidFill>
                  <a:srgbClr val="000000"/>
                </a:solidFill>
                <a:latin typeface="Times New Roman"/>
                <a:ea typeface="Times New Roman"/>
                <a:cs typeface="Times New Roman"/>
                <a:sym typeface="Times New Roman"/>
              </a:rPr>
              <a:t> </a:t>
            </a:r>
            <a:endParaRPr sz="1800">
              <a:solidFill>
                <a:schemeClr val="dk1"/>
              </a:solidFill>
              <a:latin typeface="Comic Sans MS"/>
              <a:ea typeface="Comic Sans MS"/>
              <a:cs typeface="Comic Sans MS"/>
              <a:sym typeface="Comic Sans MS"/>
            </a:endParaRPr>
          </a:p>
        </p:txBody>
      </p:sp>
      <p:sp>
        <p:nvSpPr>
          <p:cNvPr id="1039" name="Google Shape;1039;p53"/>
          <p:cNvSpPr txBox="1"/>
          <p:nvPr/>
        </p:nvSpPr>
        <p:spPr>
          <a:xfrm>
            <a:off x="457200" y="1246188"/>
            <a:ext cx="1314450"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1">
                <a:solidFill>
                  <a:schemeClr val="dk1"/>
                </a:solidFill>
                <a:latin typeface="Arial"/>
                <a:ea typeface="Arial"/>
                <a:cs typeface="Arial"/>
                <a:sym typeface="Arial"/>
              </a:rPr>
              <a:t>223.1.1.0/24</a:t>
            </a:r>
            <a:endParaRPr/>
          </a:p>
        </p:txBody>
      </p:sp>
      <p:sp>
        <p:nvSpPr>
          <p:cNvPr id="1040" name="Google Shape;1040;p53"/>
          <p:cNvSpPr txBox="1"/>
          <p:nvPr/>
        </p:nvSpPr>
        <p:spPr>
          <a:xfrm>
            <a:off x="3935413" y="3741738"/>
            <a:ext cx="1314450"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1">
                <a:solidFill>
                  <a:schemeClr val="dk1"/>
                </a:solidFill>
                <a:latin typeface="Arial"/>
                <a:ea typeface="Arial"/>
                <a:cs typeface="Arial"/>
                <a:sym typeface="Arial"/>
              </a:rPr>
              <a:t>223.1.2.0/24</a:t>
            </a:r>
            <a:endParaRPr/>
          </a:p>
        </p:txBody>
      </p:sp>
      <p:sp>
        <p:nvSpPr>
          <p:cNvPr id="1041" name="Google Shape;1041;p53"/>
          <p:cNvSpPr txBox="1"/>
          <p:nvPr/>
        </p:nvSpPr>
        <p:spPr>
          <a:xfrm>
            <a:off x="2238375" y="5335588"/>
            <a:ext cx="1314450"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1">
                <a:solidFill>
                  <a:schemeClr val="dk1"/>
                </a:solidFill>
                <a:latin typeface="Arial"/>
                <a:ea typeface="Arial"/>
                <a:cs typeface="Arial"/>
                <a:sym typeface="Arial"/>
              </a:rPr>
              <a:t>223.1.3.0/24</a:t>
            </a:r>
            <a:endParaRPr/>
          </a:p>
        </p:txBody>
      </p:sp>
      <p:sp>
        <p:nvSpPr>
          <p:cNvPr id="1042" name="Google Shape;1042;p53"/>
          <p:cNvSpPr/>
          <p:nvPr/>
        </p:nvSpPr>
        <p:spPr>
          <a:xfrm>
            <a:off x="1250950" y="3576638"/>
            <a:ext cx="847725" cy="180975"/>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3" name="Google Shape;1043;p53"/>
          <p:cNvSpPr/>
          <p:nvPr/>
        </p:nvSpPr>
        <p:spPr>
          <a:xfrm>
            <a:off x="663575" y="1516063"/>
            <a:ext cx="1941513" cy="2049462"/>
          </a:xfrm>
          <a:custGeom>
            <a:avLst/>
            <a:gdLst/>
            <a:ahLst/>
            <a:cxnLst/>
            <a:rect l="l" t="t" r="r" b="b"/>
            <a:pathLst>
              <a:path w="1223" h="1291" extrusionOk="0">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4" name="Google Shape;1044;p53"/>
          <p:cNvSpPr/>
          <p:nvPr/>
        </p:nvSpPr>
        <p:spPr>
          <a:xfrm>
            <a:off x="3190875" y="1825625"/>
            <a:ext cx="1906588" cy="1958975"/>
          </a:xfrm>
          <a:custGeom>
            <a:avLst/>
            <a:gdLst/>
            <a:ahLst/>
            <a:cxnLst/>
            <a:rect l="l" t="t" r="r" b="b"/>
            <a:pathLst>
              <a:path w="1201" h="1234" extrusionOk="0">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5" name="Google Shape;1045;p53"/>
          <p:cNvSpPr/>
          <p:nvPr/>
        </p:nvSpPr>
        <p:spPr>
          <a:xfrm>
            <a:off x="1863725" y="3259138"/>
            <a:ext cx="2041525" cy="1979612"/>
          </a:xfrm>
          <a:custGeom>
            <a:avLst/>
            <a:gdLst/>
            <a:ahLst/>
            <a:cxnLst/>
            <a:rect l="l" t="t" r="r" b="b"/>
            <a:pathLst>
              <a:path w="1286" h="1247" extrusionOk="0">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1046" name="Google Shape;1046;p53"/>
          <p:cNvCxnSpPr/>
          <p:nvPr/>
        </p:nvCxnSpPr>
        <p:spPr>
          <a:xfrm>
            <a:off x="1212850" y="2038350"/>
            <a:ext cx="277813" cy="1588"/>
          </a:xfrm>
          <a:prstGeom prst="straightConnector1">
            <a:avLst/>
          </a:prstGeom>
          <a:noFill/>
          <a:ln w="19050" cap="flat" cmpd="sng">
            <a:solidFill>
              <a:schemeClr val="dk1"/>
            </a:solidFill>
            <a:prstDash val="solid"/>
            <a:round/>
            <a:headEnd type="none" w="med" len="med"/>
            <a:tailEnd type="none" w="med" len="med"/>
          </a:ln>
        </p:spPr>
      </p:cxnSp>
      <p:cxnSp>
        <p:nvCxnSpPr>
          <p:cNvPr id="1047" name="Google Shape;1047;p53"/>
          <p:cNvCxnSpPr/>
          <p:nvPr/>
        </p:nvCxnSpPr>
        <p:spPr>
          <a:xfrm rot="10800000" flipH="1">
            <a:off x="1262063" y="2759075"/>
            <a:ext cx="277812" cy="3175"/>
          </a:xfrm>
          <a:prstGeom prst="straightConnector1">
            <a:avLst/>
          </a:prstGeom>
          <a:noFill/>
          <a:ln w="19050" cap="flat" cmpd="sng">
            <a:solidFill>
              <a:schemeClr val="dk1"/>
            </a:solidFill>
            <a:prstDash val="solid"/>
            <a:round/>
            <a:headEnd type="none" w="med" len="med"/>
            <a:tailEnd type="none" w="med" len="med"/>
          </a:ln>
        </p:spPr>
      </p:cxnSp>
      <p:cxnSp>
        <p:nvCxnSpPr>
          <p:cNvPr id="1048" name="Google Shape;1048;p53"/>
          <p:cNvCxnSpPr/>
          <p:nvPr/>
        </p:nvCxnSpPr>
        <p:spPr>
          <a:xfrm>
            <a:off x="1222375" y="3309938"/>
            <a:ext cx="273050" cy="1587"/>
          </a:xfrm>
          <a:prstGeom prst="straightConnector1">
            <a:avLst/>
          </a:prstGeom>
          <a:noFill/>
          <a:ln w="19050" cap="flat" cmpd="sng">
            <a:solidFill>
              <a:schemeClr val="dk1"/>
            </a:solidFill>
            <a:prstDash val="solid"/>
            <a:round/>
            <a:headEnd type="none" w="med" len="med"/>
            <a:tailEnd type="none" w="med" len="med"/>
          </a:ln>
        </p:spPr>
      </p:cxnSp>
      <p:cxnSp>
        <p:nvCxnSpPr>
          <p:cNvPr id="1049" name="Google Shape;1049;p53"/>
          <p:cNvCxnSpPr/>
          <p:nvPr/>
        </p:nvCxnSpPr>
        <p:spPr>
          <a:xfrm rot="10800000" flipH="1">
            <a:off x="2065338" y="2887663"/>
            <a:ext cx="561975" cy="1587"/>
          </a:xfrm>
          <a:prstGeom prst="straightConnector1">
            <a:avLst/>
          </a:prstGeom>
          <a:noFill/>
          <a:ln w="19050" cap="flat" cmpd="sng">
            <a:solidFill>
              <a:schemeClr val="dk1"/>
            </a:solidFill>
            <a:prstDash val="solid"/>
            <a:round/>
            <a:headEnd type="none" w="med" len="med"/>
            <a:tailEnd type="none" w="med" len="med"/>
          </a:ln>
        </p:spPr>
      </p:cxnSp>
      <p:sp>
        <p:nvSpPr>
          <p:cNvPr id="1050" name="Google Shape;1050;p53"/>
          <p:cNvSpPr txBox="1"/>
          <p:nvPr/>
        </p:nvSpPr>
        <p:spPr>
          <a:xfrm>
            <a:off x="1260475" y="1712913"/>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223.1.1.1</a:t>
            </a:r>
            <a:endParaRPr sz="1400">
              <a:solidFill>
                <a:schemeClr val="dk1"/>
              </a:solidFill>
              <a:latin typeface="Comic Sans MS"/>
              <a:ea typeface="Comic Sans MS"/>
              <a:cs typeface="Comic Sans MS"/>
              <a:sym typeface="Comic Sans MS"/>
            </a:endParaRPr>
          </a:p>
        </p:txBody>
      </p:sp>
      <p:sp>
        <p:nvSpPr>
          <p:cNvPr id="1051" name="Google Shape;1051;p53"/>
          <p:cNvSpPr txBox="1"/>
          <p:nvPr/>
        </p:nvSpPr>
        <p:spPr>
          <a:xfrm>
            <a:off x="1146175" y="3338513"/>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223.1.1.3</a:t>
            </a:r>
            <a:endParaRPr sz="1400">
              <a:solidFill>
                <a:schemeClr val="dk1"/>
              </a:solidFill>
              <a:latin typeface="Comic Sans MS"/>
              <a:ea typeface="Comic Sans MS"/>
              <a:cs typeface="Comic Sans MS"/>
              <a:sym typeface="Comic Sans MS"/>
            </a:endParaRPr>
          </a:p>
        </p:txBody>
      </p:sp>
      <p:sp>
        <p:nvSpPr>
          <p:cNvPr id="1052" name="Google Shape;1052;p53"/>
          <p:cNvSpPr txBox="1"/>
          <p:nvPr/>
        </p:nvSpPr>
        <p:spPr>
          <a:xfrm>
            <a:off x="1892300" y="2578100"/>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223.1.1.4</a:t>
            </a:r>
            <a:endParaRPr sz="1400">
              <a:solidFill>
                <a:schemeClr val="dk1"/>
              </a:solidFill>
              <a:latin typeface="Comic Sans MS"/>
              <a:ea typeface="Comic Sans MS"/>
              <a:cs typeface="Comic Sans MS"/>
              <a:sym typeface="Comic Sans MS"/>
            </a:endParaRPr>
          </a:p>
        </p:txBody>
      </p:sp>
      <p:cxnSp>
        <p:nvCxnSpPr>
          <p:cNvPr id="1053" name="Google Shape;1053;p53"/>
          <p:cNvCxnSpPr/>
          <p:nvPr/>
        </p:nvCxnSpPr>
        <p:spPr>
          <a:xfrm rot="10800000" flipH="1">
            <a:off x="3140075" y="2889250"/>
            <a:ext cx="533400" cy="1588"/>
          </a:xfrm>
          <a:prstGeom prst="straightConnector1">
            <a:avLst/>
          </a:prstGeom>
          <a:noFill/>
          <a:ln w="19050" cap="flat" cmpd="sng">
            <a:solidFill>
              <a:schemeClr val="dk1"/>
            </a:solidFill>
            <a:prstDash val="solid"/>
            <a:round/>
            <a:headEnd type="none" w="med" len="med"/>
            <a:tailEnd type="none" w="med" len="med"/>
          </a:ln>
        </p:spPr>
      </p:cxnSp>
      <p:sp>
        <p:nvSpPr>
          <p:cNvPr id="1054" name="Google Shape;1054;p53"/>
          <p:cNvSpPr txBox="1"/>
          <p:nvPr/>
        </p:nvSpPr>
        <p:spPr>
          <a:xfrm>
            <a:off x="3013075" y="2579688"/>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223.1.2.9</a:t>
            </a:r>
            <a:endParaRPr sz="1400">
              <a:solidFill>
                <a:schemeClr val="dk1"/>
              </a:solidFill>
              <a:latin typeface="Comic Sans MS"/>
              <a:ea typeface="Comic Sans MS"/>
              <a:cs typeface="Comic Sans MS"/>
              <a:sym typeface="Comic Sans MS"/>
            </a:endParaRPr>
          </a:p>
        </p:txBody>
      </p:sp>
      <p:cxnSp>
        <p:nvCxnSpPr>
          <p:cNvPr id="1055" name="Google Shape;1055;p53"/>
          <p:cNvCxnSpPr/>
          <p:nvPr/>
        </p:nvCxnSpPr>
        <p:spPr>
          <a:xfrm>
            <a:off x="4332288" y="2200275"/>
            <a:ext cx="234950" cy="6350"/>
          </a:xfrm>
          <a:prstGeom prst="straightConnector1">
            <a:avLst/>
          </a:prstGeom>
          <a:noFill/>
          <a:ln w="19050" cap="flat" cmpd="sng">
            <a:solidFill>
              <a:schemeClr val="dk1"/>
            </a:solidFill>
            <a:prstDash val="solid"/>
            <a:round/>
            <a:headEnd type="none" w="med" len="med"/>
            <a:tailEnd type="none" w="med" len="med"/>
          </a:ln>
        </p:spPr>
      </p:cxnSp>
      <p:cxnSp>
        <p:nvCxnSpPr>
          <p:cNvPr id="1056" name="Google Shape;1056;p53"/>
          <p:cNvCxnSpPr/>
          <p:nvPr/>
        </p:nvCxnSpPr>
        <p:spPr>
          <a:xfrm>
            <a:off x="4386263" y="3476625"/>
            <a:ext cx="234950" cy="6350"/>
          </a:xfrm>
          <a:prstGeom prst="straightConnector1">
            <a:avLst/>
          </a:prstGeom>
          <a:noFill/>
          <a:ln w="19050" cap="flat" cmpd="sng">
            <a:solidFill>
              <a:schemeClr val="dk1"/>
            </a:solidFill>
            <a:prstDash val="solid"/>
            <a:round/>
            <a:headEnd type="none" w="med" len="med"/>
            <a:tailEnd type="none" w="med" len="med"/>
          </a:ln>
        </p:spPr>
      </p:cxnSp>
      <p:cxnSp>
        <p:nvCxnSpPr>
          <p:cNvPr id="1057" name="Google Shape;1057;p53"/>
          <p:cNvCxnSpPr/>
          <p:nvPr/>
        </p:nvCxnSpPr>
        <p:spPr>
          <a:xfrm flipH="1">
            <a:off x="2898775" y="3228975"/>
            <a:ext cx="3175" cy="708025"/>
          </a:xfrm>
          <a:prstGeom prst="straightConnector1">
            <a:avLst/>
          </a:prstGeom>
          <a:noFill/>
          <a:ln w="19050" cap="flat" cmpd="sng">
            <a:solidFill>
              <a:schemeClr val="dk1"/>
            </a:solidFill>
            <a:prstDash val="solid"/>
            <a:round/>
            <a:headEnd type="none" w="med" len="med"/>
            <a:tailEnd type="none" w="med" len="med"/>
          </a:ln>
        </p:spPr>
      </p:cxnSp>
      <p:cxnSp>
        <p:nvCxnSpPr>
          <p:cNvPr id="1058" name="Google Shape;1058;p53"/>
          <p:cNvCxnSpPr/>
          <p:nvPr/>
        </p:nvCxnSpPr>
        <p:spPr>
          <a:xfrm rot="10800000">
            <a:off x="2324100" y="4573588"/>
            <a:ext cx="3175" cy="241300"/>
          </a:xfrm>
          <a:prstGeom prst="straightConnector1">
            <a:avLst/>
          </a:prstGeom>
          <a:noFill/>
          <a:ln w="19050" cap="flat" cmpd="sng">
            <a:solidFill>
              <a:schemeClr val="dk1"/>
            </a:solidFill>
            <a:prstDash val="solid"/>
            <a:round/>
            <a:headEnd type="none" w="med" len="med"/>
            <a:tailEnd type="none" w="med" len="med"/>
          </a:ln>
        </p:spPr>
      </p:cxnSp>
      <p:cxnSp>
        <p:nvCxnSpPr>
          <p:cNvPr id="1059" name="Google Shape;1059;p53"/>
          <p:cNvCxnSpPr/>
          <p:nvPr/>
        </p:nvCxnSpPr>
        <p:spPr>
          <a:xfrm rot="10800000">
            <a:off x="3465513" y="4506913"/>
            <a:ext cx="3175" cy="241300"/>
          </a:xfrm>
          <a:prstGeom prst="straightConnector1">
            <a:avLst/>
          </a:prstGeom>
          <a:noFill/>
          <a:ln w="19050" cap="flat" cmpd="sng">
            <a:solidFill>
              <a:schemeClr val="dk1"/>
            </a:solidFill>
            <a:prstDash val="solid"/>
            <a:round/>
            <a:headEnd type="none" w="med" len="med"/>
            <a:tailEnd type="none" w="med" len="med"/>
          </a:ln>
        </p:spPr>
      </p:cxnSp>
      <p:sp>
        <p:nvSpPr>
          <p:cNvPr id="1060" name="Google Shape;1060;p53"/>
          <p:cNvSpPr txBox="1"/>
          <p:nvPr/>
        </p:nvSpPr>
        <p:spPr>
          <a:xfrm>
            <a:off x="3436938" y="4384675"/>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223.1.3.2</a:t>
            </a:r>
            <a:endParaRPr sz="1400">
              <a:solidFill>
                <a:schemeClr val="dk1"/>
              </a:solidFill>
              <a:latin typeface="Comic Sans MS"/>
              <a:ea typeface="Comic Sans MS"/>
              <a:cs typeface="Comic Sans MS"/>
              <a:sym typeface="Comic Sans MS"/>
            </a:endParaRPr>
          </a:p>
        </p:txBody>
      </p:sp>
      <p:sp>
        <p:nvSpPr>
          <p:cNvPr id="1061" name="Google Shape;1061;p53"/>
          <p:cNvSpPr txBox="1"/>
          <p:nvPr/>
        </p:nvSpPr>
        <p:spPr>
          <a:xfrm>
            <a:off x="1289050" y="4395788"/>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223.1.3.1</a:t>
            </a:r>
            <a:endParaRPr sz="1400">
              <a:solidFill>
                <a:schemeClr val="dk1"/>
              </a:solidFill>
              <a:latin typeface="Comic Sans MS"/>
              <a:ea typeface="Comic Sans MS"/>
              <a:cs typeface="Comic Sans MS"/>
              <a:sym typeface="Comic Sans MS"/>
            </a:endParaRPr>
          </a:p>
        </p:txBody>
      </p:sp>
      <p:grpSp>
        <p:nvGrpSpPr>
          <p:cNvPr id="1062" name="Google Shape;1062;p53"/>
          <p:cNvGrpSpPr/>
          <p:nvPr/>
        </p:nvGrpSpPr>
        <p:grpSpPr>
          <a:xfrm>
            <a:off x="658813" y="1739900"/>
            <a:ext cx="641350" cy="558800"/>
            <a:chOff x="-44" y="1473"/>
            <a:chExt cx="981" cy="1105"/>
          </a:xfrm>
        </p:grpSpPr>
        <p:pic>
          <p:nvPicPr>
            <p:cNvPr id="1063" name="Google Shape;1063;p5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64" name="Google Shape;1064;p5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65" name="Google Shape;1065;p53"/>
          <p:cNvGrpSpPr/>
          <p:nvPr/>
        </p:nvGrpSpPr>
        <p:grpSpPr>
          <a:xfrm>
            <a:off x="654050" y="2349500"/>
            <a:ext cx="641350" cy="558800"/>
            <a:chOff x="-44" y="1473"/>
            <a:chExt cx="981" cy="1105"/>
          </a:xfrm>
        </p:grpSpPr>
        <p:pic>
          <p:nvPicPr>
            <p:cNvPr id="1066" name="Google Shape;1066;p5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67" name="Google Shape;1067;p5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68" name="Google Shape;1068;p53"/>
          <p:cNvGrpSpPr/>
          <p:nvPr/>
        </p:nvGrpSpPr>
        <p:grpSpPr>
          <a:xfrm>
            <a:off x="682625" y="2959100"/>
            <a:ext cx="641350" cy="558800"/>
            <a:chOff x="-44" y="1473"/>
            <a:chExt cx="981" cy="1105"/>
          </a:xfrm>
        </p:grpSpPr>
        <p:pic>
          <p:nvPicPr>
            <p:cNvPr id="1069" name="Google Shape;1069;p5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70" name="Google Shape;1070;p5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71" name="Google Shape;1071;p53"/>
          <p:cNvGrpSpPr/>
          <p:nvPr/>
        </p:nvGrpSpPr>
        <p:grpSpPr>
          <a:xfrm flipH="1">
            <a:off x="4391025" y="1908175"/>
            <a:ext cx="641350" cy="558800"/>
            <a:chOff x="-44" y="1473"/>
            <a:chExt cx="981" cy="1105"/>
          </a:xfrm>
        </p:grpSpPr>
        <p:pic>
          <p:nvPicPr>
            <p:cNvPr id="1072" name="Google Shape;1072;p5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73" name="Google Shape;1073;p5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74" name="Google Shape;1074;p53"/>
          <p:cNvGrpSpPr/>
          <p:nvPr/>
        </p:nvGrpSpPr>
        <p:grpSpPr>
          <a:xfrm flipH="1">
            <a:off x="4465638" y="3187700"/>
            <a:ext cx="641350" cy="558800"/>
            <a:chOff x="-44" y="1473"/>
            <a:chExt cx="981" cy="1105"/>
          </a:xfrm>
        </p:grpSpPr>
        <p:pic>
          <p:nvPicPr>
            <p:cNvPr id="1075" name="Google Shape;1075;p5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76" name="Google Shape;1076;p5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77" name="Google Shape;1077;p53"/>
          <p:cNvGrpSpPr/>
          <p:nvPr/>
        </p:nvGrpSpPr>
        <p:grpSpPr>
          <a:xfrm flipH="1">
            <a:off x="3257550" y="4711700"/>
            <a:ext cx="641350" cy="558800"/>
            <a:chOff x="-44" y="1473"/>
            <a:chExt cx="981" cy="1105"/>
          </a:xfrm>
        </p:grpSpPr>
        <p:pic>
          <p:nvPicPr>
            <p:cNvPr id="1078" name="Google Shape;1078;p5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79" name="Google Shape;1079;p5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80" name="Google Shape;1080;p53"/>
          <p:cNvGrpSpPr/>
          <p:nvPr/>
        </p:nvGrpSpPr>
        <p:grpSpPr>
          <a:xfrm flipH="1">
            <a:off x="2093913" y="4752975"/>
            <a:ext cx="641350" cy="558800"/>
            <a:chOff x="-44" y="1473"/>
            <a:chExt cx="981" cy="1105"/>
          </a:xfrm>
        </p:grpSpPr>
        <p:pic>
          <p:nvPicPr>
            <p:cNvPr id="1081" name="Google Shape;1081;p53"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1082" name="Google Shape;1082;p53"/>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083" name="Google Shape;1083;p53"/>
          <p:cNvGrpSpPr/>
          <p:nvPr/>
        </p:nvGrpSpPr>
        <p:grpSpPr>
          <a:xfrm>
            <a:off x="2522538" y="2846388"/>
            <a:ext cx="698500" cy="355600"/>
            <a:chOff x="4396" y="1245"/>
            <a:chExt cx="672" cy="248"/>
          </a:xfrm>
        </p:grpSpPr>
        <p:sp>
          <p:nvSpPr>
            <p:cNvPr id="1084" name="Google Shape;1084;p53"/>
            <p:cNvSpPr/>
            <p:nvPr/>
          </p:nvSpPr>
          <p:spPr>
            <a:xfrm>
              <a:off x="4399" y="1355"/>
              <a:ext cx="666" cy="138"/>
            </a:xfrm>
            <a:prstGeom prst="ellipse">
              <a:avLst/>
            </a:prstGeom>
            <a:gradFill>
              <a:gsLst>
                <a:gs pos="0">
                  <a:srgbClr val="CCCCFF"/>
                </a:gs>
                <a:gs pos="100000">
                  <a:srgbClr val="FFFFFF"/>
                </a:gs>
              </a:gsLst>
              <a:lin ang="0" scaled="0"/>
            </a:gra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
          <p:nvSpPr>
            <p:cNvPr id="1085" name="Google Shape;1085;p53"/>
            <p:cNvSpPr/>
            <p:nvPr/>
          </p:nvSpPr>
          <p:spPr>
            <a:xfrm>
              <a:off x="4399" y="1339"/>
              <a:ext cx="669" cy="86"/>
            </a:xfrm>
            <a:prstGeom prst="rect">
              <a:avLst/>
            </a:prstGeom>
            <a:gradFill>
              <a:gsLst>
                <a:gs pos="0">
                  <a:srgbClr val="CCCCFF"/>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sp>
          <p:nvSpPr>
            <p:cNvPr id="1086" name="Google Shape;1086;p53"/>
            <p:cNvSpPr/>
            <p:nvPr/>
          </p:nvSpPr>
          <p:spPr>
            <a:xfrm>
              <a:off x="4396" y="1245"/>
              <a:ext cx="667" cy="162"/>
            </a:xfrm>
            <a:prstGeom prst="ellipse">
              <a:avLst/>
            </a:prstGeom>
            <a:gradFill>
              <a:gsLst>
                <a:gs pos="0">
                  <a:srgbClr val="CCCCFF"/>
                </a:gs>
                <a:gs pos="100000">
                  <a:srgbClr val="FFFFFF"/>
                </a:gs>
              </a:gsLst>
              <a:lin ang="0" scaled="0"/>
            </a:gradFill>
            <a:ln w="190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grpSp>
          <p:nvGrpSpPr>
            <p:cNvPr id="1087" name="Google Shape;1087;p53"/>
            <p:cNvGrpSpPr/>
            <p:nvPr/>
          </p:nvGrpSpPr>
          <p:grpSpPr>
            <a:xfrm>
              <a:off x="4530" y="1287"/>
              <a:ext cx="377" cy="75"/>
              <a:chOff x="2468" y="1332"/>
              <a:chExt cx="310" cy="60"/>
            </a:xfrm>
          </p:grpSpPr>
          <p:sp>
            <p:nvSpPr>
              <p:cNvPr id="1088" name="Google Shape;1088;p53"/>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9050" cap="flat"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89" name="Google Shape;1089;p53"/>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9050" cap="flat" cmpd="sng">
                <a:solidFill>
                  <a:srgbClr val="00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cxnSp>
          <p:nvCxnSpPr>
            <p:cNvPr id="1090" name="Google Shape;1090;p53"/>
            <p:cNvCxnSpPr/>
            <p:nvPr/>
          </p:nvCxnSpPr>
          <p:spPr>
            <a:xfrm>
              <a:off x="4399" y="1321"/>
              <a:ext cx="0" cy="109"/>
            </a:xfrm>
            <a:prstGeom prst="straightConnector1">
              <a:avLst/>
            </a:prstGeom>
            <a:noFill/>
            <a:ln w="19050" cap="flat" cmpd="sng">
              <a:solidFill>
                <a:srgbClr val="000000"/>
              </a:solidFill>
              <a:prstDash val="solid"/>
              <a:round/>
              <a:headEnd type="none" w="med" len="med"/>
              <a:tailEnd type="none" w="med" len="med"/>
            </a:ln>
          </p:spPr>
        </p:cxnSp>
        <p:cxnSp>
          <p:nvCxnSpPr>
            <p:cNvPr id="1091" name="Google Shape;1091;p53"/>
            <p:cNvCxnSpPr/>
            <p:nvPr/>
          </p:nvCxnSpPr>
          <p:spPr>
            <a:xfrm>
              <a:off x="5063" y="1326"/>
              <a:ext cx="0" cy="107"/>
            </a:xfrm>
            <a:prstGeom prst="straightConnector1">
              <a:avLst/>
            </a:prstGeom>
            <a:noFill/>
            <a:ln w="19050" cap="flat" cmpd="sng">
              <a:solidFill>
                <a:srgbClr val="000000"/>
              </a:solidFill>
              <a:prstDash val="solid"/>
              <a:round/>
              <a:headEnd type="none" w="med" len="med"/>
              <a:tailEnd type="none" w="med" len="med"/>
            </a:ln>
          </p:spPr>
        </p:cxnSp>
      </p:grpSp>
      <p:sp>
        <p:nvSpPr>
          <p:cNvPr id="1092" name="Google Shape;1092;p53"/>
          <p:cNvSpPr/>
          <p:nvPr/>
        </p:nvSpPr>
        <p:spPr>
          <a:xfrm>
            <a:off x="1376363" y="2462213"/>
            <a:ext cx="288925" cy="233362"/>
          </a:xfrm>
          <a:prstGeom prst="rect">
            <a:avLst/>
          </a:pr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093" name="Google Shape;1093;p53"/>
          <p:cNvSpPr txBox="1"/>
          <p:nvPr/>
        </p:nvSpPr>
        <p:spPr>
          <a:xfrm>
            <a:off x="1211263" y="2368550"/>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223.1.1.2</a:t>
            </a:r>
            <a:endParaRPr sz="1400">
              <a:solidFill>
                <a:schemeClr val="dk1"/>
              </a:solidFill>
              <a:latin typeface="Comic Sans MS"/>
              <a:ea typeface="Comic Sans MS"/>
              <a:cs typeface="Comic Sans MS"/>
              <a:sym typeface="Comic Sans MS"/>
            </a:endParaRPr>
          </a:p>
        </p:txBody>
      </p:sp>
      <p:sp>
        <p:nvSpPr>
          <p:cNvPr id="1094" name="Google Shape;1094;p53"/>
          <p:cNvSpPr/>
          <p:nvPr/>
        </p:nvSpPr>
        <p:spPr>
          <a:xfrm>
            <a:off x="4117975" y="3171825"/>
            <a:ext cx="288925" cy="233363"/>
          </a:xfrm>
          <a:prstGeom prst="rect">
            <a:avLst/>
          </a:pr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095" name="Google Shape;1095;p53"/>
          <p:cNvSpPr/>
          <p:nvPr/>
        </p:nvSpPr>
        <p:spPr>
          <a:xfrm>
            <a:off x="2765425" y="3357563"/>
            <a:ext cx="288925" cy="233362"/>
          </a:xfrm>
          <a:prstGeom prst="rect">
            <a:avLst/>
          </a:pr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096" name="Google Shape;1096;p53"/>
          <p:cNvSpPr txBox="1"/>
          <p:nvPr/>
        </p:nvSpPr>
        <p:spPr>
          <a:xfrm>
            <a:off x="2389188" y="3319463"/>
            <a:ext cx="1033462"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223.1.3.27</a:t>
            </a:r>
            <a:endParaRPr sz="1400">
              <a:solidFill>
                <a:schemeClr val="dk1"/>
              </a:solidFill>
              <a:latin typeface="Comic Sans MS"/>
              <a:ea typeface="Comic Sans MS"/>
              <a:cs typeface="Comic Sans MS"/>
              <a:sym typeface="Comic Sans MS"/>
            </a:endParaRPr>
          </a:p>
        </p:txBody>
      </p:sp>
      <p:sp>
        <p:nvSpPr>
          <p:cNvPr id="1097" name="Google Shape;1097;p53"/>
          <p:cNvSpPr txBox="1"/>
          <p:nvPr/>
        </p:nvSpPr>
        <p:spPr>
          <a:xfrm>
            <a:off x="3487738" y="3186113"/>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223.1.2.2</a:t>
            </a:r>
            <a:endParaRPr sz="1400">
              <a:solidFill>
                <a:schemeClr val="dk1"/>
              </a:solidFill>
              <a:latin typeface="Comic Sans MS"/>
              <a:ea typeface="Comic Sans MS"/>
              <a:cs typeface="Comic Sans MS"/>
              <a:sym typeface="Comic Sans MS"/>
            </a:endParaRPr>
          </a:p>
        </p:txBody>
      </p:sp>
      <p:sp>
        <p:nvSpPr>
          <p:cNvPr id="1098" name="Google Shape;1098;p53"/>
          <p:cNvSpPr txBox="1"/>
          <p:nvPr/>
        </p:nvSpPr>
        <p:spPr>
          <a:xfrm>
            <a:off x="4318000" y="1670050"/>
            <a:ext cx="933450" cy="307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223.1.2.1</a:t>
            </a:r>
            <a:endParaRPr sz="1400">
              <a:solidFill>
                <a:schemeClr val="dk1"/>
              </a:solidFill>
              <a:latin typeface="Comic Sans MS"/>
              <a:ea typeface="Comic Sans MS"/>
              <a:cs typeface="Comic Sans MS"/>
              <a:sym typeface="Comic Sans MS"/>
            </a:endParaRPr>
          </a:p>
        </p:txBody>
      </p:sp>
      <p:sp>
        <p:nvSpPr>
          <p:cNvPr id="1099" name="Google Shape;1099;p53"/>
          <p:cNvSpPr txBox="1"/>
          <p:nvPr/>
        </p:nvSpPr>
        <p:spPr>
          <a:xfrm>
            <a:off x="3052763" y="1103313"/>
            <a:ext cx="906462" cy="609600"/>
          </a:xfrm>
          <a:prstGeom prst="rect">
            <a:avLst/>
          </a:prstGeom>
          <a:noFill/>
          <a:ln>
            <a:noFill/>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None/>
            </a:pPr>
            <a:r>
              <a:rPr lang="en-US" sz="2000" i="1">
                <a:solidFill>
                  <a:srgbClr val="CC0000"/>
                </a:solidFill>
                <a:latin typeface="Arial"/>
                <a:ea typeface="Arial"/>
                <a:cs typeface="Arial"/>
                <a:sym typeface="Arial"/>
              </a:rPr>
              <a:t>DHCP</a:t>
            </a:r>
            <a:endParaRPr/>
          </a:p>
          <a:p>
            <a:pPr marL="0" marR="0" lvl="0" indent="0" algn="l" rtl="0">
              <a:lnSpc>
                <a:spcPct val="85000"/>
              </a:lnSpc>
              <a:spcBef>
                <a:spcPts val="0"/>
              </a:spcBef>
              <a:spcAft>
                <a:spcPts val="0"/>
              </a:spcAft>
              <a:buNone/>
            </a:pPr>
            <a:r>
              <a:rPr lang="en-US" sz="2000" i="1">
                <a:solidFill>
                  <a:srgbClr val="CC0000"/>
                </a:solidFill>
                <a:latin typeface="Arial"/>
                <a:ea typeface="Arial"/>
                <a:cs typeface="Arial"/>
                <a:sym typeface="Arial"/>
              </a:rPr>
              <a:t>server</a:t>
            </a:r>
            <a:endParaRPr/>
          </a:p>
        </p:txBody>
      </p:sp>
      <p:sp>
        <p:nvSpPr>
          <p:cNvPr id="1100" name="Google Shape;1100;p53"/>
          <p:cNvSpPr txBox="1"/>
          <p:nvPr/>
        </p:nvSpPr>
        <p:spPr>
          <a:xfrm>
            <a:off x="6215063" y="2401888"/>
            <a:ext cx="1820862" cy="1127125"/>
          </a:xfrm>
          <a:prstGeom prst="rect">
            <a:avLst/>
          </a:prstGeom>
          <a:noFill/>
          <a:ln>
            <a:noFill/>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None/>
            </a:pPr>
            <a:r>
              <a:rPr lang="en-US" sz="2000" i="1">
                <a:solidFill>
                  <a:schemeClr val="dk1"/>
                </a:solidFill>
                <a:latin typeface="Arial"/>
                <a:ea typeface="Arial"/>
                <a:cs typeface="Arial"/>
                <a:sym typeface="Arial"/>
              </a:rPr>
              <a:t>arriving </a:t>
            </a:r>
            <a:r>
              <a:rPr lang="en-US" sz="2000" i="1">
                <a:solidFill>
                  <a:srgbClr val="CC0000"/>
                </a:solidFill>
                <a:latin typeface="Arial"/>
                <a:ea typeface="Arial"/>
                <a:cs typeface="Arial"/>
                <a:sym typeface="Arial"/>
              </a:rPr>
              <a:t>DHCP</a:t>
            </a:r>
            <a:endParaRPr/>
          </a:p>
          <a:p>
            <a:pPr marL="0" marR="0" lvl="0" indent="0" algn="l" rtl="0">
              <a:lnSpc>
                <a:spcPct val="85000"/>
              </a:lnSpc>
              <a:spcBef>
                <a:spcPts val="0"/>
              </a:spcBef>
              <a:spcAft>
                <a:spcPts val="0"/>
              </a:spcAft>
              <a:buNone/>
            </a:pPr>
            <a:r>
              <a:rPr lang="en-US" sz="2000" i="1">
                <a:solidFill>
                  <a:srgbClr val="CC0000"/>
                </a:solidFill>
                <a:latin typeface="Arial"/>
                <a:ea typeface="Arial"/>
                <a:cs typeface="Arial"/>
                <a:sym typeface="Arial"/>
              </a:rPr>
              <a:t>client</a:t>
            </a:r>
            <a:r>
              <a:rPr lang="en-US" sz="2000" i="1">
                <a:solidFill>
                  <a:schemeClr val="dk1"/>
                </a:solidFill>
                <a:latin typeface="Arial"/>
                <a:ea typeface="Arial"/>
                <a:cs typeface="Arial"/>
                <a:sym typeface="Arial"/>
              </a:rPr>
              <a:t> needs </a:t>
            </a:r>
            <a:endParaRPr/>
          </a:p>
          <a:p>
            <a:pPr marL="0" marR="0" lvl="0" indent="0" algn="l" rtl="0">
              <a:lnSpc>
                <a:spcPct val="85000"/>
              </a:lnSpc>
              <a:spcBef>
                <a:spcPts val="0"/>
              </a:spcBef>
              <a:spcAft>
                <a:spcPts val="0"/>
              </a:spcAft>
              <a:buNone/>
            </a:pPr>
            <a:r>
              <a:rPr lang="en-US" sz="2000" i="1">
                <a:solidFill>
                  <a:schemeClr val="dk1"/>
                </a:solidFill>
                <a:latin typeface="Arial"/>
                <a:ea typeface="Arial"/>
                <a:cs typeface="Arial"/>
                <a:sym typeface="Arial"/>
              </a:rPr>
              <a:t>address in this</a:t>
            </a:r>
            <a:endParaRPr/>
          </a:p>
          <a:p>
            <a:pPr marL="0" marR="0" lvl="0" indent="0" algn="l" rtl="0">
              <a:lnSpc>
                <a:spcPct val="85000"/>
              </a:lnSpc>
              <a:spcBef>
                <a:spcPts val="0"/>
              </a:spcBef>
              <a:spcAft>
                <a:spcPts val="0"/>
              </a:spcAft>
              <a:buNone/>
            </a:pPr>
            <a:r>
              <a:rPr lang="en-US" sz="2000" i="1">
                <a:solidFill>
                  <a:schemeClr val="dk1"/>
                </a:solidFill>
                <a:latin typeface="Arial"/>
                <a:ea typeface="Arial"/>
                <a:cs typeface="Arial"/>
                <a:sym typeface="Arial"/>
              </a:rPr>
              <a:t>network</a:t>
            </a:r>
            <a:endParaRPr/>
          </a:p>
        </p:txBody>
      </p:sp>
      <p:grpSp>
        <p:nvGrpSpPr>
          <p:cNvPr id="1101" name="Google Shape;1101;p53"/>
          <p:cNvGrpSpPr/>
          <p:nvPr/>
        </p:nvGrpSpPr>
        <p:grpSpPr>
          <a:xfrm>
            <a:off x="3460750" y="1738313"/>
            <a:ext cx="401638" cy="681037"/>
            <a:chOff x="4140" y="429"/>
            <a:chExt cx="1425" cy="2396"/>
          </a:xfrm>
        </p:grpSpPr>
        <p:sp>
          <p:nvSpPr>
            <p:cNvPr id="1102" name="Google Shape;1102;p53"/>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3" name="Google Shape;1103;p53"/>
            <p:cNvSpPr/>
            <p:nvPr/>
          </p:nvSpPr>
          <p:spPr>
            <a:xfrm>
              <a:off x="4208" y="429"/>
              <a:ext cx="1048" cy="2284"/>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04" name="Google Shape;1104;p53"/>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5" name="Google Shape;1105;p53"/>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6" name="Google Shape;1106;p53"/>
            <p:cNvSpPr/>
            <p:nvPr/>
          </p:nvSpPr>
          <p:spPr>
            <a:xfrm>
              <a:off x="4213" y="691"/>
              <a:ext cx="597" cy="5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nvGrpSpPr>
            <p:cNvPr id="1107" name="Google Shape;1107;p53"/>
            <p:cNvGrpSpPr/>
            <p:nvPr/>
          </p:nvGrpSpPr>
          <p:grpSpPr>
            <a:xfrm>
              <a:off x="4748" y="669"/>
              <a:ext cx="580" cy="145"/>
              <a:chOff x="613" y="2569"/>
              <a:chExt cx="724" cy="139"/>
            </a:xfrm>
          </p:grpSpPr>
          <p:sp>
            <p:nvSpPr>
              <p:cNvPr id="1108" name="Google Shape;1108;p53"/>
              <p:cNvSpPr/>
              <p:nvPr/>
            </p:nvSpPr>
            <p:spPr>
              <a:xfrm>
                <a:off x="613" y="2569"/>
                <a:ext cx="724" cy="139"/>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09" name="Google Shape;1109;p53"/>
              <p:cNvSpPr/>
              <p:nvPr/>
            </p:nvSpPr>
            <p:spPr>
              <a:xfrm>
                <a:off x="627" y="2585"/>
                <a:ext cx="689"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sp>
          <p:nvSpPr>
            <p:cNvPr id="1110" name="Google Shape;1110;p53"/>
            <p:cNvSpPr/>
            <p:nvPr/>
          </p:nvSpPr>
          <p:spPr>
            <a:xfrm>
              <a:off x="4224" y="1021"/>
              <a:ext cx="597" cy="4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nvGrpSpPr>
            <p:cNvPr id="1111" name="Google Shape;1111;p53"/>
            <p:cNvGrpSpPr/>
            <p:nvPr/>
          </p:nvGrpSpPr>
          <p:grpSpPr>
            <a:xfrm>
              <a:off x="4749" y="993"/>
              <a:ext cx="580" cy="134"/>
              <a:chOff x="616" y="2567"/>
              <a:chExt cx="724" cy="139"/>
            </a:xfrm>
          </p:grpSpPr>
          <p:sp>
            <p:nvSpPr>
              <p:cNvPr id="1112" name="Google Shape;1112;p53"/>
              <p:cNvSpPr/>
              <p:nvPr/>
            </p:nvSpPr>
            <p:spPr>
              <a:xfrm>
                <a:off x="616" y="2567"/>
                <a:ext cx="724" cy="139"/>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13" name="Google Shape;1113;p53"/>
              <p:cNvSpPr/>
              <p:nvPr/>
            </p:nvSpPr>
            <p:spPr>
              <a:xfrm>
                <a:off x="630" y="2584"/>
                <a:ext cx="689"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sp>
          <p:nvSpPr>
            <p:cNvPr id="1114" name="Google Shape;1114;p53"/>
            <p:cNvSpPr/>
            <p:nvPr/>
          </p:nvSpPr>
          <p:spPr>
            <a:xfrm>
              <a:off x="4219" y="1356"/>
              <a:ext cx="591" cy="5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15" name="Google Shape;1115;p53"/>
            <p:cNvSpPr/>
            <p:nvPr/>
          </p:nvSpPr>
          <p:spPr>
            <a:xfrm>
              <a:off x="4230" y="1658"/>
              <a:ext cx="591" cy="45"/>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nvGrpSpPr>
            <p:cNvPr id="1116" name="Google Shape;1116;p53"/>
            <p:cNvGrpSpPr/>
            <p:nvPr/>
          </p:nvGrpSpPr>
          <p:grpSpPr>
            <a:xfrm>
              <a:off x="4737" y="1641"/>
              <a:ext cx="580" cy="151"/>
              <a:chOff x="617" y="2581"/>
              <a:chExt cx="723" cy="139"/>
            </a:xfrm>
          </p:grpSpPr>
          <p:sp>
            <p:nvSpPr>
              <p:cNvPr id="1117" name="Google Shape;1117;p53"/>
              <p:cNvSpPr/>
              <p:nvPr/>
            </p:nvSpPr>
            <p:spPr>
              <a:xfrm>
                <a:off x="617" y="2581"/>
                <a:ext cx="723" cy="139"/>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18" name="Google Shape;1118;p53"/>
              <p:cNvSpPr/>
              <p:nvPr/>
            </p:nvSpPr>
            <p:spPr>
              <a:xfrm>
                <a:off x="631" y="2586"/>
                <a:ext cx="688" cy="108"/>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sp>
          <p:nvSpPr>
            <p:cNvPr id="1119" name="Google Shape;1119;p53"/>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120" name="Google Shape;1120;p53"/>
            <p:cNvGrpSpPr/>
            <p:nvPr/>
          </p:nvGrpSpPr>
          <p:grpSpPr>
            <a:xfrm>
              <a:off x="4737" y="1328"/>
              <a:ext cx="586" cy="140"/>
              <a:chOff x="612" y="2569"/>
              <a:chExt cx="730" cy="140"/>
            </a:xfrm>
          </p:grpSpPr>
          <p:sp>
            <p:nvSpPr>
              <p:cNvPr id="1121" name="Google Shape;1121;p53"/>
              <p:cNvSpPr/>
              <p:nvPr/>
            </p:nvSpPr>
            <p:spPr>
              <a:xfrm>
                <a:off x="612" y="2569"/>
                <a:ext cx="730" cy="140"/>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22" name="Google Shape;1122;p53"/>
              <p:cNvSpPr/>
              <p:nvPr/>
            </p:nvSpPr>
            <p:spPr>
              <a:xfrm>
                <a:off x="626" y="2586"/>
                <a:ext cx="695"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sp>
          <p:nvSpPr>
            <p:cNvPr id="1123" name="Google Shape;1123;p53"/>
            <p:cNvSpPr/>
            <p:nvPr/>
          </p:nvSpPr>
          <p:spPr>
            <a:xfrm>
              <a:off x="5250" y="429"/>
              <a:ext cx="68" cy="2290"/>
            </a:xfrm>
            <a:prstGeom prst="rect">
              <a:avLst/>
            </a:prstGeom>
            <a:gradFill>
              <a:gsLst>
                <a:gs pos="0">
                  <a:srgbClr val="333333"/>
                </a:gs>
                <a:gs pos="50000">
                  <a:srgbClr val="DDDDDD"/>
                </a:gs>
                <a:gs pos="100000">
                  <a:srgbClr val="333333"/>
                </a:gs>
              </a:gsLst>
              <a:lin ang="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24" name="Google Shape;1124;p53"/>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5" name="Google Shape;1125;p53"/>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6" name="Google Shape;1126;p53"/>
            <p:cNvSpPr/>
            <p:nvPr/>
          </p:nvSpPr>
          <p:spPr>
            <a:xfrm>
              <a:off x="5514" y="2613"/>
              <a:ext cx="51"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27" name="Google Shape;1127;p53"/>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8" name="Google Shape;1128;p53"/>
            <p:cNvSpPr/>
            <p:nvPr/>
          </p:nvSpPr>
          <p:spPr>
            <a:xfrm>
              <a:off x="4140" y="2680"/>
              <a:ext cx="1200" cy="145"/>
            </a:xfrm>
            <a:prstGeom prst="roundRect">
              <a:avLst>
                <a:gd name="adj" fmla="val 50000"/>
              </a:avLst>
            </a:prstGeom>
            <a:solidFill>
              <a:srgbClr val="DDDDD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29" name="Google Shape;1129;p53"/>
            <p:cNvSpPr/>
            <p:nvPr/>
          </p:nvSpPr>
          <p:spPr>
            <a:xfrm>
              <a:off x="4208" y="2713"/>
              <a:ext cx="1070" cy="78"/>
            </a:xfrm>
            <a:prstGeom prst="roundRect">
              <a:avLst>
                <a:gd name="adj" fmla="val 50000"/>
              </a:avLst>
            </a:prstGeom>
            <a:gradFill>
              <a:gsLst>
                <a:gs pos="0">
                  <a:schemeClr val="dk2"/>
                </a:gs>
                <a:gs pos="100000">
                  <a:schemeClr val="lt2"/>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30" name="Google Shape;1130;p53"/>
            <p:cNvSpPr/>
            <p:nvPr/>
          </p:nvSpPr>
          <p:spPr>
            <a:xfrm>
              <a:off x="4309" y="2384"/>
              <a:ext cx="158" cy="140"/>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31" name="Google Shape;1131;p53"/>
            <p:cNvSpPr/>
            <p:nvPr/>
          </p:nvSpPr>
          <p:spPr>
            <a:xfrm>
              <a:off x="4484" y="2384"/>
              <a:ext cx="163" cy="145"/>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FF0000"/>
                </a:solidFill>
                <a:latin typeface="Arial"/>
                <a:ea typeface="Arial"/>
                <a:cs typeface="Arial"/>
                <a:sym typeface="Arial"/>
              </a:endParaRPr>
            </a:p>
          </p:txBody>
        </p:sp>
        <p:sp>
          <p:nvSpPr>
            <p:cNvPr id="1132" name="Google Shape;1132;p53"/>
            <p:cNvSpPr/>
            <p:nvPr/>
          </p:nvSpPr>
          <p:spPr>
            <a:xfrm>
              <a:off x="4664" y="2384"/>
              <a:ext cx="158" cy="140"/>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1133" name="Google Shape;1133;p53"/>
            <p:cNvSpPr/>
            <p:nvPr/>
          </p:nvSpPr>
          <p:spPr>
            <a:xfrm>
              <a:off x="5064" y="1836"/>
              <a:ext cx="84" cy="760"/>
            </a:xfrm>
            <a:prstGeom prst="rect">
              <a:avLst/>
            </a:prstGeom>
            <a:solidFill>
              <a:srgbClr val="29292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grpSp>
        <p:nvGrpSpPr>
          <p:cNvPr id="1134" name="Google Shape;1134;p53"/>
          <p:cNvGrpSpPr/>
          <p:nvPr/>
        </p:nvGrpSpPr>
        <p:grpSpPr>
          <a:xfrm>
            <a:off x="5073650" y="2484438"/>
            <a:ext cx="1101725" cy="559230"/>
            <a:chOff x="3428" y="1798"/>
            <a:chExt cx="694" cy="352"/>
          </a:xfrm>
        </p:grpSpPr>
        <p:grpSp>
          <p:nvGrpSpPr>
            <p:cNvPr id="1135" name="Google Shape;1135;p53"/>
            <p:cNvGrpSpPr/>
            <p:nvPr/>
          </p:nvGrpSpPr>
          <p:grpSpPr>
            <a:xfrm>
              <a:off x="3625" y="1798"/>
              <a:ext cx="497" cy="352"/>
              <a:chOff x="4417" y="878"/>
              <a:chExt cx="617" cy="466"/>
            </a:xfrm>
          </p:grpSpPr>
          <p:pic>
            <p:nvPicPr>
              <p:cNvPr id="1136" name="Google Shape;1136;p53" descr="laptop_keyboard"/>
              <p:cNvPicPr preferRelativeResize="0"/>
              <p:nvPr/>
            </p:nvPicPr>
            <p:blipFill rotWithShape="1">
              <a:blip r:embed="rId4">
                <a:alphaModFix/>
              </a:blip>
              <a:srcRect/>
              <a:stretch/>
            </p:blipFill>
            <p:spPr>
              <a:xfrm rot="109064" flipH="1">
                <a:off x="4420" y="1108"/>
                <a:ext cx="527" cy="228"/>
              </a:xfrm>
              <a:prstGeom prst="rect">
                <a:avLst/>
              </a:prstGeom>
              <a:noFill/>
              <a:ln>
                <a:noFill/>
              </a:ln>
            </p:spPr>
          </p:pic>
          <p:sp>
            <p:nvSpPr>
              <p:cNvPr id="1137" name="Google Shape;1137;p53"/>
              <p:cNvSpPr/>
              <p:nvPr/>
            </p:nvSpPr>
            <p:spPr>
              <a:xfrm>
                <a:off x="4595" y="888"/>
                <a:ext cx="424" cy="297"/>
              </a:xfrm>
              <a:custGeom>
                <a:avLst/>
                <a:gdLst/>
                <a:ahLst/>
                <a:cxnLst/>
                <a:rect l="l" t="t" r="r" b="b"/>
                <a:pathLst>
                  <a:path w="2982" h="2442" extrusionOk="0">
                    <a:moveTo>
                      <a:pt x="540" y="0"/>
                    </a:moveTo>
                    <a:lnTo>
                      <a:pt x="0" y="1734"/>
                    </a:lnTo>
                    <a:lnTo>
                      <a:pt x="2394" y="2442"/>
                    </a:lnTo>
                    <a:lnTo>
                      <a:pt x="2982" y="318"/>
                    </a:lnTo>
                    <a:lnTo>
                      <a:pt x="54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138" name="Google Shape;1138;p53" descr="screen"/>
              <p:cNvPicPr preferRelativeResize="0"/>
              <p:nvPr/>
            </p:nvPicPr>
            <p:blipFill rotWithShape="1">
              <a:blip r:embed="rId5">
                <a:alphaModFix/>
              </a:blip>
              <a:srcRect/>
              <a:stretch/>
            </p:blipFill>
            <p:spPr>
              <a:xfrm>
                <a:off x="4616" y="895"/>
                <a:ext cx="385" cy="271"/>
              </a:xfrm>
              <a:prstGeom prst="rect">
                <a:avLst/>
              </a:prstGeom>
              <a:noFill/>
              <a:ln>
                <a:noFill/>
              </a:ln>
            </p:spPr>
          </p:pic>
          <p:sp>
            <p:nvSpPr>
              <p:cNvPr id="1139" name="Google Shape;1139;p53"/>
              <p:cNvSpPr/>
              <p:nvPr/>
            </p:nvSpPr>
            <p:spPr>
              <a:xfrm>
                <a:off x="4672" y="879"/>
                <a:ext cx="359" cy="55"/>
              </a:xfrm>
              <a:custGeom>
                <a:avLst/>
                <a:gdLst/>
                <a:ahLst/>
                <a:cxnLst/>
                <a:rect l="l" t="t" r="r" b="b"/>
                <a:pathLst>
                  <a:path w="2528" h="455" extrusionOk="0">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0" name="Google Shape;1140;p53"/>
              <p:cNvSpPr/>
              <p:nvPr/>
            </p:nvSpPr>
            <p:spPr>
              <a:xfrm>
                <a:off x="4591" y="878"/>
                <a:ext cx="100" cy="230"/>
              </a:xfrm>
              <a:custGeom>
                <a:avLst/>
                <a:gdLst/>
                <a:ahLst/>
                <a:cxnLst/>
                <a:rect l="l" t="t" r="r" b="b"/>
                <a:pathLst>
                  <a:path w="702" h="1893" extrusionOk="0">
                    <a:moveTo>
                      <a:pt x="579" y="0"/>
                    </a:moveTo>
                    <a:lnTo>
                      <a:pt x="0" y="1869"/>
                    </a:lnTo>
                    <a:lnTo>
                      <a:pt x="114" y="1893"/>
                    </a:lnTo>
                    <a:lnTo>
                      <a:pt x="702" y="51"/>
                    </a:lnTo>
                    <a:lnTo>
                      <a:pt x="579"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1" name="Google Shape;1141;p53"/>
              <p:cNvSpPr/>
              <p:nvPr/>
            </p:nvSpPr>
            <p:spPr>
              <a:xfrm>
                <a:off x="4921" y="920"/>
                <a:ext cx="108" cy="265"/>
              </a:xfrm>
              <a:custGeom>
                <a:avLst/>
                <a:gdLst/>
                <a:ahLst/>
                <a:cxnLst/>
                <a:rect l="l" t="t" r="r" b="b"/>
                <a:pathLst>
                  <a:path w="756" h="2184" extrusionOk="0">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2" name="Google Shape;1142;p53"/>
              <p:cNvSpPr/>
              <p:nvPr/>
            </p:nvSpPr>
            <p:spPr>
              <a:xfrm>
                <a:off x="4590" y="1097"/>
                <a:ext cx="394" cy="89"/>
              </a:xfrm>
              <a:custGeom>
                <a:avLst/>
                <a:gdLst/>
                <a:ahLst/>
                <a:cxnLst/>
                <a:rect l="l" t="t" r="r" b="b"/>
                <a:pathLst>
                  <a:path w="2773" h="738" extrusionOk="0">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3" name="Google Shape;1143;p53"/>
              <p:cNvSpPr/>
              <p:nvPr/>
            </p:nvSpPr>
            <p:spPr>
              <a:xfrm>
                <a:off x="4933" y="922"/>
                <a:ext cx="101" cy="266"/>
              </a:xfrm>
              <a:custGeom>
                <a:avLst/>
                <a:gdLst/>
                <a:ahLst/>
                <a:cxnLst/>
                <a:rect l="l" t="t" r="r" b="b"/>
                <a:pathLst>
                  <a:path w="637" h="1659" extrusionOk="0">
                    <a:moveTo>
                      <a:pt x="615" y="0"/>
                    </a:moveTo>
                    <a:lnTo>
                      <a:pt x="637" y="0"/>
                    </a:lnTo>
                    <a:lnTo>
                      <a:pt x="68" y="1659"/>
                    </a:lnTo>
                    <a:lnTo>
                      <a:pt x="0" y="1647"/>
                    </a:lnTo>
                    <a:lnTo>
                      <a:pt x="615" y="0"/>
                    </a:lnTo>
                    <a:close/>
                  </a:path>
                </a:pathLst>
              </a:custGeom>
              <a:solidFill>
                <a:srgbClr val="4D4D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4" name="Google Shape;1144;p53"/>
              <p:cNvSpPr/>
              <p:nvPr/>
            </p:nvSpPr>
            <p:spPr>
              <a:xfrm>
                <a:off x="4590" y="1109"/>
                <a:ext cx="351" cy="88"/>
              </a:xfrm>
              <a:custGeom>
                <a:avLst/>
                <a:gdLst/>
                <a:ahLst/>
                <a:cxnLst/>
                <a:rect l="l" t="t" r="r" b="b"/>
                <a:pathLst>
                  <a:path w="2216" h="550" extrusionOk="0">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145" name="Google Shape;1145;p53"/>
              <p:cNvGrpSpPr/>
              <p:nvPr/>
            </p:nvGrpSpPr>
            <p:grpSpPr>
              <a:xfrm>
                <a:off x="4584" y="1203"/>
                <a:ext cx="119" cy="53"/>
                <a:chOff x="1740" y="2642"/>
                <a:chExt cx="752" cy="327"/>
              </a:xfrm>
            </p:grpSpPr>
            <p:sp>
              <p:nvSpPr>
                <p:cNvPr id="1146" name="Google Shape;1146;p53"/>
                <p:cNvSpPr/>
                <p:nvPr/>
              </p:nvSpPr>
              <p:spPr>
                <a:xfrm>
                  <a:off x="1740" y="2642"/>
                  <a:ext cx="752" cy="327"/>
                </a:xfrm>
                <a:custGeom>
                  <a:avLst/>
                  <a:gdLst/>
                  <a:ahLst/>
                  <a:cxnLst/>
                  <a:rect l="l" t="t" r="r" b="b"/>
                  <a:pathLst>
                    <a:path w="752" h="327" extrusionOk="0">
                      <a:moveTo>
                        <a:pt x="293" y="0"/>
                      </a:moveTo>
                      <a:lnTo>
                        <a:pt x="752" y="124"/>
                      </a:lnTo>
                      <a:lnTo>
                        <a:pt x="470" y="327"/>
                      </a:lnTo>
                      <a:lnTo>
                        <a:pt x="0" y="183"/>
                      </a:lnTo>
                      <a:lnTo>
                        <a:pt x="293"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7" name="Google Shape;1147;p53"/>
                <p:cNvSpPr/>
                <p:nvPr/>
              </p:nvSpPr>
              <p:spPr>
                <a:xfrm>
                  <a:off x="1754" y="2649"/>
                  <a:ext cx="726" cy="311"/>
                </a:xfrm>
                <a:custGeom>
                  <a:avLst/>
                  <a:gdLst/>
                  <a:ahLst/>
                  <a:cxnLst/>
                  <a:rect l="l" t="t" r="r" b="b"/>
                  <a:pathLst>
                    <a:path w="726" h="311" extrusionOk="0">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8" name="Google Shape;1148;p53"/>
                <p:cNvSpPr/>
                <p:nvPr/>
              </p:nvSpPr>
              <p:spPr>
                <a:xfrm>
                  <a:off x="1808" y="2770"/>
                  <a:ext cx="258" cy="100"/>
                </a:xfrm>
                <a:custGeom>
                  <a:avLst/>
                  <a:gdLst/>
                  <a:ahLst/>
                  <a:cxnLst/>
                  <a:rect l="l" t="t" r="r" b="b"/>
                  <a:pathLst>
                    <a:path w="258" h="100" extrusionOk="0">
                      <a:moveTo>
                        <a:pt x="0" y="44"/>
                      </a:moveTo>
                      <a:lnTo>
                        <a:pt x="75" y="0"/>
                      </a:lnTo>
                      <a:lnTo>
                        <a:pt x="258" y="50"/>
                      </a:lnTo>
                      <a:lnTo>
                        <a:pt x="183" y="100"/>
                      </a:lnTo>
                      <a:lnTo>
                        <a:pt x="0" y="4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9" name="Google Shape;1149;p53"/>
                <p:cNvSpPr/>
                <p:nvPr/>
              </p:nvSpPr>
              <p:spPr>
                <a:xfrm>
                  <a:off x="1799" y="2816"/>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0" name="Google Shape;1150;p53"/>
                <p:cNvSpPr/>
                <p:nvPr/>
              </p:nvSpPr>
              <p:spPr>
                <a:xfrm>
                  <a:off x="2020" y="2834"/>
                  <a:ext cx="258" cy="102"/>
                </a:xfrm>
                <a:custGeom>
                  <a:avLst/>
                  <a:gdLst/>
                  <a:ahLst/>
                  <a:cxnLst/>
                  <a:rect l="l" t="t" r="r" b="b"/>
                  <a:pathLst>
                    <a:path w="258" h="102" extrusionOk="0">
                      <a:moveTo>
                        <a:pt x="0" y="46"/>
                      </a:moveTo>
                      <a:lnTo>
                        <a:pt x="71" y="0"/>
                      </a:lnTo>
                      <a:lnTo>
                        <a:pt x="258" y="52"/>
                      </a:lnTo>
                      <a:lnTo>
                        <a:pt x="183" y="102"/>
                      </a:lnTo>
                      <a:lnTo>
                        <a:pt x="0" y="4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1" name="Google Shape;1151;p53"/>
                <p:cNvSpPr/>
                <p:nvPr/>
              </p:nvSpPr>
              <p:spPr>
                <a:xfrm>
                  <a:off x="2011" y="2882"/>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152" name="Google Shape;1152;p53"/>
              <p:cNvSpPr/>
              <p:nvPr/>
            </p:nvSpPr>
            <p:spPr>
              <a:xfrm>
                <a:off x="4788" y="1211"/>
                <a:ext cx="144" cy="116"/>
              </a:xfrm>
              <a:custGeom>
                <a:avLst/>
                <a:gdLst/>
                <a:ahLst/>
                <a:cxnLst/>
                <a:rect l="l" t="t" r="r" b="b"/>
                <a:pathLst>
                  <a:path w="990" h="792" extrusionOk="0">
                    <a:moveTo>
                      <a:pt x="3" y="738"/>
                    </a:moveTo>
                    <a:lnTo>
                      <a:pt x="990" y="0"/>
                    </a:lnTo>
                    <a:lnTo>
                      <a:pt x="987" y="60"/>
                    </a:lnTo>
                    <a:lnTo>
                      <a:pt x="0" y="792"/>
                    </a:lnTo>
                    <a:lnTo>
                      <a:pt x="3" y="738"/>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3" name="Google Shape;1153;p53"/>
              <p:cNvSpPr/>
              <p:nvPr/>
            </p:nvSpPr>
            <p:spPr>
              <a:xfrm>
                <a:off x="4420" y="1220"/>
                <a:ext cx="369" cy="106"/>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4" name="Google Shape;1154;p53"/>
              <p:cNvSpPr/>
              <p:nvPr/>
            </p:nvSpPr>
            <p:spPr>
              <a:xfrm>
                <a:off x="4420" y="1201"/>
                <a:ext cx="4" cy="21"/>
              </a:xfrm>
              <a:custGeom>
                <a:avLst/>
                <a:gdLst/>
                <a:ahLst/>
                <a:cxnLst/>
                <a:rect l="l" t="t" r="r" b="b"/>
                <a:pathLst>
                  <a:path w="26" h="147" extrusionOk="0">
                    <a:moveTo>
                      <a:pt x="26" y="10"/>
                    </a:moveTo>
                    <a:lnTo>
                      <a:pt x="23" y="147"/>
                    </a:lnTo>
                    <a:lnTo>
                      <a:pt x="0" y="144"/>
                    </a:lnTo>
                    <a:lnTo>
                      <a:pt x="3" y="0"/>
                    </a:lnTo>
                    <a:lnTo>
                      <a:pt x="26" y="1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5" name="Google Shape;1155;p53"/>
              <p:cNvSpPr/>
              <p:nvPr/>
            </p:nvSpPr>
            <p:spPr>
              <a:xfrm>
                <a:off x="4421" y="1114"/>
                <a:ext cx="171" cy="88"/>
              </a:xfrm>
              <a:custGeom>
                <a:avLst/>
                <a:gdLst/>
                <a:ahLst/>
                <a:cxnLst/>
                <a:rect l="l" t="t" r="r" b="b"/>
                <a:pathLst>
                  <a:path w="1176" h="606" extrusionOk="0">
                    <a:moveTo>
                      <a:pt x="1170" y="0"/>
                    </a:moveTo>
                    <a:lnTo>
                      <a:pt x="0" y="597"/>
                    </a:lnTo>
                    <a:lnTo>
                      <a:pt x="30" y="606"/>
                    </a:lnTo>
                    <a:lnTo>
                      <a:pt x="1176" y="18"/>
                    </a:lnTo>
                    <a:lnTo>
                      <a:pt x="1170"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6" name="Google Shape;1156;p53"/>
              <p:cNvSpPr/>
              <p:nvPr/>
            </p:nvSpPr>
            <p:spPr>
              <a:xfrm>
                <a:off x="4432" y="1205"/>
                <a:ext cx="350" cy="102"/>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7" name="Google Shape;1157;p53"/>
              <p:cNvSpPr/>
              <p:nvPr/>
            </p:nvSpPr>
            <p:spPr>
              <a:xfrm rot="10800000" flipH="1">
                <a:off x="4782" y="1198"/>
                <a:ext cx="142" cy="105"/>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cxnSp>
          <p:nvCxnSpPr>
            <p:cNvPr id="1158" name="Google Shape;1158;p53"/>
            <p:cNvCxnSpPr/>
            <p:nvPr/>
          </p:nvCxnSpPr>
          <p:spPr>
            <a:xfrm rot="10800000">
              <a:off x="3428" y="2002"/>
              <a:ext cx="274" cy="0"/>
            </a:xfrm>
            <a:prstGeom prst="straightConnector1">
              <a:avLst/>
            </a:prstGeom>
            <a:noFill/>
            <a:ln w="9525" cap="flat" cmpd="sng">
              <a:solidFill>
                <a:schemeClr val="dk1"/>
              </a:solidFill>
              <a:prstDash val="solid"/>
              <a:round/>
              <a:headEnd type="none" w="med" len="med"/>
              <a:tailEnd type="none" w="med" len="med"/>
            </a:ln>
          </p:spPr>
        </p:cxnSp>
      </p:grpSp>
      <p:sp>
        <p:nvSpPr>
          <p:cNvPr id="1159" name="Google Shape;1159;p53"/>
          <p:cNvSpPr/>
          <p:nvPr/>
        </p:nvSpPr>
        <p:spPr>
          <a:xfrm>
            <a:off x="5341938" y="3041650"/>
            <a:ext cx="976312" cy="374650"/>
          </a:xfrm>
          <a:prstGeom prst="leftArrow">
            <a:avLst>
              <a:gd name="adj1" fmla="val 50000"/>
              <a:gd name="adj2" fmla="val 65148"/>
            </a:avLst>
          </a:prstGeom>
          <a:gradFill>
            <a:gsLst>
              <a:gs pos="0">
                <a:srgbClr val="CC0000"/>
              </a:gs>
              <a:gs pos="100000">
                <a:schemeClr val="lt1"/>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1160" name="Google Shape;1160;p53"/>
          <p:cNvCxnSpPr/>
          <p:nvPr/>
        </p:nvCxnSpPr>
        <p:spPr>
          <a:xfrm flipH="1">
            <a:off x="3856038" y="2297113"/>
            <a:ext cx="314325" cy="4762"/>
          </a:xfrm>
          <a:prstGeom prst="straightConnector1">
            <a:avLst/>
          </a:prstGeom>
          <a:noFill/>
          <a:ln w="19050" cap="flat" cmpd="sng">
            <a:solidFill>
              <a:schemeClr val="dk1"/>
            </a:solidFill>
            <a:prstDash val="solid"/>
            <a:round/>
            <a:headEnd type="none" w="med" len="med"/>
            <a:tailEnd type="none" w="med" len="med"/>
          </a:ln>
        </p:spPr>
      </p:cxnSp>
      <p:pic>
        <p:nvPicPr>
          <p:cNvPr id="1161" name="Google Shape;1161;p53" descr="underline_base"/>
          <p:cNvPicPr preferRelativeResize="0"/>
          <p:nvPr/>
        </p:nvPicPr>
        <p:blipFill rotWithShape="1">
          <a:blip r:embed="rId6">
            <a:alphaModFix/>
          </a:blip>
          <a:srcRect/>
          <a:stretch/>
        </p:blipFill>
        <p:spPr>
          <a:xfrm>
            <a:off x="514350" y="931863"/>
            <a:ext cx="6399213" cy="173037"/>
          </a:xfrm>
          <a:prstGeom prst="rect">
            <a:avLst/>
          </a:prstGeom>
          <a:noFill/>
          <a:ln>
            <a:noFill/>
          </a:ln>
        </p:spPr>
      </p:pic>
      <p:sp>
        <p:nvSpPr>
          <p:cNvPr id="1162" name="Google Shape;1162;p53"/>
          <p:cNvSpPr/>
          <p:nvPr/>
        </p:nvSpPr>
        <p:spPr>
          <a:xfrm>
            <a:off x="4223099" y="4612095"/>
            <a:ext cx="4919663"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DHCP can return more than just allocated IP address on subnet:</a:t>
            </a:r>
            <a:endParaRPr/>
          </a:p>
          <a:p>
            <a:pPr marL="457200" marR="0" lvl="1" indent="-127000" algn="l" rtl="0">
              <a:spcBef>
                <a:spcPts val="0"/>
              </a:spcBef>
              <a:spcAft>
                <a:spcPts val="0"/>
              </a:spcAft>
              <a:buClr>
                <a:srgbClr val="FF0000"/>
              </a:buClr>
              <a:buSzPts val="2000"/>
              <a:buFont typeface="Noto Sans Symbols"/>
              <a:buChar char="▪"/>
            </a:pPr>
            <a:r>
              <a:rPr lang="en-US" sz="2000" b="0" i="0" u="none" strike="noStrike" cap="none">
                <a:solidFill>
                  <a:srgbClr val="FF0000"/>
                </a:solidFill>
                <a:latin typeface="Arial"/>
                <a:ea typeface="Arial"/>
                <a:cs typeface="Arial"/>
                <a:sym typeface="Arial"/>
              </a:rPr>
              <a:t>address of first-hop router</a:t>
            </a:r>
            <a:r>
              <a:rPr lang="en-US" sz="2000" b="0" i="0" u="none" strike="noStrike" cap="none">
                <a:solidFill>
                  <a:schemeClr val="dk1"/>
                </a:solidFill>
                <a:latin typeface="Arial"/>
                <a:ea typeface="Arial"/>
                <a:cs typeface="Arial"/>
                <a:sym typeface="Arial"/>
              </a:rPr>
              <a:t> for client</a:t>
            </a:r>
            <a:endParaRPr/>
          </a:p>
          <a:p>
            <a:pPr marL="457200" marR="0" lvl="1" indent="-127000" algn="l" rtl="0">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name and </a:t>
            </a:r>
            <a:r>
              <a:rPr lang="en-US" sz="2000" b="0" i="0" u="none" strike="noStrike" cap="none">
                <a:solidFill>
                  <a:srgbClr val="FF0000"/>
                </a:solidFill>
                <a:latin typeface="Arial"/>
                <a:ea typeface="Arial"/>
                <a:cs typeface="Arial"/>
                <a:sym typeface="Arial"/>
              </a:rPr>
              <a:t>IP address of DNS sever</a:t>
            </a:r>
            <a:endParaRPr/>
          </a:p>
          <a:p>
            <a:pPr marL="457200" marR="0" lvl="1" indent="-127000" algn="l" rtl="0">
              <a:spcBef>
                <a:spcPts val="0"/>
              </a:spcBef>
              <a:spcAft>
                <a:spcPts val="0"/>
              </a:spcAft>
              <a:buClr>
                <a:srgbClr val="FF0000"/>
              </a:buClr>
              <a:buSzPts val="2000"/>
              <a:buFont typeface="Noto Sans Symbols"/>
              <a:buChar char="▪"/>
            </a:pPr>
            <a:r>
              <a:rPr lang="en-US" sz="2000" b="0" i="0" u="none" strike="noStrike" cap="none">
                <a:solidFill>
                  <a:srgbClr val="FF0000"/>
                </a:solidFill>
                <a:latin typeface="Arial"/>
                <a:ea typeface="Arial"/>
                <a:cs typeface="Arial"/>
                <a:sym typeface="Arial"/>
              </a:rPr>
              <a:t>network mask</a:t>
            </a:r>
            <a:r>
              <a:rPr lang="en-US" sz="2000" b="0" i="0" u="none" strike="noStrike" cap="none">
                <a:solidFill>
                  <a:schemeClr val="dk1"/>
                </a:solidFill>
                <a:latin typeface="Arial"/>
                <a:ea typeface="Arial"/>
                <a:cs typeface="Arial"/>
                <a:sym typeface="Arial"/>
              </a:rPr>
              <a:t> (indicating network versus host portion of address)</a:t>
            </a:r>
            <a:endParaRPr/>
          </a:p>
        </p:txBody>
      </p:sp>
    </p:spTree>
    <p:extLst>
      <p:ext uri="{BB962C8B-B14F-4D97-AF65-F5344CB8AC3E}">
        <p14:creationId xmlns:p14="http://schemas.microsoft.com/office/powerpoint/2010/main" val="424510710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2" name="Google Shape;992;p49"/>
          <p:cNvSpPr txBox="1">
            <a:spLocks noGrp="1"/>
          </p:cNvSpPr>
          <p:nvPr>
            <p:ph type="body" idx="1"/>
          </p:nvPr>
        </p:nvSpPr>
        <p:spPr>
          <a:xfrm>
            <a:off x="581831" y="3906771"/>
            <a:ext cx="7772400" cy="4648200"/>
          </a:xfrm>
          <a:prstGeom prst="rect">
            <a:avLst/>
          </a:prstGeom>
          <a:noFill/>
          <a:ln>
            <a:noFill/>
          </a:ln>
        </p:spPr>
        <p:txBody>
          <a:bodyPr spcFirstLastPara="1" wrap="square" lIns="91425" tIns="45700" rIns="91425" bIns="45700" anchor="t" anchorCtr="0">
            <a:normAutofit/>
          </a:bodyPr>
          <a:lstStyle/>
          <a:p>
            <a:pPr marL="342900" lvl="0" indent="-342900" algn="l" rtl="0">
              <a:lnSpc>
                <a:spcPct val="85000"/>
              </a:lnSpc>
              <a:spcBef>
                <a:spcPts val="0"/>
              </a:spcBef>
              <a:spcAft>
                <a:spcPts val="0"/>
              </a:spcAft>
              <a:buSzPts val="1820"/>
              <a:buChar char="❖"/>
            </a:pPr>
            <a:r>
              <a:rPr lang="en-US" dirty="0"/>
              <a:t>DHCP 4 steps process</a:t>
            </a:r>
            <a:endParaRPr dirty="0"/>
          </a:p>
          <a:p>
            <a:pPr marL="742950" lvl="1" indent="-285750" algn="l" rtl="0">
              <a:lnSpc>
                <a:spcPct val="85000"/>
              </a:lnSpc>
              <a:spcBef>
                <a:spcPts val="1080"/>
              </a:spcBef>
              <a:spcAft>
                <a:spcPts val="0"/>
              </a:spcAft>
              <a:buSzPts val="2400"/>
              <a:buChar char="▪"/>
            </a:pPr>
            <a:r>
              <a:rPr lang="en-US" i="1" dirty="0"/>
              <a:t>DHCP server discovery</a:t>
            </a:r>
            <a:endParaRPr dirty="0"/>
          </a:p>
          <a:p>
            <a:pPr marL="742950" lvl="1" indent="-285750" algn="l" rtl="0">
              <a:lnSpc>
                <a:spcPct val="85000"/>
              </a:lnSpc>
              <a:spcBef>
                <a:spcPts val="1080"/>
              </a:spcBef>
              <a:spcAft>
                <a:spcPts val="0"/>
              </a:spcAft>
              <a:buSzPts val="2400"/>
              <a:buChar char="▪"/>
            </a:pPr>
            <a:r>
              <a:rPr lang="en-US" i="1" dirty="0"/>
              <a:t>DHCP server offer</a:t>
            </a:r>
            <a:endParaRPr dirty="0"/>
          </a:p>
          <a:p>
            <a:pPr marL="742950" lvl="1" indent="-285750" algn="l" rtl="0">
              <a:lnSpc>
                <a:spcPct val="85000"/>
              </a:lnSpc>
              <a:spcBef>
                <a:spcPts val="1080"/>
              </a:spcBef>
              <a:spcAft>
                <a:spcPts val="0"/>
              </a:spcAft>
              <a:buSzPts val="2400"/>
              <a:buChar char="▪"/>
            </a:pPr>
            <a:r>
              <a:rPr lang="en-US" i="1" dirty="0"/>
              <a:t>DHCP request</a:t>
            </a:r>
            <a:endParaRPr dirty="0"/>
          </a:p>
          <a:p>
            <a:pPr marL="742950" lvl="1" indent="-285750" algn="l" rtl="0">
              <a:lnSpc>
                <a:spcPct val="85000"/>
              </a:lnSpc>
              <a:spcBef>
                <a:spcPts val="1080"/>
              </a:spcBef>
              <a:spcAft>
                <a:spcPts val="0"/>
              </a:spcAft>
              <a:buSzPts val="2400"/>
              <a:buChar char="▪"/>
            </a:pPr>
            <a:r>
              <a:rPr lang="en-US" i="1" dirty="0"/>
              <a:t>DHCP ACK</a:t>
            </a:r>
            <a:endParaRPr dirty="0"/>
          </a:p>
        </p:txBody>
      </p:sp>
      <p:grpSp>
        <p:nvGrpSpPr>
          <p:cNvPr id="993" name="Google Shape;993;p49"/>
          <p:cNvGrpSpPr/>
          <p:nvPr/>
        </p:nvGrpSpPr>
        <p:grpSpPr>
          <a:xfrm>
            <a:off x="0" y="0"/>
            <a:ext cx="9143999" cy="926011"/>
            <a:chOff x="0" y="0"/>
            <a:chExt cx="9143999" cy="926011"/>
          </a:xfrm>
        </p:grpSpPr>
        <p:pic>
          <p:nvPicPr>
            <p:cNvPr id="994" name="Google Shape;994;p49"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995" name="Google Shape;995;p49"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996" name="Google Shape;996;p49"/>
          <p:cNvSpPr txBox="1"/>
          <p:nvPr/>
        </p:nvSpPr>
        <p:spPr>
          <a:xfrm>
            <a:off x="1986454" y="191874"/>
            <a:ext cx="7199588" cy="53831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Arial"/>
                <a:ea typeface="Arial"/>
                <a:cs typeface="Arial"/>
                <a:sym typeface="Arial"/>
              </a:rPr>
              <a:t>DHCP – 4 Steps Process</a:t>
            </a:r>
            <a:endParaRPr/>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105</a:t>
            </a:fld>
            <a:endParaRPr lang="en-US" altLang="en-US" dirty="0">
              <a:latin typeface="Tahoma" panose="020B0604030504040204" pitchFamily="34" charset="0"/>
            </a:endParaRPr>
          </a:p>
        </p:txBody>
      </p:sp>
      <p:sp>
        <p:nvSpPr>
          <p:cNvPr id="2" name="Rectangle 3">
            <a:extLst>
              <a:ext uri="{FF2B5EF4-FFF2-40B4-BE49-F238E27FC236}">
                <a16:creationId xmlns:a16="http://schemas.microsoft.com/office/drawing/2014/main" id="{2E71760B-0E02-9C22-CEBA-CF16185948D6}"/>
              </a:ext>
            </a:extLst>
          </p:cNvPr>
          <p:cNvSpPr txBox="1">
            <a:spLocks noChangeArrowheads="1"/>
          </p:cNvSpPr>
          <p:nvPr/>
        </p:nvSpPr>
        <p:spPr>
          <a:xfrm>
            <a:off x="279882" y="1115546"/>
            <a:ext cx="11096157" cy="234538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65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ＭＳ Ｐゴシック" panose="020B0600070205080204" pitchFamily="34" charset="-128"/>
              </a:rPr>
              <a:t>DHCP overview:</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 broadcasts </a:t>
            </a:r>
            <a:r>
              <a:rPr kumimoji="0" lang="en-US" altLang="ja-JP"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DHCP discover</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msg [optional]</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DHCP server responds with </a:t>
            </a:r>
            <a:r>
              <a:rPr kumimoji="0" lang="en-US" altLang="ja-JP"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DHCP offer</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msg [optional]</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 requests IP address: </a:t>
            </a:r>
            <a:r>
              <a:rPr kumimoji="0" lang="en-US" altLang="ja-JP"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DHCP request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msg</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DHCP server sends address: </a:t>
            </a:r>
            <a:r>
              <a:rPr kumimoji="0" lang="en-US" altLang="ja-JP"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DHCP ack</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msg </a:t>
            </a:r>
          </a:p>
          <a:p>
            <a:pPr marL="349250" marR="0" lvl="1" indent="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None/>
              <a:tabLst/>
              <a:defRPr/>
            </a:pPr>
            <a:endPar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Tree>
    <p:extLst>
      <p:ext uri="{BB962C8B-B14F-4D97-AF65-F5344CB8AC3E}">
        <p14:creationId xmlns:p14="http://schemas.microsoft.com/office/powerpoint/2010/main" val="68183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2" name="Google Shape;1002;p50"/>
          <p:cNvSpPr txBox="1">
            <a:spLocks noGrp="1"/>
          </p:cNvSpPr>
          <p:nvPr>
            <p:ph type="body" idx="1"/>
          </p:nvPr>
        </p:nvSpPr>
        <p:spPr>
          <a:xfrm>
            <a:off x="396922" y="1231710"/>
            <a:ext cx="8173872" cy="5073555"/>
          </a:xfrm>
          <a:prstGeom prst="rect">
            <a:avLst/>
          </a:prstGeom>
          <a:noFill/>
          <a:ln>
            <a:noFill/>
          </a:ln>
        </p:spPr>
        <p:txBody>
          <a:bodyPr spcFirstLastPara="1" wrap="square" lIns="91425" tIns="45700" rIns="91425" bIns="45700" anchor="t" anchorCtr="0">
            <a:normAutofit/>
          </a:bodyPr>
          <a:lstStyle/>
          <a:p>
            <a:pPr marL="342900" lvl="0" indent="-342900" algn="l" rtl="0">
              <a:lnSpc>
                <a:spcPct val="85000"/>
              </a:lnSpc>
              <a:spcBef>
                <a:spcPts val="0"/>
              </a:spcBef>
              <a:spcAft>
                <a:spcPts val="0"/>
              </a:spcAft>
              <a:buSzPts val="1820"/>
              <a:buChar char="❖"/>
            </a:pPr>
            <a:r>
              <a:rPr lang="en-US" i="1" dirty="0"/>
              <a:t>DHCP server discovery</a:t>
            </a:r>
            <a:endParaRPr dirty="0"/>
          </a:p>
          <a:p>
            <a:pPr marL="742950" lvl="1" indent="-285750" algn="l" rtl="0">
              <a:lnSpc>
                <a:spcPct val="85000"/>
              </a:lnSpc>
              <a:spcBef>
                <a:spcPts val="1080"/>
              </a:spcBef>
              <a:spcAft>
                <a:spcPts val="0"/>
              </a:spcAft>
              <a:buSzPts val="2400"/>
              <a:buChar char="▪"/>
            </a:pPr>
            <a:r>
              <a:rPr lang="en-US" dirty="0"/>
              <a:t>newly arriving host needs to find a DHCP server </a:t>
            </a:r>
            <a:endParaRPr dirty="0"/>
          </a:p>
          <a:p>
            <a:pPr marL="742950" lvl="1" indent="-285750" algn="l" rtl="0">
              <a:lnSpc>
                <a:spcPct val="85000"/>
              </a:lnSpc>
              <a:spcBef>
                <a:spcPts val="1080"/>
              </a:spcBef>
              <a:spcAft>
                <a:spcPts val="0"/>
              </a:spcAft>
              <a:buSzPts val="2400"/>
              <a:buChar char="▪"/>
            </a:pPr>
            <a:r>
              <a:rPr lang="en-US" dirty="0">
                <a:sym typeface="Wingdings" panose="05000000000000000000" pitchFamily="2" charset="2"/>
              </a:rPr>
              <a:t> </a:t>
            </a:r>
            <a:r>
              <a:rPr lang="en-US" dirty="0"/>
              <a:t>done by broadcasting the </a:t>
            </a:r>
            <a:r>
              <a:rPr lang="en-US" dirty="0">
                <a:solidFill>
                  <a:srgbClr val="FF0000"/>
                </a:solidFill>
              </a:rPr>
              <a:t>DHCP discover</a:t>
            </a:r>
            <a:r>
              <a:rPr lang="en-US" dirty="0">
                <a:solidFill>
                  <a:srgbClr val="C00000"/>
                </a:solidFill>
              </a:rPr>
              <a:t> </a:t>
            </a:r>
            <a:r>
              <a:rPr lang="en-US" dirty="0"/>
              <a:t>message</a:t>
            </a:r>
            <a:endParaRPr dirty="0"/>
          </a:p>
          <a:p>
            <a:pPr marL="1143000" lvl="2" indent="-228600" algn="l" rtl="0">
              <a:spcBef>
                <a:spcPts val="1080"/>
              </a:spcBef>
              <a:spcAft>
                <a:spcPts val="0"/>
              </a:spcAft>
              <a:buClr>
                <a:schemeClr val="dk1"/>
              </a:buClr>
              <a:buSzPts val="2400"/>
              <a:buFont typeface="Comic Sans MS"/>
              <a:buChar char="•"/>
            </a:pPr>
            <a:r>
              <a:rPr lang="en-US" sz="2400" dirty="0"/>
              <a:t>source: this host 0.0.0.0</a:t>
            </a:r>
            <a:endParaRPr dirty="0"/>
          </a:p>
          <a:p>
            <a:pPr marL="1143000" lvl="2" indent="-228600" algn="l" rtl="0">
              <a:spcBef>
                <a:spcPts val="1080"/>
              </a:spcBef>
              <a:spcAft>
                <a:spcPts val="0"/>
              </a:spcAft>
              <a:buClr>
                <a:schemeClr val="dk1"/>
              </a:buClr>
              <a:buSzPts val="2400"/>
              <a:buFont typeface="Comic Sans MS"/>
              <a:buChar char="•"/>
            </a:pPr>
            <a:r>
              <a:rPr lang="en-US" sz="2400" dirty="0" err="1"/>
              <a:t>dest</a:t>
            </a:r>
            <a:r>
              <a:rPr lang="en-US" sz="2400" dirty="0"/>
              <a:t>: 255.255.255.255 (i.e. broadcast to all)</a:t>
            </a:r>
            <a:endParaRPr dirty="0"/>
          </a:p>
          <a:p>
            <a:pPr marL="1143000" lvl="2" indent="-228600" algn="l" rtl="0">
              <a:spcBef>
                <a:spcPts val="1080"/>
              </a:spcBef>
              <a:spcAft>
                <a:spcPts val="0"/>
              </a:spcAft>
              <a:buClr>
                <a:schemeClr val="dk1"/>
              </a:buClr>
              <a:buSzPts val="2400"/>
              <a:buFont typeface="Comic Sans MS"/>
              <a:buChar char="•"/>
            </a:pPr>
            <a:r>
              <a:rPr lang="en-US" sz="2400" dirty="0"/>
              <a:t>UDP: Port 67</a:t>
            </a:r>
            <a:endParaRPr dirty="0"/>
          </a:p>
          <a:p>
            <a:pPr marL="342900" lvl="0" indent="-342900" algn="l" rtl="0">
              <a:lnSpc>
                <a:spcPct val="85000"/>
              </a:lnSpc>
              <a:spcBef>
                <a:spcPts val="1160"/>
              </a:spcBef>
              <a:spcAft>
                <a:spcPts val="0"/>
              </a:spcAft>
              <a:buSzPts val="1820"/>
              <a:buChar char="❖"/>
            </a:pPr>
            <a:r>
              <a:rPr lang="en-US" i="1" dirty="0"/>
              <a:t>DHCP server offer</a:t>
            </a:r>
            <a:endParaRPr dirty="0"/>
          </a:p>
          <a:p>
            <a:pPr marL="742950" lvl="1" indent="-285750" algn="l" rtl="0">
              <a:lnSpc>
                <a:spcPct val="85000"/>
              </a:lnSpc>
              <a:spcBef>
                <a:spcPts val="1080"/>
              </a:spcBef>
              <a:spcAft>
                <a:spcPts val="0"/>
              </a:spcAft>
              <a:buSzPts val="2400"/>
              <a:buChar char="▪"/>
            </a:pPr>
            <a:r>
              <a:rPr lang="en-US" dirty="0"/>
              <a:t>DHCP server(s) will respond to the client with a </a:t>
            </a:r>
            <a:r>
              <a:rPr lang="en-US" dirty="0">
                <a:solidFill>
                  <a:srgbClr val="FF0000"/>
                </a:solidFill>
              </a:rPr>
              <a:t>DHCP offer message</a:t>
            </a:r>
            <a:r>
              <a:rPr lang="en-US" dirty="0"/>
              <a:t> that is broadcast to all</a:t>
            </a:r>
            <a:endParaRPr dirty="0"/>
          </a:p>
          <a:p>
            <a:pPr marL="742950" lvl="1" indent="-285750" algn="l" rtl="0">
              <a:lnSpc>
                <a:spcPct val="85000"/>
              </a:lnSpc>
              <a:spcBef>
                <a:spcPts val="1080"/>
              </a:spcBef>
              <a:spcAft>
                <a:spcPts val="0"/>
              </a:spcAft>
              <a:buSzPts val="2400"/>
              <a:buChar char="▪"/>
            </a:pPr>
            <a:r>
              <a:rPr lang="en-US" dirty="0"/>
              <a:t>A client might receive offers from </a:t>
            </a:r>
            <a:r>
              <a:rPr lang="en-US" dirty="0">
                <a:solidFill>
                  <a:srgbClr val="FF0000"/>
                </a:solidFill>
              </a:rPr>
              <a:t>&gt; 1 DHCP server</a:t>
            </a:r>
            <a:r>
              <a:rPr lang="en-US" dirty="0"/>
              <a:t>s</a:t>
            </a:r>
            <a:endParaRPr dirty="0"/>
          </a:p>
        </p:txBody>
      </p:sp>
      <p:grpSp>
        <p:nvGrpSpPr>
          <p:cNvPr id="1003" name="Google Shape;1003;p50"/>
          <p:cNvGrpSpPr/>
          <p:nvPr/>
        </p:nvGrpSpPr>
        <p:grpSpPr>
          <a:xfrm>
            <a:off x="0" y="0"/>
            <a:ext cx="9143999" cy="926011"/>
            <a:chOff x="0" y="0"/>
            <a:chExt cx="9143999" cy="926011"/>
          </a:xfrm>
        </p:grpSpPr>
        <p:pic>
          <p:nvPicPr>
            <p:cNvPr id="1004" name="Google Shape;1004;p50"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1005" name="Google Shape;1005;p50"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1006" name="Google Shape;1006;p50"/>
          <p:cNvSpPr txBox="1"/>
          <p:nvPr/>
        </p:nvSpPr>
        <p:spPr>
          <a:xfrm>
            <a:off x="1986454" y="191874"/>
            <a:ext cx="7199588" cy="53831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Arial"/>
                <a:ea typeface="Arial"/>
                <a:cs typeface="Arial"/>
                <a:sym typeface="Arial"/>
              </a:rPr>
              <a:t>DHCP – 4 Steps Process</a:t>
            </a:r>
            <a:endParaRPr/>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106</a:t>
            </a:fld>
            <a:endParaRPr lang="en-US" altLang="en-US" dirty="0">
              <a:latin typeface="Tahoma" panose="020B0604030504040204" pitchFamily="34" charset="0"/>
            </a:endParaRPr>
          </a:p>
        </p:txBody>
      </p:sp>
    </p:spTree>
    <p:extLst>
      <p:ext uri="{BB962C8B-B14F-4D97-AF65-F5344CB8AC3E}">
        <p14:creationId xmlns:p14="http://schemas.microsoft.com/office/powerpoint/2010/main" val="225954924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3" name="Google Shape;1013;p51"/>
          <p:cNvSpPr txBox="1">
            <a:spLocks noGrp="1"/>
          </p:cNvSpPr>
          <p:nvPr>
            <p:ph type="body" idx="1"/>
          </p:nvPr>
        </p:nvSpPr>
        <p:spPr>
          <a:xfrm>
            <a:off x="355979" y="1286300"/>
            <a:ext cx="8173872" cy="4909783"/>
          </a:xfrm>
          <a:prstGeom prst="rect">
            <a:avLst/>
          </a:prstGeom>
          <a:noFill/>
          <a:ln>
            <a:noFill/>
          </a:ln>
        </p:spPr>
        <p:txBody>
          <a:bodyPr spcFirstLastPara="1" wrap="square" lIns="91425" tIns="45700" rIns="91425" bIns="45700" anchor="t" anchorCtr="0">
            <a:normAutofit/>
          </a:bodyPr>
          <a:lstStyle/>
          <a:p>
            <a:pPr marL="342900" lvl="0" indent="-342900" algn="l" rtl="0">
              <a:lnSpc>
                <a:spcPct val="85000"/>
              </a:lnSpc>
              <a:spcBef>
                <a:spcPts val="0"/>
              </a:spcBef>
              <a:spcAft>
                <a:spcPts val="0"/>
              </a:spcAft>
              <a:buSzPts val="1560"/>
              <a:buChar char="❖"/>
            </a:pPr>
            <a:r>
              <a:rPr lang="en-US" sz="2400" i="1"/>
              <a:t>DHCP request</a:t>
            </a:r>
            <a:endParaRPr/>
          </a:p>
          <a:p>
            <a:pPr marL="742950" lvl="1" indent="-285750" algn="l" rtl="0">
              <a:lnSpc>
                <a:spcPct val="85000"/>
              </a:lnSpc>
              <a:spcBef>
                <a:spcPts val="1080"/>
              </a:spcBef>
              <a:spcAft>
                <a:spcPts val="0"/>
              </a:spcAft>
              <a:buSzPts val="2400"/>
              <a:buChar char="▪"/>
            </a:pPr>
            <a:r>
              <a:rPr lang="en-US" sz="2400"/>
              <a:t>Client choose from among the offers </a:t>
            </a:r>
            <a:endParaRPr/>
          </a:p>
          <a:p>
            <a:pPr marL="742950" lvl="1" indent="-285750" algn="l" rtl="0">
              <a:lnSpc>
                <a:spcPct val="85000"/>
              </a:lnSpc>
              <a:spcBef>
                <a:spcPts val="1080"/>
              </a:spcBef>
              <a:spcAft>
                <a:spcPts val="0"/>
              </a:spcAft>
              <a:buSzPts val="2400"/>
              <a:buChar char="▪"/>
            </a:pPr>
            <a:r>
              <a:rPr lang="en-US" sz="2400"/>
              <a:t>Respond to its selected offer with a </a:t>
            </a:r>
            <a:r>
              <a:rPr lang="en-US" sz="2400">
                <a:solidFill>
                  <a:srgbClr val="FF0000"/>
                </a:solidFill>
              </a:rPr>
              <a:t>DHCP request message</a:t>
            </a:r>
            <a:r>
              <a:rPr lang="en-US" sz="2400" i="1"/>
              <a:t>.</a:t>
            </a:r>
            <a:endParaRPr/>
          </a:p>
          <a:p>
            <a:pPr marL="342900" lvl="0" indent="-342900" algn="l" rtl="0">
              <a:lnSpc>
                <a:spcPct val="85000"/>
              </a:lnSpc>
              <a:spcBef>
                <a:spcPts val="1080"/>
              </a:spcBef>
              <a:spcAft>
                <a:spcPts val="0"/>
              </a:spcAft>
              <a:buSzPts val="1560"/>
              <a:buChar char="❖"/>
            </a:pPr>
            <a:r>
              <a:rPr lang="en-US" sz="2400" i="1"/>
              <a:t>DHCP ACK</a:t>
            </a:r>
            <a:endParaRPr/>
          </a:p>
          <a:p>
            <a:pPr marL="742950" lvl="1" indent="-285750" algn="l" rtl="0">
              <a:lnSpc>
                <a:spcPct val="85000"/>
              </a:lnSpc>
              <a:spcBef>
                <a:spcPts val="1080"/>
              </a:spcBef>
              <a:spcAft>
                <a:spcPts val="0"/>
              </a:spcAft>
              <a:buSzPts val="2400"/>
              <a:buChar char="▪"/>
            </a:pPr>
            <a:r>
              <a:rPr lang="en-US" sz="2400"/>
              <a:t>The server responds to the DHCP request message with a </a:t>
            </a:r>
            <a:r>
              <a:rPr lang="en-US" sz="2400">
                <a:solidFill>
                  <a:srgbClr val="FF0000"/>
                </a:solidFill>
              </a:rPr>
              <a:t>DHCP ACK message</a:t>
            </a:r>
            <a:r>
              <a:rPr lang="en-US" sz="2400"/>
              <a:t>, confirming the requested parameters.</a:t>
            </a:r>
            <a:endParaRPr/>
          </a:p>
        </p:txBody>
      </p:sp>
      <p:grpSp>
        <p:nvGrpSpPr>
          <p:cNvPr id="1014" name="Google Shape;1014;p51"/>
          <p:cNvGrpSpPr/>
          <p:nvPr/>
        </p:nvGrpSpPr>
        <p:grpSpPr>
          <a:xfrm>
            <a:off x="0" y="0"/>
            <a:ext cx="9143999" cy="926011"/>
            <a:chOff x="0" y="0"/>
            <a:chExt cx="9143999" cy="926011"/>
          </a:xfrm>
        </p:grpSpPr>
        <p:pic>
          <p:nvPicPr>
            <p:cNvPr id="1015" name="Google Shape;1015;p51" descr="Screen Shot 2015-04-08 at 10.38.40 AM.png"/>
            <p:cNvPicPr preferRelativeResize="0"/>
            <p:nvPr/>
          </p:nvPicPr>
          <p:blipFill rotWithShape="1">
            <a:blip r:embed="rId3">
              <a:alphaModFix/>
            </a:blip>
            <a:srcRect/>
            <a:stretch/>
          </p:blipFill>
          <p:spPr>
            <a:xfrm>
              <a:off x="0" y="0"/>
              <a:ext cx="8354231" cy="926011"/>
            </a:xfrm>
            <a:prstGeom prst="rect">
              <a:avLst/>
            </a:prstGeom>
            <a:noFill/>
            <a:ln>
              <a:noFill/>
            </a:ln>
          </p:spPr>
        </p:pic>
        <p:pic>
          <p:nvPicPr>
            <p:cNvPr id="1016" name="Google Shape;1016;p51" descr="Screen Shot 2015-04-08 at 10.42.03 AM.png"/>
            <p:cNvPicPr preferRelativeResize="0"/>
            <p:nvPr/>
          </p:nvPicPr>
          <p:blipFill rotWithShape="1">
            <a:blip r:embed="rId4">
              <a:alphaModFix/>
            </a:blip>
            <a:srcRect/>
            <a:stretch/>
          </p:blipFill>
          <p:spPr>
            <a:xfrm>
              <a:off x="8249806" y="1"/>
              <a:ext cx="894193" cy="923672"/>
            </a:xfrm>
            <a:prstGeom prst="rect">
              <a:avLst/>
            </a:prstGeom>
            <a:noFill/>
            <a:ln>
              <a:noFill/>
            </a:ln>
          </p:spPr>
        </p:pic>
      </p:grpSp>
      <p:sp>
        <p:nvSpPr>
          <p:cNvPr id="1017" name="Google Shape;1017;p51"/>
          <p:cNvSpPr txBox="1"/>
          <p:nvPr/>
        </p:nvSpPr>
        <p:spPr>
          <a:xfrm>
            <a:off x="1986454" y="191874"/>
            <a:ext cx="7199588" cy="53831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Arial"/>
                <a:ea typeface="Arial"/>
                <a:cs typeface="Arial"/>
                <a:sym typeface="Arial"/>
              </a:rPr>
              <a:t>DHCP – 4 Steps Process</a:t>
            </a:r>
            <a:endParaRPr/>
          </a:p>
        </p:txBody>
      </p:sp>
      <p:sp>
        <p:nvSpPr>
          <p:cNvPr id="8"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107</a:t>
            </a:fld>
            <a:endParaRPr lang="en-US" altLang="en-US" dirty="0">
              <a:latin typeface="Tahoma" panose="020B0604030504040204" pitchFamily="34" charset="0"/>
            </a:endParaRPr>
          </a:p>
        </p:txBody>
      </p:sp>
    </p:spTree>
    <p:extLst>
      <p:ext uri="{BB962C8B-B14F-4D97-AF65-F5344CB8AC3E}">
        <p14:creationId xmlns:p14="http://schemas.microsoft.com/office/powerpoint/2010/main" val="30965790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pic>
        <p:nvPicPr>
          <p:cNvPr id="1023" name="Google Shape;1023;p52"/>
          <p:cNvPicPr preferRelativeResize="0"/>
          <p:nvPr/>
        </p:nvPicPr>
        <p:blipFill rotWithShape="1">
          <a:blip r:embed="rId3">
            <a:alphaModFix/>
          </a:blip>
          <a:srcRect/>
          <a:stretch/>
        </p:blipFill>
        <p:spPr>
          <a:xfrm>
            <a:off x="1835697" y="727051"/>
            <a:ext cx="5060975" cy="6130949"/>
          </a:xfrm>
          <a:prstGeom prst="rect">
            <a:avLst/>
          </a:prstGeom>
          <a:noFill/>
          <a:ln>
            <a:noFill/>
          </a:ln>
        </p:spPr>
      </p:pic>
      <p:grpSp>
        <p:nvGrpSpPr>
          <p:cNvPr id="1024" name="Google Shape;1024;p52"/>
          <p:cNvGrpSpPr/>
          <p:nvPr/>
        </p:nvGrpSpPr>
        <p:grpSpPr>
          <a:xfrm>
            <a:off x="0" y="0"/>
            <a:ext cx="9143999" cy="926011"/>
            <a:chOff x="0" y="0"/>
            <a:chExt cx="9143999" cy="926011"/>
          </a:xfrm>
        </p:grpSpPr>
        <p:pic>
          <p:nvPicPr>
            <p:cNvPr id="1025" name="Google Shape;1025;p52" descr="Screen Shot 2015-04-08 at 10.38.40 AM.png"/>
            <p:cNvPicPr preferRelativeResize="0"/>
            <p:nvPr/>
          </p:nvPicPr>
          <p:blipFill rotWithShape="1">
            <a:blip r:embed="rId4">
              <a:alphaModFix/>
            </a:blip>
            <a:srcRect/>
            <a:stretch/>
          </p:blipFill>
          <p:spPr>
            <a:xfrm>
              <a:off x="0" y="0"/>
              <a:ext cx="8354231" cy="926011"/>
            </a:xfrm>
            <a:prstGeom prst="rect">
              <a:avLst/>
            </a:prstGeom>
            <a:noFill/>
            <a:ln>
              <a:noFill/>
            </a:ln>
          </p:spPr>
        </p:pic>
        <p:pic>
          <p:nvPicPr>
            <p:cNvPr id="1026" name="Google Shape;1026;p52" descr="Screen Shot 2015-04-08 at 10.42.03 AM.png"/>
            <p:cNvPicPr preferRelativeResize="0"/>
            <p:nvPr/>
          </p:nvPicPr>
          <p:blipFill rotWithShape="1">
            <a:blip r:embed="rId5">
              <a:alphaModFix/>
            </a:blip>
            <a:srcRect/>
            <a:stretch/>
          </p:blipFill>
          <p:spPr>
            <a:xfrm>
              <a:off x="8249806" y="1"/>
              <a:ext cx="894193" cy="923672"/>
            </a:xfrm>
            <a:prstGeom prst="rect">
              <a:avLst/>
            </a:prstGeom>
            <a:noFill/>
            <a:ln>
              <a:noFill/>
            </a:ln>
          </p:spPr>
        </p:pic>
      </p:grpSp>
      <p:sp>
        <p:nvSpPr>
          <p:cNvPr id="1027" name="Google Shape;1027;p52"/>
          <p:cNvSpPr txBox="1"/>
          <p:nvPr/>
        </p:nvSpPr>
        <p:spPr>
          <a:xfrm>
            <a:off x="1986454" y="191874"/>
            <a:ext cx="7199588" cy="53831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Arial"/>
                <a:ea typeface="Arial"/>
                <a:cs typeface="Arial"/>
                <a:sym typeface="Arial"/>
              </a:rPr>
              <a:t>DHCP – 4 Steps Process</a:t>
            </a:r>
            <a:endParaRPr/>
          </a:p>
        </p:txBody>
      </p:sp>
      <p:sp>
        <p:nvSpPr>
          <p:cNvPr id="1028" name="Google Shape;1028;p52"/>
          <p:cNvSpPr/>
          <p:nvPr/>
        </p:nvSpPr>
        <p:spPr>
          <a:xfrm>
            <a:off x="6741927" y="5693079"/>
            <a:ext cx="201319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i="1">
                <a:solidFill>
                  <a:srgbClr val="BFBFBF"/>
                </a:solidFill>
                <a:latin typeface="Arial"/>
                <a:ea typeface="Arial"/>
                <a:cs typeface="Arial"/>
                <a:sym typeface="Arial"/>
              </a:rPr>
              <a:t>yiaddr = your IP address</a:t>
            </a:r>
            <a:endParaRPr/>
          </a:p>
        </p:txBody>
      </p:sp>
      <p:sp>
        <p:nvSpPr>
          <p:cNvPr id="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108</a:t>
            </a:fld>
            <a:endParaRPr lang="en-US" altLang="en-US" dirty="0">
              <a:latin typeface="Tahoma" panose="020B0604030504040204" pitchFamily="34" charset="0"/>
            </a:endParaRPr>
          </a:p>
        </p:txBody>
      </p:sp>
    </p:spTree>
    <p:extLst>
      <p:ext uri="{BB962C8B-B14F-4D97-AF65-F5344CB8AC3E}">
        <p14:creationId xmlns:p14="http://schemas.microsoft.com/office/powerpoint/2010/main" val="24856862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54"/>
          <p:cNvSpPr txBox="1"/>
          <p:nvPr/>
        </p:nvSpPr>
        <p:spPr>
          <a:xfrm>
            <a:off x="881063" y="1270000"/>
            <a:ext cx="2341562" cy="3365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CC0000"/>
                </a:solidFill>
                <a:latin typeface="Arial"/>
                <a:ea typeface="Arial"/>
                <a:cs typeface="Arial"/>
                <a:sym typeface="Arial"/>
              </a:rPr>
              <a:t>DHCP server: 223.1.2.5</a:t>
            </a:r>
            <a:endParaRPr/>
          </a:p>
        </p:txBody>
      </p:sp>
      <p:sp>
        <p:nvSpPr>
          <p:cNvPr id="1169" name="Google Shape;1169;p54"/>
          <p:cNvSpPr txBox="1"/>
          <p:nvPr/>
        </p:nvSpPr>
        <p:spPr>
          <a:xfrm>
            <a:off x="6037263" y="1311275"/>
            <a:ext cx="849312" cy="508000"/>
          </a:xfrm>
          <a:prstGeom prst="rect">
            <a:avLst/>
          </a:prstGeom>
          <a:noFill/>
          <a:ln>
            <a:noFill/>
          </a:ln>
        </p:spPr>
        <p:txBody>
          <a:bodyPr spcFirstLastPara="1" wrap="square" lIns="91425" tIns="45700" rIns="91425" bIns="45700" anchor="t" anchorCtr="0">
            <a:spAutoFit/>
          </a:bodyPr>
          <a:lstStyle/>
          <a:p>
            <a:pPr marL="0" marR="0" lvl="0" indent="0" algn="ctr" rtl="0">
              <a:lnSpc>
                <a:spcPct val="85000"/>
              </a:lnSpc>
              <a:spcBef>
                <a:spcPts val="0"/>
              </a:spcBef>
              <a:spcAft>
                <a:spcPts val="0"/>
              </a:spcAft>
              <a:buNone/>
            </a:pPr>
            <a:r>
              <a:rPr lang="en-US" sz="1600">
                <a:solidFill>
                  <a:srgbClr val="CC0000"/>
                </a:solidFill>
                <a:latin typeface="Arial"/>
                <a:ea typeface="Arial"/>
                <a:cs typeface="Arial"/>
                <a:sym typeface="Arial"/>
              </a:rPr>
              <a:t>arriving</a:t>
            </a:r>
            <a:endParaRPr/>
          </a:p>
          <a:p>
            <a:pPr marL="0" marR="0" lvl="0" indent="0" algn="ctr" rtl="0">
              <a:lnSpc>
                <a:spcPct val="85000"/>
              </a:lnSpc>
              <a:spcBef>
                <a:spcPts val="0"/>
              </a:spcBef>
              <a:spcAft>
                <a:spcPts val="0"/>
              </a:spcAft>
              <a:buNone/>
            </a:pPr>
            <a:r>
              <a:rPr lang="en-US" sz="1600">
                <a:solidFill>
                  <a:srgbClr val="CC0000"/>
                </a:solidFill>
                <a:latin typeface="Arial"/>
                <a:ea typeface="Arial"/>
                <a:cs typeface="Arial"/>
                <a:sym typeface="Arial"/>
              </a:rPr>
              <a:t> client</a:t>
            </a:r>
            <a:endParaRPr/>
          </a:p>
        </p:txBody>
      </p:sp>
      <p:cxnSp>
        <p:nvCxnSpPr>
          <p:cNvPr id="1170" name="Google Shape;1170;p54"/>
          <p:cNvCxnSpPr/>
          <p:nvPr/>
        </p:nvCxnSpPr>
        <p:spPr>
          <a:xfrm flipH="1">
            <a:off x="1816100" y="2163763"/>
            <a:ext cx="11113" cy="4027487"/>
          </a:xfrm>
          <a:prstGeom prst="straightConnector1">
            <a:avLst/>
          </a:prstGeom>
          <a:noFill/>
          <a:ln w="9525" cap="flat" cmpd="sng">
            <a:solidFill>
              <a:schemeClr val="lt2"/>
            </a:solidFill>
            <a:prstDash val="solid"/>
            <a:round/>
            <a:headEnd type="none" w="med" len="med"/>
            <a:tailEnd type="triangle" w="med" len="med"/>
          </a:ln>
        </p:spPr>
      </p:cxnSp>
      <p:cxnSp>
        <p:nvCxnSpPr>
          <p:cNvPr id="1171" name="Google Shape;1171;p54"/>
          <p:cNvCxnSpPr/>
          <p:nvPr/>
        </p:nvCxnSpPr>
        <p:spPr>
          <a:xfrm flipH="1">
            <a:off x="6342063" y="2239963"/>
            <a:ext cx="11112" cy="4140200"/>
          </a:xfrm>
          <a:prstGeom prst="straightConnector1">
            <a:avLst/>
          </a:prstGeom>
          <a:noFill/>
          <a:ln w="9525" cap="flat" cmpd="sng">
            <a:solidFill>
              <a:schemeClr val="lt2"/>
            </a:solidFill>
            <a:prstDash val="solid"/>
            <a:round/>
            <a:headEnd type="none" w="med" len="med"/>
            <a:tailEnd type="triangle" w="med" len="med"/>
          </a:ln>
        </p:spPr>
      </p:cxnSp>
      <p:grpSp>
        <p:nvGrpSpPr>
          <p:cNvPr id="1172" name="Google Shape;1172;p54"/>
          <p:cNvGrpSpPr/>
          <p:nvPr/>
        </p:nvGrpSpPr>
        <p:grpSpPr>
          <a:xfrm>
            <a:off x="1860550" y="1343025"/>
            <a:ext cx="4395788" cy="1401763"/>
            <a:chOff x="1860550" y="1343025"/>
            <a:chExt cx="4395788" cy="1401763"/>
          </a:xfrm>
        </p:grpSpPr>
        <p:cxnSp>
          <p:nvCxnSpPr>
            <p:cNvPr id="1173" name="Google Shape;1173;p54"/>
            <p:cNvCxnSpPr/>
            <p:nvPr/>
          </p:nvCxnSpPr>
          <p:spPr>
            <a:xfrm flipH="1">
              <a:off x="1860550" y="2208213"/>
              <a:ext cx="4395788" cy="536575"/>
            </a:xfrm>
            <a:prstGeom prst="straightConnector1">
              <a:avLst/>
            </a:prstGeom>
            <a:noFill/>
            <a:ln w="19050" cap="flat" cmpd="sng">
              <a:solidFill>
                <a:srgbClr val="000000"/>
              </a:solidFill>
              <a:prstDash val="solid"/>
              <a:round/>
              <a:headEnd type="none" w="med" len="med"/>
              <a:tailEnd type="triangle" w="med" len="med"/>
            </a:ln>
          </p:spPr>
        </p:cxnSp>
        <p:grpSp>
          <p:nvGrpSpPr>
            <p:cNvPr id="1174" name="Google Shape;1174;p54"/>
            <p:cNvGrpSpPr/>
            <p:nvPr/>
          </p:nvGrpSpPr>
          <p:grpSpPr>
            <a:xfrm>
              <a:off x="3389313" y="1343025"/>
              <a:ext cx="2673350" cy="1116013"/>
              <a:chOff x="11865" y="3885"/>
              <a:chExt cx="3720" cy="1260"/>
            </a:xfrm>
          </p:grpSpPr>
          <p:sp>
            <p:nvSpPr>
              <p:cNvPr id="1175" name="Google Shape;1175;p54"/>
              <p:cNvSpPr txBox="1"/>
              <p:nvPr/>
            </p:nvSpPr>
            <p:spPr>
              <a:xfrm>
                <a:off x="11865" y="3885"/>
                <a:ext cx="2062" cy="490"/>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DHCP discover</a:t>
                </a:r>
                <a:endParaRPr sz="1200" b="1">
                  <a:solidFill>
                    <a:srgbClr val="000000"/>
                  </a:solidFill>
                  <a:latin typeface="Comic Sans MS"/>
                  <a:ea typeface="Comic Sans MS"/>
                  <a:cs typeface="Comic Sans MS"/>
                  <a:sym typeface="Comic Sans MS"/>
                </a:endParaRPr>
              </a:p>
            </p:txBody>
          </p:sp>
          <p:sp>
            <p:nvSpPr>
              <p:cNvPr id="1176" name="Google Shape;1176;p54"/>
              <p:cNvSpPr txBox="1"/>
              <p:nvPr/>
            </p:nvSpPr>
            <p:spPr>
              <a:xfrm>
                <a:off x="12015" y="4231"/>
                <a:ext cx="3570" cy="91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src : 0.0.0.0, 68     </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dest.: 255.255.255.255,67</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yiaddr:    0.0.0.0</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transaction ID: 654</a:t>
                </a:r>
                <a:endParaRPr sz="1600">
                  <a:solidFill>
                    <a:srgbClr val="000000"/>
                  </a:solidFill>
                  <a:latin typeface="Comic Sans MS"/>
                  <a:ea typeface="Comic Sans MS"/>
                  <a:cs typeface="Comic Sans MS"/>
                  <a:sym typeface="Comic Sans MS"/>
                </a:endParaRPr>
              </a:p>
            </p:txBody>
          </p:sp>
        </p:grpSp>
      </p:grpSp>
      <p:cxnSp>
        <p:nvCxnSpPr>
          <p:cNvPr id="1177" name="Google Shape;1177;p54"/>
          <p:cNvCxnSpPr/>
          <p:nvPr/>
        </p:nvCxnSpPr>
        <p:spPr>
          <a:xfrm>
            <a:off x="1903413" y="3194050"/>
            <a:ext cx="4395787" cy="538163"/>
          </a:xfrm>
          <a:prstGeom prst="straightConnector1">
            <a:avLst/>
          </a:prstGeom>
          <a:noFill/>
          <a:ln w="19050" cap="flat" cmpd="sng">
            <a:solidFill>
              <a:srgbClr val="000000"/>
            </a:solidFill>
            <a:prstDash val="solid"/>
            <a:round/>
            <a:headEnd type="none" w="med" len="med"/>
            <a:tailEnd type="triangle" w="med" len="med"/>
          </a:ln>
        </p:spPr>
      </p:cxnSp>
      <p:grpSp>
        <p:nvGrpSpPr>
          <p:cNvPr id="1178" name="Google Shape;1178;p54"/>
          <p:cNvGrpSpPr/>
          <p:nvPr/>
        </p:nvGrpSpPr>
        <p:grpSpPr>
          <a:xfrm>
            <a:off x="3562350" y="2579688"/>
            <a:ext cx="2520950" cy="1217612"/>
            <a:chOff x="3562350" y="2579688"/>
            <a:chExt cx="2520950" cy="1217612"/>
          </a:xfrm>
        </p:grpSpPr>
        <p:sp>
          <p:nvSpPr>
            <p:cNvPr id="1179" name="Google Shape;1179;p54"/>
            <p:cNvSpPr txBox="1"/>
            <p:nvPr/>
          </p:nvSpPr>
          <p:spPr>
            <a:xfrm>
              <a:off x="3562350" y="2579688"/>
              <a:ext cx="1379538" cy="330200"/>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DHCP offer</a:t>
              </a:r>
              <a:endParaRPr sz="1600">
                <a:solidFill>
                  <a:srgbClr val="000000"/>
                </a:solidFill>
                <a:latin typeface="Comic Sans MS"/>
                <a:ea typeface="Comic Sans MS"/>
                <a:cs typeface="Comic Sans MS"/>
                <a:sym typeface="Comic Sans MS"/>
              </a:endParaRPr>
            </a:p>
          </p:txBody>
        </p:sp>
        <p:sp>
          <p:nvSpPr>
            <p:cNvPr id="1180" name="Google Shape;1180;p54"/>
            <p:cNvSpPr txBox="1"/>
            <p:nvPr/>
          </p:nvSpPr>
          <p:spPr>
            <a:xfrm>
              <a:off x="3659188" y="2832100"/>
              <a:ext cx="2424112" cy="9652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src: 223.1.2.5, 67      </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dest:  255.255.255.255, 68</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yiaddrr: 223.1.2.4</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transaction ID: 654</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lifetime: 3600 secs</a:t>
              </a:r>
              <a:endParaRPr sz="800">
                <a:solidFill>
                  <a:srgbClr val="000000"/>
                </a:solidFill>
                <a:latin typeface="Comic Sans MS"/>
                <a:ea typeface="Comic Sans MS"/>
                <a:cs typeface="Comic Sans MS"/>
                <a:sym typeface="Comic Sans MS"/>
              </a:endParaRPr>
            </a:p>
          </p:txBody>
        </p:sp>
      </p:grpSp>
      <p:cxnSp>
        <p:nvCxnSpPr>
          <p:cNvPr id="1181" name="Google Shape;1181;p54"/>
          <p:cNvCxnSpPr/>
          <p:nvPr/>
        </p:nvCxnSpPr>
        <p:spPr>
          <a:xfrm flipH="1">
            <a:off x="1795463" y="4422775"/>
            <a:ext cx="4395787" cy="536575"/>
          </a:xfrm>
          <a:prstGeom prst="straightConnector1">
            <a:avLst/>
          </a:prstGeom>
          <a:noFill/>
          <a:ln w="19050" cap="flat" cmpd="sng">
            <a:solidFill>
              <a:srgbClr val="000000"/>
            </a:solidFill>
            <a:prstDash val="solid"/>
            <a:round/>
            <a:headEnd type="none" w="med" len="med"/>
            <a:tailEnd type="triangle" w="med" len="med"/>
          </a:ln>
        </p:spPr>
      </p:cxnSp>
      <p:grpSp>
        <p:nvGrpSpPr>
          <p:cNvPr id="1182" name="Google Shape;1182;p54"/>
          <p:cNvGrpSpPr/>
          <p:nvPr/>
        </p:nvGrpSpPr>
        <p:grpSpPr>
          <a:xfrm>
            <a:off x="1966913" y="3765550"/>
            <a:ext cx="2887662" cy="1260475"/>
            <a:chOff x="1966913" y="3765550"/>
            <a:chExt cx="2887662" cy="1260475"/>
          </a:xfrm>
        </p:grpSpPr>
        <p:sp>
          <p:nvSpPr>
            <p:cNvPr id="1183" name="Google Shape;1183;p54"/>
            <p:cNvSpPr txBox="1"/>
            <p:nvPr/>
          </p:nvSpPr>
          <p:spPr>
            <a:xfrm>
              <a:off x="1966913" y="3765550"/>
              <a:ext cx="1379537" cy="328613"/>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DHCP request</a:t>
              </a:r>
              <a:endParaRPr sz="1600">
                <a:solidFill>
                  <a:srgbClr val="000000"/>
                </a:solidFill>
                <a:latin typeface="Comic Sans MS"/>
                <a:ea typeface="Comic Sans MS"/>
                <a:cs typeface="Comic Sans MS"/>
                <a:sym typeface="Comic Sans MS"/>
              </a:endParaRPr>
            </a:p>
          </p:txBody>
        </p:sp>
        <p:sp>
          <p:nvSpPr>
            <p:cNvPr id="1184" name="Google Shape;1184;p54"/>
            <p:cNvSpPr txBox="1"/>
            <p:nvPr/>
          </p:nvSpPr>
          <p:spPr>
            <a:xfrm>
              <a:off x="2097088" y="4027488"/>
              <a:ext cx="2757487" cy="998537"/>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src:  0.0.0.0, 68     </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dest::  255.255.255.255, 67</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yiaddrr: 223.1.2.4</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transaction ID: 655</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lifetime: 3600 secs</a:t>
              </a:r>
              <a:endParaRPr sz="1600">
                <a:solidFill>
                  <a:srgbClr val="000000"/>
                </a:solidFill>
                <a:latin typeface="Comic Sans MS"/>
                <a:ea typeface="Comic Sans MS"/>
                <a:cs typeface="Comic Sans MS"/>
                <a:sym typeface="Comic Sans MS"/>
              </a:endParaRPr>
            </a:p>
          </p:txBody>
        </p:sp>
      </p:grpSp>
      <p:cxnSp>
        <p:nvCxnSpPr>
          <p:cNvPr id="1185" name="Google Shape;1185;p54"/>
          <p:cNvCxnSpPr/>
          <p:nvPr/>
        </p:nvCxnSpPr>
        <p:spPr>
          <a:xfrm>
            <a:off x="1881188" y="5453063"/>
            <a:ext cx="4395787" cy="538162"/>
          </a:xfrm>
          <a:prstGeom prst="straightConnector1">
            <a:avLst/>
          </a:prstGeom>
          <a:noFill/>
          <a:ln w="19050" cap="flat" cmpd="sng">
            <a:solidFill>
              <a:srgbClr val="000000"/>
            </a:solidFill>
            <a:prstDash val="solid"/>
            <a:round/>
            <a:headEnd type="none" w="med" len="med"/>
            <a:tailEnd type="triangle" w="med" len="med"/>
          </a:ln>
        </p:spPr>
      </p:cxnSp>
      <p:grpSp>
        <p:nvGrpSpPr>
          <p:cNvPr id="1186" name="Google Shape;1186;p54"/>
          <p:cNvGrpSpPr/>
          <p:nvPr/>
        </p:nvGrpSpPr>
        <p:grpSpPr>
          <a:xfrm>
            <a:off x="3519488" y="5168900"/>
            <a:ext cx="2509837" cy="1271588"/>
            <a:chOff x="3519488" y="5168900"/>
            <a:chExt cx="2509837" cy="1271588"/>
          </a:xfrm>
        </p:grpSpPr>
        <p:sp>
          <p:nvSpPr>
            <p:cNvPr id="1187" name="Google Shape;1187;p54"/>
            <p:cNvSpPr txBox="1"/>
            <p:nvPr/>
          </p:nvSpPr>
          <p:spPr>
            <a:xfrm>
              <a:off x="3519488" y="5168900"/>
              <a:ext cx="1379537" cy="328613"/>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1">
                  <a:solidFill>
                    <a:srgbClr val="000000"/>
                  </a:solidFill>
                  <a:latin typeface="Arial"/>
                  <a:ea typeface="Arial"/>
                  <a:cs typeface="Arial"/>
                  <a:sym typeface="Arial"/>
                </a:rPr>
                <a:t>DHCP ACK</a:t>
              </a:r>
              <a:endParaRPr sz="1600">
                <a:solidFill>
                  <a:srgbClr val="000000"/>
                </a:solidFill>
                <a:latin typeface="Comic Sans MS"/>
                <a:ea typeface="Comic Sans MS"/>
                <a:cs typeface="Comic Sans MS"/>
                <a:sym typeface="Comic Sans MS"/>
              </a:endParaRPr>
            </a:p>
          </p:txBody>
        </p:sp>
        <p:sp>
          <p:nvSpPr>
            <p:cNvPr id="1188" name="Google Shape;1188;p54"/>
            <p:cNvSpPr txBox="1"/>
            <p:nvPr/>
          </p:nvSpPr>
          <p:spPr>
            <a:xfrm>
              <a:off x="3616325" y="5421313"/>
              <a:ext cx="2413000" cy="101917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a:solidFill>
                    <a:srgbClr val="000000"/>
                  </a:solidFill>
                  <a:latin typeface="Arial"/>
                  <a:ea typeface="Arial"/>
                  <a:cs typeface="Arial"/>
                  <a:sym typeface="Arial"/>
                </a:rPr>
                <a:t>src: 223.1.2.5, 67      </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dest:  255.255.255.255, 68</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yiaddrr: 223.1.2.4</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transaction ID: 655</a:t>
              </a:r>
              <a:endParaRPr/>
            </a:p>
            <a:p>
              <a:pPr marL="0" marR="0" lvl="0" indent="0" algn="ctr" rtl="0">
                <a:spcBef>
                  <a:spcPts val="0"/>
                </a:spcBef>
                <a:spcAft>
                  <a:spcPts val="0"/>
                </a:spcAft>
                <a:buNone/>
              </a:pPr>
              <a:r>
                <a:rPr lang="en-US" sz="1200">
                  <a:solidFill>
                    <a:srgbClr val="000000"/>
                  </a:solidFill>
                  <a:latin typeface="Arial"/>
                  <a:ea typeface="Arial"/>
                  <a:cs typeface="Arial"/>
                  <a:sym typeface="Arial"/>
                </a:rPr>
                <a:t>lifetime: 3600 secs</a:t>
              </a:r>
              <a:endParaRPr sz="1000">
                <a:solidFill>
                  <a:srgbClr val="000000"/>
                </a:solidFill>
                <a:latin typeface="Comic Sans MS"/>
                <a:ea typeface="Comic Sans MS"/>
                <a:cs typeface="Comic Sans MS"/>
                <a:sym typeface="Comic Sans MS"/>
              </a:endParaRPr>
            </a:p>
          </p:txBody>
        </p:sp>
      </p:grpSp>
      <p:grpSp>
        <p:nvGrpSpPr>
          <p:cNvPr id="1189" name="Google Shape;1189;p54"/>
          <p:cNvGrpSpPr/>
          <p:nvPr/>
        </p:nvGrpSpPr>
        <p:grpSpPr>
          <a:xfrm>
            <a:off x="6289989" y="1781175"/>
            <a:ext cx="788674" cy="559230"/>
            <a:chOff x="4417" y="878"/>
            <a:chExt cx="617" cy="466"/>
          </a:xfrm>
        </p:grpSpPr>
        <p:pic>
          <p:nvPicPr>
            <p:cNvPr id="1190" name="Google Shape;1190;p54" descr="laptop_keyboard"/>
            <p:cNvPicPr preferRelativeResize="0"/>
            <p:nvPr/>
          </p:nvPicPr>
          <p:blipFill rotWithShape="1">
            <a:blip r:embed="rId3">
              <a:alphaModFix/>
            </a:blip>
            <a:srcRect/>
            <a:stretch/>
          </p:blipFill>
          <p:spPr>
            <a:xfrm rot="109064" flipH="1">
              <a:off x="4420" y="1108"/>
              <a:ext cx="527" cy="228"/>
            </a:xfrm>
            <a:prstGeom prst="rect">
              <a:avLst/>
            </a:prstGeom>
            <a:noFill/>
            <a:ln>
              <a:noFill/>
            </a:ln>
          </p:spPr>
        </p:pic>
        <p:sp>
          <p:nvSpPr>
            <p:cNvPr id="1191" name="Google Shape;1191;p54"/>
            <p:cNvSpPr/>
            <p:nvPr/>
          </p:nvSpPr>
          <p:spPr>
            <a:xfrm>
              <a:off x="4595" y="888"/>
              <a:ext cx="424" cy="297"/>
            </a:xfrm>
            <a:custGeom>
              <a:avLst/>
              <a:gdLst/>
              <a:ahLst/>
              <a:cxnLst/>
              <a:rect l="l" t="t" r="r" b="b"/>
              <a:pathLst>
                <a:path w="2982" h="2442" extrusionOk="0">
                  <a:moveTo>
                    <a:pt x="540" y="0"/>
                  </a:moveTo>
                  <a:lnTo>
                    <a:pt x="0" y="1734"/>
                  </a:lnTo>
                  <a:lnTo>
                    <a:pt x="2394" y="2442"/>
                  </a:lnTo>
                  <a:lnTo>
                    <a:pt x="2982" y="318"/>
                  </a:lnTo>
                  <a:lnTo>
                    <a:pt x="54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192" name="Google Shape;1192;p54" descr="screen"/>
            <p:cNvPicPr preferRelativeResize="0"/>
            <p:nvPr/>
          </p:nvPicPr>
          <p:blipFill rotWithShape="1">
            <a:blip r:embed="rId4">
              <a:alphaModFix/>
            </a:blip>
            <a:srcRect/>
            <a:stretch/>
          </p:blipFill>
          <p:spPr>
            <a:xfrm>
              <a:off x="4616" y="895"/>
              <a:ext cx="385" cy="271"/>
            </a:xfrm>
            <a:prstGeom prst="rect">
              <a:avLst/>
            </a:prstGeom>
            <a:noFill/>
            <a:ln>
              <a:noFill/>
            </a:ln>
          </p:spPr>
        </p:pic>
        <p:sp>
          <p:nvSpPr>
            <p:cNvPr id="1193" name="Google Shape;1193;p54"/>
            <p:cNvSpPr/>
            <p:nvPr/>
          </p:nvSpPr>
          <p:spPr>
            <a:xfrm>
              <a:off x="4672" y="879"/>
              <a:ext cx="359" cy="55"/>
            </a:xfrm>
            <a:custGeom>
              <a:avLst/>
              <a:gdLst/>
              <a:ahLst/>
              <a:cxnLst/>
              <a:rect l="l" t="t" r="r" b="b"/>
              <a:pathLst>
                <a:path w="2528" h="455" extrusionOk="0">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4" name="Google Shape;1194;p54"/>
            <p:cNvSpPr/>
            <p:nvPr/>
          </p:nvSpPr>
          <p:spPr>
            <a:xfrm>
              <a:off x="4591" y="878"/>
              <a:ext cx="100" cy="230"/>
            </a:xfrm>
            <a:custGeom>
              <a:avLst/>
              <a:gdLst/>
              <a:ahLst/>
              <a:cxnLst/>
              <a:rect l="l" t="t" r="r" b="b"/>
              <a:pathLst>
                <a:path w="702" h="1893" extrusionOk="0">
                  <a:moveTo>
                    <a:pt x="579" y="0"/>
                  </a:moveTo>
                  <a:lnTo>
                    <a:pt x="0" y="1869"/>
                  </a:lnTo>
                  <a:lnTo>
                    <a:pt x="114" y="1893"/>
                  </a:lnTo>
                  <a:lnTo>
                    <a:pt x="702" y="51"/>
                  </a:lnTo>
                  <a:lnTo>
                    <a:pt x="579"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5" name="Google Shape;1195;p54"/>
            <p:cNvSpPr/>
            <p:nvPr/>
          </p:nvSpPr>
          <p:spPr>
            <a:xfrm>
              <a:off x="4921" y="920"/>
              <a:ext cx="108" cy="265"/>
            </a:xfrm>
            <a:custGeom>
              <a:avLst/>
              <a:gdLst/>
              <a:ahLst/>
              <a:cxnLst/>
              <a:rect l="l" t="t" r="r" b="b"/>
              <a:pathLst>
                <a:path w="756" h="2184" extrusionOk="0">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6" name="Google Shape;1196;p54"/>
            <p:cNvSpPr/>
            <p:nvPr/>
          </p:nvSpPr>
          <p:spPr>
            <a:xfrm>
              <a:off x="4590" y="1097"/>
              <a:ext cx="394" cy="89"/>
            </a:xfrm>
            <a:custGeom>
              <a:avLst/>
              <a:gdLst/>
              <a:ahLst/>
              <a:cxnLst/>
              <a:rect l="l" t="t" r="r" b="b"/>
              <a:pathLst>
                <a:path w="2773" h="738" extrusionOk="0">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7" name="Google Shape;1197;p54"/>
            <p:cNvSpPr/>
            <p:nvPr/>
          </p:nvSpPr>
          <p:spPr>
            <a:xfrm>
              <a:off x="4933" y="922"/>
              <a:ext cx="101" cy="266"/>
            </a:xfrm>
            <a:custGeom>
              <a:avLst/>
              <a:gdLst/>
              <a:ahLst/>
              <a:cxnLst/>
              <a:rect l="l" t="t" r="r" b="b"/>
              <a:pathLst>
                <a:path w="637" h="1659" extrusionOk="0">
                  <a:moveTo>
                    <a:pt x="615" y="0"/>
                  </a:moveTo>
                  <a:lnTo>
                    <a:pt x="637" y="0"/>
                  </a:lnTo>
                  <a:lnTo>
                    <a:pt x="68" y="1659"/>
                  </a:lnTo>
                  <a:lnTo>
                    <a:pt x="0" y="1647"/>
                  </a:lnTo>
                  <a:lnTo>
                    <a:pt x="615" y="0"/>
                  </a:lnTo>
                  <a:close/>
                </a:path>
              </a:pathLst>
            </a:custGeom>
            <a:solidFill>
              <a:srgbClr val="4D4D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8" name="Google Shape;1198;p54"/>
            <p:cNvSpPr/>
            <p:nvPr/>
          </p:nvSpPr>
          <p:spPr>
            <a:xfrm>
              <a:off x="4590" y="1109"/>
              <a:ext cx="351" cy="88"/>
            </a:xfrm>
            <a:custGeom>
              <a:avLst/>
              <a:gdLst/>
              <a:ahLst/>
              <a:cxnLst/>
              <a:rect l="l" t="t" r="r" b="b"/>
              <a:pathLst>
                <a:path w="2216" h="550" extrusionOk="0">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199" name="Google Shape;1199;p54"/>
            <p:cNvGrpSpPr/>
            <p:nvPr/>
          </p:nvGrpSpPr>
          <p:grpSpPr>
            <a:xfrm>
              <a:off x="4584" y="1203"/>
              <a:ext cx="119" cy="53"/>
              <a:chOff x="1740" y="2642"/>
              <a:chExt cx="752" cy="327"/>
            </a:xfrm>
          </p:grpSpPr>
          <p:sp>
            <p:nvSpPr>
              <p:cNvPr id="1200" name="Google Shape;1200;p54"/>
              <p:cNvSpPr/>
              <p:nvPr/>
            </p:nvSpPr>
            <p:spPr>
              <a:xfrm>
                <a:off x="1740" y="2642"/>
                <a:ext cx="752" cy="327"/>
              </a:xfrm>
              <a:custGeom>
                <a:avLst/>
                <a:gdLst/>
                <a:ahLst/>
                <a:cxnLst/>
                <a:rect l="l" t="t" r="r" b="b"/>
                <a:pathLst>
                  <a:path w="752" h="327" extrusionOk="0">
                    <a:moveTo>
                      <a:pt x="293" y="0"/>
                    </a:moveTo>
                    <a:lnTo>
                      <a:pt x="752" y="124"/>
                    </a:lnTo>
                    <a:lnTo>
                      <a:pt x="470" y="327"/>
                    </a:lnTo>
                    <a:lnTo>
                      <a:pt x="0" y="183"/>
                    </a:lnTo>
                    <a:lnTo>
                      <a:pt x="293"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1" name="Google Shape;1201;p54"/>
              <p:cNvSpPr/>
              <p:nvPr/>
            </p:nvSpPr>
            <p:spPr>
              <a:xfrm>
                <a:off x="1754" y="2649"/>
                <a:ext cx="726" cy="311"/>
              </a:xfrm>
              <a:custGeom>
                <a:avLst/>
                <a:gdLst/>
                <a:ahLst/>
                <a:cxnLst/>
                <a:rect l="l" t="t" r="r" b="b"/>
                <a:pathLst>
                  <a:path w="726" h="311" extrusionOk="0">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2" name="Google Shape;1202;p54"/>
              <p:cNvSpPr/>
              <p:nvPr/>
            </p:nvSpPr>
            <p:spPr>
              <a:xfrm>
                <a:off x="1808" y="2770"/>
                <a:ext cx="258" cy="100"/>
              </a:xfrm>
              <a:custGeom>
                <a:avLst/>
                <a:gdLst/>
                <a:ahLst/>
                <a:cxnLst/>
                <a:rect l="l" t="t" r="r" b="b"/>
                <a:pathLst>
                  <a:path w="258" h="100" extrusionOk="0">
                    <a:moveTo>
                      <a:pt x="0" y="44"/>
                    </a:moveTo>
                    <a:lnTo>
                      <a:pt x="75" y="0"/>
                    </a:lnTo>
                    <a:lnTo>
                      <a:pt x="258" y="50"/>
                    </a:lnTo>
                    <a:lnTo>
                      <a:pt x="183" y="100"/>
                    </a:lnTo>
                    <a:lnTo>
                      <a:pt x="0" y="4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3" name="Google Shape;1203;p54"/>
              <p:cNvSpPr/>
              <p:nvPr/>
            </p:nvSpPr>
            <p:spPr>
              <a:xfrm>
                <a:off x="1799" y="2816"/>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4" name="Google Shape;1204;p54"/>
              <p:cNvSpPr/>
              <p:nvPr/>
            </p:nvSpPr>
            <p:spPr>
              <a:xfrm>
                <a:off x="2020" y="2834"/>
                <a:ext cx="258" cy="102"/>
              </a:xfrm>
              <a:custGeom>
                <a:avLst/>
                <a:gdLst/>
                <a:ahLst/>
                <a:cxnLst/>
                <a:rect l="l" t="t" r="r" b="b"/>
                <a:pathLst>
                  <a:path w="258" h="102" extrusionOk="0">
                    <a:moveTo>
                      <a:pt x="0" y="46"/>
                    </a:moveTo>
                    <a:lnTo>
                      <a:pt x="71" y="0"/>
                    </a:lnTo>
                    <a:lnTo>
                      <a:pt x="258" y="52"/>
                    </a:lnTo>
                    <a:lnTo>
                      <a:pt x="183" y="102"/>
                    </a:lnTo>
                    <a:lnTo>
                      <a:pt x="0" y="4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5" name="Google Shape;1205;p54"/>
              <p:cNvSpPr/>
              <p:nvPr/>
            </p:nvSpPr>
            <p:spPr>
              <a:xfrm>
                <a:off x="2011" y="2882"/>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206" name="Google Shape;1206;p54"/>
            <p:cNvSpPr/>
            <p:nvPr/>
          </p:nvSpPr>
          <p:spPr>
            <a:xfrm>
              <a:off x="4788" y="1211"/>
              <a:ext cx="144" cy="116"/>
            </a:xfrm>
            <a:custGeom>
              <a:avLst/>
              <a:gdLst/>
              <a:ahLst/>
              <a:cxnLst/>
              <a:rect l="l" t="t" r="r" b="b"/>
              <a:pathLst>
                <a:path w="990" h="792" extrusionOk="0">
                  <a:moveTo>
                    <a:pt x="3" y="738"/>
                  </a:moveTo>
                  <a:lnTo>
                    <a:pt x="990" y="0"/>
                  </a:lnTo>
                  <a:lnTo>
                    <a:pt x="987" y="60"/>
                  </a:lnTo>
                  <a:lnTo>
                    <a:pt x="0" y="792"/>
                  </a:lnTo>
                  <a:lnTo>
                    <a:pt x="3" y="738"/>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7" name="Google Shape;1207;p54"/>
            <p:cNvSpPr/>
            <p:nvPr/>
          </p:nvSpPr>
          <p:spPr>
            <a:xfrm>
              <a:off x="4420" y="1220"/>
              <a:ext cx="369" cy="106"/>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8" name="Google Shape;1208;p54"/>
            <p:cNvSpPr/>
            <p:nvPr/>
          </p:nvSpPr>
          <p:spPr>
            <a:xfrm>
              <a:off x="4420" y="1201"/>
              <a:ext cx="4" cy="21"/>
            </a:xfrm>
            <a:custGeom>
              <a:avLst/>
              <a:gdLst/>
              <a:ahLst/>
              <a:cxnLst/>
              <a:rect l="l" t="t" r="r" b="b"/>
              <a:pathLst>
                <a:path w="26" h="147" extrusionOk="0">
                  <a:moveTo>
                    <a:pt x="26" y="10"/>
                  </a:moveTo>
                  <a:lnTo>
                    <a:pt x="23" y="147"/>
                  </a:lnTo>
                  <a:lnTo>
                    <a:pt x="0" y="144"/>
                  </a:lnTo>
                  <a:lnTo>
                    <a:pt x="3" y="0"/>
                  </a:lnTo>
                  <a:lnTo>
                    <a:pt x="26" y="1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9" name="Google Shape;1209;p54"/>
            <p:cNvSpPr/>
            <p:nvPr/>
          </p:nvSpPr>
          <p:spPr>
            <a:xfrm>
              <a:off x="4421" y="1114"/>
              <a:ext cx="171" cy="88"/>
            </a:xfrm>
            <a:custGeom>
              <a:avLst/>
              <a:gdLst/>
              <a:ahLst/>
              <a:cxnLst/>
              <a:rect l="l" t="t" r="r" b="b"/>
              <a:pathLst>
                <a:path w="1176" h="606" extrusionOk="0">
                  <a:moveTo>
                    <a:pt x="1170" y="0"/>
                  </a:moveTo>
                  <a:lnTo>
                    <a:pt x="0" y="597"/>
                  </a:lnTo>
                  <a:lnTo>
                    <a:pt x="30" y="606"/>
                  </a:lnTo>
                  <a:lnTo>
                    <a:pt x="1176" y="18"/>
                  </a:lnTo>
                  <a:lnTo>
                    <a:pt x="1170"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0" name="Google Shape;1210;p54"/>
            <p:cNvSpPr/>
            <p:nvPr/>
          </p:nvSpPr>
          <p:spPr>
            <a:xfrm>
              <a:off x="4432" y="1205"/>
              <a:ext cx="350" cy="102"/>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1" name="Google Shape;1211;p54"/>
            <p:cNvSpPr/>
            <p:nvPr/>
          </p:nvSpPr>
          <p:spPr>
            <a:xfrm rot="10800000" flipH="1">
              <a:off x="4782" y="1198"/>
              <a:ext cx="142" cy="105"/>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212" name="Google Shape;1212;p54"/>
          <p:cNvGrpSpPr/>
          <p:nvPr/>
        </p:nvGrpSpPr>
        <p:grpSpPr>
          <a:xfrm>
            <a:off x="1717675" y="1590675"/>
            <a:ext cx="334963" cy="536575"/>
            <a:chOff x="4140" y="429"/>
            <a:chExt cx="1425" cy="2396"/>
          </a:xfrm>
        </p:grpSpPr>
        <p:sp>
          <p:nvSpPr>
            <p:cNvPr id="1213" name="Google Shape;1213;p54"/>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4" name="Google Shape;1214;p54"/>
            <p:cNvSpPr/>
            <p:nvPr/>
          </p:nvSpPr>
          <p:spPr>
            <a:xfrm>
              <a:off x="4208" y="429"/>
              <a:ext cx="1047" cy="2283"/>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15" name="Google Shape;1215;p54"/>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6" name="Google Shape;1216;p54"/>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7" name="Google Shape;1217;p54"/>
            <p:cNvSpPr/>
            <p:nvPr/>
          </p:nvSpPr>
          <p:spPr>
            <a:xfrm>
              <a:off x="4214" y="691"/>
              <a:ext cx="594" cy="5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grpSp>
          <p:nvGrpSpPr>
            <p:cNvPr id="1218" name="Google Shape;1218;p54"/>
            <p:cNvGrpSpPr/>
            <p:nvPr/>
          </p:nvGrpSpPr>
          <p:grpSpPr>
            <a:xfrm>
              <a:off x="4748" y="670"/>
              <a:ext cx="581" cy="142"/>
              <a:chOff x="613" y="2570"/>
              <a:chExt cx="725" cy="136"/>
            </a:xfrm>
          </p:grpSpPr>
          <p:sp>
            <p:nvSpPr>
              <p:cNvPr id="1219" name="Google Shape;1219;p54"/>
              <p:cNvSpPr/>
              <p:nvPr/>
            </p:nvSpPr>
            <p:spPr>
              <a:xfrm>
                <a:off x="613" y="2570"/>
                <a:ext cx="725" cy="136"/>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20" name="Google Shape;1220;p54"/>
              <p:cNvSpPr/>
              <p:nvPr/>
            </p:nvSpPr>
            <p:spPr>
              <a:xfrm>
                <a:off x="629" y="2584"/>
                <a:ext cx="691" cy="109"/>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grpSp>
        <p:sp>
          <p:nvSpPr>
            <p:cNvPr id="1221" name="Google Shape;1221;p54"/>
            <p:cNvSpPr/>
            <p:nvPr/>
          </p:nvSpPr>
          <p:spPr>
            <a:xfrm>
              <a:off x="4221" y="1017"/>
              <a:ext cx="601" cy="5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grpSp>
          <p:nvGrpSpPr>
            <p:cNvPr id="1222" name="Google Shape;1222;p54"/>
            <p:cNvGrpSpPr/>
            <p:nvPr/>
          </p:nvGrpSpPr>
          <p:grpSpPr>
            <a:xfrm>
              <a:off x="4748" y="996"/>
              <a:ext cx="581" cy="135"/>
              <a:chOff x="615" y="2570"/>
              <a:chExt cx="725" cy="140"/>
            </a:xfrm>
          </p:grpSpPr>
          <p:sp>
            <p:nvSpPr>
              <p:cNvPr id="1223" name="Google Shape;1223;p54"/>
              <p:cNvSpPr/>
              <p:nvPr/>
            </p:nvSpPr>
            <p:spPr>
              <a:xfrm>
                <a:off x="615" y="2570"/>
                <a:ext cx="725" cy="140"/>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24" name="Google Shape;1224;p54"/>
              <p:cNvSpPr/>
              <p:nvPr/>
            </p:nvSpPr>
            <p:spPr>
              <a:xfrm>
                <a:off x="632" y="2585"/>
                <a:ext cx="691" cy="110"/>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grpSp>
        <p:sp>
          <p:nvSpPr>
            <p:cNvPr id="1225" name="Google Shape;1225;p54"/>
            <p:cNvSpPr/>
            <p:nvPr/>
          </p:nvSpPr>
          <p:spPr>
            <a:xfrm>
              <a:off x="4214" y="1358"/>
              <a:ext cx="601" cy="5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26" name="Google Shape;1226;p54"/>
            <p:cNvSpPr/>
            <p:nvPr/>
          </p:nvSpPr>
          <p:spPr>
            <a:xfrm>
              <a:off x="4228" y="1655"/>
              <a:ext cx="594" cy="5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grpSp>
          <p:nvGrpSpPr>
            <p:cNvPr id="1227" name="Google Shape;1227;p54"/>
            <p:cNvGrpSpPr/>
            <p:nvPr/>
          </p:nvGrpSpPr>
          <p:grpSpPr>
            <a:xfrm>
              <a:off x="4734" y="1627"/>
              <a:ext cx="581" cy="149"/>
              <a:chOff x="613" y="2568"/>
              <a:chExt cx="724" cy="137"/>
            </a:xfrm>
          </p:grpSpPr>
          <p:sp>
            <p:nvSpPr>
              <p:cNvPr id="1228" name="Google Shape;1228;p54"/>
              <p:cNvSpPr/>
              <p:nvPr/>
            </p:nvSpPr>
            <p:spPr>
              <a:xfrm>
                <a:off x="613" y="2568"/>
                <a:ext cx="724" cy="137"/>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29" name="Google Shape;1229;p54"/>
              <p:cNvSpPr/>
              <p:nvPr/>
            </p:nvSpPr>
            <p:spPr>
              <a:xfrm>
                <a:off x="630" y="2581"/>
                <a:ext cx="690" cy="10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grpSp>
        <p:sp>
          <p:nvSpPr>
            <p:cNvPr id="1230" name="Google Shape;1230;p54"/>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231" name="Google Shape;1231;p54"/>
            <p:cNvGrpSpPr/>
            <p:nvPr/>
          </p:nvGrpSpPr>
          <p:grpSpPr>
            <a:xfrm>
              <a:off x="4741" y="1329"/>
              <a:ext cx="581" cy="135"/>
              <a:chOff x="617" y="2570"/>
              <a:chExt cx="724" cy="135"/>
            </a:xfrm>
          </p:grpSpPr>
          <p:sp>
            <p:nvSpPr>
              <p:cNvPr id="1232" name="Google Shape;1232;p54"/>
              <p:cNvSpPr/>
              <p:nvPr/>
            </p:nvSpPr>
            <p:spPr>
              <a:xfrm>
                <a:off x="617" y="2570"/>
                <a:ext cx="724" cy="135"/>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33" name="Google Shape;1233;p54"/>
              <p:cNvSpPr/>
              <p:nvPr/>
            </p:nvSpPr>
            <p:spPr>
              <a:xfrm>
                <a:off x="633" y="2584"/>
                <a:ext cx="690" cy="106"/>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grpSp>
        <p:sp>
          <p:nvSpPr>
            <p:cNvPr id="1234" name="Google Shape;1234;p54"/>
            <p:cNvSpPr/>
            <p:nvPr/>
          </p:nvSpPr>
          <p:spPr>
            <a:xfrm>
              <a:off x="5248" y="429"/>
              <a:ext cx="68" cy="2290"/>
            </a:xfrm>
            <a:prstGeom prst="rect">
              <a:avLst/>
            </a:prstGeom>
            <a:gradFill>
              <a:gsLst>
                <a:gs pos="0">
                  <a:srgbClr val="333333"/>
                </a:gs>
                <a:gs pos="50000">
                  <a:srgbClr val="DDDDDD"/>
                </a:gs>
                <a:gs pos="100000">
                  <a:srgbClr val="333333"/>
                </a:gs>
              </a:gsLst>
              <a:lin ang="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35" name="Google Shape;1235;p54"/>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6" name="Google Shape;1236;p54"/>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7" name="Google Shape;1237;p54"/>
            <p:cNvSpPr/>
            <p:nvPr/>
          </p:nvSpPr>
          <p:spPr>
            <a:xfrm>
              <a:off x="5518" y="2612"/>
              <a:ext cx="47" cy="92"/>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38" name="Google Shape;1238;p54"/>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9" name="Google Shape;1239;p54"/>
            <p:cNvSpPr/>
            <p:nvPr/>
          </p:nvSpPr>
          <p:spPr>
            <a:xfrm>
              <a:off x="4140" y="2676"/>
              <a:ext cx="1202" cy="149"/>
            </a:xfrm>
            <a:prstGeom prst="roundRect">
              <a:avLst>
                <a:gd name="adj" fmla="val 50000"/>
              </a:avLst>
            </a:prstGeom>
            <a:solidFill>
              <a:srgbClr val="DDDDD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40" name="Google Shape;1240;p54"/>
            <p:cNvSpPr/>
            <p:nvPr/>
          </p:nvSpPr>
          <p:spPr>
            <a:xfrm>
              <a:off x="4208" y="2712"/>
              <a:ext cx="1067" cy="78"/>
            </a:xfrm>
            <a:prstGeom prst="roundRect">
              <a:avLst>
                <a:gd name="adj" fmla="val 50000"/>
              </a:avLst>
            </a:prstGeom>
            <a:gradFill>
              <a:gsLst>
                <a:gs pos="0">
                  <a:schemeClr val="dk2"/>
                </a:gs>
                <a:gs pos="100000">
                  <a:schemeClr val="lt2"/>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41" name="Google Shape;1241;p54"/>
            <p:cNvSpPr/>
            <p:nvPr/>
          </p:nvSpPr>
          <p:spPr>
            <a:xfrm>
              <a:off x="4309" y="2385"/>
              <a:ext cx="155"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42" name="Google Shape;1242;p54"/>
            <p:cNvSpPr/>
            <p:nvPr/>
          </p:nvSpPr>
          <p:spPr>
            <a:xfrm>
              <a:off x="4484" y="2385"/>
              <a:ext cx="162"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0000"/>
                </a:solidFill>
                <a:latin typeface="Tahoma"/>
                <a:ea typeface="Tahoma"/>
                <a:cs typeface="Tahoma"/>
                <a:sym typeface="Tahoma"/>
              </a:endParaRPr>
            </a:p>
          </p:txBody>
        </p:sp>
        <p:sp>
          <p:nvSpPr>
            <p:cNvPr id="1243" name="Google Shape;1243;p54"/>
            <p:cNvSpPr/>
            <p:nvPr/>
          </p:nvSpPr>
          <p:spPr>
            <a:xfrm>
              <a:off x="4660" y="2378"/>
              <a:ext cx="162"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44" name="Google Shape;1244;p54"/>
            <p:cNvSpPr/>
            <p:nvPr/>
          </p:nvSpPr>
          <p:spPr>
            <a:xfrm>
              <a:off x="5065" y="1833"/>
              <a:ext cx="81" cy="766"/>
            </a:xfrm>
            <a:prstGeom prst="rect">
              <a:avLst/>
            </a:prstGeom>
            <a:solidFill>
              <a:srgbClr val="29292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grpSp>
      <p:sp>
        <p:nvSpPr>
          <p:cNvPr id="1245" name="Google Shape;1245;p54"/>
          <p:cNvSpPr txBox="1">
            <a:spLocks noGrp="1"/>
          </p:cNvSpPr>
          <p:nvPr>
            <p:ph type="title"/>
          </p:nvPr>
        </p:nvSpPr>
        <p:spPr>
          <a:xfrm>
            <a:off x="438150" y="255588"/>
            <a:ext cx="6824663" cy="8985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DHCP client-server scenario</a:t>
            </a:r>
            <a:endParaRPr/>
          </a:p>
        </p:txBody>
      </p:sp>
      <p:pic>
        <p:nvPicPr>
          <p:cNvPr id="1246" name="Google Shape;1246;p54" descr="underline_base"/>
          <p:cNvPicPr preferRelativeResize="0"/>
          <p:nvPr/>
        </p:nvPicPr>
        <p:blipFill rotWithShape="1">
          <a:blip r:embed="rId5">
            <a:alphaModFix/>
          </a:blip>
          <a:srcRect/>
          <a:stretch/>
        </p:blipFill>
        <p:spPr>
          <a:xfrm>
            <a:off x="514350" y="931863"/>
            <a:ext cx="6399213" cy="173037"/>
          </a:xfrm>
          <a:prstGeom prst="rect">
            <a:avLst/>
          </a:prstGeom>
          <a:noFill/>
          <a:ln>
            <a:noFill/>
          </a:ln>
        </p:spPr>
      </p:pic>
      <p:grpSp>
        <p:nvGrpSpPr>
          <p:cNvPr id="1247" name="Google Shape;1247;p54"/>
          <p:cNvGrpSpPr/>
          <p:nvPr/>
        </p:nvGrpSpPr>
        <p:grpSpPr>
          <a:xfrm>
            <a:off x="3505200" y="1663700"/>
            <a:ext cx="2540000" cy="733425"/>
            <a:chOff x="7333085" y="2736938"/>
            <a:chExt cx="2539755" cy="733428"/>
          </a:xfrm>
        </p:grpSpPr>
        <p:sp>
          <p:nvSpPr>
            <p:cNvPr id="1248" name="Google Shape;1248;p54"/>
            <p:cNvSpPr/>
            <p:nvPr/>
          </p:nvSpPr>
          <p:spPr>
            <a:xfrm>
              <a:off x="7333085" y="2736938"/>
              <a:ext cx="2521866" cy="733428"/>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49" name="Google Shape;1249;p54"/>
            <p:cNvSpPr txBox="1"/>
            <p:nvPr/>
          </p:nvSpPr>
          <p:spPr>
            <a:xfrm>
              <a:off x="7344917" y="2797391"/>
              <a:ext cx="2527923" cy="58477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FF0000"/>
                  </a:solidFill>
                  <a:latin typeface="Tahoma"/>
                  <a:ea typeface="Tahoma"/>
                  <a:cs typeface="Tahoma"/>
                  <a:sym typeface="Tahoma"/>
                </a:rPr>
                <a:t>Broadcast: is there a DHCP server out there?</a:t>
              </a:r>
              <a:endParaRPr/>
            </a:p>
          </p:txBody>
        </p:sp>
      </p:grpSp>
      <p:grpSp>
        <p:nvGrpSpPr>
          <p:cNvPr id="1250" name="Google Shape;1250;p54"/>
          <p:cNvGrpSpPr/>
          <p:nvPr/>
        </p:nvGrpSpPr>
        <p:grpSpPr>
          <a:xfrm>
            <a:off x="3670300" y="2871788"/>
            <a:ext cx="2528888" cy="884237"/>
            <a:chOff x="9144000" y="3229217"/>
            <a:chExt cx="2527923" cy="885135"/>
          </a:xfrm>
        </p:grpSpPr>
        <p:sp>
          <p:nvSpPr>
            <p:cNvPr id="1251" name="Google Shape;1251;p54"/>
            <p:cNvSpPr/>
            <p:nvPr/>
          </p:nvSpPr>
          <p:spPr>
            <a:xfrm>
              <a:off x="9144000" y="3229217"/>
              <a:ext cx="2351575" cy="885135"/>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52" name="Google Shape;1252;p54"/>
            <p:cNvSpPr txBox="1"/>
            <p:nvPr/>
          </p:nvSpPr>
          <p:spPr>
            <a:xfrm>
              <a:off x="9144000" y="3271783"/>
              <a:ext cx="2527923"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FF0000"/>
                  </a:solidFill>
                  <a:latin typeface="Tahoma"/>
                  <a:ea typeface="Tahoma"/>
                  <a:cs typeface="Tahoma"/>
                  <a:sym typeface="Tahoma"/>
                </a:rPr>
                <a:t>Broadcast: I’m a DHCP server! Here’s an IP address you can use </a:t>
              </a:r>
              <a:endParaRPr/>
            </a:p>
          </p:txBody>
        </p:sp>
      </p:grpSp>
      <p:grpSp>
        <p:nvGrpSpPr>
          <p:cNvPr id="1253" name="Google Shape;1253;p54"/>
          <p:cNvGrpSpPr/>
          <p:nvPr/>
        </p:nvGrpSpPr>
        <p:grpSpPr>
          <a:xfrm>
            <a:off x="2286000" y="4097338"/>
            <a:ext cx="2527300" cy="884237"/>
            <a:chOff x="8956574" y="4615923"/>
            <a:chExt cx="2527923" cy="885135"/>
          </a:xfrm>
        </p:grpSpPr>
        <p:sp>
          <p:nvSpPr>
            <p:cNvPr id="1254" name="Google Shape;1254;p54"/>
            <p:cNvSpPr/>
            <p:nvPr/>
          </p:nvSpPr>
          <p:spPr>
            <a:xfrm>
              <a:off x="8956574" y="4615923"/>
              <a:ext cx="2351575" cy="885135"/>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55" name="Google Shape;1255;p54"/>
            <p:cNvSpPr txBox="1"/>
            <p:nvPr/>
          </p:nvSpPr>
          <p:spPr>
            <a:xfrm>
              <a:off x="8956574" y="4765817"/>
              <a:ext cx="2527923" cy="58477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FF0000"/>
                  </a:solidFill>
                  <a:latin typeface="Tahoma"/>
                  <a:ea typeface="Tahoma"/>
                  <a:cs typeface="Tahoma"/>
                  <a:sym typeface="Tahoma"/>
                </a:rPr>
                <a:t>Broadcast: OK.  I’ll take that IP address!</a:t>
              </a:r>
              <a:endParaRPr/>
            </a:p>
          </p:txBody>
        </p:sp>
      </p:grpSp>
      <p:grpSp>
        <p:nvGrpSpPr>
          <p:cNvPr id="1256" name="Google Shape;1256;p54"/>
          <p:cNvGrpSpPr/>
          <p:nvPr/>
        </p:nvGrpSpPr>
        <p:grpSpPr>
          <a:xfrm>
            <a:off x="3652838" y="5465763"/>
            <a:ext cx="2528887" cy="885825"/>
            <a:chOff x="9144000" y="5555417"/>
            <a:chExt cx="2527923" cy="885135"/>
          </a:xfrm>
        </p:grpSpPr>
        <p:sp>
          <p:nvSpPr>
            <p:cNvPr id="1257" name="Google Shape;1257;p54"/>
            <p:cNvSpPr/>
            <p:nvPr/>
          </p:nvSpPr>
          <p:spPr>
            <a:xfrm>
              <a:off x="9144000" y="5555417"/>
              <a:ext cx="2351575" cy="885135"/>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600">
                <a:solidFill>
                  <a:srgbClr val="000000"/>
                </a:solidFill>
                <a:latin typeface="Tahoma"/>
                <a:ea typeface="Tahoma"/>
                <a:cs typeface="Tahoma"/>
                <a:sym typeface="Tahoma"/>
              </a:endParaRPr>
            </a:p>
          </p:txBody>
        </p:sp>
        <p:sp>
          <p:nvSpPr>
            <p:cNvPr id="1258" name="Google Shape;1258;p54"/>
            <p:cNvSpPr txBox="1"/>
            <p:nvPr/>
          </p:nvSpPr>
          <p:spPr>
            <a:xfrm>
              <a:off x="9144000" y="5705311"/>
              <a:ext cx="2527923" cy="58477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FF0000"/>
                  </a:solidFill>
                  <a:latin typeface="Tahoma"/>
                  <a:ea typeface="Tahoma"/>
                  <a:cs typeface="Tahoma"/>
                  <a:sym typeface="Tahoma"/>
                </a:rPr>
                <a:t>Broadcast: OK.  You’ve got that IP address!</a:t>
              </a:r>
              <a:endParaRPr/>
            </a:p>
          </p:txBody>
        </p:sp>
      </p:grpSp>
      <p:sp>
        <p:nvSpPr>
          <p:cNvPr id="1259" name="Google Shape;1259;p54"/>
          <p:cNvSpPr txBox="1">
            <a:spLocks noGrp="1"/>
          </p:cNvSpPr>
          <p:nvPr>
            <p:ph type="sldNum" idx="12"/>
          </p:nvPr>
        </p:nvSpPr>
        <p:spPr>
          <a:xfrm>
            <a:off x="8456613" y="6475413"/>
            <a:ext cx="687387" cy="24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109</a:t>
            </a:fld>
            <a:endParaRPr sz="1200">
              <a:solidFill>
                <a:schemeClr val="dk1"/>
              </a:solidFill>
              <a:latin typeface="Tahoma"/>
              <a:ea typeface="Tahoma"/>
              <a:cs typeface="Tahoma"/>
              <a:sym typeface="Tahoma"/>
            </a:endParaRPr>
          </a:p>
        </p:txBody>
      </p:sp>
    </p:spTree>
    <p:extLst>
      <p:ext uri="{BB962C8B-B14F-4D97-AF65-F5344CB8AC3E}">
        <p14:creationId xmlns:p14="http://schemas.microsoft.com/office/powerpoint/2010/main" val="366879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2"/>
                                        </p:tgtEl>
                                        <p:attrNameLst>
                                          <p:attrName>style.visibility</p:attrName>
                                        </p:attrNameLst>
                                      </p:cBhvr>
                                      <p:to>
                                        <p:strVal val="visible"/>
                                      </p:to>
                                    </p:set>
                                    <p:animEffect transition="in" filter="fade">
                                      <p:cBhvr>
                                        <p:cTn id="7" dur="500"/>
                                        <p:tgtEl>
                                          <p:spTgt spid="1172"/>
                                        </p:tgtEl>
                                      </p:cBhvr>
                                    </p:animEffect>
                                  </p:childTnLst>
                                </p:cTn>
                              </p:par>
                              <p:par>
                                <p:cTn id="8" presetID="10" presetClass="entr" presetSubtype="0" fill="hold" nodeType="withEffect">
                                  <p:stCondLst>
                                    <p:cond delay="0"/>
                                  </p:stCondLst>
                                  <p:childTnLst>
                                    <p:set>
                                      <p:cBhvr>
                                        <p:cTn id="9" dur="1" fill="hold">
                                          <p:stCondLst>
                                            <p:cond delay="0"/>
                                          </p:stCondLst>
                                        </p:cTn>
                                        <p:tgtEl>
                                          <p:spTgt spid="1247"/>
                                        </p:tgtEl>
                                        <p:attrNameLst>
                                          <p:attrName>style.visibility</p:attrName>
                                        </p:attrNameLst>
                                      </p:cBhvr>
                                      <p:to>
                                        <p:strVal val="visible"/>
                                      </p:to>
                                    </p:set>
                                    <p:animEffect transition="in" filter="fade">
                                      <p:cBhvr>
                                        <p:cTn id="10" dur="500"/>
                                        <p:tgtEl>
                                          <p:spTgt spid="124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1247"/>
                                        </p:tgtEl>
                                      </p:cBhvr>
                                    </p:animEffect>
                                    <p:set>
                                      <p:cBhvr>
                                        <p:cTn id="15" dur="1" fill="hold">
                                          <p:stCondLst>
                                            <p:cond delay="500"/>
                                          </p:stCondLst>
                                        </p:cTn>
                                        <p:tgtEl>
                                          <p:spTgt spid="124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78"/>
                                        </p:tgtEl>
                                        <p:attrNameLst>
                                          <p:attrName>style.visibility</p:attrName>
                                        </p:attrNameLst>
                                      </p:cBhvr>
                                      <p:to>
                                        <p:strVal val="visible"/>
                                      </p:to>
                                    </p:set>
                                    <p:animEffect transition="in" filter="fade">
                                      <p:cBhvr>
                                        <p:cTn id="20" dur="500"/>
                                        <p:tgtEl>
                                          <p:spTgt spid="1178"/>
                                        </p:tgtEl>
                                      </p:cBhvr>
                                    </p:animEffect>
                                  </p:childTnLst>
                                </p:cTn>
                              </p:par>
                              <p:par>
                                <p:cTn id="21" presetID="10" presetClass="entr" presetSubtype="0" fill="hold" nodeType="withEffect">
                                  <p:stCondLst>
                                    <p:cond delay="0"/>
                                  </p:stCondLst>
                                  <p:childTnLst>
                                    <p:set>
                                      <p:cBhvr>
                                        <p:cTn id="22" dur="1" fill="hold">
                                          <p:stCondLst>
                                            <p:cond delay="0"/>
                                          </p:stCondLst>
                                        </p:cTn>
                                        <p:tgtEl>
                                          <p:spTgt spid="1177"/>
                                        </p:tgtEl>
                                        <p:attrNameLst>
                                          <p:attrName>style.visibility</p:attrName>
                                        </p:attrNameLst>
                                      </p:cBhvr>
                                      <p:to>
                                        <p:strVal val="visible"/>
                                      </p:to>
                                    </p:set>
                                    <p:animEffect transition="in" filter="fade">
                                      <p:cBhvr>
                                        <p:cTn id="23" dur="500"/>
                                        <p:tgtEl>
                                          <p:spTgt spid="1177"/>
                                        </p:tgtEl>
                                      </p:cBhvr>
                                    </p:animEffect>
                                  </p:childTnLst>
                                </p:cTn>
                              </p:par>
                              <p:par>
                                <p:cTn id="24" presetID="10" presetClass="entr" presetSubtype="0" fill="hold" nodeType="withEffect">
                                  <p:stCondLst>
                                    <p:cond delay="0"/>
                                  </p:stCondLst>
                                  <p:childTnLst>
                                    <p:set>
                                      <p:cBhvr>
                                        <p:cTn id="25" dur="1" fill="hold">
                                          <p:stCondLst>
                                            <p:cond delay="0"/>
                                          </p:stCondLst>
                                        </p:cTn>
                                        <p:tgtEl>
                                          <p:spTgt spid="1250"/>
                                        </p:tgtEl>
                                        <p:attrNameLst>
                                          <p:attrName>style.visibility</p:attrName>
                                        </p:attrNameLst>
                                      </p:cBhvr>
                                      <p:to>
                                        <p:strVal val="visible"/>
                                      </p:to>
                                    </p:set>
                                    <p:animEffect transition="in" filter="fade">
                                      <p:cBhvr>
                                        <p:cTn id="26" dur="500"/>
                                        <p:tgtEl>
                                          <p:spTgt spid="125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1250"/>
                                        </p:tgtEl>
                                      </p:cBhvr>
                                    </p:animEffect>
                                    <p:set>
                                      <p:cBhvr>
                                        <p:cTn id="31" dur="1" fill="hold">
                                          <p:stCondLst>
                                            <p:cond delay="500"/>
                                          </p:stCondLst>
                                        </p:cTn>
                                        <p:tgtEl>
                                          <p:spTgt spid="125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82"/>
                                        </p:tgtEl>
                                        <p:attrNameLst>
                                          <p:attrName>style.visibility</p:attrName>
                                        </p:attrNameLst>
                                      </p:cBhvr>
                                      <p:to>
                                        <p:strVal val="visible"/>
                                      </p:to>
                                    </p:set>
                                    <p:animEffect transition="in" filter="fade">
                                      <p:cBhvr>
                                        <p:cTn id="36" dur="500"/>
                                        <p:tgtEl>
                                          <p:spTgt spid="1182"/>
                                        </p:tgtEl>
                                      </p:cBhvr>
                                    </p:animEffect>
                                  </p:childTnLst>
                                </p:cTn>
                              </p:par>
                              <p:par>
                                <p:cTn id="37" presetID="10" presetClass="entr" presetSubtype="0" fill="hold" nodeType="withEffect">
                                  <p:stCondLst>
                                    <p:cond delay="0"/>
                                  </p:stCondLst>
                                  <p:childTnLst>
                                    <p:set>
                                      <p:cBhvr>
                                        <p:cTn id="38" dur="1" fill="hold">
                                          <p:stCondLst>
                                            <p:cond delay="0"/>
                                          </p:stCondLst>
                                        </p:cTn>
                                        <p:tgtEl>
                                          <p:spTgt spid="1181"/>
                                        </p:tgtEl>
                                        <p:attrNameLst>
                                          <p:attrName>style.visibility</p:attrName>
                                        </p:attrNameLst>
                                      </p:cBhvr>
                                      <p:to>
                                        <p:strVal val="visible"/>
                                      </p:to>
                                    </p:set>
                                    <p:animEffect transition="in" filter="fade">
                                      <p:cBhvr>
                                        <p:cTn id="39" dur="500"/>
                                        <p:tgtEl>
                                          <p:spTgt spid="1181"/>
                                        </p:tgtEl>
                                      </p:cBhvr>
                                    </p:animEffect>
                                  </p:childTnLst>
                                </p:cTn>
                              </p:par>
                              <p:par>
                                <p:cTn id="40" presetID="10" presetClass="entr" presetSubtype="0" fill="hold" nodeType="withEffect">
                                  <p:stCondLst>
                                    <p:cond delay="0"/>
                                  </p:stCondLst>
                                  <p:childTnLst>
                                    <p:set>
                                      <p:cBhvr>
                                        <p:cTn id="41" dur="1" fill="hold">
                                          <p:stCondLst>
                                            <p:cond delay="0"/>
                                          </p:stCondLst>
                                        </p:cTn>
                                        <p:tgtEl>
                                          <p:spTgt spid="1253"/>
                                        </p:tgtEl>
                                        <p:attrNameLst>
                                          <p:attrName>style.visibility</p:attrName>
                                        </p:attrNameLst>
                                      </p:cBhvr>
                                      <p:to>
                                        <p:strVal val="visible"/>
                                      </p:to>
                                    </p:set>
                                    <p:animEffect transition="in" filter="fade">
                                      <p:cBhvr>
                                        <p:cTn id="42" dur="500"/>
                                        <p:tgtEl>
                                          <p:spTgt spid="125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1253"/>
                                        </p:tgtEl>
                                      </p:cBhvr>
                                    </p:animEffect>
                                    <p:set>
                                      <p:cBhvr>
                                        <p:cTn id="47" dur="1" fill="hold">
                                          <p:stCondLst>
                                            <p:cond delay="500"/>
                                          </p:stCondLst>
                                        </p:cTn>
                                        <p:tgtEl>
                                          <p:spTgt spid="1253"/>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86"/>
                                        </p:tgtEl>
                                        <p:attrNameLst>
                                          <p:attrName>style.visibility</p:attrName>
                                        </p:attrNameLst>
                                      </p:cBhvr>
                                      <p:to>
                                        <p:strVal val="visible"/>
                                      </p:to>
                                    </p:set>
                                    <p:animEffect transition="in" filter="fade">
                                      <p:cBhvr>
                                        <p:cTn id="52" dur="500"/>
                                        <p:tgtEl>
                                          <p:spTgt spid="1186"/>
                                        </p:tgtEl>
                                      </p:cBhvr>
                                    </p:animEffect>
                                  </p:childTnLst>
                                </p:cTn>
                              </p:par>
                              <p:par>
                                <p:cTn id="53" presetID="10" presetClass="entr" presetSubtype="0" fill="hold" nodeType="withEffect">
                                  <p:stCondLst>
                                    <p:cond delay="0"/>
                                  </p:stCondLst>
                                  <p:childTnLst>
                                    <p:set>
                                      <p:cBhvr>
                                        <p:cTn id="54" dur="1" fill="hold">
                                          <p:stCondLst>
                                            <p:cond delay="0"/>
                                          </p:stCondLst>
                                        </p:cTn>
                                        <p:tgtEl>
                                          <p:spTgt spid="1185"/>
                                        </p:tgtEl>
                                        <p:attrNameLst>
                                          <p:attrName>style.visibility</p:attrName>
                                        </p:attrNameLst>
                                      </p:cBhvr>
                                      <p:to>
                                        <p:strVal val="visible"/>
                                      </p:to>
                                    </p:set>
                                    <p:animEffect transition="in" filter="fade">
                                      <p:cBhvr>
                                        <p:cTn id="55" dur="500"/>
                                        <p:tgtEl>
                                          <p:spTgt spid="1185"/>
                                        </p:tgtEl>
                                      </p:cBhvr>
                                    </p:animEffect>
                                  </p:childTnLst>
                                </p:cTn>
                              </p:par>
                              <p:par>
                                <p:cTn id="56" presetID="10" presetClass="entr" presetSubtype="0" fill="hold" nodeType="withEffect">
                                  <p:stCondLst>
                                    <p:cond delay="0"/>
                                  </p:stCondLst>
                                  <p:childTnLst>
                                    <p:set>
                                      <p:cBhvr>
                                        <p:cTn id="57" dur="1" fill="hold">
                                          <p:stCondLst>
                                            <p:cond delay="0"/>
                                          </p:stCondLst>
                                        </p:cTn>
                                        <p:tgtEl>
                                          <p:spTgt spid="1256"/>
                                        </p:tgtEl>
                                        <p:attrNameLst>
                                          <p:attrName>style.visibility</p:attrName>
                                        </p:attrNameLst>
                                      </p:cBhvr>
                                      <p:to>
                                        <p:strVal val="visible"/>
                                      </p:to>
                                    </p:set>
                                    <p:animEffect transition="in" filter="fade">
                                      <p:cBhvr>
                                        <p:cTn id="58" dur="500"/>
                                        <p:tgtEl>
                                          <p:spTgt spid="125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500"/>
                                        <p:tgtEl>
                                          <p:spTgt spid="1256"/>
                                        </p:tgtEl>
                                      </p:cBhvr>
                                    </p:animEffect>
                                    <p:set>
                                      <p:cBhvr>
                                        <p:cTn id="63" dur="1" fill="hold">
                                          <p:stCondLst>
                                            <p:cond delay="500"/>
                                          </p:stCondLst>
                                        </p:cTn>
                                        <p:tgtEl>
                                          <p:spTgt spid="12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Freeform 3">
            <a:extLst>
              <a:ext uri="{FF2B5EF4-FFF2-40B4-BE49-F238E27FC236}">
                <a16:creationId xmlns:a16="http://schemas.microsoft.com/office/drawing/2014/main" id="{6B20889F-8B73-5A4F-948D-BC7FBE071249}"/>
              </a:ext>
            </a:extLst>
          </p:cNvPr>
          <p:cNvSpPr>
            <a:spLocks/>
          </p:cNvSpPr>
          <p:nvPr/>
        </p:nvSpPr>
        <p:spPr bwMode="auto">
          <a:xfrm>
            <a:off x="1400546" y="2221119"/>
            <a:ext cx="2665809" cy="2065735"/>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a:defRPr/>
            </a:pPr>
            <a:endParaRPr lang="en-US" sz="1350" dirty="0">
              <a:solidFill>
                <a:srgbClr val="000000"/>
              </a:solidFill>
            </a:endParaRPr>
          </a:p>
        </p:txBody>
      </p:sp>
      <p:grpSp>
        <p:nvGrpSpPr>
          <p:cNvPr id="573" name="Group 572">
            <a:extLst>
              <a:ext uri="{FF2B5EF4-FFF2-40B4-BE49-F238E27FC236}">
                <a16:creationId xmlns:a16="http://schemas.microsoft.com/office/drawing/2014/main" id="{484D20B7-37AF-F449-9229-69BC2F46A444}"/>
              </a:ext>
            </a:extLst>
          </p:cNvPr>
          <p:cNvGrpSpPr/>
          <p:nvPr/>
        </p:nvGrpSpPr>
        <p:grpSpPr>
          <a:xfrm>
            <a:off x="2829132" y="3775414"/>
            <a:ext cx="780415" cy="323312"/>
            <a:chOff x="7493876" y="2774731"/>
            <a:chExt cx="1481958" cy="894622"/>
          </a:xfrm>
        </p:grpSpPr>
        <p:sp>
          <p:nvSpPr>
            <p:cNvPr id="582" name="Freeform 581">
              <a:extLst>
                <a:ext uri="{FF2B5EF4-FFF2-40B4-BE49-F238E27FC236}">
                  <a16:creationId xmlns:a16="http://schemas.microsoft.com/office/drawing/2014/main" id="{BBE9BC04-A2A6-F746-9F08-03F4EDB58B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583" name="Oval 582">
              <a:extLst>
                <a:ext uri="{FF2B5EF4-FFF2-40B4-BE49-F238E27FC236}">
                  <a16:creationId xmlns:a16="http://schemas.microsoft.com/office/drawing/2014/main" id="{5F31BBA7-277B-7547-A889-4CE61E62107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584" name="Group 583">
              <a:extLst>
                <a:ext uri="{FF2B5EF4-FFF2-40B4-BE49-F238E27FC236}">
                  <a16:creationId xmlns:a16="http://schemas.microsoft.com/office/drawing/2014/main" id="{A235A3E8-5F9F-054E-812C-82B1457E7DAF}"/>
                </a:ext>
              </a:extLst>
            </p:cNvPr>
            <p:cNvGrpSpPr/>
            <p:nvPr/>
          </p:nvGrpSpPr>
          <p:grpSpPr>
            <a:xfrm>
              <a:off x="7713663" y="2848339"/>
              <a:ext cx="1042107" cy="425543"/>
              <a:chOff x="7786941" y="2884917"/>
              <a:chExt cx="897649" cy="353919"/>
            </a:xfrm>
          </p:grpSpPr>
          <p:sp>
            <p:nvSpPr>
              <p:cNvPr id="585" name="Freeform 584">
                <a:extLst>
                  <a:ext uri="{FF2B5EF4-FFF2-40B4-BE49-F238E27FC236}">
                    <a16:creationId xmlns:a16="http://schemas.microsoft.com/office/drawing/2014/main" id="{5DDEAE5B-F867-B04E-9480-5609AC66F59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86" name="Freeform 585">
                <a:extLst>
                  <a:ext uri="{FF2B5EF4-FFF2-40B4-BE49-F238E27FC236}">
                    <a16:creationId xmlns:a16="http://schemas.microsoft.com/office/drawing/2014/main" id="{FBC3084B-7403-CB43-BF1A-54F05828C7C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87" name="Freeform 586">
                <a:extLst>
                  <a:ext uri="{FF2B5EF4-FFF2-40B4-BE49-F238E27FC236}">
                    <a16:creationId xmlns:a16="http://schemas.microsoft.com/office/drawing/2014/main" id="{CCCD1707-2759-A14B-96A2-D746BB01264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88" name="Freeform 587">
                <a:extLst>
                  <a:ext uri="{FF2B5EF4-FFF2-40B4-BE49-F238E27FC236}">
                    <a16:creationId xmlns:a16="http://schemas.microsoft.com/office/drawing/2014/main" id="{9B0492DA-B9A2-1F42-8EC8-885383C522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574" name="Group 573">
            <a:extLst>
              <a:ext uri="{FF2B5EF4-FFF2-40B4-BE49-F238E27FC236}">
                <a16:creationId xmlns:a16="http://schemas.microsoft.com/office/drawing/2014/main" id="{A2DF0841-9316-7744-99F2-F246599FA663}"/>
              </a:ext>
            </a:extLst>
          </p:cNvPr>
          <p:cNvGrpSpPr/>
          <p:nvPr/>
        </p:nvGrpSpPr>
        <p:grpSpPr>
          <a:xfrm>
            <a:off x="3212380" y="3062337"/>
            <a:ext cx="688811" cy="292972"/>
            <a:chOff x="3668110" y="2448910"/>
            <a:chExt cx="3794234" cy="2165130"/>
          </a:xfrm>
        </p:grpSpPr>
        <p:sp>
          <p:nvSpPr>
            <p:cNvPr id="575" name="Rectangle 574">
              <a:extLst>
                <a:ext uri="{FF2B5EF4-FFF2-40B4-BE49-F238E27FC236}">
                  <a16:creationId xmlns:a16="http://schemas.microsoft.com/office/drawing/2014/main" id="{B7FE1E33-3837-6A44-8F3D-D671A86ECB77}"/>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76" name="Freeform 575">
              <a:extLst>
                <a:ext uri="{FF2B5EF4-FFF2-40B4-BE49-F238E27FC236}">
                  <a16:creationId xmlns:a16="http://schemas.microsoft.com/office/drawing/2014/main" id="{D7EBAA0A-EA4B-2A42-B633-E3F75F2BB7B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577" name="Group 576">
              <a:extLst>
                <a:ext uri="{FF2B5EF4-FFF2-40B4-BE49-F238E27FC236}">
                  <a16:creationId xmlns:a16="http://schemas.microsoft.com/office/drawing/2014/main" id="{A0FA1B3E-9ECC-B241-8F16-2C1970256C81}"/>
                </a:ext>
              </a:extLst>
            </p:cNvPr>
            <p:cNvGrpSpPr/>
            <p:nvPr/>
          </p:nvGrpSpPr>
          <p:grpSpPr>
            <a:xfrm>
              <a:off x="3941378" y="2603243"/>
              <a:ext cx="3202061" cy="1066110"/>
              <a:chOff x="7939341" y="3037317"/>
              <a:chExt cx="897649" cy="353919"/>
            </a:xfrm>
          </p:grpSpPr>
          <p:sp>
            <p:nvSpPr>
              <p:cNvPr id="578" name="Freeform 577">
                <a:extLst>
                  <a:ext uri="{FF2B5EF4-FFF2-40B4-BE49-F238E27FC236}">
                    <a16:creationId xmlns:a16="http://schemas.microsoft.com/office/drawing/2014/main" id="{CB74265E-694E-5A49-B1D2-3C1956E0BE2E}"/>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79" name="Freeform 578">
                <a:extLst>
                  <a:ext uri="{FF2B5EF4-FFF2-40B4-BE49-F238E27FC236}">
                    <a16:creationId xmlns:a16="http://schemas.microsoft.com/office/drawing/2014/main" id="{8680283C-1CA3-D44B-8FFA-B36341C7230E}"/>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80" name="Freeform 579">
                <a:extLst>
                  <a:ext uri="{FF2B5EF4-FFF2-40B4-BE49-F238E27FC236}">
                    <a16:creationId xmlns:a16="http://schemas.microsoft.com/office/drawing/2014/main" id="{2B31DC87-EF0E-0D4F-81A2-B6FB2A803F7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81" name="Freeform 580">
                <a:extLst>
                  <a:ext uri="{FF2B5EF4-FFF2-40B4-BE49-F238E27FC236}">
                    <a16:creationId xmlns:a16="http://schemas.microsoft.com/office/drawing/2014/main" id="{F14BA91B-FE87-514B-B749-384B3F1D92C2}"/>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589" name="Line 48">
            <a:extLst>
              <a:ext uri="{FF2B5EF4-FFF2-40B4-BE49-F238E27FC236}">
                <a16:creationId xmlns:a16="http://schemas.microsoft.com/office/drawing/2014/main" id="{E2F245C9-F9FA-FF41-8279-23685395B6FA}"/>
              </a:ext>
            </a:extLst>
          </p:cNvPr>
          <p:cNvSpPr>
            <a:spLocks noChangeShapeType="1"/>
          </p:cNvSpPr>
          <p:nvPr/>
        </p:nvSpPr>
        <p:spPr bwMode="auto">
          <a:xfrm flipV="1">
            <a:off x="3293269" y="3350418"/>
            <a:ext cx="345281" cy="428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srgbClr val="000000"/>
              </a:solidFill>
            </a:endParaRP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628650" y="1090608"/>
            <a:ext cx="7886700" cy="670967"/>
          </a:xfrm>
        </p:spPr>
        <p:txBody>
          <a:bodyPr/>
          <a:lstStyle/>
          <a:p>
            <a:r>
              <a:rPr lang="en-US" dirty="0"/>
              <a:t>DHCP: example</a:t>
            </a:r>
          </a:p>
        </p:txBody>
      </p:sp>
      <p:sp>
        <p:nvSpPr>
          <p:cNvPr id="379" name="Rectangle 3">
            <a:extLst>
              <a:ext uri="{FF2B5EF4-FFF2-40B4-BE49-F238E27FC236}">
                <a16:creationId xmlns:a16="http://schemas.microsoft.com/office/drawing/2014/main" id="{1C377AEF-2633-FC44-9747-922C7C110C17}"/>
              </a:ext>
            </a:extLst>
          </p:cNvPr>
          <p:cNvSpPr txBox="1">
            <a:spLocks noChangeArrowheads="1"/>
          </p:cNvSpPr>
          <p:nvPr/>
        </p:nvSpPr>
        <p:spPr bwMode="auto">
          <a:xfrm>
            <a:off x="4598565" y="2112772"/>
            <a:ext cx="3563579" cy="946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175022" indent="-175022" defTabSz="685800">
              <a:buFont typeface="Wingdings" charset="2"/>
              <a:buChar char="§"/>
              <a:defRPr/>
            </a:pPr>
            <a:r>
              <a:rPr lang="en-US" sz="1800" kern="0" dirty="0">
                <a:solidFill>
                  <a:srgbClr val="000000"/>
                </a:solidFill>
                <a:latin typeface="Calibri" panose="020F0502020204030204"/>
                <a:cs typeface="+mn-cs"/>
              </a:rPr>
              <a:t>Connecting laptop will use DHCP to get IP address, address of first-hop router, address of DNS server.</a:t>
            </a:r>
          </a:p>
        </p:txBody>
      </p:sp>
      <p:sp>
        <p:nvSpPr>
          <p:cNvPr id="382" name="Line 43">
            <a:extLst>
              <a:ext uri="{FF2B5EF4-FFF2-40B4-BE49-F238E27FC236}">
                <a16:creationId xmlns:a16="http://schemas.microsoft.com/office/drawing/2014/main" id="{C8851F30-DB65-2343-90FB-A929CA01005D}"/>
              </a:ext>
            </a:extLst>
          </p:cNvPr>
          <p:cNvSpPr>
            <a:spLocks noChangeShapeType="1"/>
          </p:cNvSpPr>
          <p:nvPr/>
        </p:nvSpPr>
        <p:spPr bwMode="auto">
          <a:xfrm flipV="1">
            <a:off x="2819772" y="3153940"/>
            <a:ext cx="421744" cy="6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srgbClr val="000000"/>
              </a:solidFill>
            </a:endParaRPr>
          </a:p>
        </p:txBody>
      </p:sp>
      <p:sp>
        <p:nvSpPr>
          <p:cNvPr id="385" name="Text Box 44">
            <a:extLst>
              <a:ext uri="{FF2B5EF4-FFF2-40B4-BE49-F238E27FC236}">
                <a16:creationId xmlns:a16="http://schemas.microsoft.com/office/drawing/2014/main" id="{59259B03-4826-E149-B0DC-4EBA829369E9}"/>
              </a:ext>
            </a:extLst>
          </p:cNvPr>
          <p:cNvSpPr txBox="1">
            <a:spLocks noChangeArrowheads="1"/>
          </p:cNvSpPr>
          <p:nvPr/>
        </p:nvSpPr>
        <p:spPr bwMode="auto">
          <a:xfrm>
            <a:off x="2742380" y="4124929"/>
            <a:ext cx="157927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i="1" kern="0" dirty="0">
                <a:solidFill>
                  <a:srgbClr val="000000"/>
                </a:solidFill>
              </a:rPr>
              <a:t>router with DHCP </a:t>
            </a:r>
          </a:p>
          <a:p>
            <a:pPr defTabSz="685800">
              <a:defRPr/>
            </a:pPr>
            <a:r>
              <a:rPr lang="en-US" altLang="en-US" sz="1350" i="1" kern="0" dirty="0">
                <a:solidFill>
                  <a:srgbClr val="000000"/>
                </a:solidFill>
              </a:rPr>
              <a:t>server built into </a:t>
            </a:r>
          </a:p>
          <a:p>
            <a:pPr defTabSz="685800">
              <a:defRPr/>
            </a:pPr>
            <a:r>
              <a:rPr lang="en-US" altLang="en-US" sz="1350" i="1" kern="0" dirty="0">
                <a:solidFill>
                  <a:srgbClr val="000000"/>
                </a:solidFill>
              </a:rPr>
              <a:t>router</a:t>
            </a:r>
          </a:p>
        </p:txBody>
      </p:sp>
      <p:sp>
        <p:nvSpPr>
          <p:cNvPr id="386" name="Rectangle 152">
            <a:extLst>
              <a:ext uri="{FF2B5EF4-FFF2-40B4-BE49-F238E27FC236}">
                <a16:creationId xmlns:a16="http://schemas.microsoft.com/office/drawing/2014/main" id="{745619DC-3C53-E14A-874D-F2C6B677A3BE}"/>
              </a:ext>
            </a:extLst>
          </p:cNvPr>
          <p:cNvSpPr>
            <a:spLocks noChangeArrowheads="1"/>
          </p:cNvSpPr>
          <p:nvPr/>
        </p:nvSpPr>
        <p:spPr bwMode="auto">
          <a:xfrm>
            <a:off x="4598565" y="3080751"/>
            <a:ext cx="4054709" cy="97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3363" indent="-233363">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175022" indent="-175022" defTabSz="685800">
              <a:lnSpc>
                <a:spcPct val="90000"/>
              </a:lnSpc>
              <a:spcBef>
                <a:spcPct val="20000"/>
              </a:spcBef>
              <a:buClr>
                <a:srgbClr val="000099"/>
              </a:buClr>
              <a:buSzPct val="100000"/>
              <a:buFont typeface="Wingdings" pitchFamily="2" charset="2"/>
              <a:buChar char="§"/>
              <a:defRPr/>
            </a:pPr>
            <a:r>
              <a:rPr lang="en-US" altLang="en-US" sz="1800" dirty="0">
                <a:solidFill>
                  <a:srgbClr val="000000"/>
                </a:solidFill>
                <a:latin typeface="Calibri" panose="020F0502020204030204"/>
              </a:rPr>
              <a:t>DHCP REQUEST message encapsulated in UDP, encapsulated in IP, encapsulated in Ethernet</a:t>
            </a:r>
          </a:p>
        </p:txBody>
      </p:sp>
      <p:sp>
        <p:nvSpPr>
          <p:cNvPr id="387" name="Rectangle 153">
            <a:extLst>
              <a:ext uri="{FF2B5EF4-FFF2-40B4-BE49-F238E27FC236}">
                <a16:creationId xmlns:a16="http://schemas.microsoft.com/office/drawing/2014/main" id="{082BCCE1-61C9-5E4C-B8D4-8ED23A69B392}"/>
              </a:ext>
            </a:extLst>
          </p:cNvPr>
          <p:cNvSpPr>
            <a:spLocks noChangeArrowheads="1"/>
          </p:cNvSpPr>
          <p:nvPr/>
        </p:nvSpPr>
        <p:spPr bwMode="auto">
          <a:xfrm>
            <a:off x="4612852" y="4015392"/>
            <a:ext cx="4087781" cy="1172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3363" indent="-233363">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175022" indent="-175022" defTabSz="685800">
              <a:lnSpc>
                <a:spcPct val="90000"/>
              </a:lnSpc>
              <a:spcBef>
                <a:spcPct val="20000"/>
              </a:spcBef>
              <a:buClr>
                <a:srgbClr val="000099"/>
              </a:buClr>
              <a:buSzPct val="100000"/>
              <a:buFont typeface="Wingdings" pitchFamily="2" charset="2"/>
              <a:buChar char="§"/>
              <a:defRPr/>
            </a:pPr>
            <a:r>
              <a:rPr lang="en-US" altLang="en-US" sz="1800" dirty="0">
                <a:solidFill>
                  <a:srgbClr val="000000"/>
                </a:solidFill>
                <a:latin typeface="Calibri" panose="020F0502020204030204"/>
              </a:rPr>
              <a:t>Ethernet frame broadcast (dest: </a:t>
            </a:r>
            <a:r>
              <a:rPr lang="en-US" altLang="en-US" sz="1350" dirty="0">
                <a:solidFill>
                  <a:srgbClr val="000000"/>
                </a:solidFill>
                <a:latin typeface="Calibri" panose="020F0502020204030204"/>
              </a:rPr>
              <a:t>FFFFFFFFFFFF</a:t>
            </a:r>
            <a:r>
              <a:rPr lang="en-US" altLang="en-US" sz="1800" dirty="0">
                <a:solidFill>
                  <a:srgbClr val="000000"/>
                </a:solidFill>
                <a:latin typeface="Calibri" panose="020F0502020204030204"/>
              </a:rPr>
              <a:t>) on LAN, received at router running DHCP server</a:t>
            </a:r>
          </a:p>
        </p:txBody>
      </p:sp>
      <p:sp>
        <p:nvSpPr>
          <p:cNvPr id="388" name="Rectangle 154">
            <a:extLst>
              <a:ext uri="{FF2B5EF4-FFF2-40B4-BE49-F238E27FC236}">
                <a16:creationId xmlns:a16="http://schemas.microsoft.com/office/drawing/2014/main" id="{2001FDC4-9DD8-8540-A00D-9430145AE66E}"/>
              </a:ext>
            </a:extLst>
          </p:cNvPr>
          <p:cNvSpPr>
            <a:spLocks noChangeArrowheads="1"/>
          </p:cNvSpPr>
          <p:nvPr/>
        </p:nvSpPr>
        <p:spPr bwMode="auto">
          <a:xfrm>
            <a:off x="4596184" y="5017898"/>
            <a:ext cx="3960452" cy="969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3363" indent="-233363">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175022" indent="-175022" defTabSz="685800">
              <a:lnSpc>
                <a:spcPct val="90000"/>
              </a:lnSpc>
              <a:spcBef>
                <a:spcPct val="20000"/>
              </a:spcBef>
              <a:buClr>
                <a:srgbClr val="000099"/>
              </a:buClr>
              <a:buSzPct val="100000"/>
              <a:buFont typeface="Wingdings" pitchFamily="2" charset="2"/>
              <a:buChar char="§"/>
              <a:defRPr/>
            </a:pPr>
            <a:r>
              <a:rPr lang="en-US" altLang="en-US" sz="1800" dirty="0">
                <a:solidFill>
                  <a:srgbClr val="000000"/>
                </a:solidFill>
                <a:latin typeface="Calibri" panose="020F0502020204030204"/>
              </a:rPr>
              <a:t>Ethernet demux’ed to IP demux’ed, UDP demux’ed to DHCP </a:t>
            </a:r>
          </a:p>
        </p:txBody>
      </p:sp>
      <p:sp>
        <p:nvSpPr>
          <p:cNvPr id="389" name="Text Box 155">
            <a:extLst>
              <a:ext uri="{FF2B5EF4-FFF2-40B4-BE49-F238E27FC236}">
                <a16:creationId xmlns:a16="http://schemas.microsoft.com/office/drawing/2014/main" id="{0FF8CA2B-A0E7-0344-8C3D-752022E95862}"/>
              </a:ext>
            </a:extLst>
          </p:cNvPr>
          <p:cNvSpPr txBox="1">
            <a:spLocks noChangeArrowheads="1"/>
          </p:cNvSpPr>
          <p:nvPr/>
        </p:nvSpPr>
        <p:spPr bwMode="auto">
          <a:xfrm>
            <a:off x="3316261" y="3612960"/>
            <a:ext cx="78581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168.1.1.1</a:t>
            </a:r>
          </a:p>
          <a:p>
            <a:pPr defTabSz="685800">
              <a:defRPr/>
            </a:pPr>
            <a:endParaRPr lang="en-US" altLang="en-US" sz="1050" kern="0" dirty="0">
              <a:solidFill>
                <a:srgbClr val="000000"/>
              </a:solidFill>
            </a:endParaRPr>
          </a:p>
        </p:txBody>
      </p:sp>
      <p:grpSp>
        <p:nvGrpSpPr>
          <p:cNvPr id="438" name="Group 234">
            <a:extLst>
              <a:ext uri="{FF2B5EF4-FFF2-40B4-BE49-F238E27FC236}">
                <a16:creationId xmlns:a16="http://schemas.microsoft.com/office/drawing/2014/main" id="{80B8D10B-0E57-694A-9F60-7DD157680859}"/>
              </a:ext>
            </a:extLst>
          </p:cNvPr>
          <p:cNvGrpSpPr>
            <a:grpSpLocks/>
          </p:cNvGrpSpPr>
          <p:nvPr/>
        </p:nvGrpSpPr>
        <p:grpSpPr bwMode="auto">
          <a:xfrm>
            <a:off x="2304230" y="2871200"/>
            <a:ext cx="638175" cy="461963"/>
            <a:chOff x="4420" y="878"/>
            <a:chExt cx="614" cy="458"/>
          </a:xfrm>
        </p:grpSpPr>
        <p:pic>
          <p:nvPicPr>
            <p:cNvPr id="439" name="Picture 235" descr="laptop_keyboard">
              <a:extLst>
                <a:ext uri="{FF2B5EF4-FFF2-40B4-BE49-F238E27FC236}">
                  <a16:creationId xmlns:a16="http://schemas.microsoft.com/office/drawing/2014/main" id="{32F92D03-3F10-DD48-B916-C1A813CAA4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 name="Freeform 236">
              <a:extLst>
                <a:ext uri="{FF2B5EF4-FFF2-40B4-BE49-F238E27FC236}">
                  <a16:creationId xmlns:a16="http://schemas.microsoft.com/office/drawing/2014/main" id="{635DC8EF-D2DF-1140-8A94-D496AE9162F9}"/>
                </a:ext>
              </a:extLst>
            </p:cNvPr>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p:spPr>
          <p:txBody>
            <a:bodyPr/>
            <a:lstStyle/>
            <a:p>
              <a:pPr defTabSz="685800">
                <a:defRPr/>
              </a:pPr>
              <a:endParaRPr lang="en-US" sz="1350" kern="0" dirty="0">
                <a:solidFill>
                  <a:srgbClr val="000000"/>
                </a:solidFill>
              </a:endParaRPr>
            </a:p>
          </p:txBody>
        </p:sp>
        <p:pic>
          <p:nvPicPr>
            <p:cNvPr id="441" name="Picture 237" descr="screen">
              <a:extLst>
                <a:ext uri="{FF2B5EF4-FFF2-40B4-BE49-F238E27FC236}">
                  <a16:creationId xmlns:a16="http://schemas.microsoft.com/office/drawing/2014/main" id="{6BDF7141-8B18-8848-AE3F-A1F240A514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2" name="Freeform 238">
              <a:extLst>
                <a:ext uri="{FF2B5EF4-FFF2-40B4-BE49-F238E27FC236}">
                  <a16:creationId xmlns:a16="http://schemas.microsoft.com/office/drawing/2014/main" id="{F0AA71CC-9F7D-4E4A-AFD3-E4FC2EDB50F7}"/>
                </a:ext>
              </a:extLst>
            </p:cNvPr>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43" name="Freeform 239">
              <a:extLst>
                <a:ext uri="{FF2B5EF4-FFF2-40B4-BE49-F238E27FC236}">
                  <a16:creationId xmlns:a16="http://schemas.microsoft.com/office/drawing/2014/main" id="{478F089D-1CBD-064E-9E01-09DBACFE4574}"/>
                </a:ext>
              </a:extLst>
            </p:cNvPr>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44" name="Freeform 240">
              <a:extLst>
                <a:ext uri="{FF2B5EF4-FFF2-40B4-BE49-F238E27FC236}">
                  <a16:creationId xmlns:a16="http://schemas.microsoft.com/office/drawing/2014/main" id="{999308BB-3AD9-964C-9A37-585EA1CB9996}"/>
                </a:ext>
              </a:extLst>
            </p:cNvPr>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45" name="Freeform 241">
              <a:extLst>
                <a:ext uri="{FF2B5EF4-FFF2-40B4-BE49-F238E27FC236}">
                  <a16:creationId xmlns:a16="http://schemas.microsoft.com/office/drawing/2014/main" id="{50215675-D41A-884A-B70C-7A7A34B47E90}"/>
                </a:ext>
              </a:extLst>
            </p:cNvPr>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46" name="Freeform 242">
              <a:extLst>
                <a:ext uri="{FF2B5EF4-FFF2-40B4-BE49-F238E27FC236}">
                  <a16:creationId xmlns:a16="http://schemas.microsoft.com/office/drawing/2014/main" id="{67C07E3F-A680-3448-A285-F67163D5598B}"/>
                </a:ext>
              </a:extLst>
            </p:cNvPr>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47" name="Freeform 243">
              <a:extLst>
                <a:ext uri="{FF2B5EF4-FFF2-40B4-BE49-F238E27FC236}">
                  <a16:creationId xmlns:a16="http://schemas.microsoft.com/office/drawing/2014/main" id="{D6FEFC34-2380-1C46-9401-C809C94E04B9}"/>
                </a:ext>
              </a:extLst>
            </p:cNvPr>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grpSp>
          <p:nvGrpSpPr>
            <p:cNvPr id="448" name="Group 244">
              <a:extLst>
                <a:ext uri="{FF2B5EF4-FFF2-40B4-BE49-F238E27FC236}">
                  <a16:creationId xmlns:a16="http://schemas.microsoft.com/office/drawing/2014/main" id="{C27B64F7-2309-1F46-B525-0FF1CC0B3EEF}"/>
                </a:ext>
              </a:extLst>
            </p:cNvPr>
            <p:cNvGrpSpPr>
              <a:grpSpLocks/>
            </p:cNvGrpSpPr>
            <p:nvPr/>
          </p:nvGrpSpPr>
          <p:grpSpPr bwMode="auto">
            <a:xfrm>
              <a:off x="4584" y="1203"/>
              <a:ext cx="119" cy="53"/>
              <a:chOff x="1740" y="2642"/>
              <a:chExt cx="752" cy="327"/>
            </a:xfrm>
          </p:grpSpPr>
          <p:sp>
            <p:nvSpPr>
              <p:cNvPr id="455" name="Freeform 245">
                <a:extLst>
                  <a:ext uri="{FF2B5EF4-FFF2-40B4-BE49-F238E27FC236}">
                    <a16:creationId xmlns:a16="http://schemas.microsoft.com/office/drawing/2014/main" id="{6D904DDE-01FC-1A4C-8025-88A928752A29}"/>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6" name="Freeform 246">
                <a:extLst>
                  <a:ext uri="{FF2B5EF4-FFF2-40B4-BE49-F238E27FC236}">
                    <a16:creationId xmlns:a16="http://schemas.microsoft.com/office/drawing/2014/main" id="{E3315A06-9E1B-AC4A-906F-1640B3605CB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7" name="Freeform 247">
                <a:extLst>
                  <a:ext uri="{FF2B5EF4-FFF2-40B4-BE49-F238E27FC236}">
                    <a16:creationId xmlns:a16="http://schemas.microsoft.com/office/drawing/2014/main" id="{4B5E6F6D-A780-9F4A-B4CB-418F530E745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8" name="Freeform 248">
                <a:extLst>
                  <a:ext uri="{FF2B5EF4-FFF2-40B4-BE49-F238E27FC236}">
                    <a16:creationId xmlns:a16="http://schemas.microsoft.com/office/drawing/2014/main" id="{49CD3CF5-0077-7D4A-A378-2AAAA4CDE38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9" name="Freeform 249">
                <a:extLst>
                  <a:ext uri="{FF2B5EF4-FFF2-40B4-BE49-F238E27FC236}">
                    <a16:creationId xmlns:a16="http://schemas.microsoft.com/office/drawing/2014/main" id="{4E2747DD-F96B-124E-8BF8-EC78D4C82E5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60" name="Freeform 250">
                <a:extLst>
                  <a:ext uri="{FF2B5EF4-FFF2-40B4-BE49-F238E27FC236}">
                    <a16:creationId xmlns:a16="http://schemas.microsoft.com/office/drawing/2014/main" id="{5D228080-AAA4-AE4F-B2E0-444A375E9A9C}"/>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grpSp>
        <p:sp>
          <p:nvSpPr>
            <p:cNvPr id="449" name="Freeform 251">
              <a:extLst>
                <a:ext uri="{FF2B5EF4-FFF2-40B4-BE49-F238E27FC236}">
                  <a16:creationId xmlns:a16="http://schemas.microsoft.com/office/drawing/2014/main" id="{12335ADB-FB5B-8540-ADE8-01DE4817A545}"/>
                </a:ext>
              </a:extLst>
            </p:cNvPr>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0" name="Freeform 252">
              <a:extLst>
                <a:ext uri="{FF2B5EF4-FFF2-40B4-BE49-F238E27FC236}">
                  <a16:creationId xmlns:a16="http://schemas.microsoft.com/office/drawing/2014/main" id="{71BBEFC9-2EAD-0E4D-971B-FFE9F04A99D0}"/>
                </a:ext>
              </a:extLst>
            </p:cNvPr>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1" name="Freeform 253">
              <a:extLst>
                <a:ext uri="{FF2B5EF4-FFF2-40B4-BE49-F238E27FC236}">
                  <a16:creationId xmlns:a16="http://schemas.microsoft.com/office/drawing/2014/main" id="{AD467B30-53F9-E544-872F-75037A60A504}"/>
                </a:ext>
              </a:extLst>
            </p:cNvPr>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2" name="Freeform 254">
              <a:extLst>
                <a:ext uri="{FF2B5EF4-FFF2-40B4-BE49-F238E27FC236}">
                  <a16:creationId xmlns:a16="http://schemas.microsoft.com/office/drawing/2014/main" id="{09BD1056-1239-AA4F-9F79-BC195E4B831A}"/>
                </a:ext>
              </a:extLst>
            </p:cNvPr>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3" name="Freeform 255">
              <a:extLst>
                <a:ext uri="{FF2B5EF4-FFF2-40B4-BE49-F238E27FC236}">
                  <a16:creationId xmlns:a16="http://schemas.microsoft.com/office/drawing/2014/main" id="{3EE44984-E799-7448-B48B-0A3E5E326634}"/>
                </a:ext>
              </a:extLst>
            </p:cNvPr>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54" name="Freeform 256">
              <a:extLst>
                <a:ext uri="{FF2B5EF4-FFF2-40B4-BE49-F238E27FC236}">
                  <a16:creationId xmlns:a16="http://schemas.microsoft.com/office/drawing/2014/main" id="{F82A5B30-CFF4-9045-B98E-022A2D6583D3}"/>
                </a:ext>
              </a:extLst>
            </p:cNvPr>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grpSp>
      <p:sp>
        <p:nvSpPr>
          <p:cNvPr id="461" name="AutoShape 34">
            <a:extLst>
              <a:ext uri="{FF2B5EF4-FFF2-40B4-BE49-F238E27FC236}">
                <a16:creationId xmlns:a16="http://schemas.microsoft.com/office/drawing/2014/main" id="{BBFE8651-7E0E-9B42-83C9-13A7DD110D1A}"/>
              </a:ext>
            </a:extLst>
          </p:cNvPr>
          <p:cNvSpPr>
            <a:spLocks noChangeArrowheads="1"/>
          </p:cNvSpPr>
          <p:nvPr/>
        </p:nvSpPr>
        <p:spPr bwMode="auto">
          <a:xfrm>
            <a:off x="1443409" y="2966451"/>
            <a:ext cx="732234" cy="364331"/>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685800">
              <a:defRPr/>
            </a:pPr>
            <a:endParaRPr lang="en-US" sz="1350" dirty="0">
              <a:solidFill>
                <a:srgbClr val="000000"/>
              </a:solidFill>
            </a:endParaRPr>
          </a:p>
        </p:txBody>
      </p:sp>
      <p:grpSp>
        <p:nvGrpSpPr>
          <p:cNvPr id="462" name="Group 45">
            <a:extLst>
              <a:ext uri="{FF2B5EF4-FFF2-40B4-BE49-F238E27FC236}">
                <a16:creationId xmlns:a16="http://schemas.microsoft.com/office/drawing/2014/main" id="{7B2B7B83-C525-AC47-97F2-A2D1D1034FEF}"/>
              </a:ext>
            </a:extLst>
          </p:cNvPr>
          <p:cNvGrpSpPr>
            <a:grpSpLocks/>
          </p:cNvGrpSpPr>
          <p:nvPr/>
        </p:nvGrpSpPr>
        <p:grpSpPr bwMode="auto">
          <a:xfrm>
            <a:off x="1717253" y="2093723"/>
            <a:ext cx="732234" cy="1095375"/>
            <a:chOff x="651" y="681"/>
            <a:chExt cx="615" cy="920"/>
          </a:xfrm>
        </p:grpSpPr>
        <p:sp>
          <p:nvSpPr>
            <p:cNvPr id="463" name="Freeform 46">
              <a:extLst>
                <a:ext uri="{FF2B5EF4-FFF2-40B4-BE49-F238E27FC236}">
                  <a16:creationId xmlns:a16="http://schemas.microsoft.com/office/drawing/2014/main" id="{2F8E5860-1F4A-9441-8643-FF367740000B}"/>
                </a:ext>
              </a:extLst>
            </p:cNvPr>
            <p:cNvSpPr>
              <a:spLocks/>
            </p:cNvSpPr>
            <p:nvPr/>
          </p:nvSpPr>
          <p:spPr bwMode="auto">
            <a:xfrm>
              <a:off x="662" y="698"/>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T15" fmla="*/ 0 w 604"/>
                <a:gd name="T16" fmla="*/ 0 h 903"/>
                <a:gd name="T17" fmla="*/ 604 w 604"/>
                <a:gd name="T18" fmla="*/ 903 h 903"/>
              </a:gdLst>
              <a:ahLst/>
              <a:cxnLst>
                <a:cxn ang="T10">
                  <a:pos x="T0" y="T1"/>
                </a:cxn>
                <a:cxn ang="T11">
                  <a:pos x="T2" y="T3"/>
                </a:cxn>
                <a:cxn ang="T12">
                  <a:pos x="T4" y="T5"/>
                </a:cxn>
                <a:cxn ang="T13">
                  <a:pos x="T6" y="T7"/>
                </a:cxn>
                <a:cxn ang="T14">
                  <a:pos x="T8" y="T9"/>
                </a:cxn>
              </a:cxnLst>
              <a:rect l="T15" t="T16" r="T17" b="T18"/>
              <a:pathLst>
                <a:path w="604" h="903">
                  <a:moveTo>
                    <a:pt x="496" y="0"/>
                  </a:moveTo>
                  <a:lnTo>
                    <a:pt x="604" y="903"/>
                  </a:lnTo>
                  <a:lnTo>
                    <a:pt x="0" y="788"/>
                  </a:lnTo>
                  <a:lnTo>
                    <a:pt x="456" y="750"/>
                  </a:lnTo>
                  <a:lnTo>
                    <a:pt x="496" y="0"/>
                  </a:lnTo>
                  <a:close/>
                </a:path>
              </a:pathLst>
            </a:custGeom>
            <a:gradFill rotWithShape="1">
              <a:gsLst>
                <a:gs pos="0">
                  <a:srgbClr val="FFFFFF">
                    <a:alpha val="65999"/>
                  </a:srgbClr>
                </a:gs>
                <a:gs pos="100000">
                  <a:srgbClr val="000099">
                    <a:alpha val="67000"/>
                  </a:srgbClr>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kern="0" dirty="0">
                <a:solidFill>
                  <a:srgbClr val="000000"/>
                </a:solidFill>
              </a:endParaRPr>
            </a:p>
          </p:txBody>
        </p:sp>
        <p:grpSp>
          <p:nvGrpSpPr>
            <p:cNvPr id="464" name="Group 47">
              <a:extLst>
                <a:ext uri="{FF2B5EF4-FFF2-40B4-BE49-F238E27FC236}">
                  <a16:creationId xmlns:a16="http://schemas.microsoft.com/office/drawing/2014/main" id="{619D3750-75CE-7146-8080-07A05B2EE1C4}"/>
                </a:ext>
              </a:extLst>
            </p:cNvPr>
            <p:cNvGrpSpPr>
              <a:grpSpLocks/>
            </p:cNvGrpSpPr>
            <p:nvPr/>
          </p:nvGrpSpPr>
          <p:grpSpPr bwMode="auto">
            <a:xfrm>
              <a:off x="651" y="681"/>
              <a:ext cx="523" cy="853"/>
              <a:chOff x="569" y="2954"/>
              <a:chExt cx="523" cy="853"/>
            </a:xfrm>
          </p:grpSpPr>
          <p:sp>
            <p:nvSpPr>
              <p:cNvPr id="465" name="Rectangle 48">
                <a:extLst>
                  <a:ext uri="{FF2B5EF4-FFF2-40B4-BE49-F238E27FC236}">
                    <a16:creationId xmlns:a16="http://schemas.microsoft.com/office/drawing/2014/main" id="{28385ECE-1698-FA48-9005-E85B7ADAEBD9}"/>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schemeClr val="tx1">
                    <a:alpha val="40000"/>
                  </a:scheme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66" name="Text Box 49">
                <a:extLst>
                  <a:ext uri="{FF2B5EF4-FFF2-40B4-BE49-F238E27FC236}">
                    <a16:creationId xmlns:a16="http://schemas.microsoft.com/office/drawing/2014/main" id="{03E8F625-EC95-7449-B696-847DBF4C1339}"/>
                  </a:ext>
                </a:extLst>
              </p:cNvPr>
              <p:cNvSpPr txBox="1">
                <a:spLocks noChangeArrowheads="1"/>
              </p:cNvSpPr>
              <p:nvPr/>
            </p:nvSpPr>
            <p:spPr bwMode="auto">
              <a:xfrm>
                <a:off x="572" y="2954"/>
                <a:ext cx="520" cy="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200" kern="0" dirty="0">
                    <a:solidFill>
                      <a:srgbClr val="000000"/>
                    </a:solidFill>
                  </a:rPr>
                  <a:t>DHCP</a:t>
                </a:r>
              </a:p>
              <a:p>
                <a:pPr algn="ctr" defTabSz="685800">
                  <a:defRPr/>
                </a:pPr>
                <a:r>
                  <a:rPr lang="en-US" altLang="en-US" sz="1200" kern="0" dirty="0">
                    <a:solidFill>
                      <a:srgbClr val="000000"/>
                    </a:solidFill>
                  </a:rPr>
                  <a:t>UDP</a:t>
                </a:r>
              </a:p>
              <a:p>
                <a:pPr algn="ctr" defTabSz="685800">
                  <a:defRPr/>
                </a:pPr>
                <a:r>
                  <a:rPr lang="en-US" altLang="en-US" sz="1200" kern="0" dirty="0">
                    <a:solidFill>
                      <a:srgbClr val="000000"/>
                    </a:solidFill>
                  </a:rPr>
                  <a:t>IP</a:t>
                </a:r>
              </a:p>
              <a:p>
                <a:pPr algn="ctr" defTabSz="685800">
                  <a:defRPr/>
                </a:pPr>
                <a:r>
                  <a:rPr lang="en-US" altLang="en-US" sz="1200" kern="0" dirty="0">
                    <a:solidFill>
                      <a:srgbClr val="000000"/>
                    </a:solidFill>
                  </a:rPr>
                  <a:t>Eth</a:t>
                </a:r>
              </a:p>
              <a:p>
                <a:pPr algn="ctr" defTabSz="685800">
                  <a:defRPr/>
                </a:pPr>
                <a:r>
                  <a:rPr lang="en-US" altLang="en-US" sz="1200" kern="0" dirty="0">
                    <a:solidFill>
                      <a:srgbClr val="000000"/>
                    </a:solidFill>
                  </a:rPr>
                  <a:t>Phy</a:t>
                </a:r>
              </a:p>
            </p:txBody>
          </p:sp>
          <p:sp>
            <p:nvSpPr>
              <p:cNvPr id="467" name="Line 50">
                <a:extLst>
                  <a:ext uri="{FF2B5EF4-FFF2-40B4-BE49-F238E27FC236}">
                    <a16:creationId xmlns:a16="http://schemas.microsoft.com/office/drawing/2014/main" id="{DF468FDE-40E4-0648-9839-DDE0332A0778}"/>
                  </a:ext>
                </a:extLst>
              </p:cNvPr>
              <p:cNvSpPr>
                <a:spLocks noChangeShapeType="1"/>
              </p:cNvSpPr>
              <p:nvPr/>
            </p:nvSpPr>
            <p:spPr bwMode="auto">
              <a:xfrm>
                <a:off x="578" y="3130"/>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468" name="Line 51">
                <a:extLst>
                  <a:ext uri="{FF2B5EF4-FFF2-40B4-BE49-F238E27FC236}">
                    <a16:creationId xmlns:a16="http://schemas.microsoft.com/office/drawing/2014/main" id="{99D4E4D8-7BA2-1841-8740-092F3F2C1D2F}"/>
                  </a:ext>
                </a:extLst>
              </p:cNvPr>
              <p:cNvSpPr>
                <a:spLocks noChangeShapeType="1"/>
              </p:cNvSpPr>
              <p:nvPr/>
            </p:nvSpPr>
            <p:spPr bwMode="auto">
              <a:xfrm>
                <a:off x="575" y="3289"/>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469" name="Line 52">
                <a:extLst>
                  <a:ext uri="{FF2B5EF4-FFF2-40B4-BE49-F238E27FC236}">
                    <a16:creationId xmlns:a16="http://schemas.microsoft.com/office/drawing/2014/main" id="{46C4BB73-5326-6148-BB43-C6C4C685FFA6}"/>
                  </a:ext>
                </a:extLst>
              </p:cNvPr>
              <p:cNvSpPr>
                <a:spLocks noChangeShapeType="1"/>
              </p:cNvSpPr>
              <p:nvPr/>
            </p:nvSpPr>
            <p:spPr bwMode="auto">
              <a:xfrm>
                <a:off x="572" y="3448"/>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470" name="Line 53">
                <a:extLst>
                  <a:ext uri="{FF2B5EF4-FFF2-40B4-BE49-F238E27FC236}">
                    <a16:creationId xmlns:a16="http://schemas.microsoft.com/office/drawing/2014/main" id="{867C305B-8FC7-2546-83B8-7B677B4EFC65}"/>
                  </a:ext>
                </a:extLst>
              </p:cNvPr>
              <p:cNvSpPr>
                <a:spLocks noChangeShapeType="1"/>
              </p:cNvSpPr>
              <p:nvPr/>
            </p:nvSpPr>
            <p:spPr bwMode="auto">
              <a:xfrm>
                <a:off x="569" y="3607"/>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grpSp>
      </p:grpSp>
      <p:grpSp>
        <p:nvGrpSpPr>
          <p:cNvPr id="471" name="Group 54">
            <a:extLst>
              <a:ext uri="{FF2B5EF4-FFF2-40B4-BE49-F238E27FC236}">
                <a16:creationId xmlns:a16="http://schemas.microsoft.com/office/drawing/2014/main" id="{E55B3AA2-EA61-B94E-BC50-287F2699A080}"/>
              </a:ext>
            </a:extLst>
          </p:cNvPr>
          <p:cNvGrpSpPr>
            <a:grpSpLocks/>
          </p:cNvGrpSpPr>
          <p:nvPr/>
        </p:nvGrpSpPr>
        <p:grpSpPr bwMode="auto">
          <a:xfrm>
            <a:off x="1211236" y="2137788"/>
            <a:ext cx="456009" cy="207169"/>
            <a:chOff x="844" y="3337"/>
            <a:chExt cx="383" cy="174"/>
          </a:xfrm>
        </p:grpSpPr>
        <p:sp>
          <p:nvSpPr>
            <p:cNvPr id="472" name="Rectangle 55">
              <a:extLst>
                <a:ext uri="{FF2B5EF4-FFF2-40B4-BE49-F238E27FC236}">
                  <a16:creationId xmlns:a16="http://schemas.microsoft.com/office/drawing/2014/main" id="{3DF8187C-0350-B949-8481-A4B53A2BD3A3}"/>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73" name="Text Box 56">
              <a:extLst>
                <a:ext uri="{FF2B5EF4-FFF2-40B4-BE49-F238E27FC236}">
                  <a16:creationId xmlns:a16="http://schemas.microsoft.com/office/drawing/2014/main" id="{EB5DBBE5-0C11-2943-8F1C-55F942DDF6AE}"/>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474" name="Group 57">
            <a:extLst>
              <a:ext uri="{FF2B5EF4-FFF2-40B4-BE49-F238E27FC236}">
                <a16:creationId xmlns:a16="http://schemas.microsoft.com/office/drawing/2014/main" id="{E686DD6D-38C2-4641-89AF-94A0FB1D1070}"/>
              </a:ext>
            </a:extLst>
          </p:cNvPr>
          <p:cNvGrpSpPr>
            <a:grpSpLocks/>
          </p:cNvGrpSpPr>
          <p:nvPr/>
        </p:nvGrpSpPr>
        <p:grpSpPr bwMode="auto">
          <a:xfrm>
            <a:off x="870718" y="2152063"/>
            <a:ext cx="810816" cy="875110"/>
            <a:chOff x="42" y="744"/>
            <a:chExt cx="681" cy="735"/>
          </a:xfrm>
        </p:grpSpPr>
        <p:grpSp>
          <p:nvGrpSpPr>
            <p:cNvPr id="475" name="Group 58">
              <a:extLst>
                <a:ext uri="{FF2B5EF4-FFF2-40B4-BE49-F238E27FC236}">
                  <a16:creationId xmlns:a16="http://schemas.microsoft.com/office/drawing/2014/main" id="{1FDCAE0E-7CF7-A44C-8CC2-1F6556F81A91}"/>
                </a:ext>
              </a:extLst>
            </p:cNvPr>
            <p:cNvGrpSpPr>
              <a:grpSpLocks/>
            </p:cNvGrpSpPr>
            <p:nvPr/>
          </p:nvGrpSpPr>
          <p:grpSpPr bwMode="auto">
            <a:xfrm>
              <a:off x="42" y="886"/>
              <a:ext cx="681" cy="488"/>
              <a:chOff x="42" y="886"/>
              <a:chExt cx="681" cy="488"/>
            </a:xfrm>
          </p:grpSpPr>
          <p:grpSp>
            <p:nvGrpSpPr>
              <p:cNvPr id="477" name="Group 59">
                <a:extLst>
                  <a:ext uri="{FF2B5EF4-FFF2-40B4-BE49-F238E27FC236}">
                    <a16:creationId xmlns:a16="http://schemas.microsoft.com/office/drawing/2014/main" id="{B1A03342-AE12-CE42-8220-1A81C441863C}"/>
                  </a:ext>
                </a:extLst>
              </p:cNvPr>
              <p:cNvGrpSpPr>
                <a:grpSpLocks/>
              </p:cNvGrpSpPr>
              <p:nvPr/>
            </p:nvGrpSpPr>
            <p:grpSpPr bwMode="auto">
              <a:xfrm>
                <a:off x="278" y="886"/>
                <a:ext cx="437" cy="174"/>
                <a:chOff x="740" y="3209"/>
                <a:chExt cx="437" cy="174"/>
              </a:xfrm>
            </p:grpSpPr>
            <p:grpSp>
              <p:nvGrpSpPr>
                <p:cNvPr id="502" name="Group 60">
                  <a:extLst>
                    <a:ext uri="{FF2B5EF4-FFF2-40B4-BE49-F238E27FC236}">
                      <a16:creationId xmlns:a16="http://schemas.microsoft.com/office/drawing/2014/main" id="{C141BB4A-81BE-5F41-82F7-F6E6B820E21E}"/>
                    </a:ext>
                  </a:extLst>
                </p:cNvPr>
                <p:cNvGrpSpPr>
                  <a:grpSpLocks/>
                </p:cNvGrpSpPr>
                <p:nvPr/>
              </p:nvGrpSpPr>
              <p:grpSpPr bwMode="auto">
                <a:xfrm>
                  <a:off x="794" y="3209"/>
                  <a:ext cx="383" cy="174"/>
                  <a:chOff x="844" y="3337"/>
                  <a:chExt cx="383" cy="174"/>
                </a:xfrm>
              </p:grpSpPr>
              <p:sp>
                <p:nvSpPr>
                  <p:cNvPr id="505" name="Rectangle 61">
                    <a:extLst>
                      <a:ext uri="{FF2B5EF4-FFF2-40B4-BE49-F238E27FC236}">
                        <a16:creationId xmlns:a16="http://schemas.microsoft.com/office/drawing/2014/main" id="{0057FF7C-1AD8-884B-80A9-AB7A6E108F9F}"/>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06" name="Text Box 62">
                    <a:extLst>
                      <a:ext uri="{FF2B5EF4-FFF2-40B4-BE49-F238E27FC236}">
                        <a16:creationId xmlns:a16="http://schemas.microsoft.com/office/drawing/2014/main" id="{EC2B900A-E788-8441-B597-33D92CA5920C}"/>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sp>
              <p:nvSpPr>
                <p:cNvPr id="503" name="Rectangle 63">
                  <a:extLst>
                    <a:ext uri="{FF2B5EF4-FFF2-40B4-BE49-F238E27FC236}">
                      <a16:creationId xmlns:a16="http://schemas.microsoft.com/office/drawing/2014/main" id="{963785A1-EC1C-B84C-87DF-29B9C771BE8B}"/>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04" name="Rectangle 64">
                  <a:extLst>
                    <a:ext uri="{FF2B5EF4-FFF2-40B4-BE49-F238E27FC236}">
                      <a16:creationId xmlns:a16="http://schemas.microsoft.com/office/drawing/2014/main" id="{5E9D5671-4336-A144-8E1C-F9834FFEC8CD}"/>
                    </a:ext>
                  </a:extLst>
                </p:cNvPr>
                <p:cNvSpPr>
                  <a:spLocks noChangeArrowheads="1"/>
                </p:cNvSpPr>
                <p:nvPr/>
              </p:nvSpPr>
              <p:spPr bwMode="auto">
                <a:xfrm>
                  <a:off x="740" y="3238"/>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478" name="Group 65">
                <a:extLst>
                  <a:ext uri="{FF2B5EF4-FFF2-40B4-BE49-F238E27FC236}">
                    <a16:creationId xmlns:a16="http://schemas.microsoft.com/office/drawing/2014/main" id="{C554361D-96E9-9749-99BB-ABA5FD027907}"/>
                  </a:ext>
                </a:extLst>
              </p:cNvPr>
              <p:cNvGrpSpPr>
                <a:grpSpLocks/>
              </p:cNvGrpSpPr>
              <p:nvPr/>
            </p:nvGrpSpPr>
            <p:grpSpPr bwMode="auto">
              <a:xfrm>
                <a:off x="278" y="1034"/>
                <a:ext cx="437" cy="174"/>
                <a:chOff x="836" y="3305"/>
                <a:chExt cx="437" cy="174"/>
              </a:xfrm>
            </p:grpSpPr>
            <p:grpSp>
              <p:nvGrpSpPr>
                <p:cNvPr id="496" name="Group 66">
                  <a:extLst>
                    <a:ext uri="{FF2B5EF4-FFF2-40B4-BE49-F238E27FC236}">
                      <a16:creationId xmlns:a16="http://schemas.microsoft.com/office/drawing/2014/main" id="{493D2842-500B-024B-85A5-1FE62FDD1C34}"/>
                    </a:ext>
                  </a:extLst>
                </p:cNvPr>
                <p:cNvGrpSpPr>
                  <a:grpSpLocks/>
                </p:cNvGrpSpPr>
                <p:nvPr/>
              </p:nvGrpSpPr>
              <p:grpSpPr bwMode="auto">
                <a:xfrm>
                  <a:off x="890" y="3305"/>
                  <a:ext cx="383" cy="174"/>
                  <a:chOff x="844" y="3337"/>
                  <a:chExt cx="383" cy="174"/>
                </a:xfrm>
              </p:grpSpPr>
              <p:sp>
                <p:nvSpPr>
                  <p:cNvPr id="500" name="Rectangle 67">
                    <a:extLst>
                      <a:ext uri="{FF2B5EF4-FFF2-40B4-BE49-F238E27FC236}">
                        <a16:creationId xmlns:a16="http://schemas.microsoft.com/office/drawing/2014/main" id="{9D9A5E56-2778-BF43-8CCC-26552B785004}"/>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01" name="Text Box 68">
                    <a:extLst>
                      <a:ext uri="{FF2B5EF4-FFF2-40B4-BE49-F238E27FC236}">
                        <a16:creationId xmlns:a16="http://schemas.microsoft.com/office/drawing/2014/main" id="{FEA9C227-A395-5144-9B07-1A7D28C8A595}"/>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497" name="Group 69">
                  <a:extLst>
                    <a:ext uri="{FF2B5EF4-FFF2-40B4-BE49-F238E27FC236}">
                      <a16:creationId xmlns:a16="http://schemas.microsoft.com/office/drawing/2014/main" id="{84676D02-4488-A247-A8A0-7B76E879E635}"/>
                    </a:ext>
                  </a:extLst>
                </p:cNvPr>
                <p:cNvGrpSpPr>
                  <a:grpSpLocks/>
                </p:cNvGrpSpPr>
                <p:nvPr/>
              </p:nvGrpSpPr>
              <p:grpSpPr bwMode="auto">
                <a:xfrm>
                  <a:off x="836" y="3334"/>
                  <a:ext cx="354" cy="94"/>
                  <a:chOff x="836" y="3334"/>
                  <a:chExt cx="354" cy="94"/>
                </a:xfrm>
              </p:grpSpPr>
              <p:sp>
                <p:nvSpPr>
                  <p:cNvPr id="498" name="Rectangle 70">
                    <a:extLst>
                      <a:ext uri="{FF2B5EF4-FFF2-40B4-BE49-F238E27FC236}">
                        <a16:creationId xmlns:a16="http://schemas.microsoft.com/office/drawing/2014/main" id="{3855ADF3-2772-6A45-B541-A1686D02D4BC}"/>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99" name="Rectangle 71">
                    <a:extLst>
                      <a:ext uri="{FF2B5EF4-FFF2-40B4-BE49-F238E27FC236}">
                        <a16:creationId xmlns:a16="http://schemas.microsoft.com/office/drawing/2014/main" id="{FB9B8C64-8890-6D4D-86FF-EA8641985732}"/>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grpSp>
            <p:nvGrpSpPr>
              <p:cNvPr id="479" name="Group 72">
                <a:extLst>
                  <a:ext uri="{FF2B5EF4-FFF2-40B4-BE49-F238E27FC236}">
                    <a16:creationId xmlns:a16="http://schemas.microsoft.com/office/drawing/2014/main" id="{4ED0D0FF-6D48-044B-A4CD-DEE3EE153F6C}"/>
                  </a:ext>
                </a:extLst>
              </p:cNvPr>
              <p:cNvGrpSpPr>
                <a:grpSpLocks/>
              </p:cNvGrpSpPr>
              <p:nvPr/>
            </p:nvGrpSpPr>
            <p:grpSpPr bwMode="auto">
              <a:xfrm>
                <a:off x="165" y="1054"/>
                <a:ext cx="480" cy="112"/>
                <a:chOff x="627" y="3377"/>
                <a:chExt cx="480" cy="112"/>
              </a:xfrm>
            </p:grpSpPr>
            <p:sp>
              <p:nvSpPr>
                <p:cNvPr id="494" name="Rectangle 73">
                  <a:extLst>
                    <a:ext uri="{FF2B5EF4-FFF2-40B4-BE49-F238E27FC236}">
                      <a16:creationId xmlns:a16="http://schemas.microsoft.com/office/drawing/2014/main" id="{69588944-9806-234E-B479-4DCA85C2C80D}"/>
                    </a:ext>
                  </a:extLst>
                </p:cNvPr>
                <p:cNvSpPr>
                  <a:spLocks noChangeArrowheads="1"/>
                </p:cNvSpPr>
                <p:nvPr/>
              </p:nvSpPr>
              <p:spPr bwMode="auto">
                <a:xfrm>
                  <a:off x="636" y="3388"/>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95" name="Rectangle 74">
                  <a:extLst>
                    <a:ext uri="{FF2B5EF4-FFF2-40B4-BE49-F238E27FC236}">
                      <a16:creationId xmlns:a16="http://schemas.microsoft.com/office/drawing/2014/main" id="{6A9EE954-18E5-AB4B-91A7-8763F6FC2856}"/>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480" name="Group 75">
                <a:extLst>
                  <a:ext uri="{FF2B5EF4-FFF2-40B4-BE49-F238E27FC236}">
                    <a16:creationId xmlns:a16="http://schemas.microsoft.com/office/drawing/2014/main" id="{AE1585FE-E7DD-5148-A3DB-4D32837D611A}"/>
                  </a:ext>
                </a:extLst>
              </p:cNvPr>
              <p:cNvGrpSpPr>
                <a:grpSpLocks/>
              </p:cNvGrpSpPr>
              <p:nvPr/>
            </p:nvGrpSpPr>
            <p:grpSpPr bwMode="auto">
              <a:xfrm>
                <a:off x="42" y="1200"/>
                <a:ext cx="681" cy="174"/>
                <a:chOff x="504" y="3523"/>
                <a:chExt cx="681" cy="174"/>
              </a:xfrm>
            </p:grpSpPr>
            <p:grpSp>
              <p:nvGrpSpPr>
                <p:cNvPr id="481" name="Group 76">
                  <a:extLst>
                    <a:ext uri="{FF2B5EF4-FFF2-40B4-BE49-F238E27FC236}">
                      <a16:creationId xmlns:a16="http://schemas.microsoft.com/office/drawing/2014/main" id="{83987E26-41E7-554D-8F7B-6E3DBA2BC969}"/>
                    </a:ext>
                  </a:extLst>
                </p:cNvPr>
                <p:cNvGrpSpPr>
                  <a:grpSpLocks/>
                </p:cNvGrpSpPr>
                <p:nvPr/>
              </p:nvGrpSpPr>
              <p:grpSpPr bwMode="auto">
                <a:xfrm>
                  <a:off x="623" y="3523"/>
                  <a:ext cx="550" cy="174"/>
                  <a:chOff x="723" y="3453"/>
                  <a:chExt cx="550" cy="174"/>
                </a:xfrm>
              </p:grpSpPr>
              <p:grpSp>
                <p:nvGrpSpPr>
                  <p:cNvPr id="485" name="Group 77">
                    <a:extLst>
                      <a:ext uri="{FF2B5EF4-FFF2-40B4-BE49-F238E27FC236}">
                        <a16:creationId xmlns:a16="http://schemas.microsoft.com/office/drawing/2014/main" id="{4AA7B839-194B-D44E-B613-C09016B3870D}"/>
                      </a:ext>
                    </a:extLst>
                  </p:cNvPr>
                  <p:cNvGrpSpPr>
                    <a:grpSpLocks/>
                  </p:cNvGrpSpPr>
                  <p:nvPr/>
                </p:nvGrpSpPr>
                <p:grpSpPr bwMode="auto">
                  <a:xfrm>
                    <a:off x="836" y="3453"/>
                    <a:ext cx="437" cy="174"/>
                    <a:chOff x="836" y="3305"/>
                    <a:chExt cx="437" cy="174"/>
                  </a:xfrm>
                </p:grpSpPr>
                <p:grpSp>
                  <p:nvGrpSpPr>
                    <p:cNvPr id="488" name="Group 78">
                      <a:extLst>
                        <a:ext uri="{FF2B5EF4-FFF2-40B4-BE49-F238E27FC236}">
                          <a16:creationId xmlns:a16="http://schemas.microsoft.com/office/drawing/2014/main" id="{F12403C6-60CE-4541-A6EA-F28A0FBCF2EB}"/>
                        </a:ext>
                      </a:extLst>
                    </p:cNvPr>
                    <p:cNvGrpSpPr>
                      <a:grpSpLocks/>
                    </p:cNvGrpSpPr>
                    <p:nvPr/>
                  </p:nvGrpSpPr>
                  <p:grpSpPr bwMode="auto">
                    <a:xfrm>
                      <a:off x="890" y="3305"/>
                      <a:ext cx="383" cy="174"/>
                      <a:chOff x="844" y="3337"/>
                      <a:chExt cx="383" cy="174"/>
                    </a:xfrm>
                  </p:grpSpPr>
                  <p:sp>
                    <p:nvSpPr>
                      <p:cNvPr id="492" name="Rectangle 79">
                        <a:extLst>
                          <a:ext uri="{FF2B5EF4-FFF2-40B4-BE49-F238E27FC236}">
                            <a16:creationId xmlns:a16="http://schemas.microsoft.com/office/drawing/2014/main" id="{4B102F30-285E-0243-A491-E80C6A648871}"/>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93" name="Text Box 80">
                        <a:extLst>
                          <a:ext uri="{FF2B5EF4-FFF2-40B4-BE49-F238E27FC236}">
                            <a16:creationId xmlns:a16="http://schemas.microsoft.com/office/drawing/2014/main" id="{C27FFB91-9D35-9345-9E73-83C458191109}"/>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489" name="Group 81">
                      <a:extLst>
                        <a:ext uri="{FF2B5EF4-FFF2-40B4-BE49-F238E27FC236}">
                          <a16:creationId xmlns:a16="http://schemas.microsoft.com/office/drawing/2014/main" id="{980A2CF4-C81E-3145-91D1-132BC2EF1F40}"/>
                        </a:ext>
                      </a:extLst>
                    </p:cNvPr>
                    <p:cNvGrpSpPr>
                      <a:grpSpLocks/>
                    </p:cNvGrpSpPr>
                    <p:nvPr/>
                  </p:nvGrpSpPr>
                  <p:grpSpPr bwMode="auto">
                    <a:xfrm>
                      <a:off x="836" y="3334"/>
                      <a:ext cx="354" cy="94"/>
                      <a:chOff x="836" y="3334"/>
                      <a:chExt cx="354" cy="94"/>
                    </a:xfrm>
                  </p:grpSpPr>
                  <p:sp>
                    <p:nvSpPr>
                      <p:cNvPr id="490" name="Rectangle 82">
                        <a:extLst>
                          <a:ext uri="{FF2B5EF4-FFF2-40B4-BE49-F238E27FC236}">
                            <a16:creationId xmlns:a16="http://schemas.microsoft.com/office/drawing/2014/main" id="{60B3778C-4AEE-4A40-A3AE-9E6780DD7427}"/>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91" name="Rectangle 83">
                        <a:extLst>
                          <a:ext uri="{FF2B5EF4-FFF2-40B4-BE49-F238E27FC236}">
                            <a16:creationId xmlns:a16="http://schemas.microsoft.com/office/drawing/2014/main" id="{F2AB3533-6239-FB44-A5DF-EC7054B25732}"/>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486" name="Rectangle 84">
                    <a:extLst>
                      <a:ext uri="{FF2B5EF4-FFF2-40B4-BE49-F238E27FC236}">
                        <a16:creationId xmlns:a16="http://schemas.microsoft.com/office/drawing/2014/main" id="{7871167B-C99A-9745-AB39-0CFE737D4679}"/>
                      </a:ext>
                    </a:extLst>
                  </p:cNvPr>
                  <p:cNvSpPr>
                    <a:spLocks noChangeArrowheads="1"/>
                  </p:cNvSpPr>
                  <p:nvPr/>
                </p:nvSpPr>
                <p:spPr bwMode="auto">
                  <a:xfrm>
                    <a:off x="732" y="3484"/>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87" name="Rectangle 85">
                    <a:extLst>
                      <a:ext uri="{FF2B5EF4-FFF2-40B4-BE49-F238E27FC236}">
                        <a16:creationId xmlns:a16="http://schemas.microsoft.com/office/drawing/2014/main" id="{6FEE651A-2F5C-3D46-9A8A-7A8FA72C5AFF}"/>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482" name="Rectangle 86">
                  <a:extLst>
                    <a:ext uri="{FF2B5EF4-FFF2-40B4-BE49-F238E27FC236}">
                      <a16:creationId xmlns:a16="http://schemas.microsoft.com/office/drawing/2014/main" id="{436CE76C-250A-0048-AB3B-2E594180BCD3}"/>
                    </a:ext>
                  </a:extLst>
                </p:cNvPr>
                <p:cNvSpPr>
                  <a:spLocks noChangeArrowheads="1"/>
                </p:cNvSpPr>
                <p:nvPr/>
              </p:nvSpPr>
              <p:spPr bwMode="auto">
                <a:xfrm>
                  <a:off x="517" y="3545"/>
                  <a:ext cx="94"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83" name="Rectangle 87">
                  <a:extLst>
                    <a:ext uri="{FF2B5EF4-FFF2-40B4-BE49-F238E27FC236}">
                      <a16:creationId xmlns:a16="http://schemas.microsoft.com/office/drawing/2014/main" id="{37087D94-A17E-2C49-B663-0E4892CD4F3A}"/>
                    </a:ext>
                  </a:extLst>
                </p:cNvPr>
                <p:cNvSpPr>
                  <a:spLocks noChangeArrowheads="1"/>
                </p:cNvSpPr>
                <p:nvPr/>
              </p:nvSpPr>
              <p:spPr bwMode="auto">
                <a:xfrm>
                  <a:off x="1115" y="3544"/>
                  <a:ext cx="60"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84" name="Rectangle 88">
                  <a:extLst>
                    <a:ext uri="{FF2B5EF4-FFF2-40B4-BE49-F238E27FC236}">
                      <a16:creationId xmlns:a16="http://schemas.microsoft.com/office/drawing/2014/main" id="{C9536EB0-5CE3-3B4B-A735-A853495CC46B}"/>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476" name="AutoShape 89">
              <a:extLst>
                <a:ext uri="{FF2B5EF4-FFF2-40B4-BE49-F238E27FC236}">
                  <a16:creationId xmlns:a16="http://schemas.microsoft.com/office/drawing/2014/main" id="{5ED99D5F-7031-CD4F-A23A-844A773D06C9}"/>
                </a:ext>
              </a:extLst>
            </p:cNvPr>
            <p:cNvSpPr>
              <a:spLocks noChangeArrowheads="1"/>
            </p:cNvSpPr>
            <p:nvPr/>
          </p:nvSpPr>
          <p:spPr bwMode="auto">
            <a:xfrm>
              <a:off x="384" y="744"/>
              <a:ext cx="240" cy="735"/>
            </a:xfrm>
            <a:prstGeom prst="downArrow">
              <a:avLst>
                <a:gd name="adj1" fmla="val 54167"/>
                <a:gd name="adj2" fmla="val 49170"/>
              </a:avLst>
            </a:prstGeom>
            <a:gradFill rotWithShape="1">
              <a:gsLst>
                <a:gs pos="0">
                  <a:srgbClr val="FF0000">
                    <a:alpha val="25000"/>
                  </a:srgbClr>
                </a:gs>
                <a:gs pos="100000">
                  <a:srgbClr val="FF0000">
                    <a:alpha val="25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507" name="Group 90">
            <a:extLst>
              <a:ext uri="{FF2B5EF4-FFF2-40B4-BE49-F238E27FC236}">
                <a16:creationId xmlns:a16="http://schemas.microsoft.com/office/drawing/2014/main" id="{779CE125-3275-9D45-AB58-5C559926C4EB}"/>
              </a:ext>
            </a:extLst>
          </p:cNvPr>
          <p:cNvGrpSpPr>
            <a:grpSpLocks/>
          </p:cNvGrpSpPr>
          <p:nvPr/>
        </p:nvGrpSpPr>
        <p:grpSpPr bwMode="auto">
          <a:xfrm>
            <a:off x="1308868" y="3058134"/>
            <a:ext cx="810816" cy="207169"/>
            <a:chOff x="504" y="3523"/>
            <a:chExt cx="681" cy="174"/>
          </a:xfrm>
        </p:grpSpPr>
        <p:grpSp>
          <p:nvGrpSpPr>
            <p:cNvPr id="508" name="Group 91">
              <a:extLst>
                <a:ext uri="{FF2B5EF4-FFF2-40B4-BE49-F238E27FC236}">
                  <a16:creationId xmlns:a16="http://schemas.microsoft.com/office/drawing/2014/main" id="{DE87A52E-0FB6-8C4A-AE94-4698D4D204F3}"/>
                </a:ext>
              </a:extLst>
            </p:cNvPr>
            <p:cNvGrpSpPr>
              <a:grpSpLocks/>
            </p:cNvGrpSpPr>
            <p:nvPr/>
          </p:nvGrpSpPr>
          <p:grpSpPr bwMode="auto">
            <a:xfrm>
              <a:off x="623" y="3523"/>
              <a:ext cx="550" cy="174"/>
              <a:chOff x="723" y="3453"/>
              <a:chExt cx="550" cy="174"/>
            </a:xfrm>
          </p:grpSpPr>
          <p:grpSp>
            <p:nvGrpSpPr>
              <p:cNvPr id="512" name="Group 92">
                <a:extLst>
                  <a:ext uri="{FF2B5EF4-FFF2-40B4-BE49-F238E27FC236}">
                    <a16:creationId xmlns:a16="http://schemas.microsoft.com/office/drawing/2014/main" id="{DA67C76C-E5B1-7342-BE34-D0797625921A}"/>
                  </a:ext>
                </a:extLst>
              </p:cNvPr>
              <p:cNvGrpSpPr>
                <a:grpSpLocks/>
              </p:cNvGrpSpPr>
              <p:nvPr/>
            </p:nvGrpSpPr>
            <p:grpSpPr bwMode="auto">
              <a:xfrm>
                <a:off x="836" y="3453"/>
                <a:ext cx="437" cy="174"/>
                <a:chOff x="836" y="3305"/>
                <a:chExt cx="437" cy="174"/>
              </a:xfrm>
            </p:grpSpPr>
            <p:grpSp>
              <p:nvGrpSpPr>
                <p:cNvPr id="515" name="Group 93">
                  <a:extLst>
                    <a:ext uri="{FF2B5EF4-FFF2-40B4-BE49-F238E27FC236}">
                      <a16:creationId xmlns:a16="http://schemas.microsoft.com/office/drawing/2014/main" id="{7BE844F4-9393-7B40-95A7-50ED202A3521}"/>
                    </a:ext>
                  </a:extLst>
                </p:cNvPr>
                <p:cNvGrpSpPr>
                  <a:grpSpLocks/>
                </p:cNvGrpSpPr>
                <p:nvPr/>
              </p:nvGrpSpPr>
              <p:grpSpPr bwMode="auto">
                <a:xfrm>
                  <a:off x="890" y="3305"/>
                  <a:ext cx="383" cy="174"/>
                  <a:chOff x="844" y="3337"/>
                  <a:chExt cx="383" cy="174"/>
                </a:xfrm>
              </p:grpSpPr>
              <p:sp>
                <p:nvSpPr>
                  <p:cNvPr id="519" name="Rectangle 94">
                    <a:extLst>
                      <a:ext uri="{FF2B5EF4-FFF2-40B4-BE49-F238E27FC236}">
                        <a16:creationId xmlns:a16="http://schemas.microsoft.com/office/drawing/2014/main" id="{D55DDB2A-DD13-B64C-B0B8-6A3AF9F5826C}"/>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20" name="Text Box 95">
                    <a:extLst>
                      <a:ext uri="{FF2B5EF4-FFF2-40B4-BE49-F238E27FC236}">
                        <a16:creationId xmlns:a16="http://schemas.microsoft.com/office/drawing/2014/main" id="{2FA13326-D863-094B-BD45-FAFAC2DE263A}"/>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516" name="Group 96">
                  <a:extLst>
                    <a:ext uri="{FF2B5EF4-FFF2-40B4-BE49-F238E27FC236}">
                      <a16:creationId xmlns:a16="http://schemas.microsoft.com/office/drawing/2014/main" id="{4E104FB9-53D7-7047-879F-52C4E2A1CA2B}"/>
                    </a:ext>
                  </a:extLst>
                </p:cNvPr>
                <p:cNvGrpSpPr>
                  <a:grpSpLocks/>
                </p:cNvGrpSpPr>
                <p:nvPr/>
              </p:nvGrpSpPr>
              <p:grpSpPr bwMode="auto">
                <a:xfrm>
                  <a:off x="836" y="3334"/>
                  <a:ext cx="354" cy="94"/>
                  <a:chOff x="836" y="3334"/>
                  <a:chExt cx="354" cy="94"/>
                </a:xfrm>
              </p:grpSpPr>
              <p:sp>
                <p:nvSpPr>
                  <p:cNvPr id="517" name="Rectangle 97">
                    <a:extLst>
                      <a:ext uri="{FF2B5EF4-FFF2-40B4-BE49-F238E27FC236}">
                        <a16:creationId xmlns:a16="http://schemas.microsoft.com/office/drawing/2014/main" id="{3491CAE6-C0BF-2845-A8BE-CF59FB4E1847}"/>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18" name="Rectangle 98">
                    <a:extLst>
                      <a:ext uri="{FF2B5EF4-FFF2-40B4-BE49-F238E27FC236}">
                        <a16:creationId xmlns:a16="http://schemas.microsoft.com/office/drawing/2014/main" id="{1BA65FFC-57F2-1940-B190-78ED97A36A1B}"/>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513" name="Rectangle 99">
                <a:extLst>
                  <a:ext uri="{FF2B5EF4-FFF2-40B4-BE49-F238E27FC236}">
                    <a16:creationId xmlns:a16="http://schemas.microsoft.com/office/drawing/2014/main" id="{D2683417-4924-F844-B695-3C3D8E93C04F}"/>
                  </a:ext>
                </a:extLst>
              </p:cNvPr>
              <p:cNvSpPr>
                <a:spLocks noChangeArrowheads="1"/>
              </p:cNvSpPr>
              <p:nvPr/>
            </p:nvSpPr>
            <p:spPr bwMode="auto">
              <a:xfrm>
                <a:off x="732" y="3484"/>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14" name="Rectangle 100">
                <a:extLst>
                  <a:ext uri="{FF2B5EF4-FFF2-40B4-BE49-F238E27FC236}">
                    <a16:creationId xmlns:a16="http://schemas.microsoft.com/office/drawing/2014/main" id="{4D0D33D5-8C1B-2B41-87C1-4A592AD518C7}"/>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509" name="Rectangle 101">
              <a:extLst>
                <a:ext uri="{FF2B5EF4-FFF2-40B4-BE49-F238E27FC236}">
                  <a16:creationId xmlns:a16="http://schemas.microsoft.com/office/drawing/2014/main" id="{78D15BF2-6070-1F4C-86A1-0614C2EC3A0C}"/>
                </a:ext>
              </a:extLst>
            </p:cNvPr>
            <p:cNvSpPr>
              <a:spLocks noChangeArrowheads="1"/>
            </p:cNvSpPr>
            <p:nvPr/>
          </p:nvSpPr>
          <p:spPr bwMode="auto">
            <a:xfrm>
              <a:off x="517" y="3545"/>
              <a:ext cx="94"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10" name="Rectangle 102">
              <a:extLst>
                <a:ext uri="{FF2B5EF4-FFF2-40B4-BE49-F238E27FC236}">
                  <a16:creationId xmlns:a16="http://schemas.microsoft.com/office/drawing/2014/main" id="{FD86650F-D708-CD41-A5A3-676346E3D3AE}"/>
                </a:ext>
              </a:extLst>
            </p:cNvPr>
            <p:cNvSpPr>
              <a:spLocks noChangeArrowheads="1"/>
            </p:cNvSpPr>
            <p:nvPr/>
          </p:nvSpPr>
          <p:spPr bwMode="auto">
            <a:xfrm>
              <a:off x="1115" y="3544"/>
              <a:ext cx="60"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11" name="Rectangle 103">
              <a:extLst>
                <a:ext uri="{FF2B5EF4-FFF2-40B4-BE49-F238E27FC236}">
                  <a16:creationId xmlns:a16="http://schemas.microsoft.com/office/drawing/2014/main" id="{492FA68A-0828-A447-A66B-C4BDFA67C259}"/>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521" name="Group 104">
            <a:extLst>
              <a:ext uri="{FF2B5EF4-FFF2-40B4-BE49-F238E27FC236}">
                <a16:creationId xmlns:a16="http://schemas.microsoft.com/office/drawing/2014/main" id="{DCCB5641-467D-4644-95C9-32A71707E80D}"/>
              </a:ext>
            </a:extLst>
          </p:cNvPr>
          <p:cNvGrpSpPr>
            <a:grpSpLocks/>
          </p:cNvGrpSpPr>
          <p:nvPr/>
        </p:nvGrpSpPr>
        <p:grpSpPr bwMode="auto">
          <a:xfrm>
            <a:off x="1929184" y="3577243"/>
            <a:ext cx="987028" cy="1015604"/>
            <a:chOff x="931" y="1941"/>
            <a:chExt cx="829" cy="853"/>
          </a:xfrm>
        </p:grpSpPr>
        <p:sp>
          <p:nvSpPr>
            <p:cNvPr id="522" name="Freeform 105">
              <a:extLst>
                <a:ext uri="{FF2B5EF4-FFF2-40B4-BE49-F238E27FC236}">
                  <a16:creationId xmlns:a16="http://schemas.microsoft.com/office/drawing/2014/main" id="{7AA20FB3-1F67-9A47-8F16-ABCEFBFBCCE2}"/>
                </a:ext>
              </a:extLst>
            </p:cNvPr>
            <p:cNvSpPr>
              <a:spLocks/>
            </p:cNvSpPr>
            <p:nvPr/>
          </p:nvSpPr>
          <p:spPr bwMode="auto">
            <a:xfrm>
              <a:off x="1424" y="1965"/>
              <a:ext cx="336" cy="801"/>
            </a:xfrm>
            <a:custGeom>
              <a:avLst/>
              <a:gdLst>
                <a:gd name="T0" fmla="*/ 1 w 551"/>
                <a:gd name="T1" fmla="*/ 0 h 801"/>
                <a:gd name="T2" fmla="*/ 1 w 551"/>
                <a:gd name="T3" fmla="*/ 402 h 801"/>
                <a:gd name="T4" fmla="*/ 1 w 551"/>
                <a:gd name="T5" fmla="*/ 801 h 801"/>
                <a:gd name="T6" fmla="*/ 1 w 551"/>
                <a:gd name="T7" fmla="*/ 535 h 801"/>
                <a:gd name="T8" fmla="*/ 0 w 551"/>
                <a:gd name="T9" fmla="*/ 371 h 801"/>
                <a:gd name="T10" fmla="*/ 1 w 551"/>
                <a:gd name="T11" fmla="*/ 0 h 801"/>
                <a:gd name="T12" fmla="*/ 0 60000 65536"/>
                <a:gd name="T13" fmla="*/ 0 60000 65536"/>
                <a:gd name="T14" fmla="*/ 0 60000 65536"/>
                <a:gd name="T15" fmla="*/ 0 60000 65536"/>
                <a:gd name="T16" fmla="*/ 0 60000 65536"/>
                <a:gd name="T17" fmla="*/ 0 60000 65536"/>
                <a:gd name="T18" fmla="*/ 0 w 551"/>
                <a:gd name="T19" fmla="*/ 0 h 801"/>
                <a:gd name="T20" fmla="*/ 551 w 551"/>
                <a:gd name="T21" fmla="*/ 801 h 801"/>
              </a:gdLst>
              <a:ahLst/>
              <a:cxnLst>
                <a:cxn ang="T12">
                  <a:pos x="T0" y="T1"/>
                </a:cxn>
                <a:cxn ang="T13">
                  <a:pos x="T2" y="T3"/>
                </a:cxn>
                <a:cxn ang="T14">
                  <a:pos x="T4" y="T5"/>
                </a:cxn>
                <a:cxn ang="T15">
                  <a:pos x="T6" y="T7"/>
                </a:cxn>
                <a:cxn ang="T16">
                  <a:pos x="T8" y="T9"/>
                </a:cxn>
                <a:cxn ang="T17">
                  <a:pos x="T10" y="T11"/>
                </a:cxn>
              </a:cxnLst>
              <a:rect l="T18" t="T19" r="T20" b="T21"/>
              <a:pathLst>
                <a:path w="551" h="801">
                  <a:moveTo>
                    <a:pt x="14" y="0"/>
                  </a:moveTo>
                  <a:lnTo>
                    <a:pt x="551" y="402"/>
                  </a:lnTo>
                  <a:lnTo>
                    <a:pt x="6" y="801"/>
                  </a:lnTo>
                  <a:lnTo>
                    <a:pt x="13" y="535"/>
                  </a:lnTo>
                  <a:lnTo>
                    <a:pt x="0" y="371"/>
                  </a:lnTo>
                  <a:lnTo>
                    <a:pt x="14" y="0"/>
                  </a:lnTo>
                  <a:close/>
                </a:path>
              </a:pathLst>
            </a:custGeom>
            <a:gradFill rotWithShape="1">
              <a:gsLst>
                <a:gs pos="0">
                  <a:srgbClr val="FFFFFF">
                    <a:alpha val="64998"/>
                  </a:srgbClr>
                </a:gs>
                <a:gs pos="100000">
                  <a:srgbClr val="000099">
                    <a:alpha val="64998"/>
                  </a:srgbClr>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kern="0" dirty="0">
                <a:solidFill>
                  <a:srgbClr val="000000"/>
                </a:solidFill>
              </a:endParaRPr>
            </a:p>
          </p:txBody>
        </p:sp>
        <p:grpSp>
          <p:nvGrpSpPr>
            <p:cNvPr id="523" name="Group 106">
              <a:extLst>
                <a:ext uri="{FF2B5EF4-FFF2-40B4-BE49-F238E27FC236}">
                  <a16:creationId xmlns:a16="http://schemas.microsoft.com/office/drawing/2014/main" id="{D87A412F-CAAD-A14A-A57B-6BD2A6D6C83F}"/>
                </a:ext>
              </a:extLst>
            </p:cNvPr>
            <p:cNvGrpSpPr>
              <a:grpSpLocks/>
            </p:cNvGrpSpPr>
            <p:nvPr/>
          </p:nvGrpSpPr>
          <p:grpSpPr bwMode="auto">
            <a:xfrm>
              <a:off x="931" y="1941"/>
              <a:ext cx="523" cy="853"/>
              <a:chOff x="569" y="2954"/>
              <a:chExt cx="523" cy="853"/>
            </a:xfrm>
          </p:grpSpPr>
          <p:sp>
            <p:nvSpPr>
              <p:cNvPr id="524" name="Rectangle 107">
                <a:extLst>
                  <a:ext uri="{FF2B5EF4-FFF2-40B4-BE49-F238E27FC236}">
                    <a16:creationId xmlns:a16="http://schemas.microsoft.com/office/drawing/2014/main" id="{303F62B8-B24E-FD48-9E39-6434CCE88D7A}"/>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25" name="Text Box 108">
                <a:extLst>
                  <a:ext uri="{FF2B5EF4-FFF2-40B4-BE49-F238E27FC236}">
                    <a16:creationId xmlns:a16="http://schemas.microsoft.com/office/drawing/2014/main" id="{46FF09C4-D1E5-BE40-9DD5-C470003A82C1}"/>
                  </a:ext>
                </a:extLst>
              </p:cNvPr>
              <p:cNvSpPr txBox="1">
                <a:spLocks noChangeArrowheads="1"/>
              </p:cNvSpPr>
              <p:nvPr/>
            </p:nvSpPr>
            <p:spPr bwMode="auto">
              <a:xfrm>
                <a:off x="572" y="2954"/>
                <a:ext cx="520" cy="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200" kern="0" dirty="0">
                    <a:solidFill>
                      <a:srgbClr val="000000"/>
                    </a:solidFill>
                  </a:rPr>
                  <a:t>DHCP</a:t>
                </a:r>
              </a:p>
              <a:p>
                <a:pPr algn="ctr" defTabSz="685800">
                  <a:defRPr/>
                </a:pPr>
                <a:r>
                  <a:rPr lang="en-US" altLang="en-US" sz="1200" kern="0" dirty="0">
                    <a:solidFill>
                      <a:srgbClr val="000000"/>
                    </a:solidFill>
                  </a:rPr>
                  <a:t>UDP</a:t>
                </a:r>
              </a:p>
              <a:p>
                <a:pPr algn="ctr" defTabSz="685800">
                  <a:defRPr/>
                </a:pPr>
                <a:r>
                  <a:rPr lang="en-US" altLang="en-US" sz="1200" kern="0" dirty="0">
                    <a:solidFill>
                      <a:srgbClr val="000000"/>
                    </a:solidFill>
                  </a:rPr>
                  <a:t>IP</a:t>
                </a:r>
              </a:p>
              <a:p>
                <a:pPr algn="ctr" defTabSz="685800">
                  <a:defRPr/>
                </a:pPr>
                <a:r>
                  <a:rPr lang="en-US" altLang="en-US" sz="1200" kern="0" dirty="0">
                    <a:solidFill>
                      <a:srgbClr val="000000"/>
                    </a:solidFill>
                  </a:rPr>
                  <a:t>Eth</a:t>
                </a:r>
              </a:p>
              <a:p>
                <a:pPr algn="ctr" defTabSz="685800">
                  <a:defRPr/>
                </a:pPr>
                <a:r>
                  <a:rPr lang="en-US" altLang="en-US" sz="1200" kern="0" dirty="0">
                    <a:solidFill>
                      <a:srgbClr val="000000"/>
                    </a:solidFill>
                  </a:rPr>
                  <a:t>Phy</a:t>
                </a:r>
              </a:p>
            </p:txBody>
          </p:sp>
          <p:sp>
            <p:nvSpPr>
              <p:cNvPr id="526" name="Line 109">
                <a:extLst>
                  <a:ext uri="{FF2B5EF4-FFF2-40B4-BE49-F238E27FC236}">
                    <a16:creationId xmlns:a16="http://schemas.microsoft.com/office/drawing/2014/main" id="{91D8B561-6767-104C-98C3-B69C3B8CF71B}"/>
                  </a:ext>
                </a:extLst>
              </p:cNvPr>
              <p:cNvSpPr>
                <a:spLocks noChangeShapeType="1"/>
              </p:cNvSpPr>
              <p:nvPr/>
            </p:nvSpPr>
            <p:spPr bwMode="auto">
              <a:xfrm>
                <a:off x="578" y="3130"/>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527" name="Line 110">
                <a:extLst>
                  <a:ext uri="{FF2B5EF4-FFF2-40B4-BE49-F238E27FC236}">
                    <a16:creationId xmlns:a16="http://schemas.microsoft.com/office/drawing/2014/main" id="{704906A5-7D3F-2E4C-B902-283BDB121B16}"/>
                  </a:ext>
                </a:extLst>
              </p:cNvPr>
              <p:cNvSpPr>
                <a:spLocks noChangeShapeType="1"/>
              </p:cNvSpPr>
              <p:nvPr/>
            </p:nvSpPr>
            <p:spPr bwMode="auto">
              <a:xfrm>
                <a:off x="575" y="3289"/>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528" name="Line 111">
                <a:extLst>
                  <a:ext uri="{FF2B5EF4-FFF2-40B4-BE49-F238E27FC236}">
                    <a16:creationId xmlns:a16="http://schemas.microsoft.com/office/drawing/2014/main" id="{1517BF50-B417-1E40-800E-FBE526501621}"/>
                  </a:ext>
                </a:extLst>
              </p:cNvPr>
              <p:cNvSpPr>
                <a:spLocks noChangeShapeType="1"/>
              </p:cNvSpPr>
              <p:nvPr/>
            </p:nvSpPr>
            <p:spPr bwMode="auto">
              <a:xfrm>
                <a:off x="572" y="3448"/>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529" name="Line 112">
                <a:extLst>
                  <a:ext uri="{FF2B5EF4-FFF2-40B4-BE49-F238E27FC236}">
                    <a16:creationId xmlns:a16="http://schemas.microsoft.com/office/drawing/2014/main" id="{E18E4496-B2D7-C943-A380-7C6366A21B8D}"/>
                  </a:ext>
                </a:extLst>
              </p:cNvPr>
              <p:cNvSpPr>
                <a:spLocks noChangeShapeType="1"/>
              </p:cNvSpPr>
              <p:nvPr/>
            </p:nvSpPr>
            <p:spPr bwMode="auto">
              <a:xfrm>
                <a:off x="569" y="3607"/>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grpSp>
      </p:grpSp>
      <p:grpSp>
        <p:nvGrpSpPr>
          <p:cNvPr id="530" name="Group 113">
            <a:extLst>
              <a:ext uri="{FF2B5EF4-FFF2-40B4-BE49-F238E27FC236}">
                <a16:creationId xmlns:a16="http://schemas.microsoft.com/office/drawing/2014/main" id="{5484A2F7-3977-924F-9EB6-B0FEE950D721}"/>
              </a:ext>
            </a:extLst>
          </p:cNvPr>
          <p:cNvGrpSpPr>
            <a:grpSpLocks/>
          </p:cNvGrpSpPr>
          <p:nvPr/>
        </p:nvGrpSpPr>
        <p:grpSpPr bwMode="auto">
          <a:xfrm>
            <a:off x="1075505" y="3502232"/>
            <a:ext cx="810816" cy="913210"/>
            <a:chOff x="1404" y="3105"/>
            <a:chExt cx="681" cy="767"/>
          </a:xfrm>
        </p:grpSpPr>
        <p:grpSp>
          <p:nvGrpSpPr>
            <p:cNvPr id="531" name="Group 114">
              <a:extLst>
                <a:ext uri="{FF2B5EF4-FFF2-40B4-BE49-F238E27FC236}">
                  <a16:creationId xmlns:a16="http://schemas.microsoft.com/office/drawing/2014/main" id="{4ED9BB0C-BBE3-634A-9425-253829BD9028}"/>
                </a:ext>
              </a:extLst>
            </p:cNvPr>
            <p:cNvGrpSpPr>
              <a:grpSpLocks/>
            </p:cNvGrpSpPr>
            <p:nvPr/>
          </p:nvGrpSpPr>
          <p:grpSpPr bwMode="auto">
            <a:xfrm>
              <a:off x="1404" y="3355"/>
              <a:ext cx="681" cy="488"/>
              <a:chOff x="42" y="886"/>
              <a:chExt cx="681" cy="488"/>
            </a:xfrm>
          </p:grpSpPr>
          <p:grpSp>
            <p:nvGrpSpPr>
              <p:cNvPr id="536" name="Group 115">
                <a:extLst>
                  <a:ext uri="{FF2B5EF4-FFF2-40B4-BE49-F238E27FC236}">
                    <a16:creationId xmlns:a16="http://schemas.microsoft.com/office/drawing/2014/main" id="{F5CBCFC8-387D-7141-B939-86930848872D}"/>
                  </a:ext>
                </a:extLst>
              </p:cNvPr>
              <p:cNvGrpSpPr>
                <a:grpSpLocks/>
              </p:cNvGrpSpPr>
              <p:nvPr/>
            </p:nvGrpSpPr>
            <p:grpSpPr bwMode="auto">
              <a:xfrm>
                <a:off x="278" y="886"/>
                <a:ext cx="437" cy="174"/>
                <a:chOff x="740" y="3209"/>
                <a:chExt cx="437" cy="174"/>
              </a:xfrm>
            </p:grpSpPr>
            <p:grpSp>
              <p:nvGrpSpPr>
                <p:cNvPr id="561" name="Group 116">
                  <a:extLst>
                    <a:ext uri="{FF2B5EF4-FFF2-40B4-BE49-F238E27FC236}">
                      <a16:creationId xmlns:a16="http://schemas.microsoft.com/office/drawing/2014/main" id="{CA5A2866-1D47-D54F-B3FA-9F0B4E1F66B2}"/>
                    </a:ext>
                  </a:extLst>
                </p:cNvPr>
                <p:cNvGrpSpPr>
                  <a:grpSpLocks/>
                </p:cNvGrpSpPr>
                <p:nvPr/>
              </p:nvGrpSpPr>
              <p:grpSpPr bwMode="auto">
                <a:xfrm>
                  <a:off x="794" y="3209"/>
                  <a:ext cx="383" cy="174"/>
                  <a:chOff x="844" y="3337"/>
                  <a:chExt cx="383" cy="174"/>
                </a:xfrm>
              </p:grpSpPr>
              <p:sp>
                <p:nvSpPr>
                  <p:cNvPr id="564" name="Rectangle 117">
                    <a:extLst>
                      <a:ext uri="{FF2B5EF4-FFF2-40B4-BE49-F238E27FC236}">
                        <a16:creationId xmlns:a16="http://schemas.microsoft.com/office/drawing/2014/main" id="{A1798794-C1E3-6A41-9D81-8ADFCAF3F108}"/>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65" name="Text Box 118">
                    <a:extLst>
                      <a:ext uri="{FF2B5EF4-FFF2-40B4-BE49-F238E27FC236}">
                        <a16:creationId xmlns:a16="http://schemas.microsoft.com/office/drawing/2014/main" id="{18E358E2-2F94-B541-9CDB-1B4411672171}"/>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sp>
              <p:nvSpPr>
                <p:cNvPr id="562" name="Rectangle 119">
                  <a:extLst>
                    <a:ext uri="{FF2B5EF4-FFF2-40B4-BE49-F238E27FC236}">
                      <a16:creationId xmlns:a16="http://schemas.microsoft.com/office/drawing/2014/main" id="{60E92D74-1C0E-6D4E-86F9-529F6B495154}"/>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63" name="Rectangle 120">
                  <a:extLst>
                    <a:ext uri="{FF2B5EF4-FFF2-40B4-BE49-F238E27FC236}">
                      <a16:creationId xmlns:a16="http://schemas.microsoft.com/office/drawing/2014/main" id="{B5A2B52B-B3F7-9A4A-8B7C-E471FA830A44}"/>
                    </a:ext>
                  </a:extLst>
                </p:cNvPr>
                <p:cNvSpPr>
                  <a:spLocks noChangeArrowheads="1"/>
                </p:cNvSpPr>
                <p:nvPr/>
              </p:nvSpPr>
              <p:spPr bwMode="auto">
                <a:xfrm>
                  <a:off x="740" y="3238"/>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537" name="Group 121">
                <a:extLst>
                  <a:ext uri="{FF2B5EF4-FFF2-40B4-BE49-F238E27FC236}">
                    <a16:creationId xmlns:a16="http://schemas.microsoft.com/office/drawing/2014/main" id="{035DB159-9BF7-404E-8E6C-6F9ACC8B7860}"/>
                  </a:ext>
                </a:extLst>
              </p:cNvPr>
              <p:cNvGrpSpPr>
                <a:grpSpLocks/>
              </p:cNvGrpSpPr>
              <p:nvPr/>
            </p:nvGrpSpPr>
            <p:grpSpPr bwMode="auto">
              <a:xfrm>
                <a:off x="278" y="1034"/>
                <a:ext cx="437" cy="174"/>
                <a:chOff x="836" y="3305"/>
                <a:chExt cx="437" cy="174"/>
              </a:xfrm>
            </p:grpSpPr>
            <p:grpSp>
              <p:nvGrpSpPr>
                <p:cNvPr id="555" name="Group 122">
                  <a:extLst>
                    <a:ext uri="{FF2B5EF4-FFF2-40B4-BE49-F238E27FC236}">
                      <a16:creationId xmlns:a16="http://schemas.microsoft.com/office/drawing/2014/main" id="{3A1FFB78-1B84-BC4B-809E-B98424137E88}"/>
                    </a:ext>
                  </a:extLst>
                </p:cNvPr>
                <p:cNvGrpSpPr>
                  <a:grpSpLocks/>
                </p:cNvGrpSpPr>
                <p:nvPr/>
              </p:nvGrpSpPr>
              <p:grpSpPr bwMode="auto">
                <a:xfrm>
                  <a:off x="890" y="3305"/>
                  <a:ext cx="383" cy="174"/>
                  <a:chOff x="844" y="3337"/>
                  <a:chExt cx="383" cy="174"/>
                </a:xfrm>
              </p:grpSpPr>
              <p:sp>
                <p:nvSpPr>
                  <p:cNvPr id="559" name="Rectangle 123">
                    <a:extLst>
                      <a:ext uri="{FF2B5EF4-FFF2-40B4-BE49-F238E27FC236}">
                        <a16:creationId xmlns:a16="http://schemas.microsoft.com/office/drawing/2014/main" id="{9F352C53-BF43-BF4C-9D1F-B1BE99D920F8}"/>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60" name="Text Box 124">
                    <a:extLst>
                      <a:ext uri="{FF2B5EF4-FFF2-40B4-BE49-F238E27FC236}">
                        <a16:creationId xmlns:a16="http://schemas.microsoft.com/office/drawing/2014/main" id="{B38F1528-1BB7-0B43-9C6C-DC547A522E25}"/>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556" name="Group 125">
                  <a:extLst>
                    <a:ext uri="{FF2B5EF4-FFF2-40B4-BE49-F238E27FC236}">
                      <a16:creationId xmlns:a16="http://schemas.microsoft.com/office/drawing/2014/main" id="{31A55DB0-04AA-8349-8D23-49271CD2569B}"/>
                    </a:ext>
                  </a:extLst>
                </p:cNvPr>
                <p:cNvGrpSpPr>
                  <a:grpSpLocks/>
                </p:cNvGrpSpPr>
                <p:nvPr/>
              </p:nvGrpSpPr>
              <p:grpSpPr bwMode="auto">
                <a:xfrm>
                  <a:off x="836" y="3334"/>
                  <a:ext cx="354" cy="94"/>
                  <a:chOff x="836" y="3334"/>
                  <a:chExt cx="354" cy="94"/>
                </a:xfrm>
              </p:grpSpPr>
              <p:sp>
                <p:nvSpPr>
                  <p:cNvPr id="557" name="Rectangle 126">
                    <a:extLst>
                      <a:ext uri="{FF2B5EF4-FFF2-40B4-BE49-F238E27FC236}">
                        <a16:creationId xmlns:a16="http://schemas.microsoft.com/office/drawing/2014/main" id="{94390F34-7CEE-7A49-84C0-E48FD2A2A08A}"/>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58" name="Rectangle 127">
                    <a:extLst>
                      <a:ext uri="{FF2B5EF4-FFF2-40B4-BE49-F238E27FC236}">
                        <a16:creationId xmlns:a16="http://schemas.microsoft.com/office/drawing/2014/main" id="{538A2EF0-79E8-CD40-8370-B28254A09F29}"/>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grpSp>
            <p:nvGrpSpPr>
              <p:cNvPr id="538" name="Group 128">
                <a:extLst>
                  <a:ext uri="{FF2B5EF4-FFF2-40B4-BE49-F238E27FC236}">
                    <a16:creationId xmlns:a16="http://schemas.microsoft.com/office/drawing/2014/main" id="{E979D308-81B4-B349-A72C-F91E6667030A}"/>
                  </a:ext>
                </a:extLst>
              </p:cNvPr>
              <p:cNvGrpSpPr>
                <a:grpSpLocks/>
              </p:cNvGrpSpPr>
              <p:nvPr/>
            </p:nvGrpSpPr>
            <p:grpSpPr bwMode="auto">
              <a:xfrm>
                <a:off x="165" y="1054"/>
                <a:ext cx="480" cy="112"/>
                <a:chOff x="627" y="3377"/>
                <a:chExt cx="480" cy="112"/>
              </a:xfrm>
            </p:grpSpPr>
            <p:sp>
              <p:nvSpPr>
                <p:cNvPr id="553" name="Rectangle 129">
                  <a:extLst>
                    <a:ext uri="{FF2B5EF4-FFF2-40B4-BE49-F238E27FC236}">
                      <a16:creationId xmlns:a16="http://schemas.microsoft.com/office/drawing/2014/main" id="{03290AA5-3D74-9142-8A86-FB7F133A6896}"/>
                    </a:ext>
                  </a:extLst>
                </p:cNvPr>
                <p:cNvSpPr>
                  <a:spLocks noChangeArrowheads="1"/>
                </p:cNvSpPr>
                <p:nvPr/>
              </p:nvSpPr>
              <p:spPr bwMode="auto">
                <a:xfrm>
                  <a:off x="636" y="3388"/>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54" name="Rectangle 130">
                  <a:extLst>
                    <a:ext uri="{FF2B5EF4-FFF2-40B4-BE49-F238E27FC236}">
                      <a16:creationId xmlns:a16="http://schemas.microsoft.com/office/drawing/2014/main" id="{83A16793-5237-0343-B0E2-17EDC0BC8A01}"/>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539" name="Group 131">
                <a:extLst>
                  <a:ext uri="{FF2B5EF4-FFF2-40B4-BE49-F238E27FC236}">
                    <a16:creationId xmlns:a16="http://schemas.microsoft.com/office/drawing/2014/main" id="{8C5CE498-6C00-1A47-A13B-047B76B73152}"/>
                  </a:ext>
                </a:extLst>
              </p:cNvPr>
              <p:cNvGrpSpPr>
                <a:grpSpLocks/>
              </p:cNvGrpSpPr>
              <p:nvPr/>
            </p:nvGrpSpPr>
            <p:grpSpPr bwMode="auto">
              <a:xfrm>
                <a:off x="42" y="1200"/>
                <a:ext cx="681" cy="174"/>
                <a:chOff x="504" y="3523"/>
                <a:chExt cx="681" cy="174"/>
              </a:xfrm>
            </p:grpSpPr>
            <p:grpSp>
              <p:nvGrpSpPr>
                <p:cNvPr id="540" name="Group 132">
                  <a:extLst>
                    <a:ext uri="{FF2B5EF4-FFF2-40B4-BE49-F238E27FC236}">
                      <a16:creationId xmlns:a16="http://schemas.microsoft.com/office/drawing/2014/main" id="{23F62EBA-E6FB-0649-93C1-969E5CB760B5}"/>
                    </a:ext>
                  </a:extLst>
                </p:cNvPr>
                <p:cNvGrpSpPr>
                  <a:grpSpLocks/>
                </p:cNvGrpSpPr>
                <p:nvPr/>
              </p:nvGrpSpPr>
              <p:grpSpPr bwMode="auto">
                <a:xfrm>
                  <a:off x="623" y="3523"/>
                  <a:ext cx="550" cy="174"/>
                  <a:chOff x="723" y="3453"/>
                  <a:chExt cx="550" cy="174"/>
                </a:xfrm>
              </p:grpSpPr>
              <p:grpSp>
                <p:nvGrpSpPr>
                  <p:cNvPr id="544" name="Group 133">
                    <a:extLst>
                      <a:ext uri="{FF2B5EF4-FFF2-40B4-BE49-F238E27FC236}">
                        <a16:creationId xmlns:a16="http://schemas.microsoft.com/office/drawing/2014/main" id="{4EA75669-10CD-3341-B63D-39C3D42157CB}"/>
                      </a:ext>
                    </a:extLst>
                  </p:cNvPr>
                  <p:cNvGrpSpPr>
                    <a:grpSpLocks/>
                  </p:cNvGrpSpPr>
                  <p:nvPr/>
                </p:nvGrpSpPr>
                <p:grpSpPr bwMode="auto">
                  <a:xfrm>
                    <a:off x="836" y="3453"/>
                    <a:ext cx="437" cy="174"/>
                    <a:chOff x="836" y="3305"/>
                    <a:chExt cx="437" cy="174"/>
                  </a:xfrm>
                </p:grpSpPr>
                <p:grpSp>
                  <p:nvGrpSpPr>
                    <p:cNvPr id="547" name="Group 134">
                      <a:extLst>
                        <a:ext uri="{FF2B5EF4-FFF2-40B4-BE49-F238E27FC236}">
                          <a16:creationId xmlns:a16="http://schemas.microsoft.com/office/drawing/2014/main" id="{3DB8D785-CA4C-4F45-BC85-C0F2E04386BE}"/>
                        </a:ext>
                      </a:extLst>
                    </p:cNvPr>
                    <p:cNvGrpSpPr>
                      <a:grpSpLocks/>
                    </p:cNvGrpSpPr>
                    <p:nvPr/>
                  </p:nvGrpSpPr>
                  <p:grpSpPr bwMode="auto">
                    <a:xfrm>
                      <a:off x="890" y="3305"/>
                      <a:ext cx="383" cy="174"/>
                      <a:chOff x="844" y="3337"/>
                      <a:chExt cx="383" cy="174"/>
                    </a:xfrm>
                  </p:grpSpPr>
                  <p:sp>
                    <p:nvSpPr>
                      <p:cNvPr id="551" name="Rectangle 135">
                        <a:extLst>
                          <a:ext uri="{FF2B5EF4-FFF2-40B4-BE49-F238E27FC236}">
                            <a16:creationId xmlns:a16="http://schemas.microsoft.com/office/drawing/2014/main" id="{73BF9FED-27A2-D749-A9D4-97C2F2137CB5}"/>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52" name="Text Box 136">
                        <a:extLst>
                          <a:ext uri="{FF2B5EF4-FFF2-40B4-BE49-F238E27FC236}">
                            <a16:creationId xmlns:a16="http://schemas.microsoft.com/office/drawing/2014/main" id="{E27DFA6B-3DCF-5E41-804E-1E89D6FAC5B4}"/>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548" name="Group 137">
                      <a:extLst>
                        <a:ext uri="{FF2B5EF4-FFF2-40B4-BE49-F238E27FC236}">
                          <a16:creationId xmlns:a16="http://schemas.microsoft.com/office/drawing/2014/main" id="{FE60BC03-5895-2849-A9B5-3A91D2E61F50}"/>
                        </a:ext>
                      </a:extLst>
                    </p:cNvPr>
                    <p:cNvGrpSpPr>
                      <a:grpSpLocks/>
                    </p:cNvGrpSpPr>
                    <p:nvPr/>
                  </p:nvGrpSpPr>
                  <p:grpSpPr bwMode="auto">
                    <a:xfrm>
                      <a:off x="836" y="3334"/>
                      <a:ext cx="354" cy="94"/>
                      <a:chOff x="836" y="3334"/>
                      <a:chExt cx="354" cy="94"/>
                    </a:xfrm>
                  </p:grpSpPr>
                  <p:sp>
                    <p:nvSpPr>
                      <p:cNvPr id="549" name="Rectangle 138">
                        <a:extLst>
                          <a:ext uri="{FF2B5EF4-FFF2-40B4-BE49-F238E27FC236}">
                            <a16:creationId xmlns:a16="http://schemas.microsoft.com/office/drawing/2014/main" id="{1CC6F6E7-056B-BE49-9EDE-9E4820DFF9C1}"/>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50" name="Rectangle 139">
                        <a:extLst>
                          <a:ext uri="{FF2B5EF4-FFF2-40B4-BE49-F238E27FC236}">
                            <a16:creationId xmlns:a16="http://schemas.microsoft.com/office/drawing/2014/main" id="{B2370641-92E5-B14E-A98F-A1929AC4C3D4}"/>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545" name="Rectangle 140">
                    <a:extLst>
                      <a:ext uri="{FF2B5EF4-FFF2-40B4-BE49-F238E27FC236}">
                        <a16:creationId xmlns:a16="http://schemas.microsoft.com/office/drawing/2014/main" id="{951CE1B5-0E7C-F545-B1CE-3FD9A3AC942C}"/>
                      </a:ext>
                    </a:extLst>
                  </p:cNvPr>
                  <p:cNvSpPr>
                    <a:spLocks noChangeArrowheads="1"/>
                  </p:cNvSpPr>
                  <p:nvPr/>
                </p:nvSpPr>
                <p:spPr bwMode="auto">
                  <a:xfrm>
                    <a:off x="732" y="3484"/>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46" name="Rectangle 141">
                    <a:extLst>
                      <a:ext uri="{FF2B5EF4-FFF2-40B4-BE49-F238E27FC236}">
                        <a16:creationId xmlns:a16="http://schemas.microsoft.com/office/drawing/2014/main" id="{EBF50DB3-3EEA-3744-B3C7-26A8B5DAB3FF}"/>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541" name="Rectangle 142">
                  <a:extLst>
                    <a:ext uri="{FF2B5EF4-FFF2-40B4-BE49-F238E27FC236}">
                      <a16:creationId xmlns:a16="http://schemas.microsoft.com/office/drawing/2014/main" id="{11872743-8187-794A-A4CC-C207808DE172}"/>
                    </a:ext>
                  </a:extLst>
                </p:cNvPr>
                <p:cNvSpPr>
                  <a:spLocks noChangeArrowheads="1"/>
                </p:cNvSpPr>
                <p:nvPr/>
              </p:nvSpPr>
              <p:spPr bwMode="auto">
                <a:xfrm>
                  <a:off x="517" y="3545"/>
                  <a:ext cx="94"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42" name="Rectangle 143">
                  <a:extLst>
                    <a:ext uri="{FF2B5EF4-FFF2-40B4-BE49-F238E27FC236}">
                      <a16:creationId xmlns:a16="http://schemas.microsoft.com/office/drawing/2014/main" id="{90686308-79B3-A741-A38F-0A9A27CC5A6D}"/>
                    </a:ext>
                  </a:extLst>
                </p:cNvPr>
                <p:cNvSpPr>
                  <a:spLocks noChangeArrowheads="1"/>
                </p:cNvSpPr>
                <p:nvPr/>
              </p:nvSpPr>
              <p:spPr bwMode="auto">
                <a:xfrm>
                  <a:off x="1115" y="3544"/>
                  <a:ext cx="60"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43" name="Rectangle 144">
                  <a:extLst>
                    <a:ext uri="{FF2B5EF4-FFF2-40B4-BE49-F238E27FC236}">
                      <a16:creationId xmlns:a16="http://schemas.microsoft.com/office/drawing/2014/main" id="{94336876-4C09-4F47-8836-78A0B6D3F259}"/>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532" name="AutoShape 145">
              <a:extLst>
                <a:ext uri="{FF2B5EF4-FFF2-40B4-BE49-F238E27FC236}">
                  <a16:creationId xmlns:a16="http://schemas.microsoft.com/office/drawing/2014/main" id="{0E9EC902-9ADE-1B41-89CD-08F40DDC5C44}"/>
                </a:ext>
              </a:extLst>
            </p:cNvPr>
            <p:cNvSpPr>
              <a:spLocks noChangeArrowheads="1"/>
            </p:cNvSpPr>
            <p:nvPr/>
          </p:nvSpPr>
          <p:spPr bwMode="auto">
            <a:xfrm rot="10800000">
              <a:off x="1727" y="3105"/>
              <a:ext cx="240" cy="767"/>
            </a:xfrm>
            <a:prstGeom prst="downArrow">
              <a:avLst>
                <a:gd name="adj1" fmla="val 54167"/>
                <a:gd name="adj2" fmla="val 51311"/>
              </a:avLst>
            </a:prstGeom>
            <a:gradFill rotWithShape="1">
              <a:gsLst>
                <a:gs pos="0">
                  <a:srgbClr val="FF0000">
                    <a:alpha val="25000"/>
                  </a:srgbClr>
                </a:gs>
                <a:gs pos="100000">
                  <a:srgbClr val="FF0000">
                    <a:alpha val="25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nvGrpSpPr>
            <p:cNvPr id="533" name="Group 146">
              <a:extLst>
                <a:ext uri="{FF2B5EF4-FFF2-40B4-BE49-F238E27FC236}">
                  <a16:creationId xmlns:a16="http://schemas.microsoft.com/office/drawing/2014/main" id="{26A646AA-2BA0-7E43-9602-AD9BD44C7E9C}"/>
                </a:ext>
              </a:extLst>
            </p:cNvPr>
            <p:cNvGrpSpPr>
              <a:grpSpLocks/>
            </p:cNvGrpSpPr>
            <p:nvPr/>
          </p:nvGrpSpPr>
          <p:grpSpPr bwMode="auto">
            <a:xfrm>
              <a:off x="1695" y="3227"/>
              <a:ext cx="383" cy="174"/>
              <a:chOff x="844" y="3337"/>
              <a:chExt cx="383" cy="174"/>
            </a:xfrm>
          </p:grpSpPr>
          <p:sp>
            <p:nvSpPr>
              <p:cNvPr id="534" name="Rectangle 147">
                <a:extLst>
                  <a:ext uri="{FF2B5EF4-FFF2-40B4-BE49-F238E27FC236}">
                    <a16:creationId xmlns:a16="http://schemas.microsoft.com/office/drawing/2014/main" id="{07E25020-7B37-A04F-BC9F-CC664C1E33E5}"/>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35" name="Text Box 148">
                <a:extLst>
                  <a:ext uri="{FF2B5EF4-FFF2-40B4-BE49-F238E27FC236}">
                    <a16:creationId xmlns:a16="http://schemas.microsoft.com/office/drawing/2014/main" id="{B71D74B2-5C0B-684C-9277-C20B9E2C8626}"/>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grpSp>
        <p:nvGrpSpPr>
          <p:cNvPr id="566" name="Group 149">
            <a:extLst>
              <a:ext uri="{FF2B5EF4-FFF2-40B4-BE49-F238E27FC236}">
                <a16:creationId xmlns:a16="http://schemas.microsoft.com/office/drawing/2014/main" id="{2E81670D-D7D0-154D-B0F0-B1DC32F51443}"/>
              </a:ext>
            </a:extLst>
          </p:cNvPr>
          <p:cNvGrpSpPr>
            <a:grpSpLocks/>
          </p:cNvGrpSpPr>
          <p:nvPr/>
        </p:nvGrpSpPr>
        <p:grpSpPr bwMode="auto">
          <a:xfrm>
            <a:off x="1423168" y="3649881"/>
            <a:ext cx="456009" cy="207169"/>
            <a:chOff x="844" y="3337"/>
            <a:chExt cx="383" cy="174"/>
          </a:xfrm>
        </p:grpSpPr>
        <p:sp>
          <p:nvSpPr>
            <p:cNvPr id="567" name="Rectangle 150">
              <a:extLst>
                <a:ext uri="{FF2B5EF4-FFF2-40B4-BE49-F238E27FC236}">
                  <a16:creationId xmlns:a16="http://schemas.microsoft.com/office/drawing/2014/main" id="{33380EC7-93CD-4144-9F2C-0AA18AC68894}"/>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568" name="Text Box 151">
              <a:extLst>
                <a:ext uri="{FF2B5EF4-FFF2-40B4-BE49-F238E27FC236}">
                  <a16:creationId xmlns:a16="http://schemas.microsoft.com/office/drawing/2014/main" id="{13B09AE2-5621-164B-9E6B-3A5B813C5718}"/>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405" name="Group 201">
            <a:extLst>
              <a:ext uri="{FF2B5EF4-FFF2-40B4-BE49-F238E27FC236}">
                <a16:creationId xmlns:a16="http://schemas.microsoft.com/office/drawing/2014/main" id="{FF87DDB3-D188-D547-94FA-34A4BD6E75FA}"/>
              </a:ext>
            </a:extLst>
          </p:cNvPr>
          <p:cNvGrpSpPr>
            <a:grpSpLocks/>
          </p:cNvGrpSpPr>
          <p:nvPr/>
        </p:nvGrpSpPr>
        <p:grpSpPr bwMode="auto">
          <a:xfrm>
            <a:off x="2850727" y="3647488"/>
            <a:ext cx="317897" cy="485775"/>
            <a:chOff x="4140" y="429"/>
            <a:chExt cx="1425" cy="2396"/>
          </a:xfrm>
        </p:grpSpPr>
        <p:sp>
          <p:nvSpPr>
            <p:cNvPr id="406" name="Freeform 202">
              <a:extLst>
                <a:ext uri="{FF2B5EF4-FFF2-40B4-BE49-F238E27FC236}">
                  <a16:creationId xmlns:a16="http://schemas.microsoft.com/office/drawing/2014/main" id="{5A116C24-FD0D-524C-BD54-B4D1A03203D6}"/>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07" name="Rectangle 203">
              <a:extLst>
                <a:ext uri="{FF2B5EF4-FFF2-40B4-BE49-F238E27FC236}">
                  <a16:creationId xmlns:a16="http://schemas.microsoft.com/office/drawing/2014/main" id="{22E9C8DE-01FD-FB4C-AD1A-AD1033A7A9AF}"/>
                </a:ext>
              </a:extLst>
            </p:cNvPr>
            <p:cNvSpPr>
              <a:spLocks noChangeArrowheads="1"/>
            </p:cNvSpPr>
            <p:nvPr/>
          </p:nvSpPr>
          <p:spPr bwMode="auto">
            <a:xfrm>
              <a:off x="4204" y="429"/>
              <a:ext cx="1051"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08" name="Freeform 204">
              <a:extLst>
                <a:ext uri="{FF2B5EF4-FFF2-40B4-BE49-F238E27FC236}">
                  <a16:creationId xmlns:a16="http://schemas.microsoft.com/office/drawing/2014/main" id="{38BFE3EF-3D4D-7745-9107-327DDE88484C}"/>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09" name="Freeform 205">
              <a:extLst>
                <a:ext uri="{FF2B5EF4-FFF2-40B4-BE49-F238E27FC236}">
                  <a16:creationId xmlns:a16="http://schemas.microsoft.com/office/drawing/2014/main" id="{C815899E-2C99-B94F-8093-F7DF2F779BE6}"/>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10" name="Rectangle 206">
              <a:extLst>
                <a:ext uri="{FF2B5EF4-FFF2-40B4-BE49-F238E27FC236}">
                  <a16:creationId xmlns:a16="http://schemas.microsoft.com/office/drawing/2014/main" id="{12F4A1ED-74F2-2743-B6CB-84BB0A70757F}"/>
                </a:ext>
              </a:extLst>
            </p:cNvPr>
            <p:cNvSpPr>
              <a:spLocks noChangeArrowheads="1"/>
            </p:cNvSpPr>
            <p:nvPr/>
          </p:nvSpPr>
          <p:spPr bwMode="auto">
            <a:xfrm>
              <a:off x="4209" y="693"/>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nvGrpSpPr>
            <p:cNvPr id="411" name="Group 207">
              <a:extLst>
                <a:ext uri="{FF2B5EF4-FFF2-40B4-BE49-F238E27FC236}">
                  <a16:creationId xmlns:a16="http://schemas.microsoft.com/office/drawing/2014/main" id="{87817073-3B24-5C4E-9EC6-D17AB590DA3B}"/>
                </a:ext>
              </a:extLst>
            </p:cNvPr>
            <p:cNvGrpSpPr>
              <a:grpSpLocks/>
            </p:cNvGrpSpPr>
            <p:nvPr/>
          </p:nvGrpSpPr>
          <p:grpSpPr bwMode="auto">
            <a:xfrm>
              <a:off x="4749" y="668"/>
              <a:ext cx="581" cy="145"/>
              <a:chOff x="614" y="2568"/>
              <a:chExt cx="725" cy="139"/>
            </a:xfrm>
          </p:grpSpPr>
          <p:sp>
            <p:nvSpPr>
              <p:cNvPr id="436" name="AutoShape 208">
                <a:extLst>
                  <a:ext uri="{FF2B5EF4-FFF2-40B4-BE49-F238E27FC236}">
                    <a16:creationId xmlns:a16="http://schemas.microsoft.com/office/drawing/2014/main" id="{47D7B5F5-F21D-AA47-969B-32D82A486244}"/>
                  </a:ext>
                </a:extLst>
              </p:cNvPr>
              <p:cNvSpPr>
                <a:spLocks noChangeArrowheads="1"/>
              </p:cNvSpPr>
              <p:nvPr/>
            </p:nvSpPr>
            <p:spPr bwMode="auto">
              <a:xfrm>
                <a:off x="613" y="2570"/>
                <a:ext cx="726" cy="135"/>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37" name="AutoShape 209">
                <a:extLst>
                  <a:ext uri="{FF2B5EF4-FFF2-40B4-BE49-F238E27FC236}">
                    <a16:creationId xmlns:a16="http://schemas.microsoft.com/office/drawing/2014/main" id="{C5BFB547-41DA-CE47-8F2A-07B32691DB8A}"/>
                  </a:ext>
                </a:extLst>
              </p:cNvPr>
              <p:cNvSpPr>
                <a:spLocks noChangeArrowheads="1"/>
              </p:cNvSpPr>
              <p:nvPr/>
            </p:nvSpPr>
            <p:spPr bwMode="auto">
              <a:xfrm>
                <a:off x="627" y="2587"/>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412" name="Rectangle 210">
              <a:extLst>
                <a:ext uri="{FF2B5EF4-FFF2-40B4-BE49-F238E27FC236}">
                  <a16:creationId xmlns:a16="http://schemas.microsoft.com/office/drawing/2014/main" id="{F7426E26-DFD3-4E49-A4AB-E7D92EADE261}"/>
                </a:ext>
              </a:extLst>
            </p:cNvPr>
            <p:cNvSpPr>
              <a:spLocks noChangeArrowheads="1"/>
            </p:cNvSpPr>
            <p:nvPr/>
          </p:nvSpPr>
          <p:spPr bwMode="auto">
            <a:xfrm>
              <a:off x="4225" y="1016"/>
              <a:ext cx="592"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nvGrpSpPr>
            <p:cNvPr id="413" name="Group 211">
              <a:extLst>
                <a:ext uri="{FF2B5EF4-FFF2-40B4-BE49-F238E27FC236}">
                  <a16:creationId xmlns:a16="http://schemas.microsoft.com/office/drawing/2014/main" id="{1E5DE22A-3A7E-E34D-BC09-C6D79D5E82CA}"/>
                </a:ext>
              </a:extLst>
            </p:cNvPr>
            <p:cNvGrpSpPr>
              <a:grpSpLocks/>
            </p:cNvGrpSpPr>
            <p:nvPr/>
          </p:nvGrpSpPr>
          <p:grpSpPr bwMode="auto">
            <a:xfrm>
              <a:off x="4747" y="994"/>
              <a:ext cx="581" cy="134"/>
              <a:chOff x="614" y="2568"/>
              <a:chExt cx="725" cy="139"/>
            </a:xfrm>
          </p:grpSpPr>
          <p:sp>
            <p:nvSpPr>
              <p:cNvPr id="434" name="AutoShape 212">
                <a:extLst>
                  <a:ext uri="{FF2B5EF4-FFF2-40B4-BE49-F238E27FC236}">
                    <a16:creationId xmlns:a16="http://schemas.microsoft.com/office/drawing/2014/main" id="{F3350D83-A37B-654F-BC15-3B64D5E40D8E}"/>
                  </a:ext>
                </a:extLst>
              </p:cNvPr>
              <p:cNvSpPr>
                <a:spLocks noChangeArrowheads="1"/>
              </p:cNvSpPr>
              <p:nvPr/>
            </p:nvSpPr>
            <p:spPr bwMode="auto">
              <a:xfrm>
                <a:off x="616" y="2567"/>
                <a:ext cx="726"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35" name="AutoShape 213">
                <a:extLst>
                  <a:ext uri="{FF2B5EF4-FFF2-40B4-BE49-F238E27FC236}">
                    <a16:creationId xmlns:a16="http://schemas.microsoft.com/office/drawing/2014/main" id="{B18B4670-EA2C-C040-B7C7-DF1C5CD3BB99}"/>
                  </a:ext>
                </a:extLst>
              </p:cNvPr>
              <p:cNvSpPr>
                <a:spLocks noChangeArrowheads="1"/>
              </p:cNvSpPr>
              <p:nvPr/>
            </p:nvSpPr>
            <p:spPr bwMode="auto">
              <a:xfrm>
                <a:off x="629" y="2585"/>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414" name="Rectangle 214">
              <a:extLst>
                <a:ext uri="{FF2B5EF4-FFF2-40B4-BE49-F238E27FC236}">
                  <a16:creationId xmlns:a16="http://schemas.microsoft.com/office/drawing/2014/main" id="{608AB031-42A8-7844-91D7-E121D7AFB0D5}"/>
                </a:ext>
              </a:extLst>
            </p:cNvPr>
            <p:cNvSpPr>
              <a:spLocks noChangeArrowheads="1"/>
            </p:cNvSpPr>
            <p:nvPr/>
          </p:nvSpPr>
          <p:spPr bwMode="auto">
            <a:xfrm>
              <a:off x="4215" y="1357"/>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15" name="Rectangle 215">
              <a:extLst>
                <a:ext uri="{FF2B5EF4-FFF2-40B4-BE49-F238E27FC236}">
                  <a16:creationId xmlns:a16="http://schemas.microsoft.com/office/drawing/2014/main" id="{BB30CE18-AA62-5D4F-9504-F379EC628151}"/>
                </a:ext>
              </a:extLst>
            </p:cNvPr>
            <p:cNvSpPr>
              <a:spLocks noChangeArrowheads="1"/>
            </p:cNvSpPr>
            <p:nvPr/>
          </p:nvSpPr>
          <p:spPr bwMode="auto">
            <a:xfrm>
              <a:off x="4225" y="1656"/>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nvGrpSpPr>
            <p:cNvPr id="416" name="Group 216">
              <a:extLst>
                <a:ext uri="{FF2B5EF4-FFF2-40B4-BE49-F238E27FC236}">
                  <a16:creationId xmlns:a16="http://schemas.microsoft.com/office/drawing/2014/main" id="{F273493D-769A-6A47-81D6-CFE42FCEDD99}"/>
                </a:ext>
              </a:extLst>
            </p:cNvPr>
            <p:cNvGrpSpPr>
              <a:grpSpLocks/>
            </p:cNvGrpSpPr>
            <p:nvPr/>
          </p:nvGrpSpPr>
          <p:grpSpPr bwMode="auto">
            <a:xfrm>
              <a:off x="4735" y="1627"/>
              <a:ext cx="582" cy="151"/>
              <a:chOff x="614" y="2568"/>
              <a:chExt cx="725" cy="139"/>
            </a:xfrm>
          </p:grpSpPr>
          <p:sp>
            <p:nvSpPr>
              <p:cNvPr id="432" name="AutoShape 217">
                <a:extLst>
                  <a:ext uri="{FF2B5EF4-FFF2-40B4-BE49-F238E27FC236}">
                    <a16:creationId xmlns:a16="http://schemas.microsoft.com/office/drawing/2014/main" id="{50233E91-DB46-0440-A9F4-7856CC6008A4}"/>
                  </a:ext>
                </a:extLst>
              </p:cNvPr>
              <p:cNvSpPr>
                <a:spLocks noChangeArrowheads="1"/>
              </p:cNvSpPr>
              <p:nvPr/>
            </p:nvSpPr>
            <p:spPr bwMode="auto">
              <a:xfrm>
                <a:off x="611" y="2568"/>
                <a:ext cx="731"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33" name="AutoShape 218">
                <a:extLst>
                  <a:ext uri="{FF2B5EF4-FFF2-40B4-BE49-F238E27FC236}">
                    <a16:creationId xmlns:a16="http://schemas.microsoft.com/office/drawing/2014/main" id="{E318885A-C7D9-0040-AB6B-C8AFA11C930F}"/>
                  </a:ext>
                </a:extLst>
              </p:cNvPr>
              <p:cNvSpPr>
                <a:spLocks noChangeArrowheads="1"/>
              </p:cNvSpPr>
              <p:nvPr/>
            </p:nvSpPr>
            <p:spPr bwMode="auto">
              <a:xfrm>
                <a:off x="624" y="2584"/>
                <a:ext cx="69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417" name="Freeform 219">
              <a:extLst>
                <a:ext uri="{FF2B5EF4-FFF2-40B4-BE49-F238E27FC236}">
                  <a16:creationId xmlns:a16="http://schemas.microsoft.com/office/drawing/2014/main" id="{4FB59E0D-1C06-5A47-9E38-435DD5616987}"/>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grpSp>
          <p:nvGrpSpPr>
            <p:cNvPr id="418" name="Group 220">
              <a:extLst>
                <a:ext uri="{FF2B5EF4-FFF2-40B4-BE49-F238E27FC236}">
                  <a16:creationId xmlns:a16="http://schemas.microsoft.com/office/drawing/2014/main" id="{2D81EDBC-2244-EE47-B91B-6015B8F4A1AB}"/>
                </a:ext>
              </a:extLst>
            </p:cNvPr>
            <p:cNvGrpSpPr>
              <a:grpSpLocks/>
            </p:cNvGrpSpPr>
            <p:nvPr/>
          </p:nvGrpSpPr>
          <p:grpSpPr bwMode="auto">
            <a:xfrm>
              <a:off x="4739" y="1327"/>
              <a:ext cx="582" cy="139"/>
              <a:chOff x="614" y="2568"/>
              <a:chExt cx="725" cy="139"/>
            </a:xfrm>
          </p:grpSpPr>
          <p:sp>
            <p:nvSpPr>
              <p:cNvPr id="430" name="AutoShape 221">
                <a:extLst>
                  <a:ext uri="{FF2B5EF4-FFF2-40B4-BE49-F238E27FC236}">
                    <a16:creationId xmlns:a16="http://schemas.microsoft.com/office/drawing/2014/main" id="{8841436C-D828-444B-9F87-A00B9F6BF7FA}"/>
                  </a:ext>
                </a:extLst>
              </p:cNvPr>
              <p:cNvSpPr>
                <a:spLocks noChangeArrowheads="1"/>
              </p:cNvSpPr>
              <p:nvPr/>
            </p:nvSpPr>
            <p:spPr bwMode="auto">
              <a:xfrm>
                <a:off x="612" y="2569"/>
                <a:ext cx="725" cy="14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31" name="AutoShape 222">
                <a:extLst>
                  <a:ext uri="{FF2B5EF4-FFF2-40B4-BE49-F238E27FC236}">
                    <a16:creationId xmlns:a16="http://schemas.microsoft.com/office/drawing/2014/main" id="{4B8D74A3-40FD-5B4C-A02E-D4E8386CF779}"/>
                  </a:ext>
                </a:extLst>
              </p:cNvPr>
              <p:cNvSpPr>
                <a:spLocks noChangeArrowheads="1"/>
              </p:cNvSpPr>
              <p:nvPr/>
            </p:nvSpPr>
            <p:spPr bwMode="auto">
              <a:xfrm>
                <a:off x="626" y="2586"/>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419" name="Rectangle 223">
              <a:extLst>
                <a:ext uri="{FF2B5EF4-FFF2-40B4-BE49-F238E27FC236}">
                  <a16:creationId xmlns:a16="http://schemas.microsoft.com/office/drawing/2014/main" id="{50AB4F2E-AE72-8D4C-AA1F-7AD8290C252A}"/>
                </a:ext>
              </a:extLst>
            </p:cNvPr>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20" name="Freeform 224">
              <a:extLst>
                <a:ext uri="{FF2B5EF4-FFF2-40B4-BE49-F238E27FC236}">
                  <a16:creationId xmlns:a16="http://schemas.microsoft.com/office/drawing/2014/main" id="{4C094492-66FF-D74F-96E3-417905EB735E}"/>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21" name="Freeform 225">
              <a:extLst>
                <a:ext uri="{FF2B5EF4-FFF2-40B4-BE49-F238E27FC236}">
                  <a16:creationId xmlns:a16="http://schemas.microsoft.com/office/drawing/2014/main" id="{4EF43682-719C-EC42-A8EC-9D770708A3C2}"/>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22" name="Oval 226">
              <a:extLst>
                <a:ext uri="{FF2B5EF4-FFF2-40B4-BE49-F238E27FC236}">
                  <a16:creationId xmlns:a16="http://schemas.microsoft.com/office/drawing/2014/main" id="{5D1293CA-EFE7-1F4C-9252-D49ECE8A5A23}"/>
                </a:ext>
              </a:extLst>
            </p:cNvPr>
            <p:cNvSpPr>
              <a:spLocks noChangeArrowheads="1"/>
            </p:cNvSpPr>
            <p:nvPr/>
          </p:nvSpPr>
          <p:spPr bwMode="auto">
            <a:xfrm>
              <a:off x="5517" y="2614"/>
              <a:ext cx="48"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23" name="Freeform 227">
              <a:extLst>
                <a:ext uri="{FF2B5EF4-FFF2-40B4-BE49-F238E27FC236}">
                  <a16:creationId xmlns:a16="http://schemas.microsoft.com/office/drawing/2014/main" id="{2DCDE886-6014-7445-882A-8A5AF2C08001}"/>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424" name="AutoShape 228">
              <a:extLst>
                <a:ext uri="{FF2B5EF4-FFF2-40B4-BE49-F238E27FC236}">
                  <a16:creationId xmlns:a16="http://schemas.microsoft.com/office/drawing/2014/main" id="{CBAB532C-E94C-CE4D-93FA-6D66F82A1646}"/>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25" name="AutoShape 229">
              <a:extLst>
                <a:ext uri="{FF2B5EF4-FFF2-40B4-BE49-F238E27FC236}">
                  <a16:creationId xmlns:a16="http://schemas.microsoft.com/office/drawing/2014/main" id="{F79D5F24-40D8-2B4D-80F5-FF46C39FCA47}"/>
                </a:ext>
              </a:extLst>
            </p:cNvPr>
            <p:cNvSpPr>
              <a:spLocks noChangeArrowheads="1"/>
            </p:cNvSpPr>
            <p:nvPr/>
          </p:nvSpPr>
          <p:spPr bwMode="auto">
            <a:xfrm>
              <a:off x="4204" y="2713"/>
              <a:ext cx="1073"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26" name="Oval 230">
              <a:extLst>
                <a:ext uri="{FF2B5EF4-FFF2-40B4-BE49-F238E27FC236}">
                  <a16:creationId xmlns:a16="http://schemas.microsoft.com/office/drawing/2014/main" id="{50CC80E8-B2F6-E349-9AF6-BAEE0DA6E856}"/>
                </a:ext>
              </a:extLst>
            </p:cNvPr>
            <p:cNvSpPr>
              <a:spLocks noChangeArrowheads="1"/>
            </p:cNvSpPr>
            <p:nvPr/>
          </p:nvSpPr>
          <p:spPr bwMode="auto">
            <a:xfrm>
              <a:off x="4305" y="2385"/>
              <a:ext cx="160"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27" name="Oval 231">
              <a:extLst>
                <a:ext uri="{FF2B5EF4-FFF2-40B4-BE49-F238E27FC236}">
                  <a16:creationId xmlns:a16="http://schemas.microsoft.com/office/drawing/2014/main" id="{3FC2A69B-7EC0-AC4A-8189-689B3A4F892D}"/>
                </a:ext>
              </a:extLst>
            </p:cNvPr>
            <p:cNvSpPr>
              <a:spLocks noChangeArrowheads="1"/>
            </p:cNvSpPr>
            <p:nvPr/>
          </p:nvSpPr>
          <p:spPr bwMode="auto">
            <a:xfrm>
              <a:off x="4487" y="2385"/>
              <a:ext cx="160"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350" kern="0" dirty="0">
                <a:solidFill>
                  <a:srgbClr val="FF0000"/>
                </a:solidFill>
                <a:cs typeface="Arial" panose="020B0604020202020204" pitchFamily="34" charset="0"/>
              </a:endParaRPr>
            </a:p>
          </p:txBody>
        </p:sp>
        <p:sp>
          <p:nvSpPr>
            <p:cNvPr id="428" name="Oval 232">
              <a:extLst>
                <a:ext uri="{FF2B5EF4-FFF2-40B4-BE49-F238E27FC236}">
                  <a16:creationId xmlns:a16="http://schemas.microsoft.com/office/drawing/2014/main" id="{B7A2AA25-3067-2248-9695-C58263FCF2A3}"/>
                </a:ext>
              </a:extLst>
            </p:cNvPr>
            <p:cNvSpPr>
              <a:spLocks noChangeArrowheads="1"/>
            </p:cNvSpPr>
            <p:nvPr/>
          </p:nvSpPr>
          <p:spPr bwMode="auto">
            <a:xfrm>
              <a:off x="4663" y="2379"/>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429" name="Rectangle 233">
              <a:extLst>
                <a:ext uri="{FF2B5EF4-FFF2-40B4-BE49-F238E27FC236}">
                  <a16:creationId xmlns:a16="http://schemas.microsoft.com/office/drawing/2014/main" id="{318AE34C-E894-394D-B1EF-52897C0B6EB3}"/>
                </a:ext>
              </a:extLst>
            </p:cNvPr>
            <p:cNvSpPr>
              <a:spLocks noChangeArrowheads="1"/>
            </p:cNvSpPr>
            <p:nvPr/>
          </p:nvSpPr>
          <p:spPr bwMode="auto">
            <a:xfrm>
              <a:off x="5063" y="1833"/>
              <a:ext cx="85" cy="763"/>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92" name="Slide Number Placeholder 3">
            <a:extLst>
              <a:ext uri="{FF2B5EF4-FFF2-40B4-BE49-F238E27FC236}">
                <a16:creationId xmlns:a16="http://schemas.microsoft.com/office/drawing/2014/main" id="{4AFF1D3F-BB66-9045-AF2E-A9B9CDEA9BE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110</a:t>
            </a:fld>
            <a:endParaRPr lang="en-US" dirty="0"/>
          </a:p>
        </p:txBody>
      </p:sp>
    </p:spTree>
    <p:extLst>
      <p:ext uri="{BB962C8B-B14F-4D97-AF65-F5344CB8AC3E}">
        <p14:creationId xmlns:p14="http://schemas.microsoft.com/office/powerpoint/2010/main" val="120550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wipe(left)">
                                      <p:cBhvr>
                                        <p:cTn id="7" dur="500"/>
                                        <p:tgtEl>
                                          <p:spTgt spid="461"/>
                                        </p:tgtEl>
                                      </p:cBhvr>
                                    </p:animEffect>
                                  </p:childTnLst>
                                </p:cTn>
                              </p:par>
                            </p:childTnLst>
                          </p:cTn>
                        </p:par>
                        <p:par>
                          <p:cTn id="8" fill="hold">
                            <p:stCondLst>
                              <p:cond delay="500"/>
                            </p:stCondLst>
                            <p:childTnLst>
                              <p:par>
                                <p:cTn id="9" presetID="9" presetClass="exit" presetSubtype="0" fill="hold" nodeType="afterEffect">
                                  <p:stCondLst>
                                    <p:cond delay="0"/>
                                  </p:stCondLst>
                                  <p:childTnLst>
                                    <p:animEffect transition="out" filter="dissolve">
                                      <p:cBhvr>
                                        <p:cTn id="10" dur="500"/>
                                        <p:tgtEl>
                                          <p:spTgt spid="461"/>
                                        </p:tgtEl>
                                      </p:cBhvr>
                                    </p:animEffect>
                                    <p:set>
                                      <p:cBhvr>
                                        <p:cTn id="11" dur="1" fill="hold">
                                          <p:stCondLst>
                                            <p:cond delay="499"/>
                                          </p:stCondLst>
                                        </p:cTn>
                                        <p:tgtEl>
                                          <p:spTgt spid="461"/>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462"/>
                                        </p:tgtEl>
                                        <p:attrNameLst>
                                          <p:attrName>style.visibility</p:attrName>
                                        </p:attrNameLst>
                                      </p:cBhvr>
                                      <p:to>
                                        <p:strVal val="visible"/>
                                      </p:to>
                                    </p:set>
                                    <p:animEffect transition="in" filter="wipe(down)">
                                      <p:cBhvr>
                                        <p:cTn id="16" dur="500"/>
                                        <p:tgtEl>
                                          <p:spTgt spid="462"/>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471"/>
                                        </p:tgtEl>
                                        <p:attrNameLst>
                                          <p:attrName>style.visibility</p:attrName>
                                        </p:attrNameLst>
                                      </p:cBhvr>
                                      <p:to>
                                        <p:strVal val="visible"/>
                                      </p:to>
                                    </p:set>
                                    <p:animEffect transition="in" filter="dissolve">
                                      <p:cBhvr>
                                        <p:cTn id="20" dur="500"/>
                                        <p:tgtEl>
                                          <p:spTgt spid="471"/>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37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74"/>
                                        </p:tgtEl>
                                        <p:attrNameLst>
                                          <p:attrName>style.visibility</p:attrName>
                                        </p:attrNameLst>
                                      </p:cBhvr>
                                      <p:to>
                                        <p:strVal val="visible"/>
                                      </p:to>
                                    </p:set>
                                    <p:animEffect transition="in" filter="wipe(up)">
                                      <p:cBhvr>
                                        <p:cTn id="27" dur="500"/>
                                        <p:tgtEl>
                                          <p:spTgt spid="474"/>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38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471"/>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474"/>
                                        </p:tgtEl>
                                        <p:attrNameLst>
                                          <p:attrName>style.visibility</p:attrName>
                                        </p:attrNameLst>
                                      </p:cBhvr>
                                      <p:to>
                                        <p:strVal val="hidden"/>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50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7"/>
                                        </p:tgtEl>
                                        <p:attrNameLst>
                                          <p:attrName>style.visibility</p:attrName>
                                        </p:attrNameLst>
                                      </p:cBhvr>
                                      <p:to>
                                        <p:strVal val="visible"/>
                                      </p:to>
                                    </p:set>
                                  </p:childTnLst>
                                </p:cTn>
                              </p:par>
                            </p:childTnLst>
                          </p:cTn>
                        </p:par>
                        <p:par>
                          <p:cTn id="41" fill="hold">
                            <p:stCondLst>
                              <p:cond delay="0"/>
                            </p:stCondLst>
                            <p:childTnLst>
                              <p:par>
                                <p:cTn id="42" presetID="0" presetClass="path" presetSubtype="0" accel="50000" decel="50000" fill="hold" nodeType="afterEffect">
                                  <p:stCondLst>
                                    <p:cond delay="0"/>
                                  </p:stCondLst>
                                  <p:childTnLst>
                                    <p:animMotion origin="layout" path="M -0.04831 -0.00046 L 0.22604 -0.00139 L 0.09076 0.25787 L -0.02708 0.25625 " pathEditMode="relative" rAng="0" ptsTypes="AAAA">
                                      <p:cBhvr>
                                        <p:cTn id="43" dur="2000" fill="hold"/>
                                        <p:tgtEl>
                                          <p:spTgt spid="507"/>
                                        </p:tgtEl>
                                        <p:attrNameLst>
                                          <p:attrName>ppt_x</p:attrName>
                                          <p:attrName>ppt_y</p:attrName>
                                        </p:attrNameLst>
                                      </p:cBhvr>
                                      <p:rCtr x="13724" y="12870"/>
                                    </p:animMotion>
                                  </p:childTnLst>
                                </p:cTn>
                              </p:par>
                            </p:childTnLst>
                          </p:cTn>
                        </p:par>
                        <p:par>
                          <p:cTn id="44" fill="hold">
                            <p:stCondLst>
                              <p:cond delay="2000"/>
                            </p:stCondLst>
                            <p:childTnLst>
                              <p:par>
                                <p:cTn id="45" presetID="22" presetClass="entr" presetSubtype="2" fill="hold" nodeType="afterEffect">
                                  <p:stCondLst>
                                    <p:cond delay="0"/>
                                  </p:stCondLst>
                                  <p:childTnLst>
                                    <p:set>
                                      <p:cBhvr>
                                        <p:cTn id="46" dur="1" fill="hold">
                                          <p:stCondLst>
                                            <p:cond delay="0"/>
                                          </p:stCondLst>
                                        </p:cTn>
                                        <p:tgtEl>
                                          <p:spTgt spid="521"/>
                                        </p:tgtEl>
                                        <p:attrNameLst>
                                          <p:attrName>style.visibility</p:attrName>
                                        </p:attrNameLst>
                                      </p:cBhvr>
                                      <p:to>
                                        <p:strVal val="visible"/>
                                      </p:to>
                                    </p:set>
                                    <p:animEffect transition="in" filter="wipe(right)">
                                      <p:cBhvr>
                                        <p:cTn id="47" dur="500"/>
                                        <p:tgtEl>
                                          <p:spTgt spid="5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30"/>
                                        </p:tgtEl>
                                        <p:attrNameLst>
                                          <p:attrName>style.visibility</p:attrName>
                                        </p:attrNameLst>
                                      </p:cBhvr>
                                      <p:to>
                                        <p:strVal val="visible"/>
                                      </p:to>
                                    </p:set>
                                    <p:animEffect transition="in" filter="wipe(down)">
                                      <p:cBhvr>
                                        <p:cTn id="52" dur="1000"/>
                                        <p:tgtEl>
                                          <p:spTgt spid="530"/>
                                        </p:tgtEl>
                                      </p:cBhvr>
                                    </p:animEffect>
                                  </p:childTnLst>
                                </p:cTn>
                              </p:par>
                              <p:par>
                                <p:cTn id="53" presetID="1" presetClass="exit" presetSubtype="0" fill="hold" nodeType="withEffect">
                                  <p:stCondLst>
                                    <p:cond delay="0"/>
                                  </p:stCondLst>
                                  <p:childTnLst>
                                    <p:set>
                                      <p:cBhvr>
                                        <p:cTn id="54" dur="1" fill="hold">
                                          <p:stCondLst>
                                            <p:cond delay="0"/>
                                          </p:stCondLst>
                                        </p:cTn>
                                        <p:tgtEl>
                                          <p:spTgt spid="507"/>
                                        </p:tgtEl>
                                        <p:attrNameLst>
                                          <p:attrName>style.visibility</p:attrName>
                                        </p:attrNameLst>
                                      </p:cBhvr>
                                      <p:to>
                                        <p:strVal val="hidden"/>
                                      </p:to>
                                    </p:set>
                                  </p:childTnLst>
                                </p:cTn>
                              </p:par>
                            </p:childTnLst>
                          </p:cTn>
                        </p:par>
                        <p:par>
                          <p:cTn id="55" fill="hold">
                            <p:stCondLst>
                              <p:cond delay="1000"/>
                            </p:stCondLst>
                            <p:childTnLst>
                              <p:par>
                                <p:cTn id="56" presetID="1" presetClass="exit" presetSubtype="0" fill="hold" nodeType="afterEffect">
                                  <p:stCondLst>
                                    <p:cond delay="1000"/>
                                  </p:stCondLst>
                                  <p:childTnLst>
                                    <p:set>
                                      <p:cBhvr>
                                        <p:cTn id="57" dur="1" fill="hold">
                                          <p:stCondLst>
                                            <p:cond delay="0"/>
                                          </p:stCondLst>
                                        </p:cTn>
                                        <p:tgtEl>
                                          <p:spTgt spid="530"/>
                                        </p:tgtEl>
                                        <p:attrNameLst>
                                          <p:attrName>style.visibility</p:attrName>
                                        </p:attrNameLst>
                                      </p:cBhvr>
                                      <p:to>
                                        <p:strVal val="hidden"/>
                                      </p:to>
                                    </p:set>
                                  </p:childTnLst>
                                </p:cTn>
                              </p:par>
                              <p:par>
                                <p:cTn id="58" presetID="1" presetClass="entr" presetSubtype="0" fill="hold" grpId="0" nodeType="withEffect">
                                  <p:stCondLst>
                                    <p:cond delay="0"/>
                                  </p:stCondLst>
                                  <p:childTnLst>
                                    <p:set>
                                      <p:cBhvr>
                                        <p:cTn id="59" dur="1" fill="hold">
                                          <p:stCondLst>
                                            <p:cond delay="0"/>
                                          </p:stCondLst>
                                        </p:cTn>
                                        <p:tgtEl>
                                          <p:spTgt spid="388"/>
                                        </p:tgtEl>
                                        <p:attrNameLst>
                                          <p:attrName>style.visibility</p:attrName>
                                        </p:attrNameLst>
                                      </p:cBhvr>
                                      <p:to>
                                        <p:strVal val="visible"/>
                                      </p:to>
                                    </p:set>
                                  </p:childTnLst>
                                </p:cTn>
                              </p:par>
                              <p:par>
                                <p:cTn id="60" presetID="1" presetClass="entr" presetSubtype="0" fill="hold" nodeType="withEffect">
                                  <p:stCondLst>
                                    <p:cond delay="1000"/>
                                  </p:stCondLst>
                                  <p:childTnLst>
                                    <p:set>
                                      <p:cBhvr>
                                        <p:cTn id="61" dur="1" fill="hold">
                                          <p:stCondLst>
                                            <p:cond delay="0"/>
                                          </p:stCondLst>
                                        </p:cTn>
                                        <p:tgtEl>
                                          <p:spTgt spid="5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 grpId="0" build="p"/>
      <p:bldP spid="386" grpId="0"/>
      <p:bldP spid="387" grpId="0"/>
      <p:bldP spid="388"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 name="Freeform 3">
            <a:extLst>
              <a:ext uri="{FF2B5EF4-FFF2-40B4-BE49-F238E27FC236}">
                <a16:creationId xmlns:a16="http://schemas.microsoft.com/office/drawing/2014/main" id="{42214F0C-3946-2842-9FE2-86D791CF7CDE}"/>
              </a:ext>
            </a:extLst>
          </p:cNvPr>
          <p:cNvSpPr>
            <a:spLocks/>
          </p:cNvSpPr>
          <p:nvPr/>
        </p:nvSpPr>
        <p:spPr bwMode="auto">
          <a:xfrm>
            <a:off x="1400546" y="2221122"/>
            <a:ext cx="2665809" cy="2065735"/>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a:defRPr/>
            </a:pPr>
            <a:endParaRPr lang="en-US" sz="1350" dirty="0">
              <a:solidFill>
                <a:srgbClr val="000000"/>
              </a:solidFill>
            </a:endParaRPr>
          </a:p>
        </p:txBody>
      </p:sp>
      <p:grpSp>
        <p:nvGrpSpPr>
          <p:cNvPr id="1495" name="Group 1494">
            <a:extLst>
              <a:ext uri="{FF2B5EF4-FFF2-40B4-BE49-F238E27FC236}">
                <a16:creationId xmlns:a16="http://schemas.microsoft.com/office/drawing/2014/main" id="{90E651B2-5767-254D-BFFF-F98A2DA290D7}"/>
              </a:ext>
            </a:extLst>
          </p:cNvPr>
          <p:cNvGrpSpPr/>
          <p:nvPr/>
        </p:nvGrpSpPr>
        <p:grpSpPr>
          <a:xfrm>
            <a:off x="3212380" y="3062337"/>
            <a:ext cx="688811" cy="292972"/>
            <a:chOff x="3668110" y="2448910"/>
            <a:chExt cx="3794234" cy="2165130"/>
          </a:xfrm>
        </p:grpSpPr>
        <p:sp>
          <p:nvSpPr>
            <p:cNvPr id="1496" name="Rectangle 1495">
              <a:extLst>
                <a:ext uri="{FF2B5EF4-FFF2-40B4-BE49-F238E27FC236}">
                  <a16:creationId xmlns:a16="http://schemas.microsoft.com/office/drawing/2014/main" id="{D9809221-7CE0-8046-8E91-B6753569FB97}"/>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97" name="Freeform 1496">
              <a:extLst>
                <a:ext uri="{FF2B5EF4-FFF2-40B4-BE49-F238E27FC236}">
                  <a16:creationId xmlns:a16="http://schemas.microsoft.com/office/drawing/2014/main" id="{9DC472C6-9721-C642-93DD-6200DE2D95BB}"/>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1498" name="Group 1497">
              <a:extLst>
                <a:ext uri="{FF2B5EF4-FFF2-40B4-BE49-F238E27FC236}">
                  <a16:creationId xmlns:a16="http://schemas.microsoft.com/office/drawing/2014/main" id="{52AE91E4-7763-A049-AFCC-EB7B96F0955B}"/>
                </a:ext>
              </a:extLst>
            </p:cNvPr>
            <p:cNvGrpSpPr/>
            <p:nvPr/>
          </p:nvGrpSpPr>
          <p:grpSpPr>
            <a:xfrm>
              <a:off x="3941378" y="2603243"/>
              <a:ext cx="3202061" cy="1066110"/>
              <a:chOff x="7939341" y="3037317"/>
              <a:chExt cx="897649" cy="353919"/>
            </a:xfrm>
          </p:grpSpPr>
          <p:sp>
            <p:nvSpPr>
              <p:cNvPr id="1499" name="Freeform 1498">
                <a:extLst>
                  <a:ext uri="{FF2B5EF4-FFF2-40B4-BE49-F238E27FC236}">
                    <a16:creationId xmlns:a16="http://schemas.microsoft.com/office/drawing/2014/main" id="{A273E984-8C3A-0740-82A8-2E2599CD3819}"/>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0" name="Freeform 1499">
                <a:extLst>
                  <a:ext uri="{FF2B5EF4-FFF2-40B4-BE49-F238E27FC236}">
                    <a16:creationId xmlns:a16="http://schemas.microsoft.com/office/drawing/2014/main" id="{7EA2290B-2BC3-5547-860F-F85A175C8589}"/>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1" name="Freeform 1500">
                <a:extLst>
                  <a:ext uri="{FF2B5EF4-FFF2-40B4-BE49-F238E27FC236}">
                    <a16:creationId xmlns:a16="http://schemas.microsoft.com/office/drawing/2014/main" id="{03CB962D-CD9C-CF49-8299-D8B735987FF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2" name="Freeform 1501">
                <a:extLst>
                  <a:ext uri="{FF2B5EF4-FFF2-40B4-BE49-F238E27FC236}">
                    <a16:creationId xmlns:a16="http://schemas.microsoft.com/office/drawing/2014/main" id="{F22BB5F1-324C-684A-BA10-14C9DC6D152C}"/>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1503" name="Group 1502">
            <a:extLst>
              <a:ext uri="{FF2B5EF4-FFF2-40B4-BE49-F238E27FC236}">
                <a16:creationId xmlns:a16="http://schemas.microsoft.com/office/drawing/2014/main" id="{C77F0771-5BFA-4F46-B018-EA1196B5BD33}"/>
              </a:ext>
            </a:extLst>
          </p:cNvPr>
          <p:cNvGrpSpPr/>
          <p:nvPr/>
        </p:nvGrpSpPr>
        <p:grpSpPr>
          <a:xfrm>
            <a:off x="2829132" y="3775414"/>
            <a:ext cx="780415" cy="323312"/>
            <a:chOff x="7493876" y="2774731"/>
            <a:chExt cx="1481958" cy="894622"/>
          </a:xfrm>
        </p:grpSpPr>
        <p:sp>
          <p:nvSpPr>
            <p:cNvPr id="1504" name="Freeform 1503">
              <a:extLst>
                <a:ext uri="{FF2B5EF4-FFF2-40B4-BE49-F238E27FC236}">
                  <a16:creationId xmlns:a16="http://schemas.microsoft.com/office/drawing/2014/main" id="{DC02F35E-586D-4D43-9F82-AA3C523EF1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505" name="Oval 1504">
              <a:extLst>
                <a:ext uri="{FF2B5EF4-FFF2-40B4-BE49-F238E27FC236}">
                  <a16:creationId xmlns:a16="http://schemas.microsoft.com/office/drawing/2014/main" id="{FC2CB17F-DB64-1D42-8E09-1FB27CCC86F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506" name="Group 1505">
              <a:extLst>
                <a:ext uri="{FF2B5EF4-FFF2-40B4-BE49-F238E27FC236}">
                  <a16:creationId xmlns:a16="http://schemas.microsoft.com/office/drawing/2014/main" id="{C4991A85-0B3F-E04D-B5FE-9ED876C292C5}"/>
                </a:ext>
              </a:extLst>
            </p:cNvPr>
            <p:cNvGrpSpPr/>
            <p:nvPr/>
          </p:nvGrpSpPr>
          <p:grpSpPr>
            <a:xfrm>
              <a:off x="7713663" y="2848339"/>
              <a:ext cx="1042107" cy="425543"/>
              <a:chOff x="7786941" y="2884917"/>
              <a:chExt cx="897649" cy="353919"/>
            </a:xfrm>
          </p:grpSpPr>
          <p:sp>
            <p:nvSpPr>
              <p:cNvPr id="1507" name="Freeform 1506">
                <a:extLst>
                  <a:ext uri="{FF2B5EF4-FFF2-40B4-BE49-F238E27FC236}">
                    <a16:creationId xmlns:a16="http://schemas.microsoft.com/office/drawing/2014/main" id="{D2147E93-7F10-5E4E-82A7-CD68E9613AB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8" name="Freeform 1507">
                <a:extLst>
                  <a:ext uri="{FF2B5EF4-FFF2-40B4-BE49-F238E27FC236}">
                    <a16:creationId xmlns:a16="http://schemas.microsoft.com/office/drawing/2014/main" id="{0E82B1F7-64A2-4B47-8098-6B78F006CB6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09" name="Freeform 1508">
                <a:extLst>
                  <a:ext uri="{FF2B5EF4-FFF2-40B4-BE49-F238E27FC236}">
                    <a16:creationId xmlns:a16="http://schemas.microsoft.com/office/drawing/2014/main" id="{2DAD4026-07D9-B348-8472-FAF792A031D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510" name="Freeform 1509">
                <a:extLst>
                  <a:ext uri="{FF2B5EF4-FFF2-40B4-BE49-F238E27FC236}">
                    <a16:creationId xmlns:a16="http://schemas.microsoft.com/office/drawing/2014/main" id="{97502A9C-2CE0-384A-BFF7-5DC0740BEC8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628650" y="1090608"/>
            <a:ext cx="7886700" cy="670967"/>
          </a:xfrm>
        </p:spPr>
        <p:txBody>
          <a:bodyPr/>
          <a:lstStyle/>
          <a:p>
            <a:r>
              <a:rPr lang="en-US" dirty="0"/>
              <a:t>DHCP: example</a:t>
            </a:r>
          </a:p>
        </p:txBody>
      </p:sp>
      <p:sp>
        <p:nvSpPr>
          <p:cNvPr id="1301" name="Rectangle 3">
            <a:extLst>
              <a:ext uri="{FF2B5EF4-FFF2-40B4-BE49-F238E27FC236}">
                <a16:creationId xmlns:a16="http://schemas.microsoft.com/office/drawing/2014/main" id="{B0905C97-5D6E-7249-9E37-7FCBF705EA8C}"/>
              </a:ext>
            </a:extLst>
          </p:cNvPr>
          <p:cNvSpPr txBox="1">
            <a:spLocks noChangeArrowheads="1"/>
          </p:cNvSpPr>
          <p:nvPr/>
        </p:nvSpPr>
        <p:spPr bwMode="auto">
          <a:xfrm>
            <a:off x="4598565" y="2018715"/>
            <a:ext cx="3912101" cy="1179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175022" indent="-175022" defTabSz="685800">
              <a:defRPr/>
            </a:pPr>
            <a:r>
              <a:rPr lang="en-US" altLang="en-US" sz="1800"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DCP server formulates DHCP ACK containing client</a:t>
            </a:r>
            <a:r>
              <a:rPr lang="ja-JP" altLang="en-US" sz="1800" kern="0">
                <a:solidFill>
                  <a:prstClr val="black"/>
                </a:solidFill>
                <a:latin typeface="Calibri" panose="020F0502020204030204"/>
                <a:ea typeface="ＭＳ Ｐゴシック" panose="020B0600070205080204" pitchFamily="34" charset="-128"/>
                <a:cs typeface="ＭＳ Ｐゴシック" panose="020B0600070205080204" pitchFamily="34" charset="-128"/>
              </a:rPr>
              <a:t>’</a:t>
            </a:r>
            <a:r>
              <a:rPr lang="en-US" altLang="ja-JP" sz="1800"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s IP address, IP address of first-hop router for client, name &amp; IP address of DNS server</a:t>
            </a:r>
          </a:p>
          <a:p>
            <a:pPr marL="175022" indent="-175022" defTabSz="685800">
              <a:defRPr/>
            </a:pPr>
            <a:endParaRPr lang="en-US" altLang="en-US" sz="1500" kern="0" dirty="0">
              <a:solidFill>
                <a:prstClr val="black"/>
              </a:solidFill>
              <a:latin typeface="Calibri" panose="020F0502020204030204"/>
              <a:ea typeface="ＭＳ Ｐゴシック" panose="020B0600070205080204" pitchFamily="34" charset="-128"/>
              <a:cs typeface="ＭＳ Ｐゴシック" panose="020B0600070205080204" pitchFamily="34" charset="-128"/>
            </a:endParaRPr>
          </a:p>
        </p:txBody>
      </p:sp>
      <p:sp>
        <p:nvSpPr>
          <p:cNvPr id="1304" name="Line 43">
            <a:extLst>
              <a:ext uri="{FF2B5EF4-FFF2-40B4-BE49-F238E27FC236}">
                <a16:creationId xmlns:a16="http://schemas.microsoft.com/office/drawing/2014/main" id="{8A0432BD-BA0C-F849-9871-F783C094E73F}"/>
              </a:ext>
            </a:extLst>
          </p:cNvPr>
          <p:cNvSpPr>
            <a:spLocks noChangeShapeType="1"/>
          </p:cNvSpPr>
          <p:nvPr/>
        </p:nvSpPr>
        <p:spPr bwMode="auto">
          <a:xfrm>
            <a:off x="2819772" y="3154571"/>
            <a:ext cx="416810" cy="18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srgbClr val="000000"/>
              </a:solidFill>
            </a:endParaRPr>
          </a:p>
        </p:txBody>
      </p:sp>
      <p:sp>
        <p:nvSpPr>
          <p:cNvPr id="1306" name="Line 48">
            <a:extLst>
              <a:ext uri="{FF2B5EF4-FFF2-40B4-BE49-F238E27FC236}">
                <a16:creationId xmlns:a16="http://schemas.microsoft.com/office/drawing/2014/main" id="{1446ABBB-605F-0348-9C54-5F67A0839129}"/>
              </a:ext>
            </a:extLst>
          </p:cNvPr>
          <p:cNvSpPr>
            <a:spLocks noChangeShapeType="1"/>
          </p:cNvSpPr>
          <p:nvPr/>
        </p:nvSpPr>
        <p:spPr bwMode="auto">
          <a:xfrm flipV="1">
            <a:off x="3293269" y="3350418"/>
            <a:ext cx="345281" cy="428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srgbClr val="000000"/>
              </a:solidFill>
            </a:endParaRPr>
          </a:p>
        </p:txBody>
      </p:sp>
      <p:sp>
        <p:nvSpPr>
          <p:cNvPr id="1307" name="Rectangle 148">
            <a:extLst>
              <a:ext uri="{FF2B5EF4-FFF2-40B4-BE49-F238E27FC236}">
                <a16:creationId xmlns:a16="http://schemas.microsoft.com/office/drawing/2014/main" id="{9158E87B-EE7D-8B47-8629-18353FFAA079}"/>
              </a:ext>
            </a:extLst>
          </p:cNvPr>
          <p:cNvSpPr>
            <a:spLocks noChangeArrowheads="1"/>
          </p:cNvSpPr>
          <p:nvPr/>
        </p:nvSpPr>
        <p:spPr bwMode="auto">
          <a:xfrm>
            <a:off x="4593802" y="3347453"/>
            <a:ext cx="3901238" cy="102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3363" indent="-233363">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175022" indent="-175022" defTabSz="685800">
              <a:lnSpc>
                <a:spcPct val="85000"/>
              </a:lnSpc>
              <a:spcBef>
                <a:spcPct val="20000"/>
              </a:spcBef>
              <a:buClr>
                <a:srgbClr val="000099"/>
              </a:buClr>
              <a:buSzPct val="100000"/>
              <a:buFont typeface="Wingdings" pitchFamily="2" charset="2"/>
              <a:buChar char="§"/>
              <a:defRPr/>
            </a:pPr>
            <a:r>
              <a:rPr lang="en-US" altLang="en-US" sz="1800" dirty="0">
                <a:solidFill>
                  <a:srgbClr val="000000"/>
                </a:solidFill>
                <a:latin typeface="Calibri" panose="020F0502020204030204"/>
              </a:rPr>
              <a:t>encapsulated DHCP server reply forwarded to client, demuxing up to DHCP at client</a:t>
            </a:r>
          </a:p>
        </p:txBody>
      </p:sp>
      <p:grpSp>
        <p:nvGrpSpPr>
          <p:cNvPr id="1308" name="Group 153">
            <a:extLst>
              <a:ext uri="{FF2B5EF4-FFF2-40B4-BE49-F238E27FC236}">
                <a16:creationId xmlns:a16="http://schemas.microsoft.com/office/drawing/2014/main" id="{500FCBF7-4DEA-BA4D-8711-636C42019B46}"/>
              </a:ext>
            </a:extLst>
          </p:cNvPr>
          <p:cNvGrpSpPr>
            <a:grpSpLocks/>
          </p:cNvGrpSpPr>
          <p:nvPr/>
        </p:nvGrpSpPr>
        <p:grpSpPr bwMode="auto">
          <a:xfrm>
            <a:off x="2304230" y="2871202"/>
            <a:ext cx="638175" cy="461963"/>
            <a:chOff x="4420" y="878"/>
            <a:chExt cx="614" cy="458"/>
          </a:xfrm>
        </p:grpSpPr>
        <p:pic>
          <p:nvPicPr>
            <p:cNvPr id="1309" name="Picture 154" descr="laptop_keyboard">
              <a:extLst>
                <a:ext uri="{FF2B5EF4-FFF2-40B4-BE49-F238E27FC236}">
                  <a16:creationId xmlns:a16="http://schemas.microsoft.com/office/drawing/2014/main" id="{3868FFB9-BDAC-204F-B090-572CFF232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 name="Freeform 155">
              <a:extLst>
                <a:ext uri="{FF2B5EF4-FFF2-40B4-BE49-F238E27FC236}">
                  <a16:creationId xmlns:a16="http://schemas.microsoft.com/office/drawing/2014/main" id="{5B3F7275-C1A2-854F-BF4E-9F9DD573C246}"/>
                </a:ext>
              </a:extLst>
            </p:cNvPr>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p:spPr>
          <p:txBody>
            <a:bodyPr/>
            <a:lstStyle/>
            <a:p>
              <a:pPr defTabSz="685800">
                <a:defRPr/>
              </a:pPr>
              <a:endParaRPr lang="en-US" sz="1350" kern="0" dirty="0">
                <a:solidFill>
                  <a:srgbClr val="000000"/>
                </a:solidFill>
              </a:endParaRPr>
            </a:p>
          </p:txBody>
        </p:sp>
        <p:pic>
          <p:nvPicPr>
            <p:cNvPr id="1311" name="Picture 156" descr="screen">
              <a:extLst>
                <a:ext uri="{FF2B5EF4-FFF2-40B4-BE49-F238E27FC236}">
                  <a16:creationId xmlns:a16="http://schemas.microsoft.com/office/drawing/2014/main" id="{82F23E43-540B-434A-87AB-A64D933878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2" name="Freeform 157">
              <a:extLst>
                <a:ext uri="{FF2B5EF4-FFF2-40B4-BE49-F238E27FC236}">
                  <a16:creationId xmlns:a16="http://schemas.microsoft.com/office/drawing/2014/main" id="{A23F1653-971F-4247-B468-CAF7D647693B}"/>
                </a:ext>
              </a:extLst>
            </p:cNvPr>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13" name="Freeform 158">
              <a:extLst>
                <a:ext uri="{FF2B5EF4-FFF2-40B4-BE49-F238E27FC236}">
                  <a16:creationId xmlns:a16="http://schemas.microsoft.com/office/drawing/2014/main" id="{D9EC5F36-5E09-7C4C-8B4E-8DAF3F4D8DFE}"/>
                </a:ext>
              </a:extLst>
            </p:cNvPr>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14" name="Freeform 159">
              <a:extLst>
                <a:ext uri="{FF2B5EF4-FFF2-40B4-BE49-F238E27FC236}">
                  <a16:creationId xmlns:a16="http://schemas.microsoft.com/office/drawing/2014/main" id="{01712AF2-06FB-1449-BF57-9F872CAC3DDE}"/>
                </a:ext>
              </a:extLst>
            </p:cNvPr>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15" name="Freeform 160">
              <a:extLst>
                <a:ext uri="{FF2B5EF4-FFF2-40B4-BE49-F238E27FC236}">
                  <a16:creationId xmlns:a16="http://schemas.microsoft.com/office/drawing/2014/main" id="{AD274FB9-59F2-B843-83F1-3A45B5E61BAE}"/>
                </a:ext>
              </a:extLst>
            </p:cNvPr>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16" name="Freeform 161">
              <a:extLst>
                <a:ext uri="{FF2B5EF4-FFF2-40B4-BE49-F238E27FC236}">
                  <a16:creationId xmlns:a16="http://schemas.microsoft.com/office/drawing/2014/main" id="{FD303974-7F87-0A4E-B5B4-44C379AFBE94}"/>
                </a:ext>
              </a:extLst>
            </p:cNvPr>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17" name="Freeform 162">
              <a:extLst>
                <a:ext uri="{FF2B5EF4-FFF2-40B4-BE49-F238E27FC236}">
                  <a16:creationId xmlns:a16="http://schemas.microsoft.com/office/drawing/2014/main" id="{7FE2E5A3-CD19-A546-AB4B-0EA1E8829B87}"/>
                </a:ext>
              </a:extLst>
            </p:cNvPr>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grpSp>
          <p:nvGrpSpPr>
            <p:cNvPr id="1318" name="Group 163">
              <a:extLst>
                <a:ext uri="{FF2B5EF4-FFF2-40B4-BE49-F238E27FC236}">
                  <a16:creationId xmlns:a16="http://schemas.microsoft.com/office/drawing/2014/main" id="{7C6E99EF-2B63-CA4C-A5DE-9FD3B5342716}"/>
                </a:ext>
              </a:extLst>
            </p:cNvPr>
            <p:cNvGrpSpPr>
              <a:grpSpLocks/>
            </p:cNvGrpSpPr>
            <p:nvPr/>
          </p:nvGrpSpPr>
          <p:grpSpPr bwMode="auto">
            <a:xfrm>
              <a:off x="4584" y="1203"/>
              <a:ext cx="119" cy="53"/>
              <a:chOff x="1740" y="2642"/>
              <a:chExt cx="752" cy="327"/>
            </a:xfrm>
          </p:grpSpPr>
          <p:sp>
            <p:nvSpPr>
              <p:cNvPr id="1325" name="Freeform 164">
                <a:extLst>
                  <a:ext uri="{FF2B5EF4-FFF2-40B4-BE49-F238E27FC236}">
                    <a16:creationId xmlns:a16="http://schemas.microsoft.com/office/drawing/2014/main" id="{6E12DE36-0A64-834A-BBAD-E04C44B20D71}"/>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6" name="Freeform 165">
                <a:extLst>
                  <a:ext uri="{FF2B5EF4-FFF2-40B4-BE49-F238E27FC236}">
                    <a16:creationId xmlns:a16="http://schemas.microsoft.com/office/drawing/2014/main" id="{1FBE48EE-8299-0C48-AA7E-067EF21501A1}"/>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7" name="Freeform 166">
                <a:extLst>
                  <a:ext uri="{FF2B5EF4-FFF2-40B4-BE49-F238E27FC236}">
                    <a16:creationId xmlns:a16="http://schemas.microsoft.com/office/drawing/2014/main" id="{5B9E5CB6-217A-FE41-ADE1-6C272A96DA7B}"/>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8" name="Freeform 167">
                <a:extLst>
                  <a:ext uri="{FF2B5EF4-FFF2-40B4-BE49-F238E27FC236}">
                    <a16:creationId xmlns:a16="http://schemas.microsoft.com/office/drawing/2014/main" id="{92CD83EB-B4AF-A548-A5D7-EBCD60E8A36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9" name="Freeform 168">
                <a:extLst>
                  <a:ext uri="{FF2B5EF4-FFF2-40B4-BE49-F238E27FC236}">
                    <a16:creationId xmlns:a16="http://schemas.microsoft.com/office/drawing/2014/main" id="{94C640D8-D8AA-CB46-A5DC-C4ED29645B8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30" name="Freeform 169">
                <a:extLst>
                  <a:ext uri="{FF2B5EF4-FFF2-40B4-BE49-F238E27FC236}">
                    <a16:creationId xmlns:a16="http://schemas.microsoft.com/office/drawing/2014/main" id="{48296531-4D47-1C43-883A-FCB34D0E7669}"/>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grpSp>
        <p:sp>
          <p:nvSpPr>
            <p:cNvPr id="1319" name="Freeform 170">
              <a:extLst>
                <a:ext uri="{FF2B5EF4-FFF2-40B4-BE49-F238E27FC236}">
                  <a16:creationId xmlns:a16="http://schemas.microsoft.com/office/drawing/2014/main" id="{B3B79E68-20B5-D540-9C6C-F5B052950A85}"/>
                </a:ext>
              </a:extLst>
            </p:cNvPr>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0" name="Freeform 171">
              <a:extLst>
                <a:ext uri="{FF2B5EF4-FFF2-40B4-BE49-F238E27FC236}">
                  <a16:creationId xmlns:a16="http://schemas.microsoft.com/office/drawing/2014/main" id="{A0BC90D7-6F1C-D743-B1E1-E6AA5880C74F}"/>
                </a:ext>
              </a:extLst>
            </p:cNvPr>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1" name="Freeform 172">
              <a:extLst>
                <a:ext uri="{FF2B5EF4-FFF2-40B4-BE49-F238E27FC236}">
                  <a16:creationId xmlns:a16="http://schemas.microsoft.com/office/drawing/2014/main" id="{67AB0043-2D4A-6C4B-A1C1-11D5C002F195}"/>
                </a:ext>
              </a:extLst>
            </p:cNvPr>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2" name="Freeform 173">
              <a:extLst>
                <a:ext uri="{FF2B5EF4-FFF2-40B4-BE49-F238E27FC236}">
                  <a16:creationId xmlns:a16="http://schemas.microsoft.com/office/drawing/2014/main" id="{29336F87-5569-2B41-A813-4C77EA082620}"/>
                </a:ext>
              </a:extLst>
            </p:cNvPr>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3" name="Freeform 174">
              <a:extLst>
                <a:ext uri="{FF2B5EF4-FFF2-40B4-BE49-F238E27FC236}">
                  <a16:creationId xmlns:a16="http://schemas.microsoft.com/office/drawing/2014/main" id="{14DC99A0-1B13-854A-AE94-D90A916E93B0}"/>
                </a:ext>
              </a:extLst>
            </p:cNvPr>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24" name="Freeform 175">
              <a:extLst>
                <a:ext uri="{FF2B5EF4-FFF2-40B4-BE49-F238E27FC236}">
                  <a16:creationId xmlns:a16="http://schemas.microsoft.com/office/drawing/2014/main" id="{C99CA53A-FCB0-C843-A9FA-161EA99536C6}"/>
                </a:ext>
              </a:extLst>
            </p:cNvPr>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grpSp>
      <p:sp>
        <p:nvSpPr>
          <p:cNvPr id="1331" name="Text Box 176">
            <a:extLst>
              <a:ext uri="{FF2B5EF4-FFF2-40B4-BE49-F238E27FC236}">
                <a16:creationId xmlns:a16="http://schemas.microsoft.com/office/drawing/2014/main" id="{353F74F6-1F17-C144-9E33-1C3CA4A126A4}"/>
              </a:ext>
            </a:extLst>
          </p:cNvPr>
          <p:cNvSpPr txBox="1">
            <a:spLocks noChangeArrowheads="1"/>
          </p:cNvSpPr>
          <p:nvPr/>
        </p:nvSpPr>
        <p:spPr bwMode="auto">
          <a:xfrm>
            <a:off x="2742380" y="4124931"/>
            <a:ext cx="157927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i="1" kern="0" dirty="0">
                <a:solidFill>
                  <a:srgbClr val="000000"/>
                </a:solidFill>
              </a:rPr>
              <a:t>router with DHCP </a:t>
            </a:r>
          </a:p>
          <a:p>
            <a:pPr defTabSz="685800">
              <a:defRPr/>
            </a:pPr>
            <a:r>
              <a:rPr lang="en-US" altLang="en-US" sz="1350" i="1" kern="0" dirty="0">
                <a:solidFill>
                  <a:srgbClr val="000000"/>
                </a:solidFill>
              </a:rPr>
              <a:t>server built into </a:t>
            </a:r>
          </a:p>
          <a:p>
            <a:pPr defTabSz="685800">
              <a:defRPr/>
            </a:pPr>
            <a:r>
              <a:rPr lang="en-US" altLang="en-US" sz="1350" i="1" kern="0" dirty="0">
                <a:solidFill>
                  <a:srgbClr val="000000"/>
                </a:solidFill>
              </a:rPr>
              <a:t>router</a:t>
            </a:r>
          </a:p>
        </p:txBody>
      </p:sp>
      <p:grpSp>
        <p:nvGrpSpPr>
          <p:cNvPr id="1381" name="Group 53">
            <a:extLst>
              <a:ext uri="{FF2B5EF4-FFF2-40B4-BE49-F238E27FC236}">
                <a16:creationId xmlns:a16="http://schemas.microsoft.com/office/drawing/2014/main" id="{D881BBC4-DF18-094B-9377-D624EBDA50A4}"/>
              </a:ext>
            </a:extLst>
          </p:cNvPr>
          <p:cNvGrpSpPr>
            <a:grpSpLocks/>
          </p:cNvGrpSpPr>
          <p:nvPr/>
        </p:nvGrpSpPr>
        <p:grpSpPr bwMode="auto">
          <a:xfrm>
            <a:off x="1085030" y="3639156"/>
            <a:ext cx="810816" cy="875109"/>
            <a:chOff x="42" y="744"/>
            <a:chExt cx="681" cy="735"/>
          </a:xfrm>
        </p:grpSpPr>
        <p:grpSp>
          <p:nvGrpSpPr>
            <p:cNvPr id="1382" name="Group 54">
              <a:extLst>
                <a:ext uri="{FF2B5EF4-FFF2-40B4-BE49-F238E27FC236}">
                  <a16:creationId xmlns:a16="http://schemas.microsoft.com/office/drawing/2014/main" id="{170B4756-1C1B-FA4C-BE56-C5B53174E74B}"/>
                </a:ext>
              </a:extLst>
            </p:cNvPr>
            <p:cNvGrpSpPr>
              <a:grpSpLocks/>
            </p:cNvGrpSpPr>
            <p:nvPr/>
          </p:nvGrpSpPr>
          <p:grpSpPr bwMode="auto">
            <a:xfrm>
              <a:off x="42" y="886"/>
              <a:ext cx="681" cy="488"/>
              <a:chOff x="42" y="886"/>
              <a:chExt cx="681" cy="488"/>
            </a:xfrm>
          </p:grpSpPr>
          <p:grpSp>
            <p:nvGrpSpPr>
              <p:cNvPr id="1384" name="Group 55">
                <a:extLst>
                  <a:ext uri="{FF2B5EF4-FFF2-40B4-BE49-F238E27FC236}">
                    <a16:creationId xmlns:a16="http://schemas.microsoft.com/office/drawing/2014/main" id="{158AD155-91D9-8746-B26B-44DF570C833E}"/>
                  </a:ext>
                </a:extLst>
              </p:cNvPr>
              <p:cNvGrpSpPr>
                <a:grpSpLocks/>
              </p:cNvGrpSpPr>
              <p:nvPr/>
            </p:nvGrpSpPr>
            <p:grpSpPr bwMode="auto">
              <a:xfrm>
                <a:off x="278" y="886"/>
                <a:ext cx="437" cy="174"/>
                <a:chOff x="740" y="3209"/>
                <a:chExt cx="437" cy="174"/>
              </a:xfrm>
            </p:grpSpPr>
            <p:grpSp>
              <p:nvGrpSpPr>
                <p:cNvPr id="1409" name="Group 56">
                  <a:extLst>
                    <a:ext uri="{FF2B5EF4-FFF2-40B4-BE49-F238E27FC236}">
                      <a16:creationId xmlns:a16="http://schemas.microsoft.com/office/drawing/2014/main" id="{022CBD0E-FD62-DF4F-918D-BEF120E07F5A}"/>
                    </a:ext>
                  </a:extLst>
                </p:cNvPr>
                <p:cNvGrpSpPr>
                  <a:grpSpLocks/>
                </p:cNvGrpSpPr>
                <p:nvPr/>
              </p:nvGrpSpPr>
              <p:grpSpPr bwMode="auto">
                <a:xfrm>
                  <a:off x="794" y="3209"/>
                  <a:ext cx="383" cy="174"/>
                  <a:chOff x="844" y="3337"/>
                  <a:chExt cx="383" cy="174"/>
                </a:xfrm>
              </p:grpSpPr>
              <p:sp>
                <p:nvSpPr>
                  <p:cNvPr id="1412" name="Rectangle 57">
                    <a:extLst>
                      <a:ext uri="{FF2B5EF4-FFF2-40B4-BE49-F238E27FC236}">
                        <a16:creationId xmlns:a16="http://schemas.microsoft.com/office/drawing/2014/main" id="{13FCEBF7-0D42-0047-B009-0CE916D94155}"/>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13" name="Text Box 58">
                    <a:extLst>
                      <a:ext uri="{FF2B5EF4-FFF2-40B4-BE49-F238E27FC236}">
                        <a16:creationId xmlns:a16="http://schemas.microsoft.com/office/drawing/2014/main" id="{5F0D413F-7D55-814C-931F-A524E4DB1FFD}"/>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sp>
              <p:nvSpPr>
                <p:cNvPr id="1410" name="Rectangle 59">
                  <a:extLst>
                    <a:ext uri="{FF2B5EF4-FFF2-40B4-BE49-F238E27FC236}">
                      <a16:creationId xmlns:a16="http://schemas.microsoft.com/office/drawing/2014/main" id="{15D7051B-940C-384C-B172-5ABD896F7C38}"/>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11" name="Rectangle 60">
                  <a:extLst>
                    <a:ext uri="{FF2B5EF4-FFF2-40B4-BE49-F238E27FC236}">
                      <a16:creationId xmlns:a16="http://schemas.microsoft.com/office/drawing/2014/main" id="{3FE3CD03-0639-E04F-8E4A-4707678B3085}"/>
                    </a:ext>
                  </a:extLst>
                </p:cNvPr>
                <p:cNvSpPr>
                  <a:spLocks noChangeArrowheads="1"/>
                </p:cNvSpPr>
                <p:nvPr/>
              </p:nvSpPr>
              <p:spPr bwMode="auto">
                <a:xfrm>
                  <a:off x="740" y="3238"/>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1385" name="Group 61">
                <a:extLst>
                  <a:ext uri="{FF2B5EF4-FFF2-40B4-BE49-F238E27FC236}">
                    <a16:creationId xmlns:a16="http://schemas.microsoft.com/office/drawing/2014/main" id="{6013BA1D-3CD3-1F47-AD9B-3D59A9DDE8B6}"/>
                  </a:ext>
                </a:extLst>
              </p:cNvPr>
              <p:cNvGrpSpPr>
                <a:grpSpLocks/>
              </p:cNvGrpSpPr>
              <p:nvPr/>
            </p:nvGrpSpPr>
            <p:grpSpPr bwMode="auto">
              <a:xfrm>
                <a:off x="278" y="1034"/>
                <a:ext cx="437" cy="174"/>
                <a:chOff x="836" y="3305"/>
                <a:chExt cx="437" cy="174"/>
              </a:xfrm>
            </p:grpSpPr>
            <p:grpSp>
              <p:nvGrpSpPr>
                <p:cNvPr id="1403" name="Group 62">
                  <a:extLst>
                    <a:ext uri="{FF2B5EF4-FFF2-40B4-BE49-F238E27FC236}">
                      <a16:creationId xmlns:a16="http://schemas.microsoft.com/office/drawing/2014/main" id="{6CEF2A75-681B-8C4C-955C-38E74A0C84E1}"/>
                    </a:ext>
                  </a:extLst>
                </p:cNvPr>
                <p:cNvGrpSpPr>
                  <a:grpSpLocks/>
                </p:cNvGrpSpPr>
                <p:nvPr/>
              </p:nvGrpSpPr>
              <p:grpSpPr bwMode="auto">
                <a:xfrm>
                  <a:off x="890" y="3305"/>
                  <a:ext cx="383" cy="174"/>
                  <a:chOff x="844" y="3337"/>
                  <a:chExt cx="383" cy="174"/>
                </a:xfrm>
              </p:grpSpPr>
              <p:sp>
                <p:nvSpPr>
                  <p:cNvPr id="1407" name="Rectangle 63">
                    <a:extLst>
                      <a:ext uri="{FF2B5EF4-FFF2-40B4-BE49-F238E27FC236}">
                        <a16:creationId xmlns:a16="http://schemas.microsoft.com/office/drawing/2014/main" id="{DBE6CEFE-5986-FC41-BD88-53508D80B707}"/>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08" name="Text Box 64">
                    <a:extLst>
                      <a:ext uri="{FF2B5EF4-FFF2-40B4-BE49-F238E27FC236}">
                        <a16:creationId xmlns:a16="http://schemas.microsoft.com/office/drawing/2014/main" id="{F873FD65-9277-9F48-B366-2CA149BAA44B}"/>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1404" name="Group 65">
                  <a:extLst>
                    <a:ext uri="{FF2B5EF4-FFF2-40B4-BE49-F238E27FC236}">
                      <a16:creationId xmlns:a16="http://schemas.microsoft.com/office/drawing/2014/main" id="{5F0D09C2-937B-BE4D-8632-466777C6F956}"/>
                    </a:ext>
                  </a:extLst>
                </p:cNvPr>
                <p:cNvGrpSpPr>
                  <a:grpSpLocks/>
                </p:cNvGrpSpPr>
                <p:nvPr/>
              </p:nvGrpSpPr>
              <p:grpSpPr bwMode="auto">
                <a:xfrm>
                  <a:off x="836" y="3334"/>
                  <a:ext cx="354" cy="94"/>
                  <a:chOff x="836" y="3334"/>
                  <a:chExt cx="354" cy="94"/>
                </a:xfrm>
              </p:grpSpPr>
              <p:sp>
                <p:nvSpPr>
                  <p:cNvPr id="1405" name="Rectangle 66">
                    <a:extLst>
                      <a:ext uri="{FF2B5EF4-FFF2-40B4-BE49-F238E27FC236}">
                        <a16:creationId xmlns:a16="http://schemas.microsoft.com/office/drawing/2014/main" id="{A234A500-4F4E-8347-BC11-C205D6D42648}"/>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06" name="Rectangle 67">
                    <a:extLst>
                      <a:ext uri="{FF2B5EF4-FFF2-40B4-BE49-F238E27FC236}">
                        <a16:creationId xmlns:a16="http://schemas.microsoft.com/office/drawing/2014/main" id="{34061CA1-83C1-0845-AC89-87EDF10EADCA}"/>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grpSp>
            <p:nvGrpSpPr>
              <p:cNvPr id="1386" name="Group 68">
                <a:extLst>
                  <a:ext uri="{FF2B5EF4-FFF2-40B4-BE49-F238E27FC236}">
                    <a16:creationId xmlns:a16="http://schemas.microsoft.com/office/drawing/2014/main" id="{C84BC621-1C3C-0B4B-853A-68B80390C1C5}"/>
                  </a:ext>
                </a:extLst>
              </p:cNvPr>
              <p:cNvGrpSpPr>
                <a:grpSpLocks/>
              </p:cNvGrpSpPr>
              <p:nvPr/>
            </p:nvGrpSpPr>
            <p:grpSpPr bwMode="auto">
              <a:xfrm>
                <a:off x="165" y="1054"/>
                <a:ext cx="480" cy="112"/>
                <a:chOff x="627" y="3377"/>
                <a:chExt cx="480" cy="112"/>
              </a:xfrm>
            </p:grpSpPr>
            <p:sp>
              <p:nvSpPr>
                <p:cNvPr id="1401" name="Rectangle 69">
                  <a:extLst>
                    <a:ext uri="{FF2B5EF4-FFF2-40B4-BE49-F238E27FC236}">
                      <a16:creationId xmlns:a16="http://schemas.microsoft.com/office/drawing/2014/main" id="{D7F39EAB-B71F-7A48-AD96-C7BBDD18C31E}"/>
                    </a:ext>
                  </a:extLst>
                </p:cNvPr>
                <p:cNvSpPr>
                  <a:spLocks noChangeArrowheads="1"/>
                </p:cNvSpPr>
                <p:nvPr/>
              </p:nvSpPr>
              <p:spPr bwMode="auto">
                <a:xfrm>
                  <a:off x="636" y="3388"/>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02" name="Rectangle 70">
                  <a:extLst>
                    <a:ext uri="{FF2B5EF4-FFF2-40B4-BE49-F238E27FC236}">
                      <a16:creationId xmlns:a16="http://schemas.microsoft.com/office/drawing/2014/main" id="{F08D33AF-49EF-434E-A68B-C96EC0C0005A}"/>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1387" name="Group 71">
                <a:extLst>
                  <a:ext uri="{FF2B5EF4-FFF2-40B4-BE49-F238E27FC236}">
                    <a16:creationId xmlns:a16="http://schemas.microsoft.com/office/drawing/2014/main" id="{04899703-36DD-3748-90C7-050D5E980277}"/>
                  </a:ext>
                </a:extLst>
              </p:cNvPr>
              <p:cNvGrpSpPr>
                <a:grpSpLocks/>
              </p:cNvGrpSpPr>
              <p:nvPr/>
            </p:nvGrpSpPr>
            <p:grpSpPr bwMode="auto">
              <a:xfrm>
                <a:off x="42" y="1200"/>
                <a:ext cx="681" cy="174"/>
                <a:chOff x="504" y="3523"/>
                <a:chExt cx="681" cy="174"/>
              </a:xfrm>
            </p:grpSpPr>
            <p:grpSp>
              <p:nvGrpSpPr>
                <p:cNvPr id="1388" name="Group 72">
                  <a:extLst>
                    <a:ext uri="{FF2B5EF4-FFF2-40B4-BE49-F238E27FC236}">
                      <a16:creationId xmlns:a16="http://schemas.microsoft.com/office/drawing/2014/main" id="{7E58F00D-1CE7-8A4D-B79A-554376609030}"/>
                    </a:ext>
                  </a:extLst>
                </p:cNvPr>
                <p:cNvGrpSpPr>
                  <a:grpSpLocks/>
                </p:cNvGrpSpPr>
                <p:nvPr/>
              </p:nvGrpSpPr>
              <p:grpSpPr bwMode="auto">
                <a:xfrm>
                  <a:off x="623" y="3523"/>
                  <a:ext cx="550" cy="174"/>
                  <a:chOff x="723" y="3453"/>
                  <a:chExt cx="550" cy="174"/>
                </a:xfrm>
              </p:grpSpPr>
              <p:grpSp>
                <p:nvGrpSpPr>
                  <p:cNvPr id="1392" name="Group 73">
                    <a:extLst>
                      <a:ext uri="{FF2B5EF4-FFF2-40B4-BE49-F238E27FC236}">
                        <a16:creationId xmlns:a16="http://schemas.microsoft.com/office/drawing/2014/main" id="{47FB9C51-9E8B-C54D-8BC2-06F3F7531D23}"/>
                      </a:ext>
                    </a:extLst>
                  </p:cNvPr>
                  <p:cNvGrpSpPr>
                    <a:grpSpLocks/>
                  </p:cNvGrpSpPr>
                  <p:nvPr/>
                </p:nvGrpSpPr>
                <p:grpSpPr bwMode="auto">
                  <a:xfrm>
                    <a:off x="836" y="3453"/>
                    <a:ext cx="437" cy="174"/>
                    <a:chOff x="836" y="3305"/>
                    <a:chExt cx="437" cy="174"/>
                  </a:xfrm>
                </p:grpSpPr>
                <p:grpSp>
                  <p:nvGrpSpPr>
                    <p:cNvPr id="1395" name="Group 74">
                      <a:extLst>
                        <a:ext uri="{FF2B5EF4-FFF2-40B4-BE49-F238E27FC236}">
                          <a16:creationId xmlns:a16="http://schemas.microsoft.com/office/drawing/2014/main" id="{48D2FA83-60D9-974D-AE72-512FA05C5F12}"/>
                        </a:ext>
                      </a:extLst>
                    </p:cNvPr>
                    <p:cNvGrpSpPr>
                      <a:grpSpLocks/>
                    </p:cNvGrpSpPr>
                    <p:nvPr/>
                  </p:nvGrpSpPr>
                  <p:grpSpPr bwMode="auto">
                    <a:xfrm>
                      <a:off x="890" y="3305"/>
                      <a:ext cx="383" cy="174"/>
                      <a:chOff x="844" y="3337"/>
                      <a:chExt cx="383" cy="174"/>
                    </a:xfrm>
                  </p:grpSpPr>
                  <p:sp>
                    <p:nvSpPr>
                      <p:cNvPr id="1399" name="Rectangle 75">
                        <a:extLst>
                          <a:ext uri="{FF2B5EF4-FFF2-40B4-BE49-F238E27FC236}">
                            <a16:creationId xmlns:a16="http://schemas.microsoft.com/office/drawing/2014/main" id="{C706B9B5-94D1-6A44-BF66-EAAFDF0847F3}"/>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00" name="Text Box 76">
                        <a:extLst>
                          <a:ext uri="{FF2B5EF4-FFF2-40B4-BE49-F238E27FC236}">
                            <a16:creationId xmlns:a16="http://schemas.microsoft.com/office/drawing/2014/main" id="{8E295886-4BD5-BF47-9ED6-1EEA0855CE3B}"/>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1396" name="Group 77">
                      <a:extLst>
                        <a:ext uri="{FF2B5EF4-FFF2-40B4-BE49-F238E27FC236}">
                          <a16:creationId xmlns:a16="http://schemas.microsoft.com/office/drawing/2014/main" id="{85E5888E-ACDE-A048-AB52-2E52B5C83246}"/>
                        </a:ext>
                      </a:extLst>
                    </p:cNvPr>
                    <p:cNvGrpSpPr>
                      <a:grpSpLocks/>
                    </p:cNvGrpSpPr>
                    <p:nvPr/>
                  </p:nvGrpSpPr>
                  <p:grpSpPr bwMode="auto">
                    <a:xfrm>
                      <a:off x="836" y="3334"/>
                      <a:ext cx="354" cy="94"/>
                      <a:chOff x="836" y="3334"/>
                      <a:chExt cx="354" cy="94"/>
                    </a:xfrm>
                  </p:grpSpPr>
                  <p:sp>
                    <p:nvSpPr>
                      <p:cNvPr id="1397" name="Rectangle 78">
                        <a:extLst>
                          <a:ext uri="{FF2B5EF4-FFF2-40B4-BE49-F238E27FC236}">
                            <a16:creationId xmlns:a16="http://schemas.microsoft.com/office/drawing/2014/main" id="{82615A2A-BF17-5548-83C3-E32578EFC521}"/>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98" name="Rectangle 79">
                        <a:extLst>
                          <a:ext uri="{FF2B5EF4-FFF2-40B4-BE49-F238E27FC236}">
                            <a16:creationId xmlns:a16="http://schemas.microsoft.com/office/drawing/2014/main" id="{ABFA8DCD-5499-B64E-8686-262B4971AC6B}"/>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1393" name="Rectangle 80">
                    <a:extLst>
                      <a:ext uri="{FF2B5EF4-FFF2-40B4-BE49-F238E27FC236}">
                        <a16:creationId xmlns:a16="http://schemas.microsoft.com/office/drawing/2014/main" id="{015FD140-4F4A-084B-9FD6-3D1462B6F259}"/>
                      </a:ext>
                    </a:extLst>
                  </p:cNvPr>
                  <p:cNvSpPr>
                    <a:spLocks noChangeArrowheads="1"/>
                  </p:cNvSpPr>
                  <p:nvPr/>
                </p:nvSpPr>
                <p:spPr bwMode="auto">
                  <a:xfrm>
                    <a:off x="732" y="3484"/>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94" name="Rectangle 81">
                    <a:extLst>
                      <a:ext uri="{FF2B5EF4-FFF2-40B4-BE49-F238E27FC236}">
                        <a16:creationId xmlns:a16="http://schemas.microsoft.com/office/drawing/2014/main" id="{CD85327C-6314-844B-BBE0-5A87CB5E5DEE}"/>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389" name="Rectangle 82">
                  <a:extLst>
                    <a:ext uri="{FF2B5EF4-FFF2-40B4-BE49-F238E27FC236}">
                      <a16:creationId xmlns:a16="http://schemas.microsoft.com/office/drawing/2014/main" id="{9F39B614-10F1-774F-B244-ABEBE76703B0}"/>
                    </a:ext>
                  </a:extLst>
                </p:cNvPr>
                <p:cNvSpPr>
                  <a:spLocks noChangeArrowheads="1"/>
                </p:cNvSpPr>
                <p:nvPr/>
              </p:nvSpPr>
              <p:spPr bwMode="auto">
                <a:xfrm>
                  <a:off x="517" y="3545"/>
                  <a:ext cx="94"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90" name="Rectangle 83">
                  <a:extLst>
                    <a:ext uri="{FF2B5EF4-FFF2-40B4-BE49-F238E27FC236}">
                      <a16:creationId xmlns:a16="http://schemas.microsoft.com/office/drawing/2014/main" id="{BAC1E200-588A-7740-8C26-1A0629345FFA}"/>
                    </a:ext>
                  </a:extLst>
                </p:cNvPr>
                <p:cNvSpPr>
                  <a:spLocks noChangeArrowheads="1"/>
                </p:cNvSpPr>
                <p:nvPr/>
              </p:nvSpPr>
              <p:spPr bwMode="auto">
                <a:xfrm>
                  <a:off x="1115" y="3544"/>
                  <a:ext cx="60"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91" name="Rectangle 84">
                  <a:extLst>
                    <a:ext uri="{FF2B5EF4-FFF2-40B4-BE49-F238E27FC236}">
                      <a16:creationId xmlns:a16="http://schemas.microsoft.com/office/drawing/2014/main" id="{35F06EAB-82D2-C44A-A22C-E5918BD89C2B}"/>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1383" name="AutoShape 85">
              <a:extLst>
                <a:ext uri="{FF2B5EF4-FFF2-40B4-BE49-F238E27FC236}">
                  <a16:creationId xmlns:a16="http://schemas.microsoft.com/office/drawing/2014/main" id="{18F6CCEB-1F89-1545-BB6F-0DB94AEE141F}"/>
                </a:ext>
              </a:extLst>
            </p:cNvPr>
            <p:cNvSpPr>
              <a:spLocks noChangeArrowheads="1"/>
            </p:cNvSpPr>
            <p:nvPr/>
          </p:nvSpPr>
          <p:spPr bwMode="auto">
            <a:xfrm>
              <a:off x="384" y="744"/>
              <a:ext cx="240" cy="735"/>
            </a:xfrm>
            <a:prstGeom prst="downArrow">
              <a:avLst>
                <a:gd name="adj1" fmla="val 54167"/>
                <a:gd name="adj2" fmla="val 49170"/>
              </a:avLst>
            </a:prstGeom>
            <a:gradFill rotWithShape="1">
              <a:gsLst>
                <a:gs pos="0">
                  <a:srgbClr val="FF0000">
                    <a:alpha val="25000"/>
                  </a:srgbClr>
                </a:gs>
                <a:gs pos="100000">
                  <a:srgbClr val="FF0000">
                    <a:alpha val="25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1414" name="Group 86">
            <a:extLst>
              <a:ext uri="{FF2B5EF4-FFF2-40B4-BE49-F238E27FC236}">
                <a16:creationId xmlns:a16="http://schemas.microsoft.com/office/drawing/2014/main" id="{1121707D-6A2B-FD4D-8EA2-98FA9D7539B1}"/>
              </a:ext>
            </a:extLst>
          </p:cNvPr>
          <p:cNvGrpSpPr>
            <a:grpSpLocks/>
          </p:cNvGrpSpPr>
          <p:nvPr/>
        </p:nvGrpSpPr>
        <p:grpSpPr bwMode="auto">
          <a:xfrm>
            <a:off x="1157659" y="4453549"/>
            <a:ext cx="810815" cy="207169"/>
            <a:chOff x="504" y="3523"/>
            <a:chExt cx="681" cy="174"/>
          </a:xfrm>
        </p:grpSpPr>
        <p:grpSp>
          <p:nvGrpSpPr>
            <p:cNvPr id="1415" name="Group 87">
              <a:extLst>
                <a:ext uri="{FF2B5EF4-FFF2-40B4-BE49-F238E27FC236}">
                  <a16:creationId xmlns:a16="http://schemas.microsoft.com/office/drawing/2014/main" id="{A2C1DB06-344A-F84A-8733-AFC4DAEEE2B6}"/>
                </a:ext>
              </a:extLst>
            </p:cNvPr>
            <p:cNvGrpSpPr>
              <a:grpSpLocks/>
            </p:cNvGrpSpPr>
            <p:nvPr/>
          </p:nvGrpSpPr>
          <p:grpSpPr bwMode="auto">
            <a:xfrm>
              <a:off x="623" y="3523"/>
              <a:ext cx="550" cy="174"/>
              <a:chOff x="723" y="3453"/>
              <a:chExt cx="550" cy="174"/>
            </a:xfrm>
          </p:grpSpPr>
          <p:grpSp>
            <p:nvGrpSpPr>
              <p:cNvPr id="1419" name="Group 88">
                <a:extLst>
                  <a:ext uri="{FF2B5EF4-FFF2-40B4-BE49-F238E27FC236}">
                    <a16:creationId xmlns:a16="http://schemas.microsoft.com/office/drawing/2014/main" id="{1312DEFD-37D9-EE4B-A6D8-BD394BBA836C}"/>
                  </a:ext>
                </a:extLst>
              </p:cNvPr>
              <p:cNvGrpSpPr>
                <a:grpSpLocks/>
              </p:cNvGrpSpPr>
              <p:nvPr/>
            </p:nvGrpSpPr>
            <p:grpSpPr bwMode="auto">
              <a:xfrm>
                <a:off x="836" y="3453"/>
                <a:ext cx="437" cy="174"/>
                <a:chOff x="836" y="3305"/>
                <a:chExt cx="437" cy="174"/>
              </a:xfrm>
            </p:grpSpPr>
            <p:grpSp>
              <p:nvGrpSpPr>
                <p:cNvPr id="1422" name="Group 89">
                  <a:extLst>
                    <a:ext uri="{FF2B5EF4-FFF2-40B4-BE49-F238E27FC236}">
                      <a16:creationId xmlns:a16="http://schemas.microsoft.com/office/drawing/2014/main" id="{AEB25500-68E5-0242-9D77-3AB457942928}"/>
                    </a:ext>
                  </a:extLst>
                </p:cNvPr>
                <p:cNvGrpSpPr>
                  <a:grpSpLocks/>
                </p:cNvGrpSpPr>
                <p:nvPr/>
              </p:nvGrpSpPr>
              <p:grpSpPr bwMode="auto">
                <a:xfrm>
                  <a:off x="890" y="3305"/>
                  <a:ext cx="383" cy="174"/>
                  <a:chOff x="844" y="3337"/>
                  <a:chExt cx="383" cy="174"/>
                </a:xfrm>
              </p:grpSpPr>
              <p:sp>
                <p:nvSpPr>
                  <p:cNvPr id="1426" name="Rectangle 90">
                    <a:extLst>
                      <a:ext uri="{FF2B5EF4-FFF2-40B4-BE49-F238E27FC236}">
                        <a16:creationId xmlns:a16="http://schemas.microsoft.com/office/drawing/2014/main" id="{CB0F42B1-EC5C-574D-9996-8915E9E894EA}"/>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27" name="Text Box 91">
                    <a:extLst>
                      <a:ext uri="{FF2B5EF4-FFF2-40B4-BE49-F238E27FC236}">
                        <a16:creationId xmlns:a16="http://schemas.microsoft.com/office/drawing/2014/main" id="{6165BC0B-3830-4148-A011-D65290E5C6BF}"/>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1423" name="Group 92">
                  <a:extLst>
                    <a:ext uri="{FF2B5EF4-FFF2-40B4-BE49-F238E27FC236}">
                      <a16:creationId xmlns:a16="http://schemas.microsoft.com/office/drawing/2014/main" id="{B01FA0AD-A461-A44D-B4B2-0EDADF7B1DA4}"/>
                    </a:ext>
                  </a:extLst>
                </p:cNvPr>
                <p:cNvGrpSpPr>
                  <a:grpSpLocks/>
                </p:cNvGrpSpPr>
                <p:nvPr/>
              </p:nvGrpSpPr>
              <p:grpSpPr bwMode="auto">
                <a:xfrm>
                  <a:off x="836" y="3334"/>
                  <a:ext cx="354" cy="94"/>
                  <a:chOff x="836" y="3334"/>
                  <a:chExt cx="354" cy="94"/>
                </a:xfrm>
              </p:grpSpPr>
              <p:sp>
                <p:nvSpPr>
                  <p:cNvPr id="1424" name="Rectangle 93">
                    <a:extLst>
                      <a:ext uri="{FF2B5EF4-FFF2-40B4-BE49-F238E27FC236}">
                        <a16:creationId xmlns:a16="http://schemas.microsoft.com/office/drawing/2014/main" id="{4D064722-2CBE-3641-B55B-92EDAA8C22B2}"/>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25" name="Rectangle 94">
                    <a:extLst>
                      <a:ext uri="{FF2B5EF4-FFF2-40B4-BE49-F238E27FC236}">
                        <a16:creationId xmlns:a16="http://schemas.microsoft.com/office/drawing/2014/main" id="{F1511B9F-2E7C-3340-9B5D-715334B1E142}"/>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1420" name="Rectangle 95">
                <a:extLst>
                  <a:ext uri="{FF2B5EF4-FFF2-40B4-BE49-F238E27FC236}">
                    <a16:creationId xmlns:a16="http://schemas.microsoft.com/office/drawing/2014/main" id="{41BCDDA4-7173-A74D-8FA7-8C15DAE22791}"/>
                  </a:ext>
                </a:extLst>
              </p:cNvPr>
              <p:cNvSpPr>
                <a:spLocks noChangeArrowheads="1"/>
              </p:cNvSpPr>
              <p:nvPr/>
            </p:nvSpPr>
            <p:spPr bwMode="auto">
              <a:xfrm>
                <a:off x="732" y="3484"/>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21" name="Rectangle 96">
                <a:extLst>
                  <a:ext uri="{FF2B5EF4-FFF2-40B4-BE49-F238E27FC236}">
                    <a16:creationId xmlns:a16="http://schemas.microsoft.com/office/drawing/2014/main" id="{A5C31A2B-EA68-F74D-B78C-D518F2DD9D45}"/>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416" name="Rectangle 97">
              <a:extLst>
                <a:ext uri="{FF2B5EF4-FFF2-40B4-BE49-F238E27FC236}">
                  <a16:creationId xmlns:a16="http://schemas.microsoft.com/office/drawing/2014/main" id="{45277660-2427-0E41-B8FB-470007D3DDCC}"/>
                </a:ext>
              </a:extLst>
            </p:cNvPr>
            <p:cNvSpPr>
              <a:spLocks noChangeArrowheads="1"/>
            </p:cNvSpPr>
            <p:nvPr/>
          </p:nvSpPr>
          <p:spPr bwMode="auto">
            <a:xfrm>
              <a:off x="517" y="3545"/>
              <a:ext cx="94"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17" name="Rectangle 98">
              <a:extLst>
                <a:ext uri="{FF2B5EF4-FFF2-40B4-BE49-F238E27FC236}">
                  <a16:creationId xmlns:a16="http://schemas.microsoft.com/office/drawing/2014/main" id="{A8CCFB6D-51C0-524A-A7B0-AA5FCE9A99BE}"/>
                </a:ext>
              </a:extLst>
            </p:cNvPr>
            <p:cNvSpPr>
              <a:spLocks noChangeArrowheads="1"/>
            </p:cNvSpPr>
            <p:nvPr/>
          </p:nvSpPr>
          <p:spPr bwMode="auto">
            <a:xfrm>
              <a:off x="1115" y="3544"/>
              <a:ext cx="60"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18" name="Rectangle 99">
              <a:extLst>
                <a:ext uri="{FF2B5EF4-FFF2-40B4-BE49-F238E27FC236}">
                  <a16:creationId xmlns:a16="http://schemas.microsoft.com/office/drawing/2014/main" id="{7F631B2E-9741-3944-A05C-0F55FF830640}"/>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1428" name="Group 100">
            <a:extLst>
              <a:ext uri="{FF2B5EF4-FFF2-40B4-BE49-F238E27FC236}">
                <a16:creationId xmlns:a16="http://schemas.microsoft.com/office/drawing/2014/main" id="{ADC383E7-C8CF-9D44-A628-045BE938429B}"/>
              </a:ext>
            </a:extLst>
          </p:cNvPr>
          <p:cNvGrpSpPr>
            <a:grpSpLocks/>
          </p:cNvGrpSpPr>
          <p:nvPr/>
        </p:nvGrpSpPr>
        <p:grpSpPr bwMode="auto">
          <a:xfrm>
            <a:off x="1929184" y="3577245"/>
            <a:ext cx="987028" cy="1015604"/>
            <a:chOff x="931" y="1941"/>
            <a:chExt cx="829" cy="853"/>
          </a:xfrm>
        </p:grpSpPr>
        <p:sp>
          <p:nvSpPr>
            <p:cNvPr id="1429" name="Freeform 101">
              <a:extLst>
                <a:ext uri="{FF2B5EF4-FFF2-40B4-BE49-F238E27FC236}">
                  <a16:creationId xmlns:a16="http://schemas.microsoft.com/office/drawing/2014/main" id="{25A378C0-55B4-C94D-A623-59A8EB7F0073}"/>
                </a:ext>
              </a:extLst>
            </p:cNvPr>
            <p:cNvSpPr>
              <a:spLocks/>
            </p:cNvSpPr>
            <p:nvPr/>
          </p:nvSpPr>
          <p:spPr bwMode="auto">
            <a:xfrm>
              <a:off x="1424" y="1965"/>
              <a:ext cx="336" cy="801"/>
            </a:xfrm>
            <a:custGeom>
              <a:avLst/>
              <a:gdLst>
                <a:gd name="T0" fmla="*/ 1 w 551"/>
                <a:gd name="T1" fmla="*/ 0 h 801"/>
                <a:gd name="T2" fmla="*/ 1 w 551"/>
                <a:gd name="T3" fmla="*/ 402 h 801"/>
                <a:gd name="T4" fmla="*/ 1 w 551"/>
                <a:gd name="T5" fmla="*/ 801 h 801"/>
                <a:gd name="T6" fmla="*/ 1 w 551"/>
                <a:gd name="T7" fmla="*/ 535 h 801"/>
                <a:gd name="T8" fmla="*/ 0 w 551"/>
                <a:gd name="T9" fmla="*/ 371 h 801"/>
                <a:gd name="T10" fmla="*/ 1 w 551"/>
                <a:gd name="T11" fmla="*/ 0 h 801"/>
                <a:gd name="T12" fmla="*/ 0 60000 65536"/>
                <a:gd name="T13" fmla="*/ 0 60000 65536"/>
                <a:gd name="T14" fmla="*/ 0 60000 65536"/>
                <a:gd name="T15" fmla="*/ 0 60000 65536"/>
                <a:gd name="T16" fmla="*/ 0 60000 65536"/>
                <a:gd name="T17" fmla="*/ 0 60000 65536"/>
                <a:gd name="T18" fmla="*/ 0 w 551"/>
                <a:gd name="T19" fmla="*/ 0 h 801"/>
                <a:gd name="T20" fmla="*/ 551 w 551"/>
                <a:gd name="T21" fmla="*/ 801 h 801"/>
              </a:gdLst>
              <a:ahLst/>
              <a:cxnLst>
                <a:cxn ang="T12">
                  <a:pos x="T0" y="T1"/>
                </a:cxn>
                <a:cxn ang="T13">
                  <a:pos x="T2" y="T3"/>
                </a:cxn>
                <a:cxn ang="T14">
                  <a:pos x="T4" y="T5"/>
                </a:cxn>
                <a:cxn ang="T15">
                  <a:pos x="T6" y="T7"/>
                </a:cxn>
                <a:cxn ang="T16">
                  <a:pos x="T8" y="T9"/>
                </a:cxn>
                <a:cxn ang="T17">
                  <a:pos x="T10" y="T11"/>
                </a:cxn>
              </a:cxnLst>
              <a:rect l="T18" t="T19" r="T20" b="T21"/>
              <a:pathLst>
                <a:path w="551" h="801">
                  <a:moveTo>
                    <a:pt x="14" y="0"/>
                  </a:moveTo>
                  <a:lnTo>
                    <a:pt x="551" y="402"/>
                  </a:lnTo>
                  <a:lnTo>
                    <a:pt x="6" y="801"/>
                  </a:lnTo>
                  <a:lnTo>
                    <a:pt x="13" y="535"/>
                  </a:lnTo>
                  <a:lnTo>
                    <a:pt x="0" y="371"/>
                  </a:lnTo>
                  <a:lnTo>
                    <a:pt x="14" y="0"/>
                  </a:lnTo>
                  <a:close/>
                </a:path>
              </a:pathLst>
            </a:custGeom>
            <a:gradFill rotWithShape="1">
              <a:gsLst>
                <a:gs pos="0">
                  <a:srgbClr val="FFFFFF">
                    <a:alpha val="65999"/>
                  </a:srgbClr>
                </a:gs>
                <a:gs pos="100000">
                  <a:srgbClr val="000099">
                    <a:alpha val="65999"/>
                  </a:srgbClr>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kern="0" dirty="0">
                <a:solidFill>
                  <a:srgbClr val="000000"/>
                </a:solidFill>
              </a:endParaRPr>
            </a:p>
          </p:txBody>
        </p:sp>
        <p:grpSp>
          <p:nvGrpSpPr>
            <p:cNvPr id="1430" name="Group 102">
              <a:extLst>
                <a:ext uri="{FF2B5EF4-FFF2-40B4-BE49-F238E27FC236}">
                  <a16:creationId xmlns:a16="http://schemas.microsoft.com/office/drawing/2014/main" id="{9F804CDB-1EC2-BD48-82BF-534976C2A4BE}"/>
                </a:ext>
              </a:extLst>
            </p:cNvPr>
            <p:cNvGrpSpPr>
              <a:grpSpLocks/>
            </p:cNvGrpSpPr>
            <p:nvPr/>
          </p:nvGrpSpPr>
          <p:grpSpPr bwMode="auto">
            <a:xfrm>
              <a:off x="931" y="1941"/>
              <a:ext cx="523" cy="853"/>
              <a:chOff x="569" y="2954"/>
              <a:chExt cx="523" cy="853"/>
            </a:xfrm>
          </p:grpSpPr>
          <p:sp>
            <p:nvSpPr>
              <p:cNvPr id="1431" name="Rectangle 103">
                <a:extLst>
                  <a:ext uri="{FF2B5EF4-FFF2-40B4-BE49-F238E27FC236}">
                    <a16:creationId xmlns:a16="http://schemas.microsoft.com/office/drawing/2014/main" id="{F5FF0A09-50BB-5A47-BC95-9E36D622C934}"/>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32" name="Text Box 104">
                <a:extLst>
                  <a:ext uri="{FF2B5EF4-FFF2-40B4-BE49-F238E27FC236}">
                    <a16:creationId xmlns:a16="http://schemas.microsoft.com/office/drawing/2014/main" id="{983732BD-F5E1-A040-B8D1-C73DABEAF53B}"/>
                  </a:ext>
                </a:extLst>
              </p:cNvPr>
              <p:cNvSpPr txBox="1">
                <a:spLocks noChangeArrowheads="1"/>
              </p:cNvSpPr>
              <p:nvPr/>
            </p:nvSpPr>
            <p:spPr bwMode="auto">
              <a:xfrm>
                <a:off x="572" y="2954"/>
                <a:ext cx="520" cy="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200" kern="0" dirty="0">
                    <a:solidFill>
                      <a:srgbClr val="000000"/>
                    </a:solidFill>
                  </a:rPr>
                  <a:t>DHCP</a:t>
                </a:r>
              </a:p>
              <a:p>
                <a:pPr algn="ctr" defTabSz="685800">
                  <a:defRPr/>
                </a:pPr>
                <a:r>
                  <a:rPr lang="en-US" altLang="en-US" sz="1200" kern="0" dirty="0">
                    <a:solidFill>
                      <a:srgbClr val="000000"/>
                    </a:solidFill>
                  </a:rPr>
                  <a:t>UDP</a:t>
                </a:r>
              </a:p>
              <a:p>
                <a:pPr algn="ctr" defTabSz="685800">
                  <a:defRPr/>
                </a:pPr>
                <a:r>
                  <a:rPr lang="en-US" altLang="en-US" sz="1200" kern="0" dirty="0">
                    <a:solidFill>
                      <a:srgbClr val="000000"/>
                    </a:solidFill>
                  </a:rPr>
                  <a:t>IP</a:t>
                </a:r>
              </a:p>
              <a:p>
                <a:pPr algn="ctr" defTabSz="685800">
                  <a:defRPr/>
                </a:pPr>
                <a:r>
                  <a:rPr lang="en-US" altLang="en-US" sz="1200" kern="0" dirty="0">
                    <a:solidFill>
                      <a:srgbClr val="000000"/>
                    </a:solidFill>
                  </a:rPr>
                  <a:t>Eth</a:t>
                </a:r>
              </a:p>
              <a:p>
                <a:pPr algn="ctr" defTabSz="685800">
                  <a:defRPr/>
                </a:pPr>
                <a:r>
                  <a:rPr lang="en-US" altLang="en-US" sz="1200" kern="0" dirty="0">
                    <a:solidFill>
                      <a:srgbClr val="000000"/>
                    </a:solidFill>
                  </a:rPr>
                  <a:t>Phy</a:t>
                </a:r>
              </a:p>
            </p:txBody>
          </p:sp>
          <p:sp>
            <p:nvSpPr>
              <p:cNvPr id="1433" name="Line 105">
                <a:extLst>
                  <a:ext uri="{FF2B5EF4-FFF2-40B4-BE49-F238E27FC236}">
                    <a16:creationId xmlns:a16="http://schemas.microsoft.com/office/drawing/2014/main" id="{ABFD8491-C1C6-2548-A702-B2F9CB59E807}"/>
                  </a:ext>
                </a:extLst>
              </p:cNvPr>
              <p:cNvSpPr>
                <a:spLocks noChangeShapeType="1"/>
              </p:cNvSpPr>
              <p:nvPr/>
            </p:nvSpPr>
            <p:spPr bwMode="auto">
              <a:xfrm>
                <a:off x="578" y="3130"/>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1434" name="Line 106">
                <a:extLst>
                  <a:ext uri="{FF2B5EF4-FFF2-40B4-BE49-F238E27FC236}">
                    <a16:creationId xmlns:a16="http://schemas.microsoft.com/office/drawing/2014/main" id="{21CDF7E2-6761-3C43-9832-7D888CA6E260}"/>
                  </a:ext>
                </a:extLst>
              </p:cNvPr>
              <p:cNvSpPr>
                <a:spLocks noChangeShapeType="1"/>
              </p:cNvSpPr>
              <p:nvPr/>
            </p:nvSpPr>
            <p:spPr bwMode="auto">
              <a:xfrm>
                <a:off x="575" y="3289"/>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1435" name="Line 107">
                <a:extLst>
                  <a:ext uri="{FF2B5EF4-FFF2-40B4-BE49-F238E27FC236}">
                    <a16:creationId xmlns:a16="http://schemas.microsoft.com/office/drawing/2014/main" id="{D7B9C5E9-14E3-B44B-841F-C2912C7A4ACA}"/>
                  </a:ext>
                </a:extLst>
              </p:cNvPr>
              <p:cNvSpPr>
                <a:spLocks noChangeShapeType="1"/>
              </p:cNvSpPr>
              <p:nvPr/>
            </p:nvSpPr>
            <p:spPr bwMode="auto">
              <a:xfrm>
                <a:off x="572" y="3448"/>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1436" name="Line 108">
                <a:extLst>
                  <a:ext uri="{FF2B5EF4-FFF2-40B4-BE49-F238E27FC236}">
                    <a16:creationId xmlns:a16="http://schemas.microsoft.com/office/drawing/2014/main" id="{47E7EAA2-A0DE-5D4C-8841-CCE69E254183}"/>
                  </a:ext>
                </a:extLst>
              </p:cNvPr>
              <p:cNvSpPr>
                <a:spLocks noChangeShapeType="1"/>
              </p:cNvSpPr>
              <p:nvPr/>
            </p:nvSpPr>
            <p:spPr bwMode="auto">
              <a:xfrm>
                <a:off x="569" y="3607"/>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grpSp>
      </p:grpSp>
      <p:grpSp>
        <p:nvGrpSpPr>
          <p:cNvPr id="1437" name="Group 145">
            <a:extLst>
              <a:ext uri="{FF2B5EF4-FFF2-40B4-BE49-F238E27FC236}">
                <a16:creationId xmlns:a16="http://schemas.microsoft.com/office/drawing/2014/main" id="{EB3EB365-6337-534D-85A9-F5BF2F50279A}"/>
              </a:ext>
            </a:extLst>
          </p:cNvPr>
          <p:cNvGrpSpPr>
            <a:grpSpLocks/>
          </p:cNvGrpSpPr>
          <p:nvPr/>
        </p:nvGrpSpPr>
        <p:grpSpPr bwMode="auto">
          <a:xfrm>
            <a:off x="1423168" y="3658218"/>
            <a:ext cx="456009" cy="207169"/>
            <a:chOff x="844" y="3337"/>
            <a:chExt cx="383" cy="174"/>
          </a:xfrm>
        </p:grpSpPr>
        <p:sp>
          <p:nvSpPr>
            <p:cNvPr id="1438" name="Rectangle 146">
              <a:extLst>
                <a:ext uri="{FF2B5EF4-FFF2-40B4-BE49-F238E27FC236}">
                  <a16:creationId xmlns:a16="http://schemas.microsoft.com/office/drawing/2014/main" id="{C1EDFB31-2B54-7F4B-B7B3-2B74EB1F1B4C}"/>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39" name="Text Box 147">
              <a:extLst>
                <a:ext uri="{FF2B5EF4-FFF2-40B4-BE49-F238E27FC236}">
                  <a16:creationId xmlns:a16="http://schemas.microsoft.com/office/drawing/2014/main" id="{26739997-45D8-6E4B-A423-C6DCAC5970FB}"/>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1440" name="Group 44">
            <a:extLst>
              <a:ext uri="{FF2B5EF4-FFF2-40B4-BE49-F238E27FC236}">
                <a16:creationId xmlns:a16="http://schemas.microsoft.com/office/drawing/2014/main" id="{5E864C9E-2FFD-CA43-B79D-BEBA724A7561}"/>
              </a:ext>
            </a:extLst>
          </p:cNvPr>
          <p:cNvGrpSpPr>
            <a:grpSpLocks/>
          </p:cNvGrpSpPr>
          <p:nvPr/>
        </p:nvGrpSpPr>
        <p:grpSpPr bwMode="auto">
          <a:xfrm>
            <a:off x="1717253" y="2085390"/>
            <a:ext cx="732234" cy="1095375"/>
            <a:chOff x="651" y="681"/>
            <a:chExt cx="615" cy="920"/>
          </a:xfrm>
        </p:grpSpPr>
        <p:sp>
          <p:nvSpPr>
            <p:cNvPr id="1441" name="Freeform 45">
              <a:extLst>
                <a:ext uri="{FF2B5EF4-FFF2-40B4-BE49-F238E27FC236}">
                  <a16:creationId xmlns:a16="http://schemas.microsoft.com/office/drawing/2014/main" id="{3296C3CB-ADF7-C543-8BF9-E52EC508CB9C}"/>
                </a:ext>
              </a:extLst>
            </p:cNvPr>
            <p:cNvSpPr>
              <a:spLocks/>
            </p:cNvSpPr>
            <p:nvPr/>
          </p:nvSpPr>
          <p:spPr bwMode="auto">
            <a:xfrm>
              <a:off x="662" y="698"/>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T15" fmla="*/ 0 w 604"/>
                <a:gd name="T16" fmla="*/ 0 h 903"/>
                <a:gd name="T17" fmla="*/ 604 w 604"/>
                <a:gd name="T18" fmla="*/ 903 h 903"/>
              </a:gdLst>
              <a:ahLst/>
              <a:cxnLst>
                <a:cxn ang="T10">
                  <a:pos x="T0" y="T1"/>
                </a:cxn>
                <a:cxn ang="T11">
                  <a:pos x="T2" y="T3"/>
                </a:cxn>
                <a:cxn ang="T12">
                  <a:pos x="T4" y="T5"/>
                </a:cxn>
                <a:cxn ang="T13">
                  <a:pos x="T6" y="T7"/>
                </a:cxn>
                <a:cxn ang="T14">
                  <a:pos x="T8" y="T9"/>
                </a:cxn>
              </a:cxnLst>
              <a:rect l="T15" t="T16" r="T17" b="T18"/>
              <a:pathLst>
                <a:path w="604" h="903">
                  <a:moveTo>
                    <a:pt x="496" y="0"/>
                  </a:moveTo>
                  <a:lnTo>
                    <a:pt x="604" y="903"/>
                  </a:lnTo>
                  <a:lnTo>
                    <a:pt x="0" y="788"/>
                  </a:lnTo>
                  <a:lnTo>
                    <a:pt x="456" y="750"/>
                  </a:lnTo>
                  <a:lnTo>
                    <a:pt x="496" y="0"/>
                  </a:lnTo>
                  <a:close/>
                </a:path>
              </a:pathLst>
            </a:custGeom>
            <a:gradFill rotWithShape="1">
              <a:gsLst>
                <a:gs pos="0">
                  <a:srgbClr val="FFFFFF">
                    <a:alpha val="65999"/>
                  </a:srgbClr>
                </a:gs>
                <a:gs pos="100000">
                  <a:srgbClr val="000099">
                    <a:alpha val="65999"/>
                  </a:srgbClr>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kern="0" dirty="0">
                <a:solidFill>
                  <a:srgbClr val="000000"/>
                </a:solidFill>
              </a:endParaRPr>
            </a:p>
          </p:txBody>
        </p:sp>
        <p:grpSp>
          <p:nvGrpSpPr>
            <p:cNvPr id="1442" name="Group 46">
              <a:extLst>
                <a:ext uri="{FF2B5EF4-FFF2-40B4-BE49-F238E27FC236}">
                  <a16:creationId xmlns:a16="http://schemas.microsoft.com/office/drawing/2014/main" id="{C9BF4AA6-9994-8F41-A05D-CBC5A1C1712B}"/>
                </a:ext>
              </a:extLst>
            </p:cNvPr>
            <p:cNvGrpSpPr>
              <a:grpSpLocks/>
            </p:cNvGrpSpPr>
            <p:nvPr/>
          </p:nvGrpSpPr>
          <p:grpSpPr bwMode="auto">
            <a:xfrm>
              <a:off x="651" y="681"/>
              <a:ext cx="523" cy="853"/>
              <a:chOff x="569" y="2954"/>
              <a:chExt cx="523" cy="853"/>
            </a:xfrm>
          </p:grpSpPr>
          <p:sp>
            <p:nvSpPr>
              <p:cNvPr id="1443" name="Rectangle 47">
                <a:extLst>
                  <a:ext uri="{FF2B5EF4-FFF2-40B4-BE49-F238E27FC236}">
                    <a16:creationId xmlns:a16="http://schemas.microsoft.com/office/drawing/2014/main" id="{44C90133-F644-3144-9C8C-A31E26B37699}"/>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algn="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44" name="Text Box 48">
                <a:extLst>
                  <a:ext uri="{FF2B5EF4-FFF2-40B4-BE49-F238E27FC236}">
                    <a16:creationId xmlns:a16="http://schemas.microsoft.com/office/drawing/2014/main" id="{D1000159-7078-524B-ABE3-6A5E79D44D1E}"/>
                  </a:ext>
                </a:extLst>
              </p:cNvPr>
              <p:cNvSpPr txBox="1">
                <a:spLocks noChangeArrowheads="1"/>
              </p:cNvSpPr>
              <p:nvPr/>
            </p:nvSpPr>
            <p:spPr bwMode="auto">
              <a:xfrm>
                <a:off x="572" y="2954"/>
                <a:ext cx="520" cy="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200" kern="0" dirty="0">
                    <a:solidFill>
                      <a:srgbClr val="000000"/>
                    </a:solidFill>
                  </a:rPr>
                  <a:t>DHCP</a:t>
                </a:r>
              </a:p>
              <a:p>
                <a:pPr algn="ctr" defTabSz="685800">
                  <a:defRPr/>
                </a:pPr>
                <a:r>
                  <a:rPr lang="en-US" altLang="en-US" sz="1200" kern="0" dirty="0">
                    <a:solidFill>
                      <a:srgbClr val="000000"/>
                    </a:solidFill>
                  </a:rPr>
                  <a:t>UDP</a:t>
                </a:r>
              </a:p>
              <a:p>
                <a:pPr algn="ctr" defTabSz="685800">
                  <a:defRPr/>
                </a:pPr>
                <a:r>
                  <a:rPr lang="en-US" altLang="en-US" sz="1200" kern="0" dirty="0">
                    <a:solidFill>
                      <a:srgbClr val="000000"/>
                    </a:solidFill>
                  </a:rPr>
                  <a:t>IP</a:t>
                </a:r>
              </a:p>
              <a:p>
                <a:pPr algn="ctr" defTabSz="685800">
                  <a:defRPr/>
                </a:pPr>
                <a:r>
                  <a:rPr lang="en-US" altLang="en-US" sz="1200" kern="0" dirty="0">
                    <a:solidFill>
                      <a:srgbClr val="000000"/>
                    </a:solidFill>
                  </a:rPr>
                  <a:t>Eth</a:t>
                </a:r>
              </a:p>
              <a:p>
                <a:pPr algn="ctr" defTabSz="685800">
                  <a:defRPr/>
                </a:pPr>
                <a:r>
                  <a:rPr lang="en-US" altLang="en-US" sz="1200" kern="0" dirty="0">
                    <a:solidFill>
                      <a:srgbClr val="000000"/>
                    </a:solidFill>
                  </a:rPr>
                  <a:t>Phy</a:t>
                </a:r>
              </a:p>
            </p:txBody>
          </p:sp>
          <p:sp>
            <p:nvSpPr>
              <p:cNvPr id="1445" name="Line 49">
                <a:extLst>
                  <a:ext uri="{FF2B5EF4-FFF2-40B4-BE49-F238E27FC236}">
                    <a16:creationId xmlns:a16="http://schemas.microsoft.com/office/drawing/2014/main" id="{D2C8C2BD-FE00-FA4A-A35B-038AF71B3EB1}"/>
                  </a:ext>
                </a:extLst>
              </p:cNvPr>
              <p:cNvSpPr>
                <a:spLocks noChangeShapeType="1"/>
              </p:cNvSpPr>
              <p:nvPr/>
            </p:nvSpPr>
            <p:spPr bwMode="auto">
              <a:xfrm>
                <a:off x="578" y="3130"/>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1446" name="Line 50">
                <a:extLst>
                  <a:ext uri="{FF2B5EF4-FFF2-40B4-BE49-F238E27FC236}">
                    <a16:creationId xmlns:a16="http://schemas.microsoft.com/office/drawing/2014/main" id="{D202699A-F155-FF4E-87CC-CF23F4517C5D}"/>
                  </a:ext>
                </a:extLst>
              </p:cNvPr>
              <p:cNvSpPr>
                <a:spLocks noChangeShapeType="1"/>
              </p:cNvSpPr>
              <p:nvPr/>
            </p:nvSpPr>
            <p:spPr bwMode="auto">
              <a:xfrm>
                <a:off x="575" y="3289"/>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1447" name="Line 51">
                <a:extLst>
                  <a:ext uri="{FF2B5EF4-FFF2-40B4-BE49-F238E27FC236}">
                    <a16:creationId xmlns:a16="http://schemas.microsoft.com/office/drawing/2014/main" id="{6E937A07-7E1F-304E-B1B7-8202278EFAE7}"/>
                  </a:ext>
                </a:extLst>
              </p:cNvPr>
              <p:cNvSpPr>
                <a:spLocks noChangeShapeType="1"/>
              </p:cNvSpPr>
              <p:nvPr/>
            </p:nvSpPr>
            <p:spPr bwMode="auto">
              <a:xfrm>
                <a:off x="572" y="3448"/>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1448" name="Line 52">
                <a:extLst>
                  <a:ext uri="{FF2B5EF4-FFF2-40B4-BE49-F238E27FC236}">
                    <a16:creationId xmlns:a16="http://schemas.microsoft.com/office/drawing/2014/main" id="{55F43419-46AF-8641-A8A6-FD4FF58142C2}"/>
                  </a:ext>
                </a:extLst>
              </p:cNvPr>
              <p:cNvSpPr>
                <a:spLocks noChangeShapeType="1"/>
              </p:cNvSpPr>
              <p:nvPr/>
            </p:nvSpPr>
            <p:spPr bwMode="auto">
              <a:xfrm>
                <a:off x="569" y="3607"/>
                <a:ext cx="4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grpSp>
      </p:grpSp>
      <p:grpSp>
        <p:nvGrpSpPr>
          <p:cNvPr id="1449" name="Group 109">
            <a:extLst>
              <a:ext uri="{FF2B5EF4-FFF2-40B4-BE49-F238E27FC236}">
                <a16:creationId xmlns:a16="http://schemas.microsoft.com/office/drawing/2014/main" id="{58FE9FE4-9009-F540-9B98-9736A8E284E0}"/>
              </a:ext>
            </a:extLst>
          </p:cNvPr>
          <p:cNvGrpSpPr>
            <a:grpSpLocks/>
          </p:cNvGrpSpPr>
          <p:nvPr/>
        </p:nvGrpSpPr>
        <p:grpSpPr bwMode="auto">
          <a:xfrm>
            <a:off x="874291" y="2002047"/>
            <a:ext cx="810815" cy="913210"/>
            <a:chOff x="1404" y="3105"/>
            <a:chExt cx="681" cy="767"/>
          </a:xfrm>
        </p:grpSpPr>
        <p:grpSp>
          <p:nvGrpSpPr>
            <p:cNvPr id="1450" name="Group 110">
              <a:extLst>
                <a:ext uri="{FF2B5EF4-FFF2-40B4-BE49-F238E27FC236}">
                  <a16:creationId xmlns:a16="http://schemas.microsoft.com/office/drawing/2014/main" id="{CDAA7254-E209-2444-9E44-2A311BC72FC2}"/>
                </a:ext>
              </a:extLst>
            </p:cNvPr>
            <p:cNvGrpSpPr>
              <a:grpSpLocks/>
            </p:cNvGrpSpPr>
            <p:nvPr/>
          </p:nvGrpSpPr>
          <p:grpSpPr bwMode="auto">
            <a:xfrm>
              <a:off x="1404" y="3355"/>
              <a:ext cx="681" cy="488"/>
              <a:chOff x="42" y="886"/>
              <a:chExt cx="681" cy="488"/>
            </a:xfrm>
          </p:grpSpPr>
          <p:grpSp>
            <p:nvGrpSpPr>
              <p:cNvPr id="1455" name="Group 111">
                <a:extLst>
                  <a:ext uri="{FF2B5EF4-FFF2-40B4-BE49-F238E27FC236}">
                    <a16:creationId xmlns:a16="http://schemas.microsoft.com/office/drawing/2014/main" id="{7AA66DC0-034B-A34B-AAEF-041ADBFE2FBD}"/>
                  </a:ext>
                </a:extLst>
              </p:cNvPr>
              <p:cNvGrpSpPr>
                <a:grpSpLocks/>
              </p:cNvGrpSpPr>
              <p:nvPr/>
            </p:nvGrpSpPr>
            <p:grpSpPr bwMode="auto">
              <a:xfrm>
                <a:off x="278" y="886"/>
                <a:ext cx="437" cy="174"/>
                <a:chOff x="740" y="3209"/>
                <a:chExt cx="437" cy="174"/>
              </a:xfrm>
            </p:grpSpPr>
            <p:grpSp>
              <p:nvGrpSpPr>
                <p:cNvPr id="1480" name="Group 112">
                  <a:extLst>
                    <a:ext uri="{FF2B5EF4-FFF2-40B4-BE49-F238E27FC236}">
                      <a16:creationId xmlns:a16="http://schemas.microsoft.com/office/drawing/2014/main" id="{7E6F218F-EDED-5B44-9422-ABABEC3B27AC}"/>
                    </a:ext>
                  </a:extLst>
                </p:cNvPr>
                <p:cNvGrpSpPr>
                  <a:grpSpLocks/>
                </p:cNvGrpSpPr>
                <p:nvPr/>
              </p:nvGrpSpPr>
              <p:grpSpPr bwMode="auto">
                <a:xfrm>
                  <a:off x="794" y="3209"/>
                  <a:ext cx="383" cy="174"/>
                  <a:chOff x="844" y="3337"/>
                  <a:chExt cx="383" cy="174"/>
                </a:xfrm>
              </p:grpSpPr>
              <p:sp>
                <p:nvSpPr>
                  <p:cNvPr id="1483" name="Rectangle 113">
                    <a:extLst>
                      <a:ext uri="{FF2B5EF4-FFF2-40B4-BE49-F238E27FC236}">
                        <a16:creationId xmlns:a16="http://schemas.microsoft.com/office/drawing/2014/main" id="{9A2696C2-7BF2-3240-8202-E6BBE2E2F1F4}"/>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84" name="Text Box 114">
                    <a:extLst>
                      <a:ext uri="{FF2B5EF4-FFF2-40B4-BE49-F238E27FC236}">
                        <a16:creationId xmlns:a16="http://schemas.microsoft.com/office/drawing/2014/main" id="{58C83739-1CBA-E249-9B1C-C8916D8D79C9}"/>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sp>
              <p:nvSpPr>
                <p:cNvPr id="1481" name="Rectangle 115">
                  <a:extLst>
                    <a:ext uri="{FF2B5EF4-FFF2-40B4-BE49-F238E27FC236}">
                      <a16:creationId xmlns:a16="http://schemas.microsoft.com/office/drawing/2014/main" id="{5387A33B-5D06-C046-9DCF-1C317563693B}"/>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82" name="Rectangle 116">
                  <a:extLst>
                    <a:ext uri="{FF2B5EF4-FFF2-40B4-BE49-F238E27FC236}">
                      <a16:creationId xmlns:a16="http://schemas.microsoft.com/office/drawing/2014/main" id="{08F8503E-3B0A-7A42-97B0-9FF42C53AF7D}"/>
                    </a:ext>
                  </a:extLst>
                </p:cNvPr>
                <p:cNvSpPr>
                  <a:spLocks noChangeArrowheads="1"/>
                </p:cNvSpPr>
                <p:nvPr/>
              </p:nvSpPr>
              <p:spPr bwMode="auto">
                <a:xfrm>
                  <a:off x="740" y="3238"/>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1456" name="Group 117">
                <a:extLst>
                  <a:ext uri="{FF2B5EF4-FFF2-40B4-BE49-F238E27FC236}">
                    <a16:creationId xmlns:a16="http://schemas.microsoft.com/office/drawing/2014/main" id="{C978DB29-8FB0-A943-8A79-68EEB5518149}"/>
                  </a:ext>
                </a:extLst>
              </p:cNvPr>
              <p:cNvGrpSpPr>
                <a:grpSpLocks/>
              </p:cNvGrpSpPr>
              <p:nvPr/>
            </p:nvGrpSpPr>
            <p:grpSpPr bwMode="auto">
              <a:xfrm>
                <a:off x="278" y="1034"/>
                <a:ext cx="437" cy="174"/>
                <a:chOff x="836" y="3305"/>
                <a:chExt cx="437" cy="174"/>
              </a:xfrm>
            </p:grpSpPr>
            <p:grpSp>
              <p:nvGrpSpPr>
                <p:cNvPr id="1474" name="Group 118">
                  <a:extLst>
                    <a:ext uri="{FF2B5EF4-FFF2-40B4-BE49-F238E27FC236}">
                      <a16:creationId xmlns:a16="http://schemas.microsoft.com/office/drawing/2014/main" id="{9397A90E-1E80-FB4E-9C4A-441A9CFE5304}"/>
                    </a:ext>
                  </a:extLst>
                </p:cNvPr>
                <p:cNvGrpSpPr>
                  <a:grpSpLocks/>
                </p:cNvGrpSpPr>
                <p:nvPr/>
              </p:nvGrpSpPr>
              <p:grpSpPr bwMode="auto">
                <a:xfrm>
                  <a:off x="890" y="3305"/>
                  <a:ext cx="383" cy="174"/>
                  <a:chOff x="844" y="3337"/>
                  <a:chExt cx="383" cy="174"/>
                </a:xfrm>
              </p:grpSpPr>
              <p:sp>
                <p:nvSpPr>
                  <p:cNvPr id="1478" name="Rectangle 119">
                    <a:extLst>
                      <a:ext uri="{FF2B5EF4-FFF2-40B4-BE49-F238E27FC236}">
                        <a16:creationId xmlns:a16="http://schemas.microsoft.com/office/drawing/2014/main" id="{0DB16A9C-A911-F74E-B0EC-2983F84CABC1}"/>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79" name="Text Box 120">
                    <a:extLst>
                      <a:ext uri="{FF2B5EF4-FFF2-40B4-BE49-F238E27FC236}">
                        <a16:creationId xmlns:a16="http://schemas.microsoft.com/office/drawing/2014/main" id="{92A60009-6700-4744-BC06-74E4E53DBF29}"/>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1475" name="Group 121">
                  <a:extLst>
                    <a:ext uri="{FF2B5EF4-FFF2-40B4-BE49-F238E27FC236}">
                      <a16:creationId xmlns:a16="http://schemas.microsoft.com/office/drawing/2014/main" id="{EC28BAD4-51BE-9840-8F12-987638ECA02E}"/>
                    </a:ext>
                  </a:extLst>
                </p:cNvPr>
                <p:cNvGrpSpPr>
                  <a:grpSpLocks/>
                </p:cNvGrpSpPr>
                <p:nvPr/>
              </p:nvGrpSpPr>
              <p:grpSpPr bwMode="auto">
                <a:xfrm>
                  <a:off x="836" y="3334"/>
                  <a:ext cx="354" cy="94"/>
                  <a:chOff x="836" y="3334"/>
                  <a:chExt cx="354" cy="94"/>
                </a:xfrm>
              </p:grpSpPr>
              <p:sp>
                <p:nvSpPr>
                  <p:cNvPr id="1476" name="Rectangle 122">
                    <a:extLst>
                      <a:ext uri="{FF2B5EF4-FFF2-40B4-BE49-F238E27FC236}">
                        <a16:creationId xmlns:a16="http://schemas.microsoft.com/office/drawing/2014/main" id="{C525C5B2-D191-AA43-A272-09ADE5B6141E}"/>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77" name="Rectangle 123">
                    <a:extLst>
                      <a:ext uri="{FF2B5EF4-FFF2-40B4-BE49-F238E27FC236}">
                        <a16:creationId xmlns:a16="http://schemas.microsoft.com/office/drawing/2014/main" id="{E32D1144-95E0-244B-9A90-662C63157250}"/>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grpSp>
            <p:nvGrpSpPr>
              <p:cNvPr id="1457" name="Group 124">
                <a:extLst>
                  <a:ext uri="{FF2B5EF4-FFF2-40B4-BE49-F238E27FC236}">
                    <a16:creationId xmlns:a16="http://schemas.microsoft.com/office/drawing/2014/main" id="{3A2BC2EA-7C10-2641-B88B-F885E6464C79}"/>
                  </a:ext>
                </a:extLst>
              </p:cNvPr>
              <p:cNvGrpSpPr>
                <a:grpSpLocks/>
              </p:cNvGrpSpPr>
              <p:nvPr/>
            </p:nvGrpSpPr>
            <p:grpSpPr bwMode="auto">
              <a:xfrm>
                <a:off x="165" y="1054"/>
                <a:ext cx="480" cy="112"/>
                <a:chOff x="627" y="3377"/>
                <a:chExt cx="480" cy="112"/>
              </a:xfrm>
            </p:grpSpPr>
            <p:sp>
              <p:nvSpPr>
                <p:cNvPr id="1472" name="Rectangle 125">
                  <a:extLst>
                    <a:ext uri="{FF2B5EF4-FFF2-40B4-BE49-F238E27FC236}">
                      <a16:creationId xmlns:a16="http://schemas.microsoft.com/office/drawing/2014/main" id="{8785FBBA-795C-CF44-B62B-D33FA9E618B7}"/>
                    </a:ext>
                  </a:extLst>
                </p:cNvPr>
                <p:cNvSpPr>
                  <a:spLocks noChangeArrowheads="1"/>
                </p:cNvSpPr>
                <p:nvPr/>
              </p:nvSpPr>
              <p:spPr bwMode="auto">
                <a:xfrm>
                  <a:off x="636" y="3388"/>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73" name="Rectangle 126">
                  <a:extLst>
                    <a:ext uri="{FF2B5EF4-FFF2-40B4-BE49-F238E27FC236}">
                      <a16:creationId xmlns:a16="http://schemas.microsoft.com/office/drawing/2014/main" id="{76173DFA-C8EC-A843-B918-F2317BD0639D}"/>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nvGrpSpPr>
              <p:cNvPr id="1458" name="Group 127">
                <a:extLst>
                  <a:ext uri="{FF2B5EF4-FFF2-40B4-BE49-F238E27FC236}">
                    <a16:creationId xmlns:a16="http://schemas.microsoft.com/office/drawing/2014/main" id="{A48B6F5A-E505-7448-B7A9-5579391534EF}"/>
                  </a:ext>
                </a:extLst>
              </p:cNvPr>
              <p:cNvGrpSpPr>
                <a:grpSpLocks/>
              </p:cNvGrpSpPr>
              <p:nvPr/>
            </p:nvGrpSpPr>
            <p:grpSpPr bwMode="auto">
              <a:xfrm>
                <a:off x="42" y="1200"/>
                <a:ext cx="681" cy="174"/>
                <a:chOff x="504" y="3523"/>
                <a:chExt cx="681" cy="174"/>
              </a:xfrm>
            </p:grpSpPr>
            <p:grpSp>
              <p:nvGrpSpPr>
                <p:cNvPr id="1459" name="Group 128">
                  <a:extLst>
                    <a:ext uri="{FF2B5EF4-FFF2-40B4-BE49-F238E27FC236}">
                      <a16:creationId xmlns:a16="http://schemas.microsoft.com/office/drawing/2014/main" id="{681DE71A-000E-8E42-B0E8-4482D6CFE482}"/>
                    </a:ext>
                  </a:extLst>
                </p:cNvPr>
                <p:cNvGrpSpPr>
                  <a:grpSpLocks/>
                </p:cNvGrpSpPr>
                <p:nvPr/>
              </p:nvGrpSpPr>
              <p:grpSpPr bwMode="auto">
                <a:xfrm>
                  <a:off x="623" y="3523"/>
                  <a:ext cx="550" cy="174"/>
                  <a:chOff x="723" y="3453"/>
                  <a:chExt cx="550" cy="174"/>
                </a:xfrm>
              </p:grpSpPr>
              <p:grpSp>
                <p:nvGrpSpPr>
                  <p:cNvPr id="1463" name="Group 129">
                    <a:extLst>
                      <a:ext uri="{FF2B5EF4-FFF2-40B4-BE49-F238E27FC236}">
                        <a16:creationId xmlns:a16="http://schemas.microsoft.com/office/drawing/2014/main" id="{B6375359-6706-9C45-BC6D-18579F2035FD}"/>
                      </a:ext>
                    </a:extLst>
                  </p:cNvPr>
                  <p:cNvGrpSpPr>
                    <a:grpSpLocks/>
                  </p:cNvGrpSpPr>
                  <p:nvPr/>
                </p:nvGrpSpPr>
                <p:grpSpPr bwMode="auto">
                  <a:xfrm>
                    <a:off x="836" y="3453"/>
                    <a:ext cx="437" cy="174"/>
                    <a:chOff x="836" y="3305"/>
                    <a:chExt cx="437" cy="174"/>
                  </a:xfrm>
                </p:grpSpPr>
                <p:grpSp>
                  <p:nvGrpSpPr>
                    <p:cNvPr id="1466" name="Group 130">
                      <a:extLst>
                        <a:ext uri="{FF2B5EF4-FFF2-40B4-BE49-F238E27FC236}">
                          <a16:creationId xmlns:a16="http://schemas.microsoft.com/office/drawing/2014/main" id="{F84ECF8C-F8FC-E34C-9F1C-13FC2FCCD187}"/>
                        </a:ext>
                      </a:extLst>
                    </p:cNvPr>
                    <p:cNvGrpSpPr>
                      <a:grpSpLocks/>
                    </p:cNvGrpSpPr>
                    <p:nvPr/>
                  </p:nvGrpSpPr>
                  <p:grpSpPr bwMode="auto">
                    <a:xfrm>
                      <a:off x="890" y="3305"/>
                      <a:ext cx="383" cy="174"/>
                      <a:chOff x="844" y="3337"/>
                      <a:chExt cx="383" cy="174"/>
                    </a:xfrm>
                  </p:grpSpPr>
                  <p:sp>
                    <p:nvSpPr>
                      <p:cNvPr id="1470" name="Rectangle 131">
                        <a:extLst>
                          <a:ext uri="{FF2B5EF4-FFF2-40B4-BE49-F238E27FC236}">
                            <a16:creationId xmlns:a16="http://schemas.microsoft.com/office/drawing/2014/main" id="{56A648A7-A050-F44E-9D3A-14E1D0E85DCC}"/>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71" name="Text Box 132">
                        <a:extLst>
                          <a:ext uri="{FF2B5EF4-FFF2-40B4-BE49-F238E27FC236}">
                            <a16:creationId xmlns:a16="http://schemas.microsoft.com/office/drawing/2014/main" id="{32C1EAAF-FBA4-124C-9646-AEC31F2D4AE0}"/>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nvGrpSpPr>
                    <p:cNvPr id="1467" name="Group 133">
                      <a:extLst>
                        <a:ext uri="{FF2B5EF4-FFF2-40B4-BE49-F238E27FC236}">
                          <a16:creationId xmlns:a16="http://schemas.microsoft.com/office/drawing/2014/main" id="{95189338-B5FB-BB41-85DD-B07304A918F9}"/>
                        </a:ext>
                      </a:extLst>
                    </p:cNvPr>
                    <p:cNvGrpSpPr>
                      <a:grpSpLocks/>
                    </p:cNvGrpSpPr>
                    <p:nvPr/>
                  </p:nvGrpSpPr>
                  <p:grpSpPr bwMode="auto">
                    <a:xfrm>
                      <a:off x="836" y="3334"/>
                      <a:ext cx="354" cy="94"/>
                      <a:chOff x="836" y="3334"/>
                      <a:chExt cx="354" cy="94"/>
                    </a:xfrm>
                  </p:grpSpPr>
                  <p:sp>
                    <p:nvSpPr>
                      <p:cNvPr id="1468" name="Rectangle 134">
                        <a:extLst>
                          <a:ext uri="{FF2B5EF4-FFF2-40B4-BE49-F238E27FC236}">
                            <a16:creationId xmlns:a16="http://schemas.microsoft.com/office/drawing/2014/main" id="{3CBF0518-5037-F648-9BCF-79DD7705E2AC}"/>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69" name="Rectangle 135">
                        <a:extLst>
                          <a:ext uri="{FF2B5EF4-FFF2-40B4-BE49-F238E27FC236}">
                            <a16:creationId xmlns:a16="http://schemas.microsoft.com/office/drawing/2014/main" id="{BED42D69-973B-654F-9215-49EDA6426F98}"/>
                          </a:ext>
                        </a:extLst>
                      </p:cNvPr>
                      <p:cNvSpPr>
                        <a:spLocks noChangeArrowheads="1"/>
                      </p:cNvSpPr>
                      <p:nvPr/>
                    </p:nvSpPr>
                    <p:spPr bwMode="auto">
                      <a:xfrm>
                        <a:off x="836" y="3334"/>
                        <a:ext cx="354" cy="94"/>
                      </a:xfrm>
                      <a:prstGeom prst="rect">
                        <a:avLst/>
                      </a:prstGeom>
                      <a:noFill/>
                      <a:ln w="9525">
                        <a:solidFill>
                          <a:srgbClr val="00CC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1464" name="Rectangle 136">
                    <a:extLst>
                      <a:ext uri="{FF2B5EF4-FFF2-40B4-BE49-F238E27FC236}">
                        <a16:creationId xmlns:a16="http://schemas.microsoft.com/office/drawing/2014/main" id="{DA6797DB-1AFF-FF42-A09B-6871FEC345F8}"/>
                      </a:ext>
                    </a:extLst>
                  </p:cNvPr>
                  <p:cNvSpPr>
                    <a:spLocks noChangeArrowheads="1"/>
                  </p:cNvSpPr>
                  <p:nvPr/>
                </p:nvSpPr>
                <p:spPr bwMode="auto">
                  <a:xfrm>
                    <a:off x="732" y="3484"/>
                    <a:ext cx="96" cy="93"/>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65" name="Rectangle 137">
                    <a:extLst>
                      <a:ext uri="{FF2B5EF4-FFF2-40B4-BE49-F238E27FC236}">
                        <a16:creationId xmlns:a16="http://schemas.microsoft.com/office/drawing/2014/main" id="{686420C8-7F0D-A049-B975-D1A1C472439D}"/>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460" name="Rectangle 138">
                  <a:extLst>
                    <a:ext uri="{FF2B5EF4-FFF2-40B4-BE49-F238E27FC236}">
                      <a16:creationId xmlns:a16="http://schemas.microsoft.com/office/drawing/2014/main" id="{BF847ED3-F2FA-214E-9C6C-0926FFCA7682}"/>
                    </a:ext>
                  </a:extLst>
                </p:cNvPr>
                <p:cNvSpPr>
                  <a:spLocks noChangeArrowheads="1"/>
                </p:cNvSpPr>
                <p:nvPr/>
              </p:nvSpPr>
              <p:spPr bwMode="auto">
                <a:xfrm>
                  <a:off x="517" y="3545"/>
                  <a:ext cx="94"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61" name="Rectangle 139">
                  <a:extLst>
                    <a:ext uri="{FF2B5EF4-FFF2-40B4-BE49-F238E27FC236}">
                      <a16:creationId xmlns:a16="http://schemas.microsoft.com/office/drawing/2014/main" id="{E6D859BD-B53E-BB4C-9782-B7FDD5506A2F}"/>
                    </a:ext>
                  </a:extLst>
                </p:cNvPr>
                <p:cNvSpPr>
                  <a:spLocks noChangeArrowheads="1"/>
                </p:cNvSpPr>
                <p:nvPr/>
              </p:nvSpPr>
              <p:spPr bwMode="auto">
                <a:xfrm>
                  <a:off x="1115" y="3544"/>
                  <a:ext cx="60" cy="10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62" name="Rectangle 140">
                  <a:extLst>
                    <a:ext uri="{FF2B5EF4-FFF2-40B4-BE49-F238E27FC236}">
                      <a16:creationId xmlns:a16="http://schemas.microsoft.com/office/drawing/2014/main" id="{9790991B-D844-4241-B85A-CA1259965DC7}"/>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grpSp>
        <p:sp>
          <p:nvSpPr>
            <p:cNvPr id="1451" name="AutoShape 141">
              <a:extLst>
                <a:ext uri="{FF2B5EF4-FFF2-40B4-BE49-F238E27FC236}">
                  <a16:creationId xmlns:a16="http://schemas.microsoft.com/office/drawing/2014/main" id="{B068294F-E14C-F445-92F1-F5484E910043}"/>
                </a:ext>
              </a:extLst>
            </p:cNvPr>
            <p:cNvSpPr>
              <a:spLocks noChangeArrowheads="1"/>
            </p:cNvSpPr>
            <p:nvPr/>
          </p:nvSpPr>
          <p:spPr bwMode="auto">
            <a:xfrm rot="10800000">
              <a:off x="1727" y="3105"/>
              <a:ext cx="240" cy="767"/>
            </a:xfrm>
            <a:prstGeom prst="downArrow">
              <a:avLst>
                <a:gd name="adj1" fmla="val 54167"/>
                <a:gd name="adj2" fmla="val 51311"/>
              </a:avLst>
            </a:prstGeom>
            <a:gradFill rotWithShape="1">
              <a:gsLst>
                <a:gs pos="0">
                  <a:srgbClr val="FF0000">
                    <a:alpha val="25000"/>
                  </a:srgbClr>
                </a:gs>
                <a:gs pos="100000">
                  <a:srgbClr val="FF0000">
                    <a:alpha val="25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nvGrpSpPr>
            <p:cNvPr id="1452" name="Group 142">
              <a:extLst>
                <a:ext uri="{FF2B5EF4-FFF2-40B4-BE49-F238E27FC236}">
                  <a16:creationId xmlns:a16="http://schemas.microsoft.com/office/drawing/2014/main" id="{A7BC1A01-56FC-D641-A01F-791A195CDC3F}"/>
                </a:ext>
              </a:extLst>
            </p:cNvPr>
            <p:cNvGrpSpPr>
              <a:grpSpLocks/>
            </p:cNvGrpSpPr>
            <p:nvPr/>
          </p:nvGrpSpPr>
          <p:grpSpPr bwMode="auto">
            <a:xfrm>
              <a:off x="1695" y="3227"/>
              <a:ext cx="383" cy="174"/>
              <a:chOff x="844" y="3337"/>
              <a:chExt cx="383" cy="174"/>
            </a:xfrm>
          </p:grpSpPr>
          <p:sp>
            <p:nvSpPr>
              <p:cNvPr id="1453" name="Rectangle 143">
                <a:extLst>
                  <a:ext uri="{FF2B5EF4-FFF2-40B4-BE49-F238E27FC236}">
                    <a16:creationId xmlns:a16="http://schemas.microsoft.com/office/drawing/2014/main" id="{D94FBB29-8E0E-1A4D-B09C-73D936E62BBA}"/>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454" name="Text Box 144">
                <a:extLst>
                  <a:ext uri="{FF2B5EF4-FFF2-40B4-BE49-F238E27FC236}">
                    <a16:creationId xmlns:a16="http://schemas.microsoft.com/office/drawing/2014/main" id="{C82973EC-B8F3-E842-8A88-D895358A3F46}"/>
                  </a:ext>
                </a:extLst>
              </p:cNvPr>
              <p:cNvSpPr txBox="1">
                <a:spLocks noChangeArrowheads="1"/>
              </p:cNvSpPr>
              <p:nvPr/>
            </p:nvSpPr>
            <p:spPr bwMode="auto">
              <a:xfrm>
                <a:off x="844" y="3337"/>
                <a:ext cx="3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750" kern="0" dirty="0">
                    <a:solidFill>
                      <a:srgbClr val="FFFFFF"/>
                    </a:solidFill>
                  </a:rPr>
                  <a:t>DHCP</a:t>
                </a:r>
              </a:p>
            </p:txBody>
          </p:sp>
        </p:grpSp>
      </p:grpSp>
      <p:sp>
        <p:nvSpPr>
          <p:cNvPr id="1485" name="Rectangle 226">
            <a:extLst>
              <a:ext uri="{FF2B5EF4-FFF2-40B4-BE49-F238E27FC236}">
                <a16:creationId xmlns:a16="http://schemas.microsoft.com/office/drawing/2014/main" id="{5DF70C14-A16A-3E4C-982B-58F5DD4F5DE9}"/>
              </a:ext>
            </a:extLst>
          </p:cNvPr>
          <p:cNvSpPr>
            <a:spLocks noChangeArrowheads="1"/>
          </p:cNvSpPr>
          <p:nvPr/>
        </p:nvSpPr>
        <p:spPr bwMode="auto">
          <a:xfrm>
            <a:off x="4590231" y="4322575"/>
            <a:ext cx="3901240" cy="10215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175022" indent="-175022" defTabSz="685800">
              <a:lnSpc>
                <a:spcPct val="85000"/>
              </a:lnSpc>
              <a:spcBef>
                <a:spcPct val="20000"/>
              </a:spcBef>
              <a:buClr>
                <a:srgbClr val="000099"/>
              </a:buClr>
              <a:buSzPct val="100000"/>
              <a:buFont typeface="Wingdings" charset="2"/>
              <a:buChar char="§"/>
              <a:defRPr/>
            </a:pPr>
            <a:r>
              <a:rPr lang="en-US" dirty="0">
                <a:solidFill>
                  <a:srgbClr val="000000"/>
                </a:solidFill>
                <a:latin typeface="Calibri" panose="020F0502020204030204"/>
                <a:ea typeface="ＭＳ Ｐゴシック" charset="0"/>
                <a:cs typeface="ＭＳ Ｐゴシック" charset="0"/>
              </a:rPr>
              <a:t>client now knows its IP address, name and IP address of DNS server, IP address of its first-hop router</a:t>
            </a:r>
          </a:p>
          <a:p>
            <a:pPr marL="257175" indent="-257175" defTabSz="685800">
              <a:lnSpc>
                <a:spcPct val="85000"/>
              </a:lnSpc>
              <a:spcBef>
                <a:spcPct val="20000"/>
              </a:spcBef>
              <a:buClr>
                <a:srgbClr val="000099"/>
              </a:buClr>
              <a:buSzPct val="65000"/>
              <a:buFont typeface="Wingdings" charset="0"/>
              <a:buChar char="v"/>
              <a:defRPr/>
            </a:pPr>
            <a:endParaRPr lang="en-US" dirty="0">
              <a:solidFill>
                <a:srgbClr val="000000"/>
              </a:solidFill>
              <a:latin typeface="Calibri" panose="020F0502020204030204"/>
              <a:ea typeface="ＭＳ Ｐゴシック" charset="0"/>
              <a:cs typeface="ＭＳ Ｐゴシック" charset="0"/>
            </a:endParaRPr>
          </a:p>
        </p:txBody>
      </p:sp>
      <p:grpSp>
        <p:nvGrpSpPr>
          <p:cNvPr id="1341" name="Group 186">
            <a:extLst>
              <a:ext uri="{FF2B5EF4-FFF2-40B4-BE49-F238E27FC236}">
                <a16:creationId xmlns:a16="http://schemas.microsoft.com/office/drawing/2014/main" id="{0827A38F-76E7-194D-BDA6-1A605B355FB7}"/>
              </a:ext>
            </a:extLst>
          </p:cNvPr>
          <p:cNvGrpSpPr>
            <a:grpSpLocks/>
          </p:cNvGrpSpPr>
          <p:nvPr/>
        </p:nvGrpSpPr>
        <p:grpSpPr bwMode="auto">
          <a:xfrm>
            <a:off x="2850727" y="3647490"/>
            <a:ext cx="317897" cy="485775"/>
            <a:chOff x="4140" y="429"/>
            <a:chExt cx="1425" cy="2396"/>
          </a:xfrm>
        </p:grpSpPr>
        <p:sp>
          <p:nvSpPr>
            <p:cNvPr id="1342" name="Freeform 187">
              <a:extLst>
                <a:ext uri="{FF2B5EF4-FFF2-40B4-BE49-F238E27FC236}">
                  <a16:creationId xmlns:a16="http://schemas.microsoft.com/office/drawing/2014/main" id="{D46F6DF5-01A2-1849-A3BB-030EF6344BC8}"/>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43" name="Rectangle 188">
              <a:extLst>
                <a:ext uri="{FF2B5EF4-FFF2-40B4-BE49-F238E27FC236}">
                  <a16:creationId xmlns:a16="http://schemas.microsoft.com/office/drawing/2014/main" id="{E1E80B19-9CDE-FB4C-AC77-EFE0782CC823}"/>
                </a:ext>
              </a:extLst>
            </p:cNvPr>
            <p:cNvSpPr>
              <a:spLocks noChangeArrowheads="1"/>
            </p:cNvSpPr>
            <p:nvPr/>
          </p:nvSpPr>
          <p:spPr bwMode="auto">
            <a:xfrm>
              <a:off x="4204" y="429"/>
              <a:ext cx="1051"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44" name="Freeform 189">
              <a:extLst>
                <a:ext uri="{FF2B5EF4-FFF2-40B4-BE49-F238E27FC236}">
                  <a16:creationId xmlns:a16="http://schemas.microsoft.com/office/drawing/2014/main" id="{7E3264C2-51DE-F54E-9A1B-76045D0A25F4}"/>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45" name="Freeform 190">
              <a:extLst>
                <a:ext uri="{FF2B5EF4-FFF2-40B4-BE49-F238E27FC236}">
                  <a16:creationId xmlns:a16="http://schemas.microsoft.com/office/drawing/2014/main" id="{747CB78A-D52C-CE42-AC7E-25B8998929BB}"/>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46" name="Rectangle 191">
              <a:extLst>
                <a:ext uri="{FF2B5EF4-FFF2-40B4-BE49-F238E27FC236}">
                  <a16:creationId xmlns:a16="http://schemas.microsoft.com/office/drawing/2014/main" id="{4140DAEF-666D-DA47-BDAF-E2CB84851395}"/>
                </a:ext>
              </a:extLst>
            </p:cNvPr>
            <p:cNvSpPr>
              <a:spLocks noChangeArrowheads="1"/>
            </p:cNvSpPr>
            <p:nvPr/>
          </p:nvSpPr>
          <p:spPr bwMode="auto">
            <a:xfrm>
              <a:off x="4209" y="693"/>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nvGrpSpPr>
            <p:cNvPr id="1347" name="Group 192">
              <a:extLst>
                <a:ext uri="{FF2B5EF4-FFF2-40B4-BE49-F238E27FC236}">
                  <a16:creationId xmlns:a16="http://schemas.microsoft.com/office/drawing/2014/main" id="{299117A0-29F3-E34B-B8B3-2F87D3986129}"/>
                </a:ext>
              </a:extLst>
            </p:cNvPr>
            <p:cNvGrpSpPr>
              <a:grpSpLocks/>
            </p:cNvGrpSpPr>
            <p:nvPr/>
          </p:nvGrpSpPr>
          <p:grpSpPr bwMode="auto">
            <a:xfrm>
              <a:off x="4749" y="668"/>
              <a:ext cx="581" cy="145"/>
              <a:chOff x="614" y="2568"/>
              <a:chExt cx="725" cy="139"/>
            </a:xfrm>
          </p:grpSpPr>
          <p:sp>
            <p:nvSpPr>
              <p:cNvPr id="1372" name="AutoShape 193">
                <a:extLst>
                  <a:ext uri="{FF2B5EF4-FFF2-40B4-BE49-F238E27FC236}">
                    <a16:creationId xmlns:a16="http://schemas.microsoft.com/office/drawing/2014/main" id="{0C5A74EE-A7D5-BA47-BFF6-F3C788C5CF29}"/>
                  </a:ext>
                </a:extLst>
              </p:cNvPr>
              <p:cNvSpPr>
                <a:spLocks noChangeArrowheads="1"/>
              </p:cNvSpPr>
              <p:nvPr/>
            </p:nvSpPr>
            <p:spPr bwMode="auto">
              <a:xfrm>
                <a:off x="613" y="2570"/>
                <a:ext cx="726" cy="135"/>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73" name="AutoShape 194">
                <a:extLst>
                  <a:ext uri="{FF2B5EF4-FFF2-40B4-BE49-F238E27FC236}">
                    <a16:creationId xmlns:a16="http://schemas.microsoft.com/office/drawing/2014/main" id="{15763F6D-F30B-604C-B1A4-B9E2BB00F6B7}"/>
                  </a:ext>
                </a:extLst>
              </p:cNvPr>
              <p:cNvSpPr>
                <a:spLocks noChangeArrowheads="1"/>
              </p:cNvSpPr>
              <p:nvPr/>
            </p:nvSpPr>
            <p:spPr bwMode="auto">
              <a:xfrm>
                <a:off x="627" y="2587"/>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348" name="Rectangle 195">
              <a:extLst>
                <a:ext uri="{FF2B5EF4-FFF2-40B4-BE49-F238E27FC236}">
                  <a16:creationId xmlns:a16="http://schemas.microsoft.com/office/drawing/2014/main" id="{E273AD4D-3F24-F44B-A734-2486970524D4}"/>
                </a:ext>
              </a:extLst>
            </p:cNvPr>
            <p:cNvSpPr>
              <a:spLocks noChangeArrowheads="1"/>
            </p:cNvSpPr>
            <p:nvPr/>
          </p:nvSpPr>
          <p:spPr bwMode="auto">
            <a:xfrm>
              <a:off x="4225" y="1016"/>
              <a:ext cx="592"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nvGrpSpPr>
            <p:cNvPr id="1349" name="Group 196">
              <a:extLst>
                <a:ext uri="{FF2B5EF4-FFF2-40B4-BE49-F238E27FC236}">
                  <a16:creationId xmlns:a16="http://schemas.microsoft.com/office/drawing/2014/main" id="{59BCC23F-6EFF-E446-B163-095673448F7F}"/>
                </a:ext>
              </a:extLst>
            </p:cNvPr>
            <p:cNvGrpSpPr>
              <a:grpSpLocks/>
            </p:cNvGrpSpPr>
            <p:nvPr/>
          </p:nvGrpSpPr>
          <p:grpSpPr bwMode="auto">
            <a:xfrm>
              <a:off x="4747" y="994"/>
              <a:ext cx="581" cy="134"/>
              <a:chOff x="614" y="2568"/>
              <a:chExt cx="725" cy="139"/>
            </a:xfrm>
          </p:grpSpPr>
          <p:sp>
            <p:nvSpPr>
              <p:cNvPr id="1370" name="AutoShape 197">
                <a:extLst>
                  <a:ext uri="{FF2B5EF4-FFF2-40B4-BE49-F238E27FC236}">
                    <a16:creationId xmlns:a16="http://schemas.microsoft.com/office/drawing/2014/main" id="{12542AF1-426D-DF40-94A4-FC77464DBADC}"/>
                  </a:ext>
                </a:extLst>
              </p:cNvPr>
              <p:cNvSpPr>
                <a:spLocks noChangeArrowheads="1"/>
              </p:cNvSpPr>
              <p:nvPr/>
            </p:nvSpPr>
            <p:spPr bwMode="auto">
              <a:xfrm>
                <a:off x="616" y="2567"/>
                <a:ext cx="726"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71" name="AutoShape 198">
                <a:extLst>
                  <a:ext uri="{FF2B5EF4-FFF2-40B4-BE49-F238E27FC236}">
                    <a16:creationId xmlns:a16="http://schemas.microsoft.com/office/drawing/2014/main" id="{5FF08725-A026-3F4F-AD7F-272FADC253CA}"/>
                  </a:ext>
                </a:extLst>
              </p:cNvPr>
              <p:cNvSpPr>
                <a:spLocks noChangeArrowheads="1"/>
              </p:cNvSpPr>
              <p:nvPr/>
            </p:nvSpPr>
            <p:spPr bwMode="auto">
              <a:xfrm>
                <a:off x="629" y="2585"/>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350" name="Rectangle 199">
              <a:extLst>
                <a:ext uri="{FF2B5EF4-FFF2-40B4-BE49-F238E27FC236}">
                  <a16:creationId xmlns:a16="http://schemas.microsoft.com/office/drawing/2014/main" id="{8AA7B66A-2CBB-2E47-80EB-79369D65AB83}"/>
                </a:ext>
              </a:extLst>
            </p:cNvPr>
            <p:cNvSpPr>
              <a:spLocks noChangeArrowheads="1"/>
            </p:cNvSpPr>
            <p:nvPr/>
          </p:nvSpPr>
          <p:spPr bwMode="auto">
            <a:xfrm>
              <a:off x="4215" y="1357"/>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51" name="Rectangle 200">
              <a:extLst>
                <a:ext uri="{FF2B5EF4-FFF2-40B4-BE49-F238E27FC236}">
                  <a16:creationId xmlns:a16="http://schemas.microsoft.com/office/drawing/2014/main" id="{018E5E89-C605-0C48-BE5E-A34A24009241}"/>
                </a:ext>
              </a:extLst>
            </p:cNvPr>
            <p:cNvSpPr>
              <a:spLocks noChangeArrowheads="1"/>
            </p:cNvSpPr>
            <p:nvPr/>
          </p:nvSpPr>
          <p:spPr bwMode="auto">
            <a:xfrm>
              <a:off x="4225" y="1656"/>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nvGrpSpPr>
            <p:cNvPr id="1352" name="Group 201">
              <a:extLst>
                <a:ext uri="{FF2B5EF4-FFF2-40B4-BE49-F238E27FC236}">
                  <a16:creationId xmlns:a16="http://schemas.microsoft.com/office/drawing/2014/main" id="{0966AC81-07B8-E14A-BAA7-22C95C7F847C}"/>
                </a:ext>
              </a:extLst>
            </p:cNvPr>
            <p:cNvGrpSpPr>
              <a:grpSpLocks/>
            </p:cNvGrpSpPr>
            <p:nvPr/>
          </p:nvGrpSpPr>
          <p:grpSpPr bwMode="auto">
            <a:xfrm>
              <a:off x="4735" y="1627"/>
              <a:ext cx="582" cy="151"/>
              <a:chOff x="614" y="2568"/>
              <a:chExt cx="725" cy="139"/>
            </a:xfrm>
          </p:grpSpPr>
          <p:sp>
            <p:nvSpPr>
              <p:cNvPr id="1368" name="AutoShape 202">
                <a:extLst>
                  <a:ext uri="{FF2B5EF4-FFF2-40B4-BE49-F238E27FC236}">
                    <a16:creationId xmlns:a16="http://schemas.microsoft.com/office/drawing/2014/main" id="{5F819351-A69B-9941-940C-349769D3699D}"/>
                  </a:ext>
                </a:extLst>
              </p:cNvPr>
              <p:cNvSpPr>
                <a:spLocks noChangeArrowheads="1"/>
              </p:cNvSpPr>
              <p:nvPr/>
            </p:nvSpPr>
            <p:spPr bwMode="auto">
              <a:xfrm>
                <a:off x="611" y="2568"/>
                <a:ext cx="731" cy="14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69" name="AutoShape 203">
                <a:extLst>
                  <a:ext uri="{FF2B5EF4-FFF2-40B4-BE49-F238E27FC236}">
                    <a16:creationId xmlns:a16="http://schemas.microsoft.com/office/drawing/2014/main" id="{BFA9F2AA-7AE3-FF4B-967C-B9E2CADA8F5F}"/>
                  </a:ext>
                </a:extLst>
              </p:cNvPr>
              <p:cNvSpPr>
                <a:spLocks noChangeArrowheads="1"/>
              </p:cNvSpPr>
              <p:nvPr/>
            </p:nvSpPr>
            <p:spPr bwMode="auto">
              <a:xfrm>
                <a:off x="624" y="2584"/>
                <a:ext cx="69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353" name="Freeform 204">
              <a:extLst>
                <a:ext uri="{FF2B5EF4-FFF2-40B4-BE49-F238E27FC236}">
                  <a16:creationId xmlns:a16="http://schemas.microsoft.com/office/drawing/2014/main" id="{8591C078-367E-8846-AE18-57822035D75C}"/>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grpSp>
          <p:nvGrpSpPr>
            <p:cNvPr id="1354" name="Group 205">
              <a:extLst>
                <a:ext uri="{FF2B5EF4-FFF2-40B4-BE49-F238E27FC236}">
                  <a16:creationId xmlns:a16="http://schemas.microsoft.com/office/drawing/2014/main" id="{5FBF9D2A-7073-3241-B1BE-80315AD67F38}"/>
                </a:ext>
              </a:extLst>
            </p:cNvPr>
            <p:cNvGrpSpPr>
              <a:grpSpLocks/>
            </p:cNvGrpSpPr>
            <p:nvPr/>
          </p:nvGrpSpPr>
          <p:grpSpPr bwMode="auto">
            <a:xfrm>
              <a:off x="4739" y="1327"/>
              <a:ext cx="582" cy="139"/>
              <a:chOff x="614" y="2568"/>
              <a:chExt cx="725" cy="139"/>
            </a:xfrm>
          </p:grpSpPr>
          <p:sp>
            <p:nvSpPr>
              <p:cNvPr id="1366" name="AutoShape 206">
                <a:extLst>
                  <a:ext uri="{FF2B5EF4-FFF2-40B4-BE49-F238E27FC236}">
                    <a16:creationId xmlns:a16="http://schemas.microsoft.com/office/drawing/2014/main" id="{50A69CAB-1A9D-764D-A301-38CB4AB50107}"/>
                  </a:ext>
                </a:extLst>
              </p:cNvPr>
              <p:cNvSpPr>
                <a:spLocks noChangeArrowheads="1"/>
              </p:cNvSpPr>
              <p:nvPr/>
            </p:nvSpPr>
            <p:spPr bwMode="auto">
              <a:xfrm>
                <a:off x="612" y="2569"/>
                <a:ext cx="725" cy="14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67" name="AutoShape 207">
                <a:extLst>
                  <a:ext uri="{FF2B5EF4-FFF2-40B4-BE49-F238E27FC236}">
                    <a16:creationId xmlns:a16="http://schemas.microsoft.com/office/drawing/2014/main" id="{A40FFDE9-6F48-8D40-9ACC-0075A43FDA1B}"/>
                  </a:ext>
                </a:extLst>
              </p:cNvPr>
              <p:cNvSpPr>
                <a:spLocks noChangeArrowheads="1"/>
              </p:cNvSpPr>
              <p:nvPr/>
            </p:nvSpPr>
            <p:spPr bwMode="auto">
              <a:xfrm>
                <a:off x="626" y="2586"/>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355" name="Rectangle 208">
              <a:extLst>
                <a:ext uri="{FF2B5EF4-FFF2-40B4-BE49-F238E27FC236}">
                  <a16:creationId xmlns:a16="http://schemas.microsoft.com/office/drawing/2014/main" id="{4939E403-BAAF-7740-9D06-F85AF207ABEC}"/>
                </a:ext>
              </a:extLst>
            </p:cNvPr>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56" name="Freeform 209">
              <a:extLst>
                <a:ext uri="{FF2B5EF4-FFF2-40B4-BE49-F238E27FC236}">
                  <a16:creationId xmlns:a16="http://schemas.microsoft.com/office/drawing/2014/main" id="{9CFAF5A6-0089-3A4D-A737-EB7943AF5860}"/>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57" name="Freeform 210">
              <a:extLst>
                <a:ext uri="{FF2B5EF4-FFF2-40B4-BE49-F238E27FC236}">
                  <a16:creationId xmlns:a16="http://schemas.microsoft.com/office/drawing/2014/main" id="{BB6D7824-538E-7242-AAF3-ED996B971EFF}"/>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58" name="Oval 211">
              <a:extLst>
                <a:ext uri="{FF2B5EF4-FFF2-40B4-BE49-F238E27FC236}">
                  <a16:creationId xmlns:a16="http://schemas.microsoft.com/office/drawing/2014/main" id="{3E4397CD-C96C-0B4E-BD03-383F30EF4E6A}"/>
                </a:ext>
              </a:extLst>
            </p:cNvPr>
            <p:cNvSpPr>
              <a:spLocks noChangeArrowheads="1"/>
            </p:cNvSpPr>
            <p:nvPr/>
          </p:nvSpPr>
          <p:spPr bwMode="auto">
            <a:xfrm>
              <a:off x="5517" y="2614"/>
              <a:ext cx="48"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59" name="Freeform 212">
              <a:extLst>
                <a:ext uri="{FF2B5EF4-FFF2-40B4-BE49-F238E27FC236}">
                  <a16:creationId xmlns:a16="http://schemas.microsoft.com/office/drawing/2014/main" id="{277A6DC5-F29C-DC40-9896-6B2D357AC886}"/>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dirty="0">
                <a:solidFill>
                  <a:srgbClr val="000000"/>
                </a:solidFill>
              </a:endParaRPr>
            </a:p>
          </p:txBody>
        </p:sp>
        <p:sp>
          <p:nvSpPr>
            <p:cNvPr id="1360" name="AutoShape 213">
              <a:extLst>
                <a:ext uri="{FF2B5EF4-FFF2-40B4-BE49-F238E27FC236}">
                  <a16:creationId xmlns:a16="http://schemas.microsoft.com/office/drawing/2014/main" id="{E3FA15CF-EFC6-FD4E-9002-2CF1C1E13990}"/>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61" name="AutoShape 214">
              <a:extLst>
                <a:ext uri="{FF2B5EF4-FFF2-40B4-BE49-F238E27FC236}">
                  <a16:creationId xmlns:a16="http://schemas.microsoft.com/office/drawing/2014/main" id="{CCECAEDD-8237-794F-9E2D-46763A7A221F}"/>
                </a:ext>
              </a:extLst>
            </p:cNvPr>
            <p:cNvSpPr>
              <a:spLocks noChangeArrowheads="1"/>
            </p:cNvSpPr>
            <p:nvPr/>
          </p:nvSpPr>
          <p:spPr bwMode="auto">
            <a:xfrm>
              <a:off x="4204" y="2713"/>
              <a:ext cx="1073"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62" name="Oval 215">
              <a:extLst>
                <a:ext uri="{FF2B5EF4-FFF2-40B4-BE49-F238E27FC236}">
                  <a16:creationId xmlns:a16="http://schemas.microsoft.com/office/drawing/2014/main" id="{AE6B1F3E-B8FB-7547-9217-F09ADBEA75A9}"/>
                </a:ext>
              </a:extLst>
            </p:cNvPr>
            <p:cNvSpPr>
              <a:spLocks noChangeArrowheads="1"/>
            </p:cNvSpPr>
            <p:nvPr/>
          </p:nvSpPr>
          <p:spPr bwMode="auto">
            <a:xfrm>
              <a:off x="4305" y="2385"/>
              <a:ext cx="160"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63" name="Oval 216">
              <a:extLst>
                <a:ext uri="{FF2B5EF4-FFF2-40B4-BE49-F238E27FC236}">
                  <a16:creationId xmlns:a16="http://schemas.microsoft.com/office/drawing/2014/main" id="{4319B324-32C6-F449-A18D-0F337E57534F}"/>
                </a:ext>
              </a:extLst>
            </p:cNvPr>
            <p:cNvSpPr>
              <a:spLocks noChangeArrowheads="1"/>
            </p:cNvSpPr>
            <p:nvPr/>
          </p:nvSpPr>
          <p:spPr bwMode="auto">
            <a:xfrm>
              <a:off x="4487" y="2385"/>
              <a:ext cx="160"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350" kern="0" dirty="0">
                <a:solidFill>
                  <a:srgbClr val="FF0000"/>
                </a:solidFill>
                <a:cs typeface="Arial" panose="020B0604020202020204" pitchFamily="34" charset="0"/>
              </a:endParaRPr>
            </a:p>
          </p:txBody>
        </p:sp>
        <p:sp>
          <p:nvSpPr>
            <p:cNvPr id="1364" name="Oval 217">
              <a:extLst>
                <a:ext uri="{FF2B5EF4-FFF2-40B4-BE49-F238E27FC236}">
                  <a16:creationId xmlns:a16="http://schemas.microsoft.com/office/drawing/2014/main" id="{F5225836-0C76-B346-8701-A331322937EC}"/>
                </a:ext>
              </a:extLst>
            </p:cNvPr>
            <p:cNvSpPr>
              <a:spLocks noChangeArrowheads="1"/>
            </p:cNvSpPr>
            <p:nvPr/>
          </p:nvSpPr>
          <p:spPr bwMode="auto">
            <a:xfrm>
              <a:off x="4663" y="2379"/>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sp>
          <p:nvSpPr>
            <p:cNvPr id="1365" name="Rectangle 218">
              <a:extLst>
                <a:ext uri="{FF2B5EF4-FFF2-40B4-BE49-F238E27FC236}">
                  <a16:creationId xmlns:a16="http://schemas.microsoft.com/office/drawing/2014/main" id="{52D4ECE6-91B2-404C-88C9-04B5ABAB0562}"/>
                </a:ext>
              </a:extLst>
            </p:cNvPr>
            <p:cNvSpPr>
              <a:spLocks noChangeArrowheads="1"/>
            </p:cNvSpPr>
            <p:nvPr/>
          </p:nvSpPr>
          <p:spPr bwMode="auto">
            <a:xfrm>
              <a:off x="5063" y="1833"/>
              <a:ext cx="85" cy="763"/>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dirty="0">
                <a:solidFill>
                  <a:srgbClr val="000000"/>
                </a:solidFill>
              </a:endParaRPr>
            </a:p>
          </p:txBody>
        </p:sp>
      </p:grpSp>
      <p:sp>
        <p:nvSpPr>
          <p:cNvPr id="186" name="Slide Number Placeholder 3">
            <a:extLst>
              <a:ext uri="{FF2B5EF4-FFF2-40B4-BE49-F238E27FC236}">
                <a16:creationId xmlns:a16="http://schemas.microsoft.com/office/drawing/2014/main" id="{FEF1B6EF-B8A5-2041-9C60-52DC336233C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111</a:t>
            </a:fld>
            <a:endParaRPr lang="en-US" dirty="0"/>
          </a:p>
        </p:txBody>
      </p:sp>
    </p:spTree>
    <p:extLst>
      <p:ext uri="{BB962C8B-B14F-4D97-AF65-F5344CB8AC3E}">
        <p14:creationId xmlns:p14="http://schemas.microsoft.com/office/powerpoint/2010/main" val="312695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0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381"/>
                                        </p:tgtEl>
                                        <p:attrNameLst>
                                          <p:attrName>style.visibility</p:attrName>
                                        </p:attrNameLst>
                                      </p:cBhvr>
                                      <p:to>
                                        <p:strVal val="visible"/>
                                      </p:to>
                                    </p:set>
                                    <p:animEffect transition="in" filter="wipe(up)">
                                      <p:cBhvr>
                                        <p:cTn id="13" dur="500"/>
                                        <p:tgtEl>
                                          <p:spTgt spid="1381"/>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307">
                                            <p:txEl>
                                              <p:pRg st="0" end="0"/>
                                            </p:txEl>
                                          </p:spTgt>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414"/>
                                        </p:tgtEl>
                                        <p:attrNameLst>
                                          <p:attrName>style.visibility</p:attrName>
                                        </p:attrNameLst>
                                      </p:cBhvr>
                                      <p:to>
                                        <p:strVal val="visible"/>
                                      </p:to>
                                    </p:set>
                                  </p:childTnLst>
                                </p:cTn>
                              </p:par>
                            </p:childTnLst>
                          </p:cTn>
                        </p:par>
                        <p:par>
                          <p:cTn id="19" fill="hold">
                            <p:stCondLst>
                              <p:cond delay="500"/>
                            </p:stCondLst>
                            <p:childTnLst>
                              <p:par>
                                <p:cTn id="20" presetID="0" presetClass="path" presetSubtype="0" accel="50000" decel="50000" fill="hold" nodeType="afterEffect">
                                  <p:stCondLst>
                                    <p:cond delay="0"/>
                                  </p:stCondLst>
                                  <p:childTnLst>
                                    <p:animMotion origin="layout" path="M -0.01354 -0.01412 L 0.13802 -0.01343 L 0.28946 -0.30648 L -0.0306 -0.30949 " pathEditMode="relative" rAng="0" ptsTypes="AAAA">
                                      <p:cBhvr>
                                        <p:cTn id="21" dur="2000" fill="hold"/>
                                        <p:tgtEl>
                                          <p:spTgt spid="1414"/>
                                        </p:tgtEl>
                                        <p:attrNameLst>
                                          <p:attrName>ppt_x</p:attrName>
                                          <p:attrName>ppt_y</p:attrName>
                                        </p:attrNameLst>
                                      </p:cBhvr>
                                      <p:rCtr x="14297" y="-14745"/>
                                    </p:animMotion>
                                  </p:childTnLst>
                                </p:cTn>
                              </p:par>
                            </p:childTnLst>
                          </p:cTn>
                        </p:par>
                        <p:par>
                          <p:cTn id="22" fill="hold">
                            <p:stCondLst>
                              <p:cond delay="2500"/>
                            </p:stCondLst>
                            <p:childTnLst>
                              <p:par>
                                <p:cTn id="23" presetID="1" presetClass="exit" presetSubtype="0" fill="hold" nodeType="afterEffect">
                                  <p:stCondLst>
                                    <p:cond delay="0"/>
                                  </p:stCondLst>
                                  <p:childTnLst>
                                    <p:set>
                                      <p:cBhvr>
                                        <p:cTn id="24" dur="1" fill="hold">
                                          <p:stCondLst>
                                            <p:cond delay="0"/>
                                          </p:stCondLst>
                                        </p:cTn>
                                        <p:tgtEl>
                                          <p:spTgt spid="1428"/>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437"/>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381"/>
                                        </p:tgtEl>
                                        <p:attrNameLst>
                                          <p:attrName>style.visibility</p:attrName>
                                        </p:attrNameLst>
                                      </p:cBhvr>
                                      <p:to>
                                        <p:strVal val="hidden"/>
                                      </p:to>
                                    </p:set>
                                  </p:childTnLst>
                                </p:cTn>
                              </p:par>
                            </p:childTnLst>
                          </p:cTn>
                        </p:par>
                        <p:par>
                          <p:cTn id="29" fill="hold">
                            <p:stCondLst>
                              <p:cond delay="2500"/>
                            </p:stCondLst>
                            <p:childTnLst>
                              <p:par>
                                <p:cTn id="30" presetID="22" presetClass="entr" presetSubtype="4" fill="hold" nodeType="afterEffect">
                                  <p:stCondLst>
                                    <p:cond delay="0"/>
                                  </p:stCondLst>
                                  <p:childTnLst>
                                    <p:set>
                                      <p:cBhvr>
                                        <p:cTn id="31" dur="1" fill="hold">
                                          <p:stCondLst>
                                            <p:cond delay="0"/>
                                          </p:stCondLst>
                                        </p:cTn>
                                        <p:tgtEl>
                                          <p:spTgt spid="1440"/>
                                        </p:tgtEl>
                                        <p:attrNameLst>
                                          <p:attrName>style.visibility</p:attrName>
                                        </p:attrNameLst>
                                      </p:cBhvr>
                                      <p:to>
                                        <p:strVal val="visible"/>
                                      </p:to>
                                    </p:set>
                                    <p:animEffect transition="in" filter="wipe(down)">
                                      <p:cBhvr>
                                        <p:cTn id="32" dur="500"/>
                                        <p:tgtEl>
                                          <p:spTgt spid="1440"/>
                                        </p:tgtEl>
                                      </p:cBhvr>
                                    </p:animEffect>
                                  </p:childTnLst>
                                </p:cTn>
                              </p:par>
                            </p:childTnLst>
                          </p:cTn>
                        </p:par>
                        <p:par>
                          <p:cTn id="33" fill="hold">
                            <p:stCondLst>
                              <p:cond delay="3000"/>
                            </p:stCondLst>
                            <p:childTnLst>
                              <p:par>
                                <p:cTn id="34" presetID="22" presetClass="entr" presetSubtype="4" fill="hold" nodeType="afterEffect">
                                  <p:stCondLst>
                                    <p:cond delay="0"/>
                                  </p:stCondLst>
                                  <p:childTnLst>
                                    <p:set>
                                      <p:cBhvr>
                                        <p:cTn id="35" dur="1" fill="hold">
                                          <p:stCondLst>
                                            <p:cond delay="0"/>
                                          </p:stCondLst>
                                        </p:cTn>
                                        <p:tgtEl>
                                          <p:spTgt spid="1449"/>
                                        </p:tgtEl>
                                        <p:attrNameLst>
                                          <p:attrName>style.visibility</p:attrName>
                                        </p:attrNameLst>
                                      </p:cBhvr>
                                      <p:to>
                                        <p:strVal val="visible"/>
                                      </p:to>
                                    </p:set>
                                    <p:animEffect transition="in" filter="wipe(down)">
                                      <p:cBhvr>
                                        <p:cTn id="36" dur="1000"/>
                                        <p:tgtEl>
                                          <p:spTgt spid="1449"/>
                                        </p:tgtEl>
                                      </p:cBhvr>
                                    </p:animEffect>
                                  </p:childTnLst>
                                </p:cTn>
                              </p:par>
                              <p:par>
                                <p:cTn id="37" presetID="1" presetClass="exit" presetSubtype="0" fill="hold" nodeType="withEffect">
                                  <p:stCondLst>
                                    <p:cond delay="0"/>
                                  </p:stCondLst>
                                  <p:childTnLst>
                                    <p:set>
                                      <p:cBhvr>
                                        <p:cTn id="38" dur="1" fill="hold">
                                          <p:stCondLst>
                                            <p:cond delay="0"/>
                                          </p:stCondLst>
                                        </p:cTn>
                                        <p:tgtEl>
                                          <p:spTgt spid="1414"/>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8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1" grpId="0" build="p"/>
      <p:bldP spid="1307" grpId="0" build="p"/>
      <p:bldP spid="1485"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664"/>
        <p:cNvGrpSpPr/>
        <p:nvPr/>
      </p:nvGrpSpPr>
      <p:grpSpPr>
        <a:xfrm>
          <a:off x="0" y="0"/>
          <a:ext cx="0" cy="0"/>
          <a:chOff x="0" y="0"/>
          <a:chExt cx="0" cy="0"/>
        </a:xfrm>
      </p:grpSpPr>
      <p:sp>
        <p:nvSpPr>
          <p:cNvPr id="1665" name="Google Shape;1665;p58"/>
          <p:cNvSpPr txBox="1">
            <a:spLocks noGrp="1"/>
          </p:cNvSpPr>
          <p:nvPr>
            <p:ph type="ftr" idx="11"/>
          </p:nvPr>
        </p:nvSpPr>
        <p:spPr>
          <a:xfrm>
            <a:off x="5532438" y="6467475"/>
            <a:ext cx="2895600" cy="28733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Tahoma"/>
                <a:ea typeface="Tahoma"/>
                <a:cs typeface="Tahoma"/>
                <a:sym typeface="Tahoma"/>
              </a:rPr>
              <a:t>Network Layer</a:t>
            </a:r>
            <a:endParaRPr/>
          </a:p>
        </p:txBody>
      </p:sp>
      <p:sp>
        <p:nvSpPr>
          <p:cNvPr id="1666" name="Google Shape;1666;p58"/>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112</a:t>
            </a:fld>
            <a:endParaRPr sz="1200">
              <a:solidFill>
                <a:schemeClr val="dk1"/>
              </a:solidFill>
              <a:latin typeface="Tahoma"/>
              <a:ea typeface="Tahoma"/>
              <a:cs typeface="Tahoma"/>
              <a:sym typeface="Tahoma"/>
            </a:endParaRPr>
          </a:p>
        </p:txBody>
      </p:sp>
      <p:pic>
        <p:nvPicPr>
          <p:cNvPr id="1667" name="Google Shape;1667;p58" descr="underline_base"/>
          <p:cNvPicPr preferRelativeResize="0"/>
          <p:nvPr/>
        </p:nvPicPr>
        <p:blipFill rotWithShape="1">
          <a:blip r:embed="rId3">
            <a:alphaModFix/>
          </a:blip>
          <a:srcRect/>
          <a:stretch/>
        </p:blipFill>
        <p:spPr>
          <a:xfrm>
            <a:off x="366713" y="650875"/>
            <a:ext cx="3656012" cy="173038"/>
          </a:xfrm>
          <a:prstGeom prst="rect">
            <a:avLst/>
          </a:prstGeom>
          <a:noFill/>
          <a:ln>
            <a:noFill/>
          </a:ln>
        </p:spPr>
      </p:pic>
      <p:sp>
        <p:nvSpPr>
          <p:cNvPr id="1668" name="Google Shape;1668;p58"/>
          <p:cNvSpPr txBox="1">
            <a:spLocks noGrp="1"/>
          </p:cNvSpPr>
          <p:nvPr>
            <p:ph type="title"/>
          </p:nvPr>
        </p:nvSpPr>
        <p:spPr>
          <a:xfrm>
            <a:off x="358775" y="133350"/>
            <a:ext cx="3703638" cy="603250"/>
          </a:xfrm>
          <a:prstGeom prst="rect">
            <a:avLst/>
          </a:prstGeom>
          <a:noFill/>
          <a:ln>
            <a:noFill/>
          </a:ln>
        </p:spPr>
        <p:txBody>
          <a:bodyPr spcFirstLastPara="1" wrap="square" lIns="91425" tIns="45700" rIns="91425" bIns="45700" anchor="ctr" anchorCtr="0">
            <a:noAutofit/>
          </a:bodyPr>
          <a:lstStyle/>
          <a:p>
            <a:pPr marL="0" lvl="0" indent="0" algn="l" rtl="0">
              <a:lnSpc>
                <a:spcPct val="75000"/>
              </a:lnSpc>
              <a:spcBef>
                <a:spcPts val="0"/>
              </a:spcBef>
              <a:spcAft>
                <a:spcPts val="0"/>
              </a:spcAft>
              <a:buNone/>
            </a:pPr>
            <a:r>
              <a:rPr lang="en-US" sz="1800"/>
              <a:t>DHCP: Example Wireshark output </a:t>
            </a:r>
            <a:r>
              <a:rPr lang="en-US" sz="1600"/>
              <a:t>(home LAN)</a:t>
            </a:r>
            <a:endParaRPr/>
          </a:p>
        </p:txBody>
      </p:sp>
      <p:sp>
        <p:nvSpPr>
          <p:cNvPr id="1669" name="Google Shape;1669;p58"/>
          <p:cNvSpPr txBox="1"/>
          <p:nvPr/>
        </p:nvSpPr>
        <p:spPr>
          <a:xfrm>
            <a:off x="4584700" y="1428750"/>
            <a:ext cx="4533900" cy="4371975"/>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Message type: </a:t>
            </a:r>
            <a:r>
              <a:rPr lang="en-US" sz="1200" b="1">
                <a:solidFill>
                  <a:srgbClr val="FF0000"/>
                </a:solidFill>
                <a:latin typeface="Arial"/>
                <a:ea typeface="Arial"/>
                <a:cs typeface="Arial"/>
                <a:sym typeface="Arial"/>
              </a:rPr>
              <a:t>Boot Reply (2)</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Hardware type: Ethernet</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Hardware address length: 6</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Hops: 0</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Transaction ID: 0x6b3a11b7</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Seconds elapsed: 0</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Bootp flags: 0x0000 (Unicast)</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Client IP address: 192.168.1.101 (192.168.1.101)</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Your (client) IP address: 0.0.0.0 (0.0.0.0)</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Next server IP address: 192.168.1.1 (192.168.1.1)</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Relay agent IP address: 0.0.0.0 (0.0.0.0)</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Client MAC address: Wistron_23:68:8a (00:16:d3:23:68:8a)</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Server host name not given</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Boot file name not given</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Magic cookie: (OK)</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Option: (t=53,l=1) DHCP Message Type = DHCP ACK</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Option: (t=54,l=4) Server Identifier = 192.168.1.1</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Option: (t=1,l=4) Subnet Mask = 255.255.255.0</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Option: (t=3,l=4) Router = 192.168.1.1</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Option: (6) Domain Name Server</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     Length: 12; Value: 445747E2445749F244574092; </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      IP Address: 68.87.71.226;</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      IP Address: 68.87.73.242; </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      IP Address: 68.87.64.146</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Option: (t=15,l=20) Domain Name = "hsd1.ma.comcast.net."</a:t>
            </a:r>
            <a:endParaRPr/>
          </a:p>
          <a:p>
            <a:pPr marL="0" marR="0" lvl="0" indent="0" algn="l" rtl="0">
              <a:lnSpc>
                <a:spcPct val="90000"/>
              </a:lnSpc>
              <a:spcBef>
                <a:spcPts val="0"/>
              </a:spcBef>
              <a:spcAft>
                <a:spcPts val="0"/>
              </a:spcAft>
              <a:buNone/>
            </a:pPr>
            <a:endParaRPr sz="1000">
              <a:solidFill>
                <a:schemeClr val="dk1"/>
              </a:solidFill>
              <a:latin typeface="Arial"/>
              <a:ea typeface="Arial"/>
              <a:cs typeface="Arial"/>
              <a:sym typeface="Arial"/>
            </a:endParaRPr>
          </a:p>
        </p:txBody>
      </p:sp>
      <p:sp>
        <p:nvSpPr>
          <p:cNvPr id="1670" name="Google Shape;1670;p58"/>
          <p:cNvSpPr txBox="1"/>
          <p:nvPr/>
        </p:nvSpPr>
        <p:spPr>
          <a:xfrm>
            <a:off x="7907338" y="977900"/>
            <a:ext cx="628650" cy="338138"/>
          </a:xfrm>
          <a:prstGeom prst="rect">
            <a:avLst/>
          </a:prstGeom>
          <a:solidFill>
            <a:schemeClr val="accent1"/>
          </a:solidFill>
          <a:ln w="25400" cap="flat" cmpd="sng">
            <a:solidFill>
              <a:srgbClr val="00946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CC0000"/>
                </a:solidFill>
                <a:latin typeface="Arial"/>
                <a:ea typeface="Arial"/>
                <a:cs typeface="Arial"/>
                <a:sym typeface="Arial"/>
              </a:rPr>
              <a:t>reply</a:t>
            </a:r>
            <a:endParaRPr/>
          </a:p>
        </p:txBody>
      </p:sp>
      <p:sp>
        <p:nvSpPr>
          <p:cNvPr id="1671" name="Google Shape;1671;p58"/>
          <p:cNvSpPr txBox="1"/>
          <p:nvPr/>
        </p:nvSpPr>
        <p:spPr>
          <a:xfrm>
            <a:off x="34925" y="1397000"/>
            <a:ext cx="4435475" cy="4746625"/>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Message type: </a:t>
            </a:r>
            <a:r>
              <a:rPr lang="en-US" sz="1200" b="1" u="sng">
                <a:solidFill>
                  <a:srgbClr val="FF0000"/>
                </a:solidFill>
                <a:latin typeface="Arial"/>
                <a:ea typeface="Arial"/>
                <a:cs typeface="Arial"/>
                <a:sym typeface="Arial"/>
              </a:rPr>
              <a:t>Boot Request (1)</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Hardware type: Ethernet</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Hardware address length: 6</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Hops: 0</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Transaction ID: 0x6b3a11b7</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Seconds elapsed: 0</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Bootp flags: 0x0000 (Unicast)</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Client IP address: 0.0.0.0 (0.0.0.0)</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Your (client) IP address: 0.0.0.0 (0.0.0.0)</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Next server IP address: 0.0.0.0 (0.0.0.0)</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Relay agent IP address: 0.0.0.0 (0.0.0.0)</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Client MAC address: Wistron_23:68:8a (00:16:d3:23:68:8a)</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Server host name not given</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Boot file name not given</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Magic cookie: (OK)</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Option: (t=53,l=1) </a:t>
            </a:r>
            <a:r>
              <a:rPr lang="en-US" sz="1200" b="1">
                <a:solidFill>
                  <a:srgbClr val="FF0000"/>
                </a:solidFill>
                <a:latin typeface="Arial"/>
                <a:ea typeface="Arial"/>
                <a:cs typeface="Arial"/>
                <a:sym typeface="Arial"/>
              </a:rPr>
              <a:t>DHCP Message Type = DHCP Request</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Option: (61) Client identifier</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     Length: 7; Value: 010016D323688A; </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     Hardware type: Ethernet</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     Client MAC address: Wistron_23:68:8a (00:16:d3:23:68:8a)</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Option: (t=50,l=4) Requested IP Address = 192.168.1.101</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Option: (t=12,l=5) Host Name = "nomad"</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Option: (55) Parameter Request List</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     Length: 11; Value: 010F03062C2E2F1F21F92B</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     </a:t>
            </a:r>
            <a:r>
              <a:rPr lang="en-US" sz="1200" b="1">
                <a:solidFill>
                  <a:srgbClr val="FF0000"/>
                </a:solidFill>
                <a:latin typeface="Arial"/>
                <a:ea typeface="Arial"/>
                <a:cs typeface="Arial"/>
                <a:sym typeface="Arial"/>
              </a:rPr>
              <a:t>1 = Subnet Mask; 15 = Domain Name</a:t>
            </a:r>
            <a:endParaRPr/>
          </a:p>
          <a:p>
            <a:pPr marL="0" marR="0" lvl="0" indent="0" algn="l" rtl="0">
              <a:lnSpc>
                <a:spcPct val="90000"/>
              </a:lnSpc>
              <a:spcBef>
                <a:spcPts val="0"/>
              </a:spcBef>
              <a:spcAft>
                <a:spcPts val="0"/>
              </a:spcAft>
              <a:buNone/>
            </a:pPr>
            <a:r>
              <a:rPr lang="en-US" sz="1200" b="1">
                <a:solidFill>
                  <a:srgbClr val="FF0000"/>
                </a:solidFill>
                <a:latin typeface="Arial"/>
                <a:ea typeface="Arial"/>
                <a:cs typeface="Arial"/>
                <a:sym typeface="Arial"/>
              </a:rPr>
              <a:t>     3 = Router; 6 = Domain Name Server</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     44 = NetBIOS over TCP/IP Name Server</a:t>
            </a:r>
            <a:endParaRPr/>
          </a:p>
          <a:p>
            <a:pPr marL="0" marR="0" lvl="0" indent="0" algn="l" rtl="0">
              <a:lnSpc>
                <a:spcPct val="90000"/>
              </a:lnSpc>
              <a:spcBef>
                <a:spcPts val="0"/>
              </a:spcBef>
              <a:spcAft>
                <a:spcPts val="0"/>
              </a:spcAft>
              <a:buNone/>
            </a:pPr>
            <a:r>
              <a:rPr lang="en-US" sz="1200">
                <a:solidFill>
                  <a:schemeClr val="dk1"/>
                </a:solidFill>
                <a:latin typeface="Arial"/>
                <a:ea typeface="Arial"/>
                <a:cs typeface="Arial"/>
                <a:sym typeface="Arial"/>
              </a:rPr>
              <a:t>     ……</a:t>
            </a:r>
            <a:endParaRPr/>
          </a:p>
        </p:txBody>
      </p:sp>
      <p:sp>
        <p:nvSpPr>
          <p:cNvPr id="1672" name="Google Shape;1672;p58"/>
          <p:cNvSpPr txBox="1"/>
          <p:nvPr/>
        </p:nvSpPr>
        <p:spPr>
          <a:xfrm>
            <a:off x="2613025" y="944563"/>
            <a:ext cx="868363" cy="338137"/>
          </a:xfrm>
          <a:prstGeom prst="rect">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CC0000"/>
                </a:solidFill>
                <a:latin typeface="Arial"/>
                <a:ea typeface="Arial"/>
                <a:cs typeface="Arial"/>
                <a:sym typeface="Arial"/>
              </a:rPr>
              <a:t>request</a:t>
            </a:r>
            <a:endParaRPr sz="2400">
              <a:solidFill>
                <a:srgbClr val="CC0000"/>
              </a:solidFill>
              <a:latin typeface="Arial"/>
              <a:ea typeface="Arial"/>
              <a:cs typeface="Arial"/>
              <a:sym typeface="Arial"/>
            </a:endParaRPr>
          </a:p>
        </p:txBody>
      </p:sp>
      <p:cxnSp>
        <p:nvCxnSpPr>
          <p:cNvPr id="1673" name="Google Shape;1673;p58"/>
          <p:cNvCxnSpPr/>
          <p:nvPr/>
        </p:nvCxnSpPr>
        <p:spPr>
          <a:xfrm rot="-5400000" flipH="1">
            <a:off x="1774031" y="3507582"/>
            <a:ext cx="5322887" cy="8255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sp>
        <p:nvSpPr>
          <p:cNvPr id="1674" name="Google Shape;1674;p58"/>
          <p:cNvSpPr/>
          <p:nvPr/>
        </p:nvSpPr>
        <p:spPr>
          <a:xfrm>
            <a:off x="1310788" y="3881236"/>
            <a:ext cx="2892909" cy="247852"/>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5" name="Google Shape;1675;p58"/>
          <p:cNvSpPr/>
          <p:nvPr/>
        </p:nvSpPr>
        <p:spPr>
          <a:xfrm>
            <a:off x="63501" y="5050532"/>
            <a:ext cx="3779838" cy="1007370"/>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6" name="Google Shape;1676;p58"/>
          <p:cNvSpPr/>
          <p:nvPr/>
        </p:nvSpPr>
        <p:spPr>
          <a:xfrm>
            <a:off x="4660902" y="2606040"/>
            <a:ext cx="3468686" cy="222884"/>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7" name="Google Shape;1677;p58"/>
          <p:cNvSpPr/>
          <p:nvPr/>
        </p:nvSpPr>
        <p:spPr>
          <a:xfrm>
            <a:off x="4584699" y="3926956"/>
            <a:ext cx="4416425" cy="1805189"/>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6933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74"/>
                                        </p:tgtEl>
                                        <p:attrNameLst>
                                          <p:attrName>style.visibility</p:attrName>
                                        </p:attrNameLst>
                                      </p:cBhvr>
                                      <p:to>
                                        <p:strVal val="visible"/>
                                      </p:to>
                                    </p:set>
                                    <p:anim calcmode="lin" valueType="num">
                                      <p:cBhvr additive="base">
                                        <p:cTn id="7" dur="500"/>
                                        <p:tgtEl>
                                          <p:spTgt spid="167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75"/>
                                        </p:tgtEl>
                                        <p:attrNameLst>
                                          <p:attrName>style.visibility</p:attrName>
                                        </p:attrNameLst>
                                      </p:cBhvr>
                                      <p:to>
                                        <p:strVal val="visible"/>
                                      </p:to>
                                    </p:set>
                                    <p:anim calcmode="lin" valueType="num">
                                      <p:cBhvr additive="base">
                                        <p:cTn id="12" dur="500"/>
                                        <p:tgtEl>
                                          <p:spTgt spid="167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76"/>
                                        </p:tgtEl>
                                        <p:attrNameLst>
                                          <p:attrName>style.visibility</p:attrName>
                                        </p:attrNameLst>
                                      </p:cBhvr>
                                      <p:to>
                                        <p:strVal val="visible"/>
                                      </p:to>
                                    </p:set>
                                    <p:anim calcmode="lin" valueType="num">
                                      <p:cBhvr additive="base">
                                        <p:cTn id="17" dur="500"/>
                                        <p:tgtEl>
                                          <p:spTgt spid="167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677"/>
                                        </p:tgtEl>
                                        <p:attrNameLst>
                                          <p:attrName>style.visibility</p:attrName>
                                        </p:attrNameLst>
                                      </p:cBhvr>
                                      <p:to>
                                        <p:strVal val="visible"/>
                                      </p:to>
                                    </p:set>
                                    <p:anim calcmode="lin" valueType="num">
                                      <p:cBhvr additive="base">
                                        <p:cTn id="22" dur="500"/>
                                        <p:tgtEl>
                                          <p:spTgt spid="16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681"/>
        <p:cNvGrpSpPr/>
        <p:nvPr/>
      </p:nvGrpSpPr>
      <p:grpSpPr>
        <a:xfrm>
          <a:off x="0" y="0"/>
          <a:ext cx="0" cy="0"/>
          <a:chOff x="0" y="0"/>
          <a:chExt cx="0" cy="0"/>
        </a:xfrm>
      </p:grpSpPr>
      <p:sp>
        <p:nvSpPr>
          <p:cNvPr id="1683" name="Google Shape;1683;p59"/>
          <p:cNvSpPr txBox="1">
            <a:spLocks noGrp="1"/>
          </p:cNvSpPr>
          <p:nvPr>
            <p:ph type="sldNum" idx="12"/>
          </p:nvPr>
        </p:nvSpPr>
        <p:spPr>
          <a:xfrm>
            <a:off x="8324850" y="6462713"/>
            <a:ext cx="676275" cy="276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113</a:t>
            </a:fld>
            <a:endParaRPr sz="1200">
              <a:solidFill>
                <a:schemeClr val="dk1"/>
              </a:solidFill>
              <a:latin typeface="Tahoma"/>
              <a:ea typeface="Tahoma"/>
              <a:cs typeface="Tahoma"/>
              <a:sym typeface="Tahoma"/>
            </a:endParaRPr>
          </a:p>
        </p:txBody>
      </p:sp>
      <p:pic>
        <p:nvPicPr>
          <p:cNvPr id="1684" name="Google Shape;1684;p59"/>
          <p:cNvPicPr preferRelativeResize="0"/>
          <p:nvPr/>
        </p:nvPicPr>
        <p:blipFill rotWithShape="1">
          <a:blip r:embed="rId3">
            <a:alphaModFix/>
          </a:blip>
          <a:srcRect l="27948" t="4465" r="13955" b="57925"/>
          <a:stretch/>
        </p:blipFill>
        <p:spPr>
          <a:xfrm>
            <a:off x="1009650" y="763588"/>
            <a:ext cx="7083425" cy="2867025"/>
          </a:xfrm>
          <a:prstGeom prst="rect">
            <a:avLst/>
          </a:prstGeom>
          <a:noFill/>
          <a:ln>
            <a:noFill/>
          </a:ln>
        </p:spPr>
      </p:pic>
      <p:pic>
        <p:nvPicPr>
          <p:cNvPr id="1685" name="Google Shape;1685;p59"/>
          <p:cNvPicPr preferRelativeResize="0"/>
          <p:nvPr/>
        </p:nvPicPr>
        <p:blipFill rotWithShape="1">
          <a:blip r:embed="rId4">
            <a:alphaModFix/>
          </a:blip>
          <a:srcRect l="29886" t="18269" r="14615" b="53254"/>
          <a:stretch/>
        </p:blipFill>
        <p:spPr>
          <a:xfrm>
            <a:off x="1201738" y="4216400"/>
            <a:ext cx="6765925" cy="2170113"/>
          </a:xfrm>
          <a:prstGeom prst="rect">
            <a:avLst/>
          </a:prstGeom>
          <a:noFill/>
          <a:ln>
            <a:noFill/>
          </a:ln>
        </p:spPr>
      </p:pic>
      <p:pic>
        <p:nvPicPr>
          <p:cNvPr id="1686" name="Google Shape;1686;p59" descr="underline_base"/>
          <p:cNvPicPr preferRelativeResize="0"/>
          <p:nvPr/>
        </p:nvPicPr>
        <p:blipFill rotWithShape="1">
          <a:blip r:embed="rId5">
            <a:alphaModFix/>
          </a:blip>
          <a:srcRect/>
          <a:stretch/>
        </p:blipFill>
        <p:spPr>
          <a:xfrm>
            <a:off x="790575" y="517525"/>
            <a:ext cx="3656013" cy="173038"/>
          </a:xfrm>
          <a:prstGeom prst="rect">
            <a:avLst/>
          </a:prstGeom>
          <a:noFill/>
          <a:ln>
            <a:noFill/>
          </a:ln>
        </p:spPr>
      </p:pic>
      <p:sp>
        <p:nvSpPr>
          <p:cNvPr id="1687" name="Google Shape;1687;p59"/>
          <p:cNvSpPr txBox="1">
            <a:spLocks noGrp="1"/>
          </p:cNvSpPr>
          <p:nvPr>
            <p:ph type="title"/>
          </p:nvPr>
        </p:nvSpPr>
        <p:spPr>
          <a:xfrm>
            <a:off x="782638" y="0"/>
            <a:ext cx="4635500" cy="603250"/>
          </a:xfrm>
          <a:prstGeom prst="rect">
            <a:avLst/>
          </a:prstGeom>
          <a:noFill/>
          <a:ln>
            <a:noFill/>
          </a:ln>
        </p:spPr>
        <p:txBody>
          <a:bodyPr spcFirstLastPara="1" wrap="square" lIns="91425" tIns="45700" rIns="91425" bIns="45700" anchor="ctr" anchorCtr="0">
            <a:noAutofit/>
          </a:bodyPr>
          <a:lstStyle/>
          <a:p>
            <a:pPr marL="0" lvl="0" indent="0" algn="l" rtl="0">
              <a:lnSpc>
                <a:spcPct val="75000"/>
              </a:lnSpc>
              <a:spcBef>
                <a:spcPts val="0"/>
              </a:spcBef>
              <a:spcAft>
                <a:spcPts val="0"/>
              </a:spcAft>
              <a:buNone/>
            </a:pPr>
            <a:r>
              <a:rPr lang="en-US" sz="1800"/>
              <a:t>DHCP: Example Assignment </a:t>
            </a:r>
            <a:r>
              <a:rPr lang="en-US" sz="1600"/>
              <a:t>(home LAN)</a:t>
            </a:r>
            <a:endParaRPr/>
          </a:p>
        </p:txBody>
      </p:sp>
      <p:sp>
        <p:nvSpPr>
          <p:cNvPr id="1688" name="Google Shape;1688;p59"/>
          <p:cNvSpPr txBox="1"/>
          <p:nvPr/>
        </p:nvSpPr>
        <p:spPr>
          <a:xfrm>
            <a:off x="1214438" y="3821113"/>
            <a:ext cx="2265362" cy="307975"/>
          </a:xfrm>
          <a:prstGeom prst="rect">
            <a:avLst/>
          </a:prstGeom>
          <a:solidFill>
            <a:schemeClr val="accent1"/>
          </a:solidFill>
          <a:ln w="25400" cap="flat" cmpd="sng">
            <a:solidFill>
              <a:srgbClr val="00946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DHCP Server Assignment</a:t>
            </a:r>
            <a:endParaRPr/>
          </a:p>
        </p:txBody>
      </p:sp>
      <p:sp>
        <p:nvSpPr>
          <p:cNvPr id="1689" name="Google Shape;1689;p59"/>
          <p:cNvSpPr txBox="1"/>
          <p:nvPr/>
        </p:nvSpPr>
        <p:spPr>
          <a:xfrm>
            <a:off x="6170613" y="371475"/>
            <a:ext cx="2112962" cy="306388"/>
          </a:xfrm>
          <a:prstGeom prst="rect">
            <a:avLst/>
          </a:prstGeom>
          <a:solidFill>
            <a:schemeClr val="accent1"/>
          </a:solidFill>
          <a:ln w="25400" cap="flat" cmpd="sng">
            <a:solidFill>
              <a:srgbClr val="00946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TCP/IP Client Setting</a:t>
            </a:r>
            <a:endParaRPr/>
          </a:p>
        </p:txBody>
      </p:sp>
      <p:sp>
        <p:nvSpPr>
          <p:cNvPr id="1690" name="Google Shape;1690;p59"/>
          <p:cNvSpPr/>
          <p:nvPr/>
        </p:nvSpPr>
        <p:spPr>
          <a:xfrm>
            <a:off x="1841500" y="5270090"/>
            <a:ext cx="2501900" cy="176981"/>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1" name="Google Shape;1691;p59"/>
          <p:cNvSpPr/>
          <p:nvPr/>
        </p:nvSpPr>
        <p:spPr>
          <a:xfrm>
            <a:off x="1841500" y="5504887"/>
            <a:ext cx="2501900" cy="176981"/>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2" name="Google Shape;1692;p59"/>
          <p:cNvSpPr/>
          <p:nvPr/>
        </p:nvSpPr>
        <p:spPr>
          <a:xfrm>
            <a:off x="1841500" y="5739684"/>
            <a:ext cx="2501900" cy="176981"/>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3" name="Google Shape;1693;p59"/>
          <p:cNvSpPr/>
          <p:nvPr/>
        </p:nvSpPr>
        <p:spPr>
          <a:xfrm>
            <a:off x="1201738" y="2616840"/>
            <a:ext cx="2501900" cy="176981"/>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4" name="Google Shape;1694;p59"/>
          <p:cNvSpPr/>
          <p:nvPr/>
        </p:nvSpPr>
        <p:spPr>
          <a:xfrm>
            <a:off x="3185652" y="2958896"/>
            <a:ext cx="1052051" cy="256253"/>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5" name="Google Shape;1695;p59"/>
          <p:cNvSpPr/>
          <p:nvPr/>
        </p:nvSpPr>
        <p:spPr>
          <a:xfrm>
            <a:off x="4572000" y="1882187"/>
            <a:ext cx="1917290" cy="271078"/>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6" name="Google Shape;1696;p59"/>
          <p:cNvSpPr/>
          <p:nvPr/>
        </p:nvSpPr>
        <p:spPr>
          <a:xfrm>
            <a:off x="1849438" y="5967211"/>
            <a:ext cx="883930" cy="300444"/>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7" name="Google Shape;1697;p59"/>
          <p:cNvSpPr/>
          <p:nvPr/>
        </p:nvSpPr>
        <p:spPr>
          <a:xfrm>
            <a:off x="4774534" y="4592491"/>
            <a:ext cx="2776639" cy="1675163"/>
          </a:xfrm>
          <a:prstGeom prst="rect">
            <a:avLst/>
          </a:prstGeom>
          <a:solidFill>
            <a:srgbClr val="FFFF00">
              <a:alpha val="17647"/>
            </a:srgbClr>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5073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93"/>
                                        </p:tgtEl>
                                        <p:attrNameLst>
                                          <p:attrName>style.visibility</p:attrName>
                                        </p:attrNameLst>
                                      </p:cBhvr>
                                      <p:to>
                                        <p:strVal val="visible"/>
                                      </p:to>
                                    </p:set>
                                    <p:anim calcmode="lin" valueType="num">
                                      <p:cBhvr additive="base">
                                        <p:cTn id="7" dur="500"/>
                                        <p:tgtEl>
                                          <p:spTgt spid="169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94"/>
                                        </p:tgtEl>
                                        <p:attrNameLst>
                                          <p:attrName>style.visibility</p:attrName>
                                        </p:attrNameLst>
                                      </p:cBhvr>
                                      <p:to>
                                        <p:strVal val="visible"/>
                                      </p:to>
                                    </p:set>
                                    <p:anim calcmode="lin" valueType="num">
                                      <p:cBhvr additive="base">
                                        <p:cTn id="12" dur="500"/>
                                        <p:tgtEl>
                                          <p:spTgt spid="169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95"/>
                                        </p:tgtEl>
                                        <p:attrNameLst>
                                          <p:attrName>style.visibility</p:attrName>
                                        </p:attrNameLst>
                                      </p:cBhvr>
                                      <p:to>
                                        <p:strVal val="visible"/>
                                      </p:to>
                                    </p:set>
                                    <p:anim calcmode="lin" valueType="num">
                                      <p:cBhvr additive="base">
                                        <p:cTn id="17" dur="500"/>
                                        <p:tgtEl>
                                          <p:spTgt spid="1695"/>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690"/>
                                        </p:tgtEl>
                                        <p:attrNameLst>
                                          <p:attrName>style.visibility</p:attrName>
                                        </p:attrNameLst>
                                      </p:cBhvr>
                                      <p:to>
                                        <p:strVal val="visible"/>
                                      </p:to>
                                    </p:set>
                                    <p:anim calcmode="lin" valueType="num">
                                      <p:cBhvr additive="base">
                                        <p:cTn id="22" dur="500"/>
                                        <p:tgtEl>
                                          <p:spTgt spid="1690"/>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691"/>
                                        </p:tgtEl>
                                        <p:attrNameLst>
                                          <p:attrName>style.visibility</p:attrName>
                                        </p:attrNameLst>
                                      </p:cBhvr>
                                      <p:to>
                                        <p:strVal val="visible"/>
                                      </p:to>
                                    </p:set>
                                    <p:anim calcmode="lin" valueType="num">
                                      <p:cBhvr additive="base">
                                        <p:cTn id="27" dur="500"/>
                                        <p:tgtEl>
                                          <p:spTgt spid="169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692"/>
                                        </p:tgtEl>
                                        <p:attrNameLst>
                                          <p:attrName>style.visibility</p:attrName>
                                        </p:attrNameLst>
                                      </p:cBhvr>
                                      <p:to>
                                        <p:strVal val="visible"/>
                                      </p:to>
                                    </p:set>
                                    <p:anim calcmode="lin" valueType="num">
                                      <p:cBhvr additive="base">
                                        <p:cTn id="32" dur="500"/>
                                        <p:tgtEl>
                                          <p:spTgt spid="1692"/>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96"/>
                                        </p:tgtEl>
                                        <p:attrNameLst>
                                          <p:attrName>style.visibility</p:attrName>
                                        </p:attrNameLst>
                                      </p:cBhvr>
                                      <p:to>
                                        <p:strVal val="visible"/>
                                      </p:to>
                                    </p:set>
                                    <p:anim calcmode="lin" valueType="num">
                                      <p:cBhvr additive="base">
                                        <p:cTn id="37" dur="500"/>
                                        <p:tgtEl>
                                          <p:spTgt spid="169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697"/>
                                        </p:tgtEl>
                                        <p:attrNameLst>
                                          <p:attrName>style.visibility</p:attrName>
                                        </p:attrNameLst>
                                      </p:cBhvr>
                                      <p:to>
                                        <p:strVal val="visible"/>
                                      </p:to>
                                    </p:set>
                                    <p:anim calcmode="lin" valueType="num">
                                      <p:cBhvr additive="base">
                                        <p:cTn id="42" dur="500"/>
                                        <p:tgtEl>
                                          <p:spTgt spid="16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Shape 848"/>
        <p:cNvGrpSpPr/>
        <p:nvPr/>
      </p:nvGrpSpPr>
      <p:grpSpPr>
        <a:xfrm>
          <a:off x="0" y="0"/>
          <a:ext cx="0" cy="0"/>
          <a:chOff x="0" y="0"/>
          <a:chExt cx="0" cy="0"/>
        </a:xfrm>
      </p:grpSpPr>
      <p:sp>
        <p:nvSpPr>
          <p:cNvPr id="849" name="Google Shape;849;p43"/>
          <p:cNvSpPr txBox="1">
            <a:spLocks noGrp="1"/>
          </p:cNvSpPr>
          <p:nvPr>
            <p:ph type="title"/>
          </p:nvPr>
        </p:nvSpPr>
        <p:spPr>
          <a:xfrm>
            <a:off x="533400" y="207963"/>
            <a:ext cx="8316913" cy="9858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600"/>
              <a:t>Hierarchical addressing: route aggregation</a:t>
            </a:r>
            <a:endParaRPr/>
          </a:p>
        </p:txBody>
      </p:sp>
      <p:sp>
        <p:nvSpPr>
          <p:cNvPr id="850" name="Google Shape;850;p43"/>
          <p:cNvSpPr/>
          <p:nvPr/>
        </p:nvSpPr>
        <p:spPr>
          <a:xfrm>
            <a:off x="5175250" y="4121150"/>
            <a:ext cx="2019300" cy="295275"/>
          </a:xfrm>
          <a:custGeom>
            <a:avLst/>
            <a:gdLst/>
            <a:ahLst/>
            <a:cxnLst/>
            <a:rect l="l" t="t" r="r" b="b"/>
            <a:pathLst>
              <a:path w="1272" h="186" extrusionOk="0">
                <a:moveTo>
                  <a:pt x="0" y="0"/>
                </a:moveTo>
                <a:lnTo>
                  <a:pt x="1272" y="186"/>
                </a:lnTo>
              </a:path>
            </a:pathLst>
          </a:custGeom>
          <a:noFill/>
          <a:ln w="19050" cap="flat" cmpd="sng">
            <a:solidFill>
              <a:schemeClr val="dk1"/>
            </a:solidFill>
            <a:prstDash val="solid"/>
            <a:round/>
            <a:headEnd type="none" w="sm" len="sm"/>
            <a:tailEnd type="stealth"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851" name="Google Shape;851;p43"/>
          <p:cNvCxnSpPr/>
          <p:nvPr/>
        </p:nvCxnSpPr>
        <p:spPr>
          <a:xfrm rot="10800000" flipH="1">
            <a:off x="2832100" y="4397375"/>
            <a:ext cx="895350" cy="457200"/>
          </a:xfrm>
          <a:prstGeom prst="straightConnector1">
            <a:avLst/>
          </a:prstGeom>
          <a:noFill/>
          <a:ln w="19050" cap="flat" cmpd="sng">
            <a:solidFill>
              <a:schemeClr val="dk1"/>
            </a:solidFill>
            <a:prstDash val="solid"/>
            <a:round/>
            <a:headEnd type="none" w="med" len="med"/>
            <a:tailEnd type="none" w="med" len="med"/>
          </a:ln>
        </p:spPr>
      </p:cxnSp>
      <p:cxnSp>
        <p:nvCxnSpPr>
          <p:cNvPr id="852" name="Google Shape;852;p43"/>
          <p:cNvCxnSpPr/>
          <p:nvPr/>
        </p:nvCxnSpPr>
        <p:spPr>
          <a:xfrm>
            <a:off x="2860675" y="3768725"/>
            <a:ext cx="752475" cy="171450"/>
          </a:xfrm>
          <a:prstGeom prst="straightConnector1">
            <a:avLst/>
          </a:prstGeom>
          <a:noFill/>
          <a:ln w="19050" cap="flat" cmpd="sng">
            <a:solidFill>
              <a:schemeClr val="dk1"/>
            </a:solidFill>
            <a:prstDash val="solid"/>
            <a:round/>
            <a:headEnd type="none" w="med" len="med"/>
            <a:tailEnd type="none" w="med" len="med"/>
          </a:ln>
        </p:spPr>
      </p:cxnSp>
      <p:cxnSp>
        <p:nvCxnSpPr>
          <p:cNvPr id="853" name="Google Shape;853;p43"/>
          <p:cNvCxnSpPr/>
          <p:nvPr/>
        </p:nvCxnSpPr>
        <p:spPr>
          <a:xfrm>
            <a:off x="2927350" y="2987675"/>
            <a:ext cx="847725" cy="762000"/>
          </a:xfrm>
          <a:prstGeom prst="straightConnector1">
            <a:avLst/>
          </a:prstGeom>
          <a:noFill/>
          <a:ln w="19050" cap="flat" cmpd="sng">
            <a:solidFill>
              <a:schemeClr val="dk1"/>
            </a:solidFill>
            <a:prstDash val="solid"/>
            <a:round/>
            <a:headEnd type="none" w="med" len="med"/>
            <a:tailEnd type="none" w="med" len="med"/>
          </a:ln>
        </p:spPr>
      </p:cxnSp>
      <p:sp>
        <p:nvSpPr>
          <p:cNvPr id="854" name="Google Shape;854;p43"/>
          <p:cNvSpPr/>
          <p:nvPr/>
        </p:nvSpPr>
        <p:spPr>
          <a:xfrm>
            <a:off x="3573463" y="3567113"/>
            <a:ext cx="1773237" cy="979487"/>
          </a:xfrm>
          <a:custGeom>
            <a:avLst/>
            <a:gdLst/>
            <a:ahLst/>
            <a:cxnLst/>
            <a:rect l="l" t="t" r="r" b="b"/>
            <a:pathLst>
              <a:path w="1117" h="617" extrusionOk="0">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5" name="Google Shape;855;p43"/>
          <p:cNvSpPr txBox="1"/>
          <p:nvPr/>
        </p:nvSpPr>
        <p:spPr>
          <a:xfrm>
            <a:off x="5407025" y="3294063"/>
            <a:ext cx="1671638" cy="942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“Send me anything</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with addresses </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beginning </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200.23.16.0/20”</a:t>
            </a:r>
            <a:endParaRPr sz="1400">
              <a:solidFill>
                <a:schemeClr val="dk1"/>
              </a:solidFill>
              <a:latin typeface="Arial"/>
              <a:ea typeface="Arial"/>
              <a:cs typeface="Arial"/>
              <a:sym typeface="Arial"/>
            </a:endParaRPr>
          </a:p>
        </p:txBody>
      </p:sp>
      <p:grpSp>
        <p:nvGrpSpPr>
          <p:cNvPr id="856" name="Google Shape;856;p43"/>
          <p:cNvGrpSpPr/>
          <p:nvPr/>
        </p:nvGrpSpPr>
        <p:grpSpPr>
          <a:xfrm>
            <a:off x="758825" y="2760663"/>
            <a:ext cx="2338388" cy="404812"/>
            <a:chOff x="1004" y="1639"/>
            <a:chExt cx="1473" cy="255"/>
          </a:xfrm>
        </p:grpSpPr>
        <p:sp>
          <p:nvSpPr>
            <p:cNvPr id="857" name="Google Shape;857;p43"/>
            <p:cNvSpPr/>
            <p:nvPr/>
          </p:nvSpPr>
          <p:spPr>
            <a:xfrm>
              <a:off x="1004" y="1639"/>
              <a:ext cx="1473" cy="255"/>
            </a:xfrm>
            <a:custGeom>
              <a:avLst/>
              <a:gdLst/>
              <a:ahLst/>
              <a:cxnLst/>
              <a:rect l="l" t="t" r="r" b="b"/>
              <a:pathLst>
                <a:path w="1473" h="255" extrusionOk="0">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8" name="Google Shape;858;p43"/>
            <p:cNvSpPr txBox="1"/>
            <p:nvPr/>
          </p:nvSpPr>
          <p:spPr>
            <a:xfrm>
              <a:off x="1226" y="1664"/>
              <a:ext cx="970" cy="212"/>
            </a:xfrm>
            <a:prstGeom prst="rect">
              <a:avLst/>
            </a:prstGeom>
            <a:solidFill>
              <a:srgbClr val="66CC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200.23.16.0/23</a:t>
              </a:r>
              <a:endParaRPr sz="1800">
                <a:solidFill>
                  <a:schemeClr val="dk1"/>
                </a:solidFill>
                <a:latin typeface="Arial"/>
                <a:ea typeface="Arial"/>
                <a:cs typeface="Arial"/>
                <a:sym typeface="Arial"/>
              </a:endParaRPr>
            </a:p>
          </p:txBody>
        </p:sp>
      </p:grpSp>
      <p:grpSp>
        <p:nvGrpSpPr>
          <p:cNvPr id="859" name="Google Shape;859;p43"/>
          <p:cNvGrpSpPr/>
          <p:nvPr/>
        </p:nvGrpSpPr>
        <p:grpSpPr>
          <a:xfrm>
            <a:off x="787400" y="3351213"/>
            <a:ext cx="2338388" cy="404812"/>
            <a:chOff x="1004" y="1639"/>
            <a:chExt cx="1473" cy="255"/>
          </a:xfrm>
        </p:grpSpPr>
        <p:sp>
          <p:nvSpPr>
            <p:cNvPr id="860" name="Google Shape;860;p43"/>
            <p:cNvSpPr/>
            <p:nvPr/>
          </p:nvSpPr>
          <p:spPr>
            <a:xfrm>
              <a:off x="1004" y="1639"/>
              <a:ext cx="1473" cy="255"/>
            </a:xfrm>
            <a:custGeom>
              <a:avLst/>
              <a:gdLst/>
              <a:ahLst/>
              <a:cxnLst/>
              <a:rect l="l" t="t" r="r" b="b"/>
              <a:pathLst>
                <a:path w="1473" h="255" extrusionOk="0">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1" name="Google Shape;861;p43"/>
            <p:cNvSpPr txBox="1"/>
            <p:nvPr/>
          </p:nvSpPr>
          <p:spPr>
            <a:xfrm>
              <a:off x="1226" y="1664"/>
              <a:ext cx="970" cy="212"/>
            </a:xfrm>
            <a:prstGeom prst="rect">
              <a:avLst/>
            </a:prstGeom>
            <a:solidFill>
              <a:srgbClr val="66CC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200.23.18.0/23</a:t>
              </a:r>
              <a:endParaRPr sz="1800">
                <a:solidFill>
                  <a:schemeClr val="dk1"/>
                </a:solidFill>
                <a:latin typeface="Arial"/>
                <a:ea typeface="Arial"/>
                <a:cs typeface="Arial"/>
                <a:sym typeface="Arial"/>
              </a:endParaRPr>
            </a:p>
          </p:txBody>
        </p:sp>
      </p:grpSp>
      <p:grpSp>
        <p:nvGrpSpPr>
          <p:cNvPr id="862" name="Google Shape;862;p43"/>
          <p:cNvGrpSpPr/>
          <p:nvPr/>
        </p:nvGrpSpPr>
        <p:grpSpPr>
          <a:xfrm>
            <a:off x="701675" y="4770438"/>
            <a:ext cx="2338388" cy="404812"/>
            <a:chOff x="1004" y="1639"/>
            <a:chExt cx="1473" cy="255"/>
          </a:xfrm>
        </p:grpSpPr>
        <p:sp>
          <p:nvSpPr>
            <p:cNvPr id="863" name="Google Shape;863;p43"/>
            <p:cNvSpPr/>
            <p:nvPr/>
          </p:nvSpPr>
          <p:spPr>
            <a:xfrm>
              <a:off x="1004" y="1639"/>
              <a:ext cx="1473" cy="255"/>
            </a:xfrm>
            <a:custGeom>
              <a:avLst/>
              <a:gdLst/>
              <a:ahLst/>
              <a:cxnLst/>
              <a:rect l="l" t="t" r="r" b="b"/>
              <a:pathLst>
                <a:path w="1473" h="255" extrusionOk="0">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4" name="Google Shape;864;p43"/>
            <p:cNvSpPr txBox="1"/>
            <p:nvPr/>
          </p:nvSpPr>
          <p:spPr>
            <a:xfrm>
              <a:off x="1226" y="1664"/>
              <a:ext cx="970" cy="212"/>
            </a:xfrm>
            <a:prstGeom prst="rect">
              <a:avLst/>
            </a:prstGeom>
            <a:solidFill>
              <a:srgbClr val="66CC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200.23.30.0/23</a:t>
              </a:r>
              <a:endParaRPr sz="1800">
                <a:solidFill>
                  <a:schemeClr val="dk1"/>
                </a:solidFill>
                <a:latin typeface="Arial"/>
                <a:ea typeface="Arial"/>
                <a:cs typeface="Arial"/>
                <a:sym typeface="Arial"/>
              </a:endParaRPr>
            </a:p>
          </p:txBody>
        </p:sp>
      </p:grpSp>
      <p:sp>
        <p:nvSpPr>
          <p:cNvPr id="865" name="Google Shape;865;p43"/>
          <p:cNvSpPr txBox="1"/>
          <p:nvPr/>
        </p:nvSpPr>
        <p:spPr>
          <a:xfrm>
            <a:off x="3606800" y="3998913"/>
            <a:ext cx="1506538"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Fly-By-Night-ISP</a:t>
            </a:r>
            <a:endParaRPr sz="1800">
              <a:solidFill>
                <a:schemeClr val="dk1"/>
              </a:solidFill>
              <a:latin typeface="Arial"/>
              <a:ea typeface="Arial"/>
              <a:cs typeface="Arial"/>
              <a:sym typeface="Arial"/>
            </a:endParaRPr>
          </a:p>
        </p:txBody>
      </p:sp>
      <p:sp>
        <p:nvSpPr>
          <p:cNvPr id="866" name="Google Shape;866;p43"/>
          <p:cNvSpPr/>
          <p:nvPr/>
        </p:nvSpPr>
        <p:spPr>
          <a:xfrm>
            <a:off x="7169150" y="3095625"/>
            <a:ext cx="1444625" cy="2714625"/>
          </a:xfrm>
          <a:custGeom>
            <a:avLst/>
            <a:gdLst/>
            <a:ahLst/>
            <a:cxnLst/>
            <a:rect l="l" t="t" r="r" b="b"/>
            <a:pathLst>
              <a:path w="910" h="1710" extrusionOk="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7" name="Google Shape;867;p43"/>
          <p:cNvSpPr txBox="1"/>
          <p:nvPr/>
        </p:nvSpPr>
        <p:spPr>
          <a:xfrm>
            <a:off x="758825" y="2503488"/>
            <a:ext cx="133667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Organization 0</a:t>
            </a:r>
            <a:endParaRPr/>
          </a:p>
        </p:txBody>
      </p:sp>
      <p:sp>
        <p:nvSpPr>
          <p:cNvPr id="868" name="Google Shape;868;p43"/>
          <p:cNvSpPr txBox="1"/>
          <p:nvPr/>
        </p:nvSpPr>
        <p:spPr>
          <a:xfrm>
            <a:off x="787400" y="4513263"/>
            <a:ext cx="133667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Organization 7</a:t>
            </a:r>
            <a:endParaRPr/>
          </a:p>
        </p:txBody>
      </p:sp>
      <p:sp>
        <p:nvSpPr>
          <p:cNvPr id="869" name="Google Shape;869;p43"/>
          <p:cNvSpPr txBox="1"/>
          <p:nvPr/>
        </p:nvSpPr>
        <p:spPr>
          <a:xfrm>
            <a:off x="7407275" y="4322763"/>
            <a:ext cx="78422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Internet</a:t>
            </a:r>
            <a:endParaRPr/>
          </a:p>
        </p:txBody>
      </p:sp>
      <p:sp>
        <p:nvSpPr>
          <p:cNvPr id="870" name="Google Shape;870;p43"/>
          <p:cNvSpPr txBox="1"/>
          <p:nvPr/>
        </p:nvSpPr>
        <p:spPr>
          <a:xfrm>
            <a:off x="768350" y="3151188"/>
            <a:ext cx="133667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Organization 1</a:t>
            </a:r>
            <a:endParaRPr/>
          </a:p>
        </p:txBody>
      </p:sp>
      <p:sp>
        <p:nvSpPr>
          <p:cNvPr id="871" name="Google Shape;871;p43"/>
          <p:cNvSpPr/>
          <p:nvPr/>
        </p:nvSpPr>
        <p:spPr>
          <a:xfrm>
            <a:off x="3516313" y="4881563"/>
            <a:ext cx="1773237" cy="979487"/>
          </a:xfrm>
          <a:custGeom>
            <a:avLst/>
            <a:gdLst/>
            <a:ahLst/>
            <a:cxnLst/>
            <a:rect l="l" t="t" r="r" b="b"/>
            <a:pathLst>
              <a:path w="1117" h="617" extrusionOk="0">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2" name="Google Shape;872;p43"/>
          <p:cNvSpPr txBox="1"/>
          <p:nvPr/>
        </p:nvSpPr>
        <p:spPr>
          <a:xfrm>
            <a:off x="3816350" y="5256213"/>
            <a:ext cx="1023938"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ISPs-R-Us</a:t>
            </a:r>
            <a:endParaRPr sz="1800">
              <a:solidFill>
                <a:schemeClr val="dk1"/>
              </a:solidFill>
              <a:latin typeface="Arial"/>
              <a:ea typeface="Arial"/>
              <a:cs typeface="Arial"/>
              <a:sym typeface="Arial"/>
            </a:endParaRPr>
          </a:p>
        </p:txBody>
      </p:sp>
      <p:sp>
        <p:nvSpPr>
          <p:cNvPr id="873" name="Google Shape;873;p43"/>
          <p:cNvSpPr/>
          <p:nvPr/>
        </p:nvSpPr>
        <p:spPr>
          <a:xfrm rot="10800000" flipH="1">
            <a:off x="5241925" y="4902200"/>
            <a:ext cx="2019300" cy="295275"/>
          </a:xfrm>
          <a:custGeom>
            <a:avLst/>
            <a:gdLst/>
            <a:ahLst/>
            <a:cxnLst/>
            <a:rect l="l" t="t" r="r" b="b"/>
            <a:pathLst>
              <a:path w="1272" h="186" extrusionOk="0">
                <a:moveTo>
                  <a:pt x="0" y="0"/>
                </a:moveTo>
                <a:lnTo>
                  <a:pt x="1272" y="186"/>
                </a:lnTo>
              </a:path>
            </a:pathLst>
          </a:custGeom>
          <a:noFill/>
          <a:ln w="19050" cap="flat" cmpd="sng">
            <a:solidFill>
              <a:schemeClr val="dk1"/>
            </a:solidFill>
            <a:prstDash val="solid"/>
            <a:round/>
            <a:headEnd type="none" w="sm" len="sm"/>
            <a:tailEnd type="stealth"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874" name="Google Shape;874;p43"/>
          <p:cNvCxnSpPr/>
          <p:nvPr/>
        </p:nvCxnSpPr>
        <p:spPr>
          <a:xfrm>
            <a:off x="3032125" y="5445125"/>
            <a:ext cx="485775" cy="0"/>
          </a:xfrm>
          <a:prstGeom prst="straightConnector1">
            <a:avLst/>
          </a:prstGeom>
          <a:noFill/>
          <a:ln w="19050" cap="flat" cmpd="sng">
            <a:solidFill>
              <a:schemeClr val="dk1"/>
            </a:solidFill>
            <a:prstDash val="solid"/>
            <a:round/>
            <a:headEnd type="none" w="med" len="med"/>
            <a:tailEnd type="none" w="med" len="med"/>
          </a:ln>
        </p:spPr>
      </p:cxnSp>
      <p:cxnSp>
        <p:nvCxnSpPr>
          <p:cNvPr id="875" name="Google Shape;875;p43"/>
          <p:cNvCxnSpPr/>
          <p:nvPr/>
        </p:nvCxnSpPr>
        <p:spPr>
          <a:xfrm rot="10800000" flipH="1">
            <a:off x="2879725" y="5511800"/>
            <a:ext cx="638175" cy="171450"/>
          </a:xfrm>
          <a:prstGeom prst="straightConnector1">
            <a:avLst/>
          </a:prstGeom>
          <a:noFill/>
          <a:ln w="19050" cap="flat" cmpd="sng">
            <a:solidFill>
              <a:schemeClr val="dk1"/>
            </a:solidFill>
            <a:prstDash val="solid"/>
            <a:round/>
            <a:headEnd type="none" w="med" len="med"/>
            <a:tailEnd type="none" w="med" len="med"/>
          </a:ln>
        </p:spPr>
      </p:cxnSp>
      <p:cxnSp>
        <p:nvCxnSpPr>
          <p:cNvPr id="876" name="Google Shape;876;p43"/>
          <p:cNvCxnSpPr/>
          <p:nvPr/>
        </p:nvCxnSpPr>
        <p:spPr>
          <a:xfrm rot="10800000" flipH="1">
            <a:off x="3317875" y="5759450"/>
            <a:ext cx="247650" cy="409575"/>
          </a:xfrm>
          <a:prstGeom prst="straightConnector1">
            <a:avLst/>
          </a:prstGeom>
          <a:noFill/>
          <a:ln w="19050" cap="flat" cmpd="sng">
            <a:solidFill>
              <a:schemeClr val="dk1"/>
            </a:solidFill>
            <a:prstDash val="solid"/>
            <a:round/>
            <a:headEnd type="none" w="med" len="med"/>
            <a:tailEnd type="none" w="med" len="med"/>
          </a:ln>
        </p:spPr>
      </p:cxnSp>
      <p:sp>
        <p:nvSpPr>
          <p:cNvPr id="877" name="Google Shape;877;p43"/>
          <p:cNvSpPr txBox="1"/>
          <p:nvPr/>
        </p:nvSpPr>
        <p:spPr>
          <a:xfrm>
            <a:off x="5530850" y="5151438"/>
            <a:ext cx="1671638" cy="942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“Send me anything</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with addresses </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beginning </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199.31.0.0/16”</a:t>
            </a:r>
            <a:endParaRPr sz="1400">
              <a:solidFill>
                <a:schemeClr val="dk1"/>
              </a:solidFill>
              <a:latin typeface="Arial"/>
              <a:ea typeface="Arial"/>
              <a:cs typeface="Arial"/>
              <a:sym typeface="Arial"/>
            </a:endParaRPr>
          </a:p>
        </p:txBody>
      </p:sp>
      <p:grpSp>
        <p:nvGrpSpPr>
          <p:cNvPr id="878" name="Google Shape;878;p43"/>
          <p:cNvGrpSpPr/>
          <p:nvPr/>
        </p:nvGrpSpPr>
        <p:grpSpPr>
          <a:xfrm>
            <a:off x="806450" y="3941763"/>
            <a:ext cx="2338388" cy="404812"/>
            <a:chOff x="1004" y="1639"/>
            <a:chExt cx="1473" cy="255"/>
          </a:xfrm>
        </p:grpSpPr>
        <p:sp>
          <p:nvSpPr>
            <p:cNvPr id="879" name="Google Shape;879;p43"/>
            <p:cNvSpPr/>
            <p:nvPr/>
          </p:nvSpPr>
          <p:spPr>
            <a:xfrm>
              <a:off x="1004" y="1639"/>
              <a:ext cx="1473" cy="255"/>
            </a:xfrm>
            <a:custGeom>
              <a:avLst/>
              <a:gdLst/>
              <a:ahLst/>
              <a:cxnLst/>
              <a:rect l="l" t="t" r="r" b="b"/>
              <a:pathLst>
                <a:path w="1473" h="255" extrusionOk="0">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0" name="Google Shape;880;p43"/>
            <p:cNvSpPr txBox="1"/>
            <p:nvPr/>
          </p:nvSpPr>
          <p:spPr>
            <a:xfrm>
              <a:off x="1226" y="1664"/>
              <a:ext cx="970" cy="212"/>
            </a:xfrm>
            <a:prstGeom prst="rect">
              <a:avLst/>
            </a:prstGeom>
            <a:solidFill>
              <a:srgbClr val="66CC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200.23.20.0/23</a:t>
              </a:r>
              <a:endParaRPr sz="1800">
                <a:solidFill>
                  <a:schemeClr val="dk1"/>
                </a:solidFill>
                <a:latin typeface="Arial"/>
                <a:ea typeface="Arial"/>
                <a:cs typeface="Arial"/>
                <a:sym typeface="Arial"/>
              </a:endParaRPr>
            </a:p>
          </p:txBody>
        </p:sp>
      </p:grpSp>
      <p:sp>
        <p:nvSpPr>
          <p:cNvPr id="881" name="Google Shape;881;p43"/>
          <p:cNvSpPr txBox="1"/>
          <p:nvPr/>
        </p:nvSpPr>
        <p:spPr>
          <a:xfrm>
            <a:off x="787400" y="3741738"/>
            <a:ext cx="133667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Organization 2</a:t>
            </a:r>
            <a:endParaRPr/>
          </a:p>
        </p:txBody>
      </p:sp>
      <p:grpSp>
        <p:nvGrpSpPr>
          <p:cNvPr id="882" name="Google Shape;882;p43"/>
          <p:cNvGrpSpPr/>
          <p:nvPr/>
        </p:nvGrpSpPr>
        <p:grpSpPr>
          <a:xfrm>
            <a:off x="2155825" y="4198938"/>
            <a:ext cx="257175" cy="663575"/>
            <a:chOff x="870" y="2941"/>
            <a:chExt cx="162" cy="418"/>
          </a:xfrm>
        </p:grpSpPr>
        <p:sp>
          <p:nvSpPr>
            <p:cNvPr id="883" name="Google Shape;883;p43"/>
            <p:cNvSpPr txBox="1"/>
            <p:nvPr/>
          </p:nvSpPr>
          <p:spPr>
            <a:xfrm>
              <a:off x="872" y="2941"/>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884" name="Google Shape;884;p43"/>
            <p:cNvSpPr txBox="1"/>
            <p:nvPr/>
          </p:nvSpPr>
          <p:spPr>
            <a:xfrm>
              <a:off x="870" y="3026"/>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885" name="Google Shape;885;p43"/>
            <p:cNvSpPr txBox="1"/>
            <p:nvPr/>
          </p:nvSpPr>
          <p:spPr>
            <a:xfrm>
              <a:off x="871" y="3109"/>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grpSp>
      <p:grpSp>
        <p:nvGrpSpPr>
          <p:cNvPr id="886" name="Google Shape;886;p43"/>
          <p:cNvGrpSpPr/>
          <p:nvPr/>
        </p:nvGrpSpPr>
        <p:grpSpPr>
          <a:xfrm>
            <a:off x="3184525" y="3903663"/>
            <a:ext cx="257175" cy="663575"/>
            <a:chOff x="870" y="2941"/>
            <a:chExt cx="162" cy="418"/>
          </a:xfrm>
        </p:grpSpPr>
        <p:sp>
          <p:nvSpPr>
            <p:cNvPr id="887" name="Google Shape;887;p43"/>
            <p:cNvSpPr txBox="1"/>
            <p:nvPr/>
          </p:nvSpPr>
          <p:spPr>
            <a:xfrm>
              <a:off x="872" y="2941"/>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888" name="Google Shape;888;p43"/>
            <p:cNvSpPr txBox="1"/>
            <p:nvPr/>
          </p:nvSpPr>
          <p:spPr>
            <a:xfrm>
              <a:off x="870" y="3026"/>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889" name="Google Shape;889;p43"/>
            <p:cNvSpPr txBox="1"/>
            <p:nvPr/>
          </p:nvSpPr>
          <p:spPr>
            <a:xfrm>
              <a:off x="871" y="3109"/>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grpSp>
      <p:sp>
        <p:nvSpPr>
          <p:cNvPr id="890" name="Google Shape;890;p43"/>
          <p:cNvSpPr txBox="1"/>
          <p:nvPr/>
        </p:nvSpPr>
        <p:spPr>
          <a:xfrm>
            <a:off x="566738" y="1357313"/>
            <a:ext cx="810736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Gill Sans"/>
                <a:ea typeface="Gill Sans"/>
                <a:cs typeface="Gill Sans"/>
                <a:sym typeface="Gill Sans"/>
              </a:rPr>
              <a:t>hierarchical addressing allows efficient advertisement of routing information:</a:t>
            </a:r>
            <a:endParaRPr dirty="0"/>
          </a:p>
        </p:txBody>
      </p:sp>
      <p:pic>
        <p:nvPicPr>
          <p:cNvPr id="891" name="Google Shape;891;p43" descr="underline_base"/>
          <p:cNvPicPr preferRelativeResize="0"/>
          <p:nvPr/>
        </p:nvPicPr>
        <p:blipFill rotWithShape="1">
          <a:blip r:embed="rId3">
            <a:alphaModFix/>
          </a:blip>
          <a:srcRect/>
          <a:stretch/>
        </p:blipFill>
        <p:spPr>
          <a:xfrm>
            <a:off x="588963" y="900113"/>
            <a:ext cx="7769225" cy="173037"/>
          </a:xfrm>
          <a:prstGeom prst="rect">
            <a:avLst/>
          </a:prstGeom>
          <a:noFill/>
          <a:ln>
            <a:noFill/>
          </a:ln>
        </p:spPr>
      </p:pic>
      <p:sp>
        <p:nvSpPr>
          <p:cNvPr id="892" name="Google Shape;892;p43"/>
          <p:cNvSpPr txBox="1">
            <a:spLocks noGrp="1"/>
          </p:cNvSpPr>
          <p:nvPr>
            <p:ph type="sldNum" idx="12"/>
          </p:nvPr>
        </p:nvSpPr>
        <p:spPr>
          <a:xfrm>
            <a:off x="8393112" y="6475413"/>
            <a:ext cx="750888" cy="25082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114</a:t>
            </a:fld>
            <a:endParaRPr sz="1200">
              <a:solidFill>
                <a:schemeClr val="dk1"/>
              </a:solidFill>
              <a:latin typeface="Tahoma"/>
              <a:ea typeface="Tahoma"/>
              <a:cs typeface="Tahoma"/>
              <a:sym typeface="Tahoma"/>
            </a:endParaRPr>
          </a:p>
        </p:txBody>
      </p:sp>
      <p:sp>
        <p:nvSpPr>
          <p:cNvPr id="893" name="Google Shape;893;p43"/>
          <p:cNvSpPr txBox="1">
            <a:spLocks noGrp="1"/>
          </p:cNvSpPr>
          <p:nvPr>
            <p:ph type="ftr" idx="11"/>
          </p:nvPr>
        </p:nvSpPr>
        <p:spPr>
          <a:xfrm>
            <a:off x="6375400" y="6475413"/>
            <a:ext cx="2178050" cy="2413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200" dirty="0">
                <a:solidFill>
                  <a:srgbClr val="000000"/>
                </a:solidFill>
                <a:latin typeface="Tahoma"/>
                <a:ea typeface="Tahoma"/>
                <a:cs typeface="Tahoma"/>
                <a:sym typeface="Tahoma"/>
              </a:rPr>
              <a:t>Network Layer: Data Plane</a:t>
            </a:r>
            <a:endParaRPr dirty="0"/>
          </a:p>
        </p:txBody>
      </p:sp>
    </p:spTree>
    <p:extLst>
      <p:ext uri="{BB962C8B-B14F-4D97-AF65-F5344CB8AC3E}">
        <p14:creationId xmlns:p14="http://schemas.microsoft.com/office/powerpoint/2010/main" val="377240430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Shape 897"/>
        <p:cNvGrpSpPr/>
        <p:nvPr/>
      </p:nvGrpSpPr>
      <p:grpSpPr>
        <a:xfrm>
          <a:off x="0" y="0"/>
          <a:ext cx="0" cy="0"/>
          <a:chOff x="0" y="0"/>
          <a:chExt cx="0" cy="0"/>
        </a:xfrm>
      </p:grpSpPr>
      <p:sp>
        <p:nvSpPr>
          <p:cNvPr id="898" name="Google Shape;898;p44"/>
          <p:cNvSpPr/>
          <p:nvPr/>
        </p:nvSpPr>
        <p:spPr>
          <a:xfrm>
            <a:off x="7180263" y="3084513"/>
            <a:ext cx="1444625" cy="2714625"/>
          </a:xfrm>
          <a:custGeom>
            <a:avLst/>
            <a:gdLst/>
            <a:ahLst/>
            <a:cxnLst/>
            <a:rect l="l" t="t" r="r" b="b"/>
            <a:pathLst>
              <a:path w="910" h="1710" extrusionOk="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0" name="Google Shape;900;p44"/>
          <p:cNvSpPr/>
          <p:nvPr/>
        </p:nvSpPr>
        <p:spPr>
          <a:xfrm>
            <a:off x="5175250" y="4114800"/>
            <a:ext cx="2019300" cy="295275"/>
          </a:xfrm>
          <a:custGeom>
            <a:avLst/>
            <a:gdLst/>
            <a:ahLst/>
            <a:cxnLst/>
            <a:rect l="l" t="t" r="r" b="b"/>
            <a:pathLst>
              <a:path w="1272" h="186" extrusionOk="0">
                <a:moveTo>
                  <a:pt x="0" y="0"/>
                </a:moveTo>
                <a:lnTo>
                  <a:pt x="1272" y="186"/>
                </a:lnTo>
              </a:path>
            </a:pathLst>
          </a:custGeom>
          <a:noFill/>
          <a:ln w="19050" cap="flat" cmpd="sng">
            <a:solidFill>
              <a:schemeClr val="dk1"/>
            </a:solidFill>
            <a:prstDash val="solid"/>
            <a:round/>
            <a:headEnd type="none" w="sm" len="sm"/>
            <a:tailEnd type="stealth"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901" name="Google Shape;901;p44"/>
          <p:cNvCxnSpPr/>
          <p:nvPr/>
        </p:nvCxnSpPr>
        <p:spPr>
          <a:xfrm rot="10800000" flipH="1">
            <a:off x="2832100" y="4391025"/>
            <a:ext cx="895350" cy="457200"/>
          </a:xfrm>
          <a:prstGeom prst="straightConnector1">
            <a:avLst/>
          </a:prstGeom>
          <a:noFill/>
          <a:ln w="19050" cap="flat" cmpd="sng">
            <a:solidFill>
              <a:schemeClr val="dk1"/>
            </a:solidFill>
            <a:prstDash val="solid"/>
            <a:round/>
            <a:headEnd type="none" w="med" len="med"/>
            <a:tailEnd type="none" w="med" len="med"/>
          </a:ln>
        </p:spPr>
      </p:cxnSp>
      <p:cxnSp>
        <p:nvCxnSpPr>
          <p:cNvPr id="902" name="Google Shape;902;p44"/>
          <p:cNvCxnSpPr/>
          <p:nvPr/>
        </p:nvCxnSpPr>
        <p:spPr>
          <a:xfrm rot="10800000" flipH="1">
            <a:off x="3194050" y="5667375"/>
            <a:ext cx="333375" cy="247650"/>
          </a:xfrm>
          <a:prstGeom prst="straightConnector1">
            <a:avLst/>
          </a:prstGeom>
          <a:noFill/>
          <a:ln w="19050" cap="flat" cmpd="sng">
            <a:solidFill>
              <a:schemeClr val="dk1"/>
            </a:solidFill>
            <a:prstDash val="solid"/>
            <a:round/>
            <a:headEnd type="none" w="med" len="med"/>
            <a:tailEnd type="none" w="med" len="med"/>
          </a:ln>
        </p:spPr>
      </p:cxnSp>
      <p:cxnSp>
        <p:nvCxnSpPr>
          <p:cNvPr id="903" name="Google Shape;903;p44"/>
          <p:cNvCxnSpPr/>
          <p:nvPr/>
        </p:nvCxnSpPr>
        <p:spPr>
          <a:xfrm>
            <a:off x="2927350" y="2981325"/>
            <a:ext cx="847725" cy="762000"/>
          </a:xfrm>
          <a:prstGeom prst="straightConnector1">
            <a:avLst/>
          </a:prstGeom>
          <a:noFill/>
          <a:ln w="19050" cap="flat" cmpd="sng">
            <a:solidFill>
              <a:schemeClr val="dk1"/>
            </a:solidFill>
            <a:prstDash val="solid"/>
            <a:round/>
            <a:headEnd type="none" w="med" len="med"/>
            <a:tailEnd type="none" w="med" len="med"/>
          </a:ln>
        </p:spPr>
      </p:cxnSp>
      <p:sp>
        <p:nvSpPr>
          <p:cNvPr id="904" name="Google Shape;904;p44"/>
          <p:cNvSpPr/>
          <p:nvPr/>
        </p:nvSpPr>
        <p:spPr>
          <a:xfrm>
            <a:off x="3573463" y="3560763"/>
            <a:ext cx="1773237" cy="979487"/>
          </a:xfrm>
          <a:custGeom>
            <a:avLst/>
            <a:gdLst/>
            <a:ahLst/>
            <a:cxnLst/>
            <a:rect l="l" t="t" r="r" b="b"/>
            <a:pathLst>
              <a:path w="1117" h="617" extrusionOk="0">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5" name="Google Shape;905;p44"/>
          <p:cNvSpPr txBox="1"/>
          <p:nvPr/>
        </p:nvSpPr>
        <p:spPr>
          <a:xfrm>
            <a:off x="5407025" y="3287713"/>
            <a:ext cx="1671638" cy="942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“Send me anything</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with addresses </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beginning </a:t>
            </a:r>
            <a:endParaRPr/>
          </a:p>
          <a:p>
            <a:pPr marL="0" marR="0" lvl="0" indent="0" algn="l" rtl="0">
              <a:spcBef>
                <a:spcPts val="0"/>
              </a:spcBef>
              <a:spcAft>
                <a:spcPts val="0"/>
              </a:spcAft>
              <a:buNone/>
            </a:pPr>
            <a:r>
              <a:rPr lang="en-US" sz="1400" u="sng">
                <a:solidFill>
                  <a:srgbClr val="CC0000"/>
                </a:solidFill>
                <a:latin typeface="Arial"/>
                <a:ea typeface="Arial"/>
                <a:cs typeface="Arial"/>
                <a:sym typeface="Arial"/>
              </a:rPr>
              <a:t>200.23.16.0/20</a:t>
            </a: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906" name="Google Shape;906;p44"/>
          <p:cNvGrpSpPr/>
          <p:nvPr/>
        </p:nvGrpSpPr>
        <p:grpSpPr>
          <a:xfrm>
            <a:off x="758825" y="2754313"/>
            <a:ext cx="2338388" cy="404812"/>
            <a:chOff x="1004" y="1639"/>
            <a:chExt cx="1473" cy="255"/>
          </a:xfrm>
        </p:grpSpPr>
        <p:sp>
          <p:nvSpPr>
            <p:cNvPr id="907" name="Google Shape;907;p44"/>
            <p:cNvSpPr/>
            <p:nvPr/>
          </p:nvSpPr>
          <p:spPr>
            <a:xfrm>
              <a:off x="1004" y="1639"/>
              <a:ext cx="1473" cy="255"/>
            </a:xfrm>
            <a:custGeom>
              <a:avLst/>
              <a:gdLst/>
              <a:ahLst/>
              <a:cxnLst/>
              <a:rect l="l" t="t" r="r" b="b"/>
              <a:pathLst>
                <a:path w="1473" h="255" extrusionOk="0">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8" name="Google Shape;908;p44"/>
            <p:cNvSpPr txBox="1"/>
            <p:nvPr/>
          </p:nvSpPr>
          <p:spPr>
            <a:xfrm>
              <a:off x="1226" y="1664"/>
              <a:ext cx="970" cy="212"/>
            </a:xfrm>
            <a:prstGeom prst="rect">
              <a:avLst/>
            </a:prstGeom>
            <a:solidFill>
              <a:srgbClr val="66CC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200.23.16.0/23</a:t>
              </a:r>
              <a:endParaRPr sz="1800">
                <a:solidFill>
                  <a:schemeClr val="dk1"/>
                </a:solidFill>
                <a:latin typeface="Arial"/>
                <a:ea typeface="Arial"/>
                <a:cs typeface="Arial"/>
                <a:sym typeface="Arial"/>
              </a:endParaRPr>
            </a:p>
          </p:txBody>
        </p:sp>
      </p:grpSp>
      <p:grpSp>
        <p:nvGrpSpPr>
          <p:cNvPr id="909" name="Google Shape;909;p44"/>
          <p:cNvGrpSpPr/>
          <p:nvPr/>
        </p:nvGrpSpPr>
        <p:grpSpPr>
          <a:xfrm>
            <a:off x="968375" y="5830888"/>
            <a:ext cx="2338388" cy="404812"/>
            <a:chOff x="1004" y="1639"/>
            <a:chExt cx="1473" cy="255"/>
          </a:xfrm>
        </p:grpSpPr>
        <p:sp>
          <p:nvSpPr>
            <p:cNvPr id="910" name="Google Shape;910;p44"/>
            <p:cNvSpPr/>
            <p:nvPr/>
          </p:nvSpPr>
          <p:spPr>
            <a:xfrm>
              <a:off x="1004" y="1639"/>
              <a:ext cx="1473" cy="255"/>
            </a:xfrm>
            <a:custGeom>
              <a:avLst/>
              <a:gdLst/>
              <a:ahLst/>
              <a:cxnLst/>
              <a:rect l="l" t="t" r="r" b="b"/>
              <a:pathLst>
                <a:path w="1473" h="255" extrusionOk="0">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1" name="Google Shape;911;p44"/>
            <p:cNvSpPr txBox="1"/>
            <p:nvPr/>
          </p:nvSpPr>
          <p:spPr>
            <a:xfrm>
              <a:off x="1226" y="1664"/>
              <a:ext cx="970" cy="212"/>
            </a:xfrm>
            <a:prstGeom prst="rect">
              <a:avLst/>
            </a:prstGeom>
            <a:solidFill>
              <a:srgbClr val="66CC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200.23.18.0/23</a:t>
              </a:r>
              <a:endParaRPr sz="1800">
                <a:solidFill>
                  <a:schemeClr val="dk1"/>
                </a:solidFill>
                <a:latin typeface="Arial"/>
                <a:ea typeface="Arial"/>
                <a:cs typeface="Arial"/>
                <a:sym typeface="Arial"/>
              </a:endParaRPr>
            </a:p>
          </p:txBody>
        </p:sp>
      </p:grpSp>
      <p:grpSp>
        <p:nvGrpSpPr>
          <p:cNvPr id="912" name="Google Shape;912;p44"/>
          <p:cNvGrpSpPr/>
          <p:nvPr/>
        </p:nvGrpSpPr>
        <p:grpSpPr>
          <a:xfrm>
            <a:off x="701675" y="4764088"/>
            <a:ext cx="2338388" cy="404812"/>
            <a:chOff x="1004" y="1639"/>
            <a:chExt cx="1473" cy="255"/>
          </a:xfrm>
        </p:grpSpPr>
        <p:sp>
          <p:nvSpPr>
            <p:cNvPr id="913" name="Google Shape;913;p44"/>
            <p:cNvSpPr/>
            <p:nvPr/>
          </p:nvSpPr>
          <p:spPr>
            <a:xfrm>
              <a:off x="1004" y="1639"/>
              <a:ext cx="1473" cy="255"/>
            </a:xfrm>
            <a:custGeom>
              <a:avLst/>
              <a:gdLst/>
              <a:ahLst/>
              <a:cxnLst/>
              <a:rect l="l" t="t" r="r" b="b"/>
              <a:pathLst>
                <a:path w="1473" h="255" extrusionOk="0">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4" name="Google Shape;914;p44"/>
            <p:cNvSpPr txBox="1"/>
            <p:nvPr/>
          </p:nvSpPr>
          <p:spPr>
            <a:xfrm>
              <a:off x="1226" y="1664"/>
              <a:ext cx="970" cy="212"/>
            </a:xfrm>
            <a:prstGeom prst="rect">
              <a:avLst/>
            </a:prstGeom>
            <a:solidFill>
              <a:srgbClr val="66CC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200.23.30.0/23</a:t>
              </a:r>
              <a:endParaRPr sz="1800">
                <a:solidFill>
                  <a:schemeClr val="dk1"/>
                </a:solidFill>
                <a:latin typeface="Arial"/>
                <a:ea typeface="Arial"/>
                <a:cs typeface="Arial"/>
                <a:sym typeface="Arial"/>
              </a:endParaRPr>
            </a:p>
          </p:txBody>
        </p:sp>
      </p:grpSp>
      <p:sp>
        <p:nvSpPr>
          <p:cNvPr id="915" name="Google Shape;915;p44"/>
          <p:cNvSpPr txBox="1"/>
          <p:nvPr/>
        </p:nvSpPr>
        <p:spPr>
          <a:xfrm>
            <a:off x="3606800" y="3992563"/>
            <a:ext cx="1506538"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Fly-By-Night-ISP</a:t>
            </a:r>
            <a:endParaRPr sz="1800">
              <a:solidFill>
                <a:schemeClr val="dk1"/>
              </a:solidFill>
              <a:latin typeface="Arial"/>
              <a:ea typeface="Arial"/>
              <a:cs typeface="Arial"/>
              <a:sym typeface="Arial"/>
            </a:endParaRPr>
          </a:p>
        </p:txBody>
      </p:sp>
      <p:sp>
        <p:nvSpPr>
          <p:cNvPr id="916" name="Google Shape;916;p44"/>
          <p:cNvSpPr txBox="1"/>
          <p:nvPr/>
        </p:nvSpPr>
        <p:spPr>
          <a:xfrm>
            <a:off x="758825" y="2497138"/>
            <a:ext cx="133667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Organization 0</a:t>
            </a:r>
            <a:endParaRPr/>
          </a:p>
        </p:txBody>
      </p:sp>
      <p:sp>
        <p:nvSpPr>
          <p:cNvPr id="917" name="Google Shape;917;p44"/>
          <p:cNvSpPr txBox="1"/>
          <p:nvPr/>
        </p:nvSpPr>
        <p:spPr>
          <a:xfrm>
            <a:off x="787400" y="4506913"/>
            <a:ext cx="133667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Organization 7</a:t>
            </a:r>
            <a:endParaRPr/>
          </a:p>
        </p:txBody>
      </p:sp>
      <p:sp>
        <p:nvSpPr>
          <p:cNvPr id="918" name="Google Shape;918;p44"/>
          <p:cNvSpPr txBox="1"/>
          <p:nvPr/>
        </p:nvSpPr>
        <p:spPr>
          <a:xfrm>
            <a:off x="7407275" y="4316413"/>
            <a:ext cx="78422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Internet</a:t>
            </a:r>
            <a:endParaRPr/>
          </a:p>
        </p:txBody>
      </p:sp>
      <p:sp>
        <p:nvSpPr>
          <p:cNvPr id="919" name="Google Shape;919;p44"/>
          <p:cNvSpPr txBox="1"/>
          <p:nvPr/>
        </p:nvSpPr>
        <p:spPr>
          <a:xfrm>
            <a:off x="949325" y="5630863"/>
            <a:ext cx="133667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Organization 1</a:t>
            </a:r>
            <a:endParaRPr/>
          </a:p>
        </p:txBody>
      </p:sp>
      <p:sp>
        <p:nvSpPr>
          <p:cNvPr id="920" name="Google Shape;920;p44"/>
          <p:cNvSpPr/>
          <p:nvPr/>
        </p:nvSpPr>
        <p:spPr>
          <a:xfrm>
            <a:off x="3516313" y="4875213"/>
            <a:ext cx="1773237" cy="979487"/>
          </a:xfrm>
          <a:custGeom>
            <a:avLst/>
            <a:gdLst/>
            <a:ahLst/>
            <a:cxnLst/>
            <a:rect l="l" t="t" r="r" b="b"/>
            <a:pathLst>
              <a:path w="1117" h="617" extrusionOk="0">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1" name="Google Shape;921;p44"/>
          <p:cNvSpPr txBox="1"/>
          <p:nvPr/>
        </p:nvSpPr>
        <p:spPr>
          <a:xfrm>
            <a:off x="3816350" y="5249863"/>
            <a:ext cx="1023938"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ISPs-R-Us</a:t>
            </a:r>
            <a:endParaRPr sz="1800">
              <a:solidFill>
                <a:schemeClr val="dk1"/>
              </a:solidFill>
              <a:latin typeface="Arial"/>
              <a:ea typeface="Arial"/>
              <a:cs typeface="Arial"/>
              <a:sym typeface="Arial"/>
            </a:endParaRPr>
          </a:p>
        </p:txBody>
      </p:sp>
      <p:sp>
        <p:nvSpPr>
          <p:cNvPr id="922" name="Google Shape;922;p44"/>
          <p:cNvSpPr/>
          <p:nvPr/>
        </p:nvSpPr>
        <p:spPr>
          <a:xfrm rot="10800000" flipH="1">
            <a:off x="5241925" y="4895850"/>
            <a:ext cx="2019300" cy="295275"/>
          </a:xfrm>
          <a:custGeom>
            <a:avLst/>
            <a:gdLst/>
            <a:ahLst/>
            <a:cxnLst/>
            <a:rect l="l" t="t" r="r" b="b"/>
            <a:pathLst>
              <a:path w="1272" h="186" extrusionOk="0">
                <a:moveTo>
                  <a:pt x="0" y="0"/>
                </a:moveTo>
                <a:lnTo>
                  <a:pt x="1272" y="186"/>
                </a:lnTo>
              </a:path>
            </a:pathLst>
          </a:custGeom>
          <a:noFill/>
          <a:ln w="19050" cap="flat" cmpd="sng">
            <a:solidFill>
              <a:schemeClr val="dk1"/>
            </a:solidFill>
            <a:prstDash val="solid"/>
            <a:round/>
            <a:headEnd type="none" w="sm" len="sm"/>
            <a:tailEnd type="stealth"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923" name="Google Shape;923;p44"/>
          <p:cNvCxnSpPr/>
          <p:nvPr/>
        </p:nvCxnSpPr>
        <p:spPr>
          <a:xfrm>
            <a:off x="3032125" y="5438775"/>
            <a:ext cx="485775" cy="0"/>
          </a:xfrm>
          <a:prstGeom prst="straightConnector1">
            <a:avLst/>
          </a:prstGeom>
          <a:noFill/>
          <a:ln w="19050" cap="flat" cmpd="sng">
            <a:solidFill>
              <a:schemeClr val="dk1"/>
            </a:solidFill>
            <a:prstDash val="solid"/>
            <a:round/>
            <a:headEnd type="none" w="med" len="med"/>
            <a:tailEnd type="none" w="med" len="med"/>
          </a:ln>
        </p:spPr>
      </p:cxnSp>
      <p:cxnSp>
        <p:nvCxnSpPr>
          <p:cNvPr id="924" name="Google Shape;924;p44"/>
          <p:cNvCxnSpPr/>
          <p:nvPr/>
        </p:nvCxnSpPr>
        <p:spPr>
          <a:xfrm rot="10800000" flipH="1">
            <a:off x="2879725" y="5505450"/>
            <a:ext cx="638175" cy="171450"/>
          </a:xfrm>
          <a:prstGeom prst="straightConnector1">
            <a:avLst/>
          </a:prstGeom>
          <a:noFill/>
          <a:ln w="19050" cap="flat" cmpd="sng">
            <a:solidFill>
              <a:schemeClr val="dk1"/>
            </a:solidFill>
            <a:prstDash val="solid"/>
            <a:round/>
            <a:headEnd type="none" w="med" len="med"/>
            <a:tailEnd type="none" w="med" len="med"/>
          </a:ln>
        </p:spPr>
      </p:cxnSp>
      <p:cxnSp>
        <p:nvCxnSpPr>
          <p:cNvPr id="925" name="Google Shape;925;p44"/>
          <p:cNvCxnSpPr/>
          <p:nvPr/>
        </p:nvCxnSpPr>
        <p:spPr>
          <a:xfrm rot="10800000" flipH="1">
            <a:off x="3317875" y="5753100"/>
            <a:ext cx="247650" cy="409575"/>
          </a:xfrm>
          <a:prstGeom prst="straightConnector1">
            <a:avLst/>
          </a:prstGeom>
          <a:noFill/>
          <a:ln w="19050" cap="flat" cmpd="sng">
            <a:solidFill>
              <a:schemeClr val="dk1"/>
            </a:solidFill>
            <a:prstDash val="solid"/>
            <a:round/>
            <a:headEnd type="none" w="med" len="med"/>
            <a:tailEnd type="none" w="med" len="med"/>
          </a:ln>
        </p:spPr>
      </p:cxnSp>
      <p:sp>
        <p:nvSpPr>
          <p:cNvPr id="926" name="Google Shape;926;p44"/>
          <p:cNvSpPr txBox="1"/>
          <p:nvPr/>
        </p:nvSpPr>
        <p:spPr>
          <a:xfrm>
            <a:off x="5530850" y="5145088"/>
            <a:ext cx="2084388" cy="942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“Send me anything</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with addresses </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beginning 199.31.0.0/16</a:t>
            </a:r>
            <a:endParaRPr/>
          </a:p>
          <a:p>
            <a:pPr marL="0" marR="0" lvl="0" indent="0" algn="l" rtl="0">
              <a:spcBef>
                <a:spcPts val="0"/>
              </a:spcBef>
              <a:spcAft>
                <a:spcPts val="0"/>
              </a:spcAft>
              <a:buNone/>
            </a:pPr>
            <a:r>
              <a:rPr lang="en-US" sz="1400">
                <a:solidFill>
                  <a:schemeClr val="dk1"/>
                </a:solidFill>
                <a:latin typeface="Arial"/>
                <a:ea typeface="Arial"/>
                <a:cs typeface="Arial"/>
                <a:sym typeface="Arial"/>
              </a:rPr>
              <a:t>or </a:t>
            </a:r>
            <a:r>
              <a:rPr lang="en-US" sz="1400" u="sng">
                <a:solidFill>
                  <a:srgbClr val="CC0000"/>
                </a:solidFill>
                <a:latin typeface="Arial"/>
                <a:ea typeface="Arial"/>
                <a:cs typeface="Arial"/>
                <a:sym typeface="Arial"/>
              </a:rPr>
              <a:t>200.23.18.0/23</a:t>
            </a: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grpSp>
        <p:nvGrpSpPr>
          <p:cNvPr id="927" name="Google Shape;927;p44"/>
          <p:cNvGrpSpPr/>
          <p:nvPr/>
        </p:nvGrpSpPr>
        <p:grpSpPr>
          <a:xfrm>
            <a:off x="806450" y="3935413"/>
            <a:ext cx="2338388" cy="404812"/>
            <a:chOff x="1004" y="1639"/>
            <a:chExt cx="1473" cy="255"/>
          </a:xfrm>
        </p:grpSpPr>
        <p:sp>
          <p:nvSpPr>
            <p:cNvPr id="928" name="Google Shape;928;p44"/>
            <p:cNvSpPr/>
            <p:nvPr/>
          </p:nvSpPr>
          <p:spPr>
            <a:xfrm>
              <a:off x="1004" y="1639"/>
              <a:ext cx="1473" cy="255"/>
            </a:xfrm>
            <a:custGeom>
              <a:avLst/>
              <a:gdLst/>
              <a:ahLst/>
              <a:cxnLst/>
              <a:rect l="l" t="t" r="r" b="b"/>
              <a:pathLst>
                <a:path w="1473" h="255" extrusionOk="0">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9" name="Google Shape;929;p44"/>
            <p:cNvSpPr txBox="1"/>
            <p:nvPr/>
          </p:nvSpPr>
          <p:spPr>
            <a:xfrm>
              <a:off x="1226" y="1664"/>
              <a:ext cx="970" cy="212"/>
            </a:xfrm>
            <a:prstGeom prst="rect">
              <a:avLst/>
            </a:prstGeom>
            <a:solidFill>
              <a:srgbClr val="66CC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200.23.20.0/23</a:t>
              </a:r>
              <a:endParaRPr sz="1800">
                <a:solidFill>
                  <a:schemeClr val="dk1"/>
                </a:solidFill>
                <a:latin typeface="Arial"/>
                <a:ea typeface="Arial"/>
                <a:cs typeface="Arial"/>
                <a:sym typeface="Arial"/>
              </a:endParaRPr>
            </a:p>
          </p:txBody>
        </p:sp>
      </p:grpSp>
      <p:sp>
        <p:nvSpPr>
          <p:cNvPr id="930" name="Google Shape;930;p44"/>
          <p:cNvSpPr txBox="1"/>
          <p:nvPr/>
        </p:nvSpPr>
        <p:spPr>
          <a:xfrm>
            <a:off x="787400" y="3735388"/>
            <a:ext cx="1336675"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Organization 2</a:t>
            </a:r>
            <a:endParaRPr/>
          </a:p>
        </p:txBody>
      </p:sp>
      <p:grpSp>
        <p:nvGrpSpPr>
          <p:cNvPr id="931" name="Google Shape;931;p44"/>
          <p:cNvGrpSpPr/>
          <p:nvPr/>
        </p:nvGrpSpPr>
        <p:grpSpPr>
          <a:xfrm>
            <a:off x="2155825" y="4192588"/>
            <a:ext cx="257175" cy="663575"/>
            <a:chOff x="870" y="2941"/>
            <a:chExt cx="162" cy="418"/>
          </a:xfrm>
        </p:grpSpPr>
        <p:sp>
          <p:nvSpPr>
            <p:cNvPr id="932" name="Google Shape;932;p44"/>
            <p:cNvSpPr txBox="1"/>
            <p:nvPr/>
          </p:nvSpPr>
          <p:spPr>
            <a:xfrm>
              <a:off x="872" y="2941"/>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933" name="Google Shape;933;p44"/>
            <p:cNvSpPr txBox="1"/>
            <p:nvPr/>
          </p:nvSpPr>
          <p:spPr>
            <a:xfrm>
              <a:off x="870" y="3026"/>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934" name="Google Shape;934;p44"/>
            <p:cNvSpPr txBox="1"/>
            <p:nvPr/>
          </p:nvSpPr>
          <p:spPr>
            <a:xfrm>
              <a:off x="871" y="3109"/>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grpSp>
      <p:grpSp>
        <p:nvGrpSpPr>
          <p:cNvPr id="935" name="Google Shape;935;p44"/>
          <p:cNvGrpSpPr/>
          <p:nvPr/>
        </p:nvGrpSpPr>
        <p:grpSpPr>
          <a:xfrm>
            <a:off x="3184525" y="3897313"/>
            <a:ext cx="257175" cy="663575"/>
            <a:chOff x="870" y="2941"/>
            <a:chExt cx="162" cy="418"/>
          </a:xfrm>
        </p:grpSpPr>
        <p:sp>
          <p:nvSpPr>
            <p:cNvPr id="936" name="Google Shape;936;p44"/>
            <p:cNvSpPr txBox="1"/>
            <p:nvPr/>
          </p:nvSpPr>
          <p:spPr>
            <a:xfrm>
              <a:off x="872" y="2941"/>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937" name="Google Shape;937;p44"/>
            <p:cNvSpPr txBox="1"/>
            <p:nvPr/>
          </p:nvSpPr>
          <p:spPr>
            <a:xfrm>
              <a:off x="870" y="3026"/>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
          <p:nvSpPr>
            <p:cNvPr id="938" name="Google Shape;938;p44"/>
            <p:cNvSpPr txBox="1"/>
            <p:nvPr/>
          </p:nvSpPr>
          <p:spPr>
            <a:xfrm>
              <a:off x="871" y="3109"/>
              <a:ext cx="16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grpSp>
      <p:pic>
        <p:nvPicPr>
          <p:cNvPr id="939" name="Google Shape;939;p44" descr="underline_base"/>
          <p:cNvPicPr preferRelativeResize="0"/>
          <p:nvPr/>
        </p:nvPicPr>
        <p:blipFill rotWithShape="1">
          <a:blip r:embed="rId3">
            <a:alphaModFix/>
          </a:blip>
          <a:srcRect/>
          <a:stretch/>
        </p:blipFill>
        <p:spPr>
          <a:xfrm>
            <a:off x="588963" y="900113"/>
            <a:ext cx="7769225" cy="173037"/>
          </a:xfrm>
          <a:prstGeom prst="rect">
            <a:avLst/>
          </a:prstGeom>
          <a:noFill/>
          <a:ln>
            <a:noFill/>
          </a:ln>
        </p:spPr>
      </p:pic>
      <p:sp>
        <p:nvSpPr>
          <p:cNvPr id="940" name="Google Shape;940;p44"/>
          <p:cNvSpPr txBox="1">
            <a:spLocks noGrp="1"/>
          </p:cNvSpPr>
          <p:nvPr>
            <p:ph type="title"/>
          </p:nvPr>
        </p:nvSpPr>
        <p:spPr>
          <a:xfrm>
            <a:off x="368300" y="221844"/>
            <a:ext cx="8462963" cy="9318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400"/>
              <a:t>Hierarchical addressing: more specific routes</a:t>
            </a:r>
            <a:endParaRPr/>
          </a:p>
        </p:txBody>
      </p:sp>
      <p:sp>
        <p:nvSpPr>
          <p:cNvPr id="941" name="Google Shape;941;p44"/>
          <p:cNvSpPr txBox="1">
            <a:spLocks noGrp="1"/>
          </p:cNvSpPr>
          <p:nvPr>
            <p:ph type="sldNum" idx="12"/>
          </p:nvPr>
        </p:nvSpPr>
        <p:spPr>
          <a:xfrm>
            <a:off x="8456613" y="6475413"/>
            <a:ext cx="799682" cy="24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Tahoma"/>
                <a:ea typeface="Tahoma"/>
                <a:cs typeface="Tahoma"/>
                <a:sym typeface="Tahoma"/>
              </a:rPr>
              <a:t>4-</a:t>
            </a:r>
            <a:fld id="{00000000-1234-1234-1234-123412341234}" type="slidenum">
              <a:rPr lang="en-US" sz="1200">
                <a:solidFill>
                  <a:schemeClr val="dk1"/>
                </a:solidFill>
                <a:latin typeface="Tahoma"/>
                <a:ea typeface="Tahoma"/>
                <a:cs typeface="Tahoma"/>
                <a:sym typeface="Tahoma"/>
              </a:rPr>
              <a:t>115</a:t>
            </a:fld>
            <a:endParaRPr sz="1200" dirty="0">
              <a:solidFill>
                <a:schemeClr val="dk1"/>
              </a:solidFill>
              <a:latin typeface="Tahoma"/>
              <a:ea typeface="Tahoma"/>
              <a:cs typeface="Tahoma"/>
              <a:sym typeface="Tahoma"/>
            </a:endParaRPr>
          </a:p>
        </p:txBody>
      </p:sp>
      <p:sp>
        <p:nvSpPr>
          <p:cNvPr id="942" name="Google Shape;942;p44"/>
          <p:cNvSpPr txBox="1">
            <a:spLocks noGrp="1"/>
          </p:cNvSpPr>
          <p:nvPr>
            <p:ph type="ftr" idx="11"/>
          </p:nvPr>
        </p:nvSpPr>
        <p:spPr>
          <a:xfrm>
            <a:off x="6375400" y="6475413"/>
            <a:ext cx="2178050" cy="2413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200">
                <a:solidFill>
                  <a:srgbClr val="000000"/>
                </a:solidFill>
                <a:latin typeface="Tahoma"/>
                <a:ea typeface="Tahoma"/>
                <a:cs typeface="Tahoma"/>
                <a:sym typeface="Tahoma"/>
              </a:rPr>
              <a:t>Network Layer: Data Plane</a:t>
            </a:r>
            <a:endParaRPr/>
          </a:p>
        </p:txBody>
      </p:sp>
      <p:sp>
        <p:nvSpPr>
          <p:cNvPr id="2" name="Text Box 43">
            <a:extLst>
              <a:ext uri="{FF2B5EF4-FFF2-40B4-BE49-F238E27FC236}">
                <a16:creationId xmlns:a16="http://schemas.microsoft.com/office/drawing/2014/main" id="{F237088C-6DC4-B9A2-0C4A-BED14D6D0234}"/>
              </a:ext>
            </a:extLst>
          </p:cNvPr>
          <p:cNvSpPr txBox="1">
            <a:spLocks noChangeArrowheads="1"/>
          </p:cNvSpPr>
          <p:nvPr/>
        </p:nvSpPr>
        <p:spPr bwMode="auto">
          <a:xfrm>
            <a:off x="270135" y="1230799"/>
            <a:ext cx="110027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0" fontAlgn="base" latinLnBrk="0" hangingPunct="0">
              <a:lnSpc>
                <a:spcPct val="100000"/>
              </a:lnSpc>
              <a:spcBef>
                <a:spcPct val="0"/>
              </a:spcBef>
              <a:spcAft>
                <a:spcPct val="0"/>
              </a:spcAft>
              <a:buClr>
                <a:srgbClr val="0000A3"/>
              </a:buClr>
              <a:buSzTx/>
              <a:buFont typeface="Wingdings" pitchFamily="2" charset="2"/>
              <a:buChar char="§"/>
              <a:tabLst/>
              <a:defRPr/>
            </a:pPr>
            <a:r>
              <a:rPr kumimoji="0" lang="en-US" altLang="en-US"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Organization 1 moves from Fly-By-Night-ISP to ISPs-R-Us</a:t>
            </a:r>
          </a:p>
          <a:p>
            <a:pPr marL="342900" marR="0" lvl="0" indent="-342900" algn="l" defTabSz="914400" rtl="0" eaLnBrk="0" fontAlgn="base" latinLnBrk="0" hangingPunct="0">
              <a:lnSpc>
                <a:spcPct val="100000"/>
              </a:lnSpc>
              <a:spcBef>
                <a:spcPct val="0"/>
              </a:spcBef>
              <a:spcAft>
                <a:spcPct val="0"/>
              </a:spcAft>
              <a:buClr>
                <a:srgbClr val="0000A3"/>
              </a:buClr>
              <a:buSzTx/>
              <a:buFont typeface="Wingdings" pitchFamily="2" charset="2"/>
              <a:buChar char="§"/>
              <a:tabLst/>
              <a:defRPr/>
            </a:pPr>
            <a:r>
              <a:rPr kumimoji="0" lang="en-US" altLang="en-US"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ISPs-R-Us now advertises a more specific route to Organization 1</a:t>
            </a:r>
            <a:endParaRPr kumimoji="0" lang="en-US" altLang="en-US"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Tree>
    <p:extLst>
      <p:ext uri="{BB962C8B-B14F-4D97-AF65-F5344CB8AC3E}">
        <p14:creationId xmlns:p14="http://schemas.microsoft.com/office/powerpoint/2010/main" val="272132568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527466" y="1068123"/>
            <a:ext cx="8309236" cy="800963"/>
          </a:xfrm>
        </p:spPr>
        <p:txBody>
          <a:bodyPr>
            <a:normAutofit fontScale="90000"/>
          </a:bodyPr>
          <a:lstStyle/>
          <a:p>
            <a:r>
              <a:rPr lang="en-US" altLang="en-US" sz="3675" dirty="0">
                <a:ea typeface="ＭＳ Ｐゴシック" panose="020B0600070205080204" pitchFamily="34" charset="-128"/>
              </a:rPr>
              <a:t>Hierarchical addressing</a:t>
            </a:r>
            <a:r>
              <a:rPr lang="en-US" altLang="en-US" sz="3600" dirty="0">
                <a:ea typeface="ＭＳ Ｐゴシック" panose="020B0600070205080204" pitchFamily="34" charset="-128"/>
              </a:rPr>
              <a:t>: </a:t>
            </a:r>
            <a:r>
              <a:rPr lang="en-US" sz="3600" dirty="0"/>
              <a:t>more specific routes</a:t>
            </a:r>
          </a:p>
        </p:txBody>
      </p:sp>
      <p:sp>
        <p:nvSpPr>
          <p:cNvPr id="47" name="Freeform 3">
            <a:extLst>
              <a:ext uri="{FF2B5EF4-FFF2-40B4-BE49-F238E27FC236}">
                <a16:creationId xmlns:a16="http://schemas.microsoft.com/office/drawing/2014/main" id="{ECD79FEE-92ED-364B-BADE-7317008B7D35}"/>
              </a:ext>
            </a:extLst>
          </p:cNvPr>
          <p:cNvSpPr>
            <a:spLocks/>
          </p:cNvSpPr>
          <p:nvPr/>
        </p:nvSpPr>
        <p:spPr bwMode="auto">
          <a:xfrm>
            <a:off x="4690907" y="4015569"/>
            <a:ext cx="1514475" cy="221456"/>
          </a:xfrm>
          <a:custGeom>
            <a:avLst/>
            <a:gdLst>
              <a:gd name="T0" fmla="*/ 0 w 1272"/>
              <a:gd name="T1" fmla="*/ 0 h 186"/>
              <a:gd name="T2" fmla="*/ 2147483647 w 1272"/>
              <a:gd name="T3" fmla="*/ 2147483647 h 186"/>
              <a:gd name="T4" fmla="*/ 0 60000 65536"/>
              <a:gd name="T5" fmla="*/ 0 60000 65536"/>
              <a:gd name="T6" fmla="*/ 0 w 1272"/>
              <a:gd name="T7" fmla="*/ 0 h 186"/>
              <a:gd name="T8" fmla="*/ 1272 w 1272"/>
              <a:gd name="T9" fmla="*/ 186 h 186"/>
            </a:gdLst>
            <a:ahLst/>
            <a:cxnLst>
              <a:cxn ang="T4">
                <a:pos x="T0" y="T1"/>
              </a:cxn>
              <a:cxn ang="T5">
                <a:pos x="T2" y="T3"/>
              </a:cxn>
            </a:cxnLst>
            <a:rect l="T6" t="T7" r="T8" b="T9"/>
            <a:pathLst>
              <a:path w="1272" h="186">
                <a:moveTo>
                  <a:pt x="0" y="0"/>
                </a:moveTo>
                <a:lnTo>
                  <a:pt x="1272" y="186"/>
                </a:lnTo>
              </a:path>
            </a:pathLst>
          </a:custGeom>
          <a:noFill/>
          <a:ln w="1905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defTabSz="685800">
              <a:defRPr/>
            </a:pPr>
            <a:endParaRPr lang="en-US" sz="1350" kern="0" dirty="0">
              <a:solidFill>
                <a:srgbClr val="000000"/>
              </a:solidFill>
            </a:endParaRPr>
          </a:p>
        </p:txBody>
      </p:sp>
      <p:sp>
        <p:nvSpPr>
          <p:cNvPr id="48" name="Line 4">
            <a:extLst>
              <a:ext uri="{FF2B5EF4-FFF2-40B4-BE49-F238E27FC236}">
                <a16:creationId xmlns:a16="http://schemas.microsoft.com/office/drawing/2014/main" id="{5660B4B5-3D1B-9942-A9F7-D7028E81C2F7}"/>
              </a:ext>
            </a:extLst>
          </p:cNvPr>
          <p:cNvSpPr>
            <a:spLocks noChangeShapeType="1"/>
          </p:cNvSpPr>
          <p:nvPr/>
        </p:nvSpPr>
        <p:spPr bwMode="auto">
          <a:xfrm flipV="1">
            <a:off x="2933544" y="4222737"/>
            <a:ext cx="671513" cy="3429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50" name="Line 6">
            <a:extLst>
              <a:ext uri="{FF2B5EF4-FFF2-40B4-BE49-F238E27FC236}">
                <a16:creationId xmlns:a16="http://schemas.microsoft.com/office/drawing/2014/main" id="{8855D4C4-647C-B14D-9922-08C03455DC78}"/>
              </a:ext>
            </a:extLst>
          </p:cNvPr>
          <p:cNvSpPr>
            <a:spLocks noChangeShapeType="1"/>
          </p:cNvSpPr>
          <p:nvPr/>
        </p:nvSpPr>
        <p:spPr bwMode="auto">
          <a:xfrm>
            <a:off x="3004982" y="3165462"/>
            <a:ext cx="635794" cy="5715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51" name="Freeform 7">
            <a:extLst>
              <a:ext uri="{FF2B5EF4-FFF2-40B4-BE49-F238E27FC236}">
                <a16:creationId xmlns:a16="http://schemas.microsoft.com/office/drawing/2014/main" id="{71312ED7-148A-0445-9371-61B4C77BD501}"/>
              </a:ext>
            </a:extLst>
          </p:cNvPr>
          <p:cNvSpPr>
            <a:spLocks/>
          </p:cNvSpPr>
          <p:nvPr/>
        </p:nvSpPr>
        <p:spPr bwMode="auto">
          <a:xfrm>
            <a:off x="3489567" y="3600041"/>
            <a:ext cx="1329928" cy="734615"/>
          </a:xfrm>
          <a:custGeom>
            <a:avLst/>
            <a:gdLst>
              <a:gd name="T0" fmla="*/ 2147483647 w 1117"/>
              <a:gd name="T1" fmla="*/ 2147483647 h 617"/>
              <a:gd name="T2" fmla="*/ 2147483647 w 1117"/>
              <a:gd name="T3" fmla="*/ 2147483647 h 617"/>
              <a:gd name="T4" fmla="*/ 2147483647 w 1117"/>
              <a:gd name="T5" fmla="*/ 2147483647 h 617"/>
              <a:gd name="T6" fmla="*/ 2147483647 w 1117"/>
              <a:gd name="T7" fmla="*/ 2147483647 h 617"/>
              <a:gd name="T8" fmla="*/ 2147483647 w 1117"/>
              <a:gd name="T9" fmla="*/ 2147483647 h 617"/>
              <a:gd name="T10" fmla="*/ 2147483647 w 1117"/>
              <a:gd name="T11" fmla="*/ 2147483647 h 617"/>
              <a:gd name="T12" fmla="*/ 2147483647 w 1117"/>
              <a:gd name="T13" fmla="*/ 2147483647 h 617"/>
              <a:gd name="T14" fmla="*/ 2147483647 w 1117"/>
              <a:gd name="T15" fmla="*/ 2147483647 h 617"/>
              <a:gd name="T16" fmla="*/ 2147483647 w 1117"/>
              <a:gd name="T17" fmla="*/ 2147483647 h 617"/>
              <a:gd name="T18" fmla="*/ 2147483647 w 1117"/>
              <a:gd name="T19" fmla="*/ 2147483647 h 617"/>
              <a:gd name="T20" fmla="*/ 2147483647 w 1117"/>
              <a:gd name="T21" fmla="*/ 2147483647 h 617"/>
              <a:gd name="T22" fmla="*/ 2147483647 w 1117"/>
              <a:gd name="T23" fmla="*/ 2147483647 h 6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17"/>
              <a:gd name="T37" fmla="*/ 0 h 617"/>
              <a:gd name="T38" fmla="*/ 1117 w 1117"/>
              <a:gd name="T39" fmla="*/ 617 h 6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17" h="6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wrap="none" anchor="ctr"/>
          <a:lstStyle/>
          <a:p>
            <a:pPr defTabSz="685800">
              <a:defRPr/>
            </a:pPr>
            <a:endParaRPr lang="en-US" sz="1350" dirty="0">
              <a:solidFill>
                <a:srgbClr val="000000"/>
              </a:solidFill>
            </a:endParaRPr>
          </a:p>
        </p:txBody>
      </p:sp>
      <p:sp>
        <p:nvSpPr>
          <p:cNvPr id="52" name="Text Box 8">
            <a:extLst>
              <a:ext uri="{FF2B5EF4-FFF2-40B4-BE49-F238E27FC236}">
                <a16:creationId xmlns:a16="http://schemas.microsoft.com/office/drawing/2014/main" id="{13F7F820-B18A-E847-AD7E-846731E21C81}"/>
              </a:ext>
            </a:extLst>
          </p:cNvPr>
          <p:cNvSpPr txBox="1">
            <a:spLocks noChangeArrowheads="1"/>
          </p:cNvSpPr>
          <p:nvPr/>
        </p:nvSpPr>
        <p:spPr bwMode="auto">
          <a:xfrm>
            <a:off x="4864738" y="3395253"/>
            <a:ext cx="134043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ja-JP" altLang="en-US" sz="1050" kern="0">
                <a:solidFill>
                  <a:srgbClr val="000000"/>
                </a:solidFill>
              </a:rPr>
              <a:t>“</a:t>
            </a:r>
            <a:r>
              <a:rPr lang="en-US" altLang="ja-JP" sz="1050" kern="0" dirty="0">
                <a:solidFill>
                  <a:srgbClr val="000000"/>
                </a:solidFill>
              </a:rPr>
              <a:t>Send me anything</a:t>
            </a:r>
          </a:p>
          <a:p>
            <a:pPr defTabSz="685800">
              <a:defRPr/>
            </a:pPr>
            <a:r>
              <a:rPr lang="en-US" altLang="en-US" sz="1050" kern="0" dirty="0">
                <a:solidFill>
                  <a:srgbClr val="000000"/>
                </a:solidFill>
              </a:rPr>
              <a:t>with addresses </a:t>
            </a:r>
          </a:p>
          <a:p>
            <a:pPr defTabSz="685800">
              <a:defRPr/>
            </a:pPr>
            <a:r>
              <a:rPr lang="en-US" altLang="en-US" sz="1050" kern="0" dirty="0">
                <a:solidFill>
                  <a:srgbClr val="000000"/>
                </a:solidFill>
              </a:rPr>
              <a:t>beginning </a:t>
            </a:r>
          </a:p>
          <a:p>
            <a:pPr defTabSz="685800">
              <a:defRPr/>
            </a:pPr>
            <a:r>
              <a:rPr lang="en-US" altLang="en-US" sz="1050" kern="0" dirty="0">
                <a:solidFill>
                  <a:srgbClr val="000000"/>
                </a:solidFill>
              </a:rPr>
              <a:t>200.23.16.0/20</a:t>
            </a:r>
            <a:r>
              <a:rPr lang="ja-JP" altLang="en-US" sz="1050" kern="0">
                <a:solidFill>
                  <a:srgbClr val="000000"/>
                </a:solidFill>
              </a:rPr>
              <a:t>”</a:t>
            </a:r>
            <a:endParaRPr lang="en-US" altLang="en-US" sz="1050" kern="0" dirty="0">
              <a:solidFill>
                <a:srgbClr val="000000"/>
              </a:solidFill>
            </a:endParaRPr>
          </a:p>
        </p:txBody>
      </p:sp>
      <p:grpSp>
        <p:nvGrpSpPr>
          <p:cNvPr id="53" name="Group 9">
            <a:extLst>
              <a:ext uri="{FF2B5EF4-FFF2-40B4-BE49-F238E27FC236}">
                <a16:creationId xmlns:a16="http://schemas.microsoft.com/office/drawing/2014/main" id="{23482FB4-0876-3946-8B6B-B6AAECACCC51}"/>
              </a:ext>
            </a:extLst>
          </p:cNvPr>
          <p:cNvGrpSpPr>
            <a:grpSpLocks/>
          </p:cNvGrpSpPr>
          <p:nvPr/>
        </p:nvGrpSpPr>
        <p:grpSpPr bwMode="auto">
          <a:xfrm>
            <a:off x="1378588" y="2995204"/>
            <a:ext cx="1753791" cy="307181"/>
            <a:chOff x="1004" y="1639"/>
            <a:chExt cx="1473" cy="258"/>
          </a:xfrm>
        </p:grpSpPr>
        <p:sp>
          <p:nvSpPr>
            <p:cNvPr id="54" name="Freeform 10">
              <a:extLst>
                <a:ext uri="{FF2B5EF4-FFF2-40B4-BE49-F238E27FC236}">
                  <a16:creationId xmlns:a16="http://schemas.microsoft.com/office/drawing/2014/main" id="{EFB98728-6781-274A-B657-95A102B214DD}"/>
                </a:ext>
              </a:extLst>
            </p:cNvPr>
            <p:cNvSpPr>
              <a:spLocks/>
            </p:cNvSpPr>
            <p:nvPr/>
          </p:nvSpPr>
          <p:spPr bwMode="auto">
            <a:xfrm>
              <a:off x="1004" y="1639"/>
              <a:ext cx="1473" cy="255"/>
            </a:xfrm>
            <a:custGeom>
              <a:avLst/>
              <a:gdLst>
                <a:gd name="T0" fmla="*/ 172 w 1473"/>
                <a:gd name="T1" fmla="*/ 11 h 255"/>
                <a:gd name="T2" fmla="*/ 73 w 1473"/>
                <a:gd name="T3" fmla="*/ 94 h 255"/>
                <a:gd name="T4" fmla="*/ 146 w 1473"/>
                <a:gd name="T5" fmla="*/ 220 h 255"/>
                <a:gd name="T6" fmla="*/ 520 w 1473"/>
                <a:gd name="T7" fmla="*/ 225 h 255"/>
                <a:gd name="T8" fmla="*/ 754 w 1473"/>
                <a:gd name="T9" fmla="*/ 251 h 255"/>
                <a:gd name="T10" fmla="*/ 1306 w 1473"/>
                <a:gd name="T11" fmla="*/ 203 h 255"/>
                <a:gd name="T12" fmla="*/ 1360 w 1473"/>
                <a:gd name="T13" fmla="*/ 29 h 255"/>
                <a:gd name="T14" fmla="*/ 628 w 1473"/>
                <a:gd name="T15" fmla="*/ 29 h 255"/>
                <a:gd name="T16" fmla="*/ 172 w 1473"/>
                <a:gd name="T17" fmla="*/ 11 h 2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73"/>
                <a:gd name="T28" fmla="*/ 0 h 255"/>
                <a:gd name="T29" fmla="*/ 1473 w 1473"/>
                <a:gd name="T30" fmla="*/ 255 h 2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a:defRPr/>
              </a:pPr>
              <a:endParaRPr lang="en-US" sz="1350" kern="0" dirty="0">
                <a:solidFill>
                  <a:srgbClr val="000000"/>
                </a:solidFill>
              </a:endParaRPr>
            </a:p>
          </p:txBody>
        </p:sp>
        <p:sp>
          <p:nvSpPr>
            <p:cNvPr id="55" name="Text Box 11">
              <a:extLst>
                <a:ext uri="{FF2B5EF4-FFF2-40B4-BE49-F238E27FC236}">
                  <a16:creationId xmlns:a16="http://schemas.microsoft.com/office/drawing/2014/main" id="{479C3E9A-D072-0A44-BFA8-7F41473A99D8}"/>
                </a:ext>
              </a:extLst>
            </p:cNvPr>
            <p:cNvSpPr txBox="1">
              <a:spLocks noChangeArrowheads="1"/>
            </p:cNvSpPr>
            <p:nvPr/>
          </p:nvSpPr>
          <p:spPr bwMode="auto">
            <a:xfrm>
              <a:off x="1226" y="1664"/>
              <a:ext cx="1014" cy="23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200" kern="0" dirty="0">
                  <a:solidFill>
                    <a:srgbClr val="000000"/>
                  </a:solidFill>
                </a:rPr>
                <a:t>200.23.16.0/23</a:t>
              </a:r>
              <a:endParaRPr lang="en-US" altLang="en-US" sz="1350" kern="0" dirty="0">
                <a:solidFill>
                  <a:srgbClr val="000000"/>
                </a:solidFill>
              </a:endParaRPr>
            </a:p>
          </p:txBody>
        </p:sp>
      </p:grpSp>
      <p:grpSp>
        <p:nvGrpSpPr>
          <p:cNvPr id="59" name="Group 15">
            <a:extLst>
              <a:ext uri="{FF2B5EF4-FFF2-40B4-BE49-F238E27FC236}">
                <a16:creationId xmlns:a16="http://schemas.microsoft.com/office/drawing/2014/main" id="{5057D694-4770-1E47-9F1B-BD44CF4E06D9}"/>
              </a:ext>
            </a:extLst>
          </p:cNvPr>
          <p:cNvGrpSpPr>
            <a:grpSpLocks/>
          </p:cNvGrpSpPr>
          <p:nvPr/>
        </p:nvGrpSpPr>
        <p:grpSpPr bwMode="auto">
          <a:xfrm>
            <a:off x="1335725" y="4502535"/>
            <a:ext cx="1753791" cy="307181"/>
            <a:chOff x="1004" y="1639"/>
            <a:chExt cx="1473" cy="258"/>
          </a:xfrm>
        </p:grpSpPr>
        <p:sp>
          <p:nvSpPr>
            <p:cNvPr id="60" name="Freeform 16">
              <a:extLst>
                <a:ext uri="{FF2B5EF4-FFF2-40B4-BE49-F238E27FC236}">
                  <a16:creationId xmlns:a16="http://schemas.microsoft.com/office/drawing/2014/main" id="{1AC34B6C-BC17-784D-A5E7-5AC4103C3EF7}"/>
                </a:ext>
              </a:extLst>
            </p:cNvPr>
            <p:cNvSpPr>
              <a:spLocks/>
            </p:cNvSpPr>
            <p:nvPr/>
          </p:nvSpPr>
          <p:spPr bwMode="auto">
            <a:xfrm>
              <a:off x="1004" y="1639"/>
              <a:ext cx="1473" cy="255"/>
            </a:xfrm>
            <a:custGeom>
              <a:avLst/>
              <a:gdLst>
                <a:gd name="T0" fmla="*/ 172 w 1473"/>
                <a:gd name="T1" fmla="*/ 11 h 255"/>
                <a:gd name="T2" fmla="*/ 73 w 1473"/>
                <a:gd name="T3" fmla="*/ 94 h 255"/>
                <a:gd name="T4" fmla="*/ 146 w 1473"/>
                <a:gd name="T5" fmla="*/ 220 h 255"/>
                <a:gd name="T6" fmla="*/ 520 w 1473"/>
                <a:gd name="T7" fmla="*/ 225 h 255"/>
                <a:gd name="T8" fmla="*/ 754 w 1473"/>
                <a:gd name="T9" fmla="*/ 251 h 255"/>
                <a:gd name="T10" fmla="*/ 1306 w 1473"/>
                <a:gd name="T11" fmla="*/ 203 h 255"/>
                <a:gd name="T12" fmla="*/ 1360 w 1473"/>
                <a:gd name="T13" fmla="*/ 29 h 255"/>
                <a:gd name="T14" fmla="*/ 628 w 1473"/>
                <a:gd name="T15" fmla="*/ 29 h 255"/>
                <a:gd name="T16" fmla="*/ 172 w 1473"/>
                <a:gd name="T17" fmla="*/ 11 h 2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73"/>
                <a:gd name="T28" fmla="*/ 0 h 255"/>
                <a:gd name="T29" fmla="*/ 1473 w 1473"/>
                <a:gd name="T30" fmla="*/ 255 h 2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a:defRPr/>
              </a:pPr>
              <a:endParaRPr lang="en-US" sz="1350" kern="0" dirty="0">
                <a:solidFill>
                  <a:srgbClr val="000000"/>
                </a:solidFill>
              </a:endParaRPr>
            </a:p>
          </p:txBody>
        </p:sp>
        <p:sp>
          <p:nvSpPr>
            <p:cNvPr id="61" name="Text Box 17">
              <a:extLst>
                <a:ext uri="{FF2B5EF4-FFF2-40B4-BE49-F238E27FC236}">
                  <a16:creationId xmlns:a16="http://schemas.microsoft.com/office/drawing/2014/main" id="{A065852F-7DDA-B44F-8E9C-52064BDFA917}"/>
                </a:ext>
              </a:extLst>
            </p:cNvPr>
            <p:cNvSpPr txBox="1">
              <a:spLocks noChangeArrowheads="1"/>
            </p:cNvSpPr>
            <p:nvPr/>
          </p:nvSpPr>
          <p:spPr bwMode="auto">
            <a:xfrm>
              <a:off x="1226" y="1664"/>
              <a:ext cx="1014" cy="233"/>
            </a:xfrm>
            <a:prstGeom prst="rect">
              <a:avLst/>
            </a:prstGeom>
            <a:solidFill>
              <a:srgbClr val="9CE0F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200" kern="0" dirty="0">
                  <a:solidFill>
                    <a:srgbClr val="000000"/>
                  </a:solidFill>
                </a:rPr>
                <a:t>200.23.30.0/23</a:t>
              </a:r>
              <a:endParaRPr lang="en-US" altLang="en-US" sz="1350" kern="0" dirty="0">
                <a:solidFill>
                  <a:srgbClr val="000000"/>
                </a:solidFill>
              </a:endParaRPr>
            </a:p>
          </p:txBody>
        </p:sp>
      </p:grpSp>
      <p:sp>
        <p:nvSpPr>
          <p:cNvPr id="62" name="Text Box 18">
            <a:extLst>
              <a:ext uri="{FF2B5EF4-FFF2-40B4-BE49-F238E27FC236}">
                <a16:creationId xmlns:a16="http://schemas.microsoft.com/office/drawing/2014/main" id="{B97CFD2D-9478-1F42-BD6D-A57188386EBA}"/>
              </a:ext>
            </a:extLst>
          </p:cNvPr>
          <p:cNvSpPr txBox="1">
            <a:spLocks noChangeArrowheads="1"/>
          </p:cNvSpPr>
          <p:nvPr/>
        </p:nvSpPr>
        <p:spPr bwMode="auto">
          <a:xfrm>
            <a:off x="3514569" y="3923891"/>
            <a:ext cx="118814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Fly-By-Night-ISP</a:t>
            </a:r>
            <a:endParaRPr lang="en-US" altLang="en-US" sz="1350" kern="0" dirty="0">
              <a:solidFill>
                <a:srgbClr val="000000"/>
              </a:solidFill>
            </a:endParaRPr>
          </a:p>
        </p:txBody>
      </p:sp>
      <p:sp>
        <p:nvSpPr>
          <p:cNvPr id="63" name="Freeform 19">
            <a:extLst>
              <a:ext uri="{FF2B5EF4-FFF2-40B4-BE49-F238E27FC236}">
                <a16:creationId xmlns:a16="http://schemas.microsoft.com/office/drawing/2014/main" id="{5B640850-7414-DA40-A0C3-62F09225F74C}"/>
              </a:ext>
            </a:extLst>
          </p:cNvPr>
          <p:cNvSpPr>
            <a:spLocks/>
          </p:cNvSpPr>
          <p:nvPr/>
        </p:nvSpPr>
        <p:spPr bwMode="auto">
          <a:xfrm>
            <a:off x="6186332" y="3246425"/>
            <a:ext cx="1083469" cy="2035969"/>
          </a:xfrm>
          <a:custGeom>
            <a:avLst/>
            <a:gdLst>
              <a:gd name="T0" fmla="*/ 2147483647 w 910"/>
              <a:gd name="T1" fmla="*/ 2147483647 h 1710"/>
              <a:gd name="T2" fmla="*/ 2147483647 w 910"/>
              <a:gd name="T3" fmla="*/ 2147483647 h 1710"/>
              <a:gd name="T4" fmla="*/ 2147483647 w 910"/>
              <a:gd name="T5" fmla="*/ 2147483647 h 1710"/>
              <a:gd name="T6" fmla="*/ 2147483647 w 910"/>
              <a:gd name="T7" fmla="*/ 2147483647 h 1710"/>
              <a:gd name="T8" fmla="*/ 2147483647 w 910"/>
              <a:gd name="T9" fmla="*/ 2147483647 h 1710"/>
              <a:gd name="T10" fmla="*/ 2147483647 w 910"/>
              <a:gd name="T11" fmla="*/ 2147483647 h 1710"/>
              <a:gd name="T12" fmla="*/ 2147483647 w 910"/>
              <a:gd name="T13" fmla="*/ 2147483647 h 1710"/>
              <a:gd name="T14" fmla="*/ 2147483647 w 910"/>
              <a:gd name="T15" fmla="*/ 2147483647 h 1710"/>
              <a:gd name="T16" fmla="*/ 2147483647 w 910"/>
              <a:gd name="T17" fmla="*/ 2147483647 h 1710"/>
              <a:gd name="T18" fmla="*/ 2147483647 w 910"/>
              <a:gd name="T19" fmla="*/ 2147483647 h 1710"/>
              <a:gd name="T20" fmla="*/ 2147483647 w 910"/>
              <a:gd name="T21" fmla="*/ 2147483647 h 1710"/>
              <a:gd name="T22" fmla="*/ 2147483647 w 910"/>
              <a:gd name="T23" fmla="*/ 2147483647 h 17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10"/>
              <a:gd name="T37" fmla="*/ 0 h 1710"/>
              <a:gd name="T38" fmla="*/ 910 w 910"/>
              <a:gd name="T39" fmla="*/ 1710 h 17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10" h="17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rotWithShape="1">
            <a:gsLst>
              <a:gs pos="0">
                <a:srgbClr val="66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a:defRPr/>
            </a:pPr>
            <a:endParaRPr lang="en-US" sz="1350" dirty="0">
              <a:solidFill>
                <a:srgbClr val="000000"/>
              </a:solidFill>
            </a:endParaRPr>
          </a:p>
        </p:txBody>
      </p:sp>
      <p:sp>
        <p:nvSpPr>
          <p:cNvPr id="64" name="Text Box 20">
            <a:extLst>
              <a:ext uri="{FF2B5EF4-FFF2-40B4-BE49-F238E27FC236}">
                <a16:creationId xmlns:a16="http://schemas.microsoft.com/office/drawing/2014/main" id="{18E6B3A0-A9B2-6541-9755-03069812C8AA}"/>
              </a:ext>
            </a:extLst>
          </p:cNvPr>
          <p:cNvSpPr txBox="1">
            <a:spLocks noChangeArrowheads="1"/>
          </p:cNvSpPr>
          <p:nvPr/>
        </p:nvSpPr>
        <p:spPr bwMode="auto">
          <a:xfrm>
            <a:off x="1378588" y="2802322"/>
            <a:ext cx="106311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Organization 0</a:t>
            </a:r>
          </a:p>
        </p:txBody>
      </p:sp>
      <p:sp>
        <p:nvSpPr>
          <p:cNvPr id="65" name="Text Box 21">
            <a:extLst>
              <a:ext uri="{FF2B5EF4-FFF2-40B4-BE49-F238E27FC236}">
                <a16:creationId xmlns:a16="http://schemas.microsoft.com/office/drawing/2014/main" id="{7ED2E79C-4EA2-DF46-850E-87C1B539109F}"/>
              </a:ext>
            </a:extLst>
          </p:cNvPr>
          <p:cNvSpPr txBox="1">
            <a:spLocks noChangeArrowheads="1"/>
          </p:cNvSpPr>
          <p:nvPr/>
        </p:nvSpPr>
        <p:spPr bwMode="auto">
          <a:xfrm>
            <a:off x="1400019" y="4309653"/>
            <a:ext cx="106311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Organization 7</a:t>
            </a:r>
          </a:p>
        </p:txBody>
      </p:sp>
      <p:sp>
        <p:nvSpPr>
          <p:cNvPr id="66" name="Text Box 22">
            <a:extLst>
              <a:ext uri="{FF2B5EF4-FFF2-40B4-BE49-F238E27FC236}">
                <a16:creationId xmlns:a16="http://schemas.microsoft.com/office/drawing/2014/main" id="{5C4A224A-3B90-CE4F-80C5-151CE7A1FC32}"/>
              </a:ext>
            </a:extLst>
          </p:cNvPr>
          <p:cNvSpPr txBox="1">
            <a:spLocks noChangeArrowheads="1"/>
          </p:cNvSpPr>
          <p:nvPr/>
        </p:nvSpPr>
        <p:spPr bwMode="auto">
          <a:xfrm>
            <a:off x="6364925" y="4166778"/>
            <a:ext cx="64152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Internet</a:t>
            </a:r>
          </a:p>
        </p:txBody>
      </p:sp>
      <p:sp>
        <p:nvSpPr>
          <p:cNvPr id="68" name="Freeform 24">
            <a:extLst>
              <a:ext uri="{FF2B5EF4-FFF2-40B4-BE49-F238E27FC236}">
                <a16:creationId xmlns:a16="http://schemas.microsoft.com/office/drawing/2014/main" id="{DA50A5B2-8288-9D48-89B3-3CF0A9EE6426}"/>
              </a:ext>
            </a:extLst>
          </p:cNvPr>
          <p:cNvSpPr>
            <a:spLocks/>
          </p:cNvSpPr>
          <p:nvPr/>
        </p:nvSpPr>
        <p:spPr bwMode="auto">
          <a:xfrm>
            <a:off x="3446704" y="4585879"/>
            <a:ext cx="1329928" cy="734615"/>
          </a:xfrm>
          <a:custGeom>
            <a:avLst/>
            <a:gdLst>
              <a:gd name="T0" fmla="*/ 2147483647 w 1117"/>
              <a:gd name="T1" fmla="*/ 2147483647 h 617"/>
              <a:gd name="T2" fmla="*/ 2147483647 w 1117"/>
              <a:gd name="T3" fmla="*/ 2147483647 h 617"/>
              <a:gd name="T4" fmla="*/ 2147483647 w 1117"/>
              <a:gd name="T5" fmla="*/ 2147483647 h 617"/>
              <a:gd name="T6" fmla="*/ 2147483647 w 1117"/>
              <a:gd name="T7" fmla="*/ 2147483647 h 617"/>
              <a:gd name="T8" fmla="*/ 2147483647 w 1117"/>
              <a:gd name="T9" fmla="*/ 2147483647 h 617"/>
              <a:gd name="T10" fmla="*/ 2147483647 w 1117"/>
              <a:gd name="T11" fmla="*/ 2147483647 h 617"/>
              <a:gd name="T12" fmla="*/ 2147483647 w 1117"/>
              <a:gd name="T13" fmla="*/ 2147483647 h 617"/>
              <a:gd name="T14" fmla="*/ 2147483647 w 1117"/>
              <a:gd name="T15" fmla="*/ 2147483647 h 617"/>
              <a:gd name="T16" fmla="*/ 2147483647 w 1117"/>
              <a:gd name="T17" fmla="*/ 2147483647 h 617"/>
              <a:gd name="T18" fmla="*/ 2147483647 w 1117"/>
              <a:gd name="T19" fmla="*/ 2147483647 h 617"/>
              <a:gd name="T20" fmla="*/ 2147483647 w 1117"/>
              <a:gd name="T21" fmla="*/ 2147483647 h 617"/>
              <a:gd name="T22" fmla="*/ 2147483647 w 1117"/>
              <a:gd name="T23" fmla="*/ 2147483647 h 6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17"/>
              <a:gd name="T37" fmla="*/ 0 h 617"/>
              <a:gd name="T38" fmla="*/ 1117 w 1117"/>
              <a:gd name="T39" fmla="*/ 617 h 6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17" h="6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wrap="none" anchor="ctr"/>
          <a:lstStyle/>
          <a:p>
            <a:pPr defTabSz="685800">
              <a:defRPr/>
            </a:pPr>
            <a:endParaRPr lang="en-US" sz="1350" dirty="0">
              <a:solidFill>
                <a:srgbClr val="000000"/>
              </a:solidFill>
            </a:endParaRPr>
          </a:p>
        </p:txBody>
      </p:sp>
      <p:sp>
        <p:nvSpPr>
          <p:cNvPr id="69" name="Text Box 25">
            <a:extLst>
              <a:ext uri="{FF2B5EF4-FFF2-40B4-BE49-F238E27FC236}">
                <a16:creationId xmlns:a16="http://schemas.microsoft.com/office/drawing/2014/main" id="{0E511D85-1643-734E-A204-E574E162FB3D}"/>
              </a:ext>
            </a:extLst>
          </p:cNvPr>
          <p:cNvSpPr txBox="1">
            <a:spLocks noChangeArrowheads="1"/>
          </p:cNvSpPr>
          <p:nvPr/>
        </p:nvSpPr>
        <p:spPr bwMode="auto">
          <a:xfrm>
            <a:off x="3671732" y="4866866"/>
            <a:ext cx="82105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ISPs-R-Us</a:t>
            </a:r>
            <a:endParaRPr lang="en-US" altLang="en-US" sz="1350" kern="0" dirty="0">
              <a:solidFill>
                <a:srgbClr val="000000"/>
              </a:solidFill>
            </a:endParaRPr>
          </a:p>
        </p:txBody>
      </p:sp>
      <p:sp>
        <p:nvSpPr>
          <p:cNvPr id="70" name="Freeform 26">
            <a:extLst>
              <a:ext uri="{FF2B5EF4-FFF2-40B4-BE49-F238E27FC236}">
                <a16:creationId xmlns:a16="http://schemas.microsoft.com/office/drawing/2014/main" id="{46DEEC4A-E4F9-0942-9D95-69D2C1DC1DCD}"/>
              </a:ext>
            </a:extLst>
          </p:cNvPr>
          <p:cNvSpPr>
            <a:spLocks/>
          </p:cNvSpPr>
          <p:nvPr/>
        </p:nvSpPr>
        <p:spPr bwMode="auto">
          <a:xfrm flipV="1">
            <a:off x="4740913" y="4601356"/>
            <a:ext cx="1514475" cy="221456"/>
          </a:xfrm>
          <a:custGeom>
            <a:avLst/>
            <a:gdLst>
              <a:gd name="T0" fmla="*/ 0 w 1272"/>
              <a:gd name="T1" fmla="*/ 0 h 186"/>
              <a:gd name="T2" fmla="*/ 2147483647 w 1272"/>
              <a:gd name="T3" fmla="*/ 2147483647 h 186"/>
              <a:gd name="T4" fmla="*/ 0 60000 65536"/>
              <a:gd name="T5" fmla="*/ 0 60000 65536"/>
              <a:gd name="T6" fmla="*/ 0 w 1272"/>
              <a:gd name="T7" fmla="*/ 0 h 186"/>
              <a:gd name="T8" fmla="*/ 1272 w 1272"/>
              <a:gd name="T9" fmla="*/ 186 h 186"/>
            </a:gdLst>
            <a:ahLst/>
            <a:cxnLst>
              <a:cxn ang="T4">
                <a:pos x="T0" y="T1"/>
              </a:cxn>
              <a:cxn ang="T5">
                <a:pos x="T2" y="T3"/>
              </a:cxn>
            </a:cxnLst>
            <a:rect l="T6" t="T7" r="T8" b="T9"/>
            <a:pathLst>
              <a:path w="1272" h="186">
                <a:moveTo>
                  <a:pt x="0" y="0"/>
                </a:moveTo>
                <a:lnTo>
                  <a:pt x="1272" y="186"/>
                </a:lnTo>
              </a:path>
            </a:pathLst>
          </a:custGeom>
          <a:noFill/>
          <a:ln w="19050" cap="flat" cmpd="sng">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pPr defTabSz="685800">
              <a:defRPr/>
            </a:pPr>
            <a:endParaRPr lang="en-US" sz="1350" kern="0" dirty="0">
              <a:solidFill>
                <a:srgbClr val="000000"/>
              </a:solidFill>
            </a:endParaRPr>
          </a:p>
        </p:txBody>
      </p:sp>
      <p:sp>
        <p:nvSpPr>
          <p:cNvPr id="71" name="Line 27">
            <a:extLst>
              <a:ext uri="{FF2B5EF4-FFF2-40B4-BE49-F238E27FC236}">
                <a16:creationId xmlns:a16="http://schemas.microsoft.com/office/drawing/2014/main" id="{BC947CB2-0DEF-E44D-BAA9-42758198740F}"/>
              </a:ext>
            </a:extLst>
          </p:cNvPr>
          <p:cNvSpPr>
            <a:spLocks noChangeShapeType="1"/>
          </p:cNvSpPr>
          <p:nvPr/>
        </p:nvSpPr>
        <p:spPr bwMode="auto">
          <a:xfrm>
            <a:off x="3083563" y="5008550"/>
            <a:ext cx="36433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72" name="Line 28">
            <a:extLst>
              <a:ext uri="{FF2B5EF4-FFF2-40B4-BE49-F238E27FC236}">
                <a16:creationId xmlns:a16="http://schemas.microsoft.com/office/drawing/2014/main" id="{3EA86D83-B0E4-D34A-A87C-4B28A721D097}"/>
              </a:ext>
            </a:extLst>
          </p:cNvPr>
          <p:cNvSpPr>
            <a:spLocks noChangeShapeType="1"/>
          </p:cNvSpPr>
          <p:nvPr/>
        </p:nvSpPr>
        <p:spPr bwMode="auto">
          <a:xfrm flipV="1">
            <a:off x="2969263" y="5058556"/>
            <a:ext cx="478631" cy="128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73" name="Line 29">
            <a:extLst>
              <a:ext uri="{FF2B5EF4-FFF2-40B4-BE49-F238E27FC236}">
                <a16:creationId xmlns:a16="http://schemas.microsoft.com/office/drawing/2014/main" id="{2247A199-0E7A-4C47-AAF1-3B3EA90E97FE}"/>
              </a:ext>
            </a:extLst>
          </p:cNvPr>
          <p:cNvSpPr>
            <a:spLocks noChangeShapeType="1"/>
          </p:cNvSpPr>
          <p:nvPr/>
        </p:nvSpPr>
        <p:spPr bwMode="auto">
          <a:xfrm flipV="1">
            <a:off x="3297875" y="5244294"/>
            <a:ext cx="185738" cy="3071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kern="0" dirty="0">
              <a:solidFill>
                <a:srgbClr val="000000"/>
              </a:solidFill>
            </a:endParaRPr>
          </a:p>
        </p:txBody>
      </p:sp>
      <p:sp>
        <p:nvSpPr>
          <p:cNvPr id="74" name="Text Box 30">
            <a:extLst>
              <a:ext uri="{FF2B5EF4-FFF2-40B4-BE49-F238E27FC236}">
                <a16:creationId xmlns:a16="http://schemas.microsoft.com/office/drawing/2014/main" id="{FDF4E109-9818-F749-8396-00CAAD03F8B7}"/>
              </a:ext>
            </a:extLst>
          </p:cNvPr>
          <p:cNvSpPr txBox="1">
            <a:spLocks noChangeArrowheads="1"/>
          </p:cNvSpPr>
          <p:nvPr/>
        </p:nvSpPr>
        <p:spPr bwMode="auto">
          <a:xfrm>
            <a:off x="4957607" y="4788284"/>
            <a:ext cx="134043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ja-JP" altLang="en-US" sz="1050" kern="0">
                <a:solidFill>
                  <a:srgbClr val="000000"/>
                </a:solidFill>
              </a:rPr>
              <a:t>“</a:t>
            </a:r>
            <a:r>
              <a:rPr lang="en-US" altLang="ja-JP" sz="1050" kern="0" dirty="0">
                <a:solidFill>
                  <a:srgbClr val="000000"/>
                </a:solidFill>
              </a:rPr>
              <a:t>Send me anything</a:t>
            </a:r>
          </a:p>
          <a:p>
            <a:pPr defTabSz="685800">
              <a:defRPr/>
            </a:pPr>
            <a:r>
              <a:rPr lang="en-US" altLang="en-US" sz="1050" kern="0" dirty="0">
                <a:solidFill>
                  <a:srgbClr val="000000"/>
                </a:solidFill>
              </a:rPr>
              <a:t>with addresses </a:t>
            </a:r>
          </a:p>
          <a:p>
            <a:pPr defTabSz="685800">
              <a:defRPr/>
            </a:pPr>
            <a:r>
              <a:rPr lang="en-US" altLang="en-US" sz="1050" kern="0" dirty="0">
                <a:solidFill>
                  <a:srgbClr val="000000"/>
                </a:solidFill>
              </a:rPr>
              <a:t>beginning </a:t>
            </a:r>
          </a:p>
          <a:p>
            <a:pPr defTabSz="685800">
              <a:defRPr/>
            </a:pPr>
            <a:r>
              <a:rPr lang="en-US" altLang="en-US" sz="1050" kern="0" dirty="0">
                <a:solidFill>
                  <a:srgbClr val="000000"/>
                </a:solidFill>
              </a:rPr>
              <a:t>199.31.0.0/16</a:t>
            </a:r>
            <a:r>
              <a:rPr lang="ja-JP" altLang="en-US" sz="1050" kern="0">
                <a:solidFill>
                  <a:srgbClr val="000000"/>
                </a:solidFill>
              </a:rPr>
              <a:t>”</a:t>
            </a:r>
            <a:endParaRPr lang="en-US" altLang="en-US" sz="1050" kern="0" dirty="0">
              <a:solidFill>
                <a:srgbClr val="000000"/>
              </a:solidFill>
            </a:endParaRPr>
          </a:p>
        </p:txBody>
      </p:sp>
      <p:grpSp>
        <p:nvGrpSpPr>
          <p:cNvPr id="75" name="Group 31">
            <a:extLst>
              <a:ext uri="{FF2B5EF4-FFF2-40B4-BE49-F238E27FC236}">
                <a16:creationId xmlns:a16="http://schemas.microsoft.com/office/drawing/2014/main" id="{4C6923DB-B2DC-034F-AE1A-78C3B8049E53}"/>
              </a:ext>
            </a:extLst>
          </p:cNvPr>
          <p:cNvGrpSpPr>
            <a:grpSpLocks/>
          </p:cNvGrpSpPr>
          <p:nvPr/>
        </p:nvGrpSpPr>
        <p:grpSpPr bwMode="auto">
          <a:xfrm>
            <a:off x="1414307" y="3881029"/>
            <a:ext cx="1753791" cy="307181"/>
            <a:chOff x="1004" y="1639"/>
            <a:chExt cx="1473" cy="258"/>
          </a:xfrm>
        </p:grpSpPr>
        <p:sp>
          <p:nvSpPr>
            <p:cNvPr id="76" name="Freeform 32">
              <a:extLst>
                <a:ext uri="{FF2B5EF4-FFF2-40B4-BE49-F238E27FC236}">
                  <a16:creationId xmlns:a16="http://schemas.microsoft.com/office/drawing/2014/main" id="{3599EB35-4339-C745-80AD-3353B688629C}"/>
                </a:ext>
              </a:extLst>
            </p:cNvPr>
            <p:cNvSpPr>
              <a:spLocks/>
            </p:cNvSpPr>
            <p:nvPr/>
          </p:nvSpPr>
          <p:spPr bwMode="auto">
            <a:xfrm>
              <a:off x="1004" y="1639"/>
              <a:ext cx="1473" cy="255"/>
            </a:xfrm>
            <a:custGeom>
              <a:avLst/>
              <a:gdLst>
                <a:gd name="T0" fmla="*/ 172 w 1473"/>
                <a:gd name="T1" fmla="*/ 11 h 255"/>
                <a:gd name="T2" fmla="*/ 73 w 1473"/>
                <a:gd name="T3" fmla="*/ 94 h 255"/>
                <a:gd name="T4" fmla="*/ 146 w 1473"/>
                <a:gd name="T5" fmla="*/ 220 h 255"/>
                <a:gd name="T6" fmla="*/ 520 w 1473"/>
                <a:gd name="T7" fmla="*/ 225 h 255"/>
                <a:gd name="T8" fmla="*/ 754 w 1473"/>
                <a:gd name="T9" fmla="*/ 251 h 255"/>
                <a:gd name="T10" fmla="*/ 1306 w 1473"/>
                <a:gd name="T11" fmla="*/ 203 h 255"/>
                <a:gd name="T12" fmla="*/ 1360 w 1473"/>
                <a:gd name="T13" fmla="*/ 29 h 255"/>
                <a:gd name="T14" fmla="*/ 628 w 1473"/>
                <a:gd name="T15" fmla="*/ 29 h 255"/>
                <a:gd name="T16" fmla="*/ 172 w 1473"/>
                <a:gd name="T17" fmla="*/ 11 h 2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73"/>
                <a:gd name="T28" fmla="*/ 0 h 255"/>
                <a:gd name="T29" fmla="*/ 1473 w 1473"/>
                <a:gd name="T30" fmla="*/ 255 h 2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a:defRPr/>
              </a:pPr>
              <a:endParaRPr lang="en-US" sz="1350" kern="0" dirty="0">
                <a:solidFill>
                  <a:srgbClr val="000000"/>
                </a:solidFill>
              </a:endParaRPr>
            </a:p>
          </p:txBody>
        </p:sp>
        <p:sp>
          <p:nvSpPr>
            <p:cNvPr id="77" name="Text Box 33">
              <a:extLst>
                <a:ext uri="{FF2B5EF4-FFF2-40B4-BE49-F238E27FC236}">
                  <a16:creationId xmlns:a16="http://schemas.microsoft.com/office/drawing/2014/main" id="{F6270561-036D-D141-A5B9-ABC52F684E6F}"/>
                </a:ext>
              </a:extLst>
            </p:cNvPr>
            <p:cNvSpPr txBox="1">
              <a:spLocks noChangeArrowheads="1"/>
            </p:cNvSpPr>
            <p:nvPr/>
          </p:nvSpPr>
          <p:spPr bwMode="auto">
            <a:xfrm>
              <a:off x="1226" y="1664"/>
              <a:ext cx="1014" cy="233"/>
            </a:xfrm>
            <a:prstGeom prst="rect">
              <a:avLst/>
            </a:prstGeom>
            <a:solidFill>
              <a:srgbClr val="9CE0F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200" kern="0" dirty="0">
                  <a:solidFill>
                    <a:srgbClr val="000000"/>
                  </a:solidFill>
                </a:rPr>
                <a:t>200.23.20.0/23</a:t>
              </a:r>
              <a:endParaRPr lang="en-US" altLang="en-US" sz="1350" kern="0" dirty="0">
                <a:solidFill>
                  <a:srgbClr val="000000"/>
                </a:solidFill>
              </a:endParaRPr>
            </a:p>
          </p:txBody>
        </p:sp>
      </p:grpSp>
      <p:sp>
        <p:nvSpPr>
          <p:cNvPr id="78" name="Text Box 34">
            <a:extLst>
              <a:ext uri="{FF2B5EF4-FFF2-40B4-BE49-F238E27FC236}">
                <a16:creationId xmlns:a16="http://schemas.microsoft.com/office/drawing/2014/main" id="{7BBF307D-51AE-C841-AD14-6D1FE73A0F18}"/>
              </a:ext>
            </a:extLst>
          </p:cNvPr>
          <p:cNvSpPr txBox="1">
            <a:spLocks noChangeArrowheads="1"/>
          </p:cNvSpPr>
          <p:nvPr/>
        </p:nvSpPr>
        <p:spPr bwMode="auto">
          <a:xfrm>
            <a:off x="1400019" y="3731009"/>
            <a:ext cx="106311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Organization 2</a:t>
            </a:r>
          </a:p>
        </p:txBody>
      </p:sp>
      <p:grpSp>
        <p:nvGrpSpPr>
          <p:cNvPr id="79" name="Group 35">
            <a:extLst>
              <a:ext uri="{FF2B5EF4-FFF2-40B4-BE49-F238E27FC236}">
                <a16:creationId xmlns:a16="http://schemas.microsoft.com/office/drawing/2014/main" id="{8A4F9659-D65C-7D45-9305-FE9BA9437E3A}"/>
              </a:ext>
            </a:extLst>
          </p:cNvPr>
          <p:cNvGrpSpPr>
            <a:grpSpLocks/>
          </p:cNvGrpSpPr>
          <p:nvPr/>
        </p:nvGrpSpPr>
        <p:grpSpPr bwMode="auto">
          <a:xfrm>
            <a:off x="2426337" y="4073909"/>
            <a:ext cx="240506" cy="522685"/>
            <a:chOff x="870" y="2941"/>
            <a:chExt cx="202" cy="439"/>
          </a:xfrm>
        </p:grpSpPr>
        <p:sp>
          <p:nvSpPr>
            <p:cNvPr id="80" name="Text Box 36">
              <a:extLst>
                <a:ext uri="{FF2B5EF4-FFF2-40B4-BE49-F238E27FC236}">
                  <a16:creationId xmlns:a16="http://schemas.microsoft.com/office/drawing/2014/main" id="{856ACC8E-1EAC-4B45-9687-D919315E528A}"/>
                </a:ext>
              </a:extLst>
            </p:cNvPr>
            <p:cNvSpPr txBox="1">
              <a:spLocks noChangeArrowheads="1"/>
            </p:cNvSpPr>
            <p:nvPr/>
          </p:nvSpPr>
          <p:spPr bwMode="auto">
            <a:xfrm>
              <a:off x="872" y="2941"/>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b="1" kern="0" dirty="0">
                  <a:solidFill>
                    <a:srgbClr val="000000"/>
                  </a:solidFill>
                </a:rPr>
                <a:t>.</a:t>
              </a:r>
              <a:endParaRPr lang="en-US" altLang="en-US" sz="1500" kern="0" dirty="0">
                <a:solidFill>
                  <a:srgbClr val="000000"/>
                </a:solidFill>
              </a:endParaRPr>
            </a:p>
          </p:txBody>
        </p:sp>
        <p:sp>
          <p:nvSpPr>
            <p:cNvPr id="81" name="Text Box 37">
              <a:extLst>
                <a:ext uri="{FF2B5EF4-FFF2-40B4-BE49-F238E27FC236}">
                  <a16:creationId xmlns:a16="http://schemas.microsoft.com/office/drawing/2014/main" id="{E96A0D03-E033-D946-9D51-BCE9933B7941}"/>
                </a:ext>
              </a:extLst>
            </p:cNvPr>
            <p:cNvSpPr txBox="1">
              <a:spLocks noChangeArrowheads="1"/>
            </p:cNvSpPr>
            <p:nvPr/>
          </p:nvSpPr>
          <p:spPr bwMode="auto">
            <a:xfrm>
              <a:off x="870" y="3026"/>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b="1" kern="0" dirty="0">
                  <a:solidFill>
                    <a:srgbClr val="000000"/>
                  </a:solidFill>
                </a:rPr>
                <a:t>.</a:t>
              </a:r>
              <a:endParaRPr lang="en-US" altLang="en-US" sz="1500" kern="0" dirty="0">
                <a:solidFill>
                  <a:srgbClr val="000000"/>
                </a:solidFill>
              </a:endParaRPr>
            </a:p>
          </p:txBody>
        </p:sp>
        <p:sp>
          <p:nvSpPr>
            <p:cNvPr id="82" name="Text Box 38">
              <a:extLst>
                <a:ext uri="{FF2B5EF4-FFF2-40B4-BE49-F238E27FC236}">
                  <a16:creationId xmlns:a16="http://schemas.microsoft.com/office/drawing/2014/main" id="{BD5D13DF-8C67-E648-8A1C-0F7207365CD4}"/>
                </a:ext>
              </a:extLst>
            </p:cNvPr>
            <p:cNvSpPr txBox="1">
              <a:spLocks noChangeArrowheads="1"/>
            </p:cNvSpPr>
            <p:nvPr/>
          </p:nvSpPr>
          <p:spPr bwMode="auto">
            <a:xfrm>
              <a:off x="871" y="3109"/>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b="1" kern="0" dirty="0">
                  <a:solidFill>
                    <a:srgbClr val="000000"/>
                  </a:solidFill>
                </a:rPr>
                <a:t>.</a:t>
              </a:r>
              <a:endParaRPr lang="en-US" altLang="en-US" sz="1500" kern="0" dirty="0">
                <a:solidFill>
                  <a:srgbClr val="000000"/>
                </a:solidFill>
              </a:endParaRPr>
            </a:p>
          </p:txBody>
        </p:sp>
      </p:grpSp>
      <p:grpSp>
        <p:nvGrpSpPr>
          <p:cNvPr id="83" name="Group 39">
            <a:extLst>
              <a:ext uri="{FF2B5EF4-FFF2-40B4-BE49-F238E27FC236}">
                <a16:creationId xmlns:a16="http://schemas.microsoft.com/office/drawing/2014/main" id="{1CA732F1-4ED0-4F45-8CFF-255D799EAD25}"/>
              </a:ext>
            </a:extLst>
          </p:cNvPr>
          <p:cNvGrpSpPr>
            <a:grpSpLocks/>
          </p:cNvGrpSpPr>
          <p:nvPr/>
        </p:nvGrpSpPr>
        <p:grpSpPr bwMode="auto">
          <a:xfrm>
            <a:off x="3197862" y="3852453"/>
            <a:ext cx="240506" cy="522685"/>
            <a:chOff x="870" y="2941"/>
            <a:chExt cx="202" cy="439"/>
          </a:xfrm>
        </p:grpSpPr>
        <p:sp>
          <p:nvSpPr>
            <p:cNvPr id="84" name="Text Box 40">
              <a:extLst>
                <a:ext uri="{FF2B5EF4-FFF2-40B4-BE49-F238E27FC236}">
                  <a16:creationId xmlns:a16="http://schemas.microsoft.com/office/drawing/2014/main" id="{CA317B14-5E59-2749-93F3-DE759F1E87C2}"/>
                </a:ext>
              </a:extLst>
            </p:cNvPr>
            <p:cNvSpPr txBox="1">
              <a:spLocks noChangeArrowheads="1"/>
            </p:cNvSpPr>
            <p:nvPr/>
          </p:nvSpPr>
          <p:spPr bwMode="auto">
            <a:xfrm>
              <a:off x="872" y="2941"/>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b="1" kern="0" dirty="0">
                  <a:solidFill>
                    <a:srgbClr val="000000"/>
                  </a:solidFill>
                </a:rPr>
                <a:t>.</a:t>
              </a:r>
              <a:endParaRPr lang="en-US" altLang="en-US" sz="1500" kern="0" dirty="0">
                <a:solidFill>
                  <a:srgbClr val="000000"/>
                </a:solidFill>
              </a:endParaRPr>
            </a:p>
          </p:txBody>
        </p:sp>
        <p:sp>
          <p:nvSpPr>
            <p:cNvPr id="85" name="Text Box 41">
              <a:extLst>
                <a:ext uri="{FF2B5EF4-FFF2-40B4-BE49-F238E27FC236}">
                  <a16:creationId xmlns:a16="http://schemas.microsoft.com/office/drawing/2014/main" id="{0385CAA6-35F8-B54E-BEBB-87DBE85D705D}"/>
                </a:ext>
              </a:extLst>
            </p:cNvPr>
            <p:cNvSpPr txBox="1">
              <a:spLocks noChangeArrowheads="1"/>
            </p:cNvSpPr>
            <p:nvPr/>
          </p:nvSpPr>
          <p:spPr bwMode="auto">
            <a:xfrm>
              <a:off x="870" y="3026"/>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b="1" kern="0" dirty="0">
                  <a:solidFill>
                    <a:srgbClr val="000000"/>
                  </a:solidFill>
                </a:rPr>
                <a:t>.</a:t>
              </a:r>
              <a:endParaRPr lang="en-US" altLang="en-US" sz="1500" kern="0" dirty="0">
                <a:solidFill>
                  <a:srgbClr val="000000"/>
                </a:solidFill>
              </a:endParaRPr>
            </a:p>
          </p:txBody>
        </p:sp>
        <p:sp>
          <p:nvSpPr>
            <p:cNvPr id="86" name="Text Box 42">
              <a:extLst>
                <a:ext uri="{FF2B5EF4-FFF2-40B4-BE49-F238E27FC236}">
                  <a16:creationId xmlns:a16="http://schemas.microsoft.com/office/drawing/2014/main" id="{D876D364-B8AB-884C-B605-DAF37D8F3F54}"/>
                </a:ext>
              </a:extLst>
            </p:cNvPr>
            <p:cNvSpPr txBox="1">
              <a:spLocks noChangeArrowheads="1"/>
            </p:cNvSpPr>
            <p:nvPr/>
          </p:nvSpPr>
          <p:spPr bwMode="auto">
            <a:xfrm>
              <a:off x="871" y="3109"/>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b="1" kern="0" dirty="0">
                  <a:solidFill>
                    <a:srgbClr val="000000"/>
                  </a:solidFill>
                </a:rPr>
                <a:t>.</a:t>
              </a:r>
              <a:endParaRPr lang="en-US" altLang="en-US" sz="1500" kern="0" dirty="0">
                <a:solidFill>
                  <a:srgbClr val="000000"/>
                </a:solidFill>
              </a:endParaRPr>
            </a:p>
          </p:txBody>
        </p:sp>
      </p:grpSp>
      <p:sp>
        <p:nvSpPr>
          <p:cNvPr id="87" name="Text Box 43">
            <a:extLst>
              <a:ext uri="{FF2B5EF4-FFF2-40B4-BE49-F238E27FC236}">
                <a16:creationId xmlns:a16="http://schemas.microsoft.com/office/drawing/2014/main" id="{CEC375CB-DDD1-C54F-9D87-9C4EC7FCBCCD}"/>
              </a:ext>
            </a:extLst>
          </p:cNvPr>
          <p:cNvSpPr txBox="1">
            <a:spLocks noChangeArrowheads="1"/>
          </p:cNvSpPr>
          <p:nvPr/>
        </p:nvSpPr>
        <p:spPr bwMode="auto">
          <a:xfrm>
            <a:off x="556303" y="1797579"/>
            <a:ext cx="82520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57175" indent="-257175" defTabSz="685800">
              <a:buClr>
                <a:srgbClr val="0000A3"/>
              </a:buClr>
              <a:buFont typeface="Wingdings" pitchFamily="2" charset="2"/>
              <a:buChar char="§"/>
              <a:defRPr/>
            </a:pPr>
            <a:r>
              <a:rPr lang="en-US" altLang="en-US" sz="2100" dirty="0">
                <a:solidFill>
                  <a:prstClr val="black"/>
                </a:solidFill>
                <a:latin typeface="Calibri" panose="020F0502020204030204"/>
              </a:rPr>
              <a:t>Organization 1 </a:t>
            </a:r>
            <a:r>
              <a:rPr lang="en-US" altLang="en-US" dirty="0">
                <a:solidFill>
                  <a:prstClr val="black"/>
                </a:solidFill>
                <a:latin typeface="Calibri" panose="020F0502020204030204"/>
              </a:rPr>
              <a:t>moves from Fly-By-Night-ISP to ISPs-R-Us</a:t>
            </a:r>
          </a:p>
          <a:p>
            <a:pPr marL="257175" indent="-257175" defTabSz="685800">
              <a:buClr>
                <a:srgbClr val="0000A3"/>
              </a:buClr>
              <a:buFont typeface="Wingdings" pitchFamily="2" charset="2"/>
              <a:buChar char="§"/>
              <a:defRPr/>
            </a:pPr>
            <a:r>
              <a:rPr lang="en-US" altLang="en-US" dirty="0">
                <a:solidFill>
                  <a:prstClr val="black"/>
                </a:solidFill>
                <a:latin typeface="Calibri" panose="020F0502020204030204"/>
              </a:rPr>
              <a:t>ISPs-R-Us now advertises a more specific route to </a:t>
            </a:r>
            <a:r>
              <a:rPr lang="en-US" altLang="en-US" sz="2100" dirty="0">
                <a:solidFill>
                  <a:prstClr val="black"/>
                </a:solidFill>
                <a:latin typeface="Calibri" panose="020F0502020204030204"/>
              </a:rPr>
              <a:t>Organization 1</a:t>
            </a:r>
            <a:endParaRPr lang="en-US" altLang="en-US" dirty="0">
              <a:solidFill>
                <a:srgbClr val="000000"/>
              </a:solidFill>
              <a:latin typeface="Calibri" panose="020F0502020204030204"/>
            </a:endParaRPr>
          </a:p>
        </p:txBody>
      </p:sp>
      <p:sp>
        <p:nvSpPr>
          <p:cNvPr id="45" name="Line 6">
            <a:extLst>
              <a:ext uri="{FF2B5EF4-FFF2-40B4-BE49-F238E27FC236}">
                <a16:creationId xmlns:a16="http://schemas.microsoft.com/office/drawing/2014/main" id="{16029FA6-37C7-AB4D-A59B-945173A1BE9B}"/>
              </a:ext>
            </a:extLst>
          </p:cNvPr>
          <p:cNvSpPr>
            <a:spLocks noChangeShapeType="1"/>
          </p:cNvSpPr>
          <p:nvPr/>
        </p:nvSpPr>
        <p:spPr bwMode="auto">
          <a:xfrm flipV="1">
            <a:off x="3227492" y="5197723"/>
            <a:ext cx="250031" cy="1857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a:t>
            </a:r>
          </a:p>
        </p:txBody>
      </p:sp>
      <p:grpSp>
        <p:nvGrpSpPr>
          <p:cNvPr id="2" name="Group 1">
            <a:extLst>
              <a:ext uri="{FF2B5EF4-FFF2-40B4-BE49-F238E27FC236}">
                <a16:creationId xmlns:a16="http://schemas.microsoft.com/office/drawing/2014/main" id="{D124712F-55B8-914D-A727-D85A618B3B5F}"/>
              </a:ext>
            </a:extLst>
          </p:cNvPr>
          <p:cNvGrpSpPr/>
          <p:nvPr/>
        </p:nvGrpSpPr>
        <p:grpSpPr>
          <a:xfrm>
            <a:off x="1555190" y="5159094"/>
            <a:ext cx="1756836" cy="468440"/>
            <a:chOff x="2073587" y="5735794"/>
            <a:chExt cx="2342448" cy="624587"/>
          </a:xfrm>
        </p:grpSpPr>
        <p:grpSp>
          <p:nvGrpSpPr>
            <p:cNvPr id="46" name="Group 13">
              <a:extLst>
                <a:ext uri="{FF2B5EF4-FFF2-40B4-BE49-F238E27FC236}">
                  <a16:creationId xmlns:a16="http://schemas.microsoft.com/office/drawing/2014/main" id="{ABF1EEF6-F03D-8E48-9B4F-9694AA09D3F1}"/>
                </a:ext>
              </a:extLst>
            </p:cNvPr>
            <p:cNvGrpSpPr>
              <a:grpSpLocks/>
            </p:cNvGrpSpPr>
            <p:nvPr/>
          </p:nvGrpSpPr>
          <p:grpSpPr bwMode="auto">
            <a:xfrm>
              <a:off x="2077647" y="5950807"/>
              <a:ext cx="2338388" cy="409574"/>
              <a:chOff x="1004" y="1639"/>
              <a:chExt cx="1473" cy="258"/>
            </a:xfrm>
          </p:grpSpPr>
          <p:sp>
            <p:nvSpPr>
              <p:cNvPr id="88" name="Freeform 14">
                <a:extLst>
                  <a:ext uri="{FF2B5EF4-FFF2-40B4-BE49-F238E27FC236}">
                    <a16:creationId xmlns:a16="http://schemas.microsoft.com/office/drawing/2014/main" id="{88BD7968-23EA-EF4B-BBA8-48B022120194}"/>
                  </a:ext>
                </a:extLst>
              </p:cNvPr>
              <p:cNvSpPr>
                <a:spLocks/>
              </p:cNvSpPr>
              <p:nvPr/>
            </p:nvSpPr>
            <p:spPr bwMode="auto">
              <a:xfrm>
                <a:off x="1004" y="1639"/>
                <a:ext cx="1473" cy="255"/>
              </a:xfrm>
              <a:custGeom>
                <a:avLst/>
                <a:gdLst>
                  <a:gd name="T0" fmla="*/ 172 w 1473"/>
                  <a:gd name="T1" fmla="*/ 11 h 255"/>
                  <a:gd name="T2" fmla="*/ 73 w 1473"/>
                  <a:gd name="T3" fmla="*/ 94 h 255"/>
                  <a:gd name="T4" fmla="*/ 146 w 1473"/>
                  <a:gd name="T5" fmla="*/ 220 h 255"/>
                  <a:gd name="T6" fmla="*/ 520 w 1473"/>
                  <a:gd name="T7" fmla="*/ 225 h 255"/>
                  <a:gd name="T8" fmla="*/ 754 w 1473"/>
                  <a:gd name="T9" fmla="*/ 251 h 255"/>
                  <a:gd name="T10" fmla="*/ 1306 w 1473"/>
                  <a:gd name="T11" fmla="*/ 203 h 255"/>
                  <a:gd name="T12" fmla="*/ 1360 w 1473"/>
                  <a:gd name="T13" fmla="*/ 29 h 255"/>
                  <a:gd name="T14" fmla="*/ 628 w 1473"/>
                  <a:gd name="T15" fmla="*/ 29 h 255"/>
                  <a:gd name="T16" fmla="*/ 172 w 1473"/>
                  <a:gd name="T17" fmla="*/ 11 h 2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73"/>
                  <a:gd name="T28" fmla="*/ 0 h 255"/>
                  <a:gd name="T29" fmla="*/ 1473 w 1473"/>
                  <a:gd name="T30" fmla="*/ 255 h 2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89" name="Text Box 15">
                <a:extLst>
                  <a:ext uri="{FF2B5EF4-FFF2-40B4-BE49-F238E27FC236}">
                    <a16:creationId xmlns:a16="http://schemas.microsoft.com/office/drawing/2014/main" id="{2EC519CF-1876-9247-BF14-91A552F93027}"/>
                  </a:ext>
                </a:extLst>
              </p:cNvPr>
              <p:cNvSpPr txBox="1">
                <a:spLocks noChangeArrowheads="1"/>
              </p:cNvSpPr>
              <p:nvPr/>
            </p:nvSpPr>
            <p:spPr bwMode="auto">
              <a:xfrm>
                <a:off x="1226" y="1664"/>
                <a:ext cx="1014" cy="233"/>
              </a:xfrm>
              <a:prstGeom prst="rect">
                <a:avLst/>
              </a:prstGeom>
              <a:solidFill>
                <a:srgbClr val="9CE0F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200.23.18.0/23</a:t>
                </a:r>
                <a:endParaRPr lang="en-US" altLang="en-US" sz="1350" dirty="0">
                  <a:solidFill>
                    <a:prstClr val="black"/>
                  </a:solidFill>
                </a:endParaRPr>
              </a:p>
            </p:txBody>
          </p:sp>
        </p:grpSp>
        <p:sp>
          <p:nvSpPr>
            <p:cNvPr id="90" name="Text Box 24">
              <a:extLst>
                <a:ext uri="{FF2B5EF4-FFF2-40B4-BE49-F238E27FC236}">
                  <a16:creationId xmlns:a16="http://schemas.microsoft.com/office/drawing/2014/main" id="{354BE1BC-E9EF-404B-ACF3-655B1338290D}"/>
                </a:ext>
              </a:extLst>
            </p:cNvPr>
            <p:cNvSpPr txBox="1">
              <a:spLocks noChangeArrowheads="1"/>
            </p:cNvSpPr>
            <p:nvPr/>
          </p:nvSpPr>
          <p:spPr bwMode="auto">
            <a:xfrm>
              <a:off x="2073587" y="5735794"/>
              <a:ext cx="1417483"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rPr>
                <a:t>Organization 1</a:t>
              </a:r>
            </a:p>
          </p:txBody>
        </p:sp>
      </p:grpSp>
      <p:sp>
        <p:nvSpPr>
          <p:cNvPr id="91" name="Text Box 31">
            <a:extLst>
              <a:ext uri="{FF2B5EF4-FFF2-40B4-BE49-F238E27FC236}">
                <a16:creationId xmlns:a16="http://schemas.microsoft.com/office/drawing/2014/main" id="{64C2BB30-AFAC-2341-97EB-7F0AF3F05F3D}"/>
              </a:ext>
            </a:extLst>
          </p:cNvPr>
          <p:cNvSpPr txBox="1">
            <a:spLocks noChangeArrowheads="1"/>
          </p:cNvSpPr>
          <p:nvPr/>
        </p:nvSpPr>
        <p:spPr bwMode="auto">
          <a:xfrm>
            <a:off x="4935121" y="5424352"/>
            <a:ext cx="135485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rPr>
              <a:t>“or </a:t>
            </a:r>
            <a:r>
              <a:rPr lang="en-US" altLang="en-US" sz="1050" u="sng" dirty="0">
                <a:solidFill>
                  <a:srgbClr val="CC0000"/>
                </a:solidFill>
              </a:rPr>
              <a:t>200.23.18.0/23</a:t>
            </a:r>
            <a:r>
              <a:rPr lang="ja-JP" altLang="en-US" sz="1050">
                <a:solidFill>
                  <a:prstClr val="black"/>
                </a:solidFill>
              </a:rPr>
              <a:t>”</a:t>
            </a:r>
            <a:endParaRPr lang="en-US" altLang="en-US" sz="1050" dirty="0">
              <a:solidFill>
                <a:prstClr val="black"/>
              </a:solidFill>
            </a:endParaRPr>
          </a:p>
        </p:txBody>
      </p:sp>
      <p:sp>
        <p:nvSpPr>
          <p:cNvPr id="4" name="Freeform 3">
            <a:extLst>
              <a:ext uri="{FF2B5EF4-FFF2-40B4-BE49-F238E27FC236}">
                <a16:creationId xmlns:a16="http://schemas.microsoft.com/office/drawing/2014/main" id="{09EB423B-4CA2-4F48-8E84-83E0AD942EC4}"/>
              </a:ext>
            </a:extLst>
          </p:cNvPr>
          <p:cNvSpPr/>
          <p:nvPr/>
        </p:nvSpPr>
        <p:spPr>
          <a:xfrm>
            <a:off x="3037115" y="4506687"/>
            <a:ext cx="3955597" cy="942974"/>
          </a:xfrm>
          <a:custGeom>
            <a:avLst/>
            <a:gdLst>
              <a:gd name="connsiteX0" fmla="*/ 5225143 w 5225143"/>
              <a:gd name="connsiteY0" fmla="*/ 0 h 1322614"/>
              <a:gd name="connsiteX1" fmla="*/ 1583871 w 5225143"/>
              <a:gd name="connsiteY1" fmla="*/ 587829 h 1322614"/>
              <a:gd name="connsiteX2" fmla="*/ 718457 w 5225143"/>
              <a:gd name="connsiteY2" fmla="*/ 963386 h 1322614"/>
              <a:gd name="connsiteX3" fmla="*/ 0 w 5225143"/>
              <a:gd name="connsiteY3" fmla="*/ 1322614 h 1322614"/>
              <a:gd name="connsiteX0" fmla="*/ 5225143 w 5225143"/>
              <a:gd name="connsiteY0" fmla="*/ 0 h 1322614"/>
              <a:gd name="connsiteX1" fmla="*/ 1583871 w 5225143"/>
              <a:gd name="connsiteY1" fmla="*/ 587829 h 1322614"/>
              <a:gd name="connsiteX2" fmla="*/ 849085 w 5225143"/>
              <a:gd name="connsiteY2" fmla="*/ 783772 h 1322614"/>
              <a:gd name="connsiteX3" fmla="*/ 0 w 5225143"/>
              <a:gd name="connsiteY3" fmla="*/ 1322614 h 1322614"/>
              <a:gd name="connsiteX0" fmla="*/ 5225143 w 5225143"/>
              <a:gd name="connsiteY0" fmla="*/ 0 h 1322614"/>
              <a:gd name="connsiteX1" fmla="*/ 849085 w 5225143"/>
              <a:gd name="connsiteY1" fmla="*/ 783772 h 1322614"/>
              <a:gd name="connsiteX2" fmla="*/ 0 w 5225143"/>
              <a:gd name="connsiteY2" fmla="*/ 1322614 h 1322614"/>
              <a:gd name="connsiteX0" fmla="*/ 5274129 w 5274129"/>
              <a:gd name="connsiteY0" fmla="*/ 0 h 1257299"/>
              <a:gd name="connsiteX1" fmla="*/ 849085 w 5274129"/>
              <a:gd name="connsiteY1" fmla="*/ 718457 h 1257299"/>
              <a:gd name="connsiteX2" fmla="*/ 0 w 5274129"/>
              <a:gd name="connsiteY2" fmla="*/ 1257299 h 1257299"/>
            </a:gdLst>
            <a:ahLst/>
            <a:cxnLst>
              <a:cxn ang="0">
                <a:pos x="connsiteX0" y="connsiteY0"/>
              </a:cxn>
              <a:cxn ang="0">
                <a:pos x="connsiteX1" y="connsiteY1"/>
              </a:cxn>
              <a:cxn ang="0">
                <a:pos x="connsiteX2" y="connsiteY2"/>
              </a:cxn>
            </a:cxnLst>
            <a:rect l="l" t="t" r="r" b="b"/>
            <a:pathLst>
              <a:path w="5274129" h="1257299">
                <a:moveTo>
                  <a:pt x="5274129" y="0"/>
                </a:moveTo>
                <a:lnTo>
                  <a:pt x="849085" y="718457"/>
                </a:lnTo>
                <a:lnTo>
                  <a:pt x="0" y="1257299"/>
                </a:lnTo>
              </a:path>
            </a:pathLst>
          </a:custGeom>
          <a:noFill/>
          <a:ln w="76200">
            <a:solidFill>
              <a:srgbClr val="3333CC"/>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49" name="Slide Number Placeholder 3">
            <a:extLst>
              <a:ext uri="{FF2B5EF4-FFF2-40B4-BE49-F238E27FC236}">
                <a16:creationId xmlns:a16="http://schemas.microsoft.com/office/drawing/2014/main" id="{DCC1763B-1501-8747-9EA4-B88844FE1A2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116</a:t>
            </a:fld>
            <a:endParaRPr lang="en-US" dirty="0"/>
          </a:p>
        </p:txBody>
      </p:sp>
    </p:spTree>
    <p:extLst>
      <p:ext uri="{BB962C8B-B14F-4D97-AF65-F5344CB8AC3E}">
        <p14:creationId xmlns:p14="http://schemas.microsoft.com/office/powerpoint/2010/main" val="318994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descr="underline_base">
            <a:extLst>
              <a:ext uri="{FF2B5EF4-FFF2-40B4-BE49-F238E27FC236}">
                <a16:creationId xmlns:a16="http://schemas.microsoft.com/office/drawing/2014/main" id="{8FCDA647-72B3-134A-A35E-14EE0BC46D9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3"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Rectangle 3">
            <a:extLst>
              <a:ext uri="{FF2B5EF4-FFF2-40B4-BE49-F238E27FC236}">
                <a16:creationId xmlns:a16="http://schemas.microsoft.com/office/drawing/2014/main" id="{14923639-BD7C-7F46-AC55-9D8ED661C25D}"/>
              </a:ext>
            </a:extLst>
          </p:cNvPr>
          <p:cNvSpPr>
            <a:spLocks noGrp="1" noChangeArrowheads="1"/>
          </p:cNvSpPr>
          <p:nvPr>
            <p:ph type="body" sz="half" idx="1"/>
          </p:nvPr>
        </p:nvSpPr>
        <p:spPr>
          <a:xfrm>
            <a:off x="533400" y="1198563"/>
            <a:ext cx="6534665" cy="5116513"/>
          </a:xfrm>
        </p:spPr>
        <p:txBody>
          <a:bodyPr/>
          <a:lstStyle/>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4.1 Overview of Network layer</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 plane</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control plane</a:t>
            </a:r>
          </a:p>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4.2 What</a:t>
            </a:r>
            <a:r>
              <a:rPr lang="ja-JP" altLang="en-US" sz="2400" dirty="0">
                <a:ea typeface="ＭＳ Ｐゴシック" panose="020B0600070205080204" pitchFamily="34" charset="-128"/>
                <a:cs typeface="ＭＳ Ｐゴシック" panose="020B0600070205080204" pitchFamily="34" charset="-128"/>
              </a:rPr>
              <a:t>’</a:t>
            </a:r>
            <a:r>
              <a:rPr lang="en-US" altLang="ja-JP" sz="2400" dirty="0">
                <a:ea typeface="ＭＳ Ｐゴシック" panose="020B0600070205080204" pitchFamily="34" charset="-128"/>
                <a:cs typeface="ＭＳ Ｐゴシック" panose="020B0600070205080204" pitchFamily="34" charset="-128"/>
              </a:rPr>
              <a:t>s inside a router</a:t>
            </a:r>
          </a:p>
          <a:p>
            <a:pPr>
              <a:buNone/>
            </a:pPr>
            <a:r>
              <a:rPr lang="en-US" altLang="ja-JP" sz="2400" dirty="0">
                <a:ea typeface="ＭＳ Ｐゴシック" panose="020B0600070205080204" pitchFamily="34" charset="-128"/>
                <a:cs typeface="Arial" panose="020B0604020202020204" pitchFamily="34" charset="0"/>
              </a:rPr>
              <a:t>      input ports, switching, output ports</a:t>
            </a:r>
          </a:p>
          <a:p>
            <a:pPr>
              <a:buNone/>
            </a:pPr>
            <a:r>
              <a:rPr lang="en-US" altLang="ja-JP" sz="2400" dirty="0">
                <a:ea typeface="ＭＳ Ｐゴシック" panose="020B0600070205080204" pitchFamily="34" charset="-128"/>
                <a:cs typeface="Arial" panose="020B0604020202020204" pitchFamily="34" charset="0"/>
              </a:rPr>
              <a:t>	  buffer management, scheduling</a:t>
            </a:r>
          </a:p>
          <a:p>
            <a:pPr>
              <a:buFont typeface="Wingdings" pitchFamily="2" charset="2"/>
              <a:buNone/>
            </a:pPr>
            <a:r>
              <a:rPr lang="en-US" altLang="en-US" sz="2400" dirty="0">
                <a:solidFill>
                  <a:srgbClr val="CC0000"/>
                </a:solidFill>
                <a:ea typeface="ＭＳ Ｐゴシック" panose="020B0600070205080204" pitchFamily="34" charset="-128"/>
                <a:cs typeface="ＭＳ Ｐゴシック" panose="020B0600070205080204" pitchFamily="34" charset="-128"/>
              </a:rPr>
              <a:t>4.3 IP: Internet Protocol</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datagram format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fragmentation</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IPv4 addressing</a:t>
            </a:r>
          </a:p>
          <a:p>
            <a:pPr lvl="1"/>
            <a:r>
              <a:rPr lang="en-US" altLang="en-US" dirty="0">
                <a:solidFill>
                  <a:srgbClr val="FF0000"/>
                </a:solidFill>
                <a:latin typeface="Gill Sans MT" panose="020B0502020104020203" pitchFamily="34" charset="77"/>
                <a:ea typeface="ＭＳ Ｐゴシック" panose="020B0600070205080204" pitchFamily="34" charset="-128"/>
                <a:cs typeface="Gill Sans MT" panose="020B0502020104020203" pitchFamily="34" charset="77"/>
              </a:rPr>
              <a:t>network address translation (NAT)</a:t>
            </a:r>
            <a:endParaRPr lang="en-US" altLang="en-US" dirty="0">
              <a:latin typeface="Gill Sans MT" panose="020B0502020104020203" pitchFamily="34" charset="77"/>
              <a:ea typeface="ＭＳ Ｐゴシック" panose="020B0600070205080204" pitchFamily="34" charset="-128"/>
            </a:endParaRP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IPv6</a:t>
            </a:r>
          </a:p>
          <a:p>
            <a:pPr marL="111125" indent="0">
              <a:buNone/>
            </a:pPr>
            <a:r>
              <a:rPr lang="en-MY" sz="2400" dirty="0">
                <a:latin typeface="Gill Sans MT" panose="020B0502020104020203" pitchFamily="34" charset="77"/>
                <a:ea typeface="ＭＳ Ｐゴシック" panose="020B0600070205080204" pitchFamily="34" charset="-128"/>
              </a:rPr>
              <a:t>4.4 Generalized Forwarding and SDN</a:t>
            </a:r>
          </a:p>
          <a:p>
            <a:pPr lvl="1">
              <a:spcBef>
                <a:spcPts val="0"/>
              </a:spcBef>
            </a:pPr>
            <a:r>
              <a:rPr lang="en-US" altLang="en-US" sz="2400" dirty="0" err="1">
                <a:ea typeface="ＭＳ Ｐゴシック" panose="020B0600070205080204" pitchFamily="34" charset="-128"/>
              </a:rPr>
              <a:t>Match+action</a:t>
            </a:r>
            <a:endParaRPr lang="en-US" altLang="en-US" sz="2400" dirty="0">
              <a:ea typeface="ＭＳ Ｐゴシック" panose="020B0600070205080204" pitchFamily="34" charset="-128"/>
            </a:endParaRPr>
          </a:p>
          <a:p>
            <a:pPr lvl="1">
              <a:spcBef>
                <a:spcPts val="0"/>
              </a:spcBef>
            </a:pPr>
            <a:r>
              <a:rPr lang="en-US" altLang="en-US" sz="2400" dirty="0">
                <a:ea typeface="ＭＳ Ｐゴシック" panose="020B0600070205080204" pitchFamily="34" charset="-128"/>
              </a:rPr>
              <a:t>OpenFlow: </a:t>
            </a:r>
            <a:r>
              <a:rPr lang="en-US" altLang="en-US" sz="2400" dirty="0" err="1">
                <a:ea typeface="ＭＳ Ｐゴシック" panose="020B0600070205080204" pitchFamily="34" charset="-128"/>
              </a:rPr>
              <a:t>match+action</a:t>
            </a:r>
            <a:r>
              <a:rPr lang="en-US" altLang="en-US" sz="2400" dirty="0">
                <a:ea typeface="ＭＳ Ｐゴシック" panose="020B0600070205080204" pitchFamily="34" charset="-128"/>
              </a:rPr>
              <a:t> in action</a:t>
            </a:r>
          </a:p>
          <a:p>
            <a:pPr marL="111125" indent="0">
              <a:buNone/>
            </a:pPr>
            <a:endParaRPr lang="en-US" altLang="en-US" sz="2400" dirty="0">
              <a:latin typeface="Gill Sans MT" panose="020B0502020104020203" pitchFamily="34" charset="77"/>
              <a:ea typeface="ＭＳ Ｐゴシック" panose="020B0600070205080204" pitchFamily="34" charset="-128"/>
            </a:endParaRPr>
          </a:p>
        </p:txBody>
      </p:sp>
      <p:sp>
        <p:nvSpPr>
          <p:cNvPr id="98309" name="Rectangle 2">
            <a:extLst>
              <a:ext uri="{FF2B5EF4-FFF2-40B4-BE49-F238E27FC236}">
                <a16:creationId xmlns:a16="http://schemas.microsoft.com/office/drawing/2014/main" id="{738E14A3-C773-274A-A351-0A83DF3D6F98}"/>
              </a:ext>
            </a:extLst>
          </p:cNvPr>
          <p:cNvSpPr>
            <a:spLocks noChangeArrowheads="1"/>
          </p:cNvSpPr>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dirty="0">
                <a:solidFill>
                  <a:srgbClr val="000099"/>
                </a:solidFill>
                <a:latin typeface="Gill Sans MT" panose="020B0502020104020203" pitchFamily="34" charset="77"/>
              </a:rPr>
              <a:t>Chapter 4: data plane</a:t>
            </a:r>
          </a:p>
        </p:txBody>
      </p:sp>
      <p:sp>
        <p:nvSpPr>
          <p:cNvPr id="98310" name="Slide Number Placeholder 5">
            <a:extLst>
              <a:ext uri="{FF2B5EF4-FFF2-40B4-BE49-F238E27FC236}">
                <a16:creationId xmlns:a16="http://schemas.microsoft.com/office/drawing/2014/main" id="{90805100-4CE5-FA40-A536-1CF949E0CC25}"/>
              </a:ext>
            </a:extLst>
          </p:cNvPr>
          <p:cNvSpPr>
            <a:spLocks noGrp="1"/>
          </p:cNvSpPr>
          <p:nvPr>
            <p:ph type="sldNum" sz="quarter" idx="12"/>
          </p:nvPr>
        </p:nvSpPr>
        <p:spPr>
          <a:xfrm>
            <a:off x="8456613" y="6475413"/>
            <a:ext cx="687387" cy="2412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1EA39130-1C38-4049-9555-8D70E59A75FA}" type="slidenum">
              <a:rPr lang="en-US" altLang="en-US">
                <a:latin typeface="Tahoma" panose="020B0604030504040204" pitchFamily="34" charset="0"/>
              </a:rPr>
              <a:pPr/>
              <a:t>117</a:t>
            </a:fld>
            <a:endParaRPr lang="en-US" altLang="en-US" dirty="0">
              <a:latin typeface="Tahoma" panose="020B0604030504040204" pitchFamily="34" charset="0"/>
            </a:endParaRPr>
          </a:p>
        </p:txBody>
      </p:sp>
      <p:pic>
        <p:nvPicPr>
          <p:cNvPr id="7" name="Picture 6" descr="A picture containing outdoor, water, bridge, building&#10;&#10;Description automatically generated">
            <a:extLst>
              <a:ext uri="{FF2B5EF4-FFF2-40B4-BE49-F238E27FC236}">
                <a16:creationId xmlns:a16="http://schemas.microsoft.com/office/drawing/2014/main" id="{16450A64-9C8D-B147-AD84-26C506A87785}"/>
              </a:ext>
            </a:extLst>
          </p:cNvPr>
          <p:cNvPicPr>
            <a:picLocks noChangeAspect="1"/>
          </p:cNvPicPr>
          <p:nvPr/>
        </p:nvPicPr>
        <p:blipFill>
          <a:blip r:embed="rId3"/>
          <a:stretch>
            <a:fillRect/>
          </a:stretch>
        </p:blipFill>
        <p:spPr>
          <a:xfrm>
            <a:off x="5748338" y="488723"/>
            <a:ext cx="3040743" cy="3800929"/>
          </a:xfrm>
          <a:prstGeom prst="rect">
            <a:avLst/>
          </a:prstGeom>
        </p:spPr>
      </p:pic>
    </p:spTree>
    <p:extLst>
      <p:ext uri="{BB962C8B-B14F-4D97-AF65-F5344CB8AC3E}">
        <p14:creationId xmlns:p14="http://schemas.microsoft.com/office/powerpoint/2010/main" val="146288610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752B739-3B1E-0552-E8B7-081D0631D1B4}"/>
              </a:ext>
            </a:extLst>
          </p:cNvPr>
          <p:cNvSpPr>
            <a:spLocks noGrp="1"/>
          </p:cNvSpPr>
          <p:nvPr>
            <p:ph type="sldNum" sz="quarter" idx="12"/>
          </p:nvPr>
        </p:nvSpPr>
        <p:spPr/>
        <p:txBody>
          <a:bodyPr/>
          <a:lstStyle/>
          <a:p>
            <a:r>
              <a:rPr lang="en-US" altLang="en-US"/>
              <a:t>4-</a:t>
            </a:r>
            <a:fld id="{86F8E26F-7CC8-F948-B8B0-7148999F97AC}" type="slidenum">
              <a:rPr lang="en-US" altLang="en-US" smtClean="0"/>
              <a:pPr/>
              <a:t>118</a:t>
            </a:fld>
            <a:endParaRPr lang="en-US" altLang="en-US"/>
          </a:p>
        </p:txBody>
      </p:sp>
      <p:sp>
        <p:nvSpPr>
          <p:cNvPr id="7" name="Rectangle 3">
            <a:extLst>
              <a:ext uri="{FF2B5EF4-FFF2-40B4-BE49-F238E27FC236}">
                <a16:creationId xmlns:a16="http://schemas.microsoft.com/office/drawing/2014/main" id="{256EEA1B-0833-FAEB-F4C0-92AA05723D36}"/>
              </a:ext>
            </a:extLst>
          </p:cNvPr>
          <p:cNvSpPr txBox="1">
            <a:spLocks noChangeArrowheads="1"/>
          </p:cNvSpPr>
          <p:nvPr/>
        </p:nvSpPr>
        <p:spPr>
          <a:xfrm>
            <a:off x="866489" y="1761902"/>
            <a:ext cx="7458361" cy="363473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Q:</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are there enough 32-bit IP addresses?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ICANN allocated last chunk of IPv4 addresses to RRs in 2011</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NAT (next) helps IPv4 address space exhaustion</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IPv6 has 128-bit address space</a:t>
            </a:r>
          </a:p>
        </p:txBody>
      </p:sp>
      <p:sp>
        <p:nvSpPr>
          <p:cNvPr id="8" name="TextBox 7">
            <a:extLst>
              <a:ext uri="{FF2B5EF4-FFF2-40B4-BE49-F238E27FC236}">
                <a16:creationId xmlns:a16="http://schemas.microsoft.com/office/drawing/2014/main" id="{06DCAA78-2E62-15FF-8DAB-300B40D56CBD}"/>
              </a:ext>
            </a:extLst>
          </p:cNvPr>
          <p:cNvSpPr txBox="1"/>
          <p:nvPr/>
        </p:nvSpPr>
        <p:spPr>
          <a:xfrm flipH="1">
            <a:off x="1125711" y="4380973"/>
            <a:ext cx="6273709"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"Who the hell knew how much address space we needed?"  Vint Cerf (reflecting on decision to make IPv4 address 32 bits long)</a:t>
            </a:r>
          </a:p>
        </p:txBody>
      </p:sp>
      <p:sp>
        <p:nvSpPr>
          <p:cNvPr id="9" name="Title 2">
            <a:extLst>
              <a:ext uri="{FF2B5EF4-FFF2-40B4-BE49-F238E27FC236}">
                <a16:creationId xmlns:a16="http://schemas.microsoft.com/office/drawing/2014/main" id="{3D6F2222-CD2B-2284-E641-100207180907}"/>
              </a:ext>
            </a:extLst>
          </p:cNvPr>
          <p:cNvSpPr>
            <a:spLocks noGrp="1"/>
          </p:cNvSpPr>
          <p:nvPr>
            <p:ph type="title"/>
          </p:nvPr>
        </p:nvSpPr>
        <p:spPr>
          <a:xfrm>
            <a:off x="541338" y="345758"/>
            <a:ext cx="7886700" cy="800963"/>
          </a:xfrm>
        </p:spPr>
        <p:txBody>
          <a:bodyPr>
            <a:normAutofit/>
          </a:bodyPr>
          <a:lstStyle/>
          <a:p>
            <a:r>
              <a:rPr lang="en-US" sz="3600" dirty="0"/>
              <a:t>NAT: network address translation</a:t>
            </a:r>
          </a:p>
        </p:txBody>
      </p:sp>
    </p:spTree>
    <p:extLst>
      <p:ext uri="{BB962C8B-B14F-4D97-AF65-F5344CB8AC3E}">
        <p14:creationId xmlns:p14="http://schemas.microsoft.com/office/powerpoint/2010/main" val="525588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dissolve">
                                      <p:cBhvr>
                                        <p:cTn id="7" dur="500"/>
                                        <p:tgtEl>
                                          <p:spTgt spid="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dissolve">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dissolve">
                                      <p:cBhvr>
                                        <p:cTn id="15" dur="500"/>
                                        <p:tgtEl>
                                          <p:spTgt spid="7">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dissolve">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reeform 80">
            <a:extLst>
              <a:ext uri="{FF2B5EF4-FFF2-40B4-BE49-F238E27FC236}">
                <a16:creationId xmlns:a16="http://schemas.microsoft.com/office/drawing/2014/main" id="{E4A69AE9-9C27-CE49-8761-21FC6391CC79}"/>
              </a:ext>
            </a:extLst>
          </p:cNvPr>
          <p:cNvSpPr>
            <a:spLocks/>
          </p:cNvSpPr>
          <p:nvPr/>
        </p:nvSpPr>
        <p:spPr bwMode="auto">
          <a:xfrm>
            <a:off x="4968654" y="3091193"/>
            <a:ext cx="2455334" cy="1720541"/>
          </a:xfrm>
          <a:custGeom>
            <a:avLst/>
            <a:gdLst>
              <a:gd name="T0" fmla="*/ 2147483647 w 2355"/>
              <a:gd name="T1" fmla="*/ 2147483647 h 1699"/>
              <a:gd name="T2" fmla="*/ 2147483647 w 2355"/>
              <a:gd name="T3" fmla="*/ 2147483647 h 1699"/>
              <a:gd name="T4" fmla="*/ 2147483647 w 2355"/>
              <a:gd name="T5" fmla="*/ 2147483647 h 1699"/>
              <a:gd name="T6" fmla="*/ 2147483647 w 2355"/>
              <a:gd name="T7" fmla="*/ 2147483647 h 1699"/>
              <a:gd name="T8" fmla="*/ 2147483647 w 2355"/>
              <a:gd name="T9" fmla="*/ 2147483647 h 1699"/>
              <a:gd name="T10" fmla="*/ 2147483647 w 2355"/>
              <a:gd name="T11" fmla="*/ 2147483647 h 1699"/>
              <a:gd name="T12" fmla="*/ 2147483647 w 2355"/>
              <a:gd name="T13" fmla="*/ 2147483647 h 1699"/>
              <a:gd name="T14" fmla="*/ 2147483647 w 2355"/>
              <a:gd name="T15" fmla="*/ 2147483647 h 1699"/>
              <a:gd name="T16" fmla="*/ 2147483647 w 2355"/>
              <a:gd name="T17" fmla="*/ 2147483647 h 1699"/>
              <a:gd name="T18" fmla="*/ 2147483647 w 2355"/>
              <a:gd name="T19" fmla="*/ 2147483647 h 1699"/>
              <a:gd name="T20" fmla="*/ 2147483647 w 2355"/>
              <a:gd name="T21" fmla="*/ 2147483647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wrap="none" anchor="ctr"/>
          <a:lstStyle/>
          <a:p>
            <a:pPr defTabSz="685800">
              <a:defRPr/>
            </a:pPr>
            <a:endParaRPr lang="en-US" sz="1350" dirty="0">
              <a:solidFill>
                <a:srgbClr val="000000"/>
              </a:solidFill>
            </a:endParaRPr>
          </a:p>
        </p:txBody>
      </p:sp>
      <p:sp>
        <p:nvSpPr>
          <p:cNvPr id="54" name="Text Box 12">
            <a:extLst>
              <a:ext uri="{FF2B5EF4-FFF2-40B4-BE49-F238E27FC236}">
                <a16:creationId xmlns:a16="http://schemas.microsoft.com/office/drawing/2014/main" id="{160FAFD7-0598-5243-851C-EDC8ADECCF38}"/>
              </a:ext>
            </a:extLst>
          </p:cNvPr>
          <p:cNvSpPr txBox="1">
            <a:spLocks noChangeArrowheads="1"/>
          </p:cNvSpPr>
          <p:nvPr/>
        </p:nvSpPr>
        <p:spPr bwMode="auto">
          <a:xfrm>
            <a:off x="6927180" y="3305770"/>
            <a:ext cx="69281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Calibri" panose="020F0502020204030204"/>
              </a:rPr>
              <a:t>10.0.0.1</a:t>
            </a:r>
          </a:p>
        </p:txBody>
      </p:sp>
      <p:sp>
        <p:nvSpPr>
          <p:cNvPr id="55" name="Text Box 13">
            <a:extLst>
              <a:ext uri="{FF2B5EF4-FFF2-40B4-BE49-F238E27FC236}">
                <a16:creationId xmlns:a16="http://schemas.microsoft.com/office/drawing/2014/main" id="{0C2F1B46-63B4-2448-9F86-DCE0FFD3B780}"/>
              </a:ext>
            </a:extLst>
          </p:cNvPr>
          <p:cNvSpPr txBox="1">
            <a:spLocks noChangeArrowheads="1"/>
          </p:cNvSpPr>
          <p:nvPr/>
        </p:nvSpPr>
        <p:spPr bwMode="auto">
          <a:xfrm>
            <a:off x="6886117" y="3848413"/>
            <a:ext cx="69281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Calibri" panose="020F0502020204030204"/>
              </a:rPr>
              <a:t>10.0.0.2</a:t>
            </a:r>
          </a:p>
        </p:txBody>
      </p:sp>
      <p:sp>
        <p:nvSpPr>
          <p:cNvPr id="56" name="Text Box 14">
            <a:extLst>
              <a:ext uri="{FF2B5EF4-FFF2-40B4-BE49-F238E27FC236}">
                <a16:creationId xmlns:a16="http://schemas.microsoft.com/office/drawing/2014/main" id="{64025A8E-DCF1-D643-BEC4-D5D76E02D59E}"/>
              </a:ext>
            </a:extLst>
          </p:cNvPr>
          <p:cNvSpPr txBox="1">
            <a:spLocks noChangeArrowheads="1"/>
          </p:cNvSpPr>
          <p:nvPr/>
        </p:nvSpPr>
        <p:spPr bwMode="auto">
          <a:xfrm>
            <a:off x="6866352" y="4414030"/>
            <a:ext cx="69281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Calibri" panose="020F0502020204030204"/>
              </a:rPr>
              <a:t>10.0.0.3</a:t>
            </a:r>
          </a:p>
        </p:txBody>
      </p:sp>
      <p:sp>
        <p:nvSpPr>
          <p:cNvPr id="57" name="Text Box 15">
            <a:extLst>
              <a:ext uri="{FF2B5EF4-FFF2-40B4-BE49-F238E27FC236}">
                <a16:creationId xmlns:a16="http://schemas.microsoft.com/office/drawing/2014/main" id="{DAA05697-C5E0-8546-AB80-63B7917239F5}"/>
              </a:ext>
            </a:extLst>
          </p:cNvPr>
          <p:cNvSpPr txBox="1">
            <a:spLocks noChangeArrowheads="1"/>
          </p:cNvSpPr>
          <p:nvPr/>
        </p:nvSpPr>
        <p:spPr bwMode="auto">
          <a:xfrm>
            <a:off x="4848640" y="3425310"/>
            <a:ext cx="69281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Calibri" panose="020F0502020204030204"/>
              </a:rPr>
              <a:t>10.0.0.4</a:t>
            </a:r>
          </a:p>
        </p:txBody>
      </p:sp>
      <p:sp>
        <p:nvSpPr>
          <p:cNvPr id="58" name="Line 16">
            <a:extLst>
              <a:ext uri="{FF2B5EF4-FFF2-40B4-BE49-F238E27FC236}">
                <a16:creationId xmlns:a16="http://schemas.microsoft.com/office/drawing/2014/main" id="{7A263ADA-FEA5-9749-93B9-2C606DDDAFFF}"/>
              </a:ext>
            </a:extLst>
          </p:cNvPr>
          <p:cNvSpPr>
            <a:spLocks noChangeShapeType="1"/>
          </p:cNvSpPr>
          <p:nvPr/>
        </p:nvSpPr>
        <p:spPr bwMode="auto">
          <a:xfrm>
            <a:off x="5115664" y="3653182"/>
            <a:ext cx="1568" cy="26915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62" name="Text Box 81">
            <a:extLst>
              <a:ext uri="{FF2B5EF4-FFF2-40B4-BE49-F238E27FC236}">
                <a16:creationId xmlns:a16="http://schemas.microsoft.com/office/drawing/2014/main" id="{CC371830-F400-E64E-BBD6-B5CDA5AE6E70}"/>
              </a:ext>
            </a:extLst>
          </p:cNvPr>
          <p:cNvSpPr txBox="1">
            <a:spLocks noChangeArrowheads="1"/>
          </p:cNvSpPr>
          <p:nvPr/>
        </p:nvSpPr>
        <p:spPr bwMode="auto">
          <a:xfrm>
            <a:off x="5009829" y="2712652"/>
            <a:ext cx="2102138" cy="466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90000"/>
              </a:lnSpc>
              <a:defRPr/>
            </a:pPr>
            <a:r>
              <a:rPr lang="en-US" altLang="en-US" sz="1350" kern="0" dirty="0">
                <a:solidFill>
                  <a:srgbClr val="000000"/>
                </a:solidFill>
                <a:latin typeface="Calibri" panose="020F0502020204030204"/>
              </a:rPr>
              <a:t>local network (e.g., home network) 10.0.0/24</a:t>
            </a:r>
          </a:p>
        </p:txBody>
      </p:sp>
      <p:sp>
        <p:nvSpPr>
          <p:cNvPr id="63" name="Line 82">
            <a:extLst>
              <a:ext uri="{FF2B5EF4-FFF2-40B4-BE49-F238E27FC236}">
                <a16:creationId xmlns:a16="http://schemas.microsoft.com/office/drawing/2014/main" id="{088E5B6E-277B-E04A-9B50-44C102E23E15}"/>
              </a:ext>
            </a:extLst>
          </p:cNvPr>
          <p:cNvSpPr>
            <a:spLocks noChangeShapeType="1"/>
          </p:cNvSpPr>
          <p:nvPr/>
        </p:nvSpPr>
        <p:spPr bwMode="auto">
          <a:xfrm>
            <a:off x="7063221" y="2889096"/>
            <a:ext cx="84349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64" name="Line 83">
            <a:extLst>
              <a:ext uri="{FF2B5EF4-FFF2-40B4-BE49-F238E27FC236}">
                <a16:creationId xmlns:a16="http://schemas.microsoft.com/office/drawing/2014/main" id="{709B9FA0-ACAA-A845-AE33-47EEFB4EB1F7}"/>
              </a:ext>
            </a:extLst>
          </p:cNvPr>
          <p:cNvSpPr>
            <a:spLocks noChangeShapeType="1"/>
          </p:cNvSpPr>
          <p:nvPr/>
        </p:nvSpPr>
        <p:spPr bwMode="auto">
          <a:xfrm>
            <a:off x="4653933" y="2799189"/>
            <a:ext cx="0" cy="8461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65" name="Line 84">
            <a:extLst>
              <a:ext uri="{FF2B5EF4-FFF2-40B4-BE49-F238E27FC236}">
                <a16:creationId xmlns:a16="http://schemas.microsoft.com/office/drawing/2014/main" id="{FF34E808-0600-054A-9F51-077FECC17882}"/>
              </a:ext>
            </a:extLst>
          </p:cNvPr>
          <p:cNvSpPr>
            <a:spLocks noChangeShapeType="1"/>
          </p:cNvSpPr>
          <p:nvPr/>
        </p:nvSpPr>
        <p:spPr bwMode="auto">
          <a:xfrm flipH="1" flipV="1">
            <a:off x="4758707" y="2898593"/>
            <a:ext cx="320933" cy="33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grpSp>
        <p:nvGrpSpPr>
          <p:cNvPr id="82" name="Group 107">
            <a:extLst>
              <a:ext uri="{FF2B5EF4-FFF2-40B4-BE49-F238E27FC236}">
                <a16:creationId xmlns:a16="http://schemas.microsoft.com/office/drawing/2014/main" id="{148E112E-E90E-834A-811C-CD872028B70D}"/>
              </a:ext>
            </a:extLst>
          </p:cNvPr>
          <p:cNvGrpSpPr>
            <a:grpSpLocks/>
          </p:cNvGrpSpPr>
          <p:nvPr/>
        </p:nvGrpSpPr>
        <p:grpSpPr bwMode="auto">
          <a:xfrm flipH="1">
            <a:off x="7491191" y="3180656"/>
            <a:ext cx="481013" cy="437384"/>
            <a:chOff x="-44" y="1473"/>
            <a:chExt cx="981" cy="1105"/>
          </a:xfrm>
        </p:grpSpPr>
        <p:pic>
          <p:nvPicPr>
            <p:cNvPr id="83" name="Picture 108" descr="desktop_computer_stylized_medium">
              <a:extLst>
                <a:ext uri="{FF2B5EF4-FFF2-40B4-BE49-F238E27FC236}">
                  <a16:creationId xmlns:a16="http://schemas.microsoft.com/office/drawing/2014/main" id="{B9390BE0-7119-AB41-B6E6-B8B9B6EAF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Freeform 109">
              <a:extLst>
                <a:ext uri="{FF2B5EF4-FFF2-40B4-BE49-F238E27FC236}">
                  <a16:creationId xmlns:a16="http://schemas.microsoft.com/office/drawing/2014/main" id="{293E3B7E-E5D1-5346-ACF1-D67B1F6CA31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kern="0" dirty="0">
                <a:solidFill>
                  <a:srgbClr val="000000"/>
                </a:solidFill>
              </a:endParaRPr>
            </a:p>
          </p:txBody>
        </p:sp>
      </p:grpSp>
      <p:grpSp>
        <p:nvGrpSpPr>
          <p:cNvPr id="85" name="Group 110">
            <a:extLst>
              <a:ext uri="{FF2B5EF4-FFF2-40B4-BE49-F238E27FC236}">
                <a16:creationId xmlns:a16="http://schemas.microsoft.com/office/drawing/2014/main" id="{2DD7477F-5AAB-0746-AAA0-47FB5D4798FA}"/>
              </a:ext>
            </a:extLst>
          </p:cNvPr>
          <p:cNvGrpSpPr>
            <a:grpSpLocks/>
          </p:cNvGrpSpPr>
          <p:nvPr/>
        </p:nvGrpSpPr>
        <p:grpSpPr bwMode="auto">
          <a:xfrm flipH="1">
            <a:off x="7436291" y="3721450"/>
            <a:ext cx="481013" cy="437384"/>
            <a:chOff x="-44" y="1473"/>
            <a:chExt cx="981" cy="1105"/>
          </a:xfrm>
        </p:grpSpPr>
        <p:pic>
          <p:nvPicPr>
            <p:cNvPr id="86" name="Picture 111" descr="desktop_computer_stylized_medium">
              <a:extLst>
                <a:ext uri="{FF2B5EF4-FFF2-40B4-BE49-F238E27FC236}">
                  <a16:creationId xmlns:a16="http://schemas.microsoft.com/office/drawing/2014/main" id="{01B20CC0-1736-964F-BCF0-1E8797D8E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Freeform 112">
              <a:extLst>
                <a:ext uri="{FF2B5EF4-FFF2-40B4-BE49-F238E27FC236}">
                  <a16:creationId xmlns:a16="http://schemas.microsoft.com/office/drawing/2014/main" id="{336B69AD-10ED-4543-8BB7-FE48585F59C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kern="0" dirty="0">
                <a:solidFill>
                  <a:srgbClr val="000000"/>
                </a:solidFill>
              </a:endParaRPr>
            </a:p>
          </p:txBody>
        </p:sp>
      </p:grpSp>
      <p:grpSp>
        <p:nvGrpSpPr>
          <p:cNvPr id="88" name="Group 113">
            <a:extLst>
              <a:ext uri="{FF2B5EF4-FFF2-40B4-BE49-F238E27FC236}">
                <a16:creationId xmlns:a16="http://schemas.microsoft.com/office/drawing/2014/main" id="{7FA0B98C-5F93-3E44-B2CB-BA99E8BB49FF}"/>
              </a:ext>
            </a:extLst>
          </p:cNvPr>
          <p:cNvGrpSpPr>
            <a:grpSpLocks/>
          </p:cNvGrpSpPr>
          <p:nvPr/>
        </p:nvGrpSpPr>
        <p:grpSpPr bwMode="auto">
          <a:xfrm flipH="1">
            <a:off x="7450711" y="4276324"/>
            <a:ext cx="481013" cy="437384"/>
            <a:chOff x="-44" y="1473"/>
            <a:chExt cx="981" cy="1105"/>
          </a:xfrm>
        </p:grpSpPr>
        <p:pic>
          <p:nvPicPr>
            <p:cNvPr id="89" name="Picture 114" descr="desktop_computer_stylized_medium">
              <a:extLst>
                <a:ext uri="{FF2B5EF4-FFF2-40B4-BE49-F238E27FC236}">
                  <a16:creationId xmlns:a16="http://schemas.microsoft.com/office/drawing/2014/main" id="{09369A99-2EFC-9B40-AF93-FDC156253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Freeform 115">
              <a:extLst>
                <a:ext uri="{FF2B5EF4-FFF2-40B4-BE49-F238E27FC236}">
                  <a16:creationId xmlns:a16="http://schemas.microsoft.com/office/drawing/2014/main" id="{464C0B53-AAB8-564F-8088-920F60DC7AB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kern="0" dirty="0">
                <a:solidFill>
                  <a:srgbClr val="000000"/>
                </a:solidFill>
              </a:endParaRPr>
            </a:p>
          </p:txBody>
        </p:sp>
      </p:grpSp>
      <p:grpSp>
        <p:nvGrpSpPr>
          <p:cNvPr id="10" name="Group 9">
            <a:extLst>
              <a:ext uri="{FF2B5EF4-FFF2-40B4-BE49-F238E27FC236}">
                <a16:creationId xmlns:a16="http://schemas.microsoft.com/office/drawing/2014/main" id="{1A06E053-CAB3-9D4A-8BE9-102F522689C4}"/>
              </a:ext>
            </a:extLst>
          </p:cNvPr>
          <p:cNvGrpSpPr/>
          <p:nvPr/>
        </p:nvGrpSpPr>
        <p:grpSpPr>
          <a:xfrm>
            <a:off x="1628555" y="2722149"/>
            <a:ext cx="2972991" cy="1834030"/>
            <a:chOff x="2171406" y="2486532"/>
            <a:chExt cx="3963988" cy="2445373"/>
          </a:xfrm>
        </p:grpSpPr>
        <p:sp>
          <p:nvSpPr>
            <p:cNvPr id="49" name="Freeform 4">
              <a:extLst>
                <a:ext uri="{FF2B5EF4-FFF2-40B4-BE49-F238E27FC236}">
                  <a16:creationId xmlns:a16="http://schemas.microsoft.com/office/drawing/2014/main" id="{DCC2D4F1-C60F-1E4E-BA36-DFAF4B8F7B69}"/>
                </a:ext>
              </a:extLst>
            </p:cNvPr>
            <p:cNvSpPr>
              <a:spLocks/>
            </p:cNvSpPr>
            <p:nvPr/>
          </p:nvSpPr>
          <p:spPr bwMode="auto">
            <a:xfrm>
              <a:off x="2171406" y="3444138"/>
              <a:ext cx="3640666" cy="1487767"/>
            </a:xfrm>
            <a:custGeom>
              <a:avLst/>
              <a:gdLst>
                <a:gd name="T0" fmla="*/ 2147483647 w 2425"/>
                <a:gd name="T1" fmla="*/ 2147483647 h 898"/>
                <a:gd name="T2" fmla="*/ 2147483647 w 2425"/>
                <a:gd name="T3" fmla="*/ 2147483647 h 898"/>
                <a:gd name="T4" fmla="*/ 2147483647 w 2425"/>
                <a:gd name="T5" fmla="*/ 2147483647 h 898"/>
                <a:gd name="T6" fmla="*/ 2147483647 w 2425"/>
                <a:gd name="T7" fmla="*/ 2147483647 h 898"/>
                <a:gd name="T8" fmla="*/ 2147483647 w 2425"/>
                <a:gd name="T9" fmla="*/ 2147483647 h 898"/>
                <a:gd name="T10" fmla="*/ 2147483647 w 2425"/>
                <a:gd name="T11" fmla="*/ 2147483647 h 898"/>
                <a:gd name="T12" fmla="*/ 2147483647 w 2425"/>
                <a:gd name="T13" fmla="*/ 2147483647 h 898"/>
                <a:gd name="T14" fmla="*/ 2147483647 w 2425"/>
                <a:gd name="T15" fmla="*/ 2147483647 h 898"/>
                <a:gd name="T16" fmla="*/ 0 60000 65536"/>
                <a:gd name="T17" fmla="*/ 0 60000 65536"/>
                <a:gd name="T18" fmla="*/ 0 60000 65536"/>
                <a:gd name="T19" fmla="*/ 0 60000 65536"/>
                <a:gd name="T20" fmla="*/ 0 60000 65536"/>
                <a:gd name="T21" fmla="*/ 0 60000 65536"/>
                <a:gd name="T22" fmla="*/ 0 60000 65536"/>
                <a:gd name="T23" fmla="*/ 0 60000 65536"/>
                <a:gd name="T24" fmla="*/ 0 w 2425"/>
                <a:gd name="T25" fmla="*/ 0 h 898"/>
                <a:gd name="T26" fmla="*/ 2425 w 2425"/>
                <a:gd name="T27" fmla="*/ 898 h 8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5" h="898">
                  <a:moveTo>
                    <a:pt x="2056" y="289"/>
                  </a:moveTo>
                  <a:cubicBezTo>
                    <a:pt x="1826" y="223"/>
                    <a:pt x="1133" y="113"/>
                    <a:pt x="810" y="75"/>
                  </a:cubicBezTo>
                  <a:cubicBezTo>
                    <a:pt x="487" y="37"/>
                    <a:pt x="230" y="0"/>
                    <a:pt x="115" y="60"/>
                  </a:cubicBezTo>
                  <a:cubicBezTo>
                    <a:pt x="0" y="120"/>
                    <a:pt x="121" y="301"/>
                    <a:pt x="121" y="433"/>
                  </a:cubicBezTo>
                  <a:cubicBezTo>
                    <a:pt x="121" y="565"/>
                    <a:pt x="25" y="802"/>
                    <a:pt x="115" y="850"/>
                  </a:cubicBezTo>
                  <a:cubicBezTo>
                    <a:pt x="205" y="898"/>
                    <a:pt x="316" y="784"/>
                    <a:pt x="662" y="721"/>
                  </a:cubicBezTo>
                  <a:cubicBezTo>
                    <a:pt x="1008" y="658"/>
                    <a:pt x="1961" y="544"/>
                    <a:pt x="2193" y="472"/>
                  </a:cubicBezTo>
                  <a:cubicBezTo>
                    <a:pt x="2425" y="400"/>
                    <a:pt x="2292" y="327"/>
                    <a:pt x="2056" y="289"/>
                  </a:cubicBezTo>
                  <a:close/>
                </a:path>
              </a:pathLst>
            </a:custGeom>
            <a:gradFill rotWithShape="1">
              <a:gsLst>
                <a:gs pos="0">
                  <a:srgbClr val="FFFFFF">
                    <a:alpha val="98000"/>
                  </a:srgbClr>
                </a:gs>
                <a:gs pos="100000">
                  <a:srgbClr val="66CC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a:defRPr/>
              </a:pPr>
              <a:endParaRPr lang="en-US" sz="1350" dirty="0">
                <a:solidFill>
                  <a:srgbClr val="000000"/>
                </a:solidFill>
              </a:endParaRPr>
            </a:p>
          </p:txBody>
        </p:sp>
        <p:sp>
          <p:nvSpPr>
            <p:cNvPr id="59" name="Text Box 17">
              <a:extLst>
                <a:ext uri="{FF2B5EF4-FFF2-40B4-BE49-F238E27FC236}">
                  <a16:creationId xmlns:a16="http://schemas.microsoft.com/office/drawing/2014/main" id="{E30571BA-05AF-0B45-BA07-E31ED33E2027}"/>
                </a:ext>
              </a:extLst>
            </p:cNvPr>
            <p:cNvSpPr txBox="1">
              <a:spLocks noChangeArrowheads="1"/>
            </p:cNvSpPr>
            <p:nvPr/>
          </p:nvSpPr>
          <p:spPr bwMode="auto">
            <a:xfrm>
              <a:off x="4504385" y="3410471"/>
              <a:ext cx="12379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200" kern="0" dirty="0">
                  <a:solidFill>
                    <a:srgbClr val="000000"/>
                  </a:solidFill>
                  <a:latin typeface="Calibri" panose="020F0502020204030204"/>
                </a:rPr>
                <a:t>138.76.29.7</a:t>
              </a:r>
            </a:p>
          </p:txBody>
        </p:sp>
        <p:sp>
          <p:nvSpPr>
            <p:cNvPr id="60" name="Line 18">
              <a:extLst>
                <a:ext uri="{FF2B5EF4-FFF2-40B4-BE49-F238E27FC236}">
                  <a16:creationId xmlns:a16="http://schemas.microsoft.com/office/drawing/2014/main" id="{8992B4D5-4037-2B4E-93F8-5AB3897EDA38}"/>
                </a:ext>
              </a:extLst>
            </p:cNvPr>
            <p:cNvSpPr>
              <a:spLocks noChangeShapeType="1"/>
            </p:cNvSpPr>
            <p:nvPr/>
          </p:nvSpPr>
          <p:spPr bwMode="auto">
            <a:xfrm flipH="1" flipV="1">
              <a:off x="5504641" y="3720817"/>
              <a:ext cx="4440" cy="35670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66" name="Line 86">
              <a:extLst>
                <a:ext uri="{FF2B5EF4-FFF2-40B4-BE49-F238E27FC236}">
                  <a16:creationId xmlns:a16="http://schemas.microsoft.com/office/drawing/2014/main" id="{EE50E18D-731D-DF47-B118-B4345E03D95C}"/>
                </a:ext>
              </a:extLst>
            </p:cNvPr>
            <p:cNvSpPr>
              <a:spLocks noChangeShapeType="1"/>
            </p:cNvSpPr>
            <p:nvPr/>
          </p:nvSpPr>
          <p:spPr bwMode="auto">
            <a:xfrm>
              <a:off x="4749506" y="2735046"/>
              <a:ext cx="13858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67" name="Line 87">
              <a:extLst>
                <a:ext uri="{FF2B5EF4-FFF2-40B4-BE49-F238E27FC236}">
                  <a16:creationId xmlns:a16="http://schemas.microsoft.com/office/drawing/2014/main" id="{C0557AD9-6792-174F-BDA1-0FE8C031C6F2}"/>
                </a:ext>
              </a:extLst>
            </p:cNvPr>
            <p:cNvSpPr>
              <a:spLocks noChangeShapeType="1"/>
            </p:cNvSpPr>
            <p:nvPr/>
          </p:nvSpPr>
          <p:spPr bwMode="auto">
            <a:xfrm flipH="1" flipV="1">
              <a:off x="2938169" y="2721792"/>
              <a:ext cx="8985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kern="0" dirty="0">
                <a:solidFill>
                  <a:srgbClr val="000000"/>
                </a:solidFill>
              </a:endParaRPr>
            </a:p>
          </p:txBody>
        </p:sp>
        <p:sp>
          <p:nvSpPr>
            <p:cNvPr id="68" name="Text Box 88">
              <a:extLst>
                <a:ext uri="{FF2B5EF4-FFF2-40B4-BE49-F238E27FC236}">
                  <a16:creationId xmlns:a16="http://schemas.microsoft.com/office/drawing/2014/main" id="{871C9E7E-B867-EC4D-B2AF-320388F7299F}"/>
                </a:ext>
              </a:extLst>
            </p:cNvPr>
            <p:cNvSpPr txBox="1">
              <a:spLocks noChangeArrowheads="1"/>
            </p:cNvSpPr>
            <p:nvPr/>
          </p:nvSpPr>
          <p:spPr bwMode="auto">
            <a:xfrm>
              <a:off x="3798242" y="2486532"/>
              <a:ext cx="1013525" cy="621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90000"/>
                </a:lnSpc>
                <a:defRPr/>
              </a:pPr>
              <a:r>
                <a:rPr lang="en-US" altLang="en-US" sz="1350" kern="0" dirty="0">
                  <a:solidFill>
                    <a:srgbClr val="000000"/>
                  </a:solidFill>
                  <a:latin typeface="Calibri" panose="020F0502020204030204"/>
                </a:rPr>
                <a:t>rest of</a:t>
              </a:r>
            </a:p>
            <a:p>
              <a:pPr algn="ctr" defTabSz="685800">
                <a:lnSpc>
                  <a:spcPct val="90000"/>
                </a:lnSpc>
                <a:defRPr/>
              </a:pPr>
              <a:r>
                <a:rPr lang="en-US" altLang="en-US" sz="1350" kern="0" dirty="0">
                  <a:solidFill>
                    <a:srgbClr val="000000"/>
                  </a:solidFill>
                  <a:latin typeface="Calibri" panose="020F0502020204030204"/>
                </a:rPr>
                <a:t>Internet</a:t>
              </a:r>
            </a:p>
          </p:txBody>
        </p:sp>
        <p:cxnSp>
          <p:nvCxnSpPr>
            <p:cNvPr id="100" name="Straight Connector 99">
              <a:extLst>
                <a:ext uri="{FF2B5EF4-FFF2-40B4-BE49-F238E27FC236}">
                  <a16:creationId xmlns:a16="http://schemas.microsoft.com/office/drawing/2014/main" id="{150858C1-088D-F54E-93D3-2431EDC19F7F}"/>
                </a:ext>
              </a:extLst>
            </p:cNvPr>
            <p:cNvCxnSpPr>
              <a:cxnSpLocks/>
            </p:cNvCxnSpPr>
            <p:nvPr/>
          </p:nvCxnSpPr>
          <p:spPr>
            <a:xfrm>
              <a:off x="2743200" y="4135538"/>
              <a:ext cx="294375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45BDAD16-73BC-D94F-A2DF-E2B2A45A02F7}"/>
              </a:ext>
            </a:extLst>
          </p:cNvPr>
          <p:cNvGrpSpPr/>
          <p:nvPr/>
        </p:nvGrpSpPr>
        <p:grpSpPr>
          <a:xfrm>
            <a:off x="4264350" y="3792048"/>
            <a:ext cx="780415" cy="337416"/>
            <a:chOff x="7493876" y="2774731"/>
            <a:chExt cx="1481958" cy="894622"/>
          </a:xfrm>
        </p:grpSpPr>
        <p:sp>
          <p:nvSpPr>
            <p:cNvPr id="93" name="Freeform 92">
              <a:extLst>
                <a:ext uri="{FF2B5EF4-FFF2-40B4-BE49-F238E27FC236}">
                  <a16:creationId xmlns:a16="http://schemas.microsoft.com/office/drawing/2014/main" id="{57554E4B-6AC8-0F4D-9587-02056E04ABB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94" name="Oval 93">
              <a:extLst>
                <a:ext uri="{FF2B5EF4-FFF2-40B4-BE49-F238E27FC236}">
                  <a16:creationId xmlns:a16="http://schemas.microsoft.com/office/drawing/2014/main" id="{C36E53E2-F166-0242-9060-47F57E4B32B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95" name="Group 94">
              <a:extLst>
                <a:ext uri="{FF2B5EF4-FFF2-40B4-BE49-F238E27FC236}">
                  <a16:creationId xmlns:a16="http://schemas.microsoft.com/office/drawing/2014/main" id="{C2B76B53-8A9E-9746-BCEA-A8C7D842688D}"/>
                </a:ext>
              </a:extLst>
            </p:cNvPr>
            <p:cNvGrpSpPr/>
            <p:nvPr/>
          </p:nvGrpSpPr>
          <p:grpSpPr>
            <a:xfrm>
              <a:off x="7713663" y="2848339"/>
              <a:ext cx="1042107" cy="425543"/>
              <a:chOff x="7786941" y="2884917"/>
              <a:chExt cx="897649" cy="353919"/>
            </a:xfrm>
          </p:grpSpPr>
          <p:sp>
            <p:nvSpPr>
              <p:cNvPr id="96" name="Freeform 95">
                <a:extLst>
                  <a:ext uri="{FF2B5EF4-FFF2-40B4-BE49-F238E27FC236}">
                    <a16:creationId xmlns:a16="http://schemas.microsoft.com/office/drawing/2014/main" id="{B06470D2-5187-0248-942C-0180B21B5B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7" name="Freeform 96">
                <a:extLst>
                  <a:ext uri="{FF2B5EF4-FFF2-40B4-BE49-F238E27FC236}">
                    <a16:creationId xmlns:a16="http://schemas.microsoft.com/office/drawing/2014/main" id="{7ACE4034-22E7-4042-8641-12B84FBD37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8" name="Freeform 97">
                <a:extLst>
                  <a:ext uri="{FF2B5EF4-FFF2-40B4-BE49-F238E27FC236}">
                    <a16:creationId xmlns:a16="http://schemas.microsoft.com/office/drawing/2014/main" id="{D499314E-78D6-EA42-9F51-F19C0BD7CD3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9" name="Freeform 98">
                <a:extLst>
                  <a:ext uri="{FF2B5EF4-FFF2-40B4-BE49-F238E27FC236}">
                    <a16:creationId xmlns:a16="http://schemas.microsoft.com/office/drawing/2014/main" id="{66172900-9068-FA4E-88B9-FDFBC7A671A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cxnSp>
        <p:nvCxnSpPr>
          <p:cNvPr id="102" name="Straight Connector 101">
            <a:extLst>
              <a:ext uri="{FF2B5EF4-FFF2-40B4-BE49-F238E27FC236}">
                <a16:creationId xmlns:a16="http://schemas.microsoft.com/office/drawing/2014/main" id="{A22AE88A-A305-524E-B84B-0B76D7B61A34}"/>
              </a:ext>
            </a:extLst>
          </p:cNvPr>
          <p:cNvCxnSpPr>
            <a:cxnSpLocks/>
          </p:cNvCxnSpPr>
          <p:nvPr/>
        </p:nvCxnSpPr>
        <p:spPr>
          <a:xfrm>
            <a:off x="7318261" y="3530342"/>
            <a:ext cx="2201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0700875-0DC6-5E45-AA18-90F4BFEE78F0}"/>
              </a:ext>
            </a:extLst>
          </p:cNvPr>
          <p:cNvCxnSpPr>
            <a:cxnSpLocks/>
          </p:cNvCxnSpPr>
          <p:nvPr/>
        </p:nvCxnSpPr>
        <p:spPr>
          <a:xfrm>
            <a:off x="7263968" y="4067132"/>
            <a:ext cx="2201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DAF57DEB-1FD3-0148-A063-19891BA88EFC}"/>
              </a:ext>
            </a:extLst>
          </p:cNvPr>
          <p:cNvCxnSpPr>
            <a:cxnSpLocks/>
          </p:cNvCxnSpPr>
          <p:nvPr/>
        </p:nvCxnSpPr>
        <p:spPr>
          <a:xfrm>
            <a:off x="7278256" y="4627778"/>
            <a:ext cx="2201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527466" y="1068123"/>
            <a:ext cx="7886700" cy="800963"/>
          </a:xfrm>
        </p:spPr>
        <p:txBody>
          <a:bodyPr>
            <a:normAutofit/>
          </a:bodyPr>
          <a:lstStyle/>
          <a:p>
            <a:r>
              <a:rPr lang="en-US" sz="3600" dirty="0"/>
              <a:t>NAT: network address translation</a:t>
            </a:r>
          </a:p>
        </p:txBody>
      </p:sp>
      <p:grpSp>
        <p:nvGrpSpPr>
          <p:cNvPr id="106" name="Group 105">
            <a:extLst>
              <a:ext uri="{FF2B5EF4-FFF2-40B4-BE49-F238E27FC236}">
                <a16:creationId xmlns:a16="http://schemas.microsoft.com/office/drawing/2014/main" id="{7CDF8C58-9021-0F45-A760-A2349ED7BDDE}"/>
              </a:ext>
            </a:extLst>
          </p:cNvPr>
          <p:cNvGrpSpPr/>
          <p:nvPr/>
        </p:nvGrpSpPr>
        <p:grpSpPr>
          <a:xfrm>
            <a:off x="4673694" y="3965412"/>
            <a:ext cx="4106863" cy="1848482"/>
            <a:chOff x="6191250" y="3243263"/>
            <a:chExt cx="5475817" cy="2464643"/>
          </a:xfrm>
        </p:grpSpPr>
        <p:sp>
          <p:nvSpPr>
            <p:cNvPr id="69" name="Text Box 90">
              <a:extLst>
                <a:ext uri="{FF2B5EF4-FFF2-40B4-BE49-F238E27FC236}">
                  <a16:creationId xmlns:a16="http://schemas.microsoft.com/office/drawing/2014/main" id="{C3D3888E-0889-EC4A-A8F0-844A733687B1}"/>
                </a:ext>
              </a:extLst>
            </p:cNvPr>
            <p:cNvSpPr txBox="1">
              <a:spLocks noChangeArrowheads="1"/>
            </p:cNvSpPr>
            <p:nvPr/>
          </p:nvSpPr>
          <p:spPr bwMode="auto">
            <a:xfrm>
              <a:off x="6191250" y="4640263"/>
              <a:ext cx="5475817" cy="106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5000"/>
                </a:lnSpc>
                <a:defRPr/>
              </a:pPr>
              <a:r>
                <a:rPr lang="en-US" altLang="en-US" sz="1800" dirty="0">
                  <a:solidFill>
                    <a:srgbClr val="000000"/>
                  </a:solidFill>
                  <a:latin typeface="Calibri" panose="020F0502020204030204"/>
                </a:rPr>
                <a:t>datagrams with source or destination in this network have 10.0.0/24 address for  source, destination (as usual)</a:t>
              </a:r>
            </a:p>
          </p:txBody>
        </p:sp>
        <p:sp>
          <p:nvSpPr>
            <p:cNvPr id="71" name="Line 96">
              <a:extLst>
                <a:ext uri="{FF2B5EF4-FFF2-40B4-BE49-F238E27FC236}">
                  <a16:creationId xmlns:a16="http://schemas.microsoft.com/office/drawing/2014/main" id="{EF9E06A3-F0A2-D04B-881A-B1FA9D6105CC}"/>
                </a:ext>
              </a:extLst>
            </p:cNvPr>
            <p:cNvSpPr>
              <a:spLocks noChangeShapeType="1"/>
            </p:cNvSpPr>
            <p:nvPr/>
          </p:nvSpPr>
          <p:spPr bwMode="auto">
            <a:xfrm flipV="1">
              <a:off x="6731530" y="3243263"/>
              <a:ext cx="668337" cy="142716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srgbClr val="000000"/>
                </a:solidFill>
              </a:endParaRPr>
            </a:p>
          </p:txBody>
        </p:sp>
      </p:grpSp>
      <p:grpSp>
        <p:nvGrpSpPr>
          <p:cNvPr id="107" name="Group 106">
            <a:extLst>
              <a:ext uri="{FF2B5EF4-FFF2-40B4-BE49-F238E27FC236}">
                <a16:creationId xmlns:a16="http://schemas.microsoft.com/office/drawing/2014/main" id="{AD291785-CEE8-4E4A-AA83-F757C708CBFB}"/>
              </a:ext>
            </a:extLst>
          </p:cNvPr>
          <p:cNvGrpSpPr/>
          <p:nvPr/>
        </p:nvGrpSpPr>
        <p:grpSpPr>
          <a:xfrm>
            <a:off x="285008" y="3938028"/>
            <a:ext cx="4146196" cy="1879438"/>
            <a:chOff x="339669" y="3206750"/>
            <a:chExt cx="5528261" cy="2505918"/>
          </a:xfrm>
        </p:grpSpPr>
        <p:sp>
          <p:nvSpPr>
            <p:cNvPr id="70" name="Text Box 92">
              <a:extLst>
                <a:ext uri="{FF2B5EF4-FFF2-40B4-BE49-F238E27FC236}">
                  <a16:creationId xmlns:a16="http://schemas.microsoft.com/office/drawing/2014/main" id="{CBD8DA55-6AFE-D449-BB96-966C7F5EBC12}"/>
                </a:ext>
              </a:extLst>
            </p:cNvPr>
            <p:cNvSpPr txBox="1">
              <a:spLocks noChangeArrowheads="1"/>
            </p:cNvSpPr>
            <p:nvPr/>
          </p:nvSpPr>
          <p:spPr bwMode="auto">
            <a:xfrm>
              <a:off x="339669" y="4645025"/>
              <a:ext cx="5528261" cy="106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lnSpc>
                  <a:spcPct val="85000"/>
                </a:lnSpc>
                <a:defRPr/>
              </a:pPr>
              <a:r>
                <a:rPr lang="en-US" altLang="en-US" sz="1800" i="1" dirty="0">
                  <a:solidFill>
                    <a:srgbClr val="CC0000"/>
                  </a:solidFill>
                  <a:latin typeface="Calibri" panose="020F0502020204030204"/>
                </a:rPr>
                <a:t>all</a:t>
              </a:r>
              <a:r>
                <a:rPr lang="en-US" altLang="en-US" sz="1800" dirty="0">
                  <a:solidFill>
                    <a:srgbClr val="CC0000"/>
                  </a:solidFill>
                  <a:latin typeface="Calibri" panose="020F0502020204030204"/>
                </a:rPr>
                <a:t> </a:t>
              </a:r>
              <a:r>
                <a:rPr lang="en-US" altLang="en-US" sz="1800" dirty="0">
                  <a:solidFill>
                    <a:srgbClr val="000000"/>
                  </a:solidFill>
                  <a:latin typeface="Calibri" panose="020F0502020204030204"/>
                </a:rPr>
                <a:t>datagrams </a:t>
              </a:r>
              <a:r>
                <a:rPr lang="en-US" altLang="en-US" sz="1800" i="1" dirty="0">
                  <a:solidFill>
                    <a:srgbClr val="CC0000"/>
                  </a:solidFill>
                  <a:latin typeface="Calibri" panose="020F0502020204030204"/>
                </a:rPr>
                <a:t>leaving</a:t>
              </a:r>
              <a:r>
                <a:rPr lang="en-US" altLang="en-US" sz="1800" dirty="0">
                  <a:solidFill>
                    <a:srgbClr val="000000"/>
                  </a:solidFill>
                  <a:latin typeface="Calibri" panose="020F0502020204030204"/>
                </a:rPr>
                <a:t> local network have </a:t>
              </a:r>
              <a:r>
                <a:rPr lang="en-US" altLang="en-US" sz="1800" i="1" dirty="0">
                  <a:solidFill>
                    <a:srgbClr val="CC0000"/>
                  </a:solidFill>
                  <a:latin typeface="Calibri" panose="020F0502020204030204"/>
                </a:rPr>
                <a:t>same</a:t>
              </a:r>
              <a:r>
                <a:rPr lang="en-US" altLang="en-US" sz="1800" dirty="0">
                  <a:solidFill>
                    <a:srgbClr val="000000"/>
                  </a:solidFill>
                  <a:latin typeface="Calibri" panose="020F0502020204030204"/>
                </a:rPr>
                <a:t> source NAT IP address: 138.76.29.7,  but </a:t>
              </a:r>
              <a:r>
                <a:rPr lang="en-US" altLang="en-US" sz="1800" i="1" dirty="0">
                  <a:solidFill>
                    <a:srgbClr val="000000"/>
                  </a:solidFill>
                  <a:latin typeface="Calibri" panose="020F0502020204030204"/>
                </a:rPr>
                <a:t>different</a:t>
              </a:r>
              <a:r>
                <a:rPr lang="en-US" altLang="en-US" sz="1800" dirty="0">
                  <a:solidFill>
                    <a:srgbClr val="000000"/>
                  </a:solidFill>
                  <a:latin typeface="Calibri" panose="020F0502020204030204"/>
                </a:rPr>
                <a:t> source port numbers</a:t>
              </a:r>
            </a:p>
          </p:txBody>
        </p:sp>
        <p:sp>
          <p:nvSpPr>
            <p:cNvPr id="72" name="Line 97">
              <a:extLst>
                <a:ext uri="{FF2B5EF4-FFF2-40B4-BE49-F238E27FC236}">
                  <a16:creationId xmlns:a16="http://schemas.microsoft.com/office/drawing/2014/main" id="{889B3E74-1C09-0F4E-8E4B-3B9C0D2650DF}"/>
                </a:ext>
              </a:extLst>
            </p:cNvPr>
            <p:cNvSpPr>
              <a:spLocks noChangeShapeType="1"/>
            </p:cNvSpPr>
            <p:nvPr/>
          </p:nvSpPr>
          <p:spPr bwMode="auto">
            <a:xfrm flipV="1">
              <a:off x="4620155" y="3206750"/>
              <a:ext cx="668337" cy="142716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srgbClr val="000000"/>
                </a:solidFill>
              </a:endParaRPr>
            </a:p>
          </p:txBody>
        </p:sp>
      </p:grpSp>
      <p:sp>
        <p:nvSpPr>
          <p:cNvPr id="4" name="Rectangle 3">
            <a:extLst>
              <a:ext uri="{FF2B5EF4-FFF2-40B4-BE49-F238E27FC236}">
                <a16:creationId xmlns:a16="http://schemas.microsoft.com/office/drawing/2014/main" id="{D7D39038-77D9-D24B-96C2-D00AB29DC0A3}"/>
              </a:ext>
            </a:extLst>
          </p:cNvPr>
          <p:cNvSpPr/>
          <p:nvPr/>
        </p:nvSpPr>
        <p:spPr>
          <a:xfrm>
            <a:off x="328733" y="1853810"/>
            <a:ext cx="8343900" cy="798680"/>
          </a:xfrm>
          <a:prstGeom prst="rect">
            <a:avLst/>
          </a:prstGeom>
        </p:spPr>
        <p:txBody>
          <a:bodyPr wrap="square">
            <a:spAutoFit/>
          </a:bodyPr>
          <a:lstStyle/>
          <a:p>
            <a:pPr marL="179785" defTabSz="685800" eaLnBrk="1" fontAlgn="auto" hangingPunct="1">
              <a:lnSpc>
                <a:spcPct val="90000"/>
              </a:lnSpc>
              <a:spcBef>
                <a:spcPts val="750"/>
              </a:spcBef>
              <a:spcAft>
                <a:spcPts val="0"/>
              </a:spcAft>
              <a:buClr>
                <a:srgbClr val="0000A3"/>
              </a:buClr>
              <a:defRPr/>
            </a:pPr>
            <a:r>
              <a:rPr lang="en-US" altLang="en-US" sz="2700" dirty="0">
                <a:solidFill>
                  <a:srgbClr val="CC0000"/>
                </a:solidFill>
                <a:latin typeface="Calibri" panose="020F0502020204030204"/>
                <a:cs typeface="ＭＳ Ｐゴシック" panose="020B0600070205080204" pitchFamily="34" charset="-128"/>
              </a:rPr>
              <a:t>NAT:</a:t>
            </a:r>
            <a:r>
              <a:rPr lang="en-US" altLang="en-US" sz="2700" dirty="0">
                <a:solidFill>
                  <a:prstClr val="black"/>
                </a:solidFill>
                <a:latin typeface="Calibri" panose="020F0502020204030204"/>
                <a:cs typeface="ＭＳ Ｐゴシック" panose="020B0600070205080204" pitchFamily="34" charset="-128"/>
              </a:rPr>
              <a:t> </a:t>
            </a:r>
            <a:r>
              <a:rPr lang="en-US" altLang="en-US" sz="2400" dirty="0">
                <a:solidFill>
                  <a:prstClr val="black"/>
                </a:solidFill>
                <a:latin typeface="Calibri" panose="020F0502020204030204"/>
                <a:cs typeface="ＭＳ Ｐゴシック" panose="020B0600070205080204" pitchFamily="34" charset="-128"/>
              </a:rPr>
              <a:t>all devices in local network share just </a:t>
            </a:r>
            <a:r>
              <a:rPr lang="en-US" altLang="en-US" sz="2400" dirty="0">
                <a:solidFill>
                  <a:srgbClr val="C00000"/>
                </a:solidFill>
                <a:latin typeface="Calibri" panose="020F0502020204030204"/>
                <a:cs typeface="ＭＳ Ｐゴシック" panose="020B0600070205080204" pitchFamily="34" charset="-128"/>
              </a:rPr>
              <a:t>one</a:t>
            </a:r>
            <a:r>
              <a:rPr lang="en-US" altLang="en-US" sz="2400" dirty="0">
                <a:solidFill>
                  <a:prstClr val="black"/>
                </a:solidFill>
                <a:latin typeface="Calibri" panose="020F0502020204030204"/>
                <a:cs typeface="ＭＳ Ｐゴシック" panose="020B0600070205080204" pitchFamily="34" charset="-128"/>
              </a:rPr>
              <a:t> IPv4 address as far as outside world is concerned</a:t>
            </a:r>
          </a:p>
        </p:txBody>
      </p:sp>
      <p:cxnSp>
        <p:nvCxnSpPr>
          <p:cNvPr id="52" name="Straight Connector 51">
            <a:extLst>
              <a:ext uri="{FF2B5EF4-FFF2-40B4-BE49-F238E27FC236}">
                <a16:creationId xmlns:a16="http://schemas.microsoft.com/office/drawing/2014/main" id="{430B61CD-48A3-4A40-98F0-DA3F309E2D8D}"/>
              </a:ext>
            </a:extLst>
          </p:cNvPr>
          <p:cNvCxnSpPr>
            <a:cxnSpLocks/>
          </p:cNvCxnSpPr>
          <p:nvPr/>
        </p:nvCxnSpPr>
        <p:spPr>
          <a:xfrm>
            <a:off x="5057775" y="3950740"/>
            <a:ext cx="41167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Slide Number Placeholder 3">
            <a:extLst>
              <a:ext uri="{FF2B5EF4-FFF2-40B4-BE49-F238E27FC236}">
                <a16:creationId xmlns:a16="http://schemas.microsoft.com/office/drawing/2014/main" id="{ECE95E76-8D3F-5D49-BBDA-40760E7D55EE}"/>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119</a:t>
            </a:fld>
            <a:endParaRPr lang="en-US" dirty="0"/>
          </a:p>
        </p:txBody>
      </p:sp>
    </p:spTree>
    <p:extLst>
      <p:ext uri="{BB962C8B-B14F-4D97-AF65-F5344CB8AC3E}">
        <p14:creationId xmlns:p14="http://schemas.microsoft.com/office/powerpoint/2010/main" val="74326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dissolve">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7"/>
                                        </p:tgtEl>
                                        <p:attrNameLst>
                                          <p:attrName>style.visibility</p:attrName>
                                        </p:attrNameLst>
                                      </p:cBhvr>
                                      <p:to>
                                        <p:strVal val="visible"/>
                                      </p:to>
                                    </p:set>
                                    <p:animEffect transition="in" filter="dissolve">
                                      <p:cBhvr>
                                        <p:cTn id="12" dur="500"/>
                                        <p:tgtEl>
                                          <p:spTgt spid="107"/>
                                        </p:tgtEl>
                                      </p:cBhvr>
                                    </p:animEffect>
                                  </p:childTnLst>
                                </p:cTn>
                              </p:par>
                              <p:par>
                                <p:cTn id="13" presetID="9"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3">
            <a:extLst>
              <a:ext uri="{FF2B5EF4-FFF2-40B4-BE49-F238E27FC236}">
                <a16:creationId xmlns:a16="http://schemas.microsoft.com/office/drawing/2014/main" id="{6B160A08-0872-E943-930F-3549C899DA74}"/>
              </a:ext>
            </a:extLst>
          </p:cNvPr>
          <p:cNvSpPr txBox="1">
            <a:spLocks noChangeArrowheads="1"/>
          </p:cNvSpPr>
          <p:nvPr/>
        </p:nvSpPr>
        <p:spPr>
          <a:xfrm>
            <a:off x="356261" y="1916206"/>
            <a:ext cx="7952853" cy="396352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1494" lvl="1" indent="-217885" defTabSz="685800" fontAlgn="auto">
              <a:spcBef>
                <a:spcPts val="375"/>
              </a:spcBef>
              <a:spcAft>
                <a:spcPts val="0"/>
              </a:spcAft>
              <a:buFont typeface="Wingdings" pitchFamily="2" charset="2"/>
              <a:buChar char="§"/>
              <a:defRPr/>
            </a:pPr>
            <a:r>
              <a:rPr lang="en-US" altLang="en-US" sz="2100" dirty="0">
                <a:solidFill>
                  <a:prstClr val="black"/>
                </a:solidFill>
                <a:latin typeface="Calibri" panose="020F0502020204030204"/>
                <a:ea typeface="ＭＳ Ｐゴシック" panose="020B0600070205080204" pitchFamily="34" charset="-128"/>
              </a:rPr>
              <a:t>all devices in local network have 32-bit addresses in a “private” IP address space (</a:t>
            </a:r>
            <a:r>
              <a:rPr lang="en-US" sz="2100" dirty="0">
                <a:solidFill>
                  <a:prstClr val="black"/>
                </a:solidFill>
                <a:latin typeface="Calibri" panose="020F0502020204030204"/>
              </a:rPr>
              <a:t>10/8, 172.16/12, 192.168/16 prefixes) that can only be used in local network</a:t>
            </a:r>
          </a:p>
          <a:p>
            <a:pPr marL="521494" lvl="1" indent="-217885" defTabSz="685800" fontAlgn="auto">
              <a:spcBef>
                <a:spcPts val="375"/>
              </a:spcBef>
              <a:spcAft>
                <a:spcPts val="0"/>
              </a:spcAft>
              <a:buFont typeface="Wingdings" pitchFamily="2" charset="2"/>
              <a:buChar char="§"/>
              <a:defRPr/>
            </a:pPr>
            <a:r>
              <a:rPr lang="en-US" altLang="en-US" sz="2100" dirty="0">
                <a:solidFill>
                  <a:prstClr val="black"/>
                </a:solidFill>
                <a:latin typeface="Calibri" panose="020F0502020204030204"/>
                <a:ea typeface="ＭＳ Ｐゴシック" panose="020B0600070205080204" pitchFamily="34" charset="-128"/>
              </a:rPr>
              <a:t>advantages:</a:t>
            </a:r>
          </a:p>
          <a:p>
            <a:pPr marL="857250" lvl="2" indent="-217885" defTabSz="685800" fontAlgn="auto">
              <a:spcBef>
                <a:spcPts val="375"/>
              </a:spcBef>
              <a:spcAft>
                <a:spcPts val="0"/>
              </a:spcAft>
              <a:buClr>
                <a:srgbClr val="0000A3"/>
              </a:buClr>
              <a:buFont typeface="Wingdings" pitchFamily="2" charset="2"/>
              <a:buChar char="§"/>
              <a:defRPr/>
            </a:pPr>
            <a:r>
              <a:rPr lang="en-US" altLang="en-US" sz="2100" dirty="0">
                <a:solidFill>
                  <a:prstClr val="black"/>
                </a:solidFill>
                <a:latin typeface="Calibri" panose="020F0502020204030204"/>
                <a:ea typeface="ＭＳ Ｐゴシック" panose="020B0600070205080204" pitchFamily="34" charset="-128"/>
              </a:rPr>
              <a:t>just </a:t>
            </a:r>
            <a:r>
              <a:rPr lang="en-US" altLang="en-US" sz="2100" dirty="0">
                <a:solidFill>
                  <a:srgbClr val="C00000"/>
                </a:solidFill>
                <a:latin typeface="Calibri" panose="020F0502020204030204"/>
                <a:ea typeface="ＭＳ Ｐゴシック" panose="020B0600070205080204" pitchFamily="34" charset="-128"/>
              </a:rPr>
              <a:t>one</a:t>
            </a:r>
            <a:r>
              <a:rPr lang="en-US" altLang="en-US" sz="2100" dirty="0">
                <a:solidFill>
                  <a:prstClr val="black"/>
                </a:solidFill>
                <a:latin typeface="Calibri" panose="020F0502020204030204"/>
                <a:ea typeface="ＭＳ Ｐゴシック" panose="020B0600070205080204" pitchFamily="34" charset="-128"/>
              </a:rPr>
              <a:t> IP address needed from provider ISP for </a:t>
            </a:r>
            <a:r>
              <a:rPr lang="en-US" altLang="en-US" sz="2100" i="1" dirty="0">
                <a:solidFill>
                  <a:srgbClr val="0000A3"/>
                </a:solidFill>
                <a:latin typeface="Calibri" panose="020F0502020204030204"/>
                <a:ea typeface="ＭＳ Ｐゴシック" panose="020B0600070205080204" pitchFamily="34" charset="-128"/>
              </a:rPr>
              <a:t>all</a:t>
            </a:r>
            <a:r>
              <a:rPr lang="en-US" altLang="en-US" sz="2100" dirty="0">
                <a:solidFill>
                  <a:prstClr val="black"/>
                </a:solidFill>
                <a:latin typeface="Calibri" panose="020F0502020204030204"/>
                <a:ea typeface="ＭＳ Ｐゴシック" panose="020B0600070205080204" pitchFamily="34" charset="-128"/>
              </a:rPr>
              <a:t> devices</a:t>
            </a:r>
          </a:p>
          <a:p>
            <a:pPr marL="857250" lvl="2" indent="-217885" defTabSz="685800" fontAlgn="auto">
              <a:spcBef>
                <a:spcPts val="375"/>
              </a:spcBef>
              <a:spcAft>
                <a:spcPts val="0"/>
              </a:spcAft>
              <a:buClr>
                <a:srgbClr val="0000A8"/>
              </a:buClr>
              <a:buFont typeface="Wingdings" pitchFamily="2" charset="2"/>
              <a:buChar char="§"/>
              <a:defRPr/>
            </a:pPr>
            <a:r>
              <a:rPr lang="en-US" altLang="en-US" sz="2100" dirty="0">
                <a:solidFill>
                  <a:prstClr val="black"/>
                </a:solidFill>
                <a:latin typeface="Calibri" panose="020F0502020204030204"/>
                <a:ea typeface="ＭＳ Ｐゴシック" panose="020B0600070205080204" pitchFamily="34" charset="-128"/>
              </a:rPr>
              <a:t>can change addresses of host in local network without notifying outside world</a:t>
            </a:r>
          </a:p>
          <a:p>
            <a:pPr marL="857250" lvl="2" indent="-217885" defTabSz="685800" fontAlgn="auto">
              <a:spcBef>
                <a:spcPts val="375"/>
              </a:spcBef>
              <a:spcAft>
                <a:spcPts val="0"/>
              </a:spcAft>
              <a:buClr>
                <a:srgbClr val="0000A8"/>
              </a:buClr>
              <a:buFont typeface="Wingdings" pitchFamily="2" charset="2"/>
              <a:buChar char="§"/>
              <a:defRPr/>
            </a:pPr>
            <a:r>
              <a:rPr lang="en-US" altLang="en-US" sz="2100" dirty="0">
                <a:solidFill>
                  <a:prstClr val="black"/>
                </a:solidFill>
                <a:latin typeface="Calibri" panose="020F0502020204030204"/>
                <a:ea typeface="ＭＳ Ｐゴシック" panose="020B0600070205080204" pitchFamily="34" charset="-128"/>
              </a:rPr>
              <a:t>can change ISP without changing addresses of devices in local network</a:t>
            </a:r>
          </a:p>
          <a:p>
            <a:pPr marL="857250" lvl="2" indent="-217885" defTabSz="685800" fontAlgn="auto">
              <a:spcBef>
                <a:spcPts val="375"/>
              </a:spcBef>
              <a:spcAft>
                <a:spcPts val="0"/>
              </a:spcAft>
              <a:buClr>
                <a:srgbClr val="0000A8"/>
              </a:buClr>
              <a:buFont typeface="Wingdings" pitchFamily="2" charset="2"/>
              <a:buChar char="§"/>
              <a:defRPr/>
            </a:pPr>
            <a:r>
              <a:rPr lang="en-US" altLang="en-US" sz="2100" dirty="0">
                <a:solidFill>
                  <a:prstClr val="black"/>
                </a:solidFill>
                <a:latin typeface="Calibri" panose="020F0502020204030204"/>
                <a:ea typeface="ＭＳ Ｐゴシック" panose="020B0600070205080204" pitchFamily="34" charset="-128"/>
              </a:rPr>
              <a:t>security: devices inside local net not directly addressable, visible by outside world</a:t>
            </a:r>
          </a:p>
          <a:p>
            <a:pPr marL="261938" lvl="1" indent="0" defTabSz="685800" fontAlgn="auto">
              <a:spcBef>
                <a:spcPts val="375"/>
              </a:spcBef>
              <a:spcAft>
                <a:spcPts val="0"/>
              </a:spcAft>
              <a:buNone/>
              <a:defRPr/>
            </a:pPr>
            <a:endParaRPr lang="en-US" altLang="en-US" sz="2100" i="1" dirty="0">
              <a:solidFill>
                <a:srgbClr val="CC0000"/>
              </a:solidFill>
              <a:latin typeface="Calibri" panose="020F0502020204030204"/>
              <a:ea typeface="ＭＳ Ｐゴシック" panose="020B0600070205080204" pitchFamily="34" charset="-128"/>
            </a:endParaRPr>
          </a:p>
        </p:txBody>
      </p:sp>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527466" y="1068123"/>
            <a:ext cx="7886700" cy="800963"/>
          </a:xfrm>
        </p:spPr>
        <p:txBody>
          <a:bodyPr>
            <a:normAutofit/>
          </a:bodyPr>
          <a:lstStyle/>
          <a:p>
            <a:r>
              <a:rPr lang="en-US" sz="3600" dirty="0"/>
              <a:t>NAT: network address translation</a:t>
            </a:r>
          </a:p>
        </p:txBody>
      </p:sp>
      <p:sp>
        <p:nvSpPr>
          <p:cNvPr id="4" name="Slide Number Placeholder 3">
            <a:extLst>
              <a:ext uri="{FF2B5EF4-FFF2-40B4-BE49-F238E27FC236}">
                <a16:creationId xmlns:a16="http://schemas.microsoft.com/office/drawing/2014/main" id="{FF7E4BF2-C93E-374A-8155-EA75613E8F4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120</a:t>
            </a:fld>
            <a:endParaRPr lang="en-US" dirty="0"/>
          </a:p>
        </p:txBody>
      </p:sp>
    </p:spTree>
    <p:extLst>
      <p:ext uri="{BB962C8B-B14F-4D97-AF65-F5344CB8AC3E}">
        <p14:creationId xmlns:p14="http://schemas.microsoft.com/office/powerpoint/2010/main" val="475275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1">
                                            <p:txEl>
                                              <p:pRg st="0" end="0"/>
                                            </p:txEl>
                                          </p:spTgt>
                                        </p:tgtEl>
                                        <p:attrNameLst>
                                          <p:attrName>style.visibility</p:attrName>
                                        </p:attrNameLst>
                                      </p:cBhvr>
                                      <p:to>
                                        <p:strVal val="visible"/>
                                      </p:to>
                                    </p:set>
                                    <p:animEffect transition="in" filter="dissolve">
                                      <p:cBhvr>
                                        <p:cTn id="7" dur="500"/>
                                        <p:tgtEl>
                                          <p:spTgt spid="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1">
                                            <p:txEl>
                                              <p:pRg st="1" end="1"/>
                                            </p:txEl>
                                          </p:spTgt>
                                        </p:tgtEl>
                                        <p:attrNameLst>
                                          <p:attrName>style.visibility</p:attrName>
                                        </p:attrNameLst>
                                      </p:cBhvr>
                                      <p:to>
                                        <p:strVal val="visible"/>
                                      </p:to>
                                    </p:set>
                                    <p:animEffect transition="in" filter="dissolve">
                                      <p:cBhvr>
                                        <p:cTn id="12" dur="500"/>
                                        <p:tgtEl>
                                          <p:spTgt spid="81">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81">
                                            <p:txEl>
                                              <p:pRg st="2" end="2"/>
                                            </p:txEl>
                                          </p:spTgt>
                                        </p:tgtEl>
                                        <p:attrNameLst>
                                          <p:attrName>style.visibility</p:attrName>
                                        </p:attrNameLst>
                                      </p:cBhvr>
                                      <p:to>
                                        <p:strVal val="visible"/>
                                      </p:to>
                                    </p:set>
                                    <p:animEffect transition="in" filter="dissolve">
                                      <p:cBhvr>
                                        <p:cTn id="15" dur="500"/>
                                        <p:tgtEl>
                                          <p:spTgt spid="81">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81">
                                            <p:txEl>
                                              <p:pRg st="3" end="3"/>
                                            </p:txEl>
                                          </p:spTgt>
                                        </p:tgtEl>
                                        <p:attrNameLst>
                                          <p:attrName>style.visibility</p:attrName>
                                        </p:attrNameLst>
                                      </p:cBhvr>
                                      <p:to>
                                        <p:strVal val="visible"/>
                                      </p:to>
                                    </p:set>
                                    <p:animEffect transition="in" filter="dissolve">
                                      <p:cBhvr>
                                        <p:cTn id="18" dur="500"/>
                                        <p:tgtEl>
                                          <p:spTgt spid="81">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81">
                                            <p:txEl>
                                              <p:pRg st="4" end="4"/>
                                            </p:txEl>
                                          </p:spTgt>
                                        </p:tgtEl>
                                        <p:attrNameLst>
                                          <p:attrName>style.visibility</p:attrName>
                                        </p:attrNameLst>
                                      </p:cBhvr>
                                      <p:to>
                                        <p:strVal val="visible"/>
                                      </p:to>
                                    </p:set>
                                    <p:animEffect transition="in" filter="dissolve">
                                      <p:cBhvr>
                                        <p:cTn id="21" dur="500"/>
                                        <p:tgtEl>
                                          <p:spTgt spid="81">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81">
                                            <p:txEl>
                                              <p:pRg st="5" end="5"/>
                                            </p:txEl>
                                          </p:spTgt>
                                        </p:tgtEl>
                                        <p:attrNameLst>
                                          <p:attrName>style.visibility</p:attrName>
                                        </p:attrNameLst>
                                      </p:cBhvr>
                                      <p:to>
                                        <p:strVal val="visible"/>
                                      </p:to>
                                    </p:set>
                                    <p:animEffect transition="in" filter="dissolve">
                                      <p:cBhvr>
                                        <p:cTn id="24" dur="500"/>
                                        <p:tgtEl>
                                          <p:spTgt spid="8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3">
            <a:extLst>
              <a:ext uri="{FF2B5EF4-FFF2-40B4-BE49-F238E27FC236}">
                <a16:creationId xmlns:a16="http://schemas.microsoft.com/office/drawing/2014/main" id="{6B160A08-0872-E943-930F-3549C899DA74}"/>
              </a:ext>
            </a:extLst>
          </p:cNvPr>
          <p:cNvSpPr txBox="1">
            <a:spLocks noChangeArrowheads="1"/>
          </p:cNvSpPr>
          <p:nvPr/>
        </p:nvSpPr>
        <p:spPr>
          <a:xfrm>
            <a:off x="453319" y="1934200"/>
            <a:ext cx="8322933" cy="3892616"/>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fontAlgn="auto">
              <a:lnSpc>
                <a:spcPct val="80000"/>
              </a:lnSpc>
              <a:spcBef>
                <a:spcPts val="750"/>
              </a:spcBef>
              <a:spcAft>
                <a:spcPts val="0"/>
              </a:spcAft>
              <a:buNone/>
              <a:defRPr/>
            </a:pPr>
            <a:r>
              <a:rPr lang="en-US" altLang="en-US" sz="2400" dirty="0">
                <a:solidFill>
                  <a:srgbClr val="FF0000"/>
                </a:solidFill>
                <a:latin typeface="Calibri" panose="020F0502020204030204"/>
                <a:ea typeface="ＭＳ Ｐゴシック" panose="020B0600070205080204" pitchFamily="34" charset="-128"/>
                <a:cs typeface="ＭＳ Ｐゴシック" panose="020B0600070205080204" pitchFamily="34" charset="-128"/>
              </a:rPr>
              <a:t> </a:t>
            </a:r>
            <a:r>
              <a:rPr lang="en-US" altLang="en-US" sz="2400" dirty="0">
                <a:solidFill>
                  <a:srgbClr val="CC0000"/>
                </a:solidFill>
                <a:latin typeface="Calibri" panose="020F0502020204030204"/>
                <a:ea typeface="ＭＳ Ｐゴシック" panose="020B0600070205080204" pitchFamily="34" charset="-128"/>
                <a:cs typeface="ＭＳ Ｐゴシック" panose="020B0600070205080204" pitchFamily="34" charset="-128"/>
              </a:rPr>
              <a:t>implementation:</a:t>
            </a:r>
            <a:r>
              <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 NAT router must (transparently):</a:t>
            </a:r>
            <a:endPar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endParaRPr>
          </a:p>
          <a:p>
            <a:pPr marL="521494" lvl="1" indent="-217885" defTabSz="685800" fontAlgn="auto">
              <a:lnSpc>
                <a:spcPct val="100000"/>
              </a:lnSpc>
              <a:spcBef>
                <a:spcPts val="825"/>
              </a:spcBef>
              <a:spcAft>
                <a:spcPts val="0"/>
              </a:spcAft>
              <a:buFont typeface="Wingdings" pitchFamily="2" charset="2"/>
              <a:buChar char="§"/>
              <a:defRPr/>
            </a:pPr>
            <a:r>
              <a:rPr lang="en-US" altLang="en-US" sz="2100" dirty="0">
                <a:solidFill>
                  <a:srgbClr val="000099"/>
                </a:solidFill>
                <a:latin typeface="Calibri" panose="020F0502020204030204"/>
                <a:ea typeface="ＭＳ Ｐゴシック" panose="020B0600070205080204" pitchFamily="34" charset="-128"/>
              </a:rPr>
              <a:t>outgoing datagrams: replace</a:t>
            </a:r>
            <a:r>
              <a:rPr lang="en-US" altLang="en-US" sz="2100" dirty="0">
                <a:solidFill>
                  <a:prstClr val="black"/>
                </a:solidFill>
                <a:latin typeface="Calibri" panose="020F0502020204030204"/>
                <a:ea typeface="ＭＳ Ｐゴシック" panose="020B0600070205080204" pitchFamily="34" charset="-128"/>
              </a:rPr>
              <a:t> (source IP address, port #) of every outgoing datagram to (NAT IP address, new port #)</a:t>
            </a:r>
          </a:p>
          <a:p>
            <a:pPr marL="863204" lvl="3" indent="-215504" defTabSz="685800" fontAlgn="auto">
              <a:lnSpc>
                <a:spcPct val="100000"/>
              </a:lnSpc>
              <a:spcBef>
                <a:spcPts val="825"/>
              </a:spcBef>
              <a:spcAft>
                <a:spcPts val="0"/>
              </a:spcAft>
              <a:buClr>
                <a:srgbClr val="0000A3"/>
              </a:buClr>
              <a:defRPr/>
            </a:pP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remote clients/servers will respond using (NAT IP address, new port #) as destination address</a:t>
            </a:r>
          </a:p>
          <a:p>
            <a:pPr marL="521494" lvl="1" indent="-217885" defTabSz="685800" fontAlgn="auto">
              <a:lnSpc>
                <a:spcPct val="100000"/>
              </a:lnSpc>
              <a:spcBef>
                <a:spcPts val="825"/>
              </a:spcBef>
              <a:spcAft>
                <a:spcPts val="0"/>
              </a:spcAft>
              <a:buFont typeface="Wingdings" pitchFamily="2" charset="2"/>
              <a:buChar char="§"/>
              <a:defRPr/>
            </a:pPr>
            <a:r>
              <a:rPr lang="en-US" altLang="en-US" sz="2100" dirty="0">
                <a:solidFill>
                  <a:srgbClr val="000099"/>
                </a:solidFill>
                <a:latin typeface="Calibri" panose="020F0502020204030204"/>
                <a:ea typeface="ＭＳ Ｐゴシック" panose="020B0600070205080204" pitchFamily="34" charset="-128"/>
              </a:rPr>
              <a:t>remember (in NAT translation table)</a:t>
            </a:r>
            <a:r>
              <a:rPr lang="en-US" altLang="en-US" sz="2100" dirty="0">
                <a:solidFill>
                  <a:srgbClr val="ED7D31"/>
                </a:solidFill>
                <a:latin typeface="Calibri" panose="020F0502020204030204"/>
                <a:ea typeface="ＭＳ Ｐゴシック" panose="020B0600070205080204" pitchFamily="34" charset="-128"/>
              </a:rPr>
              <a:t> </a:t>
            </a:r>
            <a:r>
              <a:rPr lang="en-US" altLang="en-US" sz="2100" dirty="0">
                <a:solidFill>
                  <a:prstClr val="black"/>
                </a:solidFill>
                <a:latin typeface="Calibri" panose="020F0502020204030204"/>
                <a:ea typeface="ＭＳ Ｐゴシック" panose="020B0600070205080204" pitchFamily="34" charset="-128"/>
              </a:rPr>
              <a:t>every (source IP address, port #)  to (NAT IP address, new port #) translation pair</a:t>
            </a:r>
          </a:p>
          <a:p>
            <a:pPr marL="521494" lvl="1" indent="-217885" defTabSz="685800" fontAlgn="auto">
              <a:lnSpc>
                <a:spcPct val="100000"/>
              </a:lnSpc>
              <a:spcBef>
                <a:spcPts val="825"/>
              </a:spcBef>
              <a:spcAft>
                <a:spcPts val="0"/>
              </a:spcAft>
              <a:buFont typeface="Wingdings" pitchFamily="2" charset="2"/>
              <a:buChar char="§"/>
              <a:defRPr/>
            </a:pPr>
            <a:r>
              <a:rPr lang="en-US" altLang="en-US" sz="2100" dirty="0">
                <a:solidFill>
                  <a:srgbClr val="000099"/>
                </a:solidFill>
                <a:latin typeface="Calibri" panose="020F0502020204030204"/>
                <a:ea typeface="ＭＳ Ｐゴシック" panose="020B0600070205080204" pitchFamily="34" charset="-128"/>
              </a:rPr>
              <a:t>incoming datagrams: replace</a:t>
            </a:r>
            <a:r>
              <a:rPr lang="en-US" altLang="en-US" sz="2100" dirty="0">
                <a:solidFill>
                  <a:prstClr val="black"/>
                </a:solidFill>
                <a:latin typeface="Calibri" panose="020F0502020204030204"/>
                <a:ea typeface="ＭＳ Ｐゴシック" panose="020B0600070205080204" pitchFamily="34" charset="-128"/>
              </a:rPr>
              <a:t> (NAT IP address, new port #) in destination fields of every incoming datagram with corresponding (source IP address, port #) stored in NAT table</a:t>
            </a:r>
            <a:endParaRPr lang="en-US" altLang="en-US" i="1" dirty="0">
              <a:solidFill>
                <a:srgbClr val="CC0000"/>
              </a:solidFill>
              <a:latin typeface="Calibri" panose="020F0502020204030204"/>
              <a:ea typeface="ＭＳ Ｐゴシック" panose="020B0600070205080204" pitchFamily="34" charset="-128"/>
            </a:endParaRPr>
          </a:p>
        </p:txBody>
      </p:sp>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527466" y="1068123"/>
            <a:ext cx="7886700" cy="800963"/>
          </a:xfrm>
        </p:spPr>
        <p:txBody>
          <a:bodyPr>
            <a:normAutofit/>
          </a:bodyPr>
          <a:lstStyle/>
          <a:p>
            <a:r>
              <a:rPr lang="en-US" sz="3600" dirty="0"/>
              <a:t>NAT: network address translation</a:t>
            </a:r>
          </a:p>
        </p:txBody>
      </p:sp>
      <p:sp>
        <p:nvSpPr>
          <p:cNvPr id="4" name="Slide Number Placeholder 3">
            <a:extLst>
              <a:ext uri="{FF2B5EF4-FFF2-40B4-BE49-F238E27FC236}">
                <a16:creationId xmlns:a16="http://schemas.microsoft.com/office/drawing/2014/main" id="{7312DB5A-90B0-B243-B2F8-16B9A390DE3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121</a:t>
            </a:fld>
            <a:endParaRPr lang="en-US" dirty="0"/>
          </a:p>
        </p:txBody>
      </p:sp>
    </p:spTree>
    <p:extLst>
      <p:ext uri="{BB962C8B-B14F-4D97-AF65-F5344CB8AC3E}">
        <p14:creationId xmlns:p14="http://schemas.microsoft.com/office/powerpoint/2010/main" val="110774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1">
                                            <p:txEl>
                                              <p:pRg st="1" end="1"/>
                                            </p:txEl>
                                          </p:spTgt>
                                        </p:tgtEl>
                                        <p:attrNameLst>
                                          <p:attrName>style.visibility</p:attrName>
                                        </p:attrNameLst>
                                      </p:cBhvr>
                                      <p:to>
                                        <p:strVal val="visible"/>
                                      </p:to>
                                    </p:set>
                                    <p:animEffect transition="in" filter="dissolve">
                                      <p:cBhvr>
                                        <p:cTn id="7" dur="500"/>
                                        <p:tgtEl>
                                          <p:spTgt spid="81">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1">
                                            <p:txEl>
                                              <p:pRg st="2" end="2"/>
                                            </p:txEl>
                                          </p:spTgt>
                                        </p:tgtEl>
                                        <p:attrNameLst>
                                          <p:attrName>style.visibility</p:attrName>
                                        </p:attrNameLst>
                                      </p:cBhvr>
                                      <p:to>
                                        <p:strVal val="visible"/>
                                      </p:to>
                                    </p:set>
                                    <p:animEffect transition="in" filter="dissolve">
                                      <p:cBhvr>
                                        <p:cTn id="10" dur="500"/>
                                        <p:tgtEl>
                                          <p:spTgt spid="8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1">
                                            <p:txEl>
                                              <p:pRg st="3" end="3"/>
                                            </p:txEl>
                                          </p:spTgt>
                                        </p:tgtEl>
                                        <p:attrNameLst>
                                          <p:attrName>style.visibility</p:attrName>
                                        </p:attrNameLst>
                                      </p:cBhvr>
                                      <p:to>
                                        <p:strVal val="visible"/>
                                      </p:to>
                                    </p:set>
                                    <p:animEffect transition="in" filter="dissolve">
                                      <p:cBhvr>
                                        <p:cTn id="15" dur="500"/>
                                        <p:tgtEl>
                                          <p:spTgt spid="81">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81">
                                            <p:txEl>
                                              <p:pRg st="4" end="4"/>
                                            </p:txEl>
                                          </p:spTgt>
                                        </p:tgtEl>
                                        <p:attrNameLst>
                                          <p:attrName>style.visibility</p:attrName>
                                        </p:attrNameLst>
                                      </p:cBhvr>
                                      <p:to>
                                        <p:strVal val="visible"/>
                                      </p:to>
                                    </p:set>
                                    <p:animEffect transition="in" filter="dissolve">
                                      <p:cBhvr>
                                        <p:cTn id="20" dur="500"/>
                                        <p:tgtEl>
                                          <p:spTgt spid="8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reeform 139">
            <a:extLst>
              <a:ext uri="{FF2B5EF4-FFF2-40B4-BE49-F238E27FC236}">
                <a16:creationId xmlns:a16="http://schemas.microsoft.com/office/drawing/2014/main" id="{7B4BCB85-341B-8249-9D39-138AFEC1F999}"/>
              </a:ext>
            </a:extLst>
          </p:cNvPr>
          <p:cNvSpPr>
            <a:spLocks/>
          </p:cNvSpPr>
          <p:nvPr/>
        </p:nvSpPr>
        <p:spPr bwMode="auto">
          <a:xfrm>
            <a:off x="179388" y="3651250"/>
            <a:ext cx="4089400" cy="1355725"/>
          </a:xfrm>
          <a:custGeom>
            <a:avLst/>
            <a:gdLst>
              <a:gd name="T0" fmla="*/ 2147483647 w 2269"/>
              <a:gd name="T1" fmla="*/ 2147483647 h 854"/>
              <a:gd name="T2" fmla="*/ 2147483647 w 2269"/>
              <a:gd name="T3" fmla="*/ 2147483647 h 854"/>
              <a:gd name="T4" fmla="*/ 2147483647 w 2269"/>
              <a:gd name="T5" fmla="*/ 2147483647 h 854"/>
              <a:gd name="T6" fmla="*/ 2147483647 w 2269"/>
              <a:gd name="T7" fmla="*/ 2147483647 h 854"/>
              <a:gd name="T8" fmla="*/ 2147483647 w 2269"/>
              <a:gd name="T9" fmla="*/ 2147483647 h 854"/>
              <a:gd name="T10" fmla="*/ 2147483647 w 2269"/>
              <a:gd name="T11" fmla="*/ 2147483647 h 854"/>
              <a:gd name="T12" fmla="*/ 2147483647 w 2269"/>
              <a:gd name="T13" fmla="*/ 2147483647 h 854"/>
              <a:gd name="T14" fmla="*/ 0 60000 65536"/>
              <a:gd name="T15" fmla="*/ 0 60000 65536"/>
              <a:gd name="T16" fmla="*/ 0 60000 65536"/>
              <a:gd name="T17" fmla="*/ 0 60000 65536"/>
              <a:gd name="T18" fmla="*/ 0 60000 65536"/>
              <a:gd name="T19" fmla="*/ 0 60000 65536"/>
              <a:gd name="T20" fmla="*/ 0 60000 65536"/>
              <a:gd name="T21" fmla="*/ 0 w 2269"/>
              <a:gd name="T22" fmla="*/ 0 h 854"/>
              <a:gd name="T23" fmla="*/ 2269 w 2269"/>
              <a:gd name="T24" fmla="*/ 854 h 8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6259" name="Freeform 29">
            <a:extLst>
              <a:ext uri="{FF2B5EF4-FFF2-40B4-BE49-F238E27FC236}">
                <a16:creationId xmlns:a16="http://schemas.microsoft.com/office/drawing/2014/main" id="{AF0801DD-41CE-2841-BDCD-F2B29A69A261}"/>
              </a:ext>
            </a:extLst>
          </p:cNvPr>
          <p:cNvSpPr>
            <a:spLocks/>
          </p:cNvSpPr>
          <p:nvPr/>
        </p:nvSpPr>
        <p:spPr bwMode="auto">
          <a:xfrm>
            <a:off x="4468813" y="2922588"/>
            <a:ext cx="3738562" cy="2697162"/>
          </a:xfrm>
          <a:custGeom>
            <a:avLst/>
            <a:gdLst>
              <a:gd name="T0" fmla="*/ 2147483647 w 2355"/>
              <a:gd name="T1" fmla="*/ 2147483647 h 1699"/>
              <a:gd name="T2" fmla="*/ 2147483647 w 2355"/>
              <a:gd name="T3" fmla="*/ 2147483647 h 1699"/>
              <a:gd name="T4" fmla="*/ 2147483647 w 2355"/>
              <a:gd name="T5" fmla="*/ 2147483647 h 1699"/>
              <a:gd name="T6" fmla="*/ 2147483647 w 2355"/>
              <a:gd name="T7" fmla="*/ 2147483647 h 1699"/>
              <a:gd name="T8" fmla="*/ 2147483647 w 2355"/>
              <a:gd name="T9" fmla="*/ 2147483647 h 1699"/>
              <a:gd name="T10" fmla="*/ 2147483647 w 2355"/>
              <a:gd name="T11" fmla="*/ 2147483647 h 1699"/>
              <a:gd name="T12" fmla="*/ 2147483647 w 2355"/>
              <a:gd name="T13" fmla="*/ 2147483647 h 1699"/>
              <a:gd name="T14" fmla="*/ 2147483647 w 2355"/>
              <a:gd name="T15" fmla="*/ 2147483647 h 1699"/>
              <a:gd name="T16" fmla="*/ 2147483647 w 2355"/>
              <a:gd name="T17" fmla="*/ 2147483647 h 1699"/>
              <a:gd name="T18" fmla="*/ 2147483647 w 2355"/>
              <a:gd name="T19" fmla="*/ 2147483647 h 1699"/>
              <a:gd name="T20" fmla="*/ 2147483647 w 2355"/>
              <a:gd name="T21" fmla="*/ 2147483647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6260" name="Line 32">
            <a:extLst>
              <a:ext uri="{FF2B5EF4-FFF2-40B4-BE49-F238E27FC236}">
                <a16:creationId xmlns:a16="http://schemas.microsoft.com/office/drawing/2014/main" id="{A226DEC2-7B42-FD43-9E71-48C2E2917AAB}"/>
              </a:ext>
            </a:extLst>
          </p:cNvPr>
          <p:cNvSpPr>
            <a:spLocks noChangeShapeType="1"/>
          </p:cNvSpPr>
          <p:nvPr/>
        </p:nvSpPr>
        <p:spPr bwMode="auto">
          <a:xfrm>
            <a:off x="4583113" y="4244975"/>
            <a:ext cx="6048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261" name="Line 34">
            <a:extLst>
              <a:ext uri="{FF2B5EF4-FFF2-40B4-BE49-F238E27FC236}">
                <a16:creationId xmlns:a16="http://schemas.microsoft.com/office/drawing/2014/main" id="{EC2302BE-3DCA-134E-A546-BEB62F4558E0}"/>
              </a:ext>
            </a:extLst>
          </p:cNvPr>
          <p:cNvSpPr>
            <a:spLocks noChangeShapeType="1"/>
          </p:cNvSpPr>
          <p:nvPr/>
        </p:nvSpPr>
        <p:spPr bwMode="auto">
          <a:xfrm>
            <a:off x="7423150" y="3497263"/>
            <a:ext cx="13335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262" name="Line 35">
            <a:extLst>
              <a:ext uri="{FF2B5EF4-FFF2-40B4-BE49-F238E27FC236}">
                <a16:creationId xmlns:a16="http://schemas.microsoft.com/office/drawing/2014/main" id="{C4003244-E9A2-7244-B4C0-90DA2A5A5466}"/>
              </a:ext>
            </a:extLst>
          </p:cNvPr>
          <p:cNvSpPr>
            <a:spLocks noChangeShapeType="1"/>
          </p:cNvSpPr>
          <p:nvPr/>
        </p:nvSpPr>
        <p:spPr bwMode="auto">
          <a:xfrm flipV="1">
            <a:off x="7429500" y="5002213"/>
            <a:ext cx="171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263" name="Text Box 36">
            <a:extLst>
              <a:ext uri="{FF2B5EF4-FFF2-40B4-BE49-F238E27FC236}">
                <a16:creationId xmlns:a16="http://schemas.microsoft.com/office/drawing/2014/main" id="{A35131CC-BD7E-A44E-879F-F1A186495D3D}"/>
              </a:ext>
            </a:extLst>
          </p:cNvPr>
          <p:cNvSpPr txBox="1">
            <a:spLocks noChangeArrowheads="1"/>
          </p:cNvSpPr>
          <p:nvPr/>
        </p:nvSpPr>
        <p:spPr bwMode="auto">
          <a:xfrm>
            <a:off x="8048625" y="3227388"/>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10.0.0.1</a:t>
            </a:r>
          </a:p>
        </p:txBody>
      </p:sp>
      <p:sp>
        <p:nvSpPr>
          <p:cNvPr id="96264" name="Text Box 37">
            <a:extLst>
              <a:ext uri="{FF2B5EF4-FFF2-40B4-BE49-F238E27FC236}">
                <a16:creationId xmlns:a16="http://schemas.microsoft.com/office/drawing/2014/main" id="{621DF71E-B9C3-0A4E-8F9C-0423AB28B40C}"/>
              </a:ext>
            </a:extLst>
          </p:cNvPr>
          <p:cNvSpPr txBox="1">
            <a:spLocks noChangeArrowheads="1"/>
          </p:cNvSpPr>
          <p:nvPr/>
        </p:nvSpPr>
        <p:spPr bwMode="auto">
          <a:xfrm>
            <a:off x="8175625" y="3995738"/>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10.0.0.2</a:t>
            </a:r>
          </a:p>
        </p:txBody>
      </p:sp>
      <p:sp>
        <p:nvSpPr>
          <p:cNvPr id="96265" name="Text Box 38">
            <a:extLst>
              <a:ext uri="{FF2B5EF4-FFF2-40B4-BE49-F238E27FC236}">
                <a16:creationId xmlns:a16="http://schemas.microsoft.com/office/drawing/2014/main" id="{FF6F17D0-F42C-0749-9371-19DF92CC1FBC}"/>
              </a:ext>
            </a:extLst>
          </p:cNvPr>
          <p:cNvSpPr txBox="1">
            <a:spLocks noChangeArrowheads="1"/>
          </p:cNvSpPr>
          <p:nvPr/>
        </p:nvSpPr>
        <p:spPr bwMode="auto">
          <a:xfrm>
            <a:off x="8137525" y="4891088"/>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10.0.0.3</a:t>
            </a:r>
          </a:p>
        </p:txBody>
      </p:sp>
      <p:grpSp>
        <p:nvGrpSpPr>
          <p:cNvPr id="2" name="Group 88">
            <a:extLst>
              <a:ext uri="{FF2B5EF4-FFF2-40B4-BE49-F238E27FC236}">
                <a16:creationId xmlns:a16="http://schemas.microsoft.com/office/drawing/2014/main" id="{23496C4F-B135-2F44-9217-EC60E416D84F}"/>
              </a:ext>
            </a:extLst>
          </p:cNvPr>
          <p:cNvGrpSpPr>
            <a:grpSpLocks/>
          </p:cNvGrpSpPr>
          <p:nvPr/>
        </p:nvGrpSpPr>
        <p:grpSpPr bwMode="auto">
          <a:xfrm>
            <a:off x="5630863" y="2855913"/>
            <a:ext cx="1871662" cy="1033462"/>
            <a:chOff x="3550" y="2055"/>
            <a:chExt cx="1179" cy="651"/>
          </a:xfrm>
        </p:grpSpPr>
        <p:grpSp>
          <p:nvGrpSpPr>
            <p:cNvPr id="96359" name="Group 50">
              <a:extLst>
                <a:ext uri="{FF2B5EF4-FFF2-40B4-BE49-F238E27FC236}">
                  <a16:creationId xmlns:a16="http://schemas.microsoft.com/office/drawing/2014/main" id="{3DCFD21B-49D7-6342-BCE9-344E2D264259}"/>
                </a:ext>
              </a:extLst>
            </p:cNvPr>
            <p:cNvGrpSpPr>
              <a:grpSpLocks/>
            </p:cNvGrpSpPr>
            <p:nvPr/>
          </p:nvGrpSpPr>
          <p:grpSpPr bwMode="auto">
            <a:xfrm>
              <a:off x="3550" y="2055"/>
              <a:ext cx="1179" cy="357"/>
              <a:chOff x="4381" y="786"/>
              <a:chExt cx="1108" cy="357"/>
            </a:xfrm>
          </p:grpSpPr>
          <p:sp>
            <p:nvSpPr>
              <p:cNvPr id="96364" name="Rectangle 40">
                <a:extLst>
                  <a:ext uri="{FF2B5EF4-FFF2-40B4-BE49-F238E27FC236}">
                    <a16:creationId xmlns:a16="http://schemas.microsoft.com/office/drawing/2014/main" id="{FDE8534F-7629-1249-BC08-D4FC337C1367}"/>
                  </a:ext>
                </a:extLst>
              </p:cNvPr>
              <p:cNvSpPr>
                <a:spLocks noChangeArrowheads="1"/>
              </p:cNvSpPr>
              <p:nvPr/>
            </p:nvSpPr>
            <p:spPr bwMode="auto">
              <a:xfrm>
                <a:off x="4385" y="830"/>
                <a:ext cx="1104" cy="2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65" name="Text Box 39">
                <a:extLst>
                  <a:ext uri="{FF2B5EF4-FFF2-40B4-BE49-F238E27FC236}">
                    <a16:creationId xmlns:a16="http://schemas.microsoft.com/office/drawing/2014/main" id="{D36A37B2-08A2-C14F-9580-9DCD265959A1}"/>
                  </a:ext>
                </a:extLst>
              </p:cNvPr>
              <p:cNvSpPr txBox="1">
                <a:spLocks noChangeArrowheads="1"/>
              </p:cNvSpPr>
              <p:nvPr/>
            </p:nvSpPr>
            <p:spPr bwMode="auto">
              <a:xfrm>
                <a:off x="4381" y="813"/>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S: 10.0.0.1, 3345</a:t>
                </a:r>
              </a:p>
              <a:p>
                <a:r>
                  <a:rPr lang="en-US" altLang="en-US" sz="1200"/>
                  <a:t>D: 128.119.40.186, 80</a:t>
                </a:r>
              </a:p>
            </p:txBody>
          </p:sp>
          <p:grpSp>
            <p:nvGrpSpPr>
              <p:cNvPr id="96366" name="Group 44">
                <a:extLst>
                  <a:ext uri="{FF2B5EF4-FFF2-40B4-BE49-F238E27FC236}">
                    <a16:creationId xmlns:a16="http://schemas.microsoft.com/office/drawing/2014/main" id="{1753CF64-4C83-9440-88C2-D6F539017A57}"/>
                  </a:ext>
                </a:extLst>
              </p:cNvPr>
              <p:cNvGrpSpPr>
                <a:grpSpLocks/>
              </p:cNvGrpSpPr>
              <p:nvPr/>
            </p:nvGrpSpPr>
            <p:grpSpPr bwMode="auto">
              <a:xfrm>
                <a:off x="5394" y="786"/>
                <a:ext cx="48" cy="99"/>
                <a:chOff x="5508" y="1599"/>
                <a:chExt cx="48" cy="99"/>
              </a:xfrm>
            </p:grpSpPr>
            <p:sp>
              <p:nvSpPr>
                <p:cNvPr id="96371" name="Freeform 43">
                  <a:extLst>
                    <a:ext uri="{FF2B5EF4-FFF2-40B4-BE49-F238E27FC236}">
                      <a16:creationId xmlns:a16="http://schemas.microsoft.com/office/drawing/2014/main" id="{3F5149C5-994C-8E46-999F-48BE8BAE49D5}"/>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96372" name="Line 41">
                  <a:extLst>
                    <a:ext uri="{FF2B5EF4-FFF2-40B4-BE49-F238E27FC236}">
                      <a16:creationId xmlns:a16="http://schemas.microsoft.com/office/drawing/2014/main" id="{D9135BC8-FDD0-A04F-959D-026D85212FD2}"/>
                    </a:ext>
                  </a:extLst>
                </p:cNvPr>
                <p:cNvSpPr>
                  <a:spLocks noChangeShapeType="1"/>
                </p:cNvSpPr>
                <p:nvPr/>
              </p:nvSpPr>
              <p:spPr bwMode="auto">
                <a:xfrm flipH="1">
                  <a:off x="5512" y="1608"/>
                  <a:ext cx="22"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73" name="Line 42">
                  <a:extLst>
                    <a:ext uri="{FF2B5EF4-FFF2-40B4-BE49-F238E27FC236}">
                      <a16:creationId xmlns:a16="http://schemas.microsoft.com/office/drawing/2014/main" id="{31AB9260-4B7C-E047-AD3C-EEE0969D3309}"/>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96367" name="Group 45">
                <a:extLst>
                  <a:ext uri="{FF2B5EF4-FFF2-40B4-BE49-F238E27FC236}">
                    <a16:creationId xmlns:a16="http://schemas.microsoft.com/office/drawing/2014/main" id="{9CE7CE5F-D8EC-A149-A63A-08214D8F5A42}"/>
                  </a:ext>
                </a:extLst>
              </p:cNvPr>
              <p:cNvGrpSpPr>
                <a:grpSpLocks/>
              </p:cNvGrpSpPr>
              <p:nvPr/>
            </p:nvGrpSpPr>
            <p:grpSpPr bwMode="auto">
              <a:xfrm>
                <a:off x="5382" y="1044"/>
                <a:ext cx="48" cy="99"/>
                <a:chOff x="5508" y="1599"/>
                <a:chExt cx="48" cy="99"/>
              </a:xfrm>
            </p:grpSpPr>
            <p:sp>
              <p:nvSpPr>
                <p:cNvPr id="96368" name="Freeform 46">
                  <a:extLst>
                    <a:ext uri="{FF2B5EF4-FFF2-40B4-BE49-F238E27FC236}">
                      <a16:creationId xmlns:a16="http://schemas.microsoft.com/office/drawing/2014/main" id="{FC3A49A1-4FAD-244E-AA5A-BD3E7079C3D0}"/>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96369" name="Line 47">
                  <a:extLst>
                    <a:ext uri="{FF2B5EF4-FFF2-40B4-BE49-F238E27FC236}">
                      <a16:creationId xmlns:a16="http://schemas.microsoft.com/office/drawing/2014/main" id="{6C00E21F-CA53-BF49-90F9-40F83B8E82A6}"/>
                    </a:ext>
                  </a:extLst>
                </p:cNvPr>
                <p:cNvSpPr>
                  <a:spLocks noChangeShapeType="1"/>
                </p:cNvSpPr>
                <p:nvPr/>
              </p:nvSpPr>
              <p:spPr bwMode="auto">
                <a:xfrm flipH="1">
                  <a:off x="5512" y="1608"/>
                  <a:ext cx="22"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70" name="Line 48">
                  <a:extLst>
                    <a:ext uri="{FF2B5EF4-FFF2-40B4-BE49-F238E27FC236}">
                      <a16:creationId xmlns:a16="http://schemas.microsoft.com/office/drawing/2014/main" id="{E58A1321-D600-B644-A58B-588500383AFF}"/>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sp>
          <p:nvSpPr>
            <p:cNvPr id="96360" name="Freeform 51">
              <a:extLst>
                <a:ext uri="{FF2B5EF4-FFF2-40B4-BE49-F238E27FC236}">
                  <a16:creationId xmlns:a16="http://schemas.microsoft.com/office/drawing/2014/main" id="{FBF2689A-9092-B04A-BD8A-3B9789BD2201}"/>
                </a:ext>
              </a:extLst>
            </p:cNvPr>
            <p:cNvSpPr>
              <a:spLocks/>
            </p:cNvSpPr>
            <p:nvPr/>
          </p:nvSpPr>
          <p:spPr bwMode="auto">
            <a:xfrm>
              <a:off x="3573" y="2364"/>
              <a:ext cx="564" cy="342"/>
            </a:xfrm>
            <a:custGeom>
              <a:avLst/>
              <a:gdLst>
                <a:gd name="T0" fmla="*/ 0 w 417"/>
                <a:gd name="T1" fmla="*/ 21533 h 264"/>
                <a:gd name="T2" fmla="*/ 70766 w 417"/>
                <a:gd name="T3" fmla="*/ 21533 h 264"/>
                <a:gd name="T4" fmla="*/ 70766 w 417"/>
                <a:gd name="T5" fmla="*/ 0 h 264"/>
                <a:gd name="T6" fmla="*/ 0 60000 65536"/>
                <a:gd name="T7" fmla="*/ 0 60000 65536"/>
                <a:gd name="T8" fmla="*/ 0 60000 65536"/>
                <a:gd name="T9" fmla="*/ 0 w 417"/>
                <a:gd name="T10" fmla="*/ 0 h 264"/>
                <a:gd name="T11" fmla="*/ 417 w 417"/>
                <a:gd name="T12" fmla="*/ 264 h 264"/>
              </a:gdLst>
              <a:ahLst/>
              <a:cxnLst>
                <a:cxn ang="T6">
                  <a:pos x="T0" y="T1"/>
                </a:cxn>
                <a:cxn ang="T7">
                  <a:pos x="T2" y="T3"/>
                </a:cxn>
                <a:cxn ang="T8">
                  <a:pos x="T4" y="T5"/>
                </a:cxn>
              </a:cxnLst>
              <a:rect l="T9" t="T10" r="T11" b="T12"/>
              <a:pathLst>
                <a:path w="417" h="264">
                  <a:moveTo>
                    <a:pt x="0" y="264"/>
                  </a:moveTo>
                  <a:lnTo>
                    <a:pt x="417" y="264"/>
                  </a:lnTo>
                  <a:lnTo>
                    <a:pt x="417" y="0"/>
                  </a:ln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grpSp>
          <p:nvGrpSpPr>
            <p:cNvPr id="96361" name="Group 87">
              <a:extLst>
                <a:ext uri="{FF2B5EF4-FFF2-40B4-BE49-F238E27FC236}">
                  <a16:creationId xmlns:a16="http://schemas.microsoft.com/office/drawing/2014/main" id="{0F4D0638-8F12-694C-806E-7660D530BE13}"/>
                </a:ext>
              </a:extLst>
            </p:cNvPr>
            <p:cNvGrpSpPr>
              <a:grpSpLocks/>
            </p:cNvGrpSpPr>
            <p:nvPr/>
          </p:nvGrpSpPr>
          <p:grpSpPr bwMode="auto">
            <a:xfrm>
              <a:off x="4032" y="2416"/>
              <a:ext cx="218" cy="231"/>
              <a:chOff x="5140" y="400"/>
              <a:chExt cx="218" cy="231"/>
            </a:xfrm>
          </p:grpSpPr>
          <p:sp>
            <p:nvSpPr>
              <p:cNvPr id="96362" name="Oval 86">
                <a:extLst>
                  <a:ext uri="{FF2B5EF4-FFF2-40B4-BE49-F238E27FC236}">
                    <a16:creationId xmlns:a16="http://schemas.microsoft.com/office/drawing/2014/main" id="{23676F2F-F1ED-1046-8A17-1431FFFF15F8}"/>
                  </a:ext>
                </a:extLst>
              </p:cNvPr>
              <p:cNvSpPr>
                <a:spLocks noChangeArrowheads="1"/>
              </p:cNvSpPr>
              <p:nvPr/>
            </p:nvSpPr>
            <p:spPr bwMode="auto">
              <a:xfrm>
                <a:off x="5140" y="410"/>
                <a:ext cx="218" cy="218"/>
              </a:xfrm>
              <a:prstGeom prst="ellipse">
                <a:avLst/>
              </a:prstGeom>
              <a:solidFill>
                <a:schemeClr val="bg1"/>
              </a:solidFill>
              <a:ln w="9525">
                <a:solidFill>
                  <a:srgbClr val="CC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63" name="Text Box 52">
                <a:extLst>
                  <a:ext uri="{FF2B5EF4-FFF2-40B4-BE49-F238E27FC236}">
                    <a16:creationId xmlns:a16="http://schemas.microsoft.com/office/drawing/2014/main" id="{8AC56ED5-BB80-904D-88DE-7EBBF2ABE06E}"/>
                  </a:ext>
                </a:extLst>
              </p:cNvPr>
              <p:cNvSpPr txBox="1">
                <a:spLocks noChangeArrowheads="1"/>
              </p:cNvSpPr>
              <p:nvPr/>
            </p:nvSpPr>
            <p:spPr bwMode="auto">
              <a:xfrm>
                <a:off x="5154" y="4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1</a:t>
                </a:r>
              </a:p>
            </p:txBody>
          </p:sp>
        </p:grpSp>
      </p:grpSp>
      <p:sp>
        <p:nvSpPr>
          <p:cNvPr id="96267" name="Text Box 54">
            <a:extLst>
              <a:ext uri="{FF2B5EF4-FFF2-40B4-BE49-F238E27FC236}">
                <a16:creationId xmlns:a16="http://schemas.microsoft.com/office/drawing/2014/main" id="{BF76C0FF-207D-4741-A5E5-E5D67C0A6C43}"/>
              </a:ext>
            </a:extLst>
          </p:cNvPr>
          <p:cNvSpPr txBox="1">
            <a:spLocks noChangeArrowheads="1"/>
          </p:cNvSpPr>
          <p:nvPr/>
        </p:nvSpPr>
        <p:spPr bwMode="auto">
          <a:xfrm>
            <a:off x="4533900" y="3817938"/>
            <a:ext cx="919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10.0.0.4</a:t>
            </a:r>
          </a:p>
        </p:txBody>
      </p:sp>
      <p:sp>
        <p:nvSpPr>
          <p:cNvPr id="96268" name="Line 55">
            <a:extLst>
              <a:ext uri="{FF2B5EF4-FFF2-40B4-BE49-F238E27FC236}">
                <a16:creationId xmlns:a16="http://schemas.microsoft.com/office/drawing/2014/main" id="{2761D454-4F22-6043-BEE3-B8EFB175D098}"/>
              </a:ext>
            </a:extLst>
          </p:cNvPr>
          <p:cNvSpPr>
            <a:spLocks noChangeShapeType="1"/>
          </p:cNvSpPr>
          <p:nvPr/>
        </p:nvSpPr>
        <p:spPr bwMode="auto">
          <a:xfrm flipH="1">
            <a:off x="4657725" y="4073525"/>
            <a:ext cx="85725" cy="12858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6269" name="Text Box 56">
            <a:extLst>
              <a:ext uri="{FF2B5EF4-FFF2-40B4-BE49-F238E27FC236}">
                <a16:creationId xmlns:a16="http://schemas.microsoft.com/office/drawing/2014/main" id="{5D6D904A-F900-AE46-8C40-3DDA3A2D7AF9}"/>
              </a:ext>
            </a:extLst>
          </p:cNvPr>
          <p:cNvSpPr txBox="1">
            <a:spLocks noChangeArrowheads="1"/>
          </p:cNvSpPr>
          <p:nvPr/>
        </p:nvSpPr>
        <p:spPr bwMode="auto">
          <a:xfrm>
            <a:off x="2695575" y="4375150"/>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138.76.29.7</a:t>
            </a:r>
          </a:p>
        </p:txBody>
      </p:sp>
      <p:sp>
        <p:nvSpPr>
          <p:cNvPr id="96270" name="Line 57">
            <a:extLst>
              <a:ext uri="{FF2B5EF4-FFF2-40B4-BE49-F238E27FC236}">
                <a16:creationId xmlns:a16="http://schemas.microsoft.com/office/drawing/2014/main" id="{6DFAB920-8ED8-254D-AC17-BF39677F6A75}"/>
              </a:ext>
            </a:extLst>
          </p:cNvPr>
          <p:cNvSpPr>
            <a:spLocks noChangeShapeType="1"/>
          </p:cNvSpPr>
          <p:nvPr/>
        </p:nvSpPr>
        <p:spPr bwMode="auto">
          <a:xfrm flipH="1">
            <a:off x="3917950" y="4311650"/>
            <a:ext cx="85725" cy="128588"/>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grpSp>
        <p:nvGrpSpPr>
          <p:cNvPr id="7" name="Group 59">
            <a:extLst>
              <a:ext uri="{FF2B5EF4-FFF2-40B4-BE49-F238E27FC236}">
                <a16:creationId xmlns:a16="http://schemas.microsoft.com/office/drawing/2014/main" id="{5AA46142-C484-4845-99D7-118339E268A1}"/>
              </a:ext>
            </a:extLst>
          </p:cNvPr>
          <p:cNvGrpSpPr>
            <a:grpSpLocks/>
          </p:cNvGrpSpPr>
          <p:nvPr/>
        </p:nvGrpSpPr>
        <p:grpSpPr bwMode="auto">
          <a:xfrm>
            <a:off x="6469063" y="1570038"/>
            <a:ext cx="2433637" cy="1389062"/>
            <a:chOff x="3944" y="989"/>
            <a:chExt cx="1533" cy="875"/>
          </a:xfrm>
        </p:grpSpPr>
        <p:sp>
          <p:nvSpPr>
            <p:cNvPr id="96357" name="Text Box 53">
              <a:extLst>
                <a:ext uri="{FF2B5EF4-FFF2-40B4-BE49-F238E27FC236}">
                  <a16:creationId xmlns:a16="http://schemas.microsoft.com/office/drawing/2014/main" id="{286F15B8-94A2-B243-8B62-61A93121454B}"/>
                </a:ext>
              </a:extLst>
            </p:cNvPr>
            <p:cNvSpPr txBox="1">
              <a:spLocks noChangeArrowheads="1"/>
            </p:cNvSpPr>
            <p:nvPr/>
          </p:nvSpPr>
          <p:spPr bwMode="auto">
            <a:xfrm>
              <a:off x="4121" y="989"/>
              <a:ext cx="1356"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b="1" i="1">
                  <a:solidFill>
                    <a:srgbClr val="CC0000"/>
                  </a:solidFill>
                </a:rPr>
                <a:t>1:</a:t>
              </a:r>
              <a:r>
                <a:rPr lang="en-US" altLang="en-US">
                  <a:solidFill>
                    <a:srgbClr val="FF0000"/>
                  </a:solidFill>
                </a:rPr>
                <a:t> </a:t>
              </a:r>
              <a:r>
                <a:rPr lang="en-US" altLang="en-US">
                  <a:solidFill>
                    <a:srgbClr val="000099"/>
                  </a:solidFill>
                </a:rPr>
                <a:t>host 10.0.0.1 </a:t>
              </a:r>
            </a:p>
            <a:p>
              <a:pPr>
                <a:lnSpc>
                  <a:spcPct val="85000"/>
                </a:lnSpc>
              </a:pPr>
              <a:r>
                <a:rPr lang="en-US" altLang="en-US">
                  <a:solidFill>
                    <a:srgbClr val="000099"/>
                  </a:solidFill>
                </a:rPr>
                <a:t>sends datagram to </a:t>
              </a:r>
            </a:p>
            <a:p>
              <a:pPr>
                <a:lnSpc>
                  <a:spcPct val="85000"/>
                </a:lnSpc>
              </a:pPr>
              <a:r>
                <a:rPr lang="en-US" altLang="en-US">
                  <a:solidFill>
                    <a:srgbClr val="000099"/>
                  </a:solidFill>
                </a:rPr>
                <a:t>128.119.40.186, 80</a:t>
              </a:r>
            </a:p>
          </p:txBody>
        </p:sp>
        <p:sp>
          <p:nvSpPr>
            <p:cNvPr id="96358" name="Line 58">
              <a:extLst>
                <a:ext uri="{FF2B5EF4-FFF2-40B4-BE49-F238E27FC236}">
                  <a16:creationId xmlns:a16="http://schemas.microsoft.com/office/drawing/2014/main" id="{4451EBF1-8865-FB44-8701-AAB0807225AC}"/>
                </a:ext>
              </a:extLst>
            </p:cNvPr>
            <p:cNvSpPr>
              <a:spLocks noChangeShapeType="1"/>
            </p:cNvSpPr>
            <p:nvPr/>
          </p:nvSpPr>
          <p:spPr bwMode="auto">
            <a:xfrm flipH="1">
              <a:off x="3944" y="1105"/>
              <a:ext cx="197" cy="759"/>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96272" name="Freeform 67">
            <a:extLst>
              <a:ext uri="{FF2B5EF4-FFF2-40B4-BE49-F238E27FC236}">
                <a16:creationId xmlns:a16="http://schemas.microsoft.com/office/drawing/2014/main" id="{2CBA70DA-DDAB-874A-980B-56507ACD3385}"/>
              </a:ext>
            </a:extLst>
          </p:cNvPr>
          <p:cNvSpPr>
            <a:spLocks/>
          </p:cNvSpPr>
          <p:nvPr/>
        </p:nvSpPr>
        <p:spPr bwMode="auto">
          <a:xfrm>
            <a:off x="2344738" y="2627313"/>
            <a:ext cx="3862387" cy="1531937"/>
          </a:xfrm>
          <a:custGeom>
            <a:avLst/>
            <a:gdLst>
              <a:gd name="T0" fmla="*/ 0 w 2433"/>
              <a:gd name="T1" fmla="*/ 2147483647 h 965"/>
              <a:gd name="T2" fmla="*/ 2147483647 w 2433"/>
              <a:gd name="T3" fmla="*/ 2147483647 h 965"/>
              <a:gd name="T4" fmla="*/ 2147483647 w 2433"/>
              <a:gd name="T5" fmla="*/ 2147483647 h 965"/>
              <a:gd name="T6" fmla="*/ 2147483647 w 2433"/>
              <a:gd name="T7" fmla="*/ 2147483647 h 965"/>
              <a:gd name="T8" fmla="*/ 2147483647 w 2433"/>
              <a:gd name="T9" fmla="*/ 2147483647 h 965"/>
              <a:gd name="T10" fmla="*/ 2147483647 w 2433"/>
              <a:gd name="T11" fmla="*/ 2147483647 h 965"/>
              <a:gd name="T12" fmla="*/ 0 w 2433"/>
              <a:gd name="T13" fmla="*/ 2147483647 h 965"/>
              <a:gd name="T14" fmla="*/ 0 60000 65536"/>
              <a:gd name="T15" fmla="*/ 0 60000 65536"/>
              <a:gd name="T16" fmla="*/ 0 60000 65536"/>
              <a:gd name="T17" fmla="*/ 0 60000 65536"/>
              <a:gd name="T18" fmla="*/ 0 60000 65536"/>
              <a:gd name="T19" fmla="*/ 0 60000 65536"/>
              <a:gd name="T20" fmla="*/ 0 60000 65536"/>
              <a:gd name="T21" fmla="*/ 0 w 2433"/>
              <a:gd name="T22" fmla="*/ 0 h 965"/>
              <a:gd name="T23" fmla="*/ 2433 w 2433"/>
              <a:gd name="T24" fmla="*/ 965 h 9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33" h="965">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rotWithShape="1">
            <a:gsLst>
              <a:gs pos="0">
                <a:schemeClr val="hlink"/>
              </a:gs>
              <a:gs pos="100000">
                <a:schemeClr val="bg1"/>
              </a:gs>
            </a:gsLst>
            <a:lin ang="5400000" scaled="1"/>
          </a:gradFill>
          <a:ln w="3175" cap="flat" cmpd="sng">
            <a:solidFill>
              <a:schemeClr val="hlink"/>
            </a:solidFill>
            <a:prstDash val="solid"/>
            <a:round/>
            <a:headEnd/>
            <a:tailEnd/>
          </a:ln>
        </p:spPr>
        <p:txBody>
          <a:bodyPr wrap="none"/>
          <a:lstStyle/>
          <a:p>
            <a:endParaRPr lang="en-US"/>
          </a:p>
        </p:txBody>
      </p:sp>
      <p:sp>
        <p:nvSpPr>
          <p:cNvPr id="96273" name="Rectangle 62">
            <a:extLst>
              <a:ext uri="{FF2B5EF4-FFF2-40B4-BE49-F238E27FC236}">
                <a16:creationId xmlns:a16="http://schemas.microsoft.com/office/drawing/2014/main" id="{DD340851-5B1A-3045-96EE-6E843F02809D}"/>
              </a:ext>
            </a:extLst>
          </p:cNvPr>
          <p:cNvSpPr>
            <a:spLocks noChangeArrowheads="1"/>
          </p:cNvSpPr>
          <p:nvPr/>
        </p:nvSpPr>
        <p:spPr bwMode="auto">
          <a:xfrm>
            <a:off x="2344738" y="1374775"/>
            <a:ext cx="3784600" cy="1354138"/>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274" name="Text Box 60">
            <a:extLst>
              <a:ext uri="{FF2B5EF4-FFF2-40B4-BE49-F238E27FC236}">
                <a16:creationId xmlns:a16="http://schemas.microsoft.com/office/drawing/2014/main" id="{2C8C111D-30E6-C941-B61D-0299B5659EE2}"/>
              </a:ext>
            </a:extLst>
          </p:cNvPr>
          <p:cNvSpPr txBox="1">
            <a:spLocks noChangeArrowheads="1"/>
          </p:cNvSpPr>
          <p:nvPr/>
        </p:nvSpPr>
        <p:spPr bwMode="auto">
          <a:xfrm>
            <a:off x="2386013" y="1419225"/>
            <a:ext cx="3676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t>NAT translation table</a:t>
            </a:r>
          </a:p>
          <a:p>
            <a:pPr algn="ctr"/>
            <a:r>
              <a:rPr lang="en-US" altLang="en-US"/>
              <a:t>WAN side addr        LAN side addr</a:t>
            </a:r>
          </a:p>
        </p:txBody>
      </p:sp>
      <p:sp>
        <p:nvSpPr>
          <p:cNvPr id="96275" name="Line 63">
            <a:extLst>
              <a:ext uri="{FF2B5EF4-FFF2-40B4-BE49-F238E27FC236}">
                <a16:creationId xmlns:a16="http://schemas.microsoft.com/office/drawing/2014/main" id="{98F4EBEA-D813-BD4B-A935-62BE00886523}"/>
              </a:ext>
            </a:extLst>
          </p:cNvPr>
          <p:cNvSpPr>
            <a:spLocks noChangeShapeType="1"/>
          </p:cNvSpPr>
          <p:nvPr/>
        </p:nvSpPr>
        <p:spPr bwMode="auto">
          <a:xfrm flipV="1">
            <a:off x="2344738" y="1747838"/>
            <a:ext cx="3790950" cy="11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276" name="Line 64">
            <a:extLst>
              <a:ext uri="{FF2B5EF4-FFF2-40B4-BE49-F238E27FC236}">
                <a16:creationId xmlns:a16="http://schemas.microsoft.com/office/drawing/2014/main" id="{9E911A52-923B-D140-BBF8-7EE902739664}"/>
              </a:ext>
            </a:extLst>
          </p:cNvPr>
          <p:cNvSpPr>
            <a:spLocks noChangeShapeType="1"/>
          </p:cNvSpPr>
          <p:nvPr/>
        </p:nvSpPr>
        <p:spPr bwMode="auto">
          <a:xfrm flipV="1">
            <a:off x="2359025" y="2025650"/>
            <a:ext cx="3749675" cy="11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277" name="Line 65">
            <a:extLst>
              <a:ext uri="{FF2B5EF4-FFF2-40B4-BE49-F238E27FC236}">
                <a16:creationId xmlns:a16="http://schemas.microsoft.com/office/drawing/2014/main" id="{6916C410-503D-6C41-B200-373D78F42227}"/>
              </a:ext>
            </a:extLst>
          </p:cNvPr>
          <p:cNvSpPr>
            <a:spLocks noChangeShapeType="1"/>
          </p:cNvSpPr>
          <p:nvPr/>
        </p:nvSpPr>
        <p:spPr bwMode="auto">
          <a:xfrm>
            <a:off x="4468813" y="1770063"/>
            <a:ext cx="3175" cy="955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33533" name="Text Box 61">
            <a:extLst>
              <a:ext uri="{FF2B5EF4-FFF2-40B4-BE49-F238E27FC236}">
                <a16:creationId xmlns:a16="http://schemas.microsoft.com/office/drawing/2014/main" id="{93C7343F-7630-B44B-A863-C8CF1F6D320D}"/>
              </a:ext>
            </a:extLst>
          </p:cNvPr>
          <p:cNvSpPr txBox="1">
            <a:spLocks noChangeArrowheads="1"/>
          </p:cNvSpPr>
          <p:nvPr/>
        </p:nvSpPr>
        <p:spPr bwMode="auto">
          <a:xfrm>
            <a:off x="2401888" y="2044700"/>
            <a:ext cx="3702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a:solidFill>
                  <a:srgbClr val="CC0000"/>
                </a:solidFill>
              </a:rPr>
              <a:t>138.76.29.7, 5001   10.0.0.1, 3345</a:t>
            </a:r>
          </a:p>
          <a:p>
            <a:pPr algn="ctr"/>
            <a:r>
              <a:rPr lang="en-US" altLang="en-US"/>
              <a:t>……                                         ……</a:t>
            </a:r>
          </a:p>
        </p:txBody>
      </p:sp>
      <p:grpSp>
        <p:nvGrpSpPr>
          <p:cNvPr id="8" name="Group 135">
            <a:extLst>
              <a:ext uri="{FF2B5EF4-FFF2-40B4-BE49-F238E27FC236}">
                <a16:creationId xmlns:a16="http://schemas.microsoft.com/office/drawing/2014/main" id="{69D94A5A-BB54-7C4B-8650-2F8DAF9262F0}"/>
              </a:ext>
            </a:extLst>
          </p:cNvPr>
          <p:cNvGrpSpPr>
            <a:grpSpLocks/>
          </p:cNvGrpSpPr>
          <p:nvPr/>
        </p:nvGrpSpPr>
        <p:grpSpPr bwMode="auto">
          <a:xfrm>
            <a:off x="4765675" y="3435350"/>
            <a:ext cx="2784475" cy="1631950"/>
            <a:chOff x="3002" y="2417"/>
            <a:chExt cx="1754" cy="1028"/>
          </a:xfrm>
        </p:grpSpPr>
        <p:sp>
          <p:nvSpPr>
            <p:cNvPr id="96343" name="Rectangle 91">
              <a:extLst>
                <a:ext uri="{FF2B5EF4-FFF2-40B4-BE49-F238E27FC236}">
                  <a16:creationId xmlns:a16="http://schemas.microsoft.com/office/drawing/2014/main" id="{B582B584-A61E-604B-9874-FADE25E29112}"/>
                </a:ext>
              </a:extLst>
            </p:cNvPr>
            <p:cNvSpPr>
              <a:spLocks noChangeArrowheads="1"/>
            </p:cNvSpPr>
            <p:nvPr/>
          </p:nvSpPr>
          <p:spPr bwMode="auto">
            <a:xfrm>
              <a:off x="3002" y="3051"/>
              <a:ext cx="1175" cy="2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44" name="Text Box 92">
              <a:extLst>
                <a:ext uri="{FF2B5EF4-FFF2-40B4-BE49-F238E27FC236}">
                  <a16:creationId xmlns:a16="http://schemas.microsoft.com/office/drawing/2014/main" id="{358C776C-DBCE-B740-8F06-9D98FDD456C4}"/>
                </a:ext>
              </a:extLst>
            </p:cNvPr>
            <p:cNvSpPr txBox="1">
              <a:spLocks noChangeArrowheads="1"/>
            </p:cNvSpPr>
            <p:nvPr/>
          </p:nvSpPr>
          <p:spPr bwMode="auto">
            <a:xfrm>
              <a:off x="3104" y="3042"/>
              <a:ext cx="111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S: 128.119.40.186, 80 </a:t>
              </a:r>
            </a:p>
            <a:p>
              <a:r>
                <a:rPr lang="en-US" altLang="en-US" sz="1200"/>
                <a:t>D: 10.0.0.1, 3345</a:t>
              </a:r>
            </a:p>
            <a:p>
              <a:endParaRPr lang="en-US" altLang="en-US" sz="1200"/>
            </a:p>
          </p:txBody>
        </p:sp>
        <p:grpSp>
          <p:nvGrpSpPr>
            <p:cNvPr id="96345" name="Group 93">
              <a:extLst>
                <a:ext uri="{FF2B5EF4-FFF2-40B4-BE49-F238E27FC236}">
                  <a16:creationId xmlns:a16="http://schemas.microsoft.com/office/drawing/2014/main" id="{F1BC083A-F6EB-5243-B816-EA627711EAB5}"/>
                </a:ext>
              </a:extLst>
            </p:cNvPr>
            <p:cNvGrpSpPr>
              <a:grpSpLocks/>
            </p:cNvGrpSpPr>
            <p:nvPr/>
          </p:nvGrpSpPr>
          <p:grpSpPr bwMode="auto">
            <a:xfrm>
              <a:off x="3054" y="3007"/>
              <a:ext cx="51" cy="99"/>
              <a:chOff x="5508" y="1599"/>
              <a:chExt cx="48" cy="99"/>
            </a:xfrm>
          </p:grpSpPr>
          <p:sp>
            <p:nvSpPr>
              <p:cNvPr id="96354" name="Freeform 94">
                <a:extLst>
                  <a:ext uri="{FF2B5EF4-FFF2-40B4-BE49-F238E27FC236}">
                    <a16:creationId xmlns:a16="http://schemas.microsoft.com/office/drawing/2014/main" id="{C39DEF73-E848-0140-891F-F431A91E4BE8}"/>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96355" name="Line 95">
                <a:extLst>
                  <a:ext uri="{FF2B5EF4-FFF2-40B4-BE49-F238E27FC236}">
                    <a16:creationId xmlns:a16="http://schemas.microsoft.com/office/drawing/2014/main" id="{2C38D48F-64F6-5D44-9905-1E37B8C46D4F}"/>
                  </a:ext>
                </a:extLst>
              </p:cNvPr>
              <p:cNvSpPr>
                <a:spLocks noChangeShapeType="1"/>
              </p:cNvSpPr>
              <p:nvPr/>
            </p:nvSpPr>
            <p:spPr bwMode="auto">
              <a:xfrm flipH="1">
                <a:off x="5512" y="1608"/>
                <a:ext cx="22"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56" name="Line 96">
                <a:extLst>
                  <a:ext uri="{FF2B5EF4-FFF2-40B4-BE49-F238E27FC236}">
                    <a16:creationId xmlns:a16="http://schemas.microsoft.com/office/drawing/2014/main" id="{3BDB11CD-2034-2942-A034-17D8049CDF69}"/>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96346" name="Group 97">
              <a:extLst>
                <a:ext uri="{FF2B5EF4-FFF2-40B4-BE49-F238E27FC236}">
                  <a16:creationId xmlns:a16="http://schemas.microsoft.com/office/drawing/2014/main" id="{06A995A0-2E3D-5F4E-951F-062E5685F3AE}"/>
                </a:ext>
              </a:extLst>
            </p:cNvPr>
            <p:cNvGrpSpPr>
              <a:grpSpLocks/>
            </p:cNvGrpSpPr>
            <p:nvPr/>
          </p:nvGrpSpPr>
          <p:grpSpPr bwMode="auto">
            <a:xfrm>
              <a:off x="3059" y="3248"/>
              <a:ext cx="51" cy="99"/>
              <a:chOff x="5508" y="1599"/>
              <a:chExt cx="48" cy="99"/>
            </a:xfrm>
          </p:grpSpPr>
          <p:sp>
            <p:nvSpPr>
              <p:cNvPr id="96351" name="Freeform 98">
                <a:extLst>
                  <a:ext uri="{FF2B5EF4-FFF2-40B4-BE49-F238E27FC236}">
                    <a16:creationId xmlns:a16="http://schemas.microsoft.com/office/drawing/2014/main" id="{1929CCD9-09CA-9A4D-9855-8480BB1BFA80}"/>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96352" name="Line 99">
                <a:extLst>
                  <a:ext uri="{FF2B5EF4-FFF2-40B4-BE49-F238E27FC236}">
                    <a16:creationId xmlns:a16="http://schemas.microsoft.com/office/drawing/2014/main" id="{0D6FB8C1-F9CD-FE42-A72D-AC5712249205}"/>
                  </a:ext>
                </a:extLst>
              </p:cNvPr>
              <p:cNvSpPr>
                <a:spLocks noChangeShapeType="1"/>
              </p:cNvSpPr>
              <p:nvPr/>
            </p:nvSpPr>
            <p:spPr bwMode="auto">
              <a:xfrm flipH="1">
                <a:off x="5512" y="1608"/>
                <a:ext cx="22"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53" name="Line 100">
                <a:extLst>
                  <a:ext uri="{FF2B5EF4-FFF2-40B4-BE49-F238E27FC236}">
                    <a16:creationId xmlns:a16="http://schemas.microsoft.com/office/drawing/2014/main" id="{24DC8C44-91CB-FE4E-8A1D-3603EB2B0772}"/>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96347" name="Freeform 101">
              <a:extLst>
                <a:ext uri="{FF2B5EF4-FFF2-40B4-BE49-F238E27FC236}">
                  <a16:creationId xmlns:a16="http://schemas.microsoft.com/office/drawing/2014/main" id="{95EB78E9-F118-3D4D-95D5-7A4E16B79223}"/>
                </a:ext>
              </a:extLst>
            </p:cNvPr>
            <p:cNvSpPr>
              <a:spLocks/>
            </p:cNvSpPr>
            <p:nvPr/>
          </p:nvSpPr>
          <p:spPr bwMode="auto">
            <a:xfrm>
              <a:off x="4179" y="2417"/>
              <a:ext cx="577" cy="768"/>
            </a:xfrm>
            <a:custGeom>
              <a:avLst/>
              <a:gdLst>
                <a:gd name="T0" fmla="*/ 577 w 577"/>
                <a:gd name="T1" fmla="*/ 0 h 768"/>
                <a:gd name="T2" fmla="*/ 342 w 577"/>
                <a:gd name="T3" fmla="*/ 0 h 768"/>
                <a:gd name="T4" fmla="*/ 342 w 577"/>
                <a:gd name="T5" fmla="*/ 768 h 768"/>
                <a:gd name="T6" fmla="*/ 0 w 577"/>
                <a:gd name="T7" fmla="*/ 760 h 768"/>
                <a:gd name="T8" fmla="*/ 0 60000 65536"/>
                <a:gd name="T9" fmla="*/ 0 60000 65536"/>
                <a:gd name="T10" fmla="*/ 0 60000 65536"/>
                <a:gd name="T11" fmla="*/ 0 60000 65536"/>
                <a:gd name="T12" fmla="*/ 0 w 577"/>
                <a:gd name="T13" fmla="*/ 0 h 768"/>
                <a:gd name="T14" fmla="*/ 577 w 577"/>
                <a:gd name="T15" fmla="*/ 768 h 768"/>
              </a:gdLst>
              <a:ahLst/>
              <a:cxnLst>
                <a:cxn ang="T8">
                  <a:pos x="T0" y="T1"/>
                </a:cxn>
                <a:cxn ang="T9">
                  <a:pos x="T2" y="T3"/>
                </a:cxn>
                <a:cxn ang="T10">
                  <a:pos x="T4" y="T5"/>
                </a:cxn>
                <a:cxn ang="T11">
                  <a:pos x="T6" y="T7"/>
                </a:cxn>
              </a:cxnLst>
              <a:rect l="T12" t="T13" r="T14" b="T15"/>
              <a:pathLst>
                <a:path w="577" h="768">
                  <a:moveTo>
                    <a:pt x="577" y="0"/>
                  </a:moveTo>
                  <a:lnTo>
                    <a:pt x="342" y="0"/>
                  </a:lnTo>
                  <a:lnTo>
                    <a:pt x="342" y="768"/>
                  </a:lnTo>
                  <a:lnTo>
                    <a:pt x="0" y="760"/>
                  </a:lnTo>
                </a:path>
              </a:pathLst>
            </a:custGeom>
            <a:noFill/>
            <a:ln w="2857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grpSp>
          <p:nvGrpSpPr>
            <p:cNvPr id="96348" name="Group 102">
              <a:extLst>
                <a:ext uri="{FF2B5EF4-FFF2-40B4-BE49-F238E27FC236}">
                  <a16:creationId xmlns:a16="http://schemas.microsoft.com/office/drawing/2014/main" id="{AD45A3E9-4674-284D-8B61-C5F8CF732539}"/>
                </a:ext>
              </a:extLst>
            </p:cNvPr>
            <p:cNvGrpSpPr>
              <a:grpSpLocks/>
            </p:cNvGrpSpPr>
            <p:nvPr/>
          </p:nvGrpSpPr>
          <p:grpSpPr bwMode="auto">
            <a:xfrm>
              <a:off x="4240" y="3061"/>
              <a:ext cx="218" cy="231"/>
              <a:chOff x="5140" y="400"/>
              <a:chExt cx="218" cy="231"/>
            </a:xfrm>
          </p:grpSpPr>
          <p:sp>
            <p:nvSpPr>
              <p:cNvPr id="96349" name="Oval 103">
                <a:extLst>
                  <a:ext uri="{FF2B5EF4-FFF2-40B4-BE49-F238E27FC236}">
                    <a16:creationId xmlns:a16="http://schemas.microsoft.com/office/drawing/2014/main" id="{2C06EC1E-855D-4B41-812B-42896C629316}"/>
                  </a:ext>
                </a:extLst>
              </p:cNvPr>
              <p:cNvSpPr>
                <a:spLocks noChangeArrowheads="1"/>
              </p:cNvSpPr>
              <p:nvPr/>
            </p:nvSpPr>
            <p:spPr bwMode="auto">
              <a:xfrm>
                <a:off x="5140" y="410"/>
                <a:ext cx="218" cy="218"/>
              </a:xfrm>
              <a:prstGeom prst="ellipse">
                <a:avLst/>
              </a:prstGeom>
              <a:solidFill>
                <a:schemeClr val="bg1"/>
              </a:solidFill>
              <a:ln w="9525">
                <a:solidFill>
                  <a:srgbClr val="CC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50" name="Text Box 104">
                <a:extLst>
                  <a:ext uri="{FF2B5EF4-FFF2-40B4-BE49-F238E27FC236}">
                    <a16:creationId xmlns:a16="http://schemas.microsoft.com/office/drawing/2014/main" id="{DB4A26EC-95DD-2144-809B-9D41AC1525FB}"/>
                  </a:ext>
                </a:extLst>
              </p:cNvPr>
              <p:cNvSpPr txBox="1">
                <a:spLocks noChangeArrowheads="1"/>
              </p:cNvSpPr>
              <p:nvPr/>
            </p:nvSpPr>
            <p:spPr bwMode="auto">
              <a:xfrm>
                <a:off x="5154" y="4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4</a:t>
                </a:r>
              </a:p>
            </p:txBody>
          </p:sp>
        </p:grpSp>
      </p:grpSp>
      <p:grpSp>
        <p:nvGrpSpPr>
          <p:cNvPr id="12" name="Group 108">
            <a:extLst>
              <a:ext uri="{FF2B5EF4-FFF2-40B4-BE49-F238E27FC236}">
                <a16:creationId xmlns:a16="http://schemas.microsoft.com/office/drawing/2014/main" id="{7955DAB7-4AAB-374B-8614-CF8EEAD4D8A7}"/>
              </a:ext>
            </a:extLst>
          </p:cNvPr>
          <p:cNvGrpSpPr>
            <a:grpSpLocks/>
          </p:cNvGrpSpPr>
          <p:nvPr/>
        </p:nvGrpSpPr>
        <p:grpSpPr bwMode="auto">
          <a:xfrm>
            <a:off x="1531938" y="3652838"/>
            <a:ext cx="2497137" cy="566737"/>
            <a:chOff x="1026" y="3559"/>
            <a:chExt cx="1573" cy="357"/>
          </a:xfrm>
        </p:grpSpPr>
        <p:grpSp>
          <p:nvGrpSpPr>
            <p:cNvPr id="96328" name="Group 68">
              <a:extLst>
                <a:ext uri="{FF2B5EF4-FFF2-40B4-BE49-F238E27FC236}">
                  <a16:creationId xmlns:a16="http://schemas.microsoft.com/office/drawing/2014/main" id="{D68952FE-1164-5641-97E5-0F9FCDE81DDF}"/>
                </a:ext>
              </a:extLst>
            </p:cNvPr>
            <p:cNvGrpSpPr>
              <a:grpSpLocks/>
            </p:cNvGrpSpPr>
            <p:nvPr/>
          </p:nvGrpSpPr>
          <p:grpSpPr bwMode="auto">
            <a:xfrm>
              <a:off x="1412" y="3559"/>
              <a:ext cx="1187" cy="357"/>
              <a:chOff x="4381" y="786"/>
              <a:chExt cx="1108" cy="357"/>
            </a:xfrm>
          </p:grpSpPr>
          <p:sp>
            <p:nvSpPr>
              <p:cNvPr id="96333" name="Rectangle 69">
                <a:extLst>
                  <a:ext uri="{FF2B5EF4-FFF2-40B4-BE49-F238E27FC236}">
                    <a16:creationId xmlns:a16="http://schemas.microsoft.com/office/drawing/2014/main" id="{009B07CC-C1E8-F241-8FC2-C8FA8BF29EB7}"/>
                  </a:ext>
                </a:extLst>
              </p:cNvPr>
              <p:cNvSpPr>
                <a:spLocks noChangeArrowheads="1"/>
              </p:cNvSpPr>
              <p:nvPr/>
            </p:nvSpPr>
            <p:spPr bwMode="auto">
              <a:xfrm>
                <a:off x="4385" y="830"/>
                <a:ext cx="1104" cy="2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34" name="Text Box 70">
                <a:extLst>
                  <a:ext uri="{FF2B5EF4-FFF2-40B4-BE49-F238E27FC236}">
                    <a16:creationId xmlns:a16="http://schemas.microsoft.com/office/drawing/2014/main" id="{3C4E99CD-B59F-2148-93D3-3B616CEBE16D}"/>
                  </a:ext>
                </a:extLst>
              </p:cNvPr>
              <p:cNvSpPr txBox="1">
                <a:spLocks noChangeArrowheads="1"/>
              </p:cNvSpPr>
              <p:nvPr/>
            </p:nvSpPr>
            <p:spPr bwMode="auto">
              <a:xfrm>
                <a:off x="4381" y="813"/>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S: 138.76.29.7, 5001</a:t>
                </a:r>
              </a:p>
              <a:p>
                <a:r>
                  <a:rPr lang="en-US" altLang="en-US" sz="1200"/>
                  <a:t>D: 128.119.40.186, 80</a:t>
                </a:r>
              </a:p>
            </p:txBody>
          </p:sp>
          <p:grpSp>
            <p:nvGrpSpPr>
              <p:cNvPr id="96335" name="Group 71">
                <a:extLst>
                  <a:ext uri="{FF2B5EF4-FFF2-40B4-BE49-F238E27FC236}">
                    <a16:creationId xmlns:a16="http://schemas.microsoft.com/office/drawing/2014/main" id="{FBA183AF-EC55-6947-B7C0-8A7533369D3B}"/>
                  </a:ext>
                </a:extLst>
              </p:cNvPr>
              <p:cNvGrpSpPr>
                <a:grpSpLocks/>
              </p:cNvGrpSpPr>
              <p:nvPr/>
            </p:nvGrpSpPr>
            <p:grpSpPr bwMode="auto">
              <a:xfrm>
                <a:off x="5394" y="786"/>
                <a:ext cx="48" cy="99"/>
                <a:chOff x="5508" y="1599"/>
                <a:chExt cx="48" cy="99"/>
              </a:xfrm>
            </p:grpSpPr>
            <p:sp>
              <p:nvSpPr>
                <p:cNvPr id="96340" name="Freeform 72">
                  <a:extLst>
                    <a:ext uri="{FF2B5EF4-FFF2-40B4-BE49-F238E27FC236}">
                      <a16:creationId xmlns:a16="http://schemas.microsoft.com/office/drawing/2014/main" id="{93064635-8B7A-C54C-A546-7F74F87BE6DC}"/>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96341" name="Line 73">
                  <a:extLst>
                    <a:ext uri="{FF2B5EF4-FFF2-40B4-BE49-F238E27FC236}">
                      <a16:creationId xmlns:a16="http://schemas.microsoft.com/office/drawing/2014/main" id="{C31933D3-7AD7-9F4A-A082-7F99524AA849}"/>
                    </a:ext>
                  </a:extLst>
                </p:cNvPr>
                <p:cNvSpPr>
                  <a:spLocks noChangeShapeType="1"/>
                </p:cNvSpPr>
                <p:nvPr/>
              </p:nvSpPr>
              <p:spPr bwMode="auto">
                <a:xfrm flipH="1">
                  <a:off x="5512" y="1608"/>
                  <a:ext cx="21"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42" name="Line 74">
                  <a:extLst>
                    <a:ext uri="{FF2B5EF4-FFF2-40B4-BE49-F238E27FC236}">
                      <a16:creationId xmlns:a16="http://schemas.microsoft.com/office/drawing/2014/main" id="{7246ED4F-FF25-4A43-A283-EE710B19FBBD}"/>
                    </a:ext>
                  </a:extLst>
                </p:cNvPr>
                <p:cNvSpPr>
                  <a:spLocks noChangeShapeType="1"/>
                </p:cNvSpPr>
                <p:nvPr/>
              </p:nvSpPr>
              <p:spPr bwMode="auto">
                <a:xfrm flipH="1">
                  <a:off x="5536" y="1620"/>
                  <a:ext cx="21"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96336" name="Group 75">
                <a:extLst>
                  <a:ext uri="{FF2B5EF4-FFF2-40B4-BE49-F238E27FC236}">
                    <a16:creationId xmlns:a16="http://schemas.microsoft.com/office/drawing/2014/main" id="{E7AB7E3D-B7A6-214B-BC93-7D30D7DD1A18}"/>
                  </a:ext>
                </a:extLst>
              </p:cNvPr>
              <p:cNvGrpSpPr>
                <a:grpSpLocks/>
              </p:cNvGrpSpPr>
              <p:nvPr/>
            </p:nvGrpSpPr>
            <p:grpSpPr bwMode="auto">
              <a:xfrm>
                <a:off x="5382" y="1044"/>
                <a:ext cx="48" cy="99"/>
                <a:chOff x="5508" y="1599"/>
                <a:chExt cx="48" cy="99"/>
              </a:xfrm>
            </p:grpSpPr>
            <p:sp>
              <p:nvSpPr>
                <p:cNvPr id="96337" name="Freeform 76">
                  <a:extLst>
                    <a:ext uri="{FF2B5EF4-FFF2-40B4-BE49-F238E27FC236}">
                      <a16:creationId xmlns:a16="http://schemas.microsoft.com/office/drawing/2014/main" id="{04DFDAFF-B748-E749-8DB6-2FB8E3596C05}"/>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96338" name="Line 77">
                  <a:extLst>
                    <a:ext uri="{FF2B5EF4-FFF2-40B4-BE49-F238E27FC236}">
                      <a16:creationId xmlns:a16="http://schemas.microsoft.com/office/drawing/2014/main" id="{B19F9813-2DBF-5842-8076-6E92F87C6E03}"/>
                    </a:ext>
                  </a:extLst>
                </p:cNvPr>
                <p:cNvSpPr>
                  <a:spLocks noChangeShapeType="1"/>
                </p:cNvSpPr>
                <p:nvPr/>
              </p:nvSpPr>
              <p:spPr bwMode="auto">
                <a:xfrm flipH="1">
                  <a:off x="5510" y="1608"/>
                  <a:ext cx="21"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39" name="Line 78">
                  <a:extLst>
                    <a:ext uri="{FF2B5EF4-FFF2-40B4-BE49-F238E27FC236}">
                      <a16:creationId xmlns:a16="http://schemas.microsoft.com/office/drawing/2014/main" id="{A5553438-1564-C144-8A06-BBF06AC6FF74}"/>
                    </a:ext>
                  </a:extLst>
                </p:cNvPr>
                <p:cNvSpPr>
                  <a:spLocks noChangeShapeType="1"/>
                </p:cNvSpPr>
                <p:nvPr/>
              </p:nvSpPr>
              <p:spPr bwMode="auto">
                <a:xfrm flipH="1">
                  <a:off x="5536" y="1620"/>
                  <a:ext cx="21"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sp>
          <p:nvSpPr>
            <p:cNvPr id="96329" name="Line 79">
              <a:extLst>
                <a:ext uri="{FF2B5EF4-FFF2-40B4-BE49-F238E27FC236}">
                  <a16:creationId xmlns:a16="http://schemas.microsoft.com/office/drawing/2014/main" id="{3F8AA8C3-E93E-3340-8423-896CAD93B29F}"/>
                </a:ext>
              </a:extLst>
            </p:cNvPr>
            <p:cNvSpPr>
              <a:spLocks noChangeShapeType="1"/>
            </p:cNvSpPr>
            <p:nvPr/>
          </p:nvSpPr>
          <p:spPr bwMode="auto">
            <a:xfrm flipH="1">
              <a:off x="1026" y="3729"/>
              <a:ext cx="37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96330" name="Group 105">
              <a:extLst>
                <a:ext uri="{FF2B5EF4-FFF2-40B4-BE49-F238E27FC236}">
                  <a16:creationId xmlns:a16="http://schemas.microsoft.com/office/drawing/2014/main" id="{3332EA51-F400-4E40-8B7B-4F1C6D42F240}"/>
                </a:ext>
              </a:extLst>
            </p:cNvPr>
            <p:cNvGrpSpPr>
              <a:grpSpLocks/>
            </p:cNvGrpSpPr>
            <p:nvPr/>
          </p:nvGrpSpPr>
          <p:grpSpPr bwMode="auto">
            <a:xfrm>
              <a:off x="1143" y="3613"/>
              <a:ext cx="218" cy="231"/>
              <a:chOff x="5140" y="400"/>
              <a:chExt cx="218" cy="231"/>
            </a:xfrm>
          </p:grpSpPr>
          <p:sp>
            <p:nvSpPr>
              <p:cNvPr id="96331" name="Oval 106">
                <a:extLst>
                  <a:ext uri="{FF2B5EF4-FFF2-40B4-BE49-F238E27FC236}">
                    <a16:creationId xmlns:a16="http://schemas.microsoft.com/office/drawing/2014/main" id="{5DE80225-52EA-9544-A949-8ECF7F619387}"/>
                  </a:ext>
                </a:extLst>
              </p:cNvPr>
              <p:cNvSpPr>
                <a:spLocks noChangeArrowheads="1"/>
              </p:cNvSpPr>
              <p:nvPr/>
            </p:nvSpPr>
            <p:spPr bwMode="auto">
              <a:xfrm>
                <a:off x="5140" y="410"/>
                <a:ext cx="218" cy="218"/>
              </a:xfrm>
              <a:prstGeom prst="ellipse">
                <a:avLst/>
              </a:prstGeom>
              <a:solidFill>
                <a:schemeClr val="bg1"/>
              </a:solidFill>
              <a:ln w="9525">
                <a:solidFill>
                  <a:srgbClr val="FF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32" name="Text Box 107">
                <a:extLst>
                  <a:ext uri="{FF2B5EF4-FFF2-40B4-BE49-F238E27FC236}">
                    <a16:creationId xmlns:a16="http://schemas.microsoft.com/office/drawing/2014/main" id="{AF0050BB-EFCD-E142-97E7-CCA26141A2B9}"/>
                  </a:ext>
                </a:extLst>
              </p:cNvPr>
              <p:cNvSpPr txBox="1">
                <a:spLocks noChangeArrowheads="1"/>
              </p:cNvSpPr>
              <p:nvPr/>
            </p:nvSpPr>
            <p:spPr bwMode="auto">
              <a:xfrm>
                <a:off x="5154" y="4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2</a:t>
                </a:r>
              </a:p>
            </p:txBody>
          </p:sp>
        </p:grpSp>
      </p:grpSp>
      <p:grpSp>
        <p:nvGrpSpPr>
          <p:cNvPr id="17" name="Group 112">
            <a:extLst>
              <a:ext uri="{FF2B5EF4-FFF2-40B4-BE49-F238E27FC236}">
                <a16:creationId xmlns:a16="http://schemas.microsoft.com/office/drawing/2014/main" id="{E2065AAD-18D2-124C-8E84-6CAC1C802C1F}"/>
              </a:ext>
            </a:extLst>
          </p:cNvPr>
          <p:cNvGrpSpPr>
            <a:grpSpLocks/>
          </p:cNvGrpSpPr>
          <p:nvPr/>
        </p:nvGrpSpPr>
        <p:grpSpPr bwMode="auto">
          <a:xfrm>
            <a:off x="0" y="1671638"/>
            <a:ext cx="5154613" cy="2052637"/>
            <a:chOff x="0" y="1306"/>
            <a:chExt cx="3247" cy="1293"/>
          </a:xfrm>
        </p:grpSpPr>
        <p:sp>
          <p:nvSpPr>
            <p:cNvPr id="96324" name="Text Box 82">
              <a:extLst>
                <a:ext uri="{FF2B5EF4-FFF2-40B4-BE49-F238E27FC236}">
                  <a16:creationId xmlns:a16="http://schemas.microsoft.com/office/drawing/2014/main" id="{53892DBC-E57F-5642-B239-46350AC3692F}"/>
                </a:ext>
              </a:extLst>
            </p:cNvPr>
            <p:cNvSpPr txBox="1">
              <a:spLocks noChangeArrowheads="1"/>
            </p:cNvSpPr>
            <p:nvPr/>
          </p:nvSpPr>
          <p:spPr bwMode="auto">
            <a:xfrm>
              <a:off x="0" y="1306"/>
              <a:ext cx="1316" cy="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b="1" i="1">
                  <a:solidFill>
                    <a:srgbClr val="CC0000"/>
                  </a:solidFill>
                </a:rPr>
                <a:t>2:</a:t>
              </a:r>
              <a:r>
                <a:rPr lang="en-US" altLang="en-US">
                  <a:solidFill>
                    <a:srgbClr val="FF0000"/>
                  </a:solidFill>
                </a:rPr>
                <a:t> </a:t>
              </a:r>
              <a:r>
                <a:rPr lang="en-US" altLang="en-US">
                  <a:solidFill>
                    <a:srgbClr val="000099"/>
                  </a:solidFill>
                </a:rPr>
                <a:t>NAT router</a:t>
              </a:r>
            </a:p>
            <a:p>
              <a:pPr>
                <a:lnSpc>
                  <a:spcPct val="85000"/>
                </a:lnSpc>
              </a:pPr>
              <a:r>
                <a:rPr lang="en-US" altLang="en-US">
                  <a:solidFill>
                    <a:srgbClr val="000099"/>
                  </a:solidFill>
                </a:rPr>
                <a:t>changes datagram</a:t>
              </a:r>
            </a:p>
            <a:p>
              <a:pPr>
                <a:lnSpc>
                  <a:spcPct val="85000"/>
                </a:lnSpc>
              </a:pPr>
              <a:r>
                <a:rPr lang="en-US" altLang="en-US">
                  <a:solidFill>
                    <a:srgbClr val="000099"/>
                  </a:solidFill>
                </a:rPr>
                <a:t>source addr from</a:t>
              </a:r>
            </a:p>
            <a:p>
              <a:pPr>
                <a:lnSpc>
                  <a:spcPct val="85000"/>
                </a:lnSpc>
              </a:pPr>
              <a:r>
                <a:rPr lang="en-US" altLang="en-US">
                  <a:solidFill>
                    <a:srgbClr val="000099"/>
                  </a:solidFill>
                </a:rPr>
                <a:t>10.0.0.1, 3345 to</a:t>
              </a:r>
            </a:p>
            <a:p>
              <a:pPr>
                <a:lnSpc>
                  <a:spcPct val="85000"/>
                </a:lnSpc>
              </a:pPr>
              <a:r>
                <a:rPr lang="en-US" altLang="en-US">
                  <a:solidFill>
                    <a:srgbClr val="000099"/>
                  </a:solidFill>
                </a:rPr>
                <a:t>138.76.29.7, 5001,</a:t>
              </a:r>
            </a:p>
            <a:p>
              <a:pPr>
                <a:lnSpc>
                  <a:spcPct val="85000"/>
                </a:lnSpc>
              </a:pPr>
              <a:r>
                <a:rPr lang="en-US" altLang="en-US">
                  <a:solidFill>
                    <a:srgbClr val="000099"/>
                  </a:solidFill>
                </a:rPr>
                <a:t>updates table</a:t>
              </a:r>
            </a:p>
          </p:txBody>
        </p:sp>
        <p:sp>
          <p:nvSpPr>
            <p:cNvPr id="96325" name="Line 83">
              <a:extLst>
                <a:ext uri="{FF2B5EF4-FFF2-40B4-BE49-F238E27FC236}">
                  <a16:creationId xmlns:a16="http://schemas.microsoft.com/office/drawing/2014/main" id="{946A4437-B145-6245-94BA-A41336718453}"/>
                </a:ext>
              </a:extLst>
            </p:cNvPr>
            <p:cNvSpPr>
              <a:spLocks noChangeShapeType="1"/>
            </p:cNvSpPr>
            <p:nvPr/>
          </p:nvSpPr>
          <p:spPr bwMode="auto">
            <a:xfrm>
              <a:off x="1285" y="2243"/>
              <a:ext cx="147" cy="356"/>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26" name="Line 110">
              <a:extLst>
                <a:ext uri="{FF2B5EF4-FFF2-40B4-BE49-F238E27FC236}">
                  <a16:creationId xmlns:a16="http://schemas.microsoft.com/office/drawing/2014/main" id="{5B0D7292-77C2-BC4A-978D-2360A7EE9631}"/>
                </a:ext>
              </a:extLst>
            </p:cNvPr>
            <p:cNvSpPr>
              <a:spLocks noChangeShapeType="1"/>
            </p:cNvSpPr>
            <p:nvPr/>
          </p:nvSpPr>
          <p:spPr bwMode="auto">
            <a:xfrm flipV="1">
              <a:off x="1275" y="1788"/>
              <a:ext cx="663" cy="455"/>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27" name="Line 111">
              <a:extLst>
                <a:ext uri="{FF2B5EF4-FFF2-40B4-BE49-F238E27FC236}">
                  <a16:creationId xmlns:a16="http://schemas.microsoft.com/office/drawing/2014/main" id="{3BF100C9-03FF-8A41-A83D-4BC33DD4084A}"/>
                </a:ext>
              </a:extLst>
            </p:cNvPr>
            <p:cNvSpPr>
              <a:spLocks noChangeShapeType="1"/>
            </p:cNvSpPr>
            <p:nvPr/>
          </p:nvSpPr>
          <p:spPr bwMode="auto">
            <a:xfrm flipV="1">
              <a:off x="1275" y="1751"/>
              <a:ext cx="1972" cy="491"/>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8" name="Group 129">
            <a:extLst>
              <a:ext uri="{FF2B5EF4-FFF2-40B4-BE49-F238E27FC236}">
                <a16:creationId xmlns:a16="http://schemas.microsoft.com/office/drawing/2014/main" id="{F72C2A8A-A115-D642-B28E-CA529C2C7DFA}"/>
              </a:ext>
            </a:extLst>
          </p:cNvPr>
          <p:cNvGrpSpPr>
            <a:grpSpLocks/>
          </p:cNvGrpSpPr>
          <p:nvPr/>
        </p:nvGrpSpPr>
        <p:grpSpPr bwMode="auto">
          <a:xfrm>
            <a:off x="1360488" y="4681538"/>
            <a:ext cx="2471737" cy="696912"/>
            <a:chOff x="1163" y="3752"/>
            <a:chExt cx="1557" cy="439"/>
          </a:xfrm>
        </p:grpSpPr>
        <p:sp>
          <p:nvSpPr>
            <p:cNvPr id="96310" name="Rectangle 115">
              <a:extLst>
                <a:ext uri="{FF2B5EF4-FFF2-40B4-BE49-F238E27FC236}">
                  <a16:creationId xmlns:a16="http://schemas.microsoft.com/office/drawing/2014/main" id="{6AAF5790-3167-3041-9AAB-023B9DED88D9}"/>
                </a:ext>
              </a:extLst>
            </p:cNvPr>
            <p:cNvSpPr>
              <a:spLocks noChangeArrowheads="1"/>
            </p:cNvSpPr>
            <p:nvPr/>
          </p:nvSpPr>
          <p:spPr bwMode="auto">
            <a:xfrm>
              <a:off x="1163" y="3796"/>
              <a:ext cx="1183" cy="256"/>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11" name="Text Box 116">
              <a:extLst>
                <a:ext uri="{FF2B5EF4-FFF2-40B4-BE49-F238E27FC236}">
                  <a16:creationId xmlns:a16="http://schemas.microsoft.com/office/drawing/2014/main" id="{7BAAA0B4-3882-DE44-906F-444CE5AADD71}"/>
                </a:ext>
              </a:extLst>
            </p:cNvPr>
            <p:cNvSpPr txBox="1">
              <a:spLocks noChangeArrowheads="1"/>
            </p:cNvSpPr>
            <p:nvPr/>
          </p:nvSpPr>
          <p:spPr bwMode="auto">
            <a:xfrm>
              <a:off x="1281" y="3788"/>
              <a:ext cx="112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t>S: 128.119.40.186, 80 </a:t>
              </a:r>
            </a:p>
            <a:p>
              <a:r>
                <a:rPr lang="en-US" altLang="en-US" sz="1200"/>
                <a:t>D: 138.76.29.7, 5001</a:t>
              </a:r>
            </a:p>
            <a:p>
              <a:endParaRPr lang="en-US" altLang="en-US" sz="1200"/>
            </a:p>
          </p:txBody>
        </p:sp>
        <p:grpSp>
          <p:nvGrpSpPr>
            <p:cNvPr id="96312" name="Group 117">
              <a:extLst>
                <a:ext uri="{FF2B5EF4-FFF2-40B4-BE49-F238E27FC236}">
                  <a16:creationId xmlns:a16="http://schemas.microsoft.com/office/drawing/2014/main" id="{1A3B2D00-362F-0A4C-85C5-4A59D30980FC}"/>
                </a:ext>
              </a:extLst>
            </p:cNvPr>
            <p:cNvGrpSpPr>
              <a:grpSpLocks/>
            </p:cNvGrpSpPr>
            <p:nvPr/>
          </p:nvGrpSpPr>
          <p:grpSpPr bwMode="auto">
            <a:xfrm>
              <a:off x="1214" y="3752"/>
              <a:ext cx="52" cy="99"/>
              <a:chOff x="5508" y="1599"/>
              <a:chExt cx="48" cy="99"/>
            </a:xfrm>
          </p:grpSpPr>
          <p:sp>
            <p:nvSpPr>
              <p:cNvPr id="96321" name="Freeform 118">
                <a:extLst>
                  <a:ext uri="{FF2B5EF4-FFF2-40B4-BE49-F238E27FC236}">
                    <a16:creationId xmlns:a16="http://schemas.microsoft.com/office/drawing/2014/main" id="{00ECB758-05B3-1F42-9D87-0D203469F96B}"/>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96322" name="Line 119">
                <a:extLst>
                  <a:ext uri="{FF2B5EF4-FFF2-40B4-BE49-F238E27FC236}">
                    <a16:creationId xmlns:a16="http://schemas.microsoft.com/office/drawing/2014/main" id="{4CE2551F-2115-084D-9A15-79AA2D599263}"/>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23" name="Line 120">
                <a:extLst>
                  <a:ext uri="{FF2B5EF4-FFF2-40B4-BE49-F238E27FC236}">
                    <a16:creationId xmlns:a16="http://schemas.microsoft.com/office/drawing/2014/main" id="{52DA6C75-40D7-7E49-BE4B-7083044EF346}"/>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96313" name="Group 121">
              <a:extLst>
                <a:ext uri="{FF2B5EF4-FFF2-40B4-BE49-F238E27FC236}">
                  <a16:creationId xmlns:a16="http://schemas.microsoft.com/office/drawing/2014/main" id="{60F33362-E2F3-4445-84A0-1100A25E938E}"/>
                </a:ext>
              </a:extLst>
            </p:cNvPr>
            <p:cNvGrpSpPr>
              <a:grpSpLocks/>
            </p:cNvGrpSpPr>
            <p:nvPr/>
          </p:nvGrpSpPr>
          <p:grpSpPr bwMode="auto">
            <a:xfrm>
              <a:off x="1193" y="3984"/>
              <a:ext cx="52" cy="99"/>
              <a:chOff x="5508" y="1599"/>
              <a:chExt cx="48" cy="99"/>
            </a:xfrm>
          </p:grpSpPr>
          <p:sp>
            <p:nvSpPr>
              <p:cNvPr id="96318" name="Freeform 122">
                <a:extLst>
                  <a:ext uri="{FF2B5EF4-FFF2-40B4-BE49-F238E27FC236}">
                    <a16:creationId xmlns:a16="http://schemas.microsoft.com/office/drawing/2014/main" id="{462D8DD9-3E18-C646-8FF8-857CF03CAF94}"/>
                  </a:ext>
                </a:extLst>
              </p:cNvPr>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96319" name="Line 123">
                <a:extLst>
                  <a:ext uri="{FF2B5EF4-FFF2-40B4-BE49-F238E27FC236}">
                    <a16:creationId xmlns:a16="http://schemas.microsoft.com/office/drawing/2014/main" id="{46A739D8-B3F5-964B-8744-3BAA253F8F79}"/>
                  </a:ext>
                </a:extLst>
              </p:cNvPr>
              <p:cNvSpPr>
                <a:spLocks noChangeShapeType="1"/>
              </p:cNvSpPr>
              <p:nvPr/>
            </p:nvSpPr>
            <p:spPr bwMode="auto">
              <a:xfrm flipH="1">
                <a:off x="5512" y="1608"/>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320" name="Line 124">
                <a:extLst>
                  <a:ext uri="{FF2B5EF4-FFF2-40B4-BE49-F238E27FC236}">
                    <a16:creationId xmlns:a16="http://schemas.microsoft.com/office/drawing/2014/main" id="{6A22FF1E-2C7D-354C-96FE-DC5B7B507C67}"/>
                  </a:ext>
                </a:extLst>
              </p:cNvPr>
              <p:cNvSpPr>
                <a:spLocks noChangeShapeType="1"/>
              </p:cNvSpPr>
              <p:nvPr/>
            </p:nvSpPr>
            <p:spPr bwMode="auto">
              <a:xfrm flipH="1">
                <a:off x="5536" y="1620"/>
                <a:ext cx="20" cy="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96314" name="Line 125">
              <a:extLst>
                <a:ext uri="{FF2B5EF4-FFF2-40B4-BE49-F238E27FC236}">
                  <a16:creationId xmlns:a16="http://schemas.microsoft.com/office/drawing/2014/main" id="{E86F61BA-6060-3A42-89B9-54C7E9CA24A5}"/>
                </a:ext>
              </a:extLst>
            </p:cNvPr>
            <p:cNvSpPr>
              <a:spLocks noChangeShapeType="1"/>
            </p:cNvSpPr>
            <p:nvPr/>
          </p:nvSpPr>
          <p:spPr bwMode="auto">
            <a:xfrm flipH="1">
              <a:off x="2344" y="3931"/>
              <a:ext cx="37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grpSp>
          <p:nvGrpSpPr>
            <p:cNvPr id="96315" name="Group 126">
              <a:extLst>
                <a:ext uri="{FF2B5EF4-FFF2-40B4-BE49-F238E27FC236}">
                  <a16:creationId xmlns:a16="http://schemas.microsoft.com/office/drawing/2014/main" id="{DA653198-A77C-7A47-8CCD-CA7A7B939240}"/>
                </a:ext>
              </a:extLst>
            </p:cNvPr>
            <p:cNvGrpSpPr>
              <a:grpSpLocks/>
            </p:cNvGrpSpPr>
            <p:nvPr/>
          </p:nvGrpSpPr>
          <p:grpSpPr bwMode="auto">
            <a:xfrm>
              <a:off x="2409" y="3815"/>
              <a:ext cx="218" cy="231"/>
              <a:chOff x="5140" y="400"/>
              <a:chExt cx="218" cy="231"/>
            </a:xfrm>
          </p:grpSpPr>
          <p:sp>
            <p:nvSpPr>
              <p:cNvPr id="96316" name="Oval 127">
                <a:extLst>
                  <a:ext uri="{FF2B5EF4-FFF2-40B4-BE49-F238E27FC236}">
                    <a16:creationId xmlns:a16="http://schemas.microsoft.com/office/drawing/2014/main" id="{4DF27024-416D-9247-9EC0-D0D363DE5578}"/>
                  </a:ext>
                </a:extLst>
              </p:cNvPr>
              <p:cNvSpPr>
                <a:spLocks noChangeArrowheads="1"/>
              </p:cNvSpPr>
              <p:nvPr/>
            </p:nvSpPr>
            <p:spPr bwMode="auto">
              <a:xfrm>
                <a:off x="5140" y="410"/>
                <a:ext cx="218" cy="218"/>
              </a:xfrm>
              <a:prstGeom prst="ellipse">
                <a:avLst/>
              </a:prstGeom>
              <a:solidFill>
                <a:schemeClr val="bg1"/>
              </a:solidFill>
              <a:ln w="9525">
                <a:solidFill>
                  <a:srgbClr val="CC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96317" name="Text Box 128">
                <a:extLst>
                  <a:ext uri="{FF2B5EF4-FFF2-40B4-BE49-F238E27FC236}">
                    <a16:creationId xmlns:a16="http://schemas.microsoft.com/office/drawing/2014/main" id="{78887165-807B-C343-8410-10D1FDC51C1B}"/>
                  </a:ext>
                </a:extLst>
              </p:cNvPr>
              <p:cNvSpPr txBox="1">
                <a:spLocks noChangeArrowheads="1"/>
              </p:cNvSpPr>
              <p:nvPr/>
            </p:nvSpPr>
            <p:spPr bwMode="auto">
              <a:xfrm>
                <a:off x="5154" y="40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solidFill>
                      <a:srgbClr val="CC0000"/>
                    </a:solidFill>
                  </a:rPr>
                  <a:t>3</a:t>
                </a:r>
              </a:p>
            </p:txBody>
          </p:sp>
        </p:grpSp>
      </p:grpSp>
      <p:sp>
        <p:nvSpPr>
          <p:cNvPr id="233603" name="Text Box 131">
            <a:extLst>
              <a:ext uri="{FF2B5EF4-FFF2-40B4-BE49-F238E27FC236}">
                <a16:creationId xmlns:a16="http://schemas.microsoft.com/office/drawing/2014/main" id="{F4C5F345-4D58-E749-BB9F-2C011C9C5C32}"/>
              </a:ext>
            </a:extLst>
          </p:cNvPr>
          <p:cNvSpPr txBox="1">
            <a:spLocks noChangeArrowheads="1"/>
          </p:cNvSpPr>
          <p:nvPr/>
        </p:nvSpPr>
        <p:spPr bwMode="auto">
          <a:xfrm>
            <a:off x="1317625" y="5170488"/>
            <a:ext cx="20891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b="1" i="1">
                <a:solidFill>
                  <a:srgbClr val="CC0000"/>
                </a:solidFill>
              </a:rPr>
              <a:t>3:</a:t>
            </a:r>
            <a:r>
              <a:rPr lang="en-US" altLang="en-US">
                <a:solidFill>
                  <a:srgbClr val="FF0000"/>
                </a:solidFill>
              </a:rPr>
              <a:t> </a:t>
            </a:r>
            <a:r>
              <a:rPr lang="en-US" altLang="en-US">
                <a:solidFill>
                  <a:srgbClr val="000099"/>
                </a:solidFill>
              </a:rPr>
              <a:t>reply arrives</a:t>
            </a:r>
          </a:p>
          <a:p>
            <a:pPr>
              <a:lnSpc>
                <a:spcPct val="85000"/>
              </a:lnSpc>
            </a:pPr>
            <a:r>
              <a:rPr lang="en-US" altLang="en-US">
                <a:solidFill>
                  <a:srgbClr val="000099"/>
                </a:solidFill>
              </a:rPr>
              <a:t> dest. address:</a:t>
            </a:r>
          </a:p>
          <a:p>
            <a:pPr>
              <a:lnSpc>
                <a:spcPct val="85000"/>
              </a:lnSpc>
            </a:pPr>
            <a:r>
              <a:rPr lang="en-US" altLang="en-US">
                <a:solidFill>
                  <a:srgbClr val="000099"/>
                </a:solidFill>
              </a:rPr>
              <a:t> 138.76.29.7, 5001</a:t>
            </a:r>
          </a:p>
        </p:txBody>
      </p:sp>
      <p:sp>
        <p:nvSpPr>
          <p:cNvPr id="233608" name="Text Box 136">
            <a:extLst>
              <a:ext uri="{FF2B5EF4-FFF2-40B4-BE49-F238E27FC236}">
                <a16:creationId xmlns:a16="http://schemas.microsoft.com/office/drawing/2014/main" id="{21CD6BE5-6424-5840-9400-3E6DC22D0D9E}"/>
              </a:ext>
            </a:extLst>
          </p:cNvPr>
          <p:cNvSpPr txBox="1">
            <a:spLocks noChangeArrowheads="1"/>
          </p:cNvSpPr>
          <p:nvPr/>
        </p:nvSpPr>
        <p:spPr bwMode="auto">
          <a:xfrm>
            <a:off x="4741863" y="5005388"/>
            <a:ext cx="3867150"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b="1" i="1">
                <a:solidFill>
                  <a:srgbClr val="CC0000"/>
                </a:solidFill>
              </a:rPr>
              <a:t>4:</a:t>
            </a:r>
            <a:r>
              <a:rPr lang="en-US" altLang="en-US">
                <a:solidFill>
                  <a:srgbClr val="FF0000"/>
                </a:solidFill>
              </a:rPr>
              <a:t> </a:t>
            </a:r>
            <a:r>
              <a:rPr lang="en-US" altLang="en-US">
                <a:solidFill>
                  <a:srgbClr val="000099"/>
                </a:solidFill>
              </a:rPr>
              <a:t>NAT router</a:t>
            </a:r>
          </a:p>
          <a:p>
            <a:pPr>
              <a:lnSpc>
                <a:spcPct val="85000"/>
              </a:lnSpc>
            </a:pPr>
            <a:r>
              <a:rPr lang="en-US" altLang="en-US">
                <a:solidFill>
                  <a:srgbClr val="000099"/>
                </a:solidFill>
              </a:rPr>
              <a:t>changes datagram</a:t>
            </a:r>
          </a:p>
          <a:p>
            <a:pPr>
              <a:lnSpc>
                <a:spcPct val="85000"/>
              </a:lnSpc>
            </a:pPr>
            <a:r>
              <a:rPr lang="en-US" altLang="en-US">
                <a:solidFill>
                  <a:srgbClr val="000099"/>
                </a:solidFill>
              </a:rPr>
              <a:t>dest addr from</a:t>
            </a:r>
          </a:p>
          <a:p>
            <a:pPr>
              <a:lnSpc>
                <a:spcPct val="85000"/>
              </a:lnSpc>
            </a:pPr>
            <a:r>
              <a:rPr lang="en-US" altLang="en-US">
                <a:solidFill>
                  <a:srgbClr val="000099"/>
                </a:solidFill>
              </a:rPr>
              <a:t>138.76.29.7, 5001 to 10.0.0.1, 3345 </a:t>
            </a:r>
          </a:p>
          <a:p>
            <a:endParaRPr lang="en-US" altLang="en-US">
              <a:solidFill>
                <a:srgbClr val="000099"/>
              </a:solidFill>
            </a:endParaRPr>
          </a:p>
        </p:txBody>
      </p:sp>
      <p:sp>
        <p:nvSpPr>
          <p:cNvPr id="96285" name="Line 138">
            <a:extLst>
              <a:ext uri="{FF2B5EF4-FFF2-40B4-BE49-F238E27FC236}">
                <a16:creationId xmlns:a16="http://schemas.microsoft.com/office/drawing/2014/main" id="{9E3C27C2-BC25-3942-812E-FB6CA1B5CF01}"/>
              </a:ext>
            </a:extLst>
          </p:cNvPr>
          <p:cNvSpPr>
            <a:spLocks noChangeShapeType="1"/>
          </p:cNvSpPr>
          <p:nvPr/>
        </p:nvSpPr>
        <p:spPr bwMode="auto">
          <a:xfrm>
            <a:off x="1022350" y="4273550"/>
            <a:ext cx="302577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59425" name="Rectangle 141">
            <a:extLst>
              <a:ext uri="{FF2B5EF4-FFF2-40B4-BE49-F238E27FC236}">
                <a16:creationId xmlns:a16="http://schemas.microsoft.com/office/drawing/2014/main" id="{E0ACD579-22CB-2541-8B47-C53B22E63204}"/>
              </a:ext>
            </a:extLst>
          </p:cNvPr>
          <p:cNvSpPr>
            <a:spLocks noGrp="1" noChangeArrowheads="1"/>
          </p:cNvSpPr>
          <p:nvPr>
            <p:ph type="title"/>
          </p:nvPr>
        </p:nvSpPr>
        <p:spPr>
          <a:xfrm>
            <a:off x="533400" y="230188"/>
            <a:ext cx="8091488" cy="908050"/>
          </a:xfrm>
        </p:spPr>
        <p:txBody>
          <a:bodyPr/>
          <a:lstStyle/>
          <a:p>
            <a:pPr>
              <a:defRPr/>
            </a:pPr>
            <a:r>
              <a:rPr lang="en-US">
                <a:cs typeface="+mj-cs"/>
              </a:rPr>
              <a:t>NAT: network address translation</a:t>
            </a:r>
          </a:p>
        </p:txBody>
      </p:sp>
      <p:pic>
        <p:nvPicPr>
          <p:cNvPr id="96287" name="Picture 142" descr="underline_base">
            <a:extLst>
              <a:ext uri="{FF2B5EF4-FFF2-40B4-BE49-F238E27FC236}">
                <a16:creationId xmlns:a16="http://schemas.microsoft.com/office/drawing/2014/main" id="{DC9BDA90-5B4A-BB4E-8956-ECA9C3CAE46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88" y="922338"/>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6288" name="Group 143">
            <a:extLst>
              <a:ext uri="{FF2B5EF4-FFF2-40B4-BE49-F238E27FC236}">
                <a16:creationId xmlns:a16="http://schemas.microsoft.com/office/drawing/2014/main" id="{4ACA01A0-036E-D848-8C09-E944575E9A0D}"/>
              </a:ext>
            </a:extLst>
          </p:cNvPr>
          <p:cNvGrpSpPr>
            <a:grpSpLocks/>
          </p:cNvGrpSpPr>
          <p:nvPr/>
        </p:nvGrpSpPr>
        <p:grpSpPr bwMode="auto">
          <a:xfrm>
            <a:off x="4035425" y="4095750"/>
            <a:ext cx="587375" cy="323850"/>
            <a:chOff x="4396" y="1245"/>
            <a:chExt cx="672" cy="248"/>
          </a:xfrm>
        </p:grpSpPr>
        <p:sp>
          <p:nvSpPr>
            <p:cNvPr id="96302" name="Oval 407">
              <a:extLst>
                <a:ext uri="{FF2B5EF4-FFF2-40B4-BE49-F238E27FC236}">
                  <a16:creationId xmlns:a16="http://schemas.microsoft.com/office/drawing/2014/main" id="{10FB2571-FCF7-E341-9AB1-850BA30930B3}"/>
                </a:ext>
              </a:extLst>
            </p:cNvPr>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96303" name="Rectangle 410">
              <a:extLst>
                <a:ext uri="{FF2B5EF4-FFF2-40B4-BE49-F238E27FC236}">
                  <a16:creationId xmlns:a16="http://schemas.microsoft.com/office/drawing/2014/main" id="{76A92FB1-ECE7-4446-AA9E-9179E47FF133}"/>
                </a:ext>
              </a:extLst>
            </p:cNvPr>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sz="2400">
                <a:latin typeface="Times New Roman" panose="02020603050405020304" pitchFamily="18" charset="0"/>
                <a:cs typeface="Arial" panose="020B0604020202020204" pitchFamily="34" charset="0"/>
              </a:endParaRPr>
            </a:p>
          </p:txBody>
        </p:sp>
        <p:sp>
          <p:nvSpPr>
            <p:cNvPr id="96304" name="Oval 411">
              <a:extLst>
                <a:ext uri="{FF2B5EF4-FFF2-40B4-BE49-F238E27FC236}">
                  <a16:creationId xmlns:a16="http://schemas.microsoft.com/office/drawing/2014/main" id="{5B994288-6ACD-FB43-BC0E-0B702824AA9F}"/>
                </a:ext>
              </a:extLst>
            </p:cNvPr>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grpSp>
          <p:nvGrpSpPr>
            <p:cNvPr id="96305" name="Group 147">
              <a:extLst>
                <a:ext uri="{FF2B5EF4-FFF2-40B4-BE49-F238E27FC236}">
                  <a16:creationId xmlns:a16="http://schemas.microsoft.com/office/drawing/2014/main" id="{11D761A8-D9D4-1743-93F2-1C284B09316D}"/>
                </a:ext>
              </a:extLst>
            </p:cNvPr>
            <p:cNvGrpSpPr>
              <a:grpSpLocks/>
            </p:cNvGrpSpPr>
            <p:nvPr/>
          </p:nvGrpSpPr>
          <p:grpSpPr bwMode="auto">
            <a:xfrm>
              <a:off x="4530" y="1287"/>
              <a:ext cx="377" cy="75"/>
              <a:chOff x="2468" y="1332"/>
              <a:chExt cx="310" cy="60"/>
            </a:xfrm>
          </p:grpSpPr>
          <p:sp>
            <p:nvSpPr>
              <p:cNvPr id="96308" name="Freeform 148">
                <a:extLst>
                  <a:ext uri="{FF2B5EF4-FFF2-40B4-BE49-F238E27FC236}">
                    <a16:creationId xmlns:a16="http://schemas.microsoft.com/office/drawing/2014/main" id="{7C9EA43F-1C84-A84F-AC69-DA7DD2D23560}"/>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309" name="Freeform 149">
                <a:extLst>
                  <a:ext uri="{FF2B5EF4-FFF2-40B4-BE49-F238E27FC236}">
                    <a16:creationId xmlns:a16="http://schemas.microsoft.com/office/drawing/2014/main" id="{6885D9C0-2B84-D74F-8E03-A376BCE4B15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96306" name="Line 150">
              <a:extLst>
                <a:ext uri="{FF2B5EF4-FFF2-40B4-BE49-F238E27FC236}">
                  <a16:creationId xmlns:a16="http://schemas.microsoft.com/office/drawing/2014/main" id="{561E3D00-3E3E-AA43-8048-4BC2DEBF5822}"/>
                </a:ext>
              </a:extLst>
            </p:cNvPr>
            <p:cNvSpPr>
              <a:spLocks noChangeShapeType="1"/>
            </p:cNvSpPr>
            <p:nvPr/>
          </p:nvSpPr>
          <p:spPr bwMode="auto">
            <a:xfrm>
              <a:off x="4400" y="1322"/>
              <a:ext cx="0" cy="10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7" name="Line 151">
              <a:extLst>
                <a:ext uri="{FF2B5EF4-FFF2-40B4-BE49-F238E27FC236}">
                  <a16:creationId xmlns:a16="http://schemas.microsoft.com/office/drawing/2014/main" id="{318A8D63-08B6-6C40-B857-7DCCA584548C}"/>
                </a:ext>
              </a:extLst>
            </p:cNvPr>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6289" name="Group 156">
            <a:extLst>
              <a:ext uri="{FF2B5EF4-FFF2-40B4-BE49-F238E27FC236}">
                <a16:creationId xmlns:a16="http://schemas.microsoft.com/office/drawing/2014/main" id="{6E3E69B3-DB99-FE48-A99B-FE9DEE3CFA84}"/>
              </a:ext>
            </a:extLst>
          </p:cNvPr>
          <p:cNvGrpSpPr>
            <a:grpSpLocks/>
          </p:cNvGrpSpPr>
          <p:nvPr/>
        </p:nvGrpSpPr>
        <p:grpSpPr bwMode="auto">
          <a:xfrm flipH="1">
            <a:off x="7529513" y="3311525"/>
            <a:ext cx="641350" cy="558800"/>
            <a:chOff x="-44" y="1473"/>
            <a:chExt cx="981" cy="1105"/>
          </a:xfrm>
        </p:grpSpPr>
        <p:pic>
          <p:nvPicPr>
            <p:cNvPr id="96300" name="Picture 157" descr="desktop_computer_stylized_medium">
              <a:extLst>
                <a:ext uri="{FF2B5EF4-FFF2-40B4-BE49-F238E27FC236}">
                  <a16:creationId xmlns:a16="http://schemas.microsoft.com/office/drawing/2014/main" id="{30D870B2-50D7-8E4B-9B76-939E0ED198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301" name="Freeform 158">
              <a:extLst>
                <a:ext uri="{FF2B5EF4-FFF2-40B4-BE49-F238E27FC236}">
                  <a16:creationId xmlns:a16="http://schemas.microsoft.com/office/drawing/2014/main" id="{5A0EE8DA-0915-7143-8F7E-255639F1E714}"/>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6290" name="Group 159">
            <a:extLst>
              <a:ext uri="{FF2B5EF4-FFF2-40B4-BE49-F238E27FC236}">
                <a16:creationId xmlns:a16="http://schemas.microsoft.com/office/drawing/2014/main" id="{54705A8A-F0DF-C649-B2CD-DC8082D4C542}"/>
              </a:ext>
            </a:extLst>
          </p:cNvPr>
          <p:cNvGrpSpPr>
            <a:grpSpLocks/>
          </p:cNvGrpSpPr>
          <p:nvPr/>
        </p:nvGrpSpPr>
        <p:grpSpPr bwMode="auto">
          <a:xfrm flipH="1">
            <a:off x="7540625" y="4054475"/>
            <a:ext cx="641350" cy="558800"/>
            <a:chOff x="-44" y="1473"/>
            <a:chExt cx="981" cy="1105"/>
          </a:xfrm>
        </p:grpSpPr>
        <p:pic>
          <p:nvPicPr>
            <p:cNvPr id="96298" name="Picture 160" descr="desktop_computer_stylized_medium">
              <a:extLst>
                <a:ext uri="{FF2B5EF4-FFF2-40B4-BE49-F238E27FC236}">
                  <a16:creationId xmlns:a16="http://schemas.microsoft.com/office/drawing/2014/main" id="{F02A83B8-C4F9-674F-84D9-61959CBCA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99" name="Freeform 161">
              <a:extLst>
                <a:ext uri="{FF2B5EF4-FFF2-40B4-BE49-F238E27FC236}">
                  <a16:creationId xmlns:a16="http://schemas.microsoft.com/office/drawing/2014/main" id="{F5943140-2E37-3A40-9C3F-143378566F1A}"/>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6291" name="Group 162">
            <a:extLst>
              <a:ext uri="{FF2B5EF4-FFF2-40B4-BE49-F238E27FC236}">
                <a16:creationId xmlns:a16="http://schemas.microsoft.com/office/drawing/2014/main" id="{EC9E0BDE-1F96-D34E-91CA-A6085BA653E6}"/>
              </a:ext>
            </a:extLst>
          </p:cNvPr>
          <p:cNvGrpSpPr>
            <a:grpSpLocks/>
          </p:cNvGrpSpPr>
          <p:nvPr/>
        </p:nvGrpSpPr>
        <p:grpSpPr bwMode="auto">
          <a:xfrm flipH="1">
            <a:off x="7548563" y="4808538"/>
            <a:ext cx="641350" cy="558800"/>
            <a:chOff x="-44" y="1473"/>
            <a:chExt cx="981" cy="1105"/>
          </a:xfrm>
        </p:grpSpPr>
        <p:pic>
          <p:nvPicPr>
            <p:cNvPr id="96296" name="Picture 163" descr="desktop_computer_stylized_medium">
              <a:extLst>
                <a:ext uri="{FF2B5EF4-FFF2-40B4-BE49-F238E27FC236}">
                  <a16:creationId xmlns:a16="http://schemas.microsoft.com/office/drawing/2014/main" id="{9AAD40C3-28C2-C444-B78C-85EFC17DC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97" name="Freeform 164">
              <a:extLst>
                <a:ext uri="{FF2B5EF4-FFF2-40B4-BE49-F238E27FC236}">
                  <a16:creationId xmlns:a16="http://schemas.microsoft.com/office/drawing/2014/main" id="{F12BAD7A-E6A2-AB4A-8DDE-F68506381587}"/>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5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96292" name="Line 32">
            <a:extLst>
              <a:ext uri="{FF2B5EF4-FFF2-40B4-BE49-F238E27FC236}">
                <a16:creationId xmlns:a16="http://schemas.microsoft.com/office/drawing/2014/main" id="{DF01E645-3587-6E42-994D-D99300DD253C}"/>
              </a:ext>
            </a:extLst>
          </p:cNvPr>
          <p:cNvSpPr>
            <a:spLocks noChangeShapeType="1"/>
          </p:cNvSpPr>
          <p:nvPr/>
        </p:nvSpPr>
        <p:spPr bwMode="auto">
          <a:xfrm>
            <a:off x="7386638" y="4238625"/>
            <a:ext cx="2190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293" name="Slide Number Placeholder 5">
            <a:extLst>
              <a:ext uri="{FF2B5EF4-FFF2-40B4-BE49-F238E27FC236}">
                <a16:creationId xmlns:a16="http://schemas.microsoft.com/office/drawing/2014/main" id="{94659EC5-C79C-F448-AD08-C906C6BEE940}"/>
              </a:ext>
            </a:extLst>
          </p:cNvPr>
          <p:cNvSpPr>
            <a:spLocks noGrp="1"/>
          </p:cNvSpPr>
          <p:nvPr>
            <p:ph type="sldNum" sz="quarter" idx="12"/>
          </p:nvPr>
        </p:nvSpPr>
        <p:spPr>
          <a:xfrm>
            <a:off x="8456613" y="6475413"/>
            <a:ext cx="687387" cy="246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0A002186-B8C8-C745-A01E-39BC350A33BC}" type="slidenum">
              <a:rPr lang="en-US" altLang="en-US">
                <a:latin typeface="Tahoma" panose="020B0604030504040204" pitchFamily="34" charset="0"/>
              </a:rPr>
              <a:pPr/>
              <a:t>122</a:t>
            </a:fld>
            <a:endParaRPr lang="en-US" altLang="en-US">
              <a:latin typeface="Tahoma" panose="020B0604030504040204" pitchFamily="34" charset="0"/>
            </a:endParaRPr>
          </a:p>
        </p:txBody>
      </p:sp>
      <p:sp>
        <p:nvSpPr>
          <p:cNvPr id="96295" name="TextBox 1">
            <a:extLst>
              <a:ext uri="{FF2B5EF4-FFF2-40B4-BE49-F238E27FC236}">
                <a16:creationId xmlns:a16="http://schemas.microsoft.com/office/drawing/2014/main" id="{50FCDF6F-E737-0949-8C33-8B8C0C914AD2}"/>
              </a:ext>
            </a:extLst>
          </p:cNvPr>
          <p:cNvSpPr txBox="1">
            <a:spLocks noChangeArrowheads="1"/>
          </p:cNvSpPr>
          <p:nvPr/>
        </p:nvSpPr>
        <p:spPr bwMode="auto">
          <a:xfrm>
            <a:off x="339725" y="6199188"/>
            <a:ext cx="45069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 Check out the online interactive exercises for more examples: h</a:t>
            </a:r>
            <a:r>
              <a:rPr lang="en-US" altLang="en-US" sz="1200"/>
              <a:t>ttp://gaia.cs.umass.edu/kurose_ross/interactive/</a:t>
            </a:r>
          </a:p>
        </p:txBody>
      </p:sp>
    </p:spTree>
    <p:extLst>
      <p:ext uri="{BB962C8B-B14F-4D97-AF65-F5344CB8AC3E}">
        <p14:creationId xmlns:p14="http://schemas.microsoft.com/office/powerpoint/2010/main" val="36635205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childTnLst>
                          </p:cTn>
                        </p:par>
                        <p:par>
                          <p:cTn id="8" fill="hold" nodeType="afterGroup">
                            <p:stCondLst>
                              <p:cond delay="1000"/>
                            </p:stCondLst>
                            <p:childTnLst>
                              <p:par>
                                <p:cTn id="9" presetID="1"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1000"/>
                                        <p:tgtEl>
                                          <p:spTgt spid="12"/>
                                        </p:tgtEl>
                                      </p:cBhvr>
                                    </p:animEffec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33533"/>
                                        </p:tgtEl>
                                        <p:attrNameLst>
                                          <p:attrName>style.visibility</p:attrName>
                                        </p:attrNameLst>
                                      </p:cBhvr>
                                      <p:to>
                                        <p:strVal val="visible"/>
                                      </p:to>
                                    </p:set>
                                  </p:childTnLst>
                                </p:cTn>
                              </p:par>
                            </p:childTnLst>
                          </p:cTn>
                        </p:par>
                        <p:par>
                          <p:cTn id="19" fill="hold" nodeType="afterGroup">
                            <p:stCondLst>
                              <p:cond delay="1000"/>
                            </p:stCondLst>
                            <p:childTnLst>
                              <p:par>
                                <p:cTn id="20" presetID="1" presetClass="entr" presetSubtype="0"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1000"/>
                                        <p:tgtEl>
                                          <p:spTgt spid="18"/>
                                        </p:tgtEl>
                                      </p:cBhvr>
                                    </p:animEffect>
                                  </p:childTnLst>
                                </p:cTn>
                              </p:par>
                            </p:childTnLst>
                          </p:cTn>
                        </p:par>
                        <p:par>
                          <p:cTn id="27" fill="hold" nodeType="afterGroup">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233603"/>
                                        </p:tgtEl>
                                        <p:attrNameLst>
                                          <p:attrName>style.visibility</p:attrName>
                                        </p:attrNameLst>
                                      </p:cBhvr>
                                      <p:to>
                                        <p:strVal val="visible"/>
                                      </p:to>
                                    </p:set>
                                  </p:childTnLst>
                                  <p:subTnLst>
                                    <p:set>
                                      <p:cBhvr override="childStyle">
                                        <p:cTn dur="1" fill="hold" display="0" masterRel="nextClick" afterEffect="1"/>
                                        <p:tgtEl>
                                          <p:spTgt spid="233603"/>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1000"/>
                                        <p:tgtEl>
                                          <p:spTgt spid="8"/>
                                        </p:tgtEl>
                                      </p:cBhvr>
                                    </p:animEffect>
                                  </p:childTnLst>
                                </p:cTn>
                              </p:par>
                            </p:childTnLst>
                          </p:cTn>
                        </p:par>
                        <p:par>
                          <p:cTn id="35" fill="hold" nodeType="afterGroup">
                            <p:stCondLst>
                              <p:cond delay="1000"/>
                            </p:stCondLst>
                            <p:childTnLst>
                              <p:par>
                                <p:cTn id="36" presetID="1" presetClass="entr" presetSubtype="0" fill="hold" grpId="0" nodeType="afterEffect">
                                  <p:stCondLst>
                                    <p:cond delay="0"/>
                                  </p:stCondLst>
                                  <p:childTnLst>
                                    <p:set>
                                      <p:cBhvr>
                                        <p:cTn id="37" dur="1" fill="hold">
                                          <p:stCondLst>
                                            <p:cond delay="0"/>
                                          </p:stCondLst>
                                        </p:cTn>
                                        <p:tgtEl>
                                          <p:spTgt spid="2336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533" grpId="0"/>
      <p:bldP spid="233603" grpId="0"/>
      <p:bldP spid="233608"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5">
            <a:extLst>
              <a:ext uri="{FF2B5EF4-FFF2-40B4-BE49-F238E27FC236}">
                <a16:creationId xmlns:a16="http://schemas.microsoft.com/office/drawing/2014/main" id="{53D5EAC2-308F-964A-A201-EB8303348CBF}"/>
              </a:ext>
            </a:extLst>
          </p:cNvPr>
          <p:cNvSpPr>
            <a:spLocks noGrp="1" noChangeArrowheads="1"/>
          </p:cNvSpPr>
          <p:nvPr>
            <p:ph type="title"/>
          </p:nvPr>
        </p:nvSpPr>
        <p:spPr>
          <a:xfrm>
            <a:off x="533400" y="230188"/>
            <a:ext cx="8091488" cy="908050"/>
          </a:xfrm>
        </p:spPr>
        <p:txBody>
          <a:bodyPr/>
          <a:lstStyle/>
          <a:p>
            <a:pPr>
              <a:defRPr/>
            </a:pPr>
            <a:r>
              <a:rPr lang="en-US">
                <a:cs typeface="+mj-cs"/>
              </a:rPr>
              <a:t>NAT: network address translation</a:t>
            </a:r>
          </a:p>
        </p:txBody>
      </p:sp>
      <p:pic>
        <p:nvPicPr>
          <p:cNvPr id="97284" name="Picture 6" descr="underline_base">
            <a:extLst>
              <a:ext uri="{FF2B5EF4-FFF2-40B4-BE49-F238E27FC236}">
                <a16:creationId xmlns:a16="http://schemas.microsoft.com/office/drawing/2014/main" id="{6E3C180E-E6B2-9644-A402-77CA8A78B28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88" y="922338"/>
            <a:ext cx="776922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5" name="Slide Number Placeholder 5">
            <a:extLst>
              <a:ext uri="{FF2B5EF4-FFF2-40B4-BE49-F238E27FC236}">
                <a16:creationId xmlns:a16="http://schemas.microsoft.com/office/drawing/2014/main" id="{460920B0-8AF0-2548-B6CC-5719F7D75C96}"/>
              </a:ext>
            </a:extLst>
          </p:cNvPr>
          <p:cNvSpPr>
            <a:spLocks noGrp="1"/>
          </p:cNvSpPr>
          <p:nvPr>
            <p:ph type="sldNum" sz="quarter" idx="12"/>
          </p:nvPr>
        </p:nvSpPr>
        <p:spPr>
          <a:xfrm>
            <a:off x="8456613" y="6475412"/>
            <a:ext cx="831766" cy="382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12E5CC06-0C2A-D64B-B88F-E9B6E0A50153}" type="slidenum">
              <a:rPr lang="en-US" altLang="en-US">
                <a:latin typeface="Tahoma" panose="020B0604030504040204" pitchFamily="34" charset="0"/>
              </a:rPr>
              <a:pPr/>
              <a:t>123</a:t>
            </a:fld>
            <a:endParaRPr lang="en-US" altLang="en-US" dirty="0">
              <a:latin typeface="Tahoma" panose="020B0604030504040204" pitchFamily="34" charset="0"/>
            </a:endParaRPr>
          </a:p>
        </p:txBody>
      </p:sp>
      <p:sp>
        <p:nvSpPr>
          <p:cNvPr id="3" name="Rectangle 3">
            <a:extLst>
              <a:ext uri="{FF2B5EF4-FFF2-40B4-BE49-F238E27FC236}">
                <a16:creationId xmlns:a16="http://schemas.microsoft.com/office/drawing/2014/main" id="{27AA34D3-67FA-6E3A-4EA8-294E82A1CD43}"/>
              </a:ext>
            </a:extLst>
          </p:cNvPr>
          <p:cNvSpPr txBox="1">
            <a:spLocks noChangeArrowheads="1"/>
          </p:cNvSpPr>
          <p:nvPr/>
        </p:nvSpPr>
        <p:spPr>
          <a:xfrm>
            <a:off x="219415" y="1787525"/>
            <a:ext cx="11097244" cy="519015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341313"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NAT has been controversial:</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routers “should” only process up to layer 3</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address “shortage” should be solved by IPv6</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violates end-to-end argument (port # manipulation by network-layer device)</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NAT traversal: what if client wants to connect to server behind NAT?</a:t>
            </a:r>
          </a:p>
          <a:p>
            <a:pPr marL="471488" marR="0" lvl="0" indent="-341313"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but NAT is here to stay:</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extensively used in home and institutional nets, 4G/5G cellular  nets</a:t>
            </a:r>
          </a:p>
        </p:txBody>
      </p:sp>
    </p:spTree>
    <p:extLst>
      <p:ext uri="{BB962C8B-B14F-4D97-AF65-F5344CB8AC3E}">
        <p14:creationId xmlns:p14="http://schemas.microsoft.com/office/powerpoint/2010/main" val="9613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ssolv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9B579-A6CE-A505-A9FD-BE713A6C5059}"/>
            </a:ext>
          </a:extLst>
        </p:cNvPr>
        <p:cNvGrpSpPr/>
        <p:nvPr/>
      </p:nvGrpSpPr>
      <p:grpSpPr>
        <a:xfrm>
          <a:off x="0" y="0"/>
          <a:ext cx="0" cy="0"/>
          <a:chOff x="0" y="0"/>
          <a:chExt cx="0" cy="0"/>
        </a:xfrm>
      </p:grpSpPr>
      <p:pic>
        <p:nvPicPr>
          <p:cNvPr id="98306" name="Picture 2" descr="underline_base">
            <a:extLst>
              <a:ext uri="{FF2B5EF4-FFF2-40B4-BE49-F238E27FC236}">
                <a16:creationId xmlns:a16="http://schemas.microsoft.com/office/drawing/2014/main" id="{DA9825B8-D344-9FBF-D8A5-C7017C58678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3"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Rectangle 3">
            <a:extLst>
              <a:ext uri="{FF2B5EF4-FFF2-40B4-BE49-F238E27FC236}">
                <a16:creationId xmlns:a16="http://schemas.microsoft.com/office/drawing/2014/main" id="{CB16BD6B-5B11-0E80-FA57-0FA52C9F46AC}"/>
              </a:ext>
            </a:extLst>
          </p:cNvPr>
          <p:cNvSpPr>
            <a:spLocks noGrp="1" noChangeArrowheads="1"/>
          </p:cNvSpPr>
          <p:nvPr>
            <p:ph type="body" sz="half" idx="1"/>
          </p:nvPr>
        </p:nvSpPr>
        <p:spPr>
          <a:xfrm>
            <a:off x="533400" y="1198563"/>
            <a:ext cx="6534665" cy="5116513"/>
          </a:xfrm>
        </p:spPr>
        <p:txBody>
          <a:bodyPr/>
          <a:lstStyle/>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4.1 Overview of Network layer</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 plane</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control plane</a:t>
            </a:r>
          </a:p>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4.2 What</a:t>
            </a:r>
            <a:r>
              <a:rPr lang="ja-JP" altLang="en-US" sz="2400" dirty="0">
                <a:ea typeface="ＭＳ Ｐゴシック" panose="020B0600070205080204" pitchFamily="34" charset="-128"/>
                <a:cs typeface="ＭＳ Ｐゴシック" panose="020B0600070205080204" pitchFamily="34" charset="-128"/>
              </a:rPr>
              <a:t>’</a:t>
            </a:r>
            <a:r>
              <a:rPr lang="en-US" altLang="ja-JP" sz="2400" dirty="0">
                <a:ea typeface="ＭＳ Ｐゴシック" panose="020B0600070205080204" pitchFamily="34" charset="-128"/>
                <a:cs typeface="ＭＳ Ｐゴシック" panose="020B0600070205080204" pitchFamily="34" charset="-128"/>
              </a:rPr>
              <a:t>s inside a router</a:t>
            </a:r>
          </a:p>
          <a:p>
            <a:pPr>
              <a:buNone/>
            </a:pPr>
            <a:r>
              <a:rPr lang="en-US" altLang="ja-JP" sz="2400" dirty="0">
                <a:ea typeface="ＭＳ Ｐゴシック" panose="020B0600070205080204" pitchFamily="34" charset="-128"/>
                <a:cs typeface="Arial" panose="020B0604020202020204" pitchFamily="34" charset="0"/>
              </a:rPr>
              <a:t>      input ports, switching, output ports</a:t>
            </a:r>
          </a:p>
          <a:p>
            <a:pPr>
              <a:buNone/>
            </a:pPr>
            <a:r>
              <a:rPr lang="en-US" altLang="ja-JP" sz="2400" dirty="0">
                <a:ea typeface="ＭＳ Ｐゴシック" panose="020B0600070205080204" pitchFamily="34" charset="-128"/>
                <a:cs typeface="Arial" panose="020B0604020202020204" pitchFamily="34" charset="0"/>
              </a:rPr>
              <a:t>	  buffer management, scheduling</a:t>
            </a:r>
          </a:p>
          <a:p>
            <a:pPr>
              <a:buFont typeface="Wingdings" pitchFamily="2" charset="2"/>
              <a:buNone/>
            </a:pPr>
            <a:r>
              <a:rPr lang="en-US" altLang="en-US" sz="2400" dirty="0">
                <a:solidFill>
                  <a:srgbClr val="CC0000"/>
                </a:solidFill>
                <a:ea typeface="ＭＳ Ｐゴシック" panose="020B0600070205080204" pitchFamily="34" charset="-128"/>
                <a:cs typeface="ＭＳ Ｐゴシック" panose="020B0600070205080204" pitchFamily="34" charset="-128"/>
              </a:rPr>
              <a:t>4.3 IP: Internet Protocol</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datagram format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fragmentation</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IPv4 addressing</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network address translation (NAT)</a:t>
            </a:r>
            <a:endParaRPr lang="en-US" altLang="en-US" dirty="0">
              <a:latin typeface="Gill Sans MT" panose="020B0502020104020203" pitchFamily="34" charset="77"/>
              <a:ea typeface="ＭＳ Ｐゴシック" panose="020B0600070205080204" pitchFamily="34" charset="-128"/>
            </a:endParaRPr>
          </a:p>
          <a:p>
            <a:pPr lvl="1"/>
            <a:r>
              <a:rPr lang="en-US" altLang="en-US" dirty="0">
                <a:solidFill>
                  <a:srgbClr val="FF0000"/>
                </a:solidFill>
                <a:latin typeface="Gill Sans MT" panose="020B0502020104020203" pitchFamily="34" charset="77"/>
                <a:ea typeface="ＭＳ Ｐゴシック" panose="020B0600070205080204" pitchFamily="34" charset="-128"/>
                <a:cs typeface="Gill Sans MT" panose="020B0502020104020203" pitchFamily="34" charset="77"/>
              </a:rPr>
              <a:t>IPv6</a:t>
            </a:r>
          </a:p>
          <a:p>
            <a:pPr marL="111125" indent="0">
              <a:buNone/>
            </a:pPr>
            <a:r>
              <a:rPr lang="en-MY" sz="2400" dirty="0">
                <a:latin typeface="Gill Sans MT" panose="020B0502020104020203" pitchFamily="34" charset="77"/>
                <a:ea typeface="ＭＳ Ｐゴシック" panose="020B0600070205080204" pitchFamily="34" charset="-128"/>
              </a:rPr>
              <a:t>4.4 Generalized Forwarding and SDN</a:t>
            </a:r>
          </a:p>
          <a:p>
            <a:pPr lvl="1">
              <a:spcBef>
                <a:spcPts val="0"/>
              </a:spcBef>
            </a:pPr>
            <a:r>
              <a:rPr lang="en-US" altLang="en-US" sz="2400" dirty="0" err="1">
                <a:ea typeface="ＭＳ Ｐゴシック" panose="020B0600070205080204" pitchFamily="34" charset="-128"/>
              </a:rPr>
              <a:t>Match+action</a:t>
            </a:r>
            <a:endParaRPr lang="en-US" altLang="en-US" sz="2400" dirty="0">
              <a:ea typeface="ＭＳ Ｐゴシック" panose="020B0600070205080204" pitchFamily="34" charset="-128"/>
            </a:endParaRPr>
          </a:p>
          <a:p>
            <a:pPr lvl="1">
              <a:spcBef>
                <a:spcPts val="0"/>
              </a:spcBef>
            </a:pPr>
            <a:r>
              <a:rPr lang="en-US" altLang="en-US" sz="2400" dirty="0">
                <a:ea typeface="ＭＳ Ｐゴシック" panose="020B0600070205080204" pitchFamily="34" charset="-128"/>
              </a:rPr>
              <a:t>OpenFlow: </a:t>
            </a:r>
            <a:r>
              <a:rPr lang="en-US" altLang="en-US" sz="2400" dirty="0" err="1">
                <a:ea typeface="ＭＳ Ｐゴシック" panose="020B0600070205080204" pitchFamily="34" charset="-128"/>
              </a:rPr>
              <a:t>match+action</a:t>
            </a:r>
            <a:r>
              <a:rPr lang="en-US" altLang="en-US" sz="2400" dirty="0">
                <a:ea typeface="ＭＳ Ｐゴシック" panose="020B0600070205080204" pitchFamily="34" charset="-128"/>
              </a:rPr>
              <a:t> in action</a:t>
            </a:r>
          </a:p>
          <a:p>
            <a:pPr marL="111125" indent="0">
              <a:buNone/>
            </a:pPr>
            <a:endParaRPr lang="en-US" altLang="en-US" sz="2400" dirty="0">
              <a:latin typeface="Gill Sans MT" panose="020B0502020104020203" pitchFamily="34" charset="77"/>
              <a:ea typeface="ＭＳ Ｐゴシック" panose="020B0600070205080204" pitchFamily="34" charset="-128"/>
            </a:endParaRPr>
          </a:p>
        </p:txBody>
      </p:sp>
      <p:sp>
        <p:nvSpPr>
          <p:cNvPr id="98309" name="Rectangle 2">
            <a:extLst>
              <a:ext uri="{FF2B5EF4-FFF2-40B4-BE49-F238E27FC236}">
                <a16:creationId xmlns:a16="http://schemas.microsoft.com/office/drawing/2014/main" id="{3188DF0B-BECF-9FA8-5F96-ACEFC71E0205}"/>
              </a:ext>
            </a:extLst>
          </p:cNvPr>
          <p:cNvSpPr>
            <a:spLocks noChangeArrowheads="1"/>
          </p:cNvSpPr>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dirty="0">
                <a:solidFill>
                  <a:srgbClr val="000099"/>
                </a:solidFill>
                <a:latin typeface="Gill Sans MT" panose="020B0502020104020203" pitchFamily="34" charset="77"/>
              </a:rPr>
              <a:t>Chapter 4: data plane</a:t>
            </a:r>
          </a:p>
        </p:txBody>
      </p:sp>
      <p:sp>
        <p:nvSpPr>
          <p:cNvPr id="98310" name="Slide Number Placeholder 5">
            <a:extLst>
              <a:ext uri="{FF2B5EF4-FFF2-40B4-BE49-F238E27FC236}">
                <a16:creationId xmlns:a16="http://schemas.microsoft.com/office/drawing/2014/main" id="{BDA4742A-8C41-D162-390B-405B9FC9C995}"/>
              </a:ext>
            </a:extLst>
          </p:cNvPr>
          <p:cNvSpPr>
            <a:spLocks noGrp="1"/>
          </p:cNvSpPr>
          <p:nvPr>
            <p:ph type="sldNum" sz="quarter" idx="12"/>
          </p:nvPr>
        </p:nvSpPr>
        <p:spPr>
          <a:xfrm>
            <a:off x="8456613" y="6475413"/>
            <a:ext cx="687387" cy="2412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1EA39130-1C38-4049-9555-8D70E59A75FA}" type="slidenum">
              <a:rPr lang="en-US" altLang="en-US">
                <a:latin typeface="Tahoma" panose="020B0604030504040204" pitchFamily="34" charset="0"/>
              </a:rPr>
              <a:pPr/>
              <a:t>124</a:t>
            </a:fld>
            <a:endParaRPr lang="en-US" altLang="en-US" dirty="0">
              <a:latin typeface="Tahoma" panose="020B0604030504040204" pitchFamily="34" charset="0"/>
            </a:endParaRPr>
          </a:p>
        </p:txBody>
      </p:sp>
      <p:pic>
        <p:nvPicPr>
          <p:cNvPr id="7" name="Picture 6" descr="A picture containing outdoor, water, bridge, building&#10;&#10;Description automatically generated">
            <a:extLst>
              <a:ext uri="{FF2B5EF4-FFF2-40B4-BE49-F238E27FC236}">
                <a16:creationId xmlns:a16="http://schemas.microsoft.com/office/drawing/2014/main" id="{AE9126B1-E869-F3F7-3A74-367F5126BE2A}"/>
              </a:ext>
            </a:extLst>
          </p:cNvPr>
          <p:cNvPicPr>
            <a:picLocks noChangeAspect="1"/>
          </p:cNvPicPr>
          <p:nvPr/>
        </p:nvPicPr>
        <p:blipFill>
          <a:blip r:embed="rId3"/>
          <a:stretch>
            <a:fillRect/>
          </a:stretch>
        </p:blipFill>
        <p:spPr>
          <a:xfrm>
            <a:off x="5748338" y="488723"/>
            <a:ext cx="3040743" cy="3800929"/>
          </a:xfrm>
          <a:prstGeom prst="rect">
            <a:avLst/>
          </a:prstGeom>
        </p:spPr>
      </p:pic>
    </p:spTree>
    <p:extLst>
      <p:ext uri="{BB962C8B-B14F-4D97-AF65-F5344CB8AC3E}">
        <p14:creationId xmlns:p14="http://schemas.microsoft.com/office/powerpoint/2010/main" val="4556890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a:extLst>
              <a:ext uri="{FF2B5EF4-FFF2-40B4-BE49-F238E27FC236}">
                <a16:creationId xmlns:a16="http://schemas.microsoft.com/office/drawing/2014/main" id="{3A8B7BF5-9AEF-ED44-91BB-EE104EB1DC7B}"/>
              </a:ext>
            </a:extLst>
          </p:cNvPr>
          <p:cNvSpPr>
            <a:spLocks noGrp="1" noChangeArrowheads="1"/>
          </p:cNvSpPr>
          <p:nvPr>
            <p:ph type="title"/>
          </p:nvPr>
        </p:nvSpPr>
        <p:spPr>
          <a:xfrm>
            <a:off x="685800" y="422275"/>
            <a:ext cx="7772400" cy="838200"/>
          </a:xfrm>
        </p:spPr>
        <p:txBody>
          <a:bodyPr/>
          <a:lstStyle/>
          <a:p>
            <a:pPr>
              <a:defRPr/>
            </a:pPr>
            <a:r>
              <a:rPr lang="en-US">
                <a:cs typeface="+mj-cs"/>
              </a:rPr>
              <a:t>IPv6: motivation</a:t>
            </a:r>
          </a:p>
        </p:txBody>
      </p:sp>
      <p:sp>
        <p:nvSpPr>
          <p:cNvPr id="99331" name="Rectangle 3">
            <a:extLst>
              <a:ext uri="{FF2B5EF4-FFF2-40B4-BE49-F238E27FC236}">
                <a16:creationId xmlns:a16="http://schemas.microsoft.com/office/drawing/2014/main" id="{06C28CD8-0958-D442-A78E-5947471381E4}"/>
              </a:ext>
            </a:extLst>
          </p:cNvPr>
          <p:cNvSpPr>
            <a:spLocks noGrp="1" noChangeArrowheads="1"/>
          </p:cNvSpPr>
          <p:nvPr>
            <p:ph type="body" idx="1"/>
          </p:nvPr>
        </p:nvSpPr>
        <p:spPr>
          <a:xfrm>
            <a:off x="511175" y="1401763"/>
            <a:ext cx="8205788" cy="4027487"/>
          </a:xfrm>
        </p:spPr>
        <p:txBody>
          <a:bodyPr/>
          <a:lstStyle/>
          <a:p>
            <a:r>
              <a:rPr lang="en-US" altLang="en-US" i="1" dirty="0">
                <a:solidFill>
                  <a:srgbClr val="CC0000"/>
                </a:solidFill>
                <a:ea typeface="ＭＳ Ｐゴシック" panose="020B0600070205080204" pitchFamily="34" charset="-128"/>
                <a:cs typeface="ＭＳ Ｐゴシック" panose="020B0600070205080204" pitchFamily="34" charset="-128"/>
              </a:rPr>
              <a:t>initial motivation:</a:t>
            </a:r>
            <a:r>
              <a:rPr lang="en-US" altLang="en-US" i="1" dirty="0">
                <a:ea typeface="ＭＳ Ｐゴシック" panose="020B0600070205080204" pitchFamily="34" charset="-128"/>
                <a:cs typeface="ＭＳ Ｐゴシック" panose="020B0600070205080204" pitchFamily="34" charset="-128"/>
              </a:rPr>
              <a:t> </a:t>
            </a:r>
            <a:r>
              <a:rPr lang="en-US" altLang="en-US" dirty="0">
                <a:ea typeface="ＭＳ Ｐゴシック" panose="020B0600070205080204" pitchFamily="34" charset="-128"/>
                <a:cs typeface="ＭＳ Ｐゴシック" panose="020B0600070205080204" pitchFamily="34" charset="-128"/>
              </a:rPr>
              <a:t>32-bit IPv4 address space soon to be completely allocated. </a:t>
            </a:r>
            <a:r>
              <a:rPr lang="en-US" dirty="0">
                <a:sym typeface="Wingdings" pitchFamily="2" charset="2"/>
              </a:rPr>
              <a:t>IPv6 provided a </a:t>
            </a:r>
            <a:r>
              <a:rPr lang="en-US" dirty="0">
                <a:solidFill>
                  <a:srgbClr val="FF0000"/>
                </a:solidFill>
                <a:sym typeface="Wingdings" pitchFamily="2" charset="2"/>
              </a:rPr>
              <a:t>larger IP address space </a:t>
            </a:r>
            <a:r>
              <a:rPr lang="en-US" dirty="0">
                <a:sym typeface="Wingdings" pitchFamily="2" charset="2"/>
              </a:rPr>
              <a:t> more IP address</a:t>
            </a:r>
            <a:r>
              <a:rPr lang="en-US" altLang="en-US" dirty="0">
                <a:ea typeface="ＭＳ Ｐゴシック" panose="020B0600070205080204" pitchFamily="34" charset="-128"/>
                <a:cs typeface="ＭＳ Ｐゴシック" panose="020B0600070205080204" pitchFamily="34" charset="-128"/>
              </a:rPr>
              <a:t> </a:t>
            </a:r>
          </a:p>
          <a:p>
            <a:endParaRPr lang="en-US" altLang="en-US" dirty="0">
              <a:ea typeface="ＭＳ Ｐゴシック" panose="020B0600070205080204" pitchFamily="34" charset="-128"/>
              <a:cs typeface="ＭＳ Ｐゴシック" panose="020B0600070205080204" pitchFamily="34" charset="-128"/>
            </a:endParaRPr>
          </a:p>
          <a:p>
            <a:r>
              <a:rPr lang="en-US" altLang="en-US" dirty="0">
                <a:ea typeface="ＭＳ Ｐゴシック" panose="020B0600070205080204" pitchFamily="34" charset="-128"/>
                <a:cs typeface="ＭＳ Ｐゴシック" panose="020B0600070205080204" pitchFamily="34" charset="-128"/>
              </a:rPr>
              <a:t>additional motivation: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speed processing/forwarding: 40-byte fixed length header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enable different network-layer treatment of “flows” (QoS)</a:t>
            </a:r>
          </a:p>
          <a:p>
            <a:pPr lvl="1"/>
            <a:endParaRPr lang="en-US" altLang="en-US" dirty="0">
              <a:latin typeface="Gill Sans MT" panose="020B0502020104020203" pitchFamily="34" charset="77"/>
              <a:ea typeface="ＭＳ Ｐゴシック" panose="020B0600070205080204" pitchFamily="34" charset="-128"/>
              <a:cs typeface="Gill Sans MT" panose="020B0502020104020203" pitchFamily="34" charset="77"/>
            </a:endParaRPr>
          </a:p>
        </p:txBody>
      </p:sp>
      <p:pic>
        <p:nvPicPr>
          <p:cNvPr id="99332" name="Picture 4" descr="underline_base">
            <a:extLst>
              <a:ext uri="{FF2B5EF4-FFF2-40B4-BE49-F238E27FC236}">
                <a16:creationId xmlns:a16="http://schemas.microsoft.com/office/drawing/2014/main" id="{F9BD8EBA-ED28-8B44-B1F1-7BA9F4C6260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13" y="1055688"/>
            <a:ext cx="36560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3" name="Slide Number Placeholder 5">
            <a:extLst>
              <a:ext uri="{FF2B5EF4-FFF2-40B4-BE49-F238E27FC236}">
                <a16:creationId xmlns:a16="http://schemas.microsoft.com/office/drawing/2014/main" id="{C630E41B-0353-E64E-8CFD-9EFAE4C889F1}"/>
              </a:ext>
            </a:extLst>
          </p:cNvPr>
          <p:cNvSpPr>
            <a:spLocks noGrp="1"/>
          </p:cNvSpPr>
          <p:nvPr>
            <p:ph type="sldNum" sz="quarter" idx="12"/>
          </p:nvPr>
        </p:nvSpPr>
        <p:spPr>
          <a:xfrm>
            <a:off x="8456613" y="6475412"/>
            <a:ext cx="687387" cy="382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3EF65D15-5377-4545-BF37-9575C70A14BD}" type="slidenum">
              <a:rPr lang="en-US" altLang="en-US">
                <a:latin typeface="Tahoma" panose="020B0604030504040204" pitchFamily="34" charset="0"/>
              </a:rPr>
              <a:pPr/>
              <a:t>125</a:t>
            </a:fld>
            <a:endParaRPr lang="en-US" altLang="en-US" dirty="0">
              <a:latin typeface="Tahoma" panose="020B0604030504040204" pitchFamily="34" charset="0"/>
            </a:endParaRPr>
          </a:p>
        </p:txBody>
      </p:sp>
    </p:spTree>
    <p:extLst>
      <p:ext uri="{BB962C8B-B14F-4D97-AF65-F5344CB8AC3E}">
        <p14:creationId xmlns:p14="http://schemas.microsoft.com/office/powerpoint/2010/main" val="84155031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527466" y="1068123"/>
            <a:ext cx="7886700" cy="800963"/>
          </a:xfrm>
        </p:spPr>
        <p:txBody>
          <a:bodyPr>
            <a:normAutofit/>
          </a:bodyPr>
          <a:lstStyle/>
          <a:p>
            <a:r>
              <a:rPr lang="en-US" sz="3600" dirty="0"/>
              <a:t>IPv6 datagram format</a:t>
            </a:r>
          </a:p>
        </p:txBody>
      </p:sp>
      <p:sp>
        <p:nvSpPr>
          <p:cNvPr id="7" name="Rectangle 56">
            <a:extLst>
              <a:ext uri="{FF2B5EF4-FFF2-40B4-BE49-F238E27FC236}">
                <a16:creationId xmlns:a16="http://schemas.microsoft.com/office/drawing/2014/main" id="{06BD331B-6C82-EA41-9AF4-9AB955F03E40}"/>
              </a:ext>
            </a:extLst>
          </p:cNvPr>
          <p:cNvSpPr>
            <a:spLocks noChangeArrowheads="1"/>
          </p:cNvSpPr>
          <p:nvPr/>
        </p:nvSpPr>
        <p:spPr bwMode="auto">
          <a:xfrm>
            <a:off x="2798851" y="2471375"/>
            <a:ext cx="3561159" cy="2113359"/>
          </a:xfrm>
          <a:prstGeom prst="rect">
            <a:avLst/>
          </a:prstGeom>
          <a:solidFill>
            <a:schemeClr val="bg1"/>
          </a:solidFill>
          <a:ln w="19050">
            <a:solidFill>
              <a:schemeClr val="tx1"/>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8" name="Line 60">
            <a:extLst>
              <a:ext uri="{FF2B5EF4-FFF2-40B4-BE49-F238E27FC236}">
                <a16:creationId xmlns:a16="http://schemas.microsoft.com/office/drawing/2014/main" id="{FF46BAEB-0183-724A-A6DD-D25D457DBDD2}"/>
              </a:ext>
            </a:extLst>
          </p:cNvPr>
          <p:cNvSpPr>
            <a:spLocks noChangeShapeType="1"/>
          </p:cNvSpPr>
          <p:nvPr/>
        </p:nvSpPr>
        <p:spPr bwMode="auto">
          <a:xfrm>
            <a:off x="2800042" y="2703547"/>
            <a:ext cx="35456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9" name="Line 61">
            <a:extLst>
              <a:ext uri="{FF2B5EF4-FFF2-40B4-BE49-F238E27FC236}">
                <a16:creationId xmlns:a16="http://schemas.microsoft.com/office/drawing/2014/main" id="{4AB2FA49-F8C7-3B44-B21F-4186310D80F5}"/>
              </a:ext>
            </a:extLst>
          </p:cNvPr>
          <p:cNvSpPr>
            <a:spLocks noChangeShapeType="1"/>
          </p:cNvSpPr>
          <p:nvPr/>
        </p:nvSpPr>
        <p:spPr bwMode="auto">
          <a:xfrm>
            <a:off x="3288197" y="2478520"/>
            <a:ext cx="0" cy="220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0" name="Line 63">
            <a:extLst>
              <a:ext uri="{FF2B5EF4-FFF2-40B4-BE49-F238E27FC236}">
                <a16:creationId xmlns:a16="http://schemas.microsoft.com/office/drawing/2014/main" id="{3032CAAE-849B-6041-8584-A4B185020812}"/>
              </a:ext>
            </a:extLst>
          </p:cNvPr>
          <p:cNvSpPr>
            <a:spLocks noChangeShapeType="1"/>
          </p:cNvSpPr>
          <p:nvPr/>
        </p:nvSpPr>
        <p:spPr bwMode="auto">
          <a:xfrm>
            <a:off x="3804929" y="2476138"/>
            <a:ext cx="0" cy="220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2" name="Line 64">
            <a:extLst>
              <a:ext uri="{FF2B5EF4-FFF2-40B4-BE49-F238E27FC236}">
                <a16:creationId xmlns:a16="http://schemas.microsoft.com/office/drawing/2014/main" id="{08C91634-6D01-FD43-B618-241CCA3AE545}"/>
              </a:ext>
            </a:extLst>
          </p:cNvPr>
          <p:cNvSpPr>
            <a:spLocks noChangeShapeType="1"/>
          </p:cNvSpPr>
          <p:nvPr/>
        </p:nvSpPr>
        <p:spPr bwMode="auto">
          <a:xfrm>
            <a:off x="4500254" y="2699976"/>
            <a:ext cx="0" cy="220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3" name="Line 65">
            <a:extLst>
              <a:ext uri="{FF2B5EF4-FFF2-40B4-BE49-F238E27FC236}">
                <a16:creationId xmlns:a16="http://schemas.microsoft.com/office/drawing/2014/main" id="{B1E03300-E1D2-D14B-81BA-074E0B943A8D}"/>
              </a:ext>
            </a:extLst>
          </p:cNvPr>
          <p:cNvSpPr>
            <a:spLocks noChangeShapeType="1"/>
          </p:cNvSpPr>
          <p:nvPr/>
        </p:nvSpPr>
        <p:spPr bwMode="auto">
          <a:xfrm>
            <a:off x="5359885" y="2702357"/>
            <a:ext cx="0" cy="220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 name="Line 66">
            <a:extLst>
              <a:ext uri="{FF2B5EF4-FFF2-40B4-BE49-F238E27FC236}">
                <a16:creationId xmlns:a16="http://schemas.microsoft.com/office/drawing/2014/main" id="{154D8129-6C32-E84D-B8E1-4813483FD7D4}"/>
              </a:ext>
            </a:extLst>
          </p:cNvPr>
          <p:cNvSpPr>
            <a:spLocks noChangeShapeType="1"/>
          </p:cNvSpPr>
          <p:nvPr/>
        </p:nvSpPr>
        <p:spPr bwMode="auto">
          <a:xfrm>
            <a:off x="2790516" y="3844166"/>
            <a:ext cx="357068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5" name="Line 67">
            <a:extLst>
              <a:ext uri="{FF2B5EF4-FFF2-40B4-BE49-F238E27FC236}">
                <a16:creationId xmlns:a16="http://schemas.microsoft.com/office/drawing/2014/main" id="{9A2D256A-3619-D145-8E9B-835ABDC5637D}"/>
              </a:ext>
            </a:extLst>
          </p:cNvPr>
          <p:cNvSpPr>
            <a:spLocks noChangeShapeType="1"/>
          </p:cNvSpPr>
          <p:nvPr/>
        </p:nvSpPr>
        <p:spPr bwMode="auto">
          <a:xfrm>
            <a:off x="2803613" y="3364344"/>
            <a:ext cx="35706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6" name="Line 68">
            <a:extLst>
              <a:ext uri="{FF2B5EF4-FFF2-40B4-BE49-F238E27FC236}">
                <a16:creationId xmlns:a16="http://schemas.microsoft.com/office/drawing/2014/main" id="{4BED1352-6084-5E44-8ADB-97D4B1546060}"/>
              </a:ext>
            </a:extLst>
          </p:cNvPr>
          <p:cNvSpPr>
            <a:spLocks noChangeShapeType="1"/>
          </p:cNvSpPr>
          <p:nvPr/>
        </p:nvSpPr>
        <p:spPr bwMode="auto">
          <a:xfrm>
            <a:off x="2792898" y="2927384"/>
            <a:ext cx="357068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7" name="Text Box 69">
            <a:extLst>
              <a:ext uri="{FF2B5EF4-FFF2-40B4-BE49-F238E27FC236}">
                <a16:creationId xmlns:a16="http://schemas.microsoft.com/office/drawing/2014/main" id="{E0AC04AF-B0F8-7444-B657-E5F780A80276}"/>
              </a:ext>
            </a:extLst>
          </p:cNvPr>
          <p:cNvSpPr txBox="1">
            <a:spLocks noChangeArrowheads="1"/>
          </p:cNvSpPr>
          <p:nvPr/>
        </p:nvSpPr>
        <p:spPr bwMode="auto">
          <a:xfrm>
            <a:off x="3925669" y="4052939"/>
            <a:ext cx="133882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 payload (data)</a:t>
            </a:r>
          </a:p>
        </p:txBody>
      </p:sp>
      <p:sp>
        <p:nvSpPr>
          <p:cNvPr id="18" name="Text Box 70">
            <a:extLst>
              <a:ext uri="{FF2B5EF4-FFF2-40B4-BE49-F238E27FC236}">
                <a16:creationId xmlns:a16="http://schemas.microsoft.com/office/drawing/2014/main" id="{5C952E09-E1D5-644F-A77A-EF94E62A6DCB}"/>
              </a:ext>
            </a:extLst>
          </p:cNvPr>
          <p:cNvSpPr txBox="1">
            <a:spLocks noChangeArrowheads="1"/>
          </p:cNvSpPr>
          <p:nvPr/>
        </p:nvSpPr>
        <p:spPr bwMode="auto">
          <a:xfrm>
            <a:off x="3695816" y="3396491"/>
            <a:ext cx="1685077" cy="44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350" dirty="0">
                <a:solidFill>
                  <a:prstClr val="black"/>
                </a:solidFill>
              </a:rPr>
              <a:t>destination address</a:t>
            </a:r>
          </a:p>
          <a:p>
            <a:pPr algn="ctr" defTabSz="685800" eaLnBrk="1" fontAlgn="auto" hangingPunct="1">
              <a:lnSpc>
                <a:spcPct val="85000"/>
              </a:lnSpc>
              <a:spcBef>
                <a:spcPts val="0"/>
              </a:spcBef>
              <a:spcAft>
                <a:spcPts val="0"/>
              </a:spcAft>
              <a:defRPr/>
            </a:pPr>
            <a:r>
              <a:rPr lang="en-US" altLang="en-US" sz="1350" dirty="0">
                <a:solidFill>
                  <a:prstClr val="black"/>
                </a:solidFill>
              </a:rPr>
              <a:t>(128 bits)</a:t>
            </a:r>
          </a:p>
        </p:txBody>
      </p:sp>
      <p:sp>
        <p:nvSpPr>
          <p:cNvPr id="19" name="Text Box 71">
            <a:extLst>
              <a:ext uri="{FF2B5EF4-FFF2-40B4-BE49-F238E27FC236}">
                <a16:creationId xmlns:a16="http://schemas.microsoft.com/office/drawing/2014/main" id="{5DB8207C-7284-E643-8418-E273F617A0B3}"/>
              </a:ext>
            </a:extLst>
          </p:cNvPr>
          <p:cNvSpPr txBox="1">
            <a:spLocks noChangeArrowheads="1"/>
          </p:cNvSpPr>
          <p:nvPr/>
        </p:nvSpPr>
        <p:spPr bwMode="auto">
          <a:xfrm>
            <a:off x="3821175" y="2941672"/>
            <a:ext cx="1367682" cy="44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350" dirty="0">
                <a:solidFill>
                  <a:prstClr val="black"/>
                </a:solidFill>
              </a:rPr>
              <a:t>source address</a:t>
            </a:r>
          </a:p>
          <a:p>
            <a:pPr algn="ctr" defTabSz="685800" eaLnBrk="1" fontAlgn="auto" hangingPunct="1">
              <a:lnSpc>
                <a:spcPct val="85000"/>
              </a:lnSpc>
              <a:spcBef>
                <a:spcPts val="0"/>
              </a:spcBef>
              <a:spcAft>
                <a:spcPts val="0"/>
              </a:spcAft>
              <a:defRPr/>
            </a:pPr>
            <a:r>
              <a:rPr lang="en-US" altLang="en-US" sz="1350" dirty="0">
                <a:solidFill>
                  <a:prstClr val="black"/>
                </a:solidFill>
              </a:rPr>
              <a:t>(128 bits)</a:t>
            </a:r>
          </a:p>
        </p:txBody>
      </p:sp>
      <p:sp>
        <p:nvSpPr>
          <p:cNvPr id="20" name="Text Box 72">
            <a:extLst>
              <a:ext uri="{FF2B5EF4-FFF2-40B4-BE49-F238E27FC236}">
                <a16:creationId xmlns:a16="http://schemas.microsoft.com/office/drawing/2014/main" id="{A085D2DC-A1A9-7842-BB93-C0F03DCF58EF}"/>
              </a:ext>
            </a:extLst>
          </p:cNvPr>
          <p:cNvSpPr txBox="1">
            <a:spLocks noChangeArrowheads="1"/>
          </p:cNvSpPr>
          <p:nvPr/>
        </p:nvSpPr>
        <p:spPr bwMode="auto">
          <a:xfrm>
            <a:off x="3163182" y="2677353"/>
            <a:ext cx="106952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payload len</a:t>
            </a:r>
          </a:p>
        </p:txBody>
      </p:sp>
      <p:sp>
        <p:nvSpPr>
          <p:cNvPr id="21" name="Text Box 73">
            <a:extLst>
              <a:ext uri="{FF2B5EF4-FFF2-40B4-BE49-F238E27FC236}">
                <a16:creationId xmlns:a16="http://schemas.microsoft.com/office/drawing/2014/main" id="{BBC2A83E-7E03-734C-8CE7-1FE8A5C1A015}"/>
              </a:ext>
            </a:extLst>
          </p:cNvPr>
          <p:cNvSpPr txBox="1">
            <a:spLocks noChangeArrowheads="1"/>
          </p:cNvSpPr>
          <p:nvPr/>
        </p:nvSpPr>
        <p:spPr bwMode="auto">
          <a:xfrm>
            <a:off x="4499064" y="2683306"/>
            <a:ext cx="80983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next hdr</a:t>
            </a:r>
          </a:p>
        </p:txBody>
      </p:sp>
      <p:sp>
        <p:nvSpPr>
          <p:cNvPr id="22" name="Text Box 74">
            <a:extLst>
              <a:ext uri="{FF2B5EF4-FFF2-40B4-BE49-F238E27FC236}">
                <a16:creationId xmlns:a16="http://schemas.microsoft.com/office/drawing/2014/main" id="{57026753-C52D-054A-BAC4-B9BFD12FC199}"/>
              </a:ext>
            </a:extLst>
          </p:cNvPr>
          <p:cNvSpPr txBox="1">
            <a:spLocks noChangeArrowheads="1"/>
          </p:cNvSpPr>
          <p:nvPr/>
        </p:nvSpPr>
        <p:spPr bwMode="auto">
          <a:xfrm>
            <a:off x="5440848" y="2672590"/>
            <a:ext cx="82907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hop limit</a:t>
            </a:r>
          </a:p>
        </p:txBody>
      </p:sp>
      <p:sp>
        <p:nvSpPr>
          <p:cNvPr id="23" name="Text Box 75">
            <a:extLst>
              <a:ext uri="{FF2B5EF4-FFF2-40B4-BE49-F238E27FC236}">
                <a16:creationId xmlns:a16="http://schemas.microsoft.com/office/drawing/2014/main" id="{6AE14882-771E-7C44-B5A7-46D9917BA232}"/>
              </a:ext>
            </a:extLst>
          </p:cNvPr>
          <p:cNvSpPr txBox="1">
            <a:spLocks noChangeArrowheads="1"/>
          </p:cNvSpPr>
          <p:nvPr/>
        </p:nvSpPr>
        <p:spPr bwMode="auto">
          <a:xfrm>
            <a:off x="4593123" y="2452325"/>
            <a:ext cx="90601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flow label</a:t>
            </a:r>
          </a:p>
        </p:txBody>
      </p:sp>
      <p:sp>
        <p:nvSpPr>
          <p:cNvPr id="24" name="Text Box 76">
            <a:extLst>
              <a:ext uri="{FF2B5EF4-FFF2-40B4-BE49-F238E27FC236}">
                <a16:creationId xmlns:a16="http://schemas.microsoft.com/office/drawing/2014/main" id="{E4F605DE-8A23-A342-A2D0-EA394C25E769}"/>
              </a:ext>
            </a:extLst>
          </p:cNvPr>
          <p:cNvSpPr txBox="1">
            <a:spLocks noChangeArrowheads="1"/>
          </p:cNvSpPr>
          <p:nvPr/>
        </p:nvSpPr>
        <p:spPr bwMode="auto">
          <a:xfrm>
            <a:off x="3377494" y="2441609"/>
            <a:ext cx="37702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pri</a:t>
            </a:r>
          </a:p>
        </p:txBody>
      </p:sp>
      <p:sp>
        <p:nvSpPr>
          <p:cNvPr id="25" name="Text Box 77">
            <a:extLst>
              <a:ext uri="{FF2B5EF4-FFF2-40B4-BE49-F238E27FC236}">
                <a16:creationId xmlns:a16="http://schemas.microsoft.com/office/drawing/2014/main" id="{F5BAFC39-337A-7D4D-B953-EDE378336D82}"/>
              </a:ext>
            </a:extLst>
          </p:cNvPr>
          <p:cNvSpPr txBox="1">
            <a:spLocks noChangeArrowheads="1"/>
          </p:cNvSpPr>
          <p:nvPr/>
        </p:nvSpPr>
        <p:spPr bwMode="auto">
          <a:xfrm>
            <a:off x="2847666" y="2447563"/>
            <a:ext cx="42511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ver</a:t>
            </a:r>
          </a:p>
        </p:txBody>
      </p:sp>
      <p:sp>
        <p:nvSpPr>
          <p:cNvPr id="26" name="Line 79">
            <a:extLst>
              <a:ext uri="{FF2B5EF4-FFF2-40B4-BE49-F238E27FC236}">
                <a16:creationId xmlns:a16="http://schemas.microsoft.com/office/drawing/2014/main" id="{6D309F43-CEA6-6C4A-A66E-1ED5E647B3B1}"/>
              </a:ext>
            </a:extLst>
          </p:cNvPr>
          <p:cNvSpPr>
            <a:spLocks noChangeShapeType="1"/>
          </p:cNvSpPr>
          <p:nvPr/>
        </p:nvSpPr>
        <p:spPr bwMode="auto">
          <a:xfrm>
            <a:off x="2772244" y="2298424"/>
            <a:ext cx="361235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      </a:t>
            </a:r>
          </a:p>
        </p:txBody>
      </p:sp>
      <p:sp>
        <p:nvSpPr>
          <p:cNvPr id="27" name="Text Box 78">
            <a:extLst>
              <a:ext uri="{FF2B5EF4-FFF2-40B4-BE49-F238E27FC236}">
                <a16:creationId xmlns:a16="http://schemas.microsoft.com/office/drawing/2014/main" id="{293429CE-DA58-654F-BA3A-CCFCE2B31159}"/>
              </a:ext>
            </a:extLst>
          </p:cNvPr>
          <p:cNvSpPr txBox="1">
            <a:spLocks noChangeArrowheads="1"/>
          </p:cNvSpPr>
          <p:nvPr/>
        </p:nvSpPr>
        <p:spPr bwMode="auto">
          <a:xfrm>
            <a:off x="4166465" y="2155549"/>
            <a:ext cx="694421"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32 bits</a:t>
            </a:r>
          </a:p>
        </p:txBody>
      </p:sp>
      <p:grpSp>
        <p:nvGrpSpPr>
          <p:cNvPr id="38" name="Group 37">
            <a:extLst>
              <a:ext uri="{FF2B5EF4-FFF2-40B4-BE49-F238E27FC236}">
                <a16:creationId xmlns:a16="http://schemas.microsoft.com/office/drawing/2014/main" id="{6AEA1261-6406-384A-80E1-CD0E73579F74}"/>
              </a:ext>
            </a:extLst>
          </p:cNvPr>
          <p:cNvGrpSpPr/>
          <p:nvPr/>
        </p:nvGrpSpPr>
        <p:grpSpPr>
          <a:xfrm>
            <a:off x="119269" y="2284292"/>
            <a:ext cx="3299792" cy="840230"/>
            <a:chOff x="159026" y="1902722"/>
            <a:chExt cx="4399722" cy="1120307"/>
          </a:xfrm>
        </p:grpSpPr>
        <p:sp>
          <p:nvSpPr>
            <p:cNvPr id="30" name="Rectangle 4">
              <a:extLst>
                <a:ext uri="{FF2B5EF4-FFF2-40B4-BE49-F238E27FC236}">
                  <a16:creationId xmlns:a16="http://schemas.microsoft.com/office/drawing/2014/main" id="{A62F1DF5-B9B3-694D-A24D-1B7BD3EDB470}"/>
                </a:ext>
              </a:extLst>
            </p:cNvPr>
            <p:cNvSpPr>
              <a:spLocks noChangeArrowheads="1"/>
            </p:cNvSpPr>
            <p:nvPr/>
          </p:nvSpPr>
          <p:spPr bwMode="auto">
            <a:xfrm>
              <a:off x="159026" y="1902722"/>
              <a:ext cx="3072157" cy="112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eaLnBrk="1" fontAlgn="auto" hangingPunct="1">
                <a:lnSpc>
                  <a:spcPct val="90000"/>
                </a:lnSpc>
                <a:spcBef>
                  <a:spcPts val="0"/>
                </a:spcBef>
                <a:spcAft>
                  <a:spcPts val="0"/>
                </a:spcAft>
                <a:defRPr/>
              </a:pPr>
              <a:r>
                <a:rPr lang="en-US" altLang="en-US" sz="1800" dirty="0">
                  <a:solidFill>
                    <a:srgbClr val="C00000"/>
                  </a:solidFill>
                  <a:latin typeface="Calibri" panose="020F0502020204030204"/>
                </a:rPr>
                <a:t>priority:  </a:t>
              </a:r>
              <a:r>
                <a:rPr lang="en-US" altLang="en-US" sz="1800" dirty="0">
                  <a:solidFill>
                    <a:prstClr val="black"/>
                  </a:solidFill>
                  <a:latin typeface="Calibri" panose="020F0502020204030204"/>
                </a:rPr>
                <a:t>identify priority among datagrams in flow</a:t>
              </a:r>
            </a:p>
          </p:txBody>
        </p:sp>
        <p:cxnSp>
          <p:nvCxnSpPr>
            <p:cNvPr id="32" name="Straight Connector 31">
              <a:extLst>
                <a:ext uri="{FF2B5EF4-FFF2-40B4-BE49-F238E27FC236}">
                  <a16:creationId xmlns:a16="http://schemas.microsoft.com/office/drawing/2014/main" id="{687B5EFD-DE55-954C-AA2E-B11349D91A5E}"/>
                </a:ext>
              </a:extLst>
            </p:cNvPr>
            <p:cNvCxnSpPr/>
            <p:nvPr/>
          </p:nvCxnSpPr>
          <p:spPr>
            <a:xfrm>
              <a:off x="3299791" y="2398643"/>
              <a:ext cx="125895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E7C16337-BB18-3647-8DA0-0577F7F7EAE2}"/>
              </a:ext>
            </a:extLst>
          </p:cNvPr>
          <p:cNvGrpSpPr/>
          <p:nvPr/>
        </p:nvGrpSpPr>
        <p:grpSpPr>
          <a:xfrm>
            <a:off x="5610639" y="1927491"/>
            <a:ext cx="3374334" cy="1089529"/>
            <a:chOff x="7480852" y="1426988"/>
            <a:chExt cx="4499112" cy="1452705"/>
          </a:xfrm>
        </p:grpSpPr>
        <p:sp>
          <p:nvSpPr>
            <p:cNvPr id="29" name="Rectangle 4">
              <a:extLst>
                <a:ext uri="{FF2B5EF4-FFF2-40B4-BE49-F238E27FC236}">
                  <a16:creationId xmlns:a16="http://schemas.microsoft.com/office/drawing/2014/main" id="{5C471EC3-3AA5-544E-9614-322ED92F4309}"/>
                </a:ext>
              </a:extLst>
            </p:cNvPr>
            <p:cNvSpPr>
              <a:spLocks noChangeArrowheads="1"/>
            </p:cNvSpPr>
            <p:nvPr/>
          </p:nvSpPr>
          <p:spPr bwMode="auto">
            <a:xfrm>
              <a:off x="8742156" y="1426988"/>
              <a:ext cx="3237808" cy="145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90000"/>
                </a:lnSpc>
                <a:spcBef>
                  <a:spcPts val="0"/>
                </a:spcBef>
                <a:spcAft>
                  <a:spcPts val="0"/>
                </a:spcAft>
                <a:defRPr/>
              </a:pPr>
              <a:r>
                <a:rPr lang="en-US" altLang="en-US" sz="1800" dirty="0">
                  <a:solidFill>
                    <a:srgbClr val="C00000"/>
                  </a:solidFill>
                  <a:latin typeface="Calibri" panose="020F0502020204030204"/>
                </a:rPr>
                <a:t>flow label: </a:t>
              </a:r>
              <a:r>
                <a:rPr lang="en-US" altLang="en-US" sz="1800" dirty="0">
                  <a:solidFill>
                    <a:prstClr val="black"/>
                  </a:solidFill>
                  <a:latin typeface="Calibri" panose="020F0502020204030204"/>
                </a:rPr>
                <a:t>identify datagrams in same "</a:t>
              </a:r>
              <a:r>
                <a:rPr lang="en-US" altLang="ja-JP" sz="1800" dirty="0">
                  <a:solidFill>
                    <a:prstClr val="black"/>
                  </a:solidFill>
                  <a:latin typeface="Calibri" panose="020F0502020204030204"/>
                </a:rPr>
                <a:t>flow.” </a:t>
              </a:r>
              <a:r>
                <a:rPr lang="en-US" altLang="en-US" sz="1800" dirty="0">
                  <a:solidFill>
                    <a:prstClr val="black"/>
                  </a:solidFill>
                  <a:latin typeface="Calibri" panose="020F0502020204030204"/>
                </a:rPr>
                <a:t>(concept of “</a:t>
              </a:r>
              <a:r>
                <a:rPr lang="en-US" altLang="ja-JP" sz="1800" dirty="0">
                  <a:solidFill>
                    <a:prstClr val="black"/>
                  </a:solidFill>
                  <a:latin typeface="Calibri" panose="020F0502020204030204"/>
                </a:rPr>
                <a:t>flow” not well defined).</a:t>
              </a:r>
            </a:p>
          </p:txBody>
        </p:sp>
        <p:cxnSp>
          <p:nvCxnSpPr>
            <p:cNvPr id="34" name="Straight Connector 33">
              <a:extLst>
                <a:ext uri="{FF2B5EF4-FFF2-40B4-BE49-F238E27FC236}">
                  <a16:creationId xmlns:a16="http://schemas.microsoft.com/office/drawing/2014/main" id="{2E335EC0-BE93-7D48-B1F1-2EBDF7E08A9B}"/>
                </a:ext>
              </a:extLst>
            </p:cNvPr>
            <p:cNvCxnSpPr/>
            <p:nvPr/>
          </p:nvCxnSpPr>
          <p:spPr>
            <a:xfrm>
              <a:off x="7480852" y="2325756"/>
              <a:ext cx="125895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81414790-8DD3-3D4D-8E4E-CD4D79358549}"/>
              </a:ext>
            </a:extLst>
          </p:cNvPr>
          <p:cNvGrpSpPr/>
          <p:nvPr/>
        </p:nvGrpSpPr>
        <p:grpSpPr>
          <a:xfrm>
            <a:off x="0" y="3085400"/>
            <a:ext cx="3021496" cy="590931"/>
            <a:chOff x="0" y="2970865"/>
            <a:chExt cx="4028661" cy="787908"/>
          </a:xfrm>
        </p:grpSpPr>
        <p:sp>
          <p:nvSpPr>
            <p:cNvPr id="31" name="Rectangle 4">
              <a:extLst>
                <a:ext uri="{FF2B5EF4-FFF2-40B4-BE49-F238E27FC236}">
                  <a16:creationId xmlns:a16="http://schemas.microsoft.com/office/drawing/2014/main" id="{FD2BAAAA-1AE8-4040-B5EF-F0275A2B5E9A}"/>
                </a:ext>
              </a:extLst>
            </p:cNvPr>
            <p:cNvSpPr>
              <a:spLocks noChangeArrowheads="1"/>
            </p:cNvSpPr>
            <p:nvPr/>
          </p:nvSpPr>
          <p:spPr bwMode="auto">
            <a:xfrm>
              <a:off x="0" y="2970865"/>
              <a:ext cx="3237808" cy="787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eaLnBrk="1" fontAlgn="auto" hangingPunct="1">
                <a:lnSpc>
                  <a:spcPct val="90000"/>
                </a:lnSpc>
                <a:spcBef>
                  <a:spcPts val="0"/>
                </a:spcBef>
                <a:spcAft>
                  <a:spcPts val="0"/>
                </a:spcAft>
                <a:defRPr/>
              </a:pPr>
              <a:r>
                <a:rPr lang="en-US" altLang="en-US" sz="1800" dirty="0">
                  <a:solidFill>
                    <a:srgbClr val="C00000"/>
                  </a:solidFill>
                  <a:latin typeface="Calibri" panose="020F0502020204030204"/>
                </a:rPr>
                <a:t>128-bit </a:t>
              </a:r>
            </a:p>
            <a:p>
              <a:pPr algn="r" defTabSz="685800" eaLnBrk="1" fontAlgn="auto" hangingPunct="1">
                <a:lnSpc>
                  <a:spcPct val="90000"/>
                </a:lnSpc>
                <a:spcBef>
                  <a:spcPts val="0"/>
                </a:spcBef>
                <a:spcAft>
                  <a:spcPts val="0"/>
                </a:spcAft>
                <a:defRPr/>
              </a:pPr>
              <a:r>
                <a:rPr lang="en-US" altLang="en-US" sz="1800" dirty="0">
                  <a:solidFill>
                    <a:prstClr val="black"/>
                  </a:solidFill>
                  <a:latin typeface="Calibri" panose="020F0502020204030204"/>
                </a:rPr>
                <a:t>IPv6 addresses</a:t>
              </a:r>
              <a:endParaRPr lang="en-US" altLang="ja-JP" sz="1800" dirty="0">
                <a:solidFill>
                  <a:prstClr val="black"/>
                </a:solidFill>
                <a:latin typeface="Calibri" panose="020F0502020204030204"/>
              </a:endParaRPr>
            </a:p>
          </p:txBody>
        </p:sp>
        <p:cxnSp>
          <p:nvCxnSpPr>
            <p:cNvPr id="37" name="Straight Connector 36">
              <a:extLst>
                <a:ext uri="{FF2B5EF4-FFF2-40B4-BE49-F238E27FC236}">
                  <a16:creationId xmlns:a16="http://schemas.microsoft.com/office/drawing/2014/main" id="{86D2440C-820D-DB4D-9733-7F45283BFBFD}"/>
                </a:ext>
              </a:extLst>
            </p:cNvPr>
            <p:cNvCxnSpPr>
              <a:cxnSpLocks/>
            </p:cNvCxnSpPr>
            <p:nvPr/>
          </p:nvCxnSpPr>
          <p:spPr>
            <a:xfrm>
              <a:off x="3124200" y="3380098"/>
              <a:ext cx="904461" cy="30400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B9E4D90-DD97-EC4E-8478-927833442B32}"/>
                </a:ext>
              </a:extLst>
            </p:cNvPr>
            <p:cNvCxnSpPr>
              <a:cxnSpLocks/>
            </p:cNvCxnSpPr>
            <p:nvPr/>
          </p:nvCxnSpPr>
          <p:spPr>
            <a:xfrm flipV="1">
              <a:off x="3124200" y="3055420"/>
              <a:ext cx="904461" cy="30400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5" name="Slide Number Placeholder 3">
            <a:extLst>
              <a:ext uri="{FF2B5EF4-FFF2-40B4-BE49-F238E27FC236}">
                <a16:creationId xmlns:a16="http://schemas.microsoft.com/office/drawing/2014/main" id="{FECA57F1-CDA6-B74D-8BAA-F8802916451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126</a:t>
            </a:fld>
            <a:endParaRPr lang="en-US" dirty="0"/>
          </a:p>
        </p:txBody>
      </p:sp>
      <p:sp>
        <p:nvSpPr>
          <p:cNvPr id="2" name="Slide Number Placeholder 5">
            <a:extLst>
              <a:ext uri="{FF2B5EF4-FFF2-40B4-BE49-F238E27FC236}">
                <a16:creationId xmlns:a16="http://schemas.microsoft.com/office/drawing/2014/main" id="{FCAD5809-D469-837D-9DDD-7886581DD16E}"/>
              </a:ext>
            </a:extLst>
          </p:cNvPr>
          <p:cNvSpPr>
            <a:spLocks noGrp="1"/>
          </p:cNvSpPr>
          <p:nvPr>
            <p:ph type="sldNum" sz="quarter" idx="12"/>
          </p:nvPr>
        </p:nvSpPr>
        <p:spPr>
          <a:xfrm>
            <a:off x="8456613" y="6475412"/>
            <a:ext cx="687387" cy="382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3EF65D15-5377-4545-BF37-9575C70A14BD}" type="slidenum">
              <a:rPr lang="en-US" altLang="en-US">
                <a:latin typeface="Tahoma" panose="020B0604030504040204" pitchFamily="34" charset="0"/>
              </a:rPr>
              <a:pPr/>
              <a:t>126</a:t>
            </a:fld>
            <a:endParaRPr lang="en-US" altLang="en-US" dirty="0">
              <a:latin typeface="Tahoma" panose="020B0604030504040204" pitchFamily="34" charset="0"/>
            </a:endParaRPr>
          </a:p>
        </p:txBody>
      </p:sp>
    </p:spTree>
    <p:extLst>
      <p:ext uri="{BB962C8B-B14F-4D97-AF65-F5344CB8AC3E}">
        <p14:creationId xmlns:p14="http://schemas.microsoft.com/office/powerpoint/2010/main" val="1102815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dissolve">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dissolve">
                                      <p:cBhvr>
                                        <p:cTn id="1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82" descr="underline_base">
            <a:extLst>
              <a:ext uri="{FF2B5EF4-FFF2-40B4-BE49-F238E27FC236}">
                <a16:creationId xmlns:a16="http://schemas.microsoft.com/office/drawing/2014/main" id="{33A00285-7B53-4947-8723-5592D2E2AA2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88" y="626218"/>
            <a:ext cx="5027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4" name="Rectangle 2">
            <a:extLst>
              <a:ext uri="{FF2B5EF4-FFF2-40B4-BE49-F238E27FC236}">
                <a16:creationId xmlns:a16="http://schemas.microsoft.com/office/drawing/2014/main" id="{615DA7CC-8D1C-354A-8217-3A6711C354DD}"/>
              </a:ext>
            </a:extLst>
          </p:cNvPr>
          <p:cNvSpPr>
            <a:spLocks noGrp="1" noChangeArrowheads="1"/>
          </p:cNvSpPr>
          <p:nvPr>
            <p:ph type="title"/>
          </p:nvPr>
        </p:nvSpPr>
        <p:spPr>
          <a:xfrm>
            <a:off x="520700" y="2381"/>
            <a:ext cx="7772400" cy="691307"/>
          </a:xfrm>
        </p:spPr>
        <p:txBody>
          <a:bodyPr/>
          <a:lstStyle/>
          <a:p>
            <a:pPr>
              <a:defRPr/>
            </a:pPr>
            <a:r>
              <a:rPr lang="en-US" dirty="0">
                <a:cs typeface="+mj-cs"/>
              </a:rPr>
              <a:t>IPv6 datagram format</a:t>
            </a:r>
          </a:p>
        </p:txBody>
      </p:sp>
      <p:sp>
        <p:nvSpPr>
          <p:cNvPr id="100357" name="Rectangle 4">
            <a:extLst>
              <a:ext uri="{FF2B5EF4-FFF2-40B4-BE49-F238E27FC236}">
                <a16:creationId xmlns:a16="http://schemas.microsoft.com/office/drawing/2014/main" id="{0C54C675-568B-F74E-9F77-A27ABE459BC7}"/>
              </a:ext>
            </a:extLst>
          </p:cNvPr>
          <p:cNvSpPr>
            <a:spLocks noChangeArrowheads="1"/>
          </p:cNvSpPr>
          <p:nvPr/>
        </p:nvSpPr>
        <p:spPr bwMode="auto">
          <a:xfrm>
            <a:off x="532879" y="805605"/>
            <a:ext cx="8428241" cy="6350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i="1" dirty="0">
                <a:solidFill>
                  <a:srgbClr val="CC0000"/>
                </a:solidFill>
                <a:latin typeface="Gill Sans MT" panose="020B0502020104020203" pitchFamily="34" charset="77"/>
              </a:rPr>
              <a:t>priority:</a:t>
            </a:r>
            <a:r>
              <a:rPr lang="en-US" altLang="en-US" sz="2000" dirty="0">
                <a:latin typeface="Gill Sans MT" panose="020B0502020104020203" pitchFamily="34" charset="77"/>
              </a:rPr>
              <a:t>  identify priority among datagrams in flow</a:t>
            </a:r>
          </a:p>
          <a:p>
            <a:r>
              <a:rPr lang="en-US" altLang="en-US" sz="2000" i="1" dirty="0">
                <a:solidFill>
                  <a:srgbClr val="CC0000"/>
                </a:solidFill>
                <a:latin typeface="Gill Sans MT" panose="020B0502020104020203" pitchFamily="34" charset="77"/>
              </a:rPr>
              <a:t>flow Label:</a:t>
            </a:r>
            <a:r>
              <a:rPr lang="en-US" altLang="en-US" sz="2000" dirty="0">
                <a:latin typeface="Gill Sans MT" panose="020B0502020104020203" pitchFamily="34" charset="77"/>
              </a:rPr>
              <a:t> </a:t>
            </a:r>
          </a:p>
          <a:p>
            <a:pPr marL="457200" indent="-457200">
              <a:buFont typeface="Arial" panose="020B0604020202020204" pitchFamily="34" charset="0"/>
              <a:buChar char="•"/>
            </a:pPr>
            <a:r>
              <a:rPr lang="en-US" altLang="en-US" sz="2000" dirty="0">
                <a:latin typeface="Gill Sans MT" panose="020B0502020104020203" pitchFamily="34" charset="77"/>
              </a:rPr>
              <a:t>labeling of packets belonging to particular flows for which the sender requests special handling</a:t>
            </a:r>
          </a:p>
          <a:p>
            <a:pPr marL="1200150" lvl="1" indent="-457200">
              <a:buFont typeface="Arial" panose="020B0604020202020204" pitchFamily="34" charset="0"/>
              <a:buChar char="•"/>
            </a:pPr>
            <a:r>
              <a:rPr lang="en-US" altLang="en-US" sz="2000" dirty="0">
                <a:latin typeface="Gill Sans MT" panose="020B0502020104020203" pitchFamily="34" charset="77"/>
              </a:rPr>
              <a:t>Example: real-time service, media streaming</a:t>
            </a:r>
          </a:p>
          <a:p>
            <a:pPr marL="1200150" lvl="1" indent="-457200">
              <a:buFont typeface="Arial" panose="020B0604020202020204" pitchFamily="34" charset="0"/>
              <a:buChar char="•"/>
            </a:pPr>
            <a:r>
              <a:rPr lang="en-US" altLang="en-US" sz="2000" dirty="0">
                <a:latin typeface="Gill Sans MT" panose="020B0502020104020203" pitchFamily="34" charset="77"/>
              </a:rPr>
              <a:t>But the real definition of flow is still vague (unclear)</a:t>
            </a:r>
            <a:endParaRPr lang="en-US" altLang="en-US" sz="2000" i="1" dirty="0">
              <a:solidFill>
                <a:srgbClr val="CC0000"/>
              </a:solidFill>
              <a:latin typeface="Gill Sans MT" panose="020B0502020104020203" pitchFamily="34" charset="77"/>
            </a:endParaRPr>
          </a:p>
          <a:p>
            <a:pPr>
              <a:spcBef>
                <a:spcPts val="672"/>
              </a:spcBef>
              <a:spcAft>
                <a:spcPts val="600"/>
              </a:spcAft>
            </a:pPr>
            <a:r>
              <a:rPr lang="en-US" altLang="en-US" sz="2000" i="1" dirty="0">
                <a:solidFill>
                  <a:srgbClr val="CC0000"/>
                </a:solidFill>
                <a:latin typeface="Gill Sans MT" panose="020B0502020104020203" pitchFamily="34" charset="77"/>
              </a:rPr>
              <a:t>next header:</a:t>
            </a:r>
            <a:r>
              <a:rPr lang="en-US" altLang="en-US" sz="2000" dirty="0">
                <a:latin typeface="Gill Sans MT" panose="020B0502020104020203" pitchFamily="34" charset="77"/>
              </a:rPr>
              <a:t> identify upper layer protocol for data</a:t>
            </a:r>
            <a:endParaRPr lang="en-US" altLang="en-US" sz="2000" dirty="0">
              <a:latin typeface="Comic Sans MS" panose="030F0902030302020204" pitchFamily="66" charset="0"/>
            </a:endParaRPr>
          </a:p>
          <a:p>
            <a:pPr>
              <a:spcBef>
                <a:spcPts val="672"/>
              </a:spcBef>
              <a:spcAft>
                <a:spcPts val="600"/>
              </a:spcAft>
            </a:pPr>
            <a:r>
              <a:rPr lang="en-US" sz="2000" dirty="0">
                <a:solidFill>
                  <a:srgbClr val="C00000"/>
                </a:solidFill>
              </a:rPr>
              <a:t>Traffic class</a:t>
            </a:r>
            <a:r>
              <a:rPr lang="en-US" sz="2000" dirty="0"/>
              <a:t>:</a:t>
            </a:r>
          </a:p>
          <a:p>
            <a:pPr lvl="1">
              <a:spcBef>
                <a:spcPts val="672"/>
              </a:spcBef>
              <a:spcAft>
                <a:spcPts val="600"/>
              </a:spcAft>
            </a:pPr>
            <a:r>
              <a:rPr lang="en-US" sz="2000" dirty="0"/>
              <a:t>used to give priority to datagrams</a:t>
            </a:r>
          </a:p>
          <a:p>
            <a:pPr lvl="2">
              <a:spcBef>
                <a:spcPts val="672"/>
              </a:spcBef>
              <a:spcAft>
                <a:spcPts val="600"/>
              </a:spcAft>
            </a:pPr>
            <a:r>
              <a:rPr lang="en-US" sz="2000" dirty="0"/>
              <a:t>certain datagrams within a flow</a:t>
            </a:r>
          </a:p>
          <a:p>
            <a:pPr lvl="2">
              <a:spcBef>
                <a:spcPts val="672"/>
              </a:spcBef>
              <a:spcAft>
                <a:spcPts val="600"/>
              </a:spcAft>
            </a:pPr>
            <a:r>
              <a:rPr lang="en-US" sz="2000" dirty="0"/>
              <a:t>datagrams from certain applications (for example, ICMP) over others </a:t>
            </a:r>
          </a:p>
          <a:p>
            <a:pPr>
              <a:spcBef>
                <a:spcPts val="672"/>
              </a:spcBef>
              <a:spcAft>
                <a:spcPts val="600"/>
              </a:spcAft>
            </a:pPr>
            <a:r>
              <a:rPr lang="en-US" sz="2000" dirty="0">
                <a:solidFill>
                  <a:srgbClr val="C00000"/>
                </a:solidFill>
              </a:rPr>
              <a:t>Payload length</a:t>
            </a:r>
            <a:r>
              <a:rPr lang="en-US" sz="2000" dirty="0"/>
              <a:t>:</a:t>
            </a:r>
          </a:p>
          <a:p>
            <a:pPr lvl="1">
              <a:spcBef>
                <a:spcPts val="672"/>
              </a:spcBef>
              <a:spcAft>
                <a:spcPts val="600"/>
              </a:spcAft>
            </a:pPr>
            <a:r>
              <a:rPr lang="en-US" sz="2000" dirty="0"/>
              <a:t>What size of data sent (not including header)</a:t>
            </a:r>
          </a:p>
          <a:p>
            <a:pPr lvl="1">
              <a:spcBef>
                <a:spcPts val="672"/>
              </a:spcBef>
              <a:spcAft>
                <a:spcPts val="600"/>
              </a:spcAft>
            </a:pPr>
            <a:r>
              <a:rPr lang="en-US" sz="2000" dirty="0"/>
              <a:t>If payload is 4bytes </a:t>
            </a:r>
            <a:r>
              <a:rPr lang="en-US" sz="2000" dirty="0">
                <a:sym typeface="Wingdings" pitchFamily="2" charset="2"/>
              </a:rPr>
              <a:t> total datagram size = 40 + 4 = 44 bytes</a:t>
            </a:r>
            <a:endParaRPr lang="en-US" sz="2000" dirty="0"/>
          </a:p>
          <a:p>
            <a:endParaRPr lang="en-US" altLang="en-US" sz="2000" dirty="0">
              <a:latin typeface="Comic Sans MS" panose="030F0902030302020204" pitchFamily="66" charset="0"/>
            </a:endParaRPr>
          </a:p>
        </p:txBody>
      </p:sp>
      <p:sp>
        <p:nvSpPr>
          <p:cNvPr id="5"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426104" y="6558463"/>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127</a:t>
            </a:fld>
            <a:endParaRPr lang="en-US" altLang="en-US" dirty="0">
              <a:latin typeface="Tahoma" panose="020B0604030504040204" pitchFamily="34" charset="0"/>
            </a:endParaRPr>
          </a:p>
        </p:txBody>
      </p:sp>
    </p:spTree>
    <p:extLst>
      <p:ext uri="{BB962C8B-B14F-4D97-AF65-F5344CB8AC3E}">
        <p14:creationId xmlns:p14="http://schemas.microsoft.com/office/powerpoint/2010/main" val="405057904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82" descr="underline_base">
            <a:extLst>
              <a:ext uri="{FF2B5EF4-FFF2-40B4-BE49-F238E27FC236}">
                <a16:creationId xmlns:a16="http://schemas.microsoft.com/office/drawing/2014/main" id="{33A00285-7B53-4947-8723-5592D2E2AA2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88" y="626218"/>
            <a:ext cx="5027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5" name="Rectangle 80">
            <a:extLst>
              <a:ext uri="{FF2B5EF4-FFF2-40B4-BE49-F238E27FC236}">
                <a16:creationId xmlns:a16="http://schemas.microsoft.com/office/drawing/2014/main" id="{7D51E023-0752-8A47-9CED-94365715787F}"/>
              </a:ext>
            </a:extLst>
          </p:cNvPr>
          <p:cNvSpPr>
            <a:spLocks noChangeArrowheads="1"/>
          </p:cNvSpPr>
          <p:nvPr/>
        </p:nvSpPr>
        <p:spPr bwMode="auto">
          <a:xfrm>
            <a:off x="1506466" y="2499626"/>
            <a:ext cx="4748213" cy="2817813"/>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68614" name="Rectangle 2">
            <a:extLst>
              <a:ext uri="{FF2B5EF4-FFF2-40B4-BE49-F238E27FC236}">
                <a16:creationId xmlns:a16="http://schemas.microsoft.com/office/drawing/2014/main" id="{615DA7CC-8D1C-354A-8217-3A6711C354DD}"/>
              </a:ext>
            </a:extLst>
          </p:cNvPr>
          <p:cNvSpPr>
            <a:spLocks noGrp="1" noChangeArrowheads="1"/>
          </p:cNvSpPr>
          <p:nvPr>
            <p:ph type="title"/>
          </p:nvPr>
        </p:nvSpPr>
        <p:spPr>
          <a:xfrm>
            <a:off x="520700" y="2381"/>
            <a:ext cx="7772400" cy="691307"/>
          </a:xfrm>
        </p:spPr>
        <p:txBody>
          <a:bodyPr/>
          <a:lstStyle/>
          <a:p>
            <a:pPr>
              <a:defRPr/>
            </a:pPr>
            <a:r>
              <a:rPr lang="en-US" dirty="0">
                <a:cs typeface="+mj-cs"/>
              </a:rPr>
              <a:t>IPv6 datagram format</a:t>
            </a:r>
          </a:p>
        </p:txBody>
      </p:sp>
      <p:sp>
        <p:nvSpPr>
          <p:cNvPr id="100358" name="Rectangle 56">
            <a:extLst>
              <a:ext uri="{FF2B5EF4-FFF2-40B4-BE49-F238E27FC236}">
                <a16:creationId xmlns:a16="http://schemas.microsoft.com/office/drawing/2014/main" id="{909CBA0E-043A-E045-B11A-9B0CC75D344E}"/>
              </a:ext>
            </a:extLst>
          </p:cNvPr>
          <p:cNvSpPr>
            <a:spLocks noChangeArrowheads="1"/>
          </p:cNvSpPr>
          <p:nvPr/>
        </p:nvSpPr>
        <p:spPr bwMode="auto">
          <a:xfrm>
            <a:off x="1431854" y="2580589"/>
            <a:ext cx="4748212" cy="2817812"/>
          </a:xfrm>
          <a:prstGeom prst="rect">
            <a:avLst/>
          </a:prstGeom>
          <a:solidFill>
            <a:schemeClr val="bg1"/>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0359" name="Line 60">
            <a:extLst>
              <a:ext uri="{FF2B5EF4-FFF2-40B4-BE49-F238E27FC236}">
                <a16:creationId xmlns:a16="http://schemas.microsoft.com/office/drawing/2014/main" id="{4A07CB81-030E-A740-B167-D5E23E871E8D}"/>
              </a:ext>
            </a:extLst>
          </p:cNvPr>
          <p:cNvSpPr>
            <a:spLocks noChangeShapeType="1"/>
          </p:cNvSpPr>
          <p:nvPr/>
        </p:nvSpPr>
        <p:spPr bwMode="auto">
          <a:xfrm>
            <a:off x="1433441" y="2890151"/>
            <a:ext cx="47275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360" name="Line 61">
            <a:extLst>
              <a:ext uri="{FF2B5EF4-FFF2-40B4-BE49-F238E27FC236}">
                <a16:creationId xmlns:a16="http://schemas.microsoft.com/office/drawing/2014/main" id="{2F361EDB-EFA3-CD48-A1CC-FEC599596707}"/>
              </a:ext>
            </a:extLst>
          </p:cNvPr>
          <p:cNvSpPr>
            <a:spLocks noChangeShapeType="1"/>
          </p:cNvSpPr>
          <p:nvPr/>
        </p:nvSpPr>
        <p:spPr bwMode="auto">
          <a:xfrm>
            <a:off x="2084316" y="2590114"/>
            <a:ext cx="0" cy="2936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361" name="Line 63">
            <a:extLst>
              <a:ext uri="{FF2B5EF4-FFF2-40B4-BE49-F238E27FC236}">
                <a16:creationId xmlns:a16="http://schemas.microsoft.com/office/drawing/2014/main" id="{2B3AE57B-4783-BD48-8C3A-B192DFA2ADB2}"/>
              </a:ext>
            </a:extLst>
          </p:cNvPr>
          <p:cNvSpPr>
            <a:spLocks noChangeShapeType="1"/>
          </p:cNvSpPr>
          <p:nvPr/>
        </p:nvSpPr>
        <p:spPr bwMode="auto">
          <a:xfrm>
            <a:off x="2773291" y="2586939"/>
            <a:ext cx="0" cy="2936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362" name="Line 64">
            <a:extLst>
              <a:ext uri="{FF2B5EF4-FFF2-40B4-BE49-F238E27FC236}">
                <a16:creationId xmlns:a16="http://schemas.microsoft.com/office/drawing/2014/main" id="{8623E46E-14BD-FF48-9158-54B4AA139D97}"/>
              </a:ext>
            </a:extLst>
          </p:cNvPr>
          <p:cNvSpPr>
            <a:spLocks noChangeShapeType="1"/>
          </p:cNvSpPr>
          <p:nvPr/>
        </p:nvSpPr>
        <p:spPr bwMode="auto">
          <a:xfrm>
            <a:off x="3700391" y="2885389"/>
            <a:ext cx="0" cy="2936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363" name="Line 65">
            <a:extLst>
              <a:ext uri="{FF2B5EF4-FFF2-40B4-BE49-F238E27FC236}">
                <a16:creationId xmlns:a16="http://schemas.microsoft.com/office/drawing/2014/main" id="{0244C450-998E-E34B-8A06-56898A44CAD3}"/>
              </a:ext>
            </a:extLst>
          </p:cNvPr>
          <p:cNvSpPr>
            <a:spLocks noChangeShapeType="1"/>
          </p:cNvSpPr>
          <p:nvPr/>
        </p:nvSpPr>
        <p:spPr bwMode="auto">
          <a:xfrm>
            <a:off x="4846566" y="2888564"/>
            <a:ext cx="0" cy="2936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364" name="Line 66">
            <a:extLst>
              <a:ext uri="{FF2B5EF4-FFF2-40B4-BE49-F238E27FC236}">
                <a16:creationId xmlns:a16="http://schemas.microsoft.com/office/drawing/2014/main" id="{6CD41D1E-DFAB-B547-84AC-06C55B3E95EE}"/>
              </a:ext>
            </a:extLst>
          </p:cNvPr>
          <p:cNvSpPr>
            <a:spLocks noChangeShapeType="1"/>
          </p:cNvSpPr>
          <p:nvPr/>
        </p:nvSpPr>
        <p:spPr bwMode="auto">
          <a:xfrm>
            <a:off x="1420741" y="4410976"/>
            <a:ext cx="47609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365" name="Line 67">
            <a:extLst>
              <a:ext uri="{FF2B5EF4-FFF2-40B4-BE49-F238E27FC236}">
                <a16:creationId xmlns:a16="http://schemas.microsoft.com/office/drawing/2014/main" id="{515A75D4-A0B2-7047-8048-DF1D1740394F}"/>
              </a:ext>
            </a:extLst>
          </p:cNvPr>
          <p:cNvSpPr>
            <a:spLocks noChangeShapeType="1"/>
          </p:cNvSpPr>
          <p:nvPr/>
        </p:nvSpPr>
        <p:spPr bwMode="auto">
          <a:xfrm>
            <a:off x="1438204" y="3771214"/>
            <a:ext cx="47609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366" name="Line 68">
            <a:extLst>
              <a:ext uri="{FF2B5EF4-FFF2-40B4-BE49-F238E27FC236}">
                <a16:creationId xmlns:a16="http://schemas.microsoft.com/office/drawing/2014/main" id="{6A091E60-4266-954A-840C-3DD28418EA0E}"/>
              </a:ext>
            </a:extLst>
          </p:cNvPr>
          <p:cNvSpPr>
            <a:spLocks noChangeShapeType="1"/>
          </p:cNvSpPr>
          <p:nvPr/>
        </p:nvSpPr>
        <p:spPr bwMode="auto">
          <a:xfrm>
            <a:off x="1423916" y="3188601"/>
            <a:ext cx="47609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367" name="Text Box 69">
            <a:extLst>
              <a:ext uri="{FF2B5EF4-FFF2-40B4-BE49-F238E27FC236}">
                <a16:creationId xmlns:a16="http://schemas.microsoft.com/office/drawing/2014/main" id="{1CBAE421-C5A3-7A4F-8371-050171A707B7}"/>
              </a:ext>
            </a:extLst>
          </p:cNvPr>
          <p:cNvSpPr txBox="1">
            <a:spLocks noChangeArrowheads="1"/>
          </p:cNvSpPr>
          <p:nvPr/>
        </p:nvSpPr>
        <p:spPr bwMode="auto">
          <a:xfrm>
            <a:off x="3336854" y="4676089"/>
            <a:ext cx="628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data</a:t>
            </a:r>
          </a:p>
        </p:txBody>
      </p:sp>
      <p:sp>
        <p:nvSpPr>
          <p:cNvPr id="100368" name="Text Box 70">
            <a:extLst>
              <a:ext uri="{FF2B5EF4-FFF2-40B4-BE49-F238E27FC236}">
                <a16:creationId xmlns:a16="http://schemas.microsoft.com/office/drawing/2014/main" id="{F5C9A057-07AF-6446-A1B2-AC4C491D7C4C}"/>
              </a:ext>
            </a:extLst>
          </p:cNvPr>
          <p:cNvSpPr txBox="1">
            <a:spLocks noChangeArrowheads="1"/>
          </p:cNvSpPr>
          <p:nvPr/>
        </p:nvSpPr>
        <p:spPr bwMode="auto">
          <a:xfrm>
            <a:off x="2668516" y="3814076"/>
            <a:ext cx="21653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a:t>destination address</a:t>
            </a:r>
          </a:p>
          <a:p>
            <a:pPr algn="ctr">
              <a:lnSpc>
                <a:spcPct val="85000"/>
              </a:lnSpc>
            </a:pPr>
            <a:r>
              <a:rPr lang="en-US" altLang="en-US"/>
              <a:t>(128 bits)</a:t>
            </a:r>
          </a:p>
        </p:txBody>
      </p:sp>
      <p:sp>
        <p:nvSpPr>
          <p:cNvPr id="100369" name="Text Box 71">
            <a:extLst>
              <a:ext uri="{FF2B5EF4-FFF2-40B4-BE49-F238E27FC236}">
                <a16:creationId xmlns:a16="http://schemas.microsoft.com/office/drawing/2014/main" id="{B8FE78DD-B343-0C42-8883-6EB6FE068743}"/>
              </a:ext>
            </a:extLst>
          </p:cNvPr>
          <p:cNvSpPr txBox="1">
            <a:spLocks noChangeArrowheads="1"/>
          </p:cNvSpPr>
          <p:nvPr/>
        </p:nvSpPr>
        <p:spPr bwMode="auto">
          <a:xfrm>
            <a:off x="2833616" y="3207651"/>
            <a:ext cx="17462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a:t>source address</a:t>
            </a:r>
          </a:p>
          <a:p>
            <a:pPr algn="ctr">
              <a:lnSpc>
                <a:spcPct val="85000"/>
              </a:lnSpc>
            </a:pPr>
            <a:r>
              <a:rPr lang="en-US" altLang="en-US"/>
              <a:t>(128 bits)</a:t>
            </a:r>
          </a:p>
        </p:txBody>
      </p:sp>
      <p:sp>
        <p:nvSpPr>
          <p:cNvPr id="100370" name="Text Box 72">
            <a:extLst>
              <a:ext uri="{FF2B5EF4-FFF2-40B4-BE49-F238E27FC236}">
                <a16:creationId xmlns:a16="http://schemas.microsoft.com/office/drawing/2014/main" id="{79C2376F-4E90-A34E-A29D-D3430B7C1146}"/>
              </a:ext>
            </a:extLst>
          </p:cNvPr>
          <p:cNvSpPr txBox="1">
            <a:spLocks noChangeArrowheads="1"/>
          </p:cNvSpPr>
          <p:nvPr/>
        </p:nvSpPr>
        <p:spPr bwMode="auto">
          <a:xfrm>
            <a:off x="1917629" y="2855226"/>
            <a:ext cx="1352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payload len</a:t>
            </a:r>
          </a:p>
        </p:txBody>
      </p:sp>
      <p:sp>
        <p:nvSpPr>
          <p:cNvPr id="100371" name="Text Box 73">
            <a:extLst>
              <a:ext uri="{FF2B5EF4-FFF2-40B4-BE49-F238E27FC236}">
                <a16:creationId xmlns:a16="http://schemas.microsoft.com/office/drawing/2014/main" id="{241BFAE3-81E3-3342-93FD-0BA779987F51}"/>
              </a:ext>
            </a:extLst>
          </p:cNvPr>
          <p:cNvSpPr txBox="1">
            <a:spLocks noChangeArrowheads="1"/>
          </p:cNvSpPr>
          <p:nvPr/>
        </p:nvSpPr>
        <p:spPr bwMode="auto">
          <a:xfrm>
            <a:off x="3698804" y="2863164"/>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next hdr</a:t>
            </a:r>
          </a:p>
        </p:txBody>
      </p:sp>
      <p:sp>
        <p:nvSpPr>
          <p:cNvPr id="100372" name="Text Box 74">
            <a:extLst>
              <a:ext uri="{FF2B5EF4-FFF2-40B4-BE49-F238E27FC236}">
                <a16:creationId xmlns:a16="http://schemas.microsoft.com/office/drawing/2014/main" id="{4062085A-FC47-134F-B0A0-8ADAE46CAA1D}"/>
              </a:ext>
            </a:extLst>
          </p:cNvPr>
          <p:cNvSpPr txBox="1">
            <a:spLocks noChangeArrowheads="1"/>
          </p:cNvSpPr>
          <p:nvPr/>
        </p:nvSpPr>
        <p:spPr bwMode="auto">
          <a:xfrm>
            <a:off x="4954516" y="2848876"/>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hop limit</a:t>
            </a:r>
          </a:p>
        </p:txBody>
      </p:sp>
      <p:sp>
        <p:nvSpPr>
          <p:cNvPr id="100373" name="Text Box 75">
            <a:extLst>
              <a:ext uri="{FF2B5EF4-FFF2-40B4-BE49-F238E27FC236}">
                <a16:creationId xmlns:a16="http://schemas.microsoft.com/office/drawing/2014/main" id="{013DF5F9-0ACD-854C-AC19-858A3905ECFE}"/>
              </a:ext>
            </a:extLst>
          </p:cNvPr>
          <p:cNvSpPr txBox="1">
            <a:spLocks noChangeArrowheads="1"/>
          </p:cNvSpPr>
          <p:nvPr/>
        </p:nvSpPr>
        <p:spPr bwMode="auto">
          <a:xfrm>
            <a:off x="3824216" y="2555189"/>
            <a:ext cx="1136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flow label</a:t>
            </a:r>
          </a:p>
        </p:txBody>
      </p:sp>
      <p:sp>
        <p:nvSpPr>
          <p:cNvPr id="100374" name="Text Box 76">
            <a:extLst>
              <a:ext uri="{FF2B5EF4-FFF2-40B4-BE49-F238E27FC236}">
                <a16:creationId xmlns:a16="http://schemas.microsoft.com/office/drawing/2014/main" id="{6F883A72-C4FA-2C4E-90C6-6D0C8445AE30}"/>
              </a:ext>
            </a:extLst>
          </p:cNvPr>
          <p:cNvSpPr txBox="1">
            <a:spLocks noChangeArrowheads="1"/>
          </p:cNvSpPr>
          <p:nvPr/>
        </p:nvSpPr>
        <p:spPr bwMode="auto">
          <a:xfrm>
            <a:off x="2203379" y="25409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pri</a:t>
            </a:r>
          </a:p>
        </p:txBody>
      </p:sp>
      <p:sp>
        <p:nvSpPr>
          <p:cNvPr id="100375" name="Text Box 77">
            <a:extLst>
              <a:ext uri="{FF2B5EF4-FFF2-40B4-BE49-F238E27FC236}">
                <a16:creationId xmlns:a16="http://schemas.microsoft.com/office/drawing/2014/main" id="{88D5026F-2B4C-E247-8A25-557E6E92AFDF}"/>
              </a:ext>
            </a:extLst>
          </p:cNvPr>
          <p:cNvSpPr txBox="1">
            <a:spLocks noChangeArrowheads="1"/>
          </p:cNvSpPr>
          <p:nvPr/>
        </p:nvSpPr>
        <p:spPr bwMode="auto">
          <a:xfrm>
            <a:off x="1496941" y="2548839"/>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ver</a:t>
            </a:r>
          </a:p>
        </p:txBody>
      </p:sp>
      <p:sp>
        <p:nvSpPr>
          <p:cNvPr id="100376" name="Line 79">
            <a:extLst>
              <a:ext uri="{FF2B5EF4-FFF2-40B4-BE49-F238E27FC236}">
                <a16:creationId xmlns:a16="http://schemas.microsoft.com/office/drawing/2014/main" id="{FE4124C7-B652-C84C-AA7B-745C8BEF40CD}"/>
              </a:ext>
            </a:extLst>
          </p:cNvPr>
          <p:cNvSpPr>
            <a:spLocks noChangeShapeType="1"/>
          </p:cNvSpPr>
          <p:nvPr/>
        </p:nvSpPr>
        <p:spPr bwMode="auto">
          <a:xfrm>
            <a:off x="1409629" y="5636526"/>
            <a:ext cx="481647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0377" name="Text Box 78">
            <a:extLst>
              <a:ext uri="{FF2B5EF4-FFF2-40B4-BE49-F238E27FC236}">
                <a16:creationId xmlns:a16="http://schemas.microsoft.com/office/drawing/2014/main" id="{1143E584-686B-6B4B-AC16-D8614550C9F7}"/>
              </a:ext>
            </a:extLst>
          </p:cNvPr>
          <p:cNvSpPr txBox="1">
            <a:spLocks noChangeArrowheads="1"/>
          </p:cNvSpPr>
          <p:nvPr/>
        </p:nvSpPr>
        <p:spPr bwMode="auto">
          <a:xfrm>
            <a:off x="3268591" y="5446026"/>
            <a:ext cx="8572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32 bits</a:t>
            </a:r>
          </a:p>
        </p:txBody>
      </p:sp>
      <p:sp>
        <p:nvSpPr>
          <p:cNvPr id="100378" name="Slide Number Placeholder 5">
            <a:extLst>
              <a:ext uri="{FF2B5EF4-FFF2-40B4-BE49-F238E27FC236}">
                <a16:creationId xmlns:a16="http://schemas.microsoft.com/office/drawing/2014/main" id="{779B0DE7-CFAA-1344-B569-5DE46D15850F}"/>
              </a:ext>
            </a:extLst>
          </p:cNvPr>
          <p:cNvSpPr>
            <a:spLocks noGrp="1"/>
          </p:cNvSpPr>
          <p:nvPr>
            <p:ph type="sldNum" sz="quarter" idx="12"/>
          </p:nvPr>
        </p:nvSpPr>
        <p:spPr>
          <a:xfrm>
            <a:off x="7746929" y="5711139"/>
            <a:ext cx="561975" cy="273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Tahoma" panose="020B0604030504040204" pitchFamily="34" charset="0"/>
              </a:rPr>
              <a:t>4-</a:t>
            </a:r>
            <a:fld id="{16AEB784-21EC-A943-BC68-01B3428BC454}" type="slidenum">
              <a:rPr lang="en-US" altLang="en-US">
                <a:latin typeface="Tahoma" panose="020B0604030504040204" pitchFamily="34" charset="0"/>
              </a:rPr>
              <a:pPr/>
              <a:t>128</a:t>
            </a:fld>
            <a:endParaRPr lang="en-US" altLang="en-US">
              <a:latin typeface="Tahoma" panose="020B0604030504040204" pitchFamily="34" charset="0"/>
            </a:endParaRPr>
          </a:p>
        </p:txBody>
      </p:sp>
      <p:sp>
        <p:nvSpPr>
          <p:cNvPr id="100379" name="Footer Placeholder 2">
            <a:extLst>
              <a:ext uri="{FF2B5EF4-FFF2-40B4-BE49-F238E27FC236}">
                <a16:creationId xmlns:a16="http://schemas.microsoft.com/office/drawing/2014/main" id="{BAC50069-AE13-FB4E-B049-5D7A8F8D0E1D}"/>
              </a:ext>
            </a:extLst>
          </p:cNvPr>
          <p:cNvSpPr>
            <a:spLocks noGrp="1"/>
          </p:cNvSpPr>
          <p:nvPr>
            <p:ph type="ftr" sz="quarter" idx="11"/>
          </p:nvPr>
        </p:nvSpPr>
        <p:spPr bwMode="auto">
          <a:xfrm>
            <a:off x="5665716" y="5711139"/>
            <a:ext cx="2178050" cy="241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1200">
                <a:solidFill>
                  <a:srgbClr val="000000"/>
                </a:solidFill>
                <a:latin typeface="Tahoma" panose="020B0604030504040204" pitchFamily="34" charset="0"/>
                <a:cs typeface="Arial" panose="020B0604020202020204" pitchFamily="34" charset="0"/>
              </a:rPr>
              <a:t>Network Layer: Data Plane</a:t>
            </a:r>
          </a:p>
        </p:txBody>
      </p:sp>
      <p:sp>
        <p:nvSpPr>
          <p:cNvPr id="29" name="Rounded Rectangular Callout 28"/>
          <p:cNvSpPr/>
          <p:nvPr/>
        </p:nvSpPr>
        <p:spPr>
          <a:xfrm>
            <a:off x="1877272" y="1673321"/>
            <a:ext cx="2088232" cy="792088"/>
          </a:xfrm>
          <a:prstGeom prst="wedgeRoundRectCallout">
            <a:avLst>
              <a:gd name="adj1" fmla="val -15605"/>
              <a:gd name="adj2" fmla="val 76284"/>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Used to give priority to certain </a:t>
            </a:r>
            <a:r>
              <a:rPr lang="en-US" dirty="0" err="1"/>
              <a:t>datagrams</a:t>
            </a:r>
            <a:endParaRPr lang="ms-MY" dirty="0"/>
          </a:p>
        </p:txBody>
      </p:sp>
      <p:sp>
        <p:nvSpPr>
          <p:cNvPr id="30" name="Rounded Rectangular Callout 29"/>
          <p:cNvSpPr/>
          <p:nvPr/>
        </p:nvSpPr>
        <p:spPr>
          <a:xfrm>
            <a:off x="5619889" y="3579127"/>
            <a:ext cx="2952328" cy="1008112"/>
          </a:xfrm>
          <a:prstGeom prst="wedgeRoundRectCallout">
            <a:avLst>
              <a:gd name="adj1" fmla="val -69834"/>
              <a:gd name="adj2" fmla="val 5641"/>
              <a:gd name="adj3" fmla="val 16667"/>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C00000"/>
                </a:solidFill>
              </a:rPr>
              <a:t>increased the size of the IP address from 32 to </a:t>
            </a:r>
            <a:r>
              <a:rPr lang="en-US" b="1" dirty="0">
                <a:solidFill>
                  <a:srgbClr val="C00000"/>
                </a:solidFill>
              </a:rPr>
              <a:t>128 bits</a:t>
            </a:r>
            <a:endParaRPr lang="ms-MY" b="1" dirty="0">
              <a:solidFill>
                <a:srgbClr val="C00000"/>
              </a:solidFill>
            </a:endParaRPr>
          </a:p>
        </p:txBody>
      </p:sp>
      <p:sp>
        <p:nvSpPr>
          <p:cNvPr id="31" name="Slide Number Placeholder 5">
            <a:extLst>
              <a:ext uri="{FF2B5EF4-FFF2-40B4-BE49-F238E27FC236}">
                <a16:creationId xmlns:a16="http://schemas.microsoft.com/office/drawing/2014/main" id="{B908D751-CF31-E144-BCDD-06B2FF32E121}"/>
              </a:ext>
            </a:extLst>
          </p:cNvPr>
          <p:cNvSpPr txBox="1">
            <a:spLocks/>
          </p:cNvSpPr>
          <p:nvPr/>
        </p:nvSpPr>
        <p:spPr bwMode="auto">
          <a:xfrm>
            <a:off x="8319542" y="6439419"/>
            <a:ext cx="717896" cy="299537"/>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altLang="en-US">
                <a:latin typeface="Tahoma" panose="020B0604030504040204" pitchFamily="34" charset="0"/>
              </a:rPr>
              <a:t>4-</a:t>
            </a:r>
            <a:fld id="{C2074DCC-A718-E54F-8CB1-E1100D588721}" type="slidenum">
              <a:rPr lang="en-US" altLang="en-US" smtClean="0">
                <a:latin typeface="Tahoma" panose="020B0604030504040204" pitchFamily="34" charset="0"/>
              </a:rPr>
              <a:pPr/>
              <a:t>128</a:t>
            </a:fld>
            <a:endParaRPr lang="en-US" altLang="en-US" dirty="0">
              <a:latin typeface="Tahoma" panose="020B0604030504040204" pitchFamily="34" charset="0"/>
            </a:endParaRPr>
          </a:p>
        </p:txBody>
      </p:sp>
    </p:spTree>
    <p:extLst>
      <p:ext uri="{BB962C8B-B14F-4D97-AF65-F5344CB8AC3E}">
        <p14:creationId xmlns:p14="http://schemas.microsoft.com/office/powerpoint/2010/main" val="256923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Rectangle 2">
            <a:extLst>
              <a:ext uri="{FF2B5EF4-FFF2-40B4-BE49-F238E27FC236}">
                <a16:creationId xmlns:a16="http://schemas.microsoft.com/office/drawing/2014/main" id="{EBCF887E-2A76-664F-AE67-8D1EEDDD7DA8}"/>
              </a:ext>
            </a:extLst>
          </p:cNvPr>
          <p:cNvSpPr>
            <a:spLocks noGrp="1" noChangeArrowheads="1"/>
          </p:cNvSpPr>
          <p:nvPr>
            <p:ph type="title"/>
          </p:nvPr>
        </p:nvSpPr>
        <p:spPr>
          <a:xfrm>
            <a:off x="684213" y="201305"/>
            <a:ext cx="7772400" cy="1143000"/>
          </a:xfrm>
        </p:spPr>
        <p:txBody>
          <a:bodyPr/>
          <a:lstStyle/>
          <a:p>
            <a:pPr>
              <a:defRPr/>
            </a:pPr>
            <a:r>
              <a:rPr lang="en-US" dirty="0"/>
              <a:t>IPv6 datagram format and </a:t>
            </a:r>
            <a:r>
              <a:rPr lang="en-US" dirty="0">
                <a:cs typeface="+mj-cs"/>
              </a:rPr>
              <a:t>other changes from IPv4</a:t>
            </a:r>
          </a:p>
        </p:txBody>
      </p:sp>
      <p:sp>
        <p:nvSpPr>
          <p:cNvPr id="101381" name="Slide Number Placeholder 5">
            <a:extLst>
              <a:ext uri="{FF2B5EF4-FFF2-40B4-BE49-F238E27FC236}">
                <a16:creationId xmlns:a16="http://schemas.microsoft.com/office/drawing/2014/main" id="{BF5766C7-E1FA-0F4F-A69E-D029E6289CCF}"/>
              </a:ext>
            </a:extLst>
          </p:cNvPr>
          <p:cNvSpPr>
            <a:spLocks noGrp="1"/>
          </p:cNvSpPr>
          <p:nvPr>
            <p:ph type="sldNum" sz="quarter" idx="12"/>
          </p:nvPr>
        </p:nvSpPr>
        <p:spPr>
          <a:xfrm>
            <a:off x="8456613" y="6475413"/>
            <a:ext cx="687387" cy="34883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D2129B01-E98A-B94D-B03D-FB05E4215B95}" type="slidenum">
              <a:rPr lang="en-US" altLang="en-US">
                <a:latin typeface="Tahoma" panose="020B0604030504040204" pitchFamily="34" charset="0"/>
              </a:rPr>
              <a:pPr/>
              <a:t>129</a:t>
            </a:fld>
            <a:endParaRPr lang="en-US" altLang="en-US" dirty="0">
              <a:latin typeface="Tahoma" panose="020B0604030504040204" pitchFamily="34" charset="0"/>
            </a:endParaRPr>
          </a:p>
        </p:txBody>
      </p:sp>
      <p:sp>
        <p:nvSpPr>
          <p:cNvPr id="8" name="Content Placeholder 4"/>
          <p:cNvSpPr>
            <a:spLocks noGrp="1"/>
          </p:cNvSpPr>
          <p:nvPr>
            <p:ph sz="quarter" idx="1"/>
          </p:nvPr>
        </p:nvSpPr>
        <p:spPr>
          <a:xfrm>
            <a:off x="233680" y="1693141"/>
            <a:ext cx="8503920" cy="4782272"/>
          </a:xfrm>
        </p:spPr>
        <p:txBody>
          <a:bodyPr>
            <a:normAutofit/>
          </a:bodyPr>
          <a:lstStyle/>
          <a:p>
            <a:pPr>
              <a:spcAft>
                <a:spcPts val="600"/>
              </a:spcAft>
            </a:pPr>
            <a:r>
              <a:rPr lang="en-US" sz="2400" dirty="0"/>
              <a:t>IPv6 datagram format: </a:t>
            </a:r>
          </a:p>
          <a:p>
            <a:pPr lvl="1">
              <a:spcAft>
                <a:spcPts val="600"/>
              </a:spcAft>
            </a:pPr>
            <a:r>
              <a:rPr lang="en-US" sz="2200" dirty="0">
                <a:solidFill>
                  <a:srgbClr val="C00000"/>
                </a:solidFill>
              </a:rPr>
              <a:t>Header</a:t>
            </a:r>
            <a:r>
              <a:rPr lang="en-US" sz="2200" dirty="0"/>
              <a:t> : 40-byte </a:t>
            </a:r>
            <a:r>
              <a:rPr lang="en-US" sz="2200" dirty="0">
                <a:solidFill>
                  <a:srgbClr val="FF0000"/>
                </a:solidFill>
              </a:rPr>
              <a:t>fixed-length</a:t>
            </a:r>
            <a:r>
              <a:rPr lang="en-US" sz="2200" dirty="0"/>
              <a:t> header </a:t>
            </a:r>
            <a:r>
              <a:rPr lang="en-US" sz="2200" dirty="0">
                <a:sym typeface="Wingdings" pitchFamily="2" charset="2"/>
              </a:rPr>
              <a:t> </a:t>
            </a:r>
            <a:r>
              <a:rPr lang="en-US" sz="2200" dirty="0"/>
              <a:t>allows </a:t>
            </a:r>
            <a:r>
              <a:rPr lang="en-US" sz="2200" dirty="0">
                <a:solidFill>
                  <a:srgbClr val="FF0000"/>
                </a:solidFill>
              </a:rPr>
              <a:t>faster processing </a:t>
            </a:r>
            <a:r>
              <a:rPr lang="en-US" sz="2200" dirty="0"/>
              <a:t>of the IP datagram</a:t>
            </a:r>
          </a:p>
          <a:p>
            <a:pPr lvl="1">
              <a:spcAft>
                <a:spcPts val="600"/>
              </a:spcAft>
            </a:pPr>
            <a:r>
              <a:rPr lang="en-US" sz="2200" dirty="0">
                <a:solidFill>
                  <a:srgbClr val="C00000"/>
                </a:solidFill>
              </a:rPr>
              <a:t>Fragmentation</a:t>
            </a:r>
            <a:r>
              <a:rPr lang="en-US" sz="2200" dirty="0"/>
              <a:t>: </a:t>
            </a:r>
            <a:r>
              <a:rPr lang="en-US" sz="2200" b="1" dirty="0">
                <a:solidFill>
                  <a:srgbClr val="FF0000"/>
                </a:solidFill>
              </a:rPr>
              <a:t>NO</a:t>
            </a:r>
            <a:r>
              <a:rPr lang="en-US" sz="2200" dirty="0">
                <a:solidFill>
                  <a:srgbClr val="FF0000"/>
                </a:solidFill>
              </a:rPr>
              <a:t> fragmentation </a:t>
            </a:r>
            <a:r>
              <a:rPr lang="en-US" sz="2200" dirty="0"/>
              <a:t>allowed</a:t>
            </a:r>
          </a:p>
          <a:p>
            <a:pPr lvl="1">
              <a:spcAft>
                <a:spcPts val="600"/>
              </a:spcAft>
            </a:pPr>
            <a:r>
              <a:rPr lang="en-US" altLang="en-US" sz="2000" i="1" dirty="0">
                <a:solidFill>
                  <a:srgbClr val="CC0000"/>
                </a:solidFill>
                <a:ea typeface="ＭＳ Ｐゴシック" panose="020B0600070205080204" pitchFamily="34" charset="-128"/>
                <a:cs typeface="ＭＳ Ｐゴシック" panose="020B0600070205080204" pitchFamily="34" charset="-128"/>
              </a:rPr>
              <a:t>options:</a:t>
            </a:r>
            <a:r>
              <a:rPr lang="en-US" altLang="en-US" sz="2000" dirty="0">
                <a:ea typeface="ＭＳ Ｐゴシック" panose="020B0600070205080204" pitchFamily="34" charset="-128"/>
                <a:cs typeface="ＭＳ Ｐゴシック" panose="020B0600070205080204" pitchFamily="34" charset="-128"/>
              </a:rPr>
              <a:t> allowed, but outside of header, indicated by </a:t>
            </a:r>
            <a:r>
              <a:rPr lang="ja-JP" altLang="en-US" sz="2000" dirty="0">
                <a:ea typeface="ＭＳ Ｐゴシック" panose="020B0600070205080204" pitchFamily="34" charset="-128"/>
                <a:cs typeface="ＭＳ Ｐゴシック" panose="020B0600070205080204" pitchFamily="34" charset="-128"/>
              </a:rPr>
              <a:t>“</a:t>
            </a:r>
            <a:r>
              <a:rPr lang="en-US" altLang="ja-JP" sz="2000" dirty="0">
                <a:ea typeface="ＭＳ Ｐゴシック" panose="020B0600070205080204" pitchFamily="34" charset="-128"/>
                <a:cs typeface="ＭＳ Ｐゴシック" panose="020B0600070205080204" pitchFamily="34" charset="-128"/>
              </a:rPr>
              <a:t>Next Header</a:t>
            </a:r>
            <a:r>
              <a:rPr lang="ja-JP" altLang="en-US" sz="2000" dirty="0">
                <a:ea typeface="ＭＳ Ｐゴシック" panose="020B0600070205080204" pitchFamily="34" charset="-128"/>
                <a:cs typeface="ＭＳ Ｐゴシック" panose="020B0600070205080204" pitchFamily="34" charset="-128"/>
              </a:rPr>
              <a:t>”</a:t>
            </a:r>
            <a:r>
              <a:rPr lang="en-US" altLang="ja-JP" sz="2000" dirty="0">
                <a:ea typeface="ＭＳ Ｐゴシック" panose="020B0600070205080204" pitchFamily="34" charset="-128"/>
                <a:cs typeface="ＭＳ Ｐゴシック" panose="020B0600070205080204" pitchFamily="34" charset="-128"/>
              </a:rPr>
              <a:t> field</a:t>
            </a:r>
            <a:endParaRPr lang="en-US" sz="2200" dirty="0"/>
          </a:p>
          <a:p>
            <a:pPr lvl="1">
              <a:spcAft>
                <a:spcPts val="600"/>
              </a:spcAft>
            </a:pPr>
            <a:r>
              <a:rPr lang="en-US" sz="2200" dirty="0">
                <a:solidFill>
                  <a:srgbClr val="C00000"/>
                </a:solidFill>
              </a:rPr>
              <a:t>Checksum</a:t>
            </a:r>
            <a:r>
              <a:rPr lang="en-US" sz="2200" dirty="0"/>
              <a:t>: </a:t>
            </a:r>
            <a:r>
              <a:rPr lang="en-US" sz="2200" b="1" dirty="0">
                <a:solidFill>
                  <a:srgbClr val="FF0000"/>
                </a:solidFill>
              </a:rPr>
              <a:t>NO</a:t>
            </a:r>
            <a:r>
              <a:rPr lang="en-US" sz="2200" dirty="0">
                <a:solidFill>
                  <a:srgbClr val="FF0000"/>
                </a:solidFill>
              </a:rPr>
              <a:t> checksum</a:t>
            </a:r>
            <a:r>
              <a:rPr lang="en-US" sz="2200" dirty="0"/>
              <a:t> at Network Layer for </a:t>
            </a:r>
            <a:r>
              <a:rPr lang="en-US" sz="2200" dirty="0">
                <a:sym typeface="Wingdings" pitchFamily="2" charset="2"/>
              </a:rPr>
              <a:t>faster processing at each hop  use checksum on Transport Layer</a:t>
            </a:r>
            <a:endParaRPr lang="en-US" altLang="ja-JP" sz="2200" dirty="0">
              <a:ea typeface="ＭＳ Ｐゴシック" pitchFamily="34" charset="-128"/>
            </a:endParaRPr>
          </a:p>
          <a:p>
            <a:pPr lvl="1">
              <a:spcAft>
                <a:spcPts val="600"/>
              </a:spcAft>
            </a:pPr>
            <a:r>
              <a:rPr lang="en-US" altLang="en-US" sz="2200" i="1" dirty="0">
                <a:solidFill>
                  <a:srgbClr val="CC0000"/>
                </a:solidFill>
                <a:ea typeface="ＭＳ Ｐゴシック" pitchFamily="34" charset="-128"/>
              </a:rPr>
              <a:t>ICMPv6:</a:t>
            </a:r>
            <a:r>
              <a:rPr lang="en-US" altLang="en-US" sz="2200" dirty="0">
                <a:ea typeface="ＭＳ Ｐゴシック" pitchFamily="34" charset="-128"/>
              </a:rPr>
              <a:t> new version of ICMP</a:t>
            </a:r>
          </a:p>
          <a:p>
            <a:pPr lvl="2">
              <a:spcAft>
                <a:spcPts val="600"/>
              </a:spcAft>
            </a:pPr>
            <a:r>
              <a:rPr lang="en-US" altLang="en-US" dirty="0">
                <a:ea typeface="ＭＳ Ｐゴシック" pitchFamily="34" charset="-128"/>
              </a:rPr>
              <a:t>additional message types, e.g. </a:t>
            </a:r>
            <a:r>
              <a:rPr lang="ja-JP" altLang="en-US" dirty="0">
                <a:ea typeface="ＭＳ Ｐゴシック" pitchFamily="34" charset="-128"/>
              </a:rPr>
              <a:t>“</a:t>
            </a:r>
            <a:r>
              <a:rPr lang="en-US" altLang="ja-JP" dirty="0">
                <a:ea typeface="ＭＳ Ｐゴシック" pitchFamily="34" charset="-128"/>
              </a:rPr>
              <a:t>Packet Too Big</a:t>
            </a:r>
            <a:r>
              <a:rPr lang="ja-JP" altLang="en-US" dirty="0">
                <a:ea typeface="ＭＳ Ｐゴシック" pitchFamily="34" charset="-128"/>
              </a:rPr>
              <a:t>”</a:t>
            </a:r>
            <a:endParaRPr lang="en-US" altLang="ja-JP" dirty="0">
              <a:ea typeface="ＭＳ Ｐゴシック" pitchFamily="34" charset="-128"/>
            </a:endParaRPr>
          </a:p>
          <a:p>
            <a:pPr lvl="2">
              <a:spcAft>
                <a:spcPts val="600"/>
              </a:spcAft>
            </a:pPr>
            <a:r>
              <a:rPr lang="en-US" altLang="en-US" dirty="0">
                <a:ea typeface="ＭＳ Ｐゴシック" pitchFamily="34" charset="-128"/>
              </a:rPr>
              <a:t>multicast group management functions</a:t>
            </a:r>
          </a:p>
          <a:p>
            <a:pPr lvl="1">
              <a:spcAft>
                <a:spcPts val="600"/>
              </a:spcAft>
            </a:pPr>
            <a:endParaRPr lang="en-US" sz="1900" dirty="0"/>
          </a:p>
          <a:p>
            <a:pPr>
              <a:spcAft>
                <a:spcPts val="600"/>
              </a:spcAft>
            </a:pPr>
            <a:endParaRPr lang="ms-MY" sz="2400" dirty="0"/>
          </a:p>
        </p:txBody>
      </p:sp>
    </p:spTree>
    <p:extLst>
      <p:ext uri="{BB962C8B-B14F-4D97-AF65-F5344CB8AC3E}">
        <p14:creationId xmlns:p14="http://schemas.microsoft.com/office/powerpoint/2010/main" val="25976343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a:extLst>
              <a:ext uri="{FF2B5EF4-FFF2-40B4-BE49-F238E27FC236}">
                <a16:creationId xmlns:a16="http://schemas.microsoft.com/office/drawing/2014/main" id="{9E24E3E1-5C80-D74B-A9CF-F150E51CA119}"/>
              </a:ext>
            </a:extLst>
          </p:cNvPr>
          <p:cNvSpPr>
            <a:spLocks noGrp="1" noChangeArrowheads="1"/>
          </p:cNvSpPr>
          <p:nvPr>
            <p:ph type="title"/>
          </p:nvPr>
        </p:nvSpPr>
        <p:spPr/>
        <p:txBody>
          <a:bodyPr/>
          <a:lstStyle/>
          <a:p>
            <a:pPr>
              <a:defRPr/>
            </a:pPr>
            <a:r>
              <a:rPr lang="en-US">
                <a:cs typeface="+mj-cs"/>
              </a:rPr>
              <a:t>Transition from IPv4 to IPv6</a:t>
            </a:r>
          </a:p>
        </p:txBody>
      </p:sp>
      <p:sp>
        <p:nvSpPr>
          <p:cNvPr id="102403" name="Rectangle 3">
            <a:extLst>
              <a:ext uri="{FF2B5EF4-FFF2-40B4-BE49-F238E27FC236}">
                <a16:creationId xmlns:a16="http://schemas.microsoft.com/office/drawing/2014/main" id="{31449403-CEC0-3B44-AA94-E010302C6357}"/>
              </a:ext>
            </a:extLst>
          </p:cNvPr>
          <p:cNvSpPr>
            <a:spLocks noGrp="1" noChangeArrowheads="1"/>
          </p:cNvSpPr>
          <p:nvPr>
            <p:ph type="body" idx="1"/>
          </p:nvPr>
        </p:nvSpPr>
        <p:spPr>
          <a:xfrm>
            <a:off x="602458" y="1248610"/>
            <a:ext cx="8256587" cy="2487612"/>
          </a:xfrm>
        </p:spPr>
        <p:txBody>
          <a:bodyPr/>
          <a:lstStyle/>
          <a:p>
            <a:pPr>
              <a:lnSpc>
                <a:spcPct val="75000"/>
              </a:lnSpc>
            </a:pPr>
            <a:r>
              <a:rPr lang="en-US" altLang="en-US" dirty="0">
                <a:ea typeface="ＭＳ Ｐゴシック" panose="020B0600070205080204" pitchFamily="34" charset="-128"/>
                <a:cs typeface="ＭＳ Ｐゴシック" panose="020B0600070205080204" pitchFamily="34" charset="-128"/>
              </a:rPr>
              <a:t>not all routers can be upgraded simultaneously</a:t>
            </a:r>
          </a:p>
          <a:p>
            <a:pPr lvl="1">
              <a:lnSpc>
                <a:spcPct val="75000"/>
              </a:lnSpc>
            </a:pPr>
            <a:r>
              <a:rPr lang="en-US" altLang="en-US" sz="2800" dirty="0">
                <a:latin typeface="Gill Sans MT" panose="020B0502020104020203" pitchFamily="34" charset="77"/>
                <a:ea typeface="ＭＳ Ｐゴシック" panose="020B0600070205080204" pitchFamily="34" charset="-128"/>
                <a:cs typeface="Gill Sans MT" panose="020B0502020104020203" pitchFamily="34" charset="77"/>
              </a:rPr>
              <a:t>no </a:t>
            </a:r>
            <a:r>
              <a:rPr lang="ja-JP" altLang="en-US" sz="2800" dirty="0">
                <a:latin typeface="Gill Sans MT" panose="020B0502020104020203" pitchFamily="34" charset="77"/>
                <a:ea typeface="ＭＳ Ｐゴシック" panose="020B0600070205080204" pitchFamily="34" charset="-128"/>
                <a:cs typeface="Gill Sans MT" panose="020B0502020104020203" pitchFamily="34" charset="77"/>
              </a:rPr>
              <a:t>“</a:t>
            </a:r>
            <a:r>
              <a:rPr lang="en-US" altLang="ja-JP" sz="2800" dirty="0">
                <a:latin typeface="Gill Sans MT" panose="020B0502020104020203" pitchFamily="34" charset="77"/>
                <a:ea typeface="ＭＳ Ｐゴシック" panose="020B0600070205080204" pitchFamily="34" charset="-128"/>
                <a:cs typeface="Gill Sans MT" panose="020B0502020104020203" pitchFamily="34" charset="77"/>
              </a:rPr>
              <a:t>flag days</a:t>
            </a:r>
            <a:r>
              <a:rPr lang="ja-JP" altLang="en-US" sz="2800" dirty="0">
                <a:latin typeface="Gill Sans MT" panose="020B0502020104020203" pitchFamily="34" charset="77"/>
                <a:ea typeface="ＭＳ Ｐゴシック" panose="020B0600070205080204" pitchFamily="34" charset="-128"/>
                <a:cs typeface="Gill Sans MT" panose="020B0502020104020203" pitchFamily="34" charset="77"/>
              </a:rPr>
              <a:t>”</a:t>
            </a:r>
            <a:endParaRPr lang="en-US" altLang="ja-JP" sz="2800" dirty="0">
              <a:latin typeface="Gill Sans MT" panose="020B0502020104020203" pitchFamily="34" charset="77"/>
              <a:ea typeface="ＭＳ Ｐゴシック" panose="020B0600070205080204" pitchFamily="34" charset="-128"/>
              <a:cs typeface="Gill Sans MT" panose="020B0502020104020203" pitchFamily="34" charset="77"/>
            </a:endParaRPr>
          </a:p>
          <a:p>
            <a:pPr lvl="1">
              <a:lnSpc>
                <a:spcPct val="75000"/>
              </a:lnSpc>
            </a:pPr>
            <a:r>
              <a:rPr lang="en-US" altLang="en-US" sz="2800" dirty="0">
                <a:latin typeface="Gill Sans MT" panose="020B0502020104020203" pitchFamily="34" charset="77"/>
                <a:ea typeface="ＭＳ Ｐゴシック" panose="020B0600070205080204" pitchFamily="34" charset="-128"/>
                <a:cs typeface="Gill Sans MT" panose="020B0502020104020203" pitchFamily="34" charset="77"/>
              </a:rPr>
              <a:t>how will network operate with mixed IPv4 and IPv6 routers? </a:t>
            </a:r>
          </a:p>
          <a:p>
            <a:r>
              <a:rPr lang="en-US" altLang="en-US" i="1" dirty="0">
                <a:solidFill>
                  <a:srgbClr val="CC0000"/>
                </a:solidFill>
                <a:ea typeface="ＭＳ Ｐゴシック" panose="020B0600070205080204" pitchFamily="34" charset="-128"/>
                <a:cs typeface="ＭＳ Ｐゴシック" panose="020B0600070205080204" pitchFamily="34" charset="-128"/>
              </a:rPr>
              <a:t>tunneling:</a:t>
            </a:r>
            <a:r>
              <a:rPr lang="en-US" altLang="en-US" dirty="0">
                <a:ea typeface="ＭＳ Ｐゴシック" panose="020B0600070205080204" pitchFamily="34" charset="-128"/>
                <a:cs typeface="ＭＳ Ｐゴシック" panose="020B0600070205080204" pitchFamily="34" charset="-128"/>
              </a:rPr>
              <a:t> IPv6 datagram carried as </a:t>
            </a:r>
            <a:r>
              <a:rPr lang="en-US" altLang="en-US" i="1" dirty="0">
                <a:ea typeface="ＭＳ Ｐゴシック" panose="020B0600070205080204" pitchFamily="34" charset="-128"/>
                <a:cs typeface="ＭＳ Ｐゴシック" panose="020B0600070205080204" pitchFamily="34" charset="-128"/>
              </a:rPr>
              <a:t>payload</a:t>
            </a:r>
            <a:r>
              <a:rPr lang="en-US" altLang="en-US" dirty="0">
                <a:ea typeface="ＭＳ Ｐゴシック" panose="020B0600070205080204" pitchFamily="34" charset="-128"/>
                <a:cs typeface="ＭＳ Ｐゴシック" panose="020B0600070205080204" pitchFamily="34" charset="-128"/>
              </a:rPr>
              <a:t> in IPv4 datagram among IPv4 routers (“packet within a packet”)</a:t>
            </a:r>
          </a:p>
        </p:txBody>
      </p:sp>
      <p:pic>
        <p:nvPicPr>
          <p:cNvPr id="102404" name="Picture 4" descr="underline_base">
            <a:extLst>
              <a:ext uri="{FF2B5EF4-FFF2-40B4-BE49-F238E27FC236}">
                <a16:creationId xmlns:a16="http://schemas.microsoft.com/office/drawing/2014/main" id="{D6D05B0A-13A1-224A-AE08-AFB1A782908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1025525"/>
            <a:ext cx="6856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05" name="Group 47">
            <a:extLst>
              <a:ext uri="{FF2B5EF4-FFF2-40B4-BE49-F238E27FC236}">
                <a16:creationId xmlns:a16="http://schemas.microsoft.com/office/drawing/2014/main" id="{A0F532C9-9B40-0F43-BB2D-EFB1E78CA4F0}"/>
              </a:ext>
            </a:extLst>
          </p:cNvPr>
          <p:cNvGrpSpPr>
            <a:grpSpLocks/>
          </p:cNvGrpSpPr>
          <p:nvPr/>
        </p:nvGrpSpPr>
        <p:grpSpPr bwMode="auto">
          <a:xfrm>
            <a:off x="2101850" y="5176838"/>
            <a:ext cx="4854575" cy="473075"/>
            <a:chOff x="1163" y="3504"/>
            <a:chExt cx="3058" cy="298"/>
          </a:xfrm>
        </p:grpSpPr>
        <p:sp>
          <p:nvSpPr>
            <p:cNvPr id="102440" name="Rectangle 26">
              <a:extLst>
                <a:ext uri="{FF2B5EF4-FFF2-40B4-BE49-F238E27FC236}">
                  <a16:creationId xmlns:a16="http://schemas.microsoft.com/office/drawing/2014/main" id="{3F543FD9-C9D0-3A4E-885C-4781C2026475}"/>
                </a:ext>
              </a:extLst>
            </p:cNvPr>
            <p:cNvSpPr>
              <a:spLocks noChangeArrowheads="1"/>
            </p:cNvSpPr>
            <p:nvPr/>
          </p:nvSpPr>
          <p:spPr bwMode="auto">
            <a:xfrm>
              <a:off x="1163" y="3505"/>
              <a:ext cx="3058" cy="295"/>
            </a:xfrm>
            <a:prstGeom prst="rect">
              <a:avLst/>
            </a:prstGeom>
            <a:gradFill rotWithShape="1">
              <a:gsLst>
                <a:gs pos="0">
                  <a:srgbClr val="CC0000">
                    <a:alpha val="40999"/>
                  </a:srgbClr>
                </a:gs>
                <a:gs pos="100000">
                  <a:srgbClr val="CC0000">
                    <a:alpha val="37999"/>
                  </a:srgbClr>
                </a:gs>
              </a:gsLst>
              <a:lin ang="5400000" scaled="1"/>
            </a:gradFill>
            <a:ln w="9525">
              <a:solidFill>
                <a:srgbClr val="CC0000"/>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41" name="Line 27">
              <a:extLst>
                <a:ext uri="{FF2B5EF4-FFF2-40B4-BE49-F238E27FC236}">
                  <a16:creationId xmlns:a16="http://schemas.microsoft.com/office/drawing/2014/main" id="{89470E57-744A-3A4D-B0F0-669DADF10AC7}"/>
                </a:ext>
              </a:extLst>
            </p:cNvPr>
            <p:cNvSpPr>
              <a:spLocks noChangeShapeType="1"/>
            </p:cNvSpPr>
            <p:nvPr/>
          </p:nvSpPr>
          <p:spPr bwMode="auto">
            <a:xfrm>
              <a:off x="2022" y="3504"/>
              <a:ext cx="0" cy="29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42" name="Line 28">
              <a:extLst>
                <a:ext uri="{FF2B5EF4-FFF2-40B4-BE49-F238E27FC236}">
                  <a16:creationId xmlns:a16="http://schemas.microsoft.com/office/drawing/2014/main" id="{A244155E-AE0F-9B4F-9878-B9E2368F6DF9}"/>
                </a:ext>
              </a:extLst>
            </p:cNvPr>
            <p:cNvSpPr>
              <a:spLocks noChangeShapeType="1"/>
            </p:cNvSpPr>
            <p:nvPr/>
          </p:nvSpPr>
          <p:spPr bwMode="auto">
            <a:xfrm>
              <a:off x="1781" y="3507"/>
              <a:ext cx="0" cy="29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43" name="Line 29">
              <a:extLst>
                <a:ext uri="{FF2B5EF4-FFF2-40B4-BE49-F238E27FC236}">
                  <a16:creationId xmlns:a16="http://schemas.microsoft.com/office/drawing/2014/main" id="{B91E7257-FD56-C343-9B65-1F5CD9DCD5CF}"/>
                </a:ext>
              </a:extLst>
            </p:cNvPr>
            <p:cNvSpPr>
              <a:spLocks noChangeShapeType="1"/>
            </p:cNvSpPr>
            <p:nvPr/>
          </p:nvSpPr>
          <p:spPr bwMode="auto">
            <a:xfrm>
              <a:off x="1532" y="3504"/>
              <a:ext cx="0" cy="29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44" name="Line 31">
              <a:extLst>
                <a:ext uri="{FF2B5EF4-FFF2-40B4-BE49-F238E27FC236}">
                  <a16:creationId xmlns:a16="http://schemas.microsoft.com/office/drawing/2014/main" id="{67025DE2-D1C9-374F-9AEA-3BB25905A5E2}"/>
                </a:ext>
              </a:extLst>
            </p:cNvPr>
            <p:cNvSpPr>
              <a:spLocks noChangeShapeType="1"/>
            </p:cNvSpPr>
            <p:nvPr/>
          </p:nvSpPr>
          <p:spPr bwMode="auto">
            <a:xfrm>
              <a:off x="1187" y="3504"/>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45" name="Line 32">
              <a:extLst>
                <a:ext uri="{FF2B5EF4-FFF2-40B4-BE49-F238E27FC236}">
                  <a16:creationId xmlns:a16="http://schemas.microsoft.com/office/drawing/2014/main" id="{5529779A-3842-B241-B685-0FFC461801E7}"/>
                </a:ext>
              </a:extLst>
            </p:cNvPr>
            <p:cNvSpPr>
              <a:spLocks noChangeShapeType="1"/>
            </p:cNvSpPr>
            <p:nvPr/>
          </p:nvSpPr>
          <p:spPr bwMode="auto">
            <a:xfrm>
              <a:off x="1187" y="3742"/>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46" name="Line 33">
              <a:extLst>
                <a:ext uri="{FF2B5EF4-FFF2-40B4-BE49-F238E27FC236}">
                  <a16:creationId xmlns:a16="http://schemas.microsoft.com/office/drawing/2014/main" id="{D1CB89AA-A588-514B-86C5-EEC2ECB9F8AA}"/>
                </a:ext>
              </a:extLst>
            </p:cNvPr>
            <p:cNvSpPr>
              <a:spLocks noChangeShapeType="1"/>
            </p:cNvSpPr>
            <p:nvPr/>
          </p:nvSpPr>
          <p:spPr bwMode="auto">
            <a:xfrm>
              <a:off x="1283" y="3504"/>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47" name="Line 34">
              <a:extLst>
                <a:ext uri="{FF2B5EF4-FFF2-40B4-BE49-F238E27FC236}">
                  <a16:creationId xmlns:a16="http://schemas.microsoft.com/office/drawing/2014/main" id="{F96827E4-26D7-6047-A89A-24A913796A16}"/>
                </a:ext>
              </a:extLst>
            </p:cNvPr>
            <p:cNvSpPr>
              <a:spLocks noChangeShapeType="1"/>
            </p:cNvSpPr>
            <p:nvPr/>
          </p:nvSpPr>
          <p:spPr bwMode="auto">
            <a:xfrm>
              <a:off x="1283" y="3742"/>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48" name="Line 35">
              <a:extLst>
                <a:ext uri="{FF2B5EF4-FFF2-40B4-BE49-F238E27FC236}">
                  <a16:creationId xmlns:a16="http://schemas.microsoft.com/office/drawing/2014/main" id="{9C387E0A-22B8-DB43-9D98-0A91A696A088}"/>
                </a:ext>
              </a:extLst>
            </p:cNvPr>
            <p:cNvSpPr>
              <a:spLocks noChangeShapeType="1"/>
            </p:cNvSpPr>
            <p:nvPr/>
          </p:nvSpPr>
          <p:spPr bwMode="auto">
            <a:xfrm>
              <a:off x="1379" y="3504"/>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49" name="Line 36">
              <a:extLst>
                <a:ext uri="{FF2B5EF4-FFF2-40B4-BE49-F238E27FC236}">
                  <a16:creationId xmlns:a16="http://schemas.microsoft.com/office/drawing/2014/main" id="{5AD8C7ED-48E2-7640-8EC7-41D7672F1713}"/>
                </a:ext>
              </a:extLst>
            </p:cNvPr>
            <p:cNvSpPr>
              <a:spLocks noChangeShapeType="1"/>
            </p:cNvSpPr>
            <p:nvPr/>
          </p:nvSpPr>
          <p:spPr bwMode="auto">
            <a:xfrm>
              <a:off x="1379" y="3742"/>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50" name="Line 37">
              <a:extLst>
                <a:ext uri="{FF2B5EF4-FFF2-40B4-BE49-F238E27FC236}">
                  <a16:creationId xmlns:a16="http://schemas.microsoft.com/office/drawing/2014/main" id="{75697E3C-4434-6247-9BFE-543F55AE1908}"/>
                </a:ext>
              </a:extLst>
            </p:cNvPr>
            <p:cNvSpPr>
              <a:spLocks noChangeShapeType="1"/>
            </p:cNvSpPr>
            <p:nvPr/>
          </p:nvSpPr>
          <p:spPr bwMode="auto">
            <a:xfrm>
              <a:off x="1475" y="3504"/>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51" name="Line 38">
              <a:extLst>
                <a:ext uri="{FF2B5EF4-FFF2-40B4-BE49-F238E27FC236}">
                  <a16:creationId xmlns:a16="http://schemas.microsoft.com/office/drawing/2014/main" id="{814E5D1D-98B2-4440-A371-464D8E4A02F0}"/>
                </a:ext>
              </a:extLst>
            </p:cNvPr>
            <p:cNvSpPr>
              <a:spLocks noChangeShapeType="1"/>
            </p:cNvSpPr>
            <p:nvPr/>
          </p:nvSpPr>
          <p:spPr bwMode="auto">
            <a:xfrm>
              <a:off x="1475" y="3742"/>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52" name="Line 39">
              <a:extLst>
                <a:ext uri="{FF2B5EF4-FFF2-40B4-BE49-F238E27FC236}">
                  <a16:creationId xmlns:a16="http://schemas.microsoft.com/office/drawing/2014/main" id="{A29B61BA-88FC-E642-A0BF-E3293D0266BB}"/>
                </a:ext>
              </a:extLst>
            </p:cNvPr>
            <p:cNvSpPr>
              <a:spLocks noChangeShapeType="1"/>
            </p:cNvSpPr>
            <p:nvPr/>
          </p:nvSpPr>
          <p:spPr bwMode="auto">
            <a:xfrm>
              <a:off x="1327" y="3506"/>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53" name="Line 40">
              <a:extLst>
                <a:ext uri="{FF2B5EF4-FFF2-40B4-BE49-F238E27FC236}">
                  <a16:creationId xmlns:a16="http://schemas.microsoft.com/office/drawing/2014/main" id="{BD5E24F6-0084-7E43-ABF5-9E5AF5A6E133}"/>
                </a:ext>
              </a:extLst>
            </p:cNvPr>
            <p:cNvSpPr>
              <a:spLocks noChangeShapeType="1"/>
            </p:cNvSpPr>
            <p:nvPr/>
          </p:nvSpPr>
          <p:spPr bwMode="auto">
            <a:xfrm>
              <a:off x="1327" y="3744"/>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54" name="Line 41">
              <a:extLst>
                <a:ext uri="{FF2B5EF4-FFF2-40B4-BE49-F238E27FC236}">
                  <a16:creationId xmlns:a16="http://schemas.microsoft.com/office/drawing/2014/main" id="{3157C0DA-E24C-6D44-BC87-65F5DC9431A5}"/>
                </a:ext>
              </a:extLst>
            </p:cNvPr>
            <p:cNvSpPr>
              <a:spLocks noChangeShapeType="1"/>
            </p:cNvSpPr>
            <p:nvPr/>
          </p:nvSpPr>
          <p:spPr bwMode="auto">
            <a:xfrm>
              <a:off x="1213" y="3508"/>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55" name="Line 42">
              <a:extLst>
                <a:ext uri="{FF2B5EF4-FFF2-40B4-BE49-F238E27FC236}">
                  <a16:creationId xmlns:a16="http://schemas.microsoft.com/office/drawing/2014/main" id="{00CB2E45-1B7F-5842-A18E-C558F70D8FAD}"/>
                </a:ext>
              </a:extLst>
            </p:cNvPr>
            <p:cNvSpPr>
              <a:spLocks noChangeShapeType="1"/>
            </p:cNvSpPr>
            <p:nvPr/>
          </p:nvSpPr>
          <p:spPr bwMode="auto">
            <a:xfrm>
              <a:off x="1213" y="3746"/>
              <a:ext cx="0" cy="56"/>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02406" name="Text Box 48">
            <a:extLst>
              <a:ext uri="{FF2B5EF4-FFF2-40B4-BE49-F238E27FC236}">
                <a16:creationId xmlns:a16="http://schemas.microsoft.com/office/drawing/2014/main" id="{254800D2-414B-2F41-B73C-25C2D1BAFCC1}"/>
              </a:ext>
            </a:extLst>
          </p:cNvPr>
          <p:cNvSpPr txBox="1">
            <a:spLocks noChangeArrowheads="1"/>
          </p:cNvSpPr>
          <p:nvPr/>
        </p:nvSpPr>
        <p:spPr bwMode="auto">
          <a:xfrm>
            <a:off x="1597025" y="4375150"/>
            <a:ext cx="2006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IPv4 source, dest addr </a:t>
            </a:r>
          </a:p>
        </p:txBody>
      </p:sp>
      <p:sp>
        <p:nvSpPr>
          <p:cNvPr id="102407" name="Text Box 50">
            <a:extLst>
              <a:ext uri="{FF2B5EF4-FFF2-40B4-BE49-F238E27FC236}">
                <a16:creationId xmlns:a16="http://schemas.microsoft.com/office/drawing/2014/main" id="{66637FB0-BF69-2F4C-BC68-360E696AA1DC}"/>
              </a:ext>
            </a:extLst>
          </p:cNvPr>
          <p:cNvSpPr txBox="1">
            <a:spLocks noChangeArrowheads="1"/>
          </p:cNvSpPr>
          <p:nvPr/>
        </p:nvSpPr>
        <p:spPr bwMode="auto">
          <a:xfrm>
            <a:off x="1303338" y="4143375"/>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IPv4 header fields </a:t>
            </a:r>
          </a:p>
        </p:txBody>
      </p:sp>
      <p:sp>
        <p:nvSpPr>
          <p:cNvPr id="102408" name="Line 55">
            <a:extLst>
              <a:ext uri="{FF2B5EF4-FFF2-40B4-BE49-F238E27FC236}">
                <a16:creationId xmlns:a16="http://schemas.microsoft.com/office/drawing/2014/main" id="{2DE47EE8-F4AD-DA45-BB4E-C0FDB1225FC8}"/>
              </a:ext>
            </a:extLst>
          </p:cNvPr>
          <p:cNvSpPr>
            <a:spLocks noChangeShapeType="1"/>
          </p:cNvSpPr>
          <p:nvPr/>
        </p:nvSpPr>
        <p:spPr bwMode="auto">
          <a:xfrm>
            <a:off x="2855913" y="4633913"/>
            <a:ext cx="0" cy="738187"/>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09" name="Line 56">
            <a:extLst>
              <a:ext uri="{FF2B5EF4-FFF2-40B4-BE49-F238E27FC236}">
                <a16:creationId xmlns:a16="http://schemas.microsoft.com/office/drawing/2014/main" id="{253FA86F-FC7B-1446-8398-16990FA9F386}"/>
              </a:ext>
            </a:extLst>
          </p:cNvPr>
          <p:cNvSpPr>
            <a:spLocks noChangeShapeType="1"/>
          </p:cNvSpPr>
          <p:nvPr/>
        </p:nvSpPr>
        <p:spPr bwMode="auto">
          <a:xfrm>
            <a:off x="2860675" y="4629150"/>
            <a:ext cx="381000" cy="738188"/>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10" name="Line 57">
            <a:extLst>
              <a:ext uri="{FF2B5EF4-FFF2-40B4-BE49-F238E27FC236}">
                <a16:creationId xmlns:a16="http://schemas.microsoft.com/office/drawing/2014/main" id="{24F53241-EBD5-2D40-B667-E4DAA30CFE96}"/>
              </a:ext>
            </a:extLst>
          </p:cNvPr>
          <p:cNvSpPr>
            <a:spLocks noChangeShapeType="1"/>
          </p:cNvSpPr>
          <p:nvPr/>
        </p:nvSpPr>
        <p:spPr bwMode="auto">
          <a:xfrm>
            <a:off x="2260600" y="4386263"/>
            <a:ext cx="0" cy="97631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11" name="Text Box 23">
            <a:extLst>
              <a:ext uri="{FF2B5EF4-FFF2-40B4-BE49-F238E27FC236}">
                <a16:creationId xmlns:a16="http://schemas.microsoft.com/office/drawing/2014/main" id="{B135EED2-8A3B-4B49-AAA0-048F4AB0AB43}"/>
              </a:ext>
            </a:extLst>
          </p:cNvPr>
          <p:cNvSpPr txBox="1">
            <a:spLocks noChangeArrowheads="1"/>
          </p:cNvSpPr>
          <p:nvPr/>
        </p:nvSpPr>
        <p:spPr bwMode="auto">
          <a:xfrm>
            <a:off x="3663950" y="6003925"/>
            <a:ext cx="1670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IPv4 datagram</a:t>
            </a:r>
          </a:p>
        </p:txBody>
      </p:sp>
      <p:sp>
        <p:nvSpPr>
          <p:cNvPr id="102412" name="Line 24">
            <a:extLst>
              <a:ext uri="{FF2B5EF4-FFF2-40B4-BE49-F238E27FC236}">
                <a16:creationId xmlns:a16="http://schemas.microsoft.com/office/drawing/2014/main" id="{8AF64CB8-BFD1-2D41-9192-4715DDC499FA}"/>
              </a:ext>
            </a:extLst>
          </p:cNvPr>
          <p:cNvSpPr>
            <a:spLocks noChangeShapeType="1"/>
          </p:cNvSpPr>
          <p:nvPr/>
        </p:nvSpPr>
        <p:spPr bwMode="auto">
          <a:xfrm>
            <a:off x="5284788" y="6192838"/>
            <a:ext cx="16954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413" name="Line 25">
            <a:extLst>
              <a:ext uri="{FF2B5EF4-FFF2-40B4-BE49-F238E27FC236}">
                <a16:creationId xmlns:a16="http://schemas.microsoft.com/office/drawing/2014/main" id="{08BB0C02-A1EB-284E-B651-AADA45FFA4EF}"/>
              </a:ext>
            </a:extLst>
          </p:cNvPr>
          <p:cNvSpPr>
            <a:spLocks noChangeShapeType="1"/>
          </p:cNvSpPr>
          <p:nvPr/>
        </p:nvSpPr>
        <p:spPr bwMode="auto">
          <a:xfrm flipH="1">
            <a:off x="2095500" y="6192838"/>
            <a:ext cx="16065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18880" name="Text Box 64">
            <a:extLst>
              <a:ext uri="{FF2B5EF4-FFF2-40B4-BE49-F238E27FC236}">
                <a16:creationId xmlns:a16="http://schemas.microsoft.com/office/drawing/2014/main" id="{1321CF6A-CC9B-7B4E-8B46-3EE793DBAEAF}"/>
              </a:ext>
            </a:extLst>
          </p:cNvPr>
          <p:cNvSpPr txBox="1">
            <a:spLocks noChangeArrowheads="1"/>
          </p:cNvSpPr>
          <p:nvPr/>
        </p:nvSpPr>
        <p:spPr bwMode="auto">
          <a:xfrm>
            <a:off x="4384675" y="5654675"/>
            <a:ext cx="1670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IPv6 datagram</a:t>
            </a:r>
          </a:p>
        </p:txBody>
      </p:sp>
      <p:sp>
        <p:nvSpPr>
          <p:cNvPr id="418881" name="Line 65">
            <a:extLst>
              <a:ext uri="{FF2B5EF4-FFF2-40B4-BE49-F238E27FC236}">
                <a16:creationId xmlns:a16="http://schemas.microsoft.com/office/drawing/2014/main" id="{290B7872-9B85-8647-8EB8-0BC8E180469B}"/>
              </a:ext>
            </a:extLst>
          </p:cNvPr>
          <p:cNvSpPr>
            <a:spLocks noChangeShapeType="1"/>
          </p:cNvSpPr>
          <p:nvPr/>
        </p:nvSpPr>
        <p:spPr bwMode="auto">
          <a:xfrm>
            <a:off x="6021388" y="5824538"/>
            <a:ext cx="8572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18882" name="Line 66">
            <a:extLst>
              <a:ext uri="{FF2B5EF4-FFF2-40B4-BE49-F238E27FC236}">
                <a16:creationId xmlns:a16="http://schemas.microsoft.com/office/drawing/2014/main" id="{E3F5A1DB-7C88-3346-BCCE-F8AF4087C4AD}"/>
              </a:ext>
            </a:extLst>
          </p:cNvPr>
          <p:cNvSpPr>
            <a:spLocks noChangeShapeType="1"/>
          </p:cNvSpPr>
          <p:nvPr/>
        </p:nvSpPr>
        <p:spPr bwMode="auto">
          <a:xfrm flipH="1">
            <a:off x="3522663" y="5824538"/>
            <a:ext cx="9255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417" name="Rectangle 69">
            <a:extLst>
              <a:ext uri="{FF2B5EF4-FFF2-40B4-BE49-F238E27FC236}">
                <a16:creationId xmlns:a16="http://schemas.microsoft.com/office/drawing/2014/main" id="{6CDBD152-AEFB-C344-8737-35BA3EE68B30}"/>
              </a:ext>
            </a:extLst>
          </p:cNvPr>
          <p:cNvSpPr>
            <a:spLocks noChangeArrowheads="1"/>
          </p:cNvSpPr>
          <p:nvPr/>
        </p:nvSpPr>
        <p:spPr bwMode="auto">
          <a:xfrm>
            <a:off x="3490913" y="5211763"/>
            <a:ext cx="3422650" cy="40163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 name="Group 70">
            <a:extLst>
              <a:ext uri="{FF2B5EF4-FFF2-40B4-BE49-F238E27FC236}">
                <a16:creationId xmlns:a16="http://schemas.microsoft.com/office/drawing/2014/main" id="{D275509A-8154-0C40-9214-CF48C918025E}"/>
              </a:ext>
            </a:extLst>
          </p:cNvPr>
          <p:cNvGrpSpPr>
            <a:grpSpLocks/>
          </p:cNvGrpSpPr>
          <p:nvPr/>
        </p:nvGrpSpPr>
        <p:grpSpPr bwMode="auto">
          <a:xfrm>
            <a:off x="4552950" y="4241800"/>
            <a:ext cx="3379788" cy="1109663"/>
            <a:chOff x="2868" y="2782"/>
            <a:chExt cx="2129" cy="699"/>
          </a:xfrm>
        </p:grpSpPr>
        <p:sp>
          <p:nvSpPr>
            <p:cNvPr id="102438" name="Text Box 51">
              <a:extLst>
                <a:ext uri="{FF2B5EF4-FFF2-40B4-BE49-F238E27FC236}">
                  <a16:creationId xmlns:a16="http://schemas.microsoft.com/office/drawing/2014/main" id="{7CBD3A08-A424-764D-9E71-198F3E0FAA13}"/>
                </a:ext>
              </a:extLst>
            </p:cNvPr>
            <p:cNvSpPr txBox="1">
              <a:spLocks noChangeArrowheads="1"/>
            </p:cNvSpPr>
            <p:nvPr/>
          </p:nvSpPr>
          <p:spPr bwMode="auto">
            <a:xfrm>
              <a:off x="4204" y="2782"/>
              <a:ext cx="7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IPv4 payload </a:t>
              </a:r>
            </a:p>
          </p:txBody>
        </p:sp>
        <p:sp>
          <p:nvSpPr>
            <p:cNvPr id="102439" name="Line 54">
              <a:extLst>
                <a:ext uri="{FF2B5EF4-FFF2-40B4-BE49-F238E27FC236}">
                  <a16:creationId xmlns:a16="http://schemas.microsoft.com/office/drawing/2014/main" id="{FECDC318-E1FA-C048-9C32-A368F1C53FD3}"/>
                </a:ext>
              </a:extLst>
            </p:cNvPr>
            <p:cNvSpPr>
              <a:spLocks noChangeShapeType="1"/>
            </p:cNvSpPr>
            <p:nvPr/>
          </p:nvSpPr>
          <p:spPr bwMode="auto">
            <a:xfrm flipH="1">
              <a:off x="2868" y="2979"/>
              <a:ext cx="1532" cy="50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4" name="Group 71">
            <a:extLst>
              <a:ext uri="{FF2B5EF4-FFF2-40B4-BE49-F238E27FC236}">
                <a16:creationId xmlns:a16="http://schemas.microsoft.com/office/drawing/2014/main" id="{804EE707-A166-4745-917D-F41A80E073E2}"/>
              </a:ext>
            </a:extLst>
          </p:cNvPr>
          <p:cNvGrpSpPr>
            <a:grpSpLocks/>
          </p:cNvGrpSpPr>
          <p:nvPr/>
        </p:nvGrpSpPr>
        <p:grpSpPr bwMode="auto">
          <a:xfrm>
            <a:off x="3506788" y="4146550"/>
            <a:ext cx="3402012" cy="1476375"/>
            <a:chOff x="2280" y="1247"/>
            <a:chExt cx="2143" cy="930"/>
          </a:xfrm>
        </p:grpSpPr>
        <p:sp>
          <p:nvSpPr>
            <p:cNvPr id="102422" name="Rectangle 5">
              <a:extLst>
                <a:ext uri="{FF2B5EF4-FFF2-40B4-BE49-F238E27FC236}">
                  <a16:creationId xmlns:a16="http://schemas.microsoft.com/office/drawing/2014/main" id="{54870CCE-4C89-AB4E-91C1-C504AEEBBE6C}"/>
                </a:ext>
              </a:extLst>
            </p:cNvPr>
            <p:cNvSpPr>
              <a:spLocks noChangeArrowheads="1"/>
            </p:cNvSpPr>
            <p:nvPr/>
          </p:nvSpPr>
          <p:spPr bwMode="auto">
            <a:xfrm>
              <a:off x="2280" y="1918"/>
              <a:ext cx="2143" cy="253"/>
            </a:xfrm>
            <a:prstGeom prst="rect">
              <a:avLst/>
            </a:prstGeom>
            <a:solidFill>
              <a:srgbClr val="66CCFF"/>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02423" name="Line 8">
              <a:extLst>
                <a:ext uri="{FF2B5EF4-FFF2-40B4-BE49-F238E27FC236}">
                  <a16:creationId xmlns:a16="http://schemas.microsoft.com/office/drawing/2014/main" id="{96000D11-62DF-1642-9A0B-84825BFBF776}"/>
                </a:ext>
              </a:extLst>
            </p:cNvPr>
            <p:cNvSpPr>
              <a:spLocks noChangeShapeType="1"/>
            </p:cNvSpPr>
            <p:nvPr/>
          </p:nvSpPr>
          <p:spPr bwMode="auto">
            <a:xfrm>
              <a:off x="2333" y="1918"/>
              <a:ext cx="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24" name="Line 9">
              <a:extLst>
                <a:ext uri="{FF2B5EF4-FFF2-40B4-BE49-F238E27FC236}">
                  <a16:creationId xmlns:a16="http://schemas.microsoft.com/office/drawing/2014/main" id="{B16FDD18-DA73-1443-BE2C-FD7D62A5EF86}"/>
                </a:ext>
              </a:extLst>
            </p:cNvPr>
            <p:cNvSpPr>
              <a:spLocks noChangeShapeType="1"/>
            </p:cNvSpPr>
            <p:nvPr/>
          </p:nvSpPr>
          <p:spPr bwMode="auto">
            <a:xfrm>
              <a:off x="2307" y="1917"/>
              <a:ext cx="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25" name="Line 10">
              <a:extLst>
                <a:ext uri="{FF2B5EF4-FFF2-40B4-BE49-F238E27FC236}">
                  <a16:creationId xmlns:a16="http://schemas.microsoft.com/office/drawing/2014/main" id="{03B3E1A5-B1A0-794D-B75C-D61AB1B115CC}"/>
                </a:ext>
              </a:extLst>
            </p:cNvPr>
            <p:cNvSpPr>
              <a:spLocks noChangeShapeType="1"/>
            </p:cNvSpPr>
            <p:nvPr/>
          </p:nvSpPr>
          <p:spPr bwMode="auto">
            <a:xfrm>
              <a:off x="2381" y="1918"/>
              <a:ext cx="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26" name="Line 11">
              <a:extLst>
                <a:ext uri="{FF2B5EF4-FFF2-40B4-BE49-F238E27FC236}">
                  <a16:creationId xmlns:a16="http://schemas.microsoft.com/office/drawing/2014/main" id="{501224FE-BB8A-584D-9927-32CFB334E90E}"/>
                </a:ext>
              </a:extLst>
            </p:cNvPr>
            <p:cNvSpPr>
              <a:spLocks noChangeShapeType="1"/>
            </p:cNvSpPr>
            <p:nvPr/>
          </p:nvSpPr>
          <p:spPr bwMode="auto">
            <a:xfrm>
              <a:off x="2407" y="1916"/>
              <a:ext cx="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27" name="Line 12">
              <a:extLst>
                <a:ext uri="{FF2B5EF4-FFF2-40B4-BE49-F238E27FC236}">
                  <a16:creationId xmlns:a16="http://schemas.microsoft.com/office/drawing/2014/main" id="{3F6A65E6-1865-5745-B0A3-64A9D047C661}"/>
                </a:ext>
              </a:extLst>
            </p:cNvPr>
            <p:cNvSpPr>
              <a:spLocks noChangeShapeType="1"/>
            </p:cNvSpPr>
            <p:nvPr/>
          </p:nvSpPr>
          <p:spPr bwMode="auto">
            <a:xfrm>
              <a:off x="2441" y="1916"/>
              <a:ext cx="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28" name="Line 13">
              <a:extLst>
                <a:ext uri="{FF2B5EF4-FFF2-40B4-BE49-F238E27FC236}">
                  <a16:creationId xmlns:a16="http://schemas.microsoft.com/office/drawing/2014/main" id="{4B4C88DA-A830-D84A-86E3-B50794AAC146}"/>
                </a:ext>
              </a:extLst>
            </p:cNvPr>
            <p:cNvSpPr>
              <a:spLocks noChangeShapeType="1"/>
            </p:cNvSpPr>
            <p:nvPr/>
          </p:nvSpPr>
          <p:spPr bwMode="auto">
            <a:xfrm>
              <a:off x="2483" y="1916"/>
              <a:ext cx="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29" name="Line 14">
              <a:extLst>
                <a:ext uri="{FF2B5EF4-FFF2-40B4-BE49-F238E27FC236}">
                  <a16:creationId xmlns:a16="http://schemas.microsoft.com/office/drawing/2014/main" id="{C430A8DD-CBC0-4D41-9705-A58FE3494C0A}"/>
                </a:ext>
              </a:extLst>
            </p:cNvPr>
            <p:cNvSpPr>
              <a:spLocks noChangeShapeType="1"/>
            </p:cNvSpPr>
            <p:nvPr/>
          </p:nvSpPr>
          <p:spPr bwMode="auto">
            <a:xfrm>
              <a:off x="2679" y="1923"/>
              <a:ext cx="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30" name="Line 15">
              <a:extLst>
                <a:ext uri="{FF2B5EF4-FFF2-40B4-BE49-F238E27FC236}">
                  <a16:creationId xmlns:a16="http://schemas.microsoft.com/office/drawing/2014/main" id="{427601CE-84A5-3B49-B577-601F76833ABA}"/>
                </a:ext>
              </a:extLst>
            </p:cNvPr>
            <p:cNvSpPr>
              <a:spLocks noChangeShapeType="1"/>
            </p:cNvSpPr>
            <p:nvPr/>
          </p:nvSpPr>
          <p:spPr bwMode="auto">
            <a:xfrm>
              <a:off x="2915" y="1923"/>
              <a:ext cx="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31" name="Text Box 16">
              <a:extLst>
                <a:ext uri="{FF2B5EF4-FFF2-40B4-BE49-F238E27FC236}">
                  <a16:creationId xmlns:a16="http://schemas.microsoft.com/office/drawing/2014/main" id="{FECE9833-F891-6E45-83D3-81547A78E913}"/>
                </a:ext>
              </a:extLst>
            </p:cNvPr>
            <p:cNvSpPr txBox="1">
              <a:spLocks noChangeArrowheads="1"/>
            </p:cNvSpPr>
            <p:nvPr/>
          </p:nvSpPr>
          <p:spPr bwMode="auto">
            <a:xfrm>
              <a:off x="2672" y="1557"/>
              <a:ext cx="103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t>UDP/TCP payload</a:t>
              </a:r>
            </a:p>
          </p:txBody>
        </p:sp>
        <p:sp>
          <p:nvSpPr>
            <p:cNvPr id="102432" name="Text Box 17">
              <a:extLst>
                <a:ext uri="{FF2B5EF4-FFF2-40B4-BE49-F238E27FC236}">
                  <a16:creationId xmlns:a16="http://schemas.microsoft.com/office/drawing/2014/main" id="{46F8327A-F305-884F-B326-8148240461CE}"/>
                </a:ext>
              </a:extLst>
            </p:cNvPr>
            <p:cNvSpPr txBox="1">
              <a:spLocks noChangeArrowheads="1"/>
            </p:cNvSpPr>
            <p:nvPr/>
          </p:nvSpPr>
          <p:spPr bwMode="auto">
            <a:xfrm>
              <a:off x="2500" y="1396"/>
              <a:ext cx="1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sz="1400"/>
                <a:t>IPv6 source dest addr</a:t>
              </a:r>
            </a:p>
          </p:txBody>
        </p:sp>
        <p:sp>
          <p:nvSpPr>
            <p:cNvPr id="102433" name="Text Box 18">
              <a:extLst>
                <a:ext uri="{FF2B5EF4-FFF2-40B4-BE49-F238E27FC236}">
                  <a16:creationId xmlns:a16="http://schemas.microsoft.com/office/drawing/2014/main" id="{F0F1E0F4-DB74-B044-B4A6-8963B50E8290}"/>
                </a:ext>
              </a:extLst>
            </p:cNvPr>
            <p:cNvSpPr txBox="1">
              <a:spLocks noChangeArrowheads="1"/>
            </p:cNvSpPr>
            <p:nvPr/>
          </p:nvSpPr>
          <p:spPr bwMode="auto">
            <a:xfrm>
              <a:off x="2314" y="1247"/>
              <a:ext cx="1010"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sz="1400"/>
                <a:t>IPv6 header fields</a:t>
              </a:r>
            </a:p>
          </p:txBody>
        </p:sp>
        <p:sp>
          <p:nvSpPr>
            <p:cNvPr id="102434" name="Line 19">
              <a:extLst>
                <a:ext uri="{FF2B5EF4-FFF2-40B4-BE49-F238E27FC236}">
                  <a16:creationId xmlns:a16="http://schemas.microsoft.com/office/drawing/2014/main" id="{BD22505A-5CC3-0F47-BCFE-4AB7DAC07C60}"/>
                </a:ext>
              </a:extLst>
            </p:cNvPr>
            <p:cNvSpPr>
              <a:spLocks noChangeShapeType="1"/>
            </p:cNvSpPr>
            <p:nvPr/>
          </p:nvSpPr>
          <p:spPr bwMode="auto">
            <a:xfrm>
              <a:off x="2602" y="1543"/>
              <a:ext cx="3" cy="44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35" name="Line 20">
              <a:extLst>
                <a:ext uri="{FF2B5EF4-FFF2-40B4-BE49-F238E27FC236}">
                  <a16:creationId xmlns:a16="http://schemas.microsoft.com/office/drawing/2014/main" id="{7BB71967-B4A9-BB4E-83D1-4DE7AB9C7256}"/>
                </a:ext>
              </a:extLst>
            </p:cNvPr>
            <p:cNvSpPr>
              <a:spLocks noChangeShapeType="1"/>
            </p:cNvSpPr>
            <p:nvPr/>
          </p:nvSpPr>
          <p:spPr bwMode="auto">
            <a:xfrm>
              <a:off x="2594" y="1546"/>
              <a:ext cx="174" cy="44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36" name="Line 58">
              <a:extLst>
                <a:ext uri="{FF2B5EF4-FFF2-40B4-BE49-F238E27FC236}">
                  <a16:creationId xmlns:a16="http://schemas.microsoft.com/office/drawing/2014/main" id="{7CFDE65E-1718-6B4D-8CF3-7F9D8B8C061B}"/>
                </a:ext>
              </a:extLst>
            </p:cNvPr>
            <p:cNvSpPr>
              <a:spLocks noChangeShapeType="1"/>
            </p:cNvSpPr>
            <p:nvPr/>
          </p:nvSpPr>
          <p:spPr bwMode="auto">
            <a:xfrm>
              <a:off x="2386" y="1399"/>
              <a:ext cx="0" cy="549"/>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437" name="Line 59">
              <a:extLst>
                <a:ext uri="{FF2B5EF4-FFF2-40B4-BE49-F238E27FC236}">
                  <a16:creationId xmlns:a16="http://schemas.microsoft.com/office/drawing/2014/main" id="{53F91FCF-3C66-B549-9598-13B53845DEC1}"/>
                </a:ext>
              </a:extLst>
            </p:cNvPr>
            <p:cNvSpPr>
              <a:spLocks noChangeShapeType="1"/>
            </p:cNvSpPr>
            <p:nvPr/>
          </p:nvSpPr>
          <p:spPr bwMode="auto">
            <a:xfrm>
              <a:off x="3334" y="1720"/>
              <a:ext cx="0" cy="25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02420" name="Slide Number Placeholder 5">
            <a:extLst>
              <a:ext uri="{FF2B5EF4-FFF2-40B4-BE49-F238E27FC236}">
                <a16:creationId xmlns:a16="http://schemas.microsoft.com/office/drawing/2014/main" id="{EF691FB8-FF20-8149-B211-80AF17B14B0A}"/>
              </a:ext>
            </a:extLst>
          </p:cNvPr>
          <p:cNvSpPr>
            <a:spLocks noGrp="1"/>
          </p:cNvSpPr>
          <p:nvPr>
            <p:ph type="sldNum" sz="quarter" idx="12"/>
          </p:nvPr>
        </p:nvSpPr>
        <p:spPr>
          <a:xfrm>
            <a:off x="8456613" y="6475413"/>
            <a:ext cx="799682" cy="241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4E057B27-D018-B744-8C0D-F4B0C929EF84}" type="slidenum">
              <a:rPr lang="en-US" altLang="en-US">
                <a:latin typeface="Tahoma" panose="020B0604030504040204" pitchFamily="34" charset="0"/>
              </a:rPr>
              <a:pPr/>
              <a:t>130</a:t>
            </a:fld>
            <a:endParaRPr lang="en-US" altLang="en-US" dirty="0">
              <a:latin typeface="Tahoma" panose="020B0604030504040204" pitchFamily="34" charset="0"/>
            </a:endParaRPr>
          </a:p>
        </p:txBody>
      </p:sp>
    </p:spTree>
    <p:extLst>
      <p:ext uri="{BB962C8B-B14F-4D97-AF65-F5344CB8AC3E}">
        <p14:creationId xmlns:p14="http://schemas.microsoft.com/office/powerpoint/2010/main" val="3554004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9" presetClass="entr" presetSubtype="0" fill="hold" grpId="0" nodeType="withEffect">
                                  <p:stCondLst>
                                    <p:cond delay="0"/>
                                  </p:stCondLst>
                                  <p:childTnLst>
                                    <p:set>
                                      <p:cBhvr>
                                        <p:cTn id="9" dur="1" fill="hold">
                                          <p:stCondLst>
                                            <p:cond delay="0"/>
                                          </p:stCondLst>
                                        </p:cTn>
                                        <p:tgtEl>
                                          <p:spTgt spid="418880"/>
                                        </p:tgtEl>
                                        <p:attrNameLst>
                                          <p:attrName>style.visibility</p:attrName>
                                        </p:attrNameLst>
                                      </p:cBhvr>
                                      <p:to>
                                        <p:strVal val="visible"/>
                                      </p:to>
                                    </p:set>
                                    <p:animEffect transition="in" filter="dissolve">
                                      <p:cBhvr>
                                        <p:cTn id="10" dur="500"/>
                                        <p:tgtEl>
                                          <p:spTgt spid="418880"/>
                                        </p:tgtEl>
                                      </p:cBhvr>
                                    </p:animEffect>
                                  </p:childTnLst>
                                </p:cTn>
                              </p:par>
                              <p:par>
                                <p:cTn id="11" presetID="9" presetClass="entr" presetSubtype="0" fill="hold" nodeType="withEffect">
                                  <p:stCondLst>
                                    <p:cond delay="0"/>
                                  </p:stCondLst>
                                  <p:childTnLst>
                                    <p:set>
                                      <p:cBhvr>
                                        <p:cTn id="12" dur="1" fill="hold">
                                          <p:stCondLst>
                                            <p:cond delay="0"/>
                                          </p:stCondLst>
                                        </p:cTn>
                                        <p:tgtEl>
                                          <p:spTgt spid="418881"/>
                                        </p:tgtEl>
                                        <p:attrNameLst>
                                          <p:attrName>style.visibility</p:attrName>
                                        </p:attrNameLst>
                                      </p:cBhvr>
                                      <p:to>
                                        <p:strVal val="visible"/>
                                      </p:to>
                                    </p:set>
                                    <p:animEffect transition="in" filter="dissolve">
                                      <p:cBhvr>
                                        <p:cTn id="13" dur="500"/>
                                        <p:tgtEl>
                                          <p:spTgt spid="418881"/>
                                        </p:tgtEl>
                                      </p:cBhvr>
                                    </p:animEffect>
                                  </p:childTnLst>
                                </p:cTn>
                              </p:par>
                              <p:par>
                                <p:cTn id="14" presetID="9" presetClass="entr" presetSubtype="0" fill="hold" nodeType="withEffect">
                                  <p:stCondLst>
                                    <p:cond delay="0"/>
                                  </p:stCondLst>
                                  <p:childTnLst>
                                    <p:set>
                                      <p:cBhvr>
                                        <p:cTn id="15" dur="1" fill="hold">
                                          <p:stCondLst>
                                            <p:cond delay="0"/>
                                          </p:stCondLst>
                                        </p:cTn>
                                        <p:tgtEl>
                                          <p:spTgt spid="418882"/>
                                        </p:tgtEl>
                                        <p:attrNameLst>
                                          <p:attrName>style.visibility</p:attrName>
                                        </p:attrNameLst>
                                      </p:cBhvr>
                                      <p:to>
                                        <p:strVal val="visible"/>
                                      </p:to>
                                    </p:set>
                                    <p:animEffect transition="in" filter="dissolve">
                                      <p:cBhvr>
                                        <p:cTn id="16" dur="500"/>
                                        <p:tgtEl>
                                          <p:spTgt spid="418882"/>
                                        </p:tgtEl>
                                      </p:cBhvr>
                                    </p:animEffect>
                                  </p:childTnLst>
                                </p:cTn>
                              </p:par>
                              <p:par>
                                <p:cTn id="17" presetID="9"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80"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628650" y="1116604"/>
            <a:ext cx="7886700" cy="670967"/>
          </a:xfrm>
        </p:spPr>
        <p:txBody>
          <a:bodyPr>
            <a:normAutofit/>
          </a:bodyPr>
          <a:lstStyle/>
          <a:p>
            <a:r>
              <a:rPr lang="en-US" sz="3600" dirty="0"/>
              <a:t>Tunneling and encapsulation</a:t>
            </a:r>
          </a:p>
        </p:txBody>
      </p:sp>
      <p:sp>
        <p:nvSpPr>
          <p:cNvPr id="168" name="Text Box 75">
            <a:extLst>
              <a:ext uri="{FF2B5EF4-FFF2-40B4-BE49-F238E27FC236}">
                <a16:creationId xmlns:a16="http://schemas.microsoft.com/office/drawing/2014/main" id="{9929FFB1-4B85-B14E-8A8D-EE3B2BBCB609}"/>
              </a:ext>
            </a:extLst>
          </p:cNvPr>
          <p:cNvSpPr txBox="1">
            <a:spLocks noChangeArrowheads="1"/>
          </p:cNvSpPr>
          <p:nvPr/>
        </p:nvSpPr>
        <p:spPr bwMode="auto">
          <a:xfrm>
            <a:off x="666206" y="2130663"/>
            <a:ext cx="206964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800" dirty="0">
                <a:solidFill>
                  <a:prstClr val="black"/>
                </a:solidFill>
                <a:latin typeface="Calibri" panose="020F0502020204030204"/>
              </a:rPr>
              <a:t>Ethernet connecting two IPv6 routers:</a:t>
            </a:r>
          </a:p>
        </p:txBody>
      </p:sp>
      <p:grpSp>
        <p:nvGrpSpPr>
          <p:cNvPr id="3" name="Group 2">
            <a:extLst>
              <a:ext uri="{FF2B5EF4-FFF2-40B4-BE49-F238E27FC236}">
                <a16:creationId xmlns:a16="http://schemas.microsoft.com/office/drawing/2014/main" id="{9516739A-1258-BE4F-9C41-77F7DE9A3736}"/>
              </a:ext>
            </a:extLst>
          </p:cNvPr>
          <p:cNvGrpSpPr/>
          <p:nvPr/>
        </p:nvGrpSpPr>
        <p:grpSpPr>
          <a:xfrm>
            <a:off x="3205711" y="2077082"/>
            <a:ext cx="4380579" cy="770927"/>
            <a:chOff x="3663591" y="1108282"/>
            <a:chExt cx="5840772" cy="1027902"/>
          </a:xfrm>
        </p:grpSpPr>
        <p:sp>
          <p:nvSpPr>
            <p:cNvPr id="167" name="Rectangle 67">
              <a:extLst>
                <a:ext uri="{FF2B5EF4-FFF2-40B4-BE49-F238E27FC236}">
                  <a16:creationId xmlns:a16="http://schemas.microsoft.com/office/drawing/2014/main" id="{09A35161-06D7-5F46-8581-CAD586A060A0}"/>
                </a:ext>
              </a:extLst>
            </p:cNvPr>
            <p:cNvSpPr>
              <a:spLocks noChangeArrowheads="1"/>
            </p:cNvSpPr>
            <p:nvPr/>
          </p:nvSpPr>
          <p:spPr bwMode="auto">
            <a:xfrm>
              <a:off x="5385352" y="1616420"/>
              <a:ext cx="2405062" cy="66675"/>
            </a:xfrm>
            <a:prstGeom prst="rect">
              <a:avLst/>
            </a:prstGeom>
            <a:solidFill>
              <a:srgbClr val="CC0000"/>
            </a:soli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169" name="Text Box 244">
              <a:extLst>
                <a:ext uri="{FF2B5EF4-FFF2-40B4-BE49-F238E27FC236}">
                  <a16:creationId xmlns:a16="http://schemas.microsoft.com/office/drawing/2014/main" id="{8F946424-1CCF-1D48-9329-4BE5B2E1BE06}"/>
                </a:ext>
              </a:extLst>
            </p:cNvPr>
            <p:cNvSpPr txBox="1">
              <a:spLocks noChangeArrowheads="1"/>
            </p:cNvSpPr>
            <p:nvPr/>
          </p:nvSpPr>
          <p:spPr bwMode="auto">
            <a:xfrm>
              <a:off x="5480234" y="1110007"/>
              <a:ext cx="2471780" cy="541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i="1" dirty="0">
                  <a:solidFill>
                    <a:srgbClr val="CC0000"/>
                  </a:solidFill>
                </a:rPr>
                <a:t>Ethernet connects two IPv6 routers</a:t>
              </a:r>
            </a:p>
          </p:txBody>
        </p:sp>
        <p:grpSp>
          <p:nvGrpSpPr>
            <p:cNvPr id="269" name="Group 268">
              <a:extLst>
                <a:ext uri="{FF2B5EF4-FFF2-40B4-BE49-F238E27FC236}">
                  <a16:creationId xmlns:a16="http://schemas.microsoft.com/office/drawing/2014/main" id="{F2AFC9CA-57A7-2A4B-B2A8-73EE2B3D1201}"/>
                </a:ext>
              </a:extLst>
            </p:cNvPr>
            <p:cNvGrpSpPr/>
            <p:nvPr/>
          </p:nvGrpSpPr>
          <p:grpSpPr>
            <a:xfrm>
              <a:off x="3663591" y="1108282"/>
              <a:ext cx="1770063" cy="997982"/>
              <a:chOff x="3670217" y="2254595"/>
              <a:chExt cx="1770063" cy="997982"/>
            </a:xfrm>
          </p:grpSpPr>
          <p:sp>
            <p:nvSpPr>
              <p:cNvPr id="270" name="Text Box 92">
                <a:extLst>
                  <a:ext uri="{FF2B5EF4-FFF2-40B4-BE49-F238E27FC236}">
                    <a16:creationId xmlns:a16="http://schemas.microsoft.com/office/drawing/2014/main" id="{2E0B16B3-F2F3-2C48-B2D9-7825734D0A01}"/>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A</a:t>
                </a:r>
              </a:p>
            </p:txBody>
          </p:sp>
          <p:sp>
            <p:nvSpPr>
              <p:cNvPr id="271" name="Text Box 108">
                <a:extLst>
                  <a:ext uri="{FF2B5EF4-FFF2-40B4-BE49-F238E27FC236}">
                    <a16:creationId xmlns:a16="http://schemas.microsoft.com/office/drawing/2014/main" id="{F159ED48-E177-7C41-B64B-06B2B085521B}"/>
                  </a:ext>
                </a:extLst>
              </p:cNvPr>
              <p:cNvSpPr txBox="1">
                <a:spLocks noChangeArrowheads="1"/>
              </p:cNvSpPr>
              <p:nvPr/>
            </p:nvSpPr>
            <p:spPr bwMode="auto">
              <a:xfrm>
                <a:off x="4904340" y="2259358"/>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B</a:t>
                </a:r>
              </a:p>
            </p:txBody>
          </p:sp>
          <p:sp>
            <p:nvSpPr>
              <p:cNvPr id="272" name="Line 141">
                <a:extLst>
                  <a:ext uri="{FF2B5EF4-FFF2-40B4-BE49-F238E27FC236}">
                    <a16:creationId xmlns:a16="http://schemas.microsoft.com/office/drawing/2014/main" id="{0635167B-2AF3-A14C-85E2-3598CB9CF52F}"/>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73" name="Text Box 143">
                <a:extLst>
                  <a:ext uri="{FF2B5EF4-FFF2-40B4-BE49-F238E27FC236}">
                    <a16:creationId xmlns:a16="http://schemas.microsoft.com/office/drawing/2014/main" id="{87A044D8-2093-0E46-9D20-BAE30730DC1F}"/>
                  </a:ext>
                </a:extLst>
              </p:cNvPr>
              <p:cNvSpPr txBox="1">
                <a:spLocks noChangeArrowheads="1"/>
              </p:cNvSpPr>
              <p:nvPr/>
            </p:nvSpPr>
            <p:spPr bwMode="auto">
              <a:xfrm>
                <a:off x="3737526" y="2881657"/>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sp>
            <p:nvSpPr>
              <p:cNvPr id="274" name="Text Box 144">
                <a:extLst>
                  <a:ext uri="{FF2B5EF4-FFF2-40B4-BE49-F238E27FC236}">
                    <a16:creationId xmlns:a16="http://schemas.microsoft.com/office/drawing/2014/main" id="{F207BD95-5E7A-4D4E-BE7D-41925B60863F}"/>
                  </a:ext>
                </a:extLst>
              </p:cNvPr>
              <p:cNvSpPr txBox="1">
                <a:spLocks noChangeArrowheads="1"/>
              </p:cNvSpPr>
              <p:nvPr/>
            </p:nvSpPr>
            <p:spPr bwMode="auto">
              <a:xfrm>
                <a:off x="4783689" y="2883245"/>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grpSp>
            <p:nvGrpSpPr>
              <p:cNvPr id="275" name="Group 274">
                <a:extLst>
                  <a:ext uri="{FF2B5EF4-FFF2-40B4-BE49-F238E27FC236}">
                    <a16:creationId xmlns:a16="http://schemas.microsoft.com/office/drawing/2014/main" id="{4A073E69-860F-5249-AFC4-C4A38D391439}"/>
                  </a:ext>
                </a:extLst>
              </p:cNvPr>
              <p:cNvGrpSpPr/>
              <p:nvPr/>
            </p:nvGrpSpPr>
            <p:grpSpPr>
              <a:xfrm>
                <a:off x="3670217" y="2586162"/>
                <a:ext cx="731126" cy="344556"/>
                <a:chOff x="7493876" y="2774731"/>
                <a:chExt cx="1481958" cy="894622"/>
              </a:xfrm>
            </p:grpSpPr>
            <p:sp>
              <p:nvSpPr>
                <p:cNvPr id="284" name="Freeform 283">
                  <a:extLst>
                    <a:ext uri="{FF2B5EF4-FFF2-40B4-BE49-F238E27FC236}">
                      <a16:creationId xmlns:a16="http://schemas.microsoft.com/office/drawing/2014/main" id="{F8A16A7C-85C7-A24F-BB87-4093501CBD3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85" name="Oval 284">
                  <a:extLst>
                    <a:ext uri="{FF2B5EF4-FFF2-40B4-BE49-F238E27FC236}">
                      <a16:creationId xmlns:a16="http://schemas.microsoft.com/office/drawing/2014/main" id="{8BC5BF39-F377-5146-97C0-6EF8F1928312}"/>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86" name="Group 285">
                  <a:extLst>
                    <a:ext uri="{FF2B5EF4-FFF2-40B4-BE49-F238E27FC236}">
                      <a16:creationId xmlns:a16="http://schemas.microsoft.com/office/drawing/2014/main" id="{591C4487-83B3-D542-ADA7-A3219B9450D3}"/>
                    </a:ext>
                  </a:extLst>
                </p:cNvPr>
                <p:cNvGrpSpPr/>
                <p:nvPr/>
              </p:nvGrpSpPr>
              <p:grpSpPr>
                <a:xfrm>
                  <a:off x="7713663" y="2848339"/>
                  <a:ext cx="1042107" cy="425543"/>
                  <a:chOff x="7786941" y="2884917"/>
                  <a:chExt cx="897649" cy="353919"/>
                </a:xfrm>
              </p:grpSpPr>
              <p:sp>
                <p:nvSpPr>
                  <p:cNvPr id="287" name="Freeform 286">
                    <a:extLst>
                      <a:ext uri="{FF2B5EF4-FFF2-40B4-BE49-F238E27FC236}">
                        <a16:creationId xmlns:a16="http://schemas.microsoft.com/office/drawing/2014/main" id="{587D49BB-7359-F14F-9FAA-DBE4B215BD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8" name="Freeform 287">
                    <a:extLst>
                      <a:ext uri="{FF2B5EF4-FFF2-40B4-BE49-F238E27FC236}">
                        <a16:creationId xmlns:a16="http://schemas.microsoft.com/office/drawing/2014/main" id="{A081F8B5-4855-AD41-8946-CFB9780B4B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9" name="Freeform 288">
                    <a:extLst>
                      <a:ext uri="{FF2B5EF4-FFF2-40B4-BE49-F238E27FC236}">
                        <a16:creationId xmlns:a16="http://schemas.microsoft.com/office/drawing/2014/main" id="{12524264-0777-0C42-AF6A-3CBF1F755F5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90" name="Freeform 289">
                    <a:extLst>
                      <a:ext uri="{FF2B5EF4-FFF2-40B4-BE49-F238E27FC236}">
                        <a16:creationId xmlns:a16="http://schemas.microsoft.com/office/drawing/2014/main" id="{FF4F4DB1-DF2D-BD4D-8E20-DCBADE21EC3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76" name="Group 275">
                <a:extLst>
                  <a:ext uri="{FF2B5EF4-FFF2-40B4-BE49-F238E27FC236}">
                    <a16:creationId xmlns:a16="http://schemas.microsoft.com/office/drawing/2014/main" id="{B5FF489C-4A51-4246-9098-943E871C0053}"/>
                  </a:ext>
                </a:extLst>
              </p:cNvPr>
              <p:cNvGrpSpPr/>
              <p:nvPr/>
            </p:nvGrpSpPr>
            <p:grpSpPr>
              <a:xfrm>
                <a:off x="4703149" y="2589549"/>
                <a:ext cx="731126" cy="344556"/>
                <a:chOff x="7493876" y="2774731"/>
                <a:chExt cx="1481958" cy="894622"/>
              </a:xfrm>
            </p:grpSpPr>
            <p:sp>
              <p:nvSpPr>
                <p:cNvPr id="277" name="Freeform 276">
                  <a:extLst>
                    <a:ext uri="{FF2B5EF4-FFF2-40B4-BE49-F238E27FC236}">
                      <a16:creationId xmlns:a16="http://schemas.microsoft.com/office/drawing/2014/main" id="{DF781C98-CD40-6448-A759-51A33B9B786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78" name="Oval 277">
                  <a:extLst>
                    <a:ext uri="{FF2B5EF4-FFF2-40B4-BE49-F238E27FC236}">
                      <a16:creationId xmlns:a16="http://schemas.microsoft.com/office/drawing/2014/main" id="{1ED403CB-BAEA-6B47-A295-E1B338E8108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79" name="Group 278">
                  <a:extLst>
                    <a:ext uri="{FF2B5EF4-FFF2-40B4-BE49-F238E27FC236}">
                      <a16:creationId xmlns:a16="http://schemas.microsoft.com/office/drawing/2014/main" id="{B654F614-FA15-3B4E-AF13-036BBC0D152E}"/>
                    </a:ext>
                  </a:extLst>
                </p:cNvPr>
                <p:cNvGrpSpPr/>
                <p:nvPr/>
              </p:nvGrpSpPr>
              <p:grpSpPr>
                <a:xfrm>
                  <a:off x="7713663" y="2848339"/>
                  <a:ext cx="1042107" cy="425543"/>
                  <a:chOff x="7786941" y="2884917"/>
                  <a:chExt cx="897649" cy="353919"/>
                </a:xfrm>
              </p:grpSpPr>
              <p:sp>
                <p:nvSpPr>
                  <p:cNvPr id="280" name="Freeform 279">
                    <a:extLst>
                      <a:ext uri="{FF2B5EF4-FFF2-40B4-BE49-F238E27FC236}">
                        <a16:creationId xmlns:a16="http://schemas.microsoft.com/office/drawing/2014/main" id="{3010894A-4D62-8948-8AAC-9B942BF5F27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1" name="Freeform 280">
                    <a:extLst>
                      <a:ext uri="{FF2B5EF4-FFF2-40B4-BE49-F238E27FC236}">
                        <a16:creationId xmlns:a16="http://schemas.microsoft.com/office/drawing/2014/main" id="{27D3A458-EB4A-F945-B4E8-15003E8491A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2" name="Freeform 281">
                    <a:extLst>
                      <a:ext uri="{FF2B5EF4-FFF2-40B4-BE49-F238E27FC236}">
                        <a16:creationId xmlns:a16="http://schemas.microsoft.com/office/drawing/2014/main" id="{CEF2E442-594C-4E44-B866-4A37719675A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3" name="Freeform 282">
                    <a:extLst>
                      <a:ext uri="{FF2B5EF4-FFF2-40B4-BE49-F238E27FC236}">
                        <a16:creationId xmlns:a16="http://schemas.microsoft.com/office/drawing/2014/main" id="{4AEACB60-4D98-B143-9AD1-BDCACC68427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nvGrpSpPr>
            <p:cNvPr id="291" name="Group 290">
              <a:extLst>
                <a:ext uri="{FF2B5EF4-FFF2-40B4-BE49-F238E27FC236}">
                  <a16:creationId xmlns:a16="http://schemas.microsoft.com/office/drawing/2014/main" id="{6CD9FE67-1834-004F-B7B8-EC2ACE51FC02}"/>
                </a:ext>
              </a:extLst>
            </p:cNvPr>
            <p:cNvGrpSpPr/>
            <p:nvPr/>
          </p:nvGrpSpPr>
          <p:grpSpPr>
            <a:xfrm>
              <a:off x="7734300" y="1138202"/>
              <a:ext cx="1770063" cy="997982"/>
              <a:chOff x="3670217" y="2254595"/>
              <a:chExt cx="1770063" cy="997982"/>
            </a:xfrm>
          </p:grpSpPr>
          <p:sp>
            <p:nvSpPr>
              <p:cNvPr id="292" name="Text Box 92">
                <a:extLst>
                  <a:ext uri="{FF2B5EF4-FFF2-40B4-BE49-F238E27FC236}">
                    <a16:creationId xmlns:a16="http://schemas.microsoft.com/office/drawing/2014/main" id="{4E1422BC-3A6A-6B44-A701-1A4C4A646A43}"/>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E</a:t>
                </a:r>
              </a:p>
            </p:txBody>
          </p:sp>
          <p:sp>
            <p:nvSpPr>
              <p:cNvPr id="293" name="Text Box 108">
                <a:extLst>
                  <a:ext uri="{FF2B5EF4-FFF2-40B4-BE49-F238E27FC236}">
                    <a16:creationId xmlns:a16="http://schemas.microsoft.com/office/drawing/2014/main" id="{6FC6F4F3-504B-0A4C-99EE-AAE5D6AF031D}"/>
                  </a:ext>
                </a:extLst>
              </p:cNvPr>
              <p:cNvSpPr txBox="1">
                <a:spLocks noChangeArrowheads="1"/>
              </p:cNvSpPr>
              <p:nvPr/>
            </p:nvSpPr>
            <p:spPr bwMode="auto">
              <a:xfrm>
                <a:off x="4888228" y="2259358"/>
                <a:ext cx="387285"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F</a:t>
                </a:r>
              </a:p>
            </p:txBody>
          </p:sp>
          <p:sp>
            <p:nvSpPr>
              <p:cNvPr id="294" name="Line 141">
                <a:extLst>
                  <a:ext uri="{FF2B5EF4-FFF2-40B4-BE49-F238E27FC236}">
                    <a16:creationId xmlns:a16="http://schemas.microsoft.com/office/drawing/2014/main" id="{90DCDADB-6394-A84B-BA95-D8E0F9F2E56B}"/>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95" name="Text Box 143">
                <a:extLst>
                  <a:ext uri="{FF2B5EF4-FFF2-40B4-BE49-F238E27FC236}">
                    <a16:creationId xmlns:a16="http://schemas.microsoft.com/office/drawing/2014/main" id="{18B62826-F267-0049-A412-8619C591057C}"/>
                  </a:ext>
                </a:extLst>
              </p:cNvPr>
              <p:cNvSpPr txBox="1">
                <a:spLocks noChangeArrowheads="1"/>
              </p:cNvSpPr>
              <p:nvPr/>
            </p:nvSpPr>
            <p:spPr bwMode="auto">
              <a:xfrm>
                <a:off x="3737526" y="2881657"/>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sp>
            <p:nvSpPr>
              <p:cNvPr id="296" name="Text Box 144">
                <a:extLst>
                  <a:ext uri="{FF2B5EF4-FFF2-40B4-BE49-F238E27FC236}">
                    <a16:creationId xmlns:a16="http://schemas.microsoft.com/office/drawing/2014/main" id="{DB366F83-3A13-0249-80B2-D1CABCF6E95E}"/>
                  </a:ext>
                </a:extLst>
              </p:cNvPr>
              <p:cNvSpPr txBox="1">
                <a:spLocks noChangeArrowheads="1"/>
              </p:cNvSpPr>
              <p:nvPr/>
            </p:nvSpPr>
            <p:spPr bwMode="auto">
              <a:xfrm>
                <a:off x="4783689" y="2883245"/>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grpSp>
            <p:nvGrpSpPr>
              <p:cNvPr id="297" name="Group 296">
                <a:extLst>
                  <a:ext uri="{FF2B5EF4-FFF2-40B4-BE49-F238E27FC236}">
                    <a16:creationId xmlns:a16="http://schemas.microsoft.com/office/drawing/2014/main" id="{811A1EE5-9CFA-BD4B-BC78-E2DEBF1097E9}"/>
                  </a:ext>
                </a:extLst>
              </p:cNvPr>
              <p:cNvGrpSpPr/>
              <p:nvPr/>
            </p:nvGrpSpPr>
            <p:grpSpPr>
              <a:xfrm>
                <a:off x="3670217" y="2586162"/>
                <a:ext cx="731126" cy="344556"/>
                <a:chOff x="7493876" y="2774731"/>
                <a:chExt cx="1481958" cy="894622"/>
              </a:xfrm>
            </p:grpSpPr>
            <p:sp>
              <p:nvSpPr>
                <p:cNvPr id="306" name="Freeform 305">
                  <a:extLst>
                    <a:ext uri="{FF2B5EF4-FFF2-40B4-BE49-F238E27FC236}">
                      <a16:creationId xmlns:a16="http://schemas.microsoft.com/office/drawing/2014/main" id="{3A74AED1-F0EA-0349-BE24-8AC41946D59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07" name="Oval 306">
                  <a:extLst>
                    <a:ext uri="{FF2B5EF4-FFF2-40B4-BE49-F238E27FC236}">
                      <a16:creationId xmlns:a16="http://schemas.microsoft.com/office/drawing/2014/main" id="{EBB7616C-F33E-2141-AF35-E0C68F6DA62F}"/>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08" name="Group 307">
                  <a:extLst>
                    <a:ext uri="{FF2B5EF4-FFF2-40B4-BE49-F238E27FC236}">
                      <a16:creationId xmlns:a16="http://schemas.microsoft.com/office/drawing/2014/main" id="{885BD882-BC9B-DD4D-8DDC-9F2AB1102AB3}"/>
                    </a:ext>
                  </a:extLst>
                </p:cNvPr>
                <p:cNvGrpSpPr/>
                <p:nvPr/>
              </p:nvGrpSpPr>
              <p:grpSpPr>
                <a:xfrm>
                  <a:off x="7713663" y="2848339"/>
                  <a:ext cx="1042107" cy="425543"/>
                  <a:chOff x="7786941" y="2884917"/>
                  <a:chExt cx="897649" cy="353919"/>
                </a:xfrm>
              </p:grpSpPr>
              <p:sp>
                <p:nvSpPr>
                  <p:cNvPr id="309" name="Freeform 308">
                    <a:extLst>
                      <a:ext uri="{FF2B5EF4-FFF2-40B4-BE49-F238E27FC236}">
                        <a16:creationId xmlns:a16="http://schemas.microsoft.com/office/drawing/2014/main" id="{B030882F-74FC-2847-B126-520EE17206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0" name="Freeform 309">
                    <a:extLst>
                      <a:ext uri="{FF2B5EF4-FFF2-40B4-BE49-F238E27FC236}">
                        <a16:creationId xmlns:a16="http://schemas.microsoft.com/office/drawing/2014/main" id="{0E0B8D53-1472-DA4D-AE29-51DFB53F576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1" name="Freeform 310">
                    <a:extLst>
                      <a:ext uri="{FF2B5EF4-FFF2-40B4-BE49-F238E27FC236}">
                        <a16:creationId xmlns:a16="http://schemas.microsoft.com/office/drawing/2014/main" id="{058C9471-DEE6-AE4F-8503-FD801436B8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2" name="Freeform 311">
                    <a:extLst>
                      <a:ext uri="{FF2B5EF4-FFF2-40B4-BE49-F238E27FC236}">
                        <a16:creationId xmlns:a16="http://schemas.microsoft.com/office/drawing/2014/main" id="{4F6D32E6-1749-DB4A-918E-98CCCD97251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98" name="Group 297">
                <a:extLst>
                  <a:ext uri="{FF2B5EF4-FFF2-40B4-BE49-F238E27FC236}">
                    <a16:creationId xmlns:a16="http://schemas.microsoft.com/office/drawing/2014/main" id="{1DD98ED7-111E-954C-9872-D507EE1D2233}"/>
                  </a:ext>
                </a:extLst>
              </p:cNvPr>
              <p:cNvGrpSpPr/>
              <p:nvPr/>
            </p:nvGrpSpPr>
            <p:grpSpPr>
              <a:xfrm>
                <a:off x="4703149" y="2589549"/>
                <a:ext cx="731126" cy="344556"/>
                <a:chOff x="7493876" y="2774731"/>
                <a:chExt cx="1481958" cy="894622"/>
              </a:xfrm>
            </p:grpSpPr>
            <p:sp>
              <p:nvSpPr>
                <p:cNvPr id="299" name="Freeform 298">
                  <a:extLst>
                    <a:ext uri="{FF2B5EF4-FFF2-40B4-BE49-F238E27FC236}">
                      <a16:creationId xmlns:a16="http://schemas.microsoft.com/office/drawing/2014/main" id="{CE90818F-F7C9-8A4F-8C28-757575ABCAB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00" name="Oval 299">
                  <a:extLst>
                    <a:ext uri="{FF2B5EF4-FFF2-40B4-BE49-F238E27FC236}">
                      <a16:creationId xmlns:a16="http://schemas.microsoft.com/office/drawing/2014/main" id="{CEC89AC2-BDFD-AC4F-A951-DA4DB8992147}"/>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01" name="Group 300">
                  <a:extLst>
                    <a:ext uri="{FF2B5EF4-FFF2-40B4-BE49-F238E27FC236}">
                      <a16:creationId xmlns:a16="http://schemas.microsoft.com/office/drawing/2014/main" id="{695885FE-D0A9-7145-8BD4-0AB640821495}"/>
                    </a:ext>
                  </a:extLst>
                </p:cNvPr>
                <p:cNvGrpSpPr/>
                <p:nvPr/>
              </p:nvGrpSpPr>
              <p:grpSpPr>
                <a:xfrm>
                  <a:off x="7713663" y="2848339"/>
                  <a:ext cx="1042107" cy="425543"/>
                  <a:chOff x="7786941" y="2884917"/>
                  <a:chExt cx="897649" cy="353919"/>
                </a:xfrm>
              </p:grpSpPr>
              <p:sp>
                <p:nvSpPr>
                  <p:cNvPr id="302" name="Freeform 301">
                    <a:extLst>
                      <a:ext uri="{FF2B5EF4-FFF2-40B4-BE49-F238E27FC236}">
                        <a16:creationId xmlns:a16="http://schemas.microsoft.com/office/drawing/2014/main" id="{C9F1E916-77E1-464F-9DA9-93947467D4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3" name="Freeform 302">
                    <a:extLst>
                      <a:ext uri="{FF2B5EF4-FFF2-40B4-BE49-F238E27FC236}">
                        <a16:creationId xmlns:a16="http://schemas.microsoft.com/office/drawing/2014/main" id="{D22EEE39-5B44-8441-8AA6-2DC425C85D5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4" name="Freeform 303">
                    <a:extLst>
                      <a:ext uri="{FF2B5EF4-FFF2-40B4-BE49-F238E27FC236}">
                        <a16:creationId xmlns:a16="http://schemas.microsoft.com/office/drawing/2014/main" id="{9DADD220-43C9-0848-95D9-0ED14661FF9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5" name="Freeform 304">
                    <a:extLst>
                      <a:ext uri="{FF2B5EF4-FFF2-40B4-BE49-F238E27FC236}">
                        <a16:creationId xmlns:a16="http://schemas.microsoft.com/office/drawing/2014/main" id="{FF7D8FD7-6529-FE42-B132-6122472F475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grpSp>
        <p:nvGrpSpPr>
          <p:cNvPr id="18" name="Group 17">
            <a:extLst>
              <a:ext uri="{FF2B5EF4-FFF2-40B4-BE49-F238E27FC236}">
                <a16:creationId xmlns:a16="http://schemas.microsoft.com/office/drawing/2014/main" id="{CBFD91D7-0B04-D846-BFE6-3B2EB08046BF}"/>
              </a:ext>
            </a:extLst>
          </p:cNvPr>
          <p:cNvGrpSpPr/>
          <p:nvPr/>
        </p:nvGrpSpPr>
        <p:grpSpPr>
          <a:xfrm>
            <a:off x="2425872" y="3253740"/>
            <a:ext cx="1318707" cy="374016"/>
            <a:chOff x="3219256" y="3119120"/>
            <a:chExt cx="1758276" cy="498688"/>
          </a:xfrm>
        </p:grpSpPr>
        <p:sp>
          <p:nvSpPr>
            <p:cNvPr id="260" name="Line 57">
              <a:extLst>
                <a:ext uri="{FF2B5EF4-FFF2-40B4-BE49-F238E27FC236}">
                  <a16:creationId xmlns:a16="http://schemas.microsoft.com/office/drawing/2014/main" id="{444FAB3B-BC2A-474E-B52E-60DB95D89EE7}"/>
                </a:ext>
              </a:extLst>
            </p:cNvPr>
            <p:cNvSpPr>
              <a:spLocks noChangeShapeType="1"/>
            </p:cNvSpPr>
            <p:nvPr/>
          </p:nvSpPr>
          <p:spPr bwMode="auto">
            <a:xfrm flipH="1">
              <a:off x="4023360" y="3119120"/>
              <a:ext cx="954172" cy="18796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1" name="Text Box 18">
              <a:extLst>
                <a:ext uri="{FF2B5EF4-FFF2-40B4-BE49-F238E27FC236}">
                  <a16:creationId xmlns:a16="http://schemas.microsoft.com/office/drawing/2014/main" id="{765FA291-F9CB-864C-A7BD-493491891E46}"/>
                </a:ext>
              </a:extLst>
            </p:cNvPr>
            <p:cNvSpPr txBox="1">
              <a:spLocks noChangeArrowheads="1"/>
            </p:cNvSpPr>
            <p:nvPr/>
          </p:nvSpPr>
          <p:spPr bwMode="auto">
            <a:xfrm>
              <a:off x="3219256" y="3311571"/>
              <a:ext cx="1537174" cy="30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050" dirty="0">
                  <a:solidFill>
                    <a:prstClr val="black"/>
                  </a:solidFill>
                </a:rPr>
                <a:t>Link-layer frame</a:t>
              </a:r>
            </a:p>
          </p:txBody>
        </p:sp>
      </p:grpSp>
      <p:grpSp>
        <p:nvGrpSpPr>
          <p:cNvPr id="13" name="Group 12">
            <a:extLst>
              <a:ext uri="{FF2B5EF4-FFF2-40B4-BE49-F238E27FC236}">
                <a16:creationId xmlns:a16="http://schemas.microsoft.com/office/drawing/2014/main" id="{F3A2D044-A80D-BF48-BFF6-B13D3278C64F}"/>
              </a:ext>
            </a:extLst>
          </p:cNvPr>
          <p:cNvGrpSpPr/>
          <p:nvPr/>
        </p:nvGrpSpPr>
        <p:grpSpPr>
          <a:xfrm>
            <a:off x="3606880" y="2692480"/>
            <a:ext cx="3664744" cy="729620"/>
            <a:chOff x="4672013" y="2614613"/>
            <a:chExt cx="4886325" cy="1183088"/>
          </a:xfrm>
        </p:grpSpPr>
        <p:grpSp>
          <p:nvGrpSpPr>
            <p:cNvPr id="5" name="Group 4">
              <a:extLst>
                <a:ext uri="{FF2B5EF4-FFF2-40B4-BE49-F238E27FC236}">
                  <a16:creationId xmlns:a16="http://schemas.microsoft.com/office/drawing/2014/main" id="{A8B018EE-E224-B940-B878-E69EDA1EA956}"/>
                </a:ext>
              </a:extLst>
            </p:cNvPr>
            <p:cNvGrpSpPr/>
            <p:nvPr/>
          </p:nvGrpSpPr>
          <p:grpSpPr>
            <a:xfrm>
              <a:off x="4674002" y="3295572"/>
              <a:ext cx="4854575" cy="502129"/>
              <a:chOff x="1427882" y="4286172"/>
              <a:chExt cx="4854575" cy="502129"/>
            </a:xfrm>
          </p:grpSpPr>
          <p:sp>
            <p:nvSpPr>
              <p:cNvPr id="363" name="Rectangle 26">
                <a:extLst>
                  <a:ext uri="{FF2B5EF4-FFF2-40B4-BE49-F238E27FC236}">
                    <a16:creationId xmlns:a16="http://schemas.microsoft.com/office/drawing/2014/main" id="{6BFDBC4B-8987-6D40-B37D-40C15D4A02DF}"/>
                  </a:ext>
                </a:extLst>
              </p:cNvPr>
              <p:cNvSpPr>
                <a:spLocks noChangeArrowheads="1"/>
              </p:cNvSpPr>
              <p:nvPr/>
            </p:nvSpPr>
            <p:spPr bwMode="auto">
              <a:xfrm>
                <a:off x="1427882" y="4289347"/>
                <a:ext cx="4854575" cy="468313"/>
              </a:xfrm>
              <a:prstGeom prst="rect">
                <a:avLst/>
              </a:prstGeom>
              <a:gradFill rotWithShape="1">
                <a:gsLst>
                  <a:gs pos="0">
                    <a:srgbClr val="CC0000">
                      <a:alpha val="40999"/>
                    </a:srgbClr>
                  </a:gs>
                  <a:gs pos="100000">
                    <a:srgbClr val="CC0000">
                      <a:alpha val="37999"/>
                    </a:srgbClr>
                  </a:gs>
                </a:gsLst>
                <a:lin ang="5400000" scaled="1"/>
              </a:gra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64" name="Line 27">
                <a:extLst>
                  <a:ext uri="{FF2B5EF4-FFF2-40B4-BE49-F238E27FC236}">
                    <a16:creationId xmlns:a16="http://schemas.microsoft.com/office/drawing/2014/main" id="{41F3CE6F-3D8F-6541-A266-4991BCC28A29}"/>
                  </a:ext>
                </a:extLst>
              </p:cNvPr>
              <p:cNvSpPr>
                <a:spLocks noChangeShapeType="1"/>
              </p:cNvSpPr>
              <p:nvPr/>
            </p:nvSpPr>
            <p:spPr bwMode="auto">
              <a:xfrm>
                <a:off x="2791545" y="4287759"/>
                <a:ext cx="0" cy="46831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65" name="Line 28">
                <a:extLst>
                  <a:ext uri="{FF2B5EF4-FFF2-40B4-BE49-F238E27FC236}">
                    <a16:creationId xmlns:a16="http://schemas.microsoft.com/office/drawing/2014/main" id="{6FA825CB-5465-7D40-B46B-B6CEDF1233D8}"/>
                  </a:ext>
                </a:extLst>
              </p:cNvPr>
              <p:cNvSpPr>
                <a:spLocks noChangeShapeType="1"/>
              </p:cNvSpPr>
              <p:nvPr/>
            </p:nvSpPr>
            <p:spPr bwMode="auto">
              <a:xfrm>
                <a:off x="2313707" y="4286172"/>
                <a:ext cx="0" cy="46831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66" name="Line 29">
                <a:extLst>
                  <a:ext uri="{FF2B5EF4-FFF2-40B4-BE49-F238E27FC236}">
                    <a16:creationId xmlns:a16="http://schemas.microsoft.com/office/drawing/2014/main" id="{5DC15200-24FA-DB49-BEA1-C166763FD829}"/>
                  </a:ext>
                </a:extLst>
              </p:cNvPr>
              <p:cNvSpPr>
                <a:spLocks noChangeShapeType="1"/>
              </p:cNvSpPr>
              <p:nvPr/>
            </p:nvSpPr>
            <p:spPr bwMode="auto">
              <a:xfrm>
                <a:off x="1867620" y="4294109"/>
                <a:ext cx="0" cy="46831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2" name="Group 1">
                <a:extLst>
                  <a:ext uri="{FF2B5EF4-FFF2-40B4-BE49-F238E27FC236}">
                    <a16:creationId xmlns:a16="http://schemas.microsoft.com/office/drawing/2014/main" id="{642ADB5E-2087-8042-9E8E-E6E371A900BA}"/>
                  </a:ext>
                </a:extLst>
              </p:cNvPr>
              <p:cNvGrpSpPr/>
              <p:nvPr/>
            </p:nvGrpSpPr>
            <p:grpSpPr>
              <a:xfrm>
                <a:off x="2865478" y="4319509"/>
                <a:ext cx="3402012" cy="414337"/>
                <a:chOff x="8090620" y="3748009"/>
                <a:chExt cx="3402012" cy="414337"/>
              </a:xfrm>
            </p:grpSpPr>
            <p:sp>
              <p:nvSpPr>
                <p:cNvPr id="357" name="Line 65">
                  <a:extLst>
                    <a:ext uri="{FF2B5EF4-FFF2-40B4-BE49-F238E27FC236}">
                      <a16:creationId xmlns:a16="http://schemas.microsoft.com/office/drawing/2014/main" id="{BD890452-F6E7-4448-B613-CFB0A5846EB1}"/>
                    </a:ext>
                  </a:extLst>
                </p:cNvPr>
                <p:cNvSpPr>
                  <a:spLocks noChangeShapeType="1"/>
                </p:cNvSpPr>
                <p:nvPr/>
              </p:nvSpPr>
              <p:spPr bwMode="auto">
                <a:xfrm>
                  <a:off x="8743763" y="4053716"/>
                  <a:ext cx="8572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0" name="Rectangle 5">
                  <a:extLst>
                    <a:ext uri="{FF2B5EF4-FFF2-40B4-BE49-F238E27FC236}">
                      <a16:creationId xmlns:a16="http://schemas.microsoft.com/office/drawing/2014/main" id="{5EF7AC7D-7AE1-C241-9F61-F18D9E6049CC}"/>
                    </a:ext>
                  </a:extLst>
                </p:cNvPr>
                <p:cNvSpPr>
                  <a:spLocks noChangeArrowheads="1"/>
                </p:cNvSpPr>
                <p:nvPr/>
              </p:nvSpPr>
              <p:spPr bwMode="auto">
                <a:xfrm>
                  <a:off x="8090620" y="3751184"/>
                  <a:ext cx="3402012" cy="401638"/>
                </a:xfrm>
                <a:prstGeom prst="rect">
                  <a:avLst/>
                </a:prstGeom>
                <a:solidFill>
                  <a:srgbClr val="66CCFF"/>
                </a:solidFill>
                <a:ln w="1270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81" name="Line 8">
                  <a:extLst>
                    <a:ext uri="{FF2B5EF4-FFF2-40B4-BE49-F238E27FC236}">
                      <a16:creationId xmlns:a16="http://schemas.microsoft.com/office/drawing/2014/main" id="{618C687D-95D3-1A4E-B0FA-FBAF474EB450}"/>
                    </a:ext>
                  </a:extLst>
                </p:cNvPr>
                <p:cNvSpPr>
                  <a:spLocks noChangeShapeType="1"/>
                </p:cNvSpPr>
                <p:nvPr/>
              </p:nvSpPr>
              <p:spPr bwMode="auto">
                <a:xfrm>
                  <a:off x="8174757" y="3751184"/>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2" name="Line 9">
                  <a:extLst>
                    <a:ext uri="{FF2B5EF4-FFF2-40B4-BE49-F238E27FC236}">
                      <a16:creationId xmlns:a16="http://schemas.microsoft.com/office/drawing/2014/main" id="{AC79F5F7-9AC4-9640-BA5C-522DDD5C0A1A}"/>
                    </a:ext>
                  </a:extLst>
                </p:cNvPr>
                <p:cNvSpPr>
                  <a:spLocks noChangeShapeType="1"/>
                </p:cNvSpPr>
                <p:nvPr/>
              </p:nvSpPr>
              <p:spPr bwMode="auto">
                <a:xfrm>
                  <a:off x="8133482" y="3749596"/>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3" name="Line 10">
                  <a:extLst>
                    <a:ext uri="{FF2B5EF4-FFF2-40B4-BE49-F238E27FC236}">
                      <a16:creationId xmlns:a16="http://schemas.microsoft.com/office/drawing/2014/main" id="{65704044-79FE-A64A-9FF3-9C238BBA6EBE}"/>
                    </a:ext>
                  </a:extLst>
                </p:cNvPr>
                <p:cNvSpPr>
                  <a:spLocks noChangeShapeType="1"/>
                </p:cNvSpPr>
                <p:nvPr/>
              </p:nvSpPr>
              <p:spPr bwMode="auto">
                <a:xfrm>
                  <a:off x="8250957" y="3751184"/>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4" name="Line 11">
                  <a:extLst>
                    <a:ext uri="{FF2B5EF4-FFF2-40B4-BE49-F238E27FC236}">
                      <a16:creationId xmlns:a16="http://schemas.microsoft.com/office/drawing/2014/main" id="{DEF1C2BA-CE66-FF4D-9460-A93DC4051AD1}"/>
                    </a:ext>
                  </a:extLst>
                </p:cNvPr>
                <p:cNvSpPr>
                  <a:spLocks noChangeShapeType="1"/>
                </p:cNvSpPr>
                <p:nvPr/>
              </p:nvSpPr>
              <p:spPr bwMode="auto">
                <a:xfrm>
                  <a:off x="8292232"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5" name="Line 12">
                  <a:extLst>
                    <a:ext uri="{FF2B5EF4-FFF2-40B4-BE49-F238E27FC236}">
                      <a16:creationId xmlns:a16="http://schemas.microsoft.com/office/drawing/2014/main" id="{D8887A1E-28D5-0A4F-92E6-4ECCFDBB64BD}"/>
                    </a:ext>
                  </a:extLst>
                </p:cNvPr>
                <p:cNvSpPr>
                  <a:spLocks noChangeShapeType="1"/>
                </p:cNvSpPr>
                <p:nvPr/>
              </p:nvSpPr>
              <p:spPr bwMode="auto">
                <a:xfrm>
                  <a:off x="8346207"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6" name="Line 13">
                  <a:extLst>
                    <a:ext uri="{FF2B5EF4-FFF2-40B4-BE49-F238E27FC236}">
                      <a16:creationId xmlns:a16="http://schemas.microsoft.com/office/drawing/2014/main" id="{95560225-2265-4D42-A60A-F3E5B304489D}"/>
                    </a:ext>
                  </a:extLst>
                </p:cNvPr>
                <p:cNvSpPr>
                  <a:spLocks noChangeShapeType="1"/>
                </p:cNvSpPr>
                <p:nvPr/>
              </p:nvSpPr>
              <p:spPr bwMode="auto">
                <a:xfrm>
                  <a:off x="8412882"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7" name="Line 14">
                  <a:extLst>
                    <a:ext uri="{FF2B5EF4-FFF2-40B4-BE49-F238E27FC236}">
                      <a16:creationId xmlns:a16="http://schemas.microsoft.com/office/drawing/2014/main" id="{B139DC60-F2B1-EB4B-9B25-F3D05712A88E}"/>
                    </a:ext>
                  </a:extLst>
                </p:cNvPr>
                <p:cNvSpPr>
                  <a:spLocks noChangeShapeType="1"/>
                </p:cNvSpPr>
                <p:nvPr/>
              </p:nvSpPr>
              <p:spPr bwMode="auto">
                <a:xfrm>
                  <a:off x="8724032" y="3759121"/>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8" name="Line 15">
                  <a:extLst>
                    <a:ext uri="{FF2B5EF4-FFF2-40B4-BE49-F238E27FC236}">
                      <a16:creationId xmlns:a16="http://schemas.microsoft.com/office/drawing/2014/main" id="{D3E0CBF2-6911-6140-9A17-888FFCCF0907}"/>
                    </a:ext>
                  </a:extLst>
                </p:cNvPr>
                <p:cNvSpPr>
                  <a:spLocks noChangeShapeType="1"/>
                </p:cNvSpPr>
                <p:nvPr/>
              </p:nvSpPr>
              <p:spPr bwMode="auto">
                <a:xfrm>
                  <a:off x="9098682" y="3759121"/>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398" name="Rectangle 5">
                <a:extLst>
                  <a:ext uri="{FF2B5EF4-FFF2-40B4-BE49-F238E27FC236}">
                    <a16:creationId xmlns:a16="http://schemas.microsoft.com/office/drawing/2014/main" id="{2B3FAF22-1D43-DB4D-8D8C-2A571BF20F1F}"/>
                  </a:ext>
                </a:extLst>
              </p:cNvPr>
              <p:cNvSpPr>
                <a:spLocks noChangeArrowheads="1"/>
              </p:cNvSpPr>
              <p:nvPr/>
            </p:nvSpPr>
            <p:spPr bwMode="auto">
              <a:xfrm>
                <a:off x="2901848" y="4384275"/>
                <a:ext cx="3244616" cy="285690"/>
              </a:xfrm>
              <a:prstGeom prst="rect">
                <a:avLst/>
              </a:prstGeom>
              <a:solidFill>
                <a:srgbClr val="66CCFF"/>
              </a:solidFill>
              <a:ln w="12700">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56" name="Text Box 64">
                <a:extLst>
                  <a:ext uri="{FF2B5EF4-FFF2-40B4-BE49-F238E27FC236}">
                    <a16:creationId xmlns:a16="http://schemas.microsoft.com/office/drawing/2014/main" id="{E06A4353-7E86-5847-8F31-E80191A371FB}"/>
                  </a:ext>
                </a:extLst>
              </p:cNvPr>
              <p:cNvSpPr txBox="1">
                <a:spLocks noChangeArrowheads="1"/>
              </p:cNvSpPr>
              <p:nvPr/>
            </p:nvSpPr>
            <p:spPr bwMode="auto">
              <a:xfrm>
                <a:off x="4133520" y="4301714"/>
                <a:ext cx="1746632" cy="48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IPv6 datagram</a:t>
                </a:r>
              </a:p>
            </p:txBody>
          </p:sp>
        </p:grpSp>
        <p:sp>
          <p:nvSpPr>
            <p:cNvPr id="10" name="Freeform 9">
              <a:extLst>
                <a:ext uri="{FF2B5EF4-FFF2-40B4-BE49-F238E27FC236}">
                  <a16:creationId xmlns:a16="http://schemas.microsoft.com/office/drawing/2014/main" id="{67D3DA8C-D325-4046-9687-29D212044012}"/>
                </a:ext>
              </a:extLst>
            </p:cNvPr>
            <p:cNvSpPr/>
            <p:nvPr/>
          </p:nvSpPr>
          <p:spPr>
            <a:xfrm>
              <a:off x="4672013" y="2614613"/>
              <a:ext cx="4886325" cy="685800"/>
            </a:xfrm>
            <a:custGeom>
              <a:avLst/>
              <a:gdLst>
                <a:gd name="connsiteX0" fmla="*/ 0 w 4886325"/>
                <a:gd name="connsiteY0" fmla="*/ 685800 h 685800"/>
                <a:gd name="connsiteX1" fmla="*/ 2171700 w 4886325"/>
                <a:gd name="connsiteY1" fmla="*/ 0 h 685800"/>
                <a:gd name="connsiteX2" fmla="*/ 2443162 w 4886325"/>
                <a:gd name="connsiteY2" fmla="*/ 157162 h 685800"/>
                <a:gd name="connsiteX3" fmla="*/ 2493168 w 4886325"/>
                <a:gd name="connsiteY3" fmla="*/ 150018 h 685800"/>
                <a:gd name="connsiteX4" fmla="*/ 4886325 w 4886325"/>
                <a:gd name="connsiteY4" fmla="*/ 685800 h 685800"/>
                <a:gd name="connsiteX5" fmla="*/ 0 w 4886325"/>
                <a:gd name="connsiteY5" fmla="*/ 685800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6325" h="685800">
                  <a:moveTo>
                    <a:pt x="0" y="685800"/>
                  </a:moveTo>
                  <a:lnTo>
                    <a:pt x="2171700" y="0"/>
                  </a:lnTo>
                  <a:lnTo>
                    <a:pt x="2443162" y="157162"/>
                  </a:lnTo>
                  <a:lnTo>
                    <a:pt x="2493168" y="150018"/>
                  </a:lnTo>
                  <a:lnTo>
                    <a:pt x="4886325" y="685800"/>
                  </a:lnTo>
                  <a:lnTo>
                    <a:pt x="0" y="685800"/>
                  </a:lnTo>
                  <a:close/>
                </a:path>
              </a:pathLst>
            </a:custGeom>
            <a:gradFill>
              <a:gsLst>
                <a:gs pos="0">
                  <a:schemeClr val="accent1">
                    <a:lumMod val="5000"/>
                    <a:lumOff val="95000"/>
                  </a:schemeClr>
                </a:gs>
                <a:gs pos="100000">
                  <a:schemeClr val="bg1">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14" name="Group 13">
            <a:extLst>
              <a:ext uri="{FF2B5EF4-FFF2-40B4-BE49-F238E27FC236}">
                <a16:creationId xmlns:a16="http://schemas.microsoft.com/office/drawing/2014/main" id="{03E5998F-A621-DC4D-AA10-4A3065CB51C8}"/>
              </a:ext>
            </a:extLst>
          </p:cNvPr>
          <p:cNvGrpSpPr/>
          <p:nvPr/>
        </p:nvGrpSpPr>
        <p:grpSpPr>
          <a:xfrm>
            <a:off x="5223510" y="2540833"/>
            <a:ext cx="628650" cy="282377"/>
            <a:chOff x="6827520" y="2412417"/>
            <a:chExt cx="838200" cy="376503"/>
          </a:xfrm>
        </p:grpSpPr>
        <p:sp>
          <p:nvSpPr>
            <p:cNvPr id="4" name="Right Arrow 3">
              <a:extLst>
                <a:ext uri="{FF2B5EF4-FFF2-40B4-BE49-F238E27FC236}">
                  <a16:creationId xmlns:a16="http://schemas.microsoft.com/office/drawing/2014/main" id="{F775AAA1-C68A-6E48-B93F-2EC82451679E}"/>
                </a:ext>
              </a:extLst>
            </p:cNvPr>
            <p:cNvSpPr/>
            <p:nvPr/>
          </p:nvSpPr>
          <p:spPr>
            <a:xfrm>
              <a:off x="7178040" y="2468880"/>
              <a:ext cx="487680" cy="304800"/>
            </a:xfrm>
            <a:prstGeom prst="rightArrow">
              <a:avLst/>
            </a:prstGeom>
            <a:gradFill>
              <a:gsLst>
                <a:gs pos="0">
                  <a:schemeClr val="accent1">
                    <a:lumMod val="5000"/>
                    <a:lumOff val="95000"/>
                  </a:schemeClr>
                </a:gs>
                <a:gs pos="100000">
                  <a:srgbClr val="CC000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413" name="Group 61">
              <a:extLst>
                <a:ext uri="{FF2B5EF4-FFF2-40B4-BE49-F238E27FC236}">
                  <a16:creationId xmlns:a16="http://schemas.microsoft.com/office/drawing/2014/main" id="{DA8A7729-4179-2747-BD0E-4CE16794F2C1}"/>
                </a:ext>
              </a:extLst>
            </p:cNvPr>
            <p:cNvGrpSpPr>
              <a:grpSpLocks/>
            </p:cNvGrpSpPr>
            <p:nvPr/>
          </p:nvGrpSpPr>
          <p:grpSpPr bwMode="auto">
            <a:xfrm>
              <a:off x="6827520" y="2412417"/>
              <a:ext cx="335280" cy="376503"/>
              <a:chOff x="335231" y="4405745"/>
              <a:chExt cx="1252537" cy="2138362"/>
            </a:xfrm>
          </p:grpSpPr>
          <p:sp>
            <p:nvSpPr>
              <p:cNvPr id="415" name="Freeform 414">
                <a:extLst>
                  <a:ext uri="{FF2B5EF4-FFF2-40B4-BE49-F238E27FC236}">
                    <a16:creationId xmlns:a16="http://schemas.microsoft.com/office/drawing/2014/main" id="{00613895-5F49-B341-AE32-45F01EC3F402}"/>
                  </a:ext>
                </a:extLst>
              </p:cNvPr>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C0001"/>
              </a:solidFill>
              <a:ln w="25400" cap="flat" cmpd="sng" algn="ctr">
                <a:noFill/>
                <a:prstDash val="solid"/>
              </a:ln>
              <a:effectLst/>
            </p:spPr>
            <p:txBody>
              <a:bodyPr anchor="ctr"/>
              <a:lstStyle/>
              <a:p>
                <a:pPr algn="ctr" defTabSz="685800" eaLnBrk="1" fontAlgn="auto" hangingPunct="1">
                  <a:spcBef>
                    <a:spcPts val="0"/>
                  </a:spcBef>
                  <a:spcAft>
                    <a:spcPts val="0"/>
                  </a:spcAft>
                  <a:defRPr/>
                </a:pPr>
                <a:endParaRPr lang="en-US" sz="1350" kern="0" dirty="0">
                  <a:solidFill>
                    <a:sysClr val="window" lastClr="FFFFFF"/>
                  </a:solidFill>
                  <a:latin typeface="Calibri"/>
                  <a:ea typeface="+mn-ea"/>
                </a:endParaRPr>
              </a:p>
            </p:txBody>
          </p:sp>
          <p:sp>
            <p:nvSpPr>
              <p:cNvPr id="416" name="Freeform 415">
                <a:extLst>
                  <a:ext uri="{FF2B5EF4-FFF2-40B4-BE49-F238E27FC236}">
                    <a16:creationId xmlns:a16="http://schemas.microsoft.com/office/drawing/2014/main" id="{43B7ABE8-5D31-7143-AA6A-3AB733CE2DC6}"/>
                  </a:ext>
                </a:extLst>
              </p:cNvPr>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w="25400" cap="flat" cmpd="sng" algn="ctr">
                <a:noFill/>
                <a:prstDash val="solid"/>
              </a:ln>
              <a:effectLst/>
            </p:spPr>
            <p:txBody>
              <a:bodyPr anchor="ctr"/>
              <a:lstStyle/>
              <a:p>
                <a:pPr algn="ctr" defTabSz="685800" eaLnBrk="1" fontAlgn="auto" hangingPunct="1">
                  <a:spcBef>
                    <a:spcPts val="0"/>
                  </a:spcBef>
                  <a:spcAft>
                    <a:spcPts val="0"/>
                  </a:spcAft>
                  <a:defRPr/>
                </a:pPr>
                <a:endParaRPr lang="en-US" sz="1350" kern="0" dirty="0">
                  <a:solidFill>
                    <a:sysClr val="window" lastClr="FFFFFF"/>
                  </a:solidFill>
                  <a:latin typeface="Calibri"/>
                  <a:ea typeface="+mn-ea"/>
                </a:endParaRPr>
              </a:p>
            </p:txBody>
          </p:sp>
          <p:sp>
            <p:nvSpPr>
              <p:cNvPr id="417" name="Rectangle 65">
                <a:extLst>
                  <a:ext uri="{FF2B5EF4-FFF2-40B4-BE49-F238E27FC236}">
                    <a16:creationId xmlns:a16="http://schemas.microsoft.com/office/drawing/2014/main" id="{68F192F6-ED5A-CE43-91EA-B245844A9187}"/>
                  </a:ext>
                </a:extLst>
              </p:cNvPr>
              <p:cNvSpPr>
                <a:spLocks noChangeArrowheads="1"/>
              </p:cNvSpPr>
              <p:nvPr/>
            </p:nvSpPr>
            <p:spPr bwMode="auto">
              <a:xfrm>
                <a:off x="1296825" y="5178575"/>
                <a:ext cx="289686" cy="1351389"/>
              </a:xfrm>
              <a:prstGeom prst="rect">
                <a:avLst/>
              </a:prstGeom>
              <a:solidFill>
                <a:srgbClr val="EBADAA"/>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endParaRPr lang="en-US" altLang="en-US" sz="1350" dirty="0">
                  <a:solidFill>
                    <a:srgbClr val="FFFFFF"/>
                  </a:solidFill>
                  <a:latin typeface="Calibri" panose="020F0502020204030204" pitchFamily="34" charset="0"/>
                </a:endParaRPr>
              </a:p>
            </p:txBody>
          </p:sp>
        </p:grpSp>
      </p:grpSp>
      <p:sp>
        <p:nvSpPr>
          <p:cNvPr id="15" name="TextBox 14">
            <a:extLst>
              <a:ext uri="{FF2B5EF4-FFF2-40B4-BE49-F238E27FC236}">
                <a16:creationId xmlns:a16="http://schemas.microsoft.com/office/drawing/2014/main" id="{B24DFD8D-7E45-C14A-98B8-9FDCF13CB43E}"/>
              </a:ext>
            </a:extLst>
          </p:cNvPr>
          <p:cNvSpPr txBox="1"/>
          <p:nvPr/>
        </p:nvSpPr>
        <p:spPr>
          <a:xfrm>
            <a:off x="3623311" y="3394710"/>
            <a:ext cx="3712811" cy="300082"/>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The usual: datagram as payload in link-layer frame</a:t>
            </a:r>
          </a:p>
        </p:txBody>
      </p:sp>
      <p:grpSp>
        <p:nvGrpSpPr>
          <p:cNvPr id="22" name="Group 21">
            <a:extLst>
              <a:ext uri="{FF2B5EF4-FFF2-40B4-BE49-F238E27FC236}">
                <a16:creationId xmlns:a16="http://schemas.microsoft.com/office/drawing/2014/main" id="{6955EFF3-F060-3445-9081-547BFBAF19BD}"/>
              </a:ext>
            </a:extLst>
          </p:cNvPr>
          <p:cNvGrpSpPr/>
          <p:nvPr/>
        </p:nvGrpSpPr>
        <p:grpSpPr>
          <a:xfrm>
            <a:off x="3211655" y="4060477"/>
            <a:ext cx="4380579" cy="1250080"/>
            <a:chOff x="4282206" y="4270968"/>
            <a:chExt cx="5840773" cy="1666773"/>
          </a:xfrm>
        </p:grpSpPr>
        <p:grpSp>
          <p:nvGrpSpPr>
            <p:cNvPr id="496" name="Group 495">
              <a:extLst>
                <a:ext uri="{FF2B5EF4-FFF2-40B4-BE49-F238E27FC236}">
                  <a16:creationId xmlns:a16="http://schemas.microsoft.com/office/drawing/2014/main" id="{84987C4E-F0D3-1E4E-9333-AA4663F4A8D6}"/>
                </a:ext>
              </a:extLst>
            </p:cNvPr>
            <p:cNvGrpSpPr/>
            <p:nvPr/>
          </p:nvGrpSpPr>
          <p:grpSpPr>
            <a:xfrm>
              <a:off x="5980176" y="4270968"/>
              <a:ext cx="2432304" cy="1345360"/>
              <a:chOff x="5705856" y="2228808"/>
              <a:chExt cx="2432304" cy="1345360"/>
            </a:xfrm>
          </p:grpSpPr>
          <p:sp>
            <p:nvSpPr>
              <p:cNvPr id="497" name="Freeform 417">
                <a:extLst>
                  <a:ext uri="{FF2B5EF4-FFF2-40B4-BE49-F238E27FC236}">
                    <a16:creationId xmlns:a16="http://schemas.microsoft.com/office/drawing/2014/main" id="{87F82499-92C4-7044-81C6-8C0BE2857D86}"/>
                  </a:ext>
                </a:extLst>
              </p:cNvPr>
              <p:cNvSpPr>
                <a:spLocks/>
              </p:cNvSpPr>
              <p:nvPr/>
            </p:nvSpPr>
            <p:spPr bwMode="auto">
              <a:xfrm rot="659626">
                <a:off x="5879224" y="2228808"/>
                <a:ext cx="2125934" cy="1345360"/>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 name="connsiteX0" fmla="*/ 6208 w 10764"/>
                  <a:gd name="connsiteY0" fmla="*/ 124 h 9874"/>
                  <a:gd name="connsiteX1" fmla="*/ 3717 w 10764"/>
                  <a:gd name="connsiteY1" fmla="*/ 746 h 9874"/>
                  <a:gd name="connsiteX2" fmla="*/ 1941 w 10764"/>
                  <a:gd name="connsiteY2" fmla="*/ 1872 h 9874"/>
                  <a:gd name="connsiteX3" fmla="*/ 1420 w 10764"/>
                  <a:gd name="connsiteY3" fmla="*/ 3354 h 9874"/>
                  <a:gd name="connsiteX4" fmla="*/ 165 w 10764"/>
                  <a:gd name="connsiteY4" fmla="*/ 4361 h 9874"/>
                  <a:gd name="connsiteX5" fmla="*/ 127 w 10764"/>
                  <a:gd name="connsiteY5" fmla="*/ 6761 h 9874"/>
                  <a:gd name="connsiteX6" fmla="*/ 1227 w 10764"/>
                  <a:gd name="connsiteY6" fmla="*/ 7205 h 9874"/>
                  <a:gd name="connsiteX7" fmla="*/ 4374 w 10764"/>
                  <a:gd name="connsiteY7" fmla="*/ 7205 h 9874"/>
                  <a:gd name="connsiteX8" fmla="*/ 5725 w 10764"/>
                  <a:gd name="connsiteY8" fmla="*/ 8183 h 9874"/>
                  <a:gd name="connsiteX9" fmla="*/ 7212 w 10764"/>
                  <a:gd name="connsiteY9" fmla="*/ 9694 h 9874"/>
                  <a:gd name="connsiteX10" fmla="*/ 8351 w 10764"/>
                  <a:gd name="connsiteY10" fmla="*/ 9754 h 9874"/>
                  <a:gd name="connsiteX11" fmla="*/ 9142 w 10764"/>
                  <a:gd name="connsiteY11" fmla="*/ 8894 h 9874"/>
                  <a:gd name="connsiteX12" fmla="*/ 9528 w 10764"/>
                  <a:gd name="connsiteY12" fmla="*/ 6554 h 9874"/>
                  <a:gd name="connsiteX13" fmla="*/ 10762 w 10764"/>
                  <a:gd name="connsiteY13" fmla="*/ 4612 h 9874"/>
                  <a:gd name="connsiteX14" fmla="*/ 9818 w 10764"/>
                  <a:gd name="connsiteY14" fmla="*/ 1546 h 9874"/>
                  <a:gd name="connsiteX15" fmla="*/ 8968 w 10764"/>
                  <a:gd name="connsiteY15" fmla="*/ 213 h 9874"/>
                  <a:gd name="connsiteX16" fmla="*/ 7443 w 10764"/>
                  <a:gd name="connsiteY16" fmla="*/ 5 h 9874"/>
                  <a:gd name="connsiteX17" fmla="*/ 6208 w 10764"/>
                  <a:gd name="connsiteY17" fmla="*/ 124 h 9874"/>
                  <a:gd name="connsiteX0" fmla="*/ 5767 w 10000"/>
                  <a:gd name="connsiteY0" fmla="*/ 126 h 12428"/>
                  <a:gd name="connsiteX1" fmla="*/ 3453 w 10000"/>
                  <a:gd name="connsiteY1" fmla="*/ 756 h 12428"/>
                  <a:gd name="connsiteX2" fmla="*/ 1803 w 10000"/>
                  <a:gd name="connsiteY2" fmla="*/ 1896 h 12428"/>
                  <a:gd name="connsiteX3" fmla="*/ 1319 w 10000"/>
                  <a:gd name="connsiteY3" fmla="*/ 3397 h 12428"/>
                  <a:gd name="connsiteX4" fmla="*/ 153 w 10000"/>
                  <a:gd name="connsiteY4" fmla="*/ 4417 h 12428"/>
                  <a:gd name="connsiteX5" fmla="*/ 118 w 10000"/>
                  <a:gd name="connsiteY5" fmla="*/ 6847 h 12428"/>
                  <a:gd name="connsiteX6" fmla="*/ 1140 w 10000"/>
                  <a:gd name="connsiteY6" fmla="*/ 7297 h 12428"/>
                  <a:gd name="connsiteX7" fmla="*/ 4064 w 10000"/>
                  <a:gd name="connsiteY7" fmla="*/ 7297 h 12428"/>
                  <a:gd name="connsiteX8" fmla="*/ 4730 w 10000"/>
                  <a:gd name="connsiteY8" fmla="*/ 12382 h 12428"/>
                  <a:gd name="connsiteX9" fmla="*/ 6700 w 10000"/>
                  <a:gd name="connsiteY9" fmla="*/ 9818 h 12428"/>
                  <a:gd name="connsiteX10" fmla="*/ 7758 w 10000"/>
                  <a:gd name="connsiteY10" fmla="*/ 9878 h 12428"/>
                  <a:gd name="connsiteX11" fmla="*/ 8493 w 10000"/>
                  <a:gd name="connsiteY11" fmla="*/ 9007 h 12428"/>
                  <a:gd name="connsiteX12" fmla="*/ 8852 w 10000"/>
                  <a:gd name="connsiteY12" fmla="*/ 6638 h 12428"/>
                  <a:gd name="connsiteX13" fmla="*/ 9998 w 10000"/>
                  <a:gd name="connsiteY13" fmla="*/ 4671 h 12428"/>
                  <a:gd name="connsiteX14" fmla="*/ 9121 w 10000"/>
                  <a:gd name="connsiteY14" fmla="*/ 1566 h 12428"/>
                  <a:gd name="connsiteX15" fmla="*/ 8331 w 10000"/>
                  <a:gd name="connsiteY15" fmla="*/ 216 h 12428"/>
                  <a:gd name="connsiteX16" fmla="*/ 6915 w 10000"/>
                  <a:gd name="connsiteY16" fmla="*/ 5 h 12428"/>
                  <a:gd name="connsiteX17" fmla="*/ 5767 w 10000"/>
                  <a:gd name="connsiteY17" fmla="*/ 126 h 12428"/>
                  <a:gd name="connsiteX0" fmla="*/ 5767 w 10000"/>
                  <a:gd name="connsiteY0" fmla="*/ 126 h 12382"/>
                  <a:gd name="connsiteX1" fmla="*/ 3453 w 10000"/>
                  <a:gd name="connsiteY1" fmla="*/ 756 h 12382"/>
                  <a:gd name="connsiteX2" fmla="*/ 1803 w 10000"/>
                  <a:gd name="connsiteY2" fmla="*/ 1896 h 12382"/>
                  <a:gd name="connsiteX3" fmla="*/ 1319 w 10000"/>
                  <a:gd name="connsiteY3" fmla="*/ 3397 h 12382"/>
                  <a:gd name="connsiteX4" fmla="*/ 153 w 10000"/>
                  <a:gd name="connsiteY4" fmla="*/ 4417 h 12382"/>
                  <a:gd name="connsiteX5" fmla="*/ 118 w 10000"/>
                  <a:gd name="connsiteY5" fmla="*/ 6847 h 12382"/>
                  <a:gd name="connsiteX6" fmla="*/ 1140 w 10000"/>
                  <a:gd name="connsiteY6" fmla="*/ 7297 h 12382"/>
                  <a:gd name="connsiteX7" fmla="*/ 3325 w 10000"/>
                  <a:gd name="connsiteY7" fmla="*/ 9972 h 12382"/>
                  <a:gd name="connsiteX8" fmla="*/ 4730 w 10000"/>
                  <a:gd name="connsiteY8" fmla="*/ 12382 h 12382"/>
                  <a:gd name="connsiteX9" fmla="*/ 6700 w 10000"/>
                  <a:gd name="connsiteY9" fmla="*/ 9818 h 12382"/>
                  <a:gd name="connsiteX10" fmla="*/ 7758 w 10000"/>
                  <a:gd name="connsiteY10" fmla="*/ 9878 h 12382"/>
                  <a:gd name="connsiteX11" fmla="*/ 8493 w 10000"/>
                  <a:gd name="connsiteY11" fmla="*/ 9007 h 12382"/>
                  <a:gd name="connsiteX12" fmla="*/ 8852 w 10000"/>
                  <a:gd name="connsiteY12" fmla="*/ 6638 h 12382"/>
                  <a:gd name="connsiteX13" fmla="*/ 9998 w 10000"/>
                  <a:gd name="connsiteY13" fmla="*/ 4671 h 12382"/>
                  <a:gd name="connsiteX14" fmla="*/ 9121 w 10000"/>
                  <a:gd name="connsiteY14" fmla="*/ 1566 h 12382"/>
                  <a:gd name="connsiteX15" fmla="*/ 8331 w 10000"/>
                  <a:gd name="connsiteY15" fmla="*/ 216 h 12382"/>
                  <a:gd name="connsiteX16" fmla="*/ 6915 w 10000"/>
                  <a:gd name="connsiteY16" fmla="*/ 5 h 12382"/>
                  <a:gd name="connsiteX17" fmla="*/ 5767 w 10000"/>
                  <a:gd name="connsiteY17" fmla="*/ 126 h 12382"/>
                  <a:gd name="connsiteX0" fmla="*/ 5770 w 10003"/>
                  <a:gd name="connsiteY0" fmla="*/ 126 h 12382"/>
                  <a:gd name="connsiteX1" fmla="*/ 3456 w 10003"/>
                  <a:gd name="connsiteY1" fmla="*/ 756 h 12382"/>
                  <a:gd name="connsiteX2" fmla="*/ 1806 w 10003"/>
                  <a:gd name="connsiteY2" fmla="*/ 1896 h 12382"/>
                  <a:gd name="connsiteX3" fmla="*/ 1322 w 10003"/>
                  <a:gd name="connsiteY3" fmla="*/ 3397 h 12382"/>
                  <a:gd name="connsiteX4" fmla="*/ 156 w 10003"/>
                  <a:gd name="connsiteY4" fmla="*/ 4417 h 12382"/>
                  <a:gd name="connsiteX5" fmla="*/ 121 w 10003"/>
                  <a:gd name="connsiteY5" fmla="*/ 6847 h 12382"/>
                  <a:gd name="connsiteX6" fmla="*/ 1194 w 10003"/>
                  <a:gd name="connsiteY6" fmla="*/ 9155 h 12382"/>
                  <a:gd name="connsiteX7" fmla="*/ 3328 w 10003"/>
                  <a:gd name="connsiteY7" fmla="*/ 9972 h 12382"/>
                  <a:gd name="connsiteX8" fmla="*/ 4733 w 10003"/>
                  <a:gd name="connsiteY8" fmla="*/ 12382 h 12382"/>
                  <a:gd name="connsiteX9" fmla="*/ 6703 w 10003"/>
                  <a:gd name="connsiteY9" fmla="*/ 9818 h 12382"/>
                  <a:gd name="connsiteX10" fmla="*/ 7761 w 10003"/>
                  <a:gd name="connsiteY10" fmla="*/ 9878 h 12382"/>
                  <a:gd name="connsiteX11" fmla="*/ 8496 w 10003"/>
                  <a:gd name="connsiteY11" fmla="*/ 9007 h 12382"/>
                  <a:gd name="connsiteX12" fmla="*/ 8855 w 10003"/>
                  <a:gd name="connsiteY12" fmla="*/ 6638 h 12382"/>
                  <a:gd name="connsiteX13" fmla="*/ 10001 w 10003"/>
                  <a:gd name="connsiteY13" fmla="*/ 4671 h 12382"/>
                  <a:gd name="connsiteX14" fmla="*/ 9124 w 10003"/>
                  <a:gd name="connsiteY14" fmla="*/ 1566 h 12382"/>
                  <a:gd name="connsiteX15" fmla="*/ 8334 w 10003"/>
                  <a:gd name="connsiteY15" fmla="*/ 216 h 12382"/>
                  <a:gd name="connsiteX16" fmla="*/ 6918 w 10003"/>
                  <a:gd name="connsiteY16" fmla="*/ 5 h 12382"/>
                  <a:gd name="connsiteX17" fmla="*/ 5770 w 10003"/>
                  <a:gd name="connsiteY17" fmla="*/ 126 h 12382"/>
                  <a:gd name="connsiteX0" fmla="*/ 5770 w 10003"/>
                  <a:gd name="connsiteY0" fmla="*/ 126 h 11611"/>
                  <a:gd name="connsiteX1" fmla="*/ 3456 w 10003"/>
                  <a:gd name="connsiteY1" fmla="*/ 756 h 11611"/>
                  <a:gd name="connsiteX2" fmla="*/ 1806 w 10003"/>
                  <a:gd name="connsiteY2" fmla="*/ 1896 h 11611"/>
                  <a:gd name="connsiteX3" fmla="*/ 1322 w 10003"/>
                  <a:gd name="connsiteY3" fmla="*/ 3397 h 11611"/>
                  <a:gd name="connsiteX4" fmla="*/ 156 w 10003"/>
                  <a:gd name="connsiteY4" fmla="*/ 4417 h 11611"/>
                  <a:gd name="connsiteX5" fmla="*/ 121 w 10003"/>
                  <a:gd name="connsiteY5" fmla="*/ 6847 h 11611"/>
                  <a:gd name="connsiteX6" fmla="*/ 1194 w 10003"/>
                  <a:gd name="connsiteY6" fmla="*/ 9155 h 11611"/>
                  <a:gd name="connsiteX7" fmla="*/ 3328 w 10003"/>
                  <a:gd name="connsiteY7" fmla="*/ 9972 h 11611"/>
                  <a:gd name="connsiteX8" fmla="*/ 5017 w 10003"/>
                  <a:gd name="connsiteY8" fmla="*/ 11611 h 11611"/>
                  <a:gd name="connsiteX9" fmla="*/ 6703 w 10003"/>
                  <a:gd name="connsiteY9" fmla="*/ 9818 h 11611"/>
                  <a:gd name="connsiteX10" fmla="*/ 7761 w 10003"/>
                  <a:gd name="connsiteY10" fmla="*/ 9878 h 11611"/>
                  <a:gd name="connsiteX11" fmla="*/ 8496 w 10003"/>
                  <a:gd name="connsiteY11" fmla="*/ 9007 h 11611"/>
                  <a:gd name="connsiteX12" fmla="*/ 8855 w 10003"/>
                  <a:gd name="connsiteY12" fmla="*/ 6638 h 11611"/>
                  <a:gd name="connsiteX13" fmla="*/ 10001 w 10003"/>
                  <a:gd name="connsiteY13" fmla="*/ 4671 h 11611"/>
                  <a:gd name="connsiteX14" fmla="*/ 9124 w 10003"/>
                  <a:gd name="connsiteY14" fmla="*/ 1566 h 11611"/>
                  <a:gd name="connsiteX15" fmla="*/ 8334 w 10003"/>
                  <a:gd name="connsiteY15" fmla="*/ 216 h 11611"/>
                  <a:gd name="connsiteX16" fmla="*/ 6918 w 10003"/>
                  <a:gd name="connsiteY16" fmla="*/ 5 h 11611"/>
                  <a:gd name="connsiteX17" fmla="*/ 5770 w 10003"/>
                  <a:gd name="connsiteY17" fmla="*/ 126 h 1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03" h="11611">
                    <a:moveTo>
                      <a:pt x="5770" y="126"/>
                    </a:moveTo>
                    <a:cubicBezTo>
                      <a:pt x="5196" y="245"/>
                      <a:pt x="4120" y="456"/>
                      <a:pt x="3456" y="756"/>
                    </a:cubicBezTo>
                    <a:cubicBezTo>
                      <a:pt x="2793" y="1055"/>
                      <a:pt x="2166" y="1460"/>
                      <a:pt x="1806" y="1896"/>
                    </a:cubicBezTo>
                    <a:cubicBezTo>
                      <a:pt x="1448" y="2331"/>
                      <a:pt x="1600" y="2977"/>
                      <a:pt x="1322" y="3397"/>
                    </a:cubicBezTo>
                    <a:cubicBezTo>
                      <a:pt x="1044" y="3816"/>
                      <a:pt x="354" y="3846"/>
                      <a:pt x="156" y="4417"/>
                    </a:cubicBezTo>
                    <a:cubicBezTo>
                      <a:pt x="-41" y="4987"/>
                      <a:pt x="-52" y="6057"/>
                      <a:pt x="121" y="6847"/>
                    </a:cubicBezTo>
                    <a:cubicBezTo>
                      <a:pt x="294" y="7637"/>
                      <a:pt x="660" y="8634"/>
                      <a:pt x="1194" y="9155"/>
                    </a:cubicBezTo>
                    <a:cubicBezTo>
                      <a:pt x="1728" y="9676"/>
                      <a:pt x="2691" y="9563"/>
                      <a:pt x="3328" y="9972"/>
                    </a:cubicBezTo>
                    <a:cubicBezTo>
                      <a:pt x="3965" y="10381"/>
                      <a:pt x="4455" y="11637"/>
                      <a:pt x="5017" y="11611"/>
                    </a:cubicBezTo>
                    <a:cubicBezTo>
                      <a:pt x="5579" y="11585"/>
                      <a:pt x="6246" y="10107"/>
                      <a:pt x="6703" y="9818"/>
                    </a:cubicBezTo>
                    <a:cubicBezTo>
                      <a:pt x="7160" y="9529"/>
                      <a:pt x="7465" y="10013"/>
                      <a:pt x="7761" y="9878"/>
                    </a:cubicBezTo>
                    <a:cubicBezTo>
                      <a:pt x="8057" y="9743"/>
                      <a:pt x="8317" y="9548"/>
                      <a:pt x="8496" y="9007"/>
                    </a:cubicBezTo>
                    <a:cubicBezTo>
                      <a:pt x="8675" y="8468"/>
                      <a:pt x="8604" y="7361"/>
                      <a:pt x="8855" y="6638"/>
                    </a:cubicBezTo>
                    <a:cubicBezTo>
                      <a:pt x="9106" y="5915"/>
                      <a:pt x="9957" y="5511"/>
                      <a:pt x="10001" y="4671"/>
                    </a:cubicBezTo>
                    <a:cubicBezTo>
                      <a:pt x="10047" y="3830"/>
                      <a:pt x="9402" y="2308"/>
                      <a:pt x="9124" y="1566"/>
                    </a:cubicBezTo>
                    <a:cubicBezTo>
                      <a:pt x="8846" y="823"/>
                      <a:pt x="8702" y="471"/>
                      <a:pt x="8334" y="216"/>
                    </a:cubicBezTo>
                    <a:cubicBezTo>
                      <a:pt x="7968" y="-39"/>
                      <a:pt x="7349" y="20"/>
                      <a:pt x="6918" y="5"/>
                    </a:cubicBezTo>
                    <a:cubicBezTo>
                      <a:pt x="6488" y="-9"/>
                      <a:pt x="6345" y="5"/>
                      <a:pt x="5770" y="126"/>
                    </a:cubicBezTo>
                    <a:close/>
                  </a:path>
                </a:pathLst>
              </a:custGeom>
              <a:solidFill>
                <a:srgbClr val="9CDFF9"/>
              </a:soli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498" name="Group 497">
                <a:extLst>
                  <a:ext uri="{FF2B5EF4-FFF2-40B4-BE49-F238E27FC236}">
                    <a16:creationId xmlns:a16="http://schemas.microsoft.com/office/drawing/2014/main" id="{6B8DEDCB-9DCF-6E46-9C42-540C19255E9B}"/>
                  </a:ext>
                </a:extLst>
              </p:cNvPr>
              <p:cNvGrpSpPr/>
              <p:nvPr/>
            </p:nvGrpSpPr>
            <p:grpSpPr>
              <a:xfrm>
                <a:off x="5705856" y="2321052"/>
                <a:ext cx="2432304" cy="1054608"/>
                <a:chOff x="5705856" y="2321052"/>
                <a:chExt cx="2432304" cy="1054608"/>
              </a:xfrm>
            </p:grpSpPr>
            <p:cxnSp>
              <p:nvCxnSpPr>
                <p:cNvPr id="499" name="Straight Connector 498">
                  <a:extLst>
                    <a:ext uri="{FF2B5EF4-FFF2-40B4-BE49-F238E27FC236}">
                      <a16:creationId xmlns:a16="http://schemas.microsoft.com/office/drawing/2014/main" id="{2E80BCA9-6A41-0A47-A48F-1F0931A1CB93}"/>
                    </a:ext>
                  </a:extLst>
                </p:cNvPr>
                <p:cNvCxnSpPr/>
                <p:nvPr/>
              </p:nvCxnSpPr>
              <p:spPr>
                <a:xfrm>
                  <a:off x="5705856" y="2811780"/>
                  <a:ext cx="2432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0" name="Straight Connector 499">
                  <a:extLst>
                    <a:ext uri="{FF2B5EF4-FFF2-40B4-BE49-F238E27FC236}">
                      <a16:creationId xmlns:a16="http://schemas.microsoft.com/office/drawing/2014/main" id="{0A17012B-B85C-C64A-A03B-D6E609A17059}"/>
                    </a:ext>
                  </a:extLst>
                </p:cNvPr>
                <p:cNvCxnSpPr>
                  <a:cxnSpLocks/>
                  <a:stCxn id="517" idx="5"/>
                </p:cNvCxnSpPr>
                <p:nvPr/>
              </p:nvCxnSpPr>
              <p:spPr>
                <a:xfrm flipV="1">
                  <a:off x="6858545" y="2397253"/>
                  <a:ext cx="83275" cy="8849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1" name="Straight Connector 500">
                  <a:extLst>
                    <a:ext uri="{FF2B5EF4-FFF2-40B4-BE49-F238E27FC236}">
                      <a16:creationId xmlns:a16="http://schemas.microsoft.com/office/drawing/2014/main" id="{A7E5F492-5D82-9742-BEC7-2ABD50579949}"/>
                    </a:ext>
                  </a:extLst>
                </p:cNvPr>
                <p:cNvCxnSpPr>
                  <a:cxnSpLocks/>
                  <a:stCxn id="523" idx="2"/>
                </p:cNvCxnSpPr>
                <p:nvPr/>
              </p:nvCxnSpPr>
              <p:spPr>
                <a:xfrm flipV="1">
                  <a:off x="6858272" y="2805686"/>
                  <a:ext cx="734296" cy="3961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45559EFA-A03E-B24F-A350-22BF777FDDEC}"/>
                    </a:ext>
                  </a:extLst>
                </p:cNvPr>
                <p:cNvCxnSpPr>
                  <a:cxnSpLocks/>
                  <a:stCxn id="537" idx="2"/>
                  <a:endCxn id="516" idx="2"/>
                </p:cNvCxnSpPr>
                <p:nvPr/>
              </p:nvCxnSpPr>
              <p:spPr>
                <a:xfrm flipV="1">
                  <a:off x="6218192" y="2413902"/>
                  <a:ext cx="714756" cy="3870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ED15AEF3-2CE4-9346-A5A8-6831B41099CE}"/>
                    </a:ext>
                  </a:extLst>
                </p:cNvPr>
                <p:cNvCxnSpPr>
                  <a:cxnSpLocks/>
                  <a:stCxn id="532" idx="4"/>
                </p:cNvCxnSpPr>
                <p:nvPr/>
              </p:nvCxnSpPr>
              <p:spPr>
                <a:xfrm>
                  <a:off x="6219785" y="2880798"/>
                  <a:ext cx="646107" cy="3210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A0769067-25CC-F042-AEE7-FBE84938EAA9}"/>
                    </a:ext>
                  </a:extLst>
                </p:cNvPr>
                <p:cNvCxnSpPr>
                  <a:cxnSpLocks/>
                  <a:endCxn id="530" idx="2"/>
                </p:cNvCxnSpPr>
                <p:nvPr/>
              </p:nvCxnSpPr>
              <p:spPr>
                <a:xfrm>
                  <a:off x="6943685" y="2415978"/>
                  <a:ext cx="661347" cy="3743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5" name="Group 504">
                  <a:extLst>
                    <a:ext uri="{FF2B5EF4-FFF2-40B4-BE49-F238E27FC236}">
                      <a16:creationId xmlns:a16="http://schemas.microsoft.com/office/drawing/2014/main" id="{F85DBEA2-40AF-154A-A705-F1846F58C802}"/>
                    </a:ext>
                  </a:extLst>
                </p:cNvPr>
                <p:cNvGrpSpPr/>
                <p:nvPr/>
              </p:nvGrpSpPr>
              <p:grpSpPr>
                <a:xfrm>
                  <a:off x="5974080" y="2321052"/>
                  <a:ext cx="1878278" cy="1054608"/>
                  <a:chOff x="5974080" y="2321052"/>
                  <a:chExt cx="1878278" cy="1054608"/>
                </a:xfrm>
              </p:grpSpPr>
              <p:grpSp>
                <p:nvGrpSpPr>
                  <p:cNvPr id="506" name="Group 505">
                    <a:extLst>
                      <a:ext uri="{FF2B5EF4-FFF2-40B4-BE49-F238E27FC236}">
                        <a16:creationId xmlns:a16="http://schemas.microsoft.com/office/drawing/2014/main" id="{52F94E6D-D2C5-ED4B-A854-9A2DE1647424}"/>
                      </a:ext>
                    </a:extLst>
                  </p:cNvPr>
                  <p:cNvGrpSpPr/>
                  <p:nvPr/>
                </p:nvGrpSpPr>
                <p:grpSpPr>
                  <a:xfrm>
                    <a:off x="5974080" y="2708148"/>
                    <a:ext cx="491438" cy="266700"/>
                    <a:chOff x="7493876" y="2774731"/>
                    <a:chExt cx="1481958" cy="894622"/>
                  </a:xfrm>
                </p:grpSpPr>
                <p:sp>
                  <p:nvSpPr>
                    <p:cNvPr id="531" name="Freeform 530">
                      <a:extLst>
                        <a:ext uri="{FF2B5EF4-FFF2-40B4-BE49-F238E27FC236}">
                          <a16:creationId xmlns:a16="http://schemas.microsoft.com/office/drawing/2014/main" id="{DC0FF471-B053-A94E-9EE3-2C2616F53DE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532" name="Oval 531">
                      <a:extLst>
                        <a:ext uri="{FF2B5EF4-FFF2-40B4-BE49-F238E27FC236}">
                          <a16:creationId xmlns:a16="http://schemas.microsoft.com/office/drawing/2014/main" id="{194BB483-D6CC-FE4E-8BDB-65B60648A2A5}"/>
                        </a:ext>
                      </a:extLst>
                    </p:cNvPr>
                    <p:cNvSpPr/>
                    <p:nvPr/>
                  </p:nvSpPr>
                  <p:spPr>
                    <a:xfrm>
                      <a:off x="7494729" y="2774731"/>
                      <a:ext cx="1480163" cy="579140"/>
                    </a:xfrm>
                    <a:prstGeom prst="ellipse">
                      <a:avLst/>
                    </a:prstGeom>
                    <a:solidFill>
                      <a:srgbClr val="B8C2C9"/>
                    </a:soli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533" name="Group 532">
                      <a:extLst>
                        <a:ext uri="{FF2B5EF4-FFF2-40B4-BE49-F238E27FC236}">
                          <a16:creationId xmlns:a16="http://schemas.microsoft.com/office/drawing/2014/main" id="{4E7CE696-6385-564E-B8DA-2AEAD245D327}"/>
                        </a:ext>
                      </a:extLst>
                    </p:cNvPr>
                    <p:cNvGrpSpPr/>
                    <p:nvPr/>
                  </p:nvGrpSpPr>
                  <p:grpSpPr>
                    <a:xfrm>
                      <a:off x="7713663" y="2848339"/>
                      <a:ext cx="1042107" cy="425543"/>
                      <a:chOff x="7786941" y="2884917"/>
                      <a:chExt cx="897649" cy="353919"/>
                    </a:xfrm>
                  </p:grpSpPr>
                  <p:sp>
                    <p:nvSpPr>
                      <p:cNvPr id="534" name="Freeform 533">
                        <a:extLst>
                          <a:ext uri="{FF2B5EF4-FFF2-40B4-BE49-F238E27FC236}">
                            <a16:creationId xmlns:a16="http://schemas.microsoft.com/office/drawing/2014/main" id="{B1AA8AD5-7F1B-2949-B1DF-4A17AE5FE55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35" name="Freeform 534">
                        <a:extLst>
                          <a:ext uri="{FF2B5EF4-FFF2-40B4-BE49-F238E27FC236}">
                            <a16:creationId xmlns:a16="http://schemas.microsoft.com/office/drawing/2014/main" id="{8F5E806C-0542-4249-8912-339743FE36A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36" name="Freeform 535">
                        <a:extLst>
                          <a:ext uri="{FF2B5EF4-FFF2-40B4-BE49-F238E27FC236}">
                            <a16:creationId xmlns:a16="http://schemas.microsoft.com/office/drawing/2014/main" id="{19BC52EA-49A8-464B-AFBE-1BD32FB0774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37" name="Freeform 536">
                        <a:extLst>
                          <a:ext uri="{FF2B5EF4-FFF2-40B4-BE49-F238E27FC236}">
                            <a16:creationId xmlns:a16="http://schemas.microsoft.com/office/drawing/2014/main" id="{ED70C072-1D79-FA49-8319-F162DD83F80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507" name="Group 506">
                    <a:extLst>
                      <a:ext uri="{FF2B5EF4-FFF2-40B4-BE49-F238E27FC236}">
                        <a16:creationId xmlns:a16="http://schemas.microsoft.com/office/drawing/2014/main" id="{BAFC2167-3F82-CA44-B89F-FA4BC8926902}"/>
                      </a:ext>
                    </a:extLst>
                  </p:cNvPr>
                  <p:cNvGrpSpPr/>
                  <p:nvPr/>
                </p:nvGrpSpPr>
                <p:grpSpPr>
                  <a:xfrm>
                    <a:off x="7360920" y="2697480"/>
                    <a:ext cx="491438" cy="266700"/>
                    <a:chOff x="7493876" y="2774731"/>
                    <a:chExt cx="1481958" cy="894622"/>
                  </a:xfrm>
                </p:grpSpPr>
                <p:sp>
                  <p:nvSpPr>
                    <p:cNvPr id="524" name="Freeform 523">
                      <a:extLst>
                        <a:ext uri="{FF2B5EF4-FFF2-40B4-BE49-F238E27FC236}">
                          <a16:creationId xmlns:a16="http://schemas.microsoft.com/office/drawing/2014/main" id="{8F3F73A6-1620-E74B-B7C3-2C379B955B4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525" name="Oval 524">
                      <a:extLst>
                        <a:ext uri="{FF2B5EF4-FFF2-40B4-BE49-F238E27FC236}">
                          <a16:creationId xmlns:a16="http://schemas.microsoft.com/office/drawing/2014/main" id="{3AC20900-95D7-EB4B-9C42-888BBFC5F039}"/>
                        </a:ext>
                      </a:extLst>
                    </p:cNvPr>
                    <p:cNvSpPr/>
                    <p:nvPr/>
                  </p:nvSpPr>
                  <p:spPr>
                    <a:xfrm>
                      <a:off x="7494729" y="2774731"/>
                      <a:ext cx="1480163" cy="579140"/>
                    </a:xfrm>
                    <a:prstGeom prst="ellipse">
                      <a:avLst/>
                    </a:prstGeom>
                    <a:solidFill>
                      <a:srgbClr val="B8C2C9"/>
                    </a:soli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526" name="Group 525">
                      <a:extLst>
                        <a:ext uri="{FF2B5EF4-FFF2-40B4-BE49-F238E27FC236}">
                          <a16:creationId xmlns:a16="http://schemas.microsoft.com/office/drawing/2014/main" id="{700CCE16-A6CD-5D40-9B6E-FA433DE49AA2}"/>
                        </a:ext>
                      </a:extLst>
                    </p:cNvPr>
                    <p:cNvGrpSpPr/>
                    <p:nvPr/>
                  </p:nvGrpSpPr>
                  <p:grpSpPr>
                    <a:xfrm>
                      <a:off x="7713663" y="2848339"/>
                      <a:ext cx="1042107" cy="425543"/>
                      <a:chOff x="7786941" y="2884917"/>
                      <a:chExt cx="897649" cy="353919"/>
                    </a:xfrm>
                  </p:grpSpPr>
                  <p:sp>
                    <p:nvSpPr>
                      <p:cNvPr id="527" name="Freeform 526">
                        <a:extLst>
                          <a:ext uri="{FF2B5EF4-FFF2-40B4-BE49-F238E27FC236}">
                            <a16:creationId xmlns:a16="http://schemas.microsoft.com/office/drawing/2014/main" id="{89C1937C-9C1F-B047-874F-893D2B52899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28" name="Freeform 527">
                        <a:extLst>
                          <a:ext uri="{FF2B5EF4-FFF2-40B4-BE49-F238E27FC236}">
                            <a16:creationId xmlns:a16="http://schemas.microsoft.com/office/drawing/2014/main" id="{99D4CD0D-1B37-BA45-9DA9-074750C0379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29" name="Freeform 528">
                        <a:extLst>
                          <a:ext uri="{FF2B5EF4-FFF2-40B4-BE49-F238E27FC236}">
                            <a16:creationId xmlns:a16="http://schemas.microsoft.com/office/drawing/2014/main" id="{3E03FF8F-525D-AD4C-A7A2-432F8C1FBDF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30" name="Freeform 529">
                        <a:extLst>
                          <a:ext uri="{FF2B5EF4-FFF2-40B4-BE49-F238E27FC236}">
                            <a16:creationId xmlns:a16="http://schemas.microsoft.com/office/drawing/2014/main" id="{4CAFE4DF-576F-2342-BF99-C4DEE97D2E3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508" name="Group 507">
                    <a:extLst>
                      <a:ext uri="{FF2B5EF4-FFF2-40B4-BE49-F238E27FC236}">
                        <a16:creationId xmlns:a16="http://schemas.microsoft.com/office/drawing/2014/main" id="{FB318CE4-7DA4-4A41-9554-A1B78A74527A}"/>
                      </a:ext>
                    </a:extLst>
                  </p:cNvPr>
                  <p:cNvGrpSpPr/>
                  <p:nvPr/>
                </p:nvGrpSpPr>
                <p:grpSpPr>
                  <a:xfrm>
                    <a:off x="6614160" y="3108960"/>
                    <a:ext cx="491438" cy="266700"/>
                    <a:chOff x="7493876" y="2774731"/>
                    <a:chExt cx="1481958" cy="894622"/>
                  </a:xfrm>
                </p:grpSpPr>
                <p:sp>
                  <p:nvSpPr>
                    <p:cNvPr id="517" name="Freeform 516">
                      <a:extLst>
                        <a:ext uri="{FF2B5EF4-FFF2-40B4-BE49-F238E27FC236}">
                          <a16:creationId xmlns:a16="http://schemas.microsoft.com/office/drawing/2014/main" id="{852B6B81-173A-344A-93A6-A0B8BB76985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518" name="Oval 517">
                      <a:extLst>
                        <a:ext uri="{FF2B5EF4-FFF2-40B4-BE49-F238E27FC236}">
                          <a16:creationId xmlns:a16="http://schemas.microsoft.com/office/drawing/2014/main" id="{9896B737-EC89-4545-841E-5E185FC1D65B}"/>
                        </a:ext>
                      </a:extLst>
                    </p:cNvPr>
                    <p:cNvSpPr/>
                    <p:nvPr/>
                  </p:nvSpPr>
                  <p:spPr>
                    <a:xfrm>
                      <a:off x="7494729" y="2774731"/>
                      <a:ext cx="1480163" cy="579140"/>
                    </a:xfrm>
                    <a:prstGeom prst="ellipse">
                      <a:avLst/>
                    </a:prstGeom>
                    <a:solidFill>
                      <a:srgbClr val="B8C2C9"/>
                    </a:soli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519" name="Group 518">
                      <a:extLst>
                        <a:ext uri="{FF2B5EF4-FFF2-40B4-BE49-F238E27FC236}">
                          <a16:creationId xmlns:a16="http://schemas.microsoft.com/office/drawing/2014/main" id="{F4DBFAD5-4E96-0748-873E-5522C65E107E}"/>
                        </a:ext>
                      </a:extLst>
                    </p:cNvPr>
                    <p:cNvGrpSpPr/>
                    <p:nvPr/>
                  </p:nvGrpSpPr>
                  <p:grpSpPr>
                    <a:xfrm>
                      <a:off x="7713663" y="2848339"/>
                      <a:ext cx="1042107" cy="425543"/>
                      <a:chOff x="7786941" y="2884917"/>
                      <a:chExt cx="897649" cy="353919"/>
                    </a:xfrm>
                  </p:grpSpPr>
                  <p:sp>
                    <p:nvSpPr>
                      <p:cNvPr id="520" name="Freeform 519">
                        <a:extLst>
                          <a:ext uri="{FF2B5EF4-FFF2-40B4-BE49-F238E27FC236}">
                            <a16:creationId xmlns:a16="http://schemas.microsoft.com/office/drawing/2014/main" id="{3470ECDB-31AB-F140-9FA5-CF439C8B21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21" name="Freeform 520">
                        <a:extLst>
                          <a:ext uri="{FF2B5EF4-FFF2-40B4-BE49-F238E27FC236}">
                            <a16:creationId xmlns:a16="http://schemas.microsoft.com/office/drawing/2014/main" id="{97EC32B7-874F-EB4B-8886-509F6FE4AC9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22" name="Freeform 521">
                        <a:extLst>
                          <a:ext uri="{FF2B5EF4-FFF2-40B4-BE49-F238E27FC236}">
                            <a16:creationId xmlns:a16="http://schemas.microsoft.com/office/drawing/2014/main" id="{ED8B1D4F-FE0F-094C-BE00-584F482FB95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23" name="Freeform 522">
                        <a:extLst>
                          <a:ext uri="{FF2B5EF4-FFF2-40B4-BE49-F238E27FC236}">
                            <a16:creationId xmlns:a16="http://schemas.microsoft.com/office/drawing/2014/main" id="{82AC8057-5410-F240-9673-593E954EFBD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509" name="Group 508">
                    <a:extLst>
                      <a:ext uri="{FF2B5EF4-FFF2-40B4-BE49-F238E27FC236}">
                        <a16:creationId xmlns:a16="http://schemas.microsoft.com/office/drawing/2014/main" id="{0A5A6BEA-B591-4C44-BA4B-CFDD4D1BCBC0}"/>
                      </a:ext>
                    </a:extLst>
                  </p:cNvPr>
                  <p:cNvGrpSpPr/>
                  <p:nvPr/>
                </p:nvGrpSpPr>
                <p:grpSpPr>
                  <a:xfrm>
                    <a:off x="6688836" y="2321052"/>
                    <a:ext cx="491438" cy="266700"/>
                    <a:chOff x="7493876" y="2774731"/>
                    <a:chExt cx="1481958" cy="894622"/>
                  </a:xfrm>
                </p:grpSpPr>
                <p:sp>
                  <p:nvSpPr>
                    <p:cNvPr id="510" name="Freeform 509">
                      <a:extLst>
                        <a:ext uri="{FF2B5EF4-FFF2-40B4-BE49-F238E27FC236}">
                          <a16:creationId xmlns:a16="http://schemas.microsoft.com/office/drawing/2014/main" id="{B3CA2360-C1A8-CB48-BD8E-4C20040473F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511" name="Oval 510">
                      <a:extLst>
                        <a:ext uri="{FF2B5EF4-FFF2-40B4-BE49-F238E27FC236}">
                          <a16:creationId xmlns:a16="http://schemas.microsoft.com/office/drawing/2014/main" id="{91E4C545-CC3F-C24B-8339-B5045FB751B2}"/>
                        </a:ext>
                      </a:extLst>
                    </p:cNvPr>
                    <p:cNvSpPr/>
                    <p:nvPr/>
                  </p:nvSpPr>
                  <p:spPr>
                    <a:xfrm>
                      <a:off x="7494729" y="2774731"/>
                      <a:ext cx="1480163" cy="579140"/>
                    </a:xfrm>
                    <a:prstGeom prst="ellipse">
                      <a:avLst/>
                    </a:prstGeom>
                    <a:solidFill>
                      <a:srgbClr val="B8C2C9"/>
                    </a:soli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512" name="Group 511">
                      <a:extLst>
                        <a:ext uri="{FF2B5EF4-FFF2-40B4-BE49-F238E27FC236}">
                          <a16:creationId xmlns:a16="http://schemas.microsoft.com/office/drawing/2014/main" id="{28A3E9EF-0314-E244-BB9D-29F966A6BBD5}"/>
                        </a:ext>
                      </a:extLst>
                    </p:cNvPr>
                    <p:cNvGrpSpPr/>
                    <p:nvPr/>
                  </p:nvGrpSpPr>
                  <p:grpSpPr>
                    <a:xfrm>
                      <a:off x="7713663" y="2848339"/>
                      <a:ext cx="1042107" cy="425543"/>
                      <a:chOff x="7786941" y="2884917"/>
                      <a:chExt cx="897649" cy="353919"/>
                    </a:xfrm>
                  </p:grpSpPr>
                  <p:sp>
                    <p:nvSpPr>
                      <p:cNvPr id="513" name="Freeform 512">
                        <a:extLst>
                          <a:ext uri="{FF2B5EF4-FFF2-40B4-BE49-F238E27FC236}">
                            <a16:creationId xmlns:a16="http://schemas.microsoft.com/office/drawing/2014/main" id="{F33744E2-2C8F-664D-8A15-5A1A58CEDF0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14" name="Freeform 513">
                        <a:extLst>
                          <a:ext uri="{FF2B5EF4-FFF2-40B4-BE49-F238E27FC236}">
                            <a16:creationId xmlns:a16="http://schemas.microsoft.com/office/drawing/2014/main" id="{B120A3AD-A34F-244F-A4DD-D84298C772F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15" name="Freeform 514">
                        <a:extLst>
                          <a:ext uri="{FF2B5EF4-FFF2-40B4-BE49-F238E27FC236}">
                            <a16:creationId xmlns:a16="http://schemas.microsoft.com/office/drawing/2014/main" id="{F5851AC2-246D-2448-BE57-5FA08C6263A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516" name="Freeform 515">
                        <a:extLst>
                          <a:ext uri="{FF2B5EF4-FFF2-40B4-BE49-F238E27FC236}">
                            <a16:creationId xmlns:a16="http://schemas.microsoft.com/office/drawing/2014/main" id="{313AD300-51C8-EC46-A5B0-83D840C0D9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grpSp>
        <p:grpSp>
          <p:nvGrpSpPr>
            <p:cNvPr id="170" name="Group 169">
              <a:extLst>
                <a:ext uri="{FF2B5EF4-FFF2-40B4-BE49-F238E27FC236}">
                  <a16:creationId xmlns:a16="http://schemas.microsoft.com/office/drawing/2014/main" id="{5717A5F8-6A67-F94C-8EEA-6348C9FB101E}"/>
                </a:ext>
              </a:extLst>
            </p:cNvPr>
            <p:cNvGrpSpPr/>
            <p:nvPr/>
          </p:nvGrpSpPr>
          <p:grpSpPr>
            <a:xfrm>
              <a:off x="4282206" y="4335896"/>
              <a:ext cx="1891242" cy="997982"/>
              <a:chOff x="3670217" y="2254595"/>
              <a:chExt cx="1891242" cy="997982"/>
            </a:xfrm>
          </p:grpSpPr>
          <p:sp>
            <p:nvSpPr>
              <p:cNvPr id="193" name="Text Box 92">
                <a:extLst>
                  <a:ext uri="{FF2B5EF4-FFF2-40B4-BE49-F238E27FC236}">
                    <a16:creationId xmlns:a16="http://schemas.microsoft.com/office/drawing/2014/main" id="{110A739D-9FA4-5C47-9104-5929CA817F9D}"/>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A</a:t>
                </a:r>
              </a:p>
            </p:txBody>
          </p:sp>
          <p:sp>
            <p:nvSpPr>
              <p:cNvPr id="194" name="Text Box 108">
                <a:extLst>
                  <a:ext uri="{FF2B5EF4-FFF2-40B4-BE49-F238E27FC236}">
                    <a16:creationId xmlns:a16="http://schemas.microsoft.com/office/drawing/2014/main" id="{D710AC33-80F8-0849-B632-29F5506A7A13}"/>
                  </a:ext>
                </a:extLst>
              </p:cNvPr>
              <p:cNvSpPr txBox="1">
                <a:spLocks noChangeArrowheads="1"/>
              </p:cNvSpPr>
              <p:nvPr/>
            </p:nvSpPr>
            <p:spPr bwMode="auto">
              <a:xfrm>
                <a:off x="4904340" y="2259358"/>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B</a:t>
                </a:r>
              </a:p>
            </p:txBody>
          </p:sp>
          <p:sp>
            <p:nvSpPr>
              <p:cNvPr id="195" name="Line 141">
                <a:extLst>
                  <a:ext uri="{FF2B5EF4-FFF2-40B4-BE49-F238E27FC236}">
                    <a16:creationId xmlns:a16="http://schemas.microsoft.com/office/drawing/2014/main" id="{9A1C543F-3CDB-554A-BF74-D3706C6A874D}"/>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96" name="Text Box 143">
                <a:extLst>
                  <a:ext uri="{FF2B5EF4-FFF2-40B4-BE49-F238E27FC236}">
                    <a16:creationId xmlns:a16="http://schemas.microsoft.com/office/drawing/2014/main" id="{41501492-C9AF-D446-A361-BE77117F4623}"/>
                  </a:ext>
                </a:extLst>
              </p:cNvPr>
              <p:cNvSpPr txBox="1">
                <a:spLocks noChangeArrowheads="1"/>
              </p:cNvSpPr>
              <p:nvPr/>
            </p:nvSpPr>
            <p:spPr bwMode="auto">
              <a:xfrm>
                <a:off x="3737526" y="2881657"/>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sp>
            <p:nvSpPr>
              <p:cNvPr id="197" name="Text Box 144">
                <a:extLst>
                  <a:ext uri="{FF2B5EF4-FFF2-40B4-BE49-F238E27FC236}">
                    <a16:creationId xmlns:a16="http://schemas.microsoft.com/office/drawing/2014/main" id="{402A1172-046E-434C-B078-59701766D9CA}"/>
                  </a:ext>
                </a:extLst>
              </p:cNvPr>
              <p:cNvSpPr txBox="1">
                <a:spLocks noChangeArrowheads="1"/>
              </p:cNvSpPr>
              <p:nvPr/>
            </p:nvSpPr>
            <p:spPr bwMode="auto">
              <a:xfrm>
                <a:off x="4631289" y="2883245"/>
                <a:ext cx="9301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r>
                  <a:rPr lang="en-US" altLang="en-US" sz="1200" dirty="0">
                    <a:solidFill>
                      <a:srgbClr val="C00000"/>
                    </a:solidFill>
                  </a:rPr>
                  <a:t>v4</a:t>
                </a:r>
              </a:p>
            </p:txBody>
          </p:sp>
          <p:grpSp>
            <p:nvGrpSpPr>
              <p:cNvPr id="198" name="Group 197">
                <a:extLst>
                  <a:ext uri="{FF2B5EF4-FFF2-40B4-BE49-F238E27FC236}">
                    <a16:creationId xmlns:a16="http://schemas.microsoft.com/office/drawing/2014/main" id="{3C95A897-355A-434E-8FC1-AC906BACDFA2}"/>
                  </a:ext>
                </a:extLst>
              </p:cNvPr>
              <p:cNvGrpSpPr/>
              <p:nvPr/>
            </p:nvGrpSpPr>
            <p:grpSpPr>
              <a:xfrm>
                <a:off x="3670217" y="2586162"/>
                <a:ext cx="731126" cy="344556"/>
                <a:chOff x="7493876" y="2774731"/>
                <a:chExt cx="1481958" cy="894622"/>
              </a:xfrm>
            </p:grpSpPr>
            <p:sp>
              <p:nvSpPr>
                <p:cNvPr id="207" name="Freeform 206">
                  <a:extLst>
                    <a:ext uri="{FF2B5EF4-FFF2-40B4-BE49-F238E27FC236}">
                      <a16:creationId xmlns:a16="http://schemas.microsoft.com/office/drawing/2014/main" id="{F5D7D63D-A986-594D-B694-9FF0F91833F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08" name="Oval 207">
                  <a:extLst>
                    <a:ext uri="{FF2B5EF4-FFF2-40B4-BE49-F238E27FC236}">
                      <a16:creationId xmlns:a16="http://schemas.microsoft.com/office/drawing/2014/main" id="{03782CCC-03BC-1347-85AF-252A8230B48E}"/>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09" name="Group 208">
                  <a:extLst>
                    <a:ext uri="{FF2B5EF4-FFF2-40B4-BE49-F238E27FC236}">
                      <a16:creationId xmlns:a16="http://schemas.microsoft.com/office/drawing/2014/main" id="{D0C68AB1-2CD1-EF47-9AC5-019E3F989517}"/>
                    </a:ext>
                  </a:extLst>
                </p:cNvPr>
                <p:cNvGrpSpPr/>
                <p:nvPr/>
              </p:nvGrpSpPr>
              <p:grpSpPr>
                <a:xfrm>
                  <a:off x="7713663" y="2848339"/>
                  <a:ext cx="1042107" cy="425543"/>
                  <a:chOff x="7786941" y="2884917"/>
                  <a:chExt cx="897649" cy="353919"/>
                </a:xfrm>
              </p:grpSpPr>
              <p:sp>
                <p:nvSpPr>
                  <p:cNvPr id="210" name="Freeform 209">
                    <a:extLst>
                      <a:ext uri="{FF2B5EF4-FFF2-40B4-BE49-F238E27FC236}">
                        <a16:creationId xmlns:a16="http://schemas.microsoft.com/office/drawing/2014/main" id="{754B7C8E-ACD3-134F-A641-0F91DB79F62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1" name="Freeform 210">
                    <a:extLst>
                      <a:ext uri="{FF2B5EF4-FFF2-40B4-BE49-F238E27FC236}">
                        <a16:creationId xmlns:a16="http://schemas.microsoft.com/office/drawing/2014/main" id="{589DAF1B-A291-514E-BCC4-CC91BB57E76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2" name="Freeform 211">
                    <a:extLst>
                      <a:ext uri="{FF2B5EF4-FFF2-40B4-BE49-F238E27FC236}">
                        <a16:creationId xmlns:a16="http://schemas.microsoft.com/office/drawing/2014/main" id="{73F904F0-F412-7046-AFD0-5002E429B42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3" name="Freeform 212">
                    <a:extLst>
                      <a:ext uri="{FF2B5EF4-FFF2-40B4-BE49-F238E27FC236}">
                        <a16:creationId xmlns:a16="http://schemas.microsoft.com/office/drawing/2014/main" id="{2CCAAB12-A1D8-6C47-878C-46C3E550321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199" name="Group 198">
                <a:extLst>
                  <a:ext uri="{FF2B5EF4-FFF2-40B4-BE49-F238E27FC236}">
                    <a16:creationId xmlns:a16="http://schemas.microsoft.com/office/drawing/2014/main" id="{4C090431-938E-B942-A193-8E47FD1AF9E2}"/>
                  </a:ext>
                </a:extLst>
              </p:cNvPr>
              <p:cNvGrpSpPr/>
              <p:nvPr/>
            </p:nvGrpSpPr>
            <p:grpSpPr>
              <a:xfrm>
                <a:off x="4703149" y="2589549"/>
                <a:ext cx="731126" cy="344556"/>
                <a:chOff x="7493876" y="2774731"/>
                <a:chExt cx="1481958" cy="894622"/>
              </a:xfrm>
            </p:grpSpPr>
            <p:sp>
              <p:nvSpPr>
                <p:cNvPr id="200" name="Freeform 199">
                  <a:extLst>
                    <a:ext uri="{FF2B5EF4-FFF2-40B4-BE49-F238E27FC236}">
                      <a16:creationId xmlns:a16="http://schemas.microsoft.com/office/drawing/2014/main" id="{49C4F992-971D-C440-8D04-53AAC987516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01" name="Oval 200">
                  <a:extLst>
                    <a:ext uri="{FF2B5EF4-FFF2-40B4-BE49-F238E27FC236}">
                      <a16:creationId xmlns:a16="http://schemas.microsoft.com/office/drawing/2014/main" id="{62AF8A24-58CD-2145-A9F9-90CE2DC79A5F}"/>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02" name="Group 201">
                  <a:extLst>
                    <a:ext uri="{FF2B5EF4-FFF2-40B4-BE49-F238E27FC236}">
                      <a16:creationId xmlns:a16="http://schemas.microsoft.com/office/drawing/2014/main" id="{0A93BC7E-4BC1-2643-93F4-2AD46845796A}"/>
                    </a:ext>
                  </a:extLst>
                </p:cNvPr>
                <p:cNvGrpSpPr/>
                <p:nvPr/>
              </p:nvGrpSpPr>
              <p:grpSpPr>
                <a:xfrm>
                  <a:off x="7713663" y="2848339"/>
                  <a:ext cx="1042107" cy="425543"/>
                  <a:chOff x="7786941" y="2884917"/>
                  <a:chExt cx="897649" cy="353919"/>
                </a:xfrm>
              </p:grpSpPr>
              <p:sp>
                <p:nvSpPr>
                  <p:cNvPr id="203" name="Freeform 202">
                    <a:extLst>
                      <a:ext uri="{FF2B5EF4-FFF2-40B4-BE49-F238E27FC236}">
                        <a16:creationId xmlns:a16="http://schemas.microsoft.com/office/drawing/2014/main" id="{A7323785-B63B-DE4E-A5EC-E9792BB5D5A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04" name="Freeform 203">
                    <a:extLst>
                      <a:ext uri="{FF2B5EF4-FFF2-40B4-BE49-F238E27FC236}">
                        <a16:creationId xmlns:a16="http://schemas.microsoft.com/office/drawing/2014/main" id="{DEFF491D-45FE-0644-B21D-93F32323151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05" name="Freeform 204">
                    <a:extLst>
                      <a:ext uri="{FF2B5EF4-FFF2-40B4-BE49-F238E27FC236}">
                        <a16:creationId xmlns:a16="http://schemas.microsoft.com/office/drawing/2014/main" id="{D7229D85-BA96-1E47-BEF3-188394D687B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06" name="Freeform 205">
                    <a:extLst>
                      <a:ext uri="{FF2B5EF4-FFF2-40B4-BE49-F238E27FC236}">
                        <a16:creationId xmlns:a16="http://schemas.microsoft.com/office/drawing/2014/main" id="{D328D7ED-E4C8-8145-91E9-1697D90D408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nvGrpSpPr>
            <p:cNvPr id="171" name="Group 170">
              <a:extLst>
                <a:ext uri="{FF2B5EF4-FFF2-40B4-BE49-F238E27FC236}">
                  <a16:creationId xmlns:a16="http://schemas.microsoft.com/office/drawing/2014/main" id="{E3C42B7A-98CB-6347-8B71-39B750B4AA71}"/>
                </a:ext>
              </a:extLst>
            </p:cNvPr>
            <p:cNvGrpSpPr/>
            <p:nvPr/>
          </p:nvGrpSpPr>
          <p:grpSpPr>
            <a:xfrm>
              <a:off x="8298305" y="4365816"/>
              <a:ext cx="1824674" cy="997982"/>
              <a:chOff x="3615607" y="2254595"/>
              <a:chExt cx="1824674" cy="997982"/>
            </a:xfrm>
          </p:grpSpPr>
          <p:sp>
            <p:nvSpPr>
              <p:cNvPr id="172" name="Text Box 92">
                <a:extLst>
                  <a:ext uri="{FF2B5EF4-FFF2-40B4-BE49-F238E27FC236}">
                    <a16:creationId xmlns:a16="http://schemas.microsoft.com/office/drawing/2014/main" id="{B011A2F8-9695-BA46-8CA9-E35BEA783E25}"/>
                  </a:ext>
                </a:extLst>
              </p:cNvPr>
              <p:cNvSpPr txBox="1">
                <a:spLocks noChangeArrowheads="1"/>
              </p:cNvSpPr>
              <p:nvPr/>
            </p:nvSpPr>
            <p:spPr bwMode="auto">
              <a:xfrm>
                <a:off x="3858178"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E</a:t>
                </a:r>
              </a:p>
            </p:txBody>
          </p:sp>
          <p:sp>
            <p:nvSpPr>
              <p:cNvPr id="173" name="Text Box 108">
                <a:extLst>
                  <a:ext uri="{FF2B5EF4-FFF2-40B4-BE49-F238E27FC236}">
                    <a16:creationId xmlns:a16="http://schemas.microsoft.com/office/drawing/2014/main" id="{7163F02F-17ED-C44F-B86B-A1C3E5B30509}"/>
                  </a:ext>
                </a:extLst>
              </p:cNvPr>
              <p:cNvSpPr txBox="1">
                <a:spLocks noChangeArrowheads="1"/>
              </p:cNvSpPr>
              <p:nvPr/>
            </p:nvSpPr>
            <p:spPr bwMode="auto">
              <a:xfrm>
                <a:off x="4888228" y="2259358"/>
                <a:ext cx="387285"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F</a:t>
                </a:r>
              </a:p>
            </p:txBody>
          </p:sp>
          <p:sp>
            <p:nvSpPr>
              <p:cNvPr id="174" name="Line 141">
                <a:extLst>
                  <a:ext uri="{FF2B5EF4-FFF2-40B4-BE49-F238E27FC236}">
                    <a16:creationId xmlns:a16="http://schemas.microsoft.com/office/drawing/2014/main" id="{CBB88C7C-78E5-2740-AA9E-D60B5912D637}"/>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75" name="Text Box 143">
                <a:extLst>
                  <a:ext uri="{FF2B5EF4-FFF2-40B4-BE49-F238E27FC236}">
                    <a16:creationId xmlns:a16="http://schemas.microsoft.com/office/drawing/2014/main" id="{5C6BDB27-D839-A841-8038-49CB793C907E}"/>
                  </a:ext>
                </a:extLst>
              </p:cNvPr>
              <p:cNvSpPr txBox="1">
                <a:spLocks noChangeArrowheads="1"/>
              </p:cNvSpPr>
              <p:nvPr/>
            </p:nvSpPr>
            <p:spPr bwMode="auto">
              <a:xfrm>
                <a:off x="3615607" y="2881657"/>
                <a:ext cx="9301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r>
                  <a:rPr lang="en-US" altLang="en-US" sz="1200" dirty="0">
                    <a:solidFill>
                      <a:srgbClr val="C00000"/>
                    </a:solidFill>
                  </a:rPr>
                  <a:t>v4</a:t>
                </a:r>
              </a:p>
            </p:txBody>
          </p:sp>
          <p:sp>
            <p:nvSpPr>
              <p:cNvPr id="176" name="Text Box 144">
                <a:extLst>
                  <a:ext uri="{FF2B5EF4-FFF2-40B4-BE49-F238E27FC236}">
                    <a16:creationId xmlns:a16="http://schemas.microsoft.com/office/drawing/2014/main" id="{BFE1AB9B-2EAA-3646-A298-AB413E7A5D26}"/>
                  </a:ext>
                </a:extLst>
              </p:cNvPr>
              <p:cNvSpPr txBox="1">
                <a:spLocks noChangeArrowheads="1"/>
              </p:cNvSpPr>
              <p:nvPr/>
            </p:nvSpPr>
            <p:spPr bwMode="auto">
              <a:xfrm>
                <a:off x="4783690" y="2883245"/>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grpSp>
            <p:nvGrpSpPr>
              <p:cNvPr id="177" name="Group 176">
                <a:extLst>
                  <a:ext uri="{FF2B5EF4-FFF2-40B4-BE49-F238E27FC236}">
                    <a16:creationId xmlns:a16="http://schemas.microsoft.com/office/drawing/2014/main" id="{2EEEE9B2-CAF4-4840-9D9B-D6AF0E983459}"/>
                  </a:ext>
                </a:extLst>
              </p:cNvPr>
              <p:cNvGrpSpPr/>
              <p:nvPr/>
            </p:nvGrpSpPr>
            <p:grpSpPr>
              <a:xfrm>
                <a:off x="3670217" y="2586162"/>
                <a:ext cx="731126" cy="344556"/>
                <a:chOff x="7493876" y="2774731"/>
                <a:chExt cx="1481958" cy="894622"/>
              </a:xfrm>
            </p:grpSpPr>
            <p:sp>
              <p:nvSpPr>
                <p:cNvPr id="186" name="Freeform 185">
                  <a:extLst>
                    <a:ext uri="{FF2B5EF4-FFF2-40B4-BE49-F238E27FC236}">
                      <a16:creationId xmlns:a16="http://schemas.microsoft.com/office/drawing/2014/main" id="{7E69BC95-0251-D24F-AD6E-561389FC80A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87" name="Oval 186">
                  <a:extLst>
                    <a:ext uri="{FF2B5EF4-FFF2-40B4-BE49-F238E27FC236}">
                      <a16:creationId xmlns:a16="http://schemas.microsoft.com/office/drawing/2014/main" id="{6888D20B-9D89-4B4C-8E8F-1BB165CA61A6}"/>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88" name="Group 187">
                  <a:extLst>
                    <a:ext uri="{FF2B5EF4-FFF2-40B4-BE49-F238E27FC236}">
                      <a16:creationId xmlns:a16="http://schemas.microsoft.com/office/drawing/2014/main" id="{C11A9864-04B0-C642-975B-2FFEB37EC0C9}"/>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F815E172-DF3B-CB47-8E92-A80C6D3657A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90" name="Freeform 189">
                    <a:extLst>
                      <a:ext uri="{FF2B5EF4-FFF2-40B4-BE49-F238E27FC236}">
                        <a16:creationId xmlns:a16="http://schemas.microsoft.com/office/drawing/2014/main" id="{5B86302E-E939-AD4E-AFF9-17636C78971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91" name="Freeform 190">
                    <a:extLst>
                      <a:ext uri="{FF2B5EF4-FFF2-40B4-BE49-F238E27FC236}">
                        <a16:creationId xmlns:a16="http://schemas.microsoft.com/office/drawing/2014/main" id="{5C5917F1-E302-CE45-8D20-9819BFA83CF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92" name="Freeform 191">
                    <a:extLst>
                      <a:ext uri="{FF2B5EF4-FFF2-40B4-BE49-F238E27FC236}">
                        <a16:creationId xmlns:a16="http://schemas.microsoft.com/office/drawing/2014/main" id="{56545F24-94D8-7C4B-9573-CCC90CEF14C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178" name="Group 177">
                <a:extLst>
                  <a:ext uri="{FF2B5EF4-FFF2-40B4-BE49-F238E27FC236}">
                    <a16:creationId xmlns:a16="http://schemas.microsoft.com/office/drawing/2014/main" id="{5E0A2DE7-07A0-1247-98D1-3173BDB98A4B}"/>
                  </a:ext>
                </a:extLst>
              </p:cNvPr>
              <p:cNvGrpSpPr/>
              <p:nvPr/>
            </p:nvGrpSpPr>
            <p:grpSpPr>
              <a:xfrm>
                <a:off x="4703149" y="2589549"/>
                <a:ext cx="731126" cy="344556"/>
                <a:chOff x="7493876" y="2774731"/>
                <a:chExt cx="1481958" cy="894622"/>
              </a:xfrm>
            </p:grpSpPr>
            <p:sp>
              <p:nvSpPr>
                <p:cNvPr id="179" name="Freeform 178">
                  <a:extLst>
                    <a:ext uri="{FF2B5EF4-FFF2-40B4-BE49-F238E27FC236}">
                      <a16:creationId xmlns:a16="http://schemas.microsoft.com/office/drawing/2014/main" id="{10F4D360-E65F-D849-B554-1067764F2A1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80" name="Oval 179">
                  <a:extLst>
                    <a:ext uri="{FF2B5EF4-FFF2-40B4-BE49-F238E27FC236}">
                      <a16:creationId xmlns:a16="http://schemas.microsoft.com/office/drawing/2014/main" id="{A6B447AA-3C49-F74C-844A-DB7E97A9C93A}"/>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81" name="Group 180">
                  <a:extLst>
                    <a:ext uri="{FF2B5EF4-FFF2-40B4-BE49-F238E27FC236}">
                      <a16:creationId xmlns:a16="http://schemas.microsoft.com/office/drawing/2014/main" id="{0EA85C4B-510C-5948-A859-A34940D950C8}"/>
                    </a:ext>
                  </a:extLst>
                </p:cNvPr>
                <p:cNvGrpSpPr/>
                <p:nvPr/>
              </p:nvGrpSpPr>
              <p:grpSpPr>
                <a:xfrm>
                  <a:off x="7713663" y="2848339"/>
                  <a:ext cx="1042107" cy="425543"/>
                  <a:chOff x="7786941" y="2884917"/>
                  <a:chExt cx="897649" cy="353919"/>
                </a:xfrm>
              </p:grpSpPr>
              <p:sp>
                <p:nvSpPr>
                  <p:cNvPr id="182" name="Freeform 181">
                    <a:extLst>
                      <a:ext uri="{FF2B5EF4-FFF2-40B4-BE49-F238E27FC236}">
                        <a16:creationId xmlns:a16="http://schemas.microsoft.com/office/drawing/2014/main" id="{B3CC364E-1AC4-CB48-AA68-0F261278089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3" name="Freeform 182">
                    <a:extLst>
                      <a:ext uri="{FF2B5EF4-FFF2-40B4-BE49-F238E27FC236}">
                        <a16:creationId xmlns:a16="http://schemas.microsoft.com/office/drawing/2014/main" id="{B54FBD29-A743-664D-B298-216BFB6A0E3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4" name="Freeform 183">
                    <a:extLst>
                      <a:ext uri="{FF2B5EF4-FFF2-40B4-BE49-F238E27FC236}">
                        <a16:creationId xmlns:a16="http://schemas.microsoft.com/office/drawing/2014/main" id="{C611F43E-D76E-1C42-8DE4-D6081FCAEA8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5" name="Freeform 184">
                    <a:extLst>
                      <a:ext uri="{FF2B5EF4-FFF2-40B4-BE49-F238E27FC236}">
                        <a16:creationId xmlns:a16="http://schemas.microsoft.com/office/drawing/2014/main" id="{CAA4831E-FF15-F841-8C6E-C13EB5F994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sp>
          <p:nvSpPr>
            <p:cNvPr id="21" name="TextBox 20">
              <a:extLst>
                <a:ext uri="{FF2B5EF4-FFF2-40B4-BE49-F238E27FC236}">
                  <a16:creationId xmlns:a16="http://schemas.microsoft.com/office/drawing/2014/main" id="{FDF40405-26DE-E04A-AD9E-09DB8BF9FDDC}"/>
                </a:ext>
              </a:extLst>
            </p:cNvPr>
            <p:cNvSpPr txBox="1"/>
            <p:nvPr/>
          </p:nvSpPr>
          <p:spPr>
            <a:xfrm>
              <a:off x="6655028" y="5568409"/>
              <a:ext cx="1343958" cy="369332"/>
            </a:xfrm>
            <a:prstGeom prst="rect">
              <a:avLst/>
            </a:prstGeom>
            <a:noFill/>
          </p:spPr>
          <p:txBody>
            <a:bodyPr wrap="none" rtlCol="0">
              <a:spAutoFit/>
            </a:bodyPr>
            <a:lstStyle/>
            <a:p>
              <a:pPr defTabSz="685800" eaLnBrk="1" fontAlgn="auto" hangingPunct="1">
                <a:spcBef>
                  <a:spcPts val="0"/>
                </a:spcBef>
                <a:spcAft>
                  <a:spcPts val="0"/>
                </a:spcAft>
                <a:defRPr/>
              </a:pPr>
              <a:r>
                <a:rPr lang="en-US" sz="1200" dirty="0">
                  <a:solidFill>
                    <a:prstClr val="black"/>
                  </a:solidFill>
                  <a:latin typeface="Calibri" panose="020F0502020204030204"/>
                  <a:ea typeface="+mn-ea"/>
                </a:rPr>
                <a:t>IPv4 network</a:t>
              </a:r>
              <a:endParaRPr lang="en-US" sz="1350" dirty="0">
                <a:solidFill>
                  <a:prstClr val="black"/>
                </a:solidFill>
                <a:latin typeface="Calibri" panose="020F0502020204030204"/>
                <a:ea typeface="+mn-ea"/>
              </a:endParaRPr>
            </a:p>
          </p:txBody>
        </p:sp>
      </p:grpSp>
      <p:sp>
        <p:nvSpPr>
          <p:cNvPr id="541" name="Text Box 75">
            <a:extLst>
              <a:ext uri="{FF2B5EF4-FFF2-40B4-BE49-F238E27FC236}">
                <a16:creationId xmlns:a16="http://schemas.microsoft.com/office/drawing/2014/main" id="{9575480C-065E-F445-B98F-75CCDE26D4F5}"/>
              </a:ext>
            </a:extLst>
          </p:cNvPr>
          <p:cNvSpPr txBox="1">
            <a:spLocks noChangeArrowheads="1"/>
          </p:cNvSpPr>
          <p:nvPr/>
        </p:nvSpPr>
        <p:spPr bwMode="auto">
          <a:xfrm>
            <a:off x="645796" y="4023961"/>
            <a:ext cx="19202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800" dirty="0">
                <a:solidFill>
                  <a:prstClr val="black"/>
                </a:solidFill>
                <a:latin typeface="Calibri" panose="020F0502020204030204"/>
              </a:rPr>
              <a:t>IPv4 network connecting two IPv6 routers</a:t>
            </a:r>
          </a:p>
        </p:txBody>
      </p:sp>
      <p:sp>
        <p:nvSpPr>
          <p:cNvPr id="542" name="Rectangle 541">
            <a:extLst>
              <a:ext uri="{FF2B5EF4-FFF2-40B4-BE49-F238E27FC236}">
                <a16:creationId xmlns:a16="http://schemas.microsoft.com/office/drawing/2014/main" id="{76ED368D-E910-AF4A-A7B9-EA73D840E651}"/>
              </a:ext>
            </a:extLst>
          </p:cNvPr>
          <p:cNvSpPr/>
          <p:nvPr/>
        </p:nvSpPr>
        <p:spPr>
          <a:xfrm>
            <a:off x="617220" y="1874520"/>
            <a:ext cx="7543800" cy="1805940"/>
          </a:xfrm>
          <a:prstGeom prst="rect">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4" name="Slide Number Placeholder 3">
            <a:extLst>
              <a:ext uri="{FF2B5EF4-FFF2-40B4-BE49-F238E27FC236}">
                <a16:creationId xmlns:a16="http://schemas.microsoft.com/office/drawing/2014/main" id="{2F913256-ADEF-544C-8B13-58406F24A63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131</a:t>
            </a:fld>
            <a:endParaRPr lang="en-US" dirty="0"/>
          </a:p>
        </p:txBody>
      </p:sp>
    </p:spTree>
    <p:extLst>
      <p:ext uri="{BB962C8B-B14F-4D97-AF65-F5344CB8AC3E}">
        <p14:creationId xmlns:p14="http://schemas.microsoft.com/office/powerpoint/2010/main" val="105940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par>
                          <p:cTn id="13" fill="hold">
                            <p:stCondLst>
                              <p:cond delay="500"/>
                            </p:stCondLst>
                            <p:childTnLst>
                              <p:par>
                                <p:cTn id="14" presetID="9" presetClass="entr" presetSubtype="0" fill="hold" nodeType="afterEffect">
                                  <p:stCondLst>
                                    <p:cond delay="500"/>
                                  </p:stCondLst>
                                  <p:childTnLst>
                                    <p:set>
                                      <p:cBhvr>
                                        <p:cTn id="15" dur="1" fill="hold">
                                          <p:stCondLst>
                                            <p:cond delay="0"/>
                                          </p:stCondLst>
                                        </p:cTn>
                                        <p:tgtEl>
                                          <p:spTgt spid="18"/>
                                        </p:tgtEl>
                                        <p:attrNameLst>
                                          <p:attrName>style.visibility</p:attrName>
                                        </p:attrNameLst>
                                      </p:cBhvr>
                                      <p:to>
                                        <p:strVal val="visible"/>
                                      </p:to>
                                    </p:set>
                                    <p:animEffect transition="in" filter="dissolve">
                                      <p:cBhvr>
                                        <p:cTn id="16" dur="500"/>
                                        <p:tgtEl>
                                          <p:spTgt spid="18"/>
                                        </p:tgtEl>
                                      </p:cBhvr>
                                    </p:animEffect>
                                  </p:childTnLst>
                                </p:cTn>
                              </p:par>
                            </p:childTnLst>
                          </p:cTn>
                        </p:par>
                        <p:par>
                          <p:cTn id="17" fill="hold">
                            <p:stCondLst>
                              <p:cond delay="1500"/>
                            </p:stCondLst>
                            <p:childTnLst>
                              <p:par>
                                <p:cTn id="18" presetID="9" presetClass="entr" presetSubtype="0" fill="hold" grpId="0" nodeType="afterEffect">
                                  <p:stCondLst>
                                    <p:cond delay="500"/>
                                  </p:stCondLst>
                                  <p:childTnLst>
                                    <p:set>
                                      <p:cBhvr>
                                        <p:cTn id="19" dur="1" fill="hold">
                                          <p:stCondLst>
                                            <p:cond delay="0"/>
                                          </p:stCondLst>
                                        </p:cTn>
                                        <p:tgtEl>
                                          <p:spTgt spid="15"/>
                                        </p:tgtEl>
                                        <p:attrNameLst>
                                          <p:attrName>style.visibility</p:attrName>
                                        </p:attrNameLst>
                                      </p:cBhvr>
                                      <p:to>
                                        <p:strVal val="visible"/>
                                      </p:to>
                                    </p:set>
                                    <p:animEffect transition="in" filter="dissolv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41"/>
                                        </p:tgtEl>
                                        <p:attrNameLst>
                                          <p:attrName>style.visibility</p:attrName>
                                        </p:attrNameLst>
                                      </p:cBhvr>
                                      <p:to>
                                        <p:strVal val="visible"/>
                                      </p:to>
                                    </p:set>
                                    <p:animEffect transition="in" filter="dissolve">
                                      <p:cBhvr>
                                        <p:cTn id="28" dur="500"/>
                                        <p:tgtEl>
                                          <p:spTgt spid="54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542"/>
                                        </p:tgtEl>
                                        <p:attrNameLst>
                                          <p:attrName>style.visibility</p:attrName>
                                        </p:attrNameLst>
                                      </p:cBhvr>
                                      <p:to>
                                        <p:strVal val="visible"/>
                                      </p:to>
                                    </p:set>
                                    <p:animEffect transition="in" filter="dissolve">
                                      <p:cBhvr>
                                        <p:cTn id="31" dur="500"/>
                                        <p:tgtEl>
                                          <p:spTgt spid="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41" grpId="0"/>
      <p:bldP spid="542"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628650" y="1116604"/>
            <a:ext cx="7886700" cy="670967"/>
          </a:xfrm>
        </p:spPr>
        <p:txBody>
          <a:bodyPr>
            <a:normAutofit/>
          </a:bodyPr>
          <a:lstStyle/>
          <a:p>
            <a:r>
              <a:rPr lang="en-US" sz="3600" dirty="0"/>
              <a:t>Tunneling and encapsulation</a:t>
            </a:r>
          </a:p>
        </p:txBody>
      </p:sp>
      <p:sp>
        <p:nvSpPr>
          <p:cNvPr id="168" name="Text Box 75">
            <a:extLst>
              <a:ext uri="{FF2B5EF4-FFF2-40B4-BE49-F238E27FC236}">
                <a16:creationId xmlns:a16="http://schemas.microsoft.com/office/drawing/2014/main" id="{9929FFB1-4B85-B14E-8A8D-EE3B2BBCB609}"/>
              </a:ext>
            </a:extLst>
          </p:cNvPr>
          <p:cNvSpPr txBox="1">
            <a:spLocks noChangeArrowheads="1"/>
          </p:cNvSpPr>
          <p:nvPr/>
        </p:nvSpPr>
        <p:spPr bwMode="auto">
          <a:xfrm>
            <a:off x="666206" y="2130663"/>
            <a:ext cx="206964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800" dirty="0">
                <a:solidFill>
                  <a:prstClr val="black"/>
                </a:solidFill>
                <a:latin typeface="Calibri" panose="020F0502020204030204"/>
              </a:rPr>
              <a:t>Ethernet connecting two IPv6 routers:</a:t>
            </a:r>
          </a:p>
        </p:txBody>
      </p:sp>
      <p:grpSp>
        <p:nvGrpSpPr>
          <p:cNvPr id="3" name="Group 2">
            <a:extLst>
              <a:ext uri="{FF2B5EF4-FFF2-40B4-BE49-F238E27FC236}">
                <a16:creationId xmlns:a16="http://schemas.microsoft.com/office/drawing/2014/main" id="{9516739A-1258-BE4F-9C41-77F7DE9A3736}"/>
              </a:ext>
            </a:extLst>
          </p:cNvPr>
          <p:cNvGrpSpPr/>
          <p:nvPr/>
        </p:nvGrpSpPr>
        <p:grpSpPr>
          <a:xfrm>
            <a:off x="3205711" y="2077082"/>
            <a:ext cx="4380579" cy="770927"/>
            <a:chOff x="3663591" y="1108282"/>
            <a:chExt cx="5840772" cy="1027902"/>
          </a:xfrm>
        </p:grpSpPr>
        <p:sp>
          <p:nvSpPr>
            <p:cNvPr id="167" name="Rectangle 67">
              <a:extLst>
                <a:ext uri="{FF2B5EF4-FFF2-40B4-BE49-F238E27FC236}">
                  <a16:creationId xmlns:a16="http://schemas.microsoft.com/office/drawing/2014/main" id="{09A35161-06D7-5F46-8581-CAD586A060A0}"/>
                </a:ext>
              </a:extLst>
            </p:cNvPr>
            <p:cNvSpPr>
              <a:spLocks noChangeArrowheads="1"/>
            </p:cNvSpPr>
            <p:nvPr/>
          </p:nvSpPr>
          <p:spPr bwMode="auto">
            <a:xfrm>
              <a:off x="5385352" y="1616420"/>
              <a:ext cx="2405062" cy="66675"/>
            </a:xfrm>
            <a:prstGeom prst="rect">
              <a:avLst/>
            </a:prstGeom>
            <a:solidFill>
              <a:srgbClr val="CC0000"/>
            </a:soli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169" name="Text Box 244">
              <a:extLst>
                <a:ext uri="{FF2B5EF4-FFF2-40B4-BE49-F238E27FC236}">
                  <a16:creationId xmlns:a16="http://schemas.microsoft.com/office/drawing/2014/main" id="{8F946424-1CCF-1D48-9329-4BE5B2E1BE06}"/>
                </a:ext>
              </a:extLst>
            </p:cNvPr>
            <p:cNvSpPr txBox="1">
              <a:spLocks noChangeArrowheads="1"/>
            </p:cNvSpPr>
            <p:nvPr/>
          </p:nvSpPr>
          <p:spPr bwMode="auto">
            <a:xfrm>
              <a:off x="5480234" y="1110007"/>
              <a:ext cx="2471780" cy="541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i="1" dirty="0">
                  <a:solidFill>
                    <a:srgbClr val="CC0000"/>
                  </a:solidFill>
                </a:rPr>
                <a:t>Ethernet connects two IPv6 routers</a:t>
              </a:r>
            </a:p>
          </p:txBody>
        </p:sp>
        <p:grpSp>
          <p:nvGrpSpPr>
            <p:cNvPr id="269" name="Group 268">
              <a:extLst>
                <a:ext uri="{FF2B5EF4-FFF2-40B4-BE49-F238E27FC236}">
                  <a16:creationId xmlns:a16="http://schemas.microsoft.com/office/drawing/2014/main" id="{F2AFC9CA-57A7-2A4B-B2A8-73EE2B3D1201}"/>
                </a:ext>
              </a:extLst>
            </p:cNvPr>
            <p:cNvGrpSpPr/>
            <p:nvPr/>
          </p:nvGrpSpPr>
          <p:grpSpPr>
            <a:xfrm>
              <a:off x="3663591" y="1108282"/>
              <a:ext cx="1770063" cy="997982"/>
              <a:chOff x="3670217" y="2254595"/>
              <a:chExt cx="1770063" cy="997982"/>
            </a:xfrm>
          </p:grpSpPr>
          <p:sp>
            <p:nvSpPr>
              <p:cNvPr id="270" name="Text Box 92">
                <a:extLst>
                  <a:ext uri="{FF2B5EF4-FFF2-40B4-BE49-F238E27FC236}">
                    <a16:creationId xmlns:a16="http://schemas.microsoft.com/office/drawing/2014/main" id="{2E0B16B3-F2F3-2C48-B2D9-7825734D0A01}"/>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A</a:t>
                </a:r>
              </a:p>
            </p:txBody>
          </p:sp>
          <p:sp>
            <p:nvSpPr>
              <p:cNvPr id="271" name="Text Box 108">
                <a:extLst>
                  <a:ext uri="{FF2B5EF4-FFF2-40B4-BE49-F238E27FC236}">
                    <a16:creationId xmlns:a16="http://schemas.microsoft.com/office/drawing/2014/main" id="{F159ED48-E177-7C41-B64B-06B2B085521B}"/>
                  </a:ext>
                </a:extLst>
              </p:cNvPr>
              <p:cNvSpPr txBox="1">
                <a:spLocks noChangeArrowheads="1"/>
              </p:cNvSpPr>
              <p:nvPr/>
            </p:nvSpPr>
            <p:spPr bwMode="auto">
              <a:xfrm>
                <a:off x="4904340" y="2259358"/>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B</a:t>
                </a:r>
              </a:p>
            </p:txBody>
          </p:sp>
          <p:sp>
            <p:nvSpPr>
              <p:cNvPr id="272" name="Line 141">
                <a:extLst>
                  <a:ext uri="{FF2B5EF4-FFF2-40B4-BE49-F238E27FC236}">
                    <a16:creationId xmlns:a16="http://schemas.microsoft.com/office/drawing/2014/main" id="{0635167B-2AF3-A14C-85E2-3598CB9CF52F}"/>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73" name="Text Box 143">
                <a:extLst>
                  <a:ext uri="{FF2B5EF4-FFF2-40B4-BE49-F238E27FC236}">
                    <a16:creationId xmlns:a16="http://schemas.microsoft.com/office/drawing/2014/main" id="{87A044D8-2093-0E46-9D20-BAE30730DC1F}"/>
                  </a:ext>
                </a:extLst>
              </p:cNvPr>
              <p:cNvSpPr txBox="1">
                <a:spLocks noChangeArrowheads="1"/>
              </p:cNvSpPr>
              <p:nvPr/>
            </p:nvSpPr>
            <p:spPr bwMode="auto">
              <a:xfrm>
                <a:off x="3737526" y="2881657"/>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sp>
            <p:nvSpPr>
              <p:cNvPr id="274" name="Text Box 144">
                <a:extLst>
                  <a:ext uri="{FF2B5EF4-FFF2-40B4-BE49-F238E27FC236}">
                    <a16:creationId xmlns:a16="http://schemas.microsoft.com/office/drawing/2014/main" id="{F207BD95-5E7A-4D4E-BE7D-41925B60863F}"/>
                  </a:ext>
                </a:extLst>
              </p:cNvPr>
              <p:cNvSpPr txBox="1">
                <a:spLocks noChangeArrowheads="1"/>
              </p:cNvSpPr>
              <p:nvPr/>
            </p:nvSpPr>
            <p:spPr bwMode="auto">
              <a:xfrm>
                <a:off x="4783689" y="2883245"/>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grpSp>
            <p:nvGrpSpPr>
              <p:cNvPr id="275" name="Group 274">
                <a:extLst>
                  <a:ext uri="{FF2B5EF4-FFF2-40B4-BE49-F238E27FC236}">
                    <a16:creationId xmlns:a16="http://schemas.microsoft.com/office/drawing/2014/main" id="{4A073E69-860F-5249-AFC4-C4A38D391439}"/>
                  </a:ext>
                </a:extLst>
              </p:cNvPr>
              <p:cNvGrpSpPr/>
              <p:nvPr/>
            </p:nvGrpSpPr>
            <p:grpSpPr>
              <a:xfrm>
                <a:off x="3670217" y="2586162"/>
                <a:ext cx="731126" cy="344556"/>
                <a:chOff x="7493876" y="2774731"/>
                <a:chExt cx="1481958" cy="894622"/>
              </a:xfrm>
            </p:grpSpPr>
            <p:sp>
              <p:nvSpPr>
                <p:cNvPr id="284" name="Freeform 283">
                  <a:extLst>
                    <a:ext uri="{FF2B5EF4-FFF2-40B4-BE49-F238E27FC236}">
                      <a16:creationId xmlns:a16="http://schemas.microsoft.com/office/drawing/2014/main" id="{F8A16A7C-85C7-A24F-BB87-4093501CBD3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85" name="Oval 284">
                  <a:extLst>
                    <a:ext uri="{FF2B5EF4-FFF2-40B4-BE49-F238E27FC236}">
                      <a16:creationId xmlns:a16="http://schemas.microsoft.com/office/drawing/2014/main" id="{8BC5BF39-F377-5146-97C0-6EF8F1928312}"/>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86" name="Group 285">
                  <a:extLst>
                    <a:ext uri="{FF2B5EF4-FFF2-40B4-BE49-F238E27FC236}">
                      <a16:creationId xmlns:a16="http://schemas.microsoft.com/office/drawing/2014/main" id="{591C4487-83B3-D542-ADA7-A3219B9450D3}"/>
                    </a:ext>
                  </a:extLst>
                </p:cNvPr>
                <p:cNvGrpSpPr/>
                <p:nvPr/>
              </p:nvGrpSpPr>
              <p:grpSpPr>
                <a:xfrm>
                  <a:off x="7713663" y="2848339"/>
                  <a:ext cx="1042107" cy="425543"/>
                  <a:chOff x="7786941" y="2884917"/>
                  <a:chExt cx="897649" cy="353919"/>
                </a:xfrm>
              </p:grpSpPr>
              <p:sp>
                <p:nvSpPr>
                  <p:cNvPr id="287" name="Freeform 286">
                    <a:extLst>
                      <a:ext uri="{FF2B5EF4-FFF2-40B4-BE49-F238E27FC236}">
                        <a16:creationId xmlns:a16="http://schemas.microsoft.com/office/drawing/2014/main" id="{587D49BB-7359-F14F-9FAA-DBE4B215BD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8" name="Freeform 287">
                    <a:extLst>
                      <a:ext uri="{FF2B5EF4-FFF2-40B4-BE49-F238E27FC236}">
                        <a16:creationId xmlns:a16="http://schemas.microsoft.com/office/drawing/2014/main" id="{A081F8B5-4855-AD41-8946-CFB9780B4B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9" name="Freeform 288">
                    <a:extLst>
                      <a:ext uri="{FF2B5EF4-FFF2-40B4-BE49-F238E27FC236}">
                        <a16:creationId xmlns:a16="http://schemas.microsoft.com/office/drawing/2014/main" id="{12524264-0777-0C42-AF6A-3CBF1F755F5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90" name="Freeform 289">
                    <a:extLst>
                      <a:ext uri="{FF2B5EF4-FFF2-40B4-BE49-F238E27FC236}">
                        <a16:creationId xmlns:a16="http://schemas.microsoft.com/office/drawing/2014/main" id="{FF4F4DB1-DF2D-BD4D-8E20-DCBADE21EC3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76" name="Group 275">
                <a:extLst>
                  <a:ext uri="{FF2B5EF4-FFF2-40B4-BE49-F238E27FC236}">
                    <a16:creationId xmlns:a16="http://schemas.microsoft.com/office/drawing/2014/main" id="{B5FF489C-4A51-4246-9098-943E871C0053}"/>
                  </a:ext>
                </a:extLst>
              </p:cNvPr>
              <p:cNvGrpSpPr/>
              <p:nvPr/>
            </p:nvGrpSpPr>
            <p:grpSpPr>
              <a:xfrm>
                <a:off x="4703149" y="2589549"/>
                <a:ext cx="731126" cy="344556"/>
                <a:chOff x="7493876" y="2774731"/>
                <a:chExt cx="1481958" cy="894622"/>
              </a:xfrm>
            </p:grpSpPr>
            <p:sp>
              <p:nvSpPr>
                <p:cNvPr id="277" name="Freeform 276">
                  <a:extLst>
                    <a:ext uri="{FF2B5EF4-FFF2-40B4-BE49-F238E27FC236}">
                      <a16:creationId xmlns:a16="http://schemas.microsoft.com/office/drawing/2014/main" id="{DF781C98-CD40-6448-A759-51A33B9B786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78" name="Oval 277">
                  <a:extLst>
                    <a:ext uri="{FF2B5EF4-FFF2-40B4-BE49-F238E27FC236}">
                      <a16:creationId xmlns:a16="http://schemas.microsoft.com/office/drawing/2014/main" id="{1ED403CB-BAEA-6B47-A295-E1B338E8108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79" name="Group 278">
                  <a:extLst>
                    <a:ext uri="{FF2B5EF4-FFF2-40B4-BE49-F238E27FC236}">
                      <a16:creationId xmlns:a16="http://schemas.microsoft.com/office/drawing/2014/main" id="{B654F614-FA15-3B4E-AF13-036BBC0D152E}"/>
                    </a:ext>
                  </a:extLst>
                </p:cNvPr>
                <p:cNvGrpSpPr/>
                <p:nvPr/>
              </p:nvGrpSpPr>
              <p:grpSpPr>
                <a:xfrm>
                  <a:off x="7713663" y="2848339"/>
                  <a:ext cx="1042107" cy="425543"/>
                  <a:chOff x="7786941" y="2884917"/>
                  <a:chExt cx="897649" cy="353919"/>
                </a:xfrm>
              </p:grpSpPr>
              <p:sp>
                <p:nvSpPr>
                  <p:cNvPr id="280" name="Freeform 279">
                    <a:extLst>
                      <a:ext uri="{FF2B5EF4-FFF2-40B4-BE49-F238E27FC236}">
                        <a16:creationId xmlns:a16="http://schemas.microsoft.com/office/drawing/2014/main" id="{3010894A-4D62-8948-8AAC-9B942BF5F27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1" name="Freeform 280">
                    <a:extLst>
                      <a:ext uri="{FF2B5EF4-FFF2-40B4-BE49-F238E27FC236}">
                        <a16:creationId xmlns:a16="http://schemas.microsoft.com/office/drawing/2014/main" id="{27D3A458-EB4A-F945-B4E8-15003E8491A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2" name="Freeform 281">
                    <a:extLst>
                      <a:ext uri="{FF2B5EF4-FFF2-40B4-BE49-F238E27FC236}">
                        <a16:creationId xmlns:a16="http://schemas.microsoft.com/office/drawing/2014/main" id="{CEF2E442-594C-4E44-B866-4A37719675A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3" name="Freeform 282">
                    <a:extLst>
                      <a:ext uri="{FF2B5EF4-FFF2-40B4-BE49-F238E27FC236}">
                        <a16:creationId xmlns:a16="http://schemas.microsoft.com/office/drawing/2014/main" id="{4AEACB60-4D98-B143-9AD1-BDCACC68427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nvGrpSpPr>
            <p:cNvPr id="291" name="Group 290">
              <a:extLst>
                <a:ext uri="{FF2B5EF4-FFF2-40B4-BE49-F238E27FC236}">
                  <a16:creationId xmlns:a16="http://schemas.microsoft.com/office/drawing/2014/main" id="{6CD9FE67-1834-004F-B7B8-EC2ACE51FC02}"/>
                </a:ext>
              </a:extLst>
            </p:cNvPr>
            <p:cNvGrpSpPr/>
            <p:nvPr/>
          </p:nvGrpSpPr>
          <p:grpSpPr>
            <a:xfrm>
              <a:off x="7734300" y="1138202"/>
              <a:ext cx="1770063" cy="997982"/>
              <a:chOff x="3670217" y="2254595"/>
              <a:chExt cx="1770063" cy="997982"/>
            </a:xfrm>
          </p:grpSpPr>
          <p:sp>
            <p:nvSpPr>
              <p:cNvPr id="292" name="Text Box 92">
                <a:extLst>
                  <a:ext uri="{FF2B5EF4-FFF2-40B4-BE49-F238E27FC236}">
                    <a16:creationId xmlns:a16="http://schemas.microsoft.com/office/drawing/2014/main" id="{4E1422BC-3A6A-6B44-A701-1A4C4A646A43}"/>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E</a:t>
                </a:r>
              </a:p>
            </p:txBody>
          </p:sp>
          <p:sp>
            <p:nvSpPr>
              <p:cNvPr id="293" name="Text Box 108">
                <a:extLst>
                  <a:ext uri="{FF2B5EF4-FFF2-40B4-BE49-F238E27FC236}">
                    <a16:creationId xmlns:a16="http://schemas.microsoft.com/office/drawing/2014/main" id="{6FC6F4F3-504B-0A4C-99EE-AAE5D6AF031D}"/>
                  </a:ext>
                </a:extLst>
              </p:cNvPr>
              <p:cNvSpPr txBox="1">
                <a:spLocks noChangeArrowheads="1"/>
              </p:cNvSpPr>
              <p:nvPr/>
            </p:nvSpPr>
            <p:spPr bwMode="auto">
              <a:xfrm>
                <a:off x="4888228" y="2259358"/>
                <a:ext cx="387285"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F</a:t>
                </a:r>
              </a:p>
            </p:txBody>
          </p:sp>
          <p:sp>
            <p:nvSpPr>
              <p:cNvPr id="294" name="Line 141">
                <a:extLst>
                  <a:ext uri="{FF2B5EF4-FFF2-40B4-BE49-F238E27FC236}">
                    <a16:creationId xmlns:a16="http://schemas.microsoft.com/office/drawing/2014/main" id="{90DCDADB-6394-A84B-BA95-D8E0F9F2E56B}"/>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95" name="Text Box 143">
                <a:extLst>
                  <a:ext uri="{FF2B5EF4-FFF2-40B4-BE49-F238E27FC236}">
                    <a16:creationId xmlns:a16="http://schemas.microsoft.com/office/drawing/2014/main" id="{18B62826-F267-0049-A412-8619C591057C}"/>
                  </a:ext>
                </a:extLst>
              </p:cNvPr>
              <p:cNvSpPr txBox="1">
                <a:spLocks noChangeArrowheads="1"/>
              </p:cNvSpPr>
              <p:nvPr/>
            </p:nvSpPr>
            <p:spPr bwMode="auto">
              <a:xfrm>
                <a:off x="3737526" y="2881657"/>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sp>
            <p:nvSpPr>
              <p:cNvPr id="296" name="Text Box 144">
                <a:extLst>
                  <a:ext uri="{FF2B5EF4-FFF2-40B4-BE49-F238E27FC236}">
                    <a16:creationId xmlns:a16="http://schemas.microsoft.com/office/drawing/2014/main" id="{DB366F83-3A13-0249-80B2-D1CABCF6E95E}"/>
                  </a:ext>
                </a:extLst>
              </p:cNvPr>
              <p:cNvSpPr txBox="1">
                <a:spLocks noChangeArrowheads="1"/>
              </p:cNvSpPr>
              <p:nvPr/>
            </p:nvSpPr>
            <p:spPr bwMode="auto">
              <a:xfrm>
                <a:off x="4783689" y="2883245"/>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grpSp>
            <p:nvGrpSpPr>
              <p:cNvPr id="297" name="Group 296">
                <a:extLst>
                  <a:ext uri="{FF2B5EF4-FFF2-40B4-BE49-F238E27FC236}">
                    <a16:creationId xmlns:a16="http://schemas.microsoft.com/office/drawing/2014/main" id="{811A1EE5-9CFA-BD4B-BC78-E2DEBF1097E9}"/>
                  </a:ext>
                </a:extLst>
              </p:cNvPr>
              <p:cNvGrpSpPr/>
              <p:nvPr/>
            </p:nvGrpSpPr>
            <p:grpSpPr>
              <a:xfrm>
                <a:off x="3670217" y="2586162"/>
                <a:ext cx="731126" cy="344556"/>
                <a:chOff x="7493876" y="2774731"/>
                <a:chExt cx="1481958" cy="894622"/>
              </a:xfrm>
            </p:grpSpPr>
            <p:sp>
              <p:nvSpPr>
                <p:cNvPr id="306" name="Freeform 305">
                  <a:extLst>
                    <a:ext uri="{FF2B5EF4-FFF2-40B4-BE49-F238E27FC236}">
                      <a16:creationId xmlns:a16="http://schemas.microsoft.com/office/drawing/2014/main" id="{3A74AED1-F0EA-0349-BE24-8AC41946D59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07" name="Oval 306">
                  <a:extLst>
                    <a:ext uri="{FF2B5EF4-FFF2-40B4-BE49-F238E27FC236}">
                      <a16:creationId xmlns:a16="http://schemas.microsoft.com/office/drawing/2014/main" id="{EBB7616C-F33E-2141-AF35-E0C68F6DA62F}"/>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08" name="Group 307">
                  <a:extLst>
                    <a:ext uri="{FF2B5EF4-FFF2-40B4-BE49-F238E27FC236}">
                      <a16:creationId xmlns:a16="http://schemas.microsoft.com/office/drawing/2014/main" id="{885BD882-BC9B-DD4D-8DDC-9F2AB1102AB3}"/>
                    </a:ext>
                  </a:extLst>
                </p:cNvPr>
                <p:cNvGrpSpPr/>
                <p:nvPr/>
              </p:nvGrpSpPr>
              <p:grpSpPr>
                <a:xfrm>
                  <a:off x="7713663" y="2848339"/>
                  <a:ext cx="1042107" cy="425543"/>
                  <a:chOff x="7786941" y="2884917"/>
                  <a:chExt cx="897649" cy="353919"/>
                </a:xfrm>
              </p:grpSpPr>
              <p:sp>
                <p:nvSpPr>
                  <p:cNvPr id="309" name="Freeform 308">
                    <a:extLst>
                      <a:ext uri="{FF2B5EF4-FFF2-40B4-BE49-F238E27FC236}">
                        <a16:creationId xmlns:a16="http://schemas.microsoft.com/office/drawing/2014/main" id="{B030882F-74FC-2847-B126-520EE17206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0" name="Freeform 309">
                    <a:extLst>
                      <a:ext uri="{FF2B5EF4-FFF2-40B4-BE49-F238E27FC236}">
                        <a16:creationId xmlns:a16="http://schemas.microsoft.com/office/drawing/2014/main" id="{0E0B8D53-1472-DA4D-AE29-51DFB53F576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1" name="Freeform 310">
                    <a:extLst>
                      <a:ext uri="{FF2B5EF4-FFF2-40B4-BE49-F238E27FC236}">
                        <a16:creationId xmlns:a16="http://schemas.microsoft.com/office/drawing/2014/main" id="{058C9471-DEE6-AE4F-8503-FD801436B8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2" name="Freeform 311">
                    <a:extLst>
                      <a:ext uri="{FF2B5EF4-FFF2-40B4-BE49-F238E27FC236}">
                        <a16:creationId xmlns:a16="http://schemas.microsoft.com/office/drawing/2014/main" id="{4F6D32E6-1749-DB4A-918E-98CCCD97251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98" name="Group 297">
                <a:extLst>
                  <a:ext uri="{FF2B5EF4-FFF2-40B4-BE49-F238E27FC236}">
                    <a16:creationId xmlns:a16="http://schemas.microsoft.com/office/drawing/2014/main" id="{1DD98ED7-111E-954C-9872-D507EE1D2233}"/>
                  </a:ext>
                </a:extLst>
              </p:cNvPr>
              <p:cNvGrpSpPr/>
              <p:nvPr/>
            </p:nvGrpSpPr>
            <p:grpSpPr>
              <a:xfrm>
                <a:off x="4703149" y="2589549"/>
                <a:ext cx="731126" cy="344556"/>
                <a:chOff x="7493876" y="2774731"/>
                <a:chExt cx="1481958" cy="894622"/>
              </a:xfrm>
            </p:grpSpPr>
            <p:sp>
              <p:nvSpPr>
                <p:cNvPr id="299" name="Freeform 298">
                  <a:extLst>
                    <a:ext uri="{FF2B5EF4-FFF2-40B4-BE49-F238E27FC236}">
                      <a16:creationId xmlns:a16="http://schemas.microsoft.com/office/drawing/2014/main" id="{CE90818F-F7C9-8A4F-8C28-757575ABCAB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00" name="Oval 299">
                  <a:extLst>
                    <a:ext uri="{FF2B5EF4-FFF2-40B4-BE49-F238E27FC236}">
                      <a16:creationId xmlns:a16="http://schemas.microsoft.com/office/drawing/2014/main" id="{CEC89AC2-BDFD-AC4F-A951-DA4DB8992147}"/>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01" name="Group 300">
                  <a:extLst>
                    <a:ext uri="{FF2B5EF4-FFF2-40B4-BE49-F238E27FC236}">
                      <a16:creationId xmlns:a16="http://schemas.microsoft.com/office/drawing/2014/main" id="{695885FE-D0A9-7145-8BD4-0AB640821495}"/>
                    </a:ext>
                  </a:extLst>
                </p:cNvPr>
                <p:cNvGrpSpPr/>
                <p:nvPr/>
              </p:nvGrpSpPr>
              <p:grpSpPr>
                <a:xfrm>
                  <a:off x="7713663" y="2848339"/>
                  <a:ext cx="1042107" cy="425543"/>
                  <a:chOff x="7786941" y="2884917"/>
                  <a:chExt cx="897649" cy="353919"/>
                </a:xfrm>
              </p:grpSpPr>
              <p:sp>
                <p:nvSpPr>
                  <p:cNvPr id="302" name="Freeform 301">
                    <a:extLst>
                      <a:ext uri="{FF2B5EF4-FFF2-40B4-BE49-F238E27FC236}">
                        <a16:creationId xmlns:a16="http://schemas.microsoft.com/office/drawing/2014/main" id="{C9F1E916-77E1-464F-9DA9-93947467D4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3" name="Freeform 302">
                    <a:extLst>
                      <a:ext uri="{FF2B5EF4-FFF2-40B4-BE49-F238E27FC236}">
                        <a16:creationId xmlns:a16="http://schemas.microsoft.com/office/drawing/2014/main" id="{D22EEE39-5B44-8441-8AA6-2DC425C85D5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4" name="Freeform 303">
                    <a:extLst>
                      <a:ext uri="{FF2B5EF4-FFF2-40B4-BE49-F238E27FC236}">
                        <a16:creationId xmlns:a16="http://schemas.microsoft.com/office/drawing/2014/main" id="{9DADD220-43C9-0848-95D9-0ED14661FF9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5" name="Freeform 304">
                    <a:extLst>
                      <a:ext uri="{FF2B5EF4-FFF2-40B4-BE49-F238E27FC236}">
                        <a16:creationId xmlns:a16="http://schemas.microsoft.com/office/drawing/2014/main" id="{FF7D8FD7-6529-FE42-B132-6122472F475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sp>
        <p:nvSpPr>
          <p:cNvPr id="163" name="Text Box 75">
            <a:extLst>
              <a:ext uri="{FF2B5EF4-FFF2-40B4-BE49-F238E27FC236}">
                <a16:creationId xmlns:a16="http://schemas.microsoft.com/office/drawing/2014/main" id="{FB50B50B-04E2-EF4D-9B48-0A32C12C8284}"/>
              </a:ext>
            </a:extLst>
          </p:cNvPr>
          <p:cNvSpPr txBox="1">
            <a:spLocks noChangeArrowheads="1"/>
          </p:cNvSpPr>
          <p:nvPr/>
        </p:nvSpPr>
        <p:spPr bwMode="auto">
          <a:xfrm>
            <a:off x="645796" y="4023961"/>
            <a:ext cx="19202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800" dirty="0">
                <a:solidFill>
                  <a:prstClr val="black"/>
                </a:solidFill>
                <a:latin typeface="Calibri" panose="020F0502020204030204"/>
              </a:rPr>
              <a:t>IPv4 tunnel connecting two IPv6 routers</a:t>
            </a:r>
          </a:p>
        </p:txBody>
      </p:sp>
      <p:grpSp>
        <p:nvGrpSpPr>
          <p:cNvPr id="6" name="Group 5">
            <a:extLst>
              <a:ext uri="{FF2B5EF4-FFF2-40B4-BE49-F238E27FC236}">
                <a16:creationId xmlns:a16="http://schemas.microsoft.com/office/drawing/2014/main" id="{0D8AE034-D79C-534D-95B0-02574300A754}"/>
              </a:ext>
            </a:extLst>
          </p:cNvPr>
          <p:cNvGrpSpPr/>
          <p:nvPr/>
        </p:nvGrpSpPr>
        <p:grpSpPr>
          <a:xfrm>
            <a:off x="4502975" y="4110466"/>
            <a:ext cx="1851740" cy="429816"/>
            <a:chOff x="6003967" y="4337621"/>
            <a:chExt cx="2468986" cy="573088"/>
          </a:xfrm>
        </p:grpSpPr>
        <p:sp>
          <p:nvSpPr>
            <p:cNvPr id="162" name="Rectangle 67">
              <a:extLst>
                <a:ext uri="{FF2B5EF4-FFF2-40B4-BE49-F238E27FC236}">
                  <a16:creationId xmlns:a16="http://schemas.microsoft.com/office/drawing/2014/main" id="{CE8FB727-F1B4-8A44-A551-3B252C50F2DD}"/>
                </a:ext>
              </a:extLst>
            </p:cNvPr>
            <p:cNvSpPr>
              <a:spLocks noChangeArrowheads="1"/>
            </p:cNvSpPr>
            <p:nvPr/>
          </p:nvSpPr>
          <p:spPr bwMode="auto">
            <a:xfrm>
              <a:off x="6003967" y="4844034"/>
              <a:ext cx="2405062" cy="66675"/>
            </a:xfrm>
            <a:prstGeom prst="rect">
              <a:avLst/>
            </a:prstGeom>
            <a:solidFill>
              <a:srgbClr val="CC0000"/>
            </a:soli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166" name="Text Box 244">
              <a:extLst>
                <a:ext uri="{FF2B5EF4-FFF2-40B4-BE49-F238E27FC236}">
                  <a16:creationId xmlns:a16="http://schemas.microsoft.com/office/drawing/2014/main" id="{A91EB700-6F66-3246-A11B-80477B368243}"/>
                </a:ext>
              </a:extLst>
            </p:cNvPr>
            <p:cNvSpPr txBox="1">
              <a:spLocks noChangeArrowheads="1"/>
            </p:cNvSpPr>
            <p:nvPr/>
          </p:nvSpPr>
          <p:spPr bwMode="auto">
            <a:xfrm>
              <a:off x="6076571" y="4337621"/>
              <a:ext cx="2396382" cy="5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i="1" dirty="0">
                  <a:solidFill>
                    <a:srgbClr val="CC0000"/>
                  </a:solidFill>
                </a:rPr>
                <a:t>IPv4 tunnel </a:t>
              </a:r>
            </a:p>
            <a:p>
              <a:pPr algn="ctr" defTabSz="685800" eaLnBrk="1" fontAlgn="auto" hangingPunct="1">
                <a:lnSpc>
                  <a:spcPct val="85000"/>
                </a:lnSpc>
                <a:spcBef>
                  <a:spcPts val="0"/>
                </a:spcBef>
                <a:spcAft>
                  <a:spcPts val="0"/>
                </a:spcAft>
                <a:defRPr/>
              </a:pPr>
              <a:r>
                <a:rPr lang="en-US" altLang="en-US" sz="1200" i="1" dirty="0">
                  <a:solidFill>
                    <a:srgbClr val="CC0000"/>
                  </a:solidFill>
                </a:rPr>
                <a:t>connecting IPv6 routers</a:t>
              </a:r>
            </a:p>
          </p:txBody>
        </p:sp>
      </p:grpSp>
      <p:grpSp>
        <p:nvGrpSpPr>
          <p:cNvPr id="170" name="Group 169">
            <a:extLst>
              <a:ext uri="{FF2B5EF4-FFF2-40B4-BE49-F238E27FC236}">
                <a16:creationId xmlns:a16="http://schemas.microsoft.com/office/drawing/2014/main" id="{5717A5F8-6A67-F94C-8EEA-6348C9FB101E}"/>
              </a:ext>
            </a:extLst>
          </p:cNvPr>
          <p:cNvGrpSpPr/>
          <p:nvPr/>
        </p:nvGrpSpPr>
        <p:grpSpPr>
          <a:xfrm>
            <a:off x="3211654" y="4109173"/>
            <a:ext cx="1323044" cy="747298"/>
            <a:chOff x="3670217" y="2254595"/>
            <a:chExt cx="1764058" cy="996396"/>
          </a:xfrm>
        </p:grpSpPr>
        <p:sp>
          <p:nvSpPr>
            <p:cNvPr id="193" name="Text Box 92">
              <a:extLst>
                <a:ext uri="{FF2B5EF4-FFF2-40B4-BE49-F238E27FC236}">
                  <a16:creationId xmlns:a16="http://schemas.microsoft.com/office/drawing/2014/main" id="{110A739D-9FA4-5C47-9104-5929CA817F9D}"/>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A</a:t>
              </a:r>
            </a:p>
          </p:txBody>
        </p:sp>
        <p:sp>
          <p:nvSpPr>
            <p:cNvPr id="194" name="Text Box 108">
              <a:extLst>
                <a:ext uri="{FF2B5EF4-FFF2-40B4-BE49-F238E27FC236}">
                  <a16:creationId xmlns:a16="http://schemas.microsoft.com/office/drawing/2014/main" id="{D710AC33-80F8-0849-B632-29F5506A7A13}"/>
                </a:ext>
              </a:extLst>
            </p:cNvPr>
            <p:cNvSpPr txBox="1">
              <a:spLocks noChangeArrowheads="1"/>
            </p:cNvSpPr>
            <p:nvPr/>
          </p:nvSpPr>
          <p:spPr bwMode="auto">
            <a:xfrm>
              <a:off x="4904341" y="2259358"/>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B</a:t>
              </a:r>
            </a:p>
          </p:txBody>
        </p:sp>
        <p:sp>
          <p:nvSpPr>
            <p:cNvPr id="195" name="Line 141">
              <a:extLst>
                <a:ext uri="{FF2B5EF4-FFF2-40B4-BE49-F238E27FC236}">
                  <a16:creationId xmlns:a16="http://schemas.microsoft.com/office/drawing/2014/main" id="{9A1C543F-3CDB-554A-BF74-D3706C6A874D}"/>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96" name="Text Box 143">
              <a:extLst>
                <a:ext uri="{FF2B5EF4-FFF2-40B4-BE49-F238E27FC236}">
                  <a16:creationId xmlns:a16="http://schemas.microsoft.com/office/drawing/2014/main" id="{41501492-C9AF-D446-A361-BE77117F4623}"/>
                </a:ext>
              </a:extLst>
            </p:cNvPr>
            <p:cNvSpPr txBox="1">
              <a:spLocks noChangeArrowheads="1"/>
            </p:cNvSpPr>
            <p:nvPr/>
          </p:nvSpPr>
          <p:spPr bwMode="auto">
            <a:xfrm>
              <a:off x="3737528" y="2881659"/>
              <a:ext cx="6565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grpSp>
          <p:nvGrpSpPr>
            <p:cNvPr id="198" name="Group 197">
              <a:extLst>
                <a:ext uri="{FF2B5EF4-FFF2-40B4-BE49-F238E27FC236}">
                  <a16:creationId xmlns:a16="http://schemas.microsoft.com/office/drawing/2014/main" id="{3C95A897-355A-434E-8FC1-AC906BACDFA2}"/>
                </a:ext>
              </a:extLst>
            </p:cNvPr>
            <p:cNvGrpSpPr/>
            <p:nvPr/>
          </p:nvGrpSpPr>
          <p:grpSpPr>
            <a:xfrm>
              <a:off x="3670217" y="2586162"/>
              <a:ext cx="731126" cy="344556"/>
              <a:chOff x="7493876" y="2774731"/>
              <a:chExt cx="1481958" cy="894622"/>
            </a:xfrm>
          </p:grpSpPr>
          <p:sp>
            <p:nvSpPr>
              <p:cNvPr id="207" name="Freeform 206">
                <a:extLst>
                  <a:ext uri="{FF2B5EF4-FFF2-40B4-BE49-F238E27FC236}">
                    <a16:creationId xmlns:a16="http://schemas.microsoft.com/office/drawing/2014/main" id="{F5D7D63D-A986-594D-B694-9FF0F91833F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08" name="Oval 207">
                <a:extLst>
                  <a:ext uri="{FF2B5EF4-FFF2-40B4-BE49-F238E27FC236}">
                    <a16:creationId xmlns:a16="http://schemas.microsoft.com/office/drawing/2014/main" id="{03782CCC-03BC-1347-85AF-252A8230B48E}"/>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09" name="Group 208">
                <a:extLst>
                  <a:ext uri="{FF2B5EF4-FFF2-40B4-BE49-F238E27FC236}">
                    <a16:creationId xmlns:a16="http://schemas.microsoft.com/office/drawing/2014/main" id="{D0C68AB1-2CD1-EF47-9AC5-019E3F989517}"/>
                  </a:ext>
                </a:extLst>
              </p:cNvPr>
              <p:cNvGrpSpPr/>
              <p:nvPr/>
            </p:nvGrpSpPr>
            <p:grpSpPr>
              <a:xfrm>
                <a:off x="7713663" y="2848339"/>
                <a:ext cx="1042107" cy="425543"/>
                <a:chOff x="7786941" y="2884917"/>
                <a:chExt cx="897649" cy="353919"/>
              </a:xfrm>
            </p:grpSpPr>
            <p:sp>
              <p:nvSpPr>
                <p:cNvPr id="210" name="Freeform 209">
                  <a:extLst>
                    <a:ext uri="{FF2B5EF4-FFF2-40B4-BE49-F238E27FC236}">
                      <a16:creationId xmlns:a16="http://schemas.microsoft.com/office/drawing/2014/main" id="{754B7C8E-ACD3-134F-A641-0F91DB79F62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1" name="Freeform 210">
                  <a:extLst>
                    <a:ext uri="{FF2B5EF4-FFF2-40B4-BE49-F238E27FC236}">
                      <a16:creationId xmlns:a16="http://schemas.microsoft.com/office/drawing/2014/main" id="{589DAF1B-A291-514E-BCC4-CC91BB57E76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2" name="Freeform 211">
                  <a:extLst>
                    <a:ext uri="{FF2B5EF4-FFF2-40B4-BE49-F238E27FC236}">
                      <a16:creationId xmlns:a16="http://schemas.microsoft.com/office/drawing/2014/main" id="{73F904F0-F412-7046-AFD0-5002E429B42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13" name="Freeform 212">
                  <a:extLst>
                    <a:ext uri="{FF2B5EF4-FFF2-40B4-BE49-F238E27FC236}">
                      <a16:creationId xmlns:a16="http://schemas.microsoft.com/office/drawing/2014/main" id="{2CCAAB12-A1D8-6C47-878C-46C3E550321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199" name="Group 198">
              <a:extLst>
                <a:ext uri="{FF2B5EF4-FFF2-40B4-BE49-F238E27FC236}">
                  <a16:creationId xmlns:a16="http://schemas.microsoft.com/office/drawing/2014/main" id="{4C090431-938E-B942-A193-8E47FD1AF9E2}"/>
                </a:ext>
              </a:extLst>
            </p:cNvPr>
            <p:cNvGrpSpPr/>
            <p:nvPr/>
          </p:nvGrpSpPr>
          <p:grpSpPr>
            <a:xfrm>
              <a:off x="4703149" y="2589549"/>
              <a:ext cx="731126" cy="344556"/>
              <a:chOff x="7493876" y="2774731"/>
              <a:chExt cx="1481958" cy="894622"/>
            </a:xfrm>
          </p:grpSpPr>
          <p:sp>
            <p:nvSpPr>
              <p:cNvPr id="200" name="Freeform 199">
                <a:extLst>
                  <a:ext uri="{FF2B5EF4-FFF2-40B4-BE49-F238E27FC236}">
                    <a16:creationId xmlns:a16="http://schemas.microsoft.com/office/drawing/2014/main" id="{49C4F992-971D-C440-8D04-53AAC987516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01" name="Oval 200">
                <a:extLst>
                  <a:ext uri="{FF2B5EF4-FFF2-40B4-BE49-F238E27FC236}">
                    <a16:creationId xmlns:a16="http://schemas.microsoft.com/office/drawing/2014/main" id="{62AF8A24-58CD-2145-A9F9-90CE2DC79A5F}"/>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02" name="Group 201">
                <a:extLst>
                  <a:ext uri="{FF2B5EF4-FFF2-40B4-BE49-F238E27FC236}">
                    <a16:creationId xmlns:a16="http://schemas.microsoft.com/office/drawing/2014/main" id="{0A93BC7E-4BC1-2643-93F4-2AD46845796A}"/>
                  </a:ext>
                </a:extLst>
              </p:cNvPr>
              <p:cNvGrpSpPr/>
              <p:nvPr/>
            </p:nvGrpSpPr>
            <p:grpSpPr>
              <a:xfrm>
                <a:off x="7713663" y="2848339"/>
                <a:ext cx="1042107" cy="425543"/>
                <a:chOff x="7786941" y="2884917"/>
                <a:chExt cx="897649" cy="353919"/>
              </a:xfrm>
            </p:grpSpPr>
            <p:sp>
              <p:nvSpPr>
                <p:cNvPr id="203" name="Freeform 202">
                  <a:extLst>
                    <a:ext uri="{FF2B5EF4-FFF2-40B4-BE49-F238E27FC236}">
                      <a16:creationId xmlns:a16="http://schemas.microsoft.com/office/drawing/2014/main" id="{A7323785-B63B-DE4E-A5EC-E9792BB5D5A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04" name="Freeform 203">
                  <a:extLst>
                    <a:ext uri="{FF2B5EF4-FFF2-40B4-BE49-F238E27FC236}">
                      <a16:creationId xmlns:a16="http://schemas.microsoft.com/office/drawing/2014/main" id="{DEFF491D-45FE-0644-B21D-93F32323151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05" name="Freeform 204">
                  <a:extLst>
                    <a:ext uri="{FF2B5EF4-FFF2-40B4-BE49-F238E27FC236}">
                      <a16:creationId xmlns:a16="http://schemas.microsoft.com/office/drawing/2014/main" id="{D7229D85-BA96-1E47-BEF3-188394D687B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06" name="Freeform 205">
                  <a:extLst>
                    <a:ext uri="{FF2B5EF4-FFF2-40B4-BE49-F238E27FC236}">
                      <a16:creationId xmlns:a16="http://schemas.microsoft.com/office/drawing/2014/main" id="{D328D7ED-E4C8-8145-91E9-1697D90D408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nvGrpSpPr>
          <p:cNvPr id="171" name="Group 170">
            <a:extLst>
              <a:ext uri="{FF2B5EF4-FFF2-40B4-BE49-F238E27FC236}">
                <a16:creationId xmlns:a16="http://schemas.microsoft.com/office/drawing/2014/main" id="{E3C42B7A-98CB-6347-8B71-39B750B4AA71}"/>
              </a:ext>
            </a:extLst>
          </p:cNvPr>
          <p:cNvGrpSpPr/>
          <p:nvPr/>
        </p:nvGrpSpPr>
        <p:grpSpPr>
          <a:xfrm>
            <a:off x="6264687" y="4131613"/>
            <a:ext cx="1327548" cy="748487"/>
            <a:chOff x="3670217" y="2254595"/>
            <a:chExt cx="1770063" cy="997982"/>
          </a:xfrm>
        </p:grpSpPr>
        <p:sp>
          <p:nvSpPr>
            <p:cNvPr id="172" name="Text Box 92">
              <a:extLst>
                <a:ext uri="{FF2B5EF4-FFF2-40B4-BE49-F238E27FC236}">
                  <a16:creationId xmlns:a16="http://schemas.microsoft.com/office/drawing/2014/main" id="{B011A2F8-9695-BA46-8CA9-E35BEA783E25}"/>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E</a:t>
              </a:r>
            </a:p>
          </p:txBody>
        </p:sp>
        <p:sp>
          <p:nvSpPr>
            <p:cNvPr id="173" name="Text Box 108">
              <a:extLst>
                <a:ext uri="{FF2B5EF4-FFF2-40B4-BE49-F238E27FC236}">
                  <a16:creationId xmlns:a16="http://schemas.microsoft.com/office/drawing/2014/main" id="{7163F02F-17ED-C44F-B86B-A1C3E5B30509}"/>
                </a:ext>
              </a:extLst>
            </p:cNvPr>
            <p:cNvSpPr txBox="1">
              <a:spLocks noChangeArrowheads="1"/>
            </p:cNvSpPr>
            <p:nvPr/>
          </p:nvSpPr>
          <p:spPr bwMode="auto">
            <a:xfrm>
              <a:off x="4888229" y="2259358"/>
              <a:ext cx="387285"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F</a:t>
              </a:r>
            </a:p>
          </p:txBody>
        </p:sp>
        <p:sp>
          <p:nvSpPr>
            <p:cNvPr id="174" name="Line 141">
              <a:extLst>
                <a:ext uri="{FF2B5EF4-FFF2-40B4-BE49-F238E27FC236}">
                  <a16:creationId xmlns:a16="http://schemas.microsoft.com/office/drawing/2014/main" id="{CBB88C7C-78E5-2740-AA9E-D60B5912D637}"/>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76" name="Text Box 144">
              <a:extLst>
                <a:ext uri="{FF2B5EF4-FFF2-40B4-BE49-F238E27FC236}">
                  <a16:creationId xmlns:a16="http://schemas.microsoft.com/office/drawing/2014/main" id="{BFE1AB9B-2EAA-3646-A298-AB413E7A5D26}"/>
                </a:ext>
              </a:extLst>
            </p:cNvPr>
            <p:cNvSpPr txBox="1">
              <a:spLocks noChangeArrowheads="1"/>
            </p:cNvSpPr>
            <p:nvPr/>
          </p:nvSpPr>
          <p:spPr bwMode="auto">
            <a:xfrm>
              <a:off x="4783690" y="2883245"/>
              <a:ext cx="6565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grpSp>
          <p:nvGrpSpPr>
            <p:cNvPr id="177" name="Group 176">
              <a:extLst>
                <a:ext uri="{FF2B5EF4-FFF2-40B4-BE49-F238E27FC236}">
                  <a16:creationId xmlns:a16="http://schemas.microsoft.com/office/drawing/2014/main" id="{2EEEE9B2-CAF4-4840-9D9B-D6AF0E983459}"/>
                </a:ext>
              </a:extLst>
            </p:cNvPr>
            <p:cNvGrpSpPr/>
            <p:nvPr/>
          </p:nvGrpSpPr>
          <p:grpSpPr>
            <a:xfrm>
              <a:off x="3670217" y="2586162"/>
              <a:ext cx="731126" cy="344556"/>
              <a:chOff x="7493876" y="2774731"/>
              <a:chExt cx="1481958" cy="894622"/>
            </a:xfrm>
          </p:grpSpPr>
          <p:sp>
            <p:nvSpPr>
              <p:cNvPr id="186" name="Freeform 185">
                <a:extLst>
                  <a:ext uri="{FF2B5EF4-FFF2-40B4-BE49-F238E27FC236}">
                    <a16:creationId xmlns:a16="http://schemas.microsoft.com/office/drawing/2014/main" id="{7E69BC95-0251-D24F-AD6E-561389FC80A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87" name="Oval 186">
                <a:extLst>
                  <a:ext uri="{FF2B5EF4-FFF2-40B4-BE49-F238E27FC236}">
                    <a16:creationId xmlns:a16="http://schemas.microsoft.com/office/drawing/2014/main" id="{6888D20B-9D89-4B4C-8E8F-1BB165CA61A6}"/>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88" name="Group 187">
                <a:extLst>
                  <a:ext uri="{FF2B5EF4-FFF2-40B4-BE49-F238E27FC236}">
                    <a16:creationId xmlns:a16="http://schemas.microsoft.com/office/drawing/2014/main" id="{C11A9864-04B0-C642-975B-2FFEB37EC0C9}"/>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F815E172-DF3B-CB47-8E92-A80C6D3657A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90" name="Freeform 189">
                  <a:extLst>
                    <a:ext uri="{FF2B5EF4-FFF2-40B4-BE49-F238E27FC236}">
                      <a16:creationId xmlns:a16="http://schemas.microsoft.com/office/drawing/2014/main" id="{5B86302E-E939-AD4E-AFF9-17636C78971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91" name="Freeform 190">
                  <a:extLst>
                    <a:ext uri="{FF2B5EF4-FFF2-40B4-BE49-F238E27FC236}">
                      <a16:creationId xmlns:a16="http://schemas.microsoft.com/office/drawing/2014/main" id="{5C5917F1-E302-CE45-8D20-9819BFA83CF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92" name="Freeform 191">
                  <a:extLst>
                    <a:ext uri="{FF2B5EF4-FFF2-40B4-BE49-F238E27FC236}">
                      <a16:creationId xmlns:a16="http://schemas.microsoft.com/office/drawing/2014/main" id="{56545F24-94D8-7C4B-9573-CCC90CEF14C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178" name="Group 177">
              <a:extLst>
                <a:ext uri="{FF2B5EF4-FFF2-40B4-BE49-F238E27FC236}">
                  <a16:creationId xmlns:a16="http://schemas.microsoft.com/office/drawing/2014/main" id="{5E0A2DE7-07A0-1247-98D1-3173BDB98A4B}"/>
                </a:ext>
              </a:extLst>
            </p:cNvPr>
            <p:cNvGrpSpPr/>
            <p:nvPr/>
          </p:nvGrpSpPr>
          <p:grpSpPr>
            <a:xfrm>
              <a:off x="4703149" y="2589549"/>
              <a:ext cx="731126" cy="344556"/>
              <a:chOff x="7493876" y="2774731"/>
              <a:chExt cx="1481958" cy="894622"/>
            </a:xfrm>
          </p:grpSpPr>
          <p:sp>
            <p:nvSpPr>
              <p:cNvPr id="179" name="Freeform 178">
                <a:extLst>
                  <a:ext uri="{FF2B5EF4-FFF2-40B4-BE49-F238E27FC236}">
                    <a16:creationId xmlns:a16="http://schemas.microsoft.com/office/drawing/2014/main" id="{10F4D360-E65F-D849-B554-1067764F2A1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80" name="Oval 179">
                <a:extLst>
                  <a:ext uri="{FF2B5EF4-FFF2-40B4-BE49-F238E27FC236}">
                    <a16:creationId xmlns:a16="http://schemas.microsoft.com/office/drawing/2014/main" id="{A6B447AA-3C49-F74C-844A-DB7E97A9C93A}"/>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81" name="Group 180">
                <a:extLst>
                  <a:ext uri="{FF2B5EF4-FFF2-40B4-BE49-F238E27FC236}">
                    <a16:creationId xmlns:a16="http://schemas.microsoft.com/office/drawing/2014/main" id="{0EA85C4B-510C-5948-A859-A34940D950C8}"/>
                  </a:ext>
                </a:extLst>
              </p:cNvPr>
              <p:cNvGrpSpPr/>
              <p:nvPr/>
            </p:nvGrpSpPr>
            <p:grpSpPr>
              <a:xfrm>
                <a:off x="7713663" y="2848339"/>
                <a:ext cx="1042107" cy="425543"/>
                <a:chOff x="7786941" y="2884917"/>
                <a:chExt cx="897649" cy="353919"/>
              </a:xfrm>
            </p:grpSpPr>
            <p:sp>
              <p:nvSpPr>
                <p:cNvPr id="182" name="Freeform 181">
                  <a:extLst>
                    <a:ext uri="{FF2B5EF4-FFF2-40B4-BE49-F238E27FC236}">
                      <a16:creationId xmlns:a16="http://schemas.microsoft.com/office/drawing/2014/main" id="{B3CC364E-1AC4-CB48-AA68-0F261278089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3" name="Freeform 182">
                  <a:extLst>
                    <a:ext uri="{FF2B5EF4-FFF2-40B4-BE49-F238E27FC236}">
                      <a16:creationId xmlns:a16="http://schemas.microsoft.com/office/drawing/2014/main" id="{B54FBD29-A743-664D-B298-216BFB6A0E3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4" name="Freeform 183">
                  <a:extLst>
                    <a:ext uri="{FF2B5EF4-FFF2-40B4-BE49-F238E27FC236}">
                      <a16:creationId xmlns:a16="http://schemas.microsoft.com/office/drawing/2014/main" id="{C611F43E-D76E-1C42-8DE4-D6081FCAEA8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5" name="Freeform 184">
                  <a:extLst>
                    <a:ext uri="{FF2B5EF4-FFF2-40B4-BE49-F238E27FC236}">
                      <a16:creationId xmlns:a16="http://schemas.microsoft.com/office/drawing/2014/main" id="{CAA4831E-FF15-F841-8C6E-C13EB5F994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nvGrpSpPr>
          <p:cNvPr id="18" name="Group 17">
            <a:extLst>
              <a:ext uri="{FF2B5EF4-FFF2-40B4-BE49-F238E27FC236}">
                <a16:creationId xmlns:a16="http://schemas.microsoft.com/office/drawing/2014/main" id="{CBFD91D7-0B04-D846-BFE6-3B2EB08046BF}"/>
              </a:ext>
            </a:extLst>
          </p:cNvPr>
          <p:cNvGrpSpPr/>
          <p:nvPr/>
        </p:nvGrpSpPr>
        <p:grpSpPr>
          <a:xfrm>
            <a:off x="2425872" y="3253740"/>
            <a:ext cx="1318707" cy="374016"/>
            <a:chOff x="3219256" y="3119120"/>
            <a:chExt cx="1758276" cy="498688"/>
          </a:xfrm>
        </p:grpSpPr>
        <p:sp>
          <p:nvSpPr>
            <p:cNvPr id="260" name="Line 57">
              <a:extLst>
                <a:ext uri="{FF2B5EF4-FFF2-40B4-BE49-F238E27FC236}">
                  <a16:creationId xmlns:a16="http://schemas.microsoft.com/office/drawing/2014/main" id="{444FAB3B-BC2A-474E-B52E-60DB95D89EE7}"/>
                </a:ext>
              </a:extLst>
            </p:cNvPr>
            <p:cNvSpPr>
              <a:spLocks noChangeShapeType="1"/>
            </p:cNvSpPr>
            <p:nvPr/>
          </p:nvSpPr>
          <p:spPr bwMode="auto">
            <a:xfrm flipH="1">
              <a:off x="4023360" y="3119120"/>
              <a:ext cx="954172" cy="18796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1" name="Text Box 18">
              <a:extLst>
                <a:ext uri="{FF2B5EF4-FFF2-40B4-BE49-F238E27FC236}">
                  <a16:creationId xmlns:a16="http://schemas.microsoft.com/office/drawing/2014/main" id="{765FA291-F9CB-864C-A7BD-493491891E46}"/>
                </a:ext>
              </a:extLst>
            </p:cNvPr>
            <p:cNvSpPr txBox="1">
              <a:spLocks noChangeArrowheads="1"/>
            </p:cNvSpPr>
            <p:nvPr/>
          </p:nvSpPr>
          <p:spPr bwMode="auto">
            <a:xfrm>
              <a:off x="3219256" y="3311571"/>
              <a:ext cx="1537174" cy="30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050" dirty="0">
                  <a:solidFill>
                    <a:prstClr val="black"/>
                  </a:solidFill>
                </a:rPr>
                <a:t>Link-layer frame</a:t>
              </a:r>
            </a:p>
          </p:txBody>
        </p:sp>
      </p:grpSp>
      <p:grpSp>
        <p:nvGrpSpPr>
          <p:cNvPr id="13" name="Group 12">
            <a:extLst>
              <a:ext uri="{FF2B5EF4-FFF2-40B4-BE49-F238E27FC236}">
                <a16:creationId xmlns:a16="http://schemas.microsoft.com/office/drawing/2014/main" id="{F3A2D044-A80D-BF48-BFF6-B13D3278C64F}"/>
              </a:ext>
            </a:extLst>
          </p:cNvPr>
          <p:cNvGrpSpPr/>
          <p:nvPr/>
        </p:nvGrpSpPr>
        <p:grpSpPr>
          <a:xfrm>
            <a:off x="3606880" y="2692480"/>
            <a:ext cx="3664744" cy="729620"/>
            <a:chOff x="4672013" y="2614613"/>
            <a:chExt cx="4886325" cy="1183088"/>
          </a:xfrm>
        </p:grpSpPr>
        <p:grpSp>
          <p:nvGrpSpPr>
            <p:cNvPr id="5" name="Group 4">
              <a:extLst>
                <a:ext uri="{FF2B5EF4-FFF2-40B4-BE49-F238E27FC236}">
                  <a16:creationId xmlns:a16="http://schemas.microsoft.com/office/drawing/2014/main" id="{A8B018EE-E224-B940-B878-E69EDA1EA956}"/>
                </a:ext>
              </a:extLst>
            </p:cNvPr>
            <p:cNvGrpSpPr/>
            <p:nvPr/>
          </p:nvGrpSpPr>
          <p:grpSpPr>
            <a:xfrm>
              <a:off x="4674002" y="3295572"/>
              <a:ext cx="4854575" cy="502129"/>
              <a:chOff x="1427882" y="4286172"/>
              <a:chExt cx="4854575" cy="502129"/>
            </a:xfrm>
          </p:grpSpPr>
          <p:sp>
            <p:nvSpPr>
              <p:cNvPr id="363" name="Rectangle 26">
                <a:extLst>
                  <a:ext uri="{FF2B5EF4-FFF2-40B4-BE49-F238E27FC236}">
                    <a16:creationId xmlns:a16="http://schemas.microsoft.com/office/drawing/2014/main" id="{6BFDBC4B-8987-6D40-B37D-40C15D4A02DF}"/>
                  </a:ext>
                </a:extLst>
              </p:cNvPr>
              <p:cNvSpPr>
                <a:spLocks noChangeArrowheads="1"/>
              </p:cNvSpPr>
              <p:nvPr/>
            </p:nvSpPr>
            <p:spPr bwMode="auto">
              <a:xfrm>
                <a:off x="1427882" y="4289347"/>
                <a:ext cx="4854575" cy="468313"/>
              </a:xfrm>
              <a:prstGeom prst="rect">
                <a:avLst/>
              </a:prstGeom>
              <a:gradFill rotWithShape="1">
                <a:gsLst>
                  <a:gs pos="0">
                    <a:srgbClr val="CC0000">
                      <a:alpha val="40999"/>
                    </a:srgbClr>
                  </a:gs>
                  <a:gs pos="100000">
                    <a:srgbClr val="CC0000">
                      <a:alpha val="37999"/>
                    </a:srgbClr>
                  </a:gs>
                </a:gsLst>
                <a:lin ang="5400000" scaled="1"/>
              </a:gra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64" name="Line 27">
                <a:extLst>
                  <a:ext uri="{FF2B5EF4-FFF2-40B4-BE49-F238E27FC236}">
                    <a16:creationId xmlns:a16="http://schemas.microsoft.com/office/drawing/2014/main" id="{41F3CE6F-3D8F-6541-A266-4991BCC28A29}"/>
                  </a:ext>
                </a:extLst>
              </p:cNvPr>
              <p:cNvSpPr>
                <a:spLocks noChangeShapeType="1"/>
              </p:cNvSpPr>
              <p:nvPr/>
            </p:nvSpPr>
            <p:spPr bwMode="auto">
              <a:xfrm>
                <a:off x="2791545" y="4287759"/>
                <a:ext cx="0" cy="46831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65" name="Line 28">
                <a:extLst>
                  <a:ext uri="{FF2B5EF4-FFF2-40B4-BE49-F238E27FC236}">
                    <a16:creationId xmlns:a16="http://schemas.microsoft.com/office/drawing/2014/main" id="{6FA825CB-5465-7D40-B46B-B6CEDF1233D8}"/>
                  </a:ext>
                </a:extLst>
              </p:cNvPr>
              <p:cNvSpPr>
                <a:spLocks noChangeShapeType="1"/>
              </p:cNvSpPr>
              <p:nvPr/>
            </p:nvSpPr>
            <p:spPr bwMode="auto">
              <a:xfrm>
                <a:off x="2313707" y="4286172"/>
                <a:ext cx="0" cy="46831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66" name="Line 29">
                <a:extLst>
                  <a:ext uri="{FF2B5EF4-FFF2-40B4-BE49-F238E27FC236}">
                    <a16:creationId xmlns:a16="http://schemas.microsoft.com/office/drawing/2014/main" id="{5DC15200-24FA-DB49-BEA1-C166763FD829}"/>
                  </a:ext>
                </a:extLst>
              </p:cNvPr>
              <p:cNvSpPr>
                <a:spLocks noChangeShapeType="1"/>
              </p:cNvSpPr>
              <p:nvPr/>
            </p:nvSpPr>
            <p:spPr bwMode="auto">
              <a:xfrm>
                <a:off x="1867620" y="4294109"/>
                <a:ext cx="0" cy="46831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2" name="Group 1">
                <a:extLst>
                  <a:ext uri="{FF2B5EF4-FFF2-40B4-BE49-F238E27FC236}">
                    <a16:creationId xmlns:a16="http://schemas.microsoft.com/office/drawing/2014/main" id="{642ADB5E-2087-8042-9E8E-E6E371A900BA}"/>
                  </a:ext>
                </a:extLst>
              </p:cNvPr>
              <p:cNvGrpSpPr/>
              <p:nvPr/>
            </p:nvGrpSpPr>
            <p:grpSpPr>
              <a:xfrm>
                <a:off x="2865478" y="4319509"/>
                <a:ext cx="3402012" cy="414337"/>
                <a:chOff x="8090620" y="3748009"/>
                <a:chExt cx="3402012" cy="414337"/>
              </a:xfrm>
            </p:grpSpPr>
            <p:sp>
              <p:nvSpPr>
                <p:cNvPr id="357" name="Line 65">
                  <a:extLst>
                    <a:ext uri="{FF2B5EF4-FFF2-40B4-BE49-F238E27FC236}">
                      <a16:creationId xmlns:a16="http://schemas.microsoft.com/office/drawing/2014/main" id="{BD890452-F6E7-4448-B613-CFB0A5846EB1}"/>
                    </a:ext>
                  </a:extLst>
                </p:cNvPr>
                <p:cNvSpPr>
                  <a:spLocks noChangeShapeType="1"/>
                </p:cNvSpPr>
                <p:nvPr/>
              </p:nvSpPr>
              <p:spPr bwMode="auto">
                <a:xfrm>
                  <a:off x="8743763" y="4053716"/>
                  <a:ext cx="8572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0" name="Rectangle 5">
                  <a:extLst>
                    <a:ext uri="{FF2B5EF4-FFF2-40B4-BE49-F238E27FC236}">
                      <a16:creationId xmlns:a16="http://schemas.microsoft.com/office/drawing/2014/main" id="{5EF7AC7D-7AE1-C241-9F61-F18D9E6049CC}"/>
                    </a:ext>
                  </a:extLst>
                </p:cNvPr>
                <p:cNvSpPr>
                  <a:spLocks noChangeArrowheads="1"/>
                </p:cNvSpPr>
                <p:nvPr/>
              </p:nvSpPr>
              <p:spPr bwMode="auto">
                <a:xfrm>
                  <a:off x="8090620" y="3751184"/>
                  <a:ext cx="3402012" cy="401638"/>
                </a:xfrm>
                <a:prstGeom prst="rect">
                  <a:avLst/>
                </a:prstGeom>
                <a:solidFill>
                  <a:srgbClr val="66CCFF"/>
                </a:solidFill>
                <a:ln w="1270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81" name="Line 8">
                  <a:extLst>
                    <a:ext uri="{FF2B5EF4-FFF2-40B4-BE49-F238E27FC236}">
                      <a16:creationId xmlns:a16="http://schemas.microsoft.com/office/drawing/2014/main" id="{618C687D-95D3-1A4E-B0FA-FBAF474EB450}"/>
                    </a:ext>
                  </a:extLst>
                </p:cNvPr>
                <p:cNvSpPr>
                  <a:spLocks noChangeShapeType="1"/>
                </p:cNvSpPr>
                <p:nvPr/>
              </p:nvSpPr>
              <p:spPr bwMode="auto">
                <a:xfrm>
                  <a:off x="8174757" y="3751184"/>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2" name="Line 9">
                  <a:extLst>
                    <a:ext uri="{FF2B5EF4-FFF2-40B4-BE49-F238E27FC236}">
                      <a16:creationId xmlns:a16="http://schemas.microsoft.com/office/drawing/2014/main" id="{AC79F5F7-9AC4-9640-BA5C-522DDD5C0A1A}"/>
                    </a:ext>
                  </a:extLst>
                </p:cNvPr>
                <p:cNvSpPr>
                  <a:spLocks noChangeShapeType="1"/>
                </p:cNvSpPr>
                <p:nvPr/>
              </p:nvSpPr>
              <p:spPr bwMode="auto">
                <a:xfrm>
                  <a:off x="8133482" y="3749596"/>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3" name="Line 10">
                  <a:extLst>
                    <a:ext uri="{FF2B5EF4-FFF2-40B4-BE49-F238E27FC236}">
                      <a16:creationId xmlns:a16="http://schemas.microsoft.com/office/drawing/2014/main" id="{65704044-79FE-A64A-9FF3-9C238BBA6EBE}"/>
                    </a:ext>
                  </a:extLst>
                </p:cNvPr>
                <p:cNvSpPr>
                  <a:spLocks noChangeShapeType="1"/>
                </p:cNvSpPr>
                <p:nvPr/>
              </p:nvSpPr>
              <p:spPr bwMode="auto">
                <a:xfrm>
                  <a:off x="8250957" y="3751184"/>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4" name="Line 11">
                  <a:extLst>
                    <a:ext uri="{FF2B5EF4-FFF2-40B4-BE49-F238E27FC236}">
                      <a16:creationId xmlns:a16="http://schemas.microsoft.com/office/drawing/2014/main" id="{DEF1C2BA-CE66-FF4D-9460-A93DC4051AD1}"/>
                    </a:ext>
                  </a:extLst>
                </p:cNvPr>
                <p:cNvSpPr>
                  <a:spLocks noChangeShapeType="1"/>
                </p:cNvSpPr>
                <p:nvPr/>
              </p:nvSpPr>
              <p:spPr bwMode="auto">
                <a:xfrm>
                  <a:off x="8292232"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5" name="Line 12">
                  <a:extLst>
                    <a:ext uri="{FF2B5EF4-FFF2-40B4-BE49-F238E27FC236}">
                      <a16:creationId xmlns:a16="http://schemas.microsoft.com/office/drawing/2014/main" id="{D8887A1E-28D5-0A4F-92E6-4ECCFDBB64BD}"/>
                    </a:ext>
                  </a:extLst>
                </p:cNvPr>
                <p:cNvSpPr>
                  <a:spLocks noChangeShapeType="1"/>
                </p:cNvSpPr>
                <p:nvPr/>
              </p:nvSpPr>
              <p:spPr bwMode="auto">
                <a:xfrm>
                  <a:off x="8346207"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6" name="Line 13">
                  <a:extLst>
                    <a:ext uri="{FF2B5EF4-FFF2-40B4-BE49-F238E27FC236}">
                      <a16:creationId xmlns:a16="http://schemas.microsoft.com/office/drawing/2014/main" id="{95560225-2265-4D42-A60A-F3E5B304489D}"/>
                    </a:ext>
                  </a:extLst>
                </p:cNvPr>
                <p:cNvSpPr>
                  <a:spLocks noChangeShapeType="1"/>
                </p:cNvSpPr>
                <p:nvPr/>
              </p:nvSpPr>
              <p:spPr bwMode="auto">
                <a:xfrm>
                  <a:off x="8412882"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7" name="Line 14">
                  <a:extLst>
                    <a:ext uri="{FF2B5EF4-FFF2-40B4-BE49-F238E27FC236}">
                      <a16:creationId xmlns:a16="http://schemas.microsoft.com/office/drawing/2014/main" id="{B139DC60-F2B1-EB4B-9B25-F3D05712A88E}"/>
                    </a:ext>
                  </a:extLst>
                </p:cNvPr>
                <p:cNvSpPr>
                  <a:spLocks noChangeShapeType="1"/>
                </p:cNvSpPr>
                <p:nvPr/>
              </p:nvSpPr>
              <p:spPr bwMode="auto">
                <a:xfrm>
                  <a:off x="8724032" y="3759121"/>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88" name="Line 15">
                  <a:extLst>
                    <a:ext uri="{FF2B5EF4-FFF2-40B4-BE49-F238E27FC236}">
                      <a16:creationId xmlns:a16="http://schemas.microsoft.com/office/drawing/2014/main" id="{D3E0CBF2-6911-6140-9A17-888FFCCF0907}"/>
                    </a:ext>
                  </a:extLst>
                </p:cNvPr>
                <p:cNvSpPr>
                  <a:spLocks noChangeShapeType="1"/>
                </p:cNvSpPr>
                <p:nvPr/>
              </p:nvSpPr>
              <p:spPr bwMode="auto">
                <a:xfrm>
                  <a:off x="9098682" y="3759121"/>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398" name="Rectangle 5">
                <a:extLst>
                  <a:ext uri="{FF2B5EF4-FFF2-40B4-BE49-F238E27FC236}">
                    <a16:creationId xmlns:a16="http://schemas.microsoft.com/office/drawing/2014/main" id="{2B3FAF22-1D43-DB4D-8D8C-2A571BF20F1F}"/>
                  </a:ext>
                </a:extLst>
              </p:cNvPr>
              <p:cNvSpPr>
                <a:spLocks noChangeArrowheads="1"/>
              </p:cNvSpPr>
              <p:nvPr/>
            </p:nvSpPr>
            <p:spPr bwMode="auto">
              <a:xfrm>
                <a:off x="2901848" y="4384275"/>
                <a:ext cx="3244616" cy="285690"/>
              </a:xfrm>
              <a:prstGeom prst="rect">
                <a:avLst/>
              </a:prstGeom>
              <a:solidFill>
                <a:srgbClr val="66CCFF"/>
              </a:solidFill>
              <a:ln w="12700">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56" name="Text Box 64">
                <a:extLst>
                  <a:ext uri="{FF2B5EF4-FFF2-40B4-BE49-F238E27FC236}">
                    <a16:creationId xmlns:a16="http://schemas.microsoft.com/office/drawing/2014/main" id="{E06A4353-7E86-5847-8F31-E80191A371FB}"/>
                  </a:ext>
                </a:extLst>
              </p:cNvPr>
              <p:cNvSpPr txBox="1">
                <a:spLocks noChangeArrowheads="1"/>
              </p:cNvSpPr>
              <p:nvPr/>
            </p:nvSpPr>
            <p:spPr bwMode="auto">
              <a:xfrm>
                <a:off x="4133520" y="4301714"/>
                <a:ext cx="1746632" cy="48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IPv6 datagram</a:t>
                </a:r>
              </a:p>
            </p:txBody>
          </p:sp>
        </p:grpSp>
        <p:sp>
          <p:nvSpPr>
            <p:cNvPr id="10" name="Freeform 9">
              <a:extLst>
                <a:ext uri="{FF2B5EF4-FFF2-40B4-BE49-F238E27FC236}">
                  <a16:creationId xmlns:a16="http://schemas.microsoft.com/office/drawing/2014/main" id="{67D3DA8C-D325-4046-9687-29D212044012}"/>
                </a:ext>
              </a:extLst>
            </p:cNvPr>
            <p:cNvSpPr/>
            <p:nvPr/>
          </p:nvSpPr>
          <p:spPr>
            <a:xfrm>
              <a:off x="4672013" y="2614613"/>
              <a:ext cx="4886325" cy="685800"/>
            </a:xfrm>
            <a:custGeom>
              <a:avLst/>
              <a:gdLst>
                <a:gd name="connsiteX0" fmla="*/ 0 w 4886325"/>
                <a:gd name="connsiteY0" fmla="*/ 685800 h 685800"/>
                <a:gd name="connsiteX1" fmla="*/ 2171700 w 4886325"/>
                <a:gd name="connsiteY1" fmla="*/ 0 h 685800"/>
                <a:gd name="connsiteX2" fmla="*/ 2443162 w 4886325"/>
                <a:gd name="connsiteY2" fmla="*/ 157162 h 685800"/>
                <a:gd name="connsiteX3" fmla="*/ 2493168 w 4886325"/>
                <a:gd name="connsiteY3" fmla="*/ 150018 h 685800"/>
                <a:gd name="connsiteX4" fmla="*/ 4886325 w 4886325"/>
                <a:gd name="connsiteY4" fmla="*/ 685800 h 685800"/>
                <a:gd name="connsiteX5" fmla="*/ 0 w 4886325"/>
                <a:gd name="connsiteY5" fmla="*/ 685800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6325" h="685800">
                  <a:moveTo>
                    <a:pt x="0" y="685800"/>
                  </a:moveTo>
                  <a:lnTo>
                    <a:pt x="2171700" y="0"/>
                  </a:lnTo>
                  <a:lnTo>
                    <a:pt x="2443162" y="157162"/>
                  </a:lnTo>
                  <a:lnTo>
                    <a:pt x="2493168" y="150018"/>
                  </a:lnTo>
                  <a:lnTo>
                    <a:pt x="4886325" y="685800"/>
                  </a:lnTo>
                  <a:lnTo>
                    <a:pt x="0" y="685800"/>
                  </a:lnTo>
                  <a:close/>
                </a:path>
              </a:pathLst>
            </a:custGeom>
            <a:gradFill>
              <a:gsLst>
                <a:gs pos="0">
                  <a:schemeClr val="accent1">
                    <a:lumMod val="5000"/>
                    <a:lumOff val="95000"/>
                  </a:schemeClr>
                </a:gs>
                <a:gs pos="100000">
                  <a:schemeClr val="bg1">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14" name="Group 13">
            <a:extLst>
              <a:ext uri="{FF2B5EF4-FFF2-40B4-BE49-F238E27FC236}">
                <a16:creationId xmlns:a16="http://schemas.microsoft.com/office/drawing/2014/main" id="{03E5998F-A621-DC4D-AA10-4A3065CB51C8}"/>
              </a:ext>
            </a:extLst>
          </p:cNvPr>
          <p:cNvGrpSpPr/>
          <p:nvPr/>
        </p:nvGrpSpPr>
        <p:grpSpPr>
          <a:xfrm>
            <a:off x="5223510" y="2540833"/>
            <a:ext cx="628650" cy="282377"/>
            <a:chOff x="6827520" y="2412417"/>
            <a:chExt cx="838200" cy="376503"/>
          </a:xfrm>
        </p:grpSpPr>
        <p:sp>
          <p:nvSpPr>
            <p:cNvPr id="4" name="Right Arrow 3">
              <a:extLst>
                <a:ext uri="{FF2B5EF4-FFF2-40B4-BE49-F238E27FC236}">
                  <a16:creationId xmlns:a16="http://schemas.microsoft.com/office/drawing/2014/main" id="{F775AAA1-C68A-6E48-B93F-2EC82451679E}"/>
                </a:ext>
              </a:extLst>
            </p:cNvPr>
            <p:cNvSpPr/>
            <p:nvPr/>
          </p:nvSpPr>
          <p:spPr>
            <a:xfrm>
              <a:off x="7178040" y="2468880"/>
              <a:ext cx="487680" cy="304800"/>
            </a:xfrm>
            <a:prstGeom prst="rightArrow">
              <a:avLst/>
            </a:prstGeom>
            <a:gradFill>
              <a:gsLst>
                <a:gs pos="0">
                  <a:schemeClr val="accent1">
                    <a:lumMod val="5000"/>
                    <a:lumOff val="95000"/>
                  </a:schemeClr>
                </a:gs>
                <a:gs pos="100000">
                  <a:srgbClr val="CC000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413" name="Group 61">
              <a:extLst>
                <a:ext uri="{FF2B5EF4-FFF2-40B4-BE49-F238E27FC236}">
                  <a16:creationId xmlns:a16="http://schemas.microsoft.com/office/drawing/2014/main" id="{DA8A7729-4179-2747-BD0E-4CE16794F2C1}"/>
                </a:ext>
              </a:extLst>
            </p:cNvPr>
            <p:cNvGrpSpPr>
              <a:grpSpLocks/>
            </p:cNvGrpSpPr>
            <p:nvPr/>
          </p:nvGrpSpPr>
          <p:grpSpPr bwMode="auto">
            <a:xfrm>
              <a:off x="6827520" y="2412417"/>
              <a:ext cx="335280" cy="376503"/>
              <a:chOff x="335231" y="4405745"/>
              <a:chExt cx="1252537" cy="2138362"/>
            </a:xfrm>
          </p:grpSpPr>
          <p:sp>
            <p:nvSpPr>
              <p:cNvPr id="415" name="Freeform 414">
                <a:extLst>
                  <a:ext uri="{FF2B5EF4-FFF2-40B4-BE49-F238E27FC236}">
                    <a16:creationId xmlns:a16="http://schemas.microsoft.com/office/drawing/2014/main" id="{00613895-5F49-B341-AE32-45F01EC3F402}"/>
                  </a:ext>
                </a:extLst>
              </p:cNvPr>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C0001"/>
              </a:solidFill>
              <a:ln w="25400" cap="flat" cmpd="sng" algn="ctr">
                <a:noFill/>
                <a:prstDash val="solid"/>
              </a:ln>
              <a:effectLst/>
            </p:spPr>
            <p:txBody>
              <a:bodyPr anchor="ctr"/>
              <a:lstStyle/>
              <a:p>
                <a:pPr algn="ctr" defTabSz="685800" eaLnBrk="1" fontAlgn="auto" hangingPunct="1">
                  <a:spcBef>
                    <a:spcPts val="0"/>
                  </a:spcBef>
                  <a:spcAft>
                    <a:spcPts val="0"/>
                  </a:spcAft>
                  <a:defRPr/>
                </a:pPr>
                <a:endParaRPr lang="en-US" sz="1350" kern="0" dirty="0">
                  <a:solidFill>
                    <a:sysClr val="window" lastClr="FFFFFF"/>
                  </a:solidFill>
                  <a:latin typeface="Calibri"/>
                  <a:ea typeface="+mn-ea"/>
                </a:endParaRPr>
              </a:p>
            </p:txBody>
          </p:sp>
          <p:sp>
            <p:nvSpPr>
              <p:cNvPr id="416" name="Freeform 415">
                <a:extLst>
                  <a:ext uri="{FF2B5EF4-FFF2-40B4-BE49-F238E27FC236}">
                    <a16:creationId xmlns:a16="http://schemas.microsoft.com/office/drawing/2014/main" id="{43B7ABE8-5D31-7143-AA6A-3AB733CE2DC6}"/>
                  </a:ext>
                </a:extLst>
              </p:cNvPr>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w="25400" cap="flat" cmpd="sng" algn="ctr">
                <a:noFill/>
                <a:prstDash val="solid"/>
              </a:ln>
              <a:effectLst/>
            </p:spPr>
            <p:txBody>
              <a:bodyPr anchor="ctr"/>
              <a:lstStyle/>
              <a:p>
                <a:pPr algn="ctr" defTabSz="685800" eaLnBrk="1" fontAlgn="auto" hangingPunct="1">
                  <a:spcBef>
                    <a:spcPts val="0"/>
                  </a:spcBef>
                  <a:spcAft>
                    <a:spcPts val="0"/>
                  </a:spcAft>
                  <a:defRPr/>
                </a:pPr>
                <a:endParaRPr lang="en-US" sz="1350" kern="0" dirty="0">
                  <a:solidFill>
                    <a:sysClr val="window" lastClr="FFFFFF"/>
                  </a:solidFill>
                  <a:latin typeface="Calibri"/>
                  <a:ea typeface="+mn-ea"/>
                </a:endParaRPr>
              </a:p>
            </p:txBody>
          </p:sp>
          <p:sp>
            <p:nvSpPr>
              <p:cNvPr id="417" name="Rectangle 65">
                <a:extLst>
                  <a:ext uri="{FF2B5EF4-FFF2-40B4-BE49-F238E27FC236}">
                    <a16:creationId xmlns:a16="http://schemas.microsoft.com/office/drawing/2014/main" id="{68F192F6-ED5A-CE43-91EA-B245844A9187}"/>
                  </a:ext>
                </a:extLst>
              </p:cNvPr>
              <p:cNvSpPr>
                <a:spLocks noChangeArrowheads="1"/>
              </p:cNvSpPr>
              <p:nvPr/>
            </p:nvSpPr>
            <p:spPr bwMode="auto">
              <a:xfrm>
                <a:off x="1296825" y="5178575"/>
                <a:ext cx="289686" cy="1351389"/>
              </a:xfrm>
              <a:prstGeom prst="rect">
                <a:avLst/>
              </a:prstGeom>
              <a:solidFill>
                <a:srgbClr val="EBADAA"/>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endParaRPr lang="en-US" altLang="en-US" sz="1350" dirty="0">
                  <a:solidFill>
                    <a:srgbClr val="FFFFFF"/>
                  </a:solidFill>
                  <a:latin typeface="Calibri" panose="020F0502020204030204" pitchFamily="34" charset="0"/>
                </a:endParaRPr>
              </a:p>
            </p:txBody>
          </p:sp>
        </p:grpSp>
      </p:grpSp>
      <p:sp>
        <p:nvSpPr>
          <p:cNvPr id="15" name="TextBox 14">
            <a:extLst>
              <a:ext uri="{FF2B5EF4-FFF2-40B4-BE49-F238E27FC236}">
                <a16:creationId xmlns:a16="http://schemas.microsoft.com/office/drawing/2014/main" id="{B24DFD8D-7E45-C14A-98B8-9FDCF13CB43E}"/>
              </a:ext>
            </a:extLst>
          </p:cNvPr>
          <p:cNvSpPr txBox="1"/>
          <p:nvPr/>
        </p:nvSpPr>
        <p:spPr>
          <a:xfrm>
            <a:off x="3623311" y="3394710"/>
            <a:ext cx="3712811" cy="300082"/>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The usual: datagram as payload in link-layer frame</a:t>
            </a:r>
          </a:p>
        </p:txBody>
      </p:sp>
      <p:grpSp>
        <p:nvGrpSpPr>
          <p:cNvPr id="467" name="Group 466">
            <a:extLst>
              <a:ext uri="{FF2B5EF4-FFF2-40B4-BE49-F238E27FC236}">
                <a16:creationId xmlns:a16="http://schemas.microsoft.com/office/drawing/2014/main" id="{582FCB21-81FE-7B4D-993E-70AE16E2CB72}"/>
              </a:ext>
            </a:extLst>
          </p:cNvPr>
          <p:cNvGrpSpPr/>
          <p:nvPr/>
        </p:nvGrpSpPr>
        <p:grpSpPr>
          <a:xfrm>
            <a:off x="2100861" y="5335493"/>
            <a:ext cx="1755064" cy="374016"/>
            <a:chOff x="2637447" y="3119120"/>
            <a:chExt cx="2340085" cy="498688"/>
          </a:xfrm>
        </p:grpSpPr>
        <p:sp>
          <p:nvSpPr>
            <p:cNvPr id="468" name="Line 57">
              <a:extLst>
                <a:ext uri="{FF2B5EF4-FFF2-40B4-BE49-F238E27FC236}">
                  <a16:creationId xmlns:a16="http://schemas.microsoft.com/office/drawing/2014/main" id="{8CE2752B-6E0C-F84A-9A32-BC1A3D305AAD}"/>
                </a:ext>
              </a:extLst>
            </p:cNvPr>
            <p:cNvSpPr>
              <a:spLocks noChangeShapeType="1"/>
            </p:cNvSpPr>
            <p:nvPr/>
          </p:nvSpPr>
          <p:spPr bwMode="auto">
            <a:xfrm flipH="1">
              <a:off x="4023360" y="3119120"/>
              <a:ext cx="954172" cy="18796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69" name="Text Box 18">
              <a:extLst>
                <a:ext uri="{FF2B5EF4-FFF2-40B4-BE49-F238E27FC236}">
                  <a16:creationId xmlns:a16="http://schemas.microsoft.com/office/drawing/2014/main" id="{99B67058-3545-9E43-9FA2-BC1B4BE58044}"/>
                </a:ext>
              </a:extLst>
            </p:cNvPr>
            <p:cNvSpPr txBox="1">
              <a:spLocks noChangeArrowheads="1"/>
            </p:cNvSpPr>
            <p:nvPr/>
          </p:nvSpPr>
          <p:spPr bwMode="auto">
            <a:xfrm>
              <a:off x="2637447" y="3311571"/>
              <a:ext cx="1415345" cy="30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050" dirty="0">
                  <a:solidFill>
                    <a:prstClr val="black"/>
                  </a:solidFill>
                </a:rPr>
                <a:t>IPv4 datagram</a:t>
              </a:r>
            </a:p>
          </p:txBody>
        </p:sp>
      </p:grpSp>
      <p:grpSp>
        <p:nvGrpSpPr>
          <p:cNvPr id="470" name="Group 469">
            <a:extLst>
              <a:ext uri="{FF2B5EF4-FFF2-40B4-BE49-F238E27FC236}">
                <a16:creationId xmlns:a16="http://schemas.microsoft.com/office/drawing/2014/main" id="{58A87233-BB18-2342-80C1-3FDAF4FCF0D6}"/>
              </a:ext>
            </a:extLst>
          </p:cNvPr>
          <p:cNvGrpSpPr/>
          <p:nvPr/>
        </p:nvGrpSpPr>
        <p:grpSpPr>
          <a:xfrm>
            <a:off x="3383280" y="4774232"/>
            <a:ext cx="3999690" cy="729619"/>
            <a:chOff x="4225418" y="2614613"/>
            <a:chExt cx="5332920" cy="1183086"/>
          </a:xfrm>
        </p:grpSpPr>
        <p:grpSp>
          <p:nvGrpSpPr>
            <p:cNvPr id="471" name="Group 470">
              <a:extLst>
                <a:ext uri="{FF2B5EF4-FFF2-40B4-BE49-F238E27FC236}">
                  <a16:creationId xmlns:a16="http://schemas.microsoft.com/office/drawing/2014/main" id="{6417E717-F932-334A-B523-B49F41EEFCEF}"/>
                </a:ext>
              </a:extLst>
            </p:cNvPr>
            <p:cNvGrpSpPr/>
            <p:nvPr/>
          </p:nvGrpSpPr>
          <p:grpSpPr>
            <a:xfrm>
              <a:off x="4225418" y="3289252"/>
              <a:ext cx="5303159" cy="508447"/>
              <a:chOff x="979298" y="4279852"/>
              <a:chExt cx="5303159" cy="508447"/>
            </a:xfrm>
          </p:grpSpPr>
          <p:sp>
            <p:nvSpPr>
              <p:cNvPr id="473" name="Rectangle 26">
                <a:extLst>
                  <a:ext uri="{FF2B5EF4-FFF2-40B4-BE49-F238E27FC236}">
                    <a16:creationId xmlns:a16="http://schemas.microsoft.com/office/drawing/2014/main" id="{E704B502-2B95-9F42-80CE-21EEE1329483}"/>
                  </a:ext>
                </a:extLst>
              </p:cNvPr>
              <p:cNvSpPr>
                <a:spLocks noChangeArrowheads="1"/>
              </p:cNvSpPr>
              <p:nvPr/>
            </p:nvSpPr>
            <p:spPr bwMode="auto">
              <a:xfrm>
                <a:off x="979298" y="4289347"/>
                <a:ext cx="5303159" cy="468314"/>
              </a:xfrm>
              <a:prstGeom prst="rect">
                <a:avLst/>
              </a:prstGeom>
              <a:gradFill rotWithShape="1">
                <a:gsLst>
                  <a:gs pos="0">
                    <a:srgbClr val="CC0000">
                      <a:alpha val="40999"/>
                    </a:srgbClr>
                  </a:gs>
                  <a:gs pos="100000">
                    <a:srgbClr val="CC0000">
                      <a:alpha val="37999"/>
                    </a:srgbClr>
                  </a:gs>
                </a:gsLst>
                <a:lin ang="5400000" scaled="1"/>
              </a:gra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474" name="Line 27">
                <a:extLst>
                  <a:ext uri="{FF2B5EF4-FFF2-40B4-BE49-F238E27FC236}">
                    <a16:creationId xmlns:a16="http://schemas.microsoft.com/office/drawing/2014/main" id="{38D4C635-FA91-D44D-BD07-BB877820EACA}"/>
                  </a:ext>
                </a:extLst>
              </p:cNvPr>
              <p:cNvSpPr>
                <a:spLocks noChangeShapeType="1"/>
              </p:cNvSpPr>
              <p:nvPr/>
            </p:nvSpPr>
            <p:spPr bwMode="auto">
              <a:xfrm>
                <a:off x="2791545" y="4287759"/>
                <a:ext cx="0" cy="46831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75" name="Line 28">
                <a:extLst>
                  <a:ext uri="{FF2B5EF4-FFF2-40B4-BE49-F238E27FC236}">
                    <a16:creationId xmlns:a16="http://schemas.microsoft.com/office/drawing/2014/main" id="{62A3BDAB-160E-D94B-927D-6AAC72DEDEAD}"/>
                  </a:ext>
                </a:extLst>
              </p:cNvPr>
              <p:cNvSpPr>
                <a:spLocks noChangeShapeType="1"/>
              </p:cNvSpPr>
              <p:nvPr/>
            </p:nvSpPr>
            <p:spPr bwMode="auto">
              <a:xfrm>
                <a:off x="2313707" y="4286172"/>
                <a:ext cx="0" cy="46831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76" name="Line 29">
                <a:extLst>
                  <a:ext uri="{FF2B5EF4-FFF2-40B4-BE49-F238E27FC236}">
                    <a16:creationId xmlns:a16="http://schemas.microsoft.com/office/drawing/2014/main" id="{540B2AB8-5EC3-CC45-8B22-9378CEEA1A87}"/>
                  </a:ext>
                </a:extLst>
              </p:cNvPr>
              <p:cNvSpPr>
                <a:spLocks noChangeShapeType="1"/>
              </p:cNvSpPr>
              <p:nvPr/>
            </p:nvSpPr>
            <p:spPr bwMode="auto">
              <a:xfrm>
                <a:off x="2129045" y="4299810"/>
                <a:ext cx="0" cy="468314"/>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477" name="Group 476">
                <a:extLst>
                  <a:ext uri="{FF2B5EF4-FFF2-40B4-BE49-F238E27FC236}">
                    <a16:creationId xmlns:a16="http://schemas.microsoft.com/office/drawing/2014/main" id="{8A3CA284-45CA-7046-A47F-984CA0AEF54A}"/>
                  </a:ext>
                </a:extLst>
              </p:cNvPr>
              <p:cNvGrpSpPr/>
              <p:nvPr/>
            </p:nvGrpSpPr>
            <p:grpSpPr>
              <a:xfrm>
                <a:off x="2865478" y="4319509"/>
                <a:ext cx="3402012" cy="414337"/>
                <a:chOff x="8090620" y="3748009"/>
                <a:chExt cx="3402012" cy="414337"/>
              </a:xfrm>
            </p:grpSpPr>
            <p:sp>
              <p:nvSpPr>
                <p:cNvPr id="480" name="Line 65">
                  <a:extLst>
                    <a:ext uri="{FF2B5EF4-FFF2-40B4-BE49-F238E27FC236}">
                      <a16:creationId xmlns:a16="http://schemas.microsoft.com/office/drawing/2014/main" id="{58CA2B8C-1734-0B42-A1DE-5FF99DFC0046}"/>
                    </a:ext>
                  </a:extLst>
                </p:cNvPr>
                <p:cNvSpPr>
                  <a:spLocks noChangeShapeType="1"/>
                </p:cNvSpPr>
                <p:nvPr/>
              </p:nvSpPr>
              <p:spPr bwMode="auto">
                <a:xfrm>
                  <a:off x="8743763" y="4053716"/>
                  <a:ext cx="8572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1" name="Rectangle 5">
                  <a:extLst>
                    <a:ext uri="{FF2B5EF4-FFF2-40B4-BE49-F238E27FC236}">
                      <a16:creationId xmlns:a16="http://schemas.microsoft.com/office/drawing/2014/main" id="{083BA3FA-8CB0-B247-8BDD-71A9460BBC83}"/>
                    </a:ext>
                  </a:extLst>
                </p:cNvPr>
                <p:cNvSpPr>
                  <a:spLocks noChangeArrowheads="1"/>
                </p:cNvSpPr>
                <p:nvPr/>
              </p:nvSpPr>
              <p:spPr bwMode="auto">
                <a:xfrm>
                  <a:off x="8090620" y="3751184"/>
                  <a:ext cx="3402012" cy="401638"/>
                </a:xfrm>
                <a:prstGeom prst="rect">
                  <a:avLst/>
                </a:prstGeom>
                <a:solidFill>
                  <a:srgbClr val="66CCFF"/>
                </a:solidFill>
                <a:ln w="1270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482" name="Line 8">
                  <a:extLst>
                    <a:ext uri="{FF2B5EF4-FFF2-40B4-BE49-F238E27FC236}">
                      <a16:creationId xmlns:a16="http://schemas.microsoft.com/office/drawing/2014/main" id="{350DB54B-5F36-B04C-B44A-9922DAACE4BF}"/>
                    </a:ext>
                  </a:extLst>
                </p:cNvPr>
                <p:cNvSpPr>
                  <a:spLocks noChangeShapeType="1"/>
                </p:cNvSpPr>
                <p:nvPr/>
              </p:nvSpPr>
              <p:spPr bwMode="auto">
                <a:xfrm>
                  <a:off x="8174757" y="3751184"/>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3" name="Line 9">
                  <a:extLst>
                    <a:ext uri="{FF2B5EF4-FFF2-40B4-BE49-F238E27FC236}">
                      <a16:creationId xmlns:a16="http://schemas.microsoft.com/office/drawing/2014/main" id="{BF3D96E9-0FCE-6146-A7D2-999BEAE4DD65}"/>
                    </a:ext>
                  </a:extLst>
                </p:cNvPr>
                <p:cNvSpPr>
                  <a:spLocks noChangeShapeType="1"/>
                </p:cNvSpPr>
                <p:nvPr/>
              </p:nvSpPr>
              <p:spPr bwMode="auto">
                <a:xfrm>
                  <a:off x="8133482" y="3749596"/>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4" name="Line 10">
                  <a:extLst>
                    <a:ext uri="{FF2B5EF4-FFF2-40B4-BE49-F238E27FC236}">
                      <a16:creationId xmlns:a16="http://schemas.microsoft.com/office/drawing/2014/main" id="{FABE8F28-530E-CF4F-9CE5-F9516E73F302}"/>
                    </a:ext>
                  </a:extLst>
                </p:cNvPr>
                <p:cNvSpPr>
                  <a:spLocks noChangeShapeType="1"/>
                </p:cNvSpPr>
                <p:nvPr/>
              </p:nvSpPr>
              <p:spPr bwMode="auto">
                <a:xfrm>
                  <a:off x="8250957" y="3751184"/>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5" name="Line 11">
                  <a:extLst>
                    <a:ext uri="{FF2B5EF4-FFF2-40B4-BE49-F238E27FC236}">
                      <a16:creationId xmlns:a16="http://schemas.microsoft.com/office/drawing/2014/main" id="{A52F325C-2ACD-9042-B1E1-02285FB9AEE0}"/>
                    </a:ext>
                  </a:extLst>
                </p:cNvPr>
                <p:cNvSpPr>
                  <a:spLocks noChangeShapeType="1"/>
                </p:cNvSpPr>
                <p:nvPr/>
              </p:nvSpPr>
              <p:spPr bwMode="auto">
                <a:xfrm>
                  <a:off x="8292232"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6" name="Line 12">
                  <a:extLst>
                    <a:ext uri="{FF2B5EF4-FFF2-40B4-BE49-F238E27FC236}">
                      <a16:creationId xmlns:a16="http://schemas.microsoft.com/office/drawing/2014/main" id="{2414715C-3B10-6C4D-8622-E9A6624259EE}"/>
                    </a:ext>
                  </a:extLst>
                </p:cNvPr>
                <p:cNvSpPr>
                  <a:spLocks noChangeShapeType="1"/>
                </p:cNvSpPr>
                <p:nvPr/>
              </p:nvSpPr>
              <p:spPr bwMode="auto">
                <a:xfrm>
                  <a:off x="8346207"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7" name="Line 13">
                  <a:extLst>
                    <a:ext uri="{FF2B5EF4-FFF2-40B4-BE49-F238E27FC236}">
                      <a16:creationId xmlns:a16="http://schemas.microsoft.com/office/drawing/2014/main" id="{8951336E-5F7F-0A41-AB9E-17FDE2E72D71}"/>
                    </a:ext>
                  </a:extLst>
                </p:cNvPr>
                <p:cNvSpPr>
                  <a:spLocks noChangeShapeType="1"/>
                </p:cNvSpPr>
                <p:nvPr/>
              </p:nvSpPr>
              <p:spPr bwMode="auto">
                <a:xfrm>
                  <a:off x="8412882" y="3748009"/>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8" name="Line 14">
                  <a:extLst>
                    <a:ext uri="{FF2B5EF4-FFF2-40B4-BE49-F238E27FC236}">
                      <a16:creationId xmlns:a16="http://schemas.microsoft.com/office/drawing/2014/main" id="{D109FFC4-0686-BA45-8416-CCA8AE188951}"/>
                    </a:ext>
                  </a:extLst>
                </p:cNvPr>
                <p:cNvSpPr>
                  <a:spLocks noChangeShapeType="1"/>
                </p:cNvSpPr>
                <p:nvPr/>
              </p:nvSpPr>
              <p:spPr bwMode="auto">
                <a:xfrm>
                  <a:off x="8724032" y="3759121"/>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89" name="Line 15">
                  <a:extLst>
                    <a:ext uri="{FF2B5EF4-FFF2-40B4-BE49-F238E27FC236}">
                      <a16:creationId xmlns:a16="http://schemas.microsoft.com/office/drawing/2014/main" id="{BDE93B63-B7CB-6E4A-980E-E24EA4C058F5}"/>
                    </a:ext>
                  </a:extLst>
                </p:cNvPr>
                <p:cNvSpPr>
                  <a:spLocks noChangeShapeType="1"/>
                </p:cNvSpPr>
                <p:nvPr/>
              </p:nvSpPr>
              <p:spPr bwMode="auto">
                <a:xfrm>
                  <a:off x="9098682" y="3759121"/>
                  <a:ext cx="0" cy="403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478" name="Rectangle 5">
                <a:extLst>
                  <a:ext uri="{FF2B5EF4-FFF2-40B4-BE49-F238E27FC236}">
                    <a16:creationId xmlns:a16="http://schemas.microsoft.com/office/drawing/2014/main" id="{B5E41425-B1F8-2445-ADEE-043413AFC1E8}"/>
                  </a:ext>
                </a:extLst>
              </p:cNvPr>
              <p:cNvSpPr>
                <a:spLocks noChangeArrowheads="1"/>
              </p:cNvSpPr>
              <p:nvPr/>
            </p:nvSpPr>
            <p:spPr bwMode="auto">
              <a:xfrm>
                <a:off x="2901848" y="4384275"/>
                <a:ext cx="3244616" cy="285690"/>
              </a:xfrm>
              <a:prstGeom prst="rect">
                <a:avLst/>
              </a:prstGeom>
              <a:solidFill>
                <a:srgbClr val="66CCFF"/>
              </a:solidFill>
              <a:ln w="12700">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479" name="Text Box 64">
                <a:extLst>
                  <a:ext uri="{FF2B5EF4-FFF2-40B4-BE49-F238E27FC236}">
                    <a16:creationId xmlns:a16="http://schemas.microsoft.com/office/drawing/2014/main" id="{A3A8B632-6487-834D-BE46-4579297998B8}"/>
                  </a:ext>
                </a:extLst>
              </p:cNvPr>
              <p:cNvSpPr txBox="1">
                <a:spLocks noChangeArrowheads="1"/>
              </p:cNvSpPr>
              <p:nvPr/>
            </p:nvSpPr>
            <p:spPr bwMode="auto">
              <a:xfrm>
                <a:off x="4133520" y="4301713"/>
                <a:ext cx="1746632" cy="48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IPv6 datagram</a:t>
                </a:r>
              </a:p>
            </p:txBody>
          </p:sp>
          <p:sp>
            <p:nvSpPr>
              <p:cNvPr id="491" name="Line 29">
                <a:extLst>
                  <a:ext uri="{FF2B5EF4-FFF2-40B4-BE49-F238E27FC236}">
                    <a16:creationId xmlns:a16="http://schemas.microsoft.com/office/drawing/2014/main" id="{DAB9ECEA-D85D-1A4F-BA23-45E2EF5BAE7A}"/>
                  </a:ext>
                </a:extLst>
              </p:cNvPr>
              <p:cNvSpPr>
                <a:spLocks noChangeShapeType="1"/>
              </p:cNvSpPr>
              <p:nvPr/>
            </p:nvSpPr>
            <p:spPr bwMode="auto">
              <a:xfrm>
                <a:off x="1141962" y="4285554"/>
                <a:ext cx="0" cy="468314"/>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92" name="Line 29">
                <a:extLst>
                  <a:ext uri="{FF2B5EF4-FFF2-40B4-BE49-F238E27FC236}">
                    <a16:creationId xmlns:a16="http://schemas.microsoft.com/office/drawing/2014/main" id="{1835EE88-FFC9-6145-9FA4-024B97A0E0A6}"/>
                  </a:ext>
                </a:extLst>
              </p:cNvPr>
              <p:cNvSpPr>
                <a:spLocks noChangeShapeType="1"/>
              </p:cNvSpPr>
              <p:nvPr/>
            </p:nvSpPr>
            <p:spPr bwMode="auto">
              <a:xfrm>
                <a:off x="1214646" y="4294108"/>
                <a:ext cx="0" cy="468314"/>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93" name="Line 29">
                <a:extLst>
                  <a:ext uri="{FF2B5EF4-FFF2-40B4-BE49-F238E27FC236}">
                    <a16:creationId xmlns:a16="http://schemas.microsoft.com/office/drawing/2014/main" id="{DA546E44-2985-B04E-9342-D3FA12D49CE2}"/>
                  </a:ext>
                </a:extLst>
              </p:cNvPr>
              <p:cNvSpPr>
                <a:spLocks noChangeShapeType="1"/>
              </p:cNvSpPr>
              <p:nvPr/>
            </p:nvSpPr>
            <p:spPr bwMode="auto">
              <a:xfrm>
                <a:off x="1024733" y="4279852"/>
                <a:ext cx="0" cy="468314"/>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94" name="Line 29">
                <a:extLst>
                  <a:ext uri="{FF2B5EF4-FFF2-40B4-BE49-F238E27FC236}">
                    <a16:creationId xmlns:a16="http://schemas.microsoft.com/office/drawing/2014/main" id="{F68BA5C6-0D09-1A48-9B38-855C654FF9D3}"/>
                  </a:ext>
                </a:extLst>
              </p:cNvPr>
              <p:cNvSpPr>
                <a:spLocks noChangeShapeType="1"/>
              </p:cNvSpPr>
              <p:nvPr/>
            </p:nvSpPr>
            <p:spPr bwMode="auto">
              <a:xfrm>
                <a:off x="1749220" y="4299812"/>
                <a:ext cx="0" cy="468314"/>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472" name="Freeform 471">
              <a:extLst>
                <a:ext uri="{FF2B5EF4-FFF2-40B4-BE49-F238E27FC236}">
                  <a16:creationId xmlns:a16="http://schemas.microsoft.com/office/drawing/2014/main" id="{AAB7D595-0EAC-C340-8646-E5D0558E23D5}"/>
                </a:ext>
              </a:extLst>
            </p:cNvPr>
            <p:cNvSpPr/>
            <p:nvPr/>
          </p:nvSpPr>
          <p:spPr>
            <a:xfrm>
              <a:off x="4672013" y="2614613"/>
              <a:ext cx="4886325" cy="685800"/>
            </a:xfrm>
            <a:custGeom>
              <a:avLst/>
              <a:gdLst>
                <a:gd name="connsiteX0" fmla="*/ 0 w 4886325"/>
                <a:gd name="connsiteY0" fmla="*/ 685800 h 685800"/>
                <a:gd name="connsiteX1" fmla="*/ 2171700 w 4886325"/>
                <a:gd name="connsiteY1" fmla="*/ 0 h 685800"/>
                <a:gd name="connsiteX2" fmla="*/ 2443162 w 4886325"/>
                <a:gd name="connsiteY2" fmla="*/ 157162 h 685800"/>
                <a:gd name="connsiteX3" fmla="*/ 2493168 w 4886325"/>
                <a:gd name="connsiteY3" fmla="*/ 150018 h 685800"/>
                <a:gd name="connsiteX4" fmla="*/ 4886325 w 4886325"/>
                <a:gd name="connsiteY4" fmla="*/ 685800 h 685800"/>
                <a:gd name="connsiteX5" fmla="*/ 0 w 4886325"/>
                <a:gd name="connsiteY5" fmla="*/ 685800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6325" h="685800">
                  <a:moveTo>
                    <a:pt x="0" y="685800"/>
                  </a:moveTo>
                  <a:lnTo>
                    <a:pt x="2171700" y="0"/>
                  </a:lnTo>
                  <a:lnTo>
                    <a:pt x="2443162" y="157162"/>
                  </a:lnTo>
                  <a:lnTo>
                    <a:pt x="2493168" y="150018"/>
                  </a:lnTo>
                  <a:lnTo>
                    <a:pt x="4886325" y="685800"/>
                  </a:lnTo>
                  <a:lnTo>
                    <a:pt x="0" y="685800"/>
                  </a:lnTo>
                  <a:close/>
                </a:path>
              </a:pathLst>
            </a:custGeom>
            <a:gradFill>
              <a:gsLst>
                <a:gs pos="0">
                  <a:schemeClr val="accent1">
                    <a:lumMod val="5000"/>
                    <a:lumOff val="95000"/>
                  </a:schemeClr>
                </a:gs>
                <a:gs pos="100000">
                  <a:schemeClr val="bg1">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490" name="TextBox 489">
            <a:extLst>
              <a:ext uri="{FF2B5EF4-FFF2-40B4-BE49-F238E27FC236}">
                <a16:creationId xmlns:a16="http://schemas.microsoft.com/office/drawing/2014/main" id="{ED951575-6D9E-8444-AF65-4E4F4F15AFAD}"/>
              </a:ext>
            </a:extLst>
          </p:cNvPr>
          <p:cNvSpPr txBox="1"/>
          <p:nvPr/>
        </p:nvSpPr>
        <p:spPr>
          <a:xfrm>
            <a:off x="3734657" y="5476462"/>
            <a:ext cx="4076693" cy="300082"/>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tunneling: IPv6 datagram as payload in a IPv4 datagram</a:t>
            </a:r>
          </a:p>
        </p:txBody>
      </p:sp>
      <p:grpSp>
        <p:nvGrpSpPr>
          <p:cNvPr id="460" name="Group 459">
            <a:extLst>
              <a:ext uri="{FF2B5EF4-FFF2-40B4-BE49-F238E27FC236}">
                <a16:creationId xmlns:a16="http://schemas.microsoft.com/office/drawing/2014/main" id="{4D18DF3D-F021-0C48-A36D-4B23F8AAFD1C}"/>
              </a:ext>
            </a:extLst>
          </p:cNvPr>
          <p:cNvGrpSpPr/>
          <p:nvPr/>
        </p:nvGrpSpPr>
        <p:grpSpPr>
          <a:xfrm>
            <a:off x="5177790" y="4581088"/>
            <a:ext cx="628650" cy="282377"/>
            <a:chOff x="6827520" y="2412417"/>
            <a:chExt cx="838200" cy="376503"/>
          </a:xfrm>
        </p:grpSpPr>
        <p:sp>
          <p:nvSpPr>
            <p:cNvPr id="461" name="Right Arrow 460">
              <a:extLst>
                <a:ext uri="{FF2B5EF4-FFF2-40B4-BE49-F238E27FC236}">
                  <a16:creationId xmlns:a16="http://schemas.microsoft.com/office/drawing/2014/main" id="{FEC858D0-05CB-1D47-B1C9-43E27921274B}"/>
                </a:ext>
              </a:extLst>
            </p:cNvPr>
            <p:cNvSpPr/>
            <p:nvPr/>
          </p:nvSpPr>
          <p:spPr>
            <a:xfrm>
              <a:off x="7178040" y="2468880"/>
              <a:ext cx="487680" cy="304800"/>
            </a:xfrm>
            <a:prstGeom prst="rightArrow">
              <a:avLst/>
            </a:prstGeom>
            <a:gradFill>
              <a:gsLst>
                <a:gs pos="0">
                  <a:schemeClr val="accent1">
                    <a:lumMod val="5000"/>
                    <a:lumOff val="95000"/>
                  </a:schemeClr>
                </a:gs>
                <a:gs pos="100000">
                  <a:srgbClr val="CC000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462" name="Group 61">
              <a:extLst>
                <a:ext uri="{FF2B5EF4-FFF2-40B4-BE49-F238E27FC236}">
                  <a16:creationId xmlns:a16="http://schemas.microsoft.com/office/drawing/2014/main" id="{43EB2327-7325-AB41-A3B5-0C0DE2655D45}"/>
                </a:ext>
              </a:extLst>
            </p:cNvPr>
            <p:cNvGrpSpPr>
              <a:grpSpLocks/>
            </p:cNvGrpSpPr>
            <p:nvPr/>
          </p:nvGrpSpPr>
          <p:grpSpPr bwMode="auto">
            <a:xfrm>
              <a:off x="6827520" y="2412417"/>
              <a:ext cx="335280" cy="376503"/>
              <a:chOff x="335231" y="4405745"/>
              <a:chExt cx="1252537" cy="2138362"/>
            </a:xfrm>
          </p:grpSpPr>
          <p:sp>
            <p:nvSpPr>
              <p:cNvPr id="463" name="Freeform 462">
                <a:extLst>
                  <a:ext uri="{FF2B5EF4-FFF2-40B4-BE49-F238E27FC236}">
                    <a16:creationId xmlns:a16="http://schemas.microsoft.com/office/drawing/2014/main" id="{10DEFA56-477A-FB49-8503-F1F4C4F92FF5}"/>
                  </a:ext>
                </a:extLst>
              </p:cNvPr>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C0001"/>
              </a:solidFill>
              <a:ln w="25400" cap="flat" cmpd="sng" algn="ctr">
                <a:noFill/>
                <a:prstDash val="solid"/>
              </a:ln>
              <a:effectLst/>
            </p:spPr>
            <p:txBody>
              <a:bodyPr anchor="ctr"/>
              <a:lstStyle/>
              <a:p>
                <a:pPr algn="ctr" defTabSz="685800" eaLnBrk="1" fontAlgn="auto" hangingPunct="1">
                  <a:spcBef>
                    <a:spcPts val="0"/>
                  </a:spcBef>
                  <a:spcAft>
                    <a:spcPts val="0"/>
                  </a:spcAft>
                  <a:defRPr/>
                </a:pPr>
                <a:endParaRPr lang="en-US" sz="1350" kern="0" dirty="0">
                  <a:solidFill>
                    <a:sysClr val="window" lastClr="FFFFFF"/>
                  </a:solidFill>
                  <a:latin typeface="Calibri"/>
                  <a:ea typeface="+mn-ea"/>
                </a:endParaRPr>
              </a:p>
            </p:txBody>
          </p:sp>
          <p:sp>
            <p:nvSpPr>
              <p:cNvPr id="464" name="Freeform 463">
                <a:extLst>
                  <a:ext uri="{FF2B5EF4-FFF2-40B4-BE49-F238E27FC236}">
                    <a16:creationId xmlns:a16="http://schemas.microsoft.com/office/drawing/2014/main" id="{2E0154E9-B9C9-C04C-B69D-570B28DA959C}"/>
                  </a:ext>
                </a:extLst>
              </p:cNvPr>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w="25400" cap="flat" cmpd="sng" algn="ctr">
                <a:noFill/>
                <a:prstDash val="solid"/>
              </a:ln>
              <a:effectLst/>
            </p:spPr>
            <p:txBody>
              <a:bodyPr anchor="ctr"/>
              <a:lstStyle/>
              <a:p>
                <a:pPr algn="ctr" defTabSz="685800" eaLnBrk="1" fontAlgn="auto" hangingPunct="1">
                  <a:spcBef>
                    <a:spcPts val="0"/>
                  </a:spcBef>
                  <a:spcAft>
                    <a:spcPts val="0"/>
                  </a:spcAft>
                  <a:defRPr/>
                </a:pPr>
                <a:endParaRPr lang="en-US" sz="1350" kern="0" dirty="0">
                  <a:solidFill>
                    <a:sysClr val="window" lastClr="FFFFFF"/>
                  </a:solidFill>
                  <a:latin typeface="Calibri"/>
                  <a:ea typeface="+mn-ea"/>
                </a:endParaRPr>
              </a:p>
            </p:txBody>
          </p:sp>
          <p:sp>
            <p:nvSpPr>
              <p:cNvPr id="465" name="Rectangle 65">
                <a:extLst>
                  <a:ext uri="{FF2B5EF4-FFF2-40B4-BE49-F238E27FC236}">
                    <a16:creationId xmlns:a16="http://schemas.microsoft.com/office/drawing/2014/main" id="{1C32B141-66A3-F744-B5C1-7283AA1EDE73}"/>
                  </a:ext>
                </a:extLst>
              </p:cNvPr>
              <p:cNvSpPr>
                <a:spLocks noChangeArrowheads="1"/>
              </p:cNvSpPr>
              <p:nvPr/>
            </p:nvSpPr>
            <p:spPr bwMode="auto">
              <a:xfrm>
                <a:off x="1296825" y="5178575"/>
                <a:ext cx="289686" cy="1351389"/>
              </a:xfrm>
              <a:prstGeom prst="rect">
                <a:avLst/>
              </a:prstGeom>
              <a:solidFill>
                <a:srgbClr val="EBADAA"/>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endParaRPr lang="en-US" altLang="en-US" sz="1350" dirty="0">
                  <a:solidFill>
                    <a:srgbClr val="FFFFFF"/>
                  </a:solidFill>
                  <a:latin typeface="Calibri" panose="020F0502020204030204" pitchFamily="34" charset="0"/>
                </a:endParaRPr>
              </a:p>
            </p:txBody>
          </p:sp>
        </p:grpSp>
      </p:grpSp>
      <p:sp>
        <p:nvSpPr>
          <p:cNvPr id="20" name="Rectangle 19">
            <a:extLst>
              <a:ext uri="{FF2B5EF4-FFF2-40B4-BE49-F238E27FC236}">
                <a16:creationId xmlns:a16="http://schemas.microsoft.com/office/drawing/2014/main" id="{00DD4844-819E-9E45-B164-6CDFAEE54721}"/>
              </a:ext>
            </a:extLst>
          </p:cNvPr>
          <p:cNvSpPr/>
          <p:nvPr/>
        </p:nvSpPr>
        <p:spPr>
          <a:xfrm>
            <a:off x="617220" y="1874520"/>
            <a:ext cx="7543800" cy="1805940"/>
          </a:xfrm>
          <a:prstGeom prst="rect">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7" name="Group 6">
            <a:extLst>
              <a:ext uri="{FF2B5EF4-FFF2-40B4-BE49-F238E27FC236}">
                <a16:creationId xmlns:a16="http://schemas.microsoft.com/office/drawing/2014/main" id="{6576096C-AF15-BD40-9CA1-5F9A555E20FA}"/>
              </a:ext>
            </a:extLst>
          </p:cNvPr>
          <p:cNvGrpSpPr/>
          <p:nvPr/>
        </p:nvGrpSpPr>
        <p:grpSpPr>
          <a:xfrm>
            <a:off x="3932461" y="4580663"/>
            <a:ext cx="2988897" cy="298249"/>
            <a:chOff x="5243279" y="4964546"/>
            <a:chExt cx="3985195" cy="397665"/>
          </a:xfrm>
        </p:grpSpPr>
        <p:sp>
          <p:nvSpPr>
            <p:cNvPr id="165" name="Text Box 144">
              <a:extLst>
                <a:ext uri="{FF2B5EF4-FFF2-40B4-BE49-F238E27FC236}">
                  <a16:creationId xmlns:a16="http://schemas.microsoft.com/office/drawing/2014/main" id="{5162208E-6A82-C943-B994-B2D4BDC38859}"/>
                </a:ext>
              </a:extLst>
            </p:cNvPr>
            <p:cNvSpPr txBox="1">
              <a:spLocks noChangeArrowheads="1"/>
            </p:cNvSpPr>
            <p:nvPr/>
          </p:nvSpPr>
          <p:spPr bwMode="auto">
            <a:xfrm>
              <a:off x="5243279" y="4964546"/>
              <a:ext cx="9301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r>
                <a:rPr lang="en-US" altLang="en-US" sz="1200" dirty="0">
                  <a:solidFill>
                    <a:srgbClr val="C00000"/>
                  </a:solidFill>
                </a:rPr>
                <a:t>v4</a:t>
              </a:r>
            </a:p>
          </p:txBody>
        </p:sp>
        <p:sp>
          <p:nvSpPr>
            <p:cNvPr id="214" name="Text Box 143">
              <a:extLst>
                <a:ext uri="{FF2B5EF4-FFF2-40B4-BE49-F238E27FC236}">
                  <a16:creationId xmlns:a16="http://schemas.microsoft.com/office/drawing/2014/main" id="{E4FD710E-6938-5A41-BE72-D4BFF3EB9495}"/>
                </a:ext>
              </a:extLst>
            </p:cNvPr>
            <p:cNvSpPr txBox="1">
              <a:spLocks noChangeArrowheads="1"/>
            </p:cNvSpPr>
            <p:nvPr/>
          </p:nvSpPr>
          <p:spPr bwMode="auto">
            <a:xfrm>
              <a:off x="8298305" y="4992879"/>
              <a:ext cx="9301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r>
                <a:rPr lang="en-US" altLang="en-US" sz="1200" dirty="0">
                  <a:solidFill>
                    <a:srgbClr val="C00000"/>
                  </a:solidFill>
                </a:rPr>
                <a:t>v4</a:t>
              </a:r>
            </a:p>
          </p:txBody>
        </p:sp>
      </p:grpSp>
      <p:sp>
        <p:nvSpPr>
          <p:cNvPr id="175" name="Slide Number Placeholder 3">
            <a:extLst>
              <a:ext uri="{FF2B5EF4-FFF2-40B4-BE49-F238E27FC236}">
                <a16:creationId xmlns:a16="http://schemas.microsoft.com/office/drawing/2014/main" id="{9F47540C-0C6C-044C-8C90-FAB0F57C41C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132</a:t>
            </a:fld>
            <a:endParaRPr lang="en-US" dirty="0"/>
          </a:p>
        </p:txBody>
      </p:sp>
    </p:spTree>
    <p:extLst>
      <p:ext uri="{BB962C8B-B14F-4D97-AF65-F5344CB8AC3E}">
        <p14:creationId xmlns:p14="http://schemas.microsoft.com/office/powerpoint/2010/main" val="338337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63"/>
                                        </p:tgtEl>
                                        <p:attrNameLst>
                                          <p:attrName>style.visibility</p:attrName>
                                        </p:attrNameLst>
                                      </p:cBhvr>
                                      <p:to>
                                        <p:strVal val="visible"/>
                                      </p:to>
                                    </p:set>
                                    <p:animEffect transition="in" filter="dissolve">
                                      <p:cBhvr>
                                        <p:cTn id="10" dur="500"/>
                                        <p:tgtEl>
                                          <p:spTgt spid="16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60"/>
                                        </p:tgtEl>
                                        <p:attrNameLst>
                                          <p:attrName>style.visibility</p:attrName>
                                        </p:attrNameLst>
                                      </p:cBhvr>
                                      <p:to>
                                        <p:strVal val="visible"/>
                                      </p:to>
                                    </p:set>
                                    <p:animEffect transition="in" filter="wipe(left)">
                                      <p:cBhvr>
                                        <p:cTn id="15" dur="500"/>
                                        <p:tgtEl>
                                          <p:spTgt spid="46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470"/>
                                        </p:tgtEl>
                                        <p:attrNameLst>
                                          <p:attrName>style.visibility</p:attrName>
                                        </p:attrNameLst>
                                      </p:cBhvr>
                                      <p:to>
                                        <p:strVal val="visible"/>
                                      </p:to>
                                    </p:set>
                                    <p:animEffect transition="in" filter="wipe(up)">
                                      <p:cBhvr>
                                        <p:cTn id="20" dur="500"/>
                                        <p:tgtEl>
                                          <p:spTgt spid="470"/>
                                        </p:tgtEl>
                                      </p:cBhvr>
                                    </p:animEffect>
                                  </p:childTnLst>
                                </p:cTn>
                              </p:par>
                            </p:childTnLst>
                          </p:cTn>
                        </p:par>
                        <p:par>
                          <p:cTn id="21" fill="hold">
                            <p:stCondLst>
                              <p:cond delay="500"/>
                            </p:stCondLst>
                            <p:childTnLst>
                              <p:par>
                                <p:cTn id="22" presetID="9" presetClass="entr" presetSubtype="0" fill="hold" nodeType="afterEffect">
                                  <p:stCondLst>
                                    <p:cond delay="500"/>
                                  </p:stCondLst>
                                  <p:childTnLst>
                                    <p:set>
                                      <p:cBhvr>
                                        <p:cTn id="23" dur="1" fill="hold">
                                          <p:stCondLst>
                                            <p:cond delay="0"/>
                                          </p:stCondLst>
                                        </p:cTn>
                                        <p:tgtEl>
                                          <p:spTgt spid="467"/>
                                        </p:tgtEl>
                                        <p:attrNameLst>
                                          <p:attrName>style.visibility</p:attrName>
                                        </p:attrNameLst>
                                      </p:cBhvr>
                                      <p:to>
                                        <p:strVal val="visible"/>
                                      </p:to>
                                    </p:set>
                                    <p:animEffect transition="in" filter="dissolve">
                                      <p:cBhvr>
                                        <p:cTn id="24" dur="500"/>
                                        <p:tgtEl>
                                          <p:spTgt spid="467"/>
                                        </p:tgtEl>
                                      </p:cBhvr>
                                    </p:animEffect>
                                  </p:childTnLst>
                                </p:cTn>
                              </p:par>
                            </p:childTnLst>
                          </p:cTn>
                        </p:par>
                        <p:par>
                          <p:cTn id="25" fill="hold">
                            <p:stCondLst>
                              <p:cond delay="1500"/>
                            </p:stCondLst>
                            <p:childTnLst>
                              <p:par>
                                <p:cTn id="26" presetID="9" presetClass="entr" presetSubtype="0" fill="hold" grpId="0" nodeType="afterEffect">
                                  <p:stCondLst>
                                    <p:cond delay="500"/>
                                  </p:stCondLst>
                                  <p:childTnLst>
                                    <p:set>
                                      <p:cBhvr>
                                        <p:cTn id="27" dur="1" fill="hold">
                                          <p:stCondLst>
                                            <p:cond delay="0"/>
                                          </p:stCondLst>
                                        </p:cTn>
                                        <p:tgtEl>
                                          <p:spTgt spid="490"/>
                                        </p:tgtEl>
                                        <p:attrNameLst>
                                          <p:attrName>style.visibility</p:attrName>
                                        </p:attrNameLst>
                                      </p:cBhvr>
                                      <p:to>
                                        <p:strVal val="visible"/>
                                      </p:to>
                                    </p:set>
                                    <p:animEffect transition="in" filter="dissolve">
                                      <p:cBhvr>
                                        <p:cTn id="28" dur="500"/>
                                        <p:tgtEl>
                                          <p:spTgt spid="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p:bldP spid="490"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0" name="Group 354">
            <a:extLst>
              <a:ext uri="{FF2B5EF4-FFF2-40B4-BE49-F238E27FC236}">
                <a16:creationId xmlns:a16="http://schemas.microsoft.com/office/drawing/2014/main" id="{8664861B-122E-9E40-A054-FD448E175B48}"/>
              </a:ext>
            </a:extLst>
          </p:cNvPr>
          <p:cNvGrpSpPr>
            <a:grpSpLocks/>
          </p:cNvGrpSpPr>
          <p:nvPr/>
        </p:nvGrpSpPr>
        <p:grpSpPr bwMode="auto">
          <a:xfrm>
            <a:off x="4688032" y="3308406"/>
            <a:ext cx="934641" cy="2524125"/>
            <a:chOff x="3485" y="2128"/>
            <a:chExt cx="785" cy="2120"/>
          </a:xfrm>
        </p:grpSpPr>
        <p:sp>
          <p:nvSpPr>
            <p:cNvPr id="171" name="Line 196">
              <a:extLst>
                <a:ext uri="{FF2B5EF4-FFF2-40B4-BE49-F238E27FC236}">
                  <a16:creationId xmlns:a16="http://schemas.microsoft.com/office/drawing/2014/main" id="{5F8A900E-F4A9-C049-BD79-B1EA7B6F499A}"/>
                </a:ext>
              </a:extLst>
            </p:cNvPr>
            <p:cNvSpPr>
              <a:spLocks noChangeShapeType="1"/>
            </p:cNvSpPr>
            <p:nvPr/>
          </p:nvSpPr>
          <p:spPr bwMode="auto">
            <a:xfrm>
              <a:off x="3627" y="2128"/>
              <a:ext cx="43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72" name="Text Box 210">
              <a:extLst>
                <a:ext uri="{FF2B5EF4-FFF2-40B4-BE49-F238E27FC236}">
                  <a16:creationId xmlns:a16="http://schemas.microsoft.com/office/drawing/2014/main" id="{857A6CF4-362B-DD44-B28A-D45F0134BB80}"/>
                </a:ext>
              </a:extLst>
            </p:cNvPr>
            <p:cNvSpPr txBox="1">
              <a:spLocks noChangeArrowheads="1"/>
            </p:cNvSpPr>
            <p:nvPr/>
          </p:nvSpPr>
          <p:spPr bwMode="auto">
            <a:xfrm>
              <a:off x="3485" y="3775"/>
              <a:ext cx="785" cy="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dirty="0">
                  <a:solidFill>
                    <a:prstClr val="black"/>
                  </a:solidFill>
                </a:rPr>
                <a:t>B-to-C:</a:t>
              </a:r>
            </a:p>
            <a:p>
              <a:pPr algn="ctr" defTabSz="685800" eaLnBrk="1" fontAlgn="auto" hangingPunct="1">
                <a:lnSpc>
                  <a:spcPct val="85000"/>
                </a:lnSpc>
                <a:spcBef>
                  <a:spcPts val="0"/>
                </a:spcBef>
                <a:spcAft>
                  <a:spcPts val="0"/>
                </a:spcAft>
                <a:defRPr/>
              </a:pPr>
              <a:r>
                <a:rPr lang="en-US" altLang="en-US" sz="1200" dirty="0">
                  <a:solidFill>
                    <a:prstClr val="black"/>
                  </a:solidFill>
                </a:rPr>
                <a:t>IPv6 inside</a:t>
              </a:r>
            </a:p>
            <a:p>
              <a:pPr algn="ctr" defTabSz="685800" eaLnBrk="1" fontAlgn="auto" hangingPunct="1">
                <a:lnSpc>
                  <a:spcPct val="85000"/>
                </a:lnSpc>
                <a:spcBef>
                  <a:spcPts val="0"/>
                </a:spcBef>
                <a:spcAft>
                  <a:spcPts val="0"/>
                </a:spcAft>
                <a:defRPr/>
              </a:pPr>
              <a:r>
                <a:rPr lang="en-US" altLang="en-US" sz="1200" dirty="0">
                  <a:solidFill>
                    <a:prstClr val="black"/>
                  </a:solidFill>
                </a:rPr>
                <a:t>IPv4</a:t>
              </a:r>
            </a:p>
          </p:txBody>
        </p:sp>
        <p:sp>
          <p:nvSpPr>
            <p:cNvPr id="173" name="Line 211">
              <a:extLst>
                <a:ext uri="{FF2B5EF4-FFF2-40B4-BE49-F238E27FC236}">
                  <a16:creationId xmlns:a16="http://schemas.microsoft.com/office/drawing/2014/main" id="{E8B43FB3-D739-F746-A9FF-D32BF1E82C48}"/>
                </a:ext>
              </a:extLst>
            </p:cNvPr>
            <p:cNvSpPr>
              <a:spLocks noChangeShapeType="1"/>
            </p:cNvSpPr>
            <p:nvPr/>
          </p:nvSpPr>
          <p:spPr bwMode="auto">
            <a:xfrm>
              <a:off x="3883" y="3640"/>
              <a:ext cx="0" cy="116"/>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174" name="Group 217">
              <a:extLst>
                <a:ext uri="{FF2B5EF4-FFF2-40B4-BE49-F238E27FC236}">
                  <a16:creationId xmlns:a16="http://schemas.microsoft.com/office/drawing/2014/main" id="{A90D65B9-F6BA-EE47-BCAA-41FC80D0D98B}"/>
                </a:ext>
              </a:extLst>
            </p:cNvPr>
            <p:cNvGrpSpPr>
              <a:grpSpLocks/>
            </p:cNvGrpSpPr>
            <p:nvPr/>
          </p:nvGrpSpPr>
          <p:grpSpPr bwMode="auto">
            <a:xfrm>
              <a:off x="3558" y="2220"/>
              <a:ext cx="620" cy="1388"/>
              <a:chOff x="478" y="2082"/>
              <a:chExt cx="620" cy="1388"/>
            </a:xfrm>
          </p:grpSpPr>
          <p:sp>
            <p:nvSpPr>
              <p:cNvPr id="175" name="Rectangle 218">
                <a:extLst>
                  <a:ext uri="{FF2B5EF4-FFF2-40B4-BE49-F238E27FC236}">
                    <a16:creationId xmlns:a16="http://schemas.microsoft.com/office/drawing/2014/main" id="{450F7344-AA44-114F-BAED-E52F2048F2A2}"/>
                  </a:ext>
                </a:extLst>
              </p:cNvPr>
              <p:cNvSpPr>
                <a:spLocks noChangeArrowheads="1"/>
              </p:cNvSpPr>
              <p:nvPr/>
            </p:nvSpPr>
            <p:spPr bwMode="auto">
              <a:xfrm>
                <a:off x="478" y="2088"/>
                <a:ext cx="583" cy="1382"/>
              </a:xfrm>
              <a:prstGeom prst="rect">
                <a:avLst/>
              </a:prstGeom>
              <a:solidFill>
                <a:srgbClr val="CC000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grpSp>
            <p:nvGrpSpPr>
              <p:cNvPr id="176" name="Group 219">
                <a:extLst>
                  <a:ext uri="{FF2B5EF4-FFF2-40B4-BE49-F238E27FC236}">
                    <a16:creationId xmlns:a16="http://schemas.microsoft.com/office/drawing/2014/main" id="{1411D276-5368-954A-BD00-E54BD0F43AC9}"/>
                  </a:ext>
                </a:extLst>
              </p:cNvPr>
              <p:cNvGrpSpPr>
                <a:grpSpLocks/>
              </p:cNvGrpSpPr>
              <p:nvPr/>
            </p:nvGrpSpPr>
            <p:grpSpPr bwMode="auto">
              <a:xfrm>
                <a:off x="499" y="2471"/>
                <a:ext cx="532" cy="910"/>
                <a:chOff x="4869" y="143"/>
                <a:chExt cx="532" cy="910"/>
              </a:xfrm>
            </p:grpSpPr>
            <p:sp>
              <p:nvSpPr>
                <p:cNvPr id="178" name="Rectangle 220">
                  <a:extLst>
                    <a:ext uri="{FF2B5EF4-FFF2-40B4-BE49-F238E27FC236}">
                      <a16:creationId xmlns:a16="http://schemas.microsoft.com/office/drawing/2014/main" id="{C5BF02DE-C1F8-BB4A-8D32-290E9B10039C}"/>
                    </a:ext>
                  </a:extLst>
                </p:cNvPr>
                <p:cNvSpPr>
                  <a:spLocks noChangeArrowheads="1"/>
                </p:cNvSpPr>
                <p:nvPr/>
              </p:nvSpPr>
              <p:spPr bwMode="auto">
                <a:xfrm>
                  <a:off x="4893" y="143"/>
                  <a:ext cx="462" cy="908"/>
                </a:xfrm>
                <a:prstGeom prst="rect">
                  <a:avLst/>
                </a:prstGeom>
                <a:solidFill>
                  <a:srgbClr val="B5E7FF"/>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179" name="Text Box 221">
                  <a:extLst>
                    <a:ext uri="{FF2B5EF4-FFF2-40B4-BE49-F238E27FC236}">
                      <a16:creationId xmlns:a16="http://schemas.microsoft.com/office/drawing/2014/main" id="{0AF63432-1868-7041-BC7C-74D54D5D6950}"/>
                    </a:ext>
                  </a:extLst>
                </p:cNvPr>
                <p:cNvSpPr txBox="1">
                  <a:spLocks noChangeArrowheads="1"/>
                </p:cNvSpPr>
                <p:nvPr/>
              </p:nvSpPr>
              <p:spPr bwMode="auto">
                <a:xfrm>
                  <a:off x="4869" y="161"/>
                  <a:ext cx="532" cy="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rPr>
                    <a:t>Flow: X</a:t>
                  </a:r>
                </a:p>
                <a:p>
                  <a:pPr defTabSz="685800" eaLnBrk="1" fontAlgn="auto" hangingPunct="1">
                    <a:spcBef>
                      <a:spcPts val="0"/>
                    </a:spcBef>
                    <a:spcAft>
                      <a:spcPts val="0"/>
                    </a:spcAft>
                    <a:defRPr/>
                  </a:pPr>
                  <a:r>
                    <a:rPr lang="en-US" altLang="en-US" sz="1050" dirty="0">
                      <a:solidFill>
                        <a:prstClr val="black"/>
                      </a:solidFill>
                    </a:rPr>
                    <a:t>Src: A</a:t>
                  </a:r>
                </a:p>
                <a:p>
                  <a:pPr defTabSz="685800" eaLnBrk="1" fontAlgn="auto" hangingPunct="1">
                    <a:spcBef>
                      <a:spcPts val="0"/>
                    </a:spcBef>
                    <a:spcAft>
                      <a:spcPts val="0"/>
                    </a:spcAft>
                    <a:defRPr/>
                  </a:pPr>
                  <a:r>
                    <a:rPr lang="en-US" altLang="en-US" sz="1050" dirty="0">
                      <a:solidFill>
                        <a:prstClr val="black"/>
                      </a:solidFill>
                    </a:rPr>
                    <a:t>Dest: F</a:t>
                  </a: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r>
                    <a:rPr lang="en-US" altLang="en-US" sz="1050" dirty="0">
                      <a:solidFill>
                        <a:prstClr val="black"/>
                      </a:solidFill>
                    </a:rPr>
                    <a:t>data</a:t>
                  </a:r>
                </a:p>
              </p:txBody>
            </p:sp>
          </p:grpSp>
          <p:sp>
            <p:nvSpPr>
              <p:cNvPr id="177" name="Text Box 222">
                <a:extLst>
                  <a:ext uri="{FF2B5EF4-FFF2-40B4-BE49-F238E27FC236}">
                    <a16:creationId xmlns:a16="http://schemas.microsoft.com/office/drawing/2014/main" id="{CB089CAC-22C3-6542-8215-15782FB5B57E}"/>
                  </a:ext>
                </a:extLst>
              </p:cNvPr>
              <p:cNvSpPr txBox="1">
                <a:spLocks noChangeArrowheads="1"/>
              </p:cNvSpPr>
              <p:nvPr/>
            </p:nvSpPr>
            <p:spPr bwMode="auto">
              <a:xfrm>
                <a:off x="491" y="2082"/>
                <a:ext cx="607"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white"/>
                    </a:solidFill>
                  </a:rPr>
                  <a:t>src:B</a:t>
                </a:r>
              </a:p>
              <a:p>
                <a:pPr defTabSz="685800" eaLnBrk="1" fontAlgn="auto" hangingPunct="1">
                  <a:spcBef>
                    <a:spcPts val="0"/>
                  </a:spcBef>
                  <a:spcAft>
                    <a:spcPts val="0"/>
                  </a:spcAft>
                  <a:defRPr/>
                </a:pPr>
                <a:r>
                  <a:rPr lang="en-US" altLang="en-US" sz="1350" dirty="0">
                    <a:solidFill>
                      <a:prstClr val="white"/>
                    </a:solidFill>
                  </a:rPr>
                  <a:t>dest: E</a:t>
                </a:r>
              </a:p>
            </p:txBody>
          </p:sp>
        </p:grpSp>
      </p:grpSp>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628650" y="1116604"/>
            <a:ext cx="7886700" cy="670967"/>
          </a:xfrm>
        </p:spPr>
        <p:txBody>
          <a:bodyPr>
            <a:normAutofit/>
          </a:bodyPr>
          <a:lstStyle/>
          <a:p>
            <a:r>
              <a:rPr lang="en-US" sz="3600" dirty="0"/>
              <a:t>Tunneling</a:t>
            </a:r>
          </a:p>
        </p:txBody>
      </p:sp>
      <p:sp>
        <p:nvSpPr>
          <p:cNvPr id="94" name="Text Box 76">
            <a:extLst>
              <a:ext uri="{FF2B5EF4-FFF2-40B4-BE49-F238E27FC236}">
                <a16:creationId xmlns:a16="http://schemas.microsoft.com/office/drawing/2014/main" id="{62F1B7C4-0039-A74A-B993-603447F55862}"/>
              </a:ext>
            </a:extLst>
          </p:cNvPr>
          <p:cNvSpPr txBox="1">
            <a:spLocks noChangeArrowheads="1"/>
          </p:cNvSpPr>
          <p:nvPr/>
        </p:nvSpPr>
        <p:spPr bwMode="auto">
          <a:xfrm>
            <a:off x="1228933" y="2716552"/>
            <a:ext cx="14800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800" dirty="0">
                <a:solidFill>
                  <a:prstClr val="black"/>
                </a:solidFill>
                <a:latin typeface="Calibri" panose="020F0502020204030204"/>
              </a:rPr>
              <a:t>physical view:</a:t>
            </a:r>
          </a:p>
        </p:txBody>
      </p:sp>
      <p:sp>
        <p:nvSpPr>
          <p:cNvPr id="95" name="Line 147">
            <a:extLst>
              <a:ext uri="{FF2B5EF4-FFF2-40B4-BE49-F238E27FC236}">
                <a16:creationId xmlns:a16="http://schemas.microsoft.com/office/drawing/2014/main" id="{189F3025-CEBB-CD49-B964-56C598B88309}"/>
              </a:ext>
            </a:extLst>
          </p:cNvPr>
          <p:cNvSpPr>
            <a:spLocks noChangeShapeType="1"/>
          </p:cNvSpPr>
          <p:nvPr/>
        </p:nvSpPr>
        <p:spPr bwMode="auto">
          <a:xfrm flipV="1">
            <a:off x="4074733" y="2929196"/>
            <a:ext cx="2063177" cy="0"/>
          </a:xfrm>
          <a:prstGeom prst="line">
            <a:avLst/>
          </a:prstGeom>
          <a:noFill/>
          <a:ln w="19050">
            <a:solidFill>
              <a:srgbClr val="CC000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96" name="Text Box 180">
            <a:extLst>
              <a:ext uri="{FF2B5EF4-FFF2-40B4-BE49-F238E27FC236}">
                <a16:creationId xmlns:a16="http://schemas.microsoft.com/office/drawing/2014/main" id="{A633AB40-6115-0148-BF57-58966884971E}"/>
              </a:ext>
            </a:extLst>
          </p:cNvPr>
          <p:cNvSpPr txBox="1">
            <a:spLocks noChangeArrowheads="1"/>
          </p:cNvSpPr>
          <p:nvPr/>
        </p:nvSpPr>
        <p:spPr bwMode="auto">
          <a:xfrm>
            <a:off x="4355993" y="3022066"/>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srgbClr val="CC0000"/>
                </a:solidFill>
              </a:rPr>
              <a:t>IPv4</a:t>
            </a:r>
          </a:p>
        </p:txBody>
      </p:sp>
      <p:sp>
        <p:nvSpPr>
          <p:cNvPr id="97" name="Text Box 181">
            <a:extLst>
              <a:ext uri="{FF2B5EF4-FFF2-40B4-BE49-F238E27FC236}">
                <a16:creationId xmlns:a16="http://schemas.microsoft.com/office/drawing/2014/main" id="{931D1568-1B10-2D4F-B743-5FD9A1B5FEC0}"/>
              </a:ext>
            </a:extLst>
          </p:cNvPr>
          <p:cNvSpPr txBox="1">
            <a:spLocks noChangeArrowheads="1"/>
          </p:cNvSpPr>
          <p:nvPr/>
        </p:nvSpPr>
        <p:spPr bwMode="auto">
          <a:xfrm>
            <a:off x="5377516" y="3023256"/>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srgbClr val="CC0000"/>
                </a:solidFill>
              </a:rPr>
              <a:t>IPv4</a:t>
            </a:r>
          </a:p>
        </p:txBody>
      </p:sp>
      <p:sp>
        <p:nvSpPr>
          <p:cNvPr id="141" name="Text Box 50">
            <a:extLst>
              <a:ext uri="{FF2B5EF4-FFF2-40B4-BE49-F238E27FC236}">
                <a16:creationId xmlns:a16="http://schemas.microsoft.com/office/drawing/2014/main" id="{AEE118FB-311C-E349-8593-792B261584D5}"/>
              </a:ext>
            </a:extLst>
          </p:cNvPr>
          <p:cNvSpPr txBox="1">
            <a:spLocks noChangeArrowheads="1"/>
          </p:cNvSpPr>
          <p:nvPr/>
        </p:nvSpPr>
        <p:spPr bwMode="auto">
          <a:xfrm>
            <a:off x="6238336" y="2549386"/>
            <a:ext cx="3000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E</a:t>
            </a:r>
          </a:p>
        </p:txBody>
      </p:sp>
      <p:sp>
        <p:nvSpPr>
          <p:cNvPr id="142" name="Line 142">
            <a:extLst>
              <a:ext uri="{FF2B5EF4-FFF2-40B4-BE49-F238E27FC236}">
                <a16:creationId xmlns:a16="http://schemas.microsoft.com/office/drawing/2014/main" id="{B207ED6F-0861-6549-ACDE-1CC3A99A2CAC}"/>
              </a:ext>
            </a:extLst>
          </p:cNvPr>
          <p:cNvSpPr>
            <a:spLocks noChangeShapeType="1"/>
          </p:cNvSpPr>
          <p:nvPr/>
        </p:nvSpPr>
        <p:spPr bwMode="auto">
          <a:xfrm flipV="1">
            <a:off x="6643149" y="2922053"/>
            <a:ext cx="2428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3" name="Text Box 145">
            <a:extLst>
              <a:ext uri="{FF2B5EF4-FFF2-40B4-BE49-F238E27FC236}">
                <a16:creationId xmlns:a16="http://schemas.microsoft.com/office/drawing/2014/main" id="{1227F6DB-46DA-1841-BA2F-8F0DEEC6D107}"/>
              </a:ext>
            </a:extLst>
          </p:cNvPr>
          <p:cNvSpPr txBox="1">
            <a:spLocks noChangeArrowheads="1"/>
          </p:cNvSpPr>
          <p:nvPr/>
        </p:nvSpPr>
        <p:spPr bwMode="auto">
          <a:xfrm>
            <a:off x="6074269" y="3013731"/>
            <a:ext cx="69762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r>
              <a:rPr lang="en-US" altLang="en-US" sz="1200" dirty="0">
                <a:solidFill>
                  <a:srgbClr val="C00000"/>
                </a:solidFill>
              </a:rPr>
              <a:t>v4</a:t>
            </a:r>
          </a:p>
        </p:txBody>
      </p:sp>
      <p:sp>
        <p:nvSpPr>
          <p:cNvPr id="144" name="Text Box 146">
            <a:extLst>
              <a:ext uri="{FF2B5EF4-FFF2-40B4-BE49-F238E27FC236}">
                <a16:creationId xmlns:a16="http://schemas.microsoft.com/office/drawing/2014/main" id="{5E720538-FCCC-3B43-88A3-8D7219A344B6}"/>
              </a:ext>
            </a:extLst>
          </p:cNvPr>
          <p:cNvSpPr txBox="1">
            <a:spLocks noChangeArrowheads="1"/>
          </p:cNvSpPr>
          <p:nvPr/>
        </p:nvSpPr>
        <p:spPr bwMode="auto">
          <a:xfrm>
            <a:off x="6901516" y="3016112"/>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sp>
        <p:nvSpPr>
          <p:cNvPr id="147" name="Text Box 299">
            <a:extLst>
              <a:ext uri="{FF2B5EF4-FFF2-40B4-BE49-F238E27FC236}">
                <a16:creationId xmlns:a16="http://schemas.microsoft.com/office/drawing/2014/main" id="{8CB09BD1-4824-F647-AAE9-42E9C8BCF505}"/>
              </a:ext>
            </a:extLst>
          </p:cNvPr>
          <p:cNvSpPr txBox="1">
            <a:spLocks noChangeArrowheads="1"/>
          </p:cNvSpPr>
          <p:nvPr/>
        </p:nvSpPr>
        <p:spPr bwMode="auto">
          <a:xfrm>
            <a:off x="7001243" y="2554149"/>
            <a:ext cx="29046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F</a:t>
            </a:r>
          </a:p>
        </p:txBody>
      </p:sp>
      <p:sp>
        <p:nvSpPr>
          <p:cNvPr id="164" name="Text Box 300">
            <a:extLst>
              <a:ext uri="{FF2B5EF4-FFF2-40B4-BE49-F238E27FC236}">
                <a16:creationId xmlns:a16="http://schemas.microsoft.com/office/drawing/2014/main" id="{0AED3E2E-7EF0-D24B-88E2-E14C6018ACAD}"/>
              </a:ext>
            </a:extLst>
          </p:cNvPr>
          <p:cNvSpPr txBox="1">
            <a:spLocks noChangeArrowheads="1"/>
          </p:cNvSpPr>
          <p:nvPr/>
        </p:nvSpPr>
        <p:spPr bwMode="auto">
          <a:xfrm>
            <a:off x="4442636" y="2544624"/>
            <a:ext cx="309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C</a:t>
            </a:r>
          </a:p>
        </p:txBody>
      </p:sp>
      <p:sp>
        <p:nvSpPr>
          <p:cNvPr id="165" name="Text Box 301">
            <a:extLst>
              <a:ext uri="{FF2B5EF4-FFF2-40B4-BE49-F238E27FC236}">
                <a16:creationId xmlns:a16="http://schemas.microsoft.com/office/drawing/2014/main" id="{39A05E3B-A345-BB4E-B350-FFA01EA28B89}"/>
              </a:ext>
            </a:extLst>
          </p:cNvPr>
          <p:cNvSpPr txBox="1">
            <a:spLocks noChangeArrowheads="1"/>
          </p:cNvSpPr>
          <p:nvPr/>
        </p:nvSpPr>
        <p:spPr bwMode="auto">
          <a:xfrm>
            <a:off x="5483480" y="2547005"/>
            <a:ext cx="309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D</a:t>
            </a:r>
          </a:p>
        </p:txBody>
      </p:sp>
      <p:grpSp>
        <p:nvGrpSpPr>
          <p:cNvPr id="228" name="Group 227">
            <a:extLst>
              <a:ext uri="{FF2B5EF4-FFF2-40B4-BE49-F238E27FC236}">
                <a16:creationId xmlns:a16="http://schemas.microsoft.com/office/drawing/2014/main" id="{39028889-DBAA-3341-BA48-2F577863B977}"/>
              </a:ext>
            </a:extLst>
          </p:cNvPr>
          <p:cNvGrpSpPr/>
          <p:nvPr/>
        </p:nvGrpSpPr>
        <p:grpSpPr>
          <a:xfrm>
            <a:off x="4297745" y="2792934"/>
            <a:ext cx="551394" cy="264592"/>
            <a:chOff x="7493876" y="2774731"/>
            <a:chExt cx="1481958" cy="894622"/>
          </a:xfrm>
        </p:grpSpPr>
        <p:sp>
          <p:nvSpPr>
            <p:cNvPr id="229" name="Freeform 228">
              <a:extLst>
                <a:ext uri="{FF2B5EF4-FFF2-40B4-BE49-F238E27FC236}">
                  <a16:creationId xmlns:a16="http://schemas.microsoft.com/office/drawing/2014/main" id="{CB310358-E859-094E-BA99-37FCB4BFEAE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30" name="Oval 229">
              <a:extLst>
                <a:ext uri="{FF2B5EF4-FFF2-40B4-BE49-F238E27FC236}">
                  <a16:creationId xmlns:a16="http://schemas.microsoft.com/office/drawing/2014/main" id="{BDD1722D-BC4F-C74B-9D5B-6930831E774E}"/>
                </a:ext>
              </a:extLst>
            </p:cNvPr>
            <p:cNvSpPr/>
            <p:nvPr/>
          </p:nvSpPr>
          <p:spPr>
            <a:xfrm>
              <a:off x="7494729" y="2774731"/>
              <a:ext cx="1480163" cy="579140"/>
            </a:xfrm>
            <a:prstGeom prst="ellipse">
              <a:avLst/>
            </a:prstGeom>
            <a:solidFill>
              <a:srgbClr val="B8C2C9"/>
            </a:soli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31" name="Group 230">
              <a:extLst>
                <a:ext uri="{FF2B5EF4-FFF2-40B4-BE49-F238E27FC236}">
                  <a16:creationId xmlns:a16="http://schemas.microsoft.com/office/drawing/2014/main" id="{365AE07F-5A02-F246-9B95-59DB9423D00E}"/>
                </a:ext>
              </a:extLst>
            </p:cNvPr>
            <p:cNvGrpSpPr/>
            <p:nvPr/>
          </p:nvGrpSpPr>
          <p:grpSpPr>
            <a:xfrm>
              <a:off x="7713663" y="2848339"/>
              <a:ext cx="1042107" cy="425543"/>
              <a:chOff x="7786941" y="2884917"/>
              <a:chExt cx="897649" cy="353919"/>
            </a:xfrm>
          </p:grpSpPr>
          <p:sp>
            <p:nvSpPr>
              <p:cNvPr id="232" name="Freeform 231">
                <a:extLst>
                  <a:ext uri="{FF2B5EF4-FFF2-40B4-BE49-F238E27FC236}">
                    <a16:creationId xmlns:a16="http://schemas.microsoft.com/office/drawing/2014/main" id="{14FD44EE-3757-4A4D-A18D-C61EFBB439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33" name="Freeform 232">
                <a:extLst>
                  <a:ext uri="{FF2B5EF4-FFF2-40B4-BE49-F238E27FC236}">
                    <a16:creationId xmlns:a16="http://schemas.microsoft.com/office/drawing/2014/main" id="{226F2D87-B266-FA4E-A83F-3DC6A4A918A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34" name="Freeform 233">
                <a:extLst>
                  <a:ext uri="{FF2B5EF4-FFF2-40B4-BE49-F238E27FC236}">
                    <a16:creationId xmlns:a16="http://schemas.microsoft.com/office/drawing/2014/main" id="{1C9C26E9-F250-174F-B690-FE783CED195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35" name="Freeform 234">
                <a:extLst>
                  <a:ext uri="{FF2B5EF4-FFF2-40B4-BE49-F238E27FC236}">
                    <a16:creationId xmlns:a16="http://schemas.microsoft.com/office/drawing/2014/main" id="{059C9F2E-BB6A-0F4E-9FD4-EF90C4B9491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6" name="Group 5">
            <a:extLst>
              <a:ext uri="{FF2B5EF4-FFF2-40B4-BE49-F238E27FC236}">
                <a16:creationId xmlns:a16="http://schemas.microsoft.com/office/drawing/2014/main" id="{2014D45D-C451-BD45-B3E1-5D0E9F0BB121}"/>
              </a:ext>
            </a:extLst>
          </p:cNvPr>
          <p:cNvGrpSpPr/>
          <p:nvPr/>
        </p:nvGrpSpPr>
        <p:grpSpPr>
          <a:xfrm>
            <a:off x="2752663" y="2528320"/>
            <a:ext cx="1429862" cy="748487"/>
            <a:chOff x="3670217" y="2254595"/>
            <a:chExt cx="1906482" cy="997982"/>
          </a:xfrm>
        </p:grpSpPr>
        <p:sp>
          <p:nvSpPr>
            <p:cNvPr id="108" name="Text Box 92">
              <a:extLst>
                <a:ext uri="{FF2B5EF4-FFF2-40B4-BE49-F238E27FC236}">
                  <a16:creationId xmlns:a16="http://schemas.microsoft.com/office/drawing/2014/main" id="{DC72D4CE-728B-FA4B-B59D-377BAA1C8D48}"/>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A</a:t>
              </a:r>
            </a:p>
          </p:txBody>
        </p:sp>
        <p:sp>
          <p:nvSpPr>
            <p:cNvPr id="109" name="Text Box 108">
              <a:extLst>
                <a:ext uri="{FF2B5EF4-FFF2-40B4-BE49-F238E27FC236}">
                  <a16:creationId xmlns:a16="http://schemas.microsoft.com/office/drawing/2014/main" id="{85A19B03-1473-714F-9887-6504518B21C6}"/>
                </a:ext>
              </a:extLst>
            </p:cNvPr>
            <p:cNvSpPr txBox="1">
              <a:spLocks noChangeArrowheads="1"/>
            </p:cNvSpPr>
            <p:nvPr/>
          </p:nvSpPr>
          <p:spPr bwMode="auto">
            <a:xfrm>
              <a:off x="4904341" y="2259358"/>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B</a:t>
              </a:r>
            </a:p>
          </p:txBody>
        </p:sp>
        <p:sp>
          <p:nvSpPr>
            <p:cNvPr id="110" name="Line 141">
              <a:extLst>
                <a:ext uri="{FF2B5EF4-FFF2-40B4-BE49-F238E27FC236}">
                  <a16:creationId xmlns:a16="http://schemas.microsoft.com/office/drawing/2014/main" id="{F2FAFBC3-4C7D-C642-A947-11DC85620955}"/>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11" name="Text Box 143">
              <a:extLst>
                <a:ext uri="{FF2B5EF4-FFF2-40B4-BE49-F238E27FC236}">
                  <a16:creationId xmlns:a16="http://schemas.microsoft.com/office/drawing/2014/main" id="{00EF4233-9EC3-844D-8E2A-77960111BBD8}"/>
                </a:ext>
              </a:extLst>
            </p:cNvPr>
            <p:cNvSpPr txBox="1">
              <a:spLocks noChangeArrowheads="1"/>
            </p:cNvSpPr>
            <p:nvPr/>
          </p:nvSpPr>
          <p:spPr bwMode="auto">
            <a:xfrm>
              <a:off x="3737528" y="2881657"/>
              <a:ext cx="6565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sp>
          <p:nvSpPr>
            <p:cNvPr id="112" name="Text Box 144">
              <a:extLst>
                <a:ext uri="{FF2B5EF4-FFF2-40B4-BE49-F238E27FC236}">
                  <a16:creationId xmlns:a16="http://schemas.microsoft.com/office/drawing/2014/main" id="{5E2FA2CC-4EA4-AD41-95CA-1861738152CB}"/>
                </a:ext>
              </a:extLst>
            </p:cNvPr>
            <p:cNvSpPr txBox="1">
              <a:spLocks noChangeArrowheads="1"/>
            </p:cNvSpPr>
            <p:nvPr/>
          </p:nvSpPr>
          <p:spPr bwMode="auto">
            <a:xfrm>
              <a:off x="4646530" y="2883245"/>
              <a:ext cx="9301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r>
                <a:rPr lang="en-US" altLang="en-US" sz="1200" dirty="0">
                  <a:solidFill>
                    <a:srgbClr val="C00000"/>
                  </a:solidFill>
                </a:rPr>
                <a:t>v4</a:t>
              </a:r>
            </a:p>
          </p:txBody>
        </p:sp>
        <p:grpSp>
          <p:nvGrpSpPr>
            <p:cNvPr id="220" name="Group 219">
              <a:extLst>
                <a:ext uri="{FF2B5EF4-FFF2-40B4-BE49-F238E27FC236}">
                  <a16:creationId xmlns:a16="http://schemas.microsoft.com/office/drawing/2014/main" id="{74CC5104-3EFC-E748-9B0E-5926A004A103}"/>
                </a:ext>
              </a:extLst>
            </p:cNvPr>
            <p:cNvGrpSpPr/>
            <p:nvPr/>
          </p:nvGrpSpPr>
          <p:grpSpPr>
            <a:xfrm>
              <a:off x="3670217" y="2586162"/>
              <a:ext cx="731126" cy="344556"/>
              <a:chOff x="7493876" y="2774731"/>
              <a:chExt cx="1481958" cy="894622"/>
            </a:xfrm>
          </p:grpSpPr>
          <p:sp>
            <p:nvSpPr>
              <p:cNvPr id="221" name="Freeform 220">
                <a:extLst>
                  <a:ext uri="{FF2B5EF4-FFF2-40B4-BE49-F238E27FC236}">
                    <a16:creationId xmlns:a16="http://schemas.microsoft.com/office/drawing/2014/main" id="{0BF917FE-20F1-4D4B-96F5-AD639F32363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22" name="Oval 221">
                <a:extLst>
                  <a:ext uri="{FF2B5EF4-FFF2-40B4-BE49-F238E27FC236}">
                    <a16:creationId xmlns:a16="http://schemas.microsoft.com/office/drawing/2014/main" id="{18C3CC32-D6FE-ED4C-AD44-2E0696436D35}"/>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23" name="Group 222">
                <a:extLst>
                  <a:ext uri="{FF2B5EF4-FFF2-40B4-BE49-F238E27FC236}">
                    <a16:creationId xmlns:a16="http://schemas.microsoft.com/office/drawing/2014/main" id="{050D50AB-99F7-7848-816D-ACDFFEBC137C}"/>
                  </a:ext>
                </a:extLst>
              </p:cNvPr>
              <p:cNvGrpSpPr/>
              <p:nvPr/>
            </p:nvGrpSpPr>
            <p:grpSpPr>
              <a:xfrm>
                <a:off x="7713663" y="2848339"/>
                <a:ext cx="1042107" cy="425543"/>
                <a:chOff x="7786941" y="2884917"/>
                <a:chExt cx="897649" cy="353919"/>
              </a:xfrm>
            </p:grpSpPr>
            <p:sp>
              <p:nvSpPr>
                <p:cNvPr id="224" name="Freeform 223">
                  <a:extLst>
                    <a:ext uri="{FF2B5EF4-FFF2-40B4-BE49-F238E27FC236}">
                      <a16:creationId xmlns:a16="http://schemas.microsoft.com/office/drawing/2014/main" id="{FB5F5580-B0CB-AA4B-8DF1-EEE382384D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5" name="Freeform 224">
                  <a:extLst>
                    <a:ext uri="{FF2B5EF4-FFF2-40B4-BE49-F238E27FC236}">
                      <a16:creationId xmlns:a16="http://schemas.microsoft.com/office/drawing/2014/main" id="{25BB82A7-BED3-A344-8C34-8B87559B06A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6" name="Freeform 225">
                  <a:extLst>
                    <a:ext uri="{FF2B5EF4-FFF2-40B4-BE49-F238E27FC236}">
                      <a16:creationId xmlns:a16="http://schemas.microsoft.com/office/drawing/2014/main" id="{D4F8AB81-DCE9-9446-8DA1-C8D6725E7FE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27" name="Freeform 226">
                  <a:extLst>
                    <a:ext uri="{FF2B5EF4-FFF2-40B4-BE49-F238E27FC236}">
                      <a16:creationId xmlns:a16="http://schemas.microsoft.com/office/drawing/2014/main" id="{B92654A9-F3B1-4D42-9026-275B3599AE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36" name="Group 235">
              <a:extLst>
                <a:ext uri="{FF2B5EF4-FFF2-40B4-BE49-F238E27FC236}">
                  <a16:creationId xmlns:a16="http://schemas.microsoft.com/office/drawing/2014/main" id="{DB5F07A2-77E1-3F44-82A2-FAFB1D6E8265}"/>
                </a:ext>
              </a:extLst>
            </p:cNvPr>
            <p:cNvGrpSpPr/>
            <p:nvPr/>
          </p:nvGrpSpPr>
          <p:grpSpPr>
            <a:xfrm>
              <a:off x="4703149" y="2589549"/>
              <a:ext cx="731126" cy="344556"/>
              <a:chOff x="7493876" y="2774731"/>
              <a:chExt cx="1481958" cy="894622"/>
            </a:xfrm>
          </p:grpSpPr>
          <p:sp>
            <p:nvSpPr>
              <p:cNvPr id="237" name="Freeform 236">
                <a:extLst>
                  <a:ext uri="{FF2B5EF4-FFF2-40B4-BE49-F238E27FC236}">
                    <a16:creationId xmlns:a16="http://schemas.microsoft.com/office/drawing/2014/main" id="{E0C1A841-EEA2-9245-81BC-B16DAB8EF22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38" name="Oval 237">
                <a:extLst>
                  <a:ext uri="{FF2B5EF4-FFF2-40B4-BE49-F238E27FC236}">
                    <a16:creationId xmlns:a16="http://schemas.microsoft.com/office/drawing/2014/main" id="{944A78DE-8BD9-704D-89D8-A35BDB215604}"/>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39" name="Group 238">
                <a:extLst>
                  <a:ext uri="{FF2B5EF4-FFF2-40B4-BE49-F238E27FC236}">
                    <a16:creationId xmlns:a16="http://schemas.microsoft.com/office/drawing/2014/main" id="{F0C4EB01-0400-2141-BFB2-C0309A22DF76}"/>
                  </a:ext>
                </a:extLst>
              </p:cNvPr>
              <p:cNvGrpSpPr/>
              <p:nvPr/>
            </p:nvGrpSpPr>
            <p:grpSpPr>
              <a:xfrm>
                <a:off x="7713663" y="2848339"/>
                <a:ext cx="1042107" cy="425543"/>
                <a:chOff x="7786941" y="2884917"/>
                <a:chExt cx="897649" cy="353919"/>
              </a:xfrm>
            </p:grpSpPr>
            <p:sp>
              <p:nvSpPr>
                <p:cNvPr id="240" name="Freeform 239">
                  <a:extLst>
                    <a:ext uri="{FF2B5EF4-FFF2-40B4-BE49-F238E27FC236}">
                      <a16:creationId xmlns:a16="http://schemas.microsoft.com/office/drawing/2014/main" id="{B8D4A940-A832-3241-98A7-BB1908240A0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41" name="Freeform 240">
                  <a:extLst>
                    <a:ext uri="{FF2B5EF4-FFF2-40B4-BE49-F238E27FC236}">
                      <a16:creationId xmlns:a16="http://schemas.microsoft.com/office/drawing/2014/main" id="{00FF0D0E-05AB-944C-A79B-3423CEB491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42" name="Freeform 241">
                  <a:extLst>
                    <a:ext uri="{FF2B5EF4-FFF2-40B4-BE49-F238E27FC236}">
                      <a16:creationId xmlns:a16="http://schemas.microsoft.com/office/drawing/2014/main" id="{8CD9AC42-4B77-F74D-86DE-346EA94EAF0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43" name="Freeform 242">
                  <a:extLst>
                    <a:ext uri="{FF2B5EF4-FFF2-40B4-BE49-F238E27FC236}">
                      <a16:creationId xmlns:a16="http://schemas.microsoft.com/office/drawing/2014/main" id="{5305C70E-2DCA-0E47-AAFF-96E48AEB60D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nvGrpSpPr>
          <p:cNvPr id="244" name="Group 243">
            <a:extLst>
              <a:ext uri="{FF2B5EF4-FFF2-40B4-BE49-F238E27FC236}">
                <a16:creationId xmlns:a16="http://schemas.microsoft.com/office/drawing/2014/main" id="{260C4F26-23D6-9242-8BE5-74523DD9653A}"/>
              </a:ext>
            </a:extLst>
          </p:cNvPr>
          <p:cNvGrpSpPr/>
          <p:nvPr/>
        </p:nvGrpSpPr>
        <p:grpSpPr>
          <a:xfrm>
            <a:off x="6111810" y="2799108"/>
            <a:ext cx="548345" cy="258417"/>
            <a:chOff x="7493876" y="2774731"/>
            <a:chExt cx="1481958" cy="894622"/>
          </a:xfrm>
        </p:grpSpPr>
        <p:sp>
          <p:nvSpPr>
            <p:cNvPr id="245" name="Freeform 244">
              <a:extLst>
                <a:ext uri="{FF2B5EF4-FFF2-40B4-BE49-F238E27FC236}">
                  <a16:creationId xmlns:a16="http://schemas.microsoft.com/office/drawing/2014/main" id="{F105FE72-06AE-6B4F-96BE-504B2FAEC5B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46" name="Oval 245">
              <a:extLst>
                <a:ext uri="{FF2B5EF4-FFF2-40B4-BE49-F238E27FC236}">
                  <a16:creationId xmlns:a16="http://schemas.microsoft.com/office/drawing/2014/main" id="{B7217426-8714-C946-9C1A-40D47C566BA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47" name="Group 246">
              <a:extLst>
                <a:ext uri="{FF2B5EF4-FFF2-40B4-BE49-F238E27FC236}">
                  <a16:creationId xmlns:a16="http://schemas.microsoft.com/office/drawing/2014/main" id="{0DEF368C-5725-BB4C-AB45-C0FF709C0A05}"/>
                </a:ext>
              </a:extLst>
            </p:cNvPr>
            <p:cNvGrpSpPr/>
            <p:nvPr/>
          </p:nvGrpSpPr>
          <p:grpSpPr>
            <a:xfrm>
              <a:off x="7713663" y="2848339"/>
              <a:ext cx="1042107" cy="425543"/>
              <a:chOff x="7786941" y="2884917"/>
              <a:chExt cx="897649" cy="353919"/>
            </a:xfrm>
          </p:grpSpPr>
          <p:sp>
            <p:nvSpPr>
              <p:cNvPr id="248" name="Freeform 247">
                <a:extLst>
                  <a:ext uri="{FF2B5EF4-FFF2-40B4-BE49-F238E27FC236}">
                    <a16:creationId xmlns:a16="http://schemas.microsoft.com/office/drawing/2014/main" id="{BCB05907-54A9-3F40-AB68-756B29FC9B3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49" name="Freeform 248">
                <a:extLst>
                  <a:ext uri="{FF2B5EF4-FFF2-40B4-BE49-F238E27FC236}">
                    <a16:creationId xmlns:a16="http://schemas.microsoft.com/office/drawing/2014/main" id="{79501DF3-6EA0-C949-A4D8-B34748F5CFB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50" name="Freeform 249">
                <a:extLst>
                  <a:ext uri="{FF2B5EF4-FFF2-40B4-BE49-F238E27FC236}">
                    <a16:creationId xmlns:a16="http://schemas.microsoft.com/office/drawing/2014/main" id="{2FF40264-FA3D-8E42-BDB3-D20205B748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51" name="Freeform 250">
                <a:extLst>
                  <a:ext uri="{FF2B5EF4-FFF2-40B4-BE49-F238E27FC236}">
                    <a16:creationId xmlns:a16="http://schemas.microsoft.com/office/drawing/2014/main" id="{2F811DAE-742A-554D-98AE-297E33C3AF7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52" name="Group 251">
            <a:extLst>
              <a:ext uri="{FF2B5EF4-FFF2-40B4-BE49-F238E27FC236}">
                <a16:creationId xmlns:a16="http://schemas.microsoft.com/office/drawing/2014/main" id="{73DAB662-46A3-1740-895A-C9F59057714E}"/>
              </a:ext>
            </a:extLst>
          </p:cNvPr>
          <p:cNvGrpSpPr/>
          <p:nvPr/>
        </p:nvGrpSpPr>
        <p:grpSpPr>
          <a:xfrm>
            <a:off x="6866188" y="2799108"/>
            <a:ext cx="548345" cy="258417"/>
            <a:chOff x="7493876" y="2774731"/>
            <a:chExt cx="1481958" cy="894622"/>
          </a:xfrm>
        </p:grpSpPr>
        <p:sp>
          <p:nvSpPr>
            <p:cNvPr id="253" name="Freeform 252">
              <a:extLst>
                <a:ext uri="{FF2B5EF4-FFF2-40B4-BE49-F238E27FC236}">
                  <a16:creationId xmlns:a16="http://schemas.microsoft.com/office/drawing/2014/main" id="{1F23325B-DEF1-D147-BA2A-F13EB3A20B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54" name="Oval 253">
              <a:extLst>
                <a:ext uri="{FF2B5EF4-FFF2-40B4-BE49-F238E27FC236}">
                  <a16:creationId xmlns:a16="http://schemas.microsoft.com/office/drawing/2014/main" id="{5AB66852-5B5D-6043-B152-508CF80D02A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55" name="Group 254">
              <a:extLst>
                <a:ext uri="{FF2B5EF4-FFF2-40B4-BE49-F238E27FC236}">
                  <a16:creationId xmlns:a16="http://schemas.microsoft.com/office/drawing/2014/main" id="{48443CFC-B0D9-0140-AE3D-34EF9D94A9B9}"/>
                </a:ext>
              </a:extLst>
            </p:cNvPr>
            <p:cNvGrpSpPr/>
            <p:nvPr/>
          </p:nvGrpSpPr>
          <p:grpSpPr>
            <a:xfrm>
              <a:off x="7713663" y="2848339"/>
              <a:ext cx="1042107" cy="425543"/>
              <a:chOff x="7786941" y="2884917"/>
              <a:chExt cx="897649" cy="353919"/>
            </a:xfrm>
          </p:grpSpPr>
          <p:sp>
            <p:nvSpPr>
              <p:cNvPr id="256" name="Freeform 255">
                <a:extLst>
                  <a:ext uri="{FF2B5EF4-FFF2-40B4-BE49-F238E27FC236}">
                    <a16:creationId xmlns:a16="http://schemas.microsoft.com/office/drawing/2014/main" id="{CD09D57E-4177-1D43-9D16-CF4BB72D4E5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57" name="Freeform 256">
                <a:extLst>
                  <a:ext uri="{FF2B5EF4-FFF2-40B4-BE49-F238E27FC236}">
                    <a16:creationId xmlns:a16="http://schemas.microsoft.com/office/drawing/2014/main" id="{17840F7D-2E73-6B4D-A846-155663EFFC4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58" name="Freeform 257">
                <a:extLst>
                  <a:ext uri="{FF2B5EF4-FFF2-40B4-BE49-F238E27FC236}">
                    <a16:creationId xmlns:a16="http://schemas.microsoft.com/office/drawing/2014/main" id="{D154457B-75BC-3744-B03C-20ED7891E27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59" name="Freeform 258">
                <a:extLst>
                  <a:ext uri="{FF2B5EF4-FFF2-40B4-BE49-F238E27FC236}">
                    <a16:creationId xmlns:a16="http://schemas.microsoft.com/office/drawing/2014/main" id="{BD794E38-3FFD-774D-ABE1-907A2A8AE37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61" name="Group 260">
            <a:extLst>
              <a:ext uri="{FF2B5EF4-FFF2-40B4-BE49-F238E27FC236}">
                <a16:creationId xmlns:a16="http://schemas.microsoft.com/office/drawing/2014/main" id="{DE5BA2A6-B0B3-FF49-992D-05869D73B8DF}"/>
              </a:ext>
            </a:extLst>
          </p:cNvPr>
          <p:cNvGrpSpPr/>
          <p:nvPr/>
        </p:nvGrpSpPr>
        <p:grpSpPr>
          <a:xfrm>
            <a:off x="5336627" y="2792934"/>
            <a:ext cx="551394" cy="264592"/>
            <a:chOff x="7493876" y="2774731"/>
            <a:chExt cx="1481958" cy="894622"/>
          </a:xfrm>
        </p:grpSpPr>
        <p:sp>
          <p:nvSpPr>
            <p:cNvPr id="262" name="Freeform 261">
              <a:extLst>
                <a:ext uri="{FF2B5EF4-FFF2-40B4-BE49-F238E27FC236}">
                  <a16:creationId xmlns:a16="http://schemas.microsoft.com/office/drawing/2014/main" id="{557EE858-39ED-F647-8008-B12C2A120AA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63" name="Oval 262">
              <a:extLst>
                <a:ext uri="{FF2B5EF4-FFF2-40B4-BE49-F238E27FC236}">
                  <a16:creationId xmlns:a16="http://schemas.microsoft.com/office/drawing/2014/main" id="{F1649AEA-C6EA-AC4F-9B25-9370FAD9086B}"/>
                </a:ext>
              </a:extLst>
            </p:cNvPr>
            <p:cNvSpPr/>
            <p:nvPr/>
          </p:nvSpPr>
          <p:spPr>
            <a:xfrm>
              <a:off x="7494729" y="2774731"/>
              <a:ext cx="1480163" cy="579140"/>
            </a:xfrm>
            <a:prstGeom prst="ellipse">
              <a:avLst/>
            </a:prstGeom>
            <a:solidFill>
              <a:srgbClr val="B8C2C9"/>
            </a:soli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64" name="Group 263">
              <a:extLst>
                <a:ext uri="{FF2B5EF4-FFF2-40B4-BE49-F238E27FC236}">
                  <a16:creationId xmlns:a16="http://schemas.microsoft.com/office/drawing/2014/main" id="{C9DE58EE-1FB9-3E4E-B762-21A246C09B13}"/>
                </a:ext>
              </a:extLst>
            </p:cNvPr>
            <p:cNvGrpSpPr/>
            <p:nvPr/>
          </p:nvGrpSpPr>
          <p:grpSpPr>
            <a:xfrm>
              <a:off x="7713663" y="2848339"/>
              <a:ext cx="1042107" cy="425543"/>
              <a:chOff x="7786941" y="2884917"/>
              <a:chExt cx="897649" cy="353919"/>
            </a:xfrm>
          </p:grpSpPr>
          <p:sp>
            <p:nvSpPr>
              <p:cNvPr id="265" name="Freeform 264">
                <a:extLst>
                  <a:ext uri="{FF2B5EF4-FFF2-40B4-BE49-F238E27FC236}">
                    <a16:creationId xmlns:a16="http://schemas.microsoft.com/office/drawing/2014/main" id="{DF8564C7-5BDF-0F46-B18C-70B1E7AE832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66" name="Freeform 265">
                <a:extLst>
                  <a:ext uri="{FF2B5EF4-FFF2-40B4-BE49-F238E27FC236}">
                    <a16:creationId xmlns:a16="http://schemas.microsoft.com/office/drawing/2014/main" id="{25151B35-6950-F04D-B899-96D24ECA1CB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67" name="Freeform 266">
                <a:extLst>
                  <a:ext uri="{FF2B5EF4-FFF2-40B4-BE49-F238E27FC236}">
                    <a16:creationId xmlns:a16="http://schemas.microsoft.com/office/drawing/2014/main" id="{6F57A9C6-B303-3D43-B30F-B41EDFD88EB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68" name="Freeform 267">
                <a:extLst>
                  <a:ext uri="{FF2B5EF4-FFF2-40B4-BE49-F238E27FC236}">
                    <a16:creationId xmlns:a16="http://schemas.microsoft.com/office/drawing/2014/main" id="{370B2DF2-4F6B-1147-8ED0-B7B0F512B4B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167" name="Rectangle 67">
            <a:extLst>
              <a:ext uri="{FF2B5EF4-FFF2-40B4-BE49-F238E27FC236}">
                <a16:creationId xmlns:a16="http://schemas.microsoft.com/office/drawing/2014/main" id="{09A35161-06D7-5F46-8581-CAD586A060A0}"/>
              </a:ext>
            </a:extLst>
          </p:cNvPr>
          <p:cNvSpPr>
            <a:spLocks noChangeArrowheads="1"/>
          </p:cNvSpPr>
          <p:nvPr/>
        </p:nvSpPr>
        <p:spPr bwMode="auto">
          <a:xfrm>
            <a:off x="4039014" y="2059699"/>
            <a:ext cx="2063506" cy="57206"/>
          </a:xfrm>
          <a:prstGeom prst="rect">
            <a:avLst/>
          </a:prstGeom>
          <a:solidFill>
            <a:srgbClr val="CC0000"/>
          </a:soli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168" name="Text Box 75">
            <a:extLst>
              <a:ext uri="{FF2B5EF4-FFF2-40B4-BE49-F238E27FC236}">
                <a16:creationId xmlns:a16="http://schemas.microsoft.com/office/drawing/2014/main" id="{9929FFB1-4B85-B14E-8A8D-EE3B2BBCB609}"/>
              </a:ext>
            </a:extLst>
          </p:cNvPr>
          <p:cNvSpPr txBox="1">
            <a:spLocks noChangeArrowheads="1"/>
          </p:cNvSpPr>
          <p:nvPr/>
        </p:nvSpPr>
        <p:spPr bwMode="auto">
          <a:xfrm>
            <a:off x="1387699" y="1889000"/>
            <a:ext cx="13325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800" dirty="0">
                <a:solidFill>
                  <a:prstClr val="black"/>
                </a:solidFill>
                <a:latin typeface="Calibri" panose="020F0502020204030204"/>
              </a:rPr>
              <a:t>logical view:</a:t>
            </a:r>
          </a:p>
        </p:txBody>
      </p:sp>
      <p:sp>
        <p:nvSpPr>
          <p:cNvPr id="169" name="Text Box 244">
            <a:extLst>
              <a:ext uri="{FF2B5EF4-FFF2-40B4-BE49-F238E27FC236}">
                <a16:creationId xmlns:a16="http://schemas.microsoft.com/office/drawing/2014/main" id="{8F946424-1CCF-1D48-9329-4BE5B2E1BE06}"/>
              </a:ext>
            </a:extLst>
          </p:cNvPr>
          <p:cNvSpPr txBox="1">
            <a:spLocks noChangeArrowheads="1"/>
          </p:cNvSpPr>
          <p:nvPr/>
        </p:nvSpPr>
        <p:spPr bwMode="auto">
          <a:xfrm>
            <a:off x="4229159" y="1697090"/>
            <a:ext cx="1797287"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i="1" dirty="0">
                <a:solidFill>
                  <a:srgbClr val="CC0000"/>
                </a:solidFill>
              </a:rPr>
              <a:t>IPv4 tunnel </a:t>
            </a:r>
          </a:p>
          <a:p>
            <a:pPr algn="ctr" defTabSz="685800" eaLnBrk="1" fontAlgn="auto" hangingPunct="1">
              <a:lnSpc>
                <a:spcPct val="85000"/>
              </a:lnSpc>
              <a:spcBef>
                <a:spcPts val="0"/>
              </a:spcBef>
              <a:spcAft>
                <a:spcPts val="0"/>
              </a:spcAft>
              <a:defRPr/>
            </a:pPr>
            <a:r>
              <a:rPr lang="en-US" altLang="en-US" sz="1200" i="1" dirty="0">
                <a:solidFill>
                  <a:srgbClr val="CC0000"/>
                </a:solidFill>
              </a:rPr>
              <a:t>connecting IPv6 routers</a:t>
            </a:r>
          </a:p>
        </p:txBody>
      </p:sp>
      <p:grpSp>
        <p:nvGrpSpPr>
          <p:cNvPr id="269" name="Group 268">
            <a:extLst>
              <a:ext uri="{FF2B5EF4-FFF2-40B4-BE49-F238E27FC236}">
                <a16:creationId xmlns:a16="http://schemas.microsoft.com/office/drawing/2014/main" id="{F2AFC9CA-57A7-2A4B-B2A8-73EE2B3D1201}"/>
              </a:ext>
            </a:extLst>
          </p:cNvPr>
          <p:cNvGrpSpPr/>
          <p:nvPr/>
        </p:nvGrpSpPr>
        <p:grpSpPr>
          <a:xfrm>
            <a:off x="2747693" y="1688463"/>
            <a:ext cx="1441292" cy="748487"/>
            <a:chOff x="3670217" y="2254595"/>
            <a:chExt cx="1921722" cy="997982"/>
          </a:xfrm>
        </p:grpSpPr>
        <p:sp>
          <p:nvSpPr>
            <p:cNvPr id="270" name="Text Box 92">
              <a:extLst>
                <a:ext uri="{FF2B5EF4-FFF2-40B4-BE49-F238E27FC236}">
                  <a16:creationId xmlns:a16="http://schemas.microsoft.com/office/drawing/2014/main" id="{2E0B16B3-F2F3-2C48-B2D9-7825734D0A01}"/>
                </a:ext>
              </a:extLst>
            </p:cNvPr>
            <p:cNvSpPr txBox="1">
              <a:spLocks noChangeArrowheads="1"/>
            </p:cNvSpPr>
            <p:nvPr/>
          </p:nvSpPr>
          <p:spPr bwMode="auto">
            <a:xfrm>
              <a:off x="3858177"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A</a:t>
              </a:r>
            </a:p>
          </p:txBody>
        </p:sp>
        <p:sp>
          <p:nvSpPr>
            <p:cNvPr id="271" name="Text Box 108">
              <a:extLst>
                <a:ext uri="{FF2B5EF4-FFF2-40B4-BE49-F238E27FC236}">
                  <a16:creationId xmlns:a16="http://schemas.microsoft.com/office/drawing/2014/main" id="{F159ED48-E177-7C41-B64B-06B2B085521B}"/>
                </a:ext>
              </a:extLst>
            </p:cNvPr>
            <p:cNvSpPr txBox="1">
              <a:spLocks noChangeArrowheads="1"/>
            </p:cNvSpPr>
            <p:nvPr/>
          </p:nvSpPr>
          <p:spPr bwMode="auto">
            <a:xfrm>
              <a:off x="4904341" y="2259358"/>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B</a:t>
              </a:r>
            </a:p>
          </p:txBody>
        </p:sp>
        <p:sp>
          <p:nvSpPr>
            <p:cNvPr id="272" name="Line 141">
              <a:extLst>
                <a:ext uri="{FF2B5EF4-FFF2-40B4-BE49-F238E27FC236}">
                  <a16:creationId xmlns:a16="http://schemas.microsoft.com/office/drawing/2014/main" id="{0635167B-2AF3-A14C-85E2-3598CB9CF52F}"/>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73" name="Text Box 143">
              <a:extLst>
                <a:ext uri="{FF2B5EF4-FFF2-40B4-BE49-F238E27FC236}">
                  <a16:creationId xmlns:a16="http://schemas.microsoft.com/office/drawing/2014/main" id="{87A044D8-2093-0E46-9D20-BAE30730DC1F}"/>
                </a:ext>
              </a:extLst>
            </p:cNvPr>
            <p:cNvSpPr txBox="1">
              <a:spLocks noChangeArrowheads="1"/>
            </p:cNvSpPr>
            <p:nvPr/>
          </p:nvSpPr>
          <p:spPr bwMode="auto">
            <a:xfrm>
              <a:off x="3737528" y="2881657"/>
              <a:ext cx="6565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sp>
          <p:nvSpPr>
            <p:cNvPr id="274" name="Text Box 144">
              <a:extLst>
                <a:ext uri="{FF2B5EF4-FFF2-40B4-BE49-F238E27FC236}">
                  <a16:creationId xmlns:a16="http://schemas.microsoft.com/office/drawing/2014/main" id="{F207BD95-5E7A-4D4E-BE7D-41925B60863F}"/>
                </a:ext>
              </a:extLst>
            </p:cNvPr>
            <p:cNvSpPr txBox="1">
              <a:spLocks noChangeArrowheads="1"/>
            </p:cNvSpPr>
            <p:nvPr/>
          </p:nvSpPr>
          <p:spPr bwMode="auto">
            <a:xfrm>
              <a:off x="4661770" y="2883245"/>
              <a:ext cx="9301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r>
                <a:rPr lang="en-US" altLang="en-US" sz="1200" dirty="0">
                  <a:solidFill>
                    <a:srgbClr val="C00000"/>
                  </a:solidFill>
                </a:rPr>
                <a:t>v4</a:t>
              </a:r>
            </a:p>
          </p:txBody>
        </p:sp>
        <p:grpSp>
          <p:nvGrpSpPr>
            <p:cNvPr id="275" name="Group 274">
              <a:extLst>
                <a:ext uri="{FF2B5EF4-FFF2-40B4-BE49-F238E27FC236}">
                  <a16:creationId xmlns:a16="http://schemas.microsoft.com/office/drawing/2014/main" id="{4A073E69-860F-5249-AFC4-C4A38D391439}"/>
                </a:ext>
              </a:extLst>
            </p:cNvPr>
            <p:cNvGrpSpPr/>
            <p:nvPr/>
          </p:nvGrpSpPr>
          <p:grpSpPr>
            <a:xfrm>
              <a:off x="3670217" y="2586162"/>
              <a:ext cx="731126" cy="344556"/>
              <a:chOff x="7493876" y="2774731"/>
              <a:chExt cx="1481958" cy="894622"/>
            </a:xfrm>
          </p:grpSpPr>
          <p:sp>
            <p:nvSpPr>
              <p:cNvPr id="284" name="Freeform 283">
                <a:extLst>
                  <a:ext uri="{FF2B5EF4-FFF2-40B4-BE49-F238E27FC236}">
                    <a16:creationId xmlns:a16="http://schemas.microsoft.com/office/drawing/2014/main" id="{F8A16A7C-85C7-A24F-BB87-4093501CBD3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85" name="Oval 284">
                <a:extLst>
                  <a:ext uri="{FF2B5EF4-FFF2-40B4-BE49-F238E27FC236}">
                    <a16:creationId xmlns:a16="http://schemas.microsoft.com/office/drawing/2014/main" id="{8BC5BF39-F377-5146-97C0-6EF8F1928312}"/>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86" name="Group 285">
                <a:extLst>
                  <a:ext uri="{FF2B5EF4-FFF2-40B4-BE49-F238E27FC236}">
                    <a16:creationId xmlns:a16="http://schemas.microsoft.com/office/drawing/2014/main" id="{591C4487-83B3-D542-ADA7-A3219B9450D3}"/>
                  </a:ext>
                </a:extLst>
              </p:cNvPr>
              <p:cNvGrpSpPr/>
              <p:nvPr/>
            </p:nvGrpSpPr>
            <p:grpSpPr>
              <a:xfrm>
                <a:off x="7713663" y="2848339"/>
                <a:ext cx="1042107" cy="425543"/>
                <a:chOff x="7786941" y="2884917"/>
                <a:chExt cx="897649" cy="353919"/>
              </a:xfrm>
            </p:grpSpPr>
            <p:sp>
              <p:nvSpPr>
                <p:cNvPr id="287" name="Freeform 286">
                  <a:extLst>
                    <a:ext uri="{FF2B5EF4-FFF2-40B4-BE49-F238E27FC236}">
                      <a16:creationId xmlns:a16="http://schemas.microsoft.com/office/drawing/2014/main" id="{587D49BB-7359-F14F-9FAA-DBE4B215BD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8" name="Freeform 287">
                  <a:extLst>
                    <a:ext uri="{FF2B5EF4-FFF2-40B4-BE49-F238E27FC236}">
                      <a16:creationId xmlns:a16="http://schemas.microsoft.com/office/drawing/2014/main" id="{A081F8B5-4855-AD41-8946-CFB9780B4B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9" name="Freeform 288">
                  <a:extLst>
                    <a:ext uri="{FF2B5EF4-FFF2-40B4-BE49-F238E27FC236}">
                      <a16:creationId xmlns:a16="http://schemas.microsoft.com/office/drawing/2014/main" id="{12524264-0777-0C42-AF6A-3CBF1F755F5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90" name="Freeform 289">
                  <a:extLst>
                    <a:ext uri="{FF2B5EF4-FFF2-40B4-BE49-F238E27FC236}">
                      <a16:creationId xmlns:a16="http://schemas.microsoft.com/office/drawing/2014/main" id="{FF4F4DB1-DF2D-BD4D-8E20-DCBADE21EC3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76" name="Group 275">
              <a:extLst>
                <a:ext uri="{FF2B5EF4-FFF2-40B4-BE49-F238E27FC236}">
                  <a16:creationId xmlns:a16="http://schemas.microsoft.com/office/drawing/2014/main" id="{B5FF489C-4A51-4246-9098-943E871C0053}"/>
                </a:ext>
              </a:extLst>
            </p:cNvPr>
            <p:cNvGrpSpPr/>
            <p:nvPr/>
          </p:nvGrpSpPr>
          <p:grpSpPr>
            <a:xfrm>
              <a:off x="4703149" y="2589549"/>
              <a:ext cx="731126" cy="344556"/>
              <a:chOff x="7493876" y="2774731"/>
              <a:chExt cx="1481958" cy="894622"/>
            </a:xfrm>
          </p:grpSpPr>
          <p:sp>
            <p:nvSpPr>
              <p:cNvPr id="277" name="Freeform 276">
                <a:extLst>
                  <a:ext uri="{FF2B5EF4-FFF2-40B4-BE49-F238E27FC236}">
                    <a16:creationId xmlns:a16="http://schemas.microsoft.com/office/drawing/2014/main" id="{DF781C98-CD40-6448-A759-51A33B9B786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278" name="Oval 277">
                <a:extLst>
                  <a:ext uri="{FF2B5EF4-FFF2-40B4-BE49-F238E27FC236}">
                    <a16:creationId xmlns:a16="http://schemas.microsoft.com/office/drawing/2014/main" id="{1ED403CB-BAEA-6B47-A295-E1B338E8108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79" name="Group 278">
                <a:extLst>
                  <a:ext uri="{FF2B5EF4-FFF2-40B4-BE49-F238E27FC236}">
                    <a16:creationId xmlns:a16="http://schemas.microsoft.com/office/drawing/2014/main" id="{B654F614-FA15-3B4E-AF13-036BBC0D152E}"/>
                  </a:ext>
                </a:extLst>
              </p:cNvPr>
              <p:cNvGrpSpPr/>
              <p:nvPr/>
            </p:nvGrpSpPr>
            <p:grpSpPr>
              <a:xfrm>
                <a:off x="7713663" y="2848339"/>
                <a:ext cx="1042107" cy="425543"/>
                <a:chOff x="7786941" y="2884917"/>
                <a:chExt cx="897649" cy="353919"/>
              </a:xfrm>
            </p:grpSpPr>
            <p:sp>
              <p:nvSpPr>
                <p:cNvPr id="280" name="Freeform 279">
                  <a:extLst>
                    <a:ext uri="{FF2B5EF4-FFF2-40B4-BE49-F238E27FC236}">
                      <a16:creationId xmlns:a16="http://schemas.microsoft.com/office/drawing/2014/main" id="{3010894A-4D62-8948-8AAC-9B942BF5F27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1" name="Freeform 280">
                  <a:extLst>
                    <a:ext uri="{FF2B5EF4-FFF2-40B4-BE49-F238E27FC236}">
                      <a16:creationId xmlns:a16="http://schemas.microsoft.com/office/drawing/2014/main" id="{27D3A458-EB4A-F945-B4E8-15003E8491A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2" name="Freeform 281">
                  <a:extLst>
                    <a:ext uri="{FF2B5EF4-FFF2-40B4-BE49-F238E27FC236}">
                      <a16:creationId xmlns:a16="http://schemas.microsoft.com/office/drawing/2014/main" id="{CEF2E442-594C-4E44-B866-4A37719675A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83" name="Freeform 282">
                  <a:extLst>
                    <a:ext uri="{FF2B5EF4-FFF2-40B4-BE49-F238E27FC236}">
                      <a16:creationId xmlns:a16="http://schemas.microsoft.com/office/drawing/2014/main" id="{4AEACB60-4D98-B143-9AD1-BDCACC68427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nvGrpSpPr>
          <p:cNvPr id="291" name="Group 290">
            <a:extLst>
              <a:ext uri="{FF2B5EF4-FFF2-40B4-BE49-F238E27FC236}">
                <a16:creationId xmlns:a16="http://schemas.microsoft.com/office/drawing/2014/main" id="{6CD9FE67-1834-004F-B7B8-EC2ACE51FC02}"/>
              </a:ext>
            </a:extLst>
          </p:cNvPr>
          <p:cNvGrpSpPr/>
          <p:nvPr/>
        </p:nvGrpSpPr>
        <p:grpSpPr>
          <a:xfrm>
            <a:off x="6091239" y="1710903"/>
            <a:ext cx="1345646" cy="748487"/>
            <a:chOff x="3646087" y="2254595"/>
            <a:chExt cx="1794194" cy="997982"/>
          </a:xfrm>
        </p:grpSpPr>
        <p:sp>
          <p:nvSpPr>
            <p:cNvPr id="292" name="Text Box 92">
              <a:extLst>
                <a:ext uri="{FF2B5EF4-FFF2-40B4-BE49-F238E27FC236}">
                  <a16:creationId xmlns:a16="http://schemas.microsoft.com/office/drawing/2014/main" id="{4E1422BC-3A6A-6B44-A701-1A4C4A646A43}"/>
                </a:ext>
              </a:extLst>
            </p:cNvPr>
            <p:cNvSpPr txBox="1">
              <a:spLocks noChangeArrowheads="1"/>
            </p:cNvSpPr>
            <p:nvPr/>
          </p:nvSpPr>
          <p:spPr bwMode="auto">
            <a:xfrm>
              <a:off x="3858178" y="2254595"/>
              <a:ext cx="400109"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E</a:t>
              </a:r>
            </a:p>
          </p:txBody>
        </p:sp>
        <p:sp>
          <p:nvSpPr>
            <p:cNvPr id="293" name="Text Box 108">
              <a:extLst>
                <a:ext uri="{FF2B5EF4-FFF2-40B4-BE49-F238E27FC236}">
                  <a16:creationId xmlns:a16="http://schemas.microsoft.com/office/drawing/2014/main" id="{6FC6F4F3-504B-0A4C-99EE-AAE5D6AF031D}"/>
                </a:ext>
              </a:extLst>
            </p:cNvPr>
            <p:cNvSpPr txBox="1">
              <a:spLocks noChangeArrowheads="1"/>
            </p:cNvSpPr>
            <p:nvPr/>
          </p:nvSpPr>
          <p:spPr bwMode="auto">
            <a:xfrm>
              <a:off x="4888228" y="2259358"/>
              <a:ext cx="387285"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F</a:t>
              </a:r>
            </a:p>
          </p:txBody>
        </p:sp>
        <p:sp>
          <p:nvSpPr>
            <p:cNvPr id="294" name="Line 141">
              <a:extLst>
                <a:ext uri="{FF2B5EF4-FFF2-40B4-BE49-F238E27FC236}">
                  <a16:creationId xmlns:a16="http://schemas.microsoft.com/office/drawing/2014/main" id="{90DCDADB-6394-A84B-BA95-D8E0F9F2E56B}"/>
                </a:ext>
              </a:extLst>
            </p:cNvPr>
            <p:cNvSpPr>
              <a:spLocks noChangeShapeType="1"/>
            </p:cNvSpPr>
            <p:nvPr/>
          </p:nvSpPr>
          <p:spPr bwMode="auto">
            <a:xfrm flipV="1">
              <a:off x="4399515" y="2772120"/>
              <a:ext cx="3238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95" name="Text Box 143">
              <a:extLst>
                <a:ext uri="{FF2B5EF4-FFF2-40B4-BE49-F238E27FC236}">
                  <a16:creationId xmlns:a16="http://schemas.microsoft.com/office/drawing/2014/main" id="{18B62826-F267-0049-A412-8619C591057C}"/>
                </a:ext>
              </a:extLst>
            </p:cNvPr>
            <p:cNvSpPr txBox="1">
              <a:spLocks noChangeArrowheads="1"/>
            </p:cNvSpPr>
            <p:nvPr/>
          </p:nvSpPr>
          <p:spPr bwMode="auto">
            <a:xfrm>
              <a:off x="3646087" y="2881657"/>
              <a:ext cx="9301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r>
                <a:rPr lang="en-US" altLang="en-US" sz="1200" dirty="0">
                  <a:solidFill>
                    <a:srgbClr val="C00000"/>
                  </a:solidFill>
                </a:rPr>
                <a:t>v4</a:t>
              </a:r>
            </a:p>
          </p:txBody>
        </p:sp>
        <p:sp>
          <p:nvSpPr>
            <p:cNvPr id="296" name="Text Box 144">
              <a:extLst>
                <a:ext uri="{FF2B5EF4-FFF2-40B4-BE49-F238E27FC236}">
                  <a16:creationId xmlns:a16="http://schemas.microsoft.com/office/drawing/2014/main" id="{DB366F83-3A13-0249-80B2-D1CABCF6E95E}"/>
                </a:ext>
              </a:extLst>
            </p:cNvPr>
            <p:cNvSpPr txBox="1">
              <a:spLocks noChangeArrowheads="1"/>
            </p:cNvSpPr>
            <p:nvPr/>
          </p:nvSpPr>
          <p:spPr bwMode="auto">
            <a:xfrm>
              <a:off x="4783690" y="2883245"/>
              <a:ext cx="6565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200" dirty="0">
                  <a:solidFill>
                    <a:prstClr val="black"/>
                  </a:solidFill>
                </a:rPr>
                <a:t>IPv6</a:t>
              </a:r>
            </a:p>
          </p:txBody>
        </p:sp>
        <p:grpSp>
          <p:nvGrpSpPr>
            <p:cNvPr id="297" name="Group 296">
              <a:extLst>
                <a:ext uri="{FF2B5EF4-FFF2-40B4-BE49-F238E27FC236}">
                  <a16:creationId xmlns:a16="http://schemas.microsoft.com/office/drawing/2014/main" id="{811A1EE5-9CFA-BD4B-BC78-E2DEBF1097E9}"/>
                </a:ext>
              </a:extLst>
            </p:cNvPr>
            <p:cNvGrpSpPr/>
            <p:nvPr/>
          </p:nvGrpSpPr>
          <p:grpSpPr>
            <a:xfrm>
              <a:off x="3670217" y="2586162"/>
              <a:ext cx="731126" cy="344556"/>
              <a:chOff x="7493876" y="2774731"/>
              <a:chExt cx="1481958" cy="894622"/>
            </a:xfrm>
          </p:grpSpPr>
          <p:sp>
            <p:nvSpPr>
              <p:cNvPr id="306" name="Freeform 305">
                <a:extLst>
                  <a:ext uri="{FF2B5EF4-FFF2-40B4-BE49-F238E27FC236}">
                    <a16:creationId xmlns:a16="http://schemas.microsoft.com/office/drawing/2014/main" id="{3A74AED1-F0EA-0349-BE24-8AC41946D59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07" name="Oval 306">
                <a:extLst>
                  <a:ext uri="{FF2B5EF4-FFF2-40B4-BE49-F238E27FC236}">
                    <a16:creationId xmlns:a16="http://schemas.microsoft.com/office/drawing/2014/main" id="{EBB7616C-F33E-2141-AF35-E0C68F6DA62F}"/>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08" name="Group 307">
                <a:extLst>
                  <a:ext uri="{FF2B5EF4-FFF2-40B4-BE49-F238E27FC236}">
                    <a16:creationId xmlns:a16="http://schemas.microsoft.com/office/drawing/2014/main" id="{885BD882-BC9B-DD4D-8DDC-9F2AB1102AB3}"/>
                  </a:ext>
                </a:extLst>
              </p:cNvPr>
              <p:cNvGrpSpPr/>
              <p:nvPr/>
            </p:nvGrpSpPr>
            <p:grpSpPr>
              <a:xfrm>
                <a:off x="7713663" y="2848339"/>
                <a:ext cx="1042107" cy="425543"/>
                <a:chOff x="7786941" y="2884917"/>
                <a:chExt cx="897649" cy="353919"/>
              </a:xfrm>
            </p:grpSpPr>
            <p:sp>
              <p:nvSpPr>
                <p:cNvPr id="309" name="Freeform 308">
                  <a:extLst>
                    <a:ext uri="{FF2B5EF4-FFF2-40B4-BE49-F238E27FC236}">
                      <a16:creationId xmlns:a16="http://schemas.microsoft.com/office/drawing/2014/main" id="{B030882F-74FC-2847-B126-520EE17206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0" name="Freeform 309">
                  <a:extLst>
                    <a:ext uri="{FF2B5EF4-FFF2-40B4-BE49-F238E27FC236}">
                      <a16:creationId xmlns:a16="http://schemas.microsoft.com/office/drawing/2014/main" id="{0E0B8D53-1472-DA4D-AE29-51DFB53F576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1" name="Freeform 310">
                  <a:extLst>
                    <a:ext uri="{FF2B5EF4-FFF2-40B4-BE49-F238E27FC236}">
                      <a16:creationId xmlns:a16="http://schemas.microsoft.com/office/drawing/2014/main" id="{058C9471-DEE6-AE4F-8503-FD801436B8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2" name="Freeform 311">
                  <a:extLst>
                    <a:ext uri="{FF2B5EF4-FFF2-40B4-BE49-F238E27FC236}">
                      <a16:creationId xmlns:a16="http://schemas.microsoft.com/office/drawing/2014/main" id="{4F6D32E6-1749-DB4A-918E-98CCCD97251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298" name="Group 297">
              <a:extLst>
                <a:ext uri="{FF2B5EF4-FFF2-40B4-BE49-F238E27FC236}">
                  <a16:creationId xmlns:a16="http://schemas.microsoft.com/office/drawing/2014/main" id="{1DD98ED7-111E-954C-9872-D507EE1D2233}"/>
                </a:ext>
              </a:extLst>
            </p:cNvPr>
            <p:cNvGrpSpPr/>
            <p:nvPr/>
          </p:nvGrpSpPr>
          <p:grpSpPr>
            <a:xfrm>
              <a:off x="4703149" y="2589549"/>
              <a:ext cx="731126" cy="344556"/>
              <a:chOff x="7493876" y="2774731"/>
              <a:chExt cx="1481958" cy="894622"/>
            </a:xfrm>
          </p:grpSpPr>
          <p:sp>
            <p:nvSpPr>
              <p:cNvPr id="299" name="Freeform 298">
                <a:extLst>
                  <a:ext uri="{FF2B5EF4-FFF2-40B4-BE49-F238E27FC236}">
                    <a16:creationId xmlns:a16="http://schemas.microsoft.com/office/drawing/2014/main" id="{CE90818F-F7C9-8A4F-8C28-757575ABCAB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00" name="Oval 299">
                <a:extLst>
                  <a:ext uri="{FF2B5EF4-FFF2-40B4-BE49-F238E27FC236}">
                    <a16:creationId xmlns:a16="http://schemas.microsoft.com/office/drawing/2014/main" id="{CEC89AC2-BDFD-AC4F-A951-DA4DB8992147}"/>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01" name="Group 300">
                <a:extLst>
                  <a:ext uri="{FF2B5EF4-FFF2-40B4-BE49-F238E27FC236}">
                    <a16:creationId xmlns:a16="http://schemas.microsoft.com/office/drawing/2014/main" id="{695885FE-D0A9-7145-8BD4-0AB640821495}"/>
                  </a:ext>
                </a:extLst>
              </p:cNvPr>
              <p:cNvGrpSpPr/>
              <p:nvPr/>
            </p:nvGrpSpPr>
            <p:grpSpPr>
              <a:xfrm>
                <a:off x="7713663" y="2848339"/>
                <a:ext cx="1042107" cy="425543"/>
                <a:chOff x="7786941" y="2884917"/>
                <a:chExt cx="897649" cy="353919"/>
              </a:xfrm>
            </p:grpSpPr>
            <p:sp>
              <p:nvSpPr>
                <p:cNvPr id="302" name="Freeform 301">
                  <a:extLst>
                    <a:ext uri="{FF2B5EF4-FFF2-40B4-BE49-F238E27FC236}">
                      <a16:creationId xmlns:a16="http://schemas.microsoft.com/office/drawing/2014/main" id="{C9F1E916-77E1-464F-9DA9-93947467D4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3" name="Freeform 302">
                  <a:extLst>
                    <a:ext uri="{FF2B5EF4-FFF2-40B4-BE49-F238E27FC236}">
                      <a16:creationId xmlns:a16="http://schemas.microsoft.com/office/drawing/2014/main" id="{D22EEE39-5B44-8441-8AA6-2DC425C85D5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4" name="Freeform 303">
                  <a:extLst>
                    <a:ext uri="{FF2B5EF4-FFF2-40B4-BE49-F238E27FC236}">
                      <a16:creationId xmlns:a16="http://schemas.microsoft.com/office/drawing/2014/main" id="{9DADD220-43C9-0848-95D9-0ED14661FF9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05" name="Freeform 304">
                  <a:extLst>
                    <a:ext uri="{FF2B5EF4-FFF2-40B4-BE49-F238E27FC236}">
                      <a16:creationId xmlns:a16="http://schemas.microsoft.com/office/drawing/2014/main" id="{FF7D8FD7-6529-FE42-B132-6122472F475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grpSp>
        <p:nvGrpSpPr>
          <p:cNvPr id="313" name="Group 352">
            <a:extLst>
              <a:ext uri="{FF2B5EF4-FFF2-40B4-BE49-F238E27FC236}">
                <a16:creationId xmlns:a16="http://schemas.microsoft.com/office/drawing/2014/main" id="{6D9D1049-F44E-3F4A-80FD-2483C456DB03}"/>
              </a:ext>
            </a:extLst>
          </p:cNvPr>
          <p:cNvGrpSpPr>
            <a:grpSpLocks/>
          </p:cNvGrpSpPr>
          <p:nvPr/>
        </p:nvGrpSpPr>
        <p:grpSpPr bwMode="auto">
          <a:xfrm>
            <a:off x="3024964" y="3336028"/>
            <a:ext cx="666750" cy="2260997"/>
            <a:chOff x="1589" y="2132"/>
            <a:chExt cx="560" cy="1899"/>
          </a:xfrm>
        </p:grpSpPr>
        <p:grpSp>
          <p:nvGrpSpPr>
            <p:cNvPr id="314" name="Group 212">
              <a:extLst>
                <a:ext uri="{FF2B5EF4-FFF2-40B4-BE49-F238E27FC236}">
                  <a16:creationId xmlns:a16="http://schemas.microsoft.com/office/drawing/2014/main" id="{08296943-CF65-6046-A639-281DB2B4159A}"/>
                </a:ext>
              </a:extLst>
            </p:cNvPr>
            <p:cNvGrpSpPr>
              <a:grpSpLocks/>
            </p:cNvGrpSpPr>
            <p:nvPr/>
          </p:nvGrpSpPr>
          <p:grpSpPr bwMode="auto">
            <a:xfrm>
              <a:off x="1634" y="2200"/>
              <a:ext cx="515" cy="910"/>
              <a:chOff x="652" y="2144"/>
              <a:chExt cx="515" cy="910"/>
            </a:xfrm>
          </p:grpSpPr>
          <p:sp>
            <p:nvSpPr>
              <p:cNvPr id="318" name="Rectangle 183">
                <a:extLst>
                  <a:ext uri="{FF2B5EF4-FFF2-40B4-BE49-F238E27FC236}">
                    <a16:creationId xmlns:a16="http://schemas.microsoft.com/office/drawing/2014/main" id="{BFBED704-56E4-AA44-8C48-A95A3F1E9ECC}"/>
                  </a:ext>
                </a:extLst>
              </p:cNvPr>
              <p:cNvSpPr>
                <a:spLocks noChangeArrowheads="1"/>
              </p:cNvSpPr>
              <p:nvPr/>
            </p:nvSpPr>
            <p:spPr bwMode="auto">
              <a:xfrm>
                <a:off x="652" y="2144"/>
                <a:ext cx="462" cy="908"/>
              </a:xfrm>
              <a:prstGeom prst="rect">
                <a:avLst/>
              </a:prstGeom>
              <a:solidFill>
                <a:srgbClr val="B5E7FF"/>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19" name="Text Box 184">
                <a:extLst>
                  <a:ext uri="{FF2B5EF4-FFF2-40B4-BE49-F238E27FC236}">
                    <a16:creationId xmlns:a16="http://schemas.microsoft.com/office/drawing/2014/main" id="{582CD7EF-8435-564C-A54E-C5300FC7AE01}"/>
                  </a:ext>
                </a:extLst>
              </p:cNvPr>
              <p:cNvSpPr txBox="1">
                <a:spLocks noChangeArrowheads="1"/>
              </p:cNvSpPr>
              <p:nvPr/>
            </p:nvSpPr>
            <p:spPr bwMode="auto">
              <a:xfrm>
                <a:off x="667" y="2162"/>
                <a:ext cx="500" cy="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rPr>
                  <a:t>flow: X</a:t>
                </a:r>
              </a:p>
              <a:p>
                <a:pPr defTabSz="685800" eaLnBrk="1" fontAlgn="auto" hangingPunct="1">
                  <a:spcBef>
                    <a:spcPts val="0"/>
                  </a:spcBef>
                  <a:spcAft>
                    <a:spcPts val="0"/>
                  </a:spcAft>
                  <a:defRPr/>
                </a:pPr>
                <a:r>
                  <a:rPr lang="en-US" altLang="en-US" sz="1050" dirty="0">
                    <a:solidFill>
                      <a:prstClr val="black"/>
                    </a:solidFill>
                  </a:rPr>
                  <a:t>src: A</a:t>
                </a:r>
              </a:p>
              <a:p>
                <a:pPr defTabSz="685800" eaLnBrk="1" fontAlgn="auto" hangingPunct="1">
                  <a:spcBef>
                    <a:spcPts val="0"/>
                  </a:spcBef>
                  <a:spcAft>
                    <a:spcPts val="0"/>
                  </a:spcAft>
                  <a:defRPr/>
                </a:pPr>
                <a:r>
                  <a:rPr lang="en-US" altLang="en-US" sz="1050" dirty="0">
                    <a:solidFill>
                      <a:prstClr val="black"/>
                    </a:solidFill>
                  </a:rPr>
                  <a:t>dest: F</a:t>
                </a: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r>
                  <a:rPr lang="en-US" altLang="en-US" sz="1050" dirty="0">
                    <a:solidFill>
                      <a:prstClr val="black"/>
                    </a:solidFill>
                  </a:rPr>
                  <a:t>data</a:t>
                </a:r>
              </a:p>
            </p:txBody>
          </p:sp>
        </p:grpSp>
        <p:sp>
          <p:nvSpPr>
            <p:cNvPr id="315" name="Line 194">
              <a:extLst>
                <a:ext uri="{FF2B5EF4-FFF2-40B4-BE49-F238E27FC236}">
                  <a16:creationId xmlns:a16="http://schemas.microsoft.com/office/drawing/2014/main" id="{502430B4-5780-C542-8B2D-1CF5A6D0F224}"/>
                </a:ext>
              </a:extLst>
            </p:cNvPr>
            <p:cNvSpPr>
              <a:spLocks noChangeShapeType="1"/>
            </p:cNvSpPr>
            <p:nvPr/>
          </p:nvSpPr>
          <p:spPr bwMode="auto">
            <a:xfrm>
              <a:off x="1661" y="2132"/>
              <a:ext cx="43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16" name="Text Box 204">
              <a:extLst>
                <a:ext uri="{FF2B5EF4-FFF2-40B4-BE49-F238E27FC236}">
                  <a16:creationId xmlns:a16="http://schemas.microsoft.com/office/drawing/2014/main" id="{BF78DD92-AFFB-9349-A4B6-0E5E3DC0C488}"/>
                </a:ext>
              </a:extLst>
            </p:cNvPr>
            <p:cNvSpPr txBox="1">
              <a:spLocks noChangeArrowheads="1"/>
            </p:cNvSpPr>
            <p:nvPr/>
          </p:nvSpPr>
          <p:spPr bwMode="auto">
            <a:xfrm>
              <a:off x="1589" y="3690"/>
              <a:ext cx="55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dirty="0">
                  <a:solidFill>
                    <a:prstClr val="black"/>
                  </a:solidFill>
                </a:rPr>
                <a:t>A-to-B:</a:t>
              </a:r>
            </a:p>
            <a:p>
              <a:pPr algn="ctr" defTabSz="685800" eaLnBrk="1" fontAlgn="auto" hangingPunct="1">
                <a:lnSpc>
                  <a:spcPct val="85000"/>
                </a:lnSpc>
                <a:spcBef>
                  <a:spcPts val="0"/>
                </a:spcBef>
                <a:spcAft>
                  <a:spcPts val="0"/>
                </a:spcAft>
                <a:defRPr/>
              </a:pPr>
              <a:r>
                <a:rPr lang="en-US" altLang="en-US" sz="1200" dirty="0">
                  <a:solidFill>
                    <a:prstClr val="black"/>
                  </a:solidFill>
                </a:rPr>
                <a:t>IPv6</a:t>
              </a:r>
            </a:p>
          </p:txBody>
        </p:sp>
        <p:sp>
          <p:nvSpPr>
            <p:cNvPr id="317" name="Line 205">
              <a:extLst>
                <a:ext uri="{FF2B5EF4-FFF2-40B4-BE49-F238E27FC236}">
                  <a16:creationId xmlns:a16="http://schemas.microsoft.com/office/drawing/2014/main" id="{563E255C-9996-4045-82D6-10D683D9A50A}"/>
                </a:ext>
              </a:extLst>
            </p:cNvPr>
            <p:cNvSpPr>
              <a:spLocks noChangeShapeType="1"/>
            </p:cNvSpPr>
            <p:nvPr/>
          </p:nvSpPr>
          <p:spPr bwMode="auto">
            <a:xfrm>
              <a:off x="1856" y="3230"/>
              <a:ext cx="0" cy="495"/>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320" name="Group 353">
            <a:extLst>
              <a:ext uri="{FF2B5EF4-FFF2-40B4-BE49-F238E27FC236}">
                <a16:creationId xmlns:a16="http://schemas.microsoft.com/office/drawing/2014/main" id="{A328CA0B-F627-524F-A2DA-8DD10274F500}"/>
              </a:ext>
            </a:extLst>
          </p:cNvPr>
          <p:cNvGrpSpPr>
            <a:grpSpLocks/>
          </p:cNvGrpSpPr>
          <p:nvPr/>
        </p:nvGrpSpPr>
        <p:grpSpPr bwMode="auto">
          <a:xfrm>
            <a:off x="3763152" y="3330075"/>
            <a:ext cx="934640" cy="2515791"/>
            <a:chOff x="2209" y="2127"/>
            <a:chExt cx="785" cy="2113"/>
          </a:xfrm>
        </p:grpSpPr>
        <p:grpSp>
          <p:nvGrpSpPr>
            <p:cNvPr id="321" name="Group 216">
              <a:extLst>
                <a:ext uri="{FF2B5EF4-FFF2-40B4-BE49-F238E27FC236}">
                  <a16:creationId xmlns:a16="http://schemas.microsoft.com/office/drawing/2014/main" id="{B4FDDA2F-9F53-A94C-93FE-47EAA7C6BAC0}"/>
                </a:ext>
              </a:extLst>
            </p:cNvPr>
            <p:cNvGrpSpPr>
              <a:grpSpLocks/>
            </p:cNvGrpSpPr>
            <p:nvPr/>
          </p:nvGrpSpPr>
          <p:grpSpPr bwMode="auto">
            <a:xfrm>
              <a:off x="2262" y="2194"/>
              <a:ext cx="610" cy="1388"/>
              <a:chOff x="478" y="2082"/>
              <a:chExt cx="610" cy="1388"/>
            </a:xfrm>
          </p:grpSpPr>
          <p:sp>
            <p:nvSpPr>
              <p:cNvPr id="325" name="Rectangle 189">
                <a:extLst>
                  <a:ext uri="{FF2B5EF4-FFF2-40B4-BE49-F238E27FC236}">
                    <a16:creationId xmlns:a16="http://schemas.microsoft.com/office/drawing/2014/main" id="{70B74872-C217-FC41-88E4-62EA004C8BB5}"/>
                  </a:ext>
                </a:extLst>
              </p:cNvPr>
              <p:cNvSpPr>
                <a:spLocks noChangeArrowheads="1"/>
              </p:cNvSpPr>
              <p:nvPr/>
            </p:nvSpPr>
            <p:spPr bwMode="auto">
              <a:xfrm>
                <a:off x="478" y="2088"/>
                <a:ext cx="583" cy="1382"/>
              </a:xfrm>
              <a:prstGeom prst="rect">
                <a:avLst/>
              </a:prstGeom>
              <a:solidFill>
                <a:srgbClr val="CC000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grpSp>
            <p:nvGrpSpPr>
              <p:cNvPr id="326" name="Group 190">
                <a:extLst>
                  <a:ext uri="{FF2B5EF4-FFF2-40B4-BE49-F238E27FC236}">
                    <a16:creationId xmlns:a16="http://schemas.microsoft.com/office/drawing/2014/main" id="{CF809BF0-4E65-1B40-AB07-4F110FD0C354}"/>
                  </a:ext>
                </a:extLst>
              </p:cNvPr>
              <p:cNvGrpSpPr>
                <a:grpSpLocks/>
              </p:cNvGrpSpPr>
              <p:nvPr/>
            </p:nvGrpSpPr>
            <p:grpSpPr bwMode="auto">
              <a:xfrm>
                <a:off x="499" y="2471"/>
                <a:ext cx="532" cy="910"/>
                <a:chOff x="4869" y="143"/>
                <a:chExt cx="532" cy="910"/>
              </a:xfrm>
            </p:grpSpPr>
            <p:sp>
              <p:nvSpPr>
                <p:cNvPr id="328" name="Rectangle 191">
                  <a:extLst>
                    <a:ext uri="{FF2B5EF4-FFF2-40B4-BE49-F238E27FC236}">
                      <a16:creationId xmlns:a16="http://schemas.microsoft.com/office/drawing/2014/main" id="{A8B5E821-E51C-5E4F-B431-DA1FBAC1A13F}"/>
                    </a:ext>
                  </a:extLst>
                </p:cNvPr>
                <p:cNvSpPr>
                  <a:spLocks noChangeArrowheads="1"/>
                </p:cNvSpPr>
                <p:nvPr/>
              </p:nvSpPr>
              <p:spPr bwMode="auto">
                <a:xfrm>
                  <a:off x="4893" y="143"/>
                  <a:ext cx="462" cy="908"/>
                </a:xfrm>
                <a:prstGeom prst="rect">
                  <a:avLst/>
                </a:prstGeom>
                <a:solidFill>
                  <a:srgbClr val="B5E7FF"/>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29" name="Text Box 192">
                  <a:extLst>
                    <a:ext uri="{FF2B5EF4-FFF2-40B4-BE49-F238E27FC236}">
                      <a16:creationId xmlns:a16="http://schemas.microsoft.com/office/drawing/2014/main" id="{35AB2FDE-8EF6-194F-8B89-3E69A80B07F1}"/>
                    </a:ext>
                  </a:extLst>
                </p:cNvPr>
                <p:cNvSpPr txBox="1">
                  <a:spLocks noChangeArrowheads="1"/>
                </p:cNvSpPr>
                <p:nvPr/>
              </p:nvSpPr>
              <p:spPr bwMode="auto">
                <a:xfrm>
                  <a:off x="4869" y="161"/>
                  <a:ext cx="532" cy="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rPr>
                    <a:t>Flow: X</a:t>
                  </a:r>
                </a:p>
                <a:p>
                  <a:pPr defTabSz="685800" eaLnBrk="1" fontAlgn="auto" hangingPunct="1">
                    <a:spcBef>
                      <a:spcPts val="0"/>
                    </a:spcBef>
                    <a:spcAft>
                      <a:spcPts val="0"/>
                    </a:spcAft>
                    <a:defRPr/>
                  </a:pPr>
                  <a:r>
                    <a:rPr lang="en-US" altLang="en-US" sz="1050" dirty="0">
                      <a:solidFill>
                        <a:prstClr val="black"/>
                      </a:solidFill>
                    </a:rPr>
                    <a:t>Src: A</a:t>
                  </a:r>
                </a:p>
                <a:p>
                  <a:pPr defTabSz="685800" eaLnBrk="1" fontAlgn="auto" hangingPunct="1">
                    <a:spcBef>
                      <a:spcPts val="0"/>
                    </a:spcBef>
                    <a:spcAft>
                      <a:spcPts val="0"/>
                    </a:spcAft>
                    <a:defRPr/>
                  </a:pPr>
                  <a:r>
                    <a:rPr lang="en-US" altLang="en-US" sz="1050" dirty="0">
                      <a:solidFill>
                        <a:prstClr val="black"/>
                      </a:solidFill>
                    </a:rPr>
                    <a:t>Dest: F</a:t>
                  </a: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r>
                    <a:rPr lang="en-US" altLang="en-US" sz="1050" dirty="0">
                      <a:solidFill>
                        <a:prstClr val="black"/>
                      </a:solidFill>
                    </a:rPr>
                    <a:t>data</a:t>
                  </a:r>
                </a:p>
              </p:txBody>
            </p:sp>
          </p:grpSp>
          <p:sp>
            <p:nvSpPr>
              <p:cNvPr id="327" name="Text Box 193">
                <a:extLst>
                  <a:ext uri="{FF2B5EF4-FFF2-40B4-BE49-F238E27FC236}">
                    <a16:creationId xmlns:a16="http://schemas.microsoft.com/office/drawing/2014/main" id="{2B7B6EF8-F396-7A49-BF06-3BB5819D48AC}"/>
                  </a:ext>
                </a:extLst>
              </p:cNvPr>
              <p:cNvSpPr txBox="1">
                <a:spLocks noChangeArrowheads="1"/>
              </p:cNvSpPr>
              <p:nvPr/>
            </p:nvSpPr>
            <p:spPr bwMode="auto">
              <a:xfrm>
                <a:off x="481" y="2082"/>
                <a:ext cx="607"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white"/>
                    </a:solidFill>
                  </a:rPr>
                  <a:t>src:B</a:t>
                </a:r>
              </a:p>
              <a:p>
                <a:pPr defTabSz="685800" eaLnBrk="1" fontAlgn="auto" hangingPunct="1">
                  <a:spcBef>
                    <a:spcPts val="0"/>
                  </a:spcBef>
                  <a:spcAft>
                    <a:spcPts val="0"/>
                  </a:spcAft>
                  <a:defRPr/>
                </a:pPr>
                <a:r>
                  <a:rPr lang="en-US" altLang="en-US" sz="1350" dirty="0">
                    <a:solidFill>
                      <a:prstClr val="white"/>
                    </a:solidFill>
                  </a:rPr>
                  <a:t>dest: E</a:t>
                </a:r>
              </a:p>
            </p:txBody>
          </p:sp>
        </p:grpSp>
        <p:sp>
          <p:nvSpPr>
            <p:cNvPr id="322" name="Line 195">
              <a:extLst>
                <a:ext uri="{FF2B5EF4-FFF2-40B4-BE49-F238E27FC236}">
                  <a16:creationId xmlns:a16="http://schemas.microsoft.com/office/drawing/2014/main" id="{8310E25A-1203-8D49-8C94-6972726DCA5F}"/>
                </a:ext>
              </a:extLst>
            </p:cNvPr>
            <p:cNvSpPr>
              <a:spLocks noChangeShapeType="1"/>
            </p:cNvSpPr>
            <p:nvPr/>
          </p:nvSpPr>
          <p:spPr bwMode="auto">
            <a:xfrm>
              <a:off x="2345" y="2127"/>
              <a:ext cx="43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23" name="Text Box 208">
              <a:extLst>
                <a:ext uri="{FF2B5EF4-FFF2-40B4-BE49-F238E27FC236}">
                  <a16:creationId xmlns:a16="http://schemas.microsoft.com/office/drawing/2014/main" id="{DF910F24-596F-2549-BDA0-45F975CF1772}"/>
                </a:ext>
              </a:extLst>
            </p:cNvPr>
            <p:cNvSpPr txBox="1">
              <a:spLocks noChangeArrowheads="1"/>
            </p:cNvSpPr>
            <p:nvPr/>
          </p:nvSpPr>
          <p:spPr bwMode="auto">
            <a:xfrm>
              <a:off x="2209" y="3767"/>
              <a:ext cx="785" cy="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dirty="0">
                  <a:solidFill>
                    <a:prstClr val="black"/>
                  </a:solidFill>
                </a:rPr>
                <a:t>B-to-C:</a:t>
              </a:r>
            </a:p>
            <a:p>
              <a:pPr algn="ctr" defTabSz="685800" eaLnBrk="1" fontAlgn="auto" hangingPunct="1">
                <a:lnSpc>
                  <a:spcPct val="85000"/>
                </a:lnSpc>
                <a:spcBef>
                  <a:spcPts val="0"/>
                </a:spcBef>
                <a:spcAft>
                  <a:spcPts val="0"/>
                </a:spcAft>
                <a:defRPr/>
              </a:pPr>
              <a:r>
                <a:rPr lang="en-US" altLang="en-US" sz="1200" dirty="0">
                  <a:solidFill>
                    <a:prstClr val="black"/>
                  </a:solidFill>
                </a:rPr>
                <a:t>IPv6 inside</a:t>
              </a:r>
            </a:p>
            <a:p>
              <a:pPr algn="ctr" defTabSz="685800" eaLnBrk="1" fontAlgn="auto" hangingPunct="1">
                <a:lnSpc>
                  <a:spcPct val="85000"/>
                </a:lnSpc>
                <a:spcBef>
                  <a:spcPts val="0"/>
                </a:spcBef>
                <a:spcAft>
                  <a:spcPts val="0"/>
                </a:spcAft>
                <a:defRPr/>
              </a:pPr>
              <a:r>
                <a:rPr lang="en-US" altLang="en-US" sz="1200" dirty="0">
                  <a:solidFill>
                    <a:prstClr val="black"/>
                  </a:solidFill>
                </a:rPr>
                <a:t>IPv4</a:t>
              </a:r>
            </a:p>
          </p:txBody>
        </p:sp>
        <p:sp>
          <p:nvSpPr>
            <p:cNvPr id="324" name="Line 209">
              <a:extLst>
                <a:ext uri="{FF2B5EF4-FFF2-40B4-BE49-F238E27FC236}">
                  <a16:creationId xmlns:a16="http://schemas.microsoft.com/office/drawing/2014/main" id="{770F9B39-DA00-7740-A72A-70BC8C220591}"/>
                </a:ext>
              </a:extLst>
            </p:cNvPr>
            <p:cNvSpPr>
              <a:spLocks noChangeShapeType="1"/>
            </p:cNvSpPr>
            <p:nvPr/>
          </p:nvSpPr>
          <p:spPr bwMode="auto">
            <a:xfrm>
              <a:off x="2588" y="3604"/>
              <a:ext cx="0" cy="116"/>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330" name="Group 355">
            <a:extLst>
              <a:ext uri="{FF2B5EF4-FFF2-40B4-BE49-F238E27FC236}">
                <a16:creationId xmlns:a16="http://schemas.microsoft.com/office/drawing/2014/main" id="{1860701B-D666-A942-B647-446429C42779}"/>
              </a:ext>
            </a:extLst>
          </p:cNvPr>
          <p:cNvGrpSpPr>
            <a:grpSpLocks/>
          </p:cNvGrpSpPr>
          <p:nvPr/>
        </p:nvGrpSpPr>
        <p:grpSpPr bwMode="auto">
          <a:xfrm>
            <a:off x="6503016" y="3332457"/>
            <a:ext cx="685800" cy="2274093"/>
            <a:chOff x="4251" y="2129"/>
            <a:chExt cx="576" cy="1910"/>
          </a:xfrm>
        </p:grpSpPr>
        <p:sp>
          <p:nvSpPr>
            <p:cNvPr id="331" name="Line 197">
              <a:extLst>
                <a:ext uri="{FF2B5EF4-FFF2-40B4-BE49-F238E27FC236}">
                  <a16:creationId xmlns:a16="http://schemas.microsoft.com/office/drawing/2014/main" id="{9838CAC1-9152-ED45-9E04-F02ADCA7725C}"/>
                </a:ext>
              </a:extLst>
            </p:cNvPr>
            <p:cNvSpPr>
              <a:spLocks noChangeShapeType="1"/>
            </p:cNvSpPr>
            <p:nvPr/>
          </p:nvSpPr>
          <p:spPr bwMode="auto">
            <a:xfrm>
              <a:off x="4292" y="2129"/>
              <a:ext cx="43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32" name="Text Box 206">
              <a:extLst>
                <a:ext uri="{FF2B5EF4-FFF2-40B4-BE49-F238E27FC236}">
                  <a16:creationId xmlns:a16="http://schemas.microsoft.com/office/drawing/2014/main" id="{0791224F-29E6-2344-A509-946FF13DB5AB}"/>
                </a:ext>
              </a:extLst>
            </p:cNvPr>
            <p:cNvSpPr txBox="1">
              <a:spLocks noChangeArrowheads="1"/>
            </p:cNvSpPr>
            <p:nvPr/>
          </p:nvSpPr>
          <p:spPr bwMode="auto">
            <a:xfrm>
              <a:off x="4276" y="3698"/>
              <a:ext cx="55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dirty="0">
                  <a:solidFill>
                    <a:prstClr val="black"/>
                  </a:solidFill>
                </a:rPr>
                <a:t>E-to-F:</a:t>
              </a:r>
            </a:p>
            <a:p>
              <a:pPr algn="ctr" defTabSz="685800" eaLnBrk="1" fontAlgn="auto" hangingPunct="1">
                <a:lnSpc>
                  <a:spcPct val="85000"/>
                </a:lnSpc>
                <a:spcBef>
                  <a:spcPts val="0"/>
                </a:spcBef>
                <a:spcAft>
                  <a:spcPts val="0"/>
                </a:spcAft>
                <a:defRPr/>
              </a:pPr>
              <a:r>
                <a:rPr lang="en-US" altLang="en-US" sz="1200" dirty="0">
                  <a:solidFill>
                    <a:prstClr val="black"/>
                  </a:solidFill>
                </a:rPr>
                <a:t>IPv6</a:t>
              </a:r>
            </a:p>
          </p:txBody>
        </p:sp>
        <p:sp>
          <p:nvSpPr>
            <p:cNvPr id="333" name="Line 207">
              <a:extLst>
                <a:ext uri="{FF2B5EF4-FFF2-40B4-BE49-F238E27FC236}">
                  <a16:creationId xmlns:a16="http://schemas.microsoft.com/office/drawing/2014/main" id="{8802785F-9EA9-AC4C-866D-E933ACDFA815}"/>
                </a:ext>
              </a:extLst>
            </p:cNvPr>
            <p:cNvSpPr>
              <a:spLocks noChangeShapeType="1"/>
            </p:cNvSpPr>
            <p:nvPr/>
          </p:nvSpPr>
          <p:spPr bwMode="auto">
            <a:xfrm>
              <a:off x="4540" y="3238"/>
              <a:ext cx="0" cy="495"/>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334" name="Group 213">
              <a:extLst>
                <a:ext uri="{FF2B5EF4-FFF2-40B4-BE49-F238E27FC236}">
                  <a16:creationId xmlns:a16="http://schemas.microsoft.com/office/drawing/2014/main" id="{00A04B74-FADB-AF47-AE24-A5BC92AC0F69}"/>
                </a:ext>
              </a:extLst>
            </p:cNvPr>
            <p:cNvGrpSpPr>
              <a:grpSpLocks/>
            </p:cNvGrpSpPr>
            <p:nvPr/>
          </p:nvGrpSpPr>
          <p:grpSpPr bwMode="auto">
            <a:xfrm>
              <a:off x="4251" y="2205"/>
              <a:ext cx="500" cy="917"/>
              <a:chOff x="643" y="2144"/>
              <a:chExt cx="500" cy="917"/>
            </a:xfrm>
          </p:grpSpPr>
          <p:sp>
            <p:nvSpPr>
              <p:cNvPr id="335" name="Rectangle 214">
                <a:extLst>
                  <a:ext uri="{FF2B5EF4-FFF2-40B4-BE49-F238E27FC236}">
                    <a16:creationId xmlns:a16="http://schemas.microsoft.com/office/drawing/2014/main" id="{92ABE520-4D89-5243-B8E0-AA1832554DE2}"/>
                  </a:ext>
                </a:extLst>
              </p:cNvPr>
              <p:cNvSpPr>
                <a:spLocks noChangeArrowheads="1"/>
              </p:cNvSpPr>
              <p:nvPr/>
            </p:nvSpPr>
            <p:spPr bwMode="auto">
              <a:xfrm>
                <a:off x="652" y="2144"/>
                <a:ext cx="462" cy="908"/>
              </a:xfrm>
              <a:prstGeom prst="rect">
                <a:avLst/>
              </a:prstGeom>
              <a:solidFill>
                <a:srgbClr val="B5E7FF"/>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36" name="Text Box 215">
                <a:extLst>
                  <a:ext uri="{FF2B5EF4-FFF2-40B4-BE49-F238E27FC236}">
                    <a16:creationId xmlns:a16="http://schemas.microsoft.com/office/drawing/2014/main" id="{8DB6921A-514A-DF40-AA1D-5E33B5A17AC8}"/>
                  </a:ext>
                </a:extLst>
              </p:cNvPr>
              <p:cNvSpPr txBox="1">
                <a:spLocks noChangeArrowheads="1"/>
              </p:cNvSpPr>
              <p:nvPr/>
            </p:nvSpPr>
            <p:spPr bwMode="auto">
              <a:xfrm>
                <a:off x="643" y="2169"/>
                <a:ext cx="500" cy="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rPr>
                  <a:t>flow: X</a:t>
                </a:r>
              </a:p>
              <a:p>
                <a:pPr defTabSz="685800" eaLnBrk="1" fontAlgn="auto" hangingPunct="1">
                  <a:spcBef>
                    <a:spcPts val="0"/>
                  </a:spcBef>
                  <a:spcAft>
                    <a:spcPts val="0"/>
                  </a:spcAft>
                  <a:defRPr/>
                </a:pPr>
                <a:r>
                  <a:rPr lang="en-US" altLang="en-US" sz="1050" dirty="0">
                    <a:solidFill>
                      <a:prstClr val="black"/>
                    </a:solidFill>
                  </a:rPr>
                  <a:t>src: A</a:t>
                </a:r>
              </a:p>
              <a:p>
                <a:pPr defTabSz="685800" eaLnBrk="1" fontAlgn="auto" hangingPunct="1">
                  <a:spcBef>
                    <a:spcPts val="0"/>
                  </a:spcBef>
                  <a:spcAft>
                    <a:spcPts val="0"/>
                  </a:spcAft>
                  <a:defRPr/>
                </a:pPr>
                <a:r>
                  <a:rPr lang="en-US" altLang="en-US" sz="1050" dirty="0">
                    <a:solidFill>
                      <a:prstClr val="black"/>
                    </a:solidFill>
                  </a:rPr>
                  <a:t>dest: F</a:t>
                </a: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r>
                  <a:rPr lang="en-US" altLang="en-US" sz="1050" dirty="0">
                    <a:solidFill>
                      <a:prstClr val="black"/>
                    </a:solidFill>
                  </a:rPr>
                  <a:t>data</a:t>
                </a:r>
              </a:p>
            </p:txBody>
          </p:sp>
        </p:grpSp>
      </p:grpSp>
      <p:grpSp>
        <p:nvGrpSpPr>
          <p:cNvPr id="337" name="Group 354">
            <a:extLst>
              <a:ext uri="{FF2B5EF4-FFF2-40B4-BE49-F238E27FC236}">
                <a16:creationId xmlns:a16="http://schemas.microsoft.com/office/drawing/2014/main" id="{AEF5EEBA-1CC2-1D45-968E-5F8EE015BEB7}"/>
              </a:ext>
            </a:extLst>
          </p:cNvPr>
          <p:cNvGrpSpPr>
            <a:grpSpLocks/>
          </p:cNvGrpSpPr>
          <p:nvPr/>
        </p:nvGrpSpPr>
        <p:grpSpPr bwMode="auto">
          <a:xfrm>
            <a:off x="5591002" y="3331266"/>
            <a:ext cx="934641" cy="2524125"/>
            <a:chOff x="3485" y="2128"/>
            <a:chExt cx="785" cy="2120"/>
          </a:xfrm>
        </p:grpSpPr>
        <p:sp>
          <p:nvSpPr>
            <p:cNvPr id="338" name="Line 196">
              <a:extLst>
                <a:ext uri="{FF2B5EF4-FFF2-40B4-BE49-F238E27FC236}">
                  <a16:creationId xmlns:a16="http://schemas.microsoft.com/office/drawing/2014/main" id="{ACF5DC03-9E4C-804F-8AE9-B7190FB2EA8F}"/>
                </a:ext>
              </a:extLst>
            </p:cNvPr>
            <p:cNvSpPr>
              <a:spLocks noChangeShapeType="1"/>
            </p:cNvSpPr>
            <p:nvPr/>
          </p:nvSpPr>
          <p:spPr bwMode="auto">
            <a:xfrm>
              <a:off x="3627" y="2128"/>
              <a:ext cx="434"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39" name="Text Box 210">
              <a:extLst>
                <a:ext uri="{FF2B5EF4-FFF2-40B4-BE49-F238E27FC236}">
                  <a16:creationId xmlns:a16="http://schemas.microsoft.com/office/drawing/2014/main" id="{700C4A8D-C752-F544-9167-054CECEB980A}"/>
                </a:ext>
              </a:extLst>
            </p:cNvPr>
            <p:cNvSpPr txBox="1">
              <a:spLocks noChangeArrowheads="1"/>
            </p:cNvSpPr>
            <p:nvPr/>
          </p:nvSpPr>
          <p:spPr bwMode="auto">
            <a:xfrm>
              <a:off x="3485" y="3775"/>
              <a:ext cx="785" cy="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lnSpc>
                  <a:spcPct val="85000"/>
                </a:lnSpc>
                <a:spcBef>
                  <a:spcPts val="0"/>
                </a:spcBef>
                <a:spcAft>
                  <a:spcPts val="0"/>
                </a:spcAft>
                <a:defRPr/>
              </a:pPr>
              <a:r>
                <a:rPr lang="en-US" altLang="en-US" sz="1200" dirty="0">
                  <a:solidFill>
                    <a:prstClr val="black"/>
                  </a:solidFill>
                </a:rPr>
                <a:t>B-to-C:</a:t>
              </a:r>
            </a:p>
            <a:p>
              <a:pPr algn="ctr" defTabSz="685800" eaLnBrk="1" fontAlgn="auto" hangingPunct="1">
                <a:lnSpc>
                  <a:spcPct val="85000"/>
                </a:lnSpc>
                <a:spcBef>
                  <a:spcPts val="0"/>
                </a:spcBef>
                <a:spcAft>
                  <a:spcPts val="0"/>
                </a:spcAft>
                <a:defRPr/>
              </a:pPr>
              <a:r>
                <a:rPr lang="en-US" altLang="en-US" sz="1200" dirty="0">
                  <a:solidFill>
                    <a:prstClr val="black"/>
                  </a:solidFill>
                </a:rPr>
                <a:t>IPv6 inside</a:t>
              </a:r>
            </a:p>
            <a:p>
              <a:pPr algn="ctr" defTabSz="685800" eaLnBrk="1" fontAlgn="auto" hangingPunct="1">
                <a:lnSpc>
                  <a:spcPct val="85000"/>
                </a:lnSpc>
                <a:spcBef>
                  <a:spcPts val="0"/>
                </a:spcBef>
                <a:spcAft>
                  <a:spcPts val="0"/>
                </a:spcAft>
                <a:defRPr/>
              </a:pPr>
              <a:r>
                <a:rPr lang="en-US" altLang="en-US" sz="1200" dirty="0">
                  <a:solidFill>
                    <a:prstClr val="black"/>
                  </a:solidFill>
                </a:rPr>
                <a:t>IPv4</a:t>
              </a:r>
            </a:p>
          </p:txBody>
        </p:sp>
        <p:sp>
          <p:nvSpPr>
            <p:cNvPr id="340" name="Line 211">
              <a:extLst>
                <a:ext uri="{FF2B5EF4-FFF2-40B4-BE49-F238E27FC236}">
                  <a16:creationId xmlns:a16="http://schemas.microsoft.com/office/drawing/2014/main" id="{18667784-6243-834D-8EEA-D006E122B854}"/>
                </a:ext>
              </a:extLst>
            </p:cNvPr>
            <p:cNvSpPr>
              <a:spLocks noChangeShapeType="1"/>
            </p:cNvSpPr>
            <p:nvPr/>
          </p:nvSpPr>
          <p:spPr bwMode="auto">
            <a:xfrm>
              <a:off x="3883" y="3640"/>
              <a:ext cx="0" cy="116"/>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341" name="Group 217">
              <a:extLst>
                <a:ext uri="{FF2B5EF4-FFF2-40B4-BE49-F238E27FC236}">
                  <a16:creationId xmlns:a16="http://schemas.microsoft.com/office/drawing/2014/main" id="{FF2C4C60-AABF-3B4E-B780-B25D35F6F447}"/>
                </a:ext>
              </a:extLst>
            </p:cNvPr>
            <p:cNvGrpSpPr>
              <a:grpSpLocks/>
            </p:cNvGrpSpPr>
            <p:nvPr/>
          </p:nvGrpSpPr>
          <p:grpSpPr bwMode="auto">
            <a:xfrm>
              <a:off x="3558" y="2220"/>
              <a:ext cx="610" cy="1388"/>
              <a:chOff x="478" y="2082"/>
              <a:chExt cx="610" cy="1388"/>
            </a:xfrm>
          </p:grpSpPr>
          <p:sp>
            <p:nvSpPr>
              <p:cNvPr id="342" name="Rectangle 218">
                <a:extLst>
                  <a:ext uri="{FF2B5EF4-FFF2-40B4-BE49-F238E27FC236}">
                    <a16:creationId xmlns:a16="http://schemas.microsoft.com/office/drawing/2014/main" id="{0FAC5552-F17D-B849-AA73-E78F0E6B9790}"/>
                  </a:ext>
                </a:extLst>
              </p:cNvPr>
              <p:cNvSpPr>
                <a:spLocks noChangeArrowheads="1"/>
              </p:cNvSpPr>
              <p:nvPr/>
            </p:nvSpPr>
            <p:spPr bwMode="auto">
              <a:xfrm>
                <a:off x="478" y="2088"/>
                <a:ext cx="583" cy="1382"/>
              </a:xfrm>
              <a:prstGeom prst="rect">
                <a:avLst/>
              </a:prstGeom>
              <a:solidFill>
                <a:srgbClr val="CC000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grpSp>
            <p:nvGrpSpPr>
              <p:cNvPr id="343" name="Group 219">
                <a:extLst>
                  <a:ext uri="{FF2B5EF4-FFF2-40B4-BE49-F238E27FC236}">
                    <a16:creationId xmlns:a16="http://schemas.microsoft.com/office/drawing/2014/main" id="{DD102A9F-6EC4-4241-BD0B-7E5E1621B859}"/>
                  </a:ext>
                </a:extLst>
              </p:cNvPr>
              <p:cNvGrpSpPr>
                <a:grpSpLocks/>
              </p:cNvGrpSpPr>
              <p:nvPr/>
            </p:nvGrpSpPr>
            <p:grpSpPr bwMode="auto">
              <a:xfrm>
                <a:off x="499" y="2471"/>
                <a:ext cx="532" cy="910"/>
                <a:chOff x="4869" y="143"/>
                <a:chExt cx="532" cy="910"/>
              </a:xfrm>
            </p:grpSpPr>
            <p:sp>
              <p:nvSpPr>
                <p:cNvPr id="345" name="Rectangle 220">
                  <a:extLst>
                    <a:ext uri="{FF2B5EF4-FFF2-40B4-BE49-F238E27FC236}">
                      <a16:creationId xmlns:a16="http://schemas.microsoft.com/office/drawing/2014/main" id="{2A2FB562-2D33-8042-ADAD-FFE91DA662B3}"/>
                    </a:ext>
                  </a:extLst>
                </p:cNvPr>
                <p:cNvSpPr>
                  <a:spLocks noChangeArrowheads="1"/>
                </p:cNvSpPr>
                <p:nvPr/>
              </p:nvSpPr>
              <p:spPr bwMode="auto">
                <a:xfrm>
                  <a:off x="4893" y="143"/>
                  <a:ext cx="462" cy="908"/>
                </a:xfrm>
                <a:prstGeom prst="rect">
                  <a:avLst/>
                </a:prstGeom>
                <a:solidFill>
                  <a:srgbClr val="B5E7FF"/>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350" dirty="0">
                    <a:solidFill>
                      <a:prstClr val="black"/>
                    </a:solidFill>
                  </a:endParaRPr>
                </a:p>
              </p:txBody>
            </p:sp>
            <p:sp>
              <p:nvSpPr>
                <p:cNvPr id="346" name="Text Box 221">
                  <a:extLst>
                    <a:ext uri="{FF2B5EF4-FFF2-40B4-BE49-F238E27FC236}">
                      <a16:creationId xmlns:a16="http://schemas.microsoft.com/office/drawing/2014/main" id="{E5FF5A8B-3342-274C-8146-5A2A1B7BC2CE}"/>
                    </a:ext>
                  </a:extLst>
                </p:cNvPr>
                <p:cNvSpPr txBox="1">
                  <a:spLocks noChangeArrowheads="1"/>
                </p:cNvSpPr>
                <p:nvPr/>
              </p:nvSpPr>
              <p:spPr bwMode="auto">
                <a:xfrm>
                  <a:off x="4869" y="161"/>
                  <a:ext cx="532" cy="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rPr>
                    <a:t>Flow: X</a:t>
                  </a:r>
                </a:p>
                <a:p>
                  <a:pPr defTabSz="685800" eaLnBrk="1" fontAlgn="auto" hangingPunct="1">
                    <a:spcBef>
                      <a:spcPts val="0"/>
                    </a:spcBef>
                    <a:spcAft>
                      <a:spcPts val="0"/>
                    </a:spcAft>
                    <a:defRPr/>
                  </a:pPr>
                  <a:r>
                    <a:rPr lang="en-US" altLang="en-US" sz="1050" dirty="0">
                      <a:solidFill>
                        <a:prstClr val="black"/>
                      </a:solidFill>
                    </a:rPr>
                    <a:t>Src: A</a:t>
                  </a:r>
                </a:p>
                <a:p>
                  <a:pPr defTabSz="685800" eaLnBrk="1" fontAlgn="auto" hangingPunct="1">
                    <a:spcBef>
                      <a:spcPts val="0"/>
                    </a:spcBef>
                    <a:spcAft>
                      <a:spcPts val="0"/>
                    </a:spcAft>
                    <a:defRPr/>
                  </a:pPr>
                  <a:r>
                    <a:rPr lang="en-US" altLang="en-US" sz="1050" dirty="0">
                      <a:solidFill>
                        <a:prstClr val="black"/>
                      </a:solidFill>
                    </a:rPr>
                    <a:t>Dest: F</a:t>
                  </a: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endParaRPr lang="en-US" altLang="en-US" sz="1050" dirty="0">
                    <a:solidFill>
                      <a:prstClr val="black"/>
                    </a:solidFill>
                  </a:endParaRPr>
                </a:p>
                <a:p>
                  <a:pPr defTabSz="685800" eaLnBrk="1" fontAlgn="auto" hangingPunct="1">
                    <a:spcBef>
                      <a:spcPts val="0"/>
                    </a:spcBef>
                    <a:spcAft>
                      <a:spcPts val="0"/>
                    </a:spcAft>
                    <a:defRPr/>
                  </a:pPr>
                  <a:r>
                    <a:rPr lang="en-US" altLang="en-US" sz="1050" dirty="0">
                      <a:solidFill>
                        <a:prstClr val="black"/>
                      </a:solidFill>
                    </a:rPr>
                    <a:t>data</a:t>
                  </a:r>
                </a:p>
              </p:txBody>
            </p:sp>
          </p:grpSp>
          <p:sp>
            <p:nvSpPr>
              <p:cNvPr id="344" name="Text Box 222">
                <a:extLst>
                  <a:ext uri="{FF2B5EF4-FFF2-40B4-BE49-F238E27FC236}">
                    <a16:creationId xmlns:a16="http://schemas.microsoft.com/office/drawing/2014/main" id="{8FCCEF0D-286B-C44E-BA22-94BF032AFDCB}"/>
                  </a:ext>
                </a:extLst>
              </p:cNvPr>
              <p:cNvSpPr txBox="1">
                <a:spLocks noChangeArrowheads="1"/>
              </p:cNvSpPr>
              <p:nvPr/>
            </p:nvSpPr>
            <p:spPr bwMode="auto">
              <a:xfrm>
                <a:off x="481" y="2082"/>
                <a:ext cx="607"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white"/>
                    </a:solidFill>
                  </a:rPr>
                  <a:t>src:B</a:t>
                </a:r>
              </a:p>
              <a:p>
                <a:pPr defTabSz="685800" eaLnBrk="1" fontAlgn="auto" hangingPunct="1">
                  <a:spcBef>
                    <a:spcPts val="0"/>
                  </a:spcBef>
                  <a:spcAft>
                    <a:spcPts val="0"/>
                  </a:spcAft>
                  <a:defRPr/>
                </a:pPr>
                <a:r>
                  <a:rPr lang="en-US" altLang="en-US" sz="1350" dirty="0">
                    <a:solidFill>
                      <a:prstClr val="white"/>
                    </a:solidFill>
                  </a:rPr>
                  <a:t>dest: E</a:t>
                </a:r>
              </a:p>
            </p:txBody>
          </p:sp>
        </p:grpSp>
      </p:grpSp>
      <p:sp>
        <p:nvSpPr>
          <p:cNvPr id="2" name="Rectangle 1">
            <a:extLst>
              <a:ext uri="{FF2B5EF4-FFF2-40B4-BE49-F238E27FC236}">
                <a16:creationId xmlns:a16="http://schemas.microsoft.com/office/drawing/2014/main" id="{F10D6C81-F7CD-4C46-8149-0FAE399F43DE}"/>
              </a:ext>
            </a:extLst>
          </p:cNvPr>
          <p:cNvSpPr/>
          <p:nvPr/>
        </p:nvSpPr>
        <p:spPr>
          <a:xfrm>
            <a:off x="4050661" y="1999428"/>
            <a:ext cx="34289" cy="157882"/>
          </a:xfrm>
          <a:prstGeom prst="rect">
            <a:avLst/>
          </a:prstGeom>
          <a:solidFill>
            <a:srgbClr val="CC0001"/>
          </a:solidFill>
          <a:ln>
            <a:solidFill>
              <a:srgbClr val="CC00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2" name="Rectangle 161">
            <a:extLst>
              <a:ext uri="{FF2B5EF4-FFF2-40B4-BE49-F238E27FC236}">
                <a16:creationId xmlns:a16="http://schemas.microsoft.com/office/drawing/2014/main" id="{30D76FC4-6C07-EB4A-BCF2-E2B2EEF8B9EB}"/>
              </a:ext>
            </a:extLst>
          </p:cNvPr>
          <p:cNvSpPr/>
          <p:nvPr/>
        </p:nvSpPr>
        <p:spPr>
          <a:xfrm>
            <a:off x="6101730" y="2012586"/>
            <a:ext cx="34289" cy="157882"/>
          </a:xfrm>
          <a:prstGeom prst="rect">
            <a:avLst/>
          </a:prstGeom>
          <a:solidFill>
            <a:srgbClr val="CC0001"/>
          </a:solidFill>
          <a:ln>
            <a:solidFill>
              <a:srgbClr val="CC00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3" name="Rectangle 162">
            <a:extLst>
              <a:ext uri="{FF2B5EF4-FFF2-40B4-BE49-F238E27FC236}">
                <a16:creationId xmlns:a16="http://schemas.microsoft.com/office/drawing/2014/main" id="{BB8DC798-AC4D-764E-B057-214B9D5D3927}"/>
              </a:ext>
            </a:extLst>
          </p:cNvPr>
          <p:cNvSpPr/>
          <p:nvPr/>
        </p:nvSpPr>
        <p:spPr>
          <a:xfrm>
            <a:off x="4056417" y="2836532"/>
            <a:ext cx="34289" cy="157882"/>
          </a:xfrm>
          <a:prstGeom prst="rect">
            <a:avLst/>
          </a:prstGeom>
          <a:solidFill>
            <a:srgbClr val="CC0001"/>
          </a:solidFill>
          <a:ln>
            <a:solidFill>
              <a:srgbClr val="CC00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6" name="Rectangle 165">
            <a:extLst>
              <a:ext uri="{FF2B5EF4-FFF2-40B4-BE49-F238E27FC236}">
                <a16:creationId xmlns:a16="http://schemas.microsoft.com/office/drawing/2014/main" id="{92559629-838F-3942-9672-3BDCF8B24153}"/>
              </a:ext>
            </a:extLst>
          </p:cNvPr>
          <p:cNvSpPr/>
          <p:nvPr/>
        </p:nvSpPr>
        <p:spPr>
          <a:xfrm>
            <a:off x="6092685" y="2854623"/>
            <a:ext cx="34289" cy="157882"/>
          </a:xfrm>
          <a:prstGeom prst="rect">
            <a:avLst/>
          </a:prstGeom>
          <a:solidFill>
            <a:srgbClr val="CC0001"/>
          </a:solidFill>
          <a:ln>
            <a:solidFill>
              <a:srgbClr val="CC00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nvGrpSpPr>
          <p:cNvPr id="14" name="Group 13">
            <a:extLst>
              <a:ext uri="{FF2B5EF4-FFF2-40B4-BE49-F238E27FC236}">
                <a16:creationId xmlns:a16="http://schemas.microsoft.com/office/drawing/2014/main" id="{ED068552-57F0-AF4C-8DA3-019ACF254CBF}"/>
              </a:ext>
            </a:extLst>
          </p:cNvPr>
          <p:cNvGrpSpPr/>
          <p:nvPr/>
        </p:nvGrpSpPr>
        <p:grpSpPr>
          <a:xfrm>
            <a:off x="963847" y="3408128"/>
            <a:ext cx="6068585" cy="1565053"/>
            <a:chOff x="-2159111" y="3797410"/>
            <a:chExt cx="8091447" cy="2086736"/>
          </a:xfrm>
        </p:grpSpPr>
        <p:grpSp>
          <p:nvGrpSpPr>
            <p:cNvPr id="17" name="Group 16">
              <a:extLst>
                <a:ext uri="{FF2B5EF4-FFF2-40B4-BE49-F238E27FC236}">
                  <a16:creationId xmlns:a16="http://schemas.microsoft.com/office/drawing/2014/main" id="{BE531892-4CBC-8C43-A56C-AA850071412B}"/>
                </a:ext>
              </a:extLst>
            </p:cNvPr>
            <p:cNvGrpSpPr/>
            <p:nvPr/>
          </p:nvGrpSpPr>
          <p:grpSpPr>
            <a:xfrm>
              <a:off x="-2159111" y="3797410"/>
              <a:ext cx="8091447" cy="2086736"/>
              <a:chOff x="1300369" y="3385930"/>
              <a:chExt cx="8091447" cy="2086736"/>
            </a:xfrm>
          </p:grpSpPr>
          <p:grpSp>
            <p:nvGrpSpPr>
              <p:cNvPr id="16" name="Group 15">
                <a:extLst>
                  <a:ext uri="{FF2B5EF4-FFF2-40B4-BE49-F238E27FC236}">
                    <a16:creationId xmlns:a16="http://schemas.microsoft.com/office/drawing/2014/main" id="{45CCC299-2C28-0048-B84B-B11820EAC0CD}"/>
                  </a:ext>
                </a:extLst>
              </p:cNvPr>
              <p:cNvGrpSpPr/>
              <p:nvPr/>
            </p:nvGrpSpPr>
            <p:grpSpPr>
              <a:xfrm>
                <a:off x="1300369" y="3385930"/>
                <a:ext cx="8091447" cy="2086736"/>
                <a:chOff x="1300369" y="3385930"/>
                <a:chExt cx="8091447" cy="2086736"/>
              </a:xfrm>
            </p:grpSpPr>
            <p:sp>
              <p:nvSpPr>
                <p:cNvPr id="8" name="Oval 7">
                  <a:extLst>
                    <a:ext uri="{FF2B5EF4-FFF2-40B4-BE49-F238E27FC236}">
                      <a16:creationId xmlns:a16="http://schemas.microsoft.com/office/drawing/2014/main" id="{7AB1942A-9DAD-1745-8163-6ABEF5D1D8C1}"/>
                    </a:ext>
                  </a:extLst>
                </p:cNvPr>
                <p:cNvSpPr/>
                <p:nvPr/>
              </p:nvSpPr>
              <p:spPr>
                <a:xfrm>
                  <a:off x="4108174" y="3670852"/>
                  <a:ext cx="715617" cy="5300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48" name="Oval 347">
                  <a:extLst>
                    <a:ext uri="{FF2B5EF4-FFF2-40B4-BE49-F238E27FC236}">
                      <a16:creationId xmlns:a16="http://schemas.microsoft.com/office/drawing/2014/main" id="{A1900E9C-BBC0-3445-AD24-FF5DCAD23CF4}"/>
                    </a:ext>
                  </a:extLst>
                </p:cNvPr>
                <p:cNvSpPr/>
                <p:nvPr/>
              </p:nvSpPr>
              <p:spPr>
                <a:xfrm>
                  <a:off x="5044440" y="3385930"/>
                  <a:ext cx="1023731" cy="66923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49" name="Oval 348">
                  <a:extLst>
                    <a:ext uri="{FF2B5EF4-FFF2-40B4-BE49-F238E27FC236}">
                      <a16:creationId xmlns:a16="http://schemas.microsoft.com/office/drawing/2014/main" id="{0C87EC48-1316-A84D-8E62-504A6DA4E80B}"/>
                    </a:ext>
                  </a:extLst>
                </p:cNvPr>
                <p:cNvSpPr/>
                <p:nvPr/>
              </p:nvSpPr>
              <p:spPr>
                <a:xfrm>
                  <a:off x="7533861" y="3432312"/>
                  <a:ext cx="974035" cy="66923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50" name="Oval 349">
                  <a:extLst>
                    <a:ext uri="{FF2B5EF4-FFF2-40B4-BE49-F238E27FC236}">
                      <a16:creationId xmlns:a16="http://schemas.microsoft.com/office/drawing/2014/main" id="{EF61C189-2330-9440-9F7E-120291CCA148}"/>
                    </a:ext>
                  </a:extLst>
                </p:cNvPr>
                <p:cNvSpPr/>
                <p:nvPr/>
              </p:nvSpPr>
              <p:spPr>
                <a:xfrm>
                  <a:off x="8676199" y="3678803"/>
                  <a:ext cx="715617" cy="54267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9" name="TextBox 8">
                  <a:extLst>
                    <a:ext uri="{FF2B5EF4-FFF2-40B4-BE49-F238E27FC236}">
                      <a16:creationId xmlns:a16="http://schemas.microsoft.com/office/drawing/2014/main" id="{AD10F548-95FC-9F46-8B84-BCF5664002EC}"/>
                    </a:ext>
                  </a:extLst>
                </p:cNvPr>
                <p:cNvSpPr txBox="1"/>
                <p:nvPr/>
              </p:nvSpPr>
              <p:spPr>
                <a:xfrm>
                  <a:off x="1300369" y="4426226"/>
                  <a:ext cx="1933161" cy="1046440"/>
                </a:xfrm>
                <a:prstGeom prst="rect">
                  <a:avLst/>
                </a:prstGeom>
                <a:noFill/>
              </p:spPr>
              <p:txBody>
                <a:bodyPr wrap="square" rtlCol="0">
                  <a:spAutoFit/>
                </a:bodyPr>
                <a:lstStyle/>
                <a:p>
                  <a:pPr algn="r" defTabSz="685800" eaLnBrk="1" fontAlgn="auto" hangingPunct="1">
                    <a:spcBef>
                      <a:spcPts val="0"/>
                    </a:spcBef>
                    <a:spcAft>
                      <a:spcPts val="0"/>
                    </a:spcAft>
                    <a:defRPr/>
                  </a:pPr>
                  <a:r>
                    <a:rPr lang="en-US" sz="1500" dirty="0">
                      <a:solidFill>
                        <a:prstClr val="black"/>
                      </a:solidFill>
                      <a:latin typeface="Calibri" panose="020F0502020204030204"/>
                      <a:ea typeface="+mn-ea"/>
                    </a:rPr>
                    <a:t>Note source and destination addresses!</a:t>
                  </a:r>
                </a:p>
              </p:txBody>
            </p:sp>
            <p:cxnSp>
              <p:nvCxnSpPr>
                <p:cNvPr id="12" name="Straight Connector 11">
                  <a:extLst>
                    <a:ext uri="{FF2B5EF4-FFF2-40B4-BE49-F238E27FC236}">
                      <a16:creationId xmlns:a16="http://schemas.microsoft.com/office/drawing/2014/main" id="{54D692D2-3154-2C43-AEBC-48FED218407D}"/>
                    </a:ext>
                  </a:extLst>
                </p:cNvPr>
                <p:cNvCxnSpPr>
                  <a:stCxn id="8" idx="2"/>
                  <a:endCxn id="9" idx="3"/>
                </p:cNvCxnSpPr>
                <p:nvPr/>
              </p:nvCxnSpPr>
              <p:spPr>
                <a:xfrm flipH="1">
                  <a:off x="3233530" y="3935896"/>
                  <a:ext cx="874644" cy="1013550"/>
                </a:xfrm>
                <a:prstGeom prst="line">
                  <a:avLst/>
                </a:prstGeom>
                <a:ln w="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397E0575-92AD-B245-B180-8310A054B81F}"/>
                    </a:ext>
                  </a:extLst>
                </p:cNvPr>
                <p:cNvCxnSpPr>
                  <a:cxnSpLocks/>
                  <a:endCxn id="9" idx="3"/>
                </p:cNvCxnSpPr>
                <p:nvPr/>
              </p:nvCxnSpPr>
              <p:spPr>
                <a:xfrm flipH="1">
                  <a:off x="3233530" y="3690731"/>
                  <a:ext cx="1769165" cy="1258715"/>
                </a:xfrm>
                <a:prstGeom prst="line">
                  <a:avLst/>
                </a:prstGeom>
                <a:ln w="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7A8FC108-BC9B-7B4F-8C30-B1B2FB0B6630}"/>
                    </a:ext>
                  </a:extLst>
                </p:cNvPr>
                <p:cNvCxnSpPr>
                  <a:cxnSpLocks/>
                  <a:stCxn id="349" idx="2"/>
                  <a:endCxn id="9" idx="3"/>
                </p:cNvCxnSpPr>
                <p:nvPr/>
              </p:nvCxnSpPr>
              <p:spPr>
                <a:xfrm flipH="1">
                  <a:off x="3233530" y="3766931"/>
                  <a:ext cx="4300331" cy="1182515"/>
                </a:xfrm>
                <a:prstGeom prst="line">
                  <a:avLst/>
                </a:prstGeom>
                <a:ln w="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3" name="Straight Connector 352">
                <a:extLst>
                  <a:ext uri="{FF2B5EF4-FFF2-40B4-BE49-F238E27FC236}">
                    <a16:creationId xmlns:a16="http://schemas.microsoft.com/office/drawing/2014/main" id="{2E34DF7B-8B1F-9A49-9DCA-13E9621EB46A}"/>
                  </a:ext>
                </a:extLst>
              </p:cNvPr>
              <p:cNvCxnSpPr>
                <a:cxnSpLocks/>
                <a:stCxn id="350" idx="2"/>
                <a:endCxn id="9" idx="3"/>
              </p:cNvCxnSpPr>
              <p:nvPr/>
            </p:nvCxnSpPr>
            <p:spPr>
              <a:xfrm flipH="1">
                <a:off x="3233530" y="3950142"/>
                <a:ext cx="5442668" cy="999305"/>
              </a:xfrm>
              <a:prstGeom prst="line">
                <a:avLst/>
              </a:prstGeom>
              <a:ln w="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5" name="Oval 184">
              <a:extLst>
                <a:ext uri="{FF2B5EF4-FFF2-40B4-BE49-F238E27FC236}">
                  <a16:creationId xmlns:a16="http://schemas.microsoft.com/office/drawing/2014/main" id="{6AAC3EC9-4867-0941-8198-7A4C70909795}"/>
                </a:ext>
              </a:extLst>
            </p:cNvPr>
            <p:cNvSpPr/>
            <p:nvPr/>
          </p:nvSpPr>
          <p:spPr>
            <a:xfrm>
              <a:off x="2880360" y="3803100"/>
              <a:ext cx="1023731" cy="66923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cxnSp>
          <p:nvCxnSpPr>
            <p:cNvPr id="191" name="Straight Connector 190">
              <a:extLst>
                <a:ext uri="{FF2B5EF4-FFF2-40B4-BE49-F238E27FC236}">
                  <a16:creationId xmlns:a16="http://schemas.microsoft.com/office/drawing/2014/main" id="{F52F217E-25A4-774F-89E1-664523F0BE3E}"/>
                </a:ext>
              </a:extLst>
            </p:cNvPr>
            <p:cNvCxnSpPr>
              <a:cxnSpLocks/>
              <a:endCxn id="9" idx="3"/>
            </p:cNvCxnSpPr>
            <p:nvPr/>
          </p:nvCxnSpPr>
          <p:spPr>
            <a:xfrm flipH="1">
              <a:off x="-225950" y="4267200"/>
              <a:ext cx="3182509" cy="1093726"/>
            </a:xfrm>
            <a:prstGeom prst="line">
              <a:avLst/>
            </a:prstGeom>
            <a:ln w="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0" name="Slide Number Placeholder 3">
            <a:extLst>
              <a:ext uri="{FF2B5EF4-FFF2-40B4-BE49-F238E27FC236}">
                <a16:creationId xmlns:a16="http://schemas.microsoft.com/office/drawing/2014/main" id="{BEAF9563-F70F-5542-A925-4ECE2B10605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133</a:t>
            </a:fld>
            <a:endParaRPr lang="en-US" dirty="0"/>
          </a:p>
        </p:txBody>
      </p:sp>
    </p:spTree>
    <p:extLst>
      <p:ext uri="{BB962C8B-B14F-4D97-AF65-F5344CB8AC3E}">
        <p14:creationId xmlns:p14="http://schemas.microsoft.com/office/powerpoint/2010/main" val="36070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wipe(left)">
                                      <p:cBhvr>
                                        <p:cTn id="7" dur="500"/>
                                        <p:tgtEl>
                                          <p:spTgt spid="3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0"/>
                                        </p:tgtEl>
                                        <p:attrNameLst>
                                          <p:attrName>style.visibility</p:attrName>
                                        </p:attrNameLst>
                                      </p:cBhvr>
                                      <p:to>
                                        <p:strVal val="visible"/>
                                      </p:to>
                                    </p:set>
                                    <p:animEffect transition="in" filter="wipe(left)">
                                      <p:cBhvr>
                                        <p:cTn id="12" dur="500"/>
                                        <p:tgtEl>
                                          <p:spTgt spid="3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0"/>
                                        </p:tgtEl>
                                        <p:attrNameLst>
                                          <p:attrName>style.visibility</p:attrName>
                                        </p:attrNameLst>
                                      </p:cBhvr>
                                      <p:to>
                                        <p:strVal val="visible"/>
                                      </p:to>
                                    </p:set>
                                    <p:animEffect transition="in" filter="wipe(left)">
                                      <p:cBhvr>
                                        <p:cTn id="17" dur="500"/>
                                        <p:tgtEl>
                                          <p:spTgt spid="1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7"/>
                                        </p:tgtEl>
                                        <p:attrNameLst>
                                          <p:attrName>style.visibility</p:attrName>
                                        </p:attrNameLst>
                                      </p:cBhvr>
                                      <p:to>
                                        <p:strVal val="visible"/>
                                      </p:to>
                                    </p:set>
                                    <p:animEffect transition="in" filter="wipe(left)">
                                      <p:cBhvr>
                                        <p:cTn id="22" dur="500"/>
                                        <p:tgtEl>
                                          <p:spTgt spid="3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0"/>
                                        </p:tgtEl>
                                        <p:attrNameLst>
                                          <p:attrName>style.visibility</p:attrName>
                                        </p:attrNameLst>
                                      </p:cBhvr>
                                      <p:to>
                                        <p:strVal val="visible"/>
                                      </p:to>
                                    </p:set>
                                    <p:animEffect transition="in" filter="wipe(left)">
                                      <p:cBhvr>
                                        <p:cTn id="27" dur="500"/>
                                        <p:tgtEl>
                                          <p:spTgt spid="33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dissolv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719438-0C98-CC4E-B2A6-DFB0F8C5A663}"/>
              </a:ext>
            </a:extLst>
          </p:cNvPr>
          <p:cNvSpPr>
            <a:spLocks noGrp="1"/>
          </p:cNvSpPr>
          <p:nvPr>
            <p:ph idx="1"/>
          </p:nvPr>
        </p:nvSpPr>
        <p:spPr>
          <a:xfrm>
            <a:off x="628650" y="1891857"/>
            <a:ext cx="7886700" cy="862060"/>
          </a:xfrm>
        </p:spPr>
        <p:txBody>
          <a:bodyPr>
            <a:normAutofit/>
          </a:bodyPr>
          <a:lstStyle/>
          <a:p>
            <a:pPr marL="353616" indent="-255985"/>
            <a:r>
              <a:rPr lang="en-US" altLang="en-US" sz="2400" dirty="0">
                <a:ea typeface="ＭＳ Ｐゴシック" panose="020B0600070205080204" pitchFamily="34" charset="-128"/>
                <a:cs typeface="ＭＳ Ｐゴシック" panose="020B0600070205080204" pitchFamily="34" charset="-128"/>
              </a:rPr>
              <a:t>Google</a:t>
            </a:r>
            <a:r>
              <a:rPr lang="en-US" altLang="en-US" sz="2400" baseline="30000" dirty="0">
                <a:ea typeface="ＭＳ Ｐゴシック" panose="020B0600070205080204" pitchFamily="34" charset="-128"/>
                <a:cs typeface="ＭＳ Ｐゴシック" panose="020B0600070205080204" pitchFamily="34" charset="-128"/>
              </a:rPr>
              <a:t>1</a:t>
            </a:r>
            <a:r>
              <a:rPr lang="en-US" altLang="en-US" sz="2400" dirty="0">
                <a:ea typeface="ＭＳ Ｐゴシック" panose="020B0600070205080204" pitchFamily="34" charset="-128"/>
                <a:cs typeface="ＭＳ Ｐゴシック" panose="020B0600070205080204" pitchFamily="34" charset="-128"/>
              </a:rPr>
              <a:t>: ~ 30% of clients access services via IPv6</a:t>
            </a:r>
          </a:p>
          <a:p>
            <a:pPr marL="353616" indent="-255985"/>
            <a:r>
              <a:rPr lang="en-US" altLang="en-US" sz="2400" dirty="0">
                <a:ea typeface="ＭＳ Ｐゴシック" panose="020B0600070205080204" pitchFamily="34" charset="-128"/>
                <a:cs typeface="ＭＳ Ｐゴシック" panose="020B0600070205080204" pitchFamily="34" charset="-128"/>
              </a:rPr>
              <a:t>NIST: 1/3 of all US government domains are IPv6 capable</a:t>
            </a:r>
          </a:p>
        </p:txBody>
      </p:sp>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628650" y="1116604"/>
            <a:ext cx="7886700" cy="670967"/>
          </a:xfrm>
        </p:spPr>
        <p:txBody>
          <a:bodyPr>
            <a:normAutofit/>
          </a:bodyPr>
          <a:lstStyle/>
          <a:p>
            <a:r>
              <a:rPr lang="en-US" sz="3600" dirty="0"/>
              <a:t>IPv6: adoption</a:t>
            </a:r>
          </a:p>
        </p:txBody>
      </p:sp>
      <p:grpSp>
        <p:nvGrpSpPr>
          <p:cNvPr id="5" name="Group 4">
            <a:extLst>
              <a:ext uri="{FF2B5EF4-FFF2-40B4-BE49-F238E27FC236}">
                <a16:creationId xmlns:a16="http://schemas.microsoft.com/office/drawing/2014/main" id="{ADBF531C-BE87-EB49-B479-7855BE4CF21B}"/>
              </a:ext>
            </a:extLst>
          </p:cNvPr>
          <p:cNvGrpSpPr/>
          <p:nvPr/>
        </p:nvGrpSpPr>
        <p:grpSpPr>
          <a:xfrm>
            <a:off x="963385" y="2816678"/>
            <a:ext cx="7837715" cy="3037115"/>
            <a:chOff x="1284513" y="2612571"/>
            <a:chExt cx="10450286" cy="4049486"/>
          </a:xfrm>
        </p:grpSpPr>
        <p:sp>
          <p:nvSpPr>
            <p:cNvPr id="4" name="TextBox 3">
              <a:extLst>
                <a:ext uri="{FF2B5EF4-FFF2-40B4-BE49-F238E27FC236}">
                  <a16:creationId xmlns:a16="http://schemas.microsoft.com/office/drawing/2014/main" id="{80A49F01-0502-D745-8771-4AE4FBD24A44}"/>
                </a:ext>
              </a:extLst>
            </p:cNvPr>
            <p:cNvSpPr txBox="1"/>
            <p:nvPr/>
          </p:nvSpPr>
          <p:spPr>
            <a:xfrm>
              <a:off x="9092541" y="5704114"/>
              <a:ext cx="2642258" cy="892552"/>
            </a:xfrm>
            <a:prstGeom prst="rect">
              <a:avLst/>
            </a:prstGeom>
            <a:noFill/>
          </p:spPr>
          <p:txBody>
            <a:bodyPr wrap="square" rtlCol="0">
              <a:spAutoFit/>
            </a:bodyPr>
            <a:lstStyle/>
            <a:p>
              <a:pPr defTabSz="685800" eaLnBrk="1" fontAlgn="auto" hangingPunct="1">
                <a:spcBef>
                  <a:spcPts val="0"/>
                </a:spcBef>
                <a:spcAft>
                  <a:spcPts val="0"/>
                </a:spcAft>
                <a:defRPr/>
              </a:pPr>
              <a:r>
                <a:rPr lang="en-US" sz="1350" baseline="30000" dirty="0">
                  <a:solidFill>
                    <a:prstClr val="black"/>
                  </a:solidFill>
                  <a:latin typeface="Calibri" panose="020F0502020204030204"/>
                  <a:ea typeface="+mn-ea"/>
                </a:rPr>
                <a:t>1</a:t>
              </a:r>
              <a:r>
                <a:rPr lang="en-US" sz="1350" dirty="0">
                  <a:solidFill>
                    <a:prstClr val="black"/>
                  </a:solidFill>
                  <a:latin typeface="Calibri" panose="020F0502020204030204"/>
                  <a:ea typeface="+mn-ea"/>
                </a:rPr>
                <a:t> </a:t>
              </a:r>
              <a:r>
                <a:rPr lang="en-US" sz="1200" dirty="0">
                  <a:solidFill>
                    <a:prstClr val="black"/>
                  </a:solidFill>
                  <a:latin typeface="Calibri" panose="020F0502020204030204"/>
                  <a:ea typeface="+mn-ea"/>
                </a:rPr>
                <a:t>https://www.google.com/intl/en/ipv6/statistics.html</a:t>
              </a:r>
              <a:endParaRPr lang="en-US" sz="1350" dirty="0">
                <a:solidFill>
                  <a:prstClr val="black"/>
                </a:solidFill>
                <a:latin typeface="Calibri" panose="020F0502020204030204"/>
                <a:ea typeface="+mn-ea"/>
              </a:endParaRPr>
            </a:p>
          </p:txBody>
        </p:sp>
        <p:pic>
          <p:nvPicPr>
            <p:cNvPr id="3" name="Picture 2">
              <a:extLst>
                <a:ext uri="{FF2B5EF4-FFF2-40B4-BE49-F238E27FC236}">
                  <a16:creationId xmlns:a16="http://schemas.microsoft.com/office/drawing/2014/main" id="{3A076BA1-0C02-564F-A83C-F71E4CB4A5F0}"/>
                </a:ext>
              </a:extLst>
            </p:cNvPr>
            <p:cNvPicPr>
              <a:picLocks noChangeAspect="1"/>
            </p:cNvPicPr>
            <p:nvPr/>
          </p:nvPicPr>
          <p:blipFill>
            <a:blip r:embed="rId3"/>
            <a:stretch>
              <a:fillRect/>
            </a:stretch>
          </p:blipFill>
          <p:spPr>
            <a:xfrm>
              <a:off x="1284513" y="2612571"/>
              <a:ext cx="7411254" cy="4049486"/>
            </a:xfrm>
            <a:prstGeom prst="rect">
              <a:avLst/>
            </a:prstGeom>
          </p:spPr>
        </p:pic>
      </p:grpSp>
      <p:sp>
        <p:nvSpPr>
          <p:cNvPr id="7" name="Slide Number Placeholder 3">
            <a:extLst>
              <a:ext uri="{FF2B5EF4-FFF2-40B4-BE49-F238E27FC236}">
                <a16:creationId xmlns:a16="http://schemas.microsoft.com/office/drawing/2014/main" id="{89FADA88-24D6-414D-8D4C-1C3C85DF6E9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134</a:t>
            </a:fld>
            <a:endParaRPr lang="en-US" dirty="0"/>
          </a:p>
        </p:txBody>
      </p:sp>
    </p:spTree>
    <p:extLst>
      <p:ext uri="{BB962C8B-B14F-4D97-AF65-F5344CB8AC3E}">
        <p14:creationId xmlns:p14="http://schemas.microsoft.com/office/powerpoint/2010/main" val="66789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719438-0C98-CC4E-B2A6-DFB0F8C5A663}"/>
              </a:ext>
            </a:extLst>
          </p:cNvPr>
          <p:cNvSpPr>
            <a:spLocks noGrp="1"/>
          </p:cNvSpPr>
          <p:nvPr>
            <p:ph idx="1"/>
          </p:nvPr>
        </p:nvSpPr>
        <p:spPr>
          <a:xfrm>
            <a:off x="628650" y="1891856"/>
            <a:ext cx="7886700" cy="3497637"/>
          </a:xfrm>
        </p:spPr>
        <p:txBody>
          <a:bodyPr>
            <a:normAutofit/>
          </a:bodyPr>
          <a:lstStyle/>
          <a:p>
            <a:pPr marL="353616" indent="-255985"/>
            <a:r>
              <a:rPr lang="en-US" altLang="en-US" sz="2400" dirty="0">
                <a:ea typeface="ＭＳ Ｐゴシック" panose="020B0600070205080204" pitchFamily="34" charset="-128"/>
                <a:cs typeface="ＭＳ Ｐゴシック" panose="020B0600070205080204" pitchFamily="34" charset="-128"/>
              </a:rPr>
              <a:t>Google</a:t>
            </a:r>
            <a:r>
              <a:rPr lang="en-US" altLang="en-US" sz="2400" baseline="30000" dirty="0">
                <a:ea typeface="ＭＳ Ｐゴシック" panose="020B0600070205080204" pitchFamily="34" charset="-128"/>
                <a:cs typeface="ＭＳ Ｐゴシック" panose="020B0600070205080204" pitchFamily="34" charset="-128"/>
              </a:rPr>
              <a:t>1</a:t>
            </a:r>
            <a:r>
              <a:rPr lang="en-US" altLang="en-US" sz="2400" dirty="0">
                <a:ea typeface="ＭＳ Ｐゴシック" panose="020B0600070205080204" pitchFamily="34" charset="-128"/>
                <a:cs typeface="ＭＳ Ｐゴシック" panose="020B0600070205080204" pitchFamily="34" charset="-128"/>
              </a:rPr>
              <a:t>: ~ 30% of clients access services via IPv6</a:t>
            </a:r>
          </a:p>
          <a:p>
            <a:pPr marL="353616" indent="-255985"/>
            <a:r>
              <a:rPr lang="en-US" altLang="en-US" sz="2400" dirty="0">
                <a:ea typeface="ＭＳ Ｐゴシック" panose="020B0600070205080204" pitchFamily="34" charset="-128"/>
                <a:cs typeface="ＭＳ Ｐゴシック" panose="020B0600070205080204" pitchFamily="34" charset="-128"/>
              </a:rPr>
              <a:t>NIST: 1/3 of all US government domains are IPv6 capable</a:t>
            </a:r>
          </a:p>
          <a:p>
            <a:pPr marL="353616" indent="-255985"/>
            <a:r>
              <a:rPr lang="en-US" altLang="en-US" sz="2400" dirty="0">
                <a:ea typeface="ＭＳ Ｐゴシック" panose="020B0600070205080204" pitchFamily="34" charset="-128"/>
                <a:cs typeface="ＭＳ Ｐゴシック" panose="020B0600070205080204" pitchFamily="34" charset="-128"/>
              </a:rPr>
              <a:t>Long (long!) time for deployment, use</a:t>
            </a:r>
          </a:p>
          <a:p>
            <a:pPr marL="685800" lvl="1" indent="-246460"/>
            <a:r>
              <a:rPr lang="en-US" altLang="en-US" sz="2100" dirty="0">
                <a:ea typeface="ＭＳ Ｐゴシック" panose="020B0600070205080204" pitchFamily="34" charset="-128"/>
              </a:rPr>
              <a:t>25 years and counting!</a:t>
            </a:r>
          </a:p>
          <a:p>
            <a:pPr marL="685800" lvl="1" indent="-246460"/>
            <a:r>
              <a:rPr lang="en-US" altLang="en-US" sz="2100" dirty="0">
                <a:ea typeface="ＭＳ Ｐゴシック" panose="020B0600070205080204" pitchFamily="34" charset="-128"/>
              </a:rPr>
              <a:t>think of application-level changes in last 25 years: WWW, social media, streaming media, gaming, telepresence, …</a:t>
            </a:r>
          </a:p>
          <a:p>
            <a:pPr marL="685800" lvl="1" indent="-246460"/>
            <a:r>
              <a:rPr lang="en-US" altLang="en-US" sz="2100" i="1" dirty="0">
                <a:solidFill>
                  <a:srgbClr val="CC0000"/>
                </a:solidFill>
                <a:ea typeface="ＭＳ Ｐゴシック" panose="020B0600070205080204" pitchFamily="34" charset="-128"/>
              </a:rPr>
              <a:t>Why?</a:t>
            </a:r>
          </a:p>
        </p:txBody>
      </p:sp>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628650" y="1116604"/>
            <a:ext cx="7886700" cy="670967"/>
          </a:xfrm>
        </p:spPr>
        <p:txBody>
          <a:bodyPr>
            <a:normAutofit/>
          </a:bodyPr>
          <a:lstStyle/>
          <a:p>
            <a:r>
              <a:rPr lang="en-US" sz="3600" dirty="0"/>
              <a:t>IPv6: adoption</a:t>
            </a:r>
          </a:p>
        </p:txBody>
      </p:sp>
      <p:sp>
        <p:nvSpPr>
          <p:cNvPr id="4" name="TextBox 3">
            <a:extLst>
              <a:ext uri="{FF2B5EF4-FFF2-40B4-BE49-F238E27FC236}">
                <a16:creationId xmlns:a16="http://schemas.microsoft.com/office/drawing/2014/main" id="{80A49F01-0502-D745-8771-4AE4FBD24A44}"/>
              </a:ext>
            </a:extLst>
          </p:cNvPr>
          <p:cNvSpPr txBox="1"/>
          <p:nvPr/>
        </p:nvSpPr>
        <p:spPr>
          <a:xfrm>
            <a:off x="696191" y="5574723"/>
            <a:ext cx="3569310" cy="300082"/>
          </a:xfrm>
          <a:prstGeom prst="rect">
            <a:avLst/>
          </a:prstGeom>
          <a:noFill/>
        </p:spPr>
        <p:txBody>
          <a:bodyPr wrap="none" rtlCol="0">
            <a:spAutoFit/>
          </a:bodyPr>
          <a:lstStyle/>
          <a:p>
            <a:pPr defTabSz="685800" eaLnBrk="1" fontAlgn="auto" hangingPunct="1">
              <a:spcBef>
                <a:spcPts val="0"/>
              </a:spcBef>
              <a:spcAft>
                <a:spcPts val="0"/>
              </a:spcAft>
              <a:defRPr/>
            </a:pPr>
            <a:r>
              <a:rPr lang="en-US" sz="1350" baseline="30000" dirty="0">
                <a:solidFill>
                  <a:prstClr val="black"/>
                </a:solidFill>
                <a:latin typeface="Calibri" panose="020F0502020204030204"/>
                <a:ea typeface="+mn-ea"/>
              </a:rPr>
              <a:t>1</a:t>
            </a:r>
            <a:r>
              <a:rPr lang="en-US" sz="1350" dirty="0">
                <a:solidFill>
                  <a:prstClr val="black"/>
                </a:solidFill>
                <a:latin typeface="Calibri" panose="020F0502020204030204"/>
                <a:ea typeface="+mn-ea"/>
              </a:rPr>
              <a:t> </a:t>
            </a:r>
            <a:r>
              <a:rPr lang="en-US" sz="1200" dirty="0">
                <a:solidFill>
                  <a:prstClr val="black"/>
                </a:solidFill>
                <a:latin typeface="Calibri" panose="020F0502020204030204"/>
                <a:ea typeface="+mn-ea"/>
              </a:rPr>
              <a:t>https://www.google.com/intl/en/ipv6/statistics.html</a:t>
            </a:r>
            <a:endParaRPr lang="en-US" sz="1350" dirty="0">
              <a:solidFill>
                <a:prstClr val="black"/>
              </a:solidFill>
              <a:latin typeface="Calibri" panose="020F0502020204030204"/>
              <a:ea typeface="+mn-ea"/>
            </a:endParaRPr>
          </a:p>
        </p:txBody>
      </p:sp>
      <p:sp>
        <p:nvSpPr>
          <p:cNvPr id="5" name="Slide Number Placeholder 3">
            <a:extLst>
              <a:ext uri="{FF2B5EF4-FFF2-40B4-BE49-F238E27FC236}">
                <a16:creationId xmlns:a16="http://schemas.microsoft.com/office/drawing/2014/main" id="{93499F0B-8A43-B042-94A3-D83FC9EF406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135</a:t>
            </a:fld>
            <a:endParaRPr lang="en-US" dirty="0"/>
          </a:p>
        </p:txBody>
      </p:sp>
    </p:spTree>
    <p:extLst>
      <p:ext uri="{BB962C8B-B14F-4D97-AF65-F5344CB8AC3E}">
        <p14:creationId xmlns:p14="http://schemas.microsoft.com/office/powerpoint/2010/main" val="161186506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80646-21A3-D382-CB16-659566A3AE05}"/>
            </a:ext>
          </a:extLst>
        </p:cNvPr>
        <p:cNvGrpSpPr/>
        <p:nvPr/>
      </p:nvGrpSpPr>
      <p:grpSpPr>
        <a:xfrm>
          <a:off x="0" y="0"/>
          <a:ext cx="0" cy="0"/>
          <a:chOff x="0" y="0"/>
          <a:chExt cx="0" cy="0"/>
        </a:xfrm>
      </p:grpSpPr>
      <p:pic>
        <p:nvPicPr>
          <p:cNvPr id="98306" name="Picture 2" descr="underline_base">
            <a:extLst>
              <a:ext uri="{FF2B5EF4-FFF2-40B4-BE49-F238E27FC236}">
                <a16:creationId xmlns:a16="http://schemas.microsoft.com/office/drawing/2014/main" id="{9E325AB5-72F3-F8DC-1501-1301CBB7E75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3"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Rectangle 3">
            <a:extLst>
              <a:ext uri="{FF2B5EF4-FFF2-40B4-BE49-F238E27FC236}">
                <a16:creationId xmlns:a16="http://schemas.microsoft.com/office/drawing/2014/main" id="{0D2ACB52-8E9D-DE47-1699-D31CBB9C3DB6}"/>
              </a:ext>
            </a:extLst>
          </p:cNvPr>
          <p:cNvSpPr>
            <a:spLocks noGrp="1" noChangeArrowheads="1"/>
          </p:cNvSpPr>
          <p:nvPr>
            <p:ph type="body" sz="half" idx="1"/>
          </p:nvPr>
        </p:nvSpPr>
        <p:spPr>
          <a:xfrm>
            <a:off x="533400" y="1198563"/>
            <a:ext cx="6534665" cy="5116513"/>
          </a:xfrm>
        </p:spPr>
        <p:txBody>
          <a:bodyPr/>
          <a:lstStyle/>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4.1 Overview of Network layer</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 plane</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control plane</a:t>
            </a:r>
          </a:p>
          <a:p>
            <a:pPr>
              <a:buFont typeface="Wingdings" pitchFamily="2" charset="2"/>
              <a:buNone/>
            </a:pPr>
            <a:r>
              <a:rPr lang="en-US" altLang="en-US" sz="2400" dirty="0">
                <a:ea typeface="ＭＳ Ｐゴシック" panose="020B0600070205080204" pitchFamily="34" charset="-128"/>
                <a:cs typeface="ＭＳ Ｐゴシック" panose="020B0600070205080204" pitchFamily="34" charset="-128"/>
              </a:rPr>
              <a:t>4.2 What</a:t>
            </a:r>
            <a:r>
              <a:rPr lang="ja-JP" altLang="en-US" sz="2400" dirty="0">
                <a:ea typeface="ＭＳ Ｐゴシック" panose="020B0600070205080204" pitchFamily="34" charset="-128"/>
                <a:cs typeface="ＭＳ Ｐゴシック" panose="020B0600070205080204" pitchFamily="34" charset="-128"/>
              </a:rPr>
              <a:t>’</a:t>
            </a:r>
            <a:r>
              <a:rPr lang="en-US" altLang="ja-JP" sz="2400" dirty="0">
                <a:ea typeface="ＭＳ Ｐゴシック" panose="020B0600070205080204" pitchFamily="34" charset="-128"/>
                <a:cs typeface="ＭＳ Ｐゴシック" panose="020B0600070205080204" pitchFamily="34" charset="-128"/>
              </a:rPr>
              <a:t>s inside a router</a:t>
            </a:r>
          </a:p>
          <a:p>
            <a:pPr>
              <a:buNone/>
            </a:pPr>
            <a:r>
              <a:rPr lang="en-US" altLang="ja-JP" sz="2400" dirty="0">
                <a:ea typeface="ＭＳ Ｐゴシック" panose="020B0600070205080204" pitchFamily="34" charset="-128"/>
                <a:cs typeface="Arial" panose="020B0604020202020204" pitchFamily="34" charset="0"/>
              </a:rPr>
              <a:t>      input ports, switching, output ports</a:t>
            </a:r>
          </a:p>
          <a:p>
            <a:pPr>
              <a:buNone/>
            </a:pPr>
            <a:r>
              <a:rPr lang="en-US" altLang="ja-JP" sz="2400" dirty="0">
                <a:ea typeface="ＭＳ Ｐゴシック" panose="020B0600070205080204" pitchFamily="34" charset="-128"/>
                <a:cs typeface="Arial" panose="020B0604020202020204" pitchFamily="34" charset="0"/>
              </a:rPr>
              <a:t>	  buffer management, scheduling</a:t>
            </a:r>
          </a:p>
          <a:p>
            <a:pPr>
              <a:buFont typeface="Wingdings" pitchFamily="2" charset="2"/>
              <a:buNone/>
            </a:pPr>
            <a:r>
              <a:rPr lang="en-US" altLang="en-US" sz="2400" dirty="0">
                <a:solidFill>
                  <a:srgbClr val="CC0000"/>
                </a:solidFill>
                <a:ea typeface="ＭＳ Ｐゴシック" panose="020B0600070205080204" pitchFamily="34" charset="-128"/>
                <a:cs typeface="ＭＳ Ｐゴシック" panose="020B0600070205080204" pitchFamily="34" charset="-128"/>
              </a:rPr>
              <a:t>4.3 IP: Internet Protocol</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datagram format</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fragmentation</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IPv4 addressing</a:t>
            </a: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network address translation (NAT)</a:t>
            </a:r>
            <a:endParaRPr lang="en-US" altLang="en-US" dirty="0">
              <a:latin typeface="Gill Sans MT" panose="020B0502020104020203" pitchFamily="34" charset="77"/>
              <a:ea typeface="ＭＳ Ｐゴシック" panose="020B0600070205080204" pitchFamily="34" charset="-128"/>
            </a:endParaRPr>
          </a:p>
          <a:p>
            <a:pPr lvl="1"/>
            <a:r>
              <a:rPr lang="en-US" altLang="en-US" dirty="0">
                <a:latin typeface="Gill Sans MT" panose="020B0502020104020203" pitchFamily="34" charset="77"/>
                <a:ea typeface="ＭＳ Ｐゴシック" panose="020B0600070205080204" pitchFamily="34" charset="-128"/>
                <a:cs typeface="Gill Sans MT" panose="020B0502020104020203" pitchFamily="34" charset="77"/>
              </a:rPr>
              <a:t>IPv6</a:t>
            </a:r>
          </a:p>
          <a:p>
            <a:pPr marL="111125" indent="0">
              <a:buNone/>
            </a:pPr>
            <a:r>
              <a:rPr lang="en-MY" sz="2400" dirty="0">
                <a:latin typeface="Gill Sans MT" panose="020B0502020104020203" pitchFamily="34" charset="77"/>
                <a:ea typeface="ＭＳ Ｐゴシック" panose="020B0600070205080204" pitchFamily="34" charset="-128"/>
              </a:rPr>
              <a:t>4.4 </a:t>
            </a:r>
            <a:r>
              <a:rPr lang="en-MY" sz="2400" dirty="0">
                <a:solidFill>
                  <a:srgbClr val="FF0000"/>
                </a:solidFill>
                <a:latin typeface="Gill Sans MT" panose="020B0502020104020203" pitchFamily="34" charset="77"/>
                <a:ea typeface="ＭＳ Ｐゴシック" panose="020B0600070205080204" pitchFamily="34" charset="-128"/>
              </a:rPr>
              <a:t>Generalized Forwarding and SDN</a:t>
            </a:r>
          </a:p>
          <a:p>
            <a:pPr lvl="1">
              <a:spcBef>
                <a:spcPts val="0"/>
              </a:spcBef>
            </a:pPr>
            <a:r>
              <a:rPr lang="en-US" altLang="en-US" sz="2400" dirty="0" err="1">
                <a:solidFill>
                  <a:srgbClr val="FF0000"/>
                </a:solidFill>
                <a:ea typeface="ＭＳ Ｐゴシック" panose="020B0600070205080204" pitchFamily="34" charset="-128"/>
              </a:rPr>
              <a:t>Match+action</a:t>
            </a:r>
            <a:endParaRPr lang="en-US" altLang="en-US" sz="2400" dirty="0">
              <a:solidFill>
                <a:srgbClr val="FF0000"/>
              </a:solidFill>
              <a:ea typeface="ＭＳ Ｐゴシック" panose="020B0600070205080204" pitchFamily="34" charset="-128"/>
            </a:endParaRPr>
          </a:p>
          <a:p>
            <a:pPr lvl="1">
              <a:spcBef>
                <a:spcPts val="0"/>
              </a:spcBef>
            </a:pPr>
            <a:r>
              <a:rPr lang="en-US" altLang="en-US" sz="2400" dirty="0">
                <a:solidFill>
                  <a:srgbClr val="FF0000"/>
                </a:solidFill>
                <a:ea typeface="ＭＳ Ｐゴシック" panose="020B0600070205080204" pitchFamily="34" charset="-128"/>
              </a:rPr>
              <a:t>OpenFlow: </a:t>
            </a:r>
            <a:r>
              <a:rPr lang="en-US" altLang="en-US" sz="2400" dirty="0" err="1">
                <a:solidFill>
                  <a:srgbClr val="FF0000"/>
                </a:solidFill>
                <a:ea typeface="ＭＳ Ｐゴシック" panose="020B0600070205080204" pitchFamily="34" charset="-128"/>
              </a:rPr>
              <a:t>match+action</a:t>
            </a:r>
            <a:r>
              <a:rPr lang="en-US" altLang="en-US" sz="2400" dirty="0">
                <a:solidFill>
                  <a:srgbClr val="FF0000"/>
                </a:solidFill>
                <a:ea typeface="ＭＳ Ｐゴシック" panose="020B0600070205080204" pitchFamily="34" charset="-128"/>
              </a:rPr>
              <a:t> in action</a:t>
            </a:r>
          </a:p>
          <a:p>
            <a:pPr marL="111125" indent="0">
              <a:buNone/>
            </a:pPr>
            <a:endParaRPr lang="en-US" altLang="en-US" sz="2400" dirty="0">
              <a:latin typeface="Gill Sans MT" panose="020B0502020104020203" pitchFamily="34" charset="77"/>
              <a:ea typeface="ＭＳ Ｐゴシック" panose="020B0600070205080204" pitchFamily="34" charset="-128"/>
            </a:endParaRPr>
          </a:p>
        </p:txBody>
      </p:sp>
      <p:sp>
        <p:nvSpPr>
          <p:cNvPr id="98309" name="Rectangle 2">
            <a:extLst>
              <a:ext uri="{FF2B5EF4-FFF2-40B4-BE49-F238E27FC236}">
                <a16:creationId xmlns:a16="http://schemas.microsoft.com/office/drawing/2014/main" id="{9B140782-7743-4752-639B-ADF2AED17965}"/>
              </a:ext>
            </a:extLst>
          </p:cNvPr>
          <p:cNvSpPr>
            <a:spLocks noChangeArrowheads="1"/>
          </p:cNvSpPr>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4400" dirty="0">
                <a:solidFill>
                  <a:srgbClr val="000099"/>
                </a:solidFill>
                <a:latin typeface="Gill Sans MT" panose="020B0502020104020203" pitchFamily="34" charset="77"/>
              </a:rPr>
              <a:t>Chapter 4: data plane</a:t>
            </a:r>
          </a:p>
        </p:txBody>
      </p:sp>
      <p:sp>
        <p:nvSpPr>
          <p:cNvPr id="98310" name="Slide Number Placeholder 5">
            <a:extLst>
              <a:ext uri="{FF2B5EF4-FFF2-40B4-BE49-F238E27FC236}">
                <a16:creationId xmlns:a16="http://schemas.microsoft.com/office/drawing/2014/main" id="{74CB2877-C1FA-DA7E-9C70-332097A564D1}"/>
              </a:ext>
            </a:extLst>
          </p:cNvPr>
          <p:cNvSpPr>
            <a:spLocks noGrp="1"/>
          </p:cNvSpPr>
          <p:nvPr>
            <p:ph type="sldNum" sz="quarter" idx="12"/>
          </p:nvPr>
        </p:nvSpPr>
        <p:spPr>
          <a:xfrm>
            <a:off x="8456613" y="6475413"/>
            <a:ext cx="687387" cy="2412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1EA39130-1C38-4049-9555-8D70E59A75FA}" type="slidenum">
              <a:rPr lang="en-US" altLang="en-US">
                <a:latin typeface="Tahoma" panose="020B0604030504040204" pitchFamily="34" charset="0"/>
              </a:rPr>
              <a:pPr/>
              <a:t>136</a:t>
            </a:fld>
            <a:endParaRPr lang="en-US" altLang="en-US" dirty="0">
              <a:latin typeface="Tahoma" panose="020B0604030504040204" pitchFamily="34" charset="0"/>
            </a:endParaRPr>
          </a:p>
        </p:txBody>
      </p:sp>
      <p:pic>
        <p:nvPicPr>
          <p:cNvPr id="7" name="Picture 6" descr="A picture containing outdoor, water, bridge, building&#10;&#10;Description automatically generated">
            <a:extLst>
              <a:ext uri="{FF2B5EF4-FFF2-40B4-BE49-F238E27FC236}">
                <a16:creationId xmlns:a16="http://schemas.microsoft.com/office/drawing/2014/main" id="{47D1F075-EF77-9E7F-6DBB-09E4CF3C433D}"/>
              </a:ext>
            </a:extLst>
          </p:cNvPr>
          <p:cNvPicPr>
            <a:picLocks noChangeAspect="1"/>
          </p:cNvPicPr>
          <p:nvPr/>
        </p:nvPicPr>
        <p:blipFill>
          <a:blip r:embed="rId3"/>
          <a:stretch>
            <a:fillRect/>
          </a:stretch>
        </p:blipFill>
        <p:spPr>
          <a:xfrm>
            <a:off x="5748338" y="488723"/>
            <a:ext cx="3040743" cy="3800929"/>
          </a:xfrm>
          <a:prstGeom prst="rect">
            <a:avLst/>
          </a:prstGeom>
        </p:spPr>
      </p:pic>
    </p:spTree>
    <p:extLst>
      <p:ext uri="{BB962C8B-B14F-4D97-AF65-F5344CB8AC3E}">
        <p14:creationId xmlns:p14="http://schemas.microsoft.com/office/powerpoint/2010/main" val="287626479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F20255E-462F-0E4B-A829-1C635A9D2E89}"/>
              </a:ext>
            </a:extLst>
          </p:cNvPr>
          <p:cNvGrpSpPr/>
          <p:nvPr/>
        </p:nvGrpSpPr>
        <p:grpSpPr>
          <a:xfrm>
            <a:off x="1515142" y="2540873"/>
            <a:ext cx="5247500" cy="944138"/>
            <a:chOff x="1372488" y="5470630"/>
            <a:chExt cx="6996667" cy="1258851"/>
          </a:xfrm>
        </p:grpSpPr>
        <p:sp>
          <p:nvSpPr>
            <p:cNvPr id="887" name="Freeform 2">
              <a:extLst>
                <a:ext uri="{FF2B5EF4-FFF2-40B4-BE49-F238E27FC236}">
                  <a16:creationId xmlns:a16="http://schemas.microsoft.com/office/drawing/2014/main" id="{73B896A4-C009-EC47-9EB3-507C0C7CCB88}"/>
                </a:ext>
              </a:extLst>
            </p:cNvPr>
            <p:cNvSpPr>
              <a:spLocks/>
            </p:cNvSpPr>
            <p:nvPr/>
          </p:nvSpPr>
          <p:spPr bwMode="auto">
            <a:xfrm>
              <a:off x="4341668" y="5789681"/>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a:defRPr/>
              </a:pPr>
              <a:endParaRPr lang="en-US" sz="1350">
                <a:solidFill>
                  <a:srgbClr val="000000"/>
                </a:solidFill>
              </a:endParaRPr>
            </a:p>
          </p:txBody>
        </p:sp>
        <p:cxnSp>
          <p:nvCxnSpPr>
            <p:cNvPr id="888" name="Straight Connector 887">
              <a:extLst>
                <a:ext uri="{FF2B5EF4-FFF2-40B4-BE49-F238E27FC236}">
                  <a16:creationId xmlns:a16="http://schemas.microsoft.com/office/drawing/2014/main" id="{BFDE916B-AF97-DB4F-88E3-3211F74E07F5}"/>
                </a:ext>
              </a:extLst>
            </p:cNvPr>
            <p:cNvCxnSpPr/>
            <p:nvPr/>
          </p:nvCxnSpPr>
          <p:spPr>
            <a:xfrm flipV="1">
              <a:off x="5011593" y="5940494"/>
              <a:ext cx="1316037" cy="131762"/>
            </a:xfrm>
            <a:prstGeom prst="line">
              <a:avLst/>
            </a:prstGeom>
            <a:noFill/>
            <a:ln w="12700" cap="flat" cmpd="sng" algn="ctr">
              <a:solidFill>
                <a:srgbClr val="000000"/>
              </a:solidFill>
              <a:prstDash val="solid"/>
            </a:ln>
            <a:effectLst/>
          </p:spPr>
        </p:cxnSp>
        <p:cxnSp>
          <p:nvCxnSpPr>
            <p:cNvPr id="889" name="Straight Connector 888">
              <a:extLst>
                <a:ext uri="{FF2B5EF4-FFF2-40B4-BE49-F238E27FC236}">
                  <a16:creationId xmlns:a16="http://schemas.microsoft.com/office/drawing/2014/main" id="{11A6A20F-5B1F-E34C-A889-7D7216BC52A6}"/>
                </a:ext>
              </a:extLst>
            </p:cNvPr>
            <p:cNvCxnSpPr/>
            <p:nvPr/>
          </p:nvCxnSpPr>
          <p:spPr>
            <a:xfrm>
              <a:off x="4900468" y="6127819"/>
              <a:ext cx="2259012" cy="298450"/>
            </a:xfrm>
            <a:prstGeom prst="line">
              <a:avLst/>
            </a:prstGeom>
            <a:noFill/>
            <a:ln w="12700" cap="flat" cmpd="sng" algn="ctr">
              <a:solidFill>
                <a:srgbClr val="000000"/>
              </a:solidFill>
              <a:prstDash val="solid"/>
            </a:ln>
            <a:effectLst/>
          </p:spPr>
        </p:cxnSp>
        <p:cxnSp>
          <p:nvCxnSpPr>
            <p:cNvPr id="890" name="Straight Connector 889">
              <a:extLst>
                <a:ext uri="{FF2B5EF4-FFF2-40B4-BE49-F238E27FC236}">
                  <a16:creationId xmlns:a16="http://schemas.microsoft.com/office/drawing/2014/main" id="{EC3A188E-9403-584D-9DE4-BD063B6A9984}"/>
                </a:ext>
              </a:extLst>
            </p:cNvPr>
            <p:cNvCxnSpPr/>
            <p:nvPr/>
          </p:nvCxnSpPr>
          <p:spPr>
            <a:xfrm>
              <a:off x="4913168" y="6232594"/>
              <a:ext cx="714375" cy="276225"/>
            </a:xfrm>
            <a:prstGeom prst="line">
              <a:avLst/>
            </a:prstGeom>
            <a:noFill/>
            <a:ln w="12700" cap="flat" cmpd="sng" algn="ctr">
              <a:solidFill>
                <a:srgbClr val="000000"/>
              </a:solidFill>
              <a:prstDash val="solid"/>
            </a:ln>
            <a:effectLst/>
          </p:spPr>
        </p:cxnSp>
        <p:cxnSp>
          <p:nvCxnSpPr>
            <p:cNvPr id="891" name="Straight Connector 890">
              <a:extLst>
                <a:ext uri="{FF2B5EF4-FFF2-40B4-BE49-F238E27FC236}">
                  <a16:creationId xmlns:a16="http://schemas.microsoft.com/office/drawing/2014/main" id="{CA8EFEA7-A8AA-F945-BA1D-4ACB721622E5}"/>
                </a:ext>
              </a:extLst>
            </p:cNvPr>
            <p:cNvCxnSpPr/>
            <p:nvPr/>
          </p:nvCxnSpPr>
          <p:spPr>
            <a:xfrm flipV="1">
              <a:off x="5930755" y="6426269"/>
              <a:ext cx="1247775" cy="82550"/>
            </a:xfrm>
            <a:prstGeom prst="line">
              <a:avLst/>
            </a:prstGeom>
            <a:noFill/>
            <a:ln w="12700" cap="flat" cmpd="sng" algn="ctr">
              <a:solidFill>
                <a:srgbClr val="000000"/>
              </a:solidFill>
              <a:prstDash val="solid"/>
            </a:ln>
            <a:effectLst/>
          </p:spPr>
        </p:cxnSp>
        <p:cxnSp>
          <p:nvCxnSpPr>
            <p:cNvPr id="892" name="Straight Connector 891">
              <a:extLst>
                <a:ext uri="{FF2B5EF4-FFF2-40B4-BE49-F238E27FC236}">
                  <a16:creationId xmlns:a16="http://schemas.microsoft.com/office/drawing/2014/main" id="{B2D0340F-062D-4B43-ADB5-74954D542D1B}"/>
                </a:ext>
              </a:extLst>
            </p:cNvPr>
            <p:cNvCxnSpPr/>
            <p:nvPr/>
          </p:nvCxnSpPr>
          <p:spPr>
            <a:xfrm>
              <a:off x="6591155" y="5973831"/>
              <a:ext cx="1057275" cy="123825"/>
            </a:xfrm>
            <a:prstGeom prst="line">
              <a:avLst/>
            </a:prstGeom>
            <a:noFill/>
            <a:ln w="12700" cap="flat" cmpd="sng" algn="ctr">
              <a:solidFill>
                <a:srgbClr val="000000"/>
              </a:solidFill>
              <a:prstDash val="solid"/>
            </a:ln>
            <a:effectLst/>
          </p:spPr>
        </p:cxnSp>
        <p:cxnSp>
          <p:nvCxnSpPr>
            <p:cNvPr id="893" name="Straight Connector 892">
              <a:extLst>
                <a:ext uri="{FF2B5EF4-FFF2-40B4-BE49-F238E27FC236}">
                  <a16:creationId xmlns:a16="http://schemas.microsoft.com/office/drawing/2014/main" id="{694966F7-E79E-AC42-A981-710223649ACC}"/>
                </a:ext>
              </a:extLst>
            </p:cNvPr>
            <p:cNvCxnSpPr/>
            <p:nvPr/>
          </p:nvCxnSpPr>
          <p:spPr>
            <a:xfrm flipV="1">
              <a:off x="5875193" y="6127819"/>
              <a:ext cx="1790700" cy="298450"/>
            </a:xfrm>
            <a:prstGeom prst="line">
              <a:avLst/>
            </a:prstGeom>
            <a:noFill/>
            <a:ln w="12700" cap="flat" cmpd="sng" algn="ctr">
              <a:solidFill>
                <a:srgbClr val="000000"/>
              </a:solidFill>
              <a:prstDash val="solid"/>
            </a:ln>
            <a:effectLst/>
          </p:spPr>
        </p:cxnSp>
        <p:cxnSp>
          <p:nvCxnSpPr>
            <p:cNvPr id="894" name="Straight Connector 893">
              <a:extLst>
                <a:ext uri="{FF2B5EF4-FFF2-40B4-BE49-F238E27FC236}">
                  <a16:creationId xmlns:a16="http://schemas.microsoft.com/office/drawing/2014/main" id="{E084439A-562F-9047-916D-8BFA8D983C78}"/>
                </a:ext>
              </a:extLst>
            </p:cNvPr>
            <p:cNvCxnSpPr/>
            <p:nvPr/>
          </p:nvCxnSpPr>
          <p:spPr>
            <a:xfrm flipV="1">
              <a:off x="7202343" y="6156394"/>
              <a:ext cx="588962" cy="269875"/>
            </a:xfrm>
            <a:prstGeom prst="line">
              <a:avLst/>
            </a:prstGeom>
            <a:noFill/>
            <a:ln w="12700" cap="flat" cmpd="sng" algn="ctr">
              <a:solidFill>
                <a:srgbClr val="000000"/>
              </a:solidFill>
              <a:prstDash val="solid"/>
            </a:ln>
            <a:effectLst/>
          </p:spPr>
        </p:cxnSp>
        <p:cxnSp>
          <p:nvCxnSpPr>
            <p:cNvPr id="895" name="Straight Connector 894">
              <a:extLst>
                <a:ext uri="{FF2B5EF4-FFF2-40B4-BE49-F238E27FC236}">
                  <a16:creationId xmlns:a16="http://schemas.microsoft.com/office/drawing/2014/main" id="{B834EF84-01CE-DB43-AA3A-31C4F6601F10}"/>
                </a:ext>
              </a:extLst>
            </p:cNvPr>
            <p:cNvCxnSpPr/>
            <p:nvPr/>
          </p:nvCxnSpPr>
          <p:spPr>
            <a:xfrm>
              <a:off x="6345093" y="5940494"/>
              <a:ext cx="814387" cy="401637"/>
            </a:xfrm>
            <a:prstGeom prst="line">
              <a:avLst/>
            </a:prstGeom>
            <a:noFill/>
            <a:ln w="12700" cap="flat" cmpd="sng" algn="ctr">
              <a:solidFill>
                <a:srgbClr val="000000"/>
              </a:solidFill>
              <a:prstDash val="solid"/>
            </a:ln>
            <a:effectLst/>
          </p:spPr>
        </p:cxnSp>
        <p:grpSp>
          <p:nvGrpSpPr>
            <p:cNvPr id="1069" name="Group 347">
              <a:extLst>
                <a:ext uri="{FF2B5EF4-FFF2-40B4-BE49-F238E27FC236}">
                  <a16:creationId xmlns:a16="http://schemas.microsoft.com/office/drawing/2014/main" id="{4D6C1728-73DE-F748-A0E0-11321B8F7571}"/>
                </a:ext>
              </a:extLst>
            </p:cNvPr>
            <p:cNvGrpSpPr>
              <a:grpSpLocks/>
            </p:cNvGrpSpPr>
            <p:nvPr/>
          </p:nvGrpSpPr>
          <p:grpSpPr bwMode="auto">
            <a:xfrm>
              <a:off x="7605568" y="5983356"/>
              <a:ext cx="588962" cy="242888"/>
              <a:chOff x="1871277" y="1576300"/>
              <a:chExt cx="1128371" cy="437861"/>
            </a:xfrm>
          </p:grpSpPr>
          <p:sp>
            <p:nvSpPr>
              <p:cNvPr id="1070" name="Oval 1069">
                <a:extLst>
                  <a:ext uri="{FF2B5EF4-FFF2-40B4-BE49-F238E27FC236}">
                    <a16:creationId xmlns:a16="http://schemas.microsoft.com/office/drawing/2014/main" id="{BD0DE6BC-801F-2349-B339-2073DD002B17}"/>
                  </a:ext>
                </a:extLst>
              </p:cNvPr>
              <p:cNvSpPr>
                <a:spLocks noChangeArrowheads="1"/>
              </p:cNvSpPr>
              <p:nvPr/>
            </p:nvSpPr>
            <p:spPr bwMode="auto">
              <a:xfrm flipV="1">
                <a:off x="1874317" y="1693636"/>
                <a:ext cx="1125331" cy="320525"/>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071" name="Rectangle 1070">
                <a:extLst>
                  <a:ext uri="{FF2B5EF4-FFF2-40B4-BE49-F238E27FC236}">
                    <a16:creationId xmlns:a16="http://schemas.microsoft.com/office/drawing/2014/main" id="{8006CA96-E3FA-9945-9B82-02259999272B}"/>
                  </a:ext>
                </a:extLst>
              </p:cNvPr>
              <p:cNvSpPr/>
              <p:nvPr/>
            </p:nvSpPr>
            <p:spPr bwMode="auto">
              <a:xfrm>
                <a:off x="1871277" y="1739425"/>
                <a:ext cx="1128371" cy="11733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72" name="Oval 1071">
                <a:extLst>
                  <a:ext uri="{FF2B5EF4-FFF2-40B4-BE49-F238E27FC236}">
                    <a16:creationId xmlns:a16="http://schemas.microsoft.com/office/drawing/2014/main" id="{AC968267-A70E-0B48-9B2B-F3F7549B2DF9}"/>
                  </a:ext>
                </a:extLst>
              </p:cNvPr>
              <p:cNvSpPr>
                <a:spLocks noChangeArrowheads="1"/>
              </p:cNvSpPr>
              <p:nvPr/>
            </p:nvSpPr>
            <p:spPr bwMode="auto">
              <a:xfrm flipV="1">
                <a:off x="1871277" y="1576300"/>
                <a:ext cx="1125331" cy="320525"/>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073" name="Freeform 1072">
                <a:extLst>
                  <a:ext uri="{FF2B5EF4-FFF2-40B4-BE49-F238E27FC236}">
                    <a16:creationId xmlns:a16="http://schemas.microsoft.com/office/drawing/2014/main" id="{3543F393-921B-2544-AAF2-81DE265DCA01}"/>
                  </a:ext>
                </a:extLst>
              </p:cNvPr>
              <p:cNvSpPr/>
              <p:nvPr/>
            </p:nvSpPr>
            <p:spPr bwMode="auto">
              <a:xfrm>
                <a:off x="2160212" y="1673602"/>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74" name="Freeform 1073">
                <a:extLst>
                  <a:ext uri="{FF2B5EF4-FFF2-40B4-BE49-F238E27FC236}">
                    <a16:creationId xmlns:a16="http://schemas.microsoft.com/office/drawing/2014/main" id="{36A99124-4AE5-ED4F-A834-C0222885AECB}"/>
                  </a:ext>
                </a:extLst>
              </p:cNvPr>
              <p:cNvSpPr>
                <a:spLocks/>
              </p:cNvSpPr>
              <p:nvPr/>
            </p:nvSpPr>
            <p:spPr bwMode="auto">
              <a:xfrm>
                <a:off x="2102426" y="1633537"/>
                <a:ext cx="663033" cy="111612"/>
              </a:xfrm>
              <a:custGeom>
                <a:avLst/>
                <a:gdLst>
                  <a:gd name="T0" fmla="*/ 0 w 3723451"/>
                  <a:gd name="T1" fmla="*/ 27306 h 932950"/>
                  <a:gd name="T2" fmla="*/ 116665 w 3723451"/>
                  <a:gd name="T3" fmla="*/ 322 h 932950"/>
                  <a:gd name="T4" fmla="*/ 330457 w 3723451"/>
                  <a:gd name="T5" fmla="*/ 62277 h 932950"/>
                  <a:gd name="T6" fmla="*/ 534418 w 3723451"/>
                  <a:gd name="T7" fmla="*/ 0 h 932950"/>
                  <a:gd name="T8" fmla="*/ 663033 w 3723451"/>
                  <a:gd name="T9" fmla="*/ 24782 h 932950"/>
                  <a:gd name="T10" fmla="*/ 567343 w 3723451"/>
                  <a:gd name="T11" fmla="*/ 55256 h 932950"/>
                  <a:gd name="T12" fmla="*/ 536535 w 3723451"/>
                  <a:gd name="T13" fmla="*/ 47040 h 932950"/>
                  <a:gd name="T14" fmla="*/ 334214 w 3723451"/>
                  <a:gd name="T15" fmla="*/ 111612 h 932950"/>
                  <a:gd name="T16" fmla="*/ 126717 w 3723451"/>
                  <a:gd name="T17" fmla="*/ 49415 h 932950"/>
                  <a:gd name="T18" fmla="*/ 93168 w 3723451"/>
                  <a:gd name="T19" fmla="*/ 56128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75" name="Freeform 1074">
                <a:extLst>
                  <a:ext uri="{FF2B5EF4-FFF2-40B4-BE49-F238E27FC236}">
                    <a16:creationId xmlns:a16="http://schemas.microsoft.com/office/drawing/2014/main" id="{9CE3F7E2-B553-1E45-88FC-E2E1EC32F46A}"/>
                  </a:ext>
                </a:extLst>
              </p:cNvPr>
              <p:cNvSpPr>
                <a:spLocks/>
              </p:cNvSpPr>
              <p:nvPr/>
            </p:nvSpPr>
            <p:spPr bwMode="auto">
              <a:xfrm>
                <a:off x="2537350" y="1727978"/>
                <a:ext cx="243315" cy="97302"/>
              </a:xfrm>
              <a:custGeom>
                <a:avLst/>
                <a:gdLst>
                  <a:gd name="T0" fmla="*/ 0 w 1366596"/>
                  <a:gd name="T1" fmla="*/ 0 h 809868"/>
                  <a:gd name="T2" fmla="*/ 243315 w 1366596"/>
                  <a:gd name="T3" fmla="*/ 75188 h 809868"/>
                  <a:gd name="T4" fmla="*/ 154017 w 1366596"/>
                  <a:gd name="T5" fmla="*/ 97302 h 809868"/>
                  <a:gd name="T6" fmla="*/ 819 w 1366596"/>
                  <a:gd name="T7" fmla="*/ 5141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76" name="Freeform 1075">
                <a:extLst>
                  <a:ext uri="{FF2B5EF4-FFF2-40B4-BE49-F238E27FC236}">
                    <a16:creationId xmlns:a16="http://schemas.microsoft.com/office/drawing/2014/main" id="{D7BB9DED-4899-7649-AEBA-749DA452790C}"/>
                  </a:ext>
                </a:extLst>
              </p:cNvPr>
              <p:cNvSpPr>
                <a:spLocks/>
              </p:cNvSpPr>
              <p:nvPr/>
            </p:nvSpPr>
            <p:spPr bwMode="auto">
              <a:xfrm>
                <a:off x="2090260" y="1730839"/>
                <a:ext cx="240272" cy="97302"/>
              </a:xfrm>
              <a:custGeom>
                <a:avLst/>
                <a:gdLst>
                  <a:gd name="T0" fmla="*/ 236992 w 1348191"/>
                  <a:gd name="T1" fmla="*/ 0 h 791462"/>
                  <a:gd name="T2" fmla="*/ 240272 w 1348191"/>
                  <a:gd name="T3" fmla="*/ 46954 h 791462"/>
                  <a:gd name="T4" fmla="*/ 86924 w 1348191"/>
                  <a:gd name="T5" fmla="*/ 97302 h 791462"/>
                  <a:gd name="T6" fmla="*/ 0 w 1348191"/>
                  <a:gd name="T7" fmla="*/ 75239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1077" name="Straight Connector 1076">
                <a:extLst>
                  <a:ext uri="{FF2B5EF4-FFF2-40B4-BE49-F238E27FC236}">
                    <a16:creationId xmlns:a16="http://schemas.microsoft.com/office/drawing/2014/main" id="{E8965662-2E9A-0244-946F-4423CC691CFA}"/>
                  </a:ext>
                </a:extLst>
              </p:cNvPr>
              <p:cNvCxnSpPr>
                <a:cxnSpLocks noChangeShapeType="1"/>
                <a:endCxn id="1072" idx="2"/>
              </p:cNvCxnSpPr>
              <p:nvPr/>
            </p:nvCxnSpPr>
            <p:spPr bwMode="auto">
              <a:xfrm flipH="1" flipV="1">
                <a:off x="1871277" y="1736563"/>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78" name="Straight Connector 1077">
                <a:extLst>
                  <a:ext uri="{FF2B5EF4-FFF2-40B4-BE49-F238E27FC236}">
                    <a16:creationId xmlns:a16="http://schemas.microsoft.com/office/drawing/2014/main" id="{857BA7A2-209C-0B4F-9F2F-F5D9E12C5791}"/>
                  </a:ext>
                </a:extLst>
              </p:cNvPr>
              <p:cNvCxnSpPr>
                <a:cxnSpLocks noChangeShapeType="1"/>
              </p:cNvCxnSpPr>
              <p:nvPr/>
            </p:nvCxnSpPr>
            <p:spPr bwMode="auto">
              <a:xfrm flipH="1" flipV="1">
                <a:off x="2996608" y="1733702"/>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79" name="Group 347">
              <a:extLst>
                <a:ext uri="{FF2B5EF4-FFF2-40B4-BE49-F238E27FC236}">
                  <a16:creationId xmlns:a16="http://schemas.microsoft.com/office/drawing/2014/main" id="{23A5395A-73E4-9545-9CCB-0643AECEF709}"/>
                </a:ext>
              </a:extLst>
            </p:cNvPr>
            <p:cNvGrpSpPr>
              <a:grpSpLocks/>
            </p:cNvGrpSpPr>
            <p:nvPr/>
          </p:nvGrpSpPr>
          <p:grpSpPr bwMode="auto">
            <a:xfrm>
              <a:off x="6124430" y="5842069"/>
              <a:ext cx="588963" cy="242887"/>
              <a:chOff x="1871277" y="1576300"/>
              <a:chExt cx="1128371" cy="437861"/>
            </a:xfrm>
          </p:grpSpPr>
          <p:sp>
            <p:nvSpPr>
              <p:cNvPr id="1080" name="Oval 1079">
                <a:extLst>
                  <a:ext uri="{FF2B5EF4-FFF2-40B4-BE49-F238E27FC236}">
                    <a16:creationId xmlns:a16="http://schemas.microsoft.com/office/drawing/2014/main" id="{DF4469B4-1A62-884E-B93E-2088628FCF9A}"/>
                  </a:ext>
                </a:extLst>
              </p:cNvPr>
              <p:cNvSpPr>
                <a:spLocks noChangeArrowheads="1"/>
              </p:cNvSpPr>
              <p:nvPr/>
            </p:nvSpPr>
            <p:spPr bwMode="auto">
              <a:xfrm flipV="1">
                <a:off x="1874319" y="1693635"/>
                <a:ext cx="1125329"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081" name="Rectangle 1080">
                <a:extLst>
                  <a:ext uri="{FF2B5EF4-FFF2-40B4-BE49-F238E27FC236}">
                    <a16:creationId xmlns:a16="http://schemas.microsoft.com/office/drawing/2014/main" id="{CEED749C-6638-6040-A523-CBE05E8011F2}"/>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82" name="Oval 1081">
                <a:extLst>
                  <a:ext uri="{FF2B5EF4-FFF2-40B4-BE49-F238E27FC236}">
                    <a16:creationId xmlns:a16="http://schemas.microsoft.com/office/drawing/2014/main" id="{E82E8A3A-0CDF-0142-A8D4-2A7F88E464C9}"/>
                  </a:ext>
                </a:extLst>
              </p:cNvPr>
              <p:cNvSpPr>
                <a:spLocks noChangeArrowheads="1"/>
              </p:cNvSpPr>
              <p:nvPr/>
            </p:nvSpPr>
            <p:spPr bwMode="auto">
              <a:xfrm flipV="1">
                <a:off x="1871277" y="1576300"/>
                <a:ext cx="1125329"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083" name="Freeform 1082">
                <a:extLst>
                  <a:ext uri="{FF2B5EF4-FFF2-40B4-BE49-F238E27FC236}">
                    <a16:creationId xmlns:a16="http://schemas.microsoft.com/office/drawing/2014/main" id="{20B0C69D-2EFF-CC4C-91E3-DE028EA90E90}"/>
                  </a:ext>
                </a:extLst>
              </p:cNvPr>
              <p:cNvSpPr/>
              <p:nvPr/>
            </p:nvSpPr>
            <p:spPr bwMode="auto">
              <a:xfrm>
                <a:off x="2160214" y="1673603"/>
                <a:ext cx="547457"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84" name="Freeform 1083">
                <a:extLst>
                  <a:ext uri="{FF2B5EF4-FFF2-40B4-BE49-F238E27FC236}">
                    <a16:creationId xmlns:a16="http://schemas.microsoft.com/office/drawing/2014/main" id="{8F166C83-2DE4-AA4C-934F-358B1ABBD003}"/>
                  </a:ext>
                </a:extLst>
              </p:cNvPr>
              <p:cNvSpPr>
                <a:spLocks/>
              </p:cNvSpPr>
              <p:nvPr/>
            </p:nvSpPr>
            <p:spPr bwMode="auto">
              <a:xfrm>
                <a:off x="2102426" y="1633537"/>
                <a:ext cx="663031" cy="111611"/>
              </a:xfrm>
              <a:custGeom>
                <a:avLst/>
                <a:gdLst>
                  <a:gd name="T0" fmla="*/ 0 w 3723451"/>
                  <a:gd name="T1" fmla="*/ 27306 h 932950"/>
                  <a:gd name="T2" fmla="*/ 116665 w 3723451"/>
                  <a:gd name="T3" fmla="*/ 322 h 932950"/>
                  <a:gd name="T4" fmla="*/ 330456 w 3723451"/>
                  <a:gd name="T5" fmla="*/ 62276 h 932950"/>
                  <a:gd name="T6" fmla="*/ 534416 w 3723451"/>
                  <a:gd name="T7" fmla="*/ 0 h 932950"/>
                  <a:gd name="T8" fmla="*/ 663031 w 3723451"/>
                  <a:gd name="T9" fmla="*/ 24782 h 932950"/>
                  <a:gd name="T10" fmla="*/ 567342 w 3723451"/>
                  <a:gd name="T11" fmla="*/ 55255 h 932950"/>
                  <a:gd name="T12" fmla="*/ 536534 w 3723451"/>
                  <a:gd name="T13" fmla="*/ 47039 h 932950"/>
                  <a:gd name="T14" fmla="*/ 334213 w 3723451"/>
                  <a:gd name="T15" fmla="*/ 111611 h 932950"/>
                  <a:gd name="T16" fmla="*/ 126716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85" name="Freeform 1084">
                <a:extLst>
                  <a:ext uri="{FF2B5EF4-FFF2-40B4-BE49-F238E27FC236}">
                    <a16:creationId xmlns:a16="http://schemas.microsoft.com/office/drawing/2014/main" id="{64120D6F-CF36-7A4B-868D-9522C1F79454}"/>
                  </a:ext>
                </a:extLst>
              </p:cNvPr>
              <p:cNvSpPr>
                <a:spLocks/>
              </p:cNvSpPr>
              <p:nvPr/>
            </p:nvSpPr>
            <p:spPr bwMode="auto">
              <a:xfrm>
                <a:off x="2537351" y="1727977"/>
                <a:ext cx="243314" cy="97303"/>
              </a:xfrm>
              <a:custGeom>
                <a:avLst/>
                <a:gdLst>
                  <a:gd name="T0" fmla="*/ 0 w 1366596"/>
                  <a:gd name="T1" fmla="*/ 0 h 809868"/>
                  <a:gd name="T2" fmla="*/ 243314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86" name="Freeform 1085">
                <a:extLst>
                  <a:ext uri="{FF2B5EF4-FFF2-40B4-BE49-F238E27FC236}">
                    <a16:creationId xmlns:a16="http://schemas.microsoft.com/office/drawing/2014/main" id="{8477E0BD-F61A-594C-8419-6BA64D7DFCE7}"/>
                  </a:ext>
                </a:extLst>
              </p:cNvPr>
              <p:cNvSpPr>
                <a:spLocks/>
              </p:cNvSpPr>
              <p:nvPr/>
            </p:nvSpPr>
            <p:spPr bwMode="auto">
              <a:xfrm>
                <a:off x="2090260" y="1730839"/>
                <a:ext cx="240274" cy="97303"/>
              </a:xfrm>
              <a:custGeom>
                <a:avLst/>
                <a:gdLst>
                  <a:gd name="T0" fmla="*/ 236994 w 1348191"/>
                  <a:gd name="T1" fmla="*/ 0 h 791462"/>
                  <a:gd name="T2" fmla="*/ 240274 w 1348191"/>
                  <a:gd name="T3" fmla="*/ 46954 h 791462"/>
                  <a:gd name="T4" fmla="*/ 86925 w 1348191"/>
                  <a:gd name="T5" fmla="*/ 97303 h 791462"/>
                  <a:gd name="T6" fmla="*/ 0 w 1348191"/>
                  <a:gd name="T7" fmla="*/ 75240 h 791462"/>
                  <a:gd name="T8" fmla="*/ 23699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1087" name="Straight Connector 1086">
                <a:extLst>
                  <a:ext uri="{FF2B5EF4-FFF2-40B4-BE49-F238E27FC236}">
                    <a16:creationId xmlns:a16="http://schemas.microsoft.com/office/drawing/2014/main" id="{53F7848D-82FC-7641-AC58-517C9B2FB854}"/>
                  </a:ext>
                </a:extLst>
              </p:cNvPr>
              <p:cNvCxnSpPr>
                <a:cxnSpLocks noChangeShapeType="1"/>
                <a:endCxn id="1082" idx="2"/>
              </p:cNvCxnSpPr>
              <p:nvPr/>
            </p:nvCxnSpPr>
            <p:spPr bwMode="auto">
              <a:xfrm flipH="1" flipV="1">
                <a:off x="1871277" y="1736563"/>
                <a:ext cx="3042"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88" name="Straight Connector 1087">
                <a:extLst>
                  <a:ext uri="{FF2B5EF4-FFF2-40B4-BE49-F238E27FC236}">
                    <a16:creationId xmlns:a16="http://schemas.microsoft.com/office/drawing/2014/main" id="{EA830BBF-D185-DB42-96F5-34C5273F4B6F}"/>
                  </a:ext>
                </a:extLst>
              </p:cNvPr>
              <p:cNvCxnSpPr>
                <a:cxnSpLocks noChangeShapeType="1"/>
              </p:cNvCxnSpPr>
              <p:nvPr/>
            </p:nvCxnSpPr>
            <p:spPr bwMode="auto">
              <a:xfrm flipH="1" flipV="1">
                <a:off x="2996606" y="1733700"/>
                <a:ext cx="3042"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89" name="Group 347">
              <a:extLst>
                <a:ext uri="{FF2B5EF4-FFF2-40B4-BE49-F238E27FC236}">
                  <a16:creationId xmlns:a16="http://schemas.microsoft.com/office/drawing/2014/main" id="{B6A937C7-17A9-A648-A780-A8D67F2249E6}"/>
                </a:ext>
              </a:extLst>
            </p:cNvPr>
            <p:cNvGrpSpPr>
              <a:grpSpLocks/>
            </p:cNvGrpSpPr>
            <p:nvPr/>
          </p:nvGrpSpPr>
          <p:grpSpPr bwMode="auto">
            <a:xfrm>
              <a:off x="6916593" y="6302444"/>
              <a:ext cx="588962" cy="242887"/>
              <a:chOff x="1871277" y="1576300"/>
              <a:chExt cx="1128371" cy="437861"/>
            </a:xfrm>
          </p:grpSpPr>
          <p:sp>
            <p:nvSpPr>
              <p:cNvPr id="1090" name="Oval 1089">
                <a:extLst>
                  <a:ext uri="{FF2B5EF4-FFF2-40B4-BE49-F238E27FC236}">
                    <a16:creationId xmlns:a16="http://schemas.microsoft.com/office/drawing/2014/main" id="{21A30E2F-9F7B-DC47-908B-38849C8FE198}"/>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091" name="Rectangle 1090">
                <a:extLst>
                  <a:ext uri="{FF2B5EF4-FFF2-40B4-BE49-F238E27FC236}">
                    <a16:creationId xmlns:a16="http://schemas.microsoft.com/office/drawing/2014/main" id="{368E56E7-1038-F843-8824-9F2406D135D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92" name="Oval 1091">
                <a:extLst>
                  <a:ext uri="{FF2B5EF4-FFF2-40B4-BE49-F238E27FC236}">
                    <a16:creationId xmlns:a16="http://schemas.microsoft.com/office/drawing/2014/main" id="{5E09C5D1-4489-9245-906B-AB737B65B939}"/>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093" name="Freeform 1092">
                <a:extLst>
                  <a:ext uri="{FF2B5EF4-FFF2-40B4-BE49-F238E27FC236}">
                    <a16:creationId xmlns:a16="http://schemas.microsoft.com/office/drawing/2014/main" id="{60675A58-4EA5-F645-8293-8D562D37C4A7}"/>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94" name="Freeform 1093">
                <a:extLst>
                  <a:ext uri="{FF2B5EF4-FFF2-40B4-BE49-F238E27FC236}">
                    <a16:creationId xmlns:a16="http://schemas.microsoft.com/office/drawing/2014/main" id="{936A0061-F839-A048-9329-4BA74387A85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95" name="Freeform 1094">
                <a:extLst>
                  <a:ext uri="{FF2B5EF4-FFF2-40B4-BE49-F238E27FC236}">
                    <a16:creationId xmlns:a16="http://schemas.microsoft.com/office/drawing/2014/main" id="{5010EAA9-D9FE-B348-B497-E58DC4A70242}"/>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96" name="Freeform 1095">
                <a:extLst>
                  <a:ext uri="{FF2B5EF4-FFF2-40B4-BE49-F238E27FC236}">
                    <a16:creationId xmlns:a16="http://schemas.microsoft.com/office/drawing/2014/main" id="{E2301F16-3352-1848-BBB4-2365D15D0F69}"/>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1097" name="Straight Connector 1096">
                <a:extLst>
                  <a:ext uri="{FF2B5EF4-FFF2-40B4-BE49-F238E27FC236}">
                    <a16:creationId xmlns:a16="http://schemas.microsoft.com/office/drawing/2014/main" id="{D853D2D6-514A-9847-BBC3-2AE928C8DAFB}"/>
                  </a:ext>
                </a:extLst>
              </p:cNvPr>
              <p:cNvCxnSpPr>
                <a:cxnSpLocks noChangeShapeType="1"/>
                <a:endCxn id="109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98" name="Straight Connector 1097">
                <a:extLst>
                  <a:ext uri="{FF2B5EF4-FFF2-40B4-BE49-F238E27FC236}">
                    <a16:creationId xmlns:a16="http://schemas.microsoft.com/office/drawing/2014/main" id="{0F7465E9-0BFE-964B-AB98-F93DD82101C2}"/>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99" name="Group 347">
              <a:extLst>
                <a:ext uri="{FF2B5EF4-FFF2-40B4-BE49-F238E27FC236}">
                  <a16:creationId xmlns:a16="http://schemas.microsoft.com/office/drawing/2014/main" id="{B1B48B52-0F33-0442-B024-9A681DC9E147}"/>
                </a:ext>
              </a:extLst>
            </p:cNvPr>
            <p:cNvGrpSpPr>
              <a:grpSpLocks/>
            </p:cNvGrpSpPr>
            <p:nvPr/>
          </p:nvGrpSpPr>
          <p:grpSpPr bwMode="auto">
            <a:xfrm>
              <a:off x="5452918" y="6394519"/>
              <a:ext cx="588962" cy="242887"/>
              <a:chOff x="1871277" y="1576300"/>
              <a:chExt cx="1128371" cy="437861"/>
            </a:xfrm>
          </p:grpSpPr>
          <p:sp>
            <p:nvSpPr>
              <p:cNvPr id="1100" name="Oval 1099">
                <a:extLst>
                  <a:ext uri="{FF2B5EF4-FFF2-40B4-BE49-F238E27FC236}">
                    <a16:creationId xmlns:a16="http://schemas.microsoft.com/office/drawing/2014/main" id="{B2DB57CB-08BD-2F4D-A7ED-38936BBFA3D4}"/>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101" name="Rectangle 1100">
                <a:extLst>
                  <a:ext uri="{FF2B5EF4-FFF2-40B4-BE49-F238E27FC236}">
                    <a16:creationId xmlns:a16="http://schemas.microsoft.com/office/drawing/2014/main" id="{C5A9C96D-A2BA-754F-A882-52122EB391B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102" name="Oval 1101">
                <a:extLst>
                  <a:ext uri="{FF2B5EF4-FFF2-40B4-BE49-F238E27FC236}">
                    <a16:creationId xmlns:a16="http://schemas.microsoft.com/office/drawing/2014/main" id="{83C4800F-B303-9446-B339-EF2E78D32E45}"/>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103" name="Freeform 1102">
                <a:extLst>
                  <a:ext uri="{FF2B5EF4-FFF2-40B4-BE49-F238E27FC236}">
                    <a16:creationId xmlns:a16="http://schemas.microsoft.com/office/drawing/2014/main" id="{8248D620-997C-1B4D-A023-5CD8220FC4D0}"/>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104" name="Freeform 1103">
                <a:extLst>
                  <a:ext uri="{FF2B5EF4-FFF2-40B4-BE49-F238E27FC236}">
                    <a16:creationId xmlns:a16="http://schemas.microsoft.com/office/drawing/2014/main" id="{906FE13D-AC05-AA42-853B-9FAC9CA2507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105" name="Freeform 1104">
                <a:extLst>
                  <a:ext uri="{FF2B5EF4-FFF2-40B4-BE49-F238E27FC236}">
                    <a16:creationId xmlns:a16="http://schemas.microsoft.com/office/drawing/2014/main" id="{DE4AB67E-E389-E747-AA8A-F557E3BDBA61}"/>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106" name="Freeform 1105">
                <a:extLst>
                  <a:ext uri="{FF2B5EF4-FFF2-40B4-BE49-F238E27FC236}">
                    <a16:creationId xmlns:a16="http://schemas.microsoft.com/office/drawing/2014/main" id="{A18C8CAC-63E9-E248-8397-1346071AD6EE}"/>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1107" name="Straight Connector 1106">
                <a:extLst>
                  <a:ext uri="{FF2B5EF4-FFF2-40B4-BE49-F238E27FC236}">
                    <a16:creationId xmlns:a16="http://schemas.microsoft.com/office/drawing/2014/main" id="{73BEE8CD-92EF-AB4A-9223-19BD5734C8CF}"/>
                  </a:ext>
                </a:extLst>
              </p:cNvPr>
              <p:cNvCxnSpPr>
                <a:cxnSpLocks noChangeShapeType="1"/>
                <a:endCxn id="110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08" name="Straight Connector 1107">
                <a:extLst>
                  <a:ext uri="{FF2B5EF4-FFF2-40B4-BE49-F238E27FC236}">
                    <a16:creationId xmlns:a16="http://schemas.microsoft.com/office/drawing/2014/main" id="{5BC61A72-737C-4F4F-802A-7DAAF663B43B}"/>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139" name="Group 1">
              <a:extLst>
                <a:ext uri="{FF2B5EF4-FFF2-40B4-BE49-F238E27FC236}">
                  <a16:creationId xmlns:a16="http://schemas.microsoft.com/office/drawing/2014/main" id="{A228ACC2-6157-BF41-88C3-0A086417268A}"/>
                </a:ext>
              </a:extLst>
            </p:cNvPr>
            <p:cNvGrpSpPr>
              <a:grpSpLocks/>
            </p:cNvGrpSpPr>
            <p:nvPr/>
          </p:nvGrpSpPr>
          <p:grpSpPr bwMode="auto">
            <a:xfrm>
              <a:off x="2687493" y="5652658"/>
              <a:ext cx="2766941" cy="848024"/>
              <a:chOff x="938213" y="5322390"/>
              <a:chExt cx="2766941" cy="848023"/>
            </a:xfrm>
          </p:grpSpPr>
          <p:cxnSp>
            <p:nvCxnSpPr>
              <p:cNvPr id="1140" name="Straight Connector 1139">
                <a:extLst>
                  <a:ext uri="{FF2B5EF4-FFF2-40B4-BE49-F238E27FC236}">
                    <a16:creationId xmlns:a16="http://schemas.microsoft.com/office/drawing/2014/main" id="{CB924182-B4D8-0F43-97E1-646C4E72A083}"/>
                  </a:ext>
                </a:extLst>
              </p:cNvPr>
              <p:cNvCxnSpPr/>
              <p:nvPr/>
            </p:nvCxnSpPr>
            <p:spPr>
              <a:xfrm flipH="1">
                <a:off x="1282700" y="5802312"/>
                <a:ext cx="1508125" cy="1588"/>
              </a:xfrm>
              <a:prstGeom prst="line">
                <a:avLst/>
              </a:prstGeom>
              <a:noFill/>
              <a:ln w="9525" cap="flat" cmpd="sng" algn="ctr">
                <a:solidFill>
                  <a:srgbClr val="000000"/>
                </a:solidFill>
                <a:prstDash val="solid"/>
              </a:ln>
              <a:effectLst/>
            </p:spPr>
          </p:cxnSp>
          <p:sp>
            <p:nvSpPr>
              <p:cNvPr id="1141" name="TextBox 265">
                <a:extLst>
                  <a:ext uri="{FF2B5EF4-FFF2-40B4-BE49-F238E27FC236}">
                    <a16:creationId xmlns:a16="http://schemas.microsoft.com/office/drawing/2014/main" id="{CFD0B0F1-D70C-5245-B37A-C9A4ABCBEF39}"/>
                  </a:ext>
                </a:extLst>
              </p:cNvPr>
              <p:cNvSpPr txBox="1">
                <a:spLocks noChangeArrowheads="1"/>
              </p:cNvSpPr>
              <p:nvPr/>
            </p:nvSpPr>
            <p:spPr bwMode="auto">
              <a:xfrm>
                <a:off x="3198813" y="5473700"/>
                <a:ext cx="331715" cy="30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kern="0">
                    <a:solidFill>
                      <a:srgbClr val="000000"/>
                    </a:solidFill>
                  </a:rPr>
                  <a:t>1</a:t>
                </a:r>
              </a:p>
            </p:txBody>
          </p:sp>
          <p:sp>
            <p:nvSpPr>
              <p:cNvPr id="1142" name="TextBox 281">
                <a:extLst>
                  <a:ext uri="{FF2B5EF4-FFF2-40B4-BE49-F238E27FC236}">
                    <a16:creationId xmlns:a16="http://schemas.microsoft.com/office/drawing/2014/main" id="{6C507E5B-C87D-FA46-A331-4ABAB6B8A245}"/>
                  </a:ext>
                </a:extLst>
              </p:cNvPr>
              <p:cNvSpPr txBox="1">
                <a:spLocks noChangeArrowheads="1"/>
              </p:cNvSpPr>
              <p:nvPr/>
            </p:nvSpPr>
            <p:spPr bwMode="auto">
              <a:xfrm>
                <a:off x="3373439" y="5761039"/>
                <a:ext cx="331715" cy="30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kern="0">
                    <a:solidFill>
                      <a:srgbClr val="000000"/>
                    </a:solidFill>
                  </a:rPr>
                  <a:t>2</a:t>
                </a:r>
              </a:p>
            </p:txBody>
          </p:sp>
          <p:grpSp>
            <p:nvGrpSpPr>
              <p:cNvPr id="1143" name="Group 5">
                <a:extLst>
                  <a:ext uri="{FF2B5EF4-FFF2-40B4-BE49-F238E27FC236}">
                    <a16:creationId xmlns:a16="http://schemas.microsoft.com/office/drawing/2014/main" id="{1A707F03-E0B2-FF48-9597-B751067AD9A3}"/>
                  </a:ext>
                </a:extLst>
              </p:cNvPr>
              <p:cNvGrpSpPr>
                <a:grpSpLocks/>
              </p:cNvGrpSpPr>
              <p:nvPr/>
            </p:nvGrpSpPr>
            <p:grpSpPr bwMode="auto">
              <a:xfrm>
                <a:off x="938213" y="5322390"/>
                <a:ext cx="1616075" cy="469703"/>
                <a:chOff x="-4079003" y="2802821"/>
                <a:chExt cx="1616718" cy="470775"/>
              </a:xfrm>
            </p:grpSpPr>
            <p:sp>
              <p:nvSpPr>
                <p:cNvPr id="1157" name="Rectangle 98">
                  <a:extLst>
                    <a:ext uri="{FF2B5EF4-FFF2-40B4-BE49-F238E27FC236}">
                      <a16:creationId xmlns:a16="http://schemas.microsoft.com/office/drawing/2014/main" id="{CA6EA6FC-3469-1A42-8A1A-7ABEC47FF2BC}"/>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158" name="Line 99">
                  <a:extLst>
                    <a:ext uri="{FF2B5EF4-FFF2-40B4-BE49-F238E27FC236}">
                      <a16:creationId xmlns:a16="http://schemas.microsoft.com/office/drawing/2014/main" id="{8B52FDA0-6129-4D4D-AB34-6E31B5746EA7}"/>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defRPr/>
                  </a:pPr>
                  <a:endParaRPr lang="en-US" sz="1350" kern="0">
                    <a:solidFill>
                      <a:srgbClr val="000000"/>
                    </a:solidFill>
                  </a:endParaRPr>
                </a:p>
              </p:txBody>
            </p:sp>
            <p:sp>
              <p:nvSpPr>
                <p:cNvPr id="1159" name="Rectangle 104">
                  <a:extLst>
                    <a:ext uri="{FF2B5EF4-FFF2-40B4-BE49-F238E27FC236}">
                      <a16:creationId xmlns:a16="http://schemas.microsoft.com/office/drawing/2014/main" id="{EF6D77F4-B510-3541-9758-82FBBD8239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sp>
              <p:nvSpPr>
                <p:cNvPr id="1160" name="Text Box 105">
                  <a:extLst>
                    <a:ext uri="{FF2B5EF4-FFF2-40B4-BE49-F238E27FC236}">
                      <a16:creationId xmlns:a16="http://schemas.microsoft.com/office/drawing/2014/main" id="{2AE0900E-8A8F-4A4D-BB87-414DFE5E1CA9}"/>
                    </a:ext>
                  </a:extLst>
                </p:cNvPr>
                <p:cNvSpPr txBox="1">
                  <a:spLocks noChangeArrowheads="1"/>
                </p:cNvSpPr>
                <p:nvPr/>
              </p:nvSpPr>
              <p:spPr bwMode="auto">
                <a:xfrm>
                  <a:off x="-3430189" y="2965119"/>
                  <a:ext cx="588429" cy="308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hangingPunct="1">
                    <a:defRPr/>
                  </a:pPr>
                  <a:r>
                    <a:rPr lang="en-US" altLang="en-US" sz="900" kern="0">
                      <a:solidFill>
                        <a:srgbClr val="000000"/>
                      </a:solidFill>
                    </a:rPr>
                    <a:t>0111</a:t>
                  </a:r>
                </a:p>
              </p:txBody>
            </p:sp>
            <p:sp>
              <p:nvSpPr>
                <p:cNvPr id="1161" name="Line 119">
                  <a:extLst>
                    <a:ext uri="{FF2B5EF4-FFF2-40B4-BE49-F238E27FC236}">
                      <a16:creationId xmlns:a16="http://schemas.microsoft.com/office/drawing/2014/main" id="{5B21AE9C-8AC8-434E-B3D3-DDFB36C485E3}"/>
                    </a:ext>
                  </a:extLst>
                </p:cNvPr>
                <p:cNvSpPr>
                  <a:spLocks noChangeShapeType="1"/>
                </p:cNvSpPr>
                <p:nvPr/>
              </p:nvSpPr>
              <p:spPr bwMode="auto">
                <a:xfrm>
                  <a:off x="-3940114" y="2802821"/>
                  <a:ext cx="724425" cy="215182"/>
                </a:xfrm>
                <a:prstGeom prst="line">
                  <a:avLst/>
                </a:prstGeom>
                <a:noFill/>
                <a:ln w="158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pPr defTabSz="685800">
                    <a:defRPr/>
                  </a:pPr>
                  <a:endParaRPr lang="en-US" sz="1350" kern="0">
                    <a:solidFill>
                      <a:srgbClr val="000000"/>
                    </a:solidFill>
                  </a:endParaRPr>
                </a:p>
              </p:txBody>
            </p:sp>
          </p:grpSp>
          <p:grpSp>
            <p:nvGrpSpPr>
              <p:cNvPr id="1145" name="Group 357">
                <a:extLst>
                  <a:ext uri="{FF2B5EF4-FFF2-40B4-BE49-F238E27FC236}">
                    <a16:creationId xmlns:a16="http://schemas.microsoft.com/office/drawing/2014/main" id="{4D59E87F-CE51-5F46-B516-9F402F558557}"/>
                  </a:ext>
                </a:extLst>
              </p:cNvPr>
              <p:cNvGrpSpPr>
                <a:grpSpLocks/>
              </p:cNvGrpSpPr>
              <p:nvPr/>
            </p:nvGrpSpPr>
            <p:grpSpPr bwMode="auto">
              <a:xfrm>
                <a:off x="2714625" y="5659438"/>
                <a:ext cx="565150" cy="293687"/>
                <a:chOff x="1871277" y="1576300"/>
                <a:chExt cx="1128371" cy="437861"/>
              </a:xfrm>
            </p:grpSpPr>
            <p:sp>
              <p:nvSpPr>
                <p:cNvPr id="1147" name="Oval 1146">
                  <a:extLst>
                    <a:ext uri="{FF2B5EF4-FFF2-40B4-BE49-F238E27FC236}">
                      <a16:creationId xmlns:a16="http://schemas.microsoft.com/office/drawing/2014/main" id="{47BEE802-D705-FB42-955E-D825A1B513F5}"/>
                    </a:ext>
                  </a:extLst>
                </p:cNvPr>
                <p:cNvSpPr>
                  <a:spLocks noChangeArrowheads="1"/>
                </p:cNvSpPr>
                <p:nvPr/>
              </p:nvSpPr>
              <p:spPr bwMode="auto">
                <a:xfrm flipV="1">
                  <a:off x="1874448" y="1694641"/>
                  <a:ext cx="1125200" cy="319521"/>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148" name="Rectangle 1147">
                  <a:extLst>
                    <a:ext uri="{FF2B5EF4-FFF2-40B4-BE49-F238E27FC236}">
                      <a16:creationId xmlns:a16="http://schemas.microsoft.com/office/drawing/2014/main" id="{A0A9F0A0-D85B-BC44-809E-0D44746B1886}"/>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149" name="Oval 1148">
                  <a:extLst>
                    <a:ext uri="{FF2B5EF4-FFF2-40B4-BE49-F238E27FC236}">
                      <a16:creationId xmlns:a16="http://schemas.microsoft.com/office/drawing/2014/main" id="{E6E2E4DB-C182-5947-9544-5CA42AF8D004}"/>
                    </a:ext>
                  </a:extLst>
                </p:cNvPr>
                <p:cNvSpPr>
                  <a:spLocks noChangeArrowheads="1"/>
                </p:cNvSpPr>
                <p:nvPr/>
              </p:nvSpPr>
              <p:spPr bwMode="auto">
                <a:xfrm flipV="1">
                  <a:off x="1871277" y="1576300"/>
                  <a:ext cx="1125202" cy="31952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150" name="Freeform 1149">
                  <a:extLst>
                    <a:ext uri="{FF2B5EF4-FFF2-40B4-BE49-F238E27FC236}">
                      <a16:creationId xmlns:a16="http://schemas.microsoft.com/office/drawing/2014/main" id="{826516FA-D90F-FF4F-86C3-EABFADEC3BBB}"/>
                    </a:ext>
                  </a:extLst>
                </p:cNvPr>
                <p:cNvSpPr/>
                <p:nvPr/>
              </p:nvSpPr>
              <p:spPr bwMode="auto">
                <a:xfrm>
                  <a:off x="2159710" y="1673340"/>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151" name="Freeform 1150">
                  <a:extLst>
                    <a:ext uri="{FF2B5EF4-FFF2-40B4-BE49-F238E27FC236}">
                      <a16:creationId xmlns:a16="http://schemas.microsoft.com/office/drawing/2014/main" id="{8B23C2D3-E371-5547-9057-B35E626ABDC4}"/>
                    </a:ext>
                  </a:extLst>
                </p:cNvPr>
                <p:cNvSpPr>
                  <a:spLocks/>
                </p:cNvSpPr>
                <p:nvPr/>
              </p:nvSpPr>
              <p:spPr bwMode="auto">
                <a:xfrm>
                  <a:off x="2102657" y="1633104"/>
                  <a:ext cx="662442" cy="111241"/>
                </a:xfrm>
                <a:custGeom>
                  <a:avLst/>
                  <a:gdLst>
                    <a:gd name="T0" fmla="*/ 0 w 3723451"/>
                    <a:gd name="T1" fmla="*/ 27215 h 932950"/>
                    <a:gd name="T2" fmla="*/ 116561 w 3723451"/>
                    <a:gd name="T3" fmla="*/ 321 h 932950"/>
                    <a:gd name="T4" fmla="*/ 330163 w 3723451"/>
                    <a:gd name="T5" fmla="*/ 62070 h 932950"/>
                    <a:gd name="T6" fmla="*/ 533941 w 3723451"/>
                    <a:gd name="T7" fmla="*/ 0 h 932950"/>
                    <a:gd name="T8" fmla="*/ 662442 w 3723451"/>
                    <a:gd name="T9" fmla="*/ 24700 h 932950"/>
                    <a:gd name="T10" fmla="*/ 566838 w 3723451"/>
                    <a:gd name="T11" fmla="*/ 55072 h 932950"/>
                    <a:gd name="T12" fmla="*/ 536057 w 3723451"/>
                    <a:gd name="T13" fmla="*/ 46883 h 932950"/>
                    <a:gd name="T14" fmla="*/ 333916 w 3723451"/>
                    <a:gd name="T15" fmla="*/ 111241 h 932950"/>
                    <a:gd name="T16" fmla="*/ 126604 w 3723451"/>
                    <a:gd name="T17" fmla="*/ 49251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152" name="Freeform 1151">
                  <a:extLst>
                    <a:ext uri="{FF2B5EF4-FFF2-40B4-BE49-F238E27FC236}">
                      <a16:creationId xmlns:a16="http://schemas.microsoft.com/office/drawing/2014/main" id="{2DEA8715-4603-7449-BB4D-351CFEF75CDD}"/>
                    </a:ext>
                  </a:extLst>
                </p:cNvPr>
                <p:cNvSpPr>
                  <a:spLocks/>
                </p:cNvSpPr>
                <p:nvPr/>
              </p:nvSpPr>
              <p:spPr bwMode="auto">
                <a:xfrm>
                  <a:off x="2536889" y="1727776"/>
                  <a:ext cx="244059" cy="97040"/>
                </a:xfrm>
                <a:custGeom>
                  <a:avLst/>
                  <a:gdLst>
                    <a:gd name="T0" fmla="*/ 0 w 1366596"/>
                    <a:gd name="T1" fmla="*/ 0 h 809868"/>
                    <a:gd name="T2" fmla="*/ 244059 w 1366596"/>
                    <a:gd name="T3" fmla="*/ 74985 h 809868"/>
                    <a:gd name="T4" fmla="*/ 154488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153" name="Freeform 1152">
                  <a:extLst>
                    <a:ext uri="{FF2B5EF4-FFF2-40B4-BE49-F238E27FC236}">
                      <a16:creationId xmlns:a16="http://schemas.microsoft.com/office/drawing/2014/main" id="{72F5390F-6421-6840-94BC-D15B70623EF8}"/>
                    </a:ext>
                  </a:extLst>
                </p:cNvPr>
                <p:cNvSpPr>
                  <a:spLocks/>
                </p:cNvSpPr>
                <p:nvPr/>
              </p:nvSpPr>
              <p:spPr bwMode="auto">
                <a:xfrm>
                  <a:off x="2089979"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1154" name="Straight Connector 1153">
                  <a:extLst>
                    <a:ext uri="{FF2B5EF4-FFF2-40B4-BE49-F238E27FC236}">
                      <a16:creationId xmlns:a16="http://schemas.microsoft.com/office/drawing/2014/main" id="{34E68527-C12C-5248-A62C-D72D4BEC928A}"/>
                    </a:ext>
                  </a:extLst>
                </p:cNvPr>
                <p:cNvCxnSpPr>
                  <a:cxnSpLocks noChangeShapeType="1"/>
                  <a:endCxn id="1149"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55" name="Straight Connector 1154">
                  <a:extLst>
                    <a:ext uri="{FF2B5EF4-FFF2-40B4-BE49-F238E27FC236}">
                      <a16:creationId xmlns:a16="http://schemas.microsoft.com/office/drawing/2014/main" id="{475CE0A8-F910-FF45-A479-96A5E48ACF2E}"/>
                    </a:ext>
                  </a:extLst>
                </p:cNvPr>
                <p:cNvCxnSpPr>
                  <a:cxnSpLocks noChangeShapeType="1"/>
                </p:cNvCxnSpPr>
                <p:nvPr/>
              </p:nvCxnSpPr>
              <p:spPr bwMode="auto">
                <a:xfrm flipH="1" flipV="1">
                  <a:off x="2996479" y="1734878"/>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146" name="TextBox 282">
                <a:extLst>
                  <a:ext uri="{FF2B5EF4-FFF2-40B4-BE49-F238E27FC236}">
                    <a16:creationId xmlns:a16="http://schemas.microsoft.com/office/drawing/2014/main" id="{4B460814-1FB2-5F46-A167-2E252688DDB5}"/>
                  </a:ext>
                </a:extLst>
              </p:cNvPr>
              <p:cNvSpPr txBox="1">
                <a:spLocks noChangeArrowheads="1"/>
              </p:cNvSpPr>
              <p:nvPr/>
            </p:nvSpPr>
            <p:spPr bwMode="auto">
              <a:xfrm>
                <a:off x="3068638" y="5862638"/>
                <a:ext cx="331715" cy="30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kern="0">
                    <a:solidFill>
                      <a:srgbClr val="000000"/>
                    </a:solidFill>
                  </a:rPr>
                  <a:t>3</a:t>
                </a:r>
              </a:p>
            </p:txBody>
          </p:sp>
          <p:sp>
            <p:nvSpPr>
              <p:cNvPr id="1144" name="Freeform 120">
                <a:extLst>
                  <a:ext uri="{FF2B5EF4-FFF2-40B4-BE49-F238E27FC236}">
                    <a16:creationId xmlns:a16="http://schemas.microsoft.com/office/drawing/2014/main" id="{7959F5AF-96CF-CD42-95A7-B320D466FA0B}"/>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kern="0">
                  <a:solidFill>
                    <a:srgbClr val="000000"/>
                  </a:solidFill>
                </a:endParaRPr>
              </a:p>
            </p:txBody>
          </p:sp>
        </p:grpSp>
        <p:sp>
          <p:nvSpPr>
            <p:cNvPr id="1162" name="TextBox 6">
              <a:extLst>
                <a:ext uri="{FF2B5EF4-FFF2-40B4-BE49-F238E27FC236}">
                  <a16:creationId xmlns:a16="http://schemas.microsoft.com/office/drawing/2014/main" id="{21D1826E-E3E7-E445-9FFB-A565D9A2AD31}"/>
                </a:ext>
              </a:extLst>
            </p:cNvPr>
            <p:cNvSpPr txBox="1">
              <a:spLocks noChangeArrowheads="1"/>
            </p:cNvSpPr>
            <p:nvPr/>
          </p:nvSpPr>
          <p:spPr bwMode="auto">
            <a:xfrm>
              <a:off x="1372488" y="5470630"/>
              <a:ext cx="1992313"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values in arriving </a:t>
              </a:r>
            </a:p>
            <a:p>
              <a:pPr defTabSz="685800">
                <a:defRPr/>
              </a:pPr>
              <a:r>
                <a:rPr lang="en-US" altLang="en-US" sz="1050" kern="0" dirty="0">
                  <a:solidFill>
                    <a:srgbClr val="000000"/>
                  </a:solidFill>
                </a:rPr>
                <a:t>packet header</a:t>
              </a:r>
              <a:endParaRPr lang="en-US" altLang="en-US" sz="1350" kern="0" dirty="0">
                <a:solidFill>
                  <a:srgbClr val="000000"/>
                </a:solidFill>
              </a:endParaRPr>
            </a:p>
          </p:txBody>
        </p:sp>
      </p:grpSp>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a:xfrm>
            <a:off x="628650" y="1066907"/>
            <a:ext cx="8135339" cy="670967"/>
          </a:xfrm>
        </p:spPr>
        <p:txBody>
          <a:bodyPr>
            <a:normAutofit/>
          </a:bodyPr>
          <a:lstStyle/>
          <a:p>
            <a:r>
              <a:rPr lang="en-US" altLang="en-US" sz="3600" dirty="0">
                <a:latin typeface="+mn-lt"/>
                <a:cs typeface="Arial" panose="020B0604020202020204" pitchFamily="34" charset="0"/>
              </a:rPr>
              <a:t>Generalized forwarding: match plus action</a:t>
            </a:r>
          </a:p>
        </p:txBody>
      </p:sp>
      <p:sp>
        <p:nvSpPr>
          <p:cNvPr id="4" name="TextBox 257">
            <a:extLst>
              <a:ext uri="{FF2B5EF4-FFF2-40B4-BE49-F238E27FC236}">
                <a16:creationId xmlns:a16="http://schemas.microsoft.com/office/drawing/2014/main" id="{8EB40520-A927-A94E-975A-4093319F1CF3}"/>
              </a:ext>
            </a:extLst>
          </p:cNvPr>
          <p:cNvSpPr txBox="1">
            <a:spLocks noChangeArrowheads="1"/>
          </p:cNvSpPr>
          <p:nvPr/>
        </p:nvSpPr>
        <p:spPr bwMode="auto">
          <a:xfrm>
            <a:off x="635381" y="1770288"/>
            <a:ext cx="844473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i="1" dirty="0">
                <a:solidFill>
                  <a:prstClr val="black"/>
                </a:solidFill>
                <a:latin typeface="Calibri" panose="020F0502020204030204"/>
              </a:rPr>
              <a:t>Review:  </a:t>
            </a:r>
            <a:r>
              <a:rPr lang="en-US" altLang="en-US" sz="2100" dirty="0">
                <a:solidFill>
                  <a:prstClr val="black"/>
                </a:solidFill>
                <a:latin typeface="Calibri" panose="020F0502020204030204"/>
              </a:rPr>
              <a:t>each router contains a </a:t>
            </a:r>
            <a:r>
              <a:rPr lang="en-US" altLang="en-US" sz="2100" dirty="0">
                <a:solidFill>
                  <a:srgbClr val="CC0000"/>
                </a:solidFill>
                <a:latin typeface="Calibri" panose="020F0502020204030204"/>
              </a:rPr>
              <a:t>forwarding table </a:t>
            </a:r>
            <a:endParaRPr lang="en-US" altLang="en-US" sz="2100" dirty="0">
              <a:solidFill>
                <a:prstClr val="black"/>
              </a:solidFill>
              <a:latin typeface="Calibri" panose="020F0502020204030204"/>
            </a:endParaRPr>
          </a:p>
          <a:p>
            <a:pPr marL="342900" indent="-214313" defTabSz="685800" eaLnBrk="1" fontAlgn="auto" hangingPunct="1">
              <a:spcBef>
                <a:spcPts val="0"/>
              </a:spcBef>
              <a:spcAft>
                <a:spcPts val="0"/>
              </a:spcAft>
              <a:buClr>
                <a:srgbClr val="0013A3"/>
              </a:buClr>
              <a:buFont typeface="Wingdings" pitchFamily="2" charset="2"/>
              <a:buChar char="§"/>
              <a:defRPr/>
            </a:pPr>
            <a:r>
              <a:rPr lang="en-US" altLang="en-US" sz="2100" dirty="0">
                <a:solidFill>
                  <a:srgbClr val="CC0000"/>
                </a:solidFill>
                <a:latin typeface="Calibri" panose="020F0502020204030204"/>
              </a:rPr>
              <a:t>“match plus action” </a:t>
            </a:r>
            <a:r>
              <a:rPr lang="en-US" altLang="en-US" sz="2100" dirty="0">
                <a:solidFill>
                  <a:prstClr val="black"/>
                </a:solidFill>
                <a:latin typeface="Calibri" panose="020F0502020204030204"/>
              </a:rPr>
              <a:t>abstraction: match bits in arriving packet, take action</a:t>
            </a:r>
          </a:p>
        </p:txBody>
      </p:sp>
      <p:grpSp>
        <p:nvGrpSpPr>
          <p:cNvPr id="20" name="Group 19">
            <a:extLst>
              <a:ext uri="{FF2B5EF4-FFF2-40B4-BE49-F238E27FC236}">
                <a16:creationId xmlns:a16="http://schemas.microsoft.com/office/drawing/2014/main" id="{0FA1230D-A91E-6143-A1BD-6E58E7FDBB95}"/>
              </a:ext>
            </a:extLst>
          </p:cNvPr>
          <p:cNvGrpSpPr/>
          <p:nvPr/>
        </p:nvGrpSpPr>
        <p:grpSpPr>
          <a:xfrm>
            <a:off x="2692991" y="3959704"/>
            <a:ext cx="3900491" cy="1705249"/>
            <a:chOff x="3590654" y="4136605"/>
            <a:chExt cx="5200655" cy="2273665"/>
          </a:xfrm>
        </p:grpSpPr>
        <p:grpSp>
          <p:nvGrpSpPr>
            <p:cNvPr id="15" name="Group 14">
              <a:extLst>
                <a:ext uri="{FF2B5EF4-FFF2-40B4-BE49-F238E27FC236}">
                  <a16:creationId xmlns:a16="http://schemas.microsoft.com/office/drawing/2014/main" id="{C6DFFE27-3F70-6243-BA21-8DE3EBD8025C}"/>
                </a:ext>
              </a:extLst>
            </p:cNvPr>
            <p:cNvGrpSpPr/>
            <p:nvPr/>
          </p:nvGrpSpPr>
          <p:grpSpPr>
            <a:xfrm>
              <a:off x="3590654" y="4136605"/>
              <a:ext cx="1298579" cy="1913670"/>
              <a:chOff x="3590654" y="4136605"/>
              <a:chExt cx="1298579" cy="1913670"/>
            </a:xfrm>
          </p:grpSpPr>
          <p:sp>
            <p:nvSpPr>
              <p:cNvPr id="927" name="Freeform 926">
                <a:extLst>
                  <a:ext uri="{FF2B5EF4-FFF2-40B4-BE49-F238E27FC236}">
                    <a16:creationId xmlns:a16="http://schemas.microsoft.com/office/drawing/2014/main" id="{875BCAC4-B573-D54B-BF32-094096F89D98}"/>
                  </a:ext>
                </a:extLst>
              </p:cNvPr>
              <p:cNvSpPr/>
              <p:nvPr/>
            </p:nvSpPr>
            <p:spPr bwMode="auto">
              <a:xfrm>
                <a:off x="3608120" y="5291450"/>
                <a:ext cx="1281113" cy="758825"/>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0499" h="759828">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17" name="Rectangle 1016">
                <a:extLst>
                  <a:ext uri="{FF2B5EF4-FFF2-40B4-BE49-F238E27FC236}">
                    <a16:creationId xmlns:a16="http://schemas.microsoft.com/office/drawing/2014/main" id="{F031C840-E404-B943-9DD7-6487F36B8BC7}"/>
                  </a:ext>
                </a:extLst>
              </p:cNvPr>
              <p:cNvSpPr/>
              <p:nvPr/>
            </p:nvSpPr>
            <p:spPr bwMode="auto">
              <a:xfrm rot="10800000">
                <a:off x="3610169" y="4392826"/>
                <a:ext cx="1027113" cy="447284"/>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grpSp>
            <p:nvGrpSpPr>
              <p:cNvPr id="1018" name="Group 498">
                <a:extLst>
                  <a:ext uri="{FF2B5EF4-FFF2-40B4-BE49-F238E27FC236}">
                    <a16:creationId xmlns:a16="http://schemas.microsoft.com/office/drawing/2014/main" id="{11E4B476-A94C-6141-A48C-F22AAD7C573A}"/>
                  </a:ext>
                </a:extLst>
              </p:cNvPr>
              <p:cNvGrpSpPr>
                <a:grpSpLocks/>
              </p:cNvGrpSpPr>
              <p:nvPr/>
            </p:nvGrpSpPr>
            <p:grpSpPr bwMode="auto">
              <a:xfrm>
                <a:off x="3590654" y="5050151"/>
                <a:ext cx="1035050" cy="360363"/>
                <a:chOff x="4129067" y="3606966"/>
                <a:chExt cx="567968" cy="338045"/>
              </a:xfrm>
            </p:grpSpPr>
            <p:sp>
              <p:nvSpPr>
                <p:cNvPr id="1032" name="Oval 1031">
                  <a:extLst>
                    <a:ext uri="{FF2B5EF4-FFF2-40B4-BE49-F238E27FC236}">
                      <a16:creationId xmlns:a16="http://schemas.microsoft.com/office/drawing/2014/main" id="{6285E922-4389-6747-873A-ED742F93B7B8}"/>
                    </a:ext>
                  </a:extLst>
                </p:cNvPr>
                <p:cNvSpPr/>
                <p:nvPr/>
              </p:nvSpPr>
              <p:spPr>
                <a:xfrm>
                  <a:off x="4130589" y="3720144"/>
                  <a:ext cx="566445" cy="224867"/>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33" name="Rectangle 1032">
                  <a:extLst>
                    <a:ext uri="{FF2B5EF4-FFF2-40B4-BE49-F238E27FC236}">
                      <a16:creationId xmlns:a16="http://schemas.microsoft.com/office/drawing/2014/main" id="{681399F7-9F7D-8247-A86B-B0C42C17B7BD}"/>
                    </a:ext>
                  </a:extLst>
                </p:cNvPr>
                <p:cNvSpPr/>
                <p:nvPr/>
              </p:nvSpPr>
              <p:spPr>
                <a:xfrm>
                  <a:off x="4129067" y="3720144"/>
                  <a:ext cx="567968" cy="111689"/>
                </a:xfrm>
                <a:prstGeom prst="rect">
                  <a:avLst/>
                </a:prstGeom>
                <a:solidFill>
                  <a:srgbClr val="3333CC">
                    <a:lumMod val="7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34" name="Oval 1033">
                  <a:extLst>
                    <a:ext uri="{FF2B5EF4-FFF2-40B4-BE49-F238E27FC236}">
                      <a16:creationId xmlns:a16="http://schemas.microsoft.com/office/drawing/2014/main" id="{22EC9AA8-544A-8B4A-88A6-2074F49F53D4}"/>
                    </a:ext>
                  </a:extLst>
                </p:cNvPr>
                <p:cNvSpPr/>
                <p:nvPr/>
              </p:nvSpPr>
              <p:spPr>
                <a:xfrm>
                  <a:off x="4129067" y="3606966"/>
                  <a:ext cx="567968" cy="224867"/>
                </a:xfrm>
                <a:prstGeom prst="ellipse">
                  <a:avLst/>
                </a:prstGeom>
                <a:solidFill>
                  <a:srgbClr val="3333CC">
                    <a:lumMod val="60000"/>
                    <a:lumOff val="40000"/>
                    <a:alpha val="7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35" name="Straight Connector 1034">
                  <a:extLst>
                    <a:ext uri="{FF2B5EF4-FFF2-40B4-BE49-F238E27FC236}">
                      <a16:creationId xmlns:a16="http://schemas.microsoft.com/office/drawing/2014/main" id="{C98CC5A1-6137-AD47-8DAD-1CE3995E4F4E}"/>
                    </a:ext>
                  </a:extLst>
                </p:cNvPr>
                <p:cNvCxnSpPr/>
                <p:nvPr/>
              </p:nvCxnSpPr>
              <p:spPr>
                <a:xfrm>
                  <a:off x="4697035" y="3720144"/>
                  <a:ext cx="0" cy="111689"/>
                </a:xfrm>
                <a:prstGeom prst="line">
                  <a:avLst/>
                </a:prstGeom>
                <a:noFill/>
                <a:ln w="6350" cap="flat" cmpd="sng" algn="ctr">
                  <a:solidFill>
                    <a:srgbClr val="000000"/>
                  </a:solidFill>
                  <a:prstDash val="solid"/>
                </a:ln>
                <a:effectLst/>
              </p:spPr>
            </p:cxnSp>
            <p:cxnSp>
              <p:nvCxnSpPr>
                <p:cNvPr id="1036" name="Straight Connector 1035">
                  <a:extLst>
                    <a:ext uri="{FF2B5EF4-FFF2-40B4-BE49-F238E27FC236}">
                      <a16:creationId xmlns:a16="http://schemas.microsoft.com/office/drawing/2014/main" id="{D6DBD6DE-4277-6E43-8F0F-101EA88CC186}"/>
                    </a:ext>
                  </a:extLst>
                </p:cNvPr>
                <p:cNvCxnSpPr/>
                <p:nvPr/>
              </p:nvCxnSpPr>
              <p:spPr>
                <a:xfrm>
                  <a:off x="4129067" y="3720144"/>
                  <a:ext cx="0" cy="111689"/>
                </a:xfrm>
                <a:prstGeom prst="line">
                  <a:avLst/>
                </a:prstGeom>
                <a:noFill/>
                <a:ln w="6350" cap="flat" cmpd="sng" algn="ctr">
                  <a:solidFill>
                    <a:srgbClr val="000000"/>
                  </a:solidFill>
                  <a:prstDash val="solid"/>
                </a:ln>
                <a:effectLst/>
              </p:spPr>
            </p:cxnSp>
          </p:grpSp>
          <p:sp>
            <p:nvSpPr>
              <p:cNvPr id="1019" name="Rectangle 1018">
                <a:extLst>
                  <a:ext uri="{FF2B5EF4-FFF2-40B4-BE49-F238E27FC236}">
                    <a16:creationId xmlns:a16="http://schemas.microsoft.com/office/drawing/2014/main" id="{511198B5-F79E-C74D-B56E-01ADB1EAA4C1}"/>
                  </a:ext>
                </a:extLst>
              </p:cNvPr>
              <p:cNvSpPr/>
              <p:nvPr/>
            </p:nvSpPr>
            <p:spPr bwMode="auto">
              <a:xfrm>
                <a:off x="3592076" y="4851683"/>
                <a:ext cx="1028700" cy="336579"/>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20" name="Straight Connector 1019">
                <a:extLst>
                  <a:ext uri="{FF2B5EF4-FFF2-40B4-BE49-F238E27FC236}">
                    <a16:creationId xmlns:a16="http://schemas.microsoft.com/office/drawing/2014/main" id="{D3ADC60A-D45A-1346-84AC-B4714AE1CB27}"/>
                  </a:ext>
                </a:extLst>
              </p:cNvPr>
              <p:cNvCxnSpPr>
                <a:cxnSpLocks/>
              </p:cNvCxnSpPr>
              <p:nvPr/>
            </p:nvCxnSpPr>
            <p:spPr bwMode="auto">
              <a:xfrm>
                <a:off x="3609708" y="5243825"/>
                <a:ext cx="0" cy="0"/>
              </a:xfrm>
              <a:prstGeom prst="line">
                <a:avLst/>
              </a:prstGeom>
              <a:noFill/>
              <a:ln w="3175" cap="flat" cmpd="sng" algn="ctr">
                <a:solidFill>
                  <a:srgbClr val="000000"/>
                </a:solidFill>
                <a:prstDash val="sysDash"/>
              </a:ln>
              <a:effectLst/>
            </p:spPr>
          </p:cxnSp>
          <p:cxnSp>
            <p:nvCxnSpPr>
              <p:cNvPr id="1021" name="Straight Connector 1020">
                <a:extLst>
                  <a:ext uri="{FF2B5EF4-FFF2-40B4-BE49-F238E27FC236}">
                    <a16:creationId xmlns:a16="http://schemas.microsoft.com/office/drawing/2014/main" id="{8C732665-0AF3-514A-8491-058D584AA66C}"/>
                  </a:ext>
                </a:extLst>
              </p:cNvPr>
              <p:cNvCxnSpPr>
                <a:cxnSpLocks/>
              </p:cNvCxnSpPr>
              <p:nvPr/>
            </p:nvCxnSpPr>
            <p:spPr bwMode="auto">
              <a:xfrm>
                <a:off x="4625708" y="4396154"/>
                <a:ext cx="0" cy="806396"/>
              </a:xfrm>
              <a:prstGeom prst="line">
                <a:avLst/>
              </a:prstGeom>
              <a:noFill/>
              <a:ln w="3175" cap="flat" cmpd="sng" algn="ctr">
                <a:solidFill>
                  <a:srgbClr val="000000"/>
                </a:solidFill>
                <a:prstDash val="sysDash"/>
              </a:ln>
              <a:effectLst/>
            </p:spPr>
          </p:cxnSp>
          <p:grpSp>
            <p:nvGrpSpPr>
              <p:cNvPr id="1022" name="Group 504">
                <a:extLst>
                  <a:ext uri="{FF2B5EF4-FFF2-40B4-BE49-F238E27FC236}">
                    <a16:creationId xmlns:a16="http://schemas.microsoft.com/office/drawing/2014/main" id="{87E38306-3DC6-B044-991D-BEE6F6FD2E77}"/>
                  </a:ext>
                </a:extLst>
              </p:cNvPr>
              <p:cNvGrpSpPr>
                <a:grpSpLocks/>
              </p:cNvGrpSpPr>
              <p:nvPr/>
            </p:nvGrpSpPr>
            <p:grpSpPr bwMode="auto">
              <a:xfrm>
                <a:off x="3609241" y="4136605"/>
                <a:ext cx="1019909" cy="399123"/>
                <a:chOff x="2183302" y="1574638"/>
                <a:chExt cx="1200154" cy="430218"/>
              </a:xfrm>
            </p:grpSpPr>
            <p:sp>
              <p:nvSpPr>
                <p:cNvPr id="1023" name="Oval 1022">
                  <a:extLst>
                    <a:ext uri="{FF2B5EF4-FFF2-40B4-BE49-F238E27FC236}">
                      <a16:creationId xmlns:a16="http://schemas.microsoft.com/office/drawing/2014/main" id="{55E5FA1C-CAB4-8341-8DAA-EDAE9CFD84E2}"/>
                    </a:ext>
                  </a:extLst>
                </p:cNvPr>
                <p:cNvSpPr/>
                <p:nvPr/>
              </p:nvSpPr>
              <p:spPr bwMode="auto">
                <a:xfrm flipV="1">
                  <a:off x="2185125" y="1689286"/>
                  <a:ext cx="1196349" cy="314857"/>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algn="ctr" defTabSz="685800">
                    <a:defRPr/>
                  </a:pPr>
                  <a:endParaRPr lang="en-US" sz="1350" kern="0" dirty="0">
                    <a:ln>
                      <a:solidFill>
                        <a:srgbClr val="000000"/>
                      </a:solidFill>
                    </a:ln>
                    <a:solidFill>
                      <a:srgbClr val="FFFFFF"/>
                    </a:solidFill>
                    <a:latin typeface="Gill Sans MT"/>
                    <a:ea typeface="+mn-ea"/>
                  </a:endParaRPr>
                </a:p>
              </p:txBody>
            </p:sp>
            <p:sp>
              <p:nvSpPr>
                <p:cNvPr id="1024" name="Rectangle 1023">
                  <a:extLst>
                    <a:ext uri="{FF2B5EF4-FFF2-40B4-BE49-F238E27FC236}">
                      <a16:creationId xmlns:a16="http://schemas.microsoft.com/office/drawing/2014/main" id="{44108165-9E65-5F4A-BAAB-C6ACE38D3C65}"/>
                    </a:ext>
                  </a:extLst>
                </p:cNvPr>
                <p:cNvSpPr/>
                <p:nvPr/>
              </p:nvSpPr>
              <p:spPr bwMode="auto">
                <a:xfrm>
                  <a:off x="2183302" y="1735489"/>
                  <a:ext cx="1198172" cy="112938"/>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25" name="Oval 1024">
                  <a:extLst>
                    <a:ext uri="{FF2B5EF4-FFF2-40B4-BE49-F238E27FC236}">
                      <a16:creationId xmlns:a16="http://schemas.microsoft.com/office/drawing/2014/main" id="{5220D9A0-FC71-C848-AA4B-AC3EAD73DB6B}"/>
                    </a:ext>
                  </a:extLst>
                </p:cNvPr>
                <p:cNvSpPr>
                  <a:spLocks noChangeArrowheads="1"/>
                </p:cNvSpPr>
                <p:nvPr/>
              </p:nvSpPr>
              <p:spPr bwMode="auto">
                <a:xfrm flipV="1">
                  <a:off x="2183302" y="1574638"/>
                  <a:ext cx="1196349" cy="3148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026" name="Freeform 1025">
                  <a:extLst>
                    <a:ext uri="{FF2B5EF4-FFF2-40B4-BE49-F238E27FC236}">
                      <a16:creationId xmlns:a16="http://schemas.microsoft.com/office/drawing/2014/main" id="{0E8501FC-8102-1648-8958-E425AC1A0FB8}"/>
                    </a:ext>
                  </a:extLst>
                </p:cNvPr>
                <p:cNvSpPr/>
                <p:nvPr/>
              </p:nvSpPr>
              <p:spPr bwMode="auto">
                <a:xfrm>
                  <a:off x="2489684" y="1670464"/>
                  <a:ext cx="581761" cy="15742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27" name="Freeform 1026">
                  <a:extLst>
                    <a:ext uri="{FF2B5EF4-FFF2-40B4-BE49-F238E27FC236}">
                      <a16:creationId xmlns:a16="http://schemas.microsoft.com/office/drawing/2014/main" id="{AF49A14A-FE33-EB4B-ADEA-BA7B348615CA}"/>
                    </a:ext>
                  </a:extLst>
                </p:cNvPr>
                <p:cNvSpPr>
                  <a:spLocks/>
                </p:cNvSpPr>
                <p:nvPr/>
              </p:nvSpPr>
              <p:spPr bwMode="auto">
                <a:xfrm>
                  <a:off x="2429501" y="1629396"/>
                  <a:ext cx="703949" cy="111226"/>
                </a:xfrm>
                <a:custGeom>
                  <a:avLst/>
                  <a:gdLst>
                    <a:gd name="T0" fmla="*/ 0 w 3723451"/>
                    <a:gd name="T1" fmla="*/ 27211 h 932950"/>
                    <a:gd name="T2" fmla="*/ 123865 w 3723451"/>
                    <a:gd name="T3" fmla="*/ 321 h 932950"/>
                    <a:gd name="T4" fmla="*/ 350850 w 3723451"/>
                    <a:gd name="T5" fmla="*/ 62061 h 932950"/>
                    <a:gd name="T6" fmla="*/ 567397 w 3723451"/>
                    <a:gd name="T7" fmla="*/ 0 h 932950"/>
                    <a:gd name="T8" fmla="*/ 703949 w 3723451"/>
                    <a:gd name="T9" fmla="*/ 24696 h 932950"/>
                    <a:gd name="T10" fmla="*/ 602354 w 3723451"/>
                    <a:gd name="T11" fmla="*/ 55064 h 932950"/>
                    <a:gd name="T12" fmla="*/ 569645 w 3723451"/>
                    <a:gd name="T13" fmla="*/ 46877 h 932950"/>
                    <a:gd name="T14" fmla="*/ 354838 w 3723451"/>
                    <a:gd name="T15" fmla="*/ 111226 h 932950"/>
                    <a:gd name="T16" fmla="*/ 134536 w 3723451"/>
                    <a:gd name="T17" fmla="*/ 49244 h 932950"/>
                    <a:gd name="T18" fmla="*/ 98918 w 3723451"/>
                    <a:gd name="T19" fmla="*/ 55934 h 932950"/>
                    <a:gd name="T20" fmla="*/ 0 w 3723451"/>
                    <a:gd name="T21" fmla="*/ 27211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28" name="Freeform 1027">
                  <a:extLst>
                    <a:ext uri="{FF2B5EF4-FFF2-40B4-BE49-F238E27FC236}">
                      <a16:creationId xmlns:a16="http://schemas.microsoft.com/office/drawing/2014/main" id="{FEBE179E-02E9-C64E-89FC-F45503783F7D}"/>
                    </a:ext>
                  </a:extLst>
                </p:cNvPr>
                <p:cNvSpPr>
                  <a:spLocks/>
                </p:cNvSpPr>
                <p:nvPr/>
              </p:nvSpPr>
              <p:spPr bwMode="auto">
                <a:xfrm>
                  <a:off x="2892722" y="1723510"/>
                  <a:ext cx="257143" cy="95826"/>
                </a:xfrm>
                <a:custGeom>
                  <a:avLst/>
                  <a:gdLst>
                    <a:gd name="T0" fmla="*/ 0 w 1366596"/>
                    <a:gd name="T1" fmla="*/ 0 h 809868"/>
                    <a:gd name="T2" fmla="*/ 257143 w 1366596"/>
                    <a:gd name="T3" fmla="*/ 74047 h 809868"/>
                    <a:gd name="T4" fmla="*/ 162771 w 1366596"/>
                    <a:gd name="T5" fmla="*/ 95826 h 809868"/>
                    <a:gd name="T6" fmla="*/ 866 w 1366596"/>
                    <a:gd name="T7" fmla="*/ 5063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29" name="Freeform 1028">
                  <a:extLst>
                    <a:ext uri="{FF2B5EF4-FFF2-40B4-BE49-F238E27FC236}">
                      <a16:creationId xmlns:a16="http://schemas.microsoft.com/office/drawing/2014/main" id="{56DF1AAD-D538-1C44-A286-465AD81A046E}"/>
                    </a:ext>
                  </a:extLst>
                </p:cNvPr>
                <p:cNvSpPr>
                  <a:spLocks/>
                </p:cNvSpPr>
                <p:nvPr/>
              </p:nvSpPr>
              <p:spPr bwMode="auto">
                <a:xfrm>
                  <a:off x="2416736" y="1725222"/>
                  <a:ext cx="255318" cy="94114"/>
                </a:xfrm>
                <a:custGeom>
                  <a:avLst/>
                  <a:gdLst>
                    <a:gd name="T0" fmla="*/ 251832 w 1348191"/>
                    <a:gd name="T1" fmla="*/ 0 h 791462"/>
                    <a:gd name="T2" fmla="*/ 255318 w 1348191"/>
                    <a:gd name="T3" fmla="*/ 45415 h 791462"/>
                    <a:gd name="T4" fmla="*/ 92368 w 1348191"/>
                    <a:gd name="T5" fmla="*/ 94114 h 791462"/>
                    <a:gd name="T6" fmla="*/ 0 w 1348191"/>
                    <a:gd name="T7" fmla="*/ 72774 h 791462"/>
                    <a:gd name="T8" fmla="*/ 25183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1030" name="Straight Connector 1029">
                  <a:extLst>
                    <a:ext uri="{FF2B5EF4-FFF2-40B4-BE49-F238E27FC236}">
                      <a16:creationId xmlns:a16="http://schemas.microsoft.com/office/drawing/2014/main" id="{60701F8E-3F5A-734C-A498-AA55BCD5CFE1}"/>
                    </a:ext>
                  </a:extLst>
                </p:cNvPr>
                <p:cNvCxnSpPr>
                  <a:cxnSpLocks noChangeShapeType="1"/>
                  <a:endCxn id="1025" idx="2"/>
                </p:cNvCxnSpPr>
                <p:nvPr/>
              </p:nvCxnSpPr>
              <p:spPr bwMode="auto">
                <a:xfrm flipH="1" flipV="1">
                  <a:off x="2183302" y="1732067"/>
                  <a:ext cx="1823"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31" name="Straight Connector 1030">
                  <a:extLst>
                    <a:ext uri="{FF2B5EF4-FFF2-40B4-BE49-F238E27FC236}">
                      <a16:creationId xmlns:a16="http://schemas.microsoft.com/office/drawing/2014/main" id="{299ED768-B7C5-C447-A0CA-015C1D4D47F2}"/>
                    </a:ext>
                  </a:extLst>
                </p:cNvPr>
                <p:cNvCxnSpPr>
                  <a:cxnSpLocks noChangeShapeType="1"/>
                </p:cNvCxnSpPr>
                <p:nvPr/>
              </p:nvCxnSpPr>
              <p:spPr bwMode="auto">
                <a:xfrm flipH="1" flipV="1">
                  <a:off x="3381474" y="1728644"/>
                  <a:ext cx="1824"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cxnSp>
            <p:nvCxnSpPr>
              <p:cNvPr id="371" name="Straight Connector 370">
                <a:extLst>
                  <a:ext uri="{FF2B5EF4-FFF2-40B4-BE49-F238E27FC236}">
                    <a16:creationId xmlns:a16="http://schemas.microsoft.com/office/drawing/2014/main" id="{E67B7110-869C-734E-A391-2DDC0CCD436E}"/>
                  </a:ext>
                </a:extLst>
              </p:cNvPr>
              <p:cNvCxnSpPr>
                <a:cxnSpLocks/>
              </p:cNvCxnSpPr>
              <p:nvPr/>
            </p:nvCxnSpPr>
            <p:spPr bwMode="auto">
              <a:xfrm>
                <a:off x="3607035" y="4388133"/>
                <a:ext cx="0" cy="806396"/>
              </a:xfrm>
              <a:prstGeom prst="line">
                <a:avLst/>
              </a:prstGeom>
              <a:noFill/>
              <a:ln w="3175" cap="flat" cmpd="sng" algn="ctr">
                <a:solidFill>
                  <a:srgbClr val="000000"/>
                </a:solidFill>
                <a:prstDash val="sysDash"/>
              </a:ln>
              <a:effectLst/>
            </p:spPr>
          </p:cxnSp>
        </p:grpSp>
        <p:grpSp>
          <p:nvGrpSpPr>
            <p:cNvPr id="16" name="Group 15">
              <a:extLst>
                <a:ext uri="{FF2B5EF4-FFF2-40B4-BE49-F238E27FC236}">
                  <a16:creationId xmlns:a16="http://schemas.microsoft.com/office/drawing/2014/main" id="{C3C97C5E-8F3D-B348-9E9A-3D250616B623}"/>
                </a:ext>
              </a:extLst>
            </p:cNvPr>
            <p:cNvGrpSpPr/>
            <p:nvPr/>
          </p:nvGrpSpPr>
          <p:grpSpPr>
            <a:xfrm>
              <a:off x="5292458" y="4247514"/>
              <a:ext cx="573087" cy="2162756"/>
              <a:chOff x="5292458" y="4247514"/>
              <a:chExt cx="573087" cy="2162756"/>
            </a:xfrm>
          </p:grpSpPr>
          <p:sp>
            <p:nvSpPr>
              <p:cNvPr id="931" name="Freeform 930">
                <a:extLst>
                  <a:ext uri="{FF2B5EF4-FFF2-40B4-BE49-F238E27FC236}">
                    <a16:creationId xmlns:a16="http://schemas.microsoft.com/office/drawing/2014/main" id="{E78920D8-D684-1642-B41B-2CC538B9202E}"/>
                  </a:ext>
                </a:extLst>
              </p:cNvPr>
              <p:cNvSpPr/>
              <p:nvPr/>
            </p:nvSpPr>
            <p:spPr bwMode="auto">
              <a:xfrm>
                <a:off x="5292458" y="5394637"/>
                <a:ext cx="573087" cy="101563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 name="connsiteX0" fmla="*/ 403236 w 574100"/>
                  <a:gd name="connsiteY0" fmla="*/ 1215612 h 1215612"/>
                  <a:gd name="connsiteX1" fmla="*/ 0 w 574100"/>
                  <a:gd name="connsiteY1" fmla="*/ 4757 h 1215612"/>
                  <a:gd name="connsiteX2" fmla="*/ 502783 w 574100"/>
                  <a:gd name="connsiteY2" fmla="*/ 0 h 1215612"/>
                  <a:gd name="connsiteX3" fmla="*/ 574100 w 574100"/>
                  <a:gd name="connsiteY3" fmla="*/ 1014877 h 1215612"/>
                  <a:gd name="connsiteX4" fmla="*/ 403236 w 574100"/>
                  <a:gd name="connsiteY4" fmla="*/ 1215612 h 1215612"/>
                  <a:gd name="connsiteX0" fmla="*/ 333190 w 574100"/>
                  <a:gd name="connsiteY0" fmla="*/ 985695 h 1015244"/>
                  <a:gd name="connsiteX1" fmla="*/ 0 w 574100"/>
                  <a:gd name="connsiteY1" fmla="*/ 4757 h 1015244"/>
                  <a:gd name="connsiteX2" fmla="*/ 502783 w 574100"/>
                  <a:gd name="connsiteY2" fmla="*/ 0 h 1015244"/>
                  <a:gd name="connsiteX3" fmla="*/ 574100 w 574100"/>
                  <a:gd name="connsiteY3" fmla="*/ 1014877 h 1015244"/>
                  <a:gd name="connsiteX4" fmla="*/ 333190 w 574100"/>
                  <a:gd name="connsiteY4" fmla="*/ 985695 h 1015244"/>
                  <a:gd name="connsiteX0" fmla="*/ 323648 w 574100"/>
                  <a:gd name="connsiteY0" fmla="*/ 1001558 h 1015510"/>
                  <a:gd name="connsiteX1" fmla="*/ 0 w 574100"/>
                  <a:gd name="connsiteY1" fmla="*/ 4757 h 1015510"/>
                  <a:gd name="connsiteX2" fmla="*/ 502783 w 574100"/>
                  <a:gd name="connsiteY2" fmla="*/ 0 h 1015510"/>
                  <a:gd name="connsiteX3" fmla="*/ 574100 w 574100"/>
                  <a:gd name="connsiteY3" fmla="*/ 1014877 h 1015510"/>
                  <a:gd name="connsiteX4" fmla="*/ 323648 w 574100"/>
                  <a:gd name="connsiteY4" fmla="*/ 1001558 h 1015510"/>
                  <a:gd name="connsiteX0" fmla="*/ 323648 w 574100"/>
                  <a:gd name="connsiteY0" fmla="*/ 1001558 h 1015194"/>
                  <a:gd name="connsiteX1" fmla="*/ 0 w 574100"/>
                  <a:gd name="connsiteY1" fmla="*/ 4757 h 1015194"/>
                  <a:gd name="connsiteX2" fmla="*/ 502783 w 574100"/>
                  <a:gd name="connsiteY2" fmla="*/ 0 h 1015194"/>
                  <a:gd name="connsiteX3" fmla="*/ 574100 w 574100"/>
                  <a:gd name="connsiteY3" fmla="*/ 1014877 h 1015194"/>
                  <a:gd name="connsiteX4" fmla="*/ 323648 w 574100"/>
                  <a:gd name="connsiteY4" fmla="*/ 1001558 h 1015194"/>
                  <a:gd name="connsiteX0" fmla="*/ 323648 w 574100"/>
                  <a:gd name="connsiteY0" fmla="*/ 1001558 h 1014877"/>
                  <a:gd name="connsiteX1" fmla="*/ 0 w 574100"/>
                  <a:gd name="connsiteY1" fmla="*/ 4757 h 1014877"/>
                  <a:gd name="connsiteX2" fmla="*/ 502783 w 574100"/>
                  <a:gd name="connsiteY2" fmla="*/ 0 h 1014877"/>
                  <a:gd name="connsiteX3" fmla="*/ 574100 w 574100"/>
                  <a:gd name="connsiteY3" fmla="*/ 1014877 h 1014877"/>
                  <a:gd name="connsiteX4" fmla="*/ 323648 w 574100"/>
                  <a:gd name="connsiteY4" fmla="*/ 1001558 h 1014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100" h="1014877">
                    <a:moveTo>
                      <a:pt x="323648" y="1001558"/>
                    </a:moveTo>
                    <a:cubicBezTo>
                      <a:pt x="144359" y="448953"/>
                      <a:pt x="295574" y="908506"/>
                      <a:pt x="0" y="4757"/>
                    </a:cubicBezTo>
                    <a:cubicBezTo>
                      <a:pt x="166537" y="861"/>
                      <a:pt x="336246" y="3896"/>
                      <a:pt x="502783" y="0"/>
                    </a:cubicBezTo>
                    <a:cubicBezTo>
                      <a:pt x="555943" y="995541"/>
                      <a:pt x="537473" y="350120"/>
                      <a:pt x="574100" y="1014877"/>
                    </a:cubicBezTo>
                    <a:cubicBezTo>
                      <a:pt x="492318" y="996974"/>
                      <a:pt x="472137" y="977884"/>
                      <a:pt x="323648" y="1001558"/>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97" name="Rectangle 996">
                <a:extLst>
                  <a:ext uri="{FF2B5EF4-FFF2-40B4-BE49-F238E27FC236}">
                    <a16:creationId xmlns:a16="http://schemas.microsoft.com/office/drawing/2014/main" id="{7F242236-8B77-9144-8038-81B9BCAB1509}"/>
                  </a:ext>
                </a:extLst>
              </p:cNvPr>
              <p:cNvSpPr/>
              <p:nvPr/>
            </p:nvSpPr>
            <p:spPr bwMode="auto">
              <a:xfrm rot="10800000">
                <a:off x="5300268" y="4416668"/>
                <a:ext cx="498084" cy="353991"/>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98" name="Straight Connector 997">
                <a:extLst>
                  <a:ext uri="{FF2B5EF4-FFF2-40B4-BE49-F238E27FC236}">
                    <a16:creationId xmlns:a16="http://schemas.microsoft.com/office/drawing/2014/main" id="{855E433C-9E28-D243-A7F8-5DC166631717}"/>
                  </a:ext>
                </a:extLst>
              </p:cNvPr>
              <p:cNvCxnSpPr>
                <a:cxnSpLocks/>
                <a:stCxn id="1004" idx="3"/>
              </p:cNvCxnSpPr>
              <p:nvPr/>
            </p:nvCxnSpPr>
            <p:spPr bwMode="auto">
              <a:xfrm>
                <a:off x="5798598" y="4376078"/>
                <a:ext cx="11386" cy="969347"/>
              </a:xfrm>
              <a:prstGeom prst="line">
                <a:avLst/>
              </a:prstGeom>
              <a:noFill/>
              <a:ln w="3175" cap="flat" cmpd="sng" algn="ctr">
                <a:solidFill>
                  <a:srgbClr val="000000"/>
                </a:solidFill>
                <a:prstDash val="sysDash"/>
              </a:ln>
              <a:effectLst/>
            </p:spPr>
          </p:cxnSp>
          <p:grpSp>
            <p:nvGrpSpPr>
              <p:cNvPr id="999" name="Group 552">
                <a:extLst>
                  <a:ext uri="{FF2B5EF4-FFF2-40B4-BE49-F238E27FC236}">
                    <a16:creationId xmlns:a16="http://schemas.microsoft.com/office/drawing/2014/main" id="{2095E3B0-B1DF-9747-A4B6-739AFCB17CA7}"/>
                  </a:ext>
                </a:extLst>
              </p:cNvPr>
              <p:cNvGrpSpPr>
                <a:grpSpLocks/>
              </p:cNvGrpSpPr>
              <p:nvPr/>
            </p:nvGrpSpPr>
            <p:grpSpPr bwMode="auto">
              <a:xfrm>
                <a:off x="5302369" y="5271607"/>
                <a:ext cx="507588" cy="221730"/>
                <a:chOff x="4128636" y="3606589"/>
                <a:chExt cx="568145" cy="338667"/>
              </a:xfrm>
            </p:grpSpPr>
            <p:sp>
              <p:nvSpPr>
                <p:cNvPr id="1012" name="Oval 1011">
                  <a:extLst>
                    <a:ext uri="{FF2B5EF4-FFF2-40B4-BE49-F238E27FC236}">
                      <a16:creationId xmlns:a16="http://schemas.microsoft.com/office/drawing/2014/main" id="{77BE98D0-B8F8-0542-81BA-550DCDDBED58}"/>
                    </a:ext>
                  </a:extLst>
                </p:cNvPr>
                <p:cNvSpPr/>
                <p:nvPr/>
              </p:nvSpPr>
              <p:spPr>
                <a:xfrm>
                  <a:off x="4128204" y="3719337"/>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13" name="Rectangle 1012">
                  <a:extLst>
                    <a:ext uri="{FF2B5EF4-FFF2-40B4-BE49-F238E27FC236}">
                      <a16:creationId xmlns:a16="http://schemas.microsoft.com/office/drawing/2014/main" id="{FF81DF11-B403-0242-9BBF-4028E5002511}"/>
                    </a:ext>
                  </a:extLst>
                </p:cNvPr>
                <p:cNvSpPr/>
                <p:nvPr/>
              </p:nvSpPr>
              <p:spPr>
                <a:xfrm>
                  <a:off x="4128204" y="3719337"/>
                  <a:ext cx="568606" cy="111537"/>
                </a:xfrm>
                <a:prstGeom prst="rect">
                  <a:avLst/>
                </a:prstGeom>
                <a:solidFill>
                  <a:srgbClr val="3333CC">
                    <a:lumMod val="7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14" name="Oval 1013">
                  <a:extLst>
                    <a:ext uri="{FF2B5EF4-FFF2-40B4-BE49-F238E27FC236}">
                      <a16:creationId xmlns:a16="http://schemas.microsoft.com/office/drawing/2014/main" id="{DA7CD07E-7BFA-EA40-A63C-19BD545F9FBB}"/>
                    </a:ext>
                  </a:extLst>
                </p:cNvPr>
                <p:cNvSpPr/>
                <p:nvPr/>
              </p:nvSpPr>
              <p:spPr>
                <a:xfrm>
                  <a:off x="4128204" y="3600527"/>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15" name="Straight Connector 1014">
                  <a:extLst>
                    <a:ext uri="{FF2B5EF4-FFF2-40B4-BE49-F238E27FC236}">
                      <a16:creationId xmlns:a16="http://schemas.microsoft.com/office/drawing/2014/main" id="{B2F8B11B-A555-1F4E-A7E6-540E16F7A0A8}"/>
                    </a:ext>
                  </a:extLst>
                </p:cNvPr>
                <p:cNvCxnSpPr/>
                <p:nvPr/>
              </p:nvCxnSpPr>
              <p:spPr>
                <a:xfrm>
                  <a:off x="4696810" y="3719337"/>
                  <a:ext cx="0" cy="111537"/>
                </a:xfrm>
                <a:prstGeom prst="line">
                  <a:avLst/>
                </a:prstGeom>
                <a:noFill/>
                <a:ln w="6350" cap="flat" cmpd="sng" algn="ctr">
                  <a:solidFill>
                    <a:srgbClr val="000000"/>
                  </a:solidFill>
                  <a:prstDash val="solid"/>
                </a:ln>
                <a:effectLst/>
              </p:spPr>
            </p:cxnSp>
            <p:cxnSp>
              <p:nvCxnSpPr>
                <p:cNvPr id="1016" name="Straight Connector 1015">
                  <a:extLst>
                    <a:ext uri="{FF2B5EF4-FFF2-40B4-BE49-F238E27FC236}">
                      <a16:creationId xmlns:a16="http://schemas.microsoft.com/office/drawing/2014/main" id="{DC5D2573-EDE8-D044-BD08-61DD678EC15B}"/>
                    </a:ext>
                  </a:extLst>
                </p:cNvPr>
                <p:cNvCxnSpPr/>
                <p:nvPr/>
              </p:nvCxnSpPr>
              <p:spPr>
                <a:xfrm>
                  <a:off x="4128204" y="3719337"/>
                  <a:ext cx="0" cy="111537"/>
                </a:xfrm>
                <a:prstGeom prst="line">
                  <a:avLst/>
                </a:prstGeom>
                <a:noFill/>
                <a:ln w="6350" cap="flat" cmpd="sng" algn="ctr">
                  <a:solidFill>
                    <a:srgbClr val="000000"/>
                  </a:solidFill>
                  <a:prstDash val="solid"/>
                </a:ln>
                <a:effectLst/>
              </p:spPr>
            </p:cxnSp>
          </p:grpSp>
          <p:sp>
            <p:nvSpPr>
              <p:cNvPr id="1000" name="Rectangle 999">
                <a:extLst>
                  <a:ext uri="{FF2B5EF4-FFF2-40B4-BE49-F238E27FC236}">
                    <a16:creationId xmlns:a16="http://schemas.microsoft.com/office/drawing/2014/main" id="{1CD2ADDF-DE6E-274D-9173-D493921DFE9F}"/>
                  </a:ext>
                </a:extLst>
              </p:cNvPr>
              <p:cNvSpPr/>
              <p:nvPr/>
            </p:nvSpPr>
            <p:spPr bwMode="auto">
              <a:xfrm>
                <a:off x="5303570" y="4851684"/>
                <a:ext cx="496888" cy="496916"/>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01" name="Straight Connector 1000">
                <a:extLst>
                  <a:ext uri="{FF2B5EF4-FFF2-40B4-BE49-F238E27FC236}">
                    <a16:creationId xmlns:a16="http://schemas.microsoft.com/office/drawing/2014/main" id="{3926DE25-E9FB-D540-98B7-27C7DBB56A43}"/>
                  </a:ext>
                </a:extLst>
              </p:cNvPr>
              <p:cNvCxnSpPr>
                <a:cxnSpLocks/>
                <a:stCxn id="1003" idx="2"/>
              </p:cNvCxnSpPr>
              <p:nvPr/>
            </p:nvCxnSpPr>
            <p:spPr bwMode="auto">
              <a:xfrm flipH="1">
                <a:off x="5297221" y="4407034"/>
                <a:ext cx="4739" cy="1032054"/>
              </a:xfrm>
              <a:prstGeom prst="line">
                <a:avLst/>
              </a:prstGeom>
              <a:noFill/>
              <a:ln w="3175" cap="flat" cmpd="sng" algn="ctr">
                <a:solidFill>
                  <a:srgbClr val="000000"/>
                </a:solidFill>
                <a:prstDash val="sysDash"/>
              </a:ln>
              <a:effectLst/>
            </p:spPr>
          </p:cxnSp>
          <p:grpSp>
            <p:nvGrpSpPr>
              <p:cNvPr id="1002" name="Group 538">
                <a:extLst>
                  <a:ext uri="{FF2B5EF4-FFF2-40B4-BE49-F238E27FC236}">
                    <a16:creationId xmlns:a16="http://schemas.microsoft.com/office/drawing/2014/main" id="{FA32E138-3569-9943-8F38-8BFBBEE94E0D}"/>
                  </a:ext>
                </a:extLst>
              </p:cNvPr>
              <p:cNvGrpSpPr>
                <a:grpSpLocks/>
              </p:cNvGrpSpPr>
              <p:nvPr/>
            </p:nvGrpSpPr>
            <p:grpSpPr bwMode="auto">
              <a:xfrm>
                <a:off x="5299734" y="4247514"/>
                <a:ext cx="498793" cy="248286"/>
                <a:chOff x="2183302" y="1564542"/>
                <a:chExt cx="1200154" cy="440314"/>
              </a:xfrm>
            </p:grpSpPr>
            <p:sp>
              <p:nvSpPr>
                <p:cNvPr id="1003" name="Oval 1002">
                  <a:extLst>
                    <a:ext uri="{FF2B5EF4-FFF2-40B4-BE49-F238E27FC236}">
                      <a16:creationId xmlns:a16="http://schemas.microsoft.com/office/drawing/2014/main" id="{172BF76E-3582-364D-ACA4-688518FFF091}"/>
                    </a:ext>
                  </a:extLst>
                </p:cNvPr>
                <p:cNvSpPr/>
                <p:nvPr/>
              </p:nvSpPr>
              <p:spPr bwMode="auto">
                <a:xfrm flipV="1">
                  <a:off x="2188659" y="1691189"/>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a:defRPr/>
                  </a:pPr>
                  <a:endParaRPr lang="en-US" sz="1350" kern="0" dirty="0">
                    <a:ln>
                      <a:solidFill>
                        <a:srgbClr val="000000"/>
                      </a:solidFill>
                    </a:ln>
                    <a:solidFill>
                      <a:srgbClr val="FFFFFF"/>
                    </a:solidFill>
                    <a:latin typeface="Gill Sans MT"/>
                    <a:ea typeface="+mn-ea"/>
                  </a:endParaRPr>
                </a:p>
              </p:txBody>
            </p:sp>
            <p:sp>
              <p:nvSpPr>
                <p:cNvPr id="1004" name="Rectangle 1003">
                  <a:extLst>
                    <a:ext uri="{FF2B5EF4-FFF2-40B4-BE49-F238E27FC236}">
                      <a16:creationId xmlns:a16="http://schemas.microsoft.com/office/drawing/2014/main" id="{3A78A2F4-E393-6E42-BE3F-0FCA6714AEB4}"/>
                    </a:ext>
                  </a:extLst>
                </p:cNvPr>
                <p:cNvSpPr/>
                <p:nvPr/>
              </p:nvSpPr>
              <p:spPr bwMode="auto">
                <a:xfrm>
                  <a:off x="2184877" y="1736233"/>
                  <a:ext cx="1198749"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05" name="Oval 1004">
                  <a:extLst>
                    <a:ext uri="{FF2B5EF4-FFF2-40B4-BE49-F238E27FC236}">
                      <a16:creationId xmlns:a16="http://schemas.microsoft.com/office/drawing/2014/main" id="{940143FD-143D-914C-BE2C-37F2F665D24A}"/>
                    </a:ext>
                  </a:extLst>
                </p:cNvPr>
                <p:cNvSpPr>
                  <a:spLocks noChangeArrowheads="1"/>
                </p:cNvSpPr>
                <p:nvPr/>
              </p:nvSpPr>
              <p:spPr bwMode="auto">
                <a:xfrm flipV="1">
                  <a:off x="2184877" y="1564501"/>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1006" name="Freeform 1005">
                  <a:extLst>
                    <a:ext uri="{FF2B5EF4-FFF2-40B4-BE49-F238E27FC236}">
                      <a16:creationId xmlns:a16="http://schemas.microsoft.com/office/drawing/2014/main" id="{E3E8B10C-6B82-EC4C-A959-82D1FA770D43}"/>
                    </a:ext>
                  </a:extLst>
                </p:cNvPr>
                <p:cNvSpPr/>
                <p:nvPr/>
              </p:nvSpPr>
              <p:spPr bwMode="auto">
                <a:xfrm>
                  <a:off x="2491182" y="1671482"/>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1007" name="Freeform 1006">
                  <a:extLst>
                    <a:ext uri="{FF2B5EF4-FFF2-40B4-BE49-F238E27FC236}">
                      <a16:creationId xmlns:a16="http://schemas.microsoft.com/office/drawing/2014/main" id="{0B23900C-40C2-5447-A8A5-DB9E4C1FBD25}"/>
                    </a:ext>
                  </a:extLst>
                </p:cNvPr>
                <p:cNvSpPr>
                  <a:spLocks/>
                </p:cNvSpPr>
                <p:nvPr/>
              </p:nvSpPr>
              <p:spPr bwMode="auto">
                <a:xfrm>
                  <a:off x="2430678" y="1629252"/>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08" name="Freeform 1007">
                  <a:extLst>
                    <a:ext uri="{FF2B5EF4-FFF2-40B4-BE49-F238E27FC236}">
                      <a16:creationId xmlns:a16="http://schemas.microsoft.com/office/drawing/2014/main" id="{8EDB510B-0DD2-AE4F-82C5-7A7D8DC924A6}"/>
                    </a:ext>
                  </a:extLst>
                </p:cNvPr>
                <p:cNvSpPr>
                  <a:spLocks/>
                </p:cNvSpPr>
                <p:nvPr/>
              </p:nvSpPr>
              <p:spPr bwMode="auto">
                <a:xfrm>
                  <a:off x="2892025" y="1722158"/>
                  <a:ext cx="260925" cy="95720"/>
                </a:xfrm>
                <a:custGeom>
                  <a:avLst/>
                  <a:gdLst>
                    <a:gd name="T0" fmla="*/ 0 w 1366596"/>
                    <a:gd name="T1" fmla="*/ 0 h 809868"/>
                    <a:gd name="T2" fmla="*/ 260925 w 1366596"/>
                    <a:gd name="T3" fmla="*/ 73965 h 809868"/>
                    <a:gd name="T4" fmla="*/ 165165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1009" name="Freeform 1008">
                  <a:extLst>
                    <a:ext uri="{FF2B5EF4-FFF2-40B4-BE49-F238E27FC236}">
                      <a16:creationId xmlns:a16="http://schemas.microsoft.com/office/drawing/2014/main" id="{8DBE17FA-57C2-EB4B-A9B7-514F4336E298}"/>
                    </a:ext>
                  </a:extLst>
                </p:cNvPr>
                <p:cNvSpPr>
                  <a:spLocks/>
                </p:cNvSpPr>
                <p:nvPr/>
              </p:nvSpPr>
              <p:spPr bwMode="auto">
                <a:xfrm>
                  <a:off x="2419332" y="1724972"/>
                  <a:ext cx="253364" cy="95720"/>
                </a:xfrm>
                <a:custGeom>
                  <a:avLst/>
                  <a:gdLst>
                    <a:gd name="T0" fmla="*/ 249905 w 1348191"/>
                    <a:gd name="T1" fmla="*/ 0 h 791462"/>
                    <a:gd name="T2" fmla="*/ 253364 w 1348191"/>
                    <a:gd name="T3" fmla="*/ 46190 h 791462"/>
                    <a:gd name="T4" fmla="*/ 91661 w 1348191"/>
                    <a:gd name="T5" fmla="*/ 95720 h 791462"/>
                    <a:gd name="T6" fmla="*/ 0 w 1348191"/>
                    <a:gd name="T7" fmla="*/ 74016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1010" name="Straight Connector 1009">
                  <a:extLst>
                    <a:ext uri="{FF2B5EF4-FFF2-40B4-BE49-F238E27FC236}">
                      <a16:creationId xmlns:a16="http://schemas.microsoft.com/office/drawing/2014/main" id="{6D72BFF1-097B-E940-AAD0-E8A2E1D2A096}"/>
                    </a:ext>
                  </a:extLst>
                </p:cNvPr>
                <p:cNvCxnSpPr>
                  <a:cxnSpLocks noChangeShapeType="1"/>
                  <a:endCxn id="1005" idx="2"/>
                </p:cNvCxnSpPr>
                <p:nvPr/>
              </p:nvCxnSpPr>
              <p:spPr bwMode="auto">
                <a:xfrm flipH="1" flipV="1">
                  <a:off x="2184877" y="172215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11" name="Straight Connector 1010">
                  <a:extLst>
                    <a:ext uri="{FF2B5EF4-FFF2-40B4-BE49-F238E27FC236}">
                      <a16:creationId xmlns:a16="http://schemas.microsoft.com/office/drawing/2014/main" id="{088863E0-982B-8A4D-853F-851CE3F1F144}"/>
                    </a:ext>
                  </a:extLst>
                </p:cNvPr>
                <p:cNvCxnSpPr>
                  <a:cxnSpLocks noChangeShapeType="1"/>
                </p:cNvCxnSpPr>
                <p:nvPr/>
              </p:nvCxnSpPr>
              <p:spPr bwMode="auto">
                <a:xfrm flipH="1" flipV="1">
                  <a:off x="3379842" y="172778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17" name="Group 16">
              <a:extLst>
                <a:ext uri="{FF2B5EF4-FFF2-40B4-BE49-F238E27FC236}">
                  <a16:creationId xmlns:a16="http://schemas.microsoft.com/office/drawing/2014/main" id="{A711EF0F-FDD8-CC4B-B701-3F459FFDE65F}"/>
                </a:ext>
              </a:extLst>
            </p:cNvPr>
            <p:cNvGrpSpPr/>
            <p:nvPr/>
          </p:nvGrpSpPr>
          <p:grpSpPr>
            <a:xfrm>
              <a:off x="6071920" y="4247514"/>
              <a:ext cx="520674" cy="1626550"/>
              <a:chOff x="6071920" y="4247514"/>
              <a:chExt cx="520674" cy="1626550"/>
            </a:xfrm>
          </p:grpSpPr>
          <p:sp>
            <p:nvSpPr>
              <p:cNvPr id="930" name="Freeform 929">
                <a:extLst>
                  <a:ext uri="{FF2B5EF4-FFF2-40B4-BE49-F238E27FC236}">
                    <a16:creationId xmlns:a16="http://schemas.microsoft.com/office/drawing/2014/main" id="{BD4E8E8A-5281-2546-8825-0786245B15DA}"/>
                  </a:ext>
                </a:extLst>
              </p:cNvPr>
              <p:cNvSpPr/>
              <p:nvPr/>
            </p:nvSpPr>
            <p:spPr bwMode="auto">
              <a:xfrm>
                <a:off x="6071920" y="5431150"/>
                <a:ext cx="514350" cy="44291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7341"/>
                  <a:gd name="connsiteX1" fmla="*/ 0 w 514180"/>
                  <a:gd name="connsiteY1" fmla="*/ 0 h 577341"/>
                  <a:gd name="connsiteX2" fmla="*/ 514180 w 514180"/>
                  <a:gd name="connsiteY2" fmla="*/ 10891 h 577341"/>
                  <a:gd name="connsiteX3" fmla="*/ 404259 w 514180"/>
                  <a:gd name="connsiteY3" fmla="*/ 386400 h 577341"/>
                  <a:gd name="connsiteX4" fmla="*/ 135770 w 514180"/>
                  <a:gd name="connsiteY4" fmla="*/ 577341 h 577341"/>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02193 h 402193"/>
                  <a:gd name="connsiteX1" fmla="*/ 0 w 514180"/>
                  <a:gd name="connsiteY1" fmla="*/ 0 h 402193"/>
                  <a:gd name="connsiteX2" fmla="*/ 514180 w 514180"/>
                  <a:gd name="connsiteY2" fmla="*/ 10891 h 402193"/>
                  <a:gd name="connsiteX3" fmla="*/ 404259 w 514180"/>
                  <a:gd name="connsiteY3" fmla="*/ 386400 h 402193"/>
                  <a:gd name="connsiteX4" fmla="*/ 100781 w 514180"/>
                  <a:gd name="connsiteY4" fmla="*/ 402193 h 402193"/>
                  <a:gd name="connsiteX0" fmla="*/ 100781 w 514180"/>
                  <a:gd name="connsiteY0" fmla="*/ 402193 h 425001"/>
                  <a:gd name="connsiteX1" fmla="*/ 0 w 514180"/>
                  <a:gd name="connsiteY1" fmla="*/ 0 h 425001"/>
                  <a:gd name="connsiteX2" fmla="*/ 514180 w 514180"/>
                  <a:gd name="connsiteY2" fmla="*/ 10891 h 425001"/>
                  <a:gd name="connsiteX3" fmla="*/ 448695 w 514180"/>
                  <a:gd name="connsiteY3" fmla="*/ 424553 h 425001"/>
                  <a:gd name="connsiteX4" fmla="*/ 100781 w 514180"/>
                  <a:gd name="connsiteY4" fmla="*/ 402193 h 425001"/>
                  <a:gd name="connsiteX0" fmla="*/ 100781 w 514180"/>
                  <a:gd name="connsiteY0" fmla="*/ 402193 h 425001"/>
                  <a:gd name="connsiteX1" fmla="*/ 0 w 514180"/>
                  <a:gd name="connsiteY1" fmla="*/ 0 h 425001"/>
                  <a:gd name="connsiteX2" fmla="*/ 514180 w 514180"/>
                  <a:gd name="connsiteY2" fmla="*/ 10891 h 425001"/>
                  <a:gd name="connsiteX3" fmla="*/ 448695 w 514180"/>
                  <a:gd name="connsiteY3" fmla="*/ 424553 h 425001"/>
                  <a:gd name="connsiteX4" fmla="*/ 100781 w 514180"/>
                  <a:gd name="connsiteY4" fmla="*/ 402193 h 425001"/>
                  <a:gd name="connsiteX0" fmla="*/ 100781 w 514180"/>
                  <a:gd name="connsiteY0" fmla="*/ 402193 h 424553"/>
                  <a:gd name="connsiteX1" fmla="*/ 0 w 514180"/>
                  <a:gd name="connsiteY1" fmla="*/ 0 h 424553"/>
                  <a:gd name="connsiteX2" fmla="*/ 514180 w 514180"/>
                  <a:gd name="connsiteY2" fmla="*/ 10891 h 424553"/>
                  <a:gd name="connsiteX3" fmla="*/ 448695 w 514180"/>
                  <a:gd name="connsiteY3" fmla="*/ 424553 h 424553"/>
                  <a:gd name="connsiteX4" fmla="*/ 100781 w 514180"/>
                  <a:gd name="connsiteY4" fmla="*/ 402193 h 424553"/>
                  <a:gd name="connsiteX0" fmla="*/ 110303 w 514180"/>
                  <a:gd name="connsiteY0" fmla="*/ 443525 h 443525"/>
                  <a:gd name="connsiteX1" fmla="*/ 0 w 514180"/>
                  <a:gd name="connsiteY1" fmla="*/ 0 h 443525"/>
                  <a:gd name="connsiteX2" fmla="*/ 514180 w 514180"/>
                  <a:gd name="connsiteY2" fmla="*/ 10891 h 443525"/>
                  <a:gd name="connsiteX3" fmla="*/ 448695 w 514180"/>
                  <a:gd name="connsiteY3" fmla="*/ 424553 h 443525"/>
                  <a:gd name="connsiteX4" fmla="*/ 110303 w 514180"/>
                  <a:gd name="connsiteY4" fmla="*/ 443525 h 443525"/>
                  <a:gd name="connsiteX0" fmla="*/ 110303 w 514180"/>
                  <a:gd name="connsiteY0" fmla="*/ 443525 h 443525"/>
                  <a:gd name="connsiteX1" fmla="*/ 0 w 514180"/>
                  <a:gd name="connsiteY1" fmla="*/ 0 h 443525"/>
                  <a:gd name="connsiteX2" fmla="*/ 514180 w 514180"/>
                  <a:gd name="connsiteY2" fmla="*/ 10891 h 443525"/>
                  <a:gd name="connsiteX3" fmla="*/ 448695 w 514180"/>
                  <a:gd name="connsiteY3" fmla="*/ 424553 h 443525"/>
                  <a:gd name="connsiteX4" fmla="*/ 110303 w 514180"/>
                  <a:gd name="connsiteY4" fmla="*/ 443525 h 443525"/>
                  <a:gd name="connsiteX0" fmla="*/ 110303 w 514180"/>
                  <a:gd name="connsiteY0" fmla="*/ 443525 h 443525"/>
                  <a:gd name="connsiteX1" fmla="*/ 0 w 514180"/>
                  <a:gd name="connsiteY1" fmla="*/ 0 h 443525"/>
                  <a:gd name="connsiteX2" fmla="*/ 514180 w 514180"/>
                  <a:gd name="connsiteY2" fmla="*/ 10891 h 443525"/>
                  <a:gd name="connsiteX3" fmla="*/ 448695 w 514180"/>
                  <a:gd name="connsiteY3" fmla="*/ 424553 h 443525"/>
                  <a:gd name="connsiteX4" fmla="*/ 110303 w 514180"/>
                  <a:gd name="connsiteY4" fmla="*/ 443525 h 44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443525">
                    <a:moveTo>
                      <a:pt x="110303" y="443525"/>
                    </a:moveTo>
                    <a:cubicBezTo>
                      <a:pt x="70106" y="235553"/>
                      <a:pt x="112501" y="273531"/>
                      <a:pt x="0" y="0"/>
                    </a:cubicBezTo>
                    <a:lnTo>
                      <a:pt x="514180" y="10891"/>
                    </a:lnTo>
                    <a:cubicBezTo>
                      <a:pt x="417353" y="348331"/>
                      <a:pt x="456724" y="233015"/>
                      <a:pt x="448695" y="424553"/>
                    </a:cubicBezTo>
                    <a:cubicBezTo>
                      <a:pt x="373684" y="393884"/>
                      <a:pt x="178402" y="416624"/>
                      <a:pt x="110303" y="443525"/>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77" name="Rectangle 976">
                <a:extLst>
                  <a:ext uri="{FF2B5EF4-FFF2-40B4-BE49-F238E27FC236}">
                    <a16:creationId xmlns:a16="http://schemas.microsoft.com/office/drawing/2014/main" id="{B0F9C3E9-A467-3F42-B81A-4399A9B977B8}"/>
                  </a:ext>
                </a:extLst>
              </p:cNvPr>
              <p:cNvSpPr/>
              <p:nvPr/>
            </p:nvSpPr>
            <p:spPr bwMode="auto">
              <a:xfrm rot="10800000">
                <a:off x="6074112" y="4416669"/>
                <a:ext cx="498084" cy="3644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78" name="Straight Connector 977">
                <a:extLst>
                  <a:ext uri="{FF2B5EF4-FFF2-40B4-BE49-F238E27FC236}">
                    <a16:creationId xmlns:a16="http://schemas.microsoft.com/office/drawing/2014/main" id="{20B4E373-A127-2049-BBD2-5D8AFBDD7F00}"/>
                  </a:ext>
                </a:extLst>
              </p:cNvPr>
              <p:cNvCxnSpPr>
                <a:cxnSpLocks/>
                <a:stCxn id="983" idx="6"/>
              </p:cNvCxnSpPr>
              <p:nvPr/>
            </p:nvCxnSpPr>
            <p:spPr bwMode="auto">
              <a:xfrm>
                <a:off x="6572320" y="4407033"/>
                <a:ext cx="15904" cy="943155"/>
              </a:xfrm>
              <a:prstGeom prst="line">
                <a:avLst/>
              </a:prstGeom>
              <a:noFill/>
              <a:ln w="3175" cap="flat" cmpd="sng" algn="ctr">
                <a:solidFill>
                  <a:srgbClr val="000000"/>
                </a:solidFill>
                <a:prstDash val="sysDash"/>
              </a:ln>
              <a:effectLst/>
            </p:spPr>
          </p:cxnSp>
          <p:grpSp>
            <p:nvGrpSpPr>
              <p:cNvPr id="979" name="Group 580">
                <a:extLst>
                  <a:ext uri="{FF2B5EF4-FFF2-40B4-BE49-F238E27FC236}">
                    <a16:creationId xmlns:a16="http://schemas.microsoft.com/office/drawing/2014/main" id="{3A9D8F64-E0EA-B742-94C4-1BEB4135EA82}"/>
                  </a:ext>
                </a:extLst>
              </p:cNvPr>
              <p:cNvGrpSpPr>
                <a:grpSpLocks/>
              </p:cNvGrpSpPr>
              <p:nvPr/>
            </p:nvGrpSpPr>
            <p:grpSpPr bwMode="auto">
              <a:xfrm>
                <a:off x="6085006" y="5276371"/>
                <a:ext cx="507588" cy="221730"/>
                <a:chOff x="4128636" y="3606589"/>
                <a:chExt cx="568145" cy="338667"/>
              </a:xfrm>
            </p:grpSpPr>
            <p:sp>
              <p:nvSpPr>
                <p:cNvPr id="992" name="Oval 991">
                  <a:extLst>
                    <a:ext uri="{FF2B5EF4-FFF2-40B4-BE49-F238E27FC236}">
                      <a16:creationId xmlns:a16="http://schemas.microsoft.com/office/drawing/2014/main" id="{74425C53-433E-6F47-8B0C-9F4C8E916E2E}"/>
                    </a:ext>
                  </a:extLst>
                </p:cNvPr>
                <p:cNvSpPr/>
                <p:nvPr/>
              </p:nvSpPr>
              <p:spPr>
                <a:xfrm>
                  <a:off x="4128204" y="3719336"/>
                  <a:ext cx="568606" cy="225498"/>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93" name="Rectangle 992">
                  <a:extLst>
                    <a:ext uri="{FF2B5EF4-FFF2-40B4-BE49-F238E27FC236}">
                      <a16:creationId xmlns:a16="http://schemas.microsoft.com/office/drawing/2014/main" id="{A0400564-35E9-0947-9C64-641EDF9EEAFA}"/>
                    </a:ext>
                  </a:extLst>
                </p:cNvPr>
                <p:cNvSpPr/>
                <p:nvPr/>
              </p:nvSpPr>
              <p:spPr>
                <a:xfrm>
                  <a:off x="4128204" y="3719336"/>
                  <a:ext cx="568606" cy="111537"/>
                </a:xfrm>
                <a:prstGeom prst="rect">
                  <a:avLst/>
                </a:prstGeom>
                <a:solidFill>
                  <a:srgbClr val="3333CC">
                    <a:lumMod val="7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94" name="Oval 993">
                  <a:extLst>
                    <a:ext uri="{FF2B5EF4-FFF2-40B4-BE49-F238E27FC236}">
                      <a16:creationId xmlns:a16="http://schemas.microsoft.com/office/drawing/2014/main" id="{56DE4CA9-0BD6-4744-AD30-73684267516E}"/>
                    </a:ext>
                  </a:extLst>
                </p:cNvPr>
                <p:cNvSpPr/>
                <p:nvPr/>
              </p:nvSpPr>
              <p:spPr>
                <a:xfrm>
                  <a:off x="4128204" y="3600524"/>
                  <a:ext cx="568606" cy="230349"/>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95" name="Straight Connector 994">
                  <a:extLst>
                    <a:ext uri="{FF2B5EF4-FFF2-40B4-BE49-F238E27FC236}">
                      <a16:creationId xmlns:a16="http://schemas.microsoft.com/office/drawing/2014/main" id="{0A9628A0-82B0-154A-AC0C-91A2584C6F9D}"/>
                    </a:ext>
                  </a:extLst>
                </p:cNvPr>
                <p:cNvCxnSpPr/>
                <p:nvPr/>
              </p:nvCxnSpPr>
              <p:spPr>
                <a:xfrm>
                  <a:off x="4696810" y="3719336"/>
                  <a:ext cx="0" cy="111537"/>
                </a:xfrm>
                <a:prstGeom prst="line">
                  <a:avLst/>
                </a:prstGeom>
                <a:noFill/>
                <a:ln w="6350" cap="flat" cmpd="sng" algn="ctr">
                  <a:solidFill>
                    <a:srgbClr val="000000"/>
                  </a:solidFill>
                  <a:prstDash val="solid"/>
                </a:ln>
                <a:effectLst/>
              </p:spPr>
            </p:cxnSp>
            <p:cxnSp>
              <p:nvCxnSpPr>
                <p:cNvPr id="996" name="Straight Connector 995">
                  <a:extLst>
                    <a:ext uri="{FF2B5EF4-FFF2-40B4-BE49-F238E27FC236}">
                      <a16:creationId xmlns:a16="http://schemas.microsoft.com/office/drawing/2014/main" id="{88F83DD9-96B0-3640-BF70-6737E76C9760}"/>
                    </a:ext>
                  </a:extLst>
                </p:cNvPr>
                <p:cNvCxnSpPr/>
                <p:nvPr/>
              </p:nvCxnSpPr>
              <p:spPr>
                <a:xfrm>
                  <a:off x="4128204" y="3719336"/>
                  <a:ext cx="0" cy="111537"/>
                </a:xfrm>
                <a:prstGeom prst="line">
                  <a:avLst/>
                </a:prstGeom>
                <a:noFill/>
                <a:ln w="6350" cap="flat" cmpd="sng" algn="ctr">
                  <a:solidFill>
                    <a:srgbClr val="000000"/>
                  </a:solidFill>
                  <a:prstDash val="solid"/>
                </a:ln>
                <a:effectLst/>
              </p:spPr>
            </p:cxnSp>
          </p:grpSp>
          <p:sp>
            <p:nvSpPr>
              <p:cNvPr id="980" name="Rectangle 979">
                <a:extLst>
                  <a:ext uri="{FF2B5EF4-FFF2-40B4-BE49-F238E27FC236}">
                    <a16:creationId xmlns:a16="http://schemas.microsoft.com/office/drawing/2014/main" id="{F00ED881-B944-FC48-9E88-0D81D2145925}"/>
                  </a:ext>
                </a:extLst>
              </p:cNvPr>
              <p:cNvSpPr/>
              <p:nvPr/>
            </p:nvSpPr>
            <p:spPr bwMode="auto">
              <a:xfrm>
                <a:off x="6086208" y="4886407"/>
                <a:ext cx="496887" cy="46695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81" name="Straight Connector 980">
                <a:extLst>
                  <a:ext uri="{FF2B5EF4-FFF2-40B4-BE49-F238E27FC236}">
                    <a16:creationId xmlns:a16="http://schemas.microsoft.com/office/drawing/2014/main" id="{7CCAB184-9AE2-7B4C-80D2-9640964D0371}"/>
                  </a:ext>
                </a:extLst>
              </p:cNvPr>
              <p:cNvCxnSpPr>
                <a:cxnSpLocks/>
                <a:stCxn id="984" idx="1"/>
              </p:cNvCxnSpPr>
              <p:nvPr/>
            </p:nvCxnSpPr>
            <p:spPr bwMode="auto">
              <a:xfrm>
                <a:off x="6074234" y="4376077"/>
                <a:ext cx="1229" cy="1067773"/>
              </a:xfrm>
              <a:prstGeom prst="line">
                <a:avLst/>
              </a:prstGeom>
              <a:noFill/>
              <a:ln w="3175" cap="flat" cmpd="sng" algn="ctr">
                <a:solidFill>
                  <a:srgbClr val="000000"/>
                </a:solidFill>
                <a:prstDash val="sysDash"/>
              </a:ln>
              <a:effectLst/>
            </p:spPr>
          </p:cxnSp>
          <p:grpSp>
            <p:nvGrpSpPr>
              <p:cNvPr id="982" name="Group 568">
                <a:extLst>
                  <a:ext uri="{FF2B5EF4-FFF2-40B4-BE49-F238E27FC236}">
                    <a16:creationId xmlns:a16="http://schemas.microsoft.com/office/drawing/2014/main" id="{2939B129-2D0A-934E-82CE-DFAE38C58EB2}"/>
                  </a:ext>
                </a:extLst>
              </p:cNvPr>
              <p:cNvGrpSpPr>
                <a:grpSpLocks/>
              </p:cNvGrpSpPr>
              <p:nvPr/>
            </p:nvGrpSpPr>
            <p:grpSpPr bwMode="auto">
              <a:xfrm>
                <a:off x="6073579" y="4247514"/>
                <a:ext cx="498671" cy="248286"/>
                <a:chOff x="2183302" y="1564542"/>
                <a:chExt cx="1200154" cy="440314"/>
              </a:xfrm>
            </p:grpSpPr>
            <p:sp>
              <p:nvSpPr>
                <p:cNvPr id="983" name="Oval 982">
                  <a:extLst>
                    <a:ext uri="{FF2B5EF4-FFF2-40B4-BE49-F238E27FC236}">
                      <a16:creationId xmlns:a16="http://schemas.microsoft.com/office/drawing/2014/main" id="{6A8F745B-1D4E-4F4F-BEFA-6144E5BDE2F6}"/>
                    </a:ext>
                  </a:extLst>
                </p:cNvPr>
                <p:cNvSpPr/>
                <p:nvPr/>
              </p:nvSpPr>
              <p:spPr bwMode="auto">
                <a:xfrm flipV="1">
                  <a:off x="2188659" y="1691187"/>
                  <a:ext cx="1194966" cy="312497"/>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a:defRPr/>
                  </a:pPr>
                  <a:endParaRPr lang="en-US" sz="1350" kern="0" dirty="0">
                    <a:ln>
                      <a:solidFill>
                        <a:srgbClr val="000000"/>
                      </a:solidFill>
                    </a:ln>
                    <a:solidFill>
                      <a:srgbClr val="FFFFFF"/>
                    </a:solidFill>
                    <a:latin typeface="Gill Sans MT"/>
                    <a:ea typeface="+mn-ea"/>
                  </a:endParaRPr>
                </a:p>
              </p:txBody>
            </p:sp>
            <p:sp>
              <p:nvSpPr>
                <p:cNvPr id="984" name="Rectangle 983">
                  <a:extLst>
                    <a:ext uri="{FF2B5EF4-FFF2-40B4-BE49-F238E27FC236}">
                      <a16:creationId xmlns:a16="http://schemas.microsoft.com/office/drawing/2014/main" id="{9C90A1F3-B2A8-9548-8E8B-D7BD57307905}"/>
                    </a:ext>
                  </a:extLst>
                </p:cNvPr>
                <p:cNvSpPr/>
                <p:nvPr/>
              </p:nvSpPr>
              <p:spPr bwMode="auto">
                <a:xfrm>
                  <a:off x="2184879" y="1736232"/>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85" name="Oval 984">
                  <a:extLst>
                    <a:ext uri="{FF2B5EF4-FFF2-40B4-BE49-F238E27FC236}">
                      <a16:creationId xmlns:a16="http://schemas.microsoft.com/office/drawing/2014/main" id="{629F401F-84D1-3A47-827D-8D943652DA3A}"/>
                    </a:ext>
                  </a:extLst>
                </p:cNvPr>
                <p:cNvSpPr>
                  <a:spLocks noChangeArrowheads="1"/>
                </p:cNvSpPr>
                <p:nvPr/>
              </p:nvSpPr>
              <p:spPr bwMode="auto">
                <a:xfrm flipV="1">
                  <a:off x="2184879" y="1564498"/>
                  <a:ext cx="1194966" cy="3124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986" name="Freeform 985">
                  <a:extLst>
                    <a:ext uri="{FF2B5EF4-FFF2-40B4-BE49-F238E27FC236}">
                      <a16:creationId xmlns:a16="http://schemas.microsoft.com/office/drawing/2014/main" id="{FF593AC5-08BE-8844-905E-205731B1D7EF}"/>
                    </a:ext>
                  </a:extLst>
                </p:cNvPr>
                <p:cNvSpPr/>
                <p:nvPr/>
              </p:nvSpPr>
              <p:spPr bwMode="auto">
                <a:xfrm>
                  <a:off x="2491182" y="1671479"/>
                  <a:ext cx="582357" cy="15484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87" name="Freeform 986">
                  <a:extLst>
                    <a:ext uri="{FF2B5EF4-FFF2-40B4-BE49-F238E27FC236}">
                      <a16:creationId xmlns:a16="http://schemas.microsoft.com/office/drawing/2014/main" id="{F0D77977-1A67-AA45-AB94-A8428B061207}"/>
                    </a:ext>
                  </a:extLst>
                </p:cNvPr>
                <p:cNvSpPr>
                  <a:spLocks/>
                </p:cNvSpPr>
                <p:nvPr/>
              </p:nvSpPr>
              <p:spPr bwMode="auto">
                <a:xfrm>
                  <a:off x="2430678" y="1629250"/>
                  <a:ext cx="703366" cy="109796"/>
                </a:xfrm>
                <a:custGeom>
                  <a:avLst/>
                  <a:gdLst>
                    <a:gd name="T0" fmla="*/ 0 w 3723451"/>
                    <a:gd name="T1" fmla="*/ 26862 h 932950"/>
                    <a:gd name="T2" fmla="*/ 123762 w 3723451"/>
                    <a:gd name="T3" fmla="*/ 317 h 932950"/>
                    <a:gd name="T4" fmla="*/ 350560 w 3723451"/>
                    <a:gd name="T5" fmla="*/ 61263 h 932950"/>
                    <a:gd name="T6" fmla="*/ 566927 w 3723451"/>
                    <a:gd name="T7" fmla="*/ 0 h 932950"/>
                    <a:gd name="T8" fmla="*/ 703366 w 3723451"/>
                    <a:gd name="T9" fmla="*/ 24379 h 932950"/>
                    <a:gd name="T10" fmla="*/ 601856 w 3723451"/>
                    <a:gd name="T11" fmla="*/ 54357 h 932950"/>
                    <a:gd name="T12" fmla="*/ 569173 w 3723451"/>
                    <a:gd name="T13" fmla="*/ 46274 h 932950"/>
                    <a:gd name="T14" fmla="*/ 354544 w 3723451"/>
                    <a:gd name="T15" fmla="*/ 109796 h 932950"/>
                    <a:gd name="T16" fmla="*/ 134425 w 3723451"/>
                    <a:gd name="T17" fmla="*/ 48611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988" name="Freeform 987">
                  <a:extLst>
                    <a:ext uri="{FF2B5EF4-FFF2-40B4-BE49-F238E27FC236}">
                      <a16:creationId xmlns:a16="http://schemas.microsoft.com/office/drawing/2014/main" id="{4A24255A-B649-9D44-AB80-CACD0B0D1B34}"/>
                    </a:ext>
                  </a:extLst>
                </p:cNvPr>
                <p:cNvSpPr>
                  <a:spLocks/>
                </p:cNvSpPr>
                <p:nvPr/>
              </p:nvSpPr>
              <p:spPr bwMode="auto">
                <a:xfrm>
                  <a:off x="2892025" y="1722154"/>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989" name="Freeform 988">
                  <a:extLst>
                    <a:ext uri="{FF2B5EF4-FFF2-40B4-BE49-F238E27FC236}">
                      <a16:creationId xmlns:a16="http://schemas.microsoft.com/office/drawing/2014/main" id="{21311582-6B5F-4441-B6D0-5D1DEBA1CB85}"/>
                    </a:ext>
                  </a:extLst>
                </p:cNvPr>
                <p:cNvSpPr>
                  <a:spLocks/>
                </p:cNvSpPr>
                <p:nvPr/>
              </p:nvSpPr>
              <p:spPr bwMode="auto">
                <a:xfrm>
                  <a:off x="2419334" y="1724970"/>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990" name="Straight Connector 989">
                  <a:extLst>
                    <a:ext uri="{FF2B5EF4-FFF2-40B4-BE49-F238E27FC236}">
                      <a16:creationId xmlns:a16="http://schemas.microsoft.com/office/drawing/2014/main" id="{C0FC5468-8C4C-AB42-AC33-6B20FED82305}"/>
                    </a:ext>
                  </a:extLst>
                </p:cNvPr>
                <p:cNvCxnSpPr>
                  <a:cxnSpLocks noChangeShapeType="1"/>
                  <a:endCxn id="985" idx="2"/>
                </p:cNvCxnSpPr>
                <p:nvPr/>
              </p:nvCxnSpPr>
              <p:spPr bwMode="auto">
                <a:xfrm flipH="1" flipV="1">
                  <a:off x="2184879" y="1722154"/>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91" name="Straight Connector 990">
                  <a:extLst>
                    <a:ext uri="{FF2B5EF4-FFF2-40B4-BE49-F238E27FC236}">
                      <a16:creationId xmlns:a16="http://schemas.microsoft.com/office/drawing/2014/main" id="{0641688B-D837-D241-8726-C138E7CF2444}"/>
                    </a:ext>
                  </a:extLst>
                </p:cNvPr>
                <p:cNvCxnSpPr>
                  <a:cxnSpLocks noChangeShapeType="1"/>
                </p:cNvCxnSpPr>
                <p:nvPr/>
              </p:nvCxnSpPr>
              <p:spPr bwMode="auto">
                <a:xfrm flipH="1" flipV="1">
                  <a:off x="3379845" y="1727785"/>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18" name="Group 17">
              <a:extLst>
                <a:ext uri="{FF2B5EF4-FFF2-40B4-BE49-F238E27FC236}">
                  <a16:creationId xmlns:a16="http://schemas.microsoft.com/office/drawing/2014/main" id="{988D8C64-AC3A-F247-8A7E-ED72D25D2B45}"/>
                </a:ext>
              </a:extLst>
            </p:cNvPr>
            <p:cNvGrpSpPr/>
            <p:nvPr/>
          </p:nvGrpSpPr>
          <p:grpSpPr>
            <a:xfrm>
              <a:off x="7108559" y="4371657"/>
              <a:ext cx="687386" cy="1948701"/>
              <a:chOff x="7108559" y="4371657"/>
              <a:chExt cx="687386" cy="1948701"/>
            </a:xfrm>
          </p:grpSpPr>
          <p:sp>
            <p:nvSpPr>
              <p:cNvPr id="929" name="Freeform 928">
                <a:extLst>
                  <a:ext uri="{FF2B5EF4-FFF2-40B4-BE49-F238E27FC236}">
                    <a16:creationId xmlns:a16="http://schemas.microsoft.com/office/drawing/2014/main" id="{218DF382-E11C-A94A-ABF5-F93EB0534196}"/>
                  </a:ext>
                </a:extLst>
              </p:cNvPr>
              <p:cNvSpPr/>
              <p:nvPr/>
            </p:nvSpPr>
            <p:spPr bwMode="auto">
              <a:xfrm>
                <a:off x="7108559" y="5401721"/>
                <a:ext cx="676275" cy="91863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675040"/>
                  <a:gd name="connsiteY0" fmla="*/ 894029 h 896577"/>
                  <a:gd name="connsiteX1" fmla="*/ 15664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 name="connsiteX0" fmla="*/ 0 w 675040"/>
                  <a:gd name="connsiteY0" fmla="*/ 894029 h 896577"/>
                  <a:gd name="connsiteX1" fmla="*/ 18662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40" h="918268">
                    <a:moveTo>
                      <a:pt x="0" y="894029"/>
                    </a:moveTo>
                    <a:cubicBezTo>
                      <a:pt x="111484" y="603455"/>
                      <a:pt x="127519" y="615275"/>
                      <a:pt x="186623" y="1724"/>
                    </a:cubicBezTo>
                    <a:cubicBezTo>
                      <a:pt x="431451" y="14348"/>
                      <a:pt x="449377" y="35256"/>
                      <a:pt x="675040" y="0"/>
                    </a:cubicBezTo>
                    <a:cubicBezTo>
                      <a:pt x="377586" y="467035"/>
                      <a:pt x="377233" y="643076"/>
                      <a:pt x="270986" y="918268"/>
                    </a:cubicBezTo>
                    <a:cubicBezTo>
                      <a:pt x="136701" y="889632"/>
                      <a:pt x="92525" y="908114"/>
                      <a:pt x="0" y="894029"/>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57" name="Rectangle 956">
                <a:extLst>
                  <a:ext uri="{FF2B5EF4-FFF2-40B4-BE49-F238E27FC236}">
                    <a16:creationId xmlns:a16="http://schemas.microsoft.com/office/drawing/2014/main" id="{B13372F6-7422-A24B-A223-1174A9270D3C}"/>
                  </a:ext>
                </a:extLst>
              </p:cNvPr>
              <p:cNvSpPr/>
              <p:nvPr/>
            </p:nvSpPr>
            <p:spPr bwMode="auto">
              <a:xfrm rot="10800000">
                <a:off x="7290624" y="4495800"/>
                <a:ext cx="498084" cy="41266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58" name="Straight Connector 957">
                <a:extLst>
                  <a:ext uri="{FF2B5EF4-FFF2-40B4-BE49-F238E27FC236}">
                    <a16:creationId xmlns:a16="http://schemas.microsoft.com/office/drawing/2014/main" id="{E33D11D1-8D4D-F14F-B9FC-6D2FB093890B}"/>
                  </a:ext>
                </a:extLst>
              </p:cNvPr>
              <p:cNvCxnSpPr>
                <a:cxnSpLocks/>
                <a:stCxn id="965" idx="6"/>
              </p:cNvCxnSpPr>
              <p:nvPr/>
            </p:nvCxnSpPr>
            <p:spPr bwMode="auto">
              <a:xfrm>
                <a:off x="7792404" y="4459742"/>
                <a:ext cx="3541" cy="872983"/>
              </a:xfrm>
              <a:prstGeom prst="line">
                <a:avLst/>
              </a:prstGeom>
              <a:noFill/>
              <a:ln w="3175" cap="flat" cmpd="sng" algn="ctr">
                <a:solidFill>
                  <a:srgbClr val="000000"/>
                </a:solidFill>
                <a:prstDash val="sysDash"/>
              </a:ln>
              <a:effectLst/>
            </p:spPr>
          </p:cxnSp>
          <p:grpSp>
            <p:nvGrpSpPr>
              <p:cNvPr id="959" name="Group 607">
                <a:extLst>
                  <a:ext uri="{FF2B5EF4-FFF2-40B4-BE49-F238E27FC236}">
                    <a16:creationId xmlns:a16="http://schemas.microsoft.com/office/drawing/2014/main" id="{12AC3864-6986-E84A-85C7-6895574A8804}"/>
                  </a:ext>
                </a:extLst>
              </p:cNvPr>
              <p:cNvGrpSpPr>
                <a:grpSpLocks/>
              </p:cNvGrpSpPr>
              <p:nvPr/>
            </p:nvGrpSpPr>
            <p:grpSpPr bwMode="auto">
              <a:xfrm>
                <a:off x="7288330" y="5258905"/>
                <a:ext cx="507588" cy="221730"/>
                <a:chOff x="4128636" y="3606589"/>
                <a:chExt cx="568145" cy="338667"/>
              </a:xfrm>
            </p:grpSpPr>
            <p:sp>
              <p:nvSpPr>
                <p:cNvPr id="972" name="Oval 971">
                  <a:extLst>
                    <a:ext uri="{FF2B5EF4-FFF2-40B4-BE49-F238E27FC236}">
                      <a16:creationId xmlns:a16="http://schemas.microsoft.com/office/drawing/2014/main" id="{1C323077-6C9C-1746-A411-C1B91269146D}"/>
                    </a:ext>
                  </a:extLst>
                </p:cNvPr>
                <p:cNvSpPr/>
                <p:nvPr/>
              </p:nvSpPr>
              <p:spPr>
                <a:xfrm>
                  <a:off x="4128205" y="3719341"/>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73" name="Rectangle 972">
                  <a:extLst>
                    <a:ext uri="{FF2B5EF4-FFF2-40B4-BE49-F238E27FC236}">
                      <a16:creationId xmlns:a16="http://schemas.microsoft.com/office/drawing/2014/main" id="{EE440552-5BF2-324D-8F4B-CBBAD5E25F28}"/>
                    </a:ext>
                  </a:extLst>
                </p:cNvPr>
                <p:cNvSpPr/>
                <p:nvPr/>
              </p:nvSpPr>
              <p:spPr>
                <a:xfrm>
                  <a:off x="4128205" y="3719341"/>
                  <a:ext cx="568606" cy="111537"/>
                </a:xfrm>
                <a:prstGeom prst="rect">
                  <a:avLst/>
                </a:prstGeom>
                <a:solidFill>
                  <a:srgbClr val="3333CC">
                    <a:lumMod val="7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74" name="Oval 973">
                  <a:extLst>
                    <a:ext uri="{FF2B5EF4-FFF2-40B4-BE49-F238E27FC236}">
                      <a16:creationId xmlns:a16="http://schemas.microsoft.com/office/drawing/2014/main" id="{352AAEDD-5767-E14C-A897-289B1F7E9906}"/>
                    </a:ext>
                  </a:extLst>
                </p:cNvPr>
                <p:cNvSpPr/>
                <p:nvPr/>
              </p:nvSpPr>
              <p:spPr>
                <a:xfrm>
                  <a:off x="4128205" y="3600530"/>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75" name="Straight Connector 974">
                  <a:extLst>
                    <a:ext uri="{FF2B5EF4-FFF2-40B4-BE49-F238E27FC236}">
                      <a16:creationId xmlns:a16="http://schemas.microsoft.com/office/drawing/2014/main" id="{703AA525-DABB-0145-AB73-1F4B2D918977}"/>
                    </a:ext>
                  </a:extLst>
                </p:cNvPr>
                <p:cNvCxnSpPr/>
                <p:nvPr/>
              </p:nvCxnSpPr>
              <p:spPr>
                <a:xfrm>
                  <a:off x="4696811" y="3719341"/>
                  <a:ext cx="0" cy="111537"/>
                </a:xfrm>
                <a:prstGeom prst="line">
                  <a:avLst/>
                </a:prstGeom>
                <a:noFill/>
                <a:ln w="6350" cap="flat" cmpd="sng" algn="ctr">
                  <a:solidFill>
                    <a:srgbClr val="000000"/>
                  </a:solidFill>
                  <a:prstDash val="solid"/>
                </a:ln>
                <a:effectLst/>
              </p:spPr>
            </p:cxnSp>
            <p:cxnSp>
              <p:nvCxnSpPr>
                <p:cNvPr id="976" name="Straight Connector 975">
                  <a:extLst>
                    <a:ext uri="{FF2B5EF4-FFF2-40B4-BE49-F238E27FC236}">
                      <a16:creationId xmlns:a16="http://schemas.microsoft.com/office/drawing/2014/main" id="{4325B995-3B4C-0C4D-A71A-517823605523}"/>
                    </a:ext>
                  </a:extLst>
                </p:cNvPr>
                <p:cNvCxnSpPr/>
                <p:nvPr/>
              </p:nvCxnSpPr>
              <p:spPr>
                <a:xfrm>
                  <a:off x="4128205" y="3719341"/>
                  <a:ext cx="0" cy="111537"/>
                </a:xfrm>
                <a:prstGeom prst="line">
                  <a:avLst/>
                </a:prstGeom>
                <a:noFill/>
                <a:ln w="6350" cap="flat" cmpd="sng" algn="ctr">
                  <a:solidFill>
                    <a:srgbClr val="000000"/>
                  </a:solidFill>
                  <a:prstDash val="solid"/>
                </a:ln>
                <a:effectLst/>
              </p:spPr>
            </p:cxnSp>
          </p:grpSp>
          <p:sp>
            <p:nvSpPr>
              <p:cNvPr id="960" name="Rectangle 959">
                <a:extLst>
                  <a:ext uri="{FF2B5EF4-FFF2-40B4-BE49-F238E27FC236}">
                    <a16:creationId xmlns:a16="http://schemas.microsoft.com/office/drawing/2014/main" id="{67DB7B11-56CE-334A-ADC8-5DC41B2B2B31}"/>
                  </a:ext>
                </a:extLst>
              </p:cNvPr>
              <p:cNvSpPr/>
              <p:nvPr/>
            </p:nvSpPr>
            <p:spPr bwMode="auto">
              <a:xfrm>
                <a:off x="7289533" y="4897315"/>
                <a:ext cx="496887" cy="438584"/>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61" name="Straight Connector 960">
                <a:extLst>
                  <a:ext uri="{FF2B5EF4-FFF2-40B4-BE49-F238E27FC236}">
                    <a16:creationId xmlns:a16="http://schemas.microsoft.com/office/drawing/2014/main" id="{A04F27FE-A553-BA4D-8784-D3F9D239406C}"/>
                  </a:ext>
                </a:extLst>
              </p:cNvPr>
              <p:cNvCxnSpPr>
                <a:cxnSpLocks/>
                <a:stCxn id="965" idx="2"/>
              </p:cNvCxnSpPr>
              <p:nvPr/>
            </p:nvCxnSpPr>
            <p:spPr bwMode="auto">
              <a:xfrm flipH="1">
                <a:off x="7283184" y="4459742"/>
                <a:ext cx="7570" cy="966646"/>
              </a:xfrm>
              <a:prstGeom prst="line">
                <a:avLst/>
              </a:prstGeom>
              <a:noFill/>
              <a:ln w="3175" cap="flat" cmpd="sng" algn="ctr">
                <a:solidFill>
                  <a:srgbClr val="000000"/>
                </a:solidFill>
                <a:prstDash val="sysDash"/>
              </a:ln>
              <a:effectLst/>
            </p:spPr>
          </p:cxnSp>
          <p:grpSp>
            <p:nvGrpSpPr>
              <p:cNvPr id="962" name="Group 595">
                <a:extLst>
                  <a:ext uri="{FF2B5EF4-FFF2-40B4-BE49-F238E27FC236}">
                    <a16:creationId xmlns:a16="http://schemas.microsoft.com/office/drawing/2014/main" id="{7A9DFB75-AD21-E042-816D-12C833D0B14E}"/>
                  </a:ext>
                </a:extLst>
              </p:cNvPr>
              <p:cNvGrpSpPr>
                <a:grpSpLocks/>
              </p:cNvGrpSpPr>
              <p:nvPr/>
            </p:nvGrpSpPr>
            <p:grpSpPr bwMode="auto">
              <a:xfrm>
                <a:off x="7290091" y="4371657"/>
                <a:ext cx="503828" cy="248286"/>
                <a:chOff x="2183302" y="1564542"/>
                <a:chExt cx="1200154" cy="440314"/>
              </a:xfrm>
            </p:grpSpPr>
            <p:sp>
              <p:nvSpPr>
                <p:cNvPr id="963" name="Oval 962">
                  <a:extLst>
                    <a:ext uri="{FF2B5EF4-FFF2-40B4-BE49-F238E27FC236}">
                      <a16:creationId xmlns:a16="http://schemas.microsoft.com/office/drawing/2014/main" id="{EBC1A268-4FE6-7C48-A7EB-5B88F961348E}"/>
                    </a:ext>
                  </a:extLst>
                </p:cNvPr>
                <p:cNvSpPr/>
                <p:nvPr/>
              </p:nvSpPr>
              <p:spPr bwMode="auto">
                <a:xfrm flipV="1">
                  <a:off x="2188662" y="1691192"/>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a:defRPr/>
                  </a:pPr>
                  <a:endParaRPr lang="en-US" sz="1350" kern="0" dirty="0">
                    <a:ln>
                      <a:solidFill>
                        <a:srgbClr val="000000"/>
                      </a:solidFill>
                    </a:ln>
                    <a:solidFill>
                      <a:srgbClr val="FFFFFF"/>
                    </a:solidFill>
                    <a:latin typeface="Gill Sans MT"/>
                    <a:ea typeface="+mn-ea"/>
                  </a:endParaRPr>
                </a:p>
              </p:txBody>
            </p:sp>
            <p:sp>
              <p:nvSpPr>
                <p:cNvPr id="964" name="Rectangle 963">
                  <a:extLst>
                    <a:ext uri="{FF2B5EF4-FFF2-40B4-BE49-F238E27FC236}">
                      <a16:creationId xmlns:a16="http://schemas.microsoft.com/office/drawing/2014/main" id="{7E5BFB83-4F66-5340-A6C8-AE2EA6969B5D}"/>
                    </a:ext>
                  </a:extLst>
                </p:cNvPr>
                <p:cNvSpPr/>
                <p:nvPr/>
              </p:nvSpPr>
              <p:spPr bwMode="auto">
                <a:xfrm>
                  <a:off x="2184881" y="1736237"/>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65" name="Oval 964">
                  <a:extLst>
                    <a:ext uri="{FF2B5EF4-FFF2-40B4-BE49-F238E27FC236}">
                      <a16:creationId xmlns:a16="http://schemas.microsoft.com/office/drawing/2014/main" id="{835B3555-2BFA-4345-AEDE-3AFF012D165A}"/>
                    </a:ext>
                  </a:extLst>
                </p:cNvPr>
                <p:cNvSpPr>
                  <a:spLocks noChangeArrowheads="1"/>
                </p:cNvSpPr>
                <p:nvPr/>
              </p:nvSpPr>
              <p:spPr bwMode="auto">
                <a:xfrm flipV="1">
                  <a:off x="2184881" y="1564505"/>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966" name="Freeform 965">
                  <a:extLst>
                    <a:ext uri="{FF2B5EF4-FFF2-40B4-BE49-F238E27FC236}">
                      <a16:creationId xmlns:a16="http://schemas.microsoft.com/office/drawing/2014/main" id="{9C54B396-F12D-CD4B-97BD-8CD97DC9CB69}"/>
                    </a:ext>
                  </a:extLst>
                </p:cNvPr>
                <p:cNvSpPr/>
                <p:nvPr/>
              </p:nvSpPr>
              <p:spPr bwMode="auto">
                <a:xfrm>
                  <a:off x="2491185" y="1671486"/>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67" name="Freeform 966">
                  <a:extLst>
                    <a:ext uri="{FF2B5EF4-FFF2-40B4-BE49-F238E27FC236}">
                      <a16:creationId xmlns:a16="http://schemas.microsoft.com/office/drawing/2014/main" id="{74A5A762-7F2A-7146-9F8E-38B680D0FAE5}"/>
                    </a:ext>
                  </a:extLst>
                </p:cNvPr>
                <p:cNvSpPr>
                  <a:spLocks/>
                </p:cNvSpPr>
                <p:nvPr/>
              </p:nvSpPr>
              <p:spPr bwMode="auto">
                <a:xfrm>
                  <a:off x="2430680" y="1629256"/>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968" name="Freeform 967">
                  <a:extLst>
                    <a:ext uri="{FF2B5EF4-FFF2-40B4-BE49-F238E27FC236}">
                      <a16:creationId xmlns:a16="http://schemas.microsoft.com/office/drawing/2014/main" id="{2A01FA01-3AF8-6C49-B347-15EC8DD1FCDF}"/>
                    </a:ext>
                  </a:extLst>
                </p:cNvPr>
                <p:cNvSpPr>
                  <a:spLocks/>
                </p:cNvSpPr>
                <p:nvPr/>
              </p:nvSpPr>
              <p:spPr bwMode="auto">
                <a:xfrm>
                  <a:off x="2892028" y="1722161"/>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969" name="Freeform 968">
                  <a:extLst>
                    <a:ext uri="{FF2B5EF4-FFF2-40B4-BE49-F238E27FC236}">
                      <a16:creationId xmlns:a16="http://schemas.microsoft.com/office/drawing/2014/main" id="{45B074FE-A579-4E44-9C72-7EC6937937B6}"/>
                    </a:ext>
                  </a:extLst>
                </p:cNvPr>
                <p:cNvSpPr>
                  <a:spLocks/>
                </p:cNvSpPr>
                <p:nvPr/>
              </p:nvSpPr>
              <p:spPr bwMode="auto">
                <a:xfrm>
                  <a:off x="2419337" y="1724976"/>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970" name="Straight Connector 969">
                  <a:extLst>
                    <a:ext uri="{FF2B5EF4-FFF2-40B4-BE49-F238E27FC236}">
                      <a16:creationId xmlns:a16="http://schemas.microsoft.com/office/drawing/2014/main" id="{D7BA177F-687A-5349-B8D9-E812C7AD3962}"/>
                    </a:ext>
                  </a:extLst>
                </p:cNvPr>
                <p:cNvCxnSpPr>
                  <a:cxnSpLocks noChangeShapeType="1"/>
                  <a:endCxn id="965" idx="2"/>
                </p:cNvCxnSpPr>
                <p:nvPr/>
              </p:nvCxnSpPr>
              <p:spPr bwMode="auto">
                <a:xfrm flipH="1" flipV="1">
                  <a:off x="2184881" y="1722161"/>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71" name="Straight Connector 970">
                  <a:extLst>
                    <a:ext uri="{FF2B5EF4-FFF2-40B4-BE49-F238E27FC236}">
                      <a16:creationId xmlns:a16="http://schemas.microsoft.com/office/drawing/2014/main" id="{2708807E-0266-644C-A6E9-061ABB06D12B}"/>
                    </a:ext>
                  </a:extLst>
                </p:cNvPr>
                <p:cNvCxnSpPr>
                  <a:cxnSpLocks noChangeShapeType="1"/>
                </p:cNvCxnSpPr>
                <p:nvPr/>
              </p:nvCxnSpPr>
              <p:spPr bwMode="auto">
                <a:xfrm flipH="1" flipV="1">
                  <a:off x="3379847" y="1727792"/>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19" name="Group 18">
              <a:extLst>
                <a:ext uri="{FF2B5EF4-FFF2-40B4-BE49-F238E27FC236}">
                  <a16:creationId xmlns:a16="http://schemas.microsoft.com/office/drawing/2014/main" id="{3DE0F43A-8A46-714A-B944-7CB92C38A25B}"/>
                </a:ext>
              </a:extLst>
            </p:cNvPr>
            <p:cNvGrpSpPr/>
            <p:nvPr/>
          </p:nvGrpSpPr>
          <p:grpSpPr>
            <a:xfrm>
              <a:off x="7920869" y="4329565"/>
              <a:ext cx="870440" cy="1680290"/>
              <a:chOff x="7920869" y="4329565"/>
              <a:chExt cx="870440" cy="1680290"/>
            </a:xfrm>
          </p:grpSpPr>
          <p:sp>
            <p:nvSpPr>
              <p:cNvPr id="928" name="Freeform 927">
                <a:extLst>
                  <a:ext uri="{FF2B5EF4-FFF2-40B4-BE49-F238E27FC236}">
                    <a16:creationId xmlns:a16="http://schemas.microsoft.com/office/drawing/2014/main" id="{0D857BEA-FC6F-1449-A5C0-C21CC8BC5CED}"/>
                  </a:ext>
                </a:extLst>
              </p:cNvPr>
              <p:cNvSpPr/>
              <p:nvPr/>
            </p:nvSpPr>
            <p:spPr bwMode="auto">
              <a:xfrm>
                <a:off x="7920869" y="5455817"/>
                <a:ext cx="865187" cy="55403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1011379"/>
                  <a:gd name="connsiteY0" fmla="*/ 605727 h 758185"/>
                  <a:gd name="connsiteX1" fmla="*/ 490915 w 1011379"/>
                  <a:gd name="connsiteY1" fmla="*/ 13939 h 758185"/>
                  <a:gd name="connsiteX2" fmla="*/ 1011379 w 1011379"/>
                  <a:gd name="connsiteY2" fmla="*/ 563 h 758185"/>
                  <a:gd name="connsiteX3" fmla="*/ 268780 w 1011379"/>
                  <a:gd name="connsiteY3" fmla="*/ 758185 h 758185"/>
                  <a:gd name="connsiteX4" fmla="*/ 0 w 1011379"/>
                  <a:gd name="connsiteY4" fmla="*/ 605727 h 758185"/>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05727"/>
                  <a:gd name="connsiteX1" fmla="*/ 490915 w 1011379"/>
                  <a:gd name="connsiteY1" fmla="*/ 13939 h 605727"/>
                  <a:gd name="connsiteX2" fmla="*/ 1011379 w 1011379"/>
                  <a:gd name="connsiteY2" fmla="*/ 563 h 605727"/>
                  <a:gd name="connsiteX3" fmla="*/ 318823 w 1011379"/>
                  <a:gd name="connsiteY3" fmla="*/ 553361 h 605727"/>
                  <a:gd name="connsiteX4" fmla="*/ 0 w 1011379"/>
                  <a:gd name="connsiteY4" fmla="*/ 605727 h 605727"/>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251" h="55336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37" name="Rectangle 936">
                <a:extLst>
                  <a:ext uri="{FF2B5EF4-FFF2-40B4-BE49-F238E27FC236}">
                    <a16:creationId xmlns:a16="http://schemas.microsoft.com/office/drawing/2014/main" id="{73DDF967-9AF3-2A4F-AE8E-6BE3B9FF2E91}"/>
                  </a:ext>
                </a:extLst>
              </p:cNvPr>
              <p:cNvSpPr/>
              <p:nvPr/>
            </p:nvSpPr>
            <p:spPr bwMode="auto">
              <a:xfrm rot="10800000">
                <a:off x="8288771" y="4495799"/>
                <a:ext cx="498084" cy="36196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dirty="0">
                  <a:solidFill>
                    <a:srgbClr val="FFFFFF"/>
                  </a:solidFill>
                  <a:latin typeface="Gill Sans MT"/>
                  <a:ea typeface="+mn-ea"/>
                </a:endParaRPr>
              </a:p>
            </p:txBody>
          </p:sp>
          <p:cxnSp>
            <p:nvCxnSpPr>
              <p:cNvPr id="938" name="Straight Connector 937">
                <a:extLst>
                  <a:ext uri="{FF2B5EF4-FFF2-40B4-BE49-F238E27FC236}">
                    <a16:creationId xmlns:a16="http://schemas.microsoft.com/office/drawing/2014/main" id="{4E2A68FE-149D-DD45-B62C-268C2B480787}"/>
                  </a:ext>
                </a:extLst>
              </p:cNvPr>
              <p:cNvCxnSpPr>
                <a:cxnSpLocks/>
                <a:stCxn id="945" idx="6"/>
              </p:cNvCxnSpPr>
              <p:nvPr/>
            </p:nvCxnSpPr>
            <p:spPr bwMode="auto">
              <a:xfrm>
                <a:off x="8783370" y="4418446"/>
                <a:ext cx="7939" cy="955919"/>
              </a:xfrm>
              <a:prstGeom prst="line">
                <a:avLst/>
              </a:prstGeom>
              <a:noFill/>
              <a:ln w="3175" cap="flat" cmpd="sng" algn="ctr">
                <a:solidFill>
                  <a:srgbClr val="000000"/>
                </a:solidFill>
                <a:prstDash val="sysDash"/>
              </a:ln>
              <a:effectLst/>
            </p:spPr>
          </p:cxnSp>
          <p:grpSp>
            <p:nvGrpSpPr>
              <p:cNvPr id="939" name="Group 634">
                <a:extLst>
                  <a:ext uri="{FF2B5EF4-FFF2-40B4-BE49-F238E27FC236}">
                    <a16:creationId xmlns:a16="http://schemas.microsoft.com/office/drawing/2014/main" id="{EA89FBDD-115D-B744-8C40-278D9ECECBF6}"/>
                  </a:ext>
                </a:extLst>
              </p:cNvPr>
              <p:cNvGrpSpPr>
                <a:grpSpLocks/>
              </p:cNvGrpSpPr>
              <p:nvPr/>
            </p:nvGrpSpPr>
            <p:grpSpPr bwMode="auto">
              <a:xfrm>
                <a:off x="8283693" y="5300332"/>
                <a:ext cx="507588" cy="221941"/>
                <a:chOff x="4128636" y="3606589"/>
                <a:chExt cx="568145" cy="338667"/>
              </a:xfrm>
            </p:grpSpPr>
            <p:sp>
              <p:nvSpPr>
                <p:cNvPr id="952" name="Oval 951">
                  <a:extLst>
                    <a:ext uri="{FF2B5EF4-FFF2-40B4-BE49-F238E27FC236}">
                      <a16:creationId xmlns:a16="http://schemas.microsoft.com/office/drawing/2014/main" id="{ADD15AEA-0E06-3444-AA78-D1D680AED400}"/>
                    </a:ext>
                  </a:extLst>
                </p:cNvPr>
                <p:cNvSpPr/>
                <p:nvPr/>
              </p:nvSpPr>
              <p:spPr>
                <a:xfrm>
                  <a:off x="4128205" y="3719558"/>
                  <a:ext cx="568606" cy="225284"/>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53" name="Rectangle 952">
                  <a:extLst>
                    <a:ext uri="{FF2B5EF4-FFF2-40B4-BE49-F238E27FC236}">
                      <a16:creationId xmlns:a16="http://schemas.microsoft.com/office/drawing/2014/main" id="{CBDCEDCB-60F4-7D47-8AE9-D843D17AF39C}"/>
                    </a:ext>
                  </a:extLst>
                </p:cNvPr>
                <p:cNvSpPr/>
                <p:nvPr/>
              </p:nvSpPr>
              <p:spPr>
                <a:xfrm>
                  <a:off x="4128205" y="3719558"/>
                  <a:ext cx="568606" cy="111431"/>
                </a:xfrm>
                <a:prstGeom prst="rect">
                  <a:avLst/>
                </a:prstGeom>
                <a:solidFill>
                  <a:srgbClr val="3333CC">
                    <a:lumMod val="7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54" name="Oval 953">
                  <a:extLst>
                    <a:ext uri="{FF2B5EF4-FFF2-40B4-BE49-F238E27FC236}">
                      <a16:creationId xmlns:a16="http://schemas.microsoft.com/office/drawing/2014/main" id="{96CC10B3-D82A-D340-B795-8505902BBB5B}"/>
                    </a:ext>
                  </a:extLst>
                </p:cNvPr>
                <p:cNvSpPr/>
                <p:nvPr/>
              </p:nvSpPr>
              <p:spPr>
                <a:xfrm>
                  <a:off x="4128205" y="3605704"/>
                  <a:ext cx="568606" cy="225286"/>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55" name="Straight Connector 954">
                  <a:extLst>
                    <a:ext uri="{FF2B5EF4-FFF2-40B4-BE49-F238E27FC236}">
                      <a16:creationId xmlns:a16="http://schemas.microsoft.com/office/drawing/2014/main" id="{3B133DA9-A713-2849-A8D7-EDE46E681761}"/>
                    </a:ext>
                  </a:extLst>
                </p:cNvPr>
                <p:cNvCxnSpPr/>
                <p:nvPr/>
              </p:nvCxnSpPr>
              <p:spPr>
                <a:xfrm>
                  <a:off x="4696811" y="3719558"/>
                  <a:ext cx="0" cy="111431"/>
                </a:xfrm>
                <a:prstGeom prst="line">
                  <a:avLst/>
                </a:prstGeom>
                <a:noFill/>
                <a:ln w="6350" cap="flat" cmpd="sng" algn="ctr">
                  <a:solidFill>
                    <a:srgbClr val="000000"/>
                  </a:solidFill>
                  <a:prstDash val="solid"/>
                </a:ln>
                <a:effectLst/>
              </p:spPr>
            </p:cxnSp>
            <p:cxnSp>
              <p:nvCxnSpPr>
                <p:cNvPr id="956" name="Straight Connector 955">
                  <a:extLst>
                    <a:ext uri="{FF2B5EF4-FFF2-40B4-BE49-F238E27FC236}">
                      <a16:creationId xmlns:a16="http://schemas.microsoft.com/office/drawing/2014/main" id="{BC22357C-1B49-FD47-A8E1-4EE9363277E0}"/>
                    </a:ext>
                  </a:extLst>
                </p:cNvPr>
                <p:cNvCxnSpPr/>
                <p:nvPr/>
              </p:nvCxnSpPr>
              <p:spPr>
                <a:xfrm>
                  <a:off x="4128205" y="3719558"/>
                  <a:ext cx="0" cy="111431"/>
                </a:xfrm>
                <a:prstGeom prst="line">
                  <a:avLst/>
                </a:prstGeom>
                <a:noFill/>
                <a:ln w="6350" cap="flat" cmpd="sng" algn="ctr">
                  <a:solidFill>
                    <a:srgbClr val="000000"/>
                  </a:solidFill>
                  <a:prstDash val="solid"/>
                </a:ln>
                <a:effectLst/>
              </p:spPr>
            </p:cxnSp>
          </p:grpSp>
          <p:sp>
            <p:nvSpPr>
              <p:cNvPr id="940" name="Rectangle 939">
                <a:extLst>
                  <a:ext uri="{FF2B5EF4-FFF2-40B4-BE49-F238E27FC236}">
                    <a16:creationId xmlns:a16="http://schemas.microsoft.com/office/drawing/2014/main" id="{8A75ED0D-201E-C349-9238-A2D94F02D3E1}"/>
                  </a:ext>
                </a:extLst>
              </p:cNvPr>
              <p:cNvSpPr/>
              <p:nvPr/>
            </p:nvSpPr>
            <p:spPr bwMode="auto">
              <a:xfrm>
                <a:off x="8284895" y="4904436"/>
                <a:ext cx="496888" cy="473104"/>
              </a:xfrm>
              <a:prstGeom prst="rect">
                <a:avLst/>
              </a:prstGeom>
              <a:gradFill rotWithShape="1">
                <a:gsLst>
                  <a:gs pos="100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941" name="Straight Connector 940">
                <a:extLst>
                  <a:ext uri="{FF2B5EF4-FFF2-40B4-BE49-F238E27FC236}">
                    <a16:creationId xmlns:a16="http://schemas.microsoft.com/office/drawing/2014/main" id="{690B7076-D7BF-A64B-A741-7A1AB99BC7BD}"/>
                  </a:ext>
                </a:extLst>
              </p:cNvPr>
              <p:cNvCxnSpPr>
                <a:cxnSpLocks/>
                <a:stCxn id="945" idx="2"/>
              </p:cNvCxnSpPr>
              <p:nvPr/>
            </p:nvCxnSpPr>
            <p:spPr bwMode="auto">
              <a:xfrm flipH="1">
                <a:off x="8278546" y="4418446"/>
                <a:ext cx="3174" cy="1049581"/>
              </a:xfrm>
              <a:prstGeom prst="line">
                <a:avLst/>
              </a:prstGeom>
              <a:noFill/>
              <a:ln w="3175" cap="flat" cmpd="sng" algn="ctr">
                <a:solidFill>
                  <a:srgbClr val="000000"/>
                </a:solidFill>
                <a:prstDash val="sysDash"/>
              </a:ln>
              <a:effectLst/>
            </p:spPr>
          </p:cxnSp>
          <p:grpSp>
            <p:nvGrpSpPr>
              <p:cNvPr id="942" name="Group 622">
                <a:extLst>
                  <a:ext uri="{FF2B5EF4-FFF2-40B4-BE49-F238E27FC236}">
                    <a16:creationId xmlns:a16="http://schemas.microsoft.com/office/drawing/2014/main" id="{536C1E87-C19D-B549-A398-BDAA53318FF3}"/>
                  </a:ext>
                </a:extLst>
              </p:cNvPr>
              <p:cNvGrpSpPr>
                <a:grpSpLocks/>
              </p:cNvGrpSpPr>
              <p:nvPr/>
            </p:nvGrpSpPr>
            <p:grpSpPr bwMode="auto">
              <a:xfrm>
                <a:off x="8281058" y="4329565"/>
                <a:ext cx="503828" cy="248522"/>
                <a:chOff x="2183302" y="1564542"/>
                <a:chExt cx="1200154" cy="440314"/>
              </a:xfrm>
            </p:grpSpPr>
            <p:sp>
              <p:nvSpPr>
                <p:cNvPr id="943" name="Oval 942">
                  <a:extLst>
                    <a:ext uri="{FF2B5EF4-FFF2-40B4-BE49-F238E27FC236}">
                      <a16:creationId xmlns:a16="http://schemas.microsoft.com/office/drawing/2014/main" id="{2FA609ED-2E63-804A-8736-890A528B12F8}"/>
                    </a:ext>
                  </a:extLst>
                </p:cNvPr>
                <p:cNvSpPr/>
                <p:nvPr/>
              </p:nvSpPr>
              <p:spPr bwMode="auto">
                <a:xfrm flipV="1">
                  <a:off x="2188662" y="1691075"/>
                  <a:ext cx="1194966" cy="315014"/>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a:defRPr/>
                  </a:pPr>
                  <a:endParaRPr lang="en-US" sz="1350" kern="0" dirty="0">
                    <a:ln>
                      <a:solidFill>
                        <a:srgbClr val="000000"/>
                      </a:solidFill>
                    </a:ln>
                    <a:solidFill>
                      <a:srgbClr val="FFFFFF"/>
                    </a:solidFill>
                    <a:latin typeface="Gill Sans MT"/>
                    <a:ea typeface="+mn-ea"/>
                  </a:endParaRPr>
                </a:p>
              </p:txBody>
            </p:sp>
            <p:sp>
              <p:nvSpPr>
                <p:cNvPr id="944" name="Rectangle 943">
                  <a:extLst>
                    <a:ext uri="{FF2B5EF4-FFF2-40B4-BE49-F238E27FC236}">
                      <a16:creationId xmlns:a16="http://schemas.microsoft.com/office/drawing/2014/main" id="{355D3E63-F907-0E45-8C46-4E02D5408E65}"/>
                    </a:ext>
                  </a:extLst>
                </p:cNvPr>
                <p:cNvSpPr/>
                <p:nvPr/>
              </p:nvSpPr>
              <p:spPr bwMode="auto">
                <a:xfrm>
                  <a:off x="2184879" y="1736077"/>
                  <a:ext cx="1198749" cy="11250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45" name="Oval 944">
                  <a:extLst>
                    <a:ext uri="{FF2B5EF4-FFF2-40B4-BE49-F238E27FC236}">
                      <a16:creationId xmlns:a16="http://schemas.microsoft.com/office/drawing/2014/main" id="{575934DF-B322-274A-92BC-3407CBF59474}"/>
                    </a:ext>
                  </a:extLst>
                </p:cNvPr>
                <p:cNvSpPr>
                  <a:spLocks noChangeArrowheads="1"/>
                </p:cNvSpPr>
                <p:nvPr/>
              </p:nvSpPr>
              <p:spPr bwMode="auto">
                <a:xfrm flipV="1">
                  <a:off x="2184879" y="1564508"/>
                  <a:ext cx="1194966" cy="315014"/>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350" kern="0" dirty="0">
                    <a:ln>
                      <a:solidFill>
                        <a:srgbClr val="000000"/>
                      </a:solidFill>
                    </a:ln>
                    <a:solidFill>
                      <a:srgbClr val="FFFFFF"/>
                    </a:solidFill>
                    <a:latin typeface="Gill Sans MT"/>
                  </a:endParaRPr>
                </a:p>
              </p:txBody>
            </p:sp>
            <p:sp>
              <p:nvSpPr>
                <p:cNvPr id="946" name="Freeform 945">
                  <a:extLst>
                    <a:ext uri="{FF2B5EF4-FFF2-40B4-BE49-F238E27FC236}">
                      <a16:creationId xmlns:a16="http://schemas.microsoft.com/office/drawing/2014/main" id="{CBF18B9D-FBE2-C54E-A32D-C409E6C62912}"/>
                    </a:ext>
                  </a:extLst>
                </p:cNvPr>
                <p:cNvSpPr/>
                <p:nvPr/>
              </p:nvSpPr>
              <p:spPr bwMode="auto">
                <a:xfrm>
                  <a:off x="2491185" y="1671388"/>
                  <a:ext cx="582357" cy="157507"/>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350" kern="0">
                    <a:solidFill>
                      <a:srgbClr val="FFFFFF"/>
                    </a:solidFill>
                    <a:latin typeface="Gill Sans MT"/>
                    <a:ea typeface="+mn-ea"/>
                  </a:endParaRPr>
                </a:p>
              </p:txBody>
            </p:sp>
            <p:sp>
              <p:nvSpPr>
                <p:cNvPr id="947" name="Freeform 946">
                  <a:extLst>
                    <a:ext uri="{FF2B5EF4-FFF2-40B4-BE49-F238E27FC236}">
                      <a16:creationId xmlns:a16="http://schemas.microsoft.com/office/drawing/2014/main" id="{E96DBFA6-2771-A54D-B845-79612A3939C1}"/>
                    </a:ext>
                  </a:extLst>
                </p:cNvPr>
                <p:cNvSpPr>
                  <a:spLocks/>
                </p:cNvSpPr>
                <p:nvPr/>
              </p:nvSpPr>
              <p:spPr bwMode="auto">
                <a:xfrm>
                  <a:off x="2430680" y="1629198"/>
                  <a:ext cx="703366" cy="112505"/>
                </a:xfrm>
                <a:custGeom>
                  <a:avLst/>
                  <a:gdLst>
                    <a:gd name="T0" fmla="*/ 0 w 3723451"/>
                    <a:gd name="T1" fmla="*/ 27524 h 932950"/>
                    <a:gd name="T2" fmla="*/ 123762 w 3723451"/>
                    <a:gd name="T3" fmla="*/ 324 h 932950"/>
                    <a:gd name="T4" fmla="*/ 350560 w 3723451"/>
                    <a:gd name="T5" fmla="*/ 62775 h 932950"/>
                    <a:gd name="T6" fmla="*/ 566927 w 3723451"/>
                    <a:gd name="T7" fmla="*/ 0 h 932950"/>
                    <a:gd name="T8" fmla="*/ 703366 w 3723451"/>
                    <a:gd name="T9" fmla="*/ 24980 h 932950"/>
                    <a:gd name="T10" fmla="*/ 601856 w 3723451"/>
                    <a:gd name="T11" fmla="*/ 55698 h 932950"/>
                    <a:gd name="T12" fmla="*/ 569173 w 3723451"/>
                    <a:gd name="T13" fmla="*/ 47416 h 932950"/>
                    <a:gd name="T14" fmla="*/ 354544 w 3723451"/>
                    <a:gd name="T15" fmla="*/ 112505 h 932950"/>
                    <a:gd name="T16" fmla="*/ 134425 w 3723451"/>
                    <a:gd name="T17" fmla="*/ 49811 h 932950"/>
                    <a:gd name="T18" fmla="*/ 98836 w 3723451"/>
                    <a:gd name="T19" fmla="*/ 56577 h 932950"/>
                    <a:gd name="T20" fmla="*/ 0 w 3723451"/>
                    <a:gd name="T21" fmla="*/ 27524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948" name="Freeform 947">
                  <a:extLst>
                    <a:ext uri="{FF2B5EF4-FFF2-40B4-BE49-F238E27FC236}">
                      <a16:creationId xmlns:a16="http://schemas.microsoft.com/office/drawing/2014/main" id="{02B4EA66-7954-AA46-ABFF-843F0F913933}"/>
                    </a:ext>
                  </a:extLst>
                </p:cNvPr>
                <p:cNvSpPr>
                  <a:spLocks/>
                </p:cNvSpPr>
                <p:nvPr/>
              </p:nvSpPr>
              <p:spPr bwMode="auto">
                <a:xfrm>
                  <a:off x="2892028" y="1724827"/>
                  <a:ext cx="260925" cy="95629"/>
                </a:xfrm>
                <a:custGeom>
                  <a:avLst/>
                  <a:gdLst>
                    <a:gd name="T0" fmla="*/ 0 w 1366596"/>
                    <a:gd name="T1" fmla="*/ 0 h 809868"/>
                    <a:gd name="T2" fmla="*/ 260925 w 1366596"/>
                    <a:gd name="T3" fmla="*/ 73895 h 809868"/>
                    <a:gd name="T4" fmla="*/ 165165 w 1366596"/>
                    <a:gd name="T5" fmla="*/ 95629 h 809868"/>
                    <a:gd name="T6" fmla="*/ 878 w 1366596"/>
                    <a:gd name="T7" fmla="*/ 50531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sp>
              <p:nvSpPr>
                <p:cNvPr id="949" name="Freeform 948">
                  <a:extLst>
                    <a:ext uri="{FF2B5EF4-FFF2-40B4-BE49-F238E27FC236}">
                      <a16:creationId xmlns:a16="http://schemas.microsoft.com/office/drawing/2014/main" id="{F20F445F-471B-7448-AAA1-96643F81BE1A}"/>
                    </a:ext>
                  </a:extLst>
                </p:cNvPr>
                <p:cNvSpPr>
                  <a:spLocks/>
                </p:cNvSpPr>
                <p:nvPr/>
              </p:nvSpPr>
              <p:spPr bwMode="auto">
                <a:xfrm>
                  <a:off x="2419334" y="1727640"/>
                  <a:ext cx="253364" cy="92816"/>
                </a:xfrm>
                <a:custGeom>
                  <a:avLst/>
                  <a:gdLst>
                    <a:gd name="T0" fmla="*/ 249905 w 1348191"/>
                    <a:gd name="T1" fmla="*/ 0 h 791462"/>
                    <a:gd name="T2" fmla="*/ 253364 w 1348191"/>
                    <a:gd name="T3" fmla="*/ 44789 h 791462"/>
                    <a:gd name="T4" fmla="*/ 91661 w 1348191"/>
                    <a:gd name="T5" fmla="*/ 92816 h 791462"/>
                    <a:gd name="T6" fmla="*/ 0 w 1348191"/>
                    <a:gd name="T7" fmla="*/ 71770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a:defRPr/>
                  </a:pPr>
                  <a:endParaRPr lang="en-US" sz="1350" kern="0">
                    <a:solidFill>
                      <a:srgbClr val="000000"/>
                    </a:solidFill>
                  </a:endParaRPr>
                </a:p>
              </p:txBody>
            </p:sp>
            <p:cxnSp>
              <p:nvCxnSpPr>
                <p:cNvPr id="950" name="Straight Connector 949">
                  <a:extLst>
                    <a:ext uri="{FF2B5EF4-FFF2-40B4-BE49-F238E27FC236}">
                      <a16:creationId xmlns:a16="http://schemas.microsoft.com/office/drawing/2014/main" id="{4BDF3FD2-413B-0D4C-9A59-50D44FBEA121}"/>
                    </a:ext>
                  </a:extLst>
                </p:cNvPr>
                <p:cNvCxnSpPr>
                  <a:cxnSpLocks noChangeShapeType="1"/>
                  <a:endCxn id="945" idx="2"/>
                </p:cNvCxnSpPr>
                <p:nvPr/>
              </p:nvCxnSpPr>
              <p:spPr bwMode="auto">
                <a:xfrm flipH="1" flipV="1">
                  <a:off x="2184879" y="1722015"/>
                  <a:ext cx="3783" cy="12094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51" name="Straight Connector 950">
                  <a:extLst>
                    <a:ext uri="{FF2B5EF4-FFF2-40B4-BE49-F238E27FC236}">
                      <a16:creationId xmlns:a16="http://schemas.microsoft.com/office/drawing/2014/main" id="{71DA60AE-C589-FA44-94AB-B21A49C15239}"/>
                    </a:ext>
                  </a:extLst>
                </p:cNvPr>
                <p:cNvCxnSpPr>
                  <a:cxnSpLocks noChangeShapeType="1"/>
                </p:cNvCxnSpPr>
                <p:nvPr/>
              </p:nvCxnSpPr>
              <p:spPr bwMode="auto">
                <a:xfrm flipH="1" flipV="1">
                  <a:off x="3379845" y="1730452"/>
                  <a:ext cx="3783" cy="12094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1043" name="Group 1042">
            <a:extLst>
              <a:ext uri="{FF2B5EF4-FFF2-40B4-BE49-F238E27FC236}">
                <a16:creationId xmlns:a16="http://schemas.microsoft.com/office/drawing/2014/main" id="{B5756541-DE04-D343-ADA3-E578917497B6}"/>
              </a:ext>
            </a:extLst>
          </p:cNvPr>
          <p:cNvGrpSpPr>
            <a:grpSpLocks/>
          </p:cNvGrpSpPr>
          <p:nvPr/>
        </p:nvGrpSpPr>
        <p:grpSpPr bwMode="auto">
          <a:xfrm>
            <a:off x="2824002" y="4402983"/>
            <a:ext cx="3736372" cy="520302"/>
            <a:chOff x="2055070" y="4690247"/>
            <a:chExt cx="4980938" cy="694338"/>
          </a:xfrm>
        </p:grpSpPr>
        <p:grpSp>
          <p:nvGrpSpPr>
            <p:cNvPr id="1044" name="Group 554">
              <a:extLst>
                <a:ext uri="{FF2B5EF4-FFF2-40B4-BE49-F238E27FC236}">
                  <a16:creationId xmlns:a16="http://schemas.microsoft.com/office/drawing/2014/main" id="{368CBAA7-B3CD-B447-8953-FE800957AF6D}"/>
                </a:ext>
              </a:extLst>
            </p:cNvPr>
            <p:cNvGrpSpPr>
              <a:grpSpLocks/>
            </p:cNvGrpSpPr>
            <p:nvPr/>
          </p:nvGrpSpPr>
          <p:grpSpPr bwMode="auto">
            <a:xfrm>
              <a:off x="3621810" y="5055687"/>
              <a:ext cx="428216" cy="328897"/>
              <a:chOff x="2948176" y="3912858"/>
              <a:chExt cx="428535" cy="329059"/>
            </a:xfrm>
          </p:grpSpPr>
          <p:sp>
            <p:nvSpPr>
              <p:cNvPr id="1065" name="Rectangle 1064">
                <a:extLst>
                  <a:ext uri="{FF2B5EF4-FFF2-40B4-BE49-F238E27FC236}">
                    <a16:creationId xmlns:a16="http://schemas.microsoft.com/office/drawing/2014/main" id="{C71DD82B-ED54-9D40-848F-40B6802EC749}"/>
                  </a:ext>
                </a:extLst>
              </p:cNvPr>
              <p:cNvSpPr/>
              <p:nvPr/>
            </p:nvSpPr>
            <p:spPr>
              <a:xfrm>
                <a:off x="2951022" y="3912858"/>
                <a:ext cx="425689" cy="329059"/>
              </a:xfrm>
              <a:prstGeom prst="rect">
                <a:avLst/>
              </a:prstGeom>
              <a:solidFill>
                <a:srgbClr val="FFFFFF"/>
              </a:solidFill>
              <a:ln w="3175" cap="flat" cmpd="sng" algn="ctr">
                <a:solidFill>
                  <a:srgbClr val="CC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66" name="Straight Connector 1065">
                <a:extLst>
                  <a:ext uri="{FF2B5EF4-FFF2-40B4-BE49-F238E27FC236}">
                    <a16:creationId xmlns:a16="http://schemas.microsoft.com/office/drawing/2014/main" id="{5A2CCD06-A52B-594C-895E-DE5616109835}"/>
                  </a:ext>
                </a:extLst>
              </p:cNvPr>
              <p:cNvCxnSpPr/>
              <p:nvPr/>
            </p:nvCxnSpPr>
            <p:spPr>
              <a:xfrm>
                <a:off x="2948177" y="4005058"/>
                <a:ext cx="425689" cy="0"/>
              </a:xfrm>
              <a:prstGeom prst="line">
                <a:avLst/>
              </a:prstGeom>
              <a:noFill/>
              <a:ln w="3175" cap="flat" cmpd="sng" algn="ctr">
                <a:solidFill>
                  <a:srgbClr val="CC0000"/>
                </a:solidFill>
                <a:prstDash val="solid"/>
              </a:ln>
              <a:effectLst/>
            </p:spPr>
          </p:cxnSp>
          <p:cxnSp>
            <p:nvCxnSpPr>
              <p:cNvPr id="1067" name="Straight Connector 1066">
                <a:extLst>
                  <a:ext uri="{FF2B5EF4-FFF2-40B4-BE49-F238E27FC236}">
                    <a16:creationId xmlns:a16="http://schemas.microsoft.com/office/drawing/2014/main" id="{CAE78986-A47E-684D-AC0D-81B0C9B79A88}"/>
                  </a:ext>
                </a:extLst>
              </p:cNvPr>
              <p:cNvCxnSpPr/>
              <p:nvPr/>
            </p:nvCxnSpPr>
            <p:spPr>
              <a:xfrm>
                <a:off x="2948176" y="4068645"/>
                <a:ext cx="425689" cy="0"/>
              </a:xfrm>
              <a:prstGeom prst="line">
                <a:avLst/>
              </a:prstGeom>
              <a:noFill/>
              <a:ln w="3175" cap="flat" cmpd="sng" algn="ctr">
                <a:solidFill>
                  <a:srgbClr val="CC0000"/>
                </a:solidFill>
                <a:prstDash val="solid"/>
              </a:ln>
              <a:effectLst/>
            </p:spPr>
          </p:cxnSp>
          <p:cxnSp>
            <p:nvCxnSpPr>
              <p:cNvPr id="1068" name="Straight Connector 1067">
                <a:extLst>
                  <a:ext uri="{FF2B5EF4-FFF2-40B4-BE49-F238E27FC236}">
                    <a16:creationId xmlns:a16="http://schemas.microsoft.com/office/drawing/2014/main" id="{CEA4CB24-3526-B94F-BDC2-D6FC123FF46E}"/>
                  </a:ext>
                </a:extLst>
              </p:cNvPr>
              <p:cNvCxnSpPr>
                <a:stCxn id="1065" idx="2"/>
              </p:cNvCxnSpPr>
              <p:nvPr/>
            </p:nvCxnSpPr>
            <p:spPr>
              <a:xfrm flipH="1" flipV="1">
                <a:off x="3162278" y="4005058"/>
                <a:ext cx="1589" cy="236859"/>
              </a:xfrm>
              <a:prstGeom prst="line">
                <a:avLst/>
              </a:prstGeom>
              <a:noFill/>
              <a:ln w="3175" cap="flat" cmpd="sng" algn="ctr">
                <a:solidFill>
                  <a:srgbClr val="CC0000"/>
                </a:solidFill>
                <a:prstDash val="solid"/>
              </a:ln>
              <a:effectLst/>
            </p:spPr>
          </p:cxnSp>
        </p:grpSp>
        <p:grpSp>
          <p:nvGrpSpPr>
            <p:cNvPr id="1045" name="Group 582">
              <a:extLst>
                <a:ext uri="{FF2B5EF4-FFF2-40B4-BE49-F238E27FC236}">
                  <a16:creationId xmlns:a16="http://schemas.microsoft.com/office/drawing/2014/main" id="{813A6CA3-90B1-754D-8C2A-B486DE6440EC}"/>
                </a:ext>
              </a:extLst>
            </p:cNvPr>
            <p:cNvGrpSpPr>
              <a:grpSpLocks/>
            </p:cNvGrpSpPr>
            <p:nvPr/>
          </p:nvGrpSpPr>
          <p:grpSpPr bwMode="auto">
            <a:xfrm>
              <a:off x="4404307" y="5055687"/>
              <a:ext cx="429383" cy="328898"/>
              <a:chOff x="2948037" y="3912924"/>
              <a:chExt cx="429703" cy="329060"/>
            </a:xfrm>
          </p:grpSpPr>
          <p:sp>
            <p:nvSpPr>
              <p:cNvPr id="1061" name="Rectangle 1060">
                <a:extLst>
                  <a:ext uri="{FF2B5EF4-FFF2-40B4-BE49-F238E27FC236}">
                    <a16:creationId xmlns:a16="http://schemas.microsoft.com/office/drawing/2014/main" id="{CDA497B5-1F53-4B4A-B52C-8AF25ACDEA7D}"/>
                  </a:ext>
                </a:extLst>
              </p:cNvPr>
              <p:cNvSpPr/>
              <p:nvPr/>
            </p:nvSpPr>
            <p:spPr>
              <a:xfrm>
                <a:off x="2950882" y="3912924"/>
                <a:ext cx="425689" cy="329059"/>
              </a:xfrm>
              <a:prstGeom prst="rect">
                <a:avLst/>
              </a:prstGeom>
              <a:solidFill>
                <a:srgbClr val="FFFFFF"/>
              </a:solidFill>
              <a:ln w="3175" cap="flat" cmpd="sng" algn="ctr">
                <a:solidFill>
                  <a:srgbClr val="CC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62" name="Straight Connector 1061">
                <a:extLst>
                  <a:ext uri="{FF2B5EF4-FFF2-40B4-BE49-F238E27FC236}">
                    <a16:creationId xmlns:a16="http://schemas.microsoft.com/office/drawing/2014/main" id="{1FEFA7AF-47D6-9044-B6BA-FCC567BC9B9F}"/>
                  </a:ext>
                </a:extLst>
              </p:cNvPr>
              <p:cNvCxnSpPr/>
              <p:nvPr/>
            </p:nvCxnSpPr>
            <p:spPr>
              <a:xfrm>
                <a:off x="2952051" y="4005125"/>
                <a:ext cx="425689" cy="0"/>
              </a:xfrm>
              <a:prstGeom prst="line">
                <a:avLst/>
              </a:prstGeom>
              <a:noFill/>
              <a:ln w="3175" cap="flat" cmpd="sng" algn="ctr">
                <a:solidFill>
                  <a:srgbClr val="CC0000"/>
                </a:solidFill>
                <a:prstDash val="solid"/>
              </a:ln>
              <a:effectLst/>
            </p:spPr>
          </p:cxnSp>
          <p:cxnSp>
            <p:nvCxnSpPr>
              <p:cNvPr id="1063" name="Straight Connector 1062">
                <a:extLst>
                  <a:ext uri="{FF2B5EF4-FFF2-40B4-BE49-F238E27FC236}">
                    <a16:creationId xmlns:a16="http://schemas.microsoft.com/office/drawing/2014/main" id="{F2F3585A-E53E-A040-84F7-9123881B9F28}"/>
                  </a:ext>
                </a:extLst>
              </p:cNvPr>
              <p:cNvCxnSpPr/>
              <p:nvPr/>
            </p:nvCxnSpPr>
            <p:spPr>
              <a:xfrm>
                <a:off x="2948037" y="4068711"/>
                <a:ext cx="425689" cy="0"/>
              </a:xfrm>
              <a:prstGeom prst="line">
                <a:avLst/>
              </a:prstGeom>
              <a:noFill/>
              <a:ln w="3175" cap="flat" cmpd="sng" algn="ctr">
                <a:solidFill>
                  <a:srgbClr val="CC0000"/>
                </a:solidFill>
                <a:prstDash val="solid"/>
              </a:ln>
              <a:effectLst/>
            </p:spPr>
          </p:cxnSp>
          <p:cxnSp>
            <p:nvCxnSpPr>
              <p:cNvPr id="1064" name="Straight Connector 1063">
                <a:extLst>
                  <a:ext uri="{FF2B5EF4-FFF2-40B4-BE49-F238E27FC236}">
                    <a16:creationId xmlns:a16="http://schemas.microsoft.com/office/drawing/2014/main" id="{F72283CD-AFD3-8E4E-9857-F6D589080734}"/>
                  </a:ext>
                </a:extLst>
              </p:cNvPr>
              <p:cNvCxnSpPr>
                <a:stCxn id="1061" idx="2"/>
              </p:cNvCxnSpPr>
              <p:nvPr/>
            </p:nvCxnSpPr>
            <p:spPr>
              <a:xfrm flipH="1" flipV="1">
                <a:off x="3162139" y="4005125"/>
                <a:ext cx="1588" cy="236859"/>
              </a:xfrm>
              <a:prstGeom prst="line">
                <a:avLst/>
              </a:prstGeom>
              <a:noFill/>
              <a:ln w="3175" cap="flat" cmpd="sng" algn="ctr">
                <a:solidFill>
                  <a:srgbClr val="CC0000"/>
                </a:solidFill>
                <a:prstDash val="solid"/>
              </a:ln>
              <a:effectLst/>
            </p:spPr>
          </p:cxnSp>
        </p:grpSp>
        <p:grpSp>
          <p:nvGrpSpPr>
            <p:cNvPr id="1046" name="Group 609">
              <a:extLst>
                <a:ext uri="{FF2B5EF4-FFF2-40B4-BE49-F238E27FC236}">
                  <a16:creationId xmlns:a16="http://schemas.microsoft.com/office/drawing/2014/main" id="{89D38A41-C0E7-004E-889C-35371BDB4904}"/>
                </a:ext>
              </a:extLst>
            </p:cNvPr>
            <p:cNvGrpSpPr>
              <a:grpSpLocks/>
            </p:cNvGrpSpPr>
            <p:nvPr/>
          </p:nvGrpSpPr>
          <p:grpSpPr bwMode="auto">
            <a:xfrm>
              <a:off x="5611440" y="5052513"/>
              <a:ext cx="430135" cy="328897"/>
              <a:chOff x="2951837" y="3912722"/>
              <a:chExt cx="430454" cy="329058"/>
            </a:xfrm>
          </p:grpSpPr>
          <p:sp>
            <p:nvSpPr>
              <p:cNvPr id="1057" name="Rectangle 1056">
                <a:extLst>
                  <a:ext uri="{FF2B5EF4-FFF2-40B4-BE49-F238E27FC236}">
                    <a16:creationId xmlns:a16="http://schemas.microsoft.com/office/drawing/2014/main" id="{7E038D77-DD73-D34F-AE34-D667F6E9B9F0}"/>
                  </a:ext>
                </a:extLst>
              </p:cNvPr>
              <p:cNvSpPr/>
              <p:nvPr/>
            </p:nvSpPr>
            <p:spPr>
              <a:xfrm>
                <a:off x="2956602" y="3912722"/>
                <a:ext cx="425689" cy="329058"/>
              </a:xfrm>
              <a:prstGeom prst="rect">
                <a:avLst/>
              </a:prstGeom>
              <a:solidFill>
                <a:srgbClr val="FFFFFF"/>
              </a:solidFill>
              <a:ln w="3175" cap="flat" cmpd="sng" algn="ctr">
                <a:solidFill>
                  <a:srgbClr val="CC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58" name="Straight Connector 1057">
                <a:extLst>
                  <a:ext uri="{FF2B5EF4-FFF2-40B4-BE49-F238E27FC236}">
                    <a16:creationId xmlns:a16="http://schemas.microsoft.com/office/drawing/2014/main" id="{D2968903-9149-5948-9F49-8F05AE95D6F0}"/>
                  </a:ext>
                </a:extLst>
              </p:cNvPr>
              <p:cNvCxnSpPr/>
              <p:nvPr/>
            </p:nvCxnSpPr>
            <p:spPr>
              <a:xfrm>
                <a:off x="2951837" y="4004922"/>
                <a:ext cx="425689" cy="0"/>
              </a:xfrm>
              <a:prstGeom prst="line">
                <a:avLst/>
              </a:prstGeom>
              <a:noFill/>
              <a:ln w="3175" cap="flat" cmpd="sng" algn="ctr">
                <a:solidFill>
                  <a:srgbClr val="CC0000"/>
                </a:solidFill>
                <a:prstDash val="solid"/>
              </a:ln>
              <a:effectLst/>
            </p:spPr>
          </p:cxnSp>
          <p:cxnSp>
            <p:nvCxnSpPr>
              <p:cNvPr id="1059" name="Straight Connector 1058">
                <a:extLst>
                  <a:ext uri="{FF2B5EF4-FFF2-40B4-BE49-F238E27FC236}">
                    <a16:creationId xmlns:a16="http://schemas.microsoft.com/office/drawing/2014/main" id="{6B45A1AF-6B67-DD42-AEDE-F73D064563E4}"/>
                  </a:ext>
                </a:extLst>
              </p:cNvPr>
              <p:cNvCxnSpPr/>
              <p:nvPr/>
            </p:nvCxnSpPr>
            <p:spPr>
              <a:xfrm>
                <a:off x="2955849" y="4068509"/>
                <a:ext cx="425689" cy="0"/>
              </a:xfrm>
              <a:prstGeom prst="line">
                <a:avLst/>
              </a:prstGeom>
              <a:noFill/>
              <a:ln w="3175" cap="flat" cmpd="sng" algn="ctr">
                <a:solidFill>
                  <a:srgbClr val="CC0000"/>
                </a:solidFill>
                <a:prstDash val="solid"/>
              </a:ln>
              <a:effectLst/>
            </p:spPr>
          </p:cxnSp>
          <p:cxnSp>
            <p:nvCxnSpPr>
              <p:cNvPr id="1060" name="Straight Connector 1059">
                <a:extLst>
                  <a:ext uri="{FF2B5EF4-FFF2-40B4-BE49-F238E27FC236}">
                    <a16:creationId xmlns:a16="http://schemas.microsoft.com/office/drawing/2014/main" id="{0FF66FC3-DA6A-CB44-8117-4648AAEC93ED}"/>
                  </a:ext>
                </a:extLst>
              </p:cNvPr>
              <p:cNvCxnSpPr>
                <a:stCxn id="1057" idx="2"/>
              </p:cNvCxnSpPr>
              <p:nvPr/>
            </p:nvCxnSpPr>
            <p:spPr>
              <a:xfrm flipH="1" flipV="1">
                <a:off x="3167858" y="4004922"/>
                <a:ext cx="1588" cy="236858"/>
              </a:xfrm>
              <a:prstGeom prst="line">
                <a:avLst/>
              </a:prstGeom>
              <a:noFill/>
              <a:ln w="3175" cap="flat" cmpd="sng" algn="ctr">
                <a:solidFill>
                  <a:srgbClr val="CC0000"/>
                </a:solidFill>
                <a:prstDash val="solid"/>
              </a:ln>
              <a:effectLst/>
            </p:spPr>
          </p:cxnSp>
        </p:grpSp>
        <p:grpSp>
          <p:nvGrpSpPr>
            <p:cNvPr id="1047" name="Group 636">
              <a:extLst>
                <a:ext uri="{FF2B5EF4-FFF2-40B4-BE49-F238E27FC236}">
                  <a16:creationId xmlns:a16="http://schemas.microsoft.com/office/drawing/2014/main" id="{6DF58C37-21E3-AF4F-B080-530FD985E91D}"/>
                </a:ext>
              </a:extLst>
            </p:cNvPr>
            <p:cNvGrpSpPr>
              <a:grpSpLocks/>
            </p:cNvGrpSpPr>
            <p:nvPr/>
          </p:nvGrpSpPr>
          <p:grpSpPr bwMode="auto">
            <a:xfrm>
              <a:off x="6605874" y="5046158"/>
              <a:ext cx="430134" cy="328898"/>
              <a:chOff x="2955740" y="3913102"/>
              <a:chExt cx="430453" cy="328747"/>
            </a:xfrm>
          </p:grpSpPr>
          <p:sp>
            <p:nvSpPr>
              <p:cNvPr id="1053" name="Rectangle 1052">
                <a:extLst>
                  <a:ext uri="{FF2B5EF4-FFF2-40B4-BE49-F238E27FC236}">
                    <a16:creationId xmlns:a16="http://schemas.microsoft.com/office/drawing/2014/main" id="{F4182402-0285-CD46-9828-6534BE97D257}"/>
                  </a:ext>
                </a:extLst>
              </p:cNvPr>
              <p:cNvSpPr/>
              <p:nvPr/>
            </p:nvSpPr>
            <p:spPr>
              <a:xfrm>
                <a:off x="2960504" y="3913102"/>
                <a:ext cx="425689" cy="328747"/>
              </a:xfrm>
              <a:prstGeom prst="rect">
                <a:avLst/>
              </a:prstGeom>
              <a:solidFill>
                <a:srgbClr val="FFFFFF"/>
              </a:solidFill>
              <a:ln w="3175" cap="flat" cmpd="sng" algn="ctr">
                <a:solidFill>
                  <a:srgbClr val="CC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54" name="Straight Connector 1053">
                <a:extLst>
                  <a:ext uri="{FF2B5EF4-FFF2-40B4-BE49-F238E27FC236}">
                    <a16:creationId xmlns:a16="http://schemas.microsoft.com/office/drawing/2014/main" id="{D14A7BEB-C638-0A47-B8DE-352AFA82413E}"/>
                  </a:ext>
                </a:extLst>
              </p:cNvPr>
              <p:cNvCxnSpPr/>
              <p:nvPr/>
            </p:nvCxnSpPr>
            <p:spPr>
              <a:xfrm>
                <a:off x="2955740" y="4005215"/>
                <a:ext cx="425689" cy="0"/>
              </a:xfrm>
              <a:prstGeom prst="line">
                <a:avLst/>
              </a:prstGeom>
              <a:noFill/>
              <a:ln w="3175" cap="flat" cmpd="sng" algn="ctr">
                <a:solidFill>
                  <a:srgbClr val="CC0000"/>
                </a:solidFill>
                <a:prstDash val="solid"/>
              </a:ln>
              <a:effectLst/>
            </p:spPr>
          </p:cxnSp>
          <p:cxnSp>
            <p:nvCxnSpPr>
              <p:cNvPr id="1055" name="Straight Connector 1054">
                <a:extLst>
                  <a:ext uri="{FF2B5EF4-FFF2-40B4-BE49-F238E27FC236}">
                    <a16:creationId xmlns:a16="http://schemas.microsoft.com/office/drawing/2014/main" id="{F02DD2C2-E65E-7E4C-B479-635D130D51D4}"/>
                  </a:ext>
                </a:extLst>
              </p:cNvPr>
              <p:cNvCxnSpPr/>
              <p:nvPr/>
            </p:nvCxnSpPr>
            <p:spPr>
              <a:xfrm>
                <a:off x="2959751" y="4067152"/>
                <a:ext cx="425689" cy="0"/>
              </a:xfrm>
              <a:prstGeom prst="line">
                <a:avLst/>
              </a:prstGeom>
              <a:noFill/>
              <a:ln w="3175" cap="flat" cmpd="sng" algn="ctr">
                <a:solidFill>
                  <a:srgbClr val="CC0000"/>
                </a:solidFill>
                <a:prstDash val="solid"/>
              </a:ln>
              <a:effectLst/>
            </p:spPr>
          </p:cxnSp>
          <p:cxnSp>
            <p:nvCxnSpPr>
              <p:cNvPr id="1056" name="Straight Connector 1055">
                <a:extLst>
                  <a:ext uri="{FF2B5EF4-FFF2-40B4-BE49-F238E27FC236}">
                    <a16:creationId xmlns:a16="http://schemas.microsoft.com/office/drawing/2014/main" id="{01A054F6-D6ED-F249-8703-213FDF32A722}"/>
                  </a:ext>
                </a:extLst>
              </p:cNvPr>
              <p:cNvCxnSpPr>
                <a:stCxn id="1053" idx="2"/>
              </p:cNvCxnSpPr>
              <p:nvPr/>
            </p:nvCxnSpPr>
            <p:spPr>
              <a:xfrm flipH="1" flipV="1">
                <a:off x="3171761" y="4005215"/>
                <a:ext cx="1588" cy="236634"/>
              </a:xfrm>
              <a:prstGeom prst="line">
                <a:avLst/>
              </a:prstGeom>
              <a:noFill/>
              <a:ln w="3175" cap="flat" cmpd="sng" algn="ctr">
                <a:solidFill>
                  <a:srgbClr val="CC0000"/>
                </a:solidFill>
                <a:prstDash val="solid"/>
              </a:ln>
              <a:effectLst/>
            </p:spPr>
          </p:cxnSp>
        </p:grpSp>
        <p:grpSp>
          <p:nvGrpSpPr>
            <p:cNvPr id="1048" name="Group 554">
              <a:extLst>
                <a:ext uri="{FF2B5EF4-FFF2-40B4-BE49-F238E27FC236}">
                  <a16:creationId xmlns:a16="http://schemas.microsoft.com/office/drawing/2014/main" id="{BAA5C424-578C-0343-914E-B5BD57101FDC}"/>
                </a:ext>
              </a:extLst>
            </p:cNvPr>
            <p:cNvGrpSpPr>
              <a:grpSpLocks/>
            </p:cNvGrpSpPr>
            <p:nvPr/>
          </p:nvGrpSpPr>
          <p:grpSpPr bwMode="auto">
            <a:xfrm>
              <a:off x="2055070" y="4690247"/>
              <a:ext cx="675320" cy="521222"/>
              <a:chOff x="2931664" y="3912603"/>
              <a:chExt cx="430450" cy="329314"/>
            </a:xfrm>
          </p:grpSpPr>
          <p:sp>
            <p:nvSpPr>
              <p:cNvPr id="1049" name="Rectangle 1048">
                <a:extLst>
                  <a:ext uri="{FF2B5EF4-FFF2-40B4-BE49-F238E27FC236}">
                    <a16:creationId xmlns:a16="http://schemas.microsoft.com/office/drawing/2014/main" id="{A0CDA39B-A97A-7842-8A3D-C53D637AE12E}"/>
                  </a:ext>
                </a:extLst>
              </p:cNvPr>
              <p:cNvSpPr/>
              <p:nvPr/>
            </p:nvSpPr>
            <p:spPr>
              <a:xfrm>
                <a:off x="2936722" y="3913607"/>
                <a:ext cx="425923" cy="328266"/>
              </a:xfrm>
              <a:prstGeom prst="rect">
                <a:avLst/>
              </a:prstGeom>
              <a:solidFill>
                <a:srgbClr val="FFFFFF"/>
              </a:solidFill>
              <a:ln w="3175" cap="flat" cmpd="sng" algn="ctr">
                <a:solidFill>
                  <a:srgbClr val="CC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1050" name="Straight Connector 1049">
                <a:extLst>
                  <a:ext uri="{FF2B5EF4-FFF2-40B4-BE49-F238E27FC236}">
                    <a16:creationId xmlns:a16="http://schemas.microsoft.com/office/drawing/2014/main" id="{779BD574-9352-0A4A-AD81-3425C567CA59}"/>
                  </a:ext>
                </a:extLst>
              </p:cNvPr>
              <p:cNvCxnSpPr/>
              <p:nvPr/>
            </p:nvCxnSpPr>
            <p:spPr>
              <a:xfrm>
                <a:off x="2932675" y="4004959"/>
                <a:ext cx="424911" cy="0"/>
              </a:xfrm>
              <a:prstGeom prst="line">
                <a:avLst/>
              </a:prstGeom>
              <a:noFill/>
              <a:ln w="3175" cap="flat" cmpd="sng" algn="ctr">
                <a:solidFill>
                  <a:srgbClr val="CC0000"/>
                </a:solidFill>
                <a:prstDash val="solid"/>
              </a:ln>
              <a:effectLst/>
            </p:spPr>
          </p:cxnSp>
          <p:cxnSp>
            <p:nvCxnSpPr>
              <p:cNvPr id="1051" name="Straight Connector 1050">
                <a:extLst>
                  <a:ext uri="{FF2B5EF4-FFF2-40B4-BE49-F238E27FC236}">
                    <a16:creationId xmlns:a16="http://schemas.microsoft.com/office/drawing/2014/main" id="{E4722BD0-017E-9C4D-9B3E-BB2C34567D80}"/>
                  </a:ext>
                </a:extLst>
              </p:cNvPr>
              <p:cNvCxnSpPr/>
              <p:nvPr/>
            </p:nvCxnSpPr>
            <p:spPr>
              <a:xfrm>
                <a:off x="2932675" y="4069207"/>
                <a:ext cx="424911" cy="0"/>
              </a:xfrm>
              <a:prstGeom prst="line">
                <a:avLst/>
              </a:prstGeom>
              <a:noFill/>
              <a:ln w="3175" cap="flat" cmpd="sng" algn="ctr">
                <a:solidFill>
                  <a:srgbClr val="CC0000"/>
                </a:solidFill>
                <a:prstDash val="solid"/>
              </a:ln>
              <a:effectLst/>
            </p:spPr>
          </p:cxnSp>
          <p:cxnSp>
            <p:nvCxnSpPr>
              <p:cNvPr id="1052" name="Straight Connector 1051">
                <a:extLst>
                  <a:ext uri="{FF2B5EF4-FFF2-40B4-BE49-F238E27FC236}">
                    <a16:creationId xmlns:a16="http://schemas.microsoft.com/office/drawing/2014/main" id="{BA1C7D13-CACA-DE42-A4BD-9DF0691F3FA5}"/>
                  </a:ext>
                </a:extLst>
              </p:cNvPr>
              <p:cNvCxnSpPr>
                <a:stCxn id="1049" idx="2"/>
              </p:cNvCxnSpPr>
              <p:nvPr/>
            </p:nvCxnSpPr>
            <p:spPr>
              <a:xfrm flipH="1" flipV="1">
                <a:off x="3148166" y="4004959"/>
                <a:ext cx="1011" cy="236914"/>
              </a:xfrm>
              <a:prstGeom prst="line">
                <a:avLst/>
              </a:prstGeom>
              <a:noFill/>
              <a:ln w="3175" cap="flat" cmpd="sng" algn="ctr">
                <a:solidFill>
                  <a:srgbClr val="CC0000"/>
                </a:solidFill>
                <a:prstDash val="solid"/>
              </a:ln>
              <a:effectLst/>
            </p:spPr>
          </p:cxnSp>
        </p:grpSp>
      </p:grpSp>
      <p:sp>
        <p:nvSpPr>
          <p:cNvPr id="373" name="TextBox 257">
            <a:extLst>
              <a:ext uri="{FF2B5EF4-FFF2-40B4-BE49-F238E27FC236}">
                <a16:creationId xmlns:a16="http://schemas.microsoft.com/office/drawing/2014/main" id="{F4B7880C-9B9E-BC47-BEF3-F1B49D2258CE}"/>
              </a:ext>
            </a:extLst>
          </p:cNvPr>
          <p:cNvSpPr txBox="1">
            <a:spLocks noChangeArrowheads="1"/>
          </p:cNvSpPr>
          <p:nvPr/>
        </p:nvSpPr>
        <p:spPr bwMode="auto">
          <a:xfrm>
            <a:off x="625856" y="2779939"/>
            <a:ext cx="844473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685800" lvl="1" indent="-219075" defTabSz="685800" eaLnBrk="1" fontAlgn="auto" hangingPunct="1">
              <a:spcBef>
                <a:spcPts val="0"/>
              </a:spcBef>
              <a:spcAft>
                <a:spcPts val="0"/>
              </a:spcAft>
              <a:buClr>
                <a:srgbClr val="0013A3"/>
              </a:buClr>
              <a:buFont typeface="Arial" panose="020B0604020202020204" pitchFamily="34" charset="0"/>
              <a:buChar char="•"/>
              <a:defRPr/>
            </a:pPr>
            <a:r>
              <a:rPr lang="en-US" altLang="en-US" sz="2100" i="1" dirty="0">
                <a:solidFill>
                  <a:srgbClr val="0013A3"/>
                </a:solidFill>
                <a:latin typeface="Calibri" panose="020F0502020204030204"/>
              </a:rPr>
              <a:t>g</a:t>
            </a:r>
            <a:r>
              <a:rPr lang="en-US" altLang="en-US" sz="2100" i="1" dirty="0" err="1">
                <a:solidFill>
                  <a:srgbClr val="0013A3"/>
                </a:solidFill>
                <a:latin typeface="Calibri" panose="020F0502020204030204"/>
              </a:rPr>
              <a:t>eneralized</a:t>
            </a:r>
            <a:r>
              <a:rPr lang="en-US" altLang="en-US" sz="2100" i="1" dirty="0">
                <a:solidFill>
                  <a:srgbClr val="0013A3"/>
                </a:solidFill>
                <a:latin typeface="Calibri" panose="020F0502020204030204"/>
              </a:rPr>
              <a:t> forwarding</a:t>
            </a:r>
            <a:r>
              <a:rPr lang="en-US" altLang="en-US" sz="2100" dirty="0">
                <a:solidFill>
                  <a:prstClr val="black"/>
                </a:solidFill>
                <a:latin typeface="Calibri" panose="020F0502020204030204"/>
              </a:rPr>
              <a:t>: </a:t>
            </a:r>
          </a:p>
          <a:p>
            <a:pPr marL="985838" lvl="2" indent="-219075" defTabSz="685800" eaLnBrk="1" fontAlgn="auto" hangingPunct="1">
              <a:spcBef>
                <a:spcPts val="0"/>
              </a:spcBef>
              <a:spcAft>
                <a:spcPts val="0"/>
              </a:spcAft>
              <a:buClr>
                <a:srgbClr val="0013A3"/>
              </a:buClr>
              <a:buFont typeface="Arial" panose="020B0604020202020204" pitchFamily="34" charset="0"/>
              <a:buChar char="•"/>
              <a:defRPr/>
            </a:pPr>
            <a:r>
              <a:rPr lang="en-US" altLang="en-US" sz="1950" dirty="0">
                <a:solidFill>
                  <a:prstClr val="black"/>
                </a:solidFill>
                <a:latin typeface="Calibri" panose="020F0502020204030204"/>
              </a:rPr>
              <a:t>many header fields can determine action</a:t>
            </a:r>
          </a:p>
          <a:p>
            <a:pPr marL="985838" lvl="2" indent="-219075" defTabSz="685800" eaLnBrk="1" fontAlgn="auto" hangingPunct="1">
              <a:spcBef>
                <a:spcPts val="0"/>
              </a:spcBef>
              <a:spcAft>
                <a:spcPts val="0"/>
              </a:spcAft>
              <a:buClr>
                <a:srgbClr val="0013A3"/>
              </a:buClr>
              <a:buFont typeface="Arial" panose="020B0604020202020204" pitchFamily="34" charset="0"/>
              <a:buChar char="•"/>
              <a:defRPr/>
            </a:pPr>
            <a:r>
              <a:rPr lang="en-US" altLang="en-US" sz="1950" dirty="0">
                <a:solidFill>
                  <a:prstClr val="black"/>
                </a:solidFill>
                <a:latin typeface="Calibri" panose="020F0502020204030204"/>
              </a:rPr>
              <a:t>many action possible: drop/copy/modify/log packet</a:t>
            </a:r>
          </a:p>
        </p:txBody>
      </p:sp>
      <p:grpSp>
        <p:nvGrpSpPr>
          <p:cNvPr id="23" name="Group 22">
            <a:extLst>
              <a:ext uri="{FF2B5EF4-FFF2-40B4-BE49-F238E27FC236}">
                <a16:creationId xmlns:a16="http://schemas.microsoft.com/office/drawing/2014/main" id="{7EB18609-2205-A249-9D68-205D424A2ECF}"/>
              </a:ext>
            </a:extLst>
          </p:cNvPr>
          <p:cNvGrpSpPr/>
          <p:nvPr/>
        </p:nvGrpSpPr>
        <p:grpSpPr>
          <a:xfrm>
            <a:off x="924001" y="4443424"/>
            <a:ext cx="1847774" cy="253916"/>
            <a:chOff x="1232001" y="4781571"/>
            <a:chExt cx="2463699" cy="338555"/>
          </a:xfrm>
        </p:grpSpPr>
        <p:sp>
          <p:nvSpPr>
            <p:cNvPr id="355" name="TextBox 6">
              <a:extLst>
                <a:ext uri="{FF2B5EF4-FFF2-40B4-BE49-F238E27FC236}">
                  <a16:creationId xmlns:a16="http://schemas.microsoft.com/office/drawing/2014/main" id="{B9CE97C1-70E2-1B46-A362-9326BB303FB5}"/>
                </a:ext>
              </a:extLst>
            </p:cNvPr>
            <p:cNvSpPr txBox="1">
              <a:spLocks noChangeArrowheads="1"/>
            </p:cNvSpPr>
            <p:nvPr/>
          </p:nvSpPr>
          <p:spPr bwMode="auto">
            <a:xfrm>
              <a:off x="1232001" y="4781571"/>
              <a:ext cx="1992314"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dirty="0">
                  <a:solidFill>
                    <a:srgbClr val="000000"/>
                  </a:solidFill>
                </a:rPr>
                <a:t>forwarding table</a:t>
              </a:r>
              <a:endParaRPr lang="en-US" altLang="en-US" sz="1350" kern="0" dirty="0">
                <a:solidFill>
                  <a:srgbClr val="000000"/>
                </a:solidFill>
              </a:endParaRPr>
            </a:p>
          </p:txBody>
        </p:sp>
        <p:cxnSp>
          <p:nvCxnSpPr>
            <p:cNvPr id="22" name="Straight Arrow Connector 21">
              <a:extLst>
                <a:ext uri="{FF2B5EF4-FFF2-40B4-BE49-F238E27FC236}">
                  <a16:creationId xmlns:a16="http://schemas.microsoft.com/office/drawing/2014/main" id="{718FD357-53DF-2C4F-884C-13EFB7472111}"/>
                </a:ext>
              </a:extLst>
            </p:cNvPr>
            <p:cNvCxnSpPr/>
            <p:nvPr/>
          </p:nvCxnSpPr>
          <p:spPr>
            <a:xfrm>
              <a:off x="2641600" y="4953000"/>
              <a:ext cx="1054100"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3223B0B-9826-DD42-9402-328FE8BFC20E}"/>
              </a:ext>
            </a:extLst>
          </p:cNvPr>
          <p:cNvGrpSpPr/>
          <p:nvPr/>
        </p:nvGrpSpPr>
        <p:grpSpPr>
          <a:xfrm>
            <a:off x="940180" y="1798863"/>
            <a:ext cx="7041770" cy="3046103"/>
            <a:chOff x="1253574" y="1255484"/>
            <a:chExt cx="9389026" cy="4061471"/>
          </a:xfrm>
        </p:grpSpPr>
        <p:sp>
          <p:nvSpPr>
            <p:cNvPr id="377" name="TextBox 257">
              <a:extLst>
                <a:ext uri="{FF2B5EF4-FFF2-40B4-BE49-F238E27FC236}">
                  <a16:creationId xmlns:a16="http://schemas.microsoft.com/office/drawing/2014/main" id="{3FD4971D-4348-1141-8B93-F0D44DDFD09D}"/>
                </a:ext>
              </a:extLst>
            </p:cNvPr>
            <p:cNvSpPr txBox="1">
              <a:spLocks noChangeArrowheads="1"/>
            </p:cNvSpPr>
            <p:nvPr/>
          </p:nvSpPr>
          <p:spPr bwMode="auto">
            <a:xfrm>
              <a:off x="8022674" y="1255484"/>
              <a:ext cx="2619926"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2100" dirty="0">
                  <a:solidFill>
                    <a:prstClr val="black"/>
                  </a:solidFill>
                  <a:latin typeface="Calibri" panose="020F0502020204030204"/>
                </a:rPr>
                <a:t>(aka:</a:t>
              </a:r>
              <a:r>
                <a:rPr lang="en-US" altLang="en-US" sz="2100" dirty="0">
                  <a:solidFill>
                    <a:srgbClr val="CC0000"/>
                  </a:solidFill>
                  <a:latin typeface="Calibri" panose="020F0502020204030204"/>
                </a:rPr>
                <a:t> flow table</a:t>
              </a:r>
              <a:r>
                <a:rPr lang="en-US" altLang="en-US" sz="2100" dirty="0">
                  <a:solidFill>
                    <a:prstClr val="black"/>
                  </a:solidFill>
                  <a:latin typeface="Calibri" panose="020F0502020204030204"/>
                </a:rPr>
                <a:t>)</a:t>
              </a:r>
            </a:p>
          </p:txBody>
        </p:sp>
        <p:sp>
          <p:nvSpPr>
            <p:cNvPr id="378" name="TextBox 257">
              <a:extLst>
                <a:ext uri="{FF2B5EF4-FFF2-40B4-BE49-F238E27FC236}">
                  <a16:creationId xmlns:a16="http://schemas.microsoft.com/office/drawing/2014/main" id="{6831D934-21EE-F044-AFB7-110D2271A670}"/>
                </a:ext>
              </a:extLst>
            </p:cNvPr>
            <p:cNvSpPr txBox="1">
              <a:spLocks noChangeArrowheads="1"/>
            </p:cNvSpPr>
            <p:nvPr/>
          </p:nvSpPr>
          <p:spPr bwMode="auto">
            <a:xfrm>
              <a:off x="1253574" y="4978400"/>
              <a:ext cx="1553127"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050" dirty="0">
                  <a:solidFill>
                    <a:prstClr val="black"/>
                  </a:solidFill>
                  <a:latin typeface="Calibri" panose="020F0502020204030204"/>
                </a:rPr>
                <a:t>(aka:</a:t>
              </a:r>
              <a:r>
                <a:rPr lang="en-US" altLang="en-US" sz="1050" dirty="0">
                  <a:solidFill>
                    <a:srgbClr val="CC0000"/>
                  </a:solidFill>
                  <a:latin typeface="Calibri" panose="020F0502020204030204"/>
                </a:rPr>
                <a:t> flow table</a:t>
              </a:r>
              <a:r>
                <a:rPr lang="en-US" altLang="en-US" sz="1050" dirty="0">
                  <a:solidFill>
                    <a:prstClr val="black"/>
                  </a:solidFill>
                  <a:latin typeface="Calibri" panose="020F0502020204030204"/>
                </a:rPr>
                <a:t>)</a:t>
              </a:r>
            </a:p>
          </p:txBody>
        </p:sp>
      </p:grpSp>
      <p:sp>
        <p:nvSpPr>
          <p:cNvPr id="380" name="TextBox 257">
            <a:extLst>
              <a:ext uri="{FF2B5EF4-FFF2-40B4-BE49-F238E27FC236}">
                <a16:creationId xmlns:a16="http://schemas.microsoft.com/office/drawing/2014/main" id="{EB52E785-426C-8A41-A346-A5059F7CEF7E}"/>
              </a:ext>
            </a:extLst>
          </p:cNvPr>
          <p:cNvSpPr txBox="1">
            <a:spLocks noChangeArrowheads="1"/>
          </p:cNvSpPr>
          <p:nvPr/>
        </p:nvSpPr>
        <p:spPr bwMode="auto">
          <a:xfrm>
            <a:off x="627017" y="2461663"/>
            <a:ext cx="844473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685800" lvl="1" indent="-219075" defTabSz="685800" eaLnBrk="1" fontAlgn="auto" hangingPunct="1">
              <a:spcBef>
                <a:spcPts val="0"/>
              </a:spcBef>
              <a:spcAft>
                <a:spcPts val="0"/>
              </a:spcAft>
              <a:buClr>
                <a:srgbClr val="0013A3"/>
              </a:buClr>
              <a:buFont typeface="Arial" panose="020B0604020202020204" pitchFamily="34" charset="0"/>
              <a:buChar char="•"/>
              <a:defRPr/>
            </a:pPr>
            <a:r>
              <a:rPr lang="en-US" altLang="en-US" sz="2100" i="1" dirty="0">
                <a:solidFill>
                  <a:srgbClr val="0013A3"/>
                </a:solidFill>
                <a:latin typeface="Calibri" panose="020F0502020204030204"/>
              </a:rPr>
              <a:t>destination-based forwarding: </a:t>
            </a:r>
            <a:r>
              <a:rPr lang="en-US" altLang="en-US" sz="2100" dirty="0">
                <a:solidFill>
                  <a:prstClr val="black"/>
                </a:solidFill>
                <a:latin typeface="Calibri" panose="020F0502020204030204"/>
              </a:rPr>
              <a:t>forward based on </a:t>
            </a:r>
            <a:r>
              <a:rPr lang="en-US" altLang="en-US" sz="2100" dirty="0" err="1">
                <a:solidFill>
                  <a:prstClr val="black"/>
                </a:solidFill>
                <a:latin typeface="Calibri" panose="020F0502020204030204"/>
              </a:rPr>
              <a:t>dest</a:t>
            </a:r>
            <a:r>
              <a:rPr lang="en-US" altLang="en-US" sz="2100" dirty="0">
                <a:solidFill>
                  <a:prstClr val="black"/>
                </a:solidFill>
                <a:latin typeface="Calibri" panose="020F0502020204030204"/>
              </a:rPr>
              <a:t>. IP address</a:t>
            </a:r>
          </a:p>
        </p:txBody>
      </p:sp>
      <p:sp>
        <p:nvSpPr>
          <p:cNvPr id="223" name="Slide Number Placeholder 3">
            <a:extLst>
              <a:ext uri="{FF2B5EF4-FFF2-40B4-BE49-F238E27FC236}">
                <a16:creationId xmlns:a16="http://schemas.microsoft.com/office/drawing/2014/main" id="{B73C8E8A-E0D2-6B4B-BF9E-AC7347C804B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137</a:t>
            </a:fld>
            <a:endParaRPr lang="en-US" dirty="0"/>
          </a:p>
        </p:txBody>
      </p:sp>
    </p:spTree>
    <p:extLst>
      <p:ext uri="{BB962C8B-B14F-4D97-AF65-F5344CB8AC3E}">
        <p14:creationId xmlns:p14="http://schemas.microsoft.com/office/powerpoint/2010/main" val="283437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16667E-6 -1.48148E-6 L -0.05364 0.46621 " pathEditMode="relative" rAng="0" ptsTypes="AA">
                                      <p:cBhvr>
                                        <p:cTn id="6" dur="2000" fill="hold"/>
                                        <p:tgtEl>
                                          <p:spTgt spid="3"/>
                                        </p:tgtEl>
                                        <p:attrNameLst>
                                          <p:attrName>ppt_x</p:attrName>
                                          <p:attrName>ppt_y</p:attrName>
                                        </p:attrNameLst>
                                      </p:cBhvr>
                                      <p:rCtr x="-2682" y="23310"/>
                                    </p:animMotion>
                                  </p:childTnLst>
                                </p:cTn>
                              </p:par>
                            </p:childTnLst>
                          </p:cTn>
                        </p:par>
                        <p:par>
                          <p:cTn id="7" fill="hold">
                            <p:stCondLst>
                              <p:cond delay="2000"/>
                            </p:stCondLst>
                            <p:childTnLst>
                              <p:par>
                                <p:cTn id="8" presetID="22" presetClass="entr" presetSubtype="4" fill="hold"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childTnLst>
                          </p:cTn>
                        </p:par>
                        <p:par>
                          <p:cTn id="11" fill="hold">
                            <p:stCondLst>
                              <p:cond delay="2500"/>
                            </p:stCondLst>
                            <p:childTnLst>
                              <p:par>
                                <p:cTn id="12" presetID="9" presetClass="entr" presetSubtype="0" fill="hold" nodeType="afterEffect">
                                  <p:stCondLst>
                                    <p:cond delay="0"/>
                                  </p:stCondLst>
                                  <p:childTnLst>
                                    <p:set>
                                      <p:cBhvr>
                                        <p:cTn id="13" dur="1" fill="hold">
                                          <p:stCondLst>
                                            <p:cond delay="0"/>
                                          </p:stCondLst>
                                        </p:cTn>
                                        <p:tgtEl>
                                          <p:spTgt spid="1043"/>
                                        </p:tgtEl>
                                        <p:attrNameLst>
                                          <p:attrName>style.visibility</p:attrName>
                                        </p:attrNameLst>
                                      </p:cBhvr>
                                      <p:to>
                                        <p:strVal val="visible"/>
                                      </p:to>
                                    </p:set>
                                    <p:animEffect transition="in" filter="dissolve">
                                      <p:cBhvr>
                                        <p:cTn id="14" dur="1000"/>
                                        <p:tgtEl>
                                          <p:spTgt spid="1043"/>
                                        </p:tgtEl>
                                      </p:cBhvr>
                                    </p:animEffect>
                                  </p:childTnLst>
                                </p:cTn>
                              </p:par>
                              <p:par>
                                <p:cTn id="15" presetID="9"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ssolve">
                                      <p:cBhvr>
                                        <p:cTn id="17" dur="500"/>
                                        <p:tgtEl>
                                          <p:spTgt spid="23"/>
                                        </p:tgtEl>
                                      </p:cBhvr>
                                    </p:animEffect>
                                  </p:childTnLst>
                                </p:cTn>
                              </p:par>
                            </p:childTnLst>
                          </p:cTn>
                        </p:par>
                        <p:par>
                          <p:cTn id="18" fill="hold">
                            <p:stCondLst>
                              <p:cond delay="3500"/>
                            </p:stCondLst>
                            <p:childTnLst>
                              <p:par>
                                <p:cTn id="19" presetID="9"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0"/>
                                        </p:tgtEl>
                                        <p:attrNameLst>
                                          <p:attrName>style.visibility</p:attrName>
                                        </p:attrNameLst>
                                      </p:cBhvr>
                                      <p:to>
                                        <p:strVal val="visible"/>
                                      </p:to>
                                    </p:set>
                                    <p:animEffect transition="in" filter="dissolve">
                                      <p:cBhvr>
                                        <p:cTn id="26" dur="500"/>
                                        <p:tgtEl>
                                          <p:spTgt spid="380"/>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73"/>
                                        </p:tgtEl>
                                        <p:attrNameLst>
                                          <p:attrName>style.visibility</p:attrName>
                                        </p:attrNameLst>
                                      </p:cBhvr>
                                      <p:to>
                                        <p:strVal val="visible"/>
                                      </p:to>
                                    </p:set>
                                    <p:animEffect transition="in" filter="dissolve">
                                      <p:cBhvr>
                                        <p:cTn id="31" dur="500"/>
                                        <p:tgtEl>
                                          <p:spTgt spid="373"/>
                                        </p:tgtEl>
                                      </p:cBhvr>
                                    </p:animEffect>
                                  </p:childTnLst>
                                </p:cTn>
                              </p:par>
                              <p:par>
                                <p:cTn id="32" presetID="9"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dissolve">
                                      <p:cBhvr>
                                        <p:cTn id="3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73" grpId="0"/>
      <p:bldP spid="380"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0" y="0"/>
            <a:ext cx="9143999" cy="926011"/>
            <a:chOff x="0" y="0"/>
            <a:chExt cx="9143999" cy="926011"/>
          </a:xfrm>
        </p:grpSpPr>
        <p:pic>
          <p:nvPicPr>
            <p:cNvPr id="14" name="Picture 13" descr="Screen Shot 2015-04-08 at 10.38.40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15" name="Picture 14" descr="Screen Shot 2015-04-08 at 10.42.03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6" name="Rectangle 2"/>
          <p:cNvSpPr txBox="1">
            <a:spLocks noChangeArrowheads="1"/>
          </p:cNvSpPr>
          <p:nvPr/>
        </p:nvSpPr>
        <p:spPr bwMode="auto">
          <a:xfrm>
            <a:off x="2412208" y="140786"/>
            <a:ext cx="6731792"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altLang="ja-JP" sz="2800" dirty="0">
                <a:solidFill>
                  <a:schemeClr val="bg1"/>
                </a:solidFill>
                <a:latin typeface="Arial"/>
                <a:ea typeface="ＭＳ Ｐゴシック" pitchFamily="34" charset="-128"/>
                <a:cs typeface="Arial"/>
              </a:rPr>
              <a:t>Generalized Forwarding and SDN</a:t>
            </a:r>
            <a:endParaRPr lang="en-US" sz="2800" dirty="0">
              <a:solidFill>
                <a:schemeClr val="bg1"/>
              </a:solidFill>
              <a:latin typeface="Arial"/>
              <a:ea typeface="ＭＳ Ｐゴシック" pitchFamily="34" charset="-128"/>
              <a:cs typeface="Arial"/>
            </a:endParaRPr>
          </a:p>
        </p:txBody>
      </p:sp>
      <p:pic>
        <p:nvPicPr>
          <p:cNvPr id="4" name="Picture 3">
            <a:extLst>
              <a:ext uri="{FF2B5EF4-FFF2-40B4-BE49-F238E27FC236}">
                <a16:creationId xmlns:a16="http://schemas.microsoft.com/office/drawing/2014/main" id="{85B68193-CB01-E54A-9E9C-3FD2572510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58593" y="1359391"/>
            <a:ext cx="6774912" cy="5259272"/>
          </a:xfrm>
          <a:prstGeom prst="rect">
            <a:avLst/>
          </a:prstGeom>
        </p:spPr>
      </p:pic>
      <p:sp>
        <p:nvSpPr>
          <p:cNvPr id="23" name="TextBox 22">
            <a:extLst>
              <a:ext uri="{FF2B5EF4-FFF2-40B4-BE49-F238E27FC236}">
                <a16:creationId xmlns:a16="http://schemas.microsoft.com/office/drawing/2014/main" id="{6952A9ED-6B20-614A-963E-A949B502D43E}"/>
              </a:ext>
            </a:extLst>
          </p:cNvPr>
          <p:cNvSpPr txBox="1"/>
          <p:nvPr/>
        </p:nvSpPr>
        <p:spPr>
          <a:xfrm>
            <a:off x="0" y="6649357"/>
            <a:ext cx="6294584" cy="215444"/>
          </a:xfrm>
          <a:prstGeom prst="rect">
            <a:avLst/>
          </a:prstGeom>
          <a:noFill/>
        </p:spPr>
        <p:txBody>
          <a:bodyPr wrap="square" rtlCol="0">
            <a:spAutoFit/>
          </a:bodyPr>
          <a:lstStyle/>
          <a:p>
            <a:pPr algn="l"/>
            <a:r>
              <a:rPr lang="en-US" sz="800" dirty="0">
                <a:latin typeface="Times New Roman" panose="02020603050405020304" pitchFamily="18" charset="0"/>
                <a:cs typeface="Times New Roman" panose="02020603050405020304" pitchFamily="18" charset="0"/>
              </a:rPr>
              <a:t>Kurose, J.F. and Ross, K.W. (2021). Computer Networking: A Top-Down Approach (8</a:t>
            </a:r>
            <a:r>
              <a:rPr lang="en-US" sz="800" baseline="30000" dirty="0">
                <a:latin typeface="Times New Roman" panose="02020603050405020304" pitchFamily="18" charset="0"/>
                <a:cs typeface="Times New Roman" panose="02020603050405020304" pitchFamily="18" charset="0"/>
              </a:rPr>
              <a:t>th</a:t>
            </a:r>
            <a:r>
              <a:rPr lang="en-US" sz="800" dirty="0">
                <a:latin typeface="Times New Roman" panose="02020603050405020304" pitchFamily="18" charset="0"/>
                <a:cs typeface="Times New Roman" panose="02020603050405020304" pitchFamily="18" charset="0"/>
              </a:rPr>
              <a:t> Edition). </a:t>
            </a:r>
            <a:r>
              <a:rPr lang="en-MY" sz="800" dirty="0">
                <a:latin typeface="Times New Roman" panose="02020603050405020304" pitchFamily="18" charset="0"/>
                <a:cs typeface="Times New Roman" panose="02020603050405020304" pitchFamily="18" charset="0"/>
              </a:rPr>
              <a:t>Pearson Education Limited, England. (pp. 353)</a:t>
            </a:r>
          </a:p>
        </p:txBody>
      </p:sp>
      <p:cxnSp>
        <p:nvCxnSpPr>
          <p:cNvPr id="33" name="Straight Connector 32">
            <a:extLst>
              <a:ext uri="{FF2B5EF4-FFF2-40B4-BE49-F238E27FC236}">
                <a16:creationId xmlns:a16="http://schemas.microsoft.com/office/drawing/2014/main" id="{CCC35B26-2704-0B42-BF52-1A20B8229E66}"/>
              </a:ext>
            </a:extLst>
          </p:cNvPr>
          <p:cNvCxnSpPr/>
          <p:nvPr/>
        </p:nvCxnSpPr>
        <p:spPr bwMode="auto">
          <a:xfrm>
            <a:off x="0" y="6652822"/>
            <a:ext cx="8324850" cy="0"/>
          </a:xfrm>
          <a:prstGeom prst="line">
            <a:avLst/>
          </a:prstGeom>
          <a:noFill/>
          <a:ln w="12700" cap="flat" cmpd="sng" algn="ctr">
            <a:solidFill>
              <a:srgbClr val="00B0F0"/>
            </a:solidFill>
            <a:prstDash val="solid"/>
            <a:round/>
            <a:headEnd type="none" w="med" len="med"/>
            <a:tailEnd type="none"/>
          </a:ln>
          <a:effectLst/>
        </p:spPr>
      </p:cxnSp>
      <p:sp>
        <p:nvSpPr>
          <p:cNvPr id="34" name="Rectangle 33">
            <a:extLst>
              <a:ext uri="{FF2B5EF4-FFF2-40B4-BE49-F238E27FC236}">
                <a16:creationId xmlns:a16="http://schemas.microsoft.com/office/drawing/2014/main" id="{F71FCFE2-6C6F-9D4A-AD9F-F520B76742A5}"/>
              </a:ext>
            </a:extLst>
          </p:cNvPr>
          <p:cNvSpPr/>
          <p:nvPr/>
        </p:nvSpPr>
        <p:spPr bwMode="auto">
          <a:xfrm>
            <a:off x="3688017" y="3989027"/>
            <a:ext cx="978196" cy="740289"/>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5" name="Oval 34">
            <a:extLst>
              <a:ext uri="{FF2B5EF4-FFF2-40B4-BE49-F238E27FC236}">
                <a16:creationId xmlns:a16="http://schemas.microsoft.com/office/drawing/2014/main" id="{3F48DF4D-DFBD-A444-9193-DE9F0230384F}"/>
              </a:ext>
            </a:extLst>
          </p:cNvPr>
          <p:cNvSpPr/>
          <p:nvPr/>
        </p:nvSpPr>
        <p:spPr bwMode="auto">
          <a:xfrm>
            <a:off x="4385186" y="1584250"/>
            <a:ext cx="3470787" cy="386491"/>
          </a:xfrm>
          <a:prstGeom prst="ellipse">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2" name="Rectangle 41">
            <a:extLst>
              <a:ext uri="{FF2B5EF4-FFF2-40B4-BE49-F238E27FC236}">
                <a16:creationId xmlns:a16="http://schemas.microsoft.com/office/drawing/2014/main" id="{D9A98194-89E0-E146-A858-397E8B4F7CA9}"/>
              </a:ext>
            </a:extLst>
          </p:cNvPr>
          <p:cNvSpPr/>
          <p:nvPr/>
        </p:nvSpPr>
        <p:spPr bwMode="auto">
          <a:xfrm>
            <a:off x="2728493" y="5188136"/>
            <a:ext cx="1510766" cy="44941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1" name="Picture 40">
            <a:extLst>
              <a:ext uri="{FF2B5EF4-FFF2-40B4-BE49-F238E27FC236}">
                <a16:creationId xmlns:a16="http://schemas.microsoft.com/office/drawing/2014/main" id="{E63CA60E-CC4E-4641-BCDF-E6D4A297456A}"/>
              </a:ext>
            </a:extLst>
          </p:cNvPr>
          <p:cNvPicPr>
            <a:picLocks noChangeAspect="1"/>
          </p:cNvPicPr>
          <p:nvPr/>
        </p:nvPicPr>
        <p:blipFill rotWithShape="1">
          <a:blip r:embed="rId5">
            <a:extLst>
              <a:ext uri="{28A0092B-C50C-407E-A947-70E740481C1C}">
                <a14:useLocalDpi xmlns:a14="http://schemas.microsoft.com/office/drawing/2010/main" val="0"/>
              </a:ext>
            </a:extLst>
          </a:blip>
          <a:srcRect l="6401" t="73580" r="70508" b="12841"/>
          <a:stretch/>
        </p:blipFill>
        <p:spPr>
          <a:xfrm>
            <a:off x="3015946" y="5372019"/>
            <a:ext cx="1564478" cy="714150"/>
          </a:xfrm>
          <a:prstGeom prst="rect">
            <a:avLst/>
          </a:prstGeom>
        </p:spPr>
      </p:pic>
      <p:grpSp>
        <p:nvGrpSpPr>
          <p:cNvPr id="6" name="Group 5">
            <a:extLst>
              <a:ext uri="{FF2B5EF4-FFF2-40B4-BE49-F238E27FC236}">
                <a16:creationId xmlns:a16="http://schemas.microsoft.com/office/drawing/2014/main" id="{8D021231-09B2-7042-96A6-A4C4B888CA04}"/>
              </a:ext>
            </a:extLst>
          </p:cNvPr>
          <p:cNvGrpSpPr/>
          <p:nvPr/>
        </p:nvGrpSpPr>
        <p:grpSpPr>
          <a:xfrm>
            <a:off x="39810" y="3272879"/>
            <a:ext cx="3149463" cy="2408021"/>
            <a:chOff x="62159" y="3170349"/>
            <a:chExt cx="3149463" cy="2408021"/>
          </a:xfrm>
        </p:grpSpPr>
        <p:sp>
          <p:nvSpPr>
            <p:cNvPr id="38" name="Oval 37">
              <a:extLst>
                <a:ext uri="{FF2B5EF4-FFF2-40B4-BE49-F238E27FC236}">
                  <a16:creationId xmlns:a16="http://schemas.microsoft.com/office/drawing/2014/main" id="{35D5EC73-2178-214C-B402-6F8ADDEA579B}"/>
                </a:ext>
              </a:extLst>
            </p:cNvPr>
            <p:cNvSpPr/>
            <p:nvPr/>
          </p:nvSpPr>
          <p:spPr bwMode="auto">
            <a:xfrm>
              <a:off x="62160" y="3170349"/>
              <a:ext cx="3149462" cy="2408021"/>
            </a:xfrm>
            <a:prstGeom prst="ellipse">
              <a:avLst/>
            </a:prstGeom>
            <a:solidFill>
              <a:schemeClr val="bg1"/>
            </a:solidFill>
            <a:ln w="9525" cap="flat" cmpd="sng" algn="ctr">
              <a:noFill/>
              <a:prstDash val="solid"/>
              <a:round/>
              <a:headEnd type="none" w="med" len="med"/>
              <a:tailEnd type="none" w="med" len="med"/>
            </a:ln>
            <a:effectLst>
              <a:outerShdw blurRad="50800" dist="88900" dir="2700000" algn="tl" rotWithShape="0">
                <a:prstClr val="black">
                  <a:alpha val="40000"/>
                </a:prstClr>
              </a:outerShdw>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Oval Callout 38">
              <a:extLst>
                <a:ext uri="{FF2B5EF4-FFF2-40B4-BE49-F238E27FC236}">
                  <a16:creationId xmlns:a16="http://schemas.microsoft.com/office/drawing/2014/main" id="{57B108DF-DA88-0A48-8DDA-BED4A5A6ECF4}"/>
                </a:ext>
              </a:extLst>
            </p:cNvPr>
            <p:cNvSpPr/>
            <p:nvPr/>
          </p:nvSpPr>
          <p:spPr bwMode="auto">
            <a:xfrm>
              <a:off x="62159" y="3170349"/>
              <a:ext cx="3149463" cy="2408021"/>
            </a:xfrm>
            <a:prstGeom prst="wedgeEllipseCallout">
              <a:avLst>
                <a:gd name="adj1" fmla="val 65002"/>
                <a:gd name="adj2" fmla="val -5029"/>
              </a:avLst>
            </a:prstGeom>
            <a:solidFill>
              <a:srgbClr val="FFFF00">
                <a:alpha val="30000"/>
              </a:srgbClr>
            </a:solidFill>
            <a:ln w="9525" cap="flat" cmpd="sng" algn="ctr">
              <a:solidFill>
                <a:schemeClr val="tx1">
                  <a:alpha val="3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40" name="Rectangle 39">
              <a:extLst>
                <a:ext uri="{FF2B5EF4-FFF2-40B4-BE49-F238E27FC236}">
                  <a16:creationId xmlns:a16="http://schemas.microsoft.com/office/drawing/2014/main" id="{244F474C-B211-EA49-B0D0-B3B1C20C1827}"/>
                </a:ext>
              </a:extLst>
            </p:cNvPr>
            <p:cNvSpPr/>
            <p:nvPr/>
          </p:nvSpPr>
          <p:spPr>
            <a:xfrm>
              <a:off x="314750" y="3561810"/>
              <a:ext cx="2681532" cy="1754326"/>
            </a:xfrm>
            <a:prstGeom prst="rect">
              <a:avLst/>
            </a:prstGeom>
          </p:spPr>
          <p:txBody>
            <a:bodyPr wrap="square">
              <a:spAutoFit/>
            </a:bodyPr>
            <a:lstStyle/>
            <a:p>
              <a:pPr algn="ctr"/>
              <a:r>
                <a:rPr lang="en-US" b="1" dirty="0">
                  <a:solidFill>
                    <a:srgbClr val="53A9D6"/>
                  </a:solidFill>
                  <a:latin typeface="Times New Roman" panose="02020603050405020304" pitchFamily="18" charset="0"/>
                  <a:cs typeface="Times New Roman" panose="02020603050405020304" pitchFamily="18" charset="0"/>
                </a:rPr>
                <a:t>Generalized Forwarding</a:t>
              </a:r>
              <a:r>
                <a:rPr lang="en-US" dirty="0">
                  <a:latin typeface="Times New Roman" panose="02020603050405020304" pitchFamily="18" charset="0"/>
                  <a:cs typeface="Times New Roman" panose="02020603050405020304" pitchFamily="18" charset="0"/>
                </a:rPr>
                <a:t>:</a:t>
              </a:r>
            </a:p>
            <a:p>
              <a:pPr algn="ctr"/>
              <a:r>
                <a:rPr lang="en-MY" dirty="0">
                  <a:latin typeface="Times New Roman" panose="02020603050405020304" pitchFamily="18" charset="0"/>
                  <a:cs typeface="Times New Roman" panose="02020603050405020304" pitchFamily="18" charset="0"/>
                </a:rPr>
                <a:t>Each packet switch contains a </a:t>
              </a:r>
              <a:r>
                <a:rPr lang="en-MY" dirty="0">
                  <a:solidFill>
                    <a:srgbClr val="FF0000"/>
                  </a:solidFill>
                  <a:latin typeface="Times New Roman" panose="02020603050405020304" pitchFamily="18" charset="0"/>
                  <a:cs typeface="Times New Roman" panose="02020603050405020304" pitchFamily="18" charset="0"/>
                </a:rPr>
                <a:t>match-plus-action</a:t>
              </a:r>
              <a:r>
                <a:rPr lang="en-MY" dirty="0">
                  <a:latin typeface="Times New Roman" panose="02020603050405020304" pitchFamily="18" charset="0"/>
                  <a:cs typeface="Times New Roman" panose="02020603050405020304" pitchFamily="18" charset="0"/>
                </a:rPr>
                <a:t> </a:t>
              </a:r>
              <a:r>
                <a:rPr lang="en-MY" b="1" dirty="0">
                  <a:latin typeface="Times New Roman" panose="02020603050405020304" pitchFamily="18" charset="0"/>
                  <a:cs typeface="Times New Roman" panose="02020603050405020304" pitchFamily="18" charset="0"/>
                </a:rPr>
                <a:t>flow table </a:t>
              </a:r>
              <a:r>
                <a:rPr lang="en-MY" dirty="0">
                  <a:latin typeface="Times New Roman" panose="02020603050405020304" pitchFamily="18" charset="0"/>
                  <a:cs typeface="Times New Roman" panose="02020603050405020304" pitchFamily="18" charset="0"/>
                </a:rPr>
                <a:t>that is computed and distributed by a </a:t>
              </a:r>
              <a:r>
                <a:rPr lang="en-MY" dirty="0">
                  <a:solidFill>
                    <a:srgbClr val="FF0000"/>
                  </a:solidFill>
                  <a:latin typeface="Times New Roman" panose="02020603050405020304" pitchFamily="18" charset="0"/>
                  <a:cs typeface="Times New Roman" panose="02020603050405020304" pitchFamily="18" charset="0"/>
                </a:rPr>
                <a:t>remote controller</a:t>
              </a:r>
              <a:r>
                <a:rPr lang="en-US" alt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grpSp>
      <p:sp>
        <p:nvSpPr>
          <p:cNvPr id="43" name="Title 41">
            <a:extLst>
              <a:ext uri="{FF2B5EF4-FFF2-40B4-BE49-F238E27FC236}">
                <a16:creationId xmlns:a16="http://schemas.microsoft.com/office/drawing/2014/main" id="{36987C01-259A-8D40-A054-60973CADAA7C}"/>
              </a:ext>
            </a:extLst>
          </p:cNvPr>
          <p:cNvSpPr txBox="1">
            <a:spLocks/>
          </p:cNvSpPr>
          <p:nvPr/>
        </p:nvSpPr>
        <p:spPr bwMode="auto">
          <a:xfrm>
            <a:off x="1361105" y="923894"/>
            <a:ext cx="7772400" cy="4354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400" dirty="0">
                <a:solidFill>
                  <a:srgbClr val="00B9FA"/>
                </a:solidFill>
                <a:latin typeface="Arial"/>
                <a:ea typeface="ＭＳ Ｐゴシック" pitchFamily="34" charset="-128"/>
                <a:cs typeface="Arial"/>
              </a:rPr>
              <a:t>Overview</a:t>
            </a:r>
          </a:p>
        </p:txBody>
      </p:sp>
      <p:sp>
        <p:nvSpPr>
          <p:cNvPr id="19" name="Right Triangle 18">
            <a:extLst>
              <a:ext uri="{FF2B5EF4-FFF2-40B4-BE49-F238E27FC236}">
                <a16:creationId xmlns:a16="http://schemas.microsoft.com/office/drawing/2014/main" id="{9E8AFB93-8484-8E40-8DF1-BB398D367AE9}"/>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0"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138</a:t>
            </a:fld>
            <a:endParaRPr lang="en-US" altLang="en-US" dirty="0">
              <a:latin typeface="Tahoma" panose="020B0604030504040204" pitchFamily="34" charset="0"/>
            </a:endParaRPr>
          </a:p>
        </p:txBody>
      </p:sp>
    </p:spTree>
    <p:extLst>
      <p:ext uri="{BB962C8B-B14F-4D97-AF65-F5344CB8AC3E}">
        <p14:creationId xmlns:p14="http://schemas.microsoft.com/office/powerpoint/2010/main" val="377981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0" y="0"/>
            <a:ext cx="9143999" cy="926011"/>
            <a:chOff x="0" y="0"/>
            <a:chExt cx="9143999" cy="926011"/>
          </a:xfrm>
        </p:grpSpPr>
        <p:pic>
          <p:nvPicPr>
            <p:cNvPr id="14" name="Picture 13" descr="Screen Shot 2015-04-08 at 10.38.40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15" name="Picture 14" descr="Screen Shot 2015-04-08 at 10.42.03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6" name="Rectangle 2"/>
          <p:cNvSpPr txBox="1">
            <a:spLocks noChangeArrowheads="1"/>
          </p:cNvSpPr>
          <p:nvPr/>
        </p:nvSpPr>
        <p:spPr bwMode="auto">
          <a:xfrm>
            <a:off x="2412208" y="140786"/>
            <a:ext cx="6731792" cy="627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altLang="ja-JP" sz="2800" dirty="0">
                <a:solidFill>
                  <a:schemeClr val="bg1"/>
                </a:solidFill>
                <a:latin typeface="Arial"/>
                <a:ea typeface="ＭＳ Ｐゴシック" pitchFamily="34" charset="-128"/>
                <a:cs typeface="Arial"/>
              </a:rPr>
              <a:t>Generalized Forwarding and SDN</a:t>
            </a:r>
            <a:endParaRPr lang="en-US" sz="2800" dirty="0">
              <a:solidFill>
                <a:schemeClr val="bg1"/>
              </a:solidFill>
              <a:latin typeface="Arial"/>
              <a:ea typeface="ＭＳ Ｐゴシック" pitchFamily="34" charset="-128"/>
              <a:cs typeface="Arial"/>
            </a:endParaRPr>
          </a:p>
        </p:txBody>
      </p:sp>
      <p:sp>
        <p:nvSpPr>
          <p:cNvPr id="23" name="TextBox 22">
            <a:extLst>
              <a:ext uri="{FF2B5EF4-FFF2-40B4-BE49-F238E27FC236}">
                <a16:creationId xmlns:a16="http://schemas.microsoft.com/office/drawing/2014/main" id="{6952A9ED-6B20-614A-963E-A949B502D43E}"/>
              </a:ext>
            </a:extLst>
          </p:cNvPr>
          <p:cNvSpPr txBox="1"/>
          <p:nvPr/>
        </p:nvSpPr>
        <p:spPr>
          <a:xfrm>
            <a:off x="0" y="6649357"/>
            <a:ext cx="6294584" cy="215444"/>
          </a:xfrm>
          <a:prstGeom prst="rect">
            <a:avLst/>
          </a:prstGeom>
          <a:noFill/>
        </p:spPr>
        <p:txBody>
          <a:bodyPr wrap="square" rtlCol="0">
            <a:spAutoFit/>
          </a:bodyPr>
          <a:lstStyle/>
          <a:p>
            <a:pPr algn="l"/>
            <a:r>
              <a:rPr lang="en-US" sz="800" dirty="0">
                <a:latin typeface="Times New Roman" panose="02020603050405020304" pitchFamily="18" charset="0"/>
                <a:cs typeface="Times New Roman" panose="02020603050405020304" pitchFamily="18" charset="0"/>
              </a:rPr>
              <a:t>Kurose, J.F. and Ross, K.W. (2021). Computer Networking: A Top-Down Approach (8</a:t>
            </a:r>
            <a:r>
              <a:rPr lang="en-US" sz="800" baseline="30000" dirty="0">
                <a:latin typeface="Times New Roman" panose="02020603050405020304" pitchFamily="18" charset="0"/>
                <a:cs typeface="Times New Roman" panose="02020603050405020304" pitchFamily="18" charset="0"/>
              </a:rPr>
              <a:t>th</a:t>
            </a:r>
            <a:r>
              <a:rPr lang="en-US" sz="800" dirty="0">
                <a:latin typeface="Times New Roman" panose="02020603050405020304" pitchFamily="18" charset="0"/>
                <a:cs typeface="Times New Roman" panose="02020603050405020304" pitchFamily="18" charset="0"/>
              </a:rPr>
              <a:t> Edition). </a:t>
            </a:r>
            <a:r>
              <a:rPr lang="en-MY" sz="800" dirty="0">
                <a:latin typeface="Times New Roman" panose="02020603050405020304" pitchFamily="18" charset="0"/>
                <a:cs typeface="Times New Roman" panose="02020603050405020304" pitchFamily="18" charset="0"/>
              </a:rPr>
              <a:t>Pearson Education Limited, England. (pp. 353)</a:t>
            </a:r>
          </a:p>
        </p:txBody>
      </p:sp>
      <p:cxnSp>
        <p:nvCxnSpPr>
          <p:cNvPr id="33" name="Straight Connector 32">
            <a:extLst>
              <a:ext uri="{FF2B5EF4-FFF2-40B4-BE49-F238E27FC236}">
                <a16:creationId xmlns:a16="http://schemas.microsoft.com/office/drawing/2014/main" id="{CCC35B26-2704-0B42-BF52-1A20B8229E66}"/>
              </a:ext>
            </a:extLst>
          </p:cNvPr>
          <p:cNvCxnSpPr/>
          <p:nvPr/>
        </p:nvCxnSpPr>
        <p:spPr bwMode="auto">
          <a:xfrm>
            <a:off x="0" y="6652822"/>
            <a:ext cx="8324850" cy="0"/>
          </a:xfrm>
          <a:prstGeom prst="line">
            <a:avLst/>
          </a:prstGeom>
          <a:noFill/>
          <a:ln w="12700" cap="flat" cmpd="sng" algn="ctr">
            <a:solidFill>
              <a:srgbClr val="00B0F0"/>
            </a:solidFill>
            <a:prstDash val="solid"/>
            <a:round/>
            <a:headEnd type="none" w="med" len="med"/>
            <a:tailEnd type="none"/>
          </a:ln>
          <a:effectLst/>
        </p:spPr>
      </p:cxnSp>
      <p:sp>
        <p:nvSpPr>
          <p:cNvPr id="18" name="Rectangle 3">
            <a:extLst>
              <a:ext uri="{FF2B5EF4-FFF2-40B4-BE49-F238E27FC236}">
                <a16:creationId xmlns:a16="http://schemas.microsoft.com/office/drawing/2014/main" id="{1D270AEC-6418-9A48-BC97-57C37CB98A44}"/>
              </a:ext>
            </a:extLst>
          </p:cNvPr>
          <p:cNvSpPr txBox="1">
            <a:spLocks noChangeArrowheads="1"/>
          </p:cNvSpPr>
          <p:nvPr/>
        </p:nvSpPr>
        <p:spPr>
          <a:xfrm>
            <a:off x="660045" y="1898063"/>
            <a:ext cx="7913683" cy="2713268"/>
          </a:xfrm>
          <a:prstGeom prst="rect">
            <a:avLst/>
          </a:prstGeom>
        </p:spPr>
        <p:txBody>
          <a:bodyPr/>
          <a:lstStyle>
            <a:lvl1pPr marL="342900" indent="-342900"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a:lnSpc>
                <a:spcPct val="100000"/>
              </a:lnSpc>
            </a:pPr>
            <a:r>
              <a:rPr lang="en-MY" sz="2200" dirty="0">
                <a:latin typeface="Arial"/>
                <a:ea typeface="ＭＳ Ｐゴシック" pitchFamily="34" charset="-128"/>
                <a:cs typeface="Arial"/>
              </a:rPr>
              <a:t>Generalized forwarding will be based on a standard rule </a:t>
            </a:r>
            <a:r>
              <a:rPr lang="en-MY" sz="2200" dirty="0">
                <a:latin typeface="Arial"/>
                <a:ea typeface="ＭＳ Ｐゴシック" pitchFamily="34" charset="-128"/>
                <a:cs typeface="Arial"/>
                <a:sym typeface="Wingdings" pitchFamily="2" charset="2"/>
              </a:rPr>
              <a:t></a:t>
            </a:r>
            <a:r>
              <a:rPr lang="en-MY" sz="2200" dirty="0">
                <a:latin typeface="Arial"/>
                <a:ea typeface="ＭＳ Ｐゴシック" pitchFamily="34" charset="-128"/>
                <a:cs typeface="Arial"/>
              </a:rPr>
              <a:t> </a:t>
            </a:r>
            <a:r>
              <a:rPr lang="en-MY" sz="2200" dirty="0">
                <a:solidFill>
                  <a:srgbClr val="53A9D6"/>
                </a:solidFill>
                <a:latin typeface="Arial"/>
                <a:ea typeface="ＭＳ Ｐゴシック" pitchFamily="34" charset="-128"/>
                <a:cs typeface="Arial"/>
              </a:rPr>
              <a:t>Open-Flow</a:t>
            </a:r>
            <a:r>
              <a:rPr lang="en-MY" sz="2200" dirty="0">
                <a:latin typeface="Arial"/>
                <a:ea typeface="ＭＳ Ｐゴシック" pitchFamily="34" charset="-128"/>
                <a:cs typeface="Arial"/>
              </a:rPr>
              <a:t>.</a:t>
            </a:r>
          </a:p>
          <a:p>
            <a:pPr>
              <a:lnSpc>
                <a:spcPct val="100000"/>
              </a:lnSpc>
            </a:pPr>
            <a:r>
              <a:rPr lang="en-MY" sz="2200" dirty="0">
                <a:latin typeface="Arial"/>
                <a:ea typeface="ＭＳ Ｐゴシック" pitchFamily="34" charset="-128"/>
                <a:cs typeface="Arial"/>
              </a:rPr>
              <a:t>It is a highly visible standard that has pioneered the notion of the </a:t>
            </a:r>
            <a:r>
              <a:rPr lang="en-MY" sz="2200" dirty="0">
                <a:solidFill>
                  <a:srgbClr val="FF0000"/>
                </a:solidFill>
                <a:latin typeface="Arial"/>
                <a:ea typeface="ＭＳ Ｐゴシック" pitchFamily="34" charset="-128"/>
                <a:cs typeface="Arial"/>
              </a:rPr>
              <a:t>match-plus-action</a:t>
            </a:r>
            <a:r>
              <a:rPr lang="en-MY" sz="2200" dirty="0">
                <a:latin typeface="Arial"/>
                <a:ea typeface="ＭＳ Ｐゴシック" pitchFamily="34" charset="-128"/>
                <a:cs typeface="Arial"/>
              </a:rPr>
              <a:t> forwarding abstraction and controllers.</a:t>
            </a:r>
          </a:p>
          <a:p>
            <a:pPr>
              <a:lnSpc>
                <a:spcPct val="100000"/>
              </a:lnSpc>
            </a:pPr>
            <a:endParaRPr lang="en-MY" sz="2200" dirty="0">
              <a:latin typeface="Arial"/>
              <a:ea typeface="ＭＳ Ｐゴシック" pitchFamily="34" charset="-128"/>
              <a:cs typeface="Arial"/>
            </a:endParaRPr>
          </a:p>
          <a:p>
            <a:pPr>
              <a:lnSpc>
                <a:spcPct val="100000"/>
              </a:lnSpc>
            </a:pPr>
            <a:r>
              <a:rPr lang="en-MY" sz="2200" i="1" dirty="0">
                <a:latin typeface="Times New Roman" panose="02020603050405020304" pitchFamily="18" charset="0"/>
                <a:ea typeface="ＭＳ Ｐゴシック" pitchFamily="34" charset="-128"/>
                <a:cs typeface="Times New Roman" panose="02020603050405020304" pitchFamily="18" charset="0"/>
              </a:rPr>
              <a:t>OpenFlow</a:t>
            </a:r>
            <a:r>
              <a:rPr lang="en-MY" sz="2200" dirty="0">
                <a:latin typeface="Times New Roman" panose="02020603050405020304" pitchFamily="18" charset="0"/>
                <a:ea typeface="ＭＳ Ｐゴシック" pitchFamily="34" charset="-128"/>
                <a:cs typeface="Times New Roman" panose="02020603050405020304" pitchFamily="18" charset="0"/>
              </a:rPr>
              <a:t>1.0</a:t>
            </a:r>
            <a:r>
              <a:rPr lang="en-MY" sz="2200" dirty="0">
                <a:latin typeface="Arial"/>
                <a:ea typeface="ＭＳ Ｐゴシック" pitchFamily="34" charset="-128"/>
                <a:cs typeface="Arial"/>
              </a:rPr>
              <a:t> is used, which introduced key SDN abstractions and functionality</a:t>
            </a:r>
          </a:p>
        </p:txBody>
      </p:sp>
      <p:sp>
        <p:nvSpPr>
          <p:cNvPr id="19" name="Title 41">
            <a:extLst>
              <a:ext uri="{FF2B5EF4-FFF2-40B4-BE49-F238E27FC236}">
                <a16:creationId xmlns:a16="http://schemas.microsoft.com/office/drawing/2014/main" id="{ADC41CD1-1290-DE49-A8DE-3D811B7F3011}"/>
              </a:ext>
            </a:extLst>
          </p:cNvPr>
          <p:cNvSpPr txBox="1">
            <a:spLocks/>
          </p:cNvSpPr>
          <p:nvPr/>
        </p:nvSpPr>
        <p:spPr bwMode="auto">
          <a:xfrm>
            <a:off x="1361105" y="923894"/>
            <a:ext cx="7772400" cy="4354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200" algn="l" rtl="0" fontAlgn="base">
              <a:spcBef>
                <a:spcPct val="0"/>
              </a:spcBef>
              <a:spcAft>
                <a:spcPct val="0"/>
              </a:spcAft>
              <a:defRPr sz="4400">
                <a:solidFill>
                  <a:srgbClr val="000099"/>
                </a:solidFill>
                <a:latin typeface="Gill Sans MT" pitchFamily="34" charset="0"/>
                <a:cs typeface="Arial" charset="0"/>
              </a:defRPr>
            </a:lvl6pPr>
            <a:lvl7pPr marL="914400" algn="l" rtl="0" fontAlgn="base">
              <a:spcBef>
                <a:spcPct val="0"/>
              </a:spcBef>
              <a:spcAft>
                <a:spcPct val="0"/>
              </a:spcAft>
              <a:defRPr sz="4400">
                <a:solidFill>
                  <a:srgbClr val="000099"/>
                </a:solidFill>
                <a:latin typeface="Gill Sans MT" pitchFamily="34" charset="0"/>
                <a:cs typeface="Arial" charset="0"/>
              </a:defRPr>
            </a:lvl7pPr>
            <a:lvl8pPr marL="1371600" algn="l" rtl="0" fontAlgn="base">
              <a:spcBef>
                <a:spcPct val="0"/>
              </a:spcBef>
              <a:spcAft>
                <a:spcPct val="0"/>
              </a:spcAft>
              <a:defRPr sz="4400">
                <a:solidFill>
                  <a:srgbClr val="000099"/>
                </a:solidFill>
                <a:latin typeface="Gill Sans MT" pitchFamily="34" charset="0"/>
                <a:cs typeface="Arial" charset="0"/>
              </a:defRPr>
            </a:lvl8pPr>
            <a:lvl9pPr marL="1828800" algn="l" rtl="0" fontAlgn="base">
              <a:spcBef>
                <a:spcPct val="0"/>
              </a:spcBef>
              <a:spcAft>
                <a:spcPct val="0"/>
              </a:spcAft>
              <a:defRPr sz="4400">
                <a:solidFill>
                  <a:srgbClr val="000099"/>
                </a:solidFill>
                <a:latin typeface="Gill Sans MT" pitchFamily="34" charset="0"/>
                <a:cs typeface="Arial" charset="0"/>
              </a:defRPr>
            </a:lvl9pPr>
          </a:lstStyle>
          <a:p>
            <a:pPr algn="r" eaLnBrk="1" hangingPunct="1"/>
            <a:r>
              <a:rPr lang="en-US" sz="2400" dirty="0">
                <a:solidFill>
                  <a:srgbClr val="00B9FA"/>
                </a:solidFill>
                <a:latin typeface="Arial"/>
                <a:ea typeface="ＭＳ Ｐゴシック" pitchFamily="34" charset="-128"/>
                <a:cs typeface="Arial"/>
              </a:rPr>
              <a:t>Overview</a:t>
            </a:r>
          </a:p>
        </p:txBody>
      </p:sp>
      <p:sp>
        <p:nvSpPr>
          <p:cNvPr id="11" name="Right Triangle 10">
            <a:extLst>
              <a:ext uri="{FF2B5EF4-FFF2-40B4-BE49-F238E27FC236}">
                <a16:creationId xmlns:a16="http://schemas.microsoft.com/office/drawing/2014/main" id="{B0CA145D-1C3C-424E-B40E-F97A48F72D97}"/>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197504" y="6230871"/>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139</a:t>
            </a:fld>
            <a:endParaRPr lang="en-US" altLang="en-US" dirty="0">
              <a:latin typeface="Tahoma" panose="020B0604030504040204" pitchFamily="34" charset="0"/>
            </a:endParaRPr>
          </a:p>
        </p:txBody>
      </p:sp>
    </p:spTree>
    <p:extLst>
      <p:ext uri="{BB962C8B-B14F-4D97-AF65-F5344CB8AC3E}">
        <p14:creationId xmlns:p14="http://schemas.microsoft.com/office/powerpoint/2010/main" val="341743039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719438-0C98-CC4E-B2A6-DFB0F8C5A663}"/>
              </a:ext>
            </a:extLst>
          </p:cNvPr>
          <p:cNvSpPr>
            <a:spLocks noGrp="1"/>
          </p:cNvSpPr>
          <p:nvPr>
            <p:ph idx="1"/>
          </p:nvPr>
        </p:nvSpPr>
        <p:spPr>
          <a:xfrm>
            <a:off x="628650" y="1852101"/>
            <a:ext cx="8140596" cy="2285063"/>
          </a:xfrm>
        </p:spPr>
        <p:txBody>
          <a:bodyPr>
            <a:normAutofit fontScale="92500" lnSpcReduction="20000"/>
          </a:bodyPr>
          <a:lstStyle/>
          <a:p>
            <a:r>
              <a:rPr lang="en-US" altLang="en-US" dirty="0">
                <a:solidFill>
                  <a:srgbClr val="C00000"/>
                </a:solidFill>
                <a:latin typeface="Calibri" panose="020F0502020204030204" pitchFamily="34" charset="0"/>
                <a:ea typeface="ＭＳ Ｐゴシック" panose="020B0600070205080204" pitchFamily="34" charset="-128"/>
                <a:cs typeface="ＭＳ Ｐゴシック" panose="020B0600070205080204" pitchFamily="34" charset="-128"/>
              </a:rPr>
              <a:t>flow: </a:t>
            </a:r>
            <a:r>
              <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rPr>
              <a:t>defined by header field values </a:t>
            </a:r>
            <a:r>
              <a:rPr lang="en-US" altLang="en-US" sz="1800" dirty="0">
                <a:latin typeface="Calibri" panose="020F0502020204030204" pitchFamily="34" charset="0"/>
                <a:ea typeface="ＭＳ Ｐゴシック" panose="020B0600070205080204" pitchFamily="34" charset="-128"/>
                <a:cs typeface="ＭＳ Ｐゴシック" panose="020B0600070205080204" pitchFamily="34" charset="-128"/>
              </a:rPr>
              <a:t>(in link-, network-, transport-layer fields)</a:t>
            </a:r>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a:p>
            <a:r>
              <a:rPr lang="en-US" altLang="en-US" dirty="0">
                <a:solidFill>
                  <a:srgbClr val="C00000"/>
                </a:solidFill>
                <a:latin typeface="Calibri" panose="020F0502020204030204" pitchFamily="34" charset="0"/>
                <a:ea typeface="ＭＳ Ｐゴシック" panose="020B0600070205080204" pitchFamily="34" charset="-128"/>
                <a:cs typeface="ＭＳ Ｐゴシック" panose="020B0600070205080204" pitchFamily="34" charset="-128"/>
              </a:rPr>
              <a:t>generalized forwarding: </a:t>
            </a:r>
            <a:r>
              <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rPr>
              <a:t>simple</a:t>
            </a:r>
            <a:r>
              <a:rPr lang="en-US" altLang="en-US" dirty="0">
                <a:solidFill>
                  <a:srgbClr val="C00000"/>
                </a:solidFill>
                <a:latin typeface="Calibri" panose="020F0502020204030204" pitchFamily="34" charset="0"/>
                <a:ea typeface="ＭＳ Ｐゴシック" panose="020B0600070205080204" pitchFamily="34" charset="-128"/>
                <a:cs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rPr>
              <a:t>packet-handling rules</a:t>
            </a:r>
          </a:p>
          <a:p>
            <a:pPr lvl="1"/>
            <a:r>
              <a:rPr lang="en-US" altLang="en-US" dirty="0">
                <a:solidFill>
                  <a:srgbClr val="0000A8"/>
                </a:solidFill>
                <a:latin typeface="Calibri" panose="020F0502020204030204" pitchFamily="34" charset="0"/>
                <a:ea typeface="ＭＳ Ｐゴシック" panose="020B0600070205080204" pitchFamily="34" charset="-128"/>
              </a:rPr>
              <a:t>match:</a:t>
            </a:r>
            <a:r>
              <a:rPr lang="en-US" altLang="en-US" dirty="0">
                <a:solidFill>
                  <a:srgbClr val="000090"/>
                </a:solidFill>
                <a:latin typeface="Calibri" panose="020F0502020204030204" pitchFamily="34" charset="0"/>
                <a:ea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rPr>
              <a:t>pattern</a:t>
            </a:r>
            <a:r>
              <a:rPr lang="en-US" altLang="en-US" dirty="0">
                <a:solidFill>
                  <a:srgbClr val="000090"/>
                </a:solidFill>
                <a:latin typeface="Calibri" panose="020F0502020204030204" pitchFamily="34" charset="0"/>
                <a:ea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rPr>
              <a:t>values in packet header fields</a:t>
            </a:r>
          </a:p>
          <a:p>
            <a:pPr lvl="1"/>
            <a:r>
              <a:rPr lang="en-US" altLang="en-US" dirty="0">
                <a:solidFill>
                  <a:srgbClr val="0000A8"/>
                </a:solidFill>
                <a:latin typeface="Calibri" panose="020F0502020204030204" pitchFamily="34" charset="0"/>
                <a:ea typeface="ＭＳ Ｐゴシック" panose="020B0600070205080204" pitchFamily="34" charset="-128"/>
              </a:rPr>
              <a:t>actions: </a:t>
            </a:r>
            <a:r>
              <a:rPr lang="en-US" altLang="en-US" dirty="0">
                <a:latin typeface="Calibri" panose="020F0502020204030204" pitchFamily="34" charset="0"/>
                <a:ea typeface="ＭＳ Ｐゴシック" panose="020B0600070205080204" pitchFamily="34" charset="-128"/>
              </a:rPr>
              <a:t>for matched packet: drop, forward, modify, matched packet or send matched packet to controller </a:t>
            </a:r>
          </a:p>
          <a:p>
            <a:pPr lvl="1"/>
            <a:r>
              <a:rPr lang="en-US" altLang="en-US" dirty="0">
                <a:solidFill>
                  <a:srgbClr val="0000A8"/>
                </a:solidFill>
                <a:latin typeface="Calibri" panose="020F0502020204030204" pitchFamily="34" charset="0"/>
                <a:ea typeface="ＭＳ Ｐゴシック" panose="020B0600070205080204" pitchFamily="34" charset="-128"/>
              </a:rPr>
              <a:t>priority: </a:t>
            </a:r>
            <a:r>
              <a:rPr lang="en-US" altLang="en-US" dirty="0">
                <a:latin typeface="Calibri" panose="020F0502020204030204" pitchFamily="34" charset="0"/>
                <a:ea typeface="ＭＳ Ｐゴシック" panose="020B0600070205080204" pitchFamily="34" charset="-128"/>
              </a:rPr>
              <a:t>disambiguate overlapping patterns</a:t>
            </a:r>
          </a:p>
          <a:p>
            <a:pPr lvl="1"/>
            <a:r>
              <a:rPr lang="en-US" altLang="en-US" dirty="0">
                <a:solidFill>
                  <a:srgbClr val="0000A8"/>
                </a:solidFill>
                <a:latin typeface="Calibri" panose="020F0502020204030204" pitchFamily="34" charset="0"/>
                <a:ea typeface="ＭＳ Ｐゴシック" panose="020B0600070205080204" pitchFamily="34" charset="-128"/>
              </a:rPr>
              <a:t>counters: </a:t>
            </a:r>
            <a:r>
              <a:rPr lang="en-US" altLang="en-US" dirty="0">
                <a:latin typeface="Calibri" panose="020F0502020204030204" pitchFamily="34" charset="0"/>
                <a:ea typeface="ＭＳ Ｐゴシック" panose="020B0600070205080204" pitchFamily="34" charset="-128"/>
              </a:rPr>
              <a:t>#bytes and #packets</a:t>
            </a:r>
          </a:p>
        </p:txBody>
      </p:sp>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628650" y="1116604"/>
            <a:ext cx="7886700" cy="670967"/>
          </a:xfrm>
        </p:spPr>
        <p:txBody>
          <a:bodyPr>
            <a:normAutofit/>
          </a:bodyPr>
          <a:lstStyle/>
          <a:p>
            <a:r>
              <a:rPr lang="en-US" sz="3600" dirty="0"/>
              <a:t>Flow table abstraction</a:t>
            </a:r>
          </a:p>
        </p:txBody>
      </p:sp>
      <p:grpSp>
        <p:nvGrpSpPr>
          <p:cNvPr id="53" name="Group 52">
            <a:extLst>
              <a:ext uri="{FF2B5EF4-FFF2-40B4-BE49-F238E27FC236}">
                <a16:creationId xmlns:a16="http://schemas.microsoft.com/office/drawing/2014/main" id="{DDFAE99D-C5EA-5147-B11F-7A5B7FCE54AE}"/>
              </a:ext>
            </a:extLst>
          </p:cNvPr>
          <p:cNvGrpSpPr/>
          <p:nvPr/>
        </p:nvGrpSpPr>
        <p:grpSpPr>
          <a:xfrm>
            <a:off x="635543" y="4219575"/>
            <a:ext cx="5433392" cy="1652121"/>
            <a:chOff x="848139" y="4484689"/>
            <a:chExt cx="7244522" cy="2202828"/>
          </a:xfrm>
        </p:grpSpPr>
        <p:cxnSp>
          <p:nvCxnSpPr>
            <p:cNvPr id="45" name="Straight Connector 44">
              <a:extLst>
                <a:ext uri="{FF2B5EF4-FFF2-40B4-BE49-F238E27FC236}">
                  <a16:creationId xmlns:a16="http://schemas.microsoft.com/office/drawing/2014/main" id="{362506F8-ECEC-2E42-805B-42E4D94FA9CB}"/>
                </a:ext>
              </a:extLst>
            </p:cNvPr>
            <p:cNvCxnSpPr/>
            <p:nvPr/>
          </p:nvCxnSpPr>
          <p:spPr>
            <a:xfrm>
              <a:off x="848139" y="6202017"/>
              <a:ext cx="5194852"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EFCF0EDD-3789-414C-ACC3-3BF841E39C99}"/>
                </a:ext>
              </a:extLst>
            </p:cNvPr>
            <p:cNvGrpSpPr/>
            <p:nvPr/>
          </p:nvGrpSpPr>
          <p:grpSpPr>
            <a:xfrm>
              <a:off x="2117350" y="5637144"/>
              <a:ext cx="2269120" cy="1028699"/>
              <a:chOff x="7493876" y="2774731"/>
              <a:chExt cx="1481958" cy="894622"/>
            </a:xfrm>
            <a:effectLst>
              <a:outerShdw blurRad="50800" dist="38100" dir="18900000" algn="bl" rotWithShape="0">
                <a:prstClr val="black">
                  <a:alpha val="40000"/>
                </a:prstClr>
              </a:outerShdw>
            </a:effectLst>
          </p:grpSpPr>
          <p:sp>
            <p:nvSpPr>
              <p:cNvPr id="6" name="Freeform 5">
                <a:extLst>
                  <a:ext uri="{FF2B5EF4-FFF2-40B4-BE49-F238E27FC236}">
                    <a16:creationId xmlns:a16="http://schemas.microsoft.com/office/drawing/2014/main" id="{CF1E2C8F-E181-3B43-A519-0FC1DEA4B61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7" name="Oval 6">
                <a:extLst>
                  <a:ext uri="{FF2B5EF4-FFF2-40B4-BE49-F238E27FC236}">
                    <a16:creationId xmlns:a16="http://schemas.microsoft.com/office/drawing/2014/main" id="{8CE0A78E-9FDA-334F-9AD4-8A4ED942B1C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8" name="Group 7">
                <a:extLst>
                  <a:ext uri="{FF2B5EF4-FFF2-40B4-BE49-F238E27FC236}">
                    <a16:creationId xmlns:a16="http://schemas.microsoft.com/office/drawing/2014/main" id="{0C1D1C42-5DC5-DE41-880F-2DB6C20303EA}"/>
                  </a:ext>
                </a:extLst>
              </p:cNvPr>
              <p:cNvGrpSpPr/>
              <p:nvPr/>
            </p:nvGrpSpPr>
            <p:grpSpPr>
              <a:xfrm>
                <a:off x="7713663" y="2848339"/>
                <a:ext cx="1042107" cy="425543"/>
                <a:chOff x="7786941" y="2884917"/>
                <a:chExt cx="897649" cy="353919"/>
              </a:xfrm>
            </p:grpSpPr>
            <p:sp>
              <p:nvSpPr>
                <p:cNvPr id="9" name="Freeform 8">
                  <a:extLst>
                    <a:ext uri="{FF2B5EF4-FFF2-40B4-BE49-F238E27FC236}">
                      <a16:creationId xmlns:a16="http://schemas.microsoft.com/office/drawing/2014/main" id="{AEEDB7BE-ECB9-AE43-B7F9-9420522500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0" name="Freeform 9">
                  <a:extLst>
                    <a:ext uri="{FF2B5EF4-FFF2-40B4-BE49-F238E27FC236}">
                      <a16:creationId xmlns:a16="http://schemas.microsoft.com/office/drawing/2014/main" id="{8484C86C-9AA8-0C48-9C1B-936E42E298D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2" name="Freeform 11">
                  <a:extLst>
                    <a:ext uri="{FF2B5EF4-FFF2-40B4-BE49-F238E27FC236}">
                      <a16:creationId xmlns:a16="http://schemas.microsoft.com/office/drawing/2014/main" id="{79FD6387-1AB1-7743-A3A7-ED8933D501E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3" name="Freeform 12">
                  <a:extLst>
                    <a:ext uri="{FF2B5EF4-FFF2-40B4-BE49-F238E27FC236}">
                      <a16:creationId xmlns:a16="http://schemas.microsoft.com/office/drawing/2014/main" id="{5CDE1FFF-560A-D046-879A-1BAD0681C80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sp>
          <p:nvSpPr>
            <p:cNvPr id="14" name="TextBox 8">
              <a:extLst>
                <a:ext uri="{FF2B5EF4-FFF2-40B4-BE49-F238E27FC236}">
                  <a16:creationId xmlns:a16="http://schemas.microsoft.com/office/drawing/2014/main" id="{B8332F6D-32E8-0249-999D-30692A5A7EA8}"/>
                </a:ext>
              </a:extLst>
            </p:cNvPr>
            <p:cNvSpPr txBox="1">
              <a:spLocks noChangeArrowheads="1"/>
            </p:cNvSpPr>
            <p:nvPr/>
          </p:nvSpPr>
          <p:spPr bwMode="auto">
            <a:xfrm>
              <a:off x="4737100" y="4484689"/>
              <a:ext cx="335556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500" dirty="0">
                  <a:solidFill>
                    <a:prstClr val="black"/>
                  </a:solidFill>
                  <a:latin typeface="Calibri" panose="020F0502020204030204"/>
                </a:rPr>
                <a:t>Router’s flow table define router’s </a:t>
              </a:r>
              <a:r>
                <a:rPr lang="en-US" altLang="en-US" sz="1500" dirty="0" err="1">
                  <a:solidFill>
                    <a:prstClr val="black"/>
                  </a:solidFill>
                  <a:latin typeface="Calibri" panose="020F0502020204030204"/>
                </a:rPr>
                <a:t>match+action</a:t>
              </a:r>
              <a:r>
                <a:rPr lang="en-US" altLang="en-US" sz="1500" dirty="0">
                  <a:solidFill>
                    <a:prstClr val="black"/>
                  </a:solidFill>
                  <a:latin typeface="Calibri" panose="020F0502020204030204"/>
                </a:rPr>
                <a:t> rules</a:t>
              </a:r>
            </a:p>
          </p:txBody>
        </p:sp>
        <p:grpSp>
          <p:nvGrpSpPr>
            <p:cNvPr id="43" name="Group 42">
              <a:extLst>
                <a:ext uri="{FF2B5EF4-FFF2-40B4-BE49-F238E27FC236}">
                  <a16:creationId xmlns:a16="http://schemas.microsoft.com/office/drawing/2014/main" id="{7BA19BCA-1317-9E49-B6D6-B6CF8B58E795}"/>
                </a:ext>
              </a:extLst>
            </p:cNvPr>
            <p:cNvGrpSpPr/>
            <p:nvPr/>
          </p:nvGrpSpPr>
          <p:grpSpPr>
            <a:xfrm>
              <a:off x="2535862" y="4518992"/>
              <a:ext cx="1998847" cy="1325048"/>
              <a:chOff x="8327282" y="4055165"/>
              <a:chExt cx="2091509" cy="1325048"/>
            </a:xfrm>
          </p:grpSpPr>
          <p:grpSp>
            <p:nvGrpSpPr>
              <p:cNvPr id="20" name="Group 554">
                <a:extLst>
                  <a:ext uri="{FF2B5EF4-FFF2-40B4-BE49-F238E27FC236}">
                    <a16:creationId xmlns:a16="http://schemas.microsoft.com/office/drawing/2014/main" id="{F0AAF6D0-8EA6-E749-9758-CE8F2B209D9B}"/>
                  </a:ext>
                </a:extLst>
              </p:cNvPr>
              <p:cNvGrpSpPr>
                <a:grpSpLocks/>
              </p:cNvGrpSpPr>
              <p:nvPr/>
            </p:nvGrpSpPr>
            <p:grpSpPr bwMode="auto">
              <a:xfrm>
                <a:off x="8327282" y="4121430"/>
                <a:ext cx="2091509" cy="1258783"/>
                <a:chOff x="2932675" y="3919324"/>
                <a:chExt cx="429970" cy="319189"/>
              </a:xfrm>
            </p:grpSpPr>
            <p:sp>
              <p:nvSpPr>
                <p:cNvPr id="21" name="Rectangle 20">
                  <a:extLst>
                    <a:ext uri="{FF2B5EF4-FFF2-40B4-BE49-F238E27FC236}">
                      <a16:creationId xmlns:a16="http://schemas.microsoft.com/office/drawing/2014/main" id="{803BF111-23DE-1945-8735-48B7B51FDA35}"/>
                    </a:ext>
                  </a:extLst>
                </p:cNvPr>
                <p:cNvSpPr/>
                <p:nvPr/>
              </p:nvSpPr>
              <p:spPr>
                <a:xfrm>
                  <a:off x="2936722" y="3919324"/>
                  <a:ext cx="425923" cy="319189"/>
                </a:xfrm>
                <a:prstGeom prst="rect">
                  <a:avLst/>
                </a:prstGeom>
                <a:solidFill>
                  <a:srgbClr val="FFFFFF"/>
                </a:solidFill>
                <a:ln w="25400" cap="flat" cmpd="sng" algn="ctr">
                  <a:solidFill>
                    <a:srgbClr val="CC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22" name="Straight Connector 21">
                  <a:extLst>
                    <a:ext uri="{FF2B5EF4-FFF2-40B4-BE49-F238E27FC236}">
                      <a16:creationId xmlns:a16="http://schemas.microsoft.com/office/drawing/2014/main" id="{3B28D0C4-B5C9-5844-BF1E-1197CD1800CC}"/>
                    </a:ext>
                  </a:extLst>
                </p:cNvPr>
                <p:cNvCxnSpPr/>
                <p:nvPr/>
              </p:nvCxnSpPr>
              <p:spPr>
                <a:xfrm>
                  <a:off x="2932675" y="4004959"/>
                  <a:ext cx="424911" cy="0"/>
                </a:xfrm>
                <a:prstGeom prst="line">
                  <a:avLst/>
                </a:prstGeom>
                <a:noFill/>
                <a:ln w="25400" cap="flat" cmpd="sng" algn="ctr">
                  <a:solidFill>
                    <a:srgbClr val="CC0000"/>
                  </a:solidFill>
                  <a:prstDash val="solid"/>
                </a:ln>
                <a:effectLst/>
              </p:spPr>
            </p:cxnSp>
            <p:cxnSp>
              <p:nvCxnSpPr>
                <p:cNvPr id="23" name="Straight Connector 22">
                  <a:extLst>
                    <a:ext uri="{FF2B5EF4-FFF2-40B4-BE49-F238E27FC236}">
                      <a16:creationId xmlns:a16="http://schemas.microsoft.com/office/drawing/2014/main" id="{293CE468-AA72-B340-AB98-BDBA2EE69A0B}"/>
                    </a:ext>
                  </a:extLst>
                </p:cNvPr>
                <p:cNvCxnSpPr/>
                <p:nvPr/>
              </p:nvCxnSpPr>
              <p:spPr>
                <a:xfrm>
                  <a:off x="2932675" y="4069207"/>
                  <a:ext cx="424911" cy="0"/>
                </a:xfrm>
                <a:prstGeom prst="line">
                  <a:avLst/>
                </a:prstGeom>
                <a:noFill/>
                <a:ln w="25400" cap="flat" cmpd="sng" algn="ctr">
                  <a:solidFill>
                    <a:srgbClr val="CC0000"/>
                  </a:solidFill>
                  <a:prstDash val="solid"/>
                </a:ln>
                <a:effectLst/>
              </p:spPr>
            </p:cxnSp>
            <p:cxnSp>
              <p:nvCxnSpPr>
                <p:cNvPr id="24" name="Straight Connector 23">
                  <a:extLst>
                    <a:ext uri="{FF2B5EF4-FFF2-40B4-BE49-F238E27FC236}">
                      <a16:creationId xmlns:a16="http://schemas.microsoft.com/office/drawing/2014/main" id="{1AFD2436-CAFF-8042-BF47-7E024FE6789B}"/>
                    </a:ext>
                  </a:extLst>
                </p:cNvPr>
                <p:cNvCxnSpPr>
                  <a:cxnSpLocks/>
                  <a:stCxn id="21" idx="2"/>
                </p:cNvCxnSpPr>
                <p:nvPr/>
              </p:nvCxnSpPr>
              <p:spPr>
                <a:xfrm flipH="1" flipV="1">
                  <a:off x="3148166" y="4001599"/>
                  <a:ext cx="1517" cy="236914"/>
                </a:xfrm>
                <a:prstGeom prst="line">
                  <a:avLst/>
                </a:prstGeom>
                <a:noFill/>
                <a:ln w="25400" cap="flat" cmpd="sng" algn="ctr">
                  <a:solidFill>
                    <a:srgbClr val="CC0000"/>
                  </a:solidFill>
                  <a:prstDash val="solid"/>
                </a:ln>
                <a:effectLst/>
              </p:spPr>
            </p:cxnSp>
          </p:grpSp>
          <p:sp>
            <p:nvSpPr>
              <p:cNvPr id="3" name="TextBox 2">
                <a:extLst>
                  <a:ext uri="{FF2B5EF4-FFF2-40B4-BE49-F238E27FC236}">
                    <a16:creationId xmlns:a16="http://schemas.microsoft.com/office/drawing/2014/main" id="{795B25A3-83EE-0C42-A451-21C2EA7C24E0}"/>
                  </a:ext>
                </a:extLst>
              </p:cNvPr>
              <p:cNvSpPr txBox="1"/>
              <p:nvPr/>
            </p:nvSpPr>
            <p:spPr>
              <a:xfrm>
                <a:off x="8759686" y="4055165"/>
                <a:ext cx="1387118" cy="430887"/>
              </a:xfrm>
              <a:prstGeom prst="rect">
                <a:avLst/>
              </a:prstGeom>
              <a:noFill/>
            </p:spPr>
            <p:txBody>
              <a:bodyPr wrap="none" rtlCol="0">
                <a:spAutoFit/>
              </a:bodyPr>
              <a:lstStyle/>
              <a:p>
                <a:pPr defTabSz="685800" eaLnBrk="1" fontAlgn="auto" hangingPunct="1">
                  <a:spcBef>
                    <a:spcPts val="0"/>
                  </a:spcBef>
                  <a:spcAft>
                    <a:spcPts val="0"/>
                  </a:spcAft>
                  <a:defRPr/>
                </a:pPr>
                <a:r>
                  <a:rPr lang="en-US" sz="1500" dirty="0">
                    <a:solidFill>
                      <a:prstClr val="black"/>
                    </a:solidFill>
                    <a:latin typeface="Calibri" panose="020F0502020204030204"/>
                    <a:ea typeface="+mn-ea"/>
                  </a:rPr>
                  <a:t>Flow table</a:t>
                </a:r>
              </a:p>
            </p:txBody>
          </p:sp>
          <p:sp>
            <p:nvSpPr>
              <p:cNvPr id="41" name="TextBox 40">
                <a:extLst>
                  <a:ext uri="{FF2B5EF4-FFF2-40B4-BE49-F238E27FC236}">
                    <a16:creationId xmlns:a16="http://schemas.microsoft.com/office/drawing/2014/main" id="{0F3A5449-AA06-DE4B-8FA1-C9212AFA1460}"/>
                  </a:ext>
                </a:extLst>
              </p:cNvPr>
              <p:cNvSpPr txBox="1"/>
              <p:nvPr/>
            </p:nvSpPr>
            <p:spPr>
              <a:xfrm>
                <a:off x="8461513" y="4379844"/>
                <a:ext cx="938402" cy="430887"/>
              </a:xfrm>
              <a:prstGeom prst="rect">
                <a:avLst/>
              </a:prstGeom>
              <a:noFill/>
            </p:spPr>
            <p:txBody>
              <a:bodyPr wrap="none" rtlCol="0">
                <a:spAutoFit/>
              </a:bodyPr>
              <a:lstStyle/>
              <a:p>
                <a:pPr defTabSz="685800" eaLnBrk="1" fontAlgn="auto" hangingPunct="1">
                  <a:spcBef>
                    <a:spcPts val="0"/>
                  </a:spcBef>
                  <a:spcAft>
                    <a:spcPts val="0"/>
                  </a:spcAft>
                  <a:defRPr/>
                </a:pPr>
                <a:r>
                  <a:rPr lang="en-US" sz="1500" dirty="0">
                    <a:solidFill>
                      <a:prstClr val="black"/>
                    </a:solidFill>
                    <a:latin typeface="Calibri" panose="020F0502020204030204"/>
                    <a:ea typeface="+mn-ea"/>
                  </a:rPr>
                  <a:t>match</a:t>
                </a:r>
              </a:p>
            </p:txBody>
          </p:sp>
          <p:sp>
            <p:nvSpPr>
              <p:cNvPr id="42" name="TextBox 41">
                <a:extLst>
                  <a:ext uri="{FF2B5EF4-FFF2-40B4-BE49-F238E27FC236}">
                    <a16:creationId xmlns:a16="http://schemas.microsoft.com/office/drawing/2014/main" id="{1BF5AE11-1691-C64E-A175-EA1E60B74E4A}"/>
                  </a:ext>
                </a:extLst>
              </p:cNvPr>
              <p:cNvSpPr txBox="1"/>
              <p:nvPr/>
            </p:nvSpPr>
            <p:spPr>
              <a:xfrm>
                <a:off x="9409044" y="4386470"/>
                <a:ext cx="933035" cy="430887"/>
              </a:xfrm>
              <a:prstGeom prst="rect">
                <a:avLst/>
              </a:prstGeom>
              <a:noFill/>
            </p:spPr>
            <p:txBody>
              <a:bodyPr wrap="none" rtlCol="0">
                <a:spAutoFit/>
              </a:bodyPr>
              <a:lstStyle/>
              <a:p>
                <a:pPr defTabSz="685800" eaLnBrk="1" fontAlgn="auto" hangingPunct="1">
                  <a:spcBef>
                    <a:spcPts val="0"/>
                  </a:spcBef>
                  <a:spcAft>
                    <a:spcPts val="0"/>
                  </a:spcAft>
                  <a:defRPr/>
                </a:pPr>
                <a:r>
                  <a:rPr lang="en-US" sz="1500" dirty="0">
                    <a:solidFill>
                      <a:prstClr val="black"/>
                    </a:solidFill>
                    <a:latin typeface="Calibri" panose="020F0502020204030204"/>
                    <a:ea typeface="+mn-ea"/>
                  </a:rPr>
                  <a:t>action</a:t>
                </a:r>
              </a:p>
            </p:txBody>
          </p:sp>
        </p:grpSp>
        <p:cxnSp>
          <p:nvCxnSpPr>
            <p:cNvPr id="46" name="Straight Connector 45">
              <a:extLst>
                <a:ext uri="{FF2B5EF4-FFF2-40B4-BE49-F238E27FC236}">
                  <a16:creationId xmlns:a16="http://schemas.microsoft.com/office/drawing/2014/main" id="{584E34B4-C7CA-6740-A020-13986B97F632}"/>
                </a:ext>
              </a:extLst>
            </p:cNvPr>
            <p:cNvCxnSpPr>
              <a:cxnSpLocks/>
              <a:stCxn id="6" idx="0"/>
            </p:cNvCxnSpPr>
            <p:nvPr/>
          </p:nvCxnSpPr>
          <p:spPr>
            <a:xfrm flipV="1">
              <a:off x="4386238" y="5804452"/>
              <a:ext cx="2398875" cy="19036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575B8A9-3D40-6341-867B-507C81B4BA39}"/>
                </a:ext>
              </a:extLst>
            </p:cNvPr>
            <p:cNvCxnSpPr>
              <a:cxnSpLocks/>
            </p:cNvCxnSpPr>
            <p:nvPr/>
          </p:nvCxnSpPr>
          <p:spPr>
            <a:xfrm>
              <a:off x="4399722" y="6361044"/>
              <a:ext cx="755373" cy="32647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Slide Number Placeholder 3">
            <a:extLst>
              <a:ext uri="{FF2B5EF4-FFF2-40B4-BE49-F238E27FC236}">
                <a16:creationId xmlns:a16="http://schemas.microsoft.com/office/drawing/2014/main" id="{5A6A87A6-6869-BA48-B857-B9B45AE2678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140</a:t>
            </a:fld>
            <a:endParaRPr lang="en-US" dirty="0"/>
          </a:p>
        </p:txBody>
      </p:sp>
    </p:spTree>
    <p:extLst>
      <p:ext uri="{BB962C8B-B14F-4D97-AF65-F5344CB8AC3E}">
        <p14:creationId xmlns:p14="http://schemas.microsoft.com/office/powerpoint/2010/main" val="224742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dissolv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dissolv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dissolv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dissolve">
                                      <p:cBhvr>
                                        <p:cTn id="32" dur="500"/>
                                        <p:tgtEl>
                                          <p:spTgt spid="2">
                                            <p:txEl>
                                              <p:pRg st="4" end="4"/>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Effect transition="in" filter="dissolve">
                                      <p:cBhvr>
                                        <p:cTn id="3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719438-0C98-CC4E-B2A6-DFB0F8C5A663}"/>
              </a:ext>
            </a:extLst>
          </p:cNvPr>
          <p:cNvSpPr>
            <a:spLocks noGrp="1"/>
          </p:cNvSpPr>
          <p:nvPr>
            <p:ph idx="1"/>
          </p:nvPr>
        </p:nvSpPr>
        <p:spPr>
          <a:xfrm>
            <a:off x="628650" y="1852101"/>
            <a:ext cx="7886700" cy="2285063"/>
          </a:xfrm>
        </p:spPr>
        <p:txBody>
          <a:bodyPr>
            <a:normAutofit fontScale="92500" lnSpcReduction="20000"/>
          </a:bodyPr>
          <a:lstStyle/>
          <a:p>
            <a:r>
              <a:rPr lang="en-US" altLang="en-US" dirty="0">
                <a:solidFill>
                  <a:srgbClr val="C00000"/>
                </a:solidFill>
                <a:latin typeface="Calibri" panose="020F0502020204030204" pitchFamily="34" charset="0"/>
                <a:ea typeface="ＭＳ Ｐゴシック" panose="020B0600070205080204" pitchFamily="34" charset="-128"/>
                <a:cs typeface="ＭＳ Ｐゴシック" panose="020B0600070205080204" pitchFamily="34" charset="-128"/>
              </a:rPr>
              <a:t>flow: </a:t>
            </a:r>
            <a:r>
              <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rPr>
              <a:t>defined by header fields</a:t>
            </a:r>
          </a:p>
          <a:p>
            <a:r>
              <a:rPr lang="en-US" altLang="en-US" dirty="0">
                <a:solidFill>
                  <a:srgbClr val="C00000"/>
                </a:solidFill>
                <a:latin typeface="Calibri" panose="020F0502020204030204" pitchFamily="34" charset="0"/>
                <a:ea typeface="ＭＳ Ｐゴシック" panose="020B0600070205080204" pitchFamily="34" charset="-128"/>
                <a:cs typeface="ＭＳ Ｐゴシック" panose="020B0600070205080204" pitchFamily="34" charset="-128"/>
              </a:rPr>
              <a:t>generalized forwarding: simple </a:t>
            </a:r>
            <a:r>
              <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rPr>
              <a:t>packet-handling rules</a:t>
            </a:r>
          </a:p>
          <a:p>
            <a:pPr lvl="1"/>
            <a:r>
              <a:rPr lang="en-US" altLang="en-US" dirty="0">
                <a:solidFill>
                  <a:srgbClr val="0000A8"/>
                </a:solidFill>
                <a:latin typeface="Calibri" panose="020F0502020204030204" pitchFamily="34" charset="0"/>
                <a:ea typeface="ＭＳ Ｐゴシック" panose="020B0600070205080204" pitchFamily="34" charset="-128"/>
              </a:rPr>
              <a:t>match:</a:t>
            </a:r>
            <a:r>
              <a:rPr lang="en-US" altLang="en-US" dirty="0">
                <a:solidFill>
                  <a:srgbClr val="000090"/>
                </a:solidFill>
                <a:latin typeface="Calibri" panose="020F0502020204030204" pitchFamily="34" charset="0"/>
                <a:ea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rPr>
              <a:t>pattern</a:t>
            </a:r>
            <a:r>
              <a:rPr lang="en-US" altLang="en-US" dirty="0">
                <a:solidFill>
                  <a:srgbClr val="000090"/>
                </a:solidFill>
                <a:latin typeface="Calibri" panose="020F0502020204030204" pitchFamily="34" charset="0"/>
                <a:ea typeface="ＭＳ Ｐゴシック" panose="020B0600070205080204" pitchFamily="34" charset="-128"/>
              </a:rPr>
              <a:t> </a:t>
            </a:r>
            <a:r>
              <a:rPr lang="en-US" altLang="en-US" dirty="0">
                <a:latin typeface="Calibri" panose="020F0502020204030204" pitchFamily="34" charset="0"/>
                <a:ea typeface="ＭＳ Ｐゴシック" panose="020B0600070205080204" pitchFamily="34" charset="-128"/>
              </a:rPr>
              <a:t>values in packet header fields</a:t>
            </a:r>
          </a:p>
          <a:p>
            <a:pPr lvl="1"/>
            <a:r>
              <a:rPr lang="en-US" altLang="en-US" dirty="0">
                <a:solidFill>
                  <a:srgbClr val="0000A8"/>
                </a:solidFill>
                <a:latin typeface="Calibri" panose="020F0502020204030204" pitchFamily="34" charset="0"/>
                <a:ea typeface="ＭＳ Ｐゴシック" panose="020B0600070205080204" pitchFamily="34" charset="-128"/>
              </a:rPr>
              <a:t>actions: </a:t>
            </a:r>
            <a:r>
              <a:rPr lang="en-US" altLang="en-US" dirty="0">
                <a:latin typeface="Calibri" panose="020F0502020204030204" pitchFamily="34" charset="0"/>
                <a:ea typeface="ＭＳ Ｐゴシック" panose="020B0600070205080204" pitchFamily="34" charset="-128"/>
              </a:rPr>
              <a:t>for matched packet: drop, forward, modify, matched packet or send matched packet to controller </a:t>
            </a:r>
          </a:p>
          <a:p>
            <a:pPr lvl="1"/>
            <a:r>
              <a:rPr lang="en-US" altLang="en-US" dirty="0">
                <a:solidFill>
                  <a:srgbClr val="0000A8"/>
                </a:solidFill>
                <a:latin typeface="Calibri" panose="020F0502020204030204" pitchFamily="34" charset="0"/>
                <a:ea typeface="ＭＳ Ｐゴシック" panose="020B0600070205080204" pitchFamily="34" charset="-128"/>
              </a:rPr>
              <a:t>priority: </a:t>
            </a:r>
            <a:r>
              <a:rPr lang="en-US" altLang="en-US" dirty="0">
                <a:latin typeface="Calibri" panose="020F0502020204030204" pitchFamily="34" charset="0"/>
                <a:ea typeface="ＭＳ Ｐゴシック" panose="020B0600070205080204" pitchFamily="34" charset="-128"/>
              </a:rPr>
              <a:t>disambiguate overlapping patterns</a:t>
            </a:r>
          </a:p>
          <a:p>
            <a:pPr lvl="1"/>
            <a:r>
              <a:rPr lang="en-US" altLang="en-US" dirty="0">
                <a:solidFill>
                  <a:srgbClr val="0000A8"/>
                </a:solidFill>
                <a:latin typeface="Calibri" panose="020F0502020204030204" pitchFamily="34" charset="0"/>
                <a:ea typeface="ＭＳ Ｐゴシック" panose="020B0600070205080204" pitchFamily="34" charset="-128"/>
              </a:rPr>
              <a:t>counters: </a:t>
            </a:r>
            <a:r>
              <a:rPr lang="en-US" altLang="en-US" dirty="0">
                <a:latin typeface="Calibri" panose="020F0502020204030204" pitchFamily="34" charset="0"/>
                <a:ea typeface="ＭＳ Ｐゴシック" panose="020B0600070205080204" pitchFamily="34" charset="-128"/>
              </a:rPr>
              <a:t>#bytes and #packets</a:t>
            </a:r>
          </a:p>
        </p:txBody>
      </p:sp>
      <p:cxnSp>
        <p:nvCxnSpPr>
          <p:cNvPr id="45" name="Straight Connector 44">
            <a:extLst>
              <a:ext uri="{FF2B5EF4-FFF2-40B4-BE49-F238E27FC236}">
                <a16:creationId xmlns:a16="http://schemas.microsoft.com/office/drawing/2014/main" id="{362506F8-ECEC-2E42-805B-42E4D94FA9CB}"/>
              </a:ext>
            </a:extLst>
          </p:cNvPr>
          <p:cNvCxnSpPr/>
          <p:nvPr/>
        </p:nvCxnSpPr>
        <p:spPr>
          <a:xfrm>
            <a:off x="636104" y="5508763"/>
            <a:ext cx="389613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EFCF0EDD-3789-414C-ACC3-3BF841E39C99}"/>
              </a:ext>
            </a:extLst>
          </p:cNvPr>
          <p:cNvGrpSpPr/>
          <p:nvPr/>
        </p:nvGrpSpPr>
        <p:grpSpPr>
          <a:xfrm>
            <a:off x="1588013" y="5085109"/>
            <a:ext cx="1701840" cy="771524"/>
            <a:chOff x="7493876" y="2774731"/>
            <a:chExt cx="1481958" cy="894622"/>
          </a:xfrm>
          <a:effectLst>
            <a:outerShdw blurRad="50800" dist="38100" dir="18900000" algn="bl" rotWithShape="0">
              <a:prstClr val="black">
                <a:alpha val="40000"/>
              </a:prstClr>
            </a:outerShdw>
          </a:effectLst>
        </p:grpSpPr>
        <p:sp>
          <p:nvSpPr>
            <p:cNvPr id="6" name="Freeform 5">
              <a:extLst>
                <a:ext uri="{FF2B5EF4-FFF2-40B4-BE49-F238E27FC236}">
                  <a16:creationId xmlns:a16="http://schemas.microsoft.com/office/drawing/2014/main" id="{CF1E2C8F-E181-3B43-A519-0FC1DEA4B61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7" name="Oval 6">
              <a:extLst>
                <a:ext uri="{FF2B5EF4-FFF2-40B4-BE49-F238E27FC236}">
                  <a16:creationId xmlns:a16="http://schemas.microsoft.com/office/drawing/2014/main" id="{8CE0A78E-9FDA-334F-9AD4-8A4ED942B1C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8" name="Group 7">
              <a:extLst>
                <a:ext uri="{FF2B5EF4-FFF2-40B4-BE49-F238E27FC236}">
                  <a16:creationId xmlns:a16="http://schemas.microsoft.com/office/drawing/2014/main" id="{0C1D1C42-5DC5-DE41-880F-2DB6C20303EA}"/>
                </a:ext>
              </a:extLst>
            </p:cNvPr>
            <p:cNvGrpSpPr/>
            <p:nvPr/>
          </p:nvGrpSpPr>
          <p:grpSpPr>
            <a:xfrm>
              <a:off x="7713663" y="2848339"/>
              <a:ext cx="1042107" cy="425543"/>
              <a:chOff x="7786941" y="2884917"/>
              <a:chExt cx="897649" cy="353919"/>
            </a:xfrm>
          </p:grpSpPr>
          <p:sp>
            <p:nvSpPr>
              <p:cNvPr id="9" name="Freeform 8">
                <a:extLst>
                  <a:ext uri="{FF2B5EF4-FFF2-40B4-BE49-F238E27FC236}">
                    <a16:creationId xmlns:a16="http://schemas.microsoft.com/office/drawing/2014/main" id="{AEEDB7BE-ECB9-AE43-B7F9-9420522500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0" name="Freeform 9">
                <a:extLst>
                  <a:ext uri="{FF2B5EF4-FFF2-40B4-BE49-F238E27FC236}">
                    <a16:creationId xmlns:a16="http://schemas.microsoft.com/office/drawing/2014/main" id="{8484C86C-9AA8-0C48-9C1B-936E42E298D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2" name="Freeform 11">
                <a:extLst>
                  <a:ext uri="{FF2B5EF4-FFF2-40B4-BE49-F238E27FC236}">
                    <a16:creationId xmlns:a16="http://schemas.microsoft.com/office/drawing/2014/main" id="{79FD6387-1AB1-7743-A3A7-ED8933D501E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3" name="Freeform 12">
                <a:extLst>
                  <a:ext uri="{FF2B5EF4-FFF2-40B4-BE49-F238E27FC236}">
                    <a16:creationId xmlns:a16="http://schemas.microsoft.com/office/drawing/2014/main" id="{5CDE1FFF-560A-D046-879A-1BAD0681C80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grpSp>
        <p:nvGrpSpPr>
          <p:cNvPr id="43" name="Group 42">
            <a:extLst>
              <a:ext uri="{FF2B5EF4-FFF2-40B4-BE49-F238E27FC236}">
                <a16:creationId xmlns:a16="http://schemas.microsoft.com/office/drawing/2014/main" id="{7BA19BCA-1317-9E49-B6D6-B6CF8B58E795}"/>
              </a:ext>
            </a:extLst>
          </p:cNvPr>
          <p:cNvGrpSpPr/>
          <p:nvPr/>
        </p:nvGrpSpPr>
        <p:grpSpPr>
          <a:xfrm>
            <a:off x="1901897" y="4246494"/>
            <a:ext cx="1499135" cy="993786"/>
            <a:chOff x="8327282" y="4055165"/>
            <a:chExt cx="2091509" cy="1325048"/>
          </a:xfrm>
        </p:grpSpPr>
        <p:grpSp>
          <p:nvGrpSpPr>
            <p:cNvPr id="20" name="Group 554">
              <a:extLst>
                <a:ext uri="{FF2B5EF4-FFF2-40B4-BE49-F238E27FC236}">
                  <a16:creationId xmlns:a16="http://schemas.microsoft.com/office/drawing/2014/main" id="{F0AAF6D0-8EA6-E749-9758-CE8F2B209D9B}"/>
                </a:ext>
              </a:extLst>
            </p:cNvPr>
            <p:cNvGrpSpPr>
              <a:grpSpLocks/>
            </p:cNvGrpSpPr>
            <p:nvPr/>
          </p:nvGrpSpPr>
          <p:grpSpPr bwMode="auto">
            <a:xfrm>
              <a:off x="8327282" y="4121430"/>
              <a:ext cx="2091509" cy="1258783"/>
              <a:chOff x="2932675" y="3919324"/>
              <a:chExt cx="429970" cy="319189"/>
            </a:xfrm>
          </p:grpSpPr>
          <p:sp>
            <p:nvSpPr>
              <p:cNvPr id="21" name="Rectangle 20">
                <a:extLst>
                  <a:ext uri="{FF2B5EF4-FFF2-40B4-BE49-F238E27FC236}">
                    <a16:creationId xmlns:a16="http://schemas.microsoft.com/office/drawing/2014/main" id="{803BF111-23DE-1945-8735-48B7B51FDA35}"/>
                  </a:ext>
                </a:extLst>
              </p:cNvPr>
              <p:cNvSpPr/>
              <p:nvPr/>
            </p:nvSpPr>
            <p:spPr>
              <a:xfrm>
                <a:off x="2936722" y="3919324"/>
                <a:ext cx="425923" cy="319189"/>
              </a:xfrm>
              <a:prstGeom prst="rect">
                <a:avLst/>
              </a:prstGeom>
              <a:solidFill>
                <a:srgbClr val="FFFFFF"/>
              </a:solidFill>
              <a:ln w="25400" cap="flat" cmpd="sng" algn="ctr">
                <a:solidFill>
                  <a:srgbClr val="CC0000"/>
                </a:solidFill>
                <a:prstDash val="solid"/>
              </a:ln>
              <a:effectLst/>
            </p:spPr>
            <p:txBody>
              <a:bodyPr anchor="ctr"/>
              <a:lstStyle/>
              <a:p>
                <a:pPr algn="ctr" defTabSz="685800">
                  <a:defRPr/>
                </a:pPr>
                <a:endParaRPr lang="en-US" sz="1350" kern="0">
                  <a:solidFill>
                    <a:srgbClr val="FFFFFF"/>
                  </a:solidFill>
                  <a:latin typeface="Gill Sans MT"/>
                  <a:ea typeface="+mn-ea"/>
                </a:endParaRPr>
              </a:p>
            </p:txBody>
          </p:sp>
          <p:cxnSp>
            <p:nvCxnSpPr>
              <p:cNvPr id="22" name="Straight Connector 21">
                <a:extLst>
                  <a:ext uri="{FF2B5EF4-FFF2-40B4-BE49-F238E27FC236}">
                    <a16:creationId xmlns:a16="http://schemas.microsoft.com/office/drawing/2014/main" id="{3B28D0C4-B5C9-5844-BF1E-1197CD1800CC}"/>
                  </a:ext>
                </a:extLst>
              </p:cNvPr>
              <p:cNvCxnSpPr/>
              <p:nvPr/>
            </p:nvCxnSpPr>
            <p:spPr>
              <a:xfrm>
                <a:off x="2932675" y="4004959"/>
                <a:ext cx="424911" cy="0"/>
              </a:xfrm>
              <a:prstGeom prst="line">
                <a:avLst/>
              </a:prstGeom>
              <a:noFill/>
              <a:ln w="25400" cap="flat" cmpd="sng" algn="ctr">
                <a:solidFill>
                  <a:srgbClr val="CC0000"/>
                </a:solidFill>
                <a:prstDash val="solid"/>
              </a:ln>
              <a:effectLst/>
            </p:spPr>
          </p:cxnSp>
          <p:cxnSp>
            <p:nvCxnSpPr>
              <p:cNvPr id="23" name="Straight Connector 22">
                <a:extLst>
                  <a:ext uri="{FF2B5EF4-FFF2-40B4-BE49-F238E27FC236}">
                    <a16:creationId xmlns:a16="http://schemas.microsoft.com/office/drawing/2014/main" id="{293CE468-AA72-B340-AB98-BDBA2EE69A0B}"/>
                  </a:ext>
                </a:extLst>
              </p:cNvPr>
              <p:cNvCxnSpPr/>
              <p:nvPr/>
            </p:nvCxnSpPr>
            <p:spPr>
              <a:xfrm>
                <a:off x="2932675" y="4069207"/>
                <a:ext cx="424911" cy="0"/>
              </a:xfrm>
              <a:prstGeom prst="line">
                <a:avLst/>
              </a:prstGeom>
              <a:noFill/>
              <a:ln w="25400" cap="flat" cmpd="sng" algn="ctr">
                <a:solidFill>
                  <a:srgbClr val="CC0000"/>
                </a:solidFill>
                <a:prstDash val="solid"/>
              </a:ln>
              <a:effectLst/>
            </p:spPr>
          </p:cxnSp>
          <p:cxnSp>
            <p:nvCxnSpPr>
              <p:cNvPr id="24" name="Straight Connector 23">
                <a:extLst>
                  <a:ext uri="{FF2B5EF4-FFF2-40B4-BE49-F238E27FC236}">
                    <a16:creationId xmlns:a16="http://schemas.microsoft.com/office/drawing/2014/main" id="{1AFD2436-CAFF-8042-BF47-7E024FE6789B}"/>
                  </a:ext>
                </a:extLst>
              </p:cNvPr>
              <p:cNvCxnSpPr>
                <a:cxnSpLocks/>
                <a:stCxn id="21" idx="2"/>
              </p:cNvCxnSpPr>
              <p:nvPr/>
            </p:nvCxnSpPr>
            <p:spPr>
              <a:xfrm flipH="1" flipV="1">
                <a:off x="3148166" y="4001599"/>
                <a:ext cx="1517" cy="236914"/>
              </a:xfrm>
              <a:prstGeom prst="line">
                <a:avLst/>
              </a:prstGeom>
              <a:noFill/>
              <a:ln w="25400" cap="flat" cmpd="sng" algn="ctr">
                <a:solidFill>
                  <a:srgbClr val="CC0000"/>
                </a:solidFill>
                <a:prstDash val="solid"/>
              </a:ln>
              <a:effectLst/>
            </p:spPr>
          </p:cxnSp>
        </p:grpSp>
        <p:sp>
          <p:nvSpPr>
            <p:cNvPr id="3" name="TextBox 2">
              <a:extLst>
                <a:ext uri="{FF2B5EF4-FFF2-40B4-BE49-F238E27FC236}">
                  <a16:creationId xmlns:a16="http://schemas.microsoft.com/office/drawing/2014/main" id="{795B25A3-83EE-0C42-A451-21C2EA7C24E0}"/>
                </a:ext>
              </a:extLst>
            </p:cNvPr>
            <p:cNvSpPr txBox="1"/>
            <p:nvPr/>
          </p:nvSpPr>
          <p:spPr>
            <a:xfrm>
              <a:off x="8759686" y="4055165"/>
              <a:ext cx="1387118" cy="430887"/>
            </a:xfrm>
            <a:prstGeom prst="rect">
              <a:avLst/>
            </a:prstGeom>
            <a:noFill/>
          </p:spPr>
          <p:txBody>
            <a:bodyPr wrap="none" rtlCol="0">
              <a:spAutoFit/>
            </a:bodyPr>
            <a:lstStyle/>
            <a:p>
              <a:pPr defTabSz="685800" eaLnBrk="1" fontAlgn="auto" hangingPunct="1">
                <a:spcBef>
                  <a:spcPts val="0"/>
                </a:spcBef>
                <a:spcAft>
                  <a:spcPts val="0"/>
                </a:spcAft>
                <a:defRPr/>
              </a:pPr>
              <a:r>
                <a:rPr lang="en-US" sz="1500" dirty="0">
                  <a:solidFill>
                    <a:prstClr val="black"/>
                  </a:solidFill>
                  <a:latin typeface="Calibri" panose="020F0502020204030204"/>
                  <a:ea typeface="+mn-ea"/>
                </a:rPr>
                <a:t>Flow table</a:t>
              </a:r>
            </a:p>
          </p:txBody>
        </p:sp>
        <p:sp>
          <p:nvSpPr>
            <p:cNvPr id="41" name="TextBox 40">
              <a:extLst>
                <a:ext uri="{FF2B5EF4-FFF2-40B4-BE49-F238E27FC236}">
                  <a16:creationId xmlns:a16="http://schemas.microsoft.com/office/drawing/2014/main" id="{0F3A5449-AA06-DE4B-8FA1-C9212AFA1460}"/>
                </a:ext>
              </a:extLst>
            </p:cNvPr>
            <p:cNvSpPr txBox="1"/>
            <p:nvPr/>
          </p:nvSpPr>
          <p:spPr>
            <a:xfrm>
              <a:off x="8461513" y="4379844"/>
              <a:ext cx="938402" cy="430887"/>
            </a:xfrm>
            <a:prstGeom prst="rect">
              <a:avLst/>
            </a:prstGeom>
            <a:noFill/>
          </p:spPr>
          <p:txBody>
            <a:bodyPr wrap="none" rtlCol="0">
              <a:spAutoFit/>
            </a:bodyPr>
            <a:lstStyle/>
            <a:p>
              <a:pPr defTabSz="685800" eaLnBrk="1" fontAlgn="auto" hangingPunct="1">
                <a:spcBef>
                  <a:spcPts val="0"/>
                </a:spcBef>
                <a:spcAft>
                  <a:spcPts val="0"/>
                </a:spcAft>
                <a:defRPr/>
              </a:pPr>
              <a:r>
                <a:rPr lang="en-US" sz="1500" dirty="0">
                  <a:solidFill>
                    <a:prstClr val="black"/>
                  </a:solidFill>
                  <a:latin typeface="Calibri" panose="020F0502020204030204"/>
                  <a:ea typeface="+mn-ea"/>
                </a:rPr>
                <a:t>match</a:t>
              </a:r>
            </a:p>
          </p:txBody>
        </p:sp>
        <p:sp>
          <p:nvSpPr>
            <p:cNvPr id="42" name="TextBox 41">
              <a:extLst>
                <a:ext uri="{FF2B5EF4-FFF2-40B4-BE49-F238E27FC236}">
                  <a16:creationId xmlns:a16="http://schemas.microsoft.com/office/drawing/2014/main" id="{1BF5AE11-1691-C64E-A175-EA1E60B74E4A}"/>
                </a:ext>
              </a:extLst>
            </p:cNvPr>
            <p:cNvSpPr txBox="1"/>
            <p:nvPr/>
          </p:nvSpPr>
          <p:spPr>
            <a:xfrm>
              <a:off x="9409044" y="4386470"/>
              <a:ext cx="933035" cy="430887"/>
            </a:xfrm>
            <a:prstGeom prst="rect">
              <a:avLst/>
            </a:prstGeom>
            <a:noFill/>
          </p:spPr>
          <p:txBody>
            <a:bodyPr wrap="none" rtlCol="0">
              <a:spAutoFit/>
            </a:bodyPr>
            <a:lstStyle/>
            <a:p>
              <a:pPr defTabSz="685800" eaLnBrk="1" fontAlgn="auto" hangingPunct="1">
                <a:spcBef>
                  <a:spcPts val="0"/>
                </a:spcBef>
                <a:spcAft>
                  <a:spcPts val="0"/>
                </a:spcAft>
                <a:defRPr/>
              </a:pPr>
              <a:r>
                <a:rPr lang="en-US" sz="1500" dirty="0">
                  <a:solidFill>
                    <a:prstClr val="black"/>
                  </a:solidFill>
                  <a:latin typeface="Calibri" panose="020F0502020204030204"/>
                  <a:ea typeface="+mn-ea"/>
                </a:rPr>
                <a:t>action</a:t>
              </a:r>
            </a:p>
          </p:txBody>
        </p:sp>
      </p:grpSp>
      <p:cxnSp>
        <p:nvCxnSpPr>
          <p:cNvPr id="46" name="Straight Connector 45">
            <a:extLst>
              <a:ext uri="{FF2B5EF4-FFF2-40B4-BE49-F238E27FC236}">
                <a16:creationId xmlns:a16="http://schemas.microsoft.com/office/drawing/2014/main" id="{584E34B4-C7CA-6740-A020-13986B97F632}"/>
              </a:ext>
            </a:extLst>
          </p:cNvPr>
          <p:cNvCxnSpPr>
            <a:cxnSpLocks/>
            <a:stCxn id="6" idx="0"/>
          </p:cNvCxnSpPr>
          <p:nvPr/>
        </p:nvCxnSpPr>
        <p:spPr>
          <a:xfrm flipV="1">
            <a:off x="3289679" y="5210589"/>
            <a:ext cx="1799156" cy="14277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575B8A9-3D40-6341-867B-507C81B4BA39}"/>
              </a:ext>
            </a:extLst>
          </p:cNvPr>
          <p:cNvCxnSpPr>
            <a:cxnSpLocks/>
          </p:cNvCxnSpPr>
          <p:nvPr/>
        </p:nvCxnSpPr>
        <p:spPr>
          <a:xfrm>
            <a:off x="3299792" y="5628033"/>
            <a:ext cx="566530" cy="24485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0AE0A89-AC33-BF4C-92BE-57E02010D08E}"/>
              </a:ext>
            </a:extLst>
          </p:cNvPr>
          <p:cNvSpPr txBox="1"/>
          <p:nvPr/>
        </p:nvSpPr>
        <p:spPr>
          <a:xfrm>
            <a:off x="1371600" y="5260285"/>
            <a:ext cx="272832" cy="300082"/>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1</a:t>
            </a:r>
          </a:p>
        </p:txBody>
      </p:sp>
      <p:sp>
        <p:nvSpPr>
          <p:cNvPr id="31" name="TextBox 30">
            <a:extLst>
              <a:ext uri="{FF2B5EF4-FFF2-40B4-BE49-F238E27FC236}">
                <a16:creationId xmlns:a16="http://schemas.microsoft.com/office/drawing/2014/main" id="{4E53A182-ED02-724B-B717-34A471A9D7DC}"/>
              </a:ext>
            </a:extLst>
          </p:cNvPr>
          <p:cNvSpPr txBox="1"/>
          <p:nvPr/>
        </p:nvSpPr>
        <p:spPr>
          <a:xfrm>
            <a:off x="3255065" y="5633002"/>
            <a:ext cx="272832" cy="300082"/>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2</a:t>
            </a:r>
          </a:p>
        </p:txBody>
      </p:sp>
      <p:sp>
        <p:nvSpPr>
          <p:cNvPr id="32" name="TextBox 31">
            <a:extLst>
              <a:ext uri="{FF2B5EF4-FFF2-40B4-BE49-F238E27FC236}">
                <a16:creationId xmlns:a16="http://schemas.microsoft.com/office/drawing/2014/main" id="{55EDB1F3-36CA-944D-979C-CE1587B157B4}"/>
              </a:ext>
            </a:extLst>
          </p:cNvPr>
          <p:cNvSpPr txBox="1"/>
          <p:nvPr/>
        </p:nvSpPr>
        <p:spPr>
          <a:xfrm>
            <a:off x="3588026" y="5469007"/>
            <a:ext cx="272832" cy="300082"/>
          </a:xfrm>
          <a:prstGeom prst="rect">
            <a:avLst/>
          </a:prstGeom>
          <a:no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3</a:t>
            </a:r>
          </a:p>
        </p:txBody>
      </p:sp>
      <p:sp>
        <p:nvSpPr>
          <p:cNvPr id="33" name="TextBox 32">
            <a:extLst>
              <a:ext uri="{FF2B5EF4-FFF2-40B4-BE49-F238E27FC236}">
                <a16:creationId xmlns:a16="http://schemas.microsoft.com/office/drawing/2014/main" id="{C4464804-CC10-384C-AEB4-90FDA3AE9F07}"/>
              </a:ext>
            </a:extLst>
          </p:cNvPr>
          <p:cNvSpPr txBox="1"/>
          <p:nvPr/>
        </p:nvSpPr>
        <p:spPr>
          <a:xfrm>
            <a:off x="3424031" y="5195681"/>
            <a:ext cx="272832" cy="300082"/>
          </a:xfrm>
          <a:prstGeom prst="rect">
            <a:avLst/>
          </a:prstGeom>
          <a:solidFill>
            <a:schemeClr val="bg1"/>
          </a:solidFill>
        </p:spPr>
        <p:txBody>
          <a:bodyPr wrap="none" rtlCol="0">
            <a:spAutoFit/>
          </a:bodyPr>
          <a:lstStyle/>
          <a:p>
            <a:pPr defTabSz="685800" eaLnBrk="1" fontAlgn="auto" hangingPunct="1">
              <a:spcBef>
                <a:spcPts val="0"/>
              </a:spcBef>
              <a:spcAft>
                <a:spcPts val="0"/>
              </a:spcAft>
              <a:defRPr/>
            </a:pPr>
            <a:r>
              <a:rPr lang="en-US" sz="1350" dirty="0">
                <a:solidFill>
                  <a:prstClr val="black"/>
                </a:solidFill>
                <a:latin typeface="Calibri" panose="020F0502020204030204"/>
                <a:ea typeface="+mn-ea"/>
              </a:rPr>
              <a:t>4</a:t>
            </a:r>
          </a:p>
        </p:txBody>
      </p:sp>
      <p:grpSp>
        <p:nvGrpSpPr>
          <p:cNvPr id="25" name="Group 24">
            <a:extLst>
              <a:ext uri="{FF2B5EF4-FFF2-40B4-BE49-F238E27FC236}">
                <a16:creationId xmlns:a16="http://schemas.microsoft.com/office/drawing/2014/main" id="{B3064E8A-1F8D-3347-A456-A767F49DA813}"/>
              </a:ext>
            </a:extLst>
          </p:cNvPr>
          <p:cNvGrpSpPr/>
          <p:nvPr/>
        </p:nvGrpSpPr>
        <p:grpSpPr>
          <a:xfrm>
            <a:off x="3400486" y="4116734"/>
            <a:ext cx="5115068" cy="1201437"/>
            <a:chOff x="4518991" y="4315999"/>
            <a:chExt cx="6820091" cy="1601916"/>
          </a:xfrm>
        </p:grpSpPr>
        <p:sp>
          <p:nvSpPr>
            <p:cNvPr id="29" name="TextBox 32">
              <a:extLst>
                <a:ext uri="{FF2B5EF4-FFF2-40B4-BE49-F238E27FC236}">
                  <a16:creationId xmlns:a16="http://schemas.microsoft.com/office/drawing/2014/main" id="{B82879F5-A8E9-4742-AC89-B09339E85093}"/>
                </a:ext>
              </a:extLst>
            </p:cNvPr>
            <p:cNvSpPr txBox="1">
              <a:spLocks noChangeArrowheads="1"/>
            </p:cNvSpPr>
            <p:nvPr/>
          </p:nvSpPr>
          <p:spPr bwMode="auto">
            <a:xfrm>
              <a:off x="7424876" y="5517806"/>
              <a:ext cx="1374735"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rPr>
                <a:t>* : wildcard</a:t>
              </a:r>
            </a:p>
          </p:txBody>
        </p:sp>
        <p:sp>
          <p:nvSpPr>
            <p:cNvPr id="16" name="Freeform 15">
              <a:extLst>
                <a:ext uri="{FF2B5EF4-FFF2-40B4-BE49-F238E27FC236}">
                  <a16:creationId xmlns:a16="http://schemas.microsoft.com/office/drawing/2014/main" id="{C156E13C-C349-EC4C-B479-040B1712E32E}"/>
                </a:ext>
              </a:extLst>
            </p:cNvPr>
            <p:cNvSpPr/>
            <p:nvPr/>
          </p:nvSpPr>
          <p:spPr>
            <a:xfrm>
              <a:off x="4518991" y="4320209"/>
              <a:ext cx="808383" cy="1497495"/>
            </a:xfrm>
            <a:custGeom>
              <a:avLst/>
              <a:gdLst>
                <a:gd name="connsiteX0" fmla="*/ 13252 w 808383"/>
                <a:gd name="connsiteY0" fmla="*/ 1497495 h 1497495"/>
                <a:gd name="connsiteX1" fmla="*/ 808383 w 808383"/>
                <a:gd name="connsiteY1" fmla="*/ 1192695 h 1497495"/>
                <a:gd name="connsiteX2" fmla="*/ 795131 w 808383"/>
                <a:gd name="connsiteY2" fmla="*/ 0 h 1497495"/>
                <a:gd name="connsiteX3" fmla="*/ 0 w 808383"/>
                <a:gd name="connsiteY3" fmla="*/ 887895 h 1497495"/>
                <a:gd name="connsiteX4" fmla="*/ 13252 w 808383"/>
                <a:gd name="connsiteY4" fmla="*/ 1497495 h 1497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383" h="1497495">
                  <a:moveTo>
                    <a:pt x="13252" y="1497495"/>
                  </a:moveTo>
                  <a:lnTo>
                    <a:pt x="808383" y="1192695"/>
                  </a:lnTo>
                  <a:lnTo>
                    <a:pt x="795131" y="0"/>
                  </a:lnTo>
                  <a:lnTo>
                    <a:pt x="0" y="887895"/>
                  </a:lnTo>
                  <a:lnTo>
                    <a:pt x="13252" y="1497495"/>
                  </a:lnTo>
                  <a:close/>
                </a:path>
              </a:pathLst>
            </a:custGeom>
            <a:gradFill>
              <a:gsLst>
                <a:gs pos="0">
                  <a:schemeClr val="bg1">
                    <a:lumMod val="95000"/>
                  </a:schemeClr>
                </a:gs>
                <a:gs pos="100000">
                  <a:schemeClr val="bg1">
                    <a:lumMod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cxnSp>
          <p:nvCxnSpPr>
            <p:cNvPr id="19" name="Straight Connector 18">
              <a:extLst>
                <a:ext uri="{FF2B5EF4-FFF2-40B4-BE49-F238E27FC236}">
                  <a16:creationId xmlns:a16="http://schemas.microsoft.com/office/drawing/2014/main" id="{FE279AE1-4F6D-FA4B-8F69-D1B6D664A081}"/>
                </a:ext>
              </a:extLst>
            </p:cNvPr>
            <p:cNvCxnSpPr>
              <a:cxnSpLocks/>
            </p:cNvCxnSpPr>
            <p:nvPr/>
          </p:nvCxnSpPr>
          <p:spPr>
            <a:xfrm>
              <a:off x="8691768" y="4315999"/>
              <a:ext cx="0" cy="120015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8" name="Rectangle 22">
              <a:extLst>
                <a:ext uri="{FF2B5EF4-FFF2-40B4-BE49-F238E27FC236}">
                  <a16:creationId xmlns:a16="http://schemas.microsoft.com/office/drawing/2014/main" id="{1EA29FD6-93E2-D248-8287-1EF1A763B1AB}"/>
                </a:ext>
              </a:extLst>
            </p:cNvPr>
            <p:cNvSpPr>
              <a:spLocks/>
            </p:cNvSpPr>
            <p:nvPr/>
          </p:nvSpPr>
          <p:spPr bwMode="auto">
            <a:xfrm>
              <a:off x="5318056" y="4334323"/>
              <a:ext cx="3362117" cy="1191833"/>
            </a:xfrm>
            <a:prstGeom prst="rect">
              <a:avLst/>
            </a:prstGeom>
            <a:solidFill>
              <a:srgbClr val="BBE0E3"/>
            </a:solidFill>
            <a:ln w="12700">
              <a:no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endParaRPr lang="en-US" altLang="en-US" sz="1350" kern="0">
                <a:solidFill>
                  <a:srgbClr val="000000"/>
                </a:solidFill>
                <a:latin typeface="Calibri" panose="020F0502020204030204" pitchFamily="34" charset="0"/>
              </a:endParaRPr>
            </a:p>
          </p:txBody>
        </p:sp>
        <p:sp>
          <p:nvSpPr>
            <p:cNvPr id="40" name="Rectangle 24">
              <a:extLst>
                <a:ext uri="{FF2B5EF4-FFF2-40B4-BE49-F238E27FC236}">
                  <a16:creationId xmlns:a16="http://schemas.microsoft.com/office/drawing/2014/main" id="{84DD72A2-6599-5A4C-9EC1-40B227E8352F}"/>
                </a:ext>
              </a:extLst>
            </p:cNvPr>
            <p:cNvSpPr>
              <a:spLocks/>
            </p:cNvSpPr>
            <p:nvPr/>
          </p:nvSpPr>
          <p:spPr bwMode="auto">
            <a:xfrm>
              <a:off x="8712339" y="4334323"/>
              <a:ext cx="2618270" cy="1191834"/>
            </a:xfrm>
            <a:prstGeom prst="rect">
              <a:avLst/>
            </a:prstGeom>
            <a:solidFill>
              <a:schemeClr val="accent6">
                <a:lumMod val="20000"/>
                <a:lumOff val="80000"/>
              </a:schemeClr>
            </a:solidFill>
            <a:ln w="12700">
              <a:no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endParaRPr lang="en-US" altLang="en-US" sz="1350">
                <a:solidFill>
                  <a:srgbClr val="000000"/>
                </a:solidFill>
                <a:latin typeface="Calibri" panose="020F0502020204030204" pitchFamily="34" charset="0"/>
              </a:endParaRPr>
            </a:p>
          </p:txBody>
        </p:sp>
        <p:sp>
          <p:nvSpPr>
            <p:cNvPr id="28" name="Rectangle 27">
              <a:extLst>
                <a:ext uri="{FF2B5EF4-FFF2-40B4-BE49-F238E27FC236}">
                  <a16:creationId xmlns:a16="http://schemas.microsoft.com/office/drawing/2014/main" id="{CD5AE70A-DF8A-054F-8D4E-AC00C36D05F1}"/>
                </a:ext>
              </a:extLst>
            </p:cNvPr>
            <p:cNvSpPr>
              <a:spLocks noChangeArrowheads="1"/>
            </p:cNvSpPr>
            <p:nvPr/>
          </p:nvSpPr>
          <p:spPr bwMode="auto">
            <a:xfrm>
              <a:off x="5322404" y="5059180"/>
              <a:ext cx="5981700" cy="492443"/>
            </a:xfrm>
            <a:prstGeom prst="rect">
              <a:avLst/>
            </a:prstGeom>
            <a:noFill/>
            <a:ln w="25400">
              <a:noFill/>
              <a:miter lim="800000"/>
              <a:headEnd/>
              <a:tailEnd/>
            </a:ln>
            <a:effectLst/>
          </p:spPr>
          <p:txBody>
            <a:bodyPr wrap="square">
              <a:spAutoFit/>
            </a:bodyPr>
            <a:lstStyle/>
            <a:p>
              <a:pPr marL="342900" indent="-342900" defTabSz="685800" eaLnBrk="1" fontAlgn="auto" hangingPunct="1">
                <a:spcBef>
                  <a:spcPts val="0"/>
                </a:spcBef>
                <a:spcAft>
                  <a:spcPts val="0"/>
                </a:spcAft>
                <a:defRPr/>
              </a:pPr>
              <a:r>
                <a:rPr lang="en-US" dirty="0" err="1">
                  <a:solidFill>
                    <a:srgbClr val="000000"/>
                  </a:solidFill>
                  <a:latin typeface="Calibri" charset="0"/>
                  <a:ea typeface="ヒラギノ角ゴ Pro W3" charset="0"/>
                  <a:cs typeface="ヒラギノ角ゴ Pro W3" charset="0"/>
                  <a:sym typeface="Wingdings" charset="0"/>
                </a:rPr>
                <a:t>src</a:t>
              </a:r>
              <a:r>
                <a:rPr lang="en-US" dirty="0">
                  <a:solidFill>
                    <a:srgbClr val="000000"/>
                  </a:solidFill>
                  <a:latin typeface="Calibri" charset="0"/>
                  <a:ea typeface="ヒラギノ角ゴ Pro W3" charset="0"/>
                  <a:cs typeface="ヒラギノ角ゴ Pro W3" charset="0"/>
                  <a:sym typeface="Wingdings" charset="0"/>
                </a:rPr>
                <a:t>=10.1.2.3, </a:t>
              </a:r>
              <a:r>
                <a:rPr lang="en-US" dirty="0" err="1">
                  <a:solidFill>
                    <a:srgbClr val="000000"/>
                  </a:solidFill>
                  <a:latin typeface="Calibri" charset="0"/>
                  <a:ea typeface="ヒラギノ角ゴ Pro W3" charset="0"/>
                  <a:cs typeface="ヒラギノ角ゴ Pro W3" charset="0"/>
                  <a:sym typeface="Wingdings" charset="0"/>
                </a:rPr>
                <a:t>dest</a:t>
              </a:r>
              <a:r>
                <a:rPr lang="en-US" dirty="0">
                  <a:solidFill>
                    <a:srgbClr val="000000"/>
                  </a:solidFill>
                  <a:latin typeface="Calibri" charset="0"/>
                  <a:ea typeface="ヒラギノ角ゴ Pro W3" charset="0"/>
                  <a:cs typeface="ヒラギノ角ゴ Pro W3" charset="0"/>
                  <a:sym typeface="Wingdings" charset="0"/>
                </a:rPr>
                <a:t>=*.*.*.*     send to controller</a:t>
              </a:r>
              <a:endParaRPr lang="en-US" dirty="0">
                <a:solidFill>
                  <a:srgbClr val="000000"/>
                </a:solidFill>
                <a:latin typeface="Calibri" charset="0"/>
                <a:ea typeface="ヒラギノ角ゴ Pro W3" charset="0"/>
                <a:cs typeface="ヒラギノ角ゴ Pro W3" charset="0"/>
              </a:endParaRPr>
            </a:p>
          </p:txBody>
        </p:sp>
        <p:sp>
          <p:nvSpPr>
            <p:cNvPr id="35" name="Rectangle 34">
              <a:extLst>
                <a:ext uri="{FF2B5EF4-FFF2-40B4-BE49-F238E27FC236}">
                  <a16:creationId xmlns:a16="http://schemas.microsoft.com/office/drawing/2014/main" id="{F6354FF9-2E1C-0D4C-B7EA-2B8179A518FA}"/>
                </a:ext>
              </a:extLst>
            </p:cNvPr>
            <p:cNvSpPr>
              <a:spLocks noChangeArrowheads="1"/>
            </p:cNvSpPr>
            <p:nvPr/>
          </p:nvSpPr>
          <p:spPr bwMode="auto">
            <a:xfrm>
              <a:off x="5339894" y="4686926"/>
              <a:ext cx="5981700" cy="492443"/>
            </a:xfrm>
            <a:prstGeom prst="rect">
              <a:avLst/>
            </a:prstGeom>
            <a:noFill/>
            <a:ln w="25400">
              <a:noFill/>
              <a:miter lim="800000"/>
              <a:headEnd/>
              <a:tailEnd/>
            </a:ln>
            <a:effectLst/>
          </p:spPr>
          <p:txBody>
            <a:bodyPr wrap="square">
              <a:spAutoFit/>
            </a:bodyPr>
            <a:lstStyle/>
            <a:p>
              <a:pPr defTabSz="685800" eaLnBrk="1" fontAlgn="auto" hangingPunct="1">
                <a:spcBef>
                  <a:spcPts val="0"/>
                </a:spcBef>
                <a:spcAft>
                  <a:spcPts val="0"/>
                </a:spcAft>
                <a:defRPr/>
              </a:pPr>
              <a:r>
                <a:rPr lang="en-US" dirty="0" err="1">
                  <a:solidFill>
                    <a:srgbClr val="000000"/>
                  </a:solidFill>
                  <a:latin typeface="Calibri" charset="0"/>
                  <a:ea typeface="ヒラギノ角ゴ Pro W3" charset="0"/>
                  <a:cs typeface="ヒラギノ角ゴ Pro W3" charset="0"/>
                </a:rPr>
                <a:t>src</a:t>
              </a:r>
              <a:r>
                <a:rPr lang="en-US" dirty="0">
                  <a:solidFill>
                    <a:srgbClr val="000000"/>
                  </a:solidFill>
                  <a:latin typeface="Calibri" charset="0"/>
                  <a:ea typeface="ヒラギノ角ゴ Pro W3" charset="0"/>
                  <a:cs typeface="ヒラギノ角ゴ Pro W3" charset="0"/>
                </a:rPr>
                <a:t>=1.2.*.*, </a:t>
              </a:r>
              <a:r>
                <a:rPr lang="en-US" dirty="0" err="1">
                  <a:solidFill>
                    <a:srgbClr val="000000"/>
                  </a:solidFill>
                  <a:latin typeface="Calibri" charset="0"/>
                  <a:ea typeface="ヒラギノ角ゴ Pro W3" charset="0"/>
                  <a:cs typeface="ヒラギノ角ゴ Pro W3" charset="0"/>
                </a:rPr>
                <a:t>dest</a:t>
              </a:r>
              <a:r>
                <a:rPr lang="en-US" dirty="0">
                  <a:solidFill>
                    <a:srgbClr val="000000"/>
                  </a:solidFill>
                  <a:latin typeface="Calibri" charset="0"/>
                  <a:ea typeface="ヒラギノ角ゴ Pro W3" charset="0"/>
                  <a:cs typeface="ヒラギノ角ゴ Pro W3" charset="0"/>
                </a:rPr>
                <a:t>=*.*.*.* </a:t>
              </a:r>
              <a:r>
                <a:rPr lang="en-US" dirty="0">
                  <a:solidFill>
                    <a:srgbClr val="000000"/>
                  </a:solidFill>
                  <a:latin typeface="Calibri" charset="0"/>
                  <a:ea typeface="ヒラギノ角ゴ Pro W3" charset="0"/>
                  <a:cs typeface="ヒラギノ角ゴ Pro W3" charset="0"/>
                  <a:sym typeface="Wingdings" charset="0"/>
                </a:rPr>
                <a:t>      drop                        </a:t>
              </a:r>
            </a:p>
          </p:txBody>
        </p:sp>
        <p:sp>
          <p:nvSpPr>
            <p:cNvPr id="36" name="Rectangle 35">
              <a:extLst>
                <a:ext uri="{FF2B5EF4-FFF2-40B4-BE49-F238E27FC236}">
                  <a16:creationId xmlns:a16="http://schemas.microsoft.com/office/drawing/2014/main" id="{0CDCE6C5-716F-694B-9C85-A61362F1BC8D}"/>
                </a:ext>
              </a:extLst>
            </p:cNvPr>
            <p:cNvSpPr>
              <a:spLocks noChangeArrowheads="1"/>
            </p:cNvSpPr>
            <p:nvPr/>
          </p:nvSpPr>
          <p:spPr bwMode="auto">
            <a:xfrm>
              <a:off x="5357382" y="4344648"/>
              <a:ext cx="5981700" cy="492443"/>
            </a:xfrm>
            <a:prstGeom prst="rect">
              <a:avLst/>
            </a:prstGeom>
            <a:noFill/>
            <a:ln w="25400">
              <a:noFill/>
              <a:miter lim="800000"/>
              <a:headEnd/>
              <a:tailEnd/>
            </a:ln>
            <a:effectLst/>
          </p:spPr>
          <p:txBody>
            <a:bodyPr wrap="square">
              <a:spAutoFit/>
            </a:bodyPr>
            <a:lstStyle/>
            <a:p>
              <a:pPr defTabSz="685800" eaLnBrk="1" fontAlgn="auto" hangingPunct="1">
                <a:spcBef>
                  <a:spcPts val="0"/>
                </a:spcBef>
                <a:spcAft>
                  <a:spcPts val="0"/>
                </a:spcAft>
                <a:defRPr/>
              </a:pPr>
              <a:r>
                <a:rPr lang="en-US" dirty="0" err="1">
                  <a:solidFill>
                    <a:srgbClr val="000000"/>
                  </a:solidFill>
                  <a:latin typeface="Calibri" charset="0"/>
                  <a:ea typeface="ヒラギノ角ゴ Pro W3" charset="0"/>
                  <a:cs typeface="ヒラギノ角ゴ Pro W3" charset="0"/>
                  <a:sym typeface="Wingdings" charset="0"/>
                </a:rPr>
                <a:t>src</a:t>
              </a:r>
              <a:r>
                <a:rPr lang="en-US" dirty="0">
                  <a:solidFill>
                    <a:srgbClr val="000000"/>
                  </a:solidFill>
                  <a:latin typeface="Calibri" charset="0"/>
                  <a:ea typeface="ヒラギノ角ゴ Pro W3" charset="0"/>
                  <a:cs typeface="ヒラギノ角ゴ Pro W3" charset="0"/>
                  <a:sym typeface="Wingdings" charset="0"/>
                </a:rPr>
                <a:t> = *.*.*.*, </a:t>
              </a:r>
              <a:r>
                <a:rPr lang="en-US" dirty="0" err="1">
                  <a:solidFill>
                    <a:srgbClr val="000000"/>
                  </a:solidFill>
                  <a:latin typeface="Calibri" charset="0"/>
                  <a:ea typeface="ヒラギノ角ゴ Pro W3" charset="0"/>
                  <a:cs typeface="ヒラギノ角ゴ Pro W3" charset="0"/>
                  <a:sym typeface="Wingdings" charset="0"/>
                </a:rPr>
                <a:t>dest</a:t>
              </a:r>
              <a:r>
                <a:rPr lang="en-US" dirty="0">
                  <a:solidFill>
                    <a:srgbClr val="000000"/>
                  </a:solidFill>
                  <a:latin typeface="Calibri" charset="0"/>
                  <a:ea typeface="ヒラギノ角ゴ Pro W3" charset="0"/>
                  <a:cs typeface="ヒラギノ角ゴ Pro W3" charset="0"/>
                  <a:sym typeface="Wingdings" charset="0"/>
                </a:rPr>
                <a:t>=3.4.*.*     forward(2)</a:t>
              </a:r>
            </a:p>
          </p:txBody>
        </p:sp>
      </p:grpSp>
      <p:sp>
        <p:nvSpPr>
          <p:cNvPr id="39" name="Title 2">
            <a:extLst>
              <a:ext uri="{FF2B5EF4-FFF2-40B4-BE49-F238E27FC236}">
                <a16:creationId xmlns:a16="http://schemas.microsoft.com/office/drawing/2014/main" id="{298945D1-38C0-AB46-AD5B-F3852F9BA79A}"/>
              </a:ext>
            </a:extLst>
          </p:cNvPr>
          <p:cNvSpPr>
            <a:spLocks noGrp="1"/>
          </p:cNvSpPr>
          <p:nvPr>
            <p:ph type="title"/>
          </p:nvPr>
        </p:nvSpPr>
        <p:spPr>
          <a:xfrm>
            <a:off x="628650" y="1116604"/>
            <a:ext cx="7886700" cy="670967"/>
          </a:xfrm>
        </p:spPr>
        <p:txBody>
          <a:bodyPr>
            <a:normAutofit/>
          </a:bodyPr>
          <a:lstStyle/>
          <a:p>
            <a:r>
              <a:rPr lang="en-US" sz="3600" dirty="0"/>
              <a:t>Flow table abstraction</a:t>
            </a:r>
          </a:p>
        </p:txBody>
      </p:sp>
      <p:sp>
        <p:nvSpPr>
          <p:cNvPr id="37" name="Slide Number Placeholder 3">
            <a:extLst>
              <a:ext uri="{FF2B5EF4-FFF2-40B4-BE49-F238E27FC236}">
                <a16:creationId xmlns:a16="http://schemas.microsoft.com/office/drawing/2014/main" id="{8ABAAF9F-271E-4141-8DD7-1504EF4B2CE2}"/>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141</a:t>
            </a:fld>
            <a:endParaRPr lang="en-US" dirty="0"/>
          </a:p>
        </p:txBody>
      </p:sp>
    </p:spTree>
    <p:extLst>
      <p:ext uri="{BB962C8B-B14F-4D97-AF65-F5344CB8AC3E}">
        <p14:creationId xmlns:p14="http://schemas.microsoft.com/office/powerpoint/2010/main" val="66880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628650" y="1116604"/>
            <a:ext cx="7886700" cy="670967"/>
          </a:xfrm>
        </p:spPr>
        <p:txBody>
          <a:bodyPr>
            <a:normAutofit/>
          </a:bodyPr>
          <a:lstStyle/>
          <a:p>
            <a:r>
              <a:rPr lang="en-US" sz="3600" dirty="0"/>
              <a:t>OpenFlow: flow table entries</a:t>
            </a:r>
          </a:p>
        </p:txBody>
      </p:sp>
      <p:sp>
        <p:nvSpPr>
          <p:cNvPr id="111" name="Rectangle 22">
            <a:extLst>
              <a:ext uri="{FF2B5EF4-FFF2-40B4-BE49-F238E27FC236}">
                <a16:creationId xmlns:a16="http://schemas.microsoft.com/office/drawing/2014/main" id="{0AD70559-AC7C-9947-AC45-23DE9B6E4A95}"/>
              </a:ext>
            </a:extLst>
          </p:cNvPr>
          <p:cNvSpPr>
            <a:spLocks/>
          </p:cNvSpPr>
          <p:nvPr/>
        </p:nvSpPr>
        <p:spPr bwMode="auto">
          <a:xfrm>
            <a:off x="1553456" y="1983738"/>
            <a:ext cx="1084659" cy="515540"/>
          </a:xfrm>
          <a:prstGeom prst="rect">
            <a:avLst/>
          </a:prstGeom>
          <a:solidFill>
            <a:srgbClr val="BBE0E3"/>
          </a:solidFill>
          <a:ln w="12700">
            <a:solidFill>
              <a:srgbClr val="000000"/>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endParaRPr lang="en-US" altLang="en-US" sz="1350" kern="0">
              <a:solidFill>
                <a:srgbClr val="000000"/>
              </a:solidFill>
              <a:latin typeface="Calibri" panose="020F0502020204030204" pitchFamily="34" charset="0"/>
            </a:endParaRPr>
          </a:p>
        </p:txBody>
      </p:sp>
      <p:sp>
        <p:nvSpPr>
          <p:cNvPr id="112" name="Rectangle 23">
            <a:extLst>
              <a:ext uri="{FF2B5EF4-FFF2-40B4-BE49-F238E27FC236}">
                <a16:creationId xmlns:a16="http://schemas.microsoft.com/office/drawing/2014/main" id="{5DB35E10-A1A0-7045-B47B-6F16D607C190}"/>
              </a:ext>
            </a:extLst>
          </p:cNvPr>
          <p:cNvSpPr>
            <a:spLocks/>
          </p:cNvSpPr>
          <p:nvPr/>
        </p:nvSpPr>
        <p:spPr bwMode="auto">
          <a:xfrm>
            <a:off x="1809440" y="2136443"/>
            <a:ext cx="449931"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r>
              <a:rPr lang="en-US" altLang="en-US" sz="1350" dirty="0">
                <a:solidFill>
                  <a:srgbClr val="000000"/>
                </a:solidFill>
                <a:latin typeface="Calibri" panose="020F0502020204030204" pitchFamily="34" charset="0"/>
              </a:rPr>
              <a:t>Match</a:t>
            </a:r>
          </a:p>
        </p:txBody>
      </p:sp>
      <p:sp>
        <p:nvSpPr>
          <p:cNvPr id="113" name="Rectangle 24">
            <a:extLst>
              <a:ext uri="{FF2B5EF4-FFF2-40B4-BE49-F238E27FC236}">
                <a16:creationId xmlns:a16="http://schemas.microsoft.com/office/drawing/2014/main" id="{BE807A08-7FD9-9545-85F5-D6F935F202EE}"/>
              </a:ext>
            </a:extLst>
          </p:cNvPr>
          <p:cNvSpPr>
            <a:spLocks/>
          </p:cNvSpPr>
          <p:nvPr/>
        </p:nvSpPr>
        <p:spPr bwMode="auto">
          <a:xfrm>
            <a:off x="2638115" y="1983738"/>
            <a:ext cx="1084660" cy="515540"/>
          </a:xfrm>
          <a:prstGeom prst="rect">
            <a:avLst/>
          </a:prstGeom>
          <a:solidFill>
            <a:schemeClr val="accent6">
              <a:lumMod val="20000"/>
              <a:lumOff val="80000"/>
            </a:schemeClr>
          </a:solidFill>
          <a:ln w="12700">
            <a:solidFill>
              <a:srgbClr val="697D3A"/>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endParaRPr lang="en-US" altLang="en-US" sz="1350">
              <a:solidFill>
                <a:srgbClr val="000000"/>
              </a:solidFill>
              <a:latin typeface="Calibri" panose="020F0502020204030204" pitchFamily="34" charset="0"/>
            </a:endParaRPr>
          </a:p>
        </p:txBody>
      </p:sp>
      <p:sp>
        <p:nvSpPr>
          <p:cNvPr id="114" name="Rectangle 25">
            <a:extLst>
              <a:ext uri="{FF2B5EF4-FFF2-40B4-BE49-F238E27FC236}">
                <a16:creationId xmlns:a16="http://schemas.microsoft.com/office/drawing/2014/main" id="{85913BFC-51C9-314A-ABD6-4F034C9B256A}"/>
              </a:ext>
            </a:extLst>
          </p:cNvPr>
          <p:cNvSpPr>
            <a:spLocks/>
          </p:cNvSpPr>
          <p:nvPr/>
        </p:nvSpPr>
        <p:spPr bwMode="auto">
          <a:xfrm>
            <a:off x="2767893" y="2136443"/>
            <a:ext cx="45365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r>
              <a:rPr lang="en-US" altLang="en-US" sz="1350">
                <a:solidFill>
                  <a:srgbClr val="000000"/>
                </a:solidFill>
                <a:latin typeface="Calibri" panose="020F0502020204030204" pitchFamily="34" charset="0"/>
              </a:rPr>
              <a:t>Action</a:t>
            </a:r>
          </a:p>
        </p:txBody>
      </p:sp>
      <p:sp>
        <p:nvSpPr>
          <p:cNvPr id="115" name="Rectangle 26">
            <a:extLst>
              <a:ext uri="{FF2B5EF4-FFF2-40B4-BE49-F238E27FC236}">
                <a16:creationId xmlns:a16="http://schemas.microsoft.com/office/drawing/2014/main" id="{16236DDC-2598-9646-B25C-B30C4DFC7CB1}"/>
              </a:ext>
            </a:extLst>
          </p:cNvPr>
          <p:cNvSpPr>
            <a:spLocks/>
          </p:cNvSpPr>
          <p:nvPr/>
        </p:nvSpPr>
        <p:spPr bwMode="auto">
          <a:xfrm>
            <a:off x="3722774" y="1983738"/>
            <a:ext cx="1085850" cy="515540"/>
          </a:xfrm>
          <a:prstGeom prst="rect">
            <a:avLst/>
          </a:prstGeom>
          <a:solidFill>
            <a:schemeClr val="bg1">
              <a:lumMod val="95000"/>
            </a:schemeClr>
          </a:solidFill>
          <a:ln w="12700">
            <a:solidFill>
              <a:srgbClr val="800000"/>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endParaRPr lang="en-US" altLang="en-US" sz="1350">
              <a:solidFill>
                <a:srgbClr val="000000"/>
              </a:solidFill>
              <a:latin typeface="Calibri" panose="020F0502020204030204" pitchFamily="34" charset="0"/>
            </a:endParaRPr>
          </a:p>
        </p:txBody>
      </p:sp>
      <p:sp>
        <p:nvSpPr>
          <p:cNvPr id="116" name="Rectangle 27">
            <a:extLst>
              <a:ext uri="{FF2B5EF4-FFF2-40B4-BE49-F238E27FC236}">
                <a16:creationId xmlns:a16="http://schemas.microsoft.com/office/drawing/2014/main" id="{9C8898B1-B74A-254A-929E-364CFA1886A8}"/>
              </a:ext>
            </a:extLst>
          </p:cNvPr>
          <p:cNvSpPr>
            <a:spLocks/>
          </p:cNvSpPr>
          <p:nvPr/>
        </p:nvSpPr>
        <p:spPr bwMode="auto">
          <a:xfrm>
            <a:off x="4052731" y="2136443"/>
            <a:ext cx="34253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r>
              <a:rPr lang="en-US" altLang="en-US" sz="1350" dirty="0">
                <a:solidFill>
                  <a:srgbClr val="000000"/>
                </a:solidFill>
                <a:latin typeface="Calibri" panose="020F0502020204030204" pitchFamily="34" charset="0"/>
              </a:rPr>
              <a:t>Stats</a:t>
            </a:r>
          </a:p>
        </p:txBody>
      </p:sp>
      <p:grpSp>
        <p:nvGrpSpPr>
          <p:cNvPr id="18" name="Group 17">
            <a:extLst>
              <a:ext uri="{FF2B5EF4-FFF2-40B4-BE49-F238E27FC236}">
                <a16:creationId xmlns:a16="http://schemas.microsoft.com/office/drawing/2014/main" id="{59F896C2-F45F-994F-85B3-1277A3B273B4}"/>
              </a:ext>
            </a:extLst>
          </p:cNvPr>
          <p:cNvGrpSpPr/>
          <p:nvPr/>
        </p:nvGrpSpPr>
        <p:grpSpPr>
          <a:xfrm>
            <a:off x="2377368" y="2507958"/>
            <a:ext cx="4225528" cy="1622034"/>
            <a:chOff x="3169824" y="2200944"/>
            <a:chExt cx="5634037" cy="2162712"/>
          </a:xfrm>
        </p:grpSpPr>
        <p:sp>
          <p:nvSpPr>
            <p:cNvPr id="117" name="Rectangle 28">
              <a:extLst>
                <a:ext uri="{FF2B5EF4-FFF2-40B4-BE49-F238E27FC236}">
                  <a16:creationId xmlns:a16="http://schemas.microsoft.com/office/drawing/2014/main" id="{9266D65C-F99C-1F43-8034-2A04FEF53866}"/>
                </a:ext>
              </a:extLst>
            </p:cNvPr>
            <p:cNvSpPr>
              <a:spLocks/>
            </p:cNvSpPr>
            <p:nvPr/>
          </p:nvSpPr>
          <p:spPr bwMode="auto">
            <a:xfrm>
              <a:off x="3169824" y="2967245"/>
              <a:ext cx="5634037" cy="1396411"/>
            </a:xfrm>
            <a:prstGeom prst="rect">
              <a:avLst/>
            </a:prstGeom>
            <a:solidFill>
              <a:schemeClr val="accent6">
                <a:lumMod val="20000"/>
                <a:lumOff val="80000"/>
              </a:schemeClr>
            </a:solidFill>
            <a:ln w="12700">
              <a:solidFill>
                <a:srgbClr val="697D3A"/>
              </a:solidFill>
              <a:miter lim="800000"/>
              <a:headEnd/>
              <a:tailEnd/>
            </a:ln>
          </p:spPr>
          <p:txBody>
            <a:bodyPr lIns="0" tIns="0" rIns="0" bIns="0" anchor="ctr"/>
            <a:lstStyle>
              <a:lvl1pPr marL="357188" indent="-330200"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67891" indent="-247650" defTabSz="342900">
                <a:buFontTx/>
                <a:buAutoNum type="arabicPeriod"/>
                <a:defRPr/>
              </a:pPr>
              <a:r>
                <a:rPr lang="en-US" altLang="en-US" sz="1650" dirty="0">
                  <a:solidFill>
                    <a:srgbClr val="000000"/>
                  </a:solidFill>
                  <a:latin typeface="Calibri" panose="020F0502020204030204" pitchFamily="34" charset="0"/>
                </a:rPr>
                <a:t>Forward packet to port(s)</a:t>
              </a:r>
            </a:p>
            <a:p>
              <a:pPr marL="267891" indent="-247650" defTabSz="342900">
                <a:buFontTx/>
                <a:buAutoNum type="arabicPeriod"/>
                <a:defRPr/>
              </a:pPr>
              <a:r>
                <a:rPr lang="en-US" altLang="en-US" sz="1650" dirty="0">
                  <a:solidFill>
                    <a:srgbClr val="000000"/>
                  </a:solidFill>
                  <a:latin typeface="Calibri" panose="020F0502020204030204" pitchFamily="34" charset="0"/>
                </a:rPr>
                <a:t>Drop packet</a:t>
              </a:r>
            </a:p>
            <a:p>
              <a:pPr marL="267891" indent="-247650" defTabSz="342900">
                <a:buFontTx/>
                <a:buAutoNum type="arabicPeriod"/>
                <a:defRPr/>
              </a:pPr>
              <a:r>
                <a:rPr lang="en-US" altLang="en-US" sz="1650" dirty="0">
                  <a:solidFill>
                    <a:srgbClr val="000000"/>
                  </a:solidFill>
                  <a:latin typeface="Calibri" panose="020F0502020204030204" pitchFamily="34" charset="0"/>
                </a:rPr>
                <a:t>Modify fields in header(s)</a:t>
              </a:r>
            </a:p>
            <a:p>
              <a:pPr marL="267891" indent="-247650" defTabSz="342900">
                <a:buFontTx/>
                <a:buAutoNum type="arabicPeriod"/>
                <a:defRPr/>
              </a:pPr>
              <a:r>
                <a:rPr lang="en-US" altLang="en-US" sz="1650" dirty="0">
                  <a:solidFill>
                    <a:srgbClr val="000000"/>
                  </a:solidFill>
                  <a:latin typeface="Calibri" panose="020F0502020204030204" pitchFamily="34" charset="0"/>
                </a:rPr>
                <a:t>Encapsulate and forward to controller</a:t>
              </a:r>
            </a:p>
          </p:txBody>
        </p:sp>
        <p:sp>
          <p:nvSpPr>
            <p:cNvPr id="119" name="Line 31">
              <a:extLst>
                <a:ext uri="{FF2B5EF4-FFF2-40B4-BE49-F238E27FC236}">
                  <a16:creationId xmlns:a16="http://schemas.microsoft.com/office/drawing/2014/main" id="{52B512E6-14A5-1848-BD25-C203B04E8EEA}"/>
                </a:ext>
              </a:extLst>
            </p:cNvPr>
            <p:cNvSpPr>
              <a:spLocks noChangeShapeType="1"/>
            </p:cNvSpPr>
            <p:nvPr/>
          </p:nvSpPr>
          <p:spPr bwMode="auto">
            <a:xfrm>
              <a:off x="3616272" y="2200944"/>
              <a:ext cx="1588" cy="75882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48218" tIns="24110" rIns="48218" bIns="24110"/>
            <a:lstStyle/>
            <a:p>
              <a:pPr defTabSz="685800">
                <a:defRPr/>
              </a:pPr>
              <a:endParaRPr lang="en-US" sz="1350" kern="0">
                <a:solidFill>
                  <a:srgbClr val="000000"/>
                </a:solidFill>
              </a:endParaRPr>
            </a:p>
          </p:txBody>
        </p:sp>
      </p:grpSp>
      <p:grpSp>
        <p:nvGrpSpPr>
          <p:cNvPr id="141" name="Group 140">
            <a:extLst>
              <a:ext uri="{FF2B5EF4-FFF2-40B4-BE49-F238E27FC236}">
                <a16:creationId xmlns:a16="http://schemas.microsoft.com/office/drawing/2014/main" id="{A4B313E8-BEC4-FE4B-9D13-E1494E2C29CB}"/>
              </a:ext>
            </a:extLst>
          </p:cNvPr>
          <p:cNvGrpSpPr/>
          <p:nvPr/>
        </p:nvGrpSpPr>
        <p:grpSpPr>
          <a:xfrm>
            <a:off x="3776306" y="2507959"/>
            <a:ext cx="2283619" cy="467569"/>
            <a:chOff x="5116099" y="2200945"/>
            <a:chExt cx="3044825" cy="623425"/>
          </a:xfrm>
        </p:grpSpPr>
        <p:sp>
          <p:nvSpPr>
            <p:cNvPr id="120" name="Rectangle 32">
              <a:extLst>
                <a:ext uri="{FF2B5EF4-FFF2-40B4-BE49-F238E27FC236}">
                  <a16:creationId xmlns:a16="http://schemas.microsoft.com/office/drawing/2014/main" id="{D609C7D3-AFCA-CD4D-A9FA-199E674273FE}"/>
                </a:ext>
              </a:extLst>
            </p:cNvPr>
            <p:cNvSpPr>
              <a:spLocks/>
            </p:cNvSpPr>
            <p:nvPr/>
          </p:nvSpPr>
          <p:spPr bwMode="auto">
            <a:xfrm>
              <a:off x="5116099" y="2440195"/>
              <a:ext cx="3044825" cy="384175"/>
            </a:xfrm>
            <a:prstGeom prst="rect">
              <a:avLst/>
            </a:prstGeom>
            <a:solidFill>
              <a:schemeClr val="bg1">
                <a:lumMod val="95000"/>
              </a:schemeClr>
            </a:solidFill>
            <a:ln w="12700">
              <a:solidFill>
                <a:srgbClr val="800000"/>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endParaRPr lang="en-US" altLang="en-US" sz="1350">
                <a:solidFill>
                  <a:srgbClr val="000000"/>
                </a:solidFill>
                <a:latin typeface="Calibri" panose="020F0502020204030204" pitchFamily="34" charset="0"/>
              </a:endParaRPr>
            </a:p>
          </p:txBody>
        </p:sp>
        <p:grpSp>
          <p:nvGrpSpPr>
            <p:cNvPr id="25" name="Group 24">
              <a:extLst>
                <a:ext uri="{FF2B5EF4-FFF2-40B4-BE49-F238E27FC236}">
                  <a16:creationId xmlns:a16="http://schemas.microsoft.com/office/drawing/2014/main" id="{8B95579B-B620-2543-AF1E-242CC2FF5E5D}"/>
                </a:ext>
              </a:extLst>
            </p:cNvPr>
            <p:cNvGrpSpPr/>
            <p:nvPr/>
          </p:nvGrpSpPr>
          <p:grpSpPr>
            <a:xfrm>
              <a:off x="5187757" y="2200945"/>
              <a:ext cx="2654917" cy="599822"/>
              <a:chOff x="5187757" y="2200945"/>
              <a:chExt cx="2654917" cy="599822"/>
            </a:xfrm>
          </p:grpSpPr>
          <p:sp>
            <p:nvSpPr>
              <p:cNvPr id="121" name="Rectangle 33">
                <a:extLst>
                  <a:ext uri="{FF2B5EF4-FFF2-40B4-BE49-F238E27FC236}">
                    <a16:creationId xmlns:a16="http://schemas.microsoft.com/office/drawing/2014/main" id="{75F85A0F-FD95-A049-B1DF-00E32B14CE21}"/>
                  </a:ext>
                </a:extLst>
              </p:cNvPr>
              <p:cNvSpPr>
                <a:spLocks/>
              </p:cNvSpPr>
              <p:nvPr/>
            </p:nvSpPr>
            <p:spPr bwMode="auto">
              <a:xfrm>
                <a:off x="5258974" y="2462213"/>
                <a:ext cx="2583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342900">
                  <a:defRPr/>
                </a:pPr>
                <a:r>
                  <a:rPr lang="en-US" altLang="en-US" sz="1650" dirty="0">
                    <a:solidFill>
                      <a:srgbClr val="000000"/>
                    </a:solidFill>
                    <a:latin typeface="Calibri" panose="020F0502020204030204" pitchFamily="34" charset="0"/>
                  </a:rPr>
                  <a:t>Packet + byte counters</a:t>
                </a:r>
              </a:p>
            </p:txBody>
          </p:sp>
          <p:sp>
            <p:nvSpPr>
              <p:cNvPr id="122" name="Line 34">
                <a:extLst>
                  <a:ext uri="{FF2B5EF4-FFF2-40B4-BE49-F238E27FC236}">
                    <a16:creationId xmlns:a16="http://schemas.microsoft.com/office/drawing/2014/main" id="{870022B4-CB13-CE41-AE1A-A4275A96B6D5}"/>
                  </a:ext>
                </a:extLst>
              </p:cNvPr>
              <p:cNvSpPr>
                <a:spLocks noChangeShapeType="1"/>
              </p:cNvSpPr>
              <p:nvPr/>
            </p:nvSpPr>
            <p:spPr bwMode="auto">
              <a:xfrm rot="10800000" flipH="1">
                <a:off x="5187757" y="2200945"/>
                <a:ext cx="1587" cy="23177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48218" tIns="24110" rIns="48218" bIns="24110"/>
              <a:lstStyle/>
              <a:p>
                <a:pPr defTabSz="685800">
                  <a:defRPr/>
                </a:pPr>
                <a:endParaRPr lang="en-US" sz="1350" kern="0">
                  <a:solidFill>
                    <a:srgbClr val="000000"/>
                  </a:solidFill>
                </a:endParaRPr>
              </a:p>
            </p:txBody>
          </p:sp>
        </p:grpSp>
      </p:grpSp>
      <p:grpSp>
        <p:nvGrpSpPr>
          <p:cNvPr id="10" name="Group 9">
            <a:extLst>
              <a:ext uri="{FF2B5EF4-FFF2-40B4-BE49-F238E27FC236}">
                <a16:creationId xmlns:a16="http://schemas.microsoft.com/office/drawing/2014/main" id="{65D5C3D3-25BB-D54D-BCEB-FCA2C288C1FE}"/>
              </a:ext>
            </a:extLst>
          </p:cNvPr>
          <p:cNvGrpSpPr/>
          <p:nvPr/>
        </p:nvGrpSpPr>
        <p:grpSpPr>
          <a:xfrm>
            <a:off x="1588133" y="2507821"/>
            <a:ext cx="6334896" cy="2781858"/>
            <a:chOff x="2117511" y="2200761"/>
            <a:chExt cx="8446528" cy="3709144"/>
          </a:xfrm>
        </p:grpSpPr>
        <p:sp>
          <p:nvSpPr>
            <p:cNvPr id="79" name="文字方塊 29">
              <a:extLst>
                <a:ext uri="{FF2B5EF4-FFF2-40B4-BE49-F238E27FC236}">
                  <a16:creationId xmlns:a16="http://schemas.microsoft.com/office/drawing/2014/main" id="{064A0713-9D5B-6443-98A8-3EB2CC41AF85}"/>
                </a:ext>
              </a:extLst>
            </p:cNvPr>
            <p:cNvSpPr txBox="1">
              <a:spLocks noChangeArrowheads="1"/>
            </p:cNvSpPr>
            <p:nvPr/>
          </p:nvSpPr>
          <p:spPr bwMode="auto">
            <a:xfrm>
              <a:off x="2154100" y="4847642"/>
              <a:ext cx="2429475" cy="4001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350" dirty="0">
                  <a:solidFill>
                    <a:prstClr val="black"/>
                  </a:solidFill>
                  <a:latin typeface="Calibri" charset="0"/>
                </a:rPr>
                <a:t>Header fields to match:</a:t>
              </a:r>
              <a:endParaRPr kumimoji="0" lang="zh-TW" altLang="en-US" sz="1350" dirty="0">
                <a:solidFill>
                  <a:prstClr val="black"/>
                </a:solidFill>
                <a:latin typeface="Calibri" charset="0"/>
              </a:endParaRPr>
            </a:p>
          </p:txBody>
        </p:sp>
        <p:sp>
          <p:nvSpPr>
            <p:cNvPr id="118" name="Line 30">
              <a:extLst>
                <a:ext uri="{FF2B5EF4-FFF2-40B4-BE49-F238E27FC236}">
                  <a16:creationId xmlns:a16="http://schemas.microsoft.com/office/drawing/2014/main" id="{77A0D0EE-2F6A-C542-92CB-4694F0C0D560}"/>
                </a:ext>
              </a:extLst>
            </p:cNvPr>
            <p:cNvSpPr>
              <a:spLocks noChangeShapeType="1"/>
            </p:cNvSpPr>
            <p:nvPr/>
          </p:nvSpPr>
          <p:spPr bwMode="auto">
            <a:xfrm>
              <a:off x="2127885" y="2200761"/>
              <a:ext cx="1858" cy="305414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48218" tIns="24110" rIns="48218" bIns="24110"/>
            <a:lstStyle/>
            <a:p>
              <a:pPr defTabSz="685800">
                <a:defRPr/>
              </a:pPr>
              <a:endParaRPr lang="en-US" sz="1350" kern="0">
                <a:solidFill>
                  <a:srgbClr val="000000"/>
                </a:solidFill>
              </a:endParaRPr>
            </a:p>
          </p:txBody>
        </p:sp>
        <p:sp>
          <p:nvSpPr>
            <p:cNvPr id="63" name="矩形 15">
              <a:extLst>
                <a:ext uri="{FF2B5EF4-FFF2-40B4-BE49-F238E27FC236}">
                  <a16:creationId xmlns:a16="http://schemas.microsoft.com/office/drawing/2014/main" id="{CA379C48-5241-1340-B3EF-424003EEF91F}"/>
                </a:ext>
              </a:extLst>
            </p:cNvPr>
            <p:cNvSpPr/>
            <p:nvPr/>
          </p:nvSpPr>
          <p:spPr bwMode="auto">
            <a:xfrm>
              <a:off x="2117511" y="5262205"/>
              <a:ext cx="771961" cy="6477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dirty="0">
                  <a:solidFill>
                    <a:srgbClr val="FFFFFF"/>
                  </a:solidFill>
                  <a:latin typeface="Calibri" charset="0"/>
                </a:rPr>
                <a:t>Ingress Port</a:t>
              </a:r>
              <a:endParaRPr kumimoji="0" lang="zh-TW" altLang="en-US" sz="1050" kern="0" dirty="0">
                <a:solidFill>
                  <a:srgbClr val="FFFFFF"/>
                </a:solidFill>
                <a:latin typeface="Calibri" charset="0"/>
              </a:endParaRPr>
            </a:p>
          </p:txBody>
        </p:sp>
        <p:sp>
          <p:nvSpPr>
            <p:cNvPr id="64" name="矩形 17">
              <a:extLst>
                <a:ext uri="{FF2B5EF4-FFF2-40B4-BE49-F238E27FC236}">
                  <a16:creationId xmlns:a16="http://schemas.microsoft.com/office/drawing/2014/main" id="{EDDEBD12-93C8-C749-95E6-157B703157DF}"/>
                </a:ext>
              </a:extLst>
            </p:cNvPr>
            <p:cNvSpPr/>
            <p:nvPr/>
          </p:nvSpPr>
          <p:spPr bwMode="auto">
            <a:xfrm>
              <a:off x="288947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dirty="0" err="1">
                  <a:solidFill>
                    <a:srgbClr val="FFFFFF"/>
                  </a:solidFill>
                  <a:latin typeface="Calibri" charset="0"/>
                </a:rPr>
                <a:t>Src</a:t>
              </a:r>
              <a:r>
                <a:rPr kumimoji="0" lang="en-US" altLang="zh-TW" sz="1050" kern="0" dirty="0">
                  <a:solidFill>
                    <a:srgbClr val="FFFFFF"/>
                  </a:solidFill>
                  <a:latin typeface="Calibri" charset="0"/>
                </a:rPr>
                <a:t> MAC</a:t>
              </a:r>
              <a:endParaRPr kumimoji="0" lang="zh-TW" altLang="en-US" sz="1050" kern="0" dirty="0">
                <a:solidFill>
                  <a:srgbClr val="FFFFFF"/>
                </a:solidFill>
                <a:latin typeface="Calibri" charset="0"/>
              </a:endParaRPr>
            </a:p>
          </p:txBody>
        </p:sp>
        <p:sp>
          <p:nvSpPr>
            <p:cNvPr id="65" name="矩形 18">
              <a:extLst>
                <a:ext uri="{FF2B5EF4-FFF2-40B4-BE49-F238E27FC236}">
                  <a16:creationId xmlns:a16="http://schemas.microsoft.com/office/drawing/2014/main" id="{BD494138-72F4-6849-A86F-6FAD87C96C5B}"/>
                </a:ext>
              </a:extLst>
            </p:cNvPr>
            <p:cNvSpPr/>
            <p:nvPr/>
          </p:nvSpPr>
          <p:spPr bwMode="auto">
            <a:xfrm>
              <a:off x="3544933"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dirty="0" err="1">
                  <a:solidFill>
                    <a:srgbClr val="FFFFFF"/>
                  </a:solidFill>
                  <a:latin typeface="Calibri" charset="0"/>
                </a:rPr>
                <a:t>Dst</a:t>
              </a:r>
              <a:r>
                <a:rPr kumimoji="0" lang="en-US" altLang="zh-TW" sz="1050" kern="0" dirty="0">
                  <a:solidFill>
                    <a:srgbClr val="FFFFFF"/>
                  </a:solidFill>
                  <a:latin typeface="Calibri" charset="0"/>
                </a:rPr>
                <a:t> MAC</a:t>
              </a:r>
              <a:endParaRPr kumimoji="0" lang="zh-TW" altLang="en-US" sz="1050" kern="0" dirty="0">
                <a:solidFill>
                  <a:srgbClr val="FFFFFF"/>
                </a:solidFill>
                <a:latin typeface="Calibri" charset="0"/>
              </a:endParaRPr>
            </a:p>
          </p:txBody>
        </p:sp>
        <p:sp>
          <p:nvSpPr>
            <p:cNvPr id="66" name="矩形 19">
              <a:extLst>
                <a:ext uri="{FF2B5EF4-FFF2-40B4-BE49-F238E27FC236}">
                  <a16:creationId xmlns:a16="http://schemas.microsoft.com/office/drawing/2014/main" id="{89A4DCC1-6DF5-5340-A0A5-E76D4CDB272F}"/>
                </a:ext>
              </a:extLst>
            </p:cNvPr>
            <p:cNvSpPr/>
            <p:nvPr/>
          </p:nvSpPr>
          <p:spPr bwMode="auto">
            <a:xfrm>
              <a:off x="420039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a:solidFill>
                    <a:srgbClr val="FFFFFF"/>
                  </a:solidFill>
                  <a:latin typeface="Calibri" charset="0"/>
                </a:rPr>
                <a:t>Eth Type</a:t>
              </a:r>
              <a:endParaRPr kumimoji="0" lang="zh-TW" altLang="en-US" sz="1050" kern="0">
                <a:solidFill>
                  <a:srgbClr val="FFFFFF"/>
                </a:solidFill>
                <a:latin typeface="Calibri" charset="0"/>
              </a:endParaRPr>
            </a:p>
          </p:txBody>
        </p:sp>
        <p:sp>
          <p:nvSpPr>
            <p:cNvPr id="67" name="矩形 20">
              <a:extLst>
                <a:ext uri="{FF2B5EF4-FFF2-40B4-BE49-F238E27FC236}">
                  <a16:creationId xmlns:a16="http://schemas.microsoft.com/office/drawing/2014/main" id="{15670B19-5888-BF4A-8B11-FDBF006ADDB5}"/>
                </a:ext>
              </a:extLst>
            </p:cNvPr>
            <p:cNvSpPr/>
            <p:nvPr/>
          </p:nvSpPr>
          <p:spPr bwMode="auto">
            <a:xfrm>
              <a:off x="485585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dirty="0">
                  <a:solidFill>
                    <a:srgbClr val="FFFFFF"/>
                  </a:solidFill>
                  <a:latin typeface="Calibri" charset="0"/>
                </a:rPr>
                <a:t>VLAN</a:t>
              </a:r>
            </a:p>
            <a:p>
              <a:pPr algn="ctr" defTabSz="685800" eaLnBrk="1" hangingPunct="1">
                <a:defRPr/>
              </a:pPr>
              <a:r>
                <a:rPr kumimoji="0" lang="en-US" altLang="zh-TW" sz="1050" kern="0" dirty="0">
                  <a:solidFill>
                    <a:srgbClr val="FFFFFF"/>
                  </a:solidFill>
                  <a:latin typeface="Calibri" charset="0"/>
                </a:rPr>
                <a:t> ID</a:t>
              </a:r>
              <a:endParaRPr kumimoji="0" lang="zh-TW" altLang="en-US" sz="1050" kern="0" dirty="0">
                <a:solidFill>
                  <a:srgbClr val="FFFFFF"/>
                </a:solidFill>
                <a:latin typeface="Calibri" charset="0"/>
              </a:endParaRPr>
            </a:p>
          </p:txBody>
        </p:sp>
        <p:sp>
          <p:nvSpPr>
            <p:cNvPr id="68" name="矩形 21">
              <a:extLst>
                <a:ext uri="{FF2B5EF4-FFF2-40B4-BE49-F238E27FC236}">
                  <a16:creationId xmlns:a16="http://schemas.microsoft.com/office/drawing/2014/main" id="{66D36742-74FB-594E-A690-B8C0858BCD8C}"/>
                </a:ext>
              </a:extLst>
            </p:cNvPr>
            <p:cNvSpPr/>
            <p:nvPr/>
          </p:nvSpPr>
          <p:spPr bwMode="auto">
            <a:xfrm>
              <a:off x="8068323"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dirty="0">
                  <a:solidFill>
                    <a:srgbClr val="FFFFFF"/>
                  </a:solidFill>
                  <a:latin typeface="Calibri" charset="0"/>
                </a:rPr>
                <a:t>IP</a:t>
              </a:r>
            </a:p>
            <a:p>
              <a:pPr algn="ctr" defTabSz="685800" eaLnBrk="1" hangingPunct="1">
                <a:defRPr/>
              </a:pPr>
              <a:r>
                <a:rPr kumimoji="0" lang="en-US" altLang="zh-TW" sz="1050" kern="0" dirty="0" err="1">
                  <a:solidFill>
                    <a:srgbClr val="FFFFFF"/>
                  </a:solidFill>
                  <a:latin typeface="Calibri" charset="0"/>
                </a:rPr>
                <a:t>ToS</a:t>
              </a:r>
              <a:endParaRPr kumimoji="0" lang="zh-TW" altLang="en-US" sz="1050" kern="0" dirty="0">
                <a:solidFill>
                  <a:srgbClr val="FFFFFF"/>
                </a:solidFill>
                <a:latin typeface="Calibri" charset="0"/>
              </a:endParaRPr>
            </a:p>
          </p:txBody>
        </p:sp>
        <p:sp>
          <p:nvSpPr>
            <p:cNvPr id="69" name="矩形 22">
              <a:extLst>
                <a:ext uri="{FF2B5EF4-FFF2-40B4-BE49-F238E27FC236}">
                  <a16:creationId xmlns:a16="http://schemas.microsoft.com/office/drawing/2014/main" id="{3B962E35-4FCE-4748-95D0-2BAC40159868}"/>
                </a:ext>
              </a:extLst>
            </p:cNvPr>
            <p:cNvSpPr/>
            <p:nvPr/>
          </p:nvSpPr>
          <p:spPr bwMode="auto">
            <a:xfrm>
              <a:off x="7437016"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a:solidFill>
                    <a:srgbClr val="FFFFFF"/>
                  </a:solidFill>
                  <a:latin typeface="Calibri" charset="0"/>
                </a:rPr>
                <a:t>IP Proto</a:t>
              </a:r>
              <a:endParaRPr kumimoji="0" lang="zh-TW" altLang="en-US" sz="1050" kern="0">
                <a:solidFill>
                  <a:srgbClr val="FFFFFF"/>
                </a:solidFill>
                <a:latin typeface="Calibri" charset="0"/>
              </a:endParaRPr>
            </a:p>
          </p:txBody>
        </p:sp>
        <p:sp>
          <p:nvSpPr>
            <p:cNvPr id="70" name="矩形 23">
              <a:extLst>
                <a:ext uri="{FF2B5EF4-FFF2-40B4-BE49-F238E27FC236}">
                  <a16:creationId xmlns:a16="http://schemas.microsoft.com/office/drawing/2014/main" id="{E0710398-489A-8E42-970A-84EBF2848538}"/>
                </a:ext>
              </a:extLst>
            </p:cNvPr>
            <p:cNvSpPr/>
            <p:nvPr/>
          </p:nvSpPr>
          <p:spPr bwMode="auto">
            <a:xfrm>
              <a:off x="6174401"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a:solidFill>
                    <a:srgbClr val="FFFFFF"/>
                  </a:solidFill>
                  <a:latin typeface="Calibri" charset="0"/>
                </a:rPr>
                <a:t>IP Src</a:t>
              </a:r>
              <a:endParaRPr kumimoji="0" lang="zh-TW" altLang="en-US" sz="1050" kern="0">
                <a:solidFill>
                  <a:srgbClr val="FFFFFF"/>
                </a:solidFill>
                <a:latin typeface="Calibri" charset="0"/>
              </a:endParaRPr>
            </a:p>
          </p:txBody>
        </p:sp>
        <p:sp>
          <p:nvSpPr>
            <p:cNvPr id="71" name="矩形 24">
              <a:extLst>
                <a:ext uri="{FF2B5EF4-FFF2-40B4-BE49-F238E27FC236}">
                  <a16:creationId xmlns:a16="http://schemas.microsoft.com/office/drawing/2014/main" id="{36A6156D-DEAC-CD48-AB2C-460617505DF1}"/>
                </a:ext>
              </a:extLst>
            </p:cNvPr>
            <p:cNvSpPr/>
            <p:nvPr/>
          </p:nvSpPr>
          <p:spPr bwMode="auto">
            <a:xfrm>
              <a:off x="6805709"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a:solidFill>
                    <a:srgbClr val="FFFFFF"/>
                  </a:solidFill>
                  <a:latin typeface="Calibri" charset="0"/>
                </a:rPr>
                <a:t>IP Dst</a:t>
              </a:r>
              <a:endParaRPr kumimoji="0" lang="zh-TW" altLang="en-US" sz="1050" kern="0">
                <a:solidFill>
                  <a:srgbClr val="FFFFFF"/>
                </a:solidFill>
                <a:latin typeface="Calibri" charset="0"/>
              </a:endParaRPr>
            </a:p>
          </p:txBody>
        </p:sp>
        <p:sp>
          <p:nvSpPr>
            <p:cNvPr id="72" name="矩形 25">
              <a:extLst>
                <a:ext uri="{FF2B5EF4-FFF2-40B4-BE49-F238E27FC236}">
                  <a16:creationId xmlns:a16="http://schemas.microsoft.com/office/drawing/2014/main" id="{1F3FF105-11DF-5A48-8361-56AEFF37DE1F}"/>
                </a:ext>
              </a:extLst>
            </p:cNvPr>
            <p:cNvSpPr/>
            <p:nvPr/>
          </p:nvSpPr>
          <p:spPr bwMode="auto">
            <a:xfrm>
              <a:off x="8706447" y="5262205"/>
              <a:ext cx="928796" cy="647700"/>
            </a:xfrm>
            <a:prstGeom prst="rect">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lnSpc>
                  <a:spcPts val="1110"/>
                </a:lnSpc>
                <a:defRPr/>
              </a:pPr>
              <a:r>
                <a:rPr kumimoji="0" lang="en-US" altLang="zh-TW" sz="1050" kern="0" dirty="0">
                  <a:solidFill>
                    <a:srgbClr val="FFFFFF"/>
                  </a:solidFill>
                  <a:latin typeface="Calibri" charset="0"/>
                </a:rPr>
                <a:t>TCP/UDP </a:t>
              </a:r>
              <a:r>
                <a:rPr kumimoji="0" lang="en-US" altLang="zh-TW" sz="1050" kern="0" dirty="0" err="1">
                  <a:solidFill>
                    <a:srgbClr val="FFFFFF"/>
                  </a:solidFill>
                  <a:latin typeface="Calibri" charset="0"/>
                </a:rPr>
                <a:t>Src</a:t>
              </a:r>
              <a:r>
                <a:rPr kumimoji="0" lang="en-US" altLang="zh-TW" sz="1050" kern="0" dirty="0">
                  <a:solidFill>
                    <a:srgbClr val="FFFFFF"/>
                  </a:solidFill>
                  <a:latin typeface="Calibri" charset="0"/>
                </a:rPr>
                <a:t> Port</a:t>
              </a:r>
              <a:endParaRPr kumimoji="0" lang="zh-TW" altLang="en-US" sz="1050" kern="0" dirty="0">
                <a:solidFill>
                  <a:srgbClr val="FFFFFF"/>
                </a:solidFill>
                <a:latin typeface="Calibri" charset="0"/>
              </a:endParaRPr>
            </a:p>
          </p:txBody>
        </p:sp>
        <p:sp>
          <p:nvSpPr>
            <p:cNvPr id="74" name="矩形 20">
              <a:extLst>
                <a:ext uri="{FF2B5EF4-FFF2-40B4-BE49-F238E27FC236}">
                  <a16:creationId xmlns:a16="http://schemas.microsoft.com/office/drawing/2014/main" id="{D4463F66-5C5E-EF4E-A286-CF91B7AD4661}"/>
                </a:ext>
              </a:extLst>
            </p:cNvPr>
            <p:cNvSpPr/>
            <p:nvPr/>
          </p:nvSpPr>
          <p:spPr bwMode="auto">
            <a:xfrm>
              <a:off x="5511311"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defRPr/>
              </a:pPr>
              <a:r>
                <a:rPr kumimoji="0" lang="en-US" altLang="zh-TW" sz="1050" kern="0" dirty="0">
                  <a:solidFill>
                    <a:srgbClr val="FFFFFF"/>
                  </a:solidFill>
                  <a:latin typeface="Calibri" charset="0"/>
                </a:rPr>
                <a:t>VLAN</a:t>
              </a:r>
            </a:p>
            <a:p>
              <a:pPr algn="ctr" defTabSz="685800" eaLnBrk="1" hangingPunct="1">
                <a:defRPr/>
              </a:pPr>
              <a:r>
                <a:rPr kumimoji="0" lang="en-US" altLang="zh-TW" sz="1050" kern="0" dirty="0">
                  <a:solidFill>
                    <a:srgbClr val="FFFFFF"/>
                  </a:solidFill>
                  <a:latin typeface="Calibri" charset="0"/>
                </a:rPr>
                <a:t> </a:t>
              </a:r>
              <a:r>
                <a:rPr kumimoji="0" lang="en-US" altLang="zh-TW" sz="1050" kern="0" dirty="0" err="1">
                  <a:solidFill>
                    <a:srgbClr val="FFFFFF"/>
                  </a:solidFill>
                  <a:latin typeface="Calibri" charset="0"/>
                </a:rPr>
                <a:t>Pri</a:t>
              </a:r>
              <a:endParaRPr kumimoji="0" lang="zh-TW" altLang="en-US" sz="1050" kern="0" dirty="0">
                <a:solidFill>
                  <a:srgbClr val="FFFFFF"/>
                </a:solidFill>
                <a:latin typeface="Calibri" charset="0"/>
              </a:endParaRPr>
            </a:p>
          </p:txBody>
        </p:sp>
        <p:sp>
          <p:nvSpPr>
            <p:cNvPr id="80" name="矩形 25">
              <a:extLst>
                <a:ext uri="{FF2B5EF4-FFF2-40B4-BE49-F238E27FC236}">
                  <a16:creationId xmlns:a16="http://schemas.microsoft.com/office/drawing/2014/main" id="{5FFDA9B9-54DA-4B46-8561-63255A4D55D6}"/>
                </a:ext>
              </a:extLst>
            </p:cNvPr>
            <p:cNvSpPr/>
            <p:nvPr/>
          </p:nvSpPr>
          <p:spPr bwMode="auto">
            <a:xfrm>
              <a:off x="9635243" y="5262205"/>
              <a:ext cx="928796" cy="647700"/>
            </a:xfrm>
            <a:prstGeom prst="rect">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algn="ctr" defTabSz="685800" eaLnBrk="1" hangingPunct="1">
                <a:lnSpc>
                  <a:spcPts val="1110"/>
                </a:lnSpc>
                <a:defRPr/>
              </a:pPr>
              <a:r>
                <a:rPr kumimoji="0" lang="en-US" altLang="zh-TW" sz="1050" kern="0" dirty="0">
                  <a:solidFill>
                    <a:srgbClr val="FFFFFF"/>
                  </a:solidFill>
                  <a:latin typeface="Calibri" charset="0"/>
                </a:rPr>
                <a:t>TCP/UDP </a:t>
              </a:r>
              <a:r>
                <a:rPr kumimoji="0" lang="en-US" altLang="zh-TW" sz="1050" kern="0" dirty="0" err="1">
                  <a:solidFill>
                    <a:srgbClr val="FFFFFF"/>
                  </a:solidFill>
                  <a:latin typeface="Calibri" charset="0"/>
                </a:rPr>
                <a:t>Dst</a:t>
              </a:r>
              <a:r>
                <a:rPr kumimoji="0" lang="en-US" altLang="zh-TW" sz="1050" kern="0" dirty="0">
                  <a:solidFill>
                    <a:srgbClr val="FFFFFF"/>
                  </a:solidFill>
                  <a:latin typeface="Calibri" charset="0"/>
                </a:rPr>
                <a:t> Port</a:t>
              </a:r>
              <a:endParaRPr kumimoji="0" lang="zh-TW" altLang="en-US" sz="1050" kern="0" dirty="0">
                <a:solidFill>
                  <a:srgbClr val="FFFFFF"/>
                </a:solidFill>
                <a:latin typeface="Calibri" charset="0"/>
              </a:endParaRPr>
            </a:p>
          </p:txBody>
        </p:sp>
      </p:grpSp>
      <p:grpSp>
        <p:nvGrpSpPr>
          <p:cNvPr id="8" name="Group 7">
            <a:extLst>
              <a:ext uri="{FF2B5EF4-FFF2-40B4-BE49-F238E27FC236}">
                <a16:creationId xmlns:a16="http://schemas.microsoft.com/office/drawing/2014/main" id="{0AAA8A2A-F690-D842-B569-854551A89B38}"/>
              </a:ext>
            </a:extLst>
          </p:cNvPr>
          <p:cNvGrpSpPr/>
          <p:nvPr/>
        </p:nvGrpSpPr>
        <p:grpSpPr>
          <a:xfrm>
            <a:off x="2198058" y="5415710"/>
            <a:ext cx="2426673" cy="435722"/>
            <a:chOff x="2826569" y="5888454"/>
            <a:chExt cx="3235564" cy="580963"/>
          </a:xfrm>
        </p:grpSpPr>
        <p:sp>
          <p:nvSpPr>
            <p:cNvPr id="123" name="文字方塊 29">
              <a:extLst>
                <a:ext uri="{FF2B5EF4-FFF2-40B4-BE49-F238E27FC236}">
                  <a16:creationId xmlns:a16="http://schemas.microsoft.com/office/drawing/2014/main" id="{CCD38D10-94F8-8543-A3D8-19F75A2CBC5B}"/>
                </a:ext>
              </a:extLst>
            </p:cNvPr>
            <p:cNvSpPr txBox="1">
              <a:spLocks noChangeArrowheads="1"/>
            </p:cNvSpPr>
            <p:nvPr/>
          </p:nvSpPr>
          <p:spPr bwMode="auto">
            <a:xfrm>
              <a:off x="3946642" y="6069307"/>
              <a:ext cx="11325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hangingPunct="1">
                <a:defRPr/>
              </a:pPr>
              <a:r>
                <a:rPr lang="en-US" altLang="zh-TW" sz="1350" dirty="0">
                  <a:solidFill>
                    <a:srgbClr val="000000"/>
                  </a:solidFill>
                  <a:latin typeface="Calibri" panose="020F0502020204030204" pitchFamily="34" charset="0"/>
                </a:rPr>
                <a:t>Link layer</a:t>
              </a:r>
              <a:endParaRPr lang="zh-TW" altLang="en-US" sz="1350" dirty="0">
                <a:solidFill>
                  <a:srgbClr val="000000"/>
                </a:solidFill>
                <a:latin typeface="Calibri" panose="020F0502020204030204" pitchFamily="34" charset="0"/>
              </a:endParaRPr>
            </a:p>
          </p:txBody>
        </p:sp>
        <p:sp>
          <p:nvSpPr>
            <p:cNvPr id="5" name="Left Brace 4">
              <a:extLst>
                <a:ext uri="{FF2B5EF4-FFF2-40B4-BE49-F238E27FC236}">
                  <a16:creationId xmlns:a16="http://schemas.microsoft.com/office/drawing/2014/main" id="{DD20D7D2-8080-1144-84E2-DF0AE45A3E07}"/>
                </a:ext>
              </a:extLst>
            </p:cNvPr>
            <p:cNvSpPr/>
            <p:nvPr/>
          </p:nvSpPr>
          <p:spPr>
            <a:xfrm rot="16200000">
              <a:off x="4340578" y="4374445"/>
              <a:ext cx="207546" cy="323556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eaLnBrk="1" fontAlgn="auto" hangingPunct="1">
                <a:spcBef>
                  <a:spcPts val="0"/>
                </a:spcBef>
                <a:spcAft>
                  <a:spcPts val="0"/>
                </a:spcAft>
                <a:defRPr/>
              </a:pPr>
              <a:endParaRPr lang="en-US" sz="1350">
                <a:solidFill>
                  <a:prstClr val="black"/>
                </a:solidFill>
                <a:latin typeface="Calibri" panose="020F0502020204030204"/>
              </a:endParaRPr>
            </a:p>
          </p:txBody>
        </p:sp>
      </p:grpSp>
      <p:grpSp>
        <p:nvGrpSpPr>
          <p:cNvPr id="7" name="Group 6">
            <a:extLst>
              <a:ext uri="{FF2B5EF4-FFF2-40B4-BE49-F238E27FC236}">
                <a16:creationId xmlns:a16="http://schemas.microsoft.com/office/drawing/2014/main" id="{43E68CBD-0ADB-BF45-9811-313CB44A39FD}"/>
              </a:ext>
            </a:extLst>
          </p:cNvPr>
          <p:cNvGrpSpPr/>
          <p:nvPr/>
        </p:nvGrpSpPr>
        <p:grpSpPr>
          <a:xfrm>
            <a:off x="4657625" y="5418965"/>
            <a:ext cx="1855174" cy="430656"/>
            <a:chOff x="6105991" y="5892800"/>
            <a:chExt cx="2473565" cy="574208"/>
          </a:xfrm>
        </p:grpSpPr>
        <p:sp>
          <p:nvSpPr>
            <p:cNvPr id="139" name="文字方塊 29">
              <a:extLst>
                <a:ext uri="{FF2B5EF4-FFF2-40B4-BE49-F238E27FC236}">
                  <a16:creationId xmlns:a16="http://schemas.microsoft.com/office/drawing/2014/main" id="{3C4B37B7-4F49-904E-87DA-069F41CD9CD0}"/>
                </a:ext>
              </a:extLst>
            </p:cNvPr>
            <p:cNvSpPr txBox="1">
              <a:spLocks noChangeArrowheads="1"/>
            </p:cNvSpPr>
            <p:nvPr/>
          </p:nvSpPr>
          <p:spPr bwMode="auto">
            <a:xfrm>
              <a:off x="6643718" y="6066899"/>
              <a:ext cx="1567266"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hangingPunct="1">
                <a:defRPr/>
              </a:pPr>
              <a:r>
                <a:rPr lang="en-US" altLang="zh-TW" sz="1350" dirty="0">
                  <a:solidFill>
                    <a:srgbClr val="000000"/>
                  </a:solidFill>
                  <a:latin typeface="Calibri" panose="020F0502020204030204" pitchFamily="34" charset="0"/>
                </a:rPr>
                <a:t>Network layer</a:t>
              </a:r>
              <a:endParaRPr lang="zh-TW" altLang="en-US" sz="1350" dirty="0">
                <a:solidFill>
                  <a:srgbClr val="000000"/>
                </a:solidFill>
                <a:latin typeface="Calibri" panose="020F0502020204030204" pitchFamily="34" charset="0"/>
              </a:endParaRPr>
            </a:p>
          </p:txBody>
        </p:sp>
        <p:sp>
          <p:nvSpPr>
            <p:cNvPr id="157" name="Left Brace 156">
              <a:extLst>
                <a:ext uri="{FF2B5EF4-FFF2-40B4-BE49-F238E27FC236}">
                  <a16:creationId xmlns:a16="http://schemas.microsoft.com/office/drawing/2014/main" id="{2D2F3565-EA7A-1048-A9F5-6FD46BB2FE7C}"/>
                </a:ext>
              </a:extLst>
            </p:cNvPr>
            <p:cNvSpPr/>
            <p:nvPr/>
          </p:nvSpPr>
          <p:spPr>
            <a:xfrm rot="16200000">
              <a:off x="7238352" y="4760439"/>
              <a:ext cx="208844" cy="247356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eaLnBrk="1" fontAlgn="auto" hangingPunct="1">
                <a:spcBef>
                  <a:spcPts val="0"/>
                </a:spcBef>
                <a:spcAft>
                  <a:spcPts val="0"/>
                </a:spcAft>
                <a:defRPr/>
              </a:pPr>
              <a:endParaRPr lang="en-US" sz="1350">
                <a:solidFill>
                  <a:prstClr val="black"/>
                </a:solidFill>
                <a:latin typeface="Calibri" panose="020F0502020204030204"/>
              </a:endParaRPr>
            </a:p>
          </p:txBody>
        </p:sp>
      </p:grpSp>
      <p:grpSp>
        <p:nvGrpSpPr>
          <p:cNvPr id="6" name="Group 5">
            <a:extLst>
              <a:ext uri="{FF2B5EF4-FFF2-40B4-BE49-F238E27FC236}">
                <a16:creationId xmlns:a16="http://schemas.microsoft.com/office/drawing/2014/main" id="{B7B89AF4-D2C6-ED49-82AF-7F843E59C1F4}"/>
              </a:ext>
            </a:extLst>
          </p:cNvPr>
          <p:cNvGrpSpPr/>
          <p:nvPr/>
        </p:nvGrpSpPr>
        <p:grpSpPr>
          <a:xfrm>
            <a:off x="6327501" y="5418969"/>
            <a:ext cx="1762125" cy="433529"/>
            <a:chOff x="8332493" y="5892800"/>
            <a:chExt cx="2349500" cy="578039"/>
          </a:xfrm>
        </p:grpSpPr>
        <p:sp>
          <p:nvSpPr>
            <p:cNvPr id="140" name="文字方塊 29">
              <a:extLst>
                <a:ext uri="{FF2B5EF4-FFF2-40B4-BE49-F238E27FC236}">
                  <a16:creationId xmlns:a16="http://schemas.microsoft.com/office/drawing/2014/main" id="{2ABD9CD2-B6D6-3E47-89C5-B96007AAF9F3}"/>
                </a:ext>
              </a:extLst>
            </p:cNvPr>
            <p:cNvSpPr txBox="1">
              <a:spLocks noChangeArrowheads="1"/>
            </p:cNvSpPr>
            <p:nvPr/>
          </p:nvSpPr>
          <p:spPr bwMode="auto">
            <a:xfrm>
              <a:off x="8332493" y="6070729"/>
              <a:ext cx="2349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r>
                <a:rPr lang="en-US" altLang="zh-TW" sz="1350" dirty="0">
                  <a:solidFill>
                    <a:srgbClr val="000000"/>
                  </a:solidFill>
                  <a:latin typeface="Calibri" panose="020F0502020204030204" pitchFamily="34" charset="0"/>
                </a:rPr>
                <a:t>Transport layer</a:t>
              </a:r>
              <a:endParaRPr lang="zh-TW" altLang="en-US" sz="1350" dirty="0">
                <a:solidFill>
                  <a:srgbClr val="000000"/>
                </a:solidFill>
                <a:latin typeface="Calibri" panose="020F0502020204030204" pitchFamily="34" charset="0"/>
              </a:endParaRPr>
            </a:p>
          </p:txBody>
        </p:sp>
        <p:sp>
          <p:nvSpPr>
            <p:cNvPr id="158" name="Left Brace 157">
              <a:extLst>
                <a:ext uri="{FF2B5EF4-FFF2-40B4-BE49-F238E27FC236}">
                  <a16:creationId xmlns:a16="http://schemas.microsoft.com/office/drawing/2014/main" id="{18486B04-E7B6-DC48-B5C3-FDA12199B810}"/>
                </a:ext>
              </a:extLst>
            </p:cNvPr>
            <p:cNvSpPr/>
            <p:nvPr/>
          </p:nvSpPr>
          <p:spPr>
            <a:xfrm rot="16200000">
              <a:off x="9405820" y="5104751"/>
              <a:ext cx="214489" cy="1790588"/>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eaLnBrk="1" fontAlgn="auto" hangingPunct="1">
                <a:spcBef>
                  <a:spcPts val="0"/>
                </a:spcBef>
                <a:spcAft>
                  <a:spcPts val="0"/>
                </a:spcAft>
                <a:defRPr/>
              </a:pPr>
              <a:endParaRPr lang="en-US" sz="1350">
                <a:solidFill>
                  <a:prstClr val="black"/>
                </a:solidFill>
                <a:latin typeface="Calibri" panose="020F0502020204030204"/>
              </a:endParaRPr>
            </a:p>
          </p:txBody>
        </p:sp>
      </p:grpSp>
      <p:sp>
        <p:nvSpPr>
          <p:cNvPr id="41" name="Slide Number Placeholder 3">
            <a:extLst>
              <a:ext uri="{FF2B5EF4-FFF2-40B4-BE49-F238E27FC236}">
                <a16:creationId xmlns:a16="http://schemas.microsoft.com/office/drawing/2014/main" id="{AA29DABC-DA37-E842-8BB6-80170D376CC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142</a:t>
            </a:fld>
            <a:endParaRPr lang="en-US" dirty="0"/>
          </a:p>
        </p:txBody>
      </p:sp>
    </p:spTree>
    <p:extLst>
      <p:ext uri="{BB962C8B-B14F-4D97-AF65-F5344CB8AC3E}">
        <p14:creationId xmlns:p14="http://schemas.microsoft.com/office/powerpoint/2010/main" val="210669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41"/>
                                        </p:tgtEl>
                                        <p:attrNameLst>
                                          <p:attrName>style.visibility</p:attrName>
                                        </p:attrNameLst>
                                      </p:cBhvr>
                                      <p:to>
                                        <p:strVal val="visible"/>
                                      </p:to>
                                    </p:set>
                                    <p:animEffect transition="in" filter="dissolve">
                                      <p:cBhvr>
                                        <p:cTn id="32"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6" name="Rectangle 2">
            <a:extLst>
              <a:ext uri="{FF2B5EF4-FFF2-40B4-BE49-F238E27FC236}">
                <a16:creationId xmlns:a16="http://schemas.microsoft.com/office/drawing/2014/main" id="{E811F375-BA2F-CF4F-B401-FB55433AC21E}"/>
              </a:ext>
            </a:extLst>
          </p:cNvPr>
          <p:cNvSpPr>
            <a:spLocks/>
          </p:cNvSpPr>
          <p:nvPr/>
        </p:nvSpPr>
        <p:spPr bwMode="auto">
          <a:xfrm>
            <a:off x="2901724" y="5859463"/>
            <a:ext cx="53562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i="1" dirty="0">
                <a:latin typeface="Gill Sans MT" panose="020B0502020104020203" pitchFamily="34" charset="77"/>
              </a:rPr>
              <a:t>Layer 2 frames from MAC address 22:A7:23:11:E1:02 should be forwarded to output port 3</a:t>
            </a:r>
            <a:r>
              <a:rPr lang="en-US" altLang="en-US" sz="2000" dirty="0">
                <a:latin typeface="Gill Sans MT" panose="020B0502020104020203" pitchFamily="34" charset="77"/>
              </a:rPr>
              <a:t> </a:t>
            </a:r>
          </a:p>
        </p:txBody>
      </p:sp>
      <p:sp>
        <p:nvSpPr>
          <p:cNvPr id="78" name="Rectangle 2">
            <a:extLst>
              <a:ext uri="{FF2B5EF4-FFF2-40B4-BE49-F238E27FC236}">
                <a16:creationId xmlns:a16="http://schemas.microsoft.com/office/drawing/2014/main" id="{AE01A336-8B43-5F4C-9F9C-52E7DAEFE4A5}"/>
              </a:ext>
            </a:extLst>
          </p:cNvPr>
          <p:cNvSpPr>
            <a:spLocks/>
          </p:cNvSpPr>
          <p:nvPr/>
        </p:nvSpPr>
        <p:spPr bwMode="auto">
          <a:xfrm>
            <a:off x="757011" y="1929966"/>
            <a:ext cx="3719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solidFill>
                  <a:srgbClr val="000090"/>
                </a:solidFill>
                <a:latin typeface="Gill Sans MT" panose="020B0502020104020203" pitchFamily="34" charset="77"/>
              </a:rPr>
              <a:t>Destination-based forwarding:</a:t>
            </a:r>
          </a:p>
        </p:txBody>
      </p:sp>
      <p:sp>
        <p:nvSpPr>
          <p:cNvPr id="79" name="Rectangle 3">
            <a:extLst>
              <a:ext uri="{FF2B5EF4-FFF2-40B4-BE49-F238E27FC236}">
                <a16:creationId xmlns:a16="http://schemas.microsoft.com/office/drawing/2014/main" id="{8ADC2112-9D76-EA45-A814-DE3E4B2CEB50}"/>
              </a:ext>
            </a:extLst>
          </p:cNvPr>
          <p:cNvSpPr>
            <a:spLocks/>
          </p:cNvSpPr>
          <p:nvPr/>
        </p:nvSpPr>
        <p:spPr bwMode="auto">
          <a:xfrm>
            <a:off x="629265" y="3049154"/>
            <a:ext cx="779698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700" dirty="0">
                <a:latin typeface="Calibri" panose="020F0502020204030204" pitchFamily="34" charset="0"/>
              </a:rPr>
              <a:t>*           *          *          *         *          *            *                       *         *          *                * 		   </a:t>
            </a:r>
          </a:p>
        </p:txBody>
      </p:sp>
      <p:sp>
        <p:nvSpPr>
          <p:cNvPr id="108" name="Rectangle 32">
            <a:extLst>
              <a:ext uri="{FF2B5EF4-FFF2-40B4-BE49-F238E27FC236}">
                <a16:creationId xmlns:a16="http://schemas.microsoft.com/office/drawing/2014/main" id="{CD8C98E8-19B2-F94F-8C44-9437C4E093A7}"/>
              </a:ext>
            </a:extLst>
          </p:cNvPr>
          <p:cNvSpPr>
            <a:spLocks/>
          </p:cNvSpPr>
          <p:nvPr/>
        </p:nvSpPr>
        <p:spPr bwMode="auto">
          <a:xfrm>
            <a:off x="4677882" y="2992977"/>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dirty="0">
                <a:solidFill>
                  <a:srgbClr val="FF0000"/>
                </a:solidFill>
                <a:latin typeface="Calibri" panose="020F0502020204030204" pitchFamily="34" charset="0"/>
              </a:rPr>
              <a:t>51.6.0.8</a:t>
            </a:r>
          </a:p>
        </p:txBody>
      </p:sp>
      <p:sp>
        <p:nvSpPr>
          <p:cNvPr id="112" name="Rectangle 36">
            <a:extLst>
              <a:ext uri="{FF2B5EF4-FFF2-40B4-BE49-F238E27FC236}">
                <a16:creationId xmlns:a16="http://schemas.microsoft.com/office/drawing/2014/main" id="{B7C68E5F-CC78-C444-BDA0-543A380D4B53}"/>
              </a:ext>
            </a:extLst>
          </p:cNvPr>
          <p:cNvSpPr>
            <a:spLocks/>
          </p:cNvSpPr>
          <p:nvPr/>
        </p:nvSpPr>
        <p:spPr bwMode="auto">
          <a:xfrm>
            <a:off x="8308606" y="2974013"/>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700" dirty="0">
                <a:solidFill>
                  <a:srgbClr val="FF0000"/>
                </a:solidFill>
                <a:latin typeface="Calibri" panose="020F0502020204030204" pitchFamily="34" charset="0"/>
              </a:rPr>
              <a:t>port6</a:t>
            </a:r>
          </a:p>
        </p:txBody>
      </p:sp>
      <p:sp>
        <p:nvSpPr>
          <p:cNvPr id="113" name="Rectangle 2">
            <a:extLst>
              <a:ext uri="{FF2B5EF4-FFF2-40B4-BE49-F238E27FC236}">
                <a16:creationId xmlns:a16="http://schemas.microsoft.com/office/drawing/2014/main" id="{95B7D64E-90C4-664E-AC00-E20A587FC64A}"/>
              </a:ext>
            </a:extLst>
          </p:cNvPr>
          <p:cNvSpPr>
            <a:spLocks/>
          </p:cNvSpPr>
          <p:nvPr/>
        </p:nvSpPr>
        <p:spPr bwMode="auto">
          <a:xfrm>
            <a:off x="3135086" y="3407929"/>
            <a:ext cx="512286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i="1" dirty="0">
                <a:latin typeface="Gill Sans MT" panose="020B0502020104020203" pitchFamily="34" charset="77"/>
              </a:rPr>
              <a:t>IP datagrams destined to IP address  51.6.0.8 should be forwarded to router output port </a:t>
            </a:r>
            <a:r>
              <a:rPr lang="en-US" altLang="en-US" sz="2000" dirty="0">
                <a:latin typeface="Gill Sans MT" panose="020B0502020104020203" pitchFamily="34" charset="77"/>
              </a:rPr>
              <a:t>6 </a:t>
            </a:r>
          </a:p>
        </p:txBody>
      </p:sp>
      <p:grpSp>
        <p:nvGrpSpPr>
          <p:cNvPr id="114" name="Group 113">
            <a:extLst>
              <a:ext uri="{FF2B5EF4-FFF2-40B4-BE49-F238E27FC236}">
                <a16:creationId xmlns:a16="http://schemas.microsoft.com/office/drawing/2014/main" id="{99F74559-EEDA-5949-90B6-569261AE4626}"/>
              </a:ext>
            </a:extLst>
          </p:cNvPr>
          <p:cNvGrpSpPr/>
          <p:nvPr/>
        </p:nvGrpSpPr>
        <p:grpSpPr>
          <a:xfrm>
            <a:off x="0" y="0"/>
            <a:ext cx="9143999" cy="926011"/>
            <a:chOff x="0" y="0"/>
            <a:chExt cx="9143999" cy="926011"/>
          </a:xfrm>
        </p:grpSpPr>
        <p:pic>
          <p:nvPicPr>
            <p:cNvPr id="115" name="Picture 114" descr="Screen Shot 2015-04-08 at 10.38.40 AM.png">
              <a:extLst>
                <a:ext uri="{FF2B5EF4-FFF2-40B4-BE49-F238E27FC236}">
                  <a16:creationId xmlns:a16="http://schemas.microsoft.com/office/drawing/2014/main" id="{3EA1D9C3-CD0B-AE4A-870F-4B432F9E8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116" name="Picture 115" descr="Screen Shot 2015-04-08 at 10.42.03 AM.png">
              <a:extLst>
                <a:ext uri="{FF2B5EF4-FFF2-40B4-BE49-F238E27FC236}">
                  <a16:creationId xmlns:a16="http://schemas.microsoft.com/office/drawing/2014/main" id="{B376E1FA-8A55-FB4C-9664-537DA0B79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17" name="Rectangle 2">
            <a:extLst>
              <a:ext uri="{FF2B5EF4-FFF2-40B4-BE49-F238E27FC236}">
                <a16:creationId xmlns:a16="http://schemas.microsoft.com/office/drawing/2014/main" id="{4A64FA5C-C6DE-E840-BA46-08DE38FF5BF3}"/>
              </a:ext>
            </a:extLst>
          </p:cNvPr>
          <p:cNvSpPr txBox="1">
            <a:spLocks noChangeArrowheads="1"/>
          </p:cNvSpPr>
          <p:nvPr/>
        </p:nvSpPr>
        <p:spPr bwMode="auto">
          <a:xfrm>
            <a:off x="1823167" y="89794"/>
            <a:ext cx="7320835"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bg1"/>
                </a:solidFill>
                <a:latin typeface="Arial"/>
                <a:ea typeface="ＭＳ Ｐゴシック" pitchFamily="34" charset="-128"/>
                <a:cs typeface="Arial"/>
              </a:rPr>
              <a:t>OpenFlow: Example</a:t>
            </a:r>
          </a:p>
        </p:txBody>
      </p:sp>
      <p:sp>
        <p:nvSpPr>
          <p:cNvPr id="118" name="Rectangle 2">
            <a:extLst>
              <a:ext uri="{FF2B5EF4-FFF2-40B4-BE49-F238E27FC236}">
                <a16:creationId xmlns:a16="http://schemas.microsoft.com/office/drawing/2014/main" id="{8649A64E-3E4D-2A4D-88CF-F57E1D25E4B4}"/>
              </a:ext>
            </a:extLst>
          </p:cNvPr>
          <p:cNvSpPr txBox="1">
            <a:spLocks noChangeArrowheads="1"/>
          </p:cNvSpPr>
          <p:nvPr/>
        </p:nvSpPr>
        <p:spPr bwMode="auto">
          <a:xfrm>
            <a:off x="1949013" y="903959"/>
            <a:ext cx="7194986"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rgbClr val="00B0F0"/>
                </a:solidFill>
                <a:latin typeface="Arial"/>
                <a:ea typeface="ＭＳ Ｐゴシック" pitchFamily="34" charset="-128"/>
                <a:cs typeface="Arial"/>
              </a:rPr>
              <a:t>Examples 1</a:t>
            </a:r>
          </a:p>
        </p:txBody>
      </p:sp>
      <p:grpSp>
        <p:nvGrpSpPr>
          <p:cNvPr id="3" name="Group 2">
            <a:extLst>
              <a:ext uri="{FF2B5EF4-FFF2-40B4-BE49-F238E27FC236}">
                <a16:creationId xmlns:a16="http://schemas.microsoft.com/office/drawing/2014/main" id="{2DC3ADE4-1DB3-7346-A86C-9C1291A3EB35}"/>
              </a:ext>
            </a:extLst>
          </p:cNvPr>
          <p:cNvGrpSpPr/>
          <p:nvPr/>
        </p:nvGrpSpPr>
        <p:grpSpPr>
          <a:xfrm>
            <a:off x="280081" y="2332689"/>
            <a:ext cx="8688925" cy="678899"/>
            <a:chOff x="280081" y="2332689"/>
            <a:chExt cx="8688925" cy="678899"/>
          </a:xfrm>
        </p:grpSpPr>
        <p:grpSp>
          <p:nvGrpSpPr>
            <p:cNvPr id="2" name="Group 1">
              <a:extLst>
                <a:ext uri="{FF2B5EF4-FFF2-40B4-BE49-F238E27FC236}">
                  <a16:creationId xmlns:a16="http://schemas.microsoft.com/office/drawing/2014/main" id="{7E68A0AF-AE17-D740-A453-3B8A4E6FCEF5}"/>
                </a:ext>
              </a:extLst>
            </p:cNvPr>
            <p:cNvGrpSpPr/>
            <p:nvPr/>
          </p:nvGrpSpPr>
          <p:grpSpPr>
            <a:xfrm>
              <a:off x="8096726" y="2393302"/>
              <a:ext cx="872280" cy="566207"/>
              <a:chOff x="8096726" y="2393302"/>
              <a:chExt cx="872280" cy="566207"/>
            </a:xfrm>
          </p:grpSpPr>
          <p:sp>
            <p:nvSpPr>
              <p:cNvPr id="125" name="Rectangle 25">
                <a:extLst>
                  <a:ext uri="{FF2B5EF4-FFF2-40B4-BE49-F238E27FC236}">
                    <a16:creationId xmlns:a16="http://schemas.microsoft.com/office/drawing/2014/main" id="{0156A416-F0A5-1F46-A292-9A4B959707F1}"/>
                  </a:ext>
                </a:extLst>
              </p:cNvPr>
              <p:cNvSpPr>
                <a:spLocks/>
              </p:cNvSpPr>
              <p:nvPr/>
            </p:nvSpPr>
            <p:spPr bwMode="auto">
              <a:xfrm>
                <a:off x="8096726" y="2393302"/>
                <a:ext cx="834969" cy="566207"/>
              </a:xfrm>
              <a:prstGeom prst="rect">
                <a:avLst/>
              </a:prstGeom>
              <a:solidFill>
                <a:srgbClr val="CBE97B"/>
              </a:solidFill>
              <a:ln w="12700">
                <a:solidFill>
                  <a:srgbClr val="697D3A"/>
                </a:solidFill>
                <a:miter lim="800000"/>
                <a:headEnd/>
                <a:tailEnd/>
              </a:ln>
            </p:spPr>
            <p:txBody>
              <a:bodyPr lIns="0" tIns="0" rIns="0" bIns="0"/>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alibri" panose="020F0502020204030204" pitchFamily="34" charset="0"/>
                </a:endParaRPr>
              </a:p>
            </p:txBody>
          </p:sp>
          <p:sp>
            <p:nvSpPr>
              <p:cNvPr id="123" name="Rectangle 26">
                <a:extLst>
                  <a:ext uri="{FF2B5EF4-FFF2-40B4-BE49-F238E27FC236}">
                    <a16:creationId xmlns:a16="http://schemas.microsoft.com/office/drawing/2014/main" id="{5842E10E-9C28-B44E-865C-7263598A2CB3}"/>
                  </a:ext>
                </a:extLst>
              </p:cNvPr>
              <p:cNvSpPr>
                <a:spLocks/>
              </p:cNvSpPr>
              <p:nvPr/>
            </p:nvSpPr>
            <p:spPr bwMode="auto">
              <a:xfrm>
                <a:off x="8126223" y="2514095"/>
                <a:ext cx="842783"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700" dirty="0">
                    <a:latin typeface="Calibri" panose="020F0502020204030204" pitchFamily="34" charset="0"/>
                  </a:rPr>
                  <a:t>Action</a:t>
                </a:r>
              </a:p>
            </p:txBody>
          </p:sp>
        </p:grpSp>
        <p:pic>
          <p:nvPicPr>
            <p:cNvPr id="127" name="Picture 126">
              <a:extLst>
                <a:ext uri="{FF2B5EF4-FFF2-40B4-BE49-F238E27FC236}">
                  <a16:creationId xmlns:a16="http://schemas.microsoft.com/office/drawing/2014/main" id="{8CA447E4-1F06-414D-A2AA-E2EAD9229F9B}"/>
                </a:ext>
              </a:extLst>
            </p:cNvPr>
            <p:cNvPicPr>
              <a:picLocks noChangeAspect="1"/>
            </p:cNvPicPr>
            <p:nvPr/>
          </p:nvPicPr>
          <p:blipFill rotWithShape="1">
            <a:blip r:embed="rId4">
              <a:extLst>
                <a:ext uri="{28A0092B-C50C-407E-A947-70E740481C1C}">
                  <a14:useLocalDpi xmlns:a14="http://schemas.microsoft.com/office/drawing/2010/main" val="0"/>
                </a:ext>
              </a:extLst>
            </a:blip>
            <a:srcRect b="49534"/>
            <a:stretch/>
          </p:blipFill>
          <p:spPr>
            <a:xfrm>
              <a:off x="280081" y="2332689"/>
              <a:ext cx="7846142" cy="678899"/>
            </a:xfrm>
            <a:prstGeom prst="rect">
              <a:avLst/>
            </a:prstGeom>
          </p:spPr>
        </p:pic>
      </p:grpSp>
      <p:grpSp>
        <p:nvGrpSpPr>
          <p:cNvPr id="4" name="Group 3">
            <a:extLst>
              <a:ext uri="{FF2B5EF4-FFF2-40B4-BE49-F238E27FC236}">
                <a16:creationId xmlns:a16="http://schemas.microsoft.com/office/drawing/2014/main" id="{F1C90DB4-A95D-654E-B74C-EC26B98BC556}"/>
              </a:ext>
            </a:extLst>
          </p:cNvPr>
          <p:cNvGrpSpPr/>
          <p:nvPr/>
        </p:nvGrpSpPr>
        <p:grpSpPr>
          <a:xfrm>
            <a:off x="280081" y="4360863"/>
            <a:ext cx="8688925" cy="1481843"/>
            <a:chOff x="280081" y="4360863"/>
            <a:chExt cx="8688925" cy="1481843"/>
          </a:xfrm>
        </p:grpSpPr>
        <p:sp>
          <p:nvSpPr>
            <p:cNvPr id="112642" name="Rectangle 2">
              <a:extLst>
                <a:ext uri="{FF2B5EF4-FFF2-40B4-BE49-F238E27FC236}">
                  <a16:creationId xmlns:a16="http://schemas.microsoft.com/office/drawing/2014/main" id="{92F55C3C-7D5A-FF46-B799-EA5783CB2EE4}"/>
                </a:ext>
              </a:extLst>
            </p:cNvPr>
            <p:cNvSpPr>
              <a:spLocks/>
            </p:cNvSpPr>
            <p:nvPr/>
          </p:nvSpPr>
          <p:spPr bwMode="auto">
            <a:xfrm>
              <a:off x="757011" y="4360863"/>
              <a:ext cx="5708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a:solidFill>
                    <a:srgbClr val="000090"/>
                  </a:solidFill>
                  <a:latin typeface="Gill Sans MT" panose="020B0502020104020203" pitchFamily="34" charset="77"/>
                </a:rPr>
                <a:t>Destination-based layer 2 (switch) forwarding:</a:t>
              </a:r>
            </a:p>
          </p:txBody>
        </p:sp>
        <p:sp>
          <p:nvSpPr>
            <p:cNvPr id="112657" name="Rectangle 28">
              <a:extLst>
                <a:ext uri="{FF2B5EF4-FFF2-40B4-BE49-F238E27FC236}">
                  <a16:creationId xmlns:a16="http://schemas.microsoft.com/office/drawing/2014/main" id="{51CDB2EE-B167-9A4E-80EE-C3E71724DA9D}"/>
                </a:ext>
              </a:extLst>
            </p:cNvPr>
            <p:cNvSpPr>
              <a:spLocks/>
            </p:cNvSpPr>
            <p:nvPr/>
          </p:nvSpPr>
          <p:spPr bwMode="auto">
            <a:xfrm>
              <a:off x="1053003" y="5531556"/>
              <a:ext cx="6588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100" dirty="0">
                  <a:solidFill>
                    <a:srgbClr val="FF0000"/>
                  </a:solidFill>
                  <a:latin typeface="Calibri" panose="020F0502020204030204" pitchFamily="34" charset="0"/>
                </a:rPr>
                <a:t>22:A7:23:</a:t>
              </a:r>
            </a:p>
            <a:p>
              <a:r>
                <a:rPr lang="en-US" altLang="en-US" sz="1100" dirty="0">
                  <a:solidFill>
                    <a:srgbClr val="FF0000"/>
                  </a:solidFill>
                  <a:latin typeface="Calibri" panose="020F0502020204030204" pitchFamily="34" charset="0"/>
                </a:rPr>
                <a:t>11:E1:02</a:t>
              </a:r>
            </a:p>
          </p:txBody>
        </p:sp>
        <p:sp>
          <p:nvSpPr>
            <p:cNvPr id="128" name="Rectangle 3">
              <a:extLst>
                <a:ext uri="{FF2B5EF4-FFF2-40B4-BE49-F238E27FC236}">
                  <a16:creationId xmlns:a16="http://schemas.microsoft.com/office/drawing/2014/main" id="{867E1595-775C-1749-AA79-F98EE1EC1E9A}"/>
                </a:ext>
              </a:extLst>
            </p:cNvPr>
            <p:cNvSpPr>
              <a:spLocks/>
            </p:cNvSpPr>
            <p:nvPr/>
          </p:nvSpPr>
          <p:spPr bwMode="auto">
            <a:xfrm>
              <a:off x="629265" y="5484465"/>
              <a:ext cx="779698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700" dirty="0">
                  <a:latin typeface="Calibri" panose="020F0502020204030204" pitchFamily="34" charset="0"/>
                </a:rPr>
                <a:t>*                       *          *         *          *            *           *           *         *          *                * 		   </a:t>
              </a:r>
            </a:p>
          </p:txBody>
        </p:sp>
        <p:sp>
          <p:nvSpPr>
            <p:cNvPr id="130" name="Rectangle 36">
              <a:extLst>
                <a:ext uri="{FF2B5EF4-FFF2-40B4-BE49-F238E27FC236}">
                  <a16:creationId xmlns:a16="http://schemas.microsoft.com/office/drawing/2014/main" id="{721B9BCA-5AA9-C54A-A39F-EF992AC36186}"/>
                </a:ext>
              </a:extLst>
            </p:cNvPr>
            <p:cNvSpPr>
              <a:spLocks/>
            </p:cNvSpPr>
            <p:nvPr/>
          </p:nvSpPr>
          <p:spPr bwMode="auto">
            <a:xfrm>
              <a:off x="8308606" y="5409324"/>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700" dirty="0">
                  <a:solidFill>
                    <a:srgbClr val="FF0000"/>
                  </a:solidFill>
                  <a:latin typeface="Calibri" panose="020F0502020204030204" pitchFamily="34" charset="0"/>
                </a:rPr>
                <a:t>port3</a:t>
              </a:r>
            </a:p>
          </p:txBody>
        </p:sp>
        <p:grpSp>
          <p:nvGrpSpPr>
            <p:cNvPr id="131" name="Group 130">
              <a:extLst>
                <a:ext uri="{FF2B5EF4-FFF2-40B4-BE49-F238E27FC236}">
                  <a16:creationId xmlns:a16="http://schemas.microsoft.com/office/drawing/2014/main" id="{87C622C8-287A-6E4A-8905-45CD366674E1}"/>
                </a:ext>
              </a:extLst>
            </p:cNvPr>
            <p:cNvGrpSpPr/>
            <p:nvPr/>
          </p:nvGrpSpPr>
          <p:grpSpPr>
            <a:xfrm>
              <a:off x="280081" y="4768000"/>
              <a:ext cx="8688925" cy="678899"/>
              <a:chOff x="280081" y="2332689"/>
              <a:chExt cx="8688925" cy="678899"/>
            </a:xfrm>
          </p:grpSpPr>
          <p:grpSp>
            <p:nvGrpSpPr>
              <p:cNvPr id="132" name="Group 131">
                <a:extLst>
                  <a:ext uri="{FF2B5EF4-FFF2-40B4-BE49-F238E27FC236}">
                    <a16:creationId xmlns:a16="http://schemas.microsoft.com/office/drawing/2014/main" id="{9EE7F7B1-693E-C842-AA65-7A4AE8ED366D}"/>
                  </a:ext>
                </a:extLst>
              </p:cNvPr>
              <p:cNvGrpSpPr/>
              <p:nvPr/>
            </p:nvGrpSpPr>
            <p:grpSpPr>
              <a:xfrm>
                <a:off x="8096726" y="2393302"/>
                <a:ext cx="872280" cy="566207"/>
                <a:chOff x="8096726" y="2393302"/>
                <a:chExt cx="872280" cy="566207"/>
              </a:xfrm>
            </p:grpSpPr>
            <p:sp>
              <p:nvSpPr>
                <p:cNvPr id="134" name="Rectangle 25">
                  <a:extLst>
                    <a:ext uri="{FF2B5EF4-FFF2-40B4-BE49-F238E27FC236}">
                      <a16:creationId xmlns:a16="http://schemas.microsoft.com/office/drawing/2014/main" id="{1192D678-B6A8-084D-9899-87CEB53B3EE3}"/>
                    </a:ext>
                  </a:extLst>
                </p:cNvPr>
                <p:cNvSpPr>
                  <a:spLocks/>
                </p:cNvSpPr>
                <p:nvPr/>
              </p:nvSpPr>
              <p:spPr bwMode="auto">
                <a:xfrm>
                  <a:off x="8096726" y="2393302"/>
                  <a:ext cx="834969" cy="566207"/>
                </a:xfrm>
                <a:prstGeom prst="rect">
                  <a:avLst/>
                </a:prstGeom>
                <a:solidFill>
                  <a:srgbClr val="CBE97B"/>
                </a:solidFill>
                <a:ln w="12700">
                  <a:solidFill>
                    <a:srgbClr val="697D3A"/>
                  </a:solidFill>
                  <a:miter lim="800000"/>
                  <a:headEnd/>
                  <a:tailEnd/>
                </a:ln>
              </p:spPr>
              <p:txBody>
                <a:bodyPr lIns="0" tIns="0" rIns="0" bIns="0"/>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alibri" panose="020F0502020204030204" pitchFamily="34" charset="0"/>
                  </a:endParaRPr>
                </a:p>
              </p:txBody>
            </p:sp>
            <p:sp>
              <p:nvSpPr>
                <p:cNvPr id="135" name="Rectangle 26">
                  <a:extLst>
                    <a:ext uri="{FF2B5EF4-FFF2-40B4-BE49-F238E27FC236}">
                      <a16:creationId xmlns:a16="http://schemas.microsoft.com/office/drawing/2014/main" id="{359A18BC-D358-7146-A354-1203162E0098}"/>
                    </a:ext>
                  </a:extLst>
                </p:cNvPr>
                <p:cNvSpPr>
                  <a:spLocks/>
                </p:cNvSpPr>
                <p:nvPr/>
              </p:nvSpPr>
              <p:spPr bwMode="auto">
                <a:xfrm>
                  <a:off x="8126223" y="2514095"/>
                  <a:ext cx="842783"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700" dirty="0">
                      <a:latin typeface="Calibri" panose="020F0502020204030204" pitchFamily="34" charset="0"/>
                    </a:rPr>
                    <a:t>Action</a:t>
                  </a:r>
                </a:p>
              </p:txBody>
            </p:sp>
          </p:grpSp>
          <p:pic>
            <p:nvPicPr>
              <p:cNvPr id="133" name="Picture 132">
                <a:extLst>
                  <a:ext uri="{FF2B5EF4-FFF2-40B4-BE49-F238E27FC236}">
                    <a16:creationId xmlns:a16="http://schemas.microsoft.com/office/drawing/2014/main" id="{06A863D3-8E3D-6745-B6F9-77297CB6D5A1}"/>
                  </a:ext>
                </a:extLst>
              </p:cNvPr>
              <p:cNvPicPr>
                <a:picLocks noChangeAspect="1"/>
              </p:cNvPicPr>
              <p:nvPr/>
            </p:nvPicPr>
            <p:blipFill rotWithShape="1">
              <a:blip r:embed="rId4">
                <a:extLst>
                  <a:ext uri="{28A0092B-C50C-407E-A947-70E740481C1C}">
                    <a14:useLocalDpi xmlns:a14="http://schemas.microsoft.com/office/drawing/2010/main" val="0"/>
                  </a:ext>
                </a:extLst>
              </a:blip>
              <a:srcRect b="49534"/>
              <a:stretch/>
            </p:blipFill>
            <p:spPr>
              <a:xfrm>
                <a:off x="280081" y="2332689"/>
                <a:ext cx="7846142" cy="678899"/>
              </a:xfrm>
              <a:prstGeom prst="rect">
                <a:avLst/>
              </a:prstGeom>
            </p:spPr>
          </p:pic>
        </p:grpSp>
      </p:grpSp>
      <p:sp>
        <p:nvSpPr>
          <p:cNvPr id="28" name="Right Triangle 27">
            <a:extLst>
              <a:ext uri="{FF2B5EF4-FFF2-40B4-BE49-F238E27FC236}">
                <a16:creationId xmlns:a16="http://schemas.microsoft.com/office/drawing/2014/main" id="{D7540619-2757-E749-9360-315A9A8D386D}"/>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9"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54231" y="6475413"/>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143</a:t>
            </a:fld>
            <a:endParaRPr lang="en-US" altLang="en-US" dirty="0">
              <a:latin typeface="Tahoma" panose="020B0604030504040204" pitchFamily="34" charset="0"/>
            </a:endParaRPr>
          </a:p>
        </p:txBody>
      </p:sp>
    </p:spTree>
    <p:extLst>
      <p:ext uri="{BB962C8B-B14F-4D97-AF65-F5344CB8AC3E}">
        <p14:creationId xmlns:p14="http://schemas.microsoft.com/office/powerpoint/2010/main" val="10897454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6" grpId="0"/>
      <p:bldP spid="113"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2">
            <a:extLst>
              <a:ext uri="{FF2B5EF4-FFF2-40B4-BE49-F238E27FC236}">
                <a16:creationId xmlns:a16="http://schemas.microsoft.com/office/drawing/2014/main" id="{AE01A336-8B43-5F4C-9F9C-52E7DAEFE4A5}"/>
              </a:ext>
            </a:extLst>
          </p:cNvPr>
          <p:cNvSpPr>
            <a:spLocks/>
          </p:cNvSpPr>
          <p:nvPr/>
        </p:nvSpPr>
        <p:spPr bwMode="auto">
          <a:xfrm>
            <a:off x="757011" y="1930244"/>
            <a:ext cx="1024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dirty="0">
                <a:solidFill>
                  <a:srgbClr val="000090"/>
                </a:solidFill>
                <a:latin typeface="Gill Sans MT" panose="020B0502020104020203" pitchFamily="34" charset="77"/>
              </a:rPr>
              <a:t>Firewall:</a:t>
            </a:r>
          </a:p>
        </p:txBody>
      </p:sp>
      <p:sp>
        <p:nvSpPr>
          <p:cNvPr id="79" name="Rectangle 3">
            <a:extLst>
              <a:ext uri="{FF2B5EF4-FFF2-40B4-BE49-F238E27FC236}">
                <a16:creationId xmlns:a16="http://schemas.microsoft.com/office/drawing/2014/main" id="{8ADC2112-9D76-EA45-A814-DE3E4B2CEB50}"/>
              </a:ext>
            </a:extLst>
          </p:cNvPr>
          <p:cNvSpPr>
            <a:spLocks/>
          </p:cNvSpPr>
          <p:nvPr/>
        </p:nvSpPr>
        <p:spPr bwMode="auto">
          <a:xfrm>
            <a:off x="629265" y="3049154"/>
            <a:ext cx="779698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700" dirty="0">
                <a:latin typeface="Calibri" panose="020F0502020204030204" pitchFamily="34" charset="0"/>
              </a:rPr>
              <a:t>*           *          *          *         *          *            *           *          *         *          *                 		   </a:t>
            </a:r>
          </a:p>
        </p:txBody>
      </p:sp>
      <p:sp>
        <p:nvSpPr>
          <p:cNvPr id="108" name="Rectangle 32">
            <a:extLst>
              <a:ext uri="{FF2B5EF4-FFF2-40B4-BE49-F238E27FC236}">
                <a16:creationId xmlns:a16="http://schemas.microsoft.com/office/drawing/2014/main" id="{CD8C98E8-19B2-F94F-8C44-9437C4E093A7}"/>
              </a:ext>
            </a:extLst>
          </p:cNvPr>
          <p:cNvSpPr>
            <a:spLocks/>
          </p:cNvSpPr>
          <p:nvPr/>
        </p:nvSpPr>
        <p:spPr bwMode="auto">
          <a:xfrm>
            <a:off x="7332592" y="2974895"/>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400" dirty="0">
                <a:solidFill>
                  <a:srgbClr val="FF0000"/>
                </a:solidFill>
                <a:latin typeface="Calibri" panose="020F0502020204030204" pitchFamily="34" charset="0"/>
              </a:rPr>
              <a:t>22</a:t>
            </a:r>
          </a:p>
        </p:txBody>
      </p:sp>
      <p:sp>
        <p:nvSpPr>
          <p:cNvPr id="112" name="Rectangle 36">
            <a:extLst>
              <a:ext uri="{FF2B5EF4-FFF2-40B4-BE49-F238E27FC236}">
                <a16:creationId xmlns:a16="http://schemas.microsoft.com/office/drawing/2014/main" id="{B7C68E5F-CC78-C444-BDA0-543A380D4B53}"/>
              </a:ext>
            </a:extLst>
          </p:cNvPr>
          <p:cNvSpPr>
            <a:spLocks/>
          </p:cNvSpPr>
          <p:nvPr/>
        </p:nvSpPr>
        <p:spPr bwMode="auto">
          <a:xfrm>
            <a:off x="8308606" y="2974013"/>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700" dirty="0">
                <a:solidFill>
                  <a:srgbClr val="FF0000"/>
                </a:solidFill>
                <a:latin typeface="Calibri" panose="020F0502020204030204" pitchFamily="34" charset="0"/>
              </a:rPr>
              <a:t>Drop</a:t>
            </a:r>
          </a:p>
        </p:txBody>
      </p:sp>
      <p:grpSp>
        <p:nvGrpSpPr>
          <p:cNvPr id="114" name="Group 113">
            <a:extLst>
              <a:ext uri="{FF2B5EF4-FFF2-40B4-BE49-F238E27FC236}">
                <a16:creationId xmlns:a16="http://schemas.microsoft.com/office/drawing/2014/main" id="{99F74559-EEDA-5949-90B6-569261AE4626}"/>
              </a:ext>
            </a:extLst>
          </p:cNvPr>
          <p:cNvGrpSpPr/>
          <p:nvPr/>
        </p:nvGrpSpPr>
        <p:grpSpPr>
          <a:xfrm>
            <a:off x="0" y="0"/>
            <a:ext cx="9143999" cy="926011"/>
            <a:chOff x="0" y="0"/>
            <a:chExt cx="9143999" cy="926011"/>
          </a:xfrm>
        </p:grpSpPr>
        <p:pic>
          <p:nvPicPr>
            <p:cNvPr id="115" name="Picture 114" descr="Screen Shot 2015-04-08 at 10.38.40 AM.png">
              <a:extLst>
                <a:ext uri="{FF2B5EF4-FFF2-40B4-BE49-F238E27FC236}">
                  <a16:creationId xmlns:a16="http://schemas.microsoft.com/office/drawing/2014/main" id="{3EA1D9C3-CD0B-AE4A-870F-4B432F9E8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116" name="Picture 115" descr="Screen Shot 2015-04-08 at 10.42.03 AM.png">
              <a:extLst>
                <a:ext uri="{FF2B5EF4-FFF2-40B4-BE49-F238E27FC236}">
                  <a16:creationId xmlns:a16="http://schemas.microsoft.com/office/drawing/2014/main" id="{B376E1FA-8A55-FB4C-9664-537DA0B79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17" name="Rectangle 2">
            <a:extLst>
              <a:ext uri="{FF2B5EF4-FFF2-40B4-BE49-F238E27FC236}">
                <a16:creationId xmlns:a16="http://schemas.microsoft.com/office/drawing/2014/main" id="{4A64FA5C-C6DE-E840-BA46-08DE38FF5BF3}"/>
              </a:ext>
            </a:extLst>
          </p:cNvPr>
          <p:cNvSpPr txBox="1">
            <a:spLocks noChangeArrowheads="1"/>
          </p:cNvSpPr>
          <p:nvPr/>
        </p:nvSpPr>
        <p:spPr bwMode="auto">
          <a:xfrm>
            <a:off x="1823167" y="89794"/>
            <a:ext cx="7320835"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bg1"/>
                </a:solidFill>
                <a:latin typeface="Arial"/>
                <a:ea typeface="ＭＳ Ｐゴシック" pitchFamily="34" charset="-128"/>
                <a:cs typeface="Arial"/>
              </a:rPr>
              <a:t>OpenFlow: Example</a:t>
            </a:r>
          </a:p>
        </p:txBody>
      </p:sp>
      <p:sp>
        <p:nvSpPr>
          <p:cNvPr id="118" name="Rectangle 2">
            <a:extLst>
              <a:ext uri="{FF2B5EF4-FFF2-40B4-BE49-F238E27FC236}">
                <a16:creationId xmlns:a16="http://schemas.microsoft.com/office/drawing/2014/main" id="{8649A64E-3E4D-2A4D-88CF-F57E1D25E4B4}"/>
              </a:ext>
            </a:extLst>
          </p:cNvPr>
          <p:cNvSpPr txBox="1">
            <a:spLocks noChangeArrowheads="1"/>
          </p:cNvSpPr>
          <p:nvPr/>
        </p:nvSpPr>
        <p:spPr bwMode="auto">
          <a:xfrm>
            <a:off x="1949013" y="903959"/>
            <a:ext cx="7194986"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rgbClr val="00B0F0"/>
                </a:solidFill>
                <a:latin typeface="Arial"/>
                <a:ea typeface="ＭＳ Ｐゴシック" pitchFamily="34" charset="-128"/>
                <a:cs typeface="Arial"/>
              </a:rPr>
              <a:t>Examples 2</a:t>
            </a:r>
          </a:p>
        </p:txBody>
      </p:sp>
      <p:grpSp>
        <p:nvGrpSpPr>
          <p:cNvPr id="3" name="Group 2">
            <a:extLst>
              <a:ext uri="{FF2B5EF4-FFF2-40B4-BE49-F238E27FC236}">
                <a16:creationId xmlns:a16="http://schemas.microsoft.com/office/drawing/2014/main" id="{2DC3ADE4-1DB3-7346-A86C-9C1291A3EB35}"/>
              </a:ext>
            </a:extLst>
          </p:cNvPr>
          <p:cNvGrpSpPr/>
          <p:nvPr/>
        </p:nvGrpSpPr>
        <p:grpSpPr>
          <a:xfrm>
            <a:off x="280081" y="2332689"/>
            <a:ext cx="8688925" cy="678899"/>
            <a:chOff x="280081" y="2332689"/>
            <a:chExt cx="8688925" cy="678899"/>
          </a:xfrm>
        </p:grpSpPr>
        <p:grpSp>
          <p:nvGrpSpPr>
            <p:cNvPr id="2" name="Group 1">
              <a:extLst>
                <a:ext uri="{FF2B5EF4-FFF2-40B4-BE49-F238E27FC236}">
                  <a16:creationId xmlns:a16="http://schemas.microsoft.com/office/drawing/2014/main" id="{7E68A0AF-AE17-D740-A453-3B8A4E6FCEF5}"/>
                </a:ext>
              </a:extLst>
            </p:cNvPr>
            <p:cNvGrpSpPr/>
            <p:nvPr/>
          </p:nvGrpSpPr>
          <p:grpSpPr>
            <a:xfrm>
              <a:off x="8096726" y="2393302"/>
              <a:ext cx="872280" cy="566207"/>
              <a:chOff x="8096726" y="2393302"/>
              <a:chExt cx="872280" cy="566207"/>
            </a:xfrm>
          </p:grpSpPr>
          <p:sp>
            <p:nvSpPr>
              <p:cNvPr id="125" name="Rectangle 25">
                <a:extLst>
                  <a:ext uri="{FF2B5EF4-FFF2-40B4-BE49-F238E27FC236}">
                    <a16:creationId xmlns:a16="http://schemas.microsoft.com/office/drawing/2014/main" id="{0156A416-F0A5-1F46-A292-9A4B959707F1}"/>
                  </a:ext>
                </a:extLst>
              </p:cNvPr>
              <p:cNvSpPr>
                <a:spLocks/>
              </p:cNvSpPr>
              <p:nvPr/>
            </p:nvSpPr>
            <p:spPr bwMode="auto">
              <a:xfrm>
                <a:off x="8096726" y="2393302"/>
                <a:ext cx="834969" cy="566207"/>
              </a:xfrm>
              <a:prstGeom prst="rect">
                <a:avLst/>
              </a:prstGeom>
              <a:solidFill>
                <a:srgbClr val="CBE97B"/>
              </a:solidFill>
              <a:ln w="12700">
                <a:solidFill>
                  <a:srgbClr val="697D3A"/>
                </a:solidFill>
                <a:miter lim="800000"/>
                <a:headEnd/>
                <a:tailEnd/>
              </a:ln>
            </p:spPr>
            <p:txBody>
              <a:bodyPr lIns="0" tIns="0" rIns="0" bIns="0"/>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alibri" panose="020F0502020204030204" pitchFamily="34" charset="0"/>
                </a:endParaRPr>
              </a:p>
            </p:txBody>
          </p:sp>
          <p:sp>
            <p:nvSpPr>
              <p:cNvPr id="123" name="Rectangle 26">
                <a:extLst>
                  <a:ext uri="{FF2B5EF4-FFF2-40B4-BE49-F238E27FC236}">
                    <a16:creationId xmlns:a16="http://schemas.microsoft.com/office/drawing/2014/main" id="{5842E10E-9C28-B44E-865C-7263598A2CB3}"/>
                  </a:ext>
                </a:extLst>
              </p:cNvPr>
              <p:cNvSpPr>
                <a:spLocks/>
              </p:cNvSpPr>
              <p:nvPr/>
            </p:nvSpPr>
            <p:spPr bwMode="auto">
              <a:xfrm>
                <a:off x="8126223" y="2514095"/>
                <a:ext cx="842783"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700" dirty="0">
                    <a:latin typeface="Calibri" panose="020F0502020204030204" pitchFamily="34" charset="0"/>
                  </a:rPr>
                  <a:t>Action</a:t>
                </a:r>
              </a:p>
            </p:txBody>
          </p:sp>
        </p:grpSp>
        <p:pic>
          <p:nvPicPr>
            <p:cNvPr id="127" name="Picture 126">
              <a:extLst>
                <a:ext uri="{FF2B5EF4-FFF2-40B4-BE49-F238E27FC236}">
                  <a16:creationId xmlns:a16="http://schemas.microsoft.com/office/drawing/2014/main" id="{8CA447E4-1F06-414D-A2AA-E2EAD9229F9B}"/>
                </a:ext>
              </a:extLst>
            </p:cNvPr>
            <p:cNvPicPr>
              <a:picLocks noChangeAspect="1"/>
            </p:cNvPicPr>
            <p:nvPr/>
          </p:nvPicPr>
          <p:blipFill rotWithShape="1">
            <a:blip r:embed="rId4">
              <a:extLst>
                <a:ext uri="{28A0092B-C50C-407E-A947-70E740481C1C}">
                  <a14:useLocalDpi xmlns:a14="http://schemas.microsoft.com/office/drawing/2010/main" val="0"/>
                </a:ext>
              </a:extLst>
            </a:blip>
            <a:srcRect b="49534"/>
            <a:stretch/>
          </p:blipFill>
          <p:spPr>
            <a:xfrm>
              <a:off x="280081" y="2332689"/>
              <a:ext cx="7846142" cy="678899"/>
            </a:xfrm>
            <a:prstGeom prst="rect">
              <a:avLst/>
            </a:prstGeom>
          </p:spPr>
        </p:pic>
      </p:grpSp>
      <p:sp>
        <p:nvSpPr>
          <p:cNvPr id="27" name="Rectangle 2">
            <a:extLst>
              <a:ext uri="{FF2B5EF4-FFF2-40B4-BE49-F238E27FC236}">
                <a16:creationId xmlns:a16="http://schemas.microsoft.com/office/drawing/2014/main" id="{881E0AEE-FCF7-E04C-80F0-76B12DCBF013}"/>
              </a:ext>
            </a:extLst>
          </p:cNvPr>
          <p:cNvSpPr>
            <a:spLocks/>
          </p:cNvSpPr>
          <p:nvPr/>
        </p:nvSpPr>
        <p:spPr bwMode="auto">
          <a:xfrm>
            <a:off x="1915331" y="3530971"/>
            <a:ext cx="6438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i="1" dirty="0">
                <a:latin typeface="Gill Sans MT" panose="020B0502020104020203" pitchFamily="34" charset="77"/>
              </a:rPr>
              <a:t>Block (do not forward) all datagrams destined to TCP port 22</a:t>
            </a:r>
          </a:p>
        </p:txBody>
      </p:sp>
      <p:grpSp>
        <p:nvGrpSpPr>
          <p:cNvPr id="4" name="Group 3">
            <a:extLst>
              <a:ext uri="{FF2B5EF4-FFF2-40B4-BE49-F238E27FC236}">
                <a16:creationId xmlns:a16="http://schemas.microsoft.com/office/drawing/2014/main" id="{5FAB03EF-396F-1549-8146-41725410E372}"/>
              </a:ext>
            </a:extLst>
          </p:cNvPr>
          <p:cNvGrpSpPr/>
          <p:nvPr/>
        </p:nvGrpSpPr>
        <p:grpSpPr>
          <a:xfrm>
            <a:off x="280081" y="4768000"/>
            <a:ext cx="8688925" cy="1037140"/>
            <a:chOff x="280081" y="4768000"/>
            <a:chExt cx="8688925" cy="1037140"/>
          </a:xfrm>
        </p:grpSpPr>
        <p:sp>
          <p:nvSpPr>
            <p:cNvPr id="128" name="Rectangle 3">
              <a:extLst>
                <a:ext uri="{FF2B5EF4-FFF2-40B4-BE49-F238E27FC236}">
                  <a16:creationId xmlns:a16="http://schemas.microsoft.com/office/drawing/2014/main" id="{867E1595-775C-1749-AA79-F98EE1EC1E9A}"/>
                </a:ext>
              </a:extLst>
            </p:cNvPr>
            <p:cNvSpPr>
              <a:spLocks/>
            </p:cNvSpPr>
            <p:nvPr/>
          </p:nvSpPr>
          <p:spPr bwMode="auto">
            <a:xfrm>
              <a:off x="629265" y="5484465"/>
              <a:ext cx="779698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700" dirty="0">
                  <a:latin typeface="Calibri" panose="020F0502020204030204" pitchFamily="34" charset="0"/>
                </a:rPr>
                <a:t>*            *         *          *         *          *                        *           *         *          *                * 		   </a:t>
              </a:r>
            </a:p>
          </p:txBody>
        </p:sp>
        <p:sp>
          <p:nvSpPr>
            <p:cNvPr id="130" name="Rectangle 36">
              <a:extLst>
                <a:ext uri="{FF2B5EF4-FFF2-40B4-BE49-F238E27FC236}">
                  <a16:creationId xmlns:a16="http://schemas.microsoft.com/office/drawing/2014/main" id="{721B9BCA-5AA9-C54A-A39F-EF992AC36186}"/>
                </a:ext>
              </a:extLst>
            </p:cNvPr>
            <p:cNvSpPr>
              <a:spLocks/>
            </p:cNvSpPr>
            <p:nvPr/>
          </p:nvSpPr>
          <p:spPr bwMode="auto">
            <a:xfrm>
              <a:off x="8308606" y="5409324"/>
              <a:ext cx="660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700" dirty="0">
                  <a:solidFill>
                    <a:srgbClr val="FF0000"/>
                  </a:solidFill>
                  <a:latin typeface="Calibri" panose="020F0502020204030204" pitchFamily="34" charset="0"/>
                </a:rPr>
                <a:t>Drop</a:t>
              </a:r>
            </a:p>
          </p:txBody>
        </p:sp>
        <p:grpSp>
          <p:nvGrpSpPr>
            <p:cNvPr id="131" name="Group 130">
              <a:extLst>
                <a:ext uri="{FF2B5EF4-FFF2-40B4-BE49-F238E27FC236}">
                  <a16:creationId xmlns:a16="http://schemas.microsoft.com/office/drawing/2014/main" id="{87C622C8-287A-6E4A-8905-45CD366674E1}"/>
                </a:ext>
              </a:extLst>
            </p:cNvPr>
            <p:cNvGrpSpPr/>
            <p:nvPr/>
          </p:nvGrpSpPr>
          <p:grpSpPr>
            <a:xfrm>
              <a:off x="280081" y="4768000"/>
              <a:ext cx="8688925" cy="678899"/>
              <a:chOff x="280081" y="2332689"/>
              <a:chExt cx="8688925" cy="678899"/>
            </a:xfrm>
          </p:grpSpPr>
          <p:grpSp>
            <p:nvGrpSpPr>
              <p:cNvPr id="132" name="Group 131">
                <a:extLst>
                  <a:ext uri="{FF2B5EF4-FFF2-40B4-BE49-F238E27FC236}">
                    <a16:creationId xmlns:a16="http://schemas.microsoft.com/office/drawing/2014/main" id="{9EE7F7B1-693E-C842-AA65-7A4AE8ED366D}"/>
                  </a:ext>
                </a:extLst>
              </p:cNvPr>
              <p:cNvGrpSpPr/>
              <p:nvPr/>
            </p:nvGrpSpPr>
            <p:grpSpPr>
              <a:xfrm>
                <a:off x="8096726" y="2393302"/>
                <a:ext cx="872280" cy="566207"/>
                <a:chOff x="8096726" y="2393302"/>
                <a:chExt cx="872280" cy="566207"/>
              </a:xfrm>
            </p:grpSpPr>
            <p:sp>
              <p:nvSpPr>
                <p:cNvPr id="134" name="Rectangle 25">
                  <a:extLst>
                    <a:ext uri="{FF2B5EF4-FFF2-40B4-BE49-F238E27FC236}">
                      <a16:creationId xmlns:a16="http://schemas.microsoft.com/office/drawing/2014/main" id="{1192D678-B6A8-084D-9899-87CEB53B3EE3}"/>
                    </a:ext>
                  </a:extLst>
                </p:cNvPr>
                <p:cNvSpPr>
                  <a:spLocks/>
                </p:cNvSpPr>
                <p:nvPr/>
              </p:nvSpPr>
              <p:spPr bwMode="auto">
                <a:xfrm>
                  <a:off x="8096726" y="2393302"/>
                  <a:ext cx="834969" cy="566207"/>
                </a:xfrm>
                <a:prstGeom prst="rect">
                  <a:avLst/>
                </a:prstGeom>
                <a:solidFill>
                  <a:srgbClr val="CBE97B"/>
                </a:solidFill>
                <a:ln w="12700">
                  <a:solidFill>
                    <a:srgbClr val="697D3A"/>
                  </a:solidFill>
                  <a:miter lim="800000"/>
                  <a:headEnd/>
                  <a:tailEnd/>
                </a:ln>
              </p:spPr>
              <p:txBody>
                <a:bodyPr lIns="0" tIns="0" rIns="0" bIns="0"/>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endParaRPr lang="en-US" altLang="en-US">
                    <a:latin typeface="Calibri" panose="020F0502020204030204" pitchFamily="34" charset="0"/>
                  </a:endParaRPr>
                </a:p>
              </p:txBody>
            </p:sp>
            <p:sp>
              <p:nvSpPr>
                <p:cNvPr id="135" name="Rectangle 26">
                  <a:extLst>
                    <a:ext uri="{FF2B5EF4-FFF2-40B4-BE49-F238E27FC236}">
                      <a16:creationId xmlns:a16="http://schemas.microsoft.com/office/drawing/2014/main" id="{359A18BC-D358-7146-A354-1203162E0098}"/>
                    </a:ext>
                  </a:extLst>
                </p:cNvPr>
                <p:cNvSpPr>
                  <a:spLocks/>
                </p:cNvSpPr>
                <p:nvPr/>
              </p:nvSpPr>
              <p:spPr bwMode="auto">
                <a:xfrm>
                  <a:off x="8126223" y="2514095"/>
                  <a:ext cx="842783"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700" dirty="0">
                      <a:latin typeface="Calibri" panose="020F0502020204030204" pitchFamily="34" charset="0"/>
                    </a:rPr>
                    <a:t>Action</a:t>
                  </a:r>
                </a:p>
              </p:txBody>
            </p:sp>
          </p:grpSp>
          <p:pic>
            <p:nvPicPr>
              <p:cNvPr id="133" name="Picture 132">
                <a:extLst>
                  <a:ext uri="{FF2B5EF4-FFF2-40B4-BE49-F238E27FC236}">
                    <a16:creationId xmlns:a16="http://schemas.microsoft.com/office/drawing/2014/main" id="{06A863D3-8E3D-6745-B6F9-77297CB6D5A1}"/>
                  </a:ext>
                </a:extLst>
              </p:cNvPr>
              <p:cNvPicPr>
                <a:picLocks noChangeAspect="1"/>
              </p:cNvPicPr>
              <p:nvPr/>
            </p:nvPicPr>
            <p:blipFill rotWithShape="1">
              <a:blip r:embed="rId4">
                <a:extLst>
                  <a:ext uri="{28A0092B-C50C-407E-A947-70E740481C1C}">
                    <a14:useLocalDpi xmlns:a14="http://schemas.microsoft.com/office/drawing/2010/main" val="0"/>
                  </a:ext>
                </a:extLst>
              </a:blip>
              <a:srcRect b="49534"/>
              <a:stretch/>
            </p:blipFill>
            <p:spPr>
              <a:xfrm>
                <a:off x="280081" y="2332689"/>
                <a:ext cx="7846142" cy="678899"/>
              </a:xfrm>
              <a:prstGeom prst="rect">
                <a:avLst/>
              </a:prstGeom>
            </p:spPr>
          </p:pic>
        </p:grpSp>
        <p:sp>
          <p:nvSpPr>
            <p:cNvPr id="28" name="Rectangle 101">
              <a:extLst>
                <a:ext uri="{FF2B5EF4-FFF2-40B4-BE49-F238E27FC236}">
                  <a16:creationId xmlns:a16="http://schemas.microsoft.com/office/drawing/2014/main" id="{81F3E0BF-C76E-1049-A069-0315675E8CA3}"/>
                </a:ext>
              </a:extLst>
            </p:cNvPr>
            <p:cNvSpPr>
              <a:spLocks/>
            </p:cNvSpPr>
            <p:nvPr/>
          </p:nvSpPr>
          <p:spPr bwMode="auto">
            <a:xfrm>
              <a:off x="3899604" y="5470604"/>
              <a:ext cx="875912" cy="269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dirty="0">
                  <a:solidFill>
                    <a:srgbClr val="FF0000"/>
                  </a:solidFill>
                  <a:latin typeface="Calibri" panose="020F0502020204030204" pitchFamily="34" charset="0"/>
                </a:rPr>
                <a:t>128.119.1.1</a:t>
              </a:r>
            </a:p>
          </p:txBody>
        </p:sp>
      </p:grpSp>
      <p:sp>
        <p:nvSpPr>
          <p:cNvPr id="29" name="Rectangle 2">
            <a:extLst>
              <a:ext uri="{FF2B5EF4-FFF2-40B4-BE49-F238E27FC236}">
                <a16:creationId xmlns:a16="http://schemas.microsoft.com/office/drawing/2014/main" id="{C65BC9EE-A52C-E14E-B6E5-1A7F455AAC7B}"/>
              </a:ext>
            </a:extLst>
          </p:cNvPr>
          <p:cNvSpPr>
            <a:spLocks/>
          </p:cNvSpPr>
          <p:nvPr/>
        </p:nvSpPr>
        <p:spPr bwMode="auto">
          <a:xfrm>
            <a:off x="2194731" y="5926149"/>
            <a:ext cx="6184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lvl1pPr defTabSz="457200">
              <a:defRPr>
                <a:solidFill>
                  <a:schemeClr val="tx1"/>
                </a:solidFill>
                <a:latin typeface="Arial" panose="020B0604020202020204" pitchFamily="34" charset="0"/>
                <a:ea typeface="ＭＳ Ｐゴシック" panose="020B0600070205080204" pitchFamily="34" charset="-128"/>
              </a:defRPr>
            </a:lvl1pPr>
            <a:lvl2pPr marL="742950" indent="-285750" defTabSz="457200">
              <a:defRPr>
                <a:solidFill>
                  <a:schemeClr val="tx1"/>
                </a:solidFill>
                <a:latin typeface="Arial" panose="020B0604020202020204" pitchFamily="34" charset="0"/>
                <a:ea typeface="ＭＳ Ｐゴシック" panose="020B0600070205080204" pitchFamily="34" charset="-128"/>
              </a:defRPr>
            </a:lvl2pPr>
            <a:lvl3pPr marL="1143000" indent="-228600" defTabSz="457200">
              <a:defRPr>
                <a:solidFill>
                  <a:schemeClr val="tx1"/>
                </a:solidFill>
                <a:latin typeface="Arial" panose="020B0604020202020204" pitchFamily="34" charset="0"/>
                <a:ea typeface="ＭＳ Ｐゴシック" panose="020B0600070205080204" pitchFamily="34" charset="-128"/>
              </a:defRPr>
            </a:lvl3pPr>
            <a:lvl4pPr marL="1600200" indent="-228600" defTabSz="457200">
              <a:defRPr>
                <a:solidFill>
                  <a:schemeClr val="tx1"/>
                </a:solidFill>
                <a:latin typeface="Arial" panose="020B0604020202020204" pitchFamily="34" charset="0"/>
                <a:ea typeface="ＭＳ Ｐゴシック" panose="020B0600070205080204" pitchFamily="34" charset="-128"/>
              </a:defRPr>
            </a:lvl4pPr>
            <a:lvl5pPr marL="2057400" indent="-228600" defTabSz="4572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a:r>
              <a:rPr lang="en-US" altLang="en-US" sz="2000" i="1" dirty="0">
                <a:latin typeface="Gill Sans MT" panose="020B0502020104020203" pitchFamily="34" charset="77"/>
              </a:rPr>
              <a:t>Block (do not forward) all datagrams sent by host 128.119.1.1</a:t>
            </a:r>
          </a:p>
        </p:txBody>
      </p:sp>
      <p:sp>
        <p:nvSpPr>
          <p:cNvPr id="30" name="Right Triangle 29">
            <a:extLst>
              <a:ext uri="{FF2B5EF4-FFF2-40B4-BE49-F238E27FC236}">
                <a16:creationId xmlns:a16="http://schemas.microsoft.com/office/drawing/2014/main" id="{BE7A211A-1989-C946-976E-D2416293F8BB}"/>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2"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08606" y="6384487"/>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144</a:t>
            </a:fld>
            <a:endParaRPr lang="en-US" altLang="en-US" dirty="0">
              <a:latin typeface="Tahoma" panose="020B0604030504040204" pitchFamily="34" charset="0"/>
            </a:endParaRPr>
          </a:p>
        </p:txBody>
      </p:sp>
    </p:spTree>
    <p:extLst>
      <p:ext uri="{BB962C8B-B14F-4D97-AF65-F5344CB8AC3E}">
        <p14:creationId xmlns:p14="http://schemas.microsoft.com/office/powerpoint/2010/main" val="9964650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2478B1-CA69-6344-8393-63F87D2C3A65}"/>
              </a:ext>
            </a:extLst>
          </p:cNvPr>
          <p:cNvSpPr>
            <a:spLocks noGrp="1"/>
          </p:cNvSpPr>
          <p:nvPr>
            <p:ph sz="half" idx="1"/>
          </p:nvPr>
        </p:nvSpPr>
        <p:spPr>
          <a:xfrm>
            <a:off x="533400" y="2100938"/>
            <a:ext cx="3810000" cy="4648200"/>
          </a:xfrm>
        </p:spPr>
        <p:txBody>
          <a:bodyPr/>
          <a:lstStyle/>
          <a:p>
            <a:pPr>
              <a:spcBef>
                <a:spcPts val="0"/>
              </a:spcBef>
              <a:buClr>
                <a:srgbClr val="000090"/>
              </a:buClr>
              <a:buFont typeface="Wingdings" charset="2"/>
              <a:buChar char="§"/>
              <a:defRPr/>
            </a:pPr>
            <a:r>
              <a:rPr lang="en-US" dirty="0">
                <a:latin typeface="Calibri" charset="0"/>
              </a:rPr>
              <a:t>Router</a:t>
            </a:r>
          </a:p>
          <a:p>
            <a:pPr marL="677863" lvl="1" indent="-215900">
              <a:spcBef>
                <a:spcPts val="0"/>
              </a:spcBef>
              <a:buClr>
                <a:srgbClr val="000090"/>
              </a:buClr>
              <a:buSzPct val="101000"/>
              <a:buFont typeface="Arial"/>
              <a:buChar char="•"/>
              <a:defRPr/>
            </a:pPr>
            <a:r>
              <a:rPr lang="en-US" sz="2800" i="1" kern="1200" dirty="0">
                <a:solidFill>
                  <a:srgbClr val="CC0000"/>
                </a:solidFill>
                <a:latin typeface="Calibri" panose="020F0502020204030204" pitchFamily="34" charset="0"/>
                <a:ea typeface="ＭＳ Ｐゴシック" panose="020B0600070205080204" pitchFamily="34" charset="-128"/>
                <a:cs typeface="+mn-cs"/>
              </a:rPr>
              <a:t>match</a:t>
            </a:r>
            <a:r>
              <a:rPr lang="en-US" sz="2800" i="1" dirty="0">
                <a:solidFill>
                  <a:srgbClr val="000090"/>
                </a:solidFill>
                <a:latin typeface="Calibri" charset="0"/>
              </a:rPr>
              <a:t>: </a:t>
            </a:r>
            <a:r>
              <a:rPr lang="en-US" sz="2800" dirty="0">
                <a:latin typeface="Calibri" charset="0"/>
              </a:rPr>
              <a:t>longest destination IP prefix</a:t>
            </a:r>
          </a:p>
          <a:p>
            <a:pPr marL="677863" lvl="1" indent="-215900">
              <a:spcBef>
                <a:spcPts val="0"/>
              </a:spcBef>
              <a:buClr>
                <a:srgbClr val="000090"/>
              </a:buClr>
              <a:buSzPct val="101000"/>
              <a:buFont typeface="Arial"/>
              <a:buChar char="•"/>
              <a:defRPr/>
            </a:pPr>
            <a:r>
              <a:rPr lang="en-US" sz="2800" i="1" kern="1200" dirty="0">
                <a:solidFill>
                  <a:srgbClr val="CC0000"/>
                </a:solidFill>
                <a:latin typeface="Calibri" panose="020F0502020204030204" pitchFamily="34" charset="0"/>
                <a:ea typeface="ＭＳ Ｐゴシック" panose="020B0600070205080204" pitchFamily="34" charset="-128"/>
                <a:cs typeface="+mn-cs"/>
              </a:rPr>
              <a:t>action</a:t>
            </a:r>
            <a:r>
              <a:rPr lang="en-US" sz="2800" i="1" dirty="0">
                <a:solidFill>
                  <a:srgbClr val="000090"/>
                </a:solidFill>
                <a:latin typeface="Calibri" charset="0"/>
              </a:rPr>
              <a:t>: </a:t>
            </a:r>
            <a:r>
              <a:rPr lang="en-US" sz="2800" dirty="0">
                <a:latin typeface="Calibri" charset="0"/>
              </a:rPr>
              <a:t>forward out a link</a:t>
            </a:r>
          </a:p>
          <a:p>
            <a:pPr marL="461963" lvl="1" indent="0">
              <a:spcBef>
                <a:spcPts val="0"/>
              </a:spcBef>
              <a:buClr>
                <a:srgbClr val="000090"/>
              </a:buClr>
              <a:buSzPct val="101000"/>
              <a:buNone/>
              <a:defRPr/>
            </a:pPr>
            <a:endParaRPr lang="en-US" sz="2800" dirty="0">
              <a:latin typeface="Calibri" charset="0"/>
            </a:endParaRPr>
          </a:p>
          <a:p>
            <a:pPr marL="338138" indent="-338138">
              <a:spcBef>
                <a:spcPts val="0"/>
              </a:spcBef>
              <a:buClr>
                <a:srgbClr val="000090"/>
              </a:buClr>
              <a:buFont typeface="Wingdings" charset="2"/>
              <a:buChar char="§"/>
              <a:defRPr/>
            </a:pPr>
            <a:r>
              <a:rPr lang="en-US" dirty="0">
                <a:latin typeface="Calibri" charset="0"/>
              </a:rPr>
              <a:t>Switch</a:t>
            </a:r>
          </a:p>
          <a:p>
            <a:pPr marL="677863" lvl="1" indent="-215900">
              <a:spcBef>
                <a:spcPts val="0"/>
              </a:spcBef>
              <a:buClr>
                <a:srgbClr val="000090"/>
              </a:buClr>
              <a:buSzPct val="100000"/>
              <a:buFont typeface="Arial"/>
              <a:buChar char="•"/>
              <a:defRPr/>
            </a:pPr>
            <a:r>
              <a:rPr lang="en-US" sz="2800" i="1" kern="1200" dirty="0">
                <a:solidFill>
                  <a:srgbClr val="CC0000"/>
                </a:solidFill>
                <a:latin typeface="Calibri" panose="020F0502020204030204" pitchFamily="34" charset="0"/>
                <a:ea typeface="ＭＳ Ｐゴシック" panose="020B0600070205080204" pitchFamily="34" charset="-128"/>
                <a:cs typeface="+mn-cs"/>
              </a:rPr>
              <a:t>match</a:t>
            </a:r>
            <a:r>
              <a:rPr lang="en-US" sz="2800" i="1" dirty="0">
                <a:solidFill>
                  <a:srgbClr val="000090"/>
                </a:solidFill>
                <a:latin typeface="Calibri" charset="0"/>
              </a:rPr>
              <a:t>: </a:t>
            </a:r>
            <a:r>
              <a:rPr lang="en-US" sz="2800" dirty="0">
                <a:latin typeface="Calibri" charset="0"/>
              </a:rPr>
              <a:t>destination MAC address</a:t>
            </a:r>
          </a:p>
          <a:p>
            <a:pPr marL="677863" lvl="1" indent="-215900">
              <a:spcBef>
                <a:spcPts val="0"/>
              </a:spcBef>
              <a:buClr>
                <a:srgbClr val="000090"/>
              </a:buClr>
              <a:buSzPct val="100000"/>
              <a:buFont typeface="Arial"/>
              <a:buChar char="•"/>
              <a:defRPr/>
            </a:pPr>
            <a:r>
              <a:rPr lang="en-US" sz="2800" i="1" kern="1200" dirty="0">
                <a:solidFill>
                  <a:srgbClr val="CC0000"/>
                </a:solidFill>
                <a:latin typeface="Calibri" panose="020F0502020204030204" pitchFamily="34" charset="0"/>
                <a:ea typeface="ＭＳ Ｐゴシック" panose="020B0600070205080204" pitchFamily="34" charset="-128"/>
                <a:cs typeface="+mn-cs"/>
              </a:rPr>
              <a:t>action</a:t>
            </a:r>
            <a:r>
              <a:rPr lang="en-US" sz="2800" i="1" dirty="0">
                <a:solidFill>
                  <a:srgbClr val="000090"/>
                </a:solidFill>
                <a:latin typeface="Calibri" charset="0"/>
              </a:rPr>
              <a:t>: </a:t>
            </a:r>
            <a:r>
              <a:rPr lang="en-US" sz="2800" dirty="0">
                <a:latin typeface="Calibri" charset="0"/>
              </a:rPr>
              <a:t>forward or flood</a:t>
            </a:r>
          </a:p>
        </p:txBody>
      </p:sp>
      <p:sp>
        <p:nvSpPr>
          <p:cNvPr id="5" name="Content Placeholder 4">
            <a:extLst>
              <a:ext uri="{FF2B5EF4-FFF2-40B4-BE49-F238E27FC236}">
                <a16:creationId xmlns:a16="http://schemas.microsoft.com/office/drawing/2014/main" id="{1EE6AC6F-F734-1A41-8688-AFC507B252E1}"/>
              </a:ext>
            </a:extLst>
          </p:cNvPr>
          <p:cNvSpPr>
            <a:spLocks noGrp="1"/>
          </p:cNvSpPr>
          <p:nvPr>
            <p:ph sz="half" idx="2"/>
          </p:nvPr>
        </p:nvSpPr>
        <p:spPr>
          <a:xfrm>
            <a:off x="4423610" y="2121576"/>
            <a:ext cx="4057650" cy="4648200"/>
          </a:xfrm>
        </p:spPr>
        <p:txBody>
          <a:bodyPr/>
          <a:lstStyle/>
          <a:p>
            <a:pPr marL="296863" indent="-296863">
              <a:spcBef>
                <a:spcPts val="0"/>
              </a:spcBef>
              <a:buClr>
                <a:srgbClr val="000090"/>
              </a:buClr>
              <a:buFont typeface="Wingdings" charset="2"/>
              <a:buChar char="§"/>
              <a:defRPr/>
            </a:pPr>
            <a:r>
              <a:rPr lang="en-US" dirty="0">
                <a:latin typeface="Calibri" charset="0"/>
              </a:rPr>
              <a:t>Firewall</a:t>
            </a:r>
          </a:p>
          <a:p>
            <a:pPr marL="508000" lvl="1" indent="-219075">
              <a:spcBef>
                <a:spcPts val="0"/>
              </a:spcBef>
              <a:buClr>
                <a:srgbClr val="000090"/>
              </a:buClr>
              <a:buFont typeface="Arial"/>
              <a:buChar char="•"/>
              <a:defRPr/>
            </a:pPr>
            <a:r>
              <a:rPr lang="en-US" sz="2800" i="1" kern="1200" dirty="0">
                <a:solidFill>
                  <a:srgbClr val="CC0000"/>
                </a:solidFill>
                <a:latin typeface="Calibri" panose="020F0502020204030204" pitchFamily="34" charset="0"/>
                <a:ea typeface="ＭＳ Ｐゴシック" panose="020B0600070205080204" pitchFamily="34" charset="-128"/>
                <a:cs typeface="+mn-cs"/>
              </a:rPr>
              <a:t>match</a:t>
            </a:r>
            <a:r>
              <a:rPr lang="en-US" sz="2800" dirty="0">
                <a:latin typeface="Calibri" charset="0"/>
              </a:rPr>
              <a:t>: IP addresses and TCP/UDP port numbers</a:t>
            </a:r>
          </a:p>
          <a:p>
            <a:pPr marL="508000" lvl="1" indent="-219075">
              <a:spcBef>
                <a:spcPts val="0"/>
              </a:spcBef>
              <a:buClr>
                <a:srgbClr val="000090"/>
              </a:buClr>
              <a:buFont typeface="Arial"/>
              <a:buChar char="•"/>
              <a:defRPr/>
            </a:pPr>
            <a:r>
              <a:rPr lang="en-US" sz="2800" i="1" kern="1200" dirty="0">
                <a:solidFill>
                  <a:srgbClr val="CC0000"/>
                </a:solidFill>
                <a:latin typeface="Calibri" panose="020F0502020204030204" pitchFamily="34" charset="0"/>
                <a:ea typeface="ＭＳ Ｐゴシック" panose="020B0600070205080204" pitchFamily="34" charset="-128"/>
                <a:cs typeface="+mn-cs"/>
              </a:rPr>
              <a:t>action</a:t>
            </a:r>
            <a:r>
              <a:rPr lang="en-US" sz="2800" i="1" dirty="0">
                <a:solidFill>
                  <a:srgbClr val="000090"/>
                </a:solidFill>
                <a:latin typeface="Calibri" charset="0"/>
              </a:rPr>
              <a:t>: </a:t>
            </a:r>
            <a:r>
              <a:rPr lang="en-US" sz="2800" dirty="0">
                <a:latin typeface="Calibri" charset="0"/>
              </a:rPr>
              <a:t>permit or deny </a:t>
            </a:r>
          </a:p>
          <a:p>
            <a:pPr marL="288925" lvl="1" indent="0">
              <a:spcBef>
                <a:spcPts val="0"/>
              </a:spcBef>
              <a:buClr>
                <a:srgbClr val="000090"/>
              </a:buClr>
              <a:buNone/>
              <a:defRPr/>
            </a:pPr>
            <a:endParaRPr lang="en-US" sz="2800" dirty="0">
              <a:latin typeface="Calibri" charset="0"/>
            </a:endParaRPr>
          </a:p>
          <a:p>
            <a:pPr marL="296863" indent="-296863">
              <a:spcBef>
                <a:spcPts val="0"/>
              </a:spcBef>
              <a:buClr>
                <a:srgbClr val="000090"/>
              </a:buClr>
              <a:buFont typeface="Wingdings" charset="2"/>
              <a:buChar char="§"/>
              <a:defRPr/>
            </a:pPr>
            <a:r>
              <a:rPr lang="en-US" dirty="0">
                <a:latin typeface="Calibri" charset="0"/>
              </a:rPr>
              <a:t>NAT</a:t>
            </a:r>
          </a:p>
          <a:p>
            <a:pPr marL="519113" lvl="1" indent="-230188">
              <a:spcBef>
                <a:spcPts val="0"/>
              </a:spcBef>
              <a:buClr>
                <a:srgbClr val="000090"/>
              </a:buClr>
              <a:buFont typeface="Arial"/>
              <a:buChar char="•"/>
              <a:defRPr/>
            </a:pPr>
            <a:r>
              <a:rPr lang="en-US" sz="2800" i="1" kern="1200" dirty="0">
                <a:solidFill>
                  <a:srgbClr val="CC0000"/>
                </a:solidFill>
                <a:latin typeface="Calibri" panose="020F0502020204030204" pitchFamily="34" charset="0"/>
                <a:ea typeface="ＭＳ Ｐゴシック" panose="020B0600070205080204" pitchFamily="34" charset="-128"/>
                <a:cs typeface="+mn-cs"/>
              </a:rPr>
              <a:t>match</a:t>
            </a:r>
            <a:r>
              <a:rPr lang="en-US" sz="2800" i="1" dirty="0">
                <a:solidFill>
                  <a:srgbClr val="000090"/>
                </a:solidFill>
                <a:latin typeface="Calibri" charset="0"/>
              </a:rPr>
              <a:t>: </a:t>
            </a:r>
            <a:r>
              <a:rPr lang="en-US" sz="2800" dirty="0">
                <a:latin typeface="Calibri" charset="0"/>
              </a:rPr>
              <a:t>IP address and port</a:t>
            </a:r>
          </a:p>
          <a:p>
            <a:pPr marL="519113" lvl="1" indent="-230188">
              <a:spcBef>
                <a:spcPts val="0"/>
              </a:spcBef>
              <a:buClr>
                <a:srgbClr val="000090"/>
              </a:buClr>
              <a:buFont typeface="Arial"/>
              <a:buChar char="•"/>
              <a:defRPr/>
            </a:pPr>
            <a:r>
              <a:rPr lang="en-US" sz="2800" i="1" kern="1200" dirty="0">
                <a:solidFill>
                  <a:srgbClr val="CC0000"/>
                </a:solidFill>
                <a:latin typeface="Calibri" panose="020F0502020204030204" pitchFamily="34" charset="0"/>
                <a:ea typeface="ＭＳ Ｐゴシック" panose="020B0600070205080204" pitchFamily="34" charset="-128"/>
                <a:cs typeface="+mn-cs"/>
              </a:rPr>
              <a:t>action</a:t>
            </a:r>
            <a:r>
              <a:rPr lang="en-US" sz="2800" i="1" dirty="0">
                <a:solidFill>
                  <a:srgbClr val="000090"/>
                </a:solidFill>
                <a:latin typeface="Calibri" charset="0"/>
              </a:rPr>
              <a:t>: </a:t>
            </a:r>
            <a:r>
              <a:rPr lang="en-US" sz="2800" dirty="0">
                <a:latin typeface="Calibri" charset="0"/>
              </a:rPr>
              <a:t>rewrite address and port</a:t>
            </a:r>
          </a:p>
          <a:p>
            <a:pPr marL="0">
              <a:spcBef>
                <a:spcPts val="0"/>
              </a:spcBef>
              <a:buFont typeface="Wingdings" charset="0"/>
              <a:buChar char="§"/>
              <a:defRPr/>
            </a:pPr>
            <a:endParaRPr lang="en-US" sz="3200" dirty="0">
              <a:latin typeface="Calibri" charset="0"/>
            </a:endParaRPr>
          </a:p>
        </p:txBody>
      </p:sp>
      <p:sp>
        <p:nvSpPr>
          <p:cNvPr id="113670" name="TextBox 1">
            <a:extLst>
              <a:ext uri="{FF2B5EF4-FFF2-40B4-BE49-F238E27FC236}">
                <a16:creationId xmlns:a16="http://schemas.microsoft.com/office/drawing/2014/main" id="{64EA884E-35A7-4B47-A488-93BFCBABE2A6}"/>
              </a:ext>
            </a:extLst>
          </p:cNvPr>
          <p:cNvSpPr txBox="1">
            <a:spLocks noChangeArrowheads="1"/>
          </p:cNvSpPr>
          <p:nvPr/>
        </p:nvSpPr>
        <p:spPr bwMode="auto">
          <a:xfrm>
            <a:off x="-15153" y="1254310"/>
            <a:ext cx="91743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buClr>
                <a:srgbClr val="000090"/>
              </a:buClr>
              <a:buSzPct val="100000"/>
              <a:buFont typeface="Wingdings" pitchFamily="2" charset="2"/>
              <a:buChar char="§"/>
            </a:pPr>
            <a:r>
              <a:rPr lang="en-US" altLang="en-US" sz="2800" i="1" dirty="0" err="1">
                <a:solidFill>
                  <a:srgbClr val="CC0000"/>
                </a:solidFill>
                <a:latin typeface="Calibri" panose="020F0502020204030204" pitchFamily="34" charset="0"/>
              </a:rPr>
              <a:t>match+action</a:t>
            </a:r>
            <a:r>
              <a:rPr lang="en-US" altLang="en-US" sz="2800" i="1" dirty="0">
                <a:solidFill>
                  <a:srgbClr val="CC0000"/>
                </a:solidFill>
                <a:latin typeface="Calibri" panose="020F0502020204030204" pitchFamily="34" charset="0"/>
              </a:rPr>
              <a:t>: abstraction </a:t>
            </a:r>
            <a:r>
              <a:rPr lang="en-US" altLang="en-US" sz="2800" dirty="0">
                <a:latin typeface="Calibri" panose="020F0502020204030204" pitchFamily="34" charset="0"/>
              </a:rPr>
              <a:t>unifies different kinds of devices</a:t>
            </a:r>
            <a:endParaRPr lang="en-US" altLang="en-US" sz="2800" dirty="0"/>
          </a:p>
        </p:txBody>
      </p:sp>
      <p:sp>
        <p:nvSpPr>
          <p:cNvPr id="2" name="Rectangle 1">
            <a:extLst>
              <a:ext uri="{FF2B5EF4-FFF2-40B4-BE49-F238E27FC236}">
                <a16:creationId xmlns:a16="http://schemas.microsoft.com/office/drawing/2014/main" id="{F17DB04A-9C27-5C49-AD24-6813F0D1C281}"/>
              </a:ext>
            </a:extLst>
          </p:cNvPr>
          <p:cNvSpPr/>
          <p:nvPr/>
        </p:nvSpPr>
        <p:spPr bwMode="auto">
          <a:xfrm>
            <a:off x="600075" y="1997979"/>
            <a:ext cx="3743325" cy="2161507"/>
          </a:xfrm>
          <a:prstGeom prst="rect">
            <a:avLst/>
          </a:prstGeom>
          <a:noFill/>
          <a:ln w="9525" cap="flat" cmpd="sng" algn="ctr">
            <a:solidFill>
              <a:schemeClr val="bg1">
                <a:lumMod val="5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0" name="Rectangle 9">
            <a:extLst>
              <a:ext uri="{FF2B5EF4-FFF2-40B4-BE49-F238E27FC236}">
                <a16:creationId xmlns:a16="http://schemas.microsoft.com/office/drawing/2014/main" id="{ADF2FAD7-F220-744F-89EA-F7216D7AA8BE}"/>
              </a:ext>
            </a:extLst>
          </p:cNvPr>
          <p:cNvSpPr/>
          <p:nvPr/>
        </p:nvSpPr>
        <p:spPr bwMode="auto">
          <a:xfrm>
            <a:off x="600075" y="4159486"/>
            <a:ext cx="3743325" cy="2161507"/>
          </a:xfrm>
          <a:prstGeom prst="rect">
            <a:avLst/>
          </a:prstGeom>
          <a:noFill/>
          <a:ln w="9525" cap="flat" cmpd="sng" algn="ctr">
            <a:solidFill>
              <a:schemeClr val="bg1">
                <a:lumMod val="5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1" name="Rectangle 10">
            <a:extLst>
              <a:ext uri="{FF2B5EF4-FFF2-40B4-BE49-F238E27FC236}">
                <a16:creationId xmlns:a16="http://schemas.microsoft.com/office/drawing/2014/main" id="{C8D94F46-034D-5249-9478-AC4DCE9D4FE2}"/>
              </a:ext>
            </a:extLst>
          </p:cNvPr>
          <p:cNvSpPr/>
          <p:nvPr/>
        </p:nvSpPr>
        <p:spPr bwMode="auto">
          <a:xfrm>
            <a:off x="4343400" y="1997979"/>
            <a:ext cx="4210050" cy="2161507"/>
          </a:xfrm>
          <a:prstGeom prst="rect">
            <a:avLst/>
          </a:prstGeom>
          <a:noFill/>
          <a:ln w="9525" cap="flat" cmpd="sng" algn="ctr">
            <a:solidFill>
              <a:schemeClr val="bg1">
                <a:lumMod val="5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Rectangle 11">
            <a:extLst>
              <a:ext uri="{FF2B5EF4-FFF2-40B4-BE49-F238E27FC236}">
                <a16:creationId xmlns:a16="http://schemas.microsoft.com/office/drawing/2014/main" id="{13657E78-C9C0-2B43-B442-F539A2D0B739}"/>
              </a:ext>
            </a:extLst>
          </p:cNvPr>
          <p:cNvSpPr/>
          <p:nvPr/>
        </p:nvSpPr>
        <p:spPr bwMode="auto">
          <a:xfrm>
            <a:off x="4343400" y="4159486"/>
            <a:ext cx="4210050" cy="2161507"/>
          </a:xfrm>
          <a:prstGeom prst="rect">
            <a:avLst/>
          </a:prstGeom>
          <a:noFill/>
          <a:ln w="9525" cap="flat" cmpd="sng" algn="ctr">
            <a:solidFill>
              <a:schemeClr val="bg1">
                <a:lumMod val="50000"/>
              </a:schemeClr>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nvGrpSpPr>
          <p:cNvPr id="15" name="Group 14">
            <a:extLst>
              <a:ext uri="{FF2B5EF4-FFF2-40B4-BE49-F238E27FC236}">
                <a16:creationId xmlns:a16="http://schemas.microsoft.com/office/drawing/2014/main" id="{642E0E7E-2692-ED4A-811A-518466638924}"/>
              </a:ext>
            </a:extLst>
          </p:cNvPr>
          <p:cNvGrpSpPr/>
          <p:nvPr/>
        </p:nvGrpSpPr>
        <p:grpSpPr>
          <a:xfrm>
            <a:off x="0" y="0"/>
            <a:ext cx="9143999" cy="926011"/>
            <a:chOff x="0" y="0"/>
            <a:chExt cx="9143999" cy="926011"/>
          </a:xfrm>
        </p:grpSpPr>
        <p:pic>
          <p:nvPicPr>
            <p:cNvPr id="16" name="Picture 15" descr="Screen Shot 2015-04-08 at 10.38.40 AM.png">
              <a:extLst>
                <a:ext uri="{FF2B5EF4-FFF2-40B4-BE49-F238E27FC236}">
                  <a16:creationId xmlns:a16="http://schemas.microsoft.com/office/drawing/2014/main" id="{D058CA91-DE25-A749-9ABA-4012DD9166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17" name="Picture 16" descr="Screen Shot 2015-04-08 at 10.42.03 AM.png">
              <a:extLst>
                <a:ext uri="{FF2B5EF4-FFF2-40B4-BE49-F238E27FC236}">
                  <a16:creationId xmlns:a16="http://schemas.microsoft.com/office/drawing/2014/main" id="{32FABC4D-37EA-084C-8705-5569BB330B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8" name="Rectangle 2">
            <a:extLst>
              <a:ext uri="{FF2B5EF4-FFF2-40B4-BE49-F238E27FC236}">
                <a16:creationId xmlns:a16="http://schemas.microsoft.com/office/drawing/2014/main" id="{E8A7A89D-C2A4-5849-8AC1-9CC041B35675}"/>
              </a:ext>
            </a:extLst>
          </p:cNvPr>
          <p:cNvSpPr txBox="1">
            <a:spLocks noChangeArrowheads="1"/>
          </p:cNvSpPr>
          <p:nvPr/>
        </p:nvSpPr>
        <p:spPr bwMode="auto">
          <a:xfrm>
            <a:off x="1823167" y="89794"/>
            <a:ext cx="7320835"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bg1"/>
                </a:solidFill>
                <a:latin typeface="Arial"/>
                <a:ea typeface="ＭＳ Ｐゴシック" pitchFamily="34" charset="-128"/>
                <a:cs typeface="Arial"/>
              </a:rPr>
              <a:t>OpenFlow: Abstraction</a:t>
            </a:r>
          </a:p>
        </p:txBody>
      </p:sp>
      <p:sp>
        <p:nvSpPr>
          <p:cNvPr id="13" name="Right Triangle 12">
            <a:extLst>
              <a:ext uri="{FF2B5EF4-FFF2-40B4-BE49-F238E27FC236}">
                <a16:creationId xmlns:a16="http://schemas.microsoft.com/office/drawing/2014/main" id="{5D094819-C358-CB46-8C12-1C956C2FB7FF}"/>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4"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54231" y="6444590"/>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145</a:t>
            </a:fld>
            <a:endParaRPr lang="en-US" altLang="en-US" dirty="0">
              <a:latin typeface="Tahoma" panose="020B0604030504040204" pitchFamily="34" charset="0"/>
            </a:endParaRPr>
          </a:p>
        </p:txBody>
      </p:sp>
    </p:spTree>
    <p:extLst>
      <p:ext uri="{BB962C8B-B14F-4D97-AF65-F5344CB8AC3E}">
        <p14:creationId xmlns:p14="http://schemas.microsoft.com/office/powerpoint/2010/main" val="2854856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build="p"/>
      <p:bldP spid="2" grpId="0" animBg="1"/>
      <p:bldP spid="10" grpId="0" animBg="1"/>
      <p:bldP spid="11" grpId="0" animBg="1"/>
      <p:bldP spid="12"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1F8DAEA6-A5F2-2048-AC8C-FB7957AA6B67}"/>
              </a:ext>
            </a:extLst>
          </p:cNvPr>
          <p:cNvSpPr>
            <a:spLocks noGrp="1"/>
          </p:cNvSpPr>
          <p:nvPr>
            <p:ph type="title"/>
          </p:nvPr>
        </p:nvSpPr>
        <p:spPr>
          <a:xfrm>
            <a:off x="628650" y="1116604"/>
            <a:ext cx="7886700" cy="670967"/>
          </a:xfrm>
        </p:spPr>
        <p:txBody>
          <a:bodyPr>
            <a:normAutofit/>
          </a:bodyPr>
          <a:lstStyle/>
          <a:p>
            <a:r>
              <a:rPr lang="en-US" sz="3600" dirty="0"/>
              <a:t>OpenFlow example</a:t>
            </a:r>
          </a:p>
        </p:txBody>
      </p:sp>
      <p:cxnSp>
        <p:nvCxnSpPr>
          <p:cNvPr id="196" name="Straight Connector 13">
            <a:extLst>
              <a:ext uri="{FF2B5EF4-FFF2-40B4-BE49-F238E27FC236}">
                <a16:creationId xmlns:a16="http://schemas.microsoft.com/office/drawing/2014/main" id="{CB40D880-161F-974F-A9EE-DC429D8528F7}"/>
              </a:ext>
            </a:extLst>
          </p:cNvPr>
          <p:cNvCxnSpPr>
            <a:cxnSpLocks noChangeShapeType="1"/>
          </p:cNvCxnSpPr>
          <p:nvPr/>
        </p:nvCxnSpPr>
        <p:spPr bwMode="auto">
          <a:xfrm>
            <a:off x="3108822" y="2778919"/>
            <a:ext cx="1618059" cy="138469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 name="Straight Connector 11">
            <a:extLst>
              <a:ext uri="{FF2B5EF4-FFF2-40B4-BE49-F238E27FC236}">
                <a16:creationId xmlns:a16="http://schemas.microsoft.com/office/drawing/2014/main" id="{F369C91E-6275-2C49-8D03-6AFE694C55A5}"/>
              </a:ext>
            </a:extLst>
          </p:cNvPr>
          <p:cNvCxnSpPr>
            <a:cxnSpLocks noChangeShapeType="1"/>
          </p:cNvCxnSpPr>
          <p:nvPr/>
        </p:nvCxnSpPr>
        <p:spPr bwMode="auto">
          <a:xfrm>
            <a:off x="3318373" y="4230291"/>
            <a:ext cx="15347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 name="Straight Connector 6">
            <a:extLst>
              <a:ext uri="{FF2B5EF4-FFF2-40B4-BE49-F238E27FC236}">
                <a16:creationId xmlns:a16="http://schemas.microsoft.com/office/drawing/2014/main" id="{8130AC3F-4D6F-7145-8F66-CD05FE33E6E4}"/>
              </a:ext>
            </a:extLst>
          </p:cNvPr>
          <p:cNvCxnSpPr>
            <a:cxnSpLocks noChangeShapeType="1"/>
          </p:cNvCxnSpPr>
          <p:nvPr/>
        </p:nvCxnSpPr>
        <p:spPr bwMode="auto">
          <a:xfrm>
            <a:off x="3169544" y="2875360"/>
            <a:ext cx="0" cy="11811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 name="Straight Connector 64">
            <a:extLst>
              <a:ext uri="{FF2B5EF4-FFF2-40B4-BE49-F238E27FC236}">
                <a16:creationId xmlns:a16="http://schemas.microsoft.com/office/drawing/2014/main" id="{D53BF40B-1E44-474A-A1E4-88E387FB21E7}"/>
              </a:ext>
            </a:extLst>
          </p:cNvPr>
          <p:cNvCxnSpPr>
            <a:cxnSpLocks noChangeShapeType="1"/>
          </p:cNvCxnSpPr>
          <p:nvPr/>
        </p:nvCxnSpPr>
        <p:spPr bwMode="auto">
          <a:xfrm flipH="1">
            <a:off x="3260032" y="3223023"/>
            <a:ext cx="1108472" cy="983456"/>
          </a:xfrm>
          <a:prstGeom prst="line">
            <a:avLst/>
          </a:prstGeom>
          <a:noFill/>
          <a:ln w="12700">
            <a:solidFill>
              <a:srgbClr val="CC0000">
                <a:alpha val="50195"/>
              </a:srgbClr>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0" name="Straight Connector 199">
            <a:extLst>
              <a:ext uri="{FF2B5EF4-FFF2-40B4-BE49-F238E27FC236}">
                <a16:creationId xmlns:a16="http://schemas.microsoft.com/office/drawing/2014/main" id="{F4B29DE4-2EEB-D84D-9D70-6BD80FD57EAC}"/>
              </a:ext>
            </a:extLst>
          </p:cNvPr>
          <p:cNvCxnSpPr/>
          <p:nvPr/>
        </p:nvCxnSpPr>
        <p:spPr>
          <a:xfrm flipH="1" flipV="1">
            <a:off x="3220741" y="4282679"/>
            <a:ext cx="4763" cy="492919"/>
          </a:xfrm>
          <a:prstGeom prst="line">
            <a:avLst/>
          </a:prstGeom>
          <a:noFill/>
          <a:ln w="25400" cap="flat" cmpd="sng" algn="ctr">
            <a:solidFill>
              <a:srgbClr val="000000"/>
            </a:solidFill>
            <a:prstDash val="solid"/>
          </a:ln>
          <a:effectLst/>
        </p:spPr>
      </p:cxnSp>
      <p:cxnSp>
        <p:nvCxnSpPr>
          <p:cNvPr id="201" name="Straight Connector 200">
            <a:extLst>
              <a:ext uri="{FF2B5EF4-FFF2-40B4-BE49-F238E27FC236}">
                <a16:creationId xmlns:a16="http://schemas.microsoft.com/office/drawing/2014/main" id="{D4FF8069-D6E8-734F-B1D2-6BE329F879C7}"/>
              </a:ext>
            </a:extLst>
          </p:cNvPr>
          <p:cNvCxnSpPr/>
          <p:nvPr/>
        </p:nvCxnSpPr>
        <p:spPr>
          <a:xfrm>
            <a:off x="2503985" y="4250531"/>
            <a:ext cx="398859" cy="0"/>
          </a:xfrm>
          <a:prstGeom prst="line">
            <a:avLst/>
          </a:prstGeom>
          <a:noFill/>
          <a:ln w="25400" cap="flat" cmpd="sng" algn="ctr">
            <a:solidFill>
              <a:srgbClr val="000000"/>
            </a:solidFill>
            <a:prstDash val="solid"/>
          </a:ln>
          <a:effectLst/>
        </p:spPr>
      </p:cxnSp>
      <p:grpSp>
        <p:nvGrpSpPr>
          <p:cNvPr id="202" name="Group 44">
            <a:extLst>
              <a:ext uri="{FF2B5EF4-FFF2-40B4-BE49-F238E27FC236}">
                <a16:creationId xmlns:a16="http://schemas.microsoft.com/office/drawing/2014/main" id="{9C4002D9-DF30-D144-9386-64ED23FED52F}"/>
              </a:ext>
            </a:extLst>
          </p:cNvPr>
          <p:cNvGrpSpPr>
            <a:grpSpLocks/>
          </p:cNvGrpSpPr>
          <p:nvPr/>
        </p:nvGrpSpPr>
        <p:grpSpPr bwMode="auto">
          <a:xfrm>
            <a:off x="2055118" y="3889772"/>
            <a:ext cx="567929" cy="471488"/>
            <a:chOff x="-44" y="1473"/>
            <a:chExt cx="981" cy="1105"/>
          </a:xfrm>
        </p:grpSpPr>
        <p:pic>
          <p:nvPicPr>
            <p:cNvPr id="203" name="Picture 45" descr="desktop_computer_stylized_medium">
              <a:extLst>
                <a:ext uri="{FF2B5EF4-FFF2-40B4-BE49-F238E27FC236}">
                  <a16:creationId xmlns:a16="http://schemas.microsoft.com/office/drawing/2014/main" id="{A8DDFC57-A653-E643-878F-2786E68F6B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 name="Freeform 46">
              <a:extLst>
                <a:ext uri="{FF2B5EF4-FFF2-40B4-BE49-F238E27FC236}">
                  <a16:creationId xmlns:a16="http://schemas.microsoft.com/office/drawing/2014/main" id="{3015E4EC-FEA9-5542-ACE6-63401E8006E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a:defRPr/>
              </a:pPr>
              <a:endParaRPr lang="en-US" sz="1350" kern="0">
                <a:solidFill>
                  <a:srgbClr val="000000"/>
                </a:solidFill>
              </a:endParaRPr>
            </a:p>
          </p:txBody>
        </p:sp>
      </p:grpSp>
      <p:grpSp>
        <p:nvGrpSpPr>
          <p:cNvPr id="205" name="Group 44">
            <a:extLst>
              <a:ext uri="{FF2B5EF4-FFF2-40B4-BE49-F238E27FC236}">
                <a16:creationId xmlns:a16="http://schemas.microsoft.com/office/drawing/2014/main" id="{F77FDB30-E2C1-8043-AA3D-41C5428CD580}"/>
              </a:ext>
            </a:extLst>
          </p:cNvPr>
          <p:cNvGrpSpPr>
            <a:grpSpLocks/>
          </p:cNvGrpSpPr>
          <p:nvPr/>
        </p:nvGrpSpPr>
        <p:grpSpPr bwMode="auto">
          <a:xfrm>
            <a:off x="2852837" y="4526756"/>
            <a:ext cx="567929" cy="471488"/>
            <a:chOff x="188" y="1473"/>
            <a:chExt cx="981" cy="1105"/>
          </a:xfrm>
        </p:grpSpPr>
        <p:pic>
          <p:nvPicPr>
            <p:cNvPr id="206" name="Picture 45" descr="desktop_computer_stylized_medium">
              <a:extLst>
                <a:ext uri="{FF2B5EF4-FFF2-40B4-BE49-F238E27FC236}">
                  <a16:creationId xmlns:a16="http://schemas.microsoft.com/office/drawing/2014/main" id="{1052E4EA-6FEA-844A-A25A-AF2C0B49F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88"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 name="Freeform 46">
              <a:extLst>
                <a:ext uri="{FF2B5EF4-FFF2-40B4-BE49-F238E27FC236}">
                  <a16:creationId xmlns:a16="http://schemas.microsoft.com/office/drawing/2014/main" id="{539D824A-2830-1A42-AF13-8ADCB10DACF5}"/>
                </a:ext>
              </a:extLst>
            </p:cNvPr>
            <p:cNvSpPr>
              <a:spLocks/>
            </p:cNvSpPr>
            <p:nvPr/>
          </p:nvSpPr>
          <p:spPr bwMode="auto">
            <a:xfrm flipH="1">
              <a:off x="598" y="1587"/>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a:defRPr/>
              </a:pPr>
              <a:endParaRPr lang="en-US" sz="1350" kern="0">
                <a:solidFill>
                  <a:srgbClr val="000000"/>
                </a:solidFill>
              </a:endParaRPr>
            </a:p>
          </p:txBody>
        </p:sp>
      </p:grpSp>
      <p:sp>
        <p:nvSpPr>
          <p:cNvPr id="208" name="TextBox 9">
            <a:extLst>
              <a:ext uri="{FF2B5EF4-FFF2-40B4-BE49-F238E27FC236}">
                <a16:creationId xmlns:a16="http://schemas.microsoft.com/office/drawing/2014/main" id="{6EDEBC7E-1ACA-5B44-9D83-8900509C0FBC}"/>
              </a:ext>
            </a:extLst>
          </p:cNvPr>
          <p:cNvSpPr txBox="1">
            <a:spLocks noChangeArrowheads="1"/>
          </p:cNvSpPr>
          <p:nvPr/>
        </p:nvSpPr>
        <p:spPr bwMode="auto">
          <a:xfrm>
            <a:off x="1585987" y="4019913"/>
            <a:ext cx="671980"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srgbClr val="0000A8"/>
                </a:solidFill>
                <a:cs typeface="Arial" panose="020B0604020202020204" pitchFamily="34" charset="0"/>
              </a:rPr>
              <a:t>Host h1</a:t>
            </a:r>
          </a:p>
          <a:p>
            <a:pPr algn="ctr" defTabSz="685800">
              <a:defRPr/>
            </a:pPr>
            <a:r>
              <a:rPr lang="en-US" altLang="en-US" sz="1050" dirty="0">
                <a:solidFill>
                  <a:srgbClr val="000000"/>
                </a:solidFill>
                <a:cs typeface="Arial" panose="020B0604020202020204" pitchFamily="34" charset="0"/>
              </a:rPr>
              <a:t>10.1.0.1</a:t>
            </a:r>
          </a:p>
          <a:p>
            <a:pPr algn="ctr" defTabSz="685800">
              <a:defRPr/>
            </a:pPr>
            <a:endParaRPr lang="en-US" altLang="en-US" sz="1050" dirty="0">
              <a:solidFill>
                <a:srgbClr val="000000"/>
              </a:solidFill>
              <a:cs typeface="Arial" panose="020B0604020202020204" pitchFamily="34" charset="0"/>
            </a:endParaRPr>
          </a:p>
        </p:txBody>
      </p:sp>
      <p:sp>
        <p:nvSpPr>
          <p:cNvPr id="209" name="TextBox 58">
            <a:extLst>
              <a:ext uri="{FF2B5EF4-FFF2-40B4-BE49-F238E27FC236}">
                <a16:creationId xmlns:a16="http://schemas.microsoft.com/office/drawing/2014/main" id="{E1178F66-20DC-9147-A60A-B4A736E861E4}"/>
              </a:ext>
            </a:extLst>
          </p:cNvPr>
          <p:cNvSpPr txBox="1">
            <a:spLocks noChangeArrowheads="1"/>
          </p:cNvSpPr>
          <p:nvPr/>
        </p:nvSpPr>
        <p:spPr bwMode="auto">
          <a:xfrm>
            <a:off x="2927485" y="4947305"/>
            <a:ext cx="671979"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dirty="0">
                <a:solidFill>
                  <a:srgbClr val="0000A8"/>
                </a:solidFill>
                <a:cs typeface="Arial" panose="020B0604020202020204" pitchFamily="34" charset="0"/>
              </a:rPr>
              <a:t>Host h2</a:t>
            </a:r>
          </a:p>
          <a:p>
            <a:pPr defTabSz="685800">
              <a:defRPr/>
            </a:pPr>
            <a:r>
              <a:rPr lang="en-US" altLang="en-US" sz="1050" dirty="0">
                <a:solidFill>
                  <a:srgbClr val="000000"/>
                </a:solidFill>
                <a:cs typeface="Arial" panose="020B0604020202020204" pitchFamily="34" charset="0"/>
              </a:rPr>
              <a:t>10.1.0.2</a:t>
            </a:r>
          </a:p>
          <a:p>
            <a:pPr defTabSz="685800">
              <a:defRPr/>
            </a:pPr>
            <a:endParaRPr lang="en-US" altLang="en-US" sz="1350" dirty="0">
              <a:solidFill>
                <a:srgbClr val="000000"/>
              </a:solidFill>
              <a:cs typeface="Arial" panose="020B0604020202020204" pitchFamily="34" charset="0"/>
            </a:endParaRPr>
          </a:p>
        </p:txBody>
      </p:sp>
      <p:cxnSp>
        <p:nvCxnSpPr>
          <p:cNvPr id="210" name="Straight Connector 209">
            <a:extLst>
              <a:ext uri="{FF2B5EF4-FFF2-40B4-BE49-F238E27FC236}">
                <a16:creationId xmlns:a16="http://schemas.microsoft.com/office/drawing/2014/main" id="{A1F07088-AD69-CB45-9BB2-8DB8C9FEDA25}"/>
              </a:ext>
            </a:extLst>
          </p:cNvPr>
          <p:cNvCxnSpPr/>
          <p:nvPr/>
        </p:nvCxnSpPr>
        <p:spPr>
          <a:xfrm flipV="1">
            <a:off x="4494710" y="4283869"/>
            <a:ext cx="229790" cy="367904"/>
          </a:xfrm>
          <a:prstGeom prst="line">
            <a:avLst/>
          </a:prstGeom>
          <a:noFill/>
          <a:ln w="25400" cap="flat" cmpd="sng" algn="ctr">
            <a:solidFill>
              <a:srgbClr val="000000"/>
            </a:solidFill>
            <a:prstDash val="solid"/>
          </a:ln>
          <a:effectLst/>
        </p:spPr>
      </p:cxnSp>
      <p:cxnSp>
        <p:nvCxnSpPr>
          <p:cNvPr id="211" name="Straight Connector 210">
            <a:extLst>
              <a:ext uri="{FF2B5EF4-FFF2-40B4-BE49-F238E27FC236}">
                <a16:creationId xmlns:a16="http://schemas.microsoft.com/office/drawing/2014/main" id="{76CB3FF4-5E87-DD4D-9275-FA1D2385BBC2}"/>
              </a:ext>
            </a:extLst>
          </p:cNvPr>
          <p:cNvCxnSpPr/>
          <p:nvPr/>
        </p:nvCxnSpPr>
        <p:spPr>
          <a:xfrm>
            <a:off x="5060256" y="4193381"/>
            <a:ext cx="398860" cy="0"/>
          </a:xfrm>
          <a:prstGeom prst="line">
            <a:avLst/>
          </a:prstGeom>
          <a:noFill/>
          <a:ln w="25400" cap="flat" cmpd="sng" algn="ctr">
            <a:solidFill>
              <a:srgbClr val="000000"/>
            </a:solidFill>
            <a:prstDash val="solid"/>
          </a:ln>
          <a:effectLst/>
        </p:spPr>
      </p:cxnSp>
      <p:grpSp>
        <p:nvGrpSpPr>
          <p:cNvPr id="212" name="Group 44">
            <a:extLst>
              <a:ext uri="{FF2B5EF4-FFF2-40B4-BE49-F238E27FC236}">
                <a16:creationId xmlns:a16="http://schemas.microsoft.com/office/drawing/2014/main" id="{AF067C68-E87B-E64B-9EA0-8C576193E2D5}"/>
              </a:ext>
            </a:extLst>
          </p:cNvPr>
          <p:cNvGrpSpPr>
            <a:grpSpLocks/>
          </p:cNvGrpSpPr>
          <p:nvPr/>
        </p:nvGrpSpPr>
        <p:grpSpPr bwMode="auto">
          <a:xfrm>
            <a:off x="5215037" y="4023122"/>
            <a:ext cx="567929" cy="471488"/>
            <a:chOff x="-44" y="1473"/>
            <a:chExt cx="981" cy="1105"/>
          </a:xfrm>
        </p:grpSpPr>
        <p:pic>
          <p:nvPicPr>
            <p:cNvPr id="213" name="Picture 45" descr="desktop_computer_stylized_medium">
              <a:extLst>
                <a:ext uri="{FF2B5EF4-FFF2-40B4-BE49-F238E27FC236}">
                  <a16:creationId xmlns:a16="http://schemas.microsoft.com/office/drawing/2014/main" id="{58222FD7-FAC0-9048-861D-C7FB905DAB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Freeform 46">
              <a:extLst>
                <a:ext uri="{FF2B5EF4-FFF2-40B4-BE49-F238E27FC236}">
                  <a16:creationId xmlns:a16="http://schemas.microsoft.com/office/drawing/2014/main" id="{4F99949B-902B-5C48-B8F4-C60B9A1C94B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a:defRPr/>
              </a:pPr>
              <a:endParaRPr lang="en-US" sz="1350" kern="0">
                <a:solidFill>
                  <a:srgbClr val="000000"/>
                </a:solidFill>
              </a:endParaRPr>
            </a:p>
          </p:txBody>
        </p:sp>
      </p:grpSp>
      <p:grpSp>
        <p:nvGrpSpPr>
          <p:cNvPr id="215" name="Group 44">
            <a:extLst>
              <a:ext uri="{FF2B5EF4-FFF2-40B4-BE49-F238E27FC236}">
                <a16:creationId xmlns:a16="http://schemas.microsoft.com/office/drawing/2014/main" id="{BB96A80F-DF20-D84A-83F9-B02CA294C3CB}"/>
              </a:ext>
            </a:extLst>
          </p:cNvPr>
          <p:cNvGrpSpPr>
            <a:grpSpLocks/>
          </p:cNvGrpSpPr>
          <p:nvPr/>
        </p:nvGrpSpPr>
        <p:grpSpPr bwMode="auto">
          <a:xfrm>
            <a:off x="4106566" y="4483894"/>
            <a:ext cx="567928" cy="471488"/>
            <a:chOff x="-44" y="1473"/>
            <a:chExt cx="981" cy="1105"/>
          </a:xfrm>
        </p:grpSpPr>
        <p:pic>
          <p:nvPicPr>
            <p:cNvPr id="216" name="Picture 45" descr="desktop_computer_stylized_medium">
              <a:extLst>
                <a:ext uri="{FF2B5EF4-FFF2-40B4-BE49-F238E27FC236}">
                  <a16:creationId xmlns:a16="http://schemas.microsoft.com/office/drawing/2014/main" id="{33CD0307-64FA-664C-937F-8AEF1F767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 name="Freeform 46">
              <a:extLst>
                <a:ext uri="{FF2B5EF4-FFF2-40B4-BE49-F238E27FC236}">
                  <a16:creationId xmlns:a16="http://schemas.microsoft.com/office/drawing/2014/main" id="{7E09CDE0-C828-BD49-ABFC-D01B3B77796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a:defRPr/>
              </a:pPr>
              <a:endParaRPr lang="en-US" sz="1350" kern="0">
                <a:solidFill>
                  <a:srgbClr val="000000"/>
                </a:solidFill>
              </a:endParaRPr>
            </a:p>
          </p:txBody>
        </p:sp>
      </p:grpSp>
      <p:sp>
        <p:nvSpPr>
          <p:cNvPr id="218" name="TextBox 70">
            <a:extLst>
              <a:ext uri="{FF2B5EF4-FFF2-40B4-BE49-F238E27FC236}">
                <a16:creationId xmlns:a16="http://schemas.microsoft.com/office/drawing/2014/main" id="{F1E4672C-055C-0040-BA1C-1B569384F2BF}"/>
              </a:ext>
            </a:extLst>
          </p:cNvPr>
          <p:cNvSpPr txBox="1">
            <a:spLocks noChangeArrowheads="1"/>
          </p:cNvSpPr>
          <p:nvPr/>
        </p:nvSpPr>
        <p:spPr bwMode="auto">
          <a:xfrm>
            <a:off x="5734461" y="4044554"/>
            <a:ext cx="671979"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dirty="0">
                <a:solidFill>
                  <a:srgbClr val="0000A8"/>
                </a:solidFill>
                <a:cs typeface="Arial" panose="020B0604020202020204" pitchFamily="34" charset="0"/>
              </a:rPr>
              <a:t>Host h4</a:t>
            </a:r>
          </a:p>
          <a:p>
            <a:pPr defTabSz="685800">
              <a:defRPr/>
            </a:pPr>
            <a:r>
              <a:rPr lang="en-US" altLang="en-US" sz="1050" dirty="0">
                <a:solidFill>
                  <a:srgbClr val="000000"/>
                </a:solidFill>
                <a:cs typeface="Arial" panose="020B0604020202020204" pitchFamily="34" charset="0"/>
              </a:rPr>
              <a:t>10.2.0.4</a:t>
            </a:r>
          </a:p>
          <a:p>
            <a:pPr defTabSz="685800">
              <a:defRPr/>
            </a:pPr>
            <a:endParaRPr lang="en-US" altLang="en-US" sz="1350" dirty="0">
              <a:solidFill>
                <a:srgbClr val="000000"/>
              </a:solidFill>
              <a:cs typeface="Arial" panose="020B0604020202020204" pitchFamily="34" charset="0"/>
            </a:endParaRPr>
          </a:p>
        </p:txBody>
      </p:sp>
      <p:sp>
        <p:nvSpPr>
          <p:cNvPr id="219" name="TextBox 71">
            <a:extLst>
              <a:ext uri="{FF2B5EF4-FFF2-40B4-BE49-F238E27FC236}">
                <a16:creationId xmlns:a16="http://schemas.microsoft.com/office/drawing/2014/main" id="{7D1D7A82-2B90-124D-8B70-788F9A13A785}"/>
              </a:ext>
            </a:extLst>
          </p:cNvPr>
          <p:cNvSpPr txBox="1">
            <a:spLocks noChangeArrowheads="1"/>
          </p:cNvSpPr>
          <p:nvPr/>
        </p:nvSpPr>
        <p:spPr bwMode="auto">
          <a:xfrm>
            <a:off x="4143681" y="4869605"/>
            <a:ext cx="671979"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dirty="0">
                <a:solidFill>
                  <a:srgbClr val="0000A8"/>
                </a:solidFill>
                <a:cs typeface="Arial" panose="020B0604020202020204" pitchFamily="34" charset="0"/>
              </a:rPr>
              <a:t>Host h3</a:t>
            </a:r>
          </a:p>
          <a:p>
            <a:pPr defTabSz="685800">
              <a:defRPr/>
            </a:pPr>
            <a:r>
              <a:rPr lang="en-US" altLang="en-US" sz="1050" dirty="0">
                <a:solidFill>
                  <a:srgbClr val="000000"/>
                </a:solidFill>
                <a:cs typeface="Arial" panose="020B0604020202020204" pitchFamily="34" charset="0"/>
              </a:rPr>
              <a:t>10.2.0.3</a:t>
            </a:r>
          </a:p>
          <a:p>
            <a:pPr defTabSz="685800">
              <a:defRPr/>
            </a:pPr>
            <a:endParaRPr lang="en-US" altLang="en-US" sz="1350" dirty="0">
              <a:solidFill>
                <a:srgbClr val="000000"/>
              </a:solidFill>
              <a:cs typeface="Arial" panose="020B0604020202020204" pitchFamily="34" charset="0"/>
            </a:endParaRPr>
          </a:p>
        </p:txBody>
      </p:sp>
      <p:cxnSp>
        <p:nvCxnSpPr>
          <p:cNvPr id="220" name="Straight Connector 219">
            <a:extLst>
              <a:ext uri="{FF2B5EF4-FFF2-40B4-BE49-F238E27FC236}">
                <a16:creationId xmlns:a16="http://schemas.microsoft.com/office/drawing/2014/main" id="{A2B5B59C-D9F3-FA4D-8B80-E6E965F14CB4}"/>
              </a:ext>
            </a:extLst>
          </p:cNvPr>
          <p:cNvCxnSpPr/>
          <p:nvPr/>
        </p:nvCxnSpPr>
        <p:spPr>
          <a:xfrm>
            <a:off x="2512318" y="2868216"/>
            <a:ext cx="529829" cy="0"/>
          </a:xfrm>
          <a:prstGeom prst="line">
            <a:avLst/>
          </a:prstGeom>
          <a:noFill/>
          <a:ln w="25400" cap="flat" cmpd="sng" algn="ctr">
            <a:solidFill>
              <a:srgbClr val="000000"/>
            </a:solidFill>
            <a:prstDash val="solid"/>
          </a:ln>
          <a:effectLst/>
        </p:spPr>
      </p:cxnSp>
      <p:cxnSp>
        <p:nvCxnSpPr>
          <p:cNvPr id="221" name="Straight Connector 220">
            <a:extLst>
              <a:ext uri="{FF2B5EF4-FFF2-40B4-BE49-F238E27FC236}">
                <a16:creationId xmlns:a16="http://schemas.microsoft.com/office/drawing/2014/main" id="{46ED07FB-874E-784B-B948-DE3F22F518D9}"/>
              </a:ext>
            </a:extLst>
          </p:cNvPr>
          <p:cNvCxnSpPr/>
          <p:nvPr/>
        </p:nvCxnSpPr>
        <p:spPr>
          <a:xfrm flipV="1">
            <a:off x="3245744" y="2368153"/>
            <a:ext cx="0" cy="355997"/>
          </a:xfrm>
          <a:prstGeom prst="line">
            <a:avLst/>
          </a:prstGeom>
          <a:noFill/>
          <a:ln w="25400" cap="flat" cmpd="sng" algn="ctr">
            <a:solidFill>
              <a:srgbClr val="000000"/>
            </a:solidFill>
            <a:prstDash val="solid"/>
          </a:ln>
          <a:effectLst/>
        </p:spPr>
      </p:cxnSp>
      <p:grpSp>
        <p:nvGrpSpPr>
          <p:cNvPr id="222" name="Group 44">
            <a:extLst>
              <a:ext uri="{FF2B5EF4-FFF2-40B4-BE49-F238E27FC236}">
                <a16:creationId xmlns:a16="http://schemas.microsoft.com/office/drawing/2014/main" id="{7AD81740-508B-C947-8F31-2442A83D9910}"/>
              </a:ext>
            </a:extLst>
          </p:cNvPr>
          <p:cNvGrpSpPr>
            <a:grpSpLocks/>
          </p:cNvGrpSpPr>
          <p:nvPr/>
        </p:nvGrpSpPr>
        <p:grpSpPr bwMode="auto">
          <a:xfrm>
            <a:off x="2884985" y="2074069"/>
            <a:ext cx="567928" cy="471488"/>
            <a:chOff x="-44" y="1473"/>
            <a:chExt cx="981" cy="1105"/>
          </a:xfrm>
        </p:grpSpPr>
        <p:pic>
          <p:nvPicPr>
            <p:cNvPr id="223" name="Picture 45" descr="desktop_computer_stylized_medium">
              <a:extLst>
                <a:ext uri="{FF2B5EF4-FFF2-40B4-BE49-F238E27FC236}">
                  <a16:creationId xmlns:a16="http://schemas.microsoft.com/office/drawing/2014/main" id="{2C016883-9484-5C4D-B14D-EA3364FB62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 name="Freeform 46">
              <a:extLst>
                <a:ext uri="{FF2B5EF4-FFF2-40B4-BE49-F238E27FC236}">
                  <a16:creationId xmlns:a16="http://schemas.microsoft.com/office/drawing/2014/main" id="{F5C81A08-61C3-3E43-A943-49A53106C87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a:defRPr/>
              </a:pPr>
              <a:endParaRPr lang="en-US" sz="1350" kern="0">
                <a:solidFill>
                  <a:srgbClr val="000000"/>
                </a:solidFill>
              </a:endParaRPr>
            </a:p>
          </p:txBody>
        </p:sp>
      </p:grpSp>
      <p:grpSp>
        <p:nvGrpSpPr>
          <p:cNvPr id="225" name="Group 44">
            <a:extLst>
              <a:ext uri="{FF2B5EF4-FFF2-40B4-BE49-F238E27FC236}">
                <a16:creationId xmlns:a16="http://schemas.microsoft.com/office/drawing/2014/main" id="{8C13A896-FAF2-1944-9E6A-653D596FBABE}"/>
              </a:ext>
            </a:extLst>
          </p:cNvPr>
          <p:cNvGrpSpPr>
            <a:grpSpLocks/>
          </p:cNvGrpSpPr>
          <p:nvPr/>
        </p:nvGrpSpPr>
        <p:grpSpPr bwMode="auto">
          <a:xfrm>
            <a:off x="2094410" y="2778659"/>
            <a:ext cx="567928" cy="471488"/>
            <a:chOff x="-44" y="1473"/>
            <a:chExt cx="981" cy="1105"/>
          </a:xfrm>
        </p:grpSpPr>
        <p:pic>
          <p:nvPicPr>
            <p:cNvPr id="226" name="Picture 45" descr="desktop_computer_stylized_medium">
              <a:extLst>
                <a:ext uri="{FF2B5EF4-FFF2-40B4-BE49-F238E27FC236}">
                  <a16:creationId xmlns:a16="http://schemas.microsoft.com/office/drawing/2014/main" id="{170E5B83-C729-6B4F-8607-FA40D2628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 name="Freeform 46">
              <a:extLst>
                <a:ext uri="{FF2B5EF4-FFF2-40B4-BE49-F238E27FC236}">
                  <a16:creationId xmlns:a16="http://schemas.microsoft.com/office/drawing/2014/main" id="{DA39ACBD-A915-6D4A-817E-BF1203C22A6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a:defRPr/>
              </a:pPr>
              <a:endParaRPr lang="en-US" sz="1350" kern="0">
                <a:solidFill>
                  <a:srgbClr val="000000"/>
                </a:solidFill>
              </a:endParaRPr>
            </a:p>
          </p:txBody>
        </p:sp>
      </p:grpSp>
      <p:sp>
        <p:nvSpPr>
          <p:cNvPr id="228" name="TextBox 83">
            <a:extLst>
              <a:ext uri="{FF2B5EF4-FFF2-40B4-BE49-F238E27FC236}">
                <a16:creationId xmlns:a16="http://schemas.microsoft.com/office/drawing/2014/main" id="{30CFD95A-683A-934C-A7FE-C30EB256820F}"/>
              </a:ext>
            </a:extLst>
          </p:cNvPr>
          <p:cNvSpPr txBox="1">
            <a:spLocks noChangeArrowheads="1"/>
          </p:cNvSpPr>
          <p:nvPr/>
        </p:nvSpPr>
        <p:spPr bwMode="auto">
          <a:xfrm>
            <a:off x="2137634" y="3156087"/>
            <a:ext cx="67198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srgbClr val="0000A8"/>
                </a:solidFill>
                <a:cs typeface="Arial" panose="020B0604020202020204" pitchFamily="34" charset="0"/>
              </a:rPr>
              <a:t>Host h5</a:t>
            </a:r>
          </a:p>
          <a:p>
            <a:pPr algn="ctr" defTabSz="685800">
              <a:defRPr/>
            </a:pPr>
            <a:r>
              <a:rPr lang="en-US" altLang="en-US" sz="1050" dirty="0">
                <a:solidFill>
                  <a:srgbClr val="000000"/>
                </a:solidFill>
                <a:cs typeface="Arial" panose="020B0604020202020204" pitchFamily="34" charset="0"/>
              </a:rPr>
              <a:t>10.3.0.5</a:t>
            </a:r>
          </a:p>
        </p:txBody>
      </p:sp>
      <p:sp>
        <p:nvSpPr>
          <p:cNvPr id="229" name="TextBox 92">
            <a:extLst>
              <a:ext uri="{FF2B5EF4-FFF2-40B4-BE49-F238E27FC236}">
                <a16:creationId xmlns:a16="http://schemas.microsoft.com/office/drawing/2014/main" id="{988CB387-3820-3A4C-A283-BDC5D16D3F54}"/>
              </a:ext>
            </a:extLst>
          </p:cNvPr>
          <p:cNvSpPr txBox="1">
            <a:spLocks noChangeArrowheads="1"/>
          </p:cNvSpPr>
          <p:nvPr/>
        </p:nvSpPr>
        <p:spPr bwMode="auto">
          <a:xfrm>
            <a:off x="3217169" y="3819525"/>
            <a:ext cx="36740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srgbClr val="C00000"/>
                </a:solidFill>
                <a:cs typeface="Arial" panose="020B0604020202020204" pitchFamily="34" charset="0"/>
              </a:rPr>
              <a:t>s1</a:t>
            </a:r>
          </a:p>
        </p:txBody>
      </p:sp>
      <p:sp>
        <p:nvSpPr>
          <p:cNvPr id="230" name="TextBox 93">
            <a:extLst>
              <a:ext uri="{FF2B5EF4-FFF2-40B4-BE49-F238E27FC236}">
                <a16:creationId xmlns:a16="http://schemas.microsoft.com/office/drawing/2014/main" id="{CBFD7310-8113-634E-8357-DF51674B59F8}"/>
              </a:ext>
            </a:extLst>
          </p:cNvPr>
          <p:cNvSpPr txBox="1">
            <a:spLocks noChangeArrowheads="1"/>
          </p:cNvSpPr>
          <p:nvPr/>
        </p:nvSpPr>
        <p:spPr bwMode="auto">
          <a:xfrm>
            <a:off x="4837610" y="3839766"/>
            <a:ext cx="36740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srgbClr val="C00000"/>
                </a:solidFill>
                <a:cs typeface="Arial" panose="020B0604020202020204" pitchFamily="34" charset="0"/>
              </a:rPr>
              <a:t>s2</a:t>
            </a:r>
          </a:p>
        </p:txBody>
      </p:sp>
      <p:sp>
        <p:nvSpPr>
          <p:cNvPr id="231" name="TextBox 94">
            <a:extLst>
              <a:ext uri="{FF2B5EF4-FFF2-40B4-BE49-F238E27FC236}">
                <a16:creationId xmlns:a16="http://schemas.microsoft.com/office/drawing/2014/main" id="{3350DC8E-7B2E-2744-9A7F-5D80CDC27DFD}"/>
              </a:ext>
            </a:extLst>
          </p:cNvPr>
          <p:cNvSpPr txBox="1">
            <a:spLocks noChangeArrowheads="1"/>
          </p:cNvSpPr>
          <p:nvPr/>
        </p:nvSpPr>
        <p:spPr bwMode="auto">
          <a:xfrm>
            <a:off x="3380285" y="2483644"/>
            <a:ext cx="36740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srgbClr val="C00000"/>
                </a:solidFill>
                <a:cs typeface="Arial" panose="020B0604020202020204" pitchFamily="34" charset="0"/>
              </a:rPr>
              <a:t>s3</a:t>
            </a:r>
          </a:p>
        </p:txBody>
      </p:sp>
      <p:cxnSp>
        <p:nvCxnSpPr>
          <p:cNvPr id="232" name="Straight Connector 99">
            <a:extLst>
              <a:ext uri="{FF2B5EF4-FFF2-40B4-BE49-F238E27FC236}">
                <a16:creationId xmlns:a16="http://schemas.microsoft.com/office/drawing/2014/main" id="{D82A6EC4-C796-AD40-976D-1FD13F41BA9C}"/>
              </a:ext>
            </a:extLst>
          </p:cNvPr>
          <p:cNvCxnSpPr>
            <a:cxnSpLocks noChangeShapeType="1"/>
          </p:cNvCxnSpPr>
          <p:nvPr/>
        </p:nvCxnSpPr>
        <p:spPr bwMode="auto">
          <a:xfrm>
            <a:off x="3260031" y="3011092"/>
            <a:ext cx="1044179" cy="164306"/>
          </a:xfrm>
          <a:prstGeom prst="line">
            <a:avLst/>
          </a:prstGeom>
          <a:noFill/>
          <a:ln w="12700">
            <a:solidFill>
              <a:srgbClr val="CC0000">
                <a:alpha val="50195"/>
              </a:srgbClr>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3" name="Straight Connector 102">
            <a:extLst>
              <a:ext uri="{FF2B5EF4-FFF2-40B4-BE49-F238E27FC236}">
                <a16:creationId xmlns:a16="http://schemas.microsoft.com/office/drawing/2014/main" id="{168D649A-E996-4E4B-9CE2-4CE19077F1E3}"/>
              </a:ext>
            </a:extLst>
          </p:cNvPr>
          <p:cNvCxnSpPr>
            <a:cxnSpLocks noChangeShapeType="1"/>
          </p:cNvCxnSpPr>
          <p:nvPr/>
        </p:nvCxnSpPr>
        <p:spPr bwMode="auto">
          <a:xfrm>
            <a:off x="4368503" y="3223022"/>
            <a:ext cx="400050" cy="732234"/>
          </a:xfrm>
          <a:prstGeom prst="line">
            <a:avLst/>
          </a:prstGeom>
          <a:noFill/>
          <a:ln w="12700">
            <a:solidFill>
              <a:srgbClr val="CC0000">
                <a:alpha val="50195"/>
              </a:srgbClr>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4" name="TextBox 108">
            <a:extLst>
              <a:ext uri="{FF2B5EF4-FFF2-40B4-BE49-F238E27FC236}">
                <a16:creationId xmlns:a16="http://schemas.microsoft.com/office/drawing/2014/main" id="{C24D254F-852A-5041-BE42-3D1E0FD07260}"/>
              </a:ext>
            </a:extLst>
          </p:cNvPr>
          <p:cNvSpPr txBox="1">
            <a:spLocks noChangeArrowheads="1"/>
          </p:cNvSpPr>
          <p:nvPr/>
        </p:nvSpPr>
        <p:spPr bwMode="auto">
          <a:xfrm>
            <a:off x="3088581" y="2487216"/>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1</a:t>
            </a:r>
          </a:p>
        </p:txBody>
      </p:sp>
      <p:sp>
        <p:nvSpPr>
          <p:cNvPr id="235" name="TextBox 109">
            <a:extLst>
              <a:ext uri="{FF2B5EF4-FFF2-40B4-BE49-F238E27FC236}">
                <a16:creationId xmlns:a16="http://schemas.microsoft.com/office/drawing/2014/main" id="{1B4722FF-BC4E-B24E-AAF9-4CFBDCD18BEC}"/>
              </a:ext>
            </a:extLst>
          </p:cNvPr>
          <p:cNvSpPr txBox="1">
            <a:spLocks noChangeArrowheads="1"/>
          </p:cNvSpPr>
          <p:nvPr/>
        </p:nvSpPr>
        <p:spPr bwMode="auto">
          <a:xfrm>
            <a:off x="2737347" y="267176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2</a:t>
            </a:r>
          </a:p>
        </p:txBody>
      </p:sp>
      <p:sp>
        <p:nvSpPr>
          <p:cNvPr id="236" name="TextBox 110">
            <a:extLst>
              <a:ext uri="{FF2B5EF4-FFF2-40B4-BE49-F238E27FC236}">
                <a16:creationId xmlns:a16="http://schemas.microsoft.com/office/drawing/2014/main" id="{99E43DED-25B4-764C-B475-987E9899AFD7}"/>
              </a:ext>
            </a:extLst>
          </p:cNvPr>
          <p:cNvSpPr txBox="1">
            <a:spLocks noChangeArrowheads="1"/>
          </p:cNvSpPr>
          <p:nvPr/>
        </p:nvSpPr>
        <p:spPr bwMode="auto">
          <a:xfrm>
            <a:off x="3013572" y="2950421"/>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dirty="0">
                <a:solidFill>
                  <a:srgbClr val="000000"/>
                </a:solidFill>
                <a:cs typeface="Arial" panose="020B0604020202020204" pitchFamily="34" charset="0"/>
              </a:rPr>
              <a:t>3</a:t>
            </a:r>
          </a:p>
        </p:txBody>
      </p:sp>
      <p:sp>
        <p:nvSpPr>
          <p:cNvPr id="237" name="TextBox 111">
            <a:extLst>
              <a:ext uri="{FF2B5EF4-FFF2-40B4-BE49-F238E27FC236}">
                <a16:creationId xmlns:a16="http://schemas.microsoft.com/office/drawing/2014/main" id="{60CD7B1B-6C0C-414A-A6F4-2C724B1110A4}"/>
              </a:ext>
            </a:extLst>
          </p:cNvPr>
          <p:cNvSpPr txBox="1">
            <a:spLocks noChangeArrowheads="1"/>
          </p:cNvSpPr>
          <p:nvPr/>
        </p:nvSpPr>
        <p:spPr bwMode="auto">
          <a:xfrm>
            <a:off x="3371950" y="2872979"/>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4</a:t>
            </a:r>
          </a:p>
        </p:txBody>
      </p:sp>
      <p:sp>
        <p:nvSpPr>
          <p:cNvPr id="238" name="TextBox 112">
            <a:extLst>
              <a:ext uri="{FF2B5EF4-FFF2-40B4-BE49-F238E27FC236}">
                <a16:creationId xmlns:a16="http://schemas.microsoft.com/office/drawing/2014/main" id="{36B76F06-8CE7-0E41-A3A1-18B5E468B219}"/>
              </a:ext>
            </a:extLst>
          </p:cNvPr>
          <p:cNvSpPr txBox="1">
            <a:spLocks noChangeArrowheads="1"/>
          </p:cNvSpPr>
          <p:nvPr/>
        </p:nvSpPr>
        <p:spPr bwMode="auto">
          <a:xfrm>
            <a:off x="3015953" y="3862388"/>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1</a:t>
            </a:r>
          </a:p>
        </p:txBody>
      </p:sp>
      <p:sp>
        <p:nvSpPr>
          <p:cNvPr id="239" name="TextBox 113">
            <a:extLst>
              <a:ext uri="{FF2B5EF4-FFF2-40B4-BE49-F238E27FC236}">
                <a16:creationId xmlns:a16="http://schemas.microsoft.com/office/drawing/2014/main" id="{B38FAB30-55A3-AD46-B047-E929AAD429AA}"/>
              </a:ext>
            </a:extLst>
          </p:cNvPr>
          <p:cNvSpPr txBox="1">
            <a:spLocks noChangeArrowheads="1"/>
          </p:cNvSpPr>
          <p:nvPr/>
        </p:nvSpPr>
        <p:spPr bwMode="auto">
          <a:xfrm>
            <a:off x="2748062" y="4064794"/>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2</a:t>
            </a:r>
          </a:p>
        </p:txBody>
      </p:sp>
      <p:sp>
        <p:nvSpPr>
          <p:cNvPr id="240" name="TextBox 114">
            <a:extLst>
              <a:ext uri="{FF2B5EF4-FFF2-40B4-BE49-F238E27FC236}">
                <a16:creationId xmlns:a16="http://schemas.microsoft.com/office/drawing/2014/main" id="{6209C114-B4AA-A244-982D-EBB94D82C5DC}"/>
              </a:ext>
            </a:extLst>
          </p:cNvPr>
          <p:cNvSpPr txBox="1">
            <a:spLocks noChangeArrowheads="1"/>
          </p:cNvSpPr>
          <p:nvPr/>
        </p:nvSpPr>
        <p:spPr bwMode="auto">
          <a:xfrm>
            <a:off x="3035003" y="4325541"/>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3</a:t>
            </a:r>
          </a:p>
        </p:txBody>
      </p:sp>
      <p:sp>
        <p:nvSpPr>
          <p:cNvPr id="241" name="TextBox 115">
            <a:extLst>
              <a:ext uri="{FF2B5EF4-FFF2-40B4-BE49-F238E27FC236}">
                <a16:creationId xmlns:a16="http://schemas.microsoft.com/office/drawing/2014/main" id="{3C3609FE-6138-874F-A89C-6F8C711D3FFB}"/>
              </a:ext>
            </a:extLst>
          </p:cNvPr>
          <p:cNvSpPr txBox="1">
            <a:spLocks noChangeArrowheads="1"/>
          </p:cNvSpPr>
          <p:nvPr/>
        </p:nvSpPr>
        <p:spPr bwMode="auto">
          <a:xfrm>
            <a:off x="3416003" y="4185047"/>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4</a:t>
            </a:r>
          </a:p>
        </p:txBody>
      </p:sp>
      <p:sp>
        <p:nvSpPr>
          <p:cNvPr id="242" name="TextBox 117">
            <a:extLst>
              <a:ext uri="{FF2B5EF4-FFF2-40B4-BE49-F238E27FC236}">
                <a16:creationId xmlns:a16="http://schemas.microsoft.com/office/drawing/2014/main" id="{9D634780-9369-0148-8A46-086906AB78C7}"/>
              </a:ext>
            </a:extLst>
          </p:cNvPr>
          <p:cNvSpPr txBox="1">
            <a:spLocks noChangeArrowheads="1"/>
          </p:cNvSpPr>
          <p:nvPr/>
        </p:nvSpPr>
        <p:spPr bwMode="auto">
          <a:xfrm>
            <a:off x="4358978" y="3924300"/>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1</a:t>
            </a:r>
          </a:p>
        </p:txBody>
      </p:sp>
      <p:sp>
        <p:nvSpPr>
          <p:cNvPr id="243" name="TextBox 118">
            <a:extLst>
              <a:ext uri="{FF2B5EF4-FFF2-40B4-BE49-F238E27FC236}">
                <a16:creationId xmlns:a16="http://schemas.microsoft.com/office/drawing/2014/main" id="{6F9BC31D-23BD-554C-A935-0C3ED713F031}"/>
              </a:ext>
            </a:extLst>
          </p:cNvPr>
          <p:cNvSpPr txBox="1">
            <a:spLocks noChangeArrowheads="1"/>
          </p:cNvSpPr>
          <p:nvPr/>
        </p:nvSpPr>
        <p:spPr bwMode="auto">
          <a:xfrm>
            <a:off x="4337547" y="4185047"/>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2</a:t>
            </a:r>
          </a:p>
        </p:txBody>
      </p:sp>
      <p:sp>
        <p:nvSpPr>
          <p:cNvPr id="244" name="TextBox 119">
            <a:extLst>
              <a:ext uri="{FF2B5EF4-FFF2-40B4-BE49-F238E27FC236}">
                <a16:creationId xmlns:a16="http://schemas.microsoft.com/office/drawing/2014/main" id="{E42C8FB7-C2F4-7E49-AD30-C67257B593FF}"/>
              </a:ext>
            </a:extLst>
          </p:cNvPr>
          <p:cNvSpPr txBox="1">
            <a:spLocks noChangeArrowheads="1"/>
          </p:cNvSpPr>
          <p:nvPr/>
        </p:nvSpPr>
        <p:spPr bwMode="auto">
          <a:xfrm>
            <a:off x="4612581" y="4338638"/>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3</a:t>
            </a:r>
          </a:p>
        </p:txBody>
      </p:sp>
      <p:sp>
        <p:nvSpPr>
          <p:cNvPr id="245" name="TextBox 120">
            <a:extLst>
              <a:ext uri="{FF2B5EF4-FFF2-40B4-BE49-F238E27FC236}">
                <a16:creationId xmlns:a16="http://schemas.microsoft.com/office/drawing/2014/main" id="{89A9F45F-6E86-9A4C-AF52-070A9E3AE5EA}"/>
              </a:ext>
            </a:extLst>
          </p:cNvPr>
          <p:cNvSpPr txBox="1">
            <a:spLocks noChangeArrowheads="1"/>
          </p:cNvSpPr>
          <p:nvPr/>
        </p:nvSpPr>
        <p:spPr bwMode="auto">
          <a:xfrm>
            <a:off x="5031681" y="4152900"/>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900">
                <a:solidFill>
                  <a:srgbClr val="000000"/>
                </a:solidFill>
                <a:cs typeface="Arial" panose="020B0604020202020204" pitchFamily="34" charset="0"/>
              </a:rPr>
              <a:t>4</a:t>
            </a:r>
          </a:p>
        </p:txBody>
      </p:sp>
      <p:sp>
        <p:nvSpPr>
          <p:cNvPr id="246" name="TextBox 150">
            <a:extLst>
              <a:ext uri="{FF2B5EF4-FFF2-40B4-BE49-F238E27FC236}">
                <a16:creationId xmlns:a16="http://schemas.microsoft.com/office/drawing/2014/main" id="{54FFEFDD-84AB-484A-93F2-66AB84A2BB4D}"/>
              </a:ext>
            </a:extLst>
          </p:cNvPr>
          <p:cNvSpPr txBox="1">
            <a:spLocks noChangeArrowheads="1"/>
          </p:cNvSpPr>
          <p:nvPr/>
        </p:nvSpPr>
        <p:spPr bwMode="auto">
          <a:xfrm>
            <a:off x="3329113" y="2107045"/>
            <a:ext cx="67198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srgbClr val="0000A8"/>
                </a:solidFill>
                <a:cs typeface="Arial" panose="020B0604020202020204" pitchFamily="34" charset="0"/>
              </a:rPr>
              <a:t>Host h6</a:t>
            </a:r>
          </a:p>
          <a:p>
            <a:pPr algn="ctr" defTabSz="685800">
              <a:defRPr/>
            </a:pPr>
            <a:r>
              <a:rPr lang="en-US" altLang="en-US" sz="1050" dirty="0">
                <a:solidFill>
                  <a:srgbClr val="000000"/>
                </a:solidFill>
                <a:cs typeface="Arial" panose="020B0604020202020204" pitchFamily="34" charset="0"/>
              </a:rPr>
              <a:t>10.3.0.6</a:t>
            </a:r>
          </a:p>
        </p:txBody>
      </p:sp>
      <p:grpSp>
        <p:nvGrpSpPr>
          <p:cNvPr id="277" name="Group 88">
            <a:extLst>
              <a:ext uri="{FF2B5EF4-FFF2-40B4-BE49-F238E27FC236}">
                <a16:creationId xmlns:a16="http://schemas.microsoft.com/office/drawing/2014/main" id="{7A022A32-83B1-5748-9221-800D0CFB34B0}"/>
              </a:ext>
            </a:extLst>
          </p:cNvPr>
          <p:cNvGrpSpPr>
            <a:grpSpLocks/>
          </p:cNvGrpSpPr>
          <p:nvPr/>
        </p:nvGrpSpPr>
        <p:grpSpPr bwMode="auto">
          <a:xfrm>
            <a:off x="4050606" y="2253854"/>
            <a:ext cx="952500" cy="1112044"/>
            <a:chOff x="5418667" y="1587500"/>
            <a:chExt cx="1270000" cy="1481667"/>
          </a:xfrm>
        </p:grpSpPr>
        <p:grpSp>
          <p:nvGrpSpPr>
            <p:cNvPr id="278" name="Group 79">
              <a:extLst>
                <a:ext uri="{FF2B5EF4-FFF2-40B4-BE49-F238E27FC236}">
                  <a16:creationId xmlns:a16="http://schemas.microsoft.com/office/drawing/2014/main" id="{ACD5087A-4126-5D4A-B13B-F67F7506AA54}"/>
                </a:ext>
              </a:extLst>
            </p:cNvPr>
            <p:cNvGrpSpPr>
              <a:grpSpLocks/>
            </p:cNvGrpSpPr>
            <p:nvPr/>
          </p:nvGrpSpPr>
          <p:grpSpPr bwMode="auto">
            <a:xfrm>
              <a:off x="5440087" y="1742411"/>
              <a:ext cx="1106762" cy="1163369"/>
              <a:chOff x="5440087" y="1742411"/>
              <a:chExt cx="1106762" cy="1163369"/>
            </a:xfrm>
          </p:grpSpPr>
          <p:grpSp>
            <p:nvGrpSpPr>
              <p:cNvPr id="280" name="Group 950">
                <a:extLst>
                  <a:ext uri="{FF2B5EF4-FFF2-40B4-BE49-F238E27FC236}">
                    <a16:creationId xmlns:a16="http://schemas.microsoft.com/office/drawing/2014/main" id="{21D68A0A-9909-D449-98B0-19D7C2FB7520}"/>
                  </a:ext>
                </a:extLst>
              </p:cNvPr>
              <p:cNvGrpSpPr>
                <a:grpSpLocks/>
              </p:cNvGrpSpPr>
              <p:nvPr/>
            </p:nvGrpSpPr>
            <p:grpSpPr bwMode="auto">
              <a:xfrm>
                <a:off x="5838397" y="2273382"/>
                <a:ext cx="350328" cy="632398"/>
                <a:chOff x="4140" y="429"/>
                <a:chExt cx="1425" cy="2396"/>
              </a:xfrm>
            </p:grpSpPr>
            <p:sp>
              <p:nvSpPr>
                <p:cNvPr id="283" name="Freeform 951">
                  <a:extLst>
                    <a:ext uri="{FF2B5EF4-FFF2-40B4-BE49-F238E27FC236}">
                      <a16:creationId xmlns:a16="http://schemas.microsoft.com/office/drawing/2014/main" id="{E3817A04-160B-F442-A0EE-4B30F2EE8117}"/>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a:solidFill>
                      <a:srgbClr val="000000"/>
                    </a:solidFill>
                  </a:endParaRPr>
                </a:p>
              </p:txBody>
            </p:sp>
            <p:sp>
              <p:nvSpPr>
                <p:cNvPr id="284" name="Rectangle 952">
                  <a:extLst>
                    <a:ext uri="{FF2B5EF4-FFF2-40B4-BE49-F238E27FC236}">
                      <a16:creationId xmlns:a16="http://schemas.microsoft.com/office/drawing/2014/main" id="{75B67217-BB62-6248-BD4E-EB9548DDB450}"/>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285" name="Freeform 953">
                  <a:extLst>
                    <a:ext uri="{FF2B5EF4-FFF2-40B4-BE49-F238E27FC236}">
                      <a16:creationId xmlns:a16="http://schemas.microsoft.com/office/drawing/2014/main" id="{B318F2C8-1650-8646-8E8D-A78555EC0C37}"/>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a:solidFill>
                      <a:srgbClr val="000000"/>
                    </a:solidFill>
                  </a:endParaRPr>
                </a:p>
              </p:txBody>
            </p:sp>
            <p:sp>
              <p:nvSpPr>
                <p:cNvPr id="286" name="Freeform 954">
                  <a:extLst>
                    <a:ext uri="{FF2B5EF4-FFF2-40B4-BE49-F238E27FC236}">
                      <a16:creationId xmlns:a16="http://schemas.microsoft.com/office/drawing/2014/main" id="{04D05301-60BD-FC40-AAA2-F4F7C27891A0}"/>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a:solidFill>
                      <a:srgbClr val="000000"/>
                    </a:solidFill>
                  </a:endParaRPr>
                </a:p>
              </p:txBody>
            </p:sp>
            <p:sp>
              <p:nvSpPr>
                <p:cNvPr id="287" name="Rectangle 955">
                  <a:extLst>
                    <a:ext uri="{FF2B5EF4-FFF2-40B4-BE49-F238E27FC236}">
                      <a16:creationId xmlns:a16="http://schemas.microsoft.com/office/drawing/2014/main" id="{5F062A6D-743A-264D-ADB0-C83039EDB340}"/>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grpSp>
              <p:nvGrpSpPr>
                <p:cNvPr id="288" name="Group 956">
                  <a:extLst>
                    <a:ext uri="{FF2B5EF4-FFF2-40B4-BE49-F238E27FC236}">
                      <a16:creationId xmlns:a16="http://schemas.microsoft.com/office/drawing/2014/main" id="{01C45509-1B2B-1042-BA84-D6FBBFF916E4}"/>
                    </a:ext>
                  </a:extLst>
                </p:cNvPr>
                <p:cNvGrpSpPr>
                  <a:grpSpLocks/>
                </p:cNvGrpSpPr>
                <p:nvPr/>
              </p:nvGrpSpPr>
              <p:grpSpPr bwMode="auto">
                <a:xfrm>
                  <a:off x="4749" y="668"/>
                  <a:ext cx="581" cy="145"/>
                  <a:chOff x="614" y="2568"/>
                  <a:chExt cx="725" cy="139"/>
                </a:xfrm>
              </p:grpSpPr>
              <p:sp>
                <p:nvSpPr>
                  <p:cNvPr id="313" name="AutoShape 957">
                    <a:extLst>
                      <a:ext uri="{FF2B5EF4-FFF2-40B4-BE49-F238E27FC236}">
                        <a16:creationId xmlns:a16="http://schemas.microsoft.com/office/drawing/2014/main" id="{40C9778F-DE66-5643-8444-7EE1E943F1B9}"/>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14" name="AutoShape 958">
                    <a:extLst>
                      <a:ext uri="{FF2B5EF4-FFF2-40B4-BE49-F238E27FC236}">
                        <a16:creationId xmlns:a16="http://schemas.microsoft.com/office/drawing/2014/main" id="{DE3E5FFB-586E-B643-94E3-85EB4EF0992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grpSp>
            <p:sp>
              <p:nvSpPr>
                <p:cNvPr id="289" name="Rectangle 959">
                  <a:extLst>
                    <a:ext uri="{FF2B5EF4-FFF2-40B4-BE49-F238E27FC236}">
                      <a16:creationId xmlns:a16="http://schemas.microsoft.com/office/drawing/2014/main" id="{BB2BBE5E-0794-4041-A8BF-B91E39290513}"/>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grpSp>
              <p:nvGrpSpPr>
                <p:cNvPr id="290" name="Group 960">
                  <a:extLst>
                    <a:ext uri="{FF2B5EF4-FFF2-40B4-BE49-F238E27FC236}">
                      <a16:creationId xmlns:a16="http://schemas.microsoft.com/office/drawing/2014/main" id="{B8615C7E-DC00-DB42-BA0E-E1F2758776B3}"/>
                    </a:ext>
                  </a:extLst>
                </p:cNvPr>
                <p:cNvGrpSpPr>
                  <a:grpSpLocks/>
                </p:cNvGrpSpPr>
                <p:nvPr/>
              </p:nvGrpSpPr>
              <p:grpSpPr bwMode="auto">
                <a:xfrm>
                  <a:off x="4747" y="994"/>
                  <a:ext cx="581" cy="134"/>
                  <a:chOff x="614" y="2568"/>
                  <a:chExt cx="725" cy="139"/>
                </a:xfrm>
              </p:grpSpPr>
              <p:sp>
                <p:nvSpPr>
                  <p:cNvPr id="311" name="AutoShape 961">
                    <a:extLst>
                      <a:ext uri="{FF2B5EF4-FFF2-40B4-BE49-F238E27FC236}">
                        <a16:creationId xmlns:a16="http://schemas.microsoft.com/office/drawing/2014/main" id="{20E97585-07E0-EC4F-B0F9-D086838F40A6}"/>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12" name="AutoShape 962">
                    <a:extLst>
                      <a:ext uri="{FF2B5EF4-FFF2-40B4-BE49-F238E27FC236}">
                        <a16:creationId xmlns:a16="http://schemas.microsoft.com/office/drawing/2014/main" id="{CAF5CAE1-8538-2C48-BED8-4AC05996DC5D}"/>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grpSp>
            <p:sp>
              <p:nvSpPr>
                <p:cNvPr id="291" name="Rectangle 963">
                  <a:extLst>
                    <a:ext uri="{FF2B5EF4-FFF2-40B4-BE49-F238E27FC236}">
                      <a16:creationId xmlns:a16="http://schemas.microsoft.com/office/drawing/2014/main" id="{BFEA0CA2-91FF-F147-B072-1BC64CA43860}"/>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292" name="Rectangle 964">
                  <a:extLst>
                    <a:ext uri="{FF2B5EF4-FFF2-40B4-BE49-F238E27FC236}">
                      <a16:creationId xmlns:a16="http://schemas.microsoft.com/office/drawing/2014/main" id="{B7438767-CF8A-7D4E-88D7-06755770E895}"/>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grpSp>
              <p:nvGrpSpPr>
                <p:cNvPr id="293" name="Group 965">
                  <a:extLst>
                    <a:ext uri="{FF2B5EF4-FFF2-40B4-BE49-F238E27FC236}">
                      <a16:creationId xmlns:a16="http://schemas.microsoft.com/office/drawing/2014/main" id="{BD89BE1D-D5A1-2A4F-9BB3-493820B2D276}"/>
                    </a:ext>
                  </a:extLst>
                </p:cNvPr>
                <p:cNvGrpSpPr>
                  <a:grpSpLocks/>
                </p:cNvGrpSpPr>
                <p:nvPr/>
              </p:nvGrpSpPr>
              <p:grpSpPr bwMode="auto">
                <a:xfrm>
                  <a:off x="4735" y="1627"/>
                  <a:ext cx="582" cy="151"/>
                  <a:chOff x="614" y="2568"/>
                  <a:chExt cx="725" cy="139"/>
                </a:xfrm>
              </p:grpSpPr>
              <p:sp>
                <p:nvSpPr>
                  <p:cNvPr id="309" name="AutoShape 966">
                    <a:extLst>
                      <a:ext uri="{FF2B5EF4-FFF2-40B4-BE49-F238E27FC236}">
                        <a16:creationId xmlns:a16="http://schemas.microsoft.com/office/drawing/2014/main" id="{E07E9E59-7E69-DA4E-9F03-F1D01DBAFCB9}"/>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10" name="AutoShape 967">
                    <a:extLst>
                      <a:ext uri="{FF2B5EF4-FFF2-40B4-BE49-F238E27FC236}">
                        <a16:creationId xmlns:a16="http://schemas.microsoft.com/office/drawing/2014/main" id="{702690BB-83DF-924B-9306-E5AFED91E52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grpSp>
            <p:sp>
              <p:nvSpPr>
                <p:cNvPr id="294" name="Freeform 968">
                  <a:extLst>
                    <a:ext uri="{FF2B5EF4-FFF2-40B4-BE49-F238E27FC236}">
                      <a16:creationId xmlns:a16="http://schemas.microsoft.com/office/drawing/2014/main" id="{F6B6C90F-430A-CF4B-A1D7-1A585BAB71E4}"/>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a:solidFill>
                      <a:srgbClr val="000000"/>
                    </a:solidFill>
                  </a:endParaRPr>
                </a:p>
              </p:txBody>
            </p:sp>
            <p:grpSp>
              <p:nvGrpSpPr>
                <p:cNvPr id="295" name="Group 969">
                  <a:extLst>
                    <a:ext uri="{FF2B5EF4-FFF2-40B4-BE49-F238E27FC236}">
                      <a16:creationId xmlns:a16="http://schemas.microsoft.com/office/drawing/2014/main" id="{9E5BB1CA-4B03-2141-B082-B8A4706C69D5}"/>
                    </a:ext>
                  </a:extLst>
                </p:cNvPr>
                <p:cNvGrpSpPr>
                  <a:grpSpLocks/>
                </p:cNvGrpSpPr>
                <p:nvPr/>
              </p:nvGrpSpPr>
              <p:grpSpPr bwMode="auto">
                <a:xfrm>
                  <a:off x="4739" y="1327"/>
                  <a:ext cx="582" cy="139"/>
                  <a:chOff x="614" y="2568"/>
                  <a:chExt cx="725" cy="139"/>
                </a:xfrm>
              </p:grpSpPr>
              <p:sp>
                <p:nvSpPr>
                  <p:cNvPr id="307" name="AutoShape 970">
                    <a:extLst>
                      <a:ext uri="{FF2B5EF4-FFF2-40B4-BE49-F238E27FC236}">
                        <a16:creationId xmlns:a16="http://schemas.microsoft.com/office/drawing/2014/main" id="{60980303-8EC9-E149-A193-9468A5527025}"/>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08" name="AutoShape 971">
                    <a:extLst>
                      <a:ext uri="{FF2B5EF4-FFF2-40B4-BE49-F238E27FC236}">
                        <a16:creationId xmlns:a16="http://schemas.microsoft.com/office/drawing/2014/main" id="{4EF45611-F585-3043-B711-6A89BC6FE852}"/>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grpSp>
            <p:sp>
              <p:nvSpPr>
                <p:cNvPr id="296" name="Rectangle 972">
                  <a:extLst>
                    <a:ext uri="{FF2B5EF4-FFF2-40B4-BE49-F238E27FC236}">
                      <a16:creationId xmlns:a16="http://schemas.microsoft.com/office/drawing/2014/main" id="{811326F7-41C5-AD43-ADD1-11B55C255C64}"/>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297" name="Freeform 973">
                  <a:extLst>
                    <a:ext uri="{FF2B5EF4-FFF2-40B4-BE49-F238E27FC236}">
                      <a16:creationId xmlns:a16="http://schemas.microsoft.com/office/drawing/2014/main" id="{FDE366E8-CF59-6744-8C4C-B0AFB24ACA9E}"/>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a:solidFill>
                      <a:srgbClr val="000000"/>
                    </a:solidFill>
                  </a:endParaRPr>
                </a:p>
              </p:txBody>
            </p:sp>
            <p:sp>
              <p:nvSpPr>
                <p:cNvPr id="298" name="Freeform 974">
                  <a:extLst>
                    <a:ext uri="{FF2B5EF4-FFF2-40B4-BE49-F238E27FC236}">
                      <a16:creationId xmlns:a16="http://schemas.microsoft.com/office/drawing/2014/main" id="{318356AC-8F6D-AE46-AB46-5BA687C30CD8}"/>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a:solidFill>
                      <a:srgbClr val="000000"/>
                    </a:solidFill>
                  </a:endParaRPr>
                </a:p>
              </p:txBody>
            </p:sp>
            <p:sp>
              <p:nvSpPr>
                <p:cNvPr id="299" name="Oval 975">
                  <a:extLst>
                    <a:ext uri="{FF2B5EF4-FFF2-40B4-BE49-F238E27FC236}">
                      <a16:creationId xmlns:a16="http://schemas.microsoft.com/office/drawing/2014/main" id="{0F0566BD-6029-5E4D-9EA5-AC7E5621759A}"/>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00" name="Freeform 976">
                  <a:extLst>
                    <a:ext uri="{FF2B5EF4-FFF2-40B4-BE49-F238E27FC236}">
                      <a16:creationId xmlns:a16="http://schemas.microsoft.com/office/drawing/2014/main" id="{A97DBA45-4DC8-8A4C-9ECC-96AF3FCE8533}"/>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kern="0">
                    <a:solidFill>
                      <a:srgbClr val="000000"/>
                    </a:solidFill>
                  </a:endParaRPr>
                </a:p>
              </p:txBody>
            </p:sp>
            <p:sp>
              <p:nvSpPr>
                <p:cNvPr id="301" name="AutoShape 977">
                  <a:extLst>
                    <a:ext uri="{FF2B5EF4-FFF2-40B4-BE49-F238E27FC236}">
                      <a16:creationId xmlns:a16="http://schemas.microsoft.com/office/drawing/2014/main" id="{4336E3DA-6FFE-F148-8C56-516CE08065DE}"/>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02" name="AutoShape 978">
                  <a:extLst>
                    <a:ext uri="{FF2B5EF4-FFF2-40B4-BE49-F238E27FC236}">
                      <a16:creationId xmlns:a16="http://schemas.microsoft.com/office/drawing/2014/main" id="{183F8629-55AE-0443-BA0A-86080DC2EFC7}"/>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03" name="Oval 979">
                  <a:extLst>
                    <a:ext uri="{FF2B5EF4-FFF2-40B4-BE49-F238E27FC236}">
                      <a16:creationId xmlns:a16="http://schemas.microsoft.com/office/drawing/2014/main" id="{3A012DD8-A7AE-C943-9266-026D3315C7A6}"/>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04" name="Oval 980">
                  <a:extLst>
                    <a:ext uri="{FF2B5EF4-FFF2-40B4-BE49-F238E27FC236}">
                      <a16:creationId xmlns:a16="http://schemas.microsoft.com/office/drawing/2014/main" id="{B244DD55-7B74-A349-8352-6789B4DF5D9A}"/>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350" kern="0">
                    <a:solidFill>
                      <a:srgbClr val="FF0000"/>
                    </a:solidFill>
                    <a:cs typeface="Arial" panose="020B0604020202020204" pitchFamily="34" charset="0"/>
                  </a:endParaRPr>
                </a:p>
              </p:txBody>
            </p:sp>
            <p:sp>
              <p:nvSpPr>
                <p:cNvPr id="305" name="Oval 981">
                  <a:extLst>
                    <a:ext uri="{FF2B5EF4-FFF2-40B4-BE49-F238E27FC236}">
                      <a16:creationId xmlns:a16="http://schemas.microsoft.com/office/drawing/2014/main" id="{5B459985-0D9B-A149-AA5D-EFFF804C9DD9}"/>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sp>
              <p:nvSpPr>
                <p:cNvPr id="306" name="Rectangle 982">
                  <a:extLst>
                    <a:ext uri="{FF2B5EF4-FFF2-40B4-BE49-F238E27FC236}">
                      <a16:creationId xmlns:a16="http://schemas.microsoft.com/office/drawing/2014/main" id="{6E63AA7A-EC16-C34C-A965-939803E03BCD}"/>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cs typeface="Arial" panose="020B0604020202020204" pitchFamily="34" charset="0"/>
                  </a:endParaRPr>
                </a:p>
              </p:txBody>
            </p:sp>
          </p:grpSp>
          <p:pic>
            <p:nvPicPr>
              <p:cNvPr id="281" name="Picture 4">
                <a:extLst>
                  <a:ext uri="{FF2B5EF4-FFF2-40B4-BE49-F238E27FC236}">
                    <a16:creationId xmlns:a16="http://schemas.microsoft.com/office/drawing/2014/main" id="{62AAA559-6FDE-8C46-AE96-98BB6F5A9A2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40087" y="1742411"/>
                <a:ext cx="1039824" cy="309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2" name="TextBox 149">
                <a:extLst>
                  <a:ext uri="{FF2B5EF4-FFF2-40B4-BE49-F238E27FC236}">
                    <a16:creationId xmlns:a16="http://schemas.microsoft.com/office/drawing/2014/main" id="{16C0F16C-BEC5-5E41-93D1-E1A0A7E8865E}"/>
                  </a:ext>
                </a:extLst>
              </p:cNvPr>
              <p:cNvSpPr txBox="1">
                <a:spLocks noChangeArrowheads="1"/>
              </p:cNvSpPr>
              <p:nvPr/>
            </p:nvSpPr>
            <p:spPr bwMode="auto">
              <a:xfrm>
                <a:off x="5558972" y="1947149"/>
                <a:ext cx="987877" cy="615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kern="0">
                    <a:solidFill>
                      <a:srgbClr val="000000"/>
                    </a:solidFill>
                    <a:cs typeface="Arial" panose="020B0604020202020204" pitchFamily="34" charset="0"/>
                  </a:rPr>
                  <a:t>controller</a:t>
                </a:r>
              </a:p>
              <a:p>
                <a:pPr defTabSz="685800">
                  <a:defRPr/>
                </a:pPr>
                <a:endParaRPr lang="en-US" altLang="en-US" sz="1350" kern="0">
                  <a:solidFill>
                    <a:srgbClr val="000000"/>
                  </a:solidFill>
                  <a:cs typeface="Arial" panose="020B0604020202020204" pitchFamily="34" charset="0"/>
                </a:endParaRPr>
              </a:p>
            </p:txBody>
          </p:sp>
        </p:grpSp>
        <p:sp>
          <p:nvSpPr>
            <p:cNvPr id="279" name="Rectangle 82">
              <a:extLst>
                <a:ext uri="{FF2B5EF4-FFF2-40B4-BE49-F238E27FC236}">
                  <a16:creationId xmlns:a16="http://schemas.microsoft.com/office/drawing/2014/main" id="{CF46B557-5EBD-604D-BCB4-EA70ED1CD3DA}"/>
                </a:ext>
              </a:extLst>
            </p:cNvPr>
            <p:cNvSpPr>
              <a:spLocks noChangeArrowheads="1"/>
            </p:cNvSpPr>
            <p:nvPr/>
          </p:nvSpPr>
          <p:spPr bwMode="auto">
            <a:xfrm>
              <a:off x="5418667" y="1587500"/>
              <a:ext cx="1270000" cy="1481667"/>
            </a:xfrm>
            <a:prstGeom prst="rect">
              <a:avLst/>
            </a:prstGeom>
            <a:solidFill>
              <a:srgbClr val="FFFFFF">
                <a:alpha val="65881"/>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kern="0">
                <a:solidFill>
                  <a:srgbClr val="000000"/>
                </a:solidFill>
              </a:endParaRPr>
            </a:p>
          </p:txBody>
        </p:sp>
      </p:grpSp>
      <p:sp>
        <p:nvSpPr>
          <p:cNvPr id="315" name="TextBox 211">
            <a:extLst>
              <a:ext uri="{FF2B5EF4-FFF2-40B4-BE49-F238E27FC236}">
                <a16:creationId xmlns:a16="http://schemas.microsoft.com/office/drawing/2014/main" id="{2C6761C7-32A3-C042-BA94-67A59C155A65}"/>
              </a:ext>
            </a:extLst>
          </p:cNvPr>
          <p:cNvSpPr txBox="1">
            <a:spLocks noChangeArrowheads="1"/>
          </p:cNvSpPr>
          <p:nvPr/>
        </p:nvSpPr>
        <p:spPr bwMode="auto">
          <a:xfrm>
            <a:off x="5400265" y="1996939"/>
            <a:ext cx="3464955" cy="19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2100" dirty="0">
                <a:solidFill>
                  <a:prstClr val="black"/>
                </a:solidFill>
                <a:latin typeface="Calibri" panose="020F0502020204030204"/>
              </a:rPr>
              <a:t>Orchestrated tables can create </a:t>
            </a:r>
            <a:r>
              <a:rPr lang="en-US" altLang="en-US" sz="2100" i="1" dirty="0">
                <a:solidFill>
                  <a:srgbClr val="CC0000"/>
                </a:solidFill>
                <a:latin typeface="Calibri" panose="020F0502020204030204"/>
              </a:rPr>
              <a:t>network-wide</a:t>
            </a:r>
            <a:r>
              <a:rPr lang="en-US" altLang="en-US" sz="2100" dirty="0">
                <a:solidFill>
                  <a:srgbClr val="CC0000"/>
                </a:solidFill>
                <a:latin typeface="Calibri" panose="020F0502020204030204"/>
              </a:rPr>
              <a:t> </a:t>
            </a:r>
            <a:r>
              <a:rPr lang="en-US" altLang="en-US" sz="2100" dirty="0">
                <a:solidFill>
                  <a:prstClr val="black"/>
                </a:solidFill>
                <a:latin typeface="Calibri" panose="020F0502020204030204"/>
              </a:rPr>
              <a:t>behavior, e.g.,:</a:t>
            </a:r>
          </a:p>
          <a:p>
            <a:pPr marL="257175" indent="-169069" defTabSz="685800" eaLnBrk="1" fontAlgn="auto" hangingPunct="1">
              <a:lnSpc>
                <a:spcPct val="90000"/>
              </a:lnSpc>
              <a:spcBef>
                <a:spcPts val="450"/>
              </a:spcBef>
              <a:spcAft>
                <a:spcPts val="0"/>
              </a:spcAft>
              <a:buClr>
                <a:srgbClr val="0000A8"/>
              </a:buClr>
              <a:buFont typeface="Wingdings" pitchFamily="2" charset="2"/>
              <a:buChar char="§"/>
              <a:defRPr/>
            </a:pPr>
            <a:r>
              <a:rPr lang="en-US" altLang="en-US" sz="1950" dirty="0">
                <a:solidFill>
                  <a:prstClr val="black"/>
                </a:solidFill>
                <a:latin typeface="Calibri" panose="020F0502020204030204"/>
              </a:rPr>
              <a:t>datagrams from hosts h5 and h6 should be sent to h3 or h4, via s1 and from there to s2</a:t>
            </a:r>
          </a:p>
        </p:txBody>
      </p:sp>
      <p:grpSp>
        <p:nvGrpSpPr>
          <p:cNvPr id="316" name="Group 315">
            <a:extLst>
              <a:ext uri="{FF2B5EF4-FFF2-40B4-BE49-F238E27FC236}">
                <a16:creationId xmlns:a16="http://schemas.microsoft.com/office/drawing/2014/main" id="{6EE604CB-0D3E-814A-B971-2B4918559EB2}"/>
              </a:ext>
            </a:extLst>
          </p:cNvPr>
          <p:cNvGrpSpPr/>
          <p:nvPr/>
        </p:nvGrpSpPr>
        <p:grpSpPr>
          <a:xfrm>
            <a:off x="2902225" y="4047711"/>
            <a:ext cx="546653" cy="308113"/>
            <a:chOff x="7493876" y="2774731"/>
            <a:chExt cx="1481958" cy="894622"/>
          </a:xfrm>
          <a:effectLst>
            <a:outerShdw blurRad="50800" dist="38100" dir="18900000" algn="bl" rotWithShape="0">
              <a:prstClr val="black">
                <a:alpha val="40000"/>
              </a:prstClr>
            </a:outerShdw>
          </a:effectLst>
        </p:grpSpPr>
        <p:sp>
          <p:nvSpPr>
            <p:cNvPr id="317" name="Freeform 316">
              <a:extLst>
                <a:ext uri="{FF2B5EF4-FFF2-40B4-BE49-F238E27FC236}">
                  <a16:creationId xmlns:a16="http://schemas.microsoft.com/office/drawing/2014/main" id="{30015DB5-42CE-3B49-B677-CF914B2962F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18" name="Oval 317">
              <a:extLst>
                <a:ext uri="{FF2B5EF4-FFF2-40B4-BE49-F238E27FC236}">
                  <a16:creationId xmlns:a16="http://schemas.microsoft.com/office/drawing/2014/main" id="{0F714CDA-7480-CE49-9945-95ABAA2E9D8D}"/>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19" name="Group 318">
              <a:extLst>
                <a:ext uri="{FF2B5EF4-FFF2-40B4-BE49-F238E27FC236}">
                  <a16:creationId xmlns:a16="http://schemas.microsoft.com/office/drawing/2014/main" id="{05112A5B-7C85-7C47-BF58-1F0109C893DC}"/>
                </a:ext>
              </a:extLst>
            </p:cNvPr>
            <p:cNvGrpSpPr/>
            <p:nvPr/>
          </p:nvGrpSpPr>
          <p:grpSpPr>
            <a:xfrm>
              <a:off x="7713663" y="2848339"/>
              <a:ext cx="1042107" cy="425543"/>
              <a:chOff x="7786941" y="2884917"/>
              <a:chExt cx="897649" cy="353919"/>
            </a:xfrm>
          </p:grpSpPr>
          <p:sp>
            <p:nvSpPr>
              <p:cNvPr id="320" name="Freeform 319">
                <a:extLst>
                  <a:ext uri="{FF2B5EF4-FFF2-40B4-BE49-F238E27FC236}">
                    <a16:creationId xmlns:a16="http://schemas.microsoft.com/office/drawing/2014/main" id="{B0580F03-39BF-EE40-ABDC-67419070C5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21" name="Freeform 320">
                <a:extLst>
                  <a:ext uri="{FF2B5EF4-FFF2-40B4-BE49-F238E27FC236}">
                    <a16:creationId xmlns:a16="http://schemas.microsoft.com/office/drawing/2014/main" id="{D0CD04B6-CF21-2848-8636-E0C8F73AE58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22" name="Freeform 321">
                <a:extLst>
                  <a:ext uri="{FF2B5EF4-FFF2-40B4-BE49-F238E27FC236}">
                    <a16:creationId xmlns:a16="http://schemas.microsoft.com/office/drawing/2014/main" id="{C8EBF80C-793A-E445-AB5E-B9C855B18BB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23" name="Freeform 322">
                <a:extLst>
                  <a:ext uri="{FF2B5EF4-FFF2-40B4-BE49-F238E27FC236}">
                    <a16:creationId xmlns:a16="http://schemas.microsoft.com/office/drawing/2014/main" id="{A3FCEE1A-B49A-114B-9106-CCEA7768BDD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grpSp>
        <p:nvGrpSpPr>
          <p:cNvPr id="324" name="Group 323">
            <a:extLst>
              <a:ext uri="{FF2B5EF4-FFF2-40B4-BE49-F238E27FC236}">
                <a16:creationId xmlns:a16="http://schemas.microsoft.com/office/drawing/2014/main" id="{F942E581-FE04-B94F-B911-CD294FD5BAAC}"/>
              </a:ext>
            </a:extLst>
          </p:cNvPr>
          <p:cNvGrpSpPr/>
          <p:nvPr/>
        </p:nvGrpSpPr>
        <p:grpSpPr>
          <a:xfrm>
            <a:off x="4507394" y="4072559"/>
            <a:ext cx="546653" cy="308113"/>
            <a:chOff x="7493876" y="2774731"/>
            <a:chExt cx="1481958" cy="894622"/>
          </a:xfrm>
          <a:effectLst>
            <a:outerShdw blurRad="50800" dist="38100" dir="18900000" algn="bl" rotWithShape="0">
              <a:prstClr val="black">
                <a:alpha val="40000"/>
              </a:prstClr>
            </a:outerShdw>
          </a:effectLst>
        </p:grpSpPr>
        <p:sp>
          <p:nvSpPr>
            <p:cNvPr id="325" name="Freeform 324">
              <a:extLst>
                <a:ext uri="{FF2B5EF4-FFF2-40B4-BE49-F238E27FC236}">
                  <a16:creationId xmlns:a16="http://schemas.microsoft.com/office/drawing/2014/main" id="{E316B434-3A3A-794B-A8AC-B213546A080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26" name="Oval 325">
              <a:extLst>
                <a:ext uri="{FF2B5EF4-FFF2-40B4-BE49-F238E27FC236}">
                  <a16:creationId xmlns:a16="http://schemas.microsoft.com/office/drawing/2014/main" id="{DBF0F5B5-9197-4C41-96FE-459AF7F44E9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27" name="Group 326">
              <a:extLst>
                <a:ext uri="{FF2B5EF4-FFF2-40B4-BE49-F238E27FC236}">
                  <a16:creationId xmlns:a16="http://schemas.microsoft.com/office/drawing/2014/main" id="{351381FF-0860-E449-A0D9-10CEFAE36387}"/>
                </a:ext>
              </a:extLst>
            </p:cNvPr>
            <p:cNvGrpSpPr/>
            <p:nvPr/>
          </p:nvGrpSpPr>
          <p:grpSpPr>
            <a:xfrm>
              <a:off x="7713663" y="2848339"/>
              <a:ext cx="1042107" cy="425543"/>
              <a:chOff x="7786941" y="2884917"/>
              <a:chExt cx="897649" cy="353919"/>
            </a:xfrm>
          </p:grpSpPr>
          <p:sp>
            <p:nvSpPr>
              <p:cNvPr id="328" name="Freeform 327">
                <a:extLst>
                  <a:ext uri="{FF2B5EF4-FFF2-40B4-BE49-F238E27FC236}">
                    <a16:creationId xmlns:a16="http://schemas.microsoft.com/office/drawing/2014/main" id="{E939FD15-8AAB-2040-B15A-82A5312077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29" name="Freeform 328">
                <a:extLst>
                  <a:ext uri="{FF2B5EF4-FFF2-40B4-BE49-F238E27FC236}">
                    <a16:creationId xmlns:a16="http://schemas.microsoft.com/office/drawing/2014/main" id="{4CEF3864-F6D0-4748-B241-5D20F1F4618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30" name="Freeform 329">
                <a:extLst>
                  <a:ext uri="{FF2B5EF4-FFF2-40B4-BE49-F238E27FC236}">
                    <a16:creationId xmlns:a16="http://schemas.microsoft.com/office/drawing/2014/main" id="{2067769B-1AC4-6144-B2B6-0F5E7F9575E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31" name="Freeform 330">
                <a:extLst>
                  <a:ext uri="{FF2B5EF4-FFF2-40B4-BE49-F238E27FC236}">
                    <a16:creationId xmlns:a16="http://schemas.microsoft.com/office/drawing/2014/main" id="{A069C59A-BBBE-4744-872F-D132ECB519A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grpSp>
        <p:nvGrpSpPr>
          <p:cNvPr id="332" name="Group 331">
            <a:extLst>
              <a:ext uri="{FF2B5EF4-FFF2-40B4-BE49-F238E27FC236}">
                <a16:creationId xmlns:a16="http://schemas.microsoft.com/office/drawing/2014/main" id="{C1A356A8-2504-814E-A2DE-E564D8802FDE}"/>
              </a:ext>
            </a:extLst>
          </p:cNvPr>
          <p:cNvGrpSpPr/>
          <p:nvPr/>
        </p:nvGrpSpPr>
        <p:grpSpPr>
          <a:xfrm>
            <a:off x="2912164" y="2666172"/>
            <a:ext cx="546653" cy="308113"/>
            <a:chOff x="7493876" y="2774731"/>
            <a:chExt cx="1481958" cy="894622"/>
          </a:xfrm>
          <a:effectLst>
            <a:outerShdw blurRad="50800" dist="38100" dir="18900000" algn="bl" rotWithShape="0">
              <a:prstClr val="black">
                <a:alpha val="40000"/>
              </a:prstClr>
            </a:outerShdw>
          </a:effectLst>
        </p:grpSpPr>
        <p:sp>
          <p:nvSpPr>
            <p:cNvPr id="333" name="Freeform 332">
              <a:extLst>
                <a:ext uri="{FF2B5EF4-FFF2-40B4-BE49-F238E27FC236}">
                  <a16:creationId xmlns:a16="http://schemas.microsoft.com/office/drawing/2014/main" id="{9C6FB5E6-48B8-8744-98B5-2E6227887CA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34" name="Oval 333">
              <a:extLst>
                <a:ext uri="{FF2B5EF4-FFF2-40B4-BE49-F238E27FC236}">
                  <a16:creationId xmlns:a16="http://schemas.microsoft.com/office/drawing/2014/main" id="{3AAAA7B0-2B9F-2043-9D13-B05031238FDD}"/>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35" name="Group 334">
              <a:extLst>
                <a:ext uri="{FF2B5EF4-FFF2-40B4-BE49-F238E27FC236}">
                  <a16:creationId xmlns:a16="http://schemas.microsoft.com/office/drawing/2014/main" id="{A3B779A6-781E-8643-ADF4-AE8E6B550A4E}"/>
                </a:ext>
              </a:extLst>
            </p:cNvPr>
            <p:cNvGrpSpPr/>
            <p:nvPr/>
          </p:nvGrpSpPr>
          <p:grpSpPr>
            <a:xfrm>
              <a:off x="7713663" y="2848339"/>
              <a:ext cx="1042107" cy="425543"/>
              <a:chOff x="7786941" y="2884917"/>
              <a:chExt cx="897649" cy="353919"/>
            </a:xfrm>
          </p:grpSpPr>
          <p:sp>
            <p:nvSpPr>
              <p:cNvPr id="336" name="Freeform 335">
                <a:extLst>
                  <a:ext uri="{FF2B5EF4-FFF2-40B4-BE49-F238E27FC236}">
                    <a16:creationId xmlns:a16="http://schemas.microsoft.com/office/drawing/2014/main" id="{C44F672B-8C14-F049-AA11-1EDEE67D2DB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37" name="Freeform 336">
                <a:extLst>
                  <a:ext uri="{FF2B5EF4-FFF2-40B4-BE49-F238E27FC236}">
                    <a16:creationId xmlns:a16="http://schemas.microsoft.com/office/drawing/2014/main" id="{A182D874-EC68-5549-AA31-DA7DAE9044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38" name="Freeform 337">
                <a:extLst>
                  <a:ext uri="{FF2B5EF4-FFF2-40B4-BE49-F238E27FC236}">
                    <a16:creationId xmlns:a16="http://schemas.microsoft.com/office/drawing/2014/main" id="{0910EAAF-C06C-F64B-860C-6D1C1680B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39" name="Freeform 338">
                <a:extLst>
                  <a:ext uri="{FF2B5EF4-FFF2-40B4-BE49-F238E27FC236}">
                    <a16:creationId xmlns:a16="http://schemas.microsoft.com/office/drawing/2014/main" id="{7BAE19D5-843D-C349-BC33-83E69DC2B9D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grpSp>
        <p:nvGrpSpPr>
          <p:cNvPr id="4" name="Group 3">
            <a:extLst>
              <a:ext uri="{FF2B5EF4-FFF2-40B4-BE49-F238E27FC236}">
                <a16:creationId xmlns:a16="http://schemas.microsoft.com/office/drawing/2014/main" id="{E7B75379-DB27-554B-9DBE-69FBF7DF9531}"/>
              </a:ext>
            </a:extLst>
          </p:cNvPr>
          <p:cNvGrpSpPr/>
          <p:nvPr/>
        </p:nvGrpSpPr>
        <p:grpSpPr>
          <a:xfrm>
            <a:off x="2560900" y="2949375"/>
            <a:ext cx="2882096" cy="1849054"/>
            <a:chOff x="3414532" y="2693870"/>
            <a:chExt cx="3842795" cy="2595759"/>
          </a:xfrm>
        </p:grpSpPr>
        <p:sp>
          <p:nvSpPr>
            <p:cNvPr id="2" name="Freeform 1">
              <a:extLst>
                <a:ext uri="{FF2B5EF4-FFF2-40B4-BE49-F238E27FC236}">
                  <a16:creationId xmlns:a16="http://schemas.microsoft.com/office/drawing/2014/main" id="{613A01DD-904D-064B-8DE2-4E17062C74CD}"/>
                </a:ext>
              </a:extLst>
            </p:cNvPr>
            <p:cNvSpPr/>
            <p:nvPr/>
          </p:nvSpPr>
          <p:spPr>
            <a:xfrm>
              <a:off x="3414532" y="2693870"/>
              <a:ext cx="3842795" cy="2040239"/>
            </a:xfrm>
            <a:custGeom>
              <a:avLst/>
              <a:gdLst>
                <a:gd name="connsiteX0" fmla="*/ 0 w 3715473"/>
                <a:gd name="connsiteY0" fmla="*/ 0 h 1794076"/>
                <a:gd name="connsiteX1" fmla="*/ 625033 w 3715473"/>
                <a:gd name="connsiteY1" fmla="*/ 0 h 1794076"/>
                <a:gd name="connsiteX2" fmla="*/ 625033 w 3715473"/>
                <a:gd name="connsiteY2" fmla="*/ 1794076 h 1794076"/>
                <a:gd name="connsiteX3" fmla="*/ 3715473 w 3715473"/>
                <a:gd name="connsiteY3" fmla="*/ 1782501 h 1794076"/>
                <a:gd name="connsiteX0" fmla="*/ 0 w 3715473"/>
                <a:gd name="connsiteY0" fmla="*/ 0 h 1794076"/>
                <a:gd name="connsiteX1" fmla="*/ 625033 w 3715473"/>
                <a:gd name="connsiteY1" fmla="*/ 0 h 1794076"/>
                <a:gd name="connsiteX2" fmla="*/ 625033 w 3715473"/>
                <a:gd name="connsiteY2" fmla="*/ 1794076 h 1794076"/>
                <a:gd name="connsiteX3" fmla="*/ 3715473 w 3715473"/>
                <a:gd name="connsiteY3" fmla="*/ 1782501 h 1794076"/>
                <a:gd name="connsiteX0" fmla="*/ 0 w 3715473"/>
                <a:gd name="connsiteY0" fmla="*/ 0 h 1846891"/>
                <a:gd name="connsiteX1" fmla="*/ 625033 w 3715473"/>
                <a:gd name="connsiteY1" fmla="*/ 0 h 1846891"/>
                <a:gd name="connsiteX2" fmla="*/ 625033 w 3715473"/>
                <a:gd name="connsiteY2" fmla="*/ 1794076 h 1846891"/>
                <a:gd name="connsiteX3" fmla="*/ 3715473 w 3715473"/>
                <a:gd name="connsiteY3" fmla="*/ 1782501 h 1846891"/>
                <a:gd name="connsiteX0" fmla="*/ 0 w 3715473"/>
                <a:gd name="connsiteY0" fmla="*/ 132894 h 1979785"/>
                <a:gd name="connsiteX1" fmla="*/ 625033 w 3715473"/>
                <a:gd name="connsiteY1" fmla="*/ 132894 h 1979785"/>
                <a:gd name="connsiteX2" fmla="*/ 625033 w 3715473"/>
                <a:gd name="connsiteY2" fmla="*/ 1926970 h 1979785"/>
                <a:gd name="connsiteX3" fmla="*/ 3715473 w 3715473"/>
                <a:gd name="connsiteY3" fmla="*/ 1915395 h 1979785"/>
                <a:gd name="connsiteX0" fmla="*/ 0 w 3738623"/>
                <a:gd name="connsiteY0" fmla="*/ 132894 h 1998367"/>
                <a:gd name="connsiteX1" fmla="*/ 625033 w 3738623"/>
                <a:gd name="connsiteY1" fmla="*/ 132894 h 1998367"/>
                <a:gd name="connsiteX2" fmla="*/ 625033 w 3738623"/>
                <a:gd name="connsiteY2" fmla="*/ 1926970 h 1998367"/>
                <a:gd name="connsiteX3" fmla="*/ 3738623 w 3738623"/>
                <a:gd name="connsiteY3" fmla="*/ 1973268 h 1998367"/>
                <a:gd name="connsiteX0" fmla="*/ 0 w 3842795"/>
                <a:gd name="connsiteY0" fmla="*/ 57604 h 2050398"/>
                <a:gd name="connsiteX1" fmla="*/ 729205 w 3842795"/>
                <a:gd name="connsiteY1" fmla="*/ 184925 h 2050398"/>
                <a:gd name="connsiteX2" fmla="*/ 729205 w 3842795"/>
                <a:gd name="connsiteY2" fmla="*/ 1979001 h 2050398"/>
                <a:gd name="connsiteX3" fmla="*/ 3842795 w 3842795"/>
                <a:gd name="connsiteY3" fmla="*/ 2025299 h 2050398"/>
                <a:gd name="connsiteX0" fmla="*/ 0 w 3842795"/>
                <a:gd name="connsiteY0" fmla="*/ 4716 h 1997510"/>
                <a:gd name="connsiteX1" fmla="*/ 729205 w 3842795"/>
                <a:gd name="connsiteY1" fmla="*/ 132037 h 1997510"/>
                <a:gd name="connsiteX2" fmla="*/ 729205 w 3842795"/>
                <a:gd name="connsiteY2" fmla="*/ 1926113 h 1997510"/>
                <a:gd name="connsiteX3" fmla="*/ 3842795 w 3842795"/>
                <a:gd name="connsiteY3" fmla="*/ 1972411 h 1997510"/>
                <a:gd name="connsiteX0" fmla="*/ 0 w 3842795"/>
                <a:gd name="connsiteY0" fmla="*/ 0 h 1992794"/>
                <a:gd name="connsiteX1" fmla="*/ 729205 w 3842795"/>
                <a:gd name="connsiteY1" fmla="*/ 127321 h 1992794"/>
                <a:gd name="connsiteX2" fmla="*/ 729205 w 3842795"/>
                <a:gd name="connsiteY2" fmla="*/ 1921397 h 1992794"/>
                <a:gd name="connsiteX3" fmla="*/ 3842795 w 3842795"/>
                <a:gd name="connsiteY3" fmla="*/ 1967695 h 1992794"/>
                <a:gd name="connsiteX0" fmla="*/ 0 w 3842795"/>
                <a:gd name="connsiteY0" fmla="*/ 0 h 1992794"/>
                <a:gd name="connsiteX1" fmla="*/ 729205 w 3842795"/>
                <a:gd name="connsiteY1" fmla="*/ 127321 h 1992794"/>
                <a:gd name="connsiteX2" fmla="*/ 729205 w 3842795"/>
                <a:gd name="connsiteY2" fmla="*/ 1921397 h 1992794"/>
                <a:gd name="connsiteX3" fmla="*/ 3842795 w 3842795"/>
                <a:gd name="connsiteY3" fmla="*/ 1967695 h 1992794"/>
                <a:gd name="connsiteX0" fmla="*/ 0 w 3842795"/>
                <a:gd name="connsiteY0" fmla="*/ 0 h 2037207"/>
                <a:gd name="connsiteX1" fmla="*/ 729205 w 3842795"/>
                <a:gd name="connsiteY1" fmla="*/ 127321 h 2037207"/>
                <a:gd name="connsiteX2" fmla="*/ 729205 w 3842795"/>
                <a:gd name="connsiteY2" fmla="*/ 1921397 h 2037207"/>
                <a:gd name="connsiteX3" fmla="*/ 3842795 w 3842795"/>
                <a:gd name="connsiteY3" fmla="*/ 1967695 h 2037207"/>
                <a:gd name="connsiteX0" fmla="*/ 0 w 3842795"/>
                <a:gd name="connsiteY0" fmla="*/ 3032 h 2040239"/>
                <a:gd name="connsiteX1" fmla="*/ 658002 w 3842795"/>
                <a:gd name="connsiteY1" fmla="*/ 119110 h 2040239"/>
                <a:gd name="connsiteX2" fmla="*/ 729205 w 3842795"/>
                <a:gd name="connsiteY2" fmla="*/ 1924429 h 2040239"/>
                <a:gd name="connsiteX3" fmla="*/ 3842795 w 3842795"/>
                <a:gd name="connsiteY3" fmla="*/ 1970727 h 2040239"/>
              </a:gdLst>
              <a:ahLst/>
              <a:cxnLst>
                <a:cxn ang="0">
                  <a:pos x="connsiteX0" y="connsiteY0"/>
                </a:cxn>
                <a:cxn ang="0">
                  <a:pos x="connsiteX1" y="connsiteY1"/>
                </a:cxn>
                <a:cxn ang="0">
                  <a:pos x="connsiteX2" y="connsiteY2"/>
                </a:cxn>
                <a:cxn ang="0">
                  <a:pos x="connsiteX3" y="connsiteY3"/>
                </a:cxn>
              </a:cxnLst>
              <a:rect l="l" t="t" r="r" b="b"/>
              <a:pathLst>
                <a:path w="3842795" h="2040239">
                  <a:moveTo>
                    <a:pt x="0" y="3032"/>
                  </a:moveTo>
                  <a:cubicBezTo>
                    <a:pt x="381965" y="14606"/>
                    <a:pt x="571192" y="-50652"/>
                    <a:pt x="658002" y="119110"/>
                  </a:cubicBezTo>
                  <a:cubicBezTo>
                    <a:pt x="744812" y="288872"/>
                    <a:pt x="538223" y="1604196"/>
                    <a:pt x="729205" y="1924429"/>
                  </a:cubicBezTo>
                  <a:cubicBezTo>
                    <a:pt x="844952" y="2152065"/>
                    <a:pt x="2812648" y="1974585"/>
                    <a:pt x="3842795" y="1970727"/>
                  </a:cubicBezTo>
                </a:path>
              </a:pathLst>
            </a:custGeom>
            <a:noFill/>
            <a:ln w="7302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3" name="Freeform 2">
              <a:extLst>
                <a:ext uri="{FF2B5EF4-FFF2-40B4-BE49-F238E27FC236}">
                  <a16:creationId xmlns:a16="http://schemas.microsoft.com/office/drawing/2014/main" id="{E60693DC-1998-254C-B9E5-C7A71AB73284}"/>
                </a:ext>
              </a:extLst>
            </p:cNvPr>
            <p:cNvSpPr/>
            <p:nvPr/>
          </p:nvSpPr>
          <p:spPr>
            <a:xfrm>
              <a:off x="5465338" y="4722802"/>
              <a:ext cx="823595" cy="566827"/>
            </a:xfrm>
            <a:custGeom>
              <a:avLst/>
              <a:gdLst>
                <a:gd name="connsiteX0" fmla="*/ 0 w 844952"/>
                <a:gd name="connsiteY0" fmla="*/ 0 h 555584"/>
                <a:gd name="connsiteX1" fmla="*/ 844952 w 844952"/>
                <a:gd name="connsiteY1" fmla="*/ 138896 h 555584"/>
                <a:gd name="connsiteX2" fmla="*/ 752355 w 844952"/>
                <a:gd name="connsiteY2" fmla="*/ 555584 h 555584"/>
                <a:gd name="connsiteX0" fmla="*/ 0 w 887733"/>
                <a:gd name="connsiteY0" fmla="*/ 0 h 555584"/>
                <a:gd name="connsiteX1" fmla="*/ 844952 w 887733"/>
                <a:gd name="connsiteY1" fmla="*/ 138896 h 555584"/>
                <a:gd name="connsiteX2" fmla="*/ 752355 w 887733"/>
                <a:gd name="connsiteY2" fmla="*/ 555584 h 555584"/>
                <a:gd name="connsiteX0" fmla="*/ 0 w 871696"/>
                <a:gd name="connsiteY0" fmla="*/ 0 h 570574"/>
                <a:gd name="connsiteX1" fmla="*/ 829962 w 871696"/>
                <a:gd name="connsiteY1" fmla="*/ 153886 h 570574"/>
                <a:gd name="connsiteX2" fmla="*/ 737365 w 871696"/>
                <a:gd name="connsiteY2" fmla="*/ 570574 h 570574"/>
                <a:gd name="connsiteX0" fmla="*/ 0 w 871696"/>
                <a:gd name="connsiteY0" fmla="*/ 0 h 555584"/>
                <a:gd name="connsiteX1" fmla="*/ 829962 w 871696"/>
                <a:gd name="connsiteY1" fmla="*/ 138896 h 555584"/>
                <a:gd name="connsiteX2" fmla="*/ 737365 w 871696"/>
                <a:gd name="connsiteY2" fmla="*/ 555584 h 555584"/>
                <a:gd name="connsiteX0" fmla="*/ 0 w 823595"/>
                <a:gd name="connsiteY0" fmla="*/ 0 h 566827"/>
                <a:gd name="connsiteX1" fmla="*/ 784991 w 823595"/>
                <a:gd name="connsiteY1" fmla="*/ 150139 h 566827"/>
                <a:gd name="connsiteX2" fmla="*/ 692394 w 823595"/>
                <a:gd name="connsiteY2" fmla="*/ 566827 h 566827"/>
              </a:gdLst>
              <a:ahLst/>
              <a:cxnLst>
                <a:cxn ang="0">
                  <a:pos x="connsiteX0" y="connsiteY0"/>
                </a:cxn>
                <a:cxn ang="0">
                  <a:pos x="connsiteX1" y="connsiteY1"/>
                </a:cxn>
                <a:cxn ang="0">
                  <a:pos x="connsiteX2" y="connsiteY2"/>
                </a:cxn>
              </a:cxnLst>
              <a:rect l="l" t="t" r="r" b="b"/>
              <a:pathLst>
                <a:path w="823595" h="566827">
                  <a:moveTo>
                    <a:pt x="0" y="0"/>
                  </a:moveTo>
                  <a:cubicBezTo>
                    <a:pt x="281651" y="46299"/>
                    <a:pt x="669592" y="55668"/>
                    <a:pt x="784991" y="150139"/>
                  </a:cubicBezTo>
                  <a:cubicBezTo>
                    <a:pt x="900390" y="244610"/>
                    <a:pt x="723260" y="427931"/>
                    <a:pt x="692394" y="566827"/>
                  </a:cubicBezTo>
                </a:path>
              </a:pathLst>
            </a:custGeom>
            <a:noFill/>
            <a:ln w="7302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grpSp>
        <p:nvGrpSpPr>
          <p:cNvPr id="153" name="Group 152">
            <a:extLst>
              <a:ext uri="{FF2B5EF4-FFF2-40B4-BE49-F238E27FC236}">
                <a16:creationId xmlns:a16="http://schemas.microsoft.com/office/drawing/2014/main" id="{D5AF5DDD-B170-394F-8F48-6826EE1FF293}"/>
              </a:ext>
            </a:extLst>
          </p:cNvPr>
          <p:cNvGrpSpPr/>
          <p:nvPr/>
        </p:nvGrpSpPr>
        <p:grpSpPr>
          <a:xfrm>
            <a:off x="3233599" y="2326036"/>
            <a:ext cx="2357426" cy="2369023"/>
            <a:chOff x="4114093" y="2303316"/>
            <a:chExt cx="3143235" cy="3158697"/>
          </a:xfrm>
        </p:grpSpPr>
        <p:sp>
          <p:nvSpPr>
            <p:cNvPr id="154" name="Freeform 153">
              <a:extLst>
                <a:ext uri="{FF2B5EF4-FFF2-40B4-BE49-F238E27FC236}">
                  <a16:creationId xmlns:a16="http://schemas.microsoft.com/office/drawing/2014/main" id="{E0602368-B8A0-CD42-B92A-525C411F9FD0}"/>
                </a:ext>
              </a:extLst>
            </p:cNvPr>
            <p:cNvSpPr/>
            <p:nvPr/>
          </p:nvSpPr>
          <p:spPr>
            <a:xfrm>
              <a:off x="4114093" y="2303316"/>
              <a:ext cx="3143235" cy="2416160"/>
            </a:xfrm>
            <a:custGeom>
              <a:avLst/>
              <a:gdLst>
                <a:gd name="connsiteX0" fmla="*/ 0 w 3715473"/>
                <a:gd name="connsiteY0" fmla="*/ 0 h 1794076"/>
                <a:gd name="connsiteX1" fmla="*/ 625033 w 3715473"/>
                <a:gd name="connsiteY1" fmla="*/ 0 h 1794076"/>
                <a:gd name="connsiteX2" fmla="*/ 625033 w 3715473"/>
                <a:gd name="connsiteY2" fmla="*/ 1794076 h 1794076"/>
                <a:gd name="connsiteX3" fmla="*/ 3715473 w 3715473"/>
                <a:gd name="connsiteY3" fmla="*/ 1782501 h 1794076"/>
                <a:gd name="connsiteX0" fmla="*/ 0 w 3715473"/>
                <a:gd name="connsiteY0" fmla="*/ 0 h 1794076"/>
                <a:gd name="connsiteX1" fmla="*/ 625033 w 3715473"/>
                <a:gd name="connsiteY1" fmla="*/ 0 h 1794076"/>
                <a:gd name="connsiteX2" fmla="*/ 625033 w 3715473"/>
                <a:gd name="connsiteY2" fmla="*/ 1794076 h 1794076"/>
                <a:gd name="connsiteX3" fmla="*/ 3715473 w 3715473"/>
                <a:gd name="connsiteY3" fmla="*/ 1782501 h 1794076"/>
                <a:gd name="connsiteX0" fmla="*/ 0 w 3715473"/>
                <a:gd name="connsiteY0" fmla="*/ 0 h 1846891"/>
                <a:gd name="connsiteX1" fmla="*/ 625033 w 3715473"/>
                <a:gd name="connsiteY1" fmla="*/ 0 h 1846891"/>
                <a:gd name="connsiteX2" fmla="*/ 625033 w 3715473"/>
                <a:gd name="connsiteY2" fmla="*/ 1794076 h 1846891"/>
                <a:gd name="connsiteX3" fmla="*/ 3715473 w 3715473"/>
                <a:gd name="connsiteY3" fmla="*/ 1782501 h 1846891"/>
                <a:gd name="connsiteX0" fmla="*/ 0 w 3715473"/>
                <a:gd name="connsiteY0" fmla="*/ 132894 h 1979785"/>
                <a:gd name="connsiteX1" fmla="*/ 625033 w 3715473"/>
                <a:gd name="connsiteY1" fmla="*/ 132894 h 1979785"/>
                <a:gd name="connsiteX2" fmla="*/ 625033 w 3715473"/>
                <a:gd name="connsiteY2" fmla="*/ 1926970 h 1979785"/>
                <a:gd name="connsiteX3" fmla="*/ 3715473 w 3715473"/>
                <a:gd name="connsiteY3" fmla="*/ 1915395 h 1979785"/>
                <a:gd name="connsiteX0" fmla="*/ 0 w 3738623"/>
                <a:gd name="connsiteY0" fmla="*/ 132894 h 1998367"/>
                <a:gd name="connsiteX1" fmla="*/ 625033 w 3738623"/>
                <a:gd name="connsiteY1" fmla="*/ 132894 h 1998367"/>
                <a:gd name="connsiteX2" fmla="*/ 625033 w 3738623"/>
                <a:gd name="connsiteY2" fmla="*/ 1926970 h 1998367"/>
                <a:gd name="connsiteX3" fmla="*/ 3738623 w 3738623"/>
                <a:gd name="connsiteY3" fmla="*/ 1973268 h 1998367"/>
                <a:gd name="connsiteX0" fmla="*/ 0 w 3842795"/>
                <a:gd name="connsiteY0" fmla="*/ 57604 h 2050398"/>
                <a:gd name="connsiteX1" fmla="*/ 729205 w 3842795"/>
                <a:gd name="connsiteY1" fmla="*/ 184925 h 2050398"/>
                <a:gd name="connsiteX2" fmla="*/ 729205 w 3842795"/>
                <a:gd name="connsiteY2" fmla="*/ 1979001 h 2050398"/>
                <a:gd name="connsiteX3" fmla="*/ 3842795 w 3842795"/>
                <a:gd name="connsiteY3" fmla="*/ 2025299 h 2050398"/>
                <a:gd name="connsiteX0" fmla="*/ 0 w 3842795"/>
                <a:gd name="connsiteY0" fmla="*/ 4716 h 1997510"/>
                <a:gd name="connsiteX1" fmla="*/ 729205 w 3842795"/>
                <a:gd name="connsiteY1" fmla="*/ 132037 h 1997510"/>
                <a:gd name="connsiteX2" fmla="*/ 729205 w 3842795"/>
                <a:gd name="connsiteY2" fmla="*/ 1926113 h 1997510"/>
                <a:gd name="connsiteX3" fmla="*/ 3842795 w 3842795"/>
                <a:gd name="connsiteY3" fmla="*/ 1972411 h 1997510"/>
                <a:gd name="connsiteX0" fmla="*/ 0 w 3842795"/>
                <a:gd name="connsiteY0" fmla="*/ 0 h 1992794"/>
                <a:gd name="connsiteX1" fmla="*/ 729205 w 3842795"/>
                <a:gd name="connsiteY1" fmla="*/ 127321 h 1992794"/>
                <a:gd name="connsiteX2" fmla="*/ 729205 w 3842795"/>
                <a:gd name="connsiteY2" fmla="*/ 1921397 h 1992794"/>
                <a:gd name="connsiteX3" fmla="*/ 3842795 w 3842795"/>
                <a:gd name="connsiteY3" fmla="*/ 1967695 h 1992794"/>
                <a:gd name="connsiteX0" fmla="*/ 0 w 3842795"/>
                <a:gd name="connsiteY0" fmla="*/ 0 h 1992794"/>
                <a:gd name="connsiteX1" fmla="*/ 729205 w 3842795"/>
                <a:gd name="connsiteY1" fmla="*/ 127321 h 1992794"/>
                <a:gd name="connsiteX2" fmla="*/ 729205 w 3842795"/>
                <a:gd name="connsiteY2" fmla="*/ 1921397 h 1992794"/>
                <a:gd name="connsiteX3" fmla="*/ 3842795 w 3842795"/>
                <a:gd name="connsiteY3" fmla="*/ 1967695 h 1992794"/>
                <a:gd name="connsiteX0" fmla="*/ 0 w 3842795"/>
                <a:gd name="connsiteY0" fmla="*/ 0 h 2037207"/>
                <a:gd name="connsiteX1" fmla="*/ 729205 w 3842795"/>
                <a:gd name="connsiteY1" fmla="*/ 127321 h 2037207"/>
                <a:gd name="connsiteX2" fmla="*/ 729205 w 3842795"/>
                <a:gd name="connsiteY2" fmla="*/ 1921397 h 2037207"/>
                <a:gd name="connsiteX3" fmla="*/ 3842795 w 3842795"/>
                <a:gd name="connsiteY3" fmla="*/ 1967695 h 2037207"/>
                <a:gd name="connsiteX0" fmla="*/ 68584 w 3182174"/>
                <a:gd name="connsiteY0" fmla="*/ 0 h 1909886"/>
                <a:gd name="connsiteX1" fmla="*/ 68584 w 3182174"/>
                <a:gd name="connsiteY1" fmla="*/ 1794076 h 1909886"/>
                <a:gd name="connsiteX2" fmla="*/ 3182174 w 3182174"/>
                <a:gd name="connsiteY2" fmla="*/ 1840374 h 1909886"/>
                <a:gd name="connsiteX0" fmla="*/ 71679 w 3181522"/>
                <a:gd name="connsiteY0" fmla="*/ 0 h 2430794"/>
                <a:gd name="connsiteX1" fmla="*/ 67932 w 3181522"/>
                <a:gd name="connsiteY1" fmla="*/ 2314984 h 2430794"/>
                <a:gd name="connsiteX2" fmla="*/ 3181522 w 3181522"/>
                <a:gd name="connsiteY2" fmla="*/ 2361282 h 2430794"/>
                <a:gd name="connsiteX0" fmla="*/ 92641 w 3202484"/>
                <a:gd name="connsiteY0" fmla="*/ 0 h 2430794"/>
                <a:gd name="connsiteX1" fmla="*/ 88894 w 3202484"/>
                <a:gd name="connsiteY1" fmla="*/ 2314984 h 2430794"/>
                <a:gd name="connsiteX2" fmla="*/ 3202484 w 3202484"/>
                <a:gd name="connsiteY2" fmla="*/ 2361282 h 2430794"/>
                <a:gd name="connsiteX0" fmla="*/ 88354 w 3198197"/>
                <a:gd name="connsiteY0" fmla="*/ 0 h 2430794"/>
                <a:gd name="connsiteX1" fmla="*/ 84607 w 3198197"/>
                <a:gd name="connsiteY1" fmla="*/ 2314984 h 2430794"/>
                <a:gd name="connsiteX2" fmla="*/ 3198197 w 3198197"/>
                <a:gd name="connsiteY2" fmla="*/ 2361282 h 2430794"/>
                <a:gd name="connsiteX0" fmla="*/ 18407 w 3128250"/>
                <a:gd name="connsiteY0" fmla="*/ 0 h 2430794"/>
                <a:gd name="connsiteX1" fmla="*/ 14660 w 3128250"/>
                <a:gd name="connsiteY1" fmla="*/ 2314984 h 2430794"/>
                <a:gd name="connsiteX2" fmla="*/ 3128250 w 3128250"/>
                <a:gd name="connsiteY2" fmla="*/ 2361282 h 2430794"/>
                <a:gd name="connsiteX0" fmla="*/ 33392 w 3143235"/>
                <a:gd name="connsiteY0" fmla="*/ 0 h 2430794"/>
                <a:gd name="connsiteX1" fmla="*/ 29645 w 3143235"/>
                <a:gd name="connsiteY1" fmla="*/ 2314984 h 2430794"/>
                <a:gd name="connsiteX2" fmla="*/ 3143235 w 3143235"/>
                <a:gd name="connsiteY2" fmla="*/ 2361282 h 2430794"/>
                <a:gd name="connsiteX0" fmla="*/ 33392 w 3143235"/>
                <a:gd name="connsiteY0" fmla="*/ 0 h 2416160"/>
                <a:gd name="connsiteX1" fmla="*/ 29645 w 3143235"/>
                <a:gd name="connsiteY1" fmla="*/ 2314984 h 2416160"/>
                <a:gd name="connsiteX2" fmla="*/ 3143235 w 3143235"/>
                <a:gd name="connsiteY2" fmla="*/ 2361282 h 2416160"/>
              </a:gdLst>
              <a:ahLst/>
              <a:cxnLst>
                <a:cxn ang="0">
                  <a:pos x="connsiteX0" y="connsiteY0"/>
                </a:cxn>
                <a:cxn ang="0">
                  <a:pos x="connsiteX1" y="connsiteY1"/>
                </a:cxn>
                <a:cxn ang="0">
                  <a:pos x="connsiteX2" y="connsiteY2"/>
                </a:cxn>
              </a:cxnLst>
              <a:rect l="l" t="t" r="r" b="b"/>
              <a:pathLst>
                <a:path w="3143235" h="2416160">
                  <a:moveTo>
                    <a:pt x="33392" y="0"/>
                  </a:moveTo>
                  <a:cubicBezTo>
                    <a:pt x="30261" y="244713"/>
                    <a:pt x="-37668" y="2215855"/>
                    <a:pt x="29645" y="2314984"/>
                  </a:cubicBezTo>
                  <a:cubicBezTo>
                    <a:pt x="175372" y="2508892"/>
                    <a:pt x="2113088" y="2365140"/>
                    <a:pt x="3143235" y="2361282"/>
                  </a:cubicBezTo>
                </a:path>
              </a:pathLst>
            </a:custGeom>
            <a:noFill/>
            <a:ln w="7302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sp>
          <p:nvSpPr>
            <p:cNvPr id="155" name="Freeform 154">
              <a:extLst>
                <a:ext uri="{FF2B5EF4-FFF2-40B4-BE49-F238E27FC236}">
                  <a16:creationId xmlns:a16="http://schemas.microsoft.com/office/drawing/2014/main" id="{9FF9A32E-928F-F942-9F0C-5672DDB128E8}"/>
                </a:ext>
              </a:extLst>
            </p:cNvPr>
            <p:cNvSpPr/>
            <p:nvPr/>
          </p:nvSpPr>
          <p:spPr>
            <a:xfrm>
              <a:off x="4906955" y="4715304"/>
              <a:ext cx="814542" cy="746709"/>
            </a:xfrm>
            <a:custGeom>
              <a:avLst/>
              <a:gdLst>
                <a:gd name="connsiteX0" fmla="*/ 0 w 844952"/>
                <a:gd name="connsiteY0" fmla="*/ 0 h 555584"/>
                <a:gd name="connsiteX1" fmla="*/ 844952 w 844952"/>
                <a:gd name="connsiteY1" fmla="*/ 138896 h 555584"/>
                <a:gd name="connsiteX2" fmla="*/ 752355 w 844952"/>
                <a:gd name="connsiteY2" fmla="*/ 555584 h 555584"/>
                <a:gd name="connsiteX0" fmla="*/ 0 w 887733"/>
                <a:gd name="connsiteY0" fmla="*/ 0 h 555584"/>
                <a:gd name="connsiteX1" fmla="*/ 844952 w 887733"/>
                <a:gd name="connsiteY1" fmla="*/ 138896 h 555584"/>
                <a:gd name="connsiteX2" fmla="*/ 752355 w 887733"/>
                <a:gd name="connsiteY2" fmla="*/ 555584 h 555584"/>
                <a:gd name="connsiteX0" fmla="*/ 0 w 871696"/>
                <a:gd name="connsiteY0" fmla="*/ 0 h 570574"/>
                <a:gd name="connsiteX1" fmla="*/ 829962 w 871696"/>
                <a:gd name="connsiteY1" fmla="*/ 153886 h 570574"/>
                <a:gd name="connsiteX2" fmla="*/ 737365 w 871696"/>
                <a:gd name="connsiteY2" fmla="*/ 570574 h 570574"/>
                <a:gd name="connsiteX0" fmla="*/ 0 w 871696"/>
                <a:gd name="connsiteY0" fmla="*/ 0 h 555584"/>
                <a:gd name="connsiteX1" fmla="*/ 829962 w 871696"/>
                <a:gd name="connsiteY1" fmla="*/ 138896 h 555584"/>
                <a:gd name="connsiteX2" fmla="*/ 737365 w 871696"/>
                <a:gd name="connsiteY2" fmla="*/ 555584 h 555584"/>
                <a:gd name="connsiteX0" fmla="*/ 0 w 823595"/>
                <a:gd name="connsiteY0" fmla="*/ 0 h 566827"/>
                <a:gd name="connsiteX1" fmla="*/ 784991 w 823595"/>
                <a:gd name="connsiteY1" fmla="*/ 150139 h 566827"/>
                <a:gd name="connsiteX2" fmla="*/ 692394 w 823595"/>
                <a:gd name="connsiteY2" fmla="*/ 566827 h 566827"/>
                <a:gd name="connsiteX0" fmla="*/ 0 w 811579"/>
                <a:gd name="connsiteY0" fmla="*/ 0 h 746709"/>
                <a:gd name="connsiteX1" fmla="*/ 784991 w 811579"/>
                <a:gd name="connsiteY1" fmla="*/ 150139 h 746709"/>
                <a:gd name="connsiteX2" fmla="*/ 624939 w 811579"/>
                <a:gd name="connsiteY2" fmla="*/ 746709 h 746709"/>
                <a:gd name="connsiteX0" fmla="*/ 0 w 814542"/>
                <a:gd name="connsiteY0" fmla="*/ 0 h 746709"/>
                <a:gd name="connsiteX1" fmla="*/ 784991 w 814542"/>
                <a:gd name="connsiteY1" fmla="*/ 150139 h 746709"/>
                <a:gd name="connsiteX2" fmla="*/ 624939 w 814542"/>
                <a:gd name="connsiteY2" fmla="*/ 746709 h 746709"/>
              </a:gdLst>
              <a:ahLst/>
              <a:cxnLst>
                <a:cxn ang="0">
                  <a:pos x="connsiteX0" y="connsiteY0"/>
                </a:cxn>
                <a:cxn ang="0">
                  <a:pos x="connsiteX1" y="connsiteY1"/>
                </a:cxn>
                <a:cxn ang="0">
                  <a:pos x="connsiteX2" y="connsiteY2"/>
                </a:cxn>
              </a:cxnLst>
              <a:rect l="l" t="t" r="r" b="b"/>
              <a:pathLst>
                <a:path w="814542" h="746709">
                  <a:moveTo>
                    <a:pt x="0" y="0"/>
                  </a:moveTo>
                  <a:cubicBezTo>
                    <a:pt x="281651" y="46299"/>
                    <a:pt x="680835" y="25688"/>
                    <a:pt x="784991" y="150139"/>
                  </a:cubicBezTo>
                  <a:cubicBezTo>
                    <a:pt x="889147" y="274590"/>
                    <a:pt x="689533" y="604065"/>
                    <a:pt x="624939" y="746709"/>
                  </a:cubicBezTo>
                </a:path>
              </a:pathLst>
            </a:custGeom>
            <a:noFill/>
            <a:ln w="7302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a:solidFill>
                  <a:prstClr val="white"/>
                </a:solidFill>
                <a:latin typeface="Calibri" panose="020F0502020204030204"/>
              </a:endParaRPr>
            </a:p>
          </p:txBody>
        </p:sp>
      </p:grpSp>
      <p:sp>
        <p:nvSpPr>
          <p:cNvPr id="123" name="Slide Number Placeholder 3">
            <a:extLst>
              <a:ext uri="{FF2B5EF4-FFF2-40B4-BE49-F238E27FC236}">
                <a16:creationId xmlns:a16="http://schemas.microsoft.com/office/drawing/2014/main" id="{827DEB79-C6BC-CE43-A606-33289E83861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146</a:t>
            </a:fld>
            <a:endParaRPr lang="en-US" dirty="0"/>
          </a:p>
        </p:txBody>
      </p:sp>
      <p:sp>
        <p:nvSpPr>
          <p:cNvPr id="5" name="Rectangle 2">
            <a:extLst>
              <a:ext uri="{FF2B5EF4-FFF2-40B4-BE49-F238E27FC236}">
                <a16:creationId xmlns:a16="http://schemas.microsoft.com/office/drawing/2014/main" id="{1DFCD437-F8DB-5B43-A640-494686331576}"/>
              </a:ext>
            </a:extLst>
          </p:cNvPr>
          <p:cNvSpPr txBox="1">
            <a:spLocks noChangeArrowheads="1"/>
          </p:cNvSpPr>
          <p:nvPr/>
        </p:nvSpPr>
        <p:spPr bwMode="auto">
          <a:xfrm>
            <a:off x="1263874" y="1049554"/>
            <a:ext cx="7194986"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rgbClr val="00B0F0"/>
                </a:solidFill>
                <a:latin typeface="Arial"/>
                <a:ea typeface="ＭＳ Ｐゴシック" pitchFamily="34" charset="-128"/>
                <a:cs typeface="Arial"/>
              </a:rPr>
              <a:t>Examples 3</a:t>
            </a:r>
          </a:p>
        </p:txBody>
      </p:sp>
    </p:spTree>
    <p:extLst>
      <p:ext uri="{BB962C8B-B14F-4D97-AF65-F5344CB8AC3E}">
        <p14:creationId xmlns:p14="http://schemas.microsoft.com/office/powerpoint/2010/main" val="313647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5"/>
                                        </p:tgtEl>
                                        <p:attrNameLst>
                                          <p:attrName>style.visibility</p:attrName>
                                        </p:attrNameLst>
                                      </p:cBhvr>
                                      <p:to>
                                        <p:strVal val="visible"/>
                                      </p:to>
                                    </p:set>
                                    <p:animEffect transition="in" filter="dissolve">
                                      <p:cBhvr>
                                        <p:cTn id="7" dur="500"/>
                                        <p:tgtEl>
                                          <p:spTgt spid="3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53"/>
                                        </p:tgtEl>
                                        <p:attrNameLst>
                                          <p:attrName>style.visibility</p:attrName>
                                        </p:attrNameLst>
                                      </p:cBhvr>
                                      <p:to>
                                        <p:strVal val="visible"/>
                                      </p:to>
                                    </p:set>
                                    <p:animEffect transition="in" filter="wipe(up)">
                                      <p:cBhvr>
                                        <p:cTn id="16"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3">
            <a:extLst>
              <a:ext uri="{FF2B5EF4-FFF2-40B4-BE49-F238E27FC236}">
                <a16:creationId xmlns:a16="http://schemas.microsoft.com/office/drawing/2014/main" id="{E7BEE61A-64E6-DE4D-BFDF-3FCE93998A1C}"/>
              </a:ext>
            </a:extLst>
          </p:cNvPr>
          <p:cNvGrpSpPr>
            <a:grpSpLocks/>
          </p:cNvGrpSpPr>
          <p:nvPr/>
        </p:nvGrpSpPr>
        <p:grpSpPr bwMode="auto">
          <a:xfrm>
            <a:off x="347895" y="1263650"/>
            <a:ext cx="2997200" cy="1262063"/>
            <a:chOff x="637575" y="1263648"/>
            <a:chExt cx="2998252" cy="1261939"/>
          </a:xfrm>
        </p:grpSpPr>
        <p:sp>
          <p:nvSpPr>
            <p:cNvPr id="197" name="Freeform 196">
              <a:extLst>
                <a:ext uri="{FF2B5EF4-FFF2-40B4-BE49-F238E27FC236}">
                  <a16:creationId xmlns:a16="http://schemas.microsoft.com/office/drawing/2014/main" id="{2BA24DE0-E659-F449-99A3-113A05C0B6F3}"/>
                </a:ext>
              </a:extLst>
            </p:cNvPr>
            <p:cNvSpPr/>
            <p:nvPr/>
          </p:nvSpPr>
          <p:spPr>
            <a:xfrm flipV="1">
              <a:off x="678864" y="2160498"/>
              <a:ext cx="2956963" cy="365089"/>
            </a:xfrm>
            <a:custGeom>
              <a:avLst/>
              <a:gdLst>
                <a:gd name="connsiteX0" fmla="*/ 0 w 3026833"/>
                <a:gd name="connsiteY0" fmla="*/ 846667 h 846667"/>
                <a:gd name="connsiteX1" fmla="*/ 2222500 w 3026833"/>
                <a:gd name="connsiteY1" fmla="*/ 613833 h 846667"/>
                <a:gd name="connsiteX2" fmla="*/ 3026833 w 3026833"/>
                <a:gd name="connsiteY2" fmla="*/ 0 h 846667"/>
                <a:gd name="connsiteX3" fmla="*/ 2751667 w 3026833"/>
                <a:gd name="connsiteY3" fmla="*/ 423333 h 846667"/>
                <a:gd name="connsiteX4" fmla="*/ 2730500 w 3026833"/>
                <a:gd name="connsiteY4" fmla="*/ 825500 h 846667"/>
                <a:gd name="connsiteX5" fmla="*/ 0 w 3026833"/>
                <a:gd name="connsiteY5" fmla="*/ 846667 h 846667"/>
                <a:gd name="connsiteX0" fmla="*/ 0 w 3026833"/>
                <a:gd name="connsiteY0" fmla="*/ 846667 h 846667"/>
                <a:gd name="connsiteX1" fmla="*/ 2222500 w 3026833"/>
                <a:gd name="connsiteY1" fmla="*/ 613833 h 846667"/>
                <a:gd name="connsiteX2" fmla="*/ 3026833 w 3026833"/>
                <a:gd name="connsiteY2" fmla="*/ 0 h 846667"/>
                <a:gd name="connsiteX3" fmla="*/ 2751667 w 3026833"/>
                <a:gd name="connsiteY3" fmla="*/ 423333 h 846667"/>
                <a:gd name="connsiteX4" fmla="*/ 2744304 w 3026833"/>
                <a:gd name="connsiteY4" fmla="*/ 839304 h 846667"/>
                <a:gd name="connsiteX5" fmla="*/ 0 w 3026833"/>
                <a:gd name="connsiteY5" fmla="*/ 846667 h 846667"/>
                <a:gd name="connsiteX0" fmla="*/ 0 w 3042275"/>
                <a:gd name="connsiteY0" fmla="*/ 848898 h 848898"/>
                <a:gd name="connsiteX1" fmla="*/ 2222500 w 3042275"/>
                <a:gd name="connsiteY1" fmla="*/ 616064 h 848898"/>
                <a:gd name="connsiteX2" fmla="*/ 3026833 w 3042275"/>
                <a:gd name="connsiteY2" fmla="*/ 2231 h 848898"/>
                <a:gd name="connsiteX3" fmla="*/ 2751667 w 3042275"/>
                <a:gd name="connsiteY3" fmla="*/ 425564 h 848898"/>
                <a:gd name="connsiteX4" fmla="*/ 2744304 w 3042275"/>
                <a:gd name="connsiteY4" fmla="*/ 841535 h 848898"/>
                <a:gd name="connsiteX5" fmla="*/ 0 w 3042275"/>
                <a:gd name="connsiteY5" fmla="*/ 848898 h 848898"/>
                <a:gd name="connsiteX0" fmla="*/ 0 w 3042275"/>
                <a:gd name="connsiteY0" fmla="*/ 848898 h 848898"/>
                <a:gd name="connsiteX1" fmla="*/ 2222500 w 3042275"/>
                <a:gd name="connsiteY1" fmla="*/ 616064 h 848898"/>
                <a:gd name="connsiteX2" fmla="*/ 3026833 w 3042275"/>
                <a:gd name="connsiteY2" fmla="*/ 2231 h 848898"/>
                <a:gd name="connsiteX3" fmla="*/ 2751667 w 3042275"/>
                <a:gd name="connsiteY3" fmla="*/ 425564 h 848898"/>
                <a:gd name="connsiteX4" fmla="*/ 2744304 w 3042275"/>
                <a:gd name="connsiteY4" fmla="*/ 841535 h 848898"/>
                <a:gd name="connsiteX5" fmla="*/ 0 w 3042275"/>
                <a:gd name="connsiteY5" fmla="*/ 848898 h 848898"/>
                <a:gd name="connsiteX0" fmla="*/ 3038 w 3045313"/>
                <a:gd name="connsiteY0" fmla="*/ 848898 h 848898"/>
                <a:gd name="connsiteX1" fmla="*/ 2225538 w 3045313"/>
                <a:gd name="connsiteY1" fmla="*/ 616064 h 848898"/>
                <a:gd name="connsiteX2" fmla="*/ 3029871 w 3045313"/>
                <a:gd name="connsiteY2" fmla="*/ 2231 h 848898"/>
                <a:gd name="connsiteX3" fmla="*/ 2754705 w 3045313"/>
                <a:gd name="connsiteY3" fmla="*/ 425564 h 848898"/>
                <a:gd name="connsiteX4" fmla="*/ 2747342 w 3045313"/>
                <a:gd name="connsiteY4" fmla="*/ 841535 h 848898"/>
                <a:gd name="connsiteX5" fmla="*/ 3038 w 3045313"/>
                <a:gd name="connsiteY5" fmla="*/ 848898 h 848898"/>
                <a:gd name="connsiteX0" fmla="*/ 2799 w 3045074"/>
                <a:gd name="connsiteY0" fmla="*/ 848898 h 848898"/>
                <a:gd name="connsiteX1" fmla="*/ 2225299 w 3045074"/>
                <a:gd name="connsiteY1" fmla="*/ 616064 h 848898"/>
                <a:gd name="connsiteX2" fmla="*/ 3029632 w 3045074"/>
                <a:gd name="connsiteY2" fmla="*/ 2231 h 848898"/>
                <a:gd name="connsiteX3" fmla="*/ 2754466 w 3045074"/>
                <a:gd name="connsiteY3" fmla="*/ 425564 h 848898"/>
                <a:gd name="connsiteX4" fmla="*/ 2747103 w 3045074"/>
                <a:gd name="connsiteY4" fmla="*/ 841535 h 848898"/>
                <a:gd name="connsiteX5" fmla="*/ 2799 w 3045074"/>
                <a:gd name="connsiteY5" fmla="*/ 848898 h 848898"/>
                <a:gd name="connsiteX0" fmla="*/ 2799 w 3045074"/>
                <a:gd name="connsiteY0" fmla="*/ 848898 h 848898"/>
                <a:gd name="connsiteX1" fmla="*/ 2225299 w 3045074"/>
                <a:gd name="connsiteY1" fmla="*/ 616064 h 848898"/>
                <a:gd name="connsiteX2" fmla="*/ 3029632 w 3045074"/>
                <a:gd name="connsiteY2" fmla="*/ 2231 h 848898"/>
                <a:gd name="connsiteX3" fmla="*/ 2754466 w 3045074"/>
                <a:gd name="connsiteY3" fmla="*/ 425564 h 848898"/>
                <a:gd name="connsiteX4" fmla="*/ 2747103 w 3045074"/>
                <a:gd name="connsiteY4" fmla="*/ 841535 h 848898"/>
                <a:gd name="connsiteX5" fmla="*/ 2799 w 3045074"/>
                <a:gd name="connsiteY5" fmla="*/ 848898 h 848898"/>
                <a:gd name="connsiteX0" fmla="*/ 3018 w 2975668"/>
                <a:gd name="connsiteY0" fmla="*/ 443744 h 443744"/>
                <a:gd name="connsiteX1" fmla="*/ 2225518 w 2975668"/>
                <a:gd name="connsiteY1" fmla="*/ 210910 h 443744"/>
                <a:gd name="connsiteX2" fmla="*/ 2957279 w 2975668"/>
                <a:gd name="connsiteY2" fmla="*/ 79158 h 443744"/>
                <a:gd name="connsiteX3" fmla="*/ 2754685 w 2975668"/>
                <a:gd name="connsiteY3" fmla="*/ 20410 h 443744"/>
                <a:gd name="connsiteX4" fmla="*/ 2747322 w 2975668"/>
                <a:gd name="connsiteY4" fmla="*/ 436381 h 443744"/>
                <a:gd name="connsiteX5" fmla="*/ 3018 w 2975668"/>
                <a:gd name="connsiteY5" fmla="*/ 443744 h 443744"/>
                <a:gd name="connsiteX0" fmla="*/ 3018 w 2957279"/>
                <a:gd name="connsiteY0" fmla="*/ 454405 h 454405"/>
                <a:gd name="connsiteX1" fmla="*/ 2225518 w 2957279"/>
                <a:gd name="connsiteY1" fmla="*/ 221571 h 454405"/>
                <a:gd name="connsiteX2" fmla="*/ 2957279 w 2957279"/>
                <a:gd name="connsiteY2" fmla="*/ 89819 h 454405"/>
                <a:gd name="connsiteX3" fmla="*/ 2754685 w 2957279"/>
                <a:gd name="connsiteY3" fmla="*/ 31071 h 454405"/>
                <a:gd name="connsiteX4" fmla="*/ 2747322 w 2957279"/>
                <a:gd name="connsiteY4" fmla="*/ 447042 h 454405"/>
                <a:gd name="connsiteX5" fmla="*/ 3018 w 2957279"/>
                <a:gd name="connsiteY5" fmla="*/ 454405 h 454405"/>
                <a:gd name="connsiteX0" fmla="*/ 3018 w 2957279"/>
                <a:gd name="connsiteY0" fmla="*/ 496161 h 496161"/>
                <a:gd name="connsiteX1" fmla="*/ 2225518 w 2957279"/>
                <a:gd name="connsiteY1" fmla="*/ 263327 h 496161"/>
                <a:gd name="connsiteX2" fmla="*/ 2957279 w 2957279"/>
                <a:gd name="connsiteY2" fmla="*/ 131575 h 496161"/>
                <a:gd name="connsiteX3" fmla="*/ 2754685 w 2957279"/>
                <a:gd name="connsiteY3" fmla="*/ 72827 h 496161"/>
                <a:gd name="connsiteX4" fmla="*/ 2747322 w 2957279"/>
                <a:gd name="connsiteY4" fmla="*/ 488798 h 496161"/>
                <a:gd name="connsiteX5" fmla="*/ 3018 w 2957279"/>
                <a:gd name="connsiteY5" fmla="*/ 496161 h 496161"/>
                <a:gd name="connsiteX0" fmla="*/ 3018 w 2957279"/>
                <a:gd name="connsiteY0" fmla="*/ 496161 h 496161"/>
                <a:gd name="connsiteX1" fmla="*/ 2225518 w 2957279"/>
                <a:gd name="connsiteY1" fmla="*/ 263327 h 496161"/>
                <a:gd name="connsiteX2" fmla="*/ 2957279 w 2957279"/>
                <a:gd name="connsiteY2" fmla="*/ 131575 h 496161"/>
                <a:gd name="connsiteX3" fmla="*/ 2780603 w 2957279"/>
                <a:gd name="connsiteY3" fmla="*/ 269807 h 496161"/>
                <a:gd name="connsiteX4" fmla="*/ 2747322 w 2957279"/>
                <a:gd name="connsiteY4" fmla="*/ 488798 h 496161"/>
                <a:gd name="connsiteX5" fmla="*/ 3018 w 2957279"/>
                <a:gd name="connsiteY5" fmla="*/ 496161 h 496161"/>
                <a:gd name="connsiteX0" fmla="*/ 3018 w 2957279"/>
                <a:gd name="connsiteY0" fmla="*/ 496161 h 496161"/>
                <a:gd name="connsiteX1" fmla="*/ 2225518 w 2957279"/>
                <a:gd name="connsiteY1" fmla="*/ 263327 h 496161"/>
                <a:gd name="connsiteX2" fmla="*/ 2957279 w 2957279"/>
                <a:gd name="connsiteY2" fmla="*/ 131575 h 496161"/>
                <a:gd name="connsiteX3" fmla="*/ 2780603 w 2957279"/>
                <a:gd name="connsiteY3" fmla="*/ 269807 h 496161"/>
                <a:gd name="connsiteX4" fmla="*/ 2747322 w 2957279"/>
                <a:gd name="connsiteY4" fmla="*/ 488798 h 496161"/>
                <a:gd name="connsiteX5" fmla="*/ 3018 w 2957279"/>
                <a:gd name="connsiteY5" fmla="*/ 496161 h 496161"/>
                <a:gd name="connsiteX0" fmla="*/ 3018 w 2957279"/>
                <a:gd name="connsiteY0" fmla="*/ 364586 h 364586"/>
                <a:gd name="connsiteX1" fmla="*/ 2225518 w 2957279"/>
                <a:gd name="connsiteY1" fmla="*/ 131752 h 364586"/>
                <a:gd name="connsiteX2" fmla="*/ 2957279 w 2957279"/>
                <a:gd name="connsiteY2" fmla="*/ 0 h 364586"/>
                <a:gd name="connsiteX3" fmla="*/ 2780603 w 2957279"/>
                <a:gd name="connsiteY3" fmla="*/ 138232 h 364586"/>
                <a:gd name="connsiteX4" fmla="*/ 2747322 w 2957279"/>
                <a:gd name="connsiteY4" fmla="*/ 357223 h 364586"/>
                <a:gd name="connsiteX5" fmla="*/ 3018 w 2957279"/>
                <a:gd name="connsiteY5" fmla="*/ 364586 h 36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79" h="364586">
                  <a:moveTo>
                    <a:pt x="3018" y="364586"/>
                  </a:moveTo>
                  <a:cubicBezTo>
                    <a:pt x="-83949" y="327008"/>
                    <a:pt x="1733141" y="192516"/>
                    <a:pt x="2225518" y="131752"/>
                  </a:cubicBezTo>
                  <a:cubicBezTo>
                    <a:pt x="2717895" y="70988"/>
                    <a:pt x="2402554" y="114689"/>
                    <a:pt x="2957279" y="0"/>
                  </a:cubicBezTo>
                  <a:cubicBezTo>
                    <a:pt x="2832942" y="71922"/>
                    <a:pt x="2815596" y="78695"/>
                    <a:pt x="2780603" y="138232"/>
                  </a:cubicBezTo>
                  <a:cubicBezTo>
                    <a:pt x="2745610" y="197769"/>
                    <a:pt x="2727394" y="213043"/>
                    <a:pt x="2747322" y="357223"/>
                  </a:cubicBezTo>
                  <a:lnTo>
                    <a:pt x="3018" y="364586"/>
                  </a:lnTo>
                  <a:close/>
                </a:path>
              </a:pathLst>
            </a:custGeom>
            <a:gradFill flip="none" rotWithShape="1">
              <a:gsLst>
                <a:gs pos="0">
                  <a:schemeClr val="bg1"/>
                </a:gs>
                <a:gs pos="100000">
                  <a:schemeClr val="bg1">
                    <a:lumMod val="75000"/>
                  </a:schemeClr>
                </a:gs>
              </a:gsLst>
              <a:lin ang="5400000" scaled="0"/>
              <a:tileRect/>
            </a:gradFill>
          </p:spPr>
          <p:txBody>
            <a:bodyPr wrap="none"/>
            <a:lstStyle/>
            <a:p>
              <a:pPr>
                <a:defRPr/>
              </a:pPr>
              <a:endParaRPr lang="en-US" dirty="0">
                <a:latin typeface="Arial" charset="0"/>
                <a:ea typeface="ＭＳ Ｐゴシック" charset="0"/>
                <a:cs typeface="ＭＳ Ｐゴシック" charset="0"/>
              </a:endParaRPr>
            </a:p>
          </p:txBody>
        </p:sp>
        <p:grpSp>
          <p:nvGrpSpPr>
            <p:cNvPr id="114836" name="Group 188">
              <a:extLst>
                <a:ext uri="{FF2B5EF4-FFF2-40B4-BE49-F238E27FC236}">
                  <a16:creationId xmlns:a16="http://schemas.microsoft.com/office/drawing/2014/main" id="{97244ACA-FFA2-1945-BFFF-A3459B400EB3}"/>
                </a:ext>
              </a:extLst>
            </p:cNvPr>
            <p:cNvGrpSpPr>
              <a:grpSpLocks/>
            </p:cNvGrpSpPr>
            <p:nvPr/>
          </p:nvGrpSpPr>
          <p:grpSpPr bwMode="auto">
            <a:xfrm>
              <a:off x="637575" y="1263648"/>
              <a:ext cx="2833213" cy="916517"/>
              <a:chOff x="-994833" y="4042832"/>
              <a:chExt cx="2833213" cy="916517"/>
            </a:xfrm>
          </p:grpSpPr>
          <p:sp>
            <p:nvSpPr>
              <p:cNvPr id="190" name="Rectangle 189">
                <a:extLst>
                  <a:ext uri="{FF2B5EF4-FFF2-40B4-BE49-F238E27FC236}">
                    <a16:creationId xmlns:a16="http://schemas.microsoft.com/office/drawing/2014/main" id="{944972E5-9866-9446-8D2C-0FAEC1D17799}"/>
                  </a:ext>
                </a:extLst>
              </p:cNvPr>
              <p:cNvSpPr/>
              <p:nvPr/>
            </p:nvSpPr>
            <p:spPr bwMode="auto">
              <a:xfrm>
                <a:off x="-977364" y="4042832"/>
                <a:ext cx="2775924" cy="915898"/>
              </a:xfrm>
              <a:prstGeom prst="rect">
                <a:avLst/>
              </a:prstGeom>
              <a:solidFill>
                <a:schemeClr val="bg1">
                  <a:lumMod val="75000"/>
                </a:schemeClr>
              </a:solidFill>
              <a:ln w="9525" cap="flat" cmpd="sng" algn="ctr">
                <a:solidFill>
                  <a:schemeClr val="accent6"/>
                </a:solidFill>
                <a:prstDash val="solid"/>
                <a:round/>
                <a:headEnd type="none" w="med" len="med"/>
                <a:tailEnd type="none" w="med" len="med"/>
              </a:ln>
              <a:effectLst/>
            </p:spPr>
            <p:txBody>
              <a:bodyPr wrap="none"/>
              <a:lstStyle/>
              <a:p>
                <a:pPr>
                  <a:defRPr/>
                </a:pPr>
                <a:endParaRPr lang="en-US">
                  <a:latin typeface="Arial" charset="0"/>
                  <a:ea typeface="ＭＳ Ｐゴシック" charset="0"/>
                  <a:cs typeface="ＭＳ Ｐゴシック" charset="0"/>
                </a:endParaRPr>
              </a:p>
            </p:txBody>
          </p:sp>
          <p:sp>
            <p:nvSpPr>
              <p:cNvPr id="114838" name="TextBox 190">
                <a:extLst>
                  <a:ext uri="{FF2B5EF4-FFF2-40B4-BE49-F238E27FC236}">
                    <a16:creationId xmlns:a16="http://schemas.microsoft.com/office/drawing/2014/main" id="{681EC5EB-E733-A043-996E-C32FB4DB164C}"/>
                  </a:ext>
                </a:extLst>
              </p:cNvPr>
              <p:cNvSpPr txBox="1">
                <a:spLocks noChangeArrowheads="1"/>
              </p:cNvSpPr>
              <p:nvPr/>
            </p:nvSpPr>
            <p:spPr bwMode="auto">
              <a:xfrm>
                <a:off x="-931177" y="4360336"/>
                <a:ext cx="1646504"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IP Src = 10.3.*.*</a:t>
                </a:r>
              </a:p>
              <a:p>
                <a:r>
                  <a:rPr lang="en-US" altLang="en-US" sz="1600"/>
                  <a:t>IP Dst = 10.2.*.*</a:t>
                </a:r>
              </a:p>
            </p:txBody>
          </p:sp>
          <p:sp>
            <p:nvSpPr>
              <p:cNvPr id="114839" name="TextBox 191">
                <a:extLst>
                  <a:ext uri="{FF2B5EF4-FFF2-40B4-BE49-F238E27FC236}">
                    <a16:creationId xmlns:a16="http://schemas.microsoft.com/office/drawing/2014/main" id="{190081AE-1387-2848-8290-5B4110F8AF0B}"/>
                  </a:ext>
                </a:extLst>
              </p:cNvPr>
              <p:cNvSpPr txBox="1">
                <a:spLocks noChangeArrowheads="1"/>
              </p:cNvSpPr>
              <p:nvPr/>
            </p:nvSpPr>
            <p:spPr bwMode="auto">
              <a:xfrm>
                <a:off x="718763" y="4491568"/>
                <a:ext cx="1119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forward(3)</a:t>
                </a:r>
              </a:p>
            </p:txBody>
          </p:sp>
          <p:cxnSp>
            <p:nvCxnSpPr>
              <p:cNvPr id="114840" name="Straight Connector 192">
                <a:extLst>
                  <a:ext uri="{FF2B5EF4-FFF2-40B4-BE49-F238E27FC236}">
                    <a16:creationId xmlns:a16="http://schemas.microsoft.com/office/drawing/2014/main" id="{60B6B644-5A43-E046-9418-F6BBE2F09E6F}"/>
                  </a:ext>
                </a:extLst>
              </p:cNvPr>
              <p:cNvCxnSpPr>
                <a:cxnSpLocks noChangeShapeType="1"/>
              </p:cNvCxnSpPr>
              <p:nvPr/>
            </p:nvCxnSpPr>
            <p:spPr bwMode="auto">
              <a:xfrm>
                <a:off x="-994833" y="4402666"/>
                <a:ext cx="279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14841" name="TextBox 193">
                <a:extLst>
                  <a:ext uri="{FF2B5EF4-FFF2-40B4-BE49-F238E27FC236}">
                    <a16:creationId xmlns:a16="http://schemas.microsoft.com/office/drawing/2014/main" id="{E6529683-6861-1C4F-AC95-830C9A3C3707}"/>
                  </a:ext>
                </a:extLst>
              </p:cNvPr>
              <p:cNvSpPr txBox="1">
                <a:spLocks noChangeArrowheads="1"/>
              </p:cNvSpPr>
              <p:nvPr/>
            </p:nvSpPr>
            <p:spPr bwMode="auto">
              <a:xfrm>
                <a:off x="-674004" y="4051301"/>
                <a:ext cx="7434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match</a:t>
                </a:r>
              </a:p>
            </p:txBody>
          </p:sp>
          <p:sp>
            <p:nvSpPr>
              <p:cNvPr id="114842" name="TextBox 194">
                <a:extLst>
                  <a:ext uri="{FF2B5EF4-FFF2-40B4-BE49-F238E27FC236}">
                    <a16:creationId xmlns:a16="http://schemas.microsoft.com/office/drawing/2014/main" id="{F8D97B3E-6016-F449-BA7D-3F23FA7286B4}"/>
                  </a:ext>
                </a:extLst>
              </p:cNvPr>
              <p:cNvSpPr txBox="1">
                <a:spLocks noChangeArrowheads="1"/>
              </p:cNvSpPr>
              <p:nvPr/>
            </p:nvSpPr>
            <p:spPr bwMode="auto">
              <a:xfrm>
                <a:off x="875396" y="4055535"/>
                <a:ext cx="7321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action</a:t>
                </a:r>
              </a:p>
            </p:txBody>
          </p:sp>
          <p:cxnSp>
            <p:nvCxnSpPr>
              <p:cNvPr id="114843" name="Straight Connector 195">
                <a:extLst>
                  <a:ext uri="{FF2B5EF4-FFF2-40B4-BE49-F238E27FC236}">
                    <a16:creationId xmlns:a16="http://schemas.microsoft.com/office/drawing/2014/main" id="{55E1D109-DB34-A243-8B85-BBAE7B7546F6}"/>
                  </a:ext>
                </a:extLst>
              </p:cNvPr>
              <p:cNvCxnSpPr>
                <a:cxnSpLocks noChangeShapeType="1"/>
              </p:cNvCxnSpPr>
              <p:nvPr/>
            </p:nvCxnSpPr>
            <p:spPr bwMode="auto">
              <a:xfrm>
                <a:off x="738264" y="4049182"/>
                <a:ext cx="1" cy="904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grpSp>
        <p:nvGrpSpPr>
          <p:cNvPr id="4" name="Group 76">
            <a:extLst>
              <a:ext uri="{FF2B5EF4-FFF2-40B4-BE49-F238E27FC236}">
                <a16:creationId xmlns:a16="http://schemas.microsoft.com/office/drawing/2014/main" id="{4C6DE694-301A-7147-91B1-1467A59E1866}"/>
              </a:ext>
            </a:extLst>
          </p:cNvPr>
          <p:cNvGrpSpPr>
            <a:grpSpLocks/>
          </p:cNvGrpSpPr>
          <p:nvPr/>
        </p:nvGrpSpPr>
        <p:grpSpPr bwMode="auto">
          <a:xfrm>
            <a:off x="5666020" y="4510088"/>
            <a:ext cx="2894013" cy="2022475"/>
            <a:chOff x="5956617" y="4509743"/>
            <a:chExt cx="2893901" cy="2022127"/>
          </a:xfrm>
        </p:grpSpPr>
        <p:sp>
          <p:nvSpPr>
            <p:cNvPr id="208" name="Freeform 207">
              <a:extLst>
                <a:ext uri="{FF2B5EF4-FFF2-40B4-BE49-F238E27FC236}">
                  <a16:creationId xmlns:a16="http://schemas.microsoft.com/office/drawing/2014/main" id="{B1E74701-B991-B546-AB2C-392D3444ADB9}"/>
                </a:ext>
              </a:extLst>
            </p:cNvPr>
            <p:cNvSpPr/>
            <p:nvPr/>
          </p:nvSpPr>
          <p:spPr>
            <a:xfrm flipH="1">
              <a:off x="5956617" y="4509743"/>
              <a:ext cx="2838340" cy="630129"/>
            </a:xfrm>
            <a:custGeom>
              <a:avLst/>
              <a:gdLst>
                <a:gd name="connsiteX0" fmla="*/ 0 w 3026833"/>
                <a:gd name="connsiteY0" fmla="*/ 846667 h 846667"/>
                <a:gd name="connsiteX1" fmla="*/ 2222500 w 3026833"/>
                <a:gd name="connsiteY1" fmla="*/ 613833 h 846667"/>
                <a:gd name="connsiteX2" fmla="*/ 3026833 w 3026833"/>
                <a:gd name="connsiteY2" fmla="*/ 0 h 846667"/>
                <a:gd name="connsiteX3" fmla="*/ 2751667 w 3026833"/>
                <a:gd name="connsiteY3" fmla="*/ 423333 h 846667"/>
                <a:gd name="connsiteX4" fmla="*/ 2730500 w 3026833"/>
                <a:gd name="connsiteY4" fmla="*/ 825500 h 846667"/>
                <a:gd name="connsiteX5" fmla="*/ 0 w 3026833"/>
                <a:gd name="connsiteY5" fmla="*/ 846667 h 846667"/>
                <a:gd name="connsiteX0" fmla="*/ 0 w 3026833"/>
                <a:gd name="connsiteY0" fmla="*/ 846667 h 846667"/>
                <a:gd name="connsiteX1" fmla="*/ 2222500 w 3026833"/>
                <a:gd name="connsiteY1" fmla="*/ 613833 h 846667"/>
                <a:gd name="connsiteX2" fmla="*/ 3026833 w 3026833"/>
                <a:gd name="connsiteY2" fmla="*/ 0 h 846667"/>
                <a:gd name="connsiteX3" fmla="*/ 2751667 w 3026833"/>
                <a:gd name="connsiteY3" fmla="*/ 423333 h 846667"/>
                <a:gd name="connsiteX4" fmla="*/ 2744304 w 3026833"/>
                <a:gd name="connsiteY4" fmla="*/ 839304 h 846667"/>
                <a:gd name="connsiteX5" fmla="*/ 0 w 3026833"/>
                <a:gd name="connsiteY5" fmla="*/ 846667 h 846667"/>
                <a:gd name="connsiteX0" fmla="*/ 0 w 3042275"/>
                <a:gd name="connsiteY0" fmla="*/ 848898 h 848898"/>
                <a:gd name="connsiteX1" fmla="*/ 2222500 w 3042275"/>
                <a:gd name="connsiteY1" fmla="*/ 616064 h 848898"/>
                <a:gd name="connsiteX2" fmla="*/ 3026833 w 3042275"/>
                <a:gd name="connsiteY2" fmla="*/ 2231 h 848898"/>
                <a:gd name="connsiteX3" fmla="*/ 2751667 w 3042275"/>
                <a:gd name="connsiteY3" fmla="*/ 425564 h 848898"/>
                <a:gd name="connsiteX4" fmla="*/ 2744304 w 3042275"/>
                <a:gd name="connsiteY4" fmla="*/ 841535 h 848898"/>
                <a:gd name="connsiteX5" fmla="*/ 0 w 3042275"/>
                <a:gd name="connsiteY5" fmla="*/ 848898 h 848898"/>
                <a:gd name="connsiteX0" fmla="*/ 0 w 3042275"/>
                <a:gd name="connsiteY0" fmla="*/ 848898 h 848898"/>
                <a:gd name="connsiteX1" fmla="*/ 2222500 w 3042275"/>
                <a:gd name="connsiteY1" fmla="*/ 616064 h 848898"/>
                <a:gd name="connsiteX2" fmla="*/ 3026833 w 3042275"/>
                <a:gd name="connsiteY2" fmla="*/ 2231 h 848898"/>
                <a:gd name="connsiteX3" fmla="*/ 2751667 w 3042275"/>
                <a:gd name="connsiteY3" fmla="*/ 425564 h 848898"/>
                <a:gd name="connsiteX4" fmla="*/ 2744304 w 3042275"/>
                <a:gd name="connsiteY4" fmla="*/ 841535 h 848898"/>
                <a:gd name="connsiteX5" fmla="*/ 0 w 3042275"/>
                <a:gd name="connsiteY5" fmla="*/ 848898 h 848898"/>
                <a:gd name="connsiteX0" fmla="*/ 3038 w 3045313"/>
                <a:gd name="connsiteY0" fmla="*/ 848898 h 848898"/>
                <a:gd name="connsiteX1" fmla="*/ 2225538 w 3045313"/>
                <a:gd name="connsiteY1" fmla="*/ 616064 h 848898"/>
                <a:gd name="connsiteX2" fmla="*/ 3029871 w 3045313"/>
                <a:gd name="connsiteY2" fmla="*/ 2231 h 848898"/>
                <a:gd name="connsiteX3" fmla="*/ 2754705 w 3045313"/>
                <a:gd name="connsiteY3" fmla="*/ 425564 h 848898"/>
                <a:gd name="connsiteX4" fmla="*/ 2747342 w 3045313"/>
                <a:gd name="connsiteY4" fmla="*/ 841535 h 848898"/>
                <a:gd name="connsiteX5" fmla="*/ 3038 w 3045313"/>
                <a:gd name="connsiteY5" fmla="*/ 848898 h 848898"/>
                <a:gd name="connsiteX0" fmla="*/ 2799 w 3045074"/>
                <a:gd name="connsiteY0" fmla="*/ 848898 h 848898"/>
                <a:gd name="connsiteX1" fmla="*/ 2225299 w 3045074"/>
                <a:gd name="connsiteY1" fmla="*/ 616064 h 848898"/>
                <a:gd name="connsiteX2" fmla="*/ 3029632 w 3045074"/>
                <a:gd name="connsiteY2" fmla="*/ 2231 h 848898"/>
                <a:gd name="connsiteX3" fmla="*/ 2754466 w 3045074"/>
                <a:gd name="connsiteY3" fmla="*/ 425564 h 848898"/>
                <a:gd name="connsiteX4" fmla="*/ 2747103 w 3045074"/>
                <a:gd name="connsiteY4" fmla="*/ 841535 h 848898"/>
                <a:gd name="connsiteX5" fmla="*/ 2799 w 3045074"/>
                <a:gd name="connsiteY5" fmla="*/ 848898 h 848898"/>
                <a:gd name="connsiteX0" fmla="*/ 2799 w 3045074"/>
                <a:gd name="connsiteY0" fmla="*/ 848898 h 848898"/>
                <a:gd name="connsiteX1" fmla="*/ 2225299 w 3045074"/>
                <a:gd name="connsiteY1" fmla="*/ 616064 h 848898"/>
                <a:gd name="connsiteX2" fmla="*/ 3029632 w 3045074"/>
                <a:gd name="connsiteY2" fmla="*/ 2231 h 848898"/>
                <a:gd name="connsiteX3" fmla="*/ 2754466 w 3045074"/>
                <a:gd name="connsiteY3" fmla="*/ 425564 h 848898"/>
                <a:gd name="connsiteX4" fmla="*/ 2747103 w 3045074"/>
                <a:gd name="connsiteY4" fmla="*/ 841535 h 848898"/>
                <a:gd name="connsiteX5" fmla="*/ 2799 w 3045074"/>
                <a:gd name="connsiteY5" fmla="*/ 848898 h 848898"/>
                <a:gd name="connsiteX0" fmla="*/ 2979 w 2839117"/>
                <a:gd name="connsiteY0" fmla="*/ 630630 h 630630"/>
                <a:gd name="connsiteX1" fmla="*/ 2225479 w 2839117"/>
                <a:gd name="connsiteY1" fmla="*/ 397796 h 630630"/>
                <a:gd name="connsiteX2" fmla="*/ 2808948 w 2839117"/>
                <a:gd name="connsiteY2" fmla="*/ 4836 h 630630"/>
                <a:gd name="connsiteX3" fmla="*/ 2754646 w 2839117"/>
                <a:gd name="connsiteY3" fmla="*/ 207296 h 630630"/>
                <a:gd name="connsiteX4" fmla="*/ 2747283 w 2839117"/>
                <a:gd name="connsiteY4" fmla="*/ 623267 h 630630"/>
                <a:gd name="connsiteX5" fmla="*/ 2979 w 2839117"/>
                <a:gd name="connsiteY5" fmla="*/ 630630 h 63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9117" h="630630">
                  <a:moveTo>
                    <a:pt x="2979" y="630630"/>
                  </a:moveTo>
                  <a:cubicBezTo>
                    <a:pt x="-83988" y="593052"/>
                    <a:pt x="1757818" y="502095"/>
                    <a:pt x="2225479" y="397796"/>
                  </a:cubicBezTo>
                  <a:cubicBezTo>
                    <a:pt x="2693140" y="293497"/>
                    <a:pt x="2720754" y="36586"/>
                    <a:pt x="2808948" y="4836"/>
                  </a:cubicBezTo>
                  <a:cubicBezTo>
                    <a:pt x="2897142" y="-26914"/>
                    <a:pt x="2764923" y="104224"/>
                    <a:pt x="2754646" y="207296"/>
                  </a:cubicBezTo>
                  <a:cubicBezTo>
                    <a:pt x="2744369" y="310368"/>
                    <a:pt x="2727355" y="479087"/>
                    <a:pt x="2747283" y="623267"/>
                  </a:cubicBezTo>
                  <a:lnTo>
                    <a:pt x="2979" y="630630"/>
                  </a:lnTo>
                  <a:close/>
                </a:path>
              </a:pathLst>
            </a:custGeom>
            <a:gradFill flip="none" rotWithShape="1">
              <a:gsLst>
                <a:gs pos="0">
                  <a:schemeClr val="bg1"/>
                </a:gs>
                <a:gs pos="100000">
                  <a:schemeClr val="bg1">
                    <a:lumMod val="75000"/>
                  </a:schemeClr>
                </a:gs>
              </a:gsLst>
              <a:lin ang="5400000" scaled="0"/>
              <a:tileRect/>
            </a:gradFill>
          </p:spPr>
          <p:txBody>
            <a:bodyPr wrap="none"/>
            <a:lstStyle/>
            <a:p>
              <a:pPr>
                <a:defRPr/>
              </a:pPr>
              <a:endParaRPr lang="en-US">
                <a:latin typeface="Arial" charset="0"/>
                <a:ea typeface="ＭＳ Ｐゴシック" charset="0"/>
                <a:cs typeface="ＭＳ Ｐゴシック" charset="0"/>
              </a:endParaRPr>
            </a:p>
          </p:txBody>
        </p:sp>
        <p:grpSp>
          <p:nvGrpSpPr>
            <p:cNvPr id="114825" name="Group 197">
              <a:extLst>
                <a:ext uri="{FF2B5EF4-FFF2-40B4-BE49-F238E27FC236}">
                  <a16:creationId xmlns:a16="http://schemas.microsoft.com/office/drawing/2014/main" id="{897A7841-1A32-E843-A504-4B9D371DB196}"/>
                </a:ext>
              </a:extLst>
            </p:cNvPr>
            <p:cNvGrpSpPr>
              <a:grpSpLocks/>
            </p:cNvGrpSpPr>
            <p:nvPr/>
          </p:nvGrpSpPr>
          <p:grpSpPr bwMode="auto">
            <a:xfrm>
              <a:off x="6031592" y="5137149"/>
              <a:ext cx="2818926" cy="1394721"/>
              <a:chOff x="-999973" y="4042833"/>
              <a:chExt cx="2818926" cy="1394721"/>
            </a:xfrm>
          </p:grpSpPr>
          <p:sp>
            <p:nvSpPr>
              <p:cNvPr id="199" name="Rectangle 198">
                <a:extLst>
                  <a:ext uri="{FF2B5EF4-FFF2-40B4-BE49-F238E27FC236}">
                    <a16:creationId xmlns:a16="http://schemas.microsoft.com/office/drawing/2014/main" id="{65FA919F-8D55-B44C-B4EA-109B89739CEF}"/>
                  </a:ext>
                </a:extLst>
              </p:cNvPr>
              <p:cNvSpPr/>
              <p:nvPr/>
            </p:nvSpPr>
            <p:spPr bwMode="auto">
              <a:xfrm>
                <a:off x="-978114" y="4042381"/>
                <a:ext cx="2778018" cy="1344382"/>
              </a:xfrm>
              <a:prstGeom prst="rect">
                <a:avLst/>
              </a:prstGeom>
              <a:solidFill>
                <a:schemeClr val="bg1">
                  <a:lumMod val="75000"/>
                </a:schemeClr>
              </a:solidFill>
              <a:ln w="9525" cap="flat" cmpd="sng" algn="ctr">
                <a:solidFill>
                  <a:schemeClr val="accent6"/>
                </a:solidFill>
                <a:prstDash val="solid"/>
                <a:round/>
                <a:headEnd type="none" w="med" len="med"/>
                <a:tailEnd type="none" w="med" len="med"/>
              </a:ln>
              <a:effectLst/>
            </p:spPr>
            <p:txBody>
              <a:bodyPr wrap="none"/>
              <a:lstStyle/>
              <a:p>
                <a:pPr>
                  <a:defRPr/>
                </a:pPr>
                <a:endParaRPr lang="en-US">
                  <a:latin typeface="Arial" charset="0"/>
                  <a:ea typeface="ＭＳ Ｐゴシック" charset="0"/>
                  <a:cs typeface="ＭＳ Ｐゴシック" charset="0"/>
                </a:endParaRPr>
              </a:p>
            </p:txBody>
          </p:sp>
          <p:sp>
            <p:nvSpPr>
              <p:cNvPr id="114827" name="TextBox 199">
                <a:extLst>
                  <a:ext uri="{FF2B5EF4-FFF2-40B4-BE49-F238E27FC236}">
                    <a16:creationId xmlns:a16="http://schemas.microsoft.com/office/drawing/2014/main" id="{798C1779-3FC2-B948-B541-2B4FDEBDFFD5}"/>
                  </a:ext>
                </a:extLst>
              </p:cNvPr>
              <p:cNvSpPr txBox="1">
                <a:spLocks noChangeArrowheads="1"/>
              </p:cNvSpPr>
              <p:nvPr/>
            </p:nvSpPr>
            <p:spPr bwMode="auto">
              <a:xfrm>
                <a:off x="-999973" y="4360336"/>
                <a:ext cx="171503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ingress port = 2</a:t>
                </a:r>
              </a:p>
              <a:p>
                <a:r>
                  <a:rPr lang="en-US" altLang="en-US" sz="1600"/>
                  <a:t>IP Dst = 10.2.0.3</a:t>
                </a:r>
              </a:p>
              <a:p>
                <a:r>
                  <a:rPr lang="en-US" altLang="en-US" sz="1600"/>
                  <a:t>ingress port = 2</a:t>
                </a:r>
              </a:p>
              <a:p>
                <a:r>
                  <a:rPr lang="en-US" altLang="en-US" sz="1600"/>
                  <a:t>IP Dst = 10.2.0.4</a:t>
                </a:r>
              </a:p>
            </p:txBody>
          </p:sp>
          <p:sp>
            <p:nvSpPr>
              <p:cNvPr id="114828" name="TextBox 200">
                <a:extLst>
                  <a:ext uri="{FF2B5EF4-FFF2-40B4-BE49-F238E27FC236}">
                    <a16:creationId xmlns:a16="http://schemas.microsoft.com/office/drawing/2014/main" id="{C2EAA8A9-28AB-DF4F-A0C3-8FF4E46CF458}"/>
                  </a:ext>
                </a:extLst>
              </p:cNvPr>
              <p:cNvSpPr txBox="1">
                <a:spLocks noChangeArrowheads="1"/>
              </p:cNvSpPr>
              <p:nvPr/>
            </p:nvSpPr>
            <p:spPr bwMode="auto">
              <a:xfrm>
                <a:off x="671327" y="4474229"/>
                <a:ext cx="1119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dirty="0"/>
                  <a:t>forward(3)</a:t>
                </a:r>
              </a:p>
            </p:txBody>
          </p:sp>
          <p:cxnSp>
            <p:nvCxnSpPr>
              <p:cNvPr id="114829" name="Straight Connector 201">
                <a:extLst>
                  <a:ext uri="{FF2B5EF4-FFF2-40B4-BE49-F238E27FC236}">
                    <a16:creationId xmlns:a16="http://schemas.microsoft.com/office/drawing/2014/main" id="{BB73A99B-F5A5-2F4E-8829-72C21D8B0702}"/>
                  </a:ext>
                </a:extLst>
              </p:cNvPr>
              <p:cNvCxnSpPr>
                <a:cxnSpLocks noChangeShapeType="1"/>
              </p:cNvCxnSpPr>
              <p:nvPr/>
            </p:nvCxnSpPr>
            <p:spPr bwMode="auto">
              <a:xfrm>
                <a:off x="-994833" y="4402666"/>
                <a:ext cx="279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14830" name="TextBox 202">
                <a:extLst>
                  <a:ext uri="{FF2B5EF4-FFF2-40B4-BE49-F238E27FC236}">
                    <a16:creationId xmlns:a16="http://schemas.microsoft.com/office/drawing/2014/main" id="{FD8048F4-F49A-0D40-9624-5155B9649D80}"/>
                  </a:ext>
                </a:extLst>
              </p:cNvPr>
              <p:cNvSpPr txBox="1">
                <a:spLocks noChangeArrowheads="1"/>
              </p:cNvSpPr>
              <p:nvPr/>
            </p:nvSpPr>
            <p:spPr bwMode="auto">
              <a:xfrm>
                <a:off x="-674004" y="4051301"/>
                <a:ext cx="7434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match</a:t>
                </a:r>
              </a:p>
            </p:txBody>
          </p:sp>
          <p:sp>
            <p:nvSpPr>
              <p:cNvPr id="114831" name="TextBox 203">
                <a:extLst>
                  <a:ext uri="{FF2B5EF4-FFF2-40B4-BE49-F238E27FC236}">
                    <a16:creationId xmlns:a16="http://schemas.microsoft.com/office/drawing/2014/main" id="{CF6CB1E8-1140-AB44-9AE1-5EA9689AED61}"/>
                  </a:ext>
                </a:extLst>
              </p:cNvPr>
              <p:cNvSpPr txBox="1">
                <a:spLocks noChangeArrowheads="1"/>
              </p:cNvSpPr>
              <p:nvPr/>
            </p:nvSpPr>
            <p:spPr bwMode="auto">
              <a:xfrm>
                <a:off x="875396" y="4055535"/>
                <a:ext cx="7321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action</a:t>
                </a:r>
              </a:p>
            </p:txBody>
          </p:sp>
          <p:cxnSp>
            <p:nvCxnSpPr>
              <p:cNvPr id="114832" name="Straight Connector 204">
                <a:extLst>
                  <a:ext uri="{FF2B5EF4-FFF2-40B4-BE49-F238E27FC236}">
                    <a16:creationId xmlns:a16="http://schemas.microsoft.com/office/drawing/2014/main" id="{A6568EA7-115C-5747-B3C7-109A9DCAA706}"/>
                  </a:ext>
                </a:extLst>
              </p:cNvPr>
              <p:cNvCxnSpPr>
                <a:cxnSpLocks noChangeShapeType="1"/>
              </p:cNvCxnSpPr>
              <p:nvPr/>
            </p:nvCxnSpPr>
            <p:spPr bwMode="auto">
              <a:xfrm>
                <a:off x="660503" y="4042833"/>
                <a:ext cx="4690" cy="13494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14833" name="Straight Connector 205">
                <a:extLst>
                  <a:ext uri="{FF2B5EF4-FFF2-40B4-BE49-F238E27FC236}">
                    <a16:creationId xmlns:a16="http://schemas.microsoft.com/office/drawing/2014/main" id="{27168CBD-3213-DF4B-9E39-0104F6B9EB4A}"/>
                  </a:ext>
                </a:extLst>
              </p:cNvPr>
              <p:cNvCxnSpPr>
                <a:cxnSpLocks noChangeShapeType="1"/>
              </p:cNvCxnSpPr>
              <p:nvPr/>
            </p:nvCxnSpPr>
            <p:spPr bwMode="auto">
              <a:xfrm>
                <a:off x="-975047" y="4896787"/>
                <a:ext cx="279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14834" name="TextBox 206">
                <a:extLst>
                  <a:ext uri="{FF2B5EF4-FFF2-40B4-BE49-F238E27FC236}">
                    <a16:creationId xmlns:a16="http://schemas.microsoft.com/office/drawing/2014/main" id="{5993ED20-0767-1D42-9E2F-F394222F7229}"/>
                  </a:ext>
                </a:extLst>
              </p:cNvPr>
              <p:cNvSpPr txBox="1">
                <a:spLocks noChangeArrowheads="1"/>
              </p:cNvSpPr>
              <p:nvPr/>
            </p:nvSpPr>
            <p:spPr bwMode="auto">
              <a:xfrm>
                <a:off x="670712" y="4973448"/>
                <a:ext cx="1119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forward(4)</a:t>
                </a:r>
              </a:p>
            </p:txBody>
          </p:sp>
        </p:grpSp>
      </p:grpSp>
      <p:grpSp>
        <p:nvGrpSpPr>
          <p:cNvPr id="6" name="Group 67">
            <a:extLst>
              <a:ext uri="{FF2B5EF4-FFF2-40B4-BE49-F238E27FC236}">
                <a16:creationId xmlns:a16="http://schemas.microsoft.com/office/drawing/2014/main" id="{2BB9CEA1-D72A-AB4C-9E49-9FEE0D759149}"/>
              </a:ext>
            </a:extLst>
          </p:cNvPr>
          <p:cNvGrpSpPr>
            <a:grpSpLocks/>
          </p:cNvGrpSpPr>
          <p:nvPr/>
        </p:nvGrpSpPr>
        <p:grpSpPr bwMode="auto">
          <a:xfrm>
            <a:off x="297095" y="4570413"/>
            <a:ext cx="3089275" cy="2001837"/>
            <a:chOff x="587526" y="4569769"/>
            <a:chExt cx="3089750" cy="2002482"/>
          </a:xfrm>
        </p:grpSpPr>
        <p:sp>
          <p:nvSpPr>
            <p:cNvPr id="52" name="Freeform 51">
              <a:extLst>
                <a:ext uri="{FF2B5EF4-FFF2-40B4-BE49-F238E27FC236}">
                  <a16:creationId xmlns:a16="http://schemas.microsoft.com/office/drawing/2014/main" id="{736520F2-B4FA-2741-A1B1-92B7A300194E}"/>
                </a:ext>
              </a:extLst>
            </p:cNvPr>
            <p:cNvSpPr/>
            <p:nvPr/>
          </p:nvSpPr>
          <p:spPr>
            <a:xfrm>
              <a:off x="631983" y="4569769"/>
              <a:ext cx="3045293" cy="849586"/>
            </a:xfrm>
            <a:custGeom>
              <a:avLst/>
              <a:gdLst>
                <a:gd name="connsiteX0" fmla="*/ 0 w 3026833"/>
                <a:gd name="connsiteY0" fmla="*/ 846667 h 846667"/>
                <a:gd name="connsiteX1" fmla="*/ 2222500 w 3026833"/>
                <a:gd name="connsiteY1" fmla="*/ 613833 h 846667"/>
                <a:gd name="connsiteX2" fmla="*/ 3026833 w 3026833"/>
                <a:gd name="connsiteY2" fmla="*/ 0 h 846667"/>
                <a:gd name="connsiteX3" fmla="*/ 2751667 w 3026833"/>
                <a:gd name="connsiteY3" fmla="*/ 423333 h 846667"/>
                <a:gd name="connsiteX4" fmla="*/ 2730500 w 3026833"/>
                <a:gd name="connsiteY4" fmla="*/ 825500 h 846667"/>
                <a:gd name="connsiteX5" fmla="*/ 0 w 3026833"/>
                <a:gd name="connsiteY5" fmla="*/ 846667 h 846667"/>
                <a:gd name="connsiteX0" fmla="*/ 0 w 3026833"/>
                <a:gd name="connsiteY0" fmla="*/ 846667 h 846667"/>
                <a:gd name="connsiteX1" fmla="*/ 2222500 w 3026833"/>
                <a:gd name="connsiteY1" fmla="*/ 613833 h 846667"/>
                <a:gd name="connsiteX2" fmla="*/ 3026833 w 3026833"/>
                <a:gd name="connsiteY2" fmla="*/ 0 h 846667"/>
                <a:gd name="connsiteX3" fmla="*/ 2751667 w 3026833"/>
                <a:gd name="connsiteY3" fmla="*/ 423333 h 846667"/>
                <a:gd name="connsiteX4" fmla="*/ 2744304 w 3026833"/>
                <a:gd name="connsiteY4" fmla="*/ 839304 h 846667"/>
                <a:gd name="connsiteX5" fmla="*/ 0 w 3026833"/>
                <a:gd name="connsiteY5" fmla="*/ 846667 h 846667"/>
                <a:gd name="connsiteX0" fmla="*/ 0 w 3042275"/>
                <a:gd name="connsiteY0" fmla="*/ 848898 h 848898"/>
                <a:gd name="connsiteX1" fmla="*/ 2222500 w 3042275"/>
                <a:gd name="connsiteY1" fmla="*/ 616064 h 848898"/>
                <a:gd name="connsiteX2" fmla="*/ 3026833 w 3042275"/>
                <a:gd name="connsiteY2" fmla="*/ 2231 h 848898"/>
                <a:gd name="connsiteX3" fmla="*/ 2751667 w 3042275"/>
                <a:gd name="connsiteY3" fmla="*/ 425564 h 848898"/>
                <a:gd name="connsiteX4" fmla="*/ 2744304 w 3042275"/>
                <a:gd name="connsiteY4" fmla="*/ 841535 h 848898"/>
                <a:gd name="connsiteX5" fmla="*/ 0 w 3042275"/>
                <a:gd name="connsiteY5" fmla="*/ 848898 h 848898"/>
                <a:gd name="connsiteX0" fmla="*/ 0 w 3042275"/>
                <a:gd name="connsiteY0" fmla="*/ 848898 h 848898"/>
                <a:gd name="connsiteX1" fmla="*/ 2222500 w 3042275"/>
                <a:gd name="connsiteY1" fmla="*/ 616064 h 848898"/>
                <a:gd name="connsiteX2" fmla="*/ 3026833 w 3042275"/>
                <a:gd name="connsiteY2" fmla="*/ 2231 h 848898"/>
                <a:gd name="connsiteX3" fmla="*/ 2751667 w 3042275"/>
                <a:gd name="connsiteY3" fmla="*/ 425564 h 848898"/>
                <a:gd name="connsiteX4" fmla="*/ 2744304 w 3042275"/>
                <a:gd name="connsiteY4" fmla="*/ 841535 h 848898"/>
                <a:gd name="connsiteX5" fmla="*/ 0 w 3042275"/>
                <a:gd name="connsiteY5" fmla="*/ 848898 h 848898"/>
                <a:gd name="connsiteX0" fmla="*/ 3038 w 3045313"/>
                <a:gd name="connsiteY0" fmla="*/ 848898 h 848898"/>
                <a:gd name="connsiteX1" fmla="*/ 2225538 w 3045313"/>
                <a:gd name="connsiteY1" fmla="*/ 616064 h 848898"/>
                <a:gd name="connsiteX2" fmla="*/ 3029871 w 3045313"/>
                <a:gd name="connsiteY2" fmla="*/ 2231 h 848898"/>
                <a:gd name="connsiteX3" fmla="*/ 2754705 w 3045313"/>
                <a:gd name="connsiteY3" fmla="*/ 425564 h 848898"/>
                <a:gd name="connsiteX4" fmla="*/ 2747342 w 3045313"/>
                <a:gd name="connsiteY4" fmla="*/ 841535 h 848898"/>
                <a:gd name="connsiteX5" fmla="*/ 3038 w 3045313"/>
                <a:gd name="connsiteY5" fmla="*/ 848898 h 848898"/>
                <a:gd name="connsiteX0" fmla="*/ 2799 w 3045074"/>
                <a:gd name="connsiteY0" fmla="*/ 848898 h 848898"/>
                <a:gd name="connsiteX1" fmla="*/ 2225299 w 3045074"/>
                <a:gd name="connsiteY1" fmla="*/ 616064 h 848898"/>
                <a:gd name="connsiteX2" fmla="*/ 3029632 w 3045074"/>
                <a:gd name="connsiteY2" fmla="*/ 2231 h 848898"/>
                <a:gd name="connsiteX3" fmla="*/ 2754466 w 3045074"/>
                <a:gd name="connsiteY3" fmla="*/ 425564 h 848898"/>
                <a:gd name="connsiteX4" fmla="*/ 2747103 w 3045074"/>
                <a:gd name="connsiteY4" fmla="*/ 841535 h 848898"/>
                <a:gd name="connsiteX5" fmla="*/ 2799 w 3045074"/>
                <a:gd name="connsiteY5" fmla="*/ 848898 h 848898"/>
                <a:gd name="connsiteX0" fmla="*/ 2799 w 3045074"/>
                <a:gd name="connsiteY0" fmla="*/ 848898 h 848898"/>
                <a:gd name="connsiteX1" fmla="*/ 2225299 w 3045074"/>
                <a:gd name="connsiteY1" fmla="*/ 616064 h 848898"/>
                <a:gd name="connsiteX2" fmla="*/ 3029632 w 3045074"/>
                <a:gd name="connsiteY2" fmla="*/ 2231 h 848898"/>
                <a:gd name="connsiteX3" fmla="*/ 2754466 w 3045074"/>
                <a:gd name="connsiteY3" fmla="*/ 425564 h 848898"/>
                <a:gd name="connsiteX4" fmla="*/ 2747103 w 3045074"/>
                <a:gd name="connsiteY4" fmla="*/ 841535 h 848898"/>
                <a:gd name="connsiteX5" fmla="*/ 2799 w 3045074"/>
                <a:gd name="connsiteY5" fmla="*/ 848898 h 84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5074" h="848898">
                  <a:moveTo>
                    <a:pt x="2799" y="848898"/>
                  </a:moveTo>
                  <a:cubicBezTo>
                    <a:pt x="-84168" y="811320"/>
                    <a:pt x="1881874" y="743370"/>
                    <a:pt x="2225299" y="616064"/>
                  </a:cubicBezTo>
                  <a:cubicBezTo>
                    <a:pt x="2568724" y="488758"/>
                    <a:pt x="2941438" y="33981"/>
                    <a:pt x="3029632" y="2231"/>
                  </a:cubicBezTo>
                  <a:cubicBezTo>
                    <a:pt x="3117826" y="-29519"/>
                    <a:pt x="2801554" y="285680"/>
                    <a:pt x="2754466" y="425564"/>
                  </a:cubicBezTo>
                  <a:cubicBezTo>
                    <a:pt x="2707378" y="565448"/>
                    <a:pt x="2727175" y="697355"/>
                    <a:pt x="2747103" y="841535"/>
                  </a:cubicBezTo>
                  <a:lnTo>
                    <a:pt x="2799" y="848898"/>
                  </a:lnTo>
                  <a:close/>
                </a:path>
              </a:pathLst>
            </a:custGeom>
            <a:gradFill flip="none" rotWithShape="1">
              <a:gsLst>
                <a:gs pos="0">
                  <a:schemeClr val="bg1"/>
                </a:gs>
                <a:gs pos="100000">
                  <a:schemeClr val="bg1">
                    <a:lumMod val="75000"/>
                  </a:schemeClr>
                </a:gs>
              </a:gsLst>
              <a:lin ang="5400000" scaled="0"/>
              <a:tileRect/>
            </a:gradFill>
          </p:spPr>
          <p:txBody>
            <a:bodyPr wrap="none"/>
            <a:lstStyle/>
            <a:p>
              <a:pPr>
                <a:defRPr/>
              </a:pPr>
              <a:endParaRPr lang="en-US">
                <a:latin typeface="Arial" charset="0"/>
                <a:ea typeface="ＭＳ Ｐゴシック" charset="0"/>
                <a:cs typeface="ＭＳ Ｐゴシック" charset="0"/>
              </a:endParaRPr>
            </a:p>
          </p:txBody>
        </p:sp>
        <p:grpSp>
          <p:nvGrpSpPr>
            <p:cNvPr id="114816" name="Group 50">
              <a:extLst>
                <a:ext uri="{FF2B5EF4-FFF2-40B4-BE49-F238E27FC236}">
                  <a16:creationId xmlns:a16="http://schemas.microsoft.com/office/drawing/2014/main" id="{2F1AFF20-7684-2F46-B4F8-226DBB2D022A}"/>
                </a:ext>
              </a:extLst>
            </p:cNvPr>
            <p:cNvGrpSpPr>
              <a:grpSpLocks/>
            </p:cNvGrpSpPr>
            <p:nvPr/>
          </p:nvGrpSpPr>
          <p:grpSpPr bwMode="auto">
            <a:xfrm>
              <a:off x="587526" y="5408083"/>
              <a:ext cx="2799140" cy="1164168"/>
              <a:chOff x="-999973" y="4042832"/>
              <a:chExt cx="2799140" cy="1164168"/>
            </a:xfrm>
          </p:grpSpPr>
          <p:sp>
            <p:nvSpPr>
              <p:cNvPr id="11" name="Rectangle 10">
                <a:extLst>
                  <a:ext uri="{FF2B5EF4-FFF2-40B4-BE49-F238E27FC236}">
                    <a16:creationId xmlns:a16="http://schemas.microsoft.com/office/drawing/2014/main" id="{5B41B46A-80F3-C94A-9610-0A0AA04BE73D}"/>
                  </a:ext>
                </a:extLst>
              </p:cNvPr>
              <p:cNvSpPr/>
              <p:nvPr/>
            </p:nvSpPr>
            <p:spPr bwMode="auto">
              <a:xfrm>
                <a:off x="-977745" y="4042988"/>
                <a:ext cx="2776965" cy="1164012"/>
              </a:xfrm>
              <a:prstGeom prst="rect">
                <a:avLst/>
              </a:prstGeom>
              <a:solidFill>
                <a:schemeClr val="bg1">
                  <a:lumMod val="75000"/>
                </a:schemeClr>
              </a:solidFill>
              <a:ln w="9525" cap="flat" cmpd="sng" algn="ctr">
                <a:solidFill>
                  <a:schemeClr val="accent6"/>
                </a:solidFill>
                <a:prstDash val="solid"/>
                <a:round/>
                <a:headEnd type="none" w="med" len="med"/>
                <a:tailEnd type="none" w="med" len="med"/>
              </a:ln>
              <a:effectLst/>
            </p:spPr>
            <p:txBody>
              <a:bodyPr wrap="none"/>
              <a:lstStyle/>
              <a:p>
                <a:pPr>
                  <a:defRPr/>
                </a:pPr>
                <a:endParaRPr lang="en-US">
                  <a:latin typeface="Arial" charset="0"/>
                  <a:ea typeface="ＭＳ Ｐゴシック" charset="0"/>
                  <a:cs typeface="ＭＳ Ｐゴシック" charset="0"/>
                </a:endParaRPr>
              </a:p>
            </p:txBody>
          </p:sp>
          <p:sp>
            <p:nvSpPr>
              <p:cNvPr id="114818" name="TextBox 8">
                <a:extLst>
                  <a:ext uri="{FF2B5EF4-FFF2-40B4-BE49-F238E27FC236}">
                    <a16:creationId xmlns:a16="http://schemas.microsoft.com/office/drawing/2014/main" id="{F19CD1ED-BC58-FB43-A717-4693311E54C5}"/>
                  </a:ext>
                </a:extLst>
              </p:cNvPr>
              <p:cNvSpPr txBox="1">
                <a:spLocks noChangeArrowheads="1"/>
              </p:cNvSpPr>
              <p:nvPr/>
            </p:nvSpPr>
            <p:spPr bwMode="auto">
              <a:xfrm>
                <a:off x="-999973" y="4360336"/>
                <a:ext cx="164650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ingress port = 1</a:t>
                </a:r>
              </a:p>
              <a:p>
                <a:r>
                  <a:rPr lang="en-US" altLang="en-US" sz="1600"/>
                  <a:t>IP Src = 10.3.*.*</a:t>
                </a:r>
              </a:p>
              <a:p>
                <a:r>
                  <a:rPr lang="en-US" altLang="en-US" sz="1600"/>
                  <a:t>IP Dst = 10.2.*.*</a:t>
                </a:r>
              </a:p>
            </p:txBody>
          </p:sp>
          <p:sp>
            <p:nvSpPr>
              <p:cNvPr id="114819" name="TextBox 183">
                <a:extLst>
                  <a:ext uri="{FF2B5EF4-FFF2-40B4-BE49-F238E27FC236}">
                    <a16:creationId xmlns:a16="http://schemas.microsoft.com/office/drawing/2014/main" id="{591972AF-C2DE-2243-9543-C0FE064F5A93}"/>
                  </a:ext>
                </a:extLst>
              </p:cNvPr>
              <p:cNvSpPr txBox="1">
                <a:spLocks noChangeArrowheads="1"/>
              </p:cNvSpPr>
              <p:nvPr/>
            </p:nvSpPr>
            <p:spPr bwMode="auto">
              <a:xfrm>
                <a:off x="676427" y="4576235"/>
                <a:ext cx="1119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forward(4)</a:t>
                </a:r>
              </a:p>
            </p:txBody>
          </p:sp>
          <p:cxnSp>
            <p:nvCxnSpPr>
              <p:cNvPr id="114820" name="Straight Connector 14">
                <a:extLst>
                  <a:ext uri="{FF2B5EF4-FFF2-40B4-BE49-F238E27FC236}">
                    <a16:creationId xmlns:a16="http://schemas.microsoft.com/office/drawing/2014/main" id="{A37F7669-5343-5244-81D8-3CFB5E4E0EB5}"/>
                  </a:ext>
                </a:extLst>
              </p:cNvPr>
              <p:cNvCxnSpPr>
                <a:cxnSpLocks noChangeShapeType="1"/>
              </p:cNvCxnSpPr>
              <p:nvPr/>
            </p:nvCxnSpPr>
            <p:spPr bwMode="auto">
              <a:xfrm>
                <a:off x="-994833" y="4402666"/>
                <a:ext cx="279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14821" name="TextBox 185">
                <a:extLst>
                  <a:ext uri="{FF2B5EF4-FFF2-40B4-BE49-F238E27FC236}">
                    <a16:creationId xmlns:a16="http://schemas.microsoft.com/office/drawing/2014/main" id="{6E0901E7-399E-EF41-9C70-3835ADE0907C}"/>
                  </a:ext>
                </a:extLst>
              </p:cNvPr>
              <p:cNvSpPr txBox="1">
                <a:spLocks noChangeArrowheads="1"/>
              </p:cNvSpPr>
              <p:nvPr/>
            </p:nvSpPr>
            <p:spPr bwMode="auto">
              <a:xfrm>
                <a:off x="-674004" y="4051301"/>
                <a:ext cx="7434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match</a:t>
                </a:r>
              </a:p>
            </p:txBody>
          </p:sp>
          <p:sp>
            <p:nvSpPr>
              <p:cNvPr id="114822" name="TextBox 186">
                <a:extLst>
                  <a:ext uri="{FF2B5EF4-FFF2-40B4-BE49-F238E27FC236}">
                    <a16:creationId xmlns:a16="http://schemas.microsoft.com/office/drawing/2014/main" id="{4D8B7A88-4652-C147-B06D-32A504A0A26A}"/>
                  </a:ext>
                </a:extLst>
              </p:cNvPr>
              <p:cNvSpPr txBox="1">
                <a:spLocks noChangeArrowheads="1"/>
              </p:cNvSpPr>
              <p:nvPr/>
            </p:nvSpPr>
            <p:spPr bwMode="auto">
              <a:xfrm>
                <a:off x="875396" y="4055535"/>
                <a:ext cx="7321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600"/>
                  <a:t>action</a:t>
                </a:r>
              </a:p>
            </p:txBody>
          </p:sp>
          <p:cxnSp>
            <p:nvCxnSpPr>
              <p:cNvPr id="114823" name="Straight Connector 187">
                <a:extLst>
                  <a:ext uri="{FF2B5EF4-FFF2-40B4-BE49-F238E27FC236}">
                    <a16:creationId xmlns:a16="http://schemas.microsoft.com/office/drawing/2014/main" id="{89BAF74C-1BAE-F54B-959C-64F3F20887BA}"/>
                  </a:ext>
                </a:extLst>
              </p:cNvPr>
              <p:cNvCxnSpPr>
                <a:cxnSpLocks noChangeShapeType="1"/>
              </p:cNvCxnSpPr>
              <p:nvPr/>
            </p:nvCxnSpPr>
            <p:spPr bwMode="auto">
              <a:xfrm>
                <a:off x="634998" y="4042833"/>
                <a:ext cx="0" cy="1164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cxnSp>
        <p:nvCxnSpPr>
          <p:cNvPr id="114695" name="Straight Connector 13">
            <a:extLst>
              <a:ext uri="{FF2B5EF4-FFF2-40B4-BE49-F238E27FC236}">
                <a16:creationId xmlns:a16="http://schemas.microsoft.com/office/drawing/2014/main" id="{EE2FED14-7F2B-F646-806A-7F32947F6EC1}"/>
              </a:ext>
            </a:extLst>
          </p:cNvPr>
          <p:cNvCxnSpPr>
            <a:cxnSpLocks noChangeShapeType="1"/>
          </p:cNvCxnSpPr>
          <p:nvPr/>
        </p:nvCxnSpPr>
        <p:spPr bwMode="auto">
          <a:xfrm>
            <a:off x="3470508" y="2562225"/>
            <a:ext cx="2157412" cy="184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14696" name="Straight Connector 11">
            <a:extLst>
              <a:ext uri="{FF2B5EF4-FFF2-40B4-BE49-F238E27FC236}">
                <a16:creationId xmlns:a16="http://schemas.microsoft.com/office/drawing/2014/main" id="{CE79AA22-6C20-9D47-8140-2207B7D1CC40}"/>
              </a:ext>
            </a:extLst>
          </p:cNvPr>
          <p:cNvCxnSpPr>
            <a:cxnSpLocks noChangeShapeType="1"/>
          </p:cNvCxnSpPr>
          <p:nvPr/>
        </p:nvCxnSpPr>
        <p:spPr bwMode="auto">
          <a:xfrm>
            <a:off x="3749908" y="4497388"/>
            <a:ext cx="2046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14697" name="Straight Connector 6">
            <a:extLst>
              <a:ext uri="{FF2B5EF4-FFF2-40B4-BE49-F238E27FC236}">
                <a16:creationId xmlns:a16="http://schemas.microsoft.com/office/drawing/2014/main" id="{13931956-988E-4443-94A1-A6268AFE314E}"/>
              </a:ext>
            </a:extLst>
          </p:cNvPr>
          <p:cNvCxnSpPr>
            <a:cxnSpLocks noChangeShapeType="1"/>
          </p:cNvCxnSpPr>
          <p:nvPr/>
        </p:nvCxnSpPr>
        <p:spPr bwMode="auto">
          <a:xfrm>
            <a:off x="3551470" y="2690813"/>
            <a:ext cx="0" cy="157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14698" name="Straight Connector 64">
            <a:extLst>
              <a:ext uri="{FF2B5EF4-FFF2-40B4-BE49-F238E27FC236}">
                <a16:creationId xmlns:a16="http://schemas.microsoft.com/office/drawing/2014/main" id="{0AE02A38-4707-B64C-BB77-65C46CC98899}"/>
              </a:ext>
            </a:extLst>
          </p:cNvPr>
          <p:cNvCxnSpPr>
            <a:cxnSpLocks noChangeShapeType="1"/>
          </p:cNvCxnSpPr>
          <p:nvPr/>
        </p:nvCxnSpPr>
        <p:spPr bwMode="auto">
          <a:xfrm flipH="1">
            <a:off x="3672121" y="2908300"/>
            <a:ext cx="2230275" cy="1557338"/>
          </a:xfrm>
          <a:prstGeom prst="line">
            <a:avLst/>
          </a:prstGeom>
          <a:noFill/>
          <a:ln w="12700">
            <a:solidFill>
              <a:srgbClr val="CC0000">
                <a:alpha val="50195"/>
              </a:srgbClr>
            </a:solidFill>
            <a:prstDash val="dash"/>
            <a:round/>
            <a:headEnd/>
            <a:tailEnd/>
          </a:ln>
          <a:extLst>
            <a:ext uri="{909E8E84-426E-40DD-AFC4-6F175D3DCCD1}">
              <a14:hiddenFill xmlns:a14="http://schemas.microsoft.com/office/drawing/2010/main">
                <a:noFill/>
              </a14:hiddenFill>
            </a:ext>
          </a:extLst>
        </p:spPr>
      </p:cxnSp>
      <p:cxnSp>
        <p:nvCxnSpPr>
          <p:cNvPr id="58" name="Straight Connector 57">
            <a:extLst>
              <a:ext uri="{FF2B5EF4-FFF2-40B4-BE49-F238E27FC236}">
                <a16:creationId xmlns:a16="http://schemas.microsoft.com/office/drawing/2014/main" id="{BC107920-4D75-6641-AB4A-DF4FBDF22C56}"/>
              </a:ext>
            </a:extLst>
          </p:cNvPr>
          <p:cNvCxnSpPr/>
          <p:nvPr/>
        </p:nvCxnSpPr>
        <p:spPr>
          <a:xfrm flipH="1" flipV="1">
            <a:off x="3619733" y="4567238"/>
            <a:ext cx="6350" cy="657225"/>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93109EA-9BDA-2F42-B7D0-004B66860E13}"/>
              </a:ext>
            </a:extLst>
          </p:cNvPr>
          <p:cNvCxnSpPr/>
          <p:nvPr/>
        </p:nvCxnSpPr>
        <p:spPr>
          <a:xfrm>
            <a:off x="2664058" y="4524375"/>
            <a:ext cx="5318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14701" name="Group 44">
            <a:extLst>
              <a:ext uri="{FF2B5EF4-FFF2-40B4-BE49-F238E27FC236}">
                <a16:creationId xmlns:a16="http://schemas.microsoft.com/office/drawing/2014/main" id="{6360A0FF-41DA-1F4E-8B75-E87347CC8FA9}"/>
              </a:ext>
            </a:extLst>
          </p:cNvPr>
          <p:cNvGrpSpPr>
            <a:grpSpLocks/>
          </p:cNvGrpSpPr>
          <p:nvPr/>
        </p:nvGrpSpPr>
        <p:grpSpPr bwMode="auto">
          <a:xfrm>
            <a:off x="2065570" y="4043363"/>
            <a:ext cx="757238" cy="628650"/>
            <a:chOff x="-44" y="1473"/>
            <a:chExt cx="981" cy="1105"/>
          </a:xfrm>
        </p:grpSpPr>
        <p:pic>
          <p:nvPicPr>
            <p:cNvPr id="114813" name="Picture 45" descr="desktop_computer_stylized_medium">
              <a:extLst>
                <a:ext uri="{FF2B5EF4-FFF2-40B4-BE49-F238E27FC236}">
                  <a16:creationId xmlns:a16="http://schemas.microsoft.com/office/drawing/2014/main" id="{E86A396E-6307-1B4B-AC77-03B0E3AF70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814" name="Freeform 46">
              <a:extLst>
                <a:ext uri="{FF2B5EF4-FFF2-40B4-BE49-F238E27FC236}">
                  <a16:creationId xmlns:a16="http://schemas.microsoft.com/office/drawing/2014/main" id="{1DC9CA13-9EC0-3947-B96B-B47022E1460A}"/>
                </a:ext>
              </a:extLst>
            </p:cNvPr>
            <p:cNvSpPr>
              <a:spLocks/>
            </p:cNvSpPr>
            <p:nvPr/>
          </p:nvSpPr>
          <p:spPr bwMode="auto">
            <a:xfrm flipH="1">
              <a:off x="374" y="1579"/>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14702" name="Group 44">
            <a:extLst>
              <a:ext uri="{FF2B5EF4-FFF2-40B4-BE49-F238E27FC236}">
                <a16:creationId xmlns:a16="http://schemas.microsoft.com/office/drawing/2014/main" id="{BD0F3EBD-C72E-B246-A419-2DE5A8C2D2AC}"/>
              </a:ext>
            </a:extLst>
          </p:cNvPr>
          <p:cNvGrpSpPr>
            <a:grpSpLocks/>
          </p:cNvGrpSpPr>
          <p:nvPr/>
        </p:nvGrpSpPr>
        <p:grpSpPr bwMode="auto">
          <a:xfrm>
            <a:off x="3129195" y="4892675"/>
            <a:ext cx="757238" cy="628650"/>
            <a:chOff x="188" y="1473"/>
            <a:chExt cx="981" cy="1105"/>
          </a:xfrm>
        </p:grpSpPr>
        <p:pic>
          <p:nvPicPr>
            <p:cNvPr id="114811" name="Picture 45" descr="desktop_computer_stylized_medium">
              <a:extLst>
                <a:ext uri="{FF2B5EF4-FFF2-40B4-BE49-F238E27FC236}">
                  <a16:creationId xmlns:a16="http://schemas.microsoft.com/office/drawing/2014/main" id="{73F4BFFC-0BDC-A443-9430-ACACC9E38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88"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812" name="Freeform 46">
              <a:extLst>
                <a:ext uri="{FF2B5EF4-FFF2-40B4-BE49-F238E27FC236}">
                  <a16:creationId xmlns:a16="http://schemas.microsoft.com/office/drawing/2014/main" id="{7E086EEC-4C61-444B-9CA7-15CB82A3447B}"/>
                </a:ext>
              </a:extLst>
            </p:cNvPr>
            <p:cNvSpPr>
              <a:spLocks/>
            </p:cNvSpPr>
            <p:nvPr/>
          </p:nvSpPr>
          <p:spPr bwMode="auto">
            <a:xfrm flipH="1">
              <a:off x="598" y="1587"/>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114703" name="TextBox 9">
            <a:extLst>
              <a:ext uri="{FF2B5EF4-FFF2-40B4-BE49-F238E27FC236}">
                <a16:creationId xmlns:a16="http://schemas.microsoft.com/office/drawing/2014/main" id="{DEEF405B-9470-E54C-BDFF-AB60BE61436F}"/>
              </a:ext>
            </a:extLst>
          </p:cNvPr>
          <p:cNvSpPr txBox="1">
            <a:spLocks noChangeArrowheads="1"/>
          </p:cNvSpPr>
          <p:nvPr/>
        </p:nvSpPr>
        <p:spPr bwMode="auto">
          <a:xfrm>
            <a:off x="2210033" y="4548188"/>
            <a:ext cx="83343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400">
                <a:cs typeface="Arial" panose="020B0604020202020204" pitchFamily="34" charset="0"/>
              </a:rPr>
              <a:t>Host h1</a:t>
            </a:r>
          </a:p>
          <a:p>
            <a:pPr algn="ctr"/>
            <a:r>
              <a:rPr lang="en-US" altLang="en-US" sz="1400">
                <a:cs typeface="Arial" panose="020B0604020202020204" pitchFamily="34" charset="0"/>
              </a:rPr>
              <a:t>10.1.0.1</a:t>
            </a:r>
          </a:p>
          <a:p>
            <a:pPr algn="ctr"/>
            <a:endParaRPr lang="en-US" altLang="en-US" sz="1400">
              <a:cs typeface="Arial" panose="020B0604020202020204" pitchFamily="34" charset="0"/>
            </a:endParaRPr>
          </a:p>
        </p:txBody>
      </p:sp>
      <p:sp>
        <p:nvSpPr>
          <p:cNvPr id="114704" name="TextBox 58">
            <a:extLst>
              <a:ext uri="{FF2B5EF4-FFF2-40B4-BE49-F238E27FC236}">
                <a16:creationId xmlns:a16="http://schemas.microsoft.com/office/drawing/2014/main" id="{23E62039-F3EB-1E47-9087-68773783D9F0}"/>
              </a:ext>
            </a:extLst>
          </p:cNvPr>
          <p:cNvSpPr txBox="1">
            <a:spLocks noChangeArrowheads="1"/>
          </p:cNvSpPr>
          <p:nvPr/>
        </p:nvSpPr>
        <p:spPr bwMode="auto">
          <a:xfrm>
            <a:off x="3811820" y="4949825"/>
            <a:ext cx="83343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cs typeface="Arial" panose="020B0604020202020204" pitchFamily="34" charset="0"/>
              </a:rPr>
              <a:t>Host h2</a:t>
            </a:r>
          </a:p>
          <a:p>
            <a:r>
              <a:rPr lang="en-US" altLang="en-US" sz="1400">
                <a:cs typeface="Arial" panose="020B0604020202020204" pitchFamily="34" charset="0"/>
              </a:rPr>
              <a:t>10.1.0.2</a:t>
            </a:r>
          </a:p>
          <a:p>
            <a:endParaRPr lang="en-US" altLang="en-US">
              <a:cs typeface="Arial" panose="020B0604020202020204" pitchFamily="34" charset="0"/>
            </a:endParaRPr>
          </a:p>
        </p:txBody>
      </p:sp>
      <p:cxnSp>
        <p:nvCxnSpPr>
          <p:cNvPr id="66" name="Straight Connector 65">
            <a:extLst>
              <a:ext uri="{FF2B5EF4-FFF2-40B4-BE49-F238E27FC236}">
                <a16:creationId xmlns:a16="http://schemas.microsoft.com/office/drawing/2014/main" id="{BB92A95B-E668-ED4D-8AFC-78DE314DB603}"/>
              </a:ext>
            </a:extLst>
          </p:cNvPr>
          <p:cNvCxnSpPr/>
          <p:nvPr/>
        </p:nvCxnSpPr>
        <p:spPr>
          <a:xfrm flipV="1">
            <a:off x="5318358" y="4568825"/>
            <a:ext cx="306387" cy="490538"/>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D3DBF013-1360-5345-9FD2-1CFB34CC613B}"/>
              </a:ext>
            </a:extLst>
          </p:cNvPr>
          <p:cNvCxnSpPr/>
          <p:nvPr/>
        </p:nvCxnSpPr>
        <p:spPr>
          <a:xfrm>
            <a:off x="6072420" y="4448175"/>
            <a:ext cx="531813"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14707" name="Group 44">
            <a:extLst>
              <a:ext uri="{FF2B5EF4-FFF2-40B4-BE49-F238E27FC236}">
                <a16:creationId xmlns:a16="http://schemas.microsoft.com/office/drawing/2014/main" id="{70B0C066-7CFD-C740-966F-B5A5C5410906}"/>
              </a:ext>
            </a:extLst>
          </p:cNvPr>
          <p:cNvGrpSpPr>
            <a:grpSpLocks/>
          </p:cNvGrpSpPr>
          <p:nvPr/>
        </p:nvGrpSpPr>
        <p:grpSpPr bwMode="auto">
          <a:xfrm>
            <a:off x="6278795" y="4221163"/>
            <a:ext cx="757238" cy="628650"/>
            <a:chOff x="-44" y="1473"/>
            <a:chExt cx="981" cy="1105"/>
          </a:xfrm>
        </p:grpSpPr>
        <p:pic>
          <p:nvPicPr>
            <p:cNvPr id="114809" name="Picture 45" descr="desktop_computer_stylized_medium">
              <a:extLst>
                <a:ext uri="{FF2B5EF4-FFF2-40B4-BE49-F238E27FC236}">
                  <a16:creationId xmlns:a16="http://schemas.microsoft.com/office/drawing/2014/main" id="{14CE0C2B-0B8A-024D-8BC1-1C9A2EA57C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810" name="Freeform 46">
              <a:extLst>
                <a:ext uri="{FF2B5EF4-FFF2-40B4-BE49-F238E27FC236}">
                  <a16:creationId xmlns:a16="http://schemas.microsoft.com/office/drawing/2014/main" id="{35A53CBE-922A-B644-994E-FA62B8BD086A}"/>
                </a:ext>
              </a:extLst>
            </p:cNvPr>
            <p:cNvSpPr>
              <a:spLocks/>
            </p:cNvSpPr>
            <p:nvPr/>
          </p:nvSpPr>
          <p:spPr bwMode="auto">
            <a:xfrm flipH="1">
              <a:off x="374" y="1579"/>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14708" name="Group 44">
            <a:extLst>
              <a:ext uri="{FF2B5EF4-FFF2-40B4-BE49-F238E27FC236}">
                <a16:creationId xmlns:a16="http://schemas.microsoft.com/office/drawing/2014/main" id="{FD729602-8A04-2F4D-B66F-A5F705CAAE73}"/>
              </a:ext>
            </a:extLst>
          </p:cNvPr>
          <p:cNvGrpSpPr>
            <a:grpSpLocks/>
          </p:cNvGrpSpPr>
          <p:nvPr/>
        </p:nvGrpSpPr>
        <p:grpSpPr bwMode="auto">
          <a:xfrm>
            <a:off x="4800833" y="4835525"/>
            <a:ext cx="757237" cy="628650"/>
            <a:chOff x="-44" y="1473"/>
            <a:chExt cx="981" cy="1105"/>
          </a:xfrm>
        </p:grpSpPr>
        <p:pic>
          <p:nvPicPr>
            <p:cNvPr id="114807" name="Picture 45" descr="desktop_computer_stylized_medium">
              <a:extLst>
                <a:ext uri="{FF2B5EF4-FFF2-40B4-BE49-F238E27FC236}">
                  <a16:creationId xmlns:a16="http://schemas.microsoft.com/office/drawing/2014/main" id="{86A59BF3-48F8-C847-A9E6-DC32A8998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808" name="Freeform 46">
              <a:extLst>
                <a:ext uri="{FF2B5EF4-FFF2-40B4-BE49-F238E27FC236}">
                  <a16:creationId xmlns:a16="http://schemas.microsoft.com/office/drawing/2014/main" id="{A5100F31-91D0-E74E-A244-466806137BA5}"/>
                </a:ext>
              </a:extLst>
            </p:cNvPr>
            <p:cNvSpPr>
              <a:spLocks/>
            </p:cNvSpPr>
            <p:nvPr/>
          </p:nvSpPr>
          <p:spPr bwMode="auto">
            <a:xfrm flipH="1">
              <a:off x="374" y="1579"/>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114709" name="TextBox 70">
            <a:extLst>
              <a:ext uri="{FF2B5EF4-FFF2-40B4-BE49-F238E27FC236}">
                <a16:creationId xmlns:a16="http://schemas.microsoft.com/office/drawing/2014/main" id="{A8CABF3D-19B0-7243-9672-B2562D2B4E4D}"/>
              </a:ext>
            </a:extLst>
          </p:cNvPr>
          <p:cNvSpPr txBox="1">
            <a:spLocks noChangeArrowheads="1"/>
          </p:cNvSpPr>
          <p:nvPr/>
        </p:nvSpPr>
        <p:spPr bwMode="auto">
          <a:xfrm>
            <a:off x="7037620" y="4249738"/>
            <a:ext cx="83343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cs typeface="Arial" panose="020B0604020202020204" pitchFamily="34" charset="0"/>
              </a:rPr>
              <a:t>Host h4</a:t>
            </a:r>
          </a:p>
          <a:p>
            <a:r>
              <a:rPr lang="en-US" altLang="en-US" sz="1400">
                <a:cs typeface="Arial" panose="020B0604020202020204" pitchFamily="34" charset="0"/>
              </a:rPr>
              <a:t>10.2.0.4</a:t>
            </a:r>
          </a:p>
          <a:p>
            <a:endParaRPr lang="en-US" altLang="en-US">
              <a:cs typeface="Arial" panose="020B0604020202020204" pitchFamily="34" charset="0"/>
            </a:endParaRPr>
          </a:p>
        </p:txBody>
      </p:sp>
      <p:sp>
        <p:nvSpPr>
          <p:cNvPr id="114710" name="TextBox 71">
            <a:extLst>
              <a:ext uri="{FF2B5EF4-FFF2-40B4-BE49-F238E27FC236}">
                <a16:creationId xmlns:a16="http://schemas.microsoft.com/office/drawing/2014/main" id="{E1E20ED7-8439-0E47-BBD1-5618715869CE}"/>
              </a:ext>
            </a:extLst>
          </p:cNvPr>
          <p:cNvSpPr txBox="1">
            <a:spLocks noChangeArrowheads="1"/>
          </p:cNvSpPr>
          <p:nvPr/>
        </p:nvSpPr>
        <p:spPr bwMode="auto">
          <a:xfrm>
            <a:off x="4691295" y="5389563"/>
            <a:ext cx="83343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a:cs typeface="Arial" panose="020B0604020202020204" pitchFamily="34" charset="0"/>
              </a:rPr>
              <a:t>Host h3</a:t>
            </a:r>
          </a:p>
          <a:p>
            <a:r>
              <a:rPr lang="en-US" altLang="en-US" sz="1400">
                <a:cs typeface="Arial" panose="020B0604020202020204" pitchFamily="34" charset="0"/>
              </a:rPr>
              <a:t>10.2.0.3</a:t>
            </a:r>
          </a:p>
          <a:p>
            <a:endParaRPr lang="en-US" altLang="en-US">
              <a:cs typeface="Arial" panose="020B0604020202020204" pitchFamily="34" charset="0"/>
            </a:endParaRPr>
          </a:p>
        </p:txBody>
      </p:sp>
      <p:cxnSp>
        <p:nvCxnSpPr>
          <p:cNvPr id="78" name="Straight Connector 77">
            <a:extLst>
              <a:ext uri="{FF2B5EF4-FFF2-40B4-BE49-F238E27FC236}">
                <a16:creationId xmlns:a16="http://schemas.microsoft.com/office/drawing/2014/main" id="{5434831C-976D-3D4F-8D78-9A55156A0E0D}"/>
              </a:ext>
            </a:extLst>
          </p:cNvPr>
          <p:cNvCxnSpPr/>
          <p:nvPr/>
        </p:nvCxnSpPr>
        <p:spPr>
          <a:xfrm>
            <a:off x="2675170" y="2681288"/>
            <a:ext cx="706438"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40E6E972-472B-D24A-852D-7F9233D4BB29}"/>
              </a:ext>
            </a:extLst>
          </p:cNvPr>
          <p:cNvCxnSpPr/>
          <p:nvPr/>
        </p:nvCxnSpPr>
        <p:spPr>
          <a:xfrm flipV="1">
            <a:off x="3653070" y="2014538"/>
            <a:ext cx="0" cy="474662"/>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14713" name="Group 44">
            <a:extLst>
              <a:ext uri="{FF2B5EF4-FFF2-40B4-BE49-F238E27FC236}">
                <a16:creationId xmlns:a16="http://schemas.microsoft.com/office/drawing/2014/main" id="{DCA70960-2297-9B40-83DD-41FF45E0E5AE}"/>
              </a:ext>
            </a:extLst>
          </p:cNvPr>
          <p:cNvGrpSpPr>
            <a:grpSpLocks/>
          </p:cNvGrpSpPr>
          <p:nvPr/>
        </p:nvGrpSpPr>
        <p:grpSpPr bwMode="auto">
          <a:xfrm>
            <a:off x="3172058" y="1622425"/>
            <a:ext cx="757237" cy="628650"/>
            <a:chOff x="-44" y="1473"/>
            <a:chExt cx="981" cy="1105"/>
          </a:xfrm>
        </p:grpSpPr>
        <p:pic>
          <p:nvPicPr>
            <p:cNvPr id="114805" name="Picture 45" descr="desktop_computer_stylized_medium">
              <a:extLst>
                <a:ext uri="{FF2B5EF4-FFF2-40B4-BE49-F238E27FC236}">
                  <a16:creationId xmlns:a16="http://schemas.microsoft.com/office/drawing/2014/main" id="{EA7F2273-03BB-094F-8B7A-5E4C8B5A55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806" name="Freeform 46">
              <a:extLst>
                <a:ext uri="{FF2B5EF4-FFF2-40B4-BE49-F238E27FC236}">
                  <a16:creationId xmlns:a16="http://schemas.microsoft.com/office/drawing/2014/main" id="{F87852E7-C321-0D4D-B9B4-22484F3C27FC}"/>
                </a:ext>
              </a:extLst>
            </p:cNvPr>
            <p:cNvSpPr>
              <a:spLocks/>
            </p:cNvSpPr>
            <p:nvPr/>
          </p:nvSpPr>
          <p:spPr bwMode="auto">
            <a:xfrm flipH="1">
              <a:off x="374" y="1579"/>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14714" name="Group 44">
            <a:extLst>
              <a:ext uri="{FF2B5EF4-FFF2-40B4-BE49-F238E27FC236}">
                <a16:creationId xmlns:a16="http://schemas.microsoft.com/office/drawing/2014/main" id="{5B939FE7-E3CB-CF4A-87E5-4F359122FEC7}"/>
              </a:ext>
            </a:extLst>
          </p:cNvPr>
          <p:cNvGrpSpPr>
            <a:grpSpLocks/>
          </p:cNvGrpSpPr>
          <p:nvPr/>
        </p:nvGrpSpPr>
        <p:grpSpPr bwMode="auto">
          <a:xfrm>
            <a:off x="2117958" y="2455863"/>
            <a:ext cx="757237" cy="628650"/>
            <a:chOff x="-44" y="1473"/>
            <a:chExt cx="981" cy="1105"/>
          </a:xfrm>
        </p:grpSpPr>
        <p:pic>
          <p:nvPicPr>
            <p:cNvPr id="114803" name="Picture 45" descr="desktop_computer_stylized_medium">
              <a:extLst>
                <a:ext uri="{FF2B5EF4-FFF2-40B4-BE49-F238E27FC236}">
                  <a16:creationId xmlns:a16="http://schemas.microsoft.com/office/drawing/2014/main" id="{96FD2C0B-A952-554E-B285-7E050D9556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804" name="Freeform 46">
              <a:extLst>
                <a:ext uri="{FF2B5EF4-FFF2-40B4-BE49-F238E27FC236}">
                  <a16:creationId xmlns:a16="http://schemas.microsoft.com/office/drawing/2014/main" id="{CDC29BF9-9798-4C41-82D7-BBA3246C82AE}"/>
                </a:ext>
              </a:extLst>
            </p:cNvPr>
            <p:cNvSpPr>
              <a:spLocks/>
            </p:cNvSpPr>
            <p:nvPr/>
          </p:nvSpPr>
          <p:spPr bwMode="auto">
            <a:xfrm flipH="1">
              <a:off x="374" y="1579"/>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114715" name="TextBox 83">
            <a:extLst>
              <a:ext uri="{FF2B5EF4-FFF2-40B4-BE49-F238E27FC236}">
                <a16:creationId xmlns:a16="http://schemas.microsoft.com/office/drawing/2014/main" id="{2D671C9B-463C-2444-96AD-796B7DE53BF3}"/>
              </a:ext>
            </a:extLst>
          </p:cNvPr>
          <p:cNvSpPr txBox="1">
            <a:spLocks noChangeArrowheads="1"/>
          </p:cNvSpPr>
          <p:nvPr/>
        </p:nvSpPr>
        <p:spPr bwMode="auto">
          <a:xfrm>
            <a:off x="2206858" y="2959100"/>
            <a:ext cx="833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400" dirty="0">
                <a:solidFill>
                  <a:srgbClr val="FF0000"/>
                </a:solidFill>
                <a:cs typeface="Arial" panose="020B0604020202020204" pitchFamily="34" charset="0"/>
              </a:rPr>
              <a:t>Host h5</a:t>
            </a:r>
          </a:p>
          <a:p>
            <a:pPr algn="ctr"/>
            <a:r>
              <a:rPr lang="en-US" altLang="en-US" sz="1400" dirty="0">
                <a:cs typeface="Arial" panose="020B0604020202020204" pitchFamily="34" charset="0"/>
              </a:rPr>
              <a:t>10.3.0.5</a:t>
            </a:r>
          </a:p>
        </p:txBody>
      </p:sp>
      <p:sp>
        <p:nvSpPr>
          <p:cNvPr id="114716" name="TextBox 92">
            <a:extLst>
              <a:ext uri="{FF2B5EF4-FFF2-40B4-BE49-F238E27FC236}">
                <a16:creationId xmlns:a16="http://schemas.microsoft.com/office/drawing/2014/main" id="{0C460484-D45C-6348-8B16-14F6191BDCA8}"/>
              </a:ext>
            </a:extLst>
          </p:cNvPr>
          <p:cNvSpPr txBox="1">
            <a:spLocks noChangeArrowheads="1"/>
          </p:cNvSpPr>
          <p:nvPr/>
        </p:nvSpPr>
        <p:spPr bwMode="auto">
          <a:xfrm>
            <a:off x="3614970" y="3949700"/>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cs typeface="Arial" panose="020B0604020202020204" pitchFamily="34" charset="0"/>
              </a:rPr>
              <a:t>s1</a:t>
            </a:r>
          </a:p>
        </p:txBody>
      </p:sp>
      <p:sp>
        <p:nvSpPr>
          <p:cNvPr id="114717" name="TextBox 93">
            <a:extLst>
              <a:ext uri="{FF2B5EF4-FFF2-40B4-BE49-F238E27FC236}">
                <a16:creationId xmlns:a16="http://schemas.microsoft.com/office/drawing/2014/main" id="{EE1883F5-7877-2646-BE50-1FC32F348800}"/>
              </a:ext>
            </a:extLst>
          </p:cNvPr>
          <p:cNvSpPr txBox="1">
            <a:spLocks noChangeArrowheads="1"/>
          </p:cNvSpPr>
          <p:nvPr/>
        </p:nvSpPr>
        <p:spPr bwMode="auto">
          <a:xfrm>
            <a:off x="5775558" y="3976688"/>
            <a:ext cx="428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cs typeface="Arial" panose="020B0604020202020204" pitchFamily="34" charset="0"/>
              </a:rPr>
              <a:t>s2</a:t>
            </a:r>
          </a:p>
        </p:txBody>
      </p:sp>
      <p:sp>
        <p:nvSpPr>
          <p:cNvPr id="114718" name="TextBox 94">
            <a:extLst>
              <a:ext uri="{FF2B5EF4-FFF2-40B4-BE49-F238E27FC236}">
                <a16:creationId xmlns:a16="http://schemas.microsoft.com/office/drawing/2014/main" id="{A309E1D7-B82E-EC40-A542-688198F9835F}"/>
              </a:ext>
            </a:extLst>
          </p:cNvPr>
          <p:cNvSpPr txBox="1">
            <a:spLocks noChangeArrowheads="1"/>
          </p:cNvSpPr>
          <p:nvPr/>
        </p:nvSpPr>
        <p:spPr bwMode="auto">
          <a:xfrm>
            <a:off x="3832458" y="2168525"/>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cs typeface="Arial" panose="020B0604020202020204" pitchFamily="34" charset="0"/>
              </a:rPr>
              <a:t>s3</a:t>
            </a:r>
          </a:p>
        </p:txBody>
      </p:sp>
      <p:cxnSp>
        <p:nvCxnSpPr>
          <p:cNvPr id="114719" name="Straight Connector 99">
            <a:extLst>
              <a:ext uri="{FF2B5EF4-FFF2-40B4-BE49-F238E27FC236}">
                <a16:creationId xmlns:a16="http://schemas.microsoft.com/office/drawing/2014/main" id="{4515587C-AA68-7842-9EBB-97B7BB7EDF37}"/>
              </a:ext>
            </a:extLst>
          </p:cNvPr>
          <p:cNvCxnSpPr>
            <a:cxnSpLocks noChangeShapeType="1"/>
            <a:endCxn id="114745" idx="1"/>
          </p:cNvCxnSpPr>
          <p:nvPr/>
        </p:nvCxnSpPr>
        <p:spPr bwMode="auto">
          <a:xfrm>
            <a:off x="3989620" y="2670175"/>
            <a:ext cx="1912776" cy="16578"/>
          </a:xfrm>
          <a:prstGeom prst="line">
            <a:avLst/>
          </a:prstGeom>
          <a:noFill/>
          <a:ln w="12700">
            <a:solidFill>
              <a:srgbClr val="CC0000">
                <a:alpha val="50195"/>
              </a:srgbClr>
            </a:solidFill>
            <a:prstDash val="dash"/>
            <a:round/>
            <a:headEnd/>
            <a:tailEnd/>
          </a:ln>
          <a:extLst>
            <a:ext uri="{909E8E84-426E-40DD-AFC4-6F175D3DCCD1}">
              <a14:hiddenFill xmlns:a14="http://schemas.microsoft.com/office/drawing/2010/main">
                <a:noFill/>
              </a14:hiddenFill>
            </a:ext>
          </a:extLst>
        </p:spPr>
      </p:cxnSp>
      <p:cxnSp>
        <p:nvCxnSpPr>
          <p:cNvPr id="114720" name="Straight Connector 102">
            <a:extLst>
              <a:ext uri="{FF2B5EF4-FFF2-40B4-BE49-F238E27FC236}">
                <a16:creationId xmlns:a16="http://schemas.microsoft.com/office/drawing/2014/main" id="{125E3B5F-D0BF-344A-B05D-EBAC1D0105B3}"/>
              </a:ext>
            </a:extLst>
          </p:cNvPr>
          <p:cNvCxnSpPr>
            <a:cxnSpLocks noChangeShapeType="1"/>
            <a:stCxn id="114763" idx="2"/>
          </p:cNvCxnSpPr>
          <p:nvPr/>
        </p:nvCxnSpPr>
        <p:spPr bwMode="auto">
          <a:xfrm flipH="1">
            <a:off x="5683483" y="3009385"/>
            <a:ext cx="349948" cy="1121290"/>
          </a:xfrm>
          <a:prstGeom prst="line">
            <a:avLst/>
          </a:prstGeom>
          <a:noFill/>
          <a:ln w="12700">
            <a:solidFill>
              <a:srgbClr val="CC0000">
                <a:alpha val="50195"/>
              </a:srgbClr>
            </a:solidFill>
            <a:prstDash val="dash"/>
            <a:round/>
            <a:headEnd/>
            <a:tailEnd/>
          </a:ln>
          <a:extLst>
            <a:ext uri="{909E8E84-426E-40DD-AFC4-6F175D3DCCD1}">
              <a14:hiddenFill xmlns:a14="http://schemas.microsoft.com/office/drawing/2010/main">
                <a:noFill/>
              </a14:hiddenFill>
            </a:ext>
          </a:extLst>
        </p:spPr>
      </p:cxnSp>
      <p:sp>
        <p:nvSpPr>
          <p:cNvPr id="114721" name="TextBox 108">
            <a:extLst>
              <a:ext uri="{FF2B5EF4-FFF2-40B4-BE49-F238E27FC236}">
                <a16:creationId xmlns:a16="http://schemas.microsoft.com/office/drawing/2014/main" id="{05AB8AB5-AC0A-244E-9986-D07B33DA7506}"/>
              </a:ext>
            </a:extLst>
          </p:cNvPr>
          <p:cNvSpPr txBox="1">
            <a:spLocks noChangeArrowheads="1"/>
          </p:cNvSpPr>
          <p:nvPr/>
        </p:nvSpPr>
        <p:spPr bwMode="auto">
          <a:xfrm>
            <a:off x="3443520" y="2173288"/>
            <a:ext cx="271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1</a:t>
            </a:r>
          </a:p>
        </p:txBody>
      </p:sp>
      <p:sp>
        <p:nvSpPr>
          <p:cNvPr id="114722" name="TextBox 109">
            <a:extLst>
              <a:ext uri="{FF2B5EF4-FFF2-40B4-BE49-F238E27FC236}">
                <a16:creationId xmlns:a16="http://schemas.microsoft.com/office/drawing/2014/main" id="{90EA9024-0644-0849-A0A2-EBF228E2A28A}"/>
              </a:ext>
            </a:extLst>
          </p:cNvPr>
          <p:cNvSpPr txBox="1">
            <a:spLocks noChangeArrowheads="1"/>
          </p:cNvSpPr>
          <p:nvPr/>
        </p:nvSpPr>
        <p:spPr bwMode="auto">
          <a:xfrm>
            <a:off x="2975208" y="2419350"/>
            <a:ext cx="2730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2</a:t>
            </a:r>
          </a:p>
        </p:txBody>
      </p:sp>
      <p:sp>
        <p:nvSpPr>
          <p:cNvPr id="114723" name="TextBox 110">
            <a:extLst>
              <a:ext uri="{FF2B5EF4-FFF2-40B4-BE49-F238E27FC236}">
                <a16:creationId xmlns:a16="http://schemas.microsoft.com/office/drawing/2014/main" id="{5B503500-78C9-5242-9D83-66C7DEBAE27A}"/>
              </a:ext>
            </a:extLst>
          </p:cNvPr>
          <p:cNvSpPr txBox="1">
            <a:spLocks noChangeArrowheads="1"/>
          </p:cNvSpPr>
          <p:nvPr/>
        </p:nvSpPr>
        <p:spPr bwMode="auto">
          <a:xfrm>
            <a:off x="3343508" y="2751138"/>
            <a:ext cx="2698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3</a:t>
            </a:r>
          </a:p>
        </p:txBody>
      </p:sp>
      <p:sp>
        <p:nvSpPr>
          <p:cNvPr id="114724" name="TextBox 111">
            <a:extLst>
              <a:ext uri="{FF2B5EF4-FFF2-40B4-BE49-F238E27FC236}">
                <a16:creationId xmlns:a16="http://schemas.microsoft.com/office/drawing/2014/main" id="{99911F13-2814-A24A-B96B-4E56B735430B}"/>
              </a:ext>
            </a:extLst>
          </p:cNvPr>
          <p:cNvSpPr txBox="1">
            <a:spLocks noChangeArrowheads="1"/>
          </p:cNvSpPr>
          <p:nvPr/>
        </p:nvSpPr>
        <p:spPr bwMode="auto">
          <a:xfrm>
            <a:off x="3821345" y="2687638"/>
            <a:ext cx="2746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4</a:t>
            </a:r>
          </a:p>
        </p:txBody>
      </p:sp>
      <p:sp>
        <p:nvSpPr>
          <p:cNvPr id="114725" name="TextBox 112">
            <a:extLst>
              <a:ext uri="{FF2B5EF4-FFF2-40B4-BE49-F238E27FC236}">
                <a16:creationId xmlns:a16="http://schemas.microsoft.com/office/drawing/2014/main" id="{DB8FB78D-8F86-544E-B1B3-3EA70895E4F3}"/>
              </a:ext>
            </a:extLst>
          </p:cNvPr>
          <p:cNvSpPr txBox="1">
            <a:spLocks noChangeArrowheads="1"/>
          </p:cNvSpPr>
          <p:nvPr/>
        </p:nvSpPr>
        <p:spPr bwMode="auto">
          <a:xfrm>
            <a:off x="3346683" y="4006850"/>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1</a:t>
            </a:r>
          </a:p>
        </p:txBody>
      </p:sp>
      <p:sp>
        <p:nvSpPr>
          <p:cNvPr id="114726" name="TextBox 113">
            <a:extLst>
              <a:ext uri="{FF2B5EF4-FFF2-40B4-BE49-F238E27FC236}">
                <a16:creationId xmlns:a16="http://schemas.microsoft.com/office/drawing/2014/main" id="{10A3024C-9F6D-3F43-A7EC-6DE5DC5175A0}"/>
              </a:ext>
            </a:extLst>
          </p:cNvPr>
          <p:cNvSpPr txBox="1">
            <a:spLocks noChangeArrowheads="1"/>
          </p:cNvSpPr>
          <p:nvPr/>
        </p:nvSpPr>
        <p:spPr bwMode="auto">
          <a:xfrm>
            <a:off x="2989495" y="4276725"/>
            <a:ext cx="2746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2</a:t>
            </a:r>
          </a:p>
        </p:txBody>
      </p:sp>
      <p:sp>
        <p:nvSpPr>
          <p:cNvPr id="114727" name="TextBox 114">
            <a:extLst>
              <a:ext uri="{FF2B5EF4-FFF2-40B4-BE49-F238E27FC236}">
                <a16:creationId xmlns:a16="http://schemas.microsoft.com/office/drawing/2014/main" id="{9877AF8D-25AD-E748-96AB-66D29E06D064}"/>
              </a:ext>
            </a:extLst>
          </p:cNvPr>
          <p:cNvSpPr txBox="1">
            <a:spLocks noChangeArrowheads="1"/>
          </p:cNvSpPr>
          <p:nvPr/>
        </p:nvSpPr>
        <p:spPr bwMode="auto">
          <a:xfrm>
            <a:off x="3372083" y="4624388"/>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3</a:t>
            </a:r>
          </a:p>
        </p:txBody>
      </p:sp>
      <p:sp>
        <p:nvSpPr>
          <p:cNvPr id="114728" name="TextBox 115">
            <a:extLst>
              <a:ext uri="{FF2B5EF4-FFF2-40B4-BE49-F238E27FC236}">
                <a16:creationId xmlns:a16="http://schemas.microsoft.com/office/drawing/2014/main" id="{1241CE18-1880-5A41-AF9B-186170899EF8}"/>
              </a:ext>
            </a:extLst>
          </p:cNvPr>
          <p:cNvSpPr txBox="1">
            <a:spLocks noChangeArrowheads="1"/>
          </p:cNvSpPr>
          <p:nvPr/>
        </p:nvSpPr>
        <p:spPr bwMode="auto">
          <a:xfrm>
            <a:off x="3880083" y="4437063"/>
            <a:ext cx="27305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4</a:t>
            </a:r>
          </a:p>
        </p:txBody>
      </p:sp>
      <p:sp>
        <p:nvSpPr>
          <p:cNvPr id="114729" name="TextBox 117">
            <a:extLst>
              <a:ext uri="{FF2B5EF4-FFF2-40B4-BE49-F238E27FC236}">
                <a16:creationId xmlns:a16="http://schemas.microsoft.com/office/drawing/2014/main" id="{70CB85CB-4681-3748-A451-96FD0D3ED509}"/>
              </a:ext>
            </a:extLst>
          </p:cNvPr>
          <p:cNvSpPr txBox="1">
            <a:spLocks noChangeArrowheads="1"/>
          </p:cNvSpPr>
          <p:nvPr/>
        </p:nvSpPr>
        <p:spPr bwMode="auto">
          <a:xfrm>
            <a:off x="5137383" y="4089400"/>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1</a:t>
            </a:r>
          </a:p>
        </p:txBody>
      </p:sp>
      <p:sp>
        <p:nvSpPr>
          <p:cNvPr id="114730" name="TextBox 118">
            <a:extLst>
              <a:ext uri="{FF2B5EF4-FFF2-40B4-BE49-F238E27FC236}">
                <a16:creationId xmlns:a16="http://schemas.microsoft.com/office/drawing/2014/main" id="{D428B570-2026-4A4E-85D7-69B7171F9229}"/>
              </a:ext>
            </a:extLst>
          </p:cNvPr>
          <p:cNvSpPr txBox="1">
            <a:spLocks noChangeArrowheads="1"/>
          </p:cNvSpPr>
          <p:nvPr/>
        </p:nvSpPr>
        <p:spPr bwMode="auto">
          <a:xfrm>
            <a:off x="5108808" y="4437063"/>
            <a:ext cx="2746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2</a:t>
            </a:r>
          </a:p>
        </p:txBody>
      </p:sp>
      <p:sp>
        <p:nvSpPr>
          <p:cNvPr id="114731" name="TextBox 119">
            <a:extLst>
              <a:ext uri="{FF2B5EF4-FFF2-40B4-BE49-F238E27FC236}">
                <a16:creationId xmlns:a16="http://schemas.microsoft.com/office/drawing/2014/main" id="{751308AA-183B-9149-A729-66B56C1BDE63}"/>
              </a:ext>
            </a:extLst>
          </p:cNvPr>
          <p:cNvSpPr txBox="1">
            <a:spLocks noChangeArrowheads="1"/>
          </p:cNvSpPr>
          <p:nvPr/>
        </p:nvSpPr>
        <p:spPr bwMode="auto">
          <a:xfrm>
            <a:off x="5475520" y="4641850"/>
            <a:ext cx="2698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3</a:t>
            </a:r>
          </a:p>
        </p:txBody>
      </p:sp>
      <p:sp>
        <p:nvSpPr>
          <p:cNvPr id="114732" name="TextBox 120">
            <a:extLst>
              <a:ext uri="{FF2B5EF4-FFF2-40B4-BE49-F238E27FC236}">
                <a16:creationId xmlns:a16="http://schemas.microsoft.com/office/drawing/2014/main" id="{9078B34B-02FE-E346-8E3E-299BC35FAFBA}"/>
              </a:ext>
            </a:extLst>
          </p:cNvPr>
          <p:cNvSpPr txBox="1">
            <a:spLocks noChangeArrowheads="1"/>
          </p:cNvSpPr>
          <p:nvPr/>
        </p:nvSpPr>
        <p:spPr bwMode="auto">
          <a:xfrm>
            <a:off x="6034320" y="4394200"/>
            <a:ext cx="2746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200">
                <a:cs typeface="Arial" panose="020B0604020202020204" pitchFamily="34" charset="0"/>
              </a:rPr>
              <a:t>4</a:t>
            </a:r>
          </a:p>
        </p:txBody>
      </p:sp>
      <p:sp>
        <p:nvSpPr>
          <p:cNvPr id="114733" name="TextBox 150">
            <a:extLst>
              <a:ext uri="{FF2B5EF4-FFF2-40B4-BE49-F238E27FC236}">
                <a16:creationId xmlns:a16="http://schemas.microsoft.com/office/drawing/2014/main" id="{FA68A02C-2C6F-7A44-95C9-8D4D0746B1DF}"/>
              </a:ext>
            </a:extLst>
          </p:cNvPr>
          <p:cNvSpPr txBox="1">
            <a:spLocks noChangeArrowheads="1"/>
          </p:cNvSpPr>
          <p:nvPr/>
        </p:nvSpPr>
        <p:spPr bwMode="auto">
          <a:xfrm>
            <a:off x="3900720" y="1639888"/>
            <a:ext cx="835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400" dirty="0">
                <a:solidFill>
                  <a:srgbClr val="FF0000"/>
                </a:solidFill>
                <a:cs typeface="Arial" panose="020B0604020202020204" pitchFamily="34" charset="0"/>
              </a:rPr>
              <a:t>Host h6</a:t>
            </a:r>
          </a:p>
          <a:p>
            <a:pPr algn="ctr"/>
            <a:r>
              <a:rPr lang="en-US" altLang="en-US" sz="1400" dirty="0">
                <a:cs typeface="Arial" panose="020B0604020202020204" pitchFamily="34" charset="0"/>
              </a:rPr>
              <a:t>10.3.0.6</a:t>
            </a:r>
          </a:p>
        </p:txBody>
      </p:sp>
      <p:grpSp>
        <p:nvGrpSpPr>
          <p:cNvPr id="114734" name="Group 7">
            <a:extLst>
              <a:ext uri="{FF2B5EF4-FFF2-40B4-BE49-F238E27FC236}">
                <a16:creationId xmlns:a16="http://schemas.microsoft.com/office/drawing/2014/main" id="{AB003C8D-A24F-2845-9A5A-AF2B21A8DB1A}"/>
              </a:ext>
            </a:extLst>
          </p:cNvPr>
          <p:cNvGrpSpPr>
            <a:grpSpLocks/>
          </p:cNvGrpSpPr>
          <p:nvPr/>
        </p:nvGrpSpPr>
        <p:grpSpPr bwMode="auto">
          <a:xfrm>
            <a:off x="3221270" y="4257675"/>
            <a:ext cx="700088" cy="398463"/>
            <a:chOff x="1871277" y="1576300"/>
            <a:chExt cx="1128371" cy="437861"/>
          </a:xfrm>
        </p:grpSpPr>
        <p:sp>
          <p:nvSpPr>
            <p:cNvPr id="155" name="Oval 154">
              <a:extLst>
                <a:ext uri="{FF2B5EF4-FFF2-40B4-BE49-F238E27FC236}">
                  <a16:creationId xmlns:a16="http://schemas.microsoft.com/office/drawing/2014/main" id="{C56ACF6E-DB45-E44D-A19B-F91C33DC8EC2}"/>
                </a:ext>
              </a:extLst>
            </p:cNvPr>
            <p:cNvSpPr>
              <a:spLocks noChangeArrowheads="1"/>
            </p:cNvSpPr>
            <p:nvPr/>
          </p:nvSpPr>
          <p:spPr bwMode="auto">
            <a:xfrm flipV="1">
              <a:off x="1873836" y="1694924"/>
              <a:ext cx="1125812" cy="319237"/>
            </a:xfrm>
            <a:prstGeom prst="ellipse">
              <a:avLst/>
            </a:prstGeom>
            <a:gradFill rotWithShape="1">
              <a:gsLst>
                <a:gs pos="0">
                  <a:srgbClr val="262699"/>
                </a:gs>
                <a:gs pos="53000">
                  <a:srgbClr val="8585E0"/>
                </a:gs>
                <a:gs pos="100000">
                  <a:srgbClr val="262699"/>
                </a:gs>
              </a:gsLst>
              <a:lin ang="0" scaled="1"/>
            </a:gradFill>
            <a:ln w="635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dirty="0">
                <a:ln>
                  <a:solidFill>
                    <a:schemeClr val="tx1"/>
                  </a:solidFill>
                </a:ln>
                <a:solidFill>
                  <a:schemeClr val="lt1"/>
                </a:solidFill>
                <a:latin typeface="+mn-lt"/>
                <a:ea typeface="+mn-ea"/>
              </a:endParaRPr>
            </a:p>
          </p:txBody>
        </p:sp>
        <p:sp>
          <p:nvSpPr>
            <p:cNvPr id="156" name="Rectangle 155">
              <a:extLst>
                <a:ext uri="{FF2B5EF4-FFF2-40B4-BE49-F238E27FC236}">
                  <a16:creationId xmlns:a16="http://schemas.microsoft.com/office/drawing/2014/main" id="{462B0E1B-EEA4-3346-B576-4512B6E5ACD7}"/>
                </a:ext>
              </a:extLst>
            </p:cNvPr>
            <p:cNvSpPr/>
            <p:nvPr/>
          </p:nvSpPr>
          <p:spPr bwMode="auto">
            <a:xfrm>
              <a:off x="1871277" y="1740280"/>
              <a:ext cx="1128371" cy="11513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7" name="Oval 156">
              <a:extLst>
                <a:ext uri="{FF2B5EF4-FFF2-40B4-BE49-F238E27FC236}">
                  <a16:creationId xmlns:a16="http://schemas.microsoft.com/office/drawing/2014/main" id="{0554E187-1381-C441-984C-C88D5CF70949}"/>
                </a:ext>
              </a:extLst>
            </p:cNvPr>
            <p:cNvSpPr>
              <a:spLocks noChangeArrowheads="1"/>
            </p:cNvSpPr>
            <p:nvPr/>
          </p:nvSpPr>
          <p:spPr bwMode="auto">
            <a:xfrm flipV="1">
              <a:off x="1871277" y="1576300"/>
              <a:ext cx="1125812" cy="319237"/>
            </a:xfrm>
            <a:prstGeom prst="ellipse">
              <a:avLst/>
            </a:prstGeom>
            <a:solidFill>
              <a:srgbClr val="BFBFBF"/>
            </a:solidFill>
            <a:ln w="635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dirty="0">
                <a:ln>
                  <a:solidFill>
                    <a:schemeClr val="tx1"/>
                  </a:solidFill>
                </a:ln>
                <a:solidFill>
                  <a:schemeClr val="lt1"/>
                </a:solidFill>
                <a:latin typeface="+mn-lt"/>
                <a:ea typeface="+mn-ea"/>
              </a:endParaRPr>
            </a:p>
          </p:txBody>
        </p:sp>
        <p:sp>
          <p:nvSpPr>
            <p:cNvPr id="158" name="Freeform 157">
              <a:extLst>
                <a:ext uri="{FF2B5EF4-FFF2-40B4-BE49-F238E27FC236}">
                  <a16:creationId xmlns:a16="http://schemas.microsoft.com/office/drawing/2014/main" id="{517302D1-32A1-BE4E-A4CE-965C50896651}"/>
                </a:ext>
              </a:extLst>
            </p:cNvPr>
            <p:cNvSpPr/>
            <p:nvPr/>
          </p:nvSpPr>
          <p:spPr bwMode="auto">
            <a:xfrm>
              <a:off x="2160407" y="1673990"/>
              <a:ext cx="547554" cy="16049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9" name="Freeform 158">
              <a:extLst>
                <a:ext uri="{FF2B5EF4-FFF2-40B4-BE49-F238E27FC236}">
                  <a16:creationId xmlns:a16="http://schemas.microsoft.com/office/drawing/2014/main" id="{EB4C0F01-A8AC-D54B-ACF0-0F4759CAB1B7}"/>
                </a:ext>
              </a:extLst>
            </p:cNvPr>
            <p:cNvSpPr>
              <a:spLocks/>
            </p:cNvSpPr>
            <p:nvPr/>
          </p:nvSpPr>
          <p:spPr bwMode="auto">
            <a:xfrm>
              <a:off x="2104116" y="1633868"/>
              <a:ext cx="660135" cy="109901"/>
            </a:xfrm>
            <a:custGeom>
              <a:avLst/>
              <a:gdLst>
                <a:gd name="T0" fmla="*/ 0 w 3723451"/>
                <a:gd name="T1" fmla="*/ 26887 h 932950"/>
                <a:gd name="T2" fmla="*/ 116156 w 3723451"/>
                <a:gd name="T3" fmla="*/ 317 h 932950"/>
                <a:gd name="T4" fmla="*/ 329013 w 3723451"/>
                <a:gd name="T5" fmla="*/ 61322 h 932950"/>
                <a:gd name="T6" fmla="*/ 532082 w 3723451"/>
                <a:gd name="T7" fmla="*/ 0 h 932950"/>
                <a:gd name="T8" fmla="*/ 660135 w 3723451"/>
                <a:gd name="T9" fmla="*/ 24402 h 932950"/>
                <a:gd name="T10" fmla="*/ 564864 w 3723451"/>
                <a:gd name="T11" fmla="*/ 54409 h 932950"/>
                <a:gd name="T12" fmla="*/ 534190 w 3723451"/>
                <a:gd name="T13" fmla="*/ 46319 h 932950"/>
                <a:gd name="T14" fmla="*/ 332753 w 3723451"/>
                <a:gd name="T15" fmla="*/ 109901 h 932950"/>
                <a:gd name="T16" fmla="*/ 126163 w 3723451"/>
                <a:gd name="T17" fmla="*/ 48658 h 932950"/>
                <a:gd name="T18" fmla="*/ 92761 w 3723451"/>
                <a:gd name="T19" fmla="*/ 55267 h 932950"/>
                <a:gd name="T20" fmla="*/ 0 w 3723451"/>
                <a:gd name="T21" fmla="*/ 2688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sp>
          <p:nvSpPr>
            <p:cNvPr id="160" name="Freeform 159">
              <a:extLst>
                <a:ext uri="{FF2B5EF4-FFF2-40B4-BE49-F238E27FC236}">
                  <a16:creationId xmlns:a16="http://schemas.microsoft.com/office/drawing/2014/main" id="{D56AEB05-2DD3-3741-B74F-73CA7FD0DC2E}"/>
                </a:ext>
              </a:extLst>
            </p:cNvPr>
            <p:cNvSpPr>
              <a:spLocks/>
            </p:cNvSpPr>
            <p:nvPr/>
          </p:nvSpPr>
          <p:spPr bwMode="auto">
            <a:xfrm>
              <a:off x="2539089" y="1728069"/>
              <a:ext cx="240514" cy="95945"/>
            </a:xfrm>
            <a:custGeom>
              <a:avLst/>
              <a:gdLst>
                <a:gd name="T0" fmla="*/ 0 w 1366596"/>
                <a:gd name="T1" fmla="*/ 0 h 809868"/>
                <a:gd name="T2" fmla="*/ 240514 w 1366596"/>
                <a:gd name="T3" fmla="*/ 74139 h 809868"/>
                <a:gd name="T4" fmla="*/ 152244 w 1366596"/>
                <a:gd name="T5" fmla="*/ 95945 h 809868"/>
                <a:gd name="T6" fmla="*/ 810 w 1366596"/>
                <a:gd name="T7" fmla="*/ 50698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sp>
          <p:nvSpPr>
            <p:cNvPr id="161" name="Freeform 160">
              <a:extLst>
                <a:ext uri="{FF2B5EF4-FFF2-40B4-BE49-F238E27FC236}">
                  <a16:creationId xmlns:a16="http://schemas.microsoft.com/office/drawing/2014/main" id="{9123AC5A-9691-3444-BC09-651EB5BD464A}"/>
                </a:ext>
              </a:extLst>
            </p:cNvPr>
            <p:cNvSpPr>
              <a:spLocks/>
            </p:cNvSpPr>
            <p:nvPr/>
          </p:nvSpPr>
          <p:spPr bwMode="auto">
            <a:xfrm>
              <a:off x="2091322" y="1729813"/>
              <a:ext cx="237956" cy="97690"/>
            </a:xfrm>
            <a:custGeom>
              <a:avLst/>
              <a:gdLst>
                <a:gd name="T0" fmla="*/ 234708 w 1348191"/>
                <a:gd name="T1" fmla="*/ 0 h 791462"/>
                <a:gd name="T2" fmla="*/ 237956 w 1348191"/>
                <a:gd name="T3" fmla="*/ 47141 h 791462"/>
                <a:gd name="T4" fmla="*/ 86087 w 1348191"/>
                <a:gd name="T5" fmla="*/ 97690 h 791462"/>
                <a:gd name="T6" fmla="*/ 0 w 1348191"/>
                <a:gd name="T7" fmla="*/ 75539 h 791462"/>
                <a:gd name="T8" fmla="*/ 23470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cxnSp>
          <p:nvCxnSpPr>
            <p:cNvPr id="162" name="Straight Connector 161">
              <a:extLst>
                <a:ext uri="{FF2B5EF4-FFF2-40B4-BE49-F238E27FC236}">
                  <a16:creationId xmlns:a16="http://schemas.microsoft.com/office/drawing/2014/main" id="{9176CD11-8686-BD41-AD99-8066C798FE5A}"/>
                </a:ext>
              </a:extLst>
            </p:cNvPr>
            <p:cNvCxnSpPr>
              <a:cxnSpLocks noChangeShapeType="1"/>
              <a:endCxn id="157" idx="2"/>
            </p:cNvCxnSpPr>
            <p:nvPr/>
          </p:nvCxnSpPr>
          <p:spPr bwMode="auto">
            <a:xfrm flipH="1" flipV="1">
              <a:off x="1871277" y="1736791"/>
              <a:ext cx="2559" cy="123857"/>
            </a:xfrm>
            <a:prstGeom prst="line">
              <a:avLst/>
            </a:prstGeom>
            <a:noFill/>
            <a:ln w="6350">
              <a:solidFill>
                <a:schemeClr val="tx1"/>
              </a:solidFill>
              <a:round/>
              <a:headEnd/>
              <a:tailEnd/>
            </a:ln>
            <a:effectLst>
              <a:outerShdw dist="19939" dir="5400000" algn="tl" rotWithShape="0">
                <a:srgbClr val="808080">
                  <a:alpha val="37999"/>
                </a:srgbClr>
              </a:outerShdw>
            </a:effectLst>
          </p:spPr>
        </p:cxnSp>
        <p:cxnSp>
          <p:nvCxnSpPr>
            <p:cNvPr id="163" name="Straight Connector 162">
              <a:extLst>
                <a:ext uri="{FF2B5EF4-FFF2-40B4-BE49-F238E27FC236}">
                  <a16:creationId xmlns:a16="http://schemas.microsoft.com/office/drawing/2014/main" id="{A8046027-AD30-434A-A917-A14A0A339591}"/>
                </a:ext>
              </a:extLst>
            </p:cNvPr>
            <p:cNvCxnSpPr>
              <a:cxnSpLocks noChangeShapeType="1"/>
            </p:cNvCxnSpPr>
            <p:nvPr/>
          </p:nvCxnSpPr>
          <p:spPr bwMode="auto">
            <a:xfrm flipH="1" flipV="1">
              <a:off x="2997089" y="1735047"/>
              <a:ext cx="2559" cy="122112"/>
            </a:xfrm>
            <a:prstGeom prst="line">
              <a:avLst/>
            </a:prstGeom>
            <a:noFill/>
            <a:ln w="6350">
              <a:solidFill>
                <a:schemeClr val="tx1"/>
              </a:solidFill>
              <a:round/>
              <a:headEnd/>
              <a:tailEnd/>
            </a:ln>
            <a:effectLst>
              <a:outerShdw dist="19939" dir="5400000" algn="tl" rotWithShape="0">
                <a:srgbClr val="808080">
                  <a:alpha val="37999"/>
                </a:srgbClr>
              </a:outerShdw>
            </a:effectLst>
          </p:spPr>
        </p:cxnSp>
      </p:grpSp>
      <p:grpSp>
        <p:nvGrpSpPr>
          <p:cNvPr id="114735" name="Group 7">
            <a:extLst>
              <a:ext uri="{FF2B5EF4-FFF2-40B4-BE49-F238E27FC236}">
                <a16:creationId xmlns:a16="http://schemas.microsoft.com/office/drawing/2014/main" id="{7624E591-8B22-C640-9E1C-FE559B4AB2F8}"/>
              </a:ext>
            </a:extLst>
          </p:cNvPr>
          <p:cNvGrpSpPr>
            <a:grpSpLocks/>
          </p:cNvGrpSpPr>
          <p:nvPr/>
        </p:nvGrpSpPr>
        <p:grpSpPr bwMode="auto">
          <a:xfrm>
            <a:off x="5321533" y="4262438"/>
            <a:ext cx="700087" cy="398462"/>
            <a:chOff x="1871277" y="1576300"/>
            <a:chExt cx="1128371" cy="437861"/>
          </a:xfrm>
        </p:grpSpPr>
        <p:sp>
          <p:nvSpPr>
            <p:cNvPr id="165" name="Oval 164">
              <a:extLst>
                <a:ext uri="{FF2B5EF4-FFF2-40B4-BE49-F238E27FC236}">
                  <a16:creationId xmlns:a16="http://schemas.microsoft.com/office/drawing/2014/main" id="{C9A8257E-191D-E14E-B8F6-A494A62BA198}"/>
                </a:ext>
              </a:extLst>
            </p:cNvPr>
            <p:cNvSpPr>
              <a:spLocks noChangeArrowheads="1"/>
            </p:cNvSpPr>
            <p:nvPr/>
          </p:nvSpPr>
          <p:spPr bwMode="auto">
            <a:xfrm flipV="1">
              <a:off x="1873835" y="1694924"/>
              <a:ext cx="1125813" cy="319237"/>
            </a:xfrm>
            <a:prstGeom prst="ellipse">
              <a:avLst/>
            </a:prstGeom>
            <a:gradFill rotWithShape="1">
              <a:gsLst>
                <a:gs pos="0">
                  <a:srgbClr val="262699"/>
                </a:gs>
                <a:gs pos="53000">
                  <a:srgbClr val="8585E0"/>
                </a:gs>
                <a:gs pos="100000">
                  <a:srgbClr val="262699"/>
                </a:gs>
              </a:gsLst>
              <a:lin ang="0" scaled="1"/>
            </a:gradFill>
            <a:ln w="635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dirty="0">
                <a:ln>
                  <a:solidFill>
                    <a:schemeClr val="tx1"/>
                  </a:solidFill>
                </a:ln>
                <a:solidFill>
                  <a:schemeClr val="lt1"/>
                </a:solidFill>
                <a:latin typeface="+mn-lt"/>
                <a:ea typeface="+mn-ea"/>
              </a:endParaRPr>
            </a:p>
          </p:txBody>
        </p:sp>
        <p:sp>
          <p:nvSpPr>
            <p:cNvPr id="166" name="Rectangle 165">
              <a:extLst>
                <a:ext uri="{FF2B5EF4-FFF2-40B4-BE49-F238E27FC236}">
                  <a16:creationId xmlns:a16="http://schemas.microsoft.com/office/drawing/2014/main" id="{5C5856FB-B546-4942-925A-7B0D3B68C754}"/>
                </a:ext>
              </a:extLst>
            </p:cNvPr>
            <p:cNvSpPr/>
            <p:nvPr/>
          </p:nvSpPr>
          <p:spPr bwMode="auto">
            <a:xfrm>
              <a:off x="1871277" y="1740280"/>
              <a:ext cx="1128371" cy="11513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7" name="Oval 166">
              <a:extLst>
                <a:ext uri="{FF2B5EF4-FFF2-40B4-BE49-F238E27FC236}">
                  <a16:creationId xmlns:a16="http://schemas.microsoft.com/office/drawing/2014/main" id="{2CCFD757-378B-3C47-B233-01490FAE9575}"/>
                </a:ext>
              </a:extLst>
            </p:cNvPr>
            <p:cNvSpPr>
              <a:spLocks noChangeArrowheads="1"/>
            </p:cNvSpPr>
            <p:nvPr/>
          </p:nvSpPr>
          <p:spPr bwMode="auto">
            <a:xfrm flipV="1">
              <a:off x="1871277" y="1576300"/>
              <a:ext cx="1125813" cy="319237"/>
            </a:xfrm>
            <a:prstGeom prst="ellipse">
              <a:avLst/>
            </a:prstGeom>
            <a:solidFill>
              <a:srgbClr val="BFBFBF"/>
            </a:solidFill>
            <a:ln w="635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dirty="0">
                <a:ln>
                  <a:solidFill>
                    <a:schemeClr val="tx1"/>
                  </a:solidFill>
                </a:ln>
                <a:solidFill>
                  <a:schemeClr val="lt1"/>
                </a:solidFill>
                <a:latin typeface="+mn-lt"/>
                <a:ea typeface="+mn-ea"/>
              </a:endParaRPr>
            </a:p>
          </p:txBody>
        </p:sp>
        <p:sp>
          <p:nvSpPr>
            <p:cNvPr id="168" name="Freeform 167">
              <a:extLst>
                <a:ext uri="{FF2B5EF4-FFF2-40B4-BE49-F238E27FC236}">
                  <a16:creationId xmlns:a16="http://schemas.microsoft.com/office/drawing/2014/main" id="{2AD5481B-2144-4641-BFF9-153323EA024F}"/>
                </a:ext>
              </a:extLst>
            </p:cNvPr>
            <p:cNvSpPr/>
            <p:nvPr/>
          </p:nvSpPr>
          <p:spPr bwMode="auto">
            <a:xfrm>
              <a:off x="2160405" y="1673990"/>
              <a:ext cx="547555" cy="16049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9" name="Freeform 168">
              <a:extLst>
                <a:ext uri="{FF2B5EF4-FFF2-40B4-BE49-F238E27FC236}">
                  <a16:creationId xmlns:a16="http://schemas.microsoft.com/office/drawing/2014/main" id="{BEAB399D-7D95-A54A-B983-51516227AE12}"/>
                </a:ext>
              </a:extLst>
            </p:cNvPr>
            <p:cNvSpPr>
              <a:spLocks/>
            </p:cNvSpPr>
            <p:nvPr/>
          </p:nvSpPr>
          <p:spPr bwMode="auto">
            <a:xfrm>
              <a:off x="2104115" y="1633867"/>
              <a:ext cx="660136" cy="109902"/>
            </a:xfrm>
            <a:custGeom>
              <a:avLst/>
              <a:gdLst>
                <a:gd name="T0" fmla="*/ 0 w 3723451"/>
                <a:gd name="T1" fmla="*/ 26887 h 932950"/>
                <a:gd name="T2" fmla="*/ 116156 w 3723451"/>
                <a:gd name="T3" fmla="*/ 317 h 932950"/>
                <a:gd name="T4" fmla="*/ 329014 w 3723451"/>
                <a:gd name="T5" fmla="*/ 61322 h 932950"/>
                <a:gd name="T6" fmla="*/ 532082 w 3723451"/>
                <a:gd name="T7" fmla="*/ 0 h 932950"/>
                <a:gd name="T8" fmla="*/ 660136 w 3723451"/>
                <a:gd name="T9" fmla="*/ 24402 h 932950"/>
                <a:gd name="T10" fmla="*/ 564865 w 3723451"/>
                <a:gd name="T11" fmla="*/ 54409 h 932950"/>
                <a:gd name="T12" fmla="*/ 534191 w 3723451"/>
                <a:gd name="T13" fmla="*/ 46319 h 932950"/>
                <a:gd name="T14" fmla="*/ 332754 w 3723451"/>
                <a:gd name="T15" fmla="*/ 109902 h 932950"/>
                <a:gd name="T16" fmla="*/ 126163 w 3723451"/>
                <a:gd name="T17" fmla="*/ 48658 h 932950"/>
                <a:gd name="T18" fmla="*/ 92761 w 3723451"/>
                <a:gd name="T19" fmla="*/ 55268 h 932950"/>
                <a:gd name="T20" fmla="*/ 0 w 3723451"/>
                <a:gd name="T21" fmla="*/ 2688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sp>
          <p:nvSpPr>
            <p:cNvPr id="170" name="Freeform 169">
              <a:extLst>
                <a:ext uri="{FF2B5EF4-FFF2-40B4-BE49-F238E27FC236}">
                  <a16:creationId xmlns:a16="http://schemas.microsoft.com/office/drawing/2014/main" id="{D97EB256-859A-2C40-A1FF-D0A04F5A678A}"/>
                </a:ext>
              </a:extLst>
            </p:cNvPr>
            <p:cNvSpPr>
              <a:spLocks/>
            </p:cNvSpPr>
            <p:nvPr/>
          </p:nvSpPr>
          <p:spPr bwMode="auto">
            <a:xfrm>
              <a:off x="2539088" y="1728068"/>
              <a:ext cx="240515" cy="95946"/>
            </a:xfrm>
            <a:custGeom>
              <a:avLst/>
              <a:gdLst>
                <a:gd name="T0" fmla="*/ 0 w 1366596"/>
                <a:gd name="T1" fmla="*/ 0 h 809868"/>
                <a:gd name="T2" fmla="*/ 240515 w 1366596"/>
                <a:gd name="T3" fmla="*/ 74140 h 809868"/>
                <a:gd name="T4" fmla="*/ 152245 w 1366596"/>
                <a:gd name="T5" fmla="*/ 95946 h 809868"/>
                <a:gd name="T6" fmla="*/ 810 w 1366596"/>
                <a:gd name="T7" fmla="*/ 5069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sp>
          <p:nvSpPr>
            <p:cNvPr id="171" name="Freeform 170">
              <a:extLst>
                <a:ext uri="{FF2B5EF4-FFF2-40B4-BE49-F238E27FC236}">
                  <a16:creationId xmlns:a16="http://schemas.microsoft.com/office/drawing/2014/main" id="{19551E09-DD58-8F4F-85FB-98F8EB9AC038}"/>
                </a:ext>
              </a:extLst>
            </p:cNvPr>
            <p:cNvSpPr>
              <a:spLocks/>
            </p:cNvSpPr>
            <p:nvPr/>
          </p:nvSpPr>
          <p:spPr bwMode="auto">
            <a:xfrm>
              <a:off x="2091322" y="1729813"/>
              <a:ext cx="237955" cy="97690"/>
            </a:xfrm>
            <a:custGeom>
              <a:avLst/>
              <a:gdLst>
                <a:gd name="T0" fmla="*/ 234707 w 1348191"/>
                <a:gd name="T1" fmla="*/ 0 h 791462"/>
                <a:gd name="T2" fmla="*/ 237955 w 1348191"/>
                <a:gd name="T3" fmla="*/ 47141 h 791462"/>
                <a:gd name="T4" fmla="*/ 86086 w 1348191"/>
                <a:gd name="T5" fmla="*/ 97690 h 791462"/>
                <a:gd name="T6" fmla="*/ 0 w 1348191"/>
                <a:gd name="T7" fmla="*/ 75539 h 791462"/>
                <a:gd name="T8" fmla="*/ 234707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cxnSp>
          <p:nvCxnSpPr>
            <p:cNvPr id="172" name="Straight Connector 171">
              <a:extLst>
                <a:ext uri="{FF2B5EF4-FFF2-40B4-BE49-F238E27FC236}">
                  <a16:creationId xmlns:a16="http://schemas.microsoft.com/office/drawing/2014/main" id="{FB29CE96-E9A3-804E-A9B7-38702F3063F7}"/>
                </a:ext>
              </a:extLst>
            </p:cNvPr>
            <p:cNvCxnSpPr>
              <a:cxnSpLocks noChangeShapeType="1"/>
              <a:endCxn id="167" idx="2"/>
            </p:cNvCxnSpPr>
            <p:nvPr/>
          </p:nvCxnSpPr>
          <p:spPr bwMode="auto">
            <a:xfrm flipH="1" flipV="1">
              <a:off x="1871277" y="1736791"/>
              <a:ext cx="2558" cy="123857"/>
            </a:xfrm>
            <a:prstGeom prst="line">
              <a:avLst/>
            </a:prstGeom>
            <a:noFill/>
            <a:ln w="6350">
              <a:solidFill>
                <a:schemeClr val="tx1"/>
              </a:solidFill>
              <a:round/>
              <a:headEnd/>
              <a:tailEnd/>
            </a:ln>
            <a:effectLst>
              <a:outerShdw dist="19939" dir="5400000" algn="tl" rotWithShape="0">
                <a:srgbClr val="808080">
                  <a:alpha val="37999"/>
                </a:srgbClr>
              </a:outerShdw>
            </a:effectLst>
          </p:spPr>
        </p:cxnSp>
        <p:cxnSp>
          <p:nvCxnSpPr>
            <p:cNvPr id="173" name="Straight Connector 172">
              <a:extLst>
                <a:ext uri="{FF2B5EF4-FFF2-40B4-BE49-F238E27FC236}">
                  <a16:creationId xmlns:a16="http://schemas.microsoft.com/office/drawing/2014/main" id="{53CD02E3-D695-594F-A44C-9C042C2EA27E}"/>
                </a:ext>
              </a:extLst>
            </p:cNvPr>
            <p:cNvCxnSpPr>
              <a:cxnSpLocks noChangeShapeType="1"/>
            </p:cNvCxnSpPr>
            <p:nvPr/>
          </p:nvCxnSpPr>
          <p:spPr bwMode="auto">
            <a:xfrm flipH="1" flipV="1">
              <a:off x="2997090" y="1735046"/>
              <a:ext cx="2558" cy="122113"/>
            </a:xfrm>
            <a:prstGeom prst="line">
              <a:avLst/>
            </a:prstGeom>
            <a:noFill/>
            <a:ln w="6350">
              <a:solidFill>
                <a:schemeClr val="tx1"/>
              </a:solidFill>
              <a:round/>
              <a:headEnd/>
              <a:tailEnd/>
            </a:ln>
            <a:effectLst>
              <a:outerShdw dist="19939" dir="5400000" algn="tl" rotWithShape="0">
                <a:srgbClr val="808080">
                  <a:alpha val="37999"/>
                </a:srgbClr>
              </a:outerShdw>
            </a:effectLst>
          </p:spPr>
        </p:cxnSp>
      </p:grpSp>
      <p:grpSp>
        <p:nvGrpSpPr>
          <p:cNvPr id="114736" name="Group 7">
            <a:extLst>
              <a:ext uri="{FF2B5EF4-FFF2-40B4-BE49-F238E27FC236}">
                <a16:creationId xmlns:a16="http://schemas.microsoft.com/office/drawing/2014/main" id="{86C89D0E-EC07-994C-821A-C4FAC9B97959}"/>
              </a:ext>
            </a:extLst>
          </p:cNvPr>
          <p:cNvGrpSpPr>
            <a:grpSpLocks/>
          </p:cNvGrpSpPr>
          <p:nvPr/>
        </p:nvGrpSpPr>
        <p:grpSpPr bwMode="auto">
          <a:xfrm>
            <a:off x="3272070" y="2403475"/>
            <a:ext cx="700088" cy="398463"/>
            <a:chOff x="1871277" y="1576300"/>
            <a:chExt cx="1128371" cy="437861"/>
          </a:xfrm>
        </p:grpSpPr>
        <p:sp>
          <p:nvSpPr>
            <p:cNvPr id="175" name="Oval 174">
              <a:extLst>
                <a:ext uri="{FF2B5EF4-FFF2-40B4-BE49-F238E27FC236}">
                  <a16:creationId xmlns:a16="http://schemas.microsoft.com/office/drawing/2014/main" id="{17B4391D-CB04-5540-8C10-BFAB80FC8167}"/>
                </a:ext>
              </a:extLst>
            </p:cNvPr>
            <p:cNvSpPr>
              <a:spLocks noChangeArrowheads="1"/>
            </p:cNvSpPr>
            <p:nvPr/>
          </p:nvSpPr>
          <p:spPr bwMode="auto">
            <a:xfrm flipV="1">
              <a:off x="1873836" y="1694924"/>
              <a:ext cx="1125812" cy="319237"/>
            </a:xfrm>
            <a:prstGeom prst="ellipse">
              <a:avLst/>
            </a:prstGeom>
            <a:gradFill rotWithShape="1">
              <a:gsLst>
                <a:gs pos="0">
                  <a:srgbClr val="262699"/>
                </a:gs>
                <a:gs pos="53000">
                  <a:srgbClr val="8585E0"/>
                </a:gs>
                <a:gs pos="100000">
                  <a:srgbClr val="262699"/>
                </a:gs>
              </a:gsLst>
              <a:lin ang="0" scaled="1"/>
            </a:gradFill>
            <a:ln w="635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dirty="0">
                <a:ln>
                  <a:solidFill>
                    <a:schemeClr val="tx1"/>
                  </a:solidFill>
                </a:ln>
                <a:solidFill>
                  <a:schemeClr val="lt1"/>
                </a:solidFill>
                <a:latin typeface="+mn-lt"/>
                <a:ea typeface="+mn-ea"/>
              </a:endParaRPr>
            </a:p>
          </p:txBody>
        </p:sp>
        <p:sp>
          <p:nvSpPr>
            <p:cNvPr id="176" name="Rectangle 175">
              <a:extLst>
                <a:ext uri="{FF2B5EF4-FFF2-40B4-BE49-F238E27FC236}">
                  <a16:creationId xmlns:a16="http://schemas.microsoft.com/office/drawing/2014/main" id="{01DD0E85-19BD-384C-A63E-331F9ACE5DC4}"/>
                </a:ext>
              </a:extLst>
            </p:cNvPr>
            <p:cNvSpPr/>
            <p:nvPr/>
          </p:nvSpPr>
          <p:spPr bwMode="auto">
            <a:xfrm>
              <a:off x="1871277" y="1740280"/>
              <a:ext cx="1128371" cy="11513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7" name="Oval 176">
              <a:extLst>
                <a:ext uri="{FF2B5EF4-FFF2-40B4-BE49-F238E27FC236}">
                  <a16:creationId xmlns:a16="http://schemas.microsoft.com/office/drawing/2014/main" id="{0E5821D3-D534-B047-B488-EB0051F3BC62}"/>
                </a:ext>
              </a:extLst>
            </p:cNvPr>
            <p:cNvSpPr>
              <a:spLocks noChangeArrowheads="1"/>
            </p:cNvSpPr>
            <p:nvPr/>
          </p:nvSpPr>
          <p:spPr bwMode="auto">
            <a:xfrm flipV="1">
              <a:off x="1871277" y="1576300"/>
              <a:ext cx="1125812" cy="319237"/>
            </a:xfrm>
            <a:prstGeom prst="ellipse">
              <a:avLst/>
            </a:prstGeom>
            <a:solidFill>
              <a:srgbClr val="BFBFBF"/>
            </a:solidFill>
            <a:ln w="635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dirty="0">
                <a:ln>
                  <a:solidFill>
                    <a:schemeClr val="tx1"/>
                  </a:solidFill>
                </a:ln>
                <a:solidFill>
                  <a:schemeClr val="lt1"/>
                </a:solidFill>
                <a:latin typeface="+mn-lt"/>
                <a:ea typeface="+mn-ea"/>
              </a:endParaRPr>
            </a:p>
          </p:txBody>
        </p:sp>
        <p:sp>
          <p:nvSpPr>
            <p:cNvPr id="178" name="Freeform 177">
              <a:extLst>
                <a:ext uri="{FF2B5EF4-FFF2-40B4-BE49-F238E27FC236}">
                  <a16:creationId xmlns:a16="http://schemas.microsoft.com/office/drawing/2014/main" id="{8C3BA00D-78FA-6E49-9A83-4CBC9C9C0E3A}"/>
                </a:ext>
              </a:extLst>
            </p:cNvPr>
            <p:cNvSpPr/>
            <p:nvPr/>
          </p:nvSpPr>
          <p:spPr bwMode="auto">
            <a:xfrm>
              <a:off x="2160407" y="1673990"/>
              <a:ext cx="547554" cy="16049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9" name="Freeform 178">
              <a:extLst>
                <a:ext uri="{FF2B5EF4-FFF2-40B4-BE49-F238E27FC236}">
                  <a16:creationId xmlns:a16="http://schemas.microsoft.com/office/drawing/2014/main" id="{FCB69C1B-063E-164F-9875-2CDBDCD47FCE}"/>
                </a:ext>
              </a:extLst>
            </p:cNvPr>
            <p:cNvSpPr>
              <a:spLocks/>
            </p:cNvSpPr>
            <p:nvPr/>
          </p:nvSpPr>
          <p:spPr bwMode="auto">
            <a:xfrm>
              <a:off x="2104116" y="1633868"/>
              <a:ext cx="660135" cy="109901"/>
            </a:xfrm>
            <a:custGeom>
              <a:avLst/>
              <a:gdLst>
                <a:gd name="T0" fmla="*/ 0 w 3723451"/>
                <a:gd name="T1" fmla="*/ 26887 h 932950"/>
                <a:gd name="T2" fmla="*/ 116156 w 3723451"/>
                <a:gd name="T3" fmla="*/ 317 h 932950"/>
                <a:gd name="T4" fmla="*/ 329013 w 3723451"/>
                <a:gd name="T5" fmla="*/ 61322 h 932950"/>
                <a:gd name="T6" fmla="*/ 532082 w 3723451"/>
                <a:gd name="T7" fmla="*/ 0 h 932950"/>
                <a:gd name="T8" fmla="*/ 660135 w 3723451"/>
                <a:gd name="T9" fmla="*/ 24402 h 932950"/>
                <a:gd name="T10" fmla="*/ 564864 w 3723451"/>
                <a:gd name="T11" fmla="*/ 54409 h 932950"/>
                <a:gd name="T12" fmla="*/ 534190 w 3723451"/>
                <a:gd name="T13" fmla="*/ 46319 h 932950"/>
                <a:gd name="T14" fmla="*/ 332753 w 3723451"/>
                <a:gd name="T15" fmla="*/ 109901 h 932950"/>
                <a:gd name="T16" fmla="*/ 126163 w 3723451"/>
                <a:gd name="T17" fmla="*/ 48658 h 932950"/>
                <a:gd name="T18" fmla="*/ 92761 w 3723451"/>
                <a:gd name="T19" fmla="*/ 55267 h 932950"/>
                <a:gd name="T20" fmla="*/ 0 w 3723451"/>
                <a:gd name="T21" fmla="*/ 26887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sp>
          <p:nvSpPr>
            <p:cNvPr id="180" name="Freeform 179">
              <a:extLst>
                <a:ext uri="{FF2B5EF4-FFF2-40B4-BE49-F238E27FC236}">
                  <a16:creationId xmlns:a16="http://schemas.microsoft.com/office/drawing/2014/main" id="{22D69FFF-CD21-E34C-B8C6-981B92EED16D}"/>
                </a:ext>
              </a:extLst>
            </p:cNvPr>
            <p:cNvSpPr>
              <a:spLocks/>
            </p:cNvSpPr>
            <p:nvPr/>
          </p:nvSpPr>
          <p:spPr bwMode="auto">
            <a:xfrm>
              <a:off x="2539089" y="1728069"/>
              <a:ext cx="240514" cy="95945"/>
            </a:xfrm>
            <a:custGeom>
              <a:avLst/>
              <a:gdLst>
                <a:gd name="T0" fmla="*/ 0 w 1366596"/>
                <a:gd name="T1" fmla="*/ 0 h 809868"/>
                <a:gd name="T2" fmla="*/ 240514 w 1366596"/>
                <a:gd name="T3" fmla="*/ 74139 h 809868"/>
                <a:gd name="T4" fmla="*/ 152244 w 1366596"/>
                <a:gd name="T5" fmla="*/ 95945 h 809868"/>
                <a:gd name="T6" fmla="*/ 810 w 1366596"/>
                <a:gd name="T7" fmla="*/ 50698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sp>
          <p:nvSpPr>
            <p:cNvPr id="181" name="Freeform 180">
              <a:extLst>
                <a:ext uri="{FF2B5EF4-FFF2-40B4-BE49-F238E27FC236}">
                  <a16:creationId xmlns:a16="http://schemas.microsoft.com/office/drawing/2014/main" id="{DD37A86B-0B98-5C44-BB40-587C53C14D05}"/>
                </a:ext>
              </a:extLst>
            </p:cNvPr>
            <p:cNvSpPr>
              <a:spLocks/>
            </p:cNvSpPr>
            <p:nvPr/>
          </p:nvSpPr>
          <p:spPr bwMode="auto">
            <a:xfrm>
              <a:off x="2091322" y="1729813"/>
              <a:ext cx="237956" cy="97690"/>
            </a:xfrm>
            <a:custGeom>
              <a:avLst/>
              <a:gdLst>
                <a:gd name="T0" fmla="*/ 234708 w 1348191"/>
                <a:gd name="T1" fmla="*/ 0 h 791462"/>
                <a:gd name="T2" fmla="*/ 237956 w 1348191"/>
                <a:gd name="T3" fmla="*/ 47141 h 791462"/>
                <a:gd name="T4" fmla="*/ 86087 w 1348191"/>
                <a:gd name="T5" fmla="*/ 97690 h 791462"/>
                <a:gd name="T6" fmla="*/ 0 w 1348191"/>
                <a:gd name="T7" fmla="*/ 75539 h 791462"/>
                <a:gd name="T8" fmla="*/ 23470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w="9525" cap="flat" cmpd="sng">
              <a:noFill/>
              <a:prstDash val="solid"/>
              <a:round/>
              <a:headEnd/>
              <a:tailEnd/>
            </a:ln>
            <a:effectLst>
              <a:outerShdw dist="23000" dir="5400000" rotWithShape="0">
                <a:srgbClr val="000000">
                  <a:alpha val="34999"/>
                </a:srgbClr>
              </a:outerShdw>
            </a:effectLst>
          </p:spPr>
          <p:txBody>
            <a:bodyPr anchor="ctr"/>
            <a:lstStyle/>
            <a:p>
              <a:pPr>
                <a:defRPr/>
              </a:pPr>
              <a:endParaRPr lang="en-US"/>
            </a:p>
          </p:txBody>
        </p:sp>
        <p:cxnSp>
          <p:nvCxnSpPr>
            <p:cNvPr id="182" name="Straight Connector 181">
              <a:extLst>
                <a:ext uri="{FF2B5EF4-FFF2-40B4-BE49-F238E27FC236}">
                  <a16:creationId xmlns:a16="http://schemas.microsoft.com/office/drawing/2014/main" id="{EF5CC8C4-A619-3C4C-A502-0FDE7CBEFBA7}"/>
                </a:ext>
              </a:extLst>
            </p:cNvPr>
            <p:cNvCxnSpPr>
              <a:cxnSpLocks noChangeShapeType="1"/>
              <a:endCxn id="177" idx="2"/>
            </p:cNvCxnSpPr>
            <p:nvPr/>
          </p:nvCxnSpPr>
          <p:spPr bwMode="auto">
            <a:xfrm flipH="1" flipV="1">
              <a:off x="1871277" y="1736791"/>
              <a:ext cx="2559" cy="123857"/>
            </a:xfrm>
            <a:prstGeom prst="line">
              <a:avLst/>
            </a:prstGeom>
            <a:noFill/>
            <a:ln w="6350">
              <a:solidFill>
                <a:schemeClr val="tx1"/>
              </a:solidFill>
              <a:round/>
              <a:headEnd/>
              <a:tailEnd/>
            </a:ln>
            <a:effectLst>
              <a:outerShdw dist="19939" dir="5400000" algn="tl" rotWithShape="0">
                <a:srgbClr val="808080">
                  <a:alpha val="37999"/>
                </a:srgbClr>
              </a:outerShdw>
            </a:effectLst>
          </p:spPr>
        </p:cxnSp>
        <p:cxnSp>
          <p:nvCxnSpPr>
            <p:cNvPr id="183" name="Straight Connector 182">
              <a:extLst>
                <a:ext uri="{FF2B5EF4-FFF2-40B4-BE49-F238E27FC236}">
                  <a16:creationId xmlns:a16="http://schemas.microsoft.com/office/drawing/2014/main" id="{95644503-0FAB-1643-8EDA-49D94376BFD3}"/>
                </a:ext>
              </a:extLst>
            </p:cNvPr>
            <p:cNvCxnSpPr>
              <a:cxnSpLocks noChangeShapeType="1"/>
            </p:cNvCxnSpPr>
            <p:nvPr/>
          </p:nvCxnSpPr>
          <p:spPr bwMode="auto">
            <a:xfrm flipH="1" flipV="1">
              <a:off x="2997089" y="1735047"/>
              <a:ext cx="2559" cy="122112"/>
            </a:xfrm>
            <a:prstGeom prst="line">
              <a:avLst/>
            </a:prstGeom>
            <a:noFill/>
            <a:ln w="6350">
              <a:solidFill>
                <a:schemeClr val="tx1"/>
              </a:solidFill>
              <a:round/>
              <a:headEnd/>
              <a:tailEnd/>
            </a:ln>
            <a:effectLst>
              <a:outerShdw dist="19939" dir="5400000" algn="tl" rotWithShape="0">
                <a:srgbClr val="808080">
                  <a:alpha val="37999"/>
                </a:srgbClr>
              </a:outerShdw>
            </a:effectLst>
          </p:spPr>
        </p:cxnSp>
      </p:grpSp>
      <p:grpSp>
        <p:nvGrpSpPr>
          <p:cNvPr id="114739" name="Group 79">
            <a:extLst>
              <a:ext uri="{FF2B5EF4-FFF2-40B4-BE49-F238E27FC236}">
                <a16:creationId xmlns:a16="http://schemas.microsoft.com/office/drawing/2014/main" id="{3CA2EBE3-FC46-CF4D-B234-2826D1C8C943}"/>
              </a:ext>
            </a:extLst>
          </p:cNvPr>
          <p:cNvGrpSpPr>
            <a:grpSpLocks/>
          </p:cNvGrpSpPr>
          <p:nvPr/>
        </p:nvGrpSpPr>
        <p:grpSpPr bwMode="auto">
          <a:xfrm>
            <a:off x="5486877" y="1853637"/>
            <a:ext cx="1047344" cy="1164200"/>
            <a:chOff x="5440087" y="1742411"/>
            <a:chExt cx="1047344" cy="1163369"/>
          </a:xfrm>
        </p:grpSpPr>
        <p:grpSp>
          <p:nvGrpSpPr>
            <p:cNvPr id="114741" name="Group 950">
              <a:extLst>
                <a:ext uri="{FF2B5EF4-FFF2-40B4-BE49-F238E27FC236}">
                  <a16:creationId xmlns:a16="http://schemas.microsoft.com/office/drawing/2014/main" id="{F29C0B7A-D31B-CA47-935F-E7A1BCD85A18}"/>
                </a:ext>
              </a:extLst>
            </p:cNvPr>
            <p:cNvGrpSpPr>
              <a:grpSpLocks/>
            </p:cNvGrpSpPr>
            <p:nvPr/>
          </p:nvGrpSpPr>
          <p:grpSpPr bwMode="auto">
            <a:xfrm>
              <a:off x="5838397" y="2273382"/>
              <a:ext cx="350328" cy="632398"/>
              <a:chOff x="4140" y="429"/>
              <a:chExt cx="1425" cy="2396"/>
            </a:xfrm>
          </p:grpSpPr>
          <p:sp>
            <p:nvSpPr>
              <p:cNvPr id="114744" name="Freeform 951">
                <a:extLst>
                  <a:ext uri="{FF2B5EF4-FFF2-40B4-BE49-F238E27FC236}">
                    <a16:creationId xmlns:a16="http://schemas.microsoft.com/office/drawing/2014/main" id="{6C1135B8-742E-124A-95FE-645CB9D00F1E}"/>
                  </a:ext>
                </a:extLst>
              </p:cNvPr>
              <p:cNvSpPr>
                <a:spLocks/>
              </p:cNvSpPr>
              <p:nvPr/>
            </p:nvSpPr>
            <p:spPr bwMode="auto">
              <a:xfrm>
                <a:off x="5268" y="433"/>
                <a:ext cx="283" cy="2286"/>
              </a:xfrm>
              <a:custGeom>
                <a:avLst/>
                <a:gdLst>
                  <a:gd name="T0" fmla="*/ 2 w 354"/>
                  <a:gd name="T1" fmla="*/ 0 h 2742"/>
                  <a:gd name="T2" fmla="*/ 6 w 354"/>
                  <a:gd name="T3" fmla="*/ 13 h 2742"/>
                  <a:gd name="T4" fmla="*/ 6 w 354"/>
                  <a:gd name="T5" fmla="*/ 99 h 2742"/>
                  <a:gd name="T6" fmla="*/ 0 w 354"/>
                  <a:gd name="T7" fmla="*/ 103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745" name="Rectangle 952">
                <a:extLst>
                  <a:ext uri="{FF2B5EF4-FFF2-40B4-BE49-F238E27FC236}">
                    <a16:creationId xmlns:a16="http://schemas.microsoft.com/office/drawing/2014/main" id="{7333E42B-6F5A-DF48-8A6D-6D58A4F174F4}"/>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46" name="Freeform 953">
                <a:extLst>
                  <a:ext uri="{FF2B5EF4-FFF2-40B4-BE49-F238E27FC236}">
                    <a16:creationId xmlns:a16="http://schemas.microsoft.com/office/drawing/2014/main" id="{48CB5A83-68FD-604E-9233-13D4CD220884}"/>
                  </a:ext>
                </a:extLst>
              </p:cNvPr>
              <p:cNvSpPr>
                <a:spLocks/>
              </p:cNvSpPr>
              <p:nvPr/>
            </p:nvSpPr>
            <p:spPr bwMode="auto">
              <a:xfrm>
                <a:off x="5321" y="570"/>
                <a:ext cx="169" cy="2115"/>
              </a:xfrm>
              <a:custGeom>
                <a:avLst/>
                <a:gdLst>
                  <a:gd name="T0" fmla="*/ 2 w 211"/>
                  <a:gd name="T1" fmla="*/ 0 h 2537"/>
                  <a:gd name="T2" fmla="*/ 4 w 211"/>
                  <a:gd name="T3" fmla="*/ 9 h 2537"/>
                  <a:gd name="T4" fmla="*/ 2 w 211"/>
                  <a:gd name="T5" fmla="*/ 94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747" name="Freeform 954">
                <a:extLst>
                  <a:ext uri="{FF2B5EF4-FFF2-40B4-BE49-F238E27FC236}">
                    <a16:creationId xmlns:a16="http://schemas.microsoft.com/office/drawing/2014/main" id="{5D9835E6-ECE4-DB4E-99D7-2A2EBFECC340}"/>
                  </a:ext>
                </a:extLst>
              </p:cNvPr>
              <p:cNvSpPr>
                <a:spLocks/>
              </p:cNvSpPr>
              <p:nvPr/>
            </p:nvSpPr>
            <p:spPr bwMode="auto">
              <a:xfrm>
                <a:off x="5284" y="1640"/>
                <a:ext cx="263" cy="189"/>
              </a:xfrm>
              <a:custGeom>
                <a:avLst/>
                <a:gdLst>
                  <a:gd name="T0" fmla="*/ 2 w 328"/>
                  <a:gd name="T1" fmla="*/ 0 h 226"/>
                  <a:gd name="T2" fmla="*/ 6 w 328"/>
                  <a:gd name="T3" fmla="*/ 6 h 226"/>
                  <a:gd name="T4" fmla="*/ 6 w 328"/>
                  <a:gd name="T5" fmla="*/ 9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748" name="Rectangle 955">
                <a:extLst>
                  <a:ext uri="{FF2B5EF4-FFF2-40B4-BE49-F238E27FC236}">
                    <a16:creationId xmlns:a16="http://schemas.microsoft.com/office/drawing/2014/main" id="{629EDCEE-1F90-0D45-A50B-0A6CBE754CC7}"/>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grpSp>
            <p:nvGrpSpPr>
              <p:cNvPr id="114749" name="Group 956">
                <a:extLst>
                  <a:ext uri="{FF2B5EF4-FFF2-40B4-BE49-F238E27FC236}">
                    <a16:creationId xmlns:a16="http://schemas.microsoft.com/office/drawing/2014/main" id="{90C4099E-8C36-5540-AAD4-63F8B64B4E55}"/>
                  </a:ext>
                </a:extLst>
              </p:cNvPr>
              <p:cNvGrpSpPr>
                <a:grpSpLocks/>
              </p:cNvGrpSpPr>
              <p:nvPr/>
            </p:nvGrpSpPr>
            <p:grpSpPr bwMode="auto">
              <a:xfrm>
                <a:off x="4749" y="668"/>
                <a:ext cx="581" cy="145"/>
                <a:chOff x="614" y="2568"/>
                <a:chExt cx="725" cy="139"/>
              </a:xfrm>
            </p:grpSpPr>
            <p:sp>
              <p:nvSpPr>
                <p:cNvPr id="114774" name="AutoShape 957">
                  <a:extLst>
                    <a:ext uri="{FF2B5EF4-FFF2-40B4-BE49-F238E27FC236}">
                      <a16:creationId xmlns:a16="http://schemas.microsoft.com/office/drawing/2014/main" id="{A2DF4975-4DD0-7440-975F-4596B0688E89}"/>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75" name="AutoShape 958">
                  <a:extLst>
                    <a:ext uri="{FF2B5EF4-FFF2-40B4-BE49-F238E27FC236}">
                      <a16:creationId xmlns:a16="http://schemas.microsoft.com/office/drawing/2014/main" id="{C58533C5-6AE3-244A-B716-F55950397F95}"/>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grpSp>
          <p:sp>
            <p:nvSpPr>
              <p:cNvPr id="114750" name="Rectangle 959">
                <a:extLst>
                  <a:ext uri="{FF2B5EF4-FFF2-40B4-BE49-F238E27FC236}">
                    <a16:creationId xmlns:a16="http://schemas.microsoft.com/office/drawing/2014/main" id="{728BC375-90CF-4B4D-9A38-CEB73690BBA3}"/>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grpSp>
            <p:nvGrpSpPr>
              <p:cNvPr id="114751" name="Group 960">
                <a:extLst>
                  <a:ext uri="{FF2B5EF4-FFF2-40B4-BE49-F238E27FC236}">
                    <a16:creationId xmlns:a16="http://schemas.microsoft.com/office/drawing/2014/main" id="{E10CC974-4E44-2E4A-8D93-E8D49C2ACAE5}"/>
                  </a:ext>
                </a:extLst>
              </p:cNvPr>
              <p:cNvGrpSpPr>
                <a:grpSpLocks/>
              </p:cNvGrpSpPr>
              <p:nvPr/>
            </p:nvGrpSpPr>
            <p:grpSpPr bwMode="auto">
              <a:xfrm>
                <a:off x="4747" y="994"/>
                <a:ext cx="581" cy="134"/>
                <a:chOff x="614" y="2568"/>
                <a:chExt cx="725" cy="139"/>
              </a:xfrm>
            </p:grpSpPr>
            <p:sp>
              <p:nvSpPr>
                <p:cNvPr id="114772" name="AutoShape 961">
                  <a:extLst>
                    <a:ext uri="{FF2B5EF4-FFF2-40B4-BE49-F238E27FC236}">
                      <a16:creationId xmlns:a16="http://schemas.microsoft.com/office/drawing/2014/main" id="{F96AC99F-23CF-6D4E-8CEB-CA379916DD3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73" name="AutoShape 962">
                  <a:extLst>
                    <a:ext uri="{FF2B5EF4-FFF2-40B4-BE49-F238E27FC236}">
                      <a16:creationId xmlns:a16="http://schemas.microsoft.com/office/drawing/2014/main" id="{B5BCE269-A6E1-A046-8014-AD8DB2733372}"/>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grpSp>
          <p:sp>
            <p:nvSpPr>
              <p:cNvPr id="114752" name="Rectangle 963">
                <a:extLst>
                  <a:ext uri="{FF2B5EF4-FFF2-40B4-BE49-F238E27FC236}">
                    <a16:creationId xmlns:a16="http://schemas.microsoft.com/office/drawing/2014/main" id="{7A65B2E9-607B-B746-BE30-A2731C897E94}"/>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53" name="Rectangle 964">
                <a:extLst>
                  <a:ext uri="{FF2B5EF4-FFF2-40B4-BE49-F238E27FC236}">
                    <a16:creationId xmlns:a16="http://schemas.microsoft.com/office/drawing/2014/main" id="{0ADA5C19-3078-4F40-8475-033585E1B94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grpSp>
            <p:nvGrpSpPr>
              <p:cNvPr id="114754" name="Group 965">
                <a:extLst>
                  <a:ext uri="{FF2B5EF4-FFF2-40B4-BE49-F238E27FC236}">
                    <a16:creationId xmlns:a16="http://schemas.microsoft.com/office/drawing/2014/main" id="{6E871856-FBB9-2048-A467-5C75A562B354}"/>
                  </a:ext>
                </a:extLst>
              </p:cNvPr>
              <p:cNvGrpSpPr>
                <a:grpSpLocks/>
              </p:cNvGrpSpPr>
              <p:nvPr/>
            </p:nvGrpSpPr>
            <p:grpSpPr bwMode="auto">
              <a:xfrm>
                <a:off x="4735" y="1627"/>
                <a:ext cx="582" cy="151"/>
                <a:chOff x="614" y="2568"/>
                <a:chExt cx="725" cy="139"/>
              </a:xfrm>
            </p:grpSpPr>
            <p:sp>
              <p:nvSpPr>
                <p:cNvPr id="114770" name="AutoShape 966">
                  <a:extLst>
                    <a:ext uri="{FF2B5EF4-FFF2-40B4-BE49-F238E27FC236}">
                      <a16:creationId xmlns:a16="http://schemas.microsoft.com/office/drawing/2014/main" id="{C2656E3C-46CA-8B40-87B3-334E6B09778B}"/>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71" name="AutoShape 967">
                  <a:extLst>
                    <a:ext uri="{FF2B5EF4-FFF2-40B4-BE49-F238E27FC236}">
                      <a16:creationId xmlns:a16="http://schemas.microsoft.com/office/drawing/2014/main" id="{3B349F70-B011-3F4B-AA07-5C60E9309431}"/>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grpSp>
          <p:sp>
            <p:nvSpPr>
              <p:cNvPr id="114755" name="Freeform 968">
                <a:extLst>
                  <a:ext uri="{FF2B5EF4-FFF2-40B4-BE49-F238E27FC236}">
                    <a16:creationId xmlns:a16="http://schemas.microsoft.com/office/drawing/2014/main" id="{E1194589-EAF2-494C-982E-1BA81044B675}"/>
                  </a:ext>
                </a:extLst>
              </p:cNvPr>
              <p:cNvSpPr>
                <a:spLocks/>
              </p:cNvSpPr>
              <p:nvPr/>
            </p:nvSpPr>
            <p:spPr bwMode="auto">
              <a:xfrm>
                <a:off x="5288" y="1354"/>
                <a:ext cx="263" cy="188"/>
              </a:xfrm>
              <a:custGeom>
                <a:avLst/>
                <a:gdLst>
                  <a:gd name="T0" fmla="*/ 2 w 328"/>
                  <a:gd name="T1" fmla="*/ 0 h 226"/>
                  <a:gd name="T2" fmla="*/ 6 w 328"/>
                  <a:gd name="T3" fmla="*/ 5 h 226"/>
                  <a:gd name="T4" fmla="*/ 6 w 328"/>
                  <a:gd name="T5" fmla="*/ 8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14756" name="Group 969">
                <a:extLst>
                  <a:ext uri="{FF2B5EF4-FFF2-40B4-BE49-F238E27FC236}">
                    <a16:creationId xmlns:a16="http://schemas.microsoft.com/office/drawing/2014/main" id="{FAD4C94B-9629-334C-BE4D-7ED49B2B856F}"/>
                  </a:ext>
                </a:extLst>
              </p:cNvPr>
              <p:cNvGrpSpPr>
                <a:grpSpLocks/>
              </p:cNvGrpSpPr>
              <p:nvPr/>
            </p:nvGrpSpPr>
            <p:grpSpPr bwMode="auto">
              <a:xfrm>
                <a:off x="4739" y="1327"/>
                <a:ext cx="582" cy="139"/>
                <a:chOff x="614" y="2568"/>
                <a:chExt cx="725" cy="139"/>
              </a:xfrm>
            </p:grpSpPr>
            <p:sp>
              <p:nvSpPr>
                <p:cNvPr id="114768" name="AutoShape 970">
                  <a:extLst>
                    <a:ext uri="{FF2B5EF4-FFF2-40B4-BE49-F238E27FC236}">
                      <a16:creationId xmlns:a16="http://schemas.microsoft.com/office/drawing/2014/main" id="{9A6FB548-F5B7-A242-889E-61A69B1AD0EC}"/>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69" name="AutoShape 971">
                  <a:extLst>
                    <a:ext uri="{FF2B5EF4-FFF2-40B4-BE49-F238E27FC236}">
                      <a16:creationId xmlns:a16="http://schemas.microsoft.com/office/drawing/2014/main" id="{3812FCB1-4AF4-BA44-BC58-699D67CDD18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grpSp>
          <p:sp>
            <p:nvSpPr>
              <p:cNvPr id="114757" name="Rectangle 972">
                <a:extLst>
                  <a:ext uri="{FF2B5EF4-FFF2-40B4-BE49-F238E27FC236}">
                    <a16:creationId xmlns:a16="http://schemas.microsoft.com/office/drawing/2014/main" id="{A5901407-A741-F243-88DC-584F43791BAC}"/>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58" name="Freeform 973">
                <a:extLst>
                  <a:ext uri="{FF2B5EF4-FFF2-40B4-BE49-F238E27FC236}">
                    <a16:creationId xmlns:a16="http://schemas.microsoft.com/office/drawing/2014/main" id="{5995CC6E-1845-5E4B-A28E-2EC7B481C82A}"/>
                  </a:ext>
                </a:extLst>
              </p:cNvPr>
              <p:cNvSpPr>
                <a:spLocks/>
              </p:cNvSpPr>
              <p:nvPr/>
            </p:nvSpPr>
            <p:spPr bwMode="auto">
              <a:xfrm>
                <a:off x="5312" y="1007"/>
                <a:ext cx="237" cy="213"/>
              </a:xfrm>
              <a:custGeom>
                <a:avLst/>
                <a:gdLst>
                  <a:gd name="T0" fmla="*/ 2 w 296"/>
                  <a:gd name="T1" fmla="*/ 0 h 256"/>
                  <a:gd name="T2" fmla="*/ 6 w 296"/>
                  <a:gd name="T3" fmla="*/ 5 h 256"/>
                  <a:gd name="T4" fmla="*/ 6 w 296"/>
                  <a:gd name="T5" fmla="*/ 9 h 256"/>
                  <a:gd name="T6" fmla="*/ 0 w 296"/>
                  <a:gd name="T7" fmla="*/ 3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759" name="Freeform 974">
                <a:extLst>
                  <a:ext uri="{FF2B5EF4-FFF2-40B4-BE49-F238E27FC236}">
                    <a16:creationId xmlns:a16="http://schemas.microsoft.com/office/drawing/2014/main" id="{A66194D6-0532-1D4F-A589-649D97C5763F}"/>
                  </a:ext>
                </a:extLst>
              </p:cNvPr>
              <p:cNvSpPr>
                <a:spLocks/>
              </p:cNvSpPr>
              <p:nvPr/>
            </p:nvSpPr>
            <p:spPr bwMode="auto">
              <a:xfrm>
                <a:off x="5315" y="680"/>
                <a:ext cx="244" cy="240"/>
              </a:xfrm>
              <a:custGeom>
                <a:avLst/>
                <a:gdLst>
                  <a:gd name="T0" fmla="*/ 0 w 304"/>
                  <a:gd name="T1" fmla="*/ 0 h 288"/>
                  <a:gd name="T2" fmla="*/ 6 w 304"/>
                  <a:gd name="T3" fmla="*/ 7 h 288"/>
                  <a:gd name="T4" fmla="*/ 5 w 304"/>
                  <a:gd name="T5" fmla="*/ 11 h 288"/>
                  <a:gd name="T6" fmla="*/ 2 w 304"/>
                  <a:gd name="T7" fmla="*/ 5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760" name="Oval 975">
                <a:extLst>
                  <a:ext uri="{FF2B5EF4-FFF2-40B4-BE49-F238E27FC236}">
                    <a16:creationId xmlns:a16="http://schemas.microsoft.com/office/drawing/2014/main" id="{3C127E25-F825-884C-8EE1-69E6BC58B1C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61" name="Freeform 976">
                <a:extLst>
                  <a:ext uri="{FF2B5EF4-FFF2-40B4-BE49-F238E27FC236}">
                    <a16:creationId xmlns:a16="http://schemas.microsoft.com/office/drawing/2014/main" id="{414F5B14-043E-0941-8032-13BF76B1C655}"/>
                  </a:ext>
                </a:extLst>
              </p:cNvPr>
              <p:cNvSpPr>
                <a:spLocks/>
              </p:cNvSpPr>
              <p:nvPr/>
            </p:nvSpPr>
            <p:spPr bwMode="auto">
              <a:xfrm>
                <a:off x="5302" y="2614"/>
                <a:ext cx="245" cy="200"/>
              </a:xfrm>
              <a:custGeom>
                <a:avLst/>
                <a:gdLst>
                  <a:gd name="T0" fmla="*/ 0 w 306"/>
                  <a:gd name="T1" fmla="*/ 5 h 240"/>
                  <a:gd name="T2" fmla="*/ 2 w 306"/>
                  <a:gd name="T3" fmla="*/ 9 h 240"/>
                  <a:gd name="T4" fmla="*/ 6 w 306"/>
                  <a:gd name="T5" fmla="*/ 5 h 240"/>
                  <a:gd name="T6" fmla="*/ 6 w 306"/>
                  <a:gd name="T7" fmla="*/ 0 h 240"/>
                  <a:gd name="T8" fmla="*/ 0 w 306"/>
                  <a:gd name="T9" fmla="*/ 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762" name="AutoShape 977">
                <a:extLst>
                  <a:ext uri="{FF2B5EF4-FFF2-40B4-BE49-F238E27FC236}">
                    <a16:creationId xmlns:a16="http://schemas.microsoft.com/office/drawing/2014/main" id="{AB4400E7-D824-FB47-8641-D0B594E3C29A}"/>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63" name="AutoShape 978">
                <a:extLst>
                  <a:ext uri="{FF2B5EF4-FFF2-40B4-BE49-F238E27FC236}">
                    <a16:creationId xmlns:a16="http://schemas.microsoft.com/office/drawing/2014/main" id="{CF02C664-BE6A-AA4D-9222-D94B36703783}"/>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64" name="Oval 979">
                <a:extLst>
                  <a:ext uri="{FF2B5EF4-FFF2-40B4-BE49-F238E27FC236}">
                    <a16:creationId xmlns:a16="http://schemas.microsoft.com/office/drawing/2014/main" id="{78A7CD3C-B0D6-B943-9E2C-EEB8BFDE8D34}"/>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65" name="Oval 980">
                <a:extLst>
                  <a:ext uri="{FF2B5EF4-FFF2-40B4-BE49-F238E27FC236}">
                    <a16:creationId xmlns:a16="http://schemas.microsoft.com/office/drawing/2014/main" id="{0DDB9D76-B536-684D-9A98-E080585F8435}"/>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a:solidFill>
                    <a:srgbClr val="FF0000"/>
                  </a:solidFill>
                  <a:cs typeface="Arial" panose="020B0604020202020204" pitchFamily="34" charset="0"/>
                </a:endParaRPr>
              </a:p>
            </p:txBody>
          </p:sp>
          <p:sp>
            <p:nvSpPr>
              <p:cNvPr id="114766" name="Oval 981">
                <a:extLst>
                  <a:ext uri="{FF2B5EF4-FFF2-40B4-BE49-F238E27FC236}">
                    <a16:creationId xmlns:a16="http://schemas.microsoft.com/office/drawing/2014/main" id="{2D1DF3D7-F627-F34C-A7A9-924808D8C872}"/>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sp>
            <p:nvSpPr>
              <p:cNvPr id="114767" name="Rectangle 982">
                <a:extLst>
                  <a:ext uri="{FF2B5EF4-FFF2-40B4-BE49-F238E27FC236}">
                    <a16:creationId xmlns:a16="http://schemas.microsoft.com/office/drawing/2014/main" id="{84B51871-49DA-A344-AB15-53140989C122}"/>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a:cs typeface="Arial" panose="020B0604020202020204" pitchFamily="34" charset="0"/>
                </a:endParaRPr>
              </a:p>
            </p:txBody>
          </p:sp>
        </p:grpSp>
        <p:pic>
          <p:nvPicPr>
            <p:cNvPr id="114742" name="Picture 4">
              <a:extLst>
                <a:ext uri="{FF2B5EF4-FFF2-40B4-BE49-F238E27FC236}">
                  <a16:creationId xmlns:a16="http://schemas.microsoft.com/office/drawing/2014/main" id="{56DD8B51-8742-6441-ACB1-0B2633ABAE9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40087" y="1742411"/>
              <a:ext cx="1039824" cy="309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743" name="TextBox 149">
              <a:extLst>
                <a:ext uri="{FF2B5EF4-FFF2-40B4-BE49-F238E27FC236}">
                  <a16:creationId xmlns:a16="http://schemas.microsoft.com/office/drawing/2014/main" id="{4144D218-60BC-AF41-92A5-263AB8CBC82D}"/>
                </a:ext>
              </a:extLst>
            </p:cNvPr>
            <p:cNvSpPr txBox="1">
              <a:spLocks noChangeArrowheads="1"/>
            </p:cNvSpPr>
            <p:nvPr/>
          </p:nvSpPr>
          <p:spPr bwMode="auto">
            <a:xfrm>
              <a:off x="5558972" y="1947149"/>
              <a:ext cx="928459"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1400" dirty="0">
                  <a:cs typeface="Arial" panose="020B0604020202020204" pitchFamily="34" charset="0"/>
                </a:rPr>
                <a:t>controller</a:t>
              </a:r>
            </a:p>
            <a:p>
              <a:endParaRPr lang="en-US" altLang="en-US" dirty="0">
                <a:cs typeface="Arial" panose="020B0604020202020204" pitchFamily="34" charset="0"/>
              </a:endParaRPr>
            </a:p>
          </p:txBody>
        </p:sp>
      </p:grpSp>
      <p:sp>
        <p:nvSpPr>
          <p:cNvPr id="114738" name="TextBox 211">
            <a:extLst>
              <a:ext uri="{FF2B5EF4-FFF2-40B4-BE49-F238E27FC236}">
                <a16:creationId xmlns:a16="http://schemas.microsoft.com/office/drawing/2014/main" id="{4A210AAD-DD93-F04D-A18C-25EE6AE6966D}"/>
              </a:ext>
            </a:extLst>
          </p:cNvPr>
          <p:cNvSpPr txBox="1">
            <a:spLocks noChangeArrowheads="1"/>
          </p:cNvSpPr>
          <p:nvPr/>
        </p:nvSpPr>
        <p:spPr bwMode="auto">
          <a:xfrm>
            <a:off x="7062693" y="940594"/>
            <a:ext cx="2081307" cy="2554545"/>
          </a:xfrm>
          <a:prstGeom prst="rect">
            <a:avLst/>
          </a:prstGeom>
          <a:solidFill>
            <a:srgbClr val="FFFF00">
              <a:alpha val="30000"/>
            </a:srgbClr>
          </a:solidFill>
          <a:ln>
            <a:noFill/>
          </a:ln>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US" altLang="en-US" sz="2000" dirty="0"/>
          </a:p>
          <a:p>
            <a:endParaRPr lang="en-US" altLang="en-US" sz="2000" dirty="0"/>
          </a:p>
          <a:p>
            <a:r>
              <a:rPr lang="en-US" altLang="en-US" sz="2000" dirty="0"/>
              <a:t>Datagrams from hosts h5 and h6 should be sent to h3 or h4, via s1 and from there to s2</a:t>
            </a:r>
          </a:p>
        </p:txBody>
      </p:sp>
      <p:cxnSp>
        <p:nvCxnSpPr>
          <p:cNvPr id="12" name="Straight Connector 11">
            <a:extLst>
              <a:ext uri="{FF2B5EF4-FFF2-40B4-BE49-F238E27FC236}">
                <a16:creationId xmlns:a16="http://schemas.microsoft.com/office/drawing/2014/main" id="{0DE845B4-D391-9343-AFE6-6EE827D22CD2}"/>
              </a:ext>
            </a:extLst>
          </p:cNvPr>
          <p:cNvCxnSpPr>
            <a:cxnSpLocks/>
          </p:cNvCxnSpPr>
          <p:nvPr/>
        </p:nvCxnSpPr>
        <p:spPr bwMode="auto">
          <a:xfrm>
            <a:off x="3567523" y="2802690"/>
            <a:ext cx="1423" cy="1429955"/>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74" name="Straight Connector 173">
            <a:extLst>
              <a:ext uri="{FF2B5EF4-FFF2-40B4-BE49-F238E27FC236}">
                <a16:creationId xmlns:a16="http://schemas.microsoft.com/office/drawing/2014/main" id="{83B04A73-B437-4340-8D18-A3946A82ACAC}"/>
              </a:ext>
            </a:extLst>
          </p:cNvPr>
          <p:cNvCxnSpPr>
            <a:cxnSpLocks/>
          </p:cNvCxnSpPr>
          <p:nvPr/>
        </p:nvCxnSpPr>
        <p:spPr bwMode="auto">
          <a:xfrm flipH="1">
            <a:off x="3922205" y="4490947"/>
            <a:ext cx="1399328" cy="977"/>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84" name="Straight Connector 183">
            <a:extLst>
              <a:ext uri="{FF2B5EF4-FFF2-40B4-BE49-F238E27FC236}">
                <a16:creationId xmlns:a16="http://schemas.microsoft.com/office/drawing/2014/main" id="{F7FBD241-F108-4341-A7E8-F9B3D099E841}"/>
              </a:ext>
            </a:extLst>
          </p:cNvPr>
          <p:cNvCxnSpPr>
            <a:cxnSpLocks/>
          </p:cNvCxnSpPr>
          <p:nvPr/>
        </p:nvCxnSpPr>
        <p:spPr bwMode="auto">
          <a:xfrm flipH="1">
            <a:off x="5421732" y="4644435"/>
            <a:ext cx="152400" cy="221842"/>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85" name="Straight Connector 184">
            <a:extLst>
              <a:ext uri="{FF2B5EF4-FFF2-40B4-BE49-F238E27FC236}">
                <a16:creationId xmlns:a16="http://schemas.microsoft.com/office/drawing/2014/main" id="{5732994E-C262-C94E-BD21-555DB49BF447}"/>
              </a:ext>
            </a:extLst>
          </p:cNvPr>
          <p:cNvCxnSpPr>
            <a:cxnSpLocks/>
          </p:cNvCxnSpPr>
          <p:nvPr/>
        </p:nvCxnSpPr>
        <p:spPr bwMode="auto">
          <a:xfrm flipH="1">
            <a:off x="6051647" y="4450976"/>
            <a:ext cx="552586" cy="317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1" name="Trapezoid 20">
            <a:extLst>
              <a:ext uri="{FF2B5EF4-FFF2-40B4-BE49-F238E27FC236}">
                <a16:creationId xmlns:a16="http://schemas.microsoft.com/office/drawing/2014/main" id="{30FEF03F-0891-5B4C-AFCC-7DA51289BECF}"/>
              </a:ext>
            </a:extLst>
          </p:cNvPr>
          <p:cNvSpPr/>
          <p:nvPr/>
        </p:nvSpPr>
        <p:spPr bwMode="auto">
          <a:xfrm rot="16981954">
            <a:off x="2457865" y="2500238"/>
            <a:ext cx="314997" cy="277974"/>
          </a:xfrm>
          <a:prstGeom prst="trapezoid">
            <a:avLst>
              <a:gd name="adj" fmla="val 26430"/>
            </a:avLst>
          </a:prstGeom>
          <a:solidFill>
            <a:srgbClr val="FF00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6" name="Trapezoid 185">
            <a:extLst>
              <a:ext uri="{FF2B5EF4-FFF2-40B4-BE49-F238E27FC236}">
                <a16:creationId xmlns:a16="http://schemas.microsoft.com/office/drawing/2014/main" id="{14F7CD7C-F147-9F4E-A86D-BB1AFEE54C22}"/>
              </a:ext>
            </a:extLst>
          </p:cNvPr>
          <p:cNvSpPr/>
          <p:nvPr/>
        </p:nvSpPr>
        <p:spPr bwMode="auto">
          <a:xfrm rot="16981954">
            <a:off x="3521314" y="1662033"/>
            <a:ext cx="314997" cy="277974"/>
          </a:xfrm>
          <a:prstGeom prst="trapezoid">
            <a:avLst>
              <a:gd name="adj" fmla="val 27193"/>
            </a:avLst>
          </a:prstGeom>
          <a:solidFill>
            <a:srgbClr val="FF00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7" name="Trapezoid 186">
            <a:extLst>
              <a:ext uri="{FF2B5EF4-FFF2-40B4-BE49-F238E27FC236}">
                <a16:creationId xmlns:a16="http://schemas.microsoft.com/office/drawing/2014/main" id="{E05E2559-2010-0741-BFB6-99C0B4C6FF35}"/>
              </a:ext>
            </a:extLst>
          </p:cNvPr>
          <p:cNvSpPr/>
          <p:nvPr/>
        </p:nvSpPr>
        <p:spPr bwMode="auto">
          <a:xfrm rot="16981954">
            <a:off x="5143745" y="4880689"/>
            <a:ext cx="314997" cy="277974"/>
          </a:xfrm>
          <a:prstGeom prst="trapezoid">
            <a:avLst>
              <a:gd name="adj" fmla="val 26430"/>
            </a:avLst>
          </a:prstGeom>
          <a:solidFill>
            <a:srgbClr val="FF00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8" name="Trapezoid 187">
            <a:extLst>
              <a:ext uri="{FF2B5EF4-FFF2-40B4-BE49-F238E27FC236}">
                <a16:creationId xmlns:a16="http://schemas.microsoft.com/office/drawing/2014/main" id="{5972AACD-1093-6D41-8B75-7E1C959D96C7}"/>
              </a:ext>
            </a:extLst>
          </p:cNvPr>
          <p:cNvSpPr/>
          <p:nvPr/>
        </p:nvSpPr>
        <p:spPr bwMode="auto">
          <a:xfrm rot="16981954">
            <a:off x="6625596" y="4261564"/>
            <a:ext cx="314997" cy="277974"/>
          </a:xfrm>
          <a:prstGeom prst="trapezoid">
            <a:avLst>
              <a:gd name="adj" fmla="val 27193"/>
            </a:avLst>
          </a:prstGeom>
          <a:solidFill>
            <a:srgbClr val="FF00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189" name="Straight Connector 188">
            <a:extLst>
              <a:ext uri="{FF2B5EF4-FFF2-40B4-BE49-F238E27FC236}">
                <a16:creationId xmlns:a16="http://schemas.microsoft.com/office/drawing/2014/main" id="{25A736F4-FAB9-5A4B-94E7-799B3220E8E3}"/>
              </a:ext>
            </a:extLst>
          </p:cNvPr>
          <p:cNvCxnSpPr>
            <a:cxnSpLocks/>
            <a:stCxn id="175" idx="2"/>
          </p:cNvCxnSpPr>
          <p:nvPr/>
        </p:nvCxnSpPr>
        <p:spPr bwMode="auto">
          <a:xfrm flipH="1">
            <a:off x="2799088" y="2656681"/>
            <a:ext cx="474570" cy="555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91" name="Straight Connector 190">
            <a:extLst>
              <a:ext uri="{FF2B5EF4-FFF2-40B4-BE49-F238E27FC236}">
                <a16:creationId xmlns:a16="http://schemas.microsoft.com/office/drawing/2014/main" id="{E29BD734-171E-F644-896B-993565032046}"/>
              </a:ext>
            </a:extLst>
          </p:cNvPr>
          <p:cNvCxnSpPr>
            <a:cxnSpLocks/>
          </p:cNvCxnSpPr>
          <p:nvPr/>
        </p:nvCxnSpPr>
        <p:spPr bwMode="auto">
          <a:xfrm flipV="1">
            <a:off x="3653070" y="2157725"/>
            <a:ext cx="0" cy="24575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192" name="Group 191">
            <a:extLst>
              <a:ext uri="{FF2B5EF4-FFF2-40B4-BE49-F238E27FC236}">
                <a16:creationId xmlns:a16="http://schemas.microsoft.com/office/drawing/2014/main" id="{8673A57E-6627-E54A-843C-5405A41536A9}"/>
              </a:ext>
            </a:extLst>
          </p:cNvPr>
          <p:cNvGrpSpPr/>
          <p:nvPr/>
        </p:nvGrpSpPr>
        <p:grpSpPr>
          <a:xfrm>
            <a:off x="0" y="0"/>
            <a:ext cx="9143999" cy="926011"/>
            <a:chOff x="0" y="0"/>
            <a:chExt cx="9143999" cy="926011"/>
          </a:xfrm>
        </p:grpSpPr>
        <p:pic>
          <p:nvPicPr>
            <p:cNvPr id="193" name="Picture 192" descr="Screen Shot 2015-04-08 at 10.38.40 AM.png">
              <a:extLst>
                <a:ext uri="{FF2B5EF4-FFF2-40B4-BE49-F238E27FC236}">
                  <a16:creationId xmlns:a16="http://schemas.microsoft.com/office/drawing/2014/main" id="{7E5E7087-95B1-914E-9BDC-52ACF21596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8354231" cy="926011"/>
            </a:xfrm>
            <a:prstGeom prst="rect">
              <a:avLst/>
            </a:prstGeom>
          </p:spPr>
        </p:pic>
        <p:pic>
          <p:nvPicPr>
            <p:cNvPr id="194" name="Picture 193" descr="Screen Shot 2015-04-08 at 10.42.03 AM.png">
              <a:extLst>
                <a:ext uri="{FF2B5EF4-FFF2-40B4-BE49-F238E27FC236}">
                  <a16:creationId xmlns:a16="http://schemas.microsoft.com/office/drawing/2014/main" id="{07FFABF1-0890-5248-A061-0F7C2D53BC3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49806" y="1"/>
              <a:ext cx="894193" cy="923672"/>
            </a:xfrm>
            <a:prstGeom prst="rect">
              <a:avLst/>
            </a:prstGeom>
          </p:spPr>
        </p:pic>
      </p:grpSp>
      <p:sp>
        <p:nvSpPr>
          <p:cNvPr id="195" name="Rectangle 2">
            <a:extLst>
              <a:ext uri="{FF2B5EF4-FFF2-40B4-BE49-F238E27FC236}">
                <a16:creationId xmlns:a16="http://schemas.microsoft.com/office/drawing/2014/main" id="{5B3BF17A-17B1-E740-90C9-6A9AB2F2A3AC}"/>
              </a:ext>
            </a:extLst>
          </p:cNvPr>
          <p:cNvSpPr txBox="1">
            <a:spLocks noChangeArrowheads="1"/>
          </p:cNvSpPr>
          <p:nvPr/>
        </p:nvSpPr>
        <p:spPr bwMode="auto">
          <a:xfrm>
            <a:off x="1823167" y="89794"/>
            <a:ext cx="7320835"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chemeClr val="bg1"/>
                </a:solidFill>
                <a:latin typeface="Arial"/>
                <a:ea typeface="ＭＳ Ｐゴシック" pitchFamily="34" charset="-128"/>
                <a:cs typeface="Arial"/>
              </a:rPr>
              <a:t>OpenFlow: Example</a:t>
            </a:r>
          </a:p>
        </p:txBody>
      </p:sp>
      <p:sp>
        <p:nvSpPr>
          <p:cNvPr id="196" name="Rectangle 2">
            <a:extLst>
              <a:ext uri="{FF2B5EF4-FFF2-40B4-BE49-F238E27FC236}">
                <a16:creationId xmlns:a16="http://schemas.microsoft.com/office/drawing/2014/main" id="{C1EAA1AD-3DA6-254D-B7E9-33E4BF5346F3}"/>
              </a:ext>
            </a:extLst>
          </p:cNvPr>
          <p:cNvSpPr txBox="1">
            <a:spLocks noChangeArrowheads="1"/>
          </p:cNvSpPr>
          <p:nvPr/>
        </p:nvSpPr>
        <p:spPr bwMode="auto">
          <a:xfrm>
            <a:off x="1949013" y="903959"/>
            <a:ext cx="7194986" cy="538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a:lstStyle>
          <a:p>
            <a:pPr algn="r" eaLnBrk="1" hangingPunct="1"/>
            <a:r>
              <a:rPr lang="en-US" sz="2800" dirty="0">
                <a:solidFill>
                  <a:srgbClr val="00B0F0"/>
                </a:solidFill>
                <a:latin typeface="Arial"/>
                <a:ea typeface="ＭＳ Ｐゴシック" pitchFamily="34" charset="-128"/>
                <a:cs typeface="Arial"/>
              </a:rPr>
              <a:t>Examples 3</a:t>
            </a:r>
          </a:p>
        </p:txBody>
      </p:sp>
      <p:sp>
        <p:nvSpPr>
          <p:cNvPr id="198" name="Right Triangle 197">
            <a:extLst>
              <a:ext uri="{FF2B5EF4-FFF2-40B4-BE49-F238E27FC236}">
                <a16:creationId xmlns:a16="http://schemas.microsoft.com/office/drawing/2014/main" id="{6ADB23B7-FDD1-594E-A979-FC8D82B489E8}"/>
              </a:ext>
            </a:extLst>
          </p:cNvPr>
          <p:cNvSpPr/>
          <p:nvPr/>
        </p:nvSpPr>
        <p:spPr bwMode="auto">
          <a:xfrm rot="5400000">
            <a:off x="622" y="-622"/>
            <a:ext cx="821718" cy="822963"/>
          </a:xfrm>
          <a:prstGeom prst="rtTriangle">
            <a:avLst/>
          </a:prstGeom>
          <a:solidFill>
            <a:srgbClr val="FFFF0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00" name="Slide Number Placeholder 5">
            <a:extLst>
              <a:ext uri="{FF2B5EF4-FFF2-40B4-BE49-F238E27FC236}">
                <a16:creationId xmlns:a16="http://schemas.microsoft.com/office/drawing/2014/main" id="{B908D751-CF31-E144-BCDD-06B2FF32E121}"/>
              </a:ext>
            </a:extLst>
          </p:cNvPr>
          <p:cNvSpPr>
            <a:spLocks noGrp="1"/>
          </p:cNvSpPr>
          <p:nvPr>
            <p:ph type="sldNum" sz="quarter" idx="12"/>
          </p:nvPr>
        </p:nvSpPr>
        <p:spPr>
          <a:xfrm>
            <a:off x="8373814" y="6503794"/>
            <a:ext cx="717896" cy="2995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Tahoma" panose="020B0604030504040204" pitchFamily="34" charset="0"/>
              </a:rPr>
              <a:t>4-</a:t>
            </a:r>
            <a:fld id="{C2074DCC-A718-E54F-8CB1-E1100D588721}" type="slidenum">
              <a:rPr lang="en-US" altLang="en-US">
                <a:latin typeface="Tahoma" panose="020B0604030504040204" pitchFamily="34" charset="0"/>
              </a:rPr>
              <a:pPr/>
              <a:t>147</a:t>
            </a:fld>
            <a:endParaRPr lang="en-US" altLang="en-US" dirty="0">
              <a:latin typeface="Tahoma" panose="020B0604030504040204" pitchFamily="34" charset="0"/>
            </a:endParaRPr>
          </a:p>
        </p:txBody>
      </p:sp>
    </p:spTree>
    <p:extLst>
      <p:ext uri="{BB962C8B-B14F-4D97-AF65-F5344CB8AC3E}">
        <p14:creationId xmlns:p14="http://schemas.microsoft.com/office/powerpoint/2010/main" val="3685439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8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9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dissolv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dissolv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8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85"/>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86" grpId="0" animBg="1"/>
      <p:bldP spid="187" grpId="0" animBg="1"/>
      <p:bldP spid="188" grpId="0" animBg="1"/>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Gill Sans MT"/>
        <a:ea typeface=""/>
        <a:cs typeface=""/>
      </a:majorFont>
      <a:minorFont>
        <a:latin typeface="Gill Sans M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17262</TotalTime>
  <Words>11375</Words>
  <Application>Microsoft Office PowerPoint</Application>
  <PresentationFormat>On-screen Show (4:3)</PresentationFormat>
  <Paragraphs>2823</Paragraphs>
  <Slides>147</Slides>
  <Notes>81</Notes>
  <HiddenSlides>3</HiddenSlides>
  <MMClips>0</MMClips>
  <ScaleCrop>false</ScaleCrop>
  <HeadingPairs>
    <vt:vector size="8" baseType="variant">
      <vt:variant>
        <vt:lpstr>Fonts Used</vt:lpstr>
      </vt:variant>
      <vt:variant>
        <vt:i4>15</vt:i4>
      </vt:variant>
      <vt:variant>
        <vt:lpstr>Theme</vt:lpstr>
      </vt:variant>
      <vt:variant>
        <vt:i4>3</vt:i4>
      </vt:variant>
      <vt:variant>
        <vt:lpstr>Embedded OLE Servers</vt:lpstr>
      </vt:variant>
      <vt:variant>
        <vt:i4>1</vt:i4>
      </vt:variant>
      <vt:variant>
        <vt:lpstr>Slide Titles</vt:lpstr>
      </vt:variant>
      <vt:variant>
        <vt:i4>147</vt:i4>
      </vt:variant>
    </vt:vector>
  </HeadingPairs>
  <TitlesOfParts>
    <vt:vector size="166" baseType="lpstr">
      <vt:lpstr>ＭＳ Ｐゴシック</vt:lpstr>
      <vt:lpstr>ＭＳ Ｐゴシック</vt:lpstr>
      <vt:lpstr>Arial</vt:lpstr>
      <vt:lpstr>Calibri</vt:lpstr>
      <vt:lpstr>Comic Sans MS</vt:lpstr>
      <vt:lpstr>Courier New</vt:lpstr>
      <vt:lpstr>Georgia</vt:lpstr>
      <vt:lpstr>Gill Sans</vt:lpstr>
      <vt:lpstr>Gill Sans MT</vt:lpstr>
      <vt:lpstr>Noto Sans Symbols</vt:lpstr>
      <vt:lpstr>Tahoma</vt:lpstr>
      <vt:lpstr>Times</vt:lpstr>
      <vt:lpstr>Times New Roman</vt:lpstr>
      <vt:lpstr>Wingdings</vt:lpstr>
      <vt:lpstr>ZapfDingbats</vt:lpstr>
      <vt:lpstr>Default Design</vt:lpstr>
      <vt:lpstr>2_Default Design</vt:lpstr>
      <vt:lpstr>Office Theme</vt:lpstr>
      <vt:lpstr>Equation</vt:lpstr>
      <vt:lpstr>PowerPoint Presentation</vt:lpstr>
      <vt:lpstr>Chapter 4: network layer</vt:lpstr>
      <vt:lpstr>PowerPoint Presentation</vt:lpstr>
      <vt:lpstr>PowerPoint Presentation</vt:lpstr>
      <vt:lpstr>Network layer services and protocols</vt:lpstr>
      <vt:lpstr>Two key network-layer functions</vt:lpstr>
      <vt:lpstr>Two key network-layer functions</vt:lpstr>
      <vt:lpstr>Network layer: data plane, control plane</vt:lpstr>
      <vt:lpstr>Datagram forwarding  table</vt:lpstr>
      <vt:lpstr>PowerPoint Presentation</vt:lpstr>
      <vt:lpstr>PowerPoint Presentation</vt:lpstr>
      <vt:lpstr>Network service model</vt:lpstr>
      <vt:lpstr>Network-layer service model</vt:lpstr>
      <vt:lpstr>Network layer service models:</vt:lpstr>
      <vt:lpstr>Reflections on best-effort  service:</vt:lpstr>
      <vt:lpstr>PowerPoint Presentation</vt:lpstr>
      <vt:lpstr>Router architecture overview</vt:lpstr>
      <vt:lpstr>Router architecture overview</vt:lpstr>
      <vt:lpstr>PowerPoint Presentation</vt:lpstr>
      <vt:lpstr>Input port functions</vt:lpstr>
      <vt:lpstr>Input port functions</vt:lpstr>
      <vt:lpstr>Destination-based forwarding</vt:lpstr>
      <vt:lpstr>Longest prefix matching</vt:lpstr>
      <vt:lpstr>Longest prefix matching</vt:lpstr>
      <vt:lpstr>Longest prefix matching</vt:lpstr>
      <vt:lpstr>Longest prefix matching</vt:lpstr>
      <vt:lpstr>Longest prefix matching</vt:lpstr>
      <vt:lpstr>PowerPoint Presentation</vt:lpstr>
      <vt:lpstr>Switching fabrics</vt:lpstr>
      <vt:lpstr>Switching via memory</vt:lpstr>
      <vt:lpstr>Switching via memory</vt:lpstr>
      <vt:lpstr>Switching via a bus</vt:lpstr>
      <vt:lpstr>Switching via a bus</vt:lpstr>
      <vt:lpstr>Switching via interconnection network (crossbar)</vt:lpstr>
      <vt:lpstr>Switching via interconnection network (crossbar)</vt:lpstr>
      <vt:lpstr>Switching via interconnection network (crossbar)</vt:lpstr>
      <vt:lpstr>Input port queuing</vt:lpstr>
      <vt:lpstr>Output port queuing</vt:lpstr>
      <vt:lpstr>Output port queueing</vt:lpstr>
      <vt:lpstr>How much buffering?</vt:lpstr>
      <vt:lpstr>PowerPoint Presentation</vt:lpstr>
      <vt:lpstr>Buffer Management</vt:lpstr>
      <vt:lpstr>PowerPoint Presentation</vt:lpstr>
      <vt:lpstr>Network Layer: Internet</vt:lpstr>
      <vt:lpstr>IP Datagram format</vt:lpstr>
      <vt:lpstr>IP datagram format</vt:lpstr>
      <vt:lpstr>IP datagram format</vt:lpstr>
      <vt:lpstr>IP fragmentation, reassembly</vt:lpstr>
      <vt:lpstr>IP fragmentation, reassembly</vt:lpstr>
      <vt:lpstr>IP fragmentation, reassembly</vt:lpstr>
      <vt:lpstr>IP fragmentation, reassembly</vt:lpstr>
      <vt:lpstr>PowerPoint Presentation</vt:lpstr>
      <vt:lpstr>PowerPoint Presentation</vt:lpstr>
      <vt:lpstr>PowerPoint Presentation</vt:lpstr>
      <vt:lpstr>PowerPoint Presentation</vt:lpstr>
      <vt:lpstr>PowerPoint Presentation</vt:lpstr>
      <vt:lpstr>PowerPoint Presentation</vt:lpstr>
      <vt:lpstr>IPv4 Addressing – Subnet/Subnetting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 Exercise: Subnet small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DHCP client-server scenario</vt:lpstr>
      <vt:lpstr>PowerPoint Presentation</vt:lpstr>
      <vt:lpstr>PowerPoint Presentation</vt:lpstr>
      <vt:lpstr>PowerPoint Presentation</vt:lpstr>
      <vt:lpstr>PowerPoint Presentation</vt:lpstr>
      <vt:lpstr>DHCP client-server scenario</vt:lpstr>
      <vt:lpstr>DHCP: example</vt:lpstr>
      <vt:lpstr>DHCP: example</vt:lpstr>
      <vt:lpstr>DHCP: Example Wireshark output (home LAN)</vt:lpstr>
      <vt:lpstr>DHCP: Example Assignment (home LAN)</vt:lpstr>
      <vt:lpstr>Hierarchical addressing: route aggregation</vt:lpstr>
      <vt:lpstr>Hierarchical addressing: more specific routes</vt:lpstr>
      <vt:lpstr>Hierarchical addressing: more specific routes</vt:lpstr>
      <vt:lpstr>PowerPoint Presentation</vt:lpstr>
      <vt:lpstr>NAT: network address translation</vt:lpstr>
      <vt:lpstr>NAT: network address translation</vt:lpstr>
      <vt:lpstr>NAT: network address translation</vt:lpstr>
      <vt:lpstr>NAT: network address translation</vt:lpstr>
      <vt:lpstr>NAT: network address translation</vt:lpstr>
      <vt:lpstr>NAT: network address translation</vt:lpstr>
      <vt:lpstr>PowerPoint Presentation</vt:lpstr>
      <vt:lpstr>IPv6: motivation</vt:lpstr>
      <vt:lpstr>IPv6 datagram format</vt:lpstr>
      <vt:lpstr>IPv6 datagram format</vt:lpstr>
      <vt:lpstr>IPv6 datagram format</vt:lpstr>
      <vt:lpstr>IPv6 datagram format and other changes from IPv4</vt:lpstr>
      <vt:lpstr>Transition from IPv4 to IPv6</vt:lpstr>
      <vt:lpstr>Tunneling and encapsulation</vt:lpstr>
      <vt:lpstr>Tunneling and encapsulation</vt:lpstr>
      <vt:lpstr>Tunneling</vt:lpstr>
      <vt:lpstr>IPv6: adoption</vt:lpstr>
      <vt:lpstr>IPv6: adoption</vt:lpstr>
      <vt:lpstr>PowerPoint Presentation</vt:lpstr>
      <vt:lpstr>Generalized forwarding: match plus action</vt:lpstr>
      <vt:lpstr>PowerPoint Presentation</vt:lpstr>
      <vt:lpstr>PowerPoint Presentation</vt:lpstr>
      <vt:lpstr>Flow table abstraction</vt:lpstr>
      <vt:lpstr>Flow table abstraction</vt:lpstr>
      <vt:lpstr>OpenFlow: flow table entries</vt:lpstr>
      <vt:lpstr>PowerPoint Presentation</vt:lpstr>
      <vt:lpstr>PowerPoint Presentation</vt:lpstr>
      <vt:lpstr>PowerPoint Presentation</vt:lpstr>
      <vt:lpstr>OpenFlow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3rd Edition: Chapter 4</dc:title>
  <dc:creator>Jim Kurose and Keith Ross</dc:creator>
  <cp:lastModifiedBy>FIROZ BIN YUSUF PATEL DAWOODI</cp:lastModifiedBy>
  <cp:revision>559</cp:revision>
  <dcterms:created xsi:type="dcterms:W3CDTF">1999-10-08T19:08:27Z</dcterms:created>
  <dcterms:modified xsi:type="dcterms:W3CDTF">2024-11-21T12:28:09Z</dcterms:modified>
</cp:coreProperties>
</file>